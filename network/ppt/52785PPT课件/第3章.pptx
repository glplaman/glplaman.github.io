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0.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7"/>
  </p:notesMasterIdLst>
  <p:sldIdLst>
    <p:sldId id="257" r:id="rId2"/>
    <p:sldId id="408" r:id="rId3"/>
    <p:sldId id="409" r:id="rId4"/>
    <p:sldId id="405" r:id="rId5"/>
    <p:sldId id="406" r:id="rId6"/>
    <p:sldId id="404" r:id="rId7"/>
    <p:sldId id="407" r:id="rId8"/>
    <p:sldId id="676" r:id="rId9"/>
    <p:sldId id="410" r:id="rId10"/>
    <p:sldId id="411" r:id="rId11"/>
    <p:sldId id="698" r:id="rId12"/>
    <p:sldId id="416" r:id="rId13"/>
    <p:sldId id="417" r:id="rId14"/>
    <p:sldId id="420" r:id="rId15"/>
    <p:sldId id="421" r:id="rId16"/>
    <p:sldId id="702" r:id="rId17"/>
    <p:sldId id="703" r:id="rId18"/>
    <p:sldId id="426" r:id="rId19"/>
    <p:sldId id="704" r:id="rId20"/>
    <p:sldId id="429" r:id="rId21"/>
    <p:sldId id="679" r:id="rId22"/>
    <p:sldId id="430" r:id="rId23"/>
    <p:sldId id="432" r:id="rId24"/>
    <p:sldId id="686" r:id="rId25"/>
    <p:sldId id="687" r:id="rId26"/>
    <p:sldId id="700" r:id="rId27"/>
    <p:sldId id="688" r:id="rId28"/>
    <p:sldId id="740" r:id="rId29"/>
    <p:sldId id="741" r:id="rId30"/>
    <p:sldId id="742" r:id="rId31"/>
    <p:sldId id="743" r:id="rId32"/>
    <p:sldId id="744" r:id="rId33"/>
    <p:sldId id="745" r:id="rId34"/>
    <p:sldId id="746" r:id="rId35"/>
    <p:sldId id="747" r:id="rId36"/>
    <p:sldId id="748" r:id="rId37"/>
    <p:sldId id="749" r:id="rId38"/>
    <p:sldId id="750" r:id="rId39"/>
    <p:sldId id="751" r:id="rId40"/>
    <p:sldId id="752" r:id="rId41"/>
    <p:sldId id="753" r:id="rId42"/>
    <p:sldId id="754" r:id="rId43"/>
    <p:sldId id="755" r:id="rId44"/>
    <p:sldId id="756" r:id="rId45"/>
    <p:sldId id="757" r:id="rId46"/>
    <p:sldId id="758" r:id="rId47"/>
    <p:sldId id="759" r:id="rId48"/>
    <p:sldId id="478" r:id="rId49"/>
    <p:sldId id="761" r:id="rId50"/>
    <p:sldId id="762" r:id="rId51"/>
    <p:sldId id="763" r:id="rId52"/>
    <p:sldId id="764" r:id="rId53"/>
    <p:sldId id="765" r:id="rId54"/>
    <p:sldId id="766" r:id="rId55"/>
    <p:sldId id="767" r:id="rId56"/>
    <p:sldId id="768" r:id="rId57"/>
    <p:sldId id="769" r:id="rId58"/>
    <p:sldId id="770" r:id="rId59"/>
    <p:sldId id="771" r:id="rId60"/>
    <p:sldId id="772" r:id="rId61"/>
    <p:sldId id="773" r:id="rId62"/>
    <p:sldId id="774" r:id="rId63"/>
    <p:sldId id="775" r:id="rId64"/>
    <p:sldId id="776" r:id="rId65"/>
    <p:sldId id="777" r:id="rId66"/>
    <p:sldId id="778" r:id="rId67"/>
    <p:sldId id="779" r:id="rId68"/>
    <p:sldId id="780" r:id="rId69"/>
    <p:sldId id="781" r:id="rId70"/>
    <p:sldId id="782" r:id="rId71"/>
    <p:sldId id="783" r:id="rId72"/>
    <p:sldId id="784" r:id="rId73"/>
    <p:sldId id="785" r:id="rId74"/>
    <p:sldId id="786" r:id="rId75"/>
    <p:sldId id="787" r:id="rId76"/>
    <p:sldId id="788" r:id="rId77"/>
    <p:sldId id="789" r:id="rId78"/>
    <p:sldId id="790" r:id="rId79"/>
    <p:sldId id="791" r:id="rId80"/>
    <p:sldId id="792" r:id="rId81"/>
    <p:sldId id="793" r:id="rId82"/>
    <p:sldId id="794" r:id="rId83"/>
    <p:sldId id="796" r:id="rId84"/>
    <p:sldId id="797" r:id="rId85"/>
    <p:sldId id="798" r:id="rId86"/>
    <p:sldId id="799" r:id="rId87"/>
    <p:sldId id="800" r:id="rId88"/>
    <p:sldId id="801" r:id="rId89"/>
    <p:sldId id="802" r:id="rId90"/>
    <p:sldId id="466" r:id="rId91"/>
    <p:sldId id="502" r:id="rId92"/>
    <p:sldId id="803" r:id="rId93"/>
    <p:sldId id="804" r:id="rId94"/>
    <p:sldId id="805" r:id="rId95"/>
    <p:sldId id="806" r:id="rId96"/>
    <p:sldId id="807" r:id="rId97"/>
    <p:sldId id="808" r:id="rId98"/>
    <p:sldId id="809" r:id="rId99"/>
    <p:sldId id="810" r:id="rId100"/>
    <p:sldId id="811" r:id="rId101"/>
    <p:sldId id="812" r:id="rId102"/>
    <p:sldId id="813" r:id="rId103"/>
    <p:sldId id="814" r:id="rId104"/>
    <p:sldId id="815" r:id="rId105"/>
    <p:sldId id="816" r:id="rId106"/>
    <p:sldId id="817" r:id="rId107"/>
    <p:sldId id="818" r:id="rId108"/>
    <p:sldId id="819" r:id="rId109"/>
    <p:sldId id="820" r:id="rId110"/>
    <p:sldId id="821" r:id="rId111"/>
    <p:sldId id="822" r:id="rId112"/>
    <p:sldId id="823" r:id="rId113"/>
    <p:sldId id="824" r:id="rId114"/>
    <p:sldId id="825" r:id="rId115"/>
    <p:sldId id="826" r:id="rId116"/>
    <p:sldId id="827" r:id="rId117"/>
    <p:sldId id="828" r:id="rId118"/>
    <p:sldId id="829" r:id="rId119"/>
    <p:sldId id="830" r:id="rId120"/>
    <p:sldId id="660" r:id="rId121"/>
    <p:sldId id="661" r:id="rId122"/>
    <p:sldId id="662" r:id="rId123"/>
    <p:sldId id="720" r:id="rId124"/>
    <p:sldId id="664" r:id="rId125"/>
    <p:sldId id="665" r:id="rId126"/>
    <p:sldId id="666" r:id="rId127"/>
    <p:sldId id="831" r:id="rId128"/>
    <p:sldId id="667" r:id="rId129"/>
    <p:sldId id="668" r:id="rId130"/>
    <p:sldId id="670" r:id="rId131"/>
    <p:sldId id="671" r:id="rId132"/>
    <p:sldId id="672" r:id="rId133"/>
    <p:sldId id="673" r:id="rId134"/>
    <p:sldId id="674" r:id="rId135"/>
    <p:sldId id="675" r:id="rId136"/>
  </p:sldIdLst>
  <p:sldSz cx="9144000" cy="5143500" type="screen16x9"/>
  <p:notesSz cx="6858000" cy="9144000"/>
  <p:embeddedFontLst>
    <p:embeddedFont>
      <p:font typeface="Montserrat" panose="00000500000000000000" pitchFamily="2" charset="0"/>
      <p:regular r:id="rId138"/>
    </p:embeddedFont>
    <p:embeddedFont>
      <p:font typeface="微软雅黑" panose="020B0503020204020204" pitchFamily="34" charset="-122"/>
      <p:regular r:id="rId139"/>
      <p:bold r:id="rId14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C3E3F9"/>
    <a:srgbClr val="FFFF99"/>
    <a:srgbClr val="000099"/>
    <a:srgbClr val="9900CC"/>
    <a:srgbClr val="FFCC66"/>
    <a:srgbClr val="FF9933"/>
    <a:srgbClr val="FF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7074" autoAdjust="0"/>
    <p:restoredTop sz="69347" autoAdjust="0"/>
  </p:normalViewPr>
  <p:slideViewPr>
    <p:cSldViewPr snapToGrid="0">
      <p:cViewPr varScale="1">
        <p:scale>
          <a:sx n="118" d="100"/>
          <a:sy n="118" d="100"/>
        </p:scale>
        <p:origin x="114" y="63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font" Target="fonts/font2.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2026/9/7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a:t>
            </a:fld>
            <a:endParaRPr lang="zh-CN" altLang="en-US"/>
          </a:p>
        </p:txBody>
      </p:sp>
    </p:spTree>
    <p:extLst>
      <p:ext uri="{BB962C8B-B14F-4D97-AF65-F5344CB8AC3E}">
        <p14:creationId xmlns:p14="http://schemas.microsoft.com/office/powerpoint/2010/main" val="3403125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a:t>
            </a:fld>
            <a:endParaRPr lang="zh-CN" altLang="en-US"/>
          </a:p>
        </p:txBody>
      </p:sp>
    </p:spTree>
    <p:extLst>
      <p:ext uri="{BB962C8B-B14F-4D97-AF65-F5344CB8AC3E}">
        <p14:creationId xmlns:p14="http://schemas.microsoft.com/office/powerpoint/2010/main" val="3760301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a:t>
            </a:fld>
            <a:endParaRPr lang="zh-CN" altLang="en-US"/>
          </a:p>
        </p:txBody>
      </p:sp>
    </p:spTree>
    <p:extLst>
      <p:ext uri="{BB962C8B-B14F-4D97-AF65-F5344CB8AC3E}">
        <p14:creationId xmlns:p14="http://schemas.microsoft.com/office/powerpoint/2010/main" val="1284884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a:t>
            </a:fld>
            <a:endParaRPr lang="zh-CN" altLang="en-US"/>
          </a:p>
        </p:txBody>
      </p:sp>
    </p:spTree>
    <p:extLst>
      <p:ext uri="{BB962C8B-B14F-4D97-AF65-F5344CB8AC3E}">
        <p14:creationId xmlns:p14="http://schemas.microsoft.com/office/powerpoint/2010/main" val="3424272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a:t>
            </a:fld>
            <a:endParaRPr lang="zh-CN" altLang="en-US"/>
          </a:p>
        </p:txBody>
      </p:sp>
    </p:spTree>
    <p:extLst>
      <p:ext uri="{BB962C8B-B14F-4D97-AF65-F5344CB8AC3E}">
        <p14:creationId xmlns:p14="http://schemas.microsoft.com/office/powerpoint/2010/main" val="3928729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14</a:t>
            </a:fld>
            <a:endParaRPr lang="zh-CN" altLang="en-US"/>
          </a:p>
        </p:txBody>
      </p:sp>
    </p:spTree>
    <p:extLst>
      <p:ext uri="{BB962C8B-B14F-4D97-AF65-F5344CB8AC3E}">
        <p14:creationId xmlns:p14="http://schemas.microsoft.com/office/powerpoint/2010/main" val="3631349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a:t>
            </a:fld>
            <a:endParaRPr lang="zh-CN" altLang="en-US"/>
          </a:p>
        </p:txBody>
      </p:sp>
    </p:spTree>
    <p:extLst>
      <p:ext uri="{BB962C8B-B14F-4D97-AF65-F5344CB8AC3E}">
        <p14:creationId xmlns:p14="http://schemas.microsoft.com/office/powerpoint/2010/main" val="3632896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F133-F1FC-3551-E80B-502A9ED211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EFBD2B-0A4F-3D4B-23A4-A37F196371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7D2162-D264-6907-1737-409FB9BE810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F4931E4-7EF9-81A6-9525-A31F8E22295C}"/>
              </a:ext>
            </a:extLst>
          </p:cNvPr>
          <p:cNvSpPr>
            <a:spLocks noGrp="1"/>
          </p:cNvSpPr>
          <p:nvPr>
            <p:ph type="sldNum" sz="quarter" idx="5"/>
          </p:nvPr>
        </p:nvSpPr>
        <p:spPr/>
        <p:txBody>
          <a:bodyPr/>
          <a:lstStyle/>
          <a:p>
            <a:pPr>
              <a:defRPr/>
            </a:pPr>
            <a:fld id="{CD1CD96A-A6EF-4B0B-9885-C22D65D2CD20}" type="slidenum">
              <a:rPr lang="zh-CN" altLang="en-US" smtClean="0"/>
              <a:pPr>
                <a:defRPr/>
              </a:pPr>
              <a:t>16</a:t>
            </a:fld>
            <a:endParaRPr lang="zh-CN" altLang="en-US"/>
          </a:p>
        </p:txBody>
      </p:sp>
    </p:spTree>
    <p:extLst>
      <p:ext uri="{BB962C8B-B14F-4D97-AF65-F5344CB8AC3E}">
        <p14:creationId xmlns:p14="http://schemas.microsoft.com/office/powerpoint/2010/main" val="4279238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8FEF3-3432-38A3-B78B-6D079A291B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71E2FB-28FA-CF49-A4F2-697A851A14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5DBFD9-42EA-27A2-E76B-47975D887D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593625A-00C2-C45C-EA0B-1FC3076F03AE}"/>
              </a:ext>
            </a:extLst>
          </p:cNvPr>
          <p:cNvSpPr>
            <a:spLocks noGrp="1"/>
          </p:cNvSpPr>
          <p:nvPr>
            <p:ph type="sldNum" sz="quarter" idx="10"/>
          </p:nvPr>
        </p:nvSpPr>
        <p:spPr/>
        <p:txBody>
          <a:bodyPr/>
          <a:lstStyle/>
          <a:p>
            <a:fld id="{0B14BD24-89E3-4C51-B736-BCCE6C13A884}" type="slidenum">
              <a:rPr lang="zh-CN" altLang="en-US" smtClean="0"/>
              <a:pPr/>
              <a:t>17</a:t>
            </a:fld>
            <a:endParaRPr lang="zh-CN" altLang="en-US"/>
          </a:p>
        </p:txBody>
      </p:sp>
    </p:spTree>
    <p:extLst>
      <p:ext uri="{BB962C8B-B14F-4D97-AF65-F5344CB8AC3E}">
        <p14:creationId xmlns:p14="http://schemas.microsoft.com/office/powerpoint/2010/main" val="1564707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18</a:t>
            </a:fld>
            <a:endParaRPr lang="zh-CN" altLang="en-US"/>
          </a:p>
        </p:txBody>
      </p:sp>
    </p:spTree>
    <p:extLst>
      <p:ext uri="{BB962C8B-B14F-4D97-AF65-F5344CB8AC3E}">
        <p14:creationId xmlns:p14="http://schemas.microsoft.com/office/powerpoint/2010/main" val="2635000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91DDD-597C-FB7A-3279-FB7C06FA9A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2B2BF8-EDCC-6712-289B-061227E6AC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10B3CE-614E-C688-7EA3-D97A154844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5E86766-E961-D121-4713-8F3FA9C407B9}"/>
              </a:ext>
            </a:extLst>
          </p:cNvPr>
          <p:cNvSpPr>
            <a:spLocks noGrp="1"/>
          </p:cNvSpPr>
          <p:nvPr>
            <p:ph type="sldNum" sz="quarter" idx="5"/>
          </p:nvPr>
        </p:nvSpPr>
        <p:spPr/>
        <p:txBody>
          <a:bodyPr/>
          <a:lstStyle/>
          <a:p>
            <a:pPr>
              <a:defRPr/>
            </a:pPr>
            <a:fld id="{CD1CD96A-A6EF-4B0B-9885-C22D65D2CD20}" type="slidenum">
              <a:rPr lang="zh-CN" altLang="en-US" smtClean="0"/>
              <a:pPr>
                <a:defRPr/>
              </a:pPr>
              <a:t>19</a:t>
            </a:fld>
            <a:endParaRPr lang="zh-CN" altLang="en-US"/>
          </a:p>
        </p:txBody>
      </p:sp>
    </p:spTree>
    <p:extLst>
      <p:ext uri="{BB962C8B-B14F-4D97-AF65-F5344CB8AC3E}">
        <p14:creationId xmlns:p14="http://schemas.microsoft.com/office/powerpoint/2010/main" val="3900091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1263568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21</a:t>
            </a:fld>
            <a:endParaRPr lang="zh-CN" altLang="en-US"/>
          </a:p>
        </p:txBody>
      </p:sp>
    </p:spTree>
    <p:extLst>
      <p:ext uri="{BB962C8B-B14F-4D97-AF65-F5344CB8AC3E}">
        <p14:creationId xmlns:p14="http://schemas.microsoft.com/office/powerpoint/2010/main" val="2343830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22</a:t>
            </a:fld>
            <a:endParaRPr lang="zh-CN" altLang="en-US"/>
          </a:p>
        </p:txBody>
      </p:sp>
    </p:spTree>
    <p:extLst>
      <p:ext uri="{BB962C8B-B14F-4D97-AF65-F5344CB8AC3E}">
        <p14:creationId xmlns:p14="http://schemas.microsoft.com/office/powerpoint/2010/main" val="2616151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23</a:t>
            </a:fld>
            <a:endParaRPr lang="zh-CN" altLang="en-US"/>
          </a:p>
        </p:txBody>
      </p:sp>
    </p:spTree>
    <p:extLst>
      <p:ext uri="{BB962C8B-B14F-4D97-AF65-F5344CB8AC3E}">
        <p14:creationId xmlns:p14="http://schemas.microsoft.com/office/powerpoint/2010/main" val="4231730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24</a:t>
            </a:fld>
            <a:endParaRPr lang="zh-CN" altLang="en-US"/>
          </a:p>
        </p:txBody>
      </p:sp>
    </p:spTree>
    <p:extLst>
      <p:ext uri="{BB962C8B-B14F-4D97-AF65-F5344CB8AC3E}">
        <p14:creationId xmlns:p14="http://schemas.microsoft.com/office/powerpoint/2010/main" val="2712197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25</a:t>
            </a:fld>
            <a:endParaRPr lang="zh-CN" altLang="en-US"/>
          </a:p>
        </p:txBody>
      </p:sp>
    </p:spTree>
    <p:extLst>
      <p:ext uri="{BB962C8B-B14F-4D97-AF65-F5344CB8AC3E}">
        <p14:creationId xmlns:p14="http://schemas.microsoft.com/office/powerpoint/2010/main" val="319358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26</a:t>
            </a:fld>
            <a:endParaRPr lang="zh-CN" altLang="en-US"/>
          </a:p>
        </p:txBody>
      </p:sp>
    </p:spTree>
    <p:extLst>
      <p:ext uri="{BB962C8B-B14F-4D97-AF65-F5344CB8AC3E}">
        <p14:creationId xmlns:p14="http://schemas.microsoft.com/office/powerpoint/2010/main" val="1576469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27</a:t>
            </a:fld>
            <a:endParaRPr lang="zh-CN" altLang="en-US"/>
          </a:p>
        </p:txBody>
      </p:sp>
    </p:spTree>
    <p:extLst>
      <p:ext uri="{BB962C8B-B14F-4D97-AF65-F5344CB8AC3E}">
        <p14:creationId xmlns:p14="http://schemas.microsoft.com/office/powerpoint/2010/main" val="2220972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28</a:t>
            </a:fld>
            <a:endParaRPr lang="zh-CN" altLang="en-US"/>
          </a:p>
        </p:txBody>
      </p:sp>
    </p:spTree>
    <p:extLst>
      <p:ext uri="{BB962C8B-B14F-4D97-AF65-F5344CB8AC3E}">
        <p14:creationId xmlns:p14="http://schemas.microsoft.com/office/powerpoint/2010/main" val="27696829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29</a:t>
            </a:fld>
            <a:endParaRPr lang="zh-CN" altLang="en-US"/>
          </a:p>
        </p:txBody>
      </p:sp>
    </p:spTree>
    <p:extLst>
      <p:ext uri="{BB962C8B-B14F-4D97-AF65-F5344CB8AC3E}">
        <p14:creationId xmlns:p14="http://schemas.microsoft.com/office/powerpoint/2010/main" val="3105426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30</a:t>
            </a:fld>
            <a:endParaRPr lang="zh-CN" altLang="en-US"/>
          </a:p>
        </p:txBody>
      </p:sp>
    </p:spTree>
    <p:extLst>
      <p:ext uri="{BB962C8B-B14F-4D97-AF65-F5344CB8AC3E}">
        <p14:creationId xmlns:p14="http://schemas.microsoft.com/office/powerpoint/2010/main" val="3406605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31</a:t>
            </a:fld>
            <a:endParaRPr lang="zh-CN" altLang="en-US"/>
          </a:p>
        </p:txBody>
      </p:sp>
    </p:spTree>
    <p:extLst>
      <p:ext uri="{BB962C8B-B14F-4D97-AF65-F5344CB8AC3E}">
        <p14:creationId xmlns:p14="http://schemas.microsoft.com/office/powerpoint/2010/main" val="2381014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32</a:t>
            </a:fld>
            <a:endParaRPr lang="zh-CN" altLang="en-US"/>
          </a:p>
        </p:txBody>
      </p:sp>
    </p:spTree>
    <p:extLst>
      <p:ext uri="{BB962C8B-B14F-4D97-AF65-F5344CB8AC3E}">
        <p14:creationId xmlns:p14="http://schemas.microsoft.com/office/powerpoint/2010/main" val="580716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33</a:t>
            </a:fld>
            <a:endParaRPr lang="zh-CN" altLang="en-US"/>
          </a:p>
        </p:txBody>
      </p:sp>
    </p:spTree>
    <p:extLst>
      <p:ext uri="{BB962C8B-B14F-4D97-AF65-F5344CB8AC3E}">
        <p14:creationId xmlns:p14="http://schemas.microsoft.com/office/powerpoint/2010/main" val="12210620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0B67F-F419-CD8B-F746-DEEB7B7DFD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B969D2-F368-EC5C-A4D4-AFA9836394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909AA2-4214-FB63-A978-E0CFB44BAAC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D3826D-7CA6-70F0-C04E-9D8B6A07B91E}"/>
              </a:ext>
            </a:extLst>
          </p:cNvPr>
          <p:cNvSpPr>
            <a:spLocks noGrp="1"/>
          </p:cNvSpPr>
          <p:nvPr>
            <p:ph type="sldNum" sz="quarter" idx="10"/>
          </p:nvPr>
        </p:nvSpPr>
        <p:spPr/>
        <p:txBody>
          <a:bodyPr/>
          <a:lstStyle/>
          <a:p>
            <a:fld id="{0B14BD24-89E3-4C51-B736-BCCE6C13A884}" type="slidenum">
              <a:rPr lang="zh-CN" altLang="en-US" smtClean="0"/>
              <a:pPr/>
              <a:t>34</a:t>
            </a:fld>
            <a:endParaRPr lang="zh-CN" altLang="en-US"/>
          </a:p>
        </p:txBody>
      </p:sp>
    </p:spTree>
    <p:extLst>
      <p:ext uri="{BB962C8B-B14F-4D97-AF65-F5344CB8AC3E}">
        <p14:creationId xmlns:p14="http://schemas.microsoft.com/office/powerpoint/2010/main" val="748589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2DA43-EE7F-12E6-FF53-3E62483DD1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3A19E1-1970-654C-AE08-6FA8BE5945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D86FD6-4013-5612-1317-8306AD9C064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8E4FB67-7319-D51B-E487-A4D3D78C4C7F}"/>
              </a:ext>
            </a:extLst>
          </p:cNvPr>
          <p:cNvSpPr>
            <a:spLocks noGrp="1"/>
          </p:cNvSpPr>
          <p:nvPr>
            <p:ph type="sldNum" sz="quarter" idx="10"/>
          </p:nvPr>
        </p:nvSpPr>
        <p:spPr/>
        <p:txBody>
          <a:bodyPr/>
          <a:lstStyle/>
          <a:p>
            <a:fld id="{0B14BD24-89E3-4C51-B736-BCCE6C13A884}" type="slidenum">
              <a:rPr lang="zh-CN" altLang="en-US" smtClean="0"/>
              <a:pPr/>
              <a:t>35</a:t>
            </a:fld>
            <a:endParaRPr lang="zh-CN" altLang="en-US"/>
          </a:p>
        </p:txBody>
      </p:sp>
    </p:spTree>
    <p:extLst>
      <p:ext uri="{BB962C8B-B14F-4D97-AF65-F5344CB8AC3E}">
        <p14:creationId xmlns:p14="http://schemas.microsoft.com/office/powerpoint/2010/main" val="3505561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36</a:t>
            </a:fld>
            <a:endParaRPr lang="zh-CN" altLang="en-US"/>
          </a:p>
        </p:txBody>
      </p:sp>
    </p:spTree>
    <p:extLst>
      <p:ext uri="{BB962C8B-B14F-4D97-AF65-F5344CB8AC3E}">
        <p14:creationId xmlns:p14="http://schemas.microsoft.com/office/powerpoint/2010/main" val="671038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37</a:t>
            </a:fld>
            <a:endParaRPr lang="zh-CN" altLang="en-US"/>
          </a:p>
        </p:txBody>
      </p:sp>
    </p:spTree>
    <p:extLst>
      <p:ext uri="{BB962C8B-B14F-4D97-AF65-F5344CB8AC3E}">
        <p14:creationId xmlns:p14="http://schemas.microsoft.com/office/powerpoint/2010/main" val="16606367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38</a:t>
            </a:fld>
            <a:endParaRPr lang="zh-CN" altLang="en-US"/>
          </a:p>
        </p:txBody>
      </p:sp>
    </p:spTree>
    <p:extLst>
      <p:ext uri="{BB962C8B-B14F-4D97-AF65-F5344CB8AC3E}">
        <p14:creationId xmlns:p14="http://schemas.microsoft.com/office/powerpoint/2010/main" val="140776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39</a:t>
            </a:fld>
            <a:endParaRPr lang="zh-CN" altLang="en-US"/>
          </a:p>
        </p:txBody>
      </p:sp>
    </p:spTree>
    <p:extLst>
      <p:ext uri="{BB962C8B-B14F-4D97-AF65-F5344CB8AC3E}">
        <p14:creationId xmlns:p14="http://schemas.microsoft.com/office/powerpoint/2010/main" val="2487943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40</a:t>
            </a:fld>
            <a:endParaRPr lang="zh-CN" altLang="en-US"/>
          </a:p>
        </p:txBody>
      </p:sp>
    </p:spTree>
    <p:extLst>
      <p:ext uri="{BB962C8B-B14F-4D97-AF65-F5344CB8AC3E}">
        <p14:creationId xmlns:p14="http://schemas.microsoft.com/office/powerpoint/2010/main" val="41730100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42</a:t>
            </a:fld>
            <a:endParaRPr lang="zh-CN" altLang="en-US"/>
          </a:p>
        </p:txBody>
      </p:sp>
    </p:spTree>
    <p:extLst>
      <p:ext uri="{BB962C8B-B14F-4D97-AF65-F5344CB8AC3E}">
        <p14:creationId xmlns:p14="http://schemas.microsoft.com/office/powerpoint/2010/main" val="21016524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43</a:t>
            </a:fld>
            <a:endParaRPr lang="zh-CN" altLang="en-US"/>
          </a:p>
        </p:txBody>
      </p:sp>
    </p:spTree>
    <p:extLst>
      <p:ext uri="{BB962C8B-B14F-4D97-AF65-F5344CB8AC3E}">
        <p14:creationId xmlns:p14="http://schemas.microsoft.com/office/powerpoint/2010/main" val="18174140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44</a:t>
            </a:fld>
            <a:endParaRPr lang="zh-CN" altLang="en-US"/>
          </a:p>
        </p:txBody>
      </p:sp>
    </p:spTree>
    <p:extLst>
      <p:ext uri="{BB962C8B-B14F-4D97-AF65-F5344CB8AC3E}">
        <p14:creationId xmlns:p14="http://schemas.microsoft.com/office/powerpoint/2010/main" val="31261110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45</a:t>
            </a:fld>
            <a:endParaRPr lang="zh-CN" altLang="en-US"/>
          </a:p>
        </p:txBody>
      </p:sp>
    </p:spTree>
    <p:extLst>
      <p:ext uri="{BB962C8B-B14F-4D97-AF65-F5344CB8AC3E}">
        <p14:creationId xmlns:p14="http://schemas.microsoft.com/office/powerpoint/2010/main" val="35474473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46</a:t>
            </a:fld>
            <a:endParaRPr lang="zh-CN" altLang="en-US"/>
          </a:p>
        </p:txBody>
      </p:sp>
    </p:spTree>
    <p:extLst>
      <p:ext uri="{BB962C8B-B14F-4D97-AF65-F5344CB8AC3E}">
        <p14:creationId xmlns:p14="http://schemas.microsoft.com/office/powerpoint/2010/main" val="30232269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47</a:t>
            </a:fld>
            <a:endParaRPr lang="zh-CN" altLang="en-US"/>
          </a:p>
        </p:txBody>
      </p:sp>
    </p:spTree>
    <p:extLst>
      <p:ext uri="{BB962C8B-B14F-4D97-AF65-F5344CB8AC3E}">
        <p14:creationId xmlns:p14="http://schemas.microsoft.com/office/powerpoint/2010/main" val="31468079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48</a:t>
            </a:fld>
            <a:endParaRPr lang="zh-CN" altLang="en-US"/>
          </a:p>
        </p:txBody>
      </p:sp>
    </p:spTree>
    <p:extLst>
      <p:ext uri="{BB962C8B-B14F-4D97-AF65-F5344CB8AC3E}">
        <p14:creationId xmlns:p14="http://schemas.microsoft.com/office/powerpoint/2010/main" val="59177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49</a:t>
            </a:fld>
            <a:endParaRPr lang="zh-CN" altLang="en-US"/>
          </a:p>
        </p:txBody>
      </p:sp>
    </p:spTree>
    <p:extLst>
      <p:ext uri="{BB962C8B-B14F-4D97-AF65-F5344CB8AC3E}">
        <p14:creationId xmlns:p14="http://schemas.microsoft.com/office/powerpoint/2010/main" val="2842052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C27C2-6BD9-9B9C-3B42-DF5604B53A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2BB486-F127-209A-A0DF-FA65FC1BB1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1814177-C7E5-8D54-2DB6-868695677E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4DDFA26-C8C7-A916-64EB-3D9A4944D0D6}"/>
              </a:ext>
            </a:extLst>
          </p:cNvPr>
          <p:cNvSpPr>
            <a:spLocks noGrp="1"/>
          </p:cNvSpPr>
          <p:nvPr>
            <p:ph type="sldNum" sz="quarter" idx="10"/>
          </p:nvPr>
        </p:nvSpPr>
        <p:spPr/>
        <p:txBody>
          <a:bodyPr/>
          <a:lstStyle/>
          <a:p>
            <a:fld id="{0B14BD24-89E3-4C51-B736-BCCE6C13A884}" type="slidenum">
              <a:rPr lang="zh-CN" altLang="en-US" smtClean="0"/>
              <a:pPr/>
              <a:t>50</a:t>
            </a:fld>
            <a:endParaRPr lang="zh-CN" altLang="en-US"/>
          </a:p>
        </p:txBody>
      </p:sp>
    </p:spTree>
    <p:extLst>
      <p:ext uri="{BB962C8B-B14F-4D97-AF65-F5344CB8AC3E}">
        <p14:creationId xmlns:p14="http://schemas.microsoft.com/office/powerpoint/2010/main" val="3390402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42604-F361-5227-C5B7-CAADD06B99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B4AF82-0E2E-E8AD-52DB-51D3E1A519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7F78B9-B4C3-48FB-BE93-950EE41C8D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88FA979-DD53-A7E5-341D-4BDB5EF1E8A4}"/>
              </a:ext>
            </a:extLst>
          </p:cNvPr>
          <p:cNvSpPr>
            <a:spLocks noGrp="1"/>
          </p:cNvSpPr>
          <p:nvPr>
            <p:ph type="sldNum" sz="quarter" idx="10"/>
          </p:nvPr>
        </p:nvSpPr>
        <p:spPr/>
        <p:txBody>
          <a:bodyPr/>
          <a:lstStyle/>
          <a:p>
            <a:fld id="{0B14BD24-89E3-4C51-B736-BCCE6C13A884}" type="slidenum">
              <a:rPr lang="zh-CN" altLang="en-US" smtClean="0"/>
              <a:pPr/>
              <a:t>51</a:t>
            </a:fld>
            <a:endParaRPr lang="zh-CN" altLang="en-US"/>
          </a:p>
        </p:txBody>
      </p:sp>
    </p:spTree>
    <p:extLst>
      <p:ext uri="{BB962C8B-B14F-4D97-AF65-F5344CB8AC3E}">
        <p14:creationId xmlns:p14="http://schemas.microsoft.com/office/powerpoint/2010/main" val="2814273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8FF70-7A96-BA86-592B-C98E3BFDEE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D7469B-A88D-C3FA-D73A-F092CE5EEE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A1F8EA-84AF-6D6E-0A33-44CF28B070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B2B6EE-AD61-1662-80AC-333B4B6ECB6E}"/>
              </a:ext>
            </a:extLst>
          </p:cNvPr>
          <p:cNvSpPr>
            <a:spLocks noGrp="1"/>
          </p:cNvSpPr>
          <p:nvPr>
            <p:ph type="sldNum" sz="quarter" idx="10"/>
          </p:nvPr>
        </p:nvSpPr>
        <p:spPr/>
        <p:txBody>
          <a:bodyPr/>
          <a:lstStyle/>
          <a:p>
            <a:fld id="{0B14BD24-89E3-4C51-B736-BCCE6C13A884}" type="slidenum">
              <a:rPr lang="zh-CN" altLang="en-US" smtClean="0"/>
              <a:pPr/>
              <a:t>52</a:t>
            </a:fld>
            <a:endParaRPr lang="zh-CN" altLang="en-US"/>
          </a:p>
        </p:txBody>
      </p:sp>
    </p:spTree>
    <p:extLst>
      <p:ext uri="{BB962C8B-B14F-4D97-AF65-F5344CB8AC3E}">
        <p14:creationId xmlns:p14="http://schemas.microsoft.com/office/powerpoint/2010/main" val="3318343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44039-F4C8-D41B-BB9F-947E0AD53D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DD2394-50AF-3AFF-1740-C0045DD8CC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94D42C-A0C6-B0BA-0324-6B1E5EBDD4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58D401A-7696-0302-377E-56E37697D563}"/>
              </a:ext>
            </a:extLst>
          </p:cNvPr>
          <p:cNvSpPr>
            <a:spLocks noGrp="1"/>
          </p:cNvSpPr>
          <p:nvPr>
            <p:ph type="sldNum" sz="quarter" idx="10"/>
          </p:nvPr>
        </p:nvSpPr>
        <p:spPr/>
        <p:txBody>
          <a:bodyPr/>
          <a:lstStyle/>
          <a:p>
            <a:fld id="{0B14BD24-89E3-4C51-B736-BCCE6C13A884}" type="slidenum">
              <a:rPr lang="zh-CN" altLang="en-US" smtClean="0"/>
              <a:pPr/>
              <a:t>53</a:t>
            </a:fld>
            <a:endParaRPr lang="zh-CN" altLang="en-US"/>
          </a:p>
        </p:txBody>
      </p:sp>
    </p:spTree>
    <p:extLst>
      <p:ext uri="{BB962C8B-B14F-4D97-AF65-F5344CB8AC3E}">
        <p14:creationId xmlns:p14="http://schemas.microsoft.com/office/powerpoint/2010/main" val="3400646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5A856-F097-50D3-6D3E-F1490CB047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FEA6B8-95B2-3AD3-35E4-C8359AA325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9A1A02-0D8B-7C12-F631-D4069982F16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60C41B1-53C6-7D2D-C8E4-03876C052E4B}"/>
              </a:ext>
            </a:extLst>
          </p:cNvPr>
          <p:cNvSpPr>
            <a:spLocks noGrp="1"/>
          </p:cNvSpPr>
          <p:nvPr>
            <p:ph type="sldNum" sz="quarter" idx="10"/>
          </p:nvPr>
        </p:nvSpPr>
        <p:spPr/>
        <p:txBody>
          <a:bodyPr/>
          <a:lstStyle/>
          <a:p>
            <a:fld id="{0B14BD24-89E3-4C51-B736-BCCE6C13A884}" type="slidenum">
              <a:rPr lang="zh-CN" altLang="en-US" smtClean="0"/>
              <a:pPr/>
              <a:t>54</a:t>
            </a:fld>
            <a:endParaRPr lang="zh-CN" altLang="en-US"/>
          </a:p>
        </p:txBody>
      </p:sp>
    </p:spTree>
    <p:extLst>
      <p:ext uri="{BB962C8B-B14F-4D97-AF65-F5344CB8AC3E}">
        <p14:creationId xmlns:p14="http://schemas.microsoft.com/office/powerpoint/2010/main" val="21970856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F7E3F-298D-D928-30BD-FC3438DAE3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4464EA-71EC-1659-C3A5-3CD21E83CD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6F2055-AA9E-F1F5-D67A-F7FDAC47FE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A94BE4-8D1A-8BD8-8CDD-33BFE4C38F92}"/>
              </a:ext>
            </a:extLst>
          </p:cNvPr>
          <p:cNvSpPr>
            <a:spLocks noGrp="1"/>
          </p:cNvSpPr>
          <p:nvPr>
            <p:ph type="sldNum" sz="quarter" idx="10"/>
          </p:nvPr>
        </p:nvSpPr>
        <p:spPr/>
        <p:txBody>
          <a:bodyPr/>
          <a:lstStyle/>
          <a:p>
            <a:fld id="{0B14BD24-89E3-4C51-B736-BCCE6C13A884}" type="slidenum">
              <a:rPr lang="zh-CN" altLang="en-US" smtClean="0"/>
              <a:pPr/>
              <a:t>55</a:t>
            </a:fld>
            <a:endParaRPr lang="zh-CN" altLang="en-US"/>
          </a:p>
        </p:txBody>
      </p:sp>
    </p:spTree>
    <p:extLst>
      <p:ext uri="{BB962C8B-B14F-4D97-AF65-F5344CB8AC3E}">
        <p14:creationId xmlns:p14="http://schemas.microsoft.com/office/powerpoint/2010/main" val="27890501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56</a:t>
            </a:fld>
            <a:endParaRPr lang="zh-CN" altLang="en-US"/>
          </a:p>
        </p:txBody>
      </p:sp>
    </p:spTree>
    <p:extLst>
      <p:ext uri="{BB962C8B-B14F-4D97-AF65-F5344CB8AC3E}">
        <p14:creationId xmlns:p14="http://schemas.microsoft.com/office/powerpoint/2010/main" val="29526116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57</a:t>
            </a:fld>
            <a:endParaRPr lang="zh-CN" altLang="en-US"/>
          </a:p>
        </p:txBody>
      </p:sp>
    </p:spTree>
    <p:extLst>
      <p:ext uri="{BB962C8B-B14F-4D97-AF65-F5344CB8AC3E}">
        <p14:creationId xmlns:p14="http://schemas.microsoft.com/office/powerpoint/2010/main" val="40347230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58</a:t>
            </a:fld>
            <a:endParaRPr lang="zh-CN" altLang="en-US"/>
          </a:p>
        </p:txBody>
      </p:sp>
    </p:spTree>
    <p:extLst>
      <p:ext uri="{BB962C8B-B14F-4D97-AF65-F5344CB8AC3E}">
        <p14:creationId xmlns:p14="http://schemas.microsoft.com/office/powerpoint/2010/main" val="28358419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59</a:t>
            </a:fld>
            <a:endParaRPr lang="zh-CN" altLang="en-US"/>
          </a:p>
        </p:txBody>
      </p:sp>
    </p:spTree>
    <p:extLst>
      <p:ext uri="{BB962C8B-B14F-4D97-AF65-F5344CB8AC3E}">
        <p14:creationId xmlns:p14="http://schemas.microsoft.com/office/powerpoint/2010/main" val="29307002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60</a:t>
            </a:fld>
            <a:endParaRPr lang="zh-CN" altLang="en-US"/>
          </a:p>
        </p:txBody>
      </p:sp>
    </p:spTree>
    <p:extLst>
      <p:ext uri="{BB962C8B-B14F-4D97-AF65-F5344CB8AC3E}">
        <p14:creationId xmlns:p14="http://schemas.microsoft.com/office/powerpoint/2010/main" val="30628843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61</a:t>
            </a:fld>
            <a:endParaRPr lang="zh-CN" altLang="en-US"/>
          </a:p>
        </p:txBody>
      </p:sp>
    </p:spTree>
    <p:extLst>
      <p:ext uri="{BB962C8B-B14F-4D97-AF65-F5344CB8AC3E}">
        <p14:creationId xmlns:p14="http://schemas.microsoft.com/office/powerpoint/2010/main" val="11548795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62</a:t>
            </a:fld>
            <a:endParaRPr lang="zh-CN" altLang="en-US"/>
          </a:p>
        </p:txBody>
      </p:sp>
    </p:spTree>
    <p:extLst>
      <p:ext uri="{BB962C8B-B14F-4D97-AF65-F5344CB8AC3E}">
        <p14:creationId xmlns:p14="http://schemas.microsoft.com/office/powerpoint/2010/main" val="15509670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63</a:t>
            </a:fld>
            <a:endParaRPr lang="zh-CN" altLang="en-US"/>
          </a:p>
        </p:txBody>
      </p:sp>
    </p:spTree>
    <p:extLst>
      <p:ext uri="{BB962C8B-B14F-4D97-AF65-F5344CB8AC3E}">
        <p14:creationId xmlns:p14="http://schemas.microsoft.com/office/powerpoint/2010/main" val="9823669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64</a:t>
            </a:fld>
            <a:endParaRPr lang="zh-CN" altLang="en-US"/>
          </a:p>
        </p:txBody>
      </p:sp>
    </p:spTree>
    <p:extLst>
      <p:ext uri="{BB962C8B-B14F-4D97-AF65-F5344CB8AC3E}">
        <p14:creationId xmlns:p14="http://schemas.microsoft.com/office/powerpoint/2010/main" val="29086295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65</a:t>
            </a:fld>
            <a:endParaRPr lang="zh-CN" altLang="en-US"/>
          </a:p>
        </p:txBody>
      </p:sp>
    </p:spTree>
    <p:extLst>
      <p:ext uri="{BB962C8B-B14F-4D97-AF65-F5344CB8AC3E}">
        <p14:creationId xmlns:p14="http://schemas.microsoft.com/office/powerpoint/2010/main" val="35978031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66</a:t>
            </a:fld>
            <a:endParaRPr lang="zh-CN" altLang="en-US"/>
          </a:p>
        </p:txBody>
      </p:sp>
    </p:spTree>
    <p:extLst>
      <p:ext uri="{BB962C8B-B14F-4D97-AF65-F5344CB8AC3E}">
        <p14:creationId xmlns:p14="http://schemas.microsoft.com/office/powerpoint/2010/main" val="42563709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67</a:t>
            </a:fld>
            <a:endParaRPr lang="zh-CN" altLang="en-US"/>
          </a:p>
        </p:txBody>
      </p:sp>
    </p:spTree>
    <p:extLst>
      <p:ext uri="{BB962C8B-B14F-4D97-AF65-F5344CB8AC3E}">
        <p14:creationId xmlns:p14="http://schemas.microsoft.com/office/powerpoint/2010/main" val="23171043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68</a:t>
            </a:fld>
            <a:endParaRPr lang="zh-CN" altLang="en-US"/>
          </a:p>
        </p:txBody>
      </p:sp>
    </p:spTree>
    <p:extLst>
      <p:ext uri="{BB962C8B-B14F-4D97-AF65-F5344CB8AC3E}">
        <p14:creationId xmlns:p14="http://schemas.microsoft.com/office/powerpoint/2010/main" val="32698966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69</a:t>
            </a:fld>
            <a:endParaRPr lang="zh-CN" altLang="en-US"/>
          </a:p>
        </p:txBody>
      </p:sp>
    </p:spTree>
    <p:extLst>
      <p:ext uri="{BB962C8B-B14F-4D97-AF65-F5344CB8AC3E}">
        <p14:creationId xmlns:p14="http://schemas.microsoft.com/office/powerpoint/2010/main" val="775509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70</a:t>
            </a:fld>
            <a:endParaRPr lang="zh-CN" altLang="en-US"/>
          </a:p>
        </p:txBody>
      </p:sp>
    </p:spTree>
    <p:extLst>
      <p:ext uri="{BB962C8B-B14F-4D97-AF65-F5344CB8AC3E}">
        <p14:creationId xmlns:p14="http://schemas.microsoft.com/office/powerpoint/2010/main" val="41576632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71</a:t>
            </a:fld>
            <a:endParaRPr lang="zh-CN" altLang="en-US"/>
          </a:p>
        </p:txBody>
      </p:sp>
    </p:spTree>
    <p:extLst>
      <p:ext uri="{BB962C8B-B14F-4D97-AF65-F5344CB8AC3E}">
        <p14:creationId xmlns:p14="http://schemas.microsoft.com/office/powerpoint/2010/main" val="295371957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DEC00-960E-3AF6-BAC6-56622AA97C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68843F-0E96-5071-0EF3-C70B19BC09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C29382-3D0D-3C2F-3110-8F5B8F6BA0C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A1DB5AD-7C51-4F08-9EF7-94DE9E738C34}"/>
              </a:ext>
            </a:extLst>
          </p:cNvPr>
          <p:cNvSpPr>
            <a:spLocks noGrp="1"/>
          </p:cNvSpPr>
          <p:nvPr>
            <p:ph type="sldNum" sz="quarter" idx="5"/>
          </p:nvPr>
        </p:nvSpPr>
        <p:spPr/>
        <p:txBody>
          <a:bodyPr/>
          <a:lstStyle/>
          <a:p>
            <a:pPr>
              <a:defRPr/>
            </a:pPr>
            <a:fld id="{CD1CD96A-A6EF-4B0B-9885-C22D65D2CD20}" type="slidenum">
              <a:rPr lang="zh-CN" altLang="en-US" smtClean="0"/>
              <a:pPr>
                <a:defRPr/>
              </a:pPr>
              <a:t>72</a:t>
            </a:fld>
            <a:endParaRPr lang="zh-CN" altLang="en-US"/>
          </a:p>
        </p:txBody>
      </p:sp>
    </p:spTree>
    <p:extLst>
      <p:ext uri="{BB962C8B-B14F-4D97-AF65-F5344CB8AC3E}">
        <p14:creationId xmlns:p14="http://schemas.microsoft.com/office/powerpoint/2010/main" val="41409452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73</a:t>
            </a:fld>
            <a:endParaRPr lang="zh-CN" altLang="en-US"/>
          </a:p>
        </p:txBody>
      </p:sp>
    </p:spTree>
    <p:extLst>
      <p:ext uri="{BB962C8B-B14F-4D97-AF65-F5344CB8AC3E}">
        <p14:creationId xmlns:p14="http://schemas.microsoft.com/office/powerpoint/2010/main" val="419893682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74</a:t>
            </a:fld>
            <a:endParaRPr lang="zh-CN" altLang="en-US"/>
          </a:p>
        </p:txBody>
      </p:sp>
    </p:spTree>
    <p:extLst>
      <p:ext uri="{BB962C8B-B14F-4D97-AF65-F5344CB8AC3E}">
        <p14:creationId xmlns:p14="http://schemas.microsoft.com/office/powerpoint/2010/main" val="37627197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75</a:t>
            </a:fld>
            <a:endParaRPr lang="zh-CN" altLang="en-US"/>
          </a:p>
        </p:txBody>
      </p:sp>
    </p:spTree>
    <p:extLst>
      <p:ext uri="{BB962C8B-B14F-4D97-AF65-F5344CB8AC3E}">
        <p14:creationId xmlns:p14="http://schemas.microsoft.com/office/powerpoint/2010/main" val="39379142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76</a:t>
            </a:fld>
            <a:endParaRPr lang="zh-CN" altLang="en-US"/>
          </a:p>
        </p:txBody>
      </p:sp>
    </p:spTree>
    <p:extLst>
      <p:ext uri="{BB962C8B-B14F-4D97-AF65-F5344CB8AC3E}">
        <p14:creationId xmlns:p14="http://schemas.microsoft.com/office/powerpoint/2010/main" val="11562062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77</a:t>
            </a:fld>
            <a:endParaRPr lang="zh-CN" altLang="en-US"/>
          </a:p>
        </p:txBody>
      </p:sp>
    </p:spTree>
    <p:extLst>
      <p:ext uri="{BB962C8B-B14F-4D97-AF65-F5344CB8AC3E}">
        <p14:creationId xmlns:p14="http://schemas.microsoft.com/office/powerpoint/2010/main" val="32718894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78</a:t>
            </a:fld>
            <a:endParaRPr lang="zh-CN" altLang="en-US"/>
          </a:p>
        </p:txBody>
      </p:sp>
    </p:spTree>
    <p:extLst>
      <p:ext uri="{BB962C8B-B14F-4D97-AF65-F5344CB8AC3E}">
        <p14:creationId xmlns:p14="http://schemas.microsoft.com/office/powerpoint/2010/main" val="1781707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43EF-4D06-3BC5-3F67-4E89358EBB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650FA5-4AFC-E15A-0686-1429AF5F52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ED82F5-1BCF-9D9F-AE25-1B9923CE43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589B17E-310A-AFFA-EAED-46D99CDABD40}"/>
              </a:ext>
            </a:extLst>
          </p:cNvPr>
          <p:cNvSpPr>
            <a:spLocks noGrp="1"/>
          </p:cNvSpPr>
          <p:nvPr>
            <p:ph type="sldNum" sz="quarter" idx="5"/>
          </p:nvPr>
        </p:nvSpPr>
        <p:spPr/>
        <p:txBody>
          <a:bodyPr/>
          <a:lstStyle/>
          <a:p>
            <a:pPr>
              <a:defRPr/>
            </a:pPr>
            <a:fld id="{CD1CD96A-A6EF-4B0B-9885-C22D65D2CD20}" type="slidenum">
              <a:rPr lang="zh-CN" altLang="en-US" smtClean="0"/>
              <a:pPr>
                <a:defRPr/>
              </a:pPr>
              <a:t>79</a:t>
            </a:fld>
            <a:endParaRPr lang="zh-CN" altLang="en-US"/>
          </a:p>
        </p:txBody>
      </p:sp>
    </p:spTree>
    <p:extLst>
      <p:ext uri="{BB962C8B-B14F-4D97-AF65-F5344CB8AC3E}">
        <p14:creationId xmlns:p14="http://schemas.microsoft.com/office/powerpoint/2010/main" val="34093965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80</a:t>
            </a:fld>
            <a:endParaRPr lang="zh-CN" altLang="en-US"/>
          </a:p>
        </p:txBody>
      </p:sp>
    </p:spTree>
    <p:extLst>
      <p:ext uri="{BB962C8B-B14F-4D97-AF65-F5344CB8AC3E}">
        <p14:creationId xmlns:p14="http://schemas.microsoft.com/office/powerpoint/2010/main" val="24264941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82</a:t>
            </a:fld>
            <a:endParaRPr lang="zh-CN" altLang="en-US"/>
          </a:p>
        </p:txBody>
      </p:sp>
    </p:spTree>
    <p:extLst>
      <p:ext uri="{BB962C8B-B14F-4D97-AF65-F5344CB8AC3E}">
        <p14:creationId xmlns:p14="http://schemas.microsoft.com/office/powerpoint/2010/main" val="41458950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83</a:t>
            </a:fld>
            <a:endParaRPr lang="zh-CN" altLang="en-US"/>
          </a:p>
        </p:txBody>
      </p:sp>
    </p:spTree>
    <p:extLst>
      <p:ext uri="{BB962C8B-B14F-4D97-AF65-F5344CB8AC3E}">
        <p14:creationId xmlns:p14="http://schemas.microsoft.com/office/powerpoint/2010/main" val="26322311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637B-66A8-CB7C-B386-645992416D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8D04D1-D783-3406-C953-EA40731F77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D7AE33-096F-0285-AC5C-5C67B011D7D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2E9D79-E7DF-6816-BB67-606177889010}"/>
              </a:ext>
            </a:extLst>
          </p:cNvPr>
          <p:cNvSpPr>
            <a:spLocks noGrp="1"/>
          </p:cNvSpPr>
          <p:nvPr>
            <p:ph type="sldNum" sz="quarter" idx="5"/>
          </p:nvPr>
        </p:nvSpPr>
        <p:spPr/>
        <p:txBody>
          <a:bodyPr/>
          <a:lstStyle/>
          <a:p>
            <a:pPr>
              <a:defRPr/>
            </a:pPr>
            <a:fld id="{CD1CD96A-A6EF-4B0B-9885-C22D65D2CD20}" type="slidenum">
              <a:rPr lang="zh-CN" altLang="en-US" smtClean="0"/>
              <a:pPr>
                <a:defRPr/>
              </a:pPr>
              <a:t>84</a:t>
            </a:fld>
            <a:endParaRPr lang="zh-CN" altLang="en-US"/>
          </a:p>
        </p:txBody>
      </p:sp>
    </p:spTree>
    <p:extLst>
      <p:ext uri="{BB962C8B-B14F-4D97-AF65-F5344CB8AC3E}">
        <p14:creationId xmlns:p14="http://schemas.microsoft.com/office/powerpoint/2010/main" val="35560838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1212-5B02-7390-395E-5977E416C5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FFCBA0-04F1-D131-53E9-EE7D209637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2143E0-692B-DD9A-1100-D32BA9E5D68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BCA3881-A00B-3522-772F-0D195F42733C}"/>
              </a:ext>
            </a:extLst>
          </p:cNvPr>
          <p:cNvSpPr>
            <a:spLocks noGrp="1"/>
          </p:cNvSpPr>
          <p:nvPr>
            <p:ph type="sldNum" sz="quarter" idx="5"/>
          </p:nvPr>
        </p:nvSpPr>
        <p:spPr/>
        <p:txBody>
          <a:bodyPr/>
          <a:lstStyle/>
          <a:p>
            <a:pPr>
              <a:defRPr/>
            </a:pPr>
            <a:fld id="{CD1CD96A-A6EF-4B0B-9885-C22D65D2CD20}" type="slidenum">
              <a:rPr lang="zh-CN" altLang="en-US" smtClean="0"/>
              <a:pPr>
                <a:defRPr/>
              </a:pPr>
              <a:t>85</a:t>
            </a:fld>
            <a:endParaRPr lang="zh-CN" altLang="en-US"/>
          </a:p>
        </p:txBody>
      </p:sp>
    </p:spTree>
    <p:extLst>
      <p:ext uri="{BB962C8B-B14F-4D97-AF65-F5344CB8AC3E}">
        <p14:creationId xmlns:p14="http://schemas.microsoft.com/office/powerpoint/2010/main" val="35349695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86</a:t>
            </a:fld>
            <a:endParaRPr lang="zh-CN" altLang="en-US"/>
          </a:p>
        </p:txBody>
      </p:sp>
    </p:spTree>
    <p:extLst>
      <p:ext uri="{BB962C8B-B14F-4D97-AF65-F5344CB8AC3E}">
        <p14:creationId xmlns:p14="http://schemas.microsoft.com/office/powerpoint/2010/main" val="12612760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5AF1-5850-9F18-3A66-8FE1B9B734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0277A3-8E6F-7247-3017-467486B951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62F643-46A1-D184-A8FA-1CC3D71B043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9DE1332-92A4-0082-C15A-1002F8A74920}"/>
              </a:ext>
            </a:extLst>
          </p:cNvPr>
          <p:cNvSpPr>
            <a:spLocks noGrp="1"/>
          </p:cNvSpPr>
          <p:nvPr>
            <p:ph type="sldNum" sz="quarter" idx="5"/>
          </p:nvPr>
        </p:nvSpPr>
        <p:spPr/>
        <p:txBody>
          <a:bodyPr/>
          <a:lstStyle/>
          <a:p>
            <a:pPr>
              <a:defRPr/>
            </a:pPr>
            <a:fld id="{CD1CD96A-A6EF-4B0B-9885-C22D65D2CD20}" type="slidenum">
              <a:rPr lang="zh-CN" altLang="en-US" smtClean="0"/>
              <a:pPr>
                <a:defRPr/>
              </a:pPr>
              <a:t>87</a:t>
            </a:fld>
            <a:endParaRPr lang="zh-CN" altLang="en-US"/>
          </a:p>
        </p:txBody>
      </p:sp>
    </p:spTree>
    <p:extLst>
      <p:ext uri="{BB962C8B-B14F-4D97-AF65-F5344CB8AC3E}">
        <p14:creationId xmlns:p14="http://schemas.microsoft.com/office/powerpoint/2010/main" val="43549499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88</a:t>
            </a:fld>
            <a:endParaRPr lang="zh-CN" altLang="en-US"/>
          </a:p>
        </p:txBody>
      </p:sp>
    </p:spTree>
    <p:extLst>
      <p:ext uri="{BB962C8B-B14F-4D97-AF65-F5344CB8AC3E}">
        <p14:creationId xmlns:p14="http://schemas.microsoft.com/office/powerpoint/2010/main" val="3207843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89</a:t>
            </a:fld>
            <a:endParaRPr lang="zh-CN" altLang="en-US"/>
          </a:p>
        </p:txBody>
      </p:sp>
    </p:spTree>
    <p:extLst>
      <p:ext uri="{BB962C8B-B14F-4D97-AF65-F5344CB8AC3E}">
        <p14:creationId xmlns:p14="http://schemas.microsoft.com/office/powerpoint/2010/main" val="30871639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91</a:t>
            </a:fld>
            <a:endParaRPr lang="zh-CN" altLang="en-US"/>
          </a:p>
        </p:txBody>
      </p:sp>
    </p:spTree>
    <p:extLst>
      <p:ext uri="{BB962C8B-B14F-4D97-AF65-F5344CB8AC3E}">
        <p14:creationId xmlns:p14="http://schemas.microsoft.com/office/powerpoint/2010/main" val="21626196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67601-5F30-19AD-61AB-C60A9CAAEC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EE9872-9DB0-0E99-C5F2-6B06AC1194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C1E1B0-D12B-2AB0-63CE-0CC1AA7421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F5B6B77-7417-5B06-FF34-53951C42C503}"/>
              </a:ext>
            </a:extLst>
          </p:cNvPr>
          <p:cNvSpPr>
            <a:spLocks noGrp="1"/>
          </p:cNvSpPr>
          <p:nvPr>
            <p:ph type="sldNum" sz="quarter" idx="5"/>
          </p:nvPr>
        </p:nvSpPr>
        <p:spPr/>
        <p:txBody>
          <a:bodyPr/>
          <a:lstStyle/>
          <a:p>
            <a:pPr>
              <a:defRPr/>
            </a:pPr>
            <a:fld id="{CD1CD96A-A6EF-4B0B-9885-C22D65D2CD20}" type="slidenum">
              <a:rPr lang="zh-CN" altLang="en-US" smtClean="0"/>
              <a:pPr>
                <a:defRPr/>
              </a:pPr>
              <a:t>92</a:t>
            </a:fld>
            <a:endParaRPr lang="zh-CN" altLang="en-US"/>
          </a:p>
        </p:txBody>
      </p:sp>
    </p:spTree>
    <p:extLst>
      <p:ext uri="{BB962C8B-B14F-4D97-AF65-F5344CB8AC3E}">
        <p14:creationId xmlns:p14="http://schemas.microsoft.com/office/powerpoint/2010/main" val="160736118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07979-9E4E-1FA5-E350-BC3F74AF06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2833D9-6AD1-5AC9-397B-BBE2781225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860B54-99D9-B83E-715D-4471E1E960B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35F35D6-AF7C-C40F-76E6-EEC362D4FD92}"/>
              </a:ext>
            </a:extLst>
          </p:cNvPr>
          <p:cNvSpPr>
            <a:spLocks noGrp="1"/>
          </p:cNvSpPr>
          <p:nvPr>
            <p:ph type="sldNum" sz="quarter" idx="5"/>
          </p:nvPr>
        </p:nvSpPr>
        <p:spPr/>
        <p:txBody>
          <a:bodyPr/>
          <a:lstStyle/>
          <a:p>
            <a:pPr>
              <a:defRPr/>
            </a:pPr>
            <a:fld id="{CD1CD96A-A6EF-4B0B-9885-C22D65D2CD20}" type="slidenum">
              <a:rPr lang="zh-CN" altLang="en-US" smtClean="0"/>
              <a:pPr>
                <a:defRPr/>
              </a:pPr>
              <a:t>93</a:t>
            </a:fld>
            <a:endParaRPr lang="zh-CN" altLang="en-US"/>
          </a:p>
        </p:txBody>
      </p:sp>
    </p:spTree>
    <p:extLst>
      <p:ext uri="{BB962C8B-B14F-4D97-AF65-F5344CB8AC3E}">
        <p14:creationId xmlns:p14="http://schemas.microsoft.com/office/powerpoint/2010/main" val="33081894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1A828-7FA3-147B-25C7-96818FB136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CDD173-E25B-CB0C-C802-1950E81B24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B9248C-0077-575A-380D-850C9FBEC49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2CFEEBF-40B0-F643-2199-29686CA7CE52}"/>
              </a:ext>
            </a:extLst>
          </p:cNvPr>
          <p:cNvSpPr>
            <a:spLocks noGrp="1"/>
          </p:cNvSpPr>
          <p:nvPr>
            <p:ph type="sldNum" sz="quarter" idx="5"/>
          </p:nvPr>
        </p:nvSpPr>
        <p:spPr/>
        <p:txBody>
          <a:bodyPr/>
          <a:lstStyle/>
          <a:p>
            <a:pPr>
              <a:defRPr/>
            </a:pPr>
            <a:fld id="{CD1CD96A-A6EF-4B0B-9885-C22D65D2CD20}" type="slidenum">
              <a:rPr lang="zh-CN" altLang="en-US" smtClean="0"/>
              <a:pPr>
                <a:defRPr/>
              </a:pPr>
              <a:t>94</a:t>
            </a:fld>
            <a:endParaRPr lang="zh-CN" altLang="en-US"/>
          </a:p>
        </p:txBody>
      </p:sp>
    </p:spTree>
    <p:extLst>
      <p:ext uri="{BB962C8B-B14F-4D97-AF65-F5344CB8AC3E}">
        <p14:creationId xmlns:p14="http://schemas.microsoft.com/office/powerpoint/2010/main" val="270412480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95</a:t>
            </a:fld>
            <a:endParaRPr lang="zh-CN" altLang="en-US"/>
          </a:p>
        </p:txBody>
      </p:sp>
    </p:spTree>
    <p:extLst>
      <p:ext uri="{BB962C8B-B14F-4D97-AF65-F5344CB8AC3E}">
        <p14:creationId xmlns:p14="http://schemas.microsoft.com/office/powerpoint/2010/main" val="25249575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96</a:t>
            </a:fld>
            <a:endParaRPr lang="zh-CN" altLang="en-US"/>
          </a:p>
        </p:txBody>
      </p:sp>
    </p:spTree>
    <p:extLst>
      <p:ext uri="{BB962C8B-B14F-4D97-AF65-F5344CB8AC3E}">
        <p14:creationId xmlns:p14="http://schemas.microsoft.com/office/powerpoint/2010/main" val="243693027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97</a:t>
            </a:fld>
            <a:endParaRPr lang="zh-CN" altLang="en-US"/>
          </a:p>
        </p:txBody>
      </p:sp>
    </p:spTree>
    <p:extLst>
      <p:ext uri="{BB962C8B-B14F-4D97-AF65-F5344CB8AC3E}">
        <p14:creationId xmlns:p14="http://schemas.microsoft.com/office/powerpoint/2010/main" val="46184974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13F8C-0EAA-2054-E172-F65A9DEB5D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CD69E2-2500-280B-1F26-8096205D74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6B1B45-7217-64EF-EA8D-6C8436EDF75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21401CB-A316-22E2-3EAA-60D8085D4035}"/>
              </a:ext>
            </a:extLst>
          </p:cNvPr>
          <p:cNvSpPr>
            <a:spLocks noGrp="1"/>
          </p:cNvSpPr>
          <p:nvPr>
            <p:ph type="sldNum" sz="quarter" idx="5"/>
          </p:nvPr>
        </p:nvSpPr>
        <p:spPr/>
        <p:txBody>
          <a:bodyPr/>
          <a:lstStyle/>
          <a:p>
            <a:pPr>
              <a:defRPr/>
            </a:pPr>
            <a:fld id="{CD1CD96A-A6EF-4B0B-9885-C22D65D2CD20}" type="slidenum">
              <a:rPr lang="zh-CN" altLang="en-US" smtClean="0"/>
              <a:pPr>
                <a:defRPr/>
              </a:pPr>
              <a:t>98</a:t>
            </a:fld>
            <a:endParaRPr lang="zh-CN" altLang="en-US"/>
          </a:p>
        </p:txBody>
      </p:sp>
    </p:spTree>
    <p:extLst>
      <p:ext uri="{BB962C8B-B14F-4D97-AF65-F5344CB8AC3E}">
        <p14:creationId xmlns:p14="http://schemas.microsoft.com/office/powerpoint/2010/main" val="10497388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99</a:t>
            </a:fld>
            <a:endParaRPr lang="zh-CN" altLang="en-US"/>
          </a:p>
        </p:txBody>
      </p:sp>
    </p:spTree>
    <p:extLst>
      <p:ext uri="{BB962C8B-B14F-4D97-AF65-F5344CB8AC3E}">
        <p14:creationId xmlns:p14="http://schemas.microsoft.com/office/powerpoint/2010/main" val="91264277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100</a:t>
            </a:fld>
            <a:endParaRPr lang="zh-CN" altLang="en-US"/>
          </a:p>
        </p:txBody>
      </p:sp>
    </p:spTree>
    <p:extLst>
      <p:ext uri="{BB962C8B-B14F-4D97-AF65-F5344CB8AC3E}">
        <p14:creationId xmlns:p14="http://schemas.microsoft.com/office/powerpoint/2010/main" val="201789017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101</a:t>
            </a:fld>
            <a:endParaRPr lang="zh-CN" altLang="en-US"/>
          </a:p>
        </p:txBody>
      </p:sp>
    </p:spTree>
    <p:extLst>
      <p:ext uri="{BB962C8B-B14F-4D97-AF65-F5344CB8AC3E}">
        <p14:creationId xmlns:p14="http://schemas.microsoft.com/office/powerpoint/2010/main" val="303745198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102</a:t>
            </a:fld>
            <a:endParaRPr lang="zh-CN" altLang="en-US"/>
          </a:p>
        </p:txBody>
      </p:sp>
    </p:spTree>
    <p:extLst>
      <p:ext uri="{BB962C8B-B14F-4D97-AF65-F5344CB8AC3E}">
        <p14:creationId xmlns:p14="http://schemas.microsoft.com/office/powerpoint/2010/main" val="421417875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103</a:t>
            </a:fld>
            <a:endParaRPr lang="zh-CN" altLang="en-US"/>
          </a:p>
        </p:txBody>
      </p:sp>
    </p:spTree>
    <p:extLst>
      <p:ext uri="{BB962C8B-B14F-4D97-AF65-F5344CB8AC3E}">
        <p14:creationId xmlns:p14="http://schemas.microsoft.com/office/powerpoint/2010/main" val="380824231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104</a:t>
            </a:fld>
            <a:endParaRPr lang="zh-CN" altLang="en-US"/>
          </a:p>
        </p:txBody>
      </p:sp>
    </p:spTree>
    <p:extLst>
      <p:ext uri="{BB962C8B-B14F-4D97-AF65-F5344CB8AC3E}">
        <p14:creationId xmlns:p14="http://schemas.microsoft.com/office/powerpoint/2010/main" val="157654031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105</a:t>
            </a:fld>
            <a:endParaRPr lang="zh-CN" altLang="en-US"/>
          </a:p>
        </p:txBody>
      </p:sp>
    </p:spTree>
    <p:extLst>
      <p:ext uri="{BB962C8B-B14F-4D97-AF65-F5344CB8AC3E}">
        <p14:creationId xmlns:p14="http://schemas.microsoft.com/office/powerpoint/2010/main" val="83135817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8D2BD-9715-DEBC-8D7A-72F88D9D22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A37467-F78D-8184-EC8B-84A2B62DDF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7ED521-0401-38CF-1993-4C90434C76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159B344-8CDB-1773-499B-04C0B775C0C1}"/>
              </a:ext>
            </a:extLst>
          </p:cNvPr>
          <p:cNvSpPr>
            <a:spLocks noGrp="1"/>
          </p:cNvSpPr>
          <p:nvPr>
            <p:ph type="sldNum" sz="quarter" idx="5"/>
          </p:nvPr>
        </p:nvSpPr>
        <p:spPr/>
        <p:txBody>
          <a:bodyPr/>
          <a:lstStyle/>
          <a:p>
            <a:pPr>
              <a:defRPr/>
            </a:pPr>
            <a:fld id="{CD1CD96A-A6EF-4B0B-9885-C22D65D2CD20}" type="slidenum">
              <a:rPr lang="zh-CN" altLang="en-US" smtClean="0"/>
              <a:pPr>
                <a:defRPr/>
              </a:pPr>
              <a:t>106</a:t>
            </a:fld>
            <a:endParaRPr lang="zh-CN" altLang="en-US"/>
          </a:p>
        </p:txBody>
      </p:sp>
    </p:spTree>
    <p:extLst>
      <p:ext uri="{BB962C8B-B14F-4D97-AF65-F5344CB8AC3E}">
        <p14:creationId xmlns:p14="http://schemas.microsoft.com/office/powerpoint/2010/main" val="4923985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107</a:t>
            </a:fld>
            <a:endParaRPr lang="zh-CN" altLang="en-US"/>
          </a:p>
        </p:txBody>
      </p:sp>
    </p:spTree>
    <p:extLst>
      <p:ext uri="{BB962C8B-B14F-4D97-AF65-F5344CB8AC3E}">
        <p14:creationId xmlns:p14="http://schemas.microsoft.com/office/powerpoint/2010/main" val="114808800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108</a:t>
            </a:fld>
            <a:endParaRPr lang="zh-CN" altLang="en-US"/>
          </a:p>
        </p:txBody>
      </p:sp>
    </p:spTree>
    <p:extLst>
      <p:ext uri="{BB962C8B-B14F-4D97-AF65-F5344CB8AC3E}">
        <p14:creationId xmlns:p14="http://schemas.microsoft.com/office/powerpoint/2010/main" val="343348783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109</a:t>
            </a:fld>
            <a:endParaRPr lang="zh-CN" altLang="en-US"/>
          </a:p>
        </p:txBody>
      </p:sp>
    </p:spTree>
    <p:extLst>
      <p:ext uri="{BB962C8B-B14F-4D97-AF65-F5344CB8AC3E}">
        <p14:creationId xmlns:p14="http://schemas.microsoft.com/office/powerpoint/2010/main" val="59059995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110</a:t>
            </a:fld>
            <a:endParaRPr lang="zh-CN" altLang="en-US"/>
          </a:p>
        </p:txBody>
      </p:sp>
    </p:spTree>
    <p:extLst>
      <p:ext uri="{BB962C8B-B14F-4D97-AF65-F5344CB8AC3E}">
        <p14:creationId xmlns:p14="http://schemas.microsoft.com/office/powerpoint/2010/main" val="394992252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111</a:t>
            </a:fld>
            <a:endParaRPr lang="zh-CN" altLang="en-US"/>
          </a:p>
        </p:txBody>
      </p:sp>
    </p:spTree>
    <p:extLst>
      <p:ext uri="{BB962C8B-B14F-4D97-AF65-F5344CB8AC3E}">
        <p14:creationId xmlns:p14="http://schemas.microsoft.com/office/powerpoint/2010/main" val="411404838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112</a:t>
            </a:fld>
            <a:endParaRPr lang="zh-CN" altLang="en-US"/>
          </a:p>
        </p:txBody>
      </p:sp>
    </p:spTree>
    <p:extLst>
      <p:ext uri="{BB962C8B-B14F-4D97-AF65-F5344CB8AC3E}">
        <p14:creationId xmlns:p14="http://schemas.microsoft.com/office/powerpoint/2010/main" val="28367156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113</a:t>
            </a:fld>
            <a:endParaRPr lang="zh-CN" altLang="en-US"/>
          </a:p>
        </p:txBody>
      </p:sp>
    </p:spTree>
    <p:extLst>
      <p:ext uri="{BB962C8B-B14F-4D97-AF65-F5344CB8AC3E}">
        <p14:creationId xmlns:p14="http://schemas.microsoft.com/office/powerpoint/2010/main" val="73979471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114</a:t>
            </a:fld>
            <a:endParaRPr lang="zh-CN" altLang="en-US"/>
          </a:p>
        </p:txBody>
      </p:sp>
    </p:spTree>
    <p:extLst>
      <p:ext uri="{BB962C8B-B14F-4D97-AF65-F5344CB8AC3E}">
        <p14:creationId xmlns:p14="http://schemas.microsoft.com/office/powerpoint/2010/main" val="118955072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115</a:t>
            </a:fld>
            <a:endParaRPr lang="zh-CN" altLang="en-US"/>
          </a:p>
        </p:txBody>
      </p:sp>
    </p:spTree>
    <p:extLst>
      <p:ext uri="{BB962C8B-B14F-4D97-AF65-F5344CB8AC3E}">
        <p14:creationId xmlns:p14="http://schemas.microsoft.com/office/powerpoint/2010/main" val="382451455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116</a:t>
            </a:fld>
            <a:endParaRPr lang="zh-CN" altLang="en-US"/>
          </a:p>
        </p:txBody>
      </p:sp>
    </p:spTree>
    <p:extLst>
      <p:ext uri="{BB962C8B-B14F-4D97-AF65-F5344CB8AC3E}">
        <p14:creationId xmlns:p14="http://schemas.microsoft.com/office/powerpoint/2010/main" val="97693763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117</a:t>
            </a:fld>
            <a:endParaRPr lang="zh-CN" altLang="en-US"/>
          </a:p>
        </p:txBody>
      </p:sp>
    </p:spTree>
    <p:extLst>
      <p:ext uri="{BB962C8B-B14F-4D97-AF65-F5344CB8AC3E}">
        <p14:creationId xmlns:p14="http://schemas.microsoft.com/office/powerpoint/2010/main" val="18081508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118</a:t>
            </a:fld>
            <a:endParaRPr lang="zh-CN" altLang="en-US"/>
          </a:p>
        </p:txBody>
      </p:sp>
    </p:spTree>
    <p:extLst>
      <p:ext uri="{BB962C8B-B14F-4D97-AF65-F5344CB8AC3E}">
        <p14:creationId xmlns:p14="http://schemas.microsoft.com/office/powerpoint/2010/main" val="102933739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119</a:t>
            </a:fld>
            <a:endParaRPr lang="zh-CN" altLang="en-US"/>
          </a:p>
        </p:txBody>
      </p:sp>
    </p:spTree>
    <p:extLst>
      <p:ext uri="{BB962C8B-B14F-4D97-AF65-F5344CB8AC3E}">
        <p14:creationId xmlns:p14="http://schemas.microsoft.com/office/powerpoint/2010/main" val="142961836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120</a:t>
            </a:fld>
            <a:endParaRPr lang="zh-CN" altLang="en-US"/>
          </a:p>
        </p:txBody>
      </p:sp>
    </p:spTree>
    <p:extLst>
      <p:ext uri="{BB962C8B-B14F-4D97-AF65-F5344CB8AC3E}">
        <p14:creationId xmlns:p14="http://schemas.microsoft.com/office/powerpoint/2010/main" val="282843341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121</a:t>
            </a:fld>
            <a:endParaRPr lang="zh-CN" altLang="en-US"/>
          </a:p>
        </p:txBody>
      </p:sp>
    </p:spTree>
    <p:extLst>
      <p:ext uri="{BB962C8B-B14F-4D97-AF65-F5344CB8AC3E}">
        <p14:creationId xmlns:p14="http://schemas.microsoft.com/office/powerpoint/2010/main" val="151051054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122</a:t>
            </a:fld>
            <a:endParaRPr lang="zh-CN" altLang="en-US"/>
          </a:p>
        </p:txBody>
      </p:sp>
    </p:spTree>
    <p:extLst>
      <p:ext uri="{BB962C8B-B14F-4D97-AF65-F5344CB8AC3E}">
        <p14:creationId xmlns:p14="http://schemas.microsoft.com/office/powerpoint/2010/main" val="63831982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123</a:t>
            </a:fld>
            <a:endParaRPr lang="zh-CN" altLang="en-US"/>
          </a:p>
        </p:txBody>
      </p:sp>
    </p:spTree>
    <p:extLst>
      <p:ext uri="{BB962C8B-B14F-4D97-AF65-F5344CB8AC3E}">
        <p14:creationId xmlns:p14="http://schemas.microsoft.com/office/powerpoint/2010/main" val="147839846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124</a:t>
            </a:fld>
            <a:endParaRPr lang="zh-CN" altLang="en-US"/>
          </a:p>
        </p:txBody>
      </p:sp>
    </p:spTree>
    <p:extLst>
      <p:ext uri="{BB962C8B-B14F-4D97-AF65-F5344CB8AC3E}">
        <p14:creationId xmlns:p14="http://schemas.microsoft.com/office/powerpoint/2010/main" val="415593235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125</a:t>
            </a:fld>
            <a:endParaRPr lang="zh-CN" altLang="en-US"/>
          </a:p>
        </p:txBody>
      </p:sp>
    </p:spTree>
    <p:extLst>
      <p:ext uri="{BB962C8B-B14F-4D97-AF65-F5344CB8AC3E}">
        <p14:creationId xmlns:p14="http://schemas.microsoft.com/office/powerpoint/2010/main" val="159167426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126</a:t>
            </a:fld>
            <a:endParaRPr lang="zh-CN" altLang="en-US"/>
          </a:p>
        </p:txBody>
      </p:sp>
    </p:spTree>
    <p:extLst>
      <p:ext uri="{BB962C8B-B14F-4D97-AF65-F5344CB8AC3E}">
        <p14:creationId xmlns:p14="http://schemas.microsoft.com/office/powerpoint/2010/main" val="145849079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16825-DD35-5976-2CB7-562F58FED0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2A245B-F6F8-8C0A-0067-99EDEF2F60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EE9470-35F6-EDC8-4C48-5EE4FB5C065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C55AC7C-BC71-ADA3-2586-2B86855F1D82}"/>
              </a:ext>
            </a:extLst>
          </p:cNvPr>
          <p:cNvSpPr>
            <a:spLocks noGrp="1"/>
          </p:cNvSpPr>
          <p:nvPr>
            <p:ph type="sldNum" sz="quarter" idx="5"/>
          </p:nvPr>
        </p:nvSpPr>
        <p:spPr/>
        <p:txBody>
          <a:bodyPr/>
          <a:lstStyle/>
          <a:p>
            <a:pPr>
              <a:defRPr/>
            </a:pPr>
            <a:fld id="{CD1CD96A-A6EF-4B0B-9885-C22D65D2CD20}" type="slidenum">
              <a:rPr lang="zh-CN" altLang="en-US" smtClean="0"/>
              <a:pPr>
                <a:defRPr/>
              </a:pPr>
              <a:t>127</a:t>
            </a:fld>
            <a:endParaRPr lang="zh-CN" altLang="en-US"/>
          </a:p>
        </p:txBody>
      </p:sp>
    </p:spTree>
    <p:extLst>
      <p:ext uri="{BB962C8B-B14F-4D97-AF65-F5344CB8AC3E}">
        <p14:creationId xmlns:p14="http://schemas.microsoft.com/office/powerpoint/2010/main" val="354709323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128</a:t>
            </a:fld>
            <a:endParaRPr lang="zh-CN" altLang="en-US"/>
          </a:p>
        </p:txBody>
      </p:sp>
    </p:spTree>
    <p:extLst>
      <p:ext uri="{BB962C8B-B14F-4D97-AF65-F5344CB8AC3E}">
        <p14:creationId xmlns:p14="http://schemas.microsoft.com/office/powerpoint/2010/main" val="258390742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129</a:t>
            </a:fld>
            <a:endParaRPr lang="zh-CN" altLang="en-US"/>
          </a:p>
        </p:txBody>
      </p:sp>
    </p:spTree>
    <p:extLst>
      <p:ext uri="{BB962C8B-B14F-4D97-AF65-F5344CB8AC3E}">
        <p14:creationId xmlns:p14="http://schemas.microsoft.com/office/powerpoint/2010/main" val="258983165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130</a:t>
            </a:fld>
            <a:endParaRPr lang="zh-CN" altLang="en-US"/>
          </a:p>
        </p:txBody>
      </p:sp>
    </p:spTree>
    <p:extLst>
      <p:ext uri="{BB962C8B-B14F-4D97-AF65-F5344CB8AC3E}">
        <p14:creationId xmlns:p14="http://schemas.microsoft.com/office/powerpoint/2010/main" val="119127036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131</a:t>
            </a:fld>
            <a:endParaRPr lang="zh-CN" altLang="en-US"/>
          </a:p>
        </p:txBody>
      </p:sp>
    </p:spTree>
    <p:extLst>
      <p:ext uri="{BB962C8B-B14F-4D97-AF65-F5344CB8AC3E}">
        <p14:creationId xmlns:p14="http://schemas.microsoft.com/office/powerpoint/2010/main" val="96577652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132</a:t>
            </a:fld>
            <a:endParaRPr lang="zh-CN" altLang="en-US"/>
          </a:p>
        </p:txBody>
      </p:sp>
    </p:spTree>
    <p:extLst>
      <p:ext uri="{BB962C8B-B14F-4D97-AF65-F5344CB8AC3E}">
        <p14:creationId xmlns:p14="http://schemas.microsoft.com/office/powerpoint/2010/main" val="394826719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133</a:t>
            </a:fld>
            <a:endParaRPr lang="zh-CN" altLang="en-US"/>
          </a:p>
        </p:txBody>
      </p:sp>
    </p:spTree>
    <p:extLst>
      <p:ext uri="{BB962C8B-B14F-4D97-AF65-F5344CB8AC3E}">
        <p14:creationId xmlns:p14="http://schemas.microsoft.com/office/powerpoint/2010/main" val="164396825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134</a:t>
            </a:fld>
            <a:endParaRPr lang="zh-CN" altLang="en-US"/>
          </a:p>
        </p:txBody>
      </p:sp>
    </p:spTree>
    <p:extLst>
      <p:ext uri="{BB962C8B-B14F-4D97-AF65-F5344CB8AC3E}">
        <p14:creationId xmlns:p14="http://schemas.microsoft.com/office/powerpoint/2010/main" val="386848670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135</a:t>
            </a:fld>
            <a:endParaRPr lang="zh-CN" altLang="en-US"/>
          </a:p>
        </p:txBody>
      </p:sp>
    </p:spTree>
    <p:extLst>
      <p:ext uri="{BB962C8B-B14F-4D97-AF65-F5344CB8AC3E}">
        <p14:creationId xmlns:p14="http://schemas.microsoft.com/office/powerpoint/2010/main" val="986577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FAA6CB-A873-3C05-0858-D1DF371F6637}"/>
              </a:ext>
            </a:extLst>
          </p:cNvPr>
          <p:cNvSpPr>
            <a:spLocks noGrp="1"/>
          </p:cNvSpPr>
          <p:nvPr>
            <p:ph type="title"/>
          </p:nvPr>
        </p:nvSpPr>
        <p:spPr>
          <a:solidFill>
            <a:srgbClr val="00B0F0"/>
          </a:solidFill>
        </p:spPr>
        <p:txBody>
          <a:bodyPr/>
          <a:lstStyle>
            <a:lvl1pPr>
              <a:defRPr>
                <a:solidFill>
                  <a:schemeClr val="bg1"/>
                </a:solidFill>
              </a:defRPr>
            </a:lvl1pPr>
          </a:lstStyle>
          <a:p>
            <a:r>
              <a:rPr lang="zh-CN" altLang="en-US"/>
              <a:t>单击此处编辑母版标题样式</a:t>
            </a:r>
          </a:p>
        </p:txBody>
      </p:sp>
      <p:sp>
        <p:nvSpPr>
          <p:cNvPr id="4" name="内容占位符 3">
            <a:extLst>
              <a:ext uri="{FF2B5EF4-FFF2-40B4-BE49-F238E27FC236}">
                <a16:creationId xmlns:a16="http://schemas.microsoft.com/office/drawing/2014/main" id="{AFAE9263-217B-347B-FEFA-E11F2C618B80}"/>
              </a:ext>
            </a:extLst>
          </p:cNvPr>
          <p:cNvSpPr>
            <a:spLocks noGrp="1"/>
          </p:cNvSpPr>
          <p:nvPr>
            <p:ph sz="quarter" idx="10"/>
          </p:nvPr>
        </p:nvSpPr>
        <p:spPr>
          <a:xfrm>
            <a:off x="628651" y="900000"/>
            <a:ext cx="7886700" cy="35464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80914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2C307-930A-F25A-872C-17AF2CF49B8F}"/>
              </a:ext>
            </a:extLst>
          </p:cNvPr>
          <p:cNvSpPr>
            <a:spLocks noGrp="1"/>
          </p:cNvSpPr>
          <p:nvPr>
            <p:ph type="title"/>
          </p:nvPr>
        </p:nvSpPr>
        <p:spPr>
          <a:solidFill>
            <a:srgbClr val="00B0F0"/>
          </a:solidFill>
        </p:spPr>
        <p:txBody>
          <a:bodyPr/>
          <a:lstStyle>
            <a:lvl1pPr>
              <a:defRPr>
                <a:solidFill>
                  <a:schemeClr val="bg1"/>
                </a:solidFill>
              </a:defRPr>
            </a:lvl1pPr>
          </a:lstStyle>
          <a:p>
            <a:r>
              <a:rPr lang="zh-CN" altLang="en-US"/>
              <a:t>单击此处编辑母版标题样式</a:t>
            </a:r>
          </a:p>
        </p:txBody>
      </p:sp>
    </p:spTree>
    <p:extLst>
      <p:ext uri="{BB962C8B-B14F-4D97-AF65-F5344CB8AC3E}">
        <p14:creationId xmlns:p14="http://schemas.microsoft.com/office/powerpoint/2010/main" val="1204452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4" name="MH_SubTitle_2">
            <a:extLst>
              <a:ext uri="{FF2B5EF4-FFF2-40B4-BE49-F238E27FC236}">
                <a16:creationId xmlns:a16="http://schemas.microsoft.com/office/drawing/2014/main" id="{B2214D7F-576A-66E3-8CD0-728F4A089CD6}"/>
              </a:ext>
            </a:extLst>
          </p:cNvPr>
          <p:cNvSpPr/>
          <p:nvPr userDrawn="1">
            <p:custDataLst>
              <p:tags r:id="rId1"/>
            </p:custDataLst>
          </p:nvPr>
        </p:nvSpPr>
        <p:spPr>
          <a:xfrm flipH="1">
            <a:off x="6264000" y="322000"/>
            <a:ext cx="2017224" cy="542338"/>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p>
        </p:txBody>
      </p:sp>
      <p:sp>
        <p:nvSpPr>
          <p:cNvPr id="6" name="MH_Other_5">
            <a:extLst>
              <a:ext uri="{FF2B5EF4-FFF2-40B4-BE49-F238E27FC236}">
                <a16:creationId xmlns:a16="http://schemas.microsoft.com/office/drawing/2014/main" id="{9B676F13-95A3-1BB4-4392-1F33A6FCDB19}"/>
              </a:ext>
            </a:extLst>
          </p:cNvPr>
          <p:cNvSpPr/>
          <p:nvPr userDrawn="1">
            <p:custDataLst>
              <p:tags r:id="rId2"/>
            </p:custDataLst>
          </p:nvPr>
        </p:nvSpPr>
        <p:spPr>
          <a:xfrm flipH="1">
            <a:off x="8565756" y="232001"/>
            <a:ext cx="578244" cy="7188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8" name="MH_Other_6">
            <a:extLst>
              <a:ext uri="{FF2B5EF4-FFF2-40B4-BE49-F238E27FC236}">
                <a16:creationId xmlns:a16="http://schemas.microsoft.com/office/drawing/2014/main" id="{05E849E2-0FA1-F09E-D03D-947B71E42D67}"/>
              </a:ext>
            </a:extLst>
          </p:cNvPr>
          <p:cNvSpPr/>
          <p:nvPr userDrawn="1">
            <p:custDataLst>
              <p:tags r:id="rId3"/>
            </p:custDataLst>
          </p:nvPr>
        </p:nvSpPr>
        <p:spPr>
          <a:xfrm flipH="1">
            <a:off x="8280203" y="230832"/>
            <a:ext cx="296771" cy="72000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2" name="标题 1">
            <a:extLst>
              <a:ext uri="{FF2B5EF4-FFF2-40B4-BE49-F238E27FC236}">
                <a16:creationId xmlns:a16="http://schemas.microsoft.com/office/drawing/2014/main" id="{51CDB9C1-2066-1D46-0AE8-1105D62C8A15}"/>
              </a:ext>
            </a:extLst>
          </p:cNvPr>
          <p:cNvSpPr>
            <a:spLocks noGrp="1"/>
          </p:cNvSpPr>
          <p:nvPr>
            <p:ph type="title"/>
          </p:nvPr>
        </p:nvSpPr>
        <p:spPr>
          <a:xfrm>
            <a:off x="4880040" y="390777"/>
            <a:ext cx="3401184" cy="400110"/>
          </a:xfrm>
          <a:noFill/>
        </p:spPr>
        <p:txBody>
          <a:bodyPr/>
          <a:lstStyle>
            <a:lvl1pPr algn="r">
              <a:defRPr>
                <a:solidFill>
                  <a:schemeClr val="bg1"/>
                </a:solidFill>
              </a:defRPr>
            </a:lvl1pPr>
          </a:lstStyle>
          <a:p>
            <a:r>
              <a:rPr lang="zh-CN" altLang="en-US"/>
              <a:t>单击此处编辑母版标题样式</a:t>
            </a:r>
          </a:p>
        </p:txBody>
      </p:sp>
      <p:sp>
        <p:nvSpPr>
          <p:cNvPr id="15" name="文本占位符 14">
            <a:extLst>
              <a:ext uri="{FF2B5EF4-FFF2-40B4-BE49-F238E27FC236}">
                <a16:creationId xmlns:a16="http://schemas.microsoft.com/office/drawing/2014/main" id="{FEC51A4E-8D9A-B816-C269-90555AA467D0}"/>
              </a:ext>
            </a:extLst>
          </p:cNvPr>
          <p:cNvSpPr>
            <a:spLocks noGrp="1"/>
          </p:cNvSpPr>
          <p:nvPr>
            <p:ph type="body" sz="quarter" idx="10" hasCustomPrompt="1"/>
          </p:nvPr>
        </p:nvSpPr>
        <p:spPr>
          <a:xfrm>
            <a:off x="8482487" y="413294"/>
            <a:ext cx="756000" cy="369332"/>
          </a:xfrm>
        </p:spPr>
        <p:txBody>
          <a:bodyPr>
            <a:spAutoFit/>
          </a:bodyPr>
          <a:lstStyle>
            <a:lvl1pPr marL="0" indent="0" algn="ctr">
              <a:lnSpc>
                <a:spcPct val="100000"/>
              </a:lnSpc>
              <a:buNone/>
              <a:defRPr>
                <a:solidFill>
                  <a:schemeClr val="bg1"/>
                </a:solidFill>
              </a:defRPr>
            </a:lvl1pPr>
          </a:lstStyle>
          <a:p>
            <a:pPr lvl="0"/>
            <a:r>
              <a:rPr lang="zh-CN" altLang="en-US" dirty="0"/>
              <a:t>文本</a:t>
            </a:r>
          </a:p>
        </p:txBody>
      </p:sp>
    </p:spTree>
    <p:extLst>
      <p:ext uri="{BB962C8B-B14F-4D97-AF65-F5344CB8AC3E}">
        <p14:creationId xmlns:p14="http://schemas.microsoft.com/office/powerpoint/2010/main" val="37713757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Line 3">
            <a:extLst>
              <a:ext uri="{FF2B5EF4-FFF2-40B4-BE49-F238E27FC236}">
                <a16:creationId xmlns:a16="http://schemas.microsoft.com/office/drawing/2014/main" id="{C84B2606-C53F-7828-F5A2-C18B7CF9703B}"/>
              </a:ext>
            </a:extLst>
          </p:cNvPr>
          <p:cNvSpPr>
            <a:spLocks noChangeShapeType="1"/>
          </p:cNvSpPr>
          <p:nvPr userDrawn="1"/>
        </p:nvSpPr>
        <p:spPr bwMode="auto">
          <a:xfrm>
            <a:off x="5904000" y="4914158"/>
            <a:ext cx="3240000" cy="0"/>
          </a:xfrm>
          <a:prstGeom prst="line">
            <a:avLst/>
          </a:prstGeom>
          <a:noFill/>
          <a:ln w="12700" algn="ctr">
            <a:solidFill>
              <a:srgbClr val="85D1F7"/>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itchFamily="34" charset="0"/>
              <a:ea typeface="宋体" charset="-122"/>
              <a:cs typeface="+mn-cs"/>
            </a:endParaRPr>
          </a:p>
        </p:txBody>
      </p:sp>
      <p:sp>
        <p:nvSpPr>
          <p:cNvPr id="5" name="Line 3">
            <a:extLst>
              <a:ext uri="{FF2B5EF4-FFF2-40B4-BE49-F238E27FC236}">
                <a16:creationId xmlns:a16="http://schemas.microsoft.com/office/drawing/2014/main" id="{FC17826D-8BB6-F4BE-8D77-36594A895B44}"/>
              </a:ext>
            </a:extLst>
          </p:cNvPr>
          <p:cNvSpPr>
            <a:spLocks noChangeShapeType="1"/>
          </p:cNvSpPr>
          <p:nvPr userDrawn="1"/>
        </p:nvSpPr>
        <p:spPr bwMode="auto">
          <a:xfrm>
            <a:off x="0" y="4923421"/>
            <a:ext cx="3240000" cy="0"/>
          </a:xfrm>
          <a:prstGeom prst="line">
            <a:avLst/>
          </a:prstGeom>
          <a:noFill/>
          <a:ln w="12700" algn="ctr">
            <a:solidFill>
              <a:srgbClr val="85D1F7"/>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itchFamily="34" charset="0"/>
              <a:ea typeface="宋体" charset="-122"/>
              <a:cs typeface="+mn-cs"/>
            </a:endParaRPr>
          </a:p>
        </p:txBody>
      </p:sp>
      <p:sp useBgFill="1">
        <p:nvSpPr>
          <p:cNvPr id="20" name="Rectangle 4">
            <a:extLst>
              <a:ext uri="{FF2B5EF4-FFF2-40B4-BE49-F238E27FC236}">
                <a16:creationId xmlns:a16="http://schemas.microsoft.com/office/drawing/2014/main" id="{5EF1102D-F242-913C-5E24-F6959A74E69A}"/>
              </a:ext>
            </a:extLst>
          </p:cNvPr>
          <p:cNvSpPr>
            <a:spLocks noChangeArrowheads="1"/>
          </p:cNvSpPr>
          <p:nvPr userDrawn="1"/>
        </p:nvSpPr>
        <p:spPr bwMode="auto">
          <a:xfrm>
            <a:off x="4804259" y="4783353"/>
            <a:ext cx="1584000" cy="261610"/>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1100" dirty="0">
                <a:solidFill>
                  <a:schemeClr val="tx1">
                    <a:lumMod val="50000"/>
                    <a:lumOff val="50000"/>
                  </a:schemeClr>
                </a:solidFill>
              </a:rPr>
              <a:t>glplaman.github.io</a:t>
            </a:r>
            <a:endParaRPr lang="fr-FR" altLang="zh-CN" sz="1100" dirty="0">
              <a:solidFill>
                <a:schemeClr val="tx1">
                  <a:lumMod val="50000"/>
                  <a:lumOff val="50000"/>
                </a:schemeClr>
              </a:solidFill>
            </a:endParaRPr>
          </a:p>
        </p:txBody>
      </p:sp>
      <p:sp useBgFill="1">
        <p:nvSpPr>
          <p:cNvPr id="22" name="Rectangle 5">
            <a:extLst>
              <a:ext uri="{FF2B5EF4-FFF2-40B4-BE49-F238E27FC236}">
                <a16:creationId xmlns:a16="http://schemas.microsoft.com/office/drawing/2014/main" id="{98F6BA21-B9A3-B5A7-F850-BD4730EB6C5D}"/>
              </a:ext>
            </a:extLst>
          </p:cNvPr>
          <p:cNvSpPr>
            <a:spLocks noChangeArrowheads="1"/>
          </p:cNvSpPr>
          <p:nvPr userDrawn="1"/>
        </p:nvSpPr>
        <p:spPr bwMode="auto">
          <a:xfrm>
            <a:off x="3058621" y="4787341"/>
            <a:ext cx="1281120" cy="261610"/>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lang="en-US" sz="1100" noProof="0" dirty="0">
                <a:solidFill>
                  <a:schemeClr val="tx1">
                    <a:lumMod val="50000"/>
                    <a:lumOff val="50000"/>
                  </a:schemeClr>
                </a:solidFill>
              </a:rPr>
              <a:t>Network@2026</a:t>
            </a:r>
            <a:endParaRPr lang="fr-FR" altLang="zh-CN" sz="1100" noProof="0" dirty="0">
              <a:solidFill>
                <a:schemeClr val="tx1">
                  <a:lumMod val="50000"/>
                  <a:lumOff val="50000"/>
                </a:schemeClr>
              </a:solidFill>
            </a:endParaRPr>
          </a:p>
        </p:txBody>
      </p:sp>
      <p:sp>
        <p:nvSpPr>
          <p:cNvPr id="24" name="Rectangle 9">
            <a:extLst>
              <a:ext uri="{FF2B5EF4-FFF2-40B4-BE49-F238E27FC236}">
                <a16:creationId xmlns:a16="http://schemas.microsoft.com/office/drawing/2014/main" id="{E9313B7E-C151-66C9-5580-A022891720E9}"/>
              </a:ext>
            </a:extLst>
          </p:cNvPr>
          <p:cNvSpPr>
            <a:spLocks noChangeArrowheads="1"/>
          </p:cNvSpPr>
          <p:nvPr userDrawn="1"/>
        </p:nvSpPr>
        <p:spPr bwMode="auto">
          <a:xfrm>
            <a:off x="8208963" y="4394200"/>
            <a:ext cx="609600" cy="609600"/>
          </a:xfrm>
          <a:prstGeom prst="rect">
            <a:avLst/>
          </a:prstGeom>
          <a:solidFill>
            <a:schemeClr val="bg1"/>
          </a:solidFill>
          <a:ln w="25400" algn="ctr">
            <a:solidFill>
              <a:srgbClr val="85D1F7"/>
            </a:solidFill>
            <a:miter lim="800000"/>
            <a:headEnd/>
            <a:tailEn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fr-FR" altLang="zh-CN" sz="1800" b="0" i="0" u="none" strike="noStrike" kern="1200" cap="none" spc="0" normalizeH="0" baseline="0" noProof="0">
              <a:ln>
                <a:noFill/>
              </a:ln>
              <a:solidFill>
                <a:prstClr val="black"/>
              </a:solidFill>
              <a:effectLst/>
              <a:uLnTx/>
              <a:uFillTx/>
              <a:latin typeface="Calibri" pitchFamily="34" charset="0"/>
              <a:ea typeface="宋体" charset="-122"/>
              <a:cs typeface="Arial" charset="0"/>
            </a:endParaRPr>
          </a:p>
        </p:txBody>
      </p:sp>
      <p:pic>
        <p:nvPicPr>
          <p:cNvPr id="26" name="图片 25">
            <a:extLst>
              <a:ext uri="{FF2B5EF4-FFF2-40B4-BE49-F238E27FC236}">
                <a16:creationId xmlns:a16="http://schemas.microsoft.com/office/drawing/2014/main" id="{312D2808-7215-4012-DA3E-CE13F04D73B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92827" y="4684816"/>
            <a:ext cx="358346" cy="458684"/>
          </a:xfrm>
          <a:prstGeom prst="rect">
            <a:avLst/>
          </a:prstGeom>
        </p:spPr>
      </p:pic>
      <p:pic>
        <p:nvPicPr>
          <p:cNvPr id="28" name="图片 27">
            <a:extLst>
              <a:ext uri="{FF2B5EF4-FFF2-40B4-BE49-F238E27FC236}">
                <a16:creationId xmlns:a16="http://schemas.microsoft.com/office/drawing/2014/main" id="{D3A087B5-D9D0-E471-17E6-D631888F923A}"/>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25763" y="4411000"/>
            <a:ext cx="576000" cy="576000"/>
          </a:xfrm>
          <a:prstGeom prst="rect">
            <a:avLst/>
          </a:prstGeom>
        </p:spPr>
      </p:pic>
      <p:sp>
        <p:nvSpPr>
          <p:cNvPr id="29" name="标题占位符 28">
            <a:extLst>
              <a:ext uri="{FF2B5EF4-FFF2-40B4-BE49-F238E27FC236}">
                <a16:creationId xmlns:a16="http://schemas.microsoft.com/office/drawing/2014/main" id="{B508B590-AD25-92BF-2EDE-9C5FE0E7786B}"/>
              </a:ext>
            </a:extLst>
          </p:cNvPr>
          <p:cNvSpPr>
            <a:spLocks noGrp="1"/>
          </p:cNvSpPr>
          <p:nvPr>
            <p:ph type="title"/>
          </p:nvPr>
        </p:nvSpPr>
        <p:spPr>
          <a:xfrm>
            <a:off x="628650" y="390777"/>
            <a:ext cx="7886700" cy="400110"/>
          </a:xfrm>
          <a:prstGeom prst="rect">
            <a:avLst/>
          </a:prstGeom>
        </p:spPr>
        <p:txBody>
          <a:bodyPr vert="horz" lIns="91440" tIns="45720" rIns="91440" bIns="45720" rtlCol="0" anchor="ctr">
            <a:spAutoFit/>
          </a:bodyPr>
          <a:lstStyle/>
          <a:p>
            <a:r>
              <a:rPr lang="zh-CN" altLang="en-US"/>
              <a:t>单击此处编辑母版标题样式</a:t>
            </a:r>
          </a:p>
        </p:txBody>
      </p:sp>
      <p:sp>
        <p:nvSpPr>
          <p:cNvPr id="30" name="文本占位符 29">
            <a:extLst>
              <a:ext uri="{FF2B5EF4-FFF2-40B4-BE49-F238E27FC236}">
                <a16:creationId xmlns:a16="http://schemas.microsoft.com/office/drawing/2014/main" id="{B9A0F778-E272-111A-6202-9E958A7FF352}"/>
              </a:ext>
            </a:extLst>
          </p:cNvPr>
          <p:cNvSpPr>
            <a:spLocks noGrp="1"/>
          </p:cNvSpPr>
          <p:nvPr>
            <p:ph type="body" idx="1"/>
          </p:nvPr>
        </p:nvSpPr>
        <p:spPr>
          <a:xfrm>
            <a:off x="628650" y="900000"/>
            <a:ext cx="7886700" cy="36000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51" r:id="rId1"/>
    <p:sldLayoutId id="2147483653" r:id="rId2"/>
    <p:sldLayoutId id="2147483652" r:id="rId3"/>
    <p:sldLayoutId id="2147483650" r:id="rId4"/>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2000" kern="1200">
          <a:solidFill>
            <a:schemeClr val="tx1"/>
          </a:solidFill>
          <a:latin typeface="+mj-lt"/>
          <a:ea typeface="+mj-ea"/>
          <a:cs typeface="+mj-cs"/>
        </a:defRPr>
      </a:lvl1pPr>
    </p:titleStyle>
    <p:bodyStyle>
      <a:lvl1pPr marL="180000" indent="-180000" algn="l" defTabSz="914400" rtl="0" eaLnBrk="1" latinLnBrk="0" hangingPunct="1">
        <a:lnSpc>
          <a:spcPct val="150000"/>
        </a:lnSpc>
        <a:spcBef>
          <a:spcPts val="0"/>
        </a:spcBef>
        <a:buFont typeface="Arial" pitchFamily="34" charset="0"/>
        <a:buChar char="•"/>
        <a:defRPr sz="1800" kern="1200">
          <a:solidFill>
            <a:schemeClr val="tx1"/>
          </a:solidFill>
          <a:latin typeface="+mn-lt"/>
          <a:ea typeface="+mn-ea"/>
          <a:cs typeface="+mn-cs"/>
        </a:defRPr>
      </a:lvl1pPr>
      <a:lvl2pPr marL="540000" indent="-180000" algn="l" defTabSz="914400" rtl="0" eaLnBrk="1" latinLnBrk="0" hangingPunct="1">
        <a:lnSpc>
          <a:spcPct val="150000"/>
        </a:lnSpc>
        <a:spcBef>
          <a:spcPts val="0"/>
        </a:spcBef>
        <a:buFont typeface="Arial" pitchFamily="34" charset="0"/>
        <a:buChar char="–"/>
        <a:defRPr sz="1600" kern="1200">
          <a:solidFill>
            <a:schemeClr val="tx1"/>
          </a:solidFill>
          <a:latin typeface="+mn-lt"/>
          <a:ea typeface="+mn-ea"/>
          <a:cs typeface="+mn-cs"/>
        </a:defRPr>
      </a:lvl2pPr>
      <a:lvl3pPr marL="1080000" indent="-180000" algn="l" defTabSz="914400" rtl="0" eaLnBrk="1" latinLnBrk="0" hangingPunct="1">
        <a:lnSpc>
          <a:spcPct val="150000"/>
        </a:lnSpc>
        <a:spcBef>
          <a:spcPts val="0"/>
        </a:spcBef>
        <a:buFont typeface="Arial" pitchFamily="34" charset="0"/>
        <a:buChar char="•"/>
        <a:defRPr sz="1400" kern="1200">
          <a:solidFill>
            <a:schemeClr val="tx1"/>
          </a:solidFill>
          <a:latin typeface="+mn-lt"/>
          <a:ea typeface="+mn-ea"/>
          <a:cs typeface="+mn-cs"/>
        </a:defRPr>
      </a:lvl3pPr>
      <a:lvl4pPr marL="1620000" indent="-180000" algn="l" defTabSz="914400" rtl="0" eaLnBrk="1" latinLnBrk="0" hangingPunct="1">
        <a:lnSpc>
          <a:spcPct val="150000"/>
        </a:lnSpc>
        <a:spcBef>
          <a:spcPts val="0"/>
        </a:spcBef>
        <a:buFont typeface="Arial" pitchFamily="34" charset="0"/>
        <a:buChar char="–"/>
        <a:defRPr sz="1200" kern="1200">
          <a:solidFill>
            <a:schemeClr val="tx1"/>
          </a:solidFill>
          <a:latin typeface="+mn-lt"/>
          <a:ea typeface="+mn-ea"/>
          <a:cs typeface="+mn-cs"/>
        </a:defRPr>
      </a:lvl4pPr>
      <a:lvl5pPr marL="2160000" indent="-180000" algn="l" defTabSz="914400" rtl="0" eaLnBrk="1" latinLnBrk="0" hangingPunct="1">
        <a:lnSpc>
          <a:spcPct val="150000"/>
        </a:lnSpc>
        <a:spcBef>
          <a:spcPts val="0"/>
        </a:spcBef>
        <a:buFont typeface="Arial"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13.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13.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4.xml"/><Relationship Id="rId1" Type="http://schemas.openxmlformats.org/officeDocument/2006/relationships/slideLayout" Target="../slideLayouts/slideLayout4.xml"/><Relationship Id="rId4" Type="http://schemas.openxmlformats.org/officeDocument/2006/relationships/image" Target="../media/image14.w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1.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2.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3.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8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1.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2.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3.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285818" y="2219222"/>
            <a:ext cx="3897221" cy="938719"/>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数</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据</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链</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路</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3 章</a:t>
            </a:r>
          </a:p>
        </p:txBody>
      </p:sp>
      <p:sp>
        <p:nvSpPr>
          <p:cNvPr id="11" name="Rectangle 4"/>
          <p:cNvSpPr>
            <a:spLocks noChangeArrowheads="1"/>
          </p:cNvSpPr>
          <p:nvPr/>
        </p:nvSpPr>
        <p:spPr bwMode="auto">
          <a:xfrm>
            <a:off x="10302" y="2583673"/>
            <a:ext cx="2739383"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fr-FR" sz="1200" b="1" dirty="0">
                <a:solidFill>
                  <a:srgbClr val="00B0F0"/>
                </a:solidFill>
                <a:latin typeface="微软雅黑" pitchFamily="34" charset="-122"/>
                <a:ea typeface="微软雅黑" pitchFamily="34" charset="-122"/>
              </a:rPr>
              <a:t>谢希仁  </a:t>
            </a:r>
            <a:r>
              <a:rPr lang="zh-CN" altLang="en-US" sz="1200" b="1" dirty="0">
                <a:solidFill>
                  <a:srgbClr val="00B0F0"/>
                </a:solidFill>
                <a:latin typeface="微软雅黑" pitchFamily="34" charset="-122"/>
                <a:ea typeface="微软雅黑" pitchFamily="34" charset="-122"/>
              </a:rPr>
              <a:t>谢钧  邢长友  </a:t>
            </a:r>
            <a:r>
              <a:rPr lang="fr-FR" sz="1200" b="1" dirty="0">
                <a:solidFill>
                  <a:srgbClr val="00B0F0"/>
                </a:solidFill>
                <a:latin typeface="微软雅黑" pitchFamily="34" charset="-122"/>
                <a:ea typeface="微软雅黑" pitchFamily="34" charset="-122"/>
              </a:rPr>
              <a:t>编著</a:t>
            </a:r>
          </a:p>
        </p:txBody>
      </p:sp>
      <p:sp>
        <p:nvSpPr>
          <p:cNvPr id="12" name="Rectangle 6"/>
          <p:cNvSpPr>
            <a:spLocks noChangeArrowheads="1"/>
          </p:cNvSpPr>
          <p:nvPr/>
        </p:nvSpPr>
        <p:spPr bwMode="auto">
          <a:xfrm>
            <a:off x="10302" y="2239963"/>
            <a:ext cx="2887010"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ts val="1000"/>
              </a:spcBef>
            </a:pPr>
            <a:r>
              <a:rPr lang="fr-FR" sz="1600" b="1" dirty="0">
                <a:solidFill>
                  <a:srgbClr val="00B0F0"/>
                </a:solidFill>
                <a:latin typeface="微软雅黑" pitchFamily="34" charset="-122"/>
                <a:ea typeface="微软雅黑" pitchFamily="34" charset="-122"/>
              </a:rPr>
              <a:t>计算机网络（第 </a:t>
            </a:r>
            <a:r>
              <a:rPr lang="en-US" altLang="zh-CN" sz="1600" b="1" dirty="0">
                <a:solidFill>
                  <a:srgbClr val="00B0F0"/>
                </a:solidFill>
                <a:latin typeface="微软雅黑" pitchFamily="34" charset="-122"/>
                <a:ea typeface="微软雅黑" pitchFamily="34" charset="-122"/>
              </a:rPr>
              <a:t>9</a:t>
            </a:r>
            <a:r>
              <a:rPr lang="fr-FR" sz="1600" b="1" dirty="0">
                <a:solidFill>
                  <a:srgbClr val="00B0F0"/>
                </a:solidFill>
                <a:latin typeface="微软雅黑" pitchFamily="34" charset="-122"/>
                <a:ea typeface="微软雅黑" pitchFamily="34" charset="-122"/>
              </a:rPr>
              <a:t>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grpSp>
        <p:nvGrpSpPr>
          <p:cNvPr id="9" name="组合 8"/>
          <p:cNvGrpSpPr/>
          <p:nvPr/>
        </p:nvGrpSpPr>
        <p:grpSpPr>
          <a:xfrm>
            <a:off x="1325390" y="1779956"/>
            <a:ext cx="2404444" cy="300252"/>
            <a:chOff x="1042371" y="1853844"/>
            <a:chExt cx="2404444" cy="300252"/>
          </a:xfrm>
        </p:grpSpPr>
        <p:sp>
          <p:nvSpPr>
            <p:cNvPr id="51" name="Line 6"/>
            <p:cNvSpPr>
              <a:spLocks noChangeShapeType="1"/>
            </p:cNvSpPr>
            <p:nvPr/>
          </p:nvSpPr>
          <p:spPr bwMode="auto">
            <a:xfrm>
              <a:off x="1192497" y="2003970"/>
              <a:ext cx="210419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4" name="矩形 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
        <p:nvSpPr>
          <p:cNvPr id="7" name="矩形 6"/>
          <p:cNvSpPr/>
          <p:nvPr/>
        </p:nvSpPr>
        <p:spPr>
          <a:xfrm>
            <a:off x="3229636"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9" name="组合 18"/>
          <p:cNvGrpSpPr/>
          <p:nvPr/>
        </p:nvGrpSpPr>
        <p:grpSpPr>
          <a:xfrm>
            <a:off x="5750242" y="1675296"/>
            <a:ext cx="1554398" cy="545210"/>
            <a:chOff x="5750242" y="1749184"/>
            <a:chExt cx="1554398" cy="545210"/>
          </a:xfrm>
        </p:grpSpPr>
        <p:cxnSp>
          <p:nvCxnSpPr>
            <p:cNvPr id="10" name="直接箭头连接符 9"/>
            <p:cNvCxnSpPr/>
            <p:nvPr/>
          </p:nvCxnSpPr>
          <p:spPr>
            <a:xfrm>
              <a:off x="5750242" y="2115597"/>
              <a:ext cx="1550798" cy="0"/>
            </a:xfrm>
            <a:prstGeom prst="straightConnector1">
              <a:avLst/>
            </a:prstGeom>
            <a:ln w="12700">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6993187"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304640"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5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afterEffect">
                                  <p:stCondLst>
                                    <p:cond delay="0"/>
                                  </p:stCondLst>
                                  <p:endCondLst>
                                    <p:cond evt="onNext" delay="0">
                                      <p:tgtEl>
                                        <p:sldTgt/>
                                      </p:tgtEl>
                                    </p:cond>
                                  </p:end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1000"/>
                                        <p:tgtEl>
                                          <p:spTgt spid="21"/>
                                        </p:tgtEl>
                                      </p:cBhvr>
                                    </p:animEffect>
                                  </p:childTnLst>
                                </p:cTn>
                              </p:par>
                              <p:par>
                                <p:cTn id="8" presetID="22" presetClass="entr" presetSubtype="8" repeatCount="indefinite" fill="hold" nodeType="withEffect">
                                  <p:stCondLst>
                                    <p:cond delay="0"/>
                                  </p:stCondLst>
                                  <p:endCondLst>
                                    <p:cond evt="onNext" delay="0">
                                      <p:tgtEl>
                                        <p:sldTgt/>
                                      </p:tgtEl>
                                    </p:cond>
                                  </p:end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grpSp>
        <p:nvGrpSpPr>
          <p:cNvPr id="9" name="组合 8"/>
          <p:cNvGrpSpPr/>
          <p:nvPr/>
        </p:nvGrpSpPr>
        <p:grpSpPr>
          <a:xfrm>
            <a:off x="1325390" y="1779956"/>
            <a:ext cx="2404444" cy="300252"/>
            <a:chOff x="1042371" y="1853844"/>
            <a:chExt cx="2404444" cy="300252"/>
          </a:xfrm>
          <a:solidFill>
            <a:srgbClr val="CC00CC"/>
          </a:solidFill>
        </p:grpSpPr>
        <p:sp>
          <p:nvSpPr>
            <p:cNvPr id="51" name="Line 6"/>
            <p:cNvSpPr>
              <a:spLocks noChangeShapeType="1"/>
            </p:cNvSpPr>
            <p:nvPr/>
          </p:nvSpPr>
          <p:spPr bwMode="auto">
            <a:xfrm>
              <a:off x="1192497" y="2003970"/>
              <a:ext cx="2104192" cy="0"/>
            </a:xfrm>
            <a:prstGeom prst="line">
              <a:avLst/>
            </a:prstGeom>
            <a:grpFill/>
            <a:ln w="57150">
              <a:solidFill>
                <a:srgbClr val="000000"/>
              </a:solidFill>
              <a:round/>
              <a:headEnd/>
              <a:tailEnd/>
            </a:ln>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229632"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5" name="组合 14"/>
          <p:cNvGrpSpPr/>
          <p:nvPr/>
        </p:nvGrpSpPr>
        <p:grpSpPr>
          <a:xfrm>
            <a:off x="6811108" y="1716603"/>
            <a:ext cx="400271" cy="332403"/>
            <a:chOff x="6811108" y="1790491"/>
            <a:chExt cx="400271" cy="332403"/>
          </a:xfrm>
        </p:grpSpPr>
        <p:cxnSp>
          <p:nvCxnSpPr>
            <p:cNvPr id="31" name="直接箭头连接符 30"/>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750242" y="1675296"/>
            <a:ext cx="967081" cy="545210"/>
            <a:chOff x="5750242" y="1749184"/>
            <a:chExt cx="967081" cy="545210"/>
          </a:xfrm>
        </p:grpSpPr>
        <p:cxnSp>
          <p:nvCxnSpPr>
            <p:cNvPr id="10" name="直接箭头连接符 9"/>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
        <p:nvSpPr>
          <p:cNvPr id="17" name="爆炸形 1 16"/>
          <p:cNvSpPr/>
          <p:nvPr/>
        </p:nvSpPr>
        <p:spPr>
          <a:xfrm>
            <a:off x="6664043" y="1965393"/>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34" name="矩形 3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Tree>
    <p:extLst>
      <p:ext uri="{BB962C8B-B14F-4D97-AF65-F5344CB8AC3E}">
        <p14:creationId xmlns:p14="http://schemas.microsoft.com/office/powerpoint/2010/main" val="191335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500"/>
                                        <p:tgtEl>
                                          <p:spTgt spid="16"/>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500"/>
                                        <p:tgtEl>
                                          <p:spTgt spid="1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10" name="Freeform 9"/>
          <p:cNvSpPr>
            <a:spLocks/>
          </p:cNvSpPr>
          <p:nvPr/>
        </p:nvSpPr>
        <p:spPr bwMode="auto">
          <a:xfrm>
            <a:off x="1776920" y="1717850"/>
            <a:ext cx="1398382" cy="273071"/>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nvGrpSpPr>
          <p:cNvPr id="1111" name="Group 10"/>
          <p:cNvGrpSpPr>
            <a:grpSpLocks/>
          </p:cNvGrpSpPr>
          <p:nvPr/>
        </p:nvGrpSpPr>
        <p:grpSpPr bwMode="auto">
          <a:xfrm>
            <a:off x="2173056" y="1603319"/>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grpSp>
        <p:nvGrpSpPr>
          <p:cNvPr id="1121" name="Group 20"/>
          <p:cNvGrpSpPr>
            <a:grpSpLocks/>
          </p:cNvGrpSpPr>
          <p:nvPr/>
        </p:nvGrpSpPr>
        <p:grpSpPr bwMode="auto">
          <a:xfrm>
            <a:off x="3506167" y="1603319"/>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16895"/>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22408"/>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40756"/>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51041"/>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136" name="Group 35"/>
          <p:cNvGrpSpPr>
            <a:grpSpLocks/>
          </p:cNvGrpSpPr>
          <p:nvPr/>
        </p:nvGrpSpPr>
        <p:grpSpPr bwMode="auto">
          <a:xfrm>
            <a:off x="4895806" y="1603319"/>
            <a:ext cx="735144" cy="469575"/>
            <a:chOff x="1680" y="240"/>
            <a:chExt cx="2529" cy="1270"/>
          </a:xfrm>
          <a:solidFill>
            <a:srgbClr val="00B05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sp>
        <p:nvSpPr>
          <p:cNvPr id="1147" name="Text Box 46"/>
          <p:cNvSpPr txBox="1">
            <a:spLocks noChangeArrowheads="1"/>
          </p:cNvSpPr>
          <p:nvPr/>
        </p:nvSpPr>
        <p:spPr bwMode="auto">
          <a:xfrm>
            <a:off x="1354401" y="152464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40479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23148"/>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3915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152" name="Text Box 51"/>
          <p:cNvSpPr txBox="1">
            <a:spLocks noChangeArrowheads="1"/>
          </p:cNvSpPr>
          <p:nvPr/>
        </p:nvSpPr>
        <p:spPr bwMode="auto">
          <a:xfrm>
            <a:off x="2246024"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606" name="Group 506"/>
          <p:cNvGrpSpPr>
            <a:grpSpLocks/>
          </p:cNvGrpSpPr>
          <p:nvPr/>
        </p:nvGrpSpPr>
        <p:grpSpPr bwMode="auto">
          <a:xfrm>
            <a:off x="6086924" y="1649131"/>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62708"/>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78" name="矩形 1677"/>
          <p:cNvSpPr/>
          <p:nvPr/>
        </p:nvSpPr>
        <p:spPr>
          <a:xfrm>
            <a:off x="2590316" y="2241317"/>
            <a:ext cx="3954929"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网络中的主机、路由器等都必须实现数据链路层</a:t>
            </a:r>
          </a:p>
        </p:txBody>
      </p:sp>
      <p:grpSp>
        <p:nvGrpSpPr>
          <p:cNvPr id="2" name="组合 1"/>
          <p:cNvGrpSpPr/>
          <p:nvPr/>
        </p:nvGrpSpPr>
        <p:grpSpPr>
          <a:xfrm>
            <a:off x="1411253" y="2454021"/>
            <a:ext cx="6294293" cy="1474581"/>
            <a:chOff x="1411253" y="2454021"/>
            <a:chExt cx="6294293" cy="1474581"/>
          </a:xfrm>
        </p:grpSpPr>
        <p:sp>
          <p:nvSpPr>
            <p:cNvPr id="1623" name="AutoShape 524"/>
            <p:cNvSpPr>
              <a:spLocks noChangeArrowheads="1"/>
            </p:cNvSpPr>
            <p:nvPr/>
          </p:nvSpPr>
          <p:spPr bwMode="auto">
            <a:xfrm>
              <a:off x="1411253"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41125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411253"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41125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411253"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423660"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7122394"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71223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712239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7122394"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7122394"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7134802"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2959203"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295920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2985052"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295920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331264"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33126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343671"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33126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1674911" y="3783530"/>
              <a:ext cx="143731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38033" y="3783530"/>
              <a:ext cx="1448020"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365549" y="3783530"/>
              <a:ext cx="107531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46915"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12228"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73950"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566347"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265080"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grpSp>
        <p:nvGrpSpPr>
          <p:cNvPr id="3" name="组合 2"/>
          <p:cNvGrpSpPr/>
          <p:nvPr/>
        </p:nvGrpSpPr>
        <p:grpSpPr>
          <a:xfrm>
            <a:off x="1357473" y="2726986"/>
            <a:ext cx="6408043" cy="1099492"/>
            <a:chOff x="1357473" y="2726986"/>
            <a:chExt cx="6408043" cy="1099492"/>
          </a:xfrm>
        </p:grpSpPr>
        <p:sp>
          <p:nvSpPr>
            <p:cNvPr id="1679" name="Text Box 530"/>
            <p:cNvSpPr txBox="1">
              <a:spLocks noChangeArrowheads="1"/>
            </p:cNvSpPr>
            <p:nvPr/>
          </p:nvSpPr>
          <p:spPr bwMode="auto">
            <a:xfrm>
              <a:off x="1357473"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359541"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357473"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357473"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357473"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7086206"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708827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708620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708620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708620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295506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295506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295506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31989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31989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31989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959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54686"/>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58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grpSp>
        <p:nvGrpSpPr>
          <p:cNvPr id="1121" name="Group 20"/>
          <p:cNvGrpSpPr>
            <a:grpSpLocks/>
          </p:cNvGrpSpPr>
          <p:nvPr/>
        </p:nvGrpSpPr>
        <p:grpSpPr bwMode="auto">
          <a:xfrm>
            <a:off x="2893727" y="1160585"/>
            <a:ext cx="3739125" cy="1001231"/>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4574027" y="1213447"/>
            <a:ext cx="60785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3333FF"/>
                </a:solidFill>
                <a:latin typeface="微软雅黑" pitchFamily="34" charset="-122"/>
                <a:ea typeface="微软雅黑" pitchFamily="34" charset="-122"/>
              </a:rPr>
              <a:t>局域网</a:t>
            </a:r>
          </a:p>
        </p:txBody>
      </p:sp>
      <p:sp>
        <p:nvSpPr>
          <p:cNvPr id="1147" name="Text Box 46"/>
          <p:cNvSpPr txBox="1">
            <a:spLocks noChangeArrowheads="1"/>
          </p:cNvSpPr>
          <p:nvPr/>
        </p:nvSpPr>
        <p:spPr bwMode="auto">
          <a:xfrm>
            <a:off x="1846767" y="140741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6947073"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8" name="矩形 1677"/>
          <p:cNvSpPr/>
          <p:nvPr/>
        </p:nvSpPr>
        <p:spPr>
          <a:xfrm>
            <a:off x="2707546" y="2241317"/>
            <a:ext cx="4134465"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局域网中的主机、交换机等都必须实现数据链路层</a:t>
            </a:r>
          </a:p>
        </p:txBody>
      </p:sp>
      <p:sp>
        <p:nvSpPr>
          <p:cNvPr id="122" name="Text Box 50"/>
          <p:cNvSpPr txBox="1">
            <a:spLocks noChangeArrowheads="1"/>
          </p:cNvSpPr>
          <p:nvPr/>
        </p:nvSpPr>
        <p:spPr bwMode="auto">
          <a:xfrm>
            <a:off x="5534319" y="1497774"/>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124" name="Text Box 50"/>
          <p:cNvSpPr txBox="1">
            <a:spLocks noChangeArrowheads="1"/>
          </p:cNvSpPr>
          <p:nvPr/>
        </p:nvSpPr>
        <p:spPr bwMode="auto">
          <a:xfrm>
            <a:off x="3472465" y="1427436"/>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104" name="Line 3"/>
          <p:cNvSpPr>
            <a:spLocks noChangeShapeType="1"/>
          </p:cNvSpPr>
          <p:nvPr/>
        </p:nvSpPr>
        <p:spPr bwMode="auto">
          <a:xfrm flipH="1" flipV="1">
            <a:off x="5938033" y="1807838"/>
            <a:ext cx="1371026" cy="121408"/>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5709" y="1729597"/>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5" name="Line 3"/>
          <p:cNvSpPr>
            <a:spLocks noChangeShapeType="1"/>
          </p:cNvSpPr>
          <p:nvPr/>
        </p:nvSpPr>
        <p:spPr bwMode="auto">
          <a:xfrm flipH="1">
            <a:off x="2165923" y="1743996"/>
            <a:ext cx="1543935" cy="9702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2935" y="163745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6" name="Line 3"/>
          <p:cNvSpPr>
            <a:spLocks noChangeShapeType="1"/>
          </p:cNvSpPr>
          <p:nvPr/>
        </p:nvSpPr>
        <p:spPr bwMode="auto">
          <a:xfrm flipH="1" flipV="1">
            <a:off x="3841316" y="1737732"/>
            <a:ext cx="1953226" cy="11583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21"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7344" y="1720524"/>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5490" y="1650186"/>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组合 8"/>
          <p:cNvGrpSpPr/>
          <p:nvPr/>
        </p:nvGrpSpPr>
        <p:grpSpPr>
          <a:xfrm>
            <a:off x="1823140" y="2454021"/>
            <a:ext cx="5797494" cy="1474581"/>
            <a:chOff x="1823140" y="2454021"/>
            <a:chExt cx="5797494" cy="1474581"/>
          </a:xfrm>
        </p:grpSpPr>
        <p:sp>
          <p:nvSpPr>
            <p:cNvPr id="1623" name="AutoShape 524"/>
            <p:cNvSpPr>
              <a:spLocks noChangeArrowheads="1"/>
            </p:cNvSpPr>
            <p:nvPr/>
          </p:nvSpPr>
          <p:spPr bwMode="auto">
            <a:xfrm>
              <a:off x="187692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87692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87692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87692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87692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889327"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977512"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977512"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977512"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977512"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977512"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989920"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140578" y="3783530"/>
              <a:ext cx="146076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29825" y="3783530"/>
              <a:ext cx="131134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890974" y="3783530"/>
              <a:ext cx="176745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3" name="Text Box 579"/>
            <p:cNvSpPr txBox="1">
              <a:spLocks noChangeArrowheads="1"/>
            </p:cNvSpPr>
            <p:nvPr/>
          </p:nvSpPr>
          <p:spPr bwMode="auto">
            <a:xfrm>
              <a:off x="2032014"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120198"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9" name="Text Box 530"/>
            <p:cNvSpPr txBox="1">
              <a:spLocks noChangeArrowheads="1"/>
            </p:cNvSpPr>
            <p:nvPr/>
          </p:nvSpPr>
          <p:spPr bwMode="auto">
            <a:xfrm>
              <a:off x="1823140"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825208"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823140"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823140"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823140"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941324"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943392"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941324"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941324"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941324"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nvGrpSpPr>
            <p:cNvPr id="8" name="组合 7"/>
            <p:cNvGrpSpPr/>
            <p:nvPr/>
          </p:nvGrpSpPr>
          <p:grpSpPr>
            <a:xfrm>
              <a:off x="3444180" y="3128748"/>
              <a:ext cx="607967" cy="697730"/>
              <a:chOff x="3444180" y="3128748"/>
              <a:chExt cx="607967" cy="697730"/>
            </a:xfrm>
          </p:grpSpPr>
          <p:sp>
            <p:nvSpPr>
              <p:cNvPr id="1645" name="AutoShape 547"/>
              <p:cNvSpPr>
                <a:spLocks noChangeArrowheads="1"/>
              </p:cNvSpPr>
              <p:nvPr/>
            </p:nvSpPr>
            <p:spPr bwMode="auto">
              <a:xfrm>
                <a:off x="3448316"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448316"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474165"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601341"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689" name="Text Box 551"/>
              <p:cNvSpPr txBox="1">
                <a:spLocks noChangeArrowheads="1"/>
              </p:cNvSpPr>
              <p:nvPr/>
            </p:nvSpPr>
            <p:spPr bwMode="auto">
              <a:xfrm>
                <a:off x="3444180"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91" name="Text Box 553"/>
              <p:cNvSpPr txBox="1">
                <a:spLocks noChangeArrowheads="1"/>
              </p:cNvSpPr>
              <p:nvPr/>
            </p:nvSpPr>
            <p:spPr bwMode="auto">
              <a:xfrm>
                <a:off x="3444180"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nvGrpSpPr>
            <p:cNvPr id="3" name="组合 2"/>
            <p:cNvGrpSpPr/>
            <p:nvPr/>
          </p:nvGrpSpPr>
          <p:grpSpPr>
            <a:xfrm>
              <a:off x="5490558" y="3128748"/>
              <a:ext cx="607967" cy="697730"/>
              <a:chOff x="5490558" y="3128748"/>
              <a:chExt cx="607967" cy="697730"/>
            </a:xfrm>
          </p:grpSpPr>
          <p:sp>
            <p:nvSpPr>
              <p:cNvPr id="72" name="AutoShape 547"/>
              <p:cNvSpPr>
                <a:spLocks noChangeArrowheads="1"/>
              </p:cNvSpPr>
              <p:nvPr/>
            </p:nvSpPr>
            <p:spPr bwMode="auto">
              <a:xfrm>
                <a:off x="5494694"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3" name="Freeform 548"/>
              <p:cNvSpPr>
                <a:spLocks/>
              </p:cNvSpPr>
              <p:nvPr/>
            </p:nvSpPr>
            <p:spPr bwMode="auto">
              <a:xfrm>
                <a:off x="54946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4" name="Rectangle 549"/>
              <p:cNvSpPr>
                <a:spLocks noChangeArrowheads="1"/>
              </p:cNvSpPr>
              <p:nvPr/>
            </p:nvSpPr>
            <p:spPr bwMode="auto">
              <a:xfrm>
                <a:off x="5520543"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5" name="Text Box 576"/>
              <p:cNvSpPr txBox="1">
                <a:spLocks noChangeArrowheads="1"/>
              </p:cNvSpPr>
              <p:nvPr/>
            </p:nvSpPr>
            <p:spPr bwMode="auto">
              <a:xfrm>
                <a:off x="5647719"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76" name="Text Box 551"/>
              <p:cNvSpPr txBox="1">
                <a:spLocks noChangeArrowheads="1"/>
              </p:cNvSpPr>
              <p:nvPr/>
            </p:nvSpPr>
            <p:spPr bwMode="auto">
              <a:xfrm>
                <a:off x="5490558"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77" name="Text Box 553"/>
              <p:cNvSpPr txBox="1">
                <a:spLocks noChangeArrowheads="1"/>
              </p:cNvSpPr>
              <p:nvPr/>
            </p:nvSpPr>
            <p:spPr bwMode="auto">
              <a:xfrm>
                <a:off x="5490558"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spTree>
    <p:extLst>
      <p:ext uri="{BB962C8B-B14F-4D97-AF65-F5344CB8AC3E}">
        <p14:creationId xmlns:p14="http://schemas.microsoft.com/office/powerpoint/2010/main" val="2957922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7" name="矩形 1676"/>
          <p:cNvSpPr/>
          <p:nvPr/>
        </p:nvSpPr>
        <p:spPr>
          <a:xfrm>
            <a:off x="2637495" y="3995185"/>
            <a:ext cx="3861998" cy="338554"/>
          </a:xfrm>
          <a:prstGeom prst="rect">
            <a:avLst/>
          </a:prstGeom>
        </p:spPr>
        <p:txBody>
          <a:bodyPr wrap="square">
            <a:spAutoFit/>
          </a:bodyPr>
          <a:lstStyle/>
          <a:p>
            <a:pPr algn="ctr"/>
            <a:r>
              <a:rPr lang="zh-CN" altLang="zh-CN" sz="1600" b="1" dirty="0">
                <a:latin typeface="微软雅黑" pitchFamily="34" charset="-122"/>
                <a:ea typeface="微软雅黑" pitchFamily="34" charset="-122"/>
              </a:rPr>
              <a:t>数据链路层的地位</a:t>
            </a:r>
            <a:endParaRPr lang="zh-CN" altLang="en-US" sz="1600" b="1" dirty="0">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471384" y="2585730"/>
            <a:ext cx="21595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从层次上来看数据的流动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rgbClr val="FFFF99"/>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2164057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5000" fill="hold" grpId="0" nodeType="clickEffect">
                                  <p:stCondLst>
                                    <p:cond delay="0"/>
                                  </p:stCondLst>
                                  <p:childTnLst>
                                    <p:anim calcmode="discrete" valueType="str">
                                      <p:cBhvr>
                                        <p:cTn id="6" dur="1000" fill="hold"/>
                                        <p:tgtEl>
                                          <p:spTgt spid="1147"/>
                                        </p:tgtEl>
                                        <p:attrNameLst>
                                          <p:attrName>style.visibility</p:attrName>
                                        </p:attrNameLst>
                                      </p:cBhvr>
                                      <p:tavLst>
                                        <p:tav tm="0">
                                          <p:val>
                                            <p:strVal val="hidden"/>
                                          </p:val>
                                        </p:tav>
                                        <p:tav tm="50000">
                                          <p:val>
                                            <p:strVal val="visible"/>
                                          </p:val>
                                        </p:tav>
                                      </p:tavLst>
                                    </p:anim>
                                  </p:childTnLst>
                                </p:cTn>
                              </p:par>
                              <p:par>
                                <p:cTn id="7" presetID="35" presetClass="emph" presetSubtype="0" repeatCount="5000" fill="hold" grpId="0" nodeType="withEffect">
                                  <p:stCondLst>
                                    <p:cond delay="0"/>
                                  </p:stCondLst>
                                  <p:childTnLst>
                                    <p:anim calcmode="discrete" valueType="str">
                                      <p:cBhvr>
                                        <p:cTn id="8" dur="1000" fill="hold"/>
                                        <p:tgtEl>
                                          <p:spTgt spid="1148"/>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5000" fill="hold" grpId="1" nodeType="clickEffect">
                                  <p:stCondLst>
                                    <p:cond delay="0"/>
                                  </p:stCondLst>
                                  <p:childTnLst>
                                    <p:anim calcmode="discrete" valueType="str">
                                      <p:cBhvr>
                                        <p:cTn id="12" dur="1000" fill="hold"/>
                                        <p:tgtEl>
                                          <p:spTgt spid="1149"/>
                                        </p:tgtEl>
                                        <p:attrNameLst>
                                          <p:attrName>style.visibility</p:attrName>
                                        </p:attrNameLst>
                                      </p:cBhvr>
                                      <p:tavLst>
                                        <p:tav tm="0">
                                          <p:val>
                                            <p:strVal val="hidden"/>
                                          </p:val>
                                        </p:tav>
                                        <p:tav tm="50000">
                                          <p:val>
                                            <p:strVal val="visible"/>
                                          </p:val>
                                        </p:tav>
                                      </p:tavLst>
                                    </p:anim>
                                  </p:childTnLst>
                                </p:cTn>
                              </p:par>
                              <p:par>
                                <p:cTn id="13" presetID="35" presetClass="emph" presetSubtype="0" repeatCount="5000" fill="hold" grpId="1" nodeType="withEffect">
                                  <p:stCondLst>
                                    <p:cond delay="0"/>
                                  </p:stCondLst>
                                  <p:childTnLst>
                                    <p:anim calcmode="discrete" valueType="str">
                                      <p:cBhvr>
                                        <p:cTn id="14" dur="1000" fill="hold"/>
                                        <p:tgtEl>
                                          <p:spTgt spid="11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5000" fill="hold" grpId="0" nodeType="clickEffect">
                                  <p:stCondLst>
                                    <p:cond delay="0"/>
                                  </p:stCondLst>
                                  <p:childTnLst>
                                    <p:anim calcmode="discrete" valueType="str">
                                      <p:cBhvr>
                                        <p:cTn id="18" dur="1000" fill="hold"/>
                                        <p:tgtEl>
                                          <p:spTgt spid="1150"/>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5000" fill="hold" nodeType="clickEffect">
                                  <p:stCondLst>
                                    <p:cond delay="0"/>
                                  </p:stCondLst>
                                  <p:childTnLst>
                                    <p:anim calcmode="discrete" valueType="str">
                                      <p:cBhvr>
                                        <p:cTn id="2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21"/>
                                        </p:tgtEl>
                                        <p:attrNameLst>
                                          <p:attrName>style.visibility</p:attrName>
                                        </p:attrNameLst>
                                      </p:cBhvr>
                                      <p:to>
                                        <p:strVal val="visible"/>
                                      </p:to>
                                    </p:set>
                                    <p:animEffect transition="in" filter="fade">
                                      <p:cBhvr>
                                        <p:cTn id="32" dur="750"/>
                                        <p:tgtEl>
                                          <p:spTgt spid="1621"/>
                                        </p:tgtEl>
                                      </p:cBhvr>
                                    </p:animEffect>
                                  </p:childTnLst>
                                </p:cTn>
                              </p:par>
                              <p:par>
                                <p:cTn id="33" presetID="22" presetClass="entr" presetSubtype="8" fill="hold" grpId="0" nodeType="withEffect">
                                  <p:stCondLst>
                                    <p:cond delay="1500"/>
                                  </p:stCondLst>
                                  <p:childTnLst>
                                    <p:set>
                                      <p:cBhvr>
                                        <p:cTn id="34" dur="1" fill="hold">
                                          <p:stCondLst>
                                            <p:cond delay="0"/>
                                          </p:stCondLst>
                                        </p:cTn>
                                        <p:tgtEl>
                                          <p:spTgt spid="1617"/>
                                        </p:tgtEl>
                                        <p:attrNameLst>
                                          <p:attrName>style.visibility</p:attrName>
                                        </p:attrNameLst>
                                      </p:cBhvr>
                                      <p:to>
                                        <p:strVal val="visible"/>
                                      </p:to>
                                    </p:set>
                                    <p:animEffect transition="in" filter="wipe(left)">
                                      <p:cBhvr>
                                        <p:cTn id="35" dur="1500"/>
                                        <p:tgtEl>
                                          <p:spTgt spid="16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75"/>
                                        </p:tgtEl>
                                        <p:attrNameLst>
                                          <p:attrName>style.visibility</p:attrName>
                                        </p:attrNameLst>
                                      </p:cBhvr>
                                      <p:to>
                                        <p:strVal val="visible"/>
                                      </p:to>
                                    </p:set>
                                    <p:animEffect transition="in" filter="fade">
                                      <p:cBhvr>
                                        <p:cTn id="40" dur="750"/>
                                        <p:tgtEl>
                                          <p:spTgt spid="1675"/>
                                        </p:tgtEl>
                                      </p:cBhvr>
                                    </p:animEffect>
                                  </p:childTnLst>
                                </p:cTn>
                              </p:par>
                              <p:par>
                                <p:cTn id="41" presetID="22" presetClass="entr" presetSubtype="8" fill="hold" grpId="0" nodeType="withEffect">
                                  <p:stCondLst>
                                    <p:cond delay="3000"/>
                                  </p:stCondLst>
                                  <p:childTnLst>
                                    <p:set>
                                      <p:cBhvr>
                                        <p:cTn id="42" dur="1" fill="hold">
                                          <p:stCondLst>
                                            <p:cond delay="0"/>
                                          </p:stCondLst>
                                        </p:cTn>
                                        <p:tgtEl>
                                          <p:spTgt spid="1700"/>
                                        </p:tgtEl>
                                        <p:attrNameLst>
                                          <p:attrName>style.visibility</p:attrName>
                                        </p:attrNameLst>
                                      </p:cBhvr>
                                      <p:to>
                                        <p:strVal val="visible"/>
                                      </p:to>
                                    </p:set>
                                    <p:animEffect transition="in" filter="wipe(left)">
                                      <p:cBhvr>
                                        <p:cTn id="43" dur="13000"/>
                                        <p:tgtEl>
                                          <p:spTgt spid="1700"/>
                                        </p:tgtEl>
                                      </p:cBhvr>
                                    </p:animEffect>
                                  </p:childTnLst>
                                </p:cTn>
                              </p:par>
                              <p:par>
                                <p:cTn id="44" presetID="22" presetClass="entr" presetSubtype="8" fill="hold" grpId="0" nodeType="withEffect">
                                  <p:stCondLst>
                                    <p:cond delay="8000"/>
                                  </p:stCondLst>
                                  <p:childTnLst>
                                    <p:set>
                                      <p:cBhvr>
                                        <p:cTn id="45" dur="1" fill="hold">
                                          <p:stCondLst>
                                            <p:cond delay="0"/>
                                          </p:stCondLst>
                                        </p:cTn>
                                        <p:tgtEl>
                                          <p:spTgt spid="1620"/>
                                        </p:tgtEl>
                                        <p:attrNameLst>
                                          <p:attrName>style.visibility</p:attrName>
                                        </p:attrNameLst>
                                      </p:cBhvr>
                                      <p:to>
                                        <p:strVal val="visible"/>
                                      </p:to>
                                    </p:set>
                                    <p:animEffect transition="in" filter="wipe(left)">
                                      <p:cBhvr>
                                        <p:cTn id="46" dur="1500"/>
                                        <p:tgtEl>
                                          <p:spTgt spid="1620"/>
                                        </p:tgtEl>
                                      </p:cBhvr>
                                    </p:animEffect>
                                  </p:childTnLst>
                                </p:cTn>
                              </p:par>
                              <p:par>
                                <p:cTn id="47" presetID="22" presetClass="entr" presetSubtype="8" fill="hold" grpId="0" nodeType="withEffect">
                                  <p:stCondLst>
                                    <p:cond delay="11000"/>
                                  </p:stCondLst>
                                  <p:childTnLst>
                                    <p:set>
                                      <p:cBhvr>
                                        <p:cTn id="48" dur="1" fill="hold">
                                          <p:stCondLst>
                                            <p:cond delay="0"/>
                                          </p:stCondLst>
                                        </p:cTn>
                                        <p:tgtEl>
                                          <p:spTgt spid="1618"/>
                                        </p:tgtEl>
                                        <p:attrNameLst>
                                          <p:attrName>style.visibility</p:attrName>
                                        </p:attrNameLst>
                                      </p:cBhvr>
                                      <p:to>
                                        <p:strVal val="visible"/>
                                      </p:to>
                                    </p:set>
                                    <p:animEffect transition="in" filter="wipe(left)">
                                      <p:cBhvr>
                                        <p:cTn id="49" dur="1500"/>
                                        <p:tgtEl>
                                          <p:spTgt spid="1618"/>
                                        </p:tgtEl>
                                      </p:cBhvr>
                                    </p:animEffect>
                                  </p:childTnLst>
                                </p:cTn>
                              </p:par>
                              <p:par>
                                <p:cTn id="50" presetID="22" presetClass="entr" presetSubtype="8" fill="hold" grpId="0" nodeType="withEffect">
                                  <p:stCondLst>
                                    <p:cond delay="14000"/>
                                  </p:stCondLst>
                                  <p:childTnLst>
                                    <p:set>
                                      <p:cBhvr>
                                        <p:cTn id="51" dur="1" fill="hold">
                                          <p:stCondLst>
                                            <p:cond delay="0"/>
                                          </p:stCondLst>
                                        </p:cTn>
                                        <p:tgtEl>
                                          <p:spTgt spid="1619"/>
                                        </p:tgtEl>
                                        <p:attrNameLst>
                                          <p:attrName>style.visibility</p:attrName>
                                        </p:attrNameLst>
                                      </p:cBhvr>
                                      <p:to>
                                        <p:strVal val="visible"/>
                                      </p:to>
                                    </p:set>
                                    <p:animEffect transition="in" filter="wipe(left)">
                                      <p:cBhvr>
                                        <p:cTn id="52" dur="1500"/>
                                        <p:tgtEl>
                                          <p:spTgt spid="16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678"/>
                                        </p:tgtEl>
                                        <p:attrNameLst>
                                          <p:attrName>style.visibility</p:attrName>
                                        </p:attrNameLst>
                                      </p:cBhvr>
                                      <p:to>
                                        <p:strVal val="visible"/>
                                      </p:to>
                                    </p:set>
                                    <p:animEffect transition="in" filter="wipe(up)">
                                      <p:cBhvr>
                                        <p:cTn id="57" dur="250"/>
                                        <p:tgtEl>
                                          <p:spTgt spid="1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P spid="1148" grpId="0"/>
      <p:bldP spid="1149" grpId="1"/>
      <p:bldP spid="1150" grpId="0"/>
      <p:bldP spid="1151" grpId="1"/>
      <p:bldP spid="1621" grpId="0"/>
      <p:bldP spid="1678" grpId="0" animBg="1"/>
      <p:bldP spid="1675" grpId="0"/>
      <p:bldP spid="1700" grpId="0" animBg="1"/>
      <p:bldP spid="1618" grpId="0" animBg="1"/>
      <p:bldP spid="1619" grpId="0" animBg="1"/>
      <p:bldP spid="1620" grpId="0" animBg="1"/>
      <p:bldP spid="16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0" y="611929"/>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225720" y="2585730"/>
            <a:ext cx="28520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600" b="1" dirty="0">
                <a:solidFill>
                  <a:srgbClr val="CC00CC"/>
                </a:solidFill>
                <a:latin typeface="微软雅黑" pitchFamily="34" charset="-122"/>
                <a:ea typeface="微软雅黑" pitchFamily="34" charset="-122"/>
              </a:rPr>
              <a:t>仅从数据链路层观察帧的流动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31" name="Rectangle 644"/>
          <p:cNvSpPr>
            <a:spLocks noChangeArrowheads="1"/>
          </p:cNvSpPr>
          <p:nvPr/>
        </p:nvSpPr>
        <p:spPr bwMode="auto">
          <a:xfrm>
            <a:off x="1665801" y="3365811"/>
            <a:ext cx="5705890" cy="207099"/>
          </a:xfrm>
          <a:prstGeom prst="rect">
            <a:avLst/>
          </a:prstGeom>
          <a:solidFill>
            <a:srgbClr val="00B0F0">
              <a:alpha val="50000"/>
            </a:srgbClr>
          </a:solidFill>
          <a:ln w="9525">
            <a:solidFill>
              <a:srgbClr val="5F5F5F"/>
            </a:solidFill>
            <a:prstDash val="dash"/>
            <a:miter lim="800000"/>
            <a:headEnd/>
            <a:tailEnd/>
          </a:ln>
          <a:effectLst/>
        </p:spPr>
        <p:txBody>
          <a:bodyPr wrap="none" anchor="ctr"/>
          <a:lstStyle/>
          <a:p>
            <a:endParaRPr lang="zh-CN" altLang="en-US" b="1">
              <a:solidFill>
                <a:srgbClr val="333399"/>
              </a:solidFill>
              <a:latin typeface="+mn-lt"/>
              <a:ea typeface="黑体" pitchFamily="2" charset="-122"/>
            </a:endParaRPr>
          </a:p>
        </p:txBody>
      </p:sp>
      <p:sp>
        <p:nvSpPr>
          <p:cNvPr id="132" name="Line 630"/>
          <p:cNvSpPr>
            <a:spLocks noChangeShapeType="1"/>
          </p:cNvSpPr>
          <p:nvPr/>
        </p:nvSpPr>
        <p:spPr bwMode="auto">
          <a:xfrm>
            <a:off x="2217285" y="3474614"/>
            <a:ext cx="809590"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3" name="Line 630"/>
          <p:cNvSpPr>
            <a:spLocks noChangeShapeType="1"/>
          </p:cNvSpPr>
          <p:nvPr/>
        </p:nvSpPr>
        <p:spPr bwMode="auto">
          <a:xfrm>
            <a:off x="3491880" y="3474614"/>
            <a:ext cx="935544"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4" name="Line 630"/>
          <p:cNvSpPr>
            <a:spLocks noChangeShapeType="1"/>
          </p:cNvSpPr>
          <p:nvPr/>
        </p:nvSpPr>
        <p:spPr bwMode="auto">
          <a:xfrm>
            <a:off x="4788024" y="3474614"/>
            <a:ext cx="807171"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5" name="Line 630"/>
          <p:cNvSpPr>
            <a:spLocks noChangeShapeType="1"/>
          </p:cNvSpPr>
          <p:nvPr/>
        </p:nvSpPr>
        <p:spPr bwMode="auto">
          <a:xfrm>
            <a:off x="6066752" y="3474614"/>
            <a:ext cx="809908"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7" name="矩形 136"/>
          <p:cNvSpPr/>
          <p:nvPr/>
        </p:nvSpPr>
        <p:spPr>
          <a:xfrm>
            <a:off x="2447581" y="4009440"/>
            <a:ext cx="4314001" cy="307777"/>
          </a:xfrm>
          <a:prstGeom prst="rect">
            <a:avLst/>
          </a:prstGeom>
          <a:solidFill>
            <a:srgbClr val="008000"/>
          </a:solidFill>
          <a:ln>
            <a:solidFill>
              <a:srgbClr val="0070C0"/>
            </a:solidFill>
          </a:ln>
        </p:spPr>
        <p:txBody>
          <a:bodyPr wrap="none">
            <a:spAutoFit/>
          </a:bodyPr>
          <a:lstStyle/>
          <a:p>
            <a:r>
              <a:rPr lang="zh-CN" altLang="en-US" sz="1400" b="1" dirty="0">
                <a:solidFill>
                  <a:schemeClr val="bg1"/>
                </a:solidFill>
                <a:latin typeface="微软雅黑" pitchFamily="34" charset="-122"/>
                <a:ea typeface="微软雅黑" pitchFamily="34" charset="-122"/>
              </a:rPr>
              <a:t>注意：</a:t>
            </a:r>
            <a:r>
              <a:rPr lang="zh-CN" altLang="zh-CN" sz="1400" b="1" dirty="0">
                <a:solidFill>
                  <a:schemeClr val="bg1"/>
                </a:solidFill>
                <a:latin typeface="微软雅黑" pitchFamily="34" charset="-122"/>
                <a:ea typeface="微软雅黑" pitchFamily="34" charset="-122"/>
              </a:rPr>
              <a:t>不同的链路层可能采用不同的数据链路层协议</a:t>
            </a:r>
            <a:endParaRPr lang="zh-CN" altLang="en-US"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7831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131"/>
                                        </p:tgtEl>
                                        <p:attrNameLst>
                                          <p:attrName>style.visibility</p:attrName>
                                        </p:attrNameLst>
                                      </p:cBhvr>
                                      <p:to>
                                        <p:strVal val="visible"/>
                                      </p:to>
                                    </p:set>
                                    <p:animEffect transition="in" filter="wipe(left)">
                                      <p:cBhvr>
                                        <p:cTn id="7" dur="30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wipe(left)">
                                      <p:cBhvr>
                                        <p:cTn id="12" dur="2000"/>
                                        <p:tgtEl>
                                          <p:spTgt spid="1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wipe(left)">
                                      <p:cBhvr>
                                        <p:cTn id="17" dur="20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wipe(left)">
                                      <p:cBhvr>
                                        <p:cTn id="22" dur="2000"/>
                                        <p:tgtEl>
                                          <p:spTgt spid="1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wipe(left)">
                                      <p:cBhvr>
                                        <p:cTn id="27" dur="2000"/>
                                        <p:tgtEl>
                                          <p:spTgt spid="135"/>
                                        </p:tgtEl>
                                      </p:cBhvr>
                                    </p:animEffect>
                                  </p:childTnLst>
                                </p:cTn>
                              </p:par>
                            </p:childTnLst>
                          </p:cTn>
                        </p:par>
                        <p:par>
                          <p:cTn id="28" fill="hold">
                            <p:stCondLst>
                              <p:cond delay="2000"/>
                            </p:stCondLst>
                            <p:childTnLst>
                              <p:par>
                                <p:cTn id="29" presetID="1" presetClass="entr" presetSubtype="0" fill="hold" grpId="0" nodeType="afterEffect">
                                  <p:stCondLst>
                                    <p:cond delay="2000"/>
                                  </p:stCondLst>
                                  <p:childTnLst>
                                    <p:set>
                                      <p:cBhvr>
                                        <p:cTn id="30"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P spid="1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1673794" y="1204687"/>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3" name="Rectangle 10"/>
          <p:cNvSpPr>
            <a:spLocks noChangeArrowheads="1"/>
          </p:cNvSpPr>
          <p:nvPr/>
        </p:nvSpPr>
        <p:spPr bwMode="auto">
          <a:xfrm>
            <a:off x="1673794" y="168480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4" name="Rectangle 11"/>
          <p:cNvSpPr>
            <a:spLocks noChangeArrowheads="1"/>
          </p:cNvSpPr>
          <p:nvPr/>
        </p:nvSpPr>
        <p:spPr bwMode="auto">
          <a:xfrm>
            <a:off x="1673794" y="21748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5" name="Rectangle 12"/>
          <p:cNvSpPr>
            <a:spLocks noChangeArrowheads="1"/>
          </p:cNvSpPr>
          <p:nvPr/>
        </p:nvSpPr>
        <p:spPr bwMode="auto">
          <a:xfrm>
            <a:off x="1673794" y="266329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6" name="Rectangle 13"/>
          <p:cNvSpPr>
            <a:spLocks noChangeArrowheads="1"/>
          </p:cNvSpPr>
          <p:nvPr/>
        </p:nvSpPr>
        <p:spPr bwMode="auto">
          <a:xfrm>
            <a:off x="1673794" y="314411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7" name="Line 16"/>
          <p:cNvSpPr>
            <a:spLocks noChangeShapeType="1"/>
          </p:cNvSpPr>
          <p:nvPr/>
        </p:nvSpPr>
        <p:spPr bwMode="auto">
          <a:xfrm>
            <a:off x="2421504" y="1023516"/>
            <a:ext cx="0" cy="263368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8" name="Rectangle 17"/>
          <p:cNvSpPr>
            <a:spLocks noChangeArrowheads="1"/>
          </p:cNvSpPr>
          <p:nvPr/>
        </p:nvSpPr>
        <p:spPr bwMode="auto">
          <a:xfrm>
            <a:off x="1705542" y="1053032"/>
            <a:ext cx="5603173" cy="2468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800"/>
              </a:lnSpc>
            </a:pPr>
            <a:r>
              <a:rPr lang="en-US" altLang="zh-CN" sz="2000" b="1" dirty="0">
                <a:solidFill>
                  <a:schemeClr val="bg1"/>
                </a:solidFill>
                <a:latin typeface="微软雅黑" pitchFamily="34" charset="-122"/>
                <a:ea typeface="微软雅黑" pitchFamily="34" charset="-122"/>
              </a:rPr>
              <a:t>3.1                         </a:t>
            </a:r>
            <a:r>
              <a:rPr lang="zh-CN" altLang="en-US" sz="2000" b="1" dirty="0">
                <a:solidFill>
                  <a:schemeClr val="bg1"/>
                </a:solidFill>
                <a:latin typeface="微软雅黑" pitchFamily="34" charset="-122"/>
                <a:ea typeface="微软雅黑" pitchFamily="34" charset="-122"/>
              </a:rPr>
              <a:t>数据链路层的几个共同问题</a:t>
            </a:r>
          </a:p>
          <a:p>
            <a:pPr eaLnBrk="0" hangingPunct="0">
              <a:lnSpc>
                <a:spcPts val="3800"/>
              </a:lnSpc>
            </a:pPr>
            <a:r>
              <a:rPr lang="en-US" altLang="zh-CN" sz="2000" b="1" dirty="0">
                <a:solidFill>
                  <a:schemeClr val="bg1"/>
                </a:solidFill>
                <a:latin typeface="微软雅黑" pitchFamily="34" charset="-122"/>
                <a:ea typeface="微软雅黑" pitchFamily="34" charset="-122"/>
              </a:rPr>
              <a:t>3.2                                         </a:t>
            </a:r>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p>
          <a:p>
            <a:pPr eaLnBrk="0" hangingPunct="0">
              <a:lnSpc>
                <a:spcPts val="3800"/>
              </a:lnSpc>
            </a:pPr>
            <a:r>
              <a:rPr lang="en-US" altLang="zh-CN" sz="2000" b="1" dirty="0">
                <a:solidFill>
                  <a:schemeClr val="bg1"/>
                </a:solidFill>
                <a:latin typeface="微软雅黑" pitchFamily="34" charset="-122"/>
                <a:ea typeface="微软雅黑" pitchFamily="34" charset="-122"/>
              </a:rPr>
              <a:t>3.3                            			 </a:t>
            </a:r>
            <a:r>
              <a:rPr lang="zh-CN" altLang="en-US" sz="2000" b="1" dirty="0">
                <a:solidFill>
                  <a:schemeClr val="bg1"/>
                </a:solidFill>
                <a:latin typeface="微软雅黑" pitchFamily="34" charset="-122"/>
                <a:ea typeface="微软雅黑" pitchFamily="34" charset="-122"/>
              </a:rPr>
              <a:t>以太网</a:t>
            </a:r>
          </a:p>
          <a:p>
            <a:pPr eaLnBrk="0" hangingPunct="0">
              <a:lnSpc>
                <a:spcPts val="3800"/>
              </a:lnSpc>
            </a:pPr>
            <a:r>
              <a:rPr lang="en-US" altLang="zh-CN" sz="2000" b="1" dirty="0">
                <a:solidFill>
                  <a:schemeClr val="bg1"/>
                </a:solidFill>
                <a:latin typeface="微软雅黑" pitchFamily="34" charset="-122"/>
                <a:ea typeface="微软雅黑" pitchFamily="34" charset="-122"/>
              </a:rPr>
              <a:t>3.4                                    </a:t>
            </a:r>
            <a:r>
              <a:rPr lang="zh-CN" altLang="en-US" sz="2000" b="1" dirty="0">
                <a:solidFill>
                  <a:schemeClr val="bg1"/>
                </a:solidFill>
                <a:latin typeface="微软雅黑" pitchFamily="34" charset="-122"/>
                <a:ea typeface="微软雅黑" pitchFamily="34" charset="-122"/>
              </a:rPr>
              <a:t>以太网演变成星形网</a:t>
            </a:r>
          </a:p>
          <a:p>
            <a:pPr eaLnBrk="0" hangingPunct="0">
              <a:lnSpc>
                <a:spcPts val="3800"/>
              </a:lnSpc>
            </a:pPr>
            <a:r>
              <a:rPr lang="en-US" altLang="zh-CN" sz="2000" b="1" dirty="0">
                <a:solidFill>
                  <a:schemeClr val="bg1"/>
                </a:solidFill>
                <a:latin typeface="微软雅黑" pitchFamily="34" charset="-122"/>
                <a:ea typeface="微软雅黑" pitchFamily="34" charset="-122"/>
              </a:rPr>
              <a:t>3.5                                                 </a:t>
            </a:r>
            <a:r>
              <a:rPr lang="zh-CN" altLang="en-US" sz="2000" b="1" dirty="0">
                <a:solidFill>
                  <a:schemeClr val="bg1"/>
                </a:solidFill>
                <a:latin typeface="微软雅黑" pitchFamily="34" charset="-122"/>
                <a:ea typeface="微软雅黑" pitchFamily="34" charset="-122"/>
              </a:rPr>
              <a:t>高速以太网</a:t>
            </a:r>
          </a:p>
        </p:txBody>
      </p:sp>
    </p:spTree>
    <p:extLst>
      <p:ext uri="{BB962C8B-B14F-4D97-AF65-F5344CB8AC3E}">
        <p14:creationId xmlns:p14="http://schemas.microsoft.com/office/powerpoint/2010/main" val="2691776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6305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6948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29162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09059"/>
            <a:ext cx="563062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3.1.1                                           </a:t>
            </a:r>
            <a:r>
              <a:rPr lang="zh-CN" altLang="en-US" sz="2000" b="1" dirty="0">
                <a:solidFill>
                  <a:schemeClr val="bg1"/>
                </a:solidFill>
                <a:latin typeface="微软雅黑" pitchFamily="34" charset="-122"/>
                <a:ea typeface="微软雅黑" pitchFamily="34" charset="-122"/>
              </a:rPr>
              <a:t>数据链路和帧</a:t>
            </a:r>
          </a:p>
          <a:p>
            <a:pPr eaLnBrk="0" hangingPunct="0">
              <a:lnSpc>
                <a:spcPct val="200000"/>
              </a:lnSpc>
            </a:pPr>
            <a:r>
              <a:rPr lang="en-US" altLang="zh-CN" sz="2000" b="1" dirty="0">
                <a:solidFill>
                  <a:schemeClr val="bg1"/>
                </a:solidFill>
                <a:latin typeface="微软雅黑" pitchFamily="34" charset="-122"/>
                <a:ea typeface="微软雅黑" pitchFamily="34" charset="-122"/>
              </a:rPr>
              <a:t>3.1.2                                           </a:t>
            </a:r>
            <a:r>
              <a:rPr lang="zh-CN" altLang="en-US" sz="2000" b="1" dirty="0">
                <a:solidFill>
                  <a:schemeClr val="bg1"/>
                </a:solidFill>
                <a:latin typeface="微软雅黑" pitchFamily="34" charset="-122"/>
                <a:ea typeface="微软雅黑" pitchFamily="34" charset="-122"/>
              </a:rPr>
              <a:t>三个基本问题</a:t>
            </a:r>
          </a:p>
        </p:txBody>
      </p:sp>
      <p:sp>
        <p:nvSpPr>
          <p:cNvPr id="7" name="Rectangle 27"/>
          <p:cNvSpPr>
            <a:spLocks noChangeArrowheads="1"/>
          </p:cNvSpPr>
          <p:nvPr/>
        </p:nvSpPr>
        <p:spPr bwMode="auto">
          <a:xfrm>
            <a:off x="639730" y="13630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57991"/>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3.1</a:t>
            </a:r>
          </a:p>
          <a:p>
            <a:pPr eaLnBrk="0" hangingPunct="0"/>
            <a:r>
              <a:rPr lang="zh-CN" altLang="en-US" sz="2000" b="1" dirty="0">
                <a:solidFill>
                  <a:schemeClr val="bg1"/>
                </a:solidFill>
                <a:latin typeface="微软雅黑" pitchFamily="34" charset="-122"/>
                <a:ea typeface="微软雅黑" pitchFamily="34" charset="-122"/>
              </a:rPr>
              <a:t>数据链路层的几个共同问题</a:t>
            </a:r>
          </a:p>
        </p:txBody>
      </p:sp>
    </p:spTree>
    <p:extLst>
      <p:ext uri="{BB962C8B-B14F-4D97-AF65-F5344CB8AC3E}">
        <p14:creationId xmlns:p14="http://schemas.microsoft.com/office/powerpoint/2010/main" val="3235461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B2FBF54-3BDC-8238-1E12-475C8CB6B3FD}"/>
              </a:ext>
            </a:extLst>
          </p:cNvPr>
          <p:cNvSpPr/>
          <p:nvPr/>
        </p:nvSpPr>
        <p:spPr>
          <a:xfrm>
            <a:off x="5643354" y="3545772"/>
            <a:ext cx="1755420" cy="707886"/>
          </a:xfrm>
          <a:prstGeom prst="rect">
            <a:avLst/>
          </a:prstGeom>
          <a:solidFill>
            <a:srgbClr val="00B0F0"/>
          </a:solidFill>
          <a:ln w="19050">
            <a:no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数据链路层常简称为链路层</a:t>
            </a:r>
          </a:p>
        </p:txBody>
      </p:sp>
      <p:sp>
        <p:nvSpPr>
          <p:cNvPr id="6" name="标题 5">
            <a:extLst>
              <a:ext uri="{FF2B5EF4-FFF2-40B4-BE49-F238E27FC236}">
                <a16:creationId xmlns:a16="http://schemas.microsoft.com/office/drawing/2014/main" id="{3D8D28EF-8411-0BBE-A39E-7E8A0B37C4FE}"/>
              </a:ext>
            </a:extLst>
          </p:cNvPr>
          <p:cNvSpPr>
            <a:spLocks noGrp="1"/>
          </p:cNvSpPr>
          <p:nvPr>
            <p:ph type="title"/>
          </p:nvPr>
        </p:nvSpPr>
        <p:spPr>
          <a:xfrm>
            <a:off x="628650" y="390777"/>
            <a:ext cx="7886700" cy="400110"/>
          </a:xfrm>
        </p:spPr>
        <p:txBody>
          <a:bodyPr/>
          <a:lstStyle/>
          <a:p>
            <a:r>
              <a:rPr lang="en-US" altLang="zh-CN" dirty="0"/>
              <a:t>3.1.1  </a:t>
            </a:r>
            <a:r>
              <a:rPr lang="zh-CN" altLang="en-US" dirty="0"/>
              <a:t>数据链路和帧</a:t>
            </a:r>
          </a:p>
        </p:txBody>
      </p:sp>
      <p:sp>
        <p:nvSpPr>
          <p:cNvPr id="11" name="内容占位符 10">
            <a:extLst>
              <a:ext uri="{FF2B5EF4-FFF2-40B4-BE49-F238E27FC236}">
                <a16:creationId xmlns:a16="http://schemas.microsoft.com/office/drawing/2014/main" id="{B06B21E9-8714-8CEA-F6E4-1A2C9B33D1A9}"/>
              </a:ext>
            </a:extLst>
          </p:cNvPr>
          <p:cNvSpPr>
            <a:spLocks noGrp="1"/>
          </p:cNvSpPr>
          <p:nvPr>
            <p:ph sz="quarter" idx="10"/>
          </p:nvPr>
        </p:nvSpPr>
        <p:spPr>
          <a:xfrm>
            <a:off x="628651" y="900000"/>
            <a:ext cx="7886700" cy="3546475"/>
          </a:xfrm>
        </p:spPr>
        <p:txBody>
          <a:bodyPr/>
          <a:lstStyle/>
          <a:p>
            <a:r>
              <a:rPr lang="zh-CN" altLang="en-US" dirty="0"/>
              <a:t>链路 </a:t>
            </a:r>
            <a:r>
              <a:rPr lang="en-US" altLang="zh-CN" dirty="0"/>
              <a:t>(link) </a:t>
            </a:r>
            <a:r>
              <a:rPr lang="zh-CN" altLang="en-US" dirty="0"/>
              <a:t>：</a:t>
            </a:r>
            <a:endParaRPr lang="en-US" altLang="zh-CN" dirty="0"/>
          </a:p>
          <a:p>
            <a:pPr lvl="1"/>
            <a:r>
              <a:rPr lang="zh-CN" altLang="en-US" dirty="0"/>
              <a:t>节点之间的一段物理线路，中间没有任何其他的交换结点。</a:t>
            </a:r>
          </a:p>
          <a:p>
            <a:pPr lvl="1"/>
            <a:r>
              <a:rPr lang="zh-CN" altLang="en-US" dirty="0"/>
              <a:t>链路只是一条通信路径的组成部分。</a:t>
            </a:r>
            <a:endParaRPr lang="en-US" altLang="zh-CN" dirty="0"/>
          </a:p>
          <a:p>
            <a:pPr lvl="1"/>
            <a:r>
              <a:rPr lang="zh-CN" altLang="en-US" dirty="0"/>
              <a:t>或物理链路。</a:t>
            </a:r>
            <a:endParaRPr lang="en-US" altLang="zh-CN" dirty="0"/>
          </a:p>
          <a:p>
            <a:r>
              <a:rPr lang="zh-CN" altLang="en-US" dirty="0"/>
              <a:t>数据链路 </a:t>
            </a:r>
            <a:r>
              <a:rPr lang="en-US" altLang="zh-CN" dirty="0"/>
              <a:t>(data link)</a:t>
            </a:r>
            <a:r>
              <a:rPr lang="zh-CN" altLang="en-US" dirty="0"/>
              <a:t>：</a:t>
            </a:r>
            <a:endParaRPr lang="en-US" altLang="zh-CN" dirty="0"/>
          </a:p>
          <a:p>
            <a:pPr lvl="1"/>
            <a:r>
              <a:rPr lang="zh-CN" altLang="en-US" dirty="0"/>
              <a:t>把实现控制数据传输的协议的硬件和软件加到链路上，就构成了数据链路。</a:t>
            </a:r>
            <a:endParaRPr lang="en-US" altLang="zh-CN" dirty="0"/>
          </a:p>
          <a:p>
            <a:pPr lvl="1"/>
            <a:r>
              <a:rPr lang="zh-CN" altLang="en-US" dirty="0"/>
              <a:t>典型实现：适配器（即网卡）</a:t>
            </a:r>
          </a:p>
          <a:p>
            <a:pPr lvl="1"/>
            <a:r>
              <a:rPr lang="zh-CN" altLang="en-US" dirty="0"/>
              <a:t>或逻辑链路。</a:t>
            </a:r>
          </a:p>
          <a:p>
            <a:endParaRPr lang="zh-CN" altLang="en-US" dirty="0"/>
          </a:p>
        </p:txBody>
      </p:sp>
    </p:spTree>
    <p:custDataLst>
      <p:tags r:id="rId1"/>
    </p:custDataLst>
    <p:extLst>
      <p:ext uri="{BB962C8B-B14F-4D97-AF65-F5344CB8AC3E}">
        <p14:creationId xmlns:p14="http://schemas.microsoft.com/office/powerpoint/2010/main" val="87250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2643121" y="4242340"/>
            <a:ext cx="3861998" cy="369332"/>
          </a:xfrm>
          <a:prstGeom prst="rect">
            <a:avLst/>
          </a:prstGeom>
        </p:spPr>
        <p:txBody>
          <a:bodyPr wrap="square">
            <a:spAutoFit/>
          </a:bodyPr>
          <a:lstStyle/>
          <a:p>
            <a:pPr algn="ctr"/>
            <a:r>
              <a:rPr lang="zh-CN" altLang="en-US" b="1" dirty="0">
                <a:latin typeface="微软雅黑" pitchFamily="34" charset="-122"/>
                <a:ea typeface="微软雅黑" pitchFamily="34" charset="-122"/>
              </a:rPr>
              <a:t>使用点对点信道的数据链路层</a:t>
            </a:r>
          </a:p>
        </p:txBody>
      </p:sp>
      <p:sp>
        <p:nvSpPr>
          <p:cNvPr id="133" name="Freeform 19"/>
          <p:cNvSpPr>
            <a:spLocks/>
          </p:cNvSpPr>
          <p:nvPr/>
        </p:nvSpPr>
        <p:spPr bwMode="auto">
          <a:xfrm>
            <a:off x="3479518" y="3790575"/>
            <a:ext cx="2902348" cy="2678"/>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4" name="Rectangle 20"/>
          <p:cNvSpPr>
            <a:spLocks noChangeArrowheads="1"/>
          </p:cNvSpPr>
          <p:nvPr/>
        </p:nvSpPr>
        <p:spPr bwMode="auto">
          <a:xfrm>
            <a:off x="5806617" y="3445203"/>
            <a:ext cx="1224942" cy="426584"/>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5" name="Rectangle 47"/>
          <p:cNvSpPr>
            <a:spLocks noChangeArrowheads="1"/>
          </p:cNvSpPr>
          <p:nvPr/>
        </p:nvSpPr>
        <p:spPr bwMode="auto">
          <a:xfrm>
            <a:off x="1728464" y="3431816"/>
            <a:ext cx="605936" cy="428322"/>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100" b="1" dirty="0">
                <a:latin typeface="微软雅黑" pitchFamily="34" charset="-122"/>
                <a:ea typeface="微软雅黑" pitchFamily="34" charset="-122"/>
              </a:rPr>
              <a:t>数据</a:t>
            </a:r>
          </a:p>
          <a:p>
            <a:pPr algn="ctr" defTabSz="762000" eaLnBrk="0" hangingPunct="0"/>
            <a:r>
              <a:rPr kumimoji="1" lang="zh-CN" altLang="en-US" sz="1100" b="1" dirty="0">
                <a:latin typeface="微软雅黑" pitchFamily="34" charset="-122"/>
                <a:ea typeface="微软雅黑" pitchFamily="34" charset="-122"/>
              </a:rPr>
              <a:t>链路层</a:t>
            </a:r>
          </a:p>
        </p:txBody>
      </p:sp>
      <p:sp>
        <p:nvSpPr>
          <p:cNvPr id="136" name="Rectangle 48"/>
          <p:cNvSpPr>
            <a:spLocks noChangeArrowheads="1"/>
          </p:cNvSpPr>
          <p:nvPr/>
        </p:nvSpPr>
        <p:spPr bwMode="auto">
          <a:xfrm>
            <a:off x="2314518" y="3445203"/>
            <a:ext cx="1224942" cy="426584"/>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7" name="Rectangle 49"/>
          <p:cNvSpPr>
            <a:spLocks noChangeArrowheads="1"/>
          </p:cNvSpPr>
          <p:nvPr/>
        </p:nvSpPr>
        <p:spPr bwMode="auto">
          <a:xfrm>
            <a:off x="2643121" y="3185056"/>
            <a:ext cx="65242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38" name="Rectangle 50"/>
          <p:cNvSpPr>
            <a:spLocks noChangeArrowheads="1"/>
          </p:cNvSpPr>
          <p:nvPr/>
        </p:nvSpPr>
        <p:spPr bwMode="auto">
          <a:xfrm>
            <a:off x="6124427" y="3185056"/>
            <a:ext cx="64280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grpSp>
        <p:nvGrpSpPr>
          <p:cNvPr id="139" name="Group 51"/>
          <p:cNvGrpSpPr>
            <a:grpSpLocks/>
          </p:cNvGrpSpPr>
          <p:nvPr/>
        </p:nvGrpSpPr>
        <p:grpSpPr bwMode="auto">
          <a:xfrm>
            <a:off x="3216547" y="3541589"/>
            <a:ext cx="595552" cy="246312"/>
            <a:chOff x="1701" y="2652"/>
            <a:chExt cx="616" cy="276"/>
          </a:xfrm>
        </p:grpSpPr>
        <p:grpSp>
          <p:nvGrpSpPr>
            <p:cNvPr id="149" name="Group 52"/>
            <p:cNvGrpSpPr>
              <a:grpSpLocks/>
            </p:cNvGrpSpPr>
            <p:nvPr/>
          </p:nvGrpSpPr>
          <p:grpSpPr bwMode="auto">
            <a:xfrm>
              <a:off x="1701" y="2694"/>
              <a:ext cx="616" cy="192"/>
              <a:chOff x="1701" y="2694"/>
              <a:chExt cx="616" cy="192"/>
            </a:xfrm>
          </p:grpSpPr>
          <p:sp>
            <p:nvSpPr>
              <p:cNvPr id="151" name="AutoShape 53"/>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2" name="Rectangle 54"/>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50" name="Text Box 55"/>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0" name="Rectangle 57"/>
          <p:cNvSpPr>
            <a:spLocks noChangeArrowheads="1"/>
          </p:cNvSpPr>
          <p:nvPr/>
        </p:nvSpPr>
        <p:spPr bwMode="auto">
          <a:xfrm>
            <a:off x="3570823" y="3836029"/>
            <a:ext cx="219491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(b) </a:t>
            </a:r>
            <a:r>
              <a:rPr kumimoji="1" lang="zh-CN" altLang="en-US" sz="1200" b="1" dirty="0">
                <a:solidFill>
                  <a:srgbClr val="000099"/>
                </a:solidFill>
                <a:latin typeface="微软雅黑" pitchFamily="34" charset="-122"/>
                <a:ea typeface="微软雅黑" pitchFamily="34" charset="-122"/>
              </a:rPr>
              <a:t>只考虑数据链路层</a:t>
            </a:r>
            <a:endParaRPr kumimoji="1" lang="en-US" altLang="zh-CN" sz="1200" b="1" dirty="0">
              <a:solidFill>
                <a:srgbClr val="000099"/>
              </a:solidFill>
              <a:latin typeface="微软雅黑" pitchFamily="34" charset="-122"/>
              <a:ea typeface="微软雅黑" pitchFamily="34" charset="-122"/>
            </a:endParaRPr>
          </a:p>
        </p:txBody>
      </p:sp>
      <p:sp>
        <p:nvSpPr>
          <p:cNvPr id="141" name="Rectangle 58"/>
          <p:cNvSpPr>
            <a:spLocks noChangeArrowheads="1"/>
          </p:cNvSpPr>
          <p:nvPr/>
        </p:nvSpPr>
        <p:spPr bwMode="auto">
          <a:xfrm>
            <a:off x="3567497" y="336684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发送</a:t>
            </a:r>
          </a:p>
        </p:txBody>
      </p:sp>
      <p:grpSp>
        <p:nvGrpSpPr>
          <p:cNvPr id="142" name="Group 59"/>
          <p:cNvGrpSpPr>
            <a:grpSpLocks/>
          </p:cNvGrpSpPr>
          <p:nvPr/>
        </p:nvGrpSpPr>
        <p:grpSpPr bwMode="auto">
          <a:xfrm>
            <a:off x="5559115" y="3541589"/>
            <a:ext cx="595552" cy="246312"/>
            <a:chOff x="1701" y="2652"/>
            <a:chExt cx="616" cy="276"/>
          </a:xfrm>
        </p:grpSpPr>
        <p:grpSp>
          <p:nvGrpSpPr>
            <p:cNvPr id="145" name="Group 60"/>
            <p:cNvGrpSpPr>
              <a:grpSpLocks/>
            </p:cNvGrpSpPr>
            <p:nvPr/>
          </p:nvGrpSpPr>
          <p:grpSpPr bwMode="auto">
            <a:xfrm>
              <a:off x="1701" y="2694"/>
              <a:ext cx="616" cy="192"/>
              <a:chOff x="1701" y="2694"/>
              <a:chExt cx="616" cy="192"/>
            </a:xfrm>
          </p:grpSpPr>
          <p:sp>
            <p:nvSpPr>
              <p:cNvPr id="147" name="AutoShape 61"/>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8" name="Rectangle 62"/>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46" name="Text Box 63"/>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3" name="Rectangle 64"/>
          <p:cNvSpPr>
            <a:spLocks noChangeArrowheads="1"/>
          </p:cNvSpPr>
          <p:nvPr/>
        </p:nvSpPr>
        <p:spPr bwMode="auto">
          <a:xfrm>
            <a:off x="5357098" y="334739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接收</a:t>
            </a:r>
          </a:p>
        </p:txBody>
      </p:sp>
      <p:sp>
        <p:nvSpPr>
          <p:cNvPr id="144" name="Rectangle 65"/>
          <p:cNvSpPr>
            <a:spLocks noChangeArrowheads="1"/>
          </p:cNvSpPr>
          <p:nvPr/>
        </p:nvSpPr>
        <p:spPr bwMode="auto">
          <a:xfrm>
            <a:off x="4448984" y="35049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sp>
        <p:nvSpPr>
          <p:cNvPr id="154" name="Rectangle 4"/>
          <p:cNvSpPr>
            <a:spLocks noChangeArrowheads="1"/>
          </p:cNvSpPr>
          <p:nvPr/>
        </p:nvSpPr>
        <p:spPr bwMode="auto">
          <a:xfrm>
            <a:off x="5756344" y="1362662"/>
            <a:ext cx="1398792" cy="1087119"/>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5" name="Rectangle 5"/>
          <p:cNvSpPr>
            <a:spLocks noChangeArrowheads="1"/>
          </p:cNvSpPr>
          <p:nvPr/>
        </p:nvSpPr>
        <p:spPr bwMode="auto">
          <a:xfrm>
            <a:off x="5765735" y="1725035"/>
            <a:ext cx="1382246" cy="362373"/>
          </a:xfrm>
          <a:prstGeom prst="rect">
            <a:avLst/>
          </a:prstGeom>
          <a:solidFill>
            <a:srgbClr val="00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6" name="Line 6"/>
          <p:cNvSpPr>
            <a:spLocks noChangeShapeType="1"/>
          </p:cNvSpPr>
          <p:nvPr/>
        </p:nvSpPr>
        <p:spPr bwMode="auto">
          <a:xfrm>
            <a:off x="5765735" y="1725035"/>
            <a:ext cx="13873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8" name="Line 8"/>
          <p:cNvSpPr>
            <a:spLocks noChangeShapeType="1"/>
          </p:cNvSpPr>
          <p:nvPr/>
        </p:nvSpPr>
        <p:spPr bwMode="auto">
          <a:xfrm>
            <a:off x="5765735" y="2087408"/>
            <a:ext cx="13873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60" name="Rectangle 10"/>
          <p:cNvSpPr>
            <a:spLocks noChangeArrowheads="1"/>
          </p:cNvSpPr>
          <p:nvPr/>
        </p:nvSpPr>
        <p:spPr bwMode="auto">
          <a:xfrm>
            <a:off x="6053077" y="2178002"/>
            <a:ext cx="903730" cy="181186"/>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61" name="Rectangle 11"/>
          <p:cNvSpPr>
            <a:spLocks noChangeArrowheads="1"/>
          </p:cNvSpPr>
          <p:nvPr/>
        </p:nvSpPr>
        <p:spPr bwMode="auto">
          <a:xfrm>
            <a:off x="5992730" y="2179065"/>
            <a:ext cx="1035540" cy="207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162" name="AutoShape 12"/>
          <p:cNvSpPr>
            <a:spLocks noChangeArrowheads="1"/>
          </p:cNvSpPr>
          <p:nvPr/>
        </p:nvSpPr>
        <p:spPr bwMode="auto">
          <a:xfrm flipV="1">
            <a:off x="6421112" y="2025125"/>
            <a:ext cx="196285" cy="199116"/>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5" name="Text Box 15"/>
          <p:cNvSpPr txBox="1">
            <a:spLocks noChangeArrowheads="1"/>
          </p:cNvSpPr>
          <p:nvPr/>
        </p:nvSpPr>
        <p:spPr bwMode="auto">
          <a:xfrm>
            <a:off x="5742137" y="1762322"/>
            <a:ext cx="33855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grpSp>
        <p:nvGrpSpPr>
          <p:cNvPr id="4" name="组合 3">
            <a:extLst>
              <a:ext uri="{FF2B5EF4-FFF2-40B4-BE49-F238E27FC236}">
                <a16:creationId xmlns:a16="http://schemas.microsoft.com/office/drawing/2014/main" id="{8CE9BAEC-CEB4-0F27-A79E-F56B3E11FF7A}"/>
              </a:ext>
            </a:extLst>
          </p:cNvPr>
          <p:cNvGrpSpPr/>
          <p:nvPr/>
        </p:nvGrpSpPr>
        <p:grpSpPr>
          <a:xfrm>
            <a:off x="6057166" y="1453256"/>
            <a:ext cx="895551" cy="543559"/>
            <a:chOff x="6057166" y="1453256"/>
            <a:chExt cx="895551" cy="543559"/>
          </a:xfrm>
        </p:grpSpPr>
        <p:sp>
          <p:nvSpPr>
            <p:cNvPr id="157" name="Rectangle 7"/>
            <p:cNvSpPr>
              <a:spLocks noChangeArrowheads="1"/>
            </p:cNvSpPr>
            <p:nvPr/>
          </p:nvSpPr>
          <p:spPr bwMode="auto">
            <a:xfrm>
              <a:off x="6057166" y="1815629"/>
              <a:ext cx="895551" cy="181186"/>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59" name="Rectangle 9"/>
            <p:cNvSpPr>
              <a:spLocks noChangeArrowheads="1"/>
            </p:cNvSpPr>
            <p:nvPr/>
          </p:nvSpPr>
          <p:spPr bwMode="auto">
            <a:xfrm>
              <a:off x="6182560" y="1453256"/>
              <a:ext cx="637927" cy="181186"/>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63" name="Rectangle 13"/>
            <p:cNvSpPr>
              <a:spLocks noChangeArrowheads="1"/>
            </p:cNvSpPr>
            <p:nvPr/>
          </p:nvSpPr>
          <p:spPr bwMode="auto">
            <a:xfrm>
              <a:off x="6184955" y="1827776"/>
              <a:ext cx="637927" cy="167031"/>
            </a:xfrm>
            <a:prstGeom prst="rect">
              <a:avLst/>
            </a:prstGeom>
            <a:solidFill>
              <a:srgbClr val="00B05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64" name="AutoShape 14"/>
            <p:cNvSpPr>
              <a:spLocks noChangeArrowheads="1"/>
            </p:cNvSpPr>
            <p:nvPr/>
          </p:nvSpPr>
          <p:spPr bwMode="auto">
            <a:xfrm flipV="1">
              <a:off x="6182911" y="1602357"/>
              <a:ext cx="637927" cy="21987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6" name="Rectangle 16"/>
            <p:cNvSpPr>
              <a:spLocks noChangeArrowheads="1"/>
            </p:cNvSpPr>
            <p:nvPr/>
          </p:nvSpPr>
          <p:spPr bwMode="auto">
            <a:xfrm>
              <a:off x="6290429" y="1604685"/>
              <a:ext cx="413576"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取出</a:t>
              </a:r>
            </a:p>
          </p:txBody>
        </p:sp>
        <p:sp>
          <p:nvSpPr>
            <p:cNvPr id="167" name="Line 17"/>
            <p:cNvSpPr>
              <a:spLocks noChangeShapeType="1"/>
            </p:cNvSpPr>
            <p:nvPr/>
          </p:nvSpPr>
          <p:spPr bwMode="auto">
            <a:xfrm>
              <a:off x="6181889" y="1818459"/>
              <a:ext cx="0" cy="1698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8" name="Line 18"/>
            <p:cNvSpPr>
              <a:spLocks noChangeShapeType="1"/>
            </p:cNvSpPr>
            <p:nvPr/>
          </p:nvSpPr>
          <p:spPr bwMode="auto">
            <a:xfrm>
              <a:off x="6819815" y="1819403"/>
              <a:ext cx="0" cy="1698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69" name="Freeform 21"/>
          <p:cNvSpPr>
            <a:spLocks/>
          </p:cNvSpPr>
          <p:nvPr/>
        </p:nvSpPr>
        <p:spPr bwMode="auto">
          <a:xfrm>
            <a:off x="2787791" y="2349751"/>
            <a:ext cx="3729418" cy="362373"/>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2" name="Rectangle 24"/>
          <p:cNvSpPr>
            <a:spLocks noChangeArrowheads="1"/>
          </p:cNvSpPr>
          <p:nvPr/>
        </p:nvSpPr>
        <p:spPr bwMode="auto">
          <a:xfrm>
            <a:off x="4407144" y="243331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sp>
        <p:nvSpPr>
          <p:cNvPr id="173" name="Rectangle 25"/>
          <p:cNvSpPr>
            <a:spLocks noChangeArrowheads="1"/>
          </p:cNvSpPr>
          <p:nvPr/>
        </p:nvSpPr>
        <p:spPr bwMode="auto">
          <a:xfrm>
            <a:off x="2497337" y="1097960"/>
            <a:ext cx="65242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74" name="Rectangle 26"/>
          <p:cNvSpPr>
            <a:spLocks noChangeArrowheads="1"/>
          </p:cNvSpPr>
          <p:nvPr/>
        </p:nvSpPr>
        <p:spPr bwMode="auto">
          <a:xfrm>
            <a:off x="6178538" y="1097960"/>
            <a:ext cx="64280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grpSp>
        <p:nvGrpSpPr>
          <p:cNvPr id="14" name="组合 13">
            <a:extLst>
              <a:ext uri="{FF2B5EF4-FFF2-40B4-BE49-F238E27FC236}">
                <a16:creationId xmlns:a16="http://schemas.microsoft.com/office/drawing/2014/main" id="{24F3C463-7DBB-6524-38DF-13A551B25861}"/>
              </a:ext>
            </a:extLst>
          </p:cNvPr>
          <p:cNvGrpSpPr/>
          <p:nvPr/>
        </p:nvGrpSpPr>
        <p:grpSpPr>
          <a:xfrm>
            <a:off x="993305" y="1443819"/>
            <a:ext cx="995458" cy="958400"/>
            <a:chOff x="993305" y="1443819"/>
            <a:chExt cx="995458" cy="958400"/>
          </a:xfrm>
        </p:grpSpPr>
        <p:sp>
          <p:nvSpPr>
            <p:cNvPr id="170" name="Rectangle 22"/>
            <p:cNvSpPr>
              <a:spLocks noChangeArrowheads="1"/>
            </p:cNvSpPr>
            <p:nvPr/>
          </p:nvSpPr>
          <p:spPr bwMode="auto">
            <a:xfrm>
              <a:off x="993305" y="1761919"/>
              <a:ext cx="995458" cy="2590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100" b="1" dirty="0">
                  <a:latin typeface="微软雅黑" pitchFamily="34" charset="-122"/>
                  <a:ea typeface="微软雅黑" pitchFamily="34" charset="-122"/>
                </a:rPr>
                <a:t>数据链路层</a:t>
              </a:r>
            </a:p>
          </p:txBody>
        </p:sp>
        <p:sp>
          <p:nvSpPr>
            <p:cNvPr id="171" name="Rectangle 23"/>
            <p:cNvSpPr>
              <a:spLocks noChangeArrowheads="1"/>
            </p:cNvSpPr>
            <p:nvPr/>
          </p:nvSpPr>
          <p:spPr bwMode="auto">
            <a:xfrm>
              <a:off x="1382827" y="1443819"/>
              <a:ext cx="605936" cy="233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网络层</a:t>
              </a:r>
            </a:p>
          </p:txBody>
        </p:sp>
        <p:sp>
          <p:nvSpPr>
            <p:cNvPr id="175" name="Rectangle 27"/>
            <p:cNvSpPr>
              <a:spLocks noChangeArrowheads="1"/>
            </p:cNvSpPr>
            <p:nvPr/>
          </p:nvSpPr>
          <p:spPr bwMode="auto">
            <a:xfrm>
              <a:off x="1382827" y="2168565"/>
              <a:ext cx="605936" cy="233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物理层</a:t>
              </a:r>
            </a:p>
          </p:txBody>
        </p:sp>
      </p:grpSp>
      <p:sp>
        <p:nvSpPr>
          <p:cNvPr id="176" name="Rectangle 28"/>
          <p:cNvSpPr>
            <a:spLocks noChangeArrowheads="1"/>
          </p:cNvSpPr>
          <p:nvPr/>
        </p:nvSpPr>
        <p:spPr bwMode="auto">
          <a:xfrm>
            <a:off x="2836863"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7" name="Rectangle 29"/>
          <p:cNvSpPr>
            <a:spLocks noChangeArrowheads="1"/>
          </p:cNvSpPr>
          <p:nvPr/>
        </p:nvSpPr>
        <p:spPr bwMode="auto">
          <a:xfrm>
            <a:off x="2935005"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8" name="Rectangle 30"/>
          <p:cNvSpPr>
            <a:spLocks noChangeArrowheads="1"/>
          </p:cNvSpPr>
          <p:nvPr/>
        </p:nvSpPr>
        <p:spPr bwMode="auto">
          <a:xfrm>
            <a:off x="3818288"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9" name="Rectangle 31"/>
          <p:cNvSpPr>
            <a:spLocks noChangeArrowheads="1"/>
          </p:cNvSpPr>
          <p:nvPr/>
        </p:nvSpPr>
        <p:spPr bwMode="auto">
          <a:xfrm>
            <a:off x="3916431"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0" name="Rectangle 32"/>
          <p:cNvSpPr>
            <a:spLocks noChangeArrowheads="1"/>
          </p:cNvSpPr>
          <p:nvPr/>
        </p:nvSpPr>
        <p:spPr bwMode="auto">
          <a:xfrm>
            <a:off x="5045071"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1" name="Rectangle 33"/>
          <p:cNvSpPr>
            <a:spLocks noChangeArrowheads="1"/>
          </p:cNvSpPr>
          <p:nvPr/>
        </p:nvSpPr>
        <p:spPr bwMode="auto">
          <a:xfrm>
            <a:off x="5143213"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2" name="Rectangle 34"/>
          <p:cNvSpPr>
            <a:spLocks noChangeArrowheads="1"/>
          </p:cNvSpPr>
          <p:nvPr/>
        </p:nvSpPr>
        <p:spPr bwMode="auto">
          <a:xfrm>
            <a:off x="6124639"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3" name="Rectangle 35"/>
          <p:cNvSpPr>
            <a:spLocks noChangeArrowheads="1"/>
          </p:cNvSpPr>
          <p:nvPr/>
        </p:nvSpPr>
        <p:spPr bwMode="auto">
          <a:xfrm>
            <a:off x="6222781"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4" name="Rectangle 36"/>
          <p:cNvSpPr>
            <a:spLocks noChangeArrowheads="1"/>
          </p:cNvSpPr>
          <p:nvPr/>
        </p:nvSpPr>
        <p:spPr bwMode="auto">
          <a:xfrm>
            <a:off x="6320924"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5" name="Rectangle 37"/>
          <p:cNvSpPr>
            <a:spLocks noChangeArrowheads="1"/>
          </p:cNvSpPr>
          <p:nvPr/>
        </p:nvSpPr>
        <p:spPr bwMode="auto">
          <a:xfrm>
            <a:off x="6419067" y="2576234"/>
            <a:ext cx="49071" cy="90593"/>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6" name="Line 38"/>
          <p:cNvSpPr>
            <a:spLocks noChangeShapeType="1"/>
          </p:cNvSpPr>
          <p:nvPr/>
        </p:nvSpPr>
        <p:spPr bwMode="auto">
          <a:xfrm>
            <a:off x="4014573" y="2621531"/>
            <a:ext cx="196285"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7" name="Line 39"/>
          <p:cNvSpPr>
            <a:spLocks noChangeShapeType="1"/>
          </p:cNvSpPr>
          <p:nvPr/>
        </p:nvSpPr>
        <p:spPr bwMode="auto">
          <a:xfrm rot="5400000">
            <a:off x="2770805" y="2462993"/>
            <a:ext cx="181186"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8" name="Line 40"/>
          <p:cNvSpPr>
            <a:spLocks noChangeShapeType="1"/>
          </p:cNvSpPr>
          <p:nvPr/>
        </p:nvSpPr>
        <p:spPr bwMode="auto">
          <a:xfrm rot="16200000" flipV="1">
            <a:off x="6353009" y="2485641"/>
            <a:ext cx="181186"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189" name="Group 41"/>
          <p:cNvGrpSpPr>
            <a:grpSpLocks/>
          </p:cNvGrpSpPr>
          <p:nvPr/>
        </p:nvGrpSpPr>
        <p:grpSpPr bwMode="auto">
          <a:xfrm>
            <a:off x="3033148" y="2576234"/>
            <a:ext cx="686998" cy="90593"/>
            <a:chOff x="1344" y="912"/>
            <a:chExt cx="672" cy="96"/>
          </a:xfrm>
          <a:solidFill>
            <a:srgbClr val="FFC000"/>
          </a:solidFill>
        </p:grpSpPr>
        <p:sp>
          <p:nvSpPr>
            <p:cNvPr id="209"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10"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190" name="Group 44"/>
          <p:cNvGrpSpPr>
            <a:grpSpLocks/>
          </p:cNvGrpSpPr>
          <p:nvPr/>
        </p:nvGrpSpPr>
        <p:grpSpPr bwMode="auto">
          <a:xfrm>
            <a:off x="5290427" y="2576234"/>
            <a:ext cx="686998" cy="93424"/>
            <a:chOff x="4080" y="3676"/>
            <a:chExt cx="672" cy="99"/>
          </a:xfrm>
          <a:solidFill>
            <a:srgbClr val="FFC000"/>
          </a:solidFill>
        </p:grpSpPr>
        <p:sp>
          <p:nvSpPr>
            <p:cNvPr id="20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91" name="Rectangle 56"/>
          <p:cNvSpPr>
            <a:spLocks noChangeArrowheads="1"/>
          </p:cNvSpPr>
          <p:nvPr/>
        </p:nvSpPr>
        <p:spPr bwMode="auto">
          <a:xfrm>
            <a:off x="3575929" y="2750822"/>
            <a:ext cx="2137034" cy="290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(a) </a:t>
            </a:r>
            <a:r>
              <a:rPr kumimoji="1" lang="zh-CN" altLang="en-US" sz="1200" b="1" dirty="0">
                <a:solidFill>
                  <a:srgbClr val="000099"/>
                </a:solidFill>
                <a:latin typeface="微软雅黑" pitchFamily="34" charset="-122"/>
                <a:ea typeface="微软雅黑" pitchFamily="34" charset="-122"/>
              </a:rPr>
              <a:t>三层的简化模型</a:t>
            </a:r>
            <a:endParaRPr kumimoji="1" lang="en-US" altLang="zh-CN" sz="1200" b="1" dirty="0">
              <a:solidFill>
                <a:srgbClr val="000099"/>
              </a:solidFill>
              <a:latin typeface="微软雅黑" pitchFamily="34" charset="-122"/>
              <a:ea typeface="微软雅黑" pitchFamily="34" charset="-122"/>
            </a:endParaRPr>
          </a:p>
        </p:txBody>
      </p:sp>
      <p:sp>
        <p:nvSpPr>
          <p:cNvPr id="192" name="Rectangle 67"/>
          <p:cNvSpPr>
            <a:spLocks noChangeArrowheads="1"/>
          </p:cNvSpPr>
          <p:nvPr/>
        </p:nvSpPr>
        <p:spPr bwMode="auto">
          <a:xfrm>
            <a:off x="1977962" y="1353226"/>
            <a:ext cx="1467181" cy="1087119"/>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3" name="Rectangle 68"/>
          <p:cNvSpPr>
            <a:spLocks noChangeArrowheads="1"/>
          </p:cNvSpPr>
          <p:nvPr/>
        </p:nvSpPr>
        <p:spPr bwMode="auto">
          <a:xfrm>
            <a:off x="1977963" y="1715599"/>
            <a:ext cx="1460025" cy="362373"/>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4" name="Line 69"/>
          <p:cNvSpPr>
            <a:spLocks noChangeShapeType="1"/>
          </p:cNvSpPr>
          <p:nvPr/>
        </p:nvSpPr>
        <p:spPr bwMode="auto">
          <a:xfrm>
            <a:off x="1977962" y="1715599"/>
            <a:ext cx="146513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6" name="Line 71"/>
          <p:cNvSpPr>
            <a:spLocks noChangeShapeType="1"/>
          </p:cNvSpPr>
          <p:nvPr/>
        </p:nvSpPr>
        <p:spPr bwMode="auto">
          <a:xfrm>
            <a:off x="1977962" y="2077972"/>
            <a:ext cx="146513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8" name="Rectangle 73"/>
          <p:cNvSpPr>
            <a:spLocks noChangeArrowheads="1"/>
          </p:cNvSpPr>
          <p:nvPr/>
        </p:nvSpPr>
        <p:spPr bwMode="auto">
          <a:xfrm>
            <a:off x="2343083" y="2168565"/>
            <a:ext cx="903730" cy="181186"/>
          </a:xfrm>
          <a:prstGeom prst="rect">
            <a:avLst/>
          </a:prstGeom>
          <a:solidFill>
            <a:srgbClr val="99FFCC"/>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9" name="Rectangle 74"/>
          <p:cNvSpPr>
            <a:spLocks noChangeArrowheads="1"/>
          </p:cNvSpPr>
          <p:nvPr/>
        </p:nvSpPr>
        <p:spPr bwMode="auto">
          <a:xfrm>
            <a:off x="2260302" y="2169630"/>
            <a:ext cx="1095001" cy="219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200" name="AutoShape 75"/>
          <p:cNvSpPr>
            <a:spLocks noChangeArrowheads="1"/>
          </p:cNvSpPr>
          <p:nvPr/>
        </p:nvSpPr>
        <p:spPr bwMode="auto">
          <a:xfrm>
            <a:off x="2698850" y="2077971"/>
            <a:ext cx="196285" cy="199116"/>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3" name="Text Box 78"/>
          <p:cNvSpPr txBox="1">
            <a:spLocks noChangeArrowheads="1"/>
          </p:cNvSpPr>
          <p:nvPr/>
        </p:nvSpPr>
        <p:spPr bwMode="auto">
          <a:xfrm>
            <a:off x="1973778" y="1759371"/>
            <a:ext cx="33855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grpSp>
        <p:nvGrpSpPr>
          <p:cNvPr id="3" name="组合 2">
            <a:extLst>
              <a:ext uri="{FF2B5EF4-FFF2-40B4-BE49-F238E27FC236}">
                <a16:creationId xmlns:a16="http://schemas.microsoft.com/office/drawing/2014/main" id="{018FE65C-0863-989B-7625-031DD3472471}"/>
              </a:ext>
            </a:extLst>
          </p:cNvPr>
          <p:cNvGrpSpPr/>
          <p:nvPr/>
        </p:nvGrpSpPr>
        <p:grpSpPr>
          <a:xfrm>
            <a:off x="2347172" y="1443819"/>
            <a:ext cx="895551" cy="544302"/>
            <a:chOff x="2347172" y="1443819"/>
            <a:chExt cx="895551" cy="544302"/>
          </a:xfrm>
        </p:grpSpPr>
        <p:sp>
          <p:nvSpPr>
            <p:cNvPr id="195" name="Rectangle 70"/>
            <p:cNvSpPr>
              <a:spLocks noChangeArrowheads="1"/>
            </p:cNvSpPr>
            <p:nvPr/>
          </p:nvSpPr>
          <p:spPr bwMode="auto">
            <a:xfrm>
              <a:off x="2347172" y="1806192"/>
              <a:ext cx="895551" cy="181186"/>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7" name="Rectangle 72"/>
            <p:cNvSpPr>
              <a:spLocks noChangeArrowheads="1"/>
            </p:cNvSpPr>
            <p:nvPr/>
          </p:nvSpPr>
          <p:spPr bwMode="auto">
            <a:xfrm>
              <a:off x="2479051" y="1443819"/>
              <a:ext cx="637927" cy="181186"/>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201" name="Rectangle 76"/>
            <p:cNvSpPr>
              <a:spLocks noChangeArrowheads="1"/>
            </p:cNvSpPr>
            <p:nvPr/>
          </p:nvSpPr>
          <p:spPr bwMode="auto">
            <a:xfrm>
              <a:off x="2474962" y="1821090"/>
              <a:ext cx="637927" cy="167031"/>
            </a:xfrm>
            <a:prstGeom prst="rect">
              <a:avLst/>
            </a:prstGeom>
            <a:solidFill>
              <a:srgbClr val="00B0F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02" name="AutoShape 77"/>
            <p:cNvSpPr>
              <a:spLocks noChangeArrowheads="1"/>
            </p:cNvSpPr>
            <p:nvPr/>
          </p:nvSpPr>
          <p:spPr bwMode="auto">
            <a:xfrm>
              <a:off x="2479051" y="1630668"/>
              <a:ext cx="637927" cy="21987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4" name="Rectangle 79"/>
            <p:cNvSpPr>
              <a:spLocks noChangeArrowheads="1"/>
            </p:cNvSpPr>
            <p:nvPr/>
          </p:nvSpPr>
          <p:spPr bwMode="auto">
            <a:xfrm>
              <a:off x="2580435" y="1595247"/>
              <a:ext cx="413576"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装入</a:t>
              </a:r>
            </a:p>
          </p:txBody>
        </p:sp>
        <p:sp>
          <p:nvSpPr>
            <p:cNvPr id="205" name="Line 80"/>
            <p:cNvSpPr>
              <a:spLocks noChangeShapeType="1"/>
            </p:cNvSpPr>
            <p:nvPr/>
          </p:nvSpPr>
          <p:spPr bwMode="auto">
            <a:xfrm>
              <a:off x="2471895" y="1809022"/>
              <a:ext cx="0" cy="1698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6" name="Line 81"/>
            <p:cNvSpPr>
              <a:spLocks noChangeShapeType="1"/>
            </p:cNvSpPr>
            <p:nvPr/>
          </p:nvSpPr>
          <p:spPr bwMode="auto">
            <a:xfrm>
              <a:off x="3109822" y="1809966"/>
              <a:ext cx="0" cy="1698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13" name="组合 12">
            <a:extLst>
              <a:ext uri="{FF2B5EF4-FFF2-40B4-BE49-F238E27FC236}">
                <a16:creationId xmlns:a16="http://schemas.microsoft.com/office/drawing/2014/main" id="{B43581FF-32C9-7CB3-06FB-07043BD4E1A5}"/>
              </a:ext>
            </a:extLst>
          </p:cNvPr>
          <p:cNvGrpSpPr/>
          <p:nvPr/>
        </p:nvGrpSpPr>
        <p:grpSpPr>
          <a:xfrm>
            <a:off x="1973778" y="1351747"/>
            <a:ext cx="5191190" cy="1106540"/>
            <a:chOff x="1973778" y="1351747"/>
            <a:chExt cx="5191190" cy="1106540"/>
          </a:xfrm>
        </p:grpSpPr>
        <p:sp>
          <p:nvSpPr>
            <p:cNvPr id="10" name="矩形 9">
              <a:extLst>
                <a:ext uri="{FF2B5EF4-FFF2-40B4-BE49-F238E27FC236}">
                  <a16:creationId xmlns:a16="http://schemas.microsoft.com/office/drawing/2014/main" id="{1BC08CCE-880A-09E5-CED8-1BD574285F94}"/>
                </a:ext>
              </a:extLst>
            </p:cNvPr>
            <p:cNvSpPr/>
            <p:nvPr/>
          </p:nvSpPr>
          <p:spPr>
            <a:xfrm>
              <a:off x="1973778" y="1353226"/>
              <a:ext cx="1471365" cy="10800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0366DF5-6FB5-CA3A-96F5-4F2233994474}"/>
                </a:ext>
              </a:extLst>
            </p:cNvPr>
            <p:cNvSpPr/>
            <p:nvPr/>
          </p:nvSpPr>
          <p:spPr>
            <a:xfrm>
              <a:off x="5751969" y="1351747"/>
              <a:ext cx="1412999" cy="11065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Group 51">
            <a:extLst>
              <a:ext uri="{FF2B5EF4-FFF2-40B4-BE49-F238E27FC236}">
                <a16:creationId xmlns:a16="http://schemas.microsoft.com/office/drawing/2014/main" id="{EF8FC11E-9FF1-FBB3-3A7D-4B648D55C22C}"/>
              </a:ext>
            </a:extLst>
          </p:cNvPr>
          <p:cNvGrpSpPr>
            <a:grpSpLocks/>
          </p:cNvGrpSpPr>
          <p:nvPr/>
        </p:nvGrpSpPr>
        <p:grpSpPr bwMode="auto">
          <a:xfrm>
            <a:off x="3216386" y="3540063"/>
            <a:ext cx="595552" cy="246312"/>
            <a:chOff x="1701" y="2652"/>
            <a:chExt cx="616" cy="276"/>
          </a:xfrm>
        </p:grpSpPr>
        <p:grpSp>
          <p:nvGrpSpPr>
            <p:cNvPr id="16" name="Group 52">
              <a:extLst>
                <a:ext uri="{FF2B5EF4-FFF2-40B4-BE49-F238E27FC236}">
                  <a16:creationId xmlns:a16="http://schemas.microsoft.com/office/drawing/2014/main" id="{C055A358-CDD7-86DF-6838-F695E9AC698A}"/>
                </a:ext>
              </a:extLst>
            </p:cNvPr>
            <p:cNvGrpSpPr>
              <a:grpSpLocks/>
            </p:cNvGrpSpPr>
            <p:nvPr/>
          </p:nvGrpSpPr>
          <p:grpSpPr bwMode="auto">
            <a:xfrm>
              <a:off x="1701" y="2694"/>
              <a:ext cx="616" cy="192"/>
              <a:chOff x="1701" y="2694"/>
              <a:chExt cx="616" cy="192"/>
            </a:xfrm>
          </p:grpSpPr>
          <p:sp>
            <p:nvSpPr>
              <p:cNvPr id="18" name="AutoShape 53">
                <a:extLst>
                  <a:ext uri="{FF2B5EF4-FFF2-40B4-BE49-F238E27FC236}">
                    <a16:creationId xmlns:a16="http://schemas.microsoft.com/office/drawing/2014/main" id="{AEC9441F-3D92-F382-3537-B379B4F818FC}"/>
                  </a:ext>
                </a:extLst>
              </p:cNvPr>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Rectangle 54">
                <a:extLst>
                  <a:ext uri="{FF2B5EF4-FFF2-40B4-BE49-F238E27FC236}">
                    <a16:creationId xmlns:a16="http://schemas.microsoft.com/office/drawing/2014/main" id="{59E7E0BB-33FB-B3D9-A65A-497F41F02CEE}"/>
                  </a:ext>
                </a:extLst>
              </p:cNvPr>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7" name="Text Box 55">
              <a:extLst>
                <a:ext uri="{FF2B5EF4-FFF2-40B4-BE49-F238E27FC236}">
                  <a16:creationId xmlns:a16="http://schemas.microsoft.com/office/drawing/2014/main" id="{7954CCCE-1B41-F3D6-BC78-63397969BBED}"/>
                </a:ext>
              </a:extLst>
            </p:cNvPr>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2" name="标题 1">
            <a:extLst>
              <a:ext uri="{FF2B5EF4-FFF2-40B4-BE49-F238E27FC236}">
                <a16:creationId xmlns:a16="http://schemas.microsoft.com/office/drawing/2014/main" id="{FB00C796-CD2E-D92F-819F-0CD929782618}"/>
              </a:ext>
            </a:extLst>
          </p:cNvPr>
          <p:cNvSpPr>
            <a:spLocks noGrp="1"/>
          </p:cNvSpPr>
          <p:nvPr>
            <p:ph type="title"/>
          </p:nvPr>
        </p:nvSpPr>
        <p:spPr>
          <a:xfrm>
            <a:off x="628650" y="390777"/>
            <a:ext cx="7886700" cy="400110"/>
          </a:xfrm>
        </p:spPr>
        <p:txBody>
          <a:bodyPr/>
          <a:lstStyle/>
          <a:p>
            <a:r>
              <a:rPr lang="zh-CN" altLang="en-US" dirty="0"/>
              <a:t>数据链路层协议数据单元：帧</a:t>
            </a:r>
          </a:p>
        </p:txBody>
      </p:sp>
    </p:spTree>
    <p:custDataLst>
      <p:tags r:id="rId1"/>
    </p:custDataLst>
    <p:extLst>
      <p:ext uri="{BB962C8B-B14F-4D97-AF65-F5344CB8AC3E}">
        <p14:creationId xmlns:p14="http://schemas.microsoft.com/office/powerpoint/2010/main" val="273466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grpId="0" nodeType="clickEffect">
                                  <p:stCondLst>
                                    <p:cond delay="0"/>
                                  </p:stCondLst>
                                  <p:childTnLst>
                                    <p:anim calcmode="discrete" valueType="str">
                                      <p:cBhvr>
                                        <p:cTn id="6" dur="1000" fill="hold"/>
                                        <p:tgtEl>
                                          <p:spTgt spid="19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par>
                          <p:cTn id="19" fill="hold">
                            <p:stCondLst>
                              <p:cond delay="0"/>
                            </p:stCondLst>
                            <p:childTnLst>
                              <p:par>
                                <p:cTn id="20" presetID="35" presetClass="emph" presetSubtype="0" repeatCount="4000" fill="hold" nodeType="afterEffect">
                                  <p:stCondLst>
                                    <p:cond delay="0"/>
                                  </p:stCondLst>
                                  <p:childTnLst>
                                    <p:anim calcmode="discrete" valueType="str">
                                      <p:cBhvr>
                                        <p:cTn id="21" dur="1000" fill="hold"/>
                                        <p:tgtEl>
                                          <p:spTgt spid="13"/>
                                        </p:tgtEl>
                                        <p:attrNameLst>
                                          <p:attrName>style.visibility</p:attrName>
                                        </p:attrNameLst>
                                      </p:cBhvr>
                                      <p:tavLst>
                                        <p:tav tm="0">
                                          <p:val>
                                            <p:strVal val="hidden"/>
                                          </p:val>
                                        </p:tav>
                                        <p:tav tm="50000">
                                          <p:val>
                                            <p:strVal val="visible"/>
                                          </p:val>
                                        </p:tav>
                                      </p:tavLst>
                                    </p:anim>
                                  </p:childTnLst>
                                  <p:subTnLst>
                                    <p:set>
                                      <p:cBhvr override="childStyle">
                                        <p:cTn dur="1" fill="hold" display="0" masterRel="sameClick" afterEffect="1">
                                          <p:stCondLst>
                                            <p:cond evt="end" delay="0">
                                              <p:tn val="20"/>
                                            </p:cond>
                                          </p:stCondLst>
                                        </p:cTn>
                                        <p:tgtEl>
                                          <p:spTgt spid="13"/>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35" presetClass="emph" presetSubtype="0" repeatCount="3000" fill="hold" nodeType="clickEffect">
                                  <p:stCondLst>
                                    <p:cond delay="0"/>
                                  </p:stCondLst>
                                  <p:childTnLst>
                                    <p:anim calcmode="discrete" valueType="str">
                                      <p:cBhvr>
                                        <p:cTn id="25"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35" presetClass="emph" presetSubtype="0" repeatCount="2000" fill="hold" grpId="0" nodeType="clickEffect">
                                  <p:stCondLst>
                                    <p:cond delay="0"/>
                                  </p:stCondLst>
                                  <p:childTnLst>
                                    <p:anim calcmode="discrete" valueType="str">
                                      <p:cBhvr>
                                        <p:cTn id="29" dur="1000" fill="hold"/>
                                        <p:tgtEl>
                                          <p:spTgt spid="140"/>
                                        </p:tgtEl>
                                        <p:attrNameLst>
                                          <p:attrName>style.visibility</p:attrName>
                                        </p:attrNameLst>
                                      </p:cBhvr>
                                      <p:tavLst>
                                        <p:tav tm="0">
                                          <p:val>
                                            <p:strVal val="hidden"/>
                                          </p:val>
                                        </p:tav>
                                        <p:tav tm="50000">
                                          <p:val>
                                            <p:strVal val="visible"/>
                                          </p:val>
                                        </p:tav>
                                      </p:tavLst>
                                    </p:anim>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nodeType="clickEffect">
                                  <p:stCondLst>
                                    <p:cond delay="0"/>
                                  </p:stCondLst>
                                  <p:childTnLst>
                                    <p:animMotion origin="layout" path="M -1.38889E-6 2.96296E-6 L 0.25538 2.96296E-6 " pathEditMode="relative" rAng="0" ptsTypes="AA">
                                      <p:cBhvr>
                                        <p:cTn id="33" dur="2000" fill="hold"/>
                                        <p:tgtEl>
                                          <p:spTgt spid="15"/>
                                        </p:tgtEl>
                                        <p:attrNameLst>
                                          <p:attrName>ppt_x</p:attrName>
                                          <p:attrName>ppt_y</p:attrName>
                                        </p:attrNameLst>
                                      </p:cBhvr>
                                      <p:rCtr x="12760" y="0"/>
                                    </p:animMotion>
                                  </p:childTnLst>
                                  <p:subTnLst>
                                    <p:set>
                                      <p:cBhvr override="childStyle">
                                        <p:cTn dur="1" fill="hold" display="0" masterRel="sameClick" afterEffect="1">
                                          <p:stCondLst>
                                            <p:cond evt="end" delay="0">
                                              <p:tn val="32"/>
                                            </p:cond>
                                          </p:stCondLst>
                                        </p:cTn>
                                        <p:tgtEl>
                                          <p:spTgt spid="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P spid="19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466345" y="1014452"/>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42913" indent="-342900">
              <a:lnSpc>
                <a:spcPts val="3300"/>
              </a:lnSpc>
              <a:buClr>
                <a:srgbClr val="7030A0"/>
              </a:buClr>
              <a:buFont typeface="+mj-lt"/>
              <a:buAutoNum type="arabicPeriod"/>
            </a:pPr>
            <a:r>
              <a:rPr lang="zh-CN" altLang="en-US" dirty="0"/>
              <a:t>封装成帧</a:t>
            </a:r>
          </a:p>
          <a:p>
            <a:pPr marL="442913" indent="-342900">
              <a:lnSpc>
                <a:spcPts val="3300"/>
              </a:lnSpc>
              <a:buClr>
                <a:srgbClr val="7030A0"/>
              </a:buClr>
              <a:buFont typeface="+mj-lt"/>
              <a:buAutoNum type="arabicPeriod"/>
            </a:pPr>
            <a:r>
              <a:rPr lang="zh-CN" altLang="en-US" dirty="0"/>
              <a:t>透明传输</a:t>
            </a:r>
          </a:p>
          <a:p>
            <a:pPr marL="442913" indent="-342900">
              <a:lnSpc>
                <a:spcPts val="3300"/>
              </a:lnSpc>
              <a:buClr>
                <a:srgbClr val="7030A0"/>
              </a:buClr>
              <a:buFont typeface="+mj-lt"/>
              <a:buAutoNum type="arabicPeriod"/>
            </a:pPr>
            <a:r>
              <a:rPr lang="zh-CN" altLang="en-US" dirty="0"/>
              <a:t>差错检测 </a:t>
            </a:r>
          </a:p>
        </p:txBody>
      </p:sp>
      <p:sp>
        <p:nvSpPr>
          <p:cNvPr id="5" name="标题 4">
            <a:extLst>
              <a:ext uri="{FF2B5EF4-FFF2-40B4-BE49-F238E27FC236}">
                <a16:creationId xmlns:a16="http://schemas.microsoft.com/office/drawing/2014/main" id="{679970BE-4D7A-B7C2-EA9E-6880DCCEEE2C}"/>
              </a:ext>
            </a:extLst>
          </p:cNvPr>
          <p:cNvSpPr>
            <a:spLocks noGrp="1"/>
          </p:cNvSpPr>
          <p:nvPr>
            <p:ph type="title"/>
          </p:nvPr>
        </p:nvSpPr>
        <p:spPr>
          <a:xfrm>
            <a:off x="628650" y="390777"/>
            <a:ext cx="7886700" cy="400110"/>
          </a:xfrm>
        </p:spPr>
        <p:txBody>
          <a:bodyPr/>
          <a:lstStyle/>
          <a:p>
            <a:r>
              <a:rPr lang="en-US" altLang="zh-CN" dirty="0"/>
              <a:t>3.1.2  </a:t>
            </a:r>
            <a:r>
              <a:rPr lang="zh-CN" altLang="en-US" dirty="0"/>
              <a:t>三个基本问题 </a:t>
            </a:r>
          </a:p>
        </p:txBody>
      </p:sp>
    </p:spTree>
    <p:extLst>
      <p:ext uri="{BB962C8B-B14F-4D97-AF65-F5344CB8AC3E}">
        <p14:creationId xmlns:p14="http://schemas.microsoft.com/office/powerpoint/2010/main" val="300068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6"/>
          <p:cNvSpPr>
            <a:spLocks noChangeArrowheads="1"/>
          </p:cNvSpPr>
          <p:nvPr/>
        </p:nvSpPr>
        <p:spPr bwMode="auto">
          <a:xfrm>
            <a:off x="466346" y="979840"/>
            <a:ext cx="8335910" cy="810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封装成帧</a:t>
            </a:r>
            <a:r>
              <a:rPr lang="zh-CN" altLang="en-US" b="1" dirty="0">
                <a:solidFill>
                  <a:srgbClr val="0000FF"/>
                </a:solidFill>
                <a:latin typeface="微软雅黑" pitchFamily="34" charset="-122"/>
                <a:ea typeface="微软雅黑" pitchFamily="34" charset="-122"/>
              </a:rPr>
              <a:t> </a:t>
            </a:r>
            <a:r>
              <a:rPr lang="en-US" altLang="zh-CN" b="1" dirty="0">
                <a:latin typeface="微软雅黑" pitchFamily="34" charset="-122"/>
                <a:ea typeface="微软雅黑" pitchFamily="34" charset="-122"/>
              </a:rPr>
              <a:t>(framing)</a:t>
            </a:r>
            <a:r>
              <a:rPr lang="zh-CN" altLang="en-US" b="1" dirty="0">
                <a:latin typeface="微软雅黑" pitchFamily="34" charset="-122"/>
                <a:ea typeface="微软雅黑" pitchFamily="34" charset="-122"/>
              </a:rPr>
              <a:t>：在一段数据的前后分别添加首部和尾部，构成一个帧。</a:t>
            </a:r>
            <a:endParaRPr lang="en-US" altLang="zh-CN"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首部和尾部的一个重要作用就是进行</a:t>
            </a:r>
            <a:r>
              <a:rPr lang="zh-CN" altLang="en-US" b="1" dirty="0">
                <a:solidFill>
                  <a:srgbClr val="0000FF"/>
                </a:solidFill>
                <a:latin typeface="微软雅黑" pitchFamily="34" charset="-122"/>
                <a:ea typeface="微软雅黑" pitchFamily="34" charset="-122"/>
              </a:rPr>
              <a:t>帧定界</a:t>
            </a:r>
            <a:r>
              <a:rPr lang="zh-CN" altLang="en-US" b="1" dirty="0">
                <a:latin typeface="微软雅黑" pitchFamily="34" charset="-122"/>
                <a:ea typeface="微软雅黑" pitchFamily="34" charset="-122"/>
              </a:rPr>
              <a:t>（即确定帧的界限）。 </a:t>
            </a:r>
          </a:p>
        </p:txBody>
      </p:sp>
      <p:sp>
        <p:nvSpPr>
          <p:cNvPr id="31" name="Rectangle 7"/>
          <p:cNvSpPr>
            <a:spLocks noChangeArrowheads="1"/>
          </p:cNvSpPr>
          <p:nvPr/>
        </p:nvSpPr>
        <p:spPr bwMode="auto">
          <a:xfrm>
            <a:off x="2593903" y="2591723"/>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zh-CN" altLang="en-US" sz="1200" b="1" dirty="0">
                <a:latin typeface="微软雅黑" pitchFamily="34" charset="-122"/>
                <a:ea typeface="微软雅黑" pitchFamily="34" charset="-122"/>
              </a:rPr>
              <a:t>帧的数据部分</a:t>
            </a:r>
          </a:p>
        </p:txBody>
      </p:sp>
      <p:grpSp>
        <p:nvGrpSpPr>
          <p:cNvPr id="5" name="组合 4">
            <a:extLst>
              <a:ext uri="{FF2B5EF4-FFF2-40B4-BE49-F238E27FC236}">
                <a16:creationId xmlns:a16="http://schemas.microsoft.com/office/drawing/2014/main" id="{7E2F9C76-D39F-FBE6-5CE5-4453C0589250}"/>
              </a:ext>
            </a:extLst>
          </p:cNvPr>
          <p:cNvGrpSpPr/>
          <p:nvPr/>
        </p:nvGrpSpPr>
        <p:grpSpPr>
          <a:xfrm>
            <a:off x="1880429" y="2591723"/>
            <a:ext cx="3983876" cy="329295"/>
            <a:chOff x="1880429" y="2591723"/>
            <a:chExt cx="3983876" cy="329295"/>
          </a:xfrm>
        </p:grpSpPr>
        <p:sp>
          <p:nvSpPr>
            <p:cNvPr id="29" name="Rectangle 5"/>
            <p:cNvSpPr>
              <a:spLocks noChangeArrowheads="1"/>
            </p:cNvSpPr>
            <p:nvPr/>
          </p:nvSpPr>
          <p:spPr bwMode="auto">
            <a:xfrm>
              <a:off x="1880429"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帧首部</a:t>
              </a:r>
            </a:p>
          </p:txBody>
        </p:sp>
        <p:sp>
          <p:nvSpPr>
            <p:cNvPr id="32" name="Rectangle 8"/>
            <p:cNvSpPr>
              <a:spLocks noChangeArrowheads="1"/>
            </p:cNvSpPr>
            <p:nvPr/>
          </p:nvSpPr>
          <p:spPr bwMode="auto">
            <a:xfrm>
              <a:off x="5150832"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dirty="0">
                  <a:solidFill>
                    <a:schemeClr val="bg1"/>
                  </a:solidFill>
                  <a:latin typeface="微软雅黑" pitchFamily="34" charset="-122"/>
                  <a:ea typeface="微软雅黑" pitchFamily="34" charset="-122"/>
                </a:rPr>
                <a:t>帧尾部</a:t>
              </a:r>
            </a:p>
          </p:txBody>
        </p:sp>
      </p:grpSp>
      <p:sp>
        <p:nvSpPr>
          <p:cNvPr id="36" name="Line 12"/>
          <p:cNvSpPr>
            <a:spLocks noChangeShapeType="1"/>
          </p:cNvSpPr>
          <p:nvPr/>
        </p:nvSpPr>
        <p:spPr bwMode="auto">
          <a:xfrm>
            <a:off x="5864305" y="2986702"/>
            <a:ext cx="0" cy="5920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7" name="Line 13"/>
          <p:cNvSpPr>
            <a:spLocks noChangeShapeType="1"/>
          </p:cNvSpPr>
          <p:nvPr/>
        </p:nvSpPr>
        <p:spPr bwMode="auto">
          <a:xfrm>
            <a:off x="2593902"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8" name="Line 14"/>
          <p:cNvSpPr>
            <a:spLocks noChangeShapeType="1"/>
          </p:cNvSpPr>
          <p:nvPr/>
        </p:nvSpPr>
        <p:spPr bwMode="auto">
          <a:xfrm>
            <a:off x="5150831"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9" name="组合 8">
            <a:extLst>
              <a:ext uri="{FF2B5EF4-FFF2-40B4-BE49-F238E27FC236}">
                <a16:creationId xmlns:a16="http://schemas.microsoft.com/office/drawing/2014/main" id="{BFA8E79B-0063-F6CD-8DBD-4CBBAE67D09C}"/>
              </a:ext>
            </a:extLst>
          </p:cNvPr>
          <p:cNvGrpSpPr/>
          <p:nvPr/>
        </p:nvGrpSpPr>
        <p:grpSpPr>
          <a:xfrm>
            <a:off x="2593903" y="2949899"/>
            <a:ext cx="2556929" cy="276999"/>
            <a:chOff x="2593903" y="2949899"/>
            <a:chExt cx="2556929" cy="276999"/>
          </a:xfrm>
        </p:grpSpPr>
        <p:sp>
          <p:nvSpPr>
            <p:cNvPr id="33" name="Line 9"/>
            <p:cNvSpPr>
              <a:spLocks noChangeShapeType="1"/>
            </p:cNvSpPr>
            <p:nvPr/>
          </p:nvSpPr>
          <p:spPr bwMode="auto">
            <a:xfrm>
              <a:off x="2593903" y="3085645"/>
              <a:ext cx="255692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9" name="Text Box 15"/>
            <p:cNvSpPr txBox="1">
              <a:spLocks noChangeArrowheads="1"/>
            </p:cNvSpPr>
            <p:nvPr/>
          </p:nvSpPr>
          <p:spPr bwMode="auto">
            <a:xfrm>
              <a:off x="3564923" y="2949899"/>
              <a:ext cx="691215"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sym typeface="Symbol" pitchFamily="18" charset="2"/>
                </a:rPr>
                <a:t> </a:t>
              </a:r>
              <a:r>
                <a:rPr kumimoji="1" lang="en-US" altLang="zh-CN" sz="1200" b="1" dirty="0">
                  <a:solidFill>
                    <a:srgbClr val="0000FF"/>
                  </a:solidFill>
                  <a:latin typeface="微软雅黑" pitchFamily="34" charset="-122"/>
                  <a:ea typeface="微软雅黑" pitchFamily="34" charset="-122"/>
                </a:rPr>
                <a:t>MTU</a:t>
              </a:r>
            </a:p>
          </p:txBody>
        </p:sp>
      </p:grpSp>
      <p:grpSp>
        <p:nvGrpSpPr>
          <p:cNvPr id="6" name="组合 5">
            <a:extLst>
              <a:ext uri="{FF2B5EF4-FFF2-40B4-BE49-F238E27FC236}">
                <a16:creationId xmlns:a16="http://schemas.microsoft.com/office/drawing/2014/main" id="{DE06D3C3-06A8-D12C-318A-85740B2440C7}"/>
              </a:ext>
            </a:extLst>
          </p:cNvPr>
          <p:cNvGrpSpPr/>
          <p:nvPr/>
        </p:nvGrpSpPr>
        <p:grpSpPr>
          <a:xfrm>
            <a:off x="1880429" y="3292372"/>
            <a:ext cx="3983875" cy="276999"/>
            <a:chOff x="1880429" y="3292372"/>
            <a:chExt cx="3983875" cy="276999"/>
          </a:xfrm>
        </p:grpSpPr>
        <p:sp>
          <p:nvSpPr>
            <p:cNvPr id="34" name="Line 10"/>
            <p:cNvSpPr>
              <a:spLocks noChangeShapeType="1"/>
            </p:cNvSpPr>
            <p:nvPr/>
          </p:nvSpPr>
          <p:spPr bwMode="auto">
            <a:xfrm>
              <a:off x="1880429" y="3414106"/>
              <a:ext cx="398387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0" name="Text Box 16"/>
            <p:cNvSpPr txBox="1">
              <a:spLocks noChangeArrowheads="1"/>
            </p:cNvSpPr>
            <p:nvPr/>
          </p:nvSpPr>
          <p:spPr bwMode="auto">
            <a:xfrm>
              <a:off x="3223577" y="3292372"/>
              <a:ext cx="1415772" cy="276999"/>
            </a:xfrm>
            <a:prstGeom prst="rect">
              <a:avLst/>
            </a:prstGeom>
            <a:solidFill>
              <a:srgbClr val="C3E3F9"/>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数据链路层的帧长</a:t>
              </a:r>
            </a:p>
          </p:txBody>
        </p:sp>
      </p:grpSp>
      <p:grpSp>
        <p:nvGrpSpPr>
          <p:cNvPr id="4" name="组合 3">
            <a:extLst>
              <a:ext uri="{FF2B5EF4-FFF2-40B4-BE49-F238E27FC236}">
                <a16:creationId xmlns:a16="http://schemas.microsoft.com/office/drawing/2014/main" id="{C819ED8B-F510-B210-EBD1-C7B368A3A258}"/>
              </a:ext>
            </a:extLst>
          </p:cNvPr>
          <p:cNvGrpSpPr/>
          <p:nvPr/>
        </p:nvGrpSpPr>
        <p:grpSpPr>
          <a:xfrm>
            <a:off x="2593903" y="1999692"/>
            <a:ext cx="2556929" cy="657714"/>
            <a:chOff x="2593903" y="1999692"/>
            <a:chExt cx="2556929" cy="657714"/>
          </a:xfrm>
        </p:grpSpPr>
        <p:sp>
          <p:nvSpPr>
            <p:cNvPr id="30" name="Rectangle 6"/>
            <p:cNvSpPr>
              <a:spLocks noChangeArrowheads="1"/>
            </p:cNvSpPr>
            <p:nvPr/>
          </p:nvSpPr>
          <p:spPr bwMode="auto">
            <a:xfrm>
              <a:off x="2593903" y="1999692"/>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IP </a:t>
              </a:r>
              <a:r>
                <a:rPr kumimoji="1" lang="zh-CN" altLang="en-US" sz="1200" b="1">
                  <a:latin typeface="微软雅黑" pitchFamily="34" charset="-122"/>
                  <a:ea typeface="微软雅黑" pitchFamily="34" charset="-122"/>
                </a:rPr>
                <a:t>数据报</a:t>
              </a:r>
            </a:p>
          </p:txBody>
        </p:sp>
        <p:sp>
          <p:nvSpPr>
            <p:cNvPr id="41" name="AutoShape 17"/>
            <p:cNvSpPr>
              <a:spLocks noChangeArrowheads="1"/>
            </p:cNvSpPr>
            <p:nvPr/>
          </p:nvSpPr>
          <p:spPr bwMode="auto">
            <a:xfrm>
              <a:off x="3664113" y="2328987"/>
              <a:ext cx="416509" cy="328419"/>
            </a:xfrm>
            <a:prstGeom prst="downArrow">
              <a:avLst>
                <a:gd name="adj1" fmla="val 50000"/>
                <a:gd name="adj2" fmla="val 25000"/>
              </a:avLst>
            </a:prstGeom>
            <a:solidFill>
              <a:schemeClr val="accent6">
                <a:lumMod val="60000"/>
                <a:lumOff val="40000"/>
              </a:schemeClr>
            </a:solidFill>
            <a:ln w="12700">
              <a:solidFill>
                <a:schemeClr val="tx1"/>
              </a:solidFill>
              <a:miter lim="800000"/>
              <a:headEnd/>
              <a:tailEnd/>
            </a:ln>
            <a:effectLst/>
          </p:spPr>
          <p:txBody>
            <a:bodyPr vert="eaVert" wrap="none" anchor="ctr"/>
            <a:lstStyle/>
            <a:p>
              <a:endParaRPr lang="zh-CN" altLang="en-US" sz="1400" b="1">
                <a:latin typeface="微软雅黑" pitchFamily="34" charset="-122"/>
                <a:ea typeface="微软雅黑" pitchFamily="34" charset="-122"/>
              </a:endParaRPr>
            </a:p>
          </p:txBody>
        </p:sp>
      </p:grpSp>
      <p:grpSp>
        <p:nvGrpSpPr>
          <p:cNvPr id="8" name="组合 7">
            <a:extLst>
              <a:ext uri="{FF2B5EF4-FFF2-40B4-BE49-F238E27FC236}">
                <a16:creationId xmlns:a16="http://schemas.microsoft.com/office/drawing/2014/main" id="{22C00796-864F-EE2E-63CC-AEA3E42F4A46}"/>
              </a:ext>
            </a:extLst>
          </p:cNvPr>
          <p:cNvGrpSpPr/>
          <p:nvPr/>
        </p:nvGrpSpPr>
        <p:grpSpPr>
          <a:xfrm>
            <a:off x="1223841" y="2962128"/>
            <a:ext cx="1315172" cy="826666"/>
            <a:chOff x="1223841" y="2962128"/>
            <a:chExt cx="1315172" cy="826666"/>
          </a:xfrm>
        </p:grpSpPr>
        <p:sp>
          <p:nvSpPr>
            <p:cNvPr id="35" name="Line 11"/>
            <p:cNvSpPr>
              <a:spLocks noChangeShapeType="1"/>
            </p:cNvSpPr>
            <p:nvPr/>
          </p:nvSpPr>
          <p:spPr bwMode="auto">
            <a:xfrm>
              <a:off x="1880429" y="2962128"/>
              <a:ext cx="0" cy="592031"/>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2" name="Text Box 18"/>
            <p:cNvSpPr txBox="1">
              <a:spLocks noChangeArrowheads="1"/>
            </p:cNvSpPr>
            <p:nvPr/>
          </p:nvSpPr>
          <p:spPr bwMode="auto">
            <a:xfrm>
              <a:off x="1223841" y="3511795"/>
              <a:ext cx="1315172"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从这里开始发送</a:t>
              </a:r>
            </a:p>
          </p:txBody>
        </p:sp>
      </p:grpSp>
      <p:grpSp>
        <p:nvGrpSpPr>
          <p:cNvPr id="7" name="组合 6">
            <a:extLst>
              <a:ext uri="{FF2B5EF4-FFF2-40B4-BE49-F238E27FC236}">
                <a16:creationId xmlns:a16="http://schemas.microsoft.com/office/drawing/2014/main" id="{1963391D-7129-127C-7538-29869196F6E9}"/>
              </a:ext>
            </a:extLst>
          </p:cNvPr>
          <p:cNvGrpSpPr/>
          <p:nvPr/>
        </p:nvGrpSpPr>
        <p:grpSpPr>
          <a:xfrm>
            <a:off x="1567837" y="2068003"/>
            <a:ext cx="4616298" cy="490440"/>
            <a:chOff x="1567837" y="2068003"/>
            <a:chExt cx="4616298" cy="490440"/>
          </a:xfrm>
        </p:grpSpPr>
        <p:sp>
          <p:nvSpPr>
            <p:cNvPr id="28" name="Text Box 4"/>
            <p:cNvSpPr txBox="1">
              <a:spLocks noChangeArrowheads="1"/>
            </p:cNvSpPr>
            <p:nvPr/>
          </p:nvSpPr>
          <p:spPr bwMode="auto">
            <a:xfrm>
              <a:off x="5537804" y="2068003"/>
              <a:ext cx="646331" cy="276999"/>
            </a:xfrm>
            <a:prstGeom prst="rect">
              <a:avLst/>
            </a:prstGeom>
            <a:no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帧结束</a:t>
              </a:r>
            </a:p>
          </p:txBody>
        </p:sp>
        <p:sp>
          <p:nvSpPr>
            <p:cNvPr id="43" name="Line 19"/>
            <p:cNvSpPr>
              <a:spLocks noChangeShapeType="1"/>
            </p:cNvSpPr>
            <p:nvPr/>
          </p:nvSpPr>
          <p:spPr bwMode="auto">
            <a:xfrm flipV="1">
              <a:off x="1885173"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Line 20"/>
            <p:cNvSpPr>
              <a:spLocks noChangeShapeType="1"/>
            </p:cNvSpPr>
            <p:nvPr/>
          </p:nvSpPr>
          <p:spPr bwMode="auto">
            <a:xfrm flipV="1">
              <a:off x="5860510"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Text Box 21"/>
            <p:cNvSpPr txBox="1">
              <a:spLocks noChangeArrowheads="1"/>
            </p:cNvSpPr>
            <p:nvPr/>
          </p:nvSpPr>
          <p:spPr bwMode="auto">
            <a:xfrm>
              <a:off x="1567837" y="2068003"/>
              <a:ext cx="646331" cy="276999"/>
            </a:xfrm>
            <a:prstGeom prst="rect">
              <a:avLst/>
            </a:prstGeom>
            <a:no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a:t>
              </a:r>
            </a:p>
          </p:txBody>
        </p:sp>
      </p:grpSp>
      <p:sp>
        <p:nvSpPr>
          <p:cNvPr id="46" name="Line 11"/>
          <p:cNvSpPr>
            <a:spLocks noChangeShapeType="1"/>
          </p:cNvSpPr>
          <p:nvPr/>
        </p:nvSpPr>
        <p:spPr bwMode="auto">
          <a:xfrm rot="16200000">
            <a:off x="1601611" y="2505290"/>
            <a:ext cx="0" cy="516425"/>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18"/>
          <p:cNvSpPr txBox="1">
            <a:spLocks noChangeArrowheads="1"/>
          </p:cNvSpPr>
          <p:nvPr/>
        </p:nvSpPr>
        <p:spPr bwMode="auto">
          <a:xfrm>
            <a:off x="901643" y="2627647"/>
            <a:ext cx="536024"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a:t>
            </a:r>
          </a:p>
        </p:txBody>
      </p:sp>
      <p:sp>
        <p:nvSpPr>
          <p:cNvPr id="48" name="矩形 47"/>
          <p:cNvSpPr/>
          <p:nvPr/>
        </p:nvSpPr>
        <p:spPr>
          <a:xfrm>
            <a:off x="2085018" y="4007602"/>
            <a:ext cx="315818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用帧首部和帧尾部封装成帧</a:t>
            </a:r>
            <a:endParaRPr lang="zh-CN" altLang="en-US" b="1" dirty="0">
              <a:latin typeface="微软雅黑" pitchFamily="34" charset="-122"/>
              <a:ea typeface="微软雅黑" pitchFamily="34" charset="-122"/>
            </a:endParaRPr>
          </a:p>
        </p:txBody>
      </p:sp>
      <p:sp>
        <p:nvSpPr>
          <p:cNvPr id="2" name="矩形 1"/>
          <p:cNvSpPr/>
          <p:nvPr/>
        </p:nvSpPr>
        <p:spPr>
          <a:xfrm>
            <a:off x="6715070" y="2164339"/>
            <a:ext cx="2079564" cy="1323439"/>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600" b="1" dirty="0">
                <a:solidFill>
                  <a:srgbClr val="C00000"/>
                </a:solidFill>
                <a:latin typeface="微软雅黑" panose="020B0503020204020204" pitchFamily="34" charset="-122"/>
                <a:ea typeface="微软雅黑" panose="020B0503020204020204" pitchFamily="34" charset="-122"/>
              </a:rPr>
              <a:t>最大传送单元 </a:t>
            </a:r>
            <a:r>
              <a:rPr lang="en-US" altLang="zh-CN" sz="1600" b="1" dirty="0">
                <a:solidFill>
                  <a:srgbClr val="C00000"/>
                </a:solidFill>
                <a:latin typeface="微软雅黑" panose="020B0503020204020204" pitchFamily="34" charset="-122"/>
                <a:ea typeface="微软雅黑" panose="020B0503020204020204" pitchFamily="34" charset="-122"/>
              </a:rPr>
              <a:t>MTU </a:t>
            </a:r>
            <a:r>
              <a:rPr lang="en-US" altLang="zh-CN" sz="1600" b="1" dirty="0">
                <a:solidFill>
                  <a:srgbClr val="0000FF"/>
                </a:solidFill>
                <a:latin typeface="微软雅黑" panose="020B0503020204020204" pitchFamily="34" charset="-122"/>
                <a:ea typeface="微软雅黑" panose="020B0503020204020204" pitchFamily="34" charset="-122"/>
              </a:rPr>
              <a:t>(Maximum Transfer Unit) </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规定了所能传送的帧的数据部分长度上限。</a:t>
            </a:r>
          </a:p>
        </p:txBody>
      </p:sp>
      <p:sp>
        <p:nvSpPr>
          <p:cNvPr id="3" name="标题 2">
            <a:extLst>
              <a:ext uri="{FF2B5EF4-FFF2-40B4-BE49-F238E27FC236}">
                <a16:creationId xmlns:a16="http://schemas.microsoft.com/office/drawing/2014/main" id="{D8B1F5BE-4920-2498-B914-F7B72156037E}"/>
              </a:ext>
            </a:extLst>
          </p:cNvPr>
          <p:cNvSpPr>
            <a:spLocks noGrp="1"/>
          </p:cNvSpPr>
          <p:nvPr>
            <p:ph type="title"/>
          </p:nvPr>
        </p:nvSpPr>
        <p:spPr>
          <a:xfrm>
            <a:off x="4880040" y="390777"/>
            <a:ext cx="3401184" cy="400110"/>
          </a:xfrm>
        </p:spPr>
        <p:txBody>
          <a:bodyPr/>
          <a:lstStyle/>
          <a:p>
            <a:r>
              <a:rPr lang="zh-CN" altLang="en-US" dirty="0"/>
              <a:t>封装成帧</a:t>
            </a:r>
          </a:p>
        </p:txBody>
      </p:sp>
      <p:sp>
        <p:nvSpPr>
          <p:cNvPr id="11" name="文本占位符 10">
            <a:extLst>
              <a:ext uri="{FF2B5EF4-FFF2-40B4-BE49-F238E27FC236}">
                <a16:creationId xmlns:a16="http://schemas.microsoft.com/office/drawing/2014/main" id="{1107D952-1EB4-8FD1-12D9-FE7F9650B6A3}"/>
              </a:ext>
            </a:extLst>
          </p:cNvPr>
          <p:cNvSpPr>
            <a:spLocks noGrp="1"/>
          </p:cNvSpPr>
          <p:nvPr>
            <p:ph type="body" sz="quarter" idx="10"/>
          </p:nvPr>
        </p:nvSpPr>
        <p:spPr>
          <a:xfrm>
            <a:off x="8482487" y="413294"/>
            <a:ext cx="756000" cy="369332"/>
          </a:xfrm>
        </p:spPr>
        <p:txBody>
          <a:bodyPr/>
          <a:lstStyle/>
          <a:p>
            <a:r>
              <a:rPr lang="en-US" altLang="zh-CN" dirty="0"/>
              <a:t>01</a:t>
            </a:r>
            <a:endParaRPr lang="zh-CN" altLang="en-US" dirty="0"/>
          </a:p>
        </p:txBody>
      </p:sp>
    </p:spTree>
    <p:custDataLst>
      <p:tags r:id="rId1"/>
    </p:custDataLst>
    <p:extLst>
      <p:ext uri="{BB962C8B-B14F-4D97-AF65-F5344CB8AC3E}">
        <p14:creationId xmlns:p14="http://schemas.microsoft.com/office/powerpoint/2010/main" val="312227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2000" fill="hold" grpId="0" nodeType="clickEffect">
                                  <p:stCondLst>
                                    <p:cond delay="0"/>
                                  </p:stCondLst>
                                  <p:childTnLst>
                                    <p:anim calcmode="discrete" valueType="str">
                                      <p:cBhvr>
                                        <p:cTn id="13" dur="10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nodeType="clickEffect">
                                  <p:stCondLst>
                                    <p:cond delay="0"/>
                                  </p:stCondLst>
                                  <p:childTnLst>
                                    <p:anim calcmode="discrete" valueType="str">
                                      <p:cBhvr>
                                        <p:cTn id="17"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nodeType="clickEffect">
                                  <p:stCondLst>
                                    <p:cond delay="0"/>
                                  </p:stCondLst>
                                  <p:childTnLst>
                                    <p:anim calcmode="discrete" valueType="str">
                                      <p:cBhvr>
                                        <p:cTn id="21"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3000" fill="hold" nodeType="clickEffect">
                                  <p:stCondLst>
                                    <p:cond delay="0"/>
                                  </p:stCondLst>
                                  <p:childTnLst>
                                    <p:anim calcmode="discrete" valueType="str">
                                      <p:cBhvr>
                                        <p:cTn id="25"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4">
                                            <p:txEl>
                                              <p:pRg st="1" end="1"/>
                                            </p:txEl>
                                          </p:spTgt>
                                        </p:tgtEl>
                                        <p:attrNameLst>
                                          <p:attrName>style.visibility</p:attrName>
                                        </p:attrNameLst>
                                      </p:cBhvr>
                                      <p:to>
                                        <p:strVal val="visible"/>
                                      </p:to>
                                    </p:set>
                                    <p:animEffect transition="in" filter="fade">
                                      <p:cBhvr>
                                        <p:cTn id="30" dur="1000"/>
                                        <p:tgtEl>
                                          <p:spTgt spid="14">
                                            <p:txEl>
                                              <p:pRg st="1" end="1"/>
                                            </p:txEl>
                                          </p:spTgt>
                                        </p:tgtEl>
                                      </p:cBhvr>
                                    </p:animEffect>
                                    <p:anim calcmode="lin" valueType="num">
                                      <p:cBhvr>
                                        <p:cTn id="31"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35" presetClass="emph" presetSubtype="0" repeatCount="3000" fill="hold" nodeType="afterEffect">
                                  <p:stCondLst>
                                    <p:cond delay="0"/>
                                  </p:stCondLst>
                                  <p:childTnLst>
                                    <p:anim calcmode="discrete" valueType="str">
                                      <p:cBhvr>
                                        <p:cTn id="35"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36" fill="hold">
                      <p:stCondLst>
                        <p:cond delay="indefinite"/>
                      </p:stCondLst>
                      <p:childTnLst>
                        <p:par>
                          <p:cTn id="37" fill="hold">
                            <p:stCondLst>
                              <p:cond delay="0"/>
                            </p:stCondLst>
                            <p:childTnLst>
                              <p:par>
                                <p:cTn id="38" presetID="35" presetClass="emph" presetSubtype="0" repeatCount="3000" fill="hold" nodeType="clickEffect">
                                  <p:stCondLst>
                                    <p:cond delay="0"/>
                                  </p:stCondLst>
                                  <p:childTnLst>
                                    <p:anim calcmode="discrete" valueType="str">
                                      <p:cBhvr>
                                        <p:cTn id="39"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35" presetClass="emph" presetSubtype="0" repeatCount="3000" fill="hold" nodeType="clickEffect">
                                  <p:stCondLst>
                                    <p:cond delay="0"/>
                                  </p:stCondLst>
                                  <p:childTnLst>
                                    <p:anim calcmode="discrete" valueType="str">
                                      <p:cBhvr>
                                        <p:cTn id="43" dur="1000" fill="hold"/>
                                        <p:tgtEl>
                                          <p:spTgt spid="9"/>
                                        </p:tgtEl>
                                        <p:attrNameLst>
                                          <p:attrName>style.visibility</p:attrName>
                                        </p:attrNameLst>
                                      </p:cBhvr>
                                      <p:tavLst>
                                        <p:tav tm="0">
                                          <p:val>
                                            <p:strVal val="hidden"/>
                                          </p:val>
                                        </p:tav>
                                        <p:tav tm="50000">
                                          <p:val>
                                            <p:strVal val="visible"/>
                                          </p:val>
                                        </p:tav>
                                      </p:tavLst>
                                    </p:anim>
                                  </p:childTnLst>
                                </p:cTn>
                              </p:par>
                              <p:par>
                                <p:cTn id="44" presetID="35" presetClass="emph" presetSubtype="0" repeatCount="3000" fill="hold" grpId="0" nodeType="withEffect">
                                  <p:stCondLst>
                                    <p:cond delay="0"/>
                                  </p:stCondLst>
                                  <p:childTnLst>
                                    <p:anim calcmode="discrete" valueType="str">
                                      <p:cBhvr>
                                        <p:cTn id="45"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48"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466344" y="2032178"/>
            <a:ext cx="8129015" cy="169007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AutoShape 5"/>
          <p:cNvSpPr>
            <a:spLocks noChangeArrowheads="1"/>
          </p:cNvSpPr>
          <p:nvPr/>
        </p:nvSpPr>
        <p:spPr bwMode="auto">
          <a:xfrm>
            <a:off x="466344" y="574694"/>
            <a:ext cx="8129015" cy="36765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p:cNvSpPr/>
          <p:nvPr/>
        </p:nvSpPr>
        <p:spPr>
          <a:xfrm>
            <a:off x="616085" y="561994"/>
            <a:ext cx="7810365" cy="400110"/>
          </a:xfrm>
          <a:prstGeom prst="rect">
            <a:avLst/>
          </a:prstGeom>
        </p:spPr>
        <p:txBody>
          <a:bodyPr wrap="square">
            <a:spAutoFit/>
          </a:bodyPr>
          <a:lstStyle/>
          <a:p>
            <a:pPr algn="ctr"/>
            <a:r>
              <a:rPr lang="zh-CN" altLang="en-US" sz="2000" b="1" dirty="0">
                <a:latin typeface="微软雅黑" pitchFamily="34" charset="-122"/>
                <a:ea typeface="微软雅黑" pitchFamily="34" charset="-122"/>
              </a:rPr>
              <a:t>用控制字符作为帧定界符</a:t>
            </a:r>
          </a:p>
        </p:txBody>
      </p:sp>
      <p:sp>
        <p:nvSpPr>
          <p:cNvPr id="35" name="矩形 34"/>
          <p:cNvSpPr/>
          <p:nvPr/>
        </p:nvSpPr>
        <p:spPr>
          <a:xfrm>
            <a:off x="466344" y="1141099"/>
            <a:ext cx="8129015" cy="753220"/>
          </a:xfrm>
          <a:prstGeom prst="rect">
            <a:avLst/>
          </a:prstGeom>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SOH (Start Of Header) </a:t>
            </a:r>
            <a:r>
              <a:rPr lang="zh-CN" altLang="en-US" b="1" dirty="0">
                <a:latin typeface="微软雅黑" pitchFamily="34" charset="-122"/>
                <a:ea typeface="微软雅黑" pitchFamily="34" charset="-122"/>
              </a:rPr>
              <a:t>放在一帧的最前面，表示帧的首部开始。</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EOT (End Of Transmission) </a:t>
            </a:r>
            <a:r>
              <a:rPr lang="zh-CN" altLang="en-US" b="1" dirty="0">
                <a:latin typeface="微软雅黑" pitchFamily="34" charset="-122"/>
                <a:ea typeface="微软雅黑" pitchFamily="34" charset="-122"/>
              </a:rPr>
              <a:t>放在一帧的末尾，表示帧的结束。</a:t>
            </a:r>
          </a:p>
        </p:txBody>
      </p:sp>
      <p:sp>
        <p:nvSpPr>
          <p:cNvPr id="37" name="Rectangle 5"/>
          <p:cNvSpPr>
            <a:spLocks noChangeArrowheads="1"/>
          </p:cNvSpPr>
          <p:nvPr/>
        </p:nvSpPr>
        <p:spPr bwMode="auto">
          <a:xfrm>
            <a:off x="2285225" y="2626345"/>
            <a:ext cx="4357403" cy="338446"/>
          </a:xfrm>
          <a:prstGeom prst="rect">
            <a:avLst/>
          </a:prstGeom>
          <a:solidFill>
            <a:srgbClr val="00FFFF"/>
          </a:solidFill>
          <a:ln w="12700">
            <a:solidFill>
              <a:schemeClr val="tx1"/>
            </a:solidFill>
            <a:miter lim="800000"/>
            <a:headEnd/>
            <a:tailEnd/>
          </a:ln>
          <a:effectLst/>
        </p:spPr>
        <p:txBody>
          <a:bodyPr wrap="none" anchor="ctr"/>
          <a:lstStyle/>
          <a:p>
            <a:pPr algn="ctr"/>
            <a:r>
              <a:rPr kumimoji="1" lang="zh-CN" altLang="en-US" sz="1400" b="1" dirty="0">
                <a:solidFill>
                  <a:srgbClr val="000099"/>
                </a:solidFill>
                <a:latin typeface="微软雅黑" pitchFamily="34" charset="-122"/>
                <a:ea typeface="微软雅黑" pitchFamily="34" charset="-122"/>
              </a:rPr>
              <a:t>装在帧中的数据部分</a:t>
            </a:r>
          </a:p>
        </p:txBody>
      </p:sp>
      <p:sp>
        <p:nvSpPr>
          <p:cNvPr id="38" name="Line 6"/>
          <p:cNvSpPr>
            <a:spLocks noChangeShapeType="1"/>
          </p:cNvSpPr>
          <p:nvPr/>
        </p:nvSpPr>
        <p:spPr bwMode="auto">
          <a:xfrm>
            <a:off x="1954605" y="3190747"/>
            <a:ext cx="5019704"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9" name="Text Box 7"/>
          <p:cNvSpPr txBox="1">
            <a:spLocks noChangeArrowheads="1"/>
          </p:cNvSpPr>
          <p:nvPr/>
        </p:nvSpPr>
        <p:spPr bwMode="auto">
          <a:xfrm>
            <a:off x="4313343" y="3156813"/>
            <a:ext cx="389851"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帧</a:t>
            </a:r>
          </a:p>
        </p:txBody>
      </p:sp>
      <p:sp>
        <p:nvSpPr>
          <p:cNvPr id="44" name="Line 12"/>
          <p:cNvSpPr>
            <a:spLocks noChangeShapeType="1"/>
          </p:cNvSpPr>
          <p:nvPr/>
        </p:nvSpPr>
        <p:spPr bwMode="auto">
          <a:xfrm flipV="1">
            <a:off x="1954605" y="2964791"/>
            <a:ext cx="0" cy="338446"/>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5" name="Text Box 13"/>
          <p:cNvSpPr txBox="1">
            <a:spLocks noChangeArrowheads="1"/>
          </p:cNvSpPr>
          <p:nvPr/>
        </p:nvSpPr>
        <p:spPr bwMode="auto">
          <a:xfrm>
            <a:off x="1535403" y="3268021"/>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grpSp>
        <p:nvGrpSpPr>
          <p:cNvPr id="5" name="组合 4">
            <a:extLst>
              <a:ext uri="{FF2B5EF4-FFF2-40B4-BE49-F238E27FC236}">
                <a16:creationId xmlns:a16="http://schemas.microsoft.com/office/drawing/2014/main" id="{36D6BDD0-CCCB-56C0-734C-F413A3312428}"/>
              </a:ext>
            </a:extLst>
          </p:cNvPr>
          <p:cNvGrpSpPr/>
          <p:nvPr/>
        </p:nvGrpSpPr>
        <p:grpSpPr>
          <a:xfrm>
            <a:off x="6414893" y="2156247"/>
            <a:ext cx="800219" cy="808544"/>
            <a:chOff x="6414893" y="2156247"/>
            <a:chExt cx="800219" cy="808544"/>
          </a:xfrm>
        </p:grpSpPr>
        <p:sp>
          <p:nvSpPr>
            <p:cNvPr id="42" name="Text Box 10"/>
            <p:cNvSpPr txBox="1">
              <a:spLocks noChangeArrowheads="1"/>
            </p:cNvSpPr>
            <p:nvPr/>
          </p:nvSpPr>
          <p:spPr bwMode="auto">
            <a:xfrm>
              <a:off x="6414893" y="2156247"/>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帧结束符</a:t>
              </a:r>
            </a:p>
          </p:txBody>
        </p:sp>
        <p:sp>
          <p:nvSpPr>
            <p:cNvPr id="43" name="Line 11"/>
            <p:cNvSpPr>
              <a:spLocks noChangeShapeType="1"/>
            </p:cNvSpPr>
            <p:nvPr/>
          </p:nvSpPr>
          <p:spPr bwMode="auto">
            <a:xfrm>
              <a:off x="6808998" y="2401367"/>
              <a:ext cx="0" cy="224978"/>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6" name="Rectangle 14"/>
            <p:cNvSpPr>
              <a:spLocks noChangeArrowheads="1"/>
            </p:cNvSpPr>
            <p:nvPr/>
          </p:nvSpPr>
          <p:spPr bwMode="auto">
            <a:xfrm>
              <a:off x="6524017" y="2626345"/>
              <a:ext cx="435456" cy="33844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grpSp>
      <p:sp>
        <p:nvSpPr>
          <p:cNvPr id="47" name="矩形 46"/>
          <p:cNvSpPr/>
          <p:nvPr/>
        </p:nvSpPr>
        <p:spPr>
          <a:xfrm>
            <a:off x="2617833" y="3779083"/>
            <a:ext cx="3614221" cy="369332"/>
          </a:xfrm>
          <a:prstGeom prst="rect">
            <a:avLst/>
          </a:prstGeom>
        </p:spPr>
        <p:txBody>
          <a:bodyPr wrap="square">
            <a:spAutoFit/>
          </a:bodyPr>
          <a:lstStyle/>
          <a:p>
            <a:pPr algn="ctr"/>
            <a:r>
              <a:rPr lang="zh-CN" altLang="zh-CN" b="1" dirty="0">
                <a:latin typeface="微软雅黑" pitchFamily="34" charset="-122"/>
                <a:ea typeface="微软雅黑" pitchFamily="34" charset="-122"/>
              </a:rPr>
              <a:t>用控制字符进行帧定界的方法举例</a:t>
            </a:r>
            <a:endParaRPr lang="zh-CN" altLang="en-US" b="1" dirty="0">
              <a:latin typeface="微软雅黑" pitchFamily="34" charset="-122"/>
              <a:ea typeface="微软雅黑" pitchFamily="34" charset="-122"/>
            </a:endParaRPr>
          </a:p>
        </p:txBody>
      </p:sp>
      <p:grpSp>
        <p:nvGrpSpPr>
          <p:cNvPr id="4" name="组合 3">
            <a:extLst>
              <a:ext uri="{FF2B5EF4-FFF2-40B4-BE49-F238E27FC236}">
                <a16:creationId xmlns:a16="http://schemas.microsoft.com/office/drawing/2014/main" id="{72C899C6-B9D4-E573-6E7B-656D0E426E75}"/>
              </a:ext>
            </a:extLst>
          </p:cNvPr>
          <p:cNvGrpSpPr/>
          <p:nvPr/>
        </p:nvGrpSpPr>
        <p:grpSpPr>
          <a:xfrm>
            <a:off x="1767136" y="2156247"/>
            <a:ext cx="800219" cy="808544"/>
            <a:chOff x="1767136" y="2156247"/>
            <a:chExt cx="800219" cy="808544"/>
          </a:xfrm>
        </p:grpSpPr>
        <p:sp>
          <p:nvSpPr>
            <p:cNvPr id="40" name="Line 8"/>
            <p:cNvSpPr>
              <a:spLocks noChangeShapeType="1"/>
            </p:cNvSpPr>
            <p:nvPr/>
          </p:nvSpPr>
          <p:spPr bwMode="auto">
            <a:xfrm>
              <a:off x="2119915" y="2401367"/>
              <a:ext cx="0" cy="224978"/>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3" name="组合 2">
              <a:extLst>
                <a:ext uri="{FF2B5EF4-FFF2-40B4-BE49-F238E27FC236}">
                  <a16:creationId xmlns:a16="http://schemas.microsoft.com/office/drawing/2014/main" id="{1F6A21C7-ADBB-D516-D316-C12FAF003641}"/>
                </a:ext>
              </a:extLst>
            </p:cNvPr>
            <p:cNvGrpSpPr/>
            <p:nvPr/>
          </p:nvGrpSpPr>
          <p:grpSpPr>
            <a:xfrm>
              <a:off x="1767136" y="2156247"/>
              <a:ext cx="800219" cy="808544"/>
              <a:chOff x="1767136" y="2156247"/>
              <a:chExt cx="800219" cy="808544"/>
            </a:xfrm>
          </p:grpSpPr>
          <p:sp>
            <p:nvSpPr>
              <p:cNvPr id="41" name="Text Box 9"/>
              <p:cNvSpPr txBox="1">
                <a:spLocks noChangeArrowheads="1"/>
              </p:cNvSpPr>
              <p:nvPr/>
            </p:nvSpPr>
            <p:spPr bwMode="auto">
              <a:xfrm>
                <a:off x="1767136" y="2156247"/>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帧开始符</a:t>
                </a:r>
              </a:p>
            </p:txBody>
          </p:sp>
          <p:sp>
            <p:nvSpPr>
              <p:cNvPr id="36" name="Rectangle 4"/>
              <p:cNvSpPr>
                <a:spLocks noChangeArrowheads="1"/>
              </p:cNvSpPr>
              <p:nvPr/>
            </p:nvSpPr>
            <p:spPr bwMode="auto">
              <a:xfrm>
                <a:off x="1954604" y="2626345"/>
                <a:ext cx="432313" cy="33844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grpSp>
      </p:grpSp>
    </p:spTree>
    <p:custDataLst>
      <p:tags r:id="rId1"/>
    </p:custDataLst>
    <p:extLst>
      <p:ext uri="{BB962C8B-B14F-4D97-AF65-F5344CB8AC3E}">
        <p14:creationId xmlns:p14="http://schemas.microsoft.com/office/powerpoint/2010/main" val="211704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47BB875-E8DB-79D3-996F-176CB92E15E9}"/>
              </a:ext>
            </a:extLst>
          </p:cNvPr>
          <p:cNvSpPr/>
          <p:nvPr/>
        </p:nvSpPr>
        <p:spPr>
          <a:xfrm>
            <a:off x="466344" y="1033077"/>
            <a:ext cx="8129015" cy="893963"/>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透明</a:t>
            </a:r>
            <a:r>
              <a:rPr lang="zh-CN" altLang="en-US" sz="2000" b="1" dirty="0">
                <a:latin typeface="微软雅黑" pitchFamily="34" charset="-122"/>
                <a:ea typeface="微软雅黑" pitchFamily="34" charset="-122"/>
              </a:rPr>
              <a:t>：指某一个实际存在的事物看起来却好像不存在一样。</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数据链路层对传输上层数据来说是透明的。</a:t>
            </a:r>
            <a:endParaRPr lang="en-US" altLang="zh-CN" sz="2000" b="1" dirty="0">
              <a:latin typeface="微软雅黑" pitchFamily="34" charset="-122"/>
              <a:ea typeface="微软雅黑" pitchFamily="34" charset="-122"/>
            </a:endParaRPr>
          </a:p>
        </p:txBody>
      </p:sp>
      <p:sp>
        <p:nvSpPr>
          <p:cNvPr id="3" name="对角圆角矩形 5">
            <a:extLst>
              <a:ext uri="{FF2B5EF4-FFF2-40B4-BE49-F238E27FC236}">
                <a16:creationId xmlns:a16="http://schemas.microsoft.com/office/drawing/2014/main" id="{93E99A1B-7CC1-63DD-A20E-330789872A71}"/>
              </a:ext>
            </a:extLst>
          </p:cNvPr>
          <p:cNvSpPr/>
          <p:nvPr/>
        </p:nvSpPr>
        <p:spPr>
          <a:xfrm>
            <a:off x="502921" y="2199625"/>
            <a:ext cx="8129015" cy="12700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C8D78752-31E1-83DA-ECB2-BF565EF9F9BF}"/>
              </a:ext>
            </a:extLst>
          </p:cNvPr>
          <p:cNvSpPr/>
          <p:nvPr/>
        </p:nvSpPr>
        <p:spPr>
          <a:xfrm>
            <a:off x="768512" y="2397185"/>
            <a:ext cx="7597832" cy="861774"/>
          </a:xfrm>
          <a:prstGeom prst="rect">
            <a:avLst/>
          </a:prstGeom>
        </p:spPr>
        <p:txBody>
          <a:bodyPr wrap="square">
            <a:spAutoFit/>
          </a:bodyPr>
          <a:lstStyle/>
          <a:p>
            <a:pPr>
              <a:lnSpc>
                <a:spcPts val="3000"/>
              </a:lnSpc>
              <a:spcBef>
                <a:spcPts val="600"/>
              </a:spcBef>
            </a:pPr>
            <a:r>
              <a:rPr lang="zh-CN" altLang="en-US" sz="2000" b="1" dirty="0">
                <a:solidFill>
                  <a:schemeClr val="bg1"/>
                </a:solidFill>
                <a:latin typeface="微软雅黑" pitchFamily="34" charset="-122"/>
                <a:ea typeface="微软雅黑" pitchFamily="34" charset="-122"/>
              </a:rPr>
              <a:t>“在数据链路层透明传送数据”表示：无论发送什么样的比特组合的数据，这些数据都能够按照原样</a:t>
            </a:r>
            <a:r>
              <a:rPr lang="zh-CN" altLang="en-US" sz="2000" b="1" dirty="0">
                <a:solidFill>
                  <a:srgbClr val="FFFF00"/>
                </a:solidFill>
                <a:latin typeface="微软雅黑" pitchFamily="34" charset="-122"/>
                <a:ea typeface="微软雅黑" pitchFamily="34" charset="-122"/>
              </a:rPr>
              <a:t>没有差错</a:t>
            </a:r>
            <a:r>
              <a:rPr lang="zh-CN" altLang="en-US" sz="2000" b="1" dirty="0">
                <a:solidFill>
                  <a:schemeClr val="bg1"/>
                </a:solidFill>
                <a:latin typeface="微软雅黑" pitchFamily="34" charset="-122"/>
                <a:ea typeface="微软雅黑" pitchFamily="34" charset="-122"/>
              </a:rPr>
              <a:t>地通过这个数据链路层。</a:t>
            </a:r>
          </a:p>
        </p:txBody>
      </p:sp>
      <p:sp>
        <p:nvSpPr>
          <p:cNvPr id="5" name="标题 4">
            <a:extLst>
              <a:ext uri="{FF2B5EF4-FFF2-40B4-BE49-F238E27FC236}">
                <a16:creationId xmlns:a16="http://schemas.microsoft.com/office/drawing/2014/main" id="{5691FA66-0732-6240-4193-82E85BCB2963}"/>
              </a:ext>
            </a:extLst>
          </p:cNvPr>
          <p:cNvSpPr>
            <a:spLocks noGrp="1"/>
          </p:cNvSpPr>
          <p:nvPr>
            <p:ph type="title"/>
          </p:nvPr>
        </p:nvSpPr>
        <p:spPr>
          <a:xfrm>
            <a:off x="4880040" y="390777"/>
            <a:ext cx="3401184" cy="400110"/>
          </a:xfrm>
        </p:spPr>
        <p:txBody>
          <a:bodyPr/>
          <a:lstStyle/>
          <a:p>
            <a:r>
              <a:rPr lang="zh-CN" altLang="en-US" dirty="0"/>
              <a:t>透明传输</a:t>
            </a:r>
          </a:p>
        </p:txBody>
      </p:sp>
      <p:sp>
        <p:nvSpPr>
          <p:cNvPr id="6" name="文本占位符 5">
            <a:extLst>
              <a:ext uri="{FF2B5EF4-FFF2-40B4-BE49-F238E27FC236}">
                <a16:creationId xmlns:a16="http://schemas.microsoft.com/office/drawing/2014/main" id="{179DD0EC-B05F-D0CA-88B5-F6A3B74462E0}"/>
              </a:ext>
            </a:extLst>
          </p:cNvPr>
          <p:cNvSpPr>
            <a:spLocks noGrp="1"/>
          </p:cNvSpPr>
          <p:nvPr>
            <p:ph type="body" sz="quarter" idx="10"/>
          </p:nvPr>
        </p:nvSpPr>
        <p:spPr>
          <a:xfrm>
            <a:off x="8482487" y="413294"/>
            <a:ext cx="756000" cy="369332"/>
          </a:xfrm>
        </p:spPr>
        <p:txBody>
          <a:bodyPr/>
          <a:lstStyle/>
          <a:p>
            <a:r>
              <a:rPr lang="en-US" altLang="zh-CN" dirty="0"/>
              <a:t>02</a:t>
            </a:r>
            <a:endParaRPr lang="zh-CN" altLang="en-US" dirty="0"/>
          </a:p>
        </p:txBody>
      </p:sp>
    </p:spTree>
    <p:custDataLst>
      <p:tags r:id="rId1"/>
    </p:custDataLst>
    <p:extLst>
      <p:ext uri="{BB962C8B-B14F-4D97-AF65-F5344CB8AC3E}">
        <p14:creationId xmlns:p14="http://schemas.microsoft.com/office/powerpoint/2010/main" val="859087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fade">
                                      <p:cBhvr>
                                        <p:cTn id="26" dur="1000"/>
                                        <p:tgtEl>
                                          <p:spTgt spid="2">
                                            <p:txEl>
                                              <p:pRg st="1" end="1"/>
                                            </p:txEl>
                                          </p:spTgt>
                                        </p:tgtEl>
                                      </p:cBhvr>
                                    </p:animEffect>
                                    <p:anim calcmode="lin" valueType="num">
                                      <p:cBhvr>
                                        <p:cTn id="2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6097B-41A6-5A7B-B818-3F72BD4EC61F}"/>
            </a:ext>
          </a:extLst>
        </p:cNvPr>
        <p:cNvGrpSpPr/>
        <p:nvPr/>
      </p:nvGrpSpPr>
      <p:grpSpPr>
        <a:xfrm>
          <a:off x="0" y="0"/>
          <a:ext cx="0" cy="0"/>
          <a:chOff x="0" y="0"/>
          <a:chExt cx="0" cy="0"/>
        </a:xfrm>
      </p:grpSpPr>
      <p:sp>
        <p:nvSpPr>
          <p:cNvPr id="10" name="Rectangle 46">
            <a:extLst>
              <a:ext uri="{FF2B5EF4-FFF2-40B4-BE49-F238E27FC236}">
                <a16:creationId xmlns:a16="http://schemas.microsoft.com/office/drawing/2014/main" id="{A16D3F52-5FB9-8A39-D377-1238691BA4CC}"/>
              </a:ext>
            </a:extLst>
          </p:cNvPr>
          <p:cNvSpPr>
            <a:spLocks noChangeArrowheads="1"/>
          </p:cNvSpPr>
          <p:nvPr/>
        </p:nvSpPr>
        <p:spPr bwMode="auto">
          <a:xfrm>
            <a:off x="466345" y="959600"/>
            <a:ext cx="8129014"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zh-CN" altLang="en-US" sz="2000" b="1" dirty="0">
                <a:latin typeface="微软雅黑" pitchFamily="34" charset="-122"/>
                <a:ea typeface="微软雅黑" pitchFamily="34" charset="-122"/>
              </a:rPr>
              <a:t>如果数据中的某个字节的二进制代码恰好和 </a:t>
            </a:r>
            <a:r>
              <a:rPr lang="en-US" altLang="zh-CN" sz="2000" b="1" dirty="0">
                <a:latin typeface="微软雅黑" pitchFamily="34" charset="-122"/>
                <a:ea typeface="微软雅黑" pitchFamily="34" charset="-122"/>
              </a:rPr>
              <a:t>SOH </a:t>
            </a:r>
            <a:r>
              <a:rPr lang="zh-CN" altLang="en-US" sz="2000" b="1" dirty="0">
                <a:latin typeface="微软雅黑" pitchFamily="34" charset="-122"/>
                <a:ea typeface="微软雅黑" pitchFamily="34" charset="-122"/>
              </a:rPr>
              <a:t>或 </a:t>
            </a:r>
            <a:r>
              <a:rPr lang="en-US" altLang="zh-CN" sz="2000" b="1" dirty="0">
                <a:latin typeface="微软雅黑" pitchFamily="34" charset="-122"/>
                <a:ea typeface="微软雅黑" pitchFamily="34" charset="-122"/>
              </a:rPr>
              <a:t>EOT </a:t>
            </a:r>
            <a:r>
              <a:rPr lang="zh-CN" altLang="en-US" sz="2000" b="1" dirty="0">
                <a:latin typeface="微软雅黑" pitchFamily="34" charset="-122"/>
                <a:ea typeface="微软雅黑" pitchFamily="34" charset="-122"/>
              </a:rPr>
              <a:t>一样，数据链路层就会</a:t>
            </a:r>
            <a:r>
              <a:rPr lang="zh-CN" altLang="en-US" sz="2000" b="1" dirty="0">
                <a:solidFill>
                  <a:srgbClr val="0000FF"/>
                </a:solidFill>
                <a:latin typeface="微软雅黑" pitchFamily="34" charset="-122"/>
                <a:ea typeface="微软雅黑" pitchFamily="34" charset="-122"/>
              </a:rPr>
              <a:t>错误</a:t>
            </a:r>
            <a:r>
              <a:rPr lang="zh-CN" altLang="en-US" sz="2000" b="1" dirty="0">
                <a:latin typeface="微软雅黑" pitchFamily="34" charset="-122"/>
                <a:ea typeface="微软雅黑" pitchFamily="34" charset="-122"/>
              </a:rPr>
              <a:t>地“找到帧的边界”，导致错误。</a:t>
            </a:r>
          </a:p>
        </p:txBody>
      </p:sp>
      <p:sp>
        <p:nvSpPr>
          <p:cNvPr id="33" name="矩形 32">
            <a:extLst>
              <a:ext uri="{FF2B5EF4-FFF2-40B4-BE49-F238E27FC236}">
                <a16:creationId xmlns:a16="http://schemas.microsoft.com/office/drawing/2014/main" id="{0171A373-9DB8-7E30-1B27-59407DCEF457}"/>
              </a:ext>
            </a:extLst>
          </p:cNvPr>
          <p:cNvSpPr/>
          <p:nvPr/>
        </p:nvSpPr>
        <p:spPr>
          <a:xfrm>
            <a:off x="2196567" y="4146460"/>
            <a:ext cx="4711637"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数据部分恰好出现与 </a:t>
            </a:r>
            <a:r>
              <a:rPr lang="en-US" altLang="zh-CN" b="1" dirty="0">
                <a:latin typeface="微软雅黑" pitchFamily="34" charset="-122"/>
                <a:ea typeface="微软雅黑" pitchFamily="34" charset="-122"/>
              </a:rPr>
              <a:t>EOT </a:t>
            </a:r>
            <a:r>
              <a:rPr lang="zh-CN" altLang="en-US" b="1" dirty="0">
                <a:latin typeface="微软雅黑" pitchFamily="34" charset="-122"/>
                <a:ea typeface="微软雅黑" pitchFamily="34" charset="-122"/>
              </a:rPr>
              <a:t>一样的代码</a:t>
            </a:r>
          </a:p>
        </p:txBody>
      </p:sp>
      <p:sp>
        <p:nvSpPr>
          <p:cNvPr id="34" name="Line 22">
            <a:extLst>
              <a:ext uri="{FF2B5EF4-FFF2-40B4-BE49-F238E27FC236}">
                <a16:creationId xmlns:a16="http://schemas.microsoft.com/office/drawing/2014/main" id="{0ABF9E67-B81F-3075-2FA1-8F362F1830D9}"/>
              </a:ext>
            </a:extLst>
          </p:cNvPr>
          <p:cNvSpPr>
            <a:spLocks noChangeShapeType="1"/>
          </p:cNvSpPr>
          <p:nvPr/>
        </p:nvSpPr>
        <p:spPr bwMode="auto">
          <a:xfrm rot="16200000" flipV="1">
            <a:off x="2013278" y="2736395"/>
            <a:ext cx="9137" cy="7379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Rectangle 4">
            <a:extLst>
              <a:ext uri="{FF2B5EF4-FFF2-40B4-BE49-F238E27FC236}">
                <a16:creationId xmlns:a16="http://schemas.microsoft.com/office/drawing/2014/main" id="{E907B292-677A-9B90-DDC7-F23828E67A45}"/>
              </a:ext>
            </a:extLst>
          </p:cNvPr>
          <p:cNvSpPr>
            <a:spLocks noChangeArrowheads="1"/>
          </p:cNvSpPr>
          <p:nvPr/>
        </p:nvSpPr>
        <p:spPr bwMode="auto">
          <a:xfrm>
            <a:off x="2185569" y="2895742"/>
            <a:ext cx="4003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36" name="Rectangle 5">
            <a:extLst>
              <a:ext uri="{FF2B5EF4-FFF2-40B4-BE49-F238E27FC236}">
                <a16:creationId xmlns:a16="http://schemas.microsoft.com/office/drawing/2014/main" id="{E9C8F160-945C-4802-ADC9-CDB60F0ED7F4}"/>
              </a:ext>
            </a:extLst>
          </p:cNvPr>
          <p:cNvSpPr>
            <a:spLocks noChangeArrowheads="1"/>
          </p:cNvSpPr>
          <p:nvPr/>
        </p:nvSpPr>
        <p:spPr bwMode="auto">
          <a:xfrm>
            <a:off x="2576006" y="2895742"/>
            <a:ext cx="4813919" cy="390860"/>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7" name="Rectangle 6">
            <a:extLst>
              <a:ext uri="{FF2B5EF4-FFF2-40B4-BE49-F238E27FC236}">
                <a16:creationId xmlns:a16="http://schemas.microsoft.com/office/drawing/2014/main" id="{B43C3AE2-572F-008D-8257-F2A474471176}"/>
              </a:ext>
            </a:extLst>
          </p:cNvPr>
          <p:cNvSpPr>
            <a:spLocks noChangeArrowheads="1"/>
          </p:cNvSpPr>
          <p:nvPr/>
        </p:nvSpPr>
        <p:spPr bwMode="auto">
          <a:xfrm>
            <a:off x="3709922" y="2895742"/>
            <a:ext cx="362941" cy="390860"/>
          </a:xfrm>
          <a:prstGeom prst="rect">
            <a:avLst/>
          </a:prstGeom>
          <a:solidFill>
            <a:srgbClr val="CC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EOT</a:t>
            </a:r>
          </a:p>
        </p:txBody>
      </p:sp>
      <p:sp>
        <p:nvSpPr>
          <p:cNvPr id="38" name="Line 7">
            <a:extLst>
              <a:ext uri="{FF2B5EF4-FFF2-40B4-BE49-F238E27FC236}">
                <a16:creationId xmlns:a16="http://schemas.microsoft.com/office/drawing/2014/main" id="{C9A6C1BA-2ED3-0D92-281C-A23614633584}"/>
              </a:ext>
            </a:extLst>
          </p:cNvPr>
          <p:cNvSpPr>
            <a:spLocks noChangeShapeType="1"/>
          </p:cNvSpPr>
          <p:nvPr/>
        </p:nvSpPr>
        <p:spPr bwMode="auto">
          <a:xfrm>
            <a:off x="3728619" y="2235850"/>
            <a:ext cx="162773" cy="659893"/>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Text Box 8">
            <a:extLst>
              <a:ext uri="{FF2B5EF4-FFF2-40B4-BE49-F238E27FC236}">
                <a16:creationId xmlns:a16="http://schemas.microsoft.com/office/drawing/2014/main" id="{58182C02-CAA9-3269-D263-A3C86DCBD4E1}"/>
              </a:ext>
            </a:extLst>
          </p:cNvPr>
          <p:cNvSpPr txBox="1">
            <a:spLocks noChangeArrowheads="1"/>
          </p:cNvSpPr>
          <p:nvPr/>
        </p:nvSpPr>
        <p:spPr bwMode="auto">
          <a:xfrm>
            <a:off x="3080209" y="2000405"/>
            <a:ext cx="12616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出现了“</a:t>
            </a:r>
            <a:r>
              <a:rPr kumimoji="1" lang="en-US" altLang="zh-CN" sz="1200" b="1" dirty="0">
                <a:solidFill>
                  <a:srgbClr val="0000FF"/>
                </a:solidFill>
                <a:latin typeface="微软雅黑" pitchFamily="34" charset="-122"/>
                <a:ea typeface="微软雅黑" pitchFamily="34" charset="-122"/>
              </a:rPr>
              <a:t>EOT”</a:t>
            </a:r>
          </a:p>
        </p:txBody>
      </p:sp>
      <p:sp>
        <p:nvSpPr>
          <p:cNvPr id="40" name="AutoShape 9">
            <a:extLst>
              <a:ext uri="{FF2B5EF4-FFF2-40B4-BE49-F238E27FC236}">
                <a16:creationId xmlns:a16="http://schemas.microsoft.com/office/drawing/2014/main" id="{DF5C0612-ACB0-BAC7-BBF6-A6ADED8E9307}"/>
              </a:ext>
            </a:extLst>
          </p:cNvPr>
          <p:cNvSpPr>
            <a:spLocks/>
          </p:cNvSpPr>
          <p:nvPr/>
        </p:nvSpPr>
        <p:spPr bwMode="auto">
          <a:xfrm rot="16200000">
            <a:off x="5778601" y="1651253"/>
            <a:ext cx="209135" cy="3585418"/>
          </a:xfrm>
          <a:prstGeom prst="leftBrace">
            <a:avLst>
              <a:gd name="adj1" fmla="val 131877"/>
              <a:gd name="adj2" fmla="val 50000"/>
            </a:avLst>
          </a:prstGeom>
          <a:noFill/>
          <a:ln w="127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10">
            <a:extLst>
              <a:ext uri="{FF2B5EF4-FFF2-40B4-BE49-F238E27FC236}">
                <a16:creationId xmlns:a16="http://schemas.microsoft.com/office/drawing/2014/main" id="{990406DC-6CB8-5193-1C07-D54E2AF1FA64}"/>
              </a:ext>
            </a:extLst>
          </p:cNvPr>
          <p:cNvSpPr txBox="1">
            <a:spLocks noChangeArrowheads="1"/>
          </p:cNvSpPr>
          <p:nvPr/>
        </p:nvSpPr>
        <p:spPr bwMode="auto">
          <a:xfrm>
            <a:off x="4876879" y="3525511"/>
            <a:ext cx="20313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被接收端当作无效帧而丢弃</a:t>
            </a:r>
          </a:p>
        </p:txBody>
      </p:sp>
      <p:sp>
        <p:nvSpPr>
          <p:cNvPr id="42" name="AutoShape 11">
            <a:extLst>
              <a:ext uri="{FF2B5EF4-FFF2-40B4-BE49-F238E27FC236}">
                <a16:creationId xmlns:a16="http://schemas.microsoft.com/office/drawing/2014/main" id="{875740CC-9C9E-603F-BECE-66A1EF87E244}"/>
              </a:ext>
            </a:extLst>
          </p:cNvPr>
          <p:cNvSpPr>
            <a:spLocks/>
          </p:cNvSpPr>
          <p:nvPr/>
        </p:nvSpPr>
        <p:spPr bwMode="auto">
          <a:xfrm rot="16200000">
            <a:off x="3030105" y="2493673"/>
            <a:ext cx="194922" cy="1861998"/>
          </a:xfrm>
          <a:prstGeom prst="leftBrace">
            <a:avLst>
              <a:gd name="adj1" fmla="val 73481"/>
              <a:gd name="adj2" fmla="val 50000"/>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Text Box 12">
            <a:extLst>
              <a:ext uri="{FF2B5EF4-FFF2-40B4-BE49-F238E27FC236}">
                <a16:creationId xmlns:a16="http://schemas.microsoft.com/office/drawing/2014/main" id="{0CEA2C3C-D1DB-2EE7-4DEC-890771E83B14}"/>
              </a:ext>
            </a:extLst>
          </p:cNvPr>
          <p:cNvSpPr txBox="1">
            <a:spLocks noChangeArrowheads="1"/>
          </p:cNvSpPr>
          <p:nvPr/>
        </p:nvSpPr>
        <p:spPr bwMode="auto">
          <a:xfrm>
            <a:off x="2509272" y="3508480"/>
            <a:ext cx="1261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00000"/>
                </a:solidFill>
                <a:latin typeface="微软雅黑" pitchFamily="34" charset="-122"/>
                <a:ea typeface="微软雅黑" pitchFamily="34" charset="-122"/>
              </a:rPr>
              <a:t>被接收端</a:t>
            </a:r>
          </a:p>
          <a:p>
            <a:pPr algn="ctr"/>
            <a:r>
              <a:rPr kumimoji="1" lang="zh-CN" altLang="en-US" sz="1200" b="1" dirty="0">
                <a:solidFill>
                  <a:srgbClr val="C00000"/>
                </a:solidFill>
                <a:latin typeface="微软雅黑" pitchFamily="34" charset="-122"/>
                <a:ea typeface="微软雅黑" pitchFamily="34" charset="-122"/>
              </a:rPr>
              <a:t>误认为是一个帧</a:t>
            </a:r>
          </a:p>
        </p:txBody>
      </p:sp>
      <p:sp>
        <p:nvSpPr>
          <p:cNvPr id="44" name="Line 13">
            <a:extLst>
              <a:ext uri="{FF2B5EF4-FFF2-40B4-BE49-F238E27FC236}">
                <a16:creationId xmlns:a16="http://schemas.microsoft.com/office/drawing/2014/main" id="{FE9C7245-058A-7E1B-AB85-E6FB8FBDA0AC}"/>
              </a:ext>
            </a:extLst>
          </p:cNvPr>
          <p:cNvSpPr>
            <a:spLocks noChangeShapeType="1"/>
          </p:cNvSpPr>
          <p:nvPr/>
        </p:nvSpPr>
        <p:spPr bwMode="auto">
          <a:xfrm>
            <a:off x="2585904" y="2728231"/>
            <a:ext cx="469073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Text Box 14">
            <a:extLst>
              <a:ext uri="{FF2B5EF4-FFF2-40B4-BE49-F238E27FC236}">
                <a16:creationId xmlns:a16="http://schemas.microsoft.com/office/drawing/2014/main" id="{9F210616-7A57-3C11-D6EE-4048AAC0BE54}"/>
              </a:ext>
            </a:extLst>
          </p:cNvPr>
          <p:cNvSpPr txBox="1">
            <a:spLocks noChangeArrowheads="1"/>
          </p:cNvSpPr>
          <p:nvPr/>
        </p:nvSpPr>
        <p:spPr bwMode="auto">
          <a:xfrm>
            <a:off x="4553710" y="2484376"/>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数据部分</a:t>
            </a:r>
          </a:p>
        </p:txBody>
      </p:sp>
      <p:sp>
        <p:nvSpPr>
          <p:cNvPr id="46" name="Rectangle 15">
            <a:extLst>
              <a:ext uri="{FF2B5EF4-FFF2-40B4-BE49-F238E27FC236}">
                <a16:creationId xmlns:a16="http://schemas.microsoft.com/office/drawing/2014/main" id="{8CF727D4-03DD-BCA6-A5BE-CED42B9013DB}"/>
              </a:ext>
            </a:extLst>
          </p:cNvPr>
          <p:cNvSpPr>
            <a:spLocks noChangeArrowheads="1"/>
          </p:cNvSpPr>
          <p:nvPr/>
        </p:nvSpPr>
        <p:spPr bwMode="auto">
          <a:xfrm>
            <a:off x="7276643" y="2895742"/>
            <a:ext cx="3992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16">
            <a:extLst>
              <a:ext uri="{FF2B5EF4-FFF2-40B4-BE49-F238E27FC236}">
                <a16:creationId xmlns:a16="http://schemas.microsoft.com/office/drawing/2014/main" id="{DFD366AE-163C-8844-3452-D6E2E76EC0BE}"/>
              </a:ext>
            </a:extLst>
          </p:cNvPr>
          <p:cNvSpPr>
            <a:spLocks noChangeShapeType="1"/>
          </p:cNvSpPr>
          <p:nvPr/>
        </p:nvSpPr>
        <p:spPr bwMode="auto">
          <a:xfrm>
            <a:off x="2185569" y="2419605"/>
            <a:ext cx="549030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7">
            <a:extLst>
              <a:ext uri="{FF2B5EF4-FFF2-40B4-BE49-F238E27FC236}">
                <a16:creationId xmlns:a16="http://schemas.microsoft.com/office/drawing/2014/main" id="{D0BE4AE0-6FA8-0BB6-3778-F3CCEAC9FE11}"/>
              </a:ext>
            </a:extLst>
          </p:cNvPr>
          <p:cNvSpPr txBox="1">
            <a:spLocks noChangeArrowheads="1"/>
          </p:cNvSpPr>
          <p:nvPr/>
        </p:nvSpPr>
        <p:spPr bwMode="auto">
          <a:xfrm>
            <a:off x="4298002" y="2162551"/>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完整的帧</a:t>
            </a:r>
          </a:p>
        </p:txBody>
      </p:sp>
      <p:sp>
        <p:nvSpPr>
          <p:cNvPr id="49" name="Line 18">
            <a:extLst>
              <a:ext uri="{FF2B5EF4-FFF2-40B4-BE49-F238E27FC236}">
                <a16:creationId xmlns:a16="http://schemas.microsoft.com/office/drawing/2014/main" id="{4EB9E9EA-C7E3-BB31-5E6D-0C37A6AA9DC9}"/>
              </a:ext>
            </a:extLst>
          </p:cNvPr>
          <p:cNvSpPr>
            <a:spLocks noChangeShapeType="1"/>
          </p:cNvSpPr>
          <p:nvPr/>
        </p:nvSpPr>
        <p:spPr bwMode="auto">
          <a:xfrm>
            <a:off x="2185569" y="2357676"/>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19">
            <a:extLst>
              <a:ext uri="{FF2B5EF4-FFF2-40B4-BE49-F238E27FC236}">
                <a16:creationId xmlns:a16="http://schemas.microsoft.com/office/drawing/2014/main" id="{EC970FF5-B030-A114-6540-21A2FDF6EE1F}"/>
              </a:ext>
            </a:extLst>
          </p:cNvPr>
          <p:cNvSpPr>
            <a:spLocks noChangeShapeType="1"/>
          </p:cNvSpPr>
          <p:nvPr/>
        </p:nvSpPr>
        <p:spPr bwMode="auto">
          <a:xfrm>
            <a:off x="7675878" y="2357676"/>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20">
            <a:extLst>
              <a:ext uri="{FF2B5EF4-FFF2-40B4-BE49-F238E27FC236}">
                <a16:creationId xmlns:a16="http://schemas.microsoft.com/office/drawing/2014/main" id="{AD2EBFAA-B0B3-F332-D38A-316526EBD66E}"/>
              </a:ext>
            </a:extLst>
          </p:cNvPr>
          <p:cNvSpPr>
            <a:spLocks noChangeShapeType="1"/>
          </p:cNvSpPr>
          <p:nvPr/>
        </p:nvSpPr>
        <p:spPr bwMode="auto">
          <a:xfrm>
            <a:off x="2585904" y="2604375"/>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21">
            <a:extLst>
              <a:ext uri="{FF2B5EF4-FFF2-40B4-BE49-F238E27FC236}">
                <a16:creationId xmlns:a16="http://schemas.microsoft.com/office/drawing/2014/main" id="{1ACAC313-4FDF-DD51-1B29-7B2980869C6A}"/>
              </a:ext>
            </a:extLst>
          </p:cNvPr>
          <p:cNvSpPr>
            <a:spLocks noChangeShapeType="1"/>
          </p:cNvSpPr>
          <p:nvPr/>
        </p:nvSpPr>
        <p:spPr bwMode="auto">
          <a:xfrm>
            <a:off x="7276643" y="2604375"/>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Text Box 23">
            <a:extLst>
              <a:ext uri="{FF2B5EF4-FFF2-40B4-BE49-F238E27FC236}">
                <a16:creationId xmlns:a16="http://schemas.microsoft.com/office/drawing/2014/main" id="{EDA89D01-9C31-4DC4-B332-C35EF552A781}"/>
              </a:ext>
            </a:extLst>
          </p:cNvPr>
          <p:cNvSpPr txBox="1">
            <a:spLocks noChangeArrowheads="1"/>
          </p:cNvSpPr>
          <p:nvPr/>
        </p:nvSpPr>
        <p:spPr bwMode="auto">
          <a:xfrm>
            <a:off x="1336966" y="2767504"/>
            <a:ext cx="91295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sp>
        <p:nvSpPr>
          <p:cNvPr id="2" name="对话气泡: 矩形 1">
            <a:extLst>
              <a:ext uri="{FF2B5EF4-FFF2-40B4-BE49-F238E27FC236}">
                <a16:creationId xmlns:a16="http://schemas.microsoft.com/office/drawing/2014/main" id="{9278C08C-2EBA-63F3-C7A9-47AC07072CAE}"/>
              </a:ext>
            </a:extLst>
          </p:cNvPr>
          <p:cNvSpPr/>
          <p:nvPr/>
        </p:nvSpPr>
        <p:spPr>
          <a:xfrm>
            <a:off x="5692051" y="1727316"/>
            <a:ext cx="2527299" cy="707886"/>
          </a:xfrm>
          <a:prstGeom prst="wedgeRectCallout">
            <a:avLst>
              <a:gd name="adj1" fmla="val -66813"/>
              <a:gd name="adj2" fmla="val 71470"/>
            </a:avLst>
          </a:prstGeom>
          <a:solidFill>
            <a:srgbClr val="00B0F0"/>
          </a:solidFill>
          <a:ln w="19050">
            <a:no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这样的数据就无法在数据链路层透明传输</a:t>
            </a:r>
          </a:p>
        </p:txBody>
      </p:sp>
      <p:sp>
        <p:nvSpPr>
          <p:cNvPr id="3" name="标题 2">
            <a:extLst>
              <a:ext uri="{FF2B5EF4-FFF2-40B4-BE49-F238E27FC236}">
                <a16:creationId xmlns:a16="http://schemas.microsoft.com/office/drawing/2014/main" id="{3B27EE49-894B-36C5-CBD9-852FCE013E2D}"/>
              </a:ext>
            </a:extLst>
          </p:cNvPr>
          <p:cNvSpPr>
            <a:spLocks noGrp="1"/>
          </p:cNvSpPr>
          <p:nvPr>
            <p:ph type="title"/>
          </p:nvPr>
        </p:nvSpPr>
        <p:spPr>
          <a:xfrm>
            <a:off x="4880040" y="390777"/>
            <a:ext cx="3401184" cy="400110"/>
          </a:xfrm>
        </p:spPr>
        <p:txBody>
          <a:bodyPr/>
          <a:lstStyle/>
          <a:p>
            <a:r>
              <a:rPr lang="zh-CN" altLang="en-US" dirty="0"/>
              <a:t>透明传输</a:t>
            </a:r>
          </a:p>
        </p:txBody>
      </p:sp>
      <p:sp>
        <p:nvSpPr>
          <p:cNvPr id="4" name="文本占位符 3">
            <a:extLst>
              <a:ext uri="{FF2B5EF4-FFF2-40B4-BE49-F238E27FC236}">
                <a16:creationId xmlns:a16="http://schemas.microsoft.com/office/drawing/2014/main" id="{FE42F822-7CA4-E9A3-CC40-937A722EAA35}"/>
              </a:ext>
            </a:extLst>
          </p:cNvPr>
          <p:cNvSpPr>
            <a:spLocks noGrp="1"/>
          </p:cNvSpPr>
          <p:nvPr>
            <p:ph type="body" sz="quarter" idx="10"/>
          </p:nvPr>
        </p:nvSpPr>
        <p:spPr>
          <a:xfrm>
            <a:off x="8482487" y="413294"/>
            <a:ext cx="756000" cy="369332"/>
          </a:xfrm>
        </p:spPr>
        <p:txBody>
          <a:bodyPr/>
          <a:lstStyle/>
          <a:p>
            <a:r>
              <a:rPr lang="en-US" altLang="zh-CN" dirty="0"/>
              <a:t>02</a:t>
            </a:r>
            <a:endParaRPr lang="zh-CN" altLang="en-US" dirty="0"/>
          </a:p>
        </p:txBody>
      </p:sp>
    </p:spTree>
    <p:custDataLst>
      <p:tags r:id="rId1"/>
    </p:custDataLst>
    <p:extLst>
      <p:ext uri="{BB962C8B-B14F-4D97-AF65-F5344CB8AC3E}">
        <p14:creationId xmlns:p14="http://schemas.microsoft.com/office/powerpoint/2010/main" val="3207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grpId="0" nodeType="clickEffect">
                                  <p:stCondLst>
                                    <p:cond delay="0"/>
                                  </p:stCondLst>
                                  <p:childTnLst>
                                    <p:anim calcmode="discrete" valueType="str">
                                      <p:cBhvr>
                                        <p:cTn id="21"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7" grpId="0" animBg="1"/>
      <p:bldP spid="41" grpId="0"/>
      <p:bldP spid="43" grpId="0"/>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CC092-8FA6-4271-5BB4-53BDDBFABA86}"/>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69024457-8BA8-F8CA-EC94-BB2535E1E648}"/>
              </a:ext>
            </a:extLst>
          </p:cNvPr>
          <p:cNvSpPr>
            <a:spLocks noChangeArrowheads="1"/>
          </p:cNvSpPr>
          <p:nvPr/>
        </p:nvSpPr>
        <p:spPr bwMode="auto">
          <a:xfrm>
            <a:off x="466344" y="622808"/>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a:extLst>
              <a:ext uri="{FF2B5EF4-FFF2-40B4-BE49-F238E27FC236}">
                <a16:creationId xmlns:a16="http://schemas.microsoft.com/office/drawing/2014/main" id="{10C8070B-4643-82CE-E94B-81511890B61D}"/>
              </a:ext>
            </a:extLst>
          </p:cNvPr>
          <p:cNvSpPr/>
          <p:nvPr/>
        </p:nvSpPr>
        <p:spPr>
          <a:xfrm>
            <a:off x="616085" y="580568"/>
            <a:ext cx="7653402" cy="400110"/>
          </a:xfrm>
          <a:prstGeom prst="rect">
            <a:avLst/>
          </a:prstGeom>
        </p:spPr>
        <p:txBody>
          <a:bodyPr wrap="square">
            <a:spAutoFit/>
          </a:bodyPr>
          <a:lstStyle/>
          <a:p>
            <a:pPr algn="ctr"/>
            <a:r>
              <a:rPr lang="zh-CN" altLang="en-US" sz="2000" b="1" dirty="0">
                <a:latin typeface="微软雅黑" pitchFamily="34" charset="-122"/>
                <a:ea typeface="微软雅黑" pitchFamily="34" charset="-122"/>
              </a:rPr>
              <a:t>“字节填充”或“字符填充”法是解决透明传输问题的一种方法</a:t>
            </a:r>
          </a:p>
        </p:txBody>
      </p:sp>
      <p:sp>
        <p:nvSpPr>
          <p:cNvPr id="7" name="圆角矩形 6">
            <a:extLst>
              <a:ext uri="{FF2B5EF4-FFF2-40B4-BE49-F238E27FC236}">
                <a16:creationId xmlns:a16="http://schemas.microsoft.com/office/drawing/2014/main" id="{9F530271-6EEF-E905-846A-82416D7FDC2D}"/>
              </a:ext>
            </a:extLst>
          </p:cNvPr>
          <p:cNvSpPr/>
          <p:nvPr/>
        </p:nvSpPr>
        <p:spPr>
          <a:xfrm>
            <a:off x="466344" y="1019579"/>
            <a:ext cx="8129015" cy="29483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C0EA3232-ACA6-B50E-7C85-022741F5F884}"/>
              </a:ext>
            </a:extLst>
          </p:cNvPr>
          <p:cNvGrpSpPr/>
          <p:nvPr/>
        </p:nvGrpSpPr>
        <p:grpSpPr>
          <a:xfrm>
            <a:off x="682176" y="2043478"/>
            <a:ext cx="7587311" cy="1688610"/>
            <a:chOff x="682176" y="2351964"/>
            <a:chExt cx="7587311" cy="1688610"/>
          </a:xfrm>
        </p:grpSpPr>
        <p:sp>
          <p:nvSpPr>
            <p:cNvPr id="8" name="Rectangle 4">
              <a:extLst>
                <a:ext uri="{FF2B5EF4-FFF2-40B4-BE49-F238E27FC236}">
                  <a16:creationId xmlns:a16="http://schemas.microsoft.com/office/drawing/2014/main" id="{2E515850-302F-D930-752F-A97C09482D4C}"/>
                </a:ext>
              </a:extLst>
            </p:cNvPr>
            <p:cNvSpPr>
              <a:spLocks noChangeArrowheads="1"/>
            </p:cNvSpPr>
            <p:nvPr/>
          </p:nvSpPr>
          <p:spPr bwMode="auto">
            <a:xfrm>
              <a:off x="924605"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9" name="Freeform 5">
              <a:extLst>
                <a:ext uri="{FF2B5EF4-FFF2-40B4-BE49-F238E27FC236}">
                  <a16:creationId xmlns:a16="http://schemas.microsoft.com/office/drawing/2014/main" id="{F4735014-83D5-5C7F-30F1-811F3B975342}"/>
                </a:ext>
              </a:extLst>
            </p:cNvPr>
            <p:cNvSpPr>
              <a:spLocks/>
            </p:cNvSpPr>
            <p:nvPr/>
          </p:nvSpPr>
          <p:spPr bwMode="auto">
            <a:xfrm>
              <a:off x="6034088" y="235196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6">
              <a:extLst>
                <a:ext uri="{FF2B5EF4-FFF2-40B4-BE49-F238E27FC236}">
                  <a16:creationId xmlns:a16="http://schemas.microsoft.com/office/drawing/2014/main" id="{4AF403C5-D41A-460C-7149-2B90D42CCAF7}"/>
                </a:ext>
              </a:extLst>
            </p:cNvPr>
            <p:cNvSpPr>
              <a:spLocks/>
            </p:cNvSpPr>
            <p:nvPr/>
          </p:nvSpPr>
          <p:spPr bwMode="auto">
            <a:xfrm>
              <a:off x="4940340" y="235196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7">
              <a:extLst>
                <a:ext uri="{FF2B5EF4-FFF2-40B4-BE49-F238E27FC236}">
                  <a16:creationId xmlns:a16="http://schemas.microsoft.com/office/drawing/2014/main" id="{93540D10-BD20-B2F5-7303-BD22BEF04DEC}"/>
                </a:ext>
              </a:extLst>
            </p:cNvPr>
            <p:cNvSpPr>
              <a:spLocks/>
            </p:cNvSpPr>
            <p:nvPr/>
          </p:nvSpPr>
          <p:spPr bwMode="auto">
            <a:xfrm>
              <a:off x="3670953" y="235196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Freeform 8">
              <a:extLst>
                <a:ext uri="{FF2B5EF4-FFF2-40B4-BE49-F238E27FC236}">
                  <a16:creationId xmlns:a16="http://schemas.microsoft.com/office/drawing/2014/main" id="{7F38F537-A1A1-2439-9DDC-686DC0B4A3FE}"/>
                </a:ext>
              </a:extLst>
            </p:cNvPr>
            <p:cNvSpPr>
              <a:spLocks/>
            </p:cNvSpPr>
            <p:nvPr/>
          </p:nvSpPr>
          <p:spPr bwMode="auto">
            <a:xfrm>
              <a:off x="2264515" y="235196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Rectangle 15">
              <a:extLst>
                <a:ext uri="{FF2B5EF4-FFF2-40B4-BE49-F238E27FC236}">
                  <a16:creationId xmlns:a16="http://schemas.microsoft.com/office/drawing/2014/main" id="{4D308DB7-D883-F253-5DE3-7D4673F4FDA9}"/>
                </a:ext>
              </a:extLst>
            </p:cNvPr>
            <p:cNvSpPr>
              <a:spLocks noChangeArrowheads="1"/>
            </p:cNvSpPr>
            <p:nvPr/>
          </p:nvSpPr>
          <p:spPr bwMode="auto">
            <a:xfrm>
              <a:off x="1307816" y="3118386"/>
              <a:ext cx="6578460"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Rectangle 16">
              <a:extLst>
                <a:ext uri="{FF2B5EF4-FFF2-40B4-BE49-F238E27FC236}">
                  <a16:creationId xmlns:a16="http://schemas.microsoft.com/office/drawing/2014/main" id="{92479B6D-F035-A47B-3F0C-321E2963627B}"/>
                </a:ext>
              </a:extLst>
            </p:cNvPr>
            <p:cNvSpPr>
              <a:spLocks noChangeArrowheads="1"/>
            </p:cNvSpPr>
            <p:nvPr/>
          </p:nvSpPr>
          <p:spPr bwMode="auto">
            <a:xfrm>
              <a:off x="1882633"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0" name="Rectangle 17">
              <a:extLst>
                <a:ext uri="{FF2B5EF4-FFF2-40B4-BE49-F238E27FC236}">
                  <a16:creationId xmlns:a16="http://schemas.microsoft.com/office/drawing/2014/main" id="{049007AF-E6F5-D799-6EE8-5FC64B21FB6D}"/>
                </a:ext>
              </a:extLst>
            </p:cNvPr>
            <p:cNvSpPr>
              <a:spLocks noChangeArrowheads="1"/>
            </p:cNvSpPr>
            <p:nvPr/>
          </p:nvSpPr>
          <p:spPr bwMode="auto">
            <a:xfrm>
              <a:off x="2265844" y="311838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21" name="Rectangle 18">
              <a:extLst>
                <a:ext uri="{FF2B5EF4-FFF2-40B4-BE49-F238E27FC236}">
                  <a16:creationId xmlns:a16="http://schemas.microsoft.com/office/drawing/2014/main" id="{E6159F5E-1C8D-E5B5-E30B-504B9877D52A}"/>
                </a:ext>
              </a:extLst>
            </p:cNvPr>
            <p:cNvSpPr>
              <a:spLocks noChangeArrowheads="1"/>
            </p:cNvSpPr>
            <p:nvPr/>
          </p:nvSpPr>
          <p:spPr bwMode="auto">
            <a:xfrm>
              <a:off x="3415478"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2" name="Rectangle 19">
              <a:extLst>
                <a:ext uri="{FF2B5EF4-FFF2-40B4-BE49-F238E27FC236}">
                  <a16:creationId xmlns:a16="http://schemas.microsoft.com/office/drawing/2014/main" id="{F749FE2D-9EE8-6A17-9416-6460C49D6476}"/>
                </a:ext>
              </a:extLst>
            </p:cNvPr>
            <p:cNvSpPr>
              <a:spLocks noChangeArrowheads="1"/>
            </p:cNvSpPr>
            <p:nvPr/>
          </p:nvSpPr>
          <p:spPr bwMode="auto">
            <a:xfrm>
              <a:off x="3798689" y="311838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23" name="Rectangle 20">
              <a:extLst>
                <a:ext uri="{FF2B5EF4-FFF2-40B4-BE49-F238E27FC236}">
                  <a16:creationId xmlns:a16="http://schemas.microsoft.com/office/drawing/2014/main" id="{56ED2228-3554-F121-A255-4F214353D62B}"/>
                </a:ext>
              </a:extLst>
            </p:cNvPr>
            <p:cNvSpPr>
              <a:spLocks noChangeArrowheads="1"/>
            </p:cNvSpPr>
            <p:nvPr/>
          </p:nvSpPr>
          <p:spPr bwMode="auto">
            <a:xfrm>
              <a:off x="5076060"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4" name="Rectangle 21">
              <a:extLst>
                <a:ext uri="{FF2B5EF4-FFF2-40B4-BE49-F238E27FC236}">
                  <a16:creationId xmlns:a16="http://schemas.microsoft.com/office/drawing/2014/main" id="{C8A4C13D-EFA1-0E13-2FB1-00EE18BDEE4A}"/>
                </a:ext>
              </a:extLst>
            </p:cNvPr>
            <p:cNvSpPr>
              <a:spLocks noChangeArrowheads="1"/>
            </p:cNvSpPr>
            <p:nvPr/>
          </p:nvSpPr>
          <p:spPr bwMode="auto">
            <a:xfrm>
              <a:off x="5459271"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5" name="Rectangle 22">
              <a:extLst>
                <a:ext uri="{FF2B5EF4-FFF2-40B4-BE49-F238E27FC236}">
                  <a16:creationId xmlns:a16="http://schemas.microsoft.com/office/drawing/2014/main" id="{9278AFCD-CD34-837D-A16F-167753EC30C0}"/>
                </a:ext>
              </a:extLst>
            </p:cNvPr>
            <p:cNvSpPr>
              <a:spLocks noChangeArrowheads="1"/>
            </p:cNvSpPr>
            <p:nvPr/>
          </p:nvSpPr>
          <p:spPr bwMode="auto">
            <a:xfrm>
              <a:off x="6545036"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6" name="Rectangle 23">
              <a:extLst>
                <a:ext uri="{FF2B5EF4-FFF2-40B4-BE49-F238E27FC236}">
                  <a16:creationId xmlns:a16="http://schemas.microsoft.com/office/drawing/2014/main" id="{93048D36-6A3E-DE13-2B60-4E5D62EF2D13}"/>
                </a:ext>
              </a:extLst>
            </p:cNvPr>
            <p:cNvSpPr>
              <a:spLocks noChangeArrowheads="1"/>
            </p:cNvSpPr>
            <p:nvPr/>
          </p:nvSpPr>
          <p:spPr bwMode="auto">
            <a:xfrm>
              <a:off x="6928248" y="3118386"/>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27" name="Freeform 24">
              <a:extLst>
                <a:ext uri="{FF2B5EF4-FFF2-40B4-BE49-F238E27FC236}">
                  <a16:creationId xmlns:a16="http://schemas.microsoft.com/office/drawing/2014/main" id="{542C3998-F294-EB6D-3F54-FC4C725A2A88}"/>
                </a:ext>
              </a:extLst>
            </p:cNvPr>
            <p:cNvSpPr>
              <a:spLocks/>
            </p:cNvSpPr>
            <p:nvPr/>
          </p:nvSpPr>
          <p:spPr bwMode="auto">
            <a:xfrm>
              <a:off x="2264515" y="235196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5">
              <a:extLst>
                <a:ext uri="{FF2B5EF4-FFF2-40B4-BE49-F238E27FC236}">
                  <a16:creationId xmlns:a16="http://schemas.microsoft.com/office/drawing/2014/main" id="{3D73E997-EF0A-0C8C-002C-F057620A7A53}"/>
                </a:ext>
              </a:extLst>
            </p:cNvPr>
            <p:cNvSpPr>
              <a:spLocks noChangeShapeType="1"/>
            </p:cNvSpPr>
            <p:nvPr/>
          </p:nvSpPr>
          <p:spPr bwMode="auto">
            <a:xfrm flipH="1">
              <a:off x="2649055" y="235196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6">
              <a:extLst>
                <a:ext uri="{FF2B5EF4-FFF2-40B4-BE49-F238E27FC236}">
                  <a16:creationId xmlns:a16="http://schemas.microsoft.com/office/drawing/2014/main" id="{52AD2D84-389F-1A50-1F64-2556F86E7C3A}"/>
                </a:ext>
              </a:extLst>
            </p:cNvPr>
            <p:cNvSpPr>
              <a:spLocks noChangeShapeType="1"/>
            </p:cNvSpPr>
            <p:nvPr/>
          </p:nvSpPr>
          <p:spPr bwMode="auto">
            <a:xfrm>
              <a:off x="3670953" y="235196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Line 27">
              <a:extLst>
                <a:ext uri="{FF2B5EF4-FFF2-40B4-BE49-F238E27FC236}">
                  <a16:creationId xmlns:a16="http://schemas.microsoft.com/office/drawing/2014/main" id="{A3FC7141-A4BD-B79B-E1D5-55C406B09DAA}"/>
                </a:ext>
              </a:extLst>
            </p:cNvPr>
            <p:cNvSpPr>
              <a:spLocks noChangeShapeType="1"/>
            </p:cNvSpPr>
            <p:nvPr/>
          </p:nvSpPr>
          <p:spPr bwMode="auto">
            <a:xfrm>
              <a:off x="4054163" y="235196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Freeform 28">
              <a:extLst>
                <a:ext uri="{FF2B5EF4-FFF2-40B4-BE49-F238E27FC236}">
                  <a16:creationId xmlns:a16="http://schemas.microsoft.com/office/drawing/2014/main" id="{1196BBDC-F403-D869-E48D-A3FFBFCB213F}"/>
                </a:ext>
              </a:extLst>
            </p:cNvPr>
            <p:cNvSpPr>
              <a:spLocks/>
            </p:cNvSpPr>
            <p:nvPr/>
          </p:nvSpPr>
          <p:spPr bwMode="auto">
            <a:xfrm>
              <a:off x="4948323" y="235196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29">
              <a:extLst>
                <a:ext uri="{FF2B5EF4-FFF2-40B4-BE49-F238E27FC236}">
                  <a16:creationId xmlns:a16="http://schemas.microsoft.com/office/drawing/2014/main" id="{496C4312-66D6-CF12-204A-1DEBCD30DEAE}"/>
                </a:ext>
              </a:extLst>
            </p:cNvPr>
            <p:cNvSpPr>
              <a:spLocks noChangeShapeType="1"/>
            </p:cNvSpPr>
            <p:nvPr/>
          </p:nvSpPr>
          <p:spPr bwMode="auto">
            <a:xfrm>
              <a:off x="5331534" y="235196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Freeform 30">
              <a:extLst>
                <a:ext uri="{FF2B5EF4-FFF2-40B4-BE49-F238E27FC236}">
                  <a16:creationId xmlns:a16="http://schemas.microsoft.com/office/drawing/2014/main" id="{6029FCD6-DEBD-734B-CC1D-4717C107F7BD}"/>
                </a:ext>
              </a:extLst>
            </p:cNvPr>
            <p:cNvSpPr>
              <a:spLocks/>
            </p:cNvSpPr>
            <p:nvPr/>
          </p:nvSpPr>
          <p:spPr bwMode="auto">
            <a:xfrm>
              <a:off x="6034088" y="235196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1">
              <a:extLst>
                <a:ext uri="{FF2B5EF4-FFF2-40B4-BE49-F238E27FC236}">
                  <a16:creationId xmlns:a16="http://schemas.microsoft.com/office/drawing/2014/main" id="{0E56DDAA-15A7-AEE4-8C90-3210AE582FDE}"/>
                </a:ext>
              </a:extLst>
            </p:cNvPr>
            <p:cNvSpPr>
              <a:spLocks noChangeShapeType="1"/>
            </p:cNvSpPr>
            <p:nvPr/>
          </p:nvSpPr>
          <p:spPr bwMode="auto">
            <a:xfrm>
              <a:off x="6417299" y="235196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Line 34">
              <a:extLst>
                <a:ext uri="{FF2B5EF4-FFF2-40B4-BE49-F238E27FC236}">
                  <a16:creationId xmlns:a16="http://schemas.microsoft.com/office/drawing/2014/main" id="{2DD02E82-57B7-51F8-D16F-B8987F8B13E2}"/>
                </a:ext>
              </a:extLst>
            </p:cNvPr>
            <p:cNvSpPr>
              <a:spLocks noChangeShapeType="1"/>
            </p:cNvSpPr>
            <p:nvPr/>
          </p:nvSpPr>
          <p:spPr bwMode="auto">
            <a:xfrm>
              <a:off x="1307816" y="3707942"/>
              <a:ext cx="657846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8" name="Rectangle 35">
              <a:extLst>
                <a:ext uri="{FF2B5EF4-FFF2-40B4-BE49-F238E27FC236}">
                  <a16:creationId xmlns:a16="http://schemas.microsoft.com/office/drawing/2014/main" id="{C5E51850-D13F-E7A7-A9EC-1E5ED8BDE13A}"/>
                </a:ext>
              </a:extLst>
            </p:cNvPr>
            <p:cNvSpPr>
              <a:spLocks noChangeArrowheads="1"/>
            </p:cNvSpPr>
            <p:nvPr/>
          </p:nvSpPr>
          <p:spPr bwMode="auto">
            <a:xfrm>
              <a:off x="7886276"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0" name="Text Box 37">
              <a:extLst>
                <a:ext uri="{FF2B5EF4-FFF2-40B4-BE49-F238E27FC236}">
                  <a16:creationId xmlns:a16="http://schemas.microsoft.com/office/drawing/2014/main" id="{055FFB24-1E00-B27D-9327-B3973888B1AD}"/>
                </a:ext>
              </a:extLst>
            </p:cNvPr>
            <p:cNvSpPr txBox="1">
              <a:spLocks noChangeArrowheads="1"/>
            </p:cNvSpPr>
            <p:nvPr/>
          </p:nvSpPr>
          <p:spPr bwMode="auto">
            <a:xfrm>
              <a:off x="3140046" y="3693152"/>
              <a:ext cx="2988840"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5" name="Line 42">
              <a:extLst>
                <a:ext uri="{FF2B5EF4-FFF2-40B4-BE49-F238E27FC236}">
                  <a16:creationId xmlns:a16="http://schemas.microsoft.com/office/drawing/2014/main" id="{BE20197F-65E2-AB01-FB69-9A61454FCDAC}"/>
                </a:ext>
              </a:extLst>
            </p:cNvPr>
            <p:cNvSpPr>
              <a:spLocks noChangeShapeType="1"/>
            </p:cNvSpPr>
            <p:nvPr/>
          </p:nvSpPr>
          <p:spPr bwMode="auto">
            <a:xfrm flipV="1">
              <a:off x="947225" y="348194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6" name="Text Box 43">
              <a:extLst>
                <a:ext uri="{FF2B5EF4-FFF2-40B4-BE49-F238E27FC236}">
                  <a16:creationId xmlns:a16="http://schemas.microsoft.com/office/drawing/2014/main" id="{49DD16CF-9029-B8F4-E410-9A85CC8C8A21}"/>
                </a:ext>
              </a:extLst>
            </p:cNvPr>
            <p:cNvSpPr txBox="1">
              <a:spLocks noChangeArrowheads="1"/>
            </p:cNvSpPr>
            <p:nvPr/>
          </p:nvSpPr>
          <p:spPr bwMode="auto">
            <a:xfrm>
              <a:off x="682176" y="3763575"/>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solidFill>
                    <a:srgbClr val="0000FF"/>
                  </a:solidFill>
                  <a:latin typeface="微软雅黑" pitchFamily="34" charset="-122"/>
                  <a:ea typeface="微软雅黑" pitchFamily="34" charset="-122"/>
                </a:rPr>
                <a:t>发送在前</a:t>
              </a:r>
            </a:p>
          </p:txBody>
        </p:sp>
      </p:grpSp>
      <p:grpSp>
        <p:nvGrpSpPr>
          <p:cNvPr id="3" name="组合 2">
            <a:extLst>
              <a:ext uri="{FF2B5EF4-FFF2-40B4-BE49-F238E27FC236}">
                <a16:creationId xmlns:a16="http://schemas.microsoft.com/office/drawing/2014/main" id="{B203D849-788B-4D5C-D9D1-B18F3C14BFC1}"/>
              </a:ext>
            </a:extLst>
          </p:cNvPr>
          <p:cNvGrpSpPr/>
          <p:nvPr/>
        </p:nvGrpSpPr>
        <p:grpSpPr>
          <a:xfrm>
            <a:off x="1388983" y="1157916"/>
            <a:ext cx="6181143" cy="885562"/>
            <a:chOff x="1388983" y="1466402"/>
            <a:chExt cx="6181143" cy="885562"/>
          </a:xfrm>
        </p:grpSpPr>
        <p:sp>
          <p:nvSpPr>
            <p:cNvPr id="13" name="Rectangle 9">
              <a:extLst>
                <a:ext uri="{FF2B5EF4-FFF2-40B4-BE49-F238E27FC236}">
                  <a16:creationId xmlns:a16="http://schemas.microsoft.com/office/drawing/2014/main" id="{6F6D69D2-8429-0F67-71BC-D4B807E58F4D}"/>
                </a:ext>
              </a:extLst>
            </p:cNvPr>
            <p:cNvSpPr>
              <a:spLocks noChangeArrowheads="1"/>
            </p:cNvSpPr>
            <p:nvPr/>
          </p:nvSpPr>
          <p:spPr bwMode="auto">
            <a:xfrm>
              <a:off x="1563290"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14" name="Rectangle 10">
              <a:extLst>
                <a:ext uri="{FF2B5EF4-FFF2-40B4-BE49-F238E27FC236}">
                  <a16:creationId xmlns:a16="http://schemas.microsoft.com/office/drawing/2014/main" id="{EC1813F8-E418-D28B-32F3-63BC5AA634CF}"/>
                </a:ext>
              </a:extLst>
            </p:cNvPr>
            <p:cNvSpPr>
              <a:spLocks noChangeArrowheads="1"/>
            </p:cNvSpPr>
            <p:nvPr/>
          </p:nvSpPr>
          <p:spPr bwMode="auto">
            <a:xfrm>
              <a:off x="1946502" y="199823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 name="Rectangle 11">
              <a:extLst>
                <a:ext uri="{FF2B5EF4-FFF2-40B4-BE49-F238E27FC236}">
                  <a16:creationId xmlns:a16="http://schemas.microsoft.com/office/drawing/2014/main" id="{B7663E13-A367-149B-6A6F-155CDC6BE77A}"/>
                </a:ext>
              </a:extLst>
            </p:cNvPr>
            <p:cNvSpPr>
              <a:spLocks noChangeArrowheads="1"/>
            </p:cNvSpPr>
            <p:nvPr/>
          </p:nvSpPr>
          <p:spPr bwMode="auto">
            <a:xfrm>
              <a:off x="2521318" y="199823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EOT</a:t>
              </a:r>
            </a:p>
          </p:txBody>
        </p:sp>
        <p:sp>
          <p:nvSpPr>
            <p:cNvPr id="16" name="Rectangle 12">
              <a:extLst>
                <a:ext uri="{FF2B5EF4-FFF2-40B4-BE49-F238E27FC236}">
                  <a16:creationId xmlns:a16="http://schemas.microsoft.com/office/drawing/2014/main" id="{FA73E46D-81DD-390F-EAA3-7543A1B1964C}"/>
                </a:ext>
              </a:extLst>
            </p:cNvPr>
            <p:cNvSpPr>
              <a:spLocks noChangeArrowheads="1"/>
            </p:cNvSpPr>
            <p:nvPr/>
          </p:nvSpPr>
          <p:spPr bwMode="auto">
            <a:xfrm>
              <a:off x="6034088" y="1998230"/>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17" name="Rectangle 14">
              <a:extLst>
                <a:ext uri="{FF2B5EF4-FFF2-40B4-BE49-F238E27FC236}">
                  <a16:creationId xmlns:a16="http://schemas.microsoft.com/office/drawing/2014/main" id="{1CDBD7BE-976F-B214-1BCB-21FD29AD247F}"/>
                </a:ext>
              </a:extLst>
            </p:cNvPr>
            <p:cNvSpPr>
              <a:spLocks noChangeArrowheads="1"/>
            </p:cNvSpPr>
            <p:nvPr/>
          </p:nvSpPr>
          <p:spPr bwMode="auto">
            <a:xfrm>
              <a:off x="4948323" y="199823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ESC</a:t>
              </a:r>
            </a:p>
          </p:txBody>
        </p:sp>
        <p:sp>
          <p:nvSpPr>
            <p:cNvPr id="35" name="Line 32">
              <a:extLst>
                <a:ext uri="{FF2B5EF4-FFF2-40B4-BE49-F238E27FC236}">
                  <a16:creationId xmlns:a16="http://schemas.microsoft.com/office/drawing/2014/main" id="{9A9F3902-7814-9D8C-A740-14A5361BFAF5}"/>
                </a:ext>
              </a:extLst>
            </p:cNvPr>
            <p:cNvSpPr>
              <a:spLocks noChangeShapeType="1"/>
            </p:cNvSpPr>
            <p:nvPr/>
          </p:nvSpPr>
          <p:spPr bwMode="auto">
            <a:xfrm>
              <a:off x="1946502" y="1821363"/>
              <a:ext cx="504561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6" name="Text Box 33">
              <a:extLst>
                <a:ext uri="{FF2B5EF4-FFF2-40B4-BE49-F238E27FC236}">
                  <a16:creationId xmlns:a16="http://schemas.microsoft.com/office/drawing/2014/main" id="{9E2FDA70-0033-FF40-C649-BBD84600F94C}"/>
                </a:ext>
              </a:extLst>
            </p:cNvPr>
            <p:cNvSpPr txBox="1">
              <a:spLocks noChangeArrowheads="1"/>
            </p:cNvSpPr>
            <p:nvPr/>
          </p:nvSpPr>
          <p:spPr bwMode="auto">
            <a:xfrm>
              <a:off x="3926426" y="1506060"/>
              <a:ext cx="1005403"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原始数据</a:t>
              </a:r>
            </a:p>
          </p:txBody>
        </p:sp>
        <p:sp>
          <p:nvSpPr>
            <p:cNvPr id="39" name="Rectangle 36">
              <a:extLst>
                <a:ext uri="{FF2B5EF4-FFF2-40B4-BE49-F238E27FC236}">
                  <a16:creationId xmlns:a16="http://schemas.microsoft.com/office/drawing/2014/main" id="{2834F0B3-9636-96F6-C7A0-C6FACDDDBAFC}"/>
                </a:ext>
              </a:extLst>
            </p:cNvPr>
            <p:cNvSpPr>
              <a:spLocks noChangeArrowheads="1"/>
            </p:cNvSpPr>
            <p:nvPr/>
          </p:nvSpPr>
          <p:spPr bwMode="auto">
            <a:xfrm>
              <a:off x="6992116"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44">
              <a:extLst>
                <a:ext uri="{FF2B5EF4-FFF2-40B4-BE49-F238E27FC236}">
                  <a16:creationId xmlns:a16="http://schemas.microsoft.com/office/drawing/2014/main" id="{B2B6BFF4-FE79-FA5A-F288-137D6E506036}"/>
                </a:ext>
              </a:extLst>
            </p:cNvPr>
            <p:cNvSpPr>
              <a:spLocks noChangeShapeType="1"/>
            </p:cNvSpPr>
            <p:nvPr/>
          </p:nvSpPr>
          <p:spPr bwMode="auto">
            <a:xfrm>
              <a:off x="1773524"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Text Box 45">
              <a:extLst>
                <a:ext uri="{FF2B5EF4-FFF2-40B4-BE49-F238E27FC236}">
                  <a16:creationId xmlns:a16="http://schemas.microsoft.com/office/drawing/2014/main" id="{C72E4A71-847E-AD4D-7F3E-3F5B57A88327}"/>
                </a:ext>
              </a:extLst>
            </p:cNvPr>
            <p:cNvSpPr txBox="1">
              <a:spLocks noChangeArrowheads="1"/>
            </p:cNvSpPr>
            <p:nvPr/>
          </p:nvSpPr>
          <p:spPr bwMode="auto">
            <a:xfrm>
              <a:off x="1388983"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帧开始符</a:t>
              </a:r>
            </a:p>
          </p:txBody>
        </p:sp>
        <p:sp>
          <p:nvSpPr>
            <p:cNvPr id="49" name="Text Box 46">
              <a:extLst>
                <a:ext uri="{FF2B5EF4-FFF2-40B4-BE49-F238E27FC236}">
                  <a16:creationId xmlns:a16="http://schemas.microsoft.com/office/drawing/2014/main" id="{92FEECCA-909A-5D9C-9843-BDB6540F9F3D}"/>
                </a:ext>
              </a:extLst>
            </p:cNvPr>
            <p:cNvSpPr txBox="1">
              <a:spLocks noChangeArrowheads="1"/>
            </p:cNvSpPr>
            <p:nvPr/>
          </p:nvSpPr>
          <p:spPr bwMode="auto">
            <a:xfrm>
              <a:off x="6769907"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帧结束符</a:t>
              </a:r>
            </a:p>
          </p:txBody>
        </p:sp>
        <p:sp>
          <p:nvSpPr>
            <p:cNvPr id="50" name="Line 47">
              <a:extLst>
                <a:ext uri="{FF2B5EF4-FFF2-40B4-BE49-F238E27FC236}">
                  <a16:creationId xmlns:a16="http://schemas.microsoft.com/office/drawing/2014/main" id="{396916DE-0376-65E1-01E1-1CC2EC50FC81}"/>
                </a:ext>
              </a:extLst>
            </p:cNvPr>
            <p:cNvSpPr>
              <a:spLocks noChangeShapeType="1"/>
            </p:cNvSpPr>
            <p:nvPr/>
          </p:nvSpPr>
          <p:spPr bwMode="auto">
            <a:xfrm>
              <a:off x="7202350"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Rectangle 13">
              <a:extLst>
                <a:ext uri="{FF2B5EF4-FFF2-40B4-BE49-F238E27FC236}">
                  <a16:creationId xmlns:a16="http://schemas.microsoft.com/office/drawing/2014/main" id="{4B0CDC3F-8590-25F8-DF6C-8B7D3B36C4CB}"/>
                </a:ext>
              </a:extLst>
            </p:cNvPr>
            <p:cNvSpPr>
              <a:spLocks noChangeArrowheads="1"/>
            </p:cNvSpPr>
            <p:nvPr/>
          </p:nvSpPr>
          <p:spPr bwMode="auto">
            <a:xfrm>
              <a:off x="3670952" y="199823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grpSp>
      <p:grpSp>
        <p:nvGrpSpPr>
          <p:cNvPr id="58" name="组合 57">
            <a:extLst>
              <a:ext uri="{FF2B5EF4-FFF2-40B4-BE49-F238E27FC236}">
                <a16:creationId xmlns:a16="http://schemas.microsoft.com/office/drawing/2014/main" id="{09A594FB-9455-8420-19AA-8BA0E642E9AD}"/>
              </a:ext>
            </a:extLst>
          </p:cNvPr>
          <p:cNvGrpSpPr/>
          <p:nvPr/>
        </p:nvGrpSpPr>
        <p:grpSpPr>
          <a:xfrm>
            <a:off x="1691027" y="2281364"/>
            <a:ext cx="5457301" cy="613285"/>
            <a:chOff x="1691027" y="2589850"/>
            <a:chExt cx="5457301" cy="613285"/>
          </a:xfrm>
        </p:grpSpPr>
        <p:sp>
          <p:nvSpPr>
            <p:cNvPr id="41" name="Text Box 38">
              <a:extLst>
                <a:ext uri="{FF2B5EF4-FFF2-40B4-BE49-F238E27FC236}">
                  <a16:creationId xmlns:a16="http://schemas.microsoft.com/office/drawing/2014/main" id="{BA0B549A-1353-EA46-BBAF-62DC729D1F18}"/>
                </a:ext>
              </a:extLst>
            </p:cNvPr>
            <p:cNvSpPr txBox="1">
              <a:spLocks noChangeArrowheads="1"/>
            </p:cNvSpPr>
            <p:nvPr/>
          </p:nvSpPr>
          <p:spPr bwMode="auto">
            <a:xfrm>
              <a:off x="6348109"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3" name="Text Box 40">
              <a:extLst>
                <a:ext uri="{FF2B5EF4-FFF2-40B4-BE49-F238E27FC236}">
                  <a16:creationId xmlns:a16="http://schemas.microsoft.com/office/drawing/2014/main" id="{DAEF1EDB-4FC9-4984-1137-300F889154BF}"/>
                </a:ext>
              </a:extLst>
            </p:cNvPr>
            <p:cNvSpPr txBox="1">
              <a:spLocks noChangeArrowheads="1"/>
            </p:cNvSpPr>
            <p:nvPr/>
          </p:nvSpPr>
          <p:spPr bwMode="auto">
            <a:xfrm>
              <a:off x="3140046"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4" name="Text Box 41">
              <a:extLst>
                <a:ext uri="{FF2B5EF4-FFF2-40B4-BE49-F238E27FC236}">
                  <a16:creationId xmlns:a16="http://schemas.microsoft.com/office/drawing/2014/main" id="{007FB66E-23C4-03D9-DCC1-812D53894A32}"/>
                </a:ext>
              </a:extLst>
            </p:cNvPr>
            <p:cNvSpPr txBox="1">
              <a:spLocks noChangeArrowheads="1"/>
            </p:cNvSpPr>
            <p:nvPr/>
          </p:nvSpPr>
          <p:spPr bwMode="auto">
            <a:xfrm>
              <a:off x="1691027"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51" name="AutoShape 48">
              <a:extLst>
                <a:ext uri="{FF2B5EF4-FFF2-40B4-BE49-F238E27FC236}">
                  <a16:creationId xmlns:a16="http://schemas.microsoft.com/office/drawing/2014/main" id="{A21585BC-7CAB-0C75-1CA7-014238F65FF2}"/>
                </a:ext>
              </a:extLst>
            </p:cNvPr>
            <p:cNvSpPr>
              <a:spLocks noChangeArrowheads="1"/>
            </p:cNvSpPr>
            <p:nvPr/>
          </p:nvSpPr>
          <p:spPr bwMode="auto">
            <a:xfrm>
              <a:off x="1993073"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2" name="AutoShape 49">
              <a:extLst>
                <a:ext uri="{FF2B5EF4-FFF2-40B4-BE49-F238E27FC236}">
                  <a16:creationId xmlns:a16="http://schemas.microsoft.com/office/drawing/2014/main" id="{56F357B7-B790-906A-0CD5-C18577552388}"/>
                </a:ext>
              </a:extLst>
            </p:cNvPr>
            <p:cNvSpPr>
              <a:spLocks noChangeArrowheads="1"/>
            </p:cNvSpPr>
            <p:nvPr/>
          </p:nvSpPr>
          <p:spPr bwMode="auto">
            <a:xfrm>
              <a:off x="3493984"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4" name="AutoShape 51">
              <a:extLst>
                <a:ext uri="{FF2B5EF4-FFF2-40B4-BE49-F238E27FC236}">
                  <a16:creationId xmlns:a16="http://schemas.microsoft.com/office/drawing/2014/main" id="{959D331D-11D3-C88F-4B9B-8C82B4955672}"/>
                </a:ext>
              </a:extLst>
            </p:cNvPr>
            <p:cNvSpPr>
              <a:spLocks noChangeArrowheads="1"/>
            </p:cNvSpPr>
            <p:nvPr/>
          </p:nvSpPr>
          <p:spPr bwMode="auto">
            <a:xfrm>
              <a:off x="6640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
        <p:nvSpPr>
          <p:cNvPr id="4" name="文本框 3">
            <a:extLst>
              <a:ext uri="{FF2B5EF4-FFF2-40B4-BE49-F238E27FC236}">
                <a16:creationId xmlns:a16="http://schemas.microsoft.com/office/drawing/2014/main" id="{7F9544EF-249A-73DC-A870-E42DCCCDA9A1}"/>
              </a:ext>
            </a:extLst>
          </p:cNvPr>
          <p:cNvSpPr txBox="1"/>
          <p:nvPr/>
        </p:nvSpPr>
        <p:spPr>
          <a:xfrm>
            <a:off x="911378" y="3987752"/>
            <a:ext cx="7321244" cy="826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eaLnBrk="0" hangingPunct="0">
              <a:lnSpc>
                <a:spcPts val="3000"/>
              </a:lnSpc>
              <a:buClr>
                <a:srgbClr val="0070C0"/>
              </a:buClr>
              <a:buFont typeface="Wingdings" pitchFamily="2" charset="2"/>
              <a:buChar char="l"/>
              <a:defRPr sz="2000" b="1">
                <a:solidFill>
                  <a:srgbClr val="C00000"/>
                </a:solidFill>
                <a:latin typeface="微软雅黑" pitchFamily="34" charset="-122"/>
                <a:ea typeface="微软雅黑" pitchFamily="34" charset="-122"/>
              </a:defRPr>
            </a:lvl1pPr>
          </a:lstStyle>
          <a:p>
            <a:r>
              <a:rPr lang="zh-CN" altLang="en-US" dirty="0">
                <a:solidFill>
                  <a:schemeClr val="tx1"/>
                </a:solidFill>
              </a:rPr>
              <a:t>在接收端的数据链路层在把数据送往网络层之前删除这些插入的转义字符。</a:t>
            </a:r>
          </a:p>
        </p:txBody>
      </p:sp>
      <p:grpSp>
        <p:nvGrpSpPr>
          <p:cNvPr id="59" name="组合 58">
            <a:extLst>
              <a:ext uri="{FF2B5EF4-FFF2-40B4-BE49-F238E27FC236}">
                <a16:creationId xmlns:a16="http://schemas.microsoft.com/office/drawing/2014/main" id="{EB412EB5-6EB9-04CE-3DA3-3B8F082E8782}"/>
              </a:ext>
            </a:extLst>
          </p:cNvPr>
          <p:cNvGrpSpPr/>
          <p:nvPr/>
        </p:nvGrpSpPr>
        <p:grpSpPr>
          <a:xfrm>
            <a:off x="4768693" y="2281364"/>
            <a:ext cx="800219" cy="613285"/>
            <a:chOff x="4768693" y="2281364"/>
            <a:chExt cx="800219" cy="613285"/>
          </a:xfrm>
        </p:grpSpPr>
        <p:sp>
          <p:nvSpPr>
            <p:cNvPr id="2" name="Text Box 39">
              <a:extLst>
                <a:ext uri="{FF2B5EF4-FFF2-40B4-BE49-F238E27FC236}">
                  <a16:creationId xmlns:a16="http://schemas.microsoft.com/office/drawing/2014/main" id="{DD22D92D-0141-8907-DE8A-780C50DF4EA6}"/>
                </a:ext>
              </a:extLst>
            </p:cNvPr>
            <p:cNvSpPr txBox="1">
              <a:spLocks noChangeArrowheads="1"/>
            </p:cNvSpPr>
            <p:nvPr/>
          </p:nvSpPr>
          <p:spPr bwMode="auto">
            <a:xfrm>
              <a:off x="4768693" y="2281364"/>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56" name="AutoShape 50">
              <a:extLst>
                <a:ext uri="{FF2B5EF4-FFF2-40B4-BE49-F238E27FC236}">
                  <a16:creationId xmlns:a16="http://schemas.microsoft.com/office/drawing/2014/main" id="{D7A39DC0-D55C-B101-39E8-4B546725FDED}"/>
                </a:ext>
              </a:extLst>
            </p:cNvPr>
            <p:cNvSpPr>
              <a:spLocks noChangeArrowheads="1"/>
            </p:cNvSpPr>
            <p:nvPr/>
          </p:nvSpPr>
          <p:spPr bwMode="auto">
            <a:xfrm>
              <a:off x="5183840" y="2560567"/>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Tree>
    <p:custDataLst>
      <p:tags r:id="rId1"/>
    </p:custDataLst>
    <p:extLst>
      <p:ext uri="{BB962C8B-B14F-4D97-AF65-F5344CB8AC3E}">
        <p14:creationId xmlns:p14="http://schemas.microsoft.com/office/powerpoint/2010/main" val="38336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1000"/>
                                        <p:tgtEl>
                                          <p:spTgt spid="5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1000"/>
                            </p:stCondLst>
                            <p:childTnLst>
                              <p:par>
                                <p:cTn id="12" presetID="35" presetClass="emph" presetSubtype="0" repeatCount="5000" fill="hold" nodeType="afterEffect">
                                  <p:stCondLst>
                                    <p:cond delay="0"/>
                                  </p:stCondLst>
                                  <p:childTnLst>
                                    <p:anim calcmode="discrete" valueType="str">
                                      <p:cBhvr>
                                        <p:cTn id="13"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9"/>
                                        </p:tgtEl>
                                        <p:attrNameLst>
                                          <p:attrName>style.visibility</p:attrName>
                                        </p:attrNameLst>
                                      </p:cBhvr>
                                      <p:to>
                                        <p:strVal val="visible"/>
                                      </p:to>
                                    </p:set>
                                  </p:childTnLst>
                                </p:cTn>
                              </p:par>
                            </p:childTnLst>
                          </p:cTn>
                        </p:par>
                        <p:par>
                          <p:cTn id="18" fill="hold">
                            <p:stCondLst>
                              <p:cond delay="0"/>
                            </p:stCondLst>
                            <p:childTnLst>
                              <p:par>
                                <p:cTn id="19" presetID="35" presetClass="emph" presetSubtype="0" repeatCount="5000" fill="hold" nodeType="afterEffect">
                                  <p:stCondLst>
                                    <p:cond delay="0"/>
                                  </p:stCondLst>
                                  <p:childTnLst>
                                    <p:anim calcmode="discrete" valueType="str">
                                      <p:cBhvr>
                                        <p:cTn id="20"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5" presetClass="emph" presetSubtype="0" repeatCount="3000" fill="hold" grpId="0" nodeType="clickEffect">
                                  <p:stCondLst>
                                    <p:cond delay="0"/>
                                  </p:stCondLst>
                                  <p:childTnLst>
                                    <p:anim calcmode="discrete" valueType="str">
                                      <p:cBhvr>
                                        <p:cTn id="31"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466344" y="1378072"/>
            <a:ext cx="8129015" cy="22204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表格 10"/>
          <p:cNvGraphicFramePr>
            <a:graphicFrameLocks noGrp="1"/>
          </p:cNvGraphicFramePr>
          <p:nvPr/>
        </p:nvGraphicFramePr>
        <p:xfrm>
          <a:off x="1093346" y="1624782"/>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nvGraphicFramePr>
        <p:xfrm>
          <a:off x="1093346" y="2649967"/>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4" name="Text Box 8"/>
          <p:cNvSpPr txBox="1">
            <a:spLocks noChangeArrowheads="1"/>
          </p:cNvSpPr>
          <p:nvPr/>
        </p:nvSpPr>
        <p:spPr bwMode="auto">
          <a:xfrm>
            <a:off x="1795805"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一位比特错</a:t>
            </a:r>
            <a:endParaRPr kumimoji="1" lang="en-US" altLang="zh-CN" sz="1600" b="1" dirty="0">
              <a:latin typeface="微软雅黑" pitchFamily="34" charset="-122"/>
              <a:ea typeface="微软雅黑" pitchFamily="34" charset="-122"/>
            </a:endParaRPr>
          </a:p>
        </p:txBody>
      </p:sp>
      <p:graphicFrame>
        <p:nvGraphicFramePr>
          <p:cNvPr id="25" name="表格 24"/>
          <p:cNvGraphicFramePr>
            <a:graphicFrameLocks noGrp="1"/>
          </p:cNvGraphicFramePr>
          <p:nvPr/>
        </p:nvGraphicFramePr>
        <p:xfrm>
          <a:off x="4229193" y="1620936"/>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nvGraphicFramePr>
        <p:xfrm>
          <a:off x="4229193" y="2663019"/>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8" name="直接箭头连接符 27"/>
          <p:cNvCxnSpPr/>
          <p:nvPr/>
        </p:nvCxnSpPr>
        <p:spPr>
          <a:xfrm>
            <a:off x="5444644"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774280"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716429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 Box 8"/>
          <p:cNvSpPr txBox="1">
            <a:spLocks noChangeArrowheads="1"/>
          </p:cNvSpPr>
          <p:nvPr/>
        </p:nvSpPr>
        <p:spPr bwMode="auto">
          <a:xfrm>
            <a:off x="5613073"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多位比特错</a:t>
            </a:r>
            <a:endParaRPr kumimoji="1" lang="en-US" altLang="zh-CN" sz="1600" b="1" dirty="0">
              <a:latin typeface="微软雅黑" pitchFamily="34" charset="-122"/>
              <a:ea typeface="微软雅黑" pitchFamily="34" charset="-122"/>
            </a:endParaRPr>
          </a:p>
        </p:txBody>
      </p:sp>
      <p:sp>
        <p:nvSpPr>
          <p:cNvPr id="34" name="Text Box 45"/>
          <p:cNvSpPr txBox="1">
            <a:spLocks noChangeArrowheads="1"/>
          </p:cNvSpPr>
          <p:nvPr/>
        </p:nvSpPr>
        <p:spPr bwMode="auto">
          <a:xfrm>
            <a:off x="438758" y="1642102"/>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sp>
        <p:nvSpPr>
          <p:cNvPr id="35" name="Text Box 45"/>
          <p:cNvSpPr txBox="1">
            <a:spLocks noChangeArrowheads="1"/>
          </p:cNvSpPr>
          <p:nvPr/>
        </p:nvSpPr>
        <p:spPr bwMode="auto">
          <a:xfrm>
            <a:off x="445478" y="2672061"/>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cxnSp>
        <p:nvCxnSpPr>
          <p:cNvPr id="39" name="直接箭头连接符 38"/>
          <p:cNvCxnSpPr/>
          <p:nvPr/>
        </p:nvCxnSpPr>
        <p:spPr>
          <a:xfrm>
            <a:off x="230731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66346" y="971003"/>
            <a:ext cx="8129014" cy="400110"/>
          </a:xfrm>
          <a:prstGeom prst="rect">
            <a:avLst/>
          </a:prstGeom>
        </p:spPr>
        <p:txBody>
          <a:bodyPr wrap="square">
            <a:spAutoFit/>
          </a:bodyPr>
          <a:lstStyle/>
          <a:p>
            <a:pPr eaLnBrk="0" hangingPunct="0">
              <a:buClr>
                <a:srgbClr val="0070C0"/>
              </a:buClr>
            </a:pPr>
            <a:r>
              <a:rPr lang="zh-CN" altLang="en-US" sz="2000" b="1" dirty="0">
                <a:latin typeface="微软雅黑" pitchFamily="34" charset="-122"/>
                <a:ea typeface="微软雅黑" pitchFamily="34" charset="-122"/>
              </a:rPr>
              <a:t>在传输过程中可能会产生</a:t>
            </a:r>
            <a:r>
              <a:rPr lang="zh-CN" altLang="en-US" sz="2000" b="1" dirty="0">
                <a:solidFill>
                  <a:srgbClr val="C00000"/>
                </a:solidFill>
                <a:latin typeface="微软雅黑" pitchFamily="34" charset="-122"/>
                <a:ea typeface="微软雅黑" pitchFamily="34" charset="-122"/>
              </a:rPr>
              <a:t>比特差错：</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sym typeface="Wingdings" panose="05000000000000000000" pitchFamily="2" charset="2"/>
              </a:rPr>
              <a:t>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  </a:t>
            </a:r>
            <a:r>
              <a:rPr lang="en-US" altLang="zh-CN" sz="2000" b="1" dirty="0">
                <a:latin typeface="微软雅黑" pitchFamily="34" charset="-122"/>
                <a:ea typeface="微软雅黑" pitchFamily="34" charset="-122"/>
                <a:sym typeface="Wingdings" panose="05000000000000000000" pitchFamily="2" charset="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p:txBody>
      </p:sp>
      <p:sp>
        <p:nvSpPr>
          <p:cNvPr id="2" name="矩形 1"/>
          <p:cNvSpPr/>
          <p:nvPr/>
        </p:nvSpPr>
        <p:spPr>
          <a:xfrm>
            <a:off x="1355390" y="3659785"/>
            <a:ext cx="6483928"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在一段时间内，传输错误的比特占所传输比特总数的比率称为</a:t>
            </a:r>
            <a:r>
              <a:rPr lang="zh-CN" altLang="en-US" b="1" dirty="0">
                <a:solidFill>
                  <a:srgbClr val="0000FF"/>
                </a:solidFill>
                <a:latin typeface="微软雅黑" panose="020B0503020204020204" pitchFamily="34" charset="-122"/>
                <a:ea typeface="微软雅黑" panose="020B0503020204020204" pitchFamily="34" charset="-122"/>
              </a:rPr>
              <a:t>误码率 </a:t>
            </a:r>
            <a:r>
              <a:rPr lang="en-US" altLang="zh-CN" b="1" dirty="0">
                <a:solidFill>
                  <a:srgbClr val="0000FF"/>
                </a:solidFill>
                <a:latin typeface="微软雅黑" panose="020B0503020204020204" pitchFamily="34" charset="-122"/>
                <a:ea typeface="微软雅黑" panose="020B0503020204020204" pitchFamily="34" charset="-122"/>
              </a:rPr>
              <a:t>BER </a:t>
            </a:r>
            <a:r>
              <a:rPr lang="en-US" altLang="zh-CN" b="1" dirty="0">
                <a:latin typeface="微软雅黑" panose="020B0503020204020204" pitchFamily="34" charset="-122"/>
                <a:ea typeface="微软雅黑" panose="020B0503020204020204" pitchFamily="34" charset="-122"/>
              </a:rPr>
              <a:t>(Bit Error Rate)</a:t>
            </a:r>
            <a:r>
              <a:rPr lang="zh-CN" altLang="en-US" b="1" dirty="0">
                <a:latin typeface="微软雅黑" panose="020B0503020204020204" pitchFamily="34" charset="-122"/>
                <a:ea typeface="微软雅黑" panose="020B0503020204020204" pitchFamily="34" charset="-122"/>
              </a:rPr>
              <a:t>。</a:t>
            </a:r>
          </a:p>
        </p:txBody>
      </p:sp>
      <p:sp>
        <p:nvSpPr>
          <p:cNvPr id="5" name="标题 4">
            <a:extLst>
              <a:ext uri="{FF2B5EF4-FFF2-40B4-BE49-F238E27FC236}">
                <a16:creationId xmlns:a16="http://schemas.microsoft.com/office/drawing/2014/main" id="{14FE8D6E-D96F-BEF3-7C34-8A7DDF37C197}"/>
              </a:ext>
            </a:extLst>
          </p:cNvPr>
          <p:cNvSpPr>
            <a:spLocks noGrp="1"/>
          </p:cNvSpPr>
          <p:nvPr>
            <p:ph type="title"/>
          </p:nvPr>
        </p:nvSpPr>
        <p:spPr>
          <a:xfrm>
            <a:off x="4880040" y="390777"/>
            <a:ext cx="3401184" cy="400110"/>
          </a:xfrm>
        </p:spPr>
        <p:txBody>
          <a:bodyPr/>
          <a:lstStyle/>
          <a:p>
            <a:r>
              <a:rPr lang="zh-CN" altLang="en-US" dirty="0"/>
              <a:t>差错检测</a:t>
            </a:r>
            <a:endParaRPr lang="fr-FR" altLang="zh-CN" dirty="0"/>
          </a:p>
        </p:txBody>
      </p:sp>
      <p:sp>
        <p:nvSpPr>
          <p:cNvPr id="6" name="文本占位符 5">
            <a:extLst>
              <a:ext uri="{FF2B5EF4-FFF2-40B4-BE49-F238E27FC236}">
                <a16:creationId xmlns:a16="http://schemas.microsoft.com/office/drawing/2014/main" id="{F5692E78-1750-5FBB-609A-84042F306292}"/>
              </a:ext>
            </a:extLst>
          </p:cNvPr>
          <p:cNvSpPr>
            <a:spLocks noGrp="1"/>
          </p:cNvSpPr>
          <p:nvPr>
            <p:ph type="body" sz="quarter" idx="10"/>
          </p:nvPr>
        </p:nvSpPr>
        <p:spPr>
          <a:xfrm>
            <a:off x="8482487" y="413294"/>
            <a:ext cx="756000" cy="369332"/>
          </a:xfrm>
        </p:spPr>
        <p:txBody>
          <a:bodyPr/>
          <a:lstStyle/>
          <a:p>
            <a:r>
              <a:rPr lang="en-US" altLang="zh-CN" dirty="0"/>
              <a:t>03</a:t>
            </a:r>
            <a:endParaRPr lang="zh-CN" altLang="en-US" dirty="0"/>
          </a:p>
        </p:txBody>
      </p:sp>
    </p:spTree>
    <p:custDataLst>
      <p:tags r:id="rId1"/>
    </p:custDataLst>
    <p:extLst>
      <p:ext uri="{BB962C8B-B14F-4D97-AF65-F5344CB8AC3E}">
        <p14:creationId xmlns:p14="http://schemas.microsoft.com/office/powerpoint/2010/main" val="43380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AEA62-7B6E-9FC8-FA23-64D65977E6AD}"/>
            </a:ext>
          </a:extLst>
        </p:cNvPr>
        <p:cNvGrpSpPr/>
        <p:nvPr/>
      </p:nvGrpSpPr>
      <p:grpSpPr>
        <a:xfrm>
          <a:off x="0" y="0"/>
          <a:ext cx="0" cy="0"/>
          <a:chOff x="0" y="0"/>
          <a:chExt cx="0" cy="0"/>
        </a:xfrm>
      </p:grpSpPr>
      <p:sp>
        <p:nvSpPr>
          <p:cNvPr id="17" name="圆角矩形 16">
            <a:extLst>
              <a:ext uri="{FF2B5EF4-FFF2-40B4-BE49-F238E27FC236}">
                <a16:creationId xmlns:a16="http://schemas.microsoft.com/office/drawing/2014/main" id="{D430C3D5-38C3-09C2-3592-EF17EE53CE67}"/>
              </a:ext>
            </a:extLst>
          </p:cNvPr>
          <p:cNvSpPr/>
          <p:nvPr/>
        </p:nvSpPr>
        <p:spPr>
          <a:xfrm>
            <a:off x="466344" y="1378072"/>
            <a:ext cx="8129015" cy="22204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表格 10">
            <a:extLst>
              <a:ext uri="{FF2B5EF4-FFF2-40B4-BE49-F238E27FC236}">
                <a16:creationId xmlns:a16="http://schemas.microsoft.com/office/drawing/2014/main" id="{3F0E5F2F-6EB9-980C-EA8A-0B96EC05F46E}"/>
              </a:ext>
            </a:extLst>
          </p:cNvPr>
          <p:cNvGraphicFramePr>
            <a:graphicFrameLocks noGrp="1"/>
          </p:cNvGraphicFramePr>
          <p:nvPr/>
        </p:nvGraphicFramePr>
        <p:xfrm>
          <a:off x="1093346" y="1624782"/>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2" name="表格 11">
            <a:extLst>
              <a:ext uri="{FF2B5EF4-FFF2-40B4-BE49-F238E27FC236}">
                <a16:creationId xmlns:a16="http://schemas.microsoft.com/office/drawing/2014/main" id="{E7F6C6F9-3311-3214-6F9B-1580BE297451}"/>
              </a:ext>
            </a:extLst>
          </p:cNvPr>
          <p:cNvGraphicFramePr>
            <a:graphicFrameLocks noGrp="1"/>
          </p:cNvGraphicFramePr>
          <p:nvPr/>
        </p:nvGraphicFramePr>
        <p:xfrm>
          <a:off x="1093346" y="2649967"/>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4" name="Text Box 8">
            <a:extLst>
              <a:ext uri="{FF2B5EF4-FFF2-40B4-BE49-F238E27FC236}">
                <a16:creationId xmlns:a16="http://schemas.microsoft.com/office/drawing/2014/main" id="{15D6F050-3108-DF5D-86AC-BAAD3738F814}"/>
              </a:ext>
            </a:extLst>
          </p:cNvPr>
          <p:cNvSpPr txBox="1">
            <a:spLocks noChangeArrowheads="1"/>
          </p:cNvSpPr>
          <p:nvPr/>
        </p:nvSpPr>
        <p:spPr bwMode="auto">
          <a:xfrm>
            <a:off x="1795805"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一位比特错</a:t>
            </a:r>
            <a:endParaRPr kumimoji="1" lang="en-US" altLang="zh-CN" sz="1600" b="1" dirty="0">
              <a:latin typeface="微软雅黑" pitchFamily="34" charset="-122"/>
              <a:ea typeface="微软雅黑" pitchFamily="34" charset="-122"/>
            </a:endParaRPr>
          </a:p>
        </p:txBody>
      </p:sp>
      <p:graphicFrame>
        <p:nvGraphicFramePr>
          <p:cNvPr id="25" name="表格 24">
            <a:extLst>
              <a:ext uri="{FF2B5EF4-FFF2-40B4-BE49-F238E27FC236}">
                <a16:creationId xmlns:a16="http://schemas.microsoft.com/office/drawing/2014/main" id="{E5AA278E-6398-5CF0-F113-965DBAC6B344}"/>
              </a:ext>
            </a:extLst>
          </p:cNvPr>
          <p:cNvGraphicFramePr>
            <a:graphicFrameLocks noGrp="1"/>
          </p:cNvGraphicFramePr>
          <p:nvPr/>
        </p:nvGraphicFramePr>
        <p:xfrm>
          <a:off x="4229193" y="1620936"/>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6" name="表格 25">
            <a:extLst>
              <a:ext uri="{FF2B5EF4-FFF2-40B4-BE49-F238E27FC236}">
                <a16:creationId xmlns:a16="http://schemas.microsoft.com/office/drawing/2014/main" id="{7DC31C08-9634-1748-7FAF-BEC5026E53CA}"/>
              </a:ext>
            </a:extLst>
          </p:cNvPr>
          <p:cNvGraphicFramePr>
            <a:graphicFrameLocks noGrp="1"/>
          </p:cNvGraphicFramePr>
          <p:nvPr/>
        </p:nvGraphicFramePr>
        <p:xfrm>
          <a:off x="4229193" y="2663019"/>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8" name="直接箭头连接符 27">
            <a:extLst>
              <a:ext uri="{FF2B5EF4-FFF2-40B4-BE49-F238E27FC236}">
                <a16:creationId xmlns:a16="http://schemas.microsoft.com/office/drawing/2014/main" id="{5E8E38D1-6763-2CA8-A2A9-CFF5608278DE}"/>
              </a:ext>
            </a:extLst>
          </p:cNvPr>
          <p:cNvCxnSpPr/>
          <p:nvPr/>
        </p:nvCxnSpPr>
        <p:spPr>
          <a:xfrm>
            <a:off x="5444644"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0CEA5A68-93FF-A058-9900-2B3F42FB8405}"/>
              </a:ext>
            </a:extLst>
          </p:cNvPr>
          <p:cNvCxnSpPr/>
          <p:nvPr/>
        </p:nvCxnSpPr>
        <p:spPr>
          <a:xfrm>
            <a:off x="5774280"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A433181C-C329-5C59-DA4D-3C5FE95C0901}"/>
              </a:ext>
            </a:extLst>
          </p:cNvPr>
          <p:cNvCxnSpPr/>
          <p:nvPr/>
        </p:nvCxnSpPr>
        <p:spPr>
          <a:xfrm>
            <a:off x="716429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 Box 8">
            <a:extLst>
              <a:ext uri="{FF2B5EF4-FFF2-40B4-BE49-F238E27FC236}">
                <a16:creationId xmlns:a16="http://schemas.microsoft.com/office/drawing/2014/main" id="{C5CF5A39-CAE9-59B4-7D2A-792AE942ADB7}"/>
              </a:ext>
            </a:extLst>
          </p:cNvPr>
          <p:cNvSpPr txBox="1">
            <a:spLocks noChangeArrowheads="1"/>
          </p:cNvSpPr>
          <p:nvPr/>
        </p:nvSpPr>
        <p:spPr bwMode="auto">
          <a:xfrm>
            <a:off x="5613073"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多位比特错</a:t>
            </a:r>
            <a:endParaRPr kumimoji="1" lang="en-US" altLang="zh-CN" sz="1600" b="1" dirty="0">
              <a:latin typeface="微软雅黑" pitchFamily="34" charset="-122"/>
              <a:ea typeface="微软雅黑" pitchFamily="34" charset="-122"/>
            </a:endParaRPr>
          </a:p>
        </p:txBody>
      </p:sp>
      <p:sp>
        <p:nvSpPr>
          <p:cNvPr id="34" name="Text Box 45">
            <a:extLst>
              <a:ext uri="{FF2B5EF4-FFF2-40B4-BE49-F238E27FC236}">
                <a16:creationId xmlns:a16="http://schemas.microsoft.com/office/drawing/2014/main" id="{09329AFF-7094-FEE4-ECEF-37D989E40192}"/>
              </a:ext>
            </a:extLst>
          </p:cNvPr>
          <p:cNvSpPr txBox="1">
            <a:spLocks noChangeArrowheads="1"/>
          </p:cNvSpPr>
          <p:nvPr/>
        </p:nvSpPr>
        <p:spPr bwMode="auto">
          <a:xfrm>
            <a:off x="438758" y="1642102"/>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sp>
        <p:nvSpPr>
          <p:cNvPr id="35" name="Text Box 45">
            <a:extLst>
              <a:ext uri="{FF2B5EF4-FFF2-40B4-BE49-F238E27FC236}">
                <a16:creationId xmlns:a16="http://schemas.microsoft.com/office/drawing/2014/main" id="{70C8F7A8-9716-9DA8-3C7D-C5788F435485}"/>
              </a:ext>
            </a:extLst>
          </p:cNvPr>
          <p:cNvSpPr txBox="1">
            <a:spLocks noChangeArrowheads="1"/>
          </p:cNvSpPr>
          <p:nvPr/>
        </p:nvSpPr>
        <p:spPr bwMode="auto">
          <a:xfrm>
            <a:off x="445478" y="2672061"/>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cxnSp>
        <p:nvCxnSpPr>
          <p:cNvPr id="39" name="直接箭头连接符 38">
            <a:extLst>
              <a:ext uri="{FF2B5EF4-FFF2-40B4-BE49-F238E27FC236}">
                <a16:creationId xmlns:a16="http://schemas.microsoft.com/office/drawing/2014/main" id="{30E1E341-8037-718E-903F-EF8AE2845DC9}"/>
              </a:ext>
            </a:extLst>
          </p:cNvPr>
          <p:cNvCxnSpPr/>
          <p:nvPr/>
        </p:nvCxnSpPr>
        <p:spPr>
          <a:xfrm>
            <a:off x="230731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B4856495-207E-E5F6-5A78-5979BDAB9228}"/>
              </a:ext>
            </a:extLst>
          </p:cNvPr>
          <p:cNvSpPr/>
          <p:nvPr/>
        </p:nvSpPr>
        <p:spPr>
          <a:xfrm>
            <a:off x="466346" y="971003"/>
            <a:ext cx="8129014" cy="400110"/>
          </a:xfrm>
          <a:prstGeom prst="rect">
            <a:avLst/>
          </a:prstGeom>
        </p:spPr>
        <p:txBody>
          <a:bodyPr wrap="square">
            <a:spAutoFit/>
          </a:bodyPr>
          <a:lstStyle/>
          <a:p>
            <a:pPr eaLnBrk="0" hangingPunct="0">
              <a:buClr>
                <a:srgbClr val="0070C0"/>
              </a:buClr>
            </a:pPr>
            <a:r>
              <a:rPr lang="zh-CN" altLang="en-US" sz="2000" b="1" dirty="0">
                <a:latin typeface="微软雅黑" pitchFamily="34" charset="-122"/>
                <a:ea typeface="微软雅黑" pitchFamily="34" charset="-122"/>
              </a:rPr>
              <a:t>在传输过程中可能会产生</a:t>
            </a:r>
            <a:r>
              <a:rPr lang="zh-CN" altLang="en-US" sz="2000" b="1" dirty="0">
                <a:solidFill>
                  <a:srgbClr val="C00000"/>
                </a:solidFill>
                <a:latin typeface="微软雅黑" pitchFamily="34" charset="-122"/>
                <a:ea typeface="微软雅黑" pitchFamily="34" charset="-122"/>
              </a:rPr>
              <a:t>比特差错：</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sym typeface="Wingdings" panose="05000000000000000000" pitchFamily="2" charset="2"/>
              </a:rPr>
              <a:t>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  </a:t>
            </a:r>
            <a:r>
              <a:rPr lang="en-US" altLang="zh-CN" sz="2000" b="1" dirty="0">
                <a:latin typeface="微软雅黑" pitchFamily="34" charset="-122"/>
                <a:ea typeface="微软雅黑" pitchFamily="34" charset="-122"/>
                <a:sym typeface="Wingdings" panose="05000000000000000000" pitchFamily="2" charset="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p:txBody>
      </p:sp>
      <p:sp>
        <p:nvSpPr>
          <p:cNvPr id="2" name="矩形 1">
            <a:extLst>
              <a:ext uri="{FF2B5EF4-FFF2-40B4-BE49-F238E27FC236}">
                <a16:creationId xmlns:a16="http://schemas.microsoft.com/office/drawing/2014/main" id="{716E586F-CDE9-5B4E-F13E-3D2EC80112ED}"/>
              </a:ext>
            </a:extLst>
          </p:cNvPr>
          <p:cNvSpPr/>
          <p:nvPr/>
        </p:nvSpPr>
        <p:spPr>
          <a:xfrm>
            <a:off x="1355390" y="3659785"/>
            <a:ext cx="6483928"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为了保证数据传输的可靠性，在计算机网络传输数据时，必须采用各种差错检测措施。</a:t>
            </a:r>
          </a:p>
        </p:txBody>
      </p:sp>
      <p:sp>
        <p:nvSpPr>
          <p:cNvPr id="5" name="标题 4">
            <a:extLst>
              <a:ext uri="{FF2B5EF4-FFF2-40B4-BE49-F238E27FC236}">
                <a16:creationId xmlns:a16="http://schemas.microsoft.com/office/drawing/2014/main" id="{8D89D6D3-8797-3960-6073-EA5F8003670E}"/>
              </a:ext>
            </a:extLst>
          </p:cNvPr>
          <p:cNvSpPr>
            <a:spLocks noGrp="1"/>
          </p:cNvSpPr>
          <p:nvPr>
            <p:ph type="title"/>
          </p:nvPr>
        </p:nvSpPr>
        <p:spPr>
          <a:xfrm>
            <a:off x="4880040" y="390777"/>
            <a:ext cx="3401184" cy="400110"/>
          </a:xfrm>
        </p:spPr>
        <p:txBody>
          <a:bodyPr/>
          <a:lstStyle/>
          <a:p>
            <a:r>
              <a:rPr lang="zh-CN" altLang="en-US" dirty="0"/>
              <a:t>差错检测</a:t>
            </a:r>
            <a:endParaRPr lang="fr-FR" altLang="zh-CN" dirty="0"/>
          </a:p>
        </p:txBody>
      </p:sp>
      <p:sp>
        <p:nvSpPr>
          <p:cNvPr id="6" name="文本占位符 5">
            <a:extLst>
              <a:ext uri="{FF2B5EF4-FFF2-40B4-BE49-F238E27FC236}">
                <a16:creationId xmlns:a16="http://schemas.microsoft.com/office/drawing/2014/main" id="{1C6B8D93-0FD2-94AD-D62D-C6E138FB6A14}"/>
              </a:ext>
            </a:extLst>
          </p:cNvPr>
          <p:cNvSpPr>
            <a:spLocks noGrp="1"/>
          </p:cNvSpPr>
          <p:nvPr>
            <p:ph type="body" sz="quarter" idx="10"/>
          </p:nvPr>
        </p:nvSpPr>
        <p:spPr>
          <a:xfrm>
            <a:off x="8482487" y="413294"/>
            <a:ext cx="756000" cy="369332"/>
          </a:xfrm>
        </p:spPr>
        <p:txBody>
          <a:bodyPr/>
          <a:lstStyle/>
          <a:p>
            <a:r>
              <a:rPr lang="en-US" altLang="zh-CN" dirty="0"/>
              <a:t>03</a:t>
            </a:r>
            <a:endParaRPr lang="zh-CN" altLang="en-US" dirty="0"/>
          </a:p>
        </p:txBody>
      </p:sp>
    </p:spTree>
    <p:extLst>
      <p:ext uri="{BB962C8B-B14F-4D97-AF65-F5344CB8AC3E}">
        <p14:creationId xmlns:p14="http://schemas.microsoft.com/office/powerpoint/2010/main" val="259707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466344" y="1135977"/>
            <a:ext cx="4356027" cy="29776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466344" y="6239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4" y="572577"/>
            <a:ext cx="7816715" cy="400110"/>
          </a:xfrm>
          <a:prstGeom prst="rect">
            <a:avLst/>
          </a:prstGeom>
        </p:spPr>
        <p:txBody>
          <a:bodyPr wrap="square">
            <a:spAutoFit/>
          </a:bodyPr>
          <a:lstStyle/>
          <a:p>
            <a:pPr algn="ctr"/>
            <a:r>
              <a:rPr lang="zh-CN" altLang="en-US" sz="2000" b="1" dirty="0">
                <a:latin typeface="微软雅黑" pitchFamily="34" charset="-122"/>
                <a:ea typeface="微软雅黑" pitchFamily="34" charset="-122"/>
              </a:rPr>
              <a:t>循环冗余校验 </a:t>
            </a:r>
            <a:r>
              <a:rPr lang="en-US" altLang="zh-CN" sz="2000" b="1" dirty="0">
                <a:latin typeface="微软雅黑" pitchFamily="34" charset="-122"/>
                <a:ea typeface="微软雅黑" pitchFamily="34" charset="-122"/>
              </a:rPr>
              <a:t>CRC (Cyclic Redundancy Check) </a:t>
            </a:r>
            <a:endParaRPr lang="zh-CN" altLang="en-US" sz="2000" b="1" dirty="0">
              <a:latin typeface="微软雅黑" pitchFamily="34" charset="-122"/>
              <a:ea typeface="微软雅黑" pitchFamily="34" charset="-122"/>
            </a:endParaRPr>
          </a:p>
        </p:txBody>
      </p:sp>
      <p:sp>
        <p:nvSpPr>
          <p:cNvPr id="6" name="矩形 5"/>
          <p:cNvSpPr/>
          <p:nvPr/>
        </p:nvSpPr>
        <p:spPr>
          <a:xfrm>
            <a:off x="857507" y="1547250"/>
            <a:ext cx="2332892"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3190396" y="1547250"/>
            <a:ext cx="1184033"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冗余码</a:t>
            </a:r>
            <a:endParaRPr lang="zh-CN" altLang="en-US" sz="1400" b="1" dirty="0">
              <a:latin typeface="微软雅黑" pitchFamily="34" charset="-122"/>
              <a:ea typeface="微软雅黑" pitchFamily="34" charset="-122"/>
            </a:endParaRPr>
          </a:p>
        </p:txBody>
      </p:sp>
      <p:sp>
        <p:nvSpPr>
          <p:cNvPr id="9" name="矩形 8"/>
          <p:cNvSpPr/>
          <p:nvPr/>
        </p:nvSpPr>
        <p:spPr>
          <a:xfrm>
            <a:off x="857507" y="2473374"/>
            <a:ext cx="3516922" cy="29969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11" name="矩形 10"/>
          <p:cNvSpPr/>
          <p:nvPr/>
        </p:nvSpPr>
        <p:spPr>
          <a:xfrm>
            <a:off x="1861696" y="1272539"/>
            <a:ext cx="524503"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2" name="矩形 11"/>
          <p:cNvSpPr/>
          <p:nvPr/>
        </p:nvSpPr>
        <p:spPr>
          <a:xfrm>
            <a:off x="3474321" y="1272539"/>
            <a:ext cx="534121"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4" name="下箭头 13"/>
          <p:cNvSpPr/>
          <p:nvPr/>
        </p:nvSpPr>
        <p:spPr>
          <a:xfrm>
            <a:off x="2440121" y="1952458"/>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94807" y="2772259"/>
            <a:ext cx="970437" cy="307777"/>
          </a:xfrm>
          <a:prstGeom prst="rect">
            <a:avLst/>
          </a:prstGeom>
        </p:spPr>
        <p:txBody>
          <a:bodyPr wrap="squar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 </a:t>
            </a: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cxnSp>
        <p:nvCxnSpPr>
          <p:cNvPr id="17" name="直接连接符 16"/>
          <p:cNvCxnSpPr/>
          <p:nvPr/>
        </p:nvCxnSpPr>
        <p:spPr>
          <a:xfrm>
            <a:off x="3190399" y="2473374"/>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下箭头 17"/>
          <p:cNvSpPr/>
          <p:nvPr/>
        </p:nvSpPr>
        <p:spPr>
          <a:xfrm>
            <a:off x="2440121" y="3096150"/>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2004291" y="3622867"/>
            <a:ext cx="1089891" cy="276999"/>
          </a:xfrm>
          <a:prstGeom prst="round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组帧发送</a:t>
            </a:r>
          </a:p>
        </p:txBody>
      </p:sp>
      <p:sp>
        <p:nvSpPr>
          <p:cNvPr id="4" name="矩形 3"/>
          <p:cNvSpPr/>
          <p:nvPr/>
        </p:nvSpPr>
        <p:spPr>
          <a:xfrm>
            <a:off x="4923626" y="1157629"/>
            <a:ext cx="3627001" cy="2631490"/>
          </a:xfrm>
          <a:prstGeom prst="rect">
            <a:avLst/>
          </a:prstGeom>
        </p:spPr>
        <p:txBody>
          <a:bodyPr wrap="square">
            <a:spAutoFit/>
          </a:bodyPr>
          <a:lstStyle/>
          <a:p>
            <a:pPr marL="285750" lvl="0" indent="-285750">
              <a:lnSpc>
                <a:spcPts val="3300"/>
              </a:lnSpc>
              <a:buClr>
                <a:srgbClr val="0070C0"/>
              </a:buClr>
              <a:buFont typeface="Wingdings" pitchFamily="2" charset="2"/>
              <a:buChar char="l"/>
            </a:pPr>
            <a:r>
              <a:rPr lang="zh-CN" altLang="en-US" sz="2000" b="1" dirty="0">
                <a:solidFill>
                  <a:prstClr val="black"/>
                </a:solidFill>
                <a:latin typeface="微软雅黑" pitchFamily="34" charset="-122"/>
                <a:ea typeface="微软雅黑" pitchFamily="34" charset="-122"/>
              </a:rPr>
              <a:t>在发送端，先把</a:t>
            </a:r>
            <a:r>
              <a:rPr lang="zh-CN" altLang="en-US" sz="2000" b="1" dirty="0">
                <a:solidFill>
                  <a:srgbClr val="C00000"/>
                </a:solidFill>
                <a:latin typeface="微软雅黑" pitchFamily="34" charset="-122"/>
                <a:ea typeface="微软雅黑" pitchFamily="34" charset="-122"/>
              </a:rPr>
              <a:t>数据划分为组。</a:t>
            </a:r>
            <a:r>
              <a:rPr lang="zh-CN" altLang="en-US" sz="2000" b="1" dirty="0">
                <a:solidFill>
                  <a:prstClr val="black"/>
                </a:solidFill>
                <a:latin typeface="微软雅黑" pitchFamily="34" charset="-122"/>
                <a:ea typeface="微软雅黑" pitchFamily="34" charset="-122"/>
              </a:rPr>
              <a:t>假定每组 </a:t>
            </a:r>
            <a:r>
              <a:rPr lang="en-US" altLang="zh-CN" sz="2000" b="1" i="1" dirty="0">
                <a:solidFill>
                  <a:prstClr val="black"/>
                </a:solidFill>
                <a:latin typeface="微软雅黑" pitchFamily="34" charset="-122"/>
                <a:ea typeface="微软雅黑" pitchFamily="34" charset="-122"/>
              </a:rPr>
              <a:t>k</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个比特。 </a:t>
            </a:r>
          </a:p>
          <a:p>
            <a:pPr marL="285750" lvl="0" indent="-285750">
              <a:lnSpc>
                <a:spcPts val="3300"/>
              </a:lnSpc>
              <a:buClr>
                <a:srgbClr val="0070C0"/>
              </a:buClr>
              <a:buFont typeface="Wingdings" pitchFamily="2" charset="2"/>
              <a:buChar char="l"/>
            </a:pPr>
            <a:r>
              <a:rPr lang="en-US" altLang="zh-CN" sz="2000" b="1" dirty="0">
                <a:solidFill>
                  <a:srgbClr val="C00000"/>
                </a:solidFill>
                <a:latin typeface="微软雅黑" pitchFamily="34" charset="-122"/>
                <a:ea typeface="微软雅黑" pitchFamily="34" charset="-122"/>
              </a:rPr>
              <a:t>CRC </a:t>
            </a:r>
            <a:r>
              <a:rPr lang="zh-CN" altLang="en-US" sz="2000" b="1" dirty="0">
                <a:solidFill>
                  <a:srgbClr val="C00000"/>
                </a:solidFill>
                <a:latin typeface="微软雅黑" pitchFamily="34" charset="-122"/>
                <a:ea typeface="微软雅黑" pitchFamily="34" charset="-122"/>
              </a:rPr>
              <a:t>运算</a:t>
            </a:r>
            <a:r>
              <a:rPr lang="zh-CN" altLang="en-US" sz="2000" b="1" dirty="0">
                <a:solidFill>
                  <a:prstClr val="black"/>
                </a:solidFill>
                <a:latin typeface="微软雅黑" pitchFamily="34" charset="-122"/>
                <a:ea typeface="微软雅黑" pitchFamily="34" charset="-122"/>
              </a:rPr>
              <a:t>在每组 </a:t>
            </a:r>
            <a:r>
              <a:rPr lang="en-US" altLang="zh-CN" sz="2000" b="1" i="1" dirty="0">
                <a:solidFill>
                  <a:prstClr val="black"/>
                </a:solidFill>
                <a:latin typeface="微软雅黑" pitchFamily="34" charset="-122"/>
                <a:ea typeface="微软雅黑" pitchFamily="34" charset="-122"/>
              </a:rPr>
              <a:t>M</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后面再添加供差错检测用的 </a:t>
            </a:r>
            <a:r>
              <a:rPr lang="en-US" altLang="zh-CN" sz="2000" b="1" i="1" dirty="0">
                <a:solidFill>
                  <a:prstClr val="black"/>
                </a:solidFill>
                <a:latin typeface="微软雅黑" pitchFamily="34" charset="-122"/>
                <a:ea typeface="微软雅黑" pitchFamily="34" charset="-122"/>
              </a:rPr>
              <a:t>n</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位</a:t>
            </a:r>
            <a:r>
              <a:rPr lang="zh-CN" altLang="en-US" sz="2000" b="1" dirty="0">
                <a:solidFill>
                  <a:srgbClr val="0000FF"/>
                </a:solidFill>
                <a:latin typeface="微软雅黑" pitchFamily="34" charset="-122"/>
                <a:ea typeface="微软雅黑" pitchFamily="34" charset="-122"/>
              </a:rPr>
              <a:t>冗余码，</a:t>
            </a:r>
            <a:r>
              <a:rPr lang="zh-CN" altLang="en-US" sz="2000" b="1" dirty="0">
                <a:solidFill>
                  <a:prstClr val="black"/>
                </a:solidFill>
                <a:latin typeface="微软雅黑" pitchFamily="34" charset="-122"/>
                <a:ea typeface="微软雅黑" pitchFamily="34" charset="-122"/>
              </a:rPr>
              <a:t>然后构成一个帧发送出去。一共发送 </a:t>
            </a:r>
            <a:r>
              <a:rPr lang="en-US" altLang="zh-CN" sz="2000" b="1" i="1" dirty="0">
                <a:solidFill>
                  <a:srgbClr val="C00000"/>
                </a:solidFill>
                <a:latin typeface="微软雅黑" pitchFamily="34" charset="-122"/>
                <a:ea typeface="微软雅黑" pitchFamily="34" charset="-122"/>
              </a:rPr>
              <a:t>(k + n) </a:t>
            </a:r>
            <a:r>
              <a:rPr lang="zh-CN" altLang="en-US" sz="2000" b="1" dirty="0">
                <a:latin typeface="微软雅黑" pitchFamily="34" charset="-122"/>
                <a:ea typeface="微软雅黑" pitchFamily="34" charset="-122"/>
              </a:rPr>
              <a:t>位。</a:t>
            </a:r>
          </a:p>
        </p:txBody>
      </p:sp>
    </p:spTree>
    <p:custDataLst>
      <p:tags r:id="rId1"/>
    </p:custDataLst>
    <p:extLst>
      <p:ext uri="{BB962C8B-B14F-4D97-AF65-F5344CB8AC3E}">
        <p14:creationId xmlns:p14="http://schemas.microsoft.com/office/powerpoint/2010/main" val="378093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4" y="6237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377"/>
            <a:ext cx="7784965" cy="400110"/>
          </a:xfrm>
          <a:prstGeom prst="rect">
            <a:avLst/>
          </a:prstGeom>
        </p:spPr>
        <p:txBody>
          <a:bodyPr wrap="square">
            <a:spAutoFit/>
          </a:bodyPr>
          <a:lstStyle/>
          <a:p>
            <a:pPr algn="ct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a:t>
            </a:r>
          </a:p>
        </p:txBody>
      </p:sp>
      <p:sp>
        <p:nvSpPr>
          <p:cNvPr id="4" name="矩形 3"/>
          <p:cNvSpPr/>
          <p:nvPr/>
        </p:nvSpPr>
        <p:spPr>
          <a:xfrm>
            <a:off x="466344" y="937042"/>
            <a:ext cx="8129015" cy="2163541"/>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用二进制的</a:t>
            </a:r>
            <a:r>
              <a:rPr lang="zh-CN" altLang="en-US" sz="2000" b="1" dirty="0">
                <a:solidFill>
                  <a:srgbClr val="9900CC"/>
                </a:solidFill>
                <a:latin typeface="微软雅黑" pitchFamily="34" charset="-122"/>
                <a:ea typeface="微软雅黑" pitchFamily="34" charset="-122"/>
              </a:rPr>
              <a:t>模 </a:t>
            </a:r>
            <a:r>
              <a:rPr lang="en-US" altLang="zh-CN" sz="2000" b="1" dirty="0">
                <a:solidFill>
                  <a:srgbClr val="9900CC"/>
                </a:solidFill>
                <a:latin typeface="微软雅黑" pitchFamily="34" charset="-122"/>
                <a:ea typeface="微软雅黑" pitchFamily="34" charset="-122"/>
              </a:rPr>
              <a:t>2 </a:t>
            </a:r>
            <a:r>
              <a:rPr lang="zh-CN" altLang="en-US" sz="2000" b="1" dirty="0">
                <a:solidFill>
                  <a:srgbClr val="9900CC"/>
                </a:solidFill>
                <a:latin typeface="微软雅黑" pitchFamily="34" charset="-122"/>
                <a:ea typeface="微软雅黑" pitchFamily="34" charset="-122"/>
              </a:rPr>
              <a:t>运算</a:t>
            </a:r>
            <a:r>
              <a:rPr lang="zh-CN" altLang="en-US" sz="2000" b="1" dirty="0">
                <a:latin typeface="微软雅黑" pitchFamily="34" charset="-122"/>
                <a:ea typeface="微软雅黑" pitchFamily="34" charset="-122"/>
              </a:rPr>
              <a:t>进行 </a:t>
            </a:r>
            <a:r>
              <a:rPr lang="en-US" altLang="zh-CN" sz="2000" b="1" dirty="0">
                <a:latin typeface="微软雅黑" pitchFamily="34" charset="-122"/>
                <a:ea typeface="微软雅黑" pitchFamily="34" charset="-122"/>
              </a:rPr>
              <a:t>2</a:t>
            </a:r>
            <a:r>
              <a:rPr lang="en-US" altLang="zh-CN" sz="2000" b="1" i="1" baseline="30000"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乘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的运算，这相当于在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后面添加 </a:t>
            </a:r>
            <a:r>
              <a:rPr lang="en-US" altLang="zh-CN" sz="2000" b="1" i="1" dirty="0">
                <a:latin typeface="微软雅黑" pitchFamily="34" charset="-122"/>
                <a:ea typeface="微软雅黑" pitchFamily="34" charset="-122"/>
              </a:rPr>
              <a:t>n </a:t>
            </a:r>
            <a:r>
              <a:rPr lang="zh-CN" altLang="en-US" sz="2000" b="1" dirty="0">
                <a:latin typeface="微软雅黑" pitchFamily="34" charset="-122"/>
                <a:ea typeface="微软雅黑" pitchFamily="34" charset="-122"/>
              </a:rPr>
              <a:t>个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得到的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k</a:t>
            </a:r>
            <a:r>
              <a:rPr lang="en-US" altLang="zh-CN" sz="2000" b="1" dirty="0">
                <a:latin typeface="微软雅黑" pitchFamily="34" charset="-122"/>
                <a:ea typeface="微软雅黑" pitchFamily="34" charset="-122"/>
              </a:rPr>
              <a:t> +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位的数</a:t>
            </a:r>
            <a:r>
              <a:rPr lang="zh-CN" altLang="en-US" sz="2000" b="1" dirty="0">
                <a:solidFill>
                  <a:srgbClr val="CC00CC"/>
                </a:solidFill>
                <a:latin typeface="微软雅黑" pitchFamily="34" charset="-122"/>
                <a:ea typeface="微软雅黑" pitchFamily="34" charset="-122"/>
              </a:rPr>
              <a:t>除以</a:t>
            </a:r>
            <a:r>
              <a:rPr lang="zh-CN" altLang="en-US" sz="2000" b="1" dirty="0">
                <a:latin typeface="微软雅黑" pitchFamily="34" charset="-122"/>
                <a:ea typeface="微软雅黑" pitchFamily="34" charset="-122"/>
              </a:rPr>
              <a:t>事先选定好的长度为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+ 1) </a:t>
            </a:r>
            <a:r>
              <a:rPr lang="zh-CN" altLang="en-US" sz="2000" b="1" dirty="0">
                <a:latin typeface="微软雅黑" pitchFamily="34" charset="-122"/>
                <a:ea typeface="微软雅黑" pitchFamily="34" charset="-122"/>
              </a:rPr>
              <a:t>位的</a:t>
            </a:r>
            <a:r>
              <a:rPr lang="zh-CN" altLang="en-US" sz="2000" b="1" dirty="0">
                <a:solidFill>
                  <a:srgbClr val="0000FF"/>
                </a:solidFill>
                <a:latin typeface="微软雅黑" pitchFamily="34" charset="-122"/>
                <a:ea typeface="微软雅黑" pitchFamily="34" charset="-122"/>
              </a:rPr>
              <a:t>除数</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P</a:t>
            </a:r>
            <a:r>
              <a:rPr lang="zh-CN" altLang="en-US" sz="2000" b="1" dirty="0">
                <a:latin typeface="微软雅黑" pitchFamily="34" charset="-122"/>
                <a:ea typeface="微软雅黑" pitchFamily="34" charset="-122"/>
              </a:rPr>
              <a:t>，得出</a:t>
            </a:r>
            <a:r>
              <a:rPr lang="zh-CN" altLang="en-US" sz="2000" b="1" dirty="0">
                <a:solidFill>
                  <a:srgbClr val="0000FF"/>
                </a:solidFill>
                <a:latin typeface="微软雅黑" pitchFamily="34" charset="-122"/>
                <a:ea typeface="微软雅黑" pitchFamily="34" charset="-122"/>
              </a:rPr>
              <a:t>商</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Q</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余数</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R</a:t>
            </a:r>
            <a:r>
              <a:rPr lang="zh-CN" altLang="en-US" sz="2000" b="1" dirty="0">
                <a:latin typeface="微软雅黑" pitchFamily="34" charset="-122"/>
                <a:ea typeface="微软雅黑" pitchFamily="34" charset="-122"/>
              </a:rPr>
              <a:t>，余数 </a:t>
            </a:r>
            <a:r>
              <a:rPr lang="en-US" altLang="zh-CN" sz="2000" b="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比除数 </a:t>
            </a:r>
            <a:r>
              <a:rPr lang="en-US" altLang="zh-CN" sz="2000" b="1" i="1" dirty="0">
                <a:latin typeface="微软雅黑" pitchFamily="34" charset="-122"/>
                <a:ea typeface="微软雅黑" pitchFamily="34" charset="-122"/>
              </a:rPr>
              <a:t>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少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位，即 </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 </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将</a:t>
            </a:r>
            <a:r>
              <a:rPr lang="zh-CN" altLang="en-US" sz="2000" b="1" dirty="0">
                <a:solidFill>
                  <a:srgbClr val="C00000"/>
                </a:solidFill>
                <a:latin typeface="微软雅黑" pitchFamily="34" charset="-122"/>
                <a:ea typeface="微软雅黑" pitchFamily="34" charset="-122"/>
              </a:rPr>
              <a:t>余数 </a:t>
            </a:r>
            <a:r>
              <a:rPr lang="en-US" altLang="zh-CN" sz="2000" b="1" i="1" dirty="0">
                <a:solidFill>
                  <a:srgbClr val="C00000"/>
                </a:solidFill>
                <a:latin typeface="微软雅黑" pitchFamily="34" charset="-122"/>
                <a:ea typeface="微软雅黑" pitchFamily="34" charset="-122"/>
              </a:rPr>
              <a:t>R</a:t>
            </a:r>
            <a:r>
              <a:rPr lang="en-US" altLang="zh-CN" sz="2000" b="1" dirty="0">
                <a:solidFill>
                  <a:srgbClr val="CC00CC"/>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作为</a:t>
            </a:r>
            <a:r>
              <a:rPr lang="zh-CN" altLang="en-US" sz="2000" b="1" dirty="0">
                <a:solidFill>
                  <a:srgbClr val="C00000"/>
                </a:solidFill>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拼接在数据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后面，一起发送出去。</a:t>
            </a:r>
          </a:p>
        </p:txBody>
      </p:sp>
      <p:sp>
        <p:nvSpPr>
          <p:cNvPr id="5" name="矩形 4"/>
          <p:cNvSpPr/>
          <p:nvPr/>
        </p:nvSpPr>
        <p:spPr>
          <a:xfrm>
            <a:off x="1238087" y="3568532"/>
            <a:ext cx="6585528" cy="75918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ts val="2600"/>
              </a:lnSpc>
            </a:pPr>
            <a:r>
              <a:rPr lang="zh-CN" altLang="en-US" sz="2000" b="1" dirty="0">
                <a:latin typeface="微软雅黑" panose="020B0503020204020204" pitchFamily="34" charset="-122"/>
                <a:ea typeface="微软雅黑" panose="020B0503020204020204" pitchFamily="34" charset="-122"/>
              </a:rPr>
              <a:t>这种为了进行检错而添加的冗余码常称为</a:t>
            </a:r>
            <a:r>
              <a:rPr lang="zh-CN" altLang="en-US" sz="2000" b="1" dirty="0">
                <a:solidFill>
                  <a:srgbClr val="0000FF"/>
                </a:solidFill>
                <a:latin typeface="微软雅黑" panose="020B0503020204020204" pitchFamily="34" charset="-122"/>
                <a:ea typeface="微软雅黑" panose="020B0503020204020204" pitchFamily="34" charset="-122"/>
              </a:rPr>
              <a:t>帧校验序列 </a:t>
            </a:r>
            <a:r>
              <a:rPr lang="en-US" altLang="zh-CN" sz="2000" b="1" dirty="0">
                <a:solidFill>
                  <a:srgbClr val="0000FF"/>
                </a:solidFill>
                <a:latin typeface="微软雅黑" panose="020B0503020204020204" pitchFamily="34" charset="-122"/>
                <a:ea typeface="微软雅黑" panose="020B0503020204020204" pitchFamily="34" charset="-122"/>
              </a:rPr>
              <a:t>FCS </a:t>
            </a:r>
            <a:r>
              <a:rPr lang="en-US" altLang="zh-CN" sz="2000" b="1" dirty="0">
                <a:latin typeface="微软雅黑" panose="020B0503020204020204" pitchFamily="34" charset="-122"/>
                <a:ea typeface="微软雅黑" panose="020B0503020204020204" pitchFamily="34" charset="-122"/>
              </a:rPr>
              <a:t>(Frame Check Sequence)</a:t>
            </a:r>
            <a:r>
              <a:rPr lang="zh-CN" altLang="en-US" sz="2000" b="1" dirty="0">
                <a:latin typeface="微软雅黑" panose="020B0503020204020204" pitchFamily="34" charset="-122"/>
                <a:ea typeface="微软雅黑" panose="020B0503020204020204" pitchFamily="34" charset="-122"/>
              </a:rPr>
              <a:t>。</a:t>
            </a:r>
          </a:p>
        </p:txBody>
      </p:sp>
    </p:spTree>
    <p:custDataLst>
      <p:tags r:id="rId1"/>
    </p:custDataLst>
    <p:extLst>
      <p:ext uri="{BB962C8B-B14F-4D97-AF65-F5344CB8AC3E}">
        <p14:creationId xmlns:p14="http://schemas.microsoft.com/office/powerpoint/2010/main" val="2189060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AutoShape 5"/>
          <p:cNvSpPr>
            <a:spLocks noChangeArrowheads="1"/>
          </p:cNvSpPr>
          <p:nvPr/>
        </p:nvSpPr>
        <p:spPr bwMode="auto">
          <a:xfrm>
            <a:off x="466344" y="621125"/>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矩形 111"/>
          <p:cNvSpPr/>
          <p:nvPr/>
        </p:nvSpPr>
        <p:spPr>
          <a:xfrm>
            <a:off x="616085" y="569741"/>
            <a:ext cx="7816165" cy="400110"/>
          </a:xfrm>
          <a:prstGeom prst="rect">
            <a:avLst/>
          </a:prstGeom>
        </p:spPr>
        <p:txBody>
          <a:bodyPr wrap="square">
            <a:spAutoFit/>
          </a:bodyPr>
          <a:lstStyle/>
          <a:p>
            <a:pPr algn="ct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a:t>
            </a:r>
          </a:p>
        </p:txBody>
      </p:sp>
      <p:cxnSp>
        <p:nvCxnSpPr>
          <p:cNvPr id="40" name="直接箭头连接符 39"/>
          <p:cNvCxnSpPr/>
          <p:nvPr/>
        </p:nvCxnSpPr>
        <p:spPr>
          <a:xfrm flipH="1">
            <a:off x="3231237"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662084"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514830" y="1080106"/>
            <a:ext cx="2694376" cy="3256926"/>
            <a:chOff x="5861538" y="1114451"/>
            <a:chExt cx="2694376" cy="3256926"/>
          </a:xfrm>
        </p:grpSpPr>
        <p:sp>
          <p:nvSpPr>
            <p:cNvPr id="10" name="矩形 9"/>
            <p:cNvSpPr/>
            <p:nvPr/>
          </p:nvSpPr>
          <p:spPr>
            <a:xfrm>
              <a:off x="5861538" y="1114451"/>
              <a:ext cx="2694376" cy="2963668"/>
            </a:xfrm>
            <a:prstGeom prst="rect">
              <a:avLst/>
            </a:prstGeom>
            <a:solidFill>
              <a:srgbClr val="00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54073" y="1213222"/>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9" name="矩形 8"/>
            <p:cNvSpPr/>
            <p:nvPr/>
          </p:nvSpPr>
          <p:spPr>
            <a:xfrm>
              <a:off x="7688631" y="1213222"/>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 name="矩形 1"/>
            <p:cNvSpPr/>
            <p:nvPr/>
          </p:nvSpPr>
          <p:spPr>
            <a:xfrm>
              <a:off x="6805425"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11" name="矩形 10"/>
            <p:cNvSpPr/>
            <p:nvPr/>
          </p:nvSpPr>
          <p:spPr>
            <a:xfrm>
              <a:off x="6019232" y="2349727"/>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3" name="下箭头标注 2"/>
            <p:cNvSpPr/>
            <p:nvPr/>
          </p:nvSpPr>
          <p:spPr>
            <a:xfrm>
              <a:off x="6023726"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05788"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7543982"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00…0</a:t>
              </a:r>
              <a:endParaRPr lang="zh-CN" altLang="en-US" sz="1400" b="1" dirty="0">
                <a:solidFill>
                  <a:schemeClr val="tx1"/>
                </a:solidFill>
                <a:latin typeface="微软雅黑" pitchFamily="34" charset="-122"/>
                <a:ea typeface="微软雅黑" pitchFamily="34" charset="-122"/>
              </a:endParaRPr>
            </a:p>
          </p:txBody>
        </p:sp>
        <p:sp>
          <p:nvSpPr>
            <p:cNvPr id="14" name="矩形 13"/>
            <p:cNvSpPr/>
            <p:nvPr/>
          </p:nvSpPr>
          <p:spPr>
            <a:xfrm>
              <a:off x="6805425"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CRC</a:t>
              </a:r>
            </a:p>
          </p:txBody>
        </p:sp>
        <p:sp>
          <p:nvSpPr>
            <p:cNvPr id="4" name="下箭头 3"/>
            <p:cNvSpPr/>
            <p:nvPr/>
          </p:nvSpPr>
          <p:spPr>
            <a:xfrm>
              <a:off x="7098390"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512873" y="2758745"/>
              <a:ext cx="646331" cy="276999"/>
            </a:xfrm>
            <a:prstGeom prst="rect">
              <a:avLst/>
            </a:prstGeom>
          </p:spPr>
          <p:txBody>
            <a:bodyPr wrap="none">
              <a:spAutoFit/>
            </a:bodyPr>
            <a:lstStyle/>
            <a:p>
              <a:pPr algn="ctr"/>
              <a:r>
                <a:rPr lang="zh-CN" altLang="en-US" sz="1200" b="1" dirty="0">
                  <a:solidFill>
                    <a:srgbClr val="000066"/>
                  </a:solidFill>
                  <a:latin typeface="微软雅黑" pitchFamily="34" charset="-122"/>
                  <a:ea typeface="微软雅黑" pitchFamily="34" charset="-122"/>
                </a:rPr>
                <a:t>余数 </a:t>
              </a:r>
              <a:r>
                <a:rPr lang="en-US" altLang="zh-CN" sz="1200" b="1" i="1" dirty="0">
                  <a:solidFill>
                    <a:srgbClr val="000066"/>
                  </a:solidFill>
                  <a:latin typeface="微软雅黑" pitchFamily="34" charset="-122"/>
                  <a:ea typeface="微软雅黑" pitchFamily="34" charset="-122"/>
                </a:rPr>
                <a:t>R</a:t>
              </a:r>
              <a:endParaRPr lang="zh-CN" altLang="en-US" sz="1200" b="1" i="1" dirty="0">
                <a:solidFill>
                  <a:srgbClr val="000066"/>
                </a:solidFill>
                <a:latin typeface="微软雅黑" pitchFamily="34" charset="-122"/>
                <a:ea typeface="微软雅黑" pitchFamily="34" charset="-122"/>
              </a:endParaRPr>
            </a:p>
          </p:txBody>
        </p:sp>
        <p:sp>
          <p:nvSpPr>
            <p:cNvPr id="19" name="矩形 18"/>
            <p:cNvSpPr/>
            <p:nvPr/>
          </p:nvSpPr>
          <p:spPr>
            <a:xfrm>
              <a:off x="6323804" y="3189434"/>
              <a:ext cx="484427"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41" name="Text Box 45"/>
            <p:cNvSpPr txBox="1">
              <a:spLocks noChangeArrowheads="1"/>
            </p:cNvSpPr>
            <p:nvPr/>
          </p:nvSpPr>
          <p:spPr bwMode="auto">
            <a:xfrm>
              <a:off x="6938126" y="4094378"/>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grpSp>
      <p:sp>
        <p:nvSpPr>
          <p:cNvPr id="36" name="矩形 35"/>
          <p:cNvSpPr/>
          <p:nvPr/>
        </p:nvSpPr>
        <p:spPr>
          <a:xfrm>
            <a:off x="5881035" y="1083639"/>
            <a:ext cx="2711334" cy="2963668"/>
          </a:xfrm>
          <a:prstGeom prst="rect">
            <a:avLst/>
          </a:prstGeom>
          <a:solidFill>
            <a:srgbClr val="99FFCC"/>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602251" y="1182410"/>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6" name="矩形 25"/>
          <p:cNvSpPr/>
          <p:nvPr/>
        </p:nvSpPr>
        <p:spPr>
          <a:xfrm>
            <a:off x="7736809" y="1182410"/>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7" name="矩形 26"/>
          <p:cNvSpPr/>
          <p:nvPr/>
        </p:nvSpPr>
        <p:spPr>
          <a:xfrm>
            <a:off x="6853603" y="2302837"/>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28" name="矩形 27"/>
          <p:cNvSpPr/>
          <p:nvPr/>
        </p:nvSpPr>
        <p:spPr>
          <a:xfrm>
            <a:off x="7711490" y="2318915"/>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29" name="下箭头标注 28"/>
          <p:cNvSpPr/>
          <p:nvPr/>
        </p:nvSpPr>
        <p:spPr>
          <a:xfrm>
            <a:off x="6071904" y="1423608"/>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153966" y="1469681"/>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31" name="矩形 30"/>
          <p:cNvSpPr/>
          <p:nvPr/>
        </p:nvSpPr>
        <p:spPr>
          <a:xfrm>
            <a:off x="7592160" y="1469681"/>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p>
        </p:txBody>
      </p:sp>
      <p:sp>
        <p:nvSpPr>
          <p:cNvPr id="32" name="矩形 31"/>
          <p:cNvSpPr/>
          <p:nvPr/>
        </p:nvSpPr>
        <p:spPr>
          <a:xfrm>
            <a:off x="6853603" y="3146899"/>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余数 </a:t>
            </a:r>
            <a:r>
              <a:rPr lang="en-US" altLang="zh-CN" sz="1200" b="1" i="1" dirty="0">
                <a:solidFill>
                  <a:schemeClr val="bg1"/>
                </a:solidFill>
                <a:latin typeface="微软雅黑" pitchFamily="34" charset="-122"/>
                <a:ea typeface="微软雅黑" pitchFamily="34" charset="-122"/>
              </a:rPr>
              <a:t>R</a:t>
            </a:r>
          </a:p>
        </p:txBody>
      </p:sp>
      <p:sp>
        <p:nvSpPr>
          <p:cNvPr id="33" name="下箭头 32"/>
          <p:cNvSpPr/>
          <p:nvPr/>
        </p:nvSpPr>
        <p:spPr>
          <a:xfrm>
            <a:off x="7146568" y="2631085"/>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203043" y="3495056"/>
            <a:ext cx="2191551" cy="553998"/>
          </a:xfrm>
          <a:prstGeom prst="rect">
            <a:avLst/>
          </a:prstGeom>
        </p:spPr>
        <p:txBody>
          <a:bodyPr wrap="square">
            <a:spAutoFit/>
          </a:bodyPr>
          <a:lstStyle/>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，接受</a:t>
            </a:r>
            <a:endParaRPr lang="en-US" altLang="zh-CN" sz="1200" b="1" dirty="0">
              <a:solidFill>
                <a:srgbClr val="000099"/>
              </a:solidFill>
              <a:latin typeface="微软雅黑" pitchFamily="34" charset="-122"/>
              <a:ea typeface="微软雅黑" pitchFamily="34" charset="-122"/>
            </a:endParaRPr>
          </a:p>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，丢弃</a:t>
            </a:r>
          </a:p>
        </p:txBody>
      </p:sp>
      <p:sp>
        <p:nvSpPr>
          <p:cNvPr id="42" name="Text Box 45"/>
          <p:cNvSpPr txBox="1">
            <a:spLocks noChangeArrowheads="1"/>
          </p:cNvSpPr>
          <p:nvPr/>
        </p:nvSpPr>
        <p:spPr bwMode="auto">
          <a:xfrm>
            <a:off x="6873064" y="4060033"/>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grpSp>
        <p:nvGrpSpPr>
          <p:cNvPr id="5" name="组合 4">
            <a:extLst>
              <a:ext uri="{FF2B5EF4-FFF2-40B4-BE49-F238E27FC236}">
                <a16:creationId xmlns:a16="http://schemas.microsoft.com/office/drawing/2014/main" id="{1735CFD3-E909-2922-4F4E-524293E4BB73}"/>
              </a:ext>
            </a:extLst>
          </p:cNvPr>
          <p:cNvGrpSpPr/>
          <p:nvPr/>
        </p:nvGrpSpPr>
        <p:grpSpPr>
          <a:xfrm>
            <a:off x="3430691" y="1914086"/>
            <a:ext cx="2231393" cy="585010"/>
            <a:chOff x="3430691" y="1914086"/>
            <a:chExt cx="2231393" cy="585010"/>
          </a:xfrm>
        </p:grpSpPr>
        <p:sp>
          <p:nvSpPr>
            <p:cNvPr id="22" name="矩形 21"/>
            <p:cNvSpPr/>
            <p:nvPr/>
          </p:nvSpPr>
          <p:spPr>
            <a:xfrm>
              <a:off x="3430691" y="2199398"/>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23" name="矩形 22"/>
            <p:cNvSpPr/>
            <p:nvPr/>
          </p:nvSpPr>
          <p:spPr>
            <a:xfrm>
              <a:off x="4868885" y="2199398"/>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endParaRPr lang="zh-CN" altLang="en-US" sz="1400" b="1" dirty="0">
                <a:solidFill>
                  <a:schemeClr val="tx1"/>
                </a:solidFill>
                <a:latin typeface="微软雅黑" pitchFamily="34" charset="-122"/>
                <a:ea typeface="微软雅黑" pitchFamily="34" charset="-122"/>
              </a:endParaRPr>
            </a:p>
          </p:txBody>
        </p:sp>
        <p:sp>
          <p:nvSpPr>
            <p:cNvPr id="38" name="Text Box 45"/>
            <p:cNvSpPr txBox="1">
              <a:spLocks noChangeArrowheads="1"/>
            </p:cNvSpPr>
            <p:nvPr/>
          </p:nvSpPr>
          <p:spPr bwMode="auto">
            <a:xfrm>
              <a:off x="3982373" y="1914086"/>
              <a:ext cx="1082349" cy="307777"/>
            </a:xfrm>
            <a:prstGeom prst="rect">
              <a:avLst/>
            </a:prstGeom>
            <a:noFill/>
            <a:ln>
              <a:noFill/>
            </a:ln>
            <a:effectLst/>
          </p:spPr>
          <p:txBody>
            <a:bodyPr wrap="none">
              <a:spAutoFit/>
            </a:bodyPr>
            <a:lstStyle/>
            <a:p>
              <a:pPr algn="r"/>
              <a:r>
                <a:rPr kumimoji="1" lang="zh-CN" altLang="en-US" sz="1400" b="1" dirty="0">
                  <a:latin typeface="微软雅黑" pitchFamily="34" charset="-122"/>
                  <a:ea typeface="微软雅黑" pitchFamily="34" charset="-122"/>
                </a:rPr>
                <a:t>发送的数据</a:t>
              </a:r>
            </a:p>
          </p:txBody>
        </p:sp>
      </p:grpSp>
      <p:sp>
        <p:nvSpPr>
          <p:cNvPr id="18" name="文本框 17">
            <a:extLst>
              <a:ext uri="{FF2B5EF4-FFF2-40B4-BE49-F238E27FC236}">
                <a16:creationId xmlns:a16="http://schemas.microsoft.com/office/drawing/2014/main" id="{189EF60D-A3A4-2732-F8DE-8225E6E41D51}"/>
              </a:ext>
            </a:extLst>
          </p:cNvPr>
          <p:cNvSpPr txBox="1"/>
          <p:nvPr/>
        </p:nvSpPr>
        <p:spPr>
          <a:xfrm>
            <a:off x="2705085" y="4142545"/>
            <a:ext cx="3733829"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defPPr>
              <a:defRPr lang="zh-CN"/>
            </a:defPPr>
            <a:lvl1pPr>
              <a:lnSpc>
                <a:spcPts val="2400"/>
              </a:lnSpc>
              <a:defRPr b="1">
                <a:solidFill>
                  <a:schemeClr val="dk1"/>
                </a:solidFill>
                <a:latin typeface="微软雅黑" panose="020B0503020204020204" pitchFamily="34" charset="-122"/>
                <a:ea typeface="微软雅黑" panose="020B0503020204020204" pitchFamily="34" charset="-122"/>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dirty="0"/>
              <a:t>传输无误，余数</a:t>
            </a:r>
            <a:r>
              <a:rPr lang="en-US" altLang="zh-CN" dirty="0"/>
              <a:t>R</a:t>
            </a:r>
            <a:r>
              <a:rPr lang="zh-CN" altLang="en-US" dirty="0"/>
              <a:t>肯定是</a:t>
            </a:r>
            <a:r>
              <a:rPr lang="en-US" altLang="zh-CN" dirty="0"/>
              <a:t>0</a:t>
            </a:r>
            <a:r>
              <a:rPr lang="zh-CN" altLang="en-US" dirty="0"/>
              <a:t>，但若有误，余数</a:t>
            </a:r>
            <a:r>
              <a:rPr lang="en-US" altLang="zh-CN" dirty="0"/>
              <a:t>R </a:t>
            </a:r>
            <a:r>
              <a:rPr lang="zh-CN" altLang="en-US" dirty="0"/>
              <a:t>仍等于零的概率非常小</a:t>
            </a:r>
          </a:p>
        </p:txBody>
      </p:sp>
    </p:spTree>
    <p:custDataLst>
      <p:tags r:id="rId1"/>
    </p:custDataLst>
    <p:extLst>
      <p:ext uri="{BB962C8B-B14F-4D97-AF65-F5344CB8AC3E}">
        <p14:creationId xmlns:p14="http://schemas.microsoft.com/office/powerpoint/2010/main" val="275979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nodeType="click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grpId="0" nodeType="clickEffect">
                                  <p:stCondLst>
                                    <p:cond delay="0"/>
                                  </p:stCondLst>
                                  <p:childTnLst>
                                    <p:anim calcmode="discrete" valueType="str">
                                      <p:cBhvr>
                                        <p:cTn id="10" dur="1000" fill="hold"/>
                                        <p:tgtEl>
                                          <p:spTgt spid="29"/>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grpId="0" nodeType="clickEffect">
                                  <p:stCondLst>
                                    <p:cond delay="0"/>
                                  </p:stCondLst>
                                  <p:childTnLst>
                                    <p:anim calcmode="discrete" valueType="str">
                                      <p:cBhvr>
                                        <p:cTn id="14" dur="1000" fill="hold"/>
                                        <p:tgtEl>
                                          <p:spTgt spid="27"/>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2000" fill="hold" grpId="0" nodeType="clickEffect">
                                  <p:stCondLst>
                                    <p:cond delay="0"/>
                                  </p:stCondLst>
                                  <p:childTnLst>
                                    <p:anim calcmode="discrete" valueType="str">
                                      <p:cBhvr>
                                        <p:cTn id="18"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p:cTn id="23" dur="500" fill="hold"/>
                                        <p:tgtEl>
                                          <p:spTgt spid="18"/>
                                        </p:tgtEl>
                                        <p:attrNameLst>
                                          <p:attrName>ppt_w</p:attrName>
                                        </p:attrNameLst>
                                      </p:cBhvr>
                                      <p:tavLst>
                                        <p:tav tm="0">
                                          <p:val>
                                            <p:fltVal val="0"/>
                                          </p:val>
                                        </p:tav>
                                        <p:tav tm="100000">
                                          <p:val>
                                            <p:strVal val="#ppt_w"/>
                                          </p:val>
                                        </p:tav>
                                      </p:tavLst>
                                    </p:anim>
                                    <p:anim calcmode="lin" valueType="num">
                                      <p:cBhvr>
                                        <p:cTn id="24" dur="500" fill="hold"/>
                                        <p:tgtEl>
                                          <p:spTgt spid="18"/>
                                        </p:tgtEl>
                                        <p:attrNameLst>
                                          <p:attrName>ppt_h</p:attrName>
                                        </p:attrNameLst>
                                      </p:cBhvr>
                                      <p:tavLst>
                                        <p:tav tm="0">
                                          <p:val>
                                            <p:fltVal val="0"/>
                                          </p:val>
                                        </p:tav>
                                        <p:tav tm="100000">
                                          <p:val>
                                            <p:strVal val="#ppt_h"/>
                                          </p:val>
                                        </p:tav>
                                      </p:tavLst>
                                    </p:anim>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35" presetClass="emph" presetSubtype="0" repeatCount="2000" fill="hold" grpId="0" nodeType="clickEffect">
                                  <p:stCondLst>
                                    <p:cond delay="0"/>
                                  </p:stCondLst>
                                  <p:childTnLst>
                                    <p:anim calcmode="discrete" valueType="str">
                                      <p:cBhvr>
                                        <p:cTn id="29" dur="1000" fill="hold"/>
                                        <p:tgtEl>
                                          <p:spTgt spid="37">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30" fill="hold">
                      <p:stCondLst>
                        <p:cond delay="indefinite"/>
                      </p:stCondLst>
                      <p:childTnLst>
                        <p:par>
                          <p:cTn id="31" fill="hold">
                            <p:stCondLst>
                              <p:cond delay="0"/>
                            </p:stCondLst>
                            <p:childTnLst>
                              <p:par>
                                <p:cTn id="32" presetID="35" presetClass="emph" presetSubtype="0" repeatCount="2000" fill="hold" grpId="0" nodeType="clickEffect">
                                  <p:stCondLst>
                                    <p:cond delay="0"/>
                                  </p:stCondLst>
                                  <p:childTnLst>
                                    <p:anim calcmode="discrete" valueType="str">
                                      <p:cBhvr>
                                        <p:cTn id="33" dur="1000" fill="hold"/>
                                        <p:tgtEl>
                                          <p:spTgt spid="37">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32" grpId="0" animBg="1"/>
      <p:bldP spid="37" grpId="0" uiExpand="1" build="p"/>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p:cNvSpPr/>
          <p:nvPr/>
        </p:nvSpPr>
        <p:spPr>
          <a:xfrm>
            <a:off x="466344" y="1028233"/>
            <a:ext cx="8129015" cy="332697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466344" y="62720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4" y="575816"/>
            <a:ext cx="7829415" cy="400110"/>
          </a:xfrm>
          <a:prstGeom prst="rect">
            <a:avLst/>
          </a:prstGeom>
        </p:spPr>
        <p:txBody>
          <a:bodyPr wrap="square">
            <a:spAutoFit/>
          </a:bodyPr>
          <a:lstStyle/>
          <a:p>
            <a:pPr algn="ct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冗余码的计算举例</a:t>
            </a:r>
          </a:p>
        </p:txBody>
      </p:sp>
      <p:sp>
        <p:nvSpPr>
          <p:cNvPr id="9" name="Rectangle 4"/>
          <p:cNvSpPr>
            <a:spLocks noChangeArrowheads="1"/>
          </p:cNvSpPr>
          <p:nvPr/>
        </p:nvSpPr>
        <p:spPr bwMode="auto">
          <a:xfrm>
            <a:off x="2660204" y="1390937"/>
            <a:ext cx="738742"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P</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除数</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10" name="Rectangle 5"/>
          <p:cNvSpPr>
            <a:spLocks noChangeArrowheads="1"/>
          </p:cNvSpPr>
          <p:nvPr/>
        </p:nvSpPr>
        <p:spPr bwMode="auto">
          <a:xfrm>
            <a:off x="3730432" y="1390201"/>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11" name="Rectangle 6"/>
          <p:cNvSpPr>
            <a:spLocks noChangeArrowheads="1"/>
          </p:cNvSpPr>
          <p:nvPr/>
        </p:nvSpPr>
        <p:spPr bwMode="auto">
          <a:xfrm>
            <a:off x="4822520" y="1119651"/>
            <a:ext cx="904927"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latin typeface="微软雅黑" pitchFamily="34" charset="-122"/>
                <a:ea typeface="微软雅黑" pitchFamily="34" charset="-122"/>
              </a:rPr>
              <a:t>110101</a:t>
            </a:r>
          </a:p>
        </p:txBody>
      </p:sp>
      <p:sp>
        <p:nvSpPr>
          <p:cNvPr id="12" name="Rectangle 7"/>
          <p:cNvSpPr>
            <a:spLocks noChangeArrowheads="1"/>
          </p:cNvSpPr>
          <p:nvPr/>
        </p:nvSpPr>
        <p:spPr bwMode="auto">
          <a:xfrm>
            <a:off x="4450745" y="1388240"/>
            <a:ext cx="1518416"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500" b="1" dirty="0">
                <a:latin typeface="微软雅黑" pitchFamily="34" charset="-122"/>
                <a:ea typeface="微软雅黑" pitchFamily="34" charset="-122"/>
              </a:rPr>
              <a:t>101001</a:t>
            </a:r>
            <a:r>
              <a:rPr lang="en-US" altLang="zh-CN" sz="1500" b="1" dirty="0">
                <a:solidFill>
                  <a:srgbClr val="CC00CC"/>
                </a:solidFill>
                <a:latin typeface="微软雅黑" pitchFamily="34" charset="-122"/>
                <a:ea typeface="微软雅黑" pitchFamily="34" charset="-122"/>
              </a:rPr>
              <a:t>000</a:t>
            </a:r>
          </a:p>
        </p:txBody>
      </p:sp>
      <p:sp>
        <p:nvSpPr>
          <p:cNvPr id="13" name="Rectangle 8"/>
          <p:cNvSpPr>
            <a:spLocks noChangeArrowheads="1"/>
          </p:cNvSpPr>
          <p:nvPr/>
        </p:nvSpPr>
        <p:spPr bwMode="auto">
          <a:xfrm>
            <a:off x="6047865" y="1402518"/>
            <a:ext cx="147443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solidFill>
                  <a:srgbClr val="CC00CC"/>
                </a:solidFill>
                <a:latin typeface="微软雅黑" pitchFamily="34" charset="-122"/>
                <a:ea typeface="微软雅黑" pitchFamily="34" charset="-122"/>
              </a:rPr>
              <a:t>2</a:t>
            </a:r>
            <a:r>
              <a:rPr lang="en-US" altLang="zh-CN" sz="1500" b="1" i="1" baseline="30000" dirty="0">
                <a:solidFill>
                  <a:srgbClr val="CC00CC"/>
                </a:solidFill>
                <a:latin typeface="微软雅黑" pitchFamily="34" charset="-122"/>
                <a:ea typeface="微软雅黑" pitchFamily="34" charset="-122"/>
              </a:rPr>
              <a:t>n</a:t>
            </a:r>
            <a:r>
              <a:rPr lang="en-US" altLang="zh-CN" sz="1500" b="1" i="1" dirty="0">
                <a:solidFill>
                  <a:srgbClr val="CC00CC"/>
                </a:solidFill>
                <a:latin typeface="微软雅黑" pitchFamily="34" charset="-122"/>
                <a:ea typeface="微软雅黑" pitchFamily="34" charset="-122"/>
              </a:rPr>
              <a:t>M </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被除数</a:t>
            </a:r>
            <a:r>
              <a:rPr lang="en-US" altLang="zh-CN" sz="1500" b="1" dirty="0">
                <a:solidFill>
                  <a:srgbClr val="CC00CC"/>
                </a:solidFill>
                <a:latin typeface="微软雅黑" pitchFamily="34" charset="-122"/>
                <a:ea typeface="微软雅黑" pitchFamily="34" charset="-122"/>
              </a:rPr>
              <a:t>)</a:t>
            </a:r>
          </a:p>
        </p:txBody>
      </p:sp>
      <p:sp>
        <p:nvSpPr>
          <p:cNvPr id="14" name="Rectangle 9"/>
          <p:cNvSpPr>
            <a:spLocks noChangeArrowheads="1"/>
          </p:cNvSpPr>
          <p:nvPr/>
        </p:nvSpPr>
        <p:spPr bwMode="auto">
          <a:xfrm>
            <a:off x="4450745" y="1605856"/>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5" name="Rectangle 10"/>
          <p:cNvSpPr>
            <a:spLocks noChangeArrowheads="1"/>
          </p:cNvSpPr>
          <p:nvPr/>
        </p:nvSpPr>
        <p:spPr bwMode="auto">
          <a:xfrm>
            <a:off x="4583089" y="1853859"/>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16" name="Rectangle 11"/>
          <p:cNvSpPr>
            <a:spLocks noChangeArrowheads="1"/>
          </p:cNvSpPr>
          <p:nvPr/>
        </p:nvSpPr>
        <p:spPr bwMode="auto">
          <a:xfrm>
            <a:off x="4581068" y="2045988"/>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7" name="Rectangle 12"/>
          <p:cNvSpPr>
            <a:spLocks noChangeArrowheads="1"/>
          </p:cNvSpPr>
          <p:nvPr/>
        </p:nvSpPr>
        <p:spPr bwMode="auto">
          <a:xfrm>
            <a:off x="4711391" y="2287131"/>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0111</a:t>
            </a:r>
          </a:p>
        </p:txBody>
      </p:sp>
      <p:sp>
        <p:nvSpPr>
          <p:cNvPr id="18" name="Rectangle 13"/>
          <p:cNvSpPr>
            <a:spLocks noChangeArrowheads="1"/>
          </p:cNvSpPr>
          <p:nvPr/>
        </p:nvSpPr>
        <p:spPr bwMode="auto">
          <a:xfrm>
            <a:off x="4711391" y="2475338"/>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19" name="Rectangle 14"/>
          <p:cNvSpPr>
            <a:spLocks noChangeArrowheads="1"/>
          </p:cNvSpPr>
          <p:nvPr/>
        </p:nvSpPr>
        <p:spPr bwMode="auto">
          <a:xfrm>
            <a:off x="4834642" y="2713540"/>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20" name="Rectangle 15"/>
          <p:cNvSpPr>
            <a:spLocks noChangeArrowheads="1"/>
          </p:cNvSpPr>
          <p:nvPr/>
        </p:nvSpPr>
        <p:spPr bwMode="auto">
          <a:xfrm>
            <a:off x="4832622" y="2916453"/>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21" name="Rectangle 16"/>
          <p:cNvSpPr>
            <a:spLocks noChangeArrowheads="1"/>
          </p:cNvSpPr>
          <p:nvPr/>
        </p:nvSpPr>
        <p:spPr bwMode="auto">
          <a:xfrm>
            <a:off x="4960925" y="3131127"/>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0110</a:t>
            </a:r>
          </a:p>
        </p:txBody>
      </p:sp>
      <p:sp>
        <p:nvSpPr>
          <p:cNvPr id="22" name="Rectangle 17"/>
          <p:cNvSpPr>
            <a:spLocks noChangeArrowheads="1"/>
          </p:cNvSpPr>
          <p:nvPr/>
        </p:nvSpPr>
        <p:spPr bwMode="auto">
          <a:xfrm>
            <a:off x="4960925" y="3331099"/>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23" name="Rectangle 18"/>
          <p:cNvSpPr>
            <a:spLocks noChangeArrowheads="1"/>
          </p:cNvSpPr>
          <p:nvPr/>
        </p:nvSpPr>
        <p:spPr bwMode="auto">
          <a:xfrm>
            <a:off x="5066571" y="3548715"/>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1100</a:t>
            </a:r>
          </a:p>
        </p:txBody>
      </p:sp>
      <p:sp>
        <p:nvSpPr>
          <p:cNvPr id="24" name="Rectangle 19"/>
          <p:cNvSpPr>
            <a:spLocks noChangeArrowheads="1"/>
          </p:cNvSpPr>
          <p:nvPr/>
        </p:nvSpPr>
        <p:spPr bwMode="auto">
          <a:xfrm>
            <a:off x="5064699" y="3750647"/>
            <a:ext cx="488374"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25" name="Rectangle 20"/>
          <p:cNvSpPr>
            <a:spLocks noChangeArrowheads="1"/>
          </p:cNvSpPr>
          <p:nvPr/>
        </p:nvSpPr>
        <p:spPr bwMode="auto">
          <a:xfrm>
            <a:off x="5218278" y="4003552"/>
            <a:ext cx="366280"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rgbClr val="C00000"/>
                </a:solidFill>
                <a:latin typeface="微软雅黑" pitchFamily="34" charset="-122"/>
                <a:ea typeface="微软雅黑" pitchFamily="34" charset="-122"/>
              </a:rPr>
              <a:t>001</a:t>
            </a:r>
          </a:p>
        </p:txBody>
      </p:sp>
      <p:sp>
        <p:nvSpPr>
          <p:cNvPr id="26" name="Rectangle 21"/>
          <p:cNvSpPr>
            <a:spLocks noChangeArrowheads="1"/>
          </p:cNvSpPr>
          <p:nvPr/>
        </p:nvSpPr>
        <p:spPr bwMode="auto">
          <a:xfrm>
            <a:off x="6097570" y="3984885"/>
            <a:ext cx="214914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i="1" dirty="0">
                <a:solidFill>
                  <a:srgbClr val="CC00CC"/>
                </a:solidFill>
                <a:latin typeface="微软雅黑" pitchFamily="34" charset="-122"/>
                <a:ea typeface="微软雅黑" pitchFamily="34" charset="-122"/>
              </a:rPr>
              <a:t>R</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余数</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，作为 </a:t>
            </a:r>
            <a:r>
              <a:rPr lang="en-US" altLang="zh-CN" sz="1500" b="1" dirty="0">
                <a:solidFill>
                  <a:srgbClr val="CC00CC"/>
                </a:solidFill>
                <a:latin typeface="微软雅黑" pitchFamily="34" charset="-122"/>
                <a:ea typeface="微软雅黑" pitchFamily="34" charset="-122"/>
              </a:rPr>
              <a:t>FCS</a:t>
            </a:r>
          </a:p>
        </p:txBody>
      </p:sp>
      <p:sp>
        <p:nvSpPr>
          <p:cNvPr id="27" name="Freeform 22"/>
          <p:cNvSpPr>
            <a:spLocks/>
          </p:cNvSpPr>
          <p:nvPr/>
        </p:nvSpPr>
        <p:spPr bwMode="auto">
          <a:xfrm>
            <a:off x="4269909" y="1379418"/>
            <a:ext cx="1654800" cy="280352"/>
          </a:xfrm>
          <a:custGeom>
            <a:avLst/>
            <a:gdLst>
              <a:gd name="T0" fmla="*/ 0 w 944"/>
              <a:gd name="T1" fmla="*/ 2147483647 h 134"/>
              <a:gd name="T2" fmla="*/ 2147483647 w 944"/>
              <a:gd name="T3" fmla="*/ 2147483647 h 134"/>
              <a:gd name="T4" fmla="*/ 2147483647 w 944"/>
              <a:gd name="T5" fmla="*/ 2147483647 h 134"/>
              <a:gd name="T6" fmla="*/ 2147483647 w 944"/>
              <a:gd name="T7" fmla="*/ 2147483647 h 134"/>
              <a:gd name="T8" fmla="*/ 2147483647 w 944"/>
              <a:gd name="T9" fmla="*/ 2147483647 h 134"/>
              <a:gd name="T10" fmla="*/ 2147483647 w 944"/>
              <a:gd name="T11" fmla="*/ 2147483647 h 134"/>
              <a:gd name="T12" fmla="*/ 2147483647 w 944"/>
              <a:gd name="T13" fmla="*/ 2147483647 h 134"/>
              <a:gd name="T14" fmla="*/ 2147483647 w 944"/>
              <a:gd name="T15" fmla="*/ 2147483647 h 134"/>
              <a:gd name="T16" fmla="*/ 2147483647 w 944"/>
              <a:gd name="T17" fmla="*/ 2147483647 h 134"/>
              <a:gd name="T18" fmla="*/ 2147483647 w 944"/>
              <a:gd name="T19" fmla="*/ 2147483647 h 134"/>
              <a:gd name="T20" fmla="*/ 2147483647 w 944"/>
              <a:gd name="T21" fmla="*/ 2147483647 h 134"/>
              <a:gd name="T22" fmla="*/ 2147483647 w 944"/>
              <a:gd name="T23" fmla="*/ 2147483647 h 134"/>
              <a:gd name="T24" fmla="*/ 2147483647 w 944"/>
              <a:gd name="T25" fmla="*/ 2147483647 h 134"/>
              <a:gd name="T26" fmla="*/ 2147483647 w 944"/>
              <a:gd name="T27" fmla="*/ 2147483647 h 134"/>
              <a:gd name="T28" fmla="*/ 2147483647 w 944"/>
              <a:gd name="T29" fmla="*/ 2147483647 h 134"/>
              <a:gd name="T30" fmla="*/ 2147483647 w 944"/>
              <a:gd name="T31" fmla="*/ 2147483647 h 134"/>
              <a:gd name="T32" fmla="*/ 2147483647 w 944"/>
              <a:gd name="T33" fmla="*/ 2147483647 h 134"/>
              <a:gd name="T34" fmla="*/ 2147483647 w 944"/>
              <a:gd name="T35" fmla="*/ 2147483647 h 134"/>
              <a:gd name="T36" fmla="*/ 2147483647 w 944"/>
              <a:gd name="T37" fmla="*/ 0 h 134"/>
              <a:gd name="T38" fmla="*/ 2147483647 w 944"/>
              <a:gd name="T39" fmla="*/ 0 h 134"/>
              <a:gd name="T40" fmla="*/ 2147483647 w 944"/>
              <a:gd name="T41" fmla="*/ 0 h 134"/>
              <a:gd name="T42" fmla="*/ 2147483647 w 944"/>
              <a:gd name="T43" fmla="*/ 0 h 1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500">
              <a:latin typeface="微软雅黑" pitchFamily="34" charset="-122"/>
              <a:ea typeface="微软雅黑" pitchFamily="34" charset="-122"/>
            </a:endParaRPr>
          </a:p>
        </p:txBody>
      </p:sp>
      <p:sp>
        <p:nvSpPr>
          <p:cNvPr id="28" name="Line 23"/>
          <p:cNvSpPr>
            <a:spLocks noChangeShapeType="1"/>
          </p:cNvSpPr>
          <p:nvPr/>
        </p:nvSpPr>
        <p:spPr bwMode="auto">
          <a:xfrm>
            <a:off x="3466755" y="1508811"/>
            <a:ext cx="219226"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29" name="Line 24"/>
          <p:cNvSpPr>
            <a:spLocks noChangeShapeType="1"/>
          </p:cNvSpPr>
          <p:nvPr/>
        </p:nvSpPr>
        <p:spPr bwMode="auto">
          <a:xfrm>
            <a:off x="4992088" y="1604232"/>
            <a:ext cx="12123" cy="2705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0" name="Line 25"/>
          <p:cNvSpPr>
            <a:spLocks noChangeShapeType="1"/>
          </p:cNvSpPr>
          <p:nvPr/>
        </p:nvSpPr>
        <p:spPr bwMode="auto">
          <a:xfrm>
            <a:off x="5109277" y="1596390"/>
            <a:ext cx="10103" cy="70480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1" name="Line 26"/>
          <p:cNvSpPr>
            <a:spLocks noChangeShapeType="1"/>
          </p:cNvSpPr>
          <p:nvPr/>
        </p:nvSpPr>
        <p:spPr bwMode="auto">
          <a:xfrm>
            <a:off x="5209521" y="1604232"/>
            <a:ext cx="16164" cy="109004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2" name="Line 27"/>
          <p:cNvSpPr>
            <a:spLocks noChangeShapeType="1"/>
          </p:cNvSpPr>
          <p:nvPr/>
        </p:nvSpPr>
        <p:spPr bwMode="auto">
          <a:xfrm>
            <a:off x="5327721" y="1604232"/>
            <a:ext cx="21215" cy="150664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3" name="Line 28"/>
          <p:cNvSpPr>
            <a:spLocks noChangeShapeType="1"/>
          </p:cNvSpPr>
          <p:nvPr/>
        </p:nvSpPr>
        <p:spPr bwMode="auto">
          <a:xfrm>
            <a:off x="4456292" y="1844170"/>
            <a:ext cx="4818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4" name="Line 29"/>
          <p:cNvSpPr>
            <a:spLocks noChangeShapeType="1"/>
          </p:cNvSpPr>
          <p:nvPr/>
        </p:nvSpPr>
        <p:spPr bwMode="auto">
          <a:xfrm>
            <a:off x="4580286" y="2284303"/>
            <a:ext cx="48189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5" name="Line 30"/>
          <p:cNvSpPr>
            <a:spLocks noChangeShapeType="1"/>
          </p:cNvSpPr>
          <p:nvPr/>
        </p:nvSpPr>
        <p:spPr bwMode="auto">
          <a:xfrm>
            <a:off x="4690157" y="2708752"/>
            <a:ext cx="48290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6" name="Line 31"/>
          <p:cNvSpPr>
            <a:spLocks noChangeShapeType="1"/>
          </p:cNvSpPr>
          <p:nvPr/>
        </p:nvSpPr>
        <p:spPr bwMode="auto">
          <a:xfrm>
            <a:off x="4847776" y="3133201"/>
            <a:ext cx="4818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7" name="Line 32"/>
          <p:cNvSpPr>
            <a:spLocks noChangeShapeType="1"/>
          </p:cNvSpPr>
          <p:nvPr/>
        </p:nvSpPr>
        <p:spPr bwMode="auto">
          <a:xfrm>
            <a:off x="4935134" y="3549808"/>
            <a:ext cx="48290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8" name="Line 33"/>
          <p:cNvSpPr>
            <a:spLocks noChangeShapeType="1"/>
          </p:cNvSpPr>
          <p:nvPr/>
        </p:nvSpPr>
        <p:spPr bwMode="auto">
          <a:xfrm>
            <a:off x="5110180" y="3993749"/>
            <a:ext cx="48189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9" name="Line 35"/>
          <p:cNvSpPr>
            <a:spLocks noChangeShapeType="1"/>
          </p:cNvSpPr>
          <p:nvPr/>
        </p:nvSpPr>
        <p:spPr bwMode="auto">
          <a:xfrm>
            <a:off x="5446227" y="1605213"/>
            <a:ext cx="25256" cy="1965404"/>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0" name="Line 38"/>
          <p:cNvSpPr>
            <a:spLocks noChangeShapeType="1"/>
          </p:cNvSpPr>
          <p:nvPr/>
        </p:nvSpPr>
        <p:spPr bwMode="auto">
          <a:xfrm flipH="1">
            <a:off x="5661980" y="1516653"/>
            <a:ext cx="321262"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1" name="Line 39"/>
          <p:cNvSpPr>
            <a:spLocks noChangeShapeType="1"/>
          </p:cNvSpPr>
          <p:nvPr/>
        </p:nvSpPr>
        <p:spPr bwMode="auto">
          <a:xfrm flipH="1">
            <a:off x="5727447" y="4102556"/>
            <a:ext cx="321262" cy="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2" name="Rectangle 40"/>
          <p:cNvSpPr>
            <a:spLocks noChangeArrowheads="1"/>
          </p:cNvSpPr>
          <p:nvPr/>
        </p:nvSpPr>
        <p:spPr bwMode="auto">
          <a:xfrm>
            <a:off x="6038772" y="1118782"/>
            <a:ext cx="573376" cy="23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Q</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商</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43" name="Line 41"/>
          <p:cNvSpPr>
            <a:spLocks noChangeShapeType="1"/>
          </p:cNvSpPr>
          <p:nvPr/>
        </p:nvSpPr>
        <p:spPr bwMode="auto">
          <a:xfrm flipH="1">
            <a:off x="5660969" y="1239242"/>
            <a:ext cx="321262"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 name="圆角矩形 2"/>
          <p:cNvSpPr/>
          <p:nvPr/>
        </p:nvSpPr>
        <p:spPr>
          <a:xfrm>
            <a:off x="664269" y="1947166"/>
            <a:ext cx="3001387" cy="1722556"/>
          </a:xfrm>
          <a:prstGeom prst="roundRect">
            <a:avLst>
              <a:gd name="adj" fmla="val 105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b="1" dirty="0">
                <a:solidFill>
                  <a:schemeClr val="tx1"/>
                </a:solidFill>
                <a:latin typeface="微软雅黑" pitchFamily="34" charset="-122"/>
                <a:ea typeface="微软雅黑" pitchFamily="34" charset="-122"/>
              </a:rPr>
              <a:t>原始数据 </a:t>
            </a:r>
            <a:r>
              <a:rPr lang="en-US" altLang="zh-CN" b="1" i="1" dirty="0">
                <a:solidFill>
                  <a:schemeClr val="tx1"/>
                </a:solidFill>
                <a:latin typeface="微软雅黑" pitchFamily="34" charset="-122"/>
                <a:ea typeface="微软雅黑" pitchFamily="34" charset="-122"/>
              </a:rPr>
              <a:t>M</a:t>
            </a:r>
            <a:r>
              <a:rPr lang="en-US" altLang="zh-CN" b="1" dirty="0">
                <a:solidFill>
                  <a:schemeClr val="tx1"/>
                </a:solidFill>
                <a:latin typeface="微软雅黑" pitchFamily="34" charset="-122"/>
                <a:ea typeface="微软雅黑" pitchFamily="34" charset="-122"/>
              </a:rPr>
              <a:t> = 101001</a:t>
            </a:r>
          </a:p>
          <a:p>
            <a:pPr>
              <a:lnSpc>
                <a:spcPct val="120000"/>
              </a:lnSpc>
            </a:pPr>
            <a:r>
              <a:rPr lang="zh-CN" altLang="en-US" b="1" dirty="0">
                <a:solidFill>
                  <a:schemeClr val="tx1"/>
                </a:solidFill>
                <a:latin typeface="微软雅黑" pitchFamily="34" charset="-122"/>
                <a:ea typeface="微软雅黑" pitchFamily="34" charset="-122"/>
              </a:rPr>
              <a:t>除数 </a:t>
            </a:r>
            <a:r>
              <a:rPr lang="en-US" altLang="zh-CN" b="1" i="1" dirty="0">
                <a:solidFill>
                  <a:schemeClr val="tx1"/>
                </a:solidFill>
                <a:latin typeface="微软雅黑" pitchFamily="34" charset="-122"/>
                <a:ea typeface="微软雅黑" pitchFamily="34" charset="-122"/>
              </a:rPr>
              <a:t>P</a:t>
            </a:r>
            <a:r>
              <a:rPr lang="en-US" altLang="zh-CN" b="1" dirty="0">
                <a:solidFill>
                  <a:schemeClr val="tx1"/>
                </a:solidFill>
                <a:latin typeface="微软雅黑" pitchFamily="34" charset="-122"/>
                <a:ea typeface="微软雅黑" pitchFamily="34" charset="-122"/>
              </a:rPr>
              <a:t> = 1101</a:t>
            </a:r>
          </a:p>
          <a:p>
            <a:pPr>
              <a:lnSpc>
                <a:spcPct val="120000"/>
              </a:lnSpc>
            </a:pP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得到：</a:t>
            </a: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发送数据 </a:t>
            </a:r>
            <a:r>
              <a:rPr lang="en-US" altLang="zh-CN" b="1" dirty="0">
                <a:solidFill>
                  <a:schemeClr val="tx1"/>
                </a:solidFill>
                <a:latin typeface="微软雅黑" pitchFamily="34" charset="-122"/>
                <a:ea typeface="微软雅黑" pitchFamily="34" charset="-122"/>
              </a:rPr>
              <a:t>= 101001</a:t>
            </a:r>
            <a:r>
              <a:rPr lang="en-US" altLang="zh-CN" b="1" dirty="0">
                <a:solidFill>
                  <a:srgbClr val="FF0000"/>
                </a:solidFill>
                <a:latin typeface="微软雅黑" pitchFamily="34" charset="-122"/>
                <a:ea typeface="微软雅黑" pitchFamily="34" charset="-122"/>
              </a:rPr>
              <a:t>001</a:t>
            </a:r>
            <a:endParaRPr lang="zh-CN" altLang="en-US" b="1" dirty="0">
              <a:solidFill>
                <a:srgbClr val="FF0000"/>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7642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3000" fill="hold" nodeType="clickEffect">
                                  <p:stCondLst>
                                    <p:cond delay="0"/>
                                  </p:stCondLst>
                                  <p:childTnLst>
                                    <p:animEffect transition="out" filter="fade">
                                      <p:cBhvr>
                                        <p:cTn id="6" dur="500" tmFilter="0, 0; .2, .5; .8, .5; 1, 0"/>
                                        <p:tgtEl>
                                          <p:spTgt spid="3">
                                            <p:txEl>
                                              <p:pRg st="0" end="0"/>
                                            </p:txEl>
                                          </p:spTgt>
                                        </p:tgtEl>
                                      </p:cBhvr>
                                    </p:animEffect>
                                    <p:animScale>
                                      <p:cBhvr>
                                        <p:cTn id="7" dur="250" autoRev="1" fill="hold"/>
                                        <p:tgtEl>
                                          <p:spTgt spid="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35" presetClass="emph" presetSubtype="0" repeatCount="2000" fill="hold" grpId="0" nodeType="clickEffect">
                                  <p:stCondLst>
                                    <p:cond delay="0"/>
                                  </p:stCondLst>
                                  <p:childTnLst>
                                    <p:anim calcmode="discrete" valueType="str">
                                      <p:cBhvr>
                                        <p:cTn id="11"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35" presetClass="emph" presetSubtype="0" repeatCount="2000" fill="hold" grpId="0" nodeType="clickEffect">
                                  <p:stCondLst>
                                    <p:cond delay="0"/>
                                  </p:stCondLst>
                                  <p:childTnLst>
                                    <p:anim calcmode="discrete" valueType="str">
                                      <p:cBhvr>
                                        <p:cTn id="15"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16" fill="hold">
                      <p:stCondLst>
                        <p:cond delay="indefinite"/>
                      </p:stCondLst>
                      <p:childTnLst>
                        <p:par>
                          <p:cTn id="17" fill="hold">
                            <p:stCondLst>
                              <p:cond delay="0"/>
                            </p:stCondLst>
                            <p:childTnLst>
                              <p:par>
                                <p:cTn id="18" presetID="35" presetClass="emph" presetSubtype="0" repeatCount="2000" fill="hold" grpId="0" nodeType="clickEffect">
                                  <p:stCondLst>
                                    <p:cond delay="0"/>
                                  </p:stCondLst>
                                  <p:childTnLst>
                                    <p:anim calcmode="discrete" valueType="str">
                                      <p:cBhvr>
                                        <p:cTn id="19"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20" fill="hold">
                      <p:stCondLst>
                        <p:cond delay="indefinite"/>
                      </p:stCondLst>
                      <p:childTnLst>
                        <p:par>
                          <p:cTn id="21" fill="hold">
                            <p:stCondLst>
                              <p:cond delay="0"/>
                            </p:stCondLst>
                            <p:childTnLst>
                              <p:par>
                                <p:cTn id="22" presetID="26" presetClass="emph" presetSubtype="0" repeatCount="3000" fill="hold" nodeType="clickEffect">
                                  <p:stCondLst>
                                    <p:cond delay="0"/>
                                  </p:stCondLst>
                                  <p:childTnLst>
                                    <p:animEffect transition="out" filter="fade">
                                      <p:cBhvr>
                                        <p:cTn id="23" dur="500" tmFilter="0, 0; .2, .5; .8, .5; 1, 0"/>
                                        <p:tgtEl>
                                          <p:spTgt spid="3">
                                            <p:txEl>
                                              <p:pRg st="4" end="4"/>
                                            </p:txEl>
                                          </p:spTgt>
                                        </p:tgtEl>
                                      </p:cBhvr>
                                    </p:animEffect>
                                    <p:animScale>
                                      <p:cBhvr>
                                        <p:cTn id="24"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5193"/>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2953"/>
            <a:ext cx="7829415" cy="400110"/>
          </a:xfrm>
          <a:prstGeom prst="rect">
            <a:avLst/>
          </a:prstGeom>
        </p:spPr>
        <p:txBody>
          <a:bodyPr wrap="square">
            <a:spAutoFit/>
          </a:bodyPr>
          <a:lstStyle/>
          <a:p>
            <a:pPr algn="ctr"/>
            <a:r>
              <a:rPr lang="zh-CN" altLang="en-US" sz="2000" b="1" dirty="0">
                <a:latin typeface="微软雅黑" pitchFamily="34" charset="-122"/>
                <a:ea typeface="微软雅黑" pitchFamily="34" charset="-122"/>
              </a:rPr>
              <a:t>帧校验序列 </a:t>
            </a:r>
            <a:r>
              <a:rPr lang="en-US" altLang="zh-CN" sz="2000" b="1" dirty="0">
                <a:latin typeface="微软雅黑" pitchFamily="34" charset="-122"/>
                <a:ea typeface="微软雅黑" pitchFamily="34" charset="-122"/>
              </a:rPr>
              <a:t>FCS</a:t>
            </a:r>
            <a:endParaRPr lang="zh-CN" altLang="en-US" sz="2000" b="1" dirty="0">
              <a:latin typeface="微软雅黑" pitchFamily="34" charset="-122"/>
              <a:ea typeface="微软雅黑" pitchFamily="34" charset="-122"/>
            </a:endParaRPr>
          </a:p>
        </p:txBody>
      </p:sp>
      <p:sp>
        <p:nvSpPr>
          <p:cNvPr id="7" name="矩形 6"/>
          <p:cNvSpPr/>
          <p:nvPr/>
        </p:nvSpPr>
        <p:spPr>
          <a:xfrm>
            <a:off x="466344" y="938474"/>
            <a:ext cx="8302752"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在数据后面添加上的冗余码称为</a:t>
            </a:r>
            <a:r>
              <a:rPr lang="zh-CN" altLang="en-US" sz="2000" b="1" dirty="0">
                <a:solidFill>
                  <a:srgbClr val="C00000"/>
                </a:solidFill>
                <a:latin typeface="微软雅黑" pitchFamily="34" charset="-122"/>
                <a:ea typeface="微软雅黑" pitchFamily="34" charset="-122"/>
              </a:rPr>
              <a:t>帧检验序列 </a:t>
            </a:r>
            <a:r>
              <a:rPr lang="en-US" altLang="zh-CN" sz="2000" b="1" dirty="0">
                <a:solidFill>
                  <a:srgbClr val="C00000"/>
                </a:solidFill>
                <a:latin typeface="微软雅黑" pitchFamily="34" charset="-122"/>
                <a:ea typeface="微软雅黑" pitchFamily="34" charset="-122"/>
              </a:rPr>
              <a:t>FCS </a:t>
            </a:r>
            <a:r>
              <a:rPr lang="en-US" altLang="zh-CN" sz="2000" b="1" dirty="0">
                <a:latin typeface="微软雅黑" pitchFamily="34" charset="-122"/>
                <a:ea typeface="微软雅黑" pitchFamily="34" charset="-122"/>
              </a:rPr>
              <a:t>(Frame Check Sequence)</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和帧检验序列 </a:t>
            </a:r>
            <a:r>
              <a:rPr lang="en-US" altLang="zh-CN" sz="2000" b="1" dirty="0">
                <a:latin typeface="微软雅黑" pitchFamily="34" charset="-122"/>
                <a:ea typeface="微软雅黑" pitchFamily="34" charset="-122"/>
              </a:rPr>
              <a:t>FCS </a:t>
            </a:r>
            <a:r>
              <a:rPr lang="zh-CN" altLang="en-US" sz="2000" b="1" dirty="0">
                <a:solidFill>
                  <a:srgbClr val="C00000"/>
                </a:solidFill>
                <a:latin typeface="微软雅黑" pitchFamily="34" charset="-122"/>
                <a:ea typeface="微软雅黑" pitchFamily="34" charset="-122"/>
              </a:rPr>
              <a:t>并不等同。</a:t>
            </a:r>
          </a:p>
          <a:p>
            <a:pPr marL="542925" indent="-342900">
              <a:lnSpc>
                <a:spcPts val="3300"/>
              </a:lnSpc>
              <a:buClr>
                <a:srgbClr val="7030A0"/>
              </a:buClr>
              <a:buFont typeface="Arial" panose="020B0604020202020204" pitchFamily="34" charset="0"/>
              <a:buChar char="•"/>
            </a:pP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是一种常用的检错方法，而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是添加在数据后面的冗余码。</a:t>
            </a:r>
          </a:p>
          <a:p>
            <a:pPr marL="542925" indent="-342900">
              <a:lnSpc>
                <a:spcPts val="3300"/>
              </a:lnSpc>
              <a:buClr>
                <a:srgbClr val="7030A0"/>
              </a:buClr>
              <a:buFont typeface="Arial" panose="020B0604020202020204" pitchFamily="34" charset="0"/>
              <a:buChar char="•"/>
            </a:pP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可以用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这种方法得出，但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并非用来获得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的唯一方法。 </a:t>
            </a:r>
          </a:p>
        </p:txBody>
      </p:sp>
    </p:spTree>
    <p:custDataLst>
      <p:tags r:id="rId1"/>
    </p:custDataLst>
    <p:extLst>
      <p:ext uri="{BB962C8B-B14F-4D97-AF65-F5344CB8AC3E}">
        <p14:creationId xmlns:p14="http://schemas.microsoft.com/office/powerpoint/2010/main" val="360976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7765915" cy="400110"/>
          </a:xfrm>
          <a:prstGeom prst="rect">
            <a:avLst/>
          </a:prstGeom>
        </p:spPr>
        <p:txBody>
          <a:bodyPr wrap="square">
            <a:spAutoFit/>
          </a:bodyPr>
          <a:lstStyle/>
          <a:p>
            <a:pPr algn="ctr"/>
            <a:r>
              <a:rPr lang="zh-CN" altLang="en-US" sz="2000" b="1" dirty="0">
                <a:latin typeface="微软雅黑" pitchFamily="34" charset="-122"/>
                <a:ea typeface="微软雅黑" pitchFamily="34" charset="-122"/>
              </a:rPr>
              <a:t>广泛使用的生成多项式</a:t>
            </a:r>
            <a:r>
              <a:rPr lang="en-US" altLang="zh-CN" sz="2000" b="1" dirty="0">
                <a:latin typeface="微软雅黑" pitchFamily="34" charset="-122"/>
                <a:ea typeface="微软雅黑" pitchFamily="34" charset="-122"/>
              </a:rPr>
              <a:t>P(X)</a:t>
            </a:r>
            <a:endParaRPr lang="zh-CN" altLang="en-US" sz="2000" b="1" dirty="0">
              <a:latin typeface="微软雅黑" pitchFamily="34" charset="-122"/>
              <a:ea typeface="微软雅黑" pitchFamily="34" charset="-122"/>
            </a:endParaRPr>
          </a:p>
        </p:txBody>
      </p:sp>
      <p:sp>
        <p:nvSpPr>
          <p:cNvPr id="2" name="矩形 1"/>
          <p:cNvSpPr/>
          <p:nvPr/>
        </p:nvSpPr>
        <p:spPr>
          <a:xfrm>
            <a:off x="819265" y="2765180"/>
            <a:ext cx="7698509" cy="152862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CRC-16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15</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CRC-CCITT</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CRC-32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32</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23</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11</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10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8</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4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X + 1</a:t>
            </a:r>
            <a:endParaRPr lang="zh-CN" altLang="zh-CN"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224FDB07-C4EA-2A57-A340-62BA6EECFD48}"/>
              </a:ext>
            </a:extLst>
          </p:cNvPr>
          <p:cNvSpPr/>
          <p:nvPr/>
        </p:nvSpPr>
        <p:spPr>
          <a:xfrm>
            <a:off x="466344" y="997469"/>
            <a:ext cx="8302752" cy="1740348"/>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用多项式来表示循环冗余校验过程的例子</a:t>
            </a:r>
            <a:r>
              <a:rPr lang="en-US" altLang="zh-CN" sz="2000" b="1" dirty="0">
                <a:latin typeface="微软雅黑" pitchFamily="34" charset="-122"/>
                <a:ea typeface="微软雅黑" pitchFamily="34" charset="-122"/>
              </a:rPr>
              <a:t>:  </a:t>
            </a:r>
          </a:p>
          <a:p>
            <a:pPr>
              <a:lnSpc>
                <a:spcPts val="3300"/>
              </a:lnSpc>
              <a:buClr>
                <a:srgbClr val="0070C0"/>
              </a:buClr>
            </a:pPr>
            <a:r>
              <a:rPr lang="zh-CN" altLang="en-US" sz="2000" b="1" dirty="0">
                <a:latin typeface="微软雅黑" pitchFamily="34" charset="-122"/>
                <a:ea typeface="微软雅黑" pitchFamily="34" charset="-122"/>
              </a:rPr>
              <a:t>   多项式</a:t>
            </a:r>
            <a:r>
              <a:rPr lang="en-US" altLang="zh-CN" sz="2000" b="1" dirty="0">
                <a:latin typeface="微软雅黑" pitchFamily="34" charset="-122"/>
                <a:ea typeface="微软雅黑" pitchFamily="34" charset="-122"/>
              </a:rPr>
              <a:t>P(X) = X</a:t>
            </a:r>
            <a:r>
              <a:rPr lang="en-US" altLang="zh-CN" sz="2000" b="1" baseline="30000" dirty="0">
                <a:latin typeface="微软雅黑" pitchFamily="34" charset="-122"/>
                <a:ea typeface="微软雅黑" pitchFamily="34" charset="-122"/>
              </a:rPr>
              <a:t>3</a:t>
            </a:r>
            <a:r>
              <a:rPr lang="en-US" altLang="zh-CN" sz="2000" b="1" dirty="0">
                <a:latin typeface="微软雅黑" pitchFamily="34" charset="-122"/>
                <a:ea typeface="微软雅黑" pitchFamily="34" charset="-122"/>
              </a:rPr>
              <a:t> + X</a:t>
            </a:r>
            <a:r>
              <a:rPr lang="en-US" altLang="zh-CN" sz="2000" b="1" baseline="30000" dirty="0">
                <a:latin typeface="微软雅黑" pitchFamily="34" charset="-122"/>
                <a:ea typeface="微软雅黑" pitchFamily="34" charset="-122"/>
              </a:rPr>
              <a:t>2</a:t>
            </a:r>
            <a:r>
              <a:rPr lang="en-US" altLang="zh-CN" sz="2000" b="1" dirty="0">
                <a:latin typeface="微软雅黑" pitchFamily="34" charset="-122"/>
                <a:ea typeface="微软雅黑" pitchFamily="34" charset="-122"/>
              </a:rPr>
              <a:t> + 1</a:t>
            </a:r>
            <a:r>
              <a:rPr lang="zh-CN" altLang="en-US" sz="2000" b="1" dirty="0">
                <a:latin typeface="微软雅黑" pitchFamily="34" charset="-122"/>
                <a:ea typeface="微软雅黑" pitchFamily="34" charset="-122"/>
              </a:rPr>
              <a:t>表示上面的除数</a:t>
            </a:r>
            <a:r>
              <a:rPr lang="en-US" altLang="zh-CN" sz="2000" b="1" dirty="0">
                <a:latin typeface="微软雅黑" pitchFamily="34" charset="-122"/>
                <a:ea typeface="微软雅黑" pitchFamily="34" charset="-122"/>
              </a:rPr>
              <a:t>P = 1101</a:t>
            </a:r>
            <a:r>
              <a:rPr lang="zh-CN" altLang="en-US" sz="2000" b="1" dirty="0">
                <a:latin typeface="微软雅黑" pitchFamily="34" charset="-122"/>
                <a:ea typeface="微软雅黑" pitchFamily="34" charset="-122"/>
              </a:rPr>
              <a:t>（最高位对应于</a:t>
            </a:r>
            <a:r>
              <a:rPr lang="en-US" altLang="zh-CN" sz="2000" b="1" dirty="0">
                <a:latin typeface="微软雅黑" pitchFamily="34" charset="-122"/>
                <a:ea typeface="微软雅黑" pitchFamily="34" charset="-122"/>
              </a:rPr>
              <a:t>X</a:t>
            </a:r>
            <a:r>
              <a:rPr lang="en-US" altLang="zh-CN" sz="2000" b="1" baseline="30000"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，最低位对应于</a:t>
            </a:r>
            <a:r>
              <a:rPr lang="en-US" altLang="zh-CN" sz="2000" b="1" dirty="0">
                <a:latin typeface="微软雅黑" pitchFamily="34" charset="-122"/>
                <a:ea typeface="微软雅黑" pitchFamily="34" charset="-122"/>
              </a:rPr>
              <a:t>X</a:t>
            </a:r>
            <a:r>
              <a:rPr lang="en-US" altLang="zh-CN" sz="2000" b="1" baseline="30000"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。多项式</a:t>
            </a:r>
            <a:r>
              <a:rPr lang="en-US" altLang="zh-CN" sz="2000" b="1" dirty="0">
                <a:latin typeface="微软雅黑" pitchFamily="34" charset="-122"/>
                <a:ea typeface="微软雅黑" pitchFamily="34" charset="-122"/>
              </a:rPr>
              <a:t>P(X)</a:t>
            </a:r>
            <a:r>
              <a:rPr lang="zh-CN" altLang="en-US" sz="2000" b="1" dirty="0">
                <a:latin typeface="微软雅黑" pitchFamily="34" charset="-122"/>
                <a:ea typeface="微软雅黑" pitchFamily="34" charset="-122"/>
              </a:rPr>
              <a:t>称为生成多项式。</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广泛使用的生成多项式</a:t>
            </a:r>
          </a:p>
        </p:txBody>
      </p:sp>
    </p:spTree>
    <p:custDataLst>
      <p:tags r:id="rId1"/>
    </p:custDataLst>
    <p:extLst>
      <p:ext uri="{BB962C8B-B14F-4D97-AF65-F5344CB8AC3E}">
        <p14:creationId xmlns:p14="http://schemas.microsoft.com/office/powerpoint/2010/main" val="3213520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bldLvl="2"/>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697627"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p>
        </p:txBody>
      </p:sp>
      <p:sp>
        <p:nvSpPr>
          <p:cNvPr id="100" name="矩形 99"/>
          <p:cNvSpPr/>
          <p:nvPr/>
        </p:nvSpPr>
        <p:spPr>
          <a:xfrm>
            <a:off x="466344" y="952473"/>
            <a:ext cx="8302752" cy="2163541"/>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仅用循环冗余检验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差错检测技术只能做到</a:t>
            </a:r>
            <a:r>
              <a:rPr lang="zh-CN" altLang="en-US" sz="2000" b="1" dirty="0">
                <a:solidFill>
                  <a:srgbClr val="0000FF"/>
                </a:solidFill>
                <a:latin typeface="微软雅黑" pitchFamily="34" charset="-122"/>
                <a:ea typeface="微软雅黑" pitchFamily="34" charset="-122"/>
              </a:rPr>
              <a:t>无差错接受 </a:t>
            </a:r>
            <a:r>
              <a:rPr lang="en-US" altLang="zh-CN" sz="2000" b="1" dirty="0">
                <a:latin typeface="微软雅黑" pitchFamily="34" charset="-122"/>
                <a:ea typeface="微软雅黑" pitchFamily="34" charset="-122"/>
              </a:rPr>
              <a:t>(accept)</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a:t>
            </a:r>
            <a:r>
              <a:rPr lang="zh-CN" altLang="en-US" sz="2000" b="1" dirty="0">
                <a:solidFill>
                  <a:srgbClr val="0000FF"/>
                </a:solidFill>
                <a:latin typeface="微软雅黑" pitchFamily="34" charset="-122"/>
                <a:ea typeface="微软雅黑" pitchFamily="34" charset="-122"/>
              </a:rPr>
              <a:t>“凡是接收端数据链路层接受的帧（不包括接收了但被丢弃的帧），我们都能认为这些帧在传输过程中没有产生差错的概率非常接近于 </a:t>
            </a:r>
            <a:r>
              <a:rPr lang="en-US" altLang="zh-CN" sz="2000" b="1" dirty="0">
                <a:solidFill>
                  <a:srgbClr val="0000FF"/>
                </a:solidFill>
                <a:latin typeface="微软雅黑" pitchFamily="34" charset="-122"/>
                <a:ea typeface="微软雅黑" pitchFamily="34" charset="-122"/>
              </a:rPr>
              <a:t>1 </a:t>
            </a:r>
            <a:r>
              <a:rPr lang="zh-CN" altLang="en-US" sz="2000" b="1" dirty="0">
                <a:solidFill>
                  <a:srgbClr val="0000FF"/>
                </a:solidFill>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也可以近似地表述为：“凡是接收端数据链路层接受的帧均无差错”。</a:t>
            </a:r>
            <a:endParaRPr lang="en-US" altLang="zh-CN" sz="20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91806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1000"/>
                                        <p:tgtEl>
                                          <p:spTgt spid="100">
                                            <p:txEl>
                                              <p:pRg st="0" end="0"/>
                                            </p:txEl>
                                          </p:spTgt>
                                        </p:tgtEl>
                                      </p:cBhvr>
                                    </p:animEffect>
                                    <p:anim calcmode="lin" valueType="num">
                                      <p:cBhvr>
                                        <p:cTn id="8" dur="1000" fill="hold"/>
                                        <p:tgtEl>
                                          <p:spTgt spid="10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0">
                                            <p:txEl>
                                              <p:pRg st="1" end="1"/>
                                            </p:txEl>
                                          </p:spTgt>
                                        </p:tgtEl>
                                        <p:attrNameLst>
                                          <p:attrName>style.visibility</p:attrName>
                                        </p:attrNameLst>
                                      </p:cBhvr>
                                      <p:to>
                                        <p:strVal val="visible"/>
                                      </p:to>
                                    </p:set>
                                    <p:animEffect transition="in" filter="fade">
                                      <p:cBhvr>
                                        <p:cTn id="14" dur="1000"/>
                                        <p:tgtEl>
                                          <p:spTgt spid="100">
                                            <p:txEl>
                                              <p:pRg st="1" end="1"/>
                                            </p:txEl>
                                          </p:spTgt>
                                        </p:tgtEl>
                                      </p:cBhvr>
                                    </p:animEffect>
                                    <p:anim calcmode="lin" valueType="num">
                                      <p:cBhvr>
                                        <p:cTn id="15" dur="1000" fill="hold"/>
                                        <p:tgtEl>
                                          <p:spTgt spid="10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0">
                                            <p:txEl>
                                              <p:pRg st="2" end="2"/>
                                            </p:txEl>
                                          </p:spTgt>
                                        </p:tgtEl>
                                        <p:attrNameLst>
                                          <p:attrName>style.visibility</p:attrName>
                                        </p:attrNameLst>
                                      </p:cBhvr>
                                      <p:to>
                                        <p:strVal val="visible"/>
                                      </p:to>
                                    </p:set>
                                    <p:animEffect transition="in" filter="fade">
                                      <p:cBhvr>
                                        <p:cTn id="21" dur="1000"/>
                                        <p:tgtEl>
                                          <p:spTgt spid="100">
                                            <p:txEl>
                                              <p:pRg st="2" end="2"/>
                                            </p:txEl>
                                          </p:spTgt>
                                        </p:tgtEl>
                                      </p:cBhvr>
                                    </p:animEffect>
                                    <p:anim calcmode="lin" valueType="num">
                                      <p:cBhvr>
                                        <p:cTn id="22" dur="1000" fill="hold"/>
                                        <p:tgtEl>
                                          <p:spTgt spid="10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061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4" y="569233"/>
            <a:ext cx="7778615" cy="400110"/>
          </a:xfrm>
          <a:prstGeom prst="rect">
            <a:avLst/>
          </a:prstGeom>
        </p:spPr>
        <p:txBody>
          <a:bodyPr wrap="square">
            <a:spAutoFit/>
          </a:bodyPr>
          <a:lstStyle/>
          <a:p>
            <a:pPr algn="ctr"/>
            <a:r>
              <a:rPr lang="zh-CN" altLang="en-US" sz="2000" b="1" dirty="0">
                <a:latin typeface="微软雅黑" pitchFamily="34" charset="-122"/>
                <a:ea typeface="微软雅黑" pitchFamily="34" charset="-122"/>
              </a:rPr>
              <a:t>可靠传输</a:t>
            </a:r>
          </a:p>
        </p:txBody>
      </p:sp>
      <p:sp>
        <p:nvSpPr>
          <p:cNvPr id="7" name="矩形 6"/>
          <p:cNvSpPr/>
          <p:nvPr/>
        </p:nvSpPr>
        <p:spPr>
          <a:xfrm>
            <a:off x="466345" y="951710"/>
            <a:ext cx="8302751" cy="3779368"/>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可靠传输：</a:t>
            </a:r>
            <a:r>
              <a:rPr lang="zh-CN" altLang="en-US" sz="2000" b="1" dirty="0">
                <a:latin typeface="微软雅黑" pitchFamily="34" charset="-122"/>
                <a:ea typeface="微软雅黑" pitchFamily="34" charset="-122"/>
              </a:rPr>
              <a:t>数据链路层的发送端发送什么，在接收端就收到什么。</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传输差错</a:t>
            </a:r>
            <a:r>
              <a:rPr lang="zh-CN" altLang="en-US" sz="2000" b="1" dirty="0">
                <a:latin typeface="微软雅黑" pitchFamily="34" charset="-122"/>
                <a:ea typeface="微软雅黑" pitchFamily="34" charset="-122"/>
              </a:rPr>
              <a:t>可分为两大类：</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比特差错；</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传输差错：帧丢失、帧重复或帧失序等。</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在数据链路层使用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校验，能够实现无比特差错的传输，但这还不是可靠传输。</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要做到可靠传输，还</a:t>
            </a:r>
            <a:r>
              <a:rPr lang="zh-CN" altLang="en-US" sz="2000" b="1" dirty="0">
                <a:solidFill>
                  <a:srgbClr val="C00000"/>
                </a:solidFill>
                <a:latin typeface="微软雅黑" pitchFamily="34" charset="-122"/>
                <a:ea typeface="微软雅黑" pitchFamily="34" charset="-122"/>
              </a:rPr>
              <a:t>必须再加上</a:t>
            </a:r>
            <a:r>
              <a:rPr lang="zh-CN" altLang="en-US" sz="2000" b="1" dirty="0">
                <a:solidFill>
                  <a:srgbClr val="0000FF"/>
                </a:solidFill>
                <a:latin typeface="微软雅黑" pitchFamily="34" charset="-122"/>
                <a:ea typeface="微软雅黑" pitchFamily="34" charset="-122"/>
              </a:rPr>
              <a:t>帧编号、确认和重传等机制。 </a:t>
            </a:r>
            <a:endParaRPr lang="en-US" altLang="zh-CN" sz="2000" b="1" dirty="0">
              <a:solidFill>
                <a:srgbClr val="0000FF"/>
              </a:solidFill>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对于通信质量良好的有线传输链路，数据链路层协议不使用确认和重传机制，不要求数据链路层向上层提供可靠传输的服务。</a:t>
            </a:r>
          </a:p>
        </p:txBody>
      </p:sp>
    </p:spTree>
    <p:custDataLst>
      <p:tags r:id="rId1"/>
    </p:custDataLst>
    <p:extLst>
      <p:ext uri="{BB962C8B-B14F-4D97-AF65-F5344CB8AC3E}">
        <p14:creationId xmlns:p14="http://schemas.microsoft.com/office/powerpoint/2010/main" val="56919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1000"/>
                                        <p:tgtEl>
                                          <p:spTgt spid="7">
                                            <p:txEl>
                                              <p:pRg st="0" end="0"/>
                                            </p:txEl>
                                          </p:spTgt>
                                        </p:tgtEl>
                                      </p:cBhvr>
                                    </p:animEffect>
                                    <p:anim calcmode="lin" valueType="num">
                                      <p:cBhvr>
                                        <p:cTn id="1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1000"/>
                                        <p:tgtEl>
                                          <p:spTgt spid="7">
                                            <p:txEl>
                                              <p:pRg st="1" end="1"/>
                                            </p:txEl>
                                          </p:spTgt>
                                        </p:tgtEl>
                                      </p:cBhvr>
                                    </p:animEffect>
                                    <p:anim calcmode="lin" valueType="num">
                                      <p:cBhvr>
                                        <p:cTn id="19"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1000"/>
                                        <p:tgtEl>
                                          <p:spTgt spid="7">
                                            <p:txEl>
                                              <p:pRg st="2" end="2"/>
                                            </p:txEl>
                                          </p:spTgt>
                                        </p:tgtEl>
                                      </p:cBhvr>
                                    </p:animEffect>
                                    <p:anim calcmode="lin" valueType="num">
                                      <p:cBhvr>
                                        <p:cTn id="24"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9"/>
          <p:cNvSpPr>
            <a:spLocks noChangeArrowheads="1"/>
          </p:cNvSpPr>
          <p:nvPr/>
        </p:nvSpPr>
        <p:spPr bwMode="auto">
          <a:xfrm>
            <a:off x="2629135" y="2536417"/>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1" name="Rectangle 9"/>
          <p:cNvSpPr>
            <a:spLocks noChangeArrowheads="1"/>
          </p:cNvSpPr>
          <p:nvPr/>
        </p:nvSpPr>
        <p:spPr bwMode="auto">
          <a:xfrm>
            <a:off x="2629135" y="1326113"/>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2" name="Rectangle 10"/>
          <p:cNvSpPr>
            <a:spLocks noChangeArrowheads="1"/>
          </p:cNvSpPr>
          <p:nvPr/>
        </p:nvSpPr>
        <p:spPr bwMode="auto">
          <a:xfrm>
            <a:off x="2629135" y="1932538"/>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3" name="Line 16"/>
          <p:cNvSpPr>
            <a:spLocks noChangeShapeType="1"/>
          </p:cNvSpPr>
          <p:nvPr/>
        </p:nvSpPr>
        <p:spPr bwMode="auto">
          <a:xfrm>
            <a:off x="3637198" y="1254675"/>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Rectangle 8"/>
          <p:cNvSpPr>
            <a:spLocks noChangeArrowheads="1"/>
          </p:cNvSpPr>
          <p:nvPr/>
        </p:nvSpPr>
        <p:spPr bwMode="auto">
          <a:xfrm>
            <a:off x="2700573" y="1072113"/>
            <a:ext cx="5612154"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3.2.1                                      PPP </a:t>
            </a:r>
            <a:r>
              <a:rPr lang="zh-CN" altLang="en-US" sz="2000" b="1" dirty="0">
                <a:solidFill>
                  <a:schemeClr val="bg1"/>
                </a:solidFill>
                <a:latin typeface="微软雅黑" pitchFamily="34" charset="-122"/>
                <a:ea typeface="微软雅黑" pitchFamily="34" charset="-122"/>
              </a:rPr>
              <a:t>协议的特点</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3.2.2                                   PPP </a:t>
            </a:r>
            <a:r>
              <a:rPr lang="zh-CN" altLang="en-US" sz="2000" b="1" dirty="0">
                <a:solidFill>
                  <a:schemeClr val="bg1"/>
                </a:solidFill>
                <a:latin typeface="微软雅黑" pitchFamily="34" charset="-122"/>
                <a:ea typeface="微软雅黑" pitchFamily="34" charset="-122"/>
              </a:rPr>
              <a:t>协议的帧格式</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3.2.3                                PPP </a:t>
            </a:r>
            <a:r>
              <a:rPr lang="zh-CN" altLang="en-US" sz="2000" b="1" dirty="0">
                <a:solidFill>
                  <a:schemeClr val="bg1"/>
                </a:solidFill>
                <a:latin typeface="微软雅黑" pitchFamily="34" charset="-122"/>
                <a:ea typeface="微软雅黑" pitchFamily="34" charset="-122"/>
              </a:rPr>
              <a:t>协议的工作状态</a:t>
            </a:r>
          </a:p>
        </p:txBody>
      </p:sp>
      <p:sp>
        <p:nvSpPr>
          <p:cNvPr id="106" name="Rectangle 27"/>
          <p:cNvSpPr>
            <a:spLocks noChangeArrowheads="1"/>
          </p:cNvSpPr>
          <p:nvPr/>
        </p:nvSpPr>
        <p:spPr bwMode="auto">
          <a:xfrm>
            <a:off x="639730" y="132611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7" name="Rectangle 29"/>
          <p:cNvSpPr>
            <a:spLocks noChangeArrowheads="1"/>
          </p:cNvSpPr>
          <p:nvPr/>
        </p:nvSpPr>
        <p:spPr bwMode="auto">
          <a:xfrm>
            <a:off x="648619" y="1421045"/>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3.2</a:t>
            </a:r>
          </a:p>
          <a:p>
            <a:pPr eaLnBrk="0" hangingPunct="0"/>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0241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91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 name="Rectangle 6"/>
          <p:cNvSpPr>
            <a:spLocks noChangeArrowheads="1"/>
          </p:cNvSpPr>
          <p:nvPr/>
        </p:nvSpPr>
        <p:spPr bwMode="auto">
          <a:xfrm>
            <a:off x="2925738" y="584648"/>
            <a:ext cx="33473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3.2.1  PPP </a:t>
            </a:r>
            <a:r>
              <a:rPr lang="zh-CN" altLang="en-US" sz="2400" b="1" dirty="0">
                <a:solidFill>
                  <a:schemeClr val="bg1"/>
                </a:solidFill>
                <a:latin typeface="微软雅黑" pitchFamily="34" charset="-122"/>
                <a:ea typeface="微软雅黑" pitchFamily="34" charset="-122"/>
              </a:rPr>
              <a:t>协议的特点</a:t>
            </a:r>
          </a:p>
        </p:txBody>
      </p:sp>
      <p:sp>
        <p:nvSpPr>
          <p:cNvPr id="8" name="Rectangle 8"/>
          <p:cNvSpPr>
            <a:spLocks noChangeArrowheads="1"/>
          </p:cNvSpPr>
          <p:nvPr/>
        </p:nvSpPr>
        <p:spPr bwMode="auto">
          <a:xfrm>
            <a:off x="502921" y="1027624"/>
            <a:ext cx="842864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对于点对点的链路，目前使用得最广泛的数据链路层协议是</a:t>
            </a:r>
            <a:r>
              <a:rPr lang="zh-CN" altLang="en-US" sz="2000" b="1" dirty="0">
                <a:solidFill>
                  <a:srgbClr val="C00000"/>
                </a:solidFill>
                <a:latin typeface="微软雅黑" pitchFamily="34" charset="-122"/>
                <a:ea typeface="微软雅黑" pitchFamily="34" charset="-122"/>
              </a:rPr>
              <a:t>点对点协议 </a:t>
            </a:r>
            <a:r>
              <a:rPr lang="en-US" altLang="zh-CN" sz="2000" b="1" dirty="0">
                <a:solidFill>
                  <a:srgbClr val="C00000"/>
                </a:solidFill>
                <a:latin typeface="微软雅黑" pitchFamily="34" charset="-122"/>
                <a:ea typeface="微软雅黑" pitchFamily="34" charset="-122"/>
              </a:rPr>
              <a:t>PPP</a:t>
            </a:r>
            <a:r>
              <a:rPr lang="en-US" altLang="zh-CN" sz="2000" b="1" dirty="0">
                <a:latin typeface="微软雅黑" pitchFamily="34" charset="-122"/>
                <a:ea typeface="微软雅黑" pitchFamily="34" charset="-122"/>
              </a:rPr>
              <a:t> (Point-to-Point Protocol)</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协议在 </a:t>
            </a:r>
            <a:r>
              <a:rPr lang="en-US" altLang="zh-CN" sz="2000" b="1" dirty="0">
                <a:latin typeface="微软雅黑" pitchFamily="34" charset="-122"/>
                <a:ea typeface="微软雅黑" pitchFamily="34" charset="-122"/>
              </a:rPr>
              <a:t>1994 </a:t>
            </a:r>
            <a:r>
              <a:rPr lang="zh-CN" altLang="en-US" sz="2000" b="1" dirty="0">
                <a:latin typeface="微软雅黑" pitchFamily="34" charset="-122"/>
                <a:ea typeface="微软雅黑" pitchFamily="34" charset="-122"/>
              </a:rPr>
              <a:t>年就已成为互联网的正式标准 </a:t>
            </a:r>
            <a:r>
              <a:rPr lang="en-US" altLang="zh-CN" sz="2000" b="1" dirty="0">
                <a:latin typeface="微软雅黑" pitchFamily="34" charset="-122"/>
                <a:ea typeface="微软雅黑" pitchFamily="34" charset="-122"/>
              </a:rPr>
              <a:t>[RFC 1661, STD51]</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377086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0" y="1238864"/>
            <a:ext cx="8129015" cy="266945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AutoShape 5"/>
          <p:cNvSpPr>
            <a:spLocks noChangeArrowheads="1"/>
          </p:cNvSpPr>
          <p:nvPr/>
        </p:nvSpPr>
        <p:spPr bwMode="auto">
          <a:xfrm>
            <a:off x="502921" y="62574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414883" y="602655"/>
            <a:ext cx="43043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用户到 </a:t>
            </a:r>
            <a:r>
              <a:rPr lang="en-US" altLang="zh-CN" sz="2000" b="1" dirty="0">
                <a:solidFill>
                  <a:schemeClr val="bg1"/>
                </a:solidFill>
                <a:latin typeface="微软雅黑" pitchFamily="34" charset="-122"/>
                <a:ea typeface="微软雅黑" pitchFamily="34" charset="-122"/>
              </a:rPr>
              <a:t>ISP </a:t>
            </a:r>
            <a:r>
              <a:rPr lang="zh-CN" altLang="en-US" sz="2000" b="1" dirty="0">
                <a:solidFill>
                  <a:schemeClr val="bg1"/>
                </a:solidFill>
                <a:latin typeface="微软雅黑" pitchFamily="34" charset="-122"/>
                <a:ea typeface="微软雅黑" pitchFamily="34" charset="-122"/>
              </a:rPr>
              <a:t>的链路常使用 </a:t>
            </a:r>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 </a:t>
            </a:r>
            <a:endParaRPr lang="fr-FR" altLang="zh-CN" sz="2000" b="1" dirty="0">
              <a:solidFill>
                <a:schemeClr val="bg1"/>
              </a:solidFill>
              <a:latin typeface="微软雅黑" pitchFamily="34" charset="-122"/>
              <a:ea typeface="微软雅黑" pitchFamily="34" charset="-122"/>
            </a:endParaRPr>
          </a:p>
        </p:txBody>
      </p:sp>
      <p:sp>
        <p:nvSpPr>
          <p:cNvPr id="32" name="Oval 54"/>
          <p:cNvSpPr>
            <a:spLocks noChangeArrowheads="1"/>
          </p:cNvSpPr>
          <p:nvPr/>
        </p:nvSpPr>
        <p:spPr bwMode="auto">
          <a:xfrm>
            <a:off x="3348027" y="1610089"/>
            <a:ext cx="617506" cy="1534185"/>
          </a:xfrm>
          <a:prstGeom prst="ellipse">
            <a:avLst/>
          </a:prstGeom>
          <a:solidFill>
            <a:srgbClr val="00FF99">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3" name="Text Box 55"/>
          <p:cNvSpPr txBox="1">
            <a:spLocks noChangeArrowheads="1"/>
          </p:cNvSpPr>
          <p:nvPr/>
        </p:nvSpPr>
        <p:spPr bwMode="auto">
          <a:xfrm>
            <a:off x="1695643" y="2099756"/>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用</a:t>
            </a:r>
          </a:p>
          <a:p>
            <a:endParaRPr kumimoji="1" lang="zh-CN" altLang="en-US" sz="1400" b="1" dirty="0">
              <a:latin typeface="微软雅黑" pitchFamily="34" charset="-122"/>
              <a:ea typeface="微软雅黑" pitchFamily="34" charset="-122"/>
            </a:endParaRPr>
          </a:p>
          <a:p>
            <a:r>
              <a:rPr kumimoji="1" lang="zh-CN" altLang="en-US" sz="1400" b="1" dirty="0">
                <a:latin typeface="微软雅黑" pitchFamily="34" charset="-122"/>
                <a:ea typeface="微软雅黑" pitchFamily="34" charset="-122"/>
              </a:rPr>
              <a:t>户</a:t>
            </a:r>
          </a:p>
        </p:txBody>
      </p:sp>
      <p:sp>
        <p:nvSpPr>
          <p:cNvPr id="34" name="Text Box 56"/>
          <p:cNvSpPr txBox="1">
            <a:spLocks noChangeArrowheads="1"/>
          </p:cNvSpPr>
          <p:nvPr/>
        </p:nvSpPr>
        <p:spPr bwMode="auto">
          <a:xfrm>
            <a:off x="6839003" y="2141680"/>
            <a:ext cx="902811"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至互联网</a:t>
            </a:r>
          </a:p>
        </p:txBody>
      </p:sp>
      <p:sp>
        <p:nvSpPr>
          <p:cNvPr id="35" name="Rectangle 58"/>
          <p:cNvSpPr>
            <a:spLocks noChangeArrowheads="1"/>
          </p:cNvSpPr>
          <p:nvPr/>
        </p:nvSpPr>
        <p:spPr bwMode="auto">
          <a:xfrm>
            <a:off x="5028900" y="1742447"/>
            <a:ext cx="1451663" cy="1358352"/>
          </a:xfrm>
          <a:prstGeom prst="rect">
            <a:avLst/>
          </a:prstGeom>
          <a:solidFill>
            <a:srgbClr val="00FFFF"/>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6" name="Text Box 59"/>
          <p:cNvSpPr txBox="1">
            <a:spLocks noChangeArrowheads="1"/>
          </p:cNvSpPr>
          <p:nvPr/>
        </p:nvSpPr>
        <p:spPr bwMode="auto">
          <a:xfrm>
            <a:off x="5084062" y="1784887"/>
            <a:ext cx="13690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ysClr val="windowText" lastClr="000000"/>
                </a:solidFill>
                <a:latin typeface="微软雅黑" pitchFamily="34" charset="-122"/>
                <a:ea typeface="微软雅黑" pitchFamily="34" charset="-122"/>
              </a:rPr>
              <a:t>已向互联网管理机构申请到一批</a:t>
            </a:r>
            <a:endParaRPr kumimoji="1" lang="en-US" altLang="zh-CN" sz="1200" b="1" dirty="0">
              <a:solidFill>
                <a:sysClr val="windowText" lastClr="000000"/>
              </a:solidFill>
              <a:latin typeface="微软雅黑" pitchFamily="34" charset="-122"/>
              <a:ea typeface="微软雅黑" pitchFamily="34" charset="-122"/>
            </a:endParaRPr>
          </a:p>
          <a:p>
            <a:pPr algn="ctr"/>
            <a:r>
              <a:rPr kumimoji="1" lang="en-US" altLang="zh-CN" sz="1200" b="1" dirty="0">
                <a:solidFill>
                  <a:sysClr val="windowText" lastClr="000000"/>
                </a:solidFill>
                <a:latin typeface="微软雅黑" pitchFamily="34" charset="-122"/>
                <a:ea typeface="微软雅黑" pitchFamily="34" charset="-122"/>
              </a:rPr>
              <a:t> IP </a:t>
            </a:r>
            <a:r>
              <a:rPr kumimoji="1" lang="zh-CN" altLang="en-US" sz="1200" b="1" dirty="0">
                <a:solidFill>
                  <a:sysClr val="windowText" lastClr="000000"/>
                </a:solidFill>
                <a:latin typeface="微软雅黑" pitchFamily="34" charset="-122"/>
                <a:ea typeface="微软雅黑" pitchFamily="34" charset="-122"/>
              </a:rPr>
              <a:t>地址</a:t>
            </a:r>
          </a:p>
        </p:txBody>
      </p:sp>
      <p:sp>
        <p:nvSpPr>
          <p:cNvPr id="37" name="Text Box 60"/>
          <p:cNvSpPr txBox="1">
            <a:spLocks noChangeArrowheads="1"/>
          </p:cNvSpPr>
          <p:nvPr/>
        </p:nvSpPr>
        <p:spPr bwMode="auto">
          <a:xfrm>
            <a:off x="5512756" y="2512437"/>
            <a:ext cx="51168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ysClr val="windowText" lastClr="000000"/>
                </a:solidFill>
                <a:latin typeface="微软雅黑" pitchFamily="34" charset="-122"/>
                <a:ea typeface="微软雅黑" pitchFamily="34" charset="-122"/>
              </a:rPr>
              <a:t>ISP</a:t>
            </a:r>
          </a:p>
        </p:txBody>
      </p:sp>
      <p:sp>
        <p:nvSpPr>
          <p:cNvPr id="38" name="Freeform 61"/>
          <p:cNvSpPr>
            <a:spLocks/>
          </p:cNvSpPr>
          <p:nvPr/>
        </p:nvSpPr>
        <p:spPr bwMode="auto">
          <a:xfrm>
            <a:off x="6484750" y="2442877"/>
            <a:ext cx="993244" cy="69560"/>
          </a:xfrm>
          <a:custGeom>
            <a:avLst/>
            <a:gdLst>
              <a:gd name="T0" fmla="*/ 0 w 949"/>
              <a:gd name="T1" fmla="*/ 0 h 72"/>
              <a:gd name="T2" fmla="*/ 379 w 949"/>
              <a:gd name="T3" fmla="*/ 0 h 72"/>
              <a:gd name="T4" fmla="*/ 297 w 949"/>
              <a:gd name="T5" fmla="*/ 72 h 72"/>
              <a:gd name="T6" fmla="*/ 949 w 949"/>
              <a:gd name="T7" fmla="*/ 62 h 72"/>
            </a:gdLst>
            <a:ahLst/>
            <a:cxnLst>
              <a:cxn ang="0">
                <a:pos x="T0" y="T1"/>
              </a:cxn>
              <a:cxn ang="0">
                <a:pos x="T2" y="T3"/>
              </a:cxn>
              <a:cxn ang="0">
                <a:pos x="T4" y="T5"/>
              </a:cxn>
              <a:cxn ang="0">
                <a:pos x="T6" y="T7"/>
              </a:cxn>
            </a:cxnLst>
            <a:rect l="0" t="0" r="r" b="b"/>
            <a:pathLst>
              <a:path w="949" h="72">
                <a:moveTo>
                  <a:pt x="0" y="0"/>
                </a:moveTo>
                <a:lnTo>
                  <a:pt x="379" y="0"/>
                </a:lnTo>
                <a:lnTo>
                  <a:pt x="297" y="72"/>
                </a:lnTo>
                <a:lnTo>
                  <a:pt x="949" y="62"/>
                </a:lnTo>
              </a:path>
            </a:pathLst>
          </a:custGeom>
          <a:noFill/>
          <a:ln w="381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66"/>
          <p:cNvSpPr>
            <a:spLocks noChangeShapeType="1"/>
          </p:cNvSpPr>
          <p:nvPr/>
        </p:nvSpPr>
        <p:spPr bwMode="auto">
          <a:xfrm>
            <a:off x="2350596" y="1610089"/>
            <a:ext cx="2658417" cy="39513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0" name="Text Box 67"/>
          <p:cNvSpPr txBox="1">
            <a:spLocks noChangeArrowheads="1"/>
          </p:cNvSpPr>
          <p:nvPr/>
        </p:nvSpPr>
        <p:spPr bwMode="auto">
          <a:xfrm>
            <a:off x="3312878" y="2143138"/>
            <a:ext cx="723275"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接入网</a:t>
            </a:r>
          </a:p>
        </p:txBody>
      </p:sp>
      <p:sp>
        <p:nvSpPr>
          <p:cNvPr id="41" name="Line 68"/>
          <p:cNvSpPr>
            <a:spLocks noChangeShapeType="1"/>
          </p:cNvSpPr>
          <p:nvPr/>
        </p:nvSpPr>
        <p:spPr bwMode="auto">
          <a:xfrm>
            <a:off x="2350596" y="2005228"/>
            <a:ext cx="2658417" cy="2183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2" name="Line 69"/>
          <p:cNvSpPr>
            <a:spLocks noChangeShapeType="1"/>
          </p:cNvSpPr>
          <p:nvPr/>
        </p:nvSpPr>
        <p:spPr bwMode="auto">
          <a:xfrm>
            <a:off x="2350596" y="2442877"/>
            <a:ext cx="2658417"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Line 70"/>
          <p:cNvSpPr>
            <a:spLocks noChangeShapeType="1"/>
          </p:cNvSpPr>
          <p:nvPr/>
        </p:nvSpPr>
        <p:spPr bwMode="auto">
          <a:xfrm flipV="1">
            <a:off x="2350597" y="2620640"/>
            <a:ext cx="2669931" cy="27301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4" name="Line 71"/>
          <p:cNvSpPr>
            <a:spLocks noChangeShapeType="1"/>
          </p:cNvSpPr>
          <p:nvPr/>
        </p:nvSpPr>
        <p:spPr bwMode="auto">
          <a:xfrm flipV="1">
            <a:off x="2286002" y="2837051"/>
            <a:ext cx="2723011" cy="48547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7B518A0F-A28C-2FD0-89B8-FD07F592756C}"/>
              </a:ext>
            </a:extLst>
          </p:cNvPr>
          <p:cNvGrpSpPr/>
          <p:nvPr/>
        </p:nvGrpSpPr>
        <p:grpSpPr>
          <a:xfrm>
            <a:off x="2350596" y="3508731"/>
            <a:ext cx="2658417" cy="307777"/>
            <a:chOff x="2350596" y="3508731"/>
            <a:chExt cx="2658417" cy="307777"/>
          </a:xfrm>
        </p:grpSpPr>
        <p:sp>
          <p:nvSpPr>
            <p:cNvPr id="31" name="Line 53"/>
            <p:cNvSpPr>
              <a:spLocks noChangeShapeType="1"/>
            </p:cNvSpPr>
            <p:nvPr/>
          </p:nvSpPr>
          <p:spPr bwMode="auto">
            <a:xfrm>
              <a:off x="2350596" y="3666610"/>
              <a:ext cx="2658417"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5" name="Text Box 72"/>
            <p:cNvSpPr txBox="1">
              <a:spLocks noChangeArrowheads="1"/>
            </p:cNvSpPr>
            <p:nvPr/>
          </p:nvSpPr>
          <p:spPr bwMode="auto">
            <a:xfrm>
              <a:off x="3234377" y="3508731"/>
              <a:ext cx="952506"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C00000"/>
                  </a:solidFill>
                  <a:latin typeface="微软雅黑" pitchFamily="34" charset="-122"/>
                  <a:ea typeface="微软雅黑" pitchFamily="34" charset="-122"/>
                </a:rPr>
                <a:t>PPP </a:t>
              </a:r>
              <a:r>
                <a:rPr kumimoji="1" lang="zh-CN" altLang="en-US" sz="1400" b="1" dirty="0">
                  <a:solidFill>
                    <a:srgbClr val="C00000"/>
                  </a:solidFill>
                  <a:latin typeface="微软雅黑" pitchFamily="34" charset="-122"/>
                  <a:ea typeface="微软雅黑" pitchFamily="34" charset="-122"/>
                </a:rPr>
                <a:t>协议</a:t>
              </a:r>
            </a:p>
          </p:txBody>
        </p:sp>
      </p:grpSp>
      <p:pic>
        <p:nvPicPr>
          <p:cNvPr id="51" name="Picture 115"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121" y="1369045"/>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15"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121" y="1863108"/>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15"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121" y="2295156"/>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15"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121" y="2727204"/>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15"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121" y="3159252"/>
            <a:ext cx="411181" cy="411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96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6237"/>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，简单 </a:t>
            </a:r>
            <a:r>
              <a:rPr lang="en-US" altLang="zh-CN"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首要要求</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，封装成帧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必须规定特殊的字符作为帧定界符。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，透明性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必须保证数据传输的透明性。</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，多种网络层协议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能够在同一条物理链路上同时支持多种网络层协议。</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5</a:t>
            </a:r>
            <a:r>
              <a:rPr lang="zh-CN" altLang="en-US" sz="2000" b="1" dirty="0">
                <a:latin typeface="微软雅黑" pitchFamily="34" charset="-122"/>
                <a:ea typeface="微软雅黑" pitchFamily="34" charset="-122"/>
              </a:rPr>
              <a:t>，多种类型链路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能够在多种类型的链路上运行。</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6</a:t>
            </a:r>
            <a:r>
              <a:rPr lang="zh-CN" altLang="en-US" sz="2000" b="1" dirty="0">
                <a:latin typeface="微软雅黑" pitchFamily="34" charset="-122"/>
                <a:ea typeface="微软雅黑" pitchFamily="34" charset="-122"/>
              </a:rPr>
              <a:t>，差错检测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能够对接收端收到的帧进行检测，并立即丢弃有差错的帧。</a:t>
            </a:r>
          </a:p>
        </p:txBody>
      </p:sp>
      <p:sp>
        <p:nvSpPr>
          <p:cNvPr id="8" name="AutoShape 5"/>
          <p:cNvSpPr>
            <a:spLocks noChangeArrowheads="1"/>
          </p:cNvSpPr>
          <p:nvPr/>
        </p:nvSpPr>
        <p:spPr bwMode="auto">
          <a:xfrm>
            <a:off x="502921" y="62736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964710" y="594155"/>
            <a:ext cx="32047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20777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6"/>
          <p:cNvSpPr>
            <a:spLocks noChangeArrowheads="1"/>
          </p:cNvSpPr>
          <p:nvPr/>
        </p:nvSpPr>
        <p:spPr bwMode="auto">
          <a:xfrm>
            <a:off x="502921" y="985474"/>
            <a:ext cx="84471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7</a:t>
            </a:r>
            <a:r>
              <a:rPr lang="zh-CN" altLang="en-US" sz="2000" b="1" dirty="0">
                <a:latin typeface="微软雅黑" pitchFamily="34" charset="-122"/>
                <a:ea typeface="微软雅黑" pitchFamily="34" charset="-122"/>
              </a:rPr>
              <a:t>，检测连接状态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能够及时自动检测出链路是否处于正常工作状态。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8</a:t>
            </a:r>
            <a:r>
              <a:rPr lang="zh-CN" altLang="en-US" sz="2000" b="1" dirty="0">
                <a:latin typeface="微软雅黑" pitchFamily="34" charset="-122"/>
                <a:ea typeface="微软雅黑" pitchFamily="34" charset="-122"/>
              </a:rPr>
              <a:t>，最大传送单元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必须设置最大传输单元</a:t>
            </a:r>
            <a:r>
              <a:rPr lang="en-US" altLang="zh-CN" sz="2000" b="1" dirty="0">
                <a:latin typeface="微软雅黑" pitchFamily="34" charset="-122"/>
                <a:ea typeface="微软雅黑" pitchFamily="34" charset="-122"/>
              </a:rPr>
              <a:t>MTU</a:t>
            </a:r>
            <a:r>
              <a:rPr lang="zh-CN" altLang="en-US" sz="2000" b="1" dirty="0">
                <a:latin typeface="微软雅黑" pitchFamily="34" charset="-122"/>
                <a:ea typeface="微软雅黑" pitchFamily="34" charset="-122"/>
              </a:rPr>
              <a:t>。若发送的分组长度超过</a:t>
            </a:r>
            <a:r>
              <a:rPr lang="en-US" altLang="zh-CN" sz="2000" b="1" dirty="0">
                <a:latin typeface="微软雅黑" pitchFamily="34" charset="-122"/>
                <a:ea typeface="微软雅黑" pitchFamily="34" charset="-122"/>
              </a:rPr>
              <a:t>MTU</a:t>
            </a:r>
            <a:r>
              <a:rPr lang="zh-CN" altLang="en-US" sz="2000" b="1" dirty="0">
                <a:latin typeface="微软雅黑" pitchFamily="34" charset="-122"/>
                <a:ea typeface="微软雅黑" pitchFamily="34" charset="-122"/>
              </a:rPr>
              <a:t>的数值，</a:t>
            </a:r>
            <a:r>
              <a:rPr lang="en-US" altLang="zh-CN" sz="2000" b="1" dirty="0">
                <a:latin typeface="微软雅黑" pitchFamily="34" charset="-122"/>
                <a:ea typeface="微软雅黑" pitchFamily="34" charset="-122"/>
              </a:rPr>
              <a:t>PPP</a:t>
            </a:r>
            <a:r>
              <a:rPr lang="zh-CN" altLang="en-US" sz="2000" b="1" dirty="0">
                <a:latin typeface="微软雅黑" pitchFamily="34" charset="-122"/>
                <a:ea typeface="微软雅黑" pitchFamily="34" charset="-122"/>
              </a:rPr>
              <a:t>就要丢弃这样的帧，并返回差错。</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9</a:t>
            </a:r>
            <a:r>
              <a:rPr lang="zh-CN" altLang="en-US" sz="2000" b="1" dirty="0">
                <a:latin typeface="微软雅黑" pitchFamily="34" charset="-122"/>
                <a:ea typeface="微软雅黑" pitchFamily="34" charset="-122"/>
              </a:rPr>
              <a:t>，网络层地址协商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必须提供一种机制使通信的两个网络层实体能够通过协商知道或能够配置彼此的网络层地址。</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，数据压缩协商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必须提供一种方法来协商使用数据压缩算法。</a:t>
            </a:r>
          </a:p>
        </p:txBody>
      </p:sp>
      <p:sp>
        <p:nvSpPr>
          <p:cNvPr id="7" name="AutoShape 5"/>
          <p:cNvSpPr>
            <a:spLocks noChangeArrowheads="1"/>
          </p:cNvSpPr>
          <p:nvPr/>
        </p:nvSpPr>
        <p:spPr bwMode="auto">
          <a:xfrm>
            <a:off x="502921" y="6241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79990" y="590924"/>
            <a:ext cx="397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协议应满足的需求（续）</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22762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6"/>
          <p:cNvSpPr>
            <a:spLocks noChangeArrowheads="1"/>
          </p:cNvSpPr>
          <p:nvPr/>
        </p:nvSpPr>
        <p:spPr bwMode="auto">
          <a:xfrm>
            <a:off x="502921" y="993324"/>
            <a:ext cx="7671815" cy="3587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三个组成部分：</a:t>
            </a:r>
          </a:p>
          <a:p>
            <a:pPr marL="598488" lvl="1" indent="-342900">
              <a:lnSpc>
                <a:spcPts val="3000"/>
              </a:lnSpc>
              <a:buClr>
                <a:srgbClr val="7030A0"/>
              </a:buClr>
              <a:buSzPct val="75000"/>
              <a:buFont typeface="Wingdings" pitchFamily="2" charset="2"/>
              <a:buChar char="u"/>
            </a:pPr>
            <a:r>
              <a:rPr lang="zh-CN" altLang="en-US" sz="2000" b="1" dirty="0">
                <a:solidFill>
                  <a:srgbClr val="C00000"/>
                </a:solidFill>
                <a:latin typeface="微软雅黑" pitchFamily="34" charset="-122"/>
                <a:ea typeface="微软雅黑" pitchFamily="34" charset="-122"/>
              </a:rPr>
              <a:t>封装成帧</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PPP</a:t>
            </a:r>
            <a:r>
              <a:rPr lang="zh-CN" altLang="en-US" sz="2000" b="1" dirty="0">
                <a:latin typeface="微软雅黑" pitchFamily="34" charset="-122"/>
                <a:ea typeface="微软雅黑" pitchFamily="34" charset="-122"/>
              </a:rPr>
              <a:t>协议能封装多种网络层协议的数据分组，使得这些数据分组能够在</a:t>
            </a:r>
            <a:r>
              <a:rPr lang="en-US" altLang="zh-CN" sz="2000" b="1" dirty="0">
                <a:latin typeface="微软雅黑" pitchFamily="34" charset="-122"/>
                <a:ea typeface="微软雅黑" pitchFamily="34" charset="-122"/>
              </a:rPr>
              <a:t>PPP</a:t>
            </a:r>
            <a:r>
              <a:rPr lang="zh-CN" altLang="en-US" sz="2000" b="1" dirty="0">
                <a:latin typeface="微软雅黑" pitchFamily="34" charset="-122"/>
                <a:ea typeface="微软雅黑" pitchFamily="34" charset="-122"/>
              </a:rPr>
              <a:t>链路上传输。</a:t>
            </a:r>
          </a:p>
          <a:p>
            <a:pPr marL="598488" lvl="1" indent="-342900">
              <a:lnSpc>
                <a:spcPts val="3000"/>
              </a:lnSpc>
              <a:buClr>
                <a:srgbClr val="7030A0"/>
              </a:buClr>
              <a:buSzPct val="75000"/>
              <a:buFont typeface="Wingdings" pitchFamily="2" charset="2"/>
              <a:buChar char="u"/>
            </a:pPr>
            <a:r>
              <a:rPr lang="zh-CN" altLang="en-US" sz="2000" b="1" dirty="0">
                <a:solidFill>
                  <a:srgbClr val="C00000"/>
                </a:solidFill>
                <a:latin typeface="微软雅黑" pitchFamily="34" charset="-122"/>
                <a:ea typeface="微软雅黑" pitchFamily="34" charset="-122"/>
              </a:rPr>
              <a:t>链路控制协议 </a:t>
            </a:r>
            <a:r>
              <a:rPr lang="en-US" altLang="zh-CN" sz="2000" b="1" dirty="0">
                <a:solidFill>
                  <a:srgbClr val="C00000"/>
                </a:solidFill>
                <a:latin typeface="微软雅黑" pitchFamily="34" charset="-122"/>
                <a:ea typeface="微软雅黑" pitchFamily="34" charset="-122"/>
              </a:rPr>
              <a:t>LCP </a:t>
            </a:r>
            <a:r>
              <a:rPr lang="en-US" altLang="zh-CN" sz="2000" b="1" dirty="0">
                <a:latin typeface="微软雅黑" pitchFamily="34" charset="-122"/>
                <a:ea typeface="微软雅黑" pitchFamily="34" charset="-122"/>
              </a:rPr>
              <a:t>(Link Control Protocol)</a:t>
            </a:r>
            <a:r>
              <a:rPr lang="zh-CN" altLang="en-US" sz="2000" b="1" dirty="0">
                <a:latin typeface="微软雅黑" pitchFamily="34" charset="-122"/>
                <a:ea typeface="微软雅黑" pitchFamily="34" charset="-122"/>
              </a:rPr>
              <a:t>。用来建立、配置和测试数据链路，以确保链路的两端能够正常通信。</a:t>
            </a:r>
          </a:p>
          <a:p>
            <a:pPr marL="598488" lvl="1" indent="-342900">
              <a:lnSpc>
                <a:spcPts val="3000"/>
              </a:lnSpc>
              <a:buClr>
                <a:srgbClr val="7030A0"/>
              </a:buClr>
              <a:buSzPct val="75000"/>
              <a:buFont typeface="Wingdings" pitchFamily="2" charset="2"/>
              <a:buChar char="u"/>
            </a:pPr>
            <a:r>
              <a:rPr lang="zh-CN" altLang="en-US" sz="2000" b="1" dirty="0">
                <a:solidFill>
                  <a:srgbClr val="C00000"/>
                </a:solidFill>
                <a:latin typeface="微软雅黑" pitchFamily="34" charset="-122"/>
                <a:ea typeface="微软雅黑" pitchFamily="34" charset="-122"/>
              </a:rPr>
              <a:t>网络控制协议 </a:t>
            </a:r>
            <a:r>
              <a:rPr lang="en-US" altLang="zh-CN" sz="2000" b="1" dirty="0">
                <a:solidFill>
                  <a:srgbClr val="C00000"/>
                </a:solidFill>
                <a:latin typeface="微软雅黑" pitchFamily="34" charset="-122"/>
                <a:ea typeface="微软雅黑" pitchFamily="34" charset="-122"/>
              </a:rPr>
              <a:t>NCP </a:t>
            </a:r>
            <a:r>
              <a:rPr lang="en-US" altLang="zh-CN" sz="2000" b="1" dirty="0">
                <a:latin typeface="微软雅黑" pitchFamily="34" charset="-122"/>
                <a:ea typeface="微软雅黑" pitchFamily="34" charset="-122"/>
              </a:rPr>
              <a:t>(Network Control Protocol)</a:t>
            </a:r>
            <a:r>
              <a:rPr lang="zh-CN" altLang="en-US" sz="2000" b="1" dirty="0">
                <a:latin typeface="微软雅黑" pitchFamily="34" charset="-122"/>
                <a:ea typeface="微软雅黑" pitchFamily="34" charset="-122"/>
              </a:rPr>
              <a:t>。负责配置和管理网络层协议。不同的网络层协议（如</a:t>
            </a:r>
            <a:r>
              <a:rPr lang="en-US" altLang="zh-CN" sz="2000" b="1" dirty="0">
                <a:latin typeface="微软雅黑" pitchFamily="34" charset="-122"/>
                <a:ea typeface="微软雅黑" pitchFamily="34" charset="-122"/>
              </a:rPr>
              <a:t>IP</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IPX</a:t>
            </a:r>
            <a:r>
              <a:rPr lang="zh-CN" altLang="en-US" sz="2000" b="1" dirty="0">
                <a:latin typeface="微软雅黑" pitchFamily="34" charset="-122"/>
                <a:ea typeface="微软雅黑" pitchFamily="34" charset="-122"/>
              </a:rPr>
              <a:t>等）有其对应的</a:t>
            </a:r>
            <a:r>
              <a:rPr lang="en-US" altLang="zh-CN" sz="2000" b="1" dirty="0">
                <a:latin typeface="微软雅黑" pitchFamily="34" charset="-122"/>
                <a:ea typeface="微软雅黑" pitchFamily="34" charset="-122"/>
              </a:rPr>
              <a:t>NCP</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endParaRPr lang="zh-CN" altLang="en-US" sz="2000" b="1" dirty="0">
              <a:latin typeface="微软雅黑" pitchFamily="34" charset="-122"/>
              <a:ea typeface="微软雅黑" pitchFamily="34" charset="-122"/>
            </a:endParaRPr>
          </a:p>
        </p:txBody>
      </p:sp>
      <p:sp>
        <p:nvSpPr>
          <p:cNvPr id="40" name="AutoShape 5"/>
          <p:cNvSpPr>
            <a:spLocks noChangeArrowheads="1"/>
          </p:cNvSpPr>
          <p:nvPr/>
        </p:nvSpPr>
        <p:spPr bwMode="auto">
          <a:xfrm>
            <a:off x="502921" y="6236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3387903" y="590461"/>
            <a:ext cx="23583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PPP </a:t>
            </a:r>
            <a:r>
              <a:rPr lang="zh-CN" altLang="en-US" sz="2000" b="1" dirty="0">
                <a:solidFill>
                  <a:schemeClr val="bg1"/>
                </a:solidFill>
                <a:latin typeface="微软雅黑" pitchFamily="34" charset="-122"/>
                <a:ea typeface="微软雅黑" pitchFamily="34" charset="-122"/>
              </a:rPr>
              <a:t>协议的组成</a:t>
            </a:r>
          </a:p>
        </p:txBody>
      </p:sp>
    </p:spTree>
    <p:extLst>
      <p:ext uri="{BB962C8B-B14F-4D97-AF65-F5344CB8AC3E}">
        <p14:creationId xmlns:p14="http://schemas.microsoft.com/office/powerpoint/2010/main" val="393156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1000"/>
                                        <p:tgtEl>
                                          <p:spTgt spid="39">
                                            <p:txEl>
                                              <p:pRg st="0" end="0"/>
                                            </p:txEl>
                                          </p:spTgt>
                                        </p:tgtEl>
                                      </p:cBhvr>
                                    </p:animEffect>
                                    <p:anim calcmode="lin" valueType="num">
                                      <p:cBhvr>
                                        <p:cTn id="8"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
                                            <p:txEl>
                                              <p:pRg st="1" end="1"/>
                                            </p:txEl>
                                          </p:spTgt>
                                        </p:tgtEl>
                                        <p:attrNameLst>
                                          <p:attrName>style.visibility</p:attrName>
                                        </p:attrNameLst>
                                      </p:cBhvr>
                                      <p:to>
                                        <p:strVal val="visible"/>
                                      </p:to>
                                    </p:set>
                                    <p:animEffect transition="in" filter="fade">
                                      <p:cBhvr>
                                        <p:cTn id="14" dur="1000"/>
                                        <p:tgtEl>
                                          <p:spTgt spid="39">
                                            <p:txEl>
                                              <p:pRg st="1" end="1"/>
                                            </p:txEl>
                                          </p:spTgt>
                                        </p:tgtEl>
                                      </p:cBhvr>
                                    </p:animEffect>
                                    <p:anim calcmode="lin" valueType="num">
                                      <p:cBhvr>
                                        <p:cTn id="15" dur="1000" fill="hold"/>
                                        <p:tgtEl>
                                          <p:spTgt spid="3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9">
                                            <p:txEl>
                                              <p:pRg st="2" end="2"/>
                                            </p:txEl>
                                          </p:spTgt>
                                        </p:tgtEl>
                                        <p:attrNameLst>
                                          <p:attrName>style.visibility</p:attrName>
                                        </p:attrNameLst>
                                      </p:cBhvr>
                                      <p:to>
                                        <p:strVal val="visible"/>
                                      </p:to>
                                    </p:set>
                                    <p:animEffect transition="in" filter="fade">
                                      <p:cBhvr>
                                        <p:cTn id="21" dur="1000"/>
                                        <p:tgtEl>
                                          <p:spTgt spid="39">
                                            <p:txEl>
                                              <p:pRg st="2" end="2"/>
                                            </p:txEl>
                                          </p:spTgt>
                                        </p:tgtEl>
                                      </p:cBhvr>
                                    </p:animEffect>
                                    <p:anim calcmode="lin" valueType="num">
                                      <p:cBhvr>
                                        <p:cTn id="22" dur="1000" fill="hold"/>
                                        <p:tgtEl>
                                          <p:spTgt spid="3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9">
                                            <p:txEl>
                                              <p:pRg st="3" end="3"/>
                                            </p:txEl>
                                          </p:spTgt>
                                        </p:tgtEl>
                                        <p:attrNameLst>
                                          <p:attrName>style.visibility</p:attrName>
                                        </p:attrNameLst>
                                      </p:cBhvr>
                                      <p:to>
                                        <p:strVal val="visible"/>
                                      </p:to>
                                    </p:set>
                                    <p:animEffect transition="in" filter="fade">
                                      <p:cBhvr>
                                        <p:cTn id="28" dur="1000"/>
                                        <p:tgtEl>
                                          <p:spTgt spid="39">
                                            <p:txEl>
                                              <p:pRg st="3" end="3"/>
                                            </p:txEl>
                                          </p:spTgt>
                                        </p:tgtEl>
                                      </p:cBhvr>
                                    </p:animEffect>
                                    <p:anim calcmode="lin" valueType="num">
                                      <p:cBhvr>
                                        <p:cTn id="29" dur="1000" fill="hold"/>
                                        <p:tgtEl>
                                          <p:spTgt spid="3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uiExpand="1" build="p" bldLvl="2"/>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90A34-C197-908C-5B12-16619440420C}"/>
            </a:ext>
          </a:extLst>
        </p:cNvPr>
        <p:cNvGrpSpPr/>
        <p:nvPr/>
      </p:nvGrpSpPr>
      <p:grpSpPr>
        <a:xfrm>
          <a:off x="0" y="0"/>
          <a:ext cx="0" cy="0"/>
          <a:chOff x="0" y="0"/>
          <a:chExt cx="0" cy="0"/>
        </a:xfrm>
      </p:grpSpPr>
      <p:sp>
        <p:nvSpPr>
          <p:cNvPr id="28" name="AutoShape 5">
            <a:extLst>
              <a:ext uri="{FF2B5EF4-FFF2-40B4-BE49-F238E27FC236}">
                <a16:creationId xmlns:a16="http://schemas.microsoft.com/office/drawing/2014/main" id="{5A3A435E-E23F-1A42-63F5-22A2CE637A52}"/>
              </a:ext>
            </a:extLst>
          </p:cNvPr>
          <p:cNvSpPr>
            <a:spLocks noChangeArrowheads="1"/>
          </p:cNvSpPr>
          <p:nvPr/>
        </p:nvSpPr>
        <p:spPr bwMode="auto">
          <a:xfrm>
            <a:off x="502921" y="62128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9" name="Rectangle 6">
            <a:extLst>
              <a:ext uri="{FF2B5EF4-FFF2-40B4-BE49-F238E27FC236}">
                <a16:creationId xmlns:a16="http://schemas.microsoft.com/office/drawing/2014/main" id="{3C77D2AD-E5A6-E015-BF61-932C3E980A0B}"/>
              </a:ext>
            </a:extLst>
          </p:cNvPr>
          <p:cNvSpPr>
            <a:spLocks noChangeArrowheads="1"/>
          </p:cNvSpPr>
          <p:nvPr/>
        </p:nvSpPr>
        <p:spPr bwMode="auto">
          <a:xfrm>
            <a:off x="2698733" y="579018"/>
            <a:ext cx="37465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3.2.2   PPP </a:t>
            </a:r>
            <a:r>
              <a:rPr lang="zh-CN" altLang="en-US" sz="2400" b="1" dirty="0">
                <a:solidFill>
                  <a:schemeClr val="bg1"/>
                </a:solidFill>
                <a:latin typeface="微软雅黑" pitchFamily="34" charset="-122"/>
                <a:ea typeface="微软雅黑" pitchFamily="34" charset="-122"/>
              </a:rPr>
              <a:t>协议的帧格式</a:t>
            </a:r>
          </a:p>
        </p:txBody>
      </p:sp>
      <p:sp>
        <p:nvSpPr>
          <p:cNvPr id="5" name="圆角矩形 4">
            <a:extLst>
              <a:ext uri="{FF2B5EF4-FFF2-40B4-BE49-F238E27FC236}">
                <a16:creationId xmlns:a16="http://schemas.microsoft.com/office/drawing/2014/main" id="{7A387D82-2F7D-0D6D-C6A0-37E7010F9E02}"/>
              </a:ext>
            </a:extLst>
          </p:cNvPr>
          <p:cNvSpPr/>
          <p:nvPr/>
        </p:nvSpPr>
        <p:spPr>
          <a:xfrm>
            <a:off x="502920" y="1094782"/>
            <a:ext cx="8129015" cy="192604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Rectangle 4">
            <a:extLst>
              <a:ext uri="{FF2B5EF4-FFF2-40B4-BE49-F238E27FC236}">
                <a16:creationId xmlns:a16="http://schemas.microsoft.com/office/drawing/2014/main" id="{C5AFDA55-B3CF-088A-6905-5004D722044C}"/>
              </a:ext>
            </a:extLst>
          </p:cNvPr>
          <p:cNvSpPr>
            <a:spLocks noChangeArrowheads="1"/>
          </p:cNvSpPr>
          <p:nvPr/>
        </p:nvSpPr>
        <p:spPr bwMode="auto">
          <a:xfrm>
            <a:off x="4082903" y="1182083"/>
            <a:ext cx="2399281" cy="355374"/>
          </a:xfrm>
          <a:prstGeom prst="rect">
            <a:avLst/>
          </a:prstGeom>
          <a:solidFill>
            <a:srgbClr val="00FFFF"/>
          </a:solidFill>
          <a:ln w="12700">
            <a:solidFill>
              <a:schemeClr val="tx1"/>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IP </a:t>
            </a:r>
            <a:r>
              <a:rPr kumimoji="1" lang="zh-CN" altLang="en-US" sz="1400" b="1">
                <a:latin typeface="微软雅黑" pitchFamily="34" charset="-122"/>
                <a:ea typeface="微软雅黑" pitchFamily="34" charset="-122"/>
              </a:rPr>
              <a:t>数据报</a:t>
            </a:r>
          </a:p>
        </p:txBody>
      </p:sp>
      <p:sp>
        <p:nvSpPr>
          <p:cNvPr id="7" name="Text Box 9">
            <a:extLst>
              <a:ext uri="{FF2B5EF4-FFF2-40B4-BE49-F238E27FC236}">
                <a16:creationId xmlns:a16="http://schemas.microsoft.com/office/drawing/2014/main" id="{CE22D1AA-9FC9-A81C-0A4D-96AB09A7684F}"/>
              </a:ext>
            </a:extLst>
          </p:cNvPr>
          <p:cNvSpPr txBox="1">
            <a:spLocks noChangeArrowheads="1"/>
          </p:cNvSpPr>
          <p:nvPr/>
        </p:nvSpPr>
        <p:spPr bwMode="auto">
          <a:xfrm>
            <a:off x="190830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a:t>
            </a:r>
          </a:p>
        </p:txBody>
      </p:sp>
      <p:sp>
        <p:nvSpPr>
          <p:cNvPr id="8" name="Text Box 10">
            <a:extLst>
              <a:ext uri="{FF2B5EF4-FFF2-40B4-BE49-F238E27FC236}">
                <a16:creationId xmlns:a16="http://schemas.microsoft.com/office/drawing/2014/main" id="{EF82429D-B93E-23C2-420C-3CEAE2B1F55E}"/>
              </a:ext>
            </a:extLst>
          </p:cNvPr>
          <p:cNvSpPr txBox="1">
            <a:spLocks noChangeArrowheads="1"/>
          </p:cNvSpPr>
          <p:nvPr/>
        </p:nvSpPr>
        <p:spPr bwMode="auto">
          <a:xfrm>
            <a:off x="3485484"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2</a:t>
            </a:r>
          </a:p>
        </p:txBody>
      </p:sp>
      <p:sp>
        <p:nvSpPr>
          <p:cNvPr id="9" name="Text Box 11">
            <a:extLst>
              <a:ext uri="{FF2B5EF4-FFF2-40B4-BE49-F238E27FC236}">
                <a16:creationId xmlns:a16="http://schemas.microsoft.com/office/drawing/2014/main" id="{7A6C8C79-32FB-59EF-A5A0-6F6F66B51400}"/>
              </a:ext>
            </a:extLst>
          </p:cNvPr>
          <p:cNvSpPr txBox="1">
            <a:spLocks noChangeArrowheads="1"/>
          </p:cNvSpPr>
          <p:nvPr/>
        </p:nvSpPr>
        <p:spPr bwMode="auto">
          <a:xfrm>
            <a:off x="235899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0" name="Text Box 12">
            <a:extLst>
              <a:ext uri="{FF2B5EF4-FFF2-40B4-BE49-F238E27FC236}">
                <a16:creationId xmlns:a16="http://schemas.microsoft.com/office/drawing/2014/main" id="{F66D2CF9-7706-EE16-3E2C-B36AB57C3FC7}"/>
              </a:ext>
            </a:extLst>
          </p:cNvPr>
          <p:cNvSpPr txBox="1">
            <a:spLocks noChangeArrowheads="1"/>
          </p:cNvSpPr>
          <p:nvPr/>
        </p:nvSpPr>
        <p:spPr bwMode="auto">
          <a:xfrm>
            <a:off x="753071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1" name="Text Box 13">
            <a:extLst>
              <a:ext uri="{FF2B5EF4-FFF2-40B4-BE49-F238E27FC236}">
                <a16:creationId xmlns:a16="http://schemas.microsoft.com/office/drawing/2014/main" id="{E4492214-0EB6-4FEA-2B16-941981F27C38}"/>
              </a:ext>
            </a:extLst>
          </p:cNvPr>
          <p:cNvSpPr txBox="1">
            <a:spLocks noChangeArrowheads="1"/>
          </p:cNvSpPr>
          <p:nvPr/>
        </p:nvSpPr>
        <p:spPr bwMode="auto">
          <a:xfrm>
            <a:off x="1325690" y="2260238"/>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字节</a:t>
            </a:r>
          </a:p>
        </p:txBody>
      </p:sp>
      <p:sp>
        <p:nvSpPr>
          <p:cNvPr id="12" name="Text Box 18">
            <a:extLst>
              <a:ext uri="{FF2B5EF4-FFF2-40B4-BE49-F238E27FC236}">
                <a16:creationId xmlns:a16="http://schemas.microsoft.com/office/drawing/2014/main" id="{7594919C-A487-A356-60EC-583212F410F0}"/>
              </a:ext>
            </a:extLst>
          </p:cNvPr>
          <p:cNvSpPr txBox="1">
            <a:spLocks noChangeArrowheads="1"/>
          </p:cNvSpPr>
          <p:nvPr/>
        </p:nvSpPr>
        <p:spPr bwMode="auto">
          <a:xfrm>
            <a:off x="2808367"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3" name="Text Box 23">
            <a:extLst>
              <a:ext uri="{FF2B5EF4-FFF2-40B4-BE49-F238E27FC236}">
                <a16:creationId xmlns:a16="http://schemas.microsoft.com/office/drawing/2014/main" id="{C9276B30-C58B-A11F-2A8C-E8F738223C07}"/>
              </a:ext>
            </a:extLst>
          </p:cNvPr>
          <p:cNvSpPr txBox="1">
            <a:spLocks noChangeArrowheads="1"/>
          </p:cNvSpPr>
          <p:nvPr/>
        </p:nvSpPr>
        <p:spPr bwMode="auto">
          <a:xfrm>
            <a:off x="678176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2</a:t>
            </a:r>
          </a:p>
        </p:txBody>
      </p:sp>
      <p:sp>
        <p:nvSpPr>
          <p:cNvPr id="14" name="Line 26">
            <a:extLst>
              <a:ext uri="{FF2B5EF4-FFF2-40B4-BE49-F238E27FC236}">
                <a16:creationId xmlns:a16="http://schemas.microsoft.com/office/drawing/2014/main" id="{3830537E-C7CC-04AD-A19C-CD828B69F206}"/>
              </a:ext>
            </a:extLst>
          </p:cNvPr>
          <p:cNvSpPr>
            <a:spLocks noChangeShapeType="1"/>
          </p:cNvSpPr>
          <p:nvPr/>
        </p:nvSpPr>
        <p:spPr bwMode="auto">
          <a:xfrm>
            <a:off x="4082903" y="1172380"/>
            <a:ext cx="14454" cy="7058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27">
            <a:extLst>
              <a:ext uri="{FF2B5EF4-FFF2-40B4-BE49-F238E27FC236}">
                <a16:creationId xmlns:a16="http://schemas.microsoft.com/office/drawing/2014/main" id="{B6FCF3F2-A8BE-CCEA-DA72-ABEDFE652CC6}"/>
              </a:ext>
            </a:extLst>
          </p:cNvPr>
          <p:cNvSpPr>
            <a:spLocks noChangeShapeType="1"/>
          </p:cNvSpPr>
          <p:nvPr/>
        </p:nvSpPr>
        <p:spPr bwMode="auto">
          <a:xfrm>
            <a:off x="6482183" y="1172379"/>
            <a:ext cx="0" cy="6792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Text Box 31">
            <a:extLst>
              <a:ext uri="{FF2B5EF4-FFF2-40B4-BE49-F238E27FC236}">
                <a16:creationId xmlns:a16="http://schemas.microsoft.com/office/drawing/2014/main" id="{90D7281F-E936-D632-6C7C-B9D6E54E91D7}"/>
              </a:ext>
            </a:extLst>
          </p:cNvPr>
          <p:cNvSpPr txBox="1">
            <a:spLocks noChangeArrowheads="1"/>
          </p:cNvSpPr>
          <p:nvPr/>
        </p:nvSpPr>
        <p:spPr bwMode="auto">
          <a:xfrm>
            <a:off x="4039590" y="2278526"/>
            <a:ext cx="25707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solidFill>
                  <a:srgbClr val="0000FF"/>
                </a:solidFill>
                <a:latin typeface="微软雅黑" pitchFamily="34" charset="-122"/>
                <a:ea typeface="微软雅黑" pitchFamily="34" charset="-122"/>
              </a:rPr>
              <a:t>可变长度，不超过 </a:t>
            </a:r>
            <a:r>
              <a:rPr kumimoji="1" lang="en-US" altLang="zh-CN" sz="1400" b="1" dirty="0">
                <a:solidFill>
                  <a:srgbClr val="0000FF"/>
                </a:solidFill>
                <a:latin typeface="微软雅黑" pitchFamily="34" charset="-122"/>
                <a:ea typeface="微软雅黑" pitchFamily="34" charset="-122"/>
              </a:rPr>
              <a:t>1500 </a:t>
            </a:r>
            <a:r>
              <a:rPr kumimoji="1" lang="zh-CN" altLang="en-US" sz="1400" b="1" dirty="0">
                <a:solidFill>
                  <a:srgbClr val="0000FF"/>
                </a:solidFill>
                <a:latin typeface="微软雅黑" pitchFamily="34" charset="-122"/>
                <a:ea typeface="微软雅黑" pitchFamily="34" charset="-122"/>
              </a:rPr>
              <a:t>字节</a:t>
            </a:r>
          </a:p>
        </p:txBody>
      </p:sp>
      <p:sp>
        <p:nvSpPr>
          <p:cNvPr id="17" name="Line 32">
            <a:extLst>
              <a:ext uri="{FF2B5EF4-FFF2-40B4-BE49-F238E27FC236}">
                <a16:creationId xmlns:a16="http://schemas.microsoft.com/office/drawing/2014/main" id="{A91C9C56-E1AE-5BDB-66DF-FE14FE4E2F90}"/>
              </a:ext>
            </a:extLst>
          </p:cNvPr>
          <p:cNvSpPr>
            <a:spLocks noChangeShapeType="1"/>
          </p:cNvSpPr>
          <p:nvPr/>
        </p:nvSpPr>
        <p:spPr bwMode="auto">
          <a:xfrm>
            <a:off x="1846553" y="2782696"/>
            <a:ext cx="6071783"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33">
            <a:extLst>
              <a:ext uri="{FF2B5EF4-FFF2-40B4-BE49-F238E27FC236}">
                <a16:creationId xmlns:a16="http://schemas.microsoft.com/office/drawing/2014/main" id="{812FB71D-9DA2-3FD5-B73D-0368B29670AC}"/>
              </a:ext>
            </a:extLst>
          </p:cNvPr>
          <p:cNvSpPr txBox="1">
            <a:spLocks noChangeArrowheads="1"/>
          </p:cNvSpPr>
          <p:nvPr/>
        </p:nvSpPr>
        <p:spPr bwMode="auto">
          <a:xfrm>
            <a:off x="4440809" y="2638241"/>
            <a:ext cx="772969" cy="307777"/>
          </a:xfrm>
          <a:prstGeom prst="rect">
            <a:avLst/>
          </a:prstGeom>
          <a:solidFill>
            <a:srgbClr val="C3E3F9"/>
          </a:solidFill>
          <a:ln>
            <a:noFill/>
          </a:ln>
          <a:effectLst/>
        </p:spPr>
        <p:txBody>
          <a:bodyPr wrap="none">
            <a:spAutoFit/>
          </a:bodyPr>
          <a:lstStyle/>
          <a:p>
            <a:r>
              <a:rPr kumimoji="1" lang="en-US" altLang="zh-CN" sz="1400" b="1" dirty="0">
                <a:solidFill>
                  <a:srgbClr val="0000FF"/>
                </a:solidFill>
                <a:latin typeface="微软雅黑" pitchFamily="34" charset="-122"/>
                <a:ea typeface="微软雅黑" pitchFamily="34" charset="-122"/>
              </a:rPr>
              <a:t>PPP </a:t>
            </a:r>
            <a:r>
              <a:rPr kumimoji="1" lang="zh-CN" altLang="en-US" sz="1400" b="1" dirty="0">
                <a:solidFill>
                  <a:srgbClr val="0000FF"/>
                </a:solidFill>
                <a:latin typeface="微软雅黑" pitchFamily="34" charset="-122"/>
                <a:ea typeface="微软雅黑" pitchFamily="34" charset="-122"/>
              </a:rPr>
              <a:t>帧</a:t>
            </a:r>
          </a:p>
        </p:txBody>
      </p:sp>
      <p:sp>
        <p:nvSpPr>
          <p:cNvPr id="19" name="Text Box 39">
            <a:extLst>
              <a:ext uri="{FF2B5EF4-FFF2-40B4-BE49-F238E27FC236}">
                <a16:creationId xmlns:a16="http://schemas.microsoft.com/office/drawing/2014/main" id="{09B487A0-6D61-9656-297A-1DD50D4C69A2}"/>
              </a:ext>
            </a:extLst>
          </p:cNvPr>
          <p:cNvSpPr txBox="1">
            <a:spLocks noChangeArrowheads="1"/>
          </p:cNvSpPr>
          <p:nvPr/>
        </p:nvSpPr>
        <p:spPr bwMode="auto">
          <a:xfrm>
            <a:off x="1118300" y="1418225"/>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先发送</a:t>
            </a:r>
          </a:p>
        </p:txBody>
      </p:sp>
      <p:sp>
        <p:nvSpPr>
          <p:cNvPr id="20" name="Rectangle 5">
            <a:extLst>
              <a:ext uri="{FF2B5EF4-FFF2-40B4-BE49-F238E27FC236}">
                <a16:creationId xmlns:a16="http://schemas.microsoft.com/office/drawing/2014/main" id="{33CD0953-93C7-CDCC-B4A9-6B3C677D5149}"/>
              </a:ext>
            </a:extLst>
          </p:cNvPr>
          <p:cNvSpPr>
            <a:spLocks noChangeArrowheads="1"/>
          </p:cNvSpPr>
          <p:nvPr/>
        </p:nvSpPr>
        <p:spPr bwMode="auto">
          <a:xfrm>
            <a:off x="1833413" y="1820058"/>
            <a:ext cx="6071783" cy="432998"/>
          </a:xfrm>
          <a:prstGeom prst="rect">
            <a:avLst/>
          </a:prstGeom>
          <a:solidFill>
            <a:srgbClr val="00FF99"/>
          </a:solidFill>
          <a:ln w="12700">
            <a:solidFill>
              <a:schemeClr val="tx1"/>
            </a:solidFill>
            <a:miter lim="800000"/>
            <a:headEnd/>
            <a:tailEnd/>
          </a:ln>
          <a:effectLst/>
        </p:spPr>
        <p:txBody>
          <a:bodyPr wrap="none" anchor="ctr"/>
          <a:lstStyle/>
          <a:p>
            <a:pPr algn="ctr"/>
            <a:endParaRPr kumimoji="1" lang="zh-CN" altLang="zh-CN" sz="1200" b="1">
              <a:solidFill>
                <a:schemeClr val="bg1"/>
              </a:solidFill>
              <a:latin typeface="微软雅黑" pitchFamily="34" charset="-122"/>
              <a:ea typeface="微软雅黑" pitchFamily="34" charset="-122"/>
            </a:endParaRPr>
          </a:p>
        </p:txBody>
      </p:sp>
      <p:sp>
        <p:nvSpPr>
          <p:cNvPr id="21" name="Line 6">
            <a:extLst>
              <a:ext uri="{FF2B5EF4-FFF2-40B4-BE49-F238E27FC236}">
                <a16:creationId xmlns:a16="http://schemas.microsoft.com/office/drawing/2014/main" id="{FFEA6E3D-424C-26FC-951E-44F32D6C33D9}"/>
              </a:ext>
            </a:extLst>
          </p:cNvPr>
          <p:cNvSpPr>
            <a:spLocks noChangeShapeType="1"/>
          </p:cNvSpPr>
          <p:nvPr/>
        </p:nvSpPr>
        <p:spPr bwMode="auto">
          <a:xfrm>
            <a:off x="2284100"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7">
            <a:extLst>
              <a:ext uri="{FF2B5EF4-FFF2-40B4-BE49-F238E27FC236}">
                <a16:creationId xmlns:a16="http://schemas.microsoft.com/office/drawing/2014/main" id="{853BD446-DE6F-5CA8-C7DA-D12522D59A2A}"/>
              </a:ext>
            </a:extLst>
          </p:cNvPr>
          <p:cNvSpPr>
            <a:spLocks noChangeShapeType="1"/>
          </p:cNvSpPr>
          <p:nvPr/>
        </p:nvSpPr>
        <p:spPr bwMode="auto">
          <a:xfrm>
            <a:off x="7380928"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14">
            <a:extLst>
              <a:ext uri="{FF2B5EF4-FFF2-40B4-BE49-F238E27FC236}">
                <a16:creationId xmlns:a16="http://schemas.microsoft.com/office/drawing/2014/main" id="{7E57C684-8746-07AE-B3FF-0CD88F869E91}"/>
              </a:ext>
            </a:extLst>
          </p:cNvPr>
          <p:cNvSpPr>
            <a:spLocks noChangeShapeType="1"/>
          </p:cNvSpPr>
          <p:nvPr/>
        </p:nvSpPr>
        <p:spPr bwMode="auto">
          <a:xfrm>
            <a:off x="2733472"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15">
            <a:extLst>
              <a:ext uri="{FF2B5EF4-FFF2-40B4-BE49-F238E27FC236}">
                <a16:creationId xmlns:a16="http://schemas.microsoft.com/office/drawing/2014/main" id="{F6B191F5-10CA-1435-81F2-881FE15689D3}"/>
              </a:ext>
            </a:extLst>
          </p:cNvPr>
          <p:cNvSpPr>
            <a:spLocks noChangeShapeType="1"/>
          </p:cNvSpPr>
          <p:nvPr/>
        </p:nvSpPr>
        <p:spPr bwMode="auto">
          <a:xfrm>
            <a:off x="3182845"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EE242A91-E28A-5715-AB52-D8AE09AD2B02}"/>
              </a:ext>
            </a:extLst>
          </p:cNvPr>
          <p:cNvGrpSpPr/>
          <p:nvPr/>
        </p:nvGrpSpPr>
        <p:grpSpPr>
          <a:xfrm>
            <a:off x="2280158" y="1793375"/>
            <a:ext cx="386644" cy="489709"/>
            <a:chOff x="2280158" y="1793375"/>
            <a:chExt cx="386644" cy="489709"/>
          </a:xfrm>
        </p:grpSpPr>
        <p:sp>
          <p:nvSpPr>
            <p:cNvPr id="26" name="Text Box 16">
              <a:extLst>
                <a:ext uri="{FF2B5EF4-FFF2-40B4-BE49-F238E27FC236}">
                  <a16:creationId xmlns:a16="http://schemas.microsoft.com/office/drawing/2014/main" id="{651436FF-2BC1-66AF-51C0-2AAF14A60B37}"/>
                </a:ext>
              </a:extLst>
            </p:cNvPr>
            <p:cNvSpPr txBox="1">
              <a:spLocks noChangeArrowheads="1"/>
            </p:cNvSpPr>
            <p:nvPr/>
          </p:nvSpPr>
          <p:spPr bwMode="auto">
            <a:xfrm>
              <a:off x="2280158" y="1975307"/>
              <a:ext cx="386644"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FF</a:t>
              </a:r>
            </a:p>
          </p:txBody>
        </p:sp>
        <p:sp>
          <p:nvSpPr>
            <p:cNvPr id="32" name="Text Box 20">
              <a:extLst>
                <a:ext uri="{FF2B5EF4-FFF2-40B4-BE49-F238E27FC236}">
                  <a16:creationId xmlns:a16="http://schemas.microsoft.com/office/drawing/2014/main" id="{7B1D5E84-21D7-C221-21F6-1734D22EA5EC}"/>
                </a:ext>
              </a:extLst>
            </p:cNvPr>
            <p:cNvSpPr txBox="1">
              <a:spLocks noChangeArrowheads="1"/>
            </p:cNvSpPr>
            <p:nvPr/>
          </p:nvSpPr>
          <p:spPr bwMode="auto">
            <a:xfrm>
              <a:off x="2314321" y="1793375"/>
              <a:ext cx="319318"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A</a:t>
              </a:r>
            </a:p>
          </p:txBody>
        </p:sp>
      </p:grpSp>
      <p:grpSp>
        <p:nvGrpSpPr>
          <p:cNvPr id="4" name="组合 3">
            <a:extLst>
              <a:ext uri="{FF2B5EF4-FFF2-40B4-BE49-F238E27FC236}">
                <a16:creationId xmlns:a16="http://schemas.microsoft.com/office/drawing/2014/main" id="{20686824-D011-6880-CAB0-1D578EE0A980}"/>
              </a:ext>
            </a:extLst>
          </p:cNvPr>
          <p:cNvGrpSpPr/>
          <p:nvPr/>
        </p:nvGrpSpPr>
        <p:grpSpPr>
          <a:xfrm>
            <a:off x="2760850" y="1794587"/>
            <a:ext cx="405880" cy="488497"/>
            <a:chOff x="2760850" y="1794587"/>
            <a:chExt cx="405880" cy="488497"/>
          </a:xfrm>
        </p:grpSpPr>
        <p:sp>
          <p:nvSpPr>
            <p:cNvPr id="27" name="Text Box 17">
              <a:extLst>
                <a:ext uri="{FF2B5EF4-FFF2-40B4-BE49-F238E27FC236}">
                  <a16:creationId xmlns:a16="http://schemas.microsoft.com/office/drawing/2014/main" id="{E85DACC8-2997-895D-156C-66A7F27FC7A8}"/>
                </a:ext>
              </a:extLst>
            </p:cNvPr>
            <p:cNvSpPr txBox="1">
              <a:spLocks noChangeArrowheads="1"/>
            </p:cNvSpPr>
            <p:nvPr/>
          </p:nvSpPr>
          <p:spPr bwMode="auto">
            <a:xfrm>
              <a:off x="2760850" y="1975307"/>
              <a:ext cx="405880"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03</a:t>
              </a:r>
            </a:p>
          </p:txBody>
        </p:sp>
        <p:sp>
          <p:nvSpPr>
            <p:cNvPr id="33" name="Text Box 21">
              <a:extLst>
                <a:ext uri="{FF2B5EF4-FFF2-40B4-BE49-F238E27FC236}">
                  <a16:creationId xmlns:a16="http://schemas.microsoft.com/office/drawing/2014/main" id="{2C6055A2-66A4-05EC-9700-C636047BF3A2}"/>
                </a:ext>
              </a:extLst>
            </p:cNvPr>
            <p:cNvSpPr txBox="1">
              <a:spLocks noChangeArrowheads="1"/>
            </p:cNvSpPr>
            <p:nvPr/>
          </p:nvSpPr>
          <p:spPr bwMode="auto">
            <a:xfrm>
              <a:off x="2800108" y="1794587"/>
              <a:ext cx="30489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C</a:t>
              </a:r>
            </a:p>
          </p:txBody>
        </p:sp>
      </p:grpSp>
      <p:sp>
        <p:nvSpPr>
          <p:cNvPr id="34" name="Text Box 22">
            <a:extLst>
              <a:ext uri="{FF2B5EF4-FFF2-40B4-BE49-F238E27FC236}">
                <a16:creationId xmlns:a16="http://schemas.microsoft.com/office/drawing/2014/main" id="{192B0E37-460D-7CBF-CBAE-D5F08FB585FB}"/>
              </a:ext>
            </a:extLst>
          </p:cNvPr>
          <p:cNvSpPr txBox="1">
            <a:spLocks noChangeArrowheads="1"/>
          </p:cNvSpPr>
          <p:nvPr/>
        </p:nvSpPr>
        <p:spPr bwMode="auto">
          <a:xfrm>
            <a:off x="6709325" y="1898921"/>
            <a:ext cx="51328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FCS</a:t>
            </a:r>
          </a:p>
        </p:txBody>
      </p:sp>
      <p:grpSp>
        <p:nvGrpSpPr>
          <p:cNvPr id="2" name="组合 1">
            <a:extLst>
              <a:ext uri="{FF2B5EF4-FFF2-40B4-BE49-F238E27FC236}">
                <a16:creationId xmlns:a16="http://schemas.microsoft.com/office/drawing/2014/main" id="{720AAC3F-6FD2-25B3-0051-FFDE709C7878}"/>
              </a:ext>
            </a:extLst>
          </p:cNvPr>
          <p:cNvGrpSpPr/>
          <p:nvPr/>
        </p:nvGrpSpPr>
        <p:grpSpPr>
          <a:xfrm>
            <a:off x="1830785" y="1792067"/>
            <a:ext cx="5995312" cy="491017"/>
            <a:chOff x="1830785" y="1792067"/>
            <a:chExt cx="5995312" cy="491017"/>
          </a:xfrm>
        </p:grpSpPr>
        <p:sp>
          <p:nvSpPr>
            <p:cNvPr id="23" name="Text Box 8">
              <a:extLst>
                <a:ext uri="{FF2B5EF4-FFF2-40B4-BE49-F238E27FC236}">
                  <a16:creationId xmlns:a16="http://schemas.microsoft.com/office/drawing/2014/main" id="{34EA0249-21A1-ED00-1A02-18908CCAC0DB}"/>
                </a:ext>
              </a:extLst>
            </p:cNvPr>
            <p:cNvSpPr txBox="1">
              <a:spLocks noChangeArrowheads="1"/>
            </p:cNvSpPr>
            <p:nvPr/>
          </p:nvSpPr>
          <p:spPr bwMode="auto">
            <a:xfrm>
              <a:off x="1830785" y="1975307"/>
              <a:ext cx="39786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7E</a:t>
              </a:r>
            </a:p>
          </p:txBody>
        </p:sp>
        <p:sp>
          <p:nvSpPr>
            <p:cNvPr id="31" name="Text Box 19">
              <a:extLst>
                <a:ext uri="{FF2B5EF4-FFF2-40B4-BE49-F238E27FC236}">
                  <a16:creationId xmlns:a16="http://schemas.microsoft.com/office/drawing/2014/main" id="{F71AB367-D99E-2AC0-2CC4-9BAE1659CFB9}"/>
                </a:ext>
              </a:extLst>
            </p:cNvPr>
            <p:cNvSpPr txBox="1">
              <a:spLocks noChangeArrowheads="1"/>
            </p:cNvSpPr>
            <p:nvPr/>
          </p:nvSpPr>
          <p:spPr bwMode="auto">
            <a:xfrm>
              <a:off x="1893856" y="1794587"/>
              <a:ext cx="28565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a:t>
              </a:r>
            </a:p>
          </p:txBody>
        </p:sp>
        <p:sp>
          <p:nvSpPr>
            <p:cNvPr id="35" name="Text Box 24">
              <a:extLst>
                <a:ext uri="{FF2B5EF4-FFF2-40B4-BE49-F238E27FC236}">
                  <a16:creationId xmlns:a16="http://schemas.microsoft.com/office/drawing/2014/main" id="{50D61C3F-140A-26E9-471A-1F2D96ABBE10}"/>
                </a:ext>
              </a:extLst>
            </p:cNvPr>
            <p:cNvSpPr txBox="1">
              <a:spLocks noChangeArrowheads="1"/>
            </p:cNvSpPr>
            <p:nvPr/>
          </p:nvSpPr>
          <p:spPr bwMode="auto">
            <a:xfrm>
              <a:off x="7478161" y="1792067"/>
              <a:ext cx="28565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a:t>
              </a:r>
            </a:p>
          </p:txBody>
        </p:sp>
        <p:sp>
          <p:nvSpPr>
            <p:cNvPr id="36" name="Text Box 25">
              <a:extLst>
                <a:ext uri="{FF2B5EF4-FFF2-40B4-BE49-F238E27FC236}">
                  <a16:creationId xmlns:a16="http://schemas.microsoft.com/office/drawing/2014/main" id="{89813FB7-5514-EFE8-FAA3-39DAC87FCDDE}"/>
                </a:ext>
              </a:extLst>
            </p:cNvPr>
            <p:cNvSpPr txBox="1">
              <a:spLocks noChangeArrowheads="1"/>
            </p:cNvSpPr>
            <p:nvPr/>
          </p:nvSpPr>
          <p:spPr bwMode="auto">
            <a:xfrm>
              <a:off x="7428231" y="1975307"/>
              <a:ext cx="39786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7E</a:t>
              </a:r>
            </a:p>
          </p:txBody>
        </p:sp>
      </p:grpSp>
      <p:sp>
        <p:nvSpPr>
          <p:cNvPr id="37" name="Rectangle 28">
            <a:extLst>
              <a:ext uri="{FF2B5EF4-FFF2-40B4-BE49-F238E27FC236}">
                <a16:creationId xmlns:a16="http://schemas.microsoft.com/office/drawing/2014/main" id="{F6290A61-EB5D-61D5-5AE5-839DBD7E275B}"/>
              </a:ext>
            </a:extLst>
          </p:cNvPr>
          <p:cNvSpPr>
            <a:spLocks noChangeArrowheads="1"/>
          </p:cNvSpPr>
          <p:nvPr/>
        </p:nvSpPr>
        <p:spPr bwMode="auto">
          <a:xfrm>
            <a:off x="4082903" y="1840677"/>
            <a:ext cx="2399281" cy="396612"/>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8" name="Text Box 29">
            <a:extLst>
              <a:ext uri="{FF2B5EF4-FFF2-40B4-BE49-F238E27FC236}">
                <a16:creationId xmlns:a16="http://schemas.microsoft.com/office/drawing/2014/main" id="{BE28C429-9CCC-96D3-BD3F-4E689FAF9228}"/>
              </a:ext>
            </a:extLst>
          </p:cNvPr>
          <p:cNvSpPr txBox="1">
            <a:spLocks noChangeArrowheads="1"/>
          </p:cNvSpPr>
          <p:nvPr/>
        </p:nvSpPr>
        <p:spPr bwMode="auto">
          <a:xfrm>
            <a:off x="3366626" y="1923368"/>
            <a:ext cx="543739" cy="307777"/>
          </a:xfrm>
          <a:prstGeom prst="rect">
            <a:avLst/>
          </a:prstGeom>
          <a:noFill/>
          <a:ln>
            <a:noFill/>
          </a:ln>
          <a:effectLst/>
        </p:spPr>
        <p:txBody>
          <a:bodyPr wrap="none">
            <a:spAutoFit/>
          </a:bodyPr>
          <a:lstStyle/>
          <a:p>
            <a:r>
              <a:rPr kumimoji="1" lang="zh-CN" altLang="en-US" sz="1400" b="1" dirty="0">
                <a:solidFill>
                  <a:srgbClr val="0000CC"/>
                </a:solidFill>
                <a:latin typeface="微软雅黑" pitchFamily="34" charset="-122"/>
                <a:ea typeface="微软雅黑" pitchFamily="34" charset="-122"/>
              </a:rPr>
              <a:t>协议</a:t>
            </a:r>
          </a:p>
        </p:txBody>
      </p:sp>
      <p:sp>
        <p:nvSpPr>
          <p:cNvPr id="39" name="Text Box 30">
            <a:extLst>
              <a:ext uri="{FF2B5EF4-FFF2-40B4-BE49-F238E27FC236}">
                <a16:creationId xmlns:a16="http://schemas.microsoft.com/office/drawing/2014/main" id="{6D145E47-DF2E-909F-D9F1-76E31ADC5215}"/>
              </a:ext>
            </a:extLst>
          </p:cNvPr>
          <p:cNvSpPr txBox="1">
            <a:spLocks noChangeArrowheads="1"/>
          </p:cNvSpPr>
          <p:nvPr/>
        </p:nvSpPr>
        <p:spPr bwMode="auto">
          <a:xfrm>
            <a:off x="4498480" y="1889777"/>
            <a:ext cx="1537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信    息    字    段</a:t>
            </a:r>
          </a:p>
        </p:txBody>
      </p:sp>
      <p:sp>
        <p:nvSpPr>
          <p:cNvPr id="40" name="AutoShape 34">
            <a:extLst>
              <a:ext uri="{FF2B5EF4-FFF2-40B4-BE49-F238E27FC236}">
                <a16:creationId xmlns:a16="http://schemas.microsoft.com/office/drawing/2014/main" id="{4344ED54-F744-F35B-291D-D94DA41409E4}"/>
              </a:ext>
            </a:extLst>
          </p:cNvPr>
          <p:cNvSpPr>
            <a:spLocks/>
          </p:cNvSpPr>
          <p:nvPr/>
        </p:nvSpPr>
        <p:spPr bwMode="auto">
          <a:xfrm rot="5400000">
            <a:off x="2890843" y="627998"/>
            <a:ext cx="134630" cy="2249489"/>
          </a:xfrm>
          <a:prstGeom prst="leftBrace">
            <a:avLst>
              <a:gd name="adj1" fmla="val 128528"/>
              <a:gd name="adj2" fmla="val 50069"/>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AutoShape 35">
            <a:extLst>
              <a:ext uri="{FF2B5EF4-FFF2-40B4-BE49-F238E27FC236}">
                <a16:creationId xmlns:a16="http://schemas.microsoft.com/office/drawing/2014/main" id="{A8D67D76-FC00-0280-4355-AA383D0A91AC}"/>
              </a:ext>
            </a:extLst>
          </p:cNvPr>
          <p:cNvSpPr>
            <a:spLocks/>
          </p:cNvSpPr>
          <p:nvPr/>
        </p:nvSpPr>
        <p:spPr bwMode="auto">
          <a:xfrm rot="5400000">
            <a:off x="7131833" y="1046695"/>
            <a:ext cx="123714" cy="1423013"/>
          </a:xfrm>
          <a:prstGeom prst="leftBrace">
            <a:avLst>
              <a:gd name="adj1" fmla="val 8848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Text Box 36">
            <a:extLst>
              <a:ext uri="{FF2B5EF4-FFF2-40B4-BE49-F238E27FC236}">
                <a16:creationId xmlns:a16="http://schemas.microsoft.com/office/drawing/2014/main" id="{D58DDC67-248E-CCD5-E09B-F3EC8AAFD90D}"/>
              </a:ext>
            </a:extLst>
          </p:cNvPr>
          <p:cNvSpPr txBox="1">
            <a:spLocks noChangeArrowheads="1"/>
          </p:cNvSpPr>
          <p:nvPr/>
        </p:nvSpPr>
        <p:spPr bwMode="auto">
          <a:xfrm>
            <a:off x="2687942"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首部</a:t>
            </a:r>
          </a:p>
        </p:txBody>
      </p:sp>
      <p:sp>
        <p:nvSpPr>
          <p:cNvPr id="43" name="Text Box 37">
            <a:extLst>
              <a:ext uri="{FF2B5EF4-FFF2-40B4-BE49-F238E27FC236}">
                <a16:creationId xmlns:a16="http://schemas.microsoft.com/office/drawing/2014/main" id="{5BEFE00E-DAC7-EBCA-A592-00F187EEDB09}"/>
              </a:ext>
            </a:extLst>
          </p:cNvPr>
          <p:cNvSpPr txBox="1">
            <a:spLocks noChangeArrowheads="1"/>
          </p:cNvSpPr>
          <p:nvPr/>
        </p:nvSpPr>
        <p:spPr bwMode="auto">
          <a:xfrm>
            <a:off x="6929387"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尾部</a:t>
            </a:r>
          </a:p>
        </p:txBody>
      </p:sp>
      <p:sp>
        <p:nvSpPr>
          <p:cNvPr id="44" name="Line 38">
            <a:extLst>
              <a:ext uri="{FF2B5EF4-FFF2-40B4-BE49-F238E27FC236}">
                <a16:creationId xmlns:a16="http://schemas.microsoft.com/office/drawing/2014/main" id="{C01999BF-117A-D1E3-D412-FE860DF500E0}"/>
              </a:ext>
            </a:extLst>
          </p:cNvPr>
          <p:cNvSpPr>
            <a:spLocks noChangeShapeType="1"/>
          </p:cNvSpPr>
          <p:nvPr/>
        </p:nvSpPr>
        <p:spPr bwMode="auto">
          <a:xfrm>
            <a:off x="1833413" y="1385847"/>
            <a:ext cx="0" cy="3711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40">
            <a:extLst>
              <a:ext uri="{FF2B5EF4-FFF2-40B4-BE49-F238E27FC236}">
                <a16:creationId xmlns:a16="http://schemas.microsoft.com/office/drawing/2014/main" id="{46F8EBF1-63CF-A602-433D-2727B2CC1283}"/>
              </a:ext>
            </a:extLst>
          </p:cNvPr>
          <p:cNvSpPr>
            <a:spLocks noChangeShapeType="1"/>
          </p:cNvSpPr>
          <p:nvPr/>
        </p:nvSpPr>
        <p:spPr bwMode="auto">
          <a:xfrm>
            <a:off x="6482183" y="1798226"/>
            <a:ext cx="0" cy="4548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41">
            <a:extLst>
              <a:ext uri="{FF2B5EF4-FFF2-40B4-BE49-F238E27FC236}">
                <a16:creationId xmlns:a16="http://schemas.microsoft.com/office/drawing/2014/main" id="{8D845AF1-51B9-4A5D-9EB9-06EEAA525CE7}"/>
              </a:ext>
            </a:extLst>
          </p:cNvPr>
          <p:cNvSpPr>
            <a:spLocks noChangeShapeType="1"/>
          </p:cNvSpPr>
          <p:nvPr/>
        </p:nvSpPr>
        <p:spPr bwMode="auto">
          <a:xfrm>
            <a:off x="4082903"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AutoShape 42">
            <a:extLst>
              <a:ext uri="{FF2B5EF4-FFF2-40B4-BE49-F238E27FC236}">
                <a16:creationId xmlns:a16="http://schemas.microsoft.com/office/drawing/2014/main" id="{E6017B76-F54A-A1D4-1632-7355887B7CE3}"/>
              </a:ext>
            </a:extLst>
          </p:cNvPr>
          <p:cNvSpPr>
            <a:spLocks noChangeArrowheads="1"/>
          </p:cNvSpPr>
          <p:nvPr/>
        </p:nvSpPr>
        <p:spPr bwMode="auto">
          <a:xfrm>
            <a:off x="5132752" y="1490155"/>
            <a:ext cx="224686" cy="432998"/>
          </a:xfrm>
          <a:prstGeom prst="downArrow">
            <a:avLst>
              <a:gd name="adj1" fmla="val 50000"/>
              <a:gd name="adj2" fmla="val 78290"/>
            </a:avLst>
          </a:prstGeom>
          <a:solidFill>
            <a:srgbClr val="FFFF00"/>
          </a:solidFill>
          <a:ln w="19050">
            <a:solidFill>
              <a:schemeClr val="tx1"/>
            </a:solidFill>
            <a:miter lim="800000"/>
            <a:headEnd/>
            <a:tailEnd/>
          </a:ln>
          <a:effectLst/>
        </p:spPr>
        <p:txBody>
          <a:bodyPr vert="eaVert" wrap="none" anchor="ctr"/>
          <a:lstStyle/>
          <a:p>
            <a:endParaRPr lang="zh-CN" altLang="en-US" sz="1400" b="1">
              <a:solidFill>
                <a:srgbClr val="000099"/>
              </a:solidFill>
              <a:latin typeface="微软雅黑" pitchFamily="34" charset="-122"/>
              <a:ea typeface="微软雅黑" pitchFamily="34" charset="-122"/>
            </a:endParaRPr>
          </a:p>
        </p:txBody>
      </p:sp>
      <p:sp>
        <p:nvSpPr>
          <p:cNvPr id="48" name="矩形 47">
            <a:extLst>
              <a:ext uri="{FF2B5EF4-FFF2-40B4-BE49-F238E27FC236}">
                <a16:creationId xmlns:a16="http://schemas.microsoft.com/office/drawing/2014/main" id="{8BA14118-996C-3177-12B7-07B099C195FF}"/>
              </a:ext>
            </a:extLst>
          </p:cNvPr>
          <p:cNvSpPr/>
          <p:nvPr/>
        </p:nvSpPr>
        <p:spPr>
          <a:xfrm>
            <a:off x="838880" y="3155459"/>
            <a:ext cx="7457094" cy="1253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300"/>
              </a:lnSpc>
              <a:buClr>
                <a:srgbClr val="0070C0"/>
              </a:buClr>
              <a:buFont typeface="Wingdings" pitchFamily="2" charset="2"/>
              <a:buChar char="l"/>
            </a:pPr>
            <a:r>
              <a:rPr lang="zh-CN" altLang="en-US" b="1" dirty="0">
                <a:latin typeface="微软雅黑" pitchFamily="34" charset="-122"/>
                <a:ea typeface="微软雅黑" pitchFamily="34" charset="-122"/>
              </a:rPr>
              <a:t>标志字段 </a:t>
            </a:r>
            <a:r>
              <a:rPr lang="en-US" altLang="zh-CN" b="1" dirty="0">
                <a:latin typeface="微软雅黑" pitchFamily="34" charset="-122"/>
                <a:ea typeface="微软雅黑" pitchFamily="34" charset="-122"/>
              </a:rPr>
              <a:t>F</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0x7E </a:t>
            </a:r>
            <a:r>
              <a:rPr lang="zh-CN" altLang="en-US" b="1" dirty="0">
                <a:latin typeface="微软雅黑" pitchFamily="34" charset="-122"/>
                <a:ea typeface="微软雅黑" pitchFamily="34" charset="-122"/>
              </a:rPr>
              <a:t>。帧定界符，连续两帧之间只需要用一个标志字段。</a:t>
            </a:r>
          </a:p>
          <a:p>
            <a:pPr marL="342900" indent="-342900" eaLnBrk="0" hangingPunct="0">
              <a:lnSpc>
                <a:spcPts val="2300"/>
              </a:lnSpc>
              <a:buClr>
                <a:srgbClr val="0070C0"/>
              </a:buClr>
              <a:buFont typeface="Wingdings" pitchFamily="2" charset="2"/>
              <a:buChar char="l"/>
            </a:pPr>
            <a:r>
              <a:rPr lang="zh-CN" altLang="en-US" b="1" dirty="0">
                <a:latin typeface="微软雅黑" pitchFamily="34" charset="-122"/>
                <a:ea typeface="微软雅黑" pitchFamily="34" charset="-122"/>
              </a:rPr>
              <a:t>地址字段 </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：只置为 </a:t>
            </a:r>
            <a:r>
              <a:rPr lang="en-US" altLang="zh-CN" b="1" dirty="0">
                <a:latin typeface="微软雅黑" pitchFamily="34" charset="-122"/>
                <a:ea typeface="微软雅黑" pitchFamily="34" charset="-122"/>
              </a:rPr>
              <a:t>0xFF</a:t>
            </a:r>
            <a:r>
              <a:rPr lang="zh-CN" altLang="en-US" b="1" dirty="0">
                <a:latin typeface="微软雅黑" pitchFamily="34" charset="-122"/>
                <a:ea typeface="微软雅黑" pitchFamily="34" charset="-122"/>
              </a:rPr>
              <a:t>。实际上不起作用。</a:t>
            </a:r>
          </a:p>
          <a:p>
            <a:pPr marL="342900" indent="-342900" eaLnBrk="0" hangingPunct="0">
              <a:lnSpc>
                <a:spcPts val="2300"/>
              </a:lnSpc>
              <a:buClr>
                <a:srgbClr val="0070C0"/>
              </a:buClr>
              <a:buFont typeface="Wingdings" pitchFamily="2" charset="2"/>
              <a:buChar char="l"/>
            </a:pPr>
            <a:r>
              <a:rPr lang="zh-CN" altLang="en-US" b="1" dirty="0">
                <a:latin typeface="微软雅黑" pitchFamily="34" charset="-122"/>
                <a:ea typeface="微软雅黑" pitchFamily="34" charset="-122"/>
              </a:rPr>
              <a:t>控制字段 </a:t>
            </a:r>
            <a:r>
              <a:rPr lang="en-US" altLang="zh-CN" b="1" dirty="0">
                <a:latin typeface="微软雅黑" pitchFamily="34" charset="-122"/>
                <a:ea typeface="微软雅黑" pitchFamily="34" charset="-122"/>
              </a:rPr>
              <a:t>C</a:t>
            </a:r>
            <a:r>
              <a:rPr lang="zh-CN" altLang="en-US" b="1" dirty="0">
                <a:latin typeface="微软雅黑" pitchFamily="34" charset="-122"/>
                <a:ea typeface="微软雅黑" pitchFamily="34" charset="-122"/>
              </a:rPr>
              <a:t>：通常置为 </a:t>
            </a:r>
            <a:r>
              <a:rPr lang="en-US" altLang="zh-CN" b="1" dirty="0">
                <a:latin typeface="微软雅黑" pitchFamily="34" charset="-122"/>
                <a:ea typeface="微软雅黑" pitchFamily="34" charset="-122"/>
              </a:rPr>
              <a:t>0x03</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38079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4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nodeType="clickEffect">
                                  <p:stCondLst>
                                    <p:cond delay="0"/>
                                  </p:stCondLst>
                                  <p:childTnLst>
                                    <p:anim calcmode="discrete" valueType="str">
                                      <p:cBhvr>
                                        <p:cTn id="1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nodeType="clickEffect">
                                  <p:stCondLst>
                                    <p:cond delay="0"/>
                                  </p:stCondLst>
                                  <p:childTnLst>
                                    <p:anim calcmode="discrete" valueType="str">
                                      <p:cBhvr>
                                        <p:cTn id="20"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B5AF3-2B25-CD1D-BFC4-A84074EC44C7}"/>
            </a:ext>
          </a:extLst>
        </p:cNvPr>
        <p:cNvGrpSpPr/>
        <p:nvPr/>
      </p:nvGrpSpPr>
      <p:grpSpPr>
        <a:xfrm>
          <a:off x="0" y="0"/>
          <a:ext cx="0" cy="0"/>
          <a:chOff x="0" y="0"/>
          <a:chExt cx="0" cy="0"/>
        </a:xfrm>
      </p:grpSpPr>
      <p:sp>
        <p:nvSpPr>
          <p:cNvPr id="28" name="AutoShape 5">
            <a:extLst>
              <a:ext uri="{FF2B5EF4-FFF2-40B4-BE49-F238E27FC236}">
                <a16:creationId xmlns:a16="http://schemas.microsoft.com/office/drawing/2014/main" id="{75346E36-D1B5-3654-B4F0-23394B029EAE}"/>
              </a:ext>
            </a:extLst>
          </p:cNvPr>
          <p:cNvSpPr>
            <a:spLocks noChangeArrowheads="1"/>
          </p:cNvSpPr>
          <p:nvPr/>
        </p:nvSpPr>
        <p:spPr bwMode="auto">
          <a:xfrm>
            <a:off x="502921" y="62128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9" name="Rectangle 6">
            <a:extLst>
              <a:ext uri="{FF2B5EF4-FFF2-40B4-BE49-F238E27FC236}">
                <a16:creationId xmlns:a16="http://schemas.microsoft.com/office/drawing/2014/main" id="{E4FF9E32-47CA-BA3D-263C-73E4A99EEEFF}"/>
              </a:ext>
            </a:extLst>
          </p:cNvPr>
          <p:cNvSpPr>
            <a:spLocks noChangeArrowheads="1"/>
          </p:cNvSpPr>
          <p:nvPr/>
        </p:nvSpPr>
        <p:spPr bwMode="auto">
          <a:xfrm>
            <a:off x="2698733" y="579018"/>
            <a:ext cx="37465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3.2.2   PPP </a:t>
            </a:r>
            <a:r>
              <a:rPr lang="zh-CN" altLang="en-US" sz="2400" b="1" dirty="0">
                <a:solidFill>
                  <a:schemeClr val="bg1"/>
                </a:solidFill>
                <a:latin typeface="微软雅黑" pitchFamily="34" charset="-122"/>
                <a:ea typeface="微软雅黑" pitchFamily="34" charset="-122"/>
              </a:rPr>
              <a:t>协议的帧格式</a:t>
            </a:r>
          </a:p>
        </p:txBody>
      </p:sp>
      <p:sp>
        <p:nvSpPr>
          <p:cNvPr id="5" name="圆角矩形 4">
            <a:extLst>
              <a:ext uri="{FF2B5EF4-FFF2-40B4-BE49-F238E27FC236}">
                <a16:creationId xmlns:a16="http://schemas.microsoft.com/office/drawing/2014/main" id="{E80ED026-A7C6-4B1E-B14C-0DAE1BEA4B34}"/>
              </a:ext>
            </a:extLst>
          </p:cNvPr>
          <p:cNvSpPr/>
          <p:nvPr/>
        </p:nvSpPr>
        <p:spPr>
          <a:xfrm>
            <a:off x="502920" y="1094782"/>
            <a:ext cx="8129015" cy="192604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Rectangle 4">
            <a:extLst>
              <a:ext uri="{FF2B5EF4-FFF2-40B4-BE49-F238E27FC236}">
                <a16:creationId xmlns:a16="http://schemas.microsoft.com/office/drawing/2014/main" id="{15E5D7C0-E3C7-4DED-9A31-A66DBD58DD1F}"/>
              </a:ext>
            </a:extLst>
          </p:cNvPr>
          <p:cNvSpPr>
            <a:spLocks noChangeArrowheads="1"/>
          </p:cNvSpPr>
          <p:nvPr/>
        </p:nvSpPr>
        <p:spPr bwMode="auto">
          <a:xfrm>
            <a:off x="4082903" y="1182083"/>
            <a:ext cx="2399281" cy="355374"/>
          </a:xfrm>
          <a:prstGeom prst="rect">
            <a:avLst/>
          </a:prstGeom>
          <a:solidFill>
            <a:srgbClr val="00FFFF"/>
          </a:solidFill>
          <a:ln w="12700">
            <a:solidFill>
              <a:schemeClr val="tx1"/>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IP </a:t>
            </a:r>
            <a:r>
              <a:rPr kumimoji="1" lang="zh-CN" altLang="en-US" sz="1400" b="1">
                <a:latin typeface="微软雅黑" pitchFamily="34" charset="-122"/>
                <a:ea typeface="微软雅黑" pitchFamily="34" charset="-122"/>
              </a:rPr>
              <a:t>数据报</a:t>
            </a:r>
          </a:p>
        </p:txBody>
      </p:sp>
      <p:sp>
        <p:nvSpPr>
          <p:cNvPr id="7" name="Text Box 9">
            <a:extLst>
              <a:ext uri="{FF2B5EF4-FFF2-40B4-BE49-F238E27FC236}">
                <a16:creationId xmlns:a16="http://schemas.microsoft.com/office/drawing/2014/main" id="{30F79E9E-34D2-21F6-DFD7-14C0B8C67AC7}"/>
              </a:ext>
            </a:extLst>
          </p:cNvPr>
          <p:cNvSpPr txBox="1">
            <a:spLocks noChangeArrowheads="1"/>
          </p:cNvSpPr>
          <p:nvPr/>
        </p:nvSpPr>
        <p:spPr bwMode="auto">
          <a:xfrm>
            <a:off x="190830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a:t>
            </a:r>
          </a:p>
        </p:txBody>
      </p:sp>
      <p:sp>
        <p:nvSpPr>
          <p:cNvPr id="8" name="Text Box 10">
            <a:extLst>
              <a:ext uri="{FF2B5EF4-FFF2-40B4-BE49-F238E27FC236}">
                <a16:creationId xmlns:a16="http://schemas.microsoft.com/office/drawing/2014/main" id="{C60448A1-363C-9DBC-FAEF-3A3224955E9C}"/>
              </a:ext>
            </a:extLst>
          </p:cNvPr>
          <p:cNvSpPr txBox="1">
            <a:spLocks noChangeArrowheads="1"/>
          </p:cNvSpPr>
          <p:nvPr/>
        </p:nvSpPr>
        <p:spPr bwMode="auto">
          <a:xfrm>
            <a:off x="3485484"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2</a:t>
            </a:r>
          </a:p>
        </p:txBody>
      </p:sp>
      <p:sp>
        <p:nvSpPr>
          <p:cNvPr id="9" name="Text Box 11">
            <a:extLst>
              <a:ext uri="{FF2B5EF4-FFF2-40B4-BE49-F238E27FC236}">
                <a16:creationId xmlns:a16="http://schemas.microsoft.com/office/drawing/2014/main" id="{3D43433E-30F9-88A3-BC59-31599AC9BE00}"/>
              </a:ext>
            </a:extLst>
          </p:cNvPr>
          <p:cNvSpPr txBox="1">
            <a:spLocks noChangeArrowheads="1"/>
          </p:cNvSpPr>
          <p:nvPr/>
        </p:nvSpPr>
        <p:spPr bwMode="auto">
          <a:xfrm>
            <a:off x="235899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0" name="Text Box 12">
            <a:extLst>
              <a:ext uri="{FF2B5EF4-FFF2-40B4-BE49-F238E27FC236}">
                <a16:creationId xmlns:a16="http://schemas.microsoft.com/office/drawing/2014/main" id="{2A225218-5341-3192-4AA3-BD9F248D9B2A}"/>
              </a:ext>
            </a:extLst>
          </p:cNvPr>
          <p:cNvSpPr txBox="1">
            <a:spLocks noChangeArrowheads="1"/>
          </p:cNvSpPr>
          <p:nvPr/>
        </p:nvSpPr>
        <p:spPr bwMode="auto">
          <a:xfrm>
            <a:off x="753071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1" name="Text Box 13">
            <a:extLst>
              <a:ext uri="{FF2B5EF4-FFF2-40B4-BE49-F238E27FC236}">
                <a16:creationId xmlns:a16="http://schemas.microsoft.com/office/drawing/2014/main" id="{6120722B-159E-D495-AAA5-AE080986BEED}"/>
              </a:ext>
            </a:extLst>
          </p:cNvPr>
          <p:cNvSpPr txBox="1">
            <a:spLocks noChangeArrowheads="1"/>
          </p:cNvSpPr>
          <p:nvPr/>
        </p:nvSpPr>
        <p:spPr bwMode="auto">
          <a:xfrm>
            <a:off x="1325690" y="2260238"/>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字节</a:t>
            </a:r>
          </a:p>
        </p:txBody>
      </p:sp>
      <p:sp>
        <p:nvSpPr>
          <p:cNvPr id="12" name="Text Box 18">
            <a:extLst>
              <a:ext uri="{FF2B5EF4-FFF2-40B4-BE49-F238E27FC236}">
                <a16:creationId xmlns:a16="http://schemas.microsoft.com/office/drawing/2014/main" id="{F15B55DB-5E44-5E2F-2D1E-2124D22FF3D3}"/>
              </a:ext>
            </a:extLst>
          </p:cNvPr>
          <p:cNvSpPr txBox="1">
            <a:spLocks noChangeArrowheads="1"/>
          </p:cNvSpPr>
          <p:nvPr/>
        </p:nvSpPr>
        <p:spPr bwMode="auto">
          <a:xfrm>
            <a:off x="2808367"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3" name="Text Box 23">
            <a:extLst>
              <a:ext uri="{FF2B5EF4-FFF2-40B4-BE49-F238E27FC236}">
                <a16:creationId xmlns:a16="http://schemas.microsoft.com/office/drawing/2014/main" id="{BF25A733-ED56-02D5-6BE4-DDA20A1B72C9}"/>
              </a:ext>
            </a:extLst>
          </p:cNvPr>
          <p:cNvSpPr txBox="1">
            <a:spLocks noChangeArrowheads="1"/>
          </p:cNvSpPr>
          <p:nvPr/>
        </p:nvSpPr>
        <p:spPr bwMode="auto">
          <a:xfrm>
            <a:off x="678176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2</a:t>
            </a:r>
          </a:p>
        </p:txBody>
      </p:sp>
      <p:sp>
        <p:nvSpPr>
          <p:cNvPr id="14" name="Line 26">
            <a:extLst>
              <a:ext uri="{FF2B5EF4-FFF2-40B4-BE49-F238E27FC236}">
                <a16:creationId xmlns:a16="http://schemas.microsoft.com/office/drawing/2014/main" id="{41E4818D-3D91-A8BD-B458-4C5636451C2C}"/>
              </a:ext>
            </a:extLst>
          </p:cNvPr>
          <p:cNvSpPr>
            <a:spLocks noChangeShapeType="1"/>
          </p:cNvSpPr>
          <p:nvPr/>
        </p:nvSpPr>
        <p:spPr bwMode="auto">
          <a:xfrm>
            <a:off x="4082903" y="1172380"/>
            <a:ext cx="14454" cy="7058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27">
            <a:extLst>
              <a:ext uri="{FF2B5EF4-FFF2-40B4-BE49-F238E27FC236}">
                <a16:creationId xmlns:a16="http://schemas.microsoft.com/office/drawing/2014/main" id="{871C9E3A-1E6A-4BAE-F5DB-F54BC6C96F6C}"/>
              </a:ext>
            </a:extLst>
          </p:cNvPr>
          <p:cNvSpPr>
            <a:spLocks noChangeShapeType="1"/>
          </p:cNvSpPr>
          <p:nvPr/>
        </p:nvSpPr>
        <p:spPr bwMode="auto">
          <a:xfrm>
            <a:off x="6482183" y="1172379"/>
            <a:ext cx="0" cy="6792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Text Box 31">
            <a:extLst>
              <a:ext uri="{FF2B5EF4-FFF2-40B4-BE49-F238E27FC236}">
                <a16:creationId xmlns:a16="http://schemas.microsoft.com/office/drawing/2014/main" id="{B6B19F5F-07AE-0A6F-61D3-BBC0AE75D343}"/>
              </a:ext>
            </a:extLst>
          </p:cNvPr>
          <p:cNvSpPr txBox="1">
            <a:spLocks noChangeArrowheads="1"/>
          </p:cNvSpPr>
          <p:nvPr/>
        </p:nvSpPr>
        <p:spPr bwMode="auto">
          <a:xfrm>
            <a:off x="4039590" y="2278526"/>
            <a:ext cx="25707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solidFill>
                  <a:srgbClr val="0000FF"/>
                </a:solidFill>
                <a:latin typeface="微软雅黑" pitchFamily="34" charset="-122"/>
                <a:ea typeface="微软雅黑" pitchFamily="34" charset="-122"/>
              </a:rPr>
              <a:t>可变长度，不超过 </a:t>
            </a:r>
            <a:r>
              <a:rPr kumimoji="1" lang="en-US" altLang="zh-CN" sz="1400" b="1" dirty="0">
                <a:solidFill>
                  <a:srgbClr val="0000FF"/>
                </a:solidFill>
                <a:latin typeface="微软雅黑" pitchFamily="34" charset="-122"/>
                <a:ea typeface="微软雅黑" pitchFamily="34" charset="-122"/>
              </a:rPr>
              <a:t>1500 </a:t>
            </a:r>
            <a:r>
              <a:rPr kumimoji="1" lang="zh-CN" altLang="en-US" sz="1400" b="1" dirty="0">
                <a:solidFill>
                  <a:srgbClr val="0000FF"/>
                </a:solidFill>
                <a:latin typeface="微软雅黑" pitchFamily="34" charset="-122"/>
                <a:ea typeface="微软雅黑" pitchFamily="34" charset="-122"/>
              </a:rPr>
              <a:t>字节</a:t>
            </a:r>
          </a:p>
        </p:txBody>
      </p:sp>
      <p:sp>
        <p:nvSpPr>
          <p:cNvPr id="17" name="Line 32">
            <a:extLst>
              <a:ext uri="{FF2B5EF4-FFF2-40B4-BE49-F238E27FC236}">
                <a16:creationId xmlns:a16="http://schemas.microsoft.com/office/drawing/2014/main" id="{58FD338B-9AC2-1D7F-2228-051A8C771A0B}"/>
              </a:ext>
            </a:extLst>
          </p:cNvPr>
          <p:cNvSpPr>
            <a:spLocks noChangeShapeType="1"/>
          </p:cNvSpPr>
          <p:nvPr/>
        </p:nvSpPr>
        <p:spPr bwMode="auto">
          <a:xfrm>
            <a:off x="1846553" y="2782696"/>
            <a:ext cx="6071783"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33">
            <a:extLst>
              <a:ext uri="{FF2B5EF4-FFF2-40B4-BE49-F238E27FC236}">
                <a16:creationId xmlns:a16="http://schemas.microsoft.com/office/drawing/2014/main" id="{4FBDEBC0-C085-5D83-D71C-ED23C586E601}"/>
              </a:ext>
            </a:extLst>
          </p:cNvPr>
          <p:cNvSpPr txBox="1">
            <a:spLocks noChangeArrowheads="1"/>
          </p:cNvSpPr>
          <p:nvPr/>
        </p:nvSpPr>
        <p:spPr bwMode="auto">
          <a:xfrm>
            <a:off x="4440809" y="2638241"/>
            <a:ext cx="772969" cy="307777"/>
          </a:xfrm>
          <a:prstGeom prst="rect">
            <a:avLst/>
          </a:prstGeom>
          <a:solidFill>
            <a:srgbClr val="C3E3F9"/>
          </a:solidFill>
          <a:ln>
            <a:noFill/>
          </a:ln>
          <a:effectLst/>
        </p:spPr>
        <p:txBody>
          <a:bodyPr wrap="none">
            <a:spAutoFit/>
          </a:bodyPr>
          <a:lstStyle/>
          <a:p>
            <a:r>
              <a:rPr kumimoji="1" lang="en-US" altLang="zh-CN" sz="1400" b="1" dirty="0">
                <a:solidFill>
                  <a:srgbClr val="0000FF"/>
                </a:solidFill>
                <a:latin typeface="微软雅黑" pitchFamily="34" charset="-122"/>
                <a:ea typeface="微软雅黑" pitchFamily="34" charset="-122"/>
              </a:rPr>
              <a:t>PPP </a:t>
            </a:r>
            <a:r>
              <a:rPr kumimoji="1" lang="zh-CN" altLang="en-US" sz="1400" b="1" dirty="0">
                <a:solidFill>
                  <a:srgbClr val="0000FF"/>
                </a:solidFill>
                <a:latin typeface="微软雅黑" pitchFamily="34" charset="-122"/>
                <a:ea typeface="微软雅黑" pitchFamily="34" charset="-122"/>
              </a:rPr>
              <a:t>帧</a:t>
            </a:r>
          </a:p>
        </p:txBody>
      </p:sp>
      <p:sp>
        <p:nvSpPr>
          <p:cNvPr id="19" name="Text Box 39">
            <a:extLst>
              <a:ext uri="{FF2B5EF4-FFF2-40B4-BE49-F238E27FC236}">
                <a16:creationId xmlns:a16="http://schemas.microsoft.com/office/drawing/2014/main" id="{19CB1D59-2A73-BD52-2796-5212AB61A8E2}"/>
              </a:ext>
            </a:extLst>
          </p:cNvPr>
          <p:cNvSpPr txBox="1">
            <a:spLocks noChangeArrowheads="1"/>
          </p:cNvSpPr>
          <p:nvPr/>
        </p:nvSpPr>
        <p:spPr bwMode="auto">
          <a:xfrm>
            <a:off x="1118300" y="1418225"/>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先发送</a:t>
            </a:r>
          </a:p>
        </p:txBody>
      </p:sp>
      <p:sp>
        <p:nvSpPr>
          <p:cNvPr id="20" name="Rectangle 5">
            <a:extLst>
              <a:ext uri="{FF2B5EF4-FFF2-40B4-BE49-F238E27FC236}">
                <a16:creationId xmlns:a16="http://schemas.microsoft.com/office/drawing/2014/main" id="{5276CEA2-FED4-457B-8196-B26A1FABC34F}"/>
              </a:ext>
            </a:extLst>
          </p:cNvPr>
          <p:cNvSpPr>
            <a:spLocks noChangeArrowheads="1"/>
          </p:cNvSpPr>
          <p:nvPr/>
        </p:nvSpPr>
        <p:spPr bwMode="auto">
          <a:xfrm>
            <a:off x="1833413" y="1820058"/>
            <a:ext cx="6071783" cy="432998"/>
          </a:xfrm>
          <a:prstGeom prst="rect">
            <a:avLst/>
          </a:prstGeom>
          <a:solidFill>
            <a:srgbClr val="00FF99"/>
          </a:solidFill>
          <a:ln w="12700">
            <a:solidFill>
              <a:schemeClr val="tx1"/>
            </a:solidFill>
            <a:miter lim="800000"/>
            <a:headEnd/>
            <a:tailEnd/>
          </a:ln>
          <a:effectLst/>
        </p:spPr>
        <p:txBody>
          <a:bodyPr wrap="none" anchor="ctr"/>
          <a:lstStyle/>
          <a:p>
            <a:pPr algn="ctr"/>
            <a:endParaRPr kumimoji="1" lang="zh-CN" altLang="zh-CN" sz="1200" b="1">
              <a:solidFill>
                <a:schemeClr val="bg1"/>
              </a:solidFill>
              <a:latin typeface="微软雅黑" pitchFamily="34" charset="-122"/>
              <a:ea typeface="微软雅黑" pitchFamily="34" charset="-122"/>
            </a:endParaRPr>
          </a:p>
        </p:txBody>
      </p:sp>
      <p:sp>
        <p:nvSpPr>
          <p:cNvPr id="21" name="Line 6">
            <a:extLst>
              <a:ext uri="{FF2B5EF4-FFF2-40B4-BE49-F238E27FC236}">
                <a16:creationId xmlns:a16="http://schemas.microsoft.com/office/drawing/2014/main" id="{5F1D28E9-F9E9-CFDE-3734-8357626B4135}"/>
              </a:ext>
            </a:extLst>
          </p:cNvPr>
          <p:cNvSpPr>
            <a:spLocks noChangeShapeType="1"/>
          </p:cNvSpPr>
          <p:nvPr/>
        </p:nvSpPr>
        <p:spPr bwMode="auto">
          <a:xfrm>
            <a:off x="2284100"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7">
            <a:extLst>
              <a:ext uri="{FF2B5EF4-FFF2-40B4-BE49-F238E27FC236}">
                <a16:creationId xmlns:a16="http://schemas.microsoft.com/office/drawing/2014/main" id="{FC8A077E-4399-B884-475C-D69EAD910A58}"/>
              </a:ext>
            </a:extLst>
          </p:cNvPr>
          <p:cNvSpPr>
            <a:spLocks noChangeShapeType="1"/>
          </p:cNvSpPr>
          <p:nvPr/>
        </p:nvSpPr>
        <p:spPr bwMode="auto">
          <a:xfrm>
            <a:off x="7380928"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8">
            <a:extLst>
              <a:ext uri="{FF2B5EF4-FFF2-40B4-BE49-F238E27FC236}">
                <a16:creationId xmlns:a16="http://schemas.microsoft.com/office/drawing/2014/main" id="{39BF7797-7806-176A-8524-489DC6E90151}"/>
              </a:ext>
            </a:extLst>
          </p:cNvPr>
          <p:cNvSpPr txBox="1">
            <a:spLocks noChangeArrowheads="1"/>
          </p:cNvSpPr>
          <p:nvPr/>
        </p:nvSpPr>
        <p:spPr bwMode="auto">
          <a:xfrm>
            <a:off x="1830785" y="1975307"/>
            <a:ext cx="39786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7E</a:t>
            </a:r>
          </a:p>
        </p:txBody>
      </p:sp>
      <p:sp>
        <p:nvSpPr>
          <p:cNvPr id="24" name="Line 14">
            <a:extLst>
              <a:ext uri="{FF2B5EF4-FFF2-40B4-BE49-F238E27FC236}">
                <a16:creationId xmlns:a16="http://schemas.microsoft.com/office/drawing/2014/main" id="{0C228149-7C7C-2758-9AFD-F38DFC9D1B9E}"/>
              </a:ext>
            </a:extLst>
          </p:cNvPr>
          <p:cNvSpPr>
            <a:spLocks noChangeShapeType="1"/>
          </p:cNvSpPr>
          <p:nvPr/>
        </p:nvSpPr>
        <p:spPr bwMode="auto">
          <a:xfrm>
            <a:off x="2733472"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15">
            <a:extLst>
              <a:ext uri="{FF2B5EF4-FFF2-40B4-BE49-F238E27FC236}">
                <a16:creationId xmlns:a16="http://schemas.microsoft.com/office/drawing/2014/main" id="{1BBA8669-648D-ED44-9FF8-68058990C1EE}"/>
              </a:ext>
            </a:extLst>
          </p:cNvPr>
          <p:cNvSpPr>
            <a:spLocks noChangeShapeType="1"/>
          </p:cNvSpPr>
          <p:nvPr/>
        </p:nvSpPr>
        <p:spPr bwMode="auto">
          <a:xfrm>
            <a:off x="3182845"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16">
            <a:extLst>
              <a:ext uri="{FF2B5EF4-FFF2-40B4-BE49-F238E27FC236}">
                <a16:creationId xmlns:a16="http://schemas.microsoft.com/office/drawing/2014/main" id="{E7311A30-69D5-DB27-6C19-59A4C6561BC7}"/>
              </a:ext>
            </a:extLst>
          </p:cNvPr>
          <p:cNvSpPr txBox="1">
            <a:spLocks noChangeArrowheads="1"/>
          </p:cNvSpPr>
          <p:nvPr/>
        </p:nvSpPr>
        <p:spPr bwMode="auto">
          <a:xfrm>
            <a:off x="2280158" y="1975307"/>
            <a:ext cx="386644"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FF</a:t>
            </a:r>
          </a:p>
        </p:txBody>
      </p:sp>
      <p:sp>
        <p:nvSpPr>
          <p:cNvPr id="27" name="Text Box 17">
            <a:extLst>
              <a:ext uri="{FF2B5EF4-FFF2-40B4-BE49-F238E27FC236}">
                <a16:creationId xmlns:a16="http://schemas.microsoft.com/office/drawing/2014/main" id="{43D767CE-7DE7-D13B-C10F-FEFF511CBFE6}"/>
              </a:ext>
            </a:extLst>
          </p:cNvPr>
          <p:cNvSpPr txBox="1">
            <a:spLocks noChangeArrowheads="1"/>
          </p:cNvSpPr>
          <p:nvPr/>
        </p:nvSpPr>
        <p:spPr bwMode="auto">
          <a:xfrm>
            <a:off x="2760850" y="1975307"/>
            <a:ext cx="405880"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03</a:t>
            </a:r>
          </a:p>
        </p:txBody>
      </p:sp>
      <p:sp>
        <p:nvSpPr>
          <p:cNvPr id="31" name="Text Box 19">
            <a:extLst>
              <a:ext uri="{FF2B5EF4-FFF2-40B4-BE49-F238E27FC236}">
                <a16:creationId xmlns:a16="http://schemas.microsoft.com/office/drawing/2014/main" id="{ABA89B31-6DDC-A891-DD01-99D10FBE9976}"/>
              </a:ext>
            </a:extLst>
          </p:cNvPr>
          <p:cNvSpPr txBox="1">
            <a:spLocks noChangeArrowheads="1"/>
          </p:cNvSpPr>
          <p:nvPr/>
        </p:nvSpPr>
        <p:spPr bwMode="auto">
          <a:xfrm>
            <a:off x="1893856" y="1794587"/>
            <a:ext cx="28565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a:t>
            </a:r>
          </a:p>
        </p:txBody>
      </p:sp>
      <p:sp>
        <p:nvSpPr>
          <p:cNvPr id="32" name="Text Box 20">
            <a:extLst>
              <a:ext uri="{FF2B5EF4-FFF2-40B4-BE49-F238E27FC236}">
                <a16:creationId xmlns:a16="http://schemas.microsoft.com/office/drawing/2014/main" id="{8A625369-C044-FD0B-9297-BE164D470A6B}"/>
              </a:ext>
            </a:extLst>
          </p:cNvPr>
          <p:cNvSpPr txBox="1">
            <a:spLocks noChangeArrowheads="1"/>
          </p:cNvSpPr>
          <p:nvPr/>
        </p:nvSpPr>
        <p:spPr bwMode="auto">
          <a:xfrm>
            <a:off x="2314321" y="1793375"/>
            <a:ext cx="319318"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A</a:t>
            </a:r>
          </a:p>
        </p:txBody>
      </p:sp>
      <p:sp>
        <p:nvSpPr>
          <p:cNvPr id="33" name="Text Box 21">
            <a:extLst>
              <a:ext uri="{FF2B5EF4-FFF2-40B4-BE49-F238E27FC236}">
                <a16:creationId xmlns:a16="http://schemas.microsoft.com/office/drawing/2014/main" id="{F18D6DC2-C966-EDC4-1750-B1AB30A42250}"/>
              </a:ext>
            </a:extLst>
          </p:cNvPr>
          <p:cNvSpPr txBox="1">
            <a:spLocks noChangeArrowheads="1"/>
          </p:cNvSpPr>
          <p:nvPr/>
        </p:nvSpPr>
        <p:spPr bwMode="auto">
          <a:xfrm>
            <a:off x="2800108" y="1794587"/>
            <a:ext cx="30489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C</a:t>
            </a:r>
          </a:p>
        </p:txBody>
      </p:sp>
      <p:sp>
        <p:nvSpPr>
          <p:cNvPr id="34" name="Text Box 22">
            <a:extLst>
              <a:ext uri="{FF2B5EF4-FFF2-40B4-BE49-F238E27FC236}">
                <a16:creationId xmlns:a16="http://schemas.microsoft.com/office/drawing/2014/main" id="{1EF12D66-3C17-FCE5-6486-F75A38FA10C6}"/>
              </a:ext>
            </a:extLst>
          </p:cNvPr>
          <p:cNvSpPr txBox="1">
            <a:spLocks noChangeArrowheads="1"/>
          </p:cNvSpPr>
          <p:nvPr/>
        </p:nvSpPr>
        <p:spPr bwMode="auto">
          <a:xfrm>
            <a:off x="6709325" y="1898921"/>
            <a:ext cx="51328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FCS</a:t>
            </a:r>
          </a:p>
        </p:txBody>
      </p:sp>
      <p:sp>
        <p:nvSpPr>
          <p:cNvPr id="35" name="Text Box 24">
            <a:extLst>
              <a:ext uri="{FF2B5EF4-FFF2-40B4-BE49-F238E27FC236}">
                <a16:creationId xmlns:a16="http://schemas.microsoft.com/office/drawing/2014/main" id="{72D8E4D0-E206-BAD2-4E43-11A2CB86BA08}"/>
              </a:ext>
            </a:extLst>
          </p:cNvPr>
          <p:cNvSpPr txBox="1">
            <a:spLocks noChangeArrowheads="1"/>
          </p:cNvSpPr>
          <p:nvPr/>
        </p:nvSpPr>
        <p:spPr bwMode="auto">
          <a:xfrm>
            <a:off x="7478161" y="1792067"/>
            <a:ext cx="28565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a:t>
            </a:r>
          </a:p>
        </p:txBody>
      </p:sp>
      <p:sp>
        <p:nvSpPr>
          <p:cNvPr id="36" name="Text Box 25">
            <a:extLst>
              <a:ext uri="{FF2B5EF4-FFF2-40B4-BE49-F238E27FC236}">
                <a16:creationId xmlns:a16="http://schemas.microsoft.com/office/drawing/2014/main" id="{7F392BEE-DEDE-DF70-D821-4F69CCCB5909}"/>
              </a:ext>
            </a:extLst>
          </p:cNvPr>
          <p:cNvSpPr txBox="1">
            <a:spLocks noChangeArrowheads="1"/>
          </p:cNvSpPr>
          <p:nvPr/>
        </p:nvSpPr>
        <p:spPr bwMode="auto">
          <a:xfrm>
            <a:off x="7428231" y="1975307"/>
            <a:ext cx="39786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7E</a:t>
            </a:r>
          </a:p>
        </p:txBody>
      </p:sp>
      <p:sp>
        <p:nvSpPr>
          <p:cNvPr id="37" name="Rectangle 28">
            <a:extLst>
              <a:ext uri="{FF2B5EF4-FFF2-40B4-BE49-F238E27FC236}">
                <a16:creationId xmlns:a16="http://schemas.microsoft.com/office/drawing/2014/main" id="{39B90DF0-A290-7784-9242-105C6567CBAF}"/>
              </a:ext>
            </a:extLst>
          </p:cNvPr>
          <p:cNvSpPr>
            <a:spLocks noChangeArrowheads="1"/>
          </p:cNvSpPr>
          <p:nvPr/>
        </p:nvSpPr>
        <p:spPr bwMode="auto">
          <a:xfrm>
            <a:off x="4082903" y="1840677"/>
            <a:ext cx="2399281" cy="396612"/>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8" name="Text Box 29">
            <a:extLst>
              <a:ext uri="{FF2B5EF4-FFF2-40B4-BE49-F238E27FC236}">
                <a16:creationId xmlns:a16="http://schemas.microsoft.com/office/drawing/2014/main" id="{07B8F079-22E5-AE01-1820-B6D873C50DBE}"/>
              </a:ext>
            </a:extLst>
          </p:cNvPr>
          <p:cNvSpPr txBox="1">
            <a:spLocks noChangeArrowheads="1"/>
          </p:cNvSpPr>
          <p:nvPr/>
        </p:nvSpPr>
        <p:spPr bwMode="auto">
          <a:xfrm>
            <a:off x="3366626" y="1923368"/>
            <a:ext cx="543739" cy="307777"/>
          </a:xfrm>
          <a:prstGeom prst="rect">
            <a:avLst/>
          </a:prstGeom>
          <a:noFill/>
          <a:ln>
            <a:noFill/>
          </a:ln>
          <a:effectLst/>
        </p:spPr>
        <p:txBody>
          <a:bodyPr wrap="none">
            <a:spAutoFit/>
          </a:bodyPr>
          <a:lstStyle/>
          <a:p>
            <a:r>
              <a:rPr kumimoji="1" lang="zh-CN" altLang="en-US" sz="1400" b="1" dirty="0">
                <a:solidFill>
                  <a:srgbClr val="0000CC"/>
                </a:solidFill>
                <a:latin typeface="微软雅黑" pitchFamily="34" charset="-122"/>
                <a:ea typeface="微软雅黑" pitchFamily="34" charset="-122"/>
              </a:rPr>
              <a:t>协议</a:t>
            </a:r>
          </a:p>
        </p:txBody>
      </p:sp>
      <p:sp>
        <p:nvSpPr>
          <p:cNvPr id="39" name="Text Box 30">
            <a:extLst>
              <a:ext uri="{FF2B5EF4-FFF2-40B4-BE49-F238E27FC236}">
                <a16:creationId xmlns:a16="http://schemas.microsoft.com/office/drawing/2014/main" id="{44C9D89E-B88F-9F79-7F12-C4BBF272634A}"/>
              </a:ext>
            </a:extLst>
          </p:cNvPr>
          <p:cNvSpPr txBox="1">
            <a:spLocks noChangeArrowheads="1"/>
          </p:cNvSpPr>
          <p:nvPr/>
        </p:nvSpPr>
        <p:spPr bwMode="auto">
          <a:xfrm>
            <a:off x="4498480" y="1889777"/>
            <a:ext cx="1537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信    息    字    段</a:t>
            </a:r>
          </a:p>
        </p:txBody>
      </p:sp>
      <p:sp>
        <p:nvSpPr>
          <p:cNvPr id="40" name="AutoShape 34">
            <a:extLst>
              <a:ext uri="{FF2B5EF4-FFF2-40B4-BE49-F238E27FC236}">
                <a16:creationId xmlns:a16="http://schemas.microsoft.com/office/drawing/2014/main" id="{1C6BCE65-037D-3E3D-8B75-D099895B096E}"/>
              </a:ext>
            </a:extLst>
          </p:cNvPr>
          <p:cNvSpPr>
            <a:spLocks/>
          </p:cNvSpPr>
          <p:nvPr/>
        </p:nvSpPr>
        <p:spPr bwMode="auto">
          <a:xfrm rot="5400000">
            <a:off x="2890843" y="627998"/>
            <a:ext cx="134630" cy="2249489"/>
          </a:xfrm>
          <a:prstGeom prst="leftBrace">
            <a:avLst>
              <a:gd name="adj1" fmla="val 128528"/>
              <a:gd name="adj2" fmla="val 50069"/>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AutoShape 35">
            <a:extLst>
              <a:ext uri="{FF2B5EF4-FFF2-40B4-BE49-F238E27FC236}">
                <a16:creationId xmlns:a16="http://schemas.microsoft.com/office/drawing/2014/main" id="{C5F9209E-5774-D583-8276-DC658E0BD647}"/>
              </a:ext>
            </a:extLst>
          </p:cNvPr>
          <p:cNvSpPr>
            <a:spLocks/>
          </p:cNvSpPr>
          <p:nvPr/>
        </p:nvSpPr>
        <p:spPr bwMode="auto">
          <a:xfrm rot="5400000">
            <a:off x="7131833" y="1046695"/>
            <a:ext cx="123714" cy="1423013"/>
          </a:xfrm>
          <a:prstGeom prst="leftBrace">
            <a:avLst>
              <a:gd name="adj1" fmla="val 8848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Text Box 36">
            <a:extLst>
              <a:ext uri="{FF2B5EF4-FFF2-40B4-BE49-F238E27FC236}">
                <a16:creationId xmlns:a16="http://schemas.microsoft.com/office/drawing/2014/main" id="{1B592386-B0CC-FBEA-7505-4A2969217EAE}"/>
              </a:ext>
            </a:extLst>
          </p:cNvPr>
          <p:cNvSpPr txBox="1">
            <a:spLocks noChangeArrowheads="1"/>
          </p:cNvSpPr>
          <p:nvPr/>
        </p:nvSpPr>
        <p:spPr bwMode="auto">
          <a:xfrm>
            <a:off x="2687942"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首部</a:t>
            </a:r>
          </a:p>
        </p:txBody>
      </p:sp>
      <p:sp>
        <p:nvSpPr>
          <p:cNvPr id="43" name="Text Box 37">
            <a:extLst>
              <a:ext uri="{FF2B5EF4-FFF2-40B4-BE49-F238E27FC236}">
                <a16:creationId xmlns:a16="http://schemas.microsoft.com/office/drawing/2014/main" id="{E95E4ACD-68E2-9EA6-FC36-13D6BEF50A4E}"/>
              </a:ext>
            </a:extLst>
          </p:cNvPr>
          <p:cNvSpPr txBox="1">
            <a:spLocks noChangeArrowheads="1"/>
          </p:cNvSpPr>
          <p:nvPr/>
        </p:nvSpPr>
        <p:spPr bwMode="auto">
          <a:xfrm>
            <a:off x="6929387"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尾部</a:t>
            </a:r>
          </a:p>
        </p:txBody>
      </p:sp>
      <p:sp>
        <p:nvSpPr>
          <p:cNvPr id="44" name="Line 38">
            <a:extLst>
              <a:ext uri="{FF2B5EF4-FFF2-40B4-BE49-F238E27FC236}">
                <a16:creationId xmlns:a16="http://schemas.microsoft.com/office/drawing/2014/main" id="{F6C775B6-C348-E0EA-2853-3AE4FA7F439F}"/>
              </a:ext>
            </a:extLst>
          </p:cNvPr>
          <p:cNvSpPr>
            <a:spLocks noChangeShapeType="1"/>
          </p:cNvSpPr>
          <p:nvPr/>
        </p:nvSpPr>
        <p:spPr bwMode="auto">
          <a:xfrm>
            <a:off x="1833413" y="1385847"/>
            <a:ext cx="0" cy="3711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40">
            <a:extLst>
              <a:ext uri="{FF2B5EF4-FFF2-40B4-BE49-F238E27FC236}">
                <a16:creationId xmlns:a16="http://schemas.microsoft.com/office/drawing/2014/main" id="{6B4ACF8D-C6C2-F1C1-4092-85259F8FF7CE}"/>
              </a:ext>
            </a:extLst>
          </p:cNvPr>
          <p:cNvSpPr>
            <a:spLocks noChangeShapeType="1"/>
          </p:cNvSpPr>
          <p:nvPr/>
        </p:nvSpPr>
        <p:spPr bwMode="auto">
          <a:xfrm>
            <a:off x="6482183" y="1798226"/>
            <a:ext cx="0" cy="4548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41">
            <a:extLst>
              <a:ext uri="{FF2B5EF4-FFF2-40B4-BE49-F238E27FC236}">
                <a16:creationId xmlns:a16="http://schemas.microsoft.com/office/drawing/2014/main" id="{3FE19050-1A88-5F17-F686-4965F78C5958}"/>
              </a:ext>
            </a:extLst>
          </p:cNvPr>
          <p:cNvSpPr>
            <a:spLocks noChangeShapeType="1"/>
          </p:cNvSpPr>
          <p:nvPr/>
        </p:nvSpPr>
        <p:spPr bwMode="auto">
          <a:xfrm>
            <a:off x="4082903"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AutoShape 42">
            <a:extLst>
              <a:ext uri="{FF2B5EF4-FFF2-40B4-BE49-F238E27FC236}">
                <a16:creationId xmlns:a16="http://schemas.microsoft.com/office/drawing/2014/main" id="{3893377B-E1B5-8CD2-5143-972BB1B7991F}"/>
              </a:ext>
            </a:extLst>
          </p:cNvPr>
          <p:cNvSpPr>
            <a:spLocks noChangeArrowheads="1"/>
          </p:cNvSpPr>
          <p:nvPr/>
        </p:nvSpPr>
        <p:spPr bwMode="auto">
          <a:xfrm>
            <a:off x="5132752" y="1490155"/>
            <a:ext cx="224686" cy="432998"/>
          </a:xfrm>
          <a:prstGeom prst="downArrow">
            <a:avLst>
              <a:gd name="adj1" fmla="val 50000"/>
              <a:gd name="adj2" fmla="val 78290"/>
            </a:avLst>
          </a:prstGeom>
          <a:solidFill>
            <a:srgbClr val="FFFF00"/>
          </a:solidFill>
          <a:ln w="19050">
            <a:solidFill>
              <a:schemeClr val="tx1"/>
            </a:solidFill>
            <a:miter lim="800000"/>
            <a:headEnd/>
            <a:tailEnd/>
          </a:ln>
          <a:effectLst/>
        </p:spPr>
        <p:txBody>
          <a:bodyPr vert="eaVert" wrap="none" anchor="ctr"/>
          <a:lstStyle/>
          <a:p>
            <a:endParaRPr lang="zh-CN" altLang="en-US" sz="1400" b="1">
              <a:solidFill>
                <a:srgbClr val="000099"/>
              </a:solidFill>
              <a:latin typeface="微软雅黑" pitchFamily="34" charset="-122"/>
              <a:ea typeface="微软雅黑" pitchFamily="34" charset="-122"/>
            </a:endParaRPr>
          </a:p>
        </p:txBody>
      </p:sp>
      <p:sp>
        <p:nvSpPr>
          <p:cNvPr id="48" name="矩形 47">
            <a:extLst>
              <a:ext uri="{FF2B5EF4-FFF2-40B4-BE49-F238E27FC236}">
                <a16:creationId xmlns:a16="http://schemas.microsoft.com/office/drawing/2014/main" id="{86A035F6-1636-9DF2-BA21-A8889E052CC7}"/>
              </a:ext>
            </a:extLst>
          </p:cNvPr>
          <p:cNvSpPr/>
          <p:nvPr/>
        </p:nvSpPr>
        <p:spPr>
          <a:xfrm>
            <a:off x="838880" y="3155459"/>
            <a:ext cx="7457094" cy="1548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300"/>
              </a:lnSpc>
              <a:buClr>
                <a:srgbClr val="0070C0"/>
              </a:buClr>
              <a:buFont typeface="Wingdings" pitchFamily="2" charset="2"/>
              <a:buChar char="l"/>
            </a:pPr>
            <a:r>
              <a:rPr lang="zh-CN" altLang="en-US" b="1" dirty="0">
                <a:latin typeface="微软雅黑" pitchFamily="34" charset="-122"/>
                <a:ea typeface="微软雅黑" pitchFamily="34" charset="-122"/>
              </a:rPr>
              <a:t>协议字段：指明信息字段的内容是哪个上层协议的数据。</a:t>
            </a:r>
            <a:endParaRPr lang="en-US" altLang="zh-CN" b="1" dirty="0">
              <a:latin typeface="微软雅黑" pitchFamily="34" charset="-122"/>
              <a:ea typeface="微软雅黑" pitchFamily="34" charset="-122"/>
            </a:endParaRPr>
          </a:p>
          <a:p>
            <a:pPr marL="800100" lvl="1" indent="-342900" eaLnBrk="0" hangingPunct="0">
              <a:lnSpc>
                <a:spcPts val="2300"/>
              </a:lnSpc>
              <a:buClr>
                <a:srgbClr val="0070C0"/>
              </a:buClr>
              <a:buSzPct val="80000"/>
              <a:buFont typeface="Wingdings" panose="05000000000000000000" pitchFamily="2" charset="2"/>
              <a:buChar char="n"/>
            </a:pPr>
            <a:r>
              <a:rPr lang="en-US" altLang="zh-CN" b="1" dirty="0">
                <a:latin typeface="微软雅黑" pitchFamily="34" charset="-122"/>
                <a:ea typeface="微软雅黑" pitchFamily="34" charset="-122"/>
              </a:rPr>
              <a:t>0x0021    </a:t>
            </a:r>
            <a:r>
              <a:rPr lang="zh-CN" altLang="en-US" b="1" dirty="0">
                <a:latin typeface="微软雅黑" pitchFamily="34" charset="-122"/>
                <a:ea typeface="微软雅黑" pitchFamily="34" charset="-122"/>
              </a:rPr>
              <a:t>信息字段为</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数据报；</a:t>
            </a:r>
            <a:endParaRPr lang="en-US" altLang="zh-CN" b="1" dirty="0">
              <a:latin typeface="微软雅黑" pitchFamily="34" charset="-122"/>
              <a:ea typeface="微软雅黑" pitchFamily="34" charset="-122"/>
            </a:endParaRPr>
          </a:p>
          <a:p>
            <a:pPr marL="800100" lvl="1" indent="-342900" eaLnBrk="0" hangingPunct="0">
              <a:lnSpc>
                <a:spcPts val="2300"/>
              </a:lnSpc>
              <a:buClr>
                <a:srgbClr val="0070C0"/>
              </a:buClr>
              <a:buSzPct val="80000"/>
              <a:buFont typeface="Wingdings" panose="05000000000000000000" pitchFamily="2" charset="2"/>
              <a:buChar char="n"/>
            </a:pPr>
            <a:r>
              <a:rPr lang="en-US" altLang="zh-CN" b="1" dirty="0">
                <a:latin typeface="微软雅黑" pitchFamily="34" charset="-122"/>
                <a:ea typeface="微软雅黑" pitchFamily="34" charset="-122"/>
              </a:rPr>
              <a:t>0xC021    </a:t>
            </a:r>
            <a:r>
              <a:rPr lang="zh-CN" altLang="en-US" b="1" dirty="0">
                <a:latin typeface="微软雅黑" pitchFamily="34" charset="-122"/>
                <a:ea typeface="微软雅黑" pitchFamily="34" charset="-122"/>
              </a:rPr>
              <a:t>信息字段为</a:t>
            </a:r>
            <a:r>
              <a:rPr lang="en-US" altLang="zh-CN" b="1" dirty="0">
                <a:latin typeface="微软雅黑" pitchFamily="34" charset="-122"/>
                <a:ea typeface="微软雅黑" pitchFamily="34" charset="-122"/>
              </a:rPr>
              <a:t>PPP</a:t>
            </a:r>
            <a:r>
              <a:rPr lang="zh-CN" altLang="en-US" b="1" dirty="0">
                <a:latin typeface="微软雅黑" pitchFamily="34" charset="-122"/>
                <a:ea typeface="微软雅黑" pitchFamily="34" charset="-122"/>
              </a:rPr>
              <a:t>链路控制协议</a:t>
            </a:r>
            <a:r>
              <a:rPr lang="en-US" altLang="zh-CN" b="1" dirty="0">
                <a:latin typeface="微软雅黑" pitchFamily="34" charset="-122"/>
                <a:ea typeface="微软雅黑" pitchFamily="34" charset="-122"/>
              </a:rPr>
              <a:t>LCP</a:t>
            </a:r>
            <a:r>
              <a:rPr lang="zh-CN" altLang="en-US" b="1" dirty="0">
                <a:latin typeface="微软雅黑" pitchFamily="34" charset="-122"/>
                <a:ea typeface="微软雅黑" pitchFamily="34" charset="-122"/>
              </a:rPr>
              <a:t>的数据。</a:t>
            </a:r>
          </a:p>
          <a:p>
            <a:pPr marL="342900" indent="-342900" eaLnBrk="0" hangingPunct="0">
              <a:lnSpc>
                <a:spcPts val="2300"/>
              </a:lnSpc>
              <a:buClr>
                <a:srgbClr val="0070C0"/>
              </a:buClr>
              <a:buFont typeface="Wingdings" pitchFamily="2" charset="2"/>
              <a:buChar char="l"/>
            </a:pPr>
            <a:r>
              <a:rPr lang="zh-CN" altLang="en-US" b="1" dirty="0">
                <a:latin typeface="微软雅黑" pitchFamily="34" charset="-122"/>
                <a:ea typeface="微软雅黑" pitchFamily="34" charset="-122"/>
              </a:rPr>
              <a:t>信息字段：长度可变，不超过</a:t>
            </a:r>
            <a:r>
              <a:rPr lang="en-US" altLang="zh-CN" b="1" dirty="0">
                <a:latin typeface="微软雅黑" pitchFamily="34" charset="-122"/>
                <a:ea typeface="微软雅黑" pitchFamily="34" charset="-122"/>
              </a:rPr>
              <a:t>1500</a:t>
            </a:r>
            <a:r>
              <a:rPr lang="zh-CN" altLang="en-US" b="1" dirty="0">
                <a:latin typeface="微软雅黑" pitchFamily="34" charset="-122"/>
                <a:ea typeface="微软雅黑" pitchFamily="34" charset="-122"/>
              </a:rPr>
              <a:t>字节。</a:t>
            </a:r>
          </a:p>
          <a:p>
            <a:pPr marL="342900" indent="-342900" eaLnBrk="0" hangingPunct="0">
              <a:lnSpc>
                <a:spcPts val="2300"/>
              </a:lnSpc>
              <a:buClr>
                <a:srgbClr val="0070C0"/>
              </a:buClr>
              <a:buFont typeface="Wingdings" pitchFamily="2" charset="2"/>
              <a:buChar char="l"/>
            </a:pPr>
            <a:r>
              <a:rPr lang="zh-CN" altLang="en-US" b="1" dirty="0">
                <a:latin typeface="微软雅黑" pitchFamily="34" charset="-122"/>
                <a:ea typeface="微软雅黑" pitchFamily="34" charset="-122"/>
              </a:rPr>
              <a:t>尾部中的第一个字段（</a:t>
            </a:r>
            <a:r>
              <a:rPr lang="en-US" altLang="zh-CN" b="1" dirty="0">
                <a:latin typeface="微软雅黑" pitchFamily="34" charset="-122"/>
                <a:ea typeface="微软雅黑" pitchFamily="34" charset="-122"/>
              </a:rPr>
              <a:t>2</a:t>
            </a:r>
            <a:r>
              <a:rPr lang="zh-CN" altLang="en-US" b="1" dirty="0">
                <a:latin typeface="微软雅黑" pitchFamily="34" charset="-122"/>
                <a:ea typeface="微软雅黑" pitchFamily="34" charset="-122"/>
              </a:rPr>
              <a:t>字节）是使用</a:t>
            </a:r>
            <a:r>
              <a:rPr lang="en-US" altLang="zh-CN" b="1" dirty="0">
                <a:latin typeface="微软雅黑" pitchFamily="34" charset="-122"/>
                <a:ea typeface="微软雅黑" pitchFamily="34" charset="-122"/>
              </a:rPr>
              <a:t>CRC</a:t>
            </a:r>
            <a:r>
              <a:rPr lang="zh-CN" altLang="en-US" b="1" dirty="0">
                <a:latin typeface="微软雅黑" pitchFamily="34" charset="-122"/>
                <a:ea typeface="微软雅黑" pitchFamily="34" charset="-122"/>
              </a:rPr>
              <a:t>的帧校验序列</a:t>
            </a:r>
            <a:r>
              <a:rPr lang="en-US" altLang="zh-CN" b="1" dirty="0">
                <a:latin typeface="微软雅黑" pitchFamily="34" charset="-122"/>
                <a:ea typeface="微软雅黑" pitchFamily="34" charset="-122"/>
              </a:rPr>
              <a:t>FCS</a:t>
            </a:r>
            <a:r>
              <a:rPr lang="zh-CN" altLang="en-US" b="1" dirty="0">
                <a:latin typeface="微软雅黑" pitchFamily="34" charset="-122"/>
                <a:ea typeface="微软雅黑" pitchFamily="34" charset="-122"/>
              </a:rPr>
              <a:t>。</a:t>
            </a:r>
          </a:p>
        </p:txBody>
      </p:sp>
    </p:spTree>
    <p:extLst>
      <p:ext uri="{BB962C8B-B14F-4D97-AF65-F5344CB8AC3E}">
        <p14:creationId xmlns:p14="http://schemas.microsoft.com/office/powerpoint/2010/main" val="627878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48">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nodeType="clickEffect">
                                  <p:stCondLst>
                                    <p:cond delay="0"/>
                                  </p:stCondLst>
                                  <p:childTnLst>
                                    <p:anim calcmode="discrete" valueType="str">
                                      <p:cBhvr>
                                        <p:cTn id="14" dur="1000" fill="hold"/>
                                        <p:tgtEl>
                                          <p:spTgt spid="48">
                                            <p:txEl>
                                              <p:pRg st="2" end="2"/>
                                            </p:txEl>
                                          </p:spTgt>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3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3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用在异步传输链路时，使用</a:t>
            </a:r>
            <a:r>
              <a:rPr lang="zh-CN" altLang="en-US" sz="2000" b="1" dirty="0">
                <a:solidFill>
                  <a:srgbClr val="C00000"/>
                </a:solidFill>
                <a:latin typeface="微软雅黑" pitchFamily="34" charset="-122"/>
                <a:ea typeface="微软雅黑" pitchFamily="34" charset="-122"/>
              </a:rPr>
              <a:t>字节填充法</a:t>
            </a:r>
            <a:r>
              <a:rPr lang="zh-CN" altLang="en-US" sz="2000" b="1" dirty="0">
                <a:latin typeface="微软雅黑" pitchFamily="34" charset="-122"/>
                <a:ea typeface="微软雅黑" pitchFamily="34" charset="-122"/>
              </a:rPr>
              <a:t>。</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用在同步传输链路时，采用</a:t>
            </a:r>
            <a:r>
              <a:rPr lang="zh-CN" altLang="en-US" sz="2000" b="1" dirty="0">
                <a:solidFill>
                  <a:srgbClr val="C00000"/>
                </a:solidFill>
                <a:latin typeface="微软雅黑" pitchFamily="34" charset="-122"/>
                <a:ea typeface="微软雅黑" pitchFamily="34" charset="-122"/>
              </a:rPr>
              <a:t>零比特填充法</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  </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666825" y="603760"/>
            <a:ext cx="1800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透明传输问题 </a:t>
            </a:r>
            <a:endParaRPr lang="fr-FR" altLang="zh-CN" sz="2000" b="1" dirty="0">
              <a:solidFill>
                <a:schemeClr val="bg1"/>
              </a:solidFill>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0C83760F-6213-66D4-9B78-B4A796BFD473}"/>
              </a:ext>
            </a:extLst>
          </p:cNvPr>
          <p:cNvSpPr txBox="1"/>
          <p:nvPr/>
        </p:nvSpPr>
        <p:spPr>
          <a:xfrm>
            <a:off x="4801829" y="1059160"/>
            <a:ext cx="1726790" cy="400110"/>
          </a:xfrm>
          <a:prstGeom prst="rect">
            <a:avLst/>
          </a:prstGeom>
          <a:noFill/>
        </p:spPr>
        <p:txBody>
          <a:bodyPr wrap="square">
            <a:spAutoFit/>
          </a:bodyPr>
          <a:lstStyle/>
          <a:p>
            <a:r>
              <a:rPr lang="zh-CN" altLang="en-US" sz="2000" b="1" dirty="0">
                <a:solidFill>
                  <a:srgbClr val="0000FF"/>
                </a:solidFill>
                <a:latin typeface="微软雅黑" pitchFamily="34" charset="-122"/>
                <a:ea typeface="微软雅黑" pitchFamily="34" charset="-122"/>
              </a:rPr>
              <a:t>字节填充法</a:t>
            </a:r>
          </a:p>
        </p:txBody>
      </p:sp>
      <p:sp>
        <p:nvSpPr>
          <p:cNvPr id="4" name="文本框 3">
            <a:extLst>
              <a:ext uri="{FF2B5EF4-FFF2-40B4-BE49-F238E27FC236}">
                <a16:creationId xmlns:a16="http://schemas.microsoft.com/office/drawing/2014/main" id="{70DADE33-5E33-CC14-34EE-39E3758DA7FE}"/>
              </a:ext>
            </a:extLst>
          </p:cNvPr>
          <p:cNvSpPr txBox="1"/>
          <p:nvPr/>
        </p:nvSpPr>
        <p:spPr>
          <a:xfrm>
            <a:off x="4801829" y="1478934"/>
            <a:ext cx="1726790" cy="400110"/>
          </a:xfrm>
          <a:prstGeom prst="rect">
            <a:avLst/>
          </a:prstGeom>
          <a:noFill/>
        </p:spPr>
        <p:txBody>
          <a:bodyPr wrap="square">
            <a:spAutoFit/>
          </a:bodyPr>
          <a:lstStyle/>
          <a:p>
            <a:r>
              <a:rPr lang="zh-CN" altLang="en-US" sz="2000" b="1" dirty="0">
                <a:solidFill>
                  <a:srgbClr val="0000FF"/>
                </a:solidFill>
                <a:latin typeface="微软雅黑" pitchFamily="34" charset="-122"/>
                <a:ea typeface="微软雅黑" pitchFamily="34" charset="-122"/>
              </a:rPr>
              <a:t>零比特填充法</a:t>
            </a:r>
          </a:p>
        </p:txBody>
      </p:sp>
    </p:spTree>
    <p:extLst>
      <p:ext uri="{BB962C8B-B14F-4D97-AF65-F5344CB8AC3E}">
        <p14:creationId xmlns:p14="http://schemas.microsoft.com/office/powerpoint/2010/main" val="120475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grpId="0"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grpId="0" nodeType="clickEffect">
                                  <p:stCondLst>
                                    <p:cond delay="0"/>
                                  </p:stCondLst>
                                  <p:childTnLst>
                                    <p:anim calcmode="discrete" valueType="str">
                                      <p:cBhvr>
                                        <p:cTn id="10"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41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60108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字节填充 </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314037" y="1568386"/>
            <a:ext cx="8469746" cy="284676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6600"/>
              </a:solidFill>
            </a:endParaRPr>
          </a:p>
        </p:txBody>
      </p:sp>
      <p:sp>
        <p:nvSpPr>
          <p:cNvPr id="7" name="Rectangle 4"/>
          <p:cNvSpPr>
            <a:spLocks noChangeArrowheads="1"/>
          </p:cNvSpPr>
          <p:nvPr/>
        </p:nvSpPr>
        <p:spPr bwMode="auto">
          <a:xfrm>
            <a:off x="498721" y="33309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8" name="Freeform 5"/>
          <p:cNvSpPr>
            <a:spLocks/>
          </p:cNvSpPr>
          <p:nvPr/>
        </p:nvSpPr>
        <p:spPr bwMode="auto">
          <a:xfrm>
            <a:off x="6159348" y="256457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Freeform 6"/>
          <p:cNvSpPr>
            <a:spLocks/>
          </p:cNvSpPr>
          <p:nvPr/>
        </p:nvSpPr>
        <p:spPr bwMode="auto">
          <a:xfrm>
            <a:off x="5065600" y="256457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7"/>
          <p:cNvSpPr>
            <a:spLocks/>
          </p:cNvSpPr>
          <p:nvPr/>
        </p:nvSpPr>
        <p:spPr bwMode="auto">
          <a:xfrm>
            <a:off x="3796213" y="256457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8"/>
          <p:cNvSpPr>
            <a:spLocks/>
          </p:cNvSpPr>
          <p:nvPr/>
        </p:nvSpPr>
        <p:spPr bwMode="auto">
          <a:xfrm>
            <a:off x="2389775" y="256457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149932" y="22108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3" name="Rectangle 10"/>
          <p:cNvSpPr>
            <a:spLocks noChangeArrowheads="1"/>
          </p:cNvSpPr>
          <p:nvPr/>
        </p:nvSpPr>
        <p:spPr bwMode="auto">
          <a:xfrm>
            <a:off x="2071762" y="221084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 name="Rectangle 11"/>
          <p:cNvSpPr>
            <a:spLocks noChangeArrowheads="1"/>
          </p:cNvSpPr>
          <p:nvPr/>
        </p:nvSpPr>
        <p:spPr bwMode="auto">
          <a:xfrm>
            <a:off x="2646578" y="221084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5" name="Rectangle 12"/>
          <p:cNvSpPr>
            <a:spLocks noChangeArrowheads="1"/>
          </p:cNvSpPr>
          <p:nvPr/>
        </p:nvSpPr>
        <p:spPr bwMode="auto">
          <a:xfrm>
            <a:off x="6159348" y="2210840"/>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6" name="Rectangle 14"/>
          <p:cNvSpPr>
            <a:spLocks noChangeArrowheads="1"/>
          </p:cNvSpPr>
          <p:nvPr/>
        </p:nvSpPr>
        <p:spPr bwMode="auto">
          <a:xfrm>
            <a:off x="5073583" y="221084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03</a:t>
            </a:r>
          </a:p>
        </p:txBody>
      </p:sp>
      <p:sp>
        <p:nvSpPr>
          <p:cNvPr id="17" name="Rectangle 15"/>
          <p:cNvSpPr>
            <a:spLocks noChangeArrowheads="1"/>
          </p:cNvSpPr>
          <p:nvPr/>
        </p:nvSpPr>
        <p:spPr bwMode="auto">
          <a:xfrm>
            <a:off x="1533142" y="3330996"/>
            <a:ext cx="6478393"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 name="Rectangle 16"/>
          <p:cNvSpPr>
            <a:spLocks noChangeArrowheads="1"/>
          </p:cNvSpPr>
          <p:nvPr/>
        </p:nvSpPr>
        <p:spPr bwMode="auto">
          <a:xfrm>
            <a:off x="2007893" y="33309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19" name="Rectangle 17"/>
          <p:cNvSpPr>
            <a:spLocks noChangeArrowheads="1"/>
          </p:cNvSpPr>
          <p:nvPr/>
        </p:nvSpPr>
        <p:spPr bwMode="auto">
          <a:xfrm>
            <a:off x="2391104" y="333099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0" name="Rectangle 18"/>
          <p:cNvSpPr>
            <a:spLocks noChangeArrowheads="1"/>
          </p:cNvSpPr>
          <p:nvPr/>
        </p:nvSpPr>
        <p:spPr bwMode="auto">
          <a:xfrm>
            <a:off x="3540738" y="33309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1" name="Rectangle 19"/>
          <p:cNvSpPr>
            <a:spLocks noChangeArrowheads="1"/>
          </p:cNvSpPr>
          <p:nvPr/>
        </p:nvSpPr>
        <p:spPr bwMode="auto">
          <a:xfrm>
            <a:off x="3923949" y="333099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5D</a:t>
            </a:r>
          </a:p>
        </p:txBody>
      </p:sp>
      <p:sp>
        <p:nvSpPr>
          <p:cNvPr id="22" name="Rectangle 20"/>
          <p:cNvSpPr>
            <a:spLocks noChangeArrowheads="1"/>
          </p:cNvSpPr>
          <p:nvPr/>
        </p:nvSpPr>
        <p:spPr bwMode="auto">
          <a:xfrm>
            <a:off x="5201320" y="33309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3" name="Rectangle 21"/>
          <p:cNvSpPr>
            <a:spLocks noChangeArrowheads="1"/>
          </p:cNvSpPr>
          <p:nvPr/>
        </p:nvSpPr>
        <p:spPr bwMode="auto">
          <a:xfrm>
            <a:off x="5584531" y="3330996"/>
            <a:ext cx="383211" cy="353734"/>
          </a:xfrm>
          <a:prstGeom prst="rect">
            <a:avLst/>
          </a:prstGeom>
          <a:solidFill>
            <a:srgbClr val="CC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23</a:t>
            </a:r>
          </a:p>
        </p:txBody>
      </p:sp>
      <p:sp>
        <p:nvSpPr>
          <p:cNvPr id="24" name="Rectangle 22"/>
          <p:cNvSpPr>
            <a:spLocks noChangeArrowheads="1"/>
          </p:cNvSpPr>
          <p:nvPr/>
        </p:nvSpPr>
        <p:spPr bwMode="auto">
          <a:xfrm>
            <a:off x="6670296" y="33309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5" name="Rectangle 23"/>
          <p:cNvSpPr>
            <a:spLocks noChangeArrowheads="1"/>
          </p:cNvSpPr>
          <p:nvPr/>
        </p:nvSpPr>
        <p:spPr bwMode="auto">
          <a:xfrm>
            <a:off x="7053508" y="3330996"/>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6" name="Freeform 24"/>
          <p:cNvSpPr>
            <a:spLocks/>
          </p:cNvSpPr>
          <p:nvPr/>
        </p:nvSpPr>
        <p:spPr bwMode="auto">
          <a:xfrm>
            <a:off x="2389775" y="256457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flipH="1">
            <a:off x="2774315" y="256457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3796213" y="256457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4179423" y="256457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Freeform 28"/>
          <p:cNvSpPr>
            <a:spLocks/>
          </p:cNvSpPr>
          <p:nvPr/>
        </p:nvSpPr>
        <p:spPr bwMode="auto">
          <a:xfrm>
            <a:off x="5073583" y="256457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29"/>
          <p:cNvSpPr>
            <a:spLocks noChangeShapeType="1"/>
          </p:cNvSpPr>
          <p:nvPr/>
        </p:nvSpPr>
        <p:spPr bwMode="auto">
          <a:xfrm>
            <a:off x="5456794" y="256457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Freeform 30"/>
          <p:cNvSpPr>
            <a:spLocks/>
          </p:cNvSpPr>
          <p:nvPr/>
        </p:nvSpPr>
        <p:spPr bwMode="auto">
          <a:xfrm>
            <a:off x="6159348" y="256457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1"/>
          <p:cNvSpPr>
            <a:spLocks noChangeShapeType="1"/>
          </p:cNvSpPr>
          <p:nvPr/>
        </p:nvSpPr>
        <p:spPr bwMode="auto">
          <a:xfrm>
            <a:off x="6542559" y="256457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2"/>
          <p:cNvSpPr>
            <a:spLocks noChangeShapeType="1"/>
          </p:cNvSpPr>
          <p:nvPr/>
        </p:nvSpPr>
        <p:spPr bwMode="auto">
          <a:xfrm>
            <a:off x="2239758" y="2024347"/>
            <a:ext cx="4871477"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5" name="Text Box 33"/>
          <p:cNvSpPr txBox="1">
            <a:spLocks noChangeArrowheads="1"/>
          </p:cNvSpPr>
          <p:nvPr/>
        </p:nvSpPr>
        <p:spPr bwMode="auto">
          <a:xfrm>
            <a:off x="4252102" y="176577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原始数据</a:t>
            </a:r>
          </a:p>
        </p:txBody>
      </p:sp>
      <p:sp>
        <p:nvSpPr>
          <p:cNvPr id="36" name="Line 34"/>
          <p:cNvSpPr>
            <a:spLocks noChangeShapeType="1"/>
          </p:cNvSpPr>
          <p:nvPr/>
        </p:nvSpPr>
        <p:spPr bwMode="auto">
          <a:xfrm>
            <a:off x="1533142" y="4068333"/>
            <a:ext cx="647839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Rectangle 35"/>
          <p:cNvSpPr>
            <a:spLocks noChangeArrowheads="1"/>
          </p:cNvSpPr>
          <p:nvPr/>
        </p:nvSpPr>
        <p:spPr bwMode="auto">
          <a:xfrm>
            <a:off x="8224478" y="33309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8" name="Rectangle 36"/>
          <p:cNvSpPr>
            <a:spLocks noChangeArrowheads="1"/>
          </p:cNvSpPr>
          <p:nvPr/>
        </p:nvSpPr>
        <p:spPr bwMode="auto">
          <a:xfrm>
            <a:off x="7355370" y="22108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9" name="Text Box 37"/>
          <p:cNvSpPr txBox="1">
            <a:spLocks noChangeArrowheads="1"/>
          </p:cNvSpPr>
          <p:nvPr/>
        </p:nvSpPr>
        <p:spPr bwMode="auto">
          <a:xfrm>
            <a:off x="3192087" y="4044307"/>
            <a:ext cx="3062059"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4" name="Line 42"/>
          <p:cNvSpPr>
            <a:spLocks noChangeShapeType="1"/>
          </p:cNvSpPr>
          <p:nvPr/>
        </p:nvSpPr>
        <p:spPr bwMode="auto">
          <a:xfrm flipV="1">
            <a:off x="529696" y="369455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5" name="Text Box 43"/>
          <p:cNvSpPr txBox="1">
            <a:spLocks noChangeArrowheads="1"/>
          </p:cNvSpPr>
          <p:nvPr/>
        </p:nvSpPr>
        <p:spPr bwMode="auto">
          <a:xfrm>
            <a:off x="495556" y="3856116"/>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latin typeface="微软雅黑" pitchFamily="34" charset="-122"/>
                <a:ea typeface="微软雅黑" pitchFamily="34" charset="-122"/>
              </a:rPr>
              <a:t>发送在前</a:t>
            </a:r>
          </a:p>
        </p:txBody>
      </p:sp>
      <p:sp>
        <p:nvSpPr>
          <p:cNvPr id="46" name="Line 44"/>
          <p:cNvSpPr>
            <a:spLocks noChangeShapeType="1"/>
          </p:cNvSpPr>
          <p:nvPr/>
        </p:nvSpPr>
        <p:spPr bwMode="auto">
          <a:xfrm>
            <a:off x="1360166" y="19553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7" name="Text Box 45"/>
          <p:cNvSpPr txBox="1">
            <a:spLocks noChangeArrowheads="1"/>
          </p:cNvSpPr>
          <p:nvPr/>
        </p:nvSpPr>
        <p:spPr bwMode="auto">
          <a:xfrm>
            <a:off x="975625" y="16790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帧开始符</a:t>
            </a:r>
          </a:p>
        </p:txBody>
      </p:sp>
      <p:sp>
        <p:nvSpPr>
          <p:cNvPr id="48" name="Text Box 46"/>
          <p:cNvSpPr txBox="1">
            <a:spLocks noChangeArrowheads="1"/>
          </p:cNvSpPr>
          <p:nvPr/>
        </p:nvSpPr>
        <p:spPr bwMode="auto">
          <a:xfrm>
            <a:off x="7233369" y="16790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帧结束符</a:t>
            </a:r>
          </a:p>
        </p:txBody>
      </p:sp>
      <p:sp>
        <p:nvSpPr>
          <p:cNvPr id="49" name="Line 47"/>
          <p:cNvSpPr>
            <a:spLocks noChangeShapeType="1"/>
          </p:cNvSpPr>
          <p:nvPr/>
        </p:nvSpPr>
        <p:spPr bwMode="auto">
          <a:xfrm>
            <a:off x="7565604" y="19553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0" name="Rectangle 13"/>
          <p:cNvSpPr>
            <a:spLocks noChangeArrowheads="1"/>
          </p:cNvSpPr>
          <p:nvPr/>
        </p:nvSpPr>
        <p:spPr bwMode="auto">
          <a:xfrm>
            <a:off x="3796212" y="221084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51" name="Rectangle 9"/>
          <p:cNvSpPr>
            <a:spLocks noChangeArrowheads="1"/>
          </p:cNvSpPr>
          <p:nvPr/>
        </p:nvSpPr>
        <p:spPr bwMode="auto">
          <a:xfrm>
            <a:off x="1533143" y="22108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2" name="Rectangle 9"/>
          <p:cNvSpPr>
            <a:spLocks noChangeArrowheads="1"/>
          </p:cNvSpPr>
          <p:nvPr/>
        </p:nvSpPr>
        <p:spPr bwMode="auto">
          <a:xfrm>
            <a:off x="1765192" y="22108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3" name="Rectangle 9"/>
          <p:cNvSpPr>
            <a:spLocks noChangeArrowheads="1"/>
          </p:cNvSpPr>
          <p:nvPr/>
        </p:nvSpPr>
        <p:spPr bwMode="auto">
          <a:xfrm>
            <a:off x="1997058" y="22108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4" name="Rectangle 9"/>
          <p:cNvSpPr>
            <a:spLocks noChangeArrowheads="1"/>
          </p:cNvSpPr>
          <p:nvPr/>
        </p:nvSpPr>
        <p:spPr bwMode="auto">
          <a:xfrm>
            <a:off x="7111236" y="22108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cxnSp>
        <p:nvCxnSpPr>
          <p:cNvPr id="55" name="直接连接符 54"/>
          <p:cNvCxnSpPr/>
          <p:nvPr/>
        </p:nvCxnSpPr>
        <p:spPr>
          <a:xfrm>
            <a:off x="2239759" y="18983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117377" y="18983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4"/>
          <p:cNvSpPr>
            <a:spLocks noChangeArrowheads="1"/>
          </p:cNvSpPr>
          <p:nvPr/>
        </p:nvSpPr>
        <p:spPr bwMode="auto">
          <a:xfrm>
            <a:off x="881932" y="3330996"/>
            <a:ext cx="268000"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8" name="Rectangle 4"/>
          <p:cNvSpPr>
            <a:spLocks noChangeArrowheads="1"/>
          </p:cNvSpPr>
          <p:nvPr/>
        </p:nvSpPr>
        <p:spPr bwMode="auto">
          <a:xfrm>
            <a:off x="1089438" y="3330996"/>
            <a:ext cx="252099"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9" name="Rectangle 4"/>
          <p:cNvSpPr>
            <a:spLocks noChangeArrowheads="1"/>
          </p:cNvSpPr>
          <p:nvPr/>
        </p:nvSpPr>
        <p:spPr bwMode="auto">
          <a:xfrm>
            <a:off x="1314467" y="33309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60" name="Rectangle 4"/>
          <p:cNvSpPr>
            <a:spLocks noChangeArrowheads="1"/>
          </p:cNvSpPr>
          <p:nvPr/>
        </p:nvSpPr>
        <p:spPr bwMode="auto">
          <a:xfrm>
            <a:off x="8011535" y="33309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40" name="Text Box 38"/>
          <p:cNvSpPr txBox="1">
            <a:spLocks noChangeArrowheads="1"/>
          </p:cNvSpPr>
          <p:nvPr/>
        </p:nvSpPr>
        <p:spPr bwMode="auto">
          <a:xfrm>
            <a:off x="6473369" y="2866368"/>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1" name="Text Box 39"/>
          <p:cNvSpPr txBox="1">
            <a:spLocks noChangeArrowheads="1"/>
          </p:cNvSpPr>
          <p:nvPr/>
        </p:nvSpPr>
        <p:spPr bwMode="auto">
          <a:xfrm>
            <a:off x="4893953" y="2856536"/>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40"/>
          <p:cNvSpPr txBox="1">
            <a:spLocks noChangeArrowheads="1"/>
          </p:cNvSpPr>
          <p:nvPr/>
        </p:nvSpPr>
        <p:spPr bwMode="auto">
          <a:xfrm>
            <a:off x="3265306" y="285162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3" name="Text Box 41"/>
          <p:cNvSpPr txBox="1">
            <a:spLocks noChangeArrowheads="1"/>
          </p:cNvSpPr>
          <p:nvPr/>
        </p:nvSpPr>
        <p:spPr bwMode="auto">
          <a:xfrm>
            <a:off x="1816287" y="283687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61" name="AutoShape 48"/>
          <p:cNvSpPr>
            <a:spLocks noChangeArrowheads="1"/>
          </p:cNvSpPr>
          <p:nvPr/>
        </p:nvSpPr>
        <p:spPr bwMode="auto">
          <a:xfrm>
            <a:off x="2118333" y="30816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2" name="AutoShape 49"/>
          <p:cNvSpPr>
            <a:spLocks noChangeArrowheads="1"/>
          </p:cNvSpPr>
          <p:nvPr/>
        </p:nvSpPr>
        <p:spPr bwMode="auto">
          <a:xfrm>
            <a:off x="3619244" y="30816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3" name="AutoShape 50"/>
          <p:cNvSpPr>
            <a:spLocks noChangeArrowheads="1"/>
          </p:cNvSpPr>
          <p:nvPr/>
        </p:nvSpPr>
        <p:spPr bwMode="auto">
          <a:xfrm>
            <a:off x="5271522" y="30816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4" name="AutoShape 51"/>
          <p:cNvSpPr>
            <a:spLocks noChangeArrowheads="1"/>
          </p:cNvSpPr>
          <p:nvPr/>
        </p:nvSpPr>
        <p:spPr bwMode="auto">
          <a:xfrm>
            <a:off x="6766100" y="30816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7" name="上箭头 66"/>
          <p:cNvSpPr/>
          <p:nvPr/>
        </p:nvSpPr>
        <p:spPr>
          <a:xfrm>
            <a:off x="5694172" y="3701123"/>
            <a:ext cx="160782" cy="260926"/>
          </a:xfrm>
          <a:prstGeom prst="upArrow">
            <a:avLst>
              <a:gd name="adj1" fmla="val 50000"/>
              <a:gd name="adj2" fmla="val 57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5767716" y="3753928"/>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改变编码</a:t>
            </a:r>
          </a:p>
        </p:txBody>
      </p:sp>
      <p:sp>
        <p:nvSpPr>
          <p:cNvPr id="6" name="文本框 5">
            <a:extLst>
              <a:ext uri="{FF2B5EF4-FFF2-40B4-BE49-F238E27FC236}">
                <a16:creationId xmlns:a16="http://schemas.microsoft.com/office/drawing/2014/main" id="{2AB2E0BD-861D-E064-D6F6-991FE737FC4B}"/>
              </a:ext>
            </a:extLst>
          </p:cNvPr>
          <p:cNvSpPr txBox="1"/>
          <p:nvPr/>
        </p:nvSpPr>
        <p:spPr>
          <a:xfrm>
            <a:off x="486226" y="1001290"/>
            <a:ext cx="8129014" cy="470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eaLnBrk="0" hangingPunct="0">
              <a:lnSpc>
                <a:spcPts val="3300"/>
              </a:lnSpc>
              <a:buClr>
                <a:srgbClr val="0070C0"/>
              </a:buClr>
              <a:buFont typeface="Wingdings" pitchFamily="2" charset="2"/>
              <a:buChar char="l"/>
              <a:defRPr sz="2000" b="1">
                <a:latin typeface="微软雅黑" pitchFamily="34" charset="-122"/>
                <a:ea typeface="微软雅黑" pitchFamily="34" charset="-122"/>
              </a:defRPr>
            </a:lvl1pPr>
          </a:lstStyle>
          <a:p>
            <a:r>
              <a:rPr lang="en-US" altLang="zh-CN" dirty="0"/>
              <a:t>PPP</a:t>
            </a:r>
            <a:r>
              <a:rPr lang="zh-CN" altLang="en-US" dirty="0"/>
              <a:t>将转义符定义为</a:t>
            </a:r>
            <a:r>
              <a:rPr lang="en-US" altLang="zh-CN" dirty="0"/>
              <a:t>0x7D</a:t>
            </a:r>
            <a:r>
              <a:rPr lang="zh-CN" altLang="en-US" dirty="0"/>
              <a:t>，被转义的字符与</a:t>
            </a:r>
            <a:r>
              <a:rPr lang="en-US" altLang="zh-CN" dirty="0"/>
              <a:t>0x20</a:t>
            </a:r>
            <a:r>
              <a:rPr lang="zh-CN" altLang="en-US" dirty="0"/>
              <a:t>进行异或操作。</a:t>
            </a:r>
          </a:p>
        </p:txBody>
      </p:sp>
      <p:sp>
        <p:nvSpPr>
          <p:cNvPr id="71" name="文本框 70">
            <a:extLst>
              <a:ext uri="{FF2B5EF4-FFF2-40B4-BE49-F238E27FC236}">
                <a16:creationId xmlns:a16="http://schemas.microsoft.com/office/drawing/2014/main" id="{141703E3-0EA0-124D-49B4-20F1069A78D8}"/>
              </a:ext>
            </a:extLst>
          </p:cNvPr>
          <p:cNvSpPr txBox="1"/>
          <p:nvPr/>
        </p:nvSpPr>
        <p:spPr>
          <a:xfrm>
            <a:off x="2571078" y="2519282"/>
            <a:ext cx="510947"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b="1">
                <a:latin typeface="微软雅黑" pitchFamily="34" charset="-122"/>
                <a:ea typeface="微软雅黑" pitchFamily="34" charset="-122"/>
              </a:defRPr>
            </a:lvl1pPr>
          </a:lstStyle>
          <a:p>
            <a:pPr algn="ctr"/>
            <a:r>
              <a:rPr lang="zh-CN" altLang="en-US" dirty="0"/>
              <a:t>异或</a:t>
            </a:r>
            <a:r>
              <a:rPr lang="en-US" altLang="zh-CN" dirty="0"/>
              <a:t>20</a:t>
            </a:r>
            <a:endParaRPr lang="zh-CN" altLang="en-US" dirty="0"/>
          </a:p>
        </p:txBody>
      </p:sp>
      <p:sp>
        <p:nvSpPr>
          <p:cNvPr id="72" name="文本框 71">
            <a:extLst>
              <a:ext uri="{FF2B5EF4-FFF2-40B4-BE49-F238E27FC236}">
                <a16:creationId xmlns:a16="http://schemas.microsoft.com/office/drawing/2014/main" id="{875629B4-E6A9-FEBC-D512-FF09E2C05F08}"/>
              </a:ext>
            </a:extLst>
          </p:cNvPr>
          <p:cNvSpPr txBox="1"/>
          <p:nvPr/>
        </p:nvSpPr>
        <p:spPr>
          <a:xfrm>
            <a:off x="3758289" y="2523465"/>
            <a:ext cx="510947"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b="1">
                <a:latin typeface="微软雅黑" pitchFamily="34" charset="-122"/>
                <a:ea typeface="微软雅黑" pitchFamily="34" charset="-122"/>
              </a:defRPr>
            </a:lvl1pPr>
          </a:lstStyle>
          <a:p>
            <a:pPr algn="ctr"/>
            <a:r>
              <a:rPr lang="zh-CN" altLang="en-US" dirty="0"/>
              <a:t>异或</a:t>
            </a:r>
            <a:r>
              <a:rPr lang="en-US" altLang="zh-CN" dirty="0"/>
              <a:t>20</a:t>
            </a:r>
            <a:endParaRPr lang="zh-CN" altLang="en-US" dirty="0"/>
          </a:p>
        </p:txBody>
      </p:sp>
      <p:sp>
        <p:nvSpPr>
          <p:cNvPr id="73" name="文本框 72">
            <a:extLst>
              <a:ext uri="{FF2B5EF4-FFF2-40B4-BE49-F238E27FC236}">
                <a16:creationId xmlns:a16="http://schemas.microsoft.com/office/drawing/2014/main" id="{33D7F24B-1BE2-A99C-9BD8-ACDB2E91CE76}"/>
              </a:ext>
            </a:extLst>
          </p:cNvPr>
          <p:cNvSpPr txBox="1"/>
          <p:nvPr/>
        </p:nvSpPr>
        <p:spPr>
          <a:xfrm>
            <a:off x="6130326" y="2519281"/>
            <a:ext cx="510947"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b="1">
                <a:latin typeface="微软雅黑" pitchFamily="34" charset="-122"/>
                <a:ea typeface="微软雅黑" pitchFamily="34" charset="-122"/>
              </a:defRPr>
            </a:lvl1pPr>
          </a:lstStyle>
          <a:p>
            <a:pPr algn="ctr"/>
            <a:r>
              <a:rPr lang="zh-CN" altLang="en-US" dirty="0"/>
              <a:t>异或</a:t>
            </a:r>
            <a:r>
              <a:rPr lang="en-US" altLang="zh-CN" dirty="0"/>
              <a:t>20</a:t>
            </a:r>
            <a:endParaRPr lang="zh-CN" altLang="en-US" dirty="0"/>
          </a:p>
        </p:txBody>
      </p:sp>
      <p:sp>
        <p:nvSpPr>
          <p:cNvPr id="74" name="文本框 73">
            <a:extLst>
              <a:ext uri="{FF2B5EF4-FFF2-40B4-BE49-F238E27FC236}">
                <a16:creationId xmlns:a16="http://schemas.microsoft.com/office/drawing/2014/main" id="{E841C317-8272-4D2A-A5E4-63803BD2D05C}"/>
              </a:ext>
            </a:extLst>
          </p:cNvPr>
          <p:cNvSpPr txBox="1"/>
          <p:nvPr/>
        </p:nvSpPr>
        <p:spPr>
          <a:xfrm>
            <a:off x="5073584" y="2506924"/>
            <a:ext cx="510947"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b="1">
                <a:latin typeface="微软雅黑" pitchFamily="34" charset="-122"/>
                <a:ea typeface="微软雅黑" pitchFamily="34" charset="-122"/>
              </a:defRPr>
            </a:lvl1pPr>
          </a:lstStyle>
          <a:p>
            <a:pPr algn="ctr"/>
            <a:r>
              <a:rPr lang="zh-CN" altLang="en-US" dirty="0"/>
              <a:t>异或</a:t>
            </a:r>
            <a:r>
              <a:rPr lang="en-US" altLang="zh-CN" dirty="0"/>
              <a:t>20</a:t>
            </a:r>
            <a:endParaRPr lang="zh-CN" altLang="en-US" dirty="0"/>
          </a:p>
        </p:txBody>
      </p:sp>
    </p:spTree>
    <p:extLst>
      <p:ext uri="{BB962C8B-B14F-4D97-AF65-F5344CB8AC3E}">
        <p14:creationId xmlns:p14="http://schemas.microsoft.com/office/powerpoint/2010/main" val="281518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12"/>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0"/>
                                  </p:stCondLst>
                                  <p:childTnLst>
                                    <p:anim calcmode="discrete" valueType="str">
                                      <p:cBhvr>
                                        <p:cTn id="15"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16" fill="hold">
                      <p:stCondLst>
                        <p:cond delay="indefinite"/>
                      </p:stCondLst>
                      <p:childTnLst>
                        <p:par>
                          <p:cTn id="17" fill="hold">
                            <p:stCondLst>
                              <p:cond delay="0"/>
                            </p:stCondLst>
                            <p:childTnLst>
                              <p:par>
                                <p:cTn id="18" presetID="35" presetClass="emph" presetSubtype="0" repeatCount="3000" fill="hold" grpId="0" nodeType="clickEffect">
                                  <p:stCondLst>
                                    <p:cond delay="0"/>
                                  </p:stCondLst>
                                  <p:childTnLst>
                                    <p:anim calcmode="discrete" valueType="str">
                                      <p:cBhvr>
                                        <p:cTn id="19" dur="1000" fill="hold"/>
                                        <p:tgtEl>
                                          <p:spTgt spid="14"/>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grpId="0" nodeType="withEffect">
                                  <p:stCondLst>
                                    <p:cond delay="0"/>
                                  </p:stCondLst>
                                  <p:childTnLst>
                                    <p:anim calcmode="discrete" valueType="str">
                                      <p:cBhvr>
                                        <p:cTn id="21"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3000" fill="hold" grpId="0" nodeType="clickEffect">
                                  <p:stCondLst>
                                    <p:cond delay="0"/>
                                  </p:stCondLst>
                                  <p:childTnLst>
                                    <p:anim calcmode="discrete" valueType="str">
                                      <p:cBhvr>
                                        <p:cTn id="25" dur="1000" fill="hold"/>
                                        <p:tgtEl>
                                          <p:spTgt spid="19"/>
                                        </p:tgtEl>
                                        <p:attrNameLst>
                                          <p:attrName>style.visibility</p:attrName>
                                        </p:attrNameLst>
                                      </p:cBhvr>
                                      <p:tavLst>
                                        <p:tav tm="0">
                                          <p:val>
                                            <p:strVal val="hidden"/>
                                          </p:val>
                                        </p:tav>
                                        <p:tav tm="50000">
                                          <p:val>
                                            <p:strVal val="visible"/>
                                          </p:val>
                                        </p:tav>
                                      </p:tavLst>
                                    </p:anim>
                                  </p:childTnLst>
                                </p:cTn>
                              </p:par>
                              <p:par>
                                <p:cTn id="26" presetID="35" presetClass="emph" presetSubtype="0" repeatCount="3000" fill="hold" grpId="0" nodeType="withEffect">
                                  <p:stCondLst>
                                    <p:cond delay="0"/>
                                  </p:stCondLst>
                                  <p:childTnLst>
                                    <p:anim calcmode="discrete" valueType="str">
                                      <p:cBhvr>
                                        <p:cTn id="27"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28" fill="hold">
                      <p:stCondLst>
                        <p:cond delay="indefinite"/>
                      </p:stCondLst>
                      <p:childTnLst>
                        <p:par>
                          <p:cTn id="29" fill="hold">
                            <p:stCondLst>
                              <p:cond delay="0"/>
                            </p:stCondLst>
                            <p:childTnLst>
                              <p:par>
                                <p:cTn id="30" presetID="35" presetClass="emph" presetSubtype="0" repeatCount="3000" fill="hold" grpId="0" nodeType="clickEffect">
                                  <p:stCondLst>
                                    <p:cond delay="0"/>
                                  </p:stCondLst>
                                  <p:childTnLst>
                                    <p:anim calcmode="discrete" valueType="str">
                                      <p:cBhvr>
                                        <p:cTn id="31" dur="1000" fill="hold"/>
                                        <p:tgtEl>
                                          <p:spTgt spid="61"/>
                                        </p:tgtEl>
                                        <p:attrNameLst>
                                          <p:attrName>style.visibility</p:attrName>
                                        </p:attrNameLst>
                                      </p:cBhvr>
                                      <p:tavLst>
                                        <p:tav tm="0">
                                          <p:val>
                                            <p:strVal val="hidden"/>
                                          </p:val>
                                        </p:tav>
                                        <p:tav tm="50000">
                                          <p:val>
                                            <p:strVal val="visible"/>
                                          </p:val>
                                        </p:tav>
                                      </p:tavLst>
                                    </p:anim>
                                  </p:childTnLst>
                                </p:cTn>
                              </p:par>
                              <p:par>
                                <p:cTn id="32" presetID="35" presetClass="emph" presetSubtype="0" repeatCount="3000" fill="hold" grpId="0" nodeType="withEffect">
                                  <p:stCondLst>
                                    <p:cond delay="0"/>
                                  </p:stCondLst>
                                  <p:childTnLst>
                                    <p:anim calcmode="discrete" valueType="str">
                                      <p:cBhvr>
                                        <p:cTn id="33" dur="10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par>
                    <p:cTn id="34" fill="hold">
                      <p:stCondLst>
                        <p:cond delay="indefinite"/>
                      </p:stCondLst>
                      <p:childTnLst>
                        <p:par>
                          <p:cTn id="35" fill="hold">
                            <p:stCondLst>
                              <p:cond delay="0"/>
                            </p:stCondLst>
                            <p:childTnLst>
                              <p:par>
                                <p:cTn id="36" presetID="35" presetClass="emph" presetSubtype="0" repeatCount="3000" fill="hold" grpId="0" nodeType="clickEffect">
                                  <p:stCondLst>
                                    <p:cond delay="0"/>
                                  </p:stCondLst>
                                  <p:childTnLst>
                                    <p:anim calcmode="discrete" valueType="str">
                                      <p:cBhvr>
                                        <p:cTn id="37" dur="1000" fill="hold"/>
                                        <p:tgtEl>
                                          <p:spTgt spid="50"/>
                                        </p:tgtEl>
                                        <p:attrNameLst>
                                          <p:attrName>style.visibility</p:attrName>
                                        </p:attrNameLst>
                                      </p:cBhvr>
                                      <p:tavLst>
                                        <p:tav tm="0">
                                          <p:val>
                                            <p:strVal val="hidden"/>
                                          </p:val>
                                        </p:tav>
                                        <p:tav tm="50000">
                                          <p:val>
                                            <p:strVal val="visible"/>
                                          </p:val>
                                        </p:tav>
                                      </p:tavLst>
                                    </p:anim>
                                  </p:childTnLst>
                                </p:cTn>
                              </p:par>
                            </p:childTnLst>
                          </p:cTn>
                        </p:par>
                      </p:childTnLst>
                    </p:cTn>
                  </p:par>
                  <p:par>
                    <p:cTn id="38" fill="hold">
                      <p:stCondLst>
                        <p:cond delay="indefinite"/>
                      </p:stCondLst>
                      <p:childTnLst>
                        <p:par>
                          <p:cTn id="39" fill="hold">
                            <p:stCondLst>
                              <p:cond delay="0"/>
                            </p:stCondLst>
                            <p:childTnLst>
                              <p:par>
                                <p:cTn id="40" presetID="35" presetClass="emph" presetSubtype="0" repeatCount="3000" fill="hold" grpId="0" nodeType="clickEffect">
                                  <p:stCondLst>
                                    <p:cond delay="0"/>
                                  </p:stCondLst>
                                  <p:childTnLst>
                                    <p:anim calcmode="discrete" valueType="str">
                                      <p:cBhvr>
                                        <p:cTn id="41" dur="1000" fill="hold"/>
                                        <p:tgtEl>
                                          <p:spTgt spid="21"/>
                                        </p:tgtEl>
                                        <p:attrNameLst>
                                          <p:attrName>style.visibility</p:attrName>
                                        </p:attrNameLst>
                                      </p:cBhvr>
                                      <p:tavLst>
                                        <p:tav tm="0">
                                          <p:val>
                                            <p:strVal val="hidden"/>
                                          </p:val>
                                        </p:tav>
                                        <p:tav tm="50000">
                                          <p:val>
                                            <p:strVal val="visible"/>
                                          </p:val>
                                        </p:tav>
                                      </p:tavLst>
                                    </p:anim>
                                  </p:childTnLst>
                                </p:cTn>
                              </p:par>
                            </p:childTnLst>
                          </p:cTn>
                        </p:par>
                      </p:childTnLst>
                    </p:cTn>
                  </p:par>
                  <p:par>
                    <p:cTn id="42" fill="hold">
                      <p:stCondLst>
                        <p:cond delay="indefinite"/>
                      </p:stCondLst>
                      <p:childTnLst>
                        <p:par>
                          <p:cTn id="43" fill="hold">
                            <p:stCondLst>
                              <p:cond delay="0"/>
                            </p:stCondLst>
                            <p:childTnLst>
                              <p:par>
                                <p:cTn id="44" presetID="35" presetClass="emph" presetSubtype="0" repeatCount="3000" fill="hold" grpId="0" nodeType="clickEffect">
                                  <p:stCondLst>
                                    <p:cond delay="0"/>
                                  </p:stCondLst>
                                  <p:childTnLst>
                                    <p:anim calcmode="discrete" valueType="str">
                                      <p:cBhvr>
                                        <p:cTn id="45" dur="10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35" presetClass="emph" presetSubtype="0" repeatCount="3000" fill="hold" grpId="0" nodeType="clickEffect">
                                  <p:stCondLst>
                                    <p:cond delay="0"/>
                                  </p:stCondLst>
                                  <p:childTnLst>
                                    <p:anim calcmode="discrete" valueType="str">
                                      <p:cBhvr>
                                        <p:cTn id="49"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par>
                    <p:cTn id="50" fill="hold">
                      <p:stCondLst>
                        <p:cond delay="indefinite"/>
                      </p:stCondLst>
                      <p:childTnLst>
                        <p:par>
                          <p:cTn id="51" fill="hold">
                            <p:stCondLst>
                              <p:cond delay="0"/>
                            </p:stCondLst>
                            <p:childTnLst>
                              <p:par>
                                <p:cTn id="52" presetID="35" presetClass="emph" presetSubtype="0" repeatCount="3000" fill="hold" grpId="0" nodeType="clickEffect">
                                  <p:stCondLst>
                                    <p:cond delay="0"/>
                                  </p:stCondLst>
                                  <p:childTnLst>
                                    <p:anim calcmode="discrete" valueType="str">
                                      <p:cBhvr>
                                        <p:cTn id="53" dur="1000" fill="hold"/>
                                        <p:tgtEl>
                                          <p:spTgt spid="23"/>
                                        </p:tgtEl>
                                        <p:attrNameLst>
                                          <p:attrName>style.visibility</p:attrName>
                                        </p:attrNameLst>
                                      </p:cBhvr>
                                      <p:tavLst>
                                        <p:tav tm="0">
                                          <p:val>
                                            <p:strVal val="hidden"/>
                                          </p:val>
                                        </p:tav>
                                        <p:tav tm="50000">
                                          <p:val>
                                            <p:strVal val="visible"/>
                                          </p:val>
                                        </p:tav>
                                      </p:tavLst>
                                    </p:anim>
                                  </p:childTnLst>
                                </p:cTn>
                              </p:par>
                            </p:childTnLst>
                          </p:cTn>
                        </p:par>
                      </p:childTnLst>
                    </p:cTn>
                  </p:par>
                  <p:par>
                    <p:cTn id="54" fill="hold">
                      <p:stCondLst>
                        <p:cond delay="indefinite"/>
                      </p:stCondLst>
                      <p:childTnLst>
                        <p:par>
                          <p:cTn id="55" fill="hold">
                            <p:stCondLst>
                              <p:cond delay="0"/>
                            </p:stCondLst>
                            <p:childTnLst>
                              <p:par>
                                <p:cTn id="56" presetID="35" presetClass="emph" presetSubtype="0" repeatCount="3000" fill="hold" grpId="0" nodeType="clickEffect">
                                  <p:stCondLst>
                                    <p:cond delay="0"/>
                                  </p:stCondLst>
                                  <p:childTnLst>
                                    <p:anim calcmode="discrete" valueType="str">
                                      <p:cBhvr>
                                        <p:cTn id="57" dur="1000" fill="hold"/>
                                        <p:tgtEl>
                                          <p:spTgt spid="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9" grpId="0" animBg="1"/>
      <p:bldP spid="21" grpId="0" animBg="1"/>
      <p:bldP spid="23" grpId="0" animBg="1"/>
      <p:bldP spid="25" grpId="0" animBg="1"/>
      <p:bldP spid="38" grpId="0" animBg="1"/>
      <p:bldP spid="50" grpId="0" animBg="1"/>
      <p:bldP spid="61" grpId="0" animBg="1"/>
      <p:bldP spid="62" grpId="0" animBg="1"/>
      <p:bldP spid="63" grpId="0" animBg="1"/>
      <p:bldP spid="64" grpId="0" animBg="1"/>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78848" y="597945"/>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零比特填充</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0" y="1038849"/>
            <a:ext cx="8129015"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7" name="AutoShape 6"/>
          <p:cNvSpPr>
            <a:spLocks noChangeArrowheads="1"/>
          </p:cNvSpPr>
          <p:nvPr/>
        </p:nvSpPr>
        <p:spPr bwMode="auto">
          <a:xfrm>
            <a:off x="4781155" y="1362321"/>
            <a:ext cx="1460923" cy="334800"/>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8"/>
          <p:cNvSpPr>
            <a:spLocks noChangeArrowheads="1"/>
          </p:cNvSpPr>
          <p:nvPr/>
        </p:nvSpPr>
        <p:spPr bwMode="auto">
          <a:xfrm>
            <a:off x="4165257" y="1360834"/>
            <a:ext cx="33102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0 1 1 1 1 1 1 0 </a:t>
            </a:r>
            <a:r>
              <a:rPr kumimoji="1" lang="en-US" altLang="zh-CN" sz="1600" b="1" dirty="0">
                <a:latin typeface="微软雅黑" pitchFamily="34" charset="-122"/>
                <a:ea typeface="微软雅黑" pitchFamily="34" charset="-122"/>
              </a:rPr>
              <a:t>0</a:t>
            </a:r>
            <a:r>
              <a:rPr kumimoji="1" lang="en-US" altLang="zh-CN" sz="1600" b="1" dirty="0">
                <a:solidFill>
                  <a:srgbClr val="0000FF"/>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0 1 0 1 0</a:t>
            </a:r>
          </a:p>
        </p:txBody>
      </p:sp>
      <p:sp>
        <p:nvSpPr>
          <p:cNvPr id="9" name="Rectangle 7"/>
          <p:cNvSpPr>
            <a:spLocks noChangeArrowheads="1"/>
          </p:cNvSpPr>
          <p:nvPr/>
        </p:nvSpPr>
        <p:spPr bwMode="auto">
          <a:xfrm>
            <a:off x="1477818" y="1294708"/>
            <a:ext cx="268743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信息字段中</a:t>
            </a:r>
            <a:r>
              <a:rPr kumimoji="1" lang="zh-CN" altLang="en-US" sz="1400" b="1" dirty="0">
                <a:solidFill>
                  <a:srgbClr val="C00000"/>
                </a:solidFill>
                <a:latin typeface="微软雅黑" pitchFamily="34" charset="-122"/>
                <a:ea typeface="微软雅黑" pitchFamily="34" charset="-122"/>
              </a:rPr>
              <a:t>出现</a:t>
            </a:r>
            <a:r>
              <a:rPr kumimoji="1" lang="zh-CN" altLang="en-US" sz="1400" b="1" dirty="0">
                <a:latin typeface="微软雅黑" pitchFamily="34" charset="-122"/>
                <a:ea typeface="微软雅黑" pitchFamily="34" charset="-122"/>
              </a:rPr>
              <a:t>了和标志字段 </a:t>
            </a:r>
            <a:r>
              <a:rPr kumimoji="1" lang="en-US" altLang="zh-CN" sz="1400" b="1" dirty="0">
                <a:latin typeface="微软雅黑" pitchFamily="34" charset="-122"/>
                <a:ea typeface="微软雅黑" pitchFamily="34" charset="-122"/>
              </a:rPr>
              <a:t>F </a:t>
            </a:r>
            <a:r>
              <a:rPr kumimoji="1" lang="zh-CN" altLang="en-US" sz="1400" b="1" dirty="0">
                <a:latin typeface="微软雅黑" pitchFamily="34" charset="-122"/>
                <a:ea typeface="微软雅黑" pitchFamily="34" charset="-122"/>
              </a:rPr>
              <a:t>完全一样的 </a:t>
            </a:r>
            <a:r>
              <a:rPr kumimoji="1" lang="en-US" altLang="zh-CN" sz="1400" b="1" dirty="0">
                <a:latin typeface="微软雅黑" pitchFamily="34" charset="-122"/>
                <a:ea typeface="微软雅黑" pitchFamily="34" charset="-122"/>
              </a:rPr>
              <a:t>8 </a:t>
            </a:r>
            <a:r>
              <a:rPr kumimoji="1" lang="zh-CN" altLang="en-US" sz="1400" b="1" dirty="0">
                <a:latin typeface="微软雅黑" pitchFamily="34" charset="-122"/>
                <a:ea typeface="微软雅黑" pitchFamily="34" charset="-122"/>
              </a:rPr>
              <a:t>比特组合 </a:t>
            </a:r>
            <a:r>
              <a:rPr kumimoji="1" lang="en-US" altLang="zh-CN" sz="1400" b="1" dirty="0">
                <a:solidFill>
                  <a:srgbClr val="0000FF"/>
                </a:solidFill>
                <a:latin typeface="微软雅黑" pitchFamily="34" charset="-122"/>
                <a:ea typeface="微软雅黑" pitchFamily="34" charset="-122"/>
              </a:rPr>
              <a:t>0x7E</a:t>
            </a:r>
            <a:endParaRPr kumimoji="1" lang="zh-CN" altLang="en-US" sz="1400" b="1" dirty="0">
              <a:solidFill>
                <a:srgbClr val="0000FF"/>
              </a:solidFill>
              <a:latin typeface="微软雅黑" pitchFamily="34" charset="-122"/>
              <a:ea typeface="微软雅黑" pitchFamily="34" charset="-122"/>
            </a:endParaRPr>
          </a:p>
        </p:txBody>
      </p:sp>
      <p:sp>
        <p:nvSpPr>
          <p:cNvPr id="10" name="Rectangle 11"/>
          <p:cNvSpPr>
            <a:spLocks noChangeArrowheads="1"/>
          </p:cNvSpPr>
          <p:nvPr/>
        </p:nvSpPr>
        <p:spPr bwMode="auto">
          <a:xfrm>
            <a:off x="4493497" y="1820455"/>
            <a:ext cx="21848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CC00CC"/>
                </a:solidFill>
                <a:latin typeface="微软雅黑" pitchFamily="34" charset="-122"/>
                <a:ea typeface="微软雅黑" pitchFamily="34" charset="-122"/>
              </a:rPr>
              <a:t>会被误认为是标志字段 </a:t>
            </a:r>
            <a:r>
              <a:rPr kumimoji="1" lang="en-US" altLang="zh-CN" sz="1400" b="1" dirty="0">
                <a:solidFill>
                  <a:srgbClr val="CC00CC"/>
                </a:solidFill>
                <a:latin typeface="微软雅黑" pitchFamily="34" charset="-122"/>
                <a:ea typeface="微软雅黑" pitchFamily="34" charset="-122"/>
              </a:rPr>
              <a:t>F </a:t>
            </a:r>
          </a:p>
        </p:txBody>
      </p:sp>
      <p:sp>
        <p:nvSpPr>
          <p:cNvPr id="11" name="AutoShape 18"/>
          <p:cNvSpPr>
            <a:spLocks/>
          </p:cNvSpPr>
          <p:nvPr/>
        </p:nvSpPr>
        <p:spPr bwMode="auto">
          <a:xfrm rot="16200000">
            <a:off x="5428301" y="1070747"/>
            <a:ext cx="160966" cy="1429646"/>
          </a:xfrm>
          <a:prstGeom prst="leftBrace">
            <a:avLst>
              <a:gd name="adj1" fmla="val 5459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AutoShape 19"/>
          <p:cNvSpPr>
            <a:spLocks noChangeArrowheads="1"/>
          </p:cNvSpPr>
          <p:nvPr/>
        </p:nvSpPr>
        <p:spPr bwMode="auto">
          <a:xfrm>
            <a:off x="4823643" y="2260105"/>
            <a:ext cx="1619839" cy="332884"/>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4"/>
          <p:cNvSpPr>
            <a:spLocks noChangeArrowheads="1"/>
          </p:cNvSpPr>
          <p:nvPr/>
        </p:nvSpPr>
        <p:spPr bwMode="auto">
          <a:xfrm>
            <a:off x="5935392" y="2279704"/>
            <a:ext cx="162715" cy="286378"/>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865950" y="2349391"/>
            <a:ext cx="205184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在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 </a:t>
            </a:r>
            <a:r>
              <a:rPr kumimoji="1" lang="zh-CN" altLang="en-US" sz="1400" b="1" dirty="0">
                <a:solidFill>
                  <a:srgbClr val="0000FF"/>
                </a:solidFill>
                <a:latin typeface="微软雅黑" pitchFamily="34" charset="-122"/>
                <a:ea typeface="微软雅黑" pitchFamily="34" charset="-122"/>
              </a:rPr>
              <a:t>之后</a:t>
            </a:r>
          </a:p>
          <a:p>
            <a:pPr defTabSz="762000" eaLnBrk="0" hangingPunct="0"/>
            <a:r>
              <a:rPr kumimoji="1" lang="zh-CN" altLang="en-US" sz="1400" b="1" dirty="0">
                <a:solidFill>
                  <a:srgbClr val="C00000"/>
                </a:solidFill>
                <a:latin typeface="微软雅黑" pitchFamily="34" charset="-122"/>
                <a:ea typeface="微软雅黑" pitchFamily="34" charset="-122"/>
              </a:rPr>
              <a:t>填入</a:t>
            </a:r>
            <a:r>
              <a:rPr kumimoji="1" lang="zh-CN" altLang="en-US" sz="1400" b="1" dirty="0">
                <a:solidFill>
                  <a:srgbClr val="0000FF"/>
                </a:solidFill>
                <a:latin typeface="微软雅黑" pitchFamily="34" charset="-122"/>
                <a:ea typeface="微软雅黑" pitchFamily="34" charset="-122"/>
              </a:rPr>
              <a:t>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再发送出去</a:t>
            </a:r>
          </a:p>
        </p:txBody>
      </p:sp>
      <p:sp>
        <p:nvSpPr>
          <p:cNvPr id="16" name="AutoShape 12"/>
          <p:cNvSpPr>
            <a:spLocks noChangeArrowheads="1"/>
          </p:cNvSpPr>
          <p:nvPr/>
        </p:nvSpPr>
        <p:spPr bwMode="auto">
          <a:xfrm rot="16200000">
            <a:off x="5913007" y="2636350"/>
            <a:ext cx="202228" cy="104223"/>
          </a:xfrm>
          <a:prstGeom prst="rightArrow">
            <a:avLst>
              <a:gd name="adj1" fmla="val 50000"/>
              <a:gd name="adj2" fmla="val 105112"/>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13"/>
          <p:cNvSpPr>
            <a:spLocks noChangeArrowheads="1"/>
          </p:cNvSpPr>
          <p:nvPr/>
        </p:nvSpPr>
        <p:spPr bwMode="auto">
          <a:xfrm>
            <a:off x="4724057" y="2754375"/>
            <a:ext cx="1655904"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填入</a:t>
            </a:r>
            <a:r>
              <a:rPr kumimoji="1" lang="zh-CN" altLang="en-US"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18" name="Rectangle 16"/>
          <p:cNvSpPr>
            <a:spLocks noChangeArrowheads="1"/>
          </p:cNvSpPr>
          <p:nvPr/>
        </p:nvSpPr>
        <p:spPr bwMode="auto">
          <a:xfrm>
            <a:off x="4188654" y="226210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sp>
        <p:nvSpPr>
          <p:cNvPr id="19" name="AutoShape 20"/>
          <p:cNvSpPr>
            <a:spLocks noChangeArrowheads="1"/>
          </p:cNvSpPr>
          <p:nvPr/>
        </p:nvSpPr>
        <p:spPr bwMode="auto">
          <a:xfrm>
            <a:off x="4832879" y="3199932"/>
            <a:ext cx="1619839" cy="322178"/>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AutoShape 5"/>
          <p:cNvSpPr>
            <a:spLocks noChangeArrowheads="1"/>
          </p:cNvSpPr>
          <p:nvPr/>
        </p:nvSpPr>
        <p:spPr bwMode="auto">
          <a:xfrm>
            <a:off x="5935392" y="3225580"/>
            <a:ext cx="171238" cy="272004"/>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10"/>
          <p:cNvSpPr>
            <a:spLocks noChangeArrowheads="1"/>
          </p:cNvSpPr>
          <p:nvPr/>
        </p:nvSpPr>
        <p:spPr bwMode="auto">
          <a:xfrm>
            <a:off x="2063920" y="3298880"/>
            <a:ext cx="165590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把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a:t>
            </a:r>
          </a:p>
          <a:p>
            <a:pPr algn="ctr" defTabSz="762000" eaLnBrk="0" hangingPunct="0"/>
            <a:r>
              <a:rPr kumimoji="1" lang="zh-CN" altLang="en-US" sz="1400" b="1" dirty="0">
                <a:solidFill>
                  <a:srgbClr val="0000FF"/>
                </a:solidFill>
                <a:latin typeface="微软雅黑" pitchFamily="34" charset="-122"/>
                <a:ea typeface="微软雅黑" pitchFamily="34" charset="-122"/>
              </a:rPr>
              <a:t>之后的比特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solidFill>
                  <a:srgbClr val="C00000"/>
                </a:solidFill>
                <a:latin typeface="微软雅黑" pitchFamily="34" charset="-122"/>
                <a:ea typeface="微软雅黑" pitchFamily="34" charset="-122"/>
              </a:rPr>
              <a:t>删除</a:t>
            </a:r>
          </a:p>
        </p:txBody>
      </p:sp>
      <p:sp>
        <p:nvSpPr>
          <p:cNvPr id="22" name="AutoShape 14"/>
          <p:cNvSpPr>
            <a:spLocks noChangeArrowheads="1"/>
          </p:cNvSpPr>
          <p:nvPr/>
        </p:nvSpPr>
        <p:spPr bwMode="auto">
          <a:xfrm rot="5400000" flipV="1">
            <a:off x="5901227" y="3575579"/>
            <a:ext cx="225788" cy="104223"/>
          </a:xfrm>
          <a:prstGeom prst="rightArrow">
            <a:avLst>
              <a:gd name="adj1" fmla="val 50000"/>
              <a:gd name="adj2" fmla="val 117358"/>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Rectangle 15"/>
          <p:cNvSpPr>
            <a:spLocks noChangeArrowheads="1"/>
          </p:cNvSpPr>
          <p:nvPr/>
        </p:nvSpPr>
        <p:spPr bwMode="auto">
          <a:xfrm>
            <a:off x="4339094" y="3705385"/>
            <a:ext cx="2194513"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删除</a:t>
            </a:r>
            <a:r>
              <a:rPr kumimoji="1" lang="zh-CN" altLang="en-US" sz="1400" b="1" dirty="0">
                <a:latin typeface="微软雅黑" pitchFamily="34" charset="-122"/>
                <a:ea typeface="微软雅黑" pitchFamily="34" charset="-122"/>
              </a:rPr>
              <a:t>填入的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24" name="Rectangle 17"/>
          <p:cNvSpPr>
            <a:spLocks noChangeArrowheads="1"/>
          </p:cNvSpPr>
          <p:nvPr/>
        </p:nvSpPr>
        <p:spPr bwMode="auto">
          <a:xfrm>
            <a:off x="4193438" y="319667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cxnSp>
        <p:nvCxnSpPr>
          <p:cNvPr id="25" name="直接连接符 24"/>
          <p:cNvCxnSpPr/>
          <p:nvPr/>
        </p:nvCxnSpPr>
        <p:spPr>
          <a:xfrm>
            <a:off x="1563272" y="2143771"/>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563272" y="3076094"/>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563272" y="4020198"/>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563272" y="1265422"/>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64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6"/>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0"/>
                                  </p:stCondLst>
                                  <p:childTnLst>
                                    <p:anim calcmode="discrete" valueType="str">
                                      <p:cBhvr>
                                        <p:cTn id="12"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grpId="0" nodeType="clickEffect">
                                  <p:stCondLst>
                                    <p:cond delay="0"/>
                                  </p:stCondLst>
                                  <p:childTnLst>
                                    <p:anim calcmode="discrete" valueType="str">
                                      <p:cBhvr>
                                        <p:cTn id="16" dur="1000" fill="hold"/>
                                        <p:tgtEl>
                                          <p:spTgt spid="20"/>
                                        </p:tgtEl>
                                        <p:attrNameLst>
                                          <p:attrName>style.visibility</p:attrName>
                                        </p:attrNameLst>
                                      </p:cBhvr>
                                      <p:tavLst>
                                        <p:tav tm="0">
                                          <p:val>
                                            <p:strVal val="hidden"/>
                                          </p:val>
                                        </p:tav>
                                        <p:tav tm="50000">
                                          <p:val>
                                            <p:strVal val="visible"/>
                                          </p:val>
                                        </p:tav>
                                      </p:tavLst>
                                    </p:anim>
                                  </p:childTnLst>
                                </p:cTn>
                              </p:par>
                              <p:par>
                                <p:cTn id="17" presetID="35" presetClass="emph" presetSubtype="0" repeatCount="3000" fill="hold" grpId="0" nodeType="withEffect">
                                  <p:stCondLst>
                                    <p:cond delay="0"/>
                                  </p:stCondLst>
                                  <p:childTnLst>
                                    <p:anim calcmode="discrete" valueType="str">
                                      <p:cBhvr>
                                        <p:cTn id="18"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16" grpId="0" animBg="1"/>
      <p:bldP spid="20"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22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490597" y="580952"/>
            <a:ext cx="41456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itchFamily="34" charset="-122"/>
                <a:ea typeface="微软雅黑" pitchFamily="34" charset="-122"/>
              </a:rPr>
              <a:t> </a:t>
            </a:r>
            <a:r>
              <a:rPr lang="en-US" altLang="zh-CN" sz="2400" b="1" dirty="0">
                <a:solidFill>
                  <a:schemeClr val="bg1"/>
                </a:solidFill>
                <a:latin typeface="微软雅黑" pitchFamily="34" charset="-122"/>
                <a:ea typeface="微软雅黑" pitchFamily="34" charset="-122"/>
              </a:rPr>
              <a:t>3.2.3   PPP </a:t>
            </a:r>
            <a:r>
              <a:rPr lang="zh-CN" altLang="en-US" sz="2400" b="1" dirty="0">
                <a:solidFill>
                  <a:schemeClr val="bg1"/>
                </a:solidFill>
                <a:latin typeface="微软雅黑" pitchFamily="34" charset="-122"/>
                <a:ea typeface="微软雅黑" pitchFamily="34" charset="-122"/>
              </a:rPr>
              <a:t>协议的工作状态</a:t>
            </a:r>
          </a:p>
        </p:txBody>
      </p:sp>
      <p:sp>
        <p:nvSpPr>
          <p:cNvPr id="10" name="Rectangle 8"/>
          <p:cNvSpPr>
            <a:spLocks noChangeArrowheads="1"/>
          </p:cNvSpPr>
          <p:nvPr/>
        </p:nvSpPr>
        <p:spPr bwMode="auto">
          <a:xfrm>
            <a:off x="502921" y="1007154"/>
            <a:ext cx="8211311" cy="312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0070C0"/>
              </a:buClr>
            </a:pPr>
            <a:r>
              <a:rPr lang="en-US" altLang="zh-CN" b="1" dirty="0">
                <a:solidFill>
                  <a:srgbClr val="C00000"/>
                </a:solidFill>
                <a:latin typeface="微软雅黑" pitchFamily="34" charset="-122"/>
                <a:ea typeface="微软雅黑" pitchFamily="34" charset="-122"/>
              </a:rPr>
              <a:t>PPP </a:t>
            </a:r>
            <a:r>
              <a:rPr lang="zh-CN" altLang="en-US" b="1" dirty="0">
                <a:solidFill>
                  <a:srgbClr val="C00000"/>
                </a:solidFill>
                <a:latin typeface="微软雅黑" pitchFamily="34" charset="-122"/>
                <a:ea typeface="微软雅黑" pitchFamily="34" charset="-122"/>
              </a:rPr>
              <a:t>链路初始化过程：</a:t>
            </a:r>
            <a:endParaRPr lang="en-US" altLang="zh-CN" b="1" dirty="0">
              <a:solidFill>
                <a:srgbClr val="C00000"/>
              </a:solidFill>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当用户家中的个人电脑通过光纤接入到</a:t>
            </a:r>
            <a:r>
              <a:rPr lang="en-US" altLang="zh-CN" b="1" dirty="0">
                <a:latin typeface="微软雅黑" pitchFamily="34" charset="-122"/>
                <a:ea typeface="微软雅黑" pitchFamily="34" charset="-122"/>
              </a:rPr>
              <a:t>ISP</a:t>
            </a:r>
            <a:r>
              <a:rPr lang="zh-CN" altLang="en-US" b="1" dirty="0">
                <a:latin typeface="微软雅黑" pitchFamily="34" charset="-122"/>
                <a:ea typeface="微软雅黑" pitchFamily="34" charset="-122"/>
              </a:rPr>
              <a:t>后，个人电脑就通过路由器向</a:t>
            </a:r>
            <a:r>
              <a:rPr lang="en-US" altLang="zh-CN" b="1" dirty="0">
                <a:latin typeface="微软雅黑" pitchFamily="34" charset="-122"/>
                <a:ea typeface="微软雅黑" pitchFamily="34" charset="-122"/>
              </a:rPr>
              <a:t>ISP</a:t>
            </a:r>
            <a:r>
              <a:rPr lang="zh-CN" altLang="en-US" b="1" dirty="0">
                <a:latin typeface="微软雅黑" pitchFamily="34" charset="-122"/>
                <a:ea typeface="微软雅黑" pitchFamily="34" charset="-122"/>
              </a:rPr>
              <a:t>发送一系列的</a:t>
            </a:r>
            <a:r>
              <a:rPr lang="zh-CN" altLang="en-US" b="1" dirty="0">
                <a:solidFill>
                  <a:srgbClr val="0000FF"/>
                </a:solidFill>
                <a:latin typeface="微软雅黑" pitchFamily="34" charset="-122"/>
                <a:ea typeface="微软雅黑" pitchFamily="34" charset="-122"/>
              </a:rPr>
              <a:t>链路控制协议</a:t>
            </a:r>
            <a:r>
              <a:rPr lang="en-US" altLang="zh-CN" b="1" dirty="0">
                <a:latin typeface="微软雅黑" pitchFamily="34" charset="-122"/>
                <a:ea typeface="微软雅黑" pitchFamily="34" charset="-122"/>
              </a:rPr>
              <a:t>LCP</a:t>
            </a:r>
            <a:r>
              <a:rPr lang="zh-CN" altLang="en-US" b="1" dirty="0">
                <a:latin typeface="微软雅黑" pitchFamily="34" charset="-122"/>
                <a:ea typeface="微软雅黑" pitchFamily="34" charset="-122"/>
              </a:rPr>
              <a:t>分组（封装成多个</a:t>
            </a:r>
            <a:r>
              <a:rPr lang="en-US" altLang="zh-CN" b="1" dirty="0">
                <a:latin typeface="微软雅黑" pitchFamily="34" charset="-122"/>
                <a:ea typeface="微软雅黑" pitchFamily="34" charset="-122"/>
              </a:rPr>
              <a:t>PPP</a:t>
            </a:r>
            <a:r>
              <a:rPr lang="zh-CN" altLang="en-US" b="1" dirty="0">
                <a:latin typeface="微软雅黑" pitchFamily="34" charset="-122"/>
                <a:ea typeface="微软雅黑" pitchFamily="34" charset="-122"/>
              </a:rPr>
              <a:t>帧），以便建立</a:t>
            </a:r>
            <a:r>
              <a:rPr lang="en-US" altLang="zh-CN" b="1" dirty="0">
                <a:latin typeface="微软雅黑" pitchFamily="34" charset="-122"/>
                <a:ea typeface="微软雅黑" pitchFamily="34" charset="-122"/>
              </a:rPr>
              <a:t>LCP</a:t>
            </a:r>
            <a:r>
              <a:rPr lang="zh-CN" altLang="en-US" b="1" dirty="0">
                <a:latin typeface="微软雅黑" pitchFamily="34" charset="-122"/>
                <a:ea typeface="微软雅黑" pitchFamily="34" charset="-122"/>
              </a:rPr>
              <a:t>连接。</a:t>
            </a:r>
            <a:endParaRPr lang="en-US" altLang="zh-CN"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在选择了将要使用的一些</a:t>
            </a:r>
            <a:r>
              <a:rPr lang="en-US" altLang="zh-CN" b="1" dirty="0">
                <a:latin typeface="微软雅黑" pitchFamily="34" charset="-122"/>
                <a:ea typeface="微软雅黑" pitchFamily="34" charset="-122"/>
              </a:rPr>
              <a:t>PPP</a:t>
            </a:r>
            <a:r>
              <a:rPr lang="zh-CN" altLang="en-US" b="1" dirty="0">
                <a:latin typeface="微软雅黑" pitchFamily="34" charset="-122"/>
                <a:ea typeface="微软雅黑" pitchFamily="34" charset="-122"/>
              </a:rPr>
              <a:t>参数后，还要进行网络层配置，</a:t>
            </a:r>
            <a:r>
              <a:rPr lang="zh-CN" altLang="en-US" b="1" dirty="0">
                <a:solidFill>
                  <a:srgbClr val="0000FF"/>
                </a:solidFill>
                <a:latin typeface="微软雅黑" pitchFamily="34" charset="-122"/>
                <a:ea typeface="微软雅黑" pitchFamily="34" charset="-122"/>
              </a:rPr>
              <a:t>网络控制协议</a:t>
            </a:r>
            <a:r>
              <a:rPr lang="en-US" altLang="zh-CN" b="1" dirty="0">
                <a:latin typeface="微软雅黑" pitchFamily="34" charset="-122"/>
                <a:ea typeface="微软雅黑" pitchFamily="34" charset="-122"/>
              </a:rPr>
              <a:t>NCP</a:t>
            </a:r>
            <a:r>
              <a:rPr lang="zh-CN" altLang="en-US" b="1" dirty="0">
                <a:latin typeface="微软雅黑" pitchFamily="34" charset="-122"/>
                <a:ea typeface="微软雅黑" pitchFamily="34" charset="-122"/>
              </a:rPr>
              <a:t>给新接入的用户个人电脑分配一个</a:t>
            </a:r>
            <a:r>
              <a:rPr lang="zh-CN" altLang="en-US" b="1" dirty="0">
                <a:solidFill>
                  <a:srgbClr val="0000FF"/>
                </a:solidFill>
                <a:latin typeface="微软雅黑" pitchFamily="34" charset="-122"/>
                <a:ea typeface="微软雅黑" pitchFamily="34" charset="-122"/>
              </a:rPr>
              <a:t>临时的</a:t>
            </a:r>
            <a:r>
              <a:rPr lang="en-US" altLang="zh-CN" b="1" dirty="0">
                <a:solidFill>
                  <a:srgbClr val="0000FF"/>
                </a:solidFill>
                <a:latin typeface="微软雅黑" pitchFamily="34" charset="-122"/>
                <a:ea typeface="微软雅黑" pitchFamily="34" charset="-122"/>
              </a:rPr>
              <a:t>IP</a:t>
            </a:r>
            <a:r>
              <a:rPr lang="zh-CN" altLang="en-US" b="1" dirty="0">
                <a:solidFill>
                  <a:srgbClr val="0000FF"/>
                </a:solidFill>
                <a:latin typeface="微软雅黑" pitchFamily="34" charset="-122"/>
                <a:ea typeface="微软雅黑" pitchFamily="34" charset="-122"/>
              </a:rPr>
              <a:t>地址</a:t>
            </a:r>
            <a:r>
              <a:rPr lang="zh-CN" altLang="en-US" b="1" dirty="0">
                <a:latin typeface="微软雅黑" pitchFamily="34" charset="-122"/>
                <a:ea typeface="微软雅黑" pitchFamily="34" charset="-122"/>
              </a:rPr>
              <a:t>。</a:t>
            </a: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当用户通信完毕时，</a:t>
            </a:r>
            <a:r>
              <a:rPr lang="en-US" altLang="zh-CN" b="1" dirty="0">
                <a:latin typeface="微软雅黑" pitchFamily="34" charset="-122"/>
                <a:ea typeface="微软雅黑" pitchFamily="34" charset="-122"/>
              </a:rPr>
              <a:t>NCP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网络层连接，收回原来分配出去的</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地址。</a:t>
            </a:r>
            <a:r>
              <a:rPr lang="en-US" altLang="zh-CN" b="1" dirty="0">
                <a:latin typeface="微软雅黑" pitchFamily="34" charset="-122"/>
                <a:ea typeface="微软雅黑" pitchFamily="34" charset="-122"/>
              </a:rPr>
              <a:t>LCP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数据链路层连接。最后</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的是物理层的连接。</a:t>
            </a:r>
          </a:p>
        </p:txBody>
      </p:sp>
    </p:spTree>
    <p:extLst>
      <p:ext uri="{BB962C8B-B14F-4D97-AF65-F5344CB8AC3E}">
        <p14:creationId xmlns:p14="http://schemas.microsoft.com/office/powerpoint/2010/main" val="360277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1000"/>
                                        <p:tgtEl>
                                          <p:spTgt spid="10">
                                            <p:txEl>
                                              <p:pRg st="3" end="3"/>
                                            </p:txEl>
                                          </p:spTgt>
                                        </p:tgtEl>
                                      </p:cBhvr>
                                    </p:animEffect>
                                    <p:anim calcmode="lin" valueType="num">
                                      <p:cBhvr>
                                        <p:cTn id="22"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44"/>
          <p:cNvSpPr/>
          <p:nvPr/>
        </p:nvSpPr>
        <p:spPr>
          <a:xfrm>
            <a:off x="960582" y="1024403"/>
            <a:ext cx="7232074" cy="34884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49" name="Rectangle 4"/>
          <p:cNvSpPr>
            <a:spLocks noChangeArrowheads="1"/>
          </p:cNvSpPr>
          <p:nvPr/>
        </p:nvSpPr>
        <p:spPr bwMode="auto">
          <a:xfrm>
            <a:off x="4030009" y="1154855"/>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链路静止</a:t>
            </a:r>
          </a:p>
        </p:txBody>
      </p:sp>
      <p:sp>
        <p:nvSpPr>
          <p:cNvPr id="50" name="Rectangle 5"/>
          <p:cNvSpPr>
            <a:spLocks noChangeArrowheads="1"/>
          </p:cNvSpPr>
          <p:nvPr/>
        </p:nvSpPr>
        <p:spPr bwMode="auto">
          <a:xfrm>
            <a:off x="4030009" y="1855402"/>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链路建立</a:t>
            </a:r>
          </a:p>
        </p:txBody>
      </p:sp>
      <p:sp>
        <p:nvSpPr>
          <p:cNvPr id="51" name="Rectangle 6"/>
          <p:cNvSpPr>
            <a:spLocks noChangeArrowheads="1"/>
          </p:cNvSpPr>
          <p:nvPr/>
        </p:nvSpPr>
        <p:spPr bwMode="auto">
          <a:xfrm>
            <a:off x="4030009"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鉴别</a:t>
            </a:r>
          </a:p>
        </p:txBody>
      </p:sp>
      <p:sp>
        <p:nvSpPr>
          <p:cNvPr id="52" name="Rectangle 7"/>
          <p:cNvSpPr>
            <a:spLocks noChangeArrowheads="1"/>
          </p:cNvSpPr>
          <p:nvPr/>
        </p:nvSpPr>
        <p:spPr bwMode="auto">
          <a:xfrm>
            <a:off x="4030009" y="3256496"/>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网络层协议</a:t>
            </a:r>
          </a:p>
        </p:txBody>
      </p:sp>
      <p:sp>
        <p:nvSpPr>
          <p:cNvPr id="53" name="Rectangle 8"/>
          <p:cNvSpPr>
            <a:spLocks noChangeArrowheads="1"/>
          </p:cNvSpPr>
          <p:nvPr/>
        </p:nvSpPr>
        <p:spPr bwMode="auto">
          <a:xfrm>
            <a:off x="4030009" y="3957953"/>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链路打开</a:t>
            </a:r>
          </a:p>
        </p:txBody>
      </p:sp>
      <p:sp>
        <p:nvSpPr>
          <p:cNvPr id="54" name="Rectangle 9"/>
          <p:cNvSpPr>
            <a:spLocks noChangeArrowheads="1"/>
          </p:cNvSpPr>
          <p:nvPr/>
        </p:nvSpPr>
        <p:spPr bwMode="auto">
          <a:xfrm>
            <a:off x="1725633"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链路终止</a:t>
            </a:r>
          </a:p>
        </p:txBody>
      </p:sp>
      <p:sp>
        <p:nvSpPr>
          <p:cNvPr id="63" name="Line 19"/>
          <p:cNvSpPr>
            <a:spLocks noChangeShapeType="1"/>
          </p:cNvSpPr>
          <p:nvPr/>
        </p:nvSpPr>
        <p:spPr bwMode="auto">
          <a:xfrm>
            <a:off x="4523803" y="142415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Line 20"/>
          <p:cNvSpPr>
            <a:spLocks noChangeShapeType="1"/>
          </p:cNvSpPr>
          <p:nvPr/>
        </p:nvSpPr>
        <p:spPr bwMode="auto">
          <a:xfrm>
            <a:off x="4523803" y="2124704"/>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5" name="Line 21"/>
          <p:cNvSpPr>
            <a:spLocks noChangeShapeType="1"/>
          </p:cNvSpPr>
          <p:nvPr/>
        </p:nvSpPr>
        <p:spPr bwMode="auto">
          <a:xfrm>
            <a:off x="4523803" y="2826160"/>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6" name="Line 22"/>
          <p:cNvSpPr>
            <a:spLocks noChangeShapeType="1"/>
          </p:cNvSpPr>
          <p:nvPr/>
        </p:nvSpPr>
        <p:spPr bwMode="auto">
          <a:xfrm>
            <a:off x="4523803" y="3526708"/>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Line 23"/>
          <p:cNvSpPr>
            <a:spLocks noChangeShapeType="1"/>
          </p:cNvSpPr>
          <p:nvPr/>
        </p:nvSpPr>
        <p:spPr bwMode="auto">
          <a:xfrm flipH="1">
            <a:off x="2713222" y="2690600"/>
            <a:ext cx="1316786" cy="910"/>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8" name="Freeform 24"/>
          <p:cNvSpPr>
            <a:spLocks/>
          </p:cNvSpPr>
          <p:nvPr/>
        </p:nvSpPr>
        <p:spPr bwMode="auto">
          <a:xfrm>
            <a:off x="2220413" y="2831619"/>
            <a:ext cx="1809595" cy="1251887"/>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9" name="Freeform 25"/>
          <p:cNvSpPr>
            <a:spLocks/>
          </p:cNvSpPr>
          <p:nvPr/>
        </p:nvSpPr>
        <p:spPr bwMode="auto">
          <a:xfrm flipV="1">
            <a:off x="2220413" y="1212173"/>
            <a:ext cx="1809595" cy="1355604"/>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0" name="Freeform 26"/>
          <p:cNvSpPr>
            <a:spLocks/>
          </p:cNvSpPr>
          <p:nvPr/>
        </p:nvSpPr>
        <p:spPr bwMode="auto">
          <a:xfrm>
            <a:off x="3096628" y="1334996"/>
            <a:ext cx="933380" cy="663246"/>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1" name="Text Box 27"/>
          <p:cNvSpPr txBox="1">
            <a:spLocks noChangeArrowheads="1"/>
          </p:cNvSpPr>
          <p:nvPr/>
        </p:nvSpPr>
        <p:spPr bwMode="auto">
          <a:xfrm>
            <a:off x="4561257" y="1502769"/>
            <a:ext cx="144142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物理层连接建立</a:t>
            </a:r>
          </a:p>
        </p:txBody>
      </p:sp>
      <p:sp>
        <p:nvSpPr>
          <p:cNvPr id="72" name="Text Box 28"/>
          <p:cNvSpPr txBox="1">
            <a:spLocks noChangeArrowheads="1"/>
          </p:cNvSpPr>
          <p:nvPr/>
        </p:nvSpPr>
        <p:spPr bwMode="auto">
          <a:xfrm>
            <a:off x="4561257" y="2205999"/>
            <a:ext cx="128734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LCP </a:t>
            </a:r>
            <a:r>
              <a:rPr lang="zh-CN" altLang="en-US" sz="1400" b="1">
                <a:solidFill>
                  <a:srgbClr val="CC00CC"/>
                </a:solidFill>
                <a:latin typeface="微软雅黑" pitchFamily="34" charset="-122"/>
                <a:ea typeface="微软雅黑" pitchFamily="34" charset="-122"/>
              </a:rPr>
              <a:t>配置协商</a:t>
            </a:r>
          </a:p>
        </p:txBody>
      </p:sp>
      <p:sp>
        <p:nvSpPr>
          <p:cNvPr id="73" name="Text Box 29"/>
          <p:cNvSpPr txBox="1">
            <a:spLocks noChangeArrowheads="1"/>
          </p:cNvSpPr>
          <p:nvPr/>
        </p:nvSpPr>
        <p:spPr bwMode="auto">
          <a:xfrm>
            <a:off x="4498178" y="2902999"/>
            <a:ext cx="1800493"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鉴别成功或无需鉴别</a:t>
            </a:r>
          </a:p>
        </p:txBody>
      </p:sp>
      <p:sp>
        <p:nvSpPr>
          <p:cNvPr id="74" name="Text Box 30"/>
          <p:cNvSpPr txBox="1">
            <a:spLocks noChangeArrowheads="1"/>
          </p:cNvSpPr>
          <p:nvPr/>
        </p:nvSpPr>
        <p:spPr bwMode="auto">
          <a:xfrm>
            <a:off x="4550415" y="3594942"/>
            <a:ext cx="1346844"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NCP </a:t>
            </a:r>
            <a:r>
              <a:rPr lang="zh-CN" altLang="en-US" sz="1400" b="1">
                <a:solidFill>
                  <a:srgbClr val="CC00CC"/>
                </a:solidFill>
                <a:latin typeface="微软雅黑" pitchFamily="34" charset="-122"/>
                <a:ea typeface="微软雅黑" pitchFamily="34" charset="-122"/>
              </a:rPr>
              <a:t>配置协商</a:t>
            </a:r>
          </a:p>
        </p:txBody>
      </p:sp>
      <p:sp>
        <p:nvSpPr>
          <p:cNvPr id="75" name="Text Box 31"/>
          <p:cNvSpPr txBox="1">
            <a:spLocks noChangeArrowheads="1"/>
          </p:cNvSpPr>
          <p:nvPr/>
        </p:nvSpPr>
        <p:spPr bwMode="auto">
          <a:xfrm>
            <a:off x="1660512" y="3141862"/>
            <a:ext cx="1082348"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latin typeface="微软雅黑" pitchFamily="34" charset="-122"/>
                <a:ea typeface="微软雅黑" pitchFamily="34" charset="-122"/>
              </a:rPr>
              <a:t>链路故障或</a:t>
            </a:r>
          </a:p>
          <a:p>
            <a:pPr algn="ctr"/>
            <a:r>
              <a:rPr lang="zh-CN" altLang="en-US" sz="1400" b="1" dirty="0">
                <a:latin typeface="微软雅黑" pitchFamily="34" charset="-122"/>
                <a:ea typeface="微软雅黑" pitchFamily="34" charset="-122"/>
              </a:rPr>
              <a:t>关闭请求</a:t>
            </a:r>
          </a:p>
        </p:txBody>
      </p:sp>
      <p:sp>
        <p:nvSpPr>
          <p:cNvPr id="76" name="Text Box 32"/>
          <p:cNvSpPr txBox="1">
            <a:spLocks noChangeArrowheads="1"/>
          </p:cNvSpPr>
          <p:nvPr/>
        </p:nvSpPr>
        <p:spPr bwMode="auto">
          <a:xfrm>
            <a:off x="1753815" y="166247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终止</a:t>
            </a:r>
          </a:p>
        </p:txBody>
      </p:sp>
      <p:sp>
        <p:nvSpPr>
          <p:cNvPr id="77" name="Text Box 33"/>
          <p:cNvSpPr txBox="1">
            <a:spLocks noChangeArrowheads="1"/>
          </p:cNvSpPr>
          <p:nvPr/>
        </p:nvSpPr>
        <p:spPr bwMode="auto">
          <a:xfrm>
            <a:off x="2978354" y="2382903"/>
            <a:ext cx="902811"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鉴别失败</a:t>
            </a:r>
          </a:p>
        </p:txBody>
      </p:sp>
      <p:sp>
        <p:nvSpPr>
          <p:cNvPr id="78" name="Text Box 34"/>
          <p:cNvSpPr txBox="1">
            <a:spLocks noChangeArrowheads="1"/>
          </p:cNvSpPr>
          <p:nvPr/>
        </p:nvSpPr>
        <p:spPr bwMode="auto">
          <a:xfrm>
            <a:off x="2740655" y="140472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配置</a:t>
            </a:r>
          </a:p>
          <a:p>
            <a:r>
              <a:rPr lang="zh-CN" altLang="en-US" sz="1400" b="1" dirty="0">
                <a:latin typeface="微软雅黑" pitchFamily="34" charset="-122"/>
                <a:ea typeface="微软雅黑" pitchFamily="34" charset="-122"/>
              </a:rPr>
              <a:t>协商失败</a:t>
            </a:r>
          </a:p>
        </p:txBody>
      </p:sp>
      <p:sp>
        <p:nvSpPr>
          <p:cNvPr id="27" name="Rectangle 10"/>
          <p:cNvSpPr>
            <a:spLocks noChangeArrowheads="1"/>
          </p:cNvSpPr>
          <p:nvPr/>
        </p:nvSpPr>
        <p:spPr bwMode="auto">
          <a:xfrm>
            <a:off x="5903051" y="1154855"/>
            <a:ext cx="1385779"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设备之间无链路</a:t>
            </a:r>
          </a:p>
        </p:txBody>
      </p:sp>
      <p:sp>
        <p:nvSpPr>
          <p:cNvPr id="28" name="Rectangle 11"/>
          <p:cNvSpPr>
            <a:spLocks noChangeArrowheads="1"/>
          </p:cNvSpPr>
          <p:nvPr/>
        </p:nvSpPr>
        <p:spPr bwMode="auto">
          <a:xfrm>
            <a:off x="6007526" y="1855402"/>
            <a:ext cx="1206397"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物理链路</a:t>
            </a:r>
          </a:p>
        </p:txBody>
      </p:sp>
      <p:sp>
        <p:nvSpPr>
          <p:cNvPr id="29" name="Rectangle 12"/>
          <p:cNvSpPr>
            <a:spLocks noChangeArrowheads="1"/>
          </p:cNvSpPr>
          <p:nvPr/>
        </p:nvSpPr>
        <p:spPr bwMode="auto">
          <a:xfrm>
            <a:off x="6007526" y="2555949"/>
            <a:ext cx="1206397" cy="270211"/>
          </a:xfrm>
          <a:prstGeom prst="rect">
            <a:avLst/>
          </a:prstGeom>
          <a:solidFill>
            <a:srgbClr val="99FFCC"/>
          </a:solidFill>
          <a:ln w="12700">
            <a:solidFill>
              <a:schemeClr val="tx1"/>
            </a:solidFill>
            <a:miter lim="800000"/>
            <a:headEnd/>
            <a:tailEnd/>
          </a:ln>
          <a:effectLst/>
        </p:spPr>
        <p:txBody>
          <a:bodyPr wrap="none" anchor="ctr"/>
          <a:lstStyle/>
          <a:p>
            <a:pPr algn="ct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0" name="Rectangle 13"/>
          <p:cNvSpPr>
            <a:spLocks noChangeArrowheads="1"/>
          </p:cNvSpPr>
          <p:nvPr/>
        </p:nvSpPr>
        <p:spPr bwMode="auto">
          <a:xfrm>
            <a:off x="5769005" y="3256496"/>
            <a:ext cx="1654853" cy="27021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a:latin typeface="微软雅黑" pitchFamily="34" charset="-122"/>
                <a:ea typeface="微软雅黑" pitchFamily="34" charset="-122"/>
              </a:rPr>
              <a:t>已鉴别的 </a:t>
            </a: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1" name="Rectangle 14"/>
          <p:cNvSpPr>
            <a:spLocks noChangeArrowheads="1"/>
          </p:cNvSpPr>
          <p:nvPr/>
        </p:nvSpPr>
        <p:spPr bwMode="auto">
          <a:xfrm>
            <a:off x="5680300" y="3888809"/>
            <a:ext cx="1810581" cy="484924"/>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已鉴别的 </a:t>
            </a: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NCP </a:t>
            </a:r>
            <a:r>
              <a:rPr lang="zh-CN" altLang="en-US" sz="1400" b="1" dirty="0">
                <a:latin typeface="微软雅黑" pitchFamily="34" charset="-122"/>
                <a:ea typeface="微软雅黑" pitchFamily="34" charset="-122"/>
              </a:rPr>
              <a:t>链路</a:t>
            </a:r>
          </a:p>
        </p:txBody>
      </p:sp>
      <p:sp>
        <p:nvSpPr>
          <p:cNvPr id="32" name="Line 15"/>
          <p:cNvSpPr>
            <a:spLocks noChangeShapeType="1"/>
          </p:cNvSpPr>
          <p:nvPr/>
        </p:nvSpPr>
        <p:spPr bwMode="auto">
          <a:xfrm>
            <a:off x="6610724" y="142415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Line 16"/>
          <p:cNvSpPr>
            <a:spLocks noChangeShapeType="1"/>
          </p:cNvSpPr>
          <p:nvPr/>
        </p:nvSpPr>
        <p:spPr bwMode="auto">
          <a:xfrm>
            <a:off x="6610724" y="2124704"/>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Line 17"/>
          <p:cNvSpPr>
            <a:spLocks noChangeShapeType="1"/>
          </p:cNvSpPr>
          <p:nvPr/>
        </p:nvSpPr>
        <p:spPr bwMode="auto">
          <a:xfrm>
            <a:off x="6610724" y="2826160"/>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Freeform 18"/>
          <p:cNvSpPr>
            <a:spLocks/>
          </p:cNvSpPr>
          <p:nvPr/>
        </p:nvSpPr>
        <p:spPr bwMode="auto">
          <a:xfrm>
            <a:off x="6609738" y="3526708"/>
            <a:ext cx="986" cy="404861"/>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cmpd="sng">
            <a:solidFill>
              <a:srgbClr val="0000CC"/>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6"/>
          <p:cNvSpPr>
            <a:spLocks noChangeArrowheads="1"/>
          </p:cNvSpPr>
          <p:nvPr/>
        </p:nvSpPr>
        <p:spPr bwMode="auto">
          <a:xfrm>
            <a:off x="3414352" y="597945"/>
            <a:ext cx="23054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协议的状态图</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52570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7"/>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8"/>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29"/>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9"/>
          <p:cNvSpPr>
            <a:spLocks noChangeArrowheads="1"/>
          </p:cNvSpPr>
          <p:nvPr/>
        </p:nvSpPr>
        <p:spPr bwMode="auto">
          <a:xfrm>
            <a:off x="2629135" y="3464208"/>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0"/>
          <p:cNvSpPr>
            <a:spLocks noChangeArrowheads="1"/>
          </p:cNvSpPr>
          <p:nvPr/>
        </p:nvSpPr>
        <p:spPr bwMode="auto">
          <a:xfrm>
            <a:off x="2629135" y="2860329"/>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Rectangle 9"/>
          <p:cNvSpPr>
            <a:spLocks noChangeArrowheads="1"/>
          </p:cNvSpPr>
          <p:nvPr/>
        </p:nvSpPr>
        <p:spPr bwMode="auto">
          <a:xfrm>
            <a:off x="2629135" y="223549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0251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6316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 name="Rectangle 27"/>
          <p:cNvSpPr>
            <a:spLocks noChangeArrowheads="1"/>
          </p:cNvSpPr>
          <p:nvPr/>
        </p:nvSpPr>
        <p:spPr bwMode="auto">
          <a:xfrm>
            <a:off x="639730" y="10251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89867" y="1596662"/>
            <a:ext cx="1627651"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3.3  </a:t>
            </a:r>
            <a:r>
              <a:rPr lang="zh-CN" altLang="en-US" sz="2000" b="1" dirty="0">
                <a:solidFill>
                  <a:schemeClr val="bg1"/>
                </a:solidFill>
                <a:latin typeface="微软雅黑" pitchFamily="34" charset="-122"/>
                <a:ea typeface="微软雅黑" pitchFamily="34" charset="-122"/>
              </a:rPr>
              <a:t>以太网</a:t>
            </a:r>
            <a:endParaRPr lang="zh-CN" altLang="fr-FR" sz="2000" b="1" dirty="0">
              <a:solidFill>
                <a:schemeClr val="bg1"/>
              </a:solidFill>
              <a:latin typeface="微软雅黑" pitchFamily="34" charset="-122"/>
              <a:ea typeface="微软雅黑" pitchFamily="34" charset="-122"/>
            </a:endParaRPr>
          </a:p>
        </p:txBody>
      </p:sp>
      <p:sp>
        <p:nvSpPr>
          <p:cNvPr id="8" name="Line 16"/>
          <p:cNvSpPr>
            <a:spLocks noChangeShapeType="1"/>
          </p:cNvSpPr>
          <p:nvPr/>
        </p:nvSpPr>
        <p:spPr bwMode="auto">
          <a:xfrm>
            <a:off x="3637198" y="95375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8"/>
          <p:cNvSpPr>
            <a:spLocks noChangeArrowheads="1"/>
          </p:cNvSpPr>
          <p:nvPr/>
        </p:nvSpPr>
        <p:spPr bwMode="auto">
          <a:xfrm>
            <a:off x="2700573" y="771192"/>
            <a:ext cx="5621391" cy="3077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3.3.1                                    </a:t>
            </a:r>
            <a:r>
              <a:rPr lang="zh-CN" altLang="en-US" sz="2000" b="1" dirty="0">
                <a:solidFill>
                  <a:schemeClr val="bg1"/>
                </a:solidFill>
                <a:latin typeface="微软雅黑" pitchFamily="34" charset="-122"/>
                <a:ea typeface="微软雅黑" pitchFamily="34" charset="-122"/>
              </a:rPr>
              <a:t>局域网中的以太网</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3.3.2                                      CSMA/CD </a:t>
            </a:r>
            <a:r>
              <a:rPr lang="zh-CN" altLang="en-US" sz="2000" b="1" dirty="0">
                <a:solidFill>
                  <a:schemeClr val="bg1"/>
                </a:solidFill>
                <a:latin typeface="微软雅黑" pitchFamily="34" charset="-122"/>
                <a:ea typeface="微软雅黑" pitchFamily="34" charset="-122"/>
              </a:rPr>
              <a:t>协议</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以太网的信道利用率</a:t>
            </a:r>
            <a:endParaRPr lang="en-US" altLang="zh-CN" sz="2000" b="1" dirty="0">
              <a:solidFill>
                <a:schemeClr val="bg1"/>
              </a:solidFill>
              <a:latin typeface="微软雅黑" pitchFamily="34" charset="-122"/>
              <a:ea typeface="微软雅黑" pitchFamily="34" charset="-122"/>
            </a:endParaRP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3.3.4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地址</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3.3.5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22403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21" y="626921"/>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776734" y="584650"/>
            <a:ext cx="35734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3.3.1  </a:t>
            </a:r>
            <a:r>
              <a:rPr lang="zh-CN" altLang="en-US" sz="2400" b="1" dirty="0">
                <a:solidFill>
                  <a:schemeClr val="bg1"/>
                </a:solidFill>
                <a:latin typeface="微软雅黑" pitchFamily="34" charset="-122"/>
                <a:ea typeface="微软雅黑" pitchFamily="34" charset="-122"/>
              </a:rPr>
              <a:t>局域网中的以太网</a:t>
            </a:r>
          </a:p>
        </p:txBody>
      </p:sp>
      <p:sp>
        <p:nvSpPr>
          <p:cNvPr id="9" name="Rectangle 8"/>
          <p:cNvSpPr>
            <a:spLocks noChangeArrowheads="1"/>
          </p:cNvSpPr>
          <p:nvPr/>
        </p:nvSpPr>
        <p:spPr bwMode="auto">
          <a:xfrm>
            <a:off x="502921" y="985082"/>
            <a:ext cx="8129015" cy="343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局域网最主要的</a:t>
            </a:r>
            <a:r>
              <a:rPr lang="zh-CN" altLang="en-US" sz="2000" b="1" dirty="0">
                <a:solidFill>
                  <a:srgbClr val="0000FF"/>
                </a:solidFill>
                <a:latin typeface="微软雅黑" pitchFamily="34" charset="-122"/>
                <a:ea typeface="微软雅黑" pitchFamily="34" charset="-122"/>
              </a:rPr>
              <a:t>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通常覆盖一个相对较小的地理区域，如一个办公室、一栋建筑或一个家庭。</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较高的数据率、较低的时延和较小的误码率。</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网络设备和线路通常由单一组织管理，故障排除和维护相对简单，可靠性较高。</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允许连接的设备共享资源，如文件、打印机和互联网连接。</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由于使用的设备和技术相对简单，局域网的建设和维护成本较低。</a:t>
            </a:r>
          </a:p>
        </p:txBody>
      </p:sp>
    </p:spTree>
    <p:extLst>
      <p:ext uri="{BB962C8B-B14F-4D97-AF65-F5344CB8AC3E}">
        <p14:creationId xmlns:p14="http://schemas.microsoft.com/office/powerpoint/2010/main" val="1412149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局域网拓扑结构</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98" name="组合 97"/>
          <p:cNvGrpSpPr/>
          <p:nvPr/>
        </p:nvGrpSpPr>
        <p:grpSpPr>
          <a:xfrm>
            <a:off x="4900365" y="1232616"/>
            <a:ext cx="3158196" cy="1499947"/>
            <a:chOff x="4247343" y="1113174"/>
            <a:chExt cx="3158196" cy="1499947"/>
          </a:xfrm>
        </p:grpSpPr>
        <p:grpSp>
          <p:nvGrpSpPr>
            <p:cNvPr id="67" name="组合 66"/>
            <p:cNvGrpSpPr/>
            <p:nvPr/>
          </p:nvGrpSpPr>
          <p:grpSpPr>
            <a:xfrm>
              <a:off x="4247343" y="1113174"/>
              <a:ext cx="3158196" cy="1499947"/>
              <a:chOff x="4567219" y="1111319"/>
              <a:chExt cx="5037203" cy="2392359"/>
            </a:xfrm>
          </p:grpSpPr>
          <p:sp>
            <p:nvSpPr>
              <p:cNvPr id="68" name="Line 5"/>
              <p:cNvSpPr>
                <a:spLocks noChangeShapeType="1"/>
              </p:cNvSpPr>
              <p:nvPr/>
            </p:nvSpPr>
            <p:spPr bwMode="auto">
              <a:xfrm>
                <a:off x="6567920" y="2052389"/>
                <a:ext cx="2849846"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0" name="Rectangle 7"/>
              <p:cNvSpPr>
                <a:spLocks noChangeArrowheads="1"/>
              </p:cNvSpPr>
              <p:nvPr/>
            </p:nvSpPr>
            <p:spPr bwMode="auto">
              <a:xfrm>
                <a:off x="6316498"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1" name="Line 8"/>
              <p:cNvSpPr>
                <a:spLocks noChangeShapeType="1"/>
              </p:cNvSpPr>
              <p:nvPr/>
            </p:nvSpPr>
            <p:spPr bwMode="auto">
              <a:xfrm flipV="1">
                <a:off x="7130253" y="1671610"/>
                <a:ext cx="0" cy="3849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2" name="Line 9"/>
              <p:cNvSpPr>
                <a:spLocks noChangeShapeType="1"/>
              </p:cNvSpPr>
              <p:nvPr/>
            </p:nvSpPr>
            <p:spPr bwMode="auto">
              <a:xfrm>
                <a:off x="7633575"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3" name="Line 10"/>
              <p:cNvSpPr>
                <a:spLocks noChangeShapeType="1"/>
              </p:cNvSpPr>
              <p:nvPr/>
            </p:nvSpPr>
            <p:spPr bwMode="auto">
              <a:xfrm flipV="1">
                <a:off x="8264174" y="1637277"/>
                <a:ext cx="0" cy="4296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4" name="Line 11"/>
              <p:cNvSpPr>
                <a:spLocks noChangeShapeType="1"/>
              </p:cNvSpPr>
              <p:nvPr/>
            </p:nvSpPr>
            <p:spPr bwMode="auto">
              <a:xfrm>
                <a:off x="8906344"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9" name="Text Box 16"/>
              <p:cNvSpPr txBox="1">
                <a:spLocks noChangeArrowheads="1"/>
              </p:cNvSpPr>
              <p:nvPr/>
            </p:nvSpPr>
            <p:spPr bwMode="auto">
              <a:xfrm>
                <a:off x="7581534" y="3012785"/>
                <a:ext cx="1153596"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总线网</a:t>
                </a:r>
              </a:p>
            </p:txBody>
          </p:sp>
          <p:sp>
            <p:nvSpPr>
              <p:cNvPr id="80" name="Rectangle 28"/>
              <p:cNvSpPr>
                <a:spLocks noChangeArrowheads="1"/>
              </p:cNvSpPr>
              <p:nvPr/>
            </p:nvSpPr>
            <p:spPr bwMode="auto">
              <a:xfrm>
                <a:off x="4567219" y="1111319"/>
                <a:ext cx="1436884"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匹配电阻</a:t>
                </a:r>
              </a:p>
            </p:txBody>
          </p:sp>
          <p:sp>
            <p:nvSpPr>
              <p:cNvPr id="81" name="Line 29"/>
              <p:cNvSpPr>
                <a:spLocks noChangeShapeType="1"/>
              </p:cNvSpPr>
              <p:nvPr/>
            </p:nvSpPr>
            <p:spPr bwMode="auto">
              <a:xfrm flipH="1" flipV="1">
                <a:off x="5867367" y="1537922"/>
                <a:ext cx="410129" cy="402328"/>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Rectangle 7"/>
              <p:cNvSpPr>
                <a:spLocks noChangeArrowheads="1"/>
              </p:cNvSpPr>
              <p:nvPr/>
            </p:nvSpPr>
            <p:spPr bwMode="auto">
              <a:xfrm>
                <a:off x="9334487"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297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6305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6440" y="187910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8816" y="187910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组合 1"/>
          <p:cNvGrpSpPr/>
          <p:nvPr/>
        </p:nvGrpSpPr>
        <p:grpSpPr>
          <a:xfrm>
            <a:off x="3893955" y="2521266"/>
            <a:ext cx="1703274" cy="1702795"/>
            <a:chOff x="3921663" y="2645032"/>
            <a:chExt cx="1703274" cy="1702795"/>
          </a:xfrm>
        </p:grpSpPr>
        <p:grpSp>
          <p:nvGrpSpPr>
            <p:cNvPr id="34" name="Group 48"/>
            <p:cNvGrpSpPr>
              <a:grpSpLocks/>
            </p:cNvGrpSpPr>
            <p:nvPr/>
          </p:nvGrpSpPr>
          <p:grpSpPr bwMode="auto">
            <a:xfrm>
              <a:off x="4254775" y="2872760"/>
              <a:ext cx="1031899" cy="1475067"/>
              <a:chOff x="3147" y="2357"/>
              <a:chExt cx="957" cy="1482"/>
            </a:xfrm>
          </p:grpSpPr>
          <p:sp>
            <p:nvSpPr>
              <p:cNvPr id="35" name="Line 31"/>
              <p:cNvSpPr>
                <a:spLocks noChangeShapeType="1"/>
              </p:cNvSpPr>
              <p:nvPr/>
            </p:nvSpPr>
            <p:spPr bwMode="auto">
              <a:xfrm flipH="1" flipV="1">
                <a:off x="3147" y="2357"/>
                <a:ext cx="174" cy="16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Line 33"/>
              <p:cNvSpPr>
                <a:spLocks noChangeShapeType="1"/>
              </p:cNvSpPr>
              <p:nvPr/>
            </p:nvSpPr>
            <p:spPr bwMode="auto">
              <a:xfrm flipH="1">
                <a:off x="3925" y="2358"/>
                <a:ext cx="179" cy="1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 name="Line 34"/>
              <p:cNvSpPr>
                <a:spLocks noChangeShapeType="1"/>
              </p:cNvSpPr>
              <p:nvPr/>
            </p:nvSpPr>
            <p:spPr bwMode="auto">
              <a:xfrm flipH="1" flipV="1">
                <a:off x="3938" y="3078"/>
                <a:ext cx="155" cy="16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 name="Line 35"/>
              <p:cNvSpPr>
                <a:spLocks noChangeShapeType="1"/>
              </p:cNvSpPr>
              <p:nvPr/>
            </p:nvSpPr>
            <p:spPr bwMode="auto">
              <a:xfrm flipH="1">
                <a:off x="3181" y="3106"/>
                <a:ext cx="146" cy="1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 name="Oval 36"/>
              <p:cNvSpPr>
                <a:spLocks noChangeArrowheads="1"/>
              </p:cNvSpPr>
              <p:nvPr/>
            </p:nvSpPr>
            <p:spPr bwMode="auto">
              <a:xfrm rot="18840000">
                <a:off x="3164" y="2406"/>
                <a:ext cx="887" cy="827"/>
              </a:xfrm>
              <a:prstGeom prst="ellipse">
                <a:avLst/>
              </a:prstGeom>
              <a:solidFill>
                <a:srgbClr val="00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Rectangle 37"/>
              <p:cNvSpPr>
                <a:spLocks noChangeArrowheads="1"/>
              </p:cNvSpPr>
              <p:nvPr/>
            </p:nvSpPr>
            <p:spPr bwMode="auto">
              <a:xfrm rot="18840000">
                <a:off x="3286" y="2479"/>
                <a:ext cx="89" cy="84"/>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2" name="Rectangle 38"/>
              <p:cNvSpPr>
                <a:spLocks noChangeArrowheads="1"/>
              </p:cNvSpPr>
              <p:nvPr/>
            </p:nvSpPr>
            <p:spPr bwMode="auto">
              <a:xfrm rot="18840000">
                <a:off x="3865" y="3039"/>
                <a:ext cx="117" cy="9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3" name="Rectangle 39"/>
              <p:cNvSpPr>
                <a:spLocks noChangeArrowheads="1"/>
              </p:cNvSpPr>
              <p:nvPr/>
            </p:nvSpPr>
            <p:spPr bwMode="auto">
              <a:xfrm rot="18840000">
                <a:off x="3873" y="2466"/>
                <a:ext cx="91" cy="98"/>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5" name="Rectangle 41"/>
              <p:cNvSpPr>
                <a:spLocks noChangeArrowheads="1"/>
              </p:cNvSpPr>
              <p:nvPr/>
            </p:nvSpPr>
            <p:spPr bwMode="auto">
              <a:xfrm rot="18840000">
                <a:off x="3277" y="3066"/>
                <a:ext cx="102" cy="10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6" name="Arc 42"/>
              <p:cNvSpPr>
                <a:spLocks/>
              </p:cNvSpPr>
              <p:nvPr/>
            </p:nvSpPr>
            <p:spPr bwMode="auto">
              <a:xfrm flipV="1">
                <a:off x="3497" y="2692"/>
                <a:ext cx="390" cy="434"/>
              </a:xfrm>
              <a:custGeom>
                <a:avLst/>
                <a:gdLst>
                  <a:gd name="G0" fmla="+- 3803 0 0"/>
                  <a:gd name="G1" fmla="+- 21600 0 0"/>
                  <a:gd name="G2" fmla="+- 21600 0 0"/>
                  <a:gd name="T0" fmla="*/ 0 w 25403"/>
                  <a:gd name="T1" fmla="*/ 337 h 30101"/>
                  <a:gd name="T2" fmla="*/ 23660 w 25403"/>
                  <a:gd name="T3" fmla="*/ 30101 h 30101"/>
                  <a:gd name="T4" fmla="*/ 3803 w 25403"/>
                  <a:gd name="T5" fmla="*/ 21600 h 30101"/>
                </a:gdLst>
                <a:ahLst/>
                <a:cxnLst>
                  <a:cxn ang="0">
                    <a:pos x="T0" y="T1"/>
                  </a:cxn>
                  <a:cxn ang="0">
                    <a:pos x="T2" y="T3"/>
                  </a:cxn>
                  <a:cxn ang="0">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0000CC"/>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Text Box 47"/>
              <p:cNvSpPr txBox="1">
                <a:spLocks noChangeArrowheads="1"/>
              </p:cNvSpPr>
              <p:nvPr/>
            </p:nvSpPr>
            <p:spPr bwMode="auto">
              <a:xfrm>
                <a:off x="3305" y="3530"/>
                <a:ext cx="67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环形网</a:t>
                </a:r>
              </a:p>
            </p:txBody>
          </p:sp>
        </p:grpSp>
        <p:pic>
          <p:nvPicPr>
            <p:cNvPr id="9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7807"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1663"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7807" y="36634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1663" y="366343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组合 96"/>
          <p:cNvGrpSpPr/>
          <p:nvPr/>
        </p:nvGrpSpPr>
        <p:grpSpPr>
          <a:xfrm>
            <a:off x="1112796" y="1228016"/>
            <a:ext cx="2441654" cy="1754795"/>
            <a:chOff x="1736207" y="1159022"/>
            <a:chExt cx="2441654" cy="1754795"/>
          </a:xfrm>
        </p:grpSpPr>
        <p:grpSp>
          <p:nvGrpSpPr>
            <p:cNvPr id="52" name="组合 51"/>
            <p:cNvGrpSpPr/>
            <p:nvPr/>
          </p:nvGrpSpPr>
          <p:grpSpPr>
            <a:xfrm>
              <a:off x="2015876" y="1458000"/>
              <a:ext cx="2161985" cy="1455817"/>
              <a:chOff x="1582171" y="1733019"/>
              <a:chExt cx="3448285" cy="2321974"/>
            </a:xfrm>
          </p:grpSpPr>
          <p:sp>
            <p:nvSpPr>
              <p:cNvPr id="53"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Line 19"/>
              <p:cNvSpPr>
                <a:spLocks noChangeShapeType="1"/>
              </p:cNvSpPr>
              <p:nvPr/>
            </p:nvSpPr>
            <p:spPr bwMode="auto">
              <a:xfrm flipV="1">
                <a:off x="2626936" y="1733019"/>
                <a:ext cx="0" cy="63309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6" name="Line 21"/>
              <p:cNvSpPr>
                <a:spLocks noChangeShapeType="1"/>
              </p:cNvSpPr>
              <p:nvPr/>
            </p:nvSpPr>
            <p:spPr bwMode="auto">
              <a:xfrm>
                <a:off x="2626936" y="2637291"/>
                <a:ext cx="1023470" cy="601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7"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8" name="Rectangle 23"/>
              <p:cNvSpPr>
                <a:spLocks noChangeArrowheads="1"/>
              </p:cNvSpPr>
              <p:nvPr/>
            </p:nvSpPr>
            <p:spPr bwMode="auto">
              <a:xfrm>
                <a:off x="2278237" y="2275364"/>
                <a:ext cx="560313" cy="437374"/>
              </a:xfrm>
              <a:prstGeom prst="rect">
                <a:avLst/>
              </a:prstGeom>
              <a:solidFill>
                <a:srgbClr val="00FFFF"/>
              </a:solidFill>
              <a:ln w="19050">
                <a:solidFill>
                  <a:schemeClr val="tx1"/>
                </a:solidFill>
                <a:miter lim="800000"/>
                <a:headEnd/>
                <a:tailEnd/>
              </a:ln>
              <a:effectLst/>
            </p:spPr>
            <p:txBody>
              <a:bodyPr wrap="none" anchor="ctr"/>
              <a:lstStyle/>
              <a:p>
                <a:endParaRPr lang="zh-CN" altLang="en-US" sz="1600">
                  <a:latin typeface="微软雅黑" pitchFamily="34" charset="-122"/>
                  <a:ea typeface="微软雅黑" pitchFamily="34" charset="-122"/>
                </a:endParaRPr>
              </a:p>
            </p:txBody>
          </p:sp>
          <p:sp>
            <p:nvSpPr>
              <p:cNvPr id="64" name="Text Box 29"/>
              <p:cNvSpPr txBox="1">
                <a:spLocks noChangeArrowheads="1"/>
              </p:cNvSpPr>
              <p:nvPr/>
            </p:nvSpPr>
            <p:spPr bwMode="auto">
              <a:xfrm>
                <a:off x="1994129" y="3564100"/>
                <a:ext cx="1153597"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星形网</a:t>
                </a:r>
              </a:p>
            </p:txBody>
          </p:sp>
          <p:sp>
            <p:nvSpPr>
              <p:cNvPr id="65" name="Rectangle 31"/>
              <p:cNvSpPr>
                <a:spLocks noChangeArrowheads="1"/>
              </p:cNvSpPr>
              <p:nvPr/>
            </p:nvSpPr>
            <p:spPr bwMode="auto">
              <a:xfrm>
                <a:off x="3879927" y="2435714"/>
                <a:ext cx="1150529"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集线器</a:t>
                </a:r>
              </a:p>
            </p:txBody>
          </p:sp>
          <p:sp>
            <p:nvSpPr>
              <p:cNvPr id="66"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6207"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6207"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65480" y="1159022"/>
              <a:ext cx="407130" cy="40713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3223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nodeType="clickEffect">
                                  <p:stCondLst>
                                    <p:cond delay="0"/>
                                  </p:stCondLst>
                                  <p:childTnLst>
                                    <p:anim calcmode="discrete" valueType="str">
                                      <p:cBhvr>
                                        <p:cTn id="6" dur="1000" fill="hold"/>
                                        <p:tgtEl>
                                          <p:spTgt spid="97"/>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nodeType="clickEffect">
                                  <p:stCondLst>
                                    <p:cond delay="0"/>
                                  </p:stCondLst>
                                  <p:childTnLst>
                                    <p:anim calcmode="discrete" valueType="str">
                                      <p:cBhvr>
                                        <p:cTn id="14" dur="1000" fill="hold"/>
                                        <p:tgtEl>
                                          <p:spTgt spid="9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局域网传输媒体</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pic>
        <p:nvPicPr>
          <p:cNvPr id="10" name="图片 19" descr="UTP.jpg"/>
          <p:cNvPicPr>
            <a:picLocks noChangeAspect="1"/>
          </p:cNvPicPr>
          <p:nvPr/>
        </p:nvPicPr>
        <p:blipFill>
          <a:blip r:embed="rId3" cstate="print"/>
          <a:srcRect l="18561" t="31329" r="43436" b="33200"/>
          <a:stretch>
            <a:fillRect/>
          </a:stretch>
        </p:blipFill>
        <p:spPr bwMode="auto">
          <a:xfrm>
            <a:off x="1025236" y="1337625"/>
            <a:ext cx="2401455" cy="1577370"/>
          </a:xfrm>
          <a:prstGeom prst="rect">
            <a:avLst/>
          </a:prstGeom>
          <a:noFill/>
          <a:ln w="9525">
            <a:noFill/>
            <a:miter lim="800000"/>
            <a:headEnd/>
            <a:tailEnd/>
          </a:ln>
        </p:spPr>
      </p:pic>
      <p:pic>
        <p:nvPicPr>
          <p:cNvPr id="15" name="Picture 4" descr="Fiber Optic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8698" y="2472038"/>
            <a:ext cx="2296089" cy="1614916"/>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EAE5C372-1FCC-95A0-EC94-29E0234CB643}"/>
              </a:ext>
            </a:extLst>
          </p:cNvPr>
          <p:cNvPicPr>
            <a:picLocks noChangeAspect="1"/>
          </p:cNvPicPr>
          <p:nvPr/>
        </p:nvPicPr>
        <p:blipFill>
          <a:blip r:embed="rId5"/>
          <a:stretch>
            <a:fillRect/>
          </a:stretch>
        </p:blipFill>
        <p:spPr>
          <a:xfrm>
            <a:off x="6417688" y="1337625"/>
            <a:ext cx="1836493" cy="1619839"/>
          </a:xfrm>
          <a:prstGeom prst="rect">
            <a:avLst/>
          </a:prstGeom>
        </p:spPr>
      </p:pic>
    </p:spTree>
    <p:extLst>
      <p:ext uri="{BB962C8B-B14F-4D97-AF65-F5344CB8AC3E}">
        <p14:creationId xmlns:p14="http://schemas.microsoft.com/office/powerpoint/2010/main" val="556478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320578" y="59148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共享信道带来的问题</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34452" y="1631731"/>
            <a:ext cx="8129014" cy="28075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1" name="矩形 20"/>
          <p:cNvSpPr/>
          <p:nvPr/>
        </p:nvSpPr>
        <p:spPr>
          <a:xfrm>
            <a:off x="1742238" y="2987068"/>
            <a:ext cx="5713441" cy="1323439"/>
          </a:xfrm>
          <a:prstGeom prst="rect">
            <a:avLst/>
          </a:prstGeom>
        </p:spPr>
        <p:txBody>
          <a:bodyPr wrap="square">
            <a:spAutoFit/>
          </a:bodyPr>
          <a:lstStyle/>
          <a:p>
            <a:pPr algn="ctr" eaLnBrk="0" hangingPunct="0">
              <a:lnSpc>
                <a:spcPts val="2400"/>
              </a:lnSpc>
              <a:buClr>
                <a:srgbClr val="0070C0"/>
              </a:buClr>
            </a:pPr>
            <a:r>
              <a:rPr lang="zh-CN" altLang="en-US" sz="1600" b="1" dirty="0">
                <a:latin typeface="微软雅黑" pitchFamily="34" charset="-122"/>
                <a:ea typeface="微软雅黑" pitchFamily="34" charset="-122"/>
              </a:rPr>
              <a:t>共享的广播信道</a:t>
            </a:r>
            <a:endParaRPr lang="en-US" altLang="zh-CN" sz="1600" b="1" dirty="0">
              <a:latin typeface="微软雅黑" pitchFamily="34" charset="-122"/>
              <a:ea typeface="微软雅黑" pitchFamily="34" charset="-122"/>
            </a:endParaRPr>
          </a:p>
          <a:p>
            <a:pPr algn="ctr" eaLnBrk="0" hangingPunct="0">
              <a:lnSpc>
                <a:spcPts val="2400"/>
              </a:lnSpc>
              <a:buClr>
                <a:srgbClr val="0070C0"/>
              </a:buClr>
            </a:pPr>
            <a:endParaRPr lang="en-US" altLang="zh-CN" sz="1400" b="1" dirty="0">
              <a:solidFill>
                <a:srgbClr val="0000FF"/>
              </a:solidFill>
              <a:latin typeface="微软雅黑" pitchFamily="34" charset="-122"/>
              <a:ea typeface="微软雅黑" pitchFamily="34" charset="-122"/>
            </a:endParaRPr>
          </a:p>
          <a:p>
            <a:pPr eaLnBrk="0" hangingPunct="0">
              <a:lnSpc>
                <a:spcPts val="2400"/>
              </a:lnSpc>
              <a:buClr>
                <a:srgbClr val="0070C0"/>
              </a:buClr>
            </a:pPr>
            <a:r>
              <a:rPr lang="zh-CN" altLang="en-US" b="1" dirty="0">
                <a:solidFill>
                  <a:srgbClr val="C00000"/>
                </a:solidFill>
                <a:latin typeface="微软雅黑" pitchFamily="34" charset="-122"/>
                <a:ea typeface="微软雅黑" pitchFamily="34" charset="-122"/>
              </a:rPr>
              <a:t>问题：</a:t>
            </a:r>
            <a:r>
              <a:rPr lang="zh-CN" altLang="en-US" b="1" dirty="0">
                <a:latin typeface="微软雅黑" pitchFamily="34" charset="-122"/>
                <a:ea typeface="微软雅黑" pitchFamily="34" charset="-122"/>
              </a:rPr>
              <a:t>若多个设备在共享的广播信道上</a:t>
            </a:r>
            <a:r>
              <a:rPr lang="zh-CN" altLang="en-US" b="1" dirty="0">
                <a:solidFill>
                  <a:srgbClr val="0000FF"/>
                </a:solidFill>
                <a:latin typeface="微软雅黑" pitchFamily="34" charset="-122"/>
                <a:ea typeface="微软雅黑" pitchFamily="34" charset="-122"/>
              </a:rPr>
              <a:t>同时发送</a:t>
            </a:r>
            <a:r>
              <a:rPr lang="zh-CN" altLang="en-US" b="1" dirty="0">
                <a:latin typeface="微软雅黑" pitchFamily="34" charset="-122"/>
                <a:ea typeface="微软雅黑" pitchFamily="34" charset="-122"/>
              </a:rPr>
              <a:t>数据，则会造成彼此干扰，导致发送失败。</a:t>
            </a:r>
          </a:p>
        </p:txBody>
      </p:sp>
      <p:grpSp>
        <p:nvGrpSpPr>
          <p:cNvPr id="43" name="组合 42"/>
          <p:cNvGrpSpPr/>
          <p:nvPr/>
        </p:nvGrpSpPr>
        <p:grpSpPr>
          <a:xfrm>
            <a:off x="3171413" y="1789512"/>
            <a:ext cx="2811270" cy="1114568"/>
            <a:chOff x="4981610" y="1448932"/>
            <a:chExt cx="2811270" cy="1114568"/>
          </a:xfrm>
          <a:solidFill>
            <a:srgbClr val="CC00CC"/>
          </a:solidFill>
        </p:grpSpPr>
        <p:sp>
          <p:nvSpPr>
            <p:cNvPr id="44" name="Line 7"/>
            <p:cNvSpPr>
              <a:spLocks noChangeShapeType="1"/>
            </p:cNvSpPr>
            <p:nvPr/>
          </p:nvSpPr>
          <p:spPr bwMode="auto">
            <a:xfrm>
              <a:off x="4981610" y="1977395"/>
              <a:ext cx="2811270" cy="0"/>
            </a:xfrm>
            <a:prstGeom prst="line">
              <a:avLst/>
            </a:prstGeom>
            <a:grpFill/>
            <a:ln w="57150">
              <a:solidFill>
                <a:srgbClr val="000000"/>
              </a:solidFill>
              <a:round/>
              <a:headEnd/>
              <a:tailEnd/>
            </a:ln>
          </p:spPr>
          <p:txBody>
            <a:bodyPr/>
            <a:lstStyle/>
            <a:p>
              <a:endParaRPr lang="zh-CN" altLang="en-US"/>
            </a:p>
          </p:txBody>
        </p:sp>
        <p:sp>
          <p:nvSpPr>
            <p:cNvPr id="45" name="Line 12"/>
            <p:cNvSpPr>
              <a:spLocks noChangeShapeType="1"/>
            </p:cNvSpPr>
            <p:nvPr/>
          </p:nvSpPr>
          <p:spPr bwMode="auto">
            <a:xfrm>
              <a:off x="5862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3"/>
            <p:cNvSpPr>
              <a:spLocks noChangeShapeType="1"/>
            </p:cNvSpPr>
            <p:nvPr/>
          </p:nvSpPr>
          <p:spPr bwMode="auto">
            <a:xfrm>
              <a:off x="7005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5"/>
            <p:cNvSpPr>
              <a:spLocks noChangeShapeType="1"/>
            </p:cNvSpPr>
            <p:nvPr/>
          </p:nvSpPr>
          <p:spPr bwMode="auto">
            <a:xfrm>
              <a:off x="7311780"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6"/>
            <p:cNvSpPr>
              <a:spLocks noChangeShapeType="1"/>
            </p:cNvSpPr>
            <p:nvPr/>
          </p:nvSpPr>
          <p:spPr bwMode="auto">
            <a:xfrm>
              <a:off x="5510292"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椭圆 4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5357496"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7161654"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4908417" y="2131071"/>
            <a:ext cx="400271" cy="332403"/>
            <a:chOff x="6811108" y="1790491"/>
            <a:chExt cx="400271" cy="332403"/>
          </a:xfrm>
        </p:grpSpPr>
        <p:cxnSp>
          <p:nvCxnSpPr>
            <p:cNvPr id="56" name="直接箭头连接符 55"/>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3847551" y="2089764"/>
            <a:ext cx="967081" cy="545210"/>
            <a:chOff x="5750242" y="1749184"/>
            <a:chExt cx="967081" cy="545210"/>
          </a:xfrm>
        </p:grpSpPr>
        <p:cxnSp>
          <p:nvCxnSpPr>
            <p:cNvPr id="59" name="直接箭头连接符 58"/>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63" name="爆炸形 1 62"/>
          <p:cNvSpPr/>
          <p:nvPr/>
        </p:nvSpPr>
        <p:spPr>
          <a:xfrm>
            <a:off x="4761352" y="2361389"/>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8">
            <a:extLst>
              <a:ext uri="{FF2B5EF4-FFF2-40B4-BE49-F238E27FC236}">
                <a16:creationId xmlns:a16="http://schemas.microsoft.com/office/drawing/2014/main" id="{A69F66EA-8F7E-BF6A-A62E-6571612776CE}"/>
              </a:ext>
            </a:extLst>
          </p:cNvPr>
          <p:cNvSpPr>
            <a:spLocks noChangeArrowheads="1"/>
          </p:cNvSpPr>
          <p:nvPr/>
        </p:nvSpPr>
        <p:spPr bwMode="auto">
          <a:xfrm>
            <a:off x="502921" y="985082"/>
            <a:ext cx="8129015" cy="47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最初的以太网采用的是共享信道方式</a:t>
            </a:r>
          </a:p>
        </p:txBody>
      </p:sp>
    </p:spTree>
    <p:extLst>
      <p:ext uri="{BB962C8B-B14F-4D97-AF65-F5344CB8AC3E}">
        <p14:creationId xmlns:p14="http://schemas.microsoft.com/office/powerpoint/2010/main" val="300845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xEl>
                                              <p:pRg st="2" end="2"/>
                                            </p:txEl>
                                          </p:spTgt>
                                        </p:tgtEl>
                                        <p:attrNameLst>
                                          <p:attrName>style.visibility</p:attrName>
                                        </p:attrNameLst>
                                      </p:cBhvr>
                                      <p:to>
                                        <p:strVal val="visible"/>
                                      </p:to>
                                    </p:set>
                                    <p:animEffect transition="in" filter="fade">
                                      <p:cBhvr>
                                        <p:cTn id="14" dur="1000"/>
                                        <p:tgtEl>
                                          <p:spTgt spid="21">
                                            <p:txEl>
                                              <p:pRg st="2" end="2"/>
                                            </p:txEl>
                                          </p:spTgt>
                                        </p:tgtEl>
                                      </p:cBhvr>
                                    </p:animEffect>
                                    <p:anim calcmode="lin" valueType="num">
                                      <p:cBhvr>
                                        <p:cTn id="15" dur="1000" fill="hold"/>
                                        <p:tgtEl>
                                          <p:spTgt spid="2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1">
                                            <p:txEl>
                                              <p:pRg st="2" end="2"/>
                                            </p:txEl>
                                          </p:spTgt>
                                        </p:tgtEl>
                                        <p:attrNameLst>
                                          <p:attrName>ppt_y</p:attrName>
                                        </p:attrNameLst>
                                      </p:cBhvr>
                                      <p:tavLst>
                                        <p:tav tm="0">
                                          <p:val>
                                            <p:strVal val="#ppt_y+.1"/>
                                          </p:val>
                                        </p:tav>
                                        <p:tav tm="100000">
                                          <p:val>
                                            <p:strVal val="#ppt_y"/>
                                          </p:val>
                                        </p:tav>
                                      </p:tavLst>
                                    </p:anim>
                                  </p:childTnLst>
                                </p:cTn>
                              </p:par>
                              <p:par>
                                <p:cTn id="17" presetID="22" presetClass="entr" presetSubtype="8" repeatCount="indefinite"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left)">
                                      <p:cBhvr>
                                        <p:cTn id="19" dur="1500"/>
                                        <p:tgtEl>
                                          <p:spTgt spid="58"/>
                                        </p:tgtEl>
                                      </p:cBhvr>
                                    </p:animEffect>
                                  </p:childTnLst>
                                </p:cTn>
                              </p:par>
                              <p:par>
                                <p:cTn id="20" presetID="22" presetClass="entr" presetSubtype="2" repeatCount="indefinite"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wipe(right)">
                                      <p:cBhvr>
                                        <p:cTn id="22" dur="1500"/>
                                        <p:tgtEl>
                                          <p:spTgt spid="55"/>
                                        </p:tgtEl>
                                      </p:cBhvr>
                                    </p:animEffect>
                                  </p:childTnLst>
                                </p:cTn>
                              </p:par>
                            </p:childTnLst>
                          </p:cTn>
                        </p:par>
                        <p:par>
                          <p:cTn id="23" fill="hold">
                            <p:stCondLst>
                              <p:cond delay="1500"/>
                            </p:stCondLst>
                            <p:childTnLst>
                              <p:par>
                                <p:cTn id="24" presetID="1" presetClass="entr" presetSubtype="0" fill="hold" grpId="0" nodeType="afterEffect">
                                  <p:stCondLst>
                                    <p:cond delay="0"/>
                                  </p:stCondLst>
                                  <p:childTnLst>
                                    <p:set>
                                      <p:cBhvr>
                                        <p:cTn id="25"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8954"/>
            <a:ext cx="8129015" cy="30099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300"/>
              </a:lnSpc>
              <a:buClr>
                <a:srgbClr val="0070C0"/>
              </a:buClr>
            </a:pPr>
            <a:r>
              <a:rPr lang="zh-CN" altLang="en-US" sz="2000" b="1" dirty="0">
                <a:latin typeface="微软雅黑" pitchFamily="34" charset="-122"/>
                <a:ea typeface="微软雅黑" pitchFamily="34" charset="-122"/>
              </a:rPr>
              <a:t>共享信道要着重考虑的一个问题就是如何使众多用户能够合理而方便地共享通信媒体资源：</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静态划分信道：</a:t>
            </a:r>
          </a:p>
          <a:p>
            <a:pPr marL="360363" eaLnBrk="0" hangingPunct="0">
              <a:lnSpc>
                <a:spcPts val="3300"/>
              </a:lnSpc>
              <a:buClr>
                <a:srgbClr val="7030A0"/>
              </a:buClr>
            </a:pPr>
            <a:r>
              <a:rPr lang="zh-CN" altLang="en-US" sz="2000" b="1" dirty="0">
                <a:latin typeface="微软雅黑" pitchFamily="34" charset="-122"/>
                <a:ea typeface="微软雅黑" pitchFamily="34" charset="-122"/>
              </a:rPr>
              <a:t>频分复用、时分复用、波分复用、码分复用 </a:t>
            </a:r>
            <a:r>
              <a:rPr lang="en-US" altLang="zh-CN" sz="2000" b="1" dirty="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动态媒体接入控制（多点接入）：</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随机接入：所有的用户可随机地发送信息。</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受控接入：用户必须服从一定的控制。如轮询</a:t>
            </a:r>
            <a:r>
              <a:rPr lang="en-US" altLang="zh-CN" sz="2000" b="1" dirty="0">
                <a:latin typeface="微软雅黑" pitchFamily="34" charset="-122"/>
                <a:ea typeface="微软雅黑" pitchFamily="34" charset="-122"/>
              </a:rPr>
              <a:t>(polling)</a:t>
            </a:r>
            <a:r>
              <a:rPr lang="zh-CN" altLang="en-US" sz="2000" b="1" dirty="0">
                <a:latin typeface="微软雅黑" pitchFamily="34" charset="-122"/>
                <a:ea typeface="微软雅黑" pitchFamily="34" charset="-122"/>
              </a:rPr>
              <a:t>。  	</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05297" y="60274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媒体共享技术</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63694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xEl>
                                              <p:pRg st="3" end="3"/>
                                            </p:txEl>
                                          </p:spTgt>
                                        </p:tgtEl>
                                        <p:attrNameLst>
                                          <p:attrName>style.visibility</p:attrName>
                                        </p:attrNameLst>
                                      </p:cBhvr>
                                      <p:to>
                                        <p:strVal val="visible"/>
                                      </p:to>
                                    </p:set>
                                    <p:animEffect transition="in" filter="fade">
                                      <p:cBhvr>
                                        <p:cTn id="26" dur="1000"/>
                                        <p:tgtEl>
                                          <p:spTgt spid="7">
                                            <p:txEl>
                                              <p:pRg st="3" end="3"/>
                                            </p:txEl>
                                          </p:spTgt>
                                        </p:tgtEl>
                                      </p:cBhvr>
                                    </p:animEffect>
                                    <p:anim calcmode="lin" valueType="num">
                                      <p:cBhvr>
                                        <p:cTn id="27"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fade">
                                      <p:cBhvr>
                                        <p:cTn id="33" dur="1000"/>
                                        <p:tgtEl>
                                          <p:spTgt spid="7">
                                            <p:txEl>
                                              <p:pRg st="4" end="4"/>
                                            </p:txEl>
                                          </p:spTgt>
                                        </p:tgtEl>
                                      </p:cBhvr>
                                    </p:animEffect>
                                    <p:anim calcmode="lin" valueType="num">
                                      <p:cBhvr>
                                        <p:cTn id="34"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fade">
                                      <p:cBhvr>
                                        <p:cTn id="40" dur="1000"/>
                                        <p:tgtEl>
                                          <p:spTgt spid="7">
                                            <p:txEl>
                                              <p:pRg st="5" end="5"/>
                                            </p:txEl>
                                          </p:spTgt>
                                        </p:tgtEl>
                                      </p:cBhvr>
                                    </p:animEffect>
                                    <p:anim calcmode="lin" valueType="num">
                                      <p:cBhvr>
                                        <p:cTn id="41"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1060896"/>
            <a:ext cx="8129015"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DIX Ethernet V2</a:t>
            </a:r>
            <a:r>
              <a:rPr lang="zh-CN" altLang="en-US" sz="2000" b="1" dirty="0">
                <a:latin typeface="微软雅黑" pitchFamily="34" charset="-122"/>
                <a:ea typeface="微软雅黑" pitchFamily="34" charset="-122"/>
              </a:rPr>
              <a:t>：世界上第一个局域网产品（以太网）的规约。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802.3</a:t>
            </a:r>
            <a:r>
              <a:rPr lang="zh-CN" altLang="en-US" sz="2000" b="1" dirty="0">
                <a:latin typeface="微软雅黑" pitchFamily="34" charset="-122"/>
                <a:ea typeface="微软雅黑" pitchFamily="34" charset="-122"/>
              </a:rPr>
              <a:t>：第一个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的以太网标准。</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960703" y="602744"/>
            <a:ext cx="32127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以太网的两个主要标准 </a:t>
            </a:r>
          </a:p>
        </p:txBody>
      </p:sp>
      <p:sp>
        <p:nvSpPr>
          <p:cNvPr id="2" name="矩形 1"/>
          <p:cNvSpPr/>
          <p:nvPr/>
        </p:nvSpPr>
        <p:spPr>
          <a:xfrm>
            <a:off x="1038781" y="2446240"/>
            <a:ext cx="6925347" cy="87152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3200"/>
              </a:lnSpc>
              <a:buSzPct val="85000"/>
            </a:pPr>
            <a:r>
              <a:rPr lang="zh-CN" altLang="en-US" sz="2000" b="1" dirty="0">
                <a:latin typeface="微软雅黑" panose="020B0503020204020204" pitchFamily="34" charset="-122"/>
                <a:ea typeface="微软雅黑" panose="020B0503020204020204" pitchFamily="34" charset="-122"/>
              </a:rPr>
              <a:t>这两个标准标准只有很小的差别，因此很多人也常把 </a:t>
            </a:r>
            <a:r>
              <a:rPr lang="en-US" altLang="zh-CN" sz="2000" b="1" dirty="0">
                <a:latin typeface="微软雅黑" panose="020B0503020204020204" pitchFamily="34" charset="-122"/>
                <a:ea typeface="微软雅黑" panose="020B0503020204020204" pitchFamily="34" charset="-122"/>
              </a:rPr>
              <a:t>802.3</a:t>
            </a:r>
            <a:r>
              <a:rPr lang="zh-CN" altLang="en-US" sz="2000" b="1" dirty="0">
                <a:latin typeface="微软雅黑" panose="020B0503020204020204" pitchFamily="34" charset="-122"/>
                <a:ea typeface="微软雅黑" panose="020B0503020204020204" pitchFamily="34" charset="-122"/>
              </a:rPr>
              <a:t>局域网简称为“以太网”。</a:t>
            </a:r>
          </a:p>
        </p:txBody>
      </p:sp>
    </p:spTree>
    <p:extLst>
      <p:ext uri="{BB962C8B-B14F-4D97-AF65-F5344CB8AC3E}">
        <p14:creationId xmlns:p14="http://schemas.microsoft.com/office/powerpoint/2010/main" val="22072388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02921" y="623157"/>
            <a:ext cx="8129015" cy="315464"/>
          </a:xfrm>
          <a:prstGeom prst="roundRect">
            <a:avLst>
              <a:gd name="adj" fmla="val 16667"/>
            </a:avLst>
          </a:prstGeom>
          <a:solidFill>
            <a:srgbClr val="99FFCC"/>
          </a:solidFill>
          <a:ln>
            <a:noFill/>
          </a:ln>
          <a:effectLst/>
        </p:spPr>
        <p:txBody>
          <a:bodyPr wrap="none" anchor="ctr"/>
          <a:lstStyle/>
          <a:p>
            <a:endParaRPr lang="zh-CN" altLang="en-US"/>
          </a:p>
        </p:txBody>
      </p:sp>
      <p:sp>
        <p:nvSpPr>
          <p:cNvPr id="16" name="Rectangle 6"/>
          <p:cNvSpPr>
            <a:spLocks noChangeArrowheads="1"/>
          </p:cNvSpPr>
          <p:nvPr/>
        </p:nvSpPr>
        <p:spPr bwMode="auto">
          <a:xfrm>
            <a:off x="2651324" y="584180"/>
            <a:ext cx="38314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latin typeface="微软雅黑" pitchFamily="34" charset="-122"/>
                <a:ea typeface="微软雅黑" pitchFamily="34" charset="-122"/>
              </a:rPr>
              <a:t>局域网数据链路层分为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个子层</a:t>
            </a:r>
          </a:p>
        </p:txBody>
      </p:sp>
      <p:sp>
        <p:nvSpPr>
          <p:cNvPr id="17" name="圆角矩形 16"/>
          <p:cNvSpPr/>
          <p:nvPr/>
        </p:nvSpPr>
        <p:spPr>
          <a:xfrm>
            <a:off x="502920" y="1038074"/>
            <a:ext cx="8129015" cy="238492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8" name="Freeform 25"/>
          <p:cNvSpPr>
            <a:spLocks/>
          </p:cNvSpPr>
          <p:nvPr/>
        </p:nvSpPr>
        <p:spPr bwMode="auto">
          <a:xfrm>
            <a:off x="6058351"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Freeform 18"/>
          <p:cNvSpPr>
            <a:spLocks/>
          </p:cNvSpPr>
          <p:nvPr/>
        </p:nvSpPr>
        <p:spPr bwMode="auto">
          <a:xfrm>
            <a:off x="2568686"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20" name="Rectangle 47"/>
          <p:cNvSpPr>
            <a:spLocks noChangeArrowheads="1"/>
          </p:cNvSpPr>
          <p:nvPr/>
        </p:nvSpPr>
        <p:spPr bwMode="auto">
          <a:xfrm>
            <a:off x="6062115" y="1728099"/>
            <a:ext cx="1062835" cy="802699"/>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Rectangle 46"/>
          <p:cNvSpPr>
            <a:spLocks noChangeArrowheads="1"/>
          </p:cNvSpPr>
          <p:nvPr/>
        </p:nvSpPr>
        <p:spPr bwMode="auto">
          <a:xfrm>
            <a:off x="2574960" y="1740840"/>
            <a:ext cx="1062835" cy="789958"/>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4" name="Line 15"/>
          <p:cNvSpPr>
            <a:spLocks noChangeShapeType="1"/>
          </p:cNvSpPr>
          <p:nvPr/>
        </p:nvSpPr>
        <p:spPr bwMode="auto">
          <a:xfrm flipV="1">
            <a:off x="3649090" y="2704542"/>
            <a:ext cx="698936" cy="8108"/>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5" name="Line 16"/>
          <p:cNvSpPr>
            <a:spLocks noChangeShapeType="1"/>
          </p:cNvSpPr>
          <p:nvPr/>
        </p:nvSpPr>
        <p:spPr bwMode="auto">
          <a:xfrm flipH="1">
            <a:off x="5518777" y="2704542"/>
            <a:ext cx="543338" cy="2317"/>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5" name="组合 4"/>
          <p:cNvGrpSpPr/>
          <p:nvPr/>
        </p:nvGrpSpPr>
        <p:grpSpPr>
          <a:xfrm>
            <a:off x="4097061" y="1728098"/>
            <a:ext cx="1479437" cy="1209261"/>
            <a:chOff x="4097061" y="2396812"/>
            <a:chExt cx="1479437" cy="1209261"/>
          </a:xfrm>
        </p:grpSpPr>
        <p:grpSp>
          <p:nvGrpSpPr>
            <p:cNvPr id="22" name="Group 2"/>
            <p:cNvGrpSpPr>
              <a:grpSpLocks/>
            </p:cNvGrpSpPr>
            <p:nvPr/>
          </p:nvGrpSpPr>
          <p:grpSpPr bwMode="auto">
            <a:xfrm>
              <a:off x="4097061" y="2396812"/>
              <a:ext cx="1479437" cy="1209261"/>
              <a:chOff x="109" y="1226"/>
              <a:chExt cx="2516" cy="1675"/>
            </a:xfrm>
            <a:solidFill>
              <a:srgbClr val="FFFF00"/>
            </a:solidFill>
          </p:grpSpPr>
          <p:grpSp>
            <p:nvGrpSpPr>
              <p:cNvPr id="23" name="Group 3"/>
              <p:cNvGrpSpPr>
                <a:grpSpLocks/>
              </p:cNvGrpSpPr>
              <p:nvPr/>
            </p:nvGrpSpPr>
            <p:grpSpPr bwMode="auto">
              <a:xfrm>
                <a:off x="109" y="1226"/>
                <a:ext cx="2516" cy="1675"/>
                <a:chOff x="109" y="1226"/>
                <a:chExt cx="2516" cy="1675"/>
              </a:xfrm>
              <a:grpFill/>
            </p:grpSpPr>
            <p:grpSp>
              <p:nvGrpSpPr>
                <p:cNvPr id="25" name="Group 4"/>
                <p:cNvGrpSpPr>
                  <a:grpSpLocks/>
                </p:cNvGrpSpPr>
                <p:nvPr/>
              </p:nvGrpSpPr>
              <p:grpSpPr bwMode="auto">
                <a:xfrm>
                  <a:off x="109" y="1226"/>
                  <a:ext cx="2516" cy="1675"/>
                  <a:chOff x="109" y="1226"/>
                  <a:chExt cx="2516" cy="1675"/>
                </a:xfrm>
                <a:grpFill/>
              </p:grpSpPr>
              <p:sp>
                <p:nvSpPr>
                  <p:cNvPr id="27" name="Oval 5"/>
                  <p:cNvSpPr>
                    <a:spLocks noChangeArrowheads="1"/>
                  </p:cNvSpPr>
                  <p:nvPr/>
                </p:nvSpPr>
                <p:spPr bwMode="auto">
                  <a:xfrm>
                    <a:off x="1749" y="1896"/>
                    <a:ext cx="876"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8" name="Oval 6"/>
                  <p:cNvSpPr>
                    <a:spLocks noChangeArrowheads="1"/>
                  </p:cNvSpPr>
                  <p:nvPr/>
                </p:nvSpPr>
                <p:spPr bwMode="auto">
                  <a:xfrm>
                    <a:off x="109" y="1632"/>
                    <a:ext cx="859" cy="831"/>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9" name="Oval 7"/>
                  <p:cNvSpPr>
                    <a:spLocks noChangeArrowheads="1"/>
                  </p:cNvSpPr>
                  <p:nvPr/>
                </p:nvSpPr>
                <p:spPr bwMode="auto">
                  <a:xfrm>
                    <a:off x="1612" y="1341"/>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0" name="Oval 8"/>
                  <p:cNvSpPr>
                    <a:spLocks noChangeArrowheads="1"/>
                  </p:cNvSpPr>
                  <p:nvPr/>
                </p:nvSpPr>
                <p:spPr bwMode="auto">
                  <a:xfrm>
                    <a:off x="1152" y="2055"/>
                    <a:ext cx="875" cy="846"/>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1" name="Oval 9"/>
                  <p:cNvSpPr>
                    <a:spLocks noChangeArrowheads="1"/>
                  </p:cNvSpPr>
                  <p:nvPr/>
                </p:nvSpPr>
                <p:spPr bwMode="auto">
                  <a:xfrm>
                    <a:off x="400" y="1982"/>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10"/>
                  <p:cNvSpPr>
                    <a:spLocks noChangeArrowheads="1"/>
                  </p:cNvSpPr>
                  <p:nvPr/>
                </p:nvSpPr>
                <p:spPr bwMode="auto">
                  <a:xfrm>
                    <a:off x="1075" y="1226"/>
                    <a:ext cx="859"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3" name="Oval 11"/>
                  <p:cNvSpPr>
                    <a:spLocks noChangeArrowheads="1"/>
                  </p:cNvSpPr>
                  <p:nvPr/>
                </p:nvSpPr>
                <p:spPr bwMode="auto">
                  <a:xfrm>
                    <a:off x="523" y="1226"/>
                    <a:ext cx="859" cy="79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grpSp>
            <p:sp>
              <p:nvSpPr>
                <p:cNvPr id="26" name="Oval 12"/>
                <p:cNvSpPr>
                  <a:spLocks noChangeArrowheads="1"/>
                </p:cNvSpPr>
                <p:nvPr/>
              </p:nvSpPr>
              <p:spPr bwMode="auto">
                <a:xfrm>
                  <a:off x="339" y="1414"/>
                  <a:ext cx="2085" cy="1152"/>
                </a:xfrm>
                <a:prstGeom prst="ellipse">
                  <a:avLst/>
                </a:prstGeom>
                <a:solidFill>
                  <a:srgbClr val="00B0F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sz="1600" b="1">
                    <a:solidFill>
                      <a:srgbClr val="000099"/>
                    </a:solidFill>
                    <a:latin typeface="微软雅黑" pitchFamily="34" charset="-122"/>
                    <a:ea typeface="微软雅黑" pitchFamily="34" charset="-122"/>
                  </a:endParaRPr>
                </a:p>
              </p:txBody>
            </p:sp>
          </p:grpSp>
          <p:sp>
            <p:nvSpPr>
              <p:cNvPr id="24" name="Freeform 13"/>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00B0F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6" name="Rectangle 17"/>
            <p:cNvSpPr>
              <a:spLocks noChangeArrowheads="1"/>
            </p:cNvSpPr>
            <p:nvPr/>
          </p:nvSpPr>
          <p:spPr bwMode="auto">
            <a:xfrm>
              <a:off x="4388157" y="2848547"/>
              <a:ext cx="920125"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chemeClr val="bg1"/>
                  </a:solidFill>
                  <a:latin typeface="微软雅黑" pitchFamily="34" charset="-122"/>
                  <a:ea typeface="微软雅黑" pitchFamily="34" charset="-122"/>
                </a:rPr>
                <a:t>局 域 网</a:t>
              </a:r>
            </a:p>
          </p:txBody>
        </p:sp>
      </p:grpSp>
      <p:sp>
        <p:nvSpPr>
          <p:cNvPr id="37" name="Line 19"/>
          <p:cNvSpPr>
            <a:spLocks noChangeShapeType="1"/>
          </p:cNvSpPr>
          <p:nvPr/>
        </p:nvSpPr>
        <p:spPr bwMode="auto">
          <a:xfrm>
            <a:off x="2573705" y="2531955"/>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Line 20"/>
          <p:cNvSpPr>
            <a:spLocks noChangeShapeType="1"/>
          </p:cNvSpPr>
          <p:nvPr/>
        </p:nvSpPr>
        <p:spPr bwMode="auto">
          <a:xfrm>
            <a:off x="2573705" y="213465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21"/>
          <p:cNvSpPr>
            <a:spLocks noChangeShapeType="1"/>
          </p:cNvSpPr>
          <p:nvPr/>
        </p:nvSpPr>
        <p:spPr bwMode="auto">
          <a:xfrm>
            <a:off x="2573705" y="173388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Rectangle 22"/>
          <p:cNvSpPr>
            <a:spLocks noChangeArrowheads="1"/>
          </p:cNvSpPr>
          <p:nvPr/>
        </p:nvSpPr>
        <p:spPr bwMode="auto">
          <a:xfrm>
            <a:off x="2800829" y="1305319"/>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网络层</a:t>
            </a:r>
          </a:p>
        </p:txBody>
      </p:sp>
      <p:sp>
        <p:nvSpPr>
          <p:cNvPr id="41" name="Rectangle 23"/>
          <p:cNvSpPr>
            <a:spLocks noChangeArrowheads="1"/>
          </p:cNvSpPr>
          <p:nvPr/>
        </p:nvSpPr>
        <p:spPr bwMode="auto">
          <a:xfrm>
            <a:off x="277824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sp>
        <p:nvSpPr>
          <p:cNvPr id="42" name="Rectangle 24"/>
          <p:cNvSpPr>
            <a:spLocks noChangeArrowheads="1"/>
          </p:cNvSpPr>
          <p:nvPr/>
        </p:nvSpPr>
        <p:spPr bwMode="auto">
          <a:xfrm>
            <a:off x="2761929" y="2963998"/>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1</a:t>
            </a:r>
          </a:p>
        </p:txBody>
      </p:sp>
      <p:sp>
        <p:nvSpPr>
          <p:cNvPr id="43" name="Line 26"/>
          <p:cNvSpPr>
            <a:spLocks noChangeShapeType="1"/>
          </p:cNvSpPr>
          <p:nvPr/>
        </p:nvSpPr>
        <p:spPr bwMode="auto">
          <a:xfrm>
            <a:off x="6062115" y="2531955"/>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4" name="Line 27"/>
          <p:cNvSpPr>
            <a:spLocks noChangeShapeType="1"/>
          </p:cNvSpPr>
          <p:nvPr/>
        </p:nvSpPr>
        <p:spPr bwMode="auto">
          <a:xfrm>
            <a:off x="6062115" y="213465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5" name="Line 28"/>
          <p:cNvSpPr>
            <a:spLocks noChangeShapeType="1"/>
          </p:cNvSpPr>
          <p:nvPr/>
        </p:nvSpPr>
        <p:spPr bwMode="auto">
          <a:xfrm>
            <a:off x="6062115" y="173388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6" name="Rectangle 29"/>
          <p:cNvSpPr>
            <a:spLocks noChangeArrowheads="1"/>
          </p:cNvSpPr>
          <p:nvPr/>
        </p:nvSpPr>
        <p:spPr bwMode="auto">
          <a:xfrm>
            <a:off x="6256613" y="1318061"/>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网络层</a:t>
            </a:r>
          </a:p>
        </p:txBody>
      </p:sp>
      <p:sp>
        <p:nvSpPr>
          <p:cNvPr id="47" name="Rectangle 30"/>
          <p:cNvSpPr>
            <a:spLocks noChangeArrowheads="1"/>
          </p:cNvSpPr>
          <p:nvPr/>
        </p:nvSpPr>
        <p:spPr bwMode="auto">
          <a:xfrm>
            <a:off x="626665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grpSp>
        <p:nvGrpSpPr>
          <p:cNvPr id="48" name="Group 31"/>
          <p:cNvGrpSpPr>
            <a:grpSpLocks/>
          </p:cNvGrpSpPr>
          <p:nvPr/>
        </p:nvGrpSpPr>
        <p:grpSpPr bwMode="auto">
          <a:xfrm>
            <a:off x="1136933" y="1784854"/>
            <a:ext cx="5754621" cy="369497"/>
            <a:chOff x="249" y="2118"/>
            <a:chExt cx="4586" cy="319"/>
          </a:xfrm>
        </p:grpSpPr>
        <p:sp>
          <p:nvSpPr>
            <p:cNvPr id="49" name="Rectangle 32"/>
            <p:cNvSpPr>
              <a:spLocks noChangeArrowheads="1"/>
            </p:cNvSpPr>
            <p:nvPr/>
          </p:nvSpPr>
          <p:spPr bwMode="auto">
            <a:xfrm>
              <a:off x="249" y="2147"/>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逻辑链路控制</a:t>
              </a:r>
            </a:p>
          </p:txBody>
        </p:sp>
        <p:sp>
          <p:nvSpPr>
            <p:cNvPr id="50" name="AutoShape 33"/>
            <p:cNvSpPr>
              <a:spLocks noChangeArrowheads="1"/>
            </p:cNvSpPr>
            <p:nvPr/>
          </p:nvSpPr>
          <p:spPr bwMode="auto">
            <a:xfrm>
              <a:off x="2264" y="2135"/>
              <a:ext cx="1896" cy="228"/>
            </a:xfrm>
            <a:prstGeom prst="leftRightArrow">
              <a:avLst>
                <a:gd name="adj1" fmla="val 41667"/>
                <a:gd name="adj2" fmla="val 87431"/>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4"/>
            <p:cNvSpPr>
              <a:spLocks noChangeArrowheads="1"/>
            </p:cNvSpPr>
            <p:nvPr/>
          </p:nvSpPr>
          <p:spPr bwMode="auto">
            <a:xfrm>
              <a:off x="1623"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LLC</a:t>
              </a:r>
            </a:p>
          </p:txBody>
        </p:sp>
        <p:sp>
          <p:nvSpPr>
            <p:cNvPr id="52" name="Rectangle 35"/>
            <p:cNvSpPr>
              <a:spLocks noChangeArrowheads="1"/>
            </p:cNvSpPr>
            <p:nvPr/>
          </p:nvSpPr>
          <p:spPr bwMode="auto">
            <a:xfrm>
              <a:off x="4405"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LLC</a:t>
              </a:r>
            </a:p>
          </p:txBody>
        </p:sp>
      </p:grpSp>
      <p:grpSp>
        <p:nvGrpSpPr>
          <p:cNvPr id="53" name="Group 36"/>
          <p:cNvGrpSpPr>
            <a:grpSpLocks/>
          </p:cNvGrpSpPr>
          <p:nvPr/>
        </p:nvGrpSpPr>
        <p:grpSpPr bwMode="auto">
          <a:xfrm>
            <a:off x="1136933" y="2190260"/>
            <a:ext cx="5875084" cy="352123"/>
            <a:chOff x="249" y="2468"/>
            <a:chExt cx="4682" cy="304"/>
          </a:xfrm>
        </p:grpSpPr>
        <p:sp>
          <p:nvSpPr>
            <p:cNvPr id="54" name="Rectangle 37"/>
            <p:cNvSpPr>
              <a:spLocks noChangeArrowheads="1"/>
            </p:cNvSpPr>
            <p:nvPr/>
          </p:nvSpPr>
          <p:spPr bwMode="auto">
            <a:xfrm>
              <a:off x="249" y="2482"/>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媒体接入控制</a:t>
              </a:r>
            </a:p>
          </p:txBody>
        </p:sp>
        <p:sp>
          <p:nvSpPr>
            <p:cNvPr id="55" name="Line 38"/>
            <p:cNvSpPr>
              <a:spLocks noChangeShapeType="1"/>
            </p:cNvSpPr>
            <p:nvPr/>
          </p:nvSpPr>
          <p:spPr bwMode="auto">
            <a:xfrm flipV="1">
              <a:off x="2251" y="2581"/>
              <a:ext cx="383" cy="11"/>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Line 39"/>
            <p:cNvSpPr>
              <a:spLocks noChangeShapeType="1"/>
            </p:cNvSpPr>
            <p:nvPr/>
          </p:nvSpPr>
          <p:spPr bwMode="auto">
            <a:xfrm flipH="1">
              <a:off x="3739" y="2585"/>
              <a:ext cx="435"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7" name="Rectangle 40"/>
            <p:cNvSpPr>
              <a:spLocks noChangeArrowheads="1"/>
            </p:cNvSpPr>
            <p:nvPr/>
          </p:nvSpPr>
          <p:spPr bwMode="auto">
            <a:xfrm>
              <a:off x="160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MAC</a:t>
              </a:r>
            </a:p>
          </p:txBody>
        </p:sp>
        <p:sp>
          <p:nvSpPr>
            <p:cNvPr id="58" name="Rectangle 41"/>
            <p:cNvSpPr>
              <a:spLocks noChangeArrowheads="1"/>
            </p:cNvSpPr>
            <p:nvPr/>
          </p:nvSpPr>
          <p:spPr bwMode="auto">
            <a:xfrm>
              <a:off x="438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grpSp>
      <p:sp>
        <p:nvSpPr>
          <p:cNvPr id="59" name="AutoShape 42"/>
          <p:cNvSpPr>
            <a:spLocks/>
          </p:cNvSpPr>
          <p:nvPr/>
        </p:nvSpPr>
        <p:spPr bwMode="auto">
          <a:xfrm>
            <a:off x="7136244" y="1740840"/>
            <a:ext cx="94112" cy="767950"/>
          </a:xfrm>
          <a:prstGeom prst="rightBrace">
            <a:avLst>
              <a:gd name="adj1" fmla="val 73666"/>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3"/>
          <p:cNvSpPr>
            <a:spLocks noChangeArrowheads="1"/>
          </p:cNvSpPr>
          <p:nvPr/>
        </p:nvSpPr>
        <p:spPr bwMode="auto">
          <a:xfrm>
            <a:off x="7136236" y="1901842"/>
            <a:ext cx="803106" cy="58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600" b="1" dirty="0">
                <a:solidFill>
                  <a:srgbClr val="0000FF"/>
                </a:solidFill>
                <a:latin typeface="微软雅黑" pitchFamily="34" charset="-122"/>
                <a:ea typeface="微软雅黑" pitchFamily="34" charset="-122"/>
              </a:rPr>
              <a:t>数据</a:t>
            </a:r>
          </a:p>
          <a:p>
            <a:pPr algn="ctr" defTabSz="762000" eaLnBrk="0" hangingPunct="0"/>
            <a:r>
              <a:rPr kumimoji="1" lang="zh-CN" altLang="en-US" sz="1600" b="1" dirty="0">
                <a:solidFill>
                  <a:srgbClr val="0000FF"/>
                </a:solidFill>
                <a:latin typeface="微软雅黑" pitchFamily="34" charset="-122"/>
                <a:ea typeface="微软雅黑" pitchFamily="34" charset="-122"/>
              </a:rPr>
              <a:t>链路层</a:t>
            </a:r>
          </a:p>
        </p:txBody>
      </p:sp>
      <p:sp>
        <p:nvSpPr>
          <p:cNvPr id="61" name="Rectangle 44"/>
          <p:cNvSpPr>
            <a:spLocks noChangeArrowheads="1"/>
          </p:cNvSpPr>
          <p:nvPr/>
        </p:nvSpPr>
        <p:spPr bwMode="auto">
          <a:xfrm>
            <a:off x="6302320" y="2964000"/>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2</a:t>
            </a:r>
          </a:p>
        </p:txBody>
      </p:sp>
      <p:sp>
        <p:nvSpPr>
          <p:cNvPr id="63" name="Line 21"/>
          <p:cNvSpPr>
            <a:spLocks noChangeShapeType="1"/>
          </p:cNvSpPr>
          <p:nvPr/>
        </p:nvSpPr>
        <p:spPr bwMode="auto">
          <a:xfrm>
            <a:off x="2573705" y="1211146"/>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Line 28"/>
          <p:cNvSpPr>
            <a:spLocks noChangeShapeType="1"/>
          </p:cNvSpPr>
          <p:nvPr/>
        </p:nvSpPr>
        <p:spPr bwMode="auto">
          <a:xfrm>
            <a:off x="6062115" y="1211146"/>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 name="矩形 1"/>
          <p:cNvSpPr/>
          <p:nvPr/>
        </p:nvSpPr>
        <p:spPr>
          <a:xfrm>
            <a:off x="759957" y="3531684"/>
            <a:ext cx="7666183" cy="707886"/>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逻辑链路控制 </a:t>
            </a:r>
            <a:r>
              <a:rPr lang="en-US" altLang="zh-CN" b="1" dirty="0">
                <a:latin typeface="微软雅黑" panose="020B0503020204020204" pitchFamily="34" charset="-122"/>
                <a:ea typeface="微软雅黑" panose="020B0503020204020204" pitchFamily="34" charset="-122"/>
              </a:rPr>
              <a:t>LLC (Logical Link Control) </a:t>
            </a:r>
            <a:r>
              <a:rPr lang="zh-CN" altLang="en-US" b="1" dirty="0">
                <a:latin typeface="微软雅黑" panose="020B0503020204020204" pitchFamily="34" charset="-122"/>
                <a:ea typeface="微软雅黑" panose="020B0503020204020204" pitchFamily="34" charset="-122"/>
              </a:rPr>
              <a:t>子层：与传输媒体无关。</a:t>
            </a:r>
          </a:p>
          <a:p>
            <a:pPr>
              <a:lnSpc>
                <a:spcPts val="2400"/>
              </a:lnSpc>
            </a:pPr>
            <a:r>
              <a:rPr lang="zh-CN" altLang="en-US" b="1" dirty="0">
                <a:latin typeface="微软雅黑" panose="020B0503020204020204" pitchFamily="34" charset="-122"/>
                <a:ea typeface="微软雅黑" panose="020B0503020204020204" pitchFamily="34" charset="-122"/>
              </a:rPr>
              <a:t>媒体接入控制 </a:t>
            </a:r>
            <a:r>
              <a:rPr lang="en-US" altLang="zh-CN" b="1" dirty="0">
                <a:latin typeface="微软雅黑" panose="020B0503020204020204" pitchFamily="34" charset="-122"/>
                <a:ea typeface="微软雅黑" panose="020B0503020204020204" pitchFamily="34" charset="-122"/>
              </a:rPr>
              <a:t>MAC (Medium Access Control) </a:t>
            </a:r>
            <a:r>
              <a:rPr lang="zh-CN" altLang="en-US" b="1" dirty="0">
                <a:latin typeface="微软雅黑" panose="020B0503020204020204" pitchFamily="34" charset="-122"/>
                <a:ea typeface="微软雅黑" panose="020B0503020204020204" pitchFamily="34" charset="-122"/>
              </a:rPr>
              <a:t>子层：与传输媒体有关。</a:t>
            </a:r>
          </a:p>
        </p:txBody>
      </p:sp>
      <p:sp>
        <p:nvSpPr>
          <p:cNvPr id="11" name="Rectangle 24">
            <a:extLst>
              <a:ext uri="{FF2B5EF4-FFF2-40B4-BE49-F238E27FC236}">
                <a16:creationId xmlns:a16="http://schemas.microsoft.com/office/drawing/2014/main" id="{1B74A56E-B434-51B9-F958-FD9CC376F380}"/>
              </a:ext>
            </a:extLst>
          </p:cNvPr>
          <p:cNvSpPr>
            <a:spLocks noChangeArrowheads="1"/>
          </p:cNvSpPr>
          <p:nvPr/>
        </p:nvSpPr>
        <p:spPr bwMode="auto">
          <a:xfrm>
            <a:off x="4219339" y="2419144"/>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1</a:t>
            </a:r>
          </a:p>
        </p:txBody>
      </p:sp>
      <p:grpSp>
        <p:nvGrpSpPr>
          <p:cNvPr id="14" name="组合 13">
            <a:extLst>
              <a:ext uri="{FF2B5EF4-FFF2-40B4-BE49-F238E27FC236}">
                <a16:creationId xmlns:a16="http://schemas.microsoft.com/office/drawing/2014/main" id="{2461C1B1-52DF-3BB8-96B0-9C4EF3546279}"/>
              </a:ext>
            </a:extLst>
          </p:cNvPr>
          <p:cNvGrpSpPr/>
          <p:nvPr/>
        </p:nvGrpSpPr>
        <p:grpSpPr>
          <a:xfrm>
            <a:off x="589934" y="1733014"/>
            <a:ext cx="1983770" cy="1204345"/>
            <a:chOff x="589934" y="1728098"/>
            <a:chExt cx="929149" cy="855918"/>
          </a:xfrm>
        </p:grpSpPr>
        <p:cxnSp>
          <p:nvCxnSpPr>
            <p:cNvPr id="10" name="直接连接符 9">
              <a:extLst>
                <a:ext uri="{FF2B5EF4-FFF2-40B4-BE49-F238E27FC236}">
                  <a16:creationId xmlns:a16="http://schemas.microsoft.com/office/drawing/2014/main" id="{6810046D-F10F-213B-EF05-C13C046CFABB}"/>
                </a:ext>
              </a:extLst>
            </p:cNvPr>
            <p:cNvCxnSpPr>
              <a:cxnSpLocks/>
            </p:cNvCxnSpPr>
            <p:nvPr/>
          </p:nvCxnSpPr>
          <p:spPr>
            <a:xfrm>
              <a:off x="589934" y="1728098"/>
              <a:ext cx="9291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2624354-AA11-FEDE-922B-010B4D897C6D}"/>
                </a:ext>
              </a:extLst>
            </p:cNvPr>
            <p:cNvCxnSpPr>
              <a:cxnSpLocks/>
            </p:cNvCxnSpPr>
            <p:nvPr/>
          </p:nvCxnSpPr>
          <p:spPr>
            <a:xfrm>
              <a:off x="589934" y="2584016"/>
              <a:ext cx="929149"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5" name="直接连接符 64">
            <a:extLst>
              <a:ext uri="{FF2B5EF4-FFF2-40B4-BE49-F238E27FC236}">
                <a16:creationId xmlns:a16="http://schemas.microsoft.com/office/drawing/2014/main" id="{FDDE4563-52C8-0681-7ECB-AFFDDB62AB9B}"/>
              </a:ext>
            </a:extLst>
          </p:cNvPr>
          <p:cNvCxnSpPr>
            <a:cxnSpLocks/>
          </p:cNvCxnSpPr>
          <p:nvPr/>
        </p:nvCxnSpPr>
        <p:spPr>
          <a:xfrm>
            <a:off x="879986" y="1733014"/>
            <a:ext cx="0" cy="1194285"/>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Rectangle 24">
            <a:extLst>
              <a:ext uri="{FF2B5EF4-FFF2-40B4-BE49-F238E27FC236}">
                <a16:creationId xmlns:a16="http://schemas.microsoft.com/office/drawing/2014/main" id="{F80C9E6C-CC93-5A38-296C-B9F31B724B4D}"/>
              </a:ext>
            </a:extLst>
          </p:cNvPr>
          <p:cNvSpPr>
            <a:spLocks noChangeArrowheads="1"/>
          </p:cNvSpPr>
          <p:nvPr/>
        </p:nvSpPr>
        <p:spPr bwMode="auto">
          <a:xfrm>
            <a:off x="512065" y="2168917"/>
            <a:ext cx="721352" cy="305212"/>
          </a:xfrm>
          <a:prstGeom prst="rect">
            <a:avLst/>
          </a:prstGeom>
          <a:solidFill>
            <a:srgbClr val="C3E3F9"/>
          </a:solidFill>
          <a:ln>
            <a:noFill/>
          </a:ln>
          <a:effec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局域网</a:t>
            </a:r>
            <a:endParaRPr kumimoji="1" lang="en-US" altLang="zh-CN" sz="1400" b="1" dirty="0">
              <a:solidFill>
                <a:srgbClr val="000099"/>
              </a:solidFill>
              <a:latin typeface="微软雅黑" pitchFamily="34" charset="-122"/>
              <a:ea typeface="微软雅黑" pitchFamily="34" charset="-122"/>
            </a:endParaRPr>
          </a:p>
        </p:txBody>
      </p:sp>
      <p:sp>
        <p:nvSpPr>
          <p:cNvPr id="3" name="Text Box 45">
            <a:extLst>
              <a:ext uri="{FF2B5EF4-FFF2-40B4-BE49-F238E27FC236}">
                <a16:creationId xmlns:a16="http://schemas.microsoft.com/office/drawing/2014/main" id="{81E05697-81A6-DC1A-AC4F-84F0EDF11E5C}"/>
              </a:ext>
            </a:extLst>
          </p:cNvPr>
          <p:cNvSpPr txBox="1">
            <a:spLocks noChangeArrowheads="1"/>
          </p:cNvSpPr>
          <p:nvPr/>
        </p:nvSpPr>
        <p:spPr bwMode="auto">
          <a:xfrm>
            <a:off x="4138997" y="1145135"/>
            <a:ext cx="1446037" cy="523220"/>
          </a:xfrm>
          <a:prstGeom prst="rect">
            <a:avLst/>
          </a:prstGeom>
          <a:solidFill>
            <a:srgbClr val="009900"/>
          </a:solidFill>
          <a:ln w="9525">
            <a:solidFill>
              <a:srgbClr val="333399"/>
            </a:solidFill>
            <a:miter lim="800000"/>
            <a:headEnd/>
            <a:tailEnd/>
          </a:ln>
          <a:effectLst/>
        </p:spPr>
        <p:txBody>
          <a:bodyPr wrap="none">
            <a:spAutoFit/>
          </a:bodyPr>
          <a:lstStyle/>
          <a:p>
            <a:pPr algn="ctr"/>
            <a:r>
              <a:rPr kumimoji="1" lang="en-US" altLang="zh-CN" sz="1400" b="1" dirty="0">
                <a:solidFill>
                  <a:schemeClr val="bg1"/>
                </a:solidFill>
                <a:latin typeface="微软雅黑" pitchFamily="34" charset="-122"/>
                <a:ea typeface="微软雅黑" pitchFamily="34" charset="-122"/>
              </a:rPr>
              <a:t>LLC </a:t>
            </a:r>
            <a:r>
              <a:rPr kumimoji="1" lang="zh-CN" altLang="en-US" sz="1400" b="1" dirty="0">
                <a:solidFill>
                  <a:schemeClr val="bg1"/>
                </a:solidFill>
                <a:latin typeface="微软雅黑" pitchFamily="34" charset="-122"/>
                <a:ea typeface="微软雅黑" pitchFamily="34" charset="-122"/>
              </a:rPr>
              <a:t>子层看不见</a:t>
            </a:r>
          </a:p>
          <a:p>
            <a:pPr algn="ctr"/>
            <a:r>
              <a:rPr kumimoji="1" lang="zh-CN" altLang="en-US" sz="1400" b="1" dirty="0">
                <a:solidFill>
                  <a:schemeClr val="bg1"/>
                </a:solidFill>
                <a:latin typeface="微软雅黑" pitchFamily="34" charset="-122"/>
                <a:ea typeface="微软雅黑" pitchFamily="34" charset="-122"/>
              </a:rPr>
              <a:t>下面的局域网</a:t>
            </a:r>
          </a:p>
        </p:txBody>
      </p:sp>
    </p:spTree>
    <p:custDataLst>
      <p:tags r:id="rId1"/>
    </p:custDataLst>
    <p:extLst>
      <p:ext uri="{BB962C8B-B14F-4D97-AF65-F5344CB8AC3E}">
        <p14:creationId xmlns:p14="http://schemas.microsoft.com/office/powerpoint/2010/main" val="92753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2000" fill="hold" grpId="0" nodeType="clickEffect">
                                  <p:stCondLst>
                                    <p:cond delay="0"/>
                                  </p:stCondLst>
                                  <p:childTnLst>
                                    <p:anim calcmode="discrete" valueType="str">
                                      <p:cBhvr>
                                        <p:cTn id="13" dur="10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4000" fill="hold" nodeType="clickEffect">
                                  <p:stCondLst>
                                    <p:cond delay="0"/>
                                  </p:stCondLst>
                                  <p:childTnLst>
                                    <p:anim calcmode="discrete" valueType="str">
                                      <p:cBhvr>
                                        <p:cTn id="17" dur="5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4000" fill="hold" nodeType="clickEffect">
                                  <p:stCondLst>
                                    <p:cond delay="0"/>
                                  </p:stCondLst>
                                  <p:childTnLst>
                                    <p:anim calcmode="discrete" valueType="str">
                                      <p:cBhvr>
                                        <p:cTn id="21"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3"/>
                                        </p:tgtEl>
                                        <p:attrNameLst>
                                          <p:attrName>style.visibility</p:attrName>
                                        </p:attrNameLst>
                                      </p:cBhvr>
                                      <p:to>
                                        <p:strVal val="visible"/>
                                      </p:to>
                                    </p:set>
                                  </p:childTnLst>
                                </p:cTn>
                              </p:par>
                            </p:childTnLst>
                          </p:cTn>
                        </p:par>
                        <p:par>
                          <p:cTn id="26" fill="hold">
                            <p:stCondLst>
                              <p:cond delay="500"/>
                            </p:stCondLst>
                            <p:childTnLst>
                              <p:par>
                                <p:cTn id="27" presetID="35" presetClass="emph" presetSubtype="0" repeatCount="3000" fill="hold" grpId="1" nodeType="afterEffect">
                                  <p:stCondLst>
                                    <p:cond delay="250"/>
                                  </p:stCondLst>
                                  <p:childTnLst>
                                    <p:anim calcmode="discrete" valueType="str">
                                      <p:cBhvr>
                                        <p:cTn id="28" dur="5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 grpId="0" animBg="1"/>
      <p:bldP spid="3"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0" name="Rectangle 18"/>
          <p:cNvSpPr>
            <a:spLocks noChangeArrowheads="1"/>
          </p:cNvSpPr>
          <p:nvPr/>
        </p:nvSpPr>
        <p:spPr bwMode="auto">
          <a:xfrm>
            <a:off x="1970731" y="1646765"/>
            <a:ext cx="4627574" cy="173998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p:cNvSpPr>
            <a:spLocks noChangeShapeType="1"/>
          </p:cNvSpPr>
          <p:nvPr/>
        </p:nvSpPr>
        <p:spPr bwMode="auto">
          <a:xfrm>
            <a:off x="6035307" y="2589353"/>
            <a:ext cx="1460551"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Rectangle 22"/>
          <p:cNvSpPr>
            <a:spLocks noChangeArrowheads="1"/>
          </p:cNvSpPr>
          <p:nvPr/>
        </p:nvSpPr>
        <p:spPr bwMode="auto">
          <a:xfrm>
            <a:off x="4683360" y="2143411"/>
            <a:ext cx="1384403" cy="818139"/>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grpSp>
        <p:nvGrpSpPr>
          <p:cNvPr id="4" name="组合 3">
            <a:extLst>
              <a:ext uri="{FF2B5EF4-FFF2-40B4-BE49-F238E27FC236}">
                <a16:creationId xmlns:a16="http://schemas.microsoft.com/office/drawing/2014/main" id="{57D91B6A-EDA5-1A03-E1D5-B5D629B35A13}"/>
              </a:ext>
            </a:extLst>
          </p:cNvPr>
          <p:cNvGrpSpPr/>
          <p:nvPr/>
        </p:nvGrpSpPr>
        <p:grpSpPr>
          <a:xfrm>
            <a:off x="6548435" y="2243289"/>
            <a:ext cx="912800" cy="662056"/>
            <a:chOff x="6548435" y="2243289"/>
            <a:chExt cx="912800" cy="662056"/>
          </a:xfrm>
        </p:grpSpPr>
        <p:sp>
          <p:nvSpPr>
            <p:cNvPr id="12" name="Text Box 21"/>
            <p:cNvSpPr txBox="1">
              <a:spLocks noChangeArrowheads="1"/>
            </p:cNvSpPr>
            <p:nvPr/>
          </p:nvSpPr>
          <p:spPr bwMode="auto">
            <a:xfrm>
              <a:off x="6548435" y="2243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4" name="Text Box 23"/>
            <p:cNvSpPr txBox="1">
              <a:spLocks noChangeArrowheads="1"/>
            </p:cNvSpPr>
            <p:nvPr/>
          </p:nvSpPr>
          <p:spPr bwMode="auto">
            <a:xfrm>
              <a:off x="6558424" y="25975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grpSp>
      <p:sp>
        <p:nvSpPr>
          <p:cNvPr id="15" name="Rectangle 24"/>
          <p:cNvSpPr>
            <a:spLocks noChangeArrowheads="1"/>
          </p:cNvSpPr>
          <p:nvPr/>
        </p:nvSpPr>
        <p:spPr bwMode="auto">
          <a:xfrm>
            <a:off x="2500025" y="2143411"/>
            <a:ext cx="1384402" cy="818139"/>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p:cNvSpPr>
            <a:spLocks noChangeShapeType="1"/>
          </p:cNvSpPr>
          <p:nvPr/>
        </p:nvSpPr>
        <p:spPr bwMode="auto">
          <a:xfrm flipV="1">
            <a:off x="2928203"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p:cNvSpPr txBox="1">
            <a:spLocks noChangeArrowheads="1"/>
          </p:cNvSpPr>
          <p:nvPr/>
        </p:nvSpPr>
        <p:spPr bwMode="auto">
          <a:xfrm>
            <a:off x="2049375" y="3605690"/>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p:cNvSpPr>
            <a:spLocks noChangeShapeType="1"/>
          </p:cNvSpPr>
          <p:nvPr/>
        </p:nvSpPr>
        <p:spPr bwMode="auto">
          <a:xfrm flipV="1">
            <a:off x="5082828"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p:cNvSpPr txBox="1">
            <a:spLocks noChangeArrowheads="1"/>
          </p:cNvSpPr>
          <p:nvPr/>
        </p:nvSpPr>
        <p:spPr bwMode="auto">
          <a:xfrm>
            <a:off x="4315417" y="3605690"/>
            <a:ext cx="16209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p:cNvSpPr txBox="1">
            <a:spLocks noChangeArrowheads="1"/>
          </p:cNvSpPr>
          <p:nvPr/>
        </p:nvSpPr>
        <p:spPr bwMode="auto">
          <a:xfrm>
            <a:off x="3901098" y="1659511"/>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p:cNvSpPr>
            <a:spLocks noChangeArrowheads="1"/>
          </p:cNvSpPr>
          <p:nvPr/>
        </p:nvSpPr>
        <p:spPr bwMode="auto">
          <a:xfrm>
            <a:off x="3805782" y="2309342"/>
            <a:ext cx="956224" cy="496644"/>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p:cNvSpPr txBox="1">
            <a:spLocks noChangeArrowheads="1"/>
          </p:cNvSpPr>
          <p:nvPr/>
        </p:nvSpPr>
        <p:spPr bwMode="auto">
          <a:xfrm>
            <a:off x="4028551" y="2666347"/>
            <a:ext cx="543739"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p:cNvSpPr>
            <a:spLocks noChangeArrowheads="1"/>
          </p:cNvSpPr>
          <p:nvPr/>
        </p:nvSpPr>
        <p:spPr bwMode="auto">
          <a:xfrm>
            <a:off x="2628603" y="2476427"/>
            <a:ext cx="158539" cy="1232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p:cNvSpPr>
            <a:spLocks/>
          </p:cNvSpPr>
          <p:nvPr/>
        </p:nvSpPr>
        <p:spPr bwMode="auto">
          <a:xfrm>
            <a:off x="2228447" y="1554563"/>
            <a:ext cx="959844" cy="919542"/>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p:cNvSpPr>
            <a:spLocks noChangeArrowheads="1"/>
          </p:cNvSpPr>
          <p:nvPr/>
        </p:nvSpPr>
        <p:spPr bwMode="auto">
          <a:xfrm>
            <a:off x="5801868" y="2476427"/>
            <a:ext cx="158539" cy="123297"/>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p:cNvSpPr>
            <a:spLocks/>
          </p:cNvSpPr>
          <p:nvPr/>
        </p:nvSpPr>
        <p:spPr bwMode="auto">
          <a:xfrm>
            <a:off x="5361958" y="1559190"/>
            <a:ext cx="1076064" cy="914933"/>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p:cNvSpPr txBox="1">
            <a:spLocks noChangeArrowheads="1"/>
          </p:cNvSpPr>
          <p:nvPr/>
        </p:nvSpPr>
        <p:spPr bwMode="auto">
          <a:xfrm>
            <a:off x="5370537" y="1258287"/>
            <a:ext cx="1067485" cy="307777"/>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p:cNvSpPr txBox="1">
            <a:spLocks noChangeArrowheads="1"/>
          </p:cNvSpPr>
          <p:nvPr/>
        </p:nvSpPr>
        <p:spPr bwMode="auto">
          <a:xfrm>
            <a:off x="2224504" y="1259932"/>
            <a:ext cx="963975" cy="307777"/>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sp>
        <p:nvSpPr>
          <p:cNvPr id="2" name="矩形 1"/>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
        <p:nvSpPr>
          <p:cNvPr id="3" name="对话气泡: 矩形 2">
            <a:extLst>
              <a:ext uri="{FF2B5EF4-FFF2-40B4-BE49-F238E27FC236}">
                <a16:creationId xmlns:a16="http://schemas.microsoft.com/office/drawing/2014/main" id="{D2D69850-7702-12FF-399F-47555BBC63FE}"/>
              </a:ext>
            </a:extLst>
          </p:cNvPr>
          <p:cNvSpPr/>
          <p:nvPr/>
        </p:nvSpPr>
        <p:spPr>
          <a:xfrm>
            <a:off x="6079135" y="3118054"/>
            <a:ext cx="1437319" cy="537392"/>
          </a:xfrm>
          <a:prstGeom prst="wedgeRectCallout">
            <a:avLst>
              <a:gd name="adj1" fmla="val -63929"/>
              <a:gd name="adj2" fmla="val -10674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装有独立的处理器和存储器</a:t>
            </a:r>
          </a:p>
        </p:txBody>
      </p:sp>
    </p:spTree>
    <p:extLst>
      <p:ext uri="{BB962C8B-B14F-4D97-AF65-F5344CB8AC3E}">
        <p14:creationId xmlns:p14="http://schemas.microsoft.com/office/powerpoint/2010/main" val="961888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nodeType="clickEffect">
                                  <p:stCondLst>
                                    <p:cond delay="0"/>
                                  </p:stCondLst>
                                  <p:childTnLst>
                                    <p:anim calcmode="discrete" valueType="str">
                                      <p:cBhvr>
                                        <p:cTn id="13"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9F8A8-BEF8-9579-F46C-3928D441442B}"/>
            </a:ext>
          </a:extLst>
        </p:cNvPr>
        <p:cNvGrpSpPr/>
        <p:nvPr/>
      </p:nvGrpSpPr>
      <p:grpSpPr>
        <a:xfrm>
          <a:off x="0" y="0"/>
          <a:ext cx="0" cy="0"/>
          <a:chOff x="0" y="0"/>
          <a:chExt cx="0" cy="0"/>
        </a:xfrm>
      </p:grpSpPr>
      <p:sp>
        <p:nvSpPr>
          <p:cNvPr id="8" name="AutoShape 5">
            <a:extLst>
              <a:ext uri="{FF2B5EF4-FFF2-40B4-BE49-F238E27FC236}">
                <a16:creationId xmlns:a16="http://schemas.microsoft.com/office/drawing/2014/main" id="{57D3019A-F99D-5890-97C0-51A96117AD2D}"/>
              </a:ext>
            </a:extLst>
          </p:cNvPr>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E2CD9251-A431-F3F9-7E4D-96F23995C64F}"/>
              </a:ext>
            </a:extLst>
          </p:cNvPr>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a:extLst>
              <a:ext uri="{FF2B5EF4-FFF2-40B4-BE49-F238E27FC236}">
                <a16:creationId xmlns:a16="http://schemas.microsoft.com/office/drawing/2014/main" id="{A68E4C50-A346-7BF3-EC86-7BF77005651D}"/>
              </a:ext>
            </a:extLst>
          </p:cNvPr>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0" name="Rectangle 18">
            <a:extLst>
              <a:ext uri="{FF2B5EF4-FFF2-40B4-BE49-F238E27FC236}">
                <a16:creationId xmlns:a16="http://schemas.microsoft.com/office/drawing/2014/main" id="{C5956060-DA45-A7ED-DC24-D72A27748205}"/>
              </a:ext>
            </a:extLst>
          </p:cNvPr>
          <p:cNvSpPr>
            <a:spLocks noChangeArrowheads="1"/>
          </p:cNvSpPr>
          <p:nvPr/>
        </p:nvSpPr>
        <p:spPr bwMode="auto">
          <a:xfrm>
            <a:off x="1970731" y="1646765"/>
            <a:ext cx="4627574" cy="173998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a:extLst>
              <a:ext uri="{FF2B5EF4-FFF2-40B4-BE49-F238E27FC236}">
                <a16:creationId xmlns:a16="http://schemas.microsoft.com/office/drawing/2014/main" id="{487013F9-5AF4-FDC2-854B-49EEE5802660}"/>
              </a:ext>
            </a:extLst>
          </p:cNvPr>
          <p:cNvSpPr>
            <a:spLocks noChangeShapeType="1"/>
          </p:cNvSpPr>
          <p:nvPr/>
        </p:nvSpPr>
        <p:spPr bwMode="auto">
          <a:xfrm>
            <a:off x="6035307" y="2589353"/>
            <a:ext cx="1460551"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Rectangle 22">
            <a:extLst>
              <a:ext uri="{FF2B5EF4-FFF2-40B4-BE49-F238E27FC236}">
                <a16:creationId xmlns:a16="http://schemas.microsoft.com/office/drawing/2014/main" id="{21416533-6D88-B8DC-FDCD-A5311DBBE82A}"/>
              </a:ext>
            </a:extLst>
          </p:cNvPr>
          <p:cNvSpPr>
            <a:spLocks noChangeArrowheads="1"/>
          </p:cNvSpPr>
          <p:nvPr/>
        </p:nvSpPr>
        <p:spPr bwMode="auto">
          <a:xfrm>
            <a:off x="4683360" y="2143411"/>
            <a:ext cx="1384403" cy="818139"/>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grpSp>
        <p:nvGrpSpPr>
          <p:cNvPr id="4" name="组合 3">
            <a:extLst>
              <a:ext uri="{FF2B5EF4-FFF2-40B4-BE49-F238E27FC236}">
                <a16:creationId xmlns:a16="http://schemas.microsoft.com/office/drawing/2014/main" id="{41BA28BB-B885-D05C-0558-02D5B116F607}"/>
              </a:ext>
            </a:extLst>
          </p:cNvPr>
          <p:cNvGrpSpPr/>
          <p:nvPr/>
        </p:nvGrpSpPr>
        <p:grpSpPr>
          <a:xfrm>
            <a:off x="6548435" y="2243289"/>
            <a:ext cx="912800" cy="662056"/>
            <a:chOff x="6548435" y="2243289"/>
            <a:chExt cx="912800" cy="662056"/>
          </a:xfrm>
        </p:grpSpPr>
        <p:sp>
          <p:nvSpPr>
            <p:cNvPr id="12" name="Text Box 21">
              <a:extLst>
                <a:ext uri="{FF2B5EF4-FFF2-40B4-BE49-F238E27FC236}">
                  <a16:creationId xmlns:a16="http://schemas.microsoft.com/office/drawing/2014/main" id="{7E5821B7-3B97-AA32-D2BF-2CA7936B897B}"/>
                </a:ext>
              </a:extLst>
            </p:cNvPr>
            <p:cNvSpPr txBox="1">
              <a:spLocks noChangeArrowheads="1"/>
            </p:cNvSpPr>
            <p:nvPr/>
          </p:nvSpPr>
          <p:spPr bwMode="auto">
            <a:xfrm>
              <a:off x="6548435" y="2243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4" name="Text Box 23">
              <a:extLst>
                <a:ext uri="{FF2B5EF4-FFF2-40B4-BE49-F238E27FC236}">
                  <a16:creationId xmlns:a16="http://schemas.microsoft.com/office/drawing/2014/main" id="{24C3747D-EBF4-7EA6-E6F8-3825A8D7EC8C}"/>
                </a:ext>
              </a:extLst>
            </p:cNvPr>
            <p:cNvSpPr txBox="1">
              <a:spLocks noChangeArrowheads="1"/>
            </p:cNvSpPr>
            <p:nvPr/>
          </p:nvSpPr>
          <p:spPr bwMode="auto">
            <a:xfrm>
              <a:off x="6558424" y="25975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grpSp>
      <p:sp>
        <p:nvSpPr>
          <p:cNvPr id="15" name="Rectangle 24">
            <a:extLst>
              <a:ext uri="{FF2B5EF4-FFF2-40B4-BE49-F238E27FC236}">
                <a16:creationId xmlns:a16="http://schemas.microsoft.com/office/drawing/2014/main" id="{FB080BDE-67B0-EFDB-EBF0-157E0200AE6D}"/>
              </a:ext>
            </a:extLst>
          </p:cNvPr>
          <p:cNvSpPr>
            <a:spLocks noChangeArrowheads="1"/>
          </p:cNvSpPr>
          <p:nvPr/>
        </p:nvSpPr>
        <p:spPr bwMode="auto">
          <a:xfrm>
            <a:off x="2500025" y="2143411"/>
            <a:ext cx="1384402" cy="818139"/>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a:extLst>
              <a:ext uri="{FF2B5EF4-FFF2-40B4-BE49-F238E27FC236}">
                <a16:creationId xmlns:a16="http://schemas.microsoft.com/office/drawing/2014/main" id="{4CBBA2F5-C658-7930-9B38-9F9EA9E2448A}"/>
              </a:ext>
            </a:extLst>
          </p:cNvPr>
          <p:cNvSpPr>
            <a:spLocks noChangeShapeType="1"/>
          </p:cNvSpPr>
          <p:nvPr/>
        </p:nvSpPr>
        <p:spPr bwMode="auto">
          <a:xfrm flipV="1">
            <a:off x="2928203"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a:extLst>
              <a:ext uri="{FF2B5EF4-FFF2-40B4-BE49-F238E27FC236}">
                <a16:creationId xmlns:a16="http://schemas.microsoft.com/office/drawing/2014/main" id="{0F0A0E54-BC99-EA43-361A-7D4A6D51F620}"/>
              </a:ext>
            </a:extLst>
          </p:cNvPr>
          <p:cNvSpPr txBox="1">
            <a:spLocks noChangeArrowheads="1"/>
          </p:cNvSpPr>
          <p:nvPr/>
        </p:nvSpPr>
        <p:spPr bwMode="auto">
          <a:xfrm>
            <a:off x="2049375" y="3605690"/>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a:extLst>
              <a:ext uri="{FF2B5EF4-FFF2-40B4-BE49-F238E27FC236}">
                <a16:creationId xmlns:a16="http://schemas.microsoft.com/office/drawing/2014/main" id="{3E1FE8A8-8329-FCA1-D679-ADF71A6E7111}"/>
              </a:ext>
            </a:extLst>
          </p:cNvPr>
          <p:cNvSpPr>
            <a:spLocks noChangeShapeType="1"/>
          </p:cNvSpPr>
          <p:nvPr/>
        </p:nvSpPr>
        <p:spPr bwMode="auto">
          <a:xfrm flipV="1">
            <a:off x="5082828"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a:extLst>
              <a:ext uri="{FF2B5EF4-FFF2-40B4-BE49-F238E27FC236}">
                <a16:creationId xmlns:a16="http://schemas.microsoft.com/office/drawing/2014/main" id="{6AD36DE6-11FB-BE7D-9D3D-31C4B90D3CC4}"/>
              </a:ext>
            </a:extLst>
          </p:cNvPr>
          <p:cNvSpPr txBox="1">
            <a:spLocks noChangeArrowheads="1"/>
          </p:cNvSpPr>
          <p:nvPr/>
        </p:nvSpPr>
        <p:spPr bwMode="auto">
          <a:xfrm>
            <a:off x="4315417" y="3605690"/>
            <a:ext cx="16209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a:extLst>
              <a:ext uri="{FF2B5EF4-FFF2-40B4-BE49-F238E27FC236}">
                <a16:creationId xmlns:a16="http://schemas.microsoft.com/office/drawing/2014/main" id="{B2F4A54F-C333-C899-B680-D5D025DC0439}"/>
              </a:ext>
            </a:extLst>
          </p:cNvPr>
          <p:cNvSpPr txBox="1">
            <a:spLocks noChangeArrowheads="1"/>
          </p:cNvSpPr>
          <p:nvPr/>
        </p:nvSpPr>
        <p:spPr bwMode="auto">
          <a:xfrm>
            <a:off x="3901098" y="1659511"/>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a:extLst>
              <a:ext uri="{FF2B5EF4-FFF2-40B4-BE49-F238E27FC236}">
                <a16:creationId xmlns:a16="http://schemas.microsoft.com/office/drawing/2014/main" id="{A3263433-77F4-E86D-7572-5BA1B38E7B38}"/>
              </a:ext>
            </a:extLst>
          </p:cNvPr>
          <p:cNvSpPr>
            <a:spLocks noChangeArrowheads="1"/>
          </p:cNvSpPr>
          <p:nvPr/>
        </p:nvSpPr>
        <p:spPr bwMode="auto">
          <a:xfrm>
            <a:off x="3805782" y="2309342"/>
            <a:ext cx="956224" cy="496644"/>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a:extLst>
              <a:ext uri="{FF2B5EF4-FFF2-40B4-BE49-F238E27FC236}">
                <a16:creationId xmlns:a16="http://schemas.microsoft.com/office/drawing/2014/main" id="{8992A447-EF78-E5D4-DCDB-20D231863C59}"/>
              </a:ext>
            </a:extLst>
          </p:cNvPr>
          <p:cNvSpPr txBox="1">
            <a:spLocks noChangeArrowheads="1"/>
          </p:cNvSpPr>
          <p:nvPr/>
        </p:nvSpPr>
        <p:spPr bwMode="auto">
          <a:xfrm>
            <a:off x="4028551" y="2666347"/>
            <a:ext cx="543739"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a:extLst>
              <a:ext uri="{FF2B5EF4-FFF2-40B4-BE49-F238E27FC236}">
                <a16:creationId xmlns:a16="http://schemas.microsoft.com/office/drawing/2014/main" id="{A682ABD6-8FA0-AC25-4836-1932161BA01E}"/>
              </a:ext>
            </a:extLst>
          </p:cNvPr>
          <p:cNvSpPr>
            <a:spLocks noChangeArrowheads="1"/>
          </p:cNvSpPr>
          <p:nvPr/>
        </p:nvSpPr>
        <p:spPr bwMode="auto">
          <a:xfrm>
            <a:off x="2628603" y="2476427"/>
            <a:ext cx="158539" cy="1232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a:extLst>
              <a:ext uri="{FF2B5EF4-FFF2-40B4-BE49-F238E27FC236}">
                <a16:creationId xmlns:a16="http://schemas.microsoft.com/office/drawing/2014/main" id="{DFAC6A0A-CA1B-0612-CC27-5763CBB65729}"/>
              </a:ext>
            </a:extLst>
          </p:cNvPr>
          <p:cNvSpPr>
            <a:spLocks/>
          </p:cNvSpPr>
          <p:nvPr/>
        </p:nvSpPr>
        <p:spPr bwMode="auto">
          <a:xfrm>
            <a:off x="2228447" y="1554563"/>
            <a:ext cx="959844" cy="919542"/>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a:extLst>
              <a:ext uri="{FF2B5EF4-FFF2-40B4-BE49-F238E27FC236}">
                <a16:creationId xmlns:a16="http://schemas.microsoft.com/office/drawing/2014/main" id="{AB025B50-F14C-AF9B-CAA0-F347DE78FEBA}"/>
              </a:ext>
            </a:extLst>
          </p:cNvPr>
          <p:cNvSpPr>
            <a:spLocks noChangeArrowheads="1"/>
          </p:cNvSpPr>
          <p:nvPr/>
        </p:nvSpPr>
        <p:spPr bwMode="auto">
          <a:xfrm>
            <a:off x="5801868" y="2476427"/>
            <a:ext cx="158539" cy="123297"/>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a:extLst>
              <a:ext uri="{FF2B5EF4-FFF2-40B4-BE49-F238E27FC236}">
                <a16:creationId xmlns:a16="http://schemas.microsoft.com/office/drawing/2014/main" id="{3E14314B-B804-0BB3-FE30-D80D976E40C5}"/>
              </a:ext>
            </a:extLst>
          </p:cNvPr>
          <p:cNvSpPr>
            <a:spLocks/>
          </p:cNvSpPr>
          <p:nvPr/>
        </p:nvSpPr>
        <p:spPr bwMode="auto">
          <a:xfrm>
            <a:off x="5361958" y="1559190"/>
            <a:ext cx="1076064" cy="914933"/>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a:extLst>
              <a:ext uri="{FF2B5EF4-FFF2-40B4-BE49-F238E27FC236}">
                <a16:creationId xmlns:a16="http://schemas.microsoft.com/office/drawing/2014/main" id="{D5A2AE18-CAF5-EC3B-2BB0-5BD8DEF91520}"/>
              </a:ext>
            </a:extLst>
          </p:cNvPr>
          <p:cNvSpPr txBox="1">
            <a:spLocks noChangeArrowheads="1"/>
          </p:cNvSpPr>
          <p:nvPr/>
        </p:nvSpPr>
        <p:spPr bwMode="auto">
          <a:xfrm>
            <a:off x="5370537" y="1258287"/>
            <a:ext cx="1067485" cy="307777"/>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a:extLst>
              <a:ext uri="{FF2B5EF4-FFF2-40B4-BE49-F238E27FC236}">
                <a16:creationId xmlns:a16="http://schemas.microsoft.com/office/drawing/2014/main" id="{CB93A9F6-428F-9AE0-7ACB-141FAB90C9EE}"/>
              </a:ext>
            </a:extLst>
          </p:cNvPr>
          <p:cNvSpPr txBox="1">
            <a:spLocks noChangeArrowheads="1"/>
          </p:cNvSpPr>
          <p:nvPr/>
        </p:nvSpPr>
        <p:spPr bwMode="auto">
          <a:xfrm>
            <a:off x="2224504" y="1259932"/>
            <a:ext cx="963975" cy="307777"/>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sp>
        <p:nvSpPr>
          <p:cNvPr id="2" name="矩形 1">
            <a:extLst>
              <a:ext uri="{FF2B5EF4-FFF2-40B4-BE49-F238E27FC236}">
                <a16:creationId xmlns:a16="http://schemas.microsoft.com/office/drawing/2014/main" id="{0F3CAAB6-DE85-F147-5C2F-295FD58A2A9E}"/>
              </a:ext>
            </a:extLst>
          </p:cNvPr>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
        <p:nvSpPr>
          <p:cNvPr id="3" name="对话气泡: 矩形 2">
            <a:extLst>
              <a:ext uri="{FF2B5EF4-FFF2-40B4-BE49-F238E27FC236}">
                <a16:creationId xmlns:a16="http://schemas.microsoft.com/office/drawing/2014/main" id="{66B7149D-ADB9-BF84-4AA6-F2116D996268}"/>
              </a:ext>
            </a:extLst>
          </p:cNvPr>
          <p:cNvSpPr/>
          <p:nvPr/>
        </p:nvSpPr>
        <p:spPr>
          <a:xfrm>
            <a:off x="6079135" y="3118054"/>
            <a:ext cx="1904659" cy="537392"/>
          </a:xfrm>
          <a:prstGeom prst="wedgeRectCallout">
            <a:avLst>
              <a:gd name="adj1" fmla="val -63929"/>
              <a:gd name="adj2" fmla="val -10674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有缓冲区，临时存放要发送的数据</a:t>
            </a:r>
          </a:p>
        </p:txBody>
      </p:sp>
    </p:spTree>
    <p:extLst>
      <p:ext uri="{BB962C8B-B14F-4D97-AF65-F5344CB8AC3E}">
        <p14:creationId xmlns:p14="http://schemas.microsoft.com/office/powerpoint/2010/main" val="117277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BAE6D-6046-EC19-3B3C-1B8E18EE2CCA}"/>
            </a:ext>
          </a:extLst>
        </p:cNvPr>
        <p:cNvGrpSpPr/>
        <p:nvPr/>
      </p:nvGrpSpPr>
      <p:grpSpPr>
        <a:xfrm>
          <a:off x="0" y="0"/>
          <a:ext cx="0" cy="0"/>
          <a:chOff x="0" y="0"/>
          <a:chExt cx="0" cy="0"/>
        </a:xfrm>
      </p:grpSpPr>
      <p:sp>
        <p:nvSpPr>
          <p:cNvPr id="8" name="AutoShape 5">
            <a:extLst>
              <a:ext uri="{FF2B5EF4-FFF2-40B4-BE49-F238E27FC236}">
                <a16:creationId xmlns:a16="http://schemas.microsoft.com/office/drawing/2014/main" id="{E098BFE5-6E51-A241-21B1-2333376D2C28}"/>
              </a:ext>
            </a:extLst>
          </p:cNvPr>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36A95ED9-48A0-5519-12E5-0AD876B10198}"/>
              </a:ext>
            </a:extLst>
          </p:cNvPr>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a:extLst>
              <a:ext uri="{FF2B5EF4-FFF2-40B4-BE49-F238E27FC236}">
                <a16:creationId xmlns:a16="http://schemas.microsoft.com/office/drawing/2014/main" id="{090F40EF-FB1C-0F05-BB4D-AE12806E9AD3}"/>
              </a:ext>
            </a:extLst>
          </p:cNvPr>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0" name="Rectangle 18">
            <a:extLst>
              <a:ext uri="{FF2B5EF4-FFF2-40B4-BE49-F238E27FC236}">
                <a16:creationId xmlns:a16="http://schemas.microsoft.com/office/drawing/2014/main" id="{2EE8F46C-8DA8-FB41-BC68-7F9FDC5730AA}"/>
              </a:ext>
            </a:extLst>
          </p:cNvPr>
          <p:cNvSpPr>
            <a:spLocks noChangeArrowheads="1"/>
          </p:cNvSpPr>
          <p:nvPr/>
        </p:nvSpPr>
        <p:spPr bwMode="auto">
          <a:xfrm>
            <a:off x="1970731" y="1646765"/>
            <a:ext cx="4627574" cy="173998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a:extLst>
              <a:ext uri="{FF2B5EF4-FFF2-40B4-BE49-F238E27FC236}">
                <a16:creationId xmlns:a16="http://schemas.microsoft.com/office/drawing/2014/main" id="{EFAC5CE4-0578-0813-6CD3-916C50C75E53}"/>
              </a:ext>
            </a:extLst>
          </p:cNvPr>
          <p:cNvSpPr>
            <a:spLocks noChangeShapeType="1"/>
          </p:cNvSpPr>
          <p:nvPr/>
        </p:nvSpPr>
        <p:spPr bwMode="auto">
          <a:xfrm>
            <a:off x="6035307" y="2589353"/>
            <a:ext cx="1460551"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Rectangle 22">
            <a:extLst>
              <a:ext uri="{FF2B5EF4-FFF2-40B4-BE49-F238E27FC236}">
                <a16:creationId xmlns:a16="http://schemas.microsoft.com/office/drawing/2014/main" id="{252321E9-0B5A-ED33-3F3E-C9C06598D9E7}"/>
              </a:ext>
            </a:extLst>
          </p:cNvPr>
          <p:cNvSpPr>
            <a:spLocks noChangeArrowheads="1"/>
          </p:cNvSpPr>
          <p:nvPr/>
        </p:nvSpPr>
        <p:spPr bwMode="auto">
          <a:xfrm>
            <a:off x="4683360" y="2143411"/>
            <a:ext cx="1384403" cy="818139"/>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grpSp>
        <p:nvGrpSpPr>
          <p:cNvPr id="4" name="组合 3">
            <a:extLst>
              <a:ext uri="{FF2B5EF4-FFF2-40B4-BE49-F238E27FC236}">
                <a16:creationId xmlns:a16="http://schemas.microsoft.com/office/drawing/2014/main" id="{2F1DF923-76FA-F594-7E8F-E40B42F8A624}"/>
              </a:ext>
            </a:extLst>
          </p:cNvPr>
          <p:cNvGrpSpPr/>
          <p:nvPr/>
        </p:nvGrpSpPr>
        <p:grpSpPr>
          <a:xfrm>
            <a:off x="6548435" y="2243289"/>
            <a:ext cx="912800" cy="662056"/>
            <a:chOff x="6548435" y="2243289"/>
            <a:chExt cx="912800" cy="662056"/>
          </a:xfrm>
        </p:grpSpPr>
        <p:sp>
          <p:nvSpPr>
            <p:cNvPr id="12" name="Text Box 21">
              <a:extLst>
                <a:ext uri="{FF2B5EF4-FFF2-40B4-BE49-F238E27FC236}">
                  <a16:creationId xmlns:a16="http://schemas.microsoft.com/office/drawing/2014/main" id="{D825EA66-E5A3-7FE6-E9A5-E2EE0F08EC65}"/>
                </a:ext>
              </a:extLst>
            </p:cNvPr>
            <p:cNvSpPr txBox="1">
              <a:spLocks noChangeArrowheads="1"/>
            </p:cNvSpPr>
            <p:nvPr/>
          </p:nvSpPr>
          <p:spPr bwMode="auto">
            <a:xfrm>
              <a:off x="6548435" y="2243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4" name="Text Box 23">
              <a:extLst>
                <a:ext uri="{FF2B5EF4-FFF2-40B4-BE49-F238E27FC236}">
                  <a16:creationId xmlns:a16="http://schemas.microsoft.com/office/drawing/2014/main" id="{50C386DA-AF0F-FBF2-A36D-16F41C5D6438}"/>
                </a:ext>
              </a:extLst>
            </p:cNvPr>
            <p:cNvSpPr txBox="1">
              <a:spLocks noChangeArrowheads="1"/>
            </p:cNvSpPr>
            <p:nvPr/>
          </p:nvSpPr>
          <p:spPr bwMode="auto">
            <a:xfrm>
              <a:off x="6558424" y="25975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grpSp>
      <p:sp>
        <p:nvSpPr>
          <p:cNvPr id="15" name="Rectangle 24">
            <a:extLst>
              <a:ext uri="{FF2B5EF4-FFF2-40B4-BE49-F238E27FC236}">
                <a16:creationId xmlns:a16="http://schemas.microsoft.com/office/drawing/2014/main" id="{C09F335E-16A2-23EE-55ED-3B20085DCD00}"/>
              </a:ext>
            </a:extLst>
          </p:cNvPr>
          <p:cNvSpPr>
            <a:spLocks noChangeArrowheads="1"/>
          </p:cNvSpPr>
          <p:nvPr/>
        </p:nvSpPr>
        <p:spPr bwMode="auto">
          <a:xfrm>
            <a:off x="2500025" y="2143411"/>
            <a:ext cx="1384402" cy="818139"/>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a:extLst>
              <a:ext uri="{FF2B5EF4-FFF2-40B4-BE49-F238E27FC236}">
                <a16:creationId xmlns:a16="http://schemas.microsoft.com/office/drawing/2014/main" id="{B3FAD4F9-177D-6E91-80AE-6800C5D62D63}"/>
              </a:ext>
            </a:extLst>
          </p:cNvPr>
          <p:cNvSpPr>
            <a:spLocks noChangeShapeType="1"/>
          </p:cNvSpPr>
          <p:nvPr/>
        </p:nvSpPr>
        <p:spPr bwMode="auto">
          <a:xfrm flipV="1">
            <a:off x="2928203"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a:extLst>
              <a:ext uri="{FF2B5EF4-FFF2-40B4-BE49-F238E27FC236}">
                <a16:creationId xmlns:a16="http://schemas.microsoft.com/office/drawing/2014/main" id="{CB955B7F-8EC6-1428-422F-79097EFC4ECB}"/>
              </a:ext>
            </a:extLst>
          </p:cNvPr>
          <p:cNvSpPr txBox="1">
            <a:spLocks noChangeArrowheads="1"/>
          </p:cNvSpPr>
          <p:nvPr/>
        </p:nvSpPr>
        <p:spPr bwMode="auto">
          <a:xfrm>
            <a:off x="2049375" y="3605690"/>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a:extLst>
              <a:ext uri="{FF2B5EF4-FFF2-40B4-BE49-F238E27FC236}">
                <a16:creationId xmlns:a16="http://schemas.microsoft.com/office/drawing/2014/main" id="{1B33D196-EF84-4659-5A7C-1344D00ECADF}"/>
              </a:ext>
            </a:extLst>
          </p:cNvPr>
          <p:cNvSpPr>
            <a:spLocks noChangeShapeType="1"/>
          </p:cNvSpPr>
          <p:nvPr/>
        </p:nvSpPr>
        <p:spPr bwMode="auto">
          <a:xfrm flipV="1">
            <a:off x="5082828"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a:extLst>
              <a:ext uri="{FF2B5EF4-FFF2-40B4-BE49-F238E27FC236}">
                <a16:creationId xmlns:a16="http://schemas.microsoft.com/office/drawing/2014/main" id="{78851E46-E7FF-91CB-420E-E1CAE1BE067B}"/>
              </a:ext>
            </a:extLst>
          </p:cNvPr>
          <p:cNvSpPr txBox="1">
            <a:spLocks noChangeArrowheads="1"/>
          </p:cNvSpPr>
          <p:nvPr/>
        </p:nvSpPr>
        <p:spPr bwMode="auto">
          <a:xfrm>
            <a:off x="4315417" y="3605690"/>
            <a:ext cx="16209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a:extLst>
              <a:ext uri="{FF2B5EF4-FFF2-40B4-BE49-F238E27FC236}">
                <a16:creationId xmlns:a16="http://schemas.microsoft.com/office/drawing/2014/main" id="{1C34E1DD-312E-C780-F02E-C593B53F6DAB}"/>
              </a:ext>
            </a:extLst>
          </p:cNvPr>
          <p:cNvSpPr txBox="1">
            <a:spLocks noChangeArrowheads="1"/>
          </p:cNvSpPr>
          <p:nvPr/>
        </p:nvSpPr>
        <p:spPr bwMode="auto">
          <a:xfrm>
            <a:off x="3901098" y="1659511"/>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a:extLst>
              <a:ext uri="{FF2B5EF4-FFF2-40B4-BE49-F238E27FC236}">
                <a16:creationId xmlns:a16="http://schemas.microsoft.com/office/drawing/2014/main" id="{594E8A29-0278-D0DB-35DB-60033003F961}"/>
              </a:ext>
            </a:extLst>
          </p:cNvPr>
          <p:cNvSpPr>
            <a:spLocks noChangeArrowheads="1"/>
          </p:cNvSpPr>
          <p:nvPr/>
        </p:nvSpPr>
        <p:spPr bwMode="auto">
          <a:xfrm>
            <a:off x="3805782" y="2309342"/>
            <a:ext cx="956224" cy="496644"/>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a:extLst>
              <a:ext uri="{FF2B5EF4-FFF2-40B4-BE49-F238E27FC236}">
                <a16:creationId xmlns:a16="http://schemas.microsoft.com/office/drawing/2014/main" id="{66D09CE6-267F-2242-8357-C40E68F8EDD4}"/>
              </a:ext>
            </a:extLst>
          </p:cNvPr>
          <p:cNvSpPr txBox="1">
            <a:spLocks noChangeArrowheads="1"/>
          </p:cNvSpPr>
          <p:nvPr/>
        </p:nvSpPr>
        <p:spPr bwMode="auto">
          <a:xfrm>
            <a:off x="4028551" y="2666347"/>
            <a:ext cx="543739"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a:extLst>
              <a:ext uri="{FF2B5EF4-FFF2-40B4-BE49-F238E27FC236}">
                <a16:creationId xmlns:a16="http://schemas.microsoft.com/office/drawing/2014/main" id="{B9D52232-C885-5B10-9200-7E43D14C9238}"/>
              </a:ext>
            </a:extLst>
          </p:cNvPr>
          <p:cNvSpPr>
            <a:spLocks noChangeArrowheads="1"/>
          </p:cNvSpPr>
          <p:nvPr/>
        </p:nvSpPr>
        <p:spPr bwMode="auto">
          <a:xfrm>
            <a:off x="2628603" y="2476427"/>
            <a:ext cx="158539" cy="1232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a:extLst>
              <a:ext uri="{FF2B5EF4-FFF2-40B4-BE49-F238E27FC236}">
                <a16:creationId xmlns:a16="http://schemas.microsoft.com/office/drawing/2014/main" id="{4D45A34D-3078-AEC0-4FD4-4677B1A89EFF}"/>
              </a:ext>
            </a:extLst>
          </p:cNvPr>
          <p:cNvSpPr>
            <a:spLocks/>
          </p:cNvSpPr>
          <p:nvPr/>
        </p:nvSpPr>
        <p:spPr bwMode="auto">
          <a:xfrm>
            <a:off x="2228447" y="1554563"/>
            <a:ext cx="959844" cy="919542"/>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a:extLst>
              <a:ext uri="{FF2B5EF4-FFF2-40B4-BE49-F238E27FC236}">
                <a16:creationId xmlns:a16="http://schemas.microsoft.com/office/drawing/2014/main" id="{D81D4F03-FEB2-3E30-9A90-E6A77885F22F}"/>
              </a:ext>
            </a:extLst>
          </p:cNvPr>
          <p:cNvSpPr>
            <a:spLocks noChangeArrowheads="1"/>
          </p:cNvSpPr>
          <p:nvPr/>
        </p:nvSpPr>
        <p:spPr bwMode="auto">
          <a:xfrm>
            <a:off x="5801868" y="2476427"/>
            <a:ext cx="158539" cy="123297"/>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a:extLst>
              <a:ext uri="{FF2B5EF4-FFF2-40B4-BE49-F238E27FC236}">
                <a16:creationId xmlns:a16="http://schemas.microsoft.com/office/drawing/2014/main" id="{186431A9-0D93-9640-D2BF-639599294C4B}"/>
              </a:ext>
            </a:extLst>
          </p:cNvPr>
          <p:cNvSpPr>
            <a:spLocks/>
          </p:cNvSpPr>
          <p:nvPr/>
        </p:nvSpPr>
        <p:spPr bwMode="auto">
          <a:xfrm>
            <a:off x="5361958" y="1559190"/>
            <a:ext cx="1076064" cy="914933"/>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a:extLst>
              <a:ext uri="{FF2B5EF4-FFF2-40B4-BE49-F238E27FC236}">
                <a16:creationId xmlns:a16="http://schemas.microsoft.com/office/drawing/2014/main" id="{FB0784D6-946A-F73A-3625-FACD68AC04A1}"/>
              </a:ext>
            </a:extLst>
          </p:cNvPr>
          <p:cNvSpPr txBox="1">
            <a:spLocks noChangeArrowheads="1"/>
          </p:cNvSpPr>
          <p:nvPr/>
        </p:nvSpPr>
        <p:spPr bwMode="auto">
          <a:xfrm>
            <a:off x="5370537" y="1258287"/>
            <a:ext cx="1067485" cy="307777"/>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a:extLst>
              <a:ext uri="{FF2B5EF4-FFF2-40B4-BE49-F238E27FC236}">
                <a16:creationId xmlns:a16="http://schemas.microsoft.com/office/drawing/2014/main" id="{3BE64894-E088-567E-9590-0D8D9544642D}"/>
              </a:ext>
            </a:extLst>
          </p:cNvPr>
          <p:cNvSpPr txBox="1">
            <a:spLocks noChangeArrowheads="1"/>
          </p:cNvSpPr>
          <p:nvPr/>
        </p:nvSpPr>
        <p:spPr bwMode="auto">
          <a:xfrm>
            <a:off x="2224504" y="1259932"/>
            <a:ext cx="963975" cy="307777"/>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sp>
        <p:nvSpPr>
          <p:cNvPr id="2" name="矩形 1">
            <a:extLst>
              <a:ext uri="{FF2B5EF4-FFF2-40B4-BE49-F238E27FC236}">
                <a16:creationId xmlns:a16="http://schemas.microsoft.com/office/drawing/2014/main" id="{94079043-1B9A-E48E-2B28-BA119A456DB7}"/>
              </a:ext>
            </a:extLst>
          </p:cNvPr>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
        <p:nvSpPr>
          <p:cNvPr id="3" name="对话气泡: 矩形 2">
            <a:extLst>
              <a:ext uri="{FF2B5EF4-FFF2-40B4-BE49-F238E27FC236}">
                <a16:creationId xmlns:a16="http://schemas.microsoft.com/office/drawing/2014/main" id="{BC5C36D5-13F5-481D-C283-B2CEF02492F8}"/>
              </a:ext>
            </a:extLst>
          </p:cNvPr>
          <p:cNvSpPr/>
          <p:nvPr/>
        </p:nvSpPr>
        <p:spPr>
          <a:xfrm>
            <a:off x="6371156" y="3520704"/>
            <a:ext cx="1732594" cy="537392"/>
          </a:xfrm>
          <a:prstGeom prst="wedgeRectCallout">
            <a:avLst>
              <a:gd name="adj1" fmla="val -63929"/>
              <a:gd name="adj2" fmla="val -10674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安装管理适配器的设备驱动程序</a:t>
            </a:r>
          </a:p>
        </p:txBody>
      </p:sp>
    </p:spTree>
    <p:extLst>
      <p:ext uri="{BB962C8B-B14F-4D97-AF65-F5344CB8AC3E}">
        <p14:creationId xmlns:p14="http://schemas.microsoft.com/office/powerpoint/2010/main" val="214972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C50A-939E-5233-0B32-64AE0EDE5BB6}"/>
            </a:ext>
          </a:extLst>
        </p:cNvPr>
        <p:cNvGrpSpPr/>
        <p:nvPr/>
      </p:nvGrpSpPr>
      <p:grpSpPr>
        <a:xfrm>
          <a:off x="0" y="0"/>
          <a:ext cx="0" cy="0"/>
          <a:chOff x="0" y="0"/>
          <a:chExt cx="0" cy="0"/>
        </a:xfrm>
      </p:grpSpPr>
      <p:sp>
        <p:nvSpPr>
          <p:cNvPr id="8" name="AutoShape 5">
            <a:extLst>
              <a:ext uri="{FF2B5EF4-FFF2-40B4-BE49-F238E27FC236}">
                <a16:creationId xmlns:a16="http://schemas.microsoft.com/office/drawing/2014/main" id="{C57EAA95-85E6-A5DE-1B0F-70E6DC6753CD}"/>
              </a:ext>
            </a:extLst>
          </p:cNvPr>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26CB47B9-8C7F-E5E0-40F9-97265289027E}"/>
              </a:ext>
            </a:extLst>
          </p:cNvPr>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a:extLst>
              <a:ext uri="{FF2B5EF4-FFF2-40B4-BE49-F238E27FC236}">
                <a16:creationId xmlns:a16="http://schemas.microsoft.com/office/drawing/2014/main" id="{B7C7AD0C-7CAA-B5E0-16D3-41F1C25E0749}"/>
              </a:ext>
            </a:extLst>
          </p:cNvPr>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0" name="Rectangle 18">
            <a:extLst>
              <a:ext uri="{FF2B5EF4-FFF2-40B4-BE49-F238E27FC236}">
                <a16:creationId xmlns:a16="http://schemas.microsoft.com/office/drawing/2014/main" id="{8F2AF102-AC97-AB01-67D8-D9D305E6F2E7}"/>
              </a:ext>
            </a:extLst>
          </p:cNvPr>
          <p:cNvSpPr>
            <a:spLocks noChangeArrowheads="1"/>
          </p:cNvSpPr>
          <p:nvPr/>
        </p:nvSpPr>
        <p:spPr bwMode="auto">
          <a:xfrm>
            <a:off x="1970731" y="1646765"/>
            <a:ext cx="4627574" cy="173998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a:extLst>
              <a:ext uri="{FF2B5EF4-FFF2-40B4-BE49-F238E27FC236}">
                <a16:creationId xmlns:a16="http://schemas.microsoft.com/office/drawing/2014/main" id="{307F53FD-746C-A378-5940-FF5C58C8D006}"/>
              </a:ext>
            </a:extLst>
          </p:cNvPr>
          <p:cNvSpPr>
            <a:spLocks noChangeShapeType="1"/>
          </p:cNvSpPr>
          <p:nvPr/>
        </p:nvSpPr>
        <p:spPr bwMode="auto">
          <a:xfrm>
            <a:off x="6035307" y="2589353"/>
            <a:ext cx="1460551"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Rectangle 22">
            <a:extLst>
              <a:ext uri="{FF2B5EF4-FFF2-40B4-BE49-F238E27FC236}">
                <a16:creationId xmlns:a16="http://schemas.microsoft.com/office/drawing/2014/main" id="{5DBCFA70-01BE-26CF-BF98-B7AEC540BFDD}"/>
              </a:ext>
            </a:extLst>
          </p:cNvPr>
          <p:cNvSpPr>
            <a:spLocks noChangeArrowheads="1"/>
          </p:cNvSpPr>
          <p:nvPr/>
        </p:nvSpPr>
        <p:spPr bwMode="auto">
          <a:xfrm>
            <a:off x="4683360" y="2143411"/>
            <a:ext cx="1384403" cy="818139"/>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grpSp>
        <p:nvGrpSpPr>
          <p:cNvPr id="4" name="组合 3">
            <a:extLst>
              <a:ext uri="{FF2B5EF4-FFF2-40B4-BE49-F238E27FC236}">
                <a16:creationId xmlns:a16="http://schemas.microsoft.com/office/drawing/2014/main" id="{DE10C225-1568-B6F6-BD90-F494CC751382}"/>
              </a:ext>
            </a:extLst>
          </p:cNvPr>
          <p:cNvGrpSpPr/>
          <p:nvPr/>
        </p:nvGrpSpPr>
        <p:grpSpPr>
          <a:xfrm>
            <a:off x="6548435" y="2243289"/>
            <a:ext cx="912800" cy="662056"/>
            <a:chOff x="6548435" y="2243289"/>
            <a:chExt cx="912800" cy="662056"/>
          </a:xfrm>
        </p:grpSpPr>
        <p:sp>
          <p:nvSpPr>
            <p:cNvPr id="12" name="Text Box 21">
              <a:extLst>
                <a:ext uri="{FF2B5EF4-FFF2-40B4-BE49-F238E27FC236}">
                  <a16:creationId xmlns:a16="http://schemas.microsoft.com/office/drawing/2014/main" id="{228B9752-03B9-523A-31AC-50721499EF4C}"/>
                </a:ext>
              </a:extLst>
            </p:cNvPr>
            <p:cNvSpPr txBox="1">
              <a:spLocks noChangeArrowheads="1"/>
            </p:cNvSpPr>
            <p:nvPr/>
          </p:nvSpPr>
          <p:spPr bwMode="auto">
            <a:xfrm>
              <a:off x="6548435" y="2243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4" name="Text Box 23">
              <a:extLst>
                <a:ext uri="{FF2B5EF4-FFF2-40B4-BE49-F238E27FC236}">
                  <a16:creationId xmlns:a16="http://schemas.microsoft.com/office/drawing/2014/main" id="{D963EF5D-3FDB-6896-D9AB-8298197B88E3}"/>
                </a:ext>
              </a:extLst>
            </p:cNvPr>
            <p:cNvSpPr txBox="1">
              <a:spLocks noChangeArrowheads="1"/>
            </p:cNvSpPr>
            <p:nvPr/>
          </p:nvSpPr>
          <p:spPr bwMode="auto">
            <a:xfrm>
              <a:off x="6558424" y="25975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grpSp>
      <p:sp>
        <p:nvSpPr>
          <p:cNvPr id="15" name="Rectangle 24">
            <a:extLst>
              <a:ext uri="{FF2B5EF4-FFF2-40B4-BE49-F238E27FC236}">
                <a16:creationId xmlns:a16="http://schemas.microsoft.com/office/drawing/2014/main" id="{37B6514C-5AEA-0BA9-1598-AE6EA394DACC}"/>
              </a:ext>
            </a:extLst>
          </p:cNvPr>
          <p:cNvSpPr>
            <a:spLocks noChangeArrowheads="1"/>
          </p:cNvSpPr>
          <p:nvPr/>
        </p:nvSpPr>
        <p:spPr bwMode="auto">
          <a:xfrm>
            <a:off x="2500025" y="2143411"/>
            <a:ext cx="1384402" cy="818139"/>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a:extLst>
              <a:ext uri="{FF2B5EF4-FFF2-40B4-BE49-F238E27FC236}">
                <a16:creationId xmlns:a16="http://schemas.microsoft.com/office/drawing/2014/main" id="{7046C8D1-186D-F6A3-142A-42AA30666338}"/>
              </a:ext>
            </a:extLst>
          </p:cNvPr>
          <p:cNvSpPr>
            <a:spLocks noChangeShapeType="1"/>
          </p:cNvSpPr>
          <p:nvPr/>
        </p:nvSpPr>
        <p:spPr bwMode="auto">
          <a:xfrm flipV="1">
            <a:off x="2928203"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a:extLst>
              <a:ext uri="{FF2B5EF4-FFF2-40B4-BE49-F238E27FC236}">
                <a16:creationId xmlns:a16="http://schemas.microsoft.com/office/drawing/2014/main" id="{A85963FC-4BB2-EE49-40FF-6CF28A8B0557}"/>
              </a:ext>
            </a:extLst>
          </p:cNvPr>
          <p:cNvSpPr txBox="1">
            <a:spLocks noChangeArrowheads="1"/>
          </p:cNvSpPr>
          <p:nvPr/>
        </p:nvSpPr>
        <p:spPr bwMode="auto">
          <a:xfrm>
            <a:off x="2049375" y="3605690"/>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a:extLst>
              <a:ext uri="{FF2B5EF4-FFF2-40B4-BE49-F238E27FC236}">
                <a16:creationId xmlns:a16="http://schemas.microsoft.com/office/drawing/2014/main" id="{A81FD6F1-A2F6-E9FD-4546-32283CF36C78}"/>
              </a:ext>
            </a:extLst>
          </p:cNvPr>
          <p:cNvSpPr>
            <a:spLocks noChangeShapeType="1"/>
          </p:cNvSpPr>
          <p:nvPr/>
        </p:nvSpPr>
        <p:spPr bwMode="auto">
          <a:xfrm flipV="1">
            <a:off x="5082828"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a:extLst>
              <a:ext uri="{FF2B5EF4-FFF2-40B4-BE49-F238E27FC236}">
                <a16:creationId xmlns:a16="http://schemas.microsoft.com/office/drawing/2014/main" id="{CACCA91E-9E91-113A-4FC6-5E005EA820C7}"/>
              </a:ext>
            </a:extLst>
          </p:cNvPr>
          <p:cNvSpPr txBox="1">
            <a:spLocks noChangeArrowheads="1"/>
          </p:cNvSpPr>
          <p:nvPr/>
        </p:nvSpPr>
        <p:spPr bwMode="auto">
          <a:xfrm>
            <a:off x="4315417" y="3605690"/>
            <a:ext cx="16209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a:extLst>
              <a:ext uri="{FF2B5EF4-FFF2-40B4-BE49-F238E27FC236}">
                <a16:creationId xmlns:a16="http://schemas.microsoft.com/office/drawing/2014/main" id="{5AA138FB-8074-4BE8-CB5C-54238F784649}"/>
              </a:ext>
            </a:extLst>
          </p:cNvPr>
          <p:cNvSpPr txBox="1">
            <a:spLocks noChangeArrowheads="1"/>
          </p:cNvSpPr>
          <p:nvPr/>
        </p:nvSpPr>
        <p:spPr bwMode="auto">
          <a:xfrm>
            <a:off x="3901098" y="1659511"/>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a:extLst>
              <a:ext uri="{FF2B5EF4-FFF2-40B4-BE49-F238E27FC236}">
                <a16:creationId xmlns:a16="http://schemas.microsoft.com/office/drawing/2014/main" id="{06480F3B-1B81-FCD8-FEC8-086ACED1E4C8}"/>
              </a:ext>
            </a:extLst>
          </p:cNvPr>
          <p:cNvSpPr>
            <a:spLocks noChangeArrowheads="1"/>
          </p:cNvSpPr>
          <p:nvPr/>
        </p:nvSpPr>
        <p:spPr bwMode="auto">
          <a:xfrm>
            <a:off x="3805782" y="2309342"/>
            <a:ext cx="956224" cy="496644"/>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a:extLst>
              <a:ext uri="{FF2B5EF4-FFF2-40B4-BE49-F238E27FC236}">
                <a16:creationId xmlns:a16="http://schemas.microsoft.com/office/drawing/2014/main" id="{08FC1687-8556-5CFA-8D61-58D7CAAFDA23}"/>
              </a:ext>
            </a:extLst>
          </p:cNvPr>
          <p:cNvSpPr txBox="1">
            <a:spLocks noChangeArrowheads="1"/>
          </p:cNvSpPr>
          <p:nvPr/>
        </p:nvSpPr>
        <p:spPr bwMode="auto">
          <a:xfrm>
            <a:off x="4028551" y="2666347"/>
            <a:ext cx="543739"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a:extLst>
              <a:ext uri="{FF2B5EF4-FFF2-40B4-BE49-F238E27FC236}">
                <a16:creationId xmlns:a16="http://schemas.microsoft.com/office/drawing/2014/main" id="{C1117E87-FE00-0F70-F838-2F8A4A94E68B}"/>
              </a:ext>
            </a:extLst>
          </p:cNvPr>
          <p:cNvSpPr>
            <a:spLocks noChangeArrowheads="1"/>
          </p:cNvSpPr>
          <p:nvPr/>
        </p:nvSpPr>
        <p:spPr bwMode="auto">
          <a:xfrm>
            <a:off x="2628603" y="2476427"/>
            <a:ext cx="158539" cy="1232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a:extLst>
              <a:ext uri="{FF2B5EF4-FFF2-40B4-BE49-F238E27FC236}">
                <a16:creationId xmlns:a16="http://schemas.microsoft.com/office/drawing/2014/main" id="{43E7D275-2FA3-FE1F-2E89-4901214185F9}"/>
              </a:ext>
            </a:extLst>
          </p:cNvPr>
          <p:cNvSpPr>
            <a:spLocks/>
          </p:cNvSpPr>
          <p:nvPr/>
        </p:nvSpPr>
        <p:spPr bwMode="auto">
          <a:xfrm>
            <a:off x="2228447" y="1554563"/>
            <a:ext cx="959844" cy="919542"/>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a:extLst>
              <a:ext uri="{FF2B5EF4-FFF2-40B4-BE49-F238E27FC236}">
                <a16:creationId xmlns:a16="http://schemas.microsoft.com/office/drawing/2014/main" id="{1B11B7B9-E60A-7A4D-E844-EA078CFC5C2B}"/>
              </a:ext>
            </a:extLst>
          </p:cNvPr>
          <p:cNvSpPr>
            <a:spLocks noChangeArrowheads="1"/>
          </p:cNvSpPr>
          <p:nvPr/>
        </p:nvSpPr>
        <p:spPr bwMode="auto">
          <a:xfrm>
            <a:off x="5801868" y="2476427"/>
            <a:ext cx="158539" cy="123297"/>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a:extLst>
              <a:ext uri="{FF2B5EF4-FFF2-40B4-BE49-F238E27FC236}">
                <a16:creationId xmlns:a16="http://schemas.microsoft.com/office/drawing/2014/main" id="{BE5DD156-823C-81F9-0F77-AA03D02DACF5}"/>
              </a:ext>
            </a:extLst>
          </p:cNvPr>
          <p:cNvSpPr>
            <a:spLocks/>
          </p:cNvSpPr>
          <p:nvPr/>
        </p:nvSpPr>
        <p:spPr bwMode="auto">
          <a:xfrm>
            <a:off x="5361958" y="1559190"/>
            <a:ext cx="1076064" cy="914933"/>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a:extLst>
              <a:ext uri="{FF2B5EF4-FFF2-40B4-BE49-F238E27FC236}">
                <a16:creationId xmlns:a16="http://schemas.microsoft.com/office/drawing/2014/main" id="{8E6324A1-E9D9-F25C-6CA0-3BDE8DF3FBA4}"/>
              </a:ext>
            </a:extLst>
          </p:cNvPr>
          <p:cNvSpPr txBox="1">
            <a:spLocks noChangeArrowheads="1"/>
          </p:cNvSpPr>
          <p:nvPr/>
        </p:nvSpPr>
        <p:spPr bwMode="auto">
          <a:xfrm>
            <a:off x="5370537" y="1258287"/>
            <a:ext cx="1067485" cy="307777"/>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a:extLst>
              <a:ext uri="{FF2B5EF4-FFF2-40B4-BE49-F238E27FC236}">
                <a16:creationId xmlns:a16="http://schemas.microsoft.com/office/drawing/2014/main" id="{35EA3D0E-A99C-B644-4DE5-106C86DADF37}"/>
              </a:ext>
            </a:extLst>
          </p:cNvPr>
          <p:cNvSpPr txBox="1">
            <a:spLocks noChangeArrowheads="1"/>
          </p:cNvSpPr>
          <p:nvPr/>
        </p:nvSpPr>
        <p:spPr bwMode="auto">
          <a:xfrm>
            <a:off x="2224504" y="1259932"/>
            <a:ext cx="963975" cy="307777"/>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sp>
        <p:nvSpPr>
          <p:cNvPr id="2" name="矩形 1">
            <a:extLst>
              <a:ext uri="{FF2B5EF4-FFF2-40B4-BE49-F238E27FC236}">
                <a16:creationId xmlns:a16="http://schemas.microsoft.com/office/drawing/2014/main" id="{D096BA7C-13A5-6448-427E-FEC850B9D38C}"/>
              </a:ext>
            </a:extLst>
          </p:cNvPr>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
        <p:nvSpPr>
          <p:cNvPr id="3" name="对话气泡: 矩形 2">
            <a:extLst>
              <a:ext uri="{FF2B5EF4-FFF2-40B4-BE49-F238E27FC236}">
                <a16:creationId xmlns:a16="http://schemas.microsoft.com/office/drawing/2014/main" id="{69284C6D-ACEA-F7B3-BDBB-273324DBAFF2}"/>
              </a:ext>
            </a:extLst>
          </p:cNvPr>
          <p:cNvSpPr/>
          <p:nvPr/>
        </p:nvSpPr>
        <p:spPr>
          <a:xfrm>
            <a:off x="6072042" y="3052491"/>
            <a:ext cx="1739688" cy="859339"/>
          </a:xfrm>
          <a:prstGeom prst="wedgeRectCallout">
            <a:avLst>
              <a:gd name="adj1" fmla="val -65154"/>
              <a:gd name="adj2" fmla="val -78136"/>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1600" b="1" dirty="0">
                <a:latin typeface="微软雅黑" panose="020B0503020204020204" pitchFamily="34" charset="-122"/>
                <a:ea typeface="微软雅黑" panose="020B0503020204020204" pitchFamily="34" charset="-122"/>
              </a:rPr>
              <a:t>实现以太网协议，包括数据链路层及物理层功能</a:t>
            </a:r>
          </a:p>
        </p:txBody>
      </p:sp>
    </p:spTree>
    <p:extLst>
      <p:ext uri="{BB962C8B-B14F-4D97-AF65-F5344CB8AC3E}">
        <p14:creationId xmlns:p14="http://schemas.microsoft.com/office/powerpoint/2010/main" val="189769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85875-D4B2-CCBE-E758-603593757FAD}"/>
            </a:ext>
          </a:extLst>
        </p:cNvPr>
        <p:cNvGrpSpPr/>
        <p:nvPr/>
      </p:nvGrpSpPr>
      <p:grpSpPr>
        <a:xfrm>
          <a:off x="0" y="0"/>
          <a:ext cx="0" cy="0"/>
          <a:chOff x="0" y="0"/>
          <a:chExt cx="0" cy="0"/>
        </a:xfrm>
      </p:grpSpPr>
      <p:sp>
        <p:nvSpPr>
          <p:cNvPr id="8" name="AutoShape 5">
            <a:extLst>
              <a:ext uri="{FF2B5EF4-FFF2-40B4-BE49-F238E27FC236}">
                <a16:creationId xmlns:a16="http://schemas.microsoft.com/office/drawing/2014/main" id="{2B3DC01A-87F6-2096-A092-3785B4485371}"/>
              </a:ext>
            </a:extLst>
          </p:cNvPr>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89415989-C83E-EFA2-DB6A-78E150A83593}"/>
              </a:ext>
            </a:extLst>
          </p:cNvPr>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a:extLst>
              <a:ext uri="{FF2B5EF4-FFF2-40B4-BE49-F238E27FC236}">
                <a16:creationId xmlns:a16="http://schemas.microsoft.com/office/drawing/2014/main" id="{64A8FC94-7D12-F9A1-C92F-C44F26589710}"/>
              </a:ext>
            </a:extLst>
          </p:cNvPr>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0" name="Rectangle 18">
            <a:extLst>
              <a:ext uri="{FF2B5EF4-FFF2-40B4-BE49-F238E27FC236}">
                <a16:creationId xmlns:a16="http://schemas.microsoft.com/office/drawing/2014/main" id="{54EDD4D2-700F-D4FC-26EE-04DDC8BA0388}"/>
              </a:ext>
            </a:extLst>
          </p:cNvPr>
          <p:cNvSpPr>
            <a:spLocks noChangeArrowheads="1"/>
          </p:cNvSpPr>
          <p:nvPr/>
        </p:nvSpPr>
        <p:spPr bwMode="auto">
          <a:xfrm>
            <a:off x="1970731" y="1646765"/>
            <a:ext cx="4627574" cy="173998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a:extLst>
              <a:ext uri="{FF2B5EF4-FFF2-40B4-BE49-F238E27FC236}">
                <a16:creationId xmlns:a16="http://schemas.microsoft.com/office/drawing/2014/main" id="{EB6E42A0-97C1-DD6E-82D7-D1954FAF93BC}"/>
              </a:ext>
            </a:extLst>
          </p:cNvPr>
          <p:cNvSpPr>
            <a:spLocks noChangeShapeType="1"/>
          </p:cNvSpPr>
          <p:nvPr/>
        </p:nvSpPr>
        <p:spPr bwMode="auto">
          <a:xfrm>
            <a:off x="6035307" y="2589353"/>
            <a:ext cx="1460551"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Rectangle 22">
            <a:extLst>
              <a:ext uri="{FF2B5EF4-FFF2-40B4-BE49-F238E27FC236}">
                <a16:creationId xmlns:a16="http://schemas.microsoft.com/office/drawing/2014/main" id="{3CCB5772-990B-CF13-6EA1-FB1ADC9EFD0A}"/>
              </a:ext>
            </a:extLst>
          </p:cNvPr>
          <p:cNvSpPr>
            <a:spLocks noChangeArrowheads="1"/>
          </p:cNvSpPr>
          <p:nvPr/>
        </p:nvSpPr>
        <p:spPr bwMode="auto">
          <a:xfrm>
            <a:off x="4683360" y="2143411"/>
            <a:ext cx="1384403" cy="818139"/>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grpSp>
        <p:nvGrpSpPr>
          <p:cNvPr id="4" name="组合 3">
            <a:extLst>
              <a:ext uri="{FF2B5EF4-FFF2-40B4-BE49-F238E27FC236}">
                <a16:creationId xmlns:a16="http://schemas.microsoft.com/office/drawing/2014/main" id="{1933D723-DEED-803D-AC46-A6FFE80C978A}"/>
              </a:ext>
            </a:extLst>
          </p:cNvPr>
          <p:cNvGrpSpPr/>
          <p:nvPr/>
        </p:nvGrpSpPr>
        <p:grpSpPr>
          <a:xfrm>
            <a:off x="6548435" y="2243289"/>
            <a:ext cx="912800" cy="662056"/>
            <a:chOff x="6548435" y="2243289"/>
            <a:chExt cx="912800" cy="662056"/>
          </a:xfrm>
        </p:grpSpPr>
        <p:sp>
          <p:nvSpPr>
            <p:cNvPr id="12" name="Text Box 21">
              <a:extLst>
                <a:ext uri="{FF2B5EF4-FFF2-40B4-BE49-F238E27FC236}">
                  <a16:creationId xmlns:a16="http://schemas.microsoft.com/office/drawing/2014/main" id="{D5BCAC21-0D1D-BD15-0767-A1FD998621BC}"/>
                </a:ext>
              </a:extLst>
            </p:cNvPr>
            <p:cNvSpPr txBox="1">
              <a:spLocks noChangeArrowheads="1"/>
            </p:cNvSpPr>
            <p:nvPr/>
          </p:nvSpPr>
          <p:spPr bwMode="auto">
            <a:xfrm>
              <a:off x="6548435" y="2243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4" name="Text Box 23">
              <a:extLst>
                <a:ext uri="{FF2B5EF4-FFF2-40B4-BE49-F238E27FC236}">
                  <a16:creationId xmlns:a16="http://schemas.microsoft.com/office/drawing/2014/main" id="{0EE96B77-F902-582C-2AD5-EE0640E0CADB}"/>
                </a:ext>
              </a:extLst>
            </p:cNvPr>
            <p:cNvSpPr txBox="1">
              <a:spLocks noChangeArrowheads="1"/>
            </p:cNvSpPr>
            <p:nvPr/>
          </p:nvSpPr>
          <p:spPr bwMode="auto">
            <a:xfrm>
              <a:off x="6558424" y="25975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grpSp>
      <p:sp>
        <p:nvSpPr>
          <p:cNvPr id="15" name="Rectangle 24">
            <a:extLst>
              <a:ext uri="{FF2B5EF4-FFF2-40B4-BE49-F238E27FC236}">
                <a16:creationId xmlns:a16="http://schemas.microsoft.com/office/drawing/2014/main" id="{4A815A72-C00E-82A3-DD0C-1A5C005E50EE}"/>
              </a:ext>
            </a:extLst>
          </p:cNvPr>
          <p:cNvSpPr>
            <a:spLocks noChangeArrowheads="1"/>
          </p:cNvSpPr>
          <p:nvPr/>
        </p:nvSpPr>
        <p:spPr bwMode="auto">
          <a:xfrm>
            <a:off x="2500025" y="2143411"/>
            <a:ext cx="1384402" cy="818139"/>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a:extLst>
              <a:ext uri="{FF2B5EF4-FFF2-40B4-BE49-F238E27FC236}">
                <a16:creationId xmlns:a16="http://schemas.microsoft.com/office/drawing/2014/main" id="{48DACB6C-A1ED-21AC-6B6B-488AAB02F021}"/>
              </a:ext>
            </a:extLst>
          </p:cNvPr>
          <p:cNvSpPr>
            <a:spLocks noChangeShapeType="1"/>
          </p:cNvSpPr>
          <p:nvPr/>
        </p:nvSpPr>
        <p:spPr bwMode="auto">
          <a:xfrm flipV="1">
            <a:off x="2928203"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a:extLst>
              <a:ext uri="{FF2B5EF4-FFF2-40B4-BE49-F238E27FC236}">
                <a16:creationId xmlns:a16="http://schemas.microsoft.com/office/drawing/2014/main" id="{CCD09DF6-6694-6229-5201-80EC61466E4E}"/>
              </a:ext>
            </a:extLst>
          </p:cNvPr>
          <p:cNvSpPr txBox="1">
            <a:spLocks noChangeArrowheads="1"/>
          </p:cNvSpPr>
          <p:nvPr/>
        </p:nvSpPr>
        <p:spPr bwMode="auto">
          <a:xfrm>
            <a:off x="2049375" y="3605690"/>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a:extLst>
              <a:ext uri="{FF2B5EF4-FFF2-40B4-BE49-F238E27FC236}">
                <a16:creationId xmlns:a16="http://schemas.microsoft.com/office/drawing/2014/main" id="{A704ED2A-38A8-FB34-432E-0ABE018BDD7D}"/>
              </a:ext>
            </a:extLst>
          </p:cNvPr>
          <p:cNvSpPr>
            <a:spLocks noChangeShapeType="1"/>
          </p:cNvSpPr>
          <p:nvPr/>
        </p:nvSpPr>
        <p:spPr bwMode="auto">
          <a:xfrm flipV="1">
            <a:off x="5082828"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a:extLst>
              <a:ext uri="{FF2B5EF4-FFF2-40B4-BE49-F238E27FC236}">
                <a16:creationId xmlns:a16="http://schemas.microsoft.com/office/drawing/2014/main" id="{DA6DCA80-0416-9286-8168-917B638E0DBB}"/>
              </a:ext>
            </a:extLst>
          </p:cNvPr>
          <p:cNvSpPr txBox="1">
            <a:spLocks noChangeArrowheads="1"/>
          </p:cNvSpPr>
          <p:nvPr/>
        </p:nvSpPr>
        <p:spPr bwMode="auto">
          <a:xfrm>
            <a:off x="4315417" y="3605690"/>
            <a:ext cx="16209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a:extLst>
              <a:ext uri="{FF2B5EF4-FFF2-40B4-BE49-F238E27FC236}">
                <a16:creationId xmlns:a16="http://schemas.microsoft.com/office/drawing/2014/main" id="{33A6A90A-924F-B078-66F0-F71CA9DA3115}"/>
              </a:ext>
            </a:extLst>
          </p:cNvPr>
          <p:cNvSpPr txBox="1">
            <a:spLocks noChangeArrowheads="1"/>
          </p:cNvSpPr>
          <p:nvPr/>
        </p:nvSpPr>
        <p:spPr bwMode="auto">
          <a:xfrm>
            <a:off x="3901098" y="1659511"/>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a:extLst>
              <a:ext uri="{FF2B5EF4-FFF2-40B4-BE49-F238E27FC236}">
                <a16:creationId xmlns:a16="http://schemas.microsoft.com/office/drawing/2014/main" id="{652206A2-C1A0-467D-790A-B78949DE069F}"/>
              </a:ext>
            </a:extLst>
          </p:cNvPr>
          <p:cNvSpPr>
            <a:spLocks noChangeArrowheads="1"/>
          </p:cNvSpPr>
          <p:nvPr/>
        </p:nvSpPr>
        <p:spPr bwMode="auto">
          <a:xfrm>
            <a:off x="3805782" y="2309342"/>
            <a:ext cx="956224" cy="496644"/>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a:extLst>
              <a:ext uri="{FF2B5EF4-FFF2-40B4-BE49-F238E27FC236}">
                <a16:creationId xmlns:a16="http://schemas.microsoft.com/office/drawing/2014/main" id="{5559175A-1F4A-8789-29ED-1FF5444705AB}"/>
              </a:ext>
            </a:extLst>
          </p:cNvPr>
          <p:cNvSpPr txBox="1">
            <a:spLocks noChangeArrowheads="1"/>
          </p:cNvSpPr>
          <p:nvPr/>
        </p:nvSpPr>
        <p:spPr bwMode="auto">
          <a:xfrm>
            <a:off x="4028551" y="2666347"/>
            <a:ext cx="543739"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a:extLst>
              <a:ext uri="{FF2B5EF4-FFF2-40B4-BE49-F238E27FC236}">
                <a16:creationId xmlns:a16="http://schemas.microsoft.com/office/drawing/2014/main" id="{43F90A34-9870-6418-E043-80B3BB13BBBC}"/>
              </a:ext>
            </a:extLst>
          </p:cNvPr>
          <p:cNvSpPr>
            <a:spLocks noChangeArrowheads="1"/>
          </p:cNvSpPr>
          <p:nvPr/>
        </p:nvSpPr>
        <p:spPr bwMode="auto">
          <a:xfrm>
            <a:off x="2628603" y="2476427"/>
            <a:ext cx="158539" cy="1232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a:extLst>
              <a:ext uri="{FF2B5EF4-FFF2-40B4-BE49-F238E27FC236}">
                <a16:creationId xmlns:a16="http://schemas.microsoft.com/office/drawing/2014/main" id="{EDFAC1A8-BF37-E04A-A095-C2A850CFE8BC}"/>
              </a:ext>
            </a:extLst>
          </p:cNvPr>
          <p:cNvSpPr>
            <a:spLocks/>
          </p:cNvSpPr>
          <p:nvPr/>
        </p:nvSpPr>
        <p:spPr bwMode="auto">
          <a:xfrm>
            <a:off x="2228447" y="1554563"/>
            <a:ext cx="959844" cy="919542"/>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a:extLst>
              <a:ext uri="{FF2B5EF4-FFF2-40B4-BE49-F238E27FC236}">
                <a16:creationId xmlns:a16="http://schemas.microsoft.com/office/drawing/2014/main" id="{ED559F21-9F44-6EDD-8CDA-285E9E01F616}"/>
              </a:ext>
            </a:extLst>
          </p:cNvPr>
          <p:cNvSpPr>
            <a:spLocks noChangeArrowheads="1"/>
          </p:cNvSpPr>
          <p:nvPr/>
        </p:nvSpPr>
        <p:spPr bwMode="auto">
          <a:xfrm>
            <a:off x="5801868" y="2476427"/>
            <a:ext cx="158539" cy="123297"/>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a:extLst>
              <a:ext uri="{FF2B5EF4-FFF2-40B4-BE49-F238E27FC236}">
                <a16:creationId xmlns:a16="http://schemas.microsoft.com/office/drawing/2014/main" id="{01802C2E-0C74-48BC-C1A2-DB26E5456B41}"/>
              </a:ext>
            </a:extLst>
          </p:cNvPr>
          <p:cNvSpPr>
            <a:spLocks/>
          </p:cNvSpPr>
          <p:nvPr/>
        </p:nvSpPr>
        <p:spPr bwMode="auto">
          <a:xfrm>
            <a:off x="5361958" y="1559190"/>
            <a:ext cx="1076064" cy="914933"/>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a:extLst>
              <a:ext uri="{FF2B5EF4-FFF2-40B4-BE49-F238E27FC236}">
                <a16:creationId xmlns:a16="http://schemas.microsoft.com/office/drawing/2014/main" id="{EE2F693C-196F-8C56-6703-C0EB7A4C0CC7}"/>
              </a:ext>
            </a:extLst>
          </p:cNvPr>
          <p:cNvSpPr txBox="1">
            <a:spLocks noChangeArrowheads="1"/>
          </p:cNvSpPr>
          <p:nvPr/>
        </p:nvSpPr>
        <p:spPr bwMode="auto">
          <a:xfrm>
            <a:off x="5370537" y="1258287"/>
            <a:ext cx="1067485" cy="307777"/>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a:extLst>
              <a:ext uri="{FF2B5EF4-FFF2-40B4-BE49-F238E27FC236}">
                <a16:creationId xmlns:a16="http://schemas.microsoft.com/office/drawing/2014/main" id="{52C81196-ED49-B4C4-3A57-F08CE1904E2A}"/>
              </a:ext>
            </a:extLst>
          </p:cNvPr>
          <p:cNvSpPr txBox="1">
            <a:spLocks noChangeArrowheads="1"/>
          </p:cNvSpPr>
          <p:nvPr/>
        </p:nvSpPr>
        <p:spPr bwMode="auto">
          <a:xfrm>
            <a:off x="2224504" y="1259932"/>
            <a:ext cx="963975" cy="307777"/>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sp>
        <p:nvSpPr>
          <p:cNvPr id="2" name="矩形 1">
            <a:extLst>
              <a:ext uri="{FF2B5EF4-FFF2-40B4-BE49-F238E27FC236}">
                <a16:creationId xmlns:a16="http://schemas.microsoft.com/office/drawing/2014/main" id="{1A222033-9118-88A6-52C0-A125F06C70FD}"/>
              </a:ext>
            </a:extLst>
          </p:cNvPr>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
        <p:nvSpPr>
          <p:cNvPr id="3" name="对话气泡: 矩形 2">
            <a:extLst>
              <a:ext uri="{FF2B5EF4-FFF2-40B4-BE49-F238E27FC236}">
                <a16:creationId xmlns:a16="http://schemas.microsoft.com/office/drawing/2014/main" id="{AF87D872-474B-7BD7-38A4-14AC3A1D0F8E}"/>
              </a:ext>
            </a:extLst>
          </p:cNvPr>
          <p:cNvSpPr/>
          <p:nvPr/>
        </p:nvSpPr>
        <p:spPr>
          <a:xfrm>
            <a:off x="6072042" y="3052491"/>
            <a:ext cx="1994072" cy="859339"/>
          </a:xfrm>
          <a:prstGeom prst="wedgeRectCallout">
            <a:avLst>
              <a:gd name="adj1" fmla="val -65154"/>
              <a:gd name="adj2" fmla="val -78136"/>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1600" b="1" dirty="0">
                <a:latin typeface="微软雅黑" panose="020B0503020204020204" pitchFamily="34" charset="-122"/>
                <a:ea typeface="微软雅黑" panose="020B0503020204020204" pitchFamily="34" charset="-122"/>
              </a:rPr>
              <a:t>收到有差错的帧自行丢弃，收到正确的帧才通知计算机</a:t>
            </a:r>
          </a:p>
        </p:txBody>
      </p:sp>
    </p:spTree>
    <p:extLst>
      <p:ext uri="{BB962C8B-B14F-4D97-AF65-F5344CB8AC3E}">
        <p14:creationId xmlns:p14="http://schemas.microsoft.com/office/powerpoint/2010/main" val="212342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30D4B-7577-C385-95FD-464507D78478}"/>
            </a:ext>
          </a:extLst>
        </p:cNvPr>
        <p:cNvGrpSpPr/>
        <p:nvPr/>
      </p:nvGrpSpPr>
      <p:grpSpPr>
        <a:xfrm>
          <a:off x="0" y="0"/>
          <a:ext cx="0" cy="0"/>
          <a:chOff x="0" y="0"/>
          <a:chExt cx="0" cy="0"/>
        </a:xfrm>
      </p:grpSpPr>
      <p:sp>
        <p:nvSpPr>
          <p:cNvPr id="8" name="AutoShape 5">
            <a:extLst>
              <a:ext uri="{FF2B5EF4-FFF2-40B4-BE49-F238E27FC236}">
                <a16:creationId xmlns:a16="http://schemas.microsoft.com/office/drawing/2014/main" id="{1473EFEC-AF0B-E656-C701-D7ED49C153E2}"/>
              </a:ext>
            </a:extLst>
          </p:cNvPr>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76124E1D-0C7A-E1C1-5309-DB6FEA4A5F7B}"/>
              </a:ext>
            </a:extLst>
          </p:cNvPr>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a:extLst>
              <a:ext uri="{FF2B5EF4-FFF2-40B4-BE49-F238E27FC236}">
                <a16:creationId xmlns:a16="http://schemas.microsoft.com/office/drawing/2014/main" id="{C19C0914-BF68-29C6-3A5B-E3B717FD4D95}"/>
              </a:ext>
            </a:extLst>
          </p:cNvPr>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0" name="Rectangle 18">
            <a:extLst>
              <a:ext uri="{FF2B5EF4-FFF2-40B4-BE49-F238E27FC236}">
                <a16:creationId xmlns:a16="http://schemas.microsoft.com/office/drawing/2014/main" id="{BB5A5CC6-11F5-76C3-3021-AC52FC2E6CD3}"/>
              </a:ext>
            </a:extLst>
          </p:cNvPr>
          <p:cNvSpPr>
            <a:spLocks noChangeArrowheads="1"/>
          </p:cNvSpPr>
          <p:nvPr/>
        </p:nvSpPr>
        <p:spPr bwMode="auto">
          <a:xfrm>
            <a:off x="1970731" y="1646765"/>
            <a:ext cx="4627574" cy="173998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a:extLst>
              <a:ext uri="{FF2B5EF4-FFF2-40B4-BE49-F238E27FC236}">
                <a16:creationId xmlns:a16="http://schemas.microsoft.com/office/drawing/2014/main" id="{7955D548-0AB4-1966-DECF-D4FAA94FEFD7}"/>
              </a:ext>
            </a:extLst>
          </p:cNvPr>
          <p:cNvSpPr>
            <a:spLocks noChangeShapeType="1"/>
          </p:cNvSpPr>
          <p:nvPr/>
        </p:nvSpPr>
        <p:spPr bwMode="auto">
          <a:xfrm>
            <a:off x="6035307" y="2589353"/>
            <a:ext cx="1460551"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Rectangle 22">
            <a:extLst>
              <a:ext uri="{FF2B5EF4-FFF2-40B4-BE49-F238E27FC236}">
                <a16:creationId xmlns:a16="http://schemas.microsoft.com/office/drawing/2014/main" id="{A5AE561F-43CC-81A9-FEED-1BFFF249325E}"/>
              </a:ext>
            </a:extLst>
          </p:cNvPr>
          <p:cNvSpPr>
            <a:spLocks noChangeArrowheads="1"/>
          </p:cNvSpPr>
          <p:nvPr/>
        </p:nvSpPr>
        <p:spPr bwMode="auto">
          <a:xfrm>
            <a:off x="4683360" y="2143411"/>
            <a:ext cx="1384403" cy="818139"/>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grpSp>
        <p:nvGrpSpPr>
          <p:cNvPr id="4" name="组合 3">
            <a:extLst>
              <a:ext uri="{FF2B5EF4-FFF2-40B4-BE49-F238E27FC236}">
                <a16:creationId xmlns:a16="http://schemas.microsoft.com/office/drawing/2014/main" id="{E405A3D7-E2CB-5566-A4D3-1EDE1A1163AC}"/>
              </a:ext>
            </a:extLst>
          </p:cNvPr>
          <p:cNvGrpSpPr/>
          <p:nvPr/>
        </p:nvGrpSpPr>
        <p:grpSpPr>
          <a:xfrm>
            <a:off x="6548435" y="2243289"/>
            <a:ext cx="912800" cy="662056"/>
            <a:chOff x="6548435" y="2243289"/>
            <a:chExt cx="912800" cy="662056"/>
          </a:xfrm>
        </p:grpSpPr>
        <p:sp>
          <p:nvSpPr>
            <p:cNvPr id="12" name="Text Box 21">
              <a:extLst>
                <a:ext uri="{FF2B5EF4-FFF2-40B4-BE49-F238E27FC236}">
                  <a16:creationId xmlns:a16="http://schemas.microsoft.com/office/drawing/2014/main" id="{12324580-77EF-E97B-1CC5-B101D92B3A92}"/>
                </a:ext>
              </a:extLst>
            </p:cNvPr>
            <p:cNvSpPr txBox="1">
              <a:spLocks noChangeArrowheads="1"/>
            </p:cNvSpPr>
            <p:nvPr/>
          </p:nvSpPr>
          <p:spPr bwMode="auto">
            <a:xfrm>
              <a:off x="6548435" y="2243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4" name="Text Box 23">
              <a:extLst>
                <a:ext uri="{FF2B5EF4-FFF2-40B4-BE49-F238E27FC236}">
                  <a16:creationId xmlns:a16="http://schemas.microsoft.com/office/drawing/2014/main" id="{E2319E69-5F0B-4394-3563-C5E843830C21}"/>
                </a:ext>
              </a:extLst>
            </p:cNvPr>
            <p:cNvSpPr txBox="1">
              <a:spLocks noChangeArrowheads="1"/>
            </p:cNvSpPr>
            <p:nvPr/>
          </p:nvSpPr>
          <p:spPr bwMode="auto">
            <a:xfrm>
              <a:off x="6558424" y="25975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grpSp>
      <p:sp>
        <p:nvSpPr>
          <p:cNvPr id="15" name="Rectangle 24">
            <a:extLst>
              <a:ext uri="{FF2B5EF4-FFF2-40B4-BE49-F238E27FC236}">
                <a16:creationId xmlns:a16="http://schemas.microsoft.com/office/drawing/2014/main" id="{7F52FC7F-0F73-C682-77B2-9EB1DF8FD13F}"/>
              </a:ext>
            </a:extLst>
          </p:cNvPr>
          <p:cNvSpPr>
            <a:spLocks noChangeArrowheads="1"/>
          </p:cNvSpPr>
          <p:nvPr/>
        </p:nvSpPr>
        <p:spPr bwMode="auto">
          <a:xfrm>
            <a:off x="2500025" y="2143411"/>
            <a:ext cx="1384402" cy="818139"/>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a:extLst>
              <a:ext uri="{FF2B5EF4-FFF2-40B4-BE49-F238E27FC236}">
                <a16:creationId xmlns:a16="http://schemas.microsoft.com/office/drawing/2014/main" id="{ECA84617-BE7C-D855-2152-F58A098E8E4E}"/>
              </a:ext>
            </a:extLst>
          </p:cNvPr>
          <p:cNvSpPr>
            <a:spLocks noChangeShapeType="1"/>
          </p:cNvSpPr>
          <p:nvPr/>
        </p:nvSpPr>
        <p:spPr bwMode="auto">
          <a:xfrm flipV="1">
            <a:off x="2928203"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a:extLst>
              <a:ext uri="{FF2B5EF4-FFF2-40B4-BE49-F238E27FC236}">
                <a16:creationId xmlns:a16="http://schemas.microsoft.com/office/drawing/2014/main" id="{D359E5DA-DB91-F071-2437-35AECE0A04AD}"/>
              </a:ext>
            </a:extLst>
          </p:cNvPr>
          <p:cNvSpPr txBox="1">
            <a:spLocks noChangeArrowheads="1"/>
          </p:cNvSpPr>
          <p:nvPr/>
        </p:nvSpPr>
        <p:spPr bwMode="auto">
          <a:xfrm>
            <a:off x="2049375" y="3605690"/>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a:extLst>
              <a:ext uri="{FF2B5EF4-FFF2-40B4-BE49-F238E27FC236}">
                <a16:creationId xmlns:a16="http://schemas.microsoft.com/office/drawing/2014/main" id="{1266523C-DFCC-C926-A194-B5A7ED5B4775}"/>
              </a:ext>
            </a:extLst>
          </p:cNvPr>
          <p:cNvSpPr>
            <a:spLocks noChangeShapeType="1"/>
          </p:cNvSpPr>
          <p:nvPr/>
        </p:nvSpPr>
        <p:spPr bwMode="auto">
          <a:xfrm flipV="1">
            <a:off x="5082828"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a:extLst>
              <a:ext uri="{FF2B5EF4-FFF2-40B4-BE49-F238E27FC236}">
                <a16:creationId xmlns:a16="http://schemas.microsoft.com/office/drawing/2014/main" id="{C450F490-BFB6-7778-64C3-7A5BFF3625C6}"/>
              </a:ext>
            </a:extLst>
          </p:cNvPr>
          <p:cNvSpPr txBox="1">
            <a:spLocks noChangeArrowheads="1"/>
          </p:cNvSpPr>
          <p:nvPr/>
        </p:nvSpPr>
        <p:spPr bwMode="auto">
          <a:xfrm>
            <a:off x="4315417" y="3605690"/>
            <a:ext cx="16209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a:extLst>
              <a:ext uri="{FF2B5EF4-FFF2-40B4-BE49-F238E27FC236}">
                <a16:creationId xmlns:a16="http://schemas.microsoft.com/office/drawing/2014/main" id="{D7E25C98-03A8-3F82-7817-518E5730356A}"/>
              </a:ext>
            </a:extLst>
          </p:cNvPr>
          <p:cNvSpPr txBox="1">
            <a:spLocks noChangeArrowheads="1"/>
          </p:cNvSpPr>
          <p:nvPr/>
        </p:nvSpPr>
        <p:spPr bwMode="auto">
          <a:xfrm>
            <a:off x="3901098" y="1659511"/>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a:extLst>
              <a:ext uri="{FF2B5EF4-FFF2-40B4-BE49-F238E27FC236}">
                <a16:creationId xmlns:a16="http://schemas.microsoft.com/office/drawing/2014/main" id="{D217165D-C121-3AF5-729A-CA3DCFC1B060}"/>
              </a:ext>
            </a:extLst>
          </p:cNvPr>
          <p:cNvSpPr>
            <a:spLocks noChangeArrowheads="1"/>
          </p:cNvSpPr>
          <p:nvPr/>
        </p:nvSpPr>
        <p:spPr bwMode="auto">
          <a:xfrm>
            <a:off x="3805782" y="2309342"/>
            <a:ext cx="956224" cy="496644"/>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a:extLst>
              <a:ext uri="{FF2B5EF4-FFF2-40B4-BE49-F238E27FC236}">
                <a16:creationId xmlns:a16="http://schemas.microsoft.com/office/drawing/2014/main" id="{4940DEF3-66E0-ABF8-D2E9-00B374F43164}"/>
              </a:ext>
            </a:extLst>
          </p:cNvPr>
          <p:cNvSpPr txBox="1">
            <a:spLocks noChangeArrowheads="1"/>
          </p:cNvSpPr>
          <p:nvPr/>
        </p:nvSpPr>
        <p:spPr bwMode="auto">
          <a:xfrm>
            <a:off x="4028551" y="2666347"/>
            <a:ext cx="543739"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a:extLst>
              <a:ext uri="{FF2B5EF4-FFF2-40B4-BE49-F238E27FC236}">
                <a16:creationId xmlns:a16="http://schemas.microsoft.com/office/drawing/2014/main" id="{6C984E89-E594-C983-F3D4-D3766D4596D6}"/>
              </a:ext>
            </a:extLst>
          </p:cNvPr>
          <p:cNvSpPr>
            <a:spLocks noChangeArrowheads="1"/>
          </p:cNvSpPr>
          <p:nvPr/>
        </p:nvSpPr>
        <p:spPr bwMode="auto">
          <a:xfrm>
            <a:off x="2628603" y="2476427"/>
            <a:ext cx="158539" cy="1232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a:extLst>
              <a:ext uri="{FF2B5EF4-FFF2-40B4-BE49-F238E27FC236}">
                <a16:creationId xmlns:a16="http://schemas.microsoft.com/office/drawing/2014/main" id="{D8D749B5-EA7B-EB0D-65F6-E6ACC8CFD322}"/>
              </a:ext>
            </a:extLst>
          </p:cNvPr>
          <p:cNvSpPr>
            <a:spLocks/>
          </p:cNvSpPr>
          <p:nvPr/>
        </p:nvSpPr>
        <p:spPr bwMode="auto">
          <a:xfrm>
            <a:off x="2228447" y="1554563"/>
            <a:ext cx="959844" cy="919542"/>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a:extLst>
              <a:ext uri="{FF2B5EF4-FFF2-40B4-BE49-F238E27FC236}">
                <a16:creationId xmlns:a16="http://schemas.microsoft.com/office/drawing/2014/main" id="{B647F2CA-8513-15E0-9FF7-953E95B1D829}"/>
              </a:ext>
            </a:extLst>
          </p:cNvPr>
          <p:cNvSpPr>
            <a:spLocks noChangeArrowheads="1"/>
          </p:cNvSpPr>
          <p:nvPr/>
        </p:nvSpPr>
        <p:spPr bwMode="auto">
          <a:xfrm>
            <a:off x="5801868" y="2476427"/>
            <a:ext cx="158539" cy="123297"/>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a:extLst>
              <a:ext uri="{FF2B5EF4-FFF2-40B4-BE49-F238E27FC236}">
                <a16:creationId xmlns:a16="http://schemas.microsoft.com/office/drawing/2014/main" id="{C8CAABFB-DC17-1ACD-000F-56722F2368C2}"/>
              </a:ext>
            </a:extLst>
          </p:cNvPr>
          <p:cNvSpPr>
            <a:spLocks/>
          </p:cNvSpPr>
          <p:nvPr/>
        </p:nvSpPr>
        <p:spPr bwMode="auto">
          <a:xfrm>
            <a:off x="5361958" y="1559190"/>
            <a:ext cx="1076064" cy="914933"/>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a:extLst>
              <a:ext uri="{FF2B5EF4-FFF2-40B4-BE49-F238E27FC236}">
                <a16:creationId xmlns:a16="http://schemas.microsoft.com/office/drawing/2014/main" id="{6B1FA9C4-7391-1C39-E716-7844499F1C76}"/>
              </a:ext>
            </a:extLst>
          </p:cNvPr>
          <p:cNvSpPr txBox="1">
            <a:spLocks noChangeArrowheads="1"/>
          </p:cNvSpPr>
          <p:nvPr/>
        </p:nvSpPr>
        <p:spPr bwMode="auto">
          <a:xfrm>
            <a:off x="5370537" y="1258287"/>
            <a:ext cx="1067485" cy="307777"/>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a:extLst>
              <a:ext uri="{FF2B5EF4-FFF2-40B4-BE49-F238E27FC236}">
                <a16:creationId xmlns:a16="http://schemas.microsoft.com/office/drawing/2014/main" id="{2D4E50A8-46C1-BF49-3292-1A7ABF73DE83}"/>
              </a:ext>
            </a:extLst>
          </p:cNvPr>
          <p:cNvSpPr txBox="1">
            <a:spLocks noChangeArrowheads="1"/>
          </p:cNvSpPr>
          <p:nvPr/>
        </p:nvSpPr>
        <p:spPr bwMode="auto">
          <a:xfrm>
            <a:off x="2224504" y="1259932"/>
            <a:ext cx="963975" cy="307777"/>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sp>
        <p:nvSpPr>
          <p:cNvPr id="2" name="矩形 1">
            <a:extLst>
              <a:ext uri="{FF2B5EF4-FFF2-40B4-BE49-F238E27FC236}">
                <a16:creationId xmlns:a16="http://schemas.microsoft.com/office/drawing/2014/main" id="{A7A657E7-17EC-8EB7-DA97-E01AC786C52A}"/>
              </a:ext>
            </a:extLst>
          </p:cNvPr>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
        <p:nvSpPr>
          <p:cNvPr id="3" name="对话气泡: 矩形 2">
            <a:extLst>
              <a:ext uri="{FF2B5EF4-FFF2-40B4-BE49-F238E27FC236}">
                <a16:creationId xmlns:a16="http://schemas.microsoft.com/office/drawing/2014/main" id="{BD64C1EF-6199-1FCB-FCD5-0EF4FC862FC8}"/>
              </a:ext>
            </a:extLst>
          </p:cNvPr>
          <p:cNvSpPr/>
          <p:nvPr/>
        </p:nvSpPr>
        <p:spPr>
          <a:xfrm>
            <a:off x="6072042" y="3052491"/>
            <a:ext cx="1994072" cy="859339"/>
          </a:xfrm>
          <a:prstGeom prst="wedgeRectCallout">
            <a:avLst>
              <a:gd name="adj1" fmla="val -65154"/>
              <a:gd name="adj2" fmla="val -78136"/>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1600" b="1" dirty="0">
                <a:latin typeface="微软雅黑" panose="020B0503020204020204" pitchFamily="34" charset="-122"/>
                <a:ea typeface="微软雅黑" panose="020B0503020204020204" pitchFamily="34" charset="-122"/>
              </a:rPr>
              <a:t>将上层交给的数据组装成帧后发送到局域网</a:t>
            </a:r>
          </a:p>
        </p:txBody>
      </p:sp>
    </p:spTree>
    <p:extLst>
      <p:ext uri="{BB962C8B-B14F-4D97-AF65-F5344CB8AC3E}">
        <p14:creationId xmlns:p14="http://schemas.microsoft.com/office/powerpoint/2010/main" val="1568285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D7C12-D3D4-3157-2E18-BA16421A19FC}"/>
            </a:ext>
          </a:extLst>
        </p:cNvPr>
        <p:cNvGrpSpPr/>
        <p:nvPr/>
      </p:nvGrpSpPr>
      <p:grpSpPr>
        <a:xfrm>
          <a:off x="0" y="0"/>
          <a:ext cx="0" cy="0"/>
          <a:chOff x="0" y="0"/>
          <a:chExt cx="0" cy="0"/>
        </a:xfrm>
      </p:grpSpPr>
      <p:sp>
        <p:nvSpPr>
          <p:cNvPr id="8" name="AutoShape 5">
            <a:extLst>
              <a:ext uri="{FF2B5EF4-FFF2-40B4-BE49-F238E27FC236}">
                <a16:creationId xmlns:a16="http://schemas.microsoft.com/office/drawing/2014/main" id="{B8A1A655-322B-076E-0B19-BD74D56249A2}"/>
              </a:ext>
            </a:extLst>
          </p:cNvPr>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7AE23974-33E4-9589-EB31-508AF39B234E}"/>
              </a:ext>
            </a:extLst>
          </p:cNvPr>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a:extLst>
              <a:ext uri="{FF2B5EF4-FFF2-40B4-BE49-F238E27FC236}">
                <a16:creationId xmlns:a16="http://schemas.microsoft.com/office/drawing/2014/main" id="{BA94B3FB-41F3-34BC-8084-AC1C83E2C972}"/>
              </a:ext>
            </a:extLst>
          </p:cNvPr>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0" name="Rectangle 18">
            <a:extLst>
              <a:ext uri="{FF2B5EF4-FFF2-40B4-BE49-F238E27FC236}">
                <a16:creationId xmlns:a16="http://schemas.microsoft.com/office/drawing/2014/main" id="{6DB6A6EA-4933-BB04-35B1-5B299FCD5C16}"/>
              </a:ext>
            </a:extLst>
          </p:cNvPr>
          <p:cNvSpPr>
            <a:spLocks noChangeArrowheads="1"/>
          </p:cNvSpPr>
          <p:nvPr/>
        </p:nvSpPr>
        <p:spPr bwMode="auto">
          <a:xfrm>
            <a:off x="1970731" y="1646765"/>
            <a:ext cx="4627574" cy="173998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a:extLst>
              <a:ext uri="{FF2B5EF4-FFF2-40B4-BE49-F238E27FC236}">
                <a16:creationId xmlns:a16="http://schemas.microsoft.com/office/drawing/2014/main" id="{B67F6BDA-4D3E-C988-0AA8-08E231F5D9E9}"/>
              </a:ext>
            </a:extLst>
          </p:cNvPr>
          <p:cNvSpPr>
            <a:spLocks noChangeShapeType="1"/>
          </p:cNvSpPr>
          <p:nvPr/>
        </p:nvSpPr>
        <p:spPr bwMode="auto">
          <a:xfrm>
            <a:off x="6035307" y="2589353"/>
            <a:ext cx="1460551"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Rectangle 22">
            <a:extLst>
              <a:ext uri="{FF2B5EF4-FFF2-40B4-BE49-F238E27FC236}">
                <a16:creationId xmlns:a16="http://schemas.microsoft.com/office/drawing/2014/main" id="{3B09D341-D8B6-6DC2-F3ED-BDE631230ACC}"/>
              </a:ext>
            </a:extLst>
          </p:cNvPr>
          <p:cNvSpPr>
            <a:spLocks noChangeArrowheads="1"/>
          </p:cNvSpPr>
          <p:nvPr/>
        </p:nvSpPr>
        <p:spPr bwMode="auto">
          <a:xfrm>
            <a:off x="4683360" y="2143411"/>
            <a:ext cx="1384403" cy="818139"/>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grpSp>
        <p:nvGrpSpPr>
          <p:cNvPr id="4" name="组合 3">
            <a:extLst>
              <a:ext uri="{FF2B5EF4-FFF2-40B4-BE49-F238E27FC236}">
                <a16:creationId xmlns:a16="http://schemas.microsoft.com/office/drawing/2014/main" id="{97735BEB-6CC3-ACD0-0C6C-5DE025044D7B}"/>
              </a:ext>
            </a:extLst>
          </p:cNvPr>
          <p:cNvGrpSpPr/>
          <p:nvPr/>
        </p:nvGrpSpPr>
        <p:grpSpPr>
          <a:xfrm>
            <a:off x="6548435" y="2243289"/>
            <a:ext cx="912800" cy="662056"/>
            <a:chOff x="6548435" y="2243289"/>
            <a:chExt cx="912800" cy="662056"/>
          </a:xfrm>
        </p:grpSpPr>
        <p:sp>
          <p:nvSpPr>
            <p:cNvPr id="12" name="Text Box 21">
              <a:extLst>
                <a:ext uri="{FF2B5EF4-FFF2-40B4-BE49-F238E27FC236}">
                  <a16:creationId xmlns:a16="http://schemas.microsoft.com/office/drawing/2014/main" id="{CDDE59AF-0811-8212-56C2-CF4A1749D378}"/>
                </a:ext>
              </a:extLst>
            </p:cNvPr>
            <p:cNvSpPr txBox="1">
              <a:spLocks noChangeArrowheads="1"/>
            </p:cNvSpPr>
            <p:nvPr/>
          </p:nvSpPr>
          <p:spPr bwMode="auto">
            <a:xfrm>
              <a:off x="6548435" y="2243289"/>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4" name="Text Box 23">
              <a:extLst>
                <a:ext uri="{FF2B5EF4-FFF2-40B4-BE49-F238E27FC236}">
                  <a16:creationId xmlns:a16="http://schemas.microsoft.com/office/drawing/2014/main" id="{F2F4FBD5-DD43-9BA6-EC90-FB1CC79A066B}"/>
                </a:ext>
              </a:extLst>
            </p:cNvPr>
            <p:cNvSpPr txBox="1">
              <a:spLocks noChangeArrowheads="1"/>
            </p:cNvSpPr>
            <p:nvPr/>
          </p:nvSpPr>
          <p:spPr bwMode="auto">
            <a:xfrm>
              <a:off x="6558424" y="259756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grpSp>
      <p:sp>
        <p:nvSpPr>
          <p:cNvPr id="15" name="Rectangle 24">
            <a:extLst>
              <a:ext uri="{FF2B5EF4-FFF2-40B4-BE49-F238E27FC236}">
                <a16:creationId xmlns:a16="http://schemas.microsoft.com/office/drawing/2014/main" id="{DACBD590-1694-920E-ABAE-A5D127A90D71}"/>
              </a:ext>
            </a:extLst>
          </p:cNvPr>
          <p:cNvSpPr>
            <a:spLocks noChangeArrowheads="1"/>
          </p:cNvSpPr>
          <p:nvPr/>
        </p:nvSpPr>
        <p:spPr bwMode="auto">
          <a:xfrm>
            <a:off x="2500025" y="2143411"/>
            <a:ext cx="1384402" cy="818139"/>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a:extLst>
              <a:ext uri="{FF2B5EF4-FFF2-40B4-BE49-F238E27FC236}">
                <a16:creationId xmlns:a16="http://schemas.microsoft.com/office/drawing/2014/main" id="{681696C5-CC06-7C3A-4BAB-B751DF383BAD}"/>
              </a:ext>
            </a:extLst>
          </p:cNvPr>
          <p:cNvSpPr>
            <a:spLocks noChangeShapeType="1"/>
          </p:cNvSpPr>
          <p:nvPr/>
        </p:nvSpPr>
        <p:spPr bwMode="auto">
          <a:xfrm flipV="1">
            <a:off x="2928203"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a:extLst>
              <a:ext uri="{FF2B5EF4-FFF2-40B4-BE49-F238E27FC236}">
                <a16:creationId xmlns:a16="http://schemas.microsoft.com/office/drawing/2014/main" id="{F1A5632A-4A51-55ED-8144-D56F1671DF86}"/>
              </a:ext>
            </a:extLst>
          </p:cNvPr>
          <p:cNvSpPr txBox="1">
            <a:spLocks noChangeArrowheads="1"/>
          </p:cNvSpPr>
          <p:nvPr/>
        </p:nvSpPr>
        <p:spPr bwMode="auto">
          <a:xfrm>
            <a:off x="2049375" y="3605690"/>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a:extLst>
              <a:ext uri="{FF2B5EF4-FFF2-40B4-BE49-F238E27FC236}">
                <a16:creationId xmlns:a16="http://schemas.microsoft.com/office/drawing/2014/main" id="{4D17DF89-C2F5-B89B-74CB-4DDEA52F2020}"/>
              </a:ext>
            </a:extLst>
          </p:cNvPr>
          <p:cNvSpPr>
            <a:spLocks noChangeShapeType="1"/>
          </p:cNvSpPr>
          <p:nvPr/>
        </p:nvSpPr>
        <p:spPr bwMode="auto">
          <a:xfrm flipV="1">
            <a:off x="5082828" y="2973073"/>
            <a:ext cx="318325" cy="6602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a:extLst>
              <a:ext uri="{FF2B5EF4-FFF2-40B4-BE49-F238E27FC236}">
                <a16:creationId xmlns:a16="http://schemas.microsoft.com/office/drawing/2014/main" id="{3C66FF75-917F-8A93-D906-E21B12347208}"/>
              </a:ext>
            </a:extLst>
          </p:cNvPr>
          <p:cNvSpPr txBox="1">
            <a:spLocks noChangeArrowheads="1"/>
          </p:cNvSpPr>
          <p:nvPr/>
        </p:nvSpPr>
        <p:spPr bwMode="auto">
          <a:xfrm>
            <a:off x="4315417" y="3605690"/>
            <a:ext cx="16209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a:extLst>
              <a:ext uri="{FF2B5EF4-FFF2-40B4-BE49-F238E27FC236}">
                <a16:creationId xmlns:a16="http://schemas.microsoft.com/office/drawing/2014/main" id="{A6B4F9E0-A5E4-878B-1BAB-208DE11C8D49}"/>
              </a:ext>
            </a:extLst>
          </p:cNvPr>
          <p:cNvSpPr txBox="1">
            <a:spLocks noChangeArrowheads="1"/>
          </p:cNvSpPr>
          <p:nvPr/>
        </p:nvSpPr>
        <p:spPr bwMode="auto">
          <a:xfrm>
            <a:off x="3901098" y="1659511"/>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a:extLst>
              <a:ext uri="{FF2B5EF4-FFF2-40B4-BE49-F238E27FC236}">
                <a16:creationId xmlns:a16="http://schemas.microsoft.com/office/drawing/2014/main" id="{B2F6C099-91CE-7EF7-AF36-792A5BC12F3F}"/>
              </a:ext>
            </a:extLst>
          </p:cNvPr>
          <p:cNvSpPr>
            <a:spLocks noChangeArrowheads="1"/>
          </p:cNvSpPr>
          <p:nvPr/>
        </p:nvSpPr>
        <p:spPr bwMode="auto">
          <a:xfrm>
            <a:off x="3805782" y="2309342"/>
            <a:ext cx="956224" cy="496644"/>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a:extLst>
              <a:ext uri="{FF2B5EF4-FFF2-40B4-BE49-F238E27FC236}">
                <a16:creationId xmlns:a16="http://schemas.microsoft.com/office/drawing/2014/main" id="{B0F0C76B-69CC-D176-92AE-3D7854172948}"/>
              </a:ext>
            </a:extLst>
          </p:cNvPr>
          <p:cNvSpPr txBox="1">
            <a:spLocks noChangeArrowheads="1"/>
          </p:cNvSpPr>
          <p:nvPr/>
        </p:nvSpPr>
        <p:spPr bwMode="auto">
          <a:xfrm>
            <a:off x="4028551" y="2666347"/>
            <a:ext cx="543739"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a:extLst>
              <a:ext uri="{FF2B5EF4-FFF2-40B4-BE49-F238E27FC236}">
                <a16:creationId xmlns:a16="http://schemas.microsoft.com/office/drawing/2014/main" id="{9B4E637C-7624-DF2B-0B24-271CA84EBDB7}"/>
              </a:ext>
            </a:extLst>
          </p:cNvPr>
          <p:cNvSpPr>
            <a:spLocks noChangeArrowheads="1"/>
          </p:cNvSpPr>
          <p:nvPr/>
        </p:nvSpPr>
        <p:spPr bwMode="auto">
          <a:xfrm>
            <a:off x="2628603" y="2476427"/>
            <a:ext cx="158539" cy="123297"/>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5" name="Rectangle 35">
            <a:extLst>
              <a:ext uri="{FF2B5EF4-FFF2-40B4-BE49-F238E27FC236}">
                <a16:creationId xmlns:a16="http://schemas.microsoft.com/office/drawing/2014/main" id="{ACFF4022-D52C-DFC6-9841-AEBD7B832057}"/>
              </a:ext>
            </a:extLst>
          </p:cNvPr>
          <p:cNvSpPr>
            <a:spLocks noChangeArrowheads="1"/>
          </p:cNvSpPr>
          <p:nvPr/>
        </p:nvSpPr>
        <p:spPr bwMode="auto">
          <a:xfrm>
            <a:off x="5801868" y="2476427"/>
            <a:ext cx="158539" cy="123297"/>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6" name="组合 5">
            <a:extLst>
              <a:ext uri="{FF2B5EF4-FFF2-40B4-BE49-F238E27FC236}">
                <a16:creationId xmlns:a16="http://schemas.microsoft.com/office/drawing/2014/main" id="{A6B9F68C-0E44-A6D2-E371-165147969D68}"/>
              </a:ext>
            </a:extLst>
          </p:cNvPr>
          <p:cNvGrpSpPr/>
          <p:nvPr/>
        </p:nvGrpSpPr>
        <p:grpSpPr>
          <a:xfrm>
            <a:off x="5361958" y="1258287"/>
            <a:ext cx="1076064" cy="1215836"/>
            <a:chOff x="5361958" y="1258287"/>
            <a:chExt cx="1076064" cy="1215836"/>
          </a:xfrm>
        </p:grpSpPr>
        <p:sp>
          <p:nvSpPr>
            <p:cNvPr id="26" name="Freeform 36">
              <a:extLst>
                <a:ext uri="{FF2B5EF4-FFF2-40B4-BE49-F238E27FC236}">
                  <a16:creationId xmlns:a16="http://schemas.microsoft.com/office/drawing/2014/main" id="{07719988-50F5-A1D8-A88B-ECBC464F5757}"/>
                </a:ext>
              </a:extLst>
            </p:cNvPr>
            <p:cNvSpPr>
              <a:spLocks/>
            </p:cNvSpPr>
            <p:nvPr/>
          </p:nvSpPr>
          <p:spPr bwMode="auto">
            <a:xfrm>
              <a:off x="5361958" y="1559190"/>
              <a:ext cx="1076064" cy="914933"/>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a:extLst>
                <a:ext uri="{FF2B5EF4-FFF2-40B4-BE49-F238E27FC236}">
                  <a16:creationId xmlns:a16="http://schemas.microsoft.com/office/drawing/2014/main" id="{A5D2C188-B7C9-C8AE-1840-5657CDB191F6}"/>
                </a:ext>
              </a:extLst>
            </p:cNvPr>
            <p:cNvSpPr txBox="1">
              <a:spLocks noChangeArrowheads="1"/>
            </p:cNvSpPr>
            <p:nvPr/>
          </p:nvSpPr>
          <p:spPr bwMode="auto">
            <a:xfrm>
              <a:off x="5370537" y="1258287"/>
              <a:ext cx="1067485" cy="307777"/>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grpSp>
      <p:grpSp>
        <p:nvGrpSpPr>
          <p:cNvPr id="7" name="组合 6">
            <a:extLst>
              <a:ext uri="{FF2B5EF4-FFF2-40B4-BE49-F238E27FC236}">
                <a16:creationId xmlns:a16="http://schemas.microsoft.com/office/drawing/2014/main" id="{20AE0EA3-31CA-159A-3421-65B0676E2153}"/>
              </a:ext>
            </a:extLst>
          </p:cNvPr>
          <p:cNvGrpSpPr/>
          <p:nvPr/>
        </p:nvGrpSpPr>
        <p:grpSpPr>
          <a:xfrm>
            <a:off x="2224504" y="1259932"/>
            <a:ext cx="963975" cy="1214173"/>
            <a:chOff x="2224504" y="1259932"/>
            <a:chExt cx="963975" cy="1214173"/>
          </a:xfrm>
        </p:grpSpPr>
        <p:sp>
          <p:nvSpPr>
            <p:cNvPr id="24" name="Freeform 34">
              <a:extLst>
                <a:ext uri="{FF2B5EF4-FFF2-40B4-BE49-F238E27FC236}">
                  <a16:creationId xmlns:a16="http://schemas.microsoft.com/office/drawing/2014/main" id="{259EA6CC-6D00-B49C-C3FA-646032BBF28C}"/>
                </a:ext>
              </a:extLst>
            </p:cNvPr>
            <p:cNvSpPr>
              <a:spLocks/>
            </p:cNvSpPr>
            <p:nvPr/>
          </p:nvSpPr>
          <p:spPr bwMode="auto">
            <a:xfrm>
              <a:off x="2228447" y="1554563"/>
              <a:ext cx="959844" cy="919542"/>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8" name="Text Box 30">
              <a:extLst>
                <a:ext uri="{FF2B5EF4-FFF2-40B4-BE49-F238E27FC236}">
                  <a16:creationId xmlns:a16="http://schemas.microsoft.com/office/drawing/2014/main" id="{A4A57463-49A8-1A98-6B1C-425251726854}"/>
                </a:ext>
              </a:extLst>
            </p:cNvPr>
            <p:cNvSpPr txBox="1">
              <a:spLocks noChangeArrowheads="1"/>
            </p:cNvSpPr>
            <p:nvPr/>
          </p:nvSpPr>
          <p:spPr bwMode="auto">
            <a:xfrm>
              <a:off x="2224504" y="1259932"/>
              <a:ext cx="963975" cy="307777"/>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grpSp>
      <p:sp>
        <p:nvSpPr>
          <p:cNvPr id="2" name="矩形 1">
            <a:extLst>
              <a:ext uri="{FF2B5EF4-FFF2-40B4-BE49-F238E27FC236}">
                <a16:creationId xmlns:a16="http://schemas.microsoft.com/office/drawing/2014/main" id="{90EC333E-F01B-844D-D1BC-6E2BA3D97851}"/>
              </a:ext>
            </a:extLst>
          </p:cNvPr>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Tree>
    <p:extLst>
      <p:ext uri="{BB962C8B-B14F-4D97-AF65-F5344CB8AC3E}">
        <p14:creationId xmlns:p14="http://schemas.microsoft.com/office/powerpoint/2010/main" val="2508675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3"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74" name="Rectangle 8"/>
          <p:cNvSpPr>
            <a:spLocks noChangeArrowheads="1"/>
          </p:cNvSpPr>
          <p:nvPr/>
        </p:nvSpPr>
        <p:spPr bwMode="auto">
          <a:xfrm>
            <a:off x="502921" y="1021848"/>
            <a:ext cx="8129015" cy="75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最早的以太网：</a:t>
            </a:r>
            <a:r>
              <a:rPr lang="zh-CN" altLang="en-US" b="1" dirty="0">
                <a:latin typeface="微软雅黑" pitchFamily="34" charset="-122"/>
                <a:ea typeface="微软雅黑" pitchFamily="34" charset="-122"/>
              </a:rPr>
              <a:t>计算机都连接到一根</a:t>
            </a:r>
            <a:r>
              <a:rPr lang="zh-CN" altLang="en-US" b="1" dirty="0">
                <a:solidFill>
                  <a:srgbClr val="C00000"/>
                </a:solidFill>
                <a:latin typeface="微软雅黑" pitchFamily="34" charset="-122"/>
                <a:ea typeface="微软雅黑" pitchFamily="34" charset="-122"/>
              </a:rPr>
              <a:t>总线</a:t>
            </a:r>
            <a:r>
              <a:rPr lang="zh-CN" altLang="en-US" b="1" dirty="0">
                <a:latin typeface="微软雅黑" pitchFamily="34" charset="-122"/>
                <a:ea typeface="微软雅黑" pitchFamily="34" charset="-122"/>
              </a:rPr>
              <a:t>上，基带传输，曼彻斯特编码。</a:t>
            </a:r>
            <a:endParaRPr lang="en-US" altLang="zh-CN" b="1" dirty="0">
              <a:latin typeface="微软雅黑" pitchFamily="34" charset="-122"/>
              <a:ea typeface="微软雅黑" pitchFamily="34" charset="-122"/>
            </a:endParaRPr>
          </a:p>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特点：</a:t>
            </a:r>
            <a:r>
              <a:rPr lang="zh-CN" altLang="en-US" b="1" dirty="0">
                <a:latin typeface="微软雅黑" pitchFamily="34" charset="-122"/>
                <a:ea typeface="微软雅黑" pitchFamily="34" charset="-122"/>
              </a:rPr>
              <a:t>广播通信，简单，可靠。 </a:t>
            </a:r>
          </a:p>
        </p:txBody>
      </p:sp>
      <p:sp>
        <p:nvSpPr>
          <p:cNvPr id="75"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Text Box 21"/>
          <p:cNvSpPr txBox="1">
            <a:spLocks noChangeArrowheads="1"/>
          </p:cNvSpPr>
          <p:nvPr/>
        </p:nvSpPr>
        <p:spPr bwMode="auto">
          <a:xfrm>
            <a:off x="2786641" y="3667615"/>
            <a:ext cx="1079143" cy="307777"/>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发送数据</a:t>
            </a:r>
          </a:p>
        </p:txBody>
      </p:sp>
      <p:sp>
        <p:nvSpPr>
          <p:cNvPr id="82"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83"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D</a:t>
            </a:r>
          </a:p>
        </p:txBody>
      </p:sp>
      <p:sp>
        <p:nvSpPr>
          <p:cNvPr id="84"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85"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86"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88"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89"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0"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9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4"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6"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7"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8"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10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1817612" y="3700997"/>
            <a:ext cx="5498027" cy="309717"/>
            <a:chOff x="1817612" y="3764815"/>
            <a:chExt cx="5498027" cy="309717"/>
          </a:xfrm>
        </p:grpSpPr>
        <p:sp>
          <p:nvSpPr>
            <p:cNvPr id="102" name="Text Box 47"/>
            <p:cNvSpPr txBox="1">
              <a:spLocks noChangeArrowheads="1"/>
            </p:cNvSpPr>
            <p:nvPr/>
          </p:nvSpPr>
          <p:spPr bwMode="auto">
            <a:xfrm>
              <a:off x="55201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收到</a:t>
              </a:r>
            </a:p>
          </p:txBody>
        </p:sp>
        <p:sp>
          <p:nvSpPr>
            <p:cNvPr id="103" name="Text Box 47"/>
            <p:cNvSpPr txBox="1">
              <a:spLocks noChangeArrowheads="1"/>
            </p:cNvSpPr>
            <p:nvPr/>
          </p:nvSpPr>
          <p:spPr bwMode="auto">
            <a:xfrm>
              <a:off x="6773139"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收到</a:t>
              </a:r>
            </a:p>
          </p:txBody>
        </p:sp>
        <p:sp>
          <p:nvSpPr>
            <p:cNvPr id="104" name="Text Box 47"/>
            <p:cNvSpPr txBox="1">
              <a:spLocks noChangeArrowheads="1"/>
            </p:cNvSpPr>
            <p:nvPr/>
          </p:nvSpPr>
          <p:spPr bwMode="auto">
            <a:xfrm>
              <a:off x="42884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收到</a:t>
              </a:r>
            </a:p>
          </p:txBody>
        </p:sp>
        <p:sp>
          <p:nvSpPr>
            <p:cNvPr id="105" name="Text Box 47"/>
            <p:cNvSpPr txBox="1">
              <a:spLocks noChangeArrowheads="1"/>
            </p:cNvSpPr>
            <p:nvPr/>
          </p:nvSpPr>
          <p:spPr bwMode="auto">
            <a:xfrm>
              <a:off x="1817612" y="3764815"/>
              <a:ext cx="543739" cy="30777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收到</a:t>
              </a:r>
            </a:p>
          </p:txBody>
        </p:sp>
      </p:grpSp>
      <p:pic>
        <p:nvPicPr>
          <p:cNvPr id="10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51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animEffect transition="in" filter="fade">
                                      <p:cBhvr>
                                        <p:cTn id="7" dur="1000"/>
                                        <p:tgtEl>
                                          <p:spTgt spid="74">
                                            <p:txEl>
                                              <p:pRg st="0" end="0"/>
                                            </p:txEl>
                                          </p:spTgt>
                                        </p:tgtEl>
                                      </p:cBhvr>
                                    </p:animEffect>
                                    <p:anim calcmode="lin" valueType="num">
                                      <p:cBhvr>
                                        <p:cTn id="8" dur="1000" fill="hold"/>
                                        <p:tgtEl>
                                          <p:spTgt spid="7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4">
                                            <p:txEl>
                                              <p:pRg st="1" end="1"/>
                                            </p:txEl>
                                          </p:spTgt>
                                        </p:tgtEl>
                                        <p:attrNameLst>
                                          <p:attrName>style.visibility</p:attrName>
                                        </p:attrNameLst>
                                      </p:cBhvr>
                                      <p:to>
                                        <p:strVal val="visible"/>
                                      </p:to>
                                    </p:set>
                                    <p:animEffect transition="in" filter="fade">
                                      <p:cBhvr>
                                        <p:cTn id="12" dur="1000"/>
                                        <p:tgtEl>
                                          <p:spTgt spid="74">
                                            <p:txEl>
                                              <p:pRg st="1" end="1"/>
                                            </p:txEl>
                                          </p:spTgt>
                                        </p:tgtEl>
                                      </p:cBhvr>
                                    </p:animEffect>
                                    <p:anim calcmode="lin" valueType="num">
                                      <p:cBhvr>
                                        <p:cTn id="13" dur="1000" fill="hold"/>
                                        <p:tgtEl>
                                          <p:spTgt spid="7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par>
                          <p:cTn id="19" fill="hold">
                            <p:stCondLst>
                              <p:cond delay="0"/>
                            </p:stCondLst>
                            <p:childTnLst>
                              <p:par>
                                <p:cTn id="20" presetID="35" presetClass="emph" presetSubtype="0" repeatCount="3000" fill="hold" grpId="1" nodeType="afterEffect">
                                  <p:stCondLst>
                                    <p:cond delay="500"/>
                                  </p:stCondLst>
                                  <p:childTnLst>
                                    <p:anim calcmode="discrete" valueType="str">
                                      <p:cBhvr>
                                        <p:cTn id="21" dur="500" fill="hold"/>
                                        <p:tgtEl>
                                          <p:spTgt spid="81"/>
                                        </p:tgtEl>
                                        <p:attrNameLst>
                                          <p:attrName>style.visibility</p:attrName>
                                        </p:attrNameLst>
                                      </p:cBhvr>
                                      <p:tavLst>
                                        <p:tav tm="0">
                                          <p:val>
                                            <p:strVal val="hidden"/>
                                          </p:val>
                                        </p:tav>
                                        <p:tav tm="50000">
                                          <p:val>
                                            <p:strVal val="visible"/>
                                          </p:val>
                                        </p:tav>
                                      </p:tavLst>
                                    </p:anim>
                                  </p:childTnLst>
                                </p:cTn>
                              </p:par>
                            </p:childTnLst>
                          </p:cTn>
                        </p:par>
                        <p:par>
                          <p:cTn id="22" fill="hold">
                            <p:stCondLst>
                              <p:cond delay="2000"/>
                            </p:stCondLst>
                            <p:childTnLst>
                              <p:par>
                                <p:cTn id="23" presetID="22" presetClass="entr" presetSubtype="2" fill="hold" grpId="0" nodeType="afterEffect">
                                  <p:stCondLst>
                                    <p:cond delay="500"/>
                                  </p:stCondLst>
                                  <p:childTnLst>
                                    <p:set>
                                      <p:cBhvr>
                                        <p:cTn id="24" dur="1" fill="hold">
                                          <p:stCondLst>
                                            <p:cond delay="0"/>
                                          </p:stCondLst>
                                        </p:cTn>
                                        <p:tgtEl>
                                          <p:spTgt spid="99"/>
                                        </p:tgtEl>
                                        <p:attrNameLst>
                                          <p:attrName>style.visibility</p:attrName>
                                        </p:attrNameLst>
                                      </p:cBhvr>
                                      <p:to>
                                        <p:strVal val="visible"/>
                                      </p:to>
                                    </p:set>
                                    <p:animEffect transition="in" filter="wipe(right)">
                                      <p:cBhvr>
                                        <p:cTn id="25" dur="2500"/>
                                        <p:tgtEl>
                                          <p:spTgt spid="99"/>
                                        </p:tgtEl>
                                      </p:cBhvr>
                                    </p:animEffect>
                                  </p:childTnLst>
                                </p:cTn>
                              </p:par>
                              <p:par>
                                <p:cTn id="26" presetID="22" presetClass="entr" presetSubtype="2" fill="hold" grpId="0" nodeType="withEffect">
                                  <p:stCondLst>
                                    <p:cond delay="500"/>
                                  </p:stCondLst>
                                  <p:childTnLst>
                                    <p:set>
                                      <p:cBhvr>
                                        <p:cTn id="27" dur="1" fill="hold">
                                          <p:stCondLst>
                                            <p:cond delay="0"/>
                                          </p:stCondLst>
                                        </p:cTn>
                                        <p:tgtEl>
                                          <p:spTgt spid="98"/>
                                        </p:tgtEl>
                                        <p:attrNameLst>
                                          <p:attrName>style.visibility</p:attrName>
                                        </p:attrNameLst>
                                      </p:cBhvr>
                                      <p:to>
                                        <p:strVal val="visible"/>
                                      </p:to>
                                    </p:set>
                                    <p:animEffect transition="in" filter="wipe(right)">
                                      <p:cBhvr>
                                        <p:cTn id="28" dur="2500"/>
                                        <p:tgtEl>
                                          <p:spTgt spid="98"/>
                                        </p:tgtEl>
                                      </p:cBhvr>
                                    </p:animEffect>
                                  </p:childTnLst>
                                </p:cTn>
                              </p:par>
                              <p:par>
                                <p:cTn id="29" presetID="22" presetClass="entr" presetSubtype="8" fill="hold" grpId="0" nodeType="withEffect">
                                  <p:stCondLst>
                                    <p:cond delay="500"/>
                                  </p:stCondLst>
                                  <p:childTnLst>
                                    <p:set>
                                      <p:cBhvr>
                                        <p:cTn id="30" dur="1" fill="hold">
                                          <p:stCondLst>
                                            <p:cond delay="0"/>
                                          </p:stCondLst>
                                        </p:cTn>
                                        <p:tgtEl>
                                          <p:spTgt spid="95"/>
                                        </p:tgtEl>
                                        <p:attrNameLst>
                                          <p:attrName>style.visibility</p:attrName>
                                        </p:attrNameLst>
                                      </p:cBhvr>
                                      <p:to>
                                        <p:strVal val="visible"/>
                                      </p:to>
                                    </p:set>
                                    <p:animEffect transition="in" filter="wipe(left)">
                                      <p:cBhvr>
                                        <p:cTn id="31" dur="2500"/>
                                        <p:tgtEl>
                                          <p:spTgt spid="95"/>
                                        </p:tgtEl>
                                      </p:cBhvr>
                                    </p:animEffect>
                                  </p:childTnLst>
                                </p:cTn>
                              </p:par>
                              <p:par>
                                <p:cTn id="32" presetID="22" presetClass="entr" presetSubtype="8" fill="hold" grpId="0" nodeType="withEffect">
                                  <p:stCondLst>
                                    <p:cond delay="500"/>
                                  </p:stCondLst>
                                  <p:childTnLst>
                                    <p:set>
                                      <p:cBhvr>
                                        <p:cTn id="33" dur="1" fill="hold">
                                          <p:stCondLst>
                                            <p:cond delay="0"/>
                                          </p:stCondLst>
                                        </p:cTn>
                                        <p:tgtEl>
                                          <p:spTgt spid="96"/>
                                        </p:tgtEl>
                                        <p:attrNameLst>
                                          <p:attrName>style.visibility</p:attrName>
                                        </p:attrNameLst>
                                      </p:cBhvr>
                                      <p:to>
                                        <p:strVal val="visible"/>
                                      </p:to>
                                    </p:set>
                                    <p:animEffect transition="in" filter="wipe(left)">
                                      <p:cBhvr>
                                        <p:cTn id="34" dur="2750"/>
                                        <p:tgtEl>
                                          <p:spTgt spid="96"/>
                                        </p:tgtEl>
                                      </p:cBhvr>
                                    </p:animEffect>
                                  </p:childTnLst>
                                </p:cTn>
                              </p:par>
                              <p:par>
                                <p:cTn id="35" presetID="22" presetClass="entr" presetSubtype="8" fill="hold" grpId="0" nodeType="withEffect">
                                  <p:stCondLst>
                                    <p:cond delay="500"/>
                                  </p:stCondLst>
                                  <p:childTnLst>
                                    <p:set>
                                      <p:cBhvr>
                                        <p:cTn id="36" dur="1" fill="hold">
                                          <p:stCondLst>
                                            <p:cond delay="0"/>
                                          </p:stCondLst>
                                        </p:cTn>
                                        <p:tgtEl>
                                          <p:spTgt spid="97"/>
                                        </p:tgtEl>
                                        <p:attrNameLst>
                                          <p:attrName>style.visibility</p:attrName>
                                        </p:attrNameLst>
                                      </p:cBhvr>
                                      <p:to>
                                        <p:strVal val="visible"/>
                                      </p:to>
                                    </p:set>
                                    <p:animEffect transition="in" filter="wipe(left)">
                                      <p:cBhvr>
                                        <p:cTn id="37" dur="2500"/>
                                        <p:tgtEl>
                                          <p:spTgt spid="97"/>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89"/>
                                        </p:tgtEl>
                                        <p:attrNameLst>
                                          <p:attrName>style.visibility</p:attrName>
                                        </p:attrNameLst>
                                      </p:cBhvr>
                                      <p:to>
                                        <p:strVal val="visible"/>
                                      </p:to>
                                    </p:set>
                                    <p:animEffect transition="in" filter="wipe(left)">
                                      <p:cBhvr>
                                        <p:cTn id="40" dur="2500"/>
                                        <p:tgtEl>
                                          <p:spTgt spid="89"/>
                                        </p:tgtEl>
                                      </p:cBhvr>
                                    </p:animEffect>
                                  </p:childTnLst>
                                </p:cTn>
                              </p:par>
                            </p:childTnLst>
                          </p:cTn>
                        </p:par>
                        <p:par>
                          <p:cTn id="41" fill="hold">
                            <p:stCondLst>
                              <p:cond delay="5250"/>
                            </p:stCondLst>
                            <p:childTnLst>
                              <p:par>
                                <p:cTn id="42" presetID="1" presetClass="entr" presetSubtype="0" fill="hold" nodeType="afterEffect">
                                  <p:stCondLst>
                                    <p:cond delay="1000"/>
                                  </p:stCondLst>
                                  <p:childTnLst>
                                    <p:set>
                                      <p:cBhvr>
                                        <p:cTn id="43" dur="1" fill="hold">
                                          <p:stCondLst>
                                            <p:cond delay="0"/>
                                          </p:stCondLst>
                                        </p:cTn>
                                        <p:tgtEl>
                                          <p:spTgt spid="101"/>
                                        </p:tgtEl>
                                        <p:attrNameLst>
                                          <p:attrName>style.visibility</p:attrName>
                                        </p:attrNameLst>
                                      </p:cBhvr>
                                      <p:to>
                                        <p:strVal val="visible"/>
                                      </p:to>
                                    </p:set>
                                  </p:childTnLst>
                                </p:cTn>
                              </p:par>
                            </p:childTnLst>
                          </p:cTn>
                        </p:par>
                        <p:par>
                          <p:cTn id="44" fill="hold">
                            <p:stCondLst>
                              <p:cond delay="6250"/>
                            </p:stCondLst>
                            <p:childTnLst>
                              <p:par>
                                <p:cTn id="45" presetID="35" presetClass="emph" presetSubtype="0" repeatCount="3000" fill="hold" nodeType="afterEffect">
                                  <p:stCondLst>
                                    <p:cond delay="0"/>
                                  </p:stCondLst>
                                  <p:childTnLst>
                                    <p:anim calcmode="discrete" valueType="str">
                                      <p:cBhvr>
                                        <p:cTn id="46" dur="5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uiExpand="1" build="p"/>
      <p:bldP spid="81" grpId="0" animBg="1"/>
      <p:bldP spid="81" grpId="1" animBg="1"/>
      <p:bldP spid="89" grpId="0" animBg="1"/>
      <p:bldP spid="95" grpId="0" animBg="1"/>
      <p:bldP spid="96" grpId="0" animBg="1"/>
      <p:bldP spid="97" grpId="0" animBg="1"/>
      <p:bldP spid="98" grpId="0" animBg="1"/>
      <p:bldP spid="9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2"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3"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为了实现</a:t>
            </a:r>
            <a:r>
              <a:rPr lang="zh-CN" altLang="en-US" b="1" dirty="0">
                <a:solidFill>
                  <a:srgbClr val="C00000"/>
                </a:solidFill>
                <a:latin typeface="微软雅黑" pitchFamily="34" charset="-122"/>
                <a:ea typeface="微软雅黑" pitchFamily="34" charset="-122"/>
              </a:rPr>
              <a:t>一对一</a:t>
            </a:r>
            <a:r>
              <a:rPr lang="zh-CN" altLang="en-US" b="1" dirty="0">
                <a:latin typeface="微软雅黑" pitchFamily="34" charset="-122"/>
                <a:ea typeface="微软雅黑" pitchFamily="34" charset="-122"/>
              </a:rPr>
              <a:t>通信，将接收站的硬件地址写入帧首部中的</a:t>
            </a:r>
            <a:r>
              <a:rPr lang="zh-CN" altLang="en-US" b="1" dirty="0">
                <a:solidFill>
                  <a:srgbClr val="C00000"/>
                </a:solidFill>
                <a:latin typeface="微软雅黑" pitchFamily="34" charset="-122"/>
                <a:ea typeface="微软雅黑" pitchFamily="34" charset="-122"/>
              </a:rPr>
              <a:t>目的地址</a:t>
            </a:r>
            <a:r>
              <a:rPr lang="zh-CN" altLang="en-US" b="1" dirty="0">
                <a:latin typeface="微软雅黑" pitchFamily="34" charset="-122"/>
                <a:ea typeface="微软雅黑" pitchFamily="34" charset="-122"/>
              </a:rPr>
              <a:t>字段中。仅当数据帧中的目的地址与</a:t>
            </a:r>
            <a:r>
              <a:rPr lang="zh-CN" altLang="en-US" b="1" dirty="0">
                <a:solidFill>
                  <a:srgbClr val="C00000"/>
                </a:solidFill>
                <a:latin typeface="微软雅黑" pitchFamily="34" charset="-122"/>
                <a:ea typeface="微软雅黑" pitchFamily="34" charset="-122"/>
              </a:rPr>
              <a:t>适配器硬件地址</a:t>
            </a:r>
            <a:r>
              <a:rPr lang="zh-CN" altLang="en-US" b="1" dirty="0">
                <a:latin typeface="微软雅黑" pitchFamily="34" charset="-122"/>
                <a:ea typeface="微软雅黑" pitchFamily="34" charset="-122"/>
              </a:rPr>
              <a:t>一致时，才能接收这个数据帧。</a:t>
            </a:r>
          </a:p>
        </p:txBody>
      </p:sp>
      <p:sp>
        <p:nvSpPr>
          <p:cNvPr id="14"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21"/>
          <p:cNvSpPr txBox="1">
            <a:spLocks noChangeArrowheads="1"/>
          </p:cNvSpPr>
          <p:nvPr/>
        </p:nvSpPr>
        <p:spPr bwMode="auto">
          <a:xfrm>
            <a:off x="2874807" y="3667615"/>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21"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2"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3"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4"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5"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7"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8"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3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8"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49"/>
          <p:cNvSpPr txBox="1">
            <a:spLocks noChangeArrowheads="1"/>
          </p:cNvSpPr>
          <p:nvPr/>
        </p:nvSpPr>
        <p:spPr bwMode="auto">
          <a:xfrm>
            <a:off x="4378418" y="2544783"/>
            <a:ext cx="1258679" cy="523220"/>
          </a:xfrm>
          <a:prstGeom prst="rect">
            <a:avLst/>
          </a:prstGeom>
          <a:solidFill>
            <a:srgbClr val="0000CC"/>
          </a:solidFill>
          <a:ln w="12700">
            <a:solidFill>
              <a:schemeClr val="tx1"/>
            </a:solidFill>
            <a:miter lim="800000"/>
            <a:headEnd/>
            <a:tailEnd/>
          </a:ln>
          <a:effectLst/>
        </p:spPr>
        <p:txBody>
          <a:bodyPr wrap="none">
            <a:spAutoFit/>
          </a:bodyPr>
          <a:lstStyle/>
          <a:p>
            <a:pPr algn="ctr"/>
            <a:r>
              <a:rPr lang="zh-CN" altLang="en-US" sz="1400" b="1" dirty="0">
                <a:solidFill>
                  <a:schemeClr val="bg1"/>
                </a:solidFill>
                <a:latin typeface="微软雅黑" pitchFamily="34" charset="-122"/>
                <a:ea typeface="微软雅黑" pitchFamily="34" charset="-122"/>
              </a:rPr>
              <a:t>只有 </a:t>
            </a:r>
            <a:r>
              <a:rPr lang="en-US" altLang="zh-CN" sz="1400" b="1" dirty="0">
                <a:solidFill>
                  <a:schemeClr val="bg1"/>
                </a:solidFill>
                <a:latin typeface="微软雅黑" pitchFamily="34" charset="-122"/>
                <a:ea typeface="微软雅黑" pitchFamily="34" charset="-122"/>
              </a:rPr>
              <a:t>D </a:t>
            </a:r>
            <a:r>
              <a:rPr lang="zh-CN" altLang="en-US" sz="1400" b="1" dirty="0">
                <a:solidFill>
                  <a:schemeClr val="bg1"/>
                </a:solidFill>
                <a:latin typeface="微软雅黑" pitchFamily="34" charset="-122"/>
                <a:ea typeface="微软雅黑" pitchFamily="34" charset="-122"/>
              </a:rPr>
              <a:t>接受</a:t>
            </a:r>
          </a:p>
          <a:p>
            <a:pPr algn="ctr"/>
            <a:r>
              <a:rPr lang="en-US" altLang="zh-CN" sz="1400" b="1" dirty="0">
                <a:solidFill>
                  <a:schemeClr val="bg1"/>
                </a:solidFill>
                <a:latin typeface="微软雅黑" pitchFamily="34" charset="-122"/>
                <a:ea typeface="微软雅黑" pitchFamily="34" charset="-122"/>
              </a:rPr>
              <a:t>B </a:t>
            </a:r>
            <a:r>
              <a:rPr lang="zh-CN" altLang="en-US" sz="1400" b="1" dirty="0">
                <a:solidFill>
                  <a:schemeClr val="bg1"/>
                </a:solidFill>
                <a:latin typeface="微软雅黑" pitchFamily="34" charset="-122"/>
                <a:ea typeface="微软雅黑" pitchFamily="34" charset="-122"/>
              </a:rPr>
              <a:t>发送的数据</a:t>
            </a:r>
          </a:p>
        </p:txBody>
      </p:sp>
      <p:sp>
        <p:nvSpPr>
          <p:cNvPr id="53"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715396" y="3097124"/>
            <a:ext cx="5676467" cy="944924"/>
            <a:chOff x="1715396" y="3113750"/>
            <a:chExt cx="5676467" cy="944924"/>
          </a:xfrm>
        </p:grpSpPr>
        <p:grpSp>
          <p:nvGrpSpPr>
            <p:cNvPr id="33" name="组合 32"/>
            <p:cNvGrpSpPr/>
            <p:nvPr/>
          </p:nvGrpSpPr>
          <p:grpSpPr>
            <a:xfrm>
              <a:off x="1715396" y="3113750"/>
              <a:ext cx="5676467" cy="944924"/>
              <a:chOff x="1715396" y="3160942"/>
              <a:chExt cx="5676467" cy="944924"/>
            </a:xfrm>
          </p:grpSpPr>
          <p:sp>
            <p:nvSpPr>
              <p:cNvPr id="34" name="Text Box 47"/>
              <p:cNvSpPr txBox="1">
                <a:spLocks noChangeArrowheads="1"/>
              </p:cNvSpPr>
              <p:nvPr/>
            </p:nvSpPr>
            <p:spPr bwMode="auto">
              <a:xfrm>
                <a:off x="5520120" y="3796149"/>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grpSp>
            <p:nvGrpSpPr>
              <p:cNvPr id="35" name="组合 34"/>
              <p:cNvGrpSpPr/>
              <p:nvPr/>
            </p:nvGrpSpPr>
            <p:grpSpPr>
              <a:xfrm>
                <a:off x="1715396" y="3160942"/>
                <a:ext cx="5676467" cy="944924"/>
                <a:chOff x="1715396" y="3160942"/>
                <a:chExt cx="5676467" cy="944924"/>
              </a:xfrm>
            </p:grpSpPr>
            <p:sp>
              <p:nvSpPr>
                <p:cNvPr id="36" name="AutoShape 38"/>
                <p:cNvSpPr>
                  <a:spLocks noChangeArrowheads="1"/>
                </p:cNvSpPr>
                <p:nvPr/>
              </p:nvSpPr>
              <p:spPr bwMode="auto">
                <a:xfrm>
                  <a:off x="6655680" y="3782632"/>
                  <a:ext cx="736183"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不接受</a:t>
                  </a:r>
                </a:p>
              </p:txBody>
            </p:sp>
            <p:sp>
              <p:nvSpPr>
                <p:cNvPr id="37" name="AutoShape 42"/>
                <p:cNvSpPr>
                  <a:spLocks noChangeArrowheads="1"/>
                </p:cNvSpPr>
                <p:nvPr/>
              </p:nvSpPr>
              <p:spPr bwMode="auto">
                <a:xfrm>
                  <a:off x="4191528"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sp>
              <p:nvSpPr>
                <p:cNvPr id="38" name="AutoShape 46"/>
                <p:cNvSpPr>
                  <a:spLocks noChangeArrowheads="1"/>
                </p:cNvSpPr>
                <p:nvPr/>
              </p:nvSpPr>
              <p:spPr bwMode="auto">
                <a:xfrm>
                  <a:off x="1715396"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grpSp>
              <p:nvGrpSpPr>
                <p:cNvPr id="39" name="Group 35"/>
                <p:cNvGrpSpPr>
                  <a:grpSpLocks/>
                </p:cNvGrpSpPr>
                <p:nvPr/>
              </p:nvGrpSpPr>
              <p:grpSpPr bwMode="auto">
                <a:xfrm>
                  <a:off x="6940081" y="3160942"/>
                  <a:ext cx="209007" cy="207675"/>
                  <a:chOff x="1474" y="3430"/>
                  <a:chExt cx="136" cy="136"/>
                </a:xfrm>
              </p:grpSpPr>
              <p:sp>
                <p:nvSpPr>
                  <p:cNvPr id="46"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7"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0" name="Group 35"/>
                <p:cNvGrpSpPr>
                  <a:grpSpLocks/>
                </p:cNvGrpSpPr>
                <p:nvPr/>
              </p:nvGrpSpPr>
              <p:grpSpPr bwMode="auto">
                <a:xfrm>
                  <a:off x="4463416" y="3160942"/>
                  <a:ext cx="209007" cy="207675"/>
                  <a:chOff x="1474" y="3430"/>
                  <a:chExt cx="136" cy="136"/>
                </a:xfrm>
              </p:grpSpPr>
              <p:sp>
                <p:nvSpPr>
                  <p:cNvPr id="44"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1" name="Group 35"/>
                <p:cNvGrpSpPr>
                  <a:grpSpLocks/>
                </p:cNvGrpSpPr>
                <p:nvPr/>
              </p:nvGrpSpPr>
              <p:grpSpPr bwMode="auto">
                <a:xfrm>
                  <a:off x="1979712" y="3160942"/>
                  <a:ext cx="209007" cy="207675"/>
                  <a:chOff x="1474" y="3430"/>
                  <a:chExt cx="136" cy="136"/>
                </a:xfrm>
              </p:grpSpPr>
              <p:sp>
                <p:nvSpPr>
                  <p:cNvPr id="42"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grpSp>
        <p:sp>
          <p:nvSpPr>
            <p:cNvPr id="57" name="Line 36"/>
            <p:cNvSpPr>
              <a:spLocks noChangeShapeType="1"/>
            </p:cNvSpPr>
            <p:nvPr/>
          </p:nvSpPr>
          <p:spPr bwMode="auto">
            <a:xfrm>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37"/>
            <p:cNvSpPr>
              <a:spLocks noChangeShapeType="1"/>
            </p:cNvSpPr>
            <p:nvPr/>
          </p:nvSpPr>
          <p:spPr bwMode="auto">
            <a:xfrm flipH="1">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901202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1000"/>
                                        <p:tgtEl>
                                          <p:spTgt spid="13"/>
                                        </p:tgtEl>
                                      </p:cBhvr>
                                    </p:animEffect>
                                    <p:anim calcmode="lin" valueType="num">
                                      <p:cBhvr>
                                        <p:cTn id="10" dur="1000" fill="hold"/>
                                        <p:tgtEl>
                                          <p:spTgt spid="13"/>
                                        </p:tgtEl>
                                        <p:attrNameLst>
                                          <p:attrName>ppt_x</p:attrName>
                                        </p:attrNameLst>
                                      </p:cBhvr>
                                      <p:tavLst>
                                        <p:tav tm="0">
                                          <p:val>
                                            <p:strVal val="#ppt_x"/>
                                          </p:val>
                                        </p:tav>
                                        <p:tav tm="100000">
                                          <p:val>
                                            <p:strVal val="#ppt_x"/>
                                          </p:val>
                                        </p:tav>
                                      </p:tavLst>
                                    </p:anim>
                                    <p:anim calcmode="lin" valueType="num">
                                      <p:cBhvr>
                                        <p:cTn id="1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5" presetClass="emph" presetSubtype="0" repeatCount="4000" fill="hold" grpId="1" nodeType="clickEffect">
                                  <p:stCondLst>
                                    <p:cond delay="0"/>
                                  </p:stCondLst>
                                  <p:childTnLst>
                                    <p:anim calcmode="discrete" valueType="str">
                                      <p:cBhvr>
                                        <p:cTn id="15" dur="5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wipe(right)">
                                      <p:cBhvr>
                                        <p:cTn id="20" dur="4000"/>
                                        <p:tgtEl>
                                          <p:spTgt spid="54"/>
                                        </p:tgtEl>
                                      </p:cBhvr>
                                    </p:animEffect>
                                  </p:childTnLst>
                                </p:cTn>
                              </p:par>
                              <p:par>
                                <p:cTn id="21" presetID="22" presetClass="entr" presetSubtype="2" fill="hold" grpId="0" nodeType="withEffect">
                                  <p:stCondLst>
                                    <p:cond delay="500"/>
                                  </p:stCondLst>
                                  <p:childTnLst>
                                    <p:set>
                                      <p:cBhvr>
                                        <p:cTn id="22" dur="1" fill="hold">
                                          <p:stCondLst>
                                            <p:cond delay="0"/>
                                          </p:stCondLst>
                                        </p:cTn>
                                        <p:tgtEl>
                                          <p:spTgt spid="53"/>
                                        </p:tgtEl>
                                        <p:attrNameLst>
                                          <p:attrName>style.visibility</p:attrName>
                                        </p:attrNameLst>
                                      </p:cBhvr>
                                      <p:to>
                                        <p:strVal val="visible"/>
                                      </p:to>
                                    </p:set>
                                    <p:animEffect transition="in" filter="wipe(right)">
                                      <p:cBhvr>
                                        <p:cTn id="23" dur="3500"/>
                                        <p:tgtEl>
                                          <p:spTgt spid="53"/>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49"/>
                                        </p:tgtEl>
                                        <p:attrNameLst>
                                          <p:attrName>style.visibility</p:attrName>
                                        </p:attrNameLst>
                                      </p:cBhvr>
                                      <p:to>
                                        <p:strVal val="visible"/>
                                      </p:to>
                                    </p:set>
                                    <p:animEffect transition="in" filter="wipe(left)">
                                      <p:cBhvr>
                                        <p:cTn id="26" dur="3500"/>
                                        <p:tgtEl>
                                          <p:spTgt spid="49"/>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50"/>
                                        </p:tgtEl>
                                        <p:attrNameLst>
                                          <p:attrName>style.visibility</p:attrName>
                                        </p:attrNameLst>
                                      </p:cBhvr>
                                      <p:to>
                                        <p:strVal val="visible"/>
                                      </p:to>
                                    </p:set>
                                    <p:animEffect transition="in" filter="wipe(left)">
                                      <p:cBhvr>
                                        <p:cTn id="29" dur="3500"/>
                                        <p:tgtEl>
                                          <p:spTgt spid="50"/>
                                        </p:tgtEl>
                                      </p:cBhvr>
                                    </p:animEffect>
                                  </p:childTnLst>
                                </p:cTn>
                              </p:par>
                              <p:par>
                                <p:cTn id="30" presetID="22" presetClass="entr" presetSubtype="8" fill="hold" grpId="0" nodeType="withEffect">
                                  <p:stCondLst>
                                    <p:cond delay="500"/>
                                  </p:stCondLst>
                                  <p:childTnLst>
                                    <p:set>
                                      <p:cBhvr>
                                        <p:cTn id="31" dur="1" fill="hold">
                                          <p:stCondLst>
                                            <p:cond delay="0"/>
                                          </p:stCondLst>
                                        </p:cTn>
                                        <p:tgtEl>
                                          <p:spTgt spid="51"/>
                                        </p:tgtEl>
                                        <p:attrNameLst>
                                          <p:attrName>style.visibility</p:attrName>
                                        </p:attrNameLst>
                                      </p:cBhvr>
                                      <p:to>
                                        <p:strVal val="visible"/>
                                      </p:to>
                                    </p:set>
                                    <p:animEffect transition="in" filter="wipe(left)">
                                      <p:cBhvr>
                                        <p:cTn id="32" dur="3500"/>
                                        <p:tgtEl>
                                          <p:spTgt spid="51"/>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28"/>
                                        </p:tgtEl>
                                        <p:attrNameLst>
                                          <p:attrName>style.visibility</p:attrName>
                                        </p:attrNameLst>
                                      </p:cBhvr>
                                      <p:to>
                                        <p:strVal val="visible"/>
                                      </p:to>
                                    </p:set>
                                    <p:animEffect transition="in" filter="wipe(left)">
                                      <p:cBhvr>
                                        <p:cTn id="35" dur="3500"/>
                                        <p:tgtEl>
                                          <p:spTgt spid="28"/>
                                        </p:tgtEl>
                                      </p:cBhvr>
                                    </p:animEffect>
                                  </p:childTnLst>
                                </p:cTn>
                              </p:par>
                            </p:childTnLst>
                          </p:cTn>
                        </p:par>
                        <p:par>
                          <p:cTn id="36" fill="hold">
                            <p:stCondLst>
                              <p:cond delay="4000"/>
                            </p:stCondLst>
                            <p:childTnLst>
                              <p:par>
                                <p:cTn id="37" presetID="1" presetClass="entr" presetSubtype="0"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par>
                          <p:cTn id="39" fill="hold">
                            <p:stCondLst>
                              <p:cond delay="4000"/>
                            </p:stCondLst>
                            <p:childTnLst>
                              <p:par>
                                <p:cTn id="40" presetID="35" presetClass="emph" presetSubtype="0" repeatCount="5000" fill="hold" nodeType="afterEffect">
                                  <p:stCondLst>
                                    <p:cond delay="0"/>
                                  </p:stCondLst>
                                  <p:childTnLst>
                                    <p:anim calcmode="discrete" valueType="str">
                                      <p:cBhvr>
                                        <p:cTn id="41" dur="1000" fill="hold"/>
                                        <p:tgtEl>
                                          <p:spTgt spid="2"/>
                                        </p:tgtEl>
                                        <p:attrNameLst>
                                          <p:attrName>style.visibility</p:attrName>
                                        </p:attrNameLst>
                                      </p:cBhvr>
                                      <p:tavLst>
                                        <p:tav tm="0">
                                          <p:val>
                                            <p:strVal val="hidden"/>
                                          </p:val>
                                        </p:tav>
                                        <p:tav tm="50000">
                                          <p:val>
                                            <p:strVal val="visible"/>
                                          </p:val>
                                        </p:tav>
                                      </p:tavLst>
                                    </p:anim>
                                  </p:childTnLst>
                                </p:cTn>
                              </p:par>
                            </p:childTnLst>
                          </p:cTn>
                        </p:par>
                        <p:par>
                          <p:cTn id="42" fill="hold">
                            <p:stCondLst>
                              <p:cond delay="9000"/>
                            </p:stCondLst>
                            <p:childTnLst>
                              <p:par>
                                <p:cTn id="43" presetID="10" presetClass="exit" presetSubtype="0" fill="hold" grpId="1" nodeType="afterEffect">
                                  <p:stCondLst>
                                    <p:cond delay="0"/>
                                  </p:stCondLst>
                                  <p:childTnLst>
                                    <p:animEffect transition="out" filter="fade">
                                      <p:cBhvr>
                                        <p:cTn id="44" dur="1000"/>
                                        <p:tgtEl>
                                          <p:spTgt spid="54"/>
                                        </p:tgtEl>
                                      </p:cBhvr>
                                    </p:animEffect>
                                    <p:set>
                                      <p:cBhvr>
                                        <p:cTn id="45" dur="1" fill="hold">
                                          <p:stCondLst>
                                            <p:cond delay="999"/>
                                          </p:stCondLst>
                                        </p:cTn>
                                        <p:tgtEl>
                                          <p:spTgt spid="54"/>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1000"/>
                                        <p:tgtEl>
                                          <p:spTgt spid="53"/>
                                        </p:tgtEl>
                                      </p:cBhvr>
                                    </p:animEffect>
                                    <p:set>
                                      <p:cBhvr>
                                        <p:cTn id="48" dur="1" fill="hold">
                                          <p:stCondLst>
                                            <p:cond delay="999"/>
                                          </p:stCondLst>
                                        </p:cTn>
                                        <p:tgtEl>
                                          <p:spTgt spid="53"/>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1000"/>
                                        <p:tgtEl>
                                          <p:spTgt spid="49"/>
                                        </p:tgtEl>
                                      </p:cBhvr>
                                    </p:animEffect>
                                    <p:set>
                                      <p:cBhvr>
                                        <p:cTn id="51" dur="1" fill="hold">
                                          <p:stCondLst>
                                            <p:cond delay="999"/>
                                          </p:stCondLst>
                                        </p:cTn>
                                        <p:tgtEl>
                                          <p:spTgt spid="49"/>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1000"/>
                                        <p:tgtEl>
                                          <p:spTgt spid="51"/>
                                        </p:tgtEl>
                                      </p:cBhvr>
                                    </p:animEffect>
                                    <p:set>
                                      <p:cBhvr>
                                        <p:cTn id="54" dur="1" fill="hold">
                                          <p:stCondLst>
                                            <p:cond delay="999"/>
                                          </p:stCondLst>
                                        </p:cTn>
                                        <p:tgtEl>
                                          <p:spTgt spid="51"/>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1000"/>
                                        <p:tgtEl>
                                          <p:spTgt spid="28"/>
                                        </p:tgtEl>
                                      </p:cBhvr>
                                    </p:animEffect>
                                    <p:set>
                                      <p:cBhvr>
                                        <p:cTn id="57" dur="1" fill="hold">
                                          <p:stCondLst>
                                            <p:cond delay="999"/>
                                          </p:stCondLst>
                                        </p:cTn>
                                        <p:tgtEl>
                                          <p:spTgt spid="28"/>
                                        </p:tgtEl>
                                        <p:attrNameLst>
                                          <p:attrName>style.visibility</p:attrName>
                                        </p:attrNameLst>
                                      </p:cBhvr>
                                      <p:to>
                                        <p:strVal val="hidden"/>
                                      </p:to>
                                    </p:set>
                                  </p:childTnLst>
                                </p:cTn>
                              </p:par>
                            </p:childTnLst>
                          </p:cTn>
                        </p:par>
                        <p:par>
                          <p:cTn id="58" fill="hold">
                            <p:stCondLst>
                              <p:cond delay="10000"/>
                            </p:stCondLst>
                            <p:childTnLst>
                              <p:par>
                                <p:cTn id="59" presetID="1" presetClass="entr" presetSubtype="0" fill="hold" grpId="0" nodeType="after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par>
                                <p:cTn id="61" presetID="35" presetClass="emph" presetSubtype="0" repeatCount="5000" fill="hold" grpId="1" nodeType="withEffect">
                                  <p:stCondLst>
                                    <p:cond delay="0"/>
                                  </p:stCondLst>
                                  <p:childTnLst>
                                    <p:anim calcmode="discrete" valueType="str">
                                      <p:cBhvr>
                                        <p:cTn id="62" dur="1000" fill="hold"/>
                                        <p:tgtEl>
                                          <p:spTgt spid="5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P spid="20" grpId="1" animBg="1"/>
      <p:bldP spid="28" grpId="0" animBg="1"/>
      <p:bldP spid="28" grpId="1" animBg="1"/>
      <p:bldP spid="49" grpId="0" animBg="1"/>
      <p:bldP spid="49" grpId="1" animBg="1"/>
      <p:bldP spid="50" grpId="0" animBg="1"/>
      <p:bldP spid="51" grpId="0" animBg="1"/>
      <p:bldP spid="51" grpId="1" animBg="1"/>
      <p:bldP spid="52" grpId="0" animBg="1"/>
      <p:bldP spid="52" grpId="1" animBg="1"/>
      <p:bldP spid="53" grpId="0" animBg="1"/>
      <p:bldP spid="53" grpId="1" animBg="1"/>
      <p:bldP spid="54" grpId="0" animBg="1"/>
      <p:bldP spid="54"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1" y="1516452"/>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Line 7"/>
          <p:cNvSpPr>
            <a:spLocks noChangeShapeType="1"/>
          </p:cNvSpPr>
          <p:nvPr/>
        </p:nvSpPr>
        <p:spPr bwMode="auto">
          <a:xfrm flipV="1">
            <a:off x="1258776" y="2074055"/>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9"/>
          <p:cNvSpPr>
            <a:spLocks noChangeArrowheads="1"/>
          </p:cNvSpPr>
          <p:nvPr/>
        </p:nvSpPr>
        <p:spPr bwMode="auto">
          <a:xfrm>
            <a:off x="7668344"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0" name="Rectangle 8"/>
          <p:cNvSpPr>
            <a:spLocks noChangeArrowheads="1"/>
          </p:cNvSpPr>
          <p:nvPr/>
        </p:nvSpPr>
        <p:spPr bwMode="auto">
          <a:xfrm>
            <a:off x="502921" y="1021848"/>
            <a:ext cx="8129015" cy="406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缺点</a:t>
            </a:r>
            <a:r>
              <a:rPr lang="zh-CN" altLang="en-US" b="1" dirty="0">
                <a:latin typeface="微软雅黑" pitchFamily="34" charset="-122"/>
                <a:ea typeface="微软雅黑" pitchFamily="34" charset="-122"/>
              </a:rPr>
              <a:t>：多个站点同时发送时，会产生发送碰撞或冲突，导致发送失败。</a:t>
            </a:r>
          </a:p>
        </p:txBody>
      </p:sp>
      <p:sp>
        <p:nvSpPr>
          <p:cNvPr id="11" name="Line 5"/>
          <p:cNvSpPr>
            <a:spLocks noChangeShapeType="1"/>
          </p:cNvSpPr>
          <p:nvPr/>
        </p:nvSpPr>
        <p:spPr bwMode="auto">
          <a:xfrm rot="16200000" flipV="1">
            <a:off x="4153306"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078993"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Line 10"/>
          <p:cNvSpPr>
            <a:spLocks noChangeShapeType="1"/>
          </p:cNvSpPr>
          <p:nvPr/>
        </p:nvSpPr>
        <p:spPr bwMode="auto">
          <a:xfrm>
            <a:off x="7372521" y="1884563"/>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Freeform 14"/>
          <p:cNvSpPr>
            <a:spLocks/>
          </p:cNvSpPr>
          <p:nvPr/>
        </p:nvSpPr>
        <p:spPr bwMode="auto">
          <a:xfrm>
            <a:off x="3320888" y="2083886"/>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7"/>
          <p:cNvSpPr>
            <a:spLocks noChangeShapeType="1"/>
          </p:cNvSpPr>
          <p:nvPr/>
        </p:nvSpPr>
        <p:spPr bwMode="auto">
          <a:xfrm rot="16200000" flipV="1">
            <a:off x="5388709"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Freeform 19"/>
          <p:cNvSpPr>
            <a:spLocks/>
          </p:cNvSpPr>
          <p:nvPr/>
        </p:nvSpPr>
        <p:spPr bwMode="auto">
          <a:xfrm>
            <a:off x="7028431" y="2083885"/>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Text Box 21"/>
          <p:cNvSpPr txBox="1">
            <a:spLocks noChangeArrowheads="1"/>
          </p:cNvSpPr>
          <p:nvPr/>
        </p:nvSpPr>
        <p:spPr bwMode="auto">
          <a:xfrm>
            <a:off x="2874807"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18" name="Text Box 22"/>
          <p:cNvSpPr txBox="1">
            <a:spLocks noChangeArrowheads="1"/>
          </p:cNvSpPr>
          <p:nvPr/>
        </p:nvSpPr>
        <p:spPr bwMode="auto">
          <a:xfrm>
            <a:off x="4179547" y="3166503"/>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19" name="Text Box 23"/>
          <p:cNvSpPr txBox="1">
            <a:spLocks noChangeArrowheads="1"/>
          </p:cNvSpPr>
          <p:nvPr/>
        </p:nvSpPr>
        <p:spPr bwMode="auto">
          <a:xfrm>
            <a:off x="5472194" y="3155443"/>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0" name="Text Box 24"/>
          <p:cNvSpPr txBox="1">
            <a:spLocks noChangeArrowheads="1"/>
          </p:cNvSpPr>
          <p:nvPr/>
        </p:nvSpPr>
        <p:spPr bwMode="auto">
          <a:xfrm>
            <a:off x="1715396" y="3155443"/>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1" name="Text Box 25"/>
          <p:cNvSpPr txBox="1">
            <a:spLocks noChangeArrowheads="1"/>
          </p:cNvSpPr>
          <p:nvPr/>
        </p:nvSpPr>
        <p:spPr bwMode="auto">
          <a:xfrm>
            <a:off x="6629055" y="3152986"/>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2" name="Line 26"/>
          <p:cNvSpPr>
            <a:spLocks noChangeShapeType="1"/>
          </p:cNvSpPr>
          <p:nvPr/>
        </p:nvSpPr>
        <p:spPr bwMode="auto">
          <a:xfrm flipH="1">
            <a:off x="1209238" y="1828823"/>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27"/>
          <p:cNvSpPr txBox="1">
            <a:spLocks noChangeArrowheads="1"/>
          </p:cNvSpPr>
          <p:nvPr/>
        </p:nvSpPr>
        <p:spPr bwMode="auto">
          <a:xfrm>
            <a:off x="1638815" y="1688160"/>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4" name="Text Box 28"/>
          <p:cNvSpPr txBox="1">
            <a:spLocks noChangeArrowheads="1"/>
          </p:cNvSpPr>
          <p:nvPr/>
        </p:nvSpPr>
        <p:spPr bwMode="auto">
          <a:xfrm>
            <a:off x="6548762" y="168816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5" name="Freeform 32"/>
          <p:cNvSpPr>
            <a:spLocks/>
          </p:cNvSpPr>
          <p:nvPr/>
        </p:nvSpPr>
        <p:spPr bwMode="auto">
          <a:xfrm>
            <a:off x="3329047" y="2135497"/>
            <a:ext cx="1726088"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48"/>
          <p:cNvSpPr txBox="1">
            <a:spLocks noChangeArrowheads="1"/>
          </p:cNvSpPr>
          <p:nvPr/>
        </p:nvSpPr>
        <p:spPr bwMode="auto">
          <a:xfrm>
            <a:off x="3170457" y="3155443"/>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2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512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6688"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29" name="Line 12"/>
          <p:cNvSpPr>
            <a:spLocks noChangeShapeType="1"/>
          </p:cNvSpPr>
          <p:nvPr/>
        </p:nvSpPr>
        <p:spPr bwMode="auto">
          <a:xfrm rot="16200000" flipV="1">
            <a:off x="1682498"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Freeform 29"/>
          <p:cNvSpPr>
            <a:spLocks/>
          </p:cNvSpPr>
          <p:nvPr/>
        </p:nvSpPr>
        <p:spPr bwMode="auto">
          <a:xfrm>
            <a:off x="3293468" y="2151473"/>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33"/>
          <p:cNvSpPr>
            <a:spLocks/>
          </p:cNvSpPr>
          <p:nvPr/>
        </p:nvSpPr>
        <p:spPr bwMode="auto">
          <a:xfrm>
            <a:off x="1371600" y="2135497"/>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34"/>
          <p:cNvSpPr>
            <a:spLocks/>
          </p:cNvSpPr>
          <p:nvPr/>
        </p:nvSpPr>
        <p:spPr bwMode="auto">
          <a:xfrm flipH="1">
            <a:off x="2088861" y="2135497"/>
            <a:ext cx="1240185"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4" name="Text Box 21"/>
          <p:cNvSpPr txBox="1">
            <a:spLocks noChangeArrowheads="1"/>
          </p:cNvSpPr>
          <p:nvPr/>
        </p:nvSpPr>
        <p:spPr bwMode="auto">
          <a:xfrm>
            <a:off x="6592983"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E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A</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35" name="Freeform 32"/>
          <p:cNvSpPr>
            <a:spLocks/>
          </p:cNvSpPr>
          <p:nvPr/>
        </p:nvSpPr>
        <p:spPr bwMode="auto">
          <a:xfrm>
            <a:off x="7020254" y="2135497"/>
            <a:ext cx="559277"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Freeform 33"/>
          <p:cNvSpPr>
            <a:spLocks/>
          </p:cNvSpPr>
          <p:nvPr/>
        </p:nvSpPr>
        <p:spPr bwMode="auto">
          <a:xfrm>
            <a:off x="5189518" y="2147372"/>
            <a:ext cx="1917717"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Freeform 34"/>
          <p:cNvSpPr>
            <a:spLocks/>
          </p:cNvSpPr>
          <p:nvPr/>
        </p:nvSpPr>
        <p:spPr bwMode="auto">
          <a:xfrm flipH="1">
            <a:off x="5820252" y="2135497"/>
            <a:ext cx="1200001"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0824"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9" name="爆炸形 1 38"/>
          <p:cNvSpPr/>
          <p:nvPr/>
        </p:nvSpPr>
        <p:spPr>
          <a:xfrm>
            <a:off x="4946867" y="1957941"/>
            <a:ext cx="470735" cy="4641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5297"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57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17"/>
                                        </p:tgtEl>
                                        <p:attrNameLst>
                                          <p:attrName>style.visibility</p:attrName>
                                        </p:attrNameLst>
                                      </p:cBhvr>
                                      <p:tavLst>
                                        <p:tav tm="0">
                                          <p:val>
                                            <p:strVal val="hidden"/>
                                          </p:val>
                                        </p:tav>
                                        <p:tav tm="50000">
                                          <p:val>
                                            <p:strVal val="visible"/>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par>
                                <p:cTn id="12" presetID="35" presetClass="emph" presetSubtype="0" repeatCount="3000" fill="hold" grpId="1" nodeType="withEffect">
                                  <p:stCondLst>
                                    <p:cond delay="500"/>
                                  </p:stCondLst>
                                  <p:childTnLst>
                                    <p:anim calcmode="discrete" valueType="str">
                                      <p:cBhvr>
                                        <p:cTn id="13" dur="1000" fill="hold"/>
                                        <p:tgtEl>
                                          <p:spTgt spid="34"/>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4000"/>
                                        <p:tgtEl>
                                          <p:spTgt spid="32"/>
                                        </p:tgtEl>
                                      </p:cBhvr>
                                    </p:animEffect>
                                  </p:childTnLst>
                                </p:cTn>
                              </p:par>
                              <p:par>
                                <p:cTn id="18" presetID="22" presetClass="entr" presetSubtype="2" fill="hold" grpId="0" nodeType="with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3500"/>
                                        <p:tgtEl>
                                          <p:spTgt spid="31"/>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3500"/>
                                        <p:tgtEl>
                                          <p:spTgt spid="3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3500"/>
                                        <p:tgtEl>
                                          <p:spTgt spid="25"/>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right)">
                                      <p:cBhvr>
                                        <p:cTn id="29" dur="4000"/>
                                        <p:tgtEl>
                                          <p:spTgt spid="37"/>
                                        </p:tgtEl>
                                      </p:cBhvr>
                                    </p:animEffect>
                                  </p:childTnLst>
                                </p:cTn>
                              </p:par>
                              <p:par>
                                <p:cTn id="30" presetID="22" presetClass="entr" presetSubtype="2" fill="hold" grpId="0" nodeType="withEffect">
                                  <p:stCondLst>
                                    <p:cond delay="500"/>
                                  </p:stCondLst>
                                  <p:childTnLst>
                                    <p:set>
                                      <p:cBhvr>
                                        <p:cTn id="31" dur="1" fill="hold">
                                          <p:stCondLst>
                                            <p:cond delay="0"/>
                                          </p:stCondLst>
                                        </p:cTn>
                                        <p:tgtEl>
                                          <p:spTgt spid="36"/>
                                        </p:tgtEl>
                                        <p:attrNameLst>
                                          <p:attrName>style.visibility</p:attrName>
                                        </p:attrNameLst>
                                      </p:cBhvr>
                                      <p:to>
                                        <p:strVal val="visible"/>
                                      </p:to>
                                    </p:set>
                                    <p:animEffect transition="in" filter="wipe(right)">
                                      <p:cBhvr>
                                        <p:cTn id="32" dur="3500"/>
                                        <p:tgtEl>
                                          <p:spTgt spid="36"/>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3500"/>
                                        <p:tgtEl>
                                          <p:spTgt spid="35"/>
                                        </p:tgtEl>
                                      </p:cBhvr>
                                    </p:animEffect>
                                  </p:childTnLst>
                                </p:cTn>
                              </p:par>
                              <p:par>
                                <p:cTn id="36" presetID="1" presetClass="entr" presetSubtype="0" fill="hold" grpId="0" nodeType="withEffect">
                                  <p:stCondLst>
                                    <p:cond delay="3750"/>
                                  </p:stCondLst>
                                  <p:childTnLst>
                                    <p:set>
                                      <p:cBhvr>
                                        <p:cTn id="37" dur="1" fill="hold">
                                          <p:stCondLst>
                                            <p:cond delay="0"/>
                                          </p:stCondLst>
                                        </p:cTn>
                                        <p:tgtEl>
                                          <p:spTgt spid="39"/>
                                        </p:tgtEl>
                                        <p:attrNameLst>
                                          <p:attrName>style.visibility</p:attrName>
                                        </p:attrNameLst>
                                      </p:cBhvr>
                                      <p:to>
                                        <p:strVal val="visible"/>
                                      </p:to>
                                    </p:set>
                                  </p:childTnLst>
                                </p:cTn>
                              </p:par>
                            </p:childTnLst>
                          </p:cTn>
                        </p:par>
                        <p:par>
                          <p:cTn id="38" fill="hold">
                            <p:stCondLst>
                              <p:cond delay="7500"/>
                            </p:stCondLst>
                            <p:childTnLst>
                              <p:par>
                                <p:cTn id="39" presetID="35" presetClass="emph" presetSubtype="0" repeatCount="indefinite" fill="hold" grpId="1" nodeType="afterEffect">
                                  <p:stCondLst>
                                    <p:cond delay="0"/>
                                  </p:stCondLst>
                                  <p:endCondLst>
                                    <p:cond evt="onNext" delay="0">
                                      <p:tgtEl>
                                        <p:sldTgt/>
                                      </p:tgtEl>
                                    </p:cond>
                                  </p:endCondLst>
                                  <p:childTnLst>
                                    <p:anim calcmode="discrete" valueType="str">
                                      <p:cBhvr>
                                        <p:cTn id="40"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5" grpId="0" animBg="1"/>
      <p:bldP spid="30" grpId="0" animBg="1"/>
      <p:bldP spid="31" grpId="0" animBg="1"/>
      <p:bldP spid="32" grpId="0" animBg="1"/>
      <p:bldP spid="34" grpId="0" animBg="1"/>
      <p:bldP spid="34" grpId="1" animBg="1"/>
      <p:bldP spid="35" grpId="0" animBg="1"/>
      <p:bldP spid="36" grpId="0" animBg="1"/>
      <p:bldP spid="37" grpId="0" animBg="1"/>
      <p:bldP spid="39" grpId="0" animBg="1"/>
      <p:bldP spid="39"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75682"/>
            <a:ext cx="8129015"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CSMA/CD (Carrier Sense Multiple Access with Collision Detection) </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载波监听多点接入 </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碰撞检测。</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多点接入：</a:t>
            </a:r>
            <a:r>
              <a:rPr lang="zh-CN" altLang="en-US" sz="2000" b="1" dirty="0">
                <a:latin typeface="微软雅黑" pitchFamily="34" charset="-122"/>
                <a:ea typeface="微软雅黑" pitchFamily="34" charset="-122"/>
              </a:rPr>
              <a:t>说明这是总线型网络。许多计算机以多点接入的方式连接在一根总线上。</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载波监听：</a:t>
            </a:r>
            <a:r>
              <a:rPr lang="zh-CN" altLang="en-US" sz="2000" b="1" dirty="0">
                <a:latin typeface="微软雅黑" pitchFamily="34" charset="-122"/>
                <a:ea typeface="微软雅黑" pitchFamily="34" charset="-122"/>
              </a:rPr>
              <a:t>即“检测信道上有无信号”。站点在发送数据前检测信道时，若发现已有其他站在发送，则必须</a:t>
            </a:r>
            <a:r>
              <a:rPr lang="zh-CN" altLang="en-US" sz="2000" b="1" dirty="0">
                <a:solidFill>
                  <a:srgbClr val="0000FF"/>
                </a:solidFill>
                <a:latin typeface="微软雅黑" pitchFamily="34" charset="-122"/>
                <a:ea typeface="微软雅黑" pitchFamily="34" charset="-122"/>
              </a:rPr>
              <a:t>推迟发送数据</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碰撞检测：</a:t>
            </a:r>
            <a:r>
              <a:rPr lang="zh-CN" altLang="en-US" sz="2000" b="1" dirty="0">
                <a:latin typeface="微软雅黑" pitchFamily="34" charset="-122"/>
                <a:ea typeface="微软雅黑" pitchFamily="34" charset="-122"/>
              </a:rPr>
              <a:t>适配器边发送数据，边检测信道上的信号电压的变化情况。电压摆动值超过一定的门限值时，就认为总线上至少有两个站同时在发送数据，表明产生了碰撞（或冲突），要</a:t>
            </a:r>
            <a:r>
              <a:rPr lang="zh-CN" altLang="en-US" sz="2000" b="1" dirty="0">
                <a:solidFill>
                  <a:srgbClr val="0000FF"/>
                </a:solidFill>
                <a:latin typeface="微软雅黑" pitchFamily="34" charset="-122"/>
                <a:ea typeface="微软雅黑" pitchFamily="34" charset="-122"/>
              </a:rPr>
              <a:t>立即停止发送</a:t>
            </a:r>
            <a:r>
              <a:rPr lang="zh-CN" altLang="en-US" sz="2000" b="1" dirty="0">
                <a:latin typeface="微软雅黑" pitchFamily="34" charset="-122"/>
                <a:ea typeface="微软雅黑" pitchFamily="34" charset="-122"/>
              </a:rPr>
              <a:t>。</a:t>
            </a:r>
          </a:p>
        </p:txBody>
      </p:sp>
      <p:sp>
        <p:nvSpPr>
          <p:cNvPr id="9" name="AutoShape 5"/>
          <p:cNvSpPr>
            <a:spLocks noChangeArrowheads="1"/>
          </p:cNvSpPr>
          <p:nvPr/>
        </p:nvSpPr>
        <p:spPr bwMode="auto">
          <a:xfrm>
            <a:off x="502921" y="62592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53865" y="602836"/>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239447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641132" y="599797"/>
            <a:ext cx="78302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为什么要进行碰撞检测？ 因为信号</a:t>
            </a:r>
            <a:r>
              <a:rPr lang="zh-CN" altLang="en-US" sz="2000" b="1" dirty="0">
                <a:solidFill>
                  <a:srgbClr val="FFFF00"/>
                </a:solidFill>
                <a:latin typeface="微软雅黑" pitchFamily="34" charset="-122"/>
                <a:ea typeface="微软雅黑" pitchFamily="34" charset="-122"/>
              </a:rPr>
              <a:t>传播时延</a:t>
            </a:r>
            <a:r>
              <a:rPr lang="zh-CN" altLang="en-US" sz="2000" b="1" dirty="0">
                <a:solidFill>
                  <a:schemeClr val="bg1"/>
                </a:solidFill>
                <a:latin typeface="微软雅黑" pitchFamily="34" charset="-122"/>
                <a:ea typeface="微软雅黑" pitchFamily="34" charset="-122"/>
              </a:rPr>
              <a:t>对载波监听产生了影响</a:t>
            </a:r>
            <a:endParaRPr lang="fr-FR" altLang="zh-CN" sz="2000" b="1" dirty="0">
              <a:solidFill>
                <a:schemeClr val="bg1"/>
              </a:solidFill>
              <a:latin typeface="微软雅黑" pitchFamily="34" charset="-122"/>
              <a:ea typeface="微软雅黑" pitchFamily="34" charset="-122"/>
            </a:endParaRPr>
          </a:p>
        </p:txBody>
      </p:sp>
      <p:sp>
        <p:nvSpPr>
          <p:cNvPr id="7" name="圆角矩形 6"/>
          <p:cNvSpPr/>
          <p:nvPr/>
        </p:nvSpPr>
        <p:spPr>
          <a:xfrm>
            <a:off x="502922" y="1056546"/>
            <a:ext cx="6368933" cy="26334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Line 2"/>
          <p:cNvSpPr>
            <a:spLocks noChangeShapeType="1"/>
          </p:cNvSpPr>
          <p:nvPr/>
        </p:nvSpPr>
        <p:spPr bwMode="auto">
          <a:xfrm>
            <a:off x="1856817" y="1691970"/>
            <a:ext cx="2983640" cy="0"/>
          </a:xfrm>
          <a:prstGeom prst="line">
            <a:avLst/>
          </a:prstGeom>
          <a:noFill/>
          <a:ln w="57150" cmpd="sng">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28EBD860-EA33-FA87-6CD6-B8BBCB616100}"/>
              </a:ext>
            </a:extLst>
          </p:cNvPr>
          <p:cNvGrpSpPr/>
          <p:nvPr/>
        </p:nvGrpSpPr>
        <p:grpSpPr>
          <a:xfrm>
            <a:off x="1962764" y="1260532"/>
            <a:ext cx="2708999" cy="305212"/>
            <a:chOff x="1962764" y="1260532"/>
            <a:chExt cx="2708999" cy="305212"/>
          </a:xfrm>
        </p:grpSpPr>
        <p:sp>
          <p:nvSpPr>
            <p:cNvPr id="9" name="Line 3"/>
            <p:cNvSpPr>
              <a:spLocks noChangeShapeType="1"/>
            </p:cNvSpPr>
            <p:nvPr/>
          </p:nvSpPr>
          <p:spPr bwMode="auto">
            <a:xfrm>
              <a:off x="1962764" y="1521244"/>
              <a:ext cx="2708999"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3048851" y="1260532"/>
              <a:ext cx="629982" cy="305212"/>
            </a:xfrm>
            <a:prstGeom prst="rect">
              <a:avLst/>
            </a:prstGeom>
            <a:noFill/>
            <a:ln>
              <a:noFill/>
            </a:ln>
            <a:effectLst/>
          </p:spPr>
          <p:txBody>
            <a:bodyPr wrap="none" lIns="90488" tIns="44450" rIns="90488" bIns="44450">
              <a:spAutoFit/>
            </a:bodyPr>
            <a:lstStyle/>
            <a:p>
              <a:pPr defTabSz="762000" eaLnBrk="0" hangingPunct="0"/>
              <a:r>
                <a:rPr kumimoji="1" lang="en-US" altLang="zh-CN" sz="1400" b="1" dirty="0">
                  <a:solidFill>
                    <a:srgbClr val="CC3300"/>
                  </a:solidFill>
                  <a:latin typeface="微软雅黑" pitchFamily="34" charset="-122"/>
                  <a:ea typeface="微软雅黑" pitchFamily="34" charset="-122"/>
                </a:rPr>
                <a:t>1 km</a:t>
              </a:r>
            </a:p>
          </p:txBody>
        </p:sp>
      </p:grpSp>
      <p:sp>
        <p:nvSpPr>
          <p:cNvPr id="11" name="Line 5"/>
          <p:cNvSpPr>
            <a:spLocks noChangeShapeType="1"/>
          </p:cNvSpPr>
          <p:nvPr/>
        </p:nvSpPr>
        <p:spPr bwMode="auto">
          <a:xfrm>
            <a:off x="1849704" y="1686472"/>
            <a:ext cx="0" cy="1068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2" name="Line 6"/>
          <p:cNvSpPr>
            <a:spLocks noChangeShapeType="1"/>
          </p:cNvSpPr>
          <p:nvPr/>
        </p:nvSpPr>
        <p:spPr bwMode="auto">
          <a:xfrm>
            <a:off x="1852752" y="1686472"/>
            <a:ext cx="2975510" cy="513116"/>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3" name="Rectangle 7"/>
          <p:cNvSpPr>
            <a:spLocks noChangeArrowheads="1"/>
          </p:cNvSpPr>
          <p:nvPr/>
        </p:nvSpPr>
        <p:spPr bwMode="auto">
          <a:xfrm>
            <a:off x="1713895" y="1384203"/>
            <a:ext cx="33663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A</a:t>
            </a:r>
          </a:p>
        </p:txBody>
      </p:sp>
      <p:sp>
        <p:nvSpPr>
          <p:cNvPr id="14" name="Rectangle 8"/>
          <p:cNvSpPr>
            <a:spLocks noChangeArrowheads="1"/>
          </p:cNvSpPr>
          <p:nvPr/>
        </p:nvSpPr>
        <p:spPr bwMode="auto">
          <a:xfrm>
            <a:off x="4660620" y="1398359"/>
            <a:ext cx="32380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B</a:t>
            </a:r>
          </a:p>
        </p:txBody>
      </p:sp>
      <p:sp>
        <p:nvSpPr>
          <p:cNvPr id="15" name="Line 9"/>
          <p:cNvSpPr>
            <a:spLocks noChangeShapeType="1"/>
          </p:cNvSpPr>
          <p:nvPr/>
        </p:nvSpPr>
        <p:spPr bwMode="auto">
          <a:xfrm flipH="1">
            <a:off x="1774503" y="1889091"/>
            <a:ext cx="4065" cy="6444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6" name="Rectangle 10"/>
          <p:cNvSpPr>
            <a:spLocks noChangeArrowheads="1"/>
          </p:cNvSpPr>
          <p:nvPr/>
        </p:nvSpPr>
        <p:spPr bwMode="auto">
          <a:xfrm>
            <a:off x="1487961" y="2066856"/>
            <a:ext cx="2677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i="1" dirty="0">
                <a:latin typeface="微软雅黑" pitchFamily="34" charset="-122"/>
                <a:ea typeface="微软雅黑" pitchFamily="34" charset="-122"/>
              </a:rPr>
              <a:t>t</a:t>
            </a:r>
          </a:p>
        </p:txBody>
      </p:sp>
      <p:sp>
        <p:nvSpPr>
          <p:cNvPr id="17" name="Line 11"/>
          <p:cNvSpPr>
            <a:spLocks noChangeShapeType="1"/>
          </p:cNvSpPr>
          <p:nvPr/>
        </p:nvSpPr>
        <p:spPr bwMode="auto">
          <a:xfrm>
            <a:off x="4840457" y="1679905"/>
            <a:ext cx="0" cy="87708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8" name="Line 12"/>
          <p:cNvSpPr>
            <a:spLocks noChangeShapeType="1"/>
          </p:cNvSpPr>
          <p:nvPr/>
        </p:nvSpPr>
        <p:spPr bwMode="auto">
          <a:xfrm flipH="1">
            <a:off x="1849704" y="2102030"/>
            <a:ext cx="2989738" cy="519682"/>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19" name="Group 13"/>
          <p:cNvGrpSpPr>
            <a:grpSpLocks/>
          </p:cNvGrpSpPr>
          <p:nvPr/>
        </p:nvGrpSpPr>
        <p:grpSpPr bwMode="auto">
          <a:xfrm>
            <a:off x="3927886" y="1466028"/>
            <a:ext cx="786559" cy="686656"/>
            <a:chOff x="3240" y="179"/>
            <a:chExt cx="774" cy="732"/>
          </a:xfrm>
        </p:grpSpPr>
        <p:sp>
          <p:nvSpPr>
            <p:cNvPr id="20" name="Line 14"/>
            <p:cNvSpPr>
              <a:spLocks noChangeShapeType="1"/>
            </p:cNvSpPr>
            <p:nvPr/>
          </p:nvSpPr>
          <p:spPr bwMode="auto">
            <a:xfrm>
              <a:off x="3755" y="728"/>
              <a:ext cx="112" cy="18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AutoShape 15"/>
            <p:cNvSpPr>
              <a:spLocks noChangeArrowheads="1"/>
            </p:cNvSpPr>
            <p:nvPr/>
          </p:nvSpPr>
          <p:spPr bwMode="auto">
            <a:xfrm>
              <a:off x="3240" y="179"/>
              <a:ext cx="774" cy="721"/>
            </a:xfrm>
            <a:prstGeom prst="irregularSeal1">
              <a:avLst/>
            </a:prstGeom>
            <a:solidFill>
              <a:srgbClr val="CC00CC"/>
            </a:solidFill>
            <a:ln w="12700">
              <a:solidFill>
                <a:srgbClr val="CC00CC"/>
              </a:solidFill>
              <a:miter lim="800000"/>
              <a:headEnd/>
              <a:tailEnd/>
            </a:ln>
            <a:effectLst/>
          </p:spPr>
          <p:txBody>
            <a:bodyPr wrap="none" anchor="ctr"/>
            <a:lstStyle/>
            <a:p>
              <a:pPr algn="ctr" defTabSz="762000" eaLnBrk="0" hangingPunct="0"/>
              <a:r>
                <a:rPr kumimoji="1" lang="zh-CN" altLang="en-US" sz="1400" b="1" dirty="0">
                  <a:solidFill>
                    <a:schemeClr val="bg1"/>
                  </a:solidFill>
                  <a:latin typeface="微软雅黑" pitchFamily="34" charset="-122"/>
                  <a:ea typeface="微软雅黑" pitchFamily="34" charset="-122"/>
                </a:rPr>
                <a:t>碰撞</a:t>
              </a:r>
            </a:p>
          </p:txBody>
        </p:sp>
      </p:grpSp>
      <p:grpSp>
        <p:nvGrpSpPr>
          <p:cNvPr id="22" name="Group 16"/>
          <p:cNvGrpSpPr>
            <a:grpSpLocks/>
          </p:cNvGrpSpPr>
          <p:nvPr/>
        </p:nvGrpSpPr>
        <p:grpSpPr bwMode="auto">
          <a:xfrm>
            <a:off x="631250" y="2450986"/>
            <a:ext cx="2463332" cy="1040302"/>
            <a:chOff x="-4" y="1229"/>
            <a:chExt cx="2424" cy="1109"/>
          </a:xfrm>
        </p:grpSpPr>
        <p:sp>
          <p:nvSpPr>
            <p:cNvPr id="23" name="Text Box 17"/>
            <p:cNvSpPr txBox="1">
              <a:spLocks noChangeArrowheads="1"/>
            </p:cNvSpPr>
            <p:nvPr/>
          </p:nvSpPr>
          <p:spPr bwMode="auto">
            <a:xfrm>
              <a:off x="-4" y="1229"/>
              <a:ext cx="967"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2</a:t>
              </a:r>
              <a:r>
                <a:rPr kumimoji="1" lang="en-US" altLang="zh-CN" sz="1400" b="1" dirty="0">
                  <a:latin typeface="微软雅黑" pitchFamily="34" charset="-122"/>
                  <a:ea typeface="微软雅黑" pitchFamily="34" charset="-122"/>
                  <a:sym typeface="Symbol" pitchFamily="18" charset="2"/>
                </a:rPr>
                <a:t></a:t>
              </a:r>
              <a:r>
                <a:rPr kumimoji="1" lang="en-US" altLang="zh-CN"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sym typeface="Symbol" pitchFamily="18" charset="2"/>
                </a:rPr>
                <a:t> </a:t>
              </a:r>
            </a:p>
          </p:txBody>
        </p:sp>
        <p:sp>
          <p:nvSpPr>
            <p:cNvPr id="24" name="Line 18"/>
            <p:cNvSpPr>
              <a:spLocks noChangeShapeType="1"/>
            </p:cNvSpPr>
            <p:nvPr/>
          </p:nvSpPr>
          <p:spPr bwMode="auto">
            <a:xfrm>
              <a:off x="913" y="1417"/>
              <a:ext cx="2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5" name="Group 19"/>
            <p:cNvGrpSpPr>
              <a:grpSpLocks/>
            </p:cNvGrpSpPr>
            <p:nvPr/>
          </p:nvGrpSpPr>
          <p:grpSpPr bwMode="auto">
            <a:xfrm>
              <a:off x="1251" y="1683"/>
              <a:ext cx="1169" cy="655"/>
              <a:chOff x="1251" y="1683"/>
              <a:chExt cx="1169" cy="655"/>
            </a:xfrm>
          </p:grpSpPr>
          <p:sp>
            <p:nvSpPr>
              <p:cNvPr id="26" name="AutoShape 20"/>
              <p:cNvSpPr>
                <a:spLocks noChangeArrowheads="1"/>
              </p:cNvSpPr>
              <p:nvPr/>
            </p:nvSpPr>
            <p:spPr bwMode="auto">
              <a:xfrm>
                <a:off x="1251" y="1683"/>
                <a:ext cx="1034" cy="655"/>
              </a:xfrm>
              <a:prstGeom prst="wedgeRoundRectCallout">
                <a:avLst>
                  <a:gd name="adj1" fmla="val -52346"/>
                  <a:gd name="adj2" fmla="val -88408"/>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27" name="Text Box 21"/>
              <p:cNvSpPr txBox="1">
                <a:spLocks noChangeArrowheads="1"/>
              </p:cNvSpPr>
              <p:nvPr/>
            </p:nvSpPr>
            <p:spPr bwMode="auto">
              <a:xfrm>
                <a:off x="1258" y="1755"/>
                <a:ext cx="1162"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检测到发生碰撞</a:t>
                </a:r>
              </a:p>
            </p:txBody>
          </p:sp>
        </p:grpSp>
      </p:grpSp>
      <p:grpSp>
        <p:nvGrpSpPr>
          <p:cNvPr id="28" name="Group 22"/>
          <p:cNvGrpSpPr>
            <a:grpSpLocks/>
          </p:cNvGrpSpPr>
          <p:nvPr/>
        </p:nvGrpSpPr>
        <p:grpSpPr bwMode="auto">
          <a:xfrm>
            <a:off x="4869926" y="1213686"/>
            <a:ext cx="1678809" cy="1020607"/>
            <a:chOff x="4167" y="-90"/>
            <a:chExt cx="1652" cy="1088"/>
          </a:xfrm>
        </p:grpSpPr>
        <p:grpSp>
          <p:nvGrpSpPr>
            <p:cNvPr id="29" name="Group 23"/>
            <p:cNvGrpSpPr>
              <a:grpSpLocks/>
            </p:cNvGrpSpPr>
            <p:nvPr/>
          </p:nvGrpSpPr>
          <p:grpSpPr bwMode="auto">
            <a:xfrm>
              <a:off x="4167" y="637"/>
              <a:ext cx="1360" cy="361"/>
              <a:chOff x="4167" y="637"/>
              <a:chExt cx="1360" cy="361"/>
            </a:xfrm>
          </p:grpSpPr>
          <p:sp>
            <p:nvSpPr>
              <p:cNvPr id="33" name="Line 24"/>
              <p:cNvSpPr>
                <a:spLocks noChangeShapeType="1"/>
              </p:cNvSpPr>
              <p:nvPr/>
            </p:nvSpPr>
            <p:spPr bwMode="auto">
              <a:xfrm flipH="1">
                <a:off x="4167" y="847"/>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4" name="Text Box 25"/>
              <p:cNvSpPr txBox="1">
                <a:spLocks noChangeArrowheads="1"/>
              </p:cNvSpPr>
              <p:nvPr/>
            </p:nvSpPr>
            <p:spPr bwMode="auto">
              <a:xfrm>
                <a:off x="4411" y="637"/>
                <a:ext cx="111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r>
                  <a:rPr kumimoji="1" lang="en-US" altLang="zh-CN" sz="1600" b="1" dirty="0">
                    <a:latin typeface="微软雅黑" pitchFamily="34" charset="-122"/>
                    <a:ea typeface="微软雅黑" pitchFamily="34" charset="-122"/>
                  </a:rPr>
                  <a:t> </a:t>
                </a:r>
                <a:r>
                  <a:rPr kumimoji="1" lang="en-US" altLang="zh-CN" sz="1600" b="1" dirty="0">
                    <a:latin typeface="微软雅黑" pitchFamily="34" charset="-122"/>
                    <a:ea typeface="微软雅黑" pitchFamily="34" charset="-122"/>
                    <a:sym typeface="Symbol" pitchFamily="18" charset="2"/>
                  </a:rPr>
                  <a:t> </a:t>
                </a:r>
                <a:r>
                  <a:rPr kumimoji="1" lang="en-US" altLang="zh-CN" sz="1600" b="1" baseline="30000" dirty="0">
                    <a:latin typeface="微软雅黑" pitchFamily="34" charset="-122"/>
                    <a:ea typeface="微软雅黑" pitchFamily="34" charset="-122"/>
                  </a:rPr>
                  <a:t> </a:t>
                </a:r>
              </a:p>
            </p:txBody>
          </p:sp>
        </p:grpSp>
        <p:grpSp>
          <p:nvGrpSpPr>
            <p:cNvPr id="30" name="Group 26"/>
            <p:cNvGrpSpPr>
              <a:grpSpLocks/>
            </p:cNvGrpSpPr>
            <p:nvPr/>
          </p:nvGrpSpPr>
          <p:grpSpPr bwMode="auto">
            <a:xfrm>
              <a:off x="4415" y="-90"/>
              <a:ext cx="1404" cy="561"/>
              <a:chOff x="4415" y="-90"/>
              <a:chExt cx="1404" cy="561"/>
            </a:xfrm>
          </p:grpSpPr>
          <p:sp>
            <p:nvSpPr>
              <p:cNvPr id="31" name="AutoShape 27"/>
              <p:cNvSpPr>
                <a:spLocks noChangeArrowheads="1"/>
              </p:cNvSpPr>
              <p:nvPr/>
            </p:nvSpPr>
            <p:spPr bwMode="auto">
              <a:xfrm>
                <a:off x="4415" y="-72"/>
                <a:ext cx="1404" cy="543"/>
              </a:xfrm>
              <a:prstGeom prst="wedgeRoundRectCallout">
                <a:avLst>
                  <a:gd name="adj1" fmla="val -66806"/>
                  <a:gd name="adj2" fmla="val 109262"/>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32" name="Text Box 28"/>
              <p:cNvSpPr txBox="1">
                <a:spLocks noChangeArrowheads="1"/>
              </p:cNvSpPr>
              <p:nvPr/>
            </p:nvSpPr>
            <p:spPr bwMode="auto">
              <a:xfrm>
                <a:off x="4480" y="-90"/>
                <a:ext cx="1295"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在 </a:t>
                </a:r>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信号到达前发送数据</a:t>
                </a:r>
              </a:p>
            </p:txBody>
          </p:sp>
        </p:grpSp>
      </p:grpSp>
      <p:grpSp>
        <p:nvGrpSpPr>
          <p:cNvPr id="35" name="Group 29"/>
          <p:cNvGrpSpPr>
            <a:grpSpLocks/>
          </p:cNvGrpSpPr>
          <p:nvPr/>
        </p:nvGrpSpPr>
        <p:grpSpPr bwMode="auto">
          <a:xfrm>
            <a:off x="3713462" y="2100154"/>
            <a:ext cx="2161515" cy="917417"/>
            <a:chOff x="3029" y="855"/>
            <a:chExt cx="2127" cy="978"/>
          </a:xfrm>
        </p:grpSpPr>
        <p:grpSp>
          <p:nvGrpSpPr>
            <p:cNvPr id="36" name="Group 30"/>
            <p:cNvGrpSpPr>
              <a:grpSpLocks/>
            </p:cNvGrpSpPr>
            <p:nvPr/>
          </p:nvGrpSpPr>
          <p:grpSpPr bwMode="auto">
            <a:xfrm>
              <a:off x="3029" y="1223"/>
              <a:ext cx="1095" cy="610"/>
              <a:chOff x="3029" y="1223"/>
              <a:chExt cx="1095" cy="610"/>
            </a:xfrm>
          </p:grpSpPr>
          <p:sp>
            <p:nvSpPr>
              <p:cNvPr id="39" name="AutoShape 31"/>
              <p:cNvSpPr>
                <a:spLocks noChangeArrowheads="1"/>
              </p:cNvSpPr>
              <p:nvPr/>
            </p:nvSpPr>
            <p:spPr bwMode="auto">
              <a:xfrm>
                <a:off x="3029" y="1223"/>
                <a:ext cx="966" cy="610"/>
              </a:xfrm>
              <a:prstGeom prst="wedgeRoundRectCallout">
                <a:avLst>
                  <a:gd name="adj1" fmla="val 61231"/>
                  <a:gd name="adj2" fmla="val -88745"/>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40" name="Text Box 32"/>
              <p:cNvSpPr txBox="1">
                <a:spLocks noChangeArrowheads="1"/>
              </p:cNvSpPr>
              <p:nvPr/>
            </p:nvSpPr>
            <p:spPr bwMode="auto">
              <a:xfrm>
                <a:off x="3101" y="1260"/>
                <a:ext cx="1023"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检测到发生碰撞</a:t>
                </a:r>
              </a:p>
            </p:txBody>
          </p:sp>
        </p:grpSp>
        <p:sp>
          <p:nvSpPr>
            <p:cNvPr id="37" name="Line 33"/>
            <p:cNvSpPr>
              <a:spLocks noChangeShapeType="1"/>
            </p:cNvSpPr>
            <p:nvPr/>
          </p:nvSpPr>
          <p:spPr bwMode="auto">
            <a:xfrm flipH="1">
              <a:off x="4167" y="974"/>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8" name="Text Box 34"/>
            <p:cNvSpPr txBox="1">
              <a:spLocks noChangeArrowheads="1"/>
            </p:cNvSpPr>
            <p:nvPr/>
          </p:nvSpPr>
          <p:spPr bwMode="auto">
            <a:xfrm>
              <a:off x="4410" y="855"/>
              <a:ext cx="7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p>
          </p:txBody>
        </p:sp>
      </p:grpSp>
      <p:sp>
        <p:nvSpPr>
          <p:cNvPr id="41" name="Text Box 35"/>
          <p:cNvSpPr txBox="1">
            <a:spLocks noChangeArrowheads="1"/>
          </p:cNvSpPr>
          <p:nvPr/>
        </p:nvSpPr>
        <p:spPr bwMode="auto">
          <a:xfrm>
            <a:off x="1024554" y="1534385"/>
            <a:ext cx="6110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0</a:t>
            </a:r>
            <a:endParaRPr kumimoji="1" lang="en-US" altLang="zh-CN" sz="1400" b="1" baseline="30000" dirty="0">
              <a:latin typeface="微软雅黑" pitchFamily="34" charset="-122"/>
              <a:ea typeface="微软雅黑" pitchFamily="34" charset="-122"/>
            </a:endParaRPr>
          </a:p>
        </p:txBody>
      </p:sp>
      <p:sp>
        <p:nvSpPr>
          <p:cNvPr id="42" name="Line 36"/>
          <p:cNvSpPr>
            <a:spLocks noChangeShapeType="1"/>
          </p:cNvSpPr>
          <p:nvPr/>
        </p:nvSpPr>
        <p:spPr bwMode="auto">
          <a:xfrm>
            <a:off x="1563128" y="1691970"/>
            <a:ext cx="264219"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Text Box 37"/>
          <p:cNvSpPr txBox="1">
            <a:spLocks noChangeArrowheads="1"/>
          </p:cNvSpPr>
          <p:nvPr/>
        </p:nvSpPr>
        <p:spPr bwMode="auto">
          <a:xfrm>
            <a:off x="5056913" y="2403336"/>
            <a:ext cx="1472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单程端到端</a:t>
            </a:r>
          </a:p>
          <a:p>
            <a:r>
              <a:rPr lang="zh-CN" altLang="en-US" sz="1400" b="1" dirty="0">
                <a:solidFill>
                  <a:srgbClr val="0000FF"/>
                </a:solidFill>
                <a:latin typeface="微软雅黑" pitchFamily="34" charset="-122"/>
                <a:ea typeface="微软雅黑" pitchFamily="34" charset="-122"/>
              </a:rPr>
              <a:t>传播时延记为 </a:t>
            </a:r>
            <a:r>
              <a:rPr lang="zh-CN" altLang="en-US" sz="1400" b="1" i="1" dirty="0">
                <a:solidFill>
                  <a:srgbClr val="0000FF"/>
                </a:solidFill>
                <a:latin typeface="微软雅黑" pitchFamily="34" charset="-122"/>
                <a:ea typeface="微软雅黑" pitchFamily="34" charset="-122"/>
                <a:sym typeface="Symbol" pitchFamily="18" charset="2"/>
              </a:rPr>
              <a:t></a:t>
            </a:r>
            <a:r>
              <a:rPr lang="zh-CN" altLang="en-US" sz="1400" b="1" dirty="0">
                <a:solidFill>
                  <a:srgbClr val="0000FF"/>
                </a:solidFill>
                <a:latin typeface="微软雅黑" pitchFamily="34" charset="-122"/>
                <a:ea typeface="微软雅黑" pitchFamily="34" charset="-122"/>
              </a:rPr>
              <a:t> </a:t>
            </a:r>
          </a:p>
        </p:txBody>
      </p:sp>
      <p:grpSp>
        <p:nvGrpSpPr>
          <p:cNvPr id="44" name="组合 43"/>
          <p:cNvGrpSpPr/>
          <p:nvPr/>
        </p:nvGrpSpPr>
        <p:grpSpPr>
          <a:xfrm>
            <a:off x="502922" y="3784422"/>
            <a:ext cx="8129014" cy="509100"/>
            <a:chOff x="502922" y="3477684"/>
            <a:chExt cx="8129014" cy="509100"/>
          </a:xfrm>
        </p:grpSpPr>
        <p:sp>
          <p:nvSpPr>
            <p:cNvPr id="45" name="对角圆角矩形 44"/>
            <p:cNvSpPr/>
            <p:nvPr/>
          </p:nvSpPr>
          <p:spPr>
            <a:xfrm>
              <a:off x="502922" y="3477684"/>
              <a:ext cx="8129014" cy="50910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877824" y="3513507"/>
              <a:ext cx="7699646" cy="406971"/>
            </a:xfrm>
            <a:prstGeom prst="rect">
              <a:avLst/>
            </a:prstGeom>
          </p:spPr>
          <p:txBody>
            <a:bodyPr wrap="square">
              <a:spAutoFit/>
            </a:bodyPr>
            <a:lstStyle/>
            <a:p>
              <a:pPr>
                <a:lnSpc>
                  <a:spcPts val="2700"/>
                </a:lnSpc>
                <a:spcBef>
                  <a:spcPts val="600"/>
                </a:spcBef>
              </a:pPr>
              <a:r>
                <a:rPr lang="zh-CN" altLang="en-US" b="1" dirty="0">
                  <a:solidFill>
                    <a:schemeClr val="bg1"/>
                  </a:solidFill>
                  <a:latin typeface="微软雅黑" pitchFamily="34" charset="-122"/>
                  <a:ea typeface="微软雅黑" pitchFamily="34" charset="-122"/>
                </a:rPr>
                <a:t>任意站最多需要</a:t>
              </a:r>
              <a:r>
                <a:rPr lang="zh-CN" altLang="en-US" b="1" dirty="0">
                  <a:solidFill>
                    <a:srgbClr val="FFFF00"/>
                  </a:solidFill>
                  <a:latin typeface="微软雅黑" pitchFamily="34" charset="-122"/>
                  <a:ea typeface="微软雅黑" pitchFamily="34" charset="-122"/>
                </a:rPr>
                <a:t>单程传播时延的 </a:t>
              </a:r>
              <a:r>
                <a:rPr lang="en-US" altLang="zh-CN" b="1" dirty="0">
                  <a:solidFill>
                    <a:srgbClr val="FFFF00"/>
                  </a:solidFill>
                  <a:latin typeface="微软雅黑" pitchFamily="34" charset="-122"/>
                  <a:ea typeface="微软雅黑" pitchFamily="34" charset="-122"/>
                </a:rPr>
                <a:t>2 </a:t>
              </a:r>
              <a:r>
                <a:rPr lang="zh-CN" altLang="en-US" b="1" dirty="0">
                  <a:solidFill>
                    <a:srgbClr val="FFFF00"/>
                  </a:solidFill>
                  <a:latin typeface="微软雅黑" pitchFamily="34" charset="-122"/>
                  <a:ea typeface="微软雅黑" pitchFamily="34" charset="-122"/>
                </a:rPr>
                <a:t>倍</a:t>
              </a:r>
              <a:r>
                <a:rPr lang="zh-CN" altLang="en-US" b="1" dirty="0">
                  <a:solidFill>
                    <a:schemeClr val="bg1"/>
                  </a:solidFill>
                  <a:latin typeface="微软雅黑" pitchFamily="34" charset="-122"/>
                  <a:ea typeface="微软雅黑" pitchFamily="34" charset="-122"/>
                </a:rPr>
                <a:t>的时间，就能检测是否产生了冲突。</a:t>
              </a:r>
            </a:p>
          </p:txBody>
        </p:sp>
      </p:grpSp>
      <p:sp>
        <p:nvSpPr>
          <p:cNvPr id="2" name="矩形 1"/>
          <p:cNvSpPr/>
          <p:nvPr/>
        </p:nvSpPr>
        <p:spPr>
          <a:xfrm>
            <a:off x="6974981" y="1521012"/>
            <a:ext cx="1854983"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solidFill>
                  <a:srgbClr val="C00000"/>
                </a:solidFill>
                <a:latin typeface="微软雅黑" panose="020B0503020204020204" pitchFamily="34" charset="-122"/>
                <a:ea typeface="微软雅黑" panose="020B0503020204020204" pitchFamily="34" charset="-122"/>
              </a:rPr>
              <a:t>可见：</a:t>
            </a:r>
            <a:r>
              <a:rPr lang="zh-CN" altLang="en-US" b="1" dirty="0">
                <a:latin typeface="微软雅黑" panose="020B0503020204020204" pitchFamily="34" charset="-122"/>
                <a:ea typeface="微软雅黑" panose="020B0503020204020204" pitchFamily="34" charset="-122"/>
              </a:rPr>
              <a:t>每一个站在自己发送数据之后的一小段时间内，存在着遭遇碰撞的可能性。</a:t>
            </a:r>
          </a:p>
        </p:txBody>
      </p:sp>
    </p:spTree>
    <p:extLst>
      <p:ext uri="{BB962C8B-B14F-4D97-AF65-F5344CB8AC3E}">
        <p14:creationId xmlns:p14="http://schemas.microsoft.com/office/powerpoint/2010/main" val="417488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4000"/>
                                        <p:tgtEl>
                                          <p:spTgt spid="12"/>
                                        </p:tgtEl>
                                      </p:cBhvr>
                                    </p:animEffect>
                                  </p:childTnLst>
                                </p:cTn>
                              </p:par>
                            </p:childTnLst>
                          </p:cTn>
                        </p:par>
                        <p:par>
                          <p:cTn id="12" fill="hold">
                            <p:stCondLst>
                              <p:cond delay="4000"/>
                            </p:stCondLst>
                            <p:childTnLst>
                              <p:par>
                                <p:cTn id="13" presetID="22" presetClass="entr" presetSubtype="2"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right)">
                                      <p:cBhvr>
                                        <p:cTn id="15" dur="4000"/>
                                        <p:tgtEl>
                                          <p:spTgt spid="18"/>
                                        </p:tgtEl>
                                      </p:cBhvr>
                                    </p:animEffect>
                                  </p:childTnLst>
                                </p:cTn>
                              </p:par>
                              <p:par>
                                <p:cTn id="16" presetID="53" presetClass="entr" presetSubtype="16" fill="hold" nodeType="withEffect">
                                  <p:stCondLst>
                                    <p:cond delay="750"/>
                                  </p:stCondLst>
                                  <p:childTnLst>
                                    <p:set>
                                      <p:cBhvr>
                                        <p:cTn id="17" dur="1" fill="hold">
                                          <p:stCondLst>
                                            <p:cond delay="0"/>
                                          </p:stCondLst>
                                        </p:cTn>
                                        <p:tgtEl>
                                          <p:spTgt spid="19"/>
                                        </p:tgtEl>
                                        <p:attrNameLst>
                                          <p:attrName>style.visibility</p:attrName>
                                        </p:attrNameLst>
                                      </p:cBhvr>
                                      <p:to>
                                        <p:strVal val="visible"/>
                                      </p:to>
                                    </p:set>
                                    <p:anim calcmode="lin" valueType="num">
                                      <p:cBhvr>
                                        <p:cTn id="18" dur="250" fill="hold"/>
                                        <p:tgtEl>
                                          <p:spTgt spid="19"/>
                                        </p:tgtEl>
                                        <p:attrNameLst>
                                          <p:attrName>ppt_w</p:attrName>
                                        </p:attrNameLst>
                                      </p:cBhvr>
                                      <p:tavLst>
                                        <p:tav tm="0">
                                          <p:val>
                                            <p:fltVal val="0"/>
                                          </p:val>
                                        </p:tav>
                                        <p:tav tm="100000">
                                          <p:val>
                                            <p:strVal val="#ppt_w"/>
                                          </p:val>
                                        </p:tav>
                                      </p:tavLst>
                                    </p:anim>
                                    <p:anim calcmode="lin" valueType="num">
                                      <p:cBhvr>
                                        <p:cTn id="19" dur="250" fill="hold"/>
                                        <p:tgtEl>
                                          <p:spTgt spid="19"/>
                                        </p:tgtEl>
                                        <p:attrNameLst>
                                          <p:attrName>ppt_h</p:attrName>
                                        </p:attrNameLst>
                                      </p:cBhvr>
                                      <p:tavLst>
                                        <p:tav tm="0">
                                          <p:val>
                                            <p:fltVal val="0"/>
                                          </p:val>
                                        </p:tav>
                                        <p:tav tm="100000">
                                          <p:val>
                                            <p:strVal val="#ppt_h"/>
                                          </p:val>
                                        </p:tav>
                                      </p:tavLst>
                                    </p:anim>
                                    <p:animEffect transition="in" filter="fade">
                                      <p:cBhvr>
                                        <p:cTn id="20" dur="25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5" presetClass="emph" presetSubtype="0" repeatCount="3000" fill="hold" grpId="0" nodeType="clickEffect">
                                  <p:stCondLst>
                                    <p:cond delay="0"/>
                                  </p:stCondLst>
                                  <p:childTnLst>
                                    <p:anim calcmode="discrete" valueType="str">
                                      <p:cBhvr>
                                        <p:cTn id="31"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par>
                    <p:cTn id="32" fill="hold">
                      <p:stCondLst>
                        <p:cond delay="indefinite"/>
                      </p:stCondLst>
                      <p:childTnLst>
                        <p:par>
                          <p:cTn id="33" fill="hold">
                            <p:stCondLst>
                              <p:cond delay="0"/>
                            </p:stCondLst>
                            <p:childTnLst>
                              <p:par>
                                <p:cTn id="34" presetID="35" presetClass="emph" presetSubtype="0" repeatCount="3000" fill="hold" grpId="0" nodeType="clickEffect">
                                  <p:stCondLst>
                                    <p:cond delay="0"/>
                                  </p:stCondLst>
                                  <p:childTnLst>
                                    <p:anim calcmode="discrete" valueType="str">
                                      <p:cBhvr>
                                        <p:cTn id="35"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36" fill="hold">
                      <p:stCondLst>
                        <p:cond delay="indefinite"/>
                      </p:stCondLst>
                      <p:childTnLst>
                        <p:par>
                          <p:cTn id="37" fill="hold">
                            <p:stCondLst>
                              <p:cond delay="0"/>
                            </p:stCondLst>
                            <p:childTnLst>
                              <p:par>
                                <p:cTn id="38" presetID="35" presetClass="emph" presetSubtype="0" repeatCount="3000" fill="hold" nodeType="clickEffect">
                                  <p:stCondLst>
                                    <p:cond delay="0"/>
                                  </p:stCondLst>
                                  <p:childTnLst>
                                    <p:anim calcmode="discrete" valueType="str">
                                      <p:cBhvr>
                                        <p:cTn id="39" dur="1000" fill="hold"/>
                                        <p:tgtEl>
                                          <p:spTgt spid="28"/>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35" presetClass="emph" presetSubtype="0" repeatCount="3000" fill="hold" nodeType="clickEffect">
                                  <p:stCondLst>
                                    <p:cond delay="0"/>
                                  </p:stCondLst>
                                  <p:childTnLst>
                                    <p:anim calcmode="discrete" valueType="str">
                                      <p:cBhvr>
                                        <p:cTn id="43"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44" fill="hold">
                      <p:stCondLst>
                        <p:cond delay="indefinite"/>
                      </p:stCondLst>
                      <p:childTnLst>
                        <p:par>
                          <p:cTn id="45" fill="hold">
                            <p:stCondLst>
                              <p:cond delay="0"/>
                            </p:stCondLst>
                            <p:childTnLst>
                              <p:par>
                                <p:cTn id="46" presetID="35" presetClass="emph" presetSubtype="0" repeatCount="3000" fill="hold" nodeType="clickEffect">
                                  <p:stCondLst>
                                    <p:cond delay="0"/>
                                  </p:stCondLst>
                                  <p:childTnLst>
                                    <p:anim calcmode="discrete" valueType="str">
                                      <p:cBhvr>
                                        <p:cTn id="47"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wipe(up)">
                                      <p:cBhvr>
                                        <p:cTn id="5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41" grpId="0"/>
      <p:bldP spid="43" grpId="0"/>
      <p:bldP spid="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46"/>
          <p:cNvSpPr>
            <a:spLocks noChangeArrowheads="1"/>
          </p:cNvSpPr>
          <p:nvPr/>
        </p:nvSpPr>
        <p:spPr bwMode="auto">
          <a:xfrm>
            <a:off x="502921" y="986032"/>
            <a:ext cx="8223208" cy="4599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以太网的端到端往返时延 </a:t>
            </a:r>
            <a:r>
              <a:rPr lang="en-US" altLang="zh-CN" sz="2000" b="1" dirty="0">
                <a:solidFill>
                  <a:srgbClr val="C00000"/>
                </a:solidFill>
                <a:latin typeface="微软雅黑" pitchFamily="34" charset="-122"/>
                <a:ea typeface="微软雅黑" pitchFamily="34" charset="-122"/>
              </a:rPr>
              <a:t>2</a:t>
            </a:r>
            <a:r>
              <a:rPr lang="en-US" altLang="zh-CN" sz="2000" b="1" i="1" dirty="0">
                <a:solidFill>
                  <a:srgbClr val="C00000"/>
                </a:solidFill>
                <a:latin typeface="微软雅黑" pitchFamily="34" charset="-122"/>
                <a:ea typeface="微软雅黑" pitchFamily="34" charset="-122"/>
                <a:sym typeface="Symbol" pitchFamily="18" charset="2"/>
              </a:rPr>
              <a:t>  </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争用期</a:t>
            </a:r>
            <a:r>
              <a:rPr lang="zh-CN" altLang="en-US" sz="2000" b="1" dirty="0">
                <a:latin typeface="微软雅黑" pitchFamily="34" charset="-122"/>
                <a:ea typeface="微软雅黑" pitchFamily="34" charset="-122"/>
              </a:rPr>
              <a:t>，或</a:t>
            </a:r>
            <a:r>
              <a:rPr lang="zh-CN" altLang="en-US" sz="2000" b="1" dirty="0">
                <a:solidFill>
                  <a:srgbClr val="C00000"/>
                </a:solidFill>
                <a:latin typeface="微软雅黑" pitchFamily="34" charset="-122"/>
                <a:ea typeface="微软雅黑" pitchFamily="34" charset="-122"/>
              </a:rPr>
              <a:t>碰撞窗口。</a:t>
            </a:r>
            <a:endParaRPr lang="en-US" altLang="zh-CN" sz="2000" b="1" dirty="0">
              <a:latin typeface="微软雅黑" pitchFamily="34" charset="-122"/>
              <a:ea typeface="微软雅黑" pitchFamily="34" charset="-122"/>
            </a:endParaRPr>
          </a:p>
        </p:txBody>
      </p:sp>
      <p:sp>
        <p:nvSpPr>
          <p:cNvPr id="65" name="AutoShape 5"/>
          <p:cNvSpPr>
            <a:spLocks noChangeArrowheads="1"/>
          </p:cNvSpPr>
          <p:nvPr/>
        </p:nvSpPr>
        <p:spPr bwMode="auto">
          <a:xfrm>
            <a:off x="502921" y="62740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6"/>
          <p:cNvSpPr>
            <a:spLocks noChangeArrowheads="1"/>
          </p:cNvSpPr>
          <p:nvPr/>
        </p:nvSpPr>
        <p:spPr bwMode="auto">
          <a:xfrm>
            <a:off x="4090019" y="60431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争用期</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379912" y="2262035"/>
            <a:ext cx="6234546" cy="1281889"/>
          </a:xfrm>
          <a:prstGeom prst="rect">
            <a:avLst/>
          </a:prstGeom>
        </p:spPr>
        <p:style>
          <a:lnRef idx="1">
            <a:schemeClr val="accent5"/>
          </a:lnRef>
          <a:fillRef idx="2">
            <a:schemeClr val="accent5"/>
          </a:fillRef>
          <a:effectRef idx="1">
            <a:schemeClr val="accent5"/>
          </a:effectRef>
          <a:fontRef idx="minor">
            <a:schemeClr val="dk1"/>
          </a:fontRef>
        </p:style>
        <p:txBody>
          <a:bodyPr wrap="square" anchor="t">
            <a:spAutoFit/>
          </a:bodyPr>
          <a:lstStyle/>
          <a:p>
            <a:pPr eaLnBrk="0" hangingPunct="0">
              <a:lnSpc>
                <a:spcPts val="3200"/>
              </a:lnSpc>
              <a:buClr>
                <a:srgbClr val="0070C0"/>
              </a:buClr>
            </a:pPr>
            <a:r>
              <a:rPr lang="zh-CN" altLang="en-US" sz="2000" b="1" dirty="0">
                <a:latin typeface="微软雅黑" pitchFamily="34" charset="-122"/>
                <a:ea typeface="微软雅黑" pitchFamily="34" charset="-122"/>
              </a:rPr>
              <a:t>经过争用期这段时间还没有检测到碰撞，才能肯定这次发送不会发生碰撞。只有在争用期不发生碰撞，发送才能成功。</a:t>
            </a:r>
          </a:p>
        </p:txBody>
      </p:sp>
    </p:spTree>
    <p:extLst>
      <p:ext uri="{BB962C8B-B14F-4D97-AF65-F5344CB8AC3E}">
        <p14:creationId xmlns:p14="http://schemas.microsoft.com/office/powerpoint/2010/main" val="359650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Effect transition="in" filter="fade">
                                      <p:cBhvr>
                                        <p:cTn id="7" dur="1000"/>
                                        <p:tgtEl>
                                          <p:spTgt spid="64">
                                            <p:txEl>
                                              <p:pRg st="0" end="0"/>
                                            </p:txEl>
                                          </p:spTgt>
                                        </p:tgtEl>
                                      </p:cBhvr>
                                    </p:animEffect>
                                    <p:anim calcmode="lin" valueType="num">
                                      <p:cBhvr>
                                        <p:cTn id="8" dur="1000" fill="hold"/>
                                        <p:tgtEl>
                                          <p:spTgt spid="6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uiExpand="1" build="p"/>
      <p:bldP spid="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6"/>
          <p:cNvSpPr>
            <a:spLocks noChangeArrowheads="1"/>
          </p:cNvSpPr>
          <p:nvPr/>
        </p:nvSpPr>
        <p:spPr bwMode="auto">
          <a:xfrm>
            <a:off x="502921" y="98298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适配器立即停止发送。</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等待一段随机时间后再次发送。</a:t>
            </a:r>
          </a:p>
        </p:txBody>
      </p:sp>
      <p:sp>
        <p:nvSpPr>
          <p:cNvPr id="45" name="AutoShape 5"/>
          <p:cNvSpPr>
            <a:spLocks noChangeArrowheads="1"/>
          </p:cNvSpPr>
          <p:nvPr/>
        </p:nvSpPr>
        <p:spPr bwMode="auto">
          <a:xfrm>
            <a:off x="502921" y="62066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6"/>
          <p:cNvSpPr>
            <a:spLocks noChangeArrowheads="1"/>
          </p:cNvSpPr>
          <p:nvPr/>
        </p:nvSpPr>
        <p:spPr bwMode="auto">
          <a:xfrm>
            <a:off x="3705298" y="59757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检测到碰撞后</a:t>
            </a:r>
            <a:endParaRPr lang="fr-FR" altLang="zh-CN" sz="2000" b="1" dirty="0">
              <a:solidFill>
                <a:schemeClr val="bg1"/>
              </a:solidFill>
              <a:latin typeface="微软雅黑" pitchFamily="34" charset="-122"/>
              <a:ea typeface="微软雅黑" pitchFamily="34" charset="-122"/>
            </a:endParaRPr>
          </a:p>
        </p:txBody>
      </p:sp>
      <p:pic>
        <p:nvPicPr>
          <p:cNvPr id="20" name="图片 19">
            <a:extLst>
              <a:ext uri="{FF2B5EF4-FFF2-40B4-BE49-F238E27FC236}">
                <a16:creationId xmlns:a16="http://schemas.microsoft.com/office/drawing/2014/main" id="{201CECC4-1109-7EEB-A567-E7DD76D626E7}"/>
              </a:ext>
            </a:extLst>
          </p:cNvPr>
          <p:cNvPicPr>
            <a:picLocks noChangeAspect="1"/>
          </p:cNvPicPr>
          <p:nvPr/>
        </p:nvPicPr>
        <p:blipFill>
          <a:blip r:embed="rId3"/>
          <a:stretch>
            <a:fillRect/>
          </a:stretch>
        </p:blipFill>
        <p:spPr>
          <a:xfrm>
            <a:off x="5126209" y="1528916"/>
            <a:ext cx="3295710" cy="2472717"/>
          </a:xfrm>
          <a:prstGeom prst="rect">
            <a:avLst/>
          </a:prstGeom>
        </p:spPr>
      </p:pic>
      <p:grpSp>
        <p:nvGrpSpPr>
          <p:cNvPr id="22" name="Group 30">
            <a:extLst>
              <a:ext uri="{FF2B5EF4-FFF2-40B4-BE49-F238E27FC236}">
                <a16:creationId xmlns:a16="http://schemas.microsoft.com/office/drawing/2014/main" id="{DD597F80-4BBF-7AE5-0B55-F8C9FC42EAA1}"/>
              </a:ext>
            </a:extLst>
          </p:cNvPr>
          <p:cNvGrpSpPr>
            <a:grpSpLocks/>
          </p:cNvGrpSpPr>
          <p:nvPr/>
        </p:nvGrpSpPr>
        <p:grpSpPr bwMode="auto">
          <a:xfrm>
            <a:off x="6412419" y="3766013"/>
            <a:ext cx="1525038" cy="572214"/>
            <a:chOff x="3029" y="1223"/>
            <a:chExt cx="966" cy="610"/>
          </a:xfrm>
        </p:grpSpPr>
        <p:sp>
          <p:nvSpPr>
            <p:cNvPr id="25" name="AutoShape 31">
              <a:extLst>
                <a:ext uri="{FF2B5EF4-FFF2-40B4-BE49-F238E27FC236}">
                  <a16:creationId xmlns:a16="http://schemas.microsoft.com/office/drawing/2014/main" id="{4336304C-4483-1B83-A110-A8E0382931A2}"/>
                </a:ext>
              </a:extLst>
            </p:cNvPr>
            <p:cNvSpPr>
              <a:spLocks noChangeArrowheads="1"/>
            </p:cNvSpPr>
            <p:nvPr/>
          </p:nvSpPr>
          <p:spPr bwMode="auto">
            <a:xfrm>
              <a:off x="3029" y="1223"/>
              <a:ext cx="966" cy="610"/>
            </a:xfrm>
            <a:prstGeom prst="wedgeRoundRectCallout">
              <a:avLst>
                <a:gd name="adj1" fmla="val 48336"/>
                <a:gd name="adj2" fmla="val -107646"/>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26" name="Text Box 32">
              <a:extLst>
                <a:ext uri="{FF2B5EF4-FFF2-40B4-BE49-F238E27FC236}">
                  <a16:creationId xmlns:a16="http://schemas.microsoft.com/office/drawing/2014/main" id="{67E9DC7D-8B3B-A9A8-905F-DEBDCFC2E1D2}"/>
                </a:ext>
              </a:extLst>
            </p:cNvPr>
            <p:cNvSpPr txBox="1">
              <a:spLocks noChangeArrowheads="1"/>
            </p:cNvSpPr>
            <p:nvPr/>
          </p:nvSpPr>
          <p:spPr bwMode="auto">
            <a:xfrm>
              <a:off x="3051" y="1247"/>
              <a:ext cx="944"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400" b="1" dirty="0">
                  <a:solidFill>
                    <a:srgbClr val="000099"/>
                  </a:solidFill>
                  <a:latin typeface="微软雅黑" pitchFamily="34" charset="-122"/>
                  <a:ea typeface="微软雅黑" pitchFamily="34" charset="-122"/>
                </a:rPr>
                <a:t>立即重传会再次发生碰撞</a:t>
              </a:r>
            </a:p>
          </p:txBody>
        </p:sp>
      </p:grpSp>
    </p:spTree>
    <p:extLst>
      <p:ext uri="{BB962C8B-B14F-4D97-AF65-F5344CB8AC3E}">
        <p14:creationId xmlns:p14="http://schemas.microsoft.com/office/powerpoint/2010/main" val="352023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fade">
                                      <p:cBhvr>
                                        <p:cTn id="7" dur="1000"/>
                                        <p:tgtEl>
                                          <p:spTgt spid="44">
                                            <p:txEl>
                                              <p:pRg st="0" end="0"/>
                                            </p:txEl>
                                          </p:spTgt>
                                        </p:tgtEl>
                                      </p:cBhvr>
                                    </p:animEffect>
                                    <p:anim calcmode="lin" valueType="num">
                                      <p:cBhvr>
                                        <p:cTn id="8"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4">
                                            <p:txEl>
                                              <p:pRg st="1" end="1"/>
                                            </p:txEl>
                                          </p:spTgt>
                                        </p:tgtEl>
                                        <p:attrNameLst>
                                          <p:attrName>style.visibility</p:attrName>
                                        </p:attrNameLst>
                                      </p:cBhvr>
                                      <p:to>
                                        <p:strVal val="visible"/>
                                      </p:to>
                                    </p:set>
                                    <p:animEffect transition="in" filter="fade">
                                      <p:cBhvr>
                                        <p:cTn id="14" dur="1000"/>
                                        <p:tgtEl>
                                          <p:spTgt spid="44">
                                            <p:txEl>
                                              <p:pRg st="1" end="1"/>
                                            </p:txEl>
                                          </p:spTgt>
                                        </p:tgtEl>
                                      </p:cBhvr>
                                    </p:animEffect>
                                    <p:anim calcmode="lin" valueType="num">
                                      <p:cBhvr>
                                        <p:cTn id="15" dur="1000" fill="hold"/>
                                        <p:tgtEl>
                                          <p:spTgt spid="4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46"/>
          <p:cNvSpPr>
            <a:spLocks noChangeArrowheads="1"/>
          </p:cNvSpPr>
          <p:nvPr/>
        </p:nvSpPr>
        <p:spPr bwMode="auto">
          <a:xfrm>
            <a:off x="502921" y="983075"/>
            <a:ext cx="8216206" cy="33276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截断二进制指数退避 </a:t>
            </a:r>
            <a:r>
              <a:rPr lang="en-US" altLang="zh-CN" sz="2000" b="1" dirty="0">
                <a:latin typeface="微软雅黑" pitchFamily="34" charset="-122"/>
                <a:ea typeface="微软雅黑" pitchFamily="34" charset="-122"/>
              </a:rPr>
              <a:t>(truncated binary exponential </a:t>
            </a:r>
            <a:r>
              <a:rPr lang="en-US" altLang="zh-CN" sz="2000" b="1" dirty="0" err="1">
                <a:latin typeface="微软雅黑" pitchFamily="34" charset="-122"/>
                <a:ea typeface="微软雅黑" pitchFamily="34" charset="-122"/>
              </a:rPr>
              <a:t>backoff</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确定。</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发生碰撞的站停止发送数据后，要</a:t>
            </a:r>
            <a:r>
              <a:rPr lang="zh-CN" altLang="en-US" sz="2000" b="1" dirty="0">
                <a:solidFill>
                  <a:srgbClr val="0000FF"/>
                </a:solidFill>
                <a:latin typeface="微软雅黑" pitchFamily="34" charset="-122"/>
                <a:ea typeface="微软雅黑" pitchFamily="34" charset="-122"/>
              </a:rPr>
              <a:t>退避</a:t>
            </a:r>
            <a:r>
              <a:rPr lang="zh-CN" altLang="en-US" sz="2000" b="1" dirty="0">
                <a:latin typeface="微软雅黑" pitchFamily="34" charset="-122"/>
                <a:ea typeface="微软雅黑" pitchFamily="34" charset="-122"/>
              </a:rPr>
              <a:t>一个随机时间后再发送数据。</a:t>
            </a:r>
          </a:p>
          <a:p>
            <a:pPr marL="715963" indent="-342900" eaLnBrk="0" hangingPunct="0">
              <a:lnSpc>
                <a:spcPts val="32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最小退避时间 </a:t>
            </a:r>
            <a:r>
              <a:rPr lang="en-US" altLang="zh-CN" b="1" dirty="0">
                <a:solidFill>
                  <a:srgbClr val="0000FF"/>
                </a:solidFill>
                <a:latin typeface="微软雅黑" pitchFamily="34" charset="-122"/>
                <a:ea typeface="微软雅黑" pitchFamily="34" charset="-122"/>
              </a:rPr>
              <a:t>= 2</a:t>
            </a:r>
            <a:r>
              <a:rPr lang="en-US" altLang="zh-CN" b="1" i="1" dirty="0">
                <a:solidFill>
                  <a:srgbClr val="0000FF"/>
                </a:solidFill>
                <a:latin typeface="微软雅黑" pitchFamily="34" charset="-122"/>
                <a:ea typeface="微软雅黑" pitchFamily="34" charset="-122"/>
                <a:sym typeface="Symbol" pitchFamily="18" charset="2"/>
              </a:rPr>
              <a:t> </a:t>
            </a:r>
            <a:r>
              <a:rPr lang="zh-CN" altLang="en-US" b="1" dirty="0">
                <a:solidFill>
                  <a:srgbClr val="0000FF"/>
                </a:solidFill>
                <a:latin typeface="微软雅黑" pitchFamily="34" charset="-122"/>
                <a:ea typeface="微软雅黑" pitchFamily="34" charset="-122"/>
                <a:sym typeface="Symbol" pitchFamily="18" charset="2"/>
              </a:rPr>
              <a:t>（争用期）</a:t>
            </a:r>
            <a:endParaRPr lang="zh-CN" altLang="en-US" b="1" dirty="0">
              <a:solidFill>
                <a:srgbClr val="0000FF"/>
              </a:solidFill>
              <a:latin typeface="微软雅黑" pitchFamily="34" charset="-122"/>
              <a:ea typeface="微软雅黑" pitchFamily="34" charset="-122"/>
            </a:endParaRPr>
          </a:p>
          <a:p>
            <a:pPr marL="715963" indent="-342900" eaLnBrk="0" hangingPunct="0">
              <a:lnSpc>
                <a:spcPts val="3200"/>
              </a:lnSpc>
              <a:buClr>
                <a:srgbClr val="7030A0"/>
              </a:buClr>
              <a:buFont typeface="+mj-lt"/>
              <a:buAutoNum type="arabicPeriod"/>
            </a:pPr>
            <a:r>
              <a:rPr lang="zh-CN" altLang="en-US" b="1" dirty="0">
                <a:latin typeface="微软雅黑" pitchFamily="34" charset="-122"/>
                <a:ea typeface="微软雅黑" pitchFamily="34" charset="-122"/>
              </a:rPr>
              <a:t>从整数集合 </a:t>
            </a:r>
            <a:r>
              <a:rPr lang="en-US" altLang="zh-CN" b="1" dirty="0">
                <a:latin typeface="微软雅黑" pitchFamily="34" charset="-122"/>
                <a:ea typeface="微软雅黑" pitchFamily="34" charset="-122"/>
              </a:rPr>
              <a:t>[0, 1, … , (2</a:t>
            </a:r>
            <a:r>
              <a:rPr lang="en-US" altLang="zh-CN" b="1" i="1" baseline="30000" dirty="0">
                <a:latin typeface="微软雅黑" pitchFamily="34" charset="-122"/>
                <a:ea typeface="微软雅黑" pitchFamily="34" charset="-122"/>
              </a:rPr>
              <a:t>k </a:t>
            </a:r>
            <a:r>
              <a:rPr lang="en-US" altLang="zh-CN" b="1" dirty="0">
                <a:latin typeface="微软雅黑" pitchFamily="34" charset="-122"/>
                <a:ea typeface="微软雅黑" pitchFamily="34" charset="-122"/>
              </a:rPr>
              <a:t>- 1)] </a:t>
            </a:r>
            <a:r>
              <a:rPr lang="zh-CN" altLang="en-US" b="1" dirty="0">
                <a:latin typeface="微软雅黑" pitchFamily="34" charset="-122"/>
                <a:ea typeface="微软雅黑" pitchFamily="34" charset="-122"/>
              </a:rPr>
              <a:t>中</a:t>
            </a:r>
            <a:r>
              <a:rPr lang="zh-CN" altLang="en-US" b="1" dirty="0">
                <a:solidFill>
                  <a:srgbClr val="C00000"/>
                </a:solidFill>
                <a:latin typeface="微软雅黑" pitchFamily="34" charset="-122"/>
                <a:ea typeface="微软雅黑" pitchFamily="34" charset="-122"/>
              </a:rPr>
              <a:t>随机</a:t>
            </a:r>
            <a:r>
              <a:rPr lang="zh-CN" altLang="en-US" b="1" dirty="0">
                <a:latin typeface="微软雅黑" pitchFamily="34" charset="-122"/>
                <a:ea typeface="微软雅黑" pitchFamily="34" charset="-122"/>
              </a:rPr>
              <a:t>地取出一个数，记为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r</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373063" eaLnBrk="0" hangingPunct="0">
              <a:lnSpc>
                <a:spcPts val="3200"/>
              </a:lnSpc>
              <a:buClr>
                <a:srgbClr val="7030A0"/>
              </a:buClr>
            </a:pPr>
            <a:r>
              <a:rPr lang="zh-CN" altLang="en-US" b="1" dirty="0">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重传所需的时延 </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 </a:t>
            </a:r>
            <a:r>
              <a:rPr lang="en-US" altLang="zh-CN" b="1" i="1" dirty="0">
                <a:solidFill>
                  <a:srgbClr val="C00000"/>
                </a:solidFill>
                <a:latin typeface="微软雅黑" pitchFamily="34" charset="-122"/>
                <a:ea typeface="微软雅黑" pitchFamily="34" charset="-122"/>
              </a:rPr>
              <a:t>r</a:t>
            </a:r>
            <a:r>
              <a:rPr lang="en-US" altLang="zh-CN" b="1" dirty="0">
                <a:solidFill>
                  <a:srgbClr val="C00000"/>
                </a:solidFill>
                <a:latin typeface="微软雅黑" pitchFamily="34" charset="-122"/>
                <a:ea typeface="微软雅黑" pitchFamily="34" charset="-122"/>
              </a:rPr>
              <a:t> </a:t>
            </a:r>
            <a:r>
              <a:rPr lang="en-US" altLang="zh-CN" sz="1600" b="1" dirty="0">
                <a:solidFill>
                  <a:srgbClr val="C00000"/>
                </a:solidFill>
                <a:latin typeface="微软雅黑" pitchFamily="34" charset="-122"/>
                <a:ea typeface="微软雅黑" pitchFamily="34" charset="-122"/>
              </a:rPr>
              <a:t>ⅹ</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争用期。</a:t>
            </a:r>
          </a:p>
          <a:p>
            <a:pPr marL="715963" indent="-342900" eaLnBrk="0" hangingPunct="0">
              <a:lnSpc>
                <a:spcPts val="3200"/>
              </a:lnSpc>
              <a:buClr>
                <a:srgbClr val="7030A0"/>
              </a:buClr>
              <a:buFont typeface="+mj-lt"/>
              <a:buAutoNum type="arabicPeriod" startAt="3"/>
            </a:pPr>
            <a:r>
              <a:rPr lang="zh-CN" altLang="en-US" b="1" dirty="0">
                <a:latin typeface="微软雅黑" pitchFamily="34" charset="-122"/>
                <a:ea typeface="微软雅黑" pitchFamily="34" charset="-122"/>
              </a:rPr>
              <a:t>参数 </a:t>
            </a:r>
            <a:r>
              <a:rPr lang="en-US" altLang="zh-CN" b="1" i="1" dirty="0">
                <a:solidFill>
                  <a:srgbClr val="0000FF"/>
                </a:solidFill>
                <a:latin typeface="微软雅黑" pitchFamily="34" charset="-122"/>
                <a:ea typeface="微软雅黑" pitchFamily="34" charset="-122"/>
              </a:rPr>
              <a:t>k </a:t>
            </a:r>
            <a:r>
              <a:rPr lang="en-US" altLang="zh-CN" b="1" dirty="0">
                <a:solidFill>
                  <a:srgbClr val="0000FF"/>
                </a:solidFill>
                <a:latin typeface="微软雅黑" pitchFamily="34" charset="-122"/>
                <a:ea typeface="微软雅黑" pitchFamily="34" charset="-122"/>
              </a:rPr>
              <a:t>= Min[</a:t>
            </a:r>
            <a:r>
              <a:rPr lang="zh-CN" altLang="en-US" b="1" dirty="0">
                <a:solidFill>
                  <a:srgbClr val="0000FF"/>
                </a:solidFill>
                <a:latin typeface="微软雅黑" pitchFamily="34" charset="-122"/>
                <a:ea typeface="微软雅黑" pitchFamily="34" charset="-122"/>
              </a:rPr>
              <a:t>重传次数</a:t>
            </a:r>
            <a:r>
              <a:rPr lang="en-US" altLang="zh-CN" b="1" dirty="0">
                <a:solidFill>
                  <a:srgbClr val="0000FF"/>
                </a:solidFill>
                <a:latin typeface="微软雅黑" pitchFamily="34" charset="-122"/>
                <a:ea typeface="微软雅黑" pitchFamily="34" charset="-122"/>
              </a:rPr>
              <a:t>, 10]</a:t>
            </a:r>
          </a:p>
          <a:p>
            <a:pPr marL="715963" indent="-342900" eaLnBrk="0" hangingPunct="0">
              <a:lnSpc>
                <a:spcPts val="3200"/>
              </a:lnSpc>
              <a:buClr>
                <a:srgbClr val="7030A0"/>
              </a:buClr>
              <a:buFont typeface="+mj-lt"/>
              <a:buAutoNum type="arabicPeriod" startAt="4"/>
            </a:pPr>
            <a:r>
              <a:rPr lang="zh-CN" altLang="en-US" b="1" dirty="0">
                <a:latin typeface="微软雅黑" pitchFamily="34" charset="-122"/>
                <a:ea typeface="微软雅黑" pitchFamily="34" charset="-122"/>
              </a:rPr>
              <a:t>当重传达 </a:t>
            </a:r>
            <a:r>
              <a:rPr lang="en-US" altLang="zh-CN" b="1" dirty="0">
                <a:solidFill>
                  <a:srgbClr val="0000FF"/>
                </a:solidFill>
                <a:latin typeface="微软雅黑" pitchFamily="34" charset="-122"/>
                <a:ea typeface="微软雅黑" pitchFamily="34" charset="-122"/>
              </a:rPr>
              <a:t>16</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次仍不能成功时即丢弃该帧，并向高层报告。 </a:t>
            </a:r>
          </a:p>
        </p:txBody>
      </p:sp>
      <p:sp>
        <p:nvSpPr>
          <p:cNvPr id="58"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碰撞后重传的时机</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3685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Effect transition="in" filter="fade">
                                      <p:cBhvr>
                                        <p:cTn id="7" dur="1000"/>
                                        <p:tgtEl>
                                          <p:spTgt spid="57">
                                            <p:txEl>
                                              <p:pRg st="0" end="0"/>
                                            </p:txEl>
                                          </p:spTgt>
                                        </p:tgtEl>
                                      </p:cBhvr>
                                    </p:animEffect>
                                    <p:anim calcmode="lin" valueType="num">
                                      <p:cBhvr>
                                        <p:cTn id="8" dur="1000" fill="hold"/>
                                        <p:tgtEl>
                                          <p:spTgt spid="5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7">
                                            <p:txEl>
                                              <p:pRg st="1" end="1"/>
                                            </p:txEl>
                                          </p:spTgt>
                                        </p:tgtEl>
                                        <p:attrNameLst>
                                          <p:attrName>style.visibility</p:attrName>
                                        </p:attrNameLst>
                                      </p:cBhvr>
                                      <p:to>
                                        <p:strVal val="visible"/>
                                      </p:to>
                                    </p:set>
                                    <p:animEffect transition="in" filter="fade">
                                      <p:cBhvr>
                                        <p:cTn id="14" dur="1000"/>
                                        <p:tgtEl>
                                          <p:spTgt spid="57">
                                            <p:txEl>
                                              <p:pRg st="1" end="1"/>
                                            </p:txEl>
                                          </p:spTgt>
                                        </p:tgtEl>
                                      </p:cBhvr>
                                    </p:animEffect>
                                    <p:anim calcmode="lin" valueType="num">
                                      <p:cBhvr>
                                        <p:cTn id="15" dur="1000" fill="hold"/>
                                        <p:tgtEl>
                                          <p:spTgt spid="5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7">
                                            <p:txEl>
                                              <p:pRg st="2" end="2"/>
                                            </p:txEl>
                                          </p:spTgt>
                                        </p:tgtEl>
                                        <p:attrNameLst>
                                          <p:attrName>style.visibility</p:attrName>
                                        </p:attrNameLst>
                                      </p:cBhvr>
                                      <p:to>
                                        <p:strVal val="visible"/>
                                      </p:to>
                                    </p:set>
                                    <p:animEffect transition="in" filter="fade">
                                      <p:cBhvr>
                                        <p:cTn id="21" dur="1000"/>
                                        <p:tgtEl>
                                          <p:spTgt spid="57">
                                            <p:txEl>
                                              <p:pRg st="2" end="2"/>
                                            </p:txEl>
                                          </p:spTgt>
                                        </p:tgtEl>
                                      </p:cBhvr>
                                    </p:animEffect>
                                    <p:anim calcmode="lin" valueType="num">
                                      <p:cBhvr>
                                        <p:cTn id="22" dur="1000" fill="hold"/>
                                        <p:tgtEl>
                                          <p:spTgt spid="5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7">
                                            <p:txEl>
                                              <p:pRg st="3" end="3"/>
                                            </p:txEl>
                                          </p:spTgt>
                                        </p:tgtEl>
                                        <p:attrNameLst>
                                          <p:attrName>style.visibility</p:attrName>
                                        </p:attrNameLst>
                                      </p:cBhvr>
                                      <p:to>
                                        <p:strVal val="visible"/>
                                      </p:to>
                                    </p:set>
                                    <p:animEffect transition="in" filter="fade">
                                      <p:cBhvr>
                                        <p:cTn id="28" dur="1000"/>
                                        <p:tgtEl>
                                          <p:spTgt spid="57">
                                            <p:txEl>
                                              <p:pRg st="3" end="3"/>
                                            </p:txEl>
                                          </p:spTgt>
                                        </p:tgtEl>
                                      </p:cBhvr>
                                    </p:animEffect>
                                    <p:anim calcmode="lin" valueType="num">
                                      <p:cBhvr>
                                        <p:cTn id="29" dur="1000" fill="hold"/>
                                        <p:tgtEl>
                                          <p:spTgt spid="5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7">
                                            <p:txEl>
                                              <p:pRg st="4" end="4"/>
                                            </p:txEl>
                                          </p:spTgt>
                                        </p:tgtEl>
                                        <p:attrNameLst>
                                          <p:attrName>style.visibility</p:attrName>
                                        </p:attrNameLst>
                                      </p:cBhvr>
                                      <p:to>
                                        <p:strVal val="visible"/>
                                      </p:to>
                                    </p:set>
                                    <p:animEffect transition="in" filter="fade">
                                      <p:cBhvr>
                                        <p:cTn id="35" dur="1000"/>
                                        <p:tgtEl>
                                          <p:spTgt spid="57">
                                            <p:txEl>
                                              <p:pRg st="4" end="4"/>
                                            </p:txEl>
                                          </p:spTgt>
                                        </p:tgtEl>
                                      </p:cBhvr>
                                    </p:animEffect>
                                    <p:anim calcmode="lin" valueType="num">
                                      <p:cBhvr>
                                        <p:cTn id="36" dur="1000" fill="hold"/>
                                        <p:tgtEl>
                                          <p:spTgt spid="5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7">
                                            <p:txEl>
                                              <p:pRg st="5" end="5"/>
                                            </p:txEl>
                                          </p:spTgt>
                                        </p:tgtEl>
                                        <p:attrNameLst>
                                          <p:attrName>style.visibility</p:attrName>
                                        </p:attrNameLst>
                                      </p:cBhvr>
                                      <p:to>
                                        <p:strVal val="visible"/>
                                      </p:to>
                                    </p:set>
                                    <p:animEffect transition="in" filter="fade">
                                      <p:cBhvr>
                                        <p:cTn id="42" dur="1000"/>
                                        <p:tgtEl>
                                          <p:spTgt spid="57">
                                            <p:txEl>
                                              <p:pRg st="5" end="5"/>
                                            </p:txEl>
                                          </p:spTgt>
                                        </p:tgtEl>
                                      </p:cBhvr>
                                    </p:animEffect>
                                    <p:anim calcmode="lin" valueType="num">
                                      <p:cBhvr>
                                        <p:cTn id="43" dur="1000" fill="hold"/>
                                        <p:tgtEl>
                                          <p:spTgt spid="5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7">
                                            <p:txEl>
                                              <p:pRg st="6" end="6"/>
                                            </p:txEl>
                                          </p:spTgt>
                                        </p:tgtEl>
                                        <p:attrNameLst>
                                          <p:attrName>style.visibility</p:attrName>
                                        </p:attrNameLst>
                                      </p:cBhvr>
                                      <p:to>
                                        <p:strVal val="visible"/>
                                      </p:to>
                                    </p:set>
                                    <p:animEffect transition="in" filter="fade">
                                      <p:cBhvr>
                                        <p:cTn id="49" dur="1000"/>
                                        <p:tgtEl>
                                          <p:spTgt spid="57">
                                            <p:txEl>
                                              <p:pRg st="6" end="6"/>
                                            </p:txEl>
                                          </p:spTgt>
                                        </p:tgtEl>
                                      </p:cBhvr>
                                    </p:animEffect>
                                    <p:anim calcmode="lin" valueType="num">
                                      <p:cBhvr>
                                        <p:cTn id="50" dur="1000" fill="hold"/>
                                        <p:tgtEl>
                                          <p:spTgt spid="5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5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4219"/>
            <a:ext cx="8129015" cy="2365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k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2</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3</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4</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5</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6</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7}</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举例</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764598" y="3380822"/>
            <a:ext cx="7366000"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若连续多次发生冲突，表明可能有较多的站参与争用信道。</a:t>
            </a:r>
            <a:endParaRPr lang="en-US" altLang="zh-CN" b="1" dirty="0">
              <a:latin typeface="微软雅黑" panose="020B0503020204020204" pitchFamily="34" charset="-122"/>
              <a:ea typeface="微软雅黑" panose="020B0503020204020204" pitchFamily="34" charset="-122"/>
            </a:endParaRPr>
          </a:p>
          <a:p>
            <a:pPr>
              <a:lnSpc>
                <a:spcPts val="2600"/>
              </a:lnSpc>
            </a:pPr>
            <a:r>
              <a:rPr lang="zh-CN" altLang="en-US" b="1" dirty="0">
                <a:latin typeface="微软雅黑" panose="020B0503020204020204" pitchFamily="34" charset="-122"/>
                <a:ea typeface="微软雅黑" panose="020B0503020204020204" pitchFamily="34" charset="-122"/>
              </a:rPr>
              <a:t>上述退避算法可使重传需要推迟的平均时间随重传次数而增大（称为</a:t>
            </a:r>
            <a:r>
              <a:rPr lang="zh-CN" altLang="en-US" b="1" dirty="0">
                <a:solidFill>
                  <a:srgbClr val="0000FF"/>
                </a:solidFill>
                <a:latin typeface="微软雅黑" panose="020B0503020204020204" pitchFamily="34" charset="-122"/>
                <a:ea typeface="微软雅黑" panose="020B0503020204020204" pitchFamily="34" charset="-122"/>
              </a:rPr>
              <a:t>动态退避</a:t>
            </a:r>
            <a:r>
              <a:rPr lang="zh-CN" altLang="en-US" b="1" dirty="0">
                <a:latin typeface="微软雅黑" panose="020B0503020204020204" pitchFamily="34" charset="-122"/>
                <a:ea typeface="微软雅黑" panose="020B0503020204020204" pitchFamily="34" charset="-122"/>
              </a:rPr>
              <a:t>），因而减小发生碰撞的概率，有利于整个系统的稳定。</a:t>
            </a:r>
          </a:p>
        </p:txBody>
      </p:sp>
    </p:spTree>
    <p:extLst>
      <p:ext uri="{BB962C8B-B14F-4D97-AF65-F5344CB8AC3E}">
        <p14:creationId xmlns:p14="http://schemas.microsoft.com/office/powerpoint/2010/main" val="5599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Effect transition="in" filter="fade">
                                      <p:cBhvr>
                                        <p:cTn id="31" dur="1000"/>
                                        <p:tgtEl>
                                          <p:spTgt spid="7">
                                            <p:txEl>
                                              <p:pRg st="4" end="4"/>
                                            </p:txEl>
                                          </p:spTgt>
                                        </p:tgtEl>
                                      </p:cBhvr>
                                    </p:animEffect>
                                    <p:anim calcmode="lin" valueType="num">
                                      <p:cBhvr>
                                        <p:cTn id="3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animEffect transition="in" filter="fade">
                                      <p:cBhvr>
                                        <p:cTn id="36" dur="1000"/>
                                        <p:tgtEl>
                                          <p:spTgt spid="7">
                                            <p:txEl>
                                              <p:pRg st="5" end="5"/>
                                            </p:txEl>
                                          </p:spTgt>
                                        </p:tgtEl>
                                      </p:cBhvr>
                                    </p:animEffect>
                                    <p:anim calcmode="lin" valueType="num">
                                      <p:cBhvr>
                                        <p:cTn id="37"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1328"/>
            <a:ext cx="8302751" cy="871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以太网的</a:t>
            </a: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
        <p:nvSpPr>
          <p:cNvPr id="9" name="AutoShape 5"/>
          <p:cNvSpPr>
            <a:spLocks noChangeArrowheads="1"/>
          </p:cNvSpPr>
          <p:nvPr/>
        </p:nvSpPr>
        <p:spPr bwMode="auto">
          <a:xfrm>
            <a:off x="502921" y="6227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448818" y="599614"/>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争用期</a:t>
            </a:r>
            <a:r>
              <a:rPr lang="zh-CN" altLang="en-US" sz="2000" b="1" dirty="0">
                <a:solidFill>
                  <a:schemeClr val="bg1"/>
                </a:solidFill>
                <a:latin typeface="微软雅黑" pitchFamily="34" charset="-122"/>
                <a:ea typeface="微软雅黑" pitchFamily="34" charset="-122"/>
              </a:rPr>
              <a:t>和</a:t>
            </a:r>
            <a:r>
              <a:rPr lang="zh-CN" altLang="en-US" sz="2000" b="1" dirty="0">
                <a:solidFill>
                  <a:srgbClr val="FFFF00"/>
                </a:solidFill>
                <a:latin typeface="微软雅黑" pitchFamily="34" charset="-122"/>
                <a:ea typeface="微软雅黑" pitchFamily="34" charset="-122"/>
              </a:rPr>
              <a:t>最短帧长</a:t>
            </a:r>
            <a:endParaRPr lang="fr-FR" altLang="zh-CN" sz="2000" b="1" dirty="0">
              <a:solidFill>
                <a:srgbClr val="FFFF00"/>
              </a:solidFill>
              <a:latin typeface="微软雅黑" pitchFamily="34" charset="-122"/>
              <a:ea typeface="微软雅黑" pitchFamily="34" charset="-122"/>
            </a:endParaRPr>
          </a:p>
        </p:txBody>
      </p:sp>
      <p:sp>
        <p:nvSpPr>
          <p:cNvPr id="11" name="对角圆角矩形 10"/>
          <p:cNvSpPr/>
          <p:nvPr/>
        </p:nvSpPr>
        <p:spPr>
          <a:xfrm>
            <a:off x="770776" y="1943146"/>
            <a:ext cx="7754384" cy="22141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4208" y="2033039"/>
            <a:ext cx="7429356" cy="1980799"/>
          </a:xfrm>
          <a:prstGeom prst="rect">
            <a:avLst/>
          </a:prstGeom>
        </p:spPr>
        <p:txBody>
          <a:bodyPr wrap="square">
            <a:spAutoFit/>
          </a:bodyPr>
          <a:lstStyle/>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以太网在发送数据时，若前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字节没有发生冲突，则后续的数据就</a:t>
            </a:r>
            <a:r>
              <a:rPr lang="zh-CN" altLang="en-US" sz="2000" b="1" dirty="0">
                <a:solidFill>
                  <a:srgbClr val="FFFF00"/>
                </a:solidFill>
                <a:latin typeface="微软雅黑" pitchFamily="34" charset="-122"/>
                <a:ea typeface="微软雅黑" pitchFamily="34" charset="-122"/>
              </a:rPr>
              <a:t>不会</a:t>
            </a:r>
            <a:r>
              <a:rPr lang="zh-CN" altLang="en-US" sz="2000" b="1" dirty="0">
                <a:solidFill>
                  <a:schemeClr val="bg1"/>
                </a:solidFill>
                <a:latin typeface="微软雅黑" pitchFamily="34" charset="-122"/>
                <a:ea typeface="微软雅黑" pitchFamily="34" charset="-122"/>
              </a:rPr>
              <a:t>发生冲突。</a:t>
            </a:r>
            <a:endParaRPr lang="en-US" altLang="zh-CN" sz="2000" b="1" dirty="0">
              <a:solidFill>
                <a:schemeClr val="bg1"/>
              </a:solidFill>
              <a:latin typeface="微软雅黑" pitchFamily="34" charset="-122"/>
              <a:ea typeface="微软雅黑" pitchFamily="34" charset="-122"/>
            </a:endParaRP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为保证在发送数据时能检测到所有可能的冲突，以太网规定了</a:t>
            </a:r>
            <a:r>
              <a:rPr lang="zh-CN" altLang="en-US" sz="2000" b="1" dirty="0">
                <a:solidFill>
                  <a:srgbClr val="FFFF00"/>
                </a:solidFill>
                <a:latin typeface="微软雅黑" pitchFamily="34" charset="-122"/>
                <a:ea typeface="微软雅黑" pitchFamily="34" charset="-122"/>
              </a:rPr>
              <a:t>最短有效帧长为 </a:t>
            </a:r>
            <a:r>
              <a:rPr lang="en-US" altLang="zh-CN" sz="2000" b="1" dirty="0">
                <a:solidFill>
                  <a:srgbClr val="FFFF00"/>
                </a:solidFill>
                <a:latin typeface="微软雅黑" pitchFamily="34" charset="-122"/>
                <a:ea typeface="微软雅黑" pitchFamily="34" charset="-122"/>
              </a:rPr>
              <a:t>64 </a:t>
            </a:r>
            <a:r>
              <a:rPr lang="zh-CN" altLang="en-US" sz="2000" b="1" dirty="0">
                <a:solidFill>
                  <a:srgbClr val="FFFF00"/>
                </a:solidFill>
                <a:latin typeface="微软雅黑" pitchFamily="34" charset="-122"/>
                <a:ea typeface="微软雅黑" pitchFamily="34" charset="-122"/>
              </a:rPr>
              <a:t>字节。</a:t>
            </a:r>
            <a:r>
              <a:rPr lang="zh-CN" altLang="en-US" sz="2000" b="1" dirty="0">
                <a:solidFill>
                  <a:schemeClr val="bg1"/>
                </a:solidFill>
                <a:latin typeface="微软雅黑" pitchFamily="34" charset="-122"/>
                <a:ea typeface="微软雅黑" pitchFamily="34" charset="-122"/>
              </a:rPr>
              <a:t>凡长度小于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字节的帧都是由于冲突而异常中止的无效帧，应当立即将其丢弃。</a:t>
            </a:r>
          </a:p>
        </p:txBody>
      </p:sp>
    </p:spTree>
    <p:extLst>
      <p:ext uri="{BB962C8B-B14F-4D97-AF65-F5344CB8AC3E}">
        <p14:creationId xmlns:p14="http://schemas.microsoft.com/office/powerpoint/2010/main" val="4727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fade">
                                      <p:cBhvr>
                                        <p:cTn id="26" dur="1000"/>
                                        <p:tgtEl>
                                          <p:spTgt spid="12">
                                            <p:txEl>
                                              <p:pRg st="0" end="0"/>
                                            </p:txEl>
                                          </p:spTgt>
                                        </p:tgtEl>
                                      </p:cBhvr>
                                    </p:animEffect>
                                    <p:anim calcmode="lin" valueType="num">
                                      <p:cBhvr>
                                        <p:cTn id="27"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animEffect transition="in" filter="fade">
                                      <p:cBhvr>
                                        <p:cTn id="33" dur="1000"/>
                                        <p:tgtEl>
                                          <p:spTgt spid="12">
                                            <p:txEl>
                                              <p:pRg st="1" end="1"/>
                                            </p:txEl>
                                          </p:spTgt>
                                        </p:tgtEl>
                                      </p:cBhvr>
                                    </p:animEffect>
                                    <p:anim calcmode="lin" valueType="num">
                                      <p:cBhvr>
                                        <p:cTn id="34"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11" grpId="0" animBg="1"/>
      <p:bldP spid="12"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AutoShape 5"/>
          <p:cNvSpPr>
            <a:spLocks noChangeArrowheads="1"/>
          </p:cNvSpPr>
          <p:nvPr/>
        </p:nvSpPr>
        <p:spPr bwMode="auto">
          <a:xfrm>
            <a:off x="502921" y="62076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Rectangle 6"/>
          <p:cNvSpPr>
            <a:spLocks noChangeArrowheads="1"/>
          </p:cNvSpPr>
          <p:nvPr/>
        </p:nvSpPr>
        <p:spPr bwMode="auto">
          <a:xfrm>
            <a:off x="3064098" y="59767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争用期</a:t>
            </a:r>
            <a:r>
              <a:rPr lang="zh-CN" altLang="en-US" sz="2000" b="1" dirty="0">
                <a:solidFill>
                  <a:schemeClr val="bg1"/>
                </a:solidFill>
                <a:latin typeface="微软雅黑" pitchFamily="34" charset="-122"/>
                <a:ea typeface="微软雅黑" pitchFamily="34" charset="-122"/>
              </a:rPr>
              <a:t>与</a:t>
            </a:r>
            <a:r>
              <a:rPr lang="zh-CN" altLang="en-US" sz="2000" b="1" dirty="0">
                <a:solidFill>
                  <a:srgbClr val="FFFF00"/>
                </a:solidFill>
                <a:latin typeface="微软雅黑" pitchFamily="34" charset="-122"/>
                <a:ea typeface="微软雅黑" pitchFamily="34" charset="-122"/>
              </a:rPr>
              <a:t>最大端到端长度</a:t>
            </a:r>
            <a:endParaRPr lang="fr-FR" altLang="zh-CN" sz="2000" b="1" dirty="0">
              <a:solidFill>
                <a:srgbClr val="FFFF00"/>
              </a:solidFill>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C9327DC9-6176-F9DC-7FA4-3FC3298BBF7C}"/>
              </a:ext>
            </a:extLst>
          </p:cNvPr>
          <p:cNvGrpSpPr/>
          <p:nvPr/>
        </p:nvGrpSpPr>
        <p:grpSpPr>
          <a:xfrm>
            <a:off x="777104" y="1940119"/>
            <a:ext cx="7714890" cy="1137037"/>
            <a:chOff x="777104" y="1940119"/>
            <a:chExt cx="7714890" cy="1137037"/>
          </a:xfrm>
        </p:grpSpPr>
        <p:sp>
          <p:nvSpPr>
            <p:cNvPr id="7" name="对角圆角矩形 6"/>
            <p:cNvSpPr/>
            <p:nvPr/>
          </p:nvSpPr>
          <p:spPr>
            <a:xfrm>
              <a:off x="777104" y="1940119"/>
              <a:ext cx="7714890" cy="11370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925392" y="2057761"/>
              <a:ext cx="7566602" cy="861774"/>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以太网最大端到端单程时延</a:t>
              </a:r>
              <a:r>
                <a:rPr lang="zh-CN" altLang="en-US" sz="2000" b="1" dirty="0">
                  <a:solidFill>
                    <a:srgbClr val="FFFF00"/>
                  </a:solidFill>
                  <a:latin typeface="微软雅黑" pitchFamily="34" charset="-122"/>
                  <a:ea typeface="微软雅黑" pitchFamily="34" charset="-122"/>
                </a:rPr>
                <a:t>必须小于</a:t>
              </a:r>
              <a:r>
                <a:rPr lang="zh-CN" altLang="en-US" sz="2000" b="1" dirty="0">
                  <a:solidFill>
                    <a:schemeClr val="bg1"/>
                  </a:solidFill>
                  <a:latin typeface="微软雅黑" pitchFamily="34" charset="-122"/>
                  <a:ea typeface="微软雅黑" pitchFamily="34" charset="-122"/>
                </a:rPr>
                <a:t>争用期的一半 </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即 </a:t>
              </a:r>
              <a:r>
                <a:rPr lang="en-US" altLang="zh-CN" sz="2000" b="1" dirty="0">
                  <a:solidFill>
                    <a:schemeClr val="bg1"/>
                  </a:solidFill>
                  <a:latin typeface="微软雅黑" pitchFamily="34" charset="-122"/>
                  <a:ea typeface="微软雅黑" pitchFamily="34" charset="-122"/>
                </a:rPr>
                <a:t>25.6 </a:t>
              </a:r>
              <a:r>
                <a:rPr lang="en-US" altLang="zh-CN" sz="2000" b="1" dirty="0" err="1">
                  <a:solidFill>
                    <a:schemeClr val="bg1"/>
                  </a:solidFill>
                  <a:latin typeface="微软雅黑" pitchFamily="34" charset="-122"/>
                  <a:ea typeface="微软雅黑" pitchFamily="34" charset="-122"/>
                </a:rPr>
                <a:t>μs</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，相当于以太网的</a:t>
              </a:r>
              <a:r>
                <a:rPr lang="zh-CN" altLang="en-US" sz="2000" b="1" dirty="0">
                  <a:solidFill>
                    <a:srgbClr val="FFFF00"/>
                  </a:solidFill>
                  <a:latin typeface="微软雅黑" pitchFamily="34" charset="-122"/>
                  <a:ea typeface="微软雅黑" pitchFamily="34" charset="-122"/>
                </a:rPr>
                <a:t>最大</a:t>
              </a:r>
              <a:r>
                <a:rPr lang="zh-CN" altLang="en-US" sz="2000" b="1" dirty="0">
                  <a:solidFill>
                    <a:schemeClr val="bg1"/>
                  </a:solidFill>
                  <a:latin typeface="微软雅黑" pitchFamily="34" charset="-122"/>
                  <a:ea typeface="微软雅黑" pitchFamily="34" charset="-122"/>
                </a:rPr>
                <a:t>端到端长度约为 </a:t>
              </a:r>
              <a:r>
                <a:rPr lang="en-US" altLang="zh-CN" sz="2000" b="1" dirty="0">
                  <a:solidFill>
                    <a:srgbClr val="FFFF00"/>
                  </a:solidFill>
                  <a:latin typeface="微软雅黑" pitchFamily="34" charset="-122"/>
                  <a:ea typeface="微软雅黑" pitchFamily="34" charset="-122"/>
                </a:rPr>
                <a:t>5 km</a:t>
              </a:r>
              <a:r>
                <a:rPr lang="zh-CN" altLang="en-US" sz="2000" b="1" dirty="0">
                  <a:solidFill>
                    <a:schemeClr val="bg1"/>
                  </a:solidFill>
                  <a:latin typeface="微软雅黑" pitchFamily="34" charset="-122"/>
                  <a:ea typeface="微软雅黑" pitchFamily="34" charset="-122"/>
                </a:rPr>
                <a:t>。</a:t>
              </a:r>
            </a:p>
          </p:txBody>
        </p:sp>
      </p:grpSp>
      <p:sp>
        <p:nvSpPr>
          <p:cNvPr id="6" name="Rectangle 46"/>
          <p:cNvSpPr>
            <a:spLocks noChangeArrowheads="1"/>
          </p:cNvSpPr>
          <p:nvPr/>
        </p:nvSpPr>
        <p:spPr bwMode="auto">
          <a:xfrm>
            <a:off x="502921" y="981328"/>
            <a:ext cx="8302751" cy="871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以太网的</a:t>
            </a: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Tree>
    <p:extLst>
      <p:ext uri="{BB962C8B-B14F-4D97-AF65-F5344CB8AC3E}">
        <p14:creationId xmlns:p14="http://schemas.microsoft.com/office/powerpoint/2010/main" val="2454251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7" y="59979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强化碰撞：人为干扰信号</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64859"/>
            <a:ext cx="8129014" cy="22951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2" name="对角圆角矩形 11"/>
          <p:cNvSpPr/>
          <p:nvPr/>
        </p:nvSpPr>
        <p:spPr>
          <a:xfrm>
            <a:off x="1055008" y="3407767"/>
            <a:ext cx="6978535" cy="11541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201942" y="3489679"/>
            <a:ext cx="6591455"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发送站检测到冲突后，立即停止发送数据帧，接着就发送 </a:t>
            </a:r>
            <a:r>
              <a:rPr lang="en-US" altLang="zh-CN" b="1" dirty="0">
                <a:solidFill>
                  <a:schemeClr val="bg1"/>
                </a:solidFill>
                <a:latin typeface="微软雅黑" pitchFamily="34" charset="-122"/>
                <a:ea typeface="微软雅黑" pitchFamily="34" charset="-122"/>
              </a:rPr>
              <a:t>32 </a:t>
            </a:r>
            <a:r>
              <a:rPr lang="zh-CN" altLang="en-US" b="1" dirty="0">
                <a:solidFill>
                  <a:schemeClr val="bg1"/>
                </a:solidFill>
                <a:latin typeface="微软雅黑" pitchFamily="34" charset="-122"/>
                <a:ea typeface="微软雅黑" pitchFamily="34" charset="-122"/>
              </a:rPr>
              <a:t>或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比特的</a:t>
            </a:r>
            <a:r>
              <a:rPr lang="zh-CN" altLang="en-US" b="1" dirty="0">
                <a:solidFill>
                  <a:srgbClr val="FFFF00"/>
                </a:solidFill>
                <a:latin typeface="微软雅黑" pitchFamily="34" charset="-122"/>
                <a:ea typeface="微软雅黑" pitchFamily="34" charset="-122"/>
              </a:rPr>
              <a:t>人为干扰信号</a:t>
            </a:r>
            <a:r>
              <a:rPr lang="zh-CN" altLang="en-US" b="1" dirty="0">
                <a:solidFill>
                  <a:srgbClr val="FF9900"/>
                </a:solidFill>
                <a:latin typeface="微软雅黑" pitchFamily="34" charset="-122"/>
                <a:ea typeface="微软雅黑" pitchFamily="34" charset="-122"/>
              </a:rPr>
              <a:t> </a:t>
            </a:r>
            <a:r>
              <a:rPr lang="en-US" altLang="zh-CN" b="1" dirty="0">
                <a:solidFill>
                  <a:schemeClr val="bg1"/>
                </a:solidFill>
                <a:latin typeface="微软雅黑" pitchFamily="34" charset="-122"/>
                <a:ea typeface="微软雅黑" pitchFamily="34" charset="-122"/>
              </a:rPr>
              <a:t>(jamming signal) </a:t>
            </a:r>
            <a:r>
              <a:rPr lang="zh-CN" altLang="en-US" b="1" dirty="0">
                <a:solidFill>
                  <a:schemeClr val="bg1"/>
                </a:solidFill>
                <a:latin typeface="微软雅黑" pitchFamily="34" charset="-122"/>
                <a:ea typeface="微软雅黑" pitchFamily="34" charset="-122"/>
              </a:rPr>
              <a:t>。</a:t>
            </a:r>
            <a:endParaRPr lang="en-US" altLang="zh-CN" b="1" dirty="0">
              <a:solidFill>
                <a:schemeClr val="bg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以太网还规定了帧间最小间隔为 </a:t>
            </a:r>
            <a:r>
              <a:rPr lang="en-US" altLang="zh-CN" b="1" dirty="0">
                <a:solidFill>
                  <a:schemeClr val="bg1"/>
                </a:solidFill>
                <a:latin typeface="微软雅黑" pitchFamily="34" charset="-122"/>
                <a:ea typeface="微软雅黑" pitchFamily="34" charset="-122"/>
              </a:rPr>
              <a:t>9.6 </a:t>
            </a:r>
            <a:r>
              <a:rPr lang="el-GR" altLang="zh-CN" b="1" dirty="0">
                <a:solidFill>
                  <a:schemeClr val="bg1"/>
                </a:solidFill>
                <a:latin typeface="微软雅黑" pitchFamily="34" charset="-122"/>
                <a:ea typeface="微软雅黑" pitchFamily="34" charset="-122"/>
              </a:rPr>
              <a:t>μ</a:t>
            </a:r>
            <a:r>
              <a:rPr lang="en-US" altLang="zh-CN" b="1" dirty="0">
                <a:solidFill>
                  <a:schemeClr val="bg1"/>
                </a:solidFill>
                <a:latin typeface="微软雅黑" pitchFamily="34" charset="-122"/>
                <a:ea typeface="微软雅黑" pitchFamily="34" charset="-122"/>
              </a:rPr>
              <a:t>s</a:t>
            </a:r>
            <a:r>
              <a:rPr lang="zh-CN" altLang="en-US" b="1" dirty="0">
                <a:solidFill>
                  <a:schemeClr val="bg1"/>
                </a:solidFill>
                <a:latin typeface="微软雅黑" pitchFamily="34" charset="-122"/>
                <a:ea typeface="微软雅黑" pitchFamily="34" charset="-122"/>
              </a:rPr>
              <a:t>。</a:t>
            </a:r>
          </a:p>
        </p:txBody>
      </p:sp>
      <p:grpSp>
        <p:nvGrpSpPr>
          <p:cNvPr id="14" name="Group 5"/>
          <p:cNvGrpSpPr>
            <a:grpSpLocks/>
          </p:cNvGrpSpPr>
          <p:nvPr/>
        </p:nvGrpSpPr>
        <p:grpSpPr bwMode="auto">
          <a:xfrm>
            <a:off x="2894807" y="1518593"/>
            <a:ext cx="3300674" cy="1317548"/>
            <a:chOff x="992" y="1619"/>
            <a:chExt cx="3804" cy="1645"/>
          </a:xfrm>
        </p:grpSpPr>
        <p:sp>
          <p:nvSpPr>
            <p:cNvPr id="15" name="AutoShape 6"/>
            <p:cNvSpPr>
              <a:spLocks noChangeArrowheads="1"/>
            </p:cNvSpPr>
            <p:nvPr/>
          </p:nvSpPr>
          <p:spPr bwMode="auto">
            <a:xfrm rot="5400000">
              <a:off x="2071" y="540"/>
              <a:ext cx="1645" cy="3804"/>
            </a:xfrm>
            <a:prstGeom prst="parallelogram">
              <a:avLst>
                <a:gd name="adj" fmla="val 37968"/>
              </a:avLst>
            </a:prstGeom>
            <a:solidFill>
              <a:srgbClr val="00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16" name="AutoShape 7"/>
            <p:cNvSpPr>
              <a:spLocks noChangeArrowheads="1"/>
            </p:cNvSpPr>
            <p:nvPr/>
          </p:nvSpPr>
          <p:spPr bwMode="auto">
            <a:xfrm rot="601221">
              <a:off x="2212" y="2087"/>
              <a:ext cx="1066" cy="424"/>
            </a:xfrm>
            <a:prstGeom prst="rightArrow">
              <a:avLst>
                <a:gd name="adj1" fmla="val 49370"/>
                <a:gd name="adj2" fmla="val 80790"/>
              </a:avLst>
            </a:prstGeom>
            <a:solidFill>
              <a:srgbClr val="00FFFF"/>
            </a:solidFill>
            <a:ln w="12700">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sz="1050" b="1" dirty="0">
                  <a:solidFill>
                    <a:srgbClr val="0000CC"/>
                  </a:solidFill>
                  <a:latin typeface="微软雅黑" pitchFamily="34" charset="-122"/>
                  <a:ea typeface="微软雅黑" pitchFamily="34" charset="-122"/>
                </a:rPr>
                <a:t>数据帧</a:t>
              </a:r>
            </a:p>
          </p:txBody>
        </p:sp>
      </p:grpSp>
      <p:grpSp>
        <p:nvGrpSpPr>
          <p:cNvPr id="17" name="Group 8"/>
          <p:cNvGrpSpPr>
            <a:grpSpLocks/>
          </p:cNvGrpSpPr>
          <p:nvPr/>
        </p:nvGrpSpPr>
        <p:grpSpPr bwMode="auto">
          <a:xfrm>
            <a:off x="2500010" y="2315529"/>
            <a:ext cx="3695471" cy="873026"/>
            <a:chOff x="537" y="2606"/>
            <a:chExt cx="4259" cy="1090"/>
          </a:xfrm>
        </p:grpSpPr>
        <p:grpSp>
          <p:nvGrpSpPr>
            <p:cNvPr id="18" name="Group 9"/>
            <p:cNvGrpSpPr>
              <a:grpSpLocks/>
            </p:cNvGrpSpPr>
            <p:nvPr/>
          </p:nvGrpSpPr>
          <p:grpSpPr bwMode="auto">
            <a:xfrm>
              <a:off x="992" y="2627"/>
              <a:ext cx="3804" cy="1061"/>
              <a:chOff x="992" y="2627"/>
              <a:chExt cx="3804" cy="1061"/>
            </a:xfrm>
          </p:grpSpPr>
          <p:grpSp>
            <p:nvGrpSpPr>
              <p:cNvPr id="26" name="Group 10"/>
              <p:cNvGrpSpPr>
                <a:grpSpLocks/>
              </p:cNvGrpSpPr>
              <p:nvPr/>
            </p:nvGrpSpPr>
            <p:grpSpPr bwMode="auto">
              <a:xfrm>
                <a:off x="992" y="2627"/>
                <a:ext cx="3804" cy="1061"/>
                <a:chOff x="992" y="2627"/>
                <a:chExt cx="3804" cy="1061"/>
              </a:xfrm>
            </p:grpSpPr>
            <p:sp>
              <p:nvSpPr>
                <p:cNvPr id="28" name="AutoShape 11"/>
                <p:cNvSpPr>
                  <a:spLocks noChangeArrowheads="1"/>
                </p:cNvSpPr>
                <p:nvPr/>
              </p:nvSpPr>
              <p:spPr bwMode="auto">
                <a:xfrm rot="5400000">
                  <a:off x="2363" y="1256"/>
                  <a:ext cx="1061" cy="3804"/>
                </a:xfrm>
                <a:prstGeom prst="parallelogram">
                  <a:avLst>
                    <a:gd name="adj" fmla="val 59685"/>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9" name="AutoShape 12"/>
                <p:cNvSpPr>
                  <a:spLocks noChangeArrowheads="1"/>
                </p:cNvSpPr>
                <p:nvPr/>
              </p:nvSpPr>
              <p:spPr bwMode="auto">
                <a:xfrm rot="601221">
                  <a:off x="1981" y="2954"/>
                  <a:ext cx="2034" cy="426"/>
                </a:xfrm>
                <a:prstGeom prst="rightArrow">
                  <a:avLst>
                    <a:gd name="adj1" fmla="val 49370"/>
                    <a:gd name="adj2" fmla="val 119013"/>
                  </a:avLst>
                </a:prstGeom>
                <a:solidFill>
                  <a:srgbClr val="00FFFF"/>
                </a:solidFill>
                <a:ln w="12700" cmpd="dbl">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27" name="Text Box 13"/>
              <p:cNvSpPr txBox="1">
                <a:spLocks noChangeArrowheads="1"/>
              </p:cNvSpPr>
              <p:nvPr/>
            </p:nvSpPr>
            <p:spPr bwMode="auto">
              <a:xfrm rot="595815">
                <a:off x="1982" y="2993"/>
                <a:ext cx="182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050" b="1" dirty="0">
                    <a:solidFill>
                      <a:srgbClr val="0000CC"/>
                    </a:solidFill>
                    <a:latin typeface="微软雅黑" pitchFamily="34" charset="-122"/>
                    <a:ea typeface="微软雅黑" pitchFamily="34" charset="-122"/>
                  </a:rPr>
                  <a:t>32 </a:t>
                </a:r>
                <a:r>
                  <a:rPr kumimoji="1" lang="zh-CN" altLang="en-US" sz="1050" b="1" dirty="0">
                    <a:solidFill>
                      <a:srgbClr val="0000CC"/>
                    </a:solidFill>
                    <a:latin typeface="微软雅黑" pitchFamily="34" charset="-122"/>
                    <a:ea typeface="微软雅黑" pitchFamily="34" charset="-122"/>
                  </a:rPr>
                  <a:t>或 </a:t>
                </a:r>
                <a:r>
                  <a:rPr kumimoji="1" lang="en-US" altLang="zh-CN" sz="1050" b="1" dirty="0">
                    <a:solidFill>
                      <a:srgbClr val="0000CC"/>
                    </a:solidFill>
                    <a:latin typeface="微软雅黑" pitchFamily="34" charset="-122"/>
                    <a:ea typeface="微软雅黑" pitchFamily="34" charset="-122"/>
                  </a:rPr>
                  <a:t>48 </a:t>
                </a:r>
                <a:r>
                  <a:rPr kumimoji="1" lang="zh-CN" altLang="en-US" sz="1050" b="1" dirty="0">
                    <a:solidFill>
                      <a:srgbClr val="0000CC"/>
                    </a:solidFill>
                    <a:latin typeface="微软雅黑" pitchFamily="34" charset="-122"/>
                    <a:ea typeface="微软雅黑" pitchFamily="34" charset="-122"/>
                  </a:rPr>
                  <a:t>比特干扰信号</a:t>
                </a:r>
              </a:p>
            </p:txBody>
          </p:sp>
        </p:grpSp>
        <p:grpSp>
          <p:nvGrpSpPr>
            <p:cNvPr id="19" name="Group 14"/>
            <p:cNvGrpSpPr>
              <a:grpSpLocks/>
            </p:cNvGrpSpPr>
            <p:nvPr/>
          </p:nvGrpSpPr>
          <p:grpSpPr bwMode="auto">
            <a:xfrm>
              <a:off x="537" y="2606"/>
              <a:ext cx="455" cy="1090"/>
              <a:chOff x="537" y="2606"/>
              <a:chExt cx="455" cy="1090"/>
            </a:xfrm>
          </p:grpSpPr>
          <p:sp>
            <p:nvSpPr>
              <p:cNvPr id="20" name="Line 15"/>
              <p:cNvSpPr>
                <a:spLocks noChangeShapeType="1"/>
              </p:cNvSpPr>
              <p:nvPr/>
            </p:nvSpPr>
            <p:spPr bwMode="auto">
              <a:xfrm>
                <a:off x="823" y="3057"/>
                <a:ext cx="0" cy="639"/>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1" name="Line 16"/>
              <p:cNvSpPr>
                <a:spLocks noChangeShapeType="1"/>
              </p:cNvSpPr>
              <p:nvPr/>
            </p:nvSpPr>
            <p:spPr bwMode="auto">
              <a:xfrm>
                <a:off x="814" y="2606"/>
                <a:ext cx="9" cy="44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2" name="Rectangle 17"/>
              <p:cNvSpPr>
                <a:spLocks noChangeArrowheads="1"/>
              </p:cNvSpPr>
              <p:nvPr/>
            </p:nvSpPr>
            <p:spPr bwMode="auto">
              <a:xfrm>
                <a:off x="592" y="3259"/>
                <a:ext cx="283" cy="323"/>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mn-lt"/>
                    <a:ea typeface="黑体" pitchFamily="2" charset="-122"/>
                    <a:sym typeface="Symbol" pitchFamily="18" charset="2"/>
                  </a:rPr>
                  <a:t></a:t>
                </a:r>
              </a:p>
            </p:txBody>
          </p:sp>
          <p:sp>
            <p:nvSpPr>
              <p:cNvPr id="23"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4"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5" name="Text Box 20"/>
              <p:cNvSpPr txBox="1">
                <a:spLocks noChangeArrowheads="1"/>
              </p:cNvSpPr>
              <p:nvPr/>
            </p:nvSpPr>
            <p:spPr bwMode="auto">
              <a:xfrm>
                <a:off x="537" y="2722"/>
                <a:ext cx="329" cy="327"/>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a:latin typeface="+mn-lt"/>
                    <a:ea typeface="黑体" pitchFamily="2" charset="-122"/>
                  </a:rPr>
                  <a:t>T</a:t>
                </a:r>
                <a:r>
                  <a:rPr kumimoji="1" lang="en-US" altLang="zh-CN" sz="1100" b="1" i="1" baseline="-25000">
                    <a:latin typeface="+mn-lt"/>
                    <a:ea typeface="黑体" pitchFamily="2" charset="-122"/>
                  </a:rPr>
                  <a:t>J</a:t>
                </a:r>
                <a:endParaRPr kumimoji="1" lang="en-US" altLang="zh-CN" sz="1100" b="1">
                  <a:latin typeface="+mn-lt"/>
                  <a:ea typeface="黑体" pitchFamily="2" charset="-122"/>
                </a:endParaRPr>
              </a:p>
            </p:txBody>
          </p:sp>
        </p:grpSp>
      </p:grpSp>
      <p:sp>
        <p:nvSpPr>
          <p:cNvPr id="30" name="Line 22"/>
          <p:cNvSpPr>
            <a:spLocks noChangeShapeType="1"/>
          </p:cNvSpPr>
          <p:nvPr/>
        </p:nvSpPr>
        <p:spPr bwMode="auto">
          <a:xfrm>
            <a:off x="2902614" y="1518593"/>
            <a:ext cx="3291132" cy="0"/>
          </a:xfrm>
          <a:prstGeom prst="line">
            <a:avLst/>
          </a:prstGeom>
          <a:ln w="19050">
            <a:solidFill>
              <a:srgbClr val="0000FF"/>
            </a:solidFill>
            <a:headEnd/>
            <a:tailEnd/>
          </a:ln>
        </p:spPr>
        <p:style>
          <a:lnRef idx="1">
            <a:schemeClr val="dk1"/>
          </a:lnRef>
          <a:fillRef idx="0">
            <a:schemeClr val="dk1"/>
          </a:fillRef>
          <a:effectRef idx="0">
            <a:schemeClr val="dk1"/>
          </a:effectRef>
          <a:fontRef idx="minor">
            <a:schemeClr val="tx1"/>
          </a:fontRef>
        </p:style>
        <p:txBody>
          <a:bodyPr wrap="none" anchor="ctr"/>
          <a:lstStyle/>
          <a:p>
            <a:endParaRPr lang="zh-CN" altLang="en-US" sz="1200" b="1">
              <a:solidFill>
                <a:srgbClr val="0000CC"/>
              </a:solidFill>
              <a:latin typeface="+mn-lt"/>
              <a:ea typeface="黑体" pitchFamily="2" charset="-122"/>
            </a:endParaRPr>
          </a:p>
        </p:txBody>
      </p:sp>
      <p:sp>
        <p:nvSpPr>
          <p:cNvPr id="31" name="Line 23"/>
          <p:cNvSpPr>
            <a:spLocks noChangeShapeType="1"/>
          </p:cNvSpPr>
          <p:nvPr/>
        </p:nvSpPr>
        <p:spPr bwMode="auto">
          <a:xfrm>
            <a:off x="2894804" y="1522598"/>
            <a:ext cx="0" cy="17332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2" name="Line 24"/>
          <p:cNvSpPr>
            <a:spLocks noChangeShapeType="1"/>
          </p:cNvSpPr>
          <p:nvPr/>
        </p:nvSpPr>
        <p:spPr bwMode="auto">
          <a:xfrm>
            <a:off x="6221512" y="1518593"/>
            <a:ext cx="51540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3" name="Line 25"/>
          <p:cNvSpPr>
            <a:spLocks noChangeShapeType="1"/>
          </p:cNvSpPr>
          <p:nvPr/>
        </p:nvSpPr>
        <p:spPr bwMode="auto">
          <a:xfrm>
            <a:off x="6221512" y="2028792"/>
            <a:ext cx="2195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4" name="Line 26"/>
          <p:cNvSpPr>
            <a:spLocks noChangeShapeType="1"/>
          </p:cNvSpPr>
          <p:nvPr/>
        </p:nvSpPr>
        <p:spPr bwMode="auto">
          <a:xfrm>
            <a:off x="6323898" y="1522598"/>
            <a:ext cx="0" cy="506195"/>
          </a:xfrm>
          <a:prstGeom prst="line">
            <a:avLst/>
          </a:prstGeom>
          <a:noFill/>
          <a:ln w="12700">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5" name="Rectangle 27"/>
          <p:cNvSpPr>
            <a:spLocks noChangeArrowheads="1"/>
          </p:cNvSpPr>
          <p:nvPr/>
        </p:nvSpPr>
        <p:spPr bwMode="auto">
          <a:xfrm>
            <a:off x="2690898" y="1297533"/>
            <a:ext cx="2757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FF"/>
                </a:solidFill>
                <a:latin typeface="+mn-lt"/>
                <a:ea typeface="黑体" pitchFamily="2" charset="-122"/>
              </a:rPr>
              <a:t>A</a:t>
            </a:r>
          </a:p>
        </p:txBody>
      </p:sp>
      <p:sp>
        <p:nvSpPr>
          <p:cNvPr id="36" name="Rectangle 28"/>
          <p:cNvSpPr>
            <a:spLocks noChangeArrowheads="1"/>
          </p:cNvSpPr>
          <p:nvPr/>
        </p:nvSpPr>
        <p:spPr bwMode="auto">
          <a:xfrm>
            <a:off x="6106977" y="1297533"/>
            <a:ext cx="26930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mn-lt"/>
                <a:ea typeface="黑体" pitchFamily="2" charset="-122"/>
              </a:rPr>
              <a:t>B</a:t>
            </a:r>
          </a:p>
        </p:txBody>
      </p:sp>
      <p:sp>
        <p:nvSpPr>
          <p:cNvPr id="37" name="Line 29"/>
          <p:cNvSpPr>
            <a:spLocks noChangeShapeType="1"/>
          </p:cNvSpPr>
          <p:nvPr/>
        </p:nvSpPr>
        <p:spPr bwMode="auto">
          <a:xfrm>
            <a:off x="2376429" y="1621915"/>
            <a:ext cx="0" cy="1171776"/>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8" name="Line 30"/>
          <p:cNvSpPr>
            <a:spLocks noChangeShapeType="1"/>
          </p:cNvSpPr>
          <p:nvPr/>
        </p:nvSpPr>
        <p:spPr bwMode="auto">
          <a:xfrm>
            <a:off x="6193745" y="1515390"/>
            <a:ext cx="0" cy="1744449"/>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9" name="Line 31"/>
          <p:cNvSpPr>
            <a:spLocks noChangeShapeType="1"/>
          </p:cNvSpPr>
          <p:nvPr/>
        </p:nvSpPr>
        <p:spPr bwMode="auto">
          <a:xfrm>
            <a:off x="2664628" y="229626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0" name="Line 32"/>
          <p:cNvSpPr>
            <a:spLocks noChangeShapeType="1"/>
          </p:cNvSpPr>
          <p:nvPr/>
        </p:nvSpPr>
        <p:spPr bwMode="auto">
          <a:xfrm>
            <a:off x="2636234" y="151859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1" name="Line 33"/>
          <p:cNvSpPr>
            <a:spLocks noChangeShapeType="1"/>
          </p:cNvSpPr>
          <p:nvPr/>
        </p:nvSpPr>
        <p:spPr bwMode="auto">
          <a:xfrm>
            <a:off x="2748166" y="1518593"/>
            <a:ext cx="0" cy="792131"/>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2" name="Text Box 36"/>
          <p:cNvSpPr txBox="1">
            <a:spLocks noChangeArrowheads="1"/>
          </p:cNvSpPr>
          <p:nvPr/>
        </p:nvSpPr>
        <p:spPr bwMode="auto">
          <a:xfrm>
            <a:off x="2511518" y="1754565"/>
            <a:ext cx="307710" cy="261259"/>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dirty="0">
                <a:latin typeface="+mn-lt"/>
                <a:ea typeface="黑体" pitchFamily="2" charset="-122"/>
              </a:rPr>
              <a:t>T</a:t>
            </a:r>
            <a:r>
              <a:rPr kumimoji="1" lang="en-US" altLang="zh-CN" sz="1100" b="1" i="1" baseline="-25000" dirty="0">
                <a:latin typeface="+mn-lt"/>
                <a:ea typeface="黑体" pitchFamily="2" charset="-122"/>
              </a:rPr>
              <a:t>B</a:t>
            </a:r>
            <a:endParaRPr kumimoji="1" lang="en-US" altLang="zh-CN" sz="1100" b="1" dirty="0">
              <a:latin typeface="+mn-lt"/>
              <a:ea typeface="黑体" pitchFamily="2" charset="-122"/>
            </a:endParaRPr>
          </a:p>
        </p:txBody>
      </p:sp>
      <p:sp>
        <p:nvSpPr>
          <p:cNvPr id="43" name="Text Box 37"/>
          <p:cNvSpPr txBox="1">
            <a:spLocks noChangeArrowheads="1"/>
          </p:cNvSpPr>
          <p:nvPr/>
        </p:nvSpPr>
        <p:spPr bwMode="auto">
          <a:xfrm>
            <a:off x="2264734" y="2778474"/>
            <a:ext cx="2375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i="1" dirty="0">
                <a:latin typeface="+mn-lt"/>
                <a:ea typeface="黑体" pitchFamily="2" charset="-122"/>
              </a:rPr>
              <a:t>t</a:t>
            </a:r>
          </a:p>
        </p:txBody>
      </p:sp>
      <p:sp>
        <p:nvSpPr>
          <p:cNvPr id="44" name="Line 38"/>
          <p:cNvSpPr>
            <a:spLocks noChangeShapeType="1"/>
          </p:cNvSpPr>
          <p:nvPr/>
        </p:nvSpPr>
        <p:spPr bwMode="auto">
          <a:xfrm>
            <a:off x="2950220" y="3182147"/>
            <a:ext cx="3307618" cy="0"/>
          </a:xfrm>
          <a:prstGeom prst="line">
            <a:avLst/>
          </a:prstGeom>
          <a:noFill/>
          <a:ln w="19050">
            <a:solidFill>
              <a:srgbClr val="0000FF"/>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5" name="Rectangle 39"/>
          <p:cNvSpPr>
            <a:spLocks noChangeArrowheads="1"/>
          </p:cNvSpPr>
          <p:nvPr/>
        </p:nvSpPr>
        <p:spPr bwMode="auto">
          <a:xfrm>
            <a:off x="6262175" y="1616212"/>
            <a:ext cx="250069" cy="27443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CC"/>
                </a:solidFill>
                <a:latin typeface="+mn-lt"/>
                <a:ea typeface="黑体" pitchFamily="2" charset="-122"/>
                <a:sym typeface="Symbol" pitchFamily="18" charset="2"/>
              </a:rPr>
              <a:t></a:t>
            </a:r>
          </a:p>
        </p:txBody>
      </p:sp>
      <p:sp>
        <p:nvSpPr>
          <p:cNvPr id="46" name="Line 54"/>
          <p:cNvSpPr>
            <a:spLocks noChangeShapeType="1"/>
          </p:cNvSpPr>
          <p:nvPr/>
        </p:nvSpPr>
        <p:spPr bwMode="auto">
          <a:xfrm>
            <a:off x="6292546" y="3182147"/>
            <a:ext cx="499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7" name="Line 55"/>
          <p:cNvSpPr>
            <a:spLocks noChangeShapeType="1"/>
          </p:cNvSpPr>
          <p:nvPr/>
        </p:nvSpPr>
        <p:spPr bwMode="auto">
          <a:xfrm>
            <a:off x="6578998" y="1507380"/>
            <a:ext cx="0" cy="166836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8" name="Text Box 56"/>
          <p:cNvSpPr txBox="1">
            <a:spLocks noChangeArrowheads="1"/>
          </p:cNvSpPr>
          <p:nvPr/>
        </p:nvSpPr>
        <p:spPr bwMode="auto">
          <a:xfrm>
            <a:off x="6520525" y="1810905"/>
            <a:ext cx="325730" cy="110799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100" b="1" dirty="0">
                <a:latin typeface="微软雅黑" pitchFamily="34" charset="-122"/>
                <a:ea typeface="微软雅黑" pitchFamily="34" charset="-122"/>
              </a:rPr>
              <a:t>信</a:t>
            </a:r>
          </a:p>
          <a:p>
            <a:pPr eaLnBrk="0" hangingPunct="0"/>
            <a:r>
              <a:rPr kumimoji="1" lang="zh-CN" altLang="en-US" sz="1100" b="1" dirty="0">
                <a:latin typeface="微软雅黑" pitchFamily="34" charset="-122"/>
                <a:ea typeface="微软雅黑" pitchFamily="34" charset="-122"/>
              </a:rPr>
              <a:t>道</a:t>
            </a:r>
          </a:p>
          <a:p>
            <a:pPr eaLnBrk="0" hangingPunct="0"/>
            <a:r>
              <a:rPr kumimoji="1" lang="zh-CN" altLang="en-US" sz="1100" b="1" dirty="0">
                <a:latin typeface="微软雅黑" pitchFamily="34" charset="-122"/>
                <a:ea typeface="微软雅黑" pitchFamily="34" charset="-122"/>
              </a:rPr>
              <a:t>占</a:t>
            </a:r>
          </a:p>
          <a:p>
            <a:pPr eaLnBrk="0" hangingPunct="0"/>
            <a:r>
              <a:rPr kumimoji="1" lang="zh-CN" altLang="en-US" sz="1100" b="1" dirty="0">
                <a:latin typeface="微软雅黑" pitchFamily="34" charset="-122"/>
                <a:ea typeface="微软雅黑" pitchFamily="34" charset="-122"/>
              </a:rPr>
              <a:t>用</a:t>
            </a:r>
          </a:p>
          <a:p>
            <a:pPr eaLnBrk="0" hangingPunct="0"/>
            <a:r>
              <a:rPr kumimoji="1" lang="zh-CN" altLang="en-US" sz="1100" b="1" dirty="0">
                <a:latin typeface="微软雅黑" pitchFamily="34" charset="-122"/>
                <a:ea typeface="微软雅黑" pitchFamily="34" charset="-122"/>
              </a:rPr>
              <a:t>时</a:t>
            </a:r>
          </a:p>
          <a:p>
            <a:pPr eaLnBrk="0" hangingPunct="0"/>
            <a:r>
              <a:rPr kumimoji="1" lang="zh-CN" altLang="en-US" sz="1100" b="1" dirty="0">
                <a:latin typeface="微软雅黑" pitchFamily="34" charset="-122"/>
                <a:ea typeface="微软雅黑" pitchFamily="34" charset="-122"/>
              </a:rPr>
              <a:t>间</a:t>
            </a:r>
          </a:p>
        </p:txBody>
      </p:sp>
      <p:grpSp>
        <p:nvGrpSpPr>
          <p:cNvPr id="49" name="Group 57"/>
          <p:cNvGrpSpPr>
            <a:grpSpLocks/>
          </p:cNvGrpSpPr>
          <p:nvPr/>
        </p:nvGrpSpPr>
        <p:grpSpPr bwMode="auto">
          <a:xfrm>
            <a:off x="2919100" y="1159777"/>
            <a:ext cx="1107169" cy="356420"/>
            <a:chOff x="1020" y="1171"/>
            <a:chExt cx="1276" cy="445"/>
          </a:xfrm>
        </p:grpSpPr>
        <p:sp>
          <p:nvSpPr>
            <p:cNvPr id="50" name="AutoShape 58"/>
            <p:cNvSpPr>
              <a:spLocks noChangeArrowheads="1"/>
            </p:cNvSpPr>
            <p:nvPr/>
          </p:nvSpPr>
          <p:spPr bwMode="auto">
            <a:xfrm flipH="1">
              <a:off x="1111" y="1171"/>
              <a:ext cx="1185"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1" name="Line 60"/>
            <p:cNvSpPr>
              <a:spLocks noChangeShapeType="1"/>
            </p:cNvSpPr>
            <p:nvPr/>
          </p:nvSpPr>
          <p:spPr bwMode="auto">
            <a:xfrm flipH="1">
              <a:off x="1020" y="1389"/>
              <a:ext cx="409" cy="22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2" name="Line 61"/>
          <p:cNvSpPr>
            <a:spLocks noChangeShapeType="1"/>
          </p:cNvSpPr>
          <p:nvPr/>
        </p:nvSpPr>
        <p:spPr bwMode="auto">
          <a:xfrm flipH="1">
            <a:off x="2887863" y="1816543"/>
            <a:ext cx="3293735" cy="508598"/>
          </a:xfrm>
          <a:prstGeom prst="line">
            <a:avLst/>
          </a:prstGeom>
          <a:noFill/>
          <a:ln w="57150">
            <a:solidFill>
              <a:srgbClr val="FF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3" name="Rectangle 62"/>
          <p:cNvSpPr>
            <a:spLocks noChangeArrowheads="1"/>
          </p:cNvSpPr>
          <p:nvPr/>
        </p:nvSpPr>
        <p:spPr bwMode="auto">
          <a:xfrm>
            <a:off x="2739373" y="3154352"/>
            <a:ext cx="235143" cy="1786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54" name="组合 53"/>
          <p:cNvGrpSpPr/>
          <p:nvPr/>
        </p:nvGrpSpPr>
        <p:grpSpPr>
          <a:xfrm>
            <a:off x="5384195" y="1116520"/>
            <a:ext cx="996103" cy="700021"/>
            <a:chOff x="5384195" y="1158085"/>
            <a:chExt cx="996103" cy="700021"/>
          </a:xfrm>
        </p:grpSpPr>
        <p:grpSp>
          <p:nvGrpSpPr>
            <p:cNvPr id="55" name="Group 40"/>
            <p:cNvGrpSpPr>
              <a:grpSpLocks/>
            </p:cNvGrpSpPr>
            <p:nvPr/>
          </p:nvGrpSpPr>
          <p:grpSpPr bwMode="auto">
            <a:xfrm>
              <a:off x="5384195" y="1201336"/>
              <a:ext cx="996103" cy="656770"/>
              <a:chOff x="3861" y="1171"/>
              <a:chExt cx="1148" cy="820"/>
            </a:xfrm>
          </p:grpSpPr>
          <p:sp>
            <p:nvSpPr>
              <p:cNvPr id="57" name="AutoShape 41"/>
              <p:cNvSpPr>
                <a:spLocks noChangeArrowheads="1"/>
              </p:cNvSpPr>
              <p:nvPr/>
            </p:nvSpPr>
            <p:spPr bwMode="auto">
              <a:xfrm flipH="1">
                <a:off x="3861" y="1171"/>
                <a:ext cx="1148"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8" name="Line 43"/>
              <p:cNvSpPr>
                <a:spLocks noChangeShapeType="1"/>
              </p:cNvSpPr>
              <p:nvPr/>
            </p:nvSpPr>
            <p:spPr bwMode="auto">
              <a:xfrm>
                <a:off x="4377" y="1389"/>
                <a:ext cx="427" cy="60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6" name="Text Box 42"/>
            <p:cNvSpPr txBox="1">
              <a:spLocks noChangeArrowheads="1"/>
            </p:cNvSpPr>
            <p:nvPr/>
          </p:nvSpPr>
          <p:spPr bwMode="auto">
            <a:xfrm>
              <a:off x="5451450" y="1158085"/>
              <a:ext cx="88678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B </a:t>
              </a:r>
              <a:r>
                <a:rPr kumimoji="1" lang="zh-CN" altLang="en-US" sz="1100" b="1" dirty="0">
                  <a:solidFill>
                    <a:srgbClr val="0000CC"/>
                  </a:solidFill>
                  <a:latin typeface="微软雅黑" pitchFamily="34" charset="-122"/>
                  <a:ea typeface="微软雅黑" pitchFamily="34" charset="-122"/>
                </a:rPr>
                <a:t>发送数据</a:t>
              </a:r>
            </a:p>
          </p:txBody>
        </p:sp>
      </p:grpSp>
      <p:sp>
        <p:nvSpPr>
          <p:cNvPr id="59" name="Text Box 59"/>
          <p:cNvSpPr txBox="1">
            <a:spLocks noChangeArrowheads="1"/>
          </p:cNvSpPr>
          <p:nvPr/>
        </p:nvSpPr>
        <p:spPr bwMode="auto">
          <a:xfrm>
            <a:off x="3071000" y="1116525"/>
            <a:ext cx="89639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A </a:t>
            </a:r>
            <a:r>
              <a:rPr kumimoji="1" lang="zh-CN" altLang="en-US" sz="1100" b="1" dirty="0">
                <a:solidFill>
                  <a:srgbClr val="0000CC"/>
                </a:solidFill>
                <a:latin typeface="微软雅黑" pitchFamily="34" charset="-122"/>
                <a:ea typeface="微软雅黑" pitchFamily="34" charset="-122"/>
              </a:rPr>
              <a:t>发送数据</a:t>
            </a:r>
          </a:p>
        </p:txBody>
      </p:sp>
      <p:grpSp>
        <p:nvGrpSpPr>
          <p:cNvPr id="60" name="组合 59"/>
          <p:cNvGrpSpPr/>
          <p:nvPr/>
        </p:nvGrpSpPr>
        <p:grpSpPr>
          <a:xfrm>
            <a:off x="2891333" y="1550055"/>
            <a:ext cx="933630" cy="799339"/>
            <a:chOff x="2891333" y="1591620"/>
            <a:chExt cx="933630" cy="799339"/>
          </a:xfrm>
        </p:grpSpPr>
        <p:sp>
          <p:nvSpPr>
            <p:cNvPr id="61" name="Line 45"/>
            <p:cNvSpPr>
              <a:spLocks noChangeShapeType="1"/>
            </p:cNvSpPr>
            <p:nvPr/>
          </p:nvSpPr>
          <p:spPr bwMode="auto">
            <a:xfrm flipH="1">
              <a:off x="2891333" y="2070358"/>
              <a:ext cx="295013" cy="292343"/>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2" name="AutoShape 46"/>
            <p:cNvSpPr>
              <a:spLocks noChangeArrowheads="1"/>
            </p:cNvSpPr>
            <p:nvPr/>
          </p:nvSpPr>
          <p:spPr bwMode="auto">
            <a:xfrm>
              <a:off x="2894804" y="1591620"/>
              <a:ext cx="930159" cy="799339"/>
            </a:xfrm>
            <a:prstGeom prst="irregularSeal1">
              <a:avLst/>
            </a:prstGeom>
            <a:solidFill>
              <a:srgbClr val="00FF99"/>
            </a:solidFill>
            <a:ln w="12700">
              <a:solidFill>
                <a:schemeClr val="tx1"/>
              </a:solidFill>
              <a:miter lim="800000"/>
              <a:headEnd/>
              <a:tailEnd/>
            </a:ln>
            <a:effectLst/>
          </p:spPr>
          <p:txBody>
            <a:bodyPr wrap="none" anchor="ctr"/>
            <a:lstStyle/>
            <a:p>
              <a:endParaRPr lang="zh-CN" altLang="en-US" sz="1200" b="1">
                <a:solidFill>
                  <a:srgbClr val="0000CC"/>
                </a:solidFill>
                <a:latin typeface="+mn-lt"/>
                <a:ea typeface="黑体" pitchFamily="2" charset="-122"/>
              </a:endParaRPr>
            </a:p>
          </p:txBody>
        </p:sp>
        <p:sp>
          <p:nvSpPr>
            <p:cNvPr id="63" name="Text Box 47"/>
            <p:cNvSpPr txBox="1">
              <a:spLocks noChangeArrowheads="1"/>
            </p:cNvSpPr>
            <p:nvPr/>
          </p:nvSpPr>
          <p:spPr bwMode="auto">
            <a:xfrm>
              <a:off x="3062032" y="1817485"/>
              <a:ext cx="614271" cy="3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85000"/>
                </a:lnSpc>
              </a:pPr>
              <a:r>
                <a:rPr kumimoji="1" lang="en-US" altLang="zh-CN" sz="1050" b="1" dirty="0">
                  <a:latin typeface="微软雅黑" pitchFamily="34" charset="-122"/>
                  <a:ea typeface="微软雅黑" pitchFamily="34" charset="-122"/>
                </a:rPr>
                <a:t>A </a:t>
              </a:r>
              <a:r>
                <a:rPr kumimoji="1" lang="zh-CN" altLang="en-US" sz="1050" b="1" dirty="0">
                  <a:latin typeface="微软雅黑" pitchFamily="34" charset="-122"/>
                  <a:ea typeface="微软雅黑" pitchFamily="34" charset="-122"/>
                </a:rPr>
                <a:t>检测</a:t>
              </a:r>
            </a:p>
            <a:p>
              <a:pPr eaLnBrk="0" hangingPunct="0">
                <a:lnSpc>
                  <a:spcPct val="85000"/>
                </a:lnSpc>
              </a:pPr>
              <a:r>
                <a:rPr kumimoji="1" lang="zh-CN" altLang="en-US" sz="1050" b="1" dirty="0">
                  <a:latin typeface="微软雅黑" pitchFamily="34" charset="-122"/>
                  <a:ea typeface="微软雅黑" pitchFamily="34" charset="-122"/>
                </a:rPr>
                <a:t>到冲突</a:t>
              </a:r>
            </a:p>
          </p:txBody>
        </p:sp>
      </p:grpSp>
      <p:grpSp>
        <p:nvGrpSpPr>
          <p:cNvPr id="64" name="Group 48"/>
          <p:cNvGrpSpPr>
            <a:grpSpLocks/>
          </p:cNvGrpSpPr>
          <p:nvPr/>
        </p:nvGrpSpPr>
        <p:grpSpPr bwMode="auto">
          <a:xfrm>
            <a:off x="4571173" y="1218241"/>
            <a:ext cx="972676" cy="697620"/>
            <a:chOff x="2925" y="1207"/>
            <a:chExt cx="1121" cy="871"/>
          </a:xfrm>
        </p:grpSpPr>
        <p:sp>
          <p:nvSpPr>
            <p:cNvPr id="65" name="Line 49"/>
            <p:cNvSpPr>
              <a:spLocks noChangeShapeType="1"/>
            </p:cNvSpPr>
            <p:nvPr/>
          </p:nvSpPr>
          <p:spPr bwMode="auto">
            <a:xfrm>
              <a:off x="3787" y="1706"/>
              <a:ext cx="259" cy="3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66" name="Group 50"/>
            <p:cNvGrpSpPr>
              <a:grpSpLocks/>
            </p:cNvGrpSpPr>
            <p:nvPr/>
          </p:nvGrpSpPr>
          <p:grpSpPr bwMode="auto">
            <a:xfrm>
              <a:off x="2925" y="1207"/>
              <a:ext cx="1121" cy="681"/>
              <a:chOff x="3514" y="2256"/>
              <a:chExt cx="1121" cy="681"/>
            </a:xfrm>
          </p:grpSpPr>
          <p:sp>
            <p:nvSpPr>
              <p:cNvPr id="67" name="AutoShape 51"/>
              <p:cNvSpPr>
                <a:spLocks noChangeArrowheads="1"/>
              </p:cNvSpPr>
              <p:nvPr/>
            </p:nvSpPr>
            <p:spPr bwMode="auto">
              <a:xfrm>
                <a:off x="3514" y="2256"/>
                <a:ext cx="1121" cy="681"/>
              </a:xfrm>
              <a:prstGeom prst="irregularSeal1">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8" name="Text Box 52"/>
              <p:cNvSpPr txBox="1">
                <a:spLocks noChangeArrowheads="1"/>
              </p:cNvSpPr>
              <p:nvPr/>
            </p:nvSpPr>
            <p:spPr bwMode="auto">
              <a:xfrm>
                <a:off x="3633" y="2428"/>
                <a:ext cx="8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50" b="1" dirty="0">
                    <a:solidFill>
                      <a:schemeClr val="bg1"/>
                    </a:solidFill>
                    <a:latin typeface="微软雅黑" pitchFamily="34" charset="-122"/>
                    <a:ea typeface="微软雅黑" pitchFamily="34" charset="-122"/>
                  </a:rPr>
                  <a:t>开始冲突</a:t>
                </a:r>
              </a:p>
            </p:txBody>
          </p:sp>
        </p:grpSp>
      </p:grpSp>
    </p:spTree>
    <p:extLst>
      <p:ext uri="{BB962C8B-B14F-4D97-AF65-F5344CB8AC3E}">
        <p14:creationId xmlns:p14="http://schemas.microsoft.com/office/powerpoint/2010/main" val="61426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0"/>
                                        <p:tgtEl>
                                          <p:spTgt spid="14"/>
                                        </p:tgtEl>
                                      </p:cBhvr>
                                    </p:animEffect>
                                  </p:childTnLst>
                                </p:cTn>
                              </p:par>
                              <p:par>
                                <p:cTn id="8" presetID="1" presetClass="entr" presetSubtype="0" fill="hold" nodeType="withEffect">
                                  <p:stCondLst>
                                    <p:cond delay="3250"/>
                                  </p:stCondLst>
                                  <p:childTnLst>
                                    <p:set>
                                      <p:cBhvr>
                                        <p:cTn id="9" dur="1" fill="hold">
                                          <p:stCondLst>
                                            <p:cond delay="0"/>
                                          </p:stCondLst>
                                        </p:cTn>
                                        <p:tgtEl>
                                          <p:spTgt spid="54"/>
                                        </p:tgtEl>
                                        <p:attrNameLst>
                                          <p:attrName>style.visibility</p:attrName>
                                        </p:attrNameLst>
                                      </p:cBhvr>
                                      <p:to>
                                        <p:strVal val="visible"/>
                                      </p:to>
                                    </p:set>
                                  </p:childTnLst>
                                </p:cTn>
                              </p:par>
                              <p:par>
                                <p:cTn id="10" presetID="22" presetClass="entr" presetSubtype="2" fill="hold" grpId="0" nodeType="withEffect">
                                  <p:stCondLst>
                                    <p:cond delay="3250"/>
                                  </p:stCondLst>
                                  <p:childTnLst>
                                    <p:set>
                                      <p:cBhvr>
                                        <p:cTn id="11" dur="1" fill="hold">
                                          <p:stCondLst>
                                            <p:cond delay="0"/>
                                          </p:stCondLst>
                                        </p:cTn>
                                        <p:tgtEl>
                                          <p:spTgt spid="52"/>
                                        </p:tgtEl>
                                        <p:attrNameLst>
                                          <p:attrName>style.visibility</p:attrName>
                                        </p:attrNameLst>
                                      </p:cBhvr>
                                      <p:to>
                                        <p:strVal val="visible"/>
                                      </p:to>
                                    </p:set>
                                    <p:animEffect transition="in" filter="wipe(right)">
                                      <p:cBhvr>
                                        <p:cTn id="12" dur="5000"/>
                                        <p:tgtEl>
                                          <p:spTgt spid="52"/>
                                        </p:tgtEl>
                                      </p:cBhvr>
                                    </p:animEffect>
                                  </p:childTnLst>
                                </p:cTn>
                              </p:par>
                              <p:par>
                                <p:cTn id="13" presetID="1" presetClass="entr" presetSubtype="0" fill="hold" nodeType="withEffect">
                                  <p:stCondLst>
                                    <p:cond delay="4250"/>
                                  </p:stCondLst>
                                  <p:childTnLst>
                                    <p:set>
                                      <p:cBhvr>
                                        <p:cTn id="14" dur="1" fill="hold">
                                          <p:stCondLst>
                                            <p:cond delay="0"/>
                                          </p:stCondLst>
                                        </p:cTn>
                                        <p:tgtEl>
                                          <p:spTgt spid="64"/>
                                        </p:tgtEl>
                                        <p:attrNameLst>
                                          <p:attrName>style.visibility</p:attrName>
                                        </p:attrNameLst>
                                      </p:cBhvr>
                                      <p:to>
                                        <p:strVal val="visible"/>
                                      </p:to>
                                    </p:set>
                                  </p:childTnLst>
                                </p:cTn>
                              </p:par>
                              <p:par>
                                <p:cTn id="15" presetID="35" presetClass="emph" presetSubtype="0" repeatCount="3000" fill="hold" nodeType="withEffect">
                                  <p:stCondLst>
                                    <p:cond delay="4250"/>
                                  </p:stCondLst>
                                  <p:childTnLst>
                                    <p:anim calcmode="discrete" valueType="str">
                                      <p:cBhvr>
                                        <p:cTn id="16" dur="500" fill="hold"/>
                                        <p:tgtEl>
                                          <p:spTgt spid="64"/>
                                        </p:tgtEl>
                                        <p:attrNameLst>
                                          <p:attrName>style.visibility</p:attrName>
                                        </p:attrNameLst>
                                      </p:cBhvr>
                                      <p:tavLst>
                                        <p:tav tm="0">
                                          <p:val>
                                            <p:strVal val="hidden"/>
                                          </p:val>
                                        </p:tav>
                                        <p:tav tm="50000">
                                          <p:val>
                                            <p:strVal val="visible"/>
                                          </p:val>
                                        </p:tav>
                                      </p:tavLst>
                                    </p:anim>
                                  </p:childTnLst>
                                </p:cTn>
                              </p:par>
                            </p:childTnLst>
                          </p:cTn>
                        </p:par>
                        <p:par>
                          <p:cTn id="17" fill="hold">
                            <p:stCondLst>
                              <p:cond delay="8250"/>
                            </p:stCondLst>
                            <p:childTnLst>
                              <p:par>
                                <p:cTn id="18" presetID="1" presetClass="entr" presetSubtype="0"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childTnLst>
                          </p:cTn>
                        </p:par>
                        <p:par>
                          <p:cTn id="20" fill="hold">
                            <p:stCondLst>
                              <p:cond delay="8250"/>
                            </p:stCondLst>
                            <p:childTnLst>
                              <p:par>
                                <p:cTn id="21" presetID="35" presetClass="emph" presetSubtype="0" repeatCount="3000" fill="hold" nodeType="afterEffect">
                                  <p:stCondLst>
                                    <p:cond delay="0"/>
                                  </p:stCondLst>
                                  <p:childTnLst>
                                    <p:anim calcmode="discrete" valueType="str">
                                      <p:cBhvr>
                                        <p:cTn id="22" dur="500" fill="hold"/>
                                        <p:tgtEl>
                                          <p:spTgt spid="60"/>
                                        </p:tgtEl>
                                        <p:attrNameLst>
                                          <p:attrName>style.visibility</p:attrName>
                                        </p:attrNameLst>
                                      </p:cBhvr>
                                      <p:tavLst>
                                        <p:tav tm="0">
                                          <p:val>
                                            <p:strVal val="hidden"/>
                                          </p:val>
                                        </p:tav>
                                        <p:tav tm="50000">
                                          <p:val>
                                            <p:strVal val="visible"/>
                                          </p:val>
                                        </p:tav>
                                      </p:tavLst>
                                    </p:anim>
                                  </p:childTnLst>
                                </p:cTn>
                              </p:par>
                            </p:childTnLst>
                          </p:cTn>
                        </p:par>
                        <p:par>
                          <p:cTn id="23" fill="hold">
                            <p:stCondLst>
                              <p:cond delay="9750"/>
                            </p:stCondLst>
                            <p:childTnLst>
                              <p:par>
                                <p:cTn id="24" presetID="22" presetClass="entr" presetSubtype="8"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3">
                                            <p:txEl>
                                              <p:pRg st="1" end="1"/>
                                            </p:txEl>
                                          </p:spTgt>
                                        </p:tgtEl>
                                        <p:attrNameLst>
                                          <p:attrName>style.visibility</p:attrName>
                                        </p:attrNameLst>
                                      </p:cBhvr>
                                      <p:to>
                                        <p:strVal val="visible"/>
                                      </p:to>
                                    </p:set>
                                    <p:animEffect transition="in" filter="fade">
                                      <p:cBhvr>
                                        <p:cTn id="31" dur="1000"/>
                                        <p:tgtEl>
                                          <p:spTgt spid="13">
                                            <p:txEl>
                                              <p:pRg st="1" end="1"/>
                                            </p:txEl>
                                          </p:spTgt>
                                        </p:tgtEl>
                                      </p:cBhvr>
                                    </p:animEffect>
                                    <p:anim calcmode="lin" valueType="num">
                                      <p:cBhvr>
                                        <p:cTn id="32"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21" y="62157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153867" y="59848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
        <p:nvSpPr>
          <p:cNvPr id="4" name="矩形 3"/>
          <p:cNvSpPr/>
          <p:nvPr/>
        </p:nvSpPr>
        <p:spPr>
          <a:xfrm>
            <a:off x="1296537" y="1035415"/>
            <a:ext cx="2429373"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准备发送（组帧）</a:t>
            </a:r>
            <a:endParaRPr lang="zh-CN" altLang="en-US" b="1" dirty="0">
              <a:solidFill>
                <a:schemeClr val="bg1"/>
              </a:solidFill>
              <a:latin typeface="微软雅黑" pitchFamily="34" charset="-122"/>
              <a:ea typeface="微软雅黑" pitchFamily="34" charset="-122"/>
            </a:endParaRPr>
          </a:p>
        </p:txBody>
      </p:sp>
      <p:sp>
        <p:nvSpPr>
          <p:cNvPr id="5" name="菱形 4"/>
          <p:cNvSpPr/>
          <p:nvPr/>
        </p:nvSpPr>
        <p:spPr>
          <a:xfrm>
            <a:off x="1356653" y="2237837"/>
            <a:ext cx="2309140"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信道空闲</a:t>
            </a:r>
            <a:r>
              <a:rPr lang="en-US" altLang="zh-CN" sz="1300" b="1" dirty="0">
                <a:solidFill>
                  <a:schemeClr val="bg1"/>
                </a:solidFill>
                <a:latin typeface="微软雅黑" pitchFamily="34" charset="-122"/>
                <a:ea typeface="微软雅黑" pitchFamily="34" charset="-122"/>
              </a:rPr>
              <a:t>96 bit </a:t>
            </a:r>
            <a:r>
              <a:rPr lang="zh-CN" altLang="en-US" sz="1300" b="1" dirty="0">
                <a:solidFill>
                  <a:schemeClr val="bg1"/>
                </a:solidFill>
                <a:latin typeface="微软雅黑" pitchFamily="34" charset="-122"/>
                <a:ea typeface="微软雅黑" pitchFamily="34" charset="-122"/>
              </a:rPr>
              <a:t>时间？</a:t>
            </a:r>
          </a:p>
        </p:txBody>
      </p:sp>
      <p:sp>
        <p:nvSpPr>
          <p:cNvPr id="6" name="矩形 5"/>
          <p:cNvSpPr/>
          <p:nvPr/>
        </p:nvSpPr>
        <p:spPr>
          <a:xfrm>
            <a:off x="1296537" y="2936796"/>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边发送边进行碰撞检测</a:t>
            </a:r>
          </a:p>
        </p:txBody>
      </p:sp>
      <p:sp>
        <p:nvSpPr>
          <p:cNvPr id="7" name="菱形 6"/>
          <p:cNvSpPr/>
          <p:nvPr/>
        </p:nvSpPr>
        <p:spPr>
          <a:xfrm>
            <a:off x="1296537" y="3522345"/>
            <a:ext cx="2429373"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检测到碰撞？</a:t>
            </a:r>
          </a:p>
        </p:txBody>
      </p:sp>
      <p:sp>
        <p:nvSpPr>
          <p:cNvPr id="8" name="矩形 7"/>
          <p:cNvSpPr/>
          <p:nvPr/>
        </p:nvSpPr>
        <p:spPr>
          <a:xfrm>
            <a:off x="1296537" y="4236420"/>
            <a:ext cx="2429373" cy="390750"/>
          </a:xfrm>
          <a:prstGeom prst="rect">
            <a:avLst/>
          </a:prstGeom>
          <a:solidFill>
            <a:srgbClr val="0099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发送，直到完毕</a:t>
            </a:r>
          </a:p>
        </p:txBody>
      </p:sp>
      <p:sp>
        <p:nvSpPr>
          <p:cNvPr id="9" name="矩形 8"/>
          <p:cNvSpPr/>
          <p:nvPr/>
        </p:nvSpPr>
        <p:spPr>
          <a:xfrm>
            <a:off x="1296537" y="1651132"/>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载波监听，检测信道</a:t>
            </a:r>
          </a:p>
        </p:txBody>
      </p:sp>
      <p:cxnSp>
        <p:nvCxnSpPr>
          <p:cNvPr id="10" name="直接箭头连接符 9"/>
          <p:cNvCxnSpPr/>
          <p:nvPr/>
        </p:nvCxnSpPr>
        <p:spPr>
          <a:xfrm>
            <a:off x="2511223" y="3327546"/>
            <a:ext cx="0" cy="194799"/>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1223" y="4023088"/>
            <a:ext cx="0" cy="21333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511223" y="2738580"/>
            <a:ext cx="1" cy="19821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511223" y="2041882"/>
            <a:ext cx="1"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2511223" y="1444308"/>
            <a:ext cx="0" cy="20682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300152" y="3577918"/>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停止发送数据</a:t>
            </a:r>
            <a:endParaRPr lang="en-US" altLang="zh-CN" sz="1400" b="1" dirty="0">
              <a:solidFill>
                <a:schemeClr val="bg1"/>
              </a:solidFill>
              <a:latin typeface="微软雅黑" pitchFamily="34" charset="-122"/>
              <a:ea typeface="微软雅黑" pitchFamily="34" charset="-122"/>
            </a:endParaRPr>
          </a:p>
        </p:txBody>
      </p:sp>
      <p:sp>
        <p:nvSpPr>
          <p:cNvPr id="16" name="矩形 15"/>
          <p:cNvSpPr/>
          <p:nvPr/>
        </p:nvSpPr>
        <p:spPr>
          <a:xfrm>
            <a:off x="5300151" y="1335301"/>
            <a:ext cx="2356242"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等待随机时间</a:t>
            </a:r>
            <a:endParaRPr lang="en-US" altLang="zh-CN"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（截断二进制指数算法）</a:t>
            </a:r>
            <a:endParaRPr lang="en-US" altLang="zh-CN" sz="1200" b="1" dirty="0">
              <a:solidFill>
                <a:schemeClr val="bg1"/>
              </a:solidFill>
              <a:latin typeface="微软雅黑" pitchFamily="34" charset="-122"/>
              <a:ea typeface="微软雅黑" pitchFamily="34" charset="-122"/>
            </a:endParaRPr>
          </a:p>
        </p:txBody>
      </p:sp>
      <p:cxnSp>
        <p:nvCxnSpPr>
          <p:cNvPr id="17" name="直接箭头连接符 16"/>
          <p:cNvCxnSpPr>
            <a:stCxn id="7" idx="3"/>
            <a:endCxn id="15" idx="1"/>
          </p:cNvCxnSpPr>
          <p:nvPr/>
        </p:nvCxnSpPr>
        <p:spPr>
          <a:xfrm>
            <a:off x="3725910" y="3772717"/>
            <a:ext cx="1574242"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5" idx="0"/>
            <a:endCxn id="16" idx="2"/>
          </p:cNvCxnSpPr>
          <p:nvPr/>
        </p:nvCxnSpPr>
        <p:spPr>
          <a:xfrm flipH="1" flipV="1">
            <a:off x="6478272" y="1726051"/>
            <a:ext cx="1" cy="106374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cxnSpLocks/>
            <a:stCxn id="16" idx="1"/>
          </p:cNvCxnSpPr>
          <p:nvPr/>
        </p:nvCxnSpPr>
        <p:spPr>
          <a:xfrm flipH="1">
            <a:off x="2511223" y="1530676"/>
            <a:ext cx="2788928"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 name="肘形连接符 19"/>
          <p:cNvCxnSpPr>
            <a:cxnSpLocks/>
            <a:stCxn id="5" idx="3"/>
          </p:cNvCxnSpPr>
          <p:nvPr/>
        </p:nvCxnSpPr>
        <p:spPr>
          <a:xfrm flipV="1">
            <a:off x="3665793" y="1530676"/>
            <a:ext cx="1034026" cy="957533"/>
          </a:xfrm>
          <a:prstGeom prst="bentConnector3">
            <a:avLst>
              <a:gd name="adj1" fmla="val 9992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05677" y="2237828"/>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2" name="TextBox 21"/>
          <p:cNvSpPr txBox="1"/>
          <p:nvPr/>
        </p:nvSpPr>
        <p:spPr>
          <a:xfrm>
            <a:off x="3800497" y="3515620"/>
            <a:ext cx="1107996"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是，发送失败</a:t>
            </a:r>
          </a:p>
        </p:txBody>
      </p:sp>
      <p:sp>
        <p:nvSpPr>
          <p:cNvPr id="23" name="TextBox 22"/>
          <p:cNvSpPr txBox="1"/>
          <p:nvPr/>
        </p:nvSpPr>
        <p:spPr>
          <a:xfrm>
            <a:off x="2137226" y="400214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4" name="TextBox 23"/>
          <p:cNvSpPr txBox="1"/>
          <p:nvPr/>
        </p:nvSpPr>
        <p:spPr>
          <a:xfrm>
            <a:off x="2137226" y="268830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a:t>
            </a:r>
          </a:p>
        </p:txBody>
      </p:sp>
      <p:sp>
        <p:nvSpPr>
          <p:cNvPr id="25" name="矩形 24"/>
          <p:cNvSpPr/>
          <p:nvPr/>
        </p:nvSpPr>
        <p:spPr>
          <a:xfrm>
            <a:off x="5300152" y="2789795"/>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发送人为干扰信号</a:t>
            </a:r>
            <a:endParaRPr lang="en-US" altLang="zh-CN" sz="1400" b="1" dirty="0">
              <a:solidFill>
                <a:schemeClr val="bg1"/>
              </a:solidFill>
              <a:latin typeface="微软雅黑" pitchFamily="34" charset="-122"/>
              <a:ea typeface="微软雅黑" pitchFamily="34" charset="-122"/>
            </a:endParaRPr>
          </a:p>
        </p:txBody>
      </p:sp>
      <p:cxnSp>
        <p:nvCxnSpPr>
          <p:cNvPr id="26" name="直接箭头连接符 25"/>
          <p:cNvCxnSpPr>
            <a:stCxn id="15" idx="0"/>
            <a:endCxn id="25" idx="2"/>
          </p:cNvCxnSpPr>
          <p:nvPr/>
        </p:nvCxnSpPr>
        <p:spPr>
          <a:xfrm flipV="1">
            <a:off x="6478273" y="3180545"/>
            <a:ext cx="0" cy="39737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18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35" presetClass="emph" presetSubtype="0" repeatCount="3000" fill="hold" grpId="0" nodeType="clickEffect">
                                  <p:stCondLst>
                                    <p:cond delay="0"/>
                                  </p:stCondLst>
                                  <p:childTnLst>
                                    <p:anim calcmode="discrete" valueType="str">
                                      <p:cBhvr>
                                        <p:cTn id="30"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repeatCount="3000" fill="hold" grpId="0" nodeType="clickEffect">
                                  <p:stCondLst>
                                    <p:cond delay="0"/>
                                  </p:stCondLst>
                                  <p:childTnLst>
                                    <p:anim calcmode="discrete" valueType="str">
                                      <p:cBhvr>
                                        <p:cTn id="34"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35" presetClass="emph" presetSubtype="0" repeatCount="3000" fill="hold" grpId="0" nodeType="clickEffect">
                                  <p:stCondLst>
                                    <p:cond delay="0"/>
                                  </p:stCondLst>
                                  <p:childTnLst>
                                    <p:anim calcmode="discrete" valueType="str">
                                      <p:cBhvr>
                                        <p:cTn id="38"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35" presetClass="emph" presetSubtype="0" repeatCount="3000" fill="hold" grpId="1" nodeType="clickEffect">
                                  <p:stCondLst>
                                    <p:cond delay="0"/>
                                  </p:stCondLst>
                                  <p:childTnLst>
                                    <p:anim calcmode="discrete" valueType="str">
                                      <p:cBhvr>
                                        <p:cTn id="42"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9" grpId="1" animBg="1"/>
      <p:bldP spid="15" grpId="0" animBg="1"/>
      <p:bldP spid="16"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9440"/>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622844" y="586313"/>
            <a:ext cx="3881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3.3.3  </a:t>
            </a:r>
            <a:r>
              <a:rPr lang="zh-CN" altLang="en-US" sz="2400" b="1" dirty="0">
                <a:solidFill>
                  <a:schemeClr val="bg1"/>
                </a:solidFill>
                <a:latin typeface="微软雅黑" pitchFamily="34" charset="-122"/>
                <a:ea typeface="微软雅黑" pitchFamily="34" charset="-122"/>
              </a:rPr>
              <a:t>以太网的信道利用率</a:t>
            </a:r>
          </a:p>
        </p:txBody>
      </p:sp>
      <p:sp>
        <p:nvSpPr>
          <p:cNvPr id="7" name="Rectangle 8"/>
          <p:cNvSpPr>
            <a:spLocks noChangeArrowheads="1"/>
          </p:cNvSpPr>
          <p:nvPr/>
        </p:nvSpPr>
        <p:spPr bwMode="auto">
          <a:xfrm>
            <a:off x="502921" y="1015839"/>
            <a:ext cx="8129015" cy="1317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多个站在以太网上同时工作就可能会发生碰撞。</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当发生碰撞时，信道资源实际上是被浪费了。因此，当扣除碰撞所造成的信道损失后，</a:t>
            </a:r>
            <a:r>
              <a:rPr lang="zh-CN" altLang="en-US" sz="2000" b="1" dirty="0">
                <a:solidFill>
                  <a:srgbClr val="C00000"/>
                </a:solidFill>
                <a:latin typeface="微软雅黑" pitchFamily="34" charset="-122"/>
                <a:ea typeface="微软雅黑" pitchFamily="34" charset="-122"/>
              </a:rPr>
              <a:t>以太网总的信道利用率并不能达到 </a:t>
            </a:r>
            <a:r>
              <a:rPr lang="en-US" altLang="zh-CN" sz="2000" b="1" dirty="0">
                <a:solidFill>
                  <a:srgbClr val="C00000"/>
                </a:solidFill>
                <a:latin typeface="微软雅黑" pitchFamily="34" charset="-122"/>
                <a:ea typeface="微软雅黑" pitchFamily="34" charset="-122"/>
              </a:rPr>
              <a:t>100%</a:t>
            </a:r>
            <a:r>
              <a:rPr lang="zh-CN" altLang="en-US" sz="2000" b="1" dirty="0">
                <a:solidFill>
                  <a:srgbClr val="C00000"/>
                </a:solidFill>
                <a:latin typeface="微软雅黑" pitchFamily="34" charset="-122"/>
                <a:ea typeface="微软雅黑" pitchFamily="34" charset="-122"/>
              </a:rPr>
              <a:t>。</a:t>
            </a:r>
          </a:p>
        </p:txBody>
      </p:sp>
      <p:sp>
        <p:nvSpPr>
          <p:cNvPr id="2" name="文本框 1">
            <a:extLst>
              <a:ext uri="{FF2B5EF4-FFF2-40B4-BE49-F238E27FC236}">
                <a16:creationId xmlns:a16="http://schemas.microsoft.com/office/drawing/2014/main" id="{0707B046-A5BC-A16E-383B-D9131766485E}"/>
              </a:ext>
            </a:extLst>
          </p:cNvPr>
          <p:cNvSpPr txBox="1"/>
          <p:nvPr/>
        </p:nvSpPr>
        <p:spPr>
          <a:xfrm>
            <a:off x="2200009" y="2732839"/>
            <a:ext cx="4726859" cy="707886"/>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altLang="zh-CN" sz="2000" b="1" dirty="0">
                <a:latin typeface="微软雅黑" panose="020B0503020204020204" pitchFamily="34" charset="-122"/>
                <a:ea typeface="微软雅黑" panose="020B0503020204020204" pitchFamily="34" charset="-122"/>
              </a:rPr>
              <a:t>10 Mbit/s</a:t>
            </a:r>
            <a:r>
              <a:rPr lang="zh-CN" altLang="en-US" sz="2000" b="1" dirty="0">
                <a:latin typeface="微软雅黑" panose="020B0503020204020204" pitchFamily="34" charset="-122"/>
                <a:ea typeface="微软雅黑" panose="020B0503020204020204" pitchFamily="34" charset="-122"/>
              </a:rPr>
              <a:t>以太网同时有</a:t>
            </a:r>
            <a:r>
              <a:rPr lang="en-US" altLang="zh-CN" sz="2000" b="1" dirty="0">
                <a:latin typeface="微软雅黑" panose="020B0503020204020204" pitchFamily="34" charset="-122"/>
                <a:ea typeface="微软雅黑" panose="020B0503020204020204" pitchFamily="34" charset="-122"/>
              </a:rPr>
              <a:t>10</a:t>
            </a:r>
            <a:r>
              <a:rPr lang="zh-CN" altLang="en-US" sz="2000" b="1" dirty="0">
                <a:latin typeface="微软雅黑" panose="020B0503020204020204" pitchFamily="34" charset="-122"/>
                <a:ea typeface="微软雅黑" panose="020B0503020204020204" pitchFamily="34" charset="-122"/>
              </a:rPr>
              <a:t>个站在工作，每个站的平均速率是 </a:t>
            </a:r>
            <a:r>
              <a:rPr lang="en-US" altLang="zh-CN" sz="2000" b="1" dirty="0">
                <a:latin typeface="微软雅黑" panose="020B0503020204020204" pitchFamily="34" charset="-122"/>
                <a:ea typeface="微软雅黑" panose="020B0503020204020204" pitchFamily="34" charset="-122"/>
              </a:rPr>
              <a:t>1 Mbit/s </a:t>
            </a:r>
            <a:r>
              <a:rPr lang="zh-CN" altLang="en-US" sz="2000" b="1" dirty="0">
                <a:latin typeface="微软雅黑" panose="020B0503020204020204" pitchFamily="34" charset="-122"/>
                <a:ea typeface="微软雅黑" panose="020B0503020204020204" pitchFamily="34" charset="-122"/>
              </a:rPr>
              <a:t>吗？</a:t>
            </a:r>
          </a:p>
        </p:txBody>
      </p:sp>
    </p:spTree>
    <p:extLst>
      <p:ext uri="{BB962C8B-B14F-4D97-AF65-F5344CB8AC3E}">
        <p14:creationId xmlns:p14="http://schemas.microsoft.com/office/powerpoint/2010/main" val="120909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1000"/>
                                        <p:tgtEl>
                                          <p:spTgt spid="7">
                                            <p:txEl>
                                              <p:pRg st="0" end="0"/>
                                            </p:txEl>
                                          </p:spTgt>
                                        </p:tgtEl>
                                      </p:cBhvr>
                                    </p:animEffect>
                                    <p:anim calcmode="lin" valueType="num">
                                      <p:cBhvr>
                                        <p:cTn id="2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fade">
                                      <p:cBhvr>
                                        <p:cTn id="32" dur="1000"/>
                                        <p:tgtEl>
                                          <p:spTgt spid="7">
                                            <p:txEl>
                                              <p:pRg st="1" end="1"/>
                                            </p:txEl>
                                          </p:spTgt>
                                        </p:tgtEl>
                                      </p:cBhvr>
                                    </p:animEffect>
                                    <p:anim calcmode="lin" valueType="num">
                                      <p:cBhvr>
                                        <p:cTn id="3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02921" y="62666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064097" y="603578"/>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以太网信道被占用的情况</a:t>
            </a:r>
            <a:endParaRPr lang="fr-FR" altLang="zh-CN" sz="2000" b="1" dirty="0">
              <a:solidFill>
                <a:schemeClr val="bg1"/>
              </a:solidFill>
              <a:latin typeface="微软雅黑" pitchFamily="34" charset="-122"/>
              <a:ea typeface="微软雅黑" pitchFamily="34" charset="-122"/>
            </a:endParaRPr>
          </a:p>
        </p:txBody>
      </p:sp>
      <p:sp>
        <p:nvSpPr>
          <p:cNvPr id="7" name="圆角矩形 6"/>
          <p:cNvSpPr/>
          <p:nvPr/>
        </p:nvSpPr>
        <p:spPr>
          <a:xfrm>
            <a:off x="502921" y="1136860"/>
            <a:ext cx="8129015" cy="179315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5" name="Line 4"/>
          <p:cNvSpPr>
            <a:spLocks noChangeShapeType="1"/>
          </p:cNvSpPr>
          <p:nvPr/>
        </p:nvSpPr>
        <p:spPr bwMode="auto">
          <a:xfrm>
            <a:off x="1749926" y="2661011"/>
            <a:ext cx="5543301"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8"/>
          <p:cNvSpPr>
            <a:spLocks noChangeShapeType="1"/>
          </p:cNvSpPr>
          <p:nvPr/>
        </p:nvSpPr>
        <p:spPr bwMode="auto">
          <a:xfrm>
            <a:off x="6923750" y="2255957"/>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Rectangle 9"/>
          <p:cNvSpPr>
            <a:spLocks noChangeArrowheads="1"/>
          </p:cNvSpPr>
          <p:nvPr/>
        </p:nvSpPr>
        <p:spPr bwMode="auto">
          <a:xfrm>
            <a:off x="7055788" y="2188602"/>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Line 10"/>
          <p:cNvSpPr>
            <a:spLocks noChangeShapeType="1"/>
          </p:cNvSpPr>
          <p:nvPr/>
        </p:nvSpPr>
        <p:spPr bwMode="auto">
          <a:xfrm>
            <a:off x="4705734" y="2255957"/>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11"/>
          <p:cNvSpPr>
            <a:spLocks noChangeShapeType="1"/>
          </p:cNvSpPr>
          <p:nvPr/>
        </p:nvSpPr>
        <p:spPr bwMode="auto">
          <a:xfrm>
            <a:off x="3966783" y="2255957"/>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13"/>
          <p:cNvSpPr>
            <a:spLocks noChangeShapeType="1"/>
          </p:cNvSpPr>
          <p:nvPr/>
        </p:nvSpPr>
        <p:spPr bwMode="auto">
          <a:xfrm>
            <a:off x="2488877" y="2255957"/>
            <a:ext cx="740110"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15"/>
          <p:cNvSpPr>
            <a:spLocks noChangeShapeType="1"/>
          </p:cNvSpPr>
          <p:nvPr/>
        </p:nvSpPr>
        <p:spPr bwMode="auto">
          <a:xfrm>
            <a:off x="1749926" y="2255957"/>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Freeform 16"/>
          <p:cNvSpPr>
            <a:spLocks/>
          </p:cNvSpPr>
          <p:nvPr/>
        </p:nvSpPr>
        <p:spPr bwMode="auto">
          <a:xfrm>
            <a:off x="4705734" y="1609129"/>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Text Box 17"/>
          <p:cNvSpPr txBox="1">
            <a:spLocks noChangeArrowheads="1"/>
          </p:cNvSpPr>
          <p:nvPr/>
        </p:nvSpPr>
        <p:spPr bwMode="auto">
          <a:xfrm>
            <a:off x="5199143" y="1694660"/>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9" name="Text Box 18"/>
          <p:cNvSpPr txBox="1">
            <a:spLocks noChangeArrowheads="1"/>
          </p:cNvSpPr>
          <p:nvPr/>
        </p:nvSpPr>
        <p:spPr bwMode="auto">
          <a:xfrm>
            <a:off x="1782537" y="1678622"/>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争用期 </a:t>
            </a:r>
          </a:p>
        </p:txBody>
      </p:sp>
      <p:sp>
        <p:nvSpPr>
          <p:cNvPr id="40" name="Text Box 19"/>
          <p:cNvSpPr txBox="1">
            <a:spLocks noChangeArrowheads="1"/>
          </p:cNvSpPr>
          <p:nvPr/>
        </p:nvSpPr>
        <p:spPr bwMode="auto">
          <a:xfrm>
            <a:off x="2518017" y="1669000"/>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1" name="Text Box 20"/>
          <p:cNvSpPr txBox="1">
            <a:spLocks noChangeArrowheads="1"/>
          </p:cNvSpPr>
          <p:nvPr/>
        </p:nvSpPr>
        <p:spPr bwMode="auto">
          <a:xfrm>
            <a:off x="4024877" y="1678622"/>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2" name="Line 21"/>
          <p:cNvSpPr>
            <a:spLocks noChangeShapeType="1"/>
          </p:cNvSpPr>
          <p:nvPr/>
        </p:nvSpPr>
        <p:spPr bwMode="auto">
          <a:xfrm>
            <a:off x="3966782" y="1609129"/>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22"/>
          <p:cNvSpPr>
            <a:spLocks noChangeShapeType="1"/>
          </p:cNvSpPr>
          <p:nvPr/>
        </p:nvSpPr>
        <p:spPr bwMode="auto">
          <a:xfrm>
            <a:off x="3228988" y="1609129"/>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23"/>
          <p:cNvSpPr>
            <a:spLocks noChangeShapeType="1"/>
          </p:cNvSpPr>
          <p:nvPr/>
        </p:nvSpPr>
        <p:spPr bwMode="auto">
          <a:xfrm>
            <a:off x="2488877" y="1609129"/>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5" name="Line 24"/>
          <p:cNvSpPr>
            <a:spLocks noChangeShapeType="1"/>
          </p:cNvSpPr>
          <p:nvPr/>
        </p:nvSpPr>
        <p:spPr bwMode="auto">
          <a:xfrm>
            <a:off x="1749925" y="1609129"/>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25"/>
          <p:cNvSpPr>
            <a:spLocks noChangeShapeType="1"/>
          </p:cNvSpPr>
          <p:nvPr/>
        </p:nvSpPr>
        <p:spPr bwMode="auto">
          <a:xfrm>
            <a:off x="1749926" y="2077641"/>
            <a:ext cx="0" cy="680795"/>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Line 26"/>
          <p:cNvSpPr>
            <a:spLocks noChangeShapeType="1"/>
          </p:cNvSpPr>
          <p:nvPr/>
        </p:nvSpPr>
        <p:spPr bwMode="auto">
          <a:xfrm>
            <a:off x="3228988" y="2094518"/>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a:off x="3966782" y="2094518"/>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Line 28"/>
          <p:cNvSpPr>
            <a:spLocks noChangeShapeType="1"/>
          </p:cNvSpPr>
          <p:nvPr/>
        </p:nvSpPr>
        <p:spPr bwMode="auto">
          <a:xfrm>
            <a:off x="4705734" y="2094518"/>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Line 29"/>
          <p:cNvSpPr>
            <a:spLocks noChangeShapeType="1"/>
          </p:cNvSpPr>
          <p:nvPr/>
        </p:nvSpPr>
        <p:spPr bwMode="auto">
          <a:xfrm>
            <a:off x="6923750" y="2094518"/>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a:off x="7293226" y="2094517"/>
            <a:ext cx="0" cy="66392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a:off x="2488877" y="2094518"/>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39"/>
          <p:cNvSpPr>
            <a:spLocks noChangeArrowheads="1"/>
          </p:cNvSpPr>
          <p:nvPr/>
        </p:nvSpPr>
        <p:spPr bwMode="auto">
          <a:xfrm>
            <a:off x="5738878" y="2147974"/>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0"/>
          <p:cNvSpPr txBox="1">
            <a:spLocks noChangeArrowheads="1"/>
          </p:cNvSpPr>
          <p:nvPr/>
        </p:nvSpPr>
        <p:spPr bwMode="auto">
          <a:xfrm>
            <a:off x="5670860" y="2093279"/>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57" name="Text Box 41"/>
          <p:cNvSpPr txBox="1">
            <a:spLocks noChangeArrowheads="1"/>
          </p:cNvSpPr>
          <p:nvPr/>
        </p:nvSpPr>
        <p:spPr bwMode="auto">
          <a:xfrm>
            <a:off x="6967044" y="2076175"/>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58" name="Text Box 42"/>
          <p:cNvSpPr txBox="1">
            <a:spLocks noChangeArrowheads="1"/>
          </p:cNvSpPr>
          <p:nvPr/>
        </p:nvSpPr>
        <p:spPr bwMode="auto">
          <a:xfrm>
            <a:off x="7447271" y="1843270"/>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sp>
        <p:nvSpPr>
          <p:cNvPr id="59" name="Line 43"/>
          <p:cNvSpPr>
            <a:spLocks noChangeShapeType="1"/>
          </p:cNvSpPr>
          <p:nvPr/>
        </p:nvSpPr>
        <p:spPr bwMode="auto">
          <a:xfrm>
            <a:off x="4705734" y="1285179"/>
            <a:ext cx="0" cy="26942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44"/>
          <p:cNvSpPr>
            <a:spLocks noChangeShapeType="1"/>
          </p:cNvSpPr>
          <p:nvPr/>
        </p:nvSpPr>
        <p:spPr bwMode="auto">
          <a:xfrm>
            <a:off x="7293226" y="1285179"/>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5" name="组合 4">
            <a:extLst>
              <a:ext uri="{FF2B5EF4-FFF2-40B4-BE49-F238E27FC236}">
                <a16:creationId xmlns:a16="http://schemas.microsoft.com/office/drawing/2014/main" id="{18B352AC-07C1-8A33-CAD2-0B0ED86A3737}"/>
              </a:ext>
            </a:extLst>
          </p:cNvPr>
          <p:cNvGrpSpPr/>
          <p:nvPr/>
        </p:nvGrpSpPr>
        <p:grpSpPr>
          <a:xfrm>
            <a:off x="4705735" y="1227446"/>
            <a:ext cx="2587492" cy="307777"/>
            <a:chOff x="4705735" y="1227446"/>
            <a:chExt cx="2587492" cy="307777"/>
          </a:xfrm>
        </p:grpSpPr>
        <p:sp>
          <p:nvSpPr>
            <p:cNvPr id="28" name="Line 7"/>
            <p:cNvSpPr>
              <a:spLocks noChangeShapeType="1"/>
            </p:cNvSpPr>
            <p:nvPr/>
          </p:nvSpPr>
          <p:spPr bwMode="auto">
            <a:xfrm>
              <a:off x="4705735" y="1393163"/>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Text Box 45"/>
            <p:cNvSpPr txBox="1">
              <a:spLocks noChangeArrowheads="1"/>
            </p:cNvSpPr>
            <p:nvPr/>
          </p:nvSpPr>
          <p:spPr bwMode="auto">
            <a:xfrm>
              <a:off x="5568617" y="1227446"/>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占用期 </a:t>
              </a:r>
            </a:p>
          </p:txBody>
        </p:sp>
      </p:grpSp>
      <p:grpSp>
        <p:nvGrpSpPr>
          <p:cNvPr id="4" name="组合 3">
            <a:extLst>
              <a:ext uri="{FF2B5EF4-FFF2-40B4-BE49-F238E27FC236}">
                <a16:creationId xmlns:a16="http://schemas.microsoft.com/office/drawing/2014/main" id="{D8181FE0-F7DC-47F9-A637-43E4CD3A4436}"/>
              </a:ext>
            </a:extLst>
          </p:cNvPr>
          <p:cNvGrpSpPr/>
          <p:nvPr/>
        </p:nvGrpSpPr>
        <p:grpSpPr>
          <a:xfrm>
            <a:off x="1749925" y="1227446"/>
            <a:ext cx="2955809" cy="307777"/>
            <a:chOff x="1749925" y="1227446"/>
            <a:chExt cx="2955809" cy="307777"/>
          </a:xfrm>
        </p:grpSpPr>
        <p:sp>
          <p:nvSpPr>
            <p:cNvPr id="27" name="Line 6"/>
            <p:cNvSpPr>
              <a:spLocks noChangeShapeType="1"/>
            </p:cNvSpPr>
            <p:nvPr/>
          </p:nvSpPr>
          <p:spPr bwMode="auto">
            <a:xfrm>
              <a:off x="1749925" y="1393163"/>
              <a:ext cx="2955809"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Text Box 46"/>
            <p:cNvSpPr txBox="1">
              <a:spLocks noChangeArrowheads="1"/>
            </p:cNvSpPr>
            <p:nvPr/>
          </p:nvSpPr>
          <p:spPr bwMode="auto">
            <a:xfrm>
              <a:off x="2744597" y="1227446"/>
              <a:ext cx="916690"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FF"/>
                  </a:solidFill>
                  <a:latin typeface="微软雅黑" pitchFamily="34" charset="-122"/>
                  <a:ea typeface="微软雅黑" pitchFamily="34" charset="-122"/>
                </a:rPr>
                <a:t>发生碰撞 </a:t>
              </a:r>
            </a:p>
          </p:txBody>
        </p:sp>
      </p:grpSp>
      <p:sp>
        <p:nvSpPr>
          <p:cNvPr id="63" name="Line 47"/>
          <p:cNvSpPr>
            <a:spLocks noChangeShapeType="1"/>
          </p:cNvSpPr>
          <p:nvPr/>
        </p:nvSpPr>
        <p:spPr bwMode="auto">
          <a:xfrm>
            <a:off x="1749925" y="1285179"/>
            <a:ext cx="0" cy="25659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Text Box 48"/>
          <p:cNvSpPr txBox="1">
            <a:spLocks noChangeArrowheads="1"/>
          </p:cNvSpPr>
          <p:nvPr/>
        </p:nvSpPr>
        <p:spPr bwMode="auto">
          <a:xfrm>
            <a:off x="3385568" y="2482464"/>
            <a:ext cx="2159566"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C00000"/>
                </a:solidFill>
                <a:latin typeface="微软雅黑" pitchFamily="34" charset="-122"/>
                <a:ea typeface="微软雅黑" pitchFamily="34" charset="-122"/>
              </a:rPr>
              <a:t>发送一帧所需的平均时间</a:t>
            </a:r>
            <a:endParaRPr kumimoji="1" lang="zh-CN" altLang="en-US" sz="1400" b="1" dirty="0">
              <a:solidFill>
                <a:srgbClr val="C00000"/>
              </a:solidFill>
              <a:latin typeface="微软雅黑" pitchFamily="34" charset="-122"/>
              <a:ea typeface="微软雅黑" pitchFamily="34" charset="-122"/>
            </a:endParaRPr>
          </a:p>
        </p:txBody>
      </p:sp>
      <p:sp>
        <p:nvSpPr>
          <p:cNvPr id="65" name="Text Box 49"/>
          <p:cNvSpPr txBox="1">
            <a:spLocks noChangeArrowheads="1"/>
          </p:cNvSpPr>
          <p:nvPr/>
        </p:nvSpPr>
        <p:spPr bwMode="auto">
          <a:xfrm>
            <a:off x="3468743" y="168183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a:t>
            </a:r>
          </a:p>
        </p:txBody>
      </p:sp>
      <p:sp>
        <p:nvSpPr>
          <p:cNvPr id="24" name="Line 50"/>
          <p:cNvSpPr>
            <a:spLocks noChangeShapeType="1"/>
          </p:cNvSpPr>
          <p:nvPr/>
        </p:nvSpPr>
        <p:spPr bwMode="auto">
          <a:xfrm>
            <a:off x="1380449" y="2094517"/>
            <a:ext cx="615948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70" name="组合 69"/>
          <p:cNvGrpSpPr/>
          <p:nvPr/>
        </p:nvGrpSpPr>
        <p:grpSpPr>
          <a:xfrm>
            <a:off x="1934599" y="2100364"/>
            <a:ext cx="429193" cy="307777"/>
            <a:chOff x="1925454" y="3217778"/>
            <a:chExt cx="429193" cy="307777"/>
          </a:xfrm>
        </p:grpSpPr>
        <p:sp>
          <p:nvSpPr>
            <p:cNvPr id="53"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1" name="组合 70"/>
          <p:cNvGrpSpPr/>
          <p:nvPr/>
        </p:nvGrpSpPr>
        <p:grpSpPr>
          <a:xfrm>
            <a:off x="2677873" y="2100364"/>
            <a:ext cx="429193" cy="307777"/>
            <a:chOff x="1925454" y="3217778"/>
            <a:chExt cx="429193" cy="307777"/>
          </a:xfrm>
        </p:grpSpPr>
        <p:sp>
          <p:nvSpPr>
            <p:cNvPr id="72"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4" name="组合 73"/>
          <p:cNvGrpSpPr/>
          <p:nvPr/>
        </p:nvGrpSpPr>
        <p:grpSpPr>
          <a:xfrm>
            <a:off x="4169569" y="2100364"/>
            <a:ext cx="429193" cy="307777"/>
            <a:chOff x="1925454" y="3217778"/>
            <a:chExt cx="429193" cy="307777"/>
          </a:xfrm>
        </p:grpSpPr>
        <p:sp>
          <p:nvSpPr>
            <p:cNvPr id="75"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sp>
        <p:nvSpPr>
          <p:cNvPr id="3" name="Rectangle 8">
            <a:extLst>
              <a:ext uri="{FF2B5EF4-FFF2-40B4-BE49-F238E27FC236}">
                <a16:creationId xmlns:a16="http://schemas.microsoft.com/office/drawing/2014/main" id="{D19D115D-844E-E6F0-57FF-C02C777A10F7}"/>
              </a:ext>
            </a:extLst>
          </p:cNvPr>
          <p:cNvSpPr>
            <a:spLocks noChangeArrowheads="1"/>
          </p:cNvSpPr>
          <p:nvPr/>
        </p:nvSpPr>
        <p:spPr bwMode="auto">
          <a:xfrm>
            <a:off x="457068" y="2935727"/>
            <a:ext cx="8129015" cy="1445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ct val="1250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假设：</a:t>
            </a:r>
            <a:r>
              <a:rPr lang="zh-CN" altLang="en-US" b="1" dirty="0">
                <a:latin typeface="微软雅黑" pitchFamily="34" charset="-122"/>
                <a:ea typeface="微软雅黑" pitchFamily="34" charset="-122"/>
              </a:rPr>
              <a:t>单程端到端传播时延 </a:t>
            </a:r>
            <a:r>
              <a:rPr lang="en-US" altLang="zh-CN" b="1" dirty="0">
                <a:latin typeface="微软雅黑" pitchFamily="34" charset="-122"/>
                <a:ea typeface="微软雅黑" pitchFamily="34" charset="-122"/>
              </a:rPr>
              <a:t>= </a:t>
            </a:r>
            <a:r>
              <a:rPr lang="en-US" altLang="zh-CN" b="1" i="1" dirty="0">
                <a:latin typeface="微软雅黑" pitchFamily="34" charset="-122"/>
                <a:ea typeface="微软雅黑" pitchFamily="34" charset="-122"/>
                <a:sym typeface="Symbol"/>
              </a:rPr>
              <a:t> </a:t>
            </a:r>
            <a:r>
              <a:rPr lang="zh-CN" altLang="en-US" b="1" dirty="0">
                <a:latin typeface="微软雅黑" pitchFamily="34" charset="-122"/>
                <a:ea typeface="微软雅黑" pitchFamily="34" charset="-122"/>
              </a:rPr>
              <a:t>，则争用期长度 </a:t>
            </a:r>
            <a:r>
              <a:rPr lang="en-US" altLang="zh-CN" b="1" dirty="0">
                <a:latin typeface="微软雅黑" pitchFamily="34" charset="-122"/>
                <a:ea typeface="微软雅黑" pitchFamily="34" charset="-122"/>
              </a:rPr>
              <a:t>= 2</a:t>
            </a:r>
            <a:r>
              <a:rPr lang="en-US" altLang="zh-CN" b="1" i="1" dirty="0">
                <a:latin typeface="微软雅黑" pitchFamily="34" charset="-122"/>
                <a:ea typeface="微软雅黑" pitchFamily="34" charset="-122"/>
                <a:sym typeface="Symbol"/>
              </a:rPr>
              <a:t> </a:t>
            </a:r>
            <a:r>
              <a:rPr lang="zh-CN" altLang="en-US" b="1" dirty="0">
                <a:latin typeface="微软雅黑" pitchFamily="34" charset="-122"/>
                <a:ea typeface="微软雅黑" pitchFamily="34" charset="-122"/>
              </a:rPr>
              <a:t>。检测到碰撞后不发送干扰信号。</a:t>
            </a:r>
          </a:p>
          <a:p>
            <a:pPr marL="268288" indent="-268288">
              <a:lnSpc>
                <a:spcPct val="1250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注意：</a:t>
            </a:r>
            <a:r>
              <a:rPr lang="zh-CN" altLang="en-US" b="1" dirty="0">
                <a:latin typeface="微软雅黑" panose="020B0503020204020204" pitchFamily="34" charset="-122"/>
                <a:ea typeface="微软雅黑" panose="020B0503020204020204" pitchFamily="34" charset="-122"/>
              </a:rPr>
              <a:t>成功发送一个帧需要占用信道的时间是 </a:t>
            </a:r>
            <a:r>
              <a:rPr lang="en-US" altLang="zh-CN" b="1" dirty="0">
                <a:latin typeface="微软雅黑" panose="020B0503020204020204" pitchFamily="34" charset="-122"/>
                <a:ea typeface="微软雅黑" panose="020B0503020204020204" pitchFamily="34" charset="-122"/>
              </a:rPr>
              <a:t>T</a:t>
            </a:r>
            <a:r>
              <a:rPr lang="en-US" altLang="zh-CN" b="1" baseline="-25000" dirty="0">
                <a:latin typeface="微软雅黑" panose="020B0503020204020204" pitchFamily="34" charset="-122"/>
                <a:ea typeface="微软雅黑" panose="020B0503020204020204" pitchFamily="34" charset="-122"/>
              </a:rPr>
              <a:t>0</a:t>
            </a:r>
            <a:r>
              <a:rPr lang="en-US" altLang="zh-CN" b="1" dirty="0">
                <a:latin typeface="微软雅黑" panose="020B0503020204020204" pitchFamily="34" charset="-122"/>
                <a:ea typeface="微软雅黑" panose="020B0503020204020204" pitchFamily="34" charset="-122"/>
              </a:rPr>
              <a:t> +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，比帧的发送时间要多一个单程端到端时延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zh-CN" altLang="en-US"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358741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anim calcmode="lin" valueType="num">
                                      <p:cBhvr>
                                        <p:cTn id="1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nodeType="clickEffect">
                                  <p:stCondLst>
                                    <p:cond delay="0"/>
                                  </p:stCondLst>
                                  <p:childTnLst>
                                    <p:anim calcmode="discrete" valueType="str">
                                      <p:cBhvr>
                                        <p:cTn id="17"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3756"/>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要提高以太网的信道利用率，就必须减小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之比。</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在以太网中定义了</a:t>
            </a:r>
            <a:r>
              <a:rPr lang="zh-CN" altLang="en-US" sz="2000" b="1" dirty="0">
                <a:solidFill>
                  <a:srgbClr val="C00000"/>
                </a:solidFill>
                <a:latin typeface="微软雅黑" pitchFamily="34" charset="-122"/>
                <a:ea typeface="微软雅黑" pitchFamily="34" charset="-122"/>
              </a:rPr>
              <a:t>参数 </a:t>
            </a:r>
            <a:r>
              <a:rPr lang="en-US" altLang="zh-CN" sz="2000" b="1" i="1" dirty="0">
                <a:solidFill>
                  <a:srgbClr val="C00000"/>
                </a:solidFill>
                <a:latin typeface="Times New Roman" pitchFamily="18" charset="0"/>
                <a:ea typeface="微软雅黑" pitchFamily="34" charset="-122"/>
                <a:cs typeface="Times New Roman" pitchFamily="18" charset="0"/>
              </a:rPr>
              <a:t>a</a:t>
            </a:r>
            <a:r>
              <a:rPr lang="en-US" altLang="zh-CN" sz="2000" b="1" i="1" dirty="0">
                <a:latin typeface="Times New Roman" pitchFamily="18" charset="0"/>
                <a:ea typeface="微软雅黑" pitchFamily="34" charset="-122"/>
                <a:cs typeface="Times New Roman" pitchFamily="18" charset="0"/>
              </a:rPr>
              <a:t>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以太网单程端到端时延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与帧的发送时间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 </a:t>
            </a:r>
            <a:r>
              <a:rPr lang="zh-CN" altLang="en-US" sz="2000" b="1" dirty="0">
                <a:latin typeface="微软雅黑" pitchFamily="34" charset="-122"/>
                <a:ea typeface="微软雅黑" pitchFamily="34" charset="-122"/>
              </a:rPr>
              <a:t>之比： </a:t>
            </a:r>
          </a:p>
        </p:txBody>
      </p:sp>
      <p:sp>
        <p:nvSpPr>
          <p:cNvPr id="8" name="AutoShape 5"/>
          <p:cNvSpPr>
            <a:spLocks noChangeArrowheads="1"/>
          </p:cNvSpPr>
          <p:nvPr/>
        </p:nvSpPr>
        <p:spPr bwMode="auto">
          <a:xfrm>
            <a:off x="502921" y="6238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189" y="600726"/>
            <a:ext cx="2024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与利用率</a:t>
            </a:r>
            <a:endParaRPr lang="fr-FR" altLang="zh-CN" sz="2000" b="1" dirty="0">
              <a:solidFill>
                <a:schemeClr val="bg1"/>
              </a:solidFill>
              <a:latin typeface="微软雅黑" pitchFamily="34" charset="-122"/>
              <a:ea typeface="微软雅黑" pitchFamily="34" charset="-122"/>
            </a:endParaRPr>
          </a:p>
        </p:txBody>
      </p:sp>
      <p:graphicFrame>
        <p:nvGraphicFramePr>
          <p:cNvPr id="10" name="对象 9"/>
          <p:cNvGraphicFramePr>
            <a:graphicFrameLocks noChangeAspect="1"/>
          </p:cNvGraphicFramePr>
          <p:nvPr/>
        </p:nvGraphicFramePr>
        <p:xfrm>
          <a:off x="2754891" y="1859787"/>
          <a:ext cx="1570596" cy="608011"/>
        </p:xfrm>
        <a:graphic>
          <a:graphicData uri="http://schemas.openxmlformats.org/presentationml/2006/ole">
            <mc:AlternateContent xmlns:mc="http://schemas.openxmlformats.org/markup-compatibility/2006">
              <mc:Choice xmlns:v="urn:schemas-microsoft-com:vml" Requires="v">
                <p:oleObj name="公式" r:id="rId3" imgW="545863" imgH="228501" progId="Equation.3">
                  <p:embed/>
                </p:oleObj>
              </mc:Choice>
              <mc:Fallback>
                <p:oleObj name="公式" r:id="rId3" imgW="545863" imgH="228501" progId="Equation.3">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891" y="1859787"/>
                        <a:ext cx="1570596" cy="608011"/>
                      </a:xfrm>
                      <a:prstGeom prst="rect">
                        <a:avLst/>
                      </a:prstGeom>
                      <a:solidFill>
                        <a:srgbClr val="FFFF99"/>
                      </a:solidFill>
                      <a:ln w="12700">
                        <a:solidFill>
                          <a:schemeClr val="tx1"/>
                        </a:solidFill>
                        <a:miter lim="800000"/>
                        <a:headEnd/>
                        <a:tailEnd/>
                      </a:ln>
                    </p:spPr>
                  </p:pic>
                </p:oleObj>
              </mc:Fallback>
            </mc:AlternateContent>
          </a:graphicData>
        </a:graphic>
      </p:graphicFrame>
      <p:sp>
        <p:nvSpPr>
          <p:cNvPr id="12" name="对角圆角矩形 11"/>
          <p:cNvSpPr/>
          <p:nvPr/>
        </p:nvSpPr>
        <p:spPr>
          <a:xfrm>
            <a:off x="843743" y="2602824"/>
            <a:ext cx="7202976" cy="16246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dirty="0"/>
          </a:p>
        </p:txBody>
      </p:sp>
      <p:sp>
        <p:nvSpPr>
          <p:cNvPr id="13" name="矩形 12"/>
          <p:cNvSpPr/>
          <p:nvPr/>
        </p:nvSpPr>
        <p:spPr>
          <a:xfrm>
            <a:off x="1241368" y="2667385"/>
            <a:ext cx="6555970" cy="1477328"/>
          </a:xfrm>
          <a:prstGeom prst="rect">
            <a:avLst/>
          </a:prstGeom>
        </p:spPr>
        <p:txBody>
          <a:bodyPr wrap="square">
            <a:spAutoFit/>
          </a:bodyPr>
          <a:lstStyle/>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 0</a:t>
            </a:r>
            <a:r>
              <a:rPr lang="zh-CN" altLang="en-US" b="1" dirty="0">
                <a:solidFill>
                  <a:srgbClr val="FFFF00"/>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表示一发生碰撞就立即可以检测出来， 并立即停止发送，因而信道利用率很高。</a:t>
            </a:r>
          </a:p>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a:t>
            </a:r>
            <a:r>
              <a:rPr lang="zh-CN" altLang="en-US" b="1" dirty="0">
                <a:solidFill>
                  <a:srgbClr val="FFFF00"/>
                </a:solidFill>
                <a:latin typeface="微软雅黑" pitchFamily="34" charset="-122"/>
                <a:ea typeface="微软雅黑" pitchFamily="34" charset="-122"/>
              </a:rPr>
              <a:t>越大，</a:t>
            </a:r>
            <a:r>
              <a:rPr lang="zh-CN" altLang="en-US" b="1" dirty="0">
                <a:solidFill>
                  <a:schemeClr val="bg1"/>
                </a:solidFill>
                <a:latin typeface="微软雅黑" pitchFamily="34" charset="-122"/>
                <a:ea typeface="微软雅黑" pitchFamily="34" charset="-122"/>
              </a:rPr>
              <a:t>表明争用期所占的比例增大，每发生一次碰撞就浪费许多信道资源，使得信道利用率明显降低。 </a:t>
            </a:r>
          </a:p>
        </p:txBody>
      </p:sp>
    </p:spTree>
    <p:extLst>
      <p:ext uri="{BB962C8B-B14F-4D97-AF65-F5344CB8AC3E}">
        <p14:creationId xmlns:p14="http://schemas.microsoft.com/office/powerpoint/2010/main" val="24594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fade">
                                      <p:cBhvr>
                                        <p:cTn id="31" dur="1000"/>
                                        <p:tgtEl>
                                          <p:spTgt spid="13">
                                            <p:txEl>
                                              <p:pRg st="0" end="0"/>
                                            </p:txEl>
                                          </p:spTgt>
                                        </p:tgtEl>
                                      </p:cBhvr>
                                    </p:animEffect>
                                    <p:anim calcmode="lin" valueType="num">
                                      <p:cBhvr>
                                        <p:cTn id="32"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3">
                                            <p:txEl>
                                              <p:pRg st="1" end="1"/>
                                            </p:txEl>
                                          </p:spTgt>
                                        </p:tgtEl>
                                        <p:attrNameLst>
                                          <p:attrName>style.visibility</p:attrName>
                                        </p:attrNameLst>
                                      </p:cBhvr>
                                      <p:to>
                                        <p:strVal val="visible"/>
                                      </p:to>
                                    </p:set>
                                    <p:animEffect transition="in" filter="fade">
                                      <p:cBhvr>
                                        <p:cTn id="38" dur="1000"/>
                                        <p:tgtEl>
                                          <p:spTgt spid="13">
                                            <p:txEl>
                                              <p:pRg st="1" end="1"/>
                                            </p:txEl>
                                          </p:spTgt>
                                        </p:tgtEl>
                                      </p:cBhvr>
                                    </p:animEffect>
                                    <p:anim calcmode="lin" valueType="num">
                                      <p:cBhvr>
                                        <p:cTn id="39"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40"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2" grpId="0" animBg="1"/>
      <p:bldP spid="13"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7169F-9A0A-29A3-08D0-D334B47FAF9A}"/>
            </a:ext>
          </a:extLst>
        </p:cNvPr>
        <p:cNvGrpSpPr/>
        <p:nvPr/>
      </p:nvGrpSpPr>
      <p:grpSpPr>
        <a:xfrm>
          <a:off x="0" y="0"/>
          <a:ext cx="0" cy="0"/>
          <a:chOff x="0" y="0"/>
          <a:chExt cx="0" cy="0"/>
        </a:xfrm>
      </p:grpSpPr>
      <p:sp>
        <p:nvSpPr>
          <p:cNvPr id="7" name="Rectangle 46">
            <a:extLst>
              <a:ext uri="{FF2B5EF4-FFF2-40B4-BE49-F238E27FC236}">
                <a16:creationId xmlns:a16="http://schemas.microsoft.com/office/drawing/2014/main" id="{DE740DB4-FE44-0D46-0E06-7D31C516D9CB}"/>
              </a:ext>
            </a:extLst>
          </p:cNvPr>
          <p:cNvSpPr>
            <a:spLocks noChangeArrowheads="1"/>
          </p:cNvSpPr>
          <p:nvPr/>
        </p:nvSpPr>
        <p:spPr bwMode="auto">
          <a:xfrm>
            <a:off x="502921" y="973756"/>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要提高以太网的信道利用率，就必须减小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之比。</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在以太网中定义了</a:t>
            </a:r>
            <a:r>
              <a:rPr lang="zh-CN" altLang="en-US" sz="2000" b="1" dirty="0">
                <a:solidFill>
                  <a:srgbClr val="C00000"/>
                </a:solidFill>
                <a:latin typeface="微软雅黑" pitchFamily="34" charset="-122"/>
                <a:ea typeface="微软雅黑" pitchFamily="34" charset="-122"/>
              </a:rPr>
              <a:t>参数 </a:t>
            </a:r>
            <a:r>
              <a:rPr lang="en-US" altLang="zh-CN" sz="2000" b="1" i="1" dirty="0">
                <a:solidFill>
                  <a:srgbClr val="C00000"/>
                </a:solidFill>
                <a:latin typeface="Times New Roman" pitchFamily="18" charset="0"/>
                <a:ea typeface="微软雅黑" pitchFamily="34" charset="-122"/>
                <a:cs typeface="Times New Roman" pitchFamily="18" charset="0"/>
              </a:rPr>
              <a:t>a</a:t>
            </a:r>
            <a:r>
              <a:rPr lang="en-US" altLang="zh-CN" sz="2000" b="1" i="1" dirty="0">
                <a:latin typeface="Times New Roman" pitchFamily="18" charset="0"/>
                <a:ea typeface="微软雅黑" pitchFamily="34" charset="-122"/>
                <a:cs typeface="Times New Roman" pitchFamily="18" charset="0"/>
              </a:rPr>
              <a:t>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以太网单程端到端时延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与帧的发送时间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 </a:t>
            </a:r>
            <a:r>
              <a:rPr lang="zh-CN" altLang="en-US" sz="2000" b="1" dirty="0">
                <a:latin typeface="微软雅黑" pitchFamily="34" charset="-122"/>
                <a:ea typeface="微软雅黑" pitchFamily="34" charset="-122"/>
              </a:rPr>
              <a:t>之比： </a:t>
            </a:r>
          </a:p>
        </p:txBody>
      </p:sp>
      <p:sp>
        <p:nvSpPr>
          <p:cNvPr id="8" name="AutoShape 5">
            <a:extLst>
              <a:ext uri="{FF2B5EF4-FFF2-40B4-BE49-F238E27FC236}">
                <a16:creationId xmlns:a16="http://schemas.microsoft.com/office/drawing/2014/main" id="{E3AFF950-894E-AC29-0C99-67C956037231}"/>
              </a:ext>
            </a:extLst>
          </p:cNvPr>
          <p:cNvSpPr>
            <a:spLocks noChangeArrowheads="1"/>
          </p:cNvSpPr>
          <p:nvPr/>
        </p:nvSpPr>
        <p:spPr bwMode="auto">
          <a:xfrm>
            <a:off x="502921" y="6238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625AF80F-07A0-0A75-8808-42553D7ADD31}"/>
              </a:ext>
            </a:extLst>
          </p:cNvPr>
          <p:cNvSpPr>
            <a:spLocks noChangeArrowheads="1"/>
          </p:cNvSpPr>
          <p:nvPr/>
        </p:nvSpPr>
        <p:spPr bwMode="auto">
          <a:xfrm>
            <a:off x="3540189" y="600726"/>
            <a:ext cx="2024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与利用率</a:t>
            </a:r>
            <a:endParaRPr lang="fr-FR" altLang="zh-CN" sz="2000" b="1" dirty="0">
              <a:solidFill>
                <a:schemeClr val="bg1"/>
              </a:solidFill>
              <a:latin typeface="微软雅黑" pitchFamily="34" charset="-122"/>
              <a:ea typeface="微软雅黑" pitchFamily="34" charset="-122"/>
            </a:endParaRPr>
          </a:p>
        </p:txBody>
      </p:sp>
      <p:graphicFrame>
        <p:nvGraphicFramePr>
          <p:cNvPr id="10" name="对象 9">
            <a:extLst>
              <a:ext uri="{FF2B5EF4-FFF2-40B4-BE49-F238E27FC236}">
                <a16:creationId xmlns:a16="http://schemas.microsoft.com/office/drawing/2014/main" id="{C165A0AD-BA84-6670-1F26-421F30DE7F1F}"/>
              </a:ext>
            </a:extLst>
          </p:cNvPr>
          <p:cNvGraphicFramePr>
            <a:graphicFrameLocks noChangeAspect="1"/>
          </p:cNvGraphicFramePr>
          <p:nvPr/>
        </p:nvGraphicFramePr>
        <p:xfrm>
          <a:off x="2754891" y="1859787"/>
          <a:ext cx="1570596" cy="608011"/>
        </p:xfrm>
        <a:graphic>
          <a:graphicData uri="http://schemas.openxmlformats.org/presentationml/2006/ole">
            <mc:AlternateContent xmlns:mc="http://schemas.openxmlformats.org/markup-compatibility/2006">
              <mc:Choice xmlns:v="urn:schemas-microsoft-com:vml" Requires="v">
                <p:oleObj name="公式" r:id="rId3" imgW="545863" imgH="228501" progId="Equation.3">
                  <p:embed/>
                </p:oleObj>
              </mc:Choice>
              <mc:Fallback>
                <p:oleObj name="公式" r:id="rId3" imgW="545863" imgH="228501" progId="Equation.3">
                  <p:embed/>
                  <p:pic>
                    <p:nvPicPr>
                      <p:cNvPr id="10" name="对象 9">
                        <a:extLst>
                          <a:ext uri="{FF2B5EF4-FFF2-40B4-BE49-F238E27FC236}">
                            <a16:creationId xmlns:a16="http://schemas.microsoft.com/office/drawing/2014/main" id="{C165A0AD-BA84-6670-1F26-421F30DE7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891" y="1859787"/>
                        <a:ext cx="1570596" cy="608011"/>
                      </a:xfrm>
                      <a:prstGeom prst="rect">
                        <a:avLst/>
                      </a:prstGeom>
                      <a:solidFill>
                        <a:srgbClr val="FFFF99"/>
                      </a:solidFill>
                      <a:ln w="12700">
                        <a:solidFill>
                          <a:schemeClr val="tx1"/>
                        </a:solidFill>
                        <a:miter lim="800000"/>
                        <a:headEnd/>
                        <a:tailEnd/>
                      </a:ln>
                    </p:spPr>
                  </p:pic>
                </p:oleObj>
              </mc:Fallback>
            </mc:AlternateContent>
          </a:graphicData>
        </a:graphic>
      </p:graphicFrame>
      <p:grpSp>
        <p:nvGrpSpPr>
          <p:cNvPr id="11" name="组合 10">
            <a:extLst>
              <a:ext uri="{FF2B5EF4-FFF2-40B4-BE49-F238E27FC236}">
                <a16:creationId xmlns:a16="http://schemas.microsoft.com/office/drawing/2014/main" id="{5414C6B8-3EE8-A372-4D0E-760B3903F6D3}"/>
              </a:ext>
            </a:extLst>
          </p:cNvPr>
          <p:cNvGrpSpPr/>
          <p:nvPr/>
        </p:nvGrpSpPr>
        <p:grpSpPr>
          <a:xfrm>
            <a:off x="951158" y="2625937"/>
            <a:ext cx="7202976" cy="1361911"/>
            <a:chOff x="610337" y="3628060"/>
            <a:chExt cx="7202976" cy="1266170"/>
          </a:xfrm>
        </p:grpSpPr>
        <p:sp>
          <p:nvSpPr>
            <p:cNvPr id="12" name="对角圆角矩形 11">
              <a:extLst>
                <a:ext uri="{FF2B5EF4-FFF2-40B4-BE49-F238E27FC236}">
                  <a16:creationId xmlns:a16="http://schemas.microsoft.com/office/drawing/2014/main" id="{EE85D947-C0EC-37A7-FA55-AB50D41DF407}"/>
                </a:ext>
              </a:extLst>
            </p:cNvPr>
            <p:cNvSpPr/>
            <p:nvPr/>
          </p:nvSpPr>
          <p:spPr>
            <a:xfrm>
              <a:off x="610337" y="3628060"/>
              <a:ext cx="7202976" cy="126617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dirty="0"/>
            </a:p>
          </p:txBody>
        </p:sp>
        <p:sp>
          <p:nvSpPr>
            <p:cNvPr id="13" name="矩形 12">
              <a:extLst>
                <a:ext uri="{FF2B5EF4-FFF2-40B4-BE49-F238E27FC236}">
                  <a16:creationId xmlns:a16="http://schemas.microsoft.com/office/drawing/2014/main" id="{08DFE662-C51F-8CE2-A92A-681102079BF9}"/>
                </a:ext>
              </a:extLst>
            </p:cNvPr>
            <p:cNvSpPr/>
            <p:nvPr/>
          </p:nvSpPr>
          <p:spPr>
            <a:xfrm>
              <a:off x="871050" y="3706070"/>
              <a:ext cx="6737509" cy="1021997"/>
            </a:xfrm>
            <a:prstGeom prst="rect">
              <a:avLst/>
            </a:prstGeom>
          </p:spPr>
          <p:txBody>
            <a:bodyPr wrap="square">
              <a:spAutoFit/>
            </a:bodyPr>
            <a:lstStyle/>
            <a:p>
              <a:pPr algn="just">
                <a:lnSpc>
                  <a:spcPts val="2700"/>
                </a:lnSpc>
              </a:pPr>
              <a:r>
                <a:rPr lang="zh-CN" altLang="en-US" b="1" dirty="0">
                  <a:solidFill>
                    <a:schemeClr val="bg1"/>
                  </a:solidFill>
                  <a:latin typeface="Times New Roman" pitchFamily="18" charset="0"/>
                  <a:ea typeface="微软雅黑" pitchFamily="34" charset="-122"/>
                  <a:cs typeface="Times New Roman" pitchFamily="18" charset="0"/>
                </a:rPr>
                <a:t>以太网参数 </a:t>
              </a: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i="1" dirty="0">
                  <a:solidFill>
                    <a:schemeClr val="bg1"/>
                  </a:solidFill>
                  <a:latin typeface="Times New Roman" pitchFamily="18" charset="0"/>
                  <a:ea typeface="微软雅黑" pitchFamily="34" charset="-122"/>
                  <a:cs typeface="Times New Roman" pitchFamily="18" charset="0"/>
                </a:rPr>
                <a:t> </a:t>
              </a:r>
              <a:r>
                <a:rPr lang="zh-CN" altLang="en-US" b="1" dirty="0">
                  <a:solidFill>
                    <a:schemeClr val="bg1"/>
                  </a:solidFill>
                  <a:latin typeface="Times New Roman" pitchFamily="18" charset="0"/>
                  <a:ea typeface="微软雅黑" pitchFamily="34" charset="-122"/>
                  <a:cs typeface="Times New Roman" pitchFamily="18" charset="0"/>
                </a:rPr>
                <a:t>的值应尽可能小些。这就是说，当数据率一定时，以太网的连线的长度受到限制（否则 </a:t>
              </a:r>
              <a:r>
                <a:rPr lang="en-US" altLang="zh-CN" b="1" i="1" dirty="0">
                  <a:solidFill>
                    <a:srgbClr val="FFFF00"/>
                  </a:solidFill>
                  <a:latin typeface="Times New Roman" panose="02020603050405020304" pitchFamily="18" charset="0"/>
                  <a:ea typeface="微软雅黑" pitchFamily="34" charset="-122"/>
                  <a:cs typeface="Times New Roman" panose="02020603050405020304" pitchFamily="18" charset="0"/>
                  <a:sym typeface="Symbol"/>
                </a:rPr>
                <a:t></a:t>
              </a:r>
              <a:r>
                <a:rPr lang="en-US" altLang="zh-CN" b="1" i="1" dirty="0">
                  <a:latin typeface="Times New Roman" panose="02020603050405020304" pitchFamily="18" charset="0"/>
                  <a:ea typeface="微软雅黑" pitchFamily="34" charset="-122"/>
                  <a:cs typeface="Times New Roman" panose="02020603050405020304" pitchFamily="18" charset="0"/>
                  <a:sym typeface="Symbol"/>
                </a:rPr>
                <a:t> </a:t>
              </a:r>
              <a:r>
                <a:rPr lang="zh-CN" altLang="en-US" b="1" dirty="0">
                  <a:solidFill>
                    <a:schemeClr val="bg1"/>
                  </a:solidFill>
                  <a:latin typeface="Times New Roman" pitchFamily="18" charset="0"/>
                  <a:ea typeface="微软雅黑" pitchFamily="34" charset="-122"/>
                  <a:cs typeface="Times New Roman" pitchFamily="18" charset="0"/>
                </a:rPr>
                <a:t>的数值会太大），同时以太网的帧长不能太短（否则 </a:t>
              </a:r>
              <a:r>
                <a:rPr lang="en-US" altLang="zh-CN" b="1" i="1" dirty="0">
                  <a:solidFill>
                    <a:srgbClr val="FFFF00"/>
                  </a:solidFill>
                  <a:latin typeface="Times New Roman" pitchFamily="18" charset="0"/>
                  <a:ea typeface="微软雅黑" pitchFamily="34" charset="-122"/>
                  <a:cs typeface="Times New Roman" pitchFamily="18" charset="0"/>
                </a:rPr>
                <a:t>T</a:t>
              </a:r>
              <a:r>
                <a:rPr lang="en-US" altLang="zh-CN" b="1" baseline="-25000" dirty="0">
                  <a:solidFill>
                    <a:srgbClr val="FFFF00"/>
                  </a:solidFill>
                  <a:latin typeface="Times New Roman" pitchFamily="18" charset="0"/>
                  <a:ea typeface="微软雅黑" pitchFamily="34" charset="-122"/>
                  <a:cs typeface="Times New Roman" pitchFamily="18" charset="0"/>
                </a:rPr>
                <a:t>0</a:t>
              </a:r>
              <a:r>
                <a:rPr lang="en-US" altLang="zh-CN" b="1" dirty="0">
                  <a:solidFill>
                    <a:srgbClr val="FFFF00"/>
                  </a:solidFill>
                  <a:latin typeface="Times New Roman" pitchFamily="18" charset="0"/>
                  <a:ea typeface="微软雅黑" pitchFamily="34" charset="-122"/>
                  <a:cs typeface="Times New Roman" pitchFamily="18" charset="0"/>
                </a:rPr>
                <a:t> </a:t>
              </a:r>
              <a:r>
                <a:rPr lang="zh-CN" altLang="en-US" b="1" dirty="0">
                  <a:solidFill>
                    <a:schemeClr val="bg1"/>
                  </a:solidFill>
                  <a:latin typeface="Times New Roman" pitchFamily="18" charset="0"/>
                  <a:ea typeface="微软雅黑" pitchFamily="34" charset="-122"/>
                  <a:cs typeface="Times New Roman" pitchFamily="18" charset="0"/>
                </a:rPr>
                <a:t>的值会太小，使 </a:t>
              </a: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chemeClr val="bg1"/>
                  </a:solidFill>
                  <a:latin typeface="Times New Roman" pitchFamily="18" charset="0"/>
                  <a:ea typeface="微软雅黑" pitchFamily="34" charset="-122"/>
                  <a:cs typeface="Times New Roman" pitchFamily="18" charset="0"/>
                </a:rPr>
                <a:t> </a:t>
              </a:r>
              <a:r>
                <a:rPr lang="zh-CN" altLang="en-US" b="1" dirty="0">
                  <a:solidFill>
                    <a:schemeClr val="bg1"/>
                  </a:solidFill>
                  <a:latin typeface="Times New Roman" pitchFamily="18" charset="0"/>
                  <a:ea typeface="微软雅黑" pitchFamily="34" charset="-122"/>
                  <a:cs typeface="Times New Roman" pitchFamily="18" charset="0"/>
                </a:rPr>
                <a:t>值太大）。</a:t>
              </a:r>
            </a:p>
          </p:txBody>
        </p:sp>
      </p:grpSp>
    </p:spTree>
    <p:extLst>
      <p:ext uri="{BB962C8B-B14F-4D97-AF65-F5344CB8AC3E}">
        <p14:creationId xmlns:p14="http://schemas.microsoft.com/office/powerpoint/2010/main" val="155200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73417" y="602934"/>
            <a:ext cx="31678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信道利用率的最大值 </a:t>
            </a:r>
            <a:r>
              <a:rPr lang="en-US" altLang="zh-CN" sz="2000" b="1" dirty="0" err="1">
                <a:solidFill>
                  <a:schemeClr val="bg1"/>
                </a:solidFill>
                <a:latin typeface="微软雅黑" pitchFamily="34" charset="-122"/>
                <a:ea typeface="微软雅黑" pitchFamily="34" charset="-122"/>
              </a:rPr>
              <a:t>S</a:t>
            </a:r>
            <a:r>
              <a:rPr lang="en-US" altLang="zh-CN" sz="2000" b="1" baseline="-25000" dirty="0" err="1">
                <a:solidFill>
                  <a:schemeClr val="bg1"/>
                </a:solidFill>
                <a:latin typeface="微软雅黑" pitchFamily="34" charset="-122"/>
                <a:ea typeface="微软雅黑" pitchFamily="34" charset="-122"/>
              </a:rPr>
              <a:t>max</a:t>
            </a:r>
            <a:r>
              <a:rPr lang="en-US" altLang="zh-CN" sz="2000" b="1" dirty="0">
                <a:solidFill>
                  <a:schemeClr val="bg1"/>
                </a:solidFill>
                <a:latin typeface="微软雅黑" pitchFamily="34" charset="-122"/>
                <a:ea typeface="微软雅黑" pitchFamily="34" charset="-122"/>
              </a:rPr>
              <a:t> </a:t>
            </a:r>
            <a:endParaRPr lang="fr-FR" altLang="zh-CN" sz="2000" b="1" dirty="0">
              <a:solidFill>
                <a:schemeClr val="bg1"/>
              </a:solidFill>
              <a:latin typeface="微软雅黑" pitchFamily="34" charset="-122"/>
              <a:ea typeface="微软雅黑" pitchFamily="34" charset="-122"/>
            </a:endParaRPr>
          </a:p>
        </p:txBody>
      </p:sp>
      <p:sp>
        <p:nvSpPr>
          <p:cNvPr id="13" name="圆角矩形 12"/>
          <p:cNvSpPr/>
          <p:nvPr/>
        </p:nvSpPr>
        <p:spPr>
          <a:xfrm>
            <a:off x="502920" y="1045303"/>
            <a:ext cx="8129015" cy="1975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aphicFrame>
        <p:nvGraphicFramePr>
          <p:cNvPr id="8" name="对象 7"/>
          <p:cNvGraphicFramePr>
            <a:graphicFrameLocks noChangeAspect="1"/>
          </p:cNvGraphicFramePr>
          <p:nvPr/>
        </p:nvGraphicFramePr>
        <p:xfrm>
          <a:off x="5208175" y="1606089"/>
          <a:ext cx="2613664" cy="799146"/>
        </p:xfrm>
        <a:graphic>
          <a:graphicData uri="http://schemas.openxmlformats.org/presentationml/2006/ole">
            <mc:AlternateContent xmlns:mc="http://schemas.openxmlformats.org/markup-compatibility/2006">
              <mc:Choice xmlns:v="urn:schemas-microsoft-com:vml" Requires="v">
                <p:oleObj name="公式" r:id="rId3" imgW="1269449" imgH="431613" progId="Equation.3">
                  <p:embed/>
                </p:oleObj>
              </mc:Choice>
              <mc:Fallback>
                <p:oleObj name="公式" r:id="rId3" imgW="1269449" imgH="431613" progId="Equation.3">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8175" y="1606089"/>
                        <a:ext cx="2613664" cy="799146"/>
                      </a:xfrm>
                      <a:prstGeom prst="rect">
                        <a:avLst/>
                      </a:prstGeom>
                      <a:solidFill>
                        <a:schemeClr val="bg1"/>
                      </a:solidFill>
                      <a:ln w="9525">
                        <a:solidFill>
                          <a:schemeClr val="tx1"/>
                        </a:solidFill>
                        <a:miter lim="800000"/>
                        <a:headEnd/>
                        <a:tailEnd/>
                      </a:ln>
                    </p:spPr>
                  </p:pic>
                </p:oleObj>
              </mc:Fallback>
            </mc:AlternateContent>
          </a:graphicData>
        </a:graphic>
      </p:graphicFrame>
      <p:sp>
        <p:nvSpPr>
          <p:cNvPr id="14" name="Line 4"/>
          <p:cNvSpPr>
            <a:spLocks noChangeShapeType="1"/>
          </p:cNvSpPr>
          <p:nvPr/>
        </p:nvSpPr>
        <p:spPr bwMode="auto">
          <a:xfrm>
            <a:off x="1876204" y="2589486"/>
            <a:ext cx="2590996"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
          <p:cNvSpPr>
            <a:spLocks noChangeShapeType="1"/>
          </p:cNvSpPr>
          <p:nvPr/>
        </p:nvSpPr>
        <p:spPr bwMode="auto">
          <a:xfrm>
            <a:off x="1879708" y="1375680"/>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Line 8"/>
          <p:cNvSpPr>
            <a:spLocks noChangeShapeType="1"/>
          </p:cNvSpPr>
          <p:nvPr/>
        </p:nvSpPr>
        <p:spPr bwMode="auto">
          <a:xfrm>
            <a:off x="4097723" y="2238474"/>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9"/>
          <p:cNvSpPr>
            <a:spLocks noChangeArrowheads="1"/>
          </p:cNvSpPr>
          <p:nvPr/>
        </p:nvSpPr>
        <p:spPr bwMode="auto">
          <a:xfrm>
            <a:off x="4229761" y="2171119"/>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Line 10"/>
          <p:cNvSpPr>
            <a:spLocks noChangeShapeType="1"/>
          </p:cNvSpPr>
          <p:nvPr/>
        </p:nvSpPr>
        <p:spPr bwMode="auto">
          <a:xfrm>
            <a:off x="1879707" y="2238474"/>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Freeform 16"/>
          <p:cNvSpPr>
            <a:spLocks/>
          </p:cNvSpPr>
          <p:nvPr/>
        </p:nvSpPr>
        <p:spPr bwMode="auto">
          <a:xfrm>
            <a:off x="1879707" y="1591646"/>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Text Box 17"/>
          <p:cNvSpPr txBox="1">
            <a:spLocks noChangeArrowheads="1"/>
          </p:cNvSpPr>
          <p:nvPr/>
        </p:nvSpPr>
        <p:spPr bwMode="auto">
          <a:xfrm>
            <a:off x="2373116" y="1677177"/>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6" name="Line 29"/>
          <p:cNvSpPr>
            <a:spLocks noChangeShapeType="1"/>
          </p:cNvSpPr>
          <p:nvPr/>
        </p:nvSpPr>
        <p:spPr bwMode="auto">
          <a:xfrm>
            <a:off x="4097723" y="2077035"/>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9"/>
          <p:cNvSpPr>
            <a:spLocks noChangeArrowheads="1"/>
          </p:cNvSpPr>
          <p:nvPr/>
        </p:nvSpPr>
        <p:spPr bwMode="auto">
          <a:xfrm>
            <a:off x="2912851" y="2130491"/>
            <a:ext cx="260603" cy="217035"/>
          </a:xfrm>
          <a:prstGeom prst="rect">
            <a:avLst/>
          </a:prstGeom>
          <a:solidFill>
            <a:srgbClr val="C3E3F9"/>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9" name="组合 8">
            <a:extLst>
              <a:ext uri="{FF2B5EF4-FFF2-40B4-BE49-F238E27FC236}">
                <a16:creationId xmlns:a16="http://schemas.microsoft.com/office/drawing/2014/main" id="{9250B792-6F0D-5DF4-C24F-922EBD1DA445}"/>
              </a:ext>
            </a:extLst>
          </p:cNvPr>
          <p:cNvGrpSpPr/>
          <p:nvPr/>
        </p:nvGrpSpPr>
        <p:grpSpPr>
          <a:xfrm>
            <a:off x="2857845" y="2067174"/>
            <a:ext cx="1546386" cy="314751"/>
            <a:chOff x="2857845" y="2067174"/>
            <a:chExt cx="1546386" cy="314751"/>
          </a:xfrm>
        </p:grpSpPr>
        <p:sp>
          <p:nvSpPr>
            <p:cNvPr id="40" name="Text Box 40"/>
            <p:cNvSpPr txBox="1">
              <a:spLocks noChangeArrowheads="1"/>
            </p:cNvSpPr>
            <p:nvPr/>
          </p:nvSpPr>
          <p:spPr bwMode="auto">
            <a:xfrm>
              <a:off x="2857845" y="2074148"/>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41" name="Text Box 41"/>
            <p:cNvSpPr txBox="1">
              <a:spLocks noChangeArrowheads="1"/>
            </p:cNvSpPr>
            <p:nvPr/>
          </p:nvSpPr>
          <p:spPr bwMode="auto">
            <a:xfrm>
              <a:off x="4141017" y="2067174"/>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grpSp>
      <p:sp>
        <p:nvSpPr>
          <p:cNvPr id="42" name="Text Box 42"/>
          <p:cNvSpPr txBox="1">
            <a:spLocks noChangeArrowheads="1"/>
          </p:cNvSpPr>
          <p:nvPr/>
        </p:nvSpPr>
        <p:spPr bwMode="auto">
          <a:xfrm>
            <a:off x="4621244" y="1825787"/>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grpSp>
        <p:nvGrpSpPr>
          <p:cNvPr id="2" name="组合 1"/>
          <p:cNvGrpSpPr/>
          <p:nvPr/>
        </p:nvGrpSpPr>
        <p:grpSpPr>
          <a:xfrm>
            <a:off x="4467199" y="1267696"/>
            <a:ext cx="118510" cy="1550760"/>
            <a:chOff x="7293225" y="1376621"/>
            <a:chExt cx="0" cy="1402709"/>
          </a:xfrm>
        </p:grpSpPr>
        <p:sp>
          <p:nvSpPr>
            <p:cNvPr id="37"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45" name="Text Box 45"/>
          <p:cNvSpPr txBox="1">
            <a:spLocks noChangeArrowheads="1"/>
          </p:cNvSpPr>
          <p:nvPr/>
        </p:nvSpPr>
        <p:spPr bwMode="auto">
          <a:xfrm>
            <a:off x="2742590" y="1209963"/>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48" name="Text Box 48"/>
          <p:cNvSpPr txBox="1">
            <a:spLocks noChangeArrowheads="1"/>
          </p:cNvSpPr>
          <p:nvPr/>
        </p:nvSpPr>
        <p:spPr bwMode="auto">
          <a:xfrm>
            <a:off x="2441232" y="2411433"/>
            <a:ext cx="1620957"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0000FF"/>
                </a:solidFill>
                <a:latin typeface="微软雅黑" pitchFamily="34" charset="-122"/>
                <a:ea typeface="微软雅黑" pitchFamily="34" charset="-122"/>
              </a:rPr>
              <a:t>发送一帧所需时间</a:t>
            </a:r>
            <a:endParaRPr kumimoji="1" lang="zh-CN" altLang="en-US" sz="1400" b="1" dirty="0">
              <a:solidFill>
                <a:srgbClr val="0000FF"/>
              </a:solidFill>
              <a:latin typeface="微软雅黑" pitchFamily="34" charset="-122"/>
              <a:ea typeface="微软雅黑" pitchFamily="34" charset="-122"/>
            </a:endParaRPr>
          </a:p>
        </p:txBody>
      </p:sp>
      <p:sp>
        <p:nvSpPr>
          <p:cNvPr id="50" name="Line 50"/>
          <p:cNvSpPr>
            <a:spLocks noChangeShapeType="1"/>
          </p:cNvSpPr>
          <p:nvPr/>
        </p:nvSpPr>
        <p:spPr bwMode="auto">
          <a:xfrm>
            <a:off x="1876204" y="2077034"/>
            <a:ext cx="283769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60" name="组合 59"/>
          <p:cNvGrpSpPr/>
          <p:nvPr/>
        </p:nvGrpSpPr>
        <p:grpSpPr>
          <a:xfrm flipH="1">
            <a:off x="1830485" y="1267696"/>
            <a:ext cx="45719" cy="1550760"/>
            <a:chOff x="7293225" y="1376621"/>
            <a:chExt cx="0" cy="1402709"/>
          </a:xfrm>
        </p:grpSpPr>
        <p:sp>
          <p:nvSpPr>
            <p:cNvPr id="61"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63" name="矩形 62"/>
          <p:cNvSpPr/>
          <p:nvPr/>
        </p:nvSpPr>
        <p:spPr>
          <a:xfrm>
            <a:off x="1135766" y="3436966"/>
            <a:ext cx="7042687" cy="77566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只有当参数 </a:t>
            </a:r>
            <a:r>
              <a:rPr lang="en-US" altLang="zh-CN" b="1" dirty="0">
                <a:solidFill>
                  <a:srgbClr val="0000FF"/>
                </a:solidFill>
                <a:latin typeface="微软雅黑" panose="020B0503020204020204" pitchFamily="34" charset="-122"/>
                <a:ea typeface="微软雅黑" panose="020B0503020204020204" pitchFamily="34" charset="-122"/>
              </a:rPr>
              <a:t>a </a:t>
            </a:r>
            <a:r>
              <a:rPr lang="zh-CN" altLang="en-US" b="1" dirty="0">
                <a:solidFill>
                  <a:srgbClr val="0000FF"/>
                </a:solidFill>
                <a:latin typeface="微软雅黑" panose="020B0503020204020204" pitchFamily="34" charset="-122"/>
                <a:ea typeface="微软雅黑" panose="020B0503020204020204" pitchFamily="34" charset="-122"/>
              </a:rPr>
              <a:t>远小于 </a:t>
            </a:r>
            <a:r>
              <a:rPr lang="en-US" altLang="zh-CN" b="1" dirty="0">
                <a:solidFill>
                  <a:srgbClr val="0000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才能得到尽可能高的极限信道利用率。</a:t>
            </a:r>
          </a:p>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实际以太网的信道利用率远远低于这个极限信道利用率。</a:t>
            </a:r>
          </a:p>
        </p:txBody>
      </p:sp>
      <p:sp>
        <p:nvSpPr>
          <p:cNvPr id="5" name="文本框 4">
            <a:extLst>
              <a:ext uri="{FF2B5EF4-FFF2-40B4-BE49-F238E27FC236}">
                <a16:creationId xmlns:a16="http://schemas.microsoft.com/office/drawing/2014/main" id="{3CEAD084-0638-7607-3DEF-D31A86BE461D}"/>
              </a:ext>
            </a:extLst>
          </p:cNvPr>
          <p:cNvSpPr txBox="1"/>
          <p:nvPr/>
        </p:nvSpPr>
        <p:spPr>
          <a:xfrm>
            <a:off x="571526" y="1687287"/>
            <a:ext cx="1270669" cy="584775"/>
          </a:xfrm>
          <a:prstGeom prst="rect">
            <a:avLst/>
          </a:prstGeom>
          <a:noFill/>
        </p:spPr>
        <p:txBody>
          <a:bodyPr wrap="square">
            <a:spAutoFit/>
          </a:bodyPr>
          <a:lstStyle/>
          <a:p>
            <a:pPr algn="ctr"/>
            <a:r>
              <a:rPr lang="zh-CN" altLang="en-US" sz="1600" b="1" dirty="0">
                <a:solidFill>
                  <a:srgbClr val="C00000"/>
                </a:solidFill>
                <a:latin typeface="微软雅黑" panose="020B0503020204020204" pitchFamily="34" charset="-122"/>
                <a:ea typeface="微软雅黑" panose="020B0503020204020204" pitchFamily="34" charset="-122"/>
              </a:rPr>
              <a:t>不发生碰撞的理想情况</a:t>
            </a:r>
          </a:p>
        </p:txBody>
      </p:sp>
    </p:spTree>
    <p:extLst>
      <p:ext uri="{BB962C8B-B14F-4D97-AF65-F5344CB8AC3E}">
        <p14:creationId xmlns:p14="http://schemas.microsoft.com/office/powerpoint/2010/main" val="169144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1000"/>
                                        <p:tgtEl>
                                          <p:spTgt spid="63"/>
                                        </p:tgtEl>
                                      </p:cBhvr>
                                    </p:animEffect>
                                    <p:anim calcmode="lin" valueType="num">
                                      <p:cBhvr>
                                        <p:cTn id="24" dur="1000" fill="hold"/>
                                        <p:tgtEl>
                                          <p:spTgt spid="63"/>
                                        </p:tgtEl>
                                        <p:attrNameLst>
                                          <p:attrName>ppt_x</p:attrName>
                                        </p:attrNameLst>
                                      </p:cBhvr>
                                      <p:tavLst>
                                        <p:tav tm="0">
                                          <p:val>
                                            <p:strVal val="#ppt_x"/>
                                          </p:val>
                                        </p:tav>
                                        <p:tav tm="100000">
                                          <p:val>
                                            <p:strVal val="#ppt_x"/>
                                          </p:val>
                                        </p:tav>
                                      </p:tavLst>
                                    </p:anim>
                                    <p:anim calcmode="lin" valueType="num">
                                      <p:cBhvr>
                                        <p:cTn id="25"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3" grpId="0" animBg="1"/>
      <p:bldP spid="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4456"/>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618901" y="581329"/>
            <a:ext cx="38890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3.3.4  </a:t>
            </a:r>
            <a:r>
              <a:rPr lang="zh-CN" altLang="en-US" sz="2400" b="1" dirty="0">
                <a:solidFill>
                  <a:schemeClr val="bg1"/>
                </a:solidFill>
                <a:latin typeface="微软雅黑" pitchFamily="34" charset="-122"/>
                <a:ea typeface="微软雅黑" pitchFamily="34" charset="-122"/>
              </a:rPr>
              <a:t>以太网的 </a:t>
            </a:r>
            <a:r>
              <a:rPr lang="en-US" altLang="zh-CN" sz="2400" b="1" dirty="0">
                <a:solidFill>
                  <a:schemeClr val="bg1"/>
                </a:solidFill>
                <a:latin typeface="微软雅黑" pitchFamily="34" charset="-122"/>
                <a:ea typeface="微软雅黑" pitchFamily="34" charset="-122"/>
              </a:rPr>
              <a:t>MAC </a:t>
            </a:r>
            <a:r>
              <a:rPr lang="zh-CN" altLang="en-US" sz="2400" b="1" dirty="0">
                <a:solidFill>
                  <a:schemeClr val="bg1"/>
                </a:solidFill>
                <a:latin typeface="微软雅黑" pitchFamily="34" charset="-122"/>
                <a:ea typeface="微软雅黑" pitchFamily="34" charset="-122"/>
              </a:rPr>
              <a:t>地址</a:t>
            </a:r>
          </a:p>
        </p:txBody>
      </p:sp>
      <p:sp>
        <p:nvSpPr>
          <p:cNvPr id="2" name="Rectangle 46">
            <a:extLst>
              <a:ext uri="{FF2B5EF4-FFF2-40B4-BE49-F238E27FC236}">
                <a16:creationId xmlns:a16="http://schemas.microsoft.com/office/drawing/2014/main" id="{BCD6AB76-371F-BA2C-B780-9CAB7B2624F9}"/>
              </a:ext>
            </a:extLst>
          </p:cNvPr>
          <p:cNvSpPr>
            <a:spLocks noChangeArrowheads="1"/>
          </p:cNvSpPr>
          <p:nvPr/>
        </p:nvSpPr>
        <p:spPr bwMode="auto">
          <a:xfrm>
            <a:off x="502921" y="985013"/>
            <a:ext cx="8243915" cy="1692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802 </a:t>
            </a:r>
            <a:r>
              <a:rPr lang="zh-CN" altLang="en-US" sz="2000" b="1" dirty="0">
                <a:latin typeface="微软雅黑" pitchFamily="34" charset="-122"/>
                <a:ea typeface="微软雅黑" pitchFamily="34" charset="-122"/>
              </a:rPr>
              <a:t>标准为局域网规定了一种 </a:t>
            </a:r>
            <a:r>
              <a:rPr lang="en-US" altLang="zh-CN" sz="2000" b="1" dirty="0">
                <a:solidFill>
                  <a:srgbClr val="0000FF"/>
                </a:solidFill>
                <a:latin typeface="微软雅黑" pitchFamily="34" charset="-122"/>
                <a:ea typeface="微软雅黑" pitchFamily="34" charset="-122"/>
              </a:rPr>
              <a:t>48</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位的全球地址（简称为地址）是指局域网上的每一台计算机中</a:t>
            </a:r>
            <a:r>
              <a:rPr lang="zh-CN" altLang="en-US" sz="2000" b="1" dirty="0">
                <a:solidFill>
                  <a:srgbClr val="C00000"/>
                </a:solidFill>
                <a:latin typeface="微软雅黑" pitchFamily="34" charset="-122"/>
                <a:ea typeface="微软雅黑" pitchFamily="34" charset="-122"/>
              </a:rPr>
              <a:t>固化在适配器的 </a:t>
            </a:r>
            <a:r>
              <a:rPr lang="en-US" altLang="zh-CN" sz="2000" b="1" dirty="0">
                <a:solidFill>
                  <a:srgbClr val="C00000"/>
                </a:solidFill>
                <a:latin typeface="微软雅黑" pitchFamily="34" charset="-122"/>
                <a:ea typeface="微软雅黑" pitchFamily="34" charset="-122"/>
              </a:rPr>
              <a:t>ROM </a:t>
            </a:r>
            <a:r>
              <a:rPr lang="zh-CN" altLang="en-US" sz="2000" b="1" dirty="0">
                <a:solidFill>
                  <a:srgbClr val="C00000"/>
                </a:solidFill>
                <a:latin typeface="微软雅黑" pitchFamily="34" charset="-122"/>
                <a:ea typeface="微软雅黑" pitchFamily="34" charset="-122"/>
              </a:rPr>
              <a:t>中的地址。</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适配器标识符：</a:t>
            </a:r>
            <a:r>
              <a:rPr lang="zh-CN" altLang="en-US" sz="2000" b="1" dirty="0">
                <a:solidFill>
                  <a:srgbClr val="0000FF"/>
                </a:solidFill>
                <a:latin typeface="微软雅黑" pitchFamily="34" charset="-122"/>
                <a:ea typeface="微软雅黑" pitchFamily="34" charset="-122"/>
              </a:rPr>
              <a:t>硬件地址</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物理地址</a:t>
            </a:r>
            <a:r>
              <a:rPr lang="zh-CN" altLang="en-US" sz="2000" b="1" dirty="0">
                <a:latin typeface="微软雅黑" pitchFamily="34" charset="-122"/>
                <a:ea typeface="微软雅黑" pitchFamily="34" charset="-122"/>
              </a:rPr>
              <a:t>，或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当适配器嵌入到某台计算机后，就当成这台计算机的</a:t>
            </a:r>
            <a:r>
              <a:rPr lang="en-US" altLang="zh-CN" sz="2000" b="1" dirty="0">
                <a:latin typeface="微软雅黑" pitchFamily="34" charset="-122"/>
                <a:ea typeface="微软雅黑" pitchFamily="34" charset="-122"/>
              </a:rPr>
              <a:t>MAC</a:t>
            </a:r>
            <a:r>
              <a:rPr lang="zh-CN" altLang="en-US" sz="2000" b="1" dirty="0">
                <a:latin typeface="微软雅黑" pitchFamily="34" charset="-122"/>
                <a:ea typeface="微软雅黑" pitchFamily="34" charset="-122"/>
              </a:rPr>
              <a:t>地址。</a:t>
            </a:r>
            <a:endParaRPr lang="en-US" altLang="zh-CN" sz="2000" b="1" dirty="0">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6B1069E6-1ACE-FF99-1DBE-A2A9E060E511}"/>
              </a:ext>
            </a:extLst>
          </p:cNvPr>
          <p:cNvGrpSpPr/>
          <p:nvPr/>
        </p:nvGrpSpPr>
        <p:grpSpPr>
          <a:xfrm>
            <a:off x="502921" y="2950415"/>
            <a:ext cx="8129015" cy="1397495"/>
            <a:chOff x="502921" y="2343231"/>
            <a:chExt cx="8129015" cy="1397495"/>
          </a:xfrm>
        </p:grpSpPr>
        <p:sp>
          <p:nvSpPr>
            <p:cNvPr id="4" name="对角圆角矩形 11">
              <a:extLst>
                <a:ext uri="{FF2B5EF4-FFF2-40B4-BE49-F238E27FC236}">
                  <a16:creationId xmlns:a16="http://schemas.microsoft.com/office/drawing/2014/main" id="{2FC52ABD-2BED-6FD6-EF3C-FD94B78737FD}"/>
                </a:ext>
              </a:extLst>
            </p:cNvPr>
            <p:cNvSpPr/>
            <p:nvPr/>
          </p:nvSpPr>
          <p:spPr>
            <a:xfrm>
              <a:off x="502921" y="2343231"/>
              <a:ext cx="8129015" cy="139749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0D120D8-044E-0BC5-DE5D-CC5E0C204ABF}"/>
                </a:ext>
              </a:extLst>
            </p:cNvPr>
            <p:cNvSpPr/>
            <p:nvPr/>
          </p:nvSpPr>
          <p:spPr>
            <a:xfrm>
              <a:off x="836445" y="2467202"/>
              <a:ext cx="7494755" cy="1131079"/>
            </a:xfrm>
            <a:prstGeom prst="rect">
              <a:avLst/>
            </a:prstGeom>
          </p:spPr>
          <p:txBody>
            <a:bodyPr wrap="square">
              <a:spAutoFit/>
            </a:bodyPr>
            <a:lstStyle/>
            <a:p>
              <a:pPr>
                <a:lnSpc>
                  <a:spcPts val="2700"/>
                </a:lnSpc>
              </a:pPr>
              <a:r>
                <a:rPr lang="zh-CN" altLang="en-US" b="1" dirty="0">
                  <a:solidFill>
                    <a:srgbClr val="FFFF00"/>
                  </a:solidFill>
                  <a:latin typeface="微软雅黑" pitchFamily="34" charset="-122"/>
                  <a:ea typeface="微软雅黑" pitchFamily="34" charset="-122"/>
                </a:rPr>
                <a:t>注意：</a:t>
              </a:r>
              <a:r>
                <a:rPr lang="zh-CN" altLang="en-US" b="1" dirty="0">
                  <a:solidFill>
                    <a:schemeClr val="bg1"/>
                  </a:solidFill>
                  <a:latin typeface="微软雅黑" pitchFamily="34" charset="-122"/>
                  <a:ea typeface="微软雅黑" pitchFamily="34" charset="-122"/>
                </a:rPr>
                <a:t>如果连接在局域网上的主机或路由器安装有多个适配器，这样的主机或路由器就有多个“地址”。更准确些说，这种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位“地址”应当是某个</a:t>
              </a:r>
              <a:r>
                <a:rPr lang="zh-CN" altLang="en-US" b="1" dirty="0">
                  <a:solidFill>
                    <a:srgbClr val="FFFF00"/>
                  </a:solidFill>
                  <a:latin typeface="微软雅黑" pitchFamily="34" charset="-122"/>
                  <a:ea typeface="微软雅黑" pitchFamily="34" charset="-122"/>
                </a:rPr>
                <a:t>接口的标识符。</a:t>
              </a:r>
            </a:p>
          </p:txBody>
        </p:sp>
      </p:grpSp>
    </p:spTree>
    <p:extLst>
      <p:ext uri="{BB962C8B-B14F-4D97-AF65-F5344CB8AC3E}">
        <p14:creationId xmlns:p14="http://schemas.microsoft.com/office/powerpoint/2010/main" val="1179195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2921" y="2305821"/>
            <a:ext cx="8271624"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注册管理机构 </a:t>
            </a:r>
            <a:r>
              <a:rPr lang="en-US" altLang="zh-CN" sz="2000" b="1" dirty="0">
                <a:latin typeface="微软雅黑" pitchFamily="34" charset="-122"/>
                <a:ea typeface="微软雅黑" pitchFamily="34" charset="-122"/>
              </a:rPr>
              <a:t>RA </a:t>
            </a:r>
            <a:r>
              <a:rPr lang="zh-CN" altLang="en-US" sz="2000" b="1" dirty="0">
                <a:latin typeface="微软雅黑" pitchFamily="34" charset="-122"/>
                <a:ea typeface="微软雅黑" pitchFamily="34" charset="-122"/>
              </a:rPr>
              <a:t>负责向厂家分配</a:t>
            </a:r>
            <a:r>
              <a:rPr lang="zh-CN" altLang="en-US" sz="2000" b="1" dirty="0">
                <a:solidFill>
                  <a:srgbClr val="0000FF"/>
                </a:solidFill>
                <a:latin typeface="微软雅黑" pitchFamily="34" charset="-122"/>
                <a:ea typeface="微软雅黑" pitchFamily="34" charset="-122"/>
              </a:rPr>
              <a:t>前 </a:t>
            </a:r>
            <a:r>
              <a:rPr lang="en-US" altLang="zh-CN" sz="2000" b="1" dirty="0">
                <a:solidFill>
                  <a:srgbClr val="0000FF"/>
                </a:solidFill>
                <a:latin typeface="微软雅黑" pitchFamily="34" charset="-122"/>
                <a:ea typeface="微软雅黑" pitchFamily="34" charset="-122"/>
              </a:rPr>
              <a:t>24 </a:t>
            </a:r>
            <a:r>
              <a:rPr lang="zh-CN" altLang="en-US" sz="2000" b="1" dirty="0">
                <a:solidFill>
                  <a:srgbClr val="0000FF"/>
                </a:solidFill>
                <a:latin typeface="微软雅黑" pitchFamily="34" charset="-122"/>
                <a:ea typeface="微软雅黑" pitchFamily="34" charset="-122"/>
              </a:rPr>
              <a:t>位</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组织唯一标识符 </a:t>
            </a:r>
            <a:r>
              <a:rPr lang="en-US" altLang="zh-CN" sz="2000" b="1" dirty="0">
                <a:solidFill>
                  <a:srgbClr val="C00000"/>
                </a:solidFill>
                <a:latin typeface="微软雅黑" pitchFamily="34" charset="-122"/>
                <a:ea typeface="微软雅黑" pitchFamily="34" charset="-122"/>
              </a:rPr>
              <a:t>OUI </a:t>
            </a:r>
            <a:r>
              <a:rPr lang="en-US" altLang="zh-CN" sz="2000" b="1" dirty="0">
                <a:latin typeface="微软雅黑" pitchFamily="34" charset="-122"/>
                <a:ea typeface="微软雅黑" pitchFamily="34" charset="-122"/>
              </a:rPr>
              <a:t>(Organizationally Unique Identifier)</a:t>
            </a:r>
            <a:r>
              <a:rPr lang="zh-CN" altLang="en-US" sz="2000" b="1" dirty="0">
                <a:latin typeface="微软雅黑" pitchFamily="34" charset="-122"/>
                <a:ea typeface="微软雅黑" pitchFamily="34" charset="-122"/>
              </a:rPr>
              <a:t>。</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厂家自行指派</a:t>
            </a:r>
            <a:r>
              <a:rPr lang="zh-CN" altLang="en-US" sz="2000" b="1" dirty="0">
                <a:solidFill>
                  <a:srgbClr val="0000FF"/>
                </a:solidFill>
                <a:latin typeface="微软雅黑" pitchFamily="34" charset="-122"/>
                <a:ea typeface="微软雅黑" pitchFamily="34" charset="-122"/>
              </a:rPr>
              <a:t>后 </a:t>
            </a:r>
            <a:r>
              <a:rPr lang="en-US" altLang="zh-CN" sz="2000" b="1" dirty="0">
                <a:solidFill>
                  <a:srgbClr val="0000FF"/>
                </a:solidFill>
                <a:latin typeface="微软雅黑" pitchFamily="34" charset="-122"/>
                <a:ea typeface="微软雅黑" pitchFamily="34" charset="-122"/>
              </a:rPr>
              <a:t>3 </a:t>
            </a:r>
            <a:r>
              <a:rPr lang="zh-CN" altLang="en-US" sz="2000" b="1" dirty="0">
                <a:solidFill>
                  <a:srgbClr val="0000FF"/>
                </a:solidFill>
                <a:latin typeface="微软雅黑" pitchFamily="34" charset="-122"/>
                <a:ea typeface="微软雅黑" pitchFamily="34" charset="-122"/>
              </a:rPr>
              <a:t>个字节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即低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扩展标识符 </a:t>
            </a:r>
            <a:r>
              <a:rPr lang="en-US" altLang="zh-CN" sz="2000" b="1" dirty="0">
                <a:latin typeface="微软雅黑" pitchFamily="34" charset="-122"/>
                <a:ea typeface="微软雅黑" pitchFamily="34" charset="-122"/>
              </a:rPr>
              <a:t>(extended identifier)</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必须保证生产出的适配器</a:t>
            </a:r>
            <a:r>
              <a:rPr lang="zh-CN" altLang="en-US" sz="2000" b="1" dirty="0">
                <a:solidFill>
                  <a:srgbClr val="C00000"/>
                </a:solidFill>
                <a:latin typeface="微软雅黑" pitchFamily="34" charset="-122"/>
                <a:ea typeface="微软雅黑" pitchFamily="34" charset="-122"/>
              </a:rPr>
              <a:t>没有重复地址。</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地址被</a:t>
            </a:r>
            <a:r>
              <a:rPr lang="zh-CN" altLang="en-US" sz="2000" b="1" dirty="0">
                <a:solidFill>
                  <a:srgbClr val="C00000"/>
                </a:solidFill>
                <a:latin typeface="微软雅黑" pitchFamily="34" charset="-122"/>
                <a:ea typeface="微软雅黑" pitchFamily="34" charset="-122"/>
              </a:rPr>
              <a:t>固化</a:t>
            </a:r>
            <a:r>
              <a:rPr lang="zh-CN" altLang="en-US" sz="2000" b="1" dirty="0">
                <a:latin typeface="微软雅黑" pitchFamily="34" charset="-122"/>
                <a:ea typeface="微软雅黑" pitchFamily="34" charset="-122"/>
              </a:rPr>
              <a:t>在适配器的 </a:t>
            </a:r>
            <a:r>
              <a:rPr lang="en-US" altLang="zh-CN" sz="2000" b="1" dirty="0">
                <a:latin typeface="微软雅黑" pitchFamily="34" charset="-122"/>
                <a:ea typeface="微软雅黑" pitchFamily="34" charset="-122"/>
              </a:rPr>
              <a:t>ROM </a:t>
            </a:r>
            <a:r>
              <a:rPr lang="zh-CN" altLang="en-US" sz="2000" b="1" dirty="0">
                <a:latin typeface="微软雅黑" pitchFamily="34" charset="-122"/>
                <a:ea typeface="微软雅黑" pitchFamily="34" charset="-122"/>
              </a:rPr>
              <a:t>中。</a:t>
            </a:r>
          </a:p>
        </p:txBody>
      </p:sp>
      <p:sp>
        <p:nvSpPr>
          <p:cNvPr id="3"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36255" y="593419"/>
            <a:ext cx="24616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48 </a:t>
            </a:r>
            <a:r>
              <a:rPr lang="zh-CN" altLang="en-US" sz="2000" b="1" dirty="0">
                <a:solidFill>
                  <a:schemeClr val="bg1"/>
                </a:solidFill>
                <a:latin typeface="微软雅黑" pitchFamily="34" charset="-122"/>
                <a:ea typeface="微软雅黑" pitchFamily="34" charset="-122"/>
              </a:rPr>
              <a:t>位的</a:t>
            </a:r>
            <a:r>
              <a:rPr lang="en-US" altLang="zh-CN" sz="2000" b="1" dirty="0">
                <a:solidFill>
                  <a:schemeClr val="bg1"/>
                </a:solidFill>
                <a:latin typeface="微软雅黑" pitchFamily="34" charset="-122"/>
                <a:ea typeface="微软雅黑" pitchFamily="34" charset="-122"/>
              </a:rPr>
              <a:t>  MAC </a:t>
            </a:r>
            <a:r>
              <a:rPr lang="zh-CN" altLang="en-US" sz="2000" b="1" dirty="0">
                <a:solidFill>
                  <a:schemeClr val="bg1"/>
                </a:solidFill>
                <a:latin typeface="微软雅黑" pitchFamily="34" charset="-122"/>
                <a:ea typeface="微软雅黑" pitchFamily="34" charset="-122"/>
              </a:rPr>
              <a:t>地址</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1" y="1052386"/>
            <a:ext cx="8074151" cy="12696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9" name="矩形 8"/>
          <p:cNvSpPr/>
          <p:nvPr/>
        </p:nvSpPr>
        <p:spPr bwMode="auto">
          <a:xfrm>
            <a:off x="2452163" y="1440412"/>
            <a:ext cx="2180202" cy="369079"/>
          </a:xfrm>
          <a:prstGeom prst="rect">
            <a:avLst/>
          </a:prstGeom>
          <a:solidFill>
            <a:srgbClr val="00FF99"/>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a:ln>
                  <a:noFill/>
                </a:ln>
                <a:effectLst/>
                <a:latin typeface="微软雅黑" pitchFamily="34" charset="-122"/>
                <a:ea typeface="微软雅黑" pitchFamily="34" charset="-122"/>
              </a:rPr>
              <a:t>组织唯一标识符</a:t>
            </a:r>
          </a:p>
        </p:txBody>
      </p:sp>
      <p:sp>
        <p:nvSpPr>
          <p:cNvPr id="10" name="矩形 9"/>
          <p:cNvSpPr/>
          <p:nvPr/>
        </p:nvSpPr>
        <p:spPr bwMode="auto">
          <a:xfrm>
            <a:off x="4632365" y="1440412"/>
            <a:ext cx="2180202" cy="369079"/>
          </a:xfrm>
          <a:prstGeom prst="rect">
            <a:avLst/>
          </a:prstGeom>
          <a:solidFill>
            <a:srgbClr val="0000FF"/>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sz="1600" b="1" dirty="0">
                <a:solidFill>
                  <a:schemeClr val="bg1"/>
                </a:solidFill>
                <a:latin typeface="微软雅黑" pitchFamily="34" charset="-122"/>
                <a:ea typeface="微软雅黑" pitchFamily="34" charset="-122"/>
              </a:rPr>
              <a:t>扩展</a:t>
            </a:r>
            <a:r>
              <a:rPr kumimoji="0" lang="zh-CN" altLang="en-US" sz="1600" b="1" i="0" u="none" strike="noStrike" cap="none" normalizeH="0" baseline="0" dirty="0">
                <a:ln>
                  <a:noFill/>
                </a:ln>
                <a:solidFill>
                  <a:schemeClr val="bg1"/>
                </a:solidFill>
                <a:effectLst/>
                <a:latin typeface="微软雅黑" pitchFamily="34" charset="-122"/>
                <a:ea typeface="微软雅黑" pitchFamily="34" charset="-122"/>
              </a:rPr>
              <a:t>唯一标识符</a:t>
            </a:r>
          </a:p>
        </p:txBody>
      </p:sp>
      <p:sp>
        <p:nvSpPr>
          <p:cNvPr id="11" name="TextBox 12"/>
          <p:cNvSpPr txBox="1"/>
          <p:nvPr/>
        </p:nvSpPr>
        <p:spPr>
          <a:xfrm>
            <a:off x="2663971" y="1149352"/>
            <a:ext cx="1806608" cy="307778"/>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sp>
        <p:nvSpPr>
          <p:cNvPr id="12" name="TextBox 13"/>
          <p:cNvSpPr txBox="1"/>
          <p:nvPr/>
        </p:nvSpPr>
        <p:spPr>
          <a:xfrm>
            <a:off x="4819161" y="1149352"/>
            <a:ext cx="1806608" cy="307778"/>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sp>
        <p:nvSpPr>
          <p:cNvPr id="8" name="矩形 7"/>
          <p:cNvSpPr/>
          <p:nvPr/>
        </p:nvSpPr>
        <p:spPr>
          <a:xfrm>
            <a:off x="3057244" y="1895579"/>
            <a:ext cx="3343562" cy="338554"/>
          </a:xfrm>
          <a:prstGeom prst="rect">
            <a:avLst/>
          </a:prstGeom>
        </p:spPr>
        <p:txBody>
          <a:bodyPr wrap="square">
            <a:spAutoFit/>
          </a:bodyPr>
          <a:lstStyle/>
          <a:p>
            <a:pPr algn="ctr"/>
            <a:r>
              <a:rPr lang="en-US" altLang="zh-CN" sz="1600" b="1" dirty="0">
                <a:latin typeface="微软雅黑" pitchFamily="34" charset="-122"/>
                <a:ea typeface="微软雅黑" pitchFamily="34" charset="-122"/>
              </a:rPr>
              <a:t>48 </a:t>
            </a:r>
            <a:r>
              <a:rPr lang="zh-CN" altLang="en-US" sz="1600" b="1" dirty="0">
                <a:latin typeface="微软雅黑" pitchFamily="34" charset="-122"/>
                <a:ea typeface="微软雅黑" pitchFamily="34" charset="-122"/>
              </a:rPr>
              <a:t>位的 </a:t>
            </a:r>
            <a:r>
              <a:rPr lang="en-US" altLang="zh-CN" sz="1600" b="1" dirty="0">
                <a:latin typeface="微软雅黑" pitchFamily="34" charset="-122"/>
                <a:ea typeface="微软雅黑" pitchFamily="34" charset="-122"/>
              </a:rPr>
              <a:t>MAC </a:t>
            </a:r>
            <a:r>
              <a:rPr lang="zh-CN" altLang="en-US" sz="1600" b="1" dirty="0">
                <a:latin typeface="微软雅黑" pitchFamily="34" charset="-122"/>
                <a:ea typeface="微软雅黑" pitchFamily="34" charset="-122"/>
              </a:rPr>
              <a:t>地址 （</a:t>
            </a:r>
            <a:r>
              <a:rPr lang="en-US" altLang="zh-CN" sz="1600" b="1" dirty="0">
                <a:latin typeface="微软雅黑" pitchFamily="34" charset="-122"/>
                <a:ea typeface="微软雅黑" pitchFamily="34" charset="-122"/>
              </a:rPr>
              <a:t>EUI-48</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1494934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fade">
                                      <p:cBhvr>
                                        <p:cTn id="19" dur="1000"/>
                                        <p:tgtEl>
                                          <p:spTgt spid="2">
                                            <p:txEl>
                                              <p:pRg st="2" end="2"/>
                                            </p:txEl>
                                          </p:spTgt>
                                        </p:tgtEl>
                                      </p:cBhvr>
                                    </p:animEffect>
                                    <p:anim calcmode="lin" valueType="num">
                                      <p:cBhvr>
                                        <p:cTn id="20"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Effect transition="in" filter="fade">
                                      <p:cBhvr>
                                        <p:cTn id="24" dur="1000"/>
                                        <p:tgtEl>
                                          <p:spTgt spid="2">
                                            <p:txEl>
                                              <p:pRg st="3" end="3"/>
                                            </p:txEl>
                                          </p:spTgt>
                                        </p:tgtEl>
                                      </p:cBhvr>
                                    </p:animEffect>
                                    <p:anim calcmode="lin" valueType="num">
                                      <p:cBhvr>
                                        <p:cTn id="2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802.3</a:t>
            </a:r>
            <a:r>
              <a:rPr lang="zh-CN" altLang="en-US" sz="2000" b="1" dirty="0">
                <a:latin typeface="微软雅黑" pitchFamily="34" charset="-122"/>
                <a:ea typeface="微软雅黑" pitchFamily="34" charset="-122"/>
              </a:rPr>
              <a:t>标准规定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地址的高位字节（即第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字节）的最低位为 </a:t>
            </a:r>
            <a:r>
              <a:rPr lang="en-US" altLang="zh-CN" sz="2000" b="1" dirty="0">
                <a:latin typeface="微软雅黑" pitchFamily="34" charset="-122"/>
                <a:ea typeface="微软雅黑" pitchFamily="34" charset="-122"/>
              </a:rPr>
              <a:t>I/G (Individual / Group) </a:t>
            </a:r>
            <a:r>
              <a:rPr lang="zh-CN" altLang="en-US" sz="2000" b="1" dirty="0">
                <a:latin typeface="微软雅黑" pitchFamily="34" charset="-122"/>
                <a:ea typeface="微软雅黑" pitchFamily="34" charset="-122"/>
              </a:rPr>
              <a:t>位。</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单站地址：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组地址：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。组地址用来进行</a:t>
            </a:r>
            <a:r>
              <a:rPr lang="zh-CN" altLang="en-US" sz="2000" b="1" dirty="0">
                <a:solidFill>
                  <a:srgbClr val="0000FF"/>
                </a:solidFill>
                <a:latin typeface="微软雅黑" pitchFamily="34" charset="-122"/>
                <a:ea typeface="微软雅黑" pitchFamily="34" charset="-122"/>
              </a:rPr>
              <a:t>多播（又称为为组播）。</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广播地址：</a:t>
            </a:r>
            <a:r>
              <a:rPr lang="zh-CN" altLang="en-US" sz="2000" b="1" dirty="0">
                <a:latin typeface="微软雅黑" pitchFamily="34" charset="-122"/>
                <a:ea typeface="微软雅黑" pitchFamily="34" charset="-122"/>
              </a:rPr>
              <a:t>所有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位都为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（全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只能作为目的地址使用。</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807617" y="593419"/>
            <a:ext cx="3518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单站地址，组地址，广播地址</a:t>
            </a:r>
          </a:p>
        </p:txBody>
      </p:sp>
      <p:grpSp>
        <p:nvGrpSpPr>
          <p:cNvPr id="2" name="组合 1">
            <a:extLst>
              <a:ext uri="{FF2B5EF4-FFF2-40B4-BE49-F238E27FC236}">
                <a16:creationId xmlns:a16="http://schemas.microsoft.com/office/drawing/2014/main" id="{2D8CC691-C7F1-C29F-D5C9-59ACF9C9E121}"/>
              </a:ext>
            </a:extLst>
          </p:cNvPr>
          <p:cNvGrpSpPr/>
          <p:nvPr/>
        </p:nvGrpSpPr>
        <p:grpSpPr>
          <a:xfrm>
            <a:off x="2085288" y="3359064"/>
            <a:ext cx="4963570" cy="662330"/>
            <a:chOff x="502921" y="2343232"/>
            <a:chExt cx="5196417" cy="662330"/>
          </a:xfrm>
        </p:grpSpPr>
        <p:sp>
          <p:nvSpPr>
            <p:cNvPr id="3" name="对角圆角矩形 11">
              <a:extLst>
                <a:ext uri="{FF2B5EF4-FFF2-40B4-BE49-F238E27FC236}">
                  <a16:creationId xmlns:a16="http://schemas.microsoft.com/office/drawing/2014/main" id="{0B471EC4-3303-5FE5-132C-5B7856D58DA9}"/>
                </a:ext>
              </a:extLst>
            </p:cNvPr>
            <p:cNvSpPr/>
            <p:nvPr/>
          </p:nvSpPr>
          <p:spPr>
            <a:xfrm>
              <a:off x="502921" y="2343232"/>
              <a:ext cx="5196417" cy="66233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79176564-75E5-B4EE-3A7E-834165503B04}"/>
                </a:ext>
              </a:extLst>
            </p:cNvPr>
            <p:cNvSpPr/>
            <p:nvPr/>
          </p:nvSpPr>
          <p:spPr>
            <a:xfrm>
              <a:off x="800419" y="2467202"/>
              <a:ext cx="4782418" cy="406971"/>
            </a:xfrm>
            <a:prstGeom prst="rect">
              <a:avLst/>
            </a:prstGeom>
          </p:spPr>
          <p:txBody>
            <a:bodyPr wrap="square">
              <a:spAutoFit/>
            </a:bodyPr>
            <a:lstStyle/>
            <a:p>
              <a:pPr>
                <a:lnSpc>
                  <a:spcPts val="2700"/>
                </a:lnSpc>
              </a:pPr>
              <a:r>
                <a:rPr lang="zh-CN" altLang="en-US" b="1" dirty="0">
                  <a:solidFill>
                    <a:schemeClr val="bg1"/>
                  </a:solidFill>
                  <a:latin typeface="微软雅黑" pitchFamily="34" charset="-122"/>
                  <a:ea typeface="微软雅黑" pitchFamily="34" charset="-122"/>
                </a:rPr>
                <a:t>组地址和广播地址只能作为目的地址使用！</a:t>
              </a:r>
            </a:p>
          </p:txBody>
        </p:sp>
      </p:grpSp>
    </p:spTree>
    <p:extLst>
      <p:ext uri="{BB962C8B-B14F-4D97-AF65-F5344CB8AC3E}">
        <p14:creationId xmlns:p14="http://schemas.microsoft.com/office/powerpoint/2010/main" val="255155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71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地址的高位字节的最低第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位规定为 </a:t>
            </a:r>
            <a:r>
              <a:rPr lang="en-US" altLang="zh-CN" sz="2000" b="1" dirty="0">
                <a:latin typeface="微软雅黑" pitchFamily="34" charset="-122"/>
                <a:ea typeface="微软雅黑" pitchFamily="34" charset="-122"/>
              </a:rPr>
              <a:t>U/L (Universal/Local) </a:t>
            </a:r>
            <a:r>
              <a:rPr lang="zh-CN" altLang="en-US" sz="2000" b="1" dirty="0">
                <a:latin typeface="微软雅黑" pitchFamily="34" charset="-122"/>
                <a:ea typeface="微软雅黑" pitchFamily="34" charset="-122"/>
              </a:rPr>
              <a:t>位（以前曾记为</a:t>
            </a:r>
            <a:r>
              <a:rPr lang="en-US" altLang="zh-CN" sz="2000" b="1" dirty="0">
                <a:latin typeface="微软雅黑" pitchFamily="34" charset="-122"/>
                <a:ea typeface="微软雅黑" pitchFamily="34" charset="-122"/>
              </a:rPr>
              <a:t>G/L</a:t>
            </a:r>
            <a:r>
              <a:rPr lang="zh-CN" altLang="en-US" sz="2000" b="1" dirty="0">
                <a:latin typeface="微软雅黑" pitchFamily="34" charset="-122"/>
                <a:ea typeface="微软雅黑" pitchFamily="34" charset="-122"/>
              </a:rPr>
              <a:t>位）。</a:t>
            </a: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全球管理：</a:t>
            </a:r>
            <a:r>
              <a:rPr lang="en-US" altLang="zh-CN" sz="2000" b="1" dirty="0">
                <a:latin typeface="微软雅黑" pitchFamily="34" charset="-122"/>
                <a:ea typeface="微软雅黑" pitchFamily="34" charset="-122"/>
              </a:rPr>
              <a:t>U/L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。厂商向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购买的 </a:t>
            </a:r>
            <a:r>
              <a:rPr lang="en-US" altLang="zh-CN" sz="2000" b="1" dirty="0">
                <a:latin typeface="微软雅黑" pitchFamily="34" charset="-122"/>
                <a:ea typeface="微软雅黑" pitchFamily="34" charset="-122"/>
              </a:rPr>
              <a:t>OUI </a:t>
            </a:r>
            <a:r>
              <a:rPr lang="zh-CN" altLang="en-US" sz="2000" b="1" dirty="0">
                <a:latin typeface="微软雅黑" pitchFamily="34" charset="-122"/>
                <a:ea typeface="微软雅黑" pitchFamily="34" charset="-122"/>
              </a:rPr>
              <a:t>都属于全球管理。</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本地管理：</a:t>
            </a:r>
            <a:r>
              <a:rPr lang="en-US" altLang="zh-CN" sz="2000" b="1" dirty="0">
                <a:latin typeface="微软雅黑" pitchFamily="34" charset="-122"/>
                <a:ea typeface="微软雅黑" pitchFamily="34" charset="-122"/>
              </a:rPr>
              <a:t>U/L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 这时用户可任意分配网络上的地址。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8"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全球管理与本地管理</a:t>
            </a:r>
          </a:p>
        </p:txBody>
      </p:sp>
    </p:spTree>
    <p:extLst>
      <p:ext uri="{BB962C8B-B14F-4D97-AF65-F5344CB8AC3E}">
        <p14:creationId xmlns:p14="http://schemas.microsoft.com/office/powerpoint/2010/main" val="86041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每收到一个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帧，先用硬件检查帧中的目的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如果是</a:t>
            </a:r>
            <a:r>
              <a:rPr lang="zh-CN" altLang="en-US" sz="2000" b="1" dirty="0">
                <a:solidFill>
                  <a:srgbClr val="C00000"/>
                </a:solidFill>
                <a:latin typeface="微软雅黑" pitchFamily="34" charset="-122"/>
                <a:ea typeface="微软雅黑" pitchFamily="34" charset="-122"/>
              </a:rPr>
              <a:t>发往本站</a:t>
            </a:r>
            <a:r>
              <a:rPr lang="zh-CN" altLang="en-US" sz="2000" b="1" dirty="0">
                <a:latin typeface="微软雅黑" pitchFamily="34" charset="-122"/>
                <a:ea typeface="微软雅黑" pitchFamily="34" charset="-122"/>
              </a:rPr>
              <a:t>的帧则收下，然后再进行其他的处理。</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否则就将此帧丢弃，不再进行其他的处理。</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9"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适配器具有</a:t>
            </a:r>
            <a:r>
              <a:rPr lang="zh-CN" altLang="en-US" sz="2000" b="1" dirty="0">
                <a:solidFill>
                  <a:srgbClr val="0000CC"/>
                </a:solidFill>
                <a:latin typeface="微软雅黑" pitchFamily="34" charset="-122"/>
                <a:ea typeface="微软雅黑" pitchFamily="34" charset="-122"/>
              </a:rPr>
              <a:t>过滤功能</a:t>
            </a:r>
          </a:p>
        </p:txBody>
      </p:sp>
      <p:sp>
        <p:nvSpPr>
          <p:cNvPr id="13" name="任意多边形: 形状 12">
            <a:extLst>
              <a:ext uri="{FF2B5EF4-FFF2-40B4-BE49-F238E27FC236}">
                <a16:creationId xmlns:a16="http://schemas.microsoft.com/office/drawing/2014/main" id="{1AFFDBDF-9BD7-E535-0D5C-D49EB7BC2042}"/>
              </a:ext>
            </a:extLst>
          </p:cNvPr>
          <p:cNvSpPr/>
          <p:nvPr/>
        </p:nvSpPr>
        <p:spPr>
          <a:xfrm>
            <a:off x="858976" y="2349907"/>
            <a:ext cx="4849092" cy="400110"/>
          </a:xfrm>
          <a:custGeom>
            <a:avLst/>
            <a:gdLst>
              <a:gd name="connsiteX0" fmla="*/ 0 w 4849092"/>
              <a:gd name="connsiteY0" fmla="*/ 47720 h 286312"/>
              <a:gd name="connsiteX1" fmla="*/ 47720 w 4849092"/>
              <a:gd name="connsiteY1" fmla="*/ 0 h 286312"/>
              <a:gd name="connsiteX2" fmla="*/ 4801372 w 4849092"/>
              <a:gd name="connsiteY2" fmla="*/ 0 h 286312"/>
              <a:gd name="connsiteX3" fmla="*/ 4849092 w 4849092"/>
              <a:gd name="connsiteY3" fmla="*/ 47720 h 286312"/>
              <a:gd name="connsiteX4" fmla="*/ 4849092 w 4849092"/>
              <a:gd name="connsiteY4" fmla="*/ 238592 h 286312"/>
              <a:gd name="connsiteX5" fmla="*/ 4801372 w 4849092"/>
              <a:gd name="connsiteY5" fmla="*/ 286312 h 286312"/>
              <a:gd name="connsiteX6" fmla="*/ 47720 w 4849092"/>
              <a:gd name="connsiteY6" fmla="*/ 286312 h 286312"/>
              <a:gd name="connsiteX7" fmla="*/ 0 w 4849092"/>
              <a:gd name="connsiteY7" fmla="*/ 238592 h 286312"/>
              <a:gd name="connsiteX8" fmla="*/ 0 w 4849092"/>
              <a:gd name="connsiteY8" fmla="*/ 47720 h 28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9092" h="286312">
                <a:moveTo>
                  <a:pt x="0" y="47720"/>
                </a:moveTo>
                <a:cubicBezTo>
                  <a:pt x="0" y="21365"/>
                  <a:pt x="21365" y="0"/>
                  <a:pt x="47720" y="0"/>
                </a:cubicBezTo>
                <a:lnTo>
                  <a:pt x="4801372" y="0"/>
                </a:lnTo>
                <a:cubicBezTo>
                  <a:pt x="4827727" y="0"/>
                  <a:pt x="4849092" y="21365"/>
                  <a:pt x="4849092" y="47720"/>
                </a:cubicBezTo>
                <a:lnTo>
                  <a:pt x="4849092" y="238592"/>
                </a:lnTo>
                <a:cubicBezTo>
                  <a:pt x="4849092" y="264947"/>
                  <a:pt x="4827727" y="286312"/>
                  <a:pt x="4801372" y="286312"/>
                </a:cubicBezTo>
                <a:lnTo>
                  <a:pt x="47720" y="286312"/>
                </a:lnTo>
                <a:cubicBezTo>
                  <a:pt x="21365" y="286312"/>
                  <a:pt x="0" y="264947"/>
                  <a:pt x="0" y="238592"/>
                </a:cubicBezTo>
                <a:lnTo>
                  <a:pt x="0" y="47720"/>
                </a:lnTo>
                <a:close/>
              </a:path>
            </a:pathLst>
          </a:custGeom>
          <a:solidFill>
            <a:srgbClr val="0070C0"/>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82557" tIns="82557" rIns="82557" bIns="82557"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“发往本站的帧”包括以下 </a:t>
            </a:r>
            <a:r>
              <a:rPr lang="en-US" altLang="zh-CN" sz="1800" b="1" kern="1200" dirty="0">
                <a:latin typeface="微软雅黑" panose="020B0503020204020204" pitchFamily="34" charset="-122"/>
                <a:ea typeface="微软雅黑" panose="020B0503020204020204" pitchFamily="34" charset="-122"/>
              </a:rPr>
              <a:t>3 </a:t>
            </a:r>
            <a:r>
              <a:rPr lang="zh-CN" altLang="en-US" sz="1800" b="1" kern="1200" dirty="0">
                <a:latin typeface="微软雅黑" panose="020B0503020204020204" pitchFamily="34" charset="-122"/>
                <a:ea typeface="微软雅黑" panose="020B0503020204020204" pitchFamily="34" charset="-122"/>
              </a:rPr>
              <a:t>种帧： </a:t>
            </a:r>
          </a:p>
        </p:txBody>
      </p:sp>
      <p:sp>
        <p:nvSpPr>
          <p:cNvPr id="14" name="任意多边形: 形状 13">
            <a:extLst>
              <a:ext uri="{FF2B5EF4-FFF2-40B4-BE49-F238E27FC236}">
                <a16:creationId xmlns:a16="http://schemas.microsoft.com/office/drawing/2014/main" id="{3C3EAC0D-92D4-E6B1-61FA-56E5CC3CB9F4}"/>
              </a:ext>
            </a:extLst>
          </p:cNvPr>
          <p:cNvSpPr/>
          <p:nvPr/>
        </p:nvSpPr>
        <p:spPr>
          <a:xfrm>
            <a:off x="858976" y="2750017"/>
            <a:ext cx="4849092" cy="1473453"/>
          </a:xfrm>
          <a:custGeom>
            <a:avLst/>
            <a:gdLst>
              <a:gd name="connsiteX0" fmla="*/ 0 w 4849092"/>
              <a:gd name="connsiteY0" fmla="*/ 0 h 1575945"/>
              <a:gd name="connsiteX1" fmla="*/ 4849092 w 4849092"/>
              <a:gd name="connsiteY1" fmla="*/ 0 h 1575945"/>
              <a:gd name="connsiteX2" fmla="*/ 4849092 w 4849092"/>
              <a:gd name="connsiteY2" fmla="*/ 1575945 h 1575945"/>
              <a:gd name="connsiteX3" fmla="*/ 0 w 4849092"/>
              <a:gd name="connsiteY3" fmla="*/ 1575945 h 1575945"/>
              <a:gd name="connsiteX4" fmla="*/ 0 w 4849092"/>
              <a:gd name="connsiteY4" fmla="*/ 0 h 1575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9092" h="1575945">
                <a:moveTo>
                  <a:pt x="0" y="0"/>
                </a:moveTo>
                <a:lnTo>
                  <a:pt x="4849092" y="0"/>
                </a:lnTo>
                <a:lnTo>
                  <a:pt x="4849092" y="1575945"/>
                </a:lnTo>
                <a:lnTo>
                  <a:pt x="0" y="157594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3959" tIns="22860" rIns="128016" bIns="22860" numCol="1" spcCol="1270" anchor="t" anchorCtr="0">
            <a:noAutofit/>
          </a:bodyPr>
          <a:lstStyle/>
          <a:p>
            <a:pPr marL="171450" lvl="1" indent="-171450" algn="l" defTabSz="800100">
              <a:lnSpc>
                <a:spcPct val="15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单播 </a:t>
            </a:r>
            <a:r>
              <a:rPr lang="en-US" altLang="zh-CN" sz="1800" b="1" kern="1200" dirty="0">
                <a:latin typeface="微软雅黑" panose="020B0503020204020204" pitchFamily="34" charset="-122"/>
                <a:ea typeface="微软雅黑" panose="020B0503020204020204" pitchFamily="34" charset="-122"/>
              </a:rPr>
              <a:t>(unicast) </a:t>
            </a:r>
            <a:r>
              <a:rPr lang="zh-CN" altLang="zh-CN" sz="1800" b="1" kern="1200" dirty="0">
                <a:latin typeface="微软雅黑" panose="020B0503020204020204" pitchFamily="34" charset="-122"/>
                <a:ea typeface="微软雅黑" panose="020B0503020204020204" pitchFamily="34" charset="-122"/>
              </a:rPr>
              <a:t>帧（一对一）</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15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广播 </a:t>
            </a:r>
            <a:r>
              <a:rPr lang="en-US" altLang="zh-CN" sz="1800" b="1" kern="1200" dirty="0">
                <a:latin typeface="微软雅黑" panose="020B0503020204020204" pitchFamily="34" charset="-122"/>
                <a:ea typeface="微软雅黑" panose="020B0503020204020204" pitchFamily="34" charset="-122"/>
              </a:rPr>
              <a:t>(broadcast) </a:t>
            </a:r>
            <a:r>
              <a:rPr lang="zh-CN" altLang="zh-CN" sz="1800" b="1" kern="1200" dirty="0">
                <a:latin typeface="微软雅黑" panose="020B0503020204020204" pitchFamily="34" charset="-122"/>
                <a:ea typeface="微软雅黑" panose="020B0503020204020204" pitchFamily="34" charset="-122"/>
              </a:rPr>
              <a:t>帧（一对全体）</a:t>
            </a:r>
          </a:p>
          <a:p>
            <a:pPr marL="171450" lvl="1" indent="-171450" algn="l" defTabSz="800100">
              <a:lnSpc>
                <a:spcPct val="15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多播 </a:t>
            </a:r>
            <a:r>
              <a:rPr lang="en-US" altLang="zh-CN" sz="1800" b="1" kern="1200" dirty="0">
                <a:latin typeface="微软雅黑" panose="020B0503020204020204" pitchFamily="34" charset="-122"/>
                <a:ea typeface="微软雅黑" panose="020B0503020204020204" pitchFamily="34" charset="-122"/>
              </a:rPr>
              <a:t>(multicast) </a:t>
            </a:r>
            <a:r>
              <a:rPr lang="zh-CN" altLang="zh-CN" sz="1800" b="1" kern="1200" dirty="0">
                <a:latin typeface="微软雅黑" panose="020B0503020204020204" pitchFamily="34" charset="-122"/>
                <a:ea typeface="微软雅黑" panose="020B0503020204020204" pitchFamily="34" charset="-122"/>
              </a:rPr>
              <a:t>帧（一对多）</a:t>
            </a:r>
          </a:p>
          <a:p>
            <a:pPr marL="171450" lvl="1" indent="-171450" algn="l" defTabSz="800100">
              <a:lnSpc>
                <a:spcPct val="150000"/>
              </a:lnSpc>
              <a:spcBef>
                <a:spcPct val="0"/>
              </a:spcBef>
              <a:spcAft>
                <a:spcPct val="20000"/>
              </a:spcAft>
              <a:buChar char="•"/>
            </a:pPr>
            <a:endParaRPr lang="zh-CN" altLang="zh-CN" sz="1800" b="1" kern="1200" dirty="0">
              <a:latin typeface="微软雅黑" panose="020B0503020204020204" pitchFamily="34" charset="-122"/>
              <a:ea typeface="微软雅黑" panose="020B0503020204020204" pitchFamily="34" charset="-122"/>
            </a:endParaRPr>
          </a:p>
        </p:txBody>
      </p:sp>
      <p:sp>
        <p:nvSpPr>
          <p:cNvPr id="2" name="矩形 1"/>
          <p:cNvSpPr/>
          <p:nvPr/>
        </p:nvSpPr>
        <p:spPr>
          <a:xfrm>
            <a:off x="5875448" y="2401916"/>
            <a:ext cx="2788258" cy="175945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以</a:t>
            </a:r>
            <a:r>
              <a:rPr lang="zh-CN" altLang="en-US" b="1" dirty="0">
                <a:solidFill>
                  <a:srgbClr val="C00000"/>
                </a:solidFill>
                <a:latin typeface="微软雅黑" panose="020B0503020204020204" pitchFamily="34" charset="-122"/>
                <a:ea typeface="微软雅黑" panose="020B0503020204020204" pitchFamily="34" charset="-122"/>
              </a:rPr>
              <a:t>混杂方式 </a:t>
            </a:r>
            <a:r>
              <a:rPr lang="en-US" altLang="zh-CN" b="1" dirty="0">
                <a:latin typeface="微软雅黑" panose="020B0503020204020204" pitchFamily="34" charset="-122"/>
                <a:ea typeface="微软雅黑" panose="020B0503020204020204" pitchFamily="34" charset="-122"/>
              </a:rPr>
              <a:t>(promiscuous mode) </a:t>
            </a:r>
            <a:r>
              <a:rPr lang="zh-CN" altLang="en-US" b="1" dirty="0">
                <a:latin typeface="微软雅黑" panose="020B0503020204020204" pitchFamily="34" charset="-122"/>
                <a:ea typeface="微软雅黑" panose="020B0503020204020204" pitchFamily="34" charset="-122"/>
              </a:rPr>
              <a:t>工作的以太网适配器只要“听到”有帧在以太网上传输就</a:t>
            </a:r>
            <a:r>
              <a:rPr lang="zh-CN" altLang="en-US" b="1" dirty="0">
                <a:solidFill>
                  <a:srgbClr val="C00000"/>
                </a:solidFill>
                <a:latin typeface="微软雅黑" panose="020B0503020204020204" pitchFamily="34" charset="-122"/>
                <a:ea typeface="微软雅黑" panose="020B0503020204020204" pitchFamily="34" charset="-122"/>
              </a:rPr>
              <a:t>都接收</a:t>
            </a:r>
            <a:r>
              <a:rPr lang="zh-CN" altLang="en-US" b="1" dirty="0">
                <a:latin typeface="微软雅黑" panose="020B0503020204020204" pitchFamily="34" charset="-122"/>
                <a:ea typeface="微软雅黑" panose="020B0503020204020204" pitchFamily="34" charset="-122"/>
              </a:rPr>
              <a:t>下来。</a:t>
            </a:r>
          </a:p>
        </p:txBody>
      </p:sp>
    </p:spTree>
    <p:extLst>
      <p:ext uri="{BB962C8B-B14F-4D97-AF65-F5344CB8AC3E}">
        <p14:creationId xmlns:p14="http://schemas.microsoft.com/office/powerpoint/2010/main" val="378469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animEffect transition="in" filter="fade">
                                      <p:cBhvr>
                                        <p:cTn id="35" dur="1000"/>
                                        <p:tgtEl>
                                          <p:spTgt spid="14">
                                            <p:txEl>
                                              <p:pRg st="0" end="0"/>
                                            </p:txEl>
                                          </p:spTgt>
                                        </p:tgtEl>
                                      </p:cBhvr>
                                    </p:animEffect>
                                    <p:anim calcmode="lin" valueType="num">
                                      <p:cBhvr>
                                        <p:cTn id="36"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xEl>
                                              <p:pRg st="1" end="1"/>
                                            </p:txEl>
                                          </p:spTgt>
                                        </p:tgtEl>
                                        <p:attrNameLst>
                                          <p:attrName>style.visibility</p:attrName>
                                        </p:attrNameLst>
                                      </p:cBhvr>
                                      <p:to>
                                        <p:strVal val="visible"/>
                                      </p:to>
                                    </p:set>
                                    <p:animEffect transition="in" filter="fade">
                                      <p:cBhvr>
                                        <p:cTn id="42" dur="1000"/>
                                        <p:tgtEl>
                                          <p:spTgt spid="14">
                                            <p:txEl>
                                              <p:pRg st="1" end="1"/>
                                            </p:txEl>
                                          </p:spTgt>
                                        </p:tgtEl>
                                      </p:cBhvr>
                                    </p:animEffect>
                                    <p:anim calcmode="lin" valueType="num">
                                      <p:cBhvr>
                                        <p:cTn id="43"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4">
                                            <p:txEl>
                                              <p:pRg st="2" end="2"/>
                                            </p:txEl>
                                          </p:spTgt>
                                        </p:tgtEl>
                                        <p:attrNameLst>
                                          <p:attrName>style.visibility</p:attrName>
                                        </p:attrNameLst>
                                      </p:cBhvr>
                                      <p:to>
                                        <p:strVal val="visible"/>
                                      </p:to>
                                    </p:set>
                                    <p:animEffect transition="in" filter="fade">
                                      <p:cBhvr>
                                        <p:cTn id="49" dur="1000"/>
                                        <p:tgtEl>
                                          <p:spTgt spid="14">
                                            <p:txEl>
                                              <p:pRg st="2" end="2"/>
                                            </p:txEl>
                                          </p:spTgt>
                                        </p:tgtEl>
                                      </p:cBhvr>
                                    </p:animEffect>
                                    <p:anim calcmode="lin" valueType="num">
                                      <p:cBhvr>
                                        <p:cTn id="50"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p:cTn id="56" dur="500" fill="hold"/>
                                        <p:tgtEl>
                                          <p:spTgt spid="2"/>
                                        </p:tgtEl>
                                        <p:attrNameLst>
                                          <p:attrName>ppt_w</p:attrName>
                                        </p:attrNameLst>
                                      </p:cBhvr>
                                      <p:tavLst>
                                        <p:tav tm="0">
                                          <p:val>
                                            <p:fltVal val="0"/>
                                          </p:val>
                                        </p:tav>
                                        <p:tav tm="100000">
                                          <p:val>
                                            <p:strVal val="#ppt_w"/>
                                          </p:val>
                                        </p:tav>
                                      </p:tavLst>
                                    </p:anim>
                                    <p:anim calcmode="lin" valueType="num">
                                      <p:cBhvr>
                                        <p:cTn id="57" dur="500" fill="hold"/>
                                        <p:tgtEl>
                                          <p:spTgt spid="2"/>
                                        </p:tgtEl>
                                        <p:attrNameLst>
                                          <p:attrName>ppt_h</p:attrName>
                                        </p:attrNameLst>
                                      </p:cBhvr>
                                      <p:tavLst>
                                        <p:tav tm="0">
                                          <p:val>
                                            <p:fltVal val="0"/>
                                          </p:val>
                                        </p:tav>
                                        <p:tav tm="100000">
                                          <p:val>
                                            <p:strVal val="#ppt_h"/>
                                          </p:val>
                                        </p:tav>
                                      </p:tavLst>
                                    </p:anim>
                                    <p:animEffect transition="in" filter="fade">
                                      <p:cBhvr>
                                        <p:cTn id="5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13" grpId="0" animBg="1"/>
      <p:bldP spid="14" grpId="0" uiExpand="1" build="p"/>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8C3B6-0B41-B7B3-6BBD-281DFD0701D0}"/>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F46D2187-5B39-3DB2-9E71-009280D33C93}"/>
              </a:ext>
            </a:extLst>
          </p:cNvPr>
          <p:cNvSpPr>
            <a:spLocks noChangeArrowheads="1"/>
          </p:cNvSpPr>
          <p:nvPr/>
        </p:nvSpPr>
        <p:spPr bwMode="auto">
          <a:xfrm>
            <a:off x="502921" y="614456"/>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C453EBDA-5E19-5290-08EB-CDD532B2986B}"/>
              </a:ext>
            </a:extLst>
          </p:cNvPr>
          <p:cNvSpPr>
            <a:spLocks noChangeArrowheads="1"/>
          </p:cNvSpPr>
          <p:nvPr/>
        </p:nvSpPr>
        <p:spPr bwMode="auto">
          <a:xfrm>
            <a:off x="2465013" y="581329"/>
            <a:ext cx="41968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3.3.5  </a:t>
            </a:r>
            <a:r>
              <a:rPr lang="zh-CN" altLang="en-US" sz="2400" b="1" dirty="0">
                <a:solidFill>
                  <a:schemeClr val="bg1"/>
                </a:solidFill>
                <a:latin typeface="微软雅黑" pitchFamily="34" charset="-122"/>
                <a:ea typeface="微软雅黑" pitchFamily="34" charset="-122"/>
              </a:rPr>
              <a:t>以太网的 </a:t>
            </a:r>
            <a:r>
              <a:rPr lang="en-US" altLang="zh-CN" sz="2400" b="1" dirty="0">
                <a:solidFill>
                  <a:schemeClr val="bg1"/>
                </a:solidFill>
                <a:latin typeface="微软雅黑" pitchFamily="34" charset="-122"/>
                <a:ea typeface="微软雅黑" pitchFamily="34" charset="-122"/>
              </a:rPr>
              <a:t>MAC </a:t>
            </a:r>
            <a:r>
              <a:rPr lang="zh-CN" altLang="en-US" sz="2400" b="1" dirty="0">
                <a:solidFill>
                  <a:schemeClr val="bg1"/>
                </a:solidFill>
                <a:latin typeface="微软雅黑" pitchFamily="34" charset="-122"/>
                <a:ea typeface="微软雅黑" pitchFamily="34" charset="-122"/>
              </a:rPr>
              <a:t>帧格式</a:t>
            </a:r>
          </a:p>
        </p:txBody>
      </p:sp>
      <p:sp>
        <p:nvSpPr>
          <p:cNvPr id="2" name="Rectangle 46">
            <a:extLst>
              <a:ext uri="{FF2B5EF4-FFF2-40B4-BE49-F238E27FC236}">
                <a16:creationId xmlns:a16="http://schemas.microsoft.com/office/drawing/2014/main" id="{85EEE7D9-3959-FB34-1A68-099648D039F7}"/>
              </a:ext>
            </a:extLst>
          </p:cNvPr>
          <p:cNvSpPr>
            <a:spLocks noChangeArrowheads="1"/>
          </p:cNvSpPr>
          <p:nvPr/>
        </p:nvSpPr>
        <p:spPr bwMode="auto">
          <a:xfrm>
            <a:off x="502921" y="985013"/>
            <a:ext cx="8243915" cy="1740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常用的以太网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帧格式有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种标准：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802.3 </a:t>
            </a:r>
            <a:r>
              <a:rPr lang="zh-CN" altLang="en-US" sz="2000" b="1" dirty="0">
                <a:latin typeface="微软雅黑" pitchFamily="34" charset="-122"/>
                <a:ea typeface="微软雅黑" pitchFamily="34" charset="-122"/>
              </a:rPr>
              <a:t>标准</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最常用的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帧是</a:t>
            </a:r>
            <a:r>
              <a:rPr lang="zh-CN" altLang="en-US" sz="2000" b="1" dirty="0">
                <a:solidFill>
                  <a:srgbClr val="C00000"/>
                </a:solidFill>
                <a:latin typeface="微软雅黑" pitchFamily="34" charset="-122"/>
                <a:ea typeface="微软雅黑" pitchFamily="34" charset="-122"/>
              </a:rPr>
              <a:t>以太网 </a:t>
            </a:r>
            <a:r>
              <a:rPr lang="en-US" altLang="zh-CN" sz="2000" b="1" dirty="0">
                <a:solidFill>
                  <a:srgbClr val="C00000"/>
                </a:solidFill>
                <a:latin typeface="微软雅黑" pitchFamily="34" charset="-122"/>
                <a:ea typeface="微软雅黑" pitchFamily="34" charset="-122"/>
              </a:rPr>
              <a:t>V2 </a:t>
            </a:r>
            <a:r>
              <a:rPr lang="zh-CN" altLang="en-US" sz="2000" b="1" dirty="0">
                <a:solidFill>
                  <a:srgbClr val="C00000"/>
                </a:solidFill>
                <a:latin typeface="微软雅黑" pitchFamily="34" charset="-122"/>
                <a:ea typeface="微软雅黑" pitchFamily="34" charset="-122"/>
              </a:rPr>
              <a:t>的格式。</a:t>
            </a:r>
            <a:endParaRPr lang="en-US" altLang="zh-CN" sz="2000" b="1" dirty="0">
              <a:latin typeface="微软雅黑" pitchFamily="34" charset="-122"/>
              <a:ea typeface="微软雅黑" pitchFamily="34" charset="-122"/>
            </a:endParaRPr>
          </a:p>
        </p:txBody>
      </p:sp>
      <p:grpSp>
        <p:nvGrpSpPr>
          <p:cNvPr id="32" name="组合 31">
            <a:extLst>
              <a:ext uri="{FF2B5EF4-FFF2-40B4-BE49-F238E27FC236}">
                <a16:creationId xmlns:a16="http://schemas.microsoft.com/office/drawing/2014/main" id="{4813C0B8-2DCA-4328-83EF-5694F505EA9F}"/>
              </a:ext>
            </a:extLst>
          </p:cNvPr>
          <p:cNvGrpSpPr/>
          <p:nvPr/>
        </p:nvGrpSpPr>
        <p:grpSpPr>
          <a:xfrm>
            <a:off x="498932" y="2907018"/>
            <a:ext cx="8129015" cy="1542719"/>
            <a:chOff x="498932" y="2907018"/>
            <a:chExt cx="8129015" cy="1542719"/>
          </a:xfrm>
        </p:grpSpPr>
        <p:sp>
          <p:nvSpPr>
            <p:cNvPr id="31" name="圆角矩形 48">
              <a:extLst>
                <a:ext uri="{FF2B5EF4-FFF2-40B4-BE49-F238E27FC236}">
                  <a16:creationId xmlns:a16="http://schemas.microsoft.com/office/drawing/2014/main" id="{106BA6B8-FD65-DCCA-C2DC-A11A1DFE21FD}"/>
                </a:ext>
              </a:extLst>
            </p:cNvPr>
            <p:cNvSpPr/>
            <p:nvPr/>
          </p:nvSpPr>
          <p:spPr>
            <a:xfrm>
              <a:off x="498932" y="2907018"/>
              <a:ext cx="8129015" cy="154271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1" name="Rectangle 66">
              <a:extLst>
                <a:ext uri="{FF2B5EF4-FFF2-40B4-BE49-F238E27FC236}">
                  <a16:creationId xmlns:a16="http://schemas.microsoft.com/office/drawing/2014/main" id="{DCE52180-CFFE-AA87-D761-8CF6C63BFF50}"/>
                </a:ext>
              </a:extLst>
            </p:cNvPr>
            <p:cNvSpPr>
              <a:spLocks noChangeArrowheads="1"/>
            </p:cNvSpPr>
            <p:nvPr/>
          </p:nvSpPr>
          <p:spPr bwMode="auto">
            <a:xfrm>
              <a:off x="2234333" y="3717268"/>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Line 67">
              <a:extLst>
                <a:ext uri="{FF2B5EF4-FFF2-40B4-BE49-F238E27FC236}">
                  <a16:creationId xmlns:a16="http://schemas.microsoft.com/office/drawing/2014/main" id="{30A6BEBF-66D1-9306-1726-D6C369C1689B}"/>
                </a:ext>
              </a:extLst>
            </p:cNvPr>
            <p:cNvSpPr>
              <a:spLocks noChangeShapeType="1"/>
            </p:cNvSpPr>
            <p:nvPr/>
          </p:nvSpPr>
          <p:spPr bwMode="auto">
            <a:xfrm>
              <a:off x="2926281" y="37172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Line 68">
              <a:extLst>
                <a:ext uri="{FF2B5EF4-FFF2-40B4-BE49-F238E27FC236}">
                  <a16:creationId xmlns:a16="http://schemas.microsoft.com/office/drawing/2014/main" id="{DE6133B9-B556-8707-C8E4-A8CAFEA89075}"/>
                </a:ext>
              </a:extLst>
            </p:cNvPr>
            <p:cNvSpPr>
              <a:spLocks noChangeShapeType="1"/>
            </p:cNvSpPr>
            <p:nvPr/>
          </p:nvSpPr>
          <p:spPr bwMode="auto">
            <a:xfrm>
              <a:off x="3602957" y="37172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Line 69">
              <a:extLst>
                <a:ext uri="{FF2B5EF4-FFF2-40B4-BE49-F238E27FC236}">
                  <a16:creationId xmlns:a16="http://schemas.microsoft.com/office/drawing/2014/main" id="{C8E6CD78-1B60-E2EA-E6AD-01BC8224FED6}"/>
                </a:ext>
              </a:extLst>
            </p:cNvPr>
            <p:cNvSpPr>
              <a:spLocks noChangeShapeType="1"/>
            </p:cNvSpPr>
            <p:nvPr/>
          </p:nvSpPr>
          <p:spPr bwMode="auto">
            <a:xfrm>
              <a:off x="4279633" y="37172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70">
              <a:extLst>
                <a:ext uri="{FF2B5EF4-FFF2-40B4-BE49-F238E27FC236}">
                  <a16:creationId xmlns:a16="http://schemas.microsoft.com/office/drawing/2014/main" id="{17988939-F0CA-2B41-523B-567C2A6C153F}"/>
                </a:ext>
              </a:extLst>
            </p:cNvPr>
            <p:cNvSpPr>
              <a:spLocks noChangeShapeType="1"/>
            </p:cNvSpPr>
            <p:nvPr/>
          </p:nvSpPr>
          <p:spPr bwMode="auto">
            <a:xfrm>
              <a:off x="6591609" y="37172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Rectangle 71">
              <a:extLst>
                <a:ext uri="{FF2B5EF4-FFF2-40B4-BE49-F238E27FC236}">
                  <a16:creationId xmlns:a16="http://schemas.microsoft.com/office/drawing/2014/main" id="{CC9769F7-53F5-D10D-4F23-13FF8B110BCA}"/>
                </a:ext>
              </a:extLst>
            </p:cNvPr>
            <p:cNvSpPr>
              <a:spLocks noChangeArrowheads="1"/>
            </p:cNvSpPr>
            <p:nvPr/>
          </p:nvSpPr>
          <p:spPr bwMode="auto">
            <a:xfrm>
              <a:off x="2182643" y="374871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17" name="Rectangle 72">
              <a:extLst>
                <a:ext uri="{FF2B5EF4-FFF2-40B4-BE49-F238E27FC236}">
                  <a16:creationId xmlns:a16="http://schemas.microsoft.com/office/drawing/2014/main" id="{8DB04AE9-7392-8902-09AA-EB4AFCBB0333}"/>
                </a:ext>
              </a:extLst>
            </p:cNvPr>
            <p:cNvSpPr>
              <a:spLocks noChangeArrowheads="1"/>
            </p:cNvSpPr>
            <p:nvPr/>
          </p:nvSpPr>
          <p:spPr bwMode="auto">
            <a:xfrm>
              <a:off x="2965206" y="374871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18" name="Rectangle 73">
              <a:extLst>
                <a:ext uri="{FF2B5EF4-FFF2-40B4-BE49-F238E27FC236}">
                  <a16:creationId xmlns:a16="http://schemas.microsoft.com/office/drawing/2014/main" id="{32F3B1BE-16DA-3B0E-7DD2-AFBD5D322E57}"/>
                </a:ext>
              </a:extLst>
            </p:cNvPr>
            <p:cNvSpPr>
              <a:spLocks noChangeArrowheads="1"/>
            </p:cNvSpPr>
            <p:nvPr/>
          </p:nvSpPr>
          <p:spPr bwMode="auto">
            <a:xfrm>
              <a:off x="3704497" y="37487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19" name="Rectangle 74">
              <a:extLst>
                <a:ext uri="{FF2B5EF4-FFF2-40B4-BE49-F238E27FC236}">
                  <a16:creationId xmlns:a16="http://schemas.microsoft.com/office/drawing/2014/main" id="{6C608AF2-6861-AD59-017C-0072C46D7A1D}"/>
                </a:ext>
              </a:extLst>
            </p:cNvPr>
            <p:cNvSpPr>
              <a:spLocks noChangeArrowheads="1"/>
            </p:cNvSpPr>
            <p:nvPr/>
          </p:nvSpPr>
          <p:spPr bwMode="auto">
            <a:xfrm>
              <a:off x="5018258" y="3748716"/>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20" name="Rectangle 75">
              <a:extLst>
                <a:ext uri="{FF2B5EF4-FFF2-40B4-BE49-F238E27FC236}">
                  <a16:creationId xmlns:a16="http://schemas.microsoft.com/office/drawing/2014/main" id="{1D16CB19-847F-8B36-1C34-3A4F9F2BC877}"/>
                </a:ext>
              </a:extLst>
            </p:cNvPr>
            <p:cNvSpPr>
              <a:spLocks noChangeArrowheads="1"/>
            </p:cNvSpPr>
            <p:nvPr/>
          </p:nvSpPr>
          <p:spPr bwMode="auto">
            <a:xfrm>
              <a:off x="6551667" y="3748716"/>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1" name="Rectangle 76">
              <a:extLst>
                <a:ext uri="{FF2B5EF4-FFF2-40B4-BE49-F238E27FC236}">
                  <a16:creationId xmlns:a16="http://schemas.microsoft.com/office/drawing/2014/main" id="{C557D280-6986-029A-FF60-7E3E83074B44}"/>
                </a:ext>
              </a:extLst>
            </p:cNvPr>
            <p:cNvSpPr>
              <a:spLocks noChangeArrowheads="1"/>
            </p:cNvSpPr>
            <p:nvPr/>
          </p:nvSpPr>
          <p:spPr bwMode="auto">
            <a:xfrm>
              <a:off x="2464180" y="34938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2" name="Rectangle 77">
              <a:extLst>
                <a:ext uri="{FF2B5EF4-FFF2-40B4-BE49-F238E27FC236}">
                  <a16:creationId xmlns:a16="http://schemas.microsoft.com/office/drawing/2014/main" id="{3FCFC1C7-4DC8-4C20-0773-07AE9B06244A}"/>
                </a:ext>
              </a:extLst>
            </p:cNvPr>
            <p:cNvSpPr>
              <a:spLocks noChangeArrowheads="1"/>
            </p:cNvSpPr>
            <p:nvPr/>
          </p:nvSpPr>
          <p:spPr bwMode="auto">
            <a:xfrm>
              <a:off x="3161589" y="34938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3" name="Rectangle 78">
              <a:extLst>
                <a:ext uri="{FF2B5EF4-FFF2-40B4-BE49-F238E27FC236}">
                  <a16:creationId xmlns:a16="http://schemas.microsoft.com/office/drawing/2014/main" id="{F3BEEFA0-8C4B-F1F0-3E2A-583C75CF5127}"/>
                </a:ext>
              </a:extLst>
            </p:cNvPr>
            <p:cNvSpPr>
              <a:spLocks noChangeArrowheads="1"/>
            </p:cNvSpPr>
            <p:nvPr/>
          </p:nvSpPr>
          <p:spPr bwMode="auto">
            <a:xfrm>
              <a:off x="3884905" y="34938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24" name="Rectangle 79">
              <a:extLst>
                <a:ext uri="{FF2B5EF4-FFF2-40B4-BE49-F238E27FC236}">
                  <a16:creationId xmlns:a16="http://schemas.microsoft.com/office/drawing/2014/main" id="{84069298-8DE2-21CB-C7F8-285A178642AB}"/>
                </a:ext>
              </a:extLst>
            </p:cNvPr>
            <p:cNvSpPr>
              <a:spLocks noChangeArrowheads="1"/>
            </p:cNvSpPr>
            <p:nvPr/>
          </p:nvSpPr>
          <p:spPr bwMode="auto">
            <a:xfrm>
              <a:off x="6645705" y="34938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25" name="Rectangle 80">
              <a:extLst>
                <a:ext uri="{FF2B5EF4-FFF2-40B4-BE49-F238E27FC236}">
                  <a16:creationId xmlns:a16="http://schemas.microsoft.com/office/drawing/2014/main" id="{191E1742-8E87-664D-4AAB-5064B9948425}"/>
                </a:ext>
              </a:extLst>
            </p:cNvPr>
            <p:cNvSpPr>
              <a:spLocks noChangeArrowheads="1"/>
            </p:cNvSpPr>
            <p:nvPr/>
          </p:nvSpPr>
          <p:spPr bwMode="auto">
            <a:xfrm>
              <a:off x="1800269" y="348180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26" name="Text Box 81">
              <a:extLst>
                <a:ext uri="{FF2B5EF4-FFF2-40B4-BE49-F238E27FC236}">
                  <a16:creationId xmlns:a16="http://schemas.microsoft.com/office/drawing/2014/main" id="{77028BC1-959F-C2F0-0ED7-60B2C74EE7E0}"/>
                </a:ext>
              </a:extLst>
            </p:cNvPr>
            <p:cNvSpPr txBox="1">
              <a:spLocks noChangeArrowheads="1"/>
            </p:cNvSpPr>
            <p:nvPr/>
          </p:nvSpPr>
          <p:spPr bwMode="auto">
            <a:xfrm>
              <a:off x="5527254" y="3471055"/>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27" name="Group 109">
              <a:extLst>
                <a:ext uri="{FF2B5EF4-FFF2-40B4-BE49-F238E27FC236}">
                  <a16:creationId xmlns:a16="http://schemas.microsoft.com/office/drawing/2014/main" id="{C6921DEB-3E47-F8F2-73FF-91BF7DFC2923}"/>
                </a:ext>
              </a:extLst>
            </p:cNvPr>
            <p:cNvGrpSpPr>
              <a:grpSpLocks/>
            </p:cNvGrpSpPr>
            <p:nvPr/>
          </p:nvGrpSpPr>
          <p:grpSpPr bwMode="auto">
            <a:xfrm>
              <a:off x="4279633" y="3158794"/>
              <a:ext cx="2311976" cy="676676"/>
              <a:chOff x="2715" y="1872"/>
              <a:chExt cx="1968" cy="624"/>
            </a:xfrm>
          </p:grpSpPr>
          <p:sp>
            <p:nvSpPr>
              <p:cNvPr id="28" name="AutoShape 110">
                <a:extLst>
                  <a:ext uri="{FF2B5EF4-FFF2-40B4-BE49-F238E27FC236}">
                    <a16:creationId xmlns:a16="http://schemas.microsoft.com/office/drawing/2014/main" id="{175155E1-5743-1B3C-3067-DBD85FBF068F}"/>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Rectangle 111">
                <a:extLst>
                  <a:ext uri="{FF2B5EF4-FFF2-40B4-BE49-F238E27FC236}">
                    <a16:creationId xmlns:a16="http://schemas.microsoft.com/office/drawing/2014/main" id="{37E13B73-27E0-53BF-439B-6954239F4582}"/>
                  </a:ext>
                </a:extLst>
              </p:cNvPr>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30" name="Rectangle 6">
              <a:extLst>
                <a:ext uri="{FF2B5EF4-FFF2-40B4-BE49-F238E27FC236}">
                  <a16:creationId xmlns:a16="http://schemas.microsoft.com/office/drawing/2014/main" id="{C1F01447-87E7-08A3-68F4-607799B1A7C8}"/>
                </a:ext>
              </a:extLst>
            </p:cNvPr>
            <p:cNvSpPr>
              <a:spLocks noChangeArrowheads="1"/>
            </p:cNvSpPr>
            <p:nvPr/>
          </p:nvSpPr>
          <p:spPr bwMode="auto">
            <a:xfrm>
              <a:off x="3949757" y="4053360"/>
              <a:ext cx="151875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V2</a:t>
              </a:r>
              <a:r>
                <a:rPr kumimoji="1" lang="zh-CN" altLang="en-US" sz="1200" b="1" dirty="0">
                  <a:latin typeface="微软雅黑" pitchFamily="34" charset="-122"/>
                  <a:ea typeface="微软雅黑" pitchFamily="34" charset="-122"/>
                </a:rPr>
                <a:t>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grpSp>
      <p:sp>
        <p:nvSpPr>
          <p:cNvPr id="34" name="Rectangle 111">
            <a:extLst>
              <a:ext uri="{FF2B5EF4-FFF2-40B4-BE49-F238E27FC236}">
                <a16:creationId xmlns:a16="http://schemas.microsoft.com/office/drawing/2014/main" id="{72B28292-95BD-A9AC-ED0C-BD2161AB3CDF}"/>
              </a:ext>
            </a:extLst>
          </p:cNvPr>
          <p:cNvSpPr>
            <a:spLocks noChangeArrowheads="1"/>
          </p:cNvSpPr>
          <p:nvPr/>
        </p:nvSpPr>
        <p:spPr bwMode="auto">
          <a:xfrm>
            <a:off x="4279633" y="3158794"/>
            <a:ext cx="2311976" cy="260260"/>
          </a:xfrm>
          <a:prstGeom prst="rect">
            <a:avLst/>
          </a:prstGeom>
          <a:solidFill>
            <a:srgbClr val="C0000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spTree>
    <p:extLst>
      <p:ext uri="{BB962C8B-B14F-4D97-AF65-F5344CB8AC3E}">
        <p14:creationId xmlns:p14="http://schemas.microsoft.com/office/powerpoint/2010/main" val="297082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par>
                          <p:cTn id="40" fill="hold">
                            <p:stCondLst>
                              <p:cond delay="0"/>
                            </p:stCondLst>
                            <p:childTnLst>
                              <p:par>
                                <p:cTn id="41" presetID="35" presetClass="emph" presetSubtype="0" repeatCount="3000" fill="hold" grpId="1" nodeType="afterEffect">
                                  <p:stCondLst>
                                    <p:cond delay="0"/>
                                  </p:stCondLst>
                                  <p:childTnLst>
                                    <p:anim calcmode="discrete" valueType="str">
                                      <p:cBhvr>
                                        <p:cTn id="42" dur="1000" fill="hold"/>
                                        <p:tgtEl>
                                          <p:spTgt spid="34"/>
                                        </p:tgtEl>
                                        <p:attrNameLst>
                                          <p:attrName>style.visibility</p:attrName>
                                        </p:attrNameLst>
                                      </p:cBhvr>
                                      <p:tavLst>
                                        <p:tav tm="0">
                                          <p:val>
                                            <p:strVal val="hidden"/>
                                          </p:val>
                                        </p:tav>
                                        <p:tav tm="50000">
                                          <p:val>
                                            <p:strVal val="visible"/>
                                          </p:val>
                                        </p:tav>
                                      </p:tavLst>
                                    </p:anim>
                                  </p:childTnLst>
                                  <p:subTnLst>
                                    <p:set>
                                      <p:cBhvr override="childStyle">
                                        <p:cTn dur="1" fill="hold" display="0" masterRel="sameClick" afterEffect="1">
                                          <p:stCondLst>
                                            <p:cond evt="end" delay="0">
                                              <p:tn val="41"/>
                                            </p:cond>
                                          </p:stCondLst>
                                        </p:cTn>
                                        <p:tgtEl>
                                          <p:spTgt spid="3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4" grpId="0" animBg="1"/>
      <p:bldP spid="34"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Line 3"/>
          <p:cNvSpPr>
            <a:spLocks noChangeShapeType="1"/>
          </p:cNvSpPr>
          <p:nvPr/>
        </p:nvSpPr>
        <p:spPr bwMode="auto">
          <a:xfrm>
            <a:off x="1025874" y="3487872"/>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 name="Rectangle 4"/>
          <p:cNvSpPr>
            <a:spLocks noChangeArrowheads="1"/>
          </p:cNvSpPr>
          <p:nvPr/>
        </p:nvSpPr>
        <p:spPr bwMode="auto">
          <a:xfrm>
            <a:off x="2063209" y="3640228"/>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6"/>
          <p:cNvSpPr>
            <a:spLocks noChangeArrowheads="1"/>
          </p:cNvSpPr>
          <p:nvPr/>
        </p:nvSpPr>
        <p:spPr bwMode="auto">
          <a:xfrm>
            <a:off x="3847707" y="3686525"/>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1" name="Rectangle 13"/>
          <p:cNvSpPr>
            <a:spLocks noChangeArrowheads="1"/>
          </p:cNvSpPr>
          <p:nvPr/>
        </p:nvSpPr>
        <p:spPr bwMode="auto">
          <a:xfrm>
            <a:off x="6889224" y="369367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2" name="Rectangle 26"/>
          <p:cNvSpPr>
            <a:spLocks noChangeArrowheads="1"/>
          </p:cNvSpPr>
          <p:nvPr/>
        </p:nvSpPr>
        <p:spPr bwMode="auto">
          <a:xfrm>
            <a:off x="6859854" y="3054106"/>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3" name="Line 27"/>
          <p:cNvSpPr>
            <a:spLocks noChangeShapeType="1"/>
          </p:cNvSpPr>
          <p:nvPr/>
        </p:nvSpPr>
        <p:spPr bwMode="auto">
          <a:xfrm flipH="1">
            <a:off x="2057335" y="3300269"/>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Line 28"/>
          <p:cNvSpPr>
            <a:spLocks noChangeShapeType="1"/>
          </p:cNvSpPr>
          <p:nvPr/>
        </p:nvSpPr>
        <p:spPr bwMode="auto">
          <a:xfrm>
            <a:off x="6801115" y="3349067"/>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446833"/>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811196"/>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432807"/>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3005307"/>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3036755"/>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303675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303675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3036755"/>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3036755"/>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76984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759094"/>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446833"/>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70C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4" name="AutoShape 38"/>
          <p:cNvSpPr>
            <a:spLocks noChangeArrowheads="1"/>
          </p:cNvSpPr>
          <p:nvPr/>
        </p:nvSpPr>
        <p:spPr bwMode="auto">
          <a:xfrm>
            <a:off x="3142535" y="1756079"/>
            <a:ext cx="2398729" cy="375516"/>
          </a:xfrm>
          <a:prstGeom prst="wedgeRoundRectCallout">
            <a:avLst>
              <a:gd name="adj1" fmla="val -77281"/>
              <a:gd name="adj2" fmla="val 299612"/>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目的地址字段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sp>
        <p:nvSpPr>
          <p:cNvPr id="48"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68151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p:cTn id="7" dur="500" fill="hold"/>
                                        <p:tgtEl>
                                          <p:spTgt spid="54"/>
                                        </p:tgtEl>
                                        <p:attrNameLst>
                                          <p:attrName>ppt_w</p:attrName>
                                        </p:attrNameLst>
                                      </p:cBhvr>
                                      <p:tavLst>
                                        <p:tav tm="0">
                                          <p:val>
                                            <p:fltVal val="0"/>
                                          </p:val>
                                        </p:tav>
                                        <p:tav tm="100000">
                                          <p:val>
                                            <p:strVal val="#ppt_w"/>
                                          </p:val>
                                        </p:tav>
                                      </p:tavLst>
                                    </p:anim>
                                    <p:anim calcmode="lin" valueType="num">
                                      <p:cBhvr>
                                        <p:cTn id="8" dur="500" fill="hold"/>
                                        <p:tgtEl>
                                          <p:spTgt spid="54"/>
                                        </p:tgtEl>
                                        <p:attrNameLst>
                                          <p:attrName>ppt_h</p:attrName>
                                        </p:attrNameLst>
                                      </p:cBhvr>
                                      <p:tavLst>
                                        <p:tav tm="0">
                                          <p:val>
                                            <p:fltVal val="0"/>
                                          </p:val>
                                        </p:tav>
                                        <p:tav tm="100000">
                                          <p:val>
                                            <p:strVal val="#ppt_h"/>
                                          </p:val>
                                        </p:tav>
                                      </p:tavLst>
                                    </p:anim>
                                    <p:animEffect transition="in" filter="fade">
                                      <p:cBhvr>
                                        <p:cTn id="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0" name="Line 3"/>
          <p:cNvSpPr>
            <a:spLocks noChangeShapeType="1"/>
          </p:cNvSpPr>
          <p:nvPr/>
        </p:nvSpPr>
        <p:spPr bwMode="auto">
          <a:xfrm>
            <a:off x="1025874" y="3487872"/>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Rectangle 4"/>
          <p:cNvSpPr>
            <a:spLocks noChangeArrowheads="1"/>
          </p:cNvSpPr>
          <p:nvPr/>
        </p:nvSpPr>
        <p:spPr bwMode="auto">
          <a:xfrm>
            <a:off x="2063209" y="3640228"/>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
          <p:cNvSpPr>
            <a:spLocks noChangeArrowheads="1"/>
          </p:cNvSpPr>
          <p:nvPr/>
        </p:nvSpPr>
        <p:spPr bwMode="auto">
          <a:xfrm>
            <a:off x="3849543" y="3686525"/>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3" name="Rectangle 13"/>
          <p:cNvSpPr>
            <a:spLocks noChangeArrowheads="1"/>
          </p:cNvSpPr>
          <p:nvPr/>
        </p:nvSpPr>
        <p:spPr bwMode="auto">
          <a:xfrm>
            <a:off x="6889224" y="369367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4" name="Rectangle 26"/>
          <p:cNvSpPr>
            <a:spLocks noChangeArrowheads="1"/>
          </p:cNvSpPr>
          <p:nvPr/>
        </p:nvSpPr>
        <p:spPr bwMode="auto">
          <a:xfrm>
            <a:off x="6859854" y="3054106"/>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5" name="Line 27"/>
          <p:cNvSpPr>
            <a:spLocks noChangeShapeType="1"/>
          </p:cNvSpPr>
          <p:nvPr/>
        </p:nvSpPr>
        <p:spPr bwMode="auto">
          <a:xfrm flipH="1">
            <a:off x="2057335" y="3300269"/>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8"/>
          <p:cNvSpPr>
            <a:spLocks noChangeShapeType="1"/>
          </p:cNvSpPr>
          <p:nvPr/>
        </p:nvSpPr>
        <p:spPr bwMode="auto">
          <a:xfrm>
            <a:off x="6801115" y="3349067"/>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446833"/>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811196"/>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432807"/>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3005307"/>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3036755"/>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303675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303675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3036755"/>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3036755"/>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76984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759094"/>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446833"/>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70C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AutoShape 38"/>
          <p:cNvSpPr>
            <a:spLocks noChangeArrowheads="1"/>
          </p:cNvSpPr>
          <p:nvPr/>
        </p:nvSpPr>
        <p:spPr bwMode="auto">
          <a:xfrm>
            <a:off x="3142535" y="1756079"/>
            <a:ext cx="1972251" cy="375516"/>
          </a:xfrm>
          <a:prstGeom prst="wedgeRoundRectCallout">
            <a:avLst>
              <a:gd name="adj1" fmla="val -47166"/>
              <a:gd name="adj2" fmla="val 292307"/>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源地址字段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sp>
        <p:nvSpPr>
          <p:cNvPr id="55"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51256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animEffect transition="in" filter="fade">
                                      <p:cBhvr>
                                        <p:cTn id="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44" name="Line 3"/>
          <p:cNvSpPr>
            <a:spLocks noChangeShapeType="1"/>
          </p:cNvSpPr>
          <p:nvPr/>
        </p:nvSpPr>
        <p:spPr bwMode="auto">
          <a:xfrm>
            <a:off x="1025874" y="3487872"/>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Rectangle 4"/>
          <p:cNvSpPr>
            <a:spLocks noChangeArrowheads="1"/>
          </p:cNvSpPr>
          <p:nvPr/>
        </p:nvSpPr>
        <p:spPr bwMode="auto">
          <a:xfrm>
            <a:off x="2063209" y="3640228"/>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Rectangle 6"/>
          <p:cNvSpPr>
            <a:spLocks noChangeArrowheads="1"/>
          </p:cNvSpPr>
          <p:nvPr/>
        </p:nvSpPr>
        <p:spPr bwMode="auto">
          <a:xfrm>
            <a:off x="3849543" y="3686525"/>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47" name="Rectangle 13"/>
          <p:cNvSpPr>
            <a:spLocks noChangeArrowheads="1"/>
          </p:cNvSpPr>
          <p:nvPr/>
        </p:nvSpPr>
        <p:spPr bwMode="auto">
          <a:xfrm>
            <a:off x="6889224" y="369367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48" name="Rectangle 26"/>
          <p:cNvSpPr>
            <a:spLocks noChangeArrowheads="1"/>
          </p:cNvSpPr>
          <p:nvPr/>
        </p:nvSpPr>
        <p:spPr bwMode="auto">
          <a:xfrm>
            <a:off x="6859854" y="3054106"/>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49" name="Line 27"/>
          <p:cNvSpPr>
            <a:spLocks noChangeShapeType="1"/>
          </p:cNvSpPr>
          <p:nvPr/>
        </p:nvSpPr>
        <p:spPr bwMode="auto">
          <a:xfrm flipH="1">
            <a:off x="2057335" y="3300269"/>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28"/>
          <p:cNvSpPr>
            <a:spLocks noChangeShapeType="1"/>
          </p:cNvSpPr>
          <p:nvPr/>
        </p:nvSpPr>
        <p:spPr bwMode="auto">
          <a:xfrm>
            <a:off x="6801115" y="3349067"/>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Rectangle 47"/>
          <p:cNvSpPr>
            <a:spLocks noChangeArrowheads="1"/>
          </p:cNvSpPr>
          <p:nvPr/>
        </p:nvSpPr>
        <p:spPr bwMode="auto">
          <a:xfrm>
            <a:off x="6966760" y="2446833"/>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54" name="Line 48"/>
          <p:cNvSpPr>
            <a:spLocks noChangeShapeType="1"/>
          </p:cNvSpPr>
          <p:nvPr/>
        </p:nvSpPr>
        <p:spPr bwMode="auto">
          <a:xfrm flipV="1">
            <a:off x="6853980" y="2811196"/>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AutoShape 64"/>
          <p:cNvSpPr>
            <a:spLocks noChangeArrowheads="1"/>
          </p:cNvSpPr>
          <p:nvPr/>
        </p:nvSpPr>
        <p:spPr bwMode="auto">
          <a:xfrm rot="16200000" flipH="1">
            <a:off x="4254498" y="3432807"/>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Rectangle 66"/>
          <p:cNvSpPr>
            <a:spLocks noChangeArrowheads="1"/>
          </p:cNvSpPr>
          <p:nvPr/>
        </p:nvSpPr>
        <p:spPr bwMode="auto">
          <a:xfrm>
            <a:off x="2057335" y="3005307"/>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67"/>
          <p:cNvSpPr>
            <a:spLocks noChangeShapeType="1"/>
          </p:cNvSpPr>
          <p:nvPr/>
        </p:nvSpPr>
        <p:spPr bwMode="auto">
          <a:xfrm>
            <a:off x="2749283"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68"/>
          <p:cNvSpPr>
            <a:spLocks noChangeShapeType="1"/>
          </p:cNvSpPr>
          <p:nvPr/>
        </p:nvSpPr>
        <p:spPr bwMode="auto">
          <a:xfrm>
            <a:off x="3425959"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69"/>
          <p:cNvSpPr>
            <a:spLocks noChangeShapeType="1"/>
          </p:cNvSpPr>
          <p:nvPr/>
        </p:nvSpPr>
        <p:spPr bwMode="auto">
          <a:xfrm>
            <a:off x="4102635"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70"/>
          <p:cNvSpPr>
            <a:spLocks noChangeShapeType="1"/>
          </p:cNvSpPr>
          <p:nvPr/>
        </p:nvSpPr>
        <p:spPr bwMode="auto">
          <a:xfrm>
            <a:off x="6414611"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71"/>
          <p:cNvSpPr>
            <a:spLocks noChangeArrowheads="1"/>
          </p:cNvSpPr>
          <p:nvPr/>
        </p:nvSpPr>
        <p:spPr bwMode="auto">
          <a:xfrm>
            <a:off x="2005645" y="3036755"/>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62" name="Rectangle 72"/>
          <p:cNvSpPr>
            <a:spLocks noChangeArrowheads="1"/>
          </p:cNvSpPr>
          <p:nvPr/>
        </p:nvSpPr>
        <p:spPr bwMode="auto">
          <a:xfrm>
            <a:off x="2788208" y="303675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63" name="Rectangle 73"/>
          <p:cNvSpPr>
            <a:spLocks noChangeArrowheads="1"/>
          </p:cNvSpPr>
          <p:nvPr/>
        </p:nvSpPr>
        <p:spPr bwMode="auto">
          <a:xfrm>
            <a:off x="3527499" y="303675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64" name="Rectangle 74"/>
          <p:cNvSpPr>
            <a:spLocks noChangeArrowheads="1"/>
          </p:cNvSpPr>
          <p:nvPr/>
        </p:nvSpPr>
        <p:spPr bwMode="auto">
          <a:xfrm>
            <a:off x="4841260" y="3036755"/>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65" name="Rectangle 75"/>
          <p:cNvSpPr>
            <a:spLocks noChangeArrowheads="1"/>
          </p:cNvSpPr>
          <p:nvPr/>
        </p:nvSpPr>
        <p:spPr bwMode="auto">
          <a:xfrm>
            <a:off x="6374669" y="3036755"/>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66" name="Rectangle 76"/>
          <p:cNvSpPr>
            <a:spLocks noChangeArrowheads="1"/>
          </p:cNvSpPr>
          <p:nvPr/>
        </p:nvSpPr>
        <p:spPr bwMode="auto">
          <a:xfrm>
            <a:off x="2287182"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7" name="Rectangle 77"/>
          <p:cNvSpPr>
            <a:spLocks noChangeArrowheads="1"/>
          </p:cNvSpPr>
          <p:nvPr/>
        </p:nvSpPr>
        <p:spPr bwMode="auto">
          <a:xfrm>
            <a:off x="2984591"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8" name="Rectangle 78"/>
          <p:cNvSpPr>
            <a:spLocks noChangeArrowheads="1"/>
          </p:cNvSpPr>
          <p:nvPr/>
        </p:nvSpPr>
        <p:spPr bwMode="auto">
          <a:xfrm>
            <a:off x="37079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69" name="Rectangle 79"/>
          <p:cNvSpPr>
            <a:spLocks noChangeArrowheads="1"/>
          </p:cNvSpPr>
          <p:nvPr/>
        </p:nvSpPr>
        <p:spPr bwMode="auto">
          <a:xfrm>
            <a:off x="64687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70" name="Rectangle 80"/>
          <p:cNvSpPr>
            <a:spLocks noChangeArrowheads="1"/>
          </p:cNvSpPr>
          <p:nvPr/>
        </p:nvSpPr>
        <p:spPr bwMode="auto">
          <a:xfrm>
            <a:off x="1623271" y="276984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71" name="Text Box 81"/>
          <p:cNvSpPr txBox="1">
            <a:spLocks noChangeArrowheads="1"/>
          </p:cNvSpPr>
          <p:nvPr/>
        </p:nvSpPr>
        <p:spPr bwMode="auto">
          <a:xfrm>
            <a:off x="5350256" y="2759094"/>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74" name="Group 109"/>
          <p:cNvGrpSpPr>
            <a:grpSpLocks/>
          </p:cNvGrpSpPr>
          <p:nvPr/>
        </p:nvGrpSpPr>
        <p:grpSpPr bwMode="auto">
          <a:xfrm>
            <a:off x="4102635" y="2446833"/>
            <a:ext cx="2311976" cy="676676"/>
            <a:chOff x="2715" y="1872"/>
            <a:chExt cx="1968" cy="624"/>
          </a:xfrm>
        </p:grpSpPr>
        <p:sp>
          <p:nvSpPr>
            <p:cNvPr id="75"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111"/>
            <p:cNvSpPr>
              <a:spLocks noChangeArrowheads="1"/>
            </p:cNvSpPr>
            <p:nvPr/>
          </p:nvSpPr>
          <p:spPr bwMode="auto">
            <a:xfrm>
              <a:off x="2715" y="1872"/>
              <a:ext cx="1968" cy="240"/>
            </a:xfrm>
            <a:prstGeom prst="rect">
              <a:avLst/>
            </a:prstGeom>
            <a:solidFill>
              <a:srgbClr val="0070C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77" name="AutoShape 38"/>
          <p:cNvSpPr>
            <a:spLocks noChangeArrowheads="1"/>
          </p:cNvSpPr>
          <p:nvPr/>
        </p:nvSpPr>
        <p:spPr bwMode="auto">
          <a:xfrm>
            <a:off x="2287182" y="1845508"/>
            <a:ext cx="4795470" cy="375516"/>
          </a:xfrm>
          <a:prstGeom prst="wedgeRoundRectCallout">
            <a:avLst>
              <a:gd name="adj1" fmla="val -22179"/>
              <a:gd name="adj2" fmla="val 268742"/>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类型字段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字节，标志上一层使用的是什么协议</a:t>
            </a:r>
          </a:p>
        </p:txBody>
      </p:sp>
      <p:sp>
        <p:nvSpPr>
          <p:cNvPr id="5" name="矩形 4"/>
          <p:cNvSpPr/>
          <p:nvPr/>
        </p:nvSpPr>
        <p:spPr>
          <a:xfrm>
            <a:off x="2387079" y="1123704"/>
            <a:ext cx="4595676"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常用类型字段值：</a:t>
            </a:r>
            <a:r>
              <a:rPr lang="en-US" altLang="zh-CN" sz="1600" b="1" dirty="0">
                <a:solidFill>
                  <a:schemeClr val="bg1"/>
                </a:solidFill>
                <a:latin typeface="微软雅黑" pitchFamily="34" charset="-122"/>
                <a:ea typeface="微软雅黑" pitchFamily="34" charset="-122"/>
              </a:rPr>
              <a:t>0x0800</a:t>
            </a:r>
            <a:r>
              <a:rPr lang="zh-CN" altLang="en-US" sz="1600" b="1" dirty="0">
                <a:solidFill>
                  <a:schemeClr val="bg1"/>
                </a:solidFill>
                <a:latin typeface="微软雅黑" pitchFamily="34" charset="-122"/>
                <a:ea typeface="微软雅黑" pitchFamily="34" charset="-122"/>
              </a:rPr>
              <a:t>表示上层协议是</a:t>
            </a:r>
            <a:r>
              <a:rPr lang="en-US" altLang="zh-CN" sz="1600" b="1" dirty="0">
                <a:solidFill>
                  <a:schemeClr val="bg1"/>
                </a:solidFill>
                <a:latin typeface="微软雅黑" pitchFamily="34" charset="-122"/>
                <a:ea typeface="微软雅黑" pitchFamily="34" charset="-122"/>
              </a:rPr>
              <a:t>IPv4</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0x86DD</a:t>
            </a:r>
            <a:r>
              <a:rPr lang="zh-CN" altLang="en-US" sz="1600" b="1" dirty="0">
                <a:solidFill>
                  <a:schemeClr val="bg1"/>
                </a:solidFill>
                <a:latin typeface="微软雅黑" pitchFamily="34" charset="-122"/>
                <a:ea typeface="微软雅黑" pitchFamily="34" charset="-122"/>
              </a:rPr>
              <a:t>表示</a:t>
            </a:r>
            <a:r>
              <a:rPr lang="en-US" altLang="zh-CN" sz="1600" b="1" dirty="0">
                <a:solidFill>
                  <a:schemeClr val="bg1"/>
                </a:solidFill>
                <a:latin typeface="微软雅黑" pitchFamily="34" charset="-122"/>
                <a:ea typeface="微软雅黑" pitchFamily="34" charset="-122"/>
              </a:rPr>
              <a:t>IPv6</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0x0806</a:t>
            </a:r>
            <a:r>
              <a:rPr lang="zh-CN" altLang="en-US" sz="1600" b="1" dirty="0">
                <a:solidFill>
                  <a:schemeClr val="bg1"/>
                </a:solidFill>
                <a:latin typeface="微软雅黑" pitchFamily="34" charset="-122"/>
                <a:ea typeface="微软雅黑" pitchFamily="34" charset="-122"/>
              </a:rPr>
              <a:t>表示</a:t>
            </a:r>
            <a:r>
              <a:rPr lang="en-US" altLang="zh-CN" sz="1600" b="1" dirty="0">
                <a:solidFill>
                  <a:schemeClr val="bg1"/>
                </a:solidFill>
                <a:latin typeface="微软雅黑" pitchFamily="34" charset="-122"/>
                <a:ea typeface="微软雅黑" pitchFamily="34" charset="-122"/>
              </a:rPr>
              <a:t>ARP</a:t>
            </a:r>
            <a:endParaRPr lang="zh-CN" altLang="en-US" sz="1600" b="1" dirty="0">
              <a:solidFill>
                <a:schemeClr val="bg1"/>
              </a:solidFill>
              <a:latin typeface="微软雅黑" pitchFamily="34" charset="-122"/>
              <a:ea typeface="微软雅黑" pitchFamily="34" charset="-122"/>
            </a:endParaRPr>
          </a:p>
        </p:txBody>
      </p:sp>
      <p:sp>
        <p:nvSpPr>
          <p:cNvPr id="37"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33731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animEffect transition="in" filter="fade">
                                      <p:cBhvr>
                                        <p:cTn id="9" dur="500"/>
                                        <p:tgtEl>
                                          <p:spTgt spid="7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39"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矩形 44"/>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10" name="Line 3"/>
          <p:cNvSpPr>
            <a:spLocks noChangeShapeType="1"/>
          </p:cNvSpPr>
          <p:nvPr/>
        </p:nvSpPr>
        <p:spPr bwMode="auto">
          <a:xfrm>
            <a:off x="1025874" y="3487872"/>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Rectangle 4"/>
          <p:cNvSpPr>
            <a:spLocks noChangeArrowheads="1"/>
          </p:cNvSpPr>
          <p:nvPr/>
        </p:nvSpPr>
        <p:spPr bwMode="auto">
          <a:xfrm>
            <a:off x="2063209" y="3640228"/>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6"/>
          <p:cNvSpPr>
            <a:spLocks noChangeArrowheads="1"/>
          </p:cNvSpPr>
          <p:nvPr/>
        </p:nvSpPr>
        <p:spPr bwMode="auto">
          <a:xfrm>
            <a:off x="3847707" y="3686525"/>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3" name="Rectangle 13"/>
          <p:cNvSpPr>
            <a:spLocks noChangeArrowheads="1"/>
          </p:cNvSpPr>
          <p:nvPr/>
        </p:nvSpPr>
        <p:spPr bwMode="auto">
          <a:xfrm>
            <a:off x="6889224" y="369367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4" name="Rectangle 26"/>
          <p:cNvSpPr>
            <a:spLocks noChangeArrowheads="1"/>
          </p:cNvSpPr>
          <p:nvPr/>
        </p:nvSpPr>
        <p:spPr bwMode="auto">
          <a:xfrm>
            <a:off x="6859854" y="3054106"/>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p:cNvSpPr>
            <a:spLocks noChangeShapeType="1"/>
          </p:cNvSpPr>
          <p:nvPr/>
        </p:nvSpPr>
        <p:spPr bwMode="auto">
          <a:xfrm flipH="1">
            <a:off x="2057335" y="3300269"/>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6801115" y="3349067"/>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47"/>
          <p:cNvSpPr>
            <a:spLocks noChangeArrowheads="1"/>
          </p:cNvSpPr>
          <p:nvPr/>
        </p:nvSpPr>
        <p:spPr bwMode="auto">
          <a:xfrm>
            <a:off x="6966760" y="2446833"/>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0" name="Line 48"/>
          <p:cNvSpPr>
            <a:spLocks noChangeShapeType="1"/>
          </p:cNvSpPr>
          <p:nvPr/>
        </p:nvSpPr>
        <p:spPr bwMode="auto">
          <a:xfrm flipV="1">
            <a:off x="6853980" y="2811196"/>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AutoShape 64"/>
          <p:cNvSpPr>
            <a:spLocks noChangeArrowheads="1"/>
          </p:cNvSpPr>
          <p:nvPr/>
        </p:nvSpPr>
        <p:spPr bwMode="auto">
          <a:xfrm rot="16200000" flipH="1">
            <a:off x="4254498" y="3432807"/>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6"/>
          <p:cNvSpPr>
            <a:spLocks noChangeArrowheads="1"/>
          </p:cNvSpPr>
          <p:nvPr/>
        </p:nvSpPr>
        <p:spPr bwMode="auto">
          <a:xfrm>
            <a:off x="2057335" y="3005307"/>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Line 67"/>
          <p:cNvSpPr>
            <a:spLocks noChangeShapeType="1"/>
          </p:cNvSpPr>
          <p:nvPr/>
        </p:nvSpPr>
        <p:spPr bwMode="auto">
          <a:xfrm>
            <a:off x="2749283"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68"/>
          <p:cNvSpPr>
            <a:spLocks noChangeShapeType="1"/>
          </p:cNvSpPr>
          <p:nvPr/>
        </p:nvSpPr>
        <p:spPr bwMode="auto">
          <a:xfrm>
            <a:off x="3425959"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69"/>
          <p:cNvSpPr>
            <a:spLocks noChangeShapeType="1"/>
          </p:cNvSpPr>
          <p:nvPr/>
        </p:nvSpPr>
        <p:spPr bwMode="auto">
          <a:xfrm>
            <a:off x="4102635"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Line 70"/>
          <p:cNvSpPr>
            <a:spLocks noChangeShapeType="1"/>
          </p:cNvSpPr>
          <p:nvPr/>
        </p:nvSpPr>
        <p:spPr bwMode="auto">
          <a:xfrm>
            <a:off x="6414611"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71"/>
          <p:cNvSpPr>
            <a:spLocks noChangeArrowheads="1"/>
          </p:cNvSpPr>
          <p:nvPr/>
        </p:nvSpPr>
        <p:spPr bwMode="auto">
          <a:xfrm>
            <a:off x="2005645" y="3036755"/>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28" name="Rectangle 72"/>
          <p:cNvSpPr>
            <a:spLocks noChangeArrowheads="1"/>
          </p:cNvSpPr>
          <p:nvPr/>
        </p:nvSpPr>
        <p:spPr bwMode="auto">
          <a:xfrm>
            <a:off x="2788208" y="303675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9" name="Rectangle 73"/>
          <p:cNvSpPr>
            <a:spLocks noChangeArrowheads="1"/>
          </p:cNvSpPr>
          <p:nvPr/>
        </p:nvSpPr>
        <p:spPr bwMode="auto">
          <a:xfrm>
            <a:off x="3527499" y="303675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0" name="Rectangle 74"/>
          <p:cNvSpPr>
            <a:spLocks noChangeArrowheads="1"/>
          </p:cNvSpPr>
          <p:nvPr/>
        </p:nvSpPr>
        <p:spPr bwMode="auto">
          <a:xfrm>
            <a:off x="4841260" y="3036755"/>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1" name="Rectangle 75"/>
          <p:cNvSpPr>
            <a:spLocks noChangeArrowheads="1"/>
          </p:cNvSpPr>
          <p:nvPr/>
        </p:nvSpPr>
        <p:spPr bwMode="auto">
          <a:xfrm>
            <a:off x="6374669" y="3036755"/>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2" name="Rectangle 76"/>
          <p:cNvSpPr>
            <a:spLocks noChangeArrowheads="1"/>
          </p:cNvSpPr>
          <p:nvPr/>
        </p:nvSpPr>
        <p:spPr bwMode="auto">
          <a:xfrm>
            <a:off x="2287182"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3" name="Rectangle 77"/>
          <p:cNvSpPr>
            <a:spLocks noChangeArrowheads="1"/>
          </p:cNvSpPr>
          <p:nvPr/>
        </p:nvSpPr>
        <p:spPr bwMode="auto">
          <a:xfrm>
            <a:off x="2984591"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4" name="Rectangle 78"/>
          <p:cNvSpPr>
            <a:spLocks noChangeArrowheads="1"/>
          </p:cNvSpPr>
          <p:nvPr/>
        </p:nvSpPr>
        <p:spPr bwMode="auto">
          <a:xfrm>
            <a:off x="37079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35" name="Rectangle 79"/>
          <p:cNvSpPr>
            <a:spLocks noChangeArrowheads="1"/>
          </p:cNvSpPr>
          <p:nvPr/>
        </p:nvSpPr>
        <p:spPr bwMode="auto">
          <a:xfrm>
            <a:off x="64687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36" name="Rectangle 80"/>
          <p:cNvSpPr>
            <a:spLocks noChangeArrowheads="1"/>
          </p:cNvSpPr>
          <p:nvPr/>
        </p:nvSpPr>
        <p:spPr bwMode="auto">
          <a:xfrm>
            <a:off x="1623271" y="276984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37" name="Text Box 81"/>
          <p:cNvSpPr txBox="1">
            <a:spLocks noChangeArrowheads="1"/>
          </p:cNvSpPr>
          <p:nvPr/>
        </p:nvSpPr>
        <p:spPr bwMode="auto">
          <a:xfrm>
            <a:off x="5350256" y="2759094"/>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0" name="Group 109"/>
          <p:cNvGrpSpPr>
            <a:grpSpLocks/>
          </p:cNvGrpSpPr>
          <p:nvPr/>
        </p:nvGrpSpPr>
        <p:grpSpPr bwMode="auto">
          <a:xfrm>
            <a:off x="4102635" y="2446833"/>
            <a:ext cx="2311976" cy="676676"/>
            <a:chOff x="2715" y="1872"/>
            <a:chExt cx="1968" cy="624"/>
          </a:xfrm>
        </p:grpSpPr>
        <p:sp>
          <p:nvSpPr>
            <p:cNvPr id="4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43" name="AutoShape 38"/>
          <p:cNvSpPr>
            <a:spLocks noChangeArrowheads="1"/>
          </p:cNvSpPr>
          <p:nvPr/>
        </p:nvSpPr>
        <p:spPr bwMode="auto">
          <a:xfrm>
            <a:off x="3608839" y="1756079"/>
            <a:ext cx="2674606" cy="375516"/>
          </a:xfrm>
          <a:prstGeom prst="wedgeRoundRectCallout">
            <a:avLst>
              <a:gd name="adj1" fmla="val -7724"/>
              <a:gd name="adj2" fmla="val 314223"/>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数据字段 </a:t>
            </a:r>
            <a:r>
              <a:rPr lang="en-US" altLang="zh-CN" sz="1600" b="1" dirty="0">
                <a:latin typeface="微软雅黑" pitchFamily="34" charset="-122"/>
                <a:ea typeface="微软雅黑" pitchFamily="34" charset="-122"/>
              </a:rPr>
              <a:t>46 ~ 1500 </a:t>
            </a:r>
            <a:r>
              <a:rPr lang="zh-CN" altLang="en-US" sz="1600" b="1" dirty="0">
                <a:latin typeface="微软雅黑" pitchFamily="34" charset="-122"/>
                <a:ea typeface="微软雅黑" pitchFamily="34" charset="-122"/>
              </a:rPr>
              <a:t>字节</a:t>
            </a:r>
          </a:p>
        </p:txBody>
      </p:sp>
      <p:sp>
        <p:nvSpPr>
          <p:cNvPr id="80" name="矩形 79"/>
          <p:cNvSpPr/>
          <p:nvPr/>
        </p:nvSpPr>
        <p:spPr>
          <a:xfrm>
            <a:off x="1025874" y="1230988"/>
            <a:ext cx="7127526" cy="338554"/>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最小帧长 </a:t>
            </a:r>
            <a:r>
              <a:rPr lang="en-US" altLang="zh-CN" sz="1600" b="1" dirty="0">
                <a:solidFill>
                  <a:schemeClr val="bg1"/>
                </a:solidFill>
                <a:latin typeface="微软雅黑" pitchFamily="34" charset="-122"/>
                <a:ea typeface="微软雅黑" pitchFamily="34" charset="-122"/>
              </a:rPr>
              <a:t>64 </a:t>
            </a:r>
            <a:r>
              <a:rPr lang="zh-CN" altLang="en-US" sz="1600" b="1" dirty="0">
                <a:solidFill>
                  <a:schemeClr val="bg1"/>
                </a:solidFill>
                <a:latin typeface="微软雅黑" pitchFamily="34" charset="-122"/>
                <a:ea typeface="微软雅黑" pitchFamily="34" charset="-122"/>
              </a:rPr>
              <a:t>字节 </a:t>
            </a:r>
            <a:r>
              <a:rPr lang="en-US" altLang="zh-CN" sz="1600" b="1" dirty="0">
                <a:solidFill>
                  <a:schemeClr val="bg1"/>
                </a:solidFill>
                <a:latin typeface="微软雅黑" pitchFamily="34" charset="-122"/>
                <a:ea typeface="微软雅黑" pitchFamily="34" charset="-122"/>
              </a:rPr>
              <a:t>- 18 </a:t>
            </a:r>
            <a:r>
              <a:rPr lang="zh-CN" altLang="en-US" sz="1600" b="1" dirty="0">
                <a:solidFill>
                  <a:schemeClr val="bg1"/>
                </a:solidFill>
                <a:latin typeface="微软雅黑" pitchFamily="34" charset="-122"/>
                <a:ea typeface="微软雅黑" pitchFamily="34" charset="-122"/>
              </a:rPr>
              <a:t>字节的首部和尾部 </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数据字段的最小长度（</a:t>
            </a:r>
            <a:r>
              <a:rPr lang="en-US" altLang="zh-CN" sz="1600" b="1" dirty="0">
                <a:solidFill>
                  <a:schemeClr val="bg1"/>
                </a:solidFill>
                <a:latin typeface="微软雅黑" pitchFamily="34" charset="-122"/>
                <a:ea typeface="微软雅黑" pitchFamily="34" charset="-122"/>
              </a:rPr>
              <a:t>46</a:t>
            </a:r>
            <a:r>
              <a:rPr lang="zh-CN" altLang="en-US" sz="1600" b="1" dirty="0">
                <a:solidFill>
                  <a:schemeClr val="bg1"/>
                </a:solidFill>
                <a:latin typeface="微软雅黑" pitchFamily="34" charset="-122"/>
                <a:ea typeface="微软雅黑" pitchFamily="34" charset="-122"/>
              </a:rPr>
              <a:t>字节） </a:t>
            </a:r>
          </a:p>
        </p:txBody>
      </p:sp>
      <p:sp>
        <p:nvSpPr>
          <p:cNvPr id="4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409740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8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C01C6-1B8C-9882-3D21-B9D30B9294D8}"/>
            </a:ext>
          </a:extLst>
        </p:cNvPr>
        <p:cNvGrpSpPr/>
        <p:nvPr/>
      </p:nvGrpSpPr>
      <p:grpSpPr>
        <a:xfrm>
          <a:off x="0" y="0"/>
          <a:ext cx="0" cy="0"/>
          <a:chOff x="0" y="0"/>
          <a:chExt cx="0" cy="0"/>
        </a:xfrm>
      </p:grpSpPr>
      <p:sp>
        <p:nvSpPr>
          <p:cNvPr id="38" name="圆角矩形 37">
            <a:extLst>
              <a:ext uri="{FF2B5EF4-FFF2-40B4-BE49-F238E27FC236}">
                <a16:creationId xmlns:a16="http://schemas.microsoft.com/office/drawing/2014/main" id="{E4F18484-8BF8-AE1B-B94E-3B7FFEB82A48}"/>
              </a:ext>
            </a:extLst>
          </p:cNvPr>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39" name="AutoShape 5">
            <a:extLst>
              <a:ext uri="{FF2B5EF4-FFF2-40B4-BE49-F238E27FC236}">
                <a16:creationId xmlns:a16="http://schemas.microsoft.com/office/drawing/2014/main" id="{2D337444-AE4C-A620-AF3C-C0DE95996BF9}"/>
              </a:ext>
            </a:extLst>
          </p:cNvPr>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矩形 44">
            <a:extLst>
              <a:ext uri="{FF2B5EF4-FFF2-40B4-BE49-F238E27FC236}">
                <a16:creationId xmlns:a16="http://schemas.microsoft.com/office/drawing/2014/main" id="{8C34E227-7869-6FC2-EA1C-88E4AF9EAE76}"/>
              </a:ext>
            </a:extLst>
          </p:cNvPr>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10" name="Line 3">
            <a:extLst>
              <a:ext uri="{FF2B5EF4-FFF2-40B4-BE49-F238E27FC236}">
                <a16:creationId xmlns:a16="http://schemas.microsoft.com/office/drawing/2014/main" id="{9A557FA3-EF6E-9016-0799-31D1AA02286A}"/>
              </a:ext>
            </a:extLst>
          </p:cNvPr>
          <p:cNvSpPr>
            <a:spLocks noChangeShapeType="1"/>
          </p:cNvSpPr>
          <p:nvPr/>
        </p:nvSpPr>
        <p:spPr bwMode="auto">
          <a:xfrm>
            <a:off x="1025874" y="3487872"/>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Rectangle 4">
            <a:extLst>
              <a:ext uri="{FF2B5EF4-FFF2-40B4-BE49-F238E27FC236}">
                <a16:creationId xmlns:a16="http://schemas.microsoft.com/office/drawing/2014/main" id="{420C69D0-D25A-DBDD-7D69-27B6C1BC5AD7}"/>
              </a:ext>
            </a:extLst>
          </p:cNvPr>
          <p:cNvSpPr>
            <a:spLocks noChangeArrowheads="1"/>
          </p:cNvSpPr>
          <p:nvPr/>
        </p:nvSpPr>
        <p:spPr bwMode="auto">
          <a:xfrm>
            <a:off x="2063209" y="3640228"/>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6">
            <a:extLst>
              <a:ext uri="{FF2B5EF4-FFF2-40B4-BE49-F238E27FC236}">
                <a16:creationId xmlns:a16="http://schemas.microsoft.com/office/drawing/2014/main" id="{BD8BF71A-38FE-BD82-3F8F-EA2525D2059E}"/>
              </a:ext>
            </a:extLst>
          </p:cNvPr>
          <p:cNvSpPr>
            <a:spLocks noChangeArrowheads="1"/>
          </p:cNvSpPr>
          <p:nvPr/>
        </p:nvSpPr>
        <p:spPr bwMode="auto">
          <a:xfrm>
            <a:off x="3847707" y="3686525"/>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3" name="Rectangle 13">
            <a:extLst>
              <a:ext uri="{FF2B5EF4-FFF2-40B4-BE49-F238E27FC236}">
                <a16:creationId xmlns:a16="http://schemas.microsoft.com/office/drawing/2014/main" id="{0F20C935-126E-5EC3-BEE1-D1245BB73D5B}"/>
              </a:ext>
            </a:extLst>
          </p:cNvPr>
          <p:cNvSpPr>
            <a:spLocks noChangeArrowheads="1"/>
          </p:cNvSpPr>
          <p:nvPr/>
        </p:nvSpPr>
        <p:spPr bwMode="auto">
          <a:xfrm>
            <a:off x="6889224" y="369367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4" name="Rectangle 26">
            <a:extLst>
              <a:ext uri="{FF2B5EF4-FFF2-40B4-BE49-F238E27FC236}">
                <a16:creationId xmlns:a16="http://schemas.microsoft.com/office/drawing/2014/main" id="{1397B96F-E9EE-3EE0-B87E-600CD0D04585}"/>
              </a:ext>
            </a:extLst>
          </p:cNvPr>
          <p:cNvSpPr>
            <a:spLocks noChangeArrowheads="1"/>
          </p:cNvSpPr>
          <p:nvPr/>
        </p:nvSpPr>
        <p:spPr bwMode="auto">
          <a:xfrm>
            <a:off x="6859854" y="3054106"/>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a:extLst>
              <a:ext uri="{FF2B5EF4-FFF2-40B4-BE49-F238E27FC236}">
                <a16:creationId xmlns:a16="http://schemas.microsoft.com/office/drawing/2014/main" id="{29CA4EAD-A9E1-B1B8-4450-1D35CD29017B}"/>
              </a:ext>
            </a:extLst>
          </p:cNvPr>
          <p:cNvSpPr>
            <a:spLocks noChangeShapeType="1"/>
          </p:cNvSpPr>
          <p:nvPr/>
        </p:nvSpPr>
        <p:spPr bwMode="auto">
          <a:xfrm flipH="1">
            <a:off x="2057335" y="3300269"/>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a:extLst>
              <a:ext uri="{FF2B5EF4-FFF2-40B4-BE49-F238E27FC236}">
                <a16:creationId xmlns:a16="http://schemas.microsoft.com/office/drawing/2014/main" id="{EA6725EE-93CD-54E7-7F56-E54A37E7BE2E}"/>
              </a:ext>
            </a:extLst>
          </p:cNvPr>
          <p:cNvSpPr>
            <a:spLocks noChangeShapeType="1"/>
          </p:cNvSpPr>
          <p:nvPr/>
        </p:nvSpPr>
        <p:spPr bwMode="auto">
          <a:xfrm>
            <a:off x="6801115" y="3349067"/>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47">
            <a:extLst>
              <a:ext uri="{FF2B5EF4-FFF2-40B4-BE49-F238E27FC236}">
                <a16:creationId xmlns:a16="http://schemas.microsoft.com/office/drawing/2014/main" id="{81B74A10-F178-E586-0E71-00C979B246F8}"/>
              </a:ext>
            </a:extLst>
          </p:cNvPr>
          <p:cNvSpPr>
            <a:spLocks noChangeArrowheads="1"/>
          </p:cNvSpPr>
          <p:nvPr/>
        </p:nvSpPr>
        <p:spPr bwMode="auto">
          <a:xfrm>
            <a:off x="6966760" y="2446833"/>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0" name="Line 48">
            <a:extLst>
              <a:ext uri="{FF2B5EF4-FFF2-40B4-BE49-F238E27FC236}">
                <a16:creationId xmlns:a16="http://schemas.microsoft.com/office/drawing/2014/main" id="{A1DA1087-40EF-6CE3-682F-C0C7A9E426D7}"/>
              </a:ext>
            </a:extLst>
          </p:cNvPr>
          <p:cNvSpPr>
            <a:spLocks noChangeShapeType="1"/>
          </p:cNvSpPr>
          <p:nvPr/>
        </p:nvSpPr>
        <p:spPr bwMode="auto">
          <a:xfrm flipV="1">
            <a:off x="6853980" y="2811196"/>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AutoShape 64">
            <a:extLst>
              <a:ext uri="{FF2B5EF4-FFF2-40B4-BE49-F238E27FC236}">
                <a16:creationId xmlns:a16="http://schemas.microsoft.com/office/drawing/2014/main" id="{80C2EAA2-E142-055F-64F6-79E6FB616CA2}"/>
              </a:ext>
            </a:extLst>
          </p:cNvPr>
          <p:cNvSpPr>
            <a:spLocks noChangeArrowheads="1"/>
          </p:cNvSpPr>
          <p:nvPr/>
        </p:nvSpPr>
        <p:spPr bwMode="auto">
          <a:xfrm rot="16200000" flipH="1">
            <a:off x="4254498" y="3432807"/>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6">
            <a:extLst>
              <a:ext uri="{FF2B5EF4-FFF2-40B4-BE49-F238E27FC236}">
                <a16:creationId xmlns:a16="http://schemas.microsoft.com/office/drawing/2014/main" id="{16192EF3-7DAF-2D39-F62C-D552D3B202FA}"/>
              </a:ext>
            </a:extLst>
          </p:cNvPr>
          <p:cNvSpPr>
            <a:spLocks noChangeArrowheads="1"/>
          </p:cNvSpPr>
          <p:nvPr/>
        </p:nvSpPr>
        <p:spPr bwMode="auto">
          <a:xfrm>
            <a:off x="2057335" y="3005307"/>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Line 67">
            <a:extLst>
              <a:ext uri="{FF2B5EF4-FFF2-40B4-BE49-F238E27FC236}">
                <a16:creationId xmlns:a16="http://schemas.microsoft.com/office/drawing/2014/main" id="{35D88667-90F3-9651-6409-C6D29C2D5657}"/>
              </a:ext>
            </a:extLst>
          </p:cNvPr>
          <p:cNvSpPr>
            <a:spLocks noChangeShapeType="1"/>
          </p:cNvSpPr>
          <p:nvPr/>
        </p:nvSpPr>
        <p:spPr bwMode="auto">
          <a:xfrm>
            <a:off x="2749283"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68">
            <a:extLst>
              <a:ext uri="{FF2B5EF4-FFF2-40B4-BE49-F238E27FC236}">
                <a16:creationId xmlns:a16="http://schemas.microsoft.com/office/drawing/2014/main" id="{26D305BB-866D-7CFF-30AA-1F8252826F14}"/>
              </a:ext>
            </a:extLst>
          </p:cNvPr>
          <p:cNvSpPr>
            <a:spLocks noChangeShapeType="1"/>
          </p:cNvSpPr>
          <p:nvPr/>
        </p:nvSpPr>
        <p:spPr bwMode="auto">
          <a:xfrm>
            <a:off x="3425959"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69">
            <a:extLst>
              <a:ext uri="{FF2B5EF4-FFF2-40B4-BE49-F238E27FC236}">
                <a16:creationId xmlns:a16="http://schemas.microsoft.com/office/drawing/2014/main" id="{58A2E2FF-2C66-42A7-41DD-0C0E0BF93F1A}"/>
              </a:ext>
            </a:extLst>
          </p:cNvPr>
          <p:cNvSpPr>
            <a:spLocks noChangeShapeType="1"/>
          </p:cNvSpPr>
          <p:nvPr/>
        </p:nvSpPr>
        <p:spPr bwMode="auto">
          <a:xfrm>
            <a:off x="4102635"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Line 70">
            <a:extLst>
              <a:ext uri="{FF2B5EF4-FFF2-40B4-BE49-F238E27FC236}">
                <a16:creationId xmlns:a16="http://schemas.microsoft.com/office/drawing/2014/main" id="{4FCBBDCF-544E-1053-0772-842AE0F4B9C6}"/>
              </a:ext>
            </a:extLst>
          </p:cNvPr>
          <p:cNvSpPr>
            <a:spLocks noChangeShapeType="1"/>
          </p:cNvSpPr>
          <p:nvPr/>
        </p:nvSpPr>
        <p:spPr bwMode="auto">
          <a:xfrm>
            <a:off x="6414611"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71">
            <a:extLst>
              <a:ext uri="{FF2B5EF4-FFF2-40B4-BE49-F238E27FC236}">
                <a16:creationId xmlns:a16="http://schemas.microsoft.com/office/drawing/2014/main" id="{A265DA29-97A9-4D20-94FE-7DD199E51204}"/>
              </a:ext>
            </a:extLst>
          </p:cNvPr>
          <p:cNvSpPr>
            <a:spLocks noChangeArrowheads="1"/>
          </p:cNvSpPr>
          <p:nvPr/>
        </p:nvSpPr>
        <p:spPr bwMode="auto">
          <a:xfrm>
            <a:off x="2005645" y="3036755"/>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28" name="Rectangle 72">
            <a:extLst>
              <a:ext uri="{FF2B5EF4-FFF2-40B4-BE49-F238E27FC236}">
                <a16:creationId xmlns:a16="http://schemas.microsoft.com/office/drawing/2014/main" id="{CB3AB3A6-3E5C-D90D-E723-47B5D3FEB85D}"/>
              </a:ext>
            </a:extLst>
          </p:cNvPr>
          <p:cNvSpPr>
            <a:spLocks noChangeArrowheads="1"/>
          </p:cNvSpPr>
          <p:nvPr/>
        </p:nvSpPr>
        <p:spPr bwMode="auto">
          <a:xfrm>
            <a:off x="2788208" y="303675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9" name="Rectangle 73">
            <a:extLst>
              <a:ext uri="{FF2B5EF4-FFF2-40B4-BE49-F238E27FC236}">
                <a16:creationId xmlns:a16="http://schemas.microsoft.com/office/drawing/2014/main" id="{CA497468-1BB1-2FDE-DE48-C40F67C59DAF}"/>
              </a:ext>
            </a:extLst>
          </p:cNvPr>
          <p:cNvSpPr>
            <a:spLocks noChangeArrowheads="1"/>
          </p:cNvSpPr>
          <p:nvPr/>
        </p:nvSpPr>
        <p:spPr bwMode="auto">
          <a:xfrm>
            <a:off x="3527499" y="303675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0" name="Rectangle 74">
            <a:extLst>
              <a:ext uri="{FF2B5EF4-FFF2-40B4-BE49-F238E27FC236}">
                <a16:creationId xmlns:a16="http://schemas.microsoft.com/office/drawing/2014/main" id="{A8DBE247-52D7-7A1F-20B8-CC41CC8FAED6}"/>
              </a:ext>
            </a:extLst>
          </p:cNvPr>
          <p:cNvSpPr>
            <a:spLocks noChangeArrowheads="1"/>
          </p:cNvSpPr>
          <p:nvPr/>
        </p:nvSpPr>
        <p:spPr bwMode="auto">
          <a:xfrm>
            <a:off x="4841260" y="3036755"/>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1" name="Rectangle 75">
            <a:extLst>
              <a:ext uri="{FF2B5EF4-FFF2-40B4-BE49-F238E27FC236}">
                <a16:creationId xmlns:a16="http://schemas.microsoft.com/office/drawing/2014/main" id="{C915379E-0A34-AACC-03B6-D96257D496BA}"/>
              </a:ext>
            </a:extLst>
          </p:cNvPr>
          <p:cNvSpPr>
            <a:spLocks noChangeArrowheads="1"/>
          </p:cNvSpPr>
          <p:nvPr/>
        </p:nvSpPr>
        <p:spPr bwMode="auto">
          <a:xfrm>
            <a:off x="6374669" y="3036755"/>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2" name="Rectangle 76">
            <a:extLst>
              <a:ext uri="{FF2B5EF4-FFF2-40B4-BE49-F238E27FC236}">
                <a16:creationId xmlns:a16="http://schemas.microsoft.com/office/drawing/2014/main" id="{F635DF30-9C33-1361-113A-64A87DADC951}"/>
              </a:ext>
            </a:extLst>
          </p:cNvPr>
          <p:cNvSpPr>
            <a:spLocks noChangeArrowheads="1"/>
          </p:cNvSpPr>
          <p:nvPr/>
        </p:nvSpPr>
        <p:spPr bwMode="auto">
          <a:xfrm>
            <a:off x="2287182"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3" name="Rectangle 77">
            <a:extLst>
              <a:ext uri="{FF2B5EF4-FFF2-40B4-BE49-F238E27FC236}">
                <a16:creationId xmlns:a16="http://schemas.microsoft.com/office/drawing/2014/main" id="{3E62A49B-E08F-A28F-E7FD-2743EBE5D4FE}"/>
              </a:ext>
            </a:extLst>
          </p:cNvPr>
          <p:cNvSpPr>
            <a:spLocks noChangeArrowheads="1"/>
          </p:cNvSpPr>
          <p:nvPr/>
        </p:nvSpPr>
        <p:spPr bwMode="auto">
          <a:xfrm>
            <a:off x="2984591"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4" name="Rectangle 78">
            <a:extLst>
              <a:ext uri="{FF2B5EF4-FFF2-40B4-BE49-F238E27FC236}">
                <a16:creationId xmlns:a16="http://schemas.microsoft.com/office/drawing/2014/main" id="{D48B6AF2-074C-EA02-5322-702CF6E1DC61}"/>
              </a:ext>
            </a:extLst>
          </p:cNvPr>
          <p:cNvSpPr>
            <a:spLocks noChangeArrowheads="1"/>
          </p:cNvSpPr>
          <p:nvPr/>
        </p:nvSpPr>
        <p:spPr bwMode="auto">
          <a:xfrm>
            <a:off x="37079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35" name="Rectangle 79">
            <a:extLst>
              <a:ext uri="{FF2B5EF4-FFF2-40B4-BE49-F238E27FC236}">
                <a16:creationId xmlns:a16="http://schemas.microsoft.com/office/drawing/2014/main" id="{0DD09293-6315-1249-3DF5-EF77D1927D71}"/>
              </a:ext>
            </a:extLst>
          </p:cNvPr>
          <p:cNvSpPr>
            <a:spLocks noChangeArrowheads="1"/>
          </p:cNvSpPr>
          <p:nvPr/>
        </p:nvSpPr>
        <p:spPr bwMode="auto">
          <a:xfrm>
            <a:off x="64687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36" name="Rectangle 80">
            <a:extLst>
              <a:ext uri="{FF2B5EF4-FFF2-40B4-BE49-F238E27FC236}">
                <a16:creationId xmlns:a16="http://schemas.microsoft.com/office/drawing/2014/main" id="{80FB0F26-EBD5-29DA-29C6-1E9E411FD17A}"/>
              </a:ext>
            </a:extLst>
          </p:cNvPr>
          <p:cNvSpPr>
            <a:spLocks noChangeArrowheads="1"/>
          </p:cNvSpPr>
          <p:nvPr/>
        </p:nvSpPr>
        <p:spPr bwMode="auto">
          <a:xfrm>
            <a:off x="1623271" y="276984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37" name="Text Box 81">
            <a:extLst>
              <a:ext uri="{FF2B5EF4-FFF2-40B4-BE49-F238E27FC236}">
                <a16:creationId xmlns:a16="http://schemas.microsoft.com/office/drawing/2014/main" id="{4E672543-5D10-5BEC-4490-537493009985}"/>
              </a:ext>
            </a:extLst>
          </p:cNvPr>
          <p:cNvSpPr txBox="1">
            <a:spLocks noChangeArrowheads="1"/>
          </p:cNvSpPr>
          <p:nvPr/>
        </p:nvSpPr>
        <p:spPr bwMode="auto">
          <a:xfrm>
            <a:off x="5350256" y="2759094"/>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0" name="Group 109">
            <a:extLst>
              <a:ext uri="{FF2B5EF4-FFF2-40B4-BE49-F238E27FC236}">
                <a16:creationId xmlns:a16="http://schemas.microsoft.com/office/drawing/2014/main" id="{CE191F55-F9C4-24CE-EBFD-B6D8110DBD08}"/>
              </a:ext>
            </a:extLst>
          </p:cNvPr>
          <p:cNvGrpSpPr>
            <a:grpSpLocks/>
          </p:cNvGrpSpPr>
          <p:nvPr/>
        </p:nvGrpSpPr>
        <p:grpSpPr bwMode="auto">
          <a:xfrm>
            <a:off x="4102635" y="2446833"/>
            <a:ext cx="2311976" cy="676676"/>
            <a:chOff x="2715" y="1872"/>
            <a:chExt cx="1968" cy="624"/>
          </a:xfrm>
        </p:grpSpPr>
        <p:sp>
          <p:nvSpPr>
            <p:cNvPr id="41" name="AutoShape 110">
              <a:extLst>
                <a:ext uri="{FF2B5EF4-FFF2-40B4-BE49-F238E27FC236}">
                  <a16:creationId xmlns:a16="http://schemas.microsoft.com/office/drawing/2014/main" id="{60DF05AA-AAC6-5492-BA17-C41B02BD0456}"/>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111">
              <a:extLst>
                <a:ext uri="{FF2B5EF4-FFF2-40B4-BE49-F238E27FC236}">
                  <a16:creationId xmlns:a16="http://schemas.microsoft.com/office/drawing/2014/main" id="{87A71A78-A4CD-A62B-201B-919D628EDCD6}"/>
                </a:ext>
              </a:extLst>
            </p:cNvPr>
            <p:cNvSpPr>
              <a:spLocks noChangeArrowheads="1"/>
            </p:cNvSpPr>
            <p:nvPr/>
          </p:nvSpPr>
          <p:spPr bwMode="auto">
            <a:xfrm>
              <a:off x="2715" y="1872"/>
              <a:ext cx="1968" cy="240"/>
            </a:xfrm>
            <a:prstGeom prst="rect">
              <a:avLst/>
            </a:prstGeom>
            <a:solidFill>
              <a:srgbClr val="0070C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43" name="AutoShape 38">
            <a:extLst>
              <a:ext uri="{FF2B5EF4-FFF2-40B4-BE49-F238E27FC236}">
                <a16:creationId xmlns:a16="http://schemas.microsoft.com/office/drawing/2014/main" id="{9FF1D072-059B-D1C9-1608-4AA7A892248D}"/>
              </a:ext>
            </a:extLst>
          </p:cNvPr>
          <p:cNvSpPr>
            <a:spLocks noChangeArrowheads="1"/>
          </p:cNvSpPr>
          <p:nvPr/>
        </p:nvSpPr>
        <p:spPr bwMode="auto">
          <a:xfrm>
            <a:off x="3608839" y="1756079"/>
            <a:ext cx="2674606" cy="375516"/>
          </a:xfrm>
          <a:prstGeom prst="wedgeRoundRectCallout">
            <a:avLst>
              <a:gd name="adj1" fmla="val -7724"/>
              <a:gd name="adj2" fmla="val 314223"/>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数据字段 </a:t>
            </a:r>
            <a:r>
              <a:rPr lang="en-US" altLang="zh-CN" sz="1600" b="1" dirty="0">
                <a:latin typeface="微软雅黑" pitchFamily="34" charset="-122"/>
                <a:ea typeface="微软雅黑" pitchFamily="34" charset="-122"/>
              </a:rPr>
              <a:t>46 ~ 1500 </a:t>
            </a:r>
            <a:r>
              <a:rPr lang="zh-CN" altLang="en-US" sz="1600" b="1" dirty="0">
                <a:latin typeface="微软雅黑" pitchFamily="34" charset="-122"/>
                <a:ea typeface="微软雅黑" pitchFamily="34" charset="-122"/>
              </a:rPr>
              <a:t>字节</a:t>
            </a:r>
          </a:p>
        </p:txBody>
      </p:sp>
      <p:sp>
        <p:nvSpPr>
          <p:cNvPr id="80" name="矩形 79">
            <a:extLst>
              <a:ext uri="{FF2B5EF4-FFF2-40B4-BE49-F238E27FC236}">
                <a16:creationId xmlns:a16="http://schemas.microsoft.com/office/drawing/2014/main" id="{51891292-6333-367B-E9B6-3D2CC2460F4E}"/>
              </a:ext>
            </a:extLst>
          </p:cNvPr>
          <p:cNvSpPr/>
          <p:nvPr/>
        </p:nvSpPr>
        <p:spPr>
          <a:xfrm>
            <a:off x="1615382" y="1082962"/>
            <a:ext cx="5847302" cy="584775"/>
          </a:xfrm>
          <a:prstGeom prst="rect">
            <a:avLst/>
          </a:prstGeom>
          <a:solidFill>
            <a:srgbClr val="0000CC"/>
          </a:solidFill>
        </p:spPr>
        <p:txBody>
          <a:bodyPr wrap="square">
            <a:spAutoFit/>
          </a:bodyPr>
          <a:lstStyle/>
          <a:p>
            <a:pPr algn="just"/>
            <a:r>
              <a:rPr lang="zh-CN" altLang="en-US" sz="1600" b="1" dirty="0">
                <a:solidFill>
                  <a:schemeClr val="bg1"/>
                </a:solidFill>
                <a:latin typeface="微软雅黑" pitchFamily="34" charset="-122"/>
                <a:ea typeface="微软雅黑" pitchFamily="34" charset="-122"/>
              </a:rPr>
              <a:t>当数据字段的长度小于 </a:t>
            </a:r>
            <a:r>
              <a:rPr lang="en-US" altLang="zh-CN" sz="1600" b="1" dirty="0">
                <a:solidFill>
                  <a:schemeClr val="bg1"/>
                </a:solidFill>
                <a:latin typeface="微软雅黑" pitchFamily="34" charset="-122"/>
                <a:ea typeface="微软雅黑" pitchFamily="34" charset="-122"/>
              </a:rPr>
              <a:t>46 </a:t>
            </a:r>
            <a:r>
              <a:rPr lang="zh-CN" altLang="en-US" sz="1600" b="1" dirty="0">
                <a:solidFill>
                  <a:schemeClr val="bg1"/>
                </a:solidFill>
                <a:latin typeface="微软雅黑" pitchFamily="34" charset="-122"/>
                <a:ea typeface="微软雅黑" pitchFamily="34" charset="-122"/>
              </a:rPr>
              <a:t>字节时，应在数据字段的后面加入整数字节的填充字段，以保证以太网的 </a:t>
            </a:r>
            <a:r>
              <a:rPr lang="en-US" altLang="zh-CN" sz="1600" b="1" dirty="0">
                <a:solidFill>
                  <a:schemeClr val="bg1"/>
                </a:solidFill>
                <a:latin typeface="微软雅黑" pitchFamily="34" charset="-122"/>
                <a:ea typeface="微软雅黑" pitchFamily="34" charset="-122"/>
              </a:rPr>
              <a:t>MAC </a:t>
            </a:r>
            <a:r>
              <a:rPr lang="zh-CN" altLang="en-US" sz="1600" b="1" dirty="0">
                <a:solidFill>
                  <a:schemeClr val="bg1"/>
                </a:solidFill>
                <a:latin typeface="微软雅黑" pitchFamily="34" charset="-122"/>
                <a:ea typeface="微软雅黑" pitchFamily="34" charset="-122"/>
              </a:rPr>
              <a:t>帧长不小于 </a:t>
            </a:r>
            <a:r>
              <a:rPr lang="en-US" altLang="zh-CN" sz="1600" b="1" dirty="0">
                <a:solidFill>
                  <a:schemeClr val="bg1"/>
                </a:solidFill>
                <a:latin typeface="微软雅黑" pitchFamily="34" charset="-122"/>
                <a:ea typeface="微软雅黑" pitchFamily="34" charset="-122"/>
              </a:rPr>
              <a:t>64 </a:t>
            </a:r>
            <a:r>
              <a:rPr lang="zh-CN" altLang="en-US" sz="1600" b="1" dirty="0">
                <a:solidFill>
                  <a:schemeClr val="bg1"/>
                </a:solidFill>
                <a:latin typeface="微软雅黑" pitchFamily="34" charset="-122"/>
                <a:ea typeface="微软雅黑" pitchFamily="34" charset="-122"/>
              </a:rPr>
              <a:t>字节。 </a:t>
            </a:r>
          </a:p>
        </p:txBody>
      </p:sp>
      <p:sp>
        <p:nvSpPr>
          <p:cNvPr id="46" name="AutoShape 5">
            <a:extLst>
              <a:ext uri="{FF2B5EF4-FFF2-40B4-BE49-F238E27FC236}">
                <a16:creationId xmlns:a16="http://schemas.microsoft.com/office/drawing/2014/main" id="{14148B77-01FE-354D-21D9-049DB229AB19}"/>
              </a:ext>
            </a:extLst>
          </p:cNvPr>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6">
            <a:extLst>
              <a:ext uri="{FF2B5EF4-FFF2-40B4-BE49-F238E27FC236}">
                <a16:creationId xmlns:a16="http://schemas.microsoft.com/office/drawing/2014/main" id="{464A68CD-4D44-A572-8A1F-AB898B2304E8}"/>
              </a:ext>
            </a:extLst>
          </p:cNvPr>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615647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7A371-9A83-A146-BEB7-5D7028C619F4}"/>
            </a:ext>
          </a:extLst>
        </p:cNvPr>
        <p:cNvGrpSpPr/>
        <p:nvPr/>
      </p:nvGrpSpPr>
      <p:grpSpPr>
        <a:xfrm>
          <a:off x="0" y="0"/>
          <a:ext cx="0" cy="0"/>
          <a:chOff x="0" y="0"/>
          <a:chExt cx="0" cy="0"/>
        </a:xfrm>
      </p:grpSpPr>
      <p:sp>
        <p:nvSpPr>
          <p:cNvPr id="38" name="圆角矩形 37">
            <a:extLst>
              <a:ext uri="{FF2B5EF4-FFF2-40B4-BE49-F238E27FC236}">
                <a16:creationId xmlns:a16="http://schemas.microsoft.com/office/drawing/2014/main" id="{2A089721-70EB-CBD8-7A80-44BABD9C6103}"/>
              </a:ext>
            </a:extLst>
          </p:cNvPr>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39" name="AutoShape 5">
            <a:extLst>
              <a:ext uri="{FF2B5EF4-FFF2-40B4-BE49-F238E27FC236}">
                <a16:creationId xmlns:a16="http://schemas.microsoft.com/office/drawing/2014/main" id="{4568D427-6721-579A-0040-047FAD05D5AE}"/>
              </a:ext>
            </a:extLst>
          </p:cNvPr>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矩形 44">
            <a:extLst>
              <a:ext uri="{FF2B5EF4-FFF2-40B4-BE49-F238E27FC236}">
                <a16:creationId xmlns:a16="http://schemas.microsoft.com/office/drawing/2014/main" id="{B1A57C67-DBF0-32E8-DE1C-68DA51F79825}"/>
              </a:ext>
            </a:extLst>
          </p:cNvPr>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10" name="Line 3">
            <a:extLst>
              <a:ext uri="{FF2B5EF4-FFF2-40B4-BE49-F238E27FC236}">
                <a16:creationId xmlns:a16="http://schemas.microsoft.com/office/drawing/2014/main" id="{C17B84AB-4475-B903-648B-46D3DB4E8568}"/>
              </a:ext>
            </a:extLst>
          </p:cNvPr>
          <p:cNvSpPr>
            <a:spLocks noChangeShapeType="1"/>
          </p:cNvSpPr>
          <p:nvPr/>
        </p:nvSpPr>
        <p:spPr bwMode="auto">
          <a:xfrm>
            <a:off x="1025874" y="3487872"/>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Rectangle 4">
            <a:extLst>
              <a:ext uri="{FF2B5EF4-FFF2-40B4-BE49-F238E27FC236}">
                <a16:creationId xmlns:a16="http://schemas.microsoft.com/office/drawing/2014/main" id="{555F6F43-85BA-AA7E-7A2A-2CC07043DD2E}"/>
              </a:ext>
            </a:extLst>
          </p:cNvPr>
          <p:cNvSpPr>
            <a:spLocks noChangeArrowheads="1"/>
          </p:cNvSpPr>
          <p:nvPr/>
        </p:nvSpPr>
        <p:spPr bwMode="auto">
          <a:xfrm>
            <a:off x="2063209" y="3640228"/>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6">
            <a:extLst>
              <a:ext uri="{FF2B5EF4-FFF2-40B4-BE49-F238E27FC236}">
                <a16:creationId xmlns:a16="http://schemas.microsoft.com/office/drawing/2014/main" id="{176C5053-30EF-C04C-4CB4-05613DC7E660}"/>
              </a:ext>
            </a:extLst>
          </p:cNvPr>
          <p:cNvSpPr>
            <a:spLocks noChangeArrowheads="1"/>
          </p:cNvSpPr>
          <p:nvPr/>
        </p:nvSpPr>
        <p:spPr bwMode="auto">
          <a:xfrm>
            <a:off x="3847707" y="3686525"/>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3" name="Rectangle 13">
            <a:extLst>
              <a:ext uri="{FF2B5EF4-FFF2-40B4-BE49-F238E27FC236}">
                <a16:creationId xmlns:a16="http://schemas.microsoft.com/office/drawing/2014/main" id="{779102CE-7CE9-75E1-04D0-F562219E1E7F}"/>
              </a:ext>
            </a:extLst>
          </p:cNvPr>
          <p:cNvSpPr>
            <a:spLocks noChangeArrowheads="1"/>
          </p:cNvSpPr>
          <p:nvPr/>
        </p:nvSpPr>
        <p:spPr bwMode="auto">
          <a:xfrm>
            <a:off x="6889224" y="369367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4" name="Rectangle 26">
            <a:extLst>
              <a:ext uri="{FF2B5EF4-FFF2-40B4-BE49-F238E27FC236}">
                <a16:creationId xmlns:a16="http://schemas.microsoft.com/office/drawing/2014/main" id="{743A537C-1681-7538-E8DA-AFF62C8E0100}"/>
              </a:ext>
            </a:extLst>
          </p:cNvPr>
          <p:cNvSpPr>
            <a:spLocks noChangeArrowheads="1"/>
          </p:cNvSpPr>
          <p:nvPr/>
        </p:nvSpPr>
        <p:spPr bwMode="auto">
          <a:xfrm>
            <a:off x="6859854" y="3054106"/>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a:extLst>
              <a:ext uri="{FF2B5EF4-FFF2-40B4-BE49-F238E27FC236}">
                <a16:creationId xmlns:a16="http://schemas.microsoft.com/office/drawing/2014/main" id="{BB647606-39E9-6951-C875-B533C7EE4C5B}"/>
              </a:ext>
            </a:extLst>
          </p:cNvPr>
          <p:cNvSpPr>
            <a:spLocks noChangeShapeType="1"/>
          </p:cNvSpPr>
          <p:nvPr/>
        </p:nvSpPr>
        <p:spPr bwMode="auto">
          <a:xfrm flipH="1">
            <a:off x="2057335" y="3300269"/>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a:extLst>
              <a:ext uri="{FF2B5EF4-FFF2-40B4-BE49-F238E27FC236}">
                <a16:creationId xmlns:a16="http://schemas.microsoft.com/office/drawing/2014/main" id="{D2A47101-8F11-F21A-C43B-82F160C66672}"/>
              </a:ext>
            </a:extLst>
          </p:cNvPr>
          <p:cNvSpPr>
            <a:spLocks noChangeShapeType="1"/>
          </p:cNvSpPr>
          <p:nvPr/>
        </p:nvSpPr>
        <p:spPr bwMode="auto">
          <a:xfrm>
            <a:off x="6801115" y="3349067"/>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47">
            <a:extLst>
              <a:ext uri="{FF2B5EF4-FFF2-40B4-BE49-F238E27FC236}">
                <a16:creationId xmlns:a16="http://schemas.microsoft.com/office/drawing/2014/main" id="{0BAF7AD7-99B3-4464-1304-EB93967E0AC8}"/>
              </a:ext>
            </a:extLst>
          </p:cNvPr>
          <p:cNvSpPr>
            <a:spLocks noChangeArrowheads="1"/>
          </p:cNvSpPr>
          <p:nvPr/>
        </p:nvSpPr>
        <p:spPr bwMode="auto">
          <a:xfrm>
            <a:off x="6966760" y="2446833"/>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0" name="Line 48">
            <a:extLst>
              <a:ext uri="{FF2B5EF4-FFF2-40B4-BE49-F238E27FC236}">
                <a16:creationId xmlns:a16="http://schemas.microsoft.com/office/drawing/2014/main" id="{D3C229D6-A74B-ACE6-7E79-CFF8F5657489}"/>
              </a:ext>
            </a:extLst>
          </p:cNvPr>
          <p:cNvSpPr>
            <a:spLocks noChangeShapeType="1"/>
          </p:cNvSpPr>
          <p:nvPr/>
        </p:nvSpPr>
        <p:spPr bwMode="auto">
          <a:xfrm flipV="1">
            <a:off x="6853980" y="2811196"/>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AutoShape 64">
            <a:extLst>
              <a:ext uri="{FF2B5EF4-FFF2-40B4-BE49-F238E27FC236}">
                <a16:creationId xmlns:a16="http://schemas.microsoft.com/office/drawing/2014/main" id="{C5CCE3A1-F614-5820-8FB1-B19EBDDA1709}"/>
              </a:ext>
            </a:extLst>
          </p:cNvPr>
          <p:cNvSpPr>
            <a:spLocks noChangeArrowheads="1"/>
          </p:cNvSpPr>
          <p:nvPr/>
        </p:nvSpPr>
        <p:spPr bwMode="auto">
          <a:xfrm rot="16200000" flipH="1">
            <a:off x="4254498" y="3432807"/>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6">
            <a:extLst>
              <a:ext uri="{FF2B5EF4-FFF2-40B4-BE49-F238E27FC236}">
                <a16:creationId xmlns:a16="http://schemas.microsoft.com/office/drawing/2014/main" id="{F9F78E52-9CDE-8E3E-5EE5-A7240FF3B8C0}"/>
              </a:ext>
            </a:extLst>
          </p:cNvPr>
          <p:cNvSpPr>
            <a:spLocks noChangeArrowheads="1"/>
          </p:cNvSpPr>
          <p:nvPr/>
        </p:nvSpPr>
        <p:spPr bwMode="auto">
          <a:xfrm>
            <a:off x="2057335" y="3005307"/>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Line 67">
            <a:extLst>
              <a:ext uri="{FF2B5EF4-FFF2-40B4-BE49-F238E27FC236}">
                <a16:creationId xmlns:a16="http://schemas.microsoft.com/office/drawing/2014/main" id="{FE0287A3-AB67-2406-5EB7-06A3C2446883}"/>
              </a:ext>
            </a:extLst>
          </p:cNvPr>
          <p:cNvSpPr>
            <a:spLocks noChangeShapeType="1"/>
          </p:cNvSpPr>
          <p:nvPr/>
        </p:nvSpPr>
        <p:spPr bwMode="auto">
          <a:xfrm>
            <a:off x="2749283"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68">
            <a:extLst>
              <a:ext uri="{FF2B5EF4-FFF2-40B4-BE49-F238E27FC236}">
                <a16:creationId xmlns:a16="http://schemas.microsoft.com/office/drawing/2014/main" id="{54B1EB5B-A4F6-0F02-10E5-D9DDD0898402}"/>
              </a:ext>
            </a:extLst>
          </p:cNvPr>
          <p:cNvSpPr>
            <a:spLocks noChangeShapeType="1"/>
          </p:cNvSpPr>
          <p:nvPr/>
        </p:nvSpPr>
        <p:spPr bwMode="auto">
          <a:xfrm>
            <a:off x="3425959"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69">
            <a:extLst>
              <a:ext uri="{FF2B5EF4-FFF2-40B4-BE49-F238E27FC236}">
                <a16:creationId xmlns:a16="http://schemas.microsoft.com/office/drawing/2014/main" id="{F5F3D1D5-D2A8-6B13-85E3-E6A4111E320C}"/>
              </a:ext>
            </a:extLst>
          </p:cNvPr>
          <p:cNvSpPr>
            <a:spLocks noChangeShapeType="1"/>
          </p:cNvSpPr>
          <p:nvPr/>
        </p:nvSpPr>
        <p:spPr bwMode="auto">
          <a:xfrm>
            <a:off x="4102635"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Line 70">
            <a:extLst>
              <a:ext uri="{FF2B5EF4-FFF2-40B4-BE49-F238E27FC236}">
                <a16:creationId xmlns:a16="http://schemas.microsoft.com/office/drawing/2014/main" id="{8FD36BBF-7F98-32F9-F42D-6872F506F3B4}"/>
              </a:ext>
            </a:extLst>
          </p:cNvPr>
          <p:cNvSpPr>
            <a:spLocks noChangeShapeType="1"/>
          </p:cNvSpPr>
          <p:nvPr/>
        </p:nvSpPr>
        <p:spPr bwMode="auto">
          <a:xfrm>
            <a:off x="6414611" y="300530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71">
            <a:extLst>
              <a:ext uri="{FF2B5EF4-FFF2-40B4-BE49-F238E27FC236}">
                <a16:creationId xmlns:a16="http://schemas.microsoft.com/office/drawing/2014/main" id="{D0C63349-3BF9-FE7F-8FD7-6DE56758BC60}"/>
              </a:ext>
            </a:extLst>
          </p:cNvPr>
          <p:cNvSpPr>
            <a:spLocks noChangeArrowheads="1"/>
          </p:cNvSpPr>
          <p:nvPr/>
        </p:nvSpPr>
        <p:spPr bwMode="auto">
          <a:xfrm>
            <a:off x="2005645" y="3036755"/>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28" name="Rectangle 72">
            <a:extLst>
              <a:ext uri="{FF2B5EF4-FFF2-40B4-BE49-F238E27FC236}">
                <a16:creationId xmlns:a16="http://schemas.microsoft.com/office/drawing/2014/main" id="{F77E01FD-CE8A-7A9D-4BF7-A5A37FE062D4}"/>
              </a:ext>
            </a:extLst>
          </p:cNvPr>
          <p:cNvSpPr>
            <a:spLocks noChangeArrowheads="1"/>
          </p:cNvSpPr>
          <p:nvPr/>
        </p:nvSpPr>
        <p:spPr bwMode="auto">
          <a:xfrm>
            <a:off x="2788208" y="303675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9" name="Rectangle 73">
            <a:extLst>
              <a:ext uri="{FF2B5EF4-FFF2-40B4-BE49-F238E27FC236}">
                <a16:creationId xmlns:a16="http://schemas.microsoft.com/office/drawing/2014/main" id="{41B81B5C-6338-82D8-1E2F-904FDE19539B}"/>
              </a:ext>
            </a:extLst>
          </p:cNvPr>
          <p:cNvSpPr>
            <a:spLocks noChangeArrowheads="1"/>
          </p:cNvSpPr>
          <p:nvPr/>
        </p:nvSpPr>
        <p:spPr bwMode="auto">
          <a:xfrm>
            <a:off x="3527499" y="303675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0" name="Rectangle 74">
            <a:extLst>
              <a:ext uri="{FF2B5EF4-FFF2-40B4-BE49-F238E27FC236}">
                <a16:creationId xmlns:a16="http://schemas.microsoft.com/office/drawing/2014/main" id="{C4F974B9-4E3B-381D-C025-0C2165D56E1A}"/>
              </a:ext>
            </a:extLst>
          </p:cNvPr>
          <p:cNvSpPr>
            <a:spLocks noChangeArrowheads="1"/>
          </p:cNvSpPr>
          <p:nvPr/>
        </p:nvSpPr>
        <p:spPr bwMode="auto">
          <a:xfrm>
            <a:off x="4841260" y="3036755"/>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1" name="Rectangle 75">
            <a:extLst>
              <a:ext uri="{FF2B5EF4-FFF2-40B4-BE49-F238E27FC236}">
                <a16:creationId xmlns:a16="http://schemas.microsoft.com/office/drawing/2014/main" id="{EF01D8E4-4302-5E2E-EFA8-0B0EF4B345C6}"/>
              </a:ext>
            </a:extLst>
          </p:cNvPr>
          <p:cNvSpPr>
            <a:spLocks noChangeArrowheads="1"/>
          </p:cNvSpPr>
          <p:nvPr/>
        </p:nvSpPr>
        <p:spPr bwMode="auto">
          <a:xfrm>
            <a:off x="6374669" y="3036755"/>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2" name="Rectangle 76">
            <a:extLst>
              <a:ext uri="{FF2B5EF4-FFF2-40B4-BE49-F238E27FC236}">
                <a16:creationId xmlns:a16="http://schemas.microsoft.com/office/drawing/2014/main" id="{74276867-5F1F-5B0B-04EC-74367039BD81}"/>
              </a:ext>
            </a:extLst>
          </p:cNvPr>
          <p:cNvSpPr>
            <a:spLocks noChangeArrowheads="1"/>
          </p:cNvSpPr>
          <p:nvPr/>
        </p:nvSpPr>
        <p:spPr bwMode="auto">
          <a:xfrm>
            <a:off x="2287182"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3" name="Rectangle 77">
            <a:extLst>
              <a:ext uri="{FF2B5EF4-FFF2-40B4-BE49-F238E27FC236}">
                <a16:creationId xmlns:a16="http://schemas.microsoft.com/office/drawing/2014/main" id="{9D8DA3C3-A41F-E477-188B-21E1904E50D2}"/>
              </a:ext>
            </a:extLst>
          </p:cNvPr>
          <p:cNvSpPr>
            <a:spLocks noChangeArrowheads="1"/>
          </p:cNvSpPr>
          <p:nvPr/>
        </p:nvSpPr>
        <p:spPr bwMode="auto">
          <a:xfrm>
            <a:off x="2984591"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4" name="Rectangle 78">
            <a:extLst>
              <a:ext uri="{FF2B5EF4-FFF2-40B4-BE49-F238E27FC236}">
                <a16:creationId xmlns:a16="http://schemas.microsoft.com/office/drawing/2014/main" id="{37AFBAB1-1257-06AF-1861-65A53BBB82FE}"/>
              </a:ext>
            </a:extLst>
          </p:cNvPr>
          <p:cNvSpPr>
            <a:spLocks noChangeArrowheads="1"/>
          </p:cNvSpPr>
          <p:nvPr/>
        </p:nvSpPr>
        <p:spPr bwMode="auto">
          <a:xfrm>
            <a:off x="37079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35" name="Rectangle 79">
            <a:extLst>
              <a:ext uri="{FF2B5EF4-FFF2-40B4-BE49-F238E27FC236}">
                <a16:creationId xmlns:a16="http://schemas.microsoft.com/office/drawing/2014/main" id="{40B3A1F8-641C-8C08-ADE9-B17D080E6E2B}"/>
              </a:ext>
            </a:extLst>
          </p:cNvPr>
          <p:cNvSpPr>
            <a:spLocks noChangeArrowheads="1"/>
          </p:cNvSpPr>
          <p:nvPr/>
        </p:nvSpPr>
        <p:spPr bwMode="auto">
          <a:xfrm>
            <a:off x="6468707" y="278186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36" name="Rectangle 80">
            <a:extLst>
              <a:ext uri="{FF2B5EF4-FFF2-40B4-BE49-F238E27FC236}">
                <a16:creationId xmlns:a16="http://schemas.microsoft.com/office/drawing/2014/main" id="{BB78AFA4-A12A-5357-7C87-D4A105CAC06B}"/>
              </a:ext>
            </a:extLst>
          </p:cNvPr>
          <p:cNvSpPr>
            <a:spLocks noChangeArrowheads="1"/>
          </p:cNvSpPr>
          <p:nvPr/>
        </p:nvSpPr>
        <p:spPr bwMode="auto">
          <a:xfrm>
            <a:off x="1623271" y="276984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37" name="Text Box 81">
            <a:extLst>
              <a:ext uri="{FF2B5EF4-FFF2-40B4-BE49-F238E27FC236}">
                <a16:creationId xmlns:a16="http://schemas.microsoft.com/office/drawing/2014/main" id="{F52D70E1-CF56-4161-D03F-67BDEAE4F66E}"/>
              </a:ext>
            </a:extLst>
          </p:cNvPr>
          <p:cNvSpPr txBox="1">
            <a:spLocks noChangeArrowheads="1"/>
          </p:cNvSpPr>
          <p:nvPr/>
        </p:nvSpPr>
        <p:spPr bwMode="auto">
          <a:xfrm>
            <a:off x="5350256" y="2759094"/>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0" name="Group 109">
            <a:extLst>
              <a:ext uri="{FF2B5EF4-FFF2-40B4-BE49-F238E27FC236}">
                <a16:creationId xmlns:a16="http://schemas.microsoft.com/office/drawing/2014/main" id="{9F8C675C-D087-551C-23EC-F4B5059B4E1A}"/>
              </a:ext>
            </a:extLst>
          </p:cNvPr>
          <p:cNvGrpSpPr>
            <a:grpSpLocks/>
          </p:cNvGrpSpPr>
          <p:nvPr/>
        </p:nvGrpSpPr>
        <p:grpSpPr bwMode="auto">
          <a:xfrm>
            <a:off x="4102635" y="2446833"/>
            <a:ext cx="2311976" cy="676676"/>
            <a:chOff x="2715" y="1872"/>
            <a:chExt cx="1968" cy="624"/>
          </a:xfrm>
        </p:grpSpPr>
        <p:sp>
          <p:nvSpPr>
            <p:cNvPr id="41" name="AutoShape 110">
              <a:extLst>
                <a:ext uri="{FF2B5EF4-FFF2-40B4-BE49-F238E27FC236}">
                  <a16:creationId xmlns:a16="http://schemas.microsoft.com/office/drawing/2014/main" id="{16F8D9ED-A13F-2840-7FE6-7130B07A85D6}"/>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111">
              <a:extLst>
                <a:ext uri="{FF2B5EF4-FFF2-40B4-BE49-F238E27FC236}">
                  <a16:creationId xmlns:a16="http://schemas.microsoft.com/office/drawing/2014/main" id="{05D3787D-A4BB-412F-952F-0E7A56793764}"/>
                </a:ext>
              </a:extLst>
            </p:cNvPr>
            <p:cNvSpPr>
              <a:spLocks noChangeArrowheads="1"/>
            </p:cNvSpPr>
            <p:nvPr/>
          </p:nvSpPr>
          <p:spPr bwMode="auto">
            <a:xfrm>
              <a:off x="2715" y="1872"/>
              <a:ext cx="1968" cy="240"/>
            </a:xfrm>
            <a:prstGeom prst="rect">
              <a:avLst/>
            </a:prstGeom>
            <a:solidFill>
              <a:srgbClr val="0070C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43" name="AutoShape 38">
            <a:extLst>
              <a:ext uri="{FF2B5EF4-FFF2-40B4-BE49-F238E27FC236}">
                <a16:creationId xmlns:a16="http://schemas.microsoft.com/office/drawing/2014/main" id="{6BDDFDB6-48D0-2C04-14EA-63254B639875}"/>
              </a:ext>
            </a:extLst>
          </p:cNvPr>
          <p:cNvSpPr>
            <a:spLocks noChangeArrowheads="1"/>
          </p:cNvSpPr>
          <p:nvPr/>
        </p:nvSpPr>
        <p:spPr bwMode="auto">
          <a:xfrm>
            <a:off x="4507553" y="1837730"/>
            <a:ext cx="1907058" cy="375516"/>
          </a:xfrm>
          <a:prstGeom prst="wedgeRoundRectCallout">
            <a:avLst>
              <a:gd name="adj1" fmla="val 58012"/>
              <a:gd name="adj2" fmla="val 268403"/>
              <a:gd name="adj3" fmla="val 16667"/>
            </a:avLst>
          </a:prstGeom>
          <a:solidFill>
            <a:srgbClr val="00FF99"/>
          </a:solidFill>
          <a:ln w="9525">
            <a:solidFill>
              <a:schemeClr val="tx1"/>
            </a:solidFill>
            <a:miter lim="800000"/>
            <a:headEnd/>
            <a:tailEnd/>
          </a:ln>
          <a:effectLst/>
        </p:spPr>
        <p:txBody>
          <a:bodyPr/>
          <a:lstStyle/>
          <a:p>
            <a:pPr algn="ctr"/>
            <a:r>
              <a:rPr lang="en-US" altLang="zh-CN" sz="1600" b="1" dirty="0">
                <a:latin typeface="微软雅黑" pitchFamily="34" charset="-122"/>
                <a:ea typeface="微软雅黑" pitchFamily="34" charset="-122"/>
              </a:rPr>
              <a:t>FCS </a:t>
            </a:r>
            <a:r>
              <a:rPr lang="zh-CN" altLang="en-US" sz="1600" b="1" dirty="0">
                <a:latin typeface="微软雅黑" pitchFamily="34" charset="-122"/>
                <a:ea typeface="微软雅黑" pitchFamily="34" charset="-122"/>
              </a:rPr>
              <a:t>字段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a:t>
            </a:r>
          </a:p>
        </p:txBody>
      </p:sp>
      <p:sp>
        <p:nvSpPr>
          <p:cNvPr id="80" name="矩形 79">
            <a:extLst>
              <a:ext uri="{FF2B5EF4-FFF2-40B4-BE49-F238E27FC236}">
                <a16:creationId xmlns:a16="http://schemas.microsoft.com/office/drawing/2014/main" id="{6FFCE956-5F6D-62E9-0879-00B1604EF90A}"/>
              </a:ext>
            </a:extLst>
          </p:cNvPr>
          <p:cNvSpPr/>
          <p:nvPr/>
        </p:nvSpPr>
        <p:spPr>
          <a:xfrm>
            <a:off x="2649794" y="1131060"/>
            <a:ext cx="4458929" cy="584775"/>
          </a:xfrm>
          <a:prstGeom prst="rect">
            <a:avLst/>
          </a:prstGeom>
          <a:solidFill>
            <a:srgbClr val="0000CC"/>
          </a:solidFill>
        </p:spPr>
        <p:txBody>
          <a:bodyPr wrap="square">
            <a:spAutoFit/>
          </a:bodyPr>
          <a:lstStyle/>
          <a:p>
            <a:r>
              <a:rPr lang="zh-CN" altLang="en-US" sz="1600" b="1" dirty="0">
                <a:solidFill>
                  <a:schemeClr val="bg1"/>
                </a:solidFill>
                <a:latin typeface="微软雅黑" pitchFamily="34" charset="-122"/>
                <a:ea typeface="微软雅黑" pitchFamily="34" charset="-122"/>
              </a:rPr>
              <a:t>使用</a:t>
            </a:r>
            <a:r>
              <a:rPr lang="en-US" altLang="zh-CN" sz="1600" b="1" dirty="0">
                <a:solidFill>
                  <a:schemeClr val="bg1"/>
                </a:solidFill>
                <a:latin typeface="微软雅黑" pitchFamily="34" charset="-122"/>
                <a:ea typeface="微软雅黑" pitchFamily="34" charset="-122"/>
              </a:rPr>
              <a:t>CRC</a:t>
            </a:r>
            <a:r>
              <a:rPr lang="zh-CN" altLang="en-US" sz="1600" b="1" dirty="0">
                <a:solidFill>
                  <a:schemeClr val="bg1"/>
                </a:solidFill>
                <a:latin typeface="微软雅黑" pitchFamily="34" charset="-122"/>
                <a:ea typeface="微软雅黑" pitchFamily="34" charset="-122"/>
              </a:rPr>
              <a:t>校验，校验的范围就是整个的</a:t>
            </a:r>
            <a:r>
              <a:rPr lang="en-US" altLang="zh-CN" sz="1600" b="1" dirty="0">
                <a:solidFill>
                  <a:schemeClr val="bg1"/>
                </a:solidFill>
                <a:latin typeface="微软雅黑" pitchFamily="34" charset="-122"/>
                <a:ea typeface="微软雅黑" pitchFamily="34" charset="-122"/>
              </a:rPr>
              <a:t>MAC</a:t>
            </a:r>
            <a:r>
              <a:rPr lang="zh-CN" altLang="en-US" sz="1600" b="1" dirty="0">
                <a:solidFill>
                  <a:schemeClr val="bg1"/>
                </a:solidFill>
                <a:latin typeface="微软雅黑" pitchFamily="34" charset="-122"/>
                <a:ea typeface="微软雅黑" pitchFamily="34" charset="-122"/>
              </a:rPr>
              <a:t>帧，从目的地址开始到</a:t>
            </a:r>
            <a:r>
              <a:rPr lang="en-US" altLang="zh-CN" sz="1600" b="1" dirty="0">
                <a:solidFill>
                  <a:schemeClr val="bg1"/>
                </a:solidFill>
                <a:latin typeface="微软雅黑" pitchFamily="34" charset="-122"/>
                <a:ea typeface="微软雅黑" pitchFamily="34" charset="-122"/>
              </a:rPr>
              <a:t>FCS</a:t>
            </a:r>
            <a:r>
              <a:rPr lang="zh-CN" altLang="en-US" sz="1600" b="1" dirty="0">
                <a:solidFill>
                  <a:schemeClr val="bg1"/>
                </a:solidFill>
                <a:latin typeface="微软雅黑" pitchFamily="34" charset="-122"/>
                <a:ea typeface="微软雅黑" pitchFamily="34" charset="-122"/>
              </a:rPr>
              <a:t>为止的这</a:t>
            </a:r>
            <a:r>
              <a:rPr lang="en-US" altLang="zh-CN" sz="1600" b="1" dirty="0">
                <a:solidFill>
                  <a:schemeClr val="bg1"/>
                </a:solidFill>
                <a:latin typeface="微软雅黑" pitchFamily="34" charset="-122"/>
                <a:ea typeface="微软雅黑" pitchFamily="34" charset="-122"/>
              </a:rPr>
              <a:t>5</a:t>
            </a:r>
            <a:r>
              <a:rPr lang="zh-CN" altLang="en-US" sz="1600" b="1" dirty="0">
                <a:solidFill>
                  <a:schemeClr val="bg1"/>
                </a:solidFill>
                <a:latin typeface="微软雅黑" pitchFamily="34" charset="-122"/>
                <a:ea typeface="微软雅黑" pitchFamily="34" charset="-122"/>
              </a:rPr>
              <a:t>个字段。</a:t>
            </a:r>
          </a:p>
        </p:txBody>
      </p:sp>
      <p:sp>
        <p:nvSpPr>
          <p:cNvPr id="46" name="AutoShape 5">
            <a:extLst>
              <a:ext uri="{FF2B5EF4-FFF2-40B4-BE49-F238E27FC236}">
                <a16:creationId xmlns:a16="http://schemas.microsoft.com/office/drawing/2014/main" id="{A6AE6718-3CB6-230E-349E-764D66CD064A}"/>
              </a:ext>
            </a:extLst>
          </p:cNvPr>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6">
            <a:extLst>
              <a:ext uri="{FF2B5EF4-FFF2-40B4-BE49-F238E27FC236}">
                <a16:creationId xmlns:a16="http://schemas.microsoft.com/office/drawing/2014/main" id="{011F8FFE-F75F-D26C-B9C5-8A60CB17DDE6}"/>
              </a:ext>
            </a:extLst>
          </p:cNvPr>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40929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80"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圆角矩形 59"/>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1"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矩形 61"/>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9" name="Line 3"/>
          <p:cNvSpPr>
            <a:spLocks noChangeShapeType="1"/>
          </p:cNvSpPr>
          <p:nvPr/>
        </p:nvSpPr>
        <p:spPr bwMode="auto">
          <a:xfrm>
            <a:off x="1141760" y="2785733"/>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2179095" y="2938089"/>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6"/>
          <p:cNvSpPr>
            <a:spLocks noChangeArrowheads="1"/>
          </p:cNvSpPr>
          <p:nvPr/>
        </p:nvSpPr>
        <p:spPr bwMode="auto">
          <a:xfrm>
            <a:off x="3975939" y="2984386"/>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2" name="Rectangle 13"/>
          <p:cNvSpPr>
            <a:spLocks noChangeArrowheads="1"/>
          </p:cNvSpPr>
          <p:nvPr/>
        </p:nvSpPr>
        <p:spPr bwMode="auto">
          <a:xfrm>
            <a:off x="7005110" y="299153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3" name="Rectangle 26"/>
          <p:cNvSpPr>
            <a:spLocks noChangeArrowheads="1"/>
          </p:cNvSpPr>
          <p:nvPr/>
        </p:nvSpPr>
        <p:spPr bwMode="auto">
          <a:xfrm>
            <a:off x="6975740" y="2351967"/>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4" name="Line 27"/>
          <p:cNvSpPr>
            <a:spLocks noChangeShapeType="1"/>
          </p:cNvSpPr>
          <p:nvPr/>
        </p:nvSpPr>
        <p:spPr bwMode="auto">
          <a:xfrm flipH="1">
            <a:off x="2173221" y="2598130"/>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Line 28"/>
          <p:cNvSpPr>
            <a:spLocks noChangeShapeType="1"/>
          </p:cNvSpPr>
          <p:nvPr/>
        </p:nvSpPr>
        <p:spPr bwMode="auto">
          <a:xfrm>
            <a:off x="6917001" y="2646928"/>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9" name="组合 58"/>
          <p:cNvGrpSpPr/>
          <p:nvPr/>
        </p:nvGrpSpPr>
        <p:grpSpPr>
          <a:xfrm>
            <a:off x="1119814" y="2588363"/>
            <a:ext cx="3357315" cy="1349909"/>
            <a:chOff x="1119814" y="2621615"/>
            <a:chExt cx="3357315" cy="1349909"/>
          </a:xfrm>
        </p:grpSpPr>
        <p:grpSp>
          <p:nvGrpSpPr>
            <p:cNvPr id="57" name="组合 56"/>
            <p:cNvGrpSpPr/>
            <p:nvPr/>
          </p:nvGrpSpPr>
          <p:grpSpPr>
            <a:xfrm>
              <a:off x="1119814" y="2654183"/>
              <a:ext cx="3357315" cy="1317341"/>
              <a:chOff x="1119814" y="2654183"/>
              <a:chExt cx="3357315" cy="1317341"/>
            </a:xfrm>
          </p:grpSpPr>
          <p:sp>
            <p:nvSpPr>
              <p:cNvPr id="16" name="Rectangle 29"/>
              <p:cNvSpPr>
                <a:spLocks noChangeArrowheads="1"/>
              </p:cNvSpPr>
              <p:nvPr/>
            </p:nvSpPr>
            <p:spPr bwMode="auto">
              <a:xfrm>
                <a:off x="1173479" y="3658324"/>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30"/>
              <p:cNvSpPr>
                <a:spLocks noChangeArrowheads="1"/>
              </p:cNvSpPr>
              <p:nvPr/>
            </p:nvSpPr>
            <p:spPr bwMode="auto">
              <a:xfrm>
                <a:off x="1177160" y="3687604"/>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8" name="Line 31"/>
              <p:cNvSpPr>
                <a:spLocks noChangeShapeType="1"/>
              </p:cNvSpPr>
              <p:nvPr/>
            </p:nvSpPr>
            <p:spPr bwMode="auto">
              <a:xfrm>
                <a:off x="3656709" y="3656155"/>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Rectangle 34"/>
              <p:cNvSpPr>
                <a:spLocks noChangeArrowheads="1"/>
              </p:cNvSpPr>
              <p:nvPr/>
            </p:nvSpPr>
            <p:spPr bwMode="auto">
              <a:xfrm>
                <a:off x="2199160" y="3428428"/>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2" name="Rectangle 35"/>
              <p:cNvSpPr>
                <a:spLocks noChangeArrowheads="1"/>
              </p:cNvSpPr>
              <p:nvPr/>
            </p:nvSpPr>
            <p:spPr bwMode="auto">
              <a:xfrm>
                <a:off x="3722461" y="3353011"/>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3" name="Line 36"/>
              <p:cNvSpPr>
                <a:spLocks noChangeShapeType="1"/>
              </p:cNvSpPr>
              <p:nvPr/>
            </p:nvSpPr>
            <p:spPr bwMode="auto">
              <a:xfrm flipV="1">
                <a:off x="1182878" y="3319986"/>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37"/>
              <p:cNvSpPr>
                <a:spLocks noChangeShapeType="1"/>
              </p:cNvSpPr>
              <p:nvPr/>
            </p:nvSpPr>
            <p:spPr bwMode="auto">
              <a:xfrm>
                <a:off x="2167347" y="3328662"/>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38"/>
              <p:cNvSpPr txBox="1">
                <a:spLocks noChangeArrowheads="1"/>
              </p:cNvSpPr>
              <p:nvPr/>
            </p:nvSpPr>
            <p:spPr bwMode="auto">
              <a:xfrm>
                <a:off x="2426998" y="3663747"/>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6" name="Rectangle 41"/>
              <p:cNvSpPr>
                <a:spLocks noChangeArrowheads="1"/>
              </p:cNvSpPr>
              <p:nvPr/>
            </p:nvSpPr>
            <p:spPr bwMode="auto">
              <a:xfrm>
                <a:off x="1420185" y="2975599"/>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42"/>
              <p:cNvSpPr>
                <a:spLocks noChangeArrowheads="1"/>
              </p:cNvSpPr>
              <p:nvPr/>
            </p:nvSpPr>
            <p:spPr bwMode="auto">
              <a:xfrm>
                <a:off x="1484272" y="3010330"/>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8 </a:t>
                </a:r>
                <a:r>
                  <a:rPr kumimoji="1" lang="zh-CN" altLang="en-US" sz="1200" b="1" dirty="0">
                    <a:latin typeface="微软雅黑" pitchFamily="34" charset="-122"/>
                    <a:ea typeface="微软雅黑" pitchFamily="34" charset="-122"/>
                  </a:rPr>
                  <a:t>字节</a:t>
                </a:r>
              </a:p>
            </p:txBody>
          </p:sp>
          <p:sp>
            <p:nvSpPr>
              <p:cNvPr id="28" name="AutoShape 43"/>
              <p:cNvSpPr>
                <a:spLocks noChangeArrowheads="1"/>
              </p:cNvSpPr>
              <p:nvPr/>
            </p:nvSpPr>
            <p:spPr bwMode="auto">
              <a:xfrm>
                <a:off x="1119814" y="2654183"/>
                <a:ext cx="558023" cy="2163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grpSp>
        <p:sp>
          <p:nvSpPr>
            <p:cNvPr id="29" name="Rectangle 44"/>
            <p:cNvSpPr>
              <a:spLocks noChangeArrowheads="1"/>
            </p:cNvSpPr>
            <p:nvPr/>
          </p:nvSpPr>
          <p:spPr bwMode="auto">
            <a:xfrm>
              <a:off x="1134821" y="26216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grpSp>
      <p:sp>
        <p:nvSpPr>
          <p:cNvPr id="30" name="Rectangle 47"/>
          <p:cNvSpPr>
            <a:spLocks noChangeArrowheads="1"/>
          </p:cNvSpPr>
          <p:nvPr/>
        </p:nvSpPr>
        <p:spPr bwMode="auto">
          <a:xfrm>
            <a:off x="7082646" y="1744694"/>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1" name="Line 48"/>
          <p:cNvSpPr>
            <a:spLocks noChangeShapeType="1"/>
          </p:cNvSpPr>
          <p:nvPr/>
        </p:nvSpPr>
        <p:spPr bwMode="auto">
          <a:xfrm flipV="1">
            <a:off x="6969866" y="2109057"/>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AutoShape 64"/>
          <p:cNvSpPr>
            <a:spLocks noChangeArrowheads="1"/>
          </p:cNvSpPr>
          <p:nvPr/>
        </p:nvSpPr>
        <p:spPr bwMode="auto">
          <a:xfrm rot="16200000" flipH="1">
            <a:off x="4370384" y="2730668"/>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66"/>
          <p:cNvSpPr>
            <a:spLocks noChangeArrowheads="1"/>
          </p:cNvSpPr>
          <p:nvPr/>
        </p:nvSpPr>
        <p:spPr bwMode="auto">
          <a:xfrm>
            <a:off x="2173221" y="2303168"/>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7"/>
          <p:cNvSpPr>
            <a:spLocks noChangeShapeType="1"/>
          </p:cNvSpPr>
          <p:nvPr/>
        </p:nvSpPr>
        <p:spPr bwMode="auto">
          <a:xfrm>
            <a:off x="2865169"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8"/>
          <p:cNvSpPr>
            <a:spLocks noChangeShapeType="1"/>
          </p:cNvSpPr>
          <p:nvPr/>
        </p:nvSpPr>
        <p:spPr bwMode="auto">
          <a:xfrm>
            <a:off x="3541845"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9"/>
          <p:cNvSpPr>
            <a:spLocks noChangeShapeType="1"/>
          </p:cNvSpPr>
          <p:nvPr/>
        </p:nvSpPr>
        <p:spPr bwMode="auto">
          <a:xfrm>
            <a:off x="4218521"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70"/>
          <p:cNvSpPr>
            <a:spLocks noChangeShapeType="1"/>
          </p:cNvSpPr>
          <p:nvPr/>
        </p:nvSpPr>
        <p:spPr bwMode="auto">
          <a:xfrm>
            <a:off x="6530497"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Rectangle 71"/>
          <p:cNvSpPr>
            <a:spLocks noChangeArrowheads="1"/>
          </p:cNvSpPr>
          <p:nvPr/>
        </p:nvSpPr>
        <p:spPr bwMode="auto">
          <a:xfrm>
            <a:off x="2121531" y="233461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9" name="Rectangle 72"/>
          <p:cNvSpPr>
            <a:spLocks noChangeArrowheads="1"/>
          </p:cNvSpPr>
          <p:nvPr/>
        </p:nvSpPr>
        <p:spPr bwMode="auto">
          <a:xfrm>
            <a:off x="2904094" y="233461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0" name="Rectangle 73"/>
          <p:cNvSpPr>
            <a:spLocks noChangeArrowheads="1"/>
          </p:cNvSpPr>
          <p:nvPr/>
        </p:nvSpPr>
        <p:spPr bwMode="auto">
          <a:xfrm>
            <a:off x="3643385" y="23346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1" name="Rectangle 74"/>
          <p:cNvSpPr>
            <a:spLocks noChangeArrowheads="1"/>
          </p:cNvSpPr>
          <p:nvPr/>
        </p:nvSpPr>
        <p:spPr bwMode="auto">
          <a:xfrm>
            <a:off x="4957146" y="2334616"/>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2" name="Rectangle 75"/>
          <p:cNvSpPr>
            <a:spLocks noChangeArrowheads="1"/>
          </p:cNvSpPr>
          <p:nvPr/>
        </p:nvSpPr>
        <p:spPr bwMode="auto">
          <a:xfrm>
            <a:off x="6490555" y="2334616"/>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3" name="Rectangle 76"/>
          <p:cNvSpPr>
            <a:spLocks noChangeArrowheads="1"/>
          </p:cNvSpPr>
          <p:nvPr/>
        </p:nvSpPr>
        <p:spPr bwMode="auto">
          <a:xfrm>
            <a:off x="2403068"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7"/>
          <p:cNvSpPr>
            <a:spLocks noChangeArrowheads="1"/>
          </p:cNvSpPr>
          <p:nvPr/>
        </p:nvSpPr>
        <p:spPr bwMode="auto">
          <a:xfrm>
            <a:off x="3100477"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8"/>
          <p:cNvSpPr>
            <a:spLocks noChangeArrowheads="1"/>
          </p:cNvSpPr>
          <p:nvPr/>
        </p:nvSpPr>
        <p:spPr bwMode="auto">
          <a:xfrm>
            <a:off x="38237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6" name="Rectangle 79"/>
          <p:cNvSpPr>
            <a:spLocks noChangeArrowheads="1"/>
          </p:cNvSpPr>
          <p:nvPr/>
        </p:nvSpPr>
        <p:spPr bwMode="auto">
          <a:xfrm>
            <a:off x="65845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7" name="Rectangle 80"/>
          <p:cNvSpPr>
            <a:spLocks noChangeArrowheads="1"/>
          </p:cNvSpPr>
          <p:nvPr/>
        </p:nvSpPr>
        <p:spPr bwMode="auto">
          <a:xfrm>
            <a:off x="1739157" y="206770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8" name="Text Box 81"/>
          <p:cNvSpPr txBox="1">
            <a:spLocks noChangeArrowheads="1"/>
          </p:cNvSpPr>
          <p:nvPr/>
        </p:nvSpPr>
        <p:spPr bwMode="auto">
          <a:xfrm>
            <a:off x="5466142" y="2056955"/>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1" name="Group 109"/>
          <p:cNvGrpSpPr>
            <a:grpSpLocks/>
          </p:cNvGrpSpPr>
          <p:nvPr/>
        </p:nvGrpSpPr>
        <p:grpSpPr bwMode="auto">
          <a:xfrm>
            <a:off x="4218521" y="1744694"/>
            <a:ext cx="2311976" cy="676676"/>
            <a:chOff x="2715" y="1872"/>
            <a:chExt cx="1968" cy="624"/>
          </a:xfrm>
        </p:grpSpPr>
        <p:sp>
          <p:nvSpPr>
            <p:cNvPr id="53"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Rectangle 111"/>
            <p:cNvSpPr>
              <a:spLocks noChangeArrowheads="1"/>
            </p:cNvSpPr>
            <p:nvPr/>
          </p:nvSpPr>
          <p:spPr bwMode="auto">
            <a:xfrm>
              <a:off x="2715" y="1872"/>
              <a:ext cx="1968" cy="240"/>
            </a:xfrm>
            <a:prstGeom prst="rect">
              <a:avLst/>
            </a:prstGeom>
            <a:solidFill>
              <a:srgbClr val="0070C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5" name="矩形 54"/>
          <p:cNvSpPr/>
          <p:nvPr/>
        </p:nvSpPr>
        <p:spPr>
          <a:xfrm>
            <a:off x="985801" y="1123999"/>
            <a:ext cx="7114032" cy="492443"/>
          </a:xfrm>
          <a:prstGeom prst="rect">
            <a:avLst/>
          </a:prstGeom>
          <a:solidFill>
            <a:srgbClr val="0000CC"/>
          </a:solidFill>
        </p:spPr>
        <p:txBody>
          <a:bodyPr wrap="square">
            <a:spAutoFit/>
          </a:bodyPr>
          <a:lstStyle/>
          <a:p>
            <a:r>
              <a:rPr lang="zh-CN" altLang="en-US" sz="1300" b="1" dirty="0">
                <a:solidFill>
                  <a:schemeClr val="bg1"/>
                </a:solidFill>
                <a:latin typeface="微软雅黑" pitchFamily="34" charset="-122"/>
                <a:ea typeface="微软雅黑" pitchFamily="34" charset="-122"/>
              </a:rPr>
              <a:t>由硬件在帧的前面插入 </a:t>
            </a:r>
            <a:r>
              <a:rPr lang="en-US" altLang="zh-CN" sz="1300" b="1" dirty="0">
                <a:solidFill>
                  <a:schemeClr val="bg1"/>
                </a:solidFill>
                <a:latin typeface="微软雅黑" pitchFamily="34" charset="-122"/>
                <a:ea typeface="微软雅黑" pitchFamily="34" charset="-122"/>
              </a:rPr>
              <a:t>8 </a:t>
            </a:r>
            <a:r>
              <a:rPr lang="zh-CN" altLang="en-US" sz="1300" b="1" dirty="0">
                <a:solidFill>
                  <a:schemeClr val="bg1"/>
                </a:solidFill>
                <a:latin typeface="微软雅黑" pitchFamily="34" charset="-122"/>
                <a:ea typeface="微软雅黑" pitchFamily="34" charset="-122"/>
              </a:rPr>
              <a:t>字节。第一个字段共 </a:t>
            </a:r>
            <a:r>
              <a:rPr lang="en-US" altLang="zh-CN" sz="1300" b="1" dirty="0">
                <a:solidFill>
                  <a:schemeClr val="bg1"/>
                </a:solidFill>
                <a:latin typeface="微软雅黑" pitchFamily="34" charset="-122"/>
                <a:ea typeface="微软雅黑" pitchFamily="34" charset="-122"/>
              </a:rPr>
              <a:t>7 </a:t>
            </a:r>
            <a:r>
              <a:rPr lang="zh-CN" altLang="en-US" sz="1300" b="1" dirty="0">
                <a:solidFill>
                  <a:schemeClr val="bg1"/>
                </a:solidFill>
                <a:latin typeface="微软雅黑" pitchFamily="34" charset="-122"/>
                <a:ea typeface="微软雅黑" pitchFamily="34" charset="-122"/>
              </a:rPr>
              <a:t>个字节，是前同步码，用来迅速实现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帧的比特同步。第二个字段 </a:t>
            </a:r>
            <a:r>
              <a:rPr lang="en-US" altLang="zh-CN" sz="1300" b="1" dirty="0">
                <a:solidFill>
                  <a:schemeClr val="bg1"/>
                </a:solidFill>
                <a:latin typeface="微软雅黑" pitchFamily="34" charset="-122"/>
                <a:ea typeface="微软雅黑" pitchFamily="34" charset="-122"/>
              </a:rPr>
              <a:t>1 </a:t>
            </a:r>
            <a:r>
              <a:rPr lang="zh-CN" altLang="en-US" sz="1300" b="1" dirty="0">
                <a:solidFill>
                  <a:schemeClr val="bg1"/>
                </a:solidFill>
                <a:latin typeface="微软雅黑" pitchFamily="34" charset="-122"/>
                <a:ea typeface="微软雅黑" pitchFamily="34" charset="-122"/>
              </a:rPr>
              <a:t>个字节是帧开始定界符，表示后面的信息就是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 </a:t>
            </a:r>
          </a:p>
        </p:txBody>
      </p:sp>
      <p:sp>
        <p:nvSpPr>
          <p:cNvPr id="56" name="矩形 55"/>
          <p:cNvSpPr/>
          <p:nvPr/>
        </p:nvSpPr>
        <p:spPr>
          <a:xfrm>
            <a:off x="4820943" y="3521739"/>
            <a:ext cx="2744010" cy="523220"/>
          </a:xfrm>
          <a:prstGeom prst="rect">
            <a:avLst/>
          </a:prstGeom>
          <a:solidFill>
            <a:srgbClr val="0070C0"/>
          </a:solidFill>
        </p:spPr>
        <p:txBody>
          <a:bodyPr wrap="square">
            <a:spAutoFit/>
          </a:bodyPr>
          <a:lstStyle/>
          <a:p>
            <a:r>
              <a:rPr lang="en-US" altLang="zh-CN" sz="1400" b="1" dirty="0">
                <a:solidFill>
                  <a:schemeClr val="bg1"/>
                </a:solidFill>
                <a:latin typeface="微软雅黑" pitchFamily="34" charset="-122"/>
                <a:ea typeface="微软雅黑" pitchFamily="34" charset="-122"/>
              </a:rPr>
              <a:t>MAC</a:t>
            </a:r>
            <a:r>
              <a:rPr lang="zh-CN" altLang="en-US" sz="1400" b="1" dirty="0">
                <a:solidFill>
                  <a:schemeClr val="bg1"/>
                </a:solidFill>
                <a:latin typeface="微软雅黑" pitchFamily="34" charset="-122"/>
                <a:ea typeface="微软雅黑" pitchFamily="34" charset="-122"/>
              </a:rPr>
              <a:t>帧的</a:t>
            </a:r>
            <a:r>
              <a:rPr lang="en-US" altLang="zh-CN" sz="1400" b="1" dirty="0">
                <a:solidFill>
                  <a:schemeClr val="bg1"/>
                </a:solidFill>
                <a:latin typeface="微软雅黑" pitchFamily="34" charset="-122"/>
                <a:ea typeface="微软雅黑" pitchFamily="34" charset="-122"/>
              </a:rPr>
              <a:t>FCS</a:t>
            </a:r>
            <a:r>
              <a:rPr lang="zh-CN" altLang="en-US" sz="1400" b="1" dirty="0">
                <a:solidFill>
                  <a:schemeClr val="bg1"/>
                </a:solidFill>
                <a:latin typeface="微软雅黑" pitchFamily="34" charset="-122"/>
                <a:ea typeface="微软雅黑" pitchFamily="34" charset="-122"/>
              </a:rPr>
              <a:t>字段的校验范围不包括前同步码和帧开始定界符。</a:t>
            </a:r>
          </a:p>
        </p:txBody>
      </p:sp>
      <p:sp>
        <p:nvSpPr>
          <p:cNvPr id="6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
        <p:nvSpPr>
          <p:cNvPr id="2" name="Rectangle 33"/>
          <p:cNvSpPr>
            <a:spLocks noChangeArrowheads="1"/>
          </p:cNvSpPr>
          <p:nvPr/>
        </p:nvSpPr>
        <p:spPr bwMode="auto">
          <a:xfrm>
            <a:off x="3678121" y="3858723"/>
            <a:ext cx="71163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帧开始定界符</a:t>
            </a:r>
          </a:p>
        </p:txBody>
      </p:sp>
      <p:sp>
        <p:nvSpPr>
          <p:cNvPr id="3" name="Rectangle 32"/>
          <p:cNvSpPr>
            <a:spLocks noChangeArrowheads="1"/>
          </p:cNvSpPr>
          <p:nvPr/>
        </p:nvSpPr>
        <p:spPr bwMode="auto">
          <a:xfrm>
            <a:off x="2155959" y="3930299"/>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Tree>
    <p:extLst>
      <p:ext uri="{BB962C8B-B14F-4D97-AF65-F5344CB8AC3E}">
        <p14:creationId xmlns:p14="http://schemas.microsoft.com/office/powerpoint/2010/main" val="297443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fade">
                                      <p:cBhvr>
                                        <p:cTn id="14" dur="1000"/>
                                        <p:tgtEl>
                                          <p:spTgt spid="55"/>
                                        </p:tgtEl>
                                      </p:cBhvr>
                                    </p:animEffect>
                                    <p:anim calcmode="lin" valueType="num">
                                      <p:cBhvr>
                                        <p:cTn id="15" dur="1000" fill="hold"/>
                                        <p:tgtEl>
                                          <p:spTgt spid="55"/>
                                        </p:tgtEl>
                                        <p:attrNameLst>
                                          <p:attrName>ppt_x</p:attrName>
                                        </p:attrNameLst>
                                      </p:cBhvr>
                                      <p:tavLst>
                                        <p:tav tm="0">
                                          <p:val>
                                            <p:strVal val="#ppt_x"/>
                                          </p:val>
                                        </p:tav>
                                        <p:tav tm="100000">
                                          <p:val>
                                            <p:strVal val="#ppt_x"/>
                                          </p:val>
                                        </p:tav>
                                      </p:tavLst>
                                    </p:anim>
                                    <p:anim calcmode="lin" valueType="num">
                                      <p:cBhvr>
                                        <p:cTn id="16"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grpId="0" nodeType="clickEffect">
                                  <p:stCondLst>
                                    <p:cond delay="0"/>
                                  </p:stCondLst>
                                  <p:childTnLst>
                                    <p:anim calcmode="discrete" valueType="str">
                                      <p:cBhvr>
                                        <p:cTn id="20"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grpId="0" nodeType="clickEffect">
                                  <p:stCondLst>
                                    <p:cond delay="0"/>
                                  </p:stCondLst>
                                  <p:childTnLst>
                                    <p:anim calcmode="discrete" valueType="str">
                                      <p:cBhvr>
                                        <p:cTn id="24"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anim calcmode="lin" valueType="num">
                                      <p:cBhvr>
                                        <p:cTn id="29" dur="500" fill="hold"/>
                                        <p:tgtEl>
                                          <p:spTgt spid="56"/>
                                        </p:tgtEl>
                                        <p:attrNameLst>
                                          <p:attrName>ppt_w</p:attrName>
                                        </p:attrNameLst>
                                      </p:cBhvr>
                                      <p:tavLst>
                                        <p:tav tm="0">
                                          <p:val>
                                            <p:fltVal val="0"/>
                                          </p:val>
                                        </p:tav>
                                        <p:tav tm="100000">
                                          <p:val>
                                            <p:strVal val="#ppt_w"/>
                                          </p:val>
                                        </p:tav>
                                      </p:tavLst>
                                    </p:anim>
                                    <p:anim calcmode="lin" valueType="num">
                                      <p:cBhvr>
                                        <p:cTn id="30" dur="500" fill="hold"/>
                                        <p:tgtEl>
                                          <p:spTgt spid="56"/>
                                        </p:tgtEl>
                                        <p:attrNameLst>
                                          <p:attrName>ppt_h</p:attrName>
                                        </p:attrNameLst>
                                      </p:cBhvr>
                                      <p:tavLst>
                                        <p:tav tm="0">
                                          <p:val>
                                            <p:fltVal val="0"/>
                                          </p:val>
                                        </p:tav>
                                        <p:tav tm="100000">
                                          <p:val>
                                            <p:strVal val="#ppt_h"/>
                                          </p:val>
                                        </p:tav>
                                      </p:tavLst>
                                    </p:anim>
                                    <p:animEffect transition="in" filter="fade">
                                      <p:cBhvr>
                                        <p:cTn id="31"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2" grpId="0"/>
      <p:bldP spid="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C32EB-B482-C582-955D-155EF797A56D}"/>
            </a:ext>
          </a:extLst>
        </p:cNvPr>
        <p:cNvGrpSpPr/>
        <p:nvPr/>
      </p:nvGrpSpPr>
      <p:grpSpPr>
        <a:xfrm>
          <a:off x="0" y="0"/>
          <a:ext cx="0" cy="0"/>
          <a:chOff x="0" y="0"/>
          <a:chExt cx="0" cy="0"/>
        </a:xfrm>
      </p:grpSpPr>
      <p:sp>
        <p:nvSpPr>
          <p:cNvPr id="60" name="圆角矩形 59">
            <a:extLst>
              <a:ext uri="{FF2B5EF4-FFF2-40B4-BE49-F238E27FC236}">
                <a16:creationId xmlns:a16="http://schemas.microsoft.com/office/drawing/2014/main" id="{CF2F93BB-AC03-F729-BF8D-3018B9842A4A}"/>
              </a:ext>
            </a:extLst>
          </p:cNvPr>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1" name="AutoShape 5">
            <a:extLst>
              <a:ext uri="{FF2B5EF4-FFF2-40B4-BE49-F238E27FC236}">
                <a16:creationId xmlns:a16="http://schemas.microsoft.com/office/drawing/2014/main" id="{2ECCF302-77A0-ADF1-D331-768B1163B15C}"/>
              </a:ext>
            </a:extLst>
          </p:cNvPr>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矩形 61">
            <a:extLst>
              <a:ext uri="{FF2B5EF4-FFF2-40B4-BE49-F238E27FC236}">
                <a16:creationId xmlns:a16="http://schemas.microsoft.com/office/drawing/2014/main" id="{B45FAC32-9D5B-B371-0EA3-AF16BB271B59}"/>
              </a:ext>
            </a:extLst>
          </p:cNvPr>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9" name="Line 3">
            <a:extLst>
              <a:ext uri="{FF2B5EF4-FFF2-40B4-BE49-F238E27FC236}">
                <a16:creationId xmlns:a16="http://schemas.microsoft.com/office/drawing/2014/main" id="{64AA7E66-A64C-1D1C-DD05-97850A0D5D6F}"/>
              </a:ext>
            </a:extLst>
          </p:cNvPr>
          <p:cNvSpPr>
            <a:spLocks noChangeShapeType="1"/>
          </p:cNvSpPr>
          <p:nvPr/>
        </p:nvSpPr>
        <p:spPr bwMode="auto">
          <a:xfrm>
            <a:off x="1141760" y="2785733"/>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Rectangle 4">
            <a:extLst>
              <a:ext uri="{FF2B5EF4-FFF2-40B4-BE49-F238E27FC236}">
                <a16:creationId xmlns:a16="http://schemas.microsoft.com/office/drawing/2014/main" id="{857D195D-ADB2-15CA-F7D0-E6414269CB49}"/>
              </a:ext>
            </a:extLst>
          </p:cNvPr>
          <p:cNvSpPr>
            <a:spLocks noChangeArrowheads="1"/>
          </p:cNvSpPr>
          <p:nvPr/>
        </p:nvSpPr>
        <p:spPr bwMode="auto">
          <a:xfrm>
            <a:off x="2179095" y="2938089"/>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6">
            <a:extLst>
              <a:ext uri="{FF2B5EF4-FFF2-40B4-BE49-F238E27FC236}">
                <a16:creationId xmlns:a16="http://schemas.microsoft.com/office/drawing/2014/main" id="{28C0E934-CB17-575D-619D-D93ADC7F7DB8}"/>
              </a:ext>
            </a:extLst>
          </p:cNvPr>
          <p:cNvSpPr>
            <a:spLocks noChangeArrowheads="1"/>
          </p:cNvSpPr>
          <p:nvPr/>
        </p:nvSpPr>
        <p:spPr bwMode="auto">
          <a:xfrm>
            <a:off x="3975939" y="2984386"/>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2" name="Rectangle 13">
            <a:extLst>
              <a:ext uri="{FF2B5EF4-FFF2-40B4-BE49-F238E27FC236}">
                <a16:creationId xmlns:a16="http://schemas.microsoft.com/office/drawing/2014/main" id="{0D6F69D7-0AD1-3D29-7F46-34180720290D}"/>
              </a:ext>
            </a:extLst>
          </p:cNvPr>
          <p:cNvSpPr>
            <a:spLocks noChangeArrowheads="1"/>
          </p:cNvSpPr>
          <p:nvPr/>
        </p:nvSpPr>
        <p:spPr bwMode="auto">
          <a:xfrm>
            <a:off x="7005110" y="299153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3" name="Rectangle 26">
            <a:extLst>
              <a:ext uri="{FF2B5EF4-FFF2-40B4-BE49-F238E27FC236}">
                <a16:creationId xmlns:a16="http://schemas.microsoft.com/office/drawing/2014/main" id="{C9684445-3BA4-5057-7B75-9063735DD01B}"/>
              </a:ext>
            </a:extLst>
          </p:cNvPr>
          <p:cNvSpPr>
            <a:spLocks noChangeArrowheads="1"/>
          </p:cNvSpPr>
          <p:nvPr/>
        </p:nvSpPr>
        <p:spPr bwMode="auto">
          <a:xfrm>
            <a:off x="6975740" y="2351967"/>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4" name="Line 27">
            <a:extLst>
              <a:ext uri="{FF2B5EF4-FFF2-40B4-BE49-F238E27FC236}">
                <a16:creationId xmlns:a16="http://schemas.microsoft.com/office/drawing/2014/main" id="{54D0F8C0-B88A-2299-21F5-0FC1625FF439}"/>
              </a:ext>
            </a:extLst>
          </p:cNvPr>
          <p:cNvSpPr>
            <a:spLocks noChangeShapeType="1"/>
          </p:cNvSpPr>
          <p:nvPr/>
        </p:nvSpPr>
        <p:spPr bwMode="auto">
          <a:xfrm flipH="1">
            <a:off x="2173221" y="2598130"/>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Line 28">
            <a:extLst>
              <a:ext uri="{FF2B5EF4-FFF2-40B4-BE49-F238E27FC236}">
                <a16:creationId xmlns:a16="http://schemas.microsoft.com/office/drawing/2014/main" id="{3AF8CBE4-4128-E72E-2D0D-BE5C059B94F3}"/>
              </a:ext>
            </a:extLst>
          </p:cNvPr>
          <p:cNvSpPr>
            <a:spLocks noChangeShapeType="1"/>
          </p:cNvSpPr>
          <p:nvPr/>
        </p:nvSpPr>
        <p:spPr bwMode="auto">
          <a:xfrm>
            <a:off x="6917001" y="2646928"/>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9" name="组合 58">
            <a:extLst>
              <a:ext uri="{FF2B5EF4-FFF2-40B4-BE49-F238E27FC236}">
                <a16:creationId xmlns:a16="http://schemas.microsoft.com/office/drawing/2014/main" id="{CB0067D4-5739-78EE-A79A-BD6FEE4431FF}"/>
              </a:ext>
            </a:extLst>
          </p:cNvPr>
          <p:cNvGrpSpPr/>
          <p:nvPr/>
        </p:nvGrpSpPr>
        <p:grpSpPr>
          <a:xfrm>
            <a:off x="1119814" y="2588363"/>
            <a:ext cx="3357315" cy="1349909"/>
            <a:chOff x="1119814" y="2621615"/>
            <a:chExt cx="3357315" cy="1349909"/>
          </a:xfrm>
        </p:grpSpPr>
        <p:grpSp>
          <p:nvGrpSpPr>
            <p:cNvPr id="57" name="组合 56">
              <a:extLst>
                <a:ext uri="{FF2B5EF4-FFF2-40B4-BE49-F238E27FC236}">
                  <a16:creationId xmlns:a16="http://schemas.microsoft.com/office/drawing/2014/main" id="{FE08430D-1DE3-32D3-3051-2B3D977B6BC6}"/>
                </a:ext>
              </a:extLst>
            </p:cNvPr>
            <p:cNvGrpSpPr/>
            <p:nvPr/>
          </p:nvGrpSpPr>
          <p:grpSpPr>
            <a:xfrm>
              <a:off x="1119814" y="2654183"/>
              <a:ext cx="3357315" cy="1317341"/>
              <a:chOff x="1119814" y="2654183"/>
              <a:chExt cx="3357315" cy="1317341"/>
            </a:xfrm>
          </p:grpSpPr>
          <p:sp>
            <p:nvSpPr>
              <p:cNvPr id="16" name="Rectangle 29">
                <a:extLst>
                  <a:ext uri="{FF2B5EF4-FFF2-40B4-BE49-F238E27FC236}">
                    <a16:creationId xmlns:a16="http://schemas.microsoft.com/office/drawing/2014/main" id="{9D8388BB-E2BA-D732-DCE7-2A3999BCA1B4}"/>
                  </a:ext>
                </a:extLst>
              </p:cNvPr>
              <p:cNvSpPr>
                <a:spLocks noChangeArrowheads="1"/>
              </p:cNvSpPr>
              <p:nvPr/>
            </p:nvSpPr>
            <p:spPr bwMode="auto">
              <a:xfrm>
                <a:off x="1173479" y="3658324"/>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30">
                <a:extLst>
                  <a:ext uri="{FF2B5EF4-FFF2-40B4-BE49-F238E27FC236}">
                    <a16:creationId xmlns:a16="http://schemas.microsoft.com/office/drawing/2014/main" id="{A954F92A-62F6-9767-CF1B-DE2F25EF264D}"/>
                  </a:ext>
                </a:extLst>
              </p:cNvPr>
              <p:cNvSpPr>
                <a:spLocks noChangeArrowheads="1"/>
              </p:cNvSpPr>
              <p:nvPr/>
            </p:nvSpPr>
            <p:spPr bwMode="auto">
              <a:xfrm>
                <a:off x="1177160" y="3687604"/>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8" name="Line 31">
                <a:extLst>
                  <a:ext uri="{FF2B5EF4-FFF2-40B4-BE49-F238E27FC236}">
                    <a16:creationId xmlns:a16="http://schemas.microsoft.com/office/drawing/2014/main" id="{CF31883B-36C1-79B2-03B1-8B7443876E25}"/>
                  </a:ext>
                </a:extLst>
              </p:cNvPr>
              <p:cNvSpPr>
                <a:spLocks noChangeShapeType="1"/>
              </p:cNvSpPr>
              <p:nvPr/>
            </p:nvSpPr>
            <p:spPr bwMode="auto">
              <a:xfrm>
                <a:off x="3656709" y="3656155"/>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Rectangle 34">
                <a:extLst>
                  <a:ext uri="{FF2B5EF4-FFF2-40B4-BE49-F238E27FC236}">
                    <a16:creationId xmlns:a16="http://schemas.microsoft.com/office/drawing/2014/main" id="{9B71BD80-E79C-B123-DAB8-2838C53562BB}"/>
                  </a:ext>
                </a:extLst>
              </p:cNvPr>
              <p:cNvSpPr>
                <a:spLocks noChangeArrowheads="1"/>
              </p:cNvSpPr>
              <p:nvPr/>
            </p:nvSpPr>
            <p:spPr bwMode="auto">
              <a:xfrm>
                <a:off x="2199160" y="3428428"/>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2" name="Rectangle 35">
                <a:extLst>
                  <a:ext uri="{FF2B5EF4-FFF2-40B4-BE49-F238E27FC236}">
                    <a16:creationId xmlns:a16="http://schemas.microsoft.com/office/drawing/2014/main" id="{9EB5FA4C-F56D-95FD-33E7-3A2D7682EF45}"/>
                  </a:ext>
                </a:extLst>
              </p:cNvPr>
              <p:cNvSpPr>
                <a:spLocks noChangeArrowheads="1"/>
              </p:cNvSpPr>
              <p:nvPr/>
            </p:nvSpPr>
            <p:spPr bwMode="auto">
              <a:xfrm>
                <a:off x="3722461" y="3353011"/>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3" name="Line 36">
                <a:extLst>
                  <a:ext uri="{FF2B5EF4-FFF2-40B4-BE49-F238E27FC236}">
                    <a16:creationId xmlns:a16="http://schemas.microsoft.com/office/drawing/2014/main" id="{3D5F7139-2489-CEFE-DC63-0CAA23537416}"/>
                  </a:ext>
                </a:extLst>
              </p:cNvPr>
              <p:cNvSpPr>
                <a:spLocks noChangeShapeType="1"/>
              </p:cNvSpPr>
              <p:nvPr/>
            </p:nvSpPr>
            <p:spPr bwMode="auto">
              <a:xfrm flipV="1">
                <a:off x="1182878" y="3319986"/>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37">
                <a:extLst>
                  <a:ext uri="{FF2B5EF4-FFF2-40B4-BE49-F238E27FC236}">
                    <a16:creationId xmlns:a16="http://schemas.microsoft.com/office/drawing/2014/main" id="{1DD94DC1-4992-4918-43DE-DE66EC8B5715}"/>
                  </a:ext>
                </a:extLst>
              </p:cNvPr>
              <p:cNvSpPr>
                <a:spLocks noChangeShapeType="1"/>
              </p:cNvSpPr>
              <p:nvPr/>
            </p:nvSpPr>
            <p:spPr bwMode="auto">
              <a:xfrm>
                <a:off x="2167347" y="3328662"/>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38">
                <a:extLst>
                  <a:ext uri="{FF2B5EF4-FFF2-40B4-BE49-F238E27FC236}">
                    <a16:creationId xmlns:a16="http://schemas.microsoft.com/office/drawing/2014/main" id="{6A8E61EB-08A5-567A-048F-5E39EF1B1C2F}"/>
                  </a:ext>
                </a:extLst>
              </p:cNvPr>
              <p:cNvSpPr txBox="1">
                <a:spLocks noChangeArrowheads="1"/>
              </p:cNvSpPr>
              <p:nvPr/>
            </p:nvSpPr>
            <p:spPr bwMode="auto">
              <a:xfrm>
                <a:off x="2426998" y="3663747"/>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6" name="Rectangle 41">
                <a:extLst>
                  <a:ext uri="{FF2B5EF4-FFF2-40B4-BE49-F238E27FC236}">
                    <a16:creationId xmlns:a16="http://schemas.microsoft.com/office/drawing/2014/main" id="{41EB6CC2-D15C-4328-9E1D-2A594DA906E8}"/>
                  </a:ext>
                </a:extLst>
              </p:cNvPr>
              <p:cNvSpPr>
                <a:spLocks noChangeArrowheads="1"/>
              </p:cNvSpPr>
              <p:nvPr/>
            </p:nvSpPr>
            <p:spPr bwMode="auto">
              <a:xfrm>
                <a:off x="1420185" y="2975599"/>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42">
                <a:extLst>
                  <a:ext uri="{FF2B5EF4-FFF2-40B4-BE49-F238E27FC236}">
                    <a16:creationId xmlns:a16="http://schemas.microsoft.com/office/drawing/2014/main" id="{B9D8B64A-BF04-C789-9D2F-36858E8852D4}"/>
                  </a:ext>
                </a:extLst>
              </p:cNvPr>
              <p:cNvSpPr>
                <a:spLocks noChangeArrowheads="1"/>
              </p:cNvSpPr>
              <p:nvPr/>
            </p:nvSpPr>
            <p:spPr bwMode="auto">
              <a:xfrm>
                <a:off x="1484272" y="3010330"/>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8 </a:t>
                </a:r>
                <a:r>
                  <a:rPr kumimoji="1" lang="zh-CN" altLang="en-US" sz="1200" b="1" dirty="0">
                    <a:latin typeface="微软雅黑" pitchFamily="34" charset="-122"/>
                    <a:ea typeface="微软雅黑" pitchFamily="34" charset="-122"/>
                  </a:rPr>
                  <a:t>字节</a:t>
                </a:r>
              </a:p>
            </p:txBody>
          </p:sp>
          <p:sp>
            <p:nvSpPr>
              <p:cNvPr id="28" name="AutoShape 43">
                <a:extLst>
                  <a:ext uri="{FF2B5EF4-FFF2-40B4-BE49-F238E27FC236}">
                    <a16:creationId xmlns:a16="http://schemas.microsoft.com/office/drawing/2014/main" id="{324AD2A6-DD7C-2008-BE04-0AE1F558E2B2}"/>
                  </a:ext>
                </a:extLst>
              </p:cNvPr>
              <p:cNvSpPr>
                <a:spLocks noChangeArrowheads="1"/>
              </p:cNvSpPr>
              <p:nvPr/>
            </p:nvSpPr>
            <p:spPr bwMode="auto">
              <a:xfrm>
                <a:off x="1119814" y="2654183"/>
                <a:ext cx="558023" cy="2163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grpSp>
        <p:sp>
          <p:nvSpPr>
            <p:cNvPr id="29" name="Rectangle 44">
              <a:extLst>
                <a:ext uri="{FF2B5EF4-FFF2-40B4-BE49-F238E27FC236}">
                  <a16:creationId xmlns:a16="http://schemas.microsoft.com/office/drawing/2014/main" id="{30786B23-C791-B59D-9BE2-292BF4C7148C}"/>
                </a:ext>
              </a:extLst>
            </p:cNvPr>
            <p:cNvSpPr>
              <a:spLocks noChangeArrowheads="1"/>
            </p:cNvSpPr>
            <p:nvPr/>
          </p:nvSpPr>
          <p:spPr bwMode="auto">
            <a:xfrm>
              <a:off x="1134821" y="26216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grpSp>
      <p:sp>
        <p:nvSpPr>
          <p:cNvPr id="30" name="Rectangle 47">
            <a:extLst>
              <a:ext uri="{FF2B5EF4-FFF2-40B4-BE49-F238E27FC236}">
                <a16:creationId xmlns:a16="http://schemas.microsoft.com/office/drawing/2014/main" id="{1C94D3EE-05D4-A7BE-09F5-49D037684419}"/>
              </a:ext>
            </a:extLst>
          </p:cNvPr>
          <p:cNvSpPr>
            <a:spLocks noChangeArrowheads="1"/>
          </p:cNvSpPr>
          <p:nvPr/>
        </p:nvSpPr>
        <p:spPr bwMode="auto">
          <a:xfrm>
            <a:off x="7082646" y="1744694"/>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1" name="Line 48">
            <a:extLst>
              <a:ext uri="{FF2B5EF4-FFF2-40B4-BE49-F238E27FC236}">
                <a16:creationId xmlns:a16="http://schemas.microsoft.com/office/drawing/2014/main" id="{65407239-2BC6-F7AB-98C5-708B784E4171}"/>
              </a:ext>
            </a:extLst>
          </p:cNvPr>
          <p:cNvSpPr>
            <a:spLocks noChangeShapeType="1"/>
          </p:cNvSpPr>
          <p:nvPr/>
        </p:nvSpPr>
        <p:spPr bwMode="auto">
          <a:xfrm flipV="1">
            <a:off x="6969866" y="2109057"/>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AutoShape 64">
            <a:extLst>
              <a:ext uri="{FF2B5EF4-FFF2-40B4-BE49-F238E27FC236}">
                <a16:creationId xmlns:a16="http://schemas.microsoft.com/office/drawing/2014/main" id="{815D7D44-4A84-86C8-21C3-63254FABA9E1}"/>
              </a:ext>
            </a:extLst>
          </p:cNvPr>
          <p:cNvSpPr>
            <a:spLocks noChangeArrowheads="1"/>
          </p:cNvSpPr>
          <p:nvPr/>
        </p:nvSpPr>
        <p:spPr bwMode="auto">
          <a:xfrm rot="16200000" flipH="1">
            <a:off x="4370384" y="2730668"/>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66">
            <a:extLst>
              <a:ext uri="{FF2B5EF4-FFF2-40B4-BE49-F238E27FC236}">
                <a16:creationId xmlns:a16="http://schemas.microsoft.com/office/drawing/2014/main" id="{16E28D01-7B69-659D-26A8-E6569BD053B9}"/>
              </a:ext>
            </a:extLst>
          </p:cNvPr>
          <p:cNvSpPr>
            <a:spLocks noChangeArrowheads="1"/>
          </p:cNvSpPr>
          <p:nvPr/>
        </p:nvSpPr>
        <p:spPr bwMode="auto">
          <a:xfrm>
            <a:off x="2173221" y="2303168"/>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7">
            <a:extLst>
              <a:ext uri="{FF2B5EF4-FFF2-40B4-BE49-F238E27FC236}">
                <a16:creationId xmlns:a16="http://schemas.microsoft.com/office/drawing/2014/main" id="{93B2DDF2-9B88-3AFF-A6A0-A08C388AC45B}"/>
              </a:ext>
            </a:extLst>
          </p:cNvPr>
          <p:cNvSpPr>
            <a:spLocks noChangeShapeType="1"/>
          </p:cNvSpPr>
          <p:nvPr/>
        </p:nvSpPr>
        <p:spPr bwMode="auto">
          <a:xfrm>
            <a:off x="2865169"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8">
            <a:extLst>
              <a:ext uri="{FF2B5EF4-FFF2-40B4-BE49-F238E27FC236}">
                <a16:creationId xmlns:a16="http://schemas.microsoft.com/office/drawing/2014/main" id="{E3D7903A-1E9A-F78E-DA6E-51A82414B2C0}"/>
              </a:ext>
            </a:extLst>
          </p:cNvPr>
          <p:cNvSpPr>
            <a:spLocks noChangeShapeType="1"/>
          </p:cNvSpPr>
          <p:nvPr/>
        </p:nvSpPr>
        <p:spPr bwMode="auto">
          <a:xfrm>
            <a:off x="3541845"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9">
            <a:extLst>
              <a:ext uri="{FF2B5EF4-FFF2-40B4-BE49-F238E27FC236}">
                <a16:creationId xmlns:a16="http://schemas.microsoft.com/office/drawing/2014/main" id="{92696555-1BAF-E40D-B9E5-79BD5DEE3545}"/>
              </a:ext>
            </a:extLst>
          </p:cNvPr>
          <p:cNvSpPr>
            <a:spLocks noChangeShapeType="1"/>
          </p:cNvSpPr>
          <p:nvPr/>
        </p:nvSpPr>
        <p:spPr bwMode="auto">
          <a:xfrm>
            <a:off x="4218521"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70">
            <a:extLst>
              <a:ext uri="{FF2B5EF4-FFF2-40B4-BE49-F238E27FC236}">
                <a16:creationId xmlns:a16="http://schemas.microsoft.com/office/drawing/2014/main" id="{CBB62BE1-4700-7FB9-C2FC-E519F112FFCD}"/>
              </a:ext>
            </a:extLst>
          </p:cNvPr>
          <p:cNvSpPr>
            <a:spLocks noChangeShapeType="1"/>
          </p:cNvSpPr>
          <p:nvPr/>
        </p:nvSpPr>
        <p:spPr bwMode="auto">
          <a:xfrm>
            <a:off x="6530497"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Rectangle 71">
            <a:extLst>
              <a:ext uri="{FF2B5EF4-FFF2-40B4-BE49-F238E27FC236}">
                <a16:creationId xmlns:a16="http://schemas.microsoft.com/office/drawing/2014/main" id="{A09DDA0B-FD1F-B324-EE43-C904DB6E498F}"/>
              </a:ext>
            </a:extLst>
          </p:cNvPr>
          <p:cNvSpPr>
            <a:spLocks noChangeArrowheads="1"/>
          </p:cNvSpPr>
          <p:nvPr/>
        </p:nvSpPr>
        <p:spPr bwMode="auto">
          <a:xfrm>
            <a:off x="2121531" y="233461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9" name="Rectangle 72">
            <a:extLst>
              <a:ext uri="{FF2B5EF4-FFF2-40B4-BE49-F238E27FC236}">
                <a16:creationId xmlns:a16="http://schemas.microsoft.com/office/drawing/2014/main" id="{65E3E302-3C69-48A2-E2AB-5829800F717D}"/>
              </a:ext>
            </a:extLst>
          </p:cNvPr>
          <p:cNvSpPr>
            <a:spLocks noChangeArrowheads="1"/>
          </p:cNvSpPr>
          <p:nvPr/>
        </p:nvSpPr>
        <p:spPr bwMode="auto">
          <a:xfrm>
            <a:off x="2904094" y="233461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0" name="Rectangle 73">
            <a:extLst>
              <a:ext uri="{FF2B5EF4-FFF2-40B4-BE49-F238E27FC236}">
                <a16:creationId xmlns:a16="http://schemas.microsoft.com/office/drawing/2014/main" id="{5759093D-33C0-AFDD-7F0A-AA405B594D5B}"/>
              </a:ext>
            </a:extLst>
          </p:cNvPr>
          <p:cNvSpPr>
            <a:spLocks noChangeArrowheads="1"/>
          </p:cNvSpPr>
          <p:nvPr/>
        </p:nvSpPr>
        <p:spPr bwMode="auto">
          <a:xfrm>
            <a:off x="3643385" y="23346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1" name="Rectangle 74">
            <a:extLst>
              <a:ext uri="{FF2B5EF4-FFF2-40B4-BE49-F238E27FC236}">
                <a16:creationId xmlns:a16="http://schemas.microsoft.com/office/drawing/2014/main" id="{39F47193-1ED3-C2E0-2644-11ED4F0AA3F6}"/>
              </a:ext>
            </a:extLst>
          </p:cNvPr>
          <p:cNvSpPr>
            <a:spLocks noChangeArrowheads="1"/>
          </p:cNvSpPr>
          <p:nvPr/>
        </p:nvSpPr>
        <p:spPr bwMode="auto">
          <a:xfrm>
            <a:off x="4957146" y="2334616"/>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2" name="Rectangle 75">
            <a:extLst>
              <a:ext uri="{FF2B5EF4-FFF2-40B4-BE49-F238E27FC236}">
                <a16:creationId xmlns:a16="http://schemas.microsoft.com/office/drawing/2014/main" id="{96A0BB7A-9195-2013-0DF0-50E9389A48F3}"/>
              </a:ext>
            </a:extLst>
          </p:cNvPr>
          <p:cNvSpPr>
            <a:spLocks noChangeArrowheads="1"/>
          </p:cNvSpPr>
          <p:nvPr/>
        </p:nvSpPr>
        <p:spPr bwMode="auto">
          <a:xfrm>
            <a:off x="6490555" y="2334616"/>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3" name="Rectangle 76">
            <a:extLst>
              <a:ext uri="{FF2B5EF4-FFF2-40B4-BE49-F238E27FC236}">
                <a16:creationId xmlns:a16="http://schemas.microsoft.com/office/drawing/2014/main" id="{3102238B-29F5-9EA4-44E0-87423501C4E2}"/>
              </a:ext>
            </a:extLst>
          </p:cNvPr>
          <p:cNvSpPr>
            <a:spLocks noChangeArrowheads="1"/>
          </p:cNvSpPr>
          <p:nvPr/>
        </p:nvSpPr>
        <p:spPr bwMode="auto">
          <a:xfrm>
            <a:off x="2403068"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7">
            <a:extLst>
              <a:ext uri="{FF2B5EF4-FFF2-40B4-BE49-F238E27FC236}">
                <a16:creationId xmlns:a16="http://schemas.microsoft.com/office/drawing/2014/main" id="{DD8EB19A-F96C-69BA-02EC-0776F5B977C8}"/>
              </a:ext>
            </a:extLst>
          </p:cNvPr>
          <p:cNvSpPr>
            <a:spLocks noChangeArrowheads="1"/>
          </p:cNvSpPr>
          <p:nvPr/>
        </p:nvSpPr>
        <p:spPr bwMode="auto">
          <a:xfrm>
            <a:off x="3100477"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8">
            <a:extLst>
              <a:ext uri="{FF2B5EF4-FFF2-40B4-BE49-F238E27FC236}">
                <a16:creationId xmlns:a16="http://schemas.microsoft.com/office/drawing/2014/main" id="{7DF7C165-152B-74DE-E9D7-C8337DB13F81}"/>
              </a:ext>
            </a:extLst>
          </p:cNvPr>
          <p:cNvSpPr>
            <a:spLocks noChangeArrowheads="1"/>
          </p:cNvSpPr>
          <p:nvPr/>
        </p:nvSpPr>
        <p:spPr bwMode="auto">
          <a:xfrm>
            <a:off x="38237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6" name="Rectangle 79">
            <a:extLst>
              <a:ext uri="{FF2B5EF4-FFF2-40B4-BE49-F238E27FC236}">
                <a16:creationId xmlns:a16="http://schemas.microsoft.com/office/drawing/2014/main" id="{BE11B237-4D4E-770F-336A-BB72886B5623}"/>
              </a:ext>
            </a:extLst>
          </p:cNvPr>
          <p:cNvSpPr>
            <a:spLocks noChangeArrowheads="1"/>
          </p:cNvSpPr>
          <p:nvPr/>
        </p:nvSpPr>
        <p:spPr bwMode="auto">
          <a:xfrm>
            <a:off x="65845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7" name="Rectangle 80">
            <a:extLst>
              <a:ext uri="{FF2B5EF4-FFF2-40B4-BE49-F238E27FC236}">
                <a16:creationId xmlns:a16="http://schemas.microsoft.com/office/drawing/2014/main" id="{01B3782F-DEDB-218C-6F58-40F5D9AA64E5}"/>
              </a:ext>
            </a:extLst>
          </p:cNvPr>
          <p:cNvSpPr>
            <a:spLocks noChangeArrowheads="1"/>
          </p:cNvSpPr>
          <p:nvPr/>
        </p:nvSpPr>
        <p:spPr bwMode="auto">
          <a:xfrm>
            <a:off x="1739157" y="206770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8" name="Text Box 81">
            <a:extLst>
              <a:ext uri="{FF2B5EF4-FFF2-40B4-BE49-F238E27FC236}">
                <a16:creationId xmlns:a16="http://schemas.microsoft.com/office/drawing/2014/main" id="{850830FF-7E3E-8531-4610-23D1871AB2E3}"/>
              </a:ext>
            </a:extLst>
          </p:cNvPr>
          <p:cNvSpPr txBox="1">
            <a:spLocks noChangeArrowheads="1"/>
          </p:cNvSpPr>
          <p:nvPr/>
        </p:nvSpPr>
        <p:spPr bwMode="auto">
          <a:xfrm>
            <a:off x="5466142" y="2056955"/>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1" name="Group 109">
            <a:extLst>
              <a:ext uri="{FF2B5EF4-FFF2-40B4-BE49-F238E27FC236}">
                <a16:creationId xmlns:a16="http://schemas.microsoft.com/office/drawing/2014/main" id="{2AEA4172-313F-46C6-421F-0EB7099F3525}"/>
              </a:ext>
            </a:extLst>
          </p:cNvPr>
          <p:cNvGrpSpPr>
            <a:grpSpLocks/>
          </p:cNvGrpSpPr>
          <p:nvPr/>
        </p:nvGrpSpPr>
        <p:grpSpPr bwMode="auto">
          <a:xfrm>
            <a:off x="4218521" y="1744694"/>
            <a:ext cx="2311976" cy="676676"/>
            <a:chOff x="2715" y="1872"/>
            <a:chExt cx="1968" cy="624"/>
          </a:xfrm>
        </p:grpSpPr>
        <p:sp>
          <p:nvSpPr>
            <p:cNvPr id="53" name="AutoShape 110">
              <a:extLst>
                <a:ext uri="{FF2B5EF4-FFF2-40B4-BE49-F238E27FC236}">
                  <a16:creationId xmlns:a16="http://schemas.microsoft.com/office/drawing/2014/main" id="{FC77C012-FBE9-5E7F-BEA4-B6F0A69CA4C2}"/>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Rectangle 111">
              <a:extLst>
                <a:ext uri="{FF2B5EF4-FFF2-40B4-BE49-F238E27FC236}">
                  <a16:creationId xmlns:a16="http://schemas.microsoft.com/office/drawing/2014/main" id="{9B74BF7E-D063-13E3-25DD-213E737F25FC}"/>
                </a:ext>
              </a:extLst>
            </p:cNvPr>
            <p:cNvSpPr>
              <a:spLocks noChangeArrowheads="1"/>
            </p:cNvSpPr>
            <p:nvPr/>
          </p:nvSpPr>
          <p:spPr bwMode="auto">
            <a:xfrm>
              <a:off x="2715" y="1872"/>
              <a:ext cx="1968" cy="240"/>
            </a:xfrm>
            <a:prstGeom prst="rect">
              <a:avLst/>
            </a:prstGeom>
            <a:solidFill>
              <a:srgbClr val="0070C0"/>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5" name="矩形 54">
            <a:extLst>
              <a:ext uri="{FF2B5EF4-FFF2-40B4-BE49-F238E27FC236}">
                <a16:creationId xmlns:a16="http://schemas.microsoft.com/office/drawing/2014/main" id="{3145C556-782D-08D6-56F1-FF0E51135485}"/>
              </a:ext>
            </a:extLst>
          </p:cNvPr>
          <p:cNvSpPr/>
          <p:nvPr/>
        </p:nvSpPr>
        <p:spPr>
          <a:xfrm>
            <a:off x="1336075" y="1098541"/>
            <a:ext cx="6597590" cy="584775"/>
          </a:xfrm>
          <a:prstGeom prst="rect">
            <a:avLst/>
          </a:prstGeom>
          <a:solidFill>
            <a:srgbClr val="0000CC"/>
          </a:solidFill>
        </p:spPr>
        <p:txBody>
          <a:bodyPr wrap="square">
            <a:spAutoFit/>
          </a:bodyPr>
          <a:lstStyle/>
          <a:p>
            <a:r>
              <a:rPr lang="zh-CN" altLang="en-US" sz="1600" b="1" dirty="0">
                <a:solidFill>
                  <a:schemeClr val="bg1"/>
                </a:solidFill>
                <a:latin typeface="微软雅黑" pitchFamily="34" charset="-122"/>
                <a:ea typeface="微软雅黑" pitchFamily="34" charset="-122"/>
              </a:rPr>
              <a:t>通过帧间间隔判断帧的结束，不需要使用专门的帧结束定界符，也不需要使用字节插入来保证透明传输。</a:t>
            </a:r>
          </a:p>
        </p:txBody>
      </p:sp>
      <p:sp>
        <p:nvSpPr>
          <p:cNvPr id="63" name="AutoShape 5">
            <a:extLst>
              <a:ext uri="{FF2B5EF4-FFF2-40B4-BE49-F238E27FC236}">
                <a16:creationId xmlns:a16="http://schemas.microsoft.com/office/drawing/2014/main" id="{D5EB9CBB-E5FD-C747-7762-CA590E8B97B0}"/>
              </a:ext>
            </a:extLst>
          </p:cNvPr>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6">
            <a:extLst>
              <a:ext uri="{FF2B5EF4-FFF2-40B4-BE49-F238E27FC236}">
                <a16:creationId xmlns:a16="http://schemas.microsoft.com/office/drawing/2014/main" id="{1B1B5B3D-1CAE-3DF7-222B-771391DB78B7}"/>
              </a:ext>
            </a:extLst>
          </p:cNvPr>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
        <p:nvSpPr>
          <p:cNvPr id="2" name="Rectangle 33">
            <a:extLst>
              <a:ext uri="{FF2B5EF4-FFF2-40B4-BE49-F238E27FC236}">
                <a16:creationId xmlns:a16="http://schemas.microsoft.com/office/drawing/2014/main" id="{F2B9EA01-09F8-6EB8-5340-B78CDD1AB0B8}"/>
              </a:ext>
            </a:extLst>
          </p:cNvPr>
          <p:cNvSpPr>
            <a:spLocks noChangeArrowheads="1"/>
          </p:cNvSpPr>
          <p:nvPr/>
        </p:nvSpPr>
        <p:spPr bwMode="auto">
          <a:xfrm>
            <a:off x="3678121" y="3858723"/>
            <a:ext cx="71163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帧开始定界符</a:t>
            </a:r>
          </a:p>
        </p:txBody>
      </p:sp>
      <p:sp>
        <p:nvSpPr>
          <p:cNvPr id="3" name="Rectangle 32">
            <a:extLst>
              <a:ext uri="{FF2B5EF4-FFF2-40B4-BE49-F238E27FC236}">
                <a16:creationId xmlns:a16="http://schemas.microsoft.com/office/drawing/2014/main" id="{86518BAE-6FD5-DAD0-1594-6977E3A47B8F}"/>
              </a:ext>
            </a:extLst>
          </p:cNvPr>
          <p:cNvSpPr>
            <a:spLocks noChangeArrowheads="1"/>
          </p:cNvSpPr>
          <p:nvPr/>
        </p:nvSpPr>
        <p:spPr bwMode="auto">
          <a:xfrm>
            <a:off x="2155959" y="3930299"/>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Tree>
    <p:extLst>
      <p:ext uri="{BB962C8B-B14F-4D97-AF65-F5344CB8AC3E}">
        <p14:creationId xmlns:p14="http://schemas.microsoft.com/office/powerpoint/2010/main" val="168587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anim calcmode="lin" valueType="num">
                                      <p:cBhvr>
                                        <p:cTn id="8" dur="1000" fill="hold"/>
                                        <p:tgtEl>
                                          <p:spTgt spid="55"/>
                                        </p:tgtEl>
                                        <p:attrNameLst>
                                          <p:attrName>ppt_x</p:attrName>
                                        </p:attrNameLst>
                                      </p:cBhvr>
                                      <p:tavLst>
                                        <p:tav tm="0">
                                          <p:val>
                                            <p:strVal val="#ppt_x"/>
                                          </p:val>
                                        </p:tav>
                                        <p:tav tm="100000">
                                          <p:val>
                                            <p:strVal val="#ppt_x"/>
                                          </p:val>
                                        </p:tav>
                                      </p:tavLst>
                                    </p:anim>
                                    <p:anim calcmode="lin" valueType="num">
                                      <p:cBhvr>
                                        <p:cTn id="9"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16084" y="975393"/>
            <a:ext cx="7960988" cy="1740348"/>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帧的长度不是整数个字节；</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用收到的帧检验序列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查出有差错；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数据字段的长度不在 </a:t>
            </a:r>
            <a:r>
              <a:rPr lang="en-US" altLang="zh-CN" sz="2000" b="1" dirty="0">
                <a:latin typeface="微软雅黑" pitchFamily="34" charset="-122"/>
                <a:ea typeface="微软雅黑" pitchFamily="34" charset="-122"/>
              </a:rPr>
              <a:t>46 ~ 1500 </a:t>
            </a:r>
            <a:r>
              <a:rPr lang="zh-CN" altLang="en-US" sz="2000" b="1" dirty="0">
                <a:latin typeface="微软雅黑" pitchFamily="34" charset="-122"/>
                <a:ea typeface="微软雅黑" pitchFamily="34" charset="-122"/>
              </a:rPr>
              <a:t>字节之间，有效的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帧长度为 </a:t>
            </a:r>
            <a:r>
              <a:rPr lang="en-US" altLang="zh-CN" sz="2000" b="1" dirty="0">
                <a:latin typeface="微软雅黑" pitchFamily="34" charset="-122"/>
                <a:ea typeface="微软雅黑" pitchFamily="34" charset="-122"/>
              </a:rPr>
              <a:t>64 ~ 1518 </a:t>
            </a:r>
            <a:r>
              <a:rPr lang="zh-CN" altLang="en-US" sz="2000" b="1" dirty="0">
                <a:latin typeface="微软雅黑" pitchFamily="34" charset="-122"/>
                <a:ea typeface="微软雅黑" pitchFamily="34" charset="-122"/>
              </a:rPr>
              <a:t>字节之间。</a:t>
            </a:r>
          </a:p>
        </p:txBody>
      </p:sp>
      <p:grpSp>
        <p:nvGrpSpPr>
          <p:cNvPr id="2" name="组合 1">
            <a:extLst>
              <a:ext uri="{FF2B5EF4-FFF2-40B4-BE49-F238E27FC236}">
                <a16:creationId xmlns:a16="http://schemas.microsoft.com/office/drawing/2014/main" id="{726149F3-82D8-69F6-035F-FC06263A645B}"/>
              </a:ext>
            </a:extLst>
          </p:cNvPr>
          <p:cNvGrpSpPr/>
          <p:nvPr/>
        </p:nvGrpSpPr>
        <p:grpSpPr>
          <a:xfrm>
            <a:off x="1343937" y="2960370"/>
            <a:ext cx="6027189" cy="1150185"/>
            <a:chOff x="985059" y="3183690"/>
            <a:chExt cx="6027189" cy="1150185"/>
          </a:xfrm>
        </p:grpSpPr>
        <p:sp>
          <p:nvSpPr>
            <p:cNvPr id="8" name="对角圆角矩形 7"/>
            <p:cNvSpPr/>
            <p:nvPr/>
          </p:nvSpPr>
          <p:spPr>
            <a:xfrm>
              <a:off x="985059" y="3183690"/>
              <a:ext cx="6027189" cy="115018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238339" y="3324765"/>
              <a:ext cx="5523346" cy="826637"/>
            </a:xfrm>
            <a:prstGeom prst="rect">
              <a:avLst/>
            </a:prstGeom>
          </p:spPr>
          <p:txBody>
            <a:bodyPr wrap="square">
              <a:spAutoFit/>
            </a:bodyPr>
            <a:lstStyle/>
            <a:p>
              <a:pPr marL="285750" indent="-28575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对于检查出的无效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帧就简单地</a:t>
              </a:r>
              <a:r>
                <a:rPr lang="zh-CN" altLang="en-US" sz="2000" b="1" dirty="0">
                  <a:solidFill>
                    <a:srgbClr val="FFFF00"/>
                  </a:solidFill>
                  <a:latin typeface="微软雅黑" pitchFamily="34" charset="-122"/>
                  <a:ea typeface="微软雅黑" pitchFamily="34" charset="-122"/>
                </a:rPr>
                <a:t>丢弃。</a:t>
              </a:r>
              <a:endParaRPr lang="en-US" altLang="zh-CN" sz="2000" b="1" dirty="0">
                <a:solidFill>
                  <a:srgbClr val="FFFF00"/>
                </a:solidFill>
                <a:latin typeface="微软雅黑" pitchFamily="34" charset="-122"/>
                <a:ea typeface="微软雅黑" pitchFamily="34" charset="-122"/>
              </a:endParaRPr>
            </a:p>
            <a:p>
              <a:pPr marL="285750" indent="-28575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a:t>
              </a:r>
              <a:r>
                <a:rPr lang="zh-CN" altLang="en-US" sz="2000" b="1" dirty="0">
                  <a:solidFill>
                    <a:srgbClr val="FFFF00"/>
                  </a:solidFill>
                  <a:latin typeface="微软雅黑" pitchFamily="34" charset="-122"/>
                  <a:ea typeface="微软雅黑" pitchFamily="34" charset="-122"/>
                </a:rPr>
                <a:t>不负责重传</a:t>
              </a:r>
              <a:r>
                <a:rPr lang="zh-CN" altLang="en-US" sz="2000" b="1" dirty="0">
                  <a:solidFill>
                    <a:schemeClr val="bg1"/>
                  </a:solidFill>
                  <a:latin typeface="微软雅黑" pitchFamily="34" charset="-122"/>
                  <a:ea typeface="微软雅黑" pitchFamily="34" charset="-122"/>
                </a:rPr>
                <a:t>丢弃的帧。 </a:t>
              </a:r>
            </a:p>
          </p:txBody>
        </p:sp>
      </p:grpSp>
      <p:sp>
        <p:nvSpPr>
          <p:cNvPr id="10"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3533425" y="585940"/>
            <a:ext cx="20672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无效的 </a:t>
            </a:r>
            <a:r>
              <a:rPr lang="en-US" altLang="zh-CN" sz="2000" b="1" dirty="0">
                <a:solidFill>
                  <a:srgbClr val="FFFF00"/>
                </a:solidFill>
                <a:latin typeface="微软雅黑" pitchFamily="34" charset="-122"/>
                <a:ea typeface="微软雅黑" pitchFamily="34" charset="-122"/>
              </a:rPr>
              <a:t>MAC </a:t>
            </a:r>
            <a:r>
              <a:rPr lang="zh-CN" altLang="en-US" sz="2000" b="1" dirty="0">
                <a:solidFill>
                  <a:srgbClr val="FFFF00"/>
                </a:solidFill>
                <a:latin typeface="微软雅黑" pitchFamily="34" charset="-122"/>
                <a:ea typeface="微软雅黑" pitchFamily="34" charset="-122"/>
              </a:rPr>
              <a:t>帧 </a:t>
            </a:r>
          </a:p>
        </p:txBody>
      </p:sp>
    </p:spTree>
    <p:extLst>
      <p:ext uri="{BB962C8B-B14F-4D97-AF65-F5344CB8AC3E}">
        <p14:creationId xmlns:p14="http://schemas.microsoft.com/office/powerpoint/2010/main" val="336110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02921" y="62565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1517295" y="602566"/>
            <a:ext cx="60995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IEEE 802.3 MAC </a:t>
            </a:r>
            <a:r>
              <a:rPr lang="zh-CN" altLang="en-US" sz="2000" b="1" dirty="0">
                <a:solidFill>
                  <a:schemeClr val="bg1"/>
                </a:solidFill>
                <a:latin typeface="微软雅黑" pitchFamily="34" charset="-122"/>
                <a:ea typeface="微软雅黑" pitchFamily="34" charset="-122"/>
              </a:rPr>
              <a:t>与以太网 </a:t>
            </a:r>
            <a:r>
              <a:rPr lang="en-US" altLang="zh-CN" sz="2000" b="1" dirty="0">
                <a:solidFill>
                  <a:schemeClr val="bg1"/>
                </a:solidFill>
                <a:latin typeface="微软雅黑" pitchFamily="34" charset="-122"/>
                <a:ea typeface="微软雅黑" pitchFamily="34" charset="-122"/>
              </a:rPr>
              <a:t>V2 MAC </a:t>
            </a:r>
            <a:r>
              <a:rPr lang="zh-CN" altLang="en-US" sz="2000" b="1" dirty="0">
                <a:solidFill>
                  <a:schemeClr val="bg1"/>
                </a:solidFill>
                <a:latin typeface="微软雅黑" pitchFamily="34" charset="-122"/>
                <a:ea typeface="微软雅黑" pitchFamily="34" charset="-122"/>
              </a:rPr>
              <a:t>帧格式的区别</a:t>
            </a:r>
          </a:p>
        </p:txBody>
      </p:sp>
      <p:grpSp>
        <p:nvGrpSpPr>
          <p:cNvPr id="3" name="组合 2">
            <a:extLst>
              <a:ext uri="{FF2B5EF4-FFF2-40B4-BE49-F238E27FC236}">
                <a16:creationId xmlns:a16="http://schemas.microsoft.com/office/drawing/2014/main" id="{8B7BF668-6DB7-6E00-9CA1-8BCF811CBAAF}"/>
              </a:ext>
            </a:extLst>
          </p:cNvPr>
          <p:cNvGrpSpPr/>
          <p:nvPr/>
        </p:nvGrpSpPr>
        <p:grpSpPr>
          <a:xfrm>
            <a:off x="1422479" y="3879164"/>
            <a:ext cx="6428450" cy="890731"/>
            <a:chOff x="1037844" y="3387552"/>
            <a:chExt cx="7160935" cy="890731"/>
          </a:xfrm>
        </p:grpSpPr>
        <p:sp>
          <p:nvSpPr>
            <p:cNvPr id="12" name="对角圆角矩形 11"/>
            <p:cNvSpPr/>
            <p:nvPr/>
          </p:nvSpPr>
          <p:spPr>
            <a:xfrm>
              <a:off x="1037844" y="3387552"/>
              <a:ext cx="7160935" cy="89073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476756" y="3481614"/>
              <a:ext cx="6561854" cy="707886"/>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现在市场上流行的都是以太网 </a:t>
              </a:r>
              <a:r>
                <a:rPr lang="en-US" altLang="zh-CN" b="1" dirty="0">
                  <a:solidFill>
                    <a:schemeClr val="bg1"/>
                  </a:solidFill>
                  <a:latin typeface="微软雅黑" pitchFamily="34" charset="-122"/>
                  <a:ea typeface="微软雅黑" pitchFamily="34" charset="-122"/>
                </a:rPr>
                <a:t>V2 </a:t>
              </a:r>
              <a:r>
                <a:rPr lang="zh-CN" altLang="en-US" b="1" dirty="0">
                  <a:solidFill>
                    <a:schemeClr val="bg1"/>
                  </a:solidFill>
                  <a:latin typeface="微软雅黑" pitchFamily="34" charset="-122"/>
                  <a:ea typeface="微软雅黑" pitchFamily="34" charset="-122"/>
                </a:rPr>
                <a:t>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帧，但大家也常常把它称为 </a:t>
              </a:r>
              <a:r>
                <a:rPr lang="en-US" altLang="zh-CN" b="1" dirty="0">
                  <a:solidFill>
                    <a:schemeClr val="bg1"/>
                  </a:solidFill>
                  <a:latin typeface="微软雅黑" pitchFamily="34" charset="-122"/>
                  <a:ea typeface="微软雅黑" pitchFamily="34" charset="-122"/>
                </a:rPr>
                <a:t>IEEE 802.3 </a:t>
              </a:r>
              <a:r>
                <a:rPr lang="zh-CN" altLang="en-US" b="1" dirty="0">
                  <a:solidFill>
                    <a:schemeClr val="bg1"/>
                  </a:solidFill>
                  <a:latin typeface="微软雅黑" pitchFamily="34" charset="-122"/>
                  <a:ea typeface="微软雅黑" pitchFamily="34" charset="-122"/>
                </a:rPr>
                <a:t>标准的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a:t>
              </a:r>
            </a:p>
          </p:txBody>
        </p:sp>
      </p:grpSp>
      <p:sp>
        <p:nvSpPr>
          <p:cNvPr id="8" name="Rectangle 66"/>
          <p:cNvSpPr>
            <a:spLocks noChangeArrowheads="1"/>
          </p:cNvSpPr>
          <p:nvPr/>
        </p:nvSpPr>
        <p:spPr bwMode="auto">
          <a:xfrm>
            <a:off x="2847472" y="1370326"/>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Line 67"/>
          <p:cNvSpPr>
            <a:spLocks noChangeShapeType="1"/>
          </p:cNvSpPr>
          <p:nvPr/>
        </p:nvSpPr>
        <p:spPr bwMode="auto">
          <a:xfrm>
            <a:off x="3539420"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0"/>
          <p:cNvSpPr>
            <a:spLocks noChangeShapeType="1"/>
          </p:cNvSpPr>
          <p:nvPr/>
        </p:nvSpPr>
        <p:spPr bwMode="auto">
          <a:xfrm>
            <a:off x="7204748"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71"/>
          <p:cNvSpPr>
            <a:spLocks noChangeArrowheads="1"/>
          </p:cNvSpPr>
          <p:nvPr/>
        </p:nvSpPr>
        <p:spPr bwMode="auto">
          <a:xfrm>
            <a:off x="2795782" y="1401774"/>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18" name="Rectangle 72"/>
          <p:cNvSpPr>
            <a:spLocks noChangeArrowheads="1"/>
          </p:cNvSpPr>
          <p:nvPr/>
        </p:nvSpPr>
        <p:spPr bwMode="auto">
          <a:xfrm>
            <a:off x="3578345" y="140177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0" name="Rectangle 74"/>
          <p:cNvSpPr>
            <a:spLocks noChangeArrowheads="1"/>
          </p:cNvSpPr>
          <p:nvPr/>
        </p:nvSpPr>
        <p:spPr bwMode="auto">
          <a:xfrm>
            <a:off x="5631397" y="1401774"/>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21" name="Rectangle 75"/>
          <p:cNvSpPr>
            <a:spLocks noChangeArrowheads="1"/>
          </p:cNvSpPr>
          <p:nvPr/>
        </p:nvSpPr>
        <p:spPr bwMode="auto">
          <a:xfrm>
            <a:off x="7164806" y="1401774"/>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2" name="Rectangle 76"/>
          <p:cNvSpPr>
            <a:spLocks noChangeArrowheads="1"/>
          </p:cNvSpPr>
          <p:nvPr/>
        </p:nvSpPr>
        <p:spPr bwMode="auto">
          <a:xfrm>
            <a:off x="3077319"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3" name="Rectangle 77"/>
          <p:cNvSpPr>
            <a:spLocks noChangeArrowheads="1"/>
          </p:cNvSpPr>
          <p:nvPr/>
        </p:nvSpPr>
        <p:spPr bwMode="auto">
          <a:xfrm>
            <a:off x="3774728"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4" name="Rectangle 78"/>
          <p:cNvSpPr>
            <a:spLocks noChangeArrowheads="1"/>
          </p:cNvSpPr>
          <p:nvPr/>
        </p:nvSpPr>
        <p:spPr bwMode="auto">
          <a:xfrm>
            <a:off x="44980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25" name="Rectangle 79"/>
          <p:cNvSpPr>
            <a:spLocks noChangeArrowheads="1"/>
          </p:cNvSpPr>
          <p:nvPr/>
        </p:nvSpPr>
        <p:spPr bwMode="auto">
          <a:xfrm>
            <a:off x="72588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27" name="Text Box 81"/>
          <p:cNvSpPr txBox="1">
            <a:spLocks noChangeArrowheads="1"/>
          </p:cNvSpPr>
          <p:nvPr/>
        </p:nvSpPr>
        <p:spPr bwMode="auto">
          <a:xfrm>
            <a:off x="6140393" y="1124113"/>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28" name="Rectangle 66"/>
          <p:cNvSpPr>
            <a:spLocks noChangeArrowheads="1"/>
          </p:cNvSpPr>
          <p:nvPr/>
        </p:nvSpPr>
        <p:spPr bwMode="auto">
          <a:xfrm>
            <a:off x="2847472" y="1856261"/>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67"/>
          <p:cNvSpPr>
            <a:spLocks noChangeShapeType="1"/>
          </p:cNvSpPr>
          <p:nvPr/>
        </p:nvSpPr>
        <p:spPr bwMode="auto">
          <a:xfrm>
            <a:off x="3539420"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70"/>
          <p:cNvSpPr>
            <a:spLocks noChangeShapeType="1"/>
          </p:cNvSpPr>
          <p:nvPr/>
        </p:nvSpPr>
        <p:spPr bwMode="auto">
          <a:xfrm>
            <a:off x="7204748"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71"/>
          <p:cNvSpPr>
            <a:spLocks noChangeArrowheads="1"/>
          </p:cNvSpPr>
          <p:nvPr/>
        </p:nvSpPr>
        <p:spPr bwMode="auto">
          <a:xfrm>
            <a:off x="2795782" y="1887709"/>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4" name="Rectangle 72"/>
          <p:cNvSpPr>
            <a:spLocks noChangeArrowheads="1"/>
          </p:cNvSpPr>
          <p:nvPr/>
        </p:nvSpPr>
        <p:spPr bwMode="auto">
          <a:xfrm>
            <a:off x="3578345" y="1887709"/>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6" name="Rectangle 74"/>
          <p:cNvSpPr>
            <a:spLocks noChangeArrowheads="1"/>
          </p:cNvSpPr>
          <p:nvPr/>
        </p:nvSpPr>
        <p:spPr bwMode="auto">
          <a:xfrm>
            <a:off x="5631397" y="1887709"/>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7" name="Rectangle 75"/>
          <p:cNvSpPr>
            <a:spLocks noChangeArrowheads="1"/>
          </p:cNvSpPr>
          <p:nvPr/>
        </p:nvSpPr>
        <p:spPr bwMode="auto">
          <a:xfrm>
            <a:off x="7164806" y="1887709"/>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 name="矩形 1"/>
          <p:cNvSpPr/>
          <p:nvPr/>
        </p:nvSpPr>
        <p:spPr>
          <a:xfrm>
            <a:off x="4206676" y="1862691"/>
            <a:ext cx="760087" cy="299452"/>
          </a:xfrm>
          <a:prstGeom prst="rect">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ctangle 73"/>
          <p:cNvSpPr>
            <a:spLocks noChangeArrowheads="1"/>
          </p:cNvSpPr>
          <p:nvPr/>
        </p:nvSpPr>
        <p:spPr bwMode="auto">
          <a:xfrm>
            <a:off x="4155598" y="1881582"/>
            <a:ext cx="91014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长度</a:t>
            </a:r>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类型</a:t>
            </a:r>
          </a:p>
        </p:txBody>
      </p:sp>
      <p:sp>
        <p:nvSpPr>
          <p:cNvPr id="4" name="矩形 3"/>
          <p:cNvSpPr/>
          <p:nvPr/>
        </p:nvSpPr>
        <p:spPr>
          <a:xfrm>
            <a:off x="537470" y="1843369"/>
            <a:ext cx="2223173" cy="369332"/>
          </a:xfrm>
          <a:prstGeom prst="rect">
            <a:avLst/>
          </a:prstGeom>
        </p:spPr>
        <p:txBody>
          <a:bodyPr wrap="none">
            <a:spAutoFit/>
          </a:bodyPr>
          <a:lstStyle/>
          <a:p>
            <a:pPr algn="r"/>
            <a:r>
              <a:rPr lang="en-US" altLang="zh-CN" b="1" dirty="0">
                <a:solidFill>
                  <a:srgbClr val="0000FF"/>
                </a:solidFill>
                <a:latin typeface="微软雅黑" panose="020B0503020204020204" pitchFamily="34" charset="-122"/>
                <a:ea typeface="微软雅黑" panose="020B0503020204020204" pitchFamily="34" charset="-122"/>
              </a:rPr>
              <a:t>IEEE 802.3 MAC</a:t>
            </a:r>
            <a:r>
              <a:rPr lang="zh-CN" altLang="en-US" b="1" dirty="0">
                <a:solidFill>
                  <a:srgbClr val="0000FF"/>
                </a:solidFill>
                <a:latin typeface="微软雅黑" panose="020B0503020204020204" pitchFamily="34" charset="-122"/>
                <a:ea typeface="微软雅黑" panose="020B0503020204020204" pitchFamily="34" charset="-122"/>
              </a:rPr>
              <a:t>帧</a:t>
            </a:r>
          </a:p>
        </p:txBody>
      </p:sp>
      <p:sp>
        <p:nvSpPr>
          <p:cNvPr id="5" name="矩形 4"/>
          <p:cNvSpPr/>
          <p:nvPr/>
        </p:nvSpPr>
        <p:spPr>
          <a:xfrm>
            <a:off x="1337368" y="1363561"/>
            <a:ext cx="1423275" cy="369332"/>
          </a:xfrm>
          <a:prstGeom prst="rect">
            <a:avLst/>
          </a:prstGeom>
        </p:spPr>
        <p:txBody>
          <a:bodyPr wrap="none">
            <a:spAutoFit/>
          </a:bodyPr>
          <a:lstStyle/>
          <a:p>
            <a:pPr algn="r"/>
            <a:r>
              <a:rPr lang="en-US" altLang="zh-CN" b="1" dirty="0">
                <a:latin typeface="微软雅黑" panose="020B0503020204020204" pitchFamily="34" charset="-122"/>
                <a:ea typeface="微软雅黑" panose="020B0503020204020204" pitchFamily="34" charset="-122"/>
              </a:rPr>
              <a:t>V2 MAC </a:t>
            </a:r>
            <a:r>
              <a:rPr lang="zh-CN" altLang="en-US" b="1" dirty="0">
                <a:latin typeface="微软雅黑" panose="020B0503020204020204" pitchFamily="34" charset="-122"/>
                <a:ea typeface="微软雅黑" panose="020B0503020204020204" pitchFamily="34" charset="-122"/>
              </a:rPr>
              <a:t>帧</a:t>
            </a:r>
          </a:p>
        </p:txBody>
      </p:sp>
      <p:sp>
        <p:nvSpPr>
          <p:cNvPr id="6" name="矩形 5"/>
          <p:cNvSpPr/>
          <p:nvPr/>
        </p:nvSpPr>
        <p:spPr>
          <a:xfrm>
            <a:off x="830394" y="2331128"/>
            <a:ext cx="7992468" cy="1481303"/>
          </a:xfrm>
          <a:prstGeom prst="rect">
            <a:avLst/>
          </a:prstGeom>
        </p:spPr>
        <p:txBody>
          <a:bodyPr wrap="square">
            <a:spAutoFit/>
          </a:bodyPr>
          <a:lstStyle/>
          <a:p>
            <a:pPr marL="285750" indent="-285750">
              <a:lnSpc>
                <a:spcPts val="2200"/>
              </a:lnSpc>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当“长度</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类型”字段值</a:t>
            </a:r>
            <a:r>
              <a:rPr lang="zh-CN" altLang="en-US" sz="1600" b="1" dirty="0">
                <a:solidFill>
                  <a:srgbClr val="C00000"/>
                </a:solidFill>
                <a:latin typeface="微软雅黑" panose="020B0503020204020204" pitchFamily="34" charset="-122"/>
                <a:ea typeface="微软雅黑" panose="020B0503020204020204" pitchFamily="34" charset="-122"/>
              </a:rPr>
              <a:t>大于</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0x0600 </a:t>
            </a:r>
            <a:r>
              <a:rPr lang="zh-CN" altLang="en-US" sz="1600" b="1" dirty="0">
                <a:latin typeface="微软雅黑" panose="020B0503020204020204" pitchFamily="34" charset="-122"/>
                <a:ea typeface="微软雅黑" panose="020B0503020204020204" pitchFamily="34" charset="-122"/>
              </a:rPr>
              <a:t>时，表示“类型”；</a:t>
            </a:r>
            <a:r>
              <a:rPr lang="zh-CN" altLang="en-US" sz="1600" b="1" dirty="0">
                <a:solidFill>
                  <a:srgbClr val="C00000"/>
                </a:solidFill>
                <a:latin typeface="微软雅黑" panose="020B0503020204020204" pitchFamily="34" charset="-122"/>
                <a:ea typeface="微软雅黑" panose="020B0503020204020204" pitchFamily="34" charset="-122"/>
              </a:rPr>
              <a:t>小于</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0x0600 </a:t>
            </a:r>
            <a:r>
              <a:rPr lang="zh-CN" altLang="en-US" sz="1600" b="1" dirty="0">
                <a:latin typeface="微软雅黑" panose="020B0503020204020204" pitchFamily="34" charset="-122"/>
                <a:ea typeface="微软雅黑" panose="020B0503020204020204" pitchFamily="34" charset="-122"/>
              </a:rPr>
              <a:t>时，表示“长度”。</a:t>
            </a:r>
          </a:p>
          <a:p>
            <a:pPr marL="285750" indent="-285750">
              <a:lnSpc>
                <a:spcPts val="2200"/>
              </a:lnSpc>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当“长度</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类型”字段值</a:t>
            </a:r>
            <a:r>
              <a:rPr lang="zh-CN" altLang="en-US" sz="1600" b="1" dirty="0">
                <a:solidFill>
                  <a:srgbClr val="C00000"/>
                </a:solidFill>
                <a:latin typeface="微软雅黑" panose="020B0503020204020204" pitchFamily="34" charset="-122"/>
                <a:ea typeface="微软雅黑" panose="020B0503020204020204" pitchFamily="34" charset="-122"/>
              </a:rPr>
              <a:t>小于</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0x0600 </a:t>
            </a:r>
            <a:r>
              <a:rPr lang="zh-CN" altLang="en-US" sz="1600" b="1" dirty="0">
                <a:latin typeface="微软雅黑" panose="020B0503020204020204" pitchFamily="34" charset="-122"/>
                <a:ea typeface="微软雅黑" panose="020B0503020204020204" pitchFamily="34" charset="-122"/>
              </a:rPr>
              <a:t>时，数据字段必须</a:t>
            </a:r>
            <a:r>
              <a:rPr lang="zh-CN" altLang="en-US" sz="1600" b="1" dirty="0">
                <a:solidFill>
                  <a:srgbClr val="C00000"/>
                </a:solidFill>
                <a:latin typeface="微软雅黑" panose="020B0503020204020204" pitchFamily="34" charset="-122"/>
                <a:ea typeface="微软雅黑" panose="020B0503020204020204" pitchFamily="34" charset="-122"/>
              </a:rPr>
              <a:t>装入</a:t>
            </a:r>
            <a:r>
              <a:rPr lang="zh-CN" altLang="en-US" sz="1600" b="1" dirty="0">
                <a:latin typeface="微软雅黑" panose="020B0503020204020204" pitchFamily="34" charset="-122"/>
                <a:ea typeface="微软雅黑" panose="020B0503020204020204" pitchFamily="34" charset="-122"/>
              </a:rPr>
              <a:t>逻辑链路控制 </a:t>
            </a:r>
            <a:r>
              <a:rPr lang="en-US" altLang="zh-CN" sz="1600" b="1" dirty="0">
                <a:latin typeface="微软雅黑" panose="020B0503020204020204" pitchFamily="34" charset="-122"/>
                <a:ea typeface="微软雅黑" panose="020B0503020204020204" pitchFamily="34" charset="-122"/>
              </a:rPr>
              <a:t>LLC </a:t>
            </a:r>
            <a:r>
              <a:rPr lang="zh-CN" altLang="en-US" sz="1600" b="1" dirty="0">
                <a:latin typeface="微软雅黑" panose="020B0503020204020204" pitchFamily="34" charset="-122"/>
                <a:ea typeface="微软雅黑" panose="020B0503020204020204" pitchFamily="34" charset="-122"/>
              </a:rPr>
              <a:t>子层的 </a:t>
            </a:r>
            <a:r>
              <a:rPr lang="en-US" altLang="zh-CN" sz="1600" b="1" dirty="0">
                <a:solidFill>
                  <a:srgbClr val="C00000"/>
                </a:solidFill>
                <a:latin typeface="微软雅黑" panose="020B0503020204020204" pitchFamily="34" charset="-122"/>
                <a:ea typeface="微软雅黑" panose="020B0503020204020204" pitchFamily="34" charset="-122"/>
              </a:rPr>
              <a:t>LLC </a:t>
            </a:r>
            <a:r>
              <a:rPr lang="zh-CN" altLang="en-US" sz="1600" b="1" dirty="0">
                <a:solidFill>
                  <a:srgbClr val="C00000"/>
                </a:solidFill>
                <a:latin typeface="微软雅黑" panose="020B0503020204020204" pitchFamily="34" charset="-122"/>
                <a:ea typeface="微软雅黑" panose="020B0503020204020204" pitchFamily="34" charset="-122"/>
              </a:rPr>
              <a:t>帧。</a:t>
            </a:r>
          </a:p>
          <a:p>
            <a:pPr marL="285750" indent="-285750">
              <a:lnSpc>
                <a:spcPts val="2200"/>
              </a:lnSpc>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在 </a:t>
            </a:r>
            <a:r>
              <a:rPr lang="en-US" altLang="zh-CN" sz="1600" b="1" dirty="0">
                <a:latin typeface="微软雅黑" panose="020B0503020204020204" pitchFamily="34" charset="-122"/>
                <a:ea typeface="微软雅黑" panose="020B0503020204020204" pitchFamily="34" charset="-122"/>
              </a:rPr>
              <a:t>802.3 </a:t>
            </a:r>
            <a:r>
              <a:rPr lang="zh-CN" altLang="en-US" sz="1600" b="1" dirty="0">
                <a:latin typeface="微软雅黑" panose="020B0503020204020204" pitchFamily="34" charset="-122"/>
                <a:ea typeface="微软雅黑" panose="020B0503020204020204" pitchFamily="34" charset="-122"/>
              </a:rPr>
              <a:t>标准的文档中，</a:t>
            </a:r>
            <a:r>
              <a:rPr lang="en-US" altLang="zh-CN" sz="1600" b="1" dirty="0">
                <a:latin typeface="微软雅黑" panose="020B0503020204020204" pitchFamily="34" charset="-122"/>
                <a:ea typeface="微软雅黑" panose="020B0503020204020204" pitchFamily="34" charset="-122"/>
              </a:rPr>
              <a:t>MAC </a:t>
            </a:r>
            <a:r>
              <a:rPr lang="zh-CN" altLang="en-US" sz="1600" b="1" dirty="0">
                <a:latin typeface="微软雅黑" panose="020B0503020204020204" pitchFamily="34" charset="-122"/>
                <a:ea typeface="微软雅黑" panose="020B0503020204020204" pitchFamily="34" charset="-122"/>
              </a:rPr>
              <a:t>帧格式包括了 </a:t>
            </a:r>
            <a:r>
              <a:rPr lang="en-US" altLang="zh-CN" sz="1600" b="1" dirty="0">
                <a:latin typeface="微软雅黑" panose="020B0503020204020204" pitchFamily="34" charset="-122"/>
                <a:ea typeface="微软雅黑" panose="020B0503020204020204" pitchFamily="34" charset="-122"/>
              </a:rPr>
              <a:t>8 </a:t>
            </a:r>
            <a:r>
              <a:rPr lang="zh-CN" altLang="en-US" sz="1600" b="1" dirty="0">
                <a:latin typeface="微软雅黑" panose="020B0503020204020204" pitchFamily="34" charset="-122"/>
                <a:ea typeface="微软雅黑" panose="020B0503020204020204" pitchFamily="34" charset="-122"/>
              </a:rPr>
              <a:t>字节的前同步码和帧开始定界符。</a:t>
            </a:r>
          </a:p>
        </p:txBody>
      </p:sp>
      <p:sp>
        <p:nvSpPr>
          <p:cNvPr id="38" name="矩形 37"/>
          <p:cNvSpPr/>
          <p:nvPr/>
        </p:nvSpPr>
        <p:spPr>
          <a:xfrm>
            <a:off x="4206676" y="1372453"/>
            <a:ext cx="760087" cy="299452"/>
          </a:xfrm>
          <a:prstGeom prst="rect">
            <a:avLst/>
          </a:prstGeom>
          <a:solidFill>
            <a:srgbClr val="00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73"/>
          <p:cNvSpPr>
            <a:spLocks noChangeArrowheads="1"/>
          </p:cNvSpPr>
          <p:nvPr/>
        </p:nvSpPr>
        <p:spPr bwMode="auto">
          <a:xfrm>
            <a:off x="4336108" y="140074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Tree>
    <p:extLst>
      <p:ext uri="{BB962C8B-B14F-4D97-AF65-F5344CB8AC3E}">
        <p14:creationId xmlns:p14="http://schemas.microsoft.com/office/powerpoint/2010/main" val="226955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1000"/>
                                        <p:tgtEl>
                                          <p:spTgt spid="6">
                                            <p:txEl>
                                              <p:pRg st="0" end="0"/>
                                            </p:txEl>
                                          </p:spTgt>
                                        </p:tgtEl>
                                      </p:cBhvr>
                                    </p:animEffect>
                                    <p:anim calcmode="lin" valueType="num">
                                      <p:cBhvr>
                                        <p:cTn id="1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fade">
                                      <p:cBhvr>
                                        <p:cTn id="18" dur="1000"/>
                                        <p:tgtEl>
                                          <p:spTgt spid="6">
                                            <p:txEl>
                                              <p:pRg st="1" end="1"/>
                                            </p:txEl>
                                          </p:spTgt>
                                        </p:tgtEl>
                                      </p:cBhvr>
                                    </p:animEffect>
                                    <p:anim calcmode="lin" valueType="num">
                                      <p:cBhvr>
                                        <p:cTn id="19"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1000"/>
                                        <p:tgtEl>
                                          <p:spTgt spid="6">
                                            <p:txEl>
                                              <p:pRg st="2" end="2"/>
                                            </p:txEl>
                                          </p:spTgt>
                                        </p:tgtEl>
                                      </p:cBhvr>
                                    </p:animEffect>
                                    <p:anim calcmode="lin" valueType="num">
                                      <p:cBhvr>
                                        <p:cTn id="26"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0251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6316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 name="Rectangle 27"/>
          <p:cNvSpPr>
            <a:spLocks noChangeArrowheads="1"/>
          </p:cNvSpPr>
          <p:nvPr/>
        </p:nvSpPr>
        <p:spPr bwMode="auto">
          <a:xfrm>
            <a:off x="639730" y="10251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12012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a:t>
            </a:r>
            <a:r>
              <a:rPr lang="en-US" altLang="zh-CN" sz="2000" b="1" dirty="0">
                <a:solidFill>
                  <a:srgbClr val="FFFF00"/>
                </a:solidFill>
                <a:latin typeface="微软雅黑" pitchFamily="34" charset="-122"/>
                <a:ea typeface="微软雅黑" pitchFamily="34" charset="-122"/>
              </a:rPr>
              <a:t>4</a:t>
            </a:r>
            <a:endParaRPr lang="fr-FR" altLang="zh-CN" sz="2000" b="1" dirty="0">
              <a:solidFill>
                <a:srgbClr val="FFFF00"/>
              </a:solidFill>
              <a:latin typeface="微软雅黑" pitchFamily="34" charset="-122"/>
              <a:ea typeface="微软雅黑" pitchFamily="34" charset="-122"/>
            </a:endParaRPr>
          </a:p>
          <a:p>
            <a:pPr eaLnBrk="0" hangingPunct="0"/>
            <a:r>
              <a:rPr lang="zh-CN" altLang="en-US" sz="2000" b="1" dirty="0">
                <a:solidFill>
                  <a:schemeClr val="bg1"/>
                </a:solidFill>
                <a:latin typeface="微软雅黑" pitchFamily="34" charset="-122"/>
                <a:ea typeface="微软雅黑" pitchFamily="34" charset="-122"/>
              </a:rPr>
              <a:t>以太网演变成星形网</a:t>
            </a:r>
            <a:endParaRPr lang="zh-CN" altLang="fr-FR" sz="2000" b="1" dirty="0">
              <a:solidFill>
                <a:schemeClr val="bg1"/>
              </a:solidFill>
              <a:latin typeface="微软雅黑" pitchFamily="34" charset="-122"/>
              <a:ea typeface="微软雅黑" pitchFamily="34" charset="-122"/>
            </a:endParaRPr>
          </a:p>
        </p:txBody>
      </p:sp>
      <p:sp>
        <p:nvSpPr>
          <p:cNvPr id="2" name="Rectangle 9">
            <a:extLst>
              <a:ext uri="{FF2B5EF4-FFF2-40B4-BE49-F238E27FC236}">
                <a16:creationId xmlns:a16="http://schemas.microsoft.com/office/drawing/2014/main" id="{65E3D310-5ABE-0F44-B39F-2756C407E6C8}"/>
              </a:ext>
            </a:extLst>
          </p:cNvPr>
          <p:cNvSpPr>
            <a:spLocks noChangeArrowheads="1"/>
          </p:cNvSpPr>
          <p:nvPr/>
        </p:nvSpPr>
        <p:spPr bwMode="auto">
          <a:xfrm>
            <a:off x="2619140" y="224851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4" name="Rectangle 8"/>
          <p:cNvSpPr>
            <a:spLocks noChangeArrowheads="1"/>
          </p:cNvSpPr>
          <p:nvPr/>
        </p:nvSpPr>
        <p:spPr bwMode="auto">
          <a:xfrm>
            <a:off x="2700573" y="771192"/>
            <a:ext cx="5621391"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3.4.1                          </a:t>
            </a:r>
            <a:r>
              <a:rPr lang="zh-CN" altLang="en-US" sz="2000" b="1" dirty="0">
                <a:solidFill>
                  <a:schemeClr val="bg1"/>
                </a:solidFill>
                <a:latin typeface="微软雅黑" pitchFamily="34" charset="-122"/>
                <a:ea typeface="微软雅黑" pitchFamily="34" charset="-122"/>
              </a:rPr>
              <a:t>从集线器到以太网交换机</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3.4.2                       </a:t>
            </a:r>
            <a:r>
              <a:rPr lang="zh-CN" altLang="en-US" sz="2000" b="1" dirty="0">
                <a:solidFill>
                  <a:schemeClr val="bg1"/>
                </a:solidFill>
                <a:latin typeface="微软雅黑" pitchFamily="34" charset="-122"/>
                <a:ea typeface="微软雅黑" pitchFamily="34" charset="-122"/>
              </a:rPr>
              <a:t>以太网交换机的自学习功能</a:t>
            </a:r>
            <a:endParaRPr lang="en-US" altLang="zh-CN" sz="2000" b="1" dirty="0">
              <a:solidFill>
                <a:schemeClr val="bg1"/>
              </a:solidFill>
              <a:latin typeface="微软雅黑" pitchFamily="34" charset="-122"/>
              <a:ea typeface="微软雅黑" pitchFamily="34" charset="-122"/>
            </a:endParaRPr>
          </a:p>
          <a:p>
            <a:pPr algn="just" eaLnBrk="0" hangingPunct="0">
              <a:lnSpc>
                <a:spcPct val="200000"/>
              </a:lnSpc>
            </a:pPr>
            <a:r>
              <a:rPr lang="en-US" altLang="zh-CN" sz="2000" b="1" dirty="0">
                <a:solidFill>
                  <a:schemeClr val="bg1"/>
                </a:solidFill>
                <a:latin typeface="微软雅黑" pitchFamily="34" charset="-122"/>
                <a:ea typeface="微软雅黑" pitchFamily="34" charset="-122"/>
              </a:rPr>
              <a:t>3.4.3                                                 </a:t>
            </a:r>
            <a:r>
              <a:rPr lang="zh-CN" altLang="en-US" sz="2000" b="1" dirty="0">
                <a:solidFill>
                  <a:schemeClr val="bg1"/>
                </a:solidFill>
                <a:latin typeface="微软雅黑" pitchFamily="34" charset="-122"/>
                <a:ea typeface="微软雅黑" pitchFamily="34" charset="-122"/>
              </a:rPr>
              <a:t>虚拟局网</a:t>
            </a:r>
          </a:p>
        </p:txBody>
      </p:sp>
      <p:sp>
        <p:nvSpPr>
          <p:cNvPr id="8" name="Line 16"/>
          <p:cNvSpPr>
            <a:spLocks noChangeShapeType="1"/>
          </p:cNvSpPr>
          <p:nvPr/>
        </p:nvSpPr>
        <p:spPr bwMode="auto">
          <a:xfrm>
            <a:off x="3637198" y="95375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3703144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198">
            <a:extLst>
              <a:ext uri="{FF2B5EF4-FFF2-40B4-BE49-F238E27FC236}">
                <a16:creationId xmlns:a16="http://schemas.microsoft.com/office/drawing/2014/main" id="{78A7EE39-B8BF-92D3-F61B-A6FA1B24CDE0}"/>
              </a:ext>
            </a:extLst>
          </p:cNvPr>
          <p:cNvSpPr/>
          <p:nvPr/>
        </p:nvSpPr>
        <p:spPr>
          <a:xfrm>
            <a:off x="1022555" y="2495296"/>
            <a:ext cx="7256206" cy="220333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AutoShape 5"/>
          <p:cNvSpPr>
            <a:spLocks noChangeArrowheads="1"/>
          </p:cNvSpPr>
          <p:nvPr/>
        </p:nvSpPr>
        <p:spPr bwMode="auto">
          <a:xfrm>
            <a:off x="502921" y="6235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671737" y="617900"/>
            <a:ext cx="37834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3.4.1</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从集线器到以太网交换机</a:t>
            </a:r>
          </a:p>
        </p:txBody>
      </p:sp>
      <p:sp>
        <p:nvSpPr>
          <p:cNvPr id="10" name="Rectangle 8"/>
          <p:cNvSpPr>
            <a:spLocks noChangeArrowheads="1"/>
          </p:cNvSpPr>
          <p:nvPr/>
        </p:nvSpPr>
        <p:spPr bwMode="auto">
          <a:xfrm>
            <a:off x="502921" y="1019994"/>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传统以太网传输媒体：</a:t>
            </a:r>
            <a:r>
              <a:rPr lang="zh-CN" altLang="en-US" sz="2000" b="1" dirty="0">
                <a:solidFill>
                  <a:srgbClr val="0000FF"/>
                </a:solidFill>
                <a:latin typeface="微软雅黑" pitchFamily="34" charset="-122"/>
                <a:ea typeface="微软雅黑" pitchFamily="34" charset="-122"/>
              </a:rPr>
              <a:t>粗同轴电缆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细同轴电缆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双绞线。</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从总线网演变成</a:t>
            </a:r>
            <a:r>
              <a:rPr lang="zh-CN" altLang="en-US" sz="2000" b="1" dirty="0">
                <a:solidFill>
                  <a:srgbClr val="0000FF"/>
                </a:solidFill>
                <a:latin typeface="微软雅黑" pitchFamily="34" charset="-122"/>
                <a:ea typeface="微软雅黑" pitchFamily="34" charset="-122"/>
              </a:rPr>
              <a:t>星形网</a:t>
            </a:r>
            <a:r>
              <a:rPr lang="zh-CN" altLang="en-US" sz="2000" b="1" dirty="0">
                <a:latin typeface="微软雅黑" pitchFamily="34" charset="-122"/>
                <a:ea typeface="微软雅黑" pitchFamily="34" charset="-122"/>
              </a:rPr>
              <a:t>，在星形的中心则增加了一种可靠性非常高的设备，叫做</a:t>
            </a:r>
            <a:r>
              <a:rPr lang="zh-CN" altLang="en-US" sz="2000" b="1" dirty="0">
                <a:solidFill>
                  <a:srgbClr val="C00000"/>
                </a:solidFill>
                <a:latin typeface="微软雅黑" pitchFamily="34" charset="-122"/>
                <a:ea typeface="微软雅黑" pitchFamily="34" charset="-122"/>
              </a:rPr>
              <a:t>集线器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(hub)</a:t>
            </a:r>
            <a:r>
              <a:rPr lang="zh-CN" altLang="en-US" sz="2000" b="1" dirty="0">
                <a:latin typeface="微软雅黑" pitchFamily="34" charset="-122"/>
                <a:ea typeface="微软雅黑" pitchFamily="34" charset="-122"/>
              </a:rPr>
              <a:t>。</a:t>
            </a:r>
          </a:p>
        </p:txBody>
      </p:sp>
      <p:sp>
        <p:nvSpPr>
          <p:cNvPr id="3" name="Text Box 5">
            <a:extLst>
              <a:ext uri="{FF2B5EF4-FFF2-40B4-BE49-F238E27FC236}">
                <a16:creationId xmlns:a16="http://schemas.microsoft.com/office/drawing/2014/main" id="{3FE44970-E23B-B19B-BBF1-25756F0CC8D4}"/>
              </a:ext>
            </a:extLst>
          </p:cNvPr>
          <p:cNvSpPr txBox="1">
            <a:spLocks noChangeArrowheads="1"/>
          </p:cNvSpPr>
          <p:nvPr/>
        </p:nvSpPr>
        <p:spPr bwMode="auto">
          <a:xfrm>
            <a:off x="3239199" y="3036638"/>
            <a:ext cx="753850"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集线器</a:t>
            </a:r>
          </a:p>
        </p:txBody>
      </p:sp>
      <p:sp>
        <p:nvSpPr>
          <p:cNvPr id="4" name="Line 6">
            <a:extLst>
              <a:ext uri="{FF2B5EF4-FFF2-40B4-BE49-F238E27FC236}">
                <a16:creationId xmlns:a16="http://schemas.microsoft.com/office/drawing/2014/main" id="{DB6C0D4F-03A0-1DB3-264D-6516E399F1CE}"/>
              </a:ext>
            </a:extLst>
          </p:cNvPr>
          <p:cNvSpPr>
            <a:spLocks noChangeShapeType="1"/>
          </p:cNvSpPr>
          <p:nvPr/>
        </p:nvSpPr>
        <p:spPr bwMode="auto">
          <a:xfrm flipV="1">
            <a:off x="1358345" y="3596965"/>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5" name="Line 7">
            <a:extLst>
              <a:ext uri="{FF2B5EF4-FFF2-40B4-BE49-F238E27FC236}">
                <a16:creationId xmlns:a16="http://schemas.microsoft.com/office/drawing/2014/main" id="{C12E1E0F-AABD-951E-D8BA-B4693EDF8E42}"/>
              </a:ext>
            </a:extLst>
          </p:cNvPr>
          <p:cNvSpPr>
            <a:spLocks noChangeShapeType="1"/>
          </p:cNvSpPr>
          <p:nvPr/>
        </p:nvSpPr>
        <p:spPr bwMode="auto">
          <a:xfrm>
            <a:off x="2057040" y="3036639"/>
            <a:ext cx="1394047" cy="47962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6" name="Line 8">
            <a:extLst>
              <a:ext uri="{FF2B5EF4-FFF2-40B4-BE49-F238E27FC236}">
                <a16:creationId xmlns:a16="http://schemas.microsoft.com/office/drawing/2014/main" id="{B6445B89-0650-B54A-BD71-70AB1B9601DC}"/>
              </a:ext>
            </a:extLst>
          </p:cNvPr>
          <p:cNvSpPr>
            <a:spLocks noChangeShapeType="1"/>
          </p:cNvSpPr>
          <p:nvPr/>
        </p:nvSpPr>
        <p:spPr bwMode="auto">
          <a:xfrm flipV="1">
            <a:off x="2787183" y="3678673"/>
            <a:ext cx="864142" cy="580030"/>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7" name="Line 9">
            <a:extLst>
              <a:ext uri="{FF2B5EF4-FFF2-40B4-BE49-F238E27FC236}">
                <a16:creationId xmlns:a16="http://schemas.microsoft.com/office/drawing/2014/main" id="{FBAEE673-A462-DC3D-9D11-9FC548DE3C3C}"/>
              </a:ext>
            </a:extLst>
          </p:cNvPr>
          <p:cNvSpPr>
            <a:spLocks noChangeShapeType="1"/>
          </p:cNvSpPr>
          <p:nvPr/>
        </p:nvSpPr>
        <p:spPr bwMode="auto">
          <a:xfrm flipH="1">
            <a:off x="3750223" y="3016932"/>
            <a:ext cx="1284772" cy="58003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Line 10">
            <a:extLst>
              <a:ext uri="{FF2B5EF4-FFF2-40B4-BE49-F238E27FC236}">
                <a16:creationId xmlns:a16="http://schemas.microsoft.com/office/drawing/2014/main" id="{4060C3AA-BFA5-3336-2B9D-296888628E4A}"/>
              </a:ext>
            </a:extLst>
          </p:cNvPr>
          <p:cNvSpPr>
            <a:spLocks noChangeShapeType="1"/>
          </p:cNvSpPr>
          <p:nvPr/>
        </p:nvSpPr>
        <p:spPr bwMode="auto">
          <a:xfrm>
            <a:off x="3849121" y="3678674"/>
            <a:ext cx="1979549" cy="37927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3" name="Text Box 17">
            <a:extLst>
              <a:ext uri="{FF2B5EF4-FFF2-40B4-BE49-F238E27FC236}">
                <a16:creationId xmlns:a16="http://schemas.microsoft.com/office/drawing/2014/main" id="{613E7E48-14BF-1496-CDE9-1F140799C9BD}"/>
              </a:ext>
            </a:extLst>
          </p:cNvPr>
          <p:cNvSpPr txBox="1">
            <a:spLocks noChangeArrowheads="1"/>
          </p:cNvSpPr>
          <p:nvPr/>
        </p:nvSpPr>
        <p:spPr bwMode="auto">
          <a:xfrm>
            <a:off x="4143879" y="4115386"/>
            <a:ext cx="1066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2 </a:t>
            </a:r>
            <a:r>
              <a:rPr lang="zh-CN" altLang="en-US" sz="1400" b="1" dirty="0">
                <a:solidFill>
                  <a:srgbClr val="0000FF"/>
                </a:solidFill>
                <a:latin typeface="微软雅黑" pitchFamily="34" charset="-122"/>
                <a:ea typeface="微软雅黑" pitchFamily="34" charset="-122"/>
              </a:rPr>
              <a:t>对双绞线</a:t>
            </a:r>
          </a:p>
        </p:txBody>
      </p:sp>
      <p:sp>
        <p:nvSpPr>
          <p:cNvPr id="14" name="Line 18">
            <a:extLst>
              <a:ext uri="{FF2B5EF4-FFF2-40B4-BE49-F238E27FC236}">
                <a16:creationId xmlns:a16="http://schemas.microsoft.com/office/drawing/2014/main" id="{9EDD1F6A-EEA4-E1E7-6645-F0A715AA2D2F}"/>
              </a:ext>
            </a:extLst>
          </p:cNvPr>
          <p:cNvSpPr>
            <a:spLocks noChangeShapeType="1"/>
          </p:cNvSpPr>
          <p:nvPr/>
        </p:nvSpPr>
        <p:spPr bwMode="auto">
          <a:xfrm flipV="1">
            <a:off x="4758744" y="3891626"/>
            <a:ext cx="154100" cy="233370"/>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5" name="Text Box 19">
            <a:extLst>
              <a:ext uri="{FF2B5EF4-FFF2-40B4-BE49-F238E27FC236}">
                <a16:creationId xmlns:a16="http://schemas.microsoft.com/office/drawing/2014/main" id="{6F1149C9-4B26-0D42-9EC7-37EE501E6C2B}"/>
              </a:ext>
            </a:extLst>
          </p:cNvPr>
          <p:cNvSpPr txBox="1">
            <a:spLocks noChangeArrowheads="1"/>
          </p:cNvSpPr>
          <p:nvPr/>
        </p:nvSpPr>
        <p:spPr bwMode="auto">
          <a:xfrm>
            <a:off x="5307442" y="2750325"/>
            <a:ext cx="560556"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sp>
        <p:nvSpPr>
          <p:cNvPr id="16" name="Text Box 20">
            <a:extLst>
              <a:ext uri="{FF2B5EF4-FFF2-40B4-BE49-F238E27FC236}">
                <a16:creationId xmlns:a16="http://schemas.microsoft.com/office/drawing/2014/main" id="{DF7AFD1D-872D-47E1-D33C-F1589B7B8E15}"/>
              </a:ext>
            </a:extLst>
          </p:cNvPr>
          <p:cNvSpPr txBox="1">
            <a:spLocks noChangeArrowheads="1"/>
          </p:cNvSpPr>
          <p:nvPr/>
        </p:nvSpPr>
        <p:spPr bwMode="auto">
          <a:xfrm>
            <a:off x="4602708" y="3434640"/>
            <a:ext cx="11111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RJ-45 </a:t>
            </a:r>
            <a:r>
              <a:rPr lang="zh-CN" altLang="en-US" sz="1400" b="1" dirty="0">
                <a:solidFill>
                  <a:srgbClr val="0000FF"/>
                </a:solidFill>
                <a:latin typeface="微软雅黑" pitchFamily="34" charset="-122"/>
                <a:ea typeface="微软雅黑" pitchFamily="34" charset="-122"/>
              </a:rPr>
              <a:t>插头</a:t>
            </a:r>
          </a:p>
        </p:txBody>
      </p:sp>
      <p:sp>
        <p:nvSpPr>
          <p:cNvPr id="17" name="Line 21">
            <a:extLst>
              <a:ext uri="{FF2B5EF4-FFF2-40B4-BE49-F238E27FC236}">
                <a16:creationId xmlns:a16="http://schemas.microsoft.com/office/drawing/2014/main" id="{60261422-7074-3A45-6551-A657734592F0}"/>
              </a:ext>
            </a:extLst>
          </p:cNvPr>
          <p:cNvSpPr>
            <a:spLocks noChangeShapeType="1"/>
          </p:cNvSpPr>
          <p:nvPr/>
        </p:nvSpPr>
        <p:spPr bwMode="auto">
          <a:xfrm>
            <a:off x="5243167" y="3678673"/>
            <a:ext cx="483861" cy="315466"/>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8" name="Line 22">
            <a:extLst>
              <a:ext uri="{FF2B5EF4-FFF2-40B4-BE49-F238E27FC236}">
                <a16:creationId xmlns:a16="http://schemas.microsoft.com/office/drawing/2014/main" id="{501DDBAF-0EC2-4E01-8FF4-6256027113C5}"/>
              </a:ext>
            </a:extLst>
          </p:cNvPr>
          <p:cNvSpPr>
            <a:spLocks noChangeShapeType="1"/>
          </p:cNvSpPr>
          <p:nvPr/>
        </p:nvSpPr>
        <p:spPr bwMode="auto">
          <a:xfrm flipH="1">
            <a:off x="4208692" y="3632119"/>
            <a:ext cx="483860" cy="73857"/>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19" name="Picture 239" descr="jisuanji">
            <a:extLst>
              <a:ext uri="{FF2B5EF4-FFF2-40B4-BE49-F238E27FC236}">
                <a16:creationId xmlns:a16="http://schemas.microsoft.com/office/drawing/2014/main" id="{B7DC5885-06D9-16AE-FBAF-EAA0C8F1EE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0719" y="266556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a:extLst>
              <a:ext uri="{FF2B5EF4-FFF2-40B4-BE49-F238E27FC236}">
                <a16:creationId xmlns:a16="http://schemas.microsoft.com/office/drawing/2014/main" id="{8CBFB5FD-B724-95EC-89D3-0394DF639E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2629" y="357674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a:extLst>
              <a:ext uri="{FF2B5EF4-FFF2-40B4-BE49-F238E27FC236}">
                <a16:creationId xmlns:a16="http://schemas.microsoft.com/office/drawing/2014/main" id="{677CFDCE-E7DE-28CF-BD12-32DE5DA86C9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3602" y="3943193"/>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a:extLst>
              <a:ext uri="{FF2B5EF4-FFF2-40B4-BE49-F238E27FC236}">
                <a16:creationId xmlns:a16="http://schemas.microsoft.com/office/drawing/2014/main" id="{9559D71A-C8BC-194D-0101-4B35932EDD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0563" y="380648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a:extLst>
              <a:ext uri="{FF2B5EF4-FFF2-40B4-BE49-F238E27FC236}">
                <a16:creationId xmlns:a16="http://schemas.microsoft.com/office/drawing/2014/main" id="{4F5D4F4F-D9B6-37DB-5C4D-F8B87CDF1E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9666" y="2665566"/>
            <a:ext cx="617800" cy="61780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46">
            <a:extLst>
              <a:ext uri="{FF2B5EF4-FFF2-40B4-BE49-F238E27FC236}">
                <a16:creationId xmlns:a16="http://schemas.microsoft.com/office/drawing/2014/main" id="{8AABEBF8-21B3-F074-3974-E05EDC432FC6}"/>
              </a:ext>
            </a:extLst>
          </p:cNvPr>
          <p:cNvSpPr>
            <a:spLocks noChangeArrowheads="1"/>
          </p:cNvSpPr>
          <p:nvPr/>
        </p:nvSpPr>
        <p:spPr bwMode="auto">
          <a:xfrm>
            <a:off x="6221173" y="2769957"/>
            <a:ext cx="1866641" cy="92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lnSpc>
                <a:spcPts val="2200"/>
              </a:lnSpc>
              <a:buClr>
                <a:srgbClr val="0070C0"/>
              </a:buClr>
            </a:pPr>
            <a:r>
              <a:rPr lang="zh-CN" altLang="en-US" b="1" dirty="0">
                <a:latin typeface="微软雅黑" pitchFamily="34" charset="-122"/>
                <a:ea typeface="微软雅黑" pitchFamily="34" charset="-122"/>
              </a:rPr>
              <a:t>双绞线的星形以太网 </a:t>
            </a:r>
            <a:r>
              <a:rPr lang="en-US" altLang="zh-CN" b="1" dirty="0">
                <a:latin typeface="微软雅黑" pitchFamily="34" charset="-122"/>
                <a:ea typeface="微软雅黑" pitchFamily="34" charset="-122"/>
              </a:rPr>
              <a:t>10BASE-T </a:t>
            </a:r>
            <a:r>
              <a:rPr lang="zh-CN" altLang="en-US" b="1" dirty="0">
                <a:latin typeface="微软雅黑" pitchFamily="34" charset="-122"/>
                <a:ea typeface="微软雅黑" pitchFamily="34" charset="-122"/>
              </a:rPr>
              <a:t>的标准 </a:t>
            </a:r>
            <a:r>
              <a:rPr lang="en-US" altLang="zh-CN" b="1" dirty="0">
                <a:solidFill>
                  <a:srgbClr val="0000FF"/>
                </a:solidFill>
                <a:latin typeface="微软雅黑" pitchFamily="34" charset="-122"/>
                <a:ea typeface="微软雅黑" pitchFamily="34" charset="-122"/>
              </a:rPr>
              <a:t>802.3i</a:t>
            </a:r>
            <a:endParaRPr lang="zh-CN" altLang="en-US" b="1" dirty="0">
              <a:solidFill>
                <a:srgbClr val="0000FF"/>
              </a:solidFill>
              <a:latin typeface="微软雅黑" pitchFamily="34" charset="-122"/>
              <a:ea typeface="微软雅黑" pitchFamily="34" charset="-122"/>
            </a:endParaRPr>
          </a:p>
        </p:txBody>
      </p:sp>
      <p:cxnSp>
        <p:nvCxnSpPr>
          <p:cNvPr id="27" name="直接连接符 26">
            <a:extLst>
              <a:ext uri="{FF2B5EF4-FFF2-40B4-BE49-F238E27FC236}">
                <a16:creationId xmlns:a16="http://schemas.microsoft.com/office/drawing/2014/main" id="{336DA08D-978B-2936-D9F0-B130C8B11DE6}"/>
              </a:ext>
            </a:extLst>
          </p:cNvPr>
          <p:cNvCxnSpPr/>
          <p:nvPr/>
        </p:nvCxnSpPr>
        <p:spPr>
          <a:xfrm>
            <a:off x="6902246" y="3336348"/>
            <a:ext cx="216309" cy="0"/>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28" name="直接连接符 27">
            <a:extLst>
              <a:ext uri="{FF2B5EF4-FFF2-40B4-BE49-F238E27FC236}">
                <a16:creationId xmlns:a16="http://schemas.microsoft.com/office/drawing/2014/main" id="{F1CD6654-0E77-9F53-D58D-34412428B211}"/>
              </a:ext>
            </a:extLst>
          </p:cNvPr>
          <p:cNvCxnSpPr>
            <a:cxnSpLocks/>
          </p:cNvCxnSpPr>
          <p:nvPr/>
        </p:nvCxnSpPr>
        <p:spPr>
          <a:xfrm>
            <a:off x="7148053" y="3336348"/>
            <a:ext cx="575186" cy="0"/>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29" name="直接连接符 28">
            <a:extLst>
              <a:ext uri="{FF2B5EF4-FFF2-40B4-BE49-F238E27FC236}">
                <a16:creationId xmlns:a16="http://schemas.microsoft.com/office/drawing/2014/main" id="{68391173-143A-42DB-108C-DDABBFE90F00}"/>
              </a:ext>
            </a:extLst>
          </p:cNvPr>
          <p:cNvCxnSpPr>
            <a:cxnSpLocks/>
          </p:cNvCxnSpPr>
          <p:nvPr/>
        </p:nvCxnSpPr>
        <p:spPr>
          <a:xfrm>
            <a:off x="7826477" y="3336348"/>
            <a:ext cx="162232" cy="0"/>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grpSp>
        <p:nvGrpSpPr>
          <p:cNvPr id="2" name="组合 1">
            <a:extLst>
              <a:ext uri="{FF2B5EF4-FFF2-40B4-BE49-F238E27FC236}">
                <a16:creationId xmlns:a16="http://schemas.microsoft.com/office/drawing/2014/main" id="{3D0C3248-1E34-35FF-422E-F22B96B542BE}"/>
              </a:ext>
            </a:extLst>
          </p:cNvPr>
          <p:cNvGrpSpPr/>
          <p:nvPr/>
        </p:nvGrpSpPr>
        <p:grpSpPr>
          <a:xfrm flipH="1">
            <a:off x="3132718" y="3393398"/>
            <a:ext cx="1053690" cy="513118"/>
            <a:chOff x="-1040282" y="2966227"/>
            <a:chExt cx="965089" cy="530598"/>
          </a:xfrm>
        </p:grpSpPr>
        <p:sp>
          <p:nvSpPr>
            <p:cNvPr id="26" name="任意多边形: 形状 25">
              <a:extLst>
                <a:ext uri="{FF2B5EF4-FFF2-40B4-BE49-F238E27FC236}">
                  <a16:creationId xmlns:a16="http://schemas.microsoft.com/office/drawing/2014/main" id="{8663F6E4-BBB8-17C5-8BAE-B4AD4F206418}"/>
                </a:ext>
              </a:extLst>
            </p:cNvPr>
            <p:cNvSpPr/>
            <p:nvPr/>
          </p:nvSpPr>
          <p:spPr>
            <a:xfrm>
              <a:off x="-786581" y="3106994"/>
              <a:ext cx="693175" cy="353961"/>
            </a:xfrm>
            <a:custGeom>
              <a:avLst/>
              <a:gdLst>
                <a:gd name="connsiteX0" fmla="*/ 0 w 693175"/>
                <a:gd name="connsiteY0" fmla="*/ 216309 h 353961"/>
                <a:gd name="connsiteX1" fmla="*/ 693175 w 693175"/>
                <a:gd name="connsiteY1" fmla="*/ 0 h 353961"/>
                <a:gd name="connsiteX2" fmla="*/ 688258 w 693175"/>
                <a:gd name="connsiteY2" fmla="*/ 117987 h 353961"/>
                <a:gd name="connsiteX3" fmla="*/ 29497 w 693175"/>
                <a:gd name="connsiteY3" fmla="*/ 353961 h 353961"/>
                <a:gd name="connsiteX4" fmla="*/ 0 w 693175"/>
                <a:gd name="connsiteY4" fmla="*/ 216309 h 353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175" h="353961">
                  <a:moveTo>
                    <a:pt x="0" y="216309"/>
                  </a:moveTo>
                  <a:lnTo>
                    <a:pt x="693175" y="0"/>
                  </a:lnTo>
                  <a:lnTo>
                    <a:pt x="688258" y="117987"/>
                  </a:lnTo>
                  <a:lnTo>
                    <a:pt x="29497" y="353961"/>
                  </a:lnTo>
                  <a:lnTo>
                    <a:pt x="0" y="216309"/>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Picture 23" descr="RG-S1848图片（低容量版）">
              <a:extLst>
                <a:ext uri="{FF2B5EF4-FFF2-40B4-BE49-F238E27FC236}">
                  <a16:creationId xmlns:a16="http://schemas.microsoft.com/office/drawing/2014/main" id="{E83F40BC-89F3-D7C5-D71D-A1442E5689D4}"/>
                </a:ext>
              </a:extLst>
            </p:cNvPr>
            <p:cNvPicPr>
              <a:picLocks noChangeAspect="1" noChangeArrowheads="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040282" y="2966227"/>
              <a:ext cx="965089" cy="530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98911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grpId="0" nodeType="clickEffect">
                                  <p:stCondLst>
                                    <p:cond delay="0"/>
                                  </p:stCondLst>
                                  <p:childTnLst>
                                    <p:anim calcmode="discrete" valueType="str">
                                      <p:cBhvr>
                                        <p:cTn id="20"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grpId="0" nodeType="clickEffect">
                                  <p:stCondLst>
                                    <p:cond delay="0"/>
                                  </p:stCondLst>
                                  <p:childTnLst>
                                    <p:anim calcmode="discrete" valueType="str">
                                      <p:cBhvr>
                                        <p:cTn id="24"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35" presetClass="emph" presetSubtype="0" repeatCount="3000" fill="hold" grpId="0" nodeType="clickEffect">
                                  <p:stCondLst>
                                    <p:cond delay="0"/>
                                  </p:stCondLst>
                                  <p:childTnLst>
                                    <p:anim calcmode="discrete" valueType="str">
                                      <p:cBhvr>
                                        <p:cTn id="28"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par>
                    <p:cTn id="29" fill="hold">
                      <p:stCondLst>
                        <p:cond delay="indefinite"/>
                      </p:stCondLst>
                      <p:childTnLst>
                        <p:par>
                          <p:cTn id="30" fill="hold">
                            <p:stCondLst>
                              <p:cond delay="0"/>
                            </p:stCondLst>
                            <p:childTnLst>
                              <p:par>
                                <p:cTn id="31" presetID="35" presetClass="emph" presetSubtype="0" repeatCount="3000" fill="hold" grpId="0" nodeType="clickEffect">
                                  <p:stCondLst>
                                    <p:cond delay="0"/>
                                  </p:stCondLst>
                                  <p:childTnLst>
                                    <p:anim calcmode="discrete" valueType="str">
                                      <p:cBhvr>
                                        <p:cTn id="32"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35" presetClass="emph" presetSubtype="0" repeatCount="3000" fill="hold" nodeType="withEffect">
                                  <p:stCondLst>
                                    <p:cond delay="0"/>
                                  </p:stCondLst>
                                  <p:childTnLst>
                                    <p:anim calcmode="discrete" valueType="str">
                                      <p:cBhvr>
                                        <p:cTn id="38" dur="1000" fill="hold"/>
                                        <p:tgtEl>
                                          <p:spTgt spid="27"/>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35" presetClass="emph" presetSubtype="0" repeatCount="3000" fill="hold" nodeType="withEffect">
                                  <p:stCondLst>
                                    <p:cond delay="0"/>
                                  </p:stCondLst>
                                  <p:childTnLst>
                                    <p:anim calcmode="discrete" valueType="str">
                                      <p:cBhvr>
                                        <p:cTn id="44" dur="1000" fill="hold"/>
                                        <p:tgtEl>
                                          <p:spTgt spid="28"/>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35" presetClass="emph" presetSubtype="0" repeatCount="3000" fill="hold" nodeType="withEffect">
                                  <p:stCondLst>
                                    <p:cond delay="0"/>
                                  </p:stCondLst>
                                  <p:childTnLst>
                                    <p:anim calcmode="discrete" valueType="str">
                                      <p:cBhvr>
                                        <p:cTn id="50" dur="1000" fill="hold"/>
                                        <p:tgtEl>
                                          <p:spTgt spid="29"/>
                                        </p:tgtEl>
                                        <p:attrNameLst>
                                          <p:attrName>style.visibility</p:attrName>
                                        </p:attrNameLst>
                                      </p:cBhvr>
                                      <p:tavLst>
                                        <p:tav tm="0">
                                          <p:val>
                                            <p:strVal val="hidden"/>
                                          </p:val>
                                        </p:tav>
                                        <p:tav tm="50000">
                                          <p:val>
                                            <p:strVal val="visible"/>
                                          </p:val>
                                        </p:tav>
                                      </p:tavLst>
                                    </p:anim>
                                  </p:childTnLst>
                                  <p:subTnLst>
                                    <p:set>
                                      <p:cBhvr override="childStyle">
                                        <p:cTn dur="1" fill="hold" display="0" masterRel="sameClick" afterEffect="1">
                                          <p:stCondLst>
                                            <p:cond evt="end" delay="0">
                                              <p:tn val="49"/>
                                            </p:cond>
                                          </p:stCondLst>
                                        </p:cTn>
                                        <p:tgtEl>
                                          <p:spTgt spid="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3" grpId="0"/>
      <p:bldP spid="13" grpId="0"/>
      <p:bldP spid="16" grpId="0"/>
      <p:bldP spid="2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331C0-DC39-8500-827F-B1A32FE3E970}"/>
            </a:ext>
          </a:extLst>
        </p:cNvPr>
        <p:cNvGrpSpPr/>
        <p:nvPr/>
      </p:nvGrpSpPr>
      <p:grpSpPr>
        <a:xfrm>
          <a:off x="0" y="0"/>
          <a:ext cx="0" cy="0"/>
          <a:chOff x="0" y="0"/>
          <a:chExt cx="0" cy="0"/>
        </a:xfrm>
      </p:grpSpPr>
      <p:sp>
        <p:nvSpPr>
          <p:cNvPr id="24" name="圆角矩形 198">
            <a:extLst>
              <a:ext uri="{FF2B5EF4-FFF2-40B4-BE49-F238E27FC236}">
                <a16:creationId xmlns:a16="http://schemas.microsoft.com/office/drawing/2014/main" id="{CA1CE84C-1162-33DB-4564-FF3051E4A47F}"/>
              </a:ext>
            </a:extLst>
          </p:cNvPr>
          <p:cNvSpPr/>
          <p:nvPr/>
        </p:nvSpPr>
        <p:spPr>
          <a:xfrm>
            <a:off x="1022555" y="2495296"/>
            <a:ext cx="7256206" cy="220333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AutoShape 5">
            <a:extLst>
              <a:ext uri="{FF2B5EF4-FFF2-40B4-BE49-F238E27FC236}">
                <a16:creationId xmlns:a16="http://schemas.microsoft.com/office/drawing/2014/main" id="{4211AEE5-32B2-DE28-2140-AAA27AD24926}"/>
              </a:ext>
            </a:extLst>
          </p:cNvPr>
          <p:cNvSpPr>
            <a:spLocks noChangeArrowheads="1"/>
          </p:cNvSpPr>
          <p:nvPr/>
        </p:nvSpPr>
        <p:spPr bwMode="auto">
          <a:xfrm>
            <a:off x="502921" y="623595"/>
            <a:ext cx="8129015" cy="388721"/>
          </a:xfrm>
          <a:prstGeom prst="roundRect">
            <a:avLst>
              <a:gd name="adj" fmla="val 16667"/>
            </a:avLst>
          </a:prstGeom>
          <a:solidFill>
            <a:srgbClr val="00B050"/>
          </a:solidFill>
          <a:ln>
            <a:noFill/>
          </a:ln>
          <a:effectLst/>
        </p:spPr>
        <p:txBody>
          <a:bodyPr wrap="none" anchor="ctr"/>
          <a:lstStyle/>
          <a:p>
            <a:endParaRPr lang="zh-CN" altLang="en-US"/>
          </a:p>
        </p:txBody>
      </p:sp>
      <p:sp>
        <p:nvSpPr>
          <p:cNvPr id="9" name="Rectangle 6">
            <a:extLst>
              <a:ext uri="{FF2B5EF4-FFF2-40B4-BE49-F238E27FC236}">
                <a16:creationId xmlns:a16="http://schemas.microsoft.com/office/drawing/2014/main" id="{C8826103-FFE4-1E0D-8AFB-231F1B1FD234}"/>
              </a:ext>
            </a:extLst>
          </p:cNvPr>
          <p:cNvSpPr>
            <a:spLocks noChangeArrowheads="1"/>
          </p:cNvSpPr>
          <p:nvPr/>
        </p:nvSpPr>
        <p:spPr bwMode="auto">
          <a:xfrm>
            <a:off x="4086391" y="617900"/>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集线器</a:t>
            </a:r>
          </a:p>
        </p:txBody>
      </p:sp>
      <p:sp>
        <p:nvSpPr>
          <p:cNvPr id="10" name="Rectangle 8">
            <a:extLst>
              <a:ext uri="{FF2B5EF4-FFF2-40B4-BE49-F238E27FC236}">
                <a16:creationId xmlns:a16="http://schemas.microsoft.com/office/drawing/2014/main" id="{4D8429B2-00E9-BA4D-59BB-2750B6CC1E92}"/>
              </a:ext>
            </a:extLst>
          </p:cNvPr>
          <p:cNvSpPr>
            <a:spLocks noChangeArrowheads="1"/>
          </p:cNvSpPr>
          <p:nvPr/>
        </p:nvSpPr>
        <p:spPr bwMode="auto">
          <a:xfrm>
            <a:off x="502921" y="1019994"/>
            <a:ext cx="8129015" cy="1317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集线器在物理层</a:t>
            </a:r>
            <a:r>
              <a:rPr lang="zh-CN" altLang="en-US" sz="2000" b="1" dirty="0">
                <a:solidFill>
                  <a:srgbClr val="0000FF"/>
                </a:solidFill>
                <a:latin typeface="微软雅黑" pitchFamily="34" charset="-122"/>
                <a:ea typeface="微软雅黑" pitchFamily="34" charset="-122"/>
              </a:rPr>
              <a:t>广播</a:t>
            </a:r>
            <a:r>
              <a:rPr lang="zh-CN" altLang="en-US" sz="2000" b="1" dirty="0">
                <a:latin typeface="微软雅黑" pitchFamily="34" charset="-122"/>
                <a:ea typeface="微软雅黑" pitchFamily="34" charset="-122"/>
              </a:rPr>
              <a:t>信号，形式上是星形网，但逻辑上仍然是个总线网。</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所有站点只能工作在</a:t>
            </a:r>
            <a:r>
              <a:rPr lang="zh-CN" altLang="en-US" sz="2000" b="1" dirty="0">
                <a:solidFill>
                  <a:srgbClr val="0000FF"/>
                </a:solidFill>
                <a:latin typeface="微软雅黑" pitchFamily="34" charset="-122"/>
                <a:ea typeface="微软雅黑" pitchFamily="34" charset="-122"/>
              </a:rPr>
              <a:t>半双工方式</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必须执行</a:t>
            </a:r>
            <a:r>
              <a:rPr lang="en-US" altLang="zh-CN" sz="2000" b="1" dirty="0">
                <a:latin typeface="微软雅黑" pitchFamily="34" charset="-122"/>
                <a:ea typeface="微软雅黑" pitchFamily="34" charset="-122"/>
              </a:rPr>
              <a:t>CSMA/CD</a:t>
            </a:r>
            <a:r>
              <a:rPr lang="zh-CN" altLang="en-US" sz="2000" b="1" dirty="0">
                <a:latin typeface="微软雅黑" pitchFamily="34" charset="-122"/>
                <a:ea typeface="微软雅黑" pitchFamily="34" charset="-122"/>
              </a:rPr>
              <a:t>协议。</a:t>
            </a:r>
          </a:p>
        </p:txBody>
      </p:sp>
      <p:sp>
        <p:nvSpPr>
          <p:cNvPr id="3" name="Text Box 5">
            <a:extLst>
              <a:ext uri="{FF2B5EF4-FFF2-40B4-BE49-F238E27FC236}">
                <a16:creationId xmlns:a16="http://schemas.microsoft.com/office/drawing/2014/main" id="{A6237320-36C3-3C31-C168-A8FBA8869A3E}"/>
              </a:ext>
            </a:extLst>
          </p:cNvPr>
          <p:cNvSpPr txBox="1">
            <a:spLocks noChangeArrowheads="1"/>
          </p:cNvSpPr>
          <p:nvPr/>
        </p:nvSpPr>
        <p:spPr bwMode="auto">
          <a:xfrm>
            <a:off x="3239199" y="3036638"/>
            <a:ext cx="753850"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集线器</a:t>
            </a:r>
          </a:p>
        </p:txBody>
      </p:sp>
      <p:sp>
        <p:nvSpPr>
          <p:cNvPr id="4" name="Line 6">
            <a:extLst>
              <a:ext uri="{FF2B5EF4-FFF2-40B4-BE49-F238E27FC236}">
                <a16:creationId xmlns:a16="http://schemas.microsoft.com/office/drawing/2014/main" id="{0805BDF9-87EC-380E-D23D-1E8853F2A45F}"/>
              </a:ext>
            </a:extLst>
          </p:cNvPr>
          <p:cNvSpPr>
            <a:spLocks noChangeShapeType="1"/>
          </p:cNvSpPr>
          <p:nvPr/>
        </p:nvSpPr>
        <p:spPr bwMode="auto">
          <a:xfrm flipV="1">
            <a:off x="1358345" y="3596965"/>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5" name="Line 7">
            <a:extLst>
              <a:ext uri="{FF2B5EF4-FFF2-40B4-BE49-F238E27FC236}">
                <a16:creationId xmlns:a16="http://schemas.microsoft.com/office/drawing/2014/main" id="{E2A5EB12-57DB-CEED-3A9B-A99EEC04A898}"/>
              </a:ext>
            </a:extLst>
          </p:cNvPr>
          <p:cNvSpPr>
            <a:spLocks noChangeShapeType="1"/>
          </p:cNvSpPr>
          <p:nvPr/>
        </p:nvSpPr>
        <p:spPr bwMode="auto">
          <a:xfrm>
            <a:off x="2057040" y="3036639"/>
            <a:ext cx="1394047" cy="47962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6" name="Line 8">
            <a:extLst>
              <a:ext uri="{FF2B5EF4-FFF2-40B4-BE49-F238E27FC236}">
                <a16:creationId xmlns:a16="http://schemas.microsoft.com/office/drawing/2014/main" id="{13A5BA8C-5283-8B4E-65B4-1DF04E54DCC9}"/>
              </a:ext>
            </a:extLst>
          </p:cNvPr>
          <p:cNvSpPr>
            <a:spLocks noChangeShapeType="1"/>
          </p:cNvSpPr>
          <p:nvPr/>
        </p:nvSpPr>
        <p:spPr bwMode="auto">
          <a:xfrm flipV="1">
            <a:off x="2787183" y="3678673"/>
            <a:ext cx="864142" cy="580030"/>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7" name="Line 9">
            <a:extLst>
              <a:ext uri="{FF2B5EF4-FFF2-40B4-BE49-F238E27FC236}">
                <a16:creationId xmlns:a16="http://schemas.microsoft.com/office/drawing/2014/main" id="{92539B05-37B7-4B1B-1226-794605F05DC0}"/>
              </a:ext>
            </a:extLst>
          </p:cNvPr>
          <p:cNvSpPr>
            <a:spLocks noChangeShapeType="1"/>
          </p:cNvSpPr>
          <p:nvPr/>
        </p:nvSpPr>
        <p:spPr bwMode="auto">
          <a:xfrm flipH="1">
            <a:off x="3750223" y="3016932"/>
            <a:ext cx="1284772" cy="58003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Line 10">
            <a:extLst>
              <a:ext uri="{FF2B5EF4-FFF2-40B4-BE49-F238E27FC236}">
                <a16:creationId xmlns:a16="http://schemas.microsoft.com/office/drawing/2014/main" id="{E87D7275-ECEE-2E8C-0C51-8AA52E5FDBA7}"/>
              </a:ext>
            </a:extLst>
          </p:cNvPr>
          <p:cNvSpPr>
            <a:spLocks noChangeShapeType="1"/>
          </p:cNvSpPr>
          <p:nvPr/>
        </p:nvSpPr>
        <p:spPr bwMode="auto">
          <a:xfrm>
            <a:off x="3849121" y="3678674"/>
            <a:ext cx="1979549" cy="37927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5" name="Text Box 19">
            <a:extLst>
              <a:ext uri="{FF2B5EF4-FFF2-40B4-BE49-F238E27FC236}">
                <a16:creationId xmlns:a16="http://schemas.microsoft.com/office/drawing/2014/main" id="{7874C66E-4A1F-64DB-2FD3-1A28EF0BA961}"/>
              </a:ext>
            </a:extLst>
          </p:cNvPr>
          <p:cNvSpPr txBox="1">
            <a:spLocks noChangeArrowheads="1"/>
          </p:cNvSpPr>
          <p:nvPr/>
        </p:nvSpPr>
        <p:spPr bwMode="auto">
          <a:xfrm>
            <a:off x="5307442" y="2750325"/>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pic>
        <p:nvPicPr>
          <p:cNvPr id="19" name="Picture 239" descr="jisuanji">
            <a:extLst>
              <a:ext uri="{FF2B5EF4-FFF2-40B4-BE49-F238E27FC236}">
                <a16:creationId xmlns:a16="http://schemas.microsoft.com/office/drawing/2014/main" id="{C2BB4852-47A6-51FE-AA95-8A6260EC2F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0719" y="266556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a:extLst>
              <a:ext uri="{FF2B5EF4-FFF2-40B4-BE49-F238E27FC236}">
                <a16:creationId xmlns:a16="http://schemas.microsoft.com/office/drawing/2014/main" id="{E5F355CE-BAFE-C289-1D51-8AA1859964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2629" y="357674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a:extLst>
              <a:ext uri="{FF2B5EF4-FFF2-40B4-BE49-F238E27FC236}">
                <a16:creationId xmlns:a16="http://schemas.microsoft.com/office/drawing/2014/main" id="{DE493235-7E2C-5833-5962-B401A5C74C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3602" y="3943193"/>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a:extLst>
              <a:ext uri="{FF2B5EF4-FFF2-40B4-BE49-F238E27FC236}">
                <a16:creationId xmlns:a16="http://schemas.microsoft.com/office/drawing/2014/main" id="{DC24BEC5-4C3E-74D9-1AD3-1B800DEE54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0563" y="380648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a:extLst>
              <a:ext uri="{FF2B5EF4-FFF2-40B4-BE49-F238E27FC236}">
                <a16:creationId xmlns:a16="http://schemas.microsoft.com/office/drawing/2014/main" id="{6EA7496A-2882-116B-B68B-921152FF02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9666" y="2665566"/>
            <a:ext cx="617800" cy="61780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46">
            <a:extLst>
              <a:ext uri="{FF2B5EF4-FFF2-40B4-BE49-F238E27FC236}">
                <a16:creationId xmlns:a16="http://schemas.microsoft.com/office/drawing/2014/main" id="{1088B1EE-341E-B0BB-6179-47249A534D0D}"/>
              </a:ext>
            </a:extLst>
          </p:cNvPr>
          <p:cNvSpPr>
            <a:spLocks noChangeArrowheads="1"/>
          </p:cNvSpPr>
          <p:nvPr/>
        </p:nvSpPr>
        <p:spPr bwMode="auto">
          <a:xfrm>
            <a:off x="6221173" y="2769957"/>
            <a:ext cx="1866641" cy="92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lnSpc>
                <a:spcPts val="2200"/>
              </a:lnSpc>
              <a:buClr>
                <a:srgbClr val="0070C0"/>
              </a:buClr>
            </a:pPr>
            <a:r>
              <a:rPr lang="zh-CN" altLang="en-US" b="1" dirty="0">
                <a:latin typeface="微软雅黑" pitchFamily="34" charset="-122"/>
                <a:ea typeface="微软雅黑" pitchFamily="34" charset="-122"/>
              </a:rPr>
              <a:t>双绞线的星形以太网 </a:t>
            </a:r>
            <a:r>
              <a:rPr lang="en-US" altLang="zh-CN" b="1" dirty="0">
                <a:latin typeface="微软雅黑" pitchFamily="34" charset="-122"/>
                <a:ea typeface="微软雅黑" pitchFamily="34" charset="-122"/>
              </a:rPr>
              <a:t>10BASE-T </a:t>
            </a:r>
            <a:r>
              <a:rPr lang="zh-CN" altLang="en-US" b="1" dirty="0">
                <a:latin typeface="微软雅黑" pitchFamily="34" charset="-122"/>
                <a:ea typeface="微软雅黑" pitchFamily="34" charset="-122"/>
              </a:rPr>
              <a:t>的标准 </a:t>
            </a:r>
            <a:r>
              <a:rPr lang="en-US" altLang="zh-CN" b="1" dirty="0">
                <a:solidFill>
                  <a:srgbClr val="0000FF"/>
                </a:solidFill>
                <a:latin typeface="微软雅黑" pitchFamily="34" charset="-122"/>
                <a:ea typeface="微软雅黑" pitchFamily="34" charset="-122"/>
              </a:rPr>
              <a:t>802.3i</a:t>
            </a:r>
            <a:endParaRPr lang="zh-CN" altLang="en-US" b="1" dirty="0">
              <a:solidFill>
                <a:srgbClr val="0000FF"/>
              </a:solidFill>
              <a:latin typeface="微软雅黑" pitchFamily="34" charset="-122"/>
              <a:ea typeface="微软雅黑" pitchFamily="34" charset="-122"/>
            </a:endParaRPr>
          </a:p>
        </p:txBody>
      </p:sp>
      <p:sp>
        <p:nvSpPr>
          <p:cNvPr id="2" name="Text Box 19">
            <a:extLst>
              <a:ext uri="{FF2B5EF4-FFF2-40B4-BE49-F238E27FC236}">
                <a16:creationId xmlns:a16="http://schemas.microsoft.com/office/drawing/2014/main" id="{C58E9494-9773-846E-B0FA-8762ADC7E7F8}"/>
              </a:ext>
            </a:extLst>
          </p:cNvPr>
          <p:cNvSpPr txBox="1">
            <a:spLocks noChangeArrowheads="1"/>
          </p:cNvSpPr>
          <p:nvPr/>
        </p:nvSpPr>
        <p:spPr bwMode="auto">
          <a:xfrm>
            <a:off x="2559217" y="4001857"/>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A</a:t>
            </a:r>
            <a:endParaRPr lang="zh-CN" altLang="en-US" sz="1600" b="1" dirty="0">
              <a:ln>
                <a:solidFill>
                  <a:schemeClr val="bg1"/>
                </a:solidFill>
              </a:ln>
              <a:latin typeface="微软雅黑" pitchFamily="34" charset="-122"/>
              <a:ea typeface="微软雅黑" pitchFamily="34" charset="-122"/>
            </a:endParaRPr>
          </a:p>
        </p:txBody>
      </p:sp>
      <p:sp>
        <p:nvSpPr>
          <p:cNvPr id="26" name="Text Box 19">
            <a:extLst>
              <a:ext uri="{FF2B5EF4-FFF2-40B4-BE49-F238E27FC236}">
                <a16:creationId xmlns:a16="http://schemas.microsoft.com/office/drawing/2014/main" id="{EFD203A3-13A2-BBDD-4799-2D140390885C}"/>
              </a:ext>
            </a:extLst>
          </p:cNvPr>
          <p:cNvSpPr txBox="1">
            <a:spLocks noChangeArrowheads="1"/>
          </p:cNvSpPr>
          <p:nvPr/>
        </p:nvSpPr>
        <p:spPr bwMode="auto">
          <a:xfrm>
            <a:off x="1365679" y="3641854"/>
            <a:ext cx="3257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B</a:t>
            </a:r>
            <a:endParaRPr lang="zh-CN" altLang="en-US" sz="1600" b="1" dirty="0">
              <a:ln>
                <a:solidFill>
                  <a:schemeClr val="bg1"/>
                </a:solidFill>
              </a:ln>
              <a:latin typeface="微软雅黑" pitchFamily="34" charset="-122"/>
              <a:ea typeface="微软雅黑" pitchFamily="34" charset="-122"/>
            </a:endParaRPr>
          </a:p>
        </p:txBody>
      </p:sp>
      <p:sp>
        <p:nvSpPr>
          <p:cNvPr id="30" name="Text Box 19">
            <a:extLst>
              <a:ext uri="{FF2B5EF4-FFF2-40B4-BE49-F238E27FC236}">
                <a16:creationId xmlns:a16="http://schemas.microsoft.com/office/drawing/2014/main" id="{E1CA8ED3-471D-AC6A-8577-872C6EA8CB2E}"/>
              </a:ext>
            </a:extLst>
          </p:cNvPr>
          <p:cNvSpPr txBox="1">
            <a:spLocks noChangeArrowheads="1"/>
          </p:cNvSpPr>
          <p:nvPr/>
        </p:nvSpPr>
        <p:spPr bwMode="auto">
          <a:xfrm>
            <a:off x="1906334" y="2730054"/>
            <a:ext cx="322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C</a:t>
            </a:r>
            <a:endParaRPr lang="zh-CN" altLang="en-US" sz="1600" b="1" dirty="0">
              <a:ln>
                <a:solidFill>
                  <a:schemeClr val="bg1"/>
                </a:solidFill>
              </a:ln>
              <a:latin typeface="微软雅黑" pitchFamily="34" charset="-122"/>
              <a:ea typeface="微软雅黑" pitchFamily="34" charset="-122"/>
            </a:endParaRPr>
          </a:p>
        </p:txBody>
      </p:sp>
      <p:sp>
        <p:nvSpPr>
          <p:cNvPr id="31" name="Text Box 19">
            <a:extLst>
              <a:ext uri="{FF2B5EF4-FFF2-40B4-BE49-F238E27FC236}">
                <a16:creationId xmlns:a16="http://schemas.microsoft.com/office/drawing/2014/main" id="{5609C291-CD20-BD02-52DC-D918BF27ADA8}"/>
              </a:ext>
            </a:extLst>
          </p:cNvPr>
          <p:cNvSpPr txBox="1">
            <a:spLocks noChangeArrowheads="1"/>
          </p:cNvSpPr>
          <p:nvPr/>
        </p:nvSpPr>
        <p:spPr bwMode="auto">
          <a:xfrm>
            <a:off x="4937906" y="2717955"/>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D</a:t>
            </a:r>
            <a:endParaRPr lang="zh-CN" altLang="en-US" sz="1600" b="1" dirty="0">
              <a:ln>
                <a:solidFill>
                  <a:schemeClr val="bg1"/>
                </a:solidFill>
              </a:ln>
              <a:latin typeface="微软雅黑" pitchFamily="34" charset="-122"/>
              <a:ea typeface="微软雅黑" pitchFamily="34" charset="-122"/>
            </a:endParaRPr>
          </a:p>
        </p:txBody>
      </p:sp>
      <p:sp>
        <p:nvSpPr>
          <p:cNvPr id="32" name="Text Box 19">
            <a:extLst>
              <a:ext uri="{FF2B5EF4-FFF2-40B4-BE49-F238E27FC236}">
                <a16:creationId xmlns:a16="http://schemas.microsoft.com/office/drawing/2014/main" id="{6118CEF2-3C94-EED5-D4F4-4EA3BB1E2C3C}"/>
              </a:ext>
            </a:extLst>
          </p:cNvPr>
          <p:cNvSpPr txBox="1">
            <a:spLocks noChangeArrowheads="1"/>
          </p:cNvSpPr>
          <p:nvPr/>
        </p:nvSpPr>
        <p:spPr bwMode="auto">
          <a:xfrm>
            <a:off x="5853181" y="3868312"/>
            <a:ext cx="3016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E</a:t>
            </a:r>
            <a:endParaRPr lang="zh-CN" altLang="en-US" sz="1600" b="1" dirty="0">
              <a:ln>
                <a:solidFill>
                  <a:schemeClr val="bg1"/>
                </a:solidFill>
              </a:ln>
              <a:latin typeface="微软雅黑" pitchFamily="34" charset="-122"/>
              <a:ea typeface="微软雅黑" pitchFamily="34" charset="-122"/>
            </a:endParaRPr>
          </a:p>
        </p:txBody>
      </p:sp>
      <p:cxnSp>
        <p:nvCxnSpPr>
          <p:cNvPr id="34" name="直接箭头连接符 33">
            <a:extLst>
              <a:ext uri="{FF2B5EF4-FFF2-40B4-BE49-F238E27FC236}">
                <a16:creationId xmlns:a16="http://schemas.microsoft.com/office/drawing/2014/main" id="{12374F54-E63D-40B0-B1E6-BB12ECB9114E}"/>
              </a:ext>
            </a:extLst>
          </p:cNvPr>
          <p:cNvCxnSpPr/>
          <p:nvPr/>
        </p:nvCxnSpPr>
        <p:spPr>
          <a:xfrm flipV="1">
            <a:off x="3051829" y="3885646"/>
            <a:ext cx="443539" cy="32122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5" name="直接箭头连接符 34">
            <a:extLst>
              <a:ext uri="{FF2B5EF4-FFF2-40B4-BE49-F238E27FC236}">
                <a16:creationId xmlns:a16="http://schemas.microsoft.com/office/drawing/2014/main" id="{208646D9-2127-0915-CC32-AB4E72BF5914}"/>
              </a:ext>
            </a:extLst>
          </p:cNvPr>
          <p:cNvCxnSpPr>
            <a:cxnSpLocks/>
            <a:endCxn id="20" idx="3"/>
          </p:cNvCxnSpPr>
          <p:nvPr/>
        </p:nvCxnSpPr>
        <p:spPr>
          <a:xfrm flipH="1">
            <a:off x="1840429" y="3720032"/>
            <a:ext cx="1164053" cy="16561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8" name="直接箭头连接符 37">
            <a:extLst>
              <a:ext uri="{FF2B5EF4-FFF2-40B4-BE49-F238E27FC236}">
                <a16:creationId xmlns:a16="http://schemas.microsoft.com/office/drawing/2014/main" id="{161C9827-38AC-62CE-6EC1-3426CD51DB7D}"/>
              </a:ext>
            </a:extLst>
          </p:cNvPr>
          <p:cNvCxnSpPr>
            <a:cxnSpLocks/>
          </p:cNvCxnSpPr>
          <p:nvPr/>
        </p:nvCxnSpPr>
        <p:spPr>
          <a:xfrm flipH="1" flipV="1">
            <a:off x="2466516" y="3049549"/>
            <a:ext cx="725592" cy="26713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1" name="直接箭头连接符 40">
            <a:extLst>
              <a:ext uri="{FF2B5EF4-FFF2-40B4-BE49-F238E27FC236}">
                <a16:creationId xmlns:a16="http://schemas.microsoft.com/office/drawing/2014/main" id="{CC8CBDE8-2384-D9FA-338F-91FD13A7CD6B}"/>
              </a:ext>
            </a:extLst>
          </p:cNvPr>
          <p:cNvCxnSpPr>
            <a:cxnSpLocks/>
          </p:cNvCxnSpPr>
          <p:nvPr/>
        </p:nvCxnSpPr>
        <p:spPr>
          <a:xfrm flipV="1">
            <a:off x="3993049" y="3023776"/>
            <a:ext cx="711605" cy="34699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3" name="直接箭头连接符 42">
            <a:extLst>
              <a:ext uri="{FF2B5EF4-FFF2-40B4-BE49-F238E27FC236}">
                <a16:creationId xmlns:a16="http://schemas.microsoft.com/office/drawing/2014/main" id="{E9AF0ACD-109C-26D3-8AAA-4FF18BCC8490}"/>
              </a:ext>
            </a:extLst>
          </p:cNvPr>
          <p:cNvCxnSpPr>
            <a:cxnSpLocks/>
          </p:cNvCxnSpPr>
          <p:nvPr/>
        </p:nvCxnSpPr>
        <p:spPr>
          <a:xfrm>
            <a:off x="4370570" y="3685969"/>
            <a:ext cx="1299115" cy="23905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nvGrpSpPr>
          <p:cNvPr id="28" name="组合 27">
            <a:extLst>
              <a:ext uri="{FF2B5EF4-FFF2-40B4-BE49-F238E27FC236}">
                <a16:creationId xmlns:a16="http://schemas.microsoft.com/office/drawing/2014/main" id="{87E08143-3CFE-9BBA-FAB4-5F82466AA150}"/>
              </a:ext>
            </a:extLst>
          </p:cNvPr>
          <p:cNvGrpSpPr/>
          <p:nvPr/>
        </p:nvGrpSpPr>
        <p:grpSpPr>
          <a:xfrm flipH="1">
            <a:off x="3132718" y="3393398"/>
            <a:ext cx="1053690" cy="513118"/>
            <a:chOff x="-1040282" y="2966227"/>
            <a:chExt cx="965089" cy="530598"/>
          </a:xfrm>
        </p:grpSpPr>
        <p:sp>
          <p:nvSpPr>
            <p:cNvPr id="29" name="任意多边形: 形状 28">
              <a:extLst>
                <a:ext uri="{FF2B5EF4-FFF2-40B4-BE49-F238E27FC236}">
                  <a16:creationId xmlns:a16="http://schemas.microsoft.com/office/drawing/2014/main" id="{8F7D618F-6642-E596-D2FB-3D3B99EDDAD8}"/>
                </a:ext>
              </a:extLst>
            </p:cNvPr>
            <p:cNvSpPr/>
            <p:nvPr/>
          </p:nvSpPr>
          <p:spPr>
            <a:xfrm>
              <a:off x="-786581" y="3106994"/>
              <a:ext cx="693175" cy="353961"/>
            </a:xfrm>
            <a:custGeom>
              <a:avLst/>
              <a:gdLst>
                <a:gd name="connsiteX0" fmla="*/ 0 w 693175"/>
                <a:gd name="connsiteY0" fmla="*/ 216309 h 353961"/>
                <a:gd name="connsiteX1" fmla="*/ 693175 w 693175"/>
                <a:gd name="connsiteY1" fmla="*/ 0 h 353961"/>
                <a:gd name="connsiteX2" fmla="*/ 688258 w 693175"/>
                <a:gd name="connsiteY2" fmla="*/ 117987 h 353961"/>
                <a:gd name="connsiteX3" fmla="*/ 29497 w 693175"/>
                <a:gd name="connsiteY3" fmla="*/ 353961 h 353961"/>
                <a:gd name="connsiteX4" fmla="*/ 0 w 693175"/>
                <a:gd name="connsiteY4" fmla="*/ 216309 h 353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175" h="353961">
                  <a:moveTo>
                    <a:pt x="0" y="216309"/>
                  </a:moveTo>
                  <a:lnTo>
                    <a:pt x="693175" y="0"/>
                  </a:lnTo>
                  <a:lnTo>
                    <a:pt x="688258" y="117987"/>
                  </a:lnTo>
                  <a:lnTo>
                    <a:pt x="29497" y="353961"/>
                  </a:lnTo>
                  <a:lnTo>
                    <a:pt x="0" y="216309"/>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Picture 23" descr="RG-S1848图片（低容量版）">
              <a:extLst>
                <a:ext uri="{FF2B5EF4-FFF2-40B4-BE49-F238E27FC236}">
                  <a16:creationId xmlns:a16="http://schemas.microsoft.com/office/drawing/2014/main" id="{64223955-F874-4C1F-C900-F772ABF5A57D}"/>
                </a:ext>
              </a:extLst>
            </p:cNvPr>
            <p:cNvPicPr>
              <a:picLocks noChangeAspect="1" noChangeArrowheads="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040282" y="2966227"/>
              <a:ext cx="965089" cy="530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38109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wipe(down)">
                                      <p:cBhvr>
                                        <p:cTn id="14" dur="500"/>
                                        <p:tgtEl>
                                          <p:spTgt spid="3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right)">
                                      <p:cBhvr>
                                        <p:cTn id="19" dur="500"/>
                                        <p:tgtEl>
                                          <p:spTgt spid="35"/>
                                        </p:tgtEl>
                                      </p:cBhvr>
                                    </p:animEffect>
                                  </p:childTnLst>
                                </p:cTn>
                              </p:par>
                              <p:par>
                                <p:cTn id="20" presetID="22" presetClass="entr" presetSubtype="2"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right)">
                                      <p:cBhvr>
                                        <p:cTn id="22" dur="500"/>
                                        <p:tgtEl>
                                          <p:spTgt spid="38"/>
                                        </p:tgtEl>
                                      </p:cBhvr>
                                    </p:animEffect>
                                  </p:childTnLst>
                                </p:cTn>
                              </p:par>
                              <p:par>
                                <p:cTn id="23" presetID="22" presetClass="entr" presetSubtype="4"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down)">
                                      <p:cBhvr>
                                        <p:cTn id="25" dur="500"/>
                                        <p:tgtEl>
                                          <p:spTgt spid="41"/>
                                        </p:tgtEl>
                                      </p:cBhvr>
                                    </p:animEffect>
                                  </p:childTnLst>
                                </p:cTn>
                              </p:par>
                              <p:par>
                                <p:cTn id="26" presetID="22" presetClass="entr" presetSubtype="8"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animEffect transition="in" filter="fade">
                                      <p:cBhvr>
                                        <p:cTn id="33" dur="1000"/>
                                        <p:tgtEl>
                                          <p:spTgt spid="10">
                                            <p:txEl>
                                              <p:pRg st="1" end="1"/>
                                            </p:txEl>
                                          </p:spTgt>
                                        </p:tgtEl>
                                      </p:cBhvr>
                                    </p:animEffect>
                                    <p:anim calcmode="lin" valueType="num">
                                      <p:cBhvr>
                                        <p:cTn id="34"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C532-FF07-01A7-07E6-959FF107BA4C}"/>
            </a:ext>
          </a:extLst>
        </p:cNvPr>
        <p:cNvGrpSpPr/>
        <p:nvPr/>
      </p:nvGrpSpPr>
      <p:grpSpPr>
        <a:xfrm>
          <a:off x="0" y="0"/>
          <a:ext cx="0" cy="0"/>
          <a:chOff x="0" y="0"/>
          <a:chExt cx="0" cy="0"/>
        </a:xfrm>
      </p:grpSpPr>
      <p:sp>
        <p:nvSpPr>
          <p:cNvPr id="24" name="圆角矩形 198">
            <a:extLst>
              <a:ext uri="{FF2B5EF4-FFF2-40B4-BE49-F238E27FC236}">
                <a16:creationId xmlns:a16="http://schemas.microsoft.com/office/drawing/2014/main" id="{0B4BE87E-4C99-DEBC-8D91-2CB3CBD89A15}"/>
              </a:ext>
            </a:extLst>
          </p:cNvPr>
          <p:cNvSpPr/>
          <p:nvPr/>
        </p:nvSpPr>
        <p:spPr>
          <a:xfrm>
            <a:off x="1022555" y="2495296"/>
            <a:ext cx="7256206" cy="220333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AutoShape 5">
            <a:extLst>
              <a:ext uri="{FF2B5EF4-FFF2-40B4-BE49-F238E27FC236}">
                <a16:creationId xmlns:a16="http://schemas.microsoft.com/office/drawing/2014/main" id="{47A26351-F517-D852-6412-27870D2DFC4A}"/>
              </a:ext>
            </a:extLst>
          </p:cNvPr>
          <p:cNvSpPr>
            <a:spLocks noChangeArrowheads="1"/>
          </p:cNvSpPr>
          <p:nvPr/>
        </p:nvSpPr>
        <p:spPr bwMode="auto">
          <a:xfrm>
            <a:off x="502921" y="623595"/>
            <a:ext cx="8129015" cy="388721"/>
          </a:xfrm>
          <a:prstGeom prst="roundRect">
            <a:avLst>
              <a:gd name="adj" fmla="val 16667"/>
            </a:avLst>
          </a:prstGeom>
          <a:solidFill>
            <a:srgbClr val="00B050"/>
          </a:solidFill>
          <a:ln>
            <a:noFill/>
          </a:ln>
          <a:effectLst/>
        </p:spPr>
        <p:txBody>
          <a:bodyPr wrap="none" anchor="ctr"/>
          <a:lstStyle/>
          <a:p>
            <a:endParaRPr lang="zh-CN" altLang="en-US"/>
          </a:p>
        </p:txBody>
      </p:sp>
      <p:sp>
        <p:nvSpPr>
          <p:cNvPr id="9" name="Rectangle 6">
            <a:extLst>
              <a:ext uri="{FF2B5EF4-FFF2-40B4-BE49-F238E27FC236}">
                <a16:creationId xmlns:a16="http://schemas.microsoft.com/office/drawing/2014/main" id="{23D525DC-599F-3081-DB67-41ABF32BA14B}"/>
              </a:ext>
            </a:extLst>
          </p:cNvPr>
          <p:cNvSpPr>
            <a:spLocks noChangeArrowheads="1"/>
          </p:cNvSpPr>
          <p:nvPr/>
        </p:nvSpPr>
        <p:spPr bwMode="auto">
          <a:xfrm>
            <a:off x="3701662" y="617900"/>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以太网交换机</a:t>
            </a:r>
          </a:p>
        </p:txBody>
      </p:sp>
      <p:sp>
        <p:nvSpPr>
          <p:cNvPr id="10" name="Rectangle 8">
            <a:extLst>
              <a:ext uri="{FF2B5EF4-FFF2-40B4-BE49-F238E27FC236}">
                <a16:creationId xmlns:a16="http://schemas.microsoft.com/office/drawing/2014/main" id="{455F0CEB-BFEB-45B0-39DD-B23FCAA5754C}"/>
              </a:ext>
            </a:extLst>
          </p:cNvPr>
          <p:cNvSpPr>
            <a:spLocks noChangeArrowheads="1"/>
          </p:cNvSpPr>
          <p:nvPr/>
        </p:nvSpPr>
        <p:spPr bwMode="auto">
          <a:xfrm>
            <a:off x="502921" y="1019994"/>
            <a:ext cx="8129015" cy="1317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以太网交换机（又称为交换式集线器，简称</a:t>
            </a:r>
            <a:r>
              <a:rPr lang="zh-CN" altLang="en-US" sz="2000" b="1" dirty="0">
                <a:solidFill>
                  <a:srgbClr val="0000FF"/>
                </a:solidFill>
                <a:latin typeface="微软雅黑" pitchFamily="34" charset="-122"/>
                <a:ea typeface="微软雅黑" pitchFamily="34" charset="-122"/>
              </a:rPr>
              <a:t>交换机</a:t>
            </a:r>
            <a:r>
              <a:rPr lang="zh-CN" altLang="en-US" sz="2000" b="1" dirty="0">
                <a:latin typeface="微软雅黑" pitchFamily="34" charset="-122"/>
                <a:ea typeface="微软雅黑" pitchFamily="34" charset="-122"/>
              </a:rPr>
              <a:t>）。每个端口</a:t>
            </a:r>
            <a:r>
              <a:rPr lang="en-US" altLang="zh-CN" sz="2000" b="1" dirty="0">
                <a:latin typeface="微软雅黑" pitchFamily="34" charset="-122"/>
                <a:ea typeface="微软雅黑" pitchFamily="34" charset="-122"/>
              </a:rPr>
              <a:t>(port) </a:t>
            </a:r>
            <a:r>
              <a:rPr lang="zh-CN" altLang="en-US" sz="2000" b="1" dirty="0">
                <a:latin typeface="微软雅黑" pitchFamily="34" charset="-122"/>
                <a:ea typeface="微软雅黑" pitchFamily="34" charset="-122"/>
              </a:rPr>
              <a:t>一般都工作在</a:t>
            </a:r>
            <a:r>
              <a:rPr lang="zh-CN" altLang="en-US" sz="2000" b="1" dirty="0">
                <a:solidFill>
                  <a:srgbClr val="0000FF"/>
                </a:solidFill>
                <a:latin typeface="微软雅黑" pitchFamily="34" charset="-122"/>
                <a:ea typeface="微软雅黑" pitchFamily="34" charset="-122"/>
              </a:rPr>
              <a:t>全双工方式</a:t>
            </a:r>
            <a:r>
              <a:rPr lang="zh-CN" altLang="en-US" sz="2000" b="1" dirty="0">
                <a:latin typeface="微软雅黑" pitchFamily="34" charset="-122"/>
                <a:ea typeface="微软雅黑" pitchFamily="34" charset="-122"/>
              </a:rPr>
              <a:t>。使多对主机能同时通信。</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使用交换机相互通信的主机都</a:t>
            </a:r>
            <a:r>
              <a:rPr lang="zh-CN" altLang="en-US" sz="2000" b="1" dirty="0">
                <a:solidFill>
                  <a:srgbClr val="0000FF"/>
                </a:solidFill>
                <a:latin typeface="微软雅黑" pitchFamily="34" charset="-122"/>
                <a:ea typeface="微软雅黑" pitchFamily="34" charset="-122"/>
              </a:rPr>
              <a:t>独占传输媒体</a:t>
            </a:r>
            <a:r>
              <a:rPr lang="zh-CN" altLang="en-US" sz="2000" b="1" dirty="0">
                <a:latin typeface="微软雅黑" pitchFamily="34" charset="-122"/>
                <a:ea typeface="微软雅黑" pitchFamily="34" charset="-122"/>
              </a:rPr>
              <a:t>，无碰撞地传输数据。</a:t>
            </a:r>
          </a:p>
        </p:txBody>
      </p:sp>
      <p:sp>
        <p:nvSpPr>
          <p:cNvPr id="3" name="Text Box 5">
            <a:extLst>
              <a:ext uri="{FF2B5EF4-FFF2-40B4-BE49-F238E27FC236}">
                <a16:creationId xmlns:a16="http://schemas.microsoft.com/office/drawing/2014/main" id="{A462CC27-18F9-1E48-8235-69F013AE9694}"/>
              </a:ext>
            </a:extLst>
          </p:cNvPr>
          <p:cNvSpPr txBox="1">
            <a:spLocks noChangeArrowheads="1"/>
          </p:cNvSpPr>
          <p:nvPr/>
        </p:nvSpPr>
        <p:spPr bwMode="auto">
          <a:xfrm>
            <a:off x="3239199" y="3036638"/>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交换机</a:t>
            </a:r>
          </a:p>
        </p:txBody>
      </p:sp>
      <p:sp>
        <p:nvSpPr>
          <p:cNvPr id="4" name="Line 6">
            <a:extLst>
              <a:ext uri="{FF2B5EF4-FFF2-40B4-BE49-F238E27FC236}">
                <a16:creationId xmlns:a16="http://schemas.microsoft.com/office/drawing/2014/main" id="{98F555B0-F68C-3E54-20CA-5FBAC59F47D0}"/>
              </a:ext>
            </a:extLst>
          </p:cNvPr>
          <p:cNvSpPr>
            <a:spLocks noChangeShapeType="1"/>
          </p:cNvSpPr>
          <p:nvPr/>
        </p:nvSpPr>
        <p:spPr bwMode="auto">
          <a:xfrm flipV="1">
            <a:off x="1358345" y="3596965"/>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5" name="Line 7">
            <a:extLst>
              <a:ext uri="{FF2B5EF4-FFF2-40B4-BE49-F238E27FC236}">
                <a16:creationId xmlns:a16="http://schemas.microsoft.com/office/drawing/2014/main" id="{B067CDBE-9752-2901-B7E0-9C441A726312}"/>
              </a:ext>
            </a:extLst>
          </p:cNvPr>
          <p:cNvSpPr>
            <a:spLocks noChangeShapeType="1"/>
          </p:cNvSpPr>
          <p:nvPr/>
        </p:nvSpPr>
        <p:spPr bwMode="auto">
          <a:xfrm>
            <a:off x="2057040" y="3036639"/>
            <a:ext cx="1394047" cy="47962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6" name="Line 8">
            <a:extLst>
              <a:ext uri="{FF2B5EF4-FFF2-40B4-BE49-F238E27FC236}">
                <a16:creationId xmlns:a16="http://schemas.microsoft.com/office/drawing/2014/main" id="{091DF3C4-8A91-87C4-A3A4-F6A29ABE2DF5}"/>
              </a:ext>
            </a:extLst>
          </p:cNvPr>
          <p:cNvSpPr>
            <a:spLocks noChangeShapeType="1"/>
          </p:cNvSpPr>
          <p:nvPr/>
        </p:nvSpPr>
        <p:spPr bwMode="auto">
          <a:xfrm flipV="1">
            <a:off x="2787183" y="3678673"/>
            <a:ext cx="864142" cy="580030"/>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7" name="Line 9">
            <a:extLst>
              <a:ext uri="{FF2B5EF4-FFF2-40B4-BE49-F238E27FC236}">
                <a16:creationId xmlns:a16="http://schemas.microsoft.com/office/drawing/2014/main" id="{43C44738-C3D6-48B0-1622-021129E12B2F}"/>
              </a:ext>
            </a:extLst>
          </p:cNvPr>
          <p:cNvSpPr>
            <a:spLocks noChangeShapeType="1"/>
          </p:cNvSpPr>
          <p:nvPr/>
        </p:nvSpPr>
        <p:spPr bwMode="auto">
          <a:xfrm flipH="1">
            <a:off x="3750223" y="3016932"/>
            <a:ext cx="1284772" cy="58003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Line 10">
            <a:extLst>
              <a:ext uri="{FF2B5EF4-FFF2-40B4-BE49-F238E27FC236}">
                <a16:creationId xmlns:a16="http://schemas.microsoft.com/office/drawing/2014/main" id="{F84BB2D4-C64B-C051-6CFC-DAEA50A831E6}"/>
              </a:ext>
            </a:extLst>
          </p:cNvPr>
          <p:cNvSpPr>
            <a:spLocks noChangeShapeType="1"/>
          </p:cNvSpPr>
          <p:nvPr/>
        </p:nvSpPr>
        <p:spPr bwMode="auto">
          <a:xfrm>
            <a:off x="3849121" y="3678674"/>
            <a:ext cx="1979549" cy="37927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5" name="Text Box 19">
            <a:extLst>
              <a:ext uri="{FF2B5EF4-FFF2-40B4-BE49-F238E27FC236}">
                <a16:creationId xmlns:a16="http://schemas.microsoft.com/office/drawing/2014/main" id="{47A15679-541F-7393-EE01-87F7D9243BD8}"/>
              </a:ext>
            </a:extLst>
          </p:cNvPr>
          <p:cNvSpPr txBox="1">
            <a:spLocks noChangeArrowheads="1"/>
          </p:cNvSpPr>
          <p:nvPr/>
        </p:nvSpPr>
        <p:spPr bwMode="auto">
          <a:xfrm>
            <a:off x="5307442" y="2750325"/>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pic>
        <p:nvPicPr>
          <p:cNvPr id="19" name="Picture 239" descr="jisuanji">
            <a:extLst>
              <a:ext uri="{FF2B5EF4-FFF2-40B4-BE49-F238E27FC236}">
                <a16:creationId xmlns:a16="http://schemas.microsoft.com/office/drawing/2014/main" id="{4A909AD7-0DA8-D720-FD6F-68A737EE72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0719" y="266556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a:extLst>
              <a:ext uri="{FF2B5EF4-FFF2-40B4-BE49-F238E27FC236}">
                <a16:creationId xmlns:a16="http://schemas.microsoft.com/office/drawing/2014/main" id="{7DC6A51D-210A-9D0B-4175-E05B49C7C0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2629" y="357674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a:extLst>
              <a:ext uri="{FF2B5EF4-FFF2-40B4-BE49-F238E27FC236}">
                <a16:creationId xmlns:a16="http://schemas.microsoft.com/office/drawing/2014/main" id="{E22EA67E-0A7B-0244-EBC4-2951CD328D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3602" y="3943193"/>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a:extLst>
              <a:ext uri="{FF2B5EF4-FFF2-40B4-BE49-F238E27FC236}">
                <a16:creationId xmlns:a16="http://schemas.microsoft.com/office/drawing/2014/main" id="{625BBC57-93DD-B136-D4C8-EFA42A3DC8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0563" y="380648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a:extLst>
              <a:ext uri="{FF2B5EF4-FFF2-40B4-BE49-F238E27FC236}">
                <a16:creationId xmlns:a16="http://schemas.microsoft.com/office/drawing/2014/main" id="{92D15B2F-A74C-A6FE-976F-32FA98E9E2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9666" y="2665566"/>
            <a:ext cx="617800" cy="6178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9">
            <a:extLst>
              <a:ext uri="{FF2B5EF4-FFF2-40B4-BE49-F238E27FC236}">
                <a16:creationId xmlns:a16="http://schemas.microsoft.com/office/drawing/2014/main" id="{E6036BAD-320F-F3FD-2CD3-2330EBFD3CCA}"/>
              </a:ext>
            </a:extLst>
          </p:cNvPr>
          <p:cNvSpPr txBox="1">
            <a:spLocks noChangeArrowheads="1"/>
          </p:cNvSpPr>
          <p:nvPr/>
        </p:nvSpPr>
        <p:spPr bwMode="auto">
          <a:xfrm>
            <a:off x="2559217" y="4001857"/>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A</a:t>
            </a:r>
            <a:endParaRPr lang="zh-CN" altLang="en-US" sz="1600" b="1" dirty="0">
              <a:ln>
                <a:solidFill>
                  <a:schemeClr val="bg1"/>
                </a:solidFill>
              </a:ln>
              <a:latin typeface="微软雅黑" pitchFamily="34" charset="-122"/>
              <a:ea typeface="微软雅黑" pitchFamily="34" charset="-122"/>
            </a:endParaRPr>
          </a:p>
        </p:txBody>
      </p:sp>
      <p:sp>
        <p:nvSpPr>
          <p:cNvPr id="26" name="Text Box 19">
            <a:extLst>
              <a:ext uri="{FF2B5EF4-FFF2-40B4-BE49-F238E27FC236}">
                <a16:creationId xmlns:a16="http://schemas.microsoft.com/office/drawing/2014/main" id="{7ACFF2E3-2BD9-74D6-3081-772401125CE8}"/>
              </a:ext>
            </a:extLst>
          </p:cNvPr>
          <p:cNvSpPr txBox="1">
            <a:spLocks noChangeArrowheads="1"/>
          </p:cNvSpPr>
          <p:nvPr/>
        </p:nvSpPr>
        <p:spPr bwMode="auto">
          <a:xfrm>
            <a:off x="1365679" y="3641854"/>
            <a:ext cx="3257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B</a:t>
            </a:r>
            <a:endParaRPr lang="zh-CN" altLang="en-US" sz="1600" b="1" dirty="0">
              <a:ln>
                <a:solidFill>
                  <a:schemeClr val="bg1"/>
                </a:solidFill>
              </a:ln>
              <a:latin typeface="微软雅黑" pitchFamily="34" charset="-122"/>
              <a:ea typeface="微软雅黑" pitchFamily="34" charset="-122"/>
            </a:endParaRPr>
          </a:p>
        </p:txBody>
      </p:sp>
      <p:sp>
        <p:nvSpPr>
          <p:cNvPr id="30" name="Text Box 19">
            <a:extLst>
              <a:ext uri="{FF2B5EF4-FFF2-40B4-BE49-F238E27FC236}">
                <a16:creationId xmlns:a16="http://schemas.microsoft.com/office/drawing/2014/main" id="{E1D8FB86-369D-90D0-D9D0-1D8E4B347FDB}"/>
              </a:ext>
            </a:extLst>
          </p:cNvPr>
          <p:cNvSpPr txBox="1">
            <a:spLocks noChangeArrowheads="1"/>
          </p:cNvSpPr>
          <p:nvPr/>
        </p:nvSpPr>
        <p:spPr bwMode="auto">
          <a:xfrm>
            <a:off x="1906334" y="2730054"/>
            <a:ext cx="322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C</a:t>
            </a:r>
            <a:endParaRPr lang="zh-CN" altLang="en-US" sz="1600" b="1" dirty="0">
              <a:ln>
                <a:solidFill>
                  <a:schemeClr val="bg1"/>
                </a:solidFill>
              </a:ln>
              <a:latin typeface="微软雅黑" pitchFamily="34" charset="-122"/>
              <a:ea typeface="微软雅黑" pitchFamily="34" charset="-122"/>
            </a:endParaRPr>
          </a:p>
        </p:txBody>
      </p:sp>
      <p:sp>
        <p:nvSpPr>
          <p:cNvPr id="31" name="Text Box 19">
            <a:extLst>
              <a:ext uri="{FF2B5EF4-FFF2-40B4-BE49-F238E27FC236}">
                <a16:creationId xmlns:a16="http://schemas.microsoft.com/office/drawing/2014/main" id="{502ED702-3AE6-3158-C98E-7D64E6C39DB8}"/>
              </a:ext>
            </a:extLst>
          </p:cNvPr>
          <p:cNvSpPr txBox="1">
            <a:spLocks noChangeArrowheads="1"/>
          </p:cNvSpPr>
          <p:nvPr/>
        </p:nvSpPr>
        <p:spPr bwMode="auto">
          <a:xfrm>
            <a:off x="4937906" y="2717955"/>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D</a:t>
            </a:r>
            <a:endParaRPr lang="zh-CN" altLang="en-US" sz="1600" b="1" dirty="0">
              <a:ln>
                <a:solidFill>
                  <a:schemeClr val="bg1"/>
                </a:solidFill>
              </a:ln>
              <a:latin typeface="微软雅黑" pitchFamily="34" charset="-122"/>
              <a:ea typeface="微软雅黑" pitchFamily="34" charset="-122"/>
            </a:endParaRPr>
          </a:p>
        </p:txBody>
      </p:sp>
      <p:sp>
        <p:nvSpPr>
          <p:cNvPr id="32" name="Text Box 19">
            <a:extLst>
              <a:ext uri="{FF2B5EF4-FFF2-40B4-BE49-F238E27FC236}">
                <a16:creationId xmlns:a16="http://schemas.microsoft.com/office/drawing/2014/main" id="{93F54F6F-10A6-2364-194A-6B3BEEF61F27}"/>
              </a:ext>
            </a:extLst>
          </p:cNvPr>
          <p:cNvSpPr txBox="1">
            <a:spLocks noChangeArrowheads="1"/>
          </p:cNvSpPr>
          <p:nvPr/>
        </p:nvSpPr>
        <p:spPr bwMode="auto">
          <a:xfrm>
            <a:off x="5853181" y="3868312"/>
            <a:ext cx="3016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E</a:t>
            </a:r>
            <a:endParaRPr lang="zh-CN" altLang="en-US" sz="1600" b="1" dirty="0">
              <a:ln>
                <a:solidFill>
                  <a:schemeClr val="bg1"/>
                </a:solidFill>
              </a:ln>
              <a:latin typeface="微软雅黑" pitchFamily="34" charset="-122"/>
              <a:ea typeface="微软雅黑" pitchFamily="34" charset="-122"/>
            </a:endParaRPr>
          </a:p>
        </p:txBody>
      </p:sp>
      <p:sp>
        <p:nvSpPr>
          <p:cNvPr id="17" name="Text Box 17">
            <a:extLst>
              <a:ext uri="{FF2B5EF4-FFF2-40B4-BE49-F238E27FC236}">
                <a16:creationId xmlns:a16="http://schemas.microsoft.com/office/drawing/2014/main" id="{3DDE0CE6-C203-9274-0253-E7E65DFBA672}"/>
              </a:ext>
            </a:extLst>
          </p:cNvPr>
          <p:cNvSpPr txBox="1">
            <a:spLocks noChangeArrowheads="1"/>
          </p:cNvSpPr>
          <p:nvPr/>
        </p:nvSpPr>
        <p:spPr bwMode="auto">
          <a:xfrm>
            <a:off x="4143880" y="4115386"/>
            <a:ext cx="12147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两对双绞线全双工工作</a:t>
            </a:r>
          </a:p>
        </p:txBody>
      </p:sp>
      <p:sp>
        <p:nvSpPr>
          <p:cNvPr id="18" name="Line 18">
            <a:extLst>
              <a:ext uri="{FF2B5EF4-FFF2-40B4-BE49-F238E27FC236}">
                <a16:creationId xmlns:a16="http://schemas.microsoft.com/office/drawing/2014/main" id="{2A6CE671-3253-3DF0-905A-B1225BAAC77A}"/>
              </a:ext>
            </a:extLst>
          </p:cNvPr>
          <p:cNvSpPr>
            <a:spLocks noChangeShapeType="1"/>
          </p:cNvSpPr>
          <p:nvPr/>
        </p:nvSpPr>
        <p:spPr bwMode="auto">
          <a:xfrm flipV="1">
            <a:off x="4758744" y="3891626"/>
            <a:ext cx="154100" cy="233370"/>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7" name="组合 26">
            <a:extLst>
              <a:ext uri="{FF2B5EF4-FFF2-40B4-BE49-F238E27FC236}">
                <a16:creationId xmlns:a16="http://schemas.microsoft.com/office/drawing/2014/main" id="{828BC690-72D5-A4C5-666F-54A88BDF0155}"/>
              </a:ext>
            </a:extLst>
          </p:cNvPr>
          <p:cNvGrpSpPr/>
          <p:nvPr/>
        </p:nvGrpSpPr>
        <p:grpSpPr>
          <a:xfrm>
            <a:off x="6706791" y="2702054"/>
            <a:ext cx="1054100" cy="939800"/>
            <a:chOff x="3519743" y="1590932"/>
            <a:chExt cx="1054100" cy="939800"/>
          </a:xfrm>
        </p:grpSpPr>
        <p:grpSp>
          <p:nvGrpSpPr>
            <p:cNvPr id="28" name="组合 3127">
              <a:extLst>
                <a:ext uri="{FF2B5EF4-FFF2-40B4-BE49-F238E27FC236}">
                  <a16:creationId xmlns:a16="http://schemas.microsoft.com/office/drawing/2014/main" id="{B766A8A4-B448-C169-00BA-8ADD5F968736}"/>
                </a:ext>
              </a:extLst>
            </p:cNvPr>
            <p:cNvGrpSpPr>
              <a:grpSpLocks/>
            </p:cNvGrpSpPr>
            <p:nvPr/>
          </p:nvGrpSpPr>
          <p:grpSpPr bwMode="auto">
            <a:xfrm>
              <a:off x="3519743" y="1792544"/>
              <a:ext cx="862013" cy="738188"/>
              <a:chOff x="9770269" y="1090025"/>
              <a:chExt cx="862235" cy="737187"/>
            </a:xfrm>
          </p:grpSpPr>
          <p:cxnSp>
            <p:nvCxnSpPr>
              <p:cNvPr id="54" name="直接连接符 53">
                <a:extLst>
                  <a:ext uri="{FF2B5EF4-FFF2-40B4-BE49-F238E27FC236}">
                    <a16:creationId xmlns:a16="http://schemas.microsoft.com/office/drawing/2014/main" id="{884E21BC-0347-3D8E-D9C2-93F9EE10FFD4}"/>
                  </a:ext>
                </a:extLst>
              </p:cNvPr>
              <p:cNvCxnSpPr>
                <a:cxnSpLocks/>
              </p:cNvCxnSpPr>
              <p:nvPr/>
            </p:nvCxnSpPr>
            <p:spPr>
              <a:xfrm flipV="1">
                <a:off x="9770269" y="1097952"/>
                <a:ext cx="862235" cy="1585"/>
              </a:xfrm>
              <a:prstGeom prst="line">
                <a:avLst/>
              </a:prstGeom>
              <a:noFill/>
              <a:ln w="19050" cap="flat" cmpd="sng" algn="ctr">
                <a:solidFill>
                  <a:sysClr val="windowText" lastClr="000000"/>
                </a:solidFill>
                <a:prstDash val="solid"/>
                <a:miter lim="800000"/>
              </a:ln>
              <a:effectLst/>
            </p:spPr>
          </p:cxnSp>
          <p:cxnSp>
            <p:nvCxnSpPr>
              <p:cNvPr id="55" name="直接连接符 54">
                <a:extLst>
                  <a:ext uri="{FF2B5EF4-FFF2-40B4-BE49-F238E27FC236}">
                    <a16:creationId xmlns:a16="http://schemas.microsoft.com/office/drawing/2014/main" id="{70980305-B7AA-A846-62F5-C7C7E0DB7F51}"/>
                  </a:ext>
                </a:extLst>
              </p:cNvPr>
              <p:cNvCxnSpPr>
                <a:cxnSpLocks/>
              </p:cNvCxnSpPr>
              <p:nvPr/>
            </p:nvCxnSpPr>
            <p:spPr>
              <a:xfrm flipV="1">
                <a:off x="9770269" y="1250146"/>
                <a:ext cx="862235" cy="1585"/>
              </a:xfrm>
              <a:prstGeom prst="line">
                <a:avLst/>
              </a:prstGeom>
              <a:noFill/>
              <a:ln w="19050" cap="flat" cmpd="sng" algn="ctr">
                <a:solidFill>
                  <a:sysClr val="windowText" lastClr="000000"/>
                </a:solidFill>
                <a:prstDash val="solid"/>
                <a:miter lim="800000"/>
              </a:ln>
              <a:effectLst/>
            </p:spPr>
          </p:cxnSp>
          <p:cxnSp>
            <p:nvCxnSpPr>
              <p:cNvPr id="56" name="直接连接符 55">
                <a:extLst>
                  <a:ext uri="{FF2B5EF4-FFF2-40B4-BE49-F238E27FC236}">
                    <a16:creationId xmlns:a16="http://schemas.microsoft.com/office/drawing/2014/main" id="{9C488916-266A-FBB4-3FB5-90ACC47555CF}"/>
                  </a:ext>
                </a:extLst>
              </p:cNvPr>
              <p:cNvCxnSpPr>
                <a:cxnSpLocks/>
              </p:cNvCxnSpPr>
              <p:nvPr/>
            </p:nvCxnSpPr>
            <p:spPr>
              <a:xfrm flipV="1">
                <a:off x="9770269" y="1402339"/>
                <a:ext cx="862235" cy="1585"/>
              </a:xfrm>
              <a:prstGeom prst="line">
                <a:avLst/>
              </a:prstGeom>
              <a:noFill/>
              <a:ln w="19050" cap="flat" cmpd="sng" algn="ctr">
                <a:solidFill>
                  <a:sysClr val="windowText" lastClr="000000"/>
                </a:solidFill>
                <a:prstDash val="solid"/>
                <a:miter lim="800000"/>
              </a:ln>
              <a:effectLst/>
            </p:spPr>
          </p:cxnSp>
          <p:cxnSp>
            <p:nvCxnSpPr>
              <p:cNvPr id="57" name="直接连接符 56">
                <a:extLst>
                  <a:ext uri="{FF2B5EF4-FFF2-40B4-BE49-F238E27FC236}">
                    <a16:creationId xmlns:a16="http://schemas.microsoft.com/office/drawing/2014/main" id="{220829C2-71B6-B15D-C945-AE2EE929085C}"/>
                  </a:ext>
                </a:extLst>
              </p:cNvPr>
              <p:cNvCxnSpPr>
                <a:cxnSpLocks/>
              </p:cNvCxnSpPr>
              <p:nvPr/>
            </p:nvCxnSpPr>
            <p:spPr>
              <a:xfrm flipV="1">
                <a:off x="9770269" y="1554532"/>
                <a:ext cx="862235" cy="1585"/>
              </a:xfrm>
              <a:prstGeom prst="line">
                <a:avLst/>
              </a:prstGeom>
              <a:noFill/>
              <a:ln w="19050" cap="flat" cmpd="sng" algn="ctr">
                <a:solidFill>
                  <a:sysClr val="windowText" lastClr="000000"/>
                </a:solidFill>
                <a:prstDash val="solid"/>
                <a:miter lim="800000"/>
              </a:ln>
              <a:effectLst/>
            </p:spPr>
          </p:cxnSp>
          <p:grpSp>
            <p:nvGrpSpPr>
              <p:cNvPr id="58" name="组合 3125">
                <a:extLst>
                  <a:ext uri="{FF2B5EF4-FFF2-40B4-BE49-F238E27FC236}">
                    <a16:creationId xmlns:a16="http://schemas.microsoft.com/office/drawing/2014/main" id="{1611642E-4981-4470-3A63-4743BECB4F96}"/>
                  </a:ext>
                </a:extLst>
              </p:cNvPr>
              <p:cNvGrpSpPr>
                <a:grpSpLocks/>
              </p:cNvGrpSpPr>
              <p:nvPr/>
            </p:nvGrpSpPr>
            <p:grpSpPr bwMode="auto">
              <a:xfrm>
                <a:off x="10165778" y="1090025"/>
                <a:ext cx="457201" cy="737187"/>
                <a:chOff x="10175303" y="1104313"/>
                <a:chExt cx="457201" cy="956535"/>
              </a:xfrm>
            </p:grpSpPr>
            <p:cxnSp>
              <p:nvCxnSpPr>
                <p:cNvPr id="59" name="直接连接符 58">
                  <a:extLst>
                    <a:ext uri="{FF2B5EF4-FFF2-40B4-BE49-F238E27FC236}">
                      <a16:creationId xmlns:a16="http://schemas.microsoft.com/office/drawing/2014/main" id="{AD32F0C1-0065-B374-F256-250BF941284C}"/>
                    </a:ext>
                  </a:extLst>
                </p:cNvPr>
                <p:cNvCxnSpPr>
                  <a:cxnSpLocks/>
                </p:cNvCxnSpPr>
                <p:nvPr/>
              </p:nvCxnSpPr>
              <p:spPr>
                <a:xfrm flipV="1">
                  <a:off x="10175184" y="1104313"/>
                  <a:ext cx="0" cy="956535"/>
                </a:xfrm>
                <a:prstGeom prst="line">
                  <a:avLst/>
                </a:prstGeom>
                <a:noFill/>
                <a:ln w="19050" cap="flat" cmpd="sng" algn="ctr">
                  <a:solidFill>
                    <a:sysClr val="windowText" lastClr="000000"/>
                  </a:solidFill>
                  <a:prstDash val="solid"/>
                  <a:miter lim="800000"/>
                </a:ln>
                <a:effectLst/>
              </p:spPr>
            </p:cxnSp>
            <p:cxnSp>
              <p:nvCxnSpPr>
                <p:cNvPr id="60" name="直接连接符 59">
                  <a:extLst>
                    <a:ext uri="{FF2B5EF4-FFF2-40B4-BE49-F238E27FC236}">
                      <a16:creationId xmlns:a16="http://schemas.microsoft.com/office/drawing/2014/main" id="{D07E7D98-3B79-E96D-B0FF-DC0ECAC44551}"/>
                    </a:ext>
                  </a:extLst>
                </p:cNvPr>
                <p:cNvCxnSpPr>
                  <a:cxnSpLocks/>
                </p:cNvCxnSpPr>
                <p:nvPr/>
              </p:nvCxnSpPr>
              <p:spPr>
                <a:xfrm flipV="1">
                  <a:off x="10327623" y="1104313"/>
                  <a:ext cx="0" cy="956535"/>
                </a:xfrm>
                <a:prstGeom prst="line">
                  <a:avLst/>
                </a:prstGeom>
                <a:noFill/>
                <a:ln w="19050" cap="flat" cmpd="sng" algn="ctr">
                  <a:solidFill>
                    <a:sysClr val="windowText" lastClr="000000"/>
                  </a:solidFill>
                  <a:prstDash val="solid"/>
                  <a:miter lim="800000"/>
                </a:ln>
                <a:effectLst/>
              </p:spPr>
            </p:cxnSp>
            <p:cxnSp>
              <p:nvCxnSpPr>
                <p:cNvPr id="61" name="直接连接符 60">
                  <a:extLst>
                    <a:ext uri="{FF2B5EF4-FFF2-40B4-BE49-F238E27FC236}">
                      <a16:creationId xmlns:a16="http://schemas.microsoft.com/office/drawing/2014/main" id="{AF278247-E81F-C662-781E-027966580DF3}"/>
                    </a:ext>
                  </a:extLst>
                </p:cNvPr>
                <p:cNvCxnSpPr>
                  <a:cxnSpLocks/>
                </p:cNvCxnSpPr>
                <p:nvPr/>
              </p:nvCxnSpPr>
              <p:spPr>
                <a:xfrm flipV="1">
                  <a:off x="10480063" y="1104313"/>
                  <a:ext cx="0" cy="956535"/>
                </a:xfrm>
                <a:prstGeom prst="line">
                  <a:avLst/>
                </a:prstGeom>
                <a:noFill/>
                <a:ln w="19050" cap="flat" cmpd="sng" algn="ctr">
                  <a:solidFill>
                    <a:sysClr val="windowText" lastClr="000000"/>
                  </a:solidFill>
                  <a:prstDash val="solid"/>
                  <a:miter lim="800000"/>
                </a:ln>
                <a:effectLst/>
              </p:spPr>
            </p:cxnSp>
            <p:cxnSp>
              <p:nvCxnSpPr>
                <p:cNvPr id="62" name="直接连接符 61">
                  <a:extLst>
                    <a:ext uri="{FF2B5EF4-FFF2-40B4-BE49-F238E27FC236}">
                      <a16:creationId xmlns:a16="http://schemas.microsoft.com/office/drawing/2014/main" id="{F8A9F03E-E19B-0BAC-0F7C-394103BC5099}"/>
                    </a:ext>
                  </a:extLst>
                </p:cNvPr>
                <p:cNvCxnSpPr>
                  <a:cxnSpLocks/>
                </p:cNvCxnSpPr>
                <p:nvPr/>
              </p:nvCxnSpPr>
              <p:spPr>
                <a:xfrm flipV="1">
                  <a:off x="10632502" y="1104313"/>
                  <a:ext cx="0" cy="956535"/>
                </a:xfrm>
                <a:prstGeom prst="line">
                  <a:avLst/>
                </a:prstGeom>
                <a:noFill/>
                <a:ln w="19050" cap="flat" cmpd="sng" algn="ctr">
                  <a:solidFill>
                    <a:sysClr val="windowText" lastClr="000000"/>
                  </a:solidFill>
                  <a:prstDash val="solid"/>
                  <a:miter lim="800000"/>
                </a:ln>
                <a:effectLst/>
              </p:spPr>
            </p:cxnSp>
          </p:grpSp>
        </p:grpSp>
        <p:sp>
          <p:nvSpPr>
            <p:cNvPr id="29" name="椭圆 28">
              <a:extLst>
                <a:ext uri="{FF2B5EF4-FFF2-40B4-BE49-F238E27FC236}">
                  <a16:creationId xmlns:a16="http://schemas.microsoft.com/office/drawing/2014/main" id="{39F648A5-B920-B870-32CC-1ED13294C120}"/>
                </a:ext>
              </a:extLst>
            </p:cNvPr>
            <p:cNvSpPr/>
            <p:nvPr/>
          </p:nvSpPr>
          <p:spPr>
            <a:xfrm>
              <a:off x="3691193" y="1590932"/>
              <a:ext cx="882650" cy="890587"/>
            </a:xfrm>
            <a:prstGeom prst="ellipse">
              <a:avLst/>
            </a:prstGeom>
            <a:noFill/>
            <a:ln w="12700" cap="flat" cmpd="sng" algn="ctr">
              <a:solidFill>
                <a:srgbClr val="4472C4">
                  <a:shade val="15000"/>
                </a:srgbClr>
              </a:solidFill>
              <a:prstDash val="dash"/>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3" name="椭圆 32">
              <a:extLst>
                <a:ext uri="{FF2B5EF4-FFF2-40B4-BE49-F238E27FC236}">
                  <a16:creationId xmlns:a16="http://schemas.microsoft.com/office/drawing/2014/main" id="{6CA71563-B0AD-E1E9-16AB-C7829C0CC72B}"/>
                </a:ext>
              </a:extLst>
            </p:cNvPr>
            <p:cNvSpPr/>
            <p:nvPr/>
          </p:nvSpPr>
          <p:spPr>
            <a:xfrm>
              <a:off x="3878518" y="1762382"/>
              <a:ext cx="73025"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6" name="椭圆 35">
              <a:extLst>
                <a:ext uri="{FF2B5EF4-FFF2-40B4-BE49-F238E27FC236}">
                  <a16:creationId xmlns:a16="http://schemas.microsoft.com/office/drawing/2014/main" id="{084449FD-C46E-F21C-2821-21C84898D77A}"/>
                </a:ext>
              </a:extLst>
            </p:cNvPr>
            <p:cNvSpPr/>
            <p:nvPr/>
          </p:nvSpPr>
          <p:spPr>
            <a:xfrm>
              <a:off x="4035681" y="1919544"/>
              <a:ext cx="65087" cy="6667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椭圆 36">
              <a:extLst>
                <a:ext uri="{FF2B5EF4-FFF2-40B4-BE49-F238E27FC236}">
                  <a16:creationId xmlns:a16="http://schemas.microsoft.com/office/drawing/2014/main" id="{A153B9E7-67E0-EAEE-984A-756D486DA68F}"/>
                </a:ext>
              </a:extLst>
            </p:cNvPr>
            <p:cNvSpPr/>
            <p:nvPr/>
          </p:nvSpPr>
          <p:spPr>
            <a:xfrm>
              <a:off x="4180143" y="2067182"/>
              <a:ext cx="71438"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9" name="椭圆 38">
              <a:extLst>
                <a:ext uri="{FF2B5EF4-FFF2-40B4-BE49-F238E27FC236}">
                  <a16:creationId xmlns:a16="http://schemas.microsoft.com/office/drawing/2014/main" id="{11D0D311-077A-73D2-DAA3-1BD797A1BB65}"/>
                </a:ext>
              </a:extLst>
            </p:cNvPr>
            <p:cNvSpPr/>
            <p:nvPr/>
          </p:nvSpPr>
          <p:spPr>
            <a:xfrm>
              <a:off x="4343656" y="2224344"/>
              <a:ext cx="73025"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椭圆 39">
              <a:extLst>
                <a:ext uri="{FF2B5EF4-FFF2-40B4-BE49-F238E27FC236}">
                  <a16:creationId xmlns:a16="http://schemas.microsoft.com/office/drawing/2014/main" id="{D87D4423-A48E-837B-87A8-4F304D85C79E}"/>
                </a:ext>
              </a:extLst>
            </p:cNvPr>
            <p:cNvSpPr/>
            <p:nvPr/>
          </p:nvSpPr>
          <p:spPr>
            <a:xfrm>
              <a:off x="4184906" y="1762382"/>
              <a:ext cx="71437"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2" name="椭圆 41">
              <a:extLst>
                <a:ext uri="{FF2B5EF4-FFF2-40B4-BE49-F238E27FC236}">
                  <a16:creationId xmlns:a16="http://schemas.microsoft.com/office/drawing/2014/main" id="{27D94183-21F2-317A-258D-B8F832FA4EBD}"/>
                </a:ext>
              </a:extLst>
            </p:cNvPr>
            <p:cNvSpPr/>
            <p:nvPr/>
          </p:nvSpPr>
          <p:spPr>
            <a:xfrm>
              <a:off x="4188081" y="2227519"/>
              <a:ext cx="71437"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4" name="椭圆 43">
              <a:extLst>
                <a:ext uri="{FF2B5EF4-FFF2-40B4-BE49-F238E27FC236}">
                  <a16:creationId xmlns:a16="http://schemas.microsoft.com/office/drawing/2014/main" id="{FB79844F-E6F7-A0EF-7743-0196D7649C2A}"/>
                </a:ext>
              </a:extLst>
            </p:cNvPr>
            <p:cNvSpPr/>
            <p:nvPr/>
          </p:nvSpPr>
          <p:spPr>
            <a:xfrm>
              <a:off x="3870581" y="2232282"/>
              <a:ext cx="73025"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5" name="椭圆 44">
              <a:extLst>
                <a:ext uri="{FF2B5EF4-FFF2-40B4-BE49-F238E27FC236}">
                  <a16:creationId xmlns:a16="http://schemas.microsoft.com/office/drawing/2014/main" id="{6F48DAAC-0860-5A17-B7C2-DA395BD693FA}"/>
                </a:ext>
              </a:extLst>
            </p:cNvPr>
            <p:cNvSpPr/>
            <p:nvPr/>
          </p:nvSpPr>
          <p:spPr>
            <a:xfrm>
              <a:off x="4030918" y="2229107"/>
              <a:ext cx="71438"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6" name="椭圆 45">
              <a:extLst>
                <a:ext uri="{FF2B5EF4-FFF2-40B4-BE49-F238E27FC236}">
                  <a16:creationId xmlns:a16="http://schemas.microsoft.com/office/drawing/2014/main" id="{4664F3B6-D504-DAC3-19BF-3C52249AA7E7}"/>
                </a:ext>
              </a:extLst>
            </p:cNvPr>
            <p:cNvSpPr/>
            <p:nvPr/>
          </p:nvSpPr>
          <p:spPr>
            <a:xfrm>
              <a:off x="4032506" y="1762382"/>
              <a:ext cx="71437"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7" name="椭圆 46">
              <a:extLst>
                <a:ext uri="{FF2B5EF4-FFF2-40B4-BE49-F238E27FC236}">
                  <a16:creationId xmlns:a16="http://schemas.microsoft.com/office/drawing/2014/main" id="{CC7D4329-D235-869C-E538-1A178F6973E6}"/>
                </a:ext>
              </a:extLst>
            </p:cNvPr>
            <p:cNvSpPr/>
            <p:nvPr/>
          </p:nvSpPr>
          <p:spPr>
            <a:xfrm>
              <a:off x="3873756" y="1916369"/>
              <a:ext cx="71437"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8" name="椭圆 47">
              <a:extLst>
                <a:ext uri="{FF2B5EF4-FFF2-40B4-BE49-F238E27FC236}">
                  <a16:creationId xmlns:a16="http://schemas.microsoft.com/office/drawing/2014/main" id="{34104F50-2A88-4795-2CA6-5AE64CDE93BB}"/>
                </a:ext>
              </a:extLst>
            </p:cNvPr>
            <p:cNvSpPr/>
            <p:nvPr/>
          </p:nvSpPr>
          <p:spPr>
            <a:xfrm>
              <a:off x="4188081" y="1921132"/>
              <a:ext cx="73025"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9" name="椭圆 48">
              <a:extLst>
                <a:ext uri="{FF2B5EF4-FFF2-40B4-BE49-F238E27FC236}">
                  <a16:creationId xmlns:a16="http://schemas.microsoft.com/office/drawing/2014/main" id="{AD2CD0DB-A5C2-03FA-A724-DF403C3AB709}"/>
                </a:ext>
              </a:extLst>
            </p:cNvPr>
            <p:cNvSpPr/>
            <p:nvPr/>
          </p:nvSpPr>
          <p:spPr>
            <a:xfrm>
              <a:off x="4332543" y="1760794"/>
              <a:ext cx="73025"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0" name="椭圆 49">
              <a:extLst>
                <a:ext uri="{FF2B5EF4-FFF2-40B4-BE49-F238E27FC236}">
                  <a16:creationId xmlns:a16="http://schemas.microsoft.com/office/drawing/2014/main" id="{8D85D5CA-D5D4-A773-8DF8-03488E91B228}"/>
                </a:ext>
              </a:extLst>
            </p:cNvPr>
            <p:cNvSpPr/>
            <p:nvPr/>
          </p:nvSpPr>
          <p:spPr>
            <a:xfrm>
              <a:off x="4335718" y="2068769"/>
              <a:ext cx="71438"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1" name="椭圆 50">
              <a:extLst>
                <a:ext uri="{FF2B5EF4-FFF2-40B4-BE49-F238E27FC236}">
                  <a16:creationId xmlns:a16="http://schemas.microsoft.com/office/drawing/2014/main" id="{E671578F-52DD-161F-F231-512832431A36}"/>
                </a:ext>
              </a:extLst>
            </p:cNvPr>
            <p:cNvSpPr/>
            <p:nvPr/>
          </p:nvSpPr>
          <p:spPr>
            <a:xfrm>
              <a:off x="4335718" y="1921132"/>
              <a:ext cx="71438"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2" name="椭圆 51">
              <a:extLst>
                <a:ext uri="{FF2B5EF4-FFF2-40B4-BE49-F238E27FC236}">
                  <a16:creationId xmlns:a16="http://schemas.microsoft.com/office/drawing/2014/main" id="{30DC8014-768F-698E-3B3E-833D21E283F6}"/>
                </a:ext>
              </a:extLst>
            </p:cNvPr>
            <p:cNvSpPr/>
            <p:nvPr/>
          </p:nvSpPr>
          <p:spPr>
            <a:xfrm>
              <a:off x="3875343" y="2075119"/>
              <a:ext cx="73025"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3" name="椭圆 52">
              <a:extLst>
                <a:ext uri="{FF2B5EF4-FFF2-40B4-BE49-F238E27FC236}">
                  <a16:creationId xmlns:a16="http://schemas.microsoft.com/office/drawing/2014/main" id="{51300E43-FF21-7989-3423-D73D8A470151}"/>
                </a:ext>
              </a:extLst>
            </p:cNvPr>
            <p:cNvSpPr/>
            <p:nvPr/>
          </p:nvSpPr>
          <p:spPr>
            <a:xfrm>
              <a:off x="4032506" y="2076707"/>
              <a:ext cx="71437"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sp>
        <p:nvSpPr>
          <p:cNvPr id="66" name="Rectangle 46">
            <a:extLst>
              <a:ext uri="{FF2B5EF4-FFF2-40B4-BE49-F238E27FC236}">
                <a16:creationId xmlns:a16="http://schemas.microsoft.com/office/drawing/2014/main" id="{598F1B19-B73E-D514-C4AF-0B3ACB2D4F4D}"/>
              </a:ext>
            </a:extLst>
          </p:cNvPr>
          <p:cNvSpPr>
            <a:spLocks noChangeArrowheads="1"/>
          </p:cNvSpPr>
          <p:nvPr/>
        </p:nvSpPr>
        <p:spPr bwMode="auto">
          <a:xfrm>
            <a:off x="6639783" y="3618041"/>
            <a:ext cx="1362746" cy="358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lnSpc>
                <a:spcPts val="2200"/>
              </a:lnSpc>
              <a:buClr>
                <a:srgbClr val="0070C0"/>
              </a:buClr>
            </a:pPr>
            <a:r>
              <a:rPr lang="zh-CN" altLang="en-US" sz="1400" b="1" dirty="0">
                <a:latin typeface="微软雅黑" pitchFamily="34" charset="-122"/>
                <a:ea typeface="微软雅黑" pitchFamily="34" charset="-122"/>
              </a:rPr>
              <a:t>交叉开关结构</a:t>
            </a:r>
          </a:p>
        </p:txBody>
      </p:sp>
      <p:grpSp>
        <p:nvGrpSpPr>
          <p:cNvPr id="12" name="组合 11">
            <a:extLst>
              <a:ext uri="{FF2B5EF4-FFF2-40B4-BE49-F238E27FC236}">
                <a16:creationId xmlns:a16="http://schemas.microsoft.com/office/drawing/2014/main" id="{816256D8-DA8F-F509-D822-B457C6AE45C2}"/>
              </a:ext>
            </a:extLst>
          </p:cNvPr>
          <p:cNvGrpSpPr/>
          <p:nvPr/>
        </p:nvGrpSpPr>
        <p:grpSpPr>
          <a:xfrm flipH="1">
            <a:off x="3132718" y="3393398"/>
            <a:ext cx="1053690" cy="513118"/>
            <a:chOff x="-1040282" y="2966227"/>
            <a:chExt cx="965089" cy="530598"/>
          </a:xfrm>
        </p:grpSpPr>
        <p:sp>
          <p:nvSpPr>
            <p:cNvPr id="25" name="任意多边形: 形状 24">
              <a:extLst>
                <a:ext uri="{FF2B5EF4-FFF2-40B4-BE49-F238E27FC236}">
                  <a16:creationId xmlns:a16="http://schemas.microsoft.com/office/drawing/2014/main" id="{3543CADB-02E8-2F9E-6D55-A20DE0962B3B}"/>
                </a:ext>
              </a:extLst>
            </p:cNvPr>
            <p:cNvSpPr/>
            <p:nvPr/>
          </p:nvSpPr>
          <p:spPr>
            <a:xfrm>
              <a:off x="-786581" y="3106994"/>
              <a:ext cx="693175" cy="353961"/>
            </a:xfrm>
            <a:custGeom>
              <a:avLst/>
              <a:gdLst>
                <a:gd name="connsiteX0" fmla="*/ 0 w 693175"/>
                <a:gd name="connsiteY0" fmla="*/ 216309 h 353961"/>
                <a:gd name="connsiteX1" fmla="*/ 693175 w 693175"/>
                <a:gd name="connsiteY1" fmla="*/ 0 h 353961"/>
                <a:gd name="connsiteX2" fmla="*/ 688258 w 693175"/>
                <a:gd name="connsiteY2" fmla="*/ 117987 h 353961"/>
                <a:gd name="connsiteX3" fmla="*/ 29497 w 693175"/>
                <a:gd name="connsiteY3" fmla="*/ 353961 h 353961"/>
                <a:gd name="connsiteX4" fmla="*/ 0 w 693175"/>
                <a:gd name="connsiteY4" fmla="*/ 216309 h 353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175" h="353961">
                  <a:moveTo>
                    <a:pt x="0" y="216309"/>
                  </a:moveTo>
                  <a:lnTo>
                    <a:pt x="693175" y="0"/>
                  </a:lnTo>
                  <a:lnTo>
                    <a:pt x="688258" y="117987"/>
                  </a:lnTo>
                  <a:lnTo>
                    <a:pt x="29497" y="353961"/>
                  </a:lnTo>
                  <a:lnTo>
                    <a:pt x="0" y="216309"/>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Picture 23" descr="RG-S1848图片（低容量版）">
              <a:extLst>
                <a:ext uri="{FF2B5EF4-FFF2-40B4-BE49-F238E27FC236}">
                  <a16:creationId xmlns:a16="http://schemas.microsoft.com/office/drawing/2014/main" id="{2958D83A-A930-060A-AD90-379259081C63}"/>
                </a:ext>
              </a:extLst>
            </p:cNvPr>
            <p:cNvPicPr>
              <a:picLocks noChangeAspect="1" noChangeArrowheads="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040282" y="2966227"/>
              <a:ext cx="965089" cy="530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任意多边形: 形状 13">
            <a:extLst>
              <a:ext uri="{FF2B5EF4-FFF2-40B4-BE49-F238E27FC236}">
                <a16:creationId xmlns:a16="http://schemas.microsoft.com/office/drawing/2014/main" id="{5CA3A75C-6E28-5445-3AED-DF4B2CD17731}"/>
              </a:ext>
            </a:extLst>
          </p:cNvPr>
          <p:cNvSpPr/>
          <p:nvPr/>
        </p:nvSpPr>
        <p:spPr>
          <a:xfrm>
            <a:off x="2917025" y="3021052"/>
            <a:ext cx="1866640" cy="1206500"/>
          </a:xfrm>
          <a:custGeom>
            <a:avLst/>
            <a:gdLst>
              <a:gd name="connsiteX0" fmla="*/ 0 w 878219"/>
              <a:gd name="connsiteY0" fmla="*/ 1207140 h 1207140"/>
              <a:gd name="connsiteX1" fmla="*/ 115122 w 878219"/>
              <a:gd name="connsiteY1" fmla="*/ 707180 h 1207140"/>
              <a:gd name="connsiteX2" fmla="*/ 309186 w 878219"/>
              <a:gd name="connsiteY2" fmla="*/ 549298 h 1207140"/>
              <a:gd name="connsiteX3" fmla="*/ 878219 w 878219"/>
              <a:gd name="connsiteY3" fmla="*/ 0 h 1207140"/>
              <a:gd name="connsiteX0" fmla="*/ 0 w 878219"/>
              <a:gd name="connsiteY0" fmla="*/ 1207140 h 1207140"/>
              <a:gd name="connsiteX1" fmla="*/ 141436 w 878219"/>
              <a:gd name="connsiteY1" fmla="*/ 740072 h 1207140"/>
              <a:gd name="connsiteX2" fmla="*/ 309186 w 878219"/>
              <a:gd name="connsiteY2" fmla="*/ 549298 h 1207140"/>
              <a:gd name="connsiteX3" fmla="*/ 878219 w 878219"/>
              <a:gd name="connsiteY3" fmla="*/ 0 h 1207140"/>
              <a:gd name="connsiteX0" fmla="*/ 0 w 878219"/>
              <a:gd name="connsiteY0" fmla="*/ 1207140 h 1207140"/>
              <a:gd name="connsiteX1" fmla="*/ 177617 w 878219"/>
              <a:gd name="connsiteY1" fmla="*/ 723626 h 1207140"/>
              <a:gd name="connsiteX2" fmla="*/ 309186 w 878219"/>
              <a:gd name="connsiteY2" fmla="*/ 549298 h 1207140"/>
              <a:gd name="connsiteX3" fmla="*/ 878219 w 878219"/>
              <a:gd name="connsiteY3" fmla="*/ 0 h 1207140"/>
              <a:gd name="connsiteX0" fmla="*/ 0 w 878219"/>
              <a:gd name="connsiteY0" fmla="*/ 1207140 h 1207140"/>
              <a:gd name="connsiteX1" fmla="*/ 161171 w 878219"/>
              <a:gd name="connsiteY1" fmla="*/ 723626 h 1207140"/>
              <a:gd name="connsiteX2" fmla="*/ 309186 w 878219"/>
              <a:gd name="connsiteY2" fmla="*/ 549298 h 1207140"/>
              <a:gd name="connsiteX3" fmla="*/ 878219 w 878219"/>
              <a:gd name="connsiteY3" fmla="*/ 0 h 1207140"/>
              <a:gd name="connsiteX0" fmla="*/ 0 w 878219"/>
              <a:gd name="connsiteY0" fmla="*/ 1207140 h 1207140"/>
              <a:gd name="connsiteX1" fmla="*/ 161171 w 878219"/>
              <a:gd name="connsiteY1" fmla="*/ 723626 h 1207140"/>
              <a:gd name="connsiteX2" fmla="*/ 309186 w 878219"/>
              <a:gd name="connsiteY2" fmla="*/ 549298 h 1207140"/>
              <a:gd name="connsiteX3" fmla="*/ 878219 w 878219"/>
              <a:gd name="connsiteY3" fmla="*/ 0 h 1207140"/>
            </a:gdLst>
            <a:ahLst/>
            <a:cxnLst>
              <a:cxn ang="0">
                <a:pos x="connsiteX0" y="connsiteY0"/>
              </a:cxn>
              <a:cxn ang="0">
                <a:pos x="connsiteX1" y="connsiteY1"/>
              </a:cxn>
              <a:cxn ang="0">
                <a:pos x="connsiteX2" y="connsiteY2"/>
              </a:cxn>
              <a:cxn ang="0">
                <a:pos x="connsiteX3" y="connsiteY3"/>
              </a:cxn>
            </a:cxnLst>
            <a:rect l="l" t="t" r="r" b="b"/>
            <a:pathLst>
              <a:path w="878219" h="1207140">
                <a:moveTo>
                  <a:pt x="0" y="1207140"/>
                </a:moveTo>
                <a:cubicBezTo>
                  <a:pt x="31795" y="1011980"/>
                  <a:pt x="93194" y="829977"/>
                  <a:pt x="161171" y="723626"/>
                </a:cubicBezTo>
                <a:cubicBezTo>
                  <a:pt x="229148" y="617275"/>
                  <a:pt x="182003" y="667161"/>
                  <a:pt x="309186" y="549298"/>
                </a:cubicBezTo>
                <a:cubicBezTo>
                  <a:pt x="436369" y="431435"/>
                  <a:pt x="657294" y="215717"/>
                  <a:pt x="878219" y="0"/>
                </a:cubicBezTo>
              </a:path>
            </a:pathLst>
          </a:custGeom>
          <a:ln>
            <a:tailEnd type="triangle"/>
          </a:ln>
        </p:spPr>
        <p:style>
          <a:lnRef idx="3">
            <a:schemeClr val="accent6"/>
          </a:lnRef>
          <a:fillRef idx="0">
            <a:schemeClr val="accent6"/>
          </a:fillRef>
          <a:effectRef idx="2">
            <a:schemeClr val="accent6"/>
          </a:effectRef>
          <a:fontRef idx="minor">
            <a:schemeClr val="tx1"/>
          </a:fontRef>
        </p:style>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6" name="任意多边形: 形状 15">
            <a:extLst>
              <a:ext uri="{FF2B5EF4-FFF2-40B4-BE49-F238E27FC236}">
                <a16:creationId xmlns:a16="http://schemas.microsoft.com/office/drawing/2014/main" id="{9BECECA8-720F-1A75-7F19-FF11ED7D6B52}"/>
              </a:ext>
            </a:extLst>
          </p:cNvPr>
          <p:cNvSpPr/>
          <p:nvPr/>
        </p:nvSpPr>
        <p:spPr>
          <a:xfrm rot="21423187">
            <a:off x="1641799" y="3265841"/>
            <a:ext cx="1723176" cy="443447"/>
          </a:xfrm>
          <a:custGeom>
            <a:avLst/>
            <a:gdLst>
              <a:gd name="connsiteX0" fmla="*/ 0 w 1018997"/>
              <a:gd name="connsiteY0" fmla="*/ 525929 h 525929"/>
              <a:gd name="connsiteX1" fmla="*/ 914400 w 1018997"/>
              <a:gd name="connsiteY1" fmla="*/ 412376 h 525929"/>
              <a:gd name="connsiteX2" fmla="*/ 1004048 w 1018997"/>
              <a:gd name="connsiteY2" fmla="*/ 298823 h 525929"/>
              <a:gd name="connsiteX3" fmla="*/ 962212 w 1018997"/>
              <a:gd name="connsiteY3" fmla="*/ 268941 h 525929"/>
              <a:gd name="connsiteX4" fmla="*/ 585695 w 1018997"/>
              <a:gd name="connsiteY4" fmla="*/ 0 h 525929"/>
              <a:gd name="connsiteX0" fmla="*/ 0 w 1018997"/>
              <a:gd name="connsiteY0" fmla="*/ 553759 h 553759"/>
              <a:gd name="connsiteX1" fmla="*/ 914400 w 1018997"/>
              <a:gd name="connsiteY1" fmla="*/ 440206 h 553759"/>
              <a:gd name="connsiteX2" fmla="*/ 1004048 w 1018997"/>
              <a:gd name="connsiteY2" fmla="*/ 326653 h 553759"/>
              <a:gd name="connsiteX3" fmla="*/ 962212 w 1018997"/>
              <a:gd name="connsiteY3" fmla="*/ 296771 h 553759"/>
              <a:gd name="connsiteX4" fmla="*/ 565816 w 1018997"/>
              <a:gd name="connsiteY4" fmla="*/ 0 h 553759"/>
              <a:gd name="connsiteX0" fmla="*/ 0 w 1012462"/>
              <a:gd name="connsiteY0" fmla="*/ 553759 h 553759"/>
              <a:gd name="connsiteX1" fmla="*/ 914400 w 1012462"/>
              <a:gd name="connsiteY1" fmla="*/ 440206 h 553759"/>
              <a:gd name="connsiteX2" fmla="*/ 992121 w 1012462"/>
              <a:gd name="connsiteY2" fmla="*/ 334604 h 553759"/>
              <a:gd name="connsiteX3" fmla="*/ 962212 w 1012462"/>
              <a:gd name="connsiteY3" fmla="*/ 296771 h 553759"/>
              <a:gd name="connsiteX4" fmla="*/ 565816 w 1012462"/>
              <a:gd name="connsiteY4" fmla="*/ 0 h 553759"/>
              <a:gd name="connsiteX0" fmla="*/ 0 w 1018997"/>
              <a:gd name="connsiteY0" fmla="*/ 553759 h 553759"/>
              <a:gd name="connsiteX1" fmla="*/ 914400 w 1018997"/>
              <a:gd name="connsiteY1" fmla="*/ 440206 h 553759"/>
              <a:gd name="connsiteX2" fmla="*/ 1004048 w 1018997"/>
              <a:gd name="connsiteY2" fmla="*/ 342555 h 553759"/>
              <a:gd name="connsiteX3" fmla="*/ 962212 w 1018997"/>
              <a:gd name="connsiteY3" fmla="*/ 296771 h 553759"/>
              <a:gd name="connsiteX4" fmla="*/ 565816 w 1018997"/>
              <a:gd name="connsiteY4" fmla="*/ 0 h 553759"/>
              <a:gd name="connsiteX0" fmla="*/ 0 w 1020516"/>
              <a:gd name="connsiteY0" fmla="*/ 553759 h 553759"/>
              <a:gd name="connsiteX1" fmla="*/ 914400 w 1020516"/>
              <a:gd name="connsiteY1" fmla="*/ 440206 h 553759"/>
              <a:gd name="connsiteX2" fmla="*/ 1004048 w 1020516"/>
              <a:gd name="connsiteY2" fmla="*/ 342555 h 553759"/>
              <a:gd name="connsiteX3" fmla="*/ 938358 w 1020516"/>
              <a:gd name="connsiteY3" fmla="*/ 268942 h 553759"/>
              <a:gd name="connsiteX4" fmla="*/ 565816 w 1020516"/>
              <a:gd name="connsiteY4" fmla="*/ 0 h 553759"/>
              <a:gd name="connsiteX0" fmla="*/ 0 w 1027726"/>
              <a:gd name="connsiteY0" fmla="*/ 553759 h 553759"/>
              <a:gd name="connsiteX1" fmla="*/ 914400 w 1027726"/>
              <a:gd name="connsiteY1" fmla="*/ 440206 h 553759"/>
              <a:gd name="connsiteX2" fmla="*/ 1015975 w 1027726"/>
              <a:gd name="connsiteY2" fmla="*/ 350506 h 553759"/>
              <a:gd name="connsiteX3" fmla="*/ 938358 w 1027726"/>
              <a:gd name="connsiteY3" fmla="*/ 268942 h 553759"/>
              <a:gd name="connsiteX4" fmla="*/ 565816 w 1027726"/>
              <a:gd name="connsiteY4" fmla="*/ 0 h 553759"/>
              <a:gd name="connsiteX0" fmla="*/ 0 w 1043504"/>
              <a:gd name="connsiteY0" fmla="*/ 553759 h 553759"/>
              <a:gd name="connsiteX1" fmla="*/ 914400 w 1043504"/>
              <a:gd name="connsiteY1" fmla="*/ 440206 h 553759"/>
              <a:gd name="connsiteX2" fmla="*/ 1038999 w 1043504"/>
              <a:gd name="connsiteY2" fmla="*/ 363663 h 553759"/>
              <a:gd name="connsiteX3" fmla="*/ 938358 w 1043504"/>
              <a:gd name="connsiteY3" fmla="*/ 268942 h 553759"/>
              <a:gd name="connsiteX4" fmla="*/ 565816 w 1043504"/>
              <a:gd name="connsiteY4" fmla="*/ 0 h 553759"/>
              <a:gd name="connsiteX0" fmla="*/ 0 w 1053788"/>
              <a:gd name="connsiteY0" fmla="*/ 586651 h 586651"/>
              <a:gd name="connsiteX1" fmla="*/ 924267 w 1053788"/>
              <a:gd name="connsiteY1" fmla="*/ 440206 h 586651"/>
              <a:gd name="connsiteX2" fmla="*/ 1048866 w 1053788"/>
              <a:gd name="connsiteY2" fmla="*/ 363663 h 586651"/>
              <a:gd name="connsiteX3" fmla="*/ 948225 w 1053788"/>
              <a:gd name="connsiteY3" fmla="*/ 268942 h 586651"/>
              <a:gd name="connsiteX4" fmla="*/ 575683 w 1053788"/>
              <a:gd name="connsiteY4" fmla="*/ 0 h 58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788" h="586651">
                <a:moveTo>
                  <a:pt x="0" y="586651"/>
                </a:moveTo>
                <a:cubicBezTo>
                  <a:pt x="373529" y="548800"/>
                  <a:pt x="749456" y="477371"/>
                  <a:pt x="924267" y="440206"/>
                </a:cubicBezTo>
                <a:cubicBezTo>
                  <a:pt x="1099078" y="403041"/>
                  <a:pt x="1044873" y="392207"/>
                  <a:pt x="1048866" y="363663"/>
                </a:cubicBezTo>
                <a:cubicBezTo>
                  <a:pt x="1052859" y="335119"/>
                  <a:pt x="948225" y="268942"/>
                  <a:pt x="948225" y="268942"/>
                </a:cubicBezTo>
                <a:lnTo>
                  <a:pt x="575683" y="0"/>
                </a:lnTo>
              </a:path>
            </a:pathLst>
          </a:custGeom>
          <a:ln>
            <a:tailEnd type="triangle"/>
          </a:ln>
        </p:spPr>
        <p:style>
          <a:lnRef idx="3">
            <a:schemeClr val="accent6"/>
          </a:lnRef>
          <a:fillRef idx="0">
            <a:schemeClr val="accent6"/>
          </a:fillRef>
          <a:effectRef idx="2">
            <a:schemeClr val="accent6"/>
          </a:effectRef>
          <a:fontRef idx="minor">
            <a:schemeClr val="tx1"/>
          </a:fontRef>
        </p:style>
        <p:txBody>
          <a:bodyPr anchor="ctr"/>
          <a:lstStyle/>
          <a:p>
            <a:pPr algn="ctr" defTabSz="457200" eaLnBrk="0" fontAlgn="auto" hangingPunct="0">
              <a:spcBef>
                <a:spcPts val="0"/>
              </a:spcBef>
              <a:spcAft>
                <a:spcPts val="0"/>
              </a:spcAft>
            </a:pPr>
            <a:endParaRPr lang="zh-CN" altLang="en-US" kern="0">
              <a:solidFill>
                <a:prstClr val="white"/>
              </a:solidFill>
              <a:latin typeface="Calibri" panose="020F0502020204030204"/>
              <a:ea typeface="等线" panose="02010600030101010101" pitchFamily="2" charset="-122"/>
            </a:endParaRPr>
          </a:p>
        </p:txBody>
      </p:sp>
    </p:spTree>
    <p:extLst>
      <p:ext uri="{BB962C8B-B14F-4D97-AF65-F5344CB8AC3E}">
        <p14:creationId xmlns:p14="http://schemas.microsoft.com/office/powerpoint/2010/main" val="29074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grpId="0" nodeType="clickEffect">
                                  <p:stCondLst>
                                    <p:cond delay="0"/>
                                  </p:stCondLst>
                                  <p:childTnLst>
                                    <p:anim calcmode="discrete" valueType="str">
                                      <p:cBhvr>
                                        <p:cTn id="20"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nodeType="clickEffect">
                                  <p:stCondLst>
                                    <p:cond delay="0"/>
                                  </p:stCondLst>
                                  <p:childTnLst>
                                    <p:anim calcmode="discrete" valueType="str">
                                      <p:cBhvr>
                                        <p:cTn id="24" dur="1000" fill="hold"/>
                                        <p:tgtEl>
                                          <p:spTgt spid="27"/>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35" presetClass="emph" presetSubtype="0" repeatCount="3000" fill="hold" grpId="0" nodeType="clickEffect">
                                  <p:stCondLst>
                                    <p:cond delay="0"/>
                                  </p:stCondLst>
                                  <p:childTnLst>
                                    <p:anim calcmode="discrete" valueType="str">
                                      <p:cBhvr>
                                        <p:cTn id="28" dur="1000" fill="hold"/>
                                        <p:tgtEl>
                                          <p:spTgt spid="14"/>
                                        </p:tgtEl>
                                        <p:attrNameLst>
                                          <p:attrName>style.visibility</p:attrName>
                                        </p:attrNameLst>
                                      </p:cBhvr>
                                      <p:tavLst>
                                        <p:tav tm="0">
                                          <p:val>
                                            <p:strVal val="hidden"/>
                                          </p:val>
                                        </p:tav>
                                        <p:tav tm="50000">
                                          <p:val>
                                            <p:strVal val="visible"/>
                                          </p:val>
                                        </p:tav>
                                      </p:tavLst>
                                    </p:anim>
                                  </p:childTnLst>
                                </p:cTn>
                              </p:par>
                            </p:childTnLst>
                          </p:cTn>
                        </p:par>
                        <p:par>
                          <p:cTn id="29" fill="hold">
                            <p:stCondLst>
                              <p:cond delay="3000"/>
                            </p:stCondLst>
                            <p:childTnLst>
                              <p:par>
                                <p:cTn id="30" presetID="35" presetClass="emph" presetSubtype="0" repeatCount="3000" fill="hold" grpId="0" nodeType="afterEffect">
                                  <p:stCondLst>
                                    <p:cond delay="0"/>
                                  </p:stCondLst>
                                  <p:childTnLst>
                                    <p:anim calcmode="discrete" valueType="str">
                                      <p:cBhvr>
                                        <p:cTn id="31"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3" grpId="0"/>
      <p:bldP spid="14" grpId="0" animBg="1"/>
      <p:bldP spid="1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F9F7E-7A89-B259-96D3-7C279FDC186F}"/>
            </a:ext>
          </a:extLst>
        </p:cNvPr>
        <p:cNvGrpSpPr/>
        <p:nvPr/>
      </p:nvGrpSpPr>
      <p:grpSpPr>
        <a:xfrm>
          <a:off x="0" y="0"/>
          <a:ext cx="0" cy="0"/>
          <a:chOff x="0" y="0"/>
          <a:chExt cx="0" cy="0"/>
        </a:xfrm>
      </p:grpSpPr>
      <p:sp>
        <p:nvSpPr>
          <p:cNvPr id="24" name="圆角矩形 198">
            <a:extLst>
              <a:ext uri="{FF2B5EF4-FFF2-40B4-BE49-F238E27FC236}">
                <a16:creationId xmlns:a16="http://schemas.microsoft.com/office/drawing/2014/main" id="{B27292CE-9376-32C2-18EA-921B0F050633}"/>
              </a:ext>
            </a:extLst>
          </p:cNvPr>
          <p:cNvSpPr/>
          <p:nvPr/>
        </p:nvSpPr>
        <p:spPr>
          <a:xfrm>
            <a:off x="1022555" y="2495296"/>
            <a:ext cx="7256206" cy="220333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AutoShape 5">
            <a:extLst>
              <a:ext uri="{FF2B5EF4-FFF2-40B4-BE49-F238E27FC236}">
                <a16:creationId xmlns:a16="http://schemas.microsoft.com/office/drawing/2014/main" id="{897671C2-BABD-99D6-2644-2A52B7C23CB0}"/>
              </a:ext>
            </a:extLst>
          </p:cNvPr>
          <p:cNvSpPr>
            <a:spLocks noChangeArrowheads="1"/>
          </p:cNvSpPr>
          <p:nvPr/>
        </p:nvSpPr>
        <p:spPr bwMode="auto">
          <a:xfrm>
            <a:off x="502921" y="623595"/>
            <a:ext cx="8129015" cy="388721"/>
          </a:xfrm>
          <a:prstGeom prst="roundRect">
            <a:avLst>
              <a:gd name="adj" fmla="val 16667"/>
            </a:avLst>
          </a:prstGeom>
          <a:solidFill>
            <a:srgbClr val="00B050"/>
          </a:solidFill>
          <a:ln>
            <a:noFill/>
          </a:ln>
          <a:effectLst/>
        </p:spPr>
        <p:txBody>
          <a:bodyPr wrap="none" anchor="ctr"/>
          <a:lstStyle/>
          <a:p>
            <a:endParaRPr lang="zh-CN" altLang="en-US"/>
          </a:p>
        </p:txBody>
      </p:sp>
      <p:sp>
        <p:nvSpPr>
          <p:cNvPr id="9" name="Rectangle 6">
            <a:extLst>
              <a:ext uri="{FF2B5EF4-FFF2-40B4-BE49-F238E27FC236}">
                <a16:creationId xmlns:a16="http://schemas.microsoft.com/office/drawing/2014/main" id="{C7FDED03-1DB0-65DD-4EFA-EF034FBF1CB6}"/>
              </a:ext>
            </a:extLst>
          </p:cNvPr>
          <p:cNvSpPr>
            <a:spLocks noChangeArrowheads="1"/>
          </p:cNvSpPr>
          <p:nvPr/>
        </p:nvSpPr>
        <p:spPr bwMode="auto">
          <a:xfrm>
            <a:off x="3701666" y="617900"/>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以太网交换机</a:t>
            </a:r>
          </a:p>
        </p:txBody>
      </p:sp>
      <p:sp>
        <p:nvSpPr>
          <p:cNvPr id="10" name="Rectangle 8">
            <a:extLst>
              <a:ext uri="{FF2B5EF4-FFF2-40B4-BE49-F238E27FC236}">
                <a16:creationId xmlns:a16="http://schemas.microsoft.com/office/drawing/2014/main" id="{3C94FD3C-AD04-EA1B-1EA7-4785A5D65985}"/>
              </a:ext>
            </a:extLst>
          </p:cNvPr>
          <p:cNvSpPr>
            <a:spLocks noChangeArrowheads="1"/>
          </p:cNvSpPr>
          <p:nvPr/>
        </p:nvSpPr>
        <p:spPr bwMode="auto">
          <a:xfrm>
            <a:off x="502921" y="1019994"/>
            <a:ext cx="8129015" cy="1317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以太网交换机工作在数据链路层以帧为单位在端口之间进行转发，一般都采用</a:t>
            </a:r>
            <a:r>
              <a:rPr lang="zh-CN" altLang="en-US" sz="2000" b="1" dirty="0">
                <a:solidFill>
                  <a:srgbClr val="0000FF"/>
                </a:solidFill>
                <a:latin typeface="微软雅黑" pitchFamily="34" charset="-122"/>
                <a:ea typeface="微软雅黑" pitchFamily="34" charset="-122"/>
              </a:rPr>
              <a:t>存储转发</a:t>
            </a:r>
            <a:r>
              <a:rPr lang="zh-CN" altLang="en-US" sz="2000" b="1" dirty="0">
                <a:latin typeface="微软雅黑" pitchFamily="34" charset="-122"/>
                <a:ea typeface="微软雅黑" pitchFamily="34" charset="-122"/>
              </a:rPr>
              <a:t>方式工作。</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使用交换机的以太网已不再使用</a:t>
            </a:r>
            <a:r>
              <a:rPr lang="en-US" altLang="zh-CN" sz="2000" b="1" dirty="0">
                <a:latin typeface="微软雅黑" pitchFamily="34" charset="-122"/>
                <a:ea typeface="微软雅黑" pitchFamily="34" charset="-122"/>
              </a:rPr>
              <a:t>CSMA/CD</a:t>
            </a:r>
            <a:r>
              <a:rPr lang="zh-CN" altLang="en-US" sz="2000" b="1" dirty="0">
                <a:latin typeface="微软雅黑" pitchFamily="34" charset="-122"/>
                <a:ea typeface="微软雅黑" pitchFamily="34" charset="-122"/>
              </a:rPr>
              <a:t>协议，但帧格式不变。</a:t>
            </a:r>
          </a:p>
        </p:txBody>
      </p:sp>
      <p:sp>
        <p:nvSpPr>
          <p:cNvPr id="3" name="Text Box 5">
            <a:extLst>
              <a:ext uri="{FF2B5EF4-FFF2-40B4-BE49-F238E27FC236}">
                <a16:creationId xmlns:a16="http://schemas.microsoft.com/office/drawing/2014/main" id="{EFA58406-34D9-87DD-EF94-438727BD1CDD}"/>
              </a:ext>
            </a:extLst>
          </p:cNvPr>
          <p:cNvSpPr txBox="1">
            <a:spLocks noChangeArrowheads="1"/>
          </p:cNvSpPr>
          <p:nvPr/>
        </p:nvSpPr>
        <p:spPr bwMode="auto">
          <a:xfrm>
            <a:off x="3239199" y="3036638"/>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交换机</a:t>
            </a:r>
          </a:p>
        </p:txBody>
      </p:sp>
      <p:sp>
        <p:nvSpPr>
          <p:cNvPr id="4" name="Line 6">
            <a:extLst>
              <a:ext uri="{FF2B5EF4-FFF2-40B4-BE49-F238E27FC236}">
                <a16:creationId xmlns:a16="http://schemas.microsoft.com/office/drawing/2014/main" id="{C2CB8078-36B4-5394-1E40-B7DC6342C148}"/>
              </a:ext>
            </a:extLst>
          </p:cNvPr>
          <p:cNvSpPr>
            <a:spLocks noChangeShapeType="1"/>
          </p:cNvSpPr>
          <p:nvPr/>
        </p:nvSpPr>
        <p:spPr bwMode="auto">
          <a:xfrm flipV="1">
            <a:off x="1358345" y="3596965"/>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5" name="Line 7">
            <a:extLst>
              <a:ext uri="{FF2B5EF4-FFF2-40B4-BE49-F238E27FC236}">
                <a16:creationId xmlns:a16="http://schemas.microsoft.com/office/drawing/2014/main" id="{6DD5103A-BCBE-DAA0-B15E-629E8C451490}"/>
              </a:ext>
            </a:extLst>
          </p:cNvPr>
          <p:cNvSpPr>
            <a:spLocks noChangeShapeType="1"/>
          </p:cNvSpPr>
          <p:nvPr/>
        </p:nvSpPr>
        <p:spPr bwMode="auto">
          <a:xfrm>
            <a:off x="2057040" y="3036639"/>
            <a:ext cx="1394047" cy="47962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6" name="Line 8">
            <a:extLst>
              <a:ext uri="{FF2B5EF4-FFF2-40B4-BE49-F238E27FC236}">
                <a16:creationId xmlns:a16="http://schemas.microsoft.com/office/drawing/2014/main" id="{8301297F-6FD2-8128-EE9D-4313C8F85BE8}"/>
              </a:ext>
            </a:extLst>
          </p:cNvPr>
          <p:cNvSpPr>
            <a:spLocks noChangeShapeType="1"/>
          </p:cNvSpPr>
          <p:nvPr/>
        </p:nvSpPr>
        <p:spPr bwMode="auto">
          <a:xfrm flipV="1">
            <a:off x="2787183" y="3678673"/>
            <a:ext cx="864142" cy="580030"/>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7" name="Line 9">
            <a:extLst>
              <a:ext uri="{FF2B5EF4-FFF2-40B4-BE49-F238E27FC236}">
                <a16:creationId xmlns:a16="http://schemas.microsoft.com/office/drawing/2014/main" id="{0C21D983-0F33-DDEA-0241-6E4D81886439}"/>
              </a:ext>
            </a:extLst>
          </p:cNvPr>
          <p:cNvSpPr>
            <a:spLocks noChangeShapeType="1"/>
          </p:cNvSpPr>
          <p:nvPr/>
        </p:nvSpPr>
        <p:spPr bwMode="auto">
          <a:xfrm flipH="1">
            <a:off x="3750223" y="3016932"/>
            <a:ext cx="1284772" cy="58003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Line 10">
            <a:extLst>
              <a:ext uri="{FF2B5EF4-FFF2-40B4-BE49-F238E27FC236}">
                <a16:creationId xmlns:a16="http://schemas.microsoft.com/office/drawing/2014/main" id="{8FF01823-5786-81A7-6642-5CEEC8FA25D7}"/>
              </a:ext>
            </a:extLst>
          </p:cNvPr>
          <p:cNvSpPr>
            <a:spLocks noChangeShapeType="1"/>
          </p:cNvSpPr>
          <p:nvPr/>
        </p:nvSpPr>
        <p:spPr bwMode="auto">
          <a:xfrm>
            <a:off x="3849121" y="3678674"/>
            <a:ext cx="1979549" cy="37927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5" name="Text Box 19">
            <a:extLst>
              <a:ext uri="{FF2B5EF4-FFF2-40B4-BE49-F238E27FC236}">
                <a16:creationId xmlns:a16="http://schemas.microsoft.com/office/drawing/2014/main" id="{BA8A3BF3-212C-0985-FE9B-702C06935A45}"/>
              </a:ext>
            </a:extLst>
          </p:cNvPr>
          <p:cNvSpPr txBox="1">
            <a:spLocks noChangeArrowheads="1"/>
          </p:cNvSpPr>
          <p:nvPr/>
        </p:nvSpPr>
        <p:spPr bwMode="auto">
          <a:xfrm>
            <a:off x="5307442" y="2750325"/>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pic>
        <p:nvPicPr>
          <p:cNvPr id="19" name="Picture 239" descr="jisuanji">
            <a:extLst>
              <a:ext uri="{FF2B5EF4-FFF2-40B4-BE49-F238E27FC236}">
                <a16:creationId xmlns:a16="http://schemas.microsoft.com/office/drawing/2014/main" id="{BAD93689-73CC-136E-CBBE-ABE128324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0719" y="266556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a:extLst>
              <a:ext uri="{FF2B5EF4-FFF2-40B4-BE49-F238E27FC236}">
                <a16:creationId xmlns:a16="http://schemas.microsoft.com/office/drawing/2014/main" id="{7E8579AA-B952-DDED-86BA-AEEEC36B0D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2629" y="357674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a:extLst>
              <a:ext uri="{FF2B5EF4-FFF2-40B4-BE49-F238E27FC236}">
                <a16:creationId xmlns:a16="http://schemas.microsoft.com/office/drawing/2014/main" id="{01C84B0D-B223-7622-2DEB-20C95855B89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3602" y="3943193"/>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a:extLst>
              <a:ext uri="{FF2B5EF4-FFF2-40B4-BE49-F238E27FC236}">
                <a16:creationId xmlns:a16="http://schemas.microsoft.com/office/drawing/2014/main" id="{9531DEE7-EC8D-DD67-BE92-F008BB002B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0563" y="3806486"/>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a:extLst>
              <a:ext uri="{FF2B5EF4-FFF2-40B4-BE49-F238E27FC236}">
                <a16:creationId xmlns:a16="http://schemas.microsoft.com/office/drawing/2014/main" id="{144811D6-6DB3-3A88-E3B9-3A7DAA82FD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9666" y="2665566"/>
            <a:ext cx="617800" cy="6178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9">
            <a:extLst>
              <a:ext uri="{FF2B5EF4-FFF2-40B4-BE49-F238E27FC236}">
                <a16:creationId xmlns:a16="http://schemas.microsoft.com/office/drawing/2014/main" id="{49BB6B12-C3EF-3E70-E5FE-3864445C821C}"/>
              </a:ext>
            </a:extLst>
          </p:cNvPr>
          <p:cNvSpPr txBox="1">
            <a:spLocks noChangeArrowheads="1"/>
          </p:cNvSpPr>
          <p:nvPr/>
        </p:nvSpPr>
        <p:spPr bwMode="auto">
          <a:xfrm>
            <a:off x="2559217" y="4001857"/>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A</a:t>
            </a:r>
            <a:endParaRPr lang="zh-CN" altLang="en-US" sz="1600" b="1" dirty="0">
              <a:ln>
                <a:solidFill>
                  <a:schemeClr val="bg1"/>
                </a:solidFill>
              </a:ln>
              <a:latin typeface="微软雅黑" pitchFamily="34" charset="-122"/>
              <a:ea typeface="微软雅黑" pitchFamily="34" charset="-122"/>
            </a:endParaRPr>
          </a:p>
        </p:txBody>
      </p:sp>
      <p:sp>
        <p:nvSpPr>
          <p:cNvPr id="26" name="Text Box 19">
            <a:extLst>
              <a:ext uri="{FF2B5EF4-FFF2-40B4-BE49-F238E27FC236}">
                <a16:creationId xmlns:a16="http://schemas.microsoft.com/office/drawing/2014/main" id="{02A4D5C3-7AB1-8EA0-3E8F-3C35282602C7}"/>
              </a:ext>
            </a:extLst>
          </p:cNvPr>
          <p:cNvSpPr txBox="1">
            <a:spLocks noChangeArrowheads="1"/>
          </p:cNvSpPr>
          <p:nvPr/>
        </p:nvSpPr>
        <p:spPr bwMode="auto">
          <a:xfrm>
            <a:off x="1365679" y="3641854"/>
            <a:ext cx="3257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B</a:t>
            </a:r>
            <a:endParaRPr lang="zh-CN" altLang="en-US" sz="1600" b="1" dirty="0">
              <a:ln>
                <a:solidFill>
                  <a:schemeClr val="bg1"/>
                </a:solidFill>
              </a:ln>
              <a:latin typeface="微软雅黑" pitchFamily="34" charset="-122"/>
              <a:ea typeface="微软雅黑" pitchFamily="34" charset="-122"/>
            </a:endParaRPr>
          </a:p>
        </p:txBody>
      </p:sp>
      <p:sp>
        <p:nvSpPr>
          <p:cNvPr id="30" name="Text Box 19">
            <a:extLst>
              <a:ext uri="{FF2B5EF4-FFF2-40B4-BE49-F238E27FC236}">
                <a16:creationId xmlns:a16="http://schemas.microsoft.com/office/drawing/2014/main" id="{845985E5-0E2D-1D88-B434-AC1C8E99665F}"/>
              </a:ext>
            </a:extLst>
          </p:cNvPr>
          <p:cNvSpPr txBox="1">
            <a:spLocks noChangeArrowheads="1"/>
          </p:cNvSpPr>
          <p:nvPr/>
        </p:nvSpPr>
        <p:spPr bwMode="auto">
          <a:xfrm>
            <a:off x="1906334" y="2730054"/>
            <a:ext cx="322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C</a:t>
            </a:r>
            <a:endParaRPr lang="zh-CN" altLang="en-US" sz="1600" b="1" dirty="0">
              <a:ln>
                <a:solidFill>
                  <a:schemeClr val="bg1"/>
                </a:solidFill>
              </a:ln>
              <a:latin typeface="微软雅黑" pitchFamily="34" charset="-122"/>
              <a:ea typeface="微软雅黑" pitchFamily="34" charset="-122"/>
            </a:endParaRPr>
          </a:p>
        </p:txBody>
      </p:sp>
      <p:sp>
        <p:nvSpPr>
          <p:cNvPr id="31" name="Text Box 19">
            <a:extLst>
              <a:ext uri="{FF2B5EF4-FFF2-40B4-BE49-F238E27FC236}">
                <a16:creationId xmlns:a16="http://schemas.microsoft.com/office/drawing/2014/main" id="{6C804569-A85F-E26C-3BEF-5335CB4A8153}"/>
              </a:ext>
            </a:extLst>
          </p:cNvPr>
          <p:cNvSpPr txBox="1">
            <a:spLocks noChangeArrowheads="1"/>
          </p:cNvSpPr>
          <p:nvPr/>
        </p:nvSpPr>
        <p:spPr bwMode="auto">
          <a:xfrm>
            <a:off x="4937906" y="2717955"/>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D</a:t>
            </a:r>
            <a:endParaRPr lang="zh-CN" altLang="en-US" sz="1600" b="1" dirty="0">
              <a:ln>
                <a:solidFill>
                  <a:schemeClr val="bg1"/>
                </a:solidFill>
              </a:ln>
              <a:latin typeface="微软雅黑" pitchFamily="34" charset="-122"/>
              <a:ea typeface="微软雅黑" pitchFamily="34" charset="-122"/>
            </a:endParaRPr>
          </a:p>
        </p:txBody>
      </p:sp>
      <p:sp>
        <p:nvSpPr>
          <p:cNvPr id="32" name="Text Box 19">
            <a:extLst>
              <a:ext uri="{FF2B5EF4-FFF2-40B4-BE49-F238E27FC236}">
                <a16:creationId xmlns:a16="http://schemas.microsoft.com/office/drawing/2014/main" id="{DCD3BAE5-2AF3-1726-F218-0718BC00AAE3}"/>
              </a:ext>
            </a:extLst>
          </p:cNvPr>
          <p:cNvSpPr txBox="1">
            <a:spLocks noChangeArrowheads="1"/>
          </p:cNvSpPr>
          <p:nvPr/>
        </p:nvSpPr>
        <p:spPr bwMode="auto">
          <a:xfrm>
            <a:off x="5853181" y="3868312"/>
            <a:ext cx="3016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n>
                  <a:solidFill>
                    <a:schemeClr val="bg1"/>
                  </a:solidFill>
                </a:ln>
                <a:latin typeface="微软雅黑" pitchFamily="34" charset="-122"/>
                <a:ea typeface="微软雅黑" pitchFamily="34" charset="-122"/>
              </a:rPr>
              <a:t>E</a:t>
            </a:r>
            <a:endParaRPr lang="zh-CN" altLang="en-US" sz="1600" b="1" dirty="0">
              <a:ln>
                <a:solidFill>
                  <a:schemeClr val="bg1"/>
                </a:solidFill>
              </a:ln>
              <a:latin typeface="微软雅黑" pitchFamily="34" charset="-122"/>
              <a:ea typeface="微软雅黑" pitchFamily="34" charset="-122"/>
            </a:endParaRPr>
          </a:p>
        </p:txBody>
      </p:sp>
      <p:sp>
        <p:nvSpPr>
          <p:cNvPr id="17" name="Text Box 17">
            <a:extLst>
              <a:ext uri="{FF2B5EF4-FFF2-40B4-BE49-F238E27FC236}">
                <a16:creationId xmlns:a16="http://schemas.microsoft.com/office/drawing/2014/main" id="{E8D2DD52-4461-2212-6D2D-25B6225878E3}"/>
              </a:ext>
            </a:extLst>
          </p:cNvPr>
          <p:cNvSpPr txBox="1">
            <a:spLocks noChangeArrowheads="1"/>
          </p:cNvSpPr>
          <p:nvPr/>
        </p:nvSpPr>
        <p:spPr bwMode="auto">
          <a:xfrm>
            <a:off x="4143880" y="4115386"/>
            <a:ext cx="12147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两对双绞线全双工工作</a:t>
            </a:r>
          </a:p>
        </p:txBody>
      </p:sp>
      <p:sp>
        <p:nvSpPr>
          <p:cNvPr id="18" name="Line 18">
            <a:extLst>
              <a:ext uri="{FF2B5EF4-FFF2-40B4-BE49-F238E27FC236}">
                <a16:creationId xmlns:a16="http://schemas.microsoft.com/office/drawing/2014/main" id="{A06594DD-F57C-86C0-1819-CD1475D9F707}"/>
              </a:ext>
            </a:extLst>
          </p:cNvPr>
          <p:cNvSpPr>
            <a:spLocks noChangeShapeType="1"/>
          </p:cNvSpPr>
          <p:nvPr/>
        </p:nvSpPr>
        <p:spPr bwMode="auto">
          <a:xfrm flipV="1">
            <a:off x="4758744" y="3891626"/>
            <a:ext cx="154100" cy="233370"/>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7" name="组合 26">
            <a:extLst>
              <a:ext uri="{FF2B5EF4-FFF2-40B4-BE49-F238E27FC236}">
                <a16:creationId xmlns:a16="http://schemas.microsoft.com/office/drawing/2014/main" id="{8F68D55E-2C35-3BC7-60C9-FB139C7FD54A}"/>
              </a:ext>
            </a:extLst>
          </p:cNvPr>
          <p:cNvGrpSpPr/>
          <p:nvPr/>
        </p:nvGrpSpPr>
        <p:grpSpPr>
          <a:xfrm>
            <a:off x="6706791" y="2702054"/>
            <a:ext cx="1054100" cy="939800"/>
            <a:chOff x="3519743" y="1590932"/>
            <a:chExt cx="1054100" cy="939800"/>
          </a:xfrm>
        </p:grpSpPr>
        <p:grpSp>
          <p:nvGrpSpPr>
            <p:cNvPr id="28" name="组合 3127">
              <a:extLst>
                <a:ext uri="{FF2B5EF4-FFF2-40B4-BE49-F238E27FC236}">
                  <a16:creationId xmlns:a16="http://schemas.microsoft.com/office/drawing/2014/main" id="{D651E728-B699-326E-BBA5-60281F08E66A}"/>
                </a:ext>
              </a:extLst>
            </p:cNvPr>
            <p:cNvGrpSpPr>
              <a:grpSpLocks/>
            </p:cNvGrpSpPr>
            <p:nvPr/>
          </p:nvGrpSpPr>
          <p:grpSpPr bwMode="auto">
            <a:xfrm>
              <a:off x="3519743" y="1792544"/>
              <a:ext cx="862013" cy="738188"/>
              <a:chOff x="9770269" y="1090025"/>
              <a:chExt cx="862235" cy="737187"/>
            </a:xfrm>
          </p:grpSpPr>
          <p:cxnSp>
            <p:nvCxnSpPr>
              <p:cNvPr id="54" name="直接连接符 53">
                <a:extLst>
                  <a:ext uri="{FF2B5EF4-FFF2-40B4-BE49-F238E27FC236}">
                    <a16:creationId xmlns:a16="http://schemas.microsoft.com/office/drawing/2014/main" id="{5BEC0694-EB2B-87CA-5866-5608473C2D94}"/>
                  </a:ext>
                </a:extLst>
              </p:cNvPr>
              <p:cNvCxnSpPr>
                <a:cxnSpLocks/>
              </p:cNvCxnSpPr>
              <p:nvPr/>
            </p:nvCxnSpPr>
            <p:spPr>
              <a:xfrm flipV="1">
                <a:off x="9770269" y="1097952"/>
                <a:ext cx="862235" cy="1585"/>
              </a:xfrm>
              <a:prstGeom prst="line">
                <a:avLst/>
              </a:prstGeom>
              <a:noFill/>
              <a:ln w="19050" cap="flat" cmpd="sng" algn="ctr">
                <a:solidFill>
                  <a:sysClr val="windowText" lastClr="000000"/>
                </a:solidFill>
                <a:prstDash val="solid"/>
                <a:miter lim="800000"/>
              </a:ln>
              <a:effectLst/>
            </p:spPr>
          </p:cxnSp>
          <p:cxnSp>
            <p:nvCxnSpPr>
              <p:cNvPr id="55" name="直接连接符 54">
                <a:extLst>
                  <a:ext uri="{FF2B5EF4-FFF2-40B4-BE49-F238E27FC236}">
                    <a16:creationId xmlns:a16="http://schemas.microsoft.com/office/drawing/2014/main" id="{602DDA1B-4735-2F57-14C1-22E2D352D59E}"/>
                  </a:ext>
                </a:extLst>
              </p:cNvPr>
              <p:cNvCxnSpPr>
                <a:cxnSpLocks/>
              </p:cNvCxnSpPr>
              <p:nvPr/>
            </p:nvCxnSpPr>
            <p:spPr>
              <a:xfrm flipV="1">
                <a:off x="9770269" y="1250146"/>
                <a:ext cx="862235" cy="1585"/>
              </a:xfrm>
              <a:prstGeom prst="line">
                <a:avLst/>
              </a:prstGeom>
              <a:noFill/>
              <a:ln w="19050" cap="flat" cmpd="sng" algn="ctr">
                <a:solidFill>
                  <a:sysClr val="windowText" lastClr="000000"/>
                </a:solidFill>
                <a:prstDash val="solid"/>
                <a:miter lim="800000"/>
              </a:ln>
              <a:effectLst/>
            </p:spPr>
          </p:cxnSp>
          <p:cxnSp>
            <p:nvCxnSpPr>
              <p:cNvPr id="56" name="直接连接符 55">
                <a:extLst>
                  <a:ext uri="{FF2B5EF4-FFF2-40B4-BE49-F238E27FC236}">
                    <a16:creationId xmlns:a16="http://schemas.microsoft.com/office/drawing/2014/main" id="{AF4B3274-D6A0-0AE3-164C-37AE42971A6C}"/>
                  </a:ext>
                </a:extLst>
              </p:cNvPr>
              <p:cNvCxnSpPr>
                <a:cxnSpLocks/>
              </p:cNvCxnSpPr>
              <p:nvPr/>
            </p:nvCxnSpPr>
            <p:spPr>
              <a:xfrm flipV="1">
                <a:off x="9770269" y="1402339"/>
                <a:ext cx="862235" cy="1585"/>
              </a:xfrm>
              <a:prstGeom prst="line">
                <a:avLst/>
              </a:prstGeom>
              <a:noFill/>
              <a:ln w="19050" cap="flat" cmpd="sng" algn="ctr">
                <a:solidFill>
                  <a:sysClr val="windowText" lastClr="000000"/>
                </a:solidFill>
                <a:prstDash val="solid"/>
                <a:miter lim="800000"/>
              </a:ln>
              <a:effectLst/>
            </p:spPr>
          </p:cxnSp>
          <p:cxnSp>
            <p:nvCxnSpPr>
              <p:cNvPr id="57" name="直接连接符 56">
                <a:extLst>
                  <a:ext uri="{FF2B5EF4-FFF2-40B4-BE49-F238E27FC236}">
                    <a16:creationId xmlns:a16="http://schemas.microsoft.com/office/drawing/2014/main" id="{C9C38906-2595-2EAB-B077-AF5A494F24E0}"/>
                  </a:ext>
                </a:extLst>
              </p:cNvPr>
              <p:cNvCxnSpPr>
                <a:cxnSpLocks/>
              </p:cNvCxnSpPr>
              <p:nvPr/>
            </p:nvCxnSpPr>
            <p:spPr>
              <a:xfrm flipV="1">
                <a:off x="9770269" y="1554532"/>
                <a:ext cx="862235" cy="1585"/>
              </a:xfrm>
              <a:prstGeom prst="line">
                <a:avLst/>
              </a:prstGeom>
              <a:noFill/>
              <a:ln w="19050" cap="flat" cmpd="sng" algn="ctr">
                <a:solidFill>
                  <a:sysClr val="windowText" lastClr="000000"/>
                </a:solidFill>
                <a:prstDash val="solid"/>
                <a:miter lim="800000"/>
              </a:ln>
              <a:effectLst/>
            </p:spPr>
          </p:cxnSp>
          <p:grpSp>
            <p:nvGrpSpPr>
              <p:cNvPr id="58" name="组合 3125">
                <a:extLst>
                  <a:ext uri="{FF2B5EF4-FFF2-40B4-BE49-F238E27FC236}">
                    <a16:creationId xmlns:a16="http://schemas.microsoft.com/office/drawing/2014/main" id="{FBA31C2B-3CFD-F323-A509-66DCCA27E2B1}"/>
                  </a:ext>
                </a:extLst>
              </p:cNvPr>
              <p:cNvGrpSpPr>
                <a:grpSpLocks/>
              </p:cNvGrpSpPr>
              <p:nvPr/>
            </p:nvGrpSpPr>
            <p:grpSpPr bwMode="auto">
              <a:xfrm>
                <a:off x="10165778" y="1090025"/>
                <a:ext cx="457201" cy="737187"/>
                <a:chOff x="10175303" y="1104313"/>
                <a:chExt cx="457201" cy="956535"/>
              </a:xfrm>
            </p:grpSpPr>
            <p:cxnSp>
              <p:nvCxnSpPr>
                <p:cNvPr id="59" name="直接连接符 58">
                  <a:extLst>
                    <a:ext uri="{FF2B5EF4-FFF2-40B4-BE49-F238E27FC236}">
                      <a16:creationId xmlns:a16="http://schemas.microsoft.com/office/drawing/2014/main" id="{1499E235-2A5F-35D5-2336-03A02959EB56}"/>
                    </a:ext>
                  </a:extLst>
                </p:cNvPr>
                <p:cNvCxnSpPr>
                  <a:cxnSpLocks/>
                </p:cNvCxnSpPr>
                <p:nvPr/>
              </p:nvCxnSpPr>
              <p:spPr>
                <a:xfrm flipV="1">
                  <a:off x="10175184" y="1104313"/>
                  <a:ext cx="0" cy="956535"/>
                </a:xfrm>
                <a:prstGeom prst="line">
                  <a:avLst/>
                </a:prstGeom>
                <a:noFill/>
                <a:ln w="19050" cap="flat" cmpd="sng" algn="ctr">
                  <a:solidFill>
                    <a:sysClr val="windowText" lastClr="000000"/>
                  </a:solidFill>
                  <a:prstDash val="solid"/>
                  <a:miter lim="800000"/>
                </a:ln>
                <a:effectLst/>
              </p:spPr>
            </p:cxnSp>
            <p:cxnSp>
              <p:nvCxnSpPr>
                <p:cNvPr id="60" name="直接连接符 59">
                  <a:extLst>
                    <a:ext uri="{FF2B5EF4-FFF2-40B4-BE49-F238E27FC236}">
                      <a16:creationId xmlns:a16="http://schemas.microsoft.com/office/drawing/2014/main" id="{A578B8FE-BA92-9DA2-AD1A-F981D8C88625}"/>
                    </a:ext>
                  </a:extLst>
                </p:cNvPr>
                <p:cNvCxnSpPr>
                  <a:cxnSpLocks/>
                </p:cNvCxnSpPr>
                <p:nvPr/>
              </p:nvCxnSpPr>
              <p:spPr>
                <a:xfrm flipV="1">
                  <a:off x="10327623" y="1104313"/>
                  <a:ext cx="0" cy="956535"/>
                </a:xfrm>
                <a:prstGeom prst="line">
                  <a:avLst/>
                </a:prstGeom>
                <a:noFill/>
                <a:ln w="19050" cap="flat" cmpd="sng" algn="ctr">
                  <a:solidFill>
                    <a:sysClr val="windowText" lastClr="000000"/>
                  </a:solidFill>
                  <a:prstDash val="solid"/>
                  <a:miter lim="800000"/>
                </a:ln>
                <a:effectLst/>
              </p:spPr>
            </p:cxnSp>
            <p:cxnSp>
              <p:nvCxnSpPr>
                <p:cNvPr id="61" name="直接连接符 60">
                  <a:extLst>
                    <a:ext uri="{FF2B5EF4-FFF2-40B4-BE49-F238E27FC236}">
                      <a16:creationId xmlns:a16="http://schemas.microsoft.com/office/drawing/2014/main" id="{6A8BB03A-684F-6E23-BFBB-DCD668DF93A1}"/>
                    </a:ext>
                  </a:extLst>
                </p:cNvPr>
                <p:cNvCxnSpPr>
                  <a:cxnSpLocks/>
                </p:cNvCxnSpPr>
                <p:nvPr/>
              </p:nvCxnSpPr>
              <p:spPr>
                <a:xfrm flipV="1">
                  <a:off x="10480063" y="1104313"/>
                  <a:ext cx="0" cy="956535"/>
                </a:xfrm>
                <a:prstGeom prst="line">
                  <a:avLst/>
                </a:prstGeom>
                <a:noFill/>
                <a:ln w="19050" cap="flat" cmpd="sng" algn="ctr">
                  <a:solidFill>
                    <a:sysClr val="windowText" lastClr="000000"/>
                  </a:solidFill>
                  <a:prstDash val="solid"/>
                  <a:miter lim="800000"/>
                </a:ln>
                <a:effectLst/>
              </p:spPr>
            </p:cxnSp>
            <p:cxnSp>
              <p:nvCxnSpPr>
                <p:cNvPr id="62" name="直接连接符 61">
                  <a:extLst>
                    <a:ext uri="{FF2B5EF4-FFF2-40B4-BE49-F238E27FC236}">
                      <a16:creationId xmlns:a16="http://schemas.microsoft.com/office/drawing/2014/main" id="{D4F65992-064D-8C83-F2F3-6D2652EA6B83}"/>
                    </a:ext>
                  </a:extLst>
                </p:cNvPr>
                <p:cNvCxnSpPr>
                  <a:cxnSpLocks/>
                </p:cNvCxnSpPr>
                <p:nvPr/>
              </p:nvCxnSpPr>
              <p:spPr>
                <a:xfrm flipV="1">
                  <a:off x="10632502" y="1104313"/>
                  <a:ext cx="0" cy="956535"/>
                </a:xfrm>
                <a:prstGeom prst="line">
                  <a:avLst/>
                </a:prstGeom>
                <a:noFill/>
                <a:ln w="19050" cap="flat" cmpd="sng" algn="ctr">
                  <a:solidFill>
                    <a:sysClr val="windowText" lastClr="000000"/>
                  </a:solidFill>
                  <a:prstDash val="solid"/>
                  <a:miter lim="800000"/>
                </a:ln>
                <a:effectLst/>
              </p:spPr>
            </p:cxnSp>
          </p:grpSp>
        </p:grpSp>
        <p:sp>
          <p:nvSpPr>
            <p:cNvPr id="29" name="椭圆 28">
              <a:extLst>
                <a:ext uri="{FF2B5EF4-FFF2-40B4-BE49-F238E27FC236}">
                  <a16:creationId xmlns:a16="http://schemas.microsoft.com/office/drawing/2014/main" id="{611E8F32-7615-09F6-19B8-99290025D68E}"/>
                </a:ext>
              </a:extLst>
            </p:cNvPr>
            <p:cNvSpPr/>
            <p:nvPr/>
          </p:nvSpPr>
          <p:spPr>
            <a:xfrm>
              <a:off x="3691193" y="1590932"/>
              <a:ext cx="882650" cy="890587"/>
            </a:xfrm>
            <a:prstGeom prst="ellipse">
              <a:avLst/>
            </a:prstGeom>
            <a:noFill/>
            <a:ln w="12700" cap="flat" cmpd="sng" algn="ctr">
              <a:solidFill>
                <a:srgbClr val="4472C4">
                  <a:shade val="15000"/>
                </a:srgbClr>
              </a:solidFill>
              <a:prstDash val="dash"/>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3" name="椭圆 32">
              <a:extLst>
                <a:ext uri="{FF2B5EF4-FFF2-40B4-BE49-F238E27FC236}">
                  <a16:creationId xmlns:a16="http://schemas.microsoft.com/office/drawing/2014/main" id="{29763F46-818E-E918-C823-854C81A22F7E}"/>
                </a:ext>
              </a:extLst>
            </p:cNvPr>
            <p:cNvSpPr/>
            <p:nvPr/>
          </p:nvSpPr>
          <p:spPr>
            <a:xfrm>
              <a:off x="3878518" y="1762382"/>
              <a:ext cx="73025"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6" name="椭圆 35">
              <a:extLst>
                <a:ext uri="{FF2B5EF4-FFF2-40B4-BE49-F238E27FC236}">
                  <a16:creationId xmlns:a16="http://schemas.microsoft.com/office/drawing/2014/main" id="{5184A19F-B8AD-AC49-5C47-BDD3B5398325}"/>
                </a:ext>
              </a:extLst>
            </p:cNvPr>
            <p:cNvSpPr/>
            <p:nvPr/>
          </p:nvSpPr>
          <p:spPr>
            <a:xfrm>
              <a:off x="4035681" y="1919544"/>
              <a:ext cx="65087" cy="6667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7" name="椭圆 36">
              <a:extLst>
                <a:ext uri="{FF2B5EF4-FFF2-40B4-BE49-F238E27FC236}">
                  <a16:creationId xmlns:a16="http://schemas.microsoft.com/office/drawing/2014/main" id="{2243C7E1-4BC1-F4B8-D801-0E1258528CBA}"/>
                </a:ext>
              </a:extLst>
            </p:cNvPr>
            <p:cNvSpPr/>
            <p:nvPr/>
          </p:nvSpPr>
          <p:spPr>
            <a:xfrm>
              <a:off x="4180143" y="2067182"/>
              <a:ext cx="71438"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9" name="椭圆 38">
              <a:extLst>
                <a:ext uri="{FF2B5EF4-FFF2-40B4-BE49-F238E27FC236}">
                  <a16:creationId xmlns:a16="http://schemas.microsoft.com/office/drawing/2014/main" id="{5B331F5F-6B3B-D7EC-AAD0-10EB456FEAFD}"/>
                </a:ext>
              </a:extLst>
            </p:cNvPr>
            <p:cNvSpPr/>
            <p:nvPr/>
          </p:nvSpPr>
          <p:spPr>
            <a:xfrm>
              <a:off x="4343656" y="2224344"/>
              <a:ext cx="73025"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椭圆 39">
              <a:extLst>
                <a:ext uri="{FF2B5EF4-FFF2-40B4-BE49-F238E27FC236}">
                  <a16:creationId xmlns:a16="http://schemas.microsoft.com/office/drawing/2014/main" id="{622E7764-0490-8371-E11D-0D85BA9786C8}"/>
                </a:ext>
              </a:extLst>
            </p:cNvPr>
            <p:cNvSpPr/>
            <p:nvPr/>
          </p:nvSpPr>
          <p:spPr>
            <a:xfrm>
              <a:off x="4184906" y="1762382"/>
              <a:ext cx="71437"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2" name="椭圆 41">
              <a:extLst>
                <a:ext uri="{FF2B5EF4-FFF2-40B4-BE49-F238E27FC236}">
                  <a16:creationId xmlns:a16="http://schemas.microsoft.com/office/drawing/2014/main" id="{1BF2BA1A-0C24-6233-2F8E-833E864D0685}"/>
                </a:ext>
              </a:extLst>
            </p:cNvPr>
            <p:cNvSpPr/>
            <p:nvPr/>
          </p:nvSpPr>
          <p:spPr>
            <a:xfrm>
              <a:off x="4188081" y="2227519"/>
              <a:ext cx="71437"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4" name="椭圆 43">
              <a:extLst>
                <a:ext uri="{FF2B5EF4-FFF2-40B4-BE49-F238E27FC236}">
                  <a16:creationId xmlns:a16="http://schemas.microsoft.com/office/drawing/2014/main" id="{C5441E33-1441-3F93-36AC-A30FEA9519BC}"/>
                </a:ext>
              </a:extLst>
            </p:cNvPr>
            <p:cNvSpPr/>
            <p:nvPr/>
          </p:nvSpPr>
          <p:spPr>
            <a:xfrm>
              <a:off x="3870581" y="2232282"/>
              <a:ext cx="73025"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5" name="椭圆 44">
              <a:extLst>
                <a:ext uri="{FF2B5EF4-FFF2-40B4-BE49-F238E27FC236}">
                  <a16:creationId xmlns:a16="http://schemas.microsoft.com/office/drawing/2014/main" id="{1A96A934-46E5-001A-74E3-CD8B741C238A}"/>
                </a:ext>
              </a:extLst>
            </p:cNvPr>
            <p:cNvSpPr/>
            <p:nvPr/>
          </p:nvSpPr>
          <p:spPr>
            <a:xfrm>
              <a:off x="4030918" y="2229107"/>
              <a:ext cx="71438"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6" name="椭圆 45">
              <a:extLst>
                <a:ext uri="{FF2B5EF4-FFF2-40B4-BE49-F238E27FC236}">
                  <a16:creationId xmlns:a16="http://schemas.microsoft.com/office/drawing/2014/main" id="{2841A90F-E91D-3E50-C3ED-69D42BAE1952}"/>
                </a:ext>
              </a:extLst>
            </p:cNvPr>
            <p:cNvSpPr/>
            <p:nvPr/>
          </p:nvSpPr>
          <p:spPr>
            <a:xfrm>
              <a:off x="4032506" y="1762382"/>
              <a:ext cx="71437"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7" name="椭圆 46">
              <a:extLst>
                <a:ext uri="{FF2B5EF4-FFF2-40B4-BE49-F238E27FC236}">
                  <a16:creationId xmlns:a16="http://schemas.microsoft.com/office/drawing/2014/main" id="{F07B9384-6839-8A67-1EF8-7C5E8F0044B6}"/>
                </a:ext>
              </a:extLst>
            </p:cNvPr>
            <p:cNvSpPr/>
            <p:nvPr/>
          </p:nvSpPr>
          <p:spPr>
            <a:xfrm>
              <a:off x="3873756" y="1916369"/>
              <a:ext cx="71437"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8" name="椭圆 47">
              <a:extLst>
                <a:ext uri="{FF2B5EF4-FFF2-40B4-BE49-F238E27FC236}">
                  <a16:creationId xmlns:a16="http://schemas.microsoft.com/office/drawing/2014/main" id="{BC693454-6580-943E-021C-4C95F1B6F7DC}"/>
                </a:ext>
              </a:extLst>
            </p:cNvPr>
            <p:cNvSpPr/>
            <p:nvPr/>
          </p:nvSpPr>
          <p:spPr>
            <a:xfrm>
              <a:off x="4188081" y="1921132"/>
              <a:ext cx="73025"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9" name="椭圆 48">
              <a:extLst>
                <a:ext uri="{FF2B5EF4-FFF2-40B4-BE49-F238E27FC236}">
                  <a16:creationId xmlns:a16="http://schemas.microsoft.com/office/drawing/2014/main" id="{F8B293C4-6ACF-72ED-41F2-98C1365FAD40}"/>
                </a:ext>
              </a:extLst>
            </p:cNvPr>
            <p:cNvSpPr/>
            <p:nvPr/>
          </p:nvSpPr>
          <p:spPr>
            <a:xfrm>
              <a:off x="4332543" y="1760794"/>
              <a:ext cx="73025"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0" name="椭圆 49">
              <a:extLst>
                <a:ext uri="{FF2B5EF4-FFF2-40B4-BE49-F238E27FC236}">
                  <a16:creationId xmlns:a16="http://schemas.microsoft.com/office/drawing/2014/main" id="{5CA0356A-D180-00D9-0EE4-535EC390D7A2}"/>
                </a:ext>
              </a:extLst>
            </p:cNvPr>
            <p:cNvSpPr/>
            <p:nvPr/>
          </p:nvSpPr>
          <p:spPr>
            <a:xfrm>
              <a:off x="4335718" y="2068769"/>
              <a:ext cx="71438"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1" name="椭圆 50">
              <a:extLst>
                <a:ext uri="{FF2B5EF4-FFF2-40B4-BE49-F238E27FC236}">
                  <a16:creationId xmlns:a16="http://schemas.microsoft.com/office/drawing/2014/main" id="{D133F9C5-9473-3766-2429-741CF399B6CB}"/>
                </a:ext>
              </a:extLst>
            </p:cNvPr>
            <p:cNvSpPr/>
            <p:nvPr/>
          </p:nvSpPr>
          <p:spPr>
            <a:xfrm>
              <a:off x="4335718" y="1921132"/>
              <a:ext cx="71438" cy="73025"/>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2" name="椭圆 51">
              <a:extLst>
                <a:ext uri="{FF2B5EF4-FFF2-40B4-BE49-F238E27FC236}">
                  <a16:creationId xmlns:a16="http://schemas.microsoft.com/office/drawing/2014/main" id="{119F7BA9-A63B-542C-BBFE-4AFB26A5DAFC}"/>
                </a:ext>
              </a:extLst>
            </p:cNvPr>
            <p:cNvSpPr/>
            <p:nvPr/>
          </p:nvSpPr>
          <p:spPr>
            <a:xfrm>
              <a:off x="3875343" y="2075119"/>
              <a:ext cx="73025" cy="71438"/>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3" name="椭圆 52">
              <a:extLst>
                <a:ext uri="{FF2B5EF4-FFF2-40B4-BE49-F238E27FC236}">
                  <a16:creationId xmlns:a16="http://schemas.microsoft.com/office/drawing/2014/main" id="{ABAF777A-1464-3799-CBC4-7915A96A3D6E}"/>
                </a:ext>
              </a:extLst>
            </p:cNvPr>
            <p:cNvSpPr/>
            <p:nvPr/>
          </p:nvSpPr>
          <p:spPr>
            <a:xfrm>
              <a:off x="4032506" y="2076707"/>
              <a:ext cx="71437" cy="71437"/>
            </a:xfrm>
            <a:prstGeom prst="ellipse">
              <a:avLst/>
            </a:prstGeom>
            <a:solidFill>
              <a:sysClr val="window" lastClr="FFFFFF"/>
            </a:solidFill>
            <a:ln w="12700" cap="flat" cmpd="sng" algn="ctr">
              <a:solidFill>
                <a:sysClr val="windowText" lastClr="000000"/>
              </a:solidFill>
              <a:prstDash val="solid"/>
              <a:miter lim="800000"/>
            </a:ln>
            <a:effectLst/>
          </p:spPr>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sp>
        <p:nvSpPr>
          <p:cNvPr id="66" name="Rectangle 46">
            <a:extLst>
              <a:ext uri="{FF2B5EF4-FFF2-40B4-BE49-F238E27FC236}">
                <a16:creationId xmlns:a16="http://schemas.microsoft.com/office/drawing/2014/main" id="{446864DF-3A57-68EE-477A-75B2C019C464}"/>
              </a:ext>
            </a:extLst>
          </p:cNvPr>
          <p:cNvSpPr>
            <a:spLocks noChangeArrowheads="1"/>
          </p:cNvSpPr>
          <p:nvPr/>
        </p:nvSpPr>
        <p:spPr bwMode="auto">
          <a:xfrm>
            <a:off x="6639783" y="3618041"/>
            <a:ext cx="1362746" cy="358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lnSpc>
                <a:spcPts val="2200"/>
              </a:lnSpc>
              <a:buClr>
                <a:srgbClr val="0070C0"/>
              </a:buClr>
            </a:pPr>
            <a:r>
              <a:rPr lang="zh-CN" altLang="en-US" sz="1400" b="1" dirty="0">
                <a:latin typeface="微软雅黑" pitchFamily="34" charset="-122"/>
                <a:ea typeface="微软雅黑" pitchFamily="34" charset="-122"/>
              </a:rPr>
              <a:t>交叉开关结构</a:t>
            </a:r>
          </a:p>
        </p:txBody>
      </p:sp>
      <p:grpSp>
        <p:nvGrpSpPr>
          <p:cNvPr id="12" name="组合 11">
            <a:extLst>
              <a:ext uri="{FF2B5EF4-FFF2-40B4-BE49-F238E27FC236}">
                <a16:creationId xmlns:a16="http://schemas.microsoft.com/office/drawing/2014/main" id="{4B069103-D2A2-8C33-194E-CEE08C49C014}"/>
              </a:ext>
            </a:extLst>
          </p:cNvPr>
          <p:cNvGrpSpPr/>
          <p:nvPr/>
        </p:nvGrpSpPr>
        <p:grpSpPr>
          <a:xfrm flipH="1">
            <a:off x="3132718" y="3393398"/>
            <a:ext cx="1053690" cy="513118"/>
            <a:chOff x="-1040282" y="2966227"/>
            <a:chExt cx="965089" cy="530598"/>
          </a:xfrm>
        </p:grpSpPr>
        <p:sp>
          <p:nvSpPr>
            <p:cNvPr id="25" name="任意多边形: 形状 24">
              <a:extLst>
                <a:ext uri="{FF2B5EF4-FFF2-40B4-BE49-F238E27FC236}">
                  <a16:creationId xmlns:a16="http://schemas.microsoft.com/office/drawing/2014/main" id="{41C248D5-CA02-A3E9-A3DA-4A38AB861D56}"/>
                </a:ext>
              </a:extLst>
            </p:cNvPr>
            <p:cNvSpPr/>
            <p:nvPr/>
          </p:nvSpPr>
          <p:spPr>
            <a:xfrm>
              <a:off x="-786581" y="3106994"/>
              <a:ext cx="693175" cy="353961"/>
            </a:xfrm>
            <a:custGeom>
              <a:avLst/>
              <a:gdLst>
                <a:gd name="connsiteX0" fmla="*/ 0 w 693175"/>
                <a:gd name="connsiteY0" fmla="*/ 216309 h 353961"/>
                <a:gd name="connsiteX1" fmla="*/ 693175 w 693175"/>
                <a:gd name="connsiteY1" fmla="*/ 0 h 353961"/>
                <a:gd name="connsiteX2" fmla="*/ 688258 w 693175"/>
                <a:gd name="connsiteY2" fmla="*/ 117987 h 353961"/>
                <a:gd name="connsiteX3" fmla="*/ 29497 w 693175"/>
                <a:gd name="connsiteY3" fmla="*/ 353961 h 353961"/>
                <a:gd name="connsiteX4" fmla="*/ 0 w 693175"/>
                <a:gd name="connsiteY4" fmla="*/ 216309 h 353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175" h="353961">
                  <a:moveTo>
                    <a:pt x="0" y="216309"/>
                  </a:moveTo>
                  <a:lnTo>
                    <a:pt x="693175" y="0"/>
                  </a:lnTo>
                  <a:lnTo>
                    <a:pt x="688258" y="117987"/>
                  </a:lnTo>
                  <a:lnTo>
                    <a:pt x="29497" y="353961"/>
                  </a:lnTo>
                  <a:lnTo>
                    <a:pt x="0" y="216309"/>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Picture 23" descr="RG-S1848图片（低容量版）">
              <a:extLst>
                <a:ext uri="{FF2B5EF4-FFF2-40B4-BE49-F238E27FC236}">
                  <a16:creationId xmlns:a16="http://schemas.microsoft.com/office/drawing/2014/main" id="{A44063D2-30DA-A9F6-CAE1-DD403FF3525E}"/>
                </a:ext>
              </a:extLst>
            </p:cNvPr>
            <p:cNvPicPr>
              <a:picLocks noChangeAspect="1" noChangeArrowheads="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040282" y="2966227"/>
              <a:ext cx="965089" cy="530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任意多边形: 形状 13">
            <a:extLst>
              <a:ext uri="{FF2B5EF4-FFF2-40B4-BE49-F238E27FC236}">
                <a16:creationId xmlns:a16="http://schemas.microsoft.com/office/drawing/2014/main" id="{3BAE08DD-459C-C566-8EAA-AFD343F30BA7}"/>
              </a:ext>
            </a:extLst>
          </p:cNvPr>
          <p:cNvSpPr/>
          <p:nvPr/>
        </p:nvSpPr>
        <p:spPr>
          <a:xfrm>
            <a:off x="2917025" y="3021052"/>
            <a:ext cx="1866640" cy="1206500"/>
          </a:xfrm>
          <a:custGeom>
            <a:avLst/>
            <a:gdLst>
              <a:gd name="connsiteX0" fmla="*/ 0 w 878219"/>
              <a:gd name="connsiteY0" fmla="*/ 1207140 h 1207140"/>
              <a:gd name="connsiteX1" fmla="*/ 115122 w 878219"/>
              <a:gd name="connsiteY1" fmla="*/ 707180 h 1207140"/>
              <a:gd name="connsiteX2" fmla="*/ 309186 w 878219"/>
              <a:gd name="connsiteY2" fmla="*/ 549298 h 1207140"/>
              <a:gd name="connsiteX3" fmla="*/ 878219 w 878219"/>
              <a:gd name="connsiteY3" fmla="*/ 0 h 1207140"/>
              <a:gd name="connsiteX0" fmla="*/ 0 w 878219"/>
              <a:gd name="connsiteY0" fmla="*/ 1207140 h 1207140"/>
              <a:gd name="connsiteX1" fmla="*/ 141436 w 878219"/>
              <a:gd name="connsiteY1" fmla="*/ 740072 h 1207140"/>
              <a:gd name="connsiteX2" fmla="*/ 309186 w 878219"/>
              <a:gd name="connsiteY2" fmla="*/ 549298 h 1207140"/>
              <a:gd name="connsiteX3" fmla="*/ 878219 w 878219"/>
              <a:gd name="connsiteY3" fmla="*/ 0 h 1207140"/>
              <a:gd name="connsiteX0" fmla="*/ 0 w 878219"/>
              <a:gd name="connsiteY0" fmla="*/ 1207140 h 1207140"/>
              <a:gd name="connsiteX1" fmla="*/ 177617 w 878219"/>
              <a:gd name="connsiteY1" fmla="*/ 723626 h 1207140"/>
              <a:gd name="connsiteX2" fmla="*/ 309186 w 878219"/>
              <a:gd name="connsiteY2" fmla="*/ 549298 h 1207140"/>
              <a:gd name="connsiteX3" fmla="*/ 878219 w 878219"/>
              <a:gd name="connsiteY3" fmla="*/ 0 h 1207140"/>
              <a:gd name="connsiteX0" fmla="*/ 0 w 878219"/>
              <a:gd name="connsiteY0" fmla="*/ 1207140 h 1207140"/>
              <a:gd name="connsiteX1" fmla="*/ 161171 w 878219"/>
              <a:gd name="connsiteY1" fmla="*/ 723626 h 1207140"/>
              <a:gd name="connsiteX2" fmla="*/ 309186 w 878219"/>
              <a:gd name="connsiteY2" fmla="*/ 549298 h 1207140"/>
              <a:gd name="connsiteX3" fmla="*/ 878219 w 878219"/>
              <a:gd name="connsiteY3" fmla="*/ 0 h 1207140"/>
              <a:gd name="connsiteX0" fmla="*/ 0 w 878219"/>
              <a:gd name="connsiteY0" fmla="*/ 1207140 h 1207140"/>
              <a:gd name="connsiteX1" fmla="*/ 161171 w 878219"/>
              <a:gd name="connsiteY1" fmla="*/ 723626 h 1207140"/>
              <a:gd name="connsiteX2" fmla="*/ 309186 w 878219"/>
              <a:gd name="connsiteY2" fmla="*/ 549298 h 1207140"/>
              <a:gd name="connsiteX3" fmla="*/ 878219 w 878219"/>
              <a:gd name="connsiteY3" fmla="*/ 0 h 1207140"/>
            </a:gdLst>
            <a:ahLst/>
            <a:cxnLst>
              <a:cxn ang="0">
                <a:pos x="connsiteX0" y="connsiteY0"/>
              </a:cxn>
              <a:cxn ang="0">
                <a:pos x="connsiteX1" y="connsiteY1"/>
              </a:cxn>
              <a:cxn ang="0">
                <a:pos x="connsiteX2" y="connsiteY2"/>
              </a:cxn>
              <a:cxn ang="0">
                <a:pos x="connsiteX3" y="connsiteY3"/>
              </a:cxn>
            </a:cxnLst>
            <a:rect l="l" t="t" r="r" b="b"/>
            <a:pathLst>
              <a:path w="878219" h="1207140">
                <a:moveTo>
                  <a:pt x="0" y="1207140"/>
                </a:moveTo>
                <a:cubicBezTo>
                  <a:pt x="31795" y="1011980"/>
                  <a:pt x="93194" y="829977"/>
                  <a:pt x="161171" y="723626"/>
                </a:cubicBezTo>
                <a:cubicBezTo>
                  <a:pt x="229148" y="617275"/>
                  <a:pt x="182003" y="667161"/>
                  <a:pt x="309186" y="549298"/>
                </a:cubicBezTo>
                <a:cubicBezTo>
                  <a:pt x="436369" y="431435"/>
                  <a:pt x="657294" y="215717"/>
                  <a:pt x="878219" y="0"/>
                </a:cubicBezTo>
              </a:path>
            </a:pathLst>
          </a:custGeom>
          <a:ln>
            <a:tailEnd type="triangle"/>
          </a:ln>
        </p:spPr>
        <p:style>
          <a:lnRef idx="3">
            <a:schemeClr val="accent6"/>
          </a:lnRef>
          <a:fillRef idx="0">
            <a:schemeClr val="accent6"/>
          </a:fillRef>
          <a:effectRef idx="2">
            <a:schemeClr val="accent6"/>
          </a:effectRef>
          <a:fontRef idx="minor">
            <a:schemeClr val="tx1"/>
          </a:fontRef>
        </p:style>
        <p:txBody>
          <a:bodyPr anchor="ctr"/>
          <a:lstStyle/>
          <a:p>
            <a:pPr marL="0" marR="0" lvl="0" indent="0" algn="ctr" defTabSz="4572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6" name="任意多边形: 形状 15">
            <a:extLst>
              <a:ext uri="{FF2B5EF4-FFF2-40B4-BE49-F238E27FC236}">
                <a16:creationId xmlns:a16="http://schemas.microsoft.com/office/drawing/2014/main" id="{70DC0C80-5EDF-B8C6-9C73-876FF4B45DD4}"/>
              </a:ext>
            </a:extLst>
          </p:cNvPr>
          <p:cNvSpPr/>
          <p:nvPr/>
        </p:nvSpPr>
        <p:spPr>
          <a:xfrm rot="21423187">
            <a:off x="1641799" y="3265841"/>
            <a:ext cx="1723176" cy="443447"/>
          </a:xfrm>
          <a:custGeom>
            <a:avLst/>
            <a:gdLst>
              <a:gd name="connsiteX0" fmla="*/ 0 w 1018997"/>
              <a:gd name="connsiteY0" fmla="*/ 525929 h 525929"/>
              <a:gd name="connsiteX1" fmla="*/ 914400 w 1018997"/>
              <a:gd name="connsiteY1" fmla="*/ 412376 h 525929"/>
              <a:gd name="connsiteX2" fmla="*/ 1004048 w 1018997"/>
              <a:gd name="connsiteY2" fmla="*/ 298823 h 525929"/>
              <a:gd name="connsiteX3" fmla="*/ 962212 w 1018997"/>
              <a:gd name="connsiteY3" fmla="*/ 268941 h 525929"/>
              <a:gd name="connsiteX4" fmla="*/ 585695 w 1018997"/>
              <a:gd name="connsiteY4" fmla="*/ 0 h 525929"/>
              <a:gd name="connsiteX0" fmla="*/ 0 w 1018997"/>
              <a:gd name="connsiteY0" fmla="*/ 553759 h 553759"/>
              <a:gd name="connsiteX1" fmla="*/ 914400 w 1018997"/>
              <a:gd name="connsiteY1" fmla="*/ 440206 h 553759"/>
              <a:gd name="connsiteX2" fmla="*/ 1004048 w 1018997"/>
              <a:gd name="connsiteY2" fmla="*/ 326653 h 553759"/>
              <a:gd name="connsiteX3" fmla="*/ 962212 w 1018997"/>
              <a:gd name="connsiteY3" fmla="*/ 296771 h 553759"/>
              <a:gd name="connsiteX4" fmla="*/ 565816 w 1018997"/>
              <a:gd name="connsiteY4" fmla="*/ 0 h 553759"/>
              <a:gd name="connsiteX0" fmla="*/ 0 w 1012462"/>
              <a:gd name="connsiteY0" fmla="*/ 553759 h 553759"/>
              <a:gd name="connsiteX1" fmla="*/ 914400 w 1012462"/>
              <a:gd name="connsiteY1" fmla="*/ 440206 h 553759"/>
              <a:gd name="connsiteX2" fmla="*/ 992121 w 1012462"/>
              <a:gd name="connsiteY2" fmla="*/ 334604 h 553759"/>
              <a:gd name="connsiteX3" fmla="*/ 962212 w 1012462"/>
              <a:gd name="connsiteY3" fmla="*/ 296771 h 553759"/>
              <a:gd name="connsiteX4" fmla="*/ 565816 w 1012462"/>
              <a:gd name="connsiteY4" fmla="*/ 0 h 553759"/>
              <a:gd name="connsiteX0" fmla="*/ 0 w 1018997"/>
              <a:gd name="connsiteY0" fmla="*/ 553759 h 553759"/>
              <a:gd name="connsiteX1" fmla="*/ 914400 w 1018997"/>
              <a:gd name="connsiteY1" fmla="*/ 440206 h 553759"/>
              <a:gd name="connsiteX2" fmla="*/ 1004048 w 1018997"/>
              <a:gd name="connsiteY2" fmla="*/ 342555 h 553759"/>
              <a:gd name="connsiteX3" fmla="*/ 962212 w 1018997"/>
              <a:gd name="connsiteY3" fmla="*/ 296771 h 553759"/>
              <a:gd name="connsiteX4" fmla="*/ 565816 w 1018997"/>
              <a:gd name="connsiteY4" fmla="*/ 0 h 553759"/>
              <a:gd name="connsiteX0" fmla="*/ 0 w 1020516"/>
              <a:gd name="connsiteY0" fmla="*/ 553759 h 553759"/>
              <a:gd name="connsiteX1" fmla="*/ 914400 w 1020516"/>
              <a:gd name="connsiteY1" fmla="*/ 440206 h 553759"/>
              <a:gd name="connsiteX2" fmla="*/ 1004048 w 1020516"/>
              <a:gd name="connsiteY2" fmla="*/ 342555 h 553759"/>
              <a:gd name="connsiteX3" fmla="*/ 938358 w 1020516"/>
              <a:gd name="connsiteY3" fmla="*/ 268942 h 553759"/>
              <a:gd name="connsiteX4" fmla="*/ 565816 w 1020516"/>
              <a:gd name="connsiteY4" fmla="*/ 0 h 553759"/>
              <a:gd name="connsiteX0" fmla="*/ 0 w 1027726"/>
              <a:gd name="connsiteY0" fmla="*/ 553759 h 553759"/>
              <a:gd name="connsiteX1" fmla="*/ 914400 w 1027726"/>
              <a:gd name="connsiteY1" fmla="*/ 440206 h 553759"/>
              <a:gd name="connsiteX2" fmla="*/ 1015975 w 1027726"/>
              <a:gd name="connsiteY2" fmla="*/ 350506 h 553759"/>
              <a:gd name="connsiteX3" fmla="*/ 938358 w 1027726"/>
              <a:gd name="connsiteY3" fmla="*/ 268942 h 553759"/>
              <a:gd name="connsiteX4" fmla="*/ 565816 w 1027726"/>
              <a:gd name="connsiteY4" fmla="*/ 0 h 553759"/>
              <a:gd name="connsiteX0" fmla="*/ 0 w 1043504"/>
              <a:gd name="connsiteY0" fmla="*/ 553759 h 553759"/>
              <a:gd name="connsiteX1" fmla="*/ 914400 w 1043504"/>
              <a:gd name="connsiteY1" fmla="*/ 440206 h 553759"/>
              <a:gd name="connsiteX2" fmla="*/ 1038999 w 1043504"/>
              <a:gd name="connsiteY2" fmla="*/ 363663 h 553759"/>
              <a:gd name="connsiteX3" fmla="*/ 938358 w 1043504"/>
              <a:gd name="connsiteY3" fmla="*/ 268942 h 553759"/>
              <a:gd name="connsiteX4" fmla="*/ 565816 w 1043504"/>
              <a:gd name="connsiteY4" fmla="*/ 0 h 553759"/>
              <a:gd name="connsiteX0" fmla="*/ 0 w 1053788"/>
              <a:gd name="connsiteY0" fmla="*/ 586651 h 586651"/>
              <a:gd name="connsiteX1" fmla="*/ 924267 w 1053788"/>
              <a:gd name="connsiteY1" fmla="*/ 440206 h 586651"/>
              <a:gd name="connsiteX2" fmla="*/ 1048866 w 1053788"/>
              <a:gd name="connsiteY2" fmla="*/ 363663 h 586651"/>
              <a:gd name="connsiteX3" fmla="*/ 948225 w 1053788"/>
              <a:gd name="connsiteY3" fmla="*/ 268942 h 586651"/>
              <a:gd name="connsiteX4" fmla="*/ 575683 w 1053788"/>
              <a:gd name="connsiteY4" fmla="*/ 0 h 58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788" h="586651">
                <a:moveTo>
                  <a:pt x="0" y="586651"/>
                </a:moveTo>
                <a:cubicBezTo>
                  <a:pt x="373529" y="548800"/>
                  <a:pt x="749456" y="477371"/>
                  <a:pt x="924267" y="440206"/>
                </a:cubicBezTo>
                <a:cubicBezTo>
                  <a:pt x="1099078" y="403041"/>
                  <a:pt x="1044873" y="392207"/>
                  <a:pt x="1048866" y="363663"/>
                </a:cubicBezTo>
                <a:cubicBezTo>
                  <a:pt x="1052859" y="335119"/>
                  <a:pt x="948225" y="268942"/>
                  <a:pt x="948225" y="268942"/>
                </a:cubicBezTo>
                <a:lnTo>
                  <a:pt x="575683" y="0"/>
                </a:lnTo>
              </a:path>
            </a:pathLst>
          </a:custGeom>
          <a:ln>
            <a:tailEnd type="triangle"/>
          </a:ln>
        </p:spPr>
        <p:style>
          <a:lnRef idx="3">
            <a:schemeClr val="accent6"/>
          </a:lnRef>
          <a:fillRef idx="0">
            <a:schemeClr val="accent6"/>
          </a:fillRef>
          <a:effectRef idx="2">
            <a:schemeClr val="accent6"/>
          </a:effectRef>
          <a:fontRef idx="minor">
            <a:schemeClr val="tx1"/>
          </a:fontRef>
        </p:style>
        <p:txBody>
          <a:bodyPr anchor="ctr"/>
          <a:lstStyle/>
          <a:p>
            <a:pPr algn="ctr" defTabSz="457200" eaLnBrk="0" fontAlgn="auto" hangingPunct="0">
              <a:spcBef>
                <a:spcPts val="0"/>
              </a:spcBef>
              <a:spcAft>
                <a:spcPts val="0"/>
              </a:spcAft>
            </a:pPr>
            <a:endParaRPr lang="zh-CN" altLang="en-US" kern="0">
              <a:solidFill>
                <a:prstClr val="white"/>
              </a:solidFill>
              <a:latin typeface="Calibri" panose="020F0502020204030204"/>
              <a:ea typeface="等线" panose="02010600030101010101" pitchFamily="2" charset="-122"/>
            </a:endParaRPr>
          </a:p>
        </p:txBody>
      </p:sp>
    </p:spTree>
    <p:extLst>
      <p:ext uri="{BB962C8B-B14F-4D97-AF65-F5344CB8AC3E}">
        <p14:creationId xmlns:p14="http://schemas.microsoft.com/office/powerpoint/2010/main" val="17814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8590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存储转发方式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把整个</a:t>
            </a:r>
            <a:r>
              <a:rPr lang="en-US" altLang="zh-CN" b="1" dirty="0">
                <a:latin typeface="微软雅黑" pitchFamily="34" charset="-122"/>
                <a:ea typeface="微软雅黑" pitchFamily="34" charset="-122"/>
              </a:rPr>
              <a:t>MAC</a:t>
            </a:r>
            <a:r>
              <a:rPr lang="zh-CN" altLang="en-US" b="1" dirty="0">
                <a:latin typeface="微软雅黑" pitchFamily="34" charset="-122"/>
                <a:ea typeface="微软雅黑" pitchFamily="34" charset="-122"/>
              </a:rPr>
              <a:t>帧先缓存，再进行处理。</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807619" y="625934"/>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以太网交换机的两种交换方式</a:t>
            </a:r>
            <a:endParaRPr lang="fr-FR" altLang="zh-CN" sz="2000" b="1" dirty="0">
              <a:solidFill>
                <a:schemeClr val="bg1"/>
              </a:solidFill>
              <a:latin typeface="微软雅黑" pitchFamily="34" charset="-122"/>
              <a:ea typeface="微软雅黑" pitchFamily="34" charset="-122"/>
            </a:endParaRPr>
          </a:p>
        </p:txBody>
      </p:sp>
      <p:sp>
        <p:nvSpPr>
          <p:cNvPr id="6" name="Rectangle 46"/>
          <p:cNvSpPr>
            <a:spLocks noChangeArrowheads="1"/>
          </p:cNvSpPr>
          <p:nvPr/>
        </p:nvSpPr>
        <p:spPr bwMode="auto">
          <a:xfrm>
            <a:off x="500311" y="2024631"/>
            <a:ext cx="5242099" cy="23979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直通 </a:t>
            </a:r>
            <a:r>
              <a:rPr lang="en-US" altLang="zh-CN" sz="2000" b="1" dirty="0">
                <a:solidFill>
                  <a:srgbClr val="0000FF"/>
                </a:solidFill>
                <a:latin typeface="微软雅黑" pitchFamily="34" charset="-122"/>
                <a:ea typeface="微软雅黑" pitchFamily="34" charset="-122"/>
              </a:rPr>
              <a:t>(cut-through) </a:t>
            </a:r>
            <a:r>
              <a:rPr lang="zh-CN" altLang="en-US" sz="2000" b="1" dirty="0">
                <a:solidFill>
                  <a:srgbClr val="0000FF"/>
                </a:solidFill>
                <a:latin typeface="微软雅黑" pitchFamily="34" charset="-122"/>
                <a:ea typeface="微软雅黑" pitchFamily="34" charset="-122"/>
              </a:rPr>
              <a:t>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接收</a:t>
            </a:r>
            <a:r>
              <a:rPr lang="en-US" altLang="zh-CN" b="1" dirty="0">
                <a:latin typeface="微软雅黑" pitchFamily="34" charset="-122"/>
                <a:ea typeface="微软雅黑" pitchFamily="34" charset="-122"/>
              </a:rPr>
              <a:t>MAC</a:t>
            </a:r>
            <a:r>
              <a:rPr lang="zh-CN" altLang="en-US" b="1" dirty="0">
                <a:latin typeface="微软雅黑" pitchFamily="34" charset="-122"/>
                <a:ea typeface="微软雅黑" pitchFamily="34" charset="-122"/>
              </a:rPr>
              <a:t>帧的同时立即按</a:t>
            </a:r>
            <a:r>
              <a:rPr lang="en-US" altLang="zh-CN" b="1" dirty="0">
                <a:latin typeface="微软雅黑" pitchFamily="34" charset="-122"/>
                <a:ea typeface="微软雅黑" pitchFamily="34" charset="-122"/>
              </a:rPr>
              <a:t>MAC</a:t>
            </a:r>
            <a:r>
              <a:rPr lang="zh-CN" altLang="en-US" b="1" dirty="0">
                <a:latin typeface="微软雅黑" pitchFamily="34" charset="-122"/>
                <a:ea typeface="微软雅黑" pitchFamily="34" charset="-122"/>
              </a:rPr>
              <a:t>帧的目的 </a:t>
            </a:r>
            <a:r>
              <a:rPr lang="en-US" altLang="zh-CN" b="1" dirty="0">
                <a:latin typeface="微软雅黑" pitchFamily="34" charset="-122"/>
                <a:ea typeface="微软雅黑" pitchFamily="34" charset="-122"/>
              </a:rPr>
              <a:t>MAC </a:t>
            </a:r>
            <a:r>
              <a:rPr lang="zh-CN" altLang="en-US" b="1" dirty="0">
                <a:latin typeface="微软雅黑" pitchFamily="34" charset="-122"/>
                <a:ea typeface="微软雅黑" pitchFamily="34" charset="-122"/>
              </a:rPr>
              <a:t>地址决定该帧的转发端口。</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缺点：不检查差错就直接将帧转发出去，有可能转发无效帧。</a:t>
            </a:r>
            <a:endParaRPr lang="en-US" altLang="zh-CN"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输出端口有帧排队时，依然要进行存储转发。</a:t>
            </a:r>
          </a:p>
        </p:txBody>
      </p:sp>
      <p:sp>
        <p:nvSpPr>
          <p:cNvPr id="7" name="Line 9"/>
          <p:cNvSpPr>
            <a:spLocks noChangeShapeType="1"/>
          </p:cNvSpPr>
          <p:nvPr/>
        </p:nvSpPr>
        <p:spPr bwMode="auto">
          <a:xfrm>
            <a:off x="6054461" y="1707628"/>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10"/>
          <p:cNvSpPr>
            <a:spLocks noChangeShapeType="1"/>
          </p:cNvSpPr>
          <p:nvPr/>
        </p:nvSpPr>
        <p:spPr bwMode="auto">
          <a:xfrm flipH="1">
            <a:off x="7689296" y="1711093"/>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Rectangle 4"/>
          <p:cNvSpPr>
            <a:spLocks noChangeArrowheads="1"/>
          </p:cNvSpPr>
          <p:nvPr/>
        </p:nvSpPr>
        <p:spPr bwMode="auto">
          <a:xfrm>
            <a:off x="6636344" y="155206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2" name="组合 11"/>
          <p:cNvGrpSpPr/>
          <p:nvPr/>
        </p:nvGrpSpPr>
        <p:grpSpPr>
          <a:xfrm>
            <a:off x="5887560" y="1600612"/>
            <a:ext cx="652463" cy="180000"/>
            <a:chOff x="7412182" y="737129"/>
            <a:chExt cx="652463" cy="114300"/>
          </a:xfrm>
        </p:grpSpPr>
        <p:sp>
          <p:nvSpPr>
            <p:cNvPr id="13"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15" name="Line 9"/>
          <p:cNvSpPr>
            <a:spLocks noChangeShapeType="1"/>
          </p:cNvSpPr>
          <p:nvPr/>
        </p:nvSpPr>
        <p:spPr bwMode="auto">
          <a:xfrm>
            <a:off x="6054461" y="3254453"/>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0"/>
          <p:cNvSpPr>
            <a:spLocks noChangeShapeType="1"/>
          </p:cNvSpPr>
          <p:nvPr/>
        </p:nvSpPr>
        <p:spPr bwMode="auto">
          <a:xfrm flipH="1">
            <a:off x="7689296" y="3257918"/>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Rectangle 4"/>
          <p:cNvSpPr>
            <a:spLocks noChangeArrowheads="1"/>
          </p:cNvSpPr>
          <p:nvPr/>
        </p:nvSpPr>
        <p:spPr bwMode="auto">
          <a:xfrm>
            <a:off x="6636344" y="308503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8" name="组合 17"/>
          <p:cNvGrpSpPr/>
          <p:nvPr/>
        </p:nvGrpSpPr>
        <p:grpSpPr>
          <a:xfrm>
            <a:off x="5887560" y="3133582"/>
            <a:ext cx="652463" cy="180000"/>
            <a:chOff x="7412182" y="737129"/>
            <a:chExt cx="652463" cy="114300"/>
          </a:xfrm>
        </p:grpSpPr>
        <p:sp>
          <p:nvSpPr>
            <p:cNvPr id="19"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20"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21" name="矩形 20"/>
          <p:cNvSpPr/>
          <p:nvPr/>
        </p:nvSpPr>
        <p:spPr>
          <a:xfrm>
            <a:off x="6733346" y="1108179"/>
            <a:ext cx="1107996" cy="276999"/>
          </a:xfrm>
          <a:prstGeom prst="rect">
            <a:avLst/>
          </a:prstGeom>
        </p:spPr>
        <p:txBody>
          <a:bodyPr wrap="none">
            <a:spAutoFit/>
          </a:bodyPr>
          <a:lstStyle/>
          <a:p>
            <a:r>
              <a:rPr lang="zh-CN" altLang="en-US" sz="1200" b="1" dirty="0">
                <a:latin typeface="微软雅黑" pitchFamily="34" charset="-122"/>
                <a:ea typeface="微软雅黑" pitchFamily="34" charset="-122"/>
              </a:rPr>
              <a:t>存储转发方式</a:t>
            </a:r>
            <a:endParaRPr lang="zh-CN" altLang="en-US" sz="1200" dirty="0"/>
          </a:p>
        </p:txBody>
      </p:sp>
      <p:sp>
        <p:nvSpPr>
          <p:cNvPr id="22" name="矩形 21"/>
          <p:cNvSpPr/>
          <p:nvPr/>
        </p:nvSpPr>
        <p:spPr>
          <a:xfrm>
            <a:off x="6885751" y="2650651"/>
            <a:ext cx="800219" cy="276999"/>
          </a:xfrm>
          <a:prstGeom prst="rect">
            <a:avLst/>
          </a:prstGeom>
        </p:spPr>
        <p:txBody>
          <a:bodyPr wrap="none">
            <a:spAutoFit/>
          </a:bodyPr>
          <a:lstStyle/>
          <a:p>
            <a:r>
              <a:rPr lang="zh-CN" altLang="en-US" sz="1200" b="1" dirty="0">
                <a:latin typeface="微软雅黑" pitchFamily="34" charset="-122"/>
                <a:ea typeface="微软雅黑" pitchFamily="34" charset="-122"/>
              </a:rPr>
              <a:t>直通方式</a:t>
            </a:r>
            <a:endParaRPr lang="zh-CN" altLang="en-US" sz="1200" dirty="0"/>
          </a:p>
        </p:txBody>
      </p:sp>
    </p:spTree>
    <p:extLst>
      <p:ext uri="{BB962C8B-B14F-4D97-AF65-F5344CB8AC3E}">
        <p14:creationId xmlns:p14="http://schemas.microsoft.com/office/powerpoint/2010/main" val="244096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88889E-6 -3.7037E-6 L 0.10921 -3.7037E-6 " pathEditMode="relative" rAng="0" ptsTypes="AA">
                                      <p:cBhvr>
                                        <p:cTn id="6" dur="2000" fill="hold"/>
                                        <p:tgtEl>
                                          <p:spTgt spid="12"/>
                                        </p:tgtEl>
                                        <p:attrNameLst>
                                          <p:attrName>ppt_x</p:attrName>
                                          <p:attrName>ppt_y</p:attrName>
                                        </p:attrNameLst>
                                      </p:cBhvr>
                                      <p:rCtr x="5451" y="0"/>
                                    </p:animMotion>
                                  </p:childTnLst>
                                </p:cTn>
                              </p:par>
                            </p:childTnLst>
                          </p:cTn>
                        </p:par>
                        <p:par>
                          <p:cTn id="7" fill="hold">
                            <p:stCondLst>
                              <p:cond delay="2000"/>
                            </p:stCondLst>
                            <p:childTnLst>
                              <p:par>
                                <p:cTn id="8" presetID="63" presetClass="path" presetSubtype="0" accel="50000" decel="50000" fill="hold" nodeType="afterEffect">
                                  <p:stCondLst>
                                    <p:cond delay="400"/>
                                  </p:stCondLst>
                                  <p:childTnLst>
                                    <p:animMotion origin="layout" path="M 0.10921 -3.7037E-6 L 0.25469 -3.7037E-6 " pathEditMode="relative" rAng="0" ptsTypes="AA">
                                      <p:cBhvr>
                                        <p:cTn id="9" dur="3100" fill="hold"/>
                                        <p:tgtEl>
                                          <p:spTgt spid="12"/>
                                        </p:tgtEl>
                                        <p:attrNameLst>
                                          <p:attrName>ppt_x</p:attrName>
                                          <p:attrName>ppt_y</p:attrName>
                                        </p:attrNameLst>
                                      </p:cBhvr>
                                      <p:rCtr x="7274" y="0"/>
                                    </p:animMotion>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3.88889E-6 -3.20988E-6 L 0.04375 0.00093 " pathEditMode="relative" rAng="0" ptsTypes="AA">
                                      <p:cBhvr>
                                        <p:cTn id="13" dur="2000" fill="hold"/>
                                        <p:tgtEl>
                                          <p:spTgt spid="18"/>
                                        </p:tgtEl>
                                        <p:attrNameLst>
                                          <p:attrName>ppt_x</p:attrName>
                                          <p:attrName>ppt_y</p:attrName>
                                        </p:attrNameLst>
                                      </p:cBhvr>
                                      <p:rCtr x="2187" y="31"/>
                                    </p:animMotion>
                                  </p:childTnLst>
                                </p:cTn>
                              </p:par>
                            </p:childTnLst>
                          </p:cTn>
                        </p:par>
                        <p:par>
                          <p:cTn id="14" fill="hold">
                            <p:stCondLst>
                              <p:cond delay="2000"/>
                            </p:stCondLst>
                            <p:childTnLst>
                              <p:par>
                                <p:cTn id="15" presetID="63" presetClass="path" presetSubtype="0" accel="50000" decel="50000" fill="hold" nodeType="afterEffect">
                                  <p:stCondLst>
                                    <p:cond delay="0"/>
                                  </p:stCondLst>
                                  <p:childTnLst>
                                    <p:animMotion origin="layout" path="M 0.04375 0.00093 L 0.24827 0.00093 " pathEditMode="relative" rAng="0" ptsTypes="AA">
                                      <p:cBhvr>
                                        <p:cTn id="16" dur="2000" fill="hold"/>
                                        <p:tgtEl>
                                          <p:spTgt spid="18"/>
                                        </p:tgtEl>
                                        <p:attrNameLst>
                                          <p:attrName>ppt_x</p:attrName>
                                          <p:attrName>ppt_y</p:attrName>
                                        </p:attrNameLst>
                                      </p:cBhvr>
                                      <p:rCtr x="10226" y="0"/>
                                    </p:animMotion>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320579" y="62593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以太网交换机的优点</a:t>
            </a:r>
            <a:endParaRPr lang="fr-FR" altLang="zh-CN" sz="2000" b="1" dirty="0">
              <a:solidFill>
                <a:schemeClr val="bg1"/>
              </a:solidFill>
              <a:latin typeface="微软雅黑" pitchFamily="34" charset="-122"/>
              <a:ea typeface="微软雅黑" pitchFamily="34" charset="-122"/>
            </a:endParaRPr>
          </a:p>
        </p:txBody>
      </p:sp>
      <p:sp>
        <p:nvSpPr>
          <p:cNvPr id="4" name="AutoShape 42"/>
          <p:cNvSpPr>
            <a:spLocks noChangeArrowheads="1"/>
          </p:cNvSpPr>
          <p:nvPr/>
        </p:nvSpPr>
        <p:spPr bwMode="auto">
          <a:xfrm>
            <a:off x="502919" y="1526103"/>
            <a:ext cx="39449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 name="Text Box 49"/>
          <p:cNvSpPr txBox="1">
            <a:spLocks noChangeArrowheads="1"/>
          </p:cNvSpPr>
          <p:nvPr/>
        </p:nvSpPr>
        <p:spPr bwMode="auto">
          <a:xfrm>
            <a:off x="2209705" y="1697548"/>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集线器</a:t>
            </a:r>
          </a:p>
        </p:txBody>
      </p:sp>
      <p:sp>
        <p:nvSpPr>
          <p:cNvPr id="6" name="Line 60"/>
          <p:cNvSpPr>
            <a:spLocks noChangeShapeType="1"/>
          </p:cNvSpPr>
          <p:nvPr/>
        </p:nvSpPr>
        <p:spPr bwMode="auto">
          <a:xfrm flipH="1">
            <a:off x="1249184" y="2155585"/>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Line 62"/>
          <p:cNvSpPr>
            <a:spLocks noChangeShapeType="1"/>
          </p:cNvSpPr>
          <p:nvPr/>
        </p:nvSpPr>
        <p:spPr bwMode="auto">
          <a:xfrm>
            <a:off x="2730652" y="2155585"/>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Line 63"/>
          <p:cNvSpPr>
            <a:spLocks noChangeShapeType="1"/>
          </p:cNvSpPr>
          <p:nvPr/>
        </p:nvSpPr>
        <p:spPr bwMode="auto">
          <a:xfrm>
            <a:off x="2824263" y="2155584"/>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Line 64"/>
          <p:cNvSpPr>
            <a:spLocks noChangeShapeType="1"/>
          </p:cNvSpPr>
          <p:nvPr/>
        </p:nvSpPr>
        <p:spPr bwMode="auto">
          <a:xfrm flipH="1">
            <a:off x="2050433" y="2155585"/>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744748">
            <a:off x="2224037" y="1910097"/>
            <a:ext cx="929488" cy="417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502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2580"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426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6705" y="2768375"/>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42"/>
          <p:cNvSpPr>
            <a:spLocks noChangeArrowheads="1"/>
          </p:cNvSpPr>
          <p:nvPr/>
        </p:nvSpPr>
        <p:spPr bwMode="auto">
          <a:xfrm>
            <a:off x="4642792" y="1526104"/>
            <a:ext cx="39891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6" name="Text Box 49"/>
          <p:cNvSpPr txBox="1">
            <a:spLocks noChangeArrowheads="1"/>
          </p:cNvSpPr>
          <p:nvPr/>
        </p:nvSpPr>
        <p:spPr bwMode="auto">
          <a:xfrm>
            <a:off x="6237825" y="1711404"/>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交换机</a:t>
            </a:r>
          </a:p>
        </p:txBody>
      </p:sp>
      <p:sp>
        <p:nvSpPr>
          <p:cNvPr id="17" name="Line 60"/>
          <p:cNvSpPr>
            <a:spLocks noChangeShapeType="1"/>
          </p:cNvSpPr>
          <p:nvPr/>
        </p:nvSpPr>
        <p:spPr bwMode="auto">
          <a:xfrm flipH="1">
            <a:off x="5374289" y="2155586"/>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Line 62"/>
          <p:cNvSpPr>
            <a:spLocks noChangeShapeType="1"/>
          </p:cNvSpPr>
          <p:nvPr/>
        </p:nvSpPr>
        <p:spPr bwMode="auto">
          <a:xfrm>
            <a:off x="6855757" y="2155586"/>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9" name="Line 63"/>
          <p:cNvSpPr>
            <a:spLocks noChangeShapeType="1"/>
          </p:cNvSpPr>
          <p:nvPr/>
        </p:nvSpPr>
        <p:spPr bwMode="auto">
          <a:xfrm>
            <a:off x="6949368" y="2155585"/>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0" name="Line 64"/>
          <p:cNvSpPr>
            <a:spLocks noChangeShapeType="1"/>
          </p:cNvSpPr>
          <p:nvPr/>
        </p:nvSpPr>
        <p:spPr bwMode="auto">
          <a:xfrm flipH="1">
            <a:off x="6175538" y="2155586"/>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2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012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7685"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36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51810" y="2768376"/>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25" name="modem"/>
          <p:cNvSpPr>
            <a:spLocks noEditPoints="1" noChangeArrowheads="1"/>
          </p:cNvSpPr>
          <p:nvPr/>
        </p:nvSpPr>
        <p:spPr bwMode="auto">
          <a:xfrm>
            <a:off x="6280216" y="1993430"/>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6" name="矩形 25"/>
          <p:cNvSpPr/>
          <p:nvPr/>
        </p:nvSpPr>
        <p:spPr>
          <a:xfrm>
            <a:off x="683491" y="3455419"/>
            <a:ext cx="4013624" cy="656590"/>
          </a:xfrm>
          <a:prstGeom prst="rect">
            <a:avLst/>
          </a:prstGeom>
        </p:spPr>
        <p:txBody>
          <a:bodyPr wrap="square">
            <a:spAutoFit/>
          </a:bodyPr>
          <a:lstStyle/>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个用户共享集线器提供的带宽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平均每个用户仅占有 </a:t>
            </a:r>
            <a:r>
              <a:rPr lang="en-US" altLang="zh-CN" sz="1600" b="1" dirty="0">
                <a:latin typeface="微软雅黑" pitchFamily="34" charset="-122"/>
                <a:ea typeface="微软雅黑" pitchFamily="34" charset="-122"/>
              </a:rPr>
              <a:t>B/N </a:t>
            </a:r>
            <a:r>
              <a:rPr lang="zh-CN" altLang="en-US" sz="1600" b="1" dirty="0">
                <a:latin typeface="微软雅黑" pitchFamily="34" charset="-122"/>
                <a:ea typeface="微软雅黑" pitchFamily="34" charset="-122"/>
              </a:rPr>
              <a:t>的带宽。</a:t>
            </a:r>
          </a:p>
        </p:txBody>
      </p:sp>
      <p:sp>
        <p:nvSpPr>
          <p:cNvPr id="27" name="矩形 26"/>
          <p:cNvSpPr/>
          <p:nvPr/>
        </p:nvSpPr>
        <p:spPr>
          <a:xfrm>
            <a:off x="4858650" y="3456729"/>
            <a:ext cx="3537205" cy="938719"/>
          </a:xfrm>
          <a:prstGeom prst="rect">
            <a:avLst/>
          </a:prstGeom>
        </p:spPr>
        <p:txBody>
          <a:bodyPr wrap="square">
            <a:spAutoFit/>
          </a:bodyPr>
          <a:lstStyle/>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交换机为每个端口提供带宽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个用户，每个用户独占带宽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交换机总容量达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 N </a:t>
            </a:r>
            <a:r>
              <a:rPr lang="zh-CN" altLang="en-US" sz="1600" b="1" dirty="0">
                <a:latin typeface="微软雅黑" pitchFamily="34" charset="-122"/>
                <a:ea typeface="微软雅黑" pitchFamily="34" charset="-122"/>
              </a:rPr>
              <a:t>。</a:t>
            </a:r>
          </a:p>
        </p:txBody>
      </p:sp>
      <p:sp>
        <p:nvSpPr>
          <p:cNvPr id="28" name="矩形 27"/>
          <p:cNvSpPr/>
          <p:nvPr/>
        </p:nvSpPr>
        <p:spPr>
          <a:xfrm>
            <a:off x="2503055" y="1057734"/>
            <a:ext cx="4221018" cy="369332"/>
          </a:xfrm>
          <a:prstGeom prst="rect">
            <a:avLst/>
          </a:prstGeom>
          <a:solidFill>
            <a:srgbClr val="0000CC"/>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每个用户独享带宽，增加了总容量</a:t>
            </a:r>
          </a:p>
        </p:txBody>
      </p:sp>
    </p:spTree>
    <p:extLst>
      <p:ext uri="{BB962C8B-B14F-4D97-AF65-F5344CB8AC3E}">
        <p14:creationId xmlns:p14="http://schemas.microsoft.com/office/powerpoint/2010/main" val="282898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grpId="0" nodeType="clickEffect">
                                  <p:stCondLst>
                                    <p:cond delay="0"/>
                                  </p:stCondLst>
                                  <p:childTnLst>
                                    <p:anim calcmode="discrete" valueType="str">
                                      <p:cBhvr>
                                        <p:cTn id="6" dur="1000" fill="hold"/>
                                        <p:tgtEl>
                                          <p:spTgt spid="2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grpId="0" nodeType="clickEffect">
                                  <p:stCondLst>
                                    <p:cond delay="0"/>
                                  </p:stCondLst>
                                  <p:childTnLst>
                                    <p:anim calcmode="discrete" valueType="str">
                                      <p:cBhvr>
                                        <p:cTn id="10" dur="1000" fill="hold"/>
                                        <p:tgtEl>
                                          <p:spTgt spid="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圆角矩形 63"/>
          <p:cNvSpPr/>
          <p:nvPr/>
        </p:nvSpPr>
        <p:spPr>
          <a:xfrm>
            <a:off x="5154733" y="1186387"/>
            <a:ext cx="3740387" cy="3192125"/>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Rectangle 8"/>
          <p:cNvSpPr>
            <a:spLocks noChangeArrowheads="1"/>
          </p:cNvSpPr>
          <p:nvPr/>
        </p:nvSpPr>
        <p:spPr bwMode="auto">
          <a:xfrm>
            <a:off x="409172" y="1044812"/>
            <a:ext cx="4834500" cy="343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即插即用。</a:t>
            </a:r>
            <a:r>
              <a:rPr lang="zh-CN" altLang="en-US" sz="2000" b="1" dirty="0">
                <a:latin typeface="微软雅黑" pitchFamily="34" charset="-122"/>
                <a:ea typeface="微软雅黑" pitchFamily="34" charset="-122"/>
              </a:rPr>
              <a:t>其内部的帧</a:t>
            </a:r>
            <a:r>
              <a:rPr lang="zh-CN" altLang="en-US" sz="2000" b="1" dirty="0">
                <a:solidFill>
                  <a:srgbClr val="C00000"/>
                </a:solidFill>
                <a:latin typeface="微软雅黑" pitchFamily="34" charset="-122"/>
                <a:ea typeface="微软雅黑" pitchFamily="34" charset="-122"/>
              </a:rPr>
              <a:t>交换表</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地址表</a:t>
            </a:r>
            <a:r>
              <a:rPr lang="zh-CN" altLang="en-US" sz="2000" b="1" dirty="0">
                <a:latin typeface="微软雅黑" pitchFamily="34" charset="-122"/>
                <a:ea typeface="微软雅黑" pitchFamily="34" charset="-122"/>
              </a:rPr>
              <a:t>）是通过</a:t>
            </a:r>
            <a:r>
              <a:rPr lang="zh-CN" altLang="en-US" sz="2000" b="1" dirty="0">
                <a:solidFill>
                  <a:srgbClr val="C00000"/>
                </a:solidFill>
                <a:latin typeface="微软雅黑" pitchFamily="34" charset="-122"/>
                <a:ea typeface="微软雅黑" pitchFamily="34" charset="-122"/>
              </a:rPr>
              <a:t>自学习算法</a:t>
            </a:r>
            <a:r>
              <a:rPr lang="zh-CN" altLang="en-US" sz="2000" b="1" dirty="0">
                <a:latin typeface="微软雅黑" pitchFamily="34" charset="-122"/>
                <a:ea typeface="微软雅黑" pitchFamily="34" charset="-122"/>
              </a:rPr>
              <a:t>自动地逐渐建立起来的。</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交换表是一个内容可寻址存储器</a:t>
            </a:r>
            <a:r>
              <a:rPr lang="en-US" altLang="zh-CN" sz="2000" b="1" dirty="0">
                <a:latin typeface="微软雅黑" pitchFamily="34" charset="-122"/>
                <a:ea typeface="微软雅黑" pitchFamily="34" charset="-122"/>
              </a:rPr>
              <a:t>CAM (Content addressable Memory)</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专用的交换结构芯片</a:t>
            </a:r>
            <a:r>
              <a:rPr lang="zh-CN" altLang="en-US" sz="2000" b="1" dirty="0">
                <a:latin typeface="微软雅黑" pitchFamily="34" charset="-122"/>
                <a:ea typeface="微软雅黑" pitchFamily="34" charset="-122"/>
              </a:rPr>
              <a:t>，用硬件转发，其转发速率要比使用软件转发的网桥快很多。</a:t>
            </a:r>
            <a:endParaRPr lang="en-US" altLang="zh-CN" sz="2000" b="1" dirty="0">
              <a:latin typeface="微软雅黑" pitchFamily="34" charset="-122"/>
              <a:ea typeface="微软雅黑" pitchFamily="34" charset="-122"/>
            </a:endParaRPr>
          </a:p>
        </p:txBody>
      </p:sp>
      <p:sp>
        <p:nvSpPr>
          <p:cNvPr id="63"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161181" y="608658"/>
            <a:ext cx="4804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3.4.2  </a:t>
            </a:r>
            <a:r>
              <a:rPr lang="zh-CN" altLang="en-US" sz="2400" b="1" dirty="0">
                <a:solidFill>
                  <a:schemeClr val="bg1"/>
                </a:solidFill>
                <a:latin typeface="微软雅黑" pitchFamily="34" charset="-122"/>
                <a:ea typeface="微软雅黑" pitchFamily="34" charset="-122"/>
              </a:rPr>
              <a:t>以太网交换机的自学习功能</a:t>
            </a:r>
          </a:p>
        </p:txBody>
      </p:sp>
      <p:grpSp>
        <p:nvGrpSpPr>
          <p:cNvPr id="5" name="组合 4">
            <a:extLst>
              <a:ext uri="{FF2B5EF4-FFF2-40B4-BE49-F238E27FC236}">
                <a16:creationId xmlns:a16="http://schemas.microsoft.com/office/drawing/2014/main" id="{CCBA39F6-D374-E43C-5DCA-D189D42F0C50}"/>
              </a:ext>
            </a:extLst>
          </p:cNvPr>
          <p:cNvGrpSpPr/>
          <p:nvPr/>
        </p:nvGrpSpPr>
        <p:grpSpPr>
          <a:xfrm>
            <a:off x="5319649" y="1515031"/>
            <a:ext cx="3390896" cy="2366653"/>
            <a:chOff x="2620631" y="1493842"/>
            <a:chExt cx="3390896" cy="2366653"/>
          </a:xfrm>
        </p:grpSpPr>
        <p:sp>
          <p:nvSpPr>
            <p:cNvPr id="8" name="矩形 7">
              <a:extLst>
                <a:ext uri="{FF2B5EF4-FFF2-40B4-BE49-F238E27FC236}">
                  <a16:creationId xmlns:a16="http://schemas.microsoft.com/office/drawing/2014/main" id="{456E5E3E-186F-3985-3AFE-CCD722BB7D29}"/>
                </a:ext>
              </a:extLst>
            </p:cNvPr>
            <p:cNvSpPr/>
            <p:nvPr/>
          </p:nvSpPr>
          <p:spPr>
            <a:xfrm>
              <a:off x="3746732" y="18087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9" name="直接连接符 8">
              <a:extLst>
                <a:ext uri="{FF2B5EF4-FFF2-40B4-BE49-F238E27FC236}">
                  <a16:creationId xmlns:a16="http://schemas.microsoft.com/office/drawing/2014/main" id="{7BC32AA9-A6FE-4BD4-DA9B-0576F4EC1DD4}"/>
                </a:ext>
              </a:extLst>
            </p:cNvPr>
            <p:cNvCxnSpPr>
              <a:stCxn id="79" idx="1"/>
            </p:cNvCxnSpPr>
            <p:nvPr/>
          </p:nvCxnSpPr>
          <p:spPr>
            <a:xfrm flipH="1">
              <a:off x="3075066" y="36068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55C9B66-388C-E014-8A88-03C0B05CAFB0}"/>
                </a:ext>
              </a:extLst>
            </p:cNvPr>
            <p:cNvCxnSpPr>
              <a:endCxn id="81" idx="1"/>
            </p:cNvCxnSpPr>
            <p:nvPr/>
          </p:nvCxnSpPr>
          <p:spPr>
            <a:xfrm>
              <a:off x="3075066" y="25289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659D95A-8AFC-D6E5-2DCA-EEF62F51C51A}"/>
                </a:ext>
              </a:extLst>
            </p:cNvPr>
            <p:cNvCxnSpPr>
              <a:stCxn id="77" idx="1"/>
            </p:cNvCxnSpPr>
            <p:nvPr/>
          </p:nvCxnSpPr>
          <p:spPr>
            <a:xfrm flipH="1">
              <a:off x="3097939" y="30527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EBE4A4CD-F17A-DEFD-7F82-CAC5E3B61521}"/>
                </a:ext>
              </a:extLst>
            </p:cNvPr>
            <p:cNvCxnSpPr>
              <a:endCxn id="84" idx="1"/>
            </p:cNvCxnSpPr>
            <p:nvPr/>
          </p:nvCxnSpPr>
          <p:spPr>
            <a:xfrm>
              <a:off x="3075066" y="19732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24">
              <a:extLst>
                <a:ext uri="{FF2B5EF4-FFF2-40B4-BE49-F238E27FC236}">
                  <a16:creationId xmlns:a16="http://schemas.microsoft.com/office/drawing/2014/main" id="{086992F2-DE8E-9EDF-3D1B-1BB604572A6D}"/>
                </a:ext>
              </a:extLst>
            </p:cNvPr>
            <p:cNvSpPr>
              <a:spLocks noChangeArrowheads="1"/>
            </p:cNvSpPr>
            <p:nvPr/>
          </p:nvSpPr>
          <p:spPr bwMode="auto">
            <a:xfrm>
              <a:off x="4202623" y="1493842"/>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18" name="Rectangle 34">
              <a:extLst>
                <a:ext uri="{FF2B5EF4-FFF2-40B4-BE49-F238E27FC236}">
                  <a16:creationId xmlns:a16="http://schemas.microsoft.com/office/drawing/2014/main" id="{88C2E4AA-39CD-48AB-1BF9-DB5DA76B4094}"/>
                </a:ext>
              </a:extLst>
            </p:cNvPr>
            <p:cNvSpPr>
              <a:spLocks noChangeArrowheads="1"/>
            </p:cNvSpPr>
            <p:nvPr/>
          </p:nvSpPr>
          <p:spPr bwMode="auto">
            <a:xfrm>
              <a:off x="2627339" y="17715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9" name="组合 57">
              <a:extLst>
                <a:ext uri="{FF2B5EF4-FFF2-40B4-BE49-F238E27FC236}">
                  <a16:creationId xmlns:a16="http://schemas.microsoft.com/office/drawing/2014/main" id="{2E2D0ED3-1743-1442-243C-BFC21B5D9EC2}"/>
                </a:ext>
              </a:extLst>
            </p:cNvPr>
            <p:cNvGrpSpPr>
              <a:grpSpLocks/>
            </p:cNvGrpSpPr>
            <p:nvPr/>
          </p:nvGrpSpPr>
          <p:grpSpPr bwMode="auto">
            <a:xfrm>
              <a:off x="3737593" y="1836021"/>
              <a:ext cx="277321" cy="274434"/>
              <a:chOff x="2255844" y="1268760"/>
              <a:chExt cx="360915" cy="356296"/>
            </a:xfrm>
          </p:grpSpPr>
          <p:sp>
            <p:nvSpPr>
              <p:cNvPr id="83" name="矩形 82">
                <a:extLst>
                  <a:ext uri="{FF2B5EF4-FFF2-40B4-BE49-F238E27FC236}">
                    <a16:creationId xmlns:a16="http://schemas.microsoft.com/office/drawing/2014/main" id="{A22E02D9-2C8F-C164-C472-DC75F6592059}"/>
                  </a:ext>
                </a:extLst>
              </p:cNvPr>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84" name="Rectangle 40">
                <a:extLst>
                  <a:ext uri="{FF2B5EF4-FFF2-40B4-BE49-F238E27FC236}">
                    <a16:creationId xmlns:a16="http://schemas.microsoft.com/office/drawing/2014/main" id="{086722B7-2FF0-33B4-E859-29705C93E6EF}"/>
                  </a:ext>
                </a:extLst>
              </p:cNvPr>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21" name="组合 58">
              <a:extLst>
                <a:ext uri="{FF2B5EF4-FFF2-40B4-BE49-F238E27FC236}">
                  <a16:creationId xmlns:a16="http://schemas.microsoft.com/office/drawing/2014/main" id="{BF36C0E0-6CF9-C57A-BA2F-6762CA1C34BE}"/>
                </a:ext>
              </a:extLst>
            </p:cNvPr>
            <p:cNvGrpSpPr>
              <a:grpSpLocks/>
            </p:cNvGrpSpPr>
            <p:nvPr/>
          </p:nvGrpSpPr>
          <p:grpSpPr bwMode="auto">
            <a:xfrm>
              <a:off x="3746736" y="2399933"/>
              <a:ext cx="277321" cy="274434"/>
              <a:chOff x="2267744" y="1280668"/>
              <a:chExt cx="360915" cy="357388"/>
            </a:xfrm>
          </p:grpSpPr>
          <p:sp>
            <p:nvSpPr>
              <p:cNvPr id="81" name="矩形 80">
                <a:extLst>
                  <a:ext uri="{FF2B5EF4-FFF2-40B4-BE49-F238E27FC236}">
                    <a16:creationId xmlns:a16="http://schemas.microsoft.com/office/drawing/2014/main" id="{312B557A-E2E1-56A9-1BF9-28BF186FCC4F}"/>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82" name="Rectangle 40">
                <a:extLst>
                  <a:ext uri="{FF2B5EF4-FFF2-40B4-BE49-F238E27FC236}">
                    <a16:creationId xmlns:a16="http://schemas.microsoft.com/office/drawing/2014/main" id="{122EC365-5A84-5429-3CAB-012349EB21B8}"/>
                  </a:ext>
                </a:extLst>
              </p:cNvPr>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22" name="组合 61">
              <a:extLst>
                <a:ext uri="{FF2B5EF4-FFF2-40B4-BE49-F238E27FC236}">
                  <a16:creationId xmlns:a16="http://schemas.microsoft.com/office/drawing/2014/main" id="{17D01550-EE40-114D-505C-58E4CAB54240}"/>
                </a:ext>
              </a:extLst>
            </p:cNvPr>
            <p:cNvGrpSpPr>
              <a:grpSpLocks/>
            </p:cNvGrpSpPr>
            <p:nvPr/>
          </p:nvGrpSpPr>
          <p:grpSpPr bwMode="auto">
            <a:xfrm>
              <a:off x="3717616" y="3477835"/>
              <a:ext cx="277321" cy="274434"/>
              <a:chOff x="2244074" y="1280668"/>
              <a:chExt cx="358931" cy="357388"/>
            </a:xfrm>
          </p:grpSpPr>
          <p:sp>
            <p:nvSpPr>
              <p:cNvPr id="79" name="矩形 78">
                <a:extLst>
                  <a:ext uri="{FF2B5EF4-FFF2-40B4-BE49-F238E27FC236}">
                    <a16:creationId xmlns:a16="http://schemas.microsoft.com/office/drawing/2014/main" id="{CFF614A9-F09E-ED33-D0E3-A1AC7273D85E}"/>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80" name="Rectangle 40">
                <a:extLst>
                  <a:ext uri="{FF2B5EF4-FFF2-40B4-BE49-F238E27FC236}">
                    <a16:creationId xmlns:a16="http://schemas.microsoft.com/office/drawing/2014/main" id="{FDA3D7BE-5BE9-5B3B-938C-2D93E7F74571}"/>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23" name="组合 64">
              <a:extLst>
                <a:ext uri="{FF2B5EF4-FFF2-40B4-BE49-F238E27FC236}">
                  <a16:creationId xmlns:a16="http://schemas.microsoft.com/office/drawing/2014/main" id="{23A9DF89-92A9-EE8B-C57E-4C9049632CB8}"/>
                </a:ext>
              </a:extLst>
            </p:cNvPr>
            <p:cNvGrpSpPr>
              <a:grpSpLocks/>
            </p:cNvGrpSpPr>
            <p:nvPr/>
          </p:nvGrpSpPr>
          <p:grpSpPr bwMode="auto">
            <a:xfrm>
              <a:off x="3726760" y="2913924"/>
              <a:ext cx="277321" cy="274434"/>
              <a:chOff x="2255909" y="1268760"/>
              <a:chExt cx="358931" cy="355702"/>
            </a:xfrm>
          </p:grpSpPr>
          <p:sp>
            <p:nvSpPr>
              <p:cNvPr id="77" name="矩形 76">
                <a:extLst>
                  <a:ext uri="{FF2B5EF4-FFF2-40B4-BE49-F238E27FC236}">
                    <a16:creationId xmlns:a16="http://schemas.microsoft.com/office/drawing/2014/main" id="{983DC653-AD28-AE73-861E-62F56C74481E}"/>
                  </a:ext>
                </a:extLst>
              </p:cNvPr>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8" name="Rectangle 40">
                <a:extLst>
                  <a:ext uri="{FF2B5EF4-FFF2-40B4-BE49-F238E27FC236}">
                    <a16:creationId xmlns:a16="http://schemas.microsoft.com/office/drawing/2014/main" id="{56A62713-1AE9-22E7-6853-7C49A2BD77A2}"/>
                  </a:ext>
                </a:extLst>
              </p:cNvPr>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24" name="Rectangle 34">
              <a:extLst>
                <a:ext uri="{FF2B5EF4-FFF2-40B4-BE49-F238E27FC236}">
                  <a16:creationId xmlns:a16="http://schemas.microsoft.com/office/drawing/2014/main" id="{0A07CB09-3059-3421-79D4-2F626DBBAC70}"/>
                </a:ext>
              </a:extLst>
            </p:cNvPr>
            <p:cNvSpPr>
              <a:spLocks noChangeArrowheads="1"/>
            </p:cNvSpPr>
            <p:nvPr/>
          </p:nvSpPr>
          <p:spPr bwMode="auto">
            <a:xfrm>
              <a:off x="2638857" y="34308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25" name="Rectangle 34">
              <a:extLst>
                <a:ext uri="{FF2B5EF4-FFF2-40B4-BE49-F238E27FC236}">
                  <a16:creationId xmlns:a16="http://schemas.microsoft.com/office/drawing/2014/main" id="{EE05004B-1BC5-926D-2837-F1DA5E474961}"/>
                </a:ext>
              </a:extLst>
            </p:cNvPr>
            <p:cNvSpPr>
              <a:spLocks noChangeArrowheads="1"/>
            </p:cNvSpPr>
            <p:nvPr/>
          </p:nvSpPr>
          <p:spPr bwMode="auto">
            <a:xfrm>
              <a:off x="2636957" y="28650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26" name="组合 25">
              <a:extLst>
                <a:ext uri="{FF2B5EF4-FFF2-40B4-BE49-F238E27FC236}">
                  <a16:creationId xmlns:a16="http://schemas.microsoft.com/office/drawing/2014/main" id="{E4D9FB5E-2F93-D299-DE1C-87F427E36E3B}"/>
                </a:ext>
              </a:extLst>
            </p:cNvPr>
            <p:cNvGrpSpPr/>
            <p:nvPr/>
          </p:nvGrpSpPr>
          <p:grpSpPr>
            <a:xfrm>
              <a:off x="4065622" y="2068590"/>
              <a:ext cx="1945905" cy="1377898"/>
              <a:chOff x="2208968" y="2283000"/>
              <a:chExt cx="1945905" cy="1377898"/>
            </a:xfrm>
          </p:grpSpPr>
          <p:sp>
            <p:nvSpPr>
              <p:cNvPr id="68" name="Rectangle 44">
                <a:extLst>
                  <a:ext uri="{FF2B5EF4-FFF2-40B4-BE49-F238E27FC236}">
                    <a16:creationId xmlns:a16="http://schemas.microsoft.com/office/drawing/2014/main" id="{93FF751D-A525-2E63-053D-B82BC4D45A6D}"/>
                  </a:ext>
                </a:extLst>
              </p:cNvPr>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69" name="Rectangle 49">
                <a:extLst>
                  <a:ext uri="{FF2B5EF4-FFF2-40B4-BE49-F238E27FC236}">
                    <a16:creationId xmlns:a16="http://schemas.microsoft.com/office/drawing/2014/main" id="{8E5F9A0C-5E65-85FD-EAE9-21D67170652A}"/>
                  </a:ext>
                </a:extLst>
              </p:cNvPr>
              <p:cNvSpPr>
                <a:spLocks noChangeArrowheads="1"/>
              </p:cNvSpPr>
              <p:nvPr/>
            </p:nvSpPr>
            <p:spPr bwMode="auto">
              <a:xfrm>
                <a:off x="2208968" y="2521979"/>
                <a:ext cx="1945905" cy="4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 </a:t>
                </a:r>
                <a:r>
                  <a:rPr kumimoji="1" lang="zh-CN" altLang="en-US" sz="110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70" name="Line 50">
                <a:extLst>
                  <a:ext uri="{FF2B5EF4-FFF2-40B4-BE49-F238E27FC236}">
                    <a16:creationId xmlns:a16="http://schemas.microsoft.com/office/drawing/2014/main" id="{A6215A9E-B65C-D66B-829C-FCCC57D44D97}"/>
                  </a:ext>
                </a:extLst>
              </p:cNvPr>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1" name="Line 45">
                <a:extLst>
                  <a:ext uri="{FF2B5EF4-FFF2-40B4-BE49-F238E27FC236}">
                    <a16:creationId xmlns:a16="http://schemas.microsoft.com/office/drawing/2014/main" id="{20468550-7A4F-C35A-4F0F-68C301B094B6}"/>
                  </a:ext>
                </a:extLst>
              </p:cNvPr>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2" name="Line 46">
                <a:extLst>
                  <a:ext uri="{FF2B5EF4-FFF2-40B4-BE49-F238E27FC236}">
                    <a16:creationId xmlns:a16="http://schemas.microsoft.com/office/drawing/2014/main" id="{6698C7BC-4D43-D45A-7E18-FBEC1BA59F02}"/>
                  </a:ext>
                </a:extLst>
              </p:cNvPr>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3" name="Line 47">
                <a:extLst>
                  <a:ext uri="{FF2B5EF4-FFF2-40B4-BE49-F238E27FC236}">
                    <a16:creationId xmlns:a16="http://schemas.microsoft.com/office/drawing/2014/main" id="{FDA3A625-7B08-A327-E3A0-2313FCA69C5A}"/>
                  </a:ext>
                </a:extLst>
              </p:cNvPr>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4" name="Line 66">
                <a:extLst>
                  <a:ext uri="{FF2B5EF4-FFF2-40B4-BE49-F238E27FC236}">
                    <a16:creationId xmlns:a16="http://schemas.microsoft.com/office/drawing/2014/main" id="{87BF32EC-89FA-77CF-7E2B-5DD83D4C5DD0}"/>
                  </a:ext>
                </a:extLst>
              </p:cNvPr>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5" name="Rectangle 24">
                <a:extLst>
                  <a:ext uri="{FF2B5EF4-FFF2-40B4-BE49-F238E27FC236}">
                    <a16:creationId xmlns:a16="http://schemas.microsoft.com/office/drawing/2014/main" id="{D623F06C-0E06-5C40-40EA-D7940A410FCD}"/>
                  </a:ext>
                </a:extLst>
              </p:cNvPr>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76" name="Line 50">
                <a:extLst>
                  <a:ext uri="{FF2B5EF4-FFF2-40B4-BE49-F238E27FC236}">
                    <a16:creationId xmlns:a16="http://schemas.microsoft.com/office/drawing/2014/main" id="{BADC092A-C285-601F-25CA-205A4C988B19}"/>
                  </a:ext>
                </a:extLst>
              </p:cNvPr>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27" name="Rectangle 34">
              <a:extLst>
                <a:ext uri="{FF2B5EF4-FFF2-40B4-BE49-F238E27FC236}">
                  <a16:creationId xmlns:a16="http://schemas.microsoft.com/office/drawing/2014/main" id="{EBE4D7E5-4DC9-4796-D542-4DEE0610EBA3}"/>
                </a:ext>
              </a:extLst>
            </p:cNvPr>
            <p:cNvSpPr>
              <a:spLocks noChangeArrowheads="1"/>
            </p:cNvSpPr>
            <p:nvPr/>
          </p:nvSpPr>
          <p:spPr bwMode="auto">
            <a:xfrm>
              <a:off x="2620631" y="23245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61" name="Picture 239" descr="jisuanji">
              <a:extLst>
                <a:ext uri="{FF2B5EF4-FFF2-40B4-BE49-F238E27FC236}">
                  <a16:creationId xmlns:a16="http://schemas.microsoft.com/office/drawing/2014/main" id="{DDA48789-1F2C-BE1B-F27E-1DBE9C1FB0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17565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39" descr="jisuanji">
              <a:extLst>
                <a:ext uri="{FF2B5EF4-FFF2-40B4-BE49-F238E27FC236}">
                  <a16:creationId xmlns:a16="http://schemas.microsoft.com/office/drawing/2014/main" id="{EEE3907A-FDEB-4032-E60B-2A083063FF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3073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39" descr="jisuanji">
              <a:extLst>
                <a:ext uri="{FF2B5EF4-FFF2-40B4-BE49-F238E27FC236}">
                  <a16:creationId xmlns:a16="http://schemas.microsoft.com/office/drawing/2014/main" id="{C454CB4E-D5BF-56C9-D03D-8CBE2DFC83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8283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a:extLst>
                <a:ext uri="{FF2B5EF4-FFF2-40B4-BE49-F238E27FC236}">
                  <a16:creationId xmlns:a16="http://schemas.microsoft.com/office/drawing/2014/main" id="{22D682B6-7807-49EA-73C4-83CD0ED064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3393034"/>
              <a:ext cx="437685" cy="43768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9255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2317-F92E-9716-0481-E32F587F2555}"/>
            </a:ext>
          </a:extLst>
        </p:cNvPr>
        <p:cNvGrpSpPr/>
        <p:nvPr/>
      </p:nvGrpSpPr>
      <p:grpSpPr>
        <a:xfrm>
          <a:off x="0" y="0"/>
          <a:ext cx="0" cy="0"/>
          <a:chOff x="0" y="0"/>
          <a:chExt cx="0" cy="0"/>
        </a:xfrm>
      </p:grpSpPr>
      <p:sp>
        <p:nvSpPr>
          <p:cNvPr id="64" name="圆角矩形 63">
            <a:extLst>
              <a:ext uri="{FF2B5EF4-FFF2-40B4-BE49-F238E27FC236}">
                <a16:creationId xmlns:a16="http://schemas.microsoft.com/office/drawing/2014/main" id="{ADB30BC6-58F9-CAD9-76EE-DDBDE9E0F424}"/>
              </a:ext>
            </a:extLst>
          </p:cNvPr>
          <p:cNvSpPr/>
          <p:nvPr/>
        </p:nvSpPr>
        <p:spPr>
          <a:xfrm>
            <a:off x="5154733" y="1186387"/>
            <a:ext cx="3740387" cy="3192125"/>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Rectangle 8">
            <a:extLst>
              <a:ext uri="{FF2B5EF4-FFF2-40B4-BE49-F238E27FC236}">
                <a16:creationId xmlns:a16="http://schemas.microsoft.com/office/drawing/2014/main" id="{BF1CE0DD-F399-360C-9764-F3476A6FE3B7}"/>
              </a:ext>
            </a:extLst>
          </p:cNvPr>
          <p:cNvSpPr>
            <a:spLocks noChangeArrowheads="1"/>
          </p:cNvSpPr>
          <p:nvPr/>
        </p:nvSpPr>
        <p:spPr bwMode="auto">
          <a:xfrm>
            <a:off x="409172" y="1044812"/>
            <a:ext cx="4834500" cy="3009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交换表记录了</a:t>
            </a:r>
            <a:r>
              <a:rPr lang="en-US" altLang="zh-CN" sz="2000" b="1" dirty="0">
                <a:latin typeface="微软雅黑" pitchFamily="34" charset="-122"/>
                <a:ea typeface="微软雅黑" pitchFamily="34" charset="-122"/>
              </a:rPr>
              <a:t>MAC</a:t>
            </a:r>
            <a:r>
              <a:rPr lang="zh-CN" altLang="en-US" sz="2000" b="1" dirty="0">
                <a:latin typeface="微软雅黑" pitchFamily="34" charset="-122"/>
                <a:ea typeface="微软雅黑" pitchFamily="34" charset="-122"/>
              </a:rPr>
              <a:t>地址与交换机端口间的</a:t>
            </a:r>
            <a:r>
              <a:rPr lang="zh-CN" altLang="en-US" sz="2000" b="1" dirty="0">
                <a:solidFill>
                  <a:srgbClr val="0000FF"/>
                </a:solidFill>
                <a:latin typeface="微软雅黑" pitchFamily="34" charset="-122"/>
                <a:ea typeface="微软雅黑" pitchFamily="34" charset="-122"/>
              </a:rPr>
              <a:t>映射关系</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交换机通过提取帧的</a:t>
            </a:r>
            <a:r>
              <a:rPr lang="zh-CN" altLang="en-US" sz="2000" b="1" dirty="0">
                <a:solidFill>
                  <a:srgbClr val="0000FF"/>
                </a:solidFill>
                <a:latin typeface="微软雅黑" pitchFamily="34" charset="-122"/>
                <a:ea typeface="微软雅黑" pitchFamily="34" charset="-122"/>
              </a:rPr>
              <a:t>源</a:t>
            </a:r>
            <a:r>
              <a:rPr lang="en-US" altLang="zh-CN" sz="2000" b="1" dirty="0">
                <a:solidFill>
                  <a:srgbClr val="0000FF"/>
                </a:solidFill>
                <a:latin typeface="微软雅黑" pitchFamily="34" charset="-122"/>
                <a:ea typeface="微软雅黑" pitchFamily="34" charset="-122"/>
              </a:rPr>
              <a:t>MAC</a:t>
            </a:r>
            <a:r>
              <a:rPr lang="zh-CN" altLang="en-US" sz="2000" b="1" dirty="0">
                <a:solidFill>
                  <a:srgbClr val="0000FF"/>
                </a:solidFill>
                <a:latin typeface="微软雅黑" pitchFamily="34" charset="-122"/>
                <a:ea typeface="微软雅黑" pitchFamily="34" charset="-122"/>
              </a:rPr>
              <a:t>地址和入端口</a:t>
            </a:r>
            <a:r>
              <a:rPr lang="zh-CN" altLang="en-US" sz="2000" b="1" dirty="0">
                <a:latin typeface="微软雅黑" pitchFamily="34" charset="-122"/>
                <a:ea typeface="微软雅黑" pitchFamily="34" charset="-122"/>
              </a:rPr>
              <a:t>来构建该表</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并在转发过程中通过比对帧的</a:t>
            </a:r>
            <a:r>
              <a:rPr lang="zh-CN" altLang="en-US" sz="2000" b="1" dirty="0">
                <a:solidFill>
                  <a:srgbClr val="0000FF"/>
                </a:solidFill>
                <a:latin typeface="微软雅黑" pitchFamily="34" charset="-122"/>
                <a:ea typeface="微软雅黑" pitchFamily="34" charset="-122"/>
              </a:rPr>
              <a:t>目的</a:t>
            </a:r>
            <a:r>
              <a:rPr lang="en-US" altLang="zh-CN" sz="2000" b="1" dirty="0">
                <a:solidFill>
                  <a:srgbClr val="0000FF"/>
                </a:solidFill>
                <a:latin typeface="微软雅黑" pitchFamily="34" charset="-122"/>
                <a:ea typeface="微软雅黑" pitchFamily="34" charset="-122"/>
              </a:rPr>
              <a:t>MAC</a:t>
            </a:r>
            <a:r>
              <a:rPr lang="zh-CN" altLang="en-US" sz="2000" b="1" dirty="0">
                <a:solidFill>
                  <a:srgbClr val="0000FF"/>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与交换表的表项来确定帧的转发端口。</a:t>
            </a:r>
            <a:endParaRPr lang="en-US" altLang="zh-CN" sz="2000" b="1" dirty="0">
              <a:latin typeface="微软雅黑" pitchFamily="34" charset="-122"/>
              <a:ea typeface="微软雅黑" pitchFamily="34" charset="-122"/>
            </a:endParaRPr>
          </a:p>
        </p:txBody>
      </p:sp>
      <p:sp>
        <p:nvSpPr>
          <p:cNvPr id="63" name="AutoShape 5">
            <a:extLst>
              <a:ext uri="{FF2B5EF4-FFF2-40B4-BE49-F238E27FC236}">
                <a16:creationId xmlns:a16="http://schemas.microsoft.com/office/drawing/2014/main" id="{95E98161-FA3C-88F1-E754-DDC0E9B049EB}"/>
              </a:ext>
            </a:extLst>
          </p:cNvPr>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568F4278-4223-C467-476A-85A213345E39}"/>
              </a:ext>
            </a:extLst>
          </p:cNvPr>
          <p:cNvSpPr>
            <a:spLocks noChangeArrowheads="1"/>
          </p:cNvSpPr>
          <p:nvPr/>
        </p:nvSpPr>
        <p:spPr bwMode="auto">
          <a:xfrm>
            <a:off x="2161181" y="608658"/>
            <a:ext cx="4804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3.4.2  </a:t>
            </a:r>
            <a:r>
              <a:rPr lang="zh-CN" altLang="en-US" sz="2400" b="1" dirty="0">
                <a:solidFill>
                  <a:schemeClr val="bg1"/>
                </a:solidFill>
                <a:latin typeface="微软雅黑" pitchFamily="34" charset="-122"/>
                <a:ea typeface="微软雅黑" pitchFamily="34" charset="-122"/>
              </a:rPr>
              <a:t>以太网交换机的自学习功能</a:t>
            </a:r>
          </a:p>
        </p:txBody>
      </p:sp>
      <p:grpSp>
        <p:nvGrpSpPr>
          <p:cNvPr id="5" name="组合 4">
            <a:extLst>
              <a:ext uri="{FF2B5EF4-FFF2-40B4-BE49-F238E27FC236}">
                <a16:creationId xmlns:a16="http://schemas.microsoft.com/office/drawing/2014/main" id="{344E9315-EE2B-03BA-6557-E9AA3F5D401F}"/>
              </a:ext>
            </a:extLst>
          </p:cNvPr>
          <p:cNvGrpSpPr/>
          <p:nvPr/>
        </p:nvGrpSpPr>
        <p:grpSpPr>
          <a:xfrm>
            <a:off x="5319649" y="1515031"/>
            <a:ext cx="3390896" cy="2366653"/>
            <a:chOff x="2620631" y="1493842"/>
            <a:chExt cx="3390896" cy="2366653"/>
          </a:xfrm>
        </p:grpSpPr>
        <p:sp>
          <p:nvSpPr>
            <p:cNvPr id="8" name="矩形 7">
              <a:extLst>
                <a:ext uri="{FF2B5EF4-FFF2-40B4-BE49-F238E27FC236}">
                  <a16:creationId xmlns:a16="http://schemas.microsoft.com/office/drawing/2014/main" id="{5D9E0D6D-6A38-3F2C-EF7D-245511ED3020}"/>
                </a:ext>
              </a:extLst>
            </p:cNvPr>
            <p:cNvSpPr/>
            <p:nvPr/>
          </p:nvSpPr>
          <p:spPr>
            <a:xfrm>
              <a:off x="3746732" y="18087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9" name="直接连接符 8">
              <a:extLst>
                <a:ext uri="{FF2B5EF4-FFF2-40B4-BE49-F238E27FC236}">
                  <a16:creationId xmlns:a16="http://schemas.microsoft.com/office/drawing/2014/main" id="{16B2CEE5-A190-D89A-27EF-3A271CF3A739}"/>
                </a:ext>
              </a:extLst>
            </p:cNvPr>
            <p:cNvCxnSpPr>
              <a:stCxn id="79" idx="1"/>
            </p:cNvCxnSpPr>
            <p:nvPr/>
          </p:nvCxnSpPr>
          <p:spPr>
            <a:xfrm flipH="1">
              <a:off x="3075066" y="36068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A11E733-5CF8-E28A-DD13-BD893B3B1F4D}"/>
                </a:ext>
              </a:extLst>
            </p:cNvPr>
            <p:cNvCxnSpPr>
              <a:endCxn id="81" idx="1"/>
            </p:cNvCxnSpPr>
            <p:nvPr/>
          </p:nvCxnSpPr>
          <p:spPr>
            <a:xfrm>
              <a:off x="3075066" y="25289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AA5B996-5937-1539-1624-B9C142F528F5}"/>
                </a:ext>
              </a:extLst>
            </p:cNvPr>
            <p:cNvCxnSpPr>
              <a:stCxn id="77" idx="1"/>
            </p:cNvCxnSpPr>
            <p:nvPr/>
          </p:nvCxnSpPr>
          <p:spPr>
            <a:xfrm flipH="1">
              <a:off x="3097939" y="30527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22B85D3-44A5-BF2A-ED1D-C32C5FCD7595}"/>
                </a:ext>
              </a:extLst>
            </p:cNvPr>
            <p:cNvCxnSpPr>
              <a:endCxn id="84" idx="1"/>
            </p:cNvCxnSpPr>
            <p:nvPr/>
          </p:nvCxnSpPr>
          <p:spPr>
            <a:xfrm>
              <a:off x="3075066" y="19732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24">
              <a:extLst>
                <a:ext uri="{FF2B5EF4-FFF2-40B4-BE49-F238E27FC236}">
                  <a16:creationId xmlns:a16="http://schemas.microsoft.com/office/drawing/2014/main" id="{B202E356-970E-3E2A-7B14-FCB9EB2E4981}"/>
                </a:ext>
              </a:extLst>
            </p:cNvPr>
            <p:cNvSpPr>
              <a:spLocks noChangeArrowheads="1"/>
            </p:cNvSpPr>
            <p:nvPr/>
          </p:nvSpPr>
          <p:spPr bwMode="auto">
            <a:xfrm>
              <a:off x="4202623" y="1493842"/>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18" name="Rectangle 34">
              <a:extLst>
                <a:ext uri="{FF2B5EF4-FFF2-40B4-BE49-F238E27FC236}">
                  <a16:creationId xmlns:a16="http://schemas.microsoft.com/office/drawing/2014/main" id="{C1A41FEA-C371-BF42-5C8D-2B05AEC30046}"/>
                </a:ext>
              </a:extLst>
            </p:cNvPr>
            <p:cNvSpPr>
              <a:spLocks noChangeArrowheads="1"/>
            </p:cNvSpPr>
            <p:nvPr/>
          </p:nvSpPr>
          <p:spPr bwMode="auto">
            <a:xfrm>
              <a:off x="2627339" y="17715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9" name="组合 57">
              <a:extLst>
                <a:ext uri="{FF2B5EF4-FFF2-40B4-BE49-F238E27FC236}">
                  <a16:creationId xmlns:a16="http://schemas.microsoft.com/office/drawing/2014/main" id="{1E5767FA-0391-83BB-1390-FCEF66F326CE}"/>
                </a:ext>
              </a:extLst>
            </p:cNvPr>
            <p:cNvGrpSpPr>
              <a:grpSpLocks/>
            </p:cNvGrpSpPr>
            <p:nvPr/>
          </p:nvGrpSpPr>
          <p:grpSpPr bwMode="auto">
            <a:xfrm>
              <a:off x="3737593" y="1836021"/>
              <a:ext cx="277321" cy="274434"/>
              <a:chOff x="2255844" y="1268760"/>
              <a:chExt cx="360915" cy="356296"/>
            </a:xfrm>
          </p:grpSpPr>
          <p:sp>
            <p:nvSpPr>
              <p:cNvPr id="83" name="矩形 82">
                <a:extLst>
                  <a:ext uri="{FF2B5EF4-FFF2-40B4-BE49-F238E27FC236}">
                    <a16:creationId xmlns:a16="http://schemas.microsoft.com/office/drawing/2014/main" id="{C884A38D-E5B8-4D11-21DD-B1AB9A3242BA}"/>
                  </a:ext>
                </a:extLst>
              </p:cNvPr>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84" name="Rectangle 40">
                <a:extLst>
                  <a:ext uri="{FF2B5EF4-FFF2-40B4-BE49-F238E27FC236}">
                    <a16:creationId xmlns:a16="http://schemas.microsoft.com/office/drawing/2014/main" id="{F8BA5996-8854-564F-AD76-868B143E7572}"/>
                  </a:ext>
                </a:extLst>
              </p:cNvPr>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21" name="组合 58">
              <a:extLst>
                <a:ext uri="{FF2B5EF4-FFF2-40B4-BE49-F238E27FC236}">
                  <a16:creationId xmlns:a16="http://schemas.microsoft.com/office/drawing/2014/main" id="{11DA4747-5A43-2F49-9544-05891ED412FA}"/>
                </a:ext>
              </a:extLst>
            </p:cNvPr>
            <p:cNvGrpSpPr>
              <a:grpSpLocks/>
            </p:cNvGrpSpPr>
            <p:nvPr/>
          </p:nvGrpSpPr>
          <p:grpSpPr bwMode="auto">
            <a:xfrm>
              <a:off x="3746736" y="2399933"/>
              <a:ext cx="277321" cy="274434"/>
              <a:chOff x="2267744" y="1280668"/>
              <a:chExt cx="360915" cy="357388"/>
            </a:xfrm>
          </p:grpSpPr>
          <p:sp>
            <p:nvSpPr>
              <p:cNvPr id="81" name="矩形 80">
                <a:extLst>
                  <a:ext uri="{FF2B5EF4-FFF2-40B4-BE49-F238E27FC236}">
                    <a16:creationId xmlns:a16="http://schemas.microsoft.com/office/drawing/2014/main" id="{F0861940-264B-47A3-CF11-427D16BF6C1B}"/>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82" name="Rectangle 40">
                <a:extLst>
                  <a:ext uri="{FF2B5EF4-FFF2-40B4-BE49-F238E27FC236}">
                    <a16:creationId xmlns:a16="http://schemas.microsoft.com/office/drawing/2014/main" id="{58190FB6-E72C-9BBE-287D-FC10E9F99FBC}"/>
                  </a:ext>
                </a:extLst>
              </p:cNvPr>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22" name="组合 61">
              <a:extLst>
                <a:ext uri="{FF2B5EF4-FFF2-40B4-BE49-F238E27FC236}">
                  <a16:creationId xmlns:a16="http://schemas.microsoft.com/office/drawing/2014/main" id="{8A22CA7F-8814-2F4C-5D2E-52C5EA16CFF7}"/>
                </a:ext>
              </a:extLst>
            </p:cNvPr>
            <p:cNvGrpSpPr>
              <a:grpSpLocks/>
            </p:cNvGrpSpPr>
            <p:nvPr/>
          </p:nvGrpSpPr>
          <p:grpSpPr bwMode="auto">
            <a:xfrm>
              <a:off x="3717616" y="3477835"/>
              <a:ext cx="277321" cy="274434"/>
              <a:chOff x="2244074" y="1280668"/>
              <a:chExt cx="358931" cy="357388"/>
            </a:xfrm>
          </p:grpSpPr>
          <p:sp>
            <p:nvSpPr>
              <p:cNvPr id="79" name="矩形 78">
                <a:extLst>
                  <a:ext uri="{FF2B5EF4-FFF2-40B4-BE49-F238E27FC236}">
                    <a16:creationId xmlns:a16="http://schemas.microsoft.com/office/drawing/2014/main" id="{AF41DB93-E97C-1AFD-555A-D8F09D2491C6}"/>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80" name="Rectangle 40">
                <a:extLst>
                  <a:ext uri="{FF2B5EF4-FFF2-40B4-BE49-F238E27FC236}">
                    <a16:creationId xmlns:a16="http://schemas.microsoft.com/office/drawing/2014/main" id="{2B73D05D-6542-587B-A112-16F74FC223BA}"/>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23" name="组合 64">
              <a:extLst>
                <a:ext uri="{FF2B5EF4-FFF2-40B4-BE49-F238E27FC236}">
                  <a16:creationId xmlns:a16="http://schemas.microsoft.com/office/drawing/2014/main" id="{BF88C5F7-194B-36C5-0AA4-1F44C8BB7790}"/>
                </a:ext>
              </a:extLst>
            </p:cNvPr>
            <p:cNvGrpSpPr>
              <a:grpSpLocks/>
            </p:cNvGrpSpPr>
            <p:nvPr/>
          </p:nvGrpSpPr>
          <p:grpSpPr bwMode="auto">
            <a:xfrm>
              <a:off x="3726760" y="2913924"/>
              <a:ext cx="277321" cy="274434"/>
              <a:chOff x="2255909" y="1268760"/>
              <a:chExt cx="358931" cy="355702"/>
            </a:xfrm>
          </p:grpSpPr>
          <p:sp>
            <p:nvSpPr>
              <p:cNvPr id="77" name="矩形 76">
                <a:extLst>
                  <a:ext uri="{FF2B5EF4-FFF2-40B4-BE49-F238E27FC236}">
                    <a16:creationId xmlns:a16="http://schemas.microsoft.com/office/drawing/2014/main" id="{92916244-55BA-5D81-3068-9E4E54A2050B}"/>
                  </a:ext>
                </a:extLst>
              </p:cNvPr>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8" name="Rectangle 40">
                <a:extLst>
                  <a:ext uri="{FF2B5EF4-FFF2-40B4-BE49-F238E27FC236}">
                    <a16:creationId xmlns:a16="http://schemas.microsoft.com/office/drawing/2014/main" id="{FB5D9F67-D9EF-4E70-79FD-316355202889}"/>
                  </a:ext>
                </a:extLst>
              </p:cNvPr>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24" name="Rectangle 34">
              <a:extLst>
                <a:ext uri="{FF2B5EF4-FFF2-40B4-BE49-F238E27FC236}">
                  <a16:creationId xmlns:a16="http://schemas.microsoft.com/office/drawing/2014/main" id="{A61E0ED1-7678-68EE-6AF5-C539911A27FD}"/>
                </a:ext>
              </a:extLst>
            </p:cNvPr>
            <p:cNvSpPr>
              <a:spLocks noChangeArrowheads="1"/>
            </p:cNvSpPr>
            <p:nvPr/>
          </p:nvSpPr>
          <p:spPr bwMode="auto">
            <a:xfrm>
              <a:off x="2638857" y="34308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25" name="Rectangle 34">
              <a:extLst>
                <a:ext uri="{FF2B5EF4-FFF2-40B4-BE49-F238E27FC236}">
                  <a16:creationId xmlns:a16="http://schemas.microsoft.com/office/drawing/2014/main" id="{C308CBF2-3B48-A6AB-37F9-C23C6BF71AB9}"/>
                </a:ext>
              </a:extLst>
            </p:cNvPr>
            <p:cNvSpPr>
              <a:spLocks noChangeArrowheads="1"/>
            </p:cNvSpPr>
            <p:nvPr/>
          </p:nvSpPr>
          <p:spPr bwMode="auto">
            <a:xfrm>
              <a:off x="2636957" y="28650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26" name="组合 25">
              <a:extLst>
                <a:ext uri="{FF2B5EF4-FFF2-40B4-BE49-F238E27FC236}">
                  <a16:creationId xmlns:a16="http://schemas.microsoft.com/office/drawing/2014/main" id="{20CAB9F0-CD63-D5E4-0EC3-607FE70AADA9}"/>
                </a:ext>
              </a:extLst>
            </p:cNvPr>
            <p:cNvGrpSpPr/>
            <p:nvPr/>
          </p:nvGrpSpPr>
          <p:grpSpPr>
            <a:xfrm>
              <a:off x="4065622" y="2068590"/>
              <a:ext cx="1945905" cy="1377898"/>
              <a:chOff x="2208968" y="2283000"/>
              <a:chExt cx="1945905" cy="1377898"/>
            </a:xfrm>
          </p:grpSpPr>
          <p:sp>
            <p:nvSpPr>
              <p:cNvPr id="68" name="Rectangle 44">
                <a:extLst>
                  <a:ext uri="{FF2B5EF4-FFF2-40B4-BE49-F238E27FC236}">
                    <a16:creationId xmlns:a16="http://schemas.microsoft.com/office/drawing/2014/main" id="{0AE0DA3D-B1A2-E672-7F61-E2A18E98507A}"/>
                  </a:ext>
                </a:extLst>
              </p:cNvPr>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69" name="Rectangle 49">
                <a:extLst>
                  <a:ext uri="{FF2B5EF4-FFF2-40B4-BE49-F238E27FC236}">
                    <a16:creationId xmlns:a16="http://schemas.microsoft.com/office/drawing/2014/main" id="{C5B101E8-B6C6-4093-67A6-D7DDE6FC4A1C}"/>
                  </a:ext>
                </a:extLst>
              </p:cNvPr>
              <p:cNvSpPr>
                <a:spLocks noChangeArrowheads="1"/>
              </p:cNvSpPr>
              <p:nvPr/>
            </p:nvSpPr>
            <p:spPr bwMode="auto">
              <a:xfrm>
                <a:off x="2208968" y="2521979"/>
                <a:ext cx="1945905" cy="4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 </a:t>
                </a:r>
                <a:r>
                  <a:rPr kumimoji="1" lang="zh-CN" altLang="en-US" sz="110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70" name="Line 50">
                <a:extLst>
                  <a:ext uri="{FF2B5EF4-FFF2-40B4-BE49-F238E27FC236}">
                    <a16:creationId xmlns:a16="http://schemas.microsoft.com/office/drawing/2014/main" id="{491D98E1-A0B0-4C79-91C0-8F4EC46ABF7B}"/>
                  </a:ext>
                </a:extLst>
              </p:cNvPr>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1" name="Line 45">
                <a:extLst>
                  <a:ext uri="{FF2B5EF4-FFF2-40B4-BE49-F238E27FC236}">
                    <a16:creationId xmlns:a16="http://schemas.microsoft.com/office/drawing/2014/main" id="{4F35F786-13AB-7575-EC2C-72D01099BD61}"/>
                  </a:ext>
                </a:extLst>
              </p:cNvPr>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2" name="Line 46">
                <a:extLst>
                  <a:ext uri="{FF2B5EF4-FFF2-40B4-BE49-F238E27FC236}">
                    <a16:creationId xmlns:a16="http://schemas.microsoft.com/office/drawing/2014/main" id="{84841695-EF51-9D46-1EDE-5521181A4B7F}"/>
                  </a:ext>
                </a:extLst>
              </p:cNvPr>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3" name="Line 47">
                <a:extLst>
                  <a:ext uri="{FF2B5EF4-FFF2-40B4-BE49-F238E27FC236}">
                    <a16:creationId xmlns:a16="http://schemas.microsoft.com/office/drawing/2014/main" id="{9DF5703D-307F-012C-FBFA-3EEA138654EE}"/>
                  </a:ext>
                </a:extLst>
              </p:cNvPr>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4" name="Line 66">
                <a:extLst>
                  <a:ext uri="{FF2B5EF4-FFF2-40B4-BE49-F238E27FC236}">
                    <a16:creationId xmlns:a16="http://schemas.microsoft.com/office/drawing/2014/main" id="{F019D493-331A-0F86-4339-7A47B5785FA7}"/>
                  </a:ext>
                </a:extLst>
              </p:cNvPr>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75" name="Rectangle 24">
                <a:extLst>
                  <a:ext uri="{FF2B5EF4-FFF2-40B4-BE49-F238E27FC236}">
                    <a16:creationId xmlns:a16="http://schemas.microsoft.com/office/drawing/2014/main" id="{11426529-08BA-6021-5251-8CB48DC0BA3A}"/>
                  </a:ext>
                </a:extLst>
              </p:cNvPr>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76" name="Line 50">
                <a:extLst>
                  <a:ext uri="{FF2B5EF4-FFF2-40B4-BE49-F238E27FC236}">
                    <a16:creationId xmlns:a16="http://schemas.microsoft.com/office/drawing/2014/main" id="{965C2656-0040-8DBA-AC85-068D683008EE}"/>
                  </a:ext>
                </a:extLst>
              </p:cNvPr>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27" name="Rectangle 34">
              <a:extLst>
                <a:ext uri="{FF2B5EF4-FFF2-40B4-BE49-F238E27FC236}">
                  <a16:creationId xmlns:a16="http://schemas.microsoft.com/office/drawing/2014/main" id="{E591B39E-431B-13EA-13FC-139510CF6D92}"/>
                </a:ext>
              </a:extLst>
            </p:cNvPr>
            <p:cNvSpPr>
              <a:spLocks noChangeArrowheads="1"/>
            </p:cNvSpPr>
            <p:nvPr/>
          </p:nvSpPr>
          <p:spPr bwMode="auto">
            <a:xfrm>
              <a:off x="2620631" y="23245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61" name="Picture 239" descr="jisuanji">
              <a:extLst>
                <a:ext uri="{FF2B5EF4-FFF2-40B4-BE49-F238E27FC236}">
                  <a16:creationId xmlns:a16="http://schemas.microsoft.com/office/drawing/2014/main" id="{B1DDC6A5-EBDA-24F8-6D29-08CDC2838E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17565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39" descr="jisuanji">
              <a:extLst>
                <a:ext uri="{FF2B5EF4-FFF2-40B4-BE49-F238E27FC236}">
                  <a16:creationId xmlns:a16="http://schemas.microsoft.com/office/drawing/2014/main" id="{7499F23B-D60D-1B4D-1667-934940AD3A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3073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39" descr="jisuanji">
              <a:extLst>
                <a:ext uri="{FF2B5EF4-FFF2-40B4-BE49-F238E27FC236}">
                  <a16:creationId xmlns:a16="http://schemas.microsoft.com/office/drawing/2014/main" id="{6B94D56C-7E21-3245-2359-BCC97D030B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8283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a:extLst>
                <a:ext uri="{FF2B5EF4-FFF2-40B4-BE49-F238E27FC236}">
                  <a16:creationId xmlns:a16="http://schemas.microsoft.com/office/drawing/2014/main" id="{D6983A0B-614E-7A02-455A-31533A8DBBD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3393034"/>
              <a:ext cx="437685" cy="43768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7861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935858" y="620445"/>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以太网交换机的自学习举例</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2"/>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5" name="矩形 64"/>
          <p:cNvSpPr/>
          <p:nvPr/>
        </p:nvSpPr>
        <p:spPr>
          <a:xfrm>
            <a:off x="4567074" y="2493857"/>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交换机收到帧后，交换机把这个帧的源地址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和端口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写入交换表中。</a:t>
            </a:r>
          </a:p>
        </p:txBody>
      </p:sp>
      <p:sp>
        <p:nvSpPr>
          <p:cNvPr id="66" name="矩形 65"/>
          <p:cNvSpPr/>
          <p:nvPr/>
        </p:nvSpPr>
        <p:spPr>
          <a:xfrm>
            <a:off x="4567074" y="2152310"/>
            <a:ext cx="4064860" cy="307777"/>
          </a:xfrm>
          <a:prstGeom prst="rect">
            <a:avLst/>
          </a:prstGeom>
        </p:spPr>
        <p:txBody>
          <a:bodyPr wrap="square">
            <a:spAutoFit/>
          </a:bodyPr>
          <a:lstStyle/>
          <a:p>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先向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发送一帧。该帧从端口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3052665"/>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交换机基于目的</a:t>
            </a:r>
            <a:r>
              <a:rPr lang="en-US" altLang="zh-CN" sz="1400" b="1" dirty="0">
                <a:latin typeface="微软雅黑" pitchFamily="34" charset="-122"/>
                <a:ea typeface="微软雅黑" pitchFamily="34" charset="-122"/>
              </a:rPr>
              <a:t>MAC</a:t>
            </a:r>
            <a:r>
              <a:rPr lang="zh-CN" altLang="en-US" sz="1400" b="1" dirty="0">
                <a:latin typeface="微软雅黑" pitchFamily="34" charset="-122"/>
                <a:ea typeface="微软雅黑" pitchFamily="34" charset="-122"/>
              </a:rPr>
              <a:t>地址</a:t>
            </a:r>
            <a:r>
              <a:rPr lang="en-US" altLang="zh-CN" sz="1400" b="1" dirty="0">
                <a:latin typeface="微软雅黑" pitchFamily="34" charset="-122"/>
                <a:ea typeface="微软雅黑" pitchFamily="34" charset="-122"/>
              </a:rPr>
              <a:t>B</a:t>
            </a:r>
            <a:r>
              <a:rPr lang="zh-CN" altLang="en-US" sz="1400" b="1" dirty="0">
                <a:latin typeface="微软雅黑" pitchFamily="34" charset="-122"/>
                <a:ea typeface="微软雅黑" pitchFamily="34" charset="-122"/>
              </a:rPr>
              <a:t>查找交换表。没有查到应从哪个端口转发这个帧给 </a:t>
            </a:r>
            <a:r>
              <a:rPr lang="en-US" altLang="zh-CN" sz="1400" b="1" dirty="0">
                <a:latin typeface="微软雅黑" pitchFamily="34" charset="-122"/>
                <a:ea typeface="微软雅黑" pitchFamily="34" charset="-122"/>
              </a:rPr>
              <a:t>B</a:t>
            </a:r>
            <a:r>
              <a:rPr lang="zh-CN" altLang="en-US" sz="1400" b="1" dirty="0">
                <a:latin typeface="微软雅黑" pitchFamily="34" charset="-122"/>
                <a:ea typeface="微软雅黑" pitchFamily="34" charset="-122"/>
              </a:rPr>
              <a:t>。</a:t>
            </a:r>
          </a:p>
        </p:txBody>
      </p:sp>
      <p:sp>
        <p:nvSpPr>
          <p:cNvPr id="68" name="矩形 67"/>
          <p:cNvSpPr/>
          <p:nvPr/>
        </p:nvSpPr>
        <p:spPr>
          <a:xfrm>
            <a:off x="4567074" y="3645627"/>
            <a:ext cx="4064860" cy="307777"/>
          </a:xfrm>
          <a:prstGeom prst="rect">
            <a:avLst/>
          </a:prstGeom>
        </p:spPr>
        <p:txBody>
          <a:bodyPr wrap="square">
            <a:spAutoFit/>
          </a:bodyPr>
          <a:lstStyle/>
          <a:p>
            <a:r>
              <a:rPr lang="zh-CN" altLang="en-US" sz="1400" b="1" dirty="0">
                <a:latin typeface="微软雅黑" pitchFamily="34" charset="-122"/>
                <a:ea typeface="微软雅黑" pitchFamily="34" charset="-122"/>
              </a:rPr>
              <a:t>交换机向除端口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以外的所有的端口广播这个帧。</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2"/>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5"/>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08"/>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1"/>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70635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nodeType="clickEffect">
                                  <p:stCondLst>
                                    <p:cond delay="0"/>
                                  </p:st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up)">
                                      <p:cBhvr>
                                        <p:cTn id="11" dur="2000"/>
                                        <p:tgtEl>
                                          <p:spTgt spid="6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par>
                                <p:cTn id="16" presetID="1" presetClass="entr" presetSubtype="0" fill="hold" nodeType="withEffect">
                                  <p:stCondLst>
                                    <p:cond delay="500"/>
                                  </p:stCondLst>
                                  <p:childTnLst>
                                    <p:set>
                                      <p:cBhvr>
                                        <p:cTn id="17" dur="1" fill="hold">
                                          <p:stCondLst>
                                            <p:cond delay="0"/>
                                          </p:stCondLst>
                                        </p:cTn>
                                        <p:tgtEl>
                                          <p:spTgt spid="60"/>
                                        </p:tgtEl>
                                        <p:attrNameLst>
                                          <p:attrName>style.visibility</p:attrName>
                                        </p:attrNameLst>
                                      </p:cBhvr>
                                      <p:to>
                                        <p:strVal val="visible"/>
                                      </p:to>
                                    </p:set>
                                  </p:childTnLst>
                                </p:cTn>
                              </p:par>
                            </p:childTnLst>
                          </p:cTn>
                        </p:par>
                        <p:par>
                          <p:cTn id="18" fill="hold">
                            <p:stCondLst>
                              <p:cond delay="3000"/>
                            </p:stCondLst>
                            <p:childTnLst>
                              <p:par>
                                <p:cTn id="19" presetID="35" presetClass="emph" presetSubtype="0" repeatCount="3000" fill="hold" nodeType="afterEffect">
                                  <p:stCondLst>
                                    <p:cond delay="0"/>
                                  </p:stCondLst>
                                  <p:childTnLst>
                                    <p:anim calcmode="discrete" valueType="str">
                                      <p:cBhvr>
                                        <p:cTn id="20" dur="1000" fill="hold"/>
                                        <p:tgtEl>
                                          <p:spTgt spid="60"/>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wipe(up)">
                                      <p:cBhvr>
                                        <p:cTn id="25" dur="2000"/>
                                        <p:tgtEl>
                                          <p:spTgt spid="65"/>
                                        </p:tgtEl>
                                      </p:cBhvr>
                                    </p:animEffect>
                                  </p:childTnLst>
                                </p:cTn>
                              </p:par>
                            </p:childTnLst>
                          </p:cTn>
                        </p:par>
                        <p:par>
                          <p:cTn id="26" fill="hold">
                            <p:stCondLst>
                              <p:cond delay="2000"/>
                            </p:stCondLst>
                            <p:childTnLst>
                              <p:par>
                                <p:cTn id="27" presetID="1" presetClass="entr" presetSubtype="0" fill="hold" grpId="0" nodeType="afterEffect">
                                  <p:stCondLst>
                                    <p:cond delay="0"/>
                                  </p:stCondLst>
                                  <p:childTnLst>
                                    <p:set>
                                      <p:cBhvr>
                                        <p:cTn id="28" dur="1" fill="hold">
                                          <p:stCondLst>
                                            <p:cond delay="0"/>
                                          </p:stCondLst>
                                        </p:cTn>
                                        <p:tgtEl>
                                          <p:spTgt spid="70"/>
                                        </p:tgtEl>
                                        <p:attrNameLst>
                                          <p:attrName>style.visibility</p:attrName>
                                        </p:attrNameLst>
                                      </p:cBhvr>
                                      <p:to>
                                        <p:strVal val="visible"/>
                                      </p:to>
                                    </p:set>
                                  </p:childTnLst>
                                </p:cTn>
                              </p:par>
                              <p:par>
                                <p:cTn id="29" presetID="35" presetClass="emph" presetSubtype="0" repeatCount="4000" fill="hold" grpId="1" nodeType="withEffect">
                                  <p:stCondLst>
                                    <p:cond delay="0"/>
                                  </p:stCondLst>
                                  <p:childTnLst>
                                    <p:anim calcmode="discrete" valueType="str">
                                      <p:cBhvr>
                                        <p:cTn id="30"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67"/>
                                        </p:tgtEl>
                                        <p:attrNameLst>
                                          <p:attrName>style.visibility</p:attrName>
                                        </p:attrNameLst>
                                      </p:cBhvr>
                                      <p:to>
                                        <p:strVal val="visible"/>
                                      </p:to>
                                    </p:set>
                                    <p:animEffect transition="in" filter="wipe(up)">
                                      <p:cBhvr>
                                        <p:cTn id="35" dur="2000"/>
                                        <p:tgtEl>
                                          <p:spTgt spid="6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wipe(up)">
                                      <p:cBhvr>
                                        <p:cTn id="40" dur="2000"/>
                                        <p:tgtEl>
                                          <p:spTgt spid="68"/>
                                        </p:tgtEl>
                                      </p:cBhvr>
                                    </p:animEffect>
                                  </p:childTnLst>
                                </p:cTn>
                              </p:par>
                              <p:par>
                                <p:cTn id="41" presetID="1" presetClass="entr" presetSubtype="0" fill="hold" nodeType="withEffect">
                                  <p:stCondLst>
                                    <p:cond delay="200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nodeType="withEffect">
                                  <p:stCondLst>
                                    <p:cond delay="200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nodeType="withEffect">
                                  <p:stCondLst>
                                    <p:cond delay="2000"/>
                                  </p:stCondLst>
                                  <p:childTnLst>
                                    <p:set>
                                      <p:cBhvr>
                                        <p:cTn id="46" dur="1" fill="hold">
                                          <p:stCondLst>
                                            <p:cond delay="0"/>
                                          </p:stCondLst>
                                        </p:cTn>
                                        <p:tgtEl>
                                          <p:spTgt spid="73"/>
                                        </p:tgtEl>
                                        <p:attrNameLst>
                                          <p:attrName>style.visibility</p:attrName>
                                        </p:attrNameLst>
                                      </p:cBhvr>
                                      <p:to>
                                        <p:strVal val="visible"/>
                                      </p:to>
                                    </p:set>
                                  </p:childTnLst>
                                </p:cTn>
                              </p:par>
                            </p:childTnLst>
                          </p:cTn>
                        </p:par>
                        <p:par>
                          <p:cTn id="47" fill="hold">
                            <p:stCondLst>
                              <p:cond delay="2000"/>
                            </p:stCondLst>
                            <p:childTnLst>
                              <p:par>
                                <p:cTn id="48" presetID="35" presetClass="emph" presetSubtype="0" repeatCount="3000" fill="hold" nodeType="afterEffect">
                                  <p:stCondLst>
                                    <p:cond delay="0"/>
                                  </p:stCondLst>
                                  <p:childTnLst>
                                    <p:anim calcmode="discrete" valueType="str">
                                      <p:cBhvr>
                                        <p:cTn id="49" dur="1000" fill="hold"/>
                                        <p:tgtEl>
                                          <p:spTgt spid="71"/>
                                        </p:tgtEl>
                                        <p:attrNameLst>
                                          <p:attrName>style.visibility</p:attrName>
                                        </p:attrNameLst>
                                      </p:cBhvr>
                                      <p:tavLst>
                                        <p:tav tm="0">
                                          <p:val>
                                            <p:strVal val="hidden"/>
                                          </p:val>
                                        </p:tav>
                                        <p:tav tm="50000">
                                          <p:val>
                                            <p:strVal val="visible"/>
                                          </p:val>
                                        </p:tav>
                                      </p:tavLst>
                                    </p:anim>
                                  </p:childTnLst>
                                </p:cTn>
                              </p:par>
                              <p:par>
                                <p:cTn id="50" presetID="35" presetClass="emph" presetSubtype="0" repeatCount="3000" fill="hold" nodeType="withEffect">
                                  <p:stCondLst>
                                    <p:cond delay="0"/>
                                  </p:stCondLst>
                                  <p:childTnLst>
                                    <p:anim calcmode="discrete" valueType="str">
                                      <p:cBhvr>
                                        <p:cTn id="51" dur="1000" fill="hold"/>
                                        <p:tgtEl>
                                          <p:spTgt spid="72"/>
                                        </p:tgtEl>
                                        <p:attrNameLst>
                                          <p:attrName>style.visibility</p:attrName>
                                        </p:attrNameLst>
                                      </p:cBhvr>
                                      <p:tavLst>
                                        <p:tav tm="0">
                                          <p:val>
                                            <p:strVal val="hidden"/>
                                          </p:val>
                                        </p:tav>
                                        <p:tav tm="50000">
                                          <p:val>
                                            <p:strVal val="visible"/>
                                          </p:val>
                                        </p:tav>
                                      </p:tavLst>
                                    </p:anim>
                                  </p:childTnLst>
                                </p:cTn>
                              </p:par>
                              <p:par>
                                <p:cTn id="52" presetID="35" presetClass="emph" presetSubtype="0" repeatCount="3000" fill="hold" nodeType="withEffect">
                                  <p:stCondLst>
                                    <p:cond delay="0"/>
                                  </p:stCondLst>
                                  <p:childTnLst>
                                    <p:anim calcmode="discrete" valueType="str">
                                      <p:cBhvr>
                                        <p:cTn id="53" dur="1000" fill="hold"/>
                                        <p:tgtEl>
                                          <p:spTgt spid="7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70" grpId="0"/>
      <p:bldP spid="70" grpId="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935858" y="620443"/>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以太网交换机的自学习举例</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8"/>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4"/>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2"/>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8"/>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9"/>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3"/>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4"/>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2"/>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4"/>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6"/>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5"/>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51"/>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6"/>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11"/>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6"/>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527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10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070"/>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1755"/>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4"/>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nvGraphicFramePr>
        <p:xfrm>
          <a:off x="4682837" y="1452197"/>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9"/>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6" name="矩形 65"/>
          <p:cNvSpPr/>
          <p:nvPr/>
        </p:nvSpPr>
        <p:spPr>
          <a:xfrm>
            <a:off x="4567074" y="2152312"/>
            <a:ext cx="4064860" cy="523220"/>
          </a:xfrm>
          <a:prstGeom prst="rect">
            <a:avLst/>
          </a:prstGeom>
        </p:spPr>
        <p:txBody>
          <a:bodyPr wrap="square">
            <a:spAutoFit/>
          </a:bodyPr>
          <a:lstStyle/>
          <a:p>
            <a:r>
              <a:rPr lang="zh-CN" altLang="en-US" sz="1400" b="1" dirty="0">
                <a:latin typeface="微软雅黑" pitchFamily="34" charset="-122"/>
                <a:ea typeface="微软雅黑" pitchFamily="34" charset="-122"/>
              </a:rPr>
              <a:t>由于与该帧的目的地址不相符，</a:t>
            </a:r>
            <a:r>
              <a:rPr lang="en-US" altLang="zh-CN" sz="1400" b="1" dirty="0">
                <a:latin typeface="微软雅黑" pitchFamily="34" charset="-122"/>
                <a:ea typeface="微软雅黑" pitchFamily="34" charset="-122"/>
              </a:rPr>
              <a:t>C </a:t>
            </a: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D </a:t>
            </a:r>
            <a:r>
              <a:rPr lang="zh-CN" altLang="en-US" sz="1400" b="1" dirty="0">
                <a:latin typeface="微软雅黑" pitchFamily="34" charset="-122"/>
                <a:ea typeface="微软雅黑" pitchFamily="34" charset="-122"/>
              </a:rPr>
              <a:t>将丢弃该帧。</a:t>
            </a:r>
          </a:p>
        </p:txBody>
      </p:sp>
      <p:sp>
        <p:nvSpPr>
          <p:cNvPr id="70" name="矩形 69"/>
          <p:cNvSpPr/>
          <p:nvPr/>
        </p:nvSpPr>
        <p:spPr>
          <a:xfrm>
            <a:off x="2498126" y="236014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4"/>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7"/>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10"/>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3"/>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
        <p:nvSpPr>
          <p:cNvPr id="56" name="Rectangle 24"/>
          <p:cNvSpPr>
            <a:spLocks noChangeArrowheads="1"/>
          </p:cNvSpPr>
          <p:nvPr/>
        </p:nvSpPr>
        <p:spPr bwMode="auto">
          <a:xfrm>
            <a:off x="231983" y="2124397"/>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
        <p:nvSpPr>
          <p:cNvPr id="57" name="Rectangle 24"/>
          <p:cNvSpPr>
            <a:spLocks noChangeArrowheads="1"/>
          </p:cNvSpPr>
          <p:nvPr/>
        </p:nvSpPr>
        <p:spPr bwMode="auto">
          <a:xfrm>
            <a:off x="231983" y="3216888"/>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54064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par>
                                <p:cTn id="11" presetID="35" presetClass="emph" presetSubtype="0" repeatCount="indefinite" fill="hold" grpId="0" nodeType="withEffect">
                                  <p:stCondLst>
                                    <p:cond delay="0"/>
                                  </p:stCondLst>
                                  <p:endCondLst>
                                    <p:cond evt="onNext" delay="0">
                                      <p:tgtEl>
                                        <p:sldTgt/>
                                      </p:tgtEl>
                                    </p:cond>
                                  </p:endCondLst>
                                  <p:childTnLst>
                                    <p:anim calcmode="discrete" valueType="str">
                                      <p:cBhvr>
                                        <p:cTn id="12"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7" grpId="0" animBg="1"/>
      <p:bldP spid="57" grpId="1"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935858" y="620443"/>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以太网交换机的自学习举例</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2822300"/>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4567074" y="3021412"/>
            <a:ext cx="3884680" cy="738664"/>
          </a:xfrm>
          <a:prstGeom prst="rect">
            <a:avLst/>
          </a:prstGeom>
        </p:spPr>
        <p:txBody>
          <a:bodyPr wrap="square">
            <a:spAutoFit/>
          </a:bodyPr>
          <a:lstStyle/>
          <a:p>
            <a:r>
              <a:rPr lang="zh-CN" altLang="en-US" sz="1400" b="1" dirty="0">
                <a:latin typeface="微软雅黑" pitchFamily="34" charset="-122"/>
                <a:ea typeface="微软雅黑" pitchFamily="34" charset="-122"/>
              </a:rPr>
              <a:t>交换机查找交换表。发现交换表中的 </a:t>
            </a:r>
            <a:r>
              <a:rPr lang="en-US" altLang="zh-CN" sz="1400" b="1" dirty="0">
                <a:latin typeface="微软雅黑" pitchFamily="34" charset="-122"/>
                <a:ea typeface="微软雅黑" pitchFamily="34" charset="-122"/>
              </a:rPr>
              <a:t>MAC </a:t>
            </a:r>
            <a:r>
              <a:rPr lang="zh-CN" altLang="en-US" sz="1400" b="1" dirty="0">
                <a:latin typeface="微软雅黑" pitchFamily="34" charset="-122"/>
                <a:ea typeface="微软雅黑" pitchFamily="34" charset="-122"/>
              </a:rPr>
              <a:t>地址有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，表明要发送给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的帧应从端口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转发出去。于是就把这个帧传送到端口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转发出去。</a:t>
            </a:r>
          </a:p>
        </p:txBody>
      </p:sp>
      <p:sp>
        <p:nvSpPr>
          <p:cNvPr id="66" name="矩形 65"/>
          <p:cNvSpPr/>
          <p:nvPr/>
        </p:nvSpPr>
        <p:spPr>
          <a:xfrm>
            <a:off x="4567074" y="2152310"/>
            <a:ext cx="3884680" cy="307777"/>
          </a:xfrm>
          <a:prstGeom prst="rect">
            <a:avLst/>
          </a:prstGeom>
        </p:spPr>
        <p:txBody>
          <a:bodyPr wrap="square">
            <a:spAutoFit/>
          </a:bodyPr>
          <a:lstStyle/>
          <a:p>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发送一帧。该帧从端口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2506122"/>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交换机收到帧后，把这个帧的源地址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和端口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写入交换表中。</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1718733"/>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498126" y="261590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graphicFrame>
        <p:nvGraphicFramePr>
          <p:cNvPr id="69" name="表格 68"/>
          <p:cNvGraphicFramePr>
            <a:graphicFrameLocks noGrp="1"/>
          </p:cNvGraphicFramePr>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grpSp>
        <p:nvGrpSpPr>
          <p:cNvPr id="10" name="组合 72"/>
          <p:cNvGrpSpPr/>
          <p:nvPr/>
        </p:nvGrpSpPr>
        <p:grpSpPr>
          <a:xfrm>
            <a:off x="4974334" y="1721211"/>
            <a:ext cx="1090436" cy="276999"/>
            <a:chOff x="4974334" y="1978909"/>
            <a:chExt cx="1090436" cy="276999"/>
          </a:xfrm>
        </p:grpSpPr>
        <p:sp>
          <p:nvSpPr>
            <p:cNvPr id="74" name="TextBox 73"/>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sp>
          <p:nvSpPr>
            <p:cNvPr id="75" name="TextBox 7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76569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par>
                                <p:cTn id="12" presetID="1" presetClass="entr" presetSubtype="0" fill="hold" nodeType="withEffect">
                                  <p:stCondLst>
                                    <p:cond delay="0"/>
                                  </p:stCondLst>
                                  <p:childTnLst>
                                    <p:set>
                                      <p:cBhvr>
                                        <p:cTn id="13" dur="1" fill="hold">
                                          <p:stCondLst>
                                            <p:cond delay="0"/>
                                          </p:stCondLst>
                                        </p:cTn>
                                        <p:tgtEl>
                                          <p:spTgt spid="60"/>
                                        </p:tgtEl>
                                        <p:attrNameLst>
                                          <p:attrName>style.visibility</p:attrName>
                                        </p:attrNameLst>
                                      </p:cBhvr>
                                      <p:to>
                                        <p:strVal val="visible"/>
                                      </p:to>
                                    </p:set>
                                  </p:childTnLst>
                                </p:cTn>
                              </p:par>
                            </p:childTnLst>
                          </p:cTn>
                        </p:par>
                        <p:par>
                          <p:cTn id="14" fill="hold">
                            <p:stCondLst>
                              <p:cond delay="3000"/>
                            </p:stCondLst>
                            <p:childTnLst>
                              <p:par>
                                <p:cTn id="15" presetID="35" presetClass="emph" presetSubtype="0" repeatCount="3000" fill="hold" nodeType="afterEffect">
                                  <p:stCondLst>
                                    <p:cond delay="0"/>
                                  </p:stCondLst>
                                  <p:childTnLst>
                                    <p:anim calcmode="discrete" valueType="str">
                                      <p:cBhvr>
                                        <p:cTn id="16" dur="1000" fill="hold"/>
                                        <p:tgtEl>
                                          <p:spTgt spid="60"/>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wipe(up)">
                                      <p:cBhvr>
                                        <p:cTn id="21" dur="2000"/>
                                        <p:tgtEl>
                                          <p:spTgt spid="67"/>
                                        </p:tgtEl>
                                      </p:cBhvr>
                                    </p:animEffect>
                                  </p:childTnLst>
                                </p:cTn>
                              </p:par>
                            </p:childTnLst>
                          </p:cTn>
                        </p:par>
                        <p:par>
                          <p:cTn id="22" fill="hold">
                            <p:stCondLst>
                              <p:cond delay="2000"/>
                            </p:stCondLst>
                            <p:childTnLst>
                              <p:par>
                                <p:cTn id="23" presetID="1" presetClass="entr" presetSubtype="0" fill="hold" grpId="0" nodeType="after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35" presetClass="emph" presetSubtype="0" repeatCount="3000" fill="hold" grpId="1" nodeType="withEffect">
                                  <p:stCondLst>
                                    <p:cond delay="0"/>
                                  </p:stCondLst>
                                  <p:childTnLst>
                                    <p:anim calcmode="discrete" valueType="str">
                                      <p:cBhvr>
                                        <p:cTn id="26" dur="1000" fill="hold"/>
                                        <p:tgtEl>
                                          <p:spTgt spid="55"/>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wipe(up)">
                                      <p:cBhvr>
                                        <p:cTn id="31" dur="3000"/>
                                        <p:tgtEl>
                                          <p:spTgt spid="65"/>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1"/>
                                        </p:tgtEl>
                                        <p:attrNameLst>
                                          <p:attrName>style.visibility</p:attrName>
                                        </p:attrNameLst>
                                      </p:cBhvr>
                                      <p:to>
                                        <p:strVal val="visible"/>
                                      </p:to>
                                    </p:set>
                                  </p:childTnLst>
                                </p:cTn>
                              </p:par>
                            </p:childTnLst>
                          </p:cTn>
                        </p:par>
                        <p:par>
                          <p:cTn id="36" fill="hold">
                            <p:stCondLst>
                              <p:cond delay="0"/>
                            </p:stCondLst>
                            <p:childTnLst>
                              <p:par>
                                <p:cTn id="37" presetID="35" presetClass="emph" presetSubtype="0" repeatCount="3000" fill="hold" nodeType="afterEffect">
                                  <p:stCondLst>
                                    <p:cond delay="0"/>
                                  </p:stCondLst>
                                  <p:childTnLst>
                                    <p:anim calcmode="discrete" valueType="str">
                                      <p:cBhvr>
                                        <p:cTn id="38" dur="1000" fill="hold"/>
                                        <p:tgtEl>
                                          <p:spTgt spid="7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55" grpId="0"/>
      <p:bldP spid="55" grpId="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935858" y="620443"/>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以太网交换机的自学习举例</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8274"/>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6430"/>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8528"/>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2274"/>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2805"/>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3409"/>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1160"/>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5588"/>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9500"/>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7402"/>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3491"/>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60397"/>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4622"/>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8157"/>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4162"/>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612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95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91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2601"/>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70" name="矩形 69"/>
          <p:cNvSpPr/>
          <p:nvPr/>
        </p:nvSpPr>
        <p:spPr>
          <a:xfrm>
            <a:off x="2498126" y="2360993"/>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55" name="矩形 54"/>
          <p:cNvSpPr/>
          <p:nvPr/>
        </p:nvSpPr>
        <p:spPr>
          <a:xfrm>
            <a:off x="2498126" y="2616756"/>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grpSp>
        <p:nvGrpSpPr>
          <p:cNvPr id="5" name="组合 4">
            <a:extLst>
              <a:ext uri="{FF2B5EF4-FFF2-40B4-BE49-F238E27FC236}">
                <a16:creationId xmlns:a16="http://schemas.microsoft.com/office/drawing/2014/main" id="{36A518F5-0E03-5EEC-4E55-2594EB4ADDF3}"/>
              </a:ext>
            </a:extLst>
          </p:cNvPr>
          <p:cNvGrpSpPr/>
          <p:nvPr/>
        </p:nvGrpSpPr>
        <p:grpSpPr>
          <a:xfrm>
            <a:off x="4017818" y="1743479"/>
            <a:ext cx="4294796" cy="1785104"/>
            <a:chOff x="4017818" y="1743479"/>
            <a:chExt cx="4294796" cy="1785104"/>
          </a:xfrm>
        </p:grpSpPr>
        <p:sp>
          <p:nvSpPr>
            <p:cNvPr id="56" name="矩形 55"/>
            <p:cNvSpPr/>
            <p:nvPr/>
          </p:nvSpPr>
          <p:spPr>
            <a:xfrm>
              <a:off x="4972922" y="1743479"/>
              <a:ext cx="3339692" cy="1785104"/>
            </a:xfrm>
            <a:prstGeom prst="rect">
              <a:avLst/>
            </a:prstGeom>
            <a:solidFill>
              <a:schemeClr val="bg1"/>
            </a:solidFill>
            <a:ln w="12700">
              <a:solidFill>
                <a:schemeClr val="tx1"/>
              </a:solidFill>
            </a:ln>
          </p:spPr>
          <p:txBody>
            <a:bodyPr wrap="square">
              <a:spAutoFit/>
            </a:bodyPr>
            <a:lstStyle/>
            <a:p>
              <a:pPr>
                <a:lnSpc>
                  <a:spcPts val="2200"/>
                </a:lnSpc>
              </a:pPr>
              <a:r>
                <a:rPr lang="zh-CN" altLang="zh-CN" sz="1600" b="1" dirty="0">
                  <a:latin typeface="微软雅黑" pitchFamily="34" charset="-122"/>
                  <a:ea typeface="微软雅黑" pitchFamily="34" charset="-122"/>
                </a:rPr>
                <a:t>考虑到可能有时要在交换机的</a:t>
              </a:r>
              <a:r>
                <a:rPr lang="zh-CN" altLang="en-US" sz="1600" b="1" dirty="0">
                  <a:latin typeface="微软雅黑" pitchFamily="34" charset="-122"/>
                  <a:ea typeface="微软雅黑" pitchFamily="34" charset="-122"/>
                </a:rPr>
                <a:t>端口</a:t>
              </a:r>
              <a:r>
                <a:rPr lang="zh-CN" altLang="zh-CN" sz="1600" b="1" dirty="0">
                  <a:latin typeface="微软雅黑" pitchFamily="34" charset="-122"/>
                  <a:ea typeface="微软雅黑" pitchFamily="34" charset="-122"/>
                </a:rPr>
                <a:t>更换主机，或者主机要更换其网络适配器，这就需要更改交换表中的项目。为此，在交换表中每个项目都设有一定的</a:t>
              </a:r>
              <a:r>
                <a:rPr lang="zh-CN" altLang="en-US" sz="1600" b="1" dirty="0">
                  <a:solidFill>
                    <a:srgbClr val="C00000"/>
                  </a:solidFill>
                  <a:latin typeface="微软雅黑" pitchFamily="34" charset="-122"/>
                  <a:ea typeface="微软雅黑" pitchFamily="34" charset="-122"/>
                </a:rPr>
                <a:t>写入时间</a:t>
              </a:r>
              <a:r>
                <a:rPr lang="zh-CN" altLang="zh-CN" sz="1600" b="1" dirty="0">
                  <a:solidFill>
                    <a:srgbClr val="C00000"/>
                  </a:solidFill>
                  <a:latin typeface="微软雅黑" pitchFamily="34" charset="-122"/>
                  <a:ea typeface="微软雅黑" pitchFamily="34" charset="-122"/>
                </a:rPr>
                <a:t>。</a:t>
              </a:r>
              <a:r>
                <a:rPr lang="zh-CN" altLang="zh-CN" sz="1600" b="1" dirty="0">
                  <a:solidFill>
                    <a:srgbClr val="0000FF"/>
                  </a:solidFill>
                  <a:latin typeface="微软雅黑" pitchFamily="34" charset="-122"/>
                  <a:ea typeface="微软雅黑" pitchFamily="34" charset="-122"/>
                </a:rPr>
                <a:t>过期的项目就自动被删除。</a:t>
              </a:r>
              <a:endParaRPr lang="zh-CN" altLang="en-US" sz="1600" b="1" dirty="0">
                <a:solidFill>
                  <a:srgbClr val="0000FF"/>
                </a:solidFill>
                <a:latin typeface="微软雅黑" pitchFamily="34" charset="-122"/>
                <a:ea typeface="微软雅黑" pitchFamily="34" charset="-122"/>
              </a:endParaRPr>
            </a:p>
          </p:txBody>
        </p:sp>
        <p:cxnSp>
          <p:nvCxnSpPr>
            <p:cNvPr id="57" name="直接箭头连接符 56"/>
            <p:cNvCxnSpPr>
              <a:stCxn id="56" idx="1"/>
            </p:cNvCxnSpPr>
            <p:nvPr/>
          </p:nvCxnSpPr>
          <p:spPr bwMode="auto">
            <a:xfrm flipH="1" flipV="1">
              <a:off x="4017818" y="2275380"/>
              <a:ext cx="955104" cy="360651"/>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1" name="矩形 60"/>
          <p:cNvSpPr/>
          <p:nvPr/>
        </p:nvSpPr>
        <p:spPr>
          <a:xfrm>
            <a:off x="979053" y="4122113"/>
            <a:ext cx="7278254" cy="369332"/>
          </a:xfrm>
          <a:prstGeom prst="rect">
            <a:avLst/>
          </a:prstGeom>
        </p:spPr>
        <p:txBody>
          <a:bodyPr wrap="square">
            <a:spAutoFit/>
          </a:bodyPr>
          <a:lstStyle/>
          <a:p>
            <a:pPr algn="ctr"/>
            <a:r>
              <a:rPr lang="zh-CN" altLang="en-US" b="1" dirty="0">
                <a:solidFill>
                  <a:srgbClr val="C00000"/>
                </a:solidFill>
                <a:latin typeface="微软雅黑" pitchFamily="34" charset="-122"/>
                <a:ea typeface="微软雅黑" pitchFamily="34" charset="-122"/>
              </a:rPr>
              <a:t>这种</a:t>
            </a:r>
            <a:r>
              <a:rPr lang="zh-CN" altLang="en-US" b="1" dirty="0">
                <a:solidFill>
                  <a:srgbClr val="0000FF"/>
                </a:solidFill>
                <a:latin typeface="微软雅黑" pitchFamily="34" charset="-122"/>
                <a:ea typeface="微软雅黑" pitchFamily="34" charset="-122"/>
              </a:rPr>
              <a:t>自学习</a:t>
            </a:r>
            <a:r>
              <a:rPr lang="zh-CN" altLang="en-US" b="1" dirty="0">
                <a:solidFill>
                  <a:srgbClr val="C00000"/>
                </a:solidFill>
                <a:latin typeface="微软雅黑" pitchFamily="34" charset="-122"/>
                <a:ea typeface="微软雅黑" pitchFamily="34" charset="-122"/>
              </a:rPr>
              <a:t>方法使得以太网交换机能够即插即用，不必人工进行配置。</a:t>
            </a:r>
          </a:p>
        </p:txBody>
      </p:sp>
    </p:spTree>
    <p:extLst>
      <p:ext uri="{BB962C8B-B14F-4D97-AF65-F5344CB8AC3E}">
        <p14:creationId xmlns:p14="http://schemas.microsoft.com/office/powerpoint/2010/main" val="231462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1000"/>
                                        <p:tgtEl>
                                          <p:spTgt spid="61"/>
                                        </p:tgtEl>
                                      </p:cBhvr>
                                    </p:animEffect>
                                    <p:anim calcmode="lin" valueType="num">
                                      <p:cBhvr>
                                        <p:cTn id="15" dur="1000" fill="hold"/>
                                        <p:tgtEl>
                                          <p:spTgt spid="61"/>
                                        </p:tgtEl>
                                        <p:attrNameLst>
                                          <p:attrName>ppt_x</p:attrName>
                                        </p:attrNameLst>
                                      </p:cBhvr>
                                      <p:tavLst>
                                        <p:tav tm="0">
                                          <p:val>
                                            <p:strVal val="#ppt_x"/>
                                          </p:val>
                                        </p:tav>
                                        <p:tav tm="100000">
                                          <p:val>
                                            <p:strVal val="#ppt_x"/>
                                          </p:val>
                                        </p:tav>
                                      </p:tavLst>
                                    </p:anim>
                                    <p:anim calcmode="lin" valueType="num">
                                      <p:cBhvr>
                                        <p:cTn id="16"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04989" y="620443"/>
            <a:ext cx="35241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交换机自学习和转发帧的流程</a:t>
            </a:r>
            <a:endParaRPr lang="fr-FR" altLang="zh-CN" sz="2000" b="1" dirty="0">
              <a:solidFill>
                <a:schemeClr val="bg1"/>
              </a:solidFill>
              <a:latin typeface="微软雅黑" pitchFamily="34" charset="-122"/>
              <a:ea typeface="微软雅黑" pitchFamily="34" charset="-122"/>
            </a:endParaRPr>
          </a:p>
        </p:txBody>
      </p:sp>
      <p:sp>
        <p:nvSpPr>
          <p:cNvPr id="58" name="矩形 57"/>
          <p:cNvSpPr/>
          <p:nvPr/>
        </p:nvSpPr>
        <p:spPr>
          <a:xfrm>
            <a:off x="2528548" y="1343724"/>
            <a:ext cx="1342111" cy="364099"/>
          </a:xfrm>
          <a:prstGeom prst="rect">
            <a:avLst/>
          </a:prstGeom>
          <a:solidFill>
            <a:srgbClr val="99FF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从接收的帧中取出</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源</a:t>
            </a:r>
            <a:r>
              <a:rPr lang="en-US" altLang="zh-CN" sz="1000" b="1" dirty="0">
                <a:solidFill>
                  <a:schemeClr val="tx1"/>
                </a:solidFill>
                <a:latin typeface="微软雅黑" pitchFamily="34" charset="-122"/>
                <a:ea typeface="微软雅黑" pitchFamily="34" charset="-122"/>
              </a:rPr>
              <a:t>MAC</a:t>
            </a:r>
            <a:r>
              <a:rPr lang="zh-CN" altLang="en-US" sz="1000" b="1" dirty="0">
                <a:solidFill>
                  <a:schemeClr val="tx1"/>
                </a:solidFill>
                <a:latin typeface="微软雅黑" pitchFamily="34" charset="-122"/>
                <a:ea typeface="微软雅黑" pitchFamily="34" charset="-122"/>
              </a:rPr>
              <a:t>地址</a:t>
            </a:r>
          </a:p>
        </p:txBody>
      </p:sp>
      <p:sp>
        <p:nvSpPr>
          <p:cNvPr id="59" name="流程图: 决策 58"/>
          <p:cNvSpPr/>
          <p:nvPr/>
        </p:nvSpPr>
        <p:spPr>
          <a:xfrm>
            <a:off x="2333490" y="2179495"/>
            <a:ext cx="1732227" cy="419265"/>
          </a:xfrm>
          <a:prstGeom prst="flowChartDecision">
            <a:avLst/>
          </a:prstGeom>
          <a:solidFill>
            <a:schemeClr val="accent6">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0" name="矩形 59"/>
          <p:cNvSpPr/>
          <p:nvPr/>
        </p:nvSpPr>
        <p:spPr>
          <a:xfrm>
            <a:off x="2528547" y="3051118"/>
            <a:ext cx="1342112" cy="573732"/>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rgbClr val="C00000"/>
                </a:solidFill>
                <a:latin typeface="微软雅黑" pitchFamily="34" charset="-122"/>
                <a:ea typeface="微软雅黑" pitchFamily="34" charset="-122"/>
              </a:rPr>
              <a:t>更新</a:t>
            </a:r>
            <a:r>
              <a:rPr lang="zh-CN" altLang="en-US" sz="1000" b="1" dirty="0">
                <a:solidFill>
                  <a:schemeClr val="tx1"/>
                </a:solidFill>
                <a:latin typeface="微软雅黑" pitchFamily="34" charset="-122"/>
                <a:ea typeface="微软雅黑" pitchFamily="34" charset="-122"/>
              </a:rPr>
              <a:t>交换表中的该地址项</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（端口和写入时间）</a:t>
            </a:r>
          </a:p>
        </p:txBody>
      </p:sp>
      <p:sp>
        <p:nvSpPr>
          <p:cNvPr id="62" name="矩形 61"/>
          <p:cNvSpPr/>
          <p:nvPr/>
        </p:nvSpPr>
        <p:spPr>
          <a:xfrm>
            <a:off x="559688" y="2080196"/>
            <a:ext cx="1393505" cy="61786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将该地址</a:t>
            </a:r>
            <a:r>
              <a:rPr lang="zh-CN" altLang="en-US" sz="1000" b="1" dirty="0">
                <a:solidFill>
                  <a:srgbClr val="C00000"/>
                </a:solidFill>
                <a:latin typeface="微软雅黑" pitchFamily="34" charset="-122"/>
                <a:ea typeface="微软雅黑" pitchFamily="34" charset="-122"/>
              </a:rPr>
              <a:t>加入</a:t>
            </a:r>
            <a:r>
              <a:rPr lang="zh-CN" altLang="en-US" sz="1000" b="1" dirty="0">
                <a:solidFill>
                  <a:schemeClr val="tx1"/>
                </a:solidFill>
                <a:latin typeface="微软雅黑" pitchFamily="34" charset="-122"/>
                <a:ea typeface="微软雅黑" pitchFamily="34" charset="-122"/>
              </a:rPr>
              <a:t>交换表</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（地址、端口和写入时间）</a:t>
            </a:r>
          </a:p>
        </p:txBody>
      </p:sp>
      <p:sp>
        <p:nvSpPr>
          <p:cNvPr id="63" name="矩形 62"/>
          <p:cNvSpPr/>
          <p:nvPr/>
        </p:nvSpPr>
        <p:spPr>
          <a:xfrm>
            <a:off x="4730851" y="1346484"/>
            <a:ext cx="1342111" cy="364099"/>
          </a:xfrm>
          <a:prstGeom prst="rect">
            <a:avLst/>
          </a:prstGeom>
          <a:solidFill>
            <a:srgbClr val="0070C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itchFamily="34" charset="-122"/>
                <a:ea typeface="微软雅黑" pitchFamily="34" charset="-122"/>
              </a:rPr>
              <a:t>从接收的帧中取出</a:t>
            </a:r>
            <a:endParaRPr lang="en-US" altLang="zh-CN" sz="1000" b="1" dirty="0">
              <a:solidFill>
                <a:schemeClr val="bg1"/>
              </a:solidFill>
              <a:latin typeface="微软雅黑" pitchFamily="34" charset="-122"/>
              <a:ea typeface="微软雅黑" pitchFamily="34" charset="-122"/>
            </a:endParaRPr>
          </a:p>
          <a:p>
            <a:pPr algn="ctr"/>
            <a:r>
              <a:rPr lang="zh-CN" altLang="en-US" sz="1000" b="1" dirty="0">
                <a:solidFill>
                  <a:schemeClr val="bg1"/>
                </a:solidFill>
                <a:latin typeface="微软雅黑" pitchFamily="34" charset="-122"/>
                <a:ea typeface="微软雅黑" pitchFamily="34" charset="-122"/>
              </a:rPr>
              <a:t>目的</a:t>
            </a:r>
            <a:r>
              <a:rPr lang="en-US" altLang="zh-CN" sz="1000" b="1" dirty="0">
                <a:solidFill>
                  <a:schemeClr val="bg1"/>
                </a:solidFill>
                <a:latin typeface="微软雅黑" pitchFamily="34" charset="-122"/>
                <a:ea typeface="微软雅黑" pitchFamily="34" charset="-122"/>
              </a:rPr>
              <a:t>MAC</a:t>
            </a:r>
            <a:r>
              <a:rPr lang="zh-CN" altLang="en-US" sz="1000" b="1" dirty="0">
                <a:solidFill>
                  <a:schemeClr val="bg1"/>
                </a:solidFill>
                <a:latin typeface="微软雅黑" pitchFamily="34" charset="-122"/>
                <a:ea typeface="微软雅黑" pitchFamily="34" charset="-122"/>
              </a:rPr>
              <a:t>地址</a:t>
            </a:r>
          </a:p>
        </p:txBody>
      </p:sp>
      <p:sp>
        <p:nvSpPr>
          <p:cNvPr id="64" name="流程图: 决策 63"/>
          <p:cNvSpPr/>
          <p:nvPr/>
        </p:nvSpPr>
        <p:spPr>
          <a:xfrm>
            <a:off x="4535792" y="1925729"/>
            <a:ext cx="1732227" cy="419265"/>
          </a:xfrm>
          <a:prstGeom prst="flowChartDecision">
            <a:avLst/>
          </a:prstGeom>
          <a:solidFill>
            <a:schemeClr val="accent6">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5" name="矩形 64"/>
          <p:cNvSpPr/>
          <p:nvPr/>
        </p:nvSpPr>
        <p:spPr>
          <a:xfrm>
            <a:off x="6599024" y="2786325"/>
            <a:ext cx="795559" cy="364099"/>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向该端口转发帧</a:t>
            </a:r>
          </a:p>
        </p:txBody>
      </p:sp>
      <p:sp>
        <p:nvSpPr>
          <p:cNvPr id="66" name="矩形 65"/>
          <p:cNvSpPr/>
          <p:nvPr/>
        </p:nvSpPr>
        <p:spPr>
          <a:xfrm>
            <a:off x="6599024" y="1953313"/>
            <a:ext cx="1433516" cy="364099"/>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向所有其他端口转发（进入的端口除外）</a:t>
            </a:r>
          </a:p>
        </p:txBody>
      </p:sp>
      <p:sp>
        <p:nvSpPr>
          <p:cNvPr id="67" name="流程图: 决策 66"/>
          <p:cNvSpPr/>
          <p:nvPr/>
        </p:nvSpPr>
        <p:spPr>
          <a:xfrm>
            <a:off x="4535792" y="2642891"/>
            <a:ext cx="1732227" cy="650966"/>
          </a:xfrm>
          <a:prstGeom prst="flowChartDecision">
            <a:avLst/>
          </a:prstGeom>
          <a:solidFill>
            <a:schemeClr val="accent6">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其端口与帧进入的端口相同吗？</a:t>
            </a:r>
          </a:p>
        </p:txBody>
      </p:sp>
      <p:sp>
        <p:nvSpPr>
          <p:cNvPr id="68" name="矩形 67"/>
          <p:cNvSpPr/>
          <p:nvPr/>
        </p:nvSpPr>
        <p:spPr>
          <a:xfrm>
            <a:off x="4730850" y="3558653"/>
            <a:ext cx="1342112" cy="364099"/>
          </a:xfrm>
          <a:prstGeom prst="rect">
            <a:avLst/>
          </a:prstGeom>
          <a:solidFill>
            <a:srgbClr val="7030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丢弃</a:t>
            </a:r>
          </a:p>
        </p:txBody>
      </p:sp>
      <p:sp>
        <p:nvSpPr>
          <p:cNvPr id="69" name="圆角矩形 68"/>
          <p:cNvSpPr/>
          <p:nvPr/>
        </p:nvSpPr>
        <p:spPr>
          <a:xfrm>
            <a:off x="947510" y="1343724"/>
            <a:ext cx="816464" cy="364099"/>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开始</a:t>
            </a:r>
          </a:p>
        </p:txBody>
      </p:sp>
      <p:sp>
        <p:nvSpPr>
          <p:cNvPr id="71" name="圆角矩形 70"/>
          <p:cNvSpPr/>
          <p:nvPr/>
        </p:nvSpPr>
        <p:spPr>
          <a:xfrm>
            <a:off x="7184955" y="3988956"/>
            <a:ext cx="816464" cy="364099"/>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结束</a:t>
            </a:r>
          </a:p>
        </p:txBody>
      </p:sp>
      <p:cxnSp>
        <p:nvCxnSpPr>
          <p:cNvPr id="72" name="直接箭头连接符 71"/>
          <p:cNvCxnSpPr>
            <a:stCxn id="58" idx="2"/>
            <a:endCxn id="59" idx="0"/>
          </p:cNvCxnSpPr>
          <p:nvPr/>
        </p:nvCxnSpPr>
        <p:spPr>
          <a:xfrm flipH="1">
            <a:off x="3199603" y="1707823"/>
            <a:ext cx="1" cy="471672"/>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59" idx="2"/>
            <a:endCxn id="60" idx="0"/>
          </p:cNvCxnSpPr>
          <p:nvPr/>
        </p:nvCxnSpPr>
        <p:spPr>
          <a:xfrm>
            <a:off x="3199603" y="2598759"/>
            <a:ext cx="0" cy="45235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3" idx="2"/>
            <a:endCxn id="64" idx="0"/>
          </p:cNvCxnSpPr>
          <p:nvPr/>
        </p:nvCxnSpPr>
        <p:spPr>
          <a:xfrm flipH="1">
            <a:off x="5401906" y="1710583"/>
            <a:ext cx="1" cy="215147"/>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64" idx="2"/>
            <a:endCxn id="67" idx="0"/>
          </p:cNvCxnSpPr>
          <p:nvPr/>
        </p:nvCxnSpPr>
        <p:spPr>
          <a:xfrm>
            <a:off x="5401906" y="2344994"/>
            <a:ext cx="0" cy="297897"/>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67" idx="2"/>
            <a:endCxn id="68" idx="0"/>
          </p:cNvCxnSpPr>
          <p:nvPr/>
        </p:nvCxnSpPr>
        <p:spPr>
          <a:xfrm>
            <a:off x="5401906" y="3293857"/>
            <a:ext cx="0" cy="264796"/>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9" idx="1"/>
            <a:endCxn id="62" idx="3"/>
          </p:cNvCxnSpPr>
          <p:nvPr/>
        </p:nvCxnSpPr>
        <p:spPr>
          <a:xfrm flipH="1">
            <a:off x="1953193" y="2389127"/>
            <a:ext cx="380297"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3"/>
            <a:endCxn id="66" idx="1"/>
          </p:cNvCxnSpPr>
          <p:nvPr/>
        </p:nvCxnSpPr>
        <p:spPr>
          <a:xfrm>
            <a:off x="6268019" y="2135362"/>
            <a:ext cx="331005"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67" idx="3"/>
            <a:endCxn id="65" idx="1"/>
          </p:cNvCxnSpPr>
          <p:nvPr/>
        </p:nvCxnSpPr>
        <p:spPr>
          <a:xfrm>
            <a:off x="6268019" y="2968374"/>
            <a:ext cx="331005"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69" idx="3"/>
            <a:endCxn id="58" idx="1"/>
          </p:cNvCxnSpPr>
          <p:nvPr/>
        </p:nvCxnSpPr>
        <p:spPr>
          <a:xfrm>
            <a:off x="1763974" y="1525774"/>
            <a:ext cx="764574" cy="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60" idx="2"/>
          </p:cNvCxnSpPr>
          <p:nvPr/>
        </p:nvCxnSpPr>
        <p:spPr>
          <a:xfrm>
            <a:off x="3199603" y="3624850"/>
            <a:ext cx="0" cy="364106"/>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62" idx="2"/>
          </p:cNvCxnSpPr>
          <p:nvPr/>
        </p:nvCxnSpPr>
        <p:spPr>
          <a:xfrm>
            <a:off x="1256440" y="2698059"/>
            <a:ext cx="0" cy="1290897"/>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245407" y="3988956"/>
            <a:ext cx="2965529"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4210936" y="1087199"/>
            <a:ext cx="0" cy="2901759"/>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210936" y="1087199"/>
            <a:ext cx="1190971"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endCxn id="63" idx="0"/>
          </p:cNvCxnSpPr>
          <p:nvPr/>
        </p:nvCxnSpPr>
        <p:spPr>
          <a:xfrm flipH="1">
            <a:off x="5401907" y="1078925"/>
            <a:ext cx="1" cy="26755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7758690" y="2317412"/>
            <a:ext cx="0" cy="1671545"/>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a:off x="6084805" y="3740701"/>
            <a:ext cx="1673885"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7405617" y="2968375"/>
            <a:ext cx="353072"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0" name="Rectangle 24"/>
          <p:cNvSpPr>
            <a:spLocks noChangeArrowheads="1"/>
          </p:cNvSpPr>
          <p:nvPr/>
        </p:nvSpPr>
        <p:spPr bwMode="auto">
          <a:xfrm>
            <a:off x="2819559" y="2609786"/>
            <a:ext cx="310984" cy="243656"/>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1" name="Rectangle 24"/>
          <p:cNvSpPr>
            <a:spLocks noChangeArrowheads="1"/>
          </p:cNvSpPr>
          <p:nvPr/>
        </p:nvSpPr>
        <p:spPr bwMode="auto">
          <a:xfrm>
            <a:off x="2063798" y="2061986"/>
            <a:ext cx="310984" cy="243656"/>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2" name="Rectangle 24"/>
          <p:cNvSpPr>
            <a:spLocks noChangeArrowheads="1"/>
          </p:cNvSpPr>
          <p:nvPr/>
        </p:nvSpPr>
        <p:spPr bwMode="auto">
          <a:xfrm>
            <a:off x="6252199" y="1832492"/>
            <a:ext cx="310984" cy="243656"/>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3" name="Rectangle 24"/>
          <p:cNvSpPr>
            <a:spLocks noChangeArrowheads="1"/>
          </p:cNvSpPr>
          <p:nvPr/>
        </p:nvSpPr>
        <p:spPr bwMode="auto">
          <a:xfrm>
            <a:off x="5010829" y="2341676"/>
            <a:ext cx="310984" cy="243656"/>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4" name="Rectangle 24"/>
          <p:cNvSpPr>
            <a:spLocks noChangeArrowheads="1"/>
          </p:cNvSpPr>
          <p:nvPr/>
        </p:nvSpPr>
        <p:spPr bwMode="auto">
          <a:xfrm>
            <a:off x="4891540" y="3275096"/>
            <a:ext cx="439224" cy="243656"/>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相同</a:t>
            </a:r>
            <a:endParaRPr kumimoji="1" lang="en-US" altLang="zh-CN" sz="1000" b="1" dirty="0">
              <a:solidFill>
                <a:schemeClr val="bg1"/>
              </a:solidFill>
              <a:latin typeface="微软雅黑" pitchFamily="34" charset="-122"/>
              <a:ea typeface="微软雅黑" pitchFamily="34" charset="-122"/>
            </a:endParaRPr>
          </a:p>
        </p:txBody>
      </p:sp>
      <p:sp>
        <p:nvSpPr>
          <p:cNvPr id="95" name="Rectangle 24"/>
          <p:cNvSpPr>
            <a:spLocks noChangeArrowheads="1"/>
          </p:cNvSpPr>
          <p:nvPr/>
        </p:nvSpPr>
        <p:spPr bwMode="auto">
          <a:xfrm>
            <a:off x="6169775" y="2645091"/>
            <a:ext cx="439224" cy="243656"/>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不同</a:t>
            </a:r>
            <a:endParaRPr kumimoji="1" lang="en-US" altLang="zh-CN" sz="1000" b="1" dirty="0">
              <a:latin typeface="微软雅黑" pitchFamily="34" charset="-122"/>
              <a:ea typeface="微软雅黑" pitchFamily="34" charset="-122"/>
            </a:endParaRPr>
          </a:p>
        </p:txBody>
      </p:sp>
    </p:spTree>
    <p:extLst>
      <p:ext uri="{BB962C8B-B14F-4D97-AF65-F5344CB8AC3E}">
        <p14:creationId xmlns:p14="http://schemas.microsoft.com/office/powerpoint/2010/main" val="340199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69"/>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60"/>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63"/>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35" presetClass="emph" presetSubtype="0" repeatCount="3000" fill="hold" grpId="0" nodeType="clickEffect">
                                  <p:stCondLst>
                                    <p:cond delay="0"/>
                                  </p:stCondLst>
                                  <p:childTnLst>
                                    <p:anim calcmode="discrete" valueType="str">
                                      <p:cBhvr>
                                        <p:cTn id="30" dur="10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repeatCount="3000" fill="hold" grpId="0" nodeType="clickEffect">
                                  <p:stCondLst>
                                    <p:cond delay="0"/>
                                  </p:stCondLst>
                                  <p:childTnLst>
                                    <p:anim calcmode="discrete" valueType="str">
                                      <p:cBhvr>
                                        <p:cTn id="34" dur="1000" fill="hold"/>
                                        <p:tgtEl>
                                          <p:spTgt spid="66"/>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35" presetClass="emph" presetSubtype="0" repeatCount="3000" fill="hold" grpId="0" nodeType="clickEffect">
                                  <p:stCondLst>
                                    <p:cond delay="0"/>
                                  </p:stCondLst>
                                  <p:childTnLst>
                                    <p:anim calcmode="discrete" valueType="str">
                                      <p:cBhvr>
                                        <p:cTn id="38" dur="1000" fill="hold"/>
                                        <p:tgtEl>
                                          <p:spTgt spid="67"/>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35" presetClass="emph" presetSubtype="0" repeatCount="3000" fill="hold" grpId="0" nodeType="clickEffect">
                                  <p:stCondLst>
                                    <p:cond delay="0"/>
                                  </p:stCondLst>
                                  <p:childTnLst>
                                    <p:anim calcmode="discrete" valueType="str">
                                      <p:cBhvr>
                                        <p:cTn id="42" dur="1000" fill="hold"/>
                                        <p:tgtEl>
                                          <p:spTgt spid="68"/>
                                        </p:tgtEl>
                                        <p:attrNameLst>
                                          <p:attrName>style.visibility</p:attrName>
                                        </p:attrNameLst>
                                      </p:cBhvr>
                                      <p:tavLst>
                                        <p:tav tm="0">
                                          <p:val>
                                            <p:strVal val="hidden"/>
                                          </p:val>
                                        </p:tav>
                                        <p:tav tm="50000">
                                          <p:val>
                                            <p:strVal val="visible"/>
                                          </p:val>
                                        </p:tav>
                                      </p:tavLst>
                                    </p:anim>
                                  </p:childTnLst>
                                </p:cTn>
                              </p:par>
                            </p:childTnLst>
                          </p:cTn>
                        </p:par>
                      </p:childTnLst>
                    </p:cTn>
                  </p:par>
                  <p:par>
                    <p:cTn id="43" fill="hold">
                      <p:stCondLst>
                        <p:cond delay="indefinite"/>
                      </p:stCondLst>
                      <p:childTnLst>
                        <p:par>
                          <p:cTn id="44" fill="hold">
                            <p:stCondLst>
                              <p:cond delay="0"/>
                            </p:stCondLst>
                            <p:childTnLst>
                              <p:par>
                                <p:cTn id="45" presetID="35" presetClass="emph" presetSubtype="0" repeatCount="3000" fill="hold" grpId="0" nodeType="clickEffect">
                                  <p:stCondLst>
                                    <p:cond delay="0"/>
                                  </p:stCondLst>
                                  <p:childTnLst>
                                    <p:anim calcmode="discrete" valueType="str">
                                      <p:cBhvr>
                                        <p:cTn id="46"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par>
                    <p:cTn id="47" fill="hold">
                      <p:stCondLst>
                        <p:cond delay="indefinite"/>
                      </p:stCondLst>
                      <p:childTnLst>
                        <p:par>
                          <p:cTn id="48" fill="hold">
                            <p:stCondLst>
                              <p:cond delay="0"/>
                            </p:stCondLst>
                            <p:childTnLst>
                              <p:par>
                                <p:cTn id="49" presetID="35" presetClass="emph" presetSubtype="0" repeatCount="3000" fill="hold" grpId="0" nodeType="clickEffect">
                                  <p:stCondLst>
                                    <p:cond delay="0"/>
                                  </p:stCondLst>
                                  <p:childTnLst>
                                    <p:anim calcmode="discrete" valueType="str">
                                      <p:cBhvr>
                                        <p:cTn id="50" dur="1000" fill="hold"/>
                                        <p:tgtEl>
                                          <p:spTgt spid="7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62" grpId="0" animBg="1"/>
      <p:bldP spid="63" grpId="0" animBg="1"/>
      <p:bldP spid="64" grpId="0" animBg="1"/>
      <p:bldP spid="65" grpId="0" animBg="1"/>
      <p:bldP spid="66" grpId="0" animBg="1"/>
      <p:bldP spid="67" grpId="0" animBg="1"/>
      <p:bldP spid="68" grpId="0" animBg="1"/>
      <p:bldP spid="69" grpId="0" animBg="1"/>
      <p:bldP spid="71"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299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cxnSp>
        <p:nvCxnSpPr>
          <p:cNvPr id="9" name="直接连接符 8"/>
          <p:cNvCxnSpPr/>
          <p:nvPr/>
        </p:nvCxnSpPr>
        <p:spPr>
          <a:xfrm>
            <a:off x="3704586" y="1637522"/>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4279"/>
            <a:ext cx="3159985" cy="2358340"/>
            <a:chOff x="5467217" y="1688855"/>
            <a:chExt cx="3159985" cy="2358340"/>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00" name="组合 99"/>
            <p:cNvGrpSpPr/>
            <p:nvPr/>
          </p:nvGrpSpPr>
          <p:grpSpPr>
            <a:xfrm>
              <a:off x="5567372" y="2255290"/>
              <a:ext cx="1968560" cy="1377898"/>
              <a:chOff x="1976244" y="2283000"/>
              <a:chExt cx="1968560" cy="1377898"/>
            </a:xfrm>
          </p:grpSpPr>
          <p:sp>
            <p:nvSpPr>
              <p:cNvPr id="112"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13"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14"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5"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6"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7"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9"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20"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4279"/>
            <a:ext cx="3193184" cy="2358340"/>
            <a:chOff x="893574" y="1688855"/>
            <a:chExt cx="3193184" cy="2358340"/>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2140853" y="22552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sp>
        <p:nvSpPr>
          <p:cNvPr id="10" name="矩形 9"/>
          <p:cNvSpPr/>
          <p:nvPr/>
        </p:nvSpPr>
        <p:spPr>
          <a:xfrm>
            <a:off x="1582778" y="3639245"/>
            <a:ext cx="6521672" cy="679801"/>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Tree>
    <p:extLst>
      <p:ext uri="{BB962C8B-B14F-4D97-AF65-F5344CB8AC3E}">
        <p14:creationId xmlns:p14="http://schemas.microsoft.com/office/powerpoint/2010/main" val="244002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sp>
        <p:nvSpPr>
          <p:cNvPr id="129" name="圆角矩形 128"/>
          <p:cNvSpPr/>
          <p:nvPr/>
        </p:nvSpPr>
        <p:spPr>
          <a:xfrm>
            <a:off x="502919" y="107875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0" name="直接连接符 129"/>
          <p:cNvCxnSpPr/>
          <p:nvPr/>
        </p:nvCxnSpPr>
        <p:spPr>
          <a:xfrm>
            <a:off x="3704586" y="163843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矩形 131"/>
          <p:cNvSpPr/>
          <p:nvPr/>
        </p:nvSpPr>
        <p:spPr>
          <a:xfrm>
            <a:off x="5320565" y="147174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33" name="直接连接符 132"/>
          <p:cNvCxnSpPr/>
          <p:nvPr/>
        </p:nvCxnSpPr>
        <p:spPr>
          <a:xfrm flipH="1">
            <a:off x="7443612" y="326990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7443612" y="219200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7466485" y="271574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7443612" y="163627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Rectangle 24"/>
          <p:cNvSpPr>
            <a:spLocks noChangeArrowheads="1"/>
          </p:cNvSpPr>
          <p:nvPr/>
        </p:nvSpPr>
        <p:spPr bwMode="auto">
          <a:xfrm>
            <a:off x="5641002" y="1156881"/>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138" name="Rectangle 34"/>
          <p:cNvSpPr>
            <a:spLocks noChangeArrowheads="1"/>
          </p:cNvSpPr>
          <p:nvPr/>
        </p:nvSpPr>
        <p:spPr bwMode="auto">
          <a:xfrm>
            <a:off x="8189241" y="1434632"/>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139" name="组合 57"/>
          <p:cNvGrpSpPr>
            <a:grpSpLocks/>
          </p:cNvGrpSpPr>
          <p:nvPr/>
        </p:nvGrpSpPr>
        <p:grpSpPr bwMode="auto">
          <a:xfrm>
            <a:off x="7299648" y="1499060"/>
            <a:ext cx="277321" cy="274434"/>
            <a:chOff x="2255844" y="1268760"/>
            <a:chExt cx="360915" cy="356296"/>
          </a:xfrm>
        </p:grpSpPr>
        <p:sp>
          <p:nvSpPr>
            <p:cNvPr id="172" name="矩形 171"/>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3"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40" name="组合 58"/>
          <p:cNvGrpSpPr>
            <a:grpSpLocks/>
          </p:cNvGrpSpPr>
          <p:nvPr/>
        </p:nvGrpSpPr>
        <p:grpSpPr bwMode="auto">
          <a:xfrm>
            <a:off x="7308791" y="2062972"/>
            <a:ext cx="277321" cy="274434"/>
            <a:chOff x="2267744" y="1280668"/>
            <a:chExt cx="360915" cy="357388"/>
          </a:xfrm>
        </p:grpSpPr>
        <p:sp>
          <p:nvSpPr>
            <p:cNvPr id="170" name="矩形 16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1"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41" name="组合 61"/>
          <p:cNvGrpSpPr>
            <a:grpSpLocks/>
          </p:cNvGrpSpPr>
          <p:nvPr/>
        </p:nvGrpSpPr>
        <p:grpSpPr bwMode="auto">
          <a:xfrm>
            <a:off x="7279671" y="3140874"/>
            <a:ext cx="277321" cy="274434"/>
            <a:chOff x="2244074" y="1280668"/>
            <a:chExt cx="358931" cy="357388"/>
          </a:xfrm>
        </p:grpSpPr>
        <p:sp>
          <p:nvSpPr>
            <p:cNvPr id="168" name="矩形 16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42" name="组合 64"/>
          <p:cNvGrpSpPr>
            <a:grpSpLocks/>
          </p:cNvGrpSpPr>
          <p:nvPr/>
        </p:nvGrpSpPr>
        <p:grpSpPr bwMode="auto">
          <a:xfrm>
            <a:off x="7288815" y="2576963"/>
            <a:ext cx="277321" cy="274434"/>
            <a:chOff x="2255909" y="1268760"/>
            <a:chExt cx="358931" cy="355702"/>
          </a:xfrm>
        </p:grpSpPr>
        <p:sp>
          <p:nvSpPr>
            <p:cNvPr id="166" name="矩形 165"/>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7"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43" name="Rectangle 34"/>
          <p:cNvSpPr>
            <a:spLocks noChangeArrowheads="1"/>
          </p:cNvSpPr>
          <p:nvPr/>
        </p:nvSpPr>
        <p:spPr bwMode="auto">
          <a:xfrm>
            <a:off x="8157180" y="3093869"/>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144" name="Rectangle 34"/>
          <p:cNvSpPr>
            <a:spLocks noChangeArrowheads="1"/>
          </p:cNvSpPr>
          <p:nvPr/>
        </p:nvSpPr>
        <p:spPr bwMode="auto">
          <a:xfrm>
            <a:off x="8150769" y="2528094"/>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45" name="组合 144"/>
          <p:cNvGrpSpPr/>
          <p:nvPr/>
        </p:nvGrpSpPr>
        <p:grpSpPr>
          <a:xfrm>
            <a:off x="5406731" y="1731629"/>
            <a:ext cx="1968560" cy="1377898"/>
            <a:chOff x="1976244" y="2283000"/>
            <a:chExt cx="1968560" cy="1377898"/>
          </a:xfrm>
        </p:grpSpPr>
        <p:sp>
          <p:nvSpPr>
            <p:cNvPr id="157"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58"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59"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0"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1"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2"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3"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4"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65"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46" name="Rectangle 34"/>
          <p:cNvSpPr>
            <a:spLocks noChangeArrowheads="1"/>
          </p:cNvSpPr>
          <p:nvPr/>
        </p:nvSpPr>
        <p:spPr bwMode="auto">
          <a:xfrm>
            <a:off x="8179623" y="1987634"/>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4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3817" y="141959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3817" y="197042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3817" y="249138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3817" y="3056073"/>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51" name="组合 61"/>
          <p:cNvGrpSpPr>
            <a:grpSpLocks/>
          </p:cNvGrpSpPr>
          <p:nvPr/>
        </p:nvGrpSpPr>
        <p:grpSpPr bwMode="auto">
          <a:xfrm>
            <a:off x="5306578" y="1510945"/>
            <a:ext cx="277321" cy="274434"/>
            <a:chOff x="2244074" y="1280668"/>
            <a:chExt cx="358931" cy="357388"/>
          </a:xfrm>
        </p:grpSpPr>
        <p:sp>
          <p:nvSpPr>
            <p:cNvPr id="155" name="矩形 15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6"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52" name="组合 61"/>
          <p:cNvGrpSpPr>
            <a:grpSpLocks/>
          </p:cNvGrpSpPr>
          <p:nvPr/>
        </p:nvGrpSpPr>
        <p:grpSpPr bwMode="auto">
          <a:xfrm>
            <a:off x="5306576" y="3172725"/>
            <a:ext cx="277321" cy="274434"/>
            <a:chOff x="2244078" y="1280673"/>
            <a:chExt cx="358932" cy="357390"/>
          </a:xfrm>
        </p:grpSpPr>
        <p:sp>
          <p:nvSpPr>
            <p:cNvPr id="153" name="矩形 15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4"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sp>
        <p:nvSpPr>
          <p:cNvPr id="175" name="矩形 174"/>
          <p:cNvSpPr/>
          <p:nvPr/>
        </p:nvSpPr>
        <p:spPr>
          <a:xfrm>
            <a:off x="1611894" y="147174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76" name="直接连接符 175"/>
          <p:cNvCxnSpPr/>
          <p:nvPr/>
        </p:nvCxnSpPr>
        <p:spPr>
          <a:xfrm flipH="1">
            <a:off x="1039084" y="326990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039084" y="219200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1061957" y="271574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039084" y="163627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Rectangle 24"/>
          <p:cNvSpPr>
            <a:spLocks noChangeArrowheads="1"/>
          </p:cNvSpPr>
          <p:nvPr/>
        </p:nvSpPr>
        <p:spPr bwMode="auto">
          <a:xfrm>
            <a:off x="1932331" y="1156881"/>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181" name="Rectangle 34"/>
          <p:cNvSpPr>
            <a:spLocks noChangeArrowheads="1"/>
          </p:cNvSpPr>
          <p:nvPr/>
        </p:nvSpPr>
        <p:spPr bwMode="auto">
          <a:xfrm>
            <a:off x="690213" y="143463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82" name="组合 57"/>
          <p:cNvGrpSpPr>
            <a:grpSpLocks/>
          </p:cNvGrpSpPr>
          <p:nvPr/>
        </p:nvGrpSpPr>
        <p:grpSpPr bwMode="auto">
          <a:xfrm>
            <a:off x="1602755" y="1499060"/>
            <a:ext cx="277321" cy="274434"/>
            <a:chOff x="2255844" y="1268760"/>
            <a:chExt cx="360915" cy="356296"/>
          </a:xfrm>
        </p:grpSpPr>
        <p:sp>
          <p:nvSpPr>
            <p:cNvPr id="215" name="矩形 214"/>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6"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83" name="组合 58"/>
          <p:cNvGrpSpPr>
            <a:grpSpLocks/>
          </p:cNvGrpSpPr>
          <p:nvPr/>
        </p:nvGrpSpPr>
        <p:grpSpPr bwMode="auto">
          <a:xfrm>
            <a:off x="1611898" y="2062972"/>
            <a:ext cx="277321" cy="274434"/>
            <a:chOff x="2267744" y="1280668"/>
            <a:chExt cx="360915" cy="357388"/>
          </a:xfrm>
        </p:grpSpPr>
        <p:sp>
          <p:nvSpPr>
            <p:cNvPr id="213" name="矩形 21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4"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84" name="组合 61"/>
          <p:cNvGrpSpPr>
            <a:grpSpLocks/>
          </p:cNvGrpSpPr>
          <p:nvPr/>
        </p:nvGrpSpPr>
        <p:grpSpPr bwMode="auto">
          <a:xfrm>
            <a:off x="1582778" y="3140874"/>
            <a:ext cx="277321" cy="274434"/>
            <a:chOff x="2244074" y="1280668"/>
            <a:chExt cx="358931" cy="357388"/>
          </a:xfrm>
        </p:grpSpPr>
        <p:sp>
          <p:nvSpPr>
            <p:cNvPr id="211" name="矩形 21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2"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85" name="组合 64"/>
          <p:cNvGrpSpPr>
            <a:grpSpLocks/>
          </p:cNvGrpSpPr>
          <p:nvPr/>
        </p:nvGrpSpPr>
        <p:grpSpPr bwMode="auto">
          <a:xfrm>
            <a:off x="1591922" y="2576963"/>
            <a:ext cx="277321" cy="274434"/>
            <a:chOff x="2255909" y="1268760"/>
            <a:chExt cx="358931" cy="355702"/>
          </a:xfrm>
        </p:grpSpPr>
        <p:sp>
          <p:nvSpPr>
            <p:cNvPr id="209" name="矩形 20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0"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86" name="Rectangle 34"/>
          <p:cNvSpPr>
            <a:spLocks noChangeArrowheads="1"/>
          </p:cNvSpPr>
          <p:nvPr/>
        </p:nvSpPr>
        <p:spPr bwMode="auto">
          <a:xfrm>
            <a:off x="701731" y="309386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187" name="Rectangle 34"/>
          <p:cNvSpPr>
            <a:spLocks noChangeArrowheads="1"/>
          </p:cNvSpPr>
          <p:nvPr/>
        </p:nvSpPr>
        <p:spPr bwMode="auto">
          <a:xfrm>
            <a:off x="699831" y="252809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88" name="组合 187"/>
          <p:cNvGrpSpPr/>
          <p:nvPr/>
        </p:nvGrpSpPr>
        <p:grpSpPr>
          <a:xfrm>
            <a:off x="1930784" y="1731629"/>
            <a:ext cx="1945905" cy="1377898"/>
            <a:chOff x="2208968" y="2283000"/>
            <a:chExt cx="1945905" cy="1377898"/>
          </a:xfrm>
        </p:grpSpPr>
        <p:sp>
          <p:nvSpPr>
            <p:cNvPr id="200"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201"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端口    写入时间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20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3"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4"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5"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6"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7"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208"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89" name="Rectangle 34"/>
          <p:cNvSpPr>
            <a:spLocks noChangeArrowheads="1"/>
          </p:cNvSpPr>
          <p:nvPr/>
        </p:nvSpPr>
        <p:spPr bwMode="auto">
          <a:xfrm>
            <a:off x="683505" y="198763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1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098" y="141959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098" y="197042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098" y="249138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098" y="3056073"/>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94" name="组合 61"/>
          <p:cNvGrpSpPr>
            <a:grpSpLocks/>
          </p:cNvGrpSpPr>
          <p:nvPr/>
        </p:nvGrpSpPr>
        <p:grpSpPr bwMode="auto">
          <a:xfrm>
            <a:off x="3575027" y="1510945"/>
            <a:ext cx="277321" cy="274434"/>
            <a:chOff x="2244074" y="1280668"/>
            <a:chExt cx="358931" cy="357388"/>
          </a:xfrm>
        </p:grpSpPr>
        <p:sp>
          <p:nvSpPr>
            <p:cNvPr id="198" name="矩形 19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95" name="组合 61"/>
          <p:cNvGrpSpPr>
            <a:grpSpLocks/>
          </p:cNvGrpSpPr>
          <p:nvPr/>
        </p:nvGrpSpPr>
        <p:grpSpPr bwMode="auto">
          <a:xfrm>
            <a:off x="3575025" y="3172725"/>
            <a:ext cx="277321" cy="274434"/>
            <a:chOff x="2244078" y="1280673"/>
            <a:chExt cx="358932" cy="357390"/>
          </a:xfrm>
        </p:grpSpPr>
        <p:sp>
          <p:nvSpPr>
            <p:cNvPr id="196" name="矩形 19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7"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sp>
        <p:nvSpPr>
          <p:cNvPr id="217" name="矩形 216"/>
          <p:cNvSpPr/>
          <p:nvPr/>
        </p:nvSpPr>
        <p:spPr>
          <a:xfrm>
            <a:off x="1582778" y="3631958"/>
            <a:ext cx="6463942"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
        <p:nvSpPr>
          <p:cNvPr id="218" name="矩形 217"/>
          <p:cNvSpPr/>
          <p:nvPr/>
        </p:nvSpPr>
        <p:spPr>
          <a:xfrm>
            <a:off x="2140325"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219" name="矩形 218"/>
          <p:cNvSpPr/>
          <p:nvPr/>
        </p:nvSpPr>
        <p:spPr>
          <a:xfrm>
            <a:off x="5595258"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5</a:t>
            </a:r>
            <a:endParaRPr lang="zh-CN" altLang="en-US" sz="1100" b="1" dirty="0">
              <a:latin typeface="微软雅黑" pitchFamily="34" charset="-122"/>
              <a:ea typeface="微软雅黑" pitchFamily="34" charset="-122"/>
            </a:endParaRPr>
          </a:p>
        </p:txBody>
      </p:sp>
      <p:sp>
        <p:nvSpPr>
          <p:cNvPr id="220" name="矩形 219"/>
          <p:cNvSpPr/>
          <p:nvPr/>
        </p:nvSpPr>
        <p:spPr>
          <a:xfrm>
            <a:off x="2140325" y="24242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2</a:t>
            </a:r>
            <a:endParaRPr lang="zh-CN" altLang="en-US" sz="1100" b="1" dirty="0">
              <a:latin typeface="微软雅黑" pitchFamily="34" charset="-122"/>
              <a:ea typeface="微软雅黑" pitchFamily="34" charset="-122"/>
            </a:endParaRPr>
          </a:p>
        </p:txBody>
      </p:sp>
      <p:sp>
        <p:nvSpPr>
          <p:cNvPr id="221" name="矩形 220"/>
          <p:cNvSpPr/>
          <p:nvPr/>
        </p:nvSpPr>
        <p:spPr>
          <a:xfrm>
            <a:off x="5595258" y="243655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5</a:t>
            </a:r>
            <a:endParaRPr lang="zh-CN" altLang="en-US" sz="1100" b="1" dirty="0">
              <a:latin typeface="微软雅黑" pitchFamily="34" charset="-122"/>
              <a:ea typeface="微软雅黑" pitchFamily="34" charset="-122"/>
            </a:endParaRPr>
          </a:p>
        </p:txBody>
      </p:sp>
      <p:sp>
        <p:nvSpPr>
          <p:cNvPr id="222" name="矩形 221"/>
          <p:cNvSpPr/>
          <p:nvPr/>
        </p:nvSpPr>
        <p:spPr>
          <a:xfrm>
            <a:off x="5595258" y="266837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1</a:t>
            </a:r>
            <a:endParaRPr lang="zh-CN" altLang="en-US" sz="1100" b="1" dirty="0">
              <a:latin typeface="微软雅黑" pitchFamily="34" charset="-122"/>
              <a:ea typeface="微软雅黑" pitchFamily="34" charset="-122"/>
            </a:endParaRPr>
          </a:p>
        </p:txBody>
      </p:sp>
      <p:sp>
        <p:nvSpPr>
          <p:cNvPr id="223" name="矩形 222"/>
          <p:cNvSpPr/>
          <p:nvPr/>
        </p:nvSpPr>
        <p:spPr>
          <a:xfrm>
            <a:off x="2140325" y="26478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5</a:t>
            </a:r>
            <a:endParaRPr lang="zh-CN" altLang="en-US" sz="1100" b="1" dirty="0">
              <a:latin typeface="微软雅黑" pitchFamily="34" charset="-122"/>
              <a:ea typeface="微软雅黑" pitchFamily="34" charset="-122"/>
            </a:endParaRPr>
          </a:p>
        </p:txBody>
      </p:sp>
    </p:spTree>
    <p:extLst>
      <p:ext uri="{BB962C8B-B14F-4D97-AF65-F5344CB8AC3E}">
        <p14:creationId xmlns:p14="http://schemas.microsoft.com/office/powerpoint/2010/main" val="240113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80"/>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18"/>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137"/>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219"/>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220"/>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221"/>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35" presetClass="emph" presetSubtype="0" repeatCount="3000" fill="hold" grpId="0" nodeType="clickEffect">
                                  <p:stCondLst>
                                    <p:cond delay="0"/>
                                  </p:stCondLst>
                                  <p:childTnLst>
                                    <p:anim calcmode="discrete" valueType="str">
                                      <p:cBhvr>
                                        <p:cTn id="30" dur="1000" fill="hold"/>
                                        <p:tgtEl>
                                          <p:spTgt spid="222"/>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repeatCount="3000" fill="hold" grpId="0" nodeType="clickEffect">
                                  <p:stCondLst>
                                    <p:cond delay="0"/>
                                  </p:stCondLst>
                                  <p:childTnLst>
                                    <p:anim calcmode="discrete" valueType="str">
                                      <p:cBhvr>
                                        <p:cTn id="34" dur="1000" fill="hold"/>
                                        <p:tgtEl>
                                          <p:spTgt spid="22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p:bldP spid="180" grpId="0"/>
      <p:bldP spid="218" grpId="0"/>
      <p:bldP spid="219" grpId="0"/>
      <p:bldP spid="220" grpId="0"/>
      <p:bldP spid="221" grpId="0"/>
      <p:bldP spid="222" grpId="0"/>
      <p:bldP spid="22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3A94-99E0-5B3E-DE7D-47187636A9D3}"/>
            </a:ext>
          </a:extLst>
        </p:cNvPr>
        <p:cNvGrpSpPr/>
        <p:nvPr/>
      </p:nvGrpSpPr>
      <p:grpSpPr>
        <a:xfrm>
          <a:off x="0" y="0"/>
          <a:ext cx="0" cy="0"/>
          <a:chOff x="0" y="0"/>
          <a:chExt cx="0" cy="0"/>
        </a:xfrm>
      </p:grpSpPr>
      <p:sp>
        <p:nvSpPr>
          <p:cNvPr id="49" name="圆角矩形 48">
            <a:extLst>
              <a:ext uri="{FF2B5EF4-FFF2-40B4-BE49-F238E27FC236}">
                <a16:creationId xmlns:a16="http://schemas.microsoft.com/office/drawing/2014/main" id="{5884401D-F734-718D-F39A-750D606EE21C}"/>
              </a:ext>
            </a:extLst>
          </p:cNvPr>
          <p:cNvSpPr/>
          <p:nvPr/>
        </p:nvSpPr>
        <p:spPr>
          <a:xfrm>
            <a:off x="502919" y="1076329"/>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a:extLst>
              <a:ext uri="{FF2B5EF4-FFF2-40B4-BE49-F238E27FC236}">
                <a16:creationId xmlns:a16="http://schemas.microsoft.com/office/drawing/2014/main" id="{200FF7FE-EE79-CB85-56F0-0575BD51EC3A}"/>
              </a:ext>
            </a:extLst>
          </p:cNvPr>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a:extLst>
              <a:ext uri="{FF2B5EF4-FFF2-40B4-BE49-F238E27FC236}">
                <a16:creationId xmlns:a16="http://schemas.microsoft.com/office/drawing/2014/main" id="{32B531D0-DB95-A6BB-0B6D-2A3C1CC2D2EC}"/>
              </a:ext>
            </a:extLst>
          </p:cNvPr>
          <p:cNvSpPr>
            <a:spLocks noChangeArrowheads="1"/>
          </p:cNvSpPr>
          <p:nvPr/>
        </p:nvSpPr>
        <p:spPr bwMode="auto">
          <a:xfrm>
            <a:off x="3064103" y="628904"/>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冗余链路导致的</a:t>
            </a:r>
            <a:r>
              <a:rPr lang="zh-CN" altLang="en-US" sz="2000" b="1" dirty="0">
                <a:solidFill>
                  <a:srgbClr val="FFFF00"/>
                </a:solidFill>
                <a:latin typeface="微软雅黑" pitchFamily="34" charset="-122"/>
                <a:ea typeface="微软雅黑" pitchFamily="34" charset="-122"/>
              </a:rPr>
              <a:t>环路问题</a:t>
            </a:r>
            <a:endParaRPr lang="fr-FR" altLang="zh-CN" sz="2000" b="1" dirty="0">
              <a:solidFill>
                <a:srgbClr val="FFFF00"/>
              </a:solidFill>
              <a:latin typeface="微软雅黑" pitchFamily="34" charset="-122"/>
              <a:ea typeface="微软雅黑" pitchFamily="34" charset="-122"/>
            </a:endParaRPr>
          </a:p>
        </p:txBody>
      </p:sp>
      <p:cxnSp>
        <p:nvCxnSpPr>
          <p:cNvPr id="9" name="直接连接符 8">
            <a:extLst>
              <a:ext uri="{FF2B5EF4-FFF2-40B4-BE49-F238E27FC236}">
                <a16:creationId xmlns:a16="http://schemas.microsoft.com/office/drawing/2014/main" id="{E8D1C329-4FA2-1B9C-91C3-0441A264456E}"/>
              </a:ext>
            </a:extLst>
          </p:cNvPr>
          <p:cNvCxnSpPr/>
          <p:nvPr/>
        </p:nvCxnSpPr>
        <p:spPr>
          <a:xfrm>
            <a:off x="3704586" y="1643658"/>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AD7124A-64BE-BB11-5CB6-B9CFE428B9E3}"/>
              </a:ext>
            </a:extLst>
          </p:cNvPr>
          <p:cNvSpPr/>
          <p:nvPr/>
        </p:nvSpPr>
        <p:spPr>
          <a:xfrm>
            <a:off x="1582778" y="3643867"/>
            <a:ext cx="6003334" cy="679801"/>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a:extLst>
              <a:ext uri="{FF2B5EF4-FFF2-40B4-BE49-F238E27FC236}">
                <a16:creationId xmlns:a16="http://schemas.microsoft.com/office/drawing/2014/main" id="{6861BA08-56AF-2829-80B5-A53A84FCF625}"/>
              </a:ext>
            </a:extLst>
          </p:cNvPr>
          <p:cNvCxnSpPr/>
          <p:nvPr/>
        </p:nvCxnSpPr>
        <p:spPr>
          <a:xfrm>
            <a:off x="3704586" y="3326185"/>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a:extLst>
              <a:ext uri="{FF2B5EF4-FFF2-40B4-BE49-F238E27FC236}">
                <a16:creationId xmlns:a16="http://schemas.microsoft.com/office/drawing/2014/main" id="{8BEAF44E-144D-D831-356A-262218FBF0F2}"/>
              </a:ext>
            </a:extLst>
          </p:cNvPr>
          <p:cNvGrpSpPr/>
          <p:nvPr/>
        </p:nvGrpSpPr>
        <p:grpSpPr>
          <a:xfrm>
            <a:off x="5306576" y="1162102"/>
            <a:ext cx="3159985" cy="2366653"/>
            <a:chOff x="5467217" y="1680542"/>
            <a:chExt cx="3159985" cy="2366653"/>
          </a:xfrm>
        </p:grpSpPr>
        <p:sp>
          <p:nvSpPr>
            <p:cNvPr id="51" name="矩形 50">
              <a:extLst>
                <a:ext uri="{FF2B5EF4-FFF2-40B4-BE49-F238E27FC236}">
                  <a16:creationId xmlns:a16="http://schemas.microsoft.com/office/drawing/2014/main" id="{0C8A2E68-AABB-BC0D-B355-7BFCE0022182}"/>
                </a:ext>
              </a:extLst>
            </p:cNvPr>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a:extLst>
                <a:ext uri="{FF2B5EF4-FFF2-40B4-BE49-F238E27FC236}">
                  <a16:creationId xmlns:a16="http://schemas.microsoft.com/office/drawing/2014/main" id="{8741EBD2-D066-07AE-F8B7-DC84B5DC54AF}"/>
                </a:ext>
              </a:extLst>
            </p:cNvPr>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03F7B41-0815-AD37-1C40-A44263433C18}"/>
                </a:ext>
              </a:extLst>
            </p:cNvPr>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0E40D821-5DD4-B870-6F52-CC643D2BC3F0}"/>
                </a:ext>
              </a:extLst>
            </p:cNvPr>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3AC4797-E474-884C-BEB8-8473718A3E18}"/>
                </a:ext>
              </a:extLst>
            </p:cNvPr>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a:extLst>
                <a:ext uri="{FF2B5EF4-FFF2-40B4-BE49-F238E27FC236}">
                  <a16:creationId xmlns:a16="http://schemas.microsoft.com/office/drawing/2014/main" id="{4629B2C5-CDA3-817B-9235-793E8B8E34E1}"/>
                </a:ext>
              </a:extLst>
            </p:cNvPr>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a:extLst>
                <a:ext uri="{FF2B5EF4-FFF2-40B4-BE49-F238E27FC236}">
                  <a16:creationId xmlns:a16="http://schemas.microsoft.com/office/drawing/2014/main" id="{F7021FC3-23EB-599F-EAC1-C0542A82A574}"/>
                </a:ext>
              </a:extLst>
            </p:cNvPr>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a:extLst>
                <a:ext uri="{FF2B5EF4-FFF2-40B4-BE49-F238E27FC236}">
                  <a16:creationId xmlns:a16="http://schemas.microsoft.com/office/drawing/2014/main" id="{BF4B051D-74E5-86CE-EDA5-7F98DAC7F9F5}"/>
                </a:ext>
              </a:extLst>
            </p:cNvPr>
            <p:cNvGrpSpPr>
              <a:grpSpLocks/>
            </p:cNvGrpSpPr>
            <p:nvPr/>
          </p:nvGrpSpPr>
          <p:grpSpPr bwMode="auto">
            <a:xfrm>
              <a:off x="7460289" y="2022721"/>
              <a:ext cx="277321" cy="274434"/>
              <a:chOff x="2255844" y="1268760"/>
              <a:chExt cx="360915" cy="356296"/>
            </a:xfrm>
          </p:grpSpPr>
          <p:sp>
            <p:nvSpPr>
              <p:cNvPr id="127" name="矩形 126">
                <a:extLst>
                  <a:ext uri="{FF2B5EF4-FFF2-40B4-BE49-F238E27FC236}">
                    <a16:creationId xmlns:a16="http://schemas.microsoft.com/office/drawing/2014/main" id="{558B6160-0E56-2FFC-E407-32D6F603D1BA}"/>
                  </a:ext>
                </a:extLst>
              </p:cNvPr>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a:extLst>
                  <a:ext uri="{FF2B5EF4-FFF2-40B4-BE49-F238E27FC236}">
                    <a16:creationId xmlns:a16="http://schemas.microsoft.com/office/drawing/2014/main" id="{D13F25C1-8FC3-4528-7C7F-85E4A80AF8D4}"/>
                  </a:ext>
                </a:extLst>
              </p:cNvPr>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a:extLst>
                <a:ext uri="{FF2B5EF4-FFF2-40B4-BE49-F238E27FC236}">
                  <a16:creationId xmlns:a16="http://schemas.microsoft.com/office/drawing/2014/main" id="{DE87A5C4-AA24-F7CE-84DC-830F85DCE7C8}"/>
                </a:ext>
              </a:extLst>
            </p:cNvPr>
            <p:cNvGrpSpPr>
              <a:grpSpLocks/>
            </p:cNvGrpSpPr>
            <p:nvPr/>
          </p:nvGrpSpPr>
          <p:grpSpPr bwMode="auto">
            <a:xfrm>
              <a:off x="7469432" y="2586633"/>
              <a:ext cx="277321" cy="274434"/>
              <a:chOff x="2267744" y="1280668"/>
              <a:chExt cx="360915" cy="357388"/>
            </a:xfrm>
          </p:grpSpPr>
          <p:sp>
            <p:nvSpPr>
              <p:cNvPr id="125" name="矩形 124">
                <a:extLst>
                  <a:ext uri="{FF2B5EF4-FFF2-40B4-BE49-F238E27FC236}">
                    <a16:creationId xmlns:a16="http://schemas.microsoft.com/office/drawing/2014/main" id="{3D18C315-CCA8-B77D-BB54-AFE04A907455}"/>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a:extLst>
                  <a:ext uri="{FF2B5EF4-FFF2-40B4-BE49-F238E27FC236}">
                    <a16:creationId xmlns:a16="http://schemas.microsoft.com/office/drawing/2014/main" id="{FC47CE41-D41E-6C88-B97A-7FEED6ECB8DF}"/>
                  </a:ext>
                </a:extLst>
              </p:cNvPr>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a:extLst>
                <a:ext uri="{FF2B5EF4-FFF2-40B4-BE49-F238E27FC236}">
                  <a16:creationId xmlns:a16="http://schemas.microsoft.com/office/drawing/2014/main" id="{D1D34378-8B81-F4D3-4EA4-C5CED5B9A2E4}"/>
                </a:ext>
              </a:extLst>
            </p:cNvPr>
            <p:cNvGrpSpPr>
              <a:grpSpLocks/>
            </p:cNvGrpSpPr>
            <p:nvPr/>
          </p:nvGrpSpPr>
          <p:grpSpPr bwMode="auto">
            <a:xfrm>
              <a:off x="7440312" y="3664535"/>
              <a:ext cx="277321" cy="274434"/>
              <a:chOff x="2244074" y="1280668"/>
              <a:chExt cx="358931" cy="357388"/>
            </a:xfrm>
          </p:grpSpPr>
          <p:sp>
            <p:nvSpPr>
              <p:cNvPr id="123" name="矩形 122">
                <a:extLst>
                  <a:ext uri="{FF2B5EF4-FFF2-40B4-BE49-F238E27FC236}">
                    <a16:creationId xmlns:a16="http://schemas.microsoft.com/office/drawing/2014/main" id="{047B252F-5191-9C05-00F1-0935535D2BDF}"/>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a:extLst>
                  <a:ext uri="{FF2B5EF4-FFF2-40B4-BE49-F238E27FC236}">
                    <a16:creationId xmlns:a16="http://schemas.microsoft.com/office/drawing/2014/main" id="{0728FB00-598D-1388-6205-1EE13EBA2F42}"/>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a:extLst>
                <a:ext uri="{FF2B5EF4-FFF2-40B4-BE49-F238E27FC236}">
                  <a16:creationId xmlns:a16="http://schemas.microsoft.com/office/drawing/2014/main" id="{866356C3-0179-EA86-9BC5-3E92C9D05385}"/>
                </a:ext>
              </a:extLst>
            </p:cNvPr>
            <p:cNvGrpSpPr>
              <a:grpSpLocks/>
            </p:cNvGrpSpPr>
            <p:nvPr/>
          </p:nvGrpSpPr>
          <p:grpSpPr bwMode="auto">
            <a:xfrm>
              <a:off x="7449456" y="3100624"/>
              <a:ext cx="277321" cy="274434"/>
              <a:chOff x="2255909" y="1268760"/>
              <a:chExt cx="358931" cy="355702"/>
            </a:xfrm>
          </p:grpSpPr>
          <p:sp>
            <p:nvSpPr>
              <p:cNvPr id="121" name="矩形 120">
                <a:extLst>
                  <a:ext uri="{FF2B5EF4-FFF2-40B4-BE49-F238E27FC236}">
                    <a16:creationId xmlns:a16="http://schemas.microsoft.com/office/drawing/2014/main" id="{46277902-AF80-F77A-D06D-0E3620386FE2}"/>
                  </a:ext>
                </a:extLst>
              </p:cNvPr>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a:extLst>
                  <a:ext uri="{FF2B5EF4-FFF2-40B4-BE49-F238E27FC236}">
                    <a16:creationId xmlns:a16="http://schemas.microsoft.com/office/drawing/2014/main" id="{BE256ED9-3154-C98C-ACD4-D814EA1D3BE8}"/>
                  </a:ext>
                </a:extLst>
              </p:cNvPr>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a:extLst>
                <a:ext uri="{FF2B5EF4-FFF2-40B4-BE49-F238E27FC236}">
                  <a16:creationId xmlns:a16="http://schemas.microsoft.com/office/drawing/2014/main" id="{67772D4C-8EE3-382C-83E1-EBF58C2E2F8D}"/>
                </a:ext>
              </a:extLst>
            </p:cNvPr>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a:extLst>
                <a:ext uri="{FF2B5EF4-FFF2-40B4-BE49-F238E27FC236}">
                  <a16:creationId xmlns:a16="http://schemas.microsoft.com/office/drawing/2014/main" id="{7748DA37-36E5-5111-D0FE-6F781C0D89DA}"/>
                </a:ext>
              </a:extLst>
            </p:cNvPr>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a:extLst>
                <a:ext uri="{FF2B5EF4-FFF2-40B4-BE49-F238E27FC236}">
                  <a16:creationId xmlns:a16="http://schemas.microsoft.com/office/drawing/2014/main" id="{568D85C8-3678-2AE3-6A9F-6A7EF91A5D19}"/>
                </a:ext>
              </a:extLst>
            </p:cNvPr>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a:extLst>
                <a:ext uri="{FF2B5EF4-FFF2-40B4-BE49-F238E27FC236}">
                  <a16:creationId xmlns:a16="http://schemas.microsoft.com/office/drawing/2014/main" id="{CFFF78DC-881D-FDB3-AB03-25F0AF997D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a:extLst>
                <a:ext uri="{FF2B5EF4-FFF2-40B4-BE49-F238E27FC236}">
                  <a16:creationId xmlns:a16="http://schemas.microsoft.com/office/drawing/2014/main" id="{66266A3D-468F-D73B-6EC2-1627B968FF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a:extLst>
                <a:ext uri="{FF2B5EF4-FFF2-40B4-BE49-F238E27FC236}">
                  <a16:creationId xmlns:a16="http://schemas.microsoft.com/office/drawing/2014/main" id="{2DE3FA0B-43BC-6FB9-32F4-8DDD857B4D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a:extLst>
                <a:ext uri="{FF2B5EF4-FFF2-40B4-BE49-F238E27FC236}">
                  <a16:creationId xmlns:a16="http://schemas.microsoft.com/office/drawing/2014/main" id="{F8AD5B22-C599-A4CB-7E82-D0E54CB4A0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a:extLst>
                <a:ext uri="{FF2B5EF4-FFF2-40B4-BE49-F238E27FC236}">
                  <a16:creationId xmlns:a16="http://schemas.microsoft.com/office/drawing/2014/main" id="{F64045D5-015B-4F9C-1187-7C5046853C32}"/>
                </a:ext>
              </a:extLst>
            </p:cNvPr>
            <p:cNvGrpSpPr>
              <a:grpSpLocks/>
            </p:cNvGrpSpPr>
            <p:nvPr/>
          </p:nvGrpSpPr>
          <p:grpSpPr bwMode="auto">
            <a:xfrm>
              <a:off x="5467219" y="2034606"/>
              <a:ext cx="277321" cy="274434"/>
              <a:chOff x="2244074" y="1280668"/>
              <a:chExt cx="358931" cy="357388"/>
            </a:xfrm>
          </p:grpSpPr>
          <p:sp>
            <p:nvSpPr>
              <p:cNvPr id="110" name="矩形 109">
                <a:extLst>
                  <a:ext uri="{FF2B5EF4-FFF2-40B4-BE49-F238E27FC236}">
                    <a16:creationId xmlns:a16="http://schemas.microsoft.com/office/drawing/2014/main" id="{369BD471-AF18-C394-42B4-2862E53DD1C5}"/>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a:extLst>
                  <a:ext uri="{FF2B5EF4-FFF2-40B4-BE49-F238E27FC236}">
                    <a16:creationId xmlns:a16="http://schemas.microsoft.com/office/drawing/2014/main" id="{95DBEECB-38F9-6CE2-AC17-96F7D075AFDC}"/>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a:extLst>
                <a:ext uri="{FF2B5EF4-FFF2-40B4-BE49-F238E27FC236}">
                  <a16:creationId xmlns:a16="http://schemas.microsoft.com/office/drawing/2014/main" id="{02E7DB50-8F32-381E-A003-C850FC2FF17C}"/>
                </a:ext>
              </a:extLst>
            </p:cNvPr>
            <p:cNvGrpSpPr>
              <a:grpSpLocks/>
            </p:cNvGrpSpPr>
            <p:nvPr/>
          </p:nvGrpSpPr>
          <p:grpSpPr bwMode="auto">
            <a:xfrm>
              <a:off x="5467217" y="3696386"/>
              <a:ext cx="277321" cy="274434"/>
              <a:chOff x="2244078" y="1280673"/>
              <a:chExt cx="358932" cy="357390"/>
            </a:xfrm>
          </p:grpSpPr>
          <p:sp>
            <p:nvSpPr>
              <p:cNvPr id="108" name="矩形 107">
                <a:extLst>
                  <a:ext uri="{FF2B5EF4-FFF2-40B4-BE49-F238E27FC236}">
                    <a16:creationId xmlns:a16="http://schemas.microsoft.com/office/drawing/2014/main" id="{3EEF18F1-B7AD-6BAD-BD62-5A72AAB8D088}"/>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a:extLst>
                  <a:ext uri="{FF2B5EF4-FFF2-40B4-BE49-F238E27FC236}">
                    <a16:creationId xmlns:a16="http://schemas.microsoft.com/office/drawing/2014/main" id="{C3100BB7-A68E-2A1B-933C-3F42CC1C93C2}"/>
                  </a:ext>
                </a:extLst>
              </p:cNvPr>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a:extLst>
              <a:ext uri="{FF2B5EF4-FFF2-40B4-BE49-F238E27FC236}">
                <a16:creationId xmlns:a16="http://schemas.microsoft.com/office/drawing/2014/main" id="{D8368F52-EA26-A690-D3A2-99E0DFB86E07}"/>
              </a:ext>
            </a:extLst>
          </p:cNvPr>
          <p:cNvGrpSpPr/>
          <p:nvPr/>
        </p:nvGrpSpPr>
        <p:grpSpPr>
          <a:xfrm>
            <a:off x="683505" y="1162102"/>
            <a:ext cx="3168843" cy="2366653"/>
            <a:chOff x="893574" y="1680542"/>
            <a:chExt cx="3168843" cy="2366653"/>
          </a:xfrm>
        </p:grpSpPr>
        <p:sp>
          <p:nvSpPr>
            <p:cNvPr id="55" name="矩形 54">
              <a:extLst>
                <a:ext uri="{FF2B5EF4-FFF2-40B4-BE49-F238E27FC236}">
                  <a16:creationId xmlns:a16="http://schemas.microsoft.com/office/drawing/2014/main" id="{719988C2-E0C9-00CA-2611-3C160E17F1A0}"/>
                </a:ext>
              </a:extLst>
            </p:cNvPr>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a:extLst>
                <a:ext uri="{FF2B5EF4-FFF2-40B4-BE49-F238E27FC236}">
                  <a16:creationId xmlns:a16="http://schemas.microsoft.com/office/drawing/2014/main" id="{41F326A5-2116-C98F-BC00-F1639DEA6984}"/>
                </a:ext>
              </a:extLst>
            </p:cNvPr>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986523C-C234-6083-FA21-BDCF7FA49E9E}"/>
                </a:ext>
              </a:extLst>
            </p:cNvPr>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B07D6711-F0A1-A65D-5F34-561FBBF4E283}"/>
                </a:ext>
              </a:extLst>
            </p:cNvPr>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A67EAA65-9B4F-19A5-CF67-0504BF9B7CD7}"/>
                </a:ext>
              </a:extLst>
            </p:cNvPr>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a:extLst>
                <a:ext uri="{FF2B5EF4-FFF2-40B4-BE49-F238E27FC236}">
                  <a16:creationId xmlns:a16="http://schemas.microsoft.com/office/drawing/2014/main" id="{8972ABBA-EBA5-E1DE-B5B2-3A49D846129C}"/>
                </a:ext>
              </a:extLst>
            </p:cNvPr>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a:extLst>
                <a:ext uri="{FF2B5EF4-FFF2-40B4-BE49-F238E27FC236}">
                  <a16:creationId xmlns:a16="http://schemas.microsoft.com/office/drawing/2014/main" id="{A39573E2-3FC0-5271-9AF4-63111DCF028F}"/>
                </a:ext>
              </a:extLst>
            </p:cNvPr>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a:extLst>
                <a:ext uri="{FF2B5EF4-FFF2-40B4-BE49-F238E27FC236}">
                  <a16:creationId xmlns:a16="http://schemas.microsoft.com/office/drawing/2014/main" id="{CF3DFD47-2546-8D4C-712E-307C1E765B5B}"/>
                </a:ext>
              </a:extLst>
            </p:cNvPr>
            <p:cNvGrpSpPr>
              <a:grpSpLocks/>
            </p:cNvGrpSpPr>
            <p:nvPr/>
          </p:nvGrpSpPr>
          <p:grpSpPr bwMode="auto">
            <a:xfrm>
              <a:off x="1812824" y="2022721"/>
              <a:ext cx="277321" cy="274434"/>
              <a:chOff x="2255844" y="1268760"/>
              <a:chExt cx="360915" cy="356296"/>
            </a:xfrm>
          </p:grpSpPr>
          <p:sp>
            <p:nvSpPr>
              <p:cNvPr id="63" name="矩形 62">
                <a:extLst>
                  <a:ext uri="{FF2B5EF4-FFF2-40B4-BE49-F238E27FC236}">
                    <a16:creationId xmlns:a16="http://schemas.microsoft.com/office/drawing/2014/main" id="{47589736-EDB7-4D52-7F74-49D0080C15EC}"/>
                  </a:ext>
                </a:extLst>
              </p:cNvPr>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a:extLst>
                  <a:ext uri="{FF2B5EF4-FFF2-40B4-BE49-F238E27FC236}">
                    <a16:creationId xmlns:a16="http://schemas.microsoft.com/office/drawing/2014/main" id="{647C9C2B-F8E0-90D8-B4A7-BBB12684E1FD}"/>
                  </a:ext>
                </a:extLst>
              </p:cNvPr>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a:extLst>
                <a:ext uri="{FF2B5EF4-FFF2-40B4-BE49-F238E27FC236}">
                  <a16:creationId xmlns:a16="http://schemas.microsoft.com/office/drawing/2014/main" id="{F725101F-8C0F-C0C2-9642-B87A22310A90}"/>
                </a:ext>
              </a:extLst>
            </p:cNvPr>
            <p:cNvGrpSpPr>
              <a:grpSpLocks/>
            </p:cNvGrpSpPr>
            <p:nvPr/>
          </p:nvGrpSpPr>
          <p:grpSpPr bwMode="auto">
            <a:xfrm>
              <a:off x="1821967" y="2586633"/>
              <a:ext cx="277321" cy="274434"/>
              <a:chOff x="2267744" y="1280668"/>
              <a:chExt cx="360915" cy="357388"/>
            </a:xfrm>
          </p:grpSpPr>
          <p:sp>
            <p:nvSpPr>
              <p:cNvPr id="66" name="矩形 65">
                <a:extLst>
                  <a:ext uri="{FF2B5EF4-FFF2-40B4-BE49-F238E27FC236}">
                    <a16:creationId xmlns:a16="http://schemas.microsoft.com/office/drawing/2014/main" id="{A16F18E3-1EED-6A78-9D2F-96E2B7B703C3}"/>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a:extLst>
                  <a:ext uri="{FF2B5EF4-FFF2-40B4-BE49-F238E27FC236}">
                    <a16:creationId xmlns:a16="http://schemas.microsoft.com/office/drawing/2014/main" id="{B8CCD382-7A6C-467F-9C26-25681AEC7A63}"/>
                  </a:ext>
                </a:extLst>
              </p:cNvPr>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a:extLst>
                <a:ext uri="{FF2B5EF4-FFF2-40B4-BE49-F238E27FC236}">
                  <a16:creationId xmlns:a16="http://schemas.microsoft.com/office/drawing/2014/main" id="{7F3FF880-DEAD-4BFB-1E7D-EC1C886EFB5D}"/>
                </a:ext>
              </a:extLst>
            </p:cNvPr>
            <p:cNvGrpSpPr>
              <a:grpSpLocks/>
            </p:cNvGrpSpPr>
            <p:nvPr/>
          </p:nvGrpSpPr>
          <p:grpSpPr bwMode="auto">
            <a:xfrm>
              <a:off x="1792847" y="3664535"/>
              <a:ext cx="277321" cy="274434"/>
              <a:chOff x="2244074" y="1280668"/>
              <a:chExt cx="358931" cy="357388"/>
            </a:xfrm>
          </p:grpSpPr>
          <p:sp>
            <p:nvSpPr>
              <p:cNvPr id="69" name="矩形 68">
                <a:extLst>
                  <a:ext uri="{FF2B5EF4-FFF2-40B4-BE49-F238E27FC236}">
                    <a16:creationId xmlns:a16="http://schemas.microsoft.com/office/drawing/2014/main" id="{81AB21D6-12CE-82B5-3EAB-B3773AF6257C}"/>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a:extLst>
                  <a:ext uri="{FF2B5EF4-FFF2-40B4-BE49-F238E27FC236}">
                    <a16:creationId xmlns:a16="http://schemas.microsoft.com/office/drawing/2014/main" id="{3E3C7494-E263-5BC6-1BA7-8AE2887A2B4B}"/>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a:extLst>
                <a:ext uri="{FF2B5EF4-FFF2-40B4-BE49-F238E27FC236}">
                  <a16:creationId xmlns:a16="http://schemas.microsoft.com/office/drawing/2014/main" id="{83501CB1-2659-3B17-26A7-3DA5C9F80E05}"/>
                </a:ext>
              </a:extLst>
            </p:cNvPr>
            <p:cNvGrpSpPr>
              <a:grpSpLocks/>
            </p:cNvGrpSpPr>
            <p:nvPr/>
          </p:nvGrpSpPr>
          <p:grpSpPr bwMode="auto">
            <a:xfrm>
              <a:off x="1801991" y="3100624"/>
              <a:ext cx="277321" cy="274434"/>
              <a:chOff x="2255909" y="1268760"/>
              <a:chExt cx="358931" cy="355702"/>
            </a:xfrm>
          </p:grpSpPr>
          <p:sp>
            <p:nvSpPr>
              <p:cNvPr id="72" name="矩形 71">
                <a:extLst>
                  <a:ext uri="{FF2B5EF4-FFF2-40B4-BE49-F238E27FC236}">
                    <a16:creationId xmlns:a16="http://schemas.microsoft.com/office/drawing/2014/main" id="{90CA7672-6C26-2FE8-1C53-56373AFB8737}"/>
                  </a:ext>
                </a:extLst>
              </p:cNvPr>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a:extLst>
                  <a:ext uri="{FF2B5EF4-FFF2-40B4-BE49-F238E27FC236}">
                    <a16:creationId xmlns:a16="http://schemas.microsoft.com/office/drawing/2014/main" id="{3B033D31-C4B6-D634-1A8F-E69C61B5DF61}"/>
                  </a:ext>
                </a:extLst>
              </p:cNvPr>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a:extLst>
                <a:ext uri="{FF2B5EF4-FFF2-40B4-BE49-F238E27FC236}">
                  <a16:creationId xmlns:a16="http://schemas.microsoft.com/office/drawing/2014/main" id="{489599EF-C432-4DEB-35F1-1EA678579509}"/>
                </a:ext>
              </a:extLst>
            </p:cNvPr>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a:extLst>
                <a:ext uri="{FF2B5EF4-FFF2-40B4-BE49-F238E27FC236}">
                  <a16:creationId xmlns:a16="http://schemas.microsoft.com/office/drawing/2014/main" id="{E221A61D-C799-C6D2-CF12-5C9315C19942}"/>
                </a:ext>
              </a:extLst>
            </p:cNvPr>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a:extLst>
                <a:ext uri="{FF2B5EF4-FFF2-40B4-BE49-F238E27FC236}">
                  <a16:creationId xmlns:a16="http://schemas.microsoft.com/office/drawing/2014/main" id="{312A66B0-68A1-DC53-E54F-CB67F0991ABE}"/>
                </a:ext>
              </a:extLst>
            </p:cNvPr>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a:extLst>
                <a:ext uri="{FF2B5EF4-FFF2-40B4-BE49-F238E27FC236}">
                  <a16:creationId xmlns:a16="http://schemas.microsoft.com/office/drawing/2014/main" id="{62E22EF7-75F5-E6D4-5F04-047B5CC885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a:extLst>
                <a:ext uri="{FF2B5EF4-FFF2-40B4-BE49-F238E27FC236}">
                  <a16:creationId xmlns:a16="http://schemas.microsoft.com/office/drawing/2014/main" id="{BCA22F6C-D8B0-4293-2861-2376EC7BA6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a:extLst>
                <a:ext uri="{FF2B5EF4-FFF2-40B4-BE49-F238E27FC236}">
                  <a16:creationId xmlns:a16="http://schemas.microsoft.com/office/drawing/2014/main" id="{CA2B1931-023E-3296-D506-83AC18B949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a:extLst>
                <a:ext uri="{FF2B5EF4-FFF2-40B4-BE49-F238E27FC236}">
                  <a16:creationId xmlns:a16="http://schemas.microsoft.com/office/drawing/2014/main" id="{A1F55EBE-2D59-6B2F-BF44-B9F11DC7BA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a:extLst>
                <a:ext uri="{FF2B5EF4-FFF2-40B4-BE49-F238E27FC236}">
                  <a16:creationId xmlns:a16="http://schemas.microsoft.com/office/drawing/2014/main" id="{BE8D3F07-215E-A43C-5333-A0E62F5FE02C}"/>
                </a:ext>
              </a:extLst>
            </p:cNvPr>
            <p:cNvGrpSpPr>
              <a:grpSpLocks/>
            </p:cNvGrpSpPr>
            <p:nvPr/>
          </p:nvGrpSpPr>
          <p:grpSpPr bwMode="auto">
            <a:xfrm>
              <a:off x="3785096" y="2034606"/>
              <a:ext cx="277321" cy="274434"/>
              <a:chOff x="2244074" y="1280668"/>
              <a:chExt cx="358931" cy="357388"/>
            </a:xfrm>
          </p:grpSpPr>
          <p:sp>
            <p:nvSpPr>
              <p:cNvPr id="43" name="矩形 42">
                <a:extLst>
                  <a:ext uri="{FF2B5EF4-FFF2-40B4-BE49-F238E27FC236}">
                    <a16:creationId xmlns:a16="http://schemas.microsoft.com/office/drawing/2014/main" id="{5C1232DB-FE5A-6520-D010-ACB760CDCC2C}"/>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a:extLst>
                  <a:ext uri="{FF2B5EF4-FFF2-40B4-BE49-F238E27FC236}">
                    <a16:creationId xmlns:a16="http://schemas.microsoft.com/office/drawing/2014/main" id="{FBCF8B67-F0D7-AD30-CB36-27FE1C2F54D3}"/>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a:extLst>
                <a:ext uri="{FF2B5EF4-FFF2-40B4-BE49-F238E27FC236}">
                  <a16:creationId xmlns:a16="http://schemas.microsoft.com/office/drawing/2014/main" id="{0B657D1C-ED68-7023-B34B-971102F4CD14}"/>
                </a:ext>
              </a:extLst>
            </p:cNvPr>
            <p:cNvGrpSpPr>
              <a:grpSpLocks/>
            </p:cNvGrpSpPr>
            <p:nvPr/>
          </p:nvGrpSpPr>
          <p:grpSpPr bwMode="auto">
            <a:xfrm>
              <a:off x="3785094" y="3696386"/>
              <a:ext cx="277321" cy="274434"/>
              <a:chOff x="2244078" y="1280673"/>
              <a:chExt cx="358932" cy="357390"/>
            </a:xfrm>
          </p:grpSpPr>
          <p:sp>
            <p:nvSpPr>
              <p:cNvPr id="47" name="矩形 46">
                <a:extLst>
                  <a:ext uri="{FF2B5EF4-FFF2-40B4-BE49-F238E27FC236}">
                    <a16:creationId xmlns:a16="http://schemas.microsoft.com/office/drawing/2014/main" id="{BEFDF3B1-00A5-68D8-3572-3737D4C3682C}"/>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a:extLst>
                  <a:ext uri="{FF2B5EF4-FFF2-40B4-BE49-F238E27FC236}">
                    <a16:creationId xmlns:a16="http://schemas.microsoft.com/office/drawing/2014/main" id="{6C2717C0-F40B-E4FA-A784-7C0EB97FF258}"/>
                  </a:ext>
                </a:extLst>
              </p:cNvPr>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a:extLst>
              <a:ext uri="{FF2B5EF4-FFF2-40B4-BE49-F238E27FC236}">
                <a16:creationId xmlns:a16="http://schemas.microsoft.com/office/drawing/2014/main" id="{1BF55EB9-B4B6-4870-5661-9015A0A5F974}"/>
              </a:ext>
            </a:extLst>
          </p:cNvPr>
          <p:cNvGrpSpPr/>
          <p:nvPr/>
        </p:nvGrpSpPr>
        <p:grpSpPr>
          <a:xfrm>
            <a:off x="2500053" y="1522322"/>
            <a:ext cx="934439" cy="269169"/>
            <a:chOff x="3983552" y="1463022"/>
            <a:chExt cx="934439" cy="269169"/>
          </a:xfrm>
        </p:grpSpPr>
        <p:sp>
          <p:nvSpPr>
            <p:cNvPr id="5" name="矩形 4">
              <a:extLst>
                <a:ext uri="{FF2B5EF4-FFF2-40B4-BE49-F238E27FC236}">
                  <a16:creationId xmlns:a16="http://schemas.microsoft.com/office/drawing/2014/main" id="{6E98F0F8-971A-0F82-4E9A-09D6F41CBB62}"/>
                </a:ext>
              </a:extLst>
            </p:cNvPr>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a:extLst>
                <a:ext uri="{FF2B5EF4-FFF2-40B4-BE49-F238E27FC236}">
                  <a16:creationId xmlns:a16="http://schemas.microsoft.com/office/drawing/2014/main" id="{3757CD00-FB32-3D67-694F-7FC17AE1067D}"/>
                </a:ext>
              </a:extLst>
            </p:cNvPr>
            <p:cNvSpPr/>
            <p:nvPr/>
          </p:nvSpPr>
          <p:spPr>
            <a:xfrm>
              <a:off x="4425692" y="1463022"/>
              <a:ext cx="492299"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dirty="0"/>
                <a:t>A-&gt;B</a:t>
              </a:r>
              <a:endParaRPr lang="zh-CN" altLang="en-US" sz="1400" dirty="0"/>
            </a:p>
          </p:txBody>
        </p:sp>
      </p:grpSp>
    </p:spTree>
    <p:extLst>
      <p:ext uri="{BB962C8B-B14F-4D97-AF65-F5344CB8AC3E}">
        <p14:creationId xmlns:p14="http://schemas.microsoft.com/office/powerpoint/2010/main" val="162008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8.33333E-7 -3.58025E-6 L 0.35 -3.58025E-6 " pathEditMode="relative" rAng="0" ptsTypes="AA">
                                      <p:cBhvr>
                                        <p:cTn id="10" dur="2000" fill="hold"/>
                                        <p:tgtEl>
                                          <p:spTgt spid="8"/>
                                        </p:tgtEl>
                                        <p:attrNameLst>
                                          <p:attrName>ppt_x</p:attrName>
                                          <p:attrName>ppt_y</p:attrName>
                                        </p:attrNameLst>
                                      </p:cBhvr>
                                      <p:rCtr x="17500"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5 -3.58025E-6 L 0.35 0.32253 " pathEditMode="relative" rAng="0" ptsTypes="AA">
                                      <p:cBhvr>
                                        <p:cTn id="14" dur="2000" fill="hold"/>
                                        <p:tgtEl>
                                          <p:spTgt spid="8"/>
                                        </p:tgtEl>
                                        <p:attrNameLst>
                                          <p:attrName>ppt_x</p:attrName>
                                          <p:attrName>ppt_y</p:attrName>
                                        </p:attrNameLst>
                                      </p:cBhvr>
                                      <p:rCtr x="0" y="16111"/>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nodeType="clickEffect">
                                  <p:stCondLst>
                                    <p:cond delay="0"/>
                                  </p:stCondLst>
                                  <p:childTnLst>
                                    <p:animMotion origin="layout" path="M 0.35 0.32253 L -0.00139 0.325 " pathEditMode="relative" rAng="0" ptsTypes="AA">
                                      <p:cBhvr>
                                        <p:cTn id="18" dur="2000" fill="hold"/>
                                        <p:tgtEl>
                                          <p:spTgt spid="8"/>
                                        </p:tgtEl>
                                        <p:attrNameLst>
                                          <p:attrName>ppt_x</p:attrName>
                                          <p:attrName>ppt_y</p:attrName>
                                        </p:attrNameLst>
                                      </p:cBhvr>
                                      <p:rCtr x="-17569" y="123"/>
                                    </p:animMotion>
                                  </p:childTnLst>
                                </p:cTn>
                              </p:par>
                            </p:childTnLst>
                          </p:cTn>
                        </p:par>
                      </p:childTnLst>
                    </p:cTn>
                  </p:par>
                  <p:par>
                    <p:cTn id="19" fill="hold">
                      <p:stCondLst>
                        <p:cond delay="indefinite"/>
                      </p:stCondLst>
                      <p:childTnLst>
                        <p:par>
                          <p:cTn id="20" fill="hold">
                            <p:stCondLst>
                              <p:cond delay="0"/>
                            </p:stCondLst>
                            <p:childTnLst>
                              <p:par>
                                <p:cTn id="21" presetID="64" presetClass="path" presetSubtype="0" accel="50000" decel="50000" fill="hold" nodeType="clickEffect">
                                  <p:stCondLst>
                                    <p:cond delay="0"/>
                                  </p:stCondLst>
                                  <p:childTnLst>
                                    <p:animMotion origin="layout" path="M -0.00139 0.325 L 8.33333E-7 -3.58025E-6 " pathEditMode="relative" rAng="0" ptsTypes="AA">
                                      <p:cBhvr>
                                        <p:cTn id="22" dur="2000" fill="hold"/>
                                        <p:tgtEl>
                                          <p:spTgt spid="8"/>
                                        </p:tgtEl>
                                        <p:attrNameLst>
                                          <p:attrName>ppt_x</p:attrName>
                                          <p:attrName>ppt_y</p:attrName>
                                        </p:attrNameLst>
                                      </p:cBhvr>
                                      <p:rCtr x="69" y="-162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8"/>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p:nvCxnSpPr>
        <p:spPr>
          <a:xfrm>
            <a:off x="3704586" y="164365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6"/>
            <a:ext cx="6003334"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p:cNvCxnSpPr/>
          <p:nvPr/>
        </p:nvCxnSpPr>
        <p:spPr>
          <a:xfrm>
            <a:off x="3704586" y="3326184"/>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1"/>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2101"/>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p:cNvGrpSpPr/>
          <p:nvPr/>
        </p:nvGrpSpPr>
        <p:grpSpPr>
          <a:xfrm>
            <a:off x="2500053" y="1522321"/>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425692" y="1463022"/>
              <a:ext cx="492299"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400" dirty="0"/>
                <a:t>A-&gt;B</a:t>
              </a:r>
              <a:endParaRPr lang="zh-CN" altLang="en-US" dirty="0"/>
            </a:p>
          </p:txBody>
        </p:sp>
      </p:grpSp>
      <p:sp>
        <p:nvSpPr>
          <p:cNvPr id="78"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Rectangle 6"/>
          <p:cNvSpPr>
            <a:spLocks noChangeArrowheads="1"/>
          </p:cNvSpPr>
          <p:nvPr/>
        </p:nvSpPr>
        <p:spPr bwMode="auto">
          <a:xfrm>
            <a:off x="3064100" y="628904"/>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冗余链路导致的</a:t>
            </a:r>
            <a:r>
              <a:rPr lang="zh-CN" altLang="en-US" sz="2000" b="1" dirty="0">
                <a:solidFill>
                  <a:srgbClr val="FFFF00"/>
                </a:solidFill>
                <a:latin typeface="微软雅黑" pitchFamily="34" charset="-122"/>
                <a:ea typeface="微软雅黑" pitchFamily="34" charset="-122"/>
              </a:rPr>
              <a:t>环路问题</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177051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path" presetSubtype="0" repeatCount="indefinite" accel="50000" decel="50000" fill="hold" nodeType="afterEffect">
                                  <p:stCondLst>
                                    <p:cond delay="0"/>
                                  </p:stCondLst>
                                  <p:endCondLst>
                                    <p:cond evt="onNext" delay="0">
                                      <p:tgtEl>
                                        <p:sldTgt/>
                                      </p:tgtEl>
                                    </p:cond>
                                  </p:endCondLst>
                                  <p:childTnLst>
                                    <p:animMotion origin="layout" path="M 8.33333E-7 -3.58025E-6 L 0.34462 -3.58025E-6 L 0.34462 0.32223 L 8.33333E-7 0.32223 L 8.33333E-7 -3.58025E-6 Z " pathEditMode="relative" rAng="0" ptsTypes="AAAAA">
                                      <p:cBhvr>
                                        <p:cTn id="6" dur="5000" fill="hold"/>
                                        <p:tgtEl>
                                          <p:spTgt spid="8"/>
                                        </p:tgtEl>
                                        <p:attrNameLst>
                                          <p:attrName>ppt_x</p:attrName>
                                          <p:attrName>ppt_y</p:attrName>
                                        </p:attrNameLst>
                                      </p:cBhvr>
                                      <p:rCtr x="17222" y="16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2920" y="1014399"/>
            <a:ext cx="8092440" cy="1246495"/>
          </a:xfrm>
          <a:prstGeom prst="rect">
            <a:avLst/>
          </a:prstGeom>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生成树协议 </a:t>
            </a:r>
            <a:r>
              <a:rPr lang="en-US" altLang="zh-CN" sz="2000" b="1" dirty="0">
                <a:solidFill>
                  <a:srgbClr val="C00000"/>
                </a:solidFill>
                <a:latin typeface="微软雅黑" pitchFamily="34" charset="-122"/>
                <a:ea typeface="微软雅黑" pitchFamily="34" charset="-122"/>
              </a:rPr>
              <a:t>STP  </a:t>
            </a:r>
            <a:r>
              <a:rPr lang="en-US" altLang="zh-CN" sz="2000" b="1" dirty="0">
                <a:latin typeface="微软雅黑" pitchFamily="34" charset="-122"/>
                <a:ea typeface="微软雅黑" pitchFamily="34" charset="-122"/>
              </a:rPr>
              <a:t>(Spanning Tree Protocol) </a:t>
            </a:r>
            <a:r>
              <a:rPr lang="zh-CN" altLang="en-US" sz="2000" b="1" dirty="0">
                <a:latin typeface="微软雅黑" pitchFamily="34" charset="-122"/>
                <a:ea typeface="微软雅黑" pitchFamily="34" charset="-122"/>
              </a:rPr>
              <a:t>要点：</a:t>
            </a:r>
          </a:p>
          <a:p>
            <a:pPr>
              <a:lnSpc>
                <a:spcPts val="3000"/>
              </a:lnSpc>
              <a:buClr>
                <a:srgbClr val="0070C0"/>
              </a:buClr>
            </a:pPr>
            <a:r>
              <a:rPr lang="zh-CN" altLang="en-US" sz="2000" b="1" dirty="0">
                <a:solidFill>
                  <a:srgbClr val="CC00CC"/>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不改变</a:t>
            </a:r>
            <a:r>
              <a:rPr lang="zh-CN" altLang="en-US" sz="2000" b="1" dirty="0">
                <a:latin typeface="微软雅黑" pitchFamily="34" charset="-122"/>
                <a:ea typeface="微软雅黑" pitchFamily="34" charset="-122"/>
              </a:rPr>
              <a:t>网络的实际拓扑，但</a:t>
            </a:r>
            <a:r>
              <a:rPr lang="zh-CN" altLang="en-US" sz="2000" b="1" dirty="0">
                <a:solidFill>
                  <a:srgbClr val="0000FF"/>
                </a:solidFill>
                <a:latin typeface="微软雅黑" pitchFamily="34" charset="-122"/>
                <a:ea typeface="微软雅黑" pitchFamily="34" charset="-122"/>
              </a:rPr>
              <a:t>在逻辑上</a:t>
            </a:r>
            <a:r>
              <a:rPr lang="zh-CN" altLang="en-US" sz="2000" b="1" dirty="0">
                <a:latin typeface="微软雅黑" pitchFamily="34" charset="-122"/>
                <a:ea typeface="微软雅黑" pitchFamily="34" charset="-122"/>
              </a:rPr>
              <a:t>则切断某些链路，使得从一台主机到所有其他主机的路径是</a:t>
            </a:r>
            <a:r>
              <a:rPr lang="zh-CN" altLang="en-US" sz="2000" b="1" dirty="0">
                <a:solidFill>
                  <a:srgbClr val="0000FF"/>
                </a:solidFill>
                <a:latin typeface="微软雅黑" pitchFamily="34" charset="-122"/>
                <a:ea typeface="微软雅黑" pitchFamily="34" charset="-122"/>
              </a:rPr>
              <a:t>无环路的树状结构，</a:t>
            </a:r>
            <a:r>
              <a:rPr lang="zh-CN" altLang="en-US" sz="2000" b="1" dirty="0">
                <a:latin typeface="微软雅黑" pitchFamily="34" charset="-122"/>
                <a:ea typeface="微软雅黑" pitchFamily="34" charset="-122"/>
              </a:rPr>
              <a:t>从而消除了兜圈子现象。</a:t>
            </a:r>
          </a:p>
        </p:txBody>
      </p:sp>
      <p:sp>
        <p:nvSpPr>
          <p:cNvPr id="5" name="AutoShape 5"/>
          <p:cNvSpPr>
            <a:spLocks noChangeArrowheads="1"/>
          </p:cNvSpPr>
          <p:nvPr/>
        </p:nvSpPr>
        <p:spPr bwMode="auto">
          <a:xfrm>
            <a:off x="502919" y="6512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339275" y="628112"/>
            <a:ext cx="4257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消除环路：使用生成树协议（</a:t>
            </a:r>
            <a:r>
              <a:rPr lang="en-US" altLang="zh-CN" sz="2000" b="1" dirty="0">
                <a:solidFill>
                  <a:schemeClr val="bg1"/>
                </a:solidFill>
                <a:latin typeface="微软雅黑" pitchFamily="34" charset="-122"/>
                <a:ea typeface="微软雅黑" pitchFamily="34" charset="-122"/>
              </a:rPr>
              <a:t>SPT</a:t>
            </a:r>
            <a:r>
              <a:rPr lang="zh-CN" altLang="en-US" sz="2000" b="1" dirty="0">
                <a:solidFill>
                  <a:schemeClr val="bg1"/>
                </a:solidFill>
                <a:latin typeface="微软雅黑" pitchFamily="34" charset="-122"/>
                <a:ea typeface="微软雅黑" pitchFamily="34" charset="-122"/>
              </a:rPr>
              <a:t>）</a:t>
            </a:r>
            <a:endParaRPr lang="fr-FR" altLang="zh-CN" sz="2000" b="1" dirty="0">
              <a:solidFill>
                <a:schemeClr val="bg1"/>
              </a:solidFill>
              <a:latin typeface="微软雅黑" pitchFamily="34" charset="-122"/>
              <a:ea typeface="微软雅黑" pitchFamily="34" charset="-122"/>
            </a:endParaRPr>
          </a:p>
        </p:txBody>
      </p:sp>
      <p:sp>
        <p:nvSpPr>
          <p:cNvPr id="28" name="AutoShape 22"/>
          <p:cNvSpPr>
            <a:spLocks noChangeArrowheads="1"/>
          </p:cNvSpPr>
          <p:nvPr/>
        </p:nvSpPr>
        <p:spPr bwMode="auto">
          <a:xfrm>
            <a:off x="4334689" y="3070331"/>
            <a:ext cx="742594" cy="303329"/>
          </a:xfrm>
          <a:prstGeom prst="rightArrow">
            <a:avLst>
              <a:gd name="adj1" fmla="val 50000"/>
              <a:gd name="adj2" fmla="val 63535"/>
            </a:avLst>
          </a:prstGeom>
          <a:solidFill>
            <a:srgbClr val="0000FF"/>
          </a:solidFill>
          <a:ln w="9525" algn="ctr">
            <a:solidFill>
              <a:schemeClr val="tx1"/>
            </a:solidFill>
            <a:miter lim="800000"/>
            <a:headEnd/>
            <a:tailEnd/>
          </a:ln>
          <a:effectLst/>
        </p:spPr>
        <p:txBody>
          <a:bodyPr wrap="none" anchor="ctr"/>
          <a:lstStyle/>
          <a:p>
            <a:endParaRPr lang="zh-CN" altLang="en-US">
              <a:ea typeface="宋体" pitchFamily="2" charset="-122"/>
            </a:endParaRPr>
          </a:p>
        </p:txBody>
      </p:sp>
      <p:grpSp>
        <p:nvGrpSpPr>
          <p:cNvPr id="3" name="组合 2"/>
          <p:cNvGrpSpPr/>
          <p:nvPr/>
        </p:nvGrpSpPr>
        <p:grpSpPr>
          <a:xfrm>
            <a:off x="2172989" y="2549195"/>
            <a:ext cx="1829253" cy="1495392"/>
            <a:chOff x="3099132" y="2827144"/>
            <a:chExt cx="1829253" cy="1495392"/>
          </a:xfrm>
        </p:grpSpPr>
        <p:sp>
          <p:nvSpPr>
            <p:cNvPr id="18" name="Line 12"/>
            <p:cNvSpPr>
              <a:spLocks noChangeShapeType="1"/>
            </p:cNvSpPr>
            <p:nvPr/>
          </p:nvSpPr>
          <p:spPr bwMode="auto">
            <a:xfrm flipH="1">
              <a:off x="3824155"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3"/>
            <p:cNvSpPr>
              <a:spLocks noChangeShapeType="1"/>
            </p:cNvSpPr>
            <p:nvPr/>
          </p:nvSpPr>
          <p:spPr bwMode="auto">
            <a:xfrm>
              <a:off x="4142770"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5"/>
            <p:cNvSpPr>
              <a:spLocks noChangeShapeType="1"/>
            </p:cNvSpPr>
            <p:nvPr/>
          </p:nvSpPr>
          <p:spPr bwMode="auto">
            <a:xfrm>
              <a:off x="3824156" y="3449201"/>
              <a:ext cx="724342" cy="68592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6"/>
            <p:cNvSpPr>
              <a:spLocks noChangeShapeType="1"/>
            </p:cNvSpPr>
            <p:nvPr/>
          </p:nvSpPr>
          <p:spPr bwMode="auto">
            <a:xfrm flipH="1">
              <a:off x="4661096" y="3457951"/>
              <a:ext cx="143521" cy="72354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a:off x="4142770"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8"/>
            <p:cNvSpPr>
              <a:spLocks noChangeShapeType="1"/>
            </p:cNvSpPr>
            <p:nvPr/>
          </p:nvSpPr>
          <p:spPr bwMode="auto">
            <a:xfrm flipV="1">
              <a:off x="3272328"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9"/>
            <p:cNvSpPr>
              <a:spLocks noChangeShapeType="1"/>
            </p:cNvSpPr>
            <p:nvPr/>
          </p:nvSpPr>
          <p:spPr bwMode="auto">
            <a:xfrm flipH="1" flipV="1">
              <a:off x="3811796"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0"/>
            <p:cNvSpPr>
              <a:spLocks noChangeShapeType="1"/>
            </p:cNvSpPr>
            <p:nvPr/>
          </p:nvSpPr>
          <p:spPr bwMode="auto">
            <a:xfrm flipH="1" flipV="1">
              <a:off x="3272327" y="4051815"/>
              <a:ext cx="551827" cy="8663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5"/>
            <p:cNvSpPr>
              <a:spLocks noChangeArrowheads="1"/>
            </p:cNvSpPr>
            <p:nvPr/>
          </p:nvSpPr>
          <p:spPr bwMode="auto">
            <a:xfrm>
              <a:off x="3985504"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3" name="Oval 7"/>
            <p:cNvSpPr>
              <a:spLocks noChangeArrowheads="1"/>
            </p:cNvSpPr>
            <p:nvPr/>
          </p:nvSpPr>
          <p:spPr bwMode="auto">
            <a:xfrm>
              <a:off x="4680854"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5" name="Oval 9"/>
            <p:cNvSpPr>
              <a:spLocks noChangeArrowheads="1"/>
            </p:cNvSpPr>
            <p:nvPr/>
          </p:nvSpPr>
          <p:spPr bwMode="auto">
            <a:xfrm>
              <a:off x="4526165"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6" name="Oval 10"/>
            <p:cNvSpPr>
              <a:spLocks noChangeArrowheads="1"/>
            </p:cNvSpPr>
            <p:nvPr/>
          </p:nvSpPr>
          <p:spPr bwMode="auto">
            <a:xfrm>
              <a:off x="3099132"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7" name="Oval 11"/>
            <p:cNvSpPr>
              <a:spLocks noChangeArrowheads="1"/>
            </p:cNvSpPr>
            <p:nvPr/>
          </p:nvSpPr>
          <p:spPr bwMode="auto">
            <a:xfrm>
              <a:off x="3756225"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Oval 8"/>
            <p:cNvSpPr>
              <a:spLocks noChangeArrowheads="1"/>
            </p:cNvSpPr>
            <p:nvPr/>
          </p:nvSpPr>
          <p:spPr bwMode="auto">
            <a:xfrm>
              <a:off x="3700391"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grpSp>
        <p:nvGrpSpPr>
          <p:cNvPr id="2" name="组合 1"/>
          <p:cNvGrpSpPr/>
          <p:nvPr/>
        </p:nvGrpSpPr>
        <p:grpSpPr>
          <a:xfrm>
            <a:off x="5299243" y="2549195"/>
            <a:ext cx="1829253" cy="1495392"/>
            <a:chOff x="6484883" y="2827144"/>
            <a:chExt cx="1829253" cy="1495392"/>
          </a:xfrm>
        </p:grpSpPr>
        <p:sp>
          <p:nvSpPr>
            <p:cNvPr id="48" name="Line 12"/>
            <p:cNvSpPr>
              <a:spLocks noChangeShapeType="1"/>
            </p:cNvSpPr>
            <p:nvPr/>
          </p:nvSpPr>
          <p:spPr bwMode="auto">
            <a:xfrm flipH="1">
              <a:off x="7209906"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3"/>
            <p:cNvSpPr>
              <a:spLocks noChangeShapeType="1"/>
            </p:cNvSpPr>
            <p:nvPr/>
          </p:nvSpPr>
          <p:spPr bwMode="auto">
            <a:xfrm>
              <a:off x="7528521"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5"/>
            <p:cNvSpPr>
              <a:spLocks noChangeShapeType="1"/>
            </p:cNvSpPr>
            <p:nvPr/>
          </p:nvSpPr>
          <p:spPr bwMode="auto">
            <a:xfrm>
              <a:off x="7209907" y="3449201"/>
              <a:ext cx="724342" cy="685928"/>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6"/>
            <p:cNvSpPr>
              <a:spLocks noChangeShapeType="1"/>
            </p:cNvSpPr>
            <p:nvPr/>
          </p:nvSpPr>
          <p:spPr bwMode="auto">
            <a:xfrm flipH="1">
              <a:off x="8046847" y="3457951"/>
              <a:ext cx="143521" cy="72354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17"/>
            <p:cNvSpPr>
              <a:spLocks noChangeShapeType="1"/>
            </p:cNvSpPr>
            <p:nvPr/>
          </p:nvSpPr>
          <p:spPr bwMode="auto">
            <a:xfrm>
              <a:off x="7528521"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8"/>
            <p:cNvSpPr>
              <a:spLocks noChangeShapeType="1"/>
            </p:cNvSpPr>
            <p:nvPr/>
          </p:nvSpPr>
          <p:spPr bwMode="auto">
            <a:xfrm flipV="1">
              <a:off x="6658079"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19"/>
            <p:cNvSpPr>
              <a:spLocks noChangeShapeType="1"/>
            </p:cNvSpPr>
            <p:nvPr/>
          </p:nvSpPr>
          <p:spPr bwMode="auto">
            <a:xfrm flipH="1" flipV="1">
              <a:off x="7197547"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20"/>
            <p:cNvSpPr>
              <a:spLocks noChangeShapeType="1"/>
            </p:cNvSpPr>
            <p:nvPr/>
          </p:nvSpPr>
          <p:spPr bwMode="auto">
            <a:xfrm flipH="1" flipV="1">
              <a:off x="6658078" y="4051815"/>
              <a:ext cx="551827" cy="8663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5"/>
            <p:cNvSpPr>
              <a:spLocks noChangeArrowheads="1"/>
            </p:cNvSpPr>
            <p:nvPr/>
          </p:nvSpPr>
          <p:spPr bwMode="auto">
            <a:xfrm>
              <a:off x="7371255"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7" name="Oval 7"/>
            <p:cNvSpPr>
              <a:spLocks noChangeArrowheads="1"/>
            </p:cNvSpPr>
            <p:nvPr/>
          </p:nvSpPr>
          <p:spPr bwMode="auto">
            <a:xfrm>
              <a:off x="8066605"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8" name="Oval 9"/>
            <p:cNvSpPr>
              <a:spLocks noChangeArrowheads="1"/>
            </p:cNvSpPr>
            <p:nvPr/>
          </p:nvSpPr>
          <p:spPr bwMode="auto">
            <a:xfrm>
              <a:off x="7911916"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9" name="Oval 10"/>
            <p:cNvSpPr>
              <a:spLocks noChangeArrowheads="1"/>
            </p:cNvSpPr>
            <p:nvPr/>
          </p:nvSpPr>
          <p:spPr bwMode="auto">
            <a:xfrm>
              <a:off x="6484883"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0" name="Oval 11"/>
            <p:cNvSpPr>
              <a:spLocks noChangeArrowheads="1"/>
            </p:cNvSpPr>
            <p:nvPr/>
          </p:nvSpPr>
          <p:spPr bwMode="auto">
            <a:xfrm>
              <a:off x="7141976"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1" name="Oval 8"/>
            <p:cNvSpPr>
              <a:spLocks noChangeArrowheads="1"/>
            </p:cNvSpPr>
            <p:nvPr/>
          </p:nvSpPr>
          <p:spPr bwMode="auto">
            <a:xfrm>
              <a:off x="7086142"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Tree>
    <p:extLst>
      <p:ext uri="{BB962C8B-B14F-4D97-AF65-F5344CB8AC3E}">
        <p14:creationId xmlns:p14="http://schemas.microsoft.com/office/powerpoint/2010/main" val="29286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19" y="64953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935858" y="626441"/>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从总线以太网到星形以太网</a:t>
            </a:r>
            <a:endParaRPr lang="fr-FR" altLang="zh-CN" sz="2000" b="1" dirty="0">
              <a:solidFill>
                <a:schemeClr val="bg1"/>
              </a:solidFill>
              <a:latin typeface="微软雅黑" pitchFamily="34" charset="-122"/>
              <a:ea typeface="微软雅黑" pitchFamily="34" charset="-122"/>
            </a:endParaRPr>
          </a:p>
        </p:txBody>
      </p:sp>
      <p:sp>
        <p:nvSpPr>
          <p:cNvPr id="6" name="任意多边形: 形状 5">
            <a:extLst>
              <a:ext uri="{FF2B5EF4-FFF2-40B4-BE49-F238E27FC236}">
                <a16:creationId xmlns:a16="http://schemas.microsoft.com/office/drawing/2014/main" id="{ED07EA5C-EA5E-002C-70E6-1FFD8E148528}"/>
              </a:ext>
            </a:extLst>
          </p:cNvPr>
          <p:cNvSpPr/>
          <p:nvPr/>
        </p:nvSpPr>
        <p:spPr>
          <a:xfrm>
            <a:off x="1031397" y="1154570"/>
            <a:ext cx="784833" cy="392416"/>
          </a:xfrm>
          <a:custGeom>
            <a:avLst/>
            <a:gdLst>
              <a:gd name="connsiteX0" fmla="*/ 0 w 784833"/>
              <a:gd name="connsiteY0" fmla="*/ 39242 h 392416"/>
              <a:gd name="connsiteX1" fmla="*/ 39242 w 784833"/>
              <a:gd name="connsiteY1" fmla="*/ 0 h 392416"/>
              <a:gd name="connsiteX2" fmla="*/ 745591 w 784833"/>
              <a:gd name="connsiteY2" fmla="*/ 0 h 392416"/>
              <a:gd name="connsiteX3" fmla="*/ 784833 w 784833"/>
              <a:gd name="connsiteY3" fmla="*/ 39242 h 392416"/>
              <a:gd name="connsiteX4" fmla="*/ 784833 w 784833"/>
              <a:gd name="connsiteY4" fmla="*/ 353174 h 392416"/>
              <a:gd name="connsiteX5" fmla="*/ 745591 w 784833"/>
              <a:gd name="connsiteY5" fmla="*/ 392416 h 392416"/>
              <a:gd name="connsiteX6" fmla="*/ 39242 w 784833"/>
              <a:gd name="connsiteY6" fmla="*/ 392416 h 392416"/>
              <a:gd name="connsiteX7" fmla="*/ 0 w 784833"/>
              <a:gd name="connsiteY7" fmla="*/ 353174 h 392416"/>
              <a:gd name="connsiteX8" fmla="*/ 0 w 784833"/>
              <a:gd name="connsiteY8" fmla="*/ 39242 h 39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4833" h="392416">
                <a:moveTo>
                  <a:pt x="0" y="39242"/>
                </a:moveTo>
                <a:cubicBezTo>
                  <a:pt x="0" y="17569"/>
                  <a:pt x="17569" y="0"/>
                  <a:pt x="39242" y="0"/>
                </a:cubicBezTo>
                <a:lnTo>
                  <a:pt x="745591" y="0"/>
                </a:lnTo>
                <a:cubicBezTo>
                  <a:pt x="767264" y="0"/>
                  <a:pt x="784833" y="17569"/>
                  <a:pt x="784833" y="39242"/>
                </a:cubicBezTo>
                <a:lnTo>
                  <a:pt x="784833" y="353174"/>
                </a:lnTo>
                <a:cubicBezTo>
                  <a:pt x="784833" y="374847"/>
                  <a:pt x="767264" y="392416"/>
                  <a:pt x="745591" y="392416"/>
                </a:cubicBezTo>
                <a:lnTo>
                  <a:pt x="39242" y="392416"/>
                </a:lnTo>
                <a:cubicBezTo>
                  <a:pt x="17569" y="392416"/>
                  <a:pt x="0" y="374847"/>
                  <a:pt x="0" y="353174"/>
                </a:cubicBezTo>
                <a:lnTo>
                  <a:pt x="0" y="39242"/>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9593" tIns="36893" rIns="49593" bIns="36893"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早期</a:t>
            </a:r>
          </a:p>
        </p:txBody>
      </p:sp>
      <p:sp>
        <p:nvSpPr>
          <p:cNvPr id="9" name="任意多边形: 形状 8">
            <a:extLst>
              <a:ext uri="{FF2B5EF4-FFF2-40B4-BE49-F238E27FC236}">
                <a16:creationId xmlns:a16="http://schemas.microsoft.com/office/drawing/2014/main" id="{2B36E6A8-0746-C51E-9CDF-9ACC1997493A}"/>
              </a:ext>
            </a:extLst>
          </p:cNvPr>
          <p:cNvSpPr/>
          <p:nvPr/>
        </p:nvSpPr>
        <p:spPr>
          <a:xfrm>
            <a:off x="1064160" y="1546987"/>
            <a:ext cx="91440" cy="411348"/>
          </a:xfrm>
          <a:custGeom>
            <a:avLst/>
            <a:gdLst/>
            <a:ahLst/>
            <a:cxnLst/>
            <a:rect l="0" t="0" r="0" b="0"/>
            <a:pathLst>
              <a:path>
                <a:moveTo>
                  <a:pt x="45720" y="0"/>
                </a:moveTo>
                <a:lnTo>
                  <a:pt x="45720" y="411348"/>
                </a:lnTo>
                <a:lnTo>
                  <a:pt x="124203" y="411348"/>
                </a:lnTo>
              </a:path>
            </a:pathLst>
          </a:custGeom>
          <a:noFill/>
        </p:spPr>
        <p:style>
          <a:lnRef idx="2">
            <a:schemeClr val="accent3">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0" name="任意多边形: 形状 9">
            <a:extLst>
              <a:ext uri="{FF2B5EF4-FFF2-40B4-BE49-F238E27FC236}">
                <a16:creationId xmlns:a16="http://schemas.microsoft.com/office/drawing/2014/main" id="{9FF5B551-9FB7-13BA-4F89-4A11DE75B284}"/>
              </a:ext>
            </a:extLst>
          </p:cNvPr>
          <p:cNvSpPr/>
          <p:nvPr/>
        </p:nvSpPr>
        <p:spPr>
          <a:xfrm>
            <a:off x="1188364" y="1760336"/>
            <a:ext cx="3495479" cy="395999"/>
          </a:xfrm>
          <a:custGeom>
            <a:avLst/>
            <a:gdLst>
              <a:gd name="connsiteX0" fmla="*/ 0 w 3495479"/>
              <a:gd name="connsiteY0" fmla="*/ 39600 h 395999"/>
              <a:gd name="connsiteX1" fmla="*/ 39600 w 3495479"/>
              <a:gd name="connsiteY1" fmla="*/ 0 h 395999"/>
              <a:gd name="connsiteX2" fmla="*/ 3455879 w 3495479"/>
              <a:gd name="connsiteY2" fmla="*/ 0 h 395999"/>
              <a:gd name="connsiteX3" fmla="*/ 3495479 w 3495479"/>
              <a:gd name="connsiteY3" fmla="*/ 39600 h 395999"/>
              <a:gd name="connsiteX4" fmla="*/ 3495479 w 3495479"/>
              <a:gd name="connsiteY4" fmla="*/ 356399 h 395999"/>
              <a:gd name="connsiteX5" fmla="*/ 3455879 w 3495479"/>
              <a:gd name="connsiteY5" fmla="*/ 395999 h 395999"/>
              <a:gd name="connsiteX6" fmla="*/ 39600 w 3495479"/>
              <a:gd name="connsiteY6" fmla="*/ 395999 h 395999"/>
              <a:gd name="connsiteX7" fmla="*/ 0 w 3495479"/>
              <a:gd name="connsiteY7" fmla="*/ 356399 h 395999"/>
              <a:gd name="connsiteX8" fmla="*/ 0 w 3495479"/>
              <a:gd name="connsiteY8" fmla="*/ 39600 h 39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95479" h="395999">
                <a:moveTo>
                  <a:pt x="0" y="39600"/>
                </a:moveTo>
                <a:cubicBezTo>
                  <a:pt x="0" y="17730"/>
                  <a:pt x="17730" y="0"/>
                  <a:pt x="39600" y="0"/>
                </a:cubicBezTo>
                <a:lnTo>
                  <a:pt x="3455879" y="0"/>
                </a:lnTo>
                <a:cubicBezTo>
                  <a:pt x="3477749" y="0"/>
                  <a:pt x="3495479" y="17730"/>
                  <a:pt x="3495479" y="39600"/>
                </a:cubicBezTo>
                <a:lnTo>
                  <a:pt x="3495479" y="356399"/>
                </a:lnTo>
                <a:cubicBezTo>
                  <a:pt x="3495479" y="378269"/>
                  <a:pt x="3477749" y="395999"/>
                  <a:pt x="3455879" y="395999"/>
                </a:cubicBezTo>
                <a:lnTo>
                  <a:pt x="39600" y="395999"/>
                </a:lnTo>
                <a:cubicBezTo>
                  <a:pt x="17730" y="395999"/>
                  <a:pt x="0" y="378269"/>
                  <a:pt x="0" y="356399"/>
                </a:cubicBezTo>
                <a:lnTo>
                  <a:pt x="0" y="3960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2078" tIns="31918" rIns="42078" bIns="31918"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采用无源的总线结构。</a:t>
            </a:r>
          </a:p>
        </p:txBody>
      </p:sp>
      <p:sp>
        <p:nvSpPr>
          <p:cNvPr id="11" name="任意多边形: 形状 10">
            <a:extLst>
              <a:ext uri="{FF2B5EF4-FFF2-40B4-BE49-F238E27FC236}">
                <a16:creationId xmlns:a16="http://schemas.microsoft.com/office/drawing/2014/main" id="{1AEC3DEA-645E-4ADF-E004-152B119E5CEF}"/>
              </a:ext>
            </a:extLst>
          </p:cNvPr>
          <p:cNvSpPr/>
          <p:nvPr/>
        </p:nvSpPr>
        <p:spPr>
          <a:xfrm>
            <a:off x="1064160" y="1546987"/>
            <a:ext cx="91440" cy="1252927"/>
          </a:xfrm>
          <a:custGeom>
            <a:avLst/>
            <a:gdLst/>
            <a:ahLst/>
            <a:cxnLst/>
            <a:rect l="0" t="0" r="0" b="0"/>
            <a:pathLst>
              <a:path>
                <a:moveTo>
                  <a:pt x="45720" y="0"/>
                </a:moveTo>
                <a:lnTo>
                  <a:pt x="45720" y="1252927"/>
                </a:lnTo>
                <a:lnTo>
                  <a:pt x="124203" y="1252927"/>
                </a:lnTo>
              </a:path>
            </a:pathLst>
          </a:custGeom>
          <a:noFill/>
        </p:spPr>
        <p:style>
          <a:lnRef idx="2">
            <a:schemeClr val="accent3">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2" name="任意多边形: 形状 11">
            <a:extLst>
              <a:ext uri="{FF2B5EF4-FFF2-40B4-BE49-F238E27FC236}">
                <a16:creationId xmlns:a16="http://schemas.microsoft.com/office/drawing/2014/main" id="{7D2827D7-9F9D-513F-82C1-B3D31D1D66E7}"/>
              </a:ext>
            </a:extLst>
          </p:cNvPr>
          <p:cNvSpPr/>
          <p:nvPr/>
        </p:nvSpPr>
        <p:spPr>
          <a:xfrm>
            <a:off x="1188364" y="2295914"/>
            <a:ext cx="3495479" cy="1008000"/>
          </a:xfrm>
          <a:custGeom>
            <a:avLst/>
            <a:gdLst>
              <a:gd name="connsiteX0" fmla="*/ 0 w 3495479"/>
              <a:gd name="connsiteY0" fmla="*/ 100800 h 1008000"/>
              <a:gd name="connsiteX1" fmla="*/ 100800 w 3495479"/>
              <a:gd name="connsiteY1" fmla="*/ 0 h 1008000"/>
              <a:gd name="connsiteX2" fmla="*/ 3394679 w 3495479"/>
              <a:gd name="connsiteY2" fmla="*/ 0 h 1008000"/>
              <a:gd name="connsiteX3" fmla="*/ 3495479 w 3495479"/>
              <a:gd name="connsiteY3" fmla="*/ 100800 h 1008000"/>
              <a:gd name="connsiteX4" fmla="*/ 3495479 w 3495479"/>
              <a:gd name="connsiteY4" fmla="*/ 907200 h 1008000"/>
              <a:gd name="connsiteX5" fmla="*/ 3394679 w 3495479"/>
              <a:gd name="connsiteY5" fmla="*/ 1008000 h 1008000"/>
              <a:gd name="connsiteX6" fmla="*/ 100800 w 3495479"/>
              <a:gd name="connsiteY6" fmla="*/ 1008000 h 1008000"/>
              <a:gd name="connsiteX7" fmla="*/ 0 w 3495479"/>
              <a:gd name="connsiteY7" fmla="*/ 907200 h 1008000"/>
              <a:gd name="connsiteX8" fmla="*/ 0 w 3495479"/>
              <a:gd name="connsiteY8" fmla="*/ 100800 h 10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95479" h="1008000">
                <a:moveTo>
                  <a:pt x="0" y="100800"/>
                </a:moveTo>
                <a:cubicBezTo>
                  <a:pt x="0" y="45130"/>
                  <a:pt x="45130" y="0"/>
                  <a:pt x="100800" y="0"/>
                </a:cubicBezTo>
                <a:lnTo>
                  <a:pt x="3394679" y="0"/>
                </a:lnTo>
                <a:cubicBezTo>
                  <a:pt x="3450349" y="0"/>
                  <a:pt x="3495479" y="45130"/>
                  <a:pt x="3495479" y="100800"/>
                </a:cubicBezTo>
                <a:lnTo>
                  <a:pt x="3495479" y="907200"/>
                </a:lnTo>
                <a:cubicBezTo>
                  <a:pt x="3495479" y="962870"/>
                  <a:pt x="3450349" y="1008000"/>
                  <a:pt x="3394679" y="1008000"/>
                </a:cubicBezTo>
                <a:lnTo>
                  <a:pt x="100800" y="1008000"/>
                </a:lnTo>
                <a:cubicBezTo>
                  <a:pt x="45130" y="1008000"/>
                  <a:pt x="0" y="962870"/>
                  <a:pt x="0" y="907200"/>
                </a:cubicBezTo>
                <a:lnTo>
                  <a:pt x="0" y="100800"/>
                </a:lnTo>
                <a:close/>
              </a:path>
            </a:pathLst>
          </a:custGeom>
        </p:spPr>
        <p:style>
          <a:lnRef idx="2">
            <a:schemeClr val="accent2">
              <a:hueOff val="1560506"/>
              <a:satOff val="-1946"/>
              <a:lumOff val="45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0003" tIns="49843" rIns="60003" bIns="49843"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协议，以半双工方式工作。</a:t>
            </a:r>
          </a:p>
        </p:txBody>
      </p:sp>
      <p:sp>
        <p:nvSpPr>
          <p:cNvPr id="13" name="任意多边形: 形状 12">
            <a:extLst>
              <a:ext uri="{FF2B5EF4-FFF2-40B4-BE49-F238E27FC236}">
                <a16:creationId xmlns:a16="http://schemas.microsoft.com/office/drawing/2014/main" id="{23BB485A-494F-7B93-AC9D-EFEBFC1E9862}"/>
              </a:ext>
            </a:extLst>
          </p:cNvPr>
          <p:cNvSpPr/>
          <p:nvPr/>
        </p:nvSpPr>
        <p:spPr>
          <a:xfrm>
            <a:off x="4723084" y="1154570"/>
            <a:ext cx="784833" cy="392416"/>
          </a:xfrm>
          <a:custGeom>
            <a:avLst/>
            <a:gdLst>
              <a:gd name="connsiteX0" fmla="*/ 0 w 784833"/>
              <a:gd name="connsiteY0" fmla="*/ 39242 h 392416"/>
              <a:gd name="connsiteX1" fmla="*/ 39242 w 784833"/>
              <a:gd name="connsiteY1" fmla="*/ 0 h 392416"/>
              <a:gd name="connsiteX2" fmla="*/ 745591 w 784833"/>
              <a:gd name="connsiteY2" fmla="*/ 0 h 392416"/>
              <a:gd name="connsiteX3" fmla="*/ 784833 w 784833"/>
              <a:gd name="connsiteY3" fmla="*/ 39242 h 392416"/>
              <a:gd name="connsiteX4" fmla="*/ 784833 w 784833"/>
              <a:gd name="connsiteY4" fmla="*/ 353174 h 392416"/>
              <a:gd name="connsiteX5" fmla="*/ 745591 w 784833"/>
              <a:gd name="connsiteY5" fmla="*/ 392416 h 392416"/>
              <a:gd name="connsiteX6" fmla="*/ 39242 w 784833"/>
              <a:gd name="connsiteY6" fmla="*/ 392416 h 392416"/>
              <a:gd name="connsiteX7" fmla="*/ 0 w 784833"/>
              <a:gd name="connsiteY7" fmla="*/ 353174 h 392416"/>
              <a:gd name="connsiteX8" fmla="*/ 0 w 784833"/>
              <a:gd name="connsiteY8" fmla="*/ 39242 h 39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4833" h="392416">
                <a:moveTo>
                  <a:pt x="0" y="39242"/>
                </a:moveTo>
                <a:cubicBezTo>
                  <a:pt x="0" y="17569"/>
                  <a:pt x="17569" y="0"/>
                  <a:pt x="39242" y="0"/>
                </a:cubicBezTo>
                <a:lnTo>
                  <a:pt x="745591" y="0"/>
                </a:lnTo>
                <a:cubicBezTo>
                  <a:pt x="767264" y="0"/>
                  <a:pt x="784833" y="17569"/>
                  <a:pt x="784833" y="39242"/>
                </a:cubicBezTo>
                <a:lnTo>
                  <a:pt x="784833" y="353174"/>
                </a:lnTo>
                <a:cubicBezTo>
                  <a:pt x="784833" y="374847"/>
                  <a:pt x="767264" y="392416"/>
                  <a:pt x="745591" y="392416"/>
                </a:cubicBezTo>
                <a:lnTo>
                  <a:pt x="39242" y="392416"/>
                </a:lnTo>
                <a:cubicBezTo>
                  <a:pt x="17569" y="392416"/>
                  <a:pt x="0" y="374847"/>
                  <a:pt x="0" y="353174"/>
                </a:cubicBezTo>
                <a:lnTo>
                  <a:pt x="0" y="39242"/>
                </a:lnTo>
                <a:close/>
              </a:path>
            </a:pathLst>
          </a:custGeom>
        </p:spPr>
        <p:style>
          <a:lnRef idx="2">
            <a:schemeClr val="lt1">
              <a:hueOff val="0"/>
              <a:satOff val="0"/>
              <a:lumOff val="0"/>
              <a:alphaOff val="0"/>
            </a:schemeClr>
          </a:lnRef>
          <a:fillRef idx="1">
            <a:schemeClr val="accent2">
              <a:hueOff val="4681519"/>
              <a:satOff val="-5839"/>
              <a:lumOff val="1373"/>
              <a:alphaOff val="0"/>
            </a:schemeClr>
          </a:fillRef>
          <a:effectRef idx="0">
            <a:schemeClr val="accent2">
              <a:hueOff val="4681519"/>
              <a:satOff val="-5839"/>
              <a:lumOff val="1373"/>
              <a:alphaOff val="0"/>
            </a:schemeClr>
          </a:effectRef>
          <a:fontRef idx="minor">
            <a:schemeClr val="lt1"/>
          </a:fontRef>
        </p:style>
        <p:txBody>
          <a:bodyPr spcFirstLastPara="0" vert="horz" wrap="square" lIns="49593" tIns="36893" rIns="49593" bIns="36893"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现在</a:t>
            </a:r>
          </a:p>
        </p:txBody>
      </p:sp>
      <p:sp>
        <p:nvSpPr>
          <p:cNvPr id="14" name="任意多边形: 形状 13">
            <a:extLst>
              <a:ext uri="{FF2B5EF4-FFF2-40B4-BE49-F238E27FC236}">
                <a16:creationId xmlns:a16="http://schemas.microsoft.com/office/drawing/2014/main" id="{951878A5-7EE0-961B-DCAD-1A3E0396E8CC}"/>
              </a:ext>
            </a:extLst>
          </p:cNvPr>
          <p:cNvSpPr/>
          <p:nvPr/>
        </p:nvSpPr>
        <p:spPr>
          <a:xfrm>
            <a:off x="4755848" y="1546987"/>
            <a:ext cx="91440" cy="411348"/>
          </a:xfrm>
          <a:custGeom>
            <a:avLst/>
            <a:gdLst/>
            <a:ahLst/>
            <a:cxnLst/>
            <a:rect l="0" t="0" r="0" b="0"/>
            <a:pathLst>
              <a:path>
                <a:moveTo>
                  <a:pt x="45720" y="0"/>
                </a:moveTo>
                <a:lnTo>
                  <a:pt x="45720" y="411348"/>
                </a:lnTo>
                <a:lnTo>
                  <a:pt x="124203" y="411348"/>
                </a:lnTo>
              </a:path>
            </a:pathLst>
          </a:custGeom>
          <a:noFill/>
        </p:spPr>
        <p:style>
          <a:lnRef idx="2">
            <a:schemeClr val="accent3">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5" name="任意多边形: 形状 14">
            <a:extLst>
              <a:ext uri="{FF2B5EF4-FFF2-40B4-BE49-F238E27FC236}">
                <a16:creationId xmlns:a16="http://schemas.microsoft.com/office/drawing/2014/main" id="{9F71F37B-1C7E-BB06-3FFA-7964A76004FB}"/>
              </a:ext>
            </a:extLst>
          </p:cNvPr>
          <p:cNvSpPr/>
          <p:nvPr/>
        </p:nvSpPr>
        <p:spPr>
          <a:xfrm>
            <a:off x="4880051" y="1760336"/>
            <a:ext cx="3495479" cy="395999"/>
          </a:xfrm>
          <a:custGeom>
            <a:avLst/>
            <a:gdLst>
              <a:gd name="connsiteX0" fmla="*/ 0 w 3495479"/>
              <a:gd name="connsiteY0" fmla="*/ 39600 h 395999"/>
              <a:gd name="connsiteX1" fmla="*/ 39600 w 3495479"/>
              <a:gd name="connsiteY1" fmla="*/ 0 h 395999"/>
              <a:gd name="connsiteX2" fmla="*/ 3455879 w 3495479"/>
              <a:gd name="connsiteY2" fmla="*/ 0 h 395999"/>
              <a:gd name="connsiteX3" fmla="*/ 3495479 w 3495479"/>
              <a:gd name="connsiteY3" fmla="*/ 39600 h 395999"/>
              <a:gd name="connsiteX4" fmla="*/ 3495479 w 3495479"/>
              <a:gd name="connsiteY4" fmla="*/ 356399 h 395999"/>
              <a:gd name="connsiteX5" fmla="*/ 3455879 w 3495479"/>
              <a:gd name="connsiteY5" fmla="*/ 395999 h 395999"/>
              <a:gd name="connsiteX6" fmla="*/ 39600 w 3495479"/>
              <a:gd name="connsiteY6" fmla="*/ 395999 h 395999"/>
              <a:gd name="connsiteX7" fmla="*/ 0 w 3495479"/>
              <a:gd name="connsiteY7" fmla="*/ 356399 h 395999"/>
              <a:gd name="connsiteX8" fmla="*/ 0 w 3495479"/>
              <a:gd name="connsiteY8" fmla="*/ 39600 h 39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95479" h="395999">
                <a:moveTo>
                  <a:pt x="0" y="39600"/>
                </a:moveTo>
                <a:cubicBezTo>
                  <a:pt x="0" y="17730"/>
                  <a:pt x="17730" y="0"/>
                  <a:pt x="39600" y="0"/>
                </a:cubicBezTo>
                <a:lnTo>
                  <a:pt x="3455879" y="0"/>
                </a:lnTo>
                <a:cubicBezTo>
                  <a:pt x="3477749" y="0"/>
                  <a:pt x="3495479" y="17730"/>
                  <a:pt x="3495479" y="39600"/>
                </a:cubicBezTo>
                <a:lnTo>
                  <a:pt x="3495479" y="356399"/>
                </a:lnTo>
                <a:cubicBezTo>
                  <a:pt x="3495479" y="378269"/>
                  <a:pt x="3477749" y="395999"/>
                  <a:pt x="3455879" y="395999"/>
                </a:cubicBezTo>
                <a:lnTo>
                  <a:pt x="39600" y="395999"/>
                </a:lnTo>
                <a:cubicBezTo>
                  <a:pt x="17730" y="395999"/>
                  <a:pt x="0" y="378269"/>
                  <a:pt x="0" y="356399"/>
                </a:cubicBezTo>
                <a:lnTo>
                  <a:pt x="0" y="39600"/>
                </a:lnTo>
                <a:close/>
              </a:path>
            </a:pathLst>
          </a:custGeom>
        </p:spPr>
        <p:style>
          <a:lnRef idx="2">
            <a:schemeClr val="accent2">
              <a:hueOff val="3121013"/>
              <a:satOff val="-3893"/>
              <a:lumOff val="91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2078" tIns="31918" rIns="42078" bIns="31918"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以太网交换机为中心的星形结构</a:t>
            </a:r>
          </a:p>
        </p:txBody>
      </p:sp>
      <p:sp>
        <p:nvSpPr>
          <p:cNvPr id="16" name="任意多边形: 形状 15">
            <a:extLst>
              <a:ext uri="{FF2B5EF4-FFF2-40B4-BE49-F238E27FC236}">
                <a16:creationId xmlns:a16="http://schemas.microsoft.com/office/drawing/2014/main" id="{48A69F5A-C7EC-6E53-C03E-FD670F07FAB8}"/>
              </a:ext>
            </a:extLst>
          </p:cNvPr>
          <p:cNvSpPr/>
          <p:nvPr/>
        </p:nvSpPr>
        <p:spPr>
          <a:xfrm>
            <a:off x="4755848" y="1546987"/>
            <a:ext cx="91440" cy="1261984"/>
          </a:xfrm>
          <a:custGeom>
            <a:avLst/>
            <a:gdLst/>
            <a:ahLst/>
            <a:cxnLst/>
            <a:rect l="0" t="0" r="0" b="0"/>
            <a:pathLst>
              <a:path>
                <a:moveTo>
                  <a:pt x="45720" y="0"/>
                </a:moveTo>
                <a:lnTo>
                  <a:pt x="45720" y="1261984"/>
                </a:lnTo>
                <a:lnTo>
                  <a:pt x="124203" y="1261984"/>
                </a:lnTo>
              </a:path>
            </a:pathLst>
          </a:custGeom>
          <a:noFill/>
        </p:spPr>
        <p:style>
          <a:lnRef idx="2">
            <a:schemeClr val="accent3">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7" name="任意多边形: 形状 16">
            <a:extLst>
              <a:ext uri="{FF2B5EF4-FFF2-40B4-BE49-F238E27FC236}">
                <a16:creationId xmlns:a16="http://schemas.microsoft.com/office/drawing/2014/main" id="{1791B45C-A11F-8E43-69DB-268A7412FA6D}"/>
              </a:ext>
            </a:extLst>
          </p:cNvPr>
          <p:cNvSpPr/>
          <p:nvPr/>
        </p:nvSpPr>
        <p:spPr>
          <a:xfrm>
            <a:off x="4880051" y="2304971"/>
            <a:ext cx="3495479" cy="1008000"/>
          </a:xfrm>
          <a:custGeom>
            <a:avLst/>
            <a:gdLst>
              <a:gd name="connsiteX0" fmla="*/ 0 w 3495479"/>
              <a:gd name="connsiteY0" fmla="*/ 100800 h 1008000"/>
              <a:gd name="connsiteX1" fmla="*/ 100800 w 3495479"/>
              <a:gd name="connsiteY1" fmla="*/ 0 h 1008000"/>
              <a:gd name="connsiteX2" fmla="*/ 3394679 w 3495479"/>
              <a:gd name="connsiteY2" fmla="*/ 0 h 1008000"/>
              <a:gd name="connsiteX3" fmla="*/ 3495479 w 3495479"/>
              <a:gd name="connsiteY3" fmla="*/ 100800 h 1008000"/>
              <a:gd name="connsiteX4" fmla="*/ 3495479 w 3495479"/>
              <a:gd name="connsiteY4" fmla="*/ 907200 h 1008000"/>
              <a:gd name="connsiteX5" fmla="*/ 3394679 w 3495479"/>
              <a:gd name="connsiteY5" fmla="*/ 1008000 h 1008000"/>
              <a:gd name="connsiteX6" fmla="*/ 100800 w 3495479"/>
              <a:gd name="connsiteY6" fmla="*/ 1008000 h 1008000"/>
              <a:gd name="connsiteX7" fmla="*/ 0 w 3495479"/>
              <a:gd name="connsiteY7" fmla="*/ 907200 h 1008000"/>
              <a:gd name="connsiteX8" fmla="*/ 0 w 3495479"/>
              <a:gd name="connsiteY8" fmla="*/ 100800 h 10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95479" h="1008000">
                <a:moveTo>
                  <a:pt x="0" y="100800"/>
                </a:moveTo>
                <a:cubicBezTo>
                  <a:pt x="0" y="45130"/>
                  <a:pt x="45130" y="0"/>
                  <a:pt x="100800" y="0"/>
                </a:cubicBezTo>
                <a:lnTo>
                  <a:pt x="3394679" y="0"/>
                </a:lnTo>
                <a:cubicBezTo>
                  <a:pt x="3450349" y="0"/>
                  <a:pt x="3495479" y="45130"/>
                  <a:pt x="3495479" y="100800"/>
                </a:cubicBezTo>
                <a:lnTo>
                  <a:pt x="3495479" y="907200"/>
                </a:lnTo>
                <a:cubicBezTo>
                  <a:pt x="3495479" y="962870"/>
                  <a:pt x="3450349" y="1008000"/>
                  <a:pt x="3394679" y="1008000"/>
                </a:cubicBezTo>
                <a:lnTo>
                  <a:pt x="100800" y="1008000"/>
                </a:lnTo>
                <a:cubicBezTo>
                  <a:pt x="45130" y="1008000"/>
                  <a:pt x="0" y="962870"/>
                  <a:pt x="0" y="907200"/>
                </a:cubicBezTo>
                <a:lnTo>
                  <a:pt x="0" y="100800"/>
                </a:lnTo>
                <a:close/>
              </a:path>
            </a:pathLst>
          </a:custGeom>
        </p:spPr>
        <p:style>
          <a:lnRef idx="2">
            <a:schemeClr val="accent2">
              <a:hueOff val="4681519"/>
              <a:satOff val="-5839"/>
              <a:lumOff val="137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0003" tIns="49843" rIns="60003" bIns="49843"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不共享传输媒体，没有碰撞问题，不使用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协议，以全双工方式工作。但仍然采用以太网的帧结构。</a:t>
            </a:r>
          </a:p>
        </p:txBody>
      </p:sp>
      <p:grpSp>
        <p:nvGrpSpPr>
          <p:cNvPr id="5" name="组合 4"/>
          <p:cNvGrpSpPr/>
          <p:nvPr/>
        </p:nvGrpSpPr>
        <p:grpSpPr>
          <a:xfrm>
            <a:off x="5396677" y="3436851"/>
            <a:ext cx="2537362" cy="1086997"/>
            <a:chOff x="5368965" y="3639168"/>
            <a:chExt cx="2398816" cy="911465"/>
          </a:xfrm>
        </p:grpSpPr>
        <p:sp>
          <p:nvSpPr>
            <p:cNvPr id="41" name="AutoShape 42"/>
            <p:cNvSpPr>
              <a:spLocks noChangeArrowheads="1"/>
            </p:cNvSpPr>
            <p:nvPr/>
          </p:nvSpPr>
          <p:spPr bwMode="auto">
            <a:xfrm>
              <a:off x="5368965" y="3639168"/>
              <a:ext cx="2398816"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49" name="组合 48"/>
            <p:cNvGrpSpPr/>
            <p:nvPr/>
          </p:nvGrpSpPr>
          <p:grpSpPr>
            <a:xfrm>
              <a:off x="5619959" y="3682008"/>
              <a:ext cx="1953810" cy="778278"/>
              <a:chOff x="5082233" y="3157599"/>
              <a:chExt cx="2455725" cy="1315197"/>
            </a:xfrm>
          </p:grpSpPr>
          <p:sp>
            <p:nvSpPr>
              <p:cNvPr id="50" name="Text Box 49"/>
              <p:cNvSpPr txBox="1">
                <a:spLocks noChangeArrowheads="1"/>
              </p:cNvSpPr>
              <p:nvPr/>
            </p:nvSpPr>
            <p:spPr bwMode="auto">
              <a:xfrm>
                <a:off x="5693245" y="3157599"/>
                <a:ext cx="1229495" cy="392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C00000"/>
                    </a:solidFill>
                    <a:latin typeface="微软雅黑" pitchFamily="34" charset="-122"/>
                    <a:ea typeface="微软雅黑" pitchFamily="34" charset="-122"/>
                  </a:rPr>
                  <a:t>交换机</a:t>
                </a:r>
              </a:p>
            </p:txBody>
          </p:sp>
          <p:sp>
            <p:nvSpPr>
              <p:cNvPr id="51" name="Line 60"/>
              <p:cNvSpPr>
                <a:spLocks noChangeShapeType="1"/>
              </p:cNvSpPr>
              <p:nvPr/>
            </p:nvSpPr>
            <p:spPr bwMode="auto">
              <a:xfrm flipH="1">
                <a:off x="5412258" y="3683538"/>
                <a:ext cx="746501" cy="3844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454223" y="3683537"/>
                <a:ext cx="15713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597263" y="3683537"/>
                <a:ext cx="716534" cy="56509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5946238" y="3683537"/>
                <a:ext cx="21252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223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207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719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9635" y="4024473"/>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59" name="modem"/>
              <p:cNvSpPr>
                <a:spLocks noEditPoints="1" noChangeArrowheads="1"/>
              </p:cNvSpPr>
              <p:nvPr/>
            </p:nvSpPr>
            <p:spPr bwMode="auto">
              <a:xfrm>
                <a:off x="5829254" y="3521381"/>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3399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grpSp>
      </p:grpSp>
      <p:grpSp>
        <p:nvGrpSpPr>
          <p:cNvPr id="3" name="组合 2"/>
          <p:cNvGrpSpPr/>
          <p:nvPr/>
        </p:nvGrpSpPr>
        <p:grpSpPr>
          <a:xfrm>
            <a:off x="1788000" y="3436851"/>
            <a:ext cx="2354335" cy="1086997"/>
            <a:chOff x="1788000" y="3629932"/>
            <a:chExt cx="2225783" cy="911465"/>
          </a:xfrm>
        </p:grpSpPr>
        <p:sp>
          <p:nvSpPr>
            <p:cNvPr id="60" name="AutoShape 42"/>
            <p:cNvSpPr>
              <a:spLocks noChangeArrowheads="1"/>
            </p:cNvSpPr>
            <p:nvPr/>
          </p:nvSpPr>
          <p:spPr bwMode="auto">
            <a:xfrm>
              <a:off x="1788000" y="3629932"/>
              <a:ext cx="2225783"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61" name="组合 60"/>
            <p:cNvGrpSpPr/>
            <p:nvPr/>
          </p:nvGrpSpPr>
          <p:grpSpPr>
            <a:xfrm>
              <a:off x="1962770" y="3809171"/>
              <a:ext cx="1860326" cy="604936"/>
              <a:chOff x="1238454" y="3514514"/>
              <a:chExt cx="2520000" cy="958282"/>
            </a:xfrm>
          </p:grpSpPr>
          <p:sp>
            <p:nvSpPr>
              <p:cNvPr id="62" name="AutoShape 9"/>
              <p:cNvSpPr>
                <a:spLocks noChangeArrowheads="1"/>
              </p:cNvSpPr>
              <p:nvPr/>
            </p:nvSpPr>
            <p:spPr bwMode="auto">
              <a:xfrm rot="16200000">
                <a:off x="2426454" y="2326514"/>
                <a:ext cx="144000" cy="2520000"/>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3" name="Line 48"/>
              <p:cNvSpPr>
                <a:spLocks noChangeShapeType="1"/>
              </p:cNvSpPr>
              <p:nvPr/>
            </p:nvSpPr>
            <p:spPr bwMode="auto">
              <a:xfrm>
                <a:off x="1469580" y="3579685"/>
                <a:ext cx="211089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4" name="组合 63"/>
              <p:cNvGrpSpPr/>
              <p:nvPr/>
            </p:nvGrpSpPr>
            <p:grpSpPr>
              <a:xfrm>
                <a:off x="1695654" y="3580767"/>
                <a:ext cx="1682067" cy="632774"/>
                <a:chOff x="1695654" y="3580767"/>
                <a:chExt cx="1682067" cy="381000"/>
              </a:xfrm>
            </p:grpSpPr>
            <p:sp>
              <p:nvSpPr>
                <p:cNvPr id="69" name="Line 48"/>
                <p:cNvSpPr>
                  <a:spLocks noChangeShapeType="1"/>
                </p:cNvSpPr>
                <p:nvPr/>
              </p:nvSpPr>
              <p:spPr bwMode="auto">
                <a:xfrm flipV="1">
                  <a:off x="1695654"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48"/>
                <p:cNvSpPr>
                  <a:spLocks noChangeShapeType="1"/>
                </p:cNvSpPr>
                <p:nvPr/>
              </p:nvSpPr>
              <p:spPr bwMode="auto">
                <a:xfrm flipV="1">
                  <a:off x="2253970"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48"/>
                <p:cNvSpPr>
                  <a:spLocks noChangeShapeType="1"/>
                </p:cNvSpPr>
                <p:nvPr/>
              </p:nvSpPr>
              <p:spPr bwMode="auto">
                <a:xfrm flipV="1">
                  <a:off x="2831762"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48"/>
                <p:cNvSpPr>
                  <a:spLocks noChangeShapeType="1"/>
                </p:cNvSpPr>
                <p:nvPr/>
              </p:nvSpPr>
              <p:spPr bwMode="auto">
                <a:xfrm flipV="1">
                  <a:off x="3377721"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6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620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9554"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08170"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232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3" name="AutoShape 22"/>
          <p:cNvSpPr>
            <a:spLocks noChangeArrowheads="1"/>
          </p:cNvSpPr>
          <p:nvPr/>
        </p:nvSpPr>
        <p:spPr bwMode="auto">
          <a:xfrm>
            <a:off x="4393965" y="3782620"/>
            <a:ext cx="742594" cy="303329"/>
          </a:xfrm>
          <a:prstGeom prst="rightArrow">
            <a:avLst>
              <a:gd name="adj1" fmla="val 50000"/>
              <a:gd name="adj2" fmla="val 63535"/>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Tree>
    <p:extLst>
      <p:ext uri="{BB962C8B-B14F-4D97-AF65-F5344CB8AC3E}">
        <p14:creationId xmlns:p14="http://schemas.microsoft.com/office/powerpoint/2010/main" val="230536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0" nodeType="clickEffect">
                                  <p:stCondLst>
                                    <p:cond delay="0"/>
                                  </p:st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fill="hold" grpId="0" nodeType="clickEffect">
                                  <p:stCondLst>
                                    <p:cond delay="0"/>
                                  </p:stCondLst>
                                  <p:childTnLst>
                                    <p:anim calcmode="discrete" valueType="str">
                                      <p:cBhvr>
                                        <p:cTn id="10"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fill="hold" grpId="0" nodeType="clickEffect">
                                  <p:stCondLst>
                                    <p:cond delay="0"/>
                                  </p:stCondLst>
                                  <p:childTnLst>
                                    <p:anim calcmode="discrete" valueType="str">
                                      <p:cBhvr>
                                        <p:cTn id="14"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fill="hold" grpId="0" nodeType="clickEffect">
                                  <p:stCondLst>
                                    <p:cond delay="0"/>
                                  </p:stCondLst>
                                  <p:childTnLst>
                                    <p:anim calcmode="discrete" valueType="str">
                                      <p:cBhvr>
                                        <p:cTn id="18" dur="1000" fill="hold"/>
                                        <p:tgtEl>
                                          <p:spTgt spid="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P spid="17"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339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3238398" y="582538"/>
            <a:ext cx="26500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3.4.3  </a:t>
            </a:r>
            <a:r>
              <a:rPr lang="zh-CN" altLang="en-US" sz="2400" b="1" dirty="0">
                <a:solidFill>
                  <a:schemeClr val="bg1"/>
                </a:solidFill>
                <a:latin typeface="微软雅黑" pitchFamily="34" charset="-122"/>
                <a:ea typeface="微软雅黑" pitchFamily="34" charset="-122"/>
              </a:rPr>
              <a:t>虚拟局域网</a:t>
            </a:r>
          </a:p>
        </p:txBody>
      </p:sp>
      <p:sp>
        <p:nvSpPr>
          <p:cNvPr id="4" name="任意多边形: 形状 3">
            <a:extLst>
              <a:ext uri="{FF2B5EF4-FFF2-40B4-BE49-F238E27FC236}">
                <a16:creationId xmlns:a16="http://schemas.microsoft.com/office/drawing/2014/main" id="{82A281FD-7C4C-9FF0-A8CA-9EBDDE09D2A6}"/>
              </a:ext>
            </a:extLst>
          </p:cNvPr>
          <p:cNvSpPr/>
          <p:nvPr/>
        </p:nvSpPr>
        <p:spPr>
          <a:xfrm>
            <a:off x="2237598" y="1197971"/>
            <a:ext cx="4651683" cy="453702"/>
          </a:xfrm>
          <a:custGeom>
            <a:avLst/>
            <a:gdLst>
              <a:gd name="connsiteX0" fmla="*/ 0 w 4651683"/>
              <a:gd name="connsiteY0" fmla="*/ 45370 h 453702"/>
              <a:gd name="connsiteX1" fmla="*/ 45370 w 4651683"/>
              <a:gd name="connsiteY1" fmla="*/ 0 h 453702"/>
              <a:gd name="connsiteX2" fmla="*/ 4606313 w 4651683"/>
              <a:gd name="connsiteY2" fmla="*/ 0 h 453702"/>
              <a:gd name="connsiteX3" fmla="*/ 4651683 w 4651683"/>
              <a:gd name="connsiteY3" fmla="*/ 45370 h 453702"/>
              <a:gd name="connsiteX4" fmla="*/ 4651683 w 4651683"/>
              <a:gd name="connsiteY4" fmla="*/ 408332 h 453702"/>
              <a:gd name="connsiteX5" fmla="*/ 4606313 w 4651683"/>
              <a:gd name="connsiteY5" fmla="*/ 453702 h 453702"/>
              <a:gd name="connsiteX6" fmla="*/ 45370 w 4651683"/>
              <a:gd name="connsiteY6" fmla="*/ 453702 h 453702"/>
              <a:gd name="connsiteX7" fmla="*/ 0 w 4651683"/>
              <a:gd name="connsiteY7" fmla="*/ 408332 h 453702"/>
              <a:gd name="connsiteX8" fmla="*/ 0 w 4651683"/>
              <a:gd name="connsiteY8" fmla="*/ 45370 h 45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51683" h="453702">
                <a:moveTo>
                  <a:pt x="0" y="45370"/>
                </a:moveTo>
                <a:cubicBezTo>
                  <a:pt x="0" y="20313"/>
                  <a:pt x="20313" y="0"/>
                  <a:pt x="45370" y="0"/>
                </a:cubicBezTo>
                <a:lnTo>
                  <a:pt x="4606313" y="0"/>
                </a:lnTo>
                <a:cubicBezTo>
                  <a:pt x="4631370" y="0"/>
                  <a:pt x="4651683" y="20313"/>
                  <a:pt x="4651683" y="45370"/>
                </a:cubicBezTo>
                <a:lnTo>
                  <a:pt x="4651683" y="408332"/>
                </a:lnTo>
                <a:cubicBezTo>
                  <a:pt x="4651683" y="433389"/>
                  <a:pt x="4631370" y="453702"/>
                  <a:pt x="4606313" y="453702"/>
                </a:cubicBezTo>
                <a:lnTo>
                  <a:pt x="45370" y="453702"/>
                </a:lnTo>
                <a:cubicBezTo>
                  <a:pt x="20313" y="453702"/>
                  <a:pt x="0" y="433389"/>
                  <a:pt x="0" y="408332"/>
                </a:cubicBezTo>
                <a:lnTo>
                  <a:pt x="0" y="4537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51388" tIns="38688" rIns="51388" bIns="38688"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大规模以太网存在的主要问题</a:t>
            </a:r>
          </a:p>
        </p:txBody>
      </p:sp>
      <p:sp>
        <p:nvSpPr>
          <p:cNvPr id="7" name="矩形: 圆角 6">
            <a:extLst>
              <a:ext uri="{FF2B5EF4-FFF2-40B4-BE49-F238E27FC236}">
                <a16:creationId xmlns:a16="http://schemas.microsoft.com/office/drawing/2014/main" id="{13837C0E-E096-8A83-6B53-86F3053A7CE1}"/>
              </a:ext>
            </a:extLst>
          </p:cNvPr>
          <p:cNvSpPr/>
          <p:nvPr/>
        </p:nvSpPr>
        <p:spPr>
          <a:xfrm>
            <a:off x="2237598" y="1733340"/>
            <a:ext cx="453702" cy="453702"/>
          </a:xfrm>
          <a:prstGeom prst="roundRect">
            <a:avLst>
              <a:gd name="adj" fmla="val 16670"/>
            </a:avLst>
          </a:prstGeom>
          <a:blipFill>
            <a:blip r:embed="rId3" cstate="print">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sp>
      <p:sp>
        <p:nvSpPr>
          <p:cNvPr id="8" name="任意多边形: 形状 7">
            <a:extLst>
              <a:ext uri="{FF2B5EF4-FFF2-40B4-BE49-F238E27FC236}">
                <a16:creationId xmlns:a16="http://schemas.microsoft.com/office/drawing/2014/main" id="{5A0D048C-55FF-94DC-7A62-A05366C17465}"/>
              </a:ext>
            </a:extLst>
          </p:cNvPr>
          <p:cNvSpPr/>
          <p:nvPr/>
        </p:nvSpPr>
        <p:spPr>
          <a:xfrm>
            <a:off x="2718523" y="1733340"/>
            <a:ext cx="4170758" cy="453702"/>
          </a:xfrm>
          <a:custGeom>
            <a:avLst/>
            <a:gdLst>
              <a:gd name="connsiteX0" fmla="*/ 0 w 4170758"/>
              <a:gd name="connsiteY0" fmla="*/ 75632 h 453702"/>
              <a:gd name="connsiteX1" fmla="*/ 75632 w 4170758"/>
              <a:gd name="connsiteY1" fmla="*/ 0 h 453702"/>
              <a:gd name="connsiteX2" fmla="*/ 4095126 w 4170758"/>
              <a:gd name="connsiteY2" fmla="*/ 0 h 453702"/>
              <a:gd name="connsiteX3" fmla="*/ 4170758 w 4170758"/>
              <a:gd name="connsiteY3" fmla="*/ 75632 h 453702"/>
              <a:gd name="connsiteX4" fmla="*/ 4170758 w 4170758"/>
              <a:gd name="connsiteY4" fmla="*/ 378070 h 453702"/>
              <a:gd name="connsiteX5" fmla="*/ 4095126 w 4170758"/>
              <a:gd name="connsiteY5" fmla="*/ 453702 h 453702"/>
              <a:gd name="connsiteX6" fmla="*/ 75632 w 4170758"/>
              <a:gd name="connsiteY6" fmla="*/ 453702 h 453702"/>
              <a:gd name="connsiteX7" fmla="*/ 0 w 4170758"/>
              <a:gd name="connsiteY7" fmla="*/ 378070 h 453702"/>
              <a:gd name="connsiteX8" fmla="*/ 0 w 4170758"/>
              <a:gd name="connsiteY8" fmla="*/ 75632 h 45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0758" h="453702">
                <a:moveTo>
                  <a:pt x="0" y="75632"/>
                </a:moveTo>
                <a:cubicBezTo>
                  <a:pt x="0" y="33862"/>
                  <a:pt x="33862" y="0"/>
                  <a:pt x="75632" y="0"/>
                </a:cubicBezTo>
                <a:lnTo>
                  <a:pt x="4095126" y="0"/>
                </a:lnTo>
                <a:cubicBezTo>
                  <a:pt x="4136896" y="0"/>
                  <a:pt x="4170758" y="33862"/>
                  <a:pt x="4170758" y="75632"/>
                </a:cubicBezTo>
                <a:lnTo>
                  <a:pt x="4170758" y="378070"/>
                </a:lnTo>
                <a:cubicBezTo>
                  <a:pt x="4170758" y="419840"/>
                  <a:pt x="4136896" y="453702"/>
                  <a:pt x="4095126" y="453702"/>
                </a:cubicBezTo>
                <a:lnTo>
                  <a:pt x="75632" y="453702"/>
                </a:lnTo>
                <a:cubicBezTo>
                  <a:pt x="33862" y="453702"/>
                  <a:pt x="0" y="419840"/>
                  <a:pt x="0" y="378070"/>
                </a:cubicBezTo>
                <a:lnTo>
                  <a:pt x="0" y="75632"/>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64392" tIns="164392" rIns="164392" bIns="164392"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广播风暴</a:t>
            </a:r>
          </a:p>
        </p:txBody>
      </p:sp>
      <p:sp>
        <p:nvSpPr>
          <p:cNvPr id="9" name="矩形: 圆角 8">
            <a:extLst>
              <a:ext uri="{FF2B5EF4-FFF2-40B4-BE49-F238E27FC236}">
                <a16:creationId xmlns:a16="http://schemas.microsoft.com/office/drawing/2014/main" id="{A26ACC3E-59DC-DF20-ECC3-99C9353EC66F}"/>
              </a:ext>
            </a:extLst>
          </p:cNvPr>
          <p:cNvSpPr/>
          <p:nvPr/>
        </p:nvSpPr>
        <p:spPr>
          <a:xfrm>
            <a:off x="2237598" y="2241487"/>
            <a:ext cx="453702" cy="453702"/>
          </a:xfrm>
          <a:prstGeom prst="roundRect">
            <a:avLst>
              <a:gd name="adj" fmla="val 16670"/>
            </a:avLst>
          </a:prstGeom>
          <a:blipFill>
            <a:blip r:embed="rId3" cstate="print">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4">
              <a:hueOff val="-2232385"/>
              <a:satOff val="13449"/>
              <a:lumOff val="1078"/>
              <a:alphaOff val="0"/>
            </a:schemeClr>
          </a:effectRef>
          <a:fontRef idx="minor">
            <a:schemeClr val="lt1"/>
          </a:fontRef>
        </p:style>
      </p:sp>
      <p:sp>
        <p:nvSpPr>
          <p:cNvPr id="10" name="任意多边形: 形状 9">
            <a:extLst>
              <a:ext uri="{FF2B5EF4-FFF2-40B4-BE49-F238E27FC236}">
                <a16:creationId xmlns:a16="http://schemas.microsoft.com/office/drawing/2014/main" id="{F8C2DB04-11BB-2B89-75E4-F631BB4722CA}"/>
              </a:ext>
            </a:extLst>
          </p:cNvPr>
          <p:cNvSpPr/>
          <p:nvPr/>
        </p:nvSpPr>
        <p:spPr>
          <a:xfrm>
            <a:off x="2718523" y="2241487"/>
            <a:ext cx="4170758" cy="453702"/>
          </a:xfrm>
          <a:custGeom>
            <a:avLst/>
            <a:gdLst>
              <a:gd name="connsiteX0" fmla="*/ 0 w 4170758"/>
              <a:gd name="connsiteY0" fmla="*/ 75632 h 453702"/>
              <a:gd name="connsiteX1" fmla="*/ 75632 w 4170758"/>
              <a:gd name="connsiteY1" fmla="*/ 0 h 453702"/>
              <a:gd name="connsiteX2" fmla="*/ 4095126 w 4170758"/>
              <a:gd name="connsiteY2" fmla="*/ 0 h 453702"/>
              <a:gd name="connsiteX3" fmla="*/ 4170758 w 4170758"/>
              <a:gd name="connsiteY3" fmla="*/ 75632 h 453702"/>
              <a:gd name="connsiteX4" fmla="*/ 4170758 w 4170758"/>
              <a:gd name="connsiteY4" fmla="*/ 378070 h 453702"/>
              <a:gd name="connsiteX5" fmla="*/ 4095126 w 4170758"/>
              <a:gd name="connsiteY5" fmla="*/ 453702 h 453702"/>
              <a:gd name="connsiteX6" fmla="*/ 75632 w 4170758"/>
              <a:gd name="connsiteY6" fmla="*/ 453702 h 453702"/>
              <a:gd name="connsiteX7" fmla="*/ 0 w 4170758"/>
              <a:gd name="connsiteY7" fmla="*/ 378070 h 453702"/>
              <a:gd name="connsiteX8" fmla="*/ 0 w 4170758"/>
              <a:gd name="connsiteY8" fmla="*/ 75632 h 45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0758" h="453702">
                <a:moveTo>
                  <a:pt x="0" y="75632"/>
                </a:moveTo>
                <a:cubicBezTo>
                  <a:pt x="0" y="33862"/>
                  <a:pt x="33862" y="0"/>
                  <a:pt x="75632" y="0"/>
                </a:cubicBezTo>
                <a:lnTo>
                  <a:pt x="4095126" y="0"/>
                </a:lnTo>
                <a:cubicBezTo>
                  <a:pt x="4136896" y="0"/>
                  <a:pt x="4170758" y="33862"/>
                  <a:pt x="4170758" y="75632"/>
                </a:cubicBezTo>
                <a:lnTo>
                  <a:pt x="4170758" y="378070"/>
                </a:lnTo>
                <a:cubicBezTo>
                  <a:pt x="4170758" y="419840"/>
                  <a:pt x="4136896" y="453702"/>
                  <a:pt x="4095126" y="453702"/>
                </a:cubicBezTo>
                <a:lnTo>
                  <a:pt x="75632" y="453702"/>
                </a:lnTo>
                <a:cubicBezTo>
                  <a:pt x="33862" y="453702"/>
                  <a:pt x="0" y="419840"/>
                  <a:pt x="0" y="378070"/>
                </a:cubicBezTo>
                <a:lnTo>
                  <a:pt x="0" y="75632"/>
                </a:lnTo>
                <a:close/>
              </a:path>
            </a:pathLst>
          </a:custGeom>
        </p:spPr>
        <p:style>
          <a:lnRef idx="2">
            <a:schemeClr val="lt1">
              <a:hueOff val="0"/>
              <a:satOff val="0"/>
              <a:lumOff val="0"/>
              <a:alphaOff val="0"/>
            </a:schemeClr>
          </a:lnRef>
          <a:fillRef idx="1">
            <a:schemeClr val="accent4">
              <a:hueOff val="-2232385"/>
              <a:satOff val="13449"/>
              <a:lumOff val="1078"/>
              <a:alphaOff val="0"/>
            </a:schemeClr>
          </a:fillRef>
          <a:effectRef idx="0">
            <a:schemeClr val="accent4">
              <a:hueOff val="-2232385"/>
              <a:satOff val="13449"/>
              <a:lumOff val="1078"/>
              <a:alphaOff val="0"/>
            </a:schemeClr>
          </a:effectRef>
          <a:fontRef idx="minor">
            <a:schemeClr val="lt1"/>
          </a:fontRef>
        </p:style>
        <p:txBody>
          <a:bodyPr spcFirstLastPara="0" vert="horz" wrap="square" lIns="164392" tIns="164392" rIns="164392" bIns="164392"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安全问题</a:t>
            </a:r>
          </a:p>
        </p:txBody>
      </p:sp>
      <p:sp>
        <p:nvSpPr>
          <p:cNvPr id="11" name="矩形: 圆角 10">
            <a:extLst>
              <a:ext uri="{FF2B5EF4-FFF2-40B4-BE49-F238E27FC236}">
                <a16:creationId xmlns:a16="http://schemas.microsoft.com/office/drawing/2014/main" id="{95E3942B-8A3E-DBF9-7E66-FD17BE7510F2}"/>
              </a:ext>
            </a:extLst>
          </p:cNvPr>
          <p:cNvSpPr/>
          <p:nvPr/>
        </p:nvSpPr>
        <p:spPr>
          <a:xfrm>
            <a:off x="2237598" y="2749634"/>
            <a:ext cx="453702" cy="453702"/>
          </a:xfrm>
          <a:prstGeom prst="roundRect">
            <a:avLst>
              <a:gd name="adj" fmla="val 16670"/>
            </a:avLst>
          </a:prstGeom>
          <a:blipFill>
            <a:blip r:embed="rId3" cstate="print">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4">
              <a:hueOff val="-4464770"/>
              <a:satOff val="26899"/>
              <a:lumOff val="2156"/>
              <a:alphaOff val="0"/>
            </a:schemeClr>
          </a:effectRef>
          <a:fontRef idx="minor">
            <a:schemeClr val="lt1"/>
          </a:fontRef>
        </p:style>
      </p:sp>
      <p:sp>
        <p:nvSpPr>
          <p:cNvPr id="12" name="任意多边形: 形状 11">
            <a:extLst>
              <a:ext uri="{FF2B5EF4-FFF2-40B4-BE49-F238E27FC236}">
                <a16:creationId xmlns:a16="http://schemas.microsoft.com/office/drawing/2014/main" id="{C5115D89-1441-CFB5-FBC6-A6CDBD9651FA}"/>
              </a:ext>
            </a:extLst>
          </p:cNvPr>
          <p:cNvSpPr/>
          <p:nvPr/>
        </p:nvSpPr>
        <p:spPr>
          <a:xfrm>
            <a:off x="2718523" y="2749634"/>
            <a:ext cx="4170758" cy="453702"/>
          </a:xfrm>
          <a:custGeom>
            <a:avLst/>
            <a:gdLst>
              <a:gd name="connsiteX0" fmla="*/ 0 w 4170758"/>
              <a:gd name="connsiteY0" fmla="*/ 75632 h 453702"/>
              <a:gd name="connsiteX1" fmla="*/ 75632 w 4170758"/>
              <a:gd name="connsiteY1" fmla="*/ 0 h 453702"/>
              <a:gd name="connsiteX2" fmla="*/ 4095126 w 4170758"/>
              <a:gd name="connsiteY2" fmla="*/ 0 h 453702"/>
              <a:gd name="connsiteX3" fmla="*/ 4170758 w 4170758"/>
              <a:gd name="connsiteY3" fmla="*/ 75632 h 453702"/>
              <a:gd name="connsiteX4" fmla="*/ 4170758 w 4170758"/>
              <a:gd name="connsiteY4" fmla="*/ 378070 h 453702"/>
              <a:gd name="connsiteX5" fmla="*/ 4095126 w 4170758"/>
              <a:gd name="connsiteY5" fmla="*/ 453702 h 453702"/>
              <a:gd name="connsiteX6" fmla="*/ 75632 w 4170758"/>
              <a:gd name="connsiteY6" fmla="*/ 453702 h 453702"/>
              <a:gd name="connsiteX7" fmla="*/ 0 w 4170758"/>
              <a:gd name="connsiteY7" fmla="*/ 378070 h 453702"/>
              <a:gd name="connsiteX8" fmla="*/ 0 w 4170758"/>
              <a:gd name="connsiteY8" fmla="*/ 75632 h 45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0758" h="453702">
                <a:moveTo>
                  <a:pt x="0" y="75632"/>
                </a:moveTo>
                <a:cubicBezTo>
                  <a:pt x="0" y="33862"/>
                  <a:pt x="33862" y="0"/>
                  <a:pt x="75632" y="0"/>
                </a:cubicBezTo>
                <a:lnTo>
                  <a:pt x="4095126" y="0"/>
                </a:lnTo>
                <a:cubicBezTo>
                  <a:pt x="4136896" y="0"/>
                  <a:pt x="4170758" y="33862"/>
                  <a:pt x="4170758" y="75632"/>
                </a:cubicBezTo>
                <a:lnTo>
                  <a:pt x="4170758" y="378070"/>
                </a:lnTo>
                <a:cubicBezTo>
                  <a:pt x="4170758" y="419840"/>
                  <a:pt x="4136896" y="453702"/>
                  <a:pt x="4095126" y="453702"/>
                </a:cubicBezTo>
                <a:lnTo>
                  <a:pt x="75632" y="453702"/>
                </a:lnTo>
                <a:cubicBezTo>
                  <a:pt x="33862" y="453702"/>
                  <a:pt x="0" y="419840"/>
                  <a:pt x="0" y="378070"/>
                </a:cubicBezTo>
                <a:lnTo>
                  <a:pt x="0" y="75632"/>
                </a:lnTo>
                <a:close/>
              </a:path>
            </a:pathLst>
          </a:custGeom>
        </p:spPr>
        <p:style>
          <a:lnRef idx="2">
            <a:schemeClr val="lt1">
              <a:hueOff val="0"/>
              <a:satOff val="0"/>
              <a:lumOff val="0"/>
              <a:alphaOff val="0"/>
            </a:schemeClr>
          </a:lnRef>
          <a:fillRef idx="1">
            <a:schemeClr val="accent4">
              <a:hueOff val="-4464770"/>
              <a:satOff val="26899"/>
              <a:lumOff val="2156"/>
              <a:alphaOff val="0"/>
            </a:schemeClr>
          </a:fillRef>
          <a:effectRef idx="0">
            <a:schemeClr val="accent4">
              <a:hueOff val="-4464770"/>
              <a:satOff val="26899"/>
              <a:lumOff val="2156"/>
              <a:alphaOff val="0"/>
            </a:schemeClr>
          </a:effectRef>
          <a:fontRef idx="minor">
            <a:schemeClr val="lt1"/>
          </a:fontRef>
        </p:style>
        <p:txBody>
          <a:bodyPr spcFirstLastPara="0" vert="horz" wrap="square" lIns="164392" tIns="164392" rIns="164392" bIns="164392"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管理困难 </a:t>
            </a:r>
          </a:p>
        </p:txBody>
      </p:sp>
      <p:grpSp>
        <p:nvGrpSpPr>
          <p:cNvPr id="13" name="组合 12">
            <a:extLst>
              <a:ext uri="{FF2B5EF4-FFF2-40B4-BE49-F238E27FC236}">
                <a16:creationId xmlns:a16="http://schemas.microsoft.com/office/drawing/2014/main" id="{C9D522A9-B969-3FB3-AB3B-0A3C00447C80}"/>
              </a:ext>
            </a:extLst>
          </p:cNvPr>
          <p:cNvGrpSpPr/>
          <p:nvPr/>
        </p:nvGrpSpPr>
        <p:grpSpPr>
          <a:xfrm>
            <a:off x="1589647" y="3467836"/>
            <a:ext cx="6428509" cy="955386"/>
            <a:chOff x="1219200" y="3090147"/>
            <a:chExt cx="6428509" cy="955386"/>
          </a:xfrm>
        </p:grpSpPr>
        <p:sp>
          <p:nvSpPr>
            <p:cNvPr id="14" name="对角圆角矩形 80">
              <a:extLst>
                <a:ext uri="{FF2B5EF4-FFF2-40B4-BE49-F238E27FC236}">
                  <a16:creationId xmlns:a16="http://schemas.microsoft.com/office/drawing/2014/main" id="{4B66C0BB-0530-FB67-7D8E-050C3E9414CE}"/>
                </a:ext>
              </a:extLst>
            </p:cNvPr>
            <p:cNvSpPr/>
            <p:nvPr/>
          </p:nvSpPr>
          <p:spPr>
            <a:xfrm>
              <a:off x="1219200" y="3090147"/>
              <a:ext cx="6428509" cy="95538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矩形 14">
              <a:extLst>
                <a:ext uri="{FF2B5EF4-FFF2-40B4-BE49-F238E27FC236}">
                  <a16:creationId xmlns:a16="http://schemas.microsoft.com/office/drawing/2014/main" id="{6F37645F-A75F-920B-9E51-BB08B6A62B18}"/>
                </a:ext>
              </a:extLst>
            </p:cNvPr>
            <p:cNvSpPr/>
            <p:nvPr/>
          </p:nvSpPr>
          <p:spPr>
            <a:xfrm>
              <a:off x="1450110" y="3212346"/>
              <a:ext cx="6197599" cy="736868"/>
            </a:xfrm>
            <a:prstGeom prst="rect">
              <a:avLst/>
            </a:prstGeom>
          </p:spPr>
          <p:txBody>
            <a:bodyPr wrap="square">
              <a:spAutoFit/>
            </a:bodyPr>
            <a:lstStyle/>
            <a:p>
              <a:pPr>
                <a:lnSpc>
                  <a:spcPts val="2600"/>
                </a:lnSpc>
              </a:pPr>
              <a:r>
                <a:rPr lang="zh-CN" altLang="en-US" sz="2000" b="1" dirty="0">
                  <a:solidFill>
                    <a:srgbClr val="FFFF00"/>
                  </a:solidFill>
                  <a:latin typeface="微软雅黑" panose="020B0503020204020204" pitchFamily="34" charset="-122"/>
                  <a:ea typeface="微软雅黑" panose="020B0503020204020204" pitchFamily="34" charset="-122"/>
                </a:rPr>
                <a:t>虚拟局域网</a:t>
              </a:r>
              <a:r>
                <a:rPr lang="en-US" altLang="zh-CN" sz="2000" b="1" dirty="0">
                  <a:solidFill>
                    <a:srgbClr val="FFFF00"/>
                  </a:solidFill>
                  <a:latin typeface="微软雅黑" panose="020B0503020204020204" pitchFamily="34" charset="-122"/>
                  <a:ea typeface="微软雅黑" panose="020B0503020204020204" pitchFamily="34" charset="-122"/>
                </a:rPr>
                <a:t>VLAN </a:t>
              </a:r>
              <a:r>
                <a:rPr lang="en-US" altLang="zh-CN" sz="2000" b="1" dirty="0">
                  <a:solidFill>
                    <a:schemeClr val="bg1"/>
                  </a:solidFill>
                  <a:latin typeface="微软雅黑" panose="020B0503020204020204" pitchFamily="34" charset="-122"/>
                  <a:ea typeface="微软雅黑" panose="020B0503020204020204" pitchFamily="34" charset="-122"/>
                </a:rPr>
                <a:t>(Virtual LAN) </a:t>
              </a:r>
              <a:r>
                <a:rPr lang="zh-CN" altLang="en-US" sz="2000" b="1" dirty="0">
                  <a:solidFill>
                    <a:schemeClr val="bg1"/>
                  </a:solidFill>
                  <a:latin typeface="微软雅黑" panose="020B0503020204020204" pitchFamily="34" charset="-122"/>
                  <a:ea typeface="微软雅黑" panose="020B0503020204020204" pitchFamily="34" charset="-122"/>
                </a:rPr>
                <a:t>技术可以有效解决这些问题。</a:t>
              </a:r>
            </a:p>
          </p:txBody>
        </p:sp>
      </p:grpSp>
    </p:spTree>
    <p:extLst>
      <p:ext uri="{BB962C8B-B14F-4D97-AF65-F5344CB8AC3E}">
        <p14:creationId xmlns:p14="http://schemas.microsoft.com/office/powerpoint/2010/main" val="188881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534372" y="612914"/>
            <a:ext cx="40654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 </a:t>
            </a:r>
            <a:r>
              <a:rPr lang="en-US" altLang="zh-CN" sz="2000" b="1" dirty="0">
                <a:solidFill>
                  <a:schemeClr val="bg1"/>
                </a:solidFill>
                <a:latin typeface="微软雅黑" pitchFamily="34" charset="-122"/>
                <a:ea typeface="微软雅黑" pitchFamily="34" charset="-122"/>
              </a:rPr>
              <a:t>VLAN (Virtual LAN)</a:t>
            </a:r>
            <a:endParaRPr lang="fr-FR" altLang="zh-CN" sz="2000" b="1" dirty="0">
              <a:solidFill>
                <a:schemeClr val="bg1"/>
              </a:solidFill>
              <a:latin typeface="微软雅黑" pitchFamily="34" charset="-122"/>
              <a:ea typeface="微软雅黑" pitchFamily="34" charset="-122"/>
            </a:endParaRPr>
          </a:p>
        </p:txBody>
      </p:sp>
      <p:sp>
        <p:nvSpPr>
          <p:cNvPr id="79" name="Rectangle 8"/>
          <p:cNvSpPr>
            <a:spLocks noChangeArrowheads="1"/>
          </p:cNvSpPr>
          <p:nvPr/>
        </p:nvSpPr>
        <p:spPr bwMode="auto">
          <a:xfrm>
            <a:off x="502919" y="1001140"/>
            <a:ext cx="8129015" cy="1977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en-US" altLang="zh-CN" sz="1900" b="1" dirty="0">
                <a:solidFill>
                  <a:srgbClr val="0000FF"/>
                </a:solidFill>
                <a:latin typeface="微软雅黑" pitchFamily="34" charset="-122"/>
                <a:ea typeface="微软雅黑" pitchFamily="34" charset="-122"/>
              </a:rPr>
              <a:t>IEEE 802.1Q </a:t>
            </a:r>
            <a:r>
              <a:rPr lang="zh-CN" altLang="en-US" sz="1900" b="1" dirty="0">
                <a:latin typeface="微软雅黑" pitchFamily="34" charset="-122"/>
                <a:ea typeface="微软雅黑" pitchFamily="34" charset="-122"/>
              </a:rPr>
              <a:t>对虚拟局域网 </a:t>
            </a:r>
            <a:r>
              <a:rPr lang="en-US" altLang="zh-CN" sz="1900" b="1" dirty="0">
                <a:solidFill>
                  <a:srgbClr val="0000FF"/>
                </a:solidFill>
                <a:latin typeface="微软雅黑" pitchFamily="34" charset="-122"/>
                <a:ea typeface="微软雅黑" pitchFamily="34" charset="-122"/>
              </a:rPr>
              <a:t>VLAN </a:t>
            </a:r>
            <a:r>
              <a:rPr lang="zh-CN" altLang="en-US" sz="1900" b="1" dirty="0">
                <a:solidFill>
                  <a:srgbClr val="0000FF"/>
                </a:solidFill>
                <a:latin typeface="微软雅黑" pitchFamily="34" charset="-122"/>
                <a:ea typeface="微软雅黑" pitchFamily="34" charset="-122"/>
              </a:rPr>
              <a:t>的定义：</a:t>
            </a:r>
            <a:endParaRPr lang="en-US" altLang="zh-CN" sz="1900" b="1" dirty="0">
              <a:solidFill>
                <a:srgbClr val="0000FF"/>
              </a:solidFill>
              <a:latin typeface="微软雅黑" pitchFamily="34" charset="-122"/>
              <a:ea typeface="微软雅黑" pitchFamily="34" charset="-122"/>
            </a:endParaRPr>
          </a:p>
          <a:p>
            <a:pPr marL="271463">
              <a:lnSpc>
                <a:spcPts val="3000"/>
              </a:lnSpc>
              <a:buClr>
                <a:srgbClr val="0070C0"/>
              </a:buClr>
            </a:pPr>
            <a:r>
              <a:rPr lang="zh-CN" altLang="en-US" sz="1900" b="1" dirty="0">
                <a:solidFill>
                  <a:srgbClr val="C00000"/>
                </a:solidFill>
                <a:latin typeface="微软雅黑" pitchFamily="34" charset="-122"/>
                <a:ea typeface="微软雅黑" pitchFamily="34" charset="-122"/>
              </a:rPr>
              <a:t>虚拟局域网 </a:t>
            </a:r>
            <a:r>
              <a:rPr lang="en-US" altLang="zh-CN" sz="1900" b="1" dirty="0">
                <a:solidFill>
                  <a:srgbClr val="C00000"/>
                </a:solidFill>
                <a:latin typeface="微软雅黑" pitchFamily="34" charset="-122"/>
                <a:ea typeface="微软雅黑" pitchFamily="34" charset="-122"/>
              </a:rPr>
              <a:t>VLAN </a:t>
            </a:r>
            <a:r>
              <a:rPr lang="zh-CN" altLang="en-US" sz="1900" b="1" dirty="0">
                <a:latin typeface="微软雅黑" pitchFamily="34" charset="-122"/>
                <a:ea typeface="微软雅黑" pitchFamily="34" charset="-122"/>
              </a:rPr>
              <a:t>是由一些局域网网段构成的</a:t>
            </a:r>
            <a:r>
              <a:rPr lang="zh-CN" altLang="en-US" sz="1900" b="1" dirty="0">
                <a:solidFill>
                  <a:srgbClr val="C00000"/>
                </a:solidFill>
                <a:latin typeface="微软雅黑" pitchFamily="34" charset="-122"/>
                <a:ea typeface="微软雅黑" pitchFamily="34" charset="-122"/>
              </a:rPr>
              <a:t>与物理位置无关的逻辑组</a:t>
            </a:r>
            <a:r>
              <a:rPr lang="zh-CN" altLang="en-US" sz="1900" b="1" dirty="0">
                <a:latin typeface="微软雅黑" pitchFamily="34" charset="-122"/>
                <a:ea typeface="微软雅黑" pitchFamily="34" charset="-122"/>
              </a:rPr>
              <a:t>，而这些网段具有某些共同的需求。每一个 </a:t>
            </a:r>
            <a:r>
              <a:rPr lang="en-US" altLang="zh-CN" sz="1900" b="1" dirty="0">
                <a:latin typeface="微软雅黑" pitchFamily="34" charset="-122"/>
                <a:ea typeface="微软雅黑" pitchFamily="34" charset="-122"/>
              </a:rPr>
              <a:t>VLAN </a:t>
            </a:r>
            <a:r>
              <a:rPr lang="zh-CN" altLang="en-US" sz="1900" b="1" dirty="0">
                <a:latin typeface="微软雅黑" pitchFamily="34" charset="-122"/>
                <a:ea typeface="微软雅黑" pitchFamily="34" charset="-122"/>
              </a:rPr>
              <a:t>的帧都有一个明确的标识符，指明发送这个帧的计算机是属于哪一个 </a:t>
            </a:r>
            <a:r>
              <a:rPr lang="en-US" altLang="zh-CN" sz="1900" b="1" dirty="0">
                <a:latin typeface="微软雅黑" pitchFamily="34" charset="-122"/>
                <a:ea typeface="微软雅黑" pitchFamily="34" charset="-122"/>
              </a:rPr>
              <a:t>VLAN</a:t>
            </a:r>
            <a:r>
              <a:rPr lang="zh-CN" altLang="en-US" sz="1900" b="1" dirty="0">
                <a:latin typeface="微软雅黑" pitchFamily="34" charset="-122"/>
                <a:ea typeface="微软雅黑" pitchFamily="34" charset="-122"/>
              </a:rPr>
              <a:t>。</a:t>
            </a:r>
          </a:p>
          <a:p>
            <a:pPr marL="268288" indent="-268288">
              <a:lnSpc>
                <a:spcPts val="3000"/>
              </a:lnSpc>
              <a:buClr>
                <a:srgbClr val="0070C0"/>
              </a:buClr>
              <a:buFont typeface="Wingdings" pitchFamily="2" charset="2"/>
              <a:buChar char="l"/>
            </a:pPr>
            <a:r>
              <a:rPr lang="zh-CN" altLang="en-US" sz="1900" b="1" dirty="0">
                <a:latin typeface="微软雅黑" pitchFamily="34" charset="-122"/>
                <a:ea typeface="微软雅黑" pitchFamily="34" charset="-122"/>
              </a:rPr>
              <a:t>利用以太网交换机可以很方便地实现虚拟局域网 </a:t>
            </a:r>
            <a:r>
              <a:rPr lang="en-US" altLang="zh-CN" sz="1900" b="1" dirty="0">
                <a:latin typeface="微软雅黑" pitchFamily="34" charset="-122"/>
                <a:ea typeface="微软雅黑" pitchFamily="34" charset="-122"/>
              </a:rPr>
              <a:t>VLAN</a:t>
            </a:r>
            <a:r>
              <a:rPr lang="zh-CN" altLang="en-US" sz="1900" b="1" dirty="0">
                <a:latin typeface="微软雅黑" pitchFamily="34" charset="-122"/>
                <a:ea typeface="微软雅黑" pitchFamily="34" charset="-122"/>
              </a:rPr>
              <a:t>。</a:t>
            </a:r>
          </a:p>
        </p:txBody>
      </p:sp>
      <p:grpSp>
        <p:nvGrpSpPr>
          <p:cNvPr id="2" name="组合 1">
            <a:extLst>
              <a:ext uri="{FF2B5EF4-FFF2-40B4-BE49-F238E27FC236}">
                <a16:creationId xmlns:a16="http://schemas.microsoft.com/office/drawing/2014/main" id="{20F84A70-6F5E-C90C-2B16-76363F3AA583}"/>
              </a:ext>
            </a:extLst>
          </p:cNvPr>
          <p:cNvGrpSpPr/>
          <p:nvPr/>
        </p:nvGrpSpPr>
        <p:grpSpPr>
          <a:xfrm>
            <a:off x="1219200" y="3090147"/>
            <a:ext cx="6428509" cy="955386"/>
            <a:chOff x="1219200" y="3090147"/>
            <a:chExt cx="6428509" cy="955386"/>
          </a:xfrm>
        </p:grpSpPr>
        <p:sp>
          <p:nvSpPr>
            <p:cNvPr id="81" name="对角圆角矩形 80"/>
            <p:cNvSpPr/>
            <p:nvPr/>
          </p:nvSpPr>
          <p:spPr>
            <a:xfrm>
              <a:off x="1219200" y="3090147"/>
              <a:ext cx="6428509" cy="95538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矩形 2"/>
            <p:cNvSpPr/>
            <p:nvPr/>
          </p:nvSpPr>
          <p:spPr>
            <a:xfrm>
              <a:off x="1450110" y="3212346"/>
              <a:ext cx="6197599" cy="759182"/>
            </a:xfrm>
            <a:prstGeom prst="rect">
              <a:avLst/>
            </a:prstGeom>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虚拟局域网其实只是局域网给用户提供的一种</a:t>
              </a:r>
              <a:r>
                <a:rPr lang="zh-CN" altLang="en-US" sz="2000" b="1" dirty="0">
                  <a:solidFill>
                    <a:srgbClr val="FFFF00"/>
                  </a:solidFill>
                  <a:latin typeface="微软雅黑" panose="020B0503020204020204" pitchFamily="34" charset="-122"/>
                  <a:ea typeface="微软雅黑" panose="020B0503020204020204" pitchFamily="34" charset="-122"/>
                </a:rPr>
                <a:t>服务，</a:t>
              </a:r>
              <a:r>
                <a:rPr lang="zh-CN" altLang="en-US" sz="2000" b="1" dirty="0">
                  <a:solidFill>
                    <a:schemeClr val="bg1"/>
                  </a:solidFill>
                  <a:latin typeface="微软雅黑" panose="020B0503020204020204" pitchFamily="34" charset="-122"/>
                  <a:ea typeface="微软雅黑" panose="020B0503020204020204" pitchFamily="34" charset="-122"/>
                </a:rPr>
                <a:t>并</a:t>
              </a:r>
              <a:r>
                <a:rPr lang="zh-CN" altLang="en-US" sz="2000" b="1" dirty="0">
                  <a:solidFill>
                    <a:srgbClr val="FFFF00"/>
                  </a:solidFill>
                  <a:latin typeface="微软雅黑" panose="020B0503020204020204" pitchFamily="34" charset="-122"/>
                  <a:ea typeface="微软雅黑" panose="020B0503020204020204" pitchFamily="34" charset="-122"/>
                </a:rPr>
                <a:t>不是</a:t>
              </a:r>
              <a:r>
                <a:rPr lang="zh-CN" altLang="en-US" sz="2000" b="1" dirty="0">
                  <a:solidFill>
                    <a:schemeClr val="bg1"/>
                  </a:solidFill>
                  <a:latin typeface="微软雅黑" panose="020B0503020204020204" pitchFamily="34" charset="-122"/>
                  <a:ea typeface="微软雅黑" panose="020B0503020204020204" pitchFamily="34" charset="-122"/>
                </a:rPr>
                <a:t>一种新型局域网。</a:t>
              </a:r>
            </a:p>
          </p:txBody>
        </p:sp>
      </p:grpSp>
    </p:spTree>
    <p:extLst>
      <p:ext uri="{BB962C8B-B14F-4D97-AF65-F5344CB8AC3E}">
        <p14:creationId xmlns:p14="http://schemas.microsoft.com/office/powerpoint/2010/main" val="19862870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3"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96"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1" name="Text Box 52"/>
          <p:cNvSpPr txBox="1">
            <a:spLocks noChangeArrowheads="1"/>
          </p:cNvSpPr>
          <p:nvPr/>
        </p:nvSpPr>
        <p:spPr bwMode="auto">
          <a:xfrm>
            <a:off x="3736191" y="3652866"/>
            <a:ext cx="3022409" cy="523220"/>
          </a:xfrm>
          <a:prstGeom prst="rect">
            <a:avLst/>
          </a:prstGeom>
          <a:solidFill>
            <a:srgbClr val="0000CC"/>
          </a:solidFill>
          <a:ln>
            <a:solidFill>
              <a:srgbClr val="000099"/>
            </a:solidFill>
          </a:ln>
          <a:effectLst/>
        </p:spPr>
        <p:txBody>
          <a:bodyPr wrap="square">
            <a:spAutoFit/>
          </a:bodyPr>
          <a:lstStyle/>
          <a:p>
            <a:r>
              <a:rPr lang="en-US" altLang="zh-CN" sz="1400" b="1" dirty="0">
                <a:solidFill>
                  <a:schemeClr val="bg1"/>
                </a:solidFill>
                <a:latin typeface="微软雅黑" pitchFamily="34" charset="-122"/>
                <a:ea typeface="微软雅黑" pitchFamily="34" charset="-122"/>
              </a:rPr>
              <a:t>10 </a:t>
            </a:r>
            <a:r>
              <a:rPr lang="zh-CN" altLang="en-US" sz="1400" b="1" dirty="0">
                <a:solidFill>
                  <a:schemeClr val="bg1"/>
                </a:solidFill>
                <a:latin typeface="微软雅黑" pitchFamily="34" charset="-122"/>
                <a:ea typeface="微软雅黑" pitchFamily="34" charset="-122"/>
              </a:rPr>
              <a:t>台计算机划分为三个虚拟局域网：</a:t>
            </a:r>
            <a:endParaRPr lang="en-US" altLang="zh-CN" sz="1400" b="1" dirty="0">
              <a:solidFill>
                <a:schemeClr val="bg1"/>
              </a:solidFill>
              <a:latin typeface="微软雅黑" pitchFamily="34" charset="-122"/>
              <a:ea typeface="微软雅黑" pitchFamily="34" charset="-122"/>
            </a:endParaRPr>
          </a:p>
          <a:p>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a:t>
            </a:r>
            <a:endParaRPr lang="en-US" altLang="zh-CN" sz="1400" b="1" dirty="0">
              <a:solidFill>
                <a:schemeClr val="bg1"/>
              </a:solidFill>
              <a:latin typeface="微软雅黑" pitchFamily="34" charset="-122"/>
              <a:ea typeface="微软雅黑" pitchFamily="34" charset="-122"/>
            </a:endParaRPr>
          </a:p>
        </p:txBody>
      </p:sp>
      <p:grpSp>
        <p:nvGrpSpPr>
          <p:cNvPr id="5" name="组合 4"/>
          <p:cNvGrpSpPr/>
          <p:nvPr/>
        </p:nvGrpSpPr>
        <p:grpSpPr>
          <a:xfrm>
            <a:off x="5464599" y="839849"/>
            <a:ext cx="691856" cy="2377394"/>
            <a:chOff x="5479461" y="839849"/>
            <a:chExt cx="691856" cy="2377394"/>
          </a:xfrm>
        </p:grpSpPr>
        <p:sp>
          <p:nvSpPr>
            <p:cNvPr id="70"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2" name="组合 1"/>
          <p:cNvGrpSpPr/>
          <p:nvPr/>
        </p:nvGrpSpPr>
        <p:grpSpPr>
          <a:xfrm>
            <a:off x="3785188" y="920551"/>
            <a:ext cx="875156" cy="2659849"/>
            <a:chOff x="3800050" y="920551"/>
            <a:chExt cx="875156" cy="2659849"/>
          </a:xfrm>
        </p:grpSpPr>
        <p:sp>
          <p:nvSpPr>
            <p:cNvPr id="67"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3" name="组合 2"/>
          <p:cNvGrpSpPr/>
          <p:nvPr/>
        </p:nvGrpSpPr>
        <p:grpSpPr>
          <a:xfrm>
            <a:off x="4719691" y="920550"/>
            <a:ext cx="691856" cy="2377394"/>
            <a:chOff x="4734553" y="920550"/>
            <a:chExt cx="691856" cy="2377394"/>
          </a:xfrm>
        </p:grpSpPr>
        <p:sp>
          <p:nvSpPr>
            <p:cNvPr id="66"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6" name="组合 5"/>
          <p:cNvGrpSpPr/>
          <p:nvPr/>
        </p:nvGrpSpPr>
        <p:grpSpPr>
          <a:xfrm>
            <a:off x="3845014" y="885681"/>
            <a:ext cx="2307061" cy="2675492"/>
            <a:chOff x="3845014" y="885681"/>
            <a:chExt cx="2307061" cy="2675492"/>
          </a:xfrm>
        </p:grpSpPr>
        <p:sp>
          <p:nvSpPr>
            <p:cNvPr id="68"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4</a:t>
              </a:r>
              <a:endParaRPr kumimoji="1" lang="en-US" altLang="zh-CN" sz="1200" b="1" dirty="0">
                <a:latin typeface="微软雅黑" pitchFamily="34" charset="-122"/>
                <a:ea typeface="微软雅黑" pitchFamily="34" charset="-122"/>
              </a:endParaRPr>
            </a:p>
          </p:txBody>
        </p:sp>
        <p:sp>
          <p:nvSpPr>
            <p:cNvPr id="69"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75"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76"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7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8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8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8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8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8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5723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par>
                                <p:cTn id="8" presetID="22" presetClass="entr" presetSubtype="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2000"/>
                                        <p:tgtEl>
                                          <p:spTgt spid="3"/>
                                        </p:tgtEl>
                                      </p:cBhvr>
                                    </p:animEffect>
                                  </p:childTnLst>
                                </p:cTn>
                              </p:par>
                              <p:par>
                                <p:cTn id="11" presetID="22" presetClass="entr" presetSubtype="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2000"/>
                                        <p:tgtEl>
                                          <p:spTgt spid="5"/>
                                        </p:tgtEl>
                                      </p:cBhvr>
                                    </p:animEffect>
                                  </p:childTnLst>
                                </p:cTn>
                              </p:par>
                              <p:par>
                                <p:cTn id="14" presetID="1" presetClass="entr" presetSubtype="0" fill="hold" grpId="0" nodeType="withEffect">
                                  <p:stCondLst>
                                    <p:cond delay="1000"/>
                                  </p:stCondLst>
                                  <p:childTnLst>
                                    <p:set>
                                      <p:cBhvr>
                                        <p:cTn id="15"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073278"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每个虚拟局域网是一个广播域。</a:t>
            </a:r>
            <a:endParaRPr lang="en-US" altLang="zh-CN" sz="1400" b="1" dirty="0">
              <a:solidFill>
                <a:schemeClr val="bg1"/>
              </a:solidFill>
              <a:latin typeface="微软雅黑" pitchFamily="34" charset="-122"/>
              <a:ea typeface="微软雅黑" pitchFamily="34" charset="-122"/>
            </a:endParaRPr>
          </a:p>
          <a:p>
            <a:pPr>
              <a:lnSpc>
                <a:spcPts val="2000"/>
              </a:lnSpc>
            </a:pP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 </a:t>
            </a:r>
            <a:r>
              <a:rPr lang="zh-CN" altLang="en-US" sz="1400" b="1" dirty="0">
                <a:solidFill>
                  <a:schemeClr val="bg1"/>
                </a:solidFill>
                <a:latin typeface="微软雅黑" pitchFamily="34" charset="-122"/>
                <a:ea typeface="微软雅黑" pitchFamily="34" charset="-122"/>
              </a:rPr>
              <a:t>是三个不同的广播域。</a:t>
            </a:r>
          </a:p>
        </p:txBody>
      </p:sp>
      <p:sp>
        <p:nvSpPr>
          <p:cNvPr id="120"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1"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3"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4"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6"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7"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8"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9"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0"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1"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2"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3"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4"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5"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6"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7"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8"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39"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0"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1"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2"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3"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44" name="组合 143"/>
          <p:cNvGrpSpPr/>
          <p:nvPr/>
        </p:nvGrpSpPr>
        <p:grpSpPr>
          <a:xfrm>
            <a:off x="5464599" y="839849"/>
            <a:ext cx="691856" cy="2377394"/>
            <a:chOff x="5479461" y="839849"/>
            <a:chExt cx="691856" cy="2377394"/>
          </a:xfrm>
        </p:grpSpPr>
        <p:sp>
          <p:nvSpPr>
            <p:cNvPr id="145"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6"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47" name="组合 146"/>
          <p:cNvGrpSpPr/>
          <p:nvPr/>
        </p:nvGrpSpPr>
        <p:grpSpPr>
          <a:xfrm>
            <a:off x="3785188" y="920551"/>
            <a:ext cx="875156" cy="2659849"/>
            <a:chOff x="3800050" y="920551"/>
            <a:chExt cx="875156" cy="2659849"/>
          </a:xfrm>
        </p:grpSpPr>
        <p:sp>
          <p:nvSpPr>
            <p:cNvPr id="148"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9"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50" name="组合 149"/>
          <p:cNvGrpSpPr/>
          <p:nvPr/>
        </p:nvGrpSpPr>
        <p:grpSpPr>
          <a:xfrm>
            <a:off x="4719691" y="920550"/>
            <a:ext cx="691856" cy="2377394"/>
            <a:chOff x="4734553" y="920550"/>
            <a:chExt cx="691856" cy="2377394"/>
          </a:xfrm>
        </p:grpSpPr>
        <p:sp>
          <p:nvSpPr>
            <p:cNvPr id="151"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2"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53" name="组合 152"/>
          <p:cNvGrpSpPr/>
          <p:nvPr/>
        </p:nvGrpSpPr>
        <p:grpSpPr>
          <a:xfrm>
            <a:off x="3845014" y="885681"/>
            <a:ext cx="2307061" cy="2675492"/>
            <a:chOff x="3845014" y="885681"/>
            <a:chExt cx="2307061" cy="2675492"/>
          </a:xfrm>
        </p:grpSpPr>
        <p:sp>
          <p:nvSpPr>
            <p:cNvPr id="154"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55"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56"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57"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58"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59"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60"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61"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62"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63"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6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7351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47"/>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150"/>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nodeType="withEffect">
                                  <p:stCondLst>
                                    <p:cond delay="0"/>
                                  </p:stCondLst>
                                  <p:endCondLst>
                                    <p:cond evt="onNext" delay="0">
                                      <p:tgtEl>
                                        <p:sldTgt/>
                                      </p:tgtEl>
                                    </p:cond>
                                  </p:end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3610814"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向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工作组内成员发送数据时，</a:t>
            </a:r>
          </a:p>
          <a:p>
            <a:pPr>
              <a:lnSpc>
                <a:spcPts val="2000"/>
              </a:lnSpc>
            </a:pPr>
            <a:r>
              <a:rPr lang="zh-CN" altLang="en-US" sz="1400" b="1" dirty="0">
                <a:solidFill>
                  <a:schemeClr val="bg1"/>
                </a:solidFill>
                <a:latin typeface="微软雅黑" pitchFamily="34" charset="-122"/>
                <a:ea typeface="微软雅黑" pitchFamily="34" charset="-122"/>
              </a:rPr>
              <a:t>工作站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3</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将会收到其广播的信息。</a:t>
            </a:r>
          </a:p>
        </p:txBody>
      </p:sp>
      <p:sp>
        <p:nvSpPr>
          <p:cNvPr id="66"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5"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6"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8"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9"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90" name="组合 89"/>
          <p:cNvGrpSpPr/>
          <p:nvPr/>
        </p:nvGrpSpPr>
        <p:grpSpPr>
          <a:xfrm>
            <a:off x="5464599" y="839849"/>
            <a:ext cx="691856" cy="2377394"/>
            <a:chOff x="5479461" y="839849"/>
            <a:chExt cx="691856" cy="2377394"/>
          </a:xfrm>
        </p:grpSpPr>
        <p:sp>
          <p:nvSpPr>
            <p:cNvPr id="91"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2"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93" name="组合 92"/>
          <p:cNvGrpSpPr/>
          <p:nvPr/>
        </p:nvGrpSpPr>
        <p:grpSpPr>
          <a:xfrm>
            <a:off x="3785188" y="920551"/>
            <a:ext cx="875156" cy="2659849"/>
            <a:chOff x="3800050" y="920551"/>
            <a:chExt cx="875156" cy="2659849"/>
          </a:xfrm>
        </p:grpSpPr>
        <p:sp>
          <p:nvSpPr>
            <p:cNvPr id="94"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6" name="组合 95"/>
          <p:cNvGrpSpPr/>
          <p:nvPr/>
        </p:nvGrpSpPr>
        <p:grpSpPr>
          <a:xfrm>
            <a:off x="4719691" y="920550"/>
            <a:ext cx="691856" cy="2377394"/>
            <a:chOff x="4734553" y="920550"/>
            <a:chExt cx="691856" cy="2377394"/>
          </a:xfrm>
        </p:grpSpPr>
        <p:sp>
          <p:nvSpPr>
            <p:cNvPr id="97"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9" name="组合 98"/>
          <p:cNvGrpSpPr/>
          <p:nvPr/>
        </p:nvGrpSpPr>
        <p:grpSpPr>
          <a:xfrm>
            <a:off x="3845014" y="885681"/>
            <a:ext cx="2307061" cy="2675492"/>
            <a:chOff x="3845014" y="885681"/>
            <a:chExt cx="2307061" cy="2675492"/>
          </a:xfrm>
        </p:grpSpPr>
        <p:sp>
          <p:nvSpPr>
            <p:cNvPr id="100"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01"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04"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5"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6"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7"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8"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9"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1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7" name="直接连接符 5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27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57"/>
                                        </p:tgtEl>
                                        <p:attrNameLst>
                                          <p:attrName>style.visibility</p:attrName>
                                        </p:attrNameLst>
                                      </p:cBhvr>
                                      <p:to>
                                        <p:strVal val="visible"/>
                                      </p:to>
                                    </p:set>
                                    <p:animEffect transition="in" filter="wipe(right)">
                                      <p:cBhvr>
                                        <p:cTn id="7" dur="2000"/>
                                        <p:tgtEl>
                                          <p:spTgt spid="57"/>
                                        </p:tgtEl>
                                      </p:cBhvr>
                                    </p:animEffect>
                                  </p:childTnLst>
                                </p:cTn>
                              </p:par>
                            </p:childTnLst>
                          </p:cTn>
                        </p:par>
                        <p:par>
                          <p:cTn id="8" fill="hold">
                            <p:stCondLst>
                              <p:cond delay="4000"/>
                            </p:stCondLst>
                            <p:childTnLst>
                              <p:par>
                                <p:cTn id="9" presetID="22" presetClass="entr" presetSubtype="8"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2000"/>
                                        <p:tgtEl>
                                          <p:spTgt spid="64"/>
                                        </p:tgtEl>
                                      </p:cBhvr>
                                    </p:animEffect>
                                  </p:childTnLst>
                                </p:cTn>
                              </p:par>
                              <p:par>
                                <p:cTn id="12" presetID="22" presetClass="entr" presetSubtype="8" fill="hold" nodeType="with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left)">
                                      <p:cBhvr>
                                        <p:cTn id="14"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270986" cy="605294"/>
          </a:xfrm>
          <a:prstGeom prst="rect">
            <a:avLst/>
          </a:prstGeom>
          <a:solidFill>
            <a:srgbClr val="0000CC"/>
          </a:solidFill>
          <a:ln>
            <a:solidFill>
              <a:srgbClr val="000099"/>
            </a:solidFill>
          </a:ln>
          <a:effectLst/>
        </p:spPr>
        <p:txBody>
          <a:bodyPr wrap="square">
            <a:spAutoFit/>
          </a:bodyPr>
          <a:lstStyle/>
          <a:p>
            <a:pPr>
              <a:lnSpc>
                <a:spcPts val="2000"/>
              </a:lnSpc>
            </a:pP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发送数据时，</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1</a:t>
            </a:r>
            <a:r>
              <a:rPr lang="nl-NL" altLang="zh-CN" sz="1400" b="1" dirty="0">
                <a:solidFill>
                  <a:schemeClr val="bg1"/>
                </a:solidFill>
                <a:latin typeface="微软雅黑" pitchFamily="34" charset="-122"/>
                <a:ea typeface="微软雅黑" pitchFamily="34" charset="-122"/>
              </a:rPr>
              <a:t> </a:t>
            </a:r>
            <a:r>
              <a:rPr lang="zh-CN" altLang="nl-NL" sz="1400" b="1" dirty="0">
                <a:solidFill>
                  <a:schemeClr val="bg1"/>
                </a:solidFill>
                <a:latin typeface="微软雅黑" pitchFamily="34" charset="-122"/>
                <a:ea typeface="微软雅黑" pitchFamily="34" charset="-122"/>
              </a:rPr>
              <a:t>和 </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3</a:t>
            </a:r>
            <a:r>
              <a:rPr lang="nl-NL"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中的工作站 </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C</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等都不会收到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发出的广播信息。 </a:t>
            </a:r>
          </a:p>
        </p:txBody>
      </p:sp>
      <p:sp>
        <p:nvSpPr>
          <p:cNvPr id="59"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6"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7"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0"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2"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85" name="组合 84"/>
          <p:cNvGrpSpPr/>
          <p:nvPr/>
        </p:nvGrpSpPr>
        <p:grpSpPr>
          <a:xfrm>
            <a:off x="5464599" y="839849"/>
            <a:ext cx="691856" cy="2377394"/>
            <a:chOff x="5479461" y="839849"/>
            <a:chExt cx="691856" cy="2377394"/>
          </a:xfrm>
        </p:grpSpPr>
        <p:sp>
          <p:nvSpPr>
            <p:cNvPr id="86"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88" name="组合 87"/>
          <p:cNvGrpSpPr/>
          <p:nvPr/>
        </p:nvGrpSpPr>
        <p:grpSpPr>
          <a:xfrm>
            <a:off x="3785188" y="920551"/>
            <a:ext cx="875156" cy="2659849"/>
            <a:chOff x="3800050" y="920551"/>
            <a:chExt cx="875156" cy="2659849"/>
          </a:xfrm>
        </p:grpSpPr>
        <p:sp>
          <p:nvSpPr>
            <p:cNvPr id="89"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0"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1" name="组合 90"/>
          <p:cNvGrpSpPr/>
          <p:nvPr/>
        </p:nvGrpSpPr>
        <p:grpSpPr>
          <a:xfrm>
            <a:off x="4719691" y="920550"/>
            <a:ext cx="691856" cy="2377394"/>
            <a:chOff x="4734553" y="920550"/>
            <a:chExt cx="691856" cy="2377394"/>
          </a:xfrm>
        </p:grpSpPr>
        <p:sp>
          <p:nvSpPr>
            <p:cNvPr id="92"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4" name="组合 93"/>
          <p:cNvGrpSpPr/>
          <p:nvPr/>
        </p:nvGrpSpPr>
        <p:grpSpPr>
          <a:xfrm>
            <a:off x="3845014" y="885681"/>
            <a:ext cx="2307061" cy="2675492"/>
            <a:chOff x="3845014" y="885681"/>
            <a:chExt cx="2307061" cy="2675492"/>
          </a:xfrm>
        </p:grpSpPr>
        <p:sp>
          <p:nvSpPr>
            <p:cNvPr id="95"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96"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97"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98"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9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5" name="直接连接符 114"/>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93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15"/>
                                        </p:tgtEl>
                                        <p:attrNameLst>
                                          <p:attrName>style.visibility</p:attrName>
                                        </p:attrNameLst>
                                      </p:cBhvr>
                                      <p:to>
                                        <p:strVal val="visible"/>
                                      </p:to>
                                    </p:set>
                                    <p:animEffect transition="in" filter="wipe(right)">
                                      <p:cBhvr>
                                        <p:cTn id="7" dur="1000"/>
                                        <p:tgtEl>
                                          <p:spTgt spid="115"/>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16"/>
                                        </p:tgtEl>
                                        <p:attrNameLst>
                                          <p:attrName>style.visibility</p:attrName>
                                        </p:attrNameLst>
                                      </p:cBhvr>
                                      <p:to>
                                        <p:strVal val="visible"/>
                                      </p:to>
                                    </p:set>
                                    <p:animEffect transition="in" filter="wipe(left)">
                                      <p:cBhvr>
                                        <p:cTn id="11" dur="1000"/>
                                        <p:tgtEl>
                                          <p:spTgt spid="116"/>
                                        </p:tgtEl>
                                      </p:cBhvr>
                                    </p:animEffect>
                                  </p:childTnLst>
                                </p:cTn>
                              </p:par>
                              <p:par>
                                <p:cTn id="12" presetID="22" presetClass="entr" presetSubtype="8" fill="hold" nodeType="withEffect">
                                  <p:stCondLst>
                                    <p:cond delay="0"/>
                                  </p:stCondLst>
                                  <p:childTnLst>
                                    <p:set>
                                      <p:cBhvr>
                                        <p:cTn id="13" dur="1" fill="hold">
                                          <p:stCondLst>
                                            <p:cond delay="0"/>
                                          </p:stCondLst>
                                        </p:cTn>
                                        <p:tgtEl>
                                          <p:spTgt spid="117"/>
                                        </p:tgtEl>
                                        <p:attrNameLst>
                                          <p:attrName>style.visibility</p:attrName>
                                        </p:attrNameLst>
                                      </p:cBhvr>
                                      <p:to>
                                        <p:strVal val="visible"/>
                                      </p:to>
                                    </p:set>
                                    <p:animEffect transition="in" filter="wipe(left)">
                                      <p:cBhvr>
                                        <p:cTn id="14"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圆角矩形 91"/>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Text Box 52"/>
          <p:cNvSpPr txBox="1">
            <a:spLocks noChangeArrowheads="1"/>
          </p:cNvSpPr>
          <p:nvPr/>
        </p:nvSpPr>
        <p:spPr bwMode="auto">
          <a:xfrm>
            <a:off x="3736190" y="3652866"/>
            <a:ext cx="4505767" cy="605294"/>
          </a:xfrm>
          <a:prstGeom prst="rect">
            <a:avLst/>
          </a:prstGeom>
          <a:solidFill>
            <a:srgbClr val="0000CC"/>
          </a:solidFill>
          <a:ln>
            <a:solidFill>
              <a:srgbClr val="000099"/>
            </a:solidFill>
          </a:ln>
          <a:effectLst/>
        </p:spPr>
        <p:txBody>
          <a:bodyPr wrap="square">
            <a:spAutoFit/>
          </a:bodyPr>
          <a:lstStyle>
            <a:defPPr>
              <a:defRPr lang="zh-CN"/>
            </a:defPPr>
            <a:lvl1pPr>
              <a:lnSpc>
                <a:spcPts val="2000"/>
              </a:lnSpc>
              <a:defRPr sz="1400" b="1">
                <a:solidFill>
                  <a:schemeClr val="bg1"/>
                </a:solidFill>
                <a:latin typeface="微软雅黑" pitchFamily="34" charset="-122"/>
                <a:ea typeface="微软雅黑" pitchFamily="34" charset="-122"/>
              </a:defRPr>
            </a:lvl1pPr>
          </a:lstStyle>
          <a:p>
            <a:r>
              <a:rPr lang="zh-CN" altLang="en-US" sz="1300" dirty="0"/>
              <a:t>虚拟局域网限制了接收广播信息的工作站数，使得网络不会因传播过多的广播信息 </a:t>
            </a:r>
            <a:r>
              <a:rPr lang="en-US" altLang="zh-CN" sz="1300" dirty="0"/>
              <a:t>(</a:t>
            </a:r>
            <a:r>
              <a:rPr lang="zh-CN" altLang="en-US" sz="1300" dirty="0"/>
              <a:t>即“广播风暴”</a:t>
            </a:r>
            <a:r>
              <a:rPr lang="en-US" altLang="zh-CN" sz="1300" dirty="0"/>
              <a:t>) </a:t>
            </a:r>
            <a:r>
              <a:rPr lang="zh-CN" altLang="en-US" sz="1300" dirty="0"/>
              <a:t>而引起性能恶化。 </a:t>
            </a:r>
          </a:p>
        </p:txBody>
      </p:sp>
      <p:sp>
        <p:nvSpPr>
          <p:cNvPr id="93"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4"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6"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1"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2"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3"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4"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5"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6"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7"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8"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9"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0"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1"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12"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3"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4"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5"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6"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17" name="组合 116"/>
          <p:cNvGrpSpPr/>
          <p:nvPr/>
        </p:nvGrpSpPr>
        <p:grpSpPr>
          <a:xfrm>
            <a:off x="5464599" y="839849"/>
            <a:ext cx="691856" cy="2377394"/>
            <a:chOff x="5479461" y="839849"/>
            <a:chExt cx="691856" cy="2377394"/>
          </a:xfrm>
        </p:grpSpPr>
        <p:sp>
          <p:nvSpPr>
            <p:cNvPr id="118"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9"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20" name="组合 119"/>
          <p:cNvGrpSpPr/>
          <p:nvPr/>
        </p:nvGrpSpPr>
        <p:grpSpPr>
          <a:xfrm>
            <a:off x="3785188" y="920551"/>
            <a:ext cx="875156" cy="2659849"/>
            <a:chOff x="3800050" y="920551"/>
            <a:chExt cx="875156" cy="2659849"/>
          </a:xfrm>
        </p:grpSpPr>
        <p:sp>
          <p:nvSpPr>
            <p:cNvPr id="121"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23" name="组合 122"/>
          <p:cNvGrpSpPr/>
          <p:nvPr/>
        </p:nvGrpSpPr>
        <p:grpSpPr>
          <a:xfrm>
            <a:off x="4719691" y="920550"/>
            <a:ext cx="691856" cy="2377394"/>
            <a:chOff x="4734553" y="920550"/>
            <a:chExt cx="691856" cy="2377394"/>
          </a:xfrm>
        </p:grpSpPr>
        <p:sp>
          <p:nvSpPr>
            <p:cNvPr id="124"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26" name="组合 125"/>
          <p:cNvGrpSpPr/>
          <p:nvPr/>
        </p:nvGrpSpPr>
        <p:grpSpPr>
          <a:xfrm>
            <a:off x="3845014" y="885681"/>
            <a:ext cx="2307061" cy="2675492"/>
            <a:chOff x="3845014" y="885681"/>
            <a:chExt cx="2307061" cy="2675492"/>
          </a:xfrm>
        </p:grpSpPr>
        <p:sp>
          <p:nvSpPr>
            <p:cNvPr id="127"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28"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29"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0"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31"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32"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33"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34"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5"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36"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7" name="直接连接符 14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62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47"/>
                                        </p:tgtEl>
                                        <p:attrNameLst>
                                          <p:attrName>style.visibility</p:attrName>
                                        </p:attrNameLst>
                                      </p:cBhvr>
                                      <p:to>
                                        <p:strVal val="visible"/>
                                      </p:to>
                                    </p:set>
                                    <p:animEffect transition="in" filter="wipe(right)">
                                      <p:cBhvr>
                                        <p:cTn id="7" dur="1000"/>
                                        <p:tgtEl>
                                          <p:spTgt spid="147"/>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48"/>
                                        </p:tgtEl>
                                        <p:attrNameLst>
                                          <p:attrName>style.visibility</p:attrName>
                                        </p:attrNameLst>
                                      </p:cBhvr>
                                      <p:to>
                                        <p:strVal val="visible"/>
                                      </p:to>
                                    </p:set>
                                    <p:animEffect transition="in" filter="wipe(left)">
                                      <p:cBhvr>
                                        <p:cTn id="11" dur="1000"/>
                                        <p:tgtEl>
                                          <p:spTgt spid="148"/>
                                        </p:tgtEl>
                                      </p:cBhvr>
                                    </p:animEffect>
                                  </p:childTnLst>
                                </p:cTn>
                              </p:par>
                              <p:par>
                                <p:cTn id="12" presetID="22" presetClass="entr" presetSubtype="8" fill="hold" nodeType="withEffect">
                                  <p:stCondLst>
                                    <p:cond delay="0"/>
                                  </p:stCondLst>
                                  <p:childTnLst>
                                    <p:set>
                                      <p:cBhvr>
                                        <p:cTn id="13" dur="1" fill="hold">
                                          <p:stCondLst>
                                            <p:cond delay="0"/>
                                          </p:stCondLst>
                                        </p:cTn>
                                        <p:tgtEl>
                                          <p:spTgt spid="149"/>
                                        </p:tgtEl>
                                        <p:attrNameLst>
                                          <p:attrName>style.visibility</p:attrName>
                                        </p:attrNameLst>
                                      </p:cBhvr>
                                      <p:to>
                                        <p:strVal val="visible"/>
                                      </p:to>
                                    </p:set>
                                    <p:animEffect transition="in" filter="wipe(left)">
                                      <p:cBhvr>
                                        <p:cTn id="14"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31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422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划分虚拟局域网的方法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976"/>
            <a:ext cx="8116658" cy="2163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基于交换机端口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基于计算机网卡的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子网地址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基于协议类型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基于高层应用或服务</a:t>
            </a:r>
          </a:p>
        </p:txBody>
      </p:sp>
      <p:sp>
        <p:nvSpPr>
          <p:cNvPr id="3" name="文本框 2">
            <a:extLst>
              <a:ext uri="{FF2B5EF4-FFF2-40B4-BE49-F238E27FC236}">
                <a16:creationId xmlns:a16="http://schemas.microsoft.com/office/drawing/2014/main" id="{635F2619-246D-75AC-DFC7-E92451312C9B}"/>
              </a:ext>
            </a:extLst>
          </p:cNvPr>
          <p:cNvSpPr txBox="1"/>
          <p:nvPr/>
        </p:nvSpPr>
        <p:spPr>
          <a:xfrm>
            <a:off x="2628901" y="981411"/>
            <a:ext cx="2444544" cy="470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eaLnBrk="0" hangingPunct="0">
              <a:lnSpc>
                <a:spcPts val="3300"/>
              </a:lnSpc>
              <a:buClr>
                <a:srgbClr val="0070C0"/>
              </a:buClr>
              <a:buFont typeface="Wingdings" pitchFamily="2" charset="2"/>
              <a:buChar char="l"/>
              <a:defRPr sz="2000" b="1">
                <a:latin typeface="微软雅黑" pitchFamily="34" charset="-122"/>
                <a:ea typeface="微软雅黑" pitchFamily="34" charset="-122"/>
              </a:defRPr>
            </a:lvl1pPr>
          </a:lstStyle>
          <a:p>
            <a:pPr marL="0" indent="0">
              <a:buNone/>
            </a:pPr>
            <a:r>
              <a:rPr lang="zh-CN" altLang="en-US" dirty="0">
                <a:solidFill>
                  <a:srgbClr val="C00000"/>
                </a:solidFill>
              </a:rPr>
              <a:t>（最常用的方法）</a:t>
            </a:r>
          </a:p>
        </p:txBody>
      </p:sp>
    </p:spTree>
    <p:extLst>
      <p:ext uri="{BB962C8B-B14F-4D97-AF65-F5344CB8AC3E}">
        <p14:creationId xmlns:p14="http://schemas.microsoft.com/office/powerpoint/2010/main" val="255211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50138"/>
            <a:ext cx="8129015" cy="2939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5138169" y="1734692"/>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482046" y="4034669"/>
            <a:ext cx="5837382" cy="584775"/>
          </a:xfrm>
          <a:prstGeom prst="rect">
            <a:avLst/>
          </a:prstGeom>
        </p:spPr>
        <p:txBody>
          <a:bodyPr wrap="square">
            <a:spAutoFit/>
          </a:bodyPr>
          <a:lstStyle/>
          <a:p>
            <a:pPr algn="ctr"/>
            <a:r>
              <a:rPr lang="zh-CN" altLang="en-US" sz="1600" b="1" dirty="0">
                <a:latin typeface="微软雅黑" pitchFamily="34" charset="-122"/>
                <a:ea typeface="微软雅黑" pitchFamily="34" charset="-122"/>
              </a:rPr>
              <a:t>标准以太网帧插入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字节的 </a:t>
            </a:r>
            <a:r>
              <a:rPr lang="en-US" altLang="zh-CN" sz="1600" b="1" dirty="0">
                <a:latin typeface="微软雅黑" pitchFamily="34" charset="-122"/>
                <a:ea typeface="微软雅黑" pitchFamily="34" charset="-122"/>
              </a:rPr>
              <a:t>VLAN </a:t>
            </a:r>
            <a:r>
              <a:rPr lang="zh-CN" altLang="en-US" sz="1600" b="1" dirty="0">
                <a:latin typeface="微软雅黑" pitchFamily="34" charset="-122"/>
                <a:ea typeface="微软雅黑" pitchFamily="34" charset="-122"/>
              </a:rPr>
              <a:t>标记后变成了 </a:t>
            </a:r>
            <a:r>
              <a:rPr lang="en-US" altLang="zh-CN" sz="1600" b="1" dirty="0">
                <a:latin typeface="微软雅黑" pitchFamily="34" charset="-122"/>
                <a:ea typeface="微软雅黑" pitchFamily="34" charset="-122"/>
              </a:rPr>
              <a:t>802.1Q </a:t>
            </a:r>
            <a:r>
              <a:rPr lang="zh-CN" altLang="en-US" sz="1600" b="1" dirty="0">
                <a:latin typeface="微软雅黑" pitchFamily="34" charset="-122"/>
                <a:ea typeface="微软雅黑" pitchFamily="34" charset="-122"/>
              </a:rPr>
              <a:t>帧（或</a:t>
            </a:r>
            <a:r>
              <a:rPr lang="zh-CN" altLang="en-US" sz="1600" b="1" dirty="0">
                <a:solidFill>
                  <a:srgbClr val="C00000"/>
                </a:solidFill>
                <a:latin typeface="微软雅黑" pitchFamily="34" charset="-122"/>
                <a:ea typeface="微软雅黑" pitchFamily="34" charset="-122"/>
              </a:rPr>
              <a:t>带标记</a:t>
            </a:r>
            <a:r>
              <a:rPr lang="zh-CN" altLang="en-US" sz="1600" b="1" dirty="0">
                <a:latin typeface="微软雅黑" pitchFamily="34" charset="-122"/>
                <a:ea typeface="微软雅黑" pitchFamily="34" charset="-122"/>
              </a:rPr>
              <a:t>的以太网帧）</a:t>
            </a:r>
          </a:p>
        </p:txBody>
      </p:sp>
      <p:sp>
        <p:nvSpPr>
          <p:cNvPr id="86" name="Rectangle 4"/>
          <p:cNvSpPr>
            <a:spLocks noChangeArrowheads="1"/>
          </p:cNvSpPr>
          <p:nvPr/>
        </p:nvSpPr>
        <p:spPr bwMode="auto">
          <a:xfrm>
            <a:off x="1482046" y="1834267"/>
            <a:ext cx="668453" cy="360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lnSpc>
                <a:spcPct val="80000"/>
              </a:lnSpc>
            </a:pPr>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lnSpc>
                <a:spcPct val="80000"/>
              </a:lnSpc>
            </a:pPr>
            <a:r>
              <a:rPr kumimoji="1" lang="en-US" altLang="zh-CN" sz="1100" b="1" dirty="0">
                <a:latin typeface="微软雅黑" pitchFamily="34" charset="-122"/>
                <a:ea typeface="微软雅黑" pitchFamily="34" charset="-122"/>
              </a:rPr>
              <a:t>MAC</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1701202" y="1502794"/>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2367334" y="1498290"/>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3117034" y="1498290"/>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4578835" y="1498290"/>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5234329" y="1498290"/>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6509588" y="1498290"/>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3" name="Freeform 11"/>
          <p:cNvSpPr>
            <a:spLocks/>
          </p:cNvSpPr>
          <p:nvPr/>
        </p:nvSpPr>
        <p:spPr bwMode="auto">
          <a:xfrm>
            <a:off x="2119907" y="2159086"/>
            <a:ext cx="3900097" cy="374291"/>
          </a:xfrm>
          <a:custGeom>
            <a:avLst/>
            <a:gdLst>
              <a:gd name="T0" fmla="*/ 2147483647 w 3970"/>
              <a:gd name="T1" fmla="*/ 10080633 h 381"/>
              <a:gd name="T2" fmla="*/ 2147483647 w 3970"/>
              <a:gd name="T3" fmla="*/ 0 h 381"/>
              <a:gd name="T4" fmla="*/ 2147483647 w 3970"/>
              <a:gd name="T5" fmla="*/ 960181119 h 381"/>
              <a:gd name="T6" fmla="*/ 0 w 3970"/>
              <a:gd name="T7" fmla="*/ 960181119 h 381"/>
              <a:gd name="T8" fmla="*/ 2147483647 w 3970"/>
              <a:gd name="T9" fmla="*/ 10080633 h 3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70" h="381">
                <a:moveTo>
                  <a:pt x="1543" y="4"/>
                </a:moveTo>
                <a:lnTo>
                  <a:pt x="2242" y="0"/>
                </a:lnTo>
                <a:lnTo>
                  <a:pt x="3970" y="381"/>
                </a:lnTo>
                <a:lnTo>
                  <a:pt x="0" y="381"/>
                </a:lnTo>
                <a:lnTo>
                  <a:pt x="1543" y="4"/>
                </a:lnTo>
                <a:close/>
              </a:path>
            </a:pathLst>
          </a:custGeom>
          <a:gradFill rotWithShape="1">
            <a:gsLst>
              <a:gs pos="100000">
                <a:srgbClr val="00FF99"/>
              </a:gs>
              <a:gs pos="0">
                <a:srgbClr val="00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94" name="Rectangle 13"/>
          <p:cNvSpPr>
            <a:spLocks noChangeArrowheads="1"/>
          </p:cNvSpPr>
          <p:nvPr/>
        </p:nvSpPr>
        <p:spPr bwMode="auto">
          <a:xfrm>
            <a:off x="4994552" y="3374341"/>
            <a:ext cx="2481284" cy="459100"/>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en-US" altLang="zh-CN" sz="1200" b="1" dirty="0">
                <a:solidFill>
                  <a:srgbClr val="C00000"/>
                </a:solidFill>
                <a:latin typeface="微软雅黑" pitchFamily="34" charset="-122"/>
                <a:ea typeface="微软雅黑" pitchFamily="34" charset="-122"/>
              </a:rPr>
              <a:t>VLAN </a:t>
            </a:r>
            <a:r>
              <a:rPr lang="zh-CN" altLang="zh-CN" sz="1200" b="1" dirty="0">
                <a:solidFill>
                  <a:srgbClr val="C00000"/>
                </a:solidFill>
                <a:latin typeface="微软雅黑" pitchFamily="34" charset="-122"/>
                <a:ea typeface="微软雅黑" pitchFamily="34" charset="-122"/>
              </a:rPr>
              <a:t>标识符</a:t>
            </a:r>
            <a:r>
              <a:rPr lang="en-US" altLang="zh-CN" sz="1200" b="1" dirty="0">
                <a:solidFill>
                  <a:srgbClr val="C00000"/>
                </a:solidFill>
                <a:latin typeface="微软雅黑" pitchFamily="34" charset="-122"/>
                <a:ea typeface="微软雅黑" pitchFamily="34" charset="-122"/>
              </a:rPr>
              <a:t> </a:t>
            </a:r>
            <a:r>
              <a:rPr kumimoji="1" lang="en-US" altLang="zh-CN" sz="1200" b="1" dirty="0">
                <a:latin typeface="微软雅黑" pitchFamily="34" charset="-122"/>
                <a:ea typeface="微软雅黑" pitchFamily="34" charset="-122"/>
              </a:rPr>
              <a:t>12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a:p>
            <a:pPr algn="ctr" defTabSz="762000"/>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最多允许 </a:t>
            </a:r>
            <a:r>
              <a:rPr kumimoji="1" lang="en-US" altLang="zh-CN" sz="1200" b="1" dirty="0">
                <a:latin typeface="微软雅黑" pitchFamily="34" charset="-122"/>
                <a:ea typeface="微软雅黑" pitchFamily="34" charset="-122"/>
              </a:rPr>
              <a:t>4096 </a:t>
            </a:r>
            <a:r>
              <a:rPr kumimoji="1" lang="zh-CN" altLang="en-US" sz="1200" b="1" dirty="0">
                <a:latin typeface="微软雅黑" pitchFamily="34" charset="-122"/>
                <a:ea typeface="微软雅黑" pitchFamily="34" charset="-122"/>
              </a:rPr>
              <a:t>个 </a:t>
            </a:r>
            <a:r>
              <a:rPr kumimoji="1" lang="en-US" altLang="zh-CN" sz="1200" b="1" dirty="0">
                <a:latin typeface="微软雅黑" pitchFamily="34" charset="-122"/>
                <a:ea typeface="微软雅黑" pitchFamily="34" charset="-122"/>
              </a:rPr>
              <a:t>VLAN)</a:t>
            </a:r>
          </a:p>
        </p:txBody>
      </p:sp>
      <p:sp>
        <p:nvSpPr>
          <p:cNvPr id="95" name="Rectangle 14"/>
          <p:cNvSpPr>
            <a:spLocks noChangeArrowheads="1"/>
          </p:cNvSpPr>
          <p:nvPr/>
        </p:nvSpPr>
        <p:spPr bwMode="auto">
          <a:xfrm>
            <a:off x="3824358" y="1496325"/>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6" name="Rectangle 18"/>
          <p:cNvSpPr>
            <a:spLocks noChangeArrowheads="1"/>
          </p:cNvSpPr>
          <p:nvPr/>
        </p:nvSpPr>
        <p:spPr bwMode="auto">
          <a:xfrm>
            <a:off x="2924777" y="3293204"/>
            <a:ext cx="1219775" cy="274434"/>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200" b="1" dirty="0">
                <a:latin typeface="微软雅黑" pitchFamily="34" charset="-122"/>
                <a:ea typeface="微软雅黑" pitchFamily="34" charset="-122"/>
              </a:rPr>
              <a:t>优先级 </a:t>
            </a:r>
            <a:r>
              <a:rPr kumimoji="1" lang="en-US" altLang="zh-CN" sz="1200" b="1" dirty="0">
                <a:latin typeface="微软雅黑" pitchFamily="34" charset="-122"/>
                <a:ea typeface="微软雅黑" pitchFamily="34" charset="-122"/>
              </a:rPr>
              <a:t>3 </a:t>
            </a:r>
            <a:r>
              <a:rPr kumimoji="1" lang="zh-CN" altLang="en-US" sz="1200" b="1" dirty="0">
                <a:latin typeface="微软雅黑" pitchFamily="34" charset="-122"/>
                <a:ea typeface="微软雅黑" pitchFamily="34" charset="-122"/>
              </a:rPr>
              <a:t>位</a:t>
            </a:r>
            <a:endParaRPr kumimoji="1" lang="en-US" altLang="zh-CN" sz="1200" b="1" dirty="0">
              <a:latin typeface="微软雅黑" pitchFamily="34" charset="-122"/>
              <a:ea typeface="微软雅黑" pitchFamily="34" charset="-122"/>
            </a:endParaRPr>
          </a:p>
        </p:txBody>
      </p:sp>
      <p:sp>
        <p:nvSpPr>
          <p:cNvPr id="97" name="Rectangle 21"/>
          <p:cNvSpPr>
            <a:spLocks noChangeArrowheads="1"/>
          </p:cNvSpPr>
          <p:nvPr/>
        </p:nvSpPr>
        <p:spPr bwMode="auto">
          <a:xfrm>
            <a:off x="2777612" y="3549106"/>
            <a:ext cx="1680961" cy="274434"/>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zh-CN" altLang="en-US" sz="1200" b="1" dirty="0">
                <a:latin typeface="微软雅黑" pitchFamily="34" charset="-122"/>
                <a:ea typeface="微软雅黑" pitchFamily="34" charset="-122"/>
              </a:rPr>
              <a:t>可丢弃指示</a:t>
            </a:r>
            <a:r>
              <a:rPr lang="en-US" altLang="zh-CN" sz="1200" b="1" dirty="0">
                <a:latin typeface="微软雅黑" pitchFamily="34" charset="-122"/>
                <a:ea typeface="微软雅黑" pitchFamily="34" charset="-122"/>
              </a:rPr>
              <a:t>DEI</a:t>
            </a:r>
            <a:r>
              <a:rPr lang="zh-CN" altLang="en-US" sz="1200" b="1" dirty="0">
                <a:latin typeface="微软雅黑" pitchFamily="34" charset="-122"/>
                <a:ea typeface="微软雅黑" pitchFamily="34" charset="-122"/>
              </a:rPr>
              <a:t>  </a:t>
            </a:r>
            <a:r>
              <a:rPr kumimoji="1" lang="en-US" altLang="zh-CN" sz="1200" b="1" dirty="0">
                <a:latin typeface="微软雅黑" pitchFamily="34" charset="-122"/>
                <a:ea typeface="微软雅黑" pitchFamily="34" charset="-122"/>
              </a:rPr>
              <a:t>1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p:txBody>
      </p:sp>
      <p:sp>
        <p:nvSpPr>
          <p:cNvPr id="98" name="Rectangle 22"/>
          <p:cNvSpPr>
            <a:spLocks noChangeArrowheads="1"/>
          </p:cNvSpPr>
          <p:nvPr/>
        </p:nvSpPr>
        <p:spPr bwMode="auto">
          <a:xfrm>
            <a:off x="2136471" y="1734693"/>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2877331" y="1734693"/>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3584654" y="1734693"/>
            <a:ext cx="754477" cy="424393"/>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VLAN</a:t>
            </a:r>
          </a:p>
          <a:p>
            <a:pPr algn="ctr"/>
            <a:r>
              <a:rPr lang="zh-CN" altLang="en-US" sz="1200" b="1" dirty="0">
                <a:latin typeface="微软雅黑" pitchFamily="34" charset="-122"/>
                <a:ea typeface="微软雅黑" pitchFamily="34" charset="-122"/>
              </a:rPr>
              <a:t>标签</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4339131" y="1734693"/>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5138169" y="1734693"/>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6269885" y="1734693"/>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sp>
        <p:nvSpPr>
          <p:cNvPr id="104" name="Rectangle 33"/>
          <p:cNvSpPr>
            <a:spLocks noChangeArrowheads="1"/>
          </p:cNvSpPr>
          <p:nvPr/>
        </p:nvSpPr>
        <p:spPr bwMode="auto">
          <a:xfrm>
            <a:off x="2924778" y="2283192"/>
            <a:ext cx="640256" cy="2774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sp>
        <p:nvSpPr>
          <p:cNvPr id="105" name="Rectangle 34"/>
          <p:cNvSpPr>
            <a:spLocks noChangeArrowheads="1"/>
          </p:cNvSpPr>
          <p:nvPr/>
        </p:nvSpPr>
        <p:spPr bwMode="auto">
          <a:xfrm>
            <a:off x="4706182" y="2283192"/>
            <a:ext cx="640256" cy="2774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sp>
        <p:nvSpPr>
          <p:cNvPr id="110" name="Rectangle 3"/>
          <p:cNvSpPr>
            <a:spLocks noChangeArrowheads="1"/>
          </p:cNvSpPr>
          <p:nvPr/>
        </p:nvSpPr>
        <p:spPr bwMode="auto">
          <a:xfrm>
            <a:off x="2122854" y="2536324"/>
            <a:ext cx="3890274" cy="660166"/>
          </a:xfrm>
          <a:prstGeom prst="rect">
            <a:avLst/>
          </a:prstGeom>
          <a:solidFill>
            <a:srgbClr val="99FFCC"/>
          </a:solidFill>
          <a:ln w="19050">
            <a:solidFill>
              <a:schemeClr val="tx1"/>
            </a:solidFill>
            <a:miter lim="800000"/>
            <a:headEnd/>
            <a:tailEnd/>
          </a:ln>
          <a:effectLst/>
        </p:spPr>
        <p:txBody>
          <a:bodyPr wrap="none" anchor="ctr"/>
          <a:lstStyle/>
          <a:p>
            <a:endParaRPr lang="zh-CN" altLang="en-US" sz="1200">
              <a:latin typeface="微软雅黑" pitchFamily="34" charset="-122"/>
              <a:ea typeface="微软雅黑" pitchFamily="34" charset="-122"/>
            </a:endParaRPr>
          </a:p>
        </p:txBody>
      </p:sp>
      <p:sp>
        <p:nvSpPr>
          <p:cNvPr id="111" name="Line 12"/>
          <p:cNvSpPr>
            <a:spLocks noChangeShapeType="1"/>
          </p:cNvSpPr>
          <p:nvPr/>
        </p:nvSpPr>
        <p:spPr bwMode="auto">
          <a:xfrm>
            <a:off x="4132829" y="2536324"/>
            <a:ext cx="0" cy="6601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2" name="Line 15"/>
          <p:cNvSpPr>
            <a:spLocks noChangeShapeType="1"/>
          </p:cNvSpPr>
          <p:nvPr/>
        </p:nvSpPr>
        <p:spPr bwMode="auto">
          <a:xfrm>
            <a:off x="2122854" y="2833144"/>
            <a:ext cx="38961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3" name="Line 16"/>
          <p:cNvSpPr>
            <a:spLocks noChangeShapeType="1"/>
          </p:cNvSpPr>
          <p:nvPr/>
        </p:nvSpPr>
        <p:spPr bwMode="auto">
          <a:xfrm flipH="1">
            <a:off x="4576869" y="2833144"/>
            <a:ext cx="1965" cy="36334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4" name="Line 17"/>
          <p:cNvSpPr>
            <a:spLocks noChangeShapeType="1"/>
          </p:cNvSpPr>
          <p:nvPr/>
        </p:nvSpPr>
        <p:spPr bwMode="auto">
          <a:xfrm>
            <a:off x="4455061" y="2833144"/>
            <a:ext cx="0" cy="36334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5" name="Text Box 28"/>
          <p:cNvSpPr txBox="1">
            <a:spLocks noChangeArrowheads="1"/>
          </p:cNvSpPr>
          <p:nvPr/>
        </p:nvSpPr>
        <p:spPr bwMode="auto">
          <a:xfrm>
            <a:off x="2312653" y="2565780"/>
            <a:ext cx="16786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zh-CN" altLang="en-US" sz="1200" b="1" dirty="0">
                <a:latin typeface="微软雅黑" pitchFamily="34" charset="-122"/>
                <a:ea typeface="微软雅黑" pitchFamily="34" charset="-122"/>
              </a:rPr>
              <a:t>标签协议标识符</a:t>
            </a:r>
            <a:r>
              <a:rPr lang="en-US" altLang="zh-CN" sz="1200" b="1" dirty="0">
                <a:latin typeface="微软雅黑" pitchFamily="34" charset="-122"/>
                <a:ea typeface="微软雅黑" pitchFamily="34" charset="-122"/>
              </a:rPr>
              <a:t>TPID </a:t>
            </a:r>
          </a:p>
        </p:txBody>
      </p:sp>
      <p:sp>
        <p:nvSpPr>
          <p:cNvPr id="116" name="Text Box 29"/>
          <p:cNvSpPr txBox="1">
            <a:spLocks noChangeArrowheads="1"/>
          </p:cNvSpPr>
          <p:nvPr/>
        </p:nvSpPr>
        <p:spPr bwMode="auto">
          <a:xfrm>
            <a:off x="2136470" y="2833144"/>
            <a:ext cx="1996359"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0X8100</a:t>
            </a:r>
          </a:p>
          <a:p>
            <a:pPr algn="ctr"/>
            <a:r>
              <a:rPr kumimoji="1" lang="en-US" altLang="zh-CN" sz="900" b="1" dirty="0">
                <a:latin typeface="微软雅黑" pitchFamily="34" charset="-122"/>
                <a:ea typeface="微软雅黑" pitchFamily="34" charset="-122"/>
              </a:rPr>
              <a:t>(1 0 0 0 0 0 0 1  0 0 0 0 0 0 0 0)</a:t>
            </a:r>
            <a:endParaRPr lang="en-US" altLang="zh-CN" sz="900" b="1" dirty="0">
              <a:latin typeface="微软雅黑" pitchFamily="34" charset="-122"/>
              <a:ea typeface="微软雅黑" pitchFamily="34" charset="-122"/>
            </a:endParaRPr>
          </a:p>
        </p:txBody>
      </p:sp>
      <p:sp>
        <p:nvSpPr>
          <p:cNvPr id="117" name="Text Box 30"/>
          <p:cNvSpPr txBox="1">
            <a:spLocks noChangeArrowheads="1"/>
          </p:cNvSpPr>
          <p:nvPr/>
        </p:nvSpPr>
        <p:spPr bwMode="auto">
          <a:xfrm>
            <a:off x="4046460" y="2878133"/>
            <a:ext cx="4908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PCP</a:t>
            </a:r>
          </a:p>
        </p:txBody>
      </p:sp>
      <p:sp>
        <p:nvSpPr>
          <p:cNvPr id="118" name="Text Box 31"/>
          <p:cNvSpPr txBox="1">
            <a:spLocks noChangeArrowheads="1"/>
          </p:cNvSpPr>
          <p:nvPr/>
        </p:nvSpPr>
        <p:spPr bwMode="auto">
          <a:xfrm>
            <a:off x="4856138" y="2877704"/>
            <a:ext cx="846433" cy="280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VLAN ID</a:t>
            </a:r>
          </a:p>
        </p:txBody>
      </p:sp>
      <p:sp>
        <p:nvSpPr>
          <p:cNvPr id="119" name="Text Box 35"/>
          <p:cNvSpPr txBox="1">
            <a:spLocks noChangeArrowheads="1"/>
          </p:cNvSpPr>
          <p:nvPr/>
        </p:nvSpPr>
        <p:spPr bwMode="auto">
          <a:xfrm>
            <a:off x="4197667" y="2565780"/>
            <a:ext cx="1668118" cy="280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TCI (</a:t>
            </a:r>
            <a:r>
              <a:rPr lang="zh-CN" altLang="en-US" sz="1200" b="1" dirty="0">
                <a:latin typeface="微软雅黑" pitchFamily="34" charset="-122"/>
                <a:ea typeface="微软雅黑" pitchFamily="34" charset="-122"/>
              </a:rPr>
              <a:t>标签控制信息</a:t>
            </a:r>
            <a:r>
              <a:rPr lang="en-US" altLang="zh-CN" sz="1200" b="1" dirty="0">
                <a:latin typeface="微软雅黑" pitchFamily="34" charset="-122"/>
                <a:ea typeface="微软雅黑" pitchFamily="34" charset="-122"/>
              </a:rPr>
              <a:t>)</a:t>
            </a:r>
          </a:p>
        </p:txBody>
      </p:sp>
      <p:sp>
        <p:nvSpPr>
          <p:cNvPr id="107" name="Line 20"/>
          <p:cNvSpPr>
            <a:spLocks noChangeShapeType="1"/>
          </p:cNvSpPr>
          <p:nvPr/>
        </p:nvSpPr>
        <p:spPr bwMode="auto">
          <a:xfrm flipV="1">
            <a:off x="4319186" y="3104912"/>
            <a:ext cx="197267" cy="462726"/>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8" name="Line 32"/>
          <p:cNvSpPr>
            <a:spLocks noChangeShapeType="1"/>
          </p:cNvSpPr>
          <p:nvPr/>
        </p:nvSpPr>
        <p:spPr bwMode="auto">
          <a:xfrm flipH="1" flipV="1">
            <a:off x="5674571" y="3062416"/>
            <a:ext cx="235774" cy="330083"/>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9" name="Line 19"/>
          <p:cNvSpPr>
            <a:spLocks noChangeShapeType="1"/>
          </p:cNvSpPr>
          <p:nvPr/>
        </p:nvSpPr>
        <p:spPr bwMode="auto">
          <a:xfrm flipV="1">
            <a:off x="3961892" y="3100507"/>
            <a:ext cx="272212" cy="329914"/>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grpSp>
        <p:nvGrpSpPr>
          <p:cNvPr id="83" name="组合 82"/>
          <p:cNvGrpSpPr/>
          <p:nvPr/>
        </p:nvGrpSpPr>
        <p:grpSpPr>
          <a:xfrm>
            <a:off x="2122686" y="1218689"/>
            <a:ext cx="4901676" cy="274434"/>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sp>
        <p:nvSpPr>
          <p:cNvPr id="120" name="矩形 119"/>
          <p:cNvSpPr/>
          <p:nvPr/>
        </p:nvSpPr>
        <p:spPr>
          <a:xfrm>
            <a:off x="6098210" y="2360907"/>
            <a:ext cx="2431274" cy="846514"/>
          </a:xfrm>
          <a:prstGeom prst="rect">
            <a:avLst/>
          </a:prstGeom>
          <a:solidFill>
            <a:schemeClr val="bg1"/>
          </a:solidFill>
        </p:spPr>
        <p:txBody>
          <a:bodyPr wrap="square">
            <a:spAutoFit/>
          </a:bodyPr>
          <a:lstStyle/>
          <a:p>
            <a:pPr algn="just">
              <a:lnSpc>
                <a:spcPts val="2000"/>
              </a:lnSpc>
            </a:pPr>
            <a:r>
              <a:rPr lang="zh-CN" altLang="en-US" sz="1400" b="1" dirty="0">
                <a:latin typeface="微软雅黑" pitchFamily="34" charset="-122"/>
                <a:ea typeface="微软雅黑" pitchFamily="34" charset="-122"/>
              </a:rPr>
              <a:t>插入</a:t>
            </a:r>
            <a:r>
              <a:rPr lang="en-US" altLang="zh-CN" sz="1400" b="1" dirty="0">
                <a:latin typeface="微软雅黑" pitchFamily="34" charset="-122"/>
                <a:ea typeface="微软雅黑" pitchFamily="34" charset="-122"/>
              </a:rPr>
              <a:t>VLAN</a:t>
            </a:r>
            <a:r>
              <a:rPr lang="zh-CN" altLang="en-US" sz="1400" b="1" dirty="0">
                <a:latin typeface="微软雅黑" pitchFamily="34" charset="-122"/>
                <a:ea typeface="微软雅黑" pitchFamily="34" charset="-122"/>
              </a:rPr>
              <a:t>标签后，</a:t>
            </a:r>
            <a:r>
              <a:rPr lang="en-US" altLang="zh-CN" sz="1400" b="1" dirty="0">
                <a:latin typeface="微软雅黑" pitchFamily="34" charset="-122"/>
                <a:ea typeface="微软雅黑" pitchFamily="34" charset="-122"/>
              </a:rPr>
              <a:t>802.1Q </a:t>
            </a:r>
            <a:r>
              <a:rPr lang="zh-CN" altLang="en-US" sz="1400" b="1" dirty="0">
                <a:latin typeface="微软雅黑" pitchFamily="34" charset="-122"/>
                <a:ea typeface="微软雅黑" pitchFamily="34" charset="-122"/>
              </a:rPr>
              <a:t>帧最后的帧校验序列</a:t>
            </a:r>
            <a:r>
              <a:rPr lang="en-US" altLang="zh-CN" sz="1400" b="1" dirty="0">
                <a:latin typeface="微软雅黑" pitchFamily="34" charset="-122"/>
                <a:ea typeface="微软雅黑" pitchFamily="34" charset="-122"/>
              </a:rPr>
              <a:t>FCS</a:t>
            </a:r>
            <a:r>
              <a:rPr lang="zh-CN" altLang="en-US" sz="1400" b="1" dirty="0">
                <a:latin typeface="微软雅黑" pitchFamily="34" charset="-122"/>
                <a:ea typeface="微软雅黑" pitchFamily="34" charset="-122"/>
              </a:rPr>
              <a:t>必须重新计算。</a:t>
            </a:r>
          </a:p>
        </p:txBody>
      </p:sp>
      <p:sp>
        <p:nvSpPr>
          <p:cNvPr id="48"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869DD13D-C331-CDA8-641A-6410189C12F3}"/>
              </a:ext>
            </a:extLst>
          </p:cNvPr>
          <p:cNvSpPr/>
          <p:nvPr/>
        </p:nvSpPr>
        <p:spPr>
          <a:xfrm>
            <a:off x="2136469" y="1734692"/>
            <a:ext cx="4885113" cy="4193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139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0"/>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115"/>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117"/>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97"/>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118"/>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0"/>
                                        </p:tgtEl>
                                        <p:attrNameLst>
                                          <p:attrName>style.visibility</p:attrName>
                                        </p:attrNameLst>
                                      </p:cBhvr>
                                      <p:to>
                                        <p:strVal val="visible"/>
                                      </p:to>
                                    </p:set>
                                    <p:anim calcmode="lin" valueType="num">
                                      <p:cBhvr>
                                        <p:cTn id="31" dur="500" fill="hold"/>
                                        <p:tgtEl>
                                          <p:spTgt spid="120"/>
                                        </p:tgtEl>
                                        <p:attrNameLst>
                                          <p:attrName>ppt_w</p:attrName>
                                        </p:attrNameLst>
                                      </p:cBhvr>
                                      <p:tavLst>
                                        <p:tav tm="0">
                                          <p:val>
                                            <p:fltVal val="0"/>
                                          </p:val>
                                        </p:tav>
                                        <p:tav tm="100000">
                                          <p:val>
                                            <p:strVal val="#ppt_w"/>
                                          </p:val>
                                        </p:tav>
                                      </p:tavLst>
                                    </p:anim>
                                    <p:anim calcmode="lin" valueType="num">
                                      <p:cBhvr>
                                        <p:cTn id="32" dur="500" fill="hold"/>
                                        <p:tgtEl>
                                          <p:spTgt spid="120"/>
                                        </p:tgtEl>
                                        <p:attrNameLst>
                                          <p:attrName>ppt_h</p:attrName>
                                        </p:attrNameLst>
                                      </p:cBhvr>
                                      <p:tavLst>
                                        <p:tav tm="0">
                                          <p:val>
                                            <p:fltVal val="0"/>
                                          </p:val>
                                        </p:tav>
                                        <p:tav tm="100000">
                                          <p:val>
                                            <p:strVal val="#ppt_h"/>
                                          </p:val>
                                        </p:tav>
                                      </p:tavLst>
                                    </p:anim>
                                    <p:animEffect transition="in" filter="fade">
                                      <p:cBhvr>
                                        <p:cTn id="33"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97" grpId="0"/>
      <p:bldP spid="100" grpId="0" animBg="1"/>
      <p:bldP spid="115" grpId="0"/>
      <p:bldP spid="117" grpId="0"/>
      <p:bldP spid="118" grpId="0"/>
      <p:bldP spid="120"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45789"/>
            <a:ext cx="8129015" cy="33969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p:cNvGrpSpPr/>
          <p:nvPr/>
        </p:nvGrpSpPr>
        <p:grpSpPr>
          <a:xfrm>
            <a:off x="1135224" y="3395552"/>
            <a:ext cx="6058864" cy="981753"/>
            <a:chOff x="2298999" y="3659690"/>
            <a:chExt cx="6058864" cy="981753"/>
          </a:xfrm>
        </p:grpSpPr>
        <p:sp>
          <p:nvSpPr>
            <p:cNvPr id="33" name="矩形 32"/>
            <p:cNvSpPr/>
            <p:nvPr/>
          </p:nvSpPr>
          <p:spPr>
            <a:xfrm>
              <a:off x="6471670" y="3659690"/>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Rectangle 4"/>
            <p:cNvSpPr>
              <a:spLocks noChangeArrowheads="1"/>
            </p:cNvSpPr>
            <p:nvPr/>
          </p:nvSpPr>
          <p:spPr bwMode="auto">
            <a:xfrm>
              <a:off x="2298999" y="3685123"/>
              <a:ext cx="1178114"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100" b="1" dirty="0">
                  <a:latin typeface="微软雅黑" pitchFamily="34" charset="-122"/>
                  <a:ea typeface="微软雅黑" pitchFamily="34" charset="-122"/>
                </a:rPr>
                <a:t>带标记的以太网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3034703" y="4087778"/>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37008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44505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912336"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67830" y="4083274"/>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7843089"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5" name="Rectangle 14"/>
            <p:cNvSpPr>
              <a:spLocks noChangeArrowheads="1"/>
            </p:cNvSpPr>
            <p:nvPr/>
          </p:nvSpPr>
          <p:spPr bwMode="auto">
            <a:xfrm>
              <a:off x="5157859" y="4081309"/>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8" name="Rectangle 22"/>
            <p:cNvSpPr>
              <a:spLocks noChangeArrowheads="1"/>
            </p:cNvSpPr>
            <p:nvPr/>
          </p:nvSpPr>
          <p:spPr bwMode="auto">
            <a:xfrm>
              <a:off x="3469972" y="3659691"/>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4210832" y="3659691"/>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4918155" y="3659691"/>
              <a:ext cx="754477" cy="424393"/>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672632" y="3659691"/>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71670" y="3659691"/>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7603386" y="3659691"/>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83" name="组合 82"/>
            <p:cNvGrpSpPr/>
            <p:nvPr/>
          </p:nvGrpSpPr>
          <p:grpSpPr>
            <a:xfrm>
              <a:off x="3456187" y="4367009"/>
              <a:ext cx="4901676" cy="274434"/>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71"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
        <p:nvSpPr>
          <p:cNvPr id="6" name="上箭头 5"/>
          <p:cNvSpPr/>
          <p:nvPr/>
        </p:nvSpPr>
        <p:spPr>
          <a:xfrm flipV="1">
            <a:off x="4374423" y="3082228"/>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566284" y="1119934"/>
            <a:ext cx="4747593" cy="945047"/>
            <a:chOff x="1035850" y="1204307"/>
            <a:chExt cx="4747593" cy="945047"/>
          </a:xfrm>
        </p:grpSpPr>
        <p:sp>
          <p:nvSpPr>
            <p:cNvPr id="48" name="矩形 47"/>
            <p:cNvSpPr/>
            <p:nvPr/>
          </p:nvSpPr>
          <p:spPr>
            <a:xfrm>
              <a:off x="3897250" y="1695599"/>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Rectangle 4"/>
            <p:cNvSpPr>
              <a:spLocks noChangeArrowheads="1"/>
            </p:cNvSpPr>
            <p:nvPr/>
          </p:nvSpPr>
          <p:spPr bwMode="auto">
            <a:xfrm>
              <a:off x="1035850" y="1721032"/>
              <a:ext cx="710132"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50" name="Rectangle 5"/>
            <p:cNvSpPr>
              <a:spLocks noChangeArrowheads="1"/>
            </p:cNvSpPr>
            <p:nvPr/>
          </p:nvSpPr>
          <p:spPr bwMode="auto">
            <a:xfrm>
              <a:off x="1275845" y="1463701"/>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51" name="Rectangle 6"/>
            <p:cNvSpPr>
              <a:spLocks noChangeArrowheads="1"/>
            </p:cNvSpPr>
            <p:nvPr/>
          </p:nvSpPr>
          <p:spPr bwMode="auto">
            <a:xfrm>
              <a:off x="19419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52" name="Rectangle 7"/>
            <p:cNvSpPr>
              <a:spLocks noChangeArrowheads="1"/>
            </p:cNvSpPr>
            <p:nvPr/>
          </p:nvSpPr>
          <p:spPr bwMode="auto">
            <a:xfrm>
              <a:off x="26916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53" name="Rectangle 8"/>
            <p:cNvSpPr>
              <a:spLocks noChangeArrowheads="1"/>
            </p:cNvSpPr>
            <p:nvPr/>
          </p:nvSpPr>
          <p:spPr bwMode="auto">
            <a:xfrm>
              <a:off x="3337916"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54" name="Rectangle 9"/>
            <p:cNvSpPr>
              <a:spLocks noChangeArrowheads="1"/>
            </p:cNvSpPr>
            <p:nvPr/>
          </p:nvSpPr>
          <p:spPr bwMode="auto">
            <a:xfrm>
              <a:off x="3993410" y="1459197"/>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55" name="Rectangle 10"/>
            <p:cNvSpPr>
              <a:spLocks noChangeArrowheads="1"/>
            </p:cNvSpPr>
            <p:nvPr/>
          </p:nvSpPr>
          <p:spPr bwMode="auto">
            <a:xfrm>
              <a:off x="5268669"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57" name="Rectangle 22"/>
            <p:cNvSpPr>
              <a:spLocks noChangeArrowheads="1"/>
            </p:cNvSpPr>
            <p:nvPr/>
          </p:nvSpPr>
          <p:spPr bwMode="auto">
            <a:xfrm>
              <a:off x="1711114" y="1695600"/>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58" name="Rectangle 23"/>
            <p:cNvSpPr>
              <a:spLocks noChangeArrowheads="1"/>
            </p:cNvSpPr>
            <p:nvPr/>
          </p:nvSpPr>
          <p:spPr bwMode="auto">
            <a:xfrm>
              <a:off x="2451974" y="1695600"/>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60" name="Rectangle 25"/>
            <p:cNvSpPr>
              <a:spLocks noChangeArrowheads="1"/>
            </p:cNvSpPr>
            <p:nvPr/>
          </p:nvSpPr>
          <p:spPr bwMode="auto">
            <a:xfrm>
              <a:off x="3098212" y="1695600"/>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61" name="Rectangle 26"/>
            <p:cNvSpPr>
              <a:spLocks noChangeArrowheads="1"/>
            </p:cNvSpPr>
            <p:nvPr/>
          </p:nvSpPr>
          <p:spPr bwMode="auto">
            <a:xfrm>
              <a:off x="3897250" y="1695600"/>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62" name="Rectangle 27"/>
            <p:cNvSpPr>
              <a:spLocks noChangeArrowheads="1"/>
            </p:cNvSpPr>
            <p:nvPr/>
          </p:nvSpPr>
          <p:spPr bwMode="auto">
            <a:xfrm>
              <a:off x="5028966" y="1695600"/>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63" name="组合 62"/>
            <p:cNvGrpSpPr/>
            <p:nvPr/>
          </p:nvGrpSpPr>
          <p:grpSpPr>
            <a:xfrm>
              <a:off x="1711113" y="1204307"/>
              <a:ext cx="4072329" cy="274434"/>
              <a:chOff x="1568624" y="1124482"/>
              <a:chExt cx="7920880" cy="297476"/>
            </a:xfrm>
          </p:grpSpPr>
          <p:cxnSp>
            <p:nvCxnSpPr>
              <p:cNvPr id="6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65" name="Rectangle 50"/>
              <p:cNvSpPr>
                <a:spLocks noChangeArrowheads="1"/>
              </p:cNvSpPr>
              <p:nvPr/>
            </p:nvSpPr>
            <p:spPr bwMode="auto">
              <a:xfrm>
                <a:off x="4359820" y="1124482"/>
                <a:ext cx="2516326" cy="297476"/>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defTabSz="762000" eaLnBrk="0" hangingPunct="0"/>
                <a:r>
                  <a:rPr lang="zh-CN" altLang="en-US" sz="1200" b="1" dirty="0">
                    <a:solidFill>
                      <a:srgbClr val="0000CC"/>
                    </a:solidFill>
                    <a:latin typeface="微软雅黑" pitchFamily="34" charset="-122"/>
                    <a:ea typeface="微软雅黑" pitchFamily="34" charset="-122"/>
                  </a:rPr>
                  <a:t>标准的以太网帧</a:t>
                </a:r>
              </a:p>
            </p:txBody>
          </p:sp>
        </p:grpSp>
      </p:grpSp>
      <p:sp>
        <p:nvSpPr>
          <p:cNvPr id="175" name="上箭头 174"/>
          <p:cNvSpPr/>
          <p:nvPr/>
        </p:nvSpPr>
        <p:spPr>
          <a:xfrm>
            <a:off x="2115076" y="2066456"/>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8" name="组合 167"/>
          <p:cNvGrpSpPr/>
          <p:nvPr/>
        </p:nvGrpSpPr>
        <p:grpSpPr>
          <a:xfrm>
            <a:off x="1726653" y="2328047"/>
            <a:ext cx="934439" cy="269169"/>
            <a:chOff x="3983552" y="1463022"/>
            <a:chExt cx="934439" cy="269169"/>
          </a:xfrm>
        </p:grpSpPr>
        <p:sp>
          <p:nvSpPr>
            <p:cNvPr id="169" name="矩形 168"/>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1" name="组合 170"/>
          <p:cNvGrpSpPr/>
          <p:nvPr/>
        </p:nvGrpSpPr>
        <p:grpSpPr>
          <a:xfrm rot="10800000">
            <a:off x="3996394" y="2821665"/>
            <a:ext cx="917277" cy="269169"/>
            <a:chOff x="3951285" y="1463022"/>
            <a:chExt cx="917277" cy="269169"/>
          </a:xfrm>
        </p:grpSpPr>
        <p:sp>
          <p:nvSpPr>
            <p:cNvPr id="172" name="矩形 171"/>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矩形 172"/>
            <p:cNvSpPr/>
            <p:nvPr/>
          </p:nvSpPr>
          <p:spPr>
            <a:xfrm>
              <a:off x="3951285"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箭头连接符 11"/>
          <p:cNvCxnSpPr/>
          <p:nvPr/>
        </p:nvCxnSpPr>
        <p:spPr>
          <a:xfrm>
            <a:off x="1630787"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176" name="直接箭头连接符 175"/>
          <p:cNvCxnSpPr/>
          <p:nvPr/>
        </p:nvCxnSpPr>
        <p:spPr>
          <a:xfrm flipH="1">
            <a:off x="3707136" y="2753420"/>
            <a:ext cx="1438297" cy="0"/>
          </a:xfrm>
          <a:prstGeom prst="straightConnector1">
            <a:avLst/>
          </a:prstGeom>
          <a:ln w="38100">
            <a:solidFill>
              <a:srgbClr val="C00000"/>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6243194" y="2328047"/>
            <a:ext cx="934439" cy="269169"/>
            <a:chOff x="3983552" y="1463022"/>
            <a:chExt cx="934439" cy="269169"/>
          </a:xfrm>
        </p:grpSpPr>
        <p:sp>
          <p:nvSpPr>
            <p:cNvPr id="114" name="矩形 113"/>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6" name="直接箭头连接符 115"/>
          <p:cNvCxnSpPr/>
          <p:nvPr/>
        </p:nvCxnSpPr>
        <p:spPr>
          <a:xfrm>
            <a:off x="6147328"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5" name="Line 53"/>
          <p:cNvSpPr>
            <a:spLocks noChangeShapeType="1"/>
          </p:cNvSpPr>
          <p:nvPr/>
        </p:nvSpPr>
        <p:spPr bwMode="auto">
          <a:xfrm flipH="1" flipV="1">
            <a:off x="1271150"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7944"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79" name="Line 48"/>
          <p:cNvSpPr>
            <a:spLocks noChangeShapeType="1"/>
          </p:cNvSpPr>
          <p:nvPr/>
        </p:nvSpPr>
        <p:spPr bwMode="auto">
          <a:xfrm>
            <a:off x="3354352" y="2651355"/>
            <a:ext cx="2277268"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矩形 79"/>
          <p:cNvSpPr/>
          <p:nvPr/>
        </p:nvSpPr>
        <p:spPr>
          <a:xfrm>
            <a:off x="2656928" y="2104545"/>
            <a:ext cx="1235755"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#1</a:t>
            </a:r>
            <a:endParaRPr lang="zh-CN" altLang="en-US" sz="1200" b="1" dirty="0">
              <a:latin typeface="微软雅黑" pitchFamily="34" charset="-122"/>
              <a:ea typeface="微软雅黑" pitchFamily="34" charset="-122"/>
            </a:endParaRPr>
          </a:p>
        </p:txBody>
      </p:sp>
      <p:sp>
        <p:nvSpPr>
          <p:cNvPr id="121" name="矩形 120"/>
          <p:cNvSpPr/>
          <p:nvPr/>
        </p:nvSpPr>
        <p:spPr>
          <a:xfrm>
            <a:off x="5134053" y="2104545"/>
            <a:ext cx="1120744"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#2</a:t>
            </a:r>
            <a:endParaRPr lang="zh-CN" altLang="en-US" sz="1200" b="1" dirty="0">
              <a:latin typeface="微软雅黑" pitchFamily="34" charset="-122"/>
              <a:ea typeface="微软雅黑" pitchFamily="34" charset="-122"/>
            </a:endParaRPr>
          </a:p>
        </p:txBody>
      </p:sp>
      <p:sp>
        <p:nvSpPr>
          <p:cNvPr id="70" name="矩形 69"/>
          <p:cNvSpPr/>
          <p:nvPr/>
        </p:nvSpPr>
        <p:spPr>
          <a:xfrm>
            <a:off x="936737"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grpSp>
        <p:nvGrpSpPr>
          <p:cNvPr id="74" name="组合 73"/>
          <p:cNvGrpSpPr/>
          <p:nvPr/>
        </p:nvGrpSpPr>
        <p:grpSpPr>
          <a:xfrm>
            <a:off x="2897478" y="2384408"/>
            <a:ext cx="702995" cy="578041"/>
            <a:chOff x="7065949" y="3613937"/>
            <a:chExt cx="630195" cy="561943"/>
          </a:xfrm>
        </p:grpSpPr>
        <p:sp>
          <p:nvSpPr>
            <p:cNvPr id="76" name="矩形 7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8" name="右箭头 7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右箭头 80"/>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右箭头 92"/>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矩形 111"/>
          <p:cNvSpPr/>
          <p:nvPr/>
        </p:nvSpPr>
        <p:spPr>
          <a:xfrm>
            <a:off x="7254383"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sp>
        <p:nvSpPr>
          <p:cNvPr id="117" name="Line 53"/>
          <p:cNvSpPr>
            <a:spLocks noChangeShapeType="1"/>
          </p:cNvSpPr>
          <p:nvPr/>
        </p:nvSpPr>
        <p:spPr bwMode="auto">
          <a:xfrm flipH="1" flipV="1">
            <a:off x="5651052"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94" name="组合 93"/>
          <p:cNvGrpSpPr/>
          <p:nvPr/>
        </p:nvGrpSpPr>
        <p:grpSpPr>
          <a:xfrm>
            <a:off x="5308636" y="2384408"/>
            <a:ext cx="702995" cy="578041"/>
            <a:chOff x="7065949" y="3613937"/>
            <a:chExt cx="630195" cy="561943"/>
          </a:xfrm>
        </p:grpSpPr>
        <p:sp>
          <p:nvSpPr>
            <p:cNvPr id="96" name="矩形 9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97" name="右箭头 96"/>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右箭头 10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右箭头 10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右箭头 10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75590"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3785340" y="2154056"/>
            <a:ext cx="1348713" cy="523220"/>
          </a:xfrm>
          <a:prstGeom prst="rect">
            <a:avLst/>
          </a:prstGeom>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汇聚链路 </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r>
              <a:rPr lang="en-US" altLang="zh-CN" sz="1400" b="1" dirty="0">
                <a:solidFill>
                  <a:srgbClr val="C00000"/>
                </a:solidFill>
                <a:latin typeface="微软雅黑" panose="020B0503020204020204" pitchFamily="34" charset="-122"/>
                <a:ea typeface="微软雅黑" panose="020B0503020204020204" pitchFamily="34" charset="-122"/>
              </a:rPr>
              <a:t>(trunk link)</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1A41243-FB2E-5E51-D539-D93FFAC5AE2C}"/>
              </a:ext>
            </a:extLst>
          </p:cNvPr>
          <p:cNvSpPr/>
          <p:nvPr/>
        </p:nvSpPr>
        <p:spPr>
          <a:xfrm>
            <a:off x="1539315" y="2765526"/>
            <a:ext cx="1348713" cy="523220"/>
          </a:xfrm>
          <a:prstGeom prst="rect">
            <a:avLst/>
          </a:prstGeom>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接入链路 </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r>
              <a:rPr lang="en-US" altLang="zh-CN" sz="1400" b="1" dirty="0">
                <a:solidFill>
                  <a:srgbClr val="C00000"/>
                </a:solidFill>
                <a:latin typeface="微软雅黑" panose="020B0503020204020204" pitchFamily="34" charset="-122"/>
                <a:ea typeface="微软雅黑" panose="020B0503020204020204" pitchFamily="34" charset="-122"/>
              </a:rPr>
              <a:t>(access link)</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2DEEB748-36EE-463B-6DEF-88B8CFDA575A}"/>
              </a:ext>
            </a:extLst>
          </p:cNvPr>
          <p:cNvSpPr/>
          <p:nvPr/>
        </p:nvSpPr>
        <p:spPr>
          <a:xfrm>
            <a:off x="6051799" y="2784559"/>
            <a:ext cx="1348713" cy="523220"/>
          </a:xfrm>
          <a:prstGeom prst="rect">
            <a:avLst/>
          </a:prstGeom>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接入链路 </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r>
              <a:rPr lang="en-US" altLang="zh-CN" sz="1400" b="1" dirty="0">
                <a:solidFill>
                  <a:srgbClr val="C00000"/>
                </a:solidFill>
                <a:latin typeface="微软雅黑" panose="020B0503020204020204" pitchFamily="34" charset="-122"/>
                <a:ea typeface="微软雅黑" panose="020B0503020204020204" pitchFamily="34" charset="-122"/>
              </a:rPr>
              <a:t>(access link)</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D067F17E-09DA-9401-88F4-021D4464348B}"/>
              </a:ext>
            </a:extLst>
          </p:cNvPr>
          <p:cNvSpPr/>
          <p:nvPr/>
        </p:nvSpPr>
        <p:spPr>
          <a:xfrm rot="10800000">
            <a:off x="4550923" y="2821664"/>
            <a:ext cx="120419" cy="269169"/>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3346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10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75"/>
                                        </p:tgtEl>
                                        <p:attrNameLst>
                                          <p:attrName>style.visibility</p:attrName>
                                        </p:attrNameLst>
                                      </p:cBhvr>
                                      <p:to>
                                        <p:strVal val="visible"/>
                                      </p:to>
                                    </p:set>
                                    <p:animEffect transition="in" filter="wipe(down)">
                                      <p:cBhvr>
                                        <p:cTn id="16" dur="1000"/>
                                        <p:tgtEl>
                                          <p:spTgt spid="175"/>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2000" fill="hold" grpId="0" nodeType="clickEffect">
                                  <p:stCondLst>
                                    <p:cond delay="0"/>
                                  </p:stCondLst>
                                  <p:childTnLst>
                                    <p:anim calcmode="discrete" valueType="str">
                                      <p:cBhvr>
                                        <p:cTn id="24"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35" presetClass="emph" presetSubtype="0" repeatCount="2000" fill="hold" grpId="0" nodeType="clickEffect">
                                  <p:stCondLst>
                                    <p:cond delay="0"/>
                                  </p:stCondLst>
                                  <p:childTnLst>
                                    <p:anim calcmode="discrete" valueType="str">
                                      <p:cBhvr>
                                        <p:cTn id="28"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5" grpId="0" animBg="1"/>
      <p:bldP spid="8" grpId="0"/>
      <p:bldP spid="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9"/>
          <p:cNvSpPr>
            <a:spLocks noChangeArrowheads="1"/>
          </p:cNvSpPr>
          <p:nvPr/>
        </p:nvSpPr>
        <p:spPr bwMode="auto">
          <a:xfrm>
            <a:off x="2629135" y="2515012"/>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9" name="Rectangle 9"/>
          <p:cNvSpPr>
            <a:spLocks noChangeArrowheads="1"/>
          </p:cNvSpPr>
          <p:nvPr/>
        </p:nvSpPr>
        <p:spPr bwMode="auto">
          <a:xfrm>
            <a:off x="2629135" y="1304708"/>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0" name="Rectangle 10"/>
          <p:cNvSpPr>
            <a:spLocks noChangeArrowheads="1"/>
          </p:cNvSpPr>
          <p:nvPr/>
        </p:nvSpPr>
        <p:spPr bwMode="auto">
          <a:xfrm>
            <a:off x="2629135" y="1911133"/>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1" name="Rectangle 27"/>
          <p:cNvSpPr>
            <a:spLocks noChangeArrowheads="1"/>
          </p:cNvSpPr>
          <p:nvPr/>
        </p:nvSpPr>
        <p:spPr bwMode="auto">
          <a:xfrm>
            <a:off x="639730" y="1304708"/>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42" name="Rectangle 29"/>
          <p:cNvSpPr>
            <a:spLocks noChangeArrowheads="1"/>
          </p:cNvSpPr>
          <p:nvPr/>
        </p:nvSpPr>
        <p:spPr bwMode="auto">
          <a:xfrm>
            <a:off x="648619" y="1399640"/>
            <a:ext cx="162765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3.5</a:t>
            </a:r>
          </a:p>
          <a:p>
            <a:pPr eaLnBrk="0" hangingPunct="0"/>
            <a:r>
              <a:rPr lang="zh-CN" altLang="en-US" sz="2000" b="1" dirty="0">
                <a:solidFill>
                  <a:schemeClr val="bg1"/>
                </a:solidFill>
                <a:latin typeface="微软雅黑" pitchFamily="34" charset="-122"/>
                <a:ea typeface="微软雅黑" pitchFamily="34" charset="-122"/>
              </a:rPr>
              <a:t>高速以太网</a:t>
            </a:r>
            <a:endParaRPr lang="zh-CN" altLang="fr-FR" sz="2000" b="1" dirty="0">
              <a:solidFill>
                <a:schemeClr val="bg1"/>
              </a:solidFill>
              <a:latin typeface="微软雅黑" pitchFamily="34" charset="-122"/>
              <a:ea typeface="微软雅黑" pitchFamily="34" charset="-122"/>
            </a:endParaRPr>
          </a:p>
        </p:txBody>
      </p:sp>
      <p:sp>
        <p:nvSpPr>
          <p:cNvPr id="45" name="Rectangle 10"/>
          <p:cNvSpPr>
            <a:spLocks noChangeArrowheads="1"/>
          </p:cNvSpPr>
          <p:nvPr/>
        </p:nvSpPr>
        <p:spPr bwMode="auto">
          <a:xfrm>
            <a:off x="2629135" y="3123727"/>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3" name="Line 16"/>
          <p:cNvSpPr>
            <a:spLocks noChangeShapeType="1"/>
          </p:cNvSpPr>
          <p:nvPr/>
        </p:nvSpPr>
        <p:spPr bwMode="auto">
          <a:xfrm>
            <a:off x="3637198" y="1233270"/>
            <a:ext cx="0" cy="234702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Rectangle 8"/>
          <p:cNvSpPr>
            <a:spLocks noChangeArrowheads="1"/>
          </p:cNvSpPr>
          <p:nvPr/>
        </p:nvSpPr>
        <p:spPr bwMode="auto">
          <a:xfrm>
            <a:off x="2700572" y="1050708"/>
            <a:ext cx="5821635" cy="246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3.5.1                                    100BASE-T </a:t>
            </a:r>
            <a:r>
              <a:rPr lang="zh-CN" altLang="en-US" sz="2000" b="1" dirty="0">
                <a:solidFill>
                  <a:schemeClr val="bg1"/>
                </a:solidFill>
                <a:latin typeface="微软雅黑" pitchFamily="34" charset="-122"/>
                <a:ea typeface="微软雅黑" pitchFamily="34" charset="-122"/>
              </a:rPr>
              <a:t>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3.5.2                                             </a:t>
            </a:r>
            <a:r>
              <a:rPr lang="zh-CN" altLang="en-US" sz="2000" b="1" dirty="0">
                <a:solidFill>
                  <a:schemeClr val="bg1"/>
                </a:solidFill>
                <a:latin typeface="微软雅黑" pitchFamily="34" charset="-122"/>
                <a:ea typeface="微软雅黑" pitchFamily="34" charset="-122"/>
              </a:rPr>
              <a:t>吉比特以太网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3.5.3    10</a:t>
            </a:r>
            <a:r>
              <a:rPr lang="zh-CN" altLang="en-US" sz="2000" b="1" dirty="0">
                <a:solidFill>
                  <a:schemeClr val="bg1"/>
                </a:solidFill>
                <a:latin typeface="微软雅黑" pitchFamily="34" charset="-122"/>
                <a:ea typeface="微软雅黑" pitchFamily="34" charset="-122"/>
              </a:rPr>
              <a:t>吉比特以太网</a:t>
            </a:r>
            <a:r>
              <a:rPr lang="en-US" altLang="zh-CN" sz="2000" b="1" dirty="0">
                <a:solidFill>
                  <a:schemeClr val="bg1"/>
                </a:solidFill>
                <a:latin typeface="微软雅黑" pitchFamily="34" charset="-122"/>
                <a:ea typeface="微软雅黑" pitchFamily="34" charset="-122"/>
              </a:rPr>
              <a:t>(10GbE)</a:t>
            </a:r>
            <a:r>
              <a:rPr lang="zh-CN" altLang="en-US" sz="2000" b="1" dirty="0">
                <a:solidFill>
                  <a:schemeClr val="bg1"/>
                </a:solidFill>
                <a:latin typeface="微软雅黑" pitchFamily="34" charset="-122"/>
                <a:ea typeface="微软雅黑" pitchFamily="34" charset="-122"/>
              </a:rPr>
              <a:t>和更快的以太网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3.5.4                             </a:t>
            </a:r>
            <a:r>
              <a:rPr lang="zh-CN" altLang="en-US" sz="2000" b="1" dirty="0">
                <a:solidFill>
                  <a:schemeClr val="bg1"/>
                </a:solidFill>
                <a:latin typeface="微软雅黑" pitchFamily="34" charset="-122"/>
                <a:ea typeface="微软雅黑" pitchFamily="34" charset="-122"/>
              </a:rPr>
              <a:t>使用以太网进行宽带接入</a:t>
            </a:r>
          </a:p>
        </p:txBody>
      </p:sp>
    </p:spTree>
    <p:extLst>
      <p:ext uri="{BB962C8B-B14F-4D97-AF65-F5344CB8AC3E}">
        <p14:creationId xmlns:p14="http://schemas.microsoft.com/office/powerpoint/2010/main" val="7022804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5"/>
          <p:cNvSpPr>
            <a:spLocks noChangeArrowheads="1"/>
          </p:cNvSpPr>
          <p:nvPr/>
        </p:nvSpPr>
        <p:spPr bwMode="auto">
          <a:xfrm>
            <a:off x="502919" y="646038"/>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8" name="Rectangle 6"/>
          <p:cNvSpPr>
            <a:spLocks noChangeArrowheads="1"/>
          </p:cNvSpPr>
          <p:nvPr/>
        </p:nvSpPr>
        <p:spPr bwMode="auto">
          <a:xfrm>
            <a:off x="2651699" y="603767"/>
            <a:ext cx="3823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3.5.1  100BASE-T </a:t>
            </a:r>
            <a:r>
              <a:rPr lang="zh-CN" altLang="en-US" sz="2400" b="1" dirty="0">
                <a:solidFill>
                  <a:schemeClr val="bg1"/>
                </a:solidFill>
                <a:latin typeface="微软雅黑" pitchFamily="34" charset="-122"/>
                <a:ea typeface="微软雅黑" pitchFamily="34" charset="-122"/>
              </a:rPr>
              <a:t>以太网</a:t>
            </a:r>
          </a:p>
        </p:txBody>
      </p:sp>
      <p:sp>
        <p:nvSpPr>
          <p:cNvPr id="49" name="Rectangle 8"/>
          <p:cNvSpPr>
            <a:spLocks noChangeArrowheads="1"/>
          </p:cNvSpPr>
          <p:nvPr/>
        </p:nvSpPr>
        <p:spPr bwMode="auto">
          <a:xfrm>
            <a:off x="502919" y="1040013"/>
            <a:ext cx="8229601" cy="3009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a:t>
            </a:r>
            <a:r>
              <a:rPr lang="zh-CN" altLang="en-US" sz="2000" b="1" dirty="0">
                <a:solidFill>
                  <a:srgbClr val="C00000"/>
                </a:solidFill>
                <a:latin typeface="微软雅黑" pitchFamily="34" charset="-122"/>
                <a:ea typeface="微软雅黑" pitchFamily="34" charset="-122"/>
              </a:rPr>
              <a:t>双绞线</a:t>
            </a:r>
            <a:r>
              <a:rPr lang="zh-CN" altLang="en-US" sz="2000" b="1" dirty="0">
                <a:latin typeface="微软雅黑" pitchFamily="34" charset="-122"/>
                <a:ea typeface="微软雅黑" pitchFamily="34" charset="-122"/>
              </a:rPr>
              <a:t>上传送 </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基带信号的星形拓扑以太网。</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仍使用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曾称为</a:t>
            </a:r>
            <a:r>
              <a:rPr lang="zh-CN" altLang="en-US" sz="2000" b="1" dirty="0">
                <a:solidFill>
                  <a:srgbClr val="C00000"/>
                </a:solidFill>
                <a:latin typeface="微软雅黑" pitchFamily="34" charset="-122"/>
                <a:ea typeface="微软雅黑" pitchFamily="34" charset="-122"/>
              </a:rPr>
              <a:t>快速以太网 </a:t>
            </a:r>
            <a:r>
              <a:rPr lang="en-US" altLang="zh-CN" sz="2000" b="1" dirty="0">
                <a:latin typeface="微软雅黑" pitchFamily="34" charset="-122"/>
                <a:ea typeface="微软雅黑" pitchFamily="34" charset="-122"/>
              </a:rPr>
              <a:t>(Fast Ethernet)</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可以很方便地由</a:t>
            </a:r>
            <a:r>
              <a:rPr lang="en-US" altLang="zh-CN" sz="2000" b="1" dirty="0">
                <a:latin typeface="微软雅黑" pitchFamily="34" charset="-122"/>
                <a:ea typeface="微软雅黑" pitchFamily="34" charset="-122"/>
              </a:rPr>
              <a:t>10BASE-T</a:t>
            </a:r>
            <a:r>
              <a:rPr lang="zh-CN" altLang="en-US" sz="2000" b="1" dirty="0">
                <a:latin typeface="微软雅黑" pitchFamily="34" charset="-122"/>
                <a:ea typeface="微软雅黑" pitchFamily="34" charset="-122"/>
              </a:rPr>
              <a:t>以太网直接升级到</a:t>
            </a:r>
            <a:r>
              <a:rPr lang="en-US" altLang="zh-CN" sz="2000" b="1" dirty="0">
                <a:latin typeface="微软雅黑" pitchFamily="34" charset="-122"/>
                <a:ea typeface="微软雅黑" pitchFamily="34" charset="-122"/>
              </a:rPr>
              <a:t>100 Mbit/s</a:t>
            </a:r>
            <a:r>
              <a:rPr lang="zh-CN" altLang="en-US" sz="2000" b="1" dirty="0">
                <a:latin typeface="微软雅黑" pitchFamily="34" charset="-122"/>
                <a:ea typeface="微软雅黑" pitchFamily="34" charset="-122"/>
              </a:rPr>
              <a:t>，而不必改变网络的拓扑结构。</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100BASE-T</a:t>
            </a:r>
            <a:r>
              <a:rPr lang="zh-CN" altLang="en-US" sz="2000" b="1" dirty="0">
                <a:latin typeface="微软雅黑" pitchFamily="34" charset="-122"/>
                <a:ea typeface="微软雅黑" pitchFamily="34" charset="-122"/>
              </a:rPr>
              <a:t>的适配器能够自动识别</a:t>
            </a:r>
            <a:r>
              <a:rPr lang="en-US" altLang="zh-CN" sz="2000" b="1" dirty="0">
                <a:latin typeface="微软雅黑" pitchFamily="34" charset="-122"/>
                <a:ea typeface="微软雅黑" pitchFamily="34" charset="-122"/>
              </a:rPr>
              <a:t>10 Mbit/s</a:t>
            </a:r>
            <a:r>
              <a:rPr lang="zh-CN" altLang="en-US" sz="2000" b="1" dirty="0">
                <a:latin typeface="微软雅黑" pitchFamily="34" charset="-122"/>
                <a:ea typeface="微软雅黑" pitchFamily="34" charset="-122"/>
              </a:rPr>
              <a:t>和</a:t>
            </a:r>
            <a:r>
              <a:rPr lang="en-US" altLang="zh-CN" sz="2000" b="1" dirty="0">
                <a:latin typeface="微软雅黑" pitchFamily="34" charset="-122"/>
                <a:ea typeface="微软雅黑" pitchFamily="34" charset="-122"/>
              </a:rPr>
              <a:t>100 Mbit/s</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1995 </a:t>
            </a:r>
            <a:r>
              <a:rPr lang="zh-CN" altLang="en-US" sz="2000" b="1" dirty="0">
                <a:latin typeface="微软雅黑" pitchFamily="34" charset="-122"/>
                <a:ea typeface="微软雅黑" pitchFamily="34" charset="-122"/>
              </a:rPr>
              <a:t>定为正式标准：</a:t>
            </a:r>
            <a:r>
              <a:rPr lang="en-US" altLang="zh-CN" sz="2000" b="1" dirty="0">
                <a:latin typeface="微软雅黑" pitchFamily="34" charset="-122"/>
                <a:ea typeface="微软雅黑" pitchFamily="34" charset="-122"/>
              </a:rPr>
              <a:t>IEEE 802.3u</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54146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animEffect transition="in" filter="fade">
                                      <p:cBhvr>
                                        <p:cTn id="7" dur="1000"/>
                                        <p:tgtEl>
                                          <p:spTgt spid="49">
                                            <p:txEl>
                                              <p:pRg st="0" end="0"/>
                                            </p:txEl>
                                          </p:spTgt>
                                        </p:tgtEl>
                                      </p:cBhvr>
                                    </p:animEffect>
                                    <p:anim calcmode="lin" valueType="num">
                                      <p:cBhvr>
                                        <p:cTn id="8"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9">
                                            <p:txEl>
                                              <p:pRg st="1" end="1"/>
                                            </p:txEl>
                                          </p:spTgt>
                                        </p:tgtEl>
                                        <p:attrNameLst>
                                          <p:attrName>style.visibility</p:attrName>
                                        </p:attrNameLst>
                                      </p:cBhvr>
                                      <p:to>
                                        <p:strVal val="visible"/>
                                      </p:to>
                                    </p:set>
                                    <p:animEffect transition="in" filter="fade">
                                      <p:cBhvr>
                                        <p:cTn id="14" dur="1000"/>
                                        <p:tgtEl>
                                          <p:spTgt spid="49">
                                            <p:txEl>
                                              <p:pRg st="1" end="1"/>
                                            </p:txEl>
                                          </p:spTgt>
                                        </p:tgtEl>
                                      </p:cBhvr>
                                    </p:animEffect>
                                    <p:anim calcmode="lin" valueType="num">
                                      <p:cBhvr>
                                        <p:cTn id="15" dur="1000" fill="hold"/>
                                        <p:tgtEl>
                                          <p:spTgt spid="4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9">
                                            <p:txEl>
                                              <p:pRg st="2" end="2"/>
                                            </p:txEl>
                                          </p:spTgt>
                                        </p:tgtEl>
                                        <p:attrNameLst>
                                          <p:attrName>style.visibility</p:attrName>
                                        </p:attrNameLst>
                                      </p:cBhvr>
                                      <p:to>
                                        <p:strVal val="visible"/>
                                      </p:to>
                                    </p:set>
                                    <p:animEffect transition="in" filter="fade">
                                      <p:cBhvr>
                                        <p:cTn id="21" dur="1000"/>
                                        <p:tgtEl>
                                          <p:spTgt spid="49">
                                            <p:txEl>
                                              <p:pRg st="2" end="2"/>
                                            </p:txEl>
                                          </p:spTgt>
                                        </p:tgtEl>
                                      </p:cBhvr>
                                    </p:animEffect>
                                    <p:anim calcmode="lin" valueType="num">
                                      <p:cBhvr>
                                        <p:cTn id="22" dur="1000" fill="hold"/>
                                        <p:tgtEl>
                                          <p:spTgt spid="4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9">
                                            <p:txEl>
                                              <p:pRg st="3" end="3"/>
                                            </p:txEl>
                                          </p:spTgt>
                                        </p:tgtEl>
                                        <p:attrNameLst>
                                          <p:attrName>style.visibility</p:attrName>
                                        </p:attrNameLst>
                                      </p:cBhvr>
                                      <p:to>
                                        <p:strVal val="visible"/>
                                      </p:to>
                                    </p:set>
                                    <p:animEffect transition="in" filter="fade">
                                      <p:cBhvr>
                                        <p:cTn id="28" dur="1000"/>
                                        <p:tgtEl>
                                          <p:spTgt spid="49">
                                            <p:txEl>
                                              <p:pRg st="3" end="3"/>
                                            </p:txEl>
                                          </p:spTgt>
                                        </p:tgtEl>
                                      </p:cBhvr>
                                    </p:animEffect>
                                    <p:anim calcmode="lin" valueType="num">
                                      <p:cBhvr>
                                        <p:cTn id="29" dur="1000" fill="hold"/>
                                        <p:tgtEl>
                                          <p:spTgt spid="4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9">
                                            <p:txEl>
                                              <p:pRg st="4" end="4"/>
                                            </p:txEl>
                                          </p:spTgt>
                                        </p:tgtEl>
                                        <p:attrNameLst>
                                          <p:attrName>style.visibility</p:attrName>
                                        </p:attrNameLst>
                                      </p:cBhvr>
                                      <p:to>
                                        <p:strVal val="visible"/>
                                      </p:to>
                                    </p:set>
                                    <p:animEffect transition="in" filter="fade">
                                      <p:cBhvr>
                                        <p:cTn id="35" dur="1000"/>
                                        <p:tgtEl>
                                          <p:spTgt spid="49">
                                            <p:txEl>
                                              <p:pRg st="4" end="4"/>
                                            </p:txEl>
                                          </p:spTgt>
                                        </p:tgtEl>
                                      </p:cBhvr>
                                    </p:animEffect>
                                    <p:anim calcmode="lin" valueType="num">
                                      <p:cBhvr>
                                        <p:cTn id="36" dur="1000" fill="hold"/>
                                        <p:tgtEl>
                                          <p:spTgt spid="4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9">
                                            <p:txEl>
                                              <p:pRg st="5" end="5"/>
                                            </p:txEl>
                                          </p:spTgt>
                                        </p:tgtEl>
                                        <p:attrNameLst>
                                          <p:attrName>style.visibility</p:attrName>
                                        </p:attrNameLst>
                                      </p:cBhvr>
                                      <p:to>
                                        <p:strVal val="visible"/>
                                      </p:to>
                                    </p:set>
                                    <p:animEffect transition="in" filter="fade">
                                      <p:cBhvr>
                                        <p:cTn id="42" dur="1000"/>
                                        <p:tgtEl>
                                          <p:spTgt spid="49">
                                            <p:txEl>
                                              <p:pRg st="5" end="5"/>
                                            </p:txEl>
                                          </p:spTgt>
                                        </p:tgtEl>
                                      </p:cBhvr>
                                    </p:animEffect>
                                    <p:anim calcmode="lin" valueType="num">
                                      <p:cBhvr>
                                        <p:cTn id="43" dur="1000" fill="hold"/>
                                        <p:tgtEl>
                                          <p:spTgt spid="49">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uiExpand="1"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46"/>
          <p:cNvSpPr>
            <a:spLocks noChangeArrowheads="1"/>
          </p:cNvSpPr>
          <p:nvPr/>
        </p:nvSpPr>
        <p:spPr bwMode="auto">
          <a:xfrm>
            <a:off x="502919" y="1003151"/>
            <a:ext cx="8129015" cy="2586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使用以太网交换机可在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方式下工作而无冲突发生。</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在全双工方式下工作时，</a:t>
            </a:r>
            <a:r>
              <a:rPr lang="zh-CN" altLang="en-US" sz="2000" b="1" dirty="0">
                <a:solidFill>
                  <a:srgbClr val="0000FF"/>
                </a:solidFill>
                <a:latin typeface="微软雅黑" pitchFamily="34" charset="-122"/>
                <a:ea typeface="微软雅黑" pitchFamily="34" charset="-122"/>
              </a:rPr>
              <a:t>不使用 </a:t>
            </a:r>
            <a:r>
              <a:rPr lang="en-US" altLang="zh-CN" sz="2000" b="1" dirty="0">
                <a:solidFill>
                  <a:srgbClr val="0000FF"/>
                </a:solidFill>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保持最短帧长不变，但将一个网段的最大电缆长度</a:t>
            </a:r>
            <a:r>
              <a:rPr lang="zh-CN" altLang="en-US" sz="2000" b="1" dirty="0">
                <a:solidFill>
                  <a:srgbClr val="0000FF"/>
                </a:solidFill>
                <a:latin typeface="微软雅黑" pitchFamily="34" charset="-122"/>
                <a:ea typeface="微软雅黑" pitchFamily="34" charset="-122"/>
              </a:rPr>
              <a:t>减小到 </a:t>
            </a:r>
            <a:r>
              <a:rPr lang="en-US" altLang="zh-CN" sz="2000" b="1" dirty="0">
                <a:solidFill>
                  <a:srgbClr val="0000FF"/>
                </a:solidFill>
                <a:latin typeface="微软雅黑" pitchFamily="34" charset="-122"/>
                <a:ea typeface="微软雅黑" pitchFamily="34" charset="-122"/>
              </a:rPr>
              <a:t>100 </a:t>
            </a:r>
            <a:r>
              <a:rPr lang="zh-CN" altLang="en-US" sz="2000" b="1" dirty="0">
                <a:solidFill>
                  <a:srgbClr val="0000FF"/>
                </a:solidFill>
                <a:latin typeface="微软雅黑" pitchFamily="34" charset="-122"/>
                <a:ea typeface="微软雅黑" pitchFamily="34" charset="-122"/>
              </a:rPr>
              <a:t>米。</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100 Mbit/s</a:t>
            </a:r>
            <a:r>
              <a:rPr lang="zh-CN" altLang="en-US" sz="2000" b="1" dirty="0">
                <a:latin typeface="微软雅黑" pitchFamily="34" charset="-122"/>
                <a:ea typeface="微软雅黑" pitchFamily="34" charset="-122"/>
              </a:rPr>
              <a:t>以太网的</a:t>
            </a:r>
            <a:r>
              <a:rPr lang="zh-CN" altLang="en-US" sz="2000" b="1" dirty="0">
                <a:solidFill>
                  <a:srgbClr val="0000FF"/>
                </a:solidFill>
                <a:latin typeface="微软雅黑" pitchFamily="34" charset="-122"/>
                <a:ea typeface="微软雅黑" pitchFamily="34" charset="-122"/>
              </a:rPr>
              <a:t>争用期</a:t>
            </a:r>
            <a:r>
              <a:rPr lang="zh-CN" altLang="en-US" sz="2000" b="1" dirty="0">
                <a:latin typeface="微软雅黑" pitchFamily="34" charset="-122"/>
                <a:ea typeface="微软雅黑" pitchFamily="34" charset="-122"/>
              </a:rPr>
              <a:t>是</a:t>
            </a:r>
            <a:r>
              <a:rPr lang="en-US" altLang="zh-CN" sz="2000" b="1" dirty="0">
                <a:latin typeface="微软雅黑" pitchFamily="34" charset="-122"/>
                <a:ea typeface="微软雅黑" pitchFamily="34" charset="-122"/>
              </a:rPr>
              <a:t>5.12 </a:t>
            </a:r>
            <a:r>
              <a:rPr lang="en-US" altLang="zh-CN" sz="2000" b="1" dirty="0">
                <a:latin typeface="微软雅黑" pitchFamily="34" charset="-122"/>
                <a:ea typeface="微软雅黑" pitchFamily="34" charset="-122"/>
                <a:sym typeface="Symbol" panose="05050102010706020507" pitchFamily="18" charset="2"/>
              </a:rPr>
              <a:t></a:t>
            </a:r>
            <a:r>
              <a:rPr lang="en-US" altLang="zh-CN" sz="2000" b="1" dirty="0">
                <a:latin typeface="微软雅黑" pitchFamily="34" charset="-122"/>
                <a:ea typeface="微软雅黑" pitchFamily="34" charset="-122"/>
              </a:rPr>
              <a:t>s</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帧间最小间隔</a:t>
            </a:r>
            <a:r>
              <a:rPr lang="zh-CN" altLang="en-US" sz="2000" b="1" dirty="0">
                <a:latin typeface="微软雅黑" pitchFamily="34" charset="-122"/>
                <a:ea typeface="微软雅黑" pitchFamily="34" charset="-122"/>
              </a:rPr>
              <a:t>现在是</a:t>
            </a:r>
            <a:r>
              <a:rPr lang="en-US" altLang="zh-CN" sz="2000" b="1" dirty="0">
                <a:latin typeface="微软雅黑" pitchFamily="34" charset="-122"/>
                <a:ea typeface="微软雅黑" pitchFamily="34" charset="-122"/>
              </a:rPr>
              <a:t>0.96 </a:t>
            </a:r>
            <a:r>
              <a:rPr lang="en-US" altLang="zh-CN" sz="2000" b="1" dirty="0">
                <a:latin typeface="微软雅黑" pitchFamily="34" charset="-122"/>
                <a:ea typeface="微软雅黑" pitchFamily="34" charset="-122"/>
                <a:sym typeface="Symbol" panose="05050102010706020507" pitchFamily="18" charset="2"/>
              </a:rPr>
              <a:t></a:t>
            </a:r>
            <a:r>
              <a:rPr lang="en-US" altLang="zh-CN" sz="2000" b="1" dirty="0">
                <a:latin typeface="微软雅黑" pitchFamily="34" charset="-122"/>
                <a:ea typeface="微软雅黑" pitchFamily="34" charset="-122"/>
              </a:rPr>
              <a:t>s</a:t>
            </a:r>
            <a:r>
              <a:rPr lang="zh-CN" altLang="en-US" sz="2000" b="1" dirty="0">
                <a:latin typeface="微软雅黑" pitchFamily="34" charset="-122"/>
                <a:ea typeface="微软雅黑" pitchFamily="34" charset="-122"/>
              </a:rPr>
              <a:t>，都是</a:t>
            </a:r>
            <a:r>
              <a:rPr lang="en-US" altLang="zh-CN" sz="2000" b="1" dirty="0">
                <a:latin typeface="微软雅黑" pitchFamily="34" charset="-122"/>
                <a:ea typeface="微软雅黑" pitchFamily="34" charset="-122"/>
              </a:rPr>
              <a:t>10 Mbit/s</a:t>
            </a:r>
            <a:r>
              <a:rPr lang="zh-CN" altLang="en-US" sz="2000" b="1" dirty="0">
                <a:latin typeface="微软雅黑" pitchFamily="34" charset="-122"/>
                <a:ea typeface="微软雅黑" pitchFamily="34" charset="-122"/>
              </a:rPr>
              <a:t>以太网的</a:t>
            </a:r>
            <a:r>
              <a:rPr lang="en-US" altLang="zh-CN" sz="2000" b="1" dirty="0">
                <a:latin typeface="微软雅黑" pitchFamily="34" charset="-122"/>
                <a:ea typeface="微软雅黑" pitchFamily="34" charset="-122"/>
              </a:rPr>
              <a:t>1/10</a:t>
            </a:r>
            <a:r>
              <a:rPr lang="zh-CN" altLang="en-US" sz="2000" b="1" dirty="0">
                <a:latin typeface="微软雅黑" pitchFamily="34" charset="-122"/>
                <a:ea typeface="微软雅黑" pitchFamily="34" charset="-122"/>
              </a:rPr>
              <a:t>。 </a:t>
            </a:r>
          </a:p>
        </p:txBody>
      </p:sp>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59101" y="622734"/>
            <a:ext cx="32159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100BASE-T </a:t>
            </a:r>
            <a:r>
              <a:rPr lang="zh-CN" altLang="en-US" sz="2000" b="1" dirty="0">
                <a:solidFill>
                  <a:schemeClr val="bg1"/>
                </a:solidFill>
                <a:latin typeface="微软雅黑" pitchFamily="34" charset="-122"/>
                <a:ea typeface="微软雅黑" pitchFamily="34" charset="-122"/>
              </a:rPr>
              <a:t>以太网的特点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5398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1000"/>
                                        <p:tgtEl>
                                          <p:spTgt spid="34">
                                            <p:txEl>
                                              <p:pRg st="0" end="0"/>
                                            </p:txEl>
                                          </p:spTgt>
                                        </p:tgtEl>
                                      </p:cBhvr>
                                    </p:animEffect>
                                    <p:anim calcmode="lin" valueType="num">
                                      <p:cBhvr>
                                        <p:cTn id="8" dur="1000" fill="hold"/>
                                        <p:tgtEl>
                                          <p:spTgt spid="3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
                                            <p:txEl>
                                              <p:pRg st="1" end="1"/>
                                            </p:txEl>
                                          </p:spTgt>
                                        </p:tgtEl>
                                        <p:attrNameLst>
                                          <p:attrName>style.visibility</p:attrName>
                                        </p:attrNameLst>
                                      </p:cBhvr>
                                      <p:to>
                                        <p:strVal val="visible"/>
                                      </p:to>
                                    </p:set>
                                    <p:animEffect transition="in" filter="fade">
                                      <p:cBhvr>
                                        <p:cTn id="14" dur="1000"/>
                                        <p:tgtEl>
                                          <p:spTgt spid="34">
                                            <p:txEl>
                                              <p:pRg st="1" end="1"/>
                                            </p:txEl>
                                          </p:spTgt>
                                        </p:tgtEl>
                                      </p:cBhvr>
                                    </p:animEffect>
                                    <p:anim calcmode="lin" valueType="num">
                                      <p:cBhvr>
                                        <p:cTn id="15" dur="1000" fill="hold"/>
                                        <p:tgtEl>
                                          <p:spTgt spid="3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xEl>
                                              <p:pRg st="2" end="2"/>
                                            </p:txEl>
                                          </p:spTgt>
                                        </p:tgtEl>
                                        <p:attrNameLst>
                                          <p:attrName>style.visibility</p:attrName>
                                        </p:attrNameLst>
                                      </p:cBhvr>
                                      <p:to>
                                        <p:strVal val="visible"/>
                                      </p:to>
                                    </p:set>
                                    <p:animEffect transition="in" filter="fade">
                                      <p:cBhvr>
                                        <p:cTn id="21" dur="1000"/>
                                        <p:tgtEl>
                                          <p:spTgt spid="34">
                                            <p:txEl>
                                              <p:pRg st="2" end="2"/>
                                            </p:txEl>
                                          </p:spTgt>
                                        </p:tgtEl>
                                      </p:cBhvr>
                                    </p:animEffect>
                                    <p:anim calcmode="lin" valueType="num">
                                      <p:cBhvr>
                                        <p:cTn id="22" dur="1000" fill="hold"/>
                                        <p:tgtEl>
                                          <p:spTgt spid="3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4">
                                            <p:txEl>
                                              <p:pRg st="3" end="3"/>
                                            </p:txEl>
                                          </p:spTgt>
                                        </p:tgtEl>
                                        <p:attrNameLst>
                                          <p:attrName>style.visibility</p:attrName>
                                        </p:attrNameLst>
                                      </p:cBhvr>
                                      <p:to>
                                        <p:strVal val="visible"/>
                                      </p:to>
                                    </p:set>
                                    <p:animEffect transition="in" filter="fade">
                                      <p:cBhvr>
                                        <p:cTn id="28" dur="1000"/>
                                        <p:tgtEl>
                                          <p:spTgt spid="34">
                                            <p:txEl>
                                              <p:pRg st="3" end="3"/>
                                            </p:txEl>
                                          </p:spTgt>
                                        </p:tgtEl>
                                      </p:cBhvr>
                                    </p:animEffect>
                                    <p:anim calcmode="lin" valueType="num">
                                      <p:cBhvr>
                                        <p:cTn id="29" dur="1000" fill="hold"/>
                                        <p:tgtEl>
                                          <p:spTgt spid="3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4">
                                            <p:txEl>
                                              <p:pRg st="4" end="4"/>
                                            </p:txEl>
                                          </p:spTgt>
                                        </p:tgtEl>
                                        <p:attrNameLst>
                                          <p:attrName>style.visibility</p:attrName>
                                        </p:attrNameLst>
                                      </p:cBhvr>
                                      <p:to>
                                        <p:strVal val="visible"/>
                                      </p:to>
                                    </p:set>
                                    <p:animEffect transition="in" filter="fade">
                                      <p:cBhvr>
                                        <p:cTn id="35" dur="1000"/>
                                        <p:tgtEl>
                                          <p:spTgt spid="34">
                                            <p:txEl>
                                              <p:pRg st="4" end="4"/>
                                            </p:txEl>
                                          </p:spTgt>
                                        </p:tgtEl>
                                      </p:cBhvr>
                                    </p:animEffect>
                                    <p:anim calcmode="lin" valueType="num">
                                      <p:cBhvr>
                                        <p:cTn id="36" dur="1000" fill="hold"/>
                                        <p:tgtEl>
                                          <p:spTgt spid="3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1903524" y="622734"/>
            <a:ext cx="53270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 Mbit/s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种不同的物理层标准</a:t>
            </a:r>
          </a:p>
        </p:txBody>
      </p:sp>
      <p:graphicFrame>
        <p:nvGraphicFramePr>
          <p:cNvPr id="2" name="表格 1"/>
          <p:cNvGraphicFramePr>
            <a:graphicFrameLocks noGrp="1"/>
          </p:cNvGraphicFramePr>
          <p:nvPr/>
        </p:nvGraphicFramePr>
        <p:xfrm>
          <a:off x="502919" y="1173018"/>
          <a:ext cx="8129014" cy="2372428"/>
        </p:xfrm>
        <a:graphic>
          <a:graphicData uri="http://schemas.openxmlformats.org/drawingml/2006/table">
            <a:tbl>
              <a:tblPr firstRow="1" firstCol="1" bandRow="1">
                <a:tableStyleId>{5C22544A-7EE6-4342-B048-85BDC9FD1C3A}</a:tableStyleId>
              </a:tblPr>
              <a:tblGrid>
                <a:gridCol w="1667626">
                  <a:extLst>
                    <a:ext uri="{9D8B030D-6E8A-4147-A177-3AD203B41FA5}">
                      <a16:colId xmlns:a16="http://schemas.microsoft.com/office/drawing/2014/main" val="1173948242"/>
                    </a:ext>
                  </a:extLst>
                </a:gridCol>
                <a:gridCol w="895928">
                  <a:extLst>
                    <a:ext uri="{9D8B030D-6E8A-4147-A177-3AD203B41FA5}">
                      <a16:colId xmlns:a16="http://schemas.microsoft.com/office/drawing/2014/main" val="3262885190"/>
                    </a:ext>
                  </a:extLst>
                </a:gridCol>
                <a:gridCol w="1634836">
                  <a:extLst>
                    <a:ext uri="{9D8B030D-6E8A-4147-A177-3AD203B41FA5}">
                      <a16:colId xmlns:a16="http://schemas.microsoft.com/office/drawing/2014/main" val="2752163467"/>
                    </a:ext>
                  </a:extLst>
                </a:gridCol>
                <a:gridCol w="3930624">
                  <a:extLst>
                    <a:ext uri="{9D8B030D-6E8A-4147-A177-3AD203B41FA5}">
                      <a16:colId xmlns:a16="http://schemas.microsoft.com/office/drawing/2014/main" val="4254635384"/>
                    </a:ext>
                  </a:extLst>
                </a:gridCol>
              </a:tblGrid>
              <a:tr h="480292">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名称</a:t>
                      </a: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媒体</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网段最大长度</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特点</a:t>
                      </a:r>
                    </a:p>
                  </a:txBody>
                  <a:tcPr marL="68580" marR="68580" marT="0" marB="0" anchor="ctr"/>
                </a:tc>
                <a:extLst>
                  <a:ext uri="{0D108BD9-81ED-4DB2-BD59-A6C34878D82A}">
                    <a16:rowId xmlns:a16="http://schemas.microsoft.com/office/drawing/2014/main" val="1944279181"/>
                  </a:ext>
                </a:extLst>
              </a:tr>
              <a:tr h="630712">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100BASE-TX</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两对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5 </a:t>
                      </a:r>
                      <a:r>
                        <a:rPr lang="zh-CN" sz="1800" b="1" dirty="0">
                          <a:effectLst/>
                          <a:latin typeface="微软雅黑" panose="020B0503020204020204" pitchFamily="34" charset="-122"/>
                          <a:ea typeface="微软雅黑" panose="020B0503020204020204" pitchFamily="34" charset="-122"/>
                        </a:rPr>
                        <a:t>类线或屏蔽双绞线</a:t>
                      </a:r>
                      <a:r>
                        <a:rPr lang="en-US" sz="1800" b="1" dirty="0">
                          <a:effectLst/>
                          <a:latin typeface="微软雅黑" panose="020B0503020204020204" pitchFamily="34" charset="-122"/>
                          <a:ea typeface="微软雅黑" panose="020B0503020204020204" pitchFamily="34" charset="-122"/>
                        </a:rPr>
                        <a:t>STP</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83855503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100BASE-T4</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4 </a:t>
                      </a:r>
                      <a:r>
                        <a:rPr lang="zh-CN" sz="1800" b="1" dirty="0">
                          <a:effectLst/>
                          <a:latin typeface="微软雅黑" panose="020B0503020204020204" pitchFamily="34" charset="-122"/>
                          <a:ea typeface="微软雅黑" panose="020B0503020204020204" pitchFamily="34" charset="-122"/>
                        </a:rPr>
                        <a:t>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3 </a:t>
                      </a:r>
                      <a:r>
                        <a:rPr lang="zh-CN" sz="1800" b="1" dirty="0">
                          <a:effectLst/>
                          <a:latin typeface="微软雅黑" panose="020B0503020204020204" pitchFamily="34" charset="-122"/>
                          <a:ea typeface="微软雅黑" panose="020B0503020204020204" pitchFamily="34" charset="-122"/>
                        </a:rPr>
                        <a:t>类线或</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5 </a:t>
                      </a:r>
                      <a:r>
                        <a:rPr lang="zh-CN" sz="1800" b="1" dirty="0">
                          <a:effectLst/>
                          <a:latin typeface="微软雅黑" panose="020B0503020204020204" pitchFamily="34" charset="-122"/>
                          <a:ea typeface="微软雅黑" panose="020B0503020204020204" pitchFamily="34" charset="-122"/>
                        </a:rPr>
                        <a:t>类线</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49980781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100BASE-FX</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光缆</a:t>
                      </a:r>
                    </a:p>
                  </a:txBody>
                  <a:tcPr marL="68580" marR="68580" marT="0" marB="0" anchor="ctr"/>
                </a:tc>
                <a:tc>
                  <a:txBody>
                    <a:bodyPr/>
                    <a:lstStyle/>
                    <a:p>
                      <a:pPr algn="ctr">
                        <a:lnSpc>
                          <a:spcPts val="2400"/>
                        </a:lnSpc>
                        <a:spcAft>
                          <a:spcPts val="0"/>
                        </a:spcAft>
                        <a:tabLst>
                          <a:tab pos="1752600" algn="l"/>
                        </a:tabLst>
                      </a:pP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altLang="zh-CN" sz="1800" b="1" dirty="0">
                          <a:effectLst/>
                          <a:latin typeface="微软雅黑" panose="020B0503020204020204" pitchFamily="34" charset="-122"/>
                          <a:ea typeface="微软雅黑" panose="020B0503020204020204" pitchFamily="34" charset="-122"/>
                        </a:rPr>
                        <a:t>2 </a:t>
                      </a:r>
                      <a:r>
                        <a:rPr lang="zh-CN" sz="1800" b="1" dirty="0">
                          <a:effectLst/>
                          <a:latin typeface="微软雅黑" panose="020B0503020204020204" pitchFamily="34" charset="-122"/>
                          <a:ea typeface="微软雅黑" panose="020B0503020204020204" pitchFamily="34" charset="-122"/>
                        </a:rPr>
                        <a:t>根光纤，发送和接收各用一根</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225380281"/>
                  </a:ext>
                </a:extLst>
              </a:tr>
            </a:tbl>
          </a:graphicData>
        </a:graphic>
      </p:graphicFrame>
      <p:sp>
        <p:nvSpPr>
          <p:cNvPr id="4" name="文本框 3">
            <a:extLst>
              <a:ext uri="{FF2B5EF4-FFF2-40B4-BE49-F238E27FC236}">
                <a16:creationId xmlns:a16="http://schemas.microsoft.com/office/drawing/2014/main" id="{3A3B0F46-BC3E-F1F2-284B-9EA4D1FDBF54}"/>
              </a:ext>
            </a:extLst>
          </p:cNvPr>
          <p:cNvSpPr txBox="1"/>
          <p:nvPr/>
        </p:nvSpPr>
        <p:spPr>
          <a:xfrm>
            <a:off x="3221046" y="3040839"/>
            <a:ext cx="1321457" cy="378117"/>
          </a:xfrm>
          <a:prstGeom prst="rect">
            <a:avLst/>
          </a:prstGeom>
          <a:noFill/>
        </p:spPr>
        <p:txBody>
          <a:bodyPr wrap="square">
            <a:spAutoFit/>
          </a:bodyPr>
          <a:lstStyle/>
          <a:p>
            <a:pPr algn="ctr">
              <a:lnSpc>
                <a:spcPts val="2400"/>
              </a:lnSpc>
              <a:spcAft>
                <a:spcPts val="0"/>
              </a:spcAft>
              <a:tabLst>
                <a:tab pos="1752600" algn="l"/>
              </a:tabLst>
            </a:pPr>
            <a:r>
              <a:rPr lang="en-US" altLang="zh-CN" sz="1800" b="1" dirty="0">
                <a:effectLst/>
                <a:latin typeface="微软雅黑" panose="020B0503020204020204" pitchFamily="34" charset="-122"/>
                <a:ea typeface="微软雅黑" panose="020B0503020204020204" pitchFamily="34" charset="-122"/>
              </a:rPr>
              <a:t>2000 m</a:t>
            </a:r>
            <a:endParaRPr lang="zh-CN" altLang="zh-CN" sz="1800" b="1"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3972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grpId="0"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02919" y="649547"/>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3084510" y="607276"/>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3.5.2  </a:t>
            </a:r>
            <a:r>
              <a:rPr lang="zh-CN" altLang="en-US" sz="2400" b="1" dirty="0">
                <a:solidFill>
                  <a:schemeClr val="bg1"/>
                </a:solidFill>
                <a:latin typeface="微软雅黑" pitchFamily="34" charset="-122"/>
                <a:ea typeface="微软雅黑" pitchFamily="34" charset="-122"/>
              </a:rPr>
              <a:t>吉比特以太网</a:t>
            </a:r>
          </a:p>
        </p:txBody>
      </p:sp>
      <p:sp>
        <p:nvSpPr>
          <p:cNvPr id="38" name="Rectangle 8"/>
          <p:cNvSpPr>
            <a:spLocks noChangeArrowheads="1"/>
          </p:cNvSpPr>
          <p:nvPr/>
        </p:nvSpPr>
        <p:spPr bwMode="auto">
          <a:xfrm>
            <a:off x="502919" y="1043522"/>
            <a:ext cx="8129015" cy="2586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en-US" altLang="zh-CN" sz="2000" b="1" dirty="0">
                <a:latin typeface="微软雅黑" pitchFamily="34" charset="-122"/>
                <a:ea typeface="微软雅黑" pitchFamily="34" charset="-122"/>
              </a:rPr>
              <a:t>802.3z</a:t>
            </a:r>
            <a:r>
              <a:rPr lang="zh-CN" altLang="en-US" sz="2000" b="1" dirty="0">
                <a:latin typeface="微软雅黑" pitchFamily="34" charset="-122"/>
                <a:ea typeface="微软雅黑" pitchFamily="34" charset="-122"/>
              </a:rPr>
              <a:t>，已成为市场主流产品，特点：</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允许在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下以全双工和半双工 </a:t>
            </a:r>
            <a:r>
              <a:rPr lang="en-US" altLang="zh-CN" sz="2000" b="1" dirty="0">
                <a:solidFill>
                  <a:srgbClr val="0000FF"/>
                </a:solidFill>
                <a:latin typeface="微软雅黑" pitchFamily="34" charset="-122"/>
                <a:ea typeface="微软雅黑" pitchFamily="34" charset="-122"/>
              </a:rPr>
              <a:t>2 </a:t>
            </a:r>
            <a:r>
              <a:rPr lang="zh-CN" altLang="en-US" sz="2000" b="1" dirty="0">
                <a:solidFill>
                  <a:srgbClr val="0000FF"/>
                </a:solidFill>
                <a:latin typeface="微软雅黑" pitchFamily="34" charset="-122"/>
                <a:ea typeface="微软雅黑" pitchFamily="34" charset="-122"/>
              </a:rPr>
              <a:t>种方式</a:t>
            </a:r>
            <a:r>
              <a:rPr lang="zh-CN" altLang="en-US" sz="2000" b="1" dirty="0">
                <a:latin typeface="微软雅黑" pitchFamily="34" charset="-122"/>
                <a:ea typeface="微软雅黑" pitchFamily="34" charset="-122"/>
              </a:rPr>
              <a:t>工作。</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a:t>
            </a:r>
            <a:r>
              <a:rPr lang="zh-CN" altLang="en-US" sz="2000" b="1" dirty="0">
                <a:solidFill>
                  <a:srgbClr val="0000FF"/>
                </a:solidFill>
                <a:latin typeface="微软雅黑" pitchFamily="34" charset="-122"/>
                <a:ea typeface="微软雅黑" pitchFamily="34" charset="-122"/>
              </a:rPr>
              <a:t>半双工</a:t>
            </a:r>
            <a:r>
              <a:rPr lang="zh-CN" altLang="en-US" sz="2000" b="1" dirty="0">
                <a:latin typeface="微软雅黑" pitchFamily="34" charset="-122"/>
                <a:ea typeface="微软雅黑" pitchFamily="34" charset="-122"/>
              </a:rPr>
              <a:t>方式下使用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协议，而在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方式不使用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10BASE-T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100BASE-T </a:t>
            </a:r>
            <a:r>
              <a:rPr lang="zh-CN" altLang="en-US" sz="2000" b="1" dirty="0">
                <a:latin typeface="微软雅黑" pitchFamily="34" charset="-122"/>
                <a:ea typeface="微软雅黑" pitchFamily="34" charset="-122"/>
              </a:rPr>
              <a:t>技术</a:t>
            </a:r>
            <a:r>
              <a:rPr lang="zh-CN" altLang="en-US" sz="2000" b="1" dirty="0">
                <a:solidFill>
                  <a:srgbClr val="0000FF"/>
                </a:solidFill>
                <a:latin typeface="微软雅黑" pitchFamily="34" charset="-122"/>
                <a:ea typeface="微软雅黑" pitchFamily="34" charset="-122"/>
              </a:rPr>
              <a:t>向后兼容。</a:t>
            </a:r>
          </a:p>
        </p:txBody>
      </p:sp>
    </p:spTree>
    <p:extLst>
      <p:ext uri="{BB962C8B-B14F-4D97-AF65-F5344CB8AC3E}">
        <p14:creationId xmlns:p14="http://schemas.microsoft.com/office/powerpoint/2010/main" val="4177689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1000"/>
                                        <p:tgtEl>
                                          <p:spTgt spid="38">
                                            <p:txEl>
                                              <p:pRg st="0" end="0"/>
                                            </p:txEl>
                                          </p:spTgt>
                                        </p:tgtEl>
                                      </p:cBhvr>
                                    </p:animEffect>
                                    <p:anim calcmode="lin" valueType="num">
                                      <p:cBhvr>
                                        <p:cTn id="8"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
                                            <p:txEl>
                                              <p:pRg st="1" end="1"/>
                                            </p:txEl>
                                          </p:spTgt>
                                        </p:tgtEl>
                                        <p:attrNameLst>
                                          <p:attrName>style.visibility</p:attrName>
                                        </p:attrNameLst>
                                      </p:cBhvr>
                                      <p:to>
                                        <p:strVal val="visible"/>
                                      </p:to>
                                    </p:set>
                                    <p:animEffect transition="in" filter="fade">
                                      <p:cBhvr>
                                        <p:cTn id="14" dur="1000"/>
                                        <p:tgtEl>
                                          <p:spTgt spid="38">
                                            <p:txEl>
                                              <p:pRg st="1" end="1"/>
                                            </p:txEl>
                                          </p:spTgt>
                                        </p:tgtEl>
                                      </p:cBhvr>
                                    </p:animEffect>
                                    <p:anim calcmode="lin" valueType="num">
                                      <p:cBhvr>
                                        <p:cTn id="15"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8">
                                            <p:txEl>
                                              <p:pRg st="2" end="2"/>
                                            </p:txEl>
                                          </p:spTgt>
                                        </p:tgtEl>
                                        <p:attrNameLst>
                                          <p:attrName>style.visibility</p:attrName>
                                        </p:attrNameLst>
                                      </p:cBhvr>
                                      <p:to>
                                        <p:strVal val="visible"/>
                                      </p:to>
                                    </p:set>
                                    <p:animEffect transition="in" filter="fade">
                                      <p:cBhvr>
                                        <p:cTn id="21" dur="1000"/>
                                        <p:tgtEl>
                                          <p:spTgt spid="38">
                                            <p:txEl>
                                              <p:pRg st="2" end="2"/>
                                            </p:txEl>
                                          </p:spTgt>
                                        </p:tgtEl>
                                      </p:cBhvr>
                                    </p:animEffect>
                                    <p:anim calcmode="lin" valueType="num">
                                      <p:cBhvr>
                                        <p:cTn id="22" dur="1000" fill="hold"/>
                                        <p:tgtEl>
                                          <p:spTgt spid="3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8">
                                            <p:txEl>
                                              <p:pRg st="3" end="3"/>
                                            </p:txEl>
                                          </p:spTgt>
                                        </p:tgtEl>
                                        <p:attrNameLst>
                                          <p:attrName>style.visibility</p:attrName>
                                        </p:attrNameLst>
                                      </p:cBhvr>
                                      <p:to>
                                        <p:strVal val="visible"/>
                                      </p:to>
                                    </p:set>
                                    <p:animEffect transition="in" filter="fade">
                                      <p:cBhvr>
                                        <p:cTn id="28" dur="1000"/>
                                        <p:tgtEl>
                                          <p:spTgt spid="38">
                                            <p:txEl>
                                              <p:pRg st="3" end="3"/>
                                            </p:txEl>
                                          </p:spTgt>
                                        </p:tgtEl>
                                      </p:cBhvr>
                                    </p:animEffect>
                                    <p:anim calcmode="lin" valueType="num">
                                      <p:cBhvr>
                                        <p:cTn id="29" dur="1000" fill="hold"/>
                                        <p:tgtEl>
                                          <p:spTgt spid="3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8">
                                            <p:txEl>
                                              <p:pRg st="4" end="4"/>
                                            </p:txEl>
                                          </p:spTgt>
                                        </p:tgtEl>
                                        <p:attrNameLst>
                                          <p:attrName>style.visibility</p:attrName>
                                        </p:attrNameLst>
                                      </p:cBhvr>
                                      <p:to>
                                        <p:strVal val="visible"/>
                                      </p:to>
                                    </p:set>
                                    <p:animEffect transition="in" filter="fade">
                                      <p:cBhvr>
                                        <p:cTn id="35" dur="1000"/>
                                        <p:tgtEl>
                                          <p:spTgt spid="38">
                                            <p:txEl>
                                              <p:pRg st="4" end="4"/>
                                            </p:txEl>
                                          </p:spTgt>
                                        </p:tgtEl>
                                      </p:cBhvr>
                                    </p:animEffect>
                                    <p:anim calcmode="lin" valueType="num">
                                      <p:cBhvr>
                                        <p:cTn id="36" dur="1000" fill="hold"/>
                                        <p:tgtEl>
                                          <p:spTgt spid="38">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uiExpand="1"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1100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2 </a:t>
            </a:r>
            <a:r>
              <a:rPr lang="zh-CN" altLang="en-US" sz="2000" b="1" dirty="0">
                <a:solidFill>
                  <a:srgbClr val="C00000"/>
                </a:solidFill>
                <a:latin typeface="微软雅黑" pitchFamily="34" charset="-122"/>
                <a:ea typeface="微软雅黑" pitchFamily="34" charset="-122"/>
              </a:rPr>
              <a:t>种成熟的技术：</a:t>
            </a:r>
            <a:r>
              <a:rPr lang="zh-CN" altLang="en-US" sz="2000" b="1" dirty="0">
                <a:latin typeface="微软雅黑" pitchFamily="34" charset="-122"/>
                <a:ea typeface="微软雅黑" pitchFamily="34" charset="-122"/>
              </a:rPr>
              <a:t>一种来自现有的以太网，另一种则是美国国家标准协会 </a:t>
            </a:r>
            <a:r>
              <a:rPr lang="en-US" altLang="zh-CN" sz="2000" b="1" dirty="0">
                <a:latin typeface="微软雅黑" pitchFamily="34" charset="-122"/>
                <a:ea typeface="微软雅黑" pitchFamily="34" charset="-122"/>
              </a:rPr>
              <a:t>ANSI </a:t>
            </a:r>
            <a:r>
              <a:rPr lang="zh-CN" altLang="en-US" sz="2000" b="1" dirty="0">
                <a:latin typeface="微软雅黑" pitchFamily="34" charset="-122"/>
                <a:ea typeface="微软雅黑" pitchFamily="34" charset="-122"/>
              </a:rPr>
              <a:t>制定的光纤通道 </a:t>
            </a:r>
            <a:r>
              <a:rPr lang="en-US" altLang="zh-CN" sz="2000" b="1" dirty="0">
                <a:latin typeface="微软雅黑" pitchFamily="34" charset="-122"/>
                <a:ea typeface="微软雅黑" pitchFamily="34" charset="-122"/>
              </a:rPr>
              <a:t>FC (Fiber Channel)</a:t>
            </a:r>
            <a:r>
              <a:rPr lang="zh-CN" altLang="en-US" sz="2000" b="1" dirty="0">
                <a:latin typeface="微软雅黑" pitchFamily="34" charset="-122"/>
                <a:ea typeface="微软雅黑" pitchFamily="34" charset="-122"/>
              </a:rPr>
              <a:t>。</a:t>
            </a:r>
          </a:p>
        </p:txBody>
      </p:sp>
      <p:sp>
        <p:nvSpPr>
          <p:cNvPr id="37" name="AutoShape 5"/>
          <p:cNvSpPr>
            <a:spLocks noChangeArrowheads="1"/>
          </p:cNvSpPr>
          <p:nvPr/>
        </p:nvSpPr>
        <p:spPr bwMode="auto">
          <a:xfrm>
            <a:off x="502919" y="64951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153866" y="62642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吉比特以太网的物理层</a:t>
            </a:r>
            <a:endParaRPr lang="fr-FR" altLang="zh-CN" sz="2000" b="1" dirty="0">
              <a:solidFill>
                <a:schemeClr val="bg1"/>
              </a:solidFill>
              <a:latin typeface="微软雅黑" pitchFamily="34" charset="-122"/>
              <a:ea typeface="微软雅黑" pitchFamily="34" charset="-122"/>
            </a:endParaRPr>
          </a:p>
        </p:txBody>
      </p:sp>
      <p:graphicFrame>
        <p:nvGraphicFramePr>
          <p:cNvPr id="39" name="表格 38"/>
          <p:cNvGraphicFramePr>
            <a:graphicFrameLocks noGrp="1"/>
          </p:cNvGraphicFramePr>
          <p:nvPr/>
        </p:nvGraphicFramePr>
        <p:xfrm>
          <a:off x="521392" y="2316005"/>
          <a:ext cx="8129014" cy="1485190"/>
        </p:xfrm>
        <a:graphic>
          <a:graphicData uri="http://schemas.openxmlformats.org/drawingml/2006/table">
            <a:tbl>
              <a:tblPr firstRow="1" firstCol="1" bandRow="1"/>
              <a:tblGrid>
                <a:gridCol w="1499353">
                  <a:extLst>
                    <a:ext uri="{9D8B030D-6E8A-4147-A177-3AD203B41FA5}">
                      <a16:colId xmlns:a16="http://schemas.microsoft.com/office/drawing/2014/main" val="20000"/>
                    </a:ext>
                  </a:extLst>
                </a:gridCol>
                <a:gridCol w="774511">
                  <a:extLst>
                    <a:ext uri="{9D8B030D-6E8A-4147-A177-3AD203B41FA5}">
                      <a16:colId xmlns:a16="http://schemas.microsoft.com/office/drawing/2014/main" val="20001"/>
                    </a:ext>
                  </a:extLst>
                </a:gridCol>
                <a:gridCol w="1559780">
                  <a:extLst>
                    <a:ext uri="{9D8B030D-6E8A-4147-A177-3AD203B41FA5}">
                      <a16:colId xmlns:a16="http://schemas.microsoft.com/office/drawing/2014/main" val="20002"/>
                    </a:ext>
                  </a:extLst>
                </a:gridCol>
                <a:gridCol w="4295370">
                  <a:extLst>
                    <a:ext uri="{9D8B030D-6E8A-4147-A177-3AD203B41FA5}">
                      <a16:colId xmlns:a16="http://schemas.microsoft.com/office/drawing/2014/main" val="20003"/>
                    </a:ext>
                  </a:extLst>
                </a:gridCol>
              </a:tblGrid>
              <a:tr h="334831">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名称</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媒体</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网段最大长度</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特点</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2663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1000BASE-SX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550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278173">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1000BASE-LX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5000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10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49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1000BASE-CX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25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2 </a:t>
                      </a:r>
                      <a:r>
                        <a:rPr lang="zh-CN" sz="1400" b="1" dirty="0">
                          <a:effectLst/>
                          <a:latin typeface="微软雅黑" pitchFamily="34" charset="-122"/>
                          <a:ea typeface="微软雅黑" pitchFamily="34" charset="-122"/>
                        </a:rPr>
                        <a:t>对屏蔽双绞线电缆</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STP</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10896">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UTP 5 </a:t>
                      </a:r>
                      <a:r>
                        <a:rPr lang="zh-CN" sz="1400" b="1" dirty="0">
                          <a:effectLst/>
                          <a:latin typeface="微软雅黑" pitchFamily="34" charset="-122"/>
                          <a:ea typeface="微软雅黑" pitchFamily="34" charset="-122"/>
                        </a:rPr>
                        <a:t>类线</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2" name="矩形 31"/>
          <p:cNvSpPr/>
          <p:nvPr/>
        </p:nvSpPr>
        <p:spPr>
          <a:xfrm>
            <a:off x="3205161" y="1969763"/>
            <a:ext cx="2723824" cy="369332"/>
          </a:xfrm>
          <a:prstGeom prst="rect">
            <a:avLst/>
          </a:prstGeom>
        </p:spPr>
        <p:txBody>
          <a:bodyPr wrap="none">
            <a:spAutoFit/>
          </a:bodyPr>
          <a:lstStyle/>
          <a:p>
            <a:pPr lvl="0" algn="ctr" fontAlgn="base">
              <a:spcBef>
                <a:spcPct val="0"/>
              </a:spcBef>
              <a:spcAft>
                <a:spcPct val="0"/>
              </a:spcAft>
              <a:tabLst>
                <a:tab pos="1752600" algn="l"/>
              </a:tabLst>
            </a:pPr>
            <a:r>
              <a:rPr lang="zh-CN" altLang="zh-CN" b="1" dirty="0">
                <a:solidFill>
                  <a:srgbClr val="000099"/>
                </a:solidFill>
                <a:latin typeface="微软雅黑" pitchFamily="34" charset="-122"/>
                <a:ea typeface="微软雅黑" pitchFamily="34" charset="-122"/>
                <a:cs typeface="Times New Roman" pitchFamily="18" charset="0"/>
              </a:rPr>
              <a:t>吉比特以太网物理层标准</a:t>
            </a:r>
            <a:endParaRPr lang="zh-CN" altLang="zh-CN" b="1" dirty="0">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325894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07305"/>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半双工时采用 </a:t>
            </a:r>
            <a:r>
              <a:rPr lang="en-US" altLang="zh-CN" sz="2000" b="1" dirty="0">
                <a:latin typeface="微软雅黑" pitchFamily="34" charset="-122"/>
                <a:ea typeface="微软雅黑" pitchFamily="34" charset="-122"/>
              </a:rPr>
              <a:t>CSMA/CD</a:t>
            </a:r>
            <a:r>
              <a:rPr lang="zh-CN" altLang="en-US" sz="2000" b="1" dirty="0">
                <a:latin typeface="微软雅黑" pitchFamily="34" charset="-122"/>
                <a:ea typeface="微软雅黑" pitchFamily="34" charset="-122"/>
              </a:rPr>
              <a:t>，必须进行碰撞检测。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为保持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字节最小帧长度，以及 </a:t>
            </a:r>
            <a:r>
              <a:rPr lang="en-US" altLang="zh-CN" sz="2000" b="1" dirty="0">
                <a:latin typeface="微软雅黑" pitchFamily="34" charset="-122"/>
                <a:ea typeface="微软雅黑" pitchFamily="34" charset="-122"/>
              </a:rPr>
              <a:t>100 </a:t>
            </a:r>
            <a:r>
              <a:rPr lang="zh-CN" altLang="en-US" sz="2000" b="1" dirty="0">
                <a:latin typeface="微软雅黑" pitchFamily="34" charset="-122"/>
                <a:ea typeface="微软雅黑" pitchFamily="34" charset="-122"/>
              </a:rPr>
              <a:t>米的网段的最大长度，增加了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个功能：</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载波延伸</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(carrier extension)</a:t>
            </a:r>
            <a:r>
              <a:rPr lang="zh-CN" altLang="en-US" sz="2000" b="1" dirty="0">
                <a:latin typeface="微软雅黑" pitchFamily="34" charset="-122"/>
                <a:ea typeface="微软雅黑" pitchFamily="34" charset="-122"/>
              </a:rPr>
              <a:t>，短帧填充至 </a:t>
            </a:r>
            <a:r>
              <a:rPr lang="en-US" altLang="zh-CN" sz="2000" b="1" dirty="0">
                <a:latin typeface="微软雅黑" pitchFamily="34" charset="-122"/>
                <a:ea typeface="微软雅黑" pitchFamily="34" charset="-122"/>
              </a:rPr>
              <a:t>512 </a:t>
            </a:r>
            <a:r>
              <a:rPr lang="zh-CN" altLang="en-US" sz="2000" b="1" dirty="0">
                <a:latin typeface="微软雅黑" pitchFamily="34" charset="-122"/>
                <a:ea typeface="微软雅黑" pitchFamily="34" charset="-122"/>
              </a:rPr>
              <a:t>字节</a:t>
            </a:r>
            <a:endParaRPr lang="en-US" altLang="zh-CN" sz="2000" b="1" dirty="0">
              <a:latin typeface="微软雅黑" pitchFamily="34" charset="-122"/>
              <a:ea typeface="微软雅黑" pitchFamily="34" charset="-122"/>
            </a:endParaRP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分组突发 </a:t>
            </a:r>
            <a:r>
              <a:rPr lang="en-US" altLang="zh-CN" sz="2000" b="1" dirty="0">
                <a:latin typeface="微软雅黑" pitchFamily="34" charset="-122"/>
                <a:ea typeface="微软雅黑" pitchFamily="34" charset="-122"/>
              </a:rPr>
              <a:t>(packet bursting)</a:t>
            </a:r>
            <a:r>
              <a:rPr lang="zh-CN" altLang="en-US" sz="2000" b="1" dirty="0">
                <a:latin typeface="微软雅黑" pitchFamily="34" charset="-122"/>
                <a:ea typeface="微软雅黑" pitchFamily="34" charset="-122"/>
              </a:rPr>
              <a:t>，连续发送短帧形成长伪帧</a:t>
            </a:r>
            <a:endParaRPr lang="en-US" altLang="zh-CN" sz="2000" b="1" dirty="0">
              <a:latin typeface="微软雅黑" pitchFamily="34" charset="-122"/>
              <a:ea typeface="微软雅黑" pitchFamily="34" charset="-122"/>
            </a:endParaRPr>
          </a:p>
        </p:txBody>
      </p:sp>
      <p:sp>
        <p:nvSpPr>
          <p:cNvPr id="37" name="AutoShape 5"/>
          <p:cNvSpPr>
            <a:spLocks noChangeArrowheads="1"/>
          </p:cNvSpPr>
          <p:nvPr/>
        </p:nvSpPr>
        <p:spPr bwMode="auto">
          <a:xfrm>
            <a:off x="502919" y="64582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679377" y="622730"/>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半双工方式工作的吉比特以太网</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612000" y="3356903"/>
            <a:ext cx="7874700" cy="525886"/>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wrap="square" tIns="108000" bIns="108000">
            <a:spAutoFit/>
          </a:bodyPr>
          <a:lstStyle/>
          <a:p>
            <a:r>
              <a:rPr lang="zh-CN" altLang="en-US" sz="2000" b="1" dirty="0">
                <a:solidFill>
                  <a:srgbClr val="000099"/>
                </a:solidFill>
                <a:latin typeface="微软雅黑" panose="020B0503020204020204" pitchFamily="34" charset="-122"/>
                <a:ea typeface="微软雅黑" panose="020B0503020204020204" pitchFamily="34" charset="-122"/>
              </a:rPr>
              <a:t>注意：全双工方式工作的吉比特以太网不使用载波延伸和分组突发。</a:t>
            </a:r>
          </a:p>
        </p:txBody>
      </p:sp>
    </p:spTree>
    <p:extLst>
      <p:ext uri="{BB962C8B-B14F-4D97-AF65-F5344CB8AC3E}">
        <p14:creationId xmlns:p14="http://schemas.microsoft.com/office/powerpoint/2010/main" val="309888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fade">
                                      <p:cBhvr>
                                        <p:cTn id="7" dur="1000"/>
                                        <p:tgtEl>
                                          <p:spTgt spid="36">
                                            <p:txEl>
                                              <p:pRg st="0" end="0"/>
                                            </p:txEl>
                                          </p:spTgt>
                                        </p:tgtEl>
                                      </p:cBhvr>
                                    </p:animEffect>
                                    <p:anim calcmode="lin" valueType="num">
                                      <p:cBhvr>
                                        <p:cTn id="8"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6">
                                            <p:txEl>
                                              <p:pRg st="1" end="1"/>
                                            </p:txEl>
                                          </p:spTgt>
                                        </p:tgtEl>
                                        <p:attrNameLst>
                                          <p:attrName>style.visibility</p:attrName>
                                        </p:attrNameLst>
                                      </p:cBhvr>
                                      <p:to>
                                        <p:strVal val="visible"/>
                                      </p:to>
                                    </p:set>
                                    <p:animEffect transition="in" filter="fade">
                                      <p:cBhvr>
                                        <p:cTn id="14" dur="1000"/>
                                        <p:tgtEl>
                                          <p:spTgt spid="36">
                                            <p:txEl>
                                              <p:pRg st="1" end="1"/>
                                            </p:txEl>
                                          </p:spTgt>
                                        </p:tgtEl>
                                      </p:cBhvr>
                                    </p:animEffect>
                                    <p:anim calcmode="lin" valueType="num">
                                      <p:cBhvr>
                                        <p:cTn id="15" dur="1000" fill="hold"/>
                                        <p:tgtEl>
                                          <p:spTgt spid="3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6">
                                            <p:txEl>
                                              <p:pRg st="2" end="2"/>
                                            </p:txEl>
                                          </p:spTgt>
                                        </p:tgtEl>
                                        <p:attrNameLst>
                                          <p:attrName>style.visibility</p:attrName>
                                        </p:attrNameLst>
                                      </p:cBhvr>
                                      <p:to>
                                        <p:strVal val="visible"/>
                                      </p:to>
                                    </p:set>
                                    <p:animEffect transition="in" filter="fade">
                                      <p:cBhvr>
                                        <p:cTn id="21" dur="1000"/>
                                        <p:tgtEl>
                                          <p:spTgt spid="36">
                                            <p:txEl>
                                              <p:pRg st="2" end="2"/>
                                            </p:txEl>
                                          </p:spTgt>
                                        </p:tgtEl>
                                      </p:cBhvr>
                                    </p:animEffect>
                                    <p:anim calcmode="lin" valueType="num">
                                      <p:cBhvr>
                                        <p:cTn id="22" dur="1000" fill="hold"/>
                                        <p:tgtEl>
                                          <p:spTgt spid="3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6">
                                            <p:txEl>
                                              <p:pRg st="3" end="3"/>
                                            </p:txEl>
                                          </p:spTgt>
                                        </p:tgtEl>
                                        <p:attrNameLst>
                                          <p:attrName>style.visibility</p:attrName>
                                        </p:attrNameLst>
                                      </p:cBhvr>
                                      <p:to>
                                        <p:strVal val="visible"/>
                                      </p:to>
                                    </p:set>
                                    <p:animEffect transition="in" filter="fade">
                                      <p:cBhvr>
                                        <p:cTn id="28" dur="1000"/>
                                        <p:tgtEl>
                                          <p:spTgt spid="36">
                                            <p:txEl>
                                              <p:pRg st="3" end="3"/>
                                            </p:txEl>
                                          </p:spTgt>
                                        </p:tgtEl>
                                      </p:cBhvr>
                                    </p:animEffect>
                                    <p:anim calcmode="lin" valueType="num">
                                      <p:cBhvr>
                                        <p:cTn id="29" dur="1000" fill="hold"/>
                                        <p:tgtEl>
                                          <p:spTgt spid="3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fltVal val="0"/>
                                          </p:val>
                                        </p:tav>
                                        <p:tav tm="100000">
                                          <p:val>
                                            <p:strVal val="#ppt_h"/>
                                          </p:val>
                                        </p:tav>
                                      </p:tavLst>
                                    </p:anim>
                                    <p:animEffect transition="in" filter="fade">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uiExpand="1" build="p"/>
      <p:bldP spid="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563E-F6C3-B129-CD7A-36816AA7BA6E}"/>
            </a:ext>
          </a:extLst>
        </p:cNvPr>
        <p:cNvGrpSpPr/>
        <p:nvPr/>
      </p:nvGrpSpPr>
      <p:grpSpPr>
        <a:xfrm>
          <a:off x="0" y="0"/>
          <a:ext cx="0" cy="0"/>
          <a:chOff x="0" y="0"/>
          <a:chExt cx="0" cy="0"/>
        </a:xfrm>
      </p:grpSpPr>
      <p:sp>
        <p:nvSpPr>
          <p:cNvPr id="36" name="Rectangle 46">
            <a:extLst>
              <a:ext uri="{FF2B5EF4-FFF2-40B4-BE49-F238E27FC236}">
                <a16:creationId xmlns:a16="http://schemas.microsoft.com/office/drawing/2014/main" id="{378CB498-D251-5037-E53E-3F443ABDFD50}"/>
              </a:ext>
            </a:extLst>
          </p:cNvPr>
          <p:cNvSpPr>
            <a:spLocks noChangeArrowheads="1"/>
          </p:cNvSpPr>
          <p:nvPr/>
        </p:nvSpPr>
        <p:spPr bwMode="auto">
          <a:xfrm>
            <a:off x="502919" y="1007305"/>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半双工时采用 </a:t>
            </a:r>
            <a:r>
              <a:rPr lang="en-US" altLang="zh-CN" sz="2000" b="1" dirty="0">
                <a:latin typeface="微软雅黑" pitchFamily="34" charset="-122"/>
                <a:ea typeface="微软雅黑" pitchFamily="34" charset="-122"/>
              </a:rPr>
              <a:t>CSMA/CD</a:t>
            </a:r>
            <a:r>
              <a:rPr lang="zh-CN" altLang="en-US" sz="2000" b="1" dirty="0">
                <a:latin typeface="微软雅黑" pitchFamily="34" charset="-122"/>
                <a:ea typeface="微软雅黑" pitchFamily="34" charset="-122"/>
              </a:rPr>
              <a:t>，必须进行碰撞检测。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为保持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字节最小帧长度，以及 </a:t>
            </a:r>
            <a:r>
              <a:rPr lang="en-US" altLang="zh-CN" sz="2000" b="1" dirty="0">
                <a:latin typeface="微软雅黑" pitchFamily="34" charset="-122"/>
                <a:ea typeface="微软雅黑" pitchFamily="34" charset="-122"/>
              </a:rPr>
              <a:t>100 </a:t>
            </a:r>
            <a:r>
              <a:rPr lang="zh-CN" altLang="en-US" sz="2000" b="1" dirty="0">
                <a:latin typeface="微软雅黑" pitchFamily="34" charset="-122"/>
                <a:ea typeface="微软雅黑" pitchFamily="34" charset="-122"/>
              </a:rPr>
              <a:t>米的网段的最大长度，增加了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个功能：</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载波延伸</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(carrier extension)</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分组突发 </a:t>
            </a:r>
            <a:r>
              <a:rPr lang="en-US" altLang="zh-CN" sz="2000" b="1" dirty="0">
                <a:latin typeface="微软雅黑" pitchFamily="34" charset="-122"/>
                <a:ea typeface="微软雅黑" pitchFamily="34" charset="-122"/>
              </a:rPr>
              <a:t>(packet bursting)</a:t>
            </a:r>
          </a:p>
        </p:txBody>
      </p:sp>
      <p:sp>
        <p:nvSpPr>
          <p:cNvPr id="37" name="AutoShape 5">
            <a:extLst>
              <a:ext uri="{FF2B5EF4-FFF2-40B4-BE49-F238E27FC236}">
                <a16:creationId xmlns:a16="http://schemas.microsoft.com/office/drawing/2014/main" id="{7748EA7A-B1E7-82DB-F02F-33AA0DF05F7C}"/>
              </a:ext>
            </a:extLst>
          </p:cNvPr>
          <p:cNvSpPr>
            <a:spLocks noChangeArrowheads="1"/>
          </p:cNvSpPr>
          <p:nvPr/>
        </p:nvSpPr>
        <p:spPr bwMode="auto">
          <a:xfrm>
            <a:off x="502919" y="64582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a:extLst>
              <a:ext uri="{FF2B5EF4-FFF2-40B4-BE49-F238E27FC236}">
                <a16:creationId xmlns:a16="http://schemas.microsoft.com/office/drawing/2014/main" id="{C0467828-B086-C200-AE4B-B54B02B12812}"/>
              </a:ext>
            </a:extLst>
          </p:cNvPr>
          <p:cNvSpPr>
            <a:spLocks noChangeArrowheads="1"/>
          </p:cNvSpPr>
          <p:nvPr/>
        </p:nvSpPr>
        <p:spPr bwMode="auto">
          <a:xfrm>
            <a:off x="2679377" y="622730"/>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半双工方式工作的吉比特以太网</a:t>
            </a:r>
            <a:endParaRPr lang="fr-FR" altLang="zh-CN" sz="2000" b="1" dirty="0">
              <a:solidFill>
                <a:schemeClr val="bg1"/>
              </a:solidFill>
              <a:latin typeface="微软雅黑" pitchFamily="34" charset="-122"/>
              <a:ea typeface="微软雅黑" pitchFamily="34" charset="-122"/>
            </a:endParaRPr>
          </a:p>
        </p:txBody>
      </p:sp>
      <p:sp>
        <p:nvSpPr>
          <p:cNvPr id="2" name="矩形 1">
            <a:extLst>
              <a:ext uri="{FF2B5EF4-FFF2-40B4-BE49-F238E27FC236}">
                <a16:creationId xmlns:a16="http://schemas.microsoft.com/office/drawing/2014/main" id="{BE34FEBD-D966-3845-4D8F-01BE977835C7}"/>
              </a:ext>
            </a:extLst>
          </p:cNvPr>
          <p:cNvSpPr/>
          <p:nvPr/>
        </p:nvSpPr>
        <p:spPr>
          <a:xfrm>
            <a:off x="612000" y="3356903"/>
            <a:ext cx="7874700" cy="525886"/>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wrap="square" tIns="108000" bIns="108000">
            <a:spAutoFit/>
          </a:bodyPr>
          <a:lstStyle/>
          <a:p>
            <a:r>
              <a:rPr lang="zh-CN" altLang="en-US" sz="2000" b="1" dirty="0">
                <a:solidFill>
                  <a:srgbClr val="000099"/>
                </a:solidFill>
                <a:latin typeface="微软雅黑" panose="020B0503020204020204" pitchFamily="34" charset="-122"/>
                <a:ea typeface="微软雅黑" panose="020B0503020204020204" pitchFamily="34" charset="-122"/>
              </a:rPr>
              <a:t>注意：全双工方式工作的吉比特以太网不使用载波延伸和分组突发。</a:t>
            </a:r>
          </a:p>
        </p:txBody>
      </p:sp>
    </p:spTree>
    <p:extLst>
      <p:ext uri="{BB962C8B-B14F-4D97-AF65-F5344CB8AC3E}">
        <p14:creationId xmlns:p14="http://schemas.microsoft.com/office/powerpoint/2010/main" val="211371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fade">
                                      <p:cBhvr>
                                        <p:cTn id="7" dur="1000"/>
                                        <p:tgtEl>
                                          <p:spTgt spid="36">
                                            <p:txEl>
                                              <p:pRg st="0" end="0"/>
                                            </p:txEl>
                                          </p:spTgt>
                                        </p:tgtEl>
                                      </p:cBhvr>
                                    </p:animEffect>
                                    <p:anim calcmode="lin" valueType="num">
                                      <p:cBhvr>
                                        <p:cTn id="8"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6">
                                            <p:txEl>
                                              <p:pRg st="1" end="1"/>
                                            </p:txEl>
                                          </p:spTgt>
                                        </p:tgtEl>
                                        <p:attrNameLst>
                                          <p:attrName>style.visibility</p:attrName>
                                        </p:attrNameLst>
                                      </p:cBhvr>
                                      <p:to>
                                        <p:strVal val="visible"/>
                                      </p:to>
                                    </p:set>
                                    <p:animEffect transition="in" filter="fade">
                                      <p:cBhvr>
                                        <p:cTn id="14" dur="1000"/>
                                        <p:tgtEl>
                                          <p:spTgt spid="36">
                                            <p:txEl>
                                              <p:pRg st="1" end="1"/>
                                            </p:txEl>
                                          </p:spTgt>
                                        </p:tgtEl>
                                      </p:cBhvr>
                                    </p:animEffect>
                                    <p:anim calcmode="lin" valueType="num">
                                      <p:cBhvr>
                                        <p:cTn id="15" dur="1000" fill="hold"/>
                                        <p:tgtEl>
                                          <p:spTgt spid="3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6">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6">
                                            <p:txEl>
                                              <p:pRg st="2" end="2"/>
                                            </p:txEl>
                                          </p:spTgt>
                                        </p:tgtEl>
                                        <p:attrNameLst>
                                          <p:attrName>style.visibility</p:attrName>
                                        </p:attrNameLst>
                                      </p:cBhvr>
                                      <p:to>
                                        <p:strVal val="visible"/>
                                      </p:to>
                                    </p:set>
                                    <p:animEffect transition="in" filter="fade">
                                      <p:cBhvr>
                                        <p:cTn id="19" dur="1000"/>
                                        <p:tgtEl>
                                          <p:spTgt spid="36">
                                            <p:txEl>
                                              <p:pRg st="2" end="2"/>
                                            </p:txEl>
                                          </p:spTgt>
                                        </p:tgtEl>
                                      </p:cBhvr>
                                    </p:animEffect>
                                    <p:anim calcmode="lin" valueType="num">
                                      <p:cBhvr>
                                        <p:cTn id="20" dur="1000" fill="hold"/>
                                        <p:tgtEl>
                                          <p:spTgt spid="3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6">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6">
                                            <p:txEl>
                                              <p:pRg st="3" end="3"/>
                                            </p:txEl>
                                          </p:spTgt>
                                        </p:tgtEl>
                                        <p:attrNameLst>
                                          <p:attrName>style.visibility</p:attrName>
                                        </p:attrNameLst>
                                      </p:cBhvr>
                                      <p:to>
                                        <p:strVal val="visible"/>
                                      </p:to>
                                    </p:set>
                                    <p:animEffect transition="in" filter="fade">
                                      <p:cBhvr>
                                        <p:cTn id="24" dur="1000"/>
                                        <p:tgtEl>
                                          <p:spTgt spid="36">
                                            <p:txEl>
                                              <p:pRg st="3" end="3"/>
                                            </p:txEl>
                                          </p:spTgt>
                                        </p:tgtEl>
                                      </p:cBhvr>
                                    </p:animEffect>
                                    <p:anim calcmode="lin" valueType="num">
                                      <p:cBhvr>
                                        <p:cTn id="25" dur="1000" fill="hold"/>
                                        <p:tgtEl>
                                          <p:spTgt spid="3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animEffect transition="in" filter="fad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uiExpand="1" build="p"/>
      <p:bldP spid="2"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圆角矩形 38"/>
          <p:cNvSpPr/>
          <p:nvPr/>
        </p:nvSpPr>
        <p:spPr>
          <a:xfrm>
            <a:off x="1016000" y="1976038"/>
            <a:ext cx="7333672" cy="165385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载波延伸</a:t>
            </a:r>
            <a:endParaRPr lang="fr-FR" altLang="zh-CN" sz="2000" b="1" dirty="0">
              <a:solidFill>
                <a:schemeClr val="bg1"/>
              </a:solidFill>
              <a:latin typeface="微软雅黑" pitchFamily="34" charset="-122"/>
              <a:ea typeface="微软雅黑" pitchFamily="34" charset="-122"/>
            </a:endParaRPr>
          </a:p>
        </p:txBody>
      </p:sp>
      <p:sp>
        <p:nvSpPr>
          <p:cNvPr id="41" name="Line 5"/>
          <p:cNvSpPr>
            <a:spLocks noChangeShapeType="1"/>
          </p:cNvSpPr>
          <p:nvPr/>
        </p:nvSpPr>
        <p:spPr bwMode="auto">
          <a:xfrm>
            <a:off x="2412844" y="3249556"/>
            <a:ext cx="485940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2" name="Line 6"/>
          <p:cNvSpPr>
            <a:spLocks noChangeShapeType="1"/>
          </p:cNvSpPr>
          <p:nvPr/>
        </p:nvSpPr>
        <p:spPr bwMode="auto">
          <a:xfrm>
            <a:off x="2407640" y="2237000"/>
            <a:ext cx="0" cy="3673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3" name="Rectangle 7"/>
          <p:cNvSpPr>
            <a:spLocks noChangeArrowheads="1"/>
          </p:cNvSpPr>
          <p:nvPr/>
        </p:nvSpPr>
        <p:spPr bwMode="auto">
          <a:xfrm>
            <a:off x="2407640" y="2216184"/>
            <a:ext cx="4864609" cy="377804"/>
          </a:xfrm>
          <a:prstGeom prst="rect">
            <a:avLst/>
          </a:prstGeom>
          <a:solidFill>
            <a:srgbClr val="0000FF"/>
          </a:solidFill>
          <a:ln w="19050">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4" name="Line 8"/>
          <p:cNvSpPr>
            <a:spLocks noChangeShapeType="1"/>
          </p:cNvSpPr>
          <p:nvPr/>
        </p:nvSpPr>
        <p:spPr bwMode="auto">
          <a:xfrm>
            <a:off x="3227775" y="2216184"/>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5" name="Line 9"/>
          <p:cNvSpPr>
            <a:spLocks noChangeShapeType="1"/>
          </p:cNvSpPr>
          <p:nvPr/>
        </p:nvSpPr>
        <p:spPr bwMode="auto">
          <a:xfrm>
            <a:off x="4047910" y="2216184"/>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6" name="Line 10"/>
          <p:cNvSpPr>
            <a:spLocks noChangeShapeType="1"/>
          </p:cNvSpPr>
          <p:nvPr/>
        </p:nvSpPr>
        <p:spPr bwMode="auto">
          <a:xfrm>
            <a:off x="4867004" y="2216184"/>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7" name="Line 11"/>
          <p:cNvSpPr>
            <a:spLocks noChangeShapeType="1"/>
          </p:cNvSpPr>
          <p:nvPr/>
        </p:nvSpPr>
        <p:spPr bwMode="auto">
          <a:xfrm>
            <a:off x="5688181" y="2216184"/>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8" name="Rectangle 12"/>
          <p:cNvSpPr>
            <a:spLocks noChangeArrowheads="1"/>
          </p:cNvSpPr>
          <p:nvPr/>
        </p:nvSpPr>
        <p:spPr bwMode="auto">
          <a:xfrm>
            <a:off x="2367718" y="2248671"/>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目地地址</a:t>
            </a:r>
          </a:p>
        </p:txBody>
      </p:sp>
      <p:sp>
        <p:nvSpPr>
          <p:cNvPr id="49" name="Rectangle 13"/>
          <p:cNvSpPr>
            <a:spLocks noChangeArrowheads="1"/>
          </p:cNvSpPr>
          <p:nvPr/>
        </p:nvSpPr>
        <p:spPr bwMode="auto">
          <a:xfrm>
            <a:off x="3313658" y="2248671"/>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a:solidFill>
                  <a:schemeClr val="bg1"/>
                </a:solidFill>
                <a:latin typeface="微软雅黑" pitchFamily="34" charset="-122"/>
                <a:ea typeface="微软雅黑" pitchFamily="34" charset="-122"/>
              </a:rPr>
              <a:t>源地址</a:t>
            </a:r>
          </a:p>
        </p:txBody>
      </p:sp>
      <p:sp>
        <p:nvSpPr>
          <p:cNvPr id="50" name="Rectangle 14"/>
          <p:cNvSpPr>
            <a:spLocks noChangeArrowheads="1"/>
          </p:cNvSpPr>
          <p:nvPr/>
        </p:nvSpPr>
        <p:spPr bwMode="auto">
          <a:xfrm>
            <a:off x="4022708" y="2248671"/>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数据长度</a:t>
            </a:r>
          </a:p>
        </p:txBody>
      </p:sp>
      <p:sp>
        <p:nvSpPr>
          <p:cNvPr id="51" name="Rectangle 15"/>
          <p:cNvSpPr>
            <a:spLocks noChangeArrowheads="1"/>
          </p:cNvSpPr>
          <p:nvPr/>
        </p:nvSpPr>
        <p:spPr bwMode="auto">
          <a:xfrm>
            <a:off x="4938985" y="2248671"/>
            <a:ext cx="75341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    据</a:t>
            </a:r>
          </a:p>
        </p:txBody>
      </p:sp>
      <p:sp>
        <p:nvSpPr>
          <p:cNvPr id="52" name="Rectangle 16"/>
          <p:cNvSpPr>
            <a:spLocks noChangeArrowheads="1"/>
          </p:cNvSpPr>
          <p:nvPr/>
        </p:nvSpPr>
        <p:spPr bwMode="auto">
          <a:xfrm>
            <a:off x="5685286" y="2248671"/>
            <a:ext cx="511359"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en-US" altLang="zh-CN" sz="1400" b="1">
                <a:solidFill>
                  <a:schemeClr val="bg1"/>
                </a:solidFill>
                <a:latin typeface="微软雅黑" pitchFamily="34" charset="-122"/>
                <a:ea typeface="微软雅黑" pitchFamily="34" charset="-122"/>
              </a:rPr>
              <a:t>FCS</a:t>
            </a:r>
          </a:p>
        </p:txBody>
      </p:sp>
      <p:sp>
        <p:nvSpPr>
          <p:cNvPr id="53" name="Line 17"/>
          <p:cNvSpPr>
            <a:spLocks noChangeShapeType="1"/>
          </p:cNvSpPr>
          <p:nvPr/>
        </p:nvSpPr>
        <p:spPr bwMode="auto">
          <a:xfrm>
            <a:off x="2408680" y="2812566"/>
            <a:ext cx="3770749"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4" name="Rectangle 18"/>
          <p:cNvSpPr>
            <a:spLocks noChangeArrowheads="1"/>
          </p:cNvSpPr>
          <p:nvPr/>
        </p:nvSpPr>
        <p:spPr bwMode="auto">
          <a:xfrm>
            <a:off x="3282936" y="2671282"/>
            <a:ext cx="2286396"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300" b="1" dirty="0">
                <a:solidFill>
                  <a:srgbClr val="0000FF"/>
                </a:solidFill>
                <a:latin typeface="微软雅黑" pitchFamily="34" charset="-122"/>
                <a:ea typeface="微软雅黑" pitchFamily="34" charset="-122"/>
              </a:rPr>
              <a:t>MAC </a:t>
            </a:r>
            <a:r>
              <a:rPr lang="zh-CN" altLang="en-US" sz="1300" b="1" dirty="0">
                <a:solidFill>
                  <a:srgbClr val="0000FF"/>
                </a:solidFill>
                <a:latin typeface="微软雅黑" pitchFamily="34" charset="-122"/>
                <a:ea typeface="微软雅黑" pitchFamily="34" charset="-122"/>
              </a:rPr>
              <a:t>帧的最小值 = 64 字节</a:t>
            </a:r>
          </a:p>
        </p:txBody>
      </p:sp>
      <p:sp>
        <p:nvSpPr>
          <p:cNvPr id="55" name="Line 19"/>
          <p:cNvSpPr>
            <a:spLocks noChangeShapeType="1"/>
          </p:cNvSpPr>
          <p:nvPr/>
        </p:nvSpPr>
        <p:spPr bwMode="auto">
          <a:xfrm>
            <a:off x="2408680" y="2669200"/>
            <a:ext cx="0" cy="720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6" name="Line 20"/>
          <p:cNvSpPr>
            <a:spLocks noChangeShapeType="1"/>
          </p:cNvSpPr>
          <p:nvPr/>
        </p:nvSpPr>
        <p:spPr bwMode="auto">
          <a:xfrm>
            <a:off x="6179429" y="2669200"/>
            <a:ext cx="0" cy="25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7" name="Line 21"/>
          <p:cNvSpPr>
            <a:spLocks noChangeShapeType="1"/>
          </p:cNvSpPr>
          <p:nvPr/>
        </p:nvSpPr>
        <p:spPr bwMode="auto">
          <a:xfrm>
            <a:off x="6179429" y="2212021"/>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8" name="Rectangle 22"/>
          <p:cNvSpPr>
            <a:spLocks noChangeArrowheads="1"/>
          </p:cNvSpPr>
          <p:nvPr/>
        </p:nvSpPr>
        <p:spPr bwMode="auto">
          <a:xfrm>
            <a:off x="6179429" y="2223470"/>
            <a:ext cx="1083452" cy="360110"/>
          </a:xfrm>
          <a:prstGeom prst="rect">
            <a:avLst/>
          </a:prstGeom>
          <a:solidFill>
            <a:srgbClr val="00FF99"/>
          </a:solidFill>
          <a:ln w="9525">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9" name="Rectangle 23"/>
          <p:cNvSpPr>
            <a:spLocks noChangeArrowheads="1"/>
          </p:cNvSpPr>
          <p:nvPr/>
        </p:nvSpPr>
        <p:spPr bwMode="auto">
          <a:xfrm>
            <a:off x="6314136" y="2248671"/>
            <a:ext cx="90089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latin typeface="微软雅黑" pitchFamily="34" charset="-122"/>
                <a:ea typeface="微软雅黑" pitchFamily="34" charset="-122"/>
              </a:rPr>
              <a:t>载波延伸</a:t>
            </a:r>
          </a:p>
        </p:txBody>
      </p:sp>
      <p:sp>
        <p:nvSpPr>
          <p:cNvPr id="60" name="Rectangle 27"/>
          <p:cNvSpPr>
            <a:spLocks noChangeArrowheads="1"/>
          </p:cNvSpPr>
          <p:nvPr/>
        </p:nvSpPr>
        <p:spPr bwMode="auto">
          <a:xfrm>
            <a:off x="2785313" y="3099683"/>
            <a:ext cx="4331828"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1300" b="1" dirty="0">
                <a:solidFill>
                  <a:srgbClr val="0000FF"/>
                </a:solidFill>
                <a:latin typeface="微软雅黑" pitchFamily="34" charset="-122"/>
                <a:ea typeface="微软雅黑" pitchFamily="34" charset="-122"/>
              </a:rPr>
              <a:t>加上</a:t>
            </a:r>
            <a:r>
              <a:rPr lang="zh-CN" altLang="en-US" sz="1300" b="1" dirty="0">
                <a:solidFill>
                  <a:srgbClr val="0000FF"/>
                </a:solidFill>
                <a:latin typeface="微软雅黑" pitchFamily="34" charset="-122"/>
                <a:ea typeface="微软雅黑" pitchFamily="34" charset="-122"/>
                <a:sym typeface="Symbol" pitchFamily="18" charset="2"/>
              </a:rPr>
              <a:t>载波延伸使 </a:t>
            </a:r>
            <a:r>
              <a:rPr lang="en-US" altLang="zh-CN" sz="1300" b="1" dirty="0">
                <a:solidFill>
                  <a:srgbClr val="0000FF"/>
                </a:solidFill>
                <a:latin typeface="微软雅黑" pitchFamily="34" charset="-122"/>
                <a:ea typeface="微软雅黑" pitchFamily="34" charset="-122"/>
                <a:sym typeface="Symbol" pitchFamily="18" charset="2"/>
              </a:rPr>
              <a:t>MAC </a:t>
            </a:r>
            <a:r>
              <a:rPr lang="zh-CN" altLang="en-US" sz="1300" b="1" dirty="0">
                <a:solidFill>
                  <a:srgbClr val="0000FF"/>
                </a:solidFill>
                <a:latin typeface="微软雅黑" pitchFamily="34" charset="-122"/>
                <a:ea typeface="微软雅黑" pitchFamily="34" charset="-122"/>
                <a:sym typeface="Symbol" pitchFamily="18" charset="2"/>
              </a:rPr>
              <a:t>帧长度 = </a:t>
            </a:r>
            <a:r>
              <a:rPr lang="zh-CN" altLang="en-US" sz="1300" b="1" dirty="0">
                <a:solidFill>
                  <a:srgbClr val="0000FF"/>
                </a:solidFill>
                <a:latin typeface="微软雅黑" pitchFamily="34" charset="-122"/>
                <a:ea typeface="微软雅黑" pitchFamily="34" charset="-122"/>
              </a:rPr>
              <a:t>争用期长度 </a:t>
            </a:r>
            <a:r>
              <a:rPr lang="en-US" altLang="zh-CN" sz="1300" b="1" dirty="0">
                <a:solidFill>
                  <a:srgbClr val="0000FF"/>
                </a:solidFill>
                <a:latin typeface="微软雅黑" pitchFamily="34" charset="-122"/>
                <a:ea typeface="微软雅黑" pitchFamily="34" charset="-122"/>
              </a:rPr>
              <a:t>= </a:t>
            </a:r>
            <a:r>
              <a:rPr lang="zh-CN" altLang="en-US" sz="1300" b="1" dirty="0">
                <a:solidFill>
                  <a:srgbClr val="0000FF"/>
                </a:solidFill>
                <a:latin typeface="微软雅黑" pitchFamily="34" charset="-122"/>
                <a:ea typeface="微软雅黑" pitchFamily="34" charset="-122"/>
              </a:rPr>
              <a:t>512 字节</a:t>
            </a:r>
          </a:p>
        </p:txBody>
      </p:sp>
      <p:sp>
        <p:nvSpPr>
          <p:cNvPr id="61" name="Line 19"/>
          <p:cNvSpPr>
            <a:spLocks noChangeShapeType="1"/>
          </p:cNvSpPr>
          <p:nvPr/>
        </p:nvSpPr>
        <p:spPr bwMode="auto">
          <a:xfrm>
            <a:off x="7262745" y="2577526"/>
            <a:ext cx="136" cy="8119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2" name="矩形 1"/>
          <p:cNvSpPr/>
          <p:nvPr/>
        </p:nvSpPr>
        <p:spPr>
          <a:xfrm>
            <a:off x="1016000" y="1093659"/>
            <a:ext cx="7333672" cy="759182"/>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将争用时间增大为 </a:t>
            </a:r>
            <a:r>
              <a:rPr lang="en-US" altLang="zh-CN" b="1" dirty="0">
                <a:solidFill>
                  <a:srgbClr val="C00000"/>
                </a:solidFill>
                <a:latin typeface="微软雅黑" panose="020B0503020204020204" pitchFamily="34" charset="-122"/>
                <a:ea typeface="微软雅黑" panose="020B0503020204020204" pitchFamily="34" charset="-122"/>
              </a:rPr>
              <a:t>512 </a:t>
            </a:r>
            <a:r>
              <a:rPr lang="zh-CN" altLang="en-US" b="1" dirty="0">
                <a:solidFill>
                  <a:srgbClr val="C00000"/>
                </a:solidFill>
                <a:latin typeface="微软雅黑" panose="020B0503020204020204" pitchFamily="34" charset="-122"/>
                <a:ea typeface="微软雅黑" panose="020B0503020204020204" pitchFamily="34" charset="-122"/>
              </a:rPr>
              <a:t>字节。</a:t>
            </a:r>
            <a:r>
              <a:rPr lang="zh-CN" altLang="en-US" b="1" dirty="0">
                <a:latin typeface="微软雅黑" panose="020B0503020204020204" pitchFamily="34" charset="-122"/>
                <a:ea typeface="微软雅黑" panose="020B0503020204020204" pitchFamily="34" charset="-122"/>
              </a:rPr>
              <a:t>凡发送的 </a:t>
            </a:r>
            <a:r>
              <a:rPr lang="en-US" altLang="zh-CN" b="1" dirty="0">
                <a:latin typeface="微软雅黑" panose="020B0503020204020204" pitchFamily="34" charset="-122"/>
                <a:ea typeface="微软雅黑" panose="020B0503020204020204" pitchFamily="34" charset="-122"/>
              </a:rPr>
              <a:t>MAC </a:t>
            </a:r>
            <a:r>
              <a:rPr lang="zh-CN" altLang="en-US" b="1" dirty="0">
                <a:latin typeface="微软雅黑" panose="020B0503020204020204" pitchFamily="34" charset="-122"/>
                <a:ea typeface="微软雅黑" panose="020B0503020204020204" pitchFamily="34" charset="-122"/>
              </a:rPr>
              <a:t>帧长不足 </a:t>
            </a:r>
            <a:r>
              <a:rPr lang="en-US" altLang="zh-CN" b="1" dirty="0">
                <a:latin typeface="微软雅黑" panose="020B0503020204020204" pitchFamily="34" charset="-122"/>
                <a:ea typeface="微软雅黑" panose="020B0503020204020204" pitchFamily="34" charset="-122"/>
              </a:rPr>
              <a:t>512 </a:t>
            </a:r>
            <a:r>
              <a:rPr lang="zh-CN" altLang="en-US" b="1" dirty="0">
                <a:latin typeface="微软雅黑" panose="020B0503020204020204" pitchFamily="34" charset="-122"/>
                <a:ea typeface="微软雅黑" panose="020B0503020204020204" pitchFamily="34" charset="-122"/>
              </a:rPr>
              <a:t>字节时，就用一些特殊字符填充在帧的后面。</a:t>
            </a:r>
          </a:p>
        </p:txBody>
      </p:sp>
    </p:spTree>
    <p:extLst>
      <p:ext uri="{BB962C8B-B14F-4D97-AF65-F5344CB8AC3E}">
        <p14:creationId xmlns:p14="http://schemas.microsoft.com/office/powerpoint/2010/main" val="104758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2"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757382" y="2210912"/>
            <a:ext cx="7730836" cy="21578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Rectangle 46"/>
          <p:cNvSpPr>
            <a:spLocks noChangeArrowheads="1"/>
          </p:cNvSpPr>
          <p:nvPr/>
        </p:nvSpPr>
        <p:spPr bwMode="auto">
          <a:xfrm>
            <a:off x="757382" y="1028365"/>
            <a:ext cx="7730836" cy="1092607"/>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chemeClr val="tx1"/>
                </a:solidFill>
                <a:latin typeface="微软雅黑" panose="020B0503020204020204" pitchFamily="34" charset="-122"/>
                <a:ea typeface="微软雅黑" panose="020B0503020204020204" pitchFamily="34" charset="-122"/>
              </a:rPr>
              <a:t>当很多短帧要发送时，第 </a:t>
            </a:r>
            <a:r>
              <a:rPr lang="en-US" altLang="zh-CN" b="1" dirty="0">
                <a:solidFill>
                  <a:schemeClr val="tx1"/>
                </a:solidFill>
                <a:latin typeface="微软雅黑" panose="020B0503020204020204" pitchFamily="34" charset="-122"/>
                <a:ea typeface="微软雅黑" panose="020B0503020204020204" pitchFamily="34" charset="-122"/>
              </a:rPr>
              <a:t>1 </a:t>
            </a:r>
            <a:r>
              <a:rPr lang="zh-CN" altLang="en-US" b="1" dirty="0">
                <a:solidFill>
                  <a:schemeClr val="tx1"/>
                </a:solidFill>
                <a:latin typeface="微软雅黑" panose="020B0503020204020204" pitchFamily="34" charset="-122"/>
                <a:ea typeface="微软雅黑" panose="020B0503020204020204" pitchFamily="34" charset="-122"/>
              </a:rPr>
              <a:t>个短帧采用载波延伸方法进行填充，随后的一些短帧则可一个接一个地发送，只需留有必要的帧间最小间隔即可。这样就形成可一串分组的突发，直到达到 </a:t>
            </a:r>
            <a:r>
              <a:rPr lang="en-US" altLang="zh-CN" b="1" dirty="0">
                <a:solidFill>
                  <a:schemeClr val="tx1"/>
                </a:solidFill>
                <a:latin typeface="微软雅黑" panose="020B0503020204020204" pitchFamily="34" charset="-122"/>
                <a:ea typeface="微软雅黑" panose="020B0503020204020204" pitchFamily="34" charset="-122"/>
              </a:rPr>
              <a:t>1500 </a:t>
            </a:r>
            <a:r>
              <a:rPr lang="zh-CN" altLang="en-US" b="1" dirty="0">
                <a:solidFill>
                  <a:schemeClr val="tx1"/>
                </a:solidFill>
                <a:latin typeface="微软雅黑" panose="020B0503020204020204" pitchFamily="34" charset="-122"/>
                <a:ea typeface="微软雅黑" panose="020B0503020204020204" pitchFamily="34" charset="-122"/>
              </a:rPr>
              <a:t>字节或稍多一些为止。</a:t>
            </a:r>
          </a:p>
        </p:txBody>
      </p:sp>
      <p:sp>
        <p:nvSpPr>
          <p:cNvPr id="116"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分组突发</a:t>
            </a:r>
            <a:endParaRPr lang="fr-FR" altLang="zh-CN" sz="2000" b="1" dirty="0">
              <a:solidFill>
                <a:schemeClr val="bg1"/>
              </a:solidFill>
              <a:latin typeface="微软雅黑" pitchFamily="34" charset="-122"/>
              <a:ea typeface="微软雅黑" pitchFamily="34" charset="-122"/>
            </a:endParaRPr>
          </a:p>
        </p:txBody>
      </p:sp>
      <p:sp>
        <p:nvSpPr>
          <p:cNvPr id="140" name="矩形 139"/>
          <p:cNvSpPr/>
          <p:nvPr/>
        </p:nvSpPr>
        <p:spPr>
          <a:xfrm>
            <a:off x="1261338" y="2797778"/>
            <a:ext cx="430887" cy="913070"/>
          </a:xfrm>
          <a:prstGeom prst="rect">
            <a:avLst/>
          </a:prstGeom>
        </p:spPr>
        <p:txBody>
          <a:bodyPr vert="eaVert" wrap="none">
            <a:spAutoFit/>
          </a:bodyPr>
          <a:lstStyle/>
          <a:p>
            <a:pPr algn="ctr">
              <a:tabLst>
                <a:tab pos="1752600" algn="l"/>
              </a:tabLst>
            </a:pPr>
            <a:r>
              <a:rPr lang="zh-CN" altLang="en-US" sz="1600" b="1" dirty="0">
                <a:latin typeface="微软雅黑" pitchFamily="34" charset="-122"/>
                <a:ea typeface="微软雅黑" pitchFamily="34" charset="-122"/>
                <a:cs typeface="Times New Roman" pitchFamily="18" charset="0"/>
              </a:rPr>
              <a:t>分组突发</a:t>
            </a:r>
          </a:p>
        </p:txBody>
      </p:sp>
      <p:sp>
        <p:nvSpPr>
          <p:cNvPr id="143" name="Text Box 6"/>
          <p:cNvSpPr txBox="1">
            <a:spLocks noChangeArrowheads="1"/>
          </p:cNvSpPr>
          <p:nvPr/>
        </p:nvSpPr>
        <p:spPr bwMode="auto">
          <a:xfrm>
            <a:off x="2177816" y="3544091"/>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200" b="1" dirty="0">
                <a:solidFill>
                  <a:srgbClr val="0000CC"/>
                </a:solidFill>
                <a:latin typeface="微软雅黑" pitchFamily="34" charset="-122"/>
                <a:ea typeface="微软雅黑" pitchFamily="34" charset="-122"/>
              </a:rPr>
              <a:t>发送的</a:t>
            </a:r>
          </a:p>
          <a:p>
            <a:pPr algn="ctr">
              <a:lnSpc>
                <a:spcPct val="90000"/>
              </a:lnSpc>
            </a:pPr>
            <a:r>
              <a:rPr lang="zh-CN" altLang="en-US" sz="1200" b="1" dirty="0">
                <a:solidFill>
                  <a:srgbClr val="0000CC"/>
                </a:solidFill>
                <a:latin typeface="微软雅黑" pitchFamily="34" charset="-122"/>
                <a:ea typeface="微软雅黑" pitchFamily="34" charset="-122"/>
              </a:rPr>
              <a:t>数据 </a:t>
            </a:r>
          </a:p>
        </p:txBody>
      </p:sp>
      <p:sp>
        <p:nvSpPr>
          <p:cNvPr id="148" name="Line 11"/>
          <p:cNvSpPr>
            <a:spLocks noChangeShapeType="1"/>
          </p:cNvSpPr>
          <p:nvPr/>
        </p:nvSpPr>
        <p:spPr bwMode="auto">
          <a:xfrm>
            <a:off x="2821158" y="2785900"/>
            <a:ext cx="1522594"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9" name="Text Box 12"/>
          <p:cNvSpPr txBox="1">
            <a:spLocks noChangeArrowheads="1"/>
          </p:cNvSpPr>
          <p:nvPr/>
        </p:nvSpPr>
        <p:spPr bwMode="auto">
          <a:xfrm>
            <a:off x="2943994" y="2661050"/>
            <a:ext cx="1233030"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争用期 512 字节</a:t>
            </a:r>
          </a:p>
        </p:txBody>
      </p:sp>
      <p:grpSp>
        <p:nvGrpSpPr>
          <p:cNvPr id="17" name="组合 16">
            <a:extLst>
              <a:ext uri="{FF2B5EF4-FFF2-40B4-BE49-F238E27FC236}">
                <a16:creationId xmlns:a16="http://schemas.microsoft.com/office/drawing/2014/main" id="{F941184A-96A9-4F56-8028-399E36B0DBB0}"/>
              </a:ext>
            </a:extLst>
          </p:cNvPr>
          <p:cNvGrpSpPr/>
          <p:nvPr/>
        </p:nvGrpSpPr>
        <p:grpSpPr>
          <a:xfrm>
            <a:off x="2821158" y="2355078"/>
            <a:ext cx="4149872" cy="261610"/>
            <a:chOff x="2821158" y="2355078"/>
            <a:chExt cx="4149872" cy="261610"/>
          </a:xfrm>
        </p:grpSpPr>
        <p:sp>
          <p:nvSpPr>
            <p:cNvPr id="150" name="Line 13"/>
            <p:cNvSpPr>
              <a:spLocks noChangeShapeType="1"/>
            </p:cNvSpPr>
            <p:nvPr/>
          </p:nvSpPr>
          <p:spPr bwMode="auto">
            <a:xfrm>
              <a:off x="2821158" y="2479929"/>
              <a:ext cx="414987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1" name="Text Box 14"/>
            <p:cNvSpPr txBox="1">
              <a:spLocks noChangeArrowheads="1"/>
            </p:cNvSpPr>
            <p:nvPr/>
          </p:nvSpPr>
          <p:spPr bwMode="auto">
            <a:xfrm>
              <a:off x="3899478" y="2355078"/>
              <a:ext cx="2165978"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将突发计时器设定为 1500 字节</a:t>
              </a:r>
            </a:p>
          </p:txBody>
        </p:sp>
      </p:grpSp>
      <p:sp>
        <p:nvSpPr>
          <p:cNvPr id="152" name="Text Box 15"/>
          <p:cNvSpPr txBox="1">
            <a:spLocks noChangeArrowheads="1"/>
          </p:cNvSpPr>
          <p:nvPr/>
        </p:nvSpPr>
        <p:spPr bwMode="auto">
          <a:xfrm>
            <a:off x="2992021" y="3339921"/>
            <a:ext cx="800219" cy="276999"/>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载波延伸</a:t>
            </a:r>
          </a:p>
        </p:txBody>
      </p:sp>
      <p:sp>
        <p:nvSpPr>
          <p:cNvPr id="154" name="Text Box 17"/>
          <p:cNvSpPr txBox="1">
            <a:spLocks noChangeArrowheads="1"/>
          </p:cNvSpPr>
          <p:nvPr/>
        </p:nvSpPr>
        <p:spPr bwMode="auto">
          <a:xfrm>
            <a:off x="2244698" y="2882741"/>
            <a:ext cx="53893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200" b="1" dirty="0">
                <a:solidFill>
                  <a:srgbClr val="0000CC"/>
                </a:solidFill>
                <a:latin typeface="微软雅黑" pitchFamily="34" charset="-122"/>
                <a:ea typeface="微软雅黑" pitchFamily="34" charset="-122"/>
              </a:rPr>
              <a:t>载波</a:t>
            </a:r>
          </a:p>
          <a:p>
            <a:pPr>
              <a:lnSpc>
                <a:spcPct val="90000"/>
              </a:lnSpc>
            </a:pPr>
            <a:r>
              <a:rPr lang="zh-CN" altLang="en-US" sz="1200" b="1" dirty="0">
                <a:solidFill>
                  <a:srgbClr val="0000CC"/>
                </a:solidFill>
                <a:latin typeface="微软雅黑" pitchFamily="34" charset="-122"/>
                <a:ea typeface="微软雅黑" pitchFamily="34" charset="-122"/>
              </a:rPr>
              <a:t>监听 </a:t>
            </a:r>
          </a:p>
        </p:txBody>
      </p:sp>
      <p:sp>
        <p:nvSpPr>
          <p:cNvPr id="155" name="Freeform 18"/>
          <p:cNvSpPr>
            <a:spLocks/>
          </p:cNvSpPr>
          <p:nvPr/>
        </p:nvSpPr>
        <p:spPr bwMode="auto">
          <a:xfrm>
            <a:off x="2119847" y="2977354"/>
            <a:ext cx="5524649" cy="308225"/>
          </a:xfrm>
          <a:custGeom>
            <a:avLst/>
            <a:gdLst>
              <a:gd name="T0" fmla="*/ 0 w 4761"/>
              <a:gd name="T1" fmla="*/ 266 h 267"/>
              <a:gd name="T2" fmla="*/ 601 w 4761"/>
              <a:gd name="T3" fmla="*/ 267 h 267"/>
              <a:gd name="T4" fmla="*/ 601 w 4761"/>
              <a:gd name="T5" fmla="*/ 0 h 267"/>
              <a:gd name="T6" fmla="*/ 4193 w 4761"/>
              <a:gd name="T7" fmla="*/ 0 h 267"/>
              <a:gd name="T8" fmla="*/ 4193 w 4761"/>
              <a:gd name="T9" fmla="*/ 266 h 267"/>
              <a:gd name="T10" fmla="*/ 4761 w 4761"/>
              <a:gd name="T11" fmla="*/ 266 h 267"/>
            </a:gdLst>
            <a:ahLst/>
            <a:cxnLst>
              <a:cxn ang="0">
                <a:pos x="T0" y="T1"/>
              </a:cxn>
              <a:cxn ang="0">
                <a:pos x="T2" y="T3"/>
              </a:cxn>
              <a:cxn ang="0">
                <a:pos x="T4" y="T5"/>
              </a:cxn>
              <a:cxn ang="0">
                <a:pos x="T6" y="T7"/>
              </a:cxn>
              <a:cxn ang="0">
                <a:pos x="T8" y="T9"/>
              </a:cxn>
              <a:cxn ang="0">
                <a:pos x="T10" y="T11"/>
              </a:cxn>
            </a:cxnLst>
            <a:rect l="0" t="0" r="r" b="b"/>
            <a:pathLst>
              <a:path w="4761" h="267">
                <a:moveTo>
                  <a:pt x="0" y="266"/>
                </a:moveTo>
                <a:lnTo>
                  <a:pt x="601" y="267"/>
                </a:lnTo>
                <a:lnTo>
                  <a:pt x="601" y="0"/>
                </a:lnTo>
                <a:lnTo>
                  <a:pt x="4193" y="0"/>
                </a:lnTo>
                <a:lnTo>
                  <a:pt x="4193" y="266"/>
                </a:lnTo>
                <a:lnTo>
                  <a:pt x="4761" y="266"/>
                </a:lnTo>
              </a:path>
            </a:pathLst>
          </a:custGeom>
          <a:solidFill>
            <a:srgbClr val="00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6" name="Line 19"/>
          <p:cNvSpPr>
            <a:spLocks noChangeShapeType="1"/>
          </p:cNvSpPr>
          <p:nvPr/>
        </p:nvSpPr>
        <p:spPr bwMode="auto">
          <a:xfrm>
            <a:off x="4348630" y="2656173"/>
            <a:ext cx="0" cy="1454009"/>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7" name="Line 20"/>
          <p:cNvSpPr>
            <a:spLocks noChangeShapeType="1"/>
          </p:cNvSpPr>
          <p:nvPr/>
        </p:nvSpPr>
        <p:spPr bwMode="auto">
          <a:xfrm flipH="1">
            <a:off x="2817256" y="2386291"/>
            <a:ext cx="0" cy="1723891"/>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8" name="Line 21"/>
          <p:cNvSpPr>
            <a:spLocks noChangeShapeType="1"/>
          </p:cNvSpPr>
          <p:nvPr/>
        </p:nvSpPr>
        <p:spPr bwMode="auto">
          <a:xfrm>
            <a:off x="6985264" y="2393118"/>
            <a:ext cx="0" cy="1717064"/>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60" name="Text Box 7"/>
          <p:cNvSpPr txBox="1">
            <a:spLocks noChangeArrowheads="1"/>
          </p:cNvSpPr>
          <p:nvPr/>
        </p:nvSpPr>
        <p:spPr bwMode="auto">
          <a:xfrm>
            <a:off x="2831491" y="3644814"/>
            <a:ext cx="4134692" cy="301225"/>
          </a:xfrm>
          <a:prstGeom prst="rect">
            <a:avLst/>
          </a:prstGeom>
          <a:solidFill>
            <a:schemeClr val="accent6">
              <a:lumMod val="75000"/>
            </a:schemeClr>
          </a:solidFill>
          <a:ln>
            <a:noFill/>
          </a:ln>
          <a:effectLst/>
        </p:spPr>
        <p:txBody>
          <a:bodyPr wrap="square" lIns="0" tIns="0" rIns="0" bIns="0" anchor="ctr" anchorCtr="0">
            <a:noAutofit/>
          </a:bodyPr>
          <a:lstStyle/>
          <a:p>
            <a:r>
              <a:rPr lang="zh-CN" altLang="en-US" sz="1200" b="1" dirty="0">
                <a:solidFill>
                  <a:schemeClr val="bg1"/>
                </a:solidFill>
                <a:latin typeface="微软雅黑" pitchFamily="34" charset="-122"/>
                <a:ea typeface="微软雅黑" pitchFamily="34" charset="-122"/>
              </a:rPr>
              <a:t>  帧#1   </a:t>
            </a:r>
            <a:r>
              <a:rPr lang="en-US" altLang="zh-CN" sz="1200" b="1" i="1" dirty="0">
                <a:solidFill>
                  <a:schemeClr val="bg1"/>
                </a:solidFill>
                <a:latin typeface="微软雅黑" pitchFamily="34" charset="-122"/>
                <a:ea typeface="微软雅黑" pitchFamily="34" charset="-122"/>
              </a:rPr>
              <a:t>RRRRRRRR  </a:t>
            </a:r>
            <a:endParaRPr lang="zh-CN" altLang="en-US" sz="1200" b="1" dirty="0">
              <a:solidFill>
                <a:schemeClr val="bg1"/>
              </a:solidFill>
              <a:latin typeface="微软雅黑" pitchFamily="34" charset="-122"/>
              <a:ea typeface="微软雅黑" pitchFamily="34" charset="-122"/>
            </a:endParaRPr>
          </a:p>
        </p:txBody>
      </p:sp>
      <p:cxnSp>
        <p:nvCxnSpPr>
          <p:cNvPr id="4" name="直接连接符 3">
            <a:extLst>
              <a:ext uri="{FF2B5EF4-FFF2-40B4-BE49-F238E27FC236}">
                <a16:creationId xmlns:a16="http://schemas.microsoft.com/office/drawing/2014/main" id="{4C187C31-A245-1D03-C0DB-9F63BF3C52B5}"/>
              </a:ext>
            </a:extLst>
          </p:cNvPr>
          <p:cNvCxnSpPr/>
          <p:nvPr/>
        </p:nvCxnSpPr>
        <p:spPr>
          <a:xfrm>
            <a:off x="2097184" y="3947604"/>
            <a:ext cx="5569974" cy="0"/>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970A755C-2BCD-CF09-1477-EED60142E0A8}"/>
              </a:ext>
            </a:extLst>
          </p:cNvPr>
          <p:cNvCxnSpPr/>
          <p:nvPr/>
        </p:nvCxnSpPr>
        <p:spPr>
          <a:xfrm>
            <a:off x="2824147" y="3634106"/>
            <a:ext cx="4161117" cy="0"/>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a:extLst>
              <a:ext uri="{FF2B5EF4-FFF2-40B4-BE49-F238E27FC236}">
                <a16:creationId xmlns:a16="http://schemas.microsoft.com/office/drawing/2014/main" id="{5BCA580D-92D3-9FC4-F6F8-009837E7432B}"/>
              </a:ext>
            </a:extLst>
          </p:cNvPr>
          <p:cNvCxnSpPr/>
          <p:nvPr/>
        </p:nvCxnSpPr>
        <p:spPr>
          <a:xfrm>
            <a:off x="3338054" y="3634106"/>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a:extLst>
              <a:ext uri="{FF2B5EF4-FFF2-40B4-BE49-F238E27FC236}">
                <a16:creationId xmlns:a16="http://schemas.microsoft.com/office/drawing/2014/main" id="{9145C55B-F051-C835-E152-937B93FC94C1}"/>
              </a:ext>
            </a:extLst>
          </p:cNvPr>
          <p:cNvCxnSpPr/>
          <p:nvPr/>
        </p:nvCxnSpPr>
        <p:spPr>
          <a:xfrm>
            <a:off x="2817256" y="3621836"/>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6DA6AEF8-652C-15CE-E932-CDBA9CC1E545}"/>
              </a:ext>
            </a:extLst>
          </p:cNvPr>
          <p:cNvCxnSpPr/>
          <p:nvPr/>
        </p:nvCxnSpPr>
        <p:spPr>
          <a:xfrm>
            <a:off x="6985264" y="3634106"/>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47A5E264-D2BD-8241-820C-444DC3C61CA3}"/>
              </a:ext>
            </a:extLst>
          </p:cNvPr>
          <p:cNvCxnSpPr/>
          <p:nvPr/>
        </p:nvCxnSpPr>
        <p:spPr>
          <a:xfrm>
            <a:off x="4352084" y="3644518"/>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Line 16"/>
          <p:cNvSpPr>
            <a:spLocks noChangeShapeType="1"/>
          </p:cNvSpPr>
          <p:nvPr/>
        </p:nvSpPr>
        <p:spPr bwMode="auto">
          <a:xfrm>
            <a:off x="3700223" y="3543578"/>
            <a:ext cx="82781" cy="20285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6" name="Text Box 7">
            <a:extLst>
              <a:ext uri="{FF2B5EF4-FFF2-40B4-BE49-F238E27FC236}">
                <a16:creationId xmlns:a16="http://schemas.microsoft.com/office/drawing/2014/main" id="{164AD3B8-89AD-55CE-1888-8E0E71E95BAA}"/>
              </a:ext>
            </a:extLst>
          </p:cNvPr>
          <p:cNvSpPr txBox="1">
            <a:spLocks noChangeArrowheads="1"/>
          </p:cNvSpPr>
          <p:nvPr/>
        </p:nvSpPr>
        <p:spPr bwMode="auto">
          <a:xfrm>
            <a:off x="4424332" y="3655221"/>
            <a:ext cx="2555252" cy="282525"/>
          </a:xfrm>
          <a:prstGeom prst="rect">
            <a:avLst/>
          </a:prstGeom>
          <a:solidFill>
            <a:schemeClr val="accent6">
              <a:lumMod val="75000"/>
            </a:schemeClr>
          </a:solidFill>
          <a:ln>
            <a:noFill/>
          </a:ln>
          <a:effectLst/>
        </p:spPr>
        <p:txBody>
          <a:bodyPr wrap="square" lIns="0" tIns="0" rIns="0" bIns="0" anchor="ctr" anchorCtr="0">
            <a:noAutofit/>
          </a:bodyPr>
          <a:lstStyle/>
          <a:p>
            <a:r>
              <a:rPr lang="zh-CN" altLang="en-US" sz="1200" b="1" dirty="0">
                <a:solidFill>
                  <a:schemeClr val="bg1"/>
                </a:solidFill>
                <a:latin typeface="微软雅黑" pitchFamily="34" charset="-122"/>
                <a:ea typeface="微软雅黑" pitchFamily="34" charset="-122"/>
              </a:rPr>
              <a:t>帧#2    </a:t>
            </a:r>
            <a:r>
              <a:rPr lang="en-US" altLang="zh-CN" sz="1200" b="1" i="1" dirty="0">
                <a:solidFill>
                  <a:schemeClr val="bg1"/>
                </a:solidFill>
                <a:latin typeface="微软雅黑" pitchFamily="34" charset="-122"/>
                <a:ea typeface="微软雅黑" pitchFamily="34" charset="-122"/>
              </a:rPr>
              <a:t> </a:t>
            </a:r>
            <a:r>
              <a:rPr lang="zh-CN" altLang="en-US" sz="1200" b="1" dirty="0">
                <a:solidFill>
                  <a:schemeClr val="bg1"/>
                </a:solidFill>
                <a:latin typeface="微软雅黑" pitchFamily="34" charset="-122"/>
                <a:ea typeface="微软雅黑" pitchFamily="34" charset="-122"/>
              </a:rPr>
              <a:t>帧#3    帧#4   帧#</a:t>
            </a:r>
            <a:r>
              <a:rPr lang="en-US" altLang="zh-CN" sz="1200" b="1" dirty="0">
                <a:solidFill>
                  <a:schemeClr val="bg1"/>
                </a:solidFill>
                <a:latin typeface="微软雅黑" pitchFamily="34" charset="-122"/>
                <a:ea typeface="微软雅黑" pitchFamily="34" charset="-122"/>
              </a:rPr>
              <a:t>5    </a:t>
            </a:r>
            <a:r>
              <a:rPr lang="zh-CN" altLang="en-US" sz="1200" b="1" dirty="0">
                <a:solidFill>
                  <a:schemeClr val="bg1"/>
                </a:solidFill>
                <a:latin typeface="微软雅黑" pitchFamily="34" charset="-122"/>
                <a:ea typeface="微软雅黑" pitchFamily="34" charset="-122"/>
              </a:rPr>
              <a:t>帧#</a:t>
            </a:r>
            <a:r>
              <a:rPr lang="en-US" altLang="zh-CN" sz="1200" b="1" dirty="0">
                <a:solidFill>
                  <a:schemeClr val="bg1"/>
                </a:solidFill>
                <a:latin typeface="微软雅黑" pitchFamily="34" charset="-122"/>
                <a:ea typeface="微软雅黑" pitchFamily="34" charset="-122"/>
              </a:rPr>
              <a:t>6</a:t>
            </a:r>
            <a:endParaRPr lang="zh-CN" altLang="en-US" sz="1200" b="1" dirty="0">
              <a:solidFill>
                <a:schemeClr val="bg1"/>
              </a:solidFill>
              <a:latin typeface="微软雅黑" pitchFamily="34" charset="-122"/>
              <a:ea typeface="微软雅黑" pitchFamily="34" charset="-122"/>
            </a:endParaRPr>
          </a:p>
        </p:txBody>
      </p:sp>
      <p:cxnSp>
        <p:nvCxnSpPr>
          <p:cNvPr id="10" name="直接连接符 9">
            <a:extLst>
              <a:ext uri="{FF2B5EF4-FFF2-40B4-BE49-F238E27FC236}">
                <a16:creationId xmlns:a16="http://schemas.microsoft.com/office/drawing/2014/main" id="{DE21195D-D6B2-2127-38B1-D2778023907C}"/>
              </a:ext>
            </a:extLst>
          </p:cNvPr>
          <p:cNvCxnSpPr/>
          <p:nvPr/>
        </p:nvCxnSpPr>
        <p:spPr>
          <a:xfrm>
            <a:off x="4909624" y="3634106"/>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a:extLst>
              <a:ext uri="{FF2B5EF4-FFF2-40B4-BE49-F238E27FC236}">
                <a16:creationId xmlns:a16="http://schemas.microsoft.com/office/drawing/2014/main" id="{9A1FD4BF-5DF4-9FB2-771C-0F554B874E53}"/>
              </a:ext>
            </a:extLst>
          </p:cNvPr>
          <p:cNvCxnSpPr/>
          <p:nvPr/>
        </p:nvCxnSpPr>
        <p:spPr>
          <a:xfrm>
            <a:off x="5412660" y="3644815"/>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a:extLst>
              <a:ext uri="{FF2B5EF4-FFF2-40B4-BE49-F238E27FC236}">
                <a16:creationId xmlns:a16="http://schemas.microsoft.com/office/drawing/2014/main" id="{89F5497A-8F9C-31E7-D3C2-AF6669512F92}"/>
              </a:ext>
            </a:extLst>
          </p:cNvPr>
          <p:cNvCxnSpPr/>
          <p:nvPr/>
        </p:nvCxnSpPr>
        <p:spPr>
          <a:xfrm>
            <a:off x="5963267" y="3637740"/>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a:extLst>
              <a:ext uri="{FF2B5EF4-FFF2-40B4-BE49-F238E27FC236}">
                <a16:creationId xmlns:a16="http://schemas.microsoft.com/office/drawing/2014/main" id="{F69A90A6-C428-3325-A6E5-E5B25048CC10}"/>
              </a:ext>
            </a:extLst>
          </p:cNvPr>
          <p:cNvCxnSpPr/>
          <p:nvPr/>
        </p:nvCxnSpPr>
        <p:spPr>
          <a:xfrm>
            <a:off x="6479461" y="3634106"/>
            <a:ext cx="0" cy="313498"/>
          </a:xfrm>
          <a:prstGeom prst="line">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39162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152"/>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nodeType="clickEffect">
                                  <p:stCondLst>
                                    <p:cond delay="0"/>
                                  </p:stCondLst>
                                  <p:childTnLst>
                                    <p:anim calcmode="discrete" valueType="str">
                                      <p:cBhvr>
                                        <p:cTn id="21" dur="1000" fill="hold"/>
                                        <p:tgtEl>
                                          <p:spTgt spid="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52" grpId="0" animBg="1"/>
      <p:bldP spid="16"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02919" y="6506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7" name="Rectangle 6"/>
          <p:cNvSpPr>
            <a:spLocks noChangeArrowheads="1"/>
          </p:cNvSpPr>
          <p:nvPr/>
        </p:nvSpPr>
        <p:spPr bwMode="auto">
          <a:xfrm>
            <a:off x="1017439" y="599238"/>
            <a:ext cx="70920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3.5.3   10 </a:t>
            </a:r>
            <a:r>
              <a:rPr lang="zh-CN" altLang="en-US" sz="2400" b="1" dirty="0">
                <a:solidFill>
                  <a:schemeClr val="bg1"/>
                </a:solidFill>
                <a:latin typeface="微软雅黑" pitchFamily="34" charset="-122"/>
                <a:ea typeface="微软雅黑" pitchFamily="34" charset="-122"/>
              </a:rPr>
              <a:t>吉比特以太网 </a:t>
            </a:r>
            <a:r>
              <a:rPr lang="en-US" altLang="zh-CN" sz="2400" b="1" dirty="0">
                <a:solidFill>
                  <a:schemeClr val="bg1"/>
                </a:solidFill>
                <a:latin typeface="微软雅黑" pitchFamily="34" charset="-122"/>
                <a:ea typeface="微软雅黑" pitchFamily="34" charset="-122"/>
              </a:rPr>
              <a:t>(10GbE) </a:t>
            </a:r>
            <a:r>
              <a:rPr lang="zh-CN" altLang="en-US" sz="2400" b="1" dirty="0">
                <a:solidFill>
                  <a:schemeClr val="bg1"/>
                </a:solidFill>
                <a:latin typeface="微软雅黑" pitchFamily="34" charset="-122"/>
                <a:ea typeface="微软雅黑" pitchFamily="34" charset="-122"/>
              </a:rPr>
              <a:t>和更快的以太网</a:t>
            </a:r>
          </a:p>
        </p:txBody>
      </p:sp>
      <p:sp>
        <p:nvSpPr>
          <p:cNvPr id="62" name="Rectangle 8"/>
          <p:cNvSpPr>
            <a:spLocks noChangeArrowheads="1"/>
          </p:cNvSpPr>
          <p:nvPr/>
        </p:nvSpPr>
        <p:spPr bwMode="auto">
          <a:xfrm>
            <a:off x="502919" y="1046992"/>
            <a:ext cx="8129015" cy="2586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吉比特以太网（</a:t>
            </a:r>
            <a:r>
              <a:rPr lang="en-US" altLang="zh-CN" sz="2000" b="1" dirty="0">
                <a:latin typeface="微软雅黑" pitchFamily="34" charset="-122"/>
                <a:ea typeface="微软雅黑" pitchFamily="34" charset="-122"/>
              </a:rPr>
              <a:t>10GbE</a:t>
            </a:r>
            <a:r>
              <a:rPr lang="zh-CN" altLang="en-US" sz="2000" b="1" dirty="0">
                <a:latin typeface="微软雅黑" pitchFamily="34" charset="-122"/>
                <a:ea typeface="微软雅黑" pitchFamily="34" charset="-122"/>
              </a:rPr>
              <a:t>）主要特点：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以太网的</a:t>
            </a:r>
            <a:r>
              <a:rPr lang="zh-CN" altLang="en-US" sz="2000" b="1" dirty="0">
                <a:solidFill>
                  <a:srgbClr val="0000FF"/>
                </a:solidFill>
                <a:latin typeface="微软雅黑" pitchFamily="34" charset="-122"/>
                <a:ea typeface="微软雅黑" pitchFamily="34" charset="-122"/>
              </a:rPr>
              <a:t>帧格式</a:t>
            </a:r>
            <a:r>
              <a:rPr lang="zh-CN" altLang="en-US" sz="2000" b="1" dirty="0">
                <a:solidFill>
                  <a:srgbClr val="C00000"/>
                </a:solidFill>
                <a:latin typeface="微软雅黑" pitchFamily="34" charset="-122"/>
                <a:ea typeface="微软雅黑" pitchFamily="34" charset="-122"/>
              </a:rPr>
              <a:t>完全相同。</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保留了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标准规定的</a:t>
            </a:r>
            <a:r>
              <a:rPr lang="zh-CN" altLang="en-US" sz="2000" b="1" dirty="0">
                <a:solidFill>
                  <a:srgbClr val="C00000"/>
                </a:solidFill>
                <a:latin typeface="微软雅黑" pitchFamily="34" charset="-122"/>
                <a:ea typeface="微软雅黑" pitchFamily="34" charset="-122"/>
              </a:rPr>
              <a:t>以太网最小和最大帧长。</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仍能和较低速率的以太网很方便地通信。</a:t>
            </a:r>
          </a:p>
          <a:p>
            <a:pPr marL="633413" indent="-342900">
              <a:lnSpc>
                <a:spcPts val="3300"/>
              </a:lnSpc>
              <a:buClr>
                <a:srgbClr val="7030A0"/>
              </a:buClr>
              <a:buFont typeface="+mj-lt"/>
              <a:buAutoNum type="arabicPeriod"/>
            </a:pPr>
            <a:r>
              <a:rPr lang="zh-CN" altLang="en-US" sz="2000" b="1" dirty="0">
                <a:solidFill>
                  <a:srgbClr val="C00000"/>
                </a:solidFill>
                <a:latin typeface="微软雅黑" pitchFamily="34" charset="-122"/>
                <a:ea typeface="微软雅黑" pitchFamily="34" charset="-122"/>
              </a:rPr>
              <a:t>只工作在全双工方式，</a:t>
            </a:r>
            <a:r>
              <a:rPr lang="zh-CN" altLang="en-US" sz="2000" b="1" dirty="0">
                <a:latin typeface="微软雅黑" pitchFamily="34" charset="-122"/>
                <a:ea typeface="微软雅黑" pitchFamily="34" charset="-122"/>
              </a:rPr>
              <a:t>没有争用问题，</a:t>
            </a:r>
            <a:r>
              <a:rPr lang="zh-CN" altLang="en-US" sz="2000" b="1" dirty="0">
                <a:solidFill>
                  <a:srgbClr val="C00000"/>
                </a:solidFill>
                <a:latin typeface="微软雅黑" pitchFamily="34" charset="-122"/>
                <a:ea typeface="微软雅黑" pitchFamily="34" charset="-122"/>
              </a:rPr>
              <a:t>不使用 </a:t>
            </a:r>
            <a:r>
              <a:rPr lang="en-US" altLang="zh-CN" sz="2000" b="1" dirty="0">
                <a:solidFill>
                  <a:srgbClr val="C00000"/>
                </a:solidFill>
                <a:latin typeface="微软雅黑" pitchFamily="34" charset="-122"/>
                <a:ea typeface="微软雅黑" pitchFamily="34" charset="-122"/>
              </a:rPr>
              <a:t>CSMA/CD </a:t>
            </a:r>
            <a:r>
              <a:rPr lang="zh-CN" altLang="en-US" sz="2000" b="1" dirty="0">
                <a:solidFill>
                  <a:srgbClr val="C00000"/>
                </a:solidFill>
                <a:latin typeface="微软雅黑" pitchFamily="34" charset="-122"/>
                <a:ea typeface="微软雅黑" pitchFamily="34" charset="-122"/>
              </a:rPr>
              <a:t>协议。</a:t>
            </a:r>
            <a:endParaRPr lang="en-US" altLang="zh-CN" sz="2000" b="1" dirty="0">
              <a:solidFill>
                <a:srgbClr val="C00000"/>
              </a:solidFill>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因为不再受必须进行碰撞检测的限制，传输距离大大提高了。</a:t>
            </a:r>
          </a:p>
        </p:txBody>
      </p:sp>
    </p:spTree>
    <p:extLst>
      <p:ext uri="{BB962C8B-B14F-4D97-AF65-F5344CB8AC3E}">
        <p14:creationId xmlns:p14="http://schemas.microsoft.com/office/powerpoint/2010/main" val="281447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Effect transition="in" filter="fade">
                                      <p:cBhvr>
                                        <p:cTn id="7" dur="1000"/>
                                        <p:tgtEl>
                                          <p:spTgt spid="62">
                                            <p:txEl>
                                              <p:pRg st="0" end="0"/>
                                            </p:txEl>
                                          </p:spTgt>
                                        </p:tgtEl>
                                      </p:cBhvr>
                                    </p:animEffect>
                                    <p:anim calcmode="lin" valueType="num">
                                      <p:cBhvr>
                                        <p:cTn id="8" dur="1000" fill="hold"/>
                                        <p:tgtEl>
                                          <p:spTgt spid="6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2">
                                            <p:txEl>
                                              <p:pRg st="1" end="1"/>
                                            </p:txEl>
                                          </p:spTgt>
                                        </p:tgtEl>
                                        <p:attrNameLst>
                                          <p:attrName>style.visibility</p:attrName>
                                        </p:attrNameLst>
                                      </p:cBhvr>
                                      <p:to>
                                        <p:strVal val="visible"/>
                                      </p:to>
                                    </p:set>
                                    <p:animEffect transition="in" filter="fade">
                                      <p:cBhvr>
                                        <p:cTn id="14" dur="1000"/>
                                        <p:tgtEl>
                                          <p:spTgt spid="62">
                                            <p:txEl>
                                              <p:pRg st="1" end="1"/>
                                            </p:txEl>
                                          </p:spTgt>
                                        </p:tgtEl>
                                      </p:cBhvr>
                                    </p:animEffect>
                                    <p:anim calcmode="lin" valueType="num">
                                      <p:cBhvr>
                                        <p:cTn id="15" dur="1000" fill="hold"/>
                                        <p:tgtEl>
                                          <p:spTgt spid="6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2">
                                            <p:txEl>
                                              <p:pRg st="2" end="2"/>
                                            </p:txEl>
                                          </p:spTgt>
                                        </p:tgtEl>
                                        <p:attrNameLst>
                                          <p:attrName>style.visibility</p:attrName>
                                        </p:attrNameLst>
                                      </p:cBhvr>
                                      <p:to>
                                        <p:strVal val="visible"/>
                                      </p:to>
                                    </p:set>
                                    <p:animEffect transition="in" filter="fade">
                                      <p:cBhvr>
                                        <p:cTn id="21" dur="1000"/>
                                        <p:tgtEl>
                                          <p:spTgt spid="62">
                                            <p:txEl>
                                              <p:pRg st="2" end="2"/>
                                            </p:txEl>
                                          </p:spTgt>
                                        </p:tgtEl>
                                      </p:cBhvr>
                                    </p:animEffect>
                                    <p:anim calcmode="lin" valueType="num">
                                      <p:cBhvr>
                                        <p:cTn id="22" dur="1000" fill="hold"/>
                                        <p:tgtEl>
                                          <p:spTgt spid="6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2">
                                            <p:txEl>
                                              <p:pRg st="3" end="3"/>
                                            </p:txEl>
                                          </p:spTgt>
                                        </p:tgtEl>
                                        <p:attrNameLst>
                                          <p:attrName>style.visibility</p:attrName>
                                        </p:attrNameLst>
                                      </p:cBhvr>
                                      <p:to>
                                        <p:strVal val="visible"/>
                                      </p:to>
                                    </p:set>
                                    <p:animEffect transition="in" filter="fade">
                                      <p:cBhvr>
                                        <p:cTn id="28" dur="1000"/>
                                        <p:tgtEl>
                                          <p:spTgt spid="62">
                                            <p:txEl>
                                              <p:pRg st="3" end="3"/>
                                            </p:txEl>
                                          </p:spTgt>
                                        </p:tgtEl>
                                      </p:cBhvr>
                                    </p:animEffect>
                                    <p:anim calcmode="lin" valueType="num">
                                      <p:cBhvr>
                                        <p:cTn id="29" dur="1000" fill="hold"/>
                                        <p:tgtEl>
                                          <p:spTgt spid="6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2">
                                            <p:txEl>
                                              <p:pRg st="4" end="4"/>
                                            </p:txEl>
                                          </p:spTgt>
                                        </p:tgtEl>
                                        <p:attrNameLst>
                                          <p:attrName>style.visibility</p:attrName>
                                        </p:attrNameLst>
                                      </p:cBhvr>
                                      <p:to>
                                        <p:strVal val="visible"/>
                                      </p:to>
                                    </p:set>
                                    <p:animEffect transition="in" filter="fade">
                                      <p:cBhvr>
                                        <p:cTn id="35" dur="1000"/>
                                        <p:tgtEl>
                                          <p:spTgt spid="62">
                                            <p:txEl>
                                              <p:pRg st="4" end="4"/>
                                            </p:txEl>
                                          </p:spTgt>
                                        </p:tgtEl>
                                      </p:cBhvr>
                                    </p:animEffect>
                                    <p:anim calcmode="lin" valueType="num">
                                      <p:cBhvr>
                                        <p:cTn id="36" dur="1000" fill="hold"/>
                                        <p:tgtEl>
                                          <p:spTgt spid="6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2">
                                            <p:txEl>
                                              <p:pRg st="5" end="5"/>
                                            </p:txEl>
                                          </p:spTgt>
                                        </p:tgtEl>
                                        <p:attrNameLst>
                                          <p:attrName>style.visibility</p:attrName>
                                        </p:attrNameLst>
                                      </p:cBhvr>
                                      <p:to>
                                        <p:strVal val="visible"/>
                                      </p:to>
                                    </p:set>
                                    <p:animEffect transition="in" filter="fade">
                                      <p:cBhvr>
                                        <p:cTn id="42" dur="1000"/>
                                        <p:tgtEl>
                                          <p:spTgt spid="62">
                                            <p:txEl>
                                              <p:pRg st="5" end="5"/>
                                            </p:txEl>
                                          </p:spTgt>
                                        </p:tgtEl>
                                      </p:cBhvr>
                                    </p:animEffect>
                                    <p:anim calcmode="lin" valueType="num">
                                      <p:cBhvr>
                                        <p:cTn id="43" dur="1000" fill="hold"/>
                                        <p:tgtEl>
                                          <p:spTgt spid="6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uiExpand="1"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02919" y="6485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6"/>
          <p:cNvSpPr>
            <a:spLocks noChangeArrowheads="1"/>
          </p:cNvSpPr>
          <p:nvPr/>
        </p:nvSpPr>
        <p:spPr bwMode="auto">
          <a:xfrm>
            <a:off x="3123409" y="625412"/>
            <a:ext cx="28873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10GbE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60" name="矩形 59"/>
          <p:cNvSpPr/>
          <p:nvPr/>
        </p:nvSpPr>
        <p:spPr>
          <a:xfrm>
            <a:off x="3374281" y="1148897"/>
            <a:ext cx="2385589"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10GbE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61" name="内容占位符 3"/>
          <p:cNvGraphicFramePr>
            <a:graphicFrameLocks/>
          </p:cNvGraphicFramePr>
          <p:nvPr/>
        </p:nvGraphicFramePr>
        <p:xfrm>
          <a:off x="502919" y="1507067"/>
          <a:ext cx="8129015" cy="2151438"/>
        </p:xfrm>
        <a:graphic>
          <a:graphicData uri="http://schemas.openxmlformats.org/drawingml/2006/table">
            <a:tbl>
              <a:tblPr firstRow="1" firstCol="1" lastRow="1" lastCol="1" bandRow="1" bandCol="1"/>
              <a:tblGrid>
                <a:gridCol w="1835584">
                  <a:extLst>
                    <a:ext uri="{9D8B030D-6E8A-4147-A177-3AD203B41FA5}">
                      <a16:colId xmlns:a16="http://schemas.microsoft.com/office/drawing/2014/main" val="20000"/>
                    </a:ext>
                  </a:extLst>
                </a:gridCol>
                <a:gridCol w="721123">
                  <a:extLst>
                    <a:ext uri="{9D8B030D-6E8A-4147-A177-3AD203B41FA5}">
                      <a16:colId xmlns:a16="http://schemas.microsoft.com/office/drawing/2014/main" val="20001"/>
                    </a:ext>
                  </a:extLst>
                </a:gridCol>
                <a:gridCol w="1966697">
                  <a:extLst>
                    <a:ext uri="{9D8B030D-6E8A-4147-A177-3AD203B41FA5}">
                      <a16:colId xmlns:a16="http://schemas.microsoft.com/office/drawing/2014/main" val="20002"/>
                    </a:ext>
                  </a:extLst>
                </a:gridCol>
                <a:gridCol w="3605611">
                  <a:extLst>
                    <a:ext uri="{9D8B030D-6E8A-4147-A177-3AD203B41FA5}">
                      <a16:colId xmlns:a16="http://schemas.microsoft.com/office/drawing/2014/main" val="20003"/>
                    </a:ext>
                  </a:extLst>
                </a:gridCol>
              </a:tblGrid>
              <a:tr h="358678">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名称</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媒体</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网段最大长度</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特点</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extLst>
                  <a:ext uri="{0D108BD9-81ED-4DB2-BD59-A6C34878D82A}">
                    <a16:rowId xmlns:a16="http://schemas.microsoft.com/office/drawing/2014/main" val="10000"/>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10GBASE-SR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300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0.85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10GBASE-LR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1.3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10GBASE-ER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40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58552">
                <a:tc>
                  <a:txBody>
                    <a:bodyPr/>
                    <a:lstStyle/>
                    <a:p>
                      <a:pPr algn="just">
                        <a:lnSpc>
                          <a:spcPct val="100000"/>
                        </a:lnSpc>
                        <a:spcAft>
                          <a:spcPts val="0"/>
                        </a:spcAft>
                        <a:tabLst>
                          <a:tab pos="1752600" algn="l"/>
                        </a:tabLst>
                      </a:pPr>
                      <a:r>
                        <a:rPr lang="pt-BR" sz="1400" b="1" dirty="0">
                          <a:effectLst/>
                          <a:latin typeface="微软雅黑" pitchFamily="34" charset="-122"/>
                          <a:ea typeface="微软雅黑" pitchFamily="34" charset="-122"/>
                        </a:rPr>
                        <a:t>10GBASE-CX4</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15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对双芯同轴电缆</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(twinax)</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10GBASE-T</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6A </a:t>
                      </a:r>
                      <a:r>
                        <a:rPr lang="zh-CN" sz="1400" b="1" dirty="0">
                          <a:effectLst/>
                          <a:latin typeface="微软雅黑" pitchFamily="34" charset="-122"/>
                          <a:ea typeface="微软雅黑" pitchFamily="34" charset="-122"/>
                        </a:rPr>
                        <a:t>类</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UTP </a:t>
                      </a:r>
                      <a:r>
                        <a:rPr lang="zh-CN" sz="1400" b="1" dirty="0">
                          <a:effectLst/>
                          <a:latin typeface="微软雅黑" pitchFamily="34" charset="-122"/>
                          <a:ea typeface="微软雅黑" pitchFamily="34" charset="-122"/>
                        </a:rPr>
                        <a:t>双绞线</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4375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02919" y="64988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6"/>
          <p:cNvSpPr>
            <a:spLocks noChangeArrowheads="1"/>
          </p:cNvSpPr>
          <p:nvPr/>
        </p:nvSpPr>
        <p:spPr bwMode="auto">
          <a:xfrm>
            <a:off x="2567970" y="626794"/>
            <a:ext cx="39982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40GbE/100GbE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36" name="矩形 35"/>
          <p:cNvSpPr/>
          <p:nvPr/>
        </p:nvSpPr>
        <p:spPr>
          <a:xfrm>
            <a:off x="2954592" y="1112872"/>
            <a:ext cx="3241593"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40GbE/10GbE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38" name="表格 37"/>
          <p:cNvGraphicFramePr>
            <a:graphicFrameLocks noGrp="1"/>
          </p:cNvGraphicFramePr>
          <p:nvPr>
            <p:extLst>
              <p:ext uri="{D42A27DB-BD31-4B8C-83A1-F6EECF244321}">
                <p14:modId xmlns:p14="http://schemas.microsoft.com/office/powerpoint/2010/main" val="643939663"/>
              </p:ext>
            </p:extLst>
          </p:nvPr>
        </p:nvGraphicFramePr>
        <p:xfrm>
          <a:off x="502919" y="1452695"/>
          <a:ext cx="8129015" cy="2308227"/>
        </p:xfrm>
        <a:graphic>
          <a:graphicData uri="http://schemas.openxmlformats.org/drawingml/2006/table">
            <a:tbl>
              <a:tblPr firstRow="1" firstCol="1" lastRow="1" lastCol="1" bandRow="1" bandCol="1"/>
              <a:tblGrid>
                <a:gridCol w="2702099">
                  <a:extLst>
                    <a:ext uri="{9D8B030D-6E8A-4147-A177-3AD203B41FA5}">
                      <a16:colId xmlns:a16="http://schemas.microsoft.com/office/drawing/2014/main" val="20000"/>
                    </a:ext>
                  </a:extLst>
                </a:gridCol>
                <a:gridCol w="2078182">
                  <a:extLst>
                    <a:ext uri="{9D8B030D-6E8A-4147-A177-3AD203B41FA5}">
                      <a16:colId xmlns:a16="http://schemas.microsoft.com/office/drawing/2014/main" val="20001"/>
                    </a:ext>
                  </a:extLst>
                </a:gridCol>
                <a:gridCol w="3348734">
                  <a:extLst>
                    <a:ext uri="{9D8B030D-6E8A-4147-A177-3AD203B41FA5}">
                      <a16:colId xmlns:a16="http://schemas.microsoft.com/office/drawing/2014/main" val="20002"/>
                    </a:ext>
                  </a:extLst>
                </a:gridCol>
              </a:tblGrid>
              <a:tr h="357632">
                <a:tc>
                  <a:txBody>
                    <a:bodyPr/>
                    <a:lstStyle/>
                    <a:p>
                      <a:pPr marL="0" algn="ctr" defTabSz="914400" rtl="0" eaLnBrk="1" latinLnBrk="0" hangingPunct="1">
                        <a:lnSpc>
                          <a:spcPct val="100000"/>
                        </a:lnSpc>
                        <a:spcAft>
                          <a:spcPts val="0"/>
                        </a:spcAft>
                        <a:tabLst>
                          <a:tab pos="1752600" algn="l"/>
                        </a:tabLst>
                      </a:pPr>
                      <a:r>
                        <a:rPr lang="zh-CN" sz="1800" b="1" kern="1200" dirty="0">
                          <a:solidFill>
                            <a:schemeClr val="bg1"/>
                          </a:solidFill>
                          <a:effectLst/>
                          <a:latin typeface="微软雅黑" pitchFamily="34" charset="-122"/>
                          <a:ea typeface="微软雅黑" pitchFamily="34" charset="-122"/>
                        </a:rPr>
                        <a:t>物理层</a:t>
                      </a:r>
                      <a:endParaRPr lang="zh-CN" sz="1800" b="1" kern="1200" dirty="0">
                        <a:solidFill>
                          <a:schemeClr val="bg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40GbE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100GbE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a:t>
                      </a:r>
                      <a:r>
                        <a:rPr lang="zh-CN" sz="1400" b="1" kern="1200" dirty="0">
                          <a:solidFill>
                            <a:schemeClr val="tx1"/>
                          </a:solidFill>
                          <a:effectLst/>
                          <a:latin typeface="微软雅黑" pitchFamily="34" charset="-122"/>
                          <a:ea typeface="微软雅黑" pitchFamily="34" charset="-122"/>
                          <a:cs typeface="+mn-cs"/>
                        </a:rPr>
                        <a:t>背板上</a:t>
                      </a:r>
                      <a:r>
                        <a:rPr lang="zh-CN" sz="1400" b="1" kern="1200" dirty="0">
                          <a:effectLst/>
                          <a:latin typeface="微软雅黑" pitchFamily="34" charset="-122"/>
                          <a:ea typeface="微软雅黑" pitchFamily="34" charset="-122"/>
                        </a:rPr>
                        <a:t>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 m </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40GBASE-KR4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在铜缆上传输至少超过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7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40GBASE-CR4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100GBASE-CR10</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531">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在多模光纤上传输至少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100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100GBASE-SR10</a:t>
                      </a:r>
                      <a:r>
                        <a:rPr lang="zh-CN" altLang="en-US" sz="1400" b="1" dirty="0">
                          <a:effectLst/>
                          <a:latin typeface="微软雅黑" pitchFamily="34" charset="-122"/>
                          <a:ea typeface="微软雅黑" pitchFamily="34" charset="-122"/>
                        </a:rPr>
                        <a:t>，</a:t>
                      </a:r>
                      <a:r>
                        <a:rPr lang="en-US" altLang="zh-CN" sz="1400" b="1" dirty="0">
                          <a:effectLst/>
                          <a:latin typeface="微软雅黑" pitchFamily="34" charset="-122"/>
                          <a:ea typeface="微软雅黑" pitchFamily="34" charset="-122"/>
                        </a:rPr>
                        <a:t>100GBASE-SR4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40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40GBASE-ER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100GBASE-ER4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3734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anim calcmode="lin" valueType="num">
                                      <p:cBhvr>
                                        <p:cTn id="8" dur="1000" fill="hold"/>
                                        <p:tgtEl>
                                          <p:spTgt spid="38"/>
                                        </p:tgtEl>
                                        <p:attrNameLst>
                                          <p:attrName>ppt_x</p:attrName>
                                        </p:attrNameLst>
                                      </p:cBhvr>
                                      <p:tavLst>
                                        <p:tav tm="0">
                                          <p:val>
                                            <p:strVal val="#ppt_x"/>
                                          </p:val>
                                        </p:tav>
                                        <p:tav tm="100000">
                                          <p:val>
                                            <p:strVal val="#ppt_x"/>
                                          </p:val>
                                        </p:tav>
                                      </p:tavLst>
                                    </p:anim>
                                    <p:anim calcmode="lin" valueType="num">
                                      <p:cBhvr>
                                        <p:cTn id="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13203"/>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以太网的工作范围已经扩大到城域网和广域网，</a:t>
            </a:r>
            <a:r>
              <a:rPr lang="zh-CN" altLang="en-US" sz="2000" b="1" dirty="0">
                <a:solidFill>
                  <a:srgbClr val="0000FF"/>
                </a:solidFill>
                <a:latin typeface="微软雅黑" pitchFamily="34" charset="-122"/>
                <a:ea typeface="微软雅黑" pitchFamily="34" charset="-122"/>
              </a:rPr>
              <a:t>实现了</a:t>
            </a:r>
            <a:r>
              <a:rPr lang="zh-CN" altLang="en-US" sz="2000" b="1" dirty="0">
                <a:solidFill>
                  <a:srgbClr val="C00000"/>
                </a:solidFill>
                <a:latin typeface="微软雅黑" pitchFamily="34" charset="-122"/>
                <a:ea typeface="微软雅黑" pitchFamily="34" charset="-122"/>
              </a:rPr>
              <a:t>端到端</a:t>
            </a:r>
            <a:r>
              <a:rPr lang="zh-CN" altLang="en-US" sz="2000" b="1" dirty="0">
                <a:solidFill>
                  <a:srgbClr val="0000FF"/>
                </a:solidFill>
                <a:latin typeface="微软雅黑" pitchFamily="34" charset="-122"/>
                <a:ea typeface="微软雅黑" pitchFamily="34" charset="-122"/>
              </a:rPr>
              <a:t>的以太网传输</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好处： </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技术成熟；</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互操作性很好；</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在广域网中使用以太网时价格便宜；</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采用统一的以太网帧格式，简化了操作和管理。 </a:t>
            </a:r>
          </a:p>
        </p:txBody>
      </p:sp>
      <p:sp>
        <p:nvSpPr>
          <p:cNvPr id="6" name="AutoShape 5"/>
          <p:cNvSpPr>
            <a:spLocks noChangeArrowheads="1"/>
          </p:cNvSpPr>
          <p:nvPr/>
        </p:nvSpPr>
        <p:spPr bwMode="auto">
          <a:xfrm>
            <a:off x="502919" y="650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82107" y="627797"/>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端到端的以太网传输</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627870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5074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315068" y="599330"/>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3.5.4  </a:t>
            </a:r>
            <a:r>
              <a:rPr lang="zh-CN" altLang="en-US" sz="2400" b="1" dirty="0">
                <a:solidFill>
                  <a:schemeClr val="bg1"/>
                </a:solidFill>
                <a:latin typeface="微软雅黑" pitchFamily="34" charset="-122"/>
                <a:ea typeface="微软雅黑" pitchFamily="34" charset="-122"/>
              </a:rPr>
              <a:t>使用以太网进行宽带接入</a:t>
            </a:r>
          </a:p>
        </p:txBody>
      </p:sp>
      <p:sp>
        <p:nvSpPr>
          <p:cNvPr id="7" name="Rectangle 8"/>
          <p:cNvSpPr>
            <a:spLocks noChangeArrowheads="1"/>
          </p:cNvSpPr>
          <p:nvPr/>
        </p:nvSpPr>
        <p:spPr bwMode="auto">
          <a:xfrm>
            <a:off x="502919" y="999000"/>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2001 </a:t>
            </a:r>
            <a:r>
              <a:rPr lang="zh-CN" altLang="en-US" sz="2000" b="1" dirty="0">
                <a:latin typeface="微软雅黑" pitchFamily="34" charset="-122"/>
                <a:ea typeface="微软雅黑" pitchFamily="34" charset="-122"/>
              </a:rPr>
              <a:t>年初成立了 </a:t>
            </a:r>
            <a:r>
              <a:rPr lang="en-US" altLang="zh-CN" sz="2000" b="1" dirty="0">
                <a:latin typeface="微软雅黑" pitchFamily="34" charset="-122"/>
                <a:ea typeface="微软雅黑" pitchFamily="34" charset="-122"/>
              </a:rPr>
              <a:t>802.3 EFM </a:t>
            </a:r>
            <a:r>
              <a:rPr lang="zh-CN" altLang="en-US" sz="2000" b="1" dirty="0">
                <a:latin typeface="微软雅黑" pitchFamily="34" charset="-122"/>
                <a:ea typeface="微软雅黑" pitchFamily="34" charset="-122"/>
              </a:rPr>
              <a:t>工作组，专门研究高速以太网的宽带接入技术问题。</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以太网宽带接入具有以下</a:t>
            </a:r>
            <a:r>
              <a:rPr lang="zh-CN" altLang="en-US" sz="2000" b="1" dirty="0">
                <a:solidFill>
                  <a:srgbClr val="0000FF"/>
                </a:solidFill>
                <a:latin typeface="微软雅黑" pitchFamily="34" charset="-122"/>
                <a:ea typeface="微软雅黑" pitchFamily="34" charset="-122"/>
              </a:rPr>
              <a:t>特点</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可以提供</a:t>
            </a:r>
            <a:r>
              <a:rPr lang="zh-CN" altLang="en-US" sz="2000" b="1" dirty="0">
                <a:solidFill>
                  <a:srgbClr val="C00000"/>
                </a:solidFill>
                <a:latin typeface="微软雅黑" pitchFamily="34" charset="-122"/>
                <a:ea typeface="微软雅黑" pitchFamily="34" charset="-122"/>
              </a:rPr>
              <a:t>双向</a:t>
            </a:r>
            <a:r>
              <a:rPr lang="zh-CN" altLang="en-US" sz="2000" b="1" dirty="0">
                <a:latin typeface="微软雅黑" pitchFamily="34" charset="-122"/>
                <a:ea typeface="微软雅黑" pitchFamily="34" charset="-122"/>
              </a:rPr>
              <a:t>的宽带通信。</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可以根据用户对带宽的需求灵活地进行</a:t>
            </a:r>
            <a:r>
              <a:rPr lang="zh-CN" altLang="en-US" sz="2000" b="1" dirty="0">
                <a:solidFill>
                  <a:srgbClr val="C00000"/>
                </a:solidFill>
                <a:latin typeface="微软雅黑" pitchFamily="34" charset="-122"/>
                <a:ea typeface="微软雅黑" pitchFamily="34" charset="-122"/>
              </a:rPr>
              <a:t>带宽升级。</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可以实现端到端的以太网传输，中间</a:t>
            </a:r>
            <a:r>
              <a:rPr lang="zh-CN" altLang="en-US" sz="2000" b="1" dirty="0">
                <a:solidFill>
                  <a:srgbClr val="C00000"/>
                </a:solidFill>
                <a:latin typeface="微软雅黑" pitchFamily="34" charset="-122"/>
                <a:ea typeface="微软雅黑" pitchFamily="34" charset="-122"/>
              </a:rPr>
              <a:t>不需要</a:t>
            </a:r>
            <a:r>
              <a:rPr lang="zh-CN" altLang="en-US" sz="2000" b="1" dirty="0">
                <a:solidFill>
                  <a:srgbClr val="0000FF"/>
                </a:solidFill>
                <a:latin typeface="微软雅黑" pitchFamily="34" charset="-122"/>
                <a:ea typeface="微软雅黑" pitchFamily="34" charset="-122"/>
              </a:rPr>
              <a:t>再进行帧格式的转换</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但</a:t>
            </a:r>
            <a:r>
              <a:rPr lang="zh-CN" altLang="en-US" sz="2000" b="1" dirty="0">
                <a:solidFill>
                  <a:srgbClr val="C00000"/>
                </a:solidFill>
                <a:latin typeface="微软雅黑" pitchFamily="34" charset="-122"/>
                <a:ea typeface="微软雅黑" pitchFamily="34" charset="-122"/>
              </a:rPr>
              <a:t>不支持</a:t>
            </a:r>
            <a:r>
              <a:rPr lang="zh-CN" altLang="en-US" sz="2000" b="1" dirty="0">
                <a:latin typeface="微软雅黑" pitchFamily="34" charset="-122"/>
                <a:ea typeface="微软雅黑" pitchFamily="34" charset="-122"/>
              </a:rPr>
              <a:t>用户身份鉴别。</a:t>
            </a:r>
          </a:p>
        </p:txBody>
      </p:sp>
    </p:spTree>
    <p:extLst>
      <p:ext uri="{BB962C8B-B14F-4D97-AF65-F5344CB8AC3E}">
        <p14:creationId xmlns:p14="http://schemas.microsoft.com/office/powerpoint/2010/main" val="223419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xEl>
                                              <p:pRg st="3" end="3"/>
                                            </p:txEl>
                                          </p:spTgt>
                                        </p:tgtEl>
                                        <p:attrNameLst>
                                          <p:attrName>style.visibility</p:attrName>
                                        </p:attrNameLst>
                                      </p:cBhvr>
                                      <p:to>
                                        <p:strVal val="visible"/>
                                      </p:to>
                                    </p:set>
                                    <p:animEffect transition="in" filter="fade">
                                      <p:cBhvr>
                                        <p:cTn id="26" dur="1000"/>
                                        <p:tgtEl>
                                          <p:spTgt spid="7">
                                            <p:txEl>
                                              <p:pRg st="3" end="3"/>
                                            </p:txEl>
                                          </p:spTgt>
                                        </p:tgtEl>
                                      </p:cBhvr>
                                    </p:animEffect>
                                    <p:anim calcmode="lin" valueType="num">
                                      <p:cBhvr>
                                        <p:cTn id="27"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fade">
                                      <p:cBhvr>
                                        <p:cTn id="33" dur="1000"/>
                                        <p:tgtEl>
                                          <p:spTgt spid="7">
                                            <p:txEl>
                                              <p:pRg st="4" end="4"/>
                                            </p:txEl>
                                          </p:spTgt>
                                        </p:tgtEl>
                                      </p:cBhvr>
                                    </p:animEffect>
                                    <p:anim calcmode="lin" valueType="num">
                                      <p:cBhvr>
                                        <p:cTn id="34"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fade">
                                      <p:cBhvr>
                                        <p:cTn id="40" dur="1000"/>
                                        <p:tgtEl>
                                          <p:spTgt spid="7">
                                            <p:txEl>
                                              <p:pRg st="5" end="5"/>
                                            </p:txEl>
                                          </p:spTgt>
                                        </p:tgtEl>
                                      </p:cBhvr>
                                    </p:animEffect>
                                    <p:anim calcmode="lin" valueType="num">
                                      <p:cBhvr>
                                        <p:cTn id="41"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2487"/>
            <a:ext cx="8238745" cy="1951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900"/>
              </a:lnSpc>
              <a:buClr>
                <a:srgbClr val="0070C0"/>
              </a:buClr>
              <a:buFont typeface="Wingdings" pitchFamily="2" charset="2"/>
              <a:buChar char="l"/>
            </a:pPr>
            <a:r>
              <a:rPr lang="en-US" altLang="zh-CN" sz="1900" b="1" dirty="0" err="1">
                <a:solidFill>
                  <a:srgbClr val="C00000"/>
                </a:solidFill>
                <a:latin typeface="微软雅黑" pitchFamily="34" charset="-122"/>
                <a:ea typeface="微软雅黑" pitchFamily="34" charset="-122"/>
              </a:rPr>
              <a:t>PPPoE</a:t>
            </a:r>
            <a:r>
              <a:rPr lang="en-US" altLang="zh-CN" sz="1900" b="1" dirty="0">
                <a:latin typeface="微软雅黑" pitchFamily="34" charset="-122"/>
                <a:ea typeface="微软雅黑" pitchFamily="34" charset="-122"/>
              </a:rPr>
              <a:t> (PPP over Ethernet) </a:t>
            </a:r>
            <a:r>
              <a:rPr lang="zh-CN" altLang="en-US" sz="1900" b="1" dirty="0">
                <a:latin typeface="微软雅黑" pitchFamily="34" charset="-122"/>
                <a:ea typeface="微软雅黑" pitchFamily="34" charset="-122"/>
              </a:rPr>
              <a:t>：在以太网上运行 </a:t>
            </a:r>
            <a:r>
              <a:rPr lang="en-US" altLang="zh-CN" sz="1900" b="1" dirty="0">
                <a:latin typeface="微软雅黑" pitchFamily="34" charset="-122"/>
                <a:ea typeface="微软雅黑" pitchFamily="34" charset="-122"/>
              </a:rPr>
              <a:t>PPP</a:t>
            </a:r>
            <a:r>
              <a:rPr lang="zh-CN" altLang="en-US" sz="1900" b="1" dirty="0">
                <a:latin typeface="微软雅黑" pitchFamily="34" charset="-122"/>
                <a:ea typeface="微软雅黑" pitchFamily="34" charset="-122"/>
              </a:rPr>
              <a:t>。</a:t>
            </a:r>
            <a:endParaRPr lang="en-US" altLang="zh-CN" sz="1900" b="1" dirty="0">
              <a:latin typeface="微软雅黑" pitchFamily="34" charset="-122"/>
              <a:ea typeface="微软雅黑" pitchFamily="34" charset="-122"/>
            </a:endParaRP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将 </a:t>
            </a:r>
            <a:r>
              <a:rPr lang="en-US" altLang="zh-CN" sz="1900" b="1" dirty="0">
                <a:latin typeface="微软雅黑" pitchFamily="34" charset="-122"/>
                <a:ea typeface="微软雅黑" pitchFamily="34" charset="-122"/>
              </a:rPr>
              <a:t>PPP </a:t>
            </a:r>
            <a:r>
              <a:rPr lang="zh-CN" altLang="en-US" sz="1900" b="1" dirty="0">
                <a:latin typeface="微软雅黑" pitchFamily="34" charset="-122"/>
                <a:ea typeface="微软雅黑" pitchFamily="34" charset="-122"/>
              </a:rPr>
              <a:t>帧封装到以太网中来传输。</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现在的光纤宽带接入 </a:t>
            </a:r>
            <a:r>
              <a:rPr lang="en-US" altLang="zh-CN" sz="1900" b="1" dirty="0" err="1">
                <a:latin typeface="微软雅黑" pitchFamily="34" charset="-122"/>
                <a:ea typeface="微软雅黑" pitchFamily="34" charset="-122"/>
              </a:rPr>
              <a:t>FTTx</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都要使用 </a:t>
            </a:r>
            <a:r>
              <a:rPr lang="en-US" altLang="zh-CN" sz="1900" b="1" dirty="0" err="1">
                <a:latin typeface="微软雅黑" pitchFamily="34" charset="-122"/>
                <a:ea typeface="微软雅黑" pitchFamily="34" charset="-122"/>
              </a:rPr>
              <a:t>PPPoE</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的方式进行接入。</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利用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进行宽带上网时，从用户个人电脑到家中的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调制解调器之间的连接也使用 </a:t>
            </a:r>
            <a:r>
              <a:rPr lang="en-US" altLang="zh-CN" sz="1900" b="1" dirty="0">
                <a:latin typeface="微软雅黑" pitchFamily="34" charset="-122"/>
                <a:ea typeface="微软雅黑" pitchFamily="34" charset="-122"/>
              </a:rPr>
              <a:t>RJ-45 </a:t>
            </a:r>
            <a:r>
              <a:rPr lang="zh-CN" altLang="en-US" sz="1900" b="1" dirty="0">
                <a:latin typeface="微软雅黑" pitchFamily="34" charset="-122"/>
                <a:ea typeface="微软雅黑" pitchFamily="34" charset="-122"/>
              </a:rPr>
              <a:t>和 </a:t>
            </a:r>
            <a:r>
              <a:rPr lang="en-US" altLang="zh-CN" sz="1900" b="1" dirty="0">
                <a:latin typeface="微软雅黑" pitchFamily="34" charset="-122"/>
                <a:ea typeface="微软雅黑" pitchFamily="34" charset="-122"/>
              </a:rPr>
              <a:t>5 </a:t>
            </a:r>
            <a:r>
              <a:rPr lang="zh-CN" altLang="en-US" sz="1900" b="1" dirty="0">
                <a:latin typeface="微软雅黑" pitchFamily="34" charset="-122"/>
                <a:ea typeface="微软雅黑" pitchFamily="34" charset="-122"/>
              </a:rPr>
              <a:t>类线，也使用 </a:t>
            </a:r>
            <a:r>
              <a:rPr lang="en-US" altLang="zh-CN" sz="1900" b="1" dirty="0" err="1">
                <a:latin typeface="微软雅黑" pitchFamily="34" charset="-122"/>
                <a:ea typeface="微软雅黑" pitchFamily="34" charset="-122"/>
              </a:rPr>
              <a:t>PPPoE</a:t>
            </a:r>
            <a:r>
              <a:rPr lang="zh-CN" altLang="en-US" sz="1900" b="1" dirty="0">
                <a:latin typeface="微软雅黑" pitchFamily="34" charset="-122"/>
                <a:ea typeface="微软雅黑" pitchFamily="34" charset="-122"/>
              </a:rPr>
              <a:t>。</a:t>
            </a:r>
          </a:p>
        </p:txBody>
      </p:sp>
      <p:sp>
        <p:nvSpPr>
          <p:cNvPr id="6" name="AutoShape 5"/>
          <p:cNvSpPr>
            <a:spLocks noChangeArrowheads="1"/>
          </p:cNvSpPr>
          <p:nvPr/>
        </p:nvSpPr>
        <p:spPr bwMode="auto">
          <a:xfrm>
            <a:off x="502919" y="6434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4069438" y="620405"/>
            <a:ext cx="995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PPPoE</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1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xml><?xml version="1.0" encoding="utf-8"?>
<p:tagLst xmlns:a="http://schemas.openxmlformats.org/drawingml/2006/main" xmlns:r="http://schemas.openxmlformats.org/officeDocument/2006/relationships" xmlns:p="http://schemas.openxmlformats.org/presentationml/2006/main">
  <p:tag name="TIMING" val="|9.1|18.1|5.3|17.3|7.8|11.7|2.8|7.6"/>
</p:tagLst>
</file>

<file path=ppt/tags/tag5.xml><?xml version="1.0" encoding="utf-8"?>
<p:tagLst xmlns:a="http://schemas.openxmlformats.org/drawingml/2006/main" xmlns:r="http://schemas.openxmlformats.org/officeDocument/2006/relationships" xmlns:p="http://schemas.openxmlformats.org/presentationml/2006/main">
  <p:tag name="TIMING" val="|6.3|4.6|7.6|21.4|6|8.2|16.9"/>
</p:tagLst>
</file>

<file path=ppt/tags/tag6.xml><?xml version="1.0" encoding="utf-8"?>
<p:tagLst xmlns:a="http://schemas.openxmlformats.org/drawingml/2006/main" xmlns:r="http://schemas.openxmlformats.org/officeDocument/2006/relationships" xmlns:p="http://schemas.openxmlformats.org/presentationml/2006/main">
  <p:tag name="TIMING" val="|9.3|12.3|7.1|12.5|7.3|14.7|28.3"/>
</p:tagLst>
</file>

<file path=ppt/tags/tag7.xml><?xml version="1.0" encoding="utf-8"?>
<p:tagLst xmlns:a="http://schemas.openxmlformats.org/drawingml/2006/main" xmlns:r="http://schemas.openxmlformats.org/officeDocument/2006/relationships" xmlns:p="http://schemas.openxmlformats.org/presentationml/2006/main">
  <p:tag name="TIMING" val="|27.9|7.7"/>
</p:tagLst>
</file>

<file path=ppt/tags/tag8.xml><?xml version="1.0" encoding="utf-8"?>
<p:tagLst xmlns:a="http://schemas.openxmlformats.org/drawingml/2006/main" xmlns:r="http://schemas.openxmlformats.org/officeDocument/2006/relationships" xmlns:p="http://schemas.openxmlformats.org/presentationml/2006/main">
  <p:tag name="TIMING" val="|7.1|19.1|23.4"/>
</p:tagLst>
</file>

<file path=ppt/tags/tag9.xml><?xml version="1.0" encoding="utf-8"?>
<p:tagLst xmlns:a="http://schemas.openxmlformats.org/drawingml/2006/main" xmlns:r="http://schemas.openxmlformats.org/officeDocument/2006/relationships" xmlns:p="http://schemas.openxmlformats.org/presentationml/2006/main">
  <p:tag name="TIMING" val="|17.1|7.6|3.8|10.3"/>
</p:tagLst>
</file>

<file path=ppt/tags/tag10.xml><?xml version="1.0" encoding="utf-8"?>
<p:tagLst xmlns:a="http://schemas.openxmlformats.org/drawingml/2006/main" xmlns:r="http://schemas.openxmlformats.org/officeDocument/2006/relationships" xmlns:p="http://schemas.openxmlformats.org/presentationml/2006/main">
  <p:tag name="TIMING" val="|19|11.4|11.4|10.7"/>
</p:tagLst>
</file>

<file path=ppt/tags/tag11.xml><?xml version="1.0" encoding="utf-8"?>
<p:tagLst xmlns:a="http://schemas.openxmlformats.org/drawingml/2006/main" xmlns:r="http://schemas.openxmlformats.org/officeDocument/2006/relationships" xmlns:p="http://schemas.openxmlformats.org/presentationml/2006/main">
  <p:tag name="TIMING" val="|11.6|22.2"/>
</p:tagLst>
</file>

<file path=ppt/tags/tag12.xml><?xml version="1.0" encoding="utf-8"?>
<p:tagLst xmlns:a="http://schemas.openxmlformats.org/drawingml/2006/main" xmlns:r="http://schemas.openxmlformats.org/officeDocument/2006/relationships" xmlns:p="http://schemas.openxmlformats.org/presentationml/2006/main">
  <p:tag name="TIMING" val="|9.9|6.4|7.4|11.6"/>
</p:tagLst>
</file>

<file path=ppt/tags/tag13.xml><?xml version="1.0" encoding="utf-8"?>
<p:tagLst xmlns:a="http://schemas.openxmlformats.org/drawingml/2006/main" xmlns:r="http://schemas.openxmlformats.org/officeDocument/2006/relationships" xmlns:p="http://schemas.openxmlformats.org/presentationml/2006/main">
  <p:tag name="TIMING" val="|6|11.1|18|7.8"/>
</p:tagLst>
</file>

<file path=ppt/tags/tag14.xml><?xml version="1.0" encoding="utf-8"?>
<p:tagLst xmlns:a="http://schemas.openxmlformats.org/drawingml/2006/main" xmlns:r="http://schemas.openxmlformats.org/officeDocument/2006/relationships" xmlns:p="http://schemas.openxmlformats.org/presentationml/2006/main">
  <p:tag name="TIMING" val="|7|4.1|8.1|5|4.3|16.5|7"/>
</p:tagLst>
</file>

<file path=ppt/tags/tag15.xml><?xml version="1.0" encoding="utf-8"?>
<p:tagLst xmlns:a="http://schemas.openxmlformats.org/drawingml/2006/main" xmlns:r="http://schemas.openxmlformats.org/officeDocument/2006/relationships" xmlns:p="http://schemas.openxmlformats.org/presentationml/2006/main">
  <p:tag name="TIMING" val="|10.1|4.4|7.7|5.5|9.7"/>
</p:tagLst>
</file>

<file path=ppt/tags/tag16.xml><?xml version="1.0" encoding="utf-8"?>
<p:tagLst xmlns:a="http://schemas.openxmlformats.org/drawingml/2006/main" xmlns:r="http://schemas.openxmlformats.org/officeDocument/2006/relationships" xmlns:p="http://schemas.openxmlformats.org/presentationml/2006/main">
  <p:tag name="TIMING" val="|10|9.1|7.9"/>
</p:tagLst>
</file>

<file path=ppt/tags/tag17.xml><?xml version="1.0" encoding="utf-8"?>
<p:tagLst xmlns:a="http://schemas.openxmlformats.org/drawingml/2006/main" xmlns:r="http://schemas.openxmlformats.org/officeDocument/2006/relationships" xmlns:p="http://schemas.openxmlformats.org/presentationml/2006/main">
  <p:tag name="TIMING" val="|35.4"/>
</p:tagLst>
</file>

<file path=ppt/tags/tag18.xml><?xml version="1.0" encoding="utf-8"?>
<p:tagLst xmlns:a="http://schemas.openxmlformats.org/drawingml/2006/main" xmlns:r="http://schemas.openxmlformats.org/officeDocument/2006/relationships" xmlns:p="http://schemas.openxmlformats.org/presentationml/2006/main">
  <p:tag name="TIMING" val="|13.9|13.2"/>
</p:tagLst>
</file>

<file path=ppt/tags/tag19.xml><?xml version="1.0" encoding="utf-8"?>
<p:tagLst xmlns:a="http://schemas.openxmlformats.org/drawingml/2006/main" xmlns:r="http://schemas.openxmlformats.org/officeDocument/2006/relationships" xmlns:p="http://schemas.openxmlformats.org/presentationml/2006/main">
  <p:tag name="TIMING" val="|8.1|9|20.5|20.2|10.7"/>
</p:tagLst>
</file>

<file path=ppt/tags/tag20.xml><?xml version="1.0" encoding="utf-8"?>
<p:tagLst xmlns:a="http://schemas.openxmlformats.org/drawingml/2006/main" xmlns:r="http://schemas.openxmlformats.org/officeDocument/2006/relationships" xmlns:p="http://schemas.openxmlformats.org/presentationml/2006/main">
  <p:tag name="TIMING" val="|10.4|7.3|7.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ntserrat">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4830</TotalTime>
  <Words>15142</Words>
  <Application>Microsoft Office PowerPoint</Application>
  <PresentationFormat>全屏显示(16:9)</PresentationFormat>
  <Paragraphs>2109</Paragraphs>
  <Slides>135</Slides>
  <Notes>124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135</vt:i4>
      </vt:variant>
    </vt:vector>
  </HeadingPairs>
  <TitlesOfParts>
    <vt:vector size="144" baseType="lpstr">
      <vt:lpstr>宋体</vt:lpstr>
      <vt:lpstr>Arial</vt:lpstr>
      <vt:lpstr>Wingdings</vt:lpstr>
      <vt:lpstr>Calibri</vt:lpstr>
      <vt:lpstr>Montserrat</vt:lpstr>
      <vt:lpstr>微软雅黑</vt:lpstr>
      <vt:lpstr>Times New Roman</vt:lpstr>
      <vt:lpstr>Office 主题​​</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3.1.1  数据链路和帧</vt:lpstr>
      <vt:lpstr>数据链路层协议数据单元：帧</vt:lpstr>
      <vt:lpstr>3.1.2  三个基本问题 </vt:lpstr>
      <vt:lpstr>封装成帧</vt:lpstr>
      <vt:lpstr>PowerPoint 演示文稿</vt:lpstr>
      <vt:lpstr>透明传输</vt:lpstr>
      <vt:lpstr>透明传输</vt:lpstr>
      <vt:lpstr>PowerPoint 演示文稿</vt:lpstr>
      <vt:lpstr>差错检测</vt:lpstr>
      <vt:lpstr>差错检测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cn plaman</cp:lastModifiedBy>
  <cp:revision>617</cp:revision>
  <dcterms:created xsi:type="dcterms:W3CDTF">2018-07-18T08:51:30Z</dcterms:created>
  <dcterms:modified xsi:type="dcterms:W3CDTF">2026-09-07T13:14:31Z</dcterms:modified>
</cp:coreProperties>
</file>