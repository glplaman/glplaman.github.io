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tags/tag1.xml" ContentType="application/vnd.openxmlformats-officedocument.presentationml.tags+xml"/>
  <Override PartName="/ppt/notesSlides/notesSlide124.xml" ContentType="application/vnd.openxmlformats-officedocument.presentationml.notesSlide+xml"/>
  <Override PartName="/ppt/tags/tag2.xml" ContentType="application/vnd.openxmlformats-officedocument.presentationml.tags+xml"/>
  <Override PartName="/ppt/notesSlides/notesSlide125.xml" ContentType="application/vnd.openxmlformats-officedocument.presentationml.notesSlide+xml"/>
  <Override PartName="/ppt/tags/tag3.xml" ContentType="application/vnd.openxmlformats-officedocument.presentationml.tags+xml"/>
  <Override PartName="/ppt/notesSlides/notesSlide126.xml" ContentType="application/vnd.openxmlformats-officedocument.presentationml.notesSlide+xml"/>
  <Override PartName="/ppt/tags/tag4.xml" ContentType="application/vnd.openxmlformats-officedocument.presentationml.tags+xml"/>
  <Override PartName="/ppt/notesSlides/notesSlide127.xml" ContentType="application/vnd.openxmlformats-officedocument.presentationml.notesSlide+xml"/>
  <Override PartName="/ppt/tags/tag5.xml" ContentType="application/vnd.openxmlformats-officedocument.presentationml.tags+xml"/>
  <Override PartName="/ppt/notesSlides/notesSlide128.xml" ContentType="application/vnd.openxmlformats-officedocument.presentationml.notesSlide+xml"/>
  <Override PartName="/ppt/tags/tag6.xml" ContentType="application/vnd.openxmlformats-officedocument.presentationml.tags+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tags/tag7.xml" ContentType="application/vnd.openxmlformats-officedocument.presentationml.tags+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9"/>
  </p:notesMasterIdLst>
  <p:sldIdLst>
    <p:sldId id="257" r:id="rId2"/>
    <p:sldId id="693" r:id="rId3"/>
    <p:sldId id="446" r:id="rId4"/>
    <p:sldId id="449" r:id="rId5"/>
    <p:sldId id="470" r:id="rId6"/>
    <p:sldId id="450" r:id="rId7"/>
    <p:sldId id="734" r:id="rId8"/>
    <p:sldId id="735" r:id="rId9"/>
    <p:sldId id="267" r:id="rId10"/>
    <p:sldId id="268" r:id="rId11"/>
    <p:sldId id="659" r:id="rId12"/>
    <p:sldId id="468" r:id="rId13"/>
    <p:sldId id="458" r:id="rId14"/>
    <p:sldId id="736" r:id="rId15"/>
    <p:sldId id="661" r:id="rId16"/>
    <p:sldId id="663" r:id="rId17"/>
    <p:sldId id="276" r:id="rId18"/>
    <p:sldId id="277" r:id="rId19"/>
    <p:sldId id="278" r:id="rId20"/>
    <p:sldId id="279" r:id="rId21"/>
    <p:sldId id="737" r:id="rId22"/>
    <p:sldId id="471" r:id="rId23"/>
    <p:sldId id="472" r:id="rId24"/>
    <p:sldId id="473" r:id="rId25"/>
    <p:sldId id="667" r:id="rId26"/>
    <p:sldId id="475" r:id="rId27"/>
    <p:sldId id="738" r:id="rId28"/>
    <p:sldId id="694" r:id="rId29"/>
    <p:sldId id="739" r:id="rId30"/>
    <p:sldId id="696" r:id="rId31"/>
    <p:sldId id="476" r:id="rId32"/>
    <p:sldId id="668" r:id="rId33"/>
    <p:sldId id="479" r:id="rId34"/>
    <p:sldId id="740" r:id="rId35"/>
    <p:sldId id="741" r:id="rId36"/>
    <p:sldId id="742" r:id="rId37"/>
    <p:sldId id="743" r:id="rId38"/>
    <p:sldId id="744" r:id="rId39"/>
    <p:sldId id="745" r:id="rId40"/>
    <p:sldId id="746" r:id="rId41"/>
    <p:sldId id="747" r:id="rId42"/>
    <p:sldId id="748" r:id="rId43"/>
    <p:sldId id="749" r:id="rId44"/>
    <p:sldId id="750" r:id="rId45"/>
    <p:sldId id="751" r:id="rId46"/>
    <p:sldId id="752" r:id="rId47"/>
    <p:sldId id="753" r:id="rId48"/>
    <p:sldId id="754" r:id="rId49"/>
    <p:sldId id="699" r:id="rId50"/>
    <p:sldId id="755" r:id="rId51"/>
    <p:sldId id="756" r:id="rId52"/>
    <p:sldId id="757" r:id="rId53"/>
    <p:sldId id="758" r:id="rId54"/>
    <p:sldId id="759" r:id="rId55"/>
    <p:sldId id="760" r:id="rId56"/>
    <p:sldId id="761" r:id="rId57"/>
    <p:sldId id="762" r:id="rId58"/>
    <p:sldId id="763" r:id="rId59"/>
    <p:sldId id="764" r:id="rId60"/>
    <p:sldId id="765" r:id="rId61"/>
    <p:sldId id="706" r:id="rId62"/>
    <p:sldId id="766" r:id="rId63"/>
    <p:sldId id="767" r:id="rId64"/>
    <p:sldId id="768" r:id="rId65"/>
    <p:sldId id="681" r:id="rId66"/>
    <p:sldId id="682" r:id="rId67"/>
    <p:sldId id="683" r:id="rId68"/>
    <p:sldId id="684" r:id="rId69"/>
    <p:sldId id="769" r:id="rId70"/>
    <p:sldId id="770" r:id="rId71"/>
    <p:sldId id="771" r:id="rId72"/>
    <p:sldId id="772" r:id="rId73"/>
    <p:sldId id="773" r:id="rId74"/>
    <p:sldId id="774" r:id="rId75"/>
    <p:sldId id="775" r:id="rId76"/>
    <p:sldId id="776" r:id="rId77"/>
    <p:sldId id="777" r:id="rId78"/>
    <p:sldId id="778" r:id="rId79"/>
    <p:sldId id="779" r:id="rId80"/>
    <p:sldId id="780" r:id="rId81"/>
    <p:sldId id="781" r:id="rId82"/>
    <p:sldId id="712" r:id="rId83"/>
    <p:sldId id="782" r:id="rId84"/>
    <p:sldId id="783" r:id="rId85"/>
    <p:sldId id="790" r:id="rId86"/>
    <p:sldId id="656" r:id="rId87"/>
    <p:sldId id="791" r:id="rId88"/>
    <p:sldId id="792" r:id="rId89"/>
    <p:sldId id="793" r:id="rId90"/>
    <p:sldId id="794" r:id="rId91"/>
    <p:sldId id="795" r:id="rId92"/>
    <p:sldId id="796" r:id="rId93"/>
    <p:sldId id="797" r:id="rId94"/>
    <p:sldId id="662" r:id="rId95"/>
    <p:sldId id="798" r:id="rId96"/>
    <p:sldId id="799" r:id="rId97"/>
    <p:sldId id="658" r:id="rId98"/>
    <p:sldId id="800" r:id="rId99"/>
    <p:sldId id="801" r:id="rId100"/>
    <p:sldId id="660" r:id="rId101"/>
    <p:sldId id="802" r:id="rId102"/>
    <p:sldId id="803" r:id="rId103"/>
    <p:sldId id="804" r:id="rId104"/>
    <p:sldId id="805" r:id="rId105"/>
    <p:sldId id="541" r:id="rId106"/>
    <p:sldId id="542" r:id="rId107"/>
    <p:sldId id="543" r:id="rId108"/>
    <p:sldId id="784" r:id="rId109"/>
    <p:sldId id="785" r:id="rId110"/>
    <p:sldId id="786" r:id="rId111"/>
    <p:sldId id="725" r:id="rId112"/>
    <p:sldId id="787" r:id="rId113"/>
    <p:sldId id="788" r:id="rId114"/>
    <p:sldId id="789" r:id="rId115"/>
    <p:sldId id="555" r:id="rId116"/>
    <p:sldId id="557" r:id="rId117"/>
    <p:sldId id="559" r:id="rId118"/>
    <p:sldId id="560" r:id="rId119"/>
    <p:sldId id="561" r:id="rId120"/>
    <p:sldId id="562" r:id="rId121"/>
    <p:sldId id="563" r:id="rId122"/>
    <p:sldId id="723" r:id="rId123"/>
    <p:sldId id="567" r:id="rId124"/>
    <p:sldId id="566" r:id="rId125"/>
    <p:sldId id="806" r:id="rId126"/>
    <p:sldId id="807" r:id="rId127"/>
    <p:sldId id="808" r:id="rId128"/>
    <p:sldId id="809" r:id="rId129"/>
    <p:sldId id="810" r:id="rId130"/>
    <p:sldId id="811" r:id="rId131"/>
    <p:sldId id="812" r:id="rId132"/>
    <p:sldId id="813" r:id="rId133"/>
    <p:sldId id="814" r:id="rId134"/>
    <p:sldId id="815" r:id="rId135"/>
    <p:sldId id="816" r:id="rId136"/>
    <p:sldId id="817" r:id="rId137"/>
    <p:sldId id="818" r:id="rId138"/>
    <p:sldId id="819" r:id="rId139"/>
    <p:sldId id="820" r:id="rId140"/>
    <p:sldId id="821" r:id="rId141"/>
    <p:sldId id="822" r:id="rId142"/>
    <p:sldId id="823" r:id="rId143"/>
    <p:sldId id="824" r:id="rId144"/>
    <p:sldId id="825" r:id="rId145"/>
    <p:sldId id="826" r:id="rId146"/>
    <p:sldId id="827" r:id="rId147"/>
    <p:sldId id="828" r:id="rId148"/>
    <p:sldId id="829" r:id="rId149"/>
    <p:sldId id="830" r:id="rId150"/>
    <p:sldId id="831" r:id="rId151"/>
    <p:sldId id="832" r:id="rId152"/>
    <p:sldId id="833" r:id="rId153"/>
    <p:sldId id="834" r:id="rId154"/>
    <p:sldId id="835" r:id="rId155"/>
    <p:sldId id="836" r:id="rId156"/>
    <p:sldId id="837" r:id="rId157"/>
    <p:sldId id="838" r:id="rId158"/>
    <p:sldId id="839" r:id="rId159"/>
    <p:sldId id="840" r:id="rId160"/>
    <p:sldId id="841" r:id="rId161"/>
    <p:sldId id="843" r:id="rId162"/>
    <p:sldId id="853" r:id="rId163"/>
    <p:sldId id="866" r:id="rId164"/>
    <p:sldId id="867" r:id="rId165"/>
    <p:sldId id="868" r:id="rId166"/>
    <p:sldId id="869" r:id="rId167"/>
    <p:sldId id="865" r:id="rId168"/>
    <p:sldId id="870" r:id="rId169"/>
    <p:sldId id="871" r:id="rId170"/>
    <p:sldId id="872" r:id="rId171"/>
    <p:sldId id="873" r:id="rId172"/>
    <p:sldId id="864" r:id="rId173"/>
    <p:sldId id="875" r:id="rId174"/>
    <p:sldId id="876" r:id="rId175"/>
    <p:sldId id="877" r:id="rId176"/>
    <p:sldId id="878" r:id="rId177"/>
    <p:sldId id="879" r:id="rId178"/>
    <p:sldId id="880" r:id="rId179"/>
    <p:sldId id="881" r:id="rId180"/>
    <p:sldId id="882" r:id="rId181"/>
    <p:sldId id="883" r:id="rId182"/>
    <p:sldId id="884" r:id="rId183"/>
    <p:sldId id="874" r:id="rId184"/>
    <p:sldId id="844" r:id="rId185"/>
    <p:sldId id="845" r:id="rId186"/>
    <p:sldId id="846" r:id="rId187"/>
    <p:sldId id="847" r:id="rId188"/>
    <p:sldId id="848" r:id="rId189"/>
    <p:sldId id="849" r:id="rId190"/>
    <p:sldId id="850" r:id="rId191"/>
    <p:sldId id="851" r:id="rId192"/>
    <p:sldId id="854" r:id="rId193"/>
    <p:sldId id="859" r:id="rId194"/>
    <p:sldId id="860" r:id="rId195"/>
    <p:sldId id="861" r:id="rId196"/>
    <p:sldId id="863" r:id="rId197"/>
    <p:sldId id="862" r:id="rId198"/>
  </p:sldIdLst>
  <p:sldSz cx="9144000" cy="5143500" type="screen16x9"/>
  <p:notesSz cx="6858000" cy="9144000"/>
  <p:embeddedFontLst>
    <p:embeddedFont>
      <p:font typeface="Cambria Math" panose="02040503050406030204" pitchFamily="18" charset="0"/>
      <p:regular r:id="rId200"/>
    </p:embeddedFont>
    <p:embeddedFont>
      <p:font typeface="微软雅黑" panose="020B0503020204020204" pitchFamily="34" charset="-122"/>
      <p:regular r:id="rId201"/>
      <p:bold r:id="rId202"/>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C3E3F9"/>
    <a:srgbClr val="FFFF00"/>
    <a:srgbClr val="00FF99"/>
    <a:srgbClr val="3366FF"/>
    <a:srgbClr val="0000CC"/>
    <a:srgbClr val="FFFF99"/>
    <a:srgbClr val="A50021"/>
    <a:srgbClr val="CC66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0" autoAdjust="0"/>
    <p:restoredTop sz="73893" autoAdjust="0"/>
  </p:normalViewPr>
  <p:slideViewPr>
    <p:cSldViewPr snapToGrid="0">
      <p:cViewPr varScale="1">
        <p:scale>
          <a:sx n="74" d="100"/>
          <a:sy n="74" d="100"/>
        </p:scale>
        <p:origin x="838" y="2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slide" Target="slides/slide185.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slide" Target="slides/slide196.xml"/><Relationship Id="rId206" Type="http://schemas.openxmlformats.org/officeDocument/2006/relationships/tableStyles" Target="tableStyles.xml"/><Relationship Id="rId201" Type="http://schemas.openxmlformats.org/officeDocument/2006/relationships/font" Target="fonts/font2.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font" Target="fonts/font3.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notesMaster" Target="notesMasters/notesMaster1.xml"/><Relationship Id="rId203"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204"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font" Target="fonts/font1.fntdata"/></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A9A4429-076D-4858-8D8F-88C39D4CCEEC}" type="doc">
      <dgm:prSet loTypeId="urn:microsoft.com/office/officeart/2005/8/layout/process4" loCatId="process" qsTypeId="urn:microsoft.com/office/officeart/2005/8/quickstyle/simple4" qsCatId="simple" csTypeId="urn:microsoft.com/office/officeart/2005/8/colors/colorful2" csCatId="colorful" phldr="1"/>
      <dgm:spPr/>
      <dgm:t>
        <a:bodyPr/>
        <a:lstStyle/>
        <a:p>
          <a:endParaRPr lang="zh-CN" altLang="en-US"/>
        </a:p>
      </dgm:t>
    </dgm:pt>
    <dgm:pt modelId="{3947F608-ABD1-4FAB-9C0B-DE329E429A37}">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1</a:t>
          </a:r>
          <a:r>
            <a:rPr lang="zh-CN" altLang="en-US" sz="1800" b="1" dirty="0">
              <a:solidFill>
                <a:schemeClr val="bg1"/>
              </a:solidFill>
              <a:latin typeface="微软雅黑" panose="020B0503020204020204" pitchFamily="34" charset="-122"/>
              <a:ea typeface="微软雅黑" panose="020B0503020204020204" pitchFamily="34" charset="-122"/>
            </a:rPr>
            <a:t>，监测</a:t>
          </a:r>
        </a:p>
      </dgm:t>
    </dgm:pt>
    <dgm:pt modelId="{44CB9315-4D10-4A42-8F72-3E9848B40F7E}" type="par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9F111A3-8B10-4CBC-8988-6D6887B08325}" type="sib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B1C92E2-7636-49C1-BF40-059D1DCC39AD}">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2</a:t>
          </a:r>
          <a:r>
            <a:rPr lang="zh-CN" altLang="en-US" sz="1800" b="1" dirty="0">
              <a:solidFill>
                <a:schemeClr val="bg1"/>
              </a:solidFill>
              <a:latin typeface="微软雅黑" panose="020B0503020204020204" pitchFamily="34" charset="-122"/>
              <a:ea typeface="微软雅黑" panose="020B0503020204020204" pitchFamily="34" charset="-122"/>
            </a:rPr>
            <a:t>，传送</a:t>
          </a:r>
        </a:p>
      </dgm:t>
    </dgm:pt>
    <dgm:pt modelId="{21AAF4E5-69AF-4C41-93F3-EC6C16982352}" type="par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75B598-83FA-4739-BC24-308DF11DC7CA}" type="sib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FEC3037-4009-4C92-8BB3-BA004A9EDEF3}">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3</a:t>
          </a:r>
          <a:r>
            <a:rPr lang="zh-CN" altLang="en-US" sz="1800" b="1" dirty="0">
              <a:solidFill>
                <a:schemeClr val="bg1"/>
              </a:solidFill>
              <a:latin typeface="微软雅黑" panose="020B0503020204020204" pitchFamily="34" charset="-122"/>
              <a:ea typeface="微软雅黑" panose="020B0503020204020204" pitchFamily="34" charset="-122"/>
            </a:rPr>
            <a:t>，调整</a:t>
          </a:r>
        </a:p>
      </dgm:t>
    </dgm:pt>
    <dgm:pt modelId="{299766ED-4FD8-49B8-8966-BB112C1AF417}" type="par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62DCE1-5C72-4E17-8F99-D370708BAF3E}" type="sib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2AA590A-EE21-4EB6-BB9F-B28697A25CB4}">
      <dgm:prSet phldrT="[文本]" custT="1"/>
      <dgm:spPr/>
      <dgm:t>
        <a:bodyPr/>
        <a:lstStyle/>
        <a:p>
          <a:r>
            <a:rPr lang="zh-CN" altLang="en-US" sz="1600" b="1" dirty="0">
              <a:latin typeface="微软雅黑" panose="020B0503020204020204" pitchFamily="34" charset="-122"/>
              <a:ea typeface="微软雅黑" panose="020B0503020204020204" pitchFamily="34" charset="-122"/>
            </a:rPr>
            <a:t>监测网络系统，检测拥塞在何时、何处发生。</a:t>
          </a:r>
        </a:p>
      </dgm:t>
    </dgm:pt>
    <dgm:pt modelId="{0C98080D-3654-474A-825B-D81CD9A72ADE}" type="parTrans" cxnId="{F0F6B874-547A-491D-B7F3-72295B08FF37}">
      <dgm:prSet/>
      <dgm:spPr/>
      <dgm:t>
        <a:bodyPr/>
        <a:lstStyle/>
        <a:p>
          <a:endParaRPr lang="zh-CN" altLang="en-US"/>
        </a:p>
      </dgm:t>
    </dgm:pt>
    <dgm:pt modelId="{F55A7609-F61D-45B1-8BFC-84CC6700C8D4}" type="sibTrans" cxnId="{F0F6B874-547A-491D-B7F3-72295B08FF37}">
      <dgm:prSet/>
      <dgm:spPr/>
      <dgm:t>
        <a:bodyPr/>
        <a:lstStyle/>
        <a:p>
          <a:endParaRPr lang="zh-CN" altLang="en-US"/>
        </a:p>
      </dgm:t>
    </dgm:pt>
    <dgm:pt modelId="{4CA39C50-B6AD-43B9-8AA3-4AB1AB59AC80}">
      <dgm:prSet phldrT="[文本]" custT="1"/>
      <dgm:spPr/>
      <dgm:t>
        <a:bodyPr/>
        <a:lstStyle/>
        <a:p>
          <a:r>
            <a:rPr lang="zh-CN" altLang="en-US" sz="1600" b="1" dirty="0">
              <a:latin typeface="微软雅黑" panose="020B0503020204020204" pitchFamily="34" charset="-122"/>
              <a:ea typeface="微软雅黑" panose="020B0503020204020204" pitchFamily="34" charset="-122"/>
            </a:rPr>
            <a:t>将拥塞发生的信息传送到可采取行动的地方。</a:t>
          </a:r>
        </a:p>
      </dgm:t>
    </dgm:pt>
    <dgm:pt modelId="{84A258E1-F007-4F07-8C44-4F27BB480876}" type="parTrans" cxnId="{A52CF45B-6B18-4411-9839-89F985A7649D}">
      <dgm:prSet/>
      <dgm:spPr/>
      <dgm:t>
        <a:bodyPr/>
        <a:lstStyle/>
        <a:p>
          <a:endParaRPr lang="zh-CN" altLang="en-US"/>
        </a:p>
      </dgm:t>
    </dgm:pt>
    <dgm:pt modelId="{A854CB13-5B4C-47C5-ACEA-5A400774CEFF}" type="sibTrans" cxnId="{A52CF45B-6B18-4411-9839-89F985A7649D}">
      <dgm:prSet/>
      <dgm:spPr/>
      <dgm:t>
        <a:bodyPr/>
        <a:lstStyle/>
        <a:p>
          <a:endParaRPr lang="zh-CN" altLang="en-US"/>
        </a:p>
      </dgm:t>
    </dgm:pt>
    <dgm:pt modelId="{59D49692-B4B1-4D68-A9E2-E3D245C6255F}">
      <dgm:prSet phldrT="[文本]" custT="1"/>
      <dgm:spPr/>
      <dgm:t>
        <a:bodyPr/>
        <a:lstStyle/>
        <a:p>
          <a:r>
            <a:rPr lang="zh-CN" altLang="en-US" sz="1600" b="1" dirty="0">
              <a:latin typeface="微软雅黑" panose="020B0503020204020204" pitchFamily="34" charset="-122"/>
              <a:ea typeface="微软雅黑" panose="020B0503020204020204" pitchFamily="34" charset="-122"/>
            </a:rPr>
            <a:t>调整网络系统的运行以解决出现的问题。</a:t>
          </a:r>
        </a:p>
      </dgm:t>
    </dgm:pt>
    <dgm:pt modelId="{17E9933C-7CE1-4429-A3B4-A3589880FB60}" type="parTrans" cxnId="{6CA83F09-C467-488E-869D-ABC010CAF2D8}">
      <dgm:prSet/>
      <dgm:spPr/>
      <dgm:t>
        <a:bodyPr/>
        <a:lstStyle/>
        <a:p>
          <a:endParaRPr lang="zh-CN" altLang="en-US"/>
        </a:p>
      </dgm:t>
    </dgm:pt>
    <dgm:pt modelId="{7F25A2CD-3124-47ED-9234-CB2EC135A7DC}" type="sibTrans" cxnId="{6CA83F09-C467-488E-869D-ABC010CAF2D8}">
      <dgm:prSet/>
      <dgm:spPr/>
      <dgm:t>
        <a:bodyPr/>
        <a:lstStyle/>
        <a:p>
          <a:endParaRPr lang="zh-CN" altLang="en-US"/>
        </a:p>
      </dgm:t>
    </dgm:pt>
    <dgm:pt modelId="{2286B00D-FCEB-4810-B271-7980421C2465}" type="pres">
      <dgm:prSet presAssocID="{DA9A4429-076D-4858-8D8F-88C39D4CCEEC}" presName="Name0" presStyleCnt="0">
        <dgm:presLayoutVars>
          <dgm:dir/>
          <dgm:animLvl val="lvl"/>
          <dgm:resizeHandles val="exact"/>
        </dgm:presLayoutVars>
      </dgm:prSet>
      <dgm:spPr/>
    </dgm:pt>
    <dgm:pt modelId="{2FBF6006-4AED-459B-8F63-678827403CA9}" type="pres">
      <dgm:prSet presAssocID="{BFEC3037-4009-4C92-8BB3-BA004A9EDEF3}" presName="boxAndChildren" presStyleCnt="0"/>
      <dgm:spPr/>
    </dgm:pt>
    <dgm:pt modelId="{61E0189D-AC2C-4458-BB6D-CE80D867E62E}" type="pres">
      <dgm:prSet presAssocID="{BFEC3037-4009-4C92-8BB3-BA004A9EDEF3}" presName="parentTextBox" presStyleLbl="node1" presStyleIdx="0" presStyleCnt="3"/>
      <dgm:spPr/>
    </dgm:pt>
    <dgm:pt modelId="{6CB4AA41-5371-4B42-9534-5C50524AC84F}" type="pres">
      <dgm:prSet presAssocID="{BFEC3037-4009-4C92-8BB3-BA004A9EDEF3}" presName="entireBox" presStyleLbl="node1" presStyleIdx="0" presStyleCnt="3"/>
      <dgm:spPr/>
    </dgm:pt>
    <dgm:pt modelId="{EF3A0D82-70E5-4211-B583-833B59D3D5B1}" type="pres">
      <dgm:prSet presAssocID="{BFEC3037-4009-4C92-8BB3-BA004A9EDEF3}" presName="descendantBox" presStyleCnt="0"/>
      <dgm:spPr/>
    </dgm:pt>
    <dgm:pt modelId="{7AD1C28F-030D-4602-84E6-F93CC486F863}" type="pres">
      <dgm:prSet presAssocID="{59D49692-B4B1-4D68-A9E2-E3D245C6255F}" presName="childTextBox" presStyleLbl="fgAccFollowNode1" presStyleIdx="0" presStyleCnt="3">
        <dgm:presLayoutVars>
          <dgm:bulletEnabled val="1"/>
        </dgm:presLayoutVars>
      </dgm:prSet>
      <dgm:spPr/>
    </dgm:pt>
    <dgm:pt modelId="{548CA5A2-2EC9-4CCB-90F0-ED3F5DB25203}" type="pres">
      <dgm:prSet presAssocID="{E375B598-83FA-4739-BC24-308DF11DC7CA}" presName="sp" presStyleCnt="0"/>
      <dgm:spPr/>
    </dgm:pt>
    <dgm:pt modelId="{E88A927F-314E-494F-B4B3-47F8024FA7EE}" type="pres">
      <dgm:prSet presAssocID="{4B1C92E2-7636-49C1-BF40-059D1DCC39AD}" presName="arrowAndChildren" presStyleCnt="0"/>
      <dgm:spPr/>
    </dgm:pt>
    <dgm:pt modelId="{AF7D01B2-BC2D-433A-8E10-8649D35D0293}" type="pres">
      <dgm:prSet presAssocID="{4B1C92E2-7636-49C1-BF40-059D1DCC39AD}" presName="parentTextArrow" presStyleLbl="node1" presStyleIdx="0" presStyleCnt="3"/>
      <dgm:spPr/>
    </dgm:pt>
    <dgm:pt modelId="{DC00D219-7831-4F88-9472-DCEE38BA17C2}" type="pres">
      <dgm:prSet presAssocID="{4B1C92E2-7636-49C1-BF40-059D1DCC39AD}" presName="arrow" presStyleLbl="node1" presStyleIdx="1" presStyleCnt="3"/>
      <dgm:spPr/>
    </dgm:pt>
    <dgm:pt modelId="{2105EC85-3522-4F98-B7D3-9E6A3A276794}" type="pres">
      <dgm:prSet presAssocID="{4B1C92E2-7636-49C1-BF40-059D1DCC39AD}" presName="descendantArrow" presStyleCnt="0"/>
      <dgm:spPr/>
    </dgm:pt>
    <dgm:pt modelId="{37CDBDB6-2170-404B-8F3F-363B34CA7CAF}" type="pres">
      <dgm:prSet presAssocID="{4CA39C50-B6AD-43B9-8AA3-4AB1AB59AC80}" presName="childTextArrow" presStyleLbl="fgAccFollowNode1" presStyleIdx="1" presStyleCnt="3">
        <dgm:presLayoutVars>
          <dgm:bulletEnabled val="1"/>
        </dgm:presLayoutVars>
      </dgm:prSet>
      <dgm:spPr/>
    </dgm:pt>
    <dgm:pt modelId="{5210526D-0F2D-4B5A-B8DD-A7BAED0A6C55}" type="pres">
      <dgm:prSet presAssocID="{59F111A3-8B10-4CBC-8988-6D6887B08325}" presName="sp" presStyleCnt="0"/>
      <dgm:spPr/>
    </dgm:pt>
    <dgm:pt modelId="{EDD5798D-DC70-4992-B6D8-B3932DF1CB09}" type="pres">
      <dgm:prSet presAssocID="{3947F608-ABD1-4FAB-9C0B-DE329E429A37}" presName="arrowAndChildren" presStyleCnt="0"/>
      <dgm:spPr/>
    </dgm:pt>
    <dgm:pt modelId="{092FD4CA-400B-4A96-B39D-0C58C1B0630A}" type="pres">
      <dgm:prSet presAssocID="{3947F608-ABD1-4FAB-9C0B-DE329E429A37}" presName="parentTextArrow" presStyleLbl="node1" presStyleIdx="1" presStyleCnt="3"/>
      <dgm:spPr/>
    </dgm:pt>
    <dgm:pt modelId="{021834F7-9CCD-4967-A129-E4F8A64E9A64}" type="pres">
      <dgm:prSet presAssocID="{3947F608-ABD1-4FAB-9C0B-DE329E429A37}" presName="arrow" presStyleLbl="node1" presStyleIdx="2" presStyleCnt="3"/>
      <dgm:spPr/>
    </dgm:pt>
    <dgm:pt modelId="{4B0C8B5F-B57F-4270-A69A-4A528C7EFD6B}" type="pres">
      <dgm:prSet presAssocID="{3947F608-ABD1-4FAB-9C0B-DE329E429A37}" presName="descendantArrow" presStyleCnt="0"/>
      <dgm:spPr/>
    </dgm:pt>
    <dgm:pt modelId="{131D3D73-943A-4F48-82DD-E5FF9CD6CF04}" type="pres">
      <dgm:prSet presAssocID="{42AA590A-EE21-4EB6-BB9F-B28697A25CB4}" presName="childTextArrow" presStyleLbl="fgAccFollowNode1" presStyleIdx="2" presStyleCnt="3">
        <dgm:presLayoutVars>
          <dgm:bulletEnabled val="1"/>
        </dgm:presLayoutVars>
      </dgm:prSet>
      <dgm:spPr/>
    </dgm:pt>
  </dgm:ptLst>
  <dgm:cxnLst>
    <dgm:cxn modelId="{9A0A1A06-B9B1-4D90-B09B-A11586934B87}" type="presOf" srcId="{4B1C92E2-7636-49C1-BF40-059D1DCC39AD}" destId="{DC00D219-7831-4F88-9472-DCEE38BA17C2}" srcOrd="1" destOrd="0" presId="urn:microsoft.com/office/officeart/2005/8/layout/process4"/>
    <dgm:cxn modelId="{53FDCF08-CDCF-4C3F-8C30-41778A598BBA}" type="presOf" srcId="{BFEC3037-4009-4C92-8BB3-BA004A9EDEF3}" destId="{6CB4AA41-5371-4B42-9534-5C50524AC84F}" srcOrd="1" destOrd="0" presId="urn:microsoft.com/office/officeart/2005/8/layout/process4"/>
    <dgm:cxn modelId="{6CA83F09-C467-488E-869D-ABC010CAF2D8}" srcId="{BFEC3037-4009-4C92-8BB3-BA004A9EDEF3}" destId="{59D49692-B4B1-4D68-A9E2-E3D245C6255F}" srcOrd="0" destOrd="0" parTransId="{17E9933C-7CE1-4429-A3B4-A3589880FB60}" sibTransId="{7F25A2CD-3124-47ED-9234-CB2EC135A7DC}"/>
    <dgm:cxn modelId="{3BB6C109-83DA-4E9E-9557-5D1A6489A0D7}" type="presOf" srcId="{DA9A4429-076D-4858-8D8F-88C39D4CCEEC}" destId="{2286B00D-FCEB-4810-B271-7980421C2465}" srcOrd="0" destOrd="0" presId="urn:microsoft.com/office/officeart/2005/8/layout/process4"/>
    <dgm:cxn modelId="{1DCB8519-3671-4A11-987F-101833158C0A}" srcId="{DA9A4429-076D-4858-8D8F-88C39D4CCEEC}" destId="{BFEC3037-4009-4C92-8BB3-BA004A9EDEF3}" srcOrd="2" destOrd="0" parTransId="{299766ED-4FD8-49B8-8966-BB112C1AF417}" sibTransId="{E362DCE1-5C72-4E17-8F99-D370708BAF3E}"/>
    <dgm:cxn modelId="{4AD52D27-DA43-4854-9E38-64A5CB34D58E}" type="presOf" srcId="{59D49692-B4B1-4D68-A9E2-E3D245C6255F}" destId="{7AD1C28F-030D-4602-84E6-F93CC486F863}" srcOrd="0" destOrd="0" presId="urn:microsoft.com/office/officeart/2005/8/layout/process4"/>
    <dgm:cxn modelId="{A52CF45B-6B18-4411-9839-89F985A7649D}" srcId="{4B1C92E2-7636-49C1-BF40-059D1DCC39AD}" destId="{4CA39C50-B6AD-43B9-8AA3-4AB1AB59AC80}" srcOrd="0" destOrd="0" parTransId="{84A258E1-F007-4F07-8C44-4F27BB480876}" sibTransId="{A854CB13-5B4C-47C5-ACEA-5A400774CEFF}"/>
    <dgm:cxn modelId="{E84B9572-2768-4579-8818-5044E41255F7}" type="presOf" srcId="{4CA39C50-B6AD-43B9-8AA3-4AB1AB59AC80}" destId="{37CDBDB6-2170-404B-8F3F-363B34CA7CAF}" srcOrd="0" destOrd="0" presId="urn:microsoft.com/office/officeart/2005/8/layout/process4"/>
    <dgm:cxn modelId="{F0F6B874-547A-491D-B7F3-72295B08FF37}" srcId="{3947F608-ABD1-4FAB-9C0B-DE329E429A37}" destId="{42AA590A-EE21-4EB6-BB9F-B28697A25CB4}" srcOrd="0" destOrd="0" parTransId="{0C98080D-3654-474A-825B-D81CD9A72ADE}" sibTransId="{F55A7609-F61D-45B1-8BFC-84CC6700C8D4}"/>
    <dgm:cxn modelId="{D5878276-BA0A-41CF-9C42-C7DB676582A4}" type="presOf" srcId="{3947F608-ABD1-4FAB-9C0B-DE329E429A37}" destId="{021834F7-9CCD-4967-A129-E4F8A64E9A64}" srcOrd="1" destOrd="0" presId="urn:microsoft.com/office/officeart/2005/8/layout/process4"/>
    <dgm:cxn modelId="{BE30047A-FD80-4334-BA7C-5BD67CB291B4}" type="presOf" srcId="{4B1C92E2-7636-49C1-BF40-059D1DCC39AD}" destId="{AF7D01B2-BC2D-433A-8E10-8649D35D0293}" srcOrd="0" destOrd="0" presId="urn:microsoft.com/office/officeart/2005/8/layout/process4"/>
    <dgm:cxn modelId="{9B755F7D-538C-4834-A609-4F93FC5B27C6}" type="presOf" srcId="{3947F608-ABD1-4FAB-9C0B-DE329E429A37}" destId="{092FD4CA-400B-4A96-B39D-0C58C1B0630A}" srcOrd="0" destOrd="0" presId="urn:microsoft.com/office/officeart/2005/8/layout/process4"/>
    <dgm:cxn modelId="{5FFBF780-EF82-4C7B-B65D-7D169A22BC08}" srcId="{DA9A4429-076D-4858-8D8F-88C39D4CCEEC}" destId="{3947F608-ABD1-4FAB-9C0B-DE329E429A37}" srcOrd="0" destOrd="0" parTransId="{44CB9315-4D10-4A42-8F72-3E9848B40F7E}" sibTransId="{59F111A3-8B10-4CBC-8988-6D6887B08325}"/>
    <dgm:cxn modelId="{9B78F294-58B9-473B-8C21-7F51266D5975}" srcId="{DA9A4429-076D-4858-8D8F-88C39D4CCEEC}" destId="{4B1C92E2-7636-49C1-BF40-059D1DCC39AD}" srcOrd="1" destOrd="0" parTransId="{21AAF4E5-69AF-4C41-93F3-EC6C16982352}" sibTransId="{E375B598-83FA-4739-BC24-308DF11DC7CA}"/>
    <dgm:cxn modelId="{A88545A1-BB63-4FF4-B28B-E7FED65FA6F0}" type="presOf" srcId="{42AA590A-EE21-4EB6-BB9F-B28697A25CB4}" destId="{131D3D73-943A-4F48-82DD-E5FF9CD6CF04}" srcOrd="0" destOrd="0" presId="urn:microsoft.com/office/officeart/2005/8/layout/process4"/>
    <dgm:cxn modelId="{A46303C5-3B31-4B58-AA0A-704688CDED60}" type="presOf" srcId="{BFEC3037-4009-4C92-8BB3-BA004A9EDEF3}" destId="{61E0189D-AC2C-4458-BB6D-CE80D867E62E}" srcOrd="0" destOrd="0" presId="urn:microsoft.com/office/officeart/2005/8/layout/process4"/>
    <dgm:cxn modelId="{55803B55-3F5F-46B1-A67D-4FE25D058A92}" type="presParOf" srcId="{2286B00D-FCEB-4810-B271-7980421C2465}" destId="{2FBF6006-4AED-459B-8F63-678827403CA9}" srcOrd="0" destOrd="0" presId="urn:microsoft.com/office/officeart/2005/8/layout/process4"/>
    <dgm:cxn modelId="{ED1BDFC8-9156-4101-AC95-7E3079A5C89A}" type="presParOf" srcId="{2FBF6006-4AED-459B-8F63-678827403CA9}" destId="{61E0189D-AC2C-4458-BB6D-CE80D867E62E}" srcOrd="0" destOrd="0" presId="urn:microsoft.com/office/officeart/2005/8/layout/process4"/>
    <dgm:cxn modelId="{31059BF7-99FB-43E1-AEB5-6A730E00A930}" type="presParOf" srcId="{2FBF6006-4AED-459B-8F63-678827403CA9}" destId="{6CB4AA41-5371-4B42-9534-5C50524AC84F}" srcOrd="1" destOrd="0" presId="urn:microsoft.com/office/officeart/2005/8/layout/process4"/>
    <dgm:cxn modelId="{90740B48-36A5-4173-A28C-ED0C3F1ADB23}" type="presParOf" srcId="{2FBF6006-4AED-459B-8F63-678827403CA9}" destId="{EF3A0D82-70E5-4211-B583-833B59D3D5B1}" srcOrd="2" destOrd="0" presId="urn:microsoft.com/office/officeart/2005/8/layout/process4"/>
    <dgm:cxn modelId="{E269CEDF-5F34-4736-BC6E-B4593202D218}" type="presParOf" srcId="{EF3A0D82-70E5-4211-B583-833B59D3D5B1}" destId="{7AD1C28F-030D-4602-84E6-F93CC486F863}" srcOrd="0" destOrd="0" presId="urn:microsoft.com/office/officeart/2005/8/layout/process4"/>
    <dgm:cxn modelId="{81661390-1F69-49E9-88F3-0C40E8213CE5}" type="presParOf" srcId="{2286B00D-FCEB-4810-B271-7980421C2465}" destId="{548CA5A2-2EC9-4CCB-90F0-ED3F5DB25203}" srcOrd="1" destOrd="0" presId="urn:microsoft.com/office/officeart/2005/8/layout/process4"/>
    <dgm:cxn modelId="{E7722B6B-24D3-4927-B24E-80C990998D93}" type="presParOf" srcId="{2286B00D-FCEB-4810-B271-7980421C2465}" destId="{E88A927F-314E-494F-B4B3-47F8024FA7EE}" srcOrd="2" destOrd="0" presId="urn:microsoft.com/office/officeart/2005/8/layout/process4"/>
    <dgm:cxn modelId="{FAA2CC2B-CA76-44DF-B5E9-5E6B2BA5EE3A}" type="presParOf" srcId="{E88A927F-314E-494F-B4B3-47F8024FA7EE}" destId="{AF7D01B2-BC2D-433A-8E10-8649D35D0293}" srcOrd="0" destOrd="0" presId="urn:microsoft.com/office/officeart/2005/8/layout/process4"/>
    <dgm:cxn modelId="{A156E01D-94A0-4166-8A25-7B7206493F65}" type="presParOf" srcId="{E88A927F-314E-494F-B4B3-47F8024FA7EE}" destId="{DC00D219-7831-4F88-9472-DCEE38BA17C2}" srcOrd="1" destOrd="0" presId="urn:microsoft.com/office/officeart/2005/8/layout/process4"/>
    <dgm:cxn modelId="{38937B28-7926-4CA6-805F-927EC0AA743E}" type="presParOf" srcId="{E88A927F-314E-494F-B4B3-47F8024FA7EE}" destId="{2105EC85-3522-4F98-B7D3-9E6A3A276794}" srcOrd="2" destOrd="0" presId="urn:microsoft.com/office/officeart/2005/8/layout/process4"/>
    <dgm:cxn modelId="{1E5E020C-823A-45F8-AE0F-FF57350F9DE3}" type="presParOf" srcId="{2105EC85-3522-4F98-B7D3-9E6A3A276794}" destId="{37CDBDB6-2170-404B-8F3F-363B34CA7CAF}" srcOrd="0" destOrd="0" presId="urn:microsoft.com/office/officeart/2005/8/layout/process4"/>
    <dgm:cxn modelId="{CE264962-ADBC-44A7-8D41-3D1BB08E325F}" type="presParOf" srcId="{2286B00D-FCEB-4810-B271-7980421C2465}" destId="{5210526D-0F2D-4B5A-B8DD-A7BAED0A6C55}" srcOrd="3" destOrd="0" presId="urn:microsoft.com/office/officeart/2005/8/layout/process4"/>
    <dgm:cxn modelId="{13DC494B-5DD8-4D75-8AF1-60E0BA87A1FD}" type="presParOf" srcId="{2286B00D-FCEB-4810-B271-7980421C2465}" destId="{EDD5798D-DC70-4992-B6D8-B3932DF1CB09}" srcOrd="4" destOrd="0" presId="urn:microsoft.com/office/officeart/2005/8/layout/process4"/>
    <dgm:cxn modelId="{C6EE832E-F94E-48F1-BF96-FA7757D90066}" type="presParOf" srcId="{EDD5798D-DC70-4992-B6D8-B3932DF1CB09}" destId="{092FD4CA-400B-4A96-B39D-0C58C1B0630A}" srcOrd="0" destOrd="0" presId="urn:microsoft.com/office/officeart/2005/8/layout/process4"/>
    <dgm:cxn modelId="{394B3FF1-12AB-43E0-A05D-85AA72D86332}" type="presParOf" srcId="{EDD5798D-DC70-4992-B6D8-B3932DF1CB09}" destId="{021834F7-9CCD-4967-A129-E4F8A64E9A64}" srcOrd="1" destOrd="0" presId="urn:microsoft.com/office/officeart/2005/8/layout/process4"/>
    <dgm:cxn modelId="{0A581534-DB42-4CEA-9AC9-59850C56396E}" type="presParOf" srcId="{EDD5798D-DC70-4992-B6D8-B3932DF1CB09}" destId="{4B0C8B5F-B57F-4270-A69A-4A528C7EFD6B}" srcOrd="2" destOrd="0" presId="urn:microsoft.com/office/officeart/2005/8/layout/process4"/>
    <dgm:cxn modelId="{37F0E545-D07C-4E8D-8E34-4C49C38E5F5E}" type="presParOf" srcId="{4B0C8B5F-B57F-4270-A69A-4A528C7EFD6B}" destId="{131D3D73-943A-4F48-82DD-E5FF9CD6CF04}"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A9A4429-076D-4858-8D8F-88C39D4CCEEC}" type="doc">
      <dgm:prSet loTypeId="urn:microsoft.com/office/officeart/2005/8/layout/process4" loCatId="process" qsTypeId="urn:microsoft.com/office/officeart/2005/8/quickstyle/simple4" qsCatId="simple" csTypeId="urn:microsoft.com/office/officeart/2005/8/colors/colorful2" csCatId="colorful" phldr="1"/>
      <dgm:spPr/>
      <dgm:t>
        <a:bodyPr/>
        <a:lstStyle/>
        <a:p>
          <a:endParaRPr lang="zh-CN" altLang="en-US"/>
        </a:p>
      </dgm:t>
    </dgm:pt>
    <dgm:pt modelId="{3947F608-ABD1-4FAB-9C0B-DE329E429A37}">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1</a:t>
          </a:r>
          <a:r>
            <a:rPr lang="zh-CN" altLang="en-US" sz="1800" b="1" dirty="0">
              <a:solidFill>
                <a:schemeClr val="bg1"/>
              </a:solidFill>
              <a:latin typeface="微软雅黑" panose="020B0503020204020204" pitchFamily="34" charset="-122"/>
              <a:ea typeface="微软雅黑" panose="020B0503020204020204" pitchFamily="34" charset="-122"/>
            </a:rPr>
            <a:t>，监测</a:t>
          </a:r>
        </a:p>
      </dgm:t>
    </dgm:pt>
    <dgm:pt modelId="{44CB9315-4D10-4A42-8F72-3E9848B40F7E}" type="par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9F111A3-8B10-4CBC-8988-6D6887B08325}" type="sib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B1C92E2-7636-49C1-BF40-059D1DCC39AD}">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2</a:t>
          </a:r>
          <a:r>
            <a:rPr lang="zh-CN" altLang="en-US" sz="1800" b="1" dirty="0">
              <a:solidFill>
                <a:schemeClr val="bg1"/>
              </a:solidFill>
              <a:latin typeface="微软雅黑" panose="020B0503020204020204" pitchFamily="34" charset="-122"/>
              <a:ea typeface="微软雅黑" panose="020B0503020204020204" pitchFamily="34" charset="-122"/>
            </a:rPr>
            <a:t>，传送</a:t>
          </a:r>
        </a:p>
      </dgm:t>
    </dgm:pt>
    <dgm:pt modelId="{21AAF4E5-69AF-4C41-93F3-EC6C16982352}" type="par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75B598-83FA-4739-BC24-308DF11DC7CA}" type="sib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FEC3037-4009-4C92-8BB3-BA004A9EDEF3}">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3</a:t>
          </a:r>
          <a:r>
            <a:rPr lang="zh-CN" altLang="en-US" sz="1800" b="1" dirty="0">
              <a:solidFill>
                <a:schemeClr val="bg1"/>
              </a:solidFill>
              <a:latin typeface="微软雅黑" panose="020B0503020204020204" pitchFamily="34" charset="-122"/>
              <a:ea typeface="微软雅黑" panose="020B0503020204020204" pitchFamily="34" charset="-122"/>
            </a:rPr>
            <a:t>，调整</a:t>
          </a:r>
        </a:p>
      </dgm:t>
    </dgm:pt>
    <dgm:pt modelId="{299766ED-4FD8-49B8-8966-BB112C1AF417}" type="par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62DCE1-5C72-4E17-8F99-D370708BAF3E}" type="sib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2AA590A-EE21-4EB6-BB9F-B28697A25CB4}">
      <dgm:prSet phldrT="[文本]" custT="1"/>
      <dgm:spPr/>
      <dgm:t>
        <a:bodyPr/>
        <a:lstStyle/>
        <a:p>
          <a:r>
            <a:rPr lang="zh-CN" altLang="en-US" sz="1600" b="1" dirty="0">
              <a:latin typeface="微软雅黑" panose="020B0503020204020204" pitchFamily="34" charset="-122"/>
              <a:ea typeface="微软雅黑" panose="020B0503020204020204" pitchFamily="34" charset="-122"/>
            </a:rPr>
            <a:t>监测网络系统，检测拥塞在何时、何处发生。</a:t>
          </a:r>
        </a:p>
      </dgm:t>
    </dgm:pt>
    <dgm:pt modelId="{0C98080D-3654-474A-825B-D81CD9A72ADE}" type="parTrans" cxnId="{F0F6B874-547A-491D-B7F3-72295B08FF37}">
      <dgm:prSet/>
      <dgm:spPr/>
      <dgm:t>
        <a:bodyPr/>
        <a:lstStyle/>
        <a:p>
          <a:endParaRPr lang="zh-CN" altLang="en-US"/>
        </a:p>
      </dgm:t>
    </dgm:pt>
    <dgm:pt modelId="{F55A7609-F61D-45B1-8BFC-84CC6700C8D4}" type="sibTrans" cxnId="{F0F6B874-547A-491D-B7F3-72295B08FF37}">
      <dgm:prSet/>
      <dgm:spPr/>
      <dgm:t>
        <a:bodyPr/>
        <a:lstStyle/>
        <a:p>
          <a:endParaRPr lang="zh-CN" altLang="en-US"/>
        </a:p>
      </dgm:t>
    </dgm:pt>
    <dgm:pt modelId="{4CA39C50-B6AD-43B9-8AA3-4AB1AB59AC80}">
      <dgm:prSet phldrT="[文本]" custT="1"/>
      <dgm:spPr/>
      <dgm:t>
        <a:bodyPr/>
        <a:lstStyle/>
        <a:p>
          <a:r>
            <a:rPr lang="zh-CN" altLang="en-US" sz="1600" b="1" dirty="0">
              <a:latin typeface="微软雅黑" panose="020B0503020204020204" pitchFamily="34" charset="-122"/>
              <a:ea typeface="微软雅黑" panose="020B0503020204020204" pitchFamily="34" charset="-122"/>
            </a:rPr>
            <a:t>将拥塞发生的信息传送到可采取行动的地方。</a:t>
          </a:r>
        </a:p>
      </dgm:t>
    </dgm:pt>
    <dgm:pt modelId="{84A258E1-F007-4F07-8C44-4F27BB480876}" type="parTrans" cxnId="{A52CF45B-6B18-4411-9839-89F985A7649D}">
      <dgm:prSet/>
      <dgm:spPr/>
      <dgm:t>
        <a:bodyPr/>
        <a:lstStyle/>
        <a:p>
          <a:endParaRPr lang="zh-CN" altLang="en-US"/>
        </a:p>
      </dgm:t>
    </dgm:pt>
    <dgm:pt modelId="{A854CB13-5B4C-47C5-ACEA-5A400774CEFF}" type="sibTrans" cxnId="{A52CF45B-6B18-4411-9839-89F985A7649D}">
      <dgm:prSet/>
      <dgm:spPr/>
      <dgm:t>
        <a:bodyPr/>
        <a:lstStyle/>
        <a:p>
          <a:endParaRPr lang="zh-CN" altLang="en-US"/>
        </a:p>
      </dgm:t>
    </dgm:pt>
    <dgm:pt modelId="{59D49692-B4B1-4D68-A9E2-E3D245C6255F}">
      <dgm:prSet phldrT="[文本]" custT="1"/>
      <dgm:spPr/>
      <dgm:t>
        <a:bodyPr/>
        <a:lstStyle/>
        <a:p>
          <a:r>
            <a:rPr lang="zh-CN" altLang="en-US" sz="1600" b="1" dirty="0">
              <a:latin typeface="微软雅黑" panose="020B0503020204020204" pitchFamily="34" charset="-122"/>
              <a:ea typeface="微软雅黑" panose="020B0503020204020204" pitchFamily="34" charset="-122"/>
            </a:rPr>
            <a:t>调整网络系统的运行以解决出现的问题。</a:t>
          </a:r>
        </a:p>
      </dgm:t>
    </dgm:pt>
    <dgm:pt modelId="{17E9933C-7CE1-4429-A3B4-A3589880FB60}" type="parTrans" cxnId="{6CA83F09-C467-488E-869D-ABC010CAF2D8}">
      <dgm:prSet/>
      <dgm:spPr/>
      <dgm:t>
        <a:bodyPr/>
        <a:lstStyle/>
        <a:p>
          <a:endParaRPr lang="zh-CN" altLang="en-US"/>
        </a:p>
      </dgm:t>
    </dgm:pt>
    <dgm:pt modelId="{7F25A2CD-3124-47ED-9234-CB2EC135A7DC}" type="sibTrans" cxnId="{6CA83F09-C467-488E-869D-ABC010CAF2D8}">
      <dgm:prSet/>
      <dgm:spPr/>
      <dgm:t>
        <a:bodyPr/>
        <a:lstStyle/>
        <a:p>
          <a:endParaRPr lang="zh-CN" altLang="en-US"/>
        </a:p>
      </dgm:t>
    </dgm:pt>
    <dgm:pt modelId="{2286B00D-FCEB-4810-B271-7980421C2465}" type="pres">
      <dgm:prSet presAssocID="{DA9A4429-076D-4858-8D8F-88C39D4CCEEC}" presName="Name0" presStyleCnt="0">
        <dgm:presLayoutVars>
          <dgm:dir/>
          <dgm:animLvl val="lvl"/>
          <dgm:resizeHandles val="exact"/>
        </dgm:presLayoutVars>
      </dgm:prSet>
      <dgm:spPr/>
    </dgm:pt>
    <dgm:pt modelId="{2FBF6006-4AED-459B-8F63-678827403CA9}" type="pres">
      <dgm:prSet presAssocID="{BFEC3037-4009-4C92-8BB3-BA004A9EDEF3}" presName="boxAndChildren" presStyleCnt="0"/>
      <dgm:spPr/>
    </dgm:pt>
    <dgm:pt modelId="{61E0189D-AC2C-4458-BB6D-CE80D867E62E}" type="pres">
      <dgm:prSet presAssocID="{BFEC3037-4009-4C92-8BB3-BA004A9EDEF3}" presName="parentTextBox" presStyleLbl="node1" presStyleIdx="0" presStyleCnt="3"/>
      <dgm:spPr/>
    </dgm:pt>
    <dgm:pt modelId="{6CB4AA41-5371-4B42-9534-5C50524AC84F}" type="pres">
      <dgm:prSet presAssocID="{BFEC3037-4009-4C92-8BB3-BA004A9EDEF3}" presName="entireBox" presStyleLbl="node1" presStyleIdx="0" presStyleCnt="3"/>
      <dgm:spPr/>
    </dgm:pt>
    <dgm:pt modelId="{EF3A0D82-70E5-4211-B583-833B59D3D5B1}" type="pres">
      <dgm:prSet presAssocID="{BFEC3037-4009-4C92-8BB3-BA004A9EDEF3}" presName="descendantBox" presStyleCnt="0"/>
      <dgm:spPr/>
    </dgm:pt>
    <dgm:pt modelId="{7AD1C28F-030D-4602-84E6-F93CC486F863}" type="pres">
      <dgm:prSet presAssocID="{59D49692-B4B1-4D68-A9E2-E3D245C6255F}" presName="childTextBox" presStyleLbl="fgAccFollowNode1" presStyleIdx="0" presStyleCnt="3">
        <dgm:presLayoutVars>
          <dgm:bulletEnabled val="1"/>
        </dgm:presLayoutVars>
      </dgm:prSet>
      <dgm:spPr/>
    </dgm:pt>
    <dgm:pt modelId="{548CA5A2-2EC9-4CCB-90F0-ED3F5DB25203}" type="pres">
      <dgm:prSet presAssocID="{E375B598-83FA-4739-BC24-308DF11DC7CA}" presName="sp" presStyleCnt="0"/>
      <dgm:spPr/>
    </dgm:pt>
    <dgm:pt modelId="{E88A927F-314E-494F-B4B3-47F8024FA7EE}" type="pres">
      <dgm:prSet presAssocID="{4B1C92E2-7636-49C1-BF40-059D1DCC39AD}" presName="arrowAndChildren" presStyleCnt="0"/>
      <dgm:spPr/>
    </dgm:pt>
    <dgm:pt modelId="{AF7D01B2-BC2D-433A-8E10-8649D35D0293}" type="pres">
      <dgm:prSet presAssocID="{4B1C92E2-7636-49C1-BF40-059D1DCC39AD}" presName="parentTextArrow" presStyleLbl="node1" presStyleIdx="0" presStyleCnt="3"/>
      <dgm:spPr/>
    </dgm:pt>
    <dgm:pt modelId="{DC00D219-7831-4F88-9472-DCEE38BA17C2}" type="pres">
      <dgm:prSet presAssocID="{4B1C92E2-7636-49C1-BF40-059D1DCC39AD}" presName="arrow" presStyleLbl="node1" presStyleIdx="1" presStyleCnt="3"/>
      <dgm:spPr/>
    </dgm:pt>
    <dgm:pt modelId="{2105EC85-3522-4F98-B7D3-9E6A3A276794}" type="pres">
      <dgm:prSet presAssocID="{4B1C92E2-7636-49C1-BF40-059D1DCC39AD}" presName="descendantArrow" presStyleCnt="0"/>
      <dgm:spPr/>
    </dgm:pt>
    <dgm:pt modelId="{37CDBDB6-2170-404B-8F3F-363B34CA7CAF}" type="pres">
      <dgm:prSet presAssocID="{4CA39C50-B6AD-43B9-8AA3-4AB1AB59AC80}" presName="childTextArrow" presStyleLbl="fgAccFollowNode1" presStyleIdx="1" presStyleCnt="3">
        <dgm:presLayoutVars>
          <dgm:bulletEnabled val="1"/>
        </dgm:presLayoutVars>
      </dgm:prSet>
      <dgm:spPr/>
    </dgm:pt>
    <dgm:pt modelId="{5210526D-0F2D-4B5A-B8DD-A7BAED0A6C55}" type="pres">
      <dgm:prSet presAssocID="{59F111A3-8B10-4CBC-8988-6D6887B08325}" presName="sp" presStyleCnt="0"/>
      <dgm:spPr/>
    </dgm:pt>
    <dgm:pt modelId="{EDD5798D-DC70-4992-B6D8-B3932DF1CB09}" type="pres">
      <dgm:prSet presAssocID="{3947F608-ABD1-4FAB-9C0B-DE329E429A37}" presName="arrowAndChildren" presStyleCnt="0"/>
      <dgm:spPr/>
    </dgm:pt>
    <dgm:pt modelId="{092FD4CA-400B-4A96-B39D-0C58C1B0630A}" type="pres">
      <dgm:prSet presAssocID="{3947F608-ABD1-4FAB-9C0B-DE329E429A37}" presName="parentTextArrow" presStyleLbl="node1" presStyleIdx="1" presStyleCnt="3"/>
      <dgm:spPr/>
    </dgm:pt>
    <dgm:pt modelId="{021834F7-9CCD-4967-A129-E4F8A64E9A64}" type="pres">
      <dgm:prSet presAssocID="{3947F608-ABD1-4FAB-9C0B-DE329E429A37}" presName="arrow" presStyleLbl="node1" presStyleIdx="2" presStyleCnt="3"/>
      <dgm:spPr/>
    </dgm:pt>
    <dgm:pt modelId="{4B0C8B5F-B57F-4270-A69A-4A528C7EFD6B}" type="pres">
      <dgm:prSet presAssocID="{3947F608-ABD1-4FAB-9C0B-DE329E429A37}" presName="descendantArrow" presStyleCnt="0"/>
      <dgm:spPr/>
    </dgm:pt>
    <dgm:pt modelId="{131D3D73-943A-4F48-82DD-E5FF9CD6CF04}" type="pres">
      <dgm:prSet presAssocID="{42AA590A-EE21-4EB6-BB9F-B28697A25CB4}" presName="childTextArrow" presStyleLbl="fgAccFollowNode1" presStyleIdx="2" presStyleCnt="3">
        <dgm:presLayoutVars>
          <dgm:bulletEnabled val="1"/>
        </dgm:presLayoutVars>
      </dgm:prSet>
      <dgm:spPr/>
    </dgm:pt>
  </dgm:ptLst>
  <dgm:cxnLst>
    <dgm:cxn modelId="{9A0A1A06-B9B1-4D90-B09B-A11586934B87}" type="presOf" srcId="{4B1C92E2-7636-49C1-BF40-059D1DCC39AD}" destId="{DC00D219-7831-4F88-9472-DCEE38BA17C2}" srcOrd="1" destOrd="0" presId="urn:microsoft.com/office/officeart/2005/8/layout/process4"/>
    <dgm:cxn modelId="{53FDCF08-CDCF-4C3F-8C30-41778A598BBA}" type="presOf" srcId="{BFEC3037-4009-4C92-8BB3-BA004A9EDEF3}" destId="{6CB4AA41-5371-4B42-9534-5C50524AC84F}" srcOrd="1" destOrd="0" presId="urn:microsoft.com/office/officeart/2005/8/layout/process4"/>
    <dgm:cxn modelId="{6CA83F09-C467-488E-869D-ABC010CAF2D8}" srcId="{BFEC3037-4009-4C92-8BB3-BA004A9EDEF3}" destId="{59D49692-B4B1-4D68-A9E2-E3D245C6255F}" srcOrd="0" destOrd="0" parTransId="{17E9933C-7CE1-4429-A3B4-A3589880FB60}" sibTransId="{7F25A2CD-3124-47ED-9234-CB2EC135A7DC}"/>
    <dgm:cxn modelId="{3BB6C109-83DA-4E9E-9557-5D1A6489A0D7}" type="presOf" srcId="{DA9A4429-076D-4858-8D8F-88C39D4CCEEC}" destId="{2286B00D-FCEB-4810-B271-7980421C2465}" srcOrd="0" destOrd="0" presId="urn:microsoft.com/office/officeart/2005/8/layout/process4"/>
    <dgm:cxn modelId="{1DCB8519-3671-4A11-987F-101833158C0A}" srcId="{DA9A4429-076D-4858-8D8F-88C39D4CCEEC}" destId="{BFEC3037-4009-4C92-8BB3-BA004A9EDEF3}" srcOrd="2" destOrd="0" parTransId="{299766ED-4FD8-49B8-8966-BB112C1AF417}" sibTransId="{E362DCE1-5C72-4E17-8F99-D370708BAF3E}"/>
    <dgm:cxn modelId="{4AD52D27-DA43-4854-9E38-64A5CB34D58E}" type="presOf" srcId="{59D49692-B4B1-4D68-A9E2-E3D245C6255F}" destId="{7AD1C28F-030D-4602-84E6-F93CC486F863}" srcOrd="0" destOrd="0" presId="urn:microsoft.com/office/officeart/2005/8/layout/process4"/>
    <dgm:cxn modelId="{A52CF45B-6B18-4411-9839-89F985A7649D}" srcId="{4B1C92E2-7636-49C1-BF40-059D1DCC39AD}" destId="{4CA39C50-B6AD-43B9-8AA3-4AB1AB59AC80}" srcOrd="0" destOrd="0" parTransId="{84A258E1-F007-4F07-8C44-4F27BB480876}" sibTransId="{A854CB13-5B4C-47C5-ACEA-5A400774CEFF}"/>
    <dgm:cxn modelId="{E84B9572-2768-4579-8818-5044E41255F7}" type="presOf" srcId="{4CA39C50-B6AD-43B9-8AA3-4AB1AB59AC80}" destId="{37CDBDB6-2170-404B-8F3F-363B34CA7CAF}" srcOrd="0" destOrd="0" presId="urn:microsoft.com/office/officeart/2005/8/layout/process4"/>
    <dgm:cxn modelId="{F0F6B874-547A-491D-B7F3-72295B08FF37}" srcId="{3947F608-ABD1-4FAB-9C0B-DE329E429A37}" destId="{42AA590A-EE21-4EB6-BB9F-B28697A25CB4}" srcOrd="0" destOrd="0" parTransId="{0C98080D-3654-474A-825B-D81CD9A72ADE}" sibTransId="{F55A7609-F61D-45B1-8BFC-84CC6700C8D4}"/>
    <dgm:cxn modelId="{D5878276-BA0A-41CF-9C42-C7DB676582A4}" type="presOf" srcId="{3947F608-ABD1-4FAB-9C0B-DE329E429A37}" destId="{021834F7-9CCD-4967-A129-E4F8A64E9A64}" srcOrd="1" destOrd="0" presId="urn:microsoft.com/office/officeart/2005/8/layout/process4"/>
    <dgm:cxn modelId="{BE30047A-FD80-4334-BA7C-5BD67CB291B4}" type="presOf" srcId="{4B1C92E2-7636-49C1-BF40-059D1DCC39AD}" destId="{AF7D01B2-BC2D-433A-8E10-8649D35D0293}" srcOrd="0" destOrd="0" presId="urn:microsoft.com/office/officeart/2005/8/layout/process4"/>
    <dgm:cxn modelId="{9B755F7D-538C-4834-A609-4F93FC5B27C6}" type="presOf" srcId="{3947F608-ABD1-4FAB-9C0B-DE329E429A37}" destId="{092FD4CA-400B-4A96-B39D-0C58C1B0630A}" srcOrd="0" destOrd="0" presId="urn:microsoft.com/office/officeart/2005/8/layout/process4"/>
    <dgm:cxn modelId="{5FFBF780-EF82-4C7B-B65D-7D169A22BC08}" srcId="{DA9A4429-076D-4858-8D8F-88C39D4CCEEC}" destId="{3947F608-ABD1-4FAB-9C0B-DE329E429A37}" srcOrd="0" destOrd="0" parTransId="{44CB9315-4D10-4A42-8F72-3E9848B40F7E}" sibTransId="{59F111A3-8B10-4CBC-8988-6D6887B08325}"/>
    <dgm:cxn modelId="{9B78F294-58B9-473B-8C21-7F51266D5975}" srcId="{DA9A4429-076D-4858-8D8F-88C39D4CCEEC}" destId="{4B1C92E2-7636-49C1-BF40-059D1DCC39AD}" srcOrd="1" destOrd="0" parTransId="{21AAF4E5-69AF-4C41-93F3-EC6C16982352}" sibTransId="{E375B598-83FA-4739-BC24-308DF11DC7CA}"/>
    <dgm:cxn modelId="{A88545A1-BB63-4FF4-B28B-E7FED65FA6F0}" type="presOf" srcId="{42AA590A-EE21-4EB6-BB9F-B28697A25CB4}" destId="{131D3D73-943A-4F48-82DD-E5FF9CD6CF04}" srcOrd="0" destOrd="0" presId="urn:microsoft.com/office/officeart/2005/8/layout/process4"/>
    <dgm:cxn modelId="{A46303C5-3B31-4B58-AA0A-704688CDED60}" type="presOf" srcId="{BFEC3037-4009-4C92-8BB3-BA004A9EDEF3}" destId="{61E0189D-AC2C-4458-BB6D-CE80D867E62E}" srcOrd="0" destOrd="0" presId="urn:microsoft.com/office/officeart/2005/8/layout/process4"/>
    <dgm:cxn modelId="{55803B55-3F5F-46B1-A67D-4FE25D058A92}" type="presParOf" srcId="{2286B00D-FCEB-4810-B271-7980421C2465}" destId="{2FBF6006-4AED-459B-8F63-678827403CA9}" srcOrd="0" destOrd="0" presId="urn:microsoft.com/office/officeart/2005/8/layout/process4"/>
    <dgm:cxn modelId="{ED1BDFC8-9156-4101-AC95-7E3079A5C89A}" type="presParOf" srcId="{2FBF6006-4AED-459B-8F63-678827403CA9}" destId="{61E0189D-AC2C-4458-BB6D-CE80D867E62E}" srcOrd="0" destOrd="0" presId="urn:microsoft.com/office/officeart/2005/8/layout/process4"/>
    <dgm:cxn modelId="{31059BF7-99FB-43E1-AEB5-6A730E00A930}" type="presParOf" srcId="{2FBF6006-4AED-459B-8F63-678827403CA9}" destId="{6CB4AA41-5371-4B42-9534-5C50524AC84F}" srcOrd="1" destOrd="0" presId="urn:microsoft.com/office/officeart/2005/8/layout/process4"/>
    <dgm:cxn modelId="{90740B48-36A5-4173-A28C-ED0C3F1ADB23}" type="presParOf" srcId="{2FBF6006-4AED-459B-8F63-678827403CA9}" destId="{EF3A0D82-70E5-4211-B583-833B59D3D5B1}" srcOrd="2" destOrd="0" presId="urn:microsoft.com/office/officeart/2005/8/layout/process4"/>
    <dgm:cxn modelId="{E269CEDF-5F34-4736-BC6E-B4593202D218}" type="presParOf" srcId="{EF3A0D82-70E5-4211-B583-833B59D3D5B1}" destId="{7AD1C28F-030D-4602-84E6-F93CC486F863}" srcOrd="0" destOrd="0" presId="urn:microsoft.com/office/officeart/2005/8/layout/process4"/>
    <dgm:cxn modelId="{81661390-1F69-49E9-88F3-0C40E8213CE5}" type="presParOf" srcId="{2286B00D-FCEB-4810-B271-7980421C2465}" destId="{548CA5A2-2EC9-4CCB-90F0-ED3F5DB25203}" srcOrd="1" destOrd="0" presId="urn:microsoft.com/office/officeart/2005/8/layout/process4"/>
    <dgm:cxn modelId="{E7722B6B-24D3-4927-B24E-80C990998D93}" type="presParOf" srcId="{2286B00D-FCEB-4810-B271-7980421C2465}" destId="{E88A927F-314E-494F-B4B3-47F8024FA7EE}" srcOrd="2" destOrd="0" presId="urn:microsoft.com/office/officeart/2005/8/layout/process4"/>
    <dgm:cxn modelId="{FAA2CC2B-CA76-44DF-B5E9-5E6B2BA5EE3A}" type="presParOf" srcId="{E88A927F-314E-494F-B4B3-47F8024FA7EE}" destId="{AF7D01B2-BC2D-433A-8E10-8649D35D0293}" srcOrd="0" destOrd="0" presId="urn:microsoft.com/office/officeart/2005/8/layout/process4"/>
    <dgm:cxn modelId="{A156E01D-94A0-4166-8A25-7B7206493F65}" type="presParOf" srcId="{E88A927F-314E-494F-B4B3-47F8024FA7EE}" destId="{DC00D219-7831-4F88-9472-DCEE38BA17C2}" srcOrd="1" destOrd="0" presId="urn:microsoft.com/office/officeart/2005/8/layout/process4"/>
    <dgm:cxn modelId="{38937B28-7926-4CA6-805F-927EC0AA743E}" type="presParOf" srcId="{E88A927F-314E-494F-B4B3-47F8024FA7EE}" destId="{2105EC85-3522-4F98-B7D3-9E6A3A276794}" srcOrd="2" destOrd="0" presId="urn:microsoft.com/office/officeart/2005/8/layout/process4"/>
    <dgm:cxn modelId="{1E5E020C-823A-45F8-AE0F-FF57350F9DE3}" type="presParOf" srcId="{2105EC85-3522-4F98-B7D3-9E6A3A276794}" destId="{37CDBDB6-2170-404B-8F3F-363B34CA7CAF}" srcOrd="0" destOrd="0" presId="urn:microsoft.com/office/officeart/2005/8/layout/process4"/>
    <dgm:cxn modelId="{CE264962-ADBC-44A7-8D41-3D1BB08E325F}" type="presParOf" srcId="{2286B00D-FCEB-4810-B271-7980421C2465}" destId="{5210526D-0F2D-4B5A-B8DD-A7BAED0A6C55}" srcOrd="3" destOrd="0" presId="urn:microsoft.com/office/officeart/2005/8/layout/process4"/>
    <dgm:cxn modelId="{13DC494B-5DD8-4D75-8AF1-60E0BA87A1FD}" type="presParOf" srcId="{2286B00D-FCEB-4810-B271-7980421C2465}" destId="{EDD5798D-DC70-4992-B6D8-B3932DF1CB09}" srcOrd="4" destOrd="0" presId="urn:microsoft.com/office/officeart/2005/8/layout/process4"/>
    <dgm:cxn modelId="{C6EE832E-F94E-48F1-BF96-FA7757D90066}" type="presParOf" srcId="{EDD5798D-DC70-4992-B6D8-B3932DF1CB09}" destId="{092FD4CA-400B-4A96-B39D-0C58C1B0630A}" srcOrd="0" destOrd="0" presId="urn:microsoft.com/office/officeart/2005/8/layout/process4"/>
    <dgm:cxn modelId="{394B3FF1-12AB-43E0-A05D-85AA72D86332}" type="presParOf" srcId="{EDD5798D-DC70-4992-B6D8-B3932DF1CB09}" destId="{021834F7-9CCD-4967-A129-E4F8A64E9A64}" srcOrd="1" destOrd="0" presId="urn:microsoft.com/office/officeart/2005/8/layout/process4"/>
    <dgm:cxn modelId="{0A581534-DB42-4CEA-9AC9-59850C56396E}" type="presParOf" srcId="{EDD5798D-DC70-4992-B6D8-B3932DF1CB09}" destId="{4B0C8B5F-B57F-4270-A69A-4A528C7EFD6B}" srcOrd="2" destOrd="0" presId="urn:microsoft.com/office/officeart/2005/8/layout/process4"/>
    <dgm:cxn modelId="{37F0E545-D07C-4E8D-8E34-4C49C38E5F5E}" type="presParOf" srcId="{4B0C8B5F-B57F-4270-A69A-4A528C7EFD6B}" destId="{131D3D73-943A-4F48-82DD-E5FF9CD6CF04}"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A9A4429-076D-4858-8D8F-88C39D4CCEEC}" type="doc">
      <dgm:prSet loTypeId="urn:microsoft.com/office/officeart/2005/8/layout/process4" loCatId="process" qsTypeId="urn:microsoft.com/office/officeart/2005/8/quickstyle/simple4" qsCatId="simple" csTypeId="urn:microsoft.com/office/officeart/2005/8/colors/colorful2" csCatId="colorful" phldr="1"/>
      <dgm:spPr/>
      <dgm:t>
        <a:bodyPr/>
        <a:lstStyle/>
        <a:p>
          <a:endParaRPr lang="zh-CN" altLang="en-US"/>
        </a:p>
      </dgm:t>
    </dgm:pt>
    <dgm:pt modelId="{3947F608-ABD1-4FAB-9C0B-DE329E429A37}">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1</a:t>
          </a:r>
          <a:r>
            <a:rPr lang="zh-CN" altLang="en-US" sz="1800" b="1" dirty="0">
              <a:solidFill>
                <a:schemeClr val="bg1"/>
              </a:solidFill>
              <a:latin typeface="微软雅黑" panose="020B0503020204020204" pitchFamily="34" charset="-122"/>
              <a:ea typeface="微软雅黑" panose="020B0503020204020204" pitchFamily="34" charset="-122"/>
            </a:rPr>
            <a:t>，监测</a:t>
          </a:r>
        </a:p>
      </dgm:t>
    </dgm:pt>
    <dgm:pt modelId="{44CB9315-4D10-4A42-8F72-3E9848B40F7E}" type="par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9F111A3-8B10-4CBC-8988-6D6887B08325}" type="sib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B1C92E2-7636-49C1-BF40-059D1DCC39AD}">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2</a:t>
          </a:r>
          <a:r>
            <a:rPr lang="zh-CN" altLang="en-US" sz="1800" b="1" dirty="0">
              <a:solidFill>
                <a:schemeClr val="bg1"/>
              </a:solidFill>
              <a:latin typeface="微软雅黑" panose="020B0503020204020204" pitchFamily="34" charset="-122"/>
              <a:ea typeface="微软雅黑" panose="020B0503020204020204" pitchFamily="34" charset="-122"/>
            </a:rPr>
            <a:t>，传送</a:t>
          </a:r>
        </a:p>
      </dgm:t>
    </dgm:pt>
    <dgm:pt modelId="{21AAF4E5-69AF-4C41-93F3-EC6C16982352}" type="par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75B598-83FA-4739-BC24-308DF11DC7CA}" type="sib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FEC3037-4009-4C92-8BB3-BA004A9EDEF3}">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3</a:t>
          </a:r>
          <a:r>
            <a:rPr lang="zh-CN" altLang="en-US" sz="1800" b="1" dirty="0">
              <a:solidFill>
                <a:schemeClr val="bg1"/>
              </a:solidFill>
              <a:latin typeface="微软雅黑" panose="020B0503020204020204" pitchFamily="34" charset="-122"/>
              <a:ea typeface="微软雅黑" panose="020B0503020204020204" pitchFamily="34" charset="-122"/>
            </a:rPr>
            <a:t>，调整</a:t>
          </a:r>
        </a:p>
      </dgm:t>
    </dgm:pt>
    <dgm:pt modelId="{299766ED-4FD8-49B8-8966-BB112C1AF417}" type="par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62DCE1-5C72-4E17-8F99-D370708BAF3E}" type="sib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2AA590A-EE21-4EB6-BB9F-B28697A25CB4}">
      <dgm:prSet phldrT="[文本]" custT="1"/>
      <dgm:spPr/>
      <dgm:t>
        <a:bodyPr/>
        <a:lstStyle/>
        <a:p>
          <a:r>
            <a:rPr lang="zh-CN" altLang="en-US" sz="1600" b="1" dirty="0">
              <a:latin typeface="微软雅黑" panose="020B0503020204020204" pitchFamily="34" charset="-122"/>
              <a:ea typeface="微软雅黑" panose="020B0503020204020204" pitchFamily="34" charset="-122"/>
            </a:rPr>
            <a:t>监测网络系统，检测拥塞在何时、何处发生。</a:t>
          </a:r>
        </a:p>
      </dgm:t>
    </dgm:pt>
    <dgm:pt modelId="{0C98080D-3654-474A-825B-D81CD9A72ADE}" type="parTrans" cxnId="{F0F6B874-547A-491D-B7F3-72295B08FF37}">
      <dgm:prSet/>
      <dgm:spPr/>
      <dgm:t>
        <a:bodyPr/>
        <a:lstStyle/>
        <a:p>
          <a:endParaRPr lang="zh-CN" altLang="en-US"/>
        </a:p>
      </dgm:t>
    </dgm:pt>
    <dgm:pt modelId="{F55A7609-F61D-45B1-8BFC-84CC6700C8D4}" type="sibTrans" cxnId="{F0F6B874-547A-491D-B7F3-72295B08FF37}">
      <dgm:prSet/>
      <dgm:spPr/>
      <dgm:t>
        <a:bodyPr/>
        <a:lstStyle/>
        <a:p>
          <a:endParaRPr lang="zh-CN" altLang="en-US"/>
        </a:p>
      </dgm:t>
    </dgm:pt>
    <dgm:pt modelId="{4CA39C50-B6AD-43B9-8AA3-4AB1AB59AC80}">
      <dgm:prSet phldrT="[文本]" custT="1"/>
      <dgm:spPr/>
      <dgm:t>
        <a:bodyPr/>
        <a:lstStyle/>
        <a:p>
          <a:r>
            <a:rPr lang="zh-CN" altLang="en-US" sz="1600" b="1" dirty="0">
              <a:latin typeface="微软雅黑" panose="020B0503020204020204" pitchFamily="34" charset="-122"/>
              <a:ea typeface="微软雅黑" panose="020B0503020204020204" pitchFamily="34" charset="-122"/>
            </a:rPr>
            <a:t>将拥塞发生的信息传送到可采取行动的地方。</a:t>
          </a:r>
        </a:p>
      </dgm:t>
    </dgm:pt>
    <dgm:pt modelId="{84A258E1-F007-4F07-8C44-4F27BB480876}" type="parTrans" cxnId="{A52CF45B-6B18-4411-9839-89F985A7649D}">
      <dgm:prSet/>
      <dgm:spPr/>
      <dgm:t>
        <a:bodyPr/>
        <a:lstStyle/>
        <a:p>
          <a:endParaRPr lang="zh-CN" altLang="en-US"/>
        </a:p>
      </dgm:t>
    </dgm:pt>
    <dgm:pt modelId="{A854CB13-5B4C-47C5-ACEA-5A400774CEFF}" type="sibTrans" cxnId="{A52CF45B-6B18-4411-9839-89F985A7649D}">
      <dgm:prSet/>
      <dgm:spPr/>
      <dgm:t>
        <a:bodyPr/>
        <a:lstStyle/>
        <a:p>
          <a:endParaRPr lang="zh-CN" altLang="en-US"/>
        </a:p>
      </dgm:t>
    </dgm:pt>
    <dgm:pt modelId="{59D49692-B4B1-4D68-A9E2-E3D245C6255F}">
      <dgm:prSet phldrT="[文本]" custT="1"/>
      <dgm:spPr/>
      <dgm:t>
        <a:bodyPr/>
        <a:lstStyle/>
        <a:p>
          <a:r>
            <a:rPr lang="zh-CN" altLang="en-US" sz="1600" b="1" dirty="0">
              <a:latin typeface="微软雅黑" panose="020B0503020204020204" pitchFamily="34" charset="-122"/>
              <a:ea typeface="微软雅黑" panose="020B0503020204020204" pitchFamily="34" charset="-122"/>
            </a:rPr>
            <a:t>调整网络系统的运行以解决出现的问题。</a:t>
          </a:r>
        </a:p>
      </dgm:t>
    </dgm:pt>
    <dgm:pt modelId="{17E9933C-7CE1-4429-A3B4-A3589880FB60}" type="parTrans" cxnId="{6CA83F09-C467-488E-869D-ABC010CAF2D8}">
      <dgm:prSet/>
      <dgm:spPr/>
      <dgm:t>
        <a:bodyPr/>
        <a:lstStyle/>
        <a:p>
          <a:endParaRPr lang="zh-CN" altLang="en-US"/>
        </a:p>
      </dgm:t>
    </dgm:pt>
    <dgm:pt modelId="{7F25A2CD-3124-47ED-9234-CB2EC135A7DC}" type="sibTrans" cxnId="{6CA83F09-C467-488E-869D-ABC010CAF2D8}">
      <dgm:prSet/>
      <dgm:spPr/>
      <dgm:t>
        <a:bodyPr/>
        <a:lstStyle/>
        <a:p>
          <a:endParaRPr lang="zh-CN" altLang="en-US"/>
        </a:p>
      </dgm:t>
    </dgm:pt>
    <dgm:pt modelId="{2286B00D-FCEB-4810-B271-7980421C2465}" type="pres">
      <dgm:prSet presAssocID="{DA9A4429-076D-4858-8D8F-88C39D4CCEEC}" presName="Name0" presStyleCnt="0">
        <dgm:presLayoutVars>
          <dgm:dir/>
          <dgm:animLvl val="lvl"/>
          <dgm:resizeHandles val="exact"/>
        </dgm:presLayoutVars>
      </dgm:prSet>
      <dgm:spPr/>
    </dgm:pt>
    <dgm:pt modelId="{2FBF6006-4AED-459B-8F63-678827403CA9}" type="pres">
      <dgm:prSet presAssocID="{BFEC3037-4009-4C92-8BB3-BA004A9EDEF3}" presName="boxAndChildren" presStyleCnt="0"/>
      <dgm:spPr/>
    </dgm:pt>
    <dgm:pt modelId="{61E0189D-AC2C-4458-BB6D-CE80D867E62E}" type="pres">
      <dgm:prSet presAssocID="{BFEC3037-4009-4C92-8BB3-BA004A9EDEF3}" presName="parentTextBox" presStyleLbl="node1" presStyleIdx="0" presStyleCnt="3"/>
      <dgm:spPr/>
    </dgm:pt>
    <dgm:pt modelId="{6CB4AA41-5371-4B42-9534-5C50524AC84F}" type="pres">
      <dgm:prSet presAssocID="{BFEC3037-4009-4C92-8BB3-BA004A9EDEF3}" presName="entireBox" presStyleLbl="node1" presStyleIdx="0" presStyleCnt="3"/>
      <dgm:spPr/>
    </dgm:pt>
    <dgm:pt modelId="{EF3A0D82-70E5-4211-B583-833B59D3D5B1}" type="pres">
      <dgm:prSet presAssocID="{BFEC3037-4009-4C92-8BB3-BA004A9EDEF3}" presName="descendantBox" presStyleCnt="0"/>
      <dgm:spPr/>
    </dgm:pt>
    <dgm:pt modelId="{7AD1C28F-030D-4602-84E6-F93CC486F863}" type="pres">
      <dgm:prSet presAssocID="{59D49692-B4B1-4D68-A9E2-E3D245C6255F}" presName="childTextBox" presStyleLbl="fgAccFollowNode1" presStyleIdx="0" presStyleCnt="3">
        <dgm:presLayoutVars>
          <dgm:bulletEnabled val="1"/>
        </dgm:presLayoutVars>
      </dgm:prSet>
      <dgm:spPr/>
    </dgm:pt>
    <dgm:pt modelId="{548CA5A2-2EC9-4CCB-90F0-ED3F5DB25203}" type="pres">
      <dgm:prSet presAssocID="{E375B598-83FA-4739-BC24-308DF11DC7CA}" presName="sp" presStyleCnt="0"/>
      <dgm:spPr/>
    </dgm:pt>
    <dgm:pt modelId="{E88A927F-314E-494F-B4B3-47F8024FA7EE}" type="pres">
      <dgm:prSet presAssocID="{4B1C92E2-7636-49C1-BF40-059D1DCC39AD}" presName="arrowAndChildren" presStyleCnt="0"/>
      <dgm:spPr/>
    </dgm:pt>
    <dgm:pt modelId="{AF7D01B2-BC2D-433A-8E10-8649D35D0293}" type="pres">
      <dgm:prSet presAssocID="{4B1C92E2-7636-49C1-BF40-059D1DCC39AD}" presName="parentTextArrow" presStyleLbl="node1" presStyleIdx="0" presStyleCnt="3"/>
      <dgm:spPr/>
    </dgm:pt>
    <dgm:pt modelId="{DC00D219-7831-4F88-9472-DCEE38BA17C2}" type="pres">
      <dgm:prSet presAssocID="{4B1C92E2-7636-49C1-BF40-059D1DCC39AD}" presName="arrow" presStyleLbl="node1" presStyleIdx="1" presStyleCnt="3"/>
      <dgm:spPr/>
    </dgm:pt>
    <dgm:pt modelId="{2105EC85-3522-4F98-B7D3-9E6A3A276794}" type="pres">
      <dgm:prSet presAssocID="{4B1C92E2-7636-49C1-BF40-059D1DCC39AD}" presName="descendantArrow" presStyleCnt="0"/>
      <dgm:spPr/>
    </dgm:pt>
    <dgm:pt modelId="{37CDBDB6-2170-404B-8F3F-363B34CA7CAF}" type="pres">
      <dgm:prSet presAssocID="{4CA39C50-B6AD-43B9-8AA3-4AB1AB59AC80}" presName="childTextArrow" presStyleLbl="fgAccFollowNode1" presStyleIdx="1" presStyleCnt="3">
        <dgm:presLayoutVars>
          <dgm:bulletEnabled val="1"/>
        </dgm:presLayoutVars>
      </dgm:prSet>
      <dgm:spPr/>
    </dgm:pt>
    <dgm:pt modelId="{5210526D-0F2D-4B5A-B8DD-A7BAED0A6C55}" type="pres">
      <dgm:prSet presAssocID="{59F111A3-8B10-4CBC-8988-6D6887B08325}" presName="sp" presStyleCnt="0"/>
      <dgm:spPr/>
    </dgm:pt>
    <dgm:pt modelId="{EDD5798D-DC70-4992-B6D8-B3932DF1CB09}" type="pres">
      <dgm:prSet presAssocID="{3947F608-ABD1-4FAB-9C0B-DE329E429A37}" presName="arrowAndChildren" presStyleCnt="0"/>
      <dgm:spPr/>
    </dgm:pt>
    <dgm:pt modelId="{092FD4CA-400B-4A96-B39D-0C58C1B0630A}" type="pres">
      <dgm:prSet presAssocID="{3947F608-ABD1-4FAB-9C0B-DE329E429A37}" presName="parentTextArrow" presStyleLbl="node1" presStyleIdx="1" presStyleCnt="3"/>
      <dgm:spPr/>
    </dgm:pt>
    <dgm:pt modelId="{021834F7-9CCD-4967-A129-E4F8A64E9A64}" type="pres">
      <dgm:prSet presAssocID="{3947F608-ABD1-4FAB-9C0B-DE329E429A37}" presName="arrow" presStyleLbl="node1" presStyleIdx="2" presStyleCnt="3"/>
      <dgm:spPr/>
    </dgm:pt>
    <dgm:pt modelId="{4B0C8B5F-B57F-4270-A69A-4A528C7EFD6B}" type="pres">
      <dgm:prSet presAssocID="{3947F608-ABD1-4FAB-9C0B-DE329E429A37}" presName="descendantArrow" presStyleCnt="0"/>
      <dgm:spPr/>
    </dgm:pt>
    <dgm:pt modelId="{131D3D73-943A-4F48-82DD-E5FF9CD6CF04}" type="pres">
      <dgm:prSet presAssocID="{42AA590A-EE21-4EB6-BB9F-B28697A25CB4}" presName="childTextArrow" presStyleLbl="fgAccFollowNode1" presStyleIdx="2" presStyleCnt="3">
        <dgm:presLayoutVars>
          <dgm:bulletEnabled val="1"/>
        </dgm:presLayoutVars>
      </dgm:prSet>
      <dgm:spPr/>
    </dgm:pt>
  </dgm:ptLst>
  <dgm:cxnLst>
    <dgm:cxn modelId="{9A0A1A06-B9B1-4D90-B09B-A11586934B87}" type="presOf" srcId="{4B1C92E2-7636-49C1-BF40-059D1DCC39AD}" destId="{DC00D219-7831-4F88-9472-DCEE38BA17C2}" srcOrd="1" destOrd="0" presId="urn:microsoft.com/office/officeart/2005/8/layout/process4"/>
    <dgm:cxn modelId="{53FDCF08-CDCF-4C3F-8C30-41778A598BBA}" type="presOf" srcId="{BFEC3037-4009-4C92-8BB3-BA004A9EDEF3}" destId="{6CB4AA41-5371-4B42-9534-5C50524AC84F}" srcOrd="1" destOrd="0" presId="urn:microsoft.com/office/officeart/2005/8/layout/process4"/>
    <dgm:cxn modelId="{6CA83F09-C467-488E-869D-ABC010CAF2D8}" srcId="{BFEC3037-4009-4C92-8BB3-BA004A9EDEF3}" destId="{59D49692-B4B1-4D68-A9E2-E3D245C6255F}" srcOrd="0" destOrd="0" parTransId="{17E9933C-7CE1-4429-A3B4-A3589880FB60}" sibTransId="{7F25A2CD-3124-47ED-9234-CB2EC135A7DC}"/>
    <dgm:cxn modelId="{3BB6C109-83DA-4E9E-9557-5D1A6489A0D7}" type="presOf" srcId="{DA9A4429-076D-4858-8D8F-88C39D4CCEEC}" destId="{2286B00D-FCEB-4810-B271-7980421C2465}" srcOrd="0" destOrd="0" presId="urn:microsoft.com/office/officeart/2005/8/layout/process4"/>
    <dgm:cxn modelId="{1DCB8519-3671-4A11-987F-101833158C0A}" srcId="{DA9A4429-076D-4858-8D8F-88C39D4CCEEC}" destId="{BFEC3037-4009-4C92-8BB3-BA004A9EDEF3}" srcOrd="2" destOrd="0" parTransId="{299766ED-4FD8-49B8-8966-BB112C1AF417}" sibTransId="{E362DCE1-5C72-4E17-8F99-D370708BAF3E}"/>
    <dgm:cxn modelId="{4AD52D27-DA43-4854-9E38-64A5CB34D58E}" type="presOf" srcId="{59D49692-B4B1-4D68-A9E2-E3D245C6255F}" destId="{7AD1C28F-030D-4602-84E6-F93CC486F863}" srcOrd="0" destOrd="0" presId="urn:microsoft.com/office/officeart/2005/8/layout/process4"/>
    <dgm:cxn modelId="{A52CF45B-6B18-4411-9839-89F985A7649D}" srcId="{4B1C92E2-7636-49C1-BF40-059D1DCC39AD}" destId="{4CA39C50-B6AD-43B9-8AA3-4AB1AB59AC80}" srcOrd="0" destOrd="0" parTransId="{84A258E1-F007-4F07-8C44-4F27BB480876}" sibTransId="{A854CB13-5B4C-47C5-ACEA-5A400774CEFF}"/>
    <dgm:cxn modelId="{E84B9572-2768-4579-8818-5044E41255F7}" type="presOf" srcId="{4CA39C50-B6AD-43B9-8AA3-4AB1AB59AC80}" destId="{37CDBDB6-2170-404B-8F3F-363B34CA7CAF}" srcOrd="0" destOrd="0" presId="urn:microsoft.com/office/officeart/2005/8/layout/process4"/>
    <dgm:cxn modelId="{F0F6B874-547A-491D-B7F3-72295B08FF37}" srcId="{3947F608-ABD1-4FAB-9C0B-DE329E429A37}" destId="{42AA590A-EE21-4EB6-BB9F-B28697A25CB4}" srcOrd="0" destOrd="0" parTransId="{0C98080D-3654-474A-825B-D81CD9A72ADE}" sibTransId="{F55A7609-F61D-45B1-8BFC-84CC6700C8D4}"/>
    <dgm:cxn modelId="{D5878276-BA0A-41CF-9C42-C7DB676582A4}" type="presOf" srcId="{3947F608-ABD1-4FAB-9C0B-DE329E429A37}" destId="{021834F7-9CCD-4967-A129-E4F8A64E9A64}" srcOrd="1" destOrd="0" presId="urn:microsoft.com/office/officeart/2005/8/layout/process4"/>
    <dgm:cxn modelId="{BE30047A-FD80-4334-BA7C-5BD67CB291B4}" type="presOf" srcId="{4B1C92E2-7636-49C1-BF40-059D1DCC39AD}" destId="{AF7D01B2-BC2D-433A-8E10-8649D35D0293}" srcOrd="0" destOrd="0" presId="urn:microsoft.com/office/officeart/2005/8/layout/process4"/>
    <dgm:cxn modelId="{9B755F7D-538C-4834-A609-4F93FC5B27C6}" type="presOf" srcId="{3947F608-ABD1-4FAB-9C0B-DE329E429A37}" destId="{092FD4CA-400B-4A96-B39D-0C58C1B0630A}" srcOrd="0" destOrd="0" presId="urn:microsoft.com/office/officeart/2005/8/layout/process4"/>
    <dgm:cxn modelId="{5FFBF780-EF82-4C7B-B65D-7D169A22BC08}" srcId="{DA9A4429-076D-4858-8D8F-88C39D4CCEEC}" destId="{3947F608-ABD1-4FAB-9C0B-DE329E429A37}" srcOrd="0" destOrd="0" parTransId="{44CB9315-4D10-4A42-8F72-3E9848B40F7E}" sibTransId="{59F111A3-8B10-4CBC-8988-6D6887B08325}"/>
    <dgm:cxn modelId="{9B78F294-58B9-473B-8C21-7F51266D5975}" srcId="{DA9A4429-076D-4858-8D8F-88C39D4CCEEC}" destId="{4B1C92E2-7636-49C1-BF40-059D1DCC39AD}" srcOrd="1" destOrd="0" parTransId="{21AAF4E5-69AF-4C41-93F3-EC6C16982352}" sibTransId="{E375B598-83FA-4739-BC24-308DF11DC7CA}"/>
    <dgm:cxn modelId="{A88545A1-BB63-4FF4-B28B-E7FED65FA6F0}" type="presOf" srcId="{42AA590A-EE21-4EB6-BB9F-B28697A25CB4}" destId="{131D3D73-943A-4F48-82DD-E5FF9CD6CF04}" srcOrd="0" destOrd="0" presId="urn:microsoft.com/office/officeart/2005/8/layout/process4"/>
    <dgm:cxn modelId="{A46303C5-3B31-4B58-AA0A-704688CDED60}" type="presOf" srcId="{BFEC3037-4009-4C92-8BB3-BA004A9EDEF3}" destId="{61E0189D-AC2C-4458-BB6D-CE80D867E62E}" srcOrd="0" destOrd="0" presId="urn:microsoft.com/office/officeart/2005/8/layout/process4"/>
    <dgm:cxn modelId="{55803B55-3F5F-46B1-A67D-4FE25D058A92}" type="presParOf" srcId="{2286B00D-FCEB-4810-B271-7980421C2465}" destId="{2FBF6006-4AED-459B-8F63-678827403CA9}" srcOrd="0" destOrd="0" presId="urn:microsoft.com/office/officeart/2005/8/layout/process4"/>
    <dgm:cxn modelId="{ED1BDFC8-9156-4101-AC95-7E3079A5C89A}" type="presParOf" srcId="{2FBF6006-4AED-459B-8F63-678827403CA9}" destId="{61E0189D-AC2C-4458-BB6D-CE80D867E62E}" srcOrd="0" destOrd="0" presId="urn:microsoft.com/office/officeart/2005/8/layout/process4"/>
    <dgm:cxn modelId="{31059BF7-99FB-43E1-AEB5-6A730E00A930}" type="presParOf" srcId="{2FBF6006-4AED-459B-8F63-678827403CA9}" destId="{6CB4AA41-5371-4B42-9534-5C50524AC84F}" srcOrd="1" destOrd="0" presId="urn:microsoft.com/office/officeart/2005/8/layout/process4"/>
    <dgm:cxn modelId="{90740B48-36A5-4173-A28C-ED0C3F1ADB23}" type="presParOf" srcId="{2FBF6006-4AED-459B-8F63-678827403CA9}" destId="{EF3A0D82-70E5-4211-B583-833B59D3D5B1}" srcOrd="2" destOrd="0" presId="urn:microsoft.com/office/officeart/2005/8/layout/process4"/>
    <dgm:cxn modelId="{E269CEDF-5F34-4736-BC6E-B4593202D218}" type="presParOf" srcId="{EF3A0D82-70E5-4211-B583-833B59D3D5B1}" destId="{7AD1C28F-030D-4602-84E6-F93CC486F863}" srcOrd="0" destOrd="0" presId="urn:microsoft.com/office/officeart/2005/8/layout/process4"/>
    <dgm:cxn modelId="{81661390-1F69-49E9-88F3-0C40E8213CE5}" type="presParOf" srcId="{2286B00D-FCEB-4810-B271-7980421C2465}" destId="{548CA5A2-2EC9-4CCB-90F0-ED3F5DB25203}" srcOrd="1" destOrd="0" presId="urn:microsoft.com/office/officeart/2005/8/layout/process4"/>
    <dgm:cxn modelId="{E7722B6B-24D3-4927-B24E-80C990998D93}" type="presParOf" srcId="{2286B00D-FCEB-4810-B271-7980421C2465}" destId="{E88A927F-314E-494F-B4B3-47F8024FA7EE}" srcOrd="2" destOrd="0" presId="urn:microsoft.com/office/officeart/2005/8/layout/process4"/>
    <dgm:cxn modelId="{FAA2CC2B-CA76-44DF-B5E9-5E6B2BA5EE3A}" type="presParOf" srcId="{E88A927F-314E-494F-B4B3-47F8024FA7EE}" destId="{AF7D01B2-BC2D-433A-8E10-8649D35D0293}" srcOrd="0" destOrd="0" presId="urn:microsoft.com/office/officeart/2005/8/layout/process4"/>
    <dgm:cxn modelId="{A156E01D-94A0-4166-8A25-7B7206493F65}" type="presParOf" srcId="{E88A927F-314E-494F-B4B3-47F8024FA7EE}" destId="{DC00D219-7831-4F88-9472-DCEE38BA17C2}" srcOrd="1" destOrd="0" presId="urn:microsoft.com/office/officeart/2005/8/layout/process4"/>
    <dgm:cxn modelId="{38937B28-7926-4CA6-805F-927EC0AA743E}" type="presParOf" srcId="{E88A927F-314E-494F-B4B3-47F8024FA7EE}" destId="{2105EC85-3522-4F98-B7D3-9E6A3A276794}" srcOrd="2" destOrd="0" presId="urn:microsoft.com/office/officeart/2005/8/layout/process4"/>
    <dgm:cxn modelId="{1E5E020C-823A-45F8-AE0F-FF57350F9DE3}" type="presParOf" srcId="{2105EC85-3522-4F98-B7D3-9E6A3A276794}" destId="{37CDBDB6-2170-404B-8F3F-363B34CA7CAF}" srcOrd="0" destOrd="0" presId="urn:microsoft.com/office/officeart/2005/8/layout/process4"/>
    <dgm:cxn modelId="{CE264962-ADBC-44A7-8D41-3D1BB08E325F}" type="presParOf" srcId="{2286B00D-FCEB-4810-B271-7980421C2465}" destId="{5210526D-0F2D-4B5A-B8DD-A7BAED0A6C55}" srcOrd="3" destOrd="0" presId="urn:microsoft.com/office/officeart/2005/8/layout/process4"/>
    <dgm:cxn modelId="{13DC494B-5DD8-4D75-8AF1-60E0BA87A1FD}" type="presParOf" srcId="{2286B00D-FCEB-4810-B271-7980421C2465}" destId="{EDD5798D-DC70-4992-B6D8-B3932DF1CB09}" srcOrd="4" destOrd="0" presId="urn:microsoft.com/office/officeart/2005/8/layout/process4"/>
    <dgm:cxn modelId="{C6EE832E-F94E-48F1-BF96-FA7757D90066}" type="presParOf" srcId="{EDD5798D-DC70-4992-B6D8-B3932DF1CB09}" destId="{092FD4CA-400B-4A96-B39D-0C58C1B0630A}" srcOrd="0" destOrd="0" presId="urn:microsoft.com/office/officeart/2005/8/layout/process4"/>
    <dgm:cxn modelId="{394B3FF1-12AB-43E0-A05D-85AA72D86332}" type="presParOf" srcId="{EDD5798D-DC70-4992-B6D8-B3932DF1CB09}" destId="{021834F7-9CCD-4967-A129-E4F8A64E9A64}" srcOrd="1" destOrd="0" presId="urn:microsoft.com/office/officeart/2005/8/layout/process4"/>
    <dgm:cxn modelId="{0A581534-DB42-4CEA-9AC9-59850C56396E}" type="presParOf" srcId="{EDD5798D-DC70-4992-B6D8-B3932DF1CB09}" destId="{4B0C8B5F-B57F-4270-A69A-4A528C7EFD6B}" srcOrd="2" destOrd="0" presId="urn:microsoft.com/office/officeart/2005/8/layout/process4"/>
    <dgm:cxn modelId="{37F0E545-D07C-4E8D-8E34-4C49C38E5F5E}" type="presParOf" srcId="{4B0C8B5F-B57F-4270-A69A-4A528C7EFD6B}" destId="{131D3D73-943A-4F48-82DD-E5FF9CD6CF04}"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A9A4429-076D-4858-8D8F-88C39D4CCEEC}" type="doc">
      <dgm:prSet loTypeId="urn:microsoft.com/office/officeart/2005/8/layout/process4" loCatId="process" qsTypeId="urn:microsoft.com/office/officeart/2005/8/quickstyle/simple4" qsCatId="simple" csTypeId="urn:microsoft.com/office/officeart/2005/8/colors/colorful2" csCatId="colorful" phldr="1"/>
      <dgm:spPr/>
      <dgm:t>
        <a:bodyPr/>
        <a:lstStyle/>
        <a:p>
          <a:endParaRPr lang="zh-CN" altLang="en-US"/>
        </a:p>
      </dgm:t>
    </dgm:pt>
    <dgm:pt modelId="{3947F608-ABD1-4FAB-9C0B-DE329E429A37}">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1</a:t>
          </a:r>
          <a:r>
            <a:rPr lang="zh-CN" altLang="en-US" sz="1800" b="1" dirty="0">
              <a:solidFill>
                <a:schemeClr val="bg1"/>
              </a:solidFill>
              <a:latin typeface="微软雅黑" panose="020B0503020204020204" pitchFamily="34" charset="-122"/>
              <a:ea typeface="微软雅黑" panose="020B0503020204020204" pitchFamily="34" charset="-122"/>
            </a:rPr>
            <a:t>，监测</a:t>
          </a:r>
        </a:p>
      </dgm:t>
    </dgm:pt>
    <dgm:pt modelId="{44CB9315-4D10-4A42-8F72-3E9848B40F7E}" type="par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9F111A3-8B10-4CBC-8988-6D6887B08325}" type="sib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B1C92E2-7636-49C1-BF40-059D1DCC39AD}">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2</a:t>
          </a:r>
          <a:r>
            <a:rPr lang="zh-CN" altLang="en-US" sz="1800" b="1" dirty="0">
              <a:solidFill>
                <a:schemeClr val="bg1"/>
              </a:solidFill>
              <a:latin typeface="微软雅黑" panose="020B0503020204020204" pitchFamily="34" charset="-122"/>
              <a:ea typeface="微软雅黑" panose="020B0503020204020204" pitchFamily="34" charset="-122"/>
            </a:rPr>
            <a:t>，传送</a:t>
          </a:r>
        </a:p>
      </dgm:t>
    </dgm:pt>
    <dgm:pt modelId="{21AAF4E5-69AF-4C41-93F3-EC6C16982352}" type="par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75B598-83FA-4739-BC24-308DF11DC7CA}" type="sib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FEC3037-4009-4C92-8BB3-BA004A9EDEF3}">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3</a:t>
          </a:r>
          <a:r>
            <a:rPr lang="zh-CN" altLang="en-US" sz="1800" b="1" dirty="0">
              <a:solidFill>
                <a:schemeClr val="bg1"/>
              </a:solidFill>
              <a:latin typeface="微软雅黑" panose="020B0503020204020204" pitchFamily="34" charset="-122"/>
              <a:ea typeface="微软雅黑" panose="020B0503020204020204" pitchFamily="34" charset="-122"/>
            </a:rPr>
            <a:t>，调整</a:t>
          </a:r>
        </a:p>
      </dgm:t>
    </dgm:pt>
    <dgm:pt modelId="{299766ED-4FD8-49B8-8966-BB112C1AF417}" type="par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62DCE1-5C72-4E17-8F99-D370708BAF3E}" type="sib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2AA590A-EE21-4EB6-BB9F-B28697A25CB4}">
      <dgm:prSet phldrT="[文本]" custT="1"/>
      <dgm:spPr/>
      <dgm:t>
        <a:bodyPr/>
        <a:lstStyle/>
        <a:p>
          <a:r>
            <a:rPr lang="zh-CN" altLang="en-US" sz="1600" b="1" dirty="0">
              <a:latin typeface="微软雅黑" panose="020B0503020204020204" pitchFamily="34" charset="-122"/>
              <a:ea typeface="微软雅黑" panose="020B0503020204020204" pitchFamily="34" charset="-122"/>
            </a:rPr>
            <a:t>监测网络系统，检测拥塞在何时、何处发生。</a:t>
          </a:r>
        </a:p>
      </dgm:t>
    </dgm:pt>
    <dgm:pt modelId="{0C98080D-3654-474A-825B-D81CD9A72ADE}" type="parTrans" cxnId="{F0F6B874-547A-491D-B7F3-72295B08FF37}">
      <dgm:prSet/>
      <dgm:spPr/>
      <dgm:t>
        <a:bodyPr/>
        <a:lstStyle/>
        <a:p>
          <a:endParaRPr lang="zh-CN" altLang="en-US"/>
        </a:p>
      </dgm:t>
    </dgm:pt>
    <dgm:pt modelId="{F55A7609-F61D-45B1-8BFC-84CC6700C8D4}" type="sibTrans" cxnId="{F0F6B874-547A-491D-B7F3-72295B08FF37}">
      <dgm:prSet/>
      <dgm:spPr/>
      <dgm:t>
        <a:bodyPr/>
        <a:lstStyle/>
        <a:p>
          <a:endParaRPr lang="zh-CN" altLang="en-US"/>
        </a:p>
      </dgm:t>
    </dgm:pt>
    <dgm:pt modelId="{4CA39C50-B6AD-43B9-8AA3-4AB1AB59AC80}">
      <dgm:prSet phldrT="[文本]" custT="1"/>
      <dgm:spPr/>
      <dgm:t>
        <a:bodyPr/>
        <a:lstStyle/>
        <a:p>
          <a:r>
            <a:rPr lang="zh-CN" altLang="en-US" sz="1600" b="1" dirty="0">
              <a:latin typeface="微软雅黑" panose="020B0503020204020204" pitchFamily="34" charset="-122"/>
              <a:ea typeface="微软雅黑" panose="020B0503020204020204" pitchFamily="34" charset="-122"/>
            </a:rPr>
            <a:t>将拥塞发生的信息传送到可采取行动的地方。</a:t>
          </a:r>
        </a:p>
      </dgm:t>
    </dgm:pt>
    <dgm:pt modelId="{84A258E1-F007-4F07-8C44-4F27BB480876}" type="parTrans" cxnId="{A52CF45B-6B18-4411-9839-89F985A7649D}">
      <dgm:prSet/>
      <dgm:spPr/>
      <dgm:t>
        <a:bodyPr/>
        <a:lstStyle/>
        <a:p>
          <a:endParaRPr lang="zh-CN" altLang="en-US"/>
        </a:p>
      </dgm:t>
    </dgm:pt>
    <dgm:pt modelId="{A854CB13-5B4C-47C5-ACEA-5A400774CEFF}" type="sibTrans" cxnId="{A52CF45B-6B18-4411-9839-89F985A7649D}">
      <dgm:prSet/>
      <dgm:spPr/>
      <dgm:t>
        <a:bodyPr/>
        <a:lstStyle/>
        <a:p>
          <a:endParaRPr lang="zh-CN" altLang="en-US"/>
        </a:p>
      </dgm:t>
    </dgm:pt>
    <dgm:pt modelId="{59D49692-B4B1-4D68-A9E2-E3D245C6255F}">
      <dgm:prSet phldrT="[文本]" custT="1"/>
      <dgm:spPr/>
      <dgm:t>
        <a:bodyPr/>
        <a:lstStyle/>
        <a:p>
          <a:r>
            <a:rPr lang="zh-CN" altLang="en-US" sz="1600" b="1" dirty="0">
              <a:latin typeface="微软雅黑" panose="020B0503020204020204" pitchFamily="34" charset="-122"/>
              <a:ea typeface="微软雅黑" panose="020B0503020204020204" pitchFamily="34" charset="-122"/>
            </a:rPr>
            <a:t>调整网络系统的运行以解决出现的问题。</a:t>
          </a:r>
        </a:p>
      </dgm:t>
    </dgm:pt>
    <dgm:pt modelId="{17E9933C-7CE1-4429-A3B4-A3589880FB60}" type="parTrans" cxnId="{6CA83F09-C467-488E-869D-ABC010CAF2D8}">
      <dgm:prSet/>
      <dgm:spPr/>
      <dgm:t>
        <a:bodyPr/>
        <a:lstStyle/>
        <a:p>
          <a:endParaRPr lang="zh-CN" altLang="en-US"/>
        </a:p>
      </dgm:t>
    </dgm:pt>
    <dgm:pt modelId="{7F25A2CD-3124-47ED-9234-CB2EC135A7DC}" type="sibTrans" cxnId="{6CA83F09-C467-488E-869D-ABC010CAF2D8}">
      <dgm:prSet/>
      <dgm:spPr/>
      <dgm:t>
        <a:bodyPr/>
        <a:lstStyle/>
        <a:p>
          <a:endParaRPr lang="zh-CN" altLang="en-US"/>
        </a:p>
      </dgm:t>
    </dgm:pt>
    <dgm:pt modelId="{2286B00D-FCEB-4810-B271-7980421C2465}" type="pres">
      <dgm:prSet presAssocID="{DA9A4429-076D-4858-8D8F-88C39D4CCEEC}" presName="Name0" presStyleCnt="0">
        <dgm:presLayoutVars>
          <dgm:dir/>
          <dgm:animLvl val="lvl"/>
          <dgm:resizeHandles val="exact"/>
        </dgm:presLayoutVars>
      </dgm:prSet>
      <dgm:spPr/>
    </dgm:pt>
    <dgm:pt modelId="{2FBF6006-4AED-459B-8F63-678827403CA9}" type="pres">
      <dgm:prSet presAssocID="{BFEC3037-4009-4C92-8BB3-BA004A9EDEF3}" presName="boxAndChildren" presStyleCnt="0"/>
      <dgm:spPr/>
    </dgm:pt>
    <dgm:pt modelId="{61E0189D-AC2C-4458-BB6D-CE80D867E62E}" type="pres">
      <dgm:prSet presAssocID="{BFEC3037-4009-4C92-8BB3-BA004A9EDEF3}" presName="parentTextBox" presStyleLbl="node1" presStyleIdx="0" presStyleCnt="3"/>
      <dgm:spPr/>
    </dgm:pt>
    <dgm:pt modelId="{6CB4AA41-5371-4B42-9534-5C50524AC84F}" type="pres">
      <dgm:prSet presAssocID="{BFEC3037-4009-4C92-8BB3-BA004A9EDEF3}" presName="entireBox" presStyleLbl="node1" presStyleIdx="0" presStyleCnt="3"/>
      <dgm:spPr/>
    </dgm:pt>
    <dgm:pt modelId="{EF3A0D82-70E5-4211-B583-833B59D3D5B1}" type="pres">
      <dgm:prSet presAssocID="{BFEC3037-4009-4C92-8BB3-BA004A9EDEF3}" presName="descendantBox" presStyleCnt="0"/>
      <dgm:spPr/>
    </dgm:pt>
    <dgm:pt modelId="{7AD1C28F-030D-4602-84E6-F93CC486F863}" type="pres">
      <dgm:prSet presAssocID="{59D49692-B4B1-4D68-A9E2-E3D245C6255F}" presName="childTextBox" presStyleLbl="fgAccFollowNode1" presStyleIdx="0" presStyleCnt="3">
        <dgm:presLayoutVars>
          <dgm:bulletEnabled val="1"/>
        </dgm:presLayoutVars>
      </dgm:prSet>
      <dgm:spPr/>
    </dgm:pt>
    <dgm:pt modelId="{548CA5A2-2EC9-4CCB-90F0-ED3F5DB25203}" type="pres">
      <dgm:prSet presAssocID="{E375B598-83FA-4739-BC24-308DF11DC7CA}" presName="sp" presStyleCnt="0"/>
      <dgm:spPr/>
    </dgm:pt>
    <dgm:pt modelId="{E88A927F-314E-494F-B4B3-47F8024FA7EE}" type="pres">
      <dgm:prSet presAssocID="{4B1C92E2-7636-49C1-BF40-059D1DCC39AD}" presName="arrowAndChildren" presStyleCnt="0"/>
      <dgm:spPr/>
    </dgm:pt>
    <dgm:pt modelId="{AF7D01B2-BC2D-433A-8E10-8649D35D0293}" type="pres">
      <dgm:prSet presAssocID="{4B1C92E2-7636-49C1-BF40-059D1DCC39AD}" presName="parentTextArrow" presStyleLbl="node1" presStyleIdx="0" presStyleCnt="3"/>
      <dgm:spPr/>
    </dgm:pt>
    <dgm:pt modelId="{DC00D219-7831-4F88-9472-DCEE38BA17C2}" type="pres">
      <dgm:prSet presAssocID="{4B1C92E2-7636-49C1-BF40-059D1DCC39AD}" presName="arrow" presStyleLbl="node1" presStyleIdx="1" presStyleCnt="3"/>
      <dgm:spPr/>
    </dgm:pt>
    <dgm:pt modelId="{2105EC85-3522-4F98-B7D3-9E6A3A276794}" type="pres">
      <dgm:prSet presAssocID="{4B1C92E2-7636-49C1-BF40-059D1DCC39AD}" presName="descendantArrow" presStyleCnt="0"/>
      <dgm:spPr/>
    </dgm:pt>
    <dgm:pt modelId="{37CDBDB6-2170-404B-8F3F-363B34CA7CAF}" type="pres">
      <dgm:prSet presAssocID="{4CA39C50-B6AD-43B9-8AA3-4AB1AB59AC80}" presName="childTextArrow" presStyleLbl="fgAccFollowNode1" presStyleIdx="1" presStyleCnt="3">
        <dgm:presLayoutVars>
          <dgm:bulletEnabled val="1"/>
        </dgm:presLayoutVars>
      </dgm:prSet>
      <dgm:spPr/>
    </dgm:pt>
    <dgm:pt modelId="{5210526D-0F2D-4B5A-B8DD-A7BAED0A6C55}" type="pres">
      <dgm:prSet presAssocID="{59F111A3-8B10-4CBC-8988-6D6887B08325}" presName="sp" presStyleCnt="0"/>
      <dgm:spPr/>
    </dgm:pt>
    <dgm:pt modelId="{EDD5798D-DC70-4992-B6D8-B3932DF1CB09}" type="pres">
      <dgm:prSet presAssocID="{3947F608-ABD1-4FAB-9C0B-DE329E429A37}" presName="arrowAndChildren" presStyleCnt="0"/>
      <dgm:spPr/>
    </dgm:pt>
    <dgm:pt modelId="{092FD4CA-400B-4A96-B39D-0C58C1B0630A}" type="pres">
      <dgm:prSet presAssocID="{3947F608-ABD1-4FAB-9C0B-DE329E429A37}" presName="parentTextArrow" presStyleLbl="node1" presStyleIdx="1" presStyleCnt="3"/>
      <dgm:spPr/>
    </dgm:pt>
    <dgm:pt modelId="{021834F7-9CCD-4967-A129-E4F8A64E9A64}" type="pres">
      <dgm:prSet presAssocID="{3947F608-ABD1-4FAB-9C0B-DE329E429A37}" presName="arrow" presStyleLbl="node1" presStyleIdx="2" presStyleCnt="3"/>
      <dgm:spPr/>
    </dgm:pt>
    <dgm:pt modelId="{4B0C8B5F-B57F-4270-A69A-4A528C7EFD6B}" type="pres">
      <dgm:prSet presAssocID="{3947F608-ABD1-4FAB-9C0B-DE329E429A37}" presName="descendantArrow" presStyleCnt="0"/>
      <dgm:spPr/>
    </dgm:pt>
    <dgm:pt modelId="{131D3D73-943A-4F48-82DD-E5FF9CD6CF04}" type="pres">
      <dgm:prSet presAssocID="{42AA590A-EE21-4EB6-BB9F-B28697A25CB4}" presName="childTextArrow" presStyleLbl="fgAccFollowNode1" presStyleIdx="2" presStyleCnt="3">
        <dgm:presLayoutVars>
          <dgm:bulletEnabled val="1"/>
        </dgm:presLayoutVars>
      </dgm:prSet>
      <dgm:spPr/>
    </dgm:pt>
  </dgm:ptLst>
  <dgm:cxnLst>
    <dgm:cxn modelId="{9A0A1A06-B9B1-4D90-B09B-A11586934B87}" type="presOf" srcId="{4B1C92E2-7636-49C1-BF40-059D1DCC39AD}" destId="{DC00D219-7831-4F88-9472-DCEE38BA17C2}" srcOrd="1" destOrd="0" presId="urn:microsoft.com/office/officeart/2005/8/layout/process4"/>
    <dgm:cxn modelId="{53FDCF08-CDCF-4C3F-8C30-41778A598BBA}" type="presOf" srcId="{BFEC3037-4009-4C92-8BB3-BA004A9EDEF3}" destId="{6CB4AA41-5371-4B42-9534-5C50524AC84F}" srcOrd="1" destOrd="0" presId="urn:microsoft.com/office/officeart/2005/8/layout/process4"/>
    <dgm:cxn modelId="{6CA83F09-C467-488E-869D-ABC010CAF2D8}" srcId="{BFEC3037-4009-4C92-8BB3-BA004A9EDEF3}" destId="{59D49692-B4B1-4D68-A9E2-E3D245C6255F}" srcOrd="0" destOrd="0" parTransId="{17E9933C-7CE1-4429-A3B4-A3589880FB60}" sibTransId="{7F25A2CD-3124-47ED-9234-CB2EC135A7DC}"/>
    <dgm:cxn modelId="{3BB6C109-83DA-4E9E-9557-5D1A6489A0D7}" type="presOf" srcId="{DA9A4429-076D-4858-8D8F-88C39D4CCEEC}" destId="{2286B00D-FCEB-4810-B271-7980421C2465}" srcOrd="0" destOrd="0" presId="urn:microsoft.com/office/officeart/2005/8/layout/process4"/>
    <dgm:cxn modelId="{1DCB8519-3671-4A11-987F-101833158C0A}" srcId="{DA9A4429-076D-4858-8D8F-88C39D4CCEEC}" destId="{BFEC3037-4009-4C92-8BB3-BA004A9EDEF3}" srcOrd="2" destOrd="0" parTransId="{299766ED-4FD8-49B8-8966-BB112C1AF417}" sibTransId="{E362DCE1-5C72-4E17-8F99-D370708BAF3E}"/>
    <dgm:cxn modelId="{4AD52D27-DA43-4854-9E38-64A5CB34D58E}" type="presOf" srcId="{59D49692-B4B1-4D68-A9E2-E3D245C6255F}" destId="{7AD1C28F-030D-4602-84E6-F93CC486F863}" srcOrd="0" destOrd="0" presId="urn:microsoft.com/office/officeart/2005/8/layout/process4"/>
    <dgm:cxn modelId="{A52CF45B-6B18-4411-9839-89F985A7649D}" srcId="{4B1C92E2-7636-49C1-BF40-059D1DCC39AD}" destId="{4CA39C50-B6AD-43B9-8AA3-4AB1AB59AC80}" srcOrd="0" destOrd="0" parTransId="{84A258E1-F007-4F07-8C44-4F27BB480876}" sibTransId="{A854CB13-5B4C-47C5-ACEA-5A400774CEFF}"/>
    <dgm:cxn modelId="{E84B9572-2768-4579-8818-5044E41255F7}" type="presOf" srcId="{4CA39C50-B6AD-43B9-8AA3-4AB1AB59AC80}" destId="{37CDBDB6-2170-404B-8F3F-363B34CA7CAF}" srcOrd="0" destOrd="0" presId="urn:microsoft.com/office/officeart/2005/8/layout/process4"/>
    <dgm:cxn modelId="{F0F6B874-547A-491D-B7F3-72295B08FF37}" srcId="{3947F608-ABD1-4FAB-9C0B-DE329E429A37}" destId="{42AA590A-EE21-4EB6-BB9F-B28697A25CB4}" srcOrd="0" destOrd="0" parTransId="{0C98080D-3654-474A-825B-D81CD9A72ADE}" sibTransId="{F55A7609-F61D-45B1-8BFC-84CC6700C8D4}"/>
    <dgm:cxn modelId="{D5878276-BA0A-41CF-9C42-C7DB676582A4}" type="presOf" srcId="{3947F608-ABD1-4FAB-9C0B-DE329E429A37}" destId="{021834F7-9CCD-4967-A129-E4F8A64E9A64}" srcOrd="1" destOrd="0" presId="urn:microsoft.com/office/officeart/2005/8/layout/process4"/>
    <dgm:cxn modelId="{BE30047A-FD80-4334-BA7C-5BD67CB291B4}" type="presOf" srcId="{4B1C92E2-7636-49C1-BF40-059D1DCC39AD}" destId="{AF7D01B2-BC2D-433A-8E10-8649D35D0293}" srcOrd="0" destOrd="0" presId="urn:microsoft.com/office/officeart/2005/8/layout/process4"/>
    <dgm:cxn modelId="{9B755F7D-538C-4834-A609-4F93FC5B27C6}" type="presOf" srcId="{3947F608-ABD1-4FAB-9C0B-DE329E429A37}" destId="{092FD4CA-400B-4A96-B39D-0C58C1B0630A}" srcOrd="0" destOrd="0" presId="urn:microsoft.com/office/officeart/2005/8/layout/process4"/>
    <dgm:cxn modelId="{5FFBF780-EF82-4C7B-B65D-7D169A22BC08}" srcId="{DA9A4429-076D-4858-8D8F-88C39D4CCEEC}" destId="{3947F608-ABD1-4FAB-9C0B-DE329E429A37}" srcOrd="0" destOrd="0" parTransId="{44CB9315-4D10-4A42-8F72-3E9848B40F7E}" sibTransId="{59F111A3-8B10-4CBC-8988-6D6887B08325}"/>
    <dgm:cxn modelId="{9B78F294-58B9-473B-8C21-7F51266D5975}" srcId="{DA9A4429-076D-4858-8D8F-88C39D4CCEEC}" destId="{4B1C92E2-7636-49C1-BF40-059D1DCC39AD}" srcOrd="1" destOrd="0" parTransId="{21AAF4E5-69AF-4C41-93F3-EC6C16982352}" sibTransId="{E375B598-83FA-4739-BC24-308DF11DC7CA}"/>
    <dgm:cxn modelId="{A88545A1-BB63-4FF4-B28B-E7FED65FA6F0}" type="presOf" srcId="{42AA590A-EE21-4EB6-BB9F-B28697A25CB4}" destId="{131D3D73-943A-4F48-82DD-E5FF9CD6CF04}" srcOrd="0" destOrd="0" presId="urn:microsoft.com/office/officeart/2005/8/layout/process4"/>
    <dgm:cxn modelId="{A46303C5-3B31-4B58-AA0A-704688CDED60}" type="presOf" srcId="{BFEC3037-4009-4C92-8BB3-BA004A9EDEF3}" destId="{61E0189D-AC2C-4458-BB6D-CE80D867E62E}" srcOrd="0" destOrd="0" presId="urn:microsoft.com/office/officeart/2005/8/layout/process4"/>
    <dgm:cxn modelId="{55803B55-3F5F-46B1-A67D-4FE25D058A92}" type="presParOf" srcId="{2286B00D-FCEB-4810-B271-7980421C2465}" destId="{2FBF6006-4AED-459B-8F63-678827403CA9}" srcOrd="0" destOrd="0" presId="urn:microsoft.com/office/officeart/2005/8/layout/process4"/>
    <dgm:cxn modelId="{ED1BDFC8-9156-4101-AC95-7E3079A5C89A}" type="presParOf" srcId="{2FBF6006-4AED-459B-8F63-678827403CA9}" destId="{61E0189D-AC2C-4458-BB6D-CE80D867E62E}" srcOrd="0" destOrd="0" presId="urn:microsoft.com/office/officeart/2005/8/layout/process4"/>
    <dgm:cxn modelId="{31059BF7-99FB-43E1-AEB5-6A730E00A930}" type="presParOf" srcId="{2FBF6006-4AED-459B-8F63-678827403CA9}" destId="{6CB4AA41-5371-4B42-9534-5C50524AC84F}" srcOrd="1" destOrd="0" presId="urn:microsoft.com/office/officeart/2005/8/layout/process4"/>
    <dgm:cxn modelId="{90740B48-36A5-4173-A28C-ED0C3F1ADB23}" type="presParOf" srcId="{2FBF6006-4AED-459B-8F63-678827403CA9}" destId="{EF3A0D82-70E5-4211-B583-833B59D3D5B1}" srcOrd="2" destOrd="0" presId="urn:microsoft.com/office/officeart/2005/8/layout/process4"/>
    <dgm:cxn modelId="{E269CEDF-5F34-4736-BC6E-B4593202D218}" type="presParOf" srcId="{EF3A0D82-70E5-4211-B583-833B59D3D5B1}" destId="{7AD1C28F-030D-4602-84E6-F93CC486F863}" srcOrd="0" destOrd="0" presId="urn:microsoft.com/office/officeart/2005/8/layout/process4"/>
    <dgm:cxn modelId="{81661390-1F69-49E9-88F3-0C40E8213CE5}" type="presParOf" srcId="{2286B00D-FCEB-4810-B271-7980421C2465}" destId="{548CA5A2-2EC9-4CCB-90F0-ED3F5DB25203}" srcOrd="1" destOrd="0" presId="urn:microsoft.com/office/officeart/2005/8/layout/process4"/>
    <dgm:cxn modelId="{E7722B6B-24D3-4927-B24E-80C990998D93}" type="presParOf" srcId="{2286B00D-FCEB-4810-B271-7980421C2465}" destId="{E88A927F-314E-494F-B4B3-47F8024FA7EE}" srcOrd="2" destOrd="0" presId="urn:microsoft.com/office/officeart/2005/8/layout/process4"/>
    <dgm:cxn modelId="{FAA2CC2B-CA76-44DF-B5E9-5E6B2BA5EE3A}" type="presParOf" srcId="{E88A927F-314E-494F-B4B3-47F8024FA7EE}" destId="{AF7D01B2-BC2D-433A-8E10-8649D35D0293}" srcOrd="0" destOrd="0" presId="urn:microsoft.com/office/officeart/2005/8/layout/process4"/>
    <dgm:cxn modelId="{A156E01D-94A0-4166-8A25-7B7206493F65}" type="presParOf" srcId="{E88A927F-314E-494F-B4B3-47F8024FA7EE}" destId="{DC00D219-7831-4F88-9472-DCEE38BA17C2}" srcOrd="1" destOrd="0" presId="urn:microsoft.com/office/officeart/2005/8/layout/process4"/>
    <dgm:cxn modelId="{38937B28-7926-4CA6-805F-927EC0AA743E}" type="presParOf" srcId="{E88A927F-314E-494F-B4B3-47F8024FA7EE}" destId="{2105EC85-3522-4F98-B7D3-9E6A3A276794}" srcOrd="2" destOrd="0" presId="urn:microsoft.com/office/officeart/2005/8/layout/process4"/>
    <dgm:cxn modelId="{1E5E020C-823A-45F8-AE0F-FF57350F9DE3}" type="presParOf" srcId="{2105EC85-3522-4F98-B7D3-9E6A3A276794}" destId="{37CDBDB6-2170-404B-8F3F-363B34CA7CAF}" srcOrd="0" destOrd="0" presId="urn:microsoft.com/office/officeart/2005/8/layout/process4"/>
    <dgm:cxn modelId="{CE264962-ADBC-44A7-8D41-3D1BB08E325F}" type="presParOf" srcId="{2286B00D-FCEB-4810-B271-7980421C2465}" destId="{5210526D-0F2D-4B5A-B8DD-A7BAED0A6C55}" srcOrd="3" destOrd="0" presId="urn:microsoft.com/office/officeart/2005/8/layout/process4"/>
    <dgm:cxn modelId="{13DC494B-5DD8-4D75-8AF1-60E0BA87A1FD}" type="presParOf" srcId="{2286B00D-FCEB-4810-B271-7980421C2465}" destId="{EDD5798D-DC70-4992-B6D8-B3932DF1CB09}" srcOrd="4" destOrd="0" presId="urn:microsoft.com/office/officeart/2005/8/layout/process4"/>
    <dgm:cxn modelId="{C6EE832E-F94E-48F1-BF96-FA7757D90066}" type="presParOf" srcId="{EDD5798D-DC70-4992-B6D8-B3932DF1CB09}" destId="{092FD4CA-400B-4A96-B39D-0C58C1B0630A}" srcOrd="0" destOrd="0" presId="urn:microsoft.com/office/officeart/2005/8/layout/process4"/>
    <dgm:cxn modelId="{394B3FF1-12AB-43E0-A05D-85AA72D86332}" type="presParOf" srcId="{EDD5798D-DC70-4992-B6D8-B3932DF1CB09}" destId="{021834F7-9CCD-4967-A129-E4F8A64E9A64}" srcOrd="1" destOrd="0" presId="urn:microsoft.com/office/officeart/2005/8/layout/process4"/>
    <dgm:cxn modelId="{0A581534-DB42-4CEA-9AC9-59850C56396E}" type="presParOf" srcId="{EDD5798D-DC70-4992-B6D8-B3932DF1CB09}" destId="{4B0C8B5F-B57F-4270-A69A-4A528C7EFD6B}" srcOrd="2" destOrd="0" presId="urn:microsoft.com/office/officeart/2005/8/layout/process4"/>
    <dgm:cxn modelId="{37F0E545-D07C-4E8D-8E34-4C49C38E5F5E}" type="presParOf" srcId="{4B0C8B5F-B57F-4270-A69A-4A528C7EFD6B}" destId="{131D3D73-943A-4F48-82DD-E5FF9CD6CF04}"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4AA41-5371-4B42-9534-5C50524AC84F}">
      <dsp:nvSpPr>
        <dsp:cNvPr id="0" name=""/>
        <dsp:cNvSpPr/>
      </dsp:nvSpPr>
      <dsp:spPr>
        <a:xfrm>
          <a:off x="0" y="2121967"/>
          <a:ext cx="4409319" cy="69647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3</a:t>
          </a:r>
          <a:r>
            <a:rPr lang="zh-CN" altLang="en-US" sz="1800" b="1" kern="1200" dirty="0">
              <a:solidFill>
                <a:schemeClr val="bg1"/>
              </a:solidFill>
              <a:latin typeface="微软雅黑" panose="020B0503020204020204" pitchFamily="34" charset="-122"/>
              <a:ea typeface="微软雅黑" panose="020B0503020204020204" pitchFamily="34" charset="-122"/>
            </a:rPr>
            <a:t>，调整</a:t>
          </a:r>
        </a:p>
      </dsp:txBody>
      <dsp:txXfrm>
        <a:off x="0" y="2121967"/>
        <a:ext cx="4409319" cy="376097"/>
      </dsp:txXfrm>
    </dsp:sp>
    <dsp:sp modelId="{7AD1C28F-030D-4602-84E6-F93CC486F863}">
      <dsp:nvSpPr>
        <dsp:cNvPr id="0" name=""/>
        <dsp:cNvSpPr/>
      </dsp:nvSpPr>
      <dsp:spPr>
        <a:xfrm>
          <a:off x="0" y="2484135"/>
          <a:ext cx="4409319" cy="320379"/>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调整网络系统的运行以解决出现的问题。</a:t>
          </a:r>
        </a:p>
      </dsp:txBody>
      <dsp:txXfrm>
        <a:off x="0" y="2484135"/>
        <a:ext cx="4409319" cy="320379"/>
      </dsp:txXfrm>
    </dsp:sp>
    <dsp:sp modelId="{DC00D219-7831-4F88-9472-DCEE38BA17C2}">
      <dsp:nvSpPr>
        <dsp:cNvPr id="0" name=""/>
        <dsp:cNvSpPr/>
      </dsp:nvSpPr>
      <dsp:spPr>
        <a:xfrm rot="10800000">
          <a:off x="0" y="1061232"/>
          <a:ext cx="4409319" cy="1071181"/>
        </a:xfrm>
        <a:prstGeom prst="upArrowCallout">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2</a:t>
          </a:r>
          <a:r>
            <a:rPr lang="zh-CN" altLang="en-US" sz="1800" b="1" kern="1200" dirty="0">
              <a:solidFill>
                <a:schemeClr val="bg1"/>
              </a:solidFill>
              <a:latin typeface="微软雅黑" panose="020B0503020204020204" pitchFamily="34" charset="-122"/>
              <a:ea typeface="微软雅黑" panose="020B0503020204020204" pitchFamily="34" charset="-122"/>
            </a:rPr>
            <a:t>，传送</a:t>
          </a:r>
        </a:p>
      </dsp:txBody>
      <dsp:txXfrm rot="-10800000">
        <a:off x="0" y="1061232"/>
        <a:ext cx="4409319" cy="375984"/>
      </dsp:txXfrm>
    </dsp:sp>
    <dsp:sp modelId="{37CDBDB6-2170-404B-8F3F-363B34CA7CAF}">
      <dsp:nvSpPr>
        <dsp:cNvPr id="0" name=""/>
        <dsp:cNvSpPr/>
      </dsp:nvSpPr>
      <dsp:spPr>
        <a:xfrm>
          <a:off x="0" y="1437217"/>
          <a:ext cx="4409319" cy="320283"/>
        </a:xfrm>
        <a:prstGeom prst="rect">
          <a:avLst/>
        </a:prstGeom>
        <a:solidFill>
          <a:schemeClr val="accent2">
            <a:tint val="40000"/>
            <a:alpha val="90000"/>
            <a:hueOff val="2512910"/>
            <a:satOff val="-2189"/>
            <a:lumOff val="-3"/>
            <a:alphaOff val="0"/>
          </a:schemeClr>
        </a:solidFill>
        <a:ln w="9525" cap="flat" cmpd="sng" algn="ctr">
          <a:solidFill>
            <a:schemeClr val="accent2">
              <a:tint val="40000"/>
              <a:alpha val="90000"/>
              <a:hueOff val="2512910"/>
              <a:satOff val="-2189"/>
              <a:lumOff val="-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将拥塞发生的信息传送到可采取行动的地方。</a:t>
          </a:r>
        </a:p>
      </dsp:txBody>
      <dsp:txXfrm>
        <a:off x="0" y="1437217"/>
        <a:ext cx="4409319" cy="320283"/>
      </dsp:txXfrm>
    </dsp:sp>
    <dsp:sp modelId="{021834F7-9CCD-4967-A129-E4F8A64E9A64}">
      <dsp:nvSpPr>
        <dsp:cNvPr id="0" name=""/>
        <dsp:cNvSpPr/>
      </dsp:nvSpPr>
      <dsp:spPr>
        <a:xfrm rot="10800000">
          <a:off x="0" y="498"/>
          <a:ext cx="4409319" cy="1071181"/>
        </a:xfrm>
        <a:prstGeom prst="upArrowCallout">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1</a:t>
          </a:r>
          <a:r>
            <a:rPr lang="zh-CN" altLang="en-US" sz="1800" b="1" kern="1200" dirty="0">
              <a:solidFill>
                <a:schemeClr val="bg1"/>
              </a:solidFill>
              <a:latin typeface="微软雅黑" panose="020B0503020204020204" pitchFamily="34" charset="-122"/>
              <a:ea typeface="微软雅黑" panose="020B0503020204020204" pitchFamily="34" charset="-122"/>
            </a:rPr>
            <a:t>，监测</a:t>
          </a:r>
        </a:p>
      </dsp:txBody>
      <dsp:txXfrm rot="-10800000">
        <a:off x="0" y="498"/>
        <a:ext cx="4409319" cy="375984"/>
      </dsp:txXfrm>
    </dsp:sp>
    <dsp:sp modelId="{131D3D73-943A-4F48-82DD-E5FF9CD6CF04}">
      <dsp:nvSpPr>
        <dsp:cNvPr id="0" name=""/>
        <dsp:cNvSpPr/>
      </dsp:nvSpPr>
      <dsp:spPr>
        <a:xfrm>
          <a:off x="0" y="376483"/>
          <a:ext cx="4409319" cy="320283"/>
        </a:xfrm>
        <a:prstGeom prst="rect">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监测网络系统，检测拥塞在何时、何处发生。</a:t>
          </a:r>
        </a:p>
      </dsp:txBody>
      <dsp:txXfrm>
        <a:off x="0" y="376483"/>
        <a:ext cx="4409319" cy="32028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4AA41-5371-4B42-9534-5C50524AC84F}">
      <dsp:nvSpPr>
        <dsp:cNvPr id="0" name=""/>
        <dsp:cNvSpPr/>
      </dsp:nvSpPr>
      <dsp:spPr>
        <a:xfrm>
          <a:off x="0" y="2121967"/>
          <a:ext cx="4409319" cy="69647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3</a:t>
          </a:r>
          <a:r>
            <a:rPr lang="zh-CN" altLang="en-US" sz="1800" b="1" kern="1200" dirty="0">
              <a:solidFill>
                <a:schemeClr val="bg1"/>
              </a:solidFill>
              <a:latin typeface="微软雅黑" panose="020B0503020204020204" pitchFamily="34" charset="-122"/>
              <a:ea typeface="微软雅黑" panose="020B0503020204020204" pitchFamily="34" charset="-122"/>
            </a:rPr>
            <a:t>，调整</a:t>
          </a:r>
        </a:p>
      </dsp:txBody>
      <dsp:txXfrm>
        <a:off x="0" y="2121967"/>
        <a:ext cx="4409319" cy="376097"/>
      </dsp:txXfrm>
    </dsp:sp>
    <dsp:sp modelId="{7AD1C28F-030D-4602-84E6-F93CC486F863}">
      <dsp:nvSpPr>
        <dsp:cNvPr id="0" name=""/>
        <dsp:cNvSpPr/>
      </dsp:nvSpPr>
      <dsp:spPr>
        <a:xfrm>
          <a:off x="0" y="2484135"/>
          <a:ext cx="4409319" cy="320379"/>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调整网络系统的运行以解决出现的问题。</a:t>
          </a:r>
        </a:p>
      </dsp:txBody>
      <dsp:txXfrm>
        <a:off x="0" y="2484135"/>
        <a:ext cx="4409319" cy="320379"/>
      </dsp:txXfrm>
    </dsp:sp>
    <dsp:sp modelId="{DC00D219-7831-4F88-9472-DCEE38BA17C2}">
      <dsp:nvSpPr>
        <dsp:cNvPr id="0" name=""/>
        <dsp:cNvSpPr/>
      </dsp:nvSpPr>
      <dsp:spPr>
        <a:xfrm rot="10800000">
          <a:off x="0" y="1061232"/>
          <a:ext cx="4409319" cy="1071181"/>
        </a:xfrm>
        <a:prstGeom prst="upArrowCallout">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2</a:t>
          </a:r>
          <a:r>
            <a:rPr lang="zh-CN" altLang="en-US" sz="1800" b="1" kern="1200" dirty="0">
              <a:solidFill>
                <a:schemeClr val="bg1"/>
              </a:solidFill>
              <a:latin typeface="微软雅黑" panose="020B0503020204020204" pitchFamily="34" charset="-122"/>
              <a:ea typeface="微软雅黑" panose="020B0503020204020204" pitchFamily="34" charset="-122"/>
            </a:rPr>
            <a:t>，传送</a:t>
          </a:r>
        </a:p>
      </dsp:txBody>
      <dsp:txXfrm rot="-10800000">
        <a:off x="0" y="1061232"/>
        <a:ext cx="4409319" cy="375984"/>
      </dsp:txXfrm>
    </dsp:sp>
    <dsp:sp modelId="{37CDBDB6-2170-404B-8F3F-363B34CA7CAF}">
      <dsp:nvSpPr>
        <dsp:cNvPr id="0" name=""/>
        <dsp:cNvSpPr/>
      </dsp:nvSpPr>
      <dsp:spPr>
        <a:xfrm>
          <a:off x="0" y="1437217"/>
          <a:ext cx="4409319" cy="320283"/>
        </a:xfrm>
        <a:prstGeom prst="rect">
          <a:avLst/>
        </a:prstGeom>
        <a:solidFill>
          <a:schemeClr val="accent2">
            <a:tint val="40000"/>
            <a:alpha val="90000"/>
            <a:hueOff val="2512910"/>
            <a:satOff val="-2189"/>
            <a:lumOff val="-3"/>
            <a:alphaOff val="0"/>
          </a:schemeClr>
        </a:solidFill>
        <a:ln w="9525" cap="flat" cmpd="sng" algn="ctr">
          <a:solidFill>
            <a:schemeClr val="accent2">
              <a:tint val="40000"/>
              <a:alpha val="90000"/>
              <a:hueOff val="2512910"/>
              <a:satOff val="-2189"/>
              <a:lumOff val="-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将拥塞发生的信息传送到可采取行动的地方。</a:t>
          </a:r>
        </a:p>
      </dsp:txBody>
      <dsp:txXfrm>
        <a:off x="0" y="1437217"/>
        <a:ext cx="4409319" cy="320283"/>
      </dsp:txXfrm>
    </dsp:sp>
    <dsp:sp modelId="{021834F7-9CCD-4967-A129-E4F8A64E9A64}">
      <dsp:nvSpPr>
        <dsp:cNvPr id="0" name=""/>
        <dsp:cNvSpPr/>
      </dsp:nvSpPr>
      <dsp:spPr>
        <a:xfrm rot="10800000">
          <a:off x="0" y="498"/>
          <a:ext cx="4409319" cy="1071181"/>
        </a:xfrm>
        <a:prstGeom prst="upArrowCallout">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1</a:t>
          </a:r>
          <a:r>
            <a:rPr lang="zh-CN" altLang="en-US" sz="1800" b="1" kern="1200" dirty="0">
              <a:solidFill>
                <a:schemeClr val="bg1"/>
              </a:solidFill>
              <a:latin typeface="微软雅黑" panose="020B0503020204020204" pitchFamily="34" charset="-122"/>
              <a:ea typeface="微软雅黑" panose="020B0503020204020204" pitchFamily="34" charset="-122"/>
            </a:rPr>
            <a:t>，监测</a:t>
          </a:r>
        </a:p>
      </dsp:txBody>
      <dsp:txXfrm rot="-10800000">
        <a:off x="0" y="498"/>
        <a:ext cx="4409319" cy="375984"/>
      </dsp:txXfrm>
    </dsp:sp>
    <dsp:sp modelId="{131D3D73-943A-4F48-82DD-E5FF9CD6CF04}">
      <dsp:nvSpPr>
        <dsp:cNvPr id="0" name=""/>
        <dsp:cNvSpPr/>
      </dsp:nvSpPr>
      <dsp:spPr>
        <a:xfrm>
          <a:off x="0" y="376483"/>
          <a:ext cx="4409319" cy="320283"/>
        </a:xfrm>
        <a:prstGeom prst="rect">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监测网络系统，检测拥塞在何时、何处发生。</a:t>
          </a:r>
        </a:p>
      </dsp:txBody>
      <dsp:txXfrm>
        <a:off x="0" y="376483"/>
        <a:ext cx="4409319" cy="32028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4AA41-5371-4B42-9534-5C50524AC84F}">
      <dsp:nvSpPr>
        <dsp:cNvPr id="0" name=""/>
        <dsp:cNvSpPr/>
      </dsp:nvSpPr>
      <dsp:spPr>
        <a:xfrm>
          <a:off x="0" y="2121967"/>
          <a:ext cx="4409319" cy="69647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3</a:t>
          </a:r>
          <a:r>
            <a:rPr lang="zh-CN" altLang="en-US" sz="1800" b="1" kern="1200" dirty="0">
              <a:solidFill>
                <a:schemeClr val="bg1"/>
              </a:solidFill>
              <a:latin typeface="微软雅黑" panose="020B0503020204020204" pitchFamily="34" charset="-122"/>
              <a:ea typeface="微软雅黑" panose="020B0503020204020204" pitchFamily="34" charset="-122"/>
            </a:rPr>
            <a:t>，调整</a:t>
          </a:r>
        </a:p>
      </dsp:txBody>
      <dsp:txXfrm>
        <a:off x="0" y="2121967"/>
        <a:ext cx="4409319" cy="376097"/>
      </dsp:txXfrm>
    </dsp:sp>
    <dsp:sp modelId="{7AD1C28F-030D-4602-84E6-F93CC486F863}">
      <dsp:nvSpPr>
        <dsp:cNvPr id="0" name=""/>
        <dsp:cNvSpPr/>
      </dsp:nvSpPr>
      <dsp:spPr>
        <a:xfrm>
          <a:off x="0" y="2484135"/>
          <a:ext cx="4409319" cy="320379"/>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调整网络系统的运行以解决出现的问题。</a:t>
          </a:r>
        </a:p>
      </dsp:txBody>
      <dsp:txXfrm>
        <a:off x="0" y="2484135"/>
        <a:ext cx="4409319" cy="320379"/>
      </dsp:txXfrm>
    </dsp:sp>
    <dsp:sp modelId="{DC00D219-7831-4F88-9472-DCEE38BA17C2}">
      <dsp:nvSpPr>
        <dsp:cNvPr id="0" name=""/>
        <dsp:cNvSpPr/>
      </dsp:nvSpPr>
      <dsp:spPr>
        <a:xfrm rot="10800000">
          <a:off x="0" y="1061232"/>
          <a:ext cx="4409319" cy="1071181"/>
        </a:xfrm>
        <a:prstGeom prst="upArrowCallout">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2</a:t>
          </a:r>
          <a:r>
            <a:rPr lang="zh-CN" altLang="en-US" sz="1800" b="1" kern="1200" dirty="0">
              <a:solidFill>
                <a:schemeClr val="bg1"/>
              </a:solidFill>
              <a:latin typeface="微软雅黑" panose="020B0503020204020204" pitchFamily="34" charset="-122"/>
              <a:ea typeface="微软雅黑" panose="020B0503020204020204" pitchFamily="34" charset="-122"/>
            </a:rPr>
            <a:t>，传送</a:t>
          </a:r>
        </a:p>
      </dsp:txBody>
      <dsp:txXfrm rot="-10800000">
        <a:off x="0" y="1061232"/>
        <a:ext cx="4409319" cy="375984"/>
      </dsp:txXfrm>
    </dsp:sp>
    <dsp:sp modelId="{37CDBDB6-2170-404B-8F3F-363B34CA7CAF}">
      <dsp:nvSpPr>
        <dsp:cNvPr id="0" name=""/>
        <dsp:cNvSpPr/>
      </dsp:nvSpPr>
      <dsp:spPr>
        <a:xfrm>
          <a:off x="0" y="1437217"/>
          <a:ext cx="4409319" cy="320283"/>
        </a:xfrm>
        <a:prstGeom prst="rect">
          <a:avLst/>
        </a:prstGeom>
        <a:solidFill>
          <a:schemeClr val="accent2">
            <a:tint val="40000"/>
            <a:alpha val="90000"/>
            <a:hueOff val="2512910"/>
            <a:satOff val="-2189"/>
            <a:lumOff val="-3"/>
            <a:alphaOff val="0"/>
          </a:schemeClr>
        </a:solidFill>
        <a:ln w="9525" cap="flat" cmpd="sng" algn="ctr">
          <a:solidFill>
            <a:schemeClr val="accent2">
              <a:tint val="40000"/>
              <a:alpha val="90000"/>
              <a:hueOff val="2512910"/>
              <a:satOff val="-2189"/>
              <a:lumOff val="-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将拥塞发生的信息传送到可采取行动的地方。</a:t>
          </a:r>
        </a:p>
      </dsp:txBody>
      <dsp:txXfrm>
        <a:off x="0" y="1437217"/>
        <a:ext cx="4409319" cy="320283"/>
      </dsp:txXfrm>
    </dsp:sp>
    <dsp:sp modelId="{021834F7-9CCD-4967-A129-E4F8A64E9A64}">
      <dsp:nvSpPr>
        <dsp:cNvPr id="0" name=""/>
        <dsp:cNvSpPr/>
      </dsp:nvSpPr>
      <dsp:spPr>
        <a:xfrm rot="10800000">
          <a:off x="0" y="498"/>
          <a:ext cx="4409319" cy="1071181"/>
        </a:xfrm>
        <a:prstGeom prst="upArrowCallout">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1</a:t>
          </a:r>
          <a:r>
            <a:rPr lang="zh-CN" altLang="en-US" sz="1800" b="1" kern="1200" dirty="0">
              <a:solidFill>
                <a:schemeClr val="bg1"/>
              </a:solidFill>
              <a:latin typeface="微软雅黑" panose="020B0503020204020204" pitchFamily="34" charset="-122"/>
              <a:ea typeface="微软雅黑" panose="020B0503020204020204" pitchFamily="34" charset="-122"/>
            </a:rPr>
            <a:t>，监测</a:t>
          </a:r>
        </a:p>
      </dsp:txBody>
      <dsp:txXfrm rot="-10800000">
        <a:off x="0" y="498"/>
        <a:ext cx="4409319" cy="375984"/>
      </dsp:txXfrm>
    </dsp:sp>
    <dsp:sp modelId="{131D3D73-943A-4F48-82DD-E5FF9CD6CF04}">
      <dsp:nvSpPr>
        <dsp:cNvPr id="0" name=""/>
        <dsp:cNvSpPr/>
      </dsp:nvSpPr>
      <dsp:spPr>
        <a:xfrm>
          <a:off x="0" y="376483"/>
          <a:ext cx="4409319" cy="320283"/>
        </a:xfrm>
        <a:prstGeom prst="rect">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监测网络系统，检测拥塞在何时、何处发生。</a:t>
          </a:r>
        </a:p>
      </dsp:txBody>
      <dsp:txXfrm>
        <a:off x="0" y="376483"/>
        <a:ext cx="4409319" cy="32028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4AA41-5371-4B42-9534-5C50524AC84F}">
      <dsp:nvSpPr>
        <dsp:cNvPr id="0" name=""/>
        <dsp:cNvSpPr/>
      </dsp:nvSpPr>
      <dsp:spPr>
        <a:xfrm>
          <a:off x="0" y="2121967"/>
          <a:ext cx="4409319" cy="69647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3</a:t>
          </a:r>
          <a:r>
            <a:rPr lang="zh-CN" altLang="en-US" sz="1800" b="1" kern="1200" dirty="0">
              <a:solidFill>
                <a:schemeClr val="bg1"/>
              </a:solidFill>
              <a:latin typeface="微软雅黑" panose="020B0503020204020204" pitchFamily="34" charset="-122"/>
              <a:ea typeface="微软雅黑" panose="020B0503020204020204" pitchFamily="34" charset="-122"/>
            </a:rPr>
            <a:t>，调整</a:t>
          </a:r>
        </a:p>
      </dsp:txBody>
      <dsp:txXfrm>
        <a:off x="0" y="2121967"/>
        <a:ext cx="4409319" cy="376097"/>
      </dsp:txXfrm>
    </dsp:sp>
    <dsp:sp modelId="{7AD1C28F-030D-4602-84E6-F93CC486F863}">
      <dsp:nvSpPr>
        <dsp:cNvPr id="0" name=""/>
        <dsp:cNvSpPr/>
      </dsp:nvSpPr>
      <dsp:spPr>
        <a:xfrm>
          <a:off x="0" y="2484135"/>
          <a:ext cx="4409319" cy="320379"/>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调整网络系统的运行以解决出现的问题。</a:t>
          </a:r>
        </a:p>
      </dsp:txBody>
      <dsp:txXfrm>
        <a:off x="0" y="2484135"/>
        <a:ext cx="4409319" cy="320379"/>
      </dsp:txXfrm>
    </dsp:sp>
    <dsp:sp modelId="{DC00D219-7831-4F88-9472-DCEE38BA17C2}">
      <dsp:nvSpPr>
        <dsp:cNvPr id="0" name=""/>
        <dsp:cNvSpPr/>
      </dsp:nvSpPr>
      <dsp:spPr>
        <a:xfrm rot="10800000">
          <a:off x="0" y="1061232"/>
          <a:ext cx="4409319" cy="1071181"/>
        </a:xfrm>
        <a:prstGeom prst="upArrowCallout">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2</a:t>
          </a:r>
          <a:r>
            <a:rPr lang="zh-CN" altLang="en-US" sz="1800" b="1" kern="1200" dirty="0">
              <a:solidFill>
                <a:schemeClr val="bg1"/>
              </a:solidFill>
              <a:latin typeface="微软雅黑" panose="020B0503020204020204" pitchFamily="34" charset="-122"/>
              <a:ea typeface="微软雅黑" panose="020B0503020204020204" pitchFamily="34" charset="-122"/>
            </a:rPr>
            <a:t>，传送</a:t>
          </a:r>
        </a:p>
      </dsp:txBody>
      <dsp:txXfrm rot="-10800000">
        <a:off x="0" y="1061232"/>
        <a:ext cx="4409319" cy="375984"/>
      </dsp:txXfrm>
    </dsp:sp>
    <dsp:sp modelId="{37CDBDB6-2170-404B-8F3F-363B34CA7CAF}">
      <dsp:nvSpPr>
        <dsp:cNvPr id="0" name=""/>
        <dsp:cNvSpPr/>
      </dsp:nvSpPr>
      <dsp:spPr>
        <a:xfrm>
          <a:off x="0" y="1437217"/>
          <a:ext cx="4409319" cy="320283"/>
        </a:xfrm>
        <a:prstGeom prst="rect">
          <a:avLst/>
        </a:prstGeom>
        <a:solidFill>
          <a:schemeClr val="accent2">
            <a:tint val="40000"/>
            <a:alpha val="90000"/>
            <a:hueOff val="2512910"/>
            <a:satOff val="-2189"/>
            <a:lumOff val="-3"/>
            <a:alphaOff val="0"/>
          </a:schemeClr>
        </a:solidFill>
        <a:ln w="9525" cap="flat" cmpd="sng" algn="ctr">
          <a:solidFill>
            <a:schemeClr val="accent2">
              <a:tint val="40000"/>
              <a:alpha val="90000"/>
              <a:hueOff val="2512910"/>
              <a:satOff val="-2189"/>
              <a:lumOff val="-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将拥塞发生的信息传送到可采取行动的地方。</a:t>
          </a:r>
        </a:p>
      </dsp:txBody>
      <dsp:txXfrm>
        <a:off x="0" y="1437217"/>
        <a:ext cx="4409319" cy="320283"/>
      </dsp:txXfrm>
    </dsp:sp>
    <dsp:sp modelId="{021834F7-9CCD-4967-A129-E4F8A64E9A64}">
      <dsp:nvSpPr>
        <dsp:cNvPr id="0" name=""/>
        <dsp:cNvSpPr/>
      </dsp:nvSpPr>
      <dsp:spPr>
        <a:xfrm rot="10800000">
          <a:off x="0" y="498"/>
          <a:ext cx="4409319" cy="1071181"/>
        </a:xfrm>
        <a:prstGeom prst="upArrowCallout">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1</a:t>
          </a:r>
          <a:r>
            <a:rPr lang="zh-CN" altLang="en-US" sz="1800" b="1" kern="1200" dirty="0">
              <a:solidFill>
                <a:schemeClr val="bg1"/>
              </a:solidFill>
              <a:latin typeface="微软雅黑" panose="020B0503020204020204" pitchFamily="34" charset="-122"/>
              <a:ea typeface="微软雅黑" panose="020B0503020204020204" pitchFamily="34" charset="-122"/>
            </a:rPr>
            <a:t>，监测</a:t>
          </a:r>
        </a:p>
      </dsp:txBody>
      <dsp:txXfrm rot="-10800000">
        <a:off x="0" y="498"/>
        <a:ext cx="4409319" cy="375984"/>
      </dsp:txXfrm>
    </dsp:sp>
    <dsp:sp modelId="{131D3D73-943A-4F48-82DD-E5FF9CD6CF04}">
      <dsp:nvSpPr>
        <dsp:cNvPr id="0" name=""/>
        <dsp:cNvSpPr/>
      </dsp:nvSpPr>
      <dsp:spPr>
        <a:xfrm>
          <a:off x="0" y="376483"/>
          <a:ext cx="4409319" cy="320283"/>
        </a:xfrm>
        <a:prstGeom prst="rect">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监测网络系统，检测拥塞在何时、何处发生。</a:t>
          </a:r>
        </a:p>
      </dsp:txBody>
      <dsp:txXfrm>
        <a:off x="0" y="376483"/>
        <a:ext cx="4409319" cy="320283"/>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F7A0F7-AD19-4993-8574-730EC50C92A6}" type="datetimeFigureOut">
              <a:rPr lang="zh-CN" altLang="en-US" smtClean="0"/>
              <a:pPr/>
              <a:t>2026/5/22</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14BD24-89E3-4C51-B736-BCCE6C13A884}" type="slidenum">
              <a:rPr lang="zh-CN" altLang="en-US" smtClean="0"/>
              <a:pPr/>
              <a:t>‹#›</a:t>
            </a:fld>
            <a:endParaRPr lang="zh-CN" altLang="en-US"/>
          </a:p>
        </p:txBody>
      </p:sp>
    </p:spTree>
    <p:extLst>
      <p:ext uri="{BB962C8B-B14F-4D97-AF65-F5344CB8AC3E}">
        <p14:creationId xmlns:p14="http://schemas.microsoft.com/office/powerpoint/2010/main" val="2173373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14BD24-89E3-4C51-B736-BCCE6C13A884}" type="slidenum">
              <a:rPr lang="zh-CN" altLang="en-US" smtClean="0"/>
              <a:pPr/>
              <a:t>2</a:t>
            </a:fld>
            <a:endParaRPr lang="zh-CN" altLang="en-US"/>
          </a:p>
        </p:txBody>
      </p:sp>
    </p:spTree>
    <p:extLst>
      <p:ext uri="{BB962C8B-B14F-4D97-AF65-F5344CB8AC3E}">
        <p14:creationId xmlns:p14="http://schemas.microsoft.com/office/powerpoint/2010/main" val="2044373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a:t>
            </a:fld>
            <a:endParaRPr lang="zh-CN" altLang="en-US"/>
          </a:p>
        </p:txBody>
      </p:sp>
    </p:spTree>
    <p:extLst>
      <p:ext uri="{BB962C8B-B14F-4D97-AF65-F5344CB8AC3E}">
        <p14:creationId xmlns:p14="http://schemas.microsoft.com/office/powerpoint/2010/main" val="4182794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14BD24-89E3-4C51-B736-BCCE6C13A884}" type="slidenum">
              <a:rPr lang="zh-CN" altLang="en-US" smtClean="0"/>
              <a:pPr/>
              <a:t>4</a:t>
            </a:fld>
            <a:endParaRPr lang="zh-CN" altLang="en-US"/>
          </a:p>
        </p:txBody>
      </p:sp>
    </p:spTree>
    <p:extLst>
      <p:ext uri="{BB962C8B-B14F-4D97-AF65-F5344CB8AC3E}">
        <p14:creationId xmlns:p14="http://schemas.microsoft.com/office/powerpoint/2010/main" val="6933877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14BD24-89E3-4C51-B736-BCCE6C13A884}" type="slidenum">
              <a:rPr lang="zh-CN" altLang="en-US" smtClean="0"/>
              <a:pPr/>
              <a:t>5</a:t>
            </a:fld>
            <a:endParaRPr lang="zh-CN" altLang="en-US"/>
          </a:p>
        </p:txBody>
      </p:sp>
    </p:spTree>
    <p:extLst>
      <p:ext uri="{BB962C8B-B14F-4D97-AF65-F5344CB8AC3E}">
        <p14:creationId xmlns:p14="http://schemas.microsoft.com/office/powerpoint/2010/main" val="157652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6</a:t>
            </a:fld>
            <a:endParaRPr lang="zh-CN" altLang="en-US"/>
          </a:p>
        </p:txBody>
      </p:sp>
    </p:spTree>
    <p:extLst>
      <p:ext uri="{BB962C8B-B14F-4D97-AF65-F5344CB8AC3E}">
        <p14:creationId xmlns:p14="http://schemas.microsoft.com/office/powerpoint/2010/main" val="13905061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8ACE1-16E7-AE24-C16B-C2CB7795535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D8CAECE-BD33-51BC-49D9-999C2934783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712A5CD-4990-7BB3-2E09-429F0485376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FA35BCF-9EFB-416D-6CA8-E39228BDC9DE}"/>
              </a:ext>
            </a:extLst>
          </p:cNvPr>
          <p:cNvSpPr>
            <a:spLocks noGrp="1"/>
          </p:cNvSpPr>
          <p:nvPr>
            <p:ph type="sldNum" sz="quarter" idx="10"/>
          </p:nvPr>
        </p:nvSpPr>
        <p:spPr/>
        <p:txBody>
          <a:bodyPr/>
          <a:lstStyle/>
          <a:p>
            <a:fld id="{0B14BD24-89E3-4C51-B736-BCCE6C13A884}" type="slidenum">
              <a:rPr lang="zh-CN" altLang="en-US" smtClean="0"/>
              <a:pPr/>
              <a:t>7</a:t>
            </a:fld>
            <a:endParaRPr lang="zh-CN" altLang="en-US"/>
          </a:p>
        </p:txBody>
      </p:sp>
    </p:spTree>
    <p:extLst>
      <p:ext uri="{BB962C8B-B14F-4D97-AF65-F5344CB8AC3E}">
        <p14:creationId xmlns:p14="http://schemas.microsoft.com/office/powerpoint/2010/main" val="42911694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E0343-9F46-29F0-C458-C61647A088F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6E87F69-648E-30A0-38D6-9317959CB5A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4C4DCAA-5102-9D28-A317-9FEFAC00FDC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671F16B-D6B0-5064-D34B-2BE7AF0E241F}"/>
              </a:ext>
            </a:extLst>
          </p:cNvPr>
          <p:cNvSpPr>
            <a:spLocks noGrp="1"/>
          </p:cNvSpPr>
          <p:nvPr>
            <p:ph type="sldNum" sz="quarter" idx="10"/>
          </p:nvPr>
        </p:nvSpPr>
        <p:spPr/>
        <p:txBody>
          <a:bodyPr/>
          <a:lstStyle/>
          <a:p>
            <a:fld id="{0B14BD24-89E3-4C51-B736-BCCE6C13A884}" type="slidenum">
              <a:rPr lang="zh-CN" altLang="en-US" smtClean="0"/>
              <a:pPr/>
              <a:t>8</a:t>
            </a:fld>
            <a:endParaRPr lang="zh-CN" altLang="en-US"/>
          </a:p>
        </p:txBody>
      </p:sp>
    </p:spTree>
    <p:extLst>
      <p:ext uri="{BB962C8B-B14F-4D97-AF65-F5344CB8AC3E}">
        <p14:creationId xmlns:p14="http://schemas.microsoft.com/office/powerpoint/2010/main" val="34641482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14BD24-89E3-4C51-B736-BCCE6C13A884}" type="slidenum">
              <a:rPr lang="zh-CN" altLang="en-US" smtClean="0"/>
              <a:pPr/>
              <a:t>9</a:t>
            </a:fld>
            <a:endParaRPr lang="zh-CN" altLang="en-US"/>
          </a:p>
        </p:txBody>
      </p:sp>
    </p:spTree>
    <p:extLst>
      <p:ext uri="{BB962C8B-B14F-4D97-AF65-F5344CB8AC3E}">
        <p14:creationId xmlns:p14="http://schemas.microsoft.com/office/powerpoint/2010/main" val="23678858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14BD24-89E3-4C51-B736-BCCE6C13A884}" type="slidenum">
              <a:rPr lang="zh-CN" altLang="en-US" smtClean="0"/>
              <a:pPr/>
              <a:t>10</a:t>
            </a:fld>
            <a:endParaRPr lang="zh-CN" altLang="en-US"/>
          </a:p>
        </p:txBody>
      </p:sp>
    </p:spTree>
    <p:extLst>
      <p:ext uri="{BB962C8B-B14F-4D97-AF65-F5344CB8AC3E}">
        <p14:creationId xmlns:p14="http://schemas.microsoft.com/office/powerpoint/2010/main" val="32204106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14BD24-89E3-4C51-B736-BCCE6C13A884}" type="slidenum">
              <a:rPr lang="zh-CN" altLang="en-US" smtClean="0"/>
              <a:pPr/>
              <a:t>11</a:t>
            </a:fld>
            <a:endParaRPr lang="zh-CN" altLang="en-US"/>
          </a:p>
        </p:txBody>
      </p:sp>
    </p:spTree>
    <p:extLst>
      <p:ext uri="{BB962C8B-B14F-4D97-AF65-F5344CB8AC3E}">
        <p14:creationId xmlns:p14="http://schemas.microsoft.com/office/powerpoint/2010/main" val="37912821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14BD24-89E3-4C51-B736-BCCE6C13A884}" type="slidenum">
              <a:rPr lang="zh-CN" altLang="en-US" smtClean="0"/>
              <a:pPr/>
              <a:t>12</a:t>
            </a:fld>
            <a:endParaRPr lang="zh-CN" altLang="en-US"/>
          </a:p>
        </p:txBody>
      </p:sp>
    </p:spTree>
    <p:extLst>
      <p:ext uri="{BB962C8B-B14F-4D97-AF65-F5344CB8AC3E}">
        <p14:creationId xmlns:p14="http://schemas.microsoft.com/office/powerpoint/2010/main" val="38026129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13</a:t>
            </a:fld>
            <a:endParaRPr lang="zh-CN" altLang="en-US"/>
          </a:p>
        </p:txBody>
      </p:sp>
    </p:spTree>
    <p:extLst>
      <p:ext uri="{BB962C8B-B14F-4D97-AF65-F5344CB8AC3E}">
        <p14:creationId xmlns:p14="http://schemas.microsoft.com/office/powerpoint/2010/main" val="18221425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1087F-1938-0DC2-16F2-B0BEA68DAAD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2665B7D-9C06-B727-03EE-8AC8040842E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707F7DF-6889-68D6-B4EC-E5427B1BC14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27359A6-F4DB-EB71-A8DC-D994800D8765}"/>
              </a:ext>
            </a:extLst>
          </p:cNvPr>
          <p:cNvSpPr>
            <a:spLocks noGrp="1"/>
          </p:cNvSpPr>
          <p:nvPr>
            <p:ph type="sldNum" sz="quarter" idx="10"/>
          </p:nvPr>
        </p:nvSpPr>
        <p:spPr/>
        <p:txBody>
          <a:bodyPr/>
          <a:lstStyle/>
          <a:p>
            <a:fld id="{0B14BD24-89E3-4C51-B736-BCCE6C13A884}" type="slidenum">
              <a:rPr lang="zh-CN" altLang="en-US" smtClean="0"/>
              <a:pPr/>
              <a:t>14</a:t>
            </a:fld>
            <a:endParaRPr lang="zh-CN" altLang="en-US"/>
          </a:p>
        </p:txBody>
      </p:sp>
    </p:spTree>
    <p:extLst>
      <p:ext uri="{BB962C8B-B14F-4D97-AF65-F5344CB8AC3E}">
        <p14:creationId xmlns:p14="http://schemas.microsoft.com/office/powerpoint/2010/main" val="5182115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14BD24-89E3-4C51-B736-BCCE6C13A884}" type="slidenum">
              <a:rPr lang="zh-CN" altLang="en-US" smtClean="0"/>
              <a:pPr/>
              <a:t>15</a:t>
            </a:fld>
            <a:endParaRPr lang="zh-CN" altLang="en-US"/>
          </a:p>
        </p:txBody>
      </p:sp>
    </p:spTree>
    <p:extLst>
      <p:ext uri="{BB962C8B-B14F-4D97-AF65-F5344CB8AC3E}">
        <p14:creationId xmlns:p14="http://schemas.microsoft.com/office/powerpoint/2010/main" val="19341165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14BD24-89E3-4C51-B736-BCCE6C13A884}" type="slidenum">
              <a:rPr lang="zh-CN" altLang="en-US" smtClean="0"/>
              <a:pPr/>
              <a:t>16</a:t>
            </a:fld>
            <a:endParaRPr lang="zh-CN" altLang="en-US"/>
          </a:p>
        </p:txBody>
      </p:sp>
    </p:spTree>
    <p:extLst>
      <p:ext uri="{BB962C8B-B14F-4D97-AF65-F5344CB8AC3E}">
        <p14:creationId xmlns:p14="http://schemas.microsoft.com/office/powerpoint/2010/main" val="14302385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14BD24-89E3-4C51-B736-BCCE6C13A884}" type="slidenum">
              <a:rPr lang="zh-CN" altLang="en-US" smtClean="0"/>
              <a:pPr/>
              <a:t>17</a:t>
            </a:fld>
            <a:endParaRPr lang="zh-CN" altLang="en-US"/>
          </a:p>
        </p:txBody>
      </p:sp>
    </p:spTree>
    <p:extLst>
      <p:ext uri="{BB962C8B-B14F-4D97-AF65-F5344CB8AC3E}">
        <p14:creationId xmlns:p14="http://schemas.microsoft.com/office/powerpoint/2010/main" val="18892416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14BD24-89E3-4C51-B736-BCCE6C13A884}" type="slidenum">
              <a:rPr lang="zh-CN" altLang="en-US" smtClean="0"/>
              <a:pPr/>
              <a:t>18</a:t>
            </a:fld>
            <a:endParaRPr lang="zh-CN" altLang="en-US"/>
          </a:p>
        </p:txBody>
      </p:sp>
    </p:spTree>
    <p:extLst>
      <p:ext uri="{BB962C8B-B14F-4D97-AF65-F5344CB8AC3E}">
        <p14:creationId xmlns:p14="http://schemas.microsoft.com/office/powerpoint/2010/main" val="15938542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14BD24-89E3-4C51-B736-BCCE6C13A884}" type="slidenum">
              <a:rPr lang="zh-CN" altLang="en-US" smtClean="0"/>
              <a:pPr/>
              <a:t>19</a:t>
            </a:fld>
            <a:endParaRPr lang="zh-CN" altLang="en-US"/>
          </a:p>
        </p:txBody>
      </p:sp>
    </p:spTree>
    <p:extLst>
      <p:ext uri="{BB962C8B-B14F-4D97-AF65-F5344CB8AC3E}">
        <p14:creationId xmlns:p14="http://schemas.microsoft.com/office/powerpoint/2010/main" val="26910657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14BD24-89E3-4C51-B736-BCCE6C13A884}" type="slidenum">
              <a:rPr lang="zh-CN" altLang="en-US" smtClean="0"/>
              <a:pPr/>
              <a:t>20</a:t>
            </a:fld>
            <a:endParaRPr lang="zh-CN" altLang="en-US"/>
          </a:p>
        </p:txBody>
      </p:sp>
    </p:spTree>
    <p:extLst>
      <p:ext uri="{BB962C8B-B14F-4D97-AF65-F5344CB8AC3E}">
        <p14:creationId xmlns:p14="http://schemas.microsoft.com/office/powerpoint/2010/main" val="26921076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35C1D-2529-5763-89DB-ADC29535241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26ABFB3-FC3A-3803-8306-2E7432C422C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9B28BD6-D273-C52A-F381-69595990928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EC60B9D-02CA-2863-D5ED-E67A48FE22CB}"/>
              </a:ext>
            </a:extLst>
          </p:cNvPr>
          <p:cNvSpPr>
            <a:spLocks noGrp="1"/>
          </p:cNvSpPr>
          <p:nvPr>
            <p:ph type="sldNum" sz="quarter" idx="5"/>
          </p:nvPr>
        </p:nvSpPr>
        <p:spPr/>
        <p:txBody>
          <a:bodyPr/>
          <a:lstStyle/>
          <a:p>
            <a:fld id="{0B14BD24-89E3-4C51-B736-BCCE6C13A884}" type="slidenum">
              <a:rPr lang="zh-CN" altLang="en-US" smtClean="0"/>
              <a:pPr/>
              <a:t>21</a:t>
            </a:fld>
            <a:endParaRPr lang="zh-CN" altLang="en-US"/>
          </a:p>
        </p:txBody>
      </p:sp>
    </p:spTree>
    <p:extLst>
      <p:ext uri="{BB962C8B-B14F-4D97-AF65-F5344CB8AC3E}">
        <p14:creationId xmlns:p14="http://schemas.microsoft.com/office/powerpoint/2010/main" val="15253993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14BD24-89E3-4C51-B736-BCCE6C13A884}" type="slidenum">
              <a:rPr lang="zh-CN" altLang="en-US" smtClean="0"/>
              <a:pPr/>
              <a:t>22</a:t>
            </a:fld>
            <a:endParaRPr lang="zh-CN" altLang="en-US"/>
          </a:p>
        </p:txBody>
      </p:sp>
    </p:spTree>
    <p:extLst>
      <p:ext uri="{BB962C8B-B14F-4D97-AF65-F5344CB8AC3E}">
        <p14:creationId xmlns:p14="http://schemas.microsoft.com/office/powerpoint/2010/main" val="42654184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14BD24-89E3-4C51-B736-BCCE6C13A884}" type="slidenum">
              <a:rPr lang="zh-CN" altLang="en-US" smtClean="0"/>
              <a:pPr/>
              <a:t>23</a:t>
            </a:fld>
            <a:endParaRPr lang="zh-CN" altLang="en-US"/>
          </a:p>
        </p:txBody>
      </p:sp>
    </p:spTree>
    <p:extLst>
      <p:ext uri="{BB962C8B-B14F-4D97-AF65-F5344CB8AC3E}">
        <p14:creationId xmlns:p14="http://schemas.microsoft.com/office/powerpoint/2010/main" val="34597529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14BD24-89E3-4C51-B736-BCCE6C13A884}" type="slidenum">
              <a:rPr lang="zh-CN" altLang="en-US" smtClean="0"/>
              <a:pPr/>
              <a:t>24</a:t>
            </a:fld>
            <a:endParaRPr lang="zh-CN" altLang="en-US"/>
          </a:p>
        </p:txBody>
      </p:sp>
    </p:spTree>
    <p:extLst>
      <p:ext uri="{BB962C8B-B14F-4D97-AF65-F5344CB8AC3E}">
        <p14:creationId xmlns:p14="http://schemas.microsoft.com/office/powerpoint/2010/main" val="17708576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14BD24-89E3-4C51-B736-BCCE6C13A884}" type="slidenum">
              <a:rPr lang="zh-CN" altLang="en-US" smtClean="0"/>
              <a:pPr/>
              <a:t>25</a:t>
            </a:fld>
            <a:endParaRPr lang="zh-CN" altLang="en-US"/>
          </a:p>
        </p:txBody>
      </p:sp>
    </p:spTree>
    <p:extLst>
      <p:ext uri="{BB962C8B-B14F-4D97-AF65-F5344CB8AC3E}">
        <p14:creationId xmlns:p14="http://schemas.microsoft.com/office/powerpoint/2010/main" val="11099043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14BD24-89E3-4C51-B736-BCCE6C13A884}" type="slidenum">
              <a:rPr lang="zh-CN" altLang="en-US" smtClean="0"/>
              <a:pPr/>
              <a:t>26</a:t>
            </a:fld>
            <a:endParaRPr lang="zh-CN" altLang="en-US"/>
          </a:p>
        </p:txBody>
      </p:sp>
    </p:spTree>
    <p:extLst>
      <p:ext uri="{BB962C8B-B14F-4D97-AF65-F5344CB8AC3E}">
        <p14:creationId xmlns:p14="http://schemas.microsoft.com/office/powerpoint/2010/main" val="37879050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A79EB-B827-EAFD-FBE7-A2C4D6CA076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06EB904-A26E-32EA-FC03-C845BE0BF63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FD23757-3301-C97A-569B-AF6E2BBFFED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5A687B1-8FB2-CEF1-D1DB-DDA78C4F4812}"/>
              </a:ext>
            </a:extLst>
          </p:cNvPr>
          <p:cNvSpPr>
            <a:spLocks noGrp="1"/>
          </p:cNvSpPr>
          <p:nvPr>
            <p:ph type="sldNum" sz="quarter" idx="5"/>
          </p:nvPr>
        </p:nvSpPr>
        <p:spPr/>
        <p:txBody>
          <a:bodyPr/>
          <a:lstStyle/>
          <a:p>
            <a:fld id="{0B14BD24-89E3-4C51-B736-BCCE6C13A884}" type="slidenum">
              <a:rPr lang="zh-CN" altLang="en-US" smtClean="0"/>
              <a:pPr/>
              <a:t>27</a:t>
            </a:fld>
            <a:endParaRPr lang="zh-CN" altLang="en-US"/>
          </a:p>
        </p:txBody>
      </p:sp>
    </p:spTree>
    <p:extLst>
      <p:ext uri="{BB962C8B-B14F-4D97-AF65-F5344CB8AC3E}">
        <p14:creationId xmlns:p14="http://schemas.microsoft.com/office/powerpoint/2010/main" val="19007633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14BD24-89E3-4C51-B736-BCCE6C13A884}" type="slidenum">
              <a:rPr lang="zh-CN" altLang="en-US" smtClean="0"/>
              <a:pPr/>
              <a:t>28</a:t>
            </a:fld>
            <a:endParaRPr lang="zh-CN" altLang="en-US"/>
          </a:p>
        </p:txBody>
      </p:sp>
    </p:spTree>
    <p:extLst>
      <p:ext uri="{BB962C8B-B14F-4D97-AF65-F5344CB8AC3E}">
        <p14:creationId xmlns:p14="http://schemas.microsoft.com/office/powerpoint/2010/main" val="22850499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FA7E9-010D-499C-74FC-F10E2A6B2A8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AC78487-C00C-9DA5-EF29-FAC9DC4C96F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BC7CB7A-F3A1-E444-B682-EF1F17A8C0F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9EA25BF-96AE-0219-22ED-B22A242C9417}"/>
              </a:ext>
            </a:extLst>
          </p:cNvPr>
          <p:cNvSpPr>
            <a:spLocks noGrp="1"/>
          </p:cNvSpPr>
          <p:nvPr>
            <p:ph type="sldNum" sz="quarter" idx="5"/>
          </p:nvPr>
        </p:nvSpPr>
        <p:spPr/>
        <p:txBody>
          <a:bodyPr/>
          <a:lstStyle/>
          <a:p>
            <a:fld id="{0B14BD24-89E3-4C51-B736-BCCE6C13A884}" type="slidenum">
              <a:rPr lang="zh-CN" altLang="en-US" smtClean="0"/>
              <a:pPr/>
              <a:t>29</a:t>
            </a:fld>
            <a:endParaRPr lang="zh-CN" altLang="en-US"/>
          </a:p>
        </p:txBody>
      </p:sp>
    </p:spTree>
    <p:extLst>
      <p:ext uri="{BB962C8B-B14F-4D97-AF65-F5344CB8AC3E}">
        <p14:creationId xmlns:p14="http://schemas.microsoft.com/office/powerpoint/2010/main" val="6547940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14BD24-89E3-4C51-B736-BCCE6C13A884}" type="slidenum">
              <a:rPr lang="zh-CN" altLang="en-US" smtClean="0"/>
              <a:pPr/>
              <a:t>30</a:t>
            </a:fld>
            <a:endParaRPr lang="zh-CN" altLang="en-US"/>
          </a:p>
        </p:txBody>
      </p:sp>
    </p:spTree>
    <p:extLst>
      <p:ext uri="{BB962C8B-B14F-4D97-AF65-F5344CB8AC3E}">
        <p14:creationId xmlns:p14="http://schemas.microsoft.com/office/powerpoint/2010/main" val="32883888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14BD24-89E3-4C51-B736-BCCE6C13A884}" type="slidenum">
              <a:rPr lang="zh-CN" altLang="en-US" smtClean="0"/>
              <a:pPr/>
              <a:t>31</a:t>
            </a:fld>
            <a:endParaRPr lang="zh-CN" altLang="en-US"/>
          </a:p>
        </p:txBody>
      </p:sp>
    </p:spTree>
    <p:extLst>
      <p:ext uri="{BB962C8B-B14F-4D97-AF65-F5344CB8AC3E}">
        <p14:creationId xmlns:p14="http://schemas.microsoft.com/office/powerpoint/2010/main" val="31128219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14BD24-89E3-4C51-B736-BCCE6C13A884}" type="slidenum">
              <a:rPr lang="zh-CN" altLang="en-US" smtClean="0"/>
              <a:pPr/>
              <a:t>32</a:t>
            </a:fld>
            <a:endParaRPr lang="zh-CN" altLang="en-US"/>
          </a:p>
        </p:txBody>
      </p:sp>
    </p:spTree>
    <p:extLst>
      <p:ext uri="{BB962C8B-B14F-4D97-AF65-F5344CB8AC3E}">
        <p14:creationId xmlns:p14="http://schemas.microsoft.com/office/powerpoint/2010/main" val="21893923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14BD24-89E3-4C51-B736-BCCE6C13A884}" type="slidenum">
              <a:rPr lang="zh-CN" altLang="en-US" smtClean="0"/>
              <a:pPr/>
              <a:t>33</a:t>
            </a:fld>
            <a:endParaRPr lang="zh-CN" altLang="en-US"/>
          </a:p>
        </p:txBody>
      </p:sp>
    </p:spTree>
    <p:extLst>
      <p:ext uri="{BB962C8B-B14F-4D97-AF65-F5344CB8AC3E}">
        <p14:creationId xmlns:p14="http://schemas.microsoft.com/office/powerpoint/2010/main" val="27878440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F9750-21FE-7D29-C3C5-A35366A81DF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DEBACD-D42F-B2B8-6B08-D1410C7EA26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6920C28-55A4-69C3-3C78-B0189BE8474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19D7FDC-D629-A183-0D6D-E85921D9B6AB}"/>
              </a:ext>
            </a:extLst>
          </p:cNvPr>
          <p:cNvSpPr>
            <a:spLocks noGrp="1"/>
          </p:cNvSpPr>
          <p:nvPr>
            <p:ph type="sldNum" sz="quarter" idx="5"/>
          </p:nvPr>
        </p:nvSpPr>
        <p:spPr/>
        <p:txBody>
          <a:bodyPr/>
          <a:lstStyle/>
          <a:p>
            <a:fld id="{0B14BD24-89E3-4C51-B736-BCCE6C13A884}" type="slidenum">
              <a:rPr lang="zh-CN" altLang="en-US" smtClean="0"/>
              <a:pPr/>
              <a:t>34</a:t>
            </a:fld>
            <a:endParaRPr lang="zh-CN" altLang="en-US"/>
          </a:p>
        </p:txBody>
      </p:sp>
    </p:spTree>
    <p:extLst>
      <p:ext uri="{BB962C8B-B14F-4D97-AF65-F5344CB8AC3E}">
        <p14:creationId xmlns:p14="http://schemas.microsoft.com/office/powerpoint/2010/main" val="41821645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35</a:t>
            </a:fld>
            <a:endParaRPr lang="zh-CN" altLang="en-US"/>
          </a:p>
        </p:txBody>
      </p:sp>
    </p:spTree>
    <p:extLst>
      <p:ext uri="{BB962C8B-B14F-4D97-AF65-F5344CB8AC3E}">
        <p14:creationId xmlns:p14="http://schemas.microsoft.com/office/powerpoint/2010/main" val="17556589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36</a:t>
            </a:fld>
            <a:endParaRPr lang="zh-CN" altLang="en-US"/>
          </a:p>
        </p:txBody>
      </p:sp>
    </p:spTree>
    <p:extLst>
      <p:ext uri="{BB962C8B-B14F-4D97-AF65-F5344CB8AC3E}">
        <p14:creationId xmlns:p14="http://schemas.microsoft.com/office/powerpoint/2010/main" val="14765296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37</a:t>
            </a:fld>
            <a:endParaRPr lang="zh-CN" altLang="en-US"/>
          </a:p>
        </p:txBody>
      </p:sp>
    </p:spTree>
    <p:extLst>
      <p:ext uri="{BB962C8B-B14F-4D97-AF65-F5344CB8AC3E}">
        <p14:creationId xmlns:p14="http://schemas.microsoft.com/office/powerpoint/2010/main" val="2624242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38</a:t>
            </a:fld>
            <a:endParaRPr lang="zh-CN" altLang="en-US"/>
          </a:p>
        </p:txBody>
      </p:sp>
    </p:spTree>
    <p:extLst>
      <p:ext uri="{BB962C8B-B14F-4D97-AF65-F5344CB8AC3E}">
        <p14:creationId xmlns:p14="http://schemas.microsoft.com/office/powerpoint/2010/main" val="23740186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39</a:t>
            </a:fld>
            <a:endParaRPr lang="zh-CN" altLang="en-US"/>
          </a:p>
        </p:txBody>
      </p:sp>
    </p:spTree>
    <p:extLst>
      <p:ext uri="{BB962C8B-B14F-4D97-AF65-F5344CB8AC3E}">
        <p14:creationId xmlns:p14="http://schemas.microsoft.com/office/powerpoint/2010/main" val="375580816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40</a:t>
            </a:fld>
            <a:endParaRPr lang="zh-CN" altLang="en-US"/>
          </a:p>
        </p:txBody>
      </p:sp>
    </p:spTree>
    <p:extLst>
      <p:ext uri="{BB962C8B-B14F-4D97-AF65-F5344CB8AC3E}">
        <p14:creationId xmlns:p14="http://schemas.microsoft.com/office/powerpoint/2010/main" val="15996438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41</a:t>
            </a:fld>
            <a:endParaRPr lang="zh-CN" altLang="en-US"/>
          </a:p>
        </p:txBody>
      </p:sp>
    </p:spTree>
    <p:extLst>
      <p:ext uri="{BB962C8B-B14F-4D97-AF65-F5344CB8AC3E}">
        <p14:creationId xmlns:p14="http://schemas.microsoft.com/office/powerpoint/2010/main" val="50582633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42</a:t>
            </a:fld>
            <a:endParaRPr lang="zh-CN" altLang="en-US"/>
          </a:p>
        </p:txBody>
      </p:sp>
    </p:spTree>
    <p:extLst>
      <p:ext uri="{BB962C8B-B14F-4D97-AF65-F5344CB8AC3E}">
        <p14:creationId xmlns:p14="http://schemas.microsoft.com/office/powerpoint/2010/main" val="17182906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43</a:t>
            </a:fld>
            <a:endParaRPr lang="zh-CN" altLang="en-US"/>
          </a:p>
        </p:txBody>
      </p:sp>
    </p:spTree>
    <p:extLst>
      <p:ext uri="{BB962C8B-B14F-4D97-AF65-F5344CB8AC3E}">
        <p14:creationId xmlns:p14="http://schemas.microsoft.com/office/powerpoint/2010/main" val="269497930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44</a:t>
            </a:fld>
            <a:endParaRPr lang="zh-CN" altLang="en-US"/>
          </a:p>
        </p:txBody>
      </p:sp>
    </p:spTree>
    <p:extLst>
      <p:ext uri="{BB962C8B-B14F-4D97-AF65-F5344CB8AC3E}">
        <p14:creationId xmlns:p14="http://schemas.microsoft.com/office/powerpoint/2010/main" val="9607440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45</a:t>
            </a:fld>
            <a:endParaRPr lang="zh-CN" altLang="en-US"/>
          </a:p>
        </p:txBody>
      </p:sp>
    </p:spTree>
    <p:extLst>
      <p:ext uri="{BB962C8B-B14F-4D97-AF65-F5344CB8AC3E}">
        <p14:creationId xmlns:p14="http://schemas.microsoft.com/office/powerpoint/2010/main" val="102244193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46</a:t>
            </a:fld>
            <a:endParaRPr lang="zh-CN" altLang="en-US"/>
          </a:p>
        </p:txBody>
      </p:sp>
    </p:spTree>
    <p:extLst>
      <p:ext uri="{BB962C8B-B14F-4D97-AF65-F5344CB8AC3E}">
        <p14:creationId xmlns:p14="http://schemas.microsoft.com/office/powerpoint/2010/main" val="3352265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47</a:t>
            </a:fld>
            <a:endParaRPr lang="zh-CN" altLang="en-US"/>
          </a:p>
        </p:txBody>
      </p:sp>
    </p:spTree>
    <p:extLst>
      <p:ext uri="{BB962C8B-B14F-4D97-AF65-F5344CB8AC3E}">
        <p14:creationId xmlns:p14="http://schemas.microsoft.com/office/powerpoint/2010/main" val="7695221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48</a:t>
            </a:fld>
            <a:endParaRPr lang="zh-CN" altLang="en-US"/>
          </a:p>
        </p:txBody>
      </p:sp>
    </p:spTree>
    <p:extLst>
      <p:ext uri="{BB962C8B-B14F-4D97-AF65-F5344CB8AC3E}">
        <p14:creationId xmlns:p14="http://schemas.microsoft.com/office/powerpoint/2010/main" val="22288334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71BA0-0D40-F3CD-5E6A-EEC319671AA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71C96C5-CD1A-1180-96C5-5475AB5F141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36E512B-10B1-E5C9-035C-566AB8A3EDA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2D4E10F-AE43-DA2A-4D63-55BACF983713}"/>
              </a:ext>
            </a:extLst>
          </p:cNvPr>
          <p:cNvSpPr>
            <a:spLocks noGrp="1"/>
          </p:cNvSpPr>
          <p:nvPr>
            <p:ph type="sldNum" sz="quarter" idx="5"/>
          </p:nvPr>
        </p:nvSpPr>
        <p:spPr/>
        <p:txBody>
          <a:bodyPr/>
          <a:lstStyle/>
          <a:p>
            <a:pPr>
              <a:defRPr/>
            </a:pPr>
            <a:fld id="{CD1CD96A-A6EF-4B0B-9885-C22D65D2CD20}" type="slidenum">
              <a:rPr lang="zh-CN" altLang="en-US" smtClean="0"/>
              <a:pPr>
                <a:defRPr/>
              </a:pPr>
              <a:t>49</a:t>
            </a:fld>
            <a:endParaRPr lang="zh-CN" altLang="en-US"/>
          </a:p>
        </p:txBody>
      </p:sp>
    </p:spTree>
    <p:extLst>
      <p:ext uri="{BB962C8B-B14F-4D97-AF65-F5344CB8AC3E}">
        <p14:creationId xmlns:p14="http://schemas.microsoft.com/office/powerpoint/2010/main" val="274299419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50</a:t>
            </a:fld>
            <a:endParaRPr lang="zh-CN" altLang="en-US"/>
          </a:p>
        </p:txBody>
      </p:sp>
    </p:spTree>
    <p:extLst>
      <p:ext uri="{BB962C8B-B14F-4D97-AF65-F5344CB8AC3E}">
        <p14:creationId xmlns:p14="http://schemas.microsoft.com/office/powerpoint/2010/main" val="143670887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BDC31-D8A8-A2A6-AADA-849DC09367A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115620D-F7A2-97C1-01B5-58B8CFCF8D1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B848C25-E554-9089-20E3-5AD038DACD6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351D28E-87EE-E37C-A1B5-13F3257691AE}"/>
              </a:ext>
            </a:extLst>
          </p:cNvPr>
          <p:cNvSpPr>
            <a:spLocks noGrp="1"/>
          </p:cNvSpPr>
          <p:nvPr>
            <p:ph type="sldNum" sz="quarter" idx="5"/>
          </p:nvPr>
        </p:nvSpPr>
        <p:spPr/>
        <p:txBody>
          <a:bodyPr/>
          <a:lstStyle/>
          <a:p>
            <a:pPr>
              <a:defRPr/>
            </a:pPr>
            <a:fld id="{CD1CD96A-A6EF-4B0B-9885-C22D65D2CD20}" type="slidenum">
              <a:rPr lang="zh-CN" altLang="en-US" smtClean="0"/>
              <a:pPr>
                <a:defRPr/>
              </a:pPr>
              <a:t>51</a:t>
            </a:fld>
            <a:endParaRPr lang="zh-CN" altLang="en-US"/>
          </a:p>
        </p:txBody>
      </p:sp>
    </p:spTree>
    <p:extLst>
      <p:ext uri="{BB962C8B-B14F-4D97-AF65-F5344CB8AC3E}">
        <p14:creationId xmlns:p14="http://schemas.microsoft.com/office/powerpoint/2010/main" val="63607869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53</a:t>
            </a:fld>
            <a:endParaRPr lang="zh-CN" altLang="en-US"/>
          </a:p>
        </p:txBody>
      </p:sp>
    </p:spTree>
    <p:extLst>
      <p:ext uri="{BB962C8B-B14F-4D97-AF65-F5344CB8AC3E}">
        <p14:creationId xmlns:p14="http://schemas.microsoft.com/office/powerpoint/2010/main" val="2384820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54</a:t>
            </a:fld>
            <a:endParaRPr lang="zh-CN" altLang="en-US"/>
          </a:p>
        </p:txBody>
      </p:sp>
    </p:spTree>
    <p:extLst>
      <p:ext uri="{BB962C8B-B14F-4D97-AF65-F5344CB8AC3E}">
        <p14:creationId xmlns:p14="http://schemas.microsoft.com/office/powerpoint/2010/main" val="200633674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55</a:t>
            </a:fld>
            <a:endParaRPr lang="zh-CN" altLang="en-US"/>
          </a:p>
        </p:txBody>
      </p:sp>
    </p:spTree>
    <p:extLst>
      <p:ext uri="{BB962C8B-B14F-4D97-AF65-F5344CB8AC3E}">
        <p14:creationId xmlns:p14="http://schemas.microsoft.com/office/powerpoint/2010/main" val="36076969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56</a:t>
            </a:fld>
            <a:endParaRPr lang="zh-CN" altLang="en-US"/>
          </a:p>
        </p:txBody>
      </p:sp>
    </p:spTree>
    <p:extLst>
      <p:ext uri="{BB962C8B-B14F-4D97-AF65-F5344CB8AC3E}">
        <p14:creationId xmlns:p14="http://schemas.microsoft.com/office/powerpoint/2010/main" val="97982889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57</a:t>
            </a:fld>
            <a:endParaRPr lang="zh-CN" altLang="en-US"/>
          </a:p>
        </p:txBody>
      </p:sp>
    </p:spTree>
    <p:extLst>
      <p:ext uri="{BB962C8B-B14F-4D97-AF65-F5344CB8AC3E}">
        <p14:creationId xmlns:p14="http://schemas.microsoft.com/office/powerpoint/2010/main" val="269768886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58</a:t>
            </a:fld>
            <a:endParaRPr lang="zh-CN" altLang="en-US"/>
          </a:p>
        </p:txBody>
      </p:sp>
    </p:spTree>
    <p:extLst>
      <p:ext uri="{BB962C8B-B14F-4D97-AF65-F5344CB8AC3E}">
        <p14:creationId xmlns:p14="http://schemas.microsoft.com/office/powerpoint/2010/main" val="169752031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7D01D-C3B9-B196-3D48-E7CB3D53E66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E4CC4C3-64AF-2C61-2BA1-9A369FF4ADD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D24BC82-6561-5A5A-1A53-B7D12C68D5A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062517A-734B-FD57-C026-D91708A7E56A}"/>
              </a:ext>
            </a:extLst>
          </p:cNvPr>
          <p:cNvSpPr>
            <a:spLocks noGrp="1"/>
          </p:cNvSpPr>
          <p:nvPr>
            <p:ph type="sldNum" sz="quarter" idx="5"/>
          </p:nvPr>
        </p:nvSpPr>
        <p:spPr/>
        <p:txBody>
          <a:bodyPr/>
          <a:lstStyle/>
          <a:p>
            <a:pPr>
              <a:defRPr/>
            </a:pPr>
            <a:fld id="{CD1CD96A-A6EF-4B0B-9885-C22D65D2CD20}" type="slidenum">
              <a:rPr lang="zh-CN" altLang="en-US" smtClean="0"/>
              <a:pPr>
                <a:defRPr/>
              </a:pPr>
              <a:t>59</a:t>
            </a:fld>
            <a:endParaRPr lang="zh-CN" altLang="en-US"/>
          </a:p>
        </p:txBody>
      </p:sp>
    </p:spTree>
    <p:extLst>
      <p:ext uri="{BB962C8B-B14F-4D97-AF65-F5344CB8AC3E}">
        <p14:creationId xmlns:p14="http://schemas.microsoft.com/office/powerpoint/2010/main" val="375259265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89180-237E-B18F-61BE-9585134129B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F526C72-B842-746A-92CF-6F7FEC5D4E5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39C4FBC-85A5-EA66-5EBA-25A2A8FDDB7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4DBE1C3-0279-B9C7-626F-BA8949225439}"/>
              </a:ext>
            </a:extLst>
          </p:cNvPr>
          <p:cNvSpPr>
            <a:spLocks noGrp="1"/>
          </p:cNvSpPr>
          <p:nvPr>
            <p:ph type="sldNum" sz="quarter" idx="5"/>
          </p:nvPr>
        </p:nvSpPr>
        <p:spPr/>
        <p:txBody>
          <a:bodyPr/>
          <a:lstStyle/>
          <a:p>
            <a:pPr>
              <a:defRPr/>
            </a:pPr>
            <a:fld id="{CD1CD96A-A6EF-4B0B-9885-C22D65D2CD20}" type="slidenum">
              <a:rPr lang="zh-CN" altLang="en-US" smtClean="0"/>
              <a:pPr>
                <a:defRPr/>
              </a:pPr>
              <a:t>60</a:t>
            </a:fld>
            <a:endParaRPr lang="zh-CN" altLang="en-US"/>
          </a:p>
        </p:txBody>
      </p:sp>
    </p:spTree>
    <p:extLst>
      <p:ext uri="{BB962C8B-B14F-4D97-AF65-F5344CB8AC3E}">
        <p14:creationId xmlns:p14="http://schemas.microsoft.com/office/powerpoint/2010/main" val="330852291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7BACF-B7AD-B1F1-64B3-532F7ABC44F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805B5A8-58D9-E3FC-3ABB-6C5A500E929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136CC5B-2CE6-54E3-E82F-3E7770196DD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A854156-DFD7-F758-C4E1-65AC589BB047}"/>
              </a:ext>
            </a:extLst>
          </p:cNvPr>
          <p:cNvSpPr>
            <a:spLocks noGrp="1"/>
          </p:cNvSpPr>
          <p:nvPr>
            <p:ph type="sldNum" sz="quarter" idx="5"/>
          </p:nvPr>
        </p:nvSpPr>
        <p:spPr/>
        <p:txBody>
          <a:bodyPr/>
          <a:lstStyle/>
          <a:p>
            <a:pPr>
              <a:defRPr/>
            </a:pPr>
            <a:fld id="{CD1CD96A-A6EF-4B0B-9885-C22D65D2CD20}" type="slidenum">
              <a:rPr lang="zh-CN" altLang="en-US" smtClean="0"/>
              <a:pPr>
                <a:defRPr/>
              </a:pPr>
              <a:t>61</a:t>
            </a:fld>
            <a:endParaRPr lang="zh-CN" altLang="en-US"/>
          </a:p>
        </p:txBody>
      </p:sp>
    </p:spTree>
    <p:extLst>
      <p:ext uri="{BB962C8B-B14F-4D97-AF65-F5344CB8AC3E}">
        <p14:creationId xmlns:p14="http://schemas.microsoft.com/office/powerpoint/2010/main" val="256936601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62</a:t>
            </a:fld>
            <a:endParaRPr lang="zh-CN" altLang="en-US"/>
          </a:p>
        </p:txBody>
      </p:sp>
    </p:spTree>
    <p:extLst>
      <p:ext uri="{BB962C8B-B14F-4D97-AF65-F5344CB8AC3E}">
        <p14:creationId xmlns:p14="http://schemas.microsoft.com/office/powerpoint/2010/main" val="27840160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63</a:t>
            </a:fld>
            <a:endParaRPr lang="zh-CN" altLang="en-US"/>
          </a:p>
        </p:txBody>
      </p:sp>
    </p:spTree>
    <p:extLst>
      <p:ext uri="{BB962C8B-B14F-4D97-AF65-F5344CB8AC3E}">
        <p14:creationId xmlns:p14="http://schemas.microsoft.com/office/powerpoint/2010/main" val="46180244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7E3FD-1A06-0170-93F1-E36DCAAA379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929CEA-2541-B2D3-659E-2D9E21BB08E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DD600CB-923D-E820-49EF-BC6A24978CC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9F87BF9-E6A6-7CC2-4E85-4AC32B6EC501}"/>
              </a:ext>
            </a:extLst>
          </p:cNvPr>
          <p:cNvSpPr>
            <a:spLocks noGrp="1"/>
          </p:cNvSpPr>
          <p:nvPr>
            <p:ph type="sldNum" sz="quarter" idx="5"/>
          </p:nvPr>
        </p:nvSpPr>
        <p:spPr/>
        <p:txBody>
          <a:bodyPr/>
          <a:lstStyle/>
          <a:p>
            <a:pPr>
              <a:defRPr/>
            </a:pPr>
            <a:fld id="{CD1CD96A-A6EF-4B0B-9885-C22D65D2CD20}" type="slidenum">
              <a:rPr lang="zh-CN" altLang="en-US" smtClean="0"/>
              <a:pPr>
                <a:defRPr/>
              </a:pPr>
              <a:t>64</a:t>
            </a:fld>
            <a:endParaRPr lang="zh-CN" altLang="en-US"/>
          </a:p>
        </p:txBody>
      </p:sp>
    </p:spTree>
    <p:extLst>
      <p:ext uri="{BB962C8B-B14F-4D97-AF65-F5344CB8AC3E}">
        <p14:creationId xmlns:p14="http://schemas.microsoft.com/office/powerpoint/2010/main" val="1555400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65</a:t>
            </a:fld>
            <a:endParaRPr lang="zh-CN" altLang="en-US"/>
          </a:p>
        </p:txBody>
      </p:sp>
    </p:spTree>
    <p:extLst>
      <p:ext uri="{BB962C8B-B14F-4D97-AF65-F5344CB8AC3E}">
        <p14:creationId xmlns:p14="http://schemas.microsoft.com/office/powerpoint/2010/main" val="220816735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66</a:t>
            </a:fld>
            <a:endParaRPr lang="zh-CN" altLang="en-US"/>
          </a:p>
        </p:txBody>
      </p:sp>
    </p:spTree>
    <p:extLst>
      <p:ext uri="{BB962C8B-B14F-4D97-AF65-F5344CB8AC3E}">
        <p14:creationId xmlns:p14="http://schemas.microsoft.com/office/powerpoint/2010/main" val="33361678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67</a:t>
            </a:fld>
            <a:endParaRPr lang="zh-CN" altLang="en-US"/>
          </a:p>
        </p:txBody>
      </p:sp>
    </p:spTree>
    <p:extLst>
      <p:ext uri="{BB962C8B-B14F-4D97-AF65-F5344CB8AC3E}">
        <p14:creationId xmlns:p14="http://schemas.microsoft.com/office/powerpoint/2010/main" val="283669209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68</a:t>
            </a:fld>
            <a:endParaRPr lang="zh-CN" altLang="en-US"/>
          </a:p>
        </p:txBody>
      </p:sp>
    </p:spTree>
    <p:extLst>
      <p:ext uri="{BB962C8B-B14F-4D97-AF65-F5344CB8AC3E}">
        <p14:creationId xmlns:p14="http://schemas.microsoft.com/office/powerpoint/2010/main" val="417130811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69</a:t>
            </a:fld>
            <a:endParaRPr lang="zh-CN" altLang="en-US"/>
          </a:p>
        </p:txBody>
      </p:sp>
    </p:spTree>
    <p:extLst>
      <p:ext uri="{BB962C8B-B14F-4D97-AF65-F5344CB8AC3E}">
        <p14:creationId xmlns:p14="http://schemas.microsoft.com/office/powerpoint/2010/main" val="96305804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70</a:t>
            </a:fld>
            <a:endParaRPr lang="zh-CN" altLang="en-US"/>
          </a:p>
        </p:txBody>
      </p:sp>
    </p:spTree>
    <p:extLst>
      <p:ext uri="{BB962C8B-B14F-4D97-AF65-F5344CB8AC3E}">
        <p14:creationId xmlns:p14="http://schemas.microsoft.com/office/powerpoint/2010/main" val="256274529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71</a:t>
            </a:fld>
            <a:endParaRPr lang="zh-CN" altLang="en-US"/>
          </a:p>
        </p:txBody>
      </p:sp>
    </p:spTree>
    <p:extLst>
      <p:ext uri="{BB962C8B-B14F-4D97-AF65-F5344CB8AC3E}">
        <p14:creationId xmlns:p14="http://schemas.microsoft.com/office/powerpoint/2010/main" val="267288023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9A24D-264A-828E-D4CF-8311B80D576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4F8763B-7644-F00D-D856-A204077969C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912520D-D8EE-0FE1-5E91-A3C7E437F42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E521FBC-38AF-71D4-BC9E-3BE277535B55}"/>
              </a:ext>
            </a:extLst>
          </p:cNvPr>
          <p:cNvSpPr>
            <a:spLocks noGrp="1"/>
          </p:cNvSpPr>
          <p:nvPr>
            <p:ph type="sldNum" sz="quarter" idx="5"/>
          </p:nvPr>
        </p:nvSpPr>
        <p:spPr/>
        <p:txBody>
          <a:bodyPr/>
          <a:lstStyle/>
          <a:p>
            <a:pPr>
              <a:defRPr/>
            </a:pPr>
            <a:fld id="{CD1CD96A-A6EF-4B0B-9885-C22D65D2CD20}" type="slidenum">
              <a:rPr lang="zh-CN" altLang="en-US" smtClean="0"/>
              <a:pPr>
                <a:defRPr/>
              </a:pPr>
              <a:t>72</a:t>
            </a:fld>
            <a:endParaRPr lang="zh-CN" altLang="en-US"/>
          </a:p>
        </p:txBody>
      </p:sp>
    </p:spTree>
    <p:extLst>
      <p:ext uri="{BB962C8B-B14F-4D97-AF65-F5344CB8AC3E}">
        <p14:creationId xmlns:p14="http://schemas.microsoft.com/office/powerpoint/2010/main" val="181051875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73</a:t>
            </a:fld>
            <a:endParaRPr lang="zh-CN" altLang="en-US"/>
          </a:p>
        </p:txBody>
      </p:sp>
    </p:spTree>
    <p:extLst>
      <p:ext uri="{BB962C8B-B14F-4D97-AF65-F5344CB8AC3E}">
        <p14:creationId xmlns:p14="http://schemas.microsoft.com/office/powerpoint/2010/main" val="85412618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74</a:t>
            </a:fld>
            <a:endParaRPr lang="zh-CN" altLang="en-US"/>
          </a:p>
        </p:txBody>
      </p:sp>
    </p:spTree>
    <p:extLst>
      <p:ext uri="{BB962C8B-B14F-4D97-AF65-F5344CB8AC3E}">
        <p14:creationId xmlns:p14="http://schemas.microsoft.com/office/powerpoint/2010/main" val="19707765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75</a:t>
            </a:fld>
            <a:endParaRPr lang="zh-CN" altLang="en-US"/>
          </a:p>
        </p:txBody>
      </p:sp>
    </p:spTree>
    <p:extLst>
      <p:ext uri="{BB962C8B-B14F-4D97-AF65-F5344CB8AC3E}">
        <p14:creationId xmlns:p14="http://schemas.microsoft.com/office/powerpoint/2010/main" val="209655777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76</a:t>
            </a:fld>
            <a:endParaRPr lang="zh-CN" altLang="en-US"/>
          </a:p>
        </p:txBody>
      </p:sp>
    </p:spTree>
    <p:extLst>
      <p:ext uri="{BB962C8B-B14F-4D97-AF65-F5344CB8AC3E}">
        <p14:creationId xmlns:p14="http://schemas.microsoft.com/office/powerpoint/2010/main" val="330552171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77</a:t>
            </a:fld>
            <a:endParaRPr lang="zh-CN" altLang="en-US"/>
          </a:p>
        </p:txBody>
      </p:sp>
    </p:spTree>
    <p:extLst>
      <p:ext uri="{BB962C8B-B14F-4D97-AF65-F5344CB8AC3E}">
        <p14:creationId xmlns:p14="http://schemas.microsoft.com/office/powerpoint/2010/main" val="392877099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78</a:t>
            </a:fld>
            <a:endParaRPr lang="zh-CN" altLang="en-US"/>
          </a:p>
        </p:txBody>
      </p:sp>
    </p:spTree>
    <p:extLst>
      <p:ext uri="{BB962C8B-B14F-4D97-AF65-F5344CB8AC3E}">
        <p14:creationId xmlns:p14="http://schemas.microsoft.com/office/powerpoint/2010/main" val="348363295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79</a:t>
            </a:fld>
            <a:endParaRPr lang="zh-CN" altLang="en-US"/>
          </a:p>
        </p:txBody>
      </p:sp>
    </p:spTree>
    <p:extLst>
      <p:ext uri="{BB962C8B-B14F-4D97-AF65-F5344CB8AC3E}">
        <p14:creationId xmlns:p14="http://schemas.microsoft.com/office/powerpoint/2010/main" val="110065044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80</a:t>
            </a:fld>
            <a:endParaRPr lang="zh-CN" altLang="en-US"/>
          </a:p>
        </p:txBody>
      </p:sp>
    </p:spTree>
    <p:extLst>
      <p:ext uri="{BB962C8B-B14F-4D97-AF65-F5344CB8AC3E}">
        <p14:creationId xmlns:p14="http://schemas.microsoft.com/office/powerpoint/2010/main" val="254170201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81</a:t>
            </a:fld>
            <a:endParaRPr lang="zh-CN" altLang="en-US"/>
          </a:p>
        </p:txBody>
      </p:sp>
    </p:spTree>
    <p:extLst>
      <p:ext uri="{BB962C8B-B14F-4D97-AF65-F5344CB8AC3E}">
        <p14:creationId xmlns:p14="http://schemas.microsoft.com/office/powerpoint/2010/main" val="283689237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4393D-7F29-07F1-130F-875A39F4510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2E438E1-01DD-9F1F-53E3-2C6037D4DA0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4D2B47B-C149-5619-6638-3BAE90445493}"/>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dirty="0"/>
          </a:p>
        </p:txBody>
      </p:sp>
      <p:sp>
        <p:nvSpPr>
          <p:cNvPr id="4" name="灯片编号占位符 3">
            <a:extLst>
              <a:ext uri="{FF2B5EF4-FFF2-40B4-BE49-F238E27FC236}">
                <a16:creationId xmlns:a16="http://schemas.microsoft.com/office/drawing/2014/main" id="{3C55640C-AA26-0BA1-E060-18E934969D0E}"/>
              </a:ext>
            </a:extLst>
          </p:cNvPr>
          <p:cNvSpPr>
            <a:spLocks noGrp="1"/>
          </p:cNvSpPr>
          <p:nvPr>
            <p:ph type="sldNum" sz="quarter" idx="5"/>
          </p:nvPr>
        </p:nvSpPr>
        <p:spPr/>
        <p:txBody>
          <a:bodyPr/>
          <a:lstStyle/>
          <a:p>
            <a:pPr>
              <a:defRPr/>
            </a:pPr>
            <a:fld id="{CD1CD96A-A6EF-4B0B-9885-C22D65D2CD20}" type="slidenum">
              <a:rPr lang="zh-CN" altLang="en-US" smtClean="0"/>
              <a:pPr>
                <a:defRPr/>
              </a:pPr>
              <a:t>82</a:t>
            </a:fld>
            <a:endParaRPr lang="zh-CN" altLang="en-US"/>
          </a:p>
        </p:txBody>
      </p:sp>
    </p:spTree>
    <p:extLst>
      <p:ext uri="{BB962C8B-B14F-4D97-AF65-F5344CB8AC3E}">
        <p14:creationId xmlns:p14="http://schemas.microsoft.com/office/powerpoint/2010/main" val="221280302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F4FF7-1C2F-2B8B-A227-E2AB8B6CCC7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765011A-DBD8-3F91-C9AC-C4B6704D03E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BCDCA68-4A7D-5B31-39D6-2048F21C57D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87584B4-F9FB-37B9-3AB7-CF9C2D6DA7EB}"/>
              </a:ext>
            </a:extLst>
          </p:cNvPr>
          <p:cNvSpPr>
            <a:spLocks noGrp="1"/>
          </p:cNvSpPr>
          <p:nvPr>
            <p:ph type="sldNum" sz="quarter" idx="10"/>
          </p:nvPr>
        </p:nvSpPr>
        <p:spPr/>
        <p:txBody>
          <a:bodyPr/>
          <a:lstStyle/>
          <a:p>
            <a:fld id="{0B14BD24-89E3-4C51-B736-BCCE6C13A884}" type="slidenum">
              <a:rPr lang="zh-CN" altLang="en-US" smtClean="0"/>
              <a:pPr/>
              <a:t>83</a:t>
            </a:fld>
            <a:endParaRPr lang="zh-CN" altLang="en-US"/>
          </a:p>
        </p:txBody>
      </p:sp>
    </p:spTree>
    <p:extLst>
      <p:ext uri="{BB962C8B-B14F-4D97-AF65-F5344CB8AC3E}">
        <p14:creationId xmlns:p14="http://schemas.microsoft.com/office/powerpoint/2010/main" val="51759472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84</a:t>
            </a:fld>
            <a:endParaRPr lang="zh-CN" altLang="en-US"/>
          </a:p>
        </p:txBody>
      </p:sp>
    </p:spTree>
    <p:extLst>
      <p:ext uri="{BB962C8B-B14F-4D97-AF65-F5344CB8AC3E}">
        <p14:creationId xmlns:p14="http://schemas.microsoft.com/office/powerpoint/2010/main" val="66048153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85</a:t>
            </a:fld>
            <a:endParaRPr lang="zh-CN" altLang="en-US"/>
          </a:p>
        </p:txBody>
      </p:sp>
    </p:spTree>
    <p:extLst>
      <p:ext uri="{BB962C8B-B14F-4D97-AF65-F5344CB8AC3E}">
        <p14:creationId xmlns:p14="http://schemas.microsoft.com/office/powerpoint/2010/main" val="367772056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74DE8-FF6E-5F35-0230-046C382648E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A478931-A9FC-107A-EFC0-3C829A999B8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0F2EF1E-41BA-32DC-8CCA-F1A9137CE17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B1126A5-4418-024B-33A9-1CECBE521F16}"/>
              </a:ext>
            </a:extLst>
          </p:cNvPr>
          <p:cNvSpPr>
            <a:spLocks noGrp="1"/>
          </p:cNvSpPr>
          <p:nvPr>
            <p:ph type="sldNum" sz="quarter" idx="5"/>
          </p:nvPr>
        </p:nvSpPr>
        <p:spPr/>
        <p:txBody>
          <a:bodyPr/>
          <a:lstStyle/>
          <a:p>
            <a:pPr>
              <a:defRPr/>
            </a:pPr>
            <a:fld id="{CD1CD96A-A6EF-4B0B-9885-C22D65D2CD20}" type="slidenum">
              <a:rPr lang="zh-CN" altLang="en-US" smtClean="0"/>
              <a:pPr>
                <a:defRPr/>
              </a:pPr>
              <a:t>86</a:t>
            </a:fld>
            <a:endParaRPr lang="zh-CN" altLang="en-US"/>
          </a:p>
        </p:txBody>
      </p:sp>
    </p:spTree>
    <p:extLst>
      <p:ext uri="{BB962C8B-B14F-4D97-AF65-F5344CB8AC3E}">
        <p14:creationId xmlns:p14="http://schemas.microsoft.com/office/powerpoint/2010/main" val="202643843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87</a:t>
            </a:fld>
            <a:endParaRPr lang="zh-CN" altLang="en-US"/>
          </a:p>
        </p:txBody>
      </p:sp>
    </p:spTree>
    <p:extLst>
      <p:ext uri="{BB962C8B-B14F-4D97-AF65-F5344CB8AC3E}">
        <p14:creationId xmlns:p14="http://schemas.microsoft.com/office/powerpoint/2010/main" val="274292013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88</a:t>
            </a:fld>
            <a:endParaRPr lang="zh-CN" altLang="en-US"/>
          </a:p>
        </p:txBody>
      </p:sp>
    </p:spTree>
    <p:extLst>
      <p:ext uri="{BB962C8B-B14F-4D97-AF65-F5344CB8AC3E}">
        <p14:creationId xmlns:p14="http://schemas.microsoft.com/office/powerpoint/2010/main" val="220332938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89</a:t>
            </a:fld>
            <a:endParaRPr lang="zh-CN" altLang="en-US"/>
          </a:p>
        </p:txBody>
      </p:sp>
    </p:spTree>
    <p:extLst>
      <p:ext uri="{BB962C8B-B14F-4D97-AF65-F5344CB8AC3E}">
        <p14:creationId xmlns:p14="http://schemas.microsoft.com/office/powerpoint/2010/main" val="164299723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90</a:t>
            </a:fld>
            <a:endParaRPr lang="zh-CN" altLang="en-US"/>
          </a:p>
        </p:txBody>
      </p:sp>
    </p:spTree>
    <p:extLst>
      <p:ext uri="{BB962C8B-B14F-4D97-AF65-F5344CB8AC3E}">
        <p14:creationId xmlns:p14="http://schemas.microsoft.com/office/powerpoint/2010/main" val="253475613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91</a:t>
            </a:fld>
            <a:endParaRPr lang="zh-CN" altLang="en-US"/>
          </a:p>
        </p:txBody>
      </p:sp>
    </p:spTree>
    <p:extLst>
      <p:ext uri="{BB962C8B-B14F-4D97-AF65-F5344CB8AC3E}">
        <p14:creationId xmlns:p14="http://schemas.microsoft.com/office/powerpoint/2010/main" val="26378740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92</a:t>
            </a:fld>
            <a:endParaRPr lang="zh-CN" altLang="en-US"/>
          </a:p>
        </p:txBody>
      </p:sp>
    </p:spTree>
    <p:extLst>
      <p:ext uri="{BB962C8B-B14F-4D97-AF65-F5344CB8AC3E}">
        <p14:creationId xmlns:p14="http://schemas.microsoft.com/office/powerpoint/2010/main" val="159529450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93</a:t>
            </a:fld>
            <a:endParaRPr lang="zh-CN" altLang="en-US"/>
          </a:p>
        </p:txBody>
      </p:sp>
    </p:spTree>
    <p:extLst>
      <p:ext uri="{BB962C8B-B14F-4D97-AF65-F5344CB8AC3E}">
        <p14:creationId xmlns:p14="http://schemas.microsoft.com/office/powerpoint/2010/main" val="178070391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EAEBE-A9CF-CD9C-61EA-41BCAC5931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7E94225-1B23-C070-1A6D-FC386CB6028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DBE3D3C-7806-E240-3AFF-A6132DE7068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543BD81-E85C-9DED-0093-526CB8E6DBC4}"/>
              </a:ext>
            </a:extLst>
          </p:cNvPr>
          <p:cNvSpPr>
            <a:spLocks noGrp="1"/>
          </p:cNvSpPr>
          <p:nvPr>
            <p:ph type="sldNum" sz="quarter" idx="5"/>
          </p:nvPr>
        </p:nvSpPr>
        <p:spPr/>
        <p:txBody>
          <a:bodyPr/>
          <a:lstStyle/>
          <a:p>
            <a:pPr>
              <a:defRPr/>
            </a:pPr>
            <a:fld id="{CD1CD96A-A6EF-4B0B-9885-C22D65D2CD20}" type="slidenum">
              <a:rPr lang="zh-CN" altLang="en-US" smtClean="0"/>
              <a:pPr>
                <a:defRPr/>
              </a:pPr>
              <a:t>94</a:t>
            </a:fld>
            <a:endParaRPr lang="zh-CN" altLang="en-US"/>
          </a:p>
        </p:txBody>
      </p:sp>
    </p:spTree>
    <p:extLst>
      <p:ext uri="{BB962C8B-B14F-4D97-AF65-F5344CB8AC3E}">
        <p14:creationId xmlns:p14="http://schemas.microsoft.com/office/powerpoint/2010/main" val="132128502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285F9-ED19-C8CE-B949-8F799CCFF03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58FA184-95D1-871A-81F0-A612B6C5043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4CE642B-4FFE-604D-817B-F187215F902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BF5AC0F-D19D-BEDE-58EF-C34AE502BE12}"/>
              </a:ext>
            </a:extLst>
          </p:cNvPr>
          <p:cNvSpPr>
            <a:spLocks noGrp="1"/>
          </p:cNvSpPr>
          <p:nvPr>
            <p:ph type="sldNum" sz="quarter" idx="5"/>
          </p:nvPr>
        </p:nvSpPr>
        <p:spPr/>
        <p:txBody>
          <a:bodyPr/>
          <a:lstStyle/>
          <a:p>
            <a:pPr>
              <a:defRPr/>
            </a:pPr>
            <a:fld id="{CD1CD96A-A6EF-4B0B-9885-C22D65D2CD20}" type="slidenum">
              <a:rPr lang="zh-CN" altLang="en-US" smtClean="0"/>
              <a:pPr>
                <a:defRPr/>
              </a:pPr>
              <a:t>95</a:t>
            </a:fld>
            <a:endParaRPr lang="zh-CN" altLang="en-US"/>
          </a:p>
        </p:txBody>
      </p:sp>
    </p:spTree>
    <p:extLst>
      <p:ext uri="{BB962C8B-B14F-4D97-AF65-F5344CB8AC3E}">
        <p14:creationId xmlns:p14="http://schemas.microsoft.com/office/powerpoint/2010/main" val="18873189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96</a:t>
            </a:fld>
            <a:endParaRPr lang="zh-CN" altLang="en-US"/>
          </a:p>
        </p:txBody>
      </p:sp>
    </p:spTree>
    <p:extLst>
      <p:ext uri="{BB962C8B-B14F-4D97-AF65-F5344CB8AC3E}">
        <p14:creationId xmlns:p14="http://schemas.microsoft.com/office/powerpoint/2010/main" val="238527941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1641A-D190-66B1-31E5-D9640C2E46C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B6B5CD-4AFC-1B52-B736-894EE7ADE0F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B52C6EC-ADB2-F39A-3EAE-85EE7D06D2B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9C79017-69B5-D92E-1633-02720360DD3B}"/>
              </a:ext>
            </a:extLst>
          </p:cNvPr>
          <p:cNvSpPr>
            <a:spLocks noGrp="1"/>
          </p:cNvSpPr>
          <p:nvPr>
            <p:ph type="sldNum" sz="quarter" idx="5"/>
          </p:nvPr>
        </p:nvSpPr>
        <p:spPr/>
        <p:txBody>
          <a:bodyPr/>
          <a:lstStyle/>
          <a:p>
            <a:pPr>
              <a:defRPr/>
            </a:pPr>
            <a:fld id="{CD1CD96A-A6EF-4B0B-9885-C22D65D2CD20}" type="slidenum">
              <a:rPr lang="zh-CN" altLang="en-US" smtClean="0"/>
              <a:pPr>
                <a:defRPr/>
              </a:pPr>
              <a:t>97</a:t>
            </a:fld>
            <a:endParaRPr lang="zh-CN" altLang="en-US"/>
          </a:p>
        </p:txBody>
      </p:sp>
    </p:spTree>
    <p:extLst>
      <p:ext uri="{BB962C8B-B14F-4D97-AF65-F5344CB8AC3E}">
        <p14:creationId xmlns:p14="http://schemas.microsoft.com/office/powerpoint/2010/main" val="5364752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98</a:t>
            </a:fld>
            <a:endParaRPr lang="zh-CN" altLang="en-US"/>
          </a:p>
        </p:txBody>
      </p:sp>
    </p:spTree>
    <p:extLst>
      <p:ext uri="{BB962C8B-B14F-4D97-AF65-F5344CB8AC3E}">
        <p14:creationId xmlns:p14="http://schemas.microsoft.com/office/powerpoint/2010/main" val="297828544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99</a:t>
            </a:fld>
            <a:endParaRPr lang="zh-CN" altLang="en-US"/>
          </a:p>
        </p:txBody>
      </p:sp>
    </p:spTree>
    <p:extLst>
      <p:ext uri="{BB962C8B-B14F-4D97-AF65-F5344CB8AC3E}">
        <p14:creationId xmlns:p14="http://schemas.microsoft.com/office/powerpoint/2010/main" val="321461308"/>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F3B1A-A05D-F0AF-9F1B-5FF1997D4BD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652AA10-6F0D-161D-F1B6-89C95D9D268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8F3E52A-27D5-4154-B986-F754B9A93A1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E91C561-2841-998E-F9BA-350B0A429188}"/>
              </a:ext>
            </a:extLst>
          </p:cNvPr>
          <p:cNvSpPr>
            <a:spLocks noGrp="1"/>
          </p:cNvSpPr>
          <p:nvPr>
            <p:ph type="sldNum" sz="quarter" idx="5"/>
          </p:nvPr>
        </p:nvSpPr>
        <p:spPr/>
        <p:txBody>
          <a:bodyPr/>
          <a:lstStyle/>
          <a:p>
            <a:pPr>
              <a:defRPr/>
            </a:pPr>
            <a:fld id="{CD1CD96A-A6EF-4B0B-9885-C22D65D2CD20}" type="slidenum">
              <a:rPr lang="zh-CN" altLang="en-US" smtClean="0"/>
              <a:pPr>
                <a:defRPr/>
              </a:pPr>
              <a:t>100</a:t>
            </a:fld>
            <a:endParaRPr lang="zh-CN" altLang="en-US"/>
          </a:p>
        </p:txBody>
      </p:sp>
    </p:spTree>
    <p:extLst>
      <p:ext uri="{BB962C8B-B14F-4D97-AF65-F5344CB8AC3E}">
        <p14:creationId xmlns:p14="http://schemas.microsoft.com/office/powerpoint/2010/main" val="112277409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8E9B4-3BF1-A8A4-CFA5-984826966EA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853E083-DA3C-38CA-BFEC-821E68F4671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DB331C9-EA26-E421-0819-E46DB34388E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8B3ECA6-AE18-358C-9D43-36BC42023A69}"/>
              </a:ext>
            </a:extLst>
          </p:cNvPr>
          <p:cNvSpPr>
            <a:spLocks noGrp="1"/>
          </p:cNvSpPr>
          <p:nvPr>
            <p:ph type="sldNum" sz="quarter" idx="5"/>
          </p:nvPr>
        </p:nvSpPr>
        <p:spPr/>
        <p:txBody>
          <a:bodyPr/>
          <a:lstStyle/>
          <a:p>
            <a:pPr>
              <a:defRPr/>
            </a:pPr>
            <a:fld id="{CD1CD96A-A6EF-4B0B-9885-C22D65D2CD20}" type="slidenum">
              <a:rPr lang="zh-CN" altLang="en-US" smtClean="0"/>
              <a:pPr>
                <a:defRPr/>
              </a:pPr>
              <a:t>101</a:t>
            </a:fld>
            <a:endParaRPr lang="zh-CN" altLang="en-US"/>
          </a:p>
        </p:txBody>
      </p:sp>
    </p:spTree>
    <p:extLst>
      <p:ext uri="{BB962C8B-B14F-4D97-AF65-F5344CB8AC3E}">
        <p14:creationId xmlns:p14="http://schemas.microsoft.com/office/powerpoint/2010/main" val="203753380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102</a:t>
            </a:fld>
            <a:endParaRPr lang="zh-CN" altLang="en-US"/>
          </a:p>
        </p:txBody>
      </p:sp>
    </p:spTree>
    <p:extLst>
      <p:ext uri="{BB962C8B-B14F-4D97-AF65-F5344CB8AC3E}">
        <p14:creationId xmlns:p14="http://schemas.microsoft.com/office/powerpoint/2010/main" val="5520095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103</a:t>
            </a:fld>
            <a:endParaRPr lang="zh-CN" altLang="en-US"/>
          </a:p>
        </p:txBody>
      </p:sp>
    </p:spTree>
    <p:extLst>
      <p:ext uri="{BB962C8B-B14F-4D97-AF65-F5344CB8AC3E}">
        <p14:creationId xmlns:p14="http://schemas.microsoft.com/office/powerpoint/2010/main" val="154202129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104</a:t>
            </a:fld>
            <a:endParaRPr lang="zh-CN" altLang="en-US"/>
          </a:p>
        </p:txBody>
      </p:sp>
    </p:spTree>
    <p:extLst>
      <p:ext uri="{BB962C8B-B14F-4D97-AF65-F5344CB8AC3E}">
        <p14:creationId xmlns:p14="http://schemas.microsoft.com/office/powerpoint/2010/main" val="116832785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105</a:t>
            </a:fld>
            <a:endParaRPr lang="zh-CN" altLang="en-US"/>
          </a:p>
        </p:txBody>
      </p:sp>
    </p:spTree>
    <p:extLst>
      <p:ext uri="{BB962C8B-B14F-4D97-AF65-F5344CB8AC3E}">
        <p14:creationId xmlns:p14="http://schemas.microsoft.com/office/powerpoint/2010/main" val="1959185055"/>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106</a:t>
            </a:fld>
            <a:endParaRPr lang="zh-CN" altLang="en-US"/>
          </a:p>
        </p:txBody>
      </p:sp>
    </p:spTree>
    <p:extLst>
      <p:ext uri="{BB962C8B-B14F-4D97-AF65-F5344CB8AC3E}">
        <p14:creationId xmlns:p14="http://schemas.microsoft.com/office/powerpoint/2010/main" val="80990976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107</a:t>
            </a:fld>
            <a:endParaRPr lang="zh-CN" altLang="en-US"/>
          </a:p>
        </p:txBody>
      </p:sp>
    </p:spTree>
    <p:extLst>
      <p:ext uri="{BB962C8B-B14F-4D97-AF65-F5344CB8AC3E}">
        <p14:creationId xmlns:p14="http://schemas.microsoft.com/office/powerpoint/2010/main" val="4291872152"/>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B38A3-CFF4-FEC7-8997-FE83DBAA77E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BB2A16E-FE87-8D8D-237B-23EFF6A28CC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7A0D91A-D20D-31D7-A3C8-D67D8D68E21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ECF6452-E302-50DF-5AB6-C4F147E6B172}"/>
              </a:ext>
            </a:extLst>
          </p:cNvPr>
          <p:cNvSpPr>
            <a:spLocks noGrp="1"/>
          </p:cNvSpPr>
          <p:nvPr>
            <p:ph type="sldNum" sz="quarter" idx="5"/>
          </p:nvPr>
        </p:nvSpPr>
        <p:spPr/>
        <p:txBody>
          <a:bodyPr/>
          <a:lstStyle/>
          <a:p>
            <a:pPr>
              <a:defRPr/>
            </a:pPr>
            <a:fld id="{CD1CD96A-A6EF-4B0B-9885-C22D65D2CD20}" type="slidenum">
              <a:rPr lang="zh-CN" altLang="en-US" smtClean="0"/>
              <a:pPr>
                <a:defRPr/>
              </a:pPr>
              <a:t>108</a:t>
            </a:fld>
            <a:endParaRPr lang="zh-CN" altLang="en-US"/>
          </a:p>
        </p:txBody>
      </p:sp>
    </p:spTree>
    <p:extLst>
      <p:ext uri="{BB962C8B-B14F-4D97-AF65-F5344CB8AC3E}">
        <p14:creationId xmlns:p14="http://schemas.microsoft.com/office/powerpoint/2010/main" val="423581466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AA651-F8A4-C6CA-95ED-C17258D5002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4F6D105-A9A4-7EE6-284B-8C6D57D9D4A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B70EA2C-3C9B-DE38-85D2-FBA1E254F0D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FA81F0A-BE2B-321A-4ACF-1943A555DF88}"/>
              </a:ext>
            </a:extLst>
          </p:cNvPr>
          <p:cNvSpPr>
            <a:spLocks noGrp="1"/>
          </p:cNvSpPr>
          <p:nvPr>
            <p:ph type="sldNum" sz="quarter" idx="5"/>
          </p:nvPr>
        </p:nvSpPr>
        <p:spPr/>
        <p:txBody>
          <a:bodyPr/>
          <a:lstStyle/>
          <a:p>
            <a:pPr>
              <a:defRPr/>
            </a:pPr>
            <a:fld id="{CD1CD96A-A6EF-4B0B-9885-C22D65D2CD20}" type="slidenum">
              <a:rPr lang="zh-CN" altLang="en-US" smtClean="0"/>
              <a:pPr>
                <a:defRPr/>
              </a:pPr>
              <a:t>109</a:t>
            </a:fld>
            <a:endParaRPr lang="zh-CN" altLang="en-US"/>
          </a:p>
        </p:txBody>
      </p:sp>
    </p:spTree>
    <p:extLst>
      <p:ext uri="{BB962C8B-B14F-4D97-AF65-F5344CB8AC3E}">
        <p14:creationId xmlns:p14="http://schemas.microsoft.com/office/powerpoint/2010/main" val="3321118080"/>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0D5D0-0D33-D8FC-9DA1-19D9CE9A607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30C97C1-138A-36C6-62A3-0470E480701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150B4FE-018B-3DC0-C60B-E81A2A5CA9A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9B2F78E-E8E1-BBF4-FBA8-7A665F85DE6F}"/>
              </a:ext>
            </a:extLst>
          </p:cNvPr>
          <p:cNvSpPr>
            <a:spLocks noGrp="1"/>
          </p:cNvSpPr>
          <p:nvPr>
            <p:ph type="sldNum" sz="quarter" idx="5"/>
          </p:nvPr>
        </p:nvSpPr>
        <p:spPr/>
        <p:txBody>
          <a:bodyPr/>
          <a:lstStyle/>
          <a:p>
            <a:pPr>
              <a:defRPr/>
            </a:pPr>
            <a:fld id="{CD1CD96A-A6EF-4B0B-9885-C22D65D2CD20}" type="slidenum">
              <a:rPr lang="zh-CN" altLang="en-US" smtClean="0"/>
              <a:pPr>
                <a:defRPr/>
              </a:pPr>
              <a:t>110</a:t>
            </a:fld>
            <a:endParaRPr lang="zh-CN" altLang="en-US"/>
          </a:p>
        </p:txBody>
      </p:sp>
    </p:spTree>
    <p:extLst>
      <p:ext uri="{BB962C8B-B14F-4D97-AF65-F5344CB8AC3E}">
        <p14:creationId xmlns:p14="http://schemas.microsoft.com/office/powerpoint/2010/main" val="2087374228"/>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111</a:t>
            </a:fld>
            <a:endParaRPr lang="zh-CN" altLang="en-US"/>
          </a:p>
        </p:txBody>
      </p:sp>
    </p:spTree>
    <p:extLst>
      <p:ext uri="{BB962C8B-B14F-4D97-AF65-F5344CB8AC3E}">
        <p14:creationId xmlns:p14="http://schemas.microsoft.com/office/powerpoint/2010/main" val="3907684076"/>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9968F-3BEE-280C-B6BA-756C32CF2D1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FCCAC94-BDA5-CACB-8B1D-09AE63DF502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1111BE3-7791-1C75-47A2-0F09B20CABA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78EE8DB-E353-C5A1-AA14-9FDC95BAC508}"/>
              </a:ext>
            </a:extLst>
          </p:cNvPr>
          <p:cNvSpPr>
            <a:spLocks noGrp="1"/>
          </p:cNvSpPr>
          <p:nvPr>
            <p:ph type="sldNum" sz="quarter" idx="5"/>
          </p:nvPr>
        </p:nvSpPr>
        <p:spPr/>
        <p:txBody>
          <a:bodyPr/>
          <a:lstStyle/>
          <a:p>
            <a:pPr>
              <a:defRPr/>
            </a:pPr>
            <a:fld id="{CD1CD96A-A6EF-4B0B-9885-C22D65D2CD20}" type="slidenum">
              <a:rPr lang="zh-CN" altLang="en-US" smtClean="0"/>
              <a:pPr>
                <a:defRPr/>
              </a:pPr>
              <a:t>112</a:t>
            </a:fld>
            <a:endParaRPr lang="zh-CN" altLang="en-US"/>
          </a:p>
        </p:txBody>
      </p:sp>
    </p:spTree>
    <p:extLst>
      <p:ext uri="{BB962C8B-B14F-4D97-AF65-F5344CB8AC3E}">
        <p14:creationId xmlns:p14="http://schemas.microsoft.com/office/powerpoint/2010/main" val="142635243"/>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AE835-CE93-D0FE-8182-F21E901FD9F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7E0BE3E-80A9-8361-E850-7C298214BCA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DE789FD-CD2E-E009-29AC-DE0C4450C7B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64CBF5E-166C-CD30-41C7-3076272E7A12}"/>
              </a:ext>
            </a:extLst>
          </p:cNvPr>
          <p:cNvSpPr>
            <a:spLocks noGrp="1"/>
          </p:cNvSpPr>
          <p:nvPr>
            <p:ph type="sldNum" sz="quarter" idx="5"/>
          </p:nvPr>
        </p:nvSpPr>
        <p:spPr/>
        <p:txBody>
          <a:bodyPr/>
          <a:lstStyle/>
          <a:p>
            <a:pPr>
              <a:defRPr/>
            </a:pPr>
            <a:fld id="{CD1CD96A-A6EF-4B0B-9885-C22D65D2CD20}" type="slidenum">
              <a:rPr lang="zh-CN" altLang="en-US" smtClean="0"/>
              <a:pPr>
                <a:defRPr/>
              </a:pPr>
              <a:t>113</a:t>
            </a:fld>
            <a:endParaRPr lang="zh-CN" altLang="en-US"/>
          </a:p>
        </p:txBody>
      </p:sp>
    </p:spTree>
    <p:extLst>
      <p:ext uri="{BB962C8B-B14F-4D97-AF65-F5344CB8AC3E}">
        <p14:creationId xmlns:p14="http://schemas.microsoft.com/office/powerpoint/2010/main" val="1503787836"/>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9C8B3-355F-64C2-D6DF-D1DD984515C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5D83FB2-CE41-B4A9-286C-B6F0A145073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73A0B5A-E4A1-3F0B-49C4-15B6E4B603F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E0D8963-EF6A-4BDC-3863-0FB9AE368D9F}"/>
              </a:ext>
            </a:extLst>
          </p:cNvPr>
          <p:cNvSpPr>
            <a:spLocks noGrp="1"/>
          </p:cNvSpPr>
          <p:nvPr>
            <p:ph type="sldNum" sz="quarter" idx="5"/>
          </p:nvPr>
        </p:nvSpPr>
        <p:spPr/>
        <p:txBody>
          <a:bodyPr/>
          <a:lstStyle/>
          <a:p>
            <a:pPr>
              <a:defRPr/>
            </a:pPr>
            <a:fld id="{CD1CD96A-A6EF-4B0B-9885-C22D65D2CD20}" type="slidenum">
              <a:rPr lang="zh-CN" altLang="en-US" smtClean="0"/>
              <a:pPr>
                <a:defRPr/>
              </a:pPr>
              <a:t>114</a:t>
            </a:fld>
            <a:endParaRPr lang="zh-CN" altLang="en-US"/>
          </a:p>
        </p:txBody>
      </p:sp>
    </p:spTree>
    <p:extLst>
      <p:ext uri="{BB962C8B-B14F-4D97-AF65-F5344CB8AC3E}">
        <p14:creationId xmlns:p14="http://schemas.microsoft.com/office/powerpoint/2010/main" val="3477870874"/>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115</a:t>
            </a:fld>
            <a:endParaRPr lang="zh-CN" altLang="en-US"/>
          </a:p>
        </p:txBody>
      </p:sp>
    </p:spTree>
    <p:extLst>
      <p:ext uri="{BB962C8B-B14F-4D97-AF65-F5344CB8AC3E}">
        <p14:creationId xmlns:p14="http://schemas.microsoft.com/office/powerpoint/2010/main" val="2925650359"/>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116</a:t>
            </a:fld>
            <a:endParaRPr lang="zh-CN" altLang="en-US"/>
          </a:p>
        </p:txBody>
      </p:sp>
    </p:spTree>
    <p:extLst>
      <p:ext uri="{BB962C8B-B14F-4D97-AF65-F5344CB8AC3E}">
        <p14:creationId xmlns:p14="http://schemas.microsoft.com/office/powerpoint/2010/main" val="1321066712"/>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117</a:t>
            </a:fld>
            <a:endParaRPr lang="zh-CN" altLang="en-US"/>
          </a:p>
        </p:txBody>
      </p:sp>
    </p:spTree>
    <p:extLst>
      <p:ext uri="{BB962C8B-B14F-4D97-AF65-F5344CB8AC3E}">
        <p14:creationId xmlns:p14="http://schemas.microsoft.com/office/powerpoint/2010/main" val="49732721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118</a:t>
            </a:fld>
            <a:endParaRPr lang="zh-CN" altLang="en-US"/>
          </a:p>
        </p:txBody>
      </p:sp>
    </p:spTree>
    <p:extLst>
      <p:ext uri="{BB962C8B-B14F-4D97-AF65-F5344CB8AC3E}">
        <p14:creationId xmlns:p14="http://schemas.microsoft.com/office/powerpoint/2010/main" val="920819543"/>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119</a:t>
            </a:fld>
            <a:endParaRPr lang="zh-CN" altLang="en-US"/>
          </a:p>
        </p:txBody>
      </p:sp>
    </p:spTree>
    <p:extLst>
      <p:ext uri="{BB962C8B-B14F-4D97-AF65-F5344CB8AC3E}">
        <p14:creationId xmlns:p14="http://schemas.microsoft.com/office/powerpoint/2010/main" val="1603799988"/>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120</a:t>
            </a:fld>
            <a:endParaRPr lang="zh-CN" altLang="en-US"/>
          </a:p>
        </p:txBody>
      </p:sp>
    </p:spTree>
    <p:extLst>
      <p:ext uri="{BB962C8B-B14F-4D97-AF65-F5344CB8AC3E}">
        <p14:creationId xmlns:p14="http://schemas.microsoft.com/office/powerpoint/2010/main" val="1632864392"/>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121</a:t>
            </a:fld>
            <a:endParaRPr lang="zh-CN" altLang="en-US"/>
          </a:p>
        </p:txBody>
      </p:sp>
    </p:spTree>
    <p:extLst>
      <p:ext uri="{BB962C8B-B14F-4D97-AF65-F5344CB8AC3E}">
        <p14:creationId xmlns:p14="http://schemas.microsoft.com/office/powerpoint/2010/main" val="481268790"/>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122</a:t>
            </a:fld>
            <a:endParaRPr lang="zh-CN" altLang="en-US"/>
          </a:p>
        </p:txBody>
      </p:sp>
    </p:spTree>
    <p:extLst>
      <p:ext uri="{BB962C8B-B14F-4D97-AF65-F5344CB8AC3E}">
        <p14:creationId xmlns:p14="http://schemas.microsoft.com/office/powerpoint/2010/main" val="396975487"/>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123</a:t>
            </a:fld>
            <a:endParaRPr lang="zh-CN" altLang="en-US"/>
          </a:p>
        </p:txBody>
      </p:sp>
    </p:spTree>
    <p:extLst>
      <p:ext uri="{BB962C8B-B14F-4D97-AF65-F5344CB8AC3E}">
        <p14:creationId xmlns:p14="http://schemas.microsoft.com/office/powerpoint/2010/main" val="2477985728"/>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124</a:t>
            </a:fld>
            <a:endParaRPr lang="zh-CN" altLang="en-US"/>
          </a:p>
        </p:txBody>
      </p:sp>
    </p:spTree>
    <p:extLst>
      <p:ext uri="{BB962C8B-B14F-4D97-AF65-F5344CB8AC3E}">
        <p14:creationId xmlns:p14="http://schemas.microsoft.com/office/powerpoint/2010/main" val="3254509338"/>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125</a:t>
            </a:fld>
            <a:endParaRPr lang="zh-CN" altLang="en-US"/>
          </a:p>
        </p:txBody>
      </p:sp>
    </p:spTree>
    <p:extLst>
      <p:ext uri="{BB962C8B-B14F-4D97-AF65-F5344CB8AC3E}">
        <p14:creationId xmlns:p14="http://schemas.microsoft.com/office/powerpoint/2010/main" val="799797770"/>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126</a:t>
            </a:fld>
            <a:endParaRPr lang="zh-CN" altLang="en-US"/>
          </a:p>
        </p:txBody>
      </p:sp>
    </p:spTree>
    <p:extLst>
      <p:ext uri="{BB962C8B-B14F-4D97-AF65-F5344CB8AC3E}">
        <p14:creationId xmlns:p14="http://schemas.microsoft.com/office/powerpoint/2010/main" val="4231733735"/>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127</a:t>
            </a:fld>
            <a:endParaRPr lang="zh-CN" altLang="en-US"/>
          </a:p>
        </p:txBody>
      </p:sp>
    </p:spTree>
    <p:extLst>
      <p:ext uri="{BB962C8B-B14F-4D97-AF65-F5344CB8AC3E}">
        <p14:creationId xmlns:p14="http://schemas.microsoft.com/office/powerpoint/2010/main" val="3546475912"/>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128</a:t>
            </a:fld>
            <a:endParaRPr lang="zh-CN" altLang="en-US"/>
          </a:p>
        </p:txBody>
      </p:sp>
    </p:spTree>
    <p:extLst>
      <p:ext uri="{BB962C8B-B14F-4D97-AF65-F5344CB8AC3E}">
        <p14:creationId xmlns:p14="http://schemas.microsoft.com/office/powerpoint/2010/main" val="2476380250"/>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129</a:t>
            </a:fld>
            <a:endParaRPr lang="zh-CN" altLang="en-US"/>
          </a:p>
        </p:txBody>
      </p:sp>
    </p:spTree>
    <p:extLst>
      <p:ext uri="{BB962C8B-B14F-4D97-AF65-F5344CB8AC3E}">
        <p14:creationId xmlns:p14="http://schemas.microsoft.com/office/powerpoint/2010/main" val="510386845"/>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130</a:t>
            </a:fld>
            <a:endParaRPr lang="zh-CN" altLang="en-US"/>
          </a:p>
        </p:txBody>
      </p:sp>
    </p:spTree>
    <p:extLst>
      <p:ext uri="{BB962C8B-B14F-4D97-AF65-F5344CB8AC3E}">
        <p14:creationId xmlns:p14="http://schemas.microsoft.com/office/powerpoint/2010/main" val="152271190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131</a:t>
            </a:fld>
            <a:endParaRPr lang="zh-CN" altLang="en-US"/>
          </a:p>
        </p:txBody>
      </p:sp>
    </p:spTree>
    <p:extLst>
      <p:ext uri="{BB962C8B-B14F-4D97-AF65-F5344CB8AC3E}">
        <p14:creationId xmlns:p14="http://schemas.microsoft.com/office/powerpoint/2010/main" val="833854308"/>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132</a:t>
            </a:fld>
            <a:endParaRPr lang="zh-CN" altLang="en-US"/>
          </a:p>
        </p:txBody>
      </p:sp>
    </p:spTree>
    <p:extLst>
      <p:ext uri="{BB962C8B-B14F-4D97-AF65-F5344CB8AC3E}">
        <p14:creationId xmlns:p14="http://schemas.microsoft.com/office/powerpoint/2010/main" val="366793249"/>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133</a:t>
            </a:fld>
            <a:endParaRPr lang="zh-CN" altLang="en-US"/>
          </a:p>
        </p:txBody>
      </p:sp>
    </p:spTree>
    <p:extLst>
      <p:ext uri="{BB962C8B-B14F-4D97-AF65-F5344CB8AC3E}">
        <p14:creationId xmlns:p14="http://schemas.microsoft.com/office/powerpoint/2010/main" val="1083514735"/>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134</a:t>
            </a:fld>
            <a:endParaRPr lang="zh-CN" altLang="en-US"/>
          </a:p>
        </p:txBody>
      </p:sp>
    </p:spTree>
    <p:extLst>
      <p:ext uri="{BB962C8B-B14F-4D97-AF65-F5344CB8AC3E}">
        <p14:creationId xmlns:p14="http://schemas.microsoft.com/office/powerpoint/2010/main" val="1863661102"/>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135</a:t>
            </a:fld>
            <a:endParaRPr lang="zh-CN" altLang="en-US"/>
          </a:p>
        </p:txBody>
      </p:sp>
    </p:spTree>
    <p:extLst>
      <p:ext uri="{BB962C8B-B14F-4D97-AF65-F5344CB8AC3E}">
        <p14:creationId xmlns:p14="http://schemas.microsoft.com/office/powerpoint/2010/main" val="2842725445"/>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136</a:t>
            </a:fld>
            <a:endParaRPr lang="zh-CN" altLang="en-US"/>
          </a:p>
        </p:txBody>
      </p:sp>
    </p:spTree>
    <p:extLst>
      <p:ext uri="{BB962C8B-B14F-4D97-AF65-F5344CB8AC3E}">
        <p14:creationId xmlns:p14="http://schemas.microsoft.com/office/powerpoint/2010/main" val="1254837904"/>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137</a:t>
            </a:fld>
            <a:endParaRPr lang="zh-CN" altLang="en-US"/>
          </a:p>
        </p:txBody>
      </p:sp>
    </p:spTree>
    <p:extLst>
      <p:ext uri="{BB962C8B-B14F-4D97-AF65-F5344CB8AC3E}">
        <p14:creationId xmlns:p14="http://schemas.microsoft.com/office/powerpoint/2010/main" val="4141864266"/>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C7EA2-08B8-F591-F70A-2C749DB5E16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E008D09-15D6-DC88-F36B-4E219250563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1686E59-A114-F415-1B9E-D41CFB9E6F4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EA6944E-F400-7422-B7FD-5E8D123F6CE4}"/>
              </a:ext>
            </a:extLst>
          </p:cNvPr>
          <p:cNvSpPr>
            <a:spLocks noGrp="1"/>
          </p:cNvSpPr>
          <p:nvPr>
            <p:ph type="sldNum" sz="quarter" idx="5"/>
          </p:nvPr>
        </p:nvSpPr>
        <p:spPr/>
        <p:txBody>
          <a:bodyPr/>
          <a:lstStyle/>
          <a:p>
            <a:pPr>
              <a:defRPr/>
            </a:pPr>
            <a:fld id="{CD1CD96A-A6EF-4B0B-9885-C22D65D2CD20}" type="slidenum">
              <a:rPr lang="zh-CN" altLang="en-US" smtClean="0"/>
              <a:pPr>
                <a:defRPr/>
              </a:pPr>
              <a:t>138</a:t>
            </a:fld>
            <a:endParaRPr lang="zh-CN" altLang="en-US"/>
          </a:p>
        </p:txBody>
      </p:sp>
    </p:spTree>
    <p:extLst>
      <p:ext uri="{BB962C8B-B14F-4D97-AF65-F5344CB8AC3E}">
        <p14:creationId xmlns:p14="http://schemas.microsoft.com/office/powerpoint/2010/main" val="1431214144"/>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FD2D0-9072-3FA0-3171-03C97C85C04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B8E59DB-33A0-4673-F66F-CDA57C0F796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D4A664C-F5B1-3E3E-20FA-1A938052BE7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8413FFF-2342-7C42-C2CF-C6DA37433D21}"/>
              </a:ext>
            </a:extLst>
          </p:cNvPr>
          <p:cNvSpPr>
            <a:spLocks noGrp="1"/>
          </p:cNvSpPr>
          <p:nvPr>
            <p:ph type="sldNum" sz="quarter" idx="5"/>
          </p:nvPr>
        </p:nvSpPr>
        <p:spPr/>
        <p:txBody>
          <a:bodyPr/>
          <a:lstStyle/>
          <a:p>
            <a:pPr>
              <a:defRPr/>
            </a:pPr>
            <a:fld id="{CD1CD96A-A6EF-4B0B-9885-C22D65D2CD20}" type="slidenum">
              <a:rPr lang="zh-CN" altLang="en-US" smtClean="0"/>
              <a:pPr>
                <a:defRPr/>
              </a:pPr>
              <a:t>139</a:t>
            </a:fld>
            <a:endParaRPr lang="zh-CN" altLang="en-US"/>
          </a:p>
        </p:txBody>
      </p:sp>
    </p:spTree>
    <p:extLst>
      <p:ext uri="{BB962C8B-B14F-4D97-AF65-F5344CB8AC3E}">
        <p14:creationId xmlns:p14="http://schemas.microsoft.com/office/powerpoint/2010/main" val="1729724630"/>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140</a:t>
            </a:fld>
            <a:endParaRPr lang="zh-CN" altLang="en-US"/>
          </a:p>
        </p:txBody>
      </p:sp>
    </p:spTree>
    <p:extLst>
      <p:ext uri="{BB962C8B-B14F-4D97-AF65-F5344CB8AC3E}">
        <p14:creationId xmlns:p14="http://schemas.microsoft.com/office/powerpoint/2010/main" val="1401555950"/>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145</a:t>
            </a:fld>
            <a:endParaRPr lang="zh-CN" altLang="en-US"/>
          </a:p>
        </p:txBody>
      </p:sp>
    </p:spTree>
    <p:extLst>
      <p:ext uri="{BB962C8B-B14F-4D97-AF65-F5344CB8AC3E}">
        <p14:creationId xmlns:p14="http://schemas.microsoft.com/office/powerpoint/2010/main" val="3204668939"/>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38CCE-5F28-3655-F81F-1F9EB98E14D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832D901-18C0-5CF5-4548-92324278E73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3318AA9-F41E-E182-2BDE-F90DC3C7D0F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307213A-DF23-17CE-B997-B0A5601CAFED}"/>
              </a:ext>
            </a:extLst>
          </p:cNvPr>
          <p:cNvSpPr>
            <a:spLocks noGrp="1"/>
          </p:cNvSpPr>
          <p:nvPr>
            <p:ph type="sldNum" sz="quarter" idx="5"/>
          </p:nvPr>
        </p:nvSpPr>
        <p:spPr/>
        <p:txBody>
          <a:bodyPr/>
          <a:lstStyle/>
          <a:p>
            <a:pPr>
              <a:defRPr/>
            </a:pPr>
            <a:fld id="{CD1CD96A-A6EF-4B0B-9885-C22D65D2CD20}" type="slidenum">
              <a:rPr lang="zh-CN" altLang="en-US" smtClean="0"/>
              <a:pPr>
                <a:defRPr/>
              </a:pPr>
              <a:t>146</a:t>
            </a:fld>
            <a:endParaRPr lang="zh-CN" altLang="en-US"/>
          </a:p>
        </p:txBody>
      </p:sp>
    </p:spTree>
    <p:extLst>
      <p:ext uri="{BB962C8B-B14F-4D97-AF65-F5344CB8AC3E}">
        <p14:creationId xmlns:p14="http://schemas.microsoft.com/office/powerpoint/2010/main" val="251647485"/>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147</a:t>
            </a:fld>
            <a:endParaRPr lang="zh-CN" altLang="en-US"/>
          </a:p>
        </p:txBody>
      </p:sp>
    </p:spTree>
    <p:extLst>
      <p:ext uri="{BB962C8B-B14F-4D97-AF65-F5344CB8AC3E}">
        <p14:creationId xmlns:p14="http://schemas.microsoft.com/office/powerpoint/2010/main" val="3911583355"/>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2FCE0-326F-346F-0900-CCE72F5EF6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E957CA6-3F14-AEA7-28A7-5968549390A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6126588-0C62-F180-4A68-050B2CE92F3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76B8460-4768-EC16-88B9-9D8179415C6B}"/>
              </a:ext>
            </a:extLst>
          </p:cNvPr>
          <p:cNvSpPr>
            <a:spLocks noGrp="1"/>
          </p:cNvSpPr>
          <p:nvPr>
            <p:ph type="sldNum" sz="quarter" idx="5"/>
          </p:nvPr>
        </p:nvSpPr>
        <p:spPr/>
        <p:txBody>
          <a:bodyPr/>
          <a:lstStyle/>
          <a:p>
            <a:pPr>
              <a:defRPr/>
            </a:pPr>
            <a:fld id="{CD1CD96A-A6EF-4B0B-9885-C22D65D2CD20}" type="slidenum">
              <a:rPr lang="zh-CN" altLang="en-US" smtClean="0"/>
              <a:pPr>
                <a:defRPr/>
              </a:pPr>
              <a:t>148</a:t>
            </a:fld>
            <a:endParaRPr lang="zh-CN" altLang="en-US"/>
          </a:p>
        </p:txBody>
      </p:sp>
    </p:spTree>
    <p:extLst>
      <p:ext uri="{BB962C8B-B14F-4D97-AF65-F5344CB8AC3E}">
        <p14:creationId xmlns:p14="http://schemas.microsoft.com/office/powerpoint/2010/main" val="3330408016"/>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149</a:t>
            </a:fld>
            <a:endParaRPr lang="zh-CN" altLang="en-US"/>
          </a:p>
        </p:txBody>
      </p:sp>
    </p:spTree>
    <p:extLst>
      <p:ext uri="{BB962C8B-B14F-4D97-AF65-F5344CB8AC3E}">
        <p14:creationId xmlns:p14="http://schemas.microsoft.com/office/powerpoint/2010/main" val="157462700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150</a:t>
            </a:fld>
            <a:endParaRPr lang="zh-CN" altLang="en-US"/>
          </a:p>
        </p:txBody>
      </p:sp>
    </p:spTree>
    <p:extLst>
      <p:ext uri="{BB962C8B-B14F-4D97-AF65-F5344CB8AC3E}">
        <p14:creationId xmlns:p14="http://schemas.microsoft.com/office/powerpoint/2010/main" val="101748975"/>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151</a:t>
            </a:fld>
            <a:endParaRPr lang="zh-CN" altLang="en-US"/>
          </a:p>
        </p:txBody>
      </p:sp>
    </p:spTree>
    <p:extLst>
      <p:ext uri="{BB962C8B-B14F-4D97-AF65-F5344CB8AC3E}">
        <p14:creationId xmlns:p14="http://schemas.microsoft.com/office/powerpoint/2010/main" val="127627785"/>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D296C-E4E7-7861-3134-CB8A08E383B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881EF3F-2595-7268-4E33-D86AEA02482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1741A03-A74E-9E3C-54D2-9E48DEB6BB3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4E7D0D9-F863-C8B1-E321-576833A7C075}"/>
              </a:ext>
            </a:extLst>
          </p:cNvPr>
          <p:cNvSpPr>
            <a:spLocks noGrp="1"/>
          </p:cNvSpPr>
          <p:nvPr>
            <p:ph type="sldNum" sz="quarter" idx="5"/>
          </p:nvPr>
        </p:nvSpPr>
        <p:spPr/>
        <p:txBody>
          <a:bodyPr/>
          <a:lstStyle/>
          <a:p>
            <a:pPr>
              <a:defRPr/>
            </a:pPr>
            <a:fld id="{CD1CD96A-A6EF-4B0B-9885-C22D65D2CD20}" type="slidenum">
              <a:rPr lang="zh-CN" altLang="en-US" smtClean="0"/>
              <a:pPr>
                <a:defRPr/>
              </a:pPr>
              <a:t>152</a:t>
            </a:fld>
            <a:endParaRPr lang="zh-CN" altLang="en-US"/>
          </a:p>
        </p:txBody>
      </p:sp>
    </p:spTree>
    <p:extLst>
      <p:ext uri="{BB962C8B-B14F-4D97-AF65-F5344CB8AC3E}">
        <p14:creationId xmlns:p14="http://schemas.microsoft.com/office/powerpoint/2010/main" val="3870398753"/>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153</a:t>
            </a:fld>
            <a:endParaRPr lang="zh-CN" altLang="en-US"/>
          </a:p>
        </p:txBody>
      </p:sp>
    </p:spTree>
    <p:extLst>
      <p:ext uri="{BB962C8B-B14F-4D97-AF65-F5344CB8AC3E}">
        <p14:creationId xmlns:p14="http://schemas.microsoft.com/office/powerpoint/2010/main" val="2289134149"/>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154</a:t>
            </a:fld>
            <a:endParaRPr lang="zh-CN" altLang="en-US"/>
          </a:p>
        </p:txBody>
      </p:sp>
    </p:spTree>
    <p:extLst>
      <p:ext uri="{BB962C8B-B14F-4D97-AF65-F5344CB8AC3E}">
        <p14:creationId xmlns:p14="http://schemas.microsoft.com/office/powerpoint/2010/main" val="3564003218"/>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7664B-E18C-9833-CC99-B8D7208E8F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9BC838E-3F23-F69E-8D06-1FAFA26A624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348DC23-ED08-4BDD-EBBF-21347B7EE96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23A6CF3-21A3-477E-8DFC-F14B801C3DED}"/>
              </a:ext>
            </a:extLst>
          </p:cNvPr>
          <p:cNvSpPr>
            <a:spLocks noGrp="1"/>
          </p:cNvSpPr>
          <p:nvPr>
            <p:ph type="sldNum" sz="quarter" idx="5"/>
          </p:nvPr>
        </p:nvSpPr>
        <p:spPr/>
        <p:txBody>
          <a:bodyPr/>
          <a:lstStyle/>
          <a:p>
            <a:pPr>
              <a:defRPr/>
            </a:pPr>
            <a:fld id="{CD1CD96A-A6EF-4B0B-9885-C22D65D2CD20}" type="slidenum">
              <a:rPr lang="zh-CN" altLang="en-US" smtClean="0"/>
              <a:pPr>
                <a:defRPr/>
              </a:pPr>
              <a:t>155</a:t>
            </a:fld>
            <a:endParaRPr lang="zh-CN" altLang="en-US"/>
          </a:p>
        </p:txBody>
      </p:sp>
    </p:spTree>
    <p:extLst>
      <p:ext uri="{BB962C8B-B14F-4D97-AF65-F5344CB8AC3E}">
        <p14:creationId xmlns:p14="http://schemas.microsoft.com/office/powerpoint/2010/main" val="70795503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0B3BE-3806-D8AF-34A0-29FA2A76DA1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8FD107D-D9D6-8492-8807-2FEB96174E9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4CF0282-C891-2464-2AF1-FD75ED195DE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18A84B3-F7B5-5B44-440C-696E7FE4BF3D}"/>
              </a:ext>
            </a:extLst>
          </p:cNvPr>
          <p:cNvSpPr>
            <a:spLocks noGrp="1"/>
          </p:cNvSpPr>
          <p:nvPr>
            <p:ph type="sldNum" sz="quarter" idx="5"/>
          </p:nvPr>
        </p:nvSpPr>
        <p:spPr/>
        <p:txBody>
          <a:bodyPr/>
          <a:lstStyle/>
          <a:p>
            <a:pPr>
              <a:defRPr/>
            </a:pPr>
            <a:fld id="{CD1CD96A-A6EF-4B0B-9885-C22D65D2CD20}" type="slidenum">
              <a:rPr lang="zh-CN" altLang="en-US" smtClean="0"/>
              <a:pPr>
                <a:defRPr/>
              </a:pPr>
              <a:t>156</a:t>
            </a:fld>
            <a:endParaRPr lang="zh-CN" altLang="en-US"/>
          </a:p>
        </p:txBody>
      </p:sp>
    </p:spTree>
    <p:extLst>
      <p:ext uri="{BB962C8B-B14F-4D97-AF65-F5344CB8AC3E}">
        <p14:creationId xmlns:p14="http://schemas.microsoft.com/office/powerpoint/2010/main" val="2075892505"/>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157</a:t>
            </a:fld>
            <a:endParaRPr lang="zh-CN" altLang="en-US"/>
          </a:p>
        </p:txBody>
      </p:sp>
    </p:spTree>
    <p:extLst>
      <p:ext uri="{BB962C8B-B14F-4D97-AF65-F5344CB8AC3E}">
        <p14:creationId xmlns:p14="http://schemas.microsoft.com/office/powerpoint/2010/main" val="1230651986"/>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158</a:t>
            </a:fld>
            <a:endParaRPr lang="zh-CN" altLang="en-US"/>
          </a:p>
        </p:txBody>
      </p:sp>
    </p:spTree>
    <p:extLst>
      <p:ext uri="{BB962C8B-B14F-4D97-AF65-F5344CB8AC3E}">
        <p14:creationId xmlns:p14="http://schemas.microsoft.com/office/powerpoint/2010/main" val="286975004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958F9-8FAA-1DD9-B0D1-D285E1445A8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CDBB6E6-5DEB-A5F9-C5E3-C5D14970998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A304724-B71D-BC6D-8E36-4C94ADB6649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B13ECF4-2DC9-F2D4-486A-24C57F40C331}"/>
              </a:ext>
            </a:extLst>
          </p:cNvPr>
          <p:cNvSpPr>
            <a:spLocks noGrp="1"/>
          </p:cNvSpPr>
          <p:nvPr>
            <p:ph type="sldNum" sz="quarter" idx="5"/>
          </p:nvPr>
        </p:nvSpPr>
        <p:spPr/>
        <p:txBody>
          <a:bodyPr/>
          <a:lstStyle/>
          <a:p>
            <a:pPr>
              <a:defRPr/>
            </a:pPr>
            <a:fld id="{CD1CD96A-A6EF-4B0B-9885-C22D65D2CD20}" type="slidenum">
              <a:rPr lang="zh-CN" altLang="en-US" smtClean="0"/>
              <a:pPr>
                <a:defRPr/>
              </a:pPr>
              <a:t>159</a:t>
            </a:fld>
            <a:endParaRPr lang="zh-CN" altLang="en-US"/>
          </a:p>
        </p:txBody>
      </p:sp>
    </p:spTree>
    <p:extLst>
      <p:ext uri="{BB962C8B-B14F-4D97-AF65-F5344CB8AC3E}">
        <p14:creationId xmlns:p14="http://schemas.microsoft.com/office/powerpoint/2010/main" val="341875743"/>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D1CD96A-A6EF-4B0B-9885-C22D65D2CD20}" type="slidenum">
              <a:rPr lang="zh-CN" altLang="en-US" smtClean="0"/>
              <a:pPr>
                <a:defRPr/>
              </a:pPr>
              <a:t>160</a:t>
            </a:fld>
            <a:endParaRPr lang="zh-CN" altLang="en-US"/>
          </a:p>
        </p:txBody>
      </p:sp>
    </p:spTree>
    <p:extLst>
      <p:ext uri="{BB962C8B-B14F-4D97-AF65-F5344CB8AC3E}">
        <p14:creationId xmlns:p14="http://schemas.microsoft.com/office/powerpoint/2010/main" val="3319549777"/>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191</a:t>
            </a:fld>
            <a:endParaRPr lang="zh-CN" altLang="en-US"/>
          </a:p>
        </p:txBody>
      </p:sp>
    </p:spTree>
    <p:extLst>
      <p:ext uri="{BB962C8B-B14F-4D97-AF65-F5344CB8AC3E}">
        <p14:creationId xmlns:p14="http://schemas.microsoft.com/office/powerpoint/2010/main" val="2447584153"/>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AC83A-7CD1-5692-8240-7EAEA4EEE7D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B0998F9-C3D3-8136-FC7E-F0EFBF7D9F1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C109076-FC87-7389-4585-53585F1A380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FD8A959-98E8-BD2C-1996-81730CD97A83}"/>
              </a:ext>
            </a:extLst>
          </p:cNvPr>
          <p:cNvSpPr>
            <a:spLocks noGrp="1"/>
          </p:cNvSpPr>
          <p:nvPr>
            <p:ph type="sldNum" sz="quarter" idx="5"/>
          </p:nvPr>
        </p:nvSpPr>
        <p:spPr/>
        <p:txBody>
          <a:bodyPr/>
          <a:lstStyle/>
          <a:p>
            <a:pPr>
              <a:defRPr/>
            </a:pPr>
            <a:fld id="{CD1CD96A-A6EF-4B0B-9885-C22D65D2CD20}" type="slidenum">
              <a:rPr lang="zh-CN" altLang="en-US" smtClean="0"/>
              <a:pPr>
                <a:defRPr/>
              </a:pPr>
              <a:t>193</a:t>
            </a:fld>
            <a:endParaRPr lang="zh-CN" altLang="en-US"/>
          </a:p>
        </p:txBody>
      </p:sp>
    </p:spTree>
    <p:extLst>
      <p:ext uri="{BB962C8B-B14F-4D97-AF65-F5344CB8AC3E}">
        <p14:creationId xmlns:p14="http://schemas.microsoft.com/office/powerpoint/2010/main" val="3139317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94605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76425886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2026/5/22</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249966742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2026/5/22</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0064001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6"/>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8" y="1151336"/>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8"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2026/5/22</a:t>
            </a:fld>
            <a:endParaRPr lang="zh-CN" altLang="en-US"/>
          </a:p>
        </p:txBody>
      </p:sp>
      <p:sp>
        <p:nvSpPr>
          <p:cNvPr id="8" name="页脚占位符 7"/>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9922684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2026/5/22</a:t>
            </a:fld>
            <a:endParaRPr lang="zh-CN" altLang="en-US"/>
          </a:p>
        </p:txBody>
      </p:sp>
      <p:sp>
        <p:nvSpPr>
          <p:cNvPr id="4" name="页脚占位符 3"/>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26171865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2026/5/22</a:t>
            </a:fld>
            <a:endParaRPr lang="zh-CN" altLang="en-US"/>
          </a:p>
        </p:txBody>
      </p:sp>
      <p:sp>
        <p:nvSpPr>
          <p:cNvPr id="3" name="页脚占位符 2"/>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59130246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04787"/>
            <a:ext cx="3008313" cy="871538"/>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9"/>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3" y="1076327"/>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2026/5/22</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92285257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2026/5/22</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71567477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2"/>
            <a:ext cx="8229600" cy="339447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2026/5/22</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91694695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2026/5/22</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3153080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CC6866-3D3A-BE39-D3B5-ED55934F8C8A}"/>
              </a:ext>
            </a:extLst>
          </p:cNvPr>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6492771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gi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41223" y="4662544"/>
            <a:ext cx="1125345" cy="267703"/>
          </a:xfrm>
          <a:prstGeom prst="rect">
            <a:avLst/>
          </a:prstGeom>
        </p:spPr>
      </p:pic>
      <p:sp>
        <p:nvSpPr>
          <p:cNvPr id="17" name="Line 3"/>
          <p:cNvSpPr>
            <a:spLocks noChangeShapeType="1"/>
          </p:cNvSpPr>
          <p:nvPr userDrawn="1"/>
        </p:nvSpPr>
        <p:spPr bwMode="auto">
          <a:xfrm>
            <a:off x="1266568" y="4803998"/>
            <a:ext cx="6942395" cy="0"/>
          </a:xfrm>
          <a:prstGeom prst="line">
            <a:avLst/>
          </a:prstGeom>
          <a:noFill/>
          <a:ln w="19050" algn="ctr">
            <a:solidFill>
              <a:srgbClr val="85D1F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Rectangle 9"/>
          <p:cNvSpPr>
            <a:spLocks noChangeArrowheads="1"/>
          </p:cNvSpPr>
          <p:nvPr userDrawn="1"/>
        </p:nvSpPr>
        <p:spPr bwMode="auto">
          <a:xfrm>
            <a:off x="8208962" y="4394656"/>
            <a:ext cx="609917" cy="609917"/>
          </a:xfrm>
          <a:prstGeom prst="rect">
            <a:avLst/>
          </a:prstGeom>
          <a:solidFill>
            <a:schemeClr val="bg1"/>
          </a:solidFill>
          <a:ln w="25400" algn="ctr">
            <a:solidFill>
              <a:srgbClr val="85D1F7"/>
            </a:solidFill>
            <a:miter lim="800000"/>
            <a:headEnd/>
            <a:tailEnd/>
          </a:ln>
        </p:spPr>
        <p:txBody>
          <a:bodyPr wrap="none" anchor="ctr"/>
          <a:lstStyle/>
          <a:p>
            <a:pPr algn="ctr" eaLnBrk="0" hangingPunct="0"/>
            <a:endParaRPr lang="fr-FR">
              <a:cs typeface="Arial" charset="0"/>
            </a:endParaRPr>
          </a:p>
        </p:txBody>
      </p:sp>
      <p:pic>
        <p:nvPicPr>
          <p:cNvPr id="15" name="图片 14"/>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8262049" y="4419021"/>
            <a:ext cx="503429" cy="559959"/>
          </a:xfrm>
          <a:prstGeom prst="rect">
            <a:avLst/>
          </a:prstGeom>
        </p:spPr>
      </p:pic>
      <p:sp>
        <p:nvSpPr>
          <p:cNvPr id="20" name="Line 3"/>
          <p:cNvSpPr>
            <a:spLocks noChangeShapeType="1"/>
          </p:cNvSpPr>
          <p:nvPr userDrawn="1"/>
        </p:nvSpPr>
        <p:spPr bwMode="auto">
          <a:xfrm>
            <a:off x="0" y="428092"/>
            <a:ext cx="9144000" cy="0"/>
          </a:xfrm>
          <a:prstGeom prst="line">
            <a:avLst/>
          </a:prstGeom>
          <a:noFill/>
          <a:ln w="25400" algn="ctr">
            <a:solidFill>
              <a:srgbClr val="85D1F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矩形 20"/>
          <p:cNvSpPr/>
          <p:nvPr userDrawn="1"/>
        </p:nvSpPr>
        <p:spPr>
          <a:xfrm>
            <a:off x="4262908" y="123478"/>
            <a:ext cx="598868" cy="4655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Line 3"/>
          <p:cNvSpPr>
            <a:spLocks noChangeShapeType="1"/>
          </p:cNvSpPr>
          <p:nvPr userDrawn="1"/>
        </p:nvSpPr>
        <p:spPr bwMode="auto">
          <a:xfrm>
            <a:off x="0" y="301530"/>
            <a:ext cx="2835464" cy="0"/>
          </a:xfrm>
          <a:prstGeom prst="line">
            <a:avLst/>
          </a:prstGeom>
          <a:noFill/>
          <a:ln w="12700" algn="ctr">
            <a:solidFill>
              <a:srgbClr val="00CC00"/>
            </a:solidFill>
            <a:round/>
            <a:headEnd/>
            <a:tailEnd/>
          </a:ln>
          <a:extLst>
            <a:ext uri="{909E8E84-426E-40DD-AFC4-6F175D3DCCD1}">
              <a14:hiddenFill xmlns:a14="http://schemas.microsoft.com/office/drawing/2010/main">
                <a:noFill/>
              </a14:hiddenFill>
            </a:ext>
          </a:extLst>
        </p:spPr>
        <p:txBody>
          <a:bodyPr/>
          <a:lstStyle/>
          <a:p>
            <a:pPr lvl="0"/>
            <a:endParaRPr lang="zh-CN" altLang="en-US"/>
          </a:p>
        </p:txBody>
      </p:sp>
      <p:sp>
        <p:nvSpPr>
          <p:cNvPr id="23" name="Rectangle 4"/>
          <p:cNvSpPr>
            <a:spLocks noChangeArrowheads="1"/>
          </p:cNvSpPr>
          <p:nvPr userDrawn="1"/>
        </p:nvSpPr>
        <p:spPr bwMode="auto">
          <a:xfrm>
            <a:off x="4810741" y="164227"/>
            <a:ext cx="1985169" cy="2616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eaLnBrk="0" hangingPunct="0"/>
            <a:r>
              <a:rPr lang="zh-CN" altLang="en-US" sz="1100" b="1" dirty="0">
                <a:solidFill>
                  <a:srgbClr val="0070C0"/>
                </a:solidFill>
                <a:latin typeface="微软雅黑" pitchFamily="34" charset="-122"/>
                <a:ea typeface="微软雅黑" pitchFamily="34" charset="-122"/>
              </a:rPr>
              <a:t>谢希仁  谢钧  邢长友  编著</a:t>
            </a:r>
          </a:p>
        </p:txBody>
      </p:sp>
      <p:sp>
        <p:nvSpPr>
          <p:cNvPr id="24" name="Rectangle 5"/>
          <p:cNvSpPr>
            <a:spLocks noChangeArrowheads="1"/>
          </p:cNvSpPr>
          <p:nvPr userDrawn="1"/>
        </p:nvSpPr>
        <p:spPr bwMode="auto">
          <a:xfrm>
            <a:off x="2835464" y="164857"/>
            <a:ext cx="1492716" cy="2616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0" hangingPunct="0"/>
            <a:r>
              <a:rPr lang="fr-FR" sz="1100" b="1" dirty="0">
                <a:solidFill>
                  <a:srgbClr val="0070C0"/>
                </a:solidFill>
                <a:latin typeface="微软雅黑" pitchFamily="34" charset="-122"/>
                <a:ea typeface="微软雅黑" pitchFamily="34" charset="-122"/>
              </a:rPr>
              <a:t>计算机网络 </a:t>
            </a:r>
            <a:r>
              <a:rPr lang="en-US" altLang="zh-CN" sz="1100" b="1" dirty="0">
                <a:solidFill>
                  <a:srgbClr val="0070C0"/>
                </a:solidFill>
                <a:latin typeface="微软雅黑" pitchFamily="34" charset="-122"/>
                <a:ea typeface="微软雅黑" pitchFamily="34" charset="-122"/>
              </a:rPr>
              <a:t>(</a:t>
            </a:r>
            <a:r>
              <a:rPr lang="zh-CN" altLang="en-US" sz="1100" b="1" dirty="0">
                <a:solidFill>
                  <a:srgbClr val="0070C0"/>
                </a:solidFill>
                <a:latin typeface="微软雅黑" pitchFamily="34" charset="-122"/>
                <a:ea typeface="微软雅黑" pitchFamily="34" charset="-122"/>
              </a:rPr>
              <a:t>第 </a:t>
            </a:r>
            <a:r>
              <a:rPr lang="en-US" altLang="zh-CN" sz="1100" b="1" dirty="0">
                <a:solidFill>
                  <a:srgbClr val="0070C0"/>
                </a:solidFill>
                <a:latin typeface="微软雅黑" pitchFamily="34" charset="-122"/>
                <a:ea typeface="微软雅黑" pitchFamily="34" charset="-122"/>
              </a:rPr>
              <a:t>9 </a:t>
            </a:r>
            <a:r>
              <a:rPr lang="zh-CN" altLang="en-US" sz="1100" b="1" dirty="0">
                <a:solidFill>
                  <a:srgbClr val="0070C0"/>
                </a:solidFill>
                <a:latin typeface="微软雅黑" pitchFamily="34" charset="-122"/>
                <a:ea typeface="微软雅黑" pitchFamily="34" charset="-122"/>
              </a:rPr>
              <a:t>版</a:t>
            </a:r>
            <a:r>
              <a:rPr lang="en-US" altLang="zh-CN" sz="1100" b="1" dirty="0">
                <a:solidFill>
                  <a:srgbClr val="0070C0"/>
                </a:solidFill>
                <a:latin typeface="微软雅黑" pitchFamily="34" charset="-122"/>
                <a:ea typeface="微软雅黑" pitchFamily="34" charset="-122"/>
              </a:rPr>
              <a:t>)</a:t>
            </a:r>
            <a:endParaRPr lang="fr-FR" sz="1100" b="1" dirty="0">
              <a:solidFill>
                <a:srgbClr val="0070C0"/>
              </a:solidFill>
              <a:latin typeface="微软雅黑" pitchFamily="34" charset="-122"/>
              <a:ea typeface="微软雅黑" pitchFamily="34" charset="-122"/>
            </a:endParaRPr>
          </a:p>
        </p:txBody>
      </p:sp>
      <p:sp>
        <p:nvSpPr>
          <p:cNvPr id="25" name="椭圆 24"/>
          <p:cNvSpPr/>
          <p:nvPr userDrawn="1"/>
        </p:nvSpPr>
        <p:spPr>
          <a:xfrm>
            <a:off x="2793115" y="259181"/>
            <a:ext cx="84698" cy="84698"/>
          </a:xfrm>
          <a:prstGeom prst="ellipse">
            <a:avLst/>
          </a:prstGeom>
          <a:solidFill>
            <a:schemeClr val="bg1"/>
          </a:solidFill>
          <a:ln w="12700" algn="ctr">
            <a:solidFill>
              <a:srgbClr val="00B050"/>
            </a:solidFill>
            <a:round/>
            <a:headEnd/>
            <a:tailEnd/>
          </a:ln>
        </p:spPr>
        <p:txBody>
          <a:bodyPr/>
          <a:lstStyle/>
          <a:p>
            <a:pPr lvl="0"/>
            <a:endParaRPr lang="zh-CN" altLang="en-US">
              <a:solidFill>
                <a:schemeClr val="tx1"/>
              </a:solidFill>
              <a:latin typeface="Arial" charset="0"/>
              <a:ea typeface="宋体" charset="-122"/>
            </a:endParaRPr>
          </a:p>
        </p:txBody>
      </p:sp>
      <p:sp>
        <p:nvSpPr>
          <p:cNvPr id="26" name="Line 3"/>
          <p:cNvSpPr>
            <a:spLocks noChangeShapeType="1"/>
          </p:cNvSpPr>
          <p:nvPr userDrawn="1"/>
        </p:nvSpPr>
        <p:spPr bwMode="auto">
          <a:xfrm>
            <a:off x="6585184" y="301530"/>
            <a:ext cx="2558815" cy="0"/>
          </a:xfrm>
          <a:prstGeom prst="line">
            <a:avLst/>
          </a:prstGeom>
          <a:noFill/>
          <a:ln w="12700" algn="ctr">
            <a:solidFill>
              <a:srgbClr val="00CC00"/>
            </a:solidFill>
            <a:round/>
            <a:headEnd/>
            <a:tailEnd/>
          </a:ln>
          <a:extLst>
            <a:ext uri="{909E8E84-426E-40DD-AFC4-6F175D3DCCD1}">
              <a14:hiddenFill xmlns:a14="http://schemas.microsoft.com/office/drawing/2010/main">
                <a:noFill/>
              </a14:hiddenFill>
            </a:ext>
          </a:extLst>
        </p:spPr>
        <p:txBody>
          <a:bodyPr/>
          <a:lstStyle/>
          <a:p>
            <a:pPr lvl="0"/>
            <a:endParaRPr lang="zh-CN" altLang="en-US"/>
          </a:p>
        </p:txBody>
      </p:sp>
      <p:sp>
        <p:nvSpPr>
          <p:cNvPr id="27" name="椭圆 26"/>
          <p:cNvSpPr/>
          <p:nvPr userDrawn="1"/>
        </p:nvSpPr>
        <p:spPr>
          <a:xfrm>
            <a:off x="6587326" y="259181"/>
            <a:ext cx="84698" cy="84698"/>
          </a:xfrm>
          <a:prstGeom prst="ellipse">
            <a:avLst/>
          </a:prstGeom>
          <a:solidFill>
            <a:schemeClr val="bg1"/>
          </a:solidFill>
          <a:ln w="12700" algn="ctr">
            <a:solidFill>
              <a:srgbClr val="00B050"/>
            </a:solidFill>
            <a:round/>
            <a:headEnd/>
            <a:tailEnd/>
          </a:ln>
        </p:spPr>
        <p:txBody>
          <a:bodyPr/>
          <a:lstStyle/>
          <a:p>
            <a:pPr lvl="0"/>
            <a:endParaRPr lang="zh-CN" altLang="en-US">
              <a:solidFill>
                <a:schemeClr val="tx1"/>
              </a:solidFill>
              <a:latin typeface="Arial" charset="0"/>
              <a:ea typeface="宋体" charset="-122"/>
            </a:endParaRPr>
          </a:p>
        </p:txBody>
      </p:sp>
      <p:pic>
        <p:nvPicPr>
          <p:cNvPr id="28" name="图片 27"/>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4392827" y="149234"/>
            <a:ext cx="358346" cy="458684"/>
          </a:xfrm>
          <a:prstGeom prst="rect">
            <a:avLst/>
          </a:prstGeom>
        </p:spPr>
      </p:pic>
    </p:spTree>
    <p:extLst>
      <p:ext uri="{BB962C8B-B14F-4D97-AF65-F5344CB8AC3E}">
        <p14:creationId xmlns:p14="http://schemas.microsoft.com/office/powerpoint/2010/main" val="6916023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124.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125.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126.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127.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128.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129.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131.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1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7" name="矩形 6"/>
          <p:cNvSpPr/>
          <p:nvPr/>
        </p:nvSpPr>
        <p:spPr>
          <a:xfrm>
            <a:off x="4931830" y="2219222"/>
            <a:ext cx="2605200" cy="938719"/>
          </a:xfrm>
          <a:prstGeom prst="rect">
            <a:avLst/>
          </a:prstGeom>
        </p:spPr>
        <p:txBody>
          <a:bodyPr wrap="none">
            <a:spAutoFit/>
          </a:bodyPr>
          <a:lstStyle/>
          <a:p>
            <a:pPr algn="ctr" eaLnBrk="0" hangingPunct="0"/>
            <a:r>
              <a:rPr lang="zh-CN" altLang="en-US" sz="5500" b="1" dirty="0">
                <a:solidFill>
                  <a:schemeClr val="bg1"/>
                </a:solidFill>
                <a:latin typeface="微软雅黑" pitchFamily="34" charset="-122"/>
                <a:ea typeface="微软雅黑" pitchFamily="34" charset="-122"/>
              </a:rPr>
              <a:t>传</a:t>
            </a:r>
            <a:r>
              <a:rPr lang="zh-CN" altLang="en-US" sz="36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输</a:t>
            </a:r>
            <a:r>
              <a:rPr lang="zh-CN" altLang="en-US" sz="32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层</a:t>
            </a:r>
            <a:endParaRPr lang="fr-FR" altLang="zh-CN" sz="5500" b="1" dirty="0">
              <a:solidFill>
                <a:schemeClr val="bg1"/>
              </a:solidFill>
              <a:latin typeface="微软雅黑" pitchFamily="34" charset="-122"/>
              <a:ea typeface="微软雅黑" pitchFamily="34" charset="-122"/>
            </a:endParaRPr>
          </a:p>
        </p:txBody>
      </p:sp>
      <p:sp>
        <p:nvSpPr>
          <p:cNvPr id="8" name="矩形 7"/>
          <p:cNvSpPr/>
          <p:nvPr/>
        </p:nvSpPr>
        <p:spPr>
          <a:xfrm>
            <a:off x="5565012" y="1736604"/>
            <a:ext cx="1338828" cy="523220"/>
          </a:xfrm>
          <a:prstGeom prst="rect">
            <a:avLst/>
          </a:prstGeom>
        </p:spPr>
        <p:txBody>
          <a:bodyPr wrap="none">
            <a:spAutoFit/>
          </a:bodyPr>
          <a:lstStyle/>
          <a:p>
            <a:pPr algn="ctr" eaLnBrk="0" hangingPunct="0"/>
            <a:r>
              <a:rPr lang="fr-FR" altLang="zh-CN" sz="2800" b="1" dirty="0">
                <a:solidFill>
                  <a:schemeClr val="bg1"/>
                </a:solidFill>
                <a:latin typeface="微软雅黑" pitchFamily="34" charset="-122"/>
                <a:ea typeface="微软雅黑" pitchFamily="34" charset="-122"/>
              </a:rPr>
              <a:t>第 5 章</a:t>
            </a:r>
          </a:p>
        </p:txBody>
      </p:sp>
      <p:sp>
        <p:nvSpPr>
          <p:cNvPr id="11" name="Rectangle 4"/>
          <p:cNvSpPr>
            <a:spLocks noChangeArrowheads="1"/>
          </p:cNvSpPr>
          <p:nvPr/>
        </p:nvSpPr>
        <p:spPr bwMode="auto">
          <a:xfrm>
            <a:off x="10302" y="2583673"/>
            <a:ext cx="2739383"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sz="1200" b="1" dirty="0">
                <a:solidFill>
                  <a:srgbClr val="00B0F0"/>
                </a:solidFill>
                <a:latin typeface="微软雅黑" pitchFamily="34" charset="-122"/>
                <a:ea typeface="微软雅黑" pitchFamily="34" charset="-122"/>
              </a:rPr>
              <a:t>谢希仁  谢钧  邢长友  编著</a:t>
            </a:r>
          </a:p>
        </p:txBody>
      </p:sp>
      <p:sp>
        <p:nvSpPr>
          <p:cNvPr id="12" name="Rectangle 6"/>
          <p:cNvSpPr>
            <a:spLocks noChangeArrowheads="1"/>
          </p:cNvSpPr>
          <p:nvPr/>
        </p:nvSpPr>
        <p:spPr bwMode="auto">
          <a:xfrm>
            <a:off x="10302" y="2239963"/>
            <a:ext cx="2512403" cy="338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eaLnBrk="0" hangingPunct="0">
              <a:spcBef>
                <a:spcPts val="1000"/>
              </a:spcBef>
            </a:pPr>
            <a:r>
              <a:rPr lang="fr-FR" sz="1600" b="1" dirty="0">
                <a:solidFill>
                  <a:srgbClr val="00B0F0"/>
                </a:solidFill>
                <a:latin typeface="微软雅黑" pitchFamily="34" charset="-122"/>
                <a:ea typeface="微软雅黑" pitchFamily="34" charset="-122"/>
              </a:rPr>
              <a:t>计算机网络（第 </a:t>
            </a:r>
            <a:r>
              <a:rPr lang="en-US" altLang="zh-CN" sz="1600" b="1" dirty="0">
                <a:solidFill>
                  <a:srgbClr val="00B0F0"/>
                </a:solidFill>
                <a:latin typeface="微软雅黑" pitchFamily="34" charset="-122"/>
                <a:ea typeface="微软雅黑" pitchFamily="34" charset="-122"/>
              </a:rPr>
              <a:t>9</a:t>
            </a:r>
            <a:r>
              <a:rPr lang="fr-FR" sz="1600" b="1" dirty="0">
                <a:solidFill>
                  <a:srgbClr val="00B0F0"/>
                </a:solidFill>
                <a:latin typeface="微软雅黑" pitchFamily="34" charset="-122"/>
                <a:ea typeface="微软雅黑" pitchFamily="34" charset="-122"/>
              </a:rPr>
              <a:t> 版）</a:t>
            </a:r>
          </a:p>
        </p:txBody>
      </p:sp>
      <p:cxnSp>
        <p:nvCxnSpPr>
          <p:cNvPr id="13" name="直接连接符 12"/>
          <p:cNvCxnSpPr/>
          <p:nvPr/>
        </p:nvCxnSpPr>
        <p:spPr>
          <a:xfrm>
            <a:off x="0" y="2236788"/>
            <a:ext cx="2749685" cy="3175"/>
          </a:xfrm>
          <a:prstGeom prst="line">
            <a:avLst/>
          </a:prstGeom>
          <a:ln w="19050">
            <a:solidFill>
              <a:srgbClr val="6DAAE1"/>
            </a:solidFill>
          </a:ln>
        </p:spPr>
        <p:style>
          <a:lnRef idx="1">
            <a:schemeClr val="accent1"/>
          </a:lnRef>
          <a:fillRef idx="0">
            <a:schemeClr val="accent1"/>
          </a:fillRef>
          <a:effectRef idx="0">
            <a:schemeClr val="accent1"/>
          </a:effectRef>
          <a:fontRef idx="minor">
            <a:schemeClr val="tx1"/>
          </a:fontRef>
        </p:style>
      </p:cxnSp>
      <p:pic>
        <p:nvPicPr>
          <p:cNvPr id="14" name="图片 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222" y="2955148"/>
            <a:ext cx="1198563"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205601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316859" y="611929"/>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计算机网络体系结构</a:t>
            </a:r>
          </a:p>
        </p:txBody>
      </p:sp>
      <p:sp>
        <p:nvSpPr>
          <p:cNvPr id="48" name="圆角矩形 47"/>
          <p:cNvSpPr/>
          <p:nvPr/>
        </p:nvSpPr>
        <p:spPr>
          <a:xfrm>
            <a:off x="505072" y="1080782"/>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49" name="组合 48"/>
          <p:cNvGrpSpPr/>
          <p:nvPr/>
        </p:nvGrpSpPr>
        <p:grpSpPr>
          <a:xfrm>
            <a:off x="1557339" y="1533861"/>
            <a:ext cx="1341438" cy="2356685"/>
            <a:chOff x="1557339" y="1623511"/>
            <a:chExt cx="1341438" cy="2356685"/>
          </a:xfrm>
        </p:grpSpPr>
        <p:sp>
          <p:nvSpPr>
            <p:cNvPr id="50" name="AutoShape 58"/>
            <p:cNvSpPr>
              <a:spLocks noChangeArrowheads="1"/>
            </p:cNvSpPr>
            <p:nvPr/>
          </p:nvSpPr>
          <p:spPr bwMode="auto">
            <a:xfrm>
              <a:off x="1560514" y="1623511"/>
              <a:ext cx="1338263" cy="2301875"/>
            </a:xfrm>
            <a:prstGeom prst="cube">
              <a:avLst>
                <a:gd name="adj" fmla="val 9144"/>
              </a:avLst>
            </a:prstGeom>
            <a:solidFill>
              <a:srgbClr val="85D1F7"/>
            </a:solidFill>
            <a:ln w="19050">
              <a:solidFill>
                <a:schemeClr val="bg1"/>
              </a:solidFill>
              <a:miter lim="800000"/>
            </a:ln>
          </p:spPr>
          <p:txBody>
            <a:bodyPr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51" name="Freeform 50"/>
            <p:cNvSpPr/>
            <p:nvPr/>
          </p:nvSpPr>
          <p:spPr bwMode="auto">
            <a:xfrm>
              <a:off x="1560514" y="1872748"/>
              <a:ext cx="1330325"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 name="Freeform 59"/>
            <p:cNvSpPr/>
            <p:nvPr/>
          </p:nvSpPr>
          <p:spPr bwMode="auto">
            <a:xfrm>
              <a:off x="1560514" y="2185486"/>
              <a:ext cx="1328738"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3" name="Freeform 60"/>
            <p:cNvSpPr/>
            <p:nvPr/>
          </p:nvSpPr>
          <p:spPr bwMode="auto">
            <a:xfrm>
              <a:off x="1560514" y="2498223"/>
              <a:ext cx="1328738"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4" name="Freeform 61"/>
            <p:cNvSpPr/>
            <p:nvPr/>
          </p:nvSpPr>
          <p:spPr bwMode="auto">
            <a:xfrm>
              <a:off x="1560514" y="2810961"/>
              <a:ext cx="1328738" cy="171450"/>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5" name="Freeform 62"/>
            <p:cNvSpPr/>
            <p:nvPr/>
          </p:nvSpPr>
          <p:spPr bwMode="auto">
            <a:xfrm>
              <a:off x="1558927" y="3122111"/>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 name="Freeform 63"/>
            <p:cNvSpPr/>
            <p:nvPr/>
          </p:nvSpPr>
          <p:spPr bwMode="auto">
            <a:xfrm>
              <a:off x="1557339" y="3434848"/>
              <a:ext cx="1330325"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 name="Text Box 22"/>
            <p:cNvSpPr txBox="1">
              <a:spLocks noChangeArrowheads="1"/>
            </p:cNvSpPr>
            <p:nvPr/>
          </p:nvSpPr>
          <p:spPr bwMode="auto">
            <a:xfrm>
              <a:off x="2027239" y="1779086"/>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应用层</a:t>
              </a:r>
            </a:p>
          </p:txBody>
        </p:sp>
        <p:sp>
          <p:nvSpPr>
            <p:cNvPr id="58" name="Text Box 23"/>
            <p:cNvSpPr txBox="1">
              <a:spLocks noChangeArrowheads="1"/>
            </p:cNvSpPr>
            <p:nvPr/>
          </p:nvSpPr>
          <p:spPr bwMode="auto">
            <a:xfrm>
              <a:off x="2006602" y="2706561"/>
              <a:ext cx="608012"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rgbClr val="C00000"/>
                  </a:solidFill>
                  <a:latin typeface="微软雅黑" panose="020B0503020204020204" pitchFamily="34" charset="-122"/>
                  <a:ea typeface="微软雅黑" panose="020B0503020204020204" pitchFamily="34" charset="-122"/>
                </a:rPr>
                <a:t>传输层</a:t>
              </a:r>
            </a:p>
          </p:txBody>
        </p:sp>
        <p:sp>
          <p:nvSpPr>
            <p:cNvPr id="59" name="Text Box 24"/>
            <p:cNvSpPr txBox="1">
              <a:spLocks noChangeArrowheads="1"/>
            </p:cNvSpPr>
            <p:nvPr/>
          </p:nvSpPr>
          <p:spPr bwMode="auto">
            <a:xfrm>
              <a:off x="2014539" y="3006223"/>
              <a:ext cx="608013"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网络层</a:t>
              </a:r>
            </a:p>
          </p:txBody>
        </p:sp>
        <p:sp>
          <p:nvSpPr>
            <p:cNvPr id="60" name="Text Box 54"/>
            <p:cNvSpPr txBox="1">
              <a:spLocks noChangeArrowheads="1"/>
            </p:cNvSpPr>
            <p:nvPr/>
          </p:nvSpPr>
          <p:spPr bwMode="auto">
            <a:xfrm>
              <a:off x="2014539" y="2079123"/>
              <a:ext cx="6080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表示层</a:t>
              </a:r>
            </a:p>
          </p:txBody>
        </p:sp>
        <p:sp>
          <p:nvSpPr>
            <p:cNvPr id="61" name="Text Box 55"/>
            <p:cNvSpPr txBox="1">
              <a:spLocks noChangeArrowheads="1"/>
            </p:cNvSpPr>
            <p:nvPr/>
          </p:nvSpPr>
          <p:spPr bwMode="auto">
            <a:xfrm>
              <a:off x="2014539" y="2391861"/>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会话层</a:t>
              </a:r>
            </a:p>
          </p:txBody>
        </p:sp>
        <p:sp>
          <p:nvSpPr>
            <p:cNvPr id="62" name="Text Box 56"/>
            <p:cNvSpPr txBox="1">
              <a:spLocks noChangeArrowheads="1"/>
            </p:cNvSpPr>
            <p:nvPr/>
          </p:nvSpPr>
          <p:spPr bwMode="auto">
            <a:xfrm>
              <a:off x="1911352" y="3314198"/>
              <a:ext cx="889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数据链路层</a:t>
              </a:r>
            </a:p>
          </p:txBody>
        </p:sp>
        <p:sp>
          <p:nvSpPr>
            <p:cNvPr id="63" name="Text Box 57"/>
            <p:cNvSpPr txBox="1">
              <a:spLocks noChangeArrowheads="1"/>
            </p:cNvSpPr>
            <p:nvPr/>
          </p:nvSpPr>
          <p:spPr bwMode="auto">
            <a:xfrm>
              <a:off x="2014539" y="3638048"/>
              <a:ext cx="6080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物理层</a:t>
              </a:r>
            </a:p>
          </p:txBody>
        </p:sp>
        <p:sp>
          <p:nvSpPr>
            <p:cNvPr id="64" name="Text Box 43"/>
            <p:cNvSpPr txBox="1">
              <a:spLocks noChangeArrowheads="1"/>
            </p:cNvSpPr>
            <p:nvPr/>
          </p:nvSpPr>
          <p:spPr bwMode="auto">
            <a:xfrm>
              <a:off x="1622427" y="1683083"/>
              <a:ext cx="271462" cy="229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85000"/>
                </a:lnSpc>
              </a:pPr>
              <a:r>
                <a:rPr kumimoji="1" lang="en-US" altLang="zh-CN" sz="1100" b="1" dirty="0">
                  <a:latin typeface="微软雅黑" panose="020B0503020204020204" pitchFamily="34" charset="-122"/>
                  <a:ea typeface="微软雅黑" panose="020B0503020204020204" pitchFamily="34" charset="-122"/>
                </a:rPr>
                <a:t>7</a:t>
              </a:r>
            </a:p>
            <a:p>
              <a:pPr>
                <a:lnSpc>
                  <a:spcPct val="185000"/>
                </a:lnSpc>
              </a:pPr>
              <a:r>
                <a:rPr kumimoji="1" lang="en-US" altLang="zh-CN" sz="1100" b="1" dirty="0">
                  <a:latin typeface="微软雅黑" panose="020B0503020204020204" pitchFamily="34" charset="-122"/>
                  <a:ea typeface="微软雅黑" panose="020B0503020204020204" pitchFamily="34" charset="-122"/>
                </a:rPr>
                <a:t>6</a:t>
              </a:r>
            </a:p>
            <a:p>
              <a:pPr>
                <a:lnSpc>
                  <a:spcPct val="185000"/>
                </a:lnSpc>
              </a:pPr>
              <a:r>
                <a:rPr kumimoji="1" lang="en-US" altLang="zh-CN" sz="1100" b="1" dirty="0">
                  <a:latin typeface="微软雅黑" panose="020B0503020204020204" pitchFamily="34" charset="-122"/>
                  <a:ea typeface="微软雅黑" panose="020B0503020204020204" pitchFamily="34" charset="-122"/>
                </a:rPr>
                <a:t>5</a:t>
              </a:r>
            </a:p>
            <a:p>
              <a:pPr>
                <a:lnSpc>
                  <a:spcPct val="185000"/>
                </a:lnSpc>
              </a:pPr>
              <a:r>
                <a:rPr kumimoji="1" lang="en-US" altLang="zh-CN" sz="1100" b="1" dirty="0">
                  <a:latin typeface="微软雅黑" panose="020B0503020204020204" pitchFamily="34" charset="-122"/>
                  <a:ea typeface="微软雅黑" panose="020B0503020204020204" pitchFamily="34" charset="-122"/>
                </a:rPr>
                <a:t>4</a:t>
              </a:r>
            </a:p>
            <a:p>
              <a:pPr>
                <a:lnSpc>
                  <a:spcPct val="185000"/>
                </a:lnSpc>
              </a:pPr>
              <a:r>
                <a:rPr kumimoji="1" lang="en-US" altLang="zh-CN" sz="1100" b="1" dirty="0">
                  <a:latin typeface="微软雅黑" panose="020B0503020204020204" pitchFamily="34" charset="-122"/>
                  <a:ea typeface="微软雅黑" panose="020B0503020204020204" pitchFamily="34" charset="-122"/>
                </a:rPr>
                <a:t>3</a:t>
              </a:r>
            </a:p>
            <a:p>
              <a:pPr>
                <a:lnSpc>
                  <a:spcPct val="185000"/>
                </a:lnSpc>
              </a:pPr>
              <a:r>
                <a:rPr kumimoji="1" lang="en-US" altLang="zh-CN" sz="1100" b="1" dirty="0">
                  <a:latin typeface="微软雅黑" panose="020B0503020204020204" pitchFamily="34" charset="-122"/>
                  <a:ea typeface="微软雅黑" panose="020B0503020204020204" pitchFamily="34" charset="-122"/>
                </a:rPr>
                <a:t>2</a:t>
              </a:r>
            </a:p>
            <a:p>
              <a:pPr>
                <a:lnSpc>
                  <a:spcPct val="185000"/>
                </a:lnSpc>
              </a:pPr>
              <a:r>
                <a:rPr kumimoji="1" lang="en-US" altLang="zh-CN" sz="1100" b="1" dirty="0">
                  <a:latin typeface="微软雅黑" panose="020B0503020204020204" pitchFamily="34" charset="-122"/>
                  <a:ea typeface="微软雅黑" panose="020B0503020204020204" pitchFamily="34" charset="-122"/>
                </a:rPr>
                <a:t>1</a:t>
              </a:r>
            </a:p>
          </p:txBody>
        </p:sp>
      </p:grpSp>
      <p:sp>
        <p:nvSpPr>
          <p:cNvPr id="65" name="Text Box 13"/>
          <p:cNvSpPr txBox="1">
            <a:spLocks noChangeArrowheads="1"/>
          </p:cNvSpPr>
          <p:nvPr/>
        </p:nvSpPr>
        <p:spPr bwMode="auto">
          <a:xfrm>
            <a:off x="1156623" y="1197311"/>
            <a:ext cx="21691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dirty="0">
                <a:solidFill>
                  <a:srgbClr val="000099"/>
                </a:solidFill>
                <a:latin typeface="微软雅黑" panose="020B0503020204020204" pitchFamily="34" charset="-122"/>
                <a:ea typeface="微软雅黑" panose="020B0503020204020204" pitchFamily="34" charset="-122"/>
              </a:rPr>
              <a:t>OSI </a:t>
            </a:r>
            <a:r>
              <a:rPr kumimoji="1" lang="zh-CN" altLang="en-US" sz="1400" b="1" dirty="0">
                <a:solidFill>
                  <a:srgbClr val="000099"/>
                </a:solidFill>
                <a:latin typeface="微软雅黑" panose="020B0503020204020204" pitchFamily="34" charset="-122"/>
                <a:ea typeface="微软雅黑" panose="020B0503020204020204" pitchFamily="34" charset="-122"/>
              </a:rPr>
              <a:t>的七层协议体系结构</a:t>
            </a:r>
          </a:p>
        </p:txBody>
      </p:sp>
      <p:sp>
        <p:nvSpPr>
          <p:cNvPr id="66" name="Text Box 12"/>
          <p:cNvSpPr txBox="1">
            <a:spLocks noChangeArrowheads="1"/>
          </p:cNvSpPr>
          <p:nvPr/>
        </p:nvSpPr>
        <p:spPr bwMode="auto">
          <a:xfrm>
            <a:off x="3432593" y="1186198"/>
            <a:ext cx="246195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dirty="0">
                <a:latin typeface="微软雅黑" panose="020B0503020204020204" pitchFamily="34" charset="-122"/>
                <a:ea typeface="微软雅黑" panose="020B0503020204020204" pitchFamily="34" charset="-122"/>
              </a:rPr>
              <a:t>TCP/IP </a:t>
            </a:r>
            <a:r>
              <a:rPr kumimoji="1" lang="zh-CN" altLang="en-US" sz="1400" b="1" dirty="0">
                <a:latin typeface="微软雅黑" panose="020B0503020204020204" pitchFamily="34" charset="-122"/>
                <a:ea typeface="微软雅黑" panose="020B0503020204020204" pitchFamily="34" charset="-122"/>
              </a:rPr>
              <a:t>的四层协议体系结构</a:t>
            </a:r>
          </a:p>
        </p:txBody>
      </p:sp>
      <p:sp>
        <p:nvSpPr>
          <p:cNvPr id="67" name="Text Box 95"/>
          <p:cNvSpPr txBox="1">
            <a:spLocks noChangeArrowheads="1"/>
          </p:cNvSpPr>
          <p:nvPr/>
        </p:nvSpPr>
        <p:spPr bwMode="auto">
          <a:xfrm>
            <a:off x="1993066" y="3835736"/>
            <a:ext cx="3921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dirty="0">
                <a:latin typeface="微软雅黑" panose="020B0503020204020204" pitchFamily="34" charset="-122"/>
                <a:ea typeface="微软雅黑" panose="020B0503020204020204" pitchFamily="34" charset="-122"/>
              </a:rPr>
              <a:t>(a)</a:t>
            </a:r>
          </a:p>
        </p:txBody>
      </p:sp>
      <p:sp>
        <p:nvSpPr>
          <p:cNvPr id="68" name="Text Box 96"/>
          <p:cNvSpPr txBox="1">
            <a:spLocks noChangeArrowheads="1"/>
          </p:cNvSpPr>
          <p:nvPr/>
        </p:nvSpPr>
        <p:spPr bwMode="auto">
          <a:xfrm>
            <a:off x="4328191" y="3835736"/>
            <a:ext cx="4048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dirty="0">
                <a:latin typeface="微软雅黑" panose="020B0503020204020204" pitchFamily="34" charset="-122"/>
                <a:ea typeface="微软雅黑" panose="020B0503020204020204" pitchFamily="34" charset="-122"/>
              </a:rPr>
              <a:t>(b)</a:t>
            </a:r>
          </a:p>
        </p:txBody>
      </p:sp>
      <p:sp>
        <p:nvSpPr>
          <p:cNvPr id="69" name="Text Box 97"/>
          <p:cNvSpPr txBox="1">
            <a:spLocks noChangeArrowheads="1"/>
          </p:cNvSpPr>
          <p:nvPr/>
        </p:nvSpPr>
        <p:spPr bwMode="auto">
          <a:xfrm>
            <a:off x="6655970" y="3843757"/>
            <a:ext cx="3841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a:latin typeface="微软雅黑" panose="020B0503020204020204" pitchFamily="34" charset="-122"/>
                <a:ea typeface="微软雅黑" panose="020B0503020204020204" pitchFamily="34" charset="-122"/>
              </a:rPr>
              <a:t>(c)</a:t>
            </a:r>
          </a:p>
        </p:txBody>
      </p:sp>
      <p:sp>
        <p:nvSpPr>
          <p:cNvPr id="70" name="Text Box 113"/>
          <p:cNvSpPr txBox="1">
            <a:spLocks noChangeArrowheads="1"/>
          </p:cNvSpPr>
          <p:nvPr/>
        </p:nvSpPr>
        <p:spPr bwMode="auto">
          <a:xfrm>
            <a:off x="5946357" y="1181436"/>
            <a:ext cx="18002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400" b="1" dirty="0">
                <a:solidFill>
                  <a:srgbClr val="C00000"/>
                </a:solidFill>
                <a:latin typeface="微软雅黑" panose="020B0503020204020204" pitchFamily="34" charset="-122"/>
                <a:ea typeface="微软雅黑" panose="020B0503020204020204" pitchFamily="34" charset="-122"/>
              </a:rPr>
              <a:t>五层协议的体系结构</a:t>
            </a:r>
          </a:p>
        </p:txBody>
      </p:sp>
      <p:grpSp>
        <p:nvGrpSpPr>
          <p:cNvPr id="71" name="组合 70"/>
          <p:cNvGrpSpPr/>
          <p:nvPr/>
        </p:nvGrpSpPr>
        <p:grpSpPr>
          <a:xfrm>
            <a:off x="3578724" y="1502111"/>
            <a:ext cx="1974894" cy="2338387"/>
            <a:chOff x="3578724" y="1591761"/>
            <a:chExt cx="1974894" cy="2338387"/>
          </a:xfrm>
        </p:grpSpPr>
        <p:sp>
          <p:nvSpPr>
            <p:cNvPr id="72" name="AutoShape 66"/>
            <p:cNvSpPr>
              <a:spLocks noChangeArrowheads="1"/>
            </p:cNvSpPr>
            <p:nvPr/>
          </p:nvSpPr>
          <p:spPr bwMode="auto">
            <a:xfrm>
              <a:off x="3647070" y="1591761"/>
              <a:ext cx="1889125" cy="2338387"/>
            </a:xfrm>
            <a:prstGeom prst="cube">
              <a:avLst>
                <a:gd name="adj" fmla="val 9144"/>
              </a:avLst>
            </a:prstGeom>
            <a:solidFill>
              <a:srgbClr val="7CE07C"/>
            </a:solidFill>
            <a:ln w="19050">
              <a:solidFill>
                <a:schemeClr val="bg1"/>
              </a:solidFill>
              <a:miter lim="800000"/>
            </a:ln>
          </p:spPr>
          <p:txBody>
            <a:bodyPr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73" name="Freeform 69"/>
            <p:cNvSpPr/>
            <p:nvPr/>
          </p:nvSpPr>
          <p:spPr bwMode="auto">
            <a:xfrm>
              <a:off x="3642309" y="2488698"/>
              <a:ext cx="1911309" cy="200366"/>
            </a:xfrm>
            <a:custGeom>
              <a:avLst/>
              <a:gdLst>
                <a:gd name="T0" fmla="*/ 2147483647 w 1684"/>
                <a:gd name="T1" fmla="*/ 0 h 176"/>
                <a:gd name="T2" fmla="*/ 2147483647 w 1684"/>
                <a:gd name="T3" fmla="*/ 2147483647 h 176"/>
                <a:gd name="T4" fmla="*/ 0 w 1684"/>
                <a:gd name="T5" fmla="*/ 2147483647 h 176"/>
                <a:gd name="T6" fmla="*/ 0 60000 65536"/>
                <a:gd name="T7" fmla="*/ 0 60000 65536"/>
                <a:gd name="T8" fmla="*/ 0 60000 65536"/>
                <a:gd name="T9" fmla="*/ 0 w 1684"/>
                <a:gd name="T10" fmla="*/ 0 h 176"/>
                <a:gd name="T11" fmla="*/ 1684 w 1684"/>
                <a:gd name="T12" fmla="*/ 176 h 176"/>
              </a:gdLst>
              <a:ahLst/>
              <a:cxnLst>
                <a:cxn ang="T6">
                  <a:pos x="T0" y="T1"/>
                </a:cxn>
                <a:cxn ang="T7">
                  <a:pos x="T2" y="T3"/>
                </a:cxn>
                <a:cxn ang="T8">
                  <a:pos x="T4" y="T5"/>
                </a:cxn>
              </a:cxnLst>
              <a:rect l="T9" t="T10" r="T11" b="T12"/>
              <a:pathLst>
                <a:path w="1684" h="176">
                  <a:moveTo>
                    <a:pt x="1684" y="0"/>
                  </a:moveTo>
                  <a:lnTo>
                    <a:pt x="1528" y="172"/>
                  </a:lnTo>
                  <a:lnTo>
                    <a:pt x="0" y="176"/>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4" name="Freeform 70"/>
            <p:cNvSpPr/>
            <p:nvPr/>
          </p:nvSpPr>
          <p:spPr bwMode="auto">
            <a:xfrm>
              <a:off x="3642309" y="2790240"/>
              <a:ext cx="1907824" cy="212561"/>
            </a:xfrm>
            <a:custGeom>
              <a:avLst/>
              <a:gdLst>
                <a:gd name="T0" fmla="*/ 2147483647 w 1679"/>
                <a:gd name="T1" fmla="*/ 0 h 186"/>
                <a:gd name="T2" fmla="*/ 2147483647 w 1679"/>
                <a:gd name="T3" fmla="*/ 2147483647 h 186"/>
                <a:gd name="T4" fmla="*/ 0 w 1679"/>
                <a:gd name="T5" fmla="*/ 2147483647 h 186"/>
                <a:gd name="T6" fmla="*/ 0 60000 65536"/>
                <a:gd name="T7" fmla="*/ 0 60000 65536"/>
                <a:gd name="T8" fmla="*/ 0 60000 65536"/>
                <a:gd name="T9" fmla="*/ 0 w 1679"/>
                <a:gd name="T10" fmla="*/ 0 h 186"/>
                <a:gd name="T11" fmla="*/ 1679 w 1679"/>
                <a:gd name="T12" fmla="*/ 186 h 186"/>
              </a:gdLst>
              <a:ahLst/>
              <a:cxnLst>
                <a:cxn ang="T6">
                  <a:pos x="T0" y="T1"/>
                </a:cxn>
                <a:cxn ang="T7">
                  <a:pos x="T2" y="T3"/>
                </a:cxn>
                <a:cxn ang="T8">
                  <a:pos x="T4" y="T5"/>
                </a:cxn>
              </a:cxnLst>
              <a:rect l="T9" t="T10" r="T11" b="T12"/>
              <a:pathLst>
                <a:path w="1679" h="186">
                  <a:moveTo>
                    <a:pt x="1679" y="0"/>
                  </a:moveTo>
                  <a:lnTo>
                    <a:pt x="1525" y="186"/>
                  </a:lnTo>
                  <a:lnTo>
                    <a:pt x="0" y="183"/>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5" name="Freeform 71"/>
            <p:cNvSpPr/>
            <p:nvPr/>
          </p:nvSpPr>
          <p:spPr bwMode="auto">
            <a:xfrm>
              <a:off x="3642309" y="3122027"/>
              <a:ext cx="1893886" cy="184684"/>
            </a:xfrm>
            <a:custGeom>
              <a:avLst/>
              <a:gdLst>
                <a:gd name="T0" fmla="*/ 2147483647 w 1668"/>
                <a:gd name="T1" fmla="*/ 0 h 162"/>
                <a:gd name="T2" fmla="*/ 2147483647 w 1668"/>
                <a:gd name="T3" fmla="*/ 2147483647 h 162"/>
                <a:gd name="T4" fmla="*/ 0 w 1668"/>
                <a:gd name="T5" fmla="*/ 2147483647 h 162"/>
                <a:gd name="T6" fmla="*/ 0 60000 65536"/>
                <a:gd name="T7" fmla="*/ 0 60000 65536"/>
                <a:gd name="T8" fmla="*/ 0 60000 65536"/>
                <a:gd name="T9" fmla="*/ 0 w 1668"/>
                <a:gd name="T10" fmla="*/ 0 h 162"/>
                <a:gd name="T11" fmla="*/ 1668 w 1668"/>
                <a:gd name="T12" fmla="*/ 162 h 162"/>
              </a:gdLst>
              <a:ahLst/>
              <a:cxnLst>
                <a:cxn ang="T6">
                  <a:pos x="T0" y="T1"/>
                </a:cxn>
                <a:cxn ang="T7">
                  <a:pos x="T2" y="T3"/>
                </a:cxn>
                <a:cxn ang="T8">
                  <a:pos x="T4" y="T5"/>
                </a:cxn>
              </a:cxnLst>
              <a:rect l="T9" t="T10" r="T11" b="T12"/>
              <a:pathLst>
                <a:path w="1668" h="162">
                  <a:moveTo>
                    <a:pt x="1668" y="0"/>
                  </a:moveTo>
                  <a:lnTo>
                    <a:pt x="1527" y="160"/>
                  </a:lnTo>
                  <a:lnTo>
                    <a:pt x="0" y="16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6" name="Text Box 73"/>
            <p:cNvSpPr txBox="1">
              <a:spLocks noChangeArrowheads="1"/>
            </p:cNvSpPr>
            <p:nvPr/>
          </p:nvSpPr>
          <p:spPr bwMode="auto">
            <a:xfrm>
              <a:off x="3647071" y="1844173"/>
              <a:ext cx="168717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a:latin typeface="微软雅黑" panose="020B0503020204020204" pitchFamily="34" charset="-122"/>
                  <a:ea typeface="微软雅黑" panose="020B0503020204020204" pitchFamily="34" charset="-122"/>
                </a:rPr>
                <a:t>4    </a:t>
              </a:r>
              <a:r>
                <a:rPr kumimoji="1" lang="zh-CN" altLang="en-US" sz="1100" b="1" dirty="0">
                  <a:latin typeface="微软雅黑" panose="020B0503020204020204" pitchFamily="34" charset="-122"/>
                  <a:ea typeface="微软雅黑" panose="020B0503020204020204" pitchFamily="34" charset="-122"/>
                </a:rPr>
                <a:t>应用层</a:t>
              </a:r>
            </a:p>
          </p:txBody>
        </p:sp>
        <p:sp>
          <p:nvSpPr>
            <p:cNvPr id="77" name="Text Box 15"/>
            <p:cNvSpPr txBox="1">
              <a:spLocks noChangeArrowheads="1"/>
            </p:cNvSpPr>
            <p:nvPr/>
          </p:nvSpPr>
          <p:spPr bwMode="auto">
            <a:xfrm>
              <a:off x="3642308" y="3374523"/>
              <a:ext cx="16351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a:latin typeface="微软雅黑" panose="020B0503020204020204" pitchFamily="34" charset="-122"/>
                  <a:ea typeface="微软雅黑" panose="020B0503020204020204" pitchFamily="34" charset="-122"/>
                </a:rPr>
                <a:t>1    </a:t>
              </a:r>
              <a:r>
                <a:rPr kumimoji="1" lang="zh-CN" altLang="en-US" sz="1100" b="1" dirty="0">
                  <a:latin typeface="微软雅黑" panose="020B0503020204020204" pitchFamily="34" charset="-122"/>
                  <a:ea typeface="微软雅黑" panose="020B0503020204020204" pitchFamily="34" charset="-122"/>
                </a:rPr>
                <a:t>网络接口层</a:t>
              </a:r>
            </a:p>
          </p:txBody>
        </p:sp>
        <p:sp>
          <p:nvSpPr>
            <p:cNvPr id="78" name="Text Box 9"/>
            <p:cNvSpPr txBox="1">
              <a:spLocks noChangeArrowheads="1"/>
            </p:cNvSpPr>
            <p:nvPr/>
          </p:nvSpPr>
          <p:spPr bwMode="auto">
            <a:xfrm>
              <a:off x="3642309" y="3009398"/>
              <a:ext cx="169194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a:latin typeface="微软雅黑" panose="020B0503020204020204" pitchFamily="34" charset="-122"/>
                  <a:ea typeface="微软雅黑" panose="020B0503020204020204" pitchFamily="34" charset="-122"/>
                </a:rPr>
                <a:t>2    </a:t>
              </a:r>
              <a:r>
                <a:rPr kumimoji="1" lang="zh-CN" altLang="en-US" sz="1100" b="1" dirty="0">
                  <a:latin typeface="微软雅黑" panose="020B0503020204020204" pitchFamily="34" charset="-122"/>
                  <a:ea typeface="微软雅黑" panose="020B0503020204020204" pitchFamily="34" charset="-122"/>
                </a:rPr>
                <a:t>互联网层 </a:t>
              </a:r>
              <a:r>
                <a:rPr kumimoji="1" lang="en-US" altLang="zh-CN" sz="1100" b="1" dirty="0">
                  <a:latin typeface="微软雅黑" panose="020B0503020204020204" pitchFamily="34" charset="-122"/>
                  <a:ea typeface="微软雅黑" panose="020B0503020204020204" pitchFamily="34" charset="-122"/>
                </a:rPr>
                <a:t>IP</a:t>
              </a:r>
            </a:p>
          </p:txBody>
        </p:sp>
        <p:sp>
          <p:nvSpPr>
            <p:cNvPr id="79" name="Text Box 16"/>
            <p:cNvSpPr txBox="1">
              <a:spLocks noChangeArrowheads="1"/>
            </p:cNvSpPr>
            <p:nvPr/>
          </p:nvSpPr>
          <p:spPr bwMode="auto">
            <a:xfrm>
              <a:off x="3660606" y="2104523"/>
              <a:ext cx="16970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100" b="1" dirty="0">
                  <a:latin typeface="微软雅黑" panose="020B0503020204020204" pitchFamily="34" charset="-122"/>
                  <a:ea typeface="微软雅黑" panose="020B0503020204020204" pitchFamily="34" charset="-122"/>
                </a:rPr>
                <a:t>(</a:t>
              </a:r>
              <a:r>
                <a:rPr kumimoji="1" lang="zh-CN" altLang="en-US" sz="1100" b="1" dirty="0">
                  <a:latin typeface="微软雅黑" panose="020B0503020204020204" pitchFamily="34" charset="-122"/>
                  <a:ea typeface="微软雅黑" panose="020B0503020204020204" pitchFamily="34" charset="-122"/>
                </a:rPr>
                <a:t>各种应用层协议，如</a:t>
              </a:r>
            </a:p>
            <a:p>
              <a:pPr algn="ctr"/>
              <a:r>
                <a:rPr kumimoji="1" lang="en-US" altLang="zh-CN" sz="1100" b="1" dirty="0">
                  <a:latin typeface="微软雅黑" panose="020B0503020204020204" pitchFamily="34" charset="-122"/>
                  <a:ea typeface="微软雅黑" panose="020B0503020204020204" pitchFamily="34" charset="-122"/>
                </a:rPr>
                <a:t>DNS, HTTP, SMTP </a:t>
              </a:r>
              <a:r>
                <a:rPr kumimoji="1" lang="zh-CN" altLang="zh-CN" sz="1100" b="1" dirty="0">
                  <a:latin typeface="微软雅黑" panose="020B0503020204020204" pitchFamily="34" charset="-122"/>
                  <a:ea typeface="微软雅黑" panose="020B0503020204020204" pitchFamily="34" charset="-122"/>
                </a:rPr>
                <a:t>等</a:t>
              </a:r>
              <a:r>
                <a:rPr kumimoji="1" lang="en-US" altLang="zh-CN" sz="1100" b="1" dirty="0">
                  <a:latin typeface="微软雅黑" panose="020B0503020204020204" pitchFamily="34" charset="-122"/>
                  <a:ea typeface="微软雅黑" panose="020B0503020204020204" pitchFamily="34" charset="-122"/>
                </a:rPr>
                <a:t>)</a:t>
              </a:r>
            </a:p>
          </p:txBody>
        </p:sp>
        <p:sp>
          <p:nvSpPr>
            <p:cNvPr id="80" name="Text Box 41"/>
            <p:cNvSpPr txBox="1">
              <a:spLocks noChangeArrowheads="1"/>
            </p:cNvSpPr>
            <p:nvPr/>
          </p:nvSpPr>
          <p:spPr bwMode="auto">
            <a:xfrm>
              <a:off x="3631348" y="2709361"/>
              <a:ext cx="17844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100" b="1" dirty="0">
                  <a:latin typeface="微软雅黑" panose="020B0503020204020204" pitchFamily="34" charset="-122"/>
                  <a:ea typeface="微软雅黑" panose="020B0503020204020204" pitchFamily="34" charset="-122"/>
                </a:rPr>
                <a:t>3</a:t>
              </a:r>
              <a:r>
                <a:rPr kumimoji="1" lang="en-US" altLang="zh-CN" sz="1100" b="1" dirty="0">
                  <a:solidFill>
                    <a:srgbClr val="C00000"/>
                  </a:solidFill>
                  <a:latin typeface="微软雅黑" panose="020B0503020204020204" pitchFamily="34" charset="-122"/>
                  <a:ea typeface="微软雅黑" panose="020B0503020204020204" pitchFamily="34" charset="-122"/>
                </a:rPr>
                <a:t>   </a:t>
              </a:r>
              <a:r>
                <a:rPr kumimoji="1" lang="zh-CN" altLang="en-US" sz="1100" b="1" dirty="0">
                  <a:solidFill>
                    <a:srgbClr val="C00000"/>
                  </a:solidFill>
                  <a:latin typeface="微软雅黑" panose="020B0503020204020204" pitchFamily="34" charset="-122"/>
                  <a:ea typeface="微软雅黑" panose="020B0503020204020204" pitchFamily="34" charset="-122"/>
                </a:rPr>
                <a:t>传输层 </a:t>
              </a:r>
              <a:r>
                <a:rPr kumimoji="1" lang="en-US" altLang="zh-CN" sz="1100" b="1" dirty="0">
                  <a:solidFill>
                    <a:srgbClr val="C00000"/>
                  </a:solidFill>
                  <a:latin typeface="微软雅黑" panose="020B0503020204020204" pitchFamily="34" charset="-122"/>
                  <a:ea typeface="微软雅黑" panose="020B0503020204020204" pitchFamily="34" charset="-122"/>
                </a:rPr>
                <a:t>(TCP </a:t>
              </a:r>
              <a:r>
                <a:rPr kumimoji="1" lang="zh-CN" altLang="en-US" sz="1100" b="1" dirty="0">
                  <a:solidFill>
                    <a:srgbClr val="C00000"/>
                  </a:solidFill>
                  <a:latin typeface="微软雅黑" panose="020B0503020204020204" pitchFamily="34" charset="-122"/>
                  <a:ea typeface="微软雅黑" panose="020B0503020204020204" pitchFamily="34" charset="-122"/>
                </a:rPr>
                <a:t>或 </a:t>
              </a:r>
              <a:r>
                <a:rPr kumimoji="1" lang="en-US" altLang="zh-CN" sz="1100" b="1" dirty="0">
                  <a:solidFill>
                    <a:srgbClr val="C00000"/>
                  </a:solidFill>
                  <a:latin typeface="微软雅黑" panose="020B0503020204020204" pitchFamily="34" charset="-122"/>
                  <a:ea typeface="微软雅黑" panose="020B0503020204020204" pitchFamily="34" charset="-122"/>
                </a:rPr>
                <a:t>UDP)</a:t>
              </a:r>
            </a:p>
          </p:txBody>
        </p:sp>
        <p:sp>
          <p:nvSpPr>
            <p:cNvPr id="81" name="Text Box 15"/>
            <p:cNvSpPr txBox="1">
              <a:spLocks noChangeArrowheads="1"/>
            </p:cNvSpPr>
            <p:nvPr/>
          </p:nvSpPr>
          <p:spPr bwMode="auto">
            <a:xfrm>
              <a:off x="3578724" y="3609473"/>
              <a:ext cx="1878012"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（这一层并没有具体内容）</a:t>
              </a:r>
            </a:p>
          </p:txBody>
        </p:sp>
      </p:grpSp>
      <p:cxnSp>
        <p:nvCxnSpPr>
          <p:cNvPr id="82" name="直接连接符 81"/>
          <p:cNvCxnSpPr/>
          <p:nvPr/>
        </p:nvCxnSpPr>
        <p:spPr>
          <a:xfrm>
            <a:off x="5334249" y="3204078"/>
            <a:ext cx="939718" cy="0"/>
          </a:xfrm>
          <a:prstGeom prst="line">
            <a:avLst/>
          </a:prstGeom>
          <a:ln w="19050">
            <a:solidFill>
              <a:srgbClr val="000066"/>
            </a:solidFill>
            <a:prstDash val="sysDot"/>
          </a:ln>
        </p:spPr>
        <p:style>
          <a:lnRef idx="1">
            <a:schemeClr val="dk1"/>
          </a:lnRef>
          <a:fillRef idx="0">
            <a:schemeClr val="dk1"/>
          </a:fillRef>
          <a:effectRef idx="0">
            <a:schemeClr val="dk1"/>
          </a:effectRef>
          <a:fontRef idx="minor">
            <a:schemeClr val="tx1"/>
          </a:fontRef>
        </p:style>
      </p:cxnSp>
      <p:cxnSp>
        <p:nvCxnSpPr>
          <p:cNvPr id="83" name="直接连接符 82"/>
          <p:cNvCxnSpPr/>
          <p:nvPr/>
        </p:nvCxnSpPr>
        <p:spPr>
          <a:xfrm>
            <a:off x="5334249" y="3832811"/>
            <a:ext cx="939718" cy="0"/>
          </a:xfrm>
          <a:prstGeom prst="line">
            <a:avLst/>
          </a:prstGeom>
          <a:ln w="19050">
            <a:solidFill>
              <a:srgbClr val="000066"/>
            </a:solidFill>
            <a:prstDash val="sysDot"/>
          </a:ln>
        </p:spPr>
        <p:style>
          <a:lnRef idx="1">
            <a:schemeClr val="dk1"/>
          </a:lnRef>
          <a:fillRef idx="0">
            <a:schemeClr val="dk1"/>
          </a:fillRef>
          <a:effectRef idx="0">
            <a:schemeClr val="dk1"/>
          </a:effectRef>
          <a:fontRef idx="minor">
            <a:schemeClr val="tx1"/>
          </a:fontRef>
        </p:style>
      </p:cxnSp>
      <p:grpSp>
        <p:nvGrpSpPr>
          <p:cNvPr id="84" name="组合 83"/>
          <p:cNvGrpSpPr/>
          <p:nvPr/>
        </p:nvGrpSpPr>
        <p:grpSpPr>
          <a:xfrm>
            <a:off x="6217820" y="1533944"/>
            <a:ext cx="1341437" cy="2350069"/>
            <a:chOff x="6217820" y="1623594"/>
            <a:chExt cx="1341437" cy="2350069"/>
          </a:xfrm>
        </p:grpSpPr>
        <p:sp>
          <p:nvSpPr>
            <p:cNvPr id="85"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200" b="1">
                <a:solidFill>
                  <a:schemeClr val="bg1"/>
                </a:solidFill>
                <a:latin typeface="微软雅黑" panose="020B0503020204020204" pitchFamily="34" charset="-122"/>
                <a:ea typeface="微软雅黑" panose="020B0503020204020204" pitchFamily="34" charset="-122"/>
              </a:endParaRPr>
            </a:p>
          </p:txBody>
        </p:sp>
        <p:sp>
          <p:nvSpPr>
            <p:cNvPr id="86"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87" name="Freeform 102"/>
            <p:cNvSpPr/>
            <p:nvPr/>
          </p:nvSpPr>
          <p:spPr bwMode="auto">
            <a:xfrm>
              <a:off x="6220995" y="281747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88"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89"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90" name="Text Box 106"/>
            <p:cNvSpPr txBox="1">
              <a:spLocks noChangeArrowheads="1"/>
            </p:cNvSpPr>
            <p:nvPr/>
          </p:nvSpPr>
          <p:spPr bwMode="auto">
            <a:xfrm>
              <a:off x="6667082" y="2698332"/>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rgbClr val="FFFF00"/>
                  </a:solidFill>
                  <a:latin typeface="微软雅黑" panose="020B0503020204020204" pitchFamily="34" charset="-122"/>
                  <a:ea typeface="微软雅黑" panose="020B0503020204020204" pitchFamily="34" charset="-122"/>
                </a:rPr>
                <a:t>传输层</a:t>
              </a:r>
            </a:p>
          </p:txBody>
        </p:sp>
        <p:sp>
          <p:nvSpPr>
            <p:cNvPr id="91" name="Text Box 107"/>
            <p:cNvSpPr txBox="1">
              <a:spLocks noChangeArrowheads="1"/>
            </p:cNvSpPr>
            <p:nvPr/>
          </p:nvSpPr>
          <p:spPr bwMode="auto">
            <a:xfrm>
              <a:off x="6675020" y="3023769"/>
              <a:ext cx="608012"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chemeClr val="bg1"/>
                  </a:solidFill>
                  <a:latin typeface="微软雅黑" panose="020B0503020204020204" pitchFamily="34" charset="-122"/>
                  <a:ea typeface="微软雅黑" panose="020B0503020204020204" pitchFamily="34" charset="-122"/>
                </a:rPr>
                <a:t>网络层</a:t>
              </a:r>
            </a:p>
          </p:txBody>
        </p:sp>
        <p:sp>
          <p:nvSpPr>
            <p:cNvPr id="92" name="Text Box 108"/>
            <p:cNvSpPr txBox="1">
              <a:spLocks noChangeArrowheads="1"/>
            </p:cNvSpPr>
            <p:nvPr/>
          </p:nvSpPr>
          <p:spPr bwMode="auto">
            <a:xfrm>
              <a:off x="6675020" y="2020469"/>
              <a:ext cx="6080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chemeClr val="bg1"/>
                  </a:solidFill>
                  <a:latin typeface="微软雅黑" panose="020B0503020204020204" pitchFamily="34" charset="-122"/>
                  <a:ea typeface="微软雅黑" panose="020B0503020204020204" pitchFamily="34" charset="-122"/>
                </a:rPr>
                <a:t>应用层</a:t>
              </a:r>
            </a:p>
          </p:txBody>
        </p:sp>
        <p:sp>
          <p:nvSpPr>
            <p:cNvPr id="93" name="Text Box 110"/>
            <p:cNvSpPr txBox="1">
              <a:spLocks noChangeArrowheads="1"/>
            </p:cNvSpPr>
            <p:nvPr/>
          </p:nvSpPr>
          <p:spPr bwMode="auto">
            <a:xfrm>
              <a:off x="6571832" y="3319044"/>
              <a:ext cx="889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chemeClr val="bg1"/>
                  </a:solidFill>
                  <a:latin typeface="微软雅黑" panose="020B0503020204020204" pitchFamily="34" charset="-122"/>
                  <a:ea typeface="微软雅黑" panose="020B0503020204020204" pitchFamily="34" charset="-122"/>
                </a:rPr>
                <a:t>数据链路层</a:t>
              </a:r>
            </a:p>
          </p:txBody>
        </p:sp>
        <p:sp>
          <p:nvSpPr>
            <p:cNvPr id="94" name="Text Box 111"/>
            <p:cNvSpPr txBox="1">
              <a:spLocks noChangeArrowheads="1"/>
            </p:cNvSpPr>
            <p:nvPr/>
          </p:nvSpPr>
          <p:spPr bwMode="auto">
            <a:xfrm>
              <a:off x="6675020" y="3633369"/>
              <a:ext cx="6080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solidFill>
                    <a:schemeClr val="bg1"/>
                  </a:solidFill>
                  <a:latin typeface="微软雅黑" panose="020B0503020204020204" pitchFamily="34" charset="-122"/>
                  <a:ea typeface="微软雅黑" panose="020B0503020204020204" pitchFamily="34" charset="-122"/>
                </a:rPr>
                <a:t>物理层</a:t>
              </a:r>
            </a:p>
          </p:txBody>
        </p:sp>
        <p:sp>
          <p:nvSpPr>
            <p:cNvPr id="95" name="Text Box 112"/>
            <p:cNvSpPr txBox="1">
              <a:spLocks noChangeArrowheads="1"/>
            </p:cNvSpPr>
            <p:nvPr/>
          </p:nvSpPr>
          <p:spPr bwMode="auto">
            <a:xfrm>
              <a:off x="6282907" y="1629944"/>
              <a:ext cx="271228" cy="2343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90000"/>
                </a:lnSpc>
              </a:pPr>
              <a:endParaRPr kumimoji="1" lang="en-US" altLang="zh-CN" sz="1100" b="1" dirty="0">
                <a:solidFill>
                  <a:schemeClr val="bg1"/>
                </a:solidFill>
                <a:latin typeface="微软雅黑" panose="020B0503020204020204" pitchFamily="34" charset="-122"/>
                <a:ea typeface="微软雅黑" panose="020B0503020204020204" pitchFamily="34" charset="-122"/>
              </a:endParaRP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5</a:t>
              </a:r>
            </a:p>
            <a:p>
              <a:pPr>
                <a:lnSpc>
                  <a:spcPct val="190000"/>
                </a:lnSpc>
              </a:pPr>
              <a:endParaRPr kumimoji="1" lang="en-US" altLang="zh-CN" sz="1100" b="1" dirty="0">
                <a:solidFill>
                  <a:schemeClr val="bg1"/>
                </a:solidFill>
                <a:latin typeface="微软雅黑" panose="020B0503020204020204" pitchFamily="34" charset="-122"/>
                <a:ea typeface="微软雅黑" panose="020B0503020204020204" pitchFamily="34" charset="-122"/>
              </a:endParaRP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4</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3</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2</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1</a:t>
              </a:r>
            </a:p>
          </p:txBody>
        </p:sp>
      </p:grpSp>
    </p:spTree>
    <p:extLst>
      <p:ext uri="{BB962C8B-B14F-4D97-AF65-F5344CB8AC3E}">
        <p14:creationId xmlns:p14="http://schemas.microsoft.com/office/powerpoint/2010/main" val="4236732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0"/>
                                  </p:stCondLst>
                                  <p:endCondLst>
                                    <p:cond evt="onNext" delay="0">
                                      <p:tgtEl>
                                        <p:sldTgt/>
                                      </p:tgtEl>
                                    </p:cond>
                                  </p:endCondLst>
                                  <p:childTnLst>
                                    <p:anim calcmode="discrete" valueType="str">
                                      <p:cBhvr>
                                        <p:cTn id="6" dur="1000" fill="hold"/>
                                        <p:tgtEl>
                                          <p:spTgt spid="7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2">
            <a:extLst>
              <a:ext uri="{FF2B5EF4-FFF2-40B4-BE49-F238E27FC236}">
                <a16:creationId xmlns:a16="http://schemas.microsoft.com/office/drawing/2014/main" id="{84D37E8A-4856-0983-ACE5-8B2F3BAA81EB}"/>
              </a:ext>
            </a:extLst>
          </p:cNvPr>
          <p:cNvSpPr>
            <a:spLocks noChangeArrowheads="1"/>
          </p:cNvSpPr>
          <p:nvPr/>
        </p:nvSpPr>
        <p:spPr bwMode="auto">
          <a:xfrm>
            <a:off x="1671933" y="4295481"/>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19" name="Rectangle 10"/>
          <p:cNvSpPr>
            <a:spLocks noChangeArrowheads="1"/>
          </p:cNvSpPr>
          <p:nvPr/>
        </p:nvSpPr>
        <p:spPr bwMode="auto">
          <a:xfrm>
            <a:off x="1673794" y="2662038"/>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0" name="Rectangle 11"/>
          <p:cNvSpPr>
            <a:spLocks noChangeArrowheads="1"/>
          </p:cNvSpPr>
          <p:nvPr/>
        </p:nvSpPr>
        <p:spPr bwMode="auto">
          <a:xfrm>
            <a:off x="1673794" y="3069736"/>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1" name="Rectangle 12"/>
          <p:cNvSpPr>
            <a:spLocks noChangeArrowheads="1"/>
          </p:cNvSpPr>
          <p:nvPr/>
        </p:nvSpPr>
        <p:spPr bwMode="auto">
          <a:xfrm>
            <a:off x="1673794" y="3466790"/>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2" name="Rectangle 13"/>
          <p:cNvSpPr>
            <a:spLocks noChangeArrowheads="1"/>
          </p:cNvSpPr>
          <p:nvPr/>
        </p:nvSpPr>
        <p:spPr bwMode="auto">
          <a:xfrm>
            <a:off x="1673794" y="3883598"/>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3" name="Rectangle 9"/>
          <p:cNvSpPr>
            <a:spLocks noChangeArrowheads="1"/>
          </p:cNvSpPr>
          <p:nvPr/>
        </p:nvSpPr>
        <p:spPr bwMode="auto">
          <a:xfrm>
            <a:off x="1673794" y="633709"/>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4" name="Rectangle 10"/>
          <p:cNvSpPr>
            <a:spLocks noChangeArrowheads="1"/>
          </p:cNvSpPr>
          <p:nvPr/>
        </p:nvSpPr>
        <p:spPr bwMode="auto">
          <a:xfrm>
            <a:off x="1673794" y="1049822"/>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5" name="Rectangle 11"/>
          <p:cNvSpPr>
            <a:spLocks noChangeArrowheads="1"/>
          </p:cNvSpPr>
          <p:nvPr/>
        </p:nvSpPr>
        <p:spPr bwMode="auto">
          <a:xfrm>
            <a:off x="1673794" y="1448376"/>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6" name="Rectangle 12"/>
          <p:cNvSpPr>
            <a:spLocks noChangeArrowheads="1"/>
          </p:cNvSpPr>
          <p:nvPr/>
        </p:nvSpPr>
        <p:spPr bwMode="auto">
          <a:xfrm>
            <a:off x="1673794" y="1863718"/>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7" name="Rectangle 13"/>
          <p:cNvSpPr>
            <a:spLocks noChangeArrowheads="1"/>
          </p:cNvSpPr>
          <p:nvPr/>
        </p:nvSpPr>
        <p:spPr bwMode="auto">
          <a:xfrm>
            <a:off x="1673794" y="2262238"/>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8" name="Line 16"/>
          <p:cNvSpPr>
            <a:spLocks noChangeShapeType="1"/>
          </p:cNvSpPr>
          <p:nvPr/>
        </p:nvSpPr>
        <p:spPr bwMode="auto">
          <a:xfrm>
            <a:off x="2421504" y="507401"/>
            <a:ext cx="0" cy="4183987"/>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pPr>
              <a:lnSpc>
                <a:spcPts val="3800"/>
              </a:lnSpc>
            </a:pPr>
            <a:endParaRPr lang="zh-CN" altLang="en-US"/>
          </a:p>
        </p:txBody>
      </p:sp>
      <p:sp>
        <p:nvSpPr>
          <p:cNvPr id="29" name="Rectangle 17"/>
          <p:cNvSpPr>
            <a:spLocks noChangeArrowheads="1"/>
          </p:cNvSpPr>
          <p:nvPr/>
        </p:nvSpPr>
        <p:spPr bwMode="auto">
          <a:xfrm>
            <a:off x="1705542" y="536918"/>
            <a:ext cx="5743577" cy="41544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dist" eaLnBrk="0" hangingPunct="0">
              <a:lnSpc>
                <a:spcPts val="3200"/>
              </a:lnSpc>
            </a:pPr>
            <a:r>
              <a:rPr lang="en-US" altLang="zh-CN" sz="2000" b="1" dirty="0">
                <a:solidFill>
                  <a:schemeClr val="bg1"/>
                </a:solidFill>
                <a:latin typeface="微软雅黑" pitchFamily="34" charset="-122"/>
                <a:ea typeface="微软雅黑" pitchFamily="34" charset="-122"/>
              </a:rPr>
              <a:t>5.1                                            </a:t>
            </a:r>
            <a:r>
              <a:rPr lang="zh-CN" altLang="en-US" sz="2000" b="1" dirty="0">
                <a:solidFill>
                  <a:schemeClr val="bg1"/>
                </a:solidFill>
                <a:latin typeface="微软雅黑" pitchFamily="34" charset="-122"/>
                <a:ea typeface="微软雅黑" pitchFamily="34" charset="-122"/>
              </a:rPr>
              <a:t>传输层协议概述</a:t>
            </a:r>
          </a:p>
          <a:p>
            <a:pPr algn="dist" eaLnBrk="0" hangingPunct="0">
              <a:lnSpc>
                <a:spcPts val="3200"/>
              </a:lnSpc>
            </a:pPr>
            <a:r>
              <a:rPr lang="en-US" altLang="zh-CN" sz="2000" b="1" dirty="0">
                <a:solidFill>
                  <a:schemeClr val="bg1"/>
                </a:solidFill>
                <a:latin typeface="微软雅黑" pitchFamily="34" charset="-122"/>
                <a:ea typeface="微软雅黑" pitchFamily="34" charset="-122"/>
              </a:rPr>
              <a:t>5.2                                    </a:t>
            </a:r>
            <a:r>
              <a:rPr lang="zh-CN" altLang="en-US" sz="2000" b="1" dirty="0">
                <a:solidFill>
                  <a:schemeClr val="bg1"/>
                </a:solidFill>
                <a:latin typeface="微软雅黑" pitchFamily="34" charset="-122"/>
                <a:ea typeface="微软雅黑" pitchFamily="34" charset="-122"/>
              </a:rPr>
              <a:t>用户数据报协议 </a:t>
            </a:r>
            <a:r>
              <a:rPr lang="en-US" altLang="zh-CN" sz="2000" b="1" dirty="0">
                <a:solidFill>
                  <a:schemeClr val="bg1"/>
                </a:solidFill>
                <a:latin typeface="微软雅黑" pitchFamily="34" charset="-122"/>
                <a:ea typeface="微软雅黑" pitchFamily="34" charset="-122"/>
              </a:rPr>
              <a:t>UDP </a:t>
            </a:r>
          </a:p>
          <a:p>
            <a:pPr algn="dist" eaLnBrk="0" hangingPunct="0">
              <a:lnSpc>
                <a:spcPts val="3200"/>
              </a:lnSpc>
            </a:pPr>
            <a:r>
              <a:rPr lang="en-US" altLang="zh-CN" sz="2000" b="1" dirty="0">
                <a:solidFill>
                  <a:schemeClr val="bg1"/>
                </a:solidFill>
                <a:latin typeface="微软雅黑" pitchFamily="34" charset="-122"/>
                <a:ea typeface="微软雅黑" pitchFamily="34" charset="-122"/>
              </a:rPr>
              <a:t>5.3                                </a:t>
            </a:r>
            <a:r>
              <a:rPr lang="zh-CN" altLang="en-US" sz="2000" b="1" dirty="0">
                <a:solidFill>
                  <a:schemeClr val="bg1"/>
                </a:solidFill>
                <a:latin typeface="微软雅黑" pitchFamily="34" charset="-122"/>
                <a:ea typeface="微软雅黑" pitchFamily="34" charset="-122"/>
              </a:rPr>
              <a:t>传输控制协议 </a:t>
            </a: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概述</a:t>
            </a:r>
          </a:p>
          <a:p>
            <a:pPr algn="dist" eaLnBrk="0" hangingPunct="0">
              <a:lnSpc>
                <a:spcPts val="3200"/>
              </a:lnSpc>
            </a:pPr>
            <a:r>
              <a:rPr lang="en-US" altLang="zh-CN" sz="2000" b="1" dirty="0">
                <a:solidFill>
                  <a:schemeClr val="bg1"/>
                </a:solidFill>
                <a:latin typeface="微软雅黑" pitchFamily="34" charset="-122"/>
                <a:ea typeface="微软雅黑" pitchFamily="34" charset="-122"/>
              </a:rPr>
              <a:t>5.4                                     </a:t>
            </a:r>
            <a:r>
              <a:rPr lang="zh-CN" altLang="en-US" sz="2000" b="1" dirty="0">
                <a:solidFill>
                  <a:schemeClr val="bg1"/>
                </a:solidFill>
                <a:latin typeface="微软雅黑" pitchFamily="34" charset="-122"/>
                <a:ea typeface="微软雅黑" pitchFamily="34" charset="-122"/>
              </a:rPr>
              <a:t>可靠传输的工作原理</a:t>
            </a:r>
          </a:p>
          <a:p>
            <a:pPr algn="dist" eaLnBrk="0" hangingPunct="0">
              <a:lnSpc>
                <a:spcPts val="3200"/>
              </a:lnSpc>
            </a:pPr>
            <a:r>
              <a:rPr lang="en-US" altLang="zh-CN" sz="2000" b="1" dirty="0">
                <a:solidFill>
                  <a:schemeClr val="bg1"/>
                </a:solidFill>
                <a:latin typeface="微软雅黑" pitchFamily="34" charset="-122"/>
                <a:ea typeface="微软雅黑" pitchFamily="34" charset="-122"/>
              </a:rPr>
              <a:t>5.5                                 TCP </a:t>
            </a:r>
            <a:r>
              <a:rPr lang="zh-CN" altLang="en-US" sz="2000" b="1" dirty="0">
                <a:solidFill>
                  <a:schemeClr val="bg1"/>
                </a:solidFill>
                <a:latin typeface="微软雅黑" pitchFamily="34" charset="-122"/>
                <a:ea typeface="微软雅黑" pitchFamily="34" charset="-122"/>
              </a:rPr>
              <a:t>报文段的首部格式</a:t>
            </a:r>
          </a:p>
          <a:p>
            <a:pPr algn="dist" eaLnBrk="0" hangingPunct="0">
              <a:lnSpc>
                <a:spcPts val="3200"/>
              </a:lnSpc>
            </a:pPr>
            <a:r>
              <a:rPr lang="en-US" altLang="zh-CN" sz="2000" b="1" dirty="0">
                <a:solidFill>
                  <a:schemeClr val="bg1"/>
                </a:solidFill>
                <a:latin typeface="微软雅黑" pitchFamily="34" charset="-122"/>
                <a:ea typeface="微软雅黑" pitchFamily="34" charset="-122"/>
              </a:rPr>
              <a:t>5.6                                     TCP </a:t>
            </a:r>
            <a:r>
              <a:rPr lang="zh-CN" altLang="en-US" sz="2000" b="1" dirty="0">
                <a:solidFill>
                  <a:schemeClr val="bg1"/>
                </a:solidFill>
                <a:latin typeface="微软雅黑" pitchFamily="34" charset="-122"/>
                <a:ea typeface="微软雅黑" pitchFamily="34" charset="-122"/>
              </a:rPr>
              <a:t>的传输连接管理</a:t>
            </a:r>
          </a:p>
          <a:p>
            <a:pPr algn="dist" eaLnBrk="0" hangingPunct="0">
              <a:lnSpc>
                <a:spcPts val="3200"/>
              </a:lnSpc>
            </a:pPr>
            <a:r>
              <a:rPr lang="en-US" altLang="zh-CN" sz="2000" b="1" dirty="0">
                <a:solidFill>
                  <a:schemeClr val="bg1"/>
                </a:solidFill>
                <a:latin typeface="微软雅黑" pitchFamily="34" charset="-122"/>
                <a:ea typeface="微软雅黑" pitchFamily="34" charset="-122"/>
              </a:rPr>
              <a:t>5.7                                    TCP </a:t>
            </a:r>
            <a:r>
              <a:rPr lang="zh-CN" altLang="en-US" sz="2000" b="1" dirty="0">
                <a:solidFill>
                  <a:schemeClr val="bg1"/>
                </a:solidFill>
                <a:latin typeface="微软雅黑" pitchFamily="34" charset="-122"/>
                <a:ea typeface="微软雅黑" pitchFamily="34" charset="-122"/>
              </a:rPr>
              <a:t>可靠传输的实现</a:t>
            </a:r>
          </a:p>
          <a:p>
            <a:pPr algn="dist" eaLnBrk="0" hangingPunct="0">
              <a:lnSpc>
                <a:spcPts val="3200"/>
              </a:lnSpc>
            </a:pPr>
            <a:r>
              <a:rPr lang="en-US" altLang="zh-CN" sz="2000" b="1" dirty="0">
                <a:solidFill>
                  <a:schemeClr val="bg1"/>
                </a:solidFill>
                <a:latin typeface="微软雅黑" pitchFamily="34" charset="-122"/>
                <a:ea typeface="微软雅黑" pitchFamily="34" charset="-122"/>
              </a:rPr>
              <a:t>5.8                                           TCP </a:t>
            </a:r>
            <a:r>
              <a:rPr lang="zh-CN" altLang="en-US" sz="2000" b="1" dirty="0">
                <a:solidFill>
                  <a:schemeClr val="bg1"/>
                </a:solidFill>
                <a:latin typeface="微软雅黑" pitchFamily="34" charset="-122"/>
                <a:ea typeface="微软雅黑" pitchFamily="34" charset="-122"/>
              </a:rPr>
              <a:t>的流量控制</a:t>
            </a:r>
          </a:p>
          <a:p>
            <a:pPr algn="dist" eaLnBrk="0" hangingPunct="0">
              <a:lnSpc>
                <a:spcPts val="3200"/>
              </a:lnSpc>
            </a:pPr>
            <a:r>
              <a:rPr lang="en-US" altLang="zh-CN" sz="2000" b="1" dirty="0">
                <a:solidFill>
                  <a:schemeClr val="bg1"/>
                </a:solidFill>
                <a:latin typeface="微软雅黑" pitchFamily="34" charset="-122"/>
                <a:ea typeface="微软雅黑" pitchFamily="34" charset="-122"/>
              </a:rPr>
              <a:t>5.9                                           TCP </a:t>
            </a:r>
            <a:r>
              <a:rPr lang="zh-CN" altLang="en-US" sz="2000" b="1" dirty="0">
                <a:solidFill>
                  <a:schemeClr val="bg1"/>
                </a:solidFill>
                <a:latin typeface="微软雅黑" pitchFamily="34" charset="-122"/>
                <a:ea typeface="微软雅黑" pitchFamily="34" charset="-122"/>
              </a:rPr>
              <a:t>的拥塞控制</a:t>
            </a:r>
            <a:endParaRPr lang="en-US" altLang="zh-CN" sz="2000" b="1" dirty="0">
              <a:solidFill>
                <a:schemeClr val="bg1"/>
              </a:solidFill>
              <a:latin typeface="微软雅黑" pitchFamily="34" charset="-122"/>
              <a:ea typeface="微软雅黑" pitchFamily="34" charset="-122"/>
            </a:endParaRPr>
          </a:p>
          <a:p>
            <a:pPr algn="dist" eaLnBrk="0" hangingPunct="0">
              <a:lnSpc>
                <a:spcPts val="3200"/>
              </a:lnSpc>
            </a:pPr>
            <a:r>
              <a:rPr lang="en-US" altLang="zh-CN" sz="2000" b="1" dirty="0">
                <a:solidFill>
                  <a:schemeClr val="bg1"/>
                </a:solidFill>
                <a:latin typeface="微软雅黑" pitchFamily="34" charset="-122"/>
                <a:ea typeface="微软雅黑" pitchFamily="34" charset="-122"/>
              </a:rPr>
              <a:t>5.10                                          </a:t>
            </a:r>
            <a:r>
              <a:rPr lang="zh-CN" altLang="en-US" sz="2000" b="1" dirty="0">
                <a:solidFill>
                  <a:schemeClr val="bg1"/>
                </a:solidFill>
                <a:latin typeface="微软雅黑" pitchFamily="34" charset="-122"/>
                <a:ea typeface="微软雅黑" pitchFamily="34" charset="-122"/>
              </a:rPr>
              <a:t>新型传输层协议</a:t>
            </a:r>
          </a:p>
        </p:txBody>
      </p:sp>
    </p:spTree>
    <p:extLst>
      <p:ext uri="{BB962C8B-B14F-4D97-AF65-F5344CB8AC3E}">
        <p14:creationId xmlns:p14="http://schemas.microsoft.com/office/powerpoint/2010/main" val="1871226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9"/>
          <p:cNvSpPr>
            <a:spLocks noChangeArrowheads="1"/>
          </p:cNvSpPr>
          <p:nvPr/>
        </p:nvSpPr>
        <p:spPr bwMode="auto">
          <a:xfrm>
            <a:off x="2629135" y="1326922"/>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2" name="Rectangle 10"/>
          <p:cNvSpPr>
            <a:spLocks noChangeArrowheads="1"/>
          </p:cNvSpPr>
          <p:nvPr/>
        </p:nvSpPr>
        <p:spPr bwMode="auto">
          <a:xfrm>
            <a:off x="2629135" y="1933347"/>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3" name="Rectangle 11"/>
          <p:cNvSpPr>
            <a:spLocks noChangeArrowheads="1"/>
          </p:cNvSpPr>
          <p:nvPr/>
        </p:nvSpPr>
        <p:spPr bwMode="auto">
          <a:xfrm>
            <a:off x="2629135" y="2550884"/>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dirty="0">
              <a:solidFill>
                <a:srgbClr val="FFFFFF"/>
              </a:solidFill>
              <a:latin typeface="宋体" charset="-122"/>
            </a:endParaRPr>
          </a:p>
        </p:txBody>
      </p:sp>
      <p:sp>
        <p:nvSpPr>
          <p:cNvPr id="14" name="Line 16"/>
          <p:cNvSpPr>
            <a:spLocks noChangeShapeType="1"/>
          </p:cNvSpPr>
          <p:nvPr/>
        </p:nvSpPr>
        <p:spPr bwMode="auto">
          <a:xfrm>
            <a:off x="3637198" y="1255484"/>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Rectangle 8"/>
          <p:cNvSpPr>
            <a:spLocks noChangeArrowheads="1"/>
          </p:cNvSpPr>
          <p:nvPr/>
        </p:nvSpPr>
        <p:spPr bwMode="auto">
          <a:xfrm>
            <a:off x="2700573" y="1072922"/>
            <a:ext cx="5472113" cy="1846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5.1.1                                     </a:t>
            </a:r>
            <a:r>
              <a:rPr lang="zh-CN" altLang="en-US" sz="2000" b="1" dirty="0">
                <a:solidFill>
                  <a:schemeClr val="bg1"/>
                </a:solidFill>
                <a:latin typeface="微软雅黑" pitchFamily="34" charset="-122"/>
                <a:ea typeface="微软雅黑" pitchFamily="34" charset="-122"/>
              </a:rPr>
              <a:t>进程之间的通信</a:t>
            </a:r>
          </a:p>
          <a:p>
            <a:pPr eaLnBrk="0" hangingPunct="0">
              <a:lnSpc>
                <a:spcPct val="200000"/>
              </a:lnSpc>
            </a:pPr>
            <a:r>
              <a:rPr lang="en-US" altLang="zh-CN" sz="2000" b="1" dirty="0">
                <a:solidFill>
                  <a:schemeClr val="bg1"/>
                </a:solidFill>
                <a:latin typeface="微软雅黑" pitchFamily="34" charset="-122"/>
                <a:ea typeface="微软雅黑" pitchFamily="34" charset="-122"/>
              </a:rPr>
              <a:t>5.1.2                           </a:t>
            </a:r>
            <a:r>
              <a:rPr lang="zh-CN" altLang="en-US" sz="2000" b="1" dirty="0">
                <a:solidFill>
                  <a:schemeClr val="bg1"/>
                </a:solidFill>
                <a:latin typeface="微软雅黑" pitchFamily="34" charset="-122"/>
                <a:ea typeface="微软雅黑" pitchFamily="34" charset="-122"/>
              </a:rPr>
              <a:t>传输层的两个主要协议</a:t>
            </a:r>
          </a:p>
          <a:p>
            <a:pPr eaLnBrk="0" hangingPunct="0">
              <a:lnSpc>
                <a:spcPct val="200000"/>
              </a:lnSpc>
            </a:pPr>
            <a:r>
              <a:rPr lang="en-US" altLang="zh-CN" sz="2000" b="1" dirty="0">
                <a:solidFill>
                  <a:schemeClr val="bg1"/>
                </a:solidFill>
                <a:latin typeface="微软雅黑" pitchFamily="34" charset="-122"/>
                <a:ea typeface="微软雅黑" pitchFamily="34" charset="-122"/>
              </a:rPr>
              <a:t>5.1.3                                         </a:t>
            </a:r>
            <a:r>
              <a:rPr lang="zh-CN" altLang="en-US" sz="2000" b="1" dirty="0">
                <a:solidFill>
                  <a:schemeClr val="bg1"/>
                </a:solidFill>
                <a:latin typeface="微软雅黑" pitchFamily="34" charset="-122"/>
                <a:ea typeface="微软雅黑" pitchFamily="34" charset="-122"/>
              </a:rPr>
              <a:t>传输层的端口</a:t>
            </a:r>
          </a:p>
        </p:txBody>
      </p:sp>
      <p:sp>
        <p:nvSpPr>
          <p:cNvPr id="16" name="Rectangle 27"/>
          <p:cNvSpPr>
            <a:spLocks noChangeArrowheads="1"/>
          </p:cNvSpPr>
          <p:nvPr/>
        </p:nvSpPr>
        <p:spPr bwMode="auto">
          <a:xfrm>
            <a:off x="639730" y="132692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7" name="Rectangle 29"/>
          <p:cNvSpPr>
            <a:spLocks noChangeArrowheads="1"/>
          </p:cNvSpPr>
          <p:nvPr/>
        </p:nvSpPr>
        <p:spPr bwMode="auto">
          <a:xfrm>
            <a:off x="648619" y="1421854"/>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5.1</a:t>
            </a:r>
          </a:p>
          <a:p>
            <a:pPr eaLnBrk="0" hangingPunct="0"/>
            <a:r>
              <a:rPr lang="zh-CN" altLang="en-US" sz="2000" b="1" dirty="0">
                <a:solidFill>
                  <a:schemeClr val="bg1"/>
                </a:solidFill>
                <a:latin typeface="微软雅黑" pitchFamily="34" charset="-122"/>
                <a:ea typeface="微软雅黑" pitchFamily="34" charset="-122"/>
              </a:rPr>
              <a:t>传输层协议</a:t>
            </a:r>
            <a:r>
              <a:rPr lang="zh-CN" altLang="fr-FR" sz="2000" b="1" dirty="0">
                <a:solidFill>
                  <a:schemeClr val="bg1"/>
                </a:solidFill>
                <a:latin typeface="微软雅黑" pitchFamily="34" charset="-122"/>
                <a:ea typeface="微软雅黑" pitchFamily="34" charset="-122"/>
              </a:rPr>
              <a:t>概述</a:t>
            </a:r>
          </a:p>
        </p:txBody>
      </p:sp>
    </p:spTree>
    <p:extLst>
      <p:ext uri="{BB962C8B-B14F-4D97-AF65-F5344CB8AC3E}">
        <p14:creationId xmlns:p14="http://schemas.microsoft.com/office/powerpoint/2010/main" val="512193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圆角矩形 64"/>
          <p:cNvSpPr/>
          <p:nvPr/>
        </p:nvSpPr>
        <p:spPr>
          <a:xfrm>
            <a:off x="545145" y="1062316"/>
            <a:ext cx="8053710" cy="303455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AutoShape 5"/>
          <p:cNvSpPr>
            <a:spLocks noChangeArrowheads="1"/>
          </p:cNvSpPr>
          <p:nvPr/>
        </p:nvSpPr>
        <p:spPr bwMode="auto">
          <a:xfrm>
            <a:off x="545143" y="616169"/>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893498" y="573898"/>
            <a:ext cx="33570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5.1.1   </a:t>
            </a:r>
            <a:r>
              <a:rPr lang="zh-CN" altLang="en-US" sz="2400" b="1" dirty="0">
                <a:solidFill>
                  <a:schemeClr val="bg1"/>
                </a:solidFill>
                <a:latin typeface="微软雅黑" pitchFamily="34" charset="-122"/>
                <a:ea typeface="微软雅黑" pitchFamily="34" charset="-122"/>
              </a:rPr>
              <a:t>进程之间的通信</a:t>
            </a:r>
          </a:p>
        </p:txBody>
      </p:sp>
      <p:sp>
        <p:nvSpPr>
          <p:cNvPr id="2" name="矩形 1"/>
          <p:cNvSpPr/>
          <p:nvPr/>
        </p:nvSpPr>
        <p:spPr>
          <a:xfrm>
            <a:off x="2755595" y="3281081"/>
            <a:ext cx="1759189" cy="388520"/>
          </a:xfrm>
          <a:prstGeom prst="rect">
            <a:avLst/>
          </a:prstGeom>
          <a:solidFill>
            <a:srgbClr val="99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物理层</a:t>
            </a:r>
          </a:p>
        </p:txBody>
      </p:sp>
      <p:sp>
        <p:nvSpPr>
          <p:cNvPr id="51" name="矩形 50"/>
          <p:cNvSpPr/>
          <p:nvPr/>
        </p:nvSpPr>
        <p:spPr>
          <a:xfrm>
            <a:off x="2755595" y="2895599"/>
            <a:ext cx="1759189" cy="388520"/>
          </a:xfrm>
          <a:prstGeom prst="rect">
            <a:avLst/>
          </a:prstGeom>
          <a:solidFill>
            <a:srgbClr val="99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数据链路层</a:t>
            </a:r>
          </a:p>
        </p:txBody>
      </p:sp>
      <p:sp>
        <p:nvSpPr>
          <p:cNvPr id="52" name="矩形 51"/>
          <p:cNvSpPr/>
          <p:nvPr/>
        </p:nvSpPr>
        <p:spPr>
          <a:xfrm>
            <a:off x="2755595" y="2510117"/>
            <a:ext cx="1759189" cy="388520"/>
          </a:xfrm>
          <a:prstGeom prst="rect">
            <a:avLst/>
          </a:prstGeom>
          <a:solidFill>
            <a:srgbClr val="99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网络层</a:t>
            </a:r>
          </a:p>
        </p:txBody>
      </p:sp>
      <p:sp>
        <p:nvSpPr>
          <p:cNvPr id="53" name="矩形 52"/>
          <p:cNvSpPr/>
          <p:nvPr/>
        </p:nvSpPr>
        <p:spPr>
          <a:xfrm>
            <a:off x="2755595" y="2124631"/>
            <a:ext cx="1759189" cy="388520"/>
          </a:xfrm>
          <a:prstGeom prst="rect">
            <a:avLst/>
          </a:prstGeom>
          <a:solidFill>
            <a:srgbClr val="FF66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传输层</a:t>
            </a:r>
          </a:p>
        </p:txBody>
      </p:sp>
      <p:sp>
        <p:nvSpPr>
          <p:cNvPr id="54" name="矩形 53"/>
          <p:cNvSpPr/>
          <p:nvPr/>
        </p:nvSpPr>
        <p:spPr>
          <a:xfrm>
            <a:off x="2755595" y="1435936"/>
            <a:ext cx="1759189" cy="692977"/>
          </a:xfrm>
          <a:prstGeom prst="rect">
            <a:avLst/>
          </a:prstGeom>
          <a:solidFill>
            <a:srgbClr val="66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应用层</a:t>
            </a:r>
          </a:p>
        </p:txBody>
      </p:sp>
      <p:grpSp>
        <p:nvGrpSpPr>
          <p:cNvPr id="66" name="组合 65"/>
          <p:cNvGrpSpPr/>
          <p:nvPr/>
        </p:nvGrpSpPr>
        <p:grpSpPr>
          <a:xfrm>
            <a:off x="4620254" y="1435936"/>
            <a:ext cx="1585428" cy="1074181"/>
            <a:chOff x="4620254" y="1435936"/>
            <a:chExt cx="1585428" cy="1074181"/>
          </a:xfrm>
        </p:grpSpPr>
        <p:sp>
          <p:nvSpPr>
            <p:cNvPr id="3" name="右大括号 2"/>
            <p:cNvSpPr/>
            <p:nvPr/>
          </p:nvSpPr>
          <p:spPr>
            <a:xfrm>
              <a:off x="4620254" y="1435936"/>
              <a:ext cx="224118" cy="1074181"/>
            </a:xfrm>
            <a:prstGeom prst="rightBrace">
              <a:avLst>
                <a:gd name="adj1" fmla="val 20333"/>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 name="矩形 3"/>
            <p:cNvSpPr/>
            <p:nvPr/>
          </p:nvSpPr>
          <p:spPr>
            <a:xfrm>
              <a:off x="4831976" y="1619083"/>
              <a:ext cx="1373706" cy="707886"/>
            </a:xfrm>
            <a:prstGeom prst="rect">
              <a:avLst/>
            </a:prstGeom>
          </p:spPr>
          <p:txBody>
            <a:bodyPr wrap="square">
              <a:spAutoFit/>
            </a:bodyPr>
            <a:lstStyle/>
            <a:p>
              <a:pPr>
                <a:lnSpc>
                  <a:spcPts val="2400"/>
                </a:lnSpc>
              </a:pPr>
              <a:r>
                <a:rPr lang="zh-CN" altLang="en-US" sz="1600" b="1" dirty="0">
                  <a:latin typeface="微软雅黑" panose="020B0503020204020204" pitchFamily="34" charset="-122"/>
                  <a:ea typeface="微软雅黑" panose="020B0503020204020204" pitchFamily="34" charset="-122"/>
                </a:rPr>
                <a:t>用户功能中的最低层</a:t>
              </a:r>
            </a:p>
          </p:txBody>
        </p:sp>
      </p:grpSp>
      <p:grpSp>
        <p:nvGrpSpPr>
          <p:cNvPr id="67" name="组合 66"/>
          <p:cNvGrpSpPr/>
          <p:nvPr/>
        </p:nvGrpSpPr>
        <p:grpSpPr>
          <a:xfrm>
            <a:off x="1028175" y="2124631"/>
            <a:ext cx="1650166" cy="1459667"/>
            <a:chOff x="1028175" y="2124631"/>
            <a:chExt cx="1650166" cy="1459667"/>
          </a:xfrm>
        </p:grpSpPr>
        <p:sp>
          <p:nvSpPr>
            <p:cNvPr id="55" name="右大括号 54"/>
            <p:cNvSpPr/>
            <p:nvPr/>
          </p:nvSpPr>
          <p:spPr>
            <a:xfrm flipH="1">
              <a:off x="2454223" y="2124631"/>
              <a:ext cx="224118" cy="1459667"/>
            </a:xfrm>
            <a:prstGeom prst="rightBrace">
              <a:avLst>
                <a:gd name="adj1" fmla="val 20333"/>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 name="矩形 55"/>
            <p:cNvSpPr/>
            <p:nvPr/>
          </p:nvSpPr>
          <p:spPr>
            <a:xfrm>
              <a:off x="1028175" y="2510117"/>
              <a:ext cx="1426048" cy="707886"/>
            </a:xfrm>
            <a:prstGeom prst="rect">
              <a:avLst/>
            </a:prstGeom>
          </p:spPr>
          <p:txBody>
            <a:bodyPr wrap="square">
              <a:spAutoFit/>
            </a:bodyPr>
            <a:lstStyle/>
            <a:p>
              <a:pPr algn="r">
                <a:lnSpc>
                  <a:spcPts val="2400"/>
                </a:lnSpc>
              </a:pPr>
              <a:r>
                <a:rPr lang="zh-CN" altLang="en-US" sz="1600" b="1" dirty="0">
                  <a:latin typeface="微软雅黑" panose="020B0503020204020204" pitchFamily="34" charset="-122"/>
                  <a:ea typeface="微软雅黑" panose="020B0503020204020204" pitchFamily="34" charset="-122"/>
                </a:rPr>
                <a:t>面向通信部分的最高层</a:t>
              </a:r>
            </a:p>
          </p:txBody>
        </p:sp>
      </p:grpSp>
      <p:grpSp>
        <p:nvGrpSpPr>
          <p:cNvPr id="68" name="组合 67"/>
          <p:cNvGrpSpPr/>
          <p:nvPr/>
        </p:nvGrpSpPr>
        <p:grpSpPr>
          <a:xfrm>
            <a:off x="6201470" y="2505002"/>
            <a:ext cx="1068912" cy="1220847"/>
            <a:chOff x="4620254" y="1421856"/>
            <a:chExt cx="1068912" cy="1220847"/>
          </a:xfrm>
        </p:grpSpPr>
        <p:sp>
          <p:nvSpPr>
            <p:cNvPr id="69" name="右大括号 68"/>
            <p:cNvSpPr/>
            <p:nvPr/>
          </p:nvSpPr>
          <p:spPr>
            <a:xfrm>
              <a:off x="4620254" y="1435936"/>
              <a:ext cx="224118" cy="1150519"/>
            </a:xfrm>
            <a:prstGeom prst="rightBrace">
              <a:avLst>
                <a:gd name="adj1" fmla="val 20333"/>
                <a:gd name="adj2" fmla="val 50000"/>
              </a:avLst>
            </a:prstGeom>
            <a:ln w="12700">
              <a:solidFill>
                <a:srgbClr val="0000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0" name="矩形 69"/>
            <p:cNvSpPr/>
            <p:nvPr/>
          </p:nvSpPr>
          <p:spPr>
            <a:xfrm>
              <a:off x="4742326" y="1421856"/>
              <a:ext cx="946840" cy="1220847"/>
            </a:xfrm>
            <a:prstGeom prst="rect">
              <a:avLst/>
            </a:prstGeom>
          </p:spPr>
          <p:txBody>
            <a:bodyPr wrap="square">
              <a:spAutoFit/>
            </a:bodyPr>
            <a:lstStyle/>
            <a:p>
              <a:pPr algn="ctr">
                <a:lnSpc>
                  <a:spcPts val="2200"/>
                </a:lnSpc>
              </a:pPr>
              <a:r>
                <a:rPr lang="zh-CN" altLang="en-US" sz="1400" b="1" dirty="0">
                  <a:solidFill>
                    <a:srgbClr val="000099"/>
                  </a:solidFill>
                  <a:latin typeface="微软雅黑" panose="020B0503020204020204" pitchFamily="34" charset="-122"/>
                  <a:ea typeface="微软雅黑" panose="020B0503020204020204" pitchFamily="34" charset="-122"/>
                </a:rPr>
                <a:t>网络核心中的路由器实现和使用</a:t>
              </a:r>
            </a:p>
          </p:txBody>
        </p:sp>
      </p:grpSp>
      <p:grpSp>
        <p:nvGrpSpPr>
          <p:cNvPr id="71" name="组合 70"/>
          <p:cNvGrpSpPr/>
          <p:nvPr/>
        </p:nvGrpSpPr>
        <p:grpSpPr>
          <a:xfrm>
            <a:off x="7214473" y="1435936"/>
            <a:ext cx="1085794" cy="2294177"/>
            <a:chOff x="4620254" y="292278"/>
            <a:chExt cx="1085794" cy="2294177"/>
          </a:xfrm>
        </p:grpSpPr>
        <p:sp>
          <p:nvSpPr>
            <p:cNvPr id="72" name="右大括号 71"/>
            <p:cNvSpPr/>
            <p:nvPr/>
          </p:nvSpPr>
          <p:spPr>
            <a:xfrm>
              <a:off x="4620254" y="292278"/>
              <a:ext cx="224118" cy="2294177"/>
            </a:xfrm>
            <a:prstGeom prst="rightBrace">
              <a:avLst>
                <a:gd name="adj1" fmla="val 20333"/>
                <a:gd name="adj2" fmla="val 50000"/>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3" name="矩形 72"/>
            <p:cNvSpPr/>
            <p:nvPr/>
          </p:nvSpPr>
          <p:spPr>
            <a:xfrm>
              <a:off x="4759208" y="851770"/>
              <a:ext cx="946840" cy="1220847"/>
            </a:xfrm>
            <a:prstGeom prst="rect">
              <a:avLst/>
            </a:prstGeom>
            <a:ln>
              <a:noFill/>
            </a:ln>
          </p:spPr>
          <p:txBody>
            <a:bodyPr wrap="square">
              <a:spAutoFit/>
            </a:bodyPr>
            <a:lstStyle/>
            <a:p>
              <a:pPr algn="ctr">
                <a:lnSpc>
                  <a:spcPts val="2200"/>
                </a:lnSpc>
              </a:pPr>
              <a:r>
                <a:rPr lang="zh-CN" altLang="en-US" sz="1400" b="1" dirty="0">
                  <a:solidFill>
                    <a:srgbClr val="C00000"/>
                  </a:solidFill>
                  <a:latin typeface="微软雅黑" panose="020B0503020204020204" pitchFamily="34" charset="-122"/>
                  <a:ea typeface="微软雅黑" panose="020B0503020204020204" pitchFamily="34" charset="-122"/>
                </a:rPr>
                <a:t>边缘部分中的主机</a:t>
              </a:r>
              <a:endParaRPr lang="en-US" altLang="zh-CN" sz="1400" b="1" dirty="0">
                <a:solidFill>
                  <a:srgbClr val="C00000"/>
                </a:solidFill>
                <a:latin typeface="微软雅黑" panose="020B0503020204020204" pitchFamily="34" charset="-122"/>
                <a:ea typeface="微软雅黑" panose="020B0503020204020204" pitchFamily="34" charset="-122"/>
              </a:endParaRPr>
            </a:p>
            <a:p>
              <a:pPr algn="ctr">
                <a:lnSpc>
                  <a:spcPts val="2200"/>
                </a:lnSpc>
              </a:pPr>
              <a:r>
                <a:rPr lang="zh-CN" altLang="en-US" sz="1400" b="1" dirty="0">
                  <a:solidFill>
                    <a:srgbClr val="C00000"/>
                  </a:solidFill>
                  <a:latin typeface="微软雅黑" panose="020B0503020204020204" pitchFamily="34" charset="-122"/>
                  <a:ea typeface="微软雅黑" panose="020B0503020204020204" pitchFamily="34" charset="-122"/>
                </a:rPr>
                <a:t>实现和使用</a:t>
              </a:r>
            </a:p>
          </p:txBody>
        </p:sp>
      </p:grpSp>
    </p:spTree>
    <p:extLst>
      <p:ext uri="{BB962C8B-B14F-4D97-AF65-F5344CB8AC3E}">
        <p14:creationId xmlns:p14="http://schemas.microsoft.com/office/powerpoint/2010/main" val="2616902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wipe(down)">
                                      <p:cBhvr>
                                        <p:cTn id="7" dur="1000"/>
                                        <p:tgtEl>
                                          <p:spTgt spid="6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6"/>
                                        </p:tgtEl>
                                        <p:attrNameLst>
                                          <p:attrName>style.visibility</p:attrName>
                                        </p:attrNameLst>
                                      </p:cBhvr>
                                      <p:to>
                                        <p:strVal val="visible"/>
                                      </p:to>
                                    </p:set>
                                    <p:animEffect transition="in" filter="wipe(up)">
                                      <p:cBhvr>
                                        <p:cTn id="12" dur="1000"/>
                                        <p:tgtEl>
                                          <p:spTgt spid="6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8"/>
                                        </p:tgtEl>
                                        <p:attrNameLst>
                                          <p:attrName>style.visibility</p:attrName>
                                        </p:attrNameLst>
                                      </p:cBhvr>
                                      <p:to>
                                        <p:strVal val="visible"/>
                                      </p:to>
                                    </p:set>
                                    <p:animEffect transition="in" filter="wipe(up)">
                                      <p:cBhvr>
                                        <p:cTn id="17" dur="1000"/>
                                        <p:tgtEl>
                                          <p:spTgt spid="6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71"/>
                                        </p:tgtEl>
                                        <p:attrNameLst>
                                          <p:attrName>style.visibility</p:attrName>
                                        </p:attrNameLst>
                                      </p:cBhvr>
                                      <p:to>
                                        <p:strVal val="visible"/>
                                      </p:to>
                                    </p:set>
                                    <p:animEffect transition="in" filter="wipe(up)">
                                      <p:cBhvr>
                                        <p:cTn id="22" dur="10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45145" y="62312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圆角矩形 7"/>
          <p:cNvSpPr/>
          <p:nvPr/>
        </p:nvSpPr>
        <p:spPr>
          <a:xfrm>
            <a:off x="545145" y="1010920"/>
            <a:ext cx="8053710" cy="328676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Rectangle 6"/>
          <p:cNvSpPr>
            <a:spLocks noChangeArrowheads="1"/>
          </p:cNvSpPr>
          <p:nvPr/>
        </p:nvSpPr>
        <p:spPr bwMode="auto">
          <a:xfrm>
            <a:off x="3701580" y="58987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传输层的作用</a:t>
            </a:r>
          </a:p>
        </p:txBody>
      </p:sp>
      <p:sp>
        <p:nvSpPr>
          <p:cNvPr id="92" name="Rectangle 174"/>
          <p:cNvSpPr>
            <a:spLocks noChangeArrowheads="1"/>
          </p:cNvSpPr>
          <p:nvPr/>
        </p:nvSpPr>
        <p:spPr bwMode="auto">
          <a:xfrm>
            <a:off x="1518204" y="1897856"/>
            <a:ext cx="5989193" cy="243382"/>
          </a:xfrm>
          <a:prstGeom prst="rect">
            <a:avLst/>
          </a:prstGeom>
          <a:solidFill>
            <a:srgbClr val="33CC33"/>
          </a:solidFill>
          <a:ln>
            <a:noFill/>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1" name="Rectangle 2"/>
          <p:cNvSpPr>
            <a:spLocks noChangeArrowheads="1"/>
          </p:cNvSpPr>
          <p:nvPr/>
        </p:nvSpPr>
        <p:spPr bwMode="auto">
          <a:xfrm>
            <a:off x="1523156" y="1324035"/>
            <a:ext cx="996549" cy="13142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2" name="Line 53"/>
          <p:cNvSpPr>
            <a:spLocks noChangeShapeType="1"/>
          </p:cNvSpPr>
          <p:nvPr/>
        </p:nvSpPr>
        <p:spPr bwMode="auto">
          <a:xfrm>
            <a:off x="2513514" y="3347967"/>
            <a:ext cx="3978765"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7"/>
          <p:cNvSpPr>
            <a:spLocks noChangeShapeType="1"/>
          </p:cNvSpPr>
          <p:nvPr/>
        </p:nvSpPr>
        <p:spPr bwMode="auto">
          <a:xfrm>
            <a:off x="1523156" y="2144982"/>
            <a:ext cx="99531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8"/>
          <p:cNvSpPr>
            <a:spLocks noChangeShapeType="1"/>
          </p:cNvSpPr>
          <p:nvPr/>
        </p:nvSpPr>
        <p:spPr bwMode="auto">
          <a:xfrm>
            <a:off x="1523156" y="2393045"/>
            <a:ext cx="99531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Rectangle 9"/>
          <p:cNvSpPr>
            <a:spLocks noChangeArrowheads="1"/>
          </p:cNvSpPr>
          <p:nvPr/>
        </p:nvSpPr>
        <p:spPr bwMode="auto">
          <a:xfrm>
            <a:off x="1528108" y="1666642"/>
            <a:ext cx="989121" cy="231214"/>
          </a:xfrm>
          <a:prstGeom prst="rect">
            <a:avLst/>
          </a:prstGeom>
          <a:solidFill>
            <a:srgbClr val="FF66FF"/>
          </a:solidFill>
          <a:ln w="19050">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6" name="Rectangle 10"/>
          <p:cNvSpPr>
            <a:spLocks noChangeArrowheads="1"/>
          </p:cNvSpPr>
          <p:nvPr/>
        </p:nvSpPr>
        <p:spPr bwMode="auto">
          <a:xfrm>
            <a:off x="1490519" y="1488853"/>
            <a:ext cx="277321" cy="116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1200"/>
              </a:lnSpc>
            </a:pPr>
            <a:r>
              <a:rPr lang="en-US" altLang="zh-CN" sz="1200" b="1" dirty="0">
                <a:latin typeface="微软雅黑" panose="020B0503020204020204" pitchFamily="34" charset="-122"/>
                <a:ea typeface="微软雅黑" panose="020B0503020204020204" pitchFamily="34" charset="-122"/>
              </a:rPr>
              <a:t>5</a:t>
            </a:r>
          </a:p>
          <a:p>
            <a:pPr>
              <a:lnSpc>
                <a:spcPts val="4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4</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3</a:t>
            </a:r>
          </a:p>
          <a:p>
            <a:pPr>
              <a:lnSpc>
                <a:spcPts val="8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2</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1</a:t>
            </a:r>
          </a:p>
        </p:txBody>
      </p:sp>
      <p:grpSp>
        <p:nvGrpSpPr>
          <p:cNvPr id="110" name="Group 15"/>
          <p:cNvGrpSpPr>
            <a:grpSpLocks/>
          </p:cNvGrpSpPr>
          <p:nvPr/>
        </p:nvGrpSpPr>
        <p:grpSpPr bwMode="auto">
          <a:xfrm>
            <a:off x="3388744" y="1903472"/>
            <a:ext cx="729151" cy="734827"/>
            <a:chOff x="2017" y="1543"/>
            <a:chExt cx="619" cy="922"/>
          </a:xfrm>
        </p:grpSpPr>
        <p:sp>
          <p:nvSpPr>
            <p:cNvPr id="111" name="Rectangle 12"/>
            <p:cNvSpPr>
              <a:spLocks noChangeArrowheads="1"/>
            </p:cNvSpPr>
            <p:nvPr/>
          </p:nvSpPr>
          <p:spPr bwMode="auto">
            <a:xfrm>
              <a:off x="2017" y="1543"/>
              <a:ext cx="619" cy="92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12" name="Line 13"/>
            <p:cNvSpPr>
              <a:spLocks noChangeShapeType="1"/>
            </p:cNvSpPr>
            <p:nvPr/>
          </p:nvSpPr>
          <p:spPr bwMode="auto">
            <a:xfrm>
              <a:off x="2017" y="1845"/>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14"/>
            <p:cNvSpPr>
              <a:spLocks noChangeShapeType="1"/>
            </p:cNvSpPr>
            <p:nvPr/>
          </p:nvSpPr>
          <p:spPr bwMode="auto">
            <a:xfrm>
              <a:off x="2017" y="2157"/>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sp>
        <p:nvSpPr>
          <p:cNvPr id="114" name="Rectangle 16"/>
          <p:cNvSpPr>
            <a:spLocks noChangeArrowheads="1"/>
          </p:cNvSpPr>
          <p:nvPr/>
        </p:nvSpPr>
        <p:spPr bwMode="auto">
          <a:xfrm>
            <a:off x="6505897" y="1324035"/>
            <a:ext cx="997786" cy="13142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15" name="Line 21"/>
          <p:cNvSpPr>
            <a:spLocks noChangeShapeType="1"/>
          </p:cNvSpPr>
          <p:nvPr/>
        </p:nvSpPr>
        <p:spPr bwMode="auto">
          <a:xfrm>
            <a:off x="6505897" y="2144982"/>
            <a:ext cx="9965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22"/>
          <p:cNvSpPr>
            <a:spLocks noChangeShapeType="1"/>
          </p:cNvSpPr>
          <p:nvPr/>
        </p:nvSpPr>
        <p:spPr bwMode="auto">
          <a:xfrm>
            <a:off x="6505897" y="2393045"/>
            <a:ext cx="9965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Rectangle 23"/>
          <p:cNvSpPr>
            <a:spLocks noChangeArrowheads="1"/>
          </p:cNvSpPr>
          <p:nvPr/>
        </p:nvSpPr>
        <p:spPr bwMode="auto">
          <a:xfrm>
            <a:off x="6508373" y="1666642"/>
            <a:ext cx="995310" cy="231214"/>
          </a:xfrm>
          <a:prstGeom prst="rect">
            <a:avLst/>
          </a:prstGeom>
          <a:solidFill>
            <a:srgbClr val="FF66FF"/>
          </a:solidFill>
          <a:ln w="19050">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grpSp>
        <p:nvGrpSpPr>
          <p:cNvPr id="118" name="Group 29"/>
          <p:cNvGrpSpPr>
            <a:grpSpLocks/>
          </p:cNvGrpSpPr>
          <p:nvPr/>
        </p:nvGrpSpPr>
        <p:grpSpPr bwMode="auto">
          <a:xfrm>
            <a:off x="4896565" y="1903472"/>
            <a:ext cx="729151" cy="734827"/>
            <a:chOff x="3295" y="1543"/>
            <a:chExt cx="619" cy="922"/>
          </a:xfrm>
        </p:grpSpPr>
        <p:sp>
          <p:nvSpPr>
            <p:cNvPr id="119" name="Rectangle 26"/>
            <p:cNvSpPr>
              <a:spLocks noChangeArrowheads="1"/>
            </p:cNvSpPr>
            <p:nvPr/>
          </p:nvSpPr>
          <p:spPr bwMode="auto">
            <a:xfrm>
              <a:off x="3295" y="1543"/>
              <a:ext cx="619" cy="92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20" name="Line 27"/>
            <p:cNvSpPr>
              <a:spLocks noChangeShapeType="1"/>
            </p:cNvSpPr>
            <p:nvPr/>
          </p:nvSpPr>
          <p:spPr bwMode="auto">
            <a:xfrm>
              <a:off x="3295" y="1845"/>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28"/>
            <p:cNvSpPr>
              <a:spLocks noChangeShapeType="1"/>
            </p:cNvSpPr>
            <p:nvPr/>
          </p:nvSpPr>
          <p:spPr bwMode="auto">
            <a:xfrm>
              <a:off x="3295" y="2157"/>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sp>
        <p:nvSpPr>
          <p:cNvPr id="122" name="Rectangle 31"/>
          <p:cNvSpPr>
            <a:spLocks noChangeArrowheads="1"/>
          </p:cNvSpPr>
          <p:nvPr/>
        </p:nvSpPr>
        <p:spPr bwMode="auto">
          <a:xfrm>
            <a:off x="3242326" y="1499190"/>
            <a:ext cx="266282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传输层提供应用进程</a:t>
            </a:r>
            <a:r>
              <a:rPr lang="zh-CN" altLang="zh-CN" sz="1200" b="1" dirty="0">
                <a:latin typeface="微软雅黑" panose="020B0503020204020204" pitchFamily="34" charset="-122"/>
                <a:ea typeface="微软雅黑" panose="020B0503020204020204" pitchFamily="34" charset="-122"/>
              </a:rPr>
              <a:t>间的</a:t>
            </a:r>
            <a:r>
              <a:rPr lang="zh-CN" altLang="zh-CN" sz="1200" b="1" dirty="0">
                <a:solidFill>
                  <a:srgbClr val="9900FF"/>
                </a:solidFill>
                <a:latin typeface="微软雅黑" panose="020B0503020204020204" pitchFamily="34" charset="-122"/>
                <a:ea typeface="微软雅黑" panose="020B0503020204020204" pitchFamily="34" charset="-122"/>
              </a:rPr>
              <a:t>逻辑</a:t>
            </a:r>
            <a:r>
              <a:rPr lang="zh-CN" altLang="en-US" sz="1200" b="1" dirty="0">
                <a:solidFill>
                  <a:srgbClr val="9900FF"/>
                </a:solidFill>
                <a:latin typeface="微软雅黑" panose="020B0503020204020204" pitchFamily="34" charset="-122"/>
                <a:ea typeface="微软雅黑" panose="020B0503020204020204" pitchFamily="34" charset="-122"/>
              </a:rPr>
              <a:t>通信</a:t>
            </a:r>
          </a:p>
        </p:txBody>
      </p:sp>
      <p:sp>
        <p:nvSpPr>
          <p:cNvPr id="123" name="Rectangle 33"/>
          <p:cNvSpPr>
            <a:spLocks noChangeArrowheads="1"/>
          </p:cNvSpPr>
          <p:nvPr/>
        </p:nvSpPr>
        <p:spPr bwMode="auto">
          <a:xfrm>
            <a:off x="1523156" y="3105520"/>
            <a:ext cx="995310" cy="491119"/>
          </a:xfrm>
          <a:prstGeom prst="rect">
            <a:avLst/>
          </a:prstGeom>
          <a:solidFill>
            <a:schemeClr val="bg1"/>
          </a:solidFill>
          <a:ln w="9525">
            <a:solidFill>
              <a:schemeClr val="tx1"/>
            </a:solidFill>
            <a:miter lim="800000"/>
            <a:headEnd/>
            <a:tailEnd/>
          </a:ln>
          <a:effectLst/>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124" name="Freeform 54"/>
          <p:cNvSpPr>
            <a:spLocks/>
          </p:cNvSpPr>
          <p:nvPr/>
        </p:nvSpPr>
        <p:spPr bwMode="auto">
          <a:xfrm>
            <a:off x="2070329" y="3258103"/>
            <a:ext cx="450613" cy="85184"/>
          </a:xfrm>
          <a:custGeom>
            <a:avLst/>
            <a:gdLst>
              <a:gd name="T0" fmla="*/ 0 w 382"/>
              <a:gd name="T1" fmla="*/ 0 h 277"/>
              <a:gd name="T2" fmla="*/ 2147483647 w 382"/>
              <a:gd name="T3" fmla="*/ 0 h 277"/>
              <a:gd name="T4" fmla="*/ 2147483647 w 382"/>
              <a:gd name="T5" fmla="*/ 2147483647 h 277"/>
              <a:gd name="T6" fmla="*/ 2147483647 w 382"/>
              <a:gd name="T7" fmla="*/ 2147483647 h 277"/>
              <a:gd name="T8" fmla="*/ 2147483647 w 382"/>
              <a:gd name="T9" fmla="*/ 2147483647 h 277"/>
              <a:gd name="T10" fmla="*/ 2147483647 w 382"/>
              <a:gd name="T11" fmla="*/ 2147483647 h 277"/>
              <a:gd name="T12" fmla="*/ 2147483647 w 382"/>
              <a:gd name="T13" fmla="*/ 2147483647 h 277"/>
              <a:gd name="T14" fmla="*/ 2147483647 w 382"/>
              <a:gd name="T15" fmla="*/ 2147483647 h 277"/>
              <a:gd name="T16" fmla="*/ 2147483647 w 382"/>
              <a:gd name="T17" fmla="*/ 2147483647 h 277"/>
              <a:gd name="T18" fmla="*/ 2147483647 w 382"/>
              <a:gd name="T19" fmla="*/ 2147483647 h 277"/>
              <a:gd name="T20" fmla="*/ 2147483647 w 382"/>
              <a:gd name="T21" fmla="*/ 2147483647 h 277"/>
              <a:gd name="T22" fmla="*/ 2147483647 w 382"/>
              <a:gd name="T23" fmla="*/ 2147483647 h 277"/>
              <a:gd name="T24" fmla="*/ 2147483647 w 382"/>
              <a:gd name="T25" fmla="*/ 2147483647 h 277"/>
              <a:gd name="T26" fmla="*/ 2147483647 w 382"/>
              <a:gd name="T27" fmla="*/ 2147483647 h 277"/>
              <a:gd name="T28" fmla="*/ 2147483647 w 382"/>
              <a:gd name="T29" fmla="*/ 2147483647 h 277"/>
              <a:gd name="T30" fmla="*/ 2147483647 w 382"/>
              <a:gd name="T31" fmla="*/ 2147483647 h 277"/>
              <a:gd name="T32" fmla="*/ 2147483647 w 382"/>
              <a:gd name="T33" fmla="*/ 2147483647 h 277"/>
              <a:gd name="T34" fmla="*/ 2147483647 w 382"/>
              <a:gd name="T35" fmla="*/ 2147483647 h 277"/>
              <a:gd name="T36" fmla="*/ 2147483647 w 382"/>
              <a:gd name="T37" fmla="*/ 2147483647 h 277"/>
              <a:gd name="T38" fmla="*/ 2147483647 w 382"/>
              <a:gd name="T39" fmla="*/ 2147483647 h 277"/>
              <a:gd name="T40" fmla="*/ 2147483647 w 382"/>
              <a:gd name="T41" fmla="*/ 2147483647 h 277"/>
              <a:gd name="T42" fmla="*/ 2147483647 w 382"/>
              <a:gd name="T43" fmla="*/ 2147483647 h 277"/>
              <a:gd name="T44" fmla="*/ 2147483647 w 382"/>
              <a:gd name="T45" fmla="*/ 2147483647 h 277"/>
              <a:gd name="T46" fmla="*/ 2147483647 w 382"/>
              <a:gd name="T47" fmla="*/ 2147483647 h 277"/>
              <a:gd name="T48" fmla="*/ 2147483647 w 382"/>
              <a:gd name="T49" fmla="*/ 2147483647 h 277"/>
              <a:gd name="T50" fmla="*/ 2147483647 w 382"/>
              <a:gd name="T51" fmla="*/ 2147483647 h 277"/>
              <a:gd name="T52" fmla="*/ 2147483647 w 382"/>
              <a:gd name="T53" fmla="*/ 2147483647 h 277"/>
              <a:gd name="T54" fmla="*/ 2147483647 w 382"/>
              <a:gd name="T55" fmla="*/ 2147483647 h 277"/>
              <a:gd name="T56" fmla="*/ 2147483647 w 382"/>
              <a:gd name="T57" fmla="*/ 2147483647 h 277"/>
              <a:gd name="T58" fmla="*/ 2147483647 w 382"/>
              <a:gd name="T59" fmla="*/ 2147483647 h 277"/>
              <a:gd name="T60" fmla="*/ 2147483647 w 382"/>
              <a:gd name="T61" fmla="*/ 2147483647 h 277"/>
              <a:gd name="T62" fmla="*/ 2147483647 w 382"/>
              <a:gd name="T63" fmla="*/ 2147483647 h 277"/>
              <a:gd name="T64" fmla="*/ 2147483647 w 382"/>
              <a:gd name="T65" fmla="*/ 2147483647 h 277"/>
              <a:gd name="T66" fmla="*/ 2147483647 w 382"/>
              <a:gd name="T67" fmla="*/ 2147483647 h 277"/>
              <a:gd name="T68" fmla="*/ 2147483647 w 382"/>
              <a:gd name="T69" fmla="*/ 2147483647 h 277"/>
              <a:gd name="T70" fmla="*/ 2147483647 w 382"/>
              <a:gd name="T71" fmla="*/ 2147483647 h 277"/>
              <a:gd name="T72" fmla="*/ 2147483647 w 382"/>
              <a:gd name="T73" fmla="*/ 2147483647 h 277"/>
              <a:gd name="T74" fmla="*/ 2147483647 w 382"/>
              <a:gd name="T75" fmla="*/ 2147483647 h 277"/>
              <a:gd name="T76" fmla="*/ 2147483647 w 382"/>
              <a:gd name="T77" fmla="*/ 2147483647 h 277"/>
              <a:gd name="T78" fmla="*/ 2147483647 w 382"/>
              <a:gd name="T79" fmla="*/ 2147483647 h 277"/>
              <a:gd name="T80" fmla="*/ 2147483647 w 382"/>
              <a:gd name="T81" fmla="*/ 2147483647 h 277"/>
              <a:gd name="T82" fmla="*/ 2147483647 w 382"/>
              <a:gd name="T83" fmla="*/ 2147483647 h 277"/>
              <a:gd name="T84" fmla="*/ 2147483647 w 382"/>
              <a:gd name="T85" fmla="*/ 2147483647 h 277"/>
              <a:gd name="T86" fmla="*/ 2147483647 w 382"/>
              <a:gd name="T87" fmla="*/ 2147483647 h 277"/>
              <a:gd name="T88" fmla="*/ 2147483647 w 382"/>
              <a:gd name="T89" fmla="*/ 2147483647 h 277"/>
              <a:gd name="T90" fmla="*/ 2147483647 w 382"/>
              <a:gd name="T91" fmla="*/ 2147483647 h 27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82"/>
              <a:gd name="T139" fmla="*/ 0 h 277"/>
              <a:gd name="T140" fmla="*/ 382 w 382"/>
              <a:gd name="T141" fmla="*/ 277 h 27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5" name="Freeform 55"/>
          <p:cNvSpPr>
            <a:spLocks/>
          </p:cNvSpPr>
          <p:nvPr/>
        </p:nvSpPr>
        <p:spPr bwMode="auto">
          <a:xfrm>
            <a:off x="2028239" y="3354519"/>
            <a:ext cx="488990" cy="95481"/>
          </a:xfrm>
          <a:custGeom>
            <a:avLst/>
            <a:gdLst>
              <a:gd name="T0" fmla="*/ 0 w 334"/>
              <a:gd name="T1" fmla="*/ 2147483647 h 244"/>
              <a:gd name="T2" fmla="*/ 2147483647 w 334"/>
              <a:gd name="T3" fmla="*/ 2147483647 h 244"/>
              <a:gd name="T4" fmla="*/ 2147483647 w 334"/>
              <a:gd name="T5" fmla="*/ 2147483647 h 244"/>
              <a:gd name="T6" fmla="*/ 2147483647 w 334"/>
              <a:gd name="T7" fmla="*/ 2147483647 h 244"/>
              <a:gd name="T8" fmla="*/ 2147483647 w 334"/>
              <a:gd name="T9" fmla="*/ 2147483647 h 244"/>
              <a:gd name="T10" fmla="*/ 2147483647 w 334"/>
              <a:gd name="T11" fmla="*/ 2147483647 h 244"/>
              <a:gd name="T12" fmla="*/ 2147483647 w 334"/>
              <a:gd name="T13" fmla="*/ 2147483647 h 244"/>
              <a:gd name="T14" fmla="*/ 2147483647 w 334"/>
              <a:gd name="T15" fmla="*/ 2147483647 h 244"/>
              <a:gd name="T16" fmla="*/ 2147483647 w 334"/>
              <a:gd name="T17" fmla="*/ 2147483647 h 244"/>
              <a:gd name="T18" fmla="*/ 2147483647 w 334"/>
              <a:gd name="T19" fmla="*/ 2147483647 h 244"/>
              <a:gd name="T20" fmla="*/ 2147483647 w 334"/>
              <a:gd name="T21" fmla="*/ 2147483647 h 244"/>
              <a:gd name="T22" fmla="*/ 2147483647 w 334"/>
              <a:gd name="T23" fmla="*/ 2147483647 h 244"/>
              <a:gd name="T24" fmla="*/ 2147483647 w 334"/>
              <a:gd name="T25" fmla="*/ 2147483647 h 244"/>
              <a:gd name="T26" fmla="*/ 2147483647 w 334"/>
              <a:gd name="T27" fmla="*/ 2147483647 h 244"/>
              <a:gd name="T28" fmla="*/ 2147483647 w 334"/>
              <a:gd name="T29" fmla="*/ 2147483647 h 244"/>
              <a:gd name="T30" fmla="*/ 2147483647 w 334"/>
              <a:gd name="T31" fmla="*/ 2147483647 h 244"/>
              <a:gd name="T32" fmla="*/ 2147483647 w 334"/>
              <a:gd name="T33" fmla="*/ 2147483647 h 244"/>
              <a:gd name="T34" fmla="*/ 2147483647 w 334"/>
              <a:gd name="T35" fmla="*/ 2147483647 h 244"/>
              <a:gd name="T36" fmla="*/ 2147483647 w 334"/>
              <a:gd name="T37" fmla="*/ 2147483647 h 244"/>
              <a:gd name="T38" fmla="*/ 2147483647 w 334"/>
              <a:gd name="T39" fmla="*/ 2147483647 h 244"/>
              <a:gd name="T40" fmla="*/ 2147483647 w 334"/>
              <a:gd name="T41" fmla="*/ 2147483647 h 244"/>
              <a:gd name="T42" fmla="*/ 2147483647 w 334"/>
              <a:gd name="T43" fmla="*/ 2147483647 h 244"/>
              <a:gd name="T44" fmla="*/ 2147483647 w 334"/>
              <a:gd name="T45" fmla="*/ 2147483647 h 244"/>
              <a:gd name="T46" fmla="*/ 2147483647 w 334"/>
              <a:gd name="T47" fmla="*/ 2147483647 h 244"/>
              <a:gd name="T48" fmla="*/ 2147483647 w 334"/>
              <a:gd name="T49" fmla="*/ 2147483647 h 244"/>
              <a:gd name="T50" fmla="*/ 2147483647 w 334"/>
              <a:gd name="T51" fmla="*/ 2147483647 h 244"/>
              <a:gd name="T52" fmla="*/ 2147483647 w 334"/>
              <a:gd name="T53" fmla="*/ 2147483647 h 244"/>
              <a:gd name="T54" fmla="*/ 2147483647 w 334"/>
              <a:gd name="T55" fmla="*/ 2147483647 h 244"/>
              <a:gd name="T56" fmla="*/ 2147483647 w 334"/>
              <a:gd name="T57" fmla="*/ 2147483647 h 244"/>
              <a:gd name="T58" fmla="*/ 2147483647 w 334"/>
              <a:gd name="T59" fmla="*/ 2147483647 h 244"/>
              <a:gd name="T60" fmla="*/ 2147483647 w 334"/>
              <a:gd name="T61" fmla="*/ 2147483647 h 244"/>
              <a:gd name="T62" fmla="*/ 2147483647 w 334"/>
              <a:gd name="T63" fmla="*/ 2147483647 h 244"/>
              <a:gd name="T64" fmla="*/ 2147483647 w 334"/>
              <a:gd name="T65" fmla="*/ 2147483647 h 244"/>
              <a:gd name="T66" fmla="*/ 2147483647 w 334"/>
              <a:gd name="T67" fmla="*/ 2147483647 h 244"/>
              <a:gd name="T68" fmla="*/ 2147483647 w 334"/>
              <a:gd name="T69" fmla="*/ 2147483647 h 244"/>
              <a:gd name="T70" fmla="*/ 2147483647 w 334"/>
              <a:gd name="T71" fmla="*/ 2147483647 h 244"/>
              <a:gd name="T72" fmla="*/ 2147483647 w 334"/>
              <a:gd name="T73" fmla="*/ 2147483647 h 244"/>
              <a:gd name="T74" fmla="*/ 2147483647 w 334"/>
              <a:gd name="T75" fmla="*/ 2147483647 h 244"/>
              <a:gd name="T76" fmla="*/ 2147483647 w 334"/>
              <a:gd name="T77" fmla="*/ 2147483647 h 244"/>
              <a:gd name="T78" fmla="*/ 2147483647 w 334"/>
              <a:gd name="T79" fmla="*/ 0 h 24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34"/>
              <a:gd name="T121" fmla="*/ 0 h 244"/>
              <a:gd name="T122" fmla="*/ 334 w 334"/>
              <a:gd name="T123" fmla="*/ 244 h 24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6" name="Rectangle 82"/>
          <p:cNvSpPr>
            <a:spLocks noChangeArrowheads="1"/>
          </p:cNvSpPr>
          <p:nvPr/>
        </p:nvSpPr>
        <p:spPr bwMode="auto">
          <a:xfrm>
            <a:off x="1681612" y="2864695"/>
            <a:ext cx="816617"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主机 </a:t>
            </a:r>
            <a:r>
              <a:rPr lang="en-US" altLang="zh-CN" sz="1200" b="1" dirty="0">
                <a:latin typeface="微软雅黑" panose="020B0503020204020204" pitchFamily="34" charset="-122"/>
                <a:ea typeface="微软雅黑" panose="020B0503020204020204" pitchFamily="34" charset="-122"/>
              </a:rPr>
              <a:t>A</a:t>
            </a:r>
          </a:p>
        </p:txBody>
      </p:sp>
      <p:sp>
        <p:nvSpPr>
          <p:cNvPr id="127" name="Rectangle 83"/>
          <p:cNvSpPr>
            <a:spLocks noChangeArrowheads="1"/>
          </p:cNvSpPr>
          <p:nvPr/>
        </p:nvSpPr>
        <p:spPr bwMode="auto">
          <a:xfrm>
            <a:off x="6660640" y="2864695"/>
            <a:ext cx="804578"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latin typeface="微软雅黑" panose="020B0503020204020204" pitchFamily="34" charset="-122"/>
                <a:ea typeface="微软雅黑" panose="020B0503020204020204" pitchFamily="34" charset="-122"/>
              </a:rPr>
              <a:t>主机 </a:t>
            </a:r>
            <a:r>
              <a:rPr lang="en-US" altLang="zh-CN" sz="1200" b="1">
                <a:latin typeface="微软雅黑" panose="020B0503020204020204" pitchFamily="34" charset="-122"/>
                <a:ea typeface="微软雅黑" panose="020B0503020204020204" pitchFamily="34" charset="-122"/>
              </a:rPr>
              <a:t>B</a:t>
            </a:r>
          </a:p>
        </p:txBody>
      </p:sp>
      <p:sp>
        <p:nvSpPr>
          <p:cNvPr id="129" name="Rectangle 98"/>
          <p:cNvSpPr>
            <a:spLocks noChangeArrowheads="1"/>
          </p:cNvSpPr>
          <p:nvPr/>
        </p:nvSpPr>
        <p:spPr bwMode="auto">
          <a:xfrm>
            <a:off x="2650927" y="1247276"/>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solidFill>
                  <a:srgbClr val="C00000"/>
                </a:solidFill>
                <a:latin typeface="微软雅黑" panose="020B0503020204020204" pitchFamily="34" charset="-122"/>
                <a:ea typeface="微软雅黑" panose="020B0503020204020204" pitchFamily="34" charset="-122"/>
              </a:rPr>
              <a:t>应用进程</a:t>
            </a:r>
          </a:p>
        </p:txBody>
      </p:sp>
      <p:sp>
        <p:nvSpPr>
          <p:cNvPr id="130" name="Freeform 100"/>
          <p:cNvSpPr>
            <a:spLocks/>
          </p:cNvSpPr>
          <p:nvPr/>
        </p:nvSpPr>
        <p:spPr bwMode="auto">
          <a:xfrm>
            <a:off x="6218693" y="1397986"/>
            <a:ext cx="370146" cy="83311"/>
          </a:xfrm>
          <a:custGeom>
            <a:avLst/>
            <a:gdLst>
              <a:gd name="T0" fmla="*/ 0 w 297"/>
              <a:gd name="T1" fmla="*/ 0 h 105"/>
              <a:gd name="T2" fmla="*/ 2147483647 w 297"/>
              <a:gd name="T3" fmla="*/ 2147483647 h 105"/>
              <a:gd name="T4" fmla="*/ 0 60000 65536"/>
              <a:gd name="T5" fmla="*/ 0 60000 65536"/>
              <a:gd name="T6" fmla="*/ 0 w 297"/>
              <a:gd name="T7" fmla="*/ 0 h 105"/>
              <a:gd name="T8" fmla="*/ 297 w 297"/>
              <a:gd name="T9" fmla="*/ 105 h 105"/>
            </a:gdLst>
            <a:ahLst/>
            <a:cxnLst>
              <a:cxn ang="T4">
                <a:pos x="T0" y="T1"/>
              </a:cxn>
              <a:cxn ang="T5">
                <a:pos x="T2" y="T3"/>
              </a:cxn>
            </a:cxnLst>
            <a:rect l="T6" t="T7" r="T8" b="T9"/>
            <a:pathLst>
              <a:path w="297" h="105">
                <a:moveTo>
                  <a:pt x="0" y="0"/>
                </a:moveTo>
                <a:lnTo>
                  <a:pt x="297" y="105"/>
                </a:lnTo>
              </a:path>
            </a:pathLst>
          </a:custGeom>
          <a:noFill/>
          <a:ln w="12700">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1" name="Rectangle 101"/>
          <p:cNvSpPr>
            <a:spLocks noChangeArrowheads="1"/>
          </p:cNvSpPr>
          <p:nvPr/>
        </p:nvSpPr>
        <p:spPr bwMode="auto">
          <a:xfrm>
            <a:off x="5474686" y="1247276"/>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solidFill>
                  <a:srgbClr val="C00000"/>
                </a:solidFill>
                <a:latin typeface="微软雅黑" panose="020B0503020204020204" pitchFamily="34" charset="-122"/>
                <a:ea typeface="微软雅黑" panose="020B0503020204020204" pitchFamily="34" charset="-122"/>
              </a:rPr>
              <a:t>应用进程</a:t>
            </a:r>
          </a:p>
        </p:txBody>
      </p:sp>
      <p:sp>
        <p:nvSpPr>
          <p:cNvPr id="132" name="AutoShape 102"/>
          <p:cNvSpPr>
            <a:spLocks noChangeArrowheads="1"/>
          </p:cNvSpPr>
          <p:nvPr/>
        </p:nvSpPr>
        <p:spPr bwMode="auto">
          <a:xfrm>
            <a:off x="2533322" y="1716255"/>
            <a:ext cx="3996096" cy="111394"/>
          </a:xfrm>
          <a:prstGeom prst="leftRightArrow">
            <a:avLst>
              <a:gd name="adj1" fmla="val 59167"/>
              <a:gd name="adj2" fmla="val 216108"/>
            </a:avLst>
          </a:prstGeom>
          <a:solidFill>
            <a:schemeClr val="accent6">
              <a:lumMod val="75000"/>
            </a:schemeClr>
          </a:solidFill>
          <a:ln w="6350">
            <a:solidFill>
              <a:srgbClr val="000066"/>
            </a:solidFill>
            <a:miter lim="800000"/>
            <a:headEnd/>
            <a:tailEnd/>
          </a:ln>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133" name="Rectangle 76"/>
          <p:cNvSpPr>
            <a:spLocks noChangeArrowheads="1"/>
          </p:cNvSpPr>
          <p:nvPr/>
        </p:nvSpPr>
        <p:spPr bwMode="auto">
          <a:xfrm>
            <a:off x="3381058" y="3015764"/>
            <a:ext cx="78547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路由器 </a:t>
            </a:r>
            <a:r>
              <a:rPr lang="en-US" altLang="zh-CN" sz="1200" b="1" dirty="0">
                <a:latin typeface="微软雅黑" panose="020B0503020204020204" pitchFamily="34" charset="-122"/>
                <a:ea typeface="微软雅黑" panose="020B0503020204020204" pitchFamily="34" charset="-122"/>
              </a:rPr>
              <a:t>1</a:t>
            </a:r>
          </a:p>
        </p:txBody>
      </p:sp>
      <p:pic>
        <p:nvPicPr>
          <p:cNvPr id="134" name="Picture 10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79114" y="3240317"/>
            <a:ext cx="497655" cy="22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35" name="Rectangle 103"/>
          <p:cNvSpPr>
            <a:spLocks noChangeArrowheads="1"/>
          </p:cNvSpPr>
          <p:nvPr/>
        </p:nvSpPr>
        <p:spPr bwMode="auto">
          <a:xfrm>
            <a:off x="4897544" y="3015764"/>
            <a:ext cx="78547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latin typeface="微软雅黑" panose="020B0503020204020204" pitchFamily="34" charset="-122"/>
                <a:ea typeface="微软雅黑" panose="020B0503020204020204" pitchFamily="34" charset="-122"/>
              </a:rPr>
              <a:t>路由器 </a:t>
            </a:r>
            <a:r>
              <a:rPr lang="en-US" altLang="zh-CN" sz="1200" b="1">
                <a:latin typeface="微软雅黑" panose="020B0503020204020204" pitchFamily="34" charset="-122"/>
                <a:ea typeface="微软雅黑" panose="020B0503020204020204" pitchFamily="34" charset="-122"/>
              </a:rPr>
              <a:t>2</a:t>
            </a:r>
          </a:p>
        </p:txBody>
      </p:sp>
      <p:sp>
        <p:nvSpPr>
          <p:cNvPr id="136" name="Oval 113"/>
          <p:cNvSpPr>
            <a:spLocks noChangeArrowheads="1"/>
          </p:cNvSpPr>
          <p:nvPr/>
        </p:nvSpPr>
        <p:spPr bwMode="auto">
          <a:xfrm>
            <a:off x="1697707" y="3162622"/>
            <a:ext cx="434519"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7" name="Rectangle 114"/>
          <p:cNvSpPr>
            <a:spLocks noChangeArrowheads="1"/>
          </p:cNvSpPr>
          <p:nvPr/>
        </p:nvSpPr>
        <p:spPr bwMode="auto">
          <a:xfrm>
            <a:off x="1728655" y="3116092"/>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sp>
        <p:nvSpPr>
          <p:cNvPr id="138" name="Oval 138"/>
          <p:cNvSpPr>
            <a:spLocks noChangeArrowheads="1"/>
          </p:cNvSpPr>
          <p:nvPr/>
        </p:nvSpPr>
        <p:spPr bwMode="auto">
          <a:xfrm>
            <a:off x="6984983" y="1359606"/>
            <a:ext cx="434520" cy="161943"/>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9" name="Line 157"/>
          <p:cNvSpPr>
            <a:spLocks noChangeShapeType="1"/>
          </p:cNvSpPr>
          <p:nvPr/>
        </p:nvSpPr>
        <p:spPr bwMode="auto">
          <a:xfrm rot="5400000">
            <a:off x="3501724" y="2390705"/>
            <a:ext cx="4895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0" name="Line 158"/>
          <p:cNvSpPr>
            <a:spLocks noChangeShapeType="1"/>
          </p:cNvSpPr>
          <p:nvPr/>
        </p:nvSpPr>
        <p:spPr bwMode="auto">
          <a:xfrm rot="5400000">
            <a:off x="5007507" y="2389301"/>
            <a:ext cx="49612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5" name="Oval 162"/>
          <p:cNvSpPr>
            <a:spLocks noChangeArrowheads="1"/>
          </p:cNvSpPr>
          <p:nvPr/>
        </p:nvSpPr>
        <p:spPr bwMode="auto">
          <a:xfrm>
            <a:off x="2466472" y="3309587"/>
            <a:ext cx="105226" cy="71143"/>
          </a:xfrm>
          <a:prstGeom prst="ellipse">
            <a:avLst/>
          </a:prstGeom>
          <a:solidFill>
            <a:schemeClr val="bg1"/>
          </a:solidFill>
          <a:ln w="2857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46" name="Oval 34"/>
          <p:cNvSpPr>
            <a:spLocks noChangeArrowheads="1"/>
          </p:cNvSpPr>
          <p:nvPr/>
        </p:nvSpPr>
        <p:spPr bwMode="auto">
          <a:xfrm>
            <a:off x="1687803" y="3380479"/>
            <a:ext cx="434519"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47" name="Rectangle 35"/>
          <p:cNvSpPr>
            <a:spLocks noChangeArrowheads="1"/>
          </p:cNvSpPr>
          <p:nvPr/>
        </p:nvSpPr>
        <p:spPr bwMode="auto">
          <a:xfrm>
            <a:off x="1700183" y="3333948"/>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2</a:t>
            </a:r>
            <a:endParaRPr lang="en-US" altLang="zh-CN" sz="1200" b="1" dirty="0">
              <a:latin typeface="微软雅黑" panose="020B0503020204020204" pitchFamily="34" charset="-122"/>
              <a:ea typeface="微软雅黑" panose="020B0503020204020204" pitchFamily="34" charset="-122"/>
            </a:endParaRPr>
          </a:p>
        </p:txBody>
      </p:sp>
      <p:sp>
        <p:nvSpPr>
          <p:cNvPr id="148" name="Rectangle 163"/>
          <p:cNvSpPr>
            <a:spLocks noChangeArrowheads="1"/>
          </p:cNvSpPr>
          <p:nvPr/>
        </p:nvSpPr>
        <p:spPr bwMode="auto">
          <a:xfrm flipH="1">
            <a:off x="6502183" y="3105520"/>
            <a:ext cx="995310" cy="491119"/>
          </a:xfrm>
          <a:prstGeom prst="rect">
            <a:avLst/>
          </a:prstGeom>
          <a:solidFill>
            <a:schemeClr val="bg1"/>
          </a:solidFill>
          <a:ln w="9525">
            <a:solidFill>
              <a:schemeClr val="tx1"/>
            </a:solidFill>
            <a:miter lim="800000"/>
            <a:headEnd/>
            <a:tailEnd/>
          </a:ln>
          <a:effectLst/>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149" name="Freeform 164"/>
          <p:cNvSpPr>
            <a:spLocks/>
          </p:cNvSpPr>
          <p:nvPr/>
        </p:nvSpPr>
        <p:spPr bwMode="auto">
          <a:xfrm flipH="1">
            <a:off x="6502183" y="3258103"/>
            <a:ext cx="450613" cy="85184"/>
          </a:xfrm>
          <a:custGeom>
            <a:avLst/>
            <a:gdLst>
              <a:gd name="T0" fmla="*/ 0 w 382"/>
              <a:gd name="T1" fmla="*/ 0 h 277"/>
              <a:gd name="T2" fmla="*/ 2147483647 w 382"/>
              <a:gd name="T3" fmla="*/ 0 h 277"/>
              <a:gd name="T4" fmla="*/ 2147483647 w 382"/>
              <a:gd name="T5" fmla="*/ 2147483647 h 277"/>
              <a:gd name="T6" fmla="*/ 2147483647 w 382"/>
              <a:gd name="T7" fmla="*/ 2147483647 h 277"/>
              <a:gd name="T8" fmla="*/ 2147483647 w 382"/>
              <a:gd name="T9" fmla="*/ 2147483647 h 277"/>
              <a:gd name="T10" fmla="*/ 2147483647 w 382"/>
              <a:gd name="T11" fmla="*/ 2147483647 h 277"/>
              <a:gd name="T12" fmla="*/ 2147483647 w 382"/>
              <a:gd name="T13" fmla="*/ 2147483647 h 277"/>
              <a:gd name="T14" fmla="*/ 2147483647 w 382"/>
              <a:gd name="T15" fmla="*/ 2147483647 h 277"/>
              <a:gd name="T16" fmla="*/ 2147483647 w 382"/>
              <a:gd name="T17" fmla="*/ 2147483647 h 277"/>
              <a:gd name="T18" fmla="*/ 2147483647 w 382"/>
              <a:gd name="T19" fmla="*/ 2147483647 h 277"/>
              <a:gd name="T20" fmla="*/ 2147483647 w 382"/>
              <a:gd name="T21" fmla="*/ 2147483647 h 277"/>
              <a:gd name="T22" fmla="*/ 2147483647 w 382"/>
              <a:gd name="T23" fmla="*/ 2147483647 h 277"/>
              <a:gd name="T24" fmla="*/ 2147483647 w 382"/>
              <a:gd name="T25" fmla="*/ 2147483647 h 277"/>
              <a:gd name="T26" fmla="*/ 2147483647 w 382"/>
              <a:gd name="T27" fmla="*/ 2147483647 h 277"/>
              <a:gd name="T28" fmla="*/ 2147483647 w 382"/>
              <a:gd name="T29" fmla="*/ 2147483647 h 277"/>
              <a:gd name="T30" fmla="*/ 2147483647 w 382"/>
              <a:gd name="T31" fmla="*/ 2147483647 h 277"/>
              <a:gd name="T32" fmla="*/ 2147483647 w 382"/>
              <a:gd name="T33" fmla="*/ 2147483647 h 277"/>
              <a:gd name="T34" fmla="*/ 2147483647 w 382"/>
              <a:gd name="T35" fmla="*/ 2147483647 h 277"/>
              <a:gd name="T36" fmla="*/ 2147483647 w 382"/>
              <a:gd name="T37" fmla="*/ 2147483647 h 277"/>
              <a:gd name="T38" fmla="*/ 2147483647 w 382"/>
              <a:gd name="T39" fmla="*/ 2147483647 h 277"/>
              <a:gd name="T40" fmla="*/ 2147483647 w 382"/>
              <a:gd name="T41" fmla="*/ 2147483647 h 277"/>
              <a:gd name="T42" fmla="*/ 2147483647 w 382"/>
              <a:gd name="T43" fmla="*/ 2147483647 h 277"/>
              <a:gd name="T44" fmla="*/ 2147483647 w 382"/>
              <a:gd name="T45" fmla="*/ 2147483647 h 277"/>
              <a:gd name="T46" fmla="*/ 2147483647 w 382"/>
              <a:gd name="T47" fmla="*/ 2147483647 h 277"/>
              <a:gd name="T48" fmla="*/ 2147483647 w 382"/>
              <a:gd name="T49" fmla="*/ 2147483647 h 277"/>
              <a:gd name="T50" fmla="*/ 2147483647 w 382"/>
              <a:gd name="T51" fmla="*/ 2147483647 h 277"/>
              <a:gd name="T52" fmla="*/ 2147483647 w 382"/>
              <a:gd name="T53" fmla="*/ 2147483647 h 277"/>
              <a:gd name="T54" fmla="*/ 2147483647 w 382"/>
              <a:gd name="T55" fmla="*/ 2147483647 h 277"/>
              <a:gd name="T56" fmla="*/ 2147483647 w 382"/>
              <a:gd name="T57" fmla="*/ 2147483647 h 277"/>
              <a:gd name="T58" fmla="*/ 2147483647 w 382"/>
              <a:gd name="T59" fmla="*/ 2147483647 h 277"/>
              <a:gd name="T60" fmla="*/ 2147483647 w 382"/>
              <a:gd name="T61" fmla="*/ 2147483647 h 277"/>
              <a:gd name="T62" fmla="*/ 2147483647 w 382"/>
              <a:gd name="T63" fmla="*/ 2147483647 h 277"/>
              <a:gd name="T64" fmla="*/ 2147483647 w 382"/>
              <a:gd name="T65" fmla="*/ 2147483647 h 277"/>
              <a:gd name="T66" fmla="*/ 2147483647 w 382"/>
              <a:gd name="T67" fmla="*/ 2147483647 h 277"/>
              <a:gd name="T68" fmla="*/ 2147483647 w 382"/>
              <a:gd name="T69" fmla="*/ 2147483647 h 277"/>
              <a:gd name="T70" fmla="*/ 2147483647 w 382"/>
              <a:gd name="T71" fmla="*/ 2147483647 h 277"/>
              <a:gd name="T72" fmla="*/ 2147483647 w 382"/>
              <a:gd name="T73" fmla="*/ 2147483647 h 277"/>
              <a:gd name="T74" fmla="*/ 2147483647 w 382"/>
              <a:gd name="T75" fmla="*/ 2147483647 h 277"/>
              <a:gd name="T76" fmla="*/ 2147483647 w 382"/>
              <a:gd name="T77" fmla="*/ 2147483647 h 277"/>
              <a:gd name="T78" fmla="*/ 2147483647 w 382"/>
              <a:gd name="T79" fmla="*/ 2147483647 h 277"/>
              <a:gd name="T80" fmla="*/ 2147483647 w 382"/>
              <a:gd name="T81" fmla="*/ 2147483647 h 277"/>
              <a:gd name="T82" fmla="*/ 2147483647 w 382"/>
              <a:gd name="T83" fmla="*/ 2147483647 h 277"/>
              <a:gd name="T84" fmla="*/ 2147483647 w 382"/>
              <a:gd name="T85" fmla="*/ 2147483647 h 277"/>
              <a:gd name="T86" fmla="*/ 2147483647 w 382"/>
              <a:gd name="T87" fmla="*/ 2147483647 h 277"/>
              <a:gd name="T88" fmla="*/ 2147483647 w 382"/>
              <a:gd name="T89" fmla="*/ 2147483647 h 277"/>
              <a:gd name="T90" fmla="*/ 2147483647 w 382"/>
              <a:gd name="T91" fmla="*/ 2147483647 h 27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82"/>
              <a:gd name="T139" fmla="*/ 0 h 277"/>
              <a:gd name="T140" fmla="*/ 382 w 382"/>
              <a:gd name="T141" fmla="*/ 277 h 27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0" name="Freeform 165"/>
          <p:cNvSpPr>
            <a:spLocks/>
          </p:cNvSpPr>
          <p:nvPr/>
        </p:nvSpPr>
        <p:spPr bwMode="auto">
          <a:xfrm flipH="1">
            <a:off x="6502183" y="3354519"/>
            <a:ext cx="488990" cy="95481"/>
          </a:xfrm>
          <a:custGeom>
            <a:avLst/>
            <a:gdLst>
              <a:gd name="T0" fmla="*/ 0 w 334"/>
              <a:gd name="T1" fmla="*/ 2147483647 h 244"/>
              <a:gd name="T2" fmla="*/ 2147483647 w 334"/>
              <a:gd name="T3" fmla="*/ 2147483647 h 244"/>
              <a:gd name="T4" fmla="*/ 2147483647 w 334"/>
              <a:gd name="T5" fmla="*/ 2147483647 h 244"/>
              <a:gd name="T6" fmla="*/ 2147483647 w 334"/>
              <a:gd name="T7" fmla="*/ 2147483647 h 244"/>
              <a:gd name="T8" fmla="*/ 2147483647 w 334"/>
              <a:gd name="T9" fmla="*/ 2147483647 h 244"/>
              <a:gd name="T10" fmla="*/ 2147483647 w 334"/>
              <a:gd name="T11" fmla="*/ 2147483647 h 244"/>
              <a:gd name="T12" fmla="*/ 2147483647 w 334"/>
              <a:gd name="T13" fmla="*/ 2147483647 h 244"/>
              <a:gd name="T14" fmla="*/ 2147483647 w 334"/>
              <a:gd name="T15" fmla="*/ 2147483647 h 244"/>
              <a:gd name="T16" fmla="*/ 2147483647 w 334"/>
              <a:gd name="T17" fmla="*/ 2147483647 h 244"/>
              <a:gd name="T18" fmla="*/ 2147483647 w 334"/>
              <a:gd name="T19" fmla="*/ 2147483647 h 244"/>
              <a:gd name="T20" fmla="*/ 2147483647 w 334"/>
              <a:gd name="T21" fmla="*/ 2147483647 h 244"/>
              <a:gd name="T22" fmla="*/ 2147483647 w 334"/>
              <a:gd name="T23" fmla="*/ 2147483647 h 244"/>
              <a:gd name="T24" fmla="*/ 2147483647 w 334"/>
              <a:gd name="T25" fmla="*/ 2147483647 h 244"/>
              <a:gd name="T26" fmla="*/ 2147483647 w 334"/>
              <a:gd name="T27" fmla="*/ 2147483647 h 244"/>
              <a:gd name="T28" fmla="*/ 2147483647 w 334"/>
              <a:gd name="T29" fmla="*/ 2147483647 h 244"/>
              <a:gd name="T30" fmla="*/ 2147483647 w 334"/>
              <a:gd name="T31" fmla="*/ 2147483647 h 244"/>
              <a:gd name="T32" fmla="*/ 2147483647 w 334"/>
              <a:gd name="T33" fmla="*/ 2147483647 h 244"/>
              <a:gd name="T34" fmla="*/ 2147483647 w 334"/>
              <a:gd name="T35" fmla="*/ 2147483647 h 244"/>
              <a:gd name="T36" fmla="*/ 2147483647 w 334"/>
              <a:gd name="T37" fmla="*/ 2147483647 h 244"/>
              <a:gd name="T38" fmla="*/ 2147483647 w 334"/>
              <a:gd name="T39" fmla="*/ 2147483647 h 244"/>
              <a:gd name="T40" fmla="*/ 2147483647 w 334"/>
              <a:gd name="T41" fmla="*/ 2147483647 h 244"/>
              <a:gd name="T42" fmla="*/ 2147483647 w 334"/>
              <a:gd name="T43" fmla="*/ 2147483647 h 244"/>
              <a:gd name="T44" fmla="*/ 2147483647 w 334"/>
              <a:gd name="T45" fmla="*/ 2147483647 h 244"/>
              <a:gd name="T46" fmla="*/ 2147483647 w 334"/>
              <a:gd name="T47" fmla="*/ 2147483647 h 244"/>
              <a:gd name="T48" fmla="*/ 2147483647 w 334"/>
              <a:gd name="T49" fmla="*/ 2147483647 h 244"/>
              <a:gd name="T50" fmla="*/ 2147483647 w 334"/>
              <a:gd name="T51" fmla="*/ 2147483647 h 244"/>
              <a:gd name="T52" fmla="*/ 2147483647 w 334"/>
              <a:gd name="T53" fmla="*/ 2147483647 h 244"/>
              <a:gd name="T54" fmla="*/ 2147483647 w 334"/>
              <a:gd name="T55" fmla="*/ 2147483647 h 244"/>
              <a:gd name="T56" fmla="*/ 2147483647 w 334"/>
              <a:gd name="T57" fmla="*/ 2147483647 h 244"/>
              <a:gd name="T58" fmla="*/ 2147483647 w 334"/>
              <a:gd name="T59" fmla="*/ 2147483647 h 244"/>
              <a:gd name="T60" fmla="*/ 2147483647 w 334"/>
              <a:gd name="T61" fmla="*/ 2147483647 h 244"/>
              <a:gd name="T62" fmla="*/ 2147483647 w 334"/>
              <a:gd name="T63" fmla="*/ 2147483647 h 244"/>
              <a:gd name="T64" fmla="*/ 2147483647 w 334"/>
              <a:gd name="T65" fmla="*/ 2147483647 h 244"/>
              <a:gd name="T66" fmla="*/ 2147483647 w 334"/>
              <a:gd name="T67" fmla="*/ 2147483647 h 244"/>
              <a:gd name="T68" fmla="*/ 2147483647 w 334"/>
              <a:gd name="T69" fmla="*/ 2147483647 h 244"/>
              <a:gd name="T70" fmla="*/ 2147483647 w 334"/>
              <a:gd name="T71" fmla="*/ 2147483647 h 244"/>
              <a:gd name="T72" fmla="*/ 2147483647 w 334"/>
              <a:gd name="T73" fmla="*/ 2147483647 h 244"/>
              <a:gd name="T74" fmla="*/ 2147483647 w 334"/>
              <a:gd name="T75" fmla="*/ 2147483647 h 244"/>
              <a:gd name="T76" fmla="*/ 2147483647 w 334"/>
              <a:gd name="T77" fmla="*/ 2147483647 h 244"/>
              <a:gd name="T78" fmla="*/ 2147483647 w 334"/>
              <a:gd name="T79" fmla="*/ 0 h 24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34"/>
              <a:gd name="T121" fmla="*/ 0 h 244"/>
              <a:gd name="T122" fmla="*/ 334 w 334"/>
              <a:gd name="T123" fmla="*/ 244 h 24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1" name="Oval 167"/>
          <p:cNvSpPr>
            <a:spLocks noChangeArrowheads="1"/>
          </p:cNvSpPr>
          <p:nvPr/>
        </p:nvSpPr>
        <p:spPr bwMode="auto">
          <a:xfrm flipH="1">
            <a:off x="6816622" y="3162622"/>
            <a:ext cx="434520"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2" name="Rectangle 168"/>
          <p:cNvSpPr>
            <a:spLocks noChangeArrowheads="1"/>
          </p:cNvSpPr>
          <p:nvPr/>
        </p:nvSpPr>
        <p:spPr bwMode="auto">
          <a:xfrm flipH="1">
            <a:off x="6822814" y="3116092"/>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3</a:t>
            </a:r>
            <a:endParaRPr lang="en-US" altLang="zh-CN" sz="1200" b="1">
              <a:latin typeface="微软雅黑" panose="020B0503020204020204" pitchFamily="34" charset="-122"/>
              <a:ea typeface="微软雅黑" panose="020B0503020204020204" pitchFamily="34" charset="-122"/>
            </a:endParaRPr>
          </a:p>
        </p:txBody>
      </p:sp>
      <p:sp>
        <p:nvSpPr>
          <p:cNvPr id="153" name="Oval 169"/>
          <p:cNvSpPr>
            <a:spLocks noChangeArrowheads="1"/>
          </p:cNvSpPr>
          <p:nvPr/>
        </p:nvSpPr>
        <p:spPr bwMode="auto">
          <a:xfrm flipH="1">
            <a:off x="6445238" y="3309587"/>
            <a:ext cx="105226" cy="71143"/>
          </a:xfrm>
          <a:prstGeom prst="ellipse">
            <a:avLst/>
          </a:prstGeom>
          <a:solidFill>
            <a:schemeClr val="bg1"/>
          </a:solidFill>
          <a:ln w="2857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4" name="Oval 171"/>
          <p:cNvSpPr>
            <a:spLocks noChangeArrowheads="1"/>
          </p:cNvSpPr>
          <p:nvPr/>
        </p:nvSpPr>
        <p:spPr bwMode="auto">
          <a:xfrm flipH="1">
            <a:off x="6806718" y="3389444"/>
            <a:ext cx="434520"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5" name="Rectangle 172"/>
          <p:cNvSpPr>
            <a:spLocks noChangeArrowheads="1"/>
          </p:cNvSpPr>
          <p:nvPr/>
        </p:nvSpPr>
        <p:spPr bwMode="auto">
          <a:xfrm flipH="1">
            <a:off x="6822814" y="3314541"/>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4</a:t>
            </a:r>
            <a:endParaRPr lang="en-US" altLang="zh-CN" sz="1200" b="1" dirty="0">
              <a:latin typeface="微软雅黑" panose="020B0503020204020204" pitchFamily="34" charset="-122"/>
              <a:ea typeface="微软雅黑" panose="020B0503020204020204" pitchFamily="34" charset="-122"/>
            </a:endParaRPr>
          </a:p>
        </p:txBody>
      </p:sp>
      <p:sp>
        <p:nvSpPr>
          <p:cNvPr id="156" name="Rectangle 175"/>
          <p:cNvSpPr>
            <a:spLocks noChangeArrowheads="1"/>
          </p:cNvSpPr>
          <p:nvPr/>
        </p:nvSpPr>
        <p:spPr bwMode="auto">
          <a:xfrm>
            <a:off x="4266449" y="1920322"/>
            <a:ext cx="535404"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IP </a:t>
            </a:r>
            <a:r>
              <a:rPr lang="zh-CN" altLang="en-US" sz="1200" b="1">
                <a:latin typeface="微软雅黑" panose="020B0503020204020204" pitchFamily="34" charset="-122"/>
                <a:ea typeface="微软雅黑" panose="020B0503020204020204" pitchFamily="34" charset="-122"/>
              </a:rPr>
              <a:t>层</a:t>
            </a:r>
          </a:p>
        </p:txBody>
      </p:sp>
      <p:sp>
        <p:nvSpPr>
          <p:cNvPr id="159" name="Freeform 99"/>
          <p:cNvSpPr>
            <a:spLocks/>
          </p:cNvSpPr>
          <p:nvPr/>
        </p:nvSpPr>
        <p:spPr bwMode="auto">
          <a:xfrm>
            <a:off x="2461521" y="1405474"/>
            <a:ext cx="225307" cy="66462"/>
          </a:xfrm>
          <a:custGeom>
            <a:avLst/>
            <a:gdLst>
              <a:gd name="T0" fmla="*/ 2147483647 w 174"/>
              <a:gd name="T1" fmla="*/ 0 h 84"/>
              <a:gd name="T2" fmla="*/ 0 w 174"/>
              <a:gd name="T3" fmla="*/ 2147483647 h 84"/>
              <a:gd name="T4" fmla="*/ 0 60000 65536"/>
              <a:gd name="T5" fmla="*/ 0 60000 65536"/>
              <a:gd name="T6" fmla="*/ 0 w 174"/>
              <a:gd name="T7" fmla="*/ 0 h 84"/>
              <a:gd name="T8" fmla="*/ 174 w 174"/>
              <a:gd name="T9" fmla="*/ 84 h 84"/>
            </a:gdLst>
            <a:ahLst/>
            <a:cxnLst>
              <a:cxn ang="T4">
                <a:pos x="T0" y="T1"/>
              </a:cxn>
              <a:cxn ang="T5">
                <a:pos x="T2" y="T3"/>
              </a:cxn>
            </a:cxnLst>
            <a:rect l="T6" t="T7" r="T8" b="T9"/>
            <a:pathLst>
              <a:path w="174" h="84">
                <a:moveTo>
                  <a:pt x="174" y="0"/>
                </a:moveTo>
                <a:lnTo>
                  <a:pt x="0" y="84"/>
                </a:lnTo>
              </a:path>
            </a:pathLst>
          </a:custGeom>
          <a:noFill/>
          <a:ln w="12700">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0" name="Oval 131"/>
          <p:cNvSpPr>
            <a:spLocks noChangeArrowheads="1"/>
          </p:cNvSpPr>
          <p:nvPr/>
        </p:nvSpPr>
        <p:spPr bwMode="auto">
          <a:xfrm>
            <a:off x="1576388" y="1355862"/>
            <a:ext cx="434519" cy="163815"/>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1" name="Rectangle 132"/>
          <p:cNvSpPr>
            <a:spLocks noChangeArrowheads="1"/>
          </p:cNvSpPr>
          <p:nvPr/>
        </p:nvSpPr>
        <p:spPr bwMode="auto">
          <a:xfrm>
            <a:off x="1608575" y="1301843"/>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grpSp>
        <p:nvGrpSpPr>
          <p:cNvPr id="162" name="Group 197"/>
          <p:cNvGrpSpPr>
            <a:grpSpLocks/>
          </p:cNvGrpSpPr>
          <p:nvPr/>
        </p:nvGrpSpPr>
        <p:grpSpPr bwMode="auto">
          <a:xfrm>
            <a:off x="2045571" y="1370790"/>
            <a:ext cx="481751" cy="274572"/>
            <a:chOff x="798" y="803"/>
            <a:chExt cx="408" cy="345"/>
          </a:xfrm>
          <a:solidFill>
            <a:schemeClr val="accent6">
              <a:lumMod val="75000"/>
            </a:schemeClr>
          </a:solidFill>
        </p:grpSpPr>
        <p:sp>
          <p:nvSpPr>
            <p:cNvPr id="163" name="Oval 128"/>
            <p:cNvSpPr>
              <a:spLocks noChangeArrowheads="1"/>
            </p:cNvSpPr>
            <p:nvPr/>
          </p:nvSpPr>
          <p:spPr bwMode="auto">
            <a:xfrm>
              <a:off x="798" y="849"/>
              <a:ext cx="368" cy="204"/>
            </a:xfrm>
            <a:prstGeom prst="ellipse">
              <a:avLst/>
            </a:prstGeom>
            <a:grp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4" name="Rectangle 129"/>
            <p:cNvSpPr>
              <a:spLocks noChangeArrowheads="1"/>
            </p:cNvSpPr>
            <p:nvPr/>
          </p:nvSpPr>
          <p:spPr bwMode="auto">
            <a:xfrm>
              <a:off x="815" y="803"/>
              <a:ext cx="391" cy="34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2</a:t>
              </a:r>
              <a:endParaRPr lang="en-US" altLang="zh-CN" sz="1200" b="1" dirty="0">
                <a:latin typeface="微软雅黑" panose="020B0503020204020204" pitchFamily="34" charset="-122"/>
                <a:ea typeface="微软雅黑" panose="020B0503020204020204" pitchFamily="34" charset="-122"/>
              </a:endParaRPr>
            </a:p>
          </p:txBody>
        </p:sp>
      </p:grpSp>
      <p:sp>
        <p:nvSpPr>
          <p:cNvPr id="165" name="Rectangle 139"/>
          <p:cNvSpPr>
            <a:spLocks noChangeArrowheads="1"/>
          </p:cNvSpPr>
          <p:nvPr/>
        </p:nvSpPr>
        <p:spPr bwMode="auto">
          <a:xfrm>
            <a:off x="7003552" y="1321501"/>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4</a:t>
            </a:r>
            <a:endParaRPr lang="en-US" altLang="zh-CN" sz="1200" b="1">
              <a:latin typeface="微软雅黑" panose="020B0503020204020204" pitchFamily="34" charset="-122"/>
              <a:ea typeface="微软雅黑" panose="020B0503020204020204" pitchFamily="34" charset="-122"/>
            </a:endParaRPr>
          </a:p>
        </p:txBody>
      </p:sp>
      <p:sp>
        <p:nvSpPr>
          <p:cNvPr id="166" name="Oval 135"/>
          <p:cNvSpPr>
            <a:spLocks noChangeArrowheads="1"/>
          </p:cNvSpPr>
          <p:nvPr/>
        </p:nvSpPr>
        <p:spPr bwMode="auto">
          <a:xfrm>
            <a:off x="6555415" y="1427004"/>
            <a:ext cx="433282"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7" name="Rectangle 136"/>
          <p:cNvSpPr>
            <a:spLocks noChangeArrowheads="1"/>
          </p:cNvSpPr>
          <p:nvPr/>
        </p:nvSpPr>
        <p:spPr bwMode="auto">
          <a:xfrm>
            <a:off x="6572747" y="1382346"/>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3</a:t>
            </a:r>
            <a:endParaRPr lang="en-US" altLang="zh-CN" sz="1200" b="1">
              <a:latin typeface="微软雅黑" panose="020B0503020204020204" pitchFamily="34" charset="-122"/>
              <a:ea typeface="微软雅黑" panose="020B0503020204020204" pitchFamily="34" charset="-122"/>
            </a:endParaRPr>
          </a:p>
        </p:txBody>
      </p:sp>
      <p:sp>
        <p:nvSpPr>
          <p:cNvPr id="169" name="Line 233"/>
          <p:cNvSpPr>
            <a:spLocks noChangeShapeType="1"/>
          </p:cNvSpPr>
          <p:nvPr/>
        </p:nvSpPr>
        <p:spPr bwMode="auto">
          <a:xfrm>
            <a:off x="2537036" y="3756101"/>
            <a:ext cx="3962671" cy="0"/>
          </a:xfrm>
          <a:prstGeom prst="line">
            <a:avLst/>
          </a:prstGeom>
          <a:noFill/>
          <a:ln w="19050">
            <a:solidFill>
              <a:srgbClr val="0000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0" name="Line 234"/>
          <p:cNvSpPr>
            <a:spLocks noChangeShapeType="1"/>
          </p:cNvSpPr>
          <p:nvPr/>
        </p:nvSpPr>
        <p:spPr bwMode="auto">
          <a:xfrm>
            <a:off x="2537036" y="3603518"/>
            <a:ext cx="0" cy="267721"/>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1" name="Line 235"/>
          <p:cNvSpPr>
            <a:spLocks noChangeShapeType="1"/>
          </p:cNvSpPr>
          <p:nvPr/>
        </p:nvSpPr>
        <p:spPr bwMode="auto">
          <a:xfrm>
            <a:off x="6502183" y="3603518"/>
            <a:ext cx="0" cy="267721"/>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2" name="Rectangle 236"/>
          <p:cNvSpPr>
            <a:spLocks noChangeArrowheads="1"/>
          </p:cNvSpPr>
          <p:nvPr/>
        </p:nvSpPr>
        <p:spPr bwMode="auto">
          <a:xfrm>
            <a:off x="3208004" y="3621745"/>
            <a:ext cx="2491068" cy="274434"/>
          </a:xfrm>
          <a:prstGeom prst="rect">
            <a:avLst/>
          </a:prstGeom>
          <a:solidFill>
            <a:srgbClr val="C3E3F9"/>
          </a:solidFill>
          <a:ln>
            <a:noFill/>
          </a:ln>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网络层为主机之间的通信提供服务</a:t>
            </a:r>
          </a:p>
        </p:txBody>
      </p:sp>
      <p:sp>
        <p:nvSpPr>
          <p:cNvPr id="173" name="Line 237"/>
          <p:cNvSpPr>
            <a:spLocks noChangeShapeType="1"/>
          </p:cNvSpPr>
          <p:nvPr/>
        </p:nvSpPr>
        <p:spPr bwMode="auto">
          <a:xfrm flipH="1">
            <a:off x="2282019" y="3455617"/>
            <a:ext cx="3713" cy="686151"/>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4" name="Line 238"/>
          <p:cNvSpPr>
            <a:spLocks noChangeShapeType="1"/>
          </p:cNvSpPr>
          <p:nvPr/>
        </p:nvSpPr>
        <p:spPr bwMode="auto">
          <a:xfrm flipH="1">
            <a:off x="6689114" y="3449064"/>
            <a:ext cx="0" cy="651516"/>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5" name="Line 239"/>
          <p:cNvSpPr>
            <a:spLocks noChangeShapeType="1"/>
          </p:cNvSpPr>
          <p:nvPr/>
        </p:nvSpPr>
        <p:spPr bwMode="auto">
          <a:xfrm flipV="1">
            <a:off x="2296874" y="4023821"/>
            <a:ext cx="4395953" cy="2808"/>
          </a:xfrm>
          <a:prstGeom prst="line">
            <a:avLst/>
          </a:prstGeom>
          <a:noFill/>
          <a:ln w="19050">
            <a:solidFill>
              <a:srgbClr val="9900FF"/>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6" name="Rectangle 240"/>
          <p:cNvSpPr>
            <a:spLocks noChangeArrowheads="1"/>
          </p:cNvSpPr>
          <p:nvPr/>
        </p:nvSpPr>
        <p:spPr bwMode="auto">
          <a:xfrm>
            <a:off x="3039643" y="3892879"/>
            <a:ext cx="2952732" cy="274434"/>
          </a:xfrm>
          <a:prstGeom prst="rect">
            <a:avLst/>
          </a:prstGeom>
          <a:solidFill>
            <a:srgbClr val="C3E3F9"/>
          </a:solidFill>
          <a:ln>
            <a:noFill/>
          </a:ln>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传输层为应用层进程之间的通信提供服务</a:t>
            </a:r>
          </a:p>
        </p:txBody>
      </p:sp>
      <p:pic>
        <p:nvPicPr>
          <p:cNvPr id="177" name="Picture 2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24073" y="3240317"/>
            <a:ext cx="497655" cy="22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78" name="Rectangle 244"/>
          <p:cNvSpPr>
            <a:spLocks noChangeArrowheads="1"/>
          </p:cNvSpPr>
          <p:nvPr/>
        </p:nvSpPr>
        <p:spPr bwMode="auto">
          <a:xfrm>
            <a:off x="1354795" y="1070067"/>
            <a:ext cx="13144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solidFill>
                  <a:srgbClr val="0000FF"/>
                </a:solidFill>
                <a:latin typeface="微软雅黑" panose="020B0503020204020204" pitchFamily="34" charset="-122"/>
                <a:ea typeface="微软雅黑" panose="020B0503020204020204" pitchFamily="34" charset="-122"/>
              </a:rPr>
              <a:t>主机 </a:t>
            </a:r>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的协议栈</a:t>
            </a:r>
          </a:p>
        </p:txBody>
      </p:sp>
      <p:sp>
        <p:nvSpPr>
          <p:cNvPr id="179" name="Rectangle 245"/>
          <p:cNvSpPr>
            <a:spLocks noChangeArrowheads="1"/>
          </p:cNvSpPr>
          <p:nvPr/>
        </p:nvSpPr>
        <p:spPr bwMode="auto">
          <a:xfrm>
            <a:off x="6358581" y="1070067"/>
            <a:ext cx="1304845"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solidFill>
                  <a:srgbClr val="0000FF"/>
                </a:solidFill>
                <a:latin typeface="微软雅黑" panose="020B0503020204020204" pitchFamily="34" charset="-122"/>
                <a:ea typeface="微软雅黑" panose="020B0503020204020204" pitchFamily="34" charset="-122"/>
              </a:rPr>
              <a:t>主机 </a:t>
            </a:r>
            <a:r>
              <a:rPr lang="en-US" altLang="zh-CN" sz="1200" b="1">
                <a:solidFill>
                  <a:srgbClr val="0000FF"/>
                </a:solidFill>
                <a:latin typeface="微软雅黑" panose="020B0503020204020204" pitchFamily="34" charset="-122"/>
                <a:ea typeface="微软雅黑" panose="020B0503020204020204" pitchFamily="34" charset="-122"/>
              </a:rPr>
              <a:t>B </a:t>
            </a:r>
            <a:r>
              <a:rPr lang="zh-CN" altLang="en-US" sz="1200" b="1">
                <a:solidFill>
                  <a:srgbClr val="0000FF"/>
                </a:solidFill>
                <a:latin typeface="微软雅黑" panose="020B0503020204020204" pitchFamily="34" charset="-122"/>
                <a:ea typeface="微软雅黑" panose="020B0503020204020204" pitchFamily="34" charset="-122"/>
              </a:rPr>
              <a:t>的协议栈</a:t>
            </a:r>
          </a:p>
        </p:txBody>
      </p:sp>
      <p:sp>
        <p:nvSpPr>
          <p:cNvPr id="190" name="椭圆 85"/>
          <p:cNvSpPr>
            <a:spLocks noChangeArrowheads="1"/>
          </p:cNvSpPr>
          <p:nvPr/>
        </p:nvSpPr>
        <p:spPr bwMode="auto">
          <a:xfrm>
            <a:off x="6661879" y="3400928"/>
            <a:ext cx="56946"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91" name="椭圆 85"/>
          <p:cNvSpPr>
            <a:spLocks noChangeArrowheads="1"/>
          </p:cNvSpPr>
          <p:nvPr/>
        </p:nvSpPr>
        <p:spPr bwMode="auto">
          <a:xfrm>
            <a:off x="6660640" y="3264655"/>
            <a:ext cx="56946"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92" name="椭圆 85"/>
          <p:cNvSpPr>
            <a:spLocks noChangeArrowheads="1"/>
          </p:cNvSpPr>
          <p:nvPr/>
        </p:nvSpPr>
        <p:spPr bwMode="auto">
          <a:xfrm>
            <a:off x="2256021" y="3396644"/>
            <a:ext cx="56946"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93" name="椭圆 85"/>
          <p:cNvSpPr>
            <a:spLocks noChangeArrowheads="1"/>
          </p:cNvSpPr>
          <p:nvPr/>
        </p:nvSpPr>
        <p:spPr bwMode="auto">
          <a:xfrm>
            <a:off x="2262211" y="3262783"/>
            <a:ext cx="56946"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grpSp>
        <p:nvGrpSpPr>
          <p:cNvPr id="194" name="Group 44"/>
          <p:cNvGrpSpPr>
            <a:grpSpLocks/>
          </p:cNvGrpSpPr>
          <p:nvPr/>
        </p:nvGrpSpPr>
        <p:grpSpPr bwMode="auto">
          <a:xfrm>
            <a:off x="2680600" y="3199066"/>
            <a:ext cx="628600" cy="277145"/>
            <a:chOff x="1776" y="2768"/>
            <a:chExt cx="1824" cy="736"/>
          </a:xfrm>
          <a:solidFill>
            <a:srgbClr val="FFFF66"/>
          </a:solidFill>
          <a:effectLst>
            <a:outerShdw blurRad="50800" dist="38100" dir="2700000" algn="tl" rotWithShape="0">
              <a:prstClr val="black">
                <a:alpha val="40000"/>
              </a:prstClr>
            </a:outerShdw>
          </a:effectLst>
        </p:grpSpPr>
        <p:grpSp>
          <p:nvGrpSpPr>
            <p:cNvPr id="195" name="Group 45"/>
            <p:cNvGrpSpPr>
              <a:grpSpLocks/>
            </p:cNvGrpSpPr>
            <p:nvPr/>
          </p:nvGrpSpPr>
          <p:grpSpPr bwMode="auto">
            <a:xfrm>
              <a:off x="1787" y="2783"/>
              <a:ext cx="1813" cy="721"/>
              <a:chOff x="1787" y="2783"/>
              <a:chExt cx="1813" cy="721"/>
            </a:xfrm>
            <a:grpFill/>
          </p:grpSpPr>
          <p:sp>
            <p:nvSpPr>
              <p:cNvPr id="205" name="Oval 46"/>
              <p:cNvSpPr>
                <a:spLocks noChangeArrowheads="1"/>
              </p:cNvSpPr>
              <p:nvPr/>
            </p:nvSpPr>
            <p:spPr bwMode="auto">
              <a:xfrm>
                <a:off x="2413" y="2783"/>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6" name="Oval 47"/>
              <p:cNvSpPr>
                <a:spLocks noChangeArrowheads="1"/>
              </p:cNvSpPr>
              <p:nvPr/>
            </p:nvSpPr>
            <p:spPr bwMode="auto">
              <a:xfrm>
                <a:off x="1974" y="2863"/>
                <a:ext cx="593"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7" name="Oval 48"/>
              <p:cNvSpPr>
                <a:spLocks noChangeArrowheads="1"/>
              </p:cNvSpPr>
              <p:nvPr/>
            </p:nvSpPr>
            <p:spPr bwMode="auto">
              <a:xfrm>
                <a:off x="1787" y="3045"/>
                <a:ext cx="396" cy="23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8" name="Oval 49"/>
              <p:cNvSpPr>
                <a:spLocks noChangeArrowheads="1"/>
              </p:cNvSpPr>
              <p:nvPr/>
            </p:nvSpPr>
            <p:spPr bwMode="auto">
              <a:xfrm>
                <a:off x="1908" y="3154"/>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9" name="Oval 50"/>
              <p:cNvSpPr>
                <a:spLocks noChangeArrowheads="1"/>
              </p:cNvSpPr>
              <p:nvPr/>
            </p:nvSpPr>
            <p:spPr bwMode="auto">
              <a:xfrm>
                <a:off x="2347" y="3198"/>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0" name="Oval 51"/>
              <p:cNvSpPr>
                <a:spLocks noChangeArrowheads="1"/>
              </p:cNvSpPr>
              <p:nvPr/>
            </p:nvSpPr>
            <p:spPr bwMode="auto">
              <a:xfrm>
                <a:off x="2941" y="2870"/>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1" name="Oval 52"/>
              <p:cNvSpPr>
                <a:spLocks noChangeArrowheads="1"/>
              </p:cNvSpPr>
              <p:nvPr/>
            </p:nvSpPr>
            <p:spPr bwMode="auto">
              <a:xfrm>
                <a:off x="3029" y="3023"/>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2" name="Oval 53"/>
              <p:cNvSpPr>
                <a:spLocks noChangeArrowheads="1"/>
              </p:cNvSpPr>
              <p:nvPr/>
            </p:nvSpPr>
            <p:spPr bwMode="auto">
              <a:xfrm>
                <a:off x="2974" y="3074"/>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3" name="Oval 54"/>
              <p:cNvSpPr>
                <a:spLocks noChangeArrowheads="1"/>
              </p:cNvSpPr>
              <p:nvPr/>
            </p:nvSpPr>
            <p:spPr bwMode="auto">
              <a:xfrm>
                <a:off x="2117" y="2957"/>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sp>
          <p:nvSpPr>
            <p:cNvPr id="196" name="Oval 55"/>
            <p:cNvSpPr>
              <a:spLocks noChangeArrowheads="1"/>
            </p:cNvSpPr>
            <p:nvPr/>
          </p:nvSpPr>
          <p:spPr bwMode="auto">
            <a:xfrm>
              <a:off x="2402" y="2768"/>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97" name="Oval 56"/>
            <p:cNvSpPr>
              <a:spLocks noChangeArrowheads="1"/>
            </p:cNvSpPr>
            <p:nvPr/>
          </p:nvSpPr>
          <p:spPr bwMode="auto">
            <a:xfrm>
              <a:off x="1963" y="2848"/>
              <a:ext cx="593" cy="29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98" name="Oval 57"/>
            <p:cNvSpPr>
              <a:spLocks noChangeArrowheads="1"/>
            </p:cNvSpPr>
            <p:nvPr/>
          </p:nvSpPr>
          <p:spPr bwMode="auto">
            <a:xfrm>
              <a:off x="1776" y="3030"/>
              <a:ext cx="396" cy="23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99" name="Oval 58"/>
            <p:cNvSpPr>
              <a:spLocks noChangeArrowheads="1"/>
            </p:cNvSpPr>
            <p:nvPr/>
          </p:nvSpPr>
          <p:spPr bwMode="auto">
            <a:xfrm>
              <a:off x="1897" y="3140"/>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0" name="Oval 59"/>
            <p:cNvSpPr>
              <a:spLocks noChangeArrowheads="1"/>
            </p:cNvSpPr>
            <p:nvPr/>
          </p:nvSpPr>
          <p:spPr bwMode="auto">
            <a:xfrm>
              <a:off x="2336" y="3183"/>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1" name="Oval 60"/>
            <p:cNvSpPr>
              <a:spLocks noChangeArrowheads="1"/>
            </p:cNvSpPr>
            <p:nvPr/>
          </p:nvSpPr>
          <p:spPr bwMode="auto">
            <a:xfrm>
              <a:off x="2930" y="2855"/>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2" name="Oval 61"/>
            <p:cNvSpPr>
              <a:spLocks noChangeArrowheads="1"/>
            </p:cNvSpPr>
            <p:nvPr/>
          </p:nvSpPr>
          <p:spPr bwMode="auto">
            <a:xfrm>
              <a:off x="3018" y="3008"/>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3" name="Oval 62"/>
            <p:cNvSpPr>
              <a:spLocks noChangeArrowheads="1"/>
            </p:cNvSpPr>
            <p:nvPr/>
          </p:nvSpPr>
          <p:spPr bwMode="auto">
            <a:xfrm>
              <a:off x="2963" y="3059"/>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4" name="Oval 63"/>
            <p:cNvSpPr>
              <a:spLocks noChangeArrowheads="1"/>
            </p:cNvSpPr>
            <p:nvPr/>
          </p:nvSpPr>
          <p:spPr bwMode="auto">
            <a:xfrm>
              <a:off x="2106" y="2943"/>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grpSp>
        <p:nvGrpSpPr>
          <p:cNvPr id="214" name="Group 44"/>
          <p:cNvGrpSpPr>
            <a:grpSpLocks/>
          </p:cNvGrpSpPr>
          <p:nvPr/>
        </p:nvGrpSpPr>
        <p:grpSpPr bwMode="auto">
          <a:xfrm>
            <a:off x="4178500" y="3199066"/>
            <a:ext cx="628600" cy="277145"/>
            <a:chOff x="1776" y="2768"/>
            <a:chExt cx="1824" cy="736"/>
          </a:xfrm>
          <a:solidFill>
            <a:srgbClr val="FFFF66"/>
          </a:solidFill>
          <a:effectLst>
            <a:outerShdw blurRad="50800" dist="38100" dir="2700000" algn="tl" rotWithShape="0">
              <a:prstClr val="black">
                <a:alpha val="40000"/>
              </a:prstClr>
            </a:outerShdw>
          </a:effectLst>
        </p:grpSpPr>
        <p:grpSp>
          <p:nvGrpSpPr>
            <p:cNvPr id="215" name="Group 45"/>
            <p:cNvGrpSpPr>
              <a:grpSpLocks/>
            </p:cNvGrpSpPr>
            <p:nvPr/>
          </p:nvGrpSpPr>
          <p:grpSpPr bwMode="auto">
            <a:xfrm>
              <a:off x="1787" y="2783"/>
              <a:ext cx="1813" cy="721"/>
              <a:chOff x="1787" y="2783"/>
              <a:chExt cx="1813" cy="721"/>
            </a:xfrm>
            <a:grpFill/>
          </p:grpSpPr>
          <p:sp>
            <p:nvSpPr>
              <p:cNvPr id="225" name="Oval 46"/>
              <p:cNvSpPr>
                <a:spLocks noChangeArrowheads="1"/>
              </p:cNvSpPr>
              <p:nvPr/>
            </p:nvSpPr>
            <p:spPr bwMode="auto">
              <a:xfrm>
                <a:off x="2413" y="2783"/>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6" name="Oval 47"/>
              <p:cNvSpPr>
                <a:spLocks noChangeArrowheads="1"/>
              </p:cNvSpPr>
              <p:nvPr/>
            </p:nvSpPr>
            <p:spPr bwMode="auto">
              <a:xfrm>
                <a:off x="1974" y="2863"/>
                <a:ext cx="593"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7" name="Oval 48"/>
              <p:cNvSpPr>
                <a:spLocks noChangeArrowheads="1"/>
              </p:cNvSpPr>
              <p:nvPr/>
            </p:nvSpPr>
            <p:spPr bwMode="auto">
              <a:xfrm>
                <a:off x="1787" y="3045"/>
                <a:ext cx="396" cy="23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8" name="Oval 49"/>
              <p:cNvSpPr>
                <a:spLocks noChangeArrowheads="1"/>
              </p:cNvSpPr>
              <p:nvPr/>
            </p:nvSpPr>
            <p:spPr bwMode="auto">
              <a:xfrm>
                <a:off x="1908" y="3154"/>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9" name="Oval 50"/>
              <p:cNvSpPr>
                <a:spLocks noChangeArrowheads="1"/>
              </p:cNvSpPr>
              <p:nvPr/>
            </p:nvSpPr>
            <p:spPr bwMode="auto">
              <a:xfrm>
                <a:off x="2347" y="3198"/>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0" name="Oval 51"/>
              <p:cNvSpPr>
                <a:spLocks noChangeArrowheads="1"/>
              </p:cNvSpPr>
              <p:nvPr/>
            </p:nvSpPr>
            <p:spPr bwMode="auto">
              <a:xfrm>
                <a:off x="2941" y="2870"/>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1" name="Oval 52"/>
              <p:cNvSpPr>
                <a:spLocks noChangeArrowheads="1"/>
              </p:cNvSpPr>
              <p:nvPr/>
            </p:nvSpPr>
            <p:spPr bwMode="auto">
              <a:xfrm>
                <a:off x="3029" y="3023"/>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2" name="Oval 53"/>
              <p:cNvSpPr>
                <a:spLocks noChangeArrowheads="1"/>
              </p:cNvSpPr>
              <p:nvPr/>
            </p:nvSpPr>
            <p:spPr bwMode="auto">
              <a:xfrm>
                <a:off x="2974" y="3074"/>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3" name="Oval 54"/>
              <p:cNvSpPr>
                <a:spLocks noChangeArrowheads="1"/>
              </p:cNvSpPr>
              <p:nvPr/>
            </p:nvSpPr>
            <p:spPr bwMode="auto">
              <a:xfrm>
                <a:off x="2117" y="2957"/>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sp>
          <p:nvSpPr>
            <p:cNvPr id="216" name="Oval 55"/>
            <p:cNvSpPr>
              <a:spLocks noChangeArrowheads="1"/>
            </p:cNvSpPr>
            <p:nvPr/>
          </p:nvSpPr>
          <p:spPr bwMode="auto">
            <a:xfrm>
              <a:off x="2402" y="2768"/>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7" name="Oval 56"/>
            <p:cNvSpPr>
              <a:spLocks noChangeArrowheads="1"/>
            </p:cNvSpPr>
            <p:nvPr/>
          </p:nvSpPr>
          <p:spPr bwMode="auto">
            <a:xfrm>
              <a:off x="1963" y="2848"/>
              <a:ext cx="593" cy="29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8" name="Oval 57"/>
            <p:cNvSpPr>
              <a:spLocks noChangeArrowheads="1"/>
            </p:cNvSpPr>
            <p:nvPr/>
          </p:nvSpPr>
          <p:spPr bwMode="auto">
            <a:xfrm>
              <a:off x="1776" y="3030"/>
              <a:ext cx="396" cy="23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9" name="Oval 58"/>
            <p:cNvSpPr>
              <a:spLocks noChangeArrowheads="1"/>
            </p:cNvSpPr>
            <p:nvPr/>
          </p:nvSpPr>
          <p:spPr bwMode="auto">
            <a:xfrm>
              <a:off x="1897" y="3140"/>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0" name="Oval 59"/>
            <p:cNvSpPr>
              <a:spLocks noChangeArrowheads="1"/>
            </p:cNvSpPr>
            <p:nvPr/>
          </p:nvSpPr>
          <p:spPr bwMode="auto">
            <a:xfrm>
              <a:off x="2336" y="3183"/>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1" name="Oval 60"/>
            <p:cNvSpPr>
              <a:spLocks noChangeArrowheads="1"/>
            </p:cNvSpPr>
            <p:nvPr/>
          </p:nvSpPr>
          <p:spPr bwMode="auto">
            <a:xfrm>
              <a:off x="2930" y="2855"/>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2" name="Oval 61"/>
            <p:cNvSpPr>
              <a:spLocks noChangeArrowheads="1"/>
            </p:cNvSpPr>
            <p:nvPr/>
          </p:nvSpPr>
          <p:spPr bwMode="auto">
            <a:xfrm>
              <a:off x="3018" y="3008"/>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3" name="Oval 62"/>
            <p:cNvSpPr>
              <a:spLocks noChangeArrowheads="1"/>
            </p:cNvSpPr>
            <p:nvPr/>
          </p:nvSpPr>
          <p:spPr bwMode="auto">
            <a:xfrm>
              <a:off x="2963" y="3059"/>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4" name="Oval 63"/>
            <p:cNvSpPr>
              <a:spLocks noChangeArrowheads="1"/>
            </p:cNvSpPr>
            <p:nvPr/>
          </p:nvSpPr>
          <p:spPr bwMode="auto">
            <a:xfrm>
              <a:off x="2106" y="2943"/>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grpSp>
        <p:nvGrpSpPr>
          <p:cNvPr id="234" name="Group 44"/>
          <p:cNvGrpSpPr>
            <a:grpSpLocks/>
          </p:cNvGrpSpPr>
          <p:nvPr/>
        </p:nvGrpSpPr>
        <p:grpSpPr bwMode="auto">
          <a:xfrm>
            <a:off x="5666125" y="3199066"/>
            <a:ext cx="628600" cy="277145"/>
            <a:chOff x="1776" y="2768"/>
            <a:chExt cx="1824" cy="736"/>
          </a:xfrm>
          <a:solidFill>
            <a:srgbClr val="FFFF66"/>
          </a:solidFill>
          <a:effectLst>
            <a:outerShdw blurRad="50800" dist="38100" dir="2700000" algn="tl" rotWithShape="0">
              <a:prstClr val="black">
                <a:alpha val="40000"/>
              </a:prstClr>
            </a:outerShdw>
          </a:effectLst>
        </p:grpSpPr>
        <p:grpSp>
          <p:nvGrpSpPr>
            <p:cNvPr id="235" name="Group 45"/>
            <p:cNvGrpSpPr>
              <a:grpSpLocks/>
            </p:cNvGrpSpPr>
            <p:nvPr/>
          </p:nvGrpSpPr>
          <p:grpSpPr bwMode="auto">
            <a:xfrm>
              <a:off x="1787" y="2783"/>
              <a:ext cx="1813" cy="721"/>
              <a:chOff x="1787" y="2783"/>
              <a:chExt cx="1813" cy="721"/>
            </a:xfrm>
            <a:grpFill/>
          </p:grpSpPr>
          <p:sp>
            <p:nvSpPr>
              <p:cNvPr id="245" name="Oval 46"/>
              <p:cNvSpPr>
                <a:spLocks noChangeArrowheads="1"/>
              </p:cNvSpPr>
              <p:nvPr/>
            </p:nvSpPr>
            <p:spPr bwMode="auto">
              <a:xfrm>
                <a:off x="2413" y="2783"/>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6" name="Oval 47"/>
              <p:cNvSpPr>
                <a:spLocks noChangeArrowheads="1"/>
              </p:cNvSpPr>
              <p:nvPr/>
            </p:nvSpPr>
            <p:spPr bwMode="auto">
              <a:xfrm>
                <a:off x="1974" y="2863"/>
                <a:ext cx="593"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7" name="Oval 48"/>
              <p:cNvSpPr>
                <a:spLocks noChangeArrowheads="1"/>
              </p:cNvSpPr>
              <p:nvPr/>
            </p:nvSpPr>
            <p:spPr bwMode="auto">
              <a:xfrm>
                <a:off x="1787" y="3045"/>
                <a:ext cx="396" cy="23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8" name="Oval 49"/>
              <p:cNvSpPr>
                <a:spLocks noChangeArrowheads="1"/>
              </p:cNvSpPr>
              <p:nvPr/>
            </p:nvSpPr>
            <p:spPr bwMode="auto">
              <a:xfrm>
                <a:off x="1908" y="3154"/>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9" name="Oval 50"/>
              <p:cNvSpPr>
                <a:spLocks noChangeArrowheads="1"/>
              </p:cNvSpPr>
              <p:nvPr/>
            </p:nvSpPr>
            <p:spPr bwMode="auto">
              <a:xfrm>
                <a:off x="2347" y="3198"/>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50" name="Oval 51"/>
              <p:cNvSpPr>
                <a:spLocks noChangeArrowheads="1"/>
              </p:cNvSpPr>
              <p:nvPr/>
            </p:nvSpPr>
            <p:spPr bwMode="auto">
              <a:xfrm>
                <a:off x="2941" y="2870"/>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51" name="Oval 52"/>
              <p:cNvSpPr>
                <a:spLocks noChangeArrowheads="1"/>
              </p:cNvSpPr>
              <p:nvPr/>
            </p:nvSpPr>
            <p:spPr bwMode="auto">
              <a:xfrm>
                <a:off x="3029" y="3023"/>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52" name="Oval 53"/>
              <p:cNvSpPr>
                <a:spLocks noChangeArrowheads="1"/>
              </p:cNvSpPr>
              <p:nvPr/>
            </p:nvSpPr>
            <p:spPr bwMode="auto">
              <a:xfrm>
                <a:off x="2974" y="3074"/>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53" name="Oval 54"/>
              <p:cNvSpPr>
                <a:spLocks noChangeArrowheads="1"/>
              </p:cNvSpPr>
              <p:nvPr/>
            </p:nvSpPr>
            <p:spPr bwMode="auto">
              <a:xfrm>
                <a:off x="2117" y="2957"/>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sp>
          <p:nvSpPr>
            <p:cNvPr id="236" name="Oval 55"/>
            <p:cNvSpPr>
              <a:spLocks noChangeArrowheads="1"/>
            </p:cNvSpPr>
            <p:nvPr/>
          </p:nvSpPr>
          <p:spPr bwMode="auto">
            <a:xfrm>
              <a:off x="2402" y="2768"/>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7" name="Oval 56"/>
            <p:cNvSpPr>
              <a:spLocks noChangeArrowheads="1"/>
            </p:cNvSpPr>
            <p:nvPr/>
          </p:nvSpPr>
          <p:spPr bwMode="auto">
            <a:xfrm>
              <a:off x="1963" y="2848"/>
              <a:ext cx="593" cy="29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8" name="Oval 57"/>
            <p:cNvSpPr>
              <a:spLocks noChangeArrowheads="1"/>
            </p:cNvSpPr>
            <p:nvPr/>
          </p:nvSpPr>
          <p:spPr bwMode="auto">
            <a:xfrm>
              <a:off x="1776" y="3030"/>
              <a:ext cx="396" cy="23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9" name="Oval 58"/>
            <p:cNvSpPr>
              <a:spLocks noChangeArrowheads="1"/>
            </p:cNvSpPr>
            <p:nvPr/>
          </p:nvSpPr>
          <p:spPr bwMode="auto">
            <a:xfrm>
              <a:off x="1897" y="3140"/>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0" name="Oval 59"/>
            <p:cNvSpPr>
              <a:spLocks noChangeArrowheads="1"/>
            </p:cNvSpPr>
            <p:nvPr/>
          </p:nvSpPr>
          <p:spPr bwMode="auto">
            <a:xfrm>
              <a:off x="2336" y="3183"/>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1" name="Oval 60"/>
            <p:cNvSpPr>
              <a:spLocks noChangeArrowheads="1"/>
            </p:cNvSpPr>
            <p:nvPr/>
          </p:nvSpPr>
          <p:spPr bwMode="auto">
            <a:xfrm>
              <a:off x="2930" y="2855"/>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2" name="Oval 61"/>
            <p:cNvSpPr>
              <a:spLocks noChangeArrowheads="1"/>
            </p:cNvSpPr>
            <p:nvPr/>
          </p:nvSpPr>
          <p:spPr bwMode="auto">
            <a:xfrm>
              <a:off x="3018" y="3008"/>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3" name="Oval 62"/>
            <p:cNvSpPr>
              <a:spLocks noChangeArrowheads="1"/>
            </p:cNvSpPr>
            <p:nvPr/>
          </p:nvSpPr>
          <p:spPr bwMode="auto">
            <a:xfrm>
              <a:off x="2963" y="3059"/>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4" name="Oval 63"/>
            <p:cNvSpPr>
              <a:spLocks noChangeArrowheads="1"/>
            </p:cNvSpPr>
            <p:nvPr/>
          </p:nvSpPr>
          <p:spPr bwMode="auto">
            <a:xfrm>
              <a:off x="2106" y="2943"/>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sp>
        <p:nvSpPr>
          <p:cNvPr id="142" name="Rectangle 159"/>
          <p:cNvSpPr>
            <a:spLocks noChangeArrowheads="1"/>
          </p:cNvSpPr>
          <p:nvPr/>
        </p:nvSpPr>
        <p:spPr bwMode="auto">
          <a:xfrm>
            <a:off x="5710875" y="3203562"/>
            <a:ext cx="579327"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LAN</a:t>
            </a:r>
            <a:r>
              <a:rPr lang="en-US" altLang="zh-CN" sz="1200" b="1" baseline="-25000">
                <a:latin typeface="微软雅黑" panose="020B0503020204020204" pitchFamily="34" charset="-122"/>
                <a:ea typeface="微软雅黑" panose="020B0503020204020204" pitchFamily="34" charset="-122"/>
              </a:rPr>
              <a:t>2</a:t>
            </a:r>
            <a:endParaRPr lang="en-US" altLang="zh-CN" sz="1200" b="1">
              <a:latin typeface="微软雅黑" panose="020B0503020204020204" pitchFamily="34" charset="-122"/>
              <a:ea typeface="微软雅黑" panose="020B0503020204020204" pitchFamily="34" charset="-122"/>
            </a:endParaRPr>
          </a:p>
        </p:txBody>
      </p:sp>
      <p:sp>
        <p:nvSpPr>
          <p:cNvPr id="144" name="Rectangle 161"/>
          <p:cNvSpPr>
            <a:spLocks noChangeArrowheads="1"/>
          </p:cNvSpPr>
          <p:nvPr/>
        </p:nvSpPr>
        <p:spPr bwMode="auto">
          <a:xfrm>
            <a:off x="4212958" y="3209179"/>
            <a:ext cx="587278"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WAN</a:t>
            </a:r>
          </a:p>
        </p:txBody>
      </p:sp>
      <p:sp>
        <p:nvSpPr>
          <p:cNvPr id="158" name="Rectangle 160"/>
          <p:cNvSpPr>
            <a:spLocks noChangeArrowheads="1"/>
          </p:cNvSpPr>
          <p:nvPr/>
        </p:nvSpPr>
        <p:spPr bwMode="auto">
          <a:xfrm>
            <a:off x="2732116" y="3209992"/>
            <a:ext cx="579327"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LAN</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sp>
        <p:nvSpPr>
          <p:cNvPr id="254" name="Rectangle 10"/>
          <p:cNvSpPr>
            <a:spLocks noChangeArrowheads="1"/>
          </p:cNvSpPr>
          <p:nvPr/>
        </p:nvSpPr>
        <p:spPr bwMode="auto">
          <a:xfrm>
            <a:off x="7281090" y="1488853"/>
            <a:ext cx="277321" cy="116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1200"/>
              </a:lnSpc>
            </a:pPr>
            <a:r>
              <a:rPr lang="en-US" altLang="zh-CN" sz="1200" b="1" dirty="0">
                <a:latin typeface="微软雅黑" panose="020B0503020204020204" pitchFamily="34" charset="-122"/>
                <a:ea typeface="微软雅黑" panose="020B0503020204020204" pitchFamily="34" charset="-122"/>
              </a:rPr>
              <a:t>5</a:t>
            </a:r>
          </a:p>
          <a:p>
            <a:pPr>
              <a:lnSpc>
                <a:spcPts val="4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4</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3</a:t>
            </a:r>
          </a:p>
          <a:p>
            <a:pPr>
              <a:lnSpc>
                <a:spcPts val="8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2</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1</a:t>
            </a:r>
          </a:p>
        </p:txBody>
      </p:sp>
      <p:grpSp>
        <p:nvGrpSpPr>
          <p:cNvPr id="35" name="组合 34"/>
          <p:cNvGrpSpPr/>
          <p:nvPr/>
        </p:nvGrpSpPr>
        <p:grpSpPr>
          <a:xfrm>
            <a:off x="811003" y="1422817"/>
            <a:ext cx="1501964" cy="534806"/>
            <a:chOff x="811003" y="1423671"/>
            <a:chExt cx="1501964" cy="534806"/>
          </a:xfrm>
        </p:grpSpPr>
        <p:sp>
          <p:nvSpPr>
            <p:cNvPr id="5" name="椭圆 4"/>
            <p:cNvSpPr/>
            <p:nvPr/>
          </p:nvSpPr>
          <p:spPr>
            <a:xfrm>
              <a:off x="1765743" y="1593158"/>
              <a:ext cx="547224" cy="365319"/>
            </a:xfrm>
            <a:prstGeom prst="ellipse">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5" name="Rectangle 98"/>
            <p:cNvSpPr>
              <a:spLocks noChangeArrowheads="1"/>
            </p:cNvSpPr>
            <p:nvPr/>
          </p:nvSpPr>
          <p:spPr bwMode="auto">
            <a:xfrm>
              <a:off x="811003" y="1423671"/>
              <a:ext cx="54181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复用</a:t>
              </a:r>
            </a:p>
          </p:txBody>
        </p:sp>
        <p:cxnSp>
          <p:nvCxnSpPr>
            <p:cNvPr id="30" name="直接连接符 29"/>
            <p:cNvCxnSpPr/>
            <p:nvPr/>
          </p:nvCxnSpPr>
          <p:spPr>
            <a:xfrm>
              <a:off x="1284233" y="1633378"/>
              <a:ext cx="562557" cy="110949"/>
            </a:xfrm>
            <a:prstGeom prst="line">
              <a:avLst/>
            </a:prstGeom>
            <a:ln w="127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256" name="组合 255"/>
          <p:cNvGrpSpPr/>
          <p:nvPr/>
        </p:nvGrpSpPr>
        <p:grpSpPr>
          <a:xfrm>
            <a:off x="6744719" y="1455328"/>
            <a:ext cx="1465661" cy="502405"/>
            <a:chOff x="-297165" y="1395112"/>
            <a:chExt cx="1465661" cy="502405"/>
          </a:xfrm>
        </p:grpSpPr>
        <p:sp>
          <p:nvSpPr>
            <p:cNvPr id="257" name="椭圆 256"/>
            <p:cNvSpPr/>
            <p:nvPr/>
          </p:nvSpPr>
          <p:spPr>
            <a:xfrm>
              <a:off x="-297165" y="1532198"/>
              <a:ext cx="547224" cy="365319"/>
            </a:xfrm>
            <a:prstGeom prst="ellipse">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8" name="Rectangle 98"/>
            <p:cNvSpPr>
              <a:spLocks noChangeArrowheads="1"/>
            </p:cNvSpPr>
            <p:nvPr/>
          </p:nvSpPr>
          <p:spPr bwMode="auto">
            <a:xfrm>
              <a:off x="626680" y="1395112"/>
              <a:ext cx="54181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分用</a:t>
              </a:r>
            </a:p>
          </p:txBody>
        </p:sp>
        <p:cxnSp>
          <p:nvCxnSpPr>
            <p:cNvPr id="259" name="直接连接符 258"/>
            <p:cNvCxnSpPr/>
            <p:nvPr/>
          </p:nvCxnSpPr>
          <p:spPr>
            <a:xfrm flipH="1">
              <a:off x="148855" y="1605572"/>
              <a:ext cx="545860" cy="80939"/>
            </a:xfrm>
            <a:prstGeom prst="line">
              <a:avLst/>
            </a:prstGeom>
            <a:ln w="127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42" name="组合 41"/>
          <p:cNvGrpSpPr/>
          <p:nvPr/>
        </p:nvGrpSpPr>
        <p:grpSpPr>
          <a:xfrm>
            <a:off x="1814331" y="1510398"/>
            <a:ext cx="5408594" cy="1293671"/>
            <a:chOff x="1804171" y="1511252"/>
            <a:chExt cx="5408594" cy="1293671"/>
          </a:xfrm>
        </p:grpSpPr>
        <p:sp>
          <p:nvSpPr>
            <p:cNvPr id="182" name="Line 248"/>
            <p:cNvSpPr>
              <a:spLocks noChangeShapeType="1"/>
            </p:cNvSpPr>
            <p:nvPr/>
          </p:nvSpPr>
          <p:spPr bwMode="auto">
            <a:xfrm>
              <a:off x="6781959" y="1588011"/>
              <a:ext cx="262445" cy="31265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3" name="Line 249"/>
            <p:cNvSpPr>
              <a:spLocks noChangeShapeType="1"/>
            </p:cNvSpPr>
            <p:nvPr/>
          </p:nvSpPr>
          <p:spPr bwMode="auto">
            <a:xfrm flipH="1">
              <a:off x="7044404" y="1511252"/>
              <a:ext cx="168361" cy="38192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4" name="椭圆 85"/>
            <p:cNvSpPr>
              <a:spLocks noChangeArrowheads="1"/>
            </p:cNvSpPr>
            <p:nvPr/>
          </p:nvSpPr>
          <p:spPr bwMode="auto">
            <a:xfrm>
              <a:off x="7123633" y="1645112"/>
              <a:ext cx="56946" cy="43060"/>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5" name="椭圆 85"/>
            <p:cNvSpPr>
              <a:spLocks noChangeArrowheads="1"/>
            </p:cNvSpPr>
            <p:nvPr/>
          </p:nvSpPr>
          <p:spPr bwMode="auto">
            <a:xfrm>
              <a:off x="7010980" y="1883814"/>
              <a:ext cx="55707"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6" name="椭圆 85"/>
            <p:cNvSpPr>
              <a:spLocks noChangeArrowheads="1"/>
            </p:cNvSpPr>
            <p:nvPr/>
          </p:nvSpPr>
          <p:spPr bwMode="auto">
            <a:xfrm>
              <a:off x="6817860" y="1645112"/>
              <a:ext cx="56946" cy="43060"/>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28" name="Freeform 32"/>
            <p:cNvSpPr>
              <a:spLocks/>
            </p:cNvSpPr>
            <p:nvPr/>
          </p:nvSpPr>
          <p:spPr bwMode="auto">
            <a:xfrm>
              <a:off x="1999766" y="1897856"/>
              <a:ext cx="5039686" cy="907067"/>
            </a:xfrm>
            <a:custGeom>
              <a:avLst/>
              <a:gdLst>
                <a:gd name="T0" fmla="*/ 0 w 4272"/>
                <a:gd name="T1" fmla="*/ 0 h 1138"/>
                <a:gd name="T2" fmla="*/ 0 w 4272"/>
                <a:gd name="T3" fmla="*/ 2147483647 h 1138"/>
                <a:gd name="T4" fmla="*/ 2147483647 w 4272"/>
                <a:gd name="T5" fmla="*/ 2147483647 h 1138"/>
                <a:gd name="T6" fmla="*/ 2147483647 w 4272"/>
                <a:gd name="T7" fmla="*/ 2147483647 h 1138"/>
                <a:gd name="T8" fmla="*/ 2147483647 w 4272"/>
                <a:gd name="T9" fmla="*/ 2147483647 h 1138"/>
                <a:gd name="T10" fmla="*/ 2147483647 w 4272"/>
                <a:gd name="T11" fmla="*/ 2147483647 h 1138"/>
                <a:gd name="T12" fmla="*/ 2147483647 w 4272"/>
                <a:gd name="T13" fmla="*/ 2147483647 h 1138"/>
                <a:gd name="T14" fmla="*/ 2147483647 w 4272"/>
                <a:gd name="T15" fmla="*/ 2147483647 h 1138"/>
                <a:gd name="T16" fmla="*/ 2147483647 w 4272"/>
                <a:gd name="T17" fmla="*/ 2147483647 h 1138"/>
                <a:gd name="T18" fmla="*/ 2147483647 w 4272"/>
                <a:gd name="T19" fmla="*/ 2147483647 h 1138"/>
                <a:gd name="T20" fmla="*/ 2147483647 w 4272"/>
                <a:gd name="T21" fmla="*/ 2147483647 h 1138"/>
                <a:gd name="T22" fmla="*/ 2147483647 w 4272"/>
                <a:gd name="T23" fmla="*/ 2147483647 h 1138"/>
                <a:gd name="T24" fmla="*/ 2147483647 w 4272"/>
                <a:gd name="T25" fmla="*/ 2147483647 h 1138"/>
                <a:gd name="T26" fmla="*/ 2147483647 w 4272"/>
                <a:gd name="T27" fmla="*/ 2147483647 h 1138"/>
                <a:gd name="T28" fmla="*/ 2147483647 w 4272"/>
                <a:gd name="T29" fmla="*/ 2147483647 h 1138"/>
                <a:gd name="T30" fmla="*/ 2147483647 w 4272"/>
                <a:gd name="T31" fmla="*/ 2147483647 h 1138"/>
                <a:gd name="T32" fmla="*/ 2147483647 w 4272"/>
                <a:gd name="T33" fmla="*/ 2147483647 h 1138"/>
                <a:gd name="T34" fmla="*/ 2147483647 w 4272"/>
                <a:gd name="T35" fmla="*/ 2147483647 h 1138"/>
                <a:gd name="T36" fmla="*/ 2147483647 w 4272"/>
                <a:gd name="T37" fmla="*/ 2147483647 h 1138"/>
                <a:gd name="T38" fmla="*/ 2147483647 w 4272"/>
                <a:gd name="T39" fmla="*/ 2147483647 h 1138"/>
                <a:gd name="T40" fmla="*/ 2147483647 w 4272"/>
                <a:gd name="T41" fmla="*/ 2147483647 h 1138"/>
                <a:gd name="T42" fmla="*/ 2147483647 w 4272"/>
                <a:gd name="T43" fmla="*/ 2147483647 h 1138"/>
                <a:gd name="T44" fmla="*/ 2147483647 w 4272"/>
                <a:gd name="T45" fmla="*/ 2147483647 h 1138"/>
                <a:gd name="T46" fmla="*/ 2147483647 w 4272"/>
                <a:gd name="T47" fmla="*/ 2147483647 h 1138"/>
                <a:gd name="T48" fmla="*/ 2147483647 w 4272"/>
                <a:gd name="T49" fmla="*/ 2147483647 h 1138"/>
                <a:gd name="T50" fmla="*/ 2147483647 w 4272"/>
                <a:gd name="T51" fmla="*/ 2147483647 h 1138"/>
                <a:gd name="T52" fmla="*/ 2147483647 w 4272"/>
                <a:gd name="T53" fmla="*/ 2147483647 h 1138"/>
                <a:gd name="T54" fmla="*/ 2147483647 w 4272"/>
                <a:gd name="T55" fmla="*/ 2147483647 h 1138"/>
                <a:gd name="T56" fmla="*/ 2147483647 w 4272"/>
                <a:gd name="T57" fmla="*/ 2147483647 h 1138"/>
                <a:gd name="T58" fmla="*/ 2147483647 w 4272"/>
                <a:gd name="T59" fmla="*/ 2147483647 h 1138"/>
                <a:gd name="T60" fmla="*/ 2147483647 w 4272"/>
                <a:gd name="T61" fmla="*/ 2147483647 h 1138"/>
                <a:gd name="T62" fmla="*/ 2147483647 w 4272"/>
                <a:gd name="T63" fmla="*/ 2147483647 h 1138"/>
                <a:gd name="T64" fmla="*/ 2147483647 w 4272"/>
                <a:gd name="T65" fmla="*/ 2147483647 h 1138"/>
                <a:gd name="T66" fmla="*/ 2147483647 w 4272"/>
                <a:gd name="T67" fmla="*/ 2147483647 h 1138"/>
                <a:gd name="T68" fmla="*/ 2147483647 w 4272"/>
                <a:gd name="T69" fmla="*/ 2147483647 h 1138"/>
                <a:gd name="T70" fmla="*/ 2147483647 w 4272"/>
                <a:gd name="T71" fmla="*/ 2147483647 h 1138"/>
                <a:gd name="T72" fmla="*/ 2147483647 w 4272"/>
                <a:gd name="T73" fmla="*/ 2147483647 h 1138"/>
                <a:gd name="T74" fmla="*/ 2147483647 w 4272"/>
                <a:gd name="T75" fmla="*/ 2147483647 h 1138"/>
                <a:gd name="T76" fmla="*/ 2147483647 w 4272"/>
                <a:gd name="T77" fmla="*/ 2147483647 h 1138"/>
                <a:gd name="T78" fmla="*/ 2147483647 w 4272"/>
                <a:gd name="T79" fmla="*/ 2147483647 h 1138"/>
                <a:gd name="T80" fmla="*/ 2147483647 w 4272"/>
                <a:gd name="T81" fmla="*/ 2147483647 h 1138"/>
                <a:gd name="T82" fmla="*/ 2147483647 w 4272"/>
                <a:gd name="T83" fmla="*/ 0 h 113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272"/>
                <a:gd name="T127" fmla="*/ 0 h 1138"/>
                <a:gd name="T128" fmla="*/ 4272 w 4272"/>
                <a:gd name="T129" fmla="*/ 1138 h 113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272" h="1138">
                  <a:moveTo>
                    <a:pt x="0" y="0"/>
                  </a:moveTo>
                  <a:lnTo>
                    <a:pt x="0" y="996"/>
                  </a:lnTo>
                  <a:lnTo>
                    <a:pt x="9" y="1056"/>
                  </a:lnTo>
                  <a:lnTo>
                    <a:pt x="36" y="1094"/>
                  </a:lnTo>
                  <a:lnTo>
                    <a:pt x="75" y="1110"/>
                  </a:lnTo>
                  <a:lnTo>
                    <a:pt x="127" y="1116"/>
                  </a:lnTo>
                  <a:lnTo>
                    <a:pt x="1211" y="1116"/>
                  </a:lnTo>
                  <a:lnTo>
                    <a:pt x="1250" y="1116"/>
                  </a:lnTo>
                  <a:lnTo>
                    <a:pt x="1287" y="1100"/>
                  </a:lnTo>
                  <a:lnTo>
                    <a:pt x="1305" y="1056"/>
                  </a:lnTo>
                  <a:lnTo>
                    <a:pt x="1308" y="1022"/>
                  </a:lnTo>
                  <a:lnTo>
                    <a:pt x="1308" y="307"/>
                  </a:lnTo>
                  <a:lnTo>
                    <a:pt x="1311" y="261"/>
                  </a:lnTo>
                  <a:cubicBezTo>
                    <a:pt x="1322" y="241"/>
                    <a:pt x="1325" y="202"/>
                    <a:pt x="1376" y="191"/>
                  </a:cubicBezTo>
                  <a:cubicBezTo>
                    <a:pt x="1430" y="181"/>
                    <a:pt x="1567" y="182"/>
                    <a:pt x="1620" y="191"/>
                  </a:cubicBezTo>
                  <a:cubicBezTo>
                    <a:pt x="1673" y="200"/>
                    <a:pt x="1669" y="238"/>
                    <a:pt x="1676" y="252"/>
                  </a:cubicBezTo>
                  <a:lnTo>
                    <a:pt x="1680" y="280"/>
                  </a:lnTo>
                  <a:lnTo>
                    <a:pt x="1680" y="1014"/>
                  </a:lnTo>
                  <a:lnTo>
                    <a:pt x="1683" y="1047"/>
                  </a:lnTo>
                  <a:lnTo>
                    <a:pt x="1701" y="1100"/>
                  </a:lnTo>
                  <a:lnTo>
                    <a:pt x="1755" y="1116"/>
                  </a:lnTo>
                  <a:lnTo>
                    <a:pt x="1808" y="1116"/>
                  </a:lnTo>
                  <a:lnTo>
                    <a:pt x="2486" y="1116"/>
                  </a:lnTo>
                  <a:lnTo>
                    <a:pt x="2564" y="1116"/>
                  </a:lnTo>
                  <a:cubicBezTo>
                    <a:pt x="2583" y="1112"/>
                    <a:pt x="2593" y="1111"/>
                    <a:pt x="2600" y="1091"/>
                  </a:cubicBezTo>
                  <a:cubicBezTo>
                    <a:pt x="2607" y="1072"/>
                    <a:pt x="2610" y="1138"/>
                    <a:pt x="2608" y="999"/>
                  </a:cubicBezTo>
                  <a:lnTo>
                    <a:pt x="2608" y="264"/>
                  </a:lnTo>
                  <a:lnTo>
                    <a:pt x="2616" y="227"/>
                  </a:lnTo>
                  <a:cubicBezTo>
                    <a:pt x="2627" y="215"/>
                    <a:pt x="2634" y="196"/>
                    <a:pt x="2676" y="191"/>
                  </a:cubicBezTo>
                  <a:cubicBezTo>
                    <a:pt x="2721" y="184"/>
                    <a:pt x="2824" y="187"/>
                    <a:pt x="2868" y="195"/>
                  </a:cubicBezTo>
                  <a:cubicBezTo>
                    <a:pt x="2912" y="203"/>
                    <a:pt x="2925" y="238"/>
                    <a:pt x="2928" y="251"/>
                  </a:cubicBezTo>
                  <a:lnTo>
                    <a:pt x="2928" y="280"/>
                  </a:lnTo>
                  <a:cubicBezTo>
                    <a:pt x="2928" y="280"/>
                    <a:pt x="2925" y="867"/>
                    <a:pt x="2928" y="1002"/>
                  </a:cubicBezTo>
                  <a:cubicBezTo>
                    <a:pt x="2930" y="1136"/>
                    <a:pt x="2930" y="1068"/>
                    <a:pt x="2944" y="1087"/>
                  </a:cubicBezTo>
                  <a:cubicBezTo>
                    <a:pt x="2958" y="1107"/>
                    <a:pt x="2995" y="1113"/>
                    <a:pt x="3014" y="1116"/>
                  </a:cubicBezTo>
                  <a:lnTo>
                    <a:pt x="3071" y="1116"/>
                  </a:lnTo>
                  <a:lnTo>
                    <a:pt x="4117" y="1116"/>
                  </a:lnTo>
                  <a:lnTo>
                    <a:pt x="4190" y="1116"/>
                  </a:lnTo>
                  <a:lnTo>
                    <a:pt x="4251" y="1097"/>
                  </a:lnTo>
                  <a:lnTo>
                    <a:pt x="4269" y="1044"/>
                  </a:lnTo>
                  <a:lnTo>
                    <a:pt x="4271" y="994"/>
                  </a:lnTo>
                  <a:lnTo>
                    <a:pt x="4272" y="0"/>
                  </a:lnTo>
                </a:path>
              </a:pathLst>
            </a:custGeom>
            <a:noFill/>
            <a:ln w="28575" cap="flat" cmpd="sng">
              <a:solidFill>
                <a:srgbClr val="0000FF"/>
              </a:solidFill>
              <a:prstDash val="sysDot"/>
              <a:round/>
              <a:headEnd type="none" w="med" len="lg"/>
              <a:tailEnd type="none" w="med" len="lg"/>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7" name="椭圆 85"/>
            <p:cNvSpPr>
              <a:spLocks noChangeArrowheads="1"/>
            </p:cNvSpPr>
            <p:nvPr/>
          </p:nvSpPr>
          <p:spPr bwMode="auto">
            <a:xfrm>
              <a:off x="2153272" y="1650728"/>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8" name="椭圆 85"/>
            <p:cNvSpPr>
              <a:spLocks noChangeArrowheads="1"/>
            </p:cNvSpPr>
            <p:nvPr/>
          </p:nvSpPr>
          <p:spPr bwMode="auto">
            <a:xfrm>
              <a:off x="1846261" y="1652600"/>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9" name="椭圆 85"/>
            <p:cNvSpPr>
              <a:spLocks noChangeArrowheads="1"/>
            </p:cNvSpPr>
            <p:nvPr/>
          </p:nvSpPr>
          <p:spPr bwMode="auto">
            <a:xfrm>
              <a:off x="1966341" y="1876324"/>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0" name="Line 246"/>
            <p:cNvSpPr>
              <a:spLocks noChangeShapeType="1"/>
            </p:cNvSpPr>
            <p:nvPr/>
          </p:nvSpPr>
          <p:spPr bwMode="auto">
            <a:xfrm>
              <a:off x="1804171" y="1530910"/>
              <a:ext cx="189406" cy="362265"/>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1" name="Line 247"/>
            <p:cNvSpPr>
              <a:spLocks noChangeShapeType="1"/>
            </p:cNvSpPr>
            <p:nvPr/>
          </p:nvSpPr>
          <p:spPr bwMode="auto">
            <a:xfrm flipH="1">
              <a:off x="2013383" y="1573034"/>
              <a:ext cx="240162" cy="320141"/>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579308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2000" fill="hold" grpId="0" nodeType="clickEffect">
                                  <p:stCondLst>
                                    <p:cond delay="0"/>
                                  </p:stCondLst>
                                  <p:childTnLst>
                                    <p:anim calcmode="discrete" valueType="str">
                                      <p:cBhvr>
                                        <p:cTn id="6" dur="1000" fill="hold"/>
                                        <p:tgtEl>
                                          <p:spTgt spid="126"/>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2000" fill="hold" grpId="0" nodeType="clickEffect">
                                  <p:stCondLst>
                                    <p:cond delay="0"/>
                                  </p:stCondLst>
                                  <p:childTnLst>
                                    <p:anim calcmode="discrete" valueType="str">
                                      <p:cBhvr>
                                        <p:cTn id="10" dur="1000" fill="hold"/>
                                        <p:tgtEl>
                                          <p:spTgt spid="127"/>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2000" fill="hold" grpId="0" nodeType="clickEffect">
                                  <p:stCondLst>
                                    <p:cond delay="0"/>
                                  </p:stCondLst>
                                  <p:childTnLst>
                                    <p:anim calcmode="discrete" valueType="str">
                                      <p:cBhvr>
                                        <p:cTn id="14" dur="1000" fill="hold"/>
                                        <p:tgtEl>
                                          <p:spTgt spid="129"/>
                                        </p:tgtEl>
                                        <p:attrNameLst>
                                          <p:attrName>style.visibility</p:attrName>
                                        </p:attrNameLst>
                                      </p:cBhvr>
                                      <p:tavLst>
                                        <p:tav tm="0">
                                          <p:val>
                                            <p:strVal val="hidden"/>
                                          </p:val>
                                        </p:tav>
                                        <p:tav tm="50000">
                                          <p:val>
                                            <p:strVal val="visible"/>
                                          </p:val>
                                        </p:tav>
                                      </p:tavLst>
                                    </p:anim>
                                  </p:childTnLst>
                                </p:cTn>
                              </p:par>
                              <p:par>
                                <p:cTn id="15" presetID="35" presetClass="emph" presetSubtype="0" repeatCount="2000" fill="hold" grpId="0" nodeType="withEffect">
                                  <p:stCondLst>
                                    <p:cond delay="0"/>
                                  </p:stCondLst>
                                  <p:childTnLst>
                                    <p:anim calcmode="discrete" valueType="str">
                                      <p:cBhvr>
                                        <p:cTn id="16" dur="1000" fill="hold"/>
                                        <p:tgtEl>
                                          <p:spTgt spid="13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p:bldP spid="127" grpId="0"/>
      <p:bldP spid="129" grpId="0"/>
      <p:bldP spid="13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BE980-F0FD-0954-660C-DB02ABD9EEC0}"/>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BD833ACC-EDC3-6B15-5B46-B1D2E31EC3D2}"/>
              </a:ext>
            </a:extLst>
          </p:cNvPr>
          <p:cNvSpPr>
            <a:spLocks noChangeArrowheads="1"/>
          </p:cNvSpPr>
          <p:nvPr/>
        </p:nvSpPr>
        <p:spPr bwMode="auto">
          <a:xfrm>
            <a:off x="545145" y="62312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圆角矩形 7">
            <a:extLst>
              <a:ext uri="{FF2B5EF4-FFF2-40B4-BE49-F238E27FC236}">
                <a16:creationId xmlns:a16="http://schemas.microsoft.com/office/drawing/2014/main" id="{567555D1-9516-69FC-152A-D59BDF9E9BE0}"/>
              </a:ext>
            </a:extLst>
          </p:cNvPr>
          <p:cNvSpPr/>
          <p:nvPr/>
        </p:nvSpPr>
        <p:spPr>
          <a:xfrm>
            <a:off x="545145" y="1010920"/>
            <a:ext cx="8053710" cy="328676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Rectangle 6">
            <a:extLst>
              <a:ext uri="{FF2B5EF4-FFF2-40B4-BE49-F238E27FC236}">
                <a16:creationId xmlns:a16="http://schemas.microsoft.com/office/drawing/2014/main" id="{BA6D230A-2831-12BE-538E-1BD950B5F4DC}"/>
              </a:ext>
            </a:extLst>
          </p:cNvPr>
          <p:cNvSpPr>
            <a:spLocks noChangeArrowheads="1"/>
          </p:cNvSpPr>
          <p:nvPr/>
        </p:nvSpPr>
        <p:spPr bwMode="auto">
          <a:xfrm>
            <a:off x="3701580" y="58987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传输层的作用</a:t>
            </a:r>
          </a:p>
        </p:txBody>
      </p:sp>
      <p:sp>
        <p:nvSpPr>
          <p:cNvPr id="92" name="Rectangle 174">
            <a:extLst>
              <a:ext uri="{FF2B5EF4-FFF2-40B4-BE49-F238E27FC236}">
                <a16:creationId xmlns:a16="http://schemas.microsoft.com/office/drawing/2014/main" id="{3D854F4A-41CB-63BC-FBC4-018ECB1AFE5E}"/>
              </a:ext>
            </a:extLst>
          </p:cNvPr>
          <p:cNvSpPr>
            <a:spLocks noChangeArrowheads="1"/>
          </p:cNvSpPr>
          <p:nvPr/>
        </p:nvSpPr>
        <p:spPr bwMode="auto">
          <a:xfrm>
            <a:off x="1518204" y="1897856"/>
            <a:ext cx="5989193" cy="243382"/>
          </a:xfrm>
          <a:prstGeom prst="rect">
            <a:avLst/>
          </a:prstGeom>
          <a:solidFill>
            <a:srgbClr val="33CC33"/>
          </a:solidFill>
          <a:ln>
            <a:noFill/>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1" name="Rectangle 2">
            <a:extLst>
              <a:ext uri="{FF2B5EF4-FFF2-40B4-BE49-F238E27FC236}">
                <a16:creationId xmlns:a16="http://schemas.microsoft.com/office/drawing/2014/main" id="{F22DE1B0-6BC0-0B67-87E0-4E3A484DD0A7}"/>
              </a:ext>
            </a:extLst>
          </p:cNvPr>
          <p:cNvSpPr>
            <a:spLocks noChangeArrowheads="1"/>
          </p:cNvSpPr>
          <p:nvPr/>
        </p:nvSpPr>
        <p:spPr bwMode="auto">
          <a:xfrm>
            <a:off x="1523156" y="1324035"/>
            <a:ext cx="996549" cy="13142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2" name="Line 53">
            <a:extLst>
              <a:ext uri="{FF2B5EF4-FFF2-40B4-BE49-F238E27FC236}">
                <a16:creationId xmlns:a16="http://schemas.microsoft.com/office/drawing/2014/main" id="{A9CD2D55-125E-8BA6-AE80-4C43C5D49C81}"/>
              </a:ext>
            </a:extLst>
          </p:cNvPr>
          <p:cNvSpPr>
            <a:spLocks noChangeShapeType="1"/>
          </p:cNvSpPr>
          <p:nvPr/>
        </p:nvSpPr>
        <p:spPr bwMode="auto">
          <a:xfrm>
            <a:off x="2513514" y="3347967"/>
            <a:ext cx="3978765"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7">
            <a:extLst>
              <a:ext uri="{FF2B5EF4-FFF2-40B4-BE49-F238E27FC236}">
                <a16:creationId xmlns:a16="http://schemas.microsoft.com/office/drawing/2014/main" id="{7648C0C6-48B7-F752-DA5A-D82BA6F5B158}"/>
              </a:ext>
            </a:extLst>
          </p:cNvPr>
          <p:cNvSpPr>
            <a:spLocks noChangeShapeType="1"/>
          </p:cNvSpPr>
          <p:nvPr/>
        </p:nvSpPr>
        <p:spPr bwMode="auto">
          <a:xfrm>
            <a:off x="1523156" y="2144982"/>
            <a:ext cx="99531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8">
            <a:extLst>
              <a:ext uri="{FF2B5EF4-FFF2-40B4-BE49-F238E27FC236}">
                <a16:creationId xmlns:a16="http://schemas.microsoft.com/office/drawing/2014/main" id="{1840AE30-676A-A109-361D-E22492721B4F}"/>
              </a:ext>
            </a:extLst>
          </p:cNvPr>
          <p:cNvSpPr>
            <a:spLocks noChangeShapeType="1"/>
          </p:cNvSpPr>
          <p:nvPr/>
        </p:nvSpPr>
        <p:spPr bwMode="auto">
          <a:xfrm>
            <a:off x="1523156" y="2393045"/>
            <a:ext cx="99531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Rectangle 9">
            <a:extLst>
              <a:ext uri="{FF2B5EF4-FFF2-40B4-BE49-F238E27FC236}">
                <a16:creationId xmlns:a16="http://schemas.microsoft.com/office/drawing/2014/main" id="{E64F4898-5198-81E2-80E0-B5179D766428}"/>
              </a:ext>
            </a:extLst>
          </p:cNvPr>
          <p:cNvSpPr>
            <a:spLocks noChangeArrowheads="1"/>
          </p:cNvSpPr>
          <p:nvPr/>
        </p:nvSpPr>
        <p:spPr bwMode="auto">
          <a:xfrm>
            <a:off x="1528108" y="1666642"/>
            <a:ext cx="989121" cy="231214"/>
          </a:xfrm>
          <a:prstGeom prst="rect">
            <a:avLst/>
          </a:prstGeom>
          <a:solidFill>
            <a:srgbClr val="FF66FF"/>
          </a:solidFill>
          <a:ln w="19050">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6" name="Rectangle 10">
            <a:extLst>
              <a:ext uri="{FF2B5EF4-FFF2-40B4-BE49-F238E27FC236}">
                <a16:creationId xmlns:a16="http://schemas.microsoft.com/office/drawing/2014/main" id="{53B51BCE-70D0-48FB-59E8-21E86C8A9550}"/>
              </a:ext>
            </a:extLst>
          </p:cNvPr>
          <p:cNvSpPr>
            <a:spLocks noChangeArrowheads="1"/>
          </p:cNvSpPr>
          <p:nvPr/>
        </p:nvSpPr>
        <p:spPr bwMode="auto">
          <a:xfrm>
            <a:off x="1490519" y="1488853"/>
            <a:ext cx="277321" cy="116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1200"/>
              </a:lnSpc>
            </a:pPr>
            <a:r>
              <a:rPr lang="en-US" altLang="zh-CN" sz="1200" b="1" dirty="0">
                <a:latin typeface="微软雅黑" panose="020B0503020204020204" pitchFamily="34" charset="-122"/>
                <a:ea typeface="微软雅黑" panose="020B0503020204020204" pitchFamily="34" charset="-122"/>
              </a:rPr>
              <a:t>5</a:t>
            </a:r>
          </a:p>
          <a:p>
            <a:pPr>
              <a:lnSpc>
                <a:spcPts val="4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4</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3</a:t>
            </a:r>
          </a:p>
          <a:p>
            <a:pPr>
              <a:lnSpc>
                <a:spcPts val="8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2</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1</a:t>
            </a:r>
          </a:p>
        </p:txBody>
      </p:sp>
      <p:grpSp>
        <p:nvGrpSpPr>
          <p:cNvPr id="110" name="Group 15">
            <a:extLst>
              <a:ext uri="{FF2B5EF4-FFF2-40B4-BE49-F238E27FC236}">
                <a16:creationId xmlns:a16="http://schemas.microsoft.com/office/drawing/2014/main" id="{B0214368-F4D3-B6E7-2DB5-44BAA4A23C6F}"/>
              </a:ext>
            </a:extLst>
          </p:cNvPr>
          <p:cNvGrpSpPr>
            <a:grpSpLocks/>
          </p:cNvGrpSpPr>
          <p:nvPr/>
        </p:nvGrpSpPr>
        <p:grpSpPr bwMode="auto">
          <a:xfrm>
            <a:off x="3388744" y="1903472"/>
            <a:ext cx="729151" cy="734827"/>
            <a:chOff x="2017" y="1543"/>
            <a:chExt cx="619" cy="922"/>
          </a:xfrm>
        </p:grpSpPr>
        <p:sp>
          <p:nvSpPr>
            <p:cNvPr id="111" name="Rectangle 12">
              <a:extLst>
                <a:ext uri="{FF2B5EF4-FFF2-40B4-BE49-F238E27FC236}">
                  <a16:creationId xmlns:a16="http://schemas.microsoft.com/office/drawing/2014/main" id="{EA488158-A40C-7356-ACE1-D9669AD536CB}"/>
                </a:ext>
              </a:extLst>
            </p:cNvPr>
            <p:cNvSpPr>
              <a:spLocks noChangeArrowheads="1"/>
            </p:cNvSpPr>
            <p:nvPr/>
          </p:nvSpPr>
          <p:spPr bwMode="auto">
            <a:xfrm>
              <a:off x="2017" y="1543"/>
              <a:ext cx="619" cy="92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12" name="Line 13">
              <a:extLst>
                <a:ext uri="{FF2B5EF4-FFF2-40B4-BE49-F238E27FC236}">
                  <a16:creationId xmlns:a16="http://schemas.microsoft.com/office/drawing/2014/main" id="{06D602DA-E57F-7DDA-3A28-68F259846FBD}"/>
                </a:ext>
              </a:extLst>
            </p:cNvPr>
            <p:cNvSpPr>
              <a:spLocks noChangeShapeType="1"/>
            </p:cNvSpPr>
            <p:nvPr/>
          </p:nvSpPr>
          <p:spPr bwMode="auto">
            <a:xfrm>
              <a:off x="2017" y="1845"/>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14">
              <a:extLst>
                <a:ext uri="{FF2B5EF4-FFF2-40B4-BE49-F238E27FC236}">
                  <a16:creationId xmlns:a16="http://schemas.microsoft.com/office/drawing/2014/main" id="{3C85FBFF-B89A-D63A-E648-150536C05A58}"/>
                </a:ext>
              </a:extLst>
            </p:cNvPr>
            <p:cNvSpPr>
              <a:spLocks noChangeShapeType="1"/>
            </p:cNvSpPr>
            <p:nvPr/>
          </p:nvSpPr>
          <p:spPr bwMode="auto">
            <a:xfrm>
              <a:off x="2017" y="2157"/>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sp>
        <p:nvSpPr>
          <p:cNvPr id="114" name="Rectangle 16">
            <a:extLst>
              <a:ext uri="{FF2B5EF4-FFF2-40B4-BE49-F238E27FC236}">
                <a16:creationId xmlns:a16="http://schemas.microsoft.com/office/drawing/2014/main" id="{FC18246E-0F98-214A-7AD0-7C75D83E9F68}"/>
              </a:ext>
            </a:extLst>
          </p:cNvPr>
          <p:cNvSpPr>
            <a:spLocks noChangeArrowheads="1"/>
          </p:cNvSpPr>
          <p:nvPr/>
        </p:nvSpPr>
        <p:spPr bwMode="auto">
          <a:xfrm>
            <a:off x="6505897" y="1324035"/>
            <a:ext cx="997786" cy="13142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15" name="Line 21">
            <a:extLst>
              <a:ext uri="{FF2B5EF4-FFF2-40B4-BE49-F238E27FC236}">
                <a16:creationId xmlns:a16="http://schemas.microsoft.com/office/drawing/2014/main" id="{C0171813-5485-40AD-E912-52C08D6BA690}"/>
              </a:ext>
            </a:extLst>
          </p:cNvPr>
          <p:cNvSpPr>
            <a:spLocks noChangeShapeType="1"/>
          </p:cNvSpPr>
          <p:nvPr/>
        </p:nvSpPr>
        <p:spPr bwMode="auto">
          <a:xfrm>
            <a:off x="6505897" y="2144982"/>
            <a:ext cx="9965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22">
            <a:extLst>
              <a:ext uri="{FF2B5EF4-FFF2-40B4-BE49-F238E27FC236}">
                <a16:creationId xmlns:a16="http://schemas.microsoft.com/office/drawing/2014/main" id="{F1FF9CD5-0C18-C9A1-B776-2FC7F13A368E}"/>
              </a:ext>
            </a:extLst>
          </p:cNvPr>
          <p:cNvSpPr>
            <a:spLocks noChangeShapeType="1"/>
          </p:cNvSpPr>
          <p:nvPr/>
        </p:nvSpPr>
        <p:spPr bwMode="auto">
          <a:xfrm>
            <a:off x="6505897" y="2393045"/>
            <a:ext cx="9965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Rectangle 23">
            <a:extLst>
              <a:ext uri="{FF2B5EF4-FFF2-40B4-BE49-F238E27FC236}">
                <a16:creationId xmlns:a16="http://schemas.microsoft.com/office/drawing/2014/main" id="{4C516D59-AF0D-4826-A27E-EA28C1BE26AD}"/>
              </a:ext>
            </a:extLst>
          </p:cNvPr>
          <p:cNvSpPr>
            <a:spLocks noChangeArrowheads="1"/>
          </p:cNvSpPr>
          <p:nvPr/>
        </p:nvSpPr>
        <p:spPr bwMode="auto">
          <a:xfrm>
            <a:off x="6508373" y="1666642"/>
            <a:ext cx="995310" cy="231214"/>
          </a:xfrm>
          <a:prstGeom prst="rect">
            <a:avLst/>
          </a:prstGeom>
          <a:solidFill>
            <a:srgbClr val="FF66FF"/>
          </a:solidFill>
          <a:ln w="19050">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grpSp>
        <p:nvGrpSpPr>
          <p:cNvPr id="118" name="Group 29">
            <a:extLst>
              <a:ext uri="{FF2B5EF4-FFF2-40B4-BE49-F238E27FC236}">
                <a16:creationId xmlns:a16="http://schemas.microsoft.com/office/drawing/2014/main" id="{EDBF47BA-2916-BAD3-EFAB-CDAD4BB71E36}"/>
              </a:ext>
            </a:extLst>
          </p:cNvPr>
          <p:cNvGrpSpPr>
            <a:grpSpLocks/>
          </p:cNvGrpSpPr>
          <p:nvPr/>
        </p:nvGrpSpPr>
        <p:grpSpPr bwMode="auto">
          <a:xfrm>
            <a:off x="4896565" y="1903472"/>
            <a:ext cx="729151" cy="734827"/>
            <a:chOff x="3295" y="1543"/>
            <a:chExt cx="619" cy="922"/>
          </a:xfrm>
        </p:grpSpPr>
        <p:sp>
          <p:nvSpPr>
            <p:cNvPr id="119" name="Rectangle 26">
              <a:extLst>
                <a:ext uri="{FF2B5EF4-FFF2-40B4-BE49-F238E27FC236}">
                  <a16:creationId xmlns:a16="http://schemas.microsoft.com/office/drawing/2014/main" id="{AB298620-259D-3419-6C5C-63D76AD88626}"/>
                </a:ext>
              </a:extLst>
            </p:cNvPr>
            <p:cNvSpPr>
              <a:spLocks noChangeArrowheads="1"/>
            </p:cNvSpPr>
            <p:nvPr/>
          </p:nvSpPr>
          <p:spPr bwMode="auto">
            <a:xfrm>
              <a:off x="3295" y="1543"/>
              <a:ext cx="619" cy="92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20" name="Line 27">
              <a:extLst>
                <a:ext uri="{FF2B5EF4-FFF2-40B4-BE49-F238E27FC236}">
                  <a16:creationId xmlns:a16="http://schemas.microsoft.com/office/drawing/2014/main" id="{C23F35C1-2E59-DE9B-C3F4-FDE684923C06}"/>
                </a:ext>
              </a:extLst>
            </p:cNvPr>
            <p:cNvSpPr>
              <a:spLocks noChangeShapeType="1"/>
            </p:cNvSpPr>
            <p:nvPr/>
          </p:nvSpPr>
          <p:spPr bwMode="auto">
            <a:xfrm>
              <a:off x="3295" y="1845"/>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28">
              <a:extLst>
                <a:ext uri="{FF2B5EF4-FFF2-40B4-BE49-F238E27FC236}">
                  <a16:creationId xmlns:a16="http://schemas.microsoft.com/office/drawing/2014/main" id="{7F145F7D-EB46-2789-683F-84DE9D1DBA36}"/>
                </a:ext>
              </a:extLst>
            </p:cNvPr>
            <p:cNvSpPr>
              <a:spLocks noChangeShapeType="1"/>
            </p:cNvSpPr>
            <p:nvPr/>
          </p:nvSpPr>
          <p:spPr bwMode="auto">
            <a:xfrm>
              <a:off x="3295" y="2157"/>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sp>
        <p:nvSpPr>
          <p:cNvPr id="122" name="Rectangle 31">
            <a:extLst>
              <a:ext uri="{FF2B5EF4-FFF2-40B4-BE49-F238E27FC236}">
                <a16:creationId xmlns:a16="http://schemas.microsoft.com/office/drawing/2014/main" id="{F3B9E4C0-5D1B-CC9F-E380-E57C918D3558}"/>
              </a:ext>
            </a:extLst>
          </p:cNvPr>
          <p:cNvSpPr>
            <a:spLocks noChangeArrowheads="1"/>
          </p:cNvSpPr>
          <p:nvPr/>
        </p:nvSpPr>
        <p:spPr bwMode="auto">
          <a:xfrm>
            <a:off x="3242326" y="1499190"/>
            <a:ext cx="266282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传输层提供应用进程</a:t>
            </a:r>
            <a:r>
              <a:rPr lang="zh-CN" altLang="zh-CN" sz="1200" b="1" dirty="0">
                <a:latin typeface="微软雅黑" panose="020B0503020204020204" pitchFamily="34" charset="-122"/>
                <a:ea typeface="微软雅黑" panose="020B0503020204020204" pitchFamily="34" charset="-122"/>
              </a:rPr>
              <a:t>间的</a:t>
            </a:r>
            <a:r>
              <a:rPr lang="zh-CN" altLang="zh-CN" sz="1200" b="1" dirty="0">
                <a:solidFill>
                  <a:srgbClr val="9900FF"/>
                </a:solidFill>
                <a:latin typeface="微软雅黑" panose="020B0503020204020204" pitchFamily="34" charset="-122"/>
                <a:ea typeface="微软雅黑" panose="020B0503020204020204" pitchFamily="34" charset="-122"/>
              </a:rPr>
              <a:t>逻辑</a:t>
            </a:r>
            <a:r>
              <a:rPr lang="zh-CN" altLang="en-US" sz="1200" b="1" dirty="0">
                <a:solidFill>
                  <a:srgbClr val="9900FF"/>
                </a:solidFill>
                <a:latin typeface="微软雅黑" panose="020B0503020204020204" pitchFamily="34" charset="-122"/>
                <a:ea typeface="微软雅黑" panose="020B0503020204020204" pitchFamily="34" charset="-122"/>
              </a:rPr>
              <a:t>通信</a:t>
            </a:r>
          </a:p>
        </p:txBody>
      </p:sp>
      <p:sp>
        <p:nvSpPr>
          <p:cNvPr id="123" name="Rectangle 33">
            <a:extLst>
              <a:ext uri="{FF2B5EF4-FFF2-40B4-BE49-F238E27FC236}">
                <a16:creationId xmlns:a16="http://schemas.microsoft.com/office/drawing/2014/main" id="{6AECF608-56B4-DB44-B03C-6FA7A689D41E}"/>
              </a:ext>
            </a:extLst>
          </p:cNvPr>
          <p:cNvSpPr>
            <a:spLocks noChangeArrowheads="1"/>
          </p:cNvSpPr>
          <p:nvPr/>
        </p:nvSpPr>
        <p:spPr bwMode="auto">
          <a:xfrm>
            <a:off x="1523156" y="3105520"/>
            <a:ext cx="995310" cy="491119"/>
          </a:xfrm>
          <a:prstGeom prst="rect">
            <a:avLst/>
          </a:prstGeom>
          <a:solidFill>
            <a:schemeClr val="bg1"/>
          </a:solidFill>
          <a:ln w="9525">
            <a:solidFill>
              <a:schemeClr val="tx1"/>
            </a:solidFill>
            <a:miter lim="800000"/>
            <a:headEnd/>
            <a:tailEnd/>
          </a:ln>
          <a:effectLst/>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124" name="Freeform 54">
            <a:extLst>
              <a:ext uri="{FF2B5EF4-FFF2-40B4-BE49-F238E27FC236}">
                <a16:creationId xmlns:a16="http://schemas.microsoft.com/office/drawing/2014/main" id="{32E3C912-D997-A088-18F1-A703696B79AE}"/>
              </a:ext>
            </a:extLst>
          </p:cNvPr>
          <p:cNvSpPr>
            <a:spLocks/>
          </p:cNvSpPr>
          <p:nvPr/>
        </p:nvSpPr>
        <p:spPr bwMode="auto">
          <a:xfrm>
            <a:off x="2070329" y="3258103"/>
            <a:ext cx="450613" cy="85184"/>
          </a:xfrm>
          <a:custGeom>
            <a:avLst/>
            <a:gdLst>
              <a:gd name="T0" fmla="*/ 0 w 382"/>
              <a:gd name="T1" fmla="*/ 0 h 277"/>
              <a:gd name="T2" fmla="*/ 2147483647 w 382"/>
              <a:gd name="T3" fmla="*/ 0 h 277"/>
              <a:gd name="T4" fmla="*/ 2147483647 w 382"/>
              <a:gd name="T5" fmla="*/ 2147483647 h 277"/>
              <a:gd name="T6" fmla="*/ 2147483647 w 382"/>
              <a:gd name="T7" fmla="*/ 2147483647 h 277"/>
              <a:gd name="T8" fmla="*/ 2147483647 w 382"/>
              <a:gd name="T9" fmla="*/ 2147483647 h 277"/>
              <a:gd name="T10" fmla="*/ 2147483647 w 382"/>
              <a:gd name="T11" fmla="*/ 2147483647 h 277"/>
              <a:gd name="T12" fmla="*/ 2147483647 w 382"/>
              <a:gd name="T13" fmla="*/ 2147483647 h 277"/>
              <a:gd name="T14" fmla="*/ 2147483647 w 382"/>
              <a:gd name="T15" fmla="*/ 2147483647 h 277"/>
              <a:gd name="T16" fmla="*/ 2147483647 w 382"/>
              <a:gd name="T17" fmla="*/ 2147483647 h 277"/>
              <a:gd name="T18" fmla="*/ 2147483647 w 382"/>
              <a:gd name="T19" fmla="*/ 2147483647 h 277"/>
              <a:gd name="T20" fmla="*/ 2147483647 w 382"/>
              <a:gd name="T21" fmla="*/ 2147483647 h 277"/>
              <a:gd name="T22" fmla="*/ 2147483647 w 382"/>
              <a:gd name="T23" fmla="*/ 2147483647 h 277"/>
              <a:gd name="T24" fmla="*/ 2147483647 w 382"/>
              <a:gd name="T25" fmla="*/ 2147483647 h 277"/>
              <a:gd name="T26" fmla="*/ 2147483647 w 382"/>
              <a:gd name="T27" fmla="*/ 2147483647 h 277"/>
              <a:gd name="T28" fmla="*/ 2147483647 w 382"/>
              <a:gd name="T29" fmla="*/ 2147483647 h 277"/>
              <a:gd name="T30" fmla="*/ 2147483647 w 382"/>
              <a:gd name="T31" fmla="*/ 2147483647 h 277"/>
              <a:gd name="T32" fmla="*/ 2147483647 w 382"/>
              <a:gd name="T33" fmla="*/ 2147483647 h 277"/>
              <a:gd name="T34" fmla="*/ 2147483647 w 382"/>
              <a:gd name="T35" fmla="*/ 2147483647 h 277"/>
              <a:gd name="T36" fmla="*/ 2147483647 w 382"/>
              <a:gd name="T37" fmla="*/ 2147483647 h 277"/>
              <a:gd name="T38" fmla="*/ 2147483647 w 382"/>
              <a:gd name="T39" fmla="*/ 2147483647 h 277"/>
              <a:gd name="T40" fmla="*/ 2147483647 w 382"/>
              <a:gd name="T41" fmla="*/ 2147483647 h 277"/>
              <a:gd name="T42" fmla="*/ 2147483647 w 382"/>
              <a:gd name="T43" fmla="*/ 2147483647 h 277"/>
              <a:gd name="T44" fmla="*/ 2147483647 w 382"/>
              <a:gd name="T45" fmla="*/ 2147483647 h 277"/>
              <a:gd name="T46" fmla="*/ 2147483647 w 382"/>
              <a:gd name="T47" fmla="*/ 2147483647 h 277"/>
              <a:gd name="T48" fmla="*/ 2147483647 w 382"/>
              <a:gd name="T49" fmla="*/ 2147483647 h 277"/>
              <a:gd name="T50" fmla="*/ 2147483647 w 382"/>
              <a:gd name="T51" fmla="*/ 2147483647 h 277"/>
              <a:gd name="T52" fmla="*/ 2147483647 w 382"/>
              <a:gd name="T53" fmla="*/ 2147483647 h 277"/>
              <a:gd name="T54" fmla="*/ 2147483647 w 382"/>
              <a:gd name="T55" fmla="*/ 2147483647 h 277"/>
              <a:gd name="T56" fmla="*/ 2147483647 w 382"/>
              <a:gd name="T57" fmla="*/ 2147483647 h 277"/>
              <a:gd name="T58" fmla="*/ 2147483647 w 382"/>
              <a:gd name="T59" fmla="*/ 2147483647 h 277"/>
              <a:gd name="T60" fmla="*/ 2147483647 w 382"/>
              <a:gd name="T61" fmla="*/ 2147483647 h 277"/>
              <a:gd name="T62" fmla="*/ 2147483647 w 382"/>
              <a:gd name="T63" fmla="*/ 2147483647 h 277"/>
              <a:gd name="T64" fmla="*/ 2147483647 w 382"/>
              <a:gd name="T65" fmla="*/ 2147483647 h 277"/>
              <a:gd name="T66" fmla="*/ 2147483647 w 382"/>
              <a:gd name="T67" fmla="*/ 2147483647 h 277"/>
              <a:gd name="T68" fmla="*/ 2147483647 w 382"/>
              <a:gd name="T69" fmla="*/ 2147483647 h 277"/>
              <a:gd name="T70" fmla="*/ 2147483647 w 382"/>
              <a:gd name="T71" fmla="*/ 2147483647 h 277"/>
              <a:gd name="T72" fmla="*/ 2147483647 w 382"/>
              <a:gd name="T73" fmla="*/ 2147483647 h 277"/>
              <a:gd name="T74" fmla="*/ 2147483647 w 382"/>
              <a:gd name="T75" fmla="*/ 2147483647 h 277"/>
              <a:gd name="T76" fmla="*/ 2147483647 w 382"/>
              <a:gd name="T77" fmla="*/ 2147483647 h 277"/>
              <a:gd name="T78" fmla="*/ 2147483647 w 382"/>
              <a:gd name="T79" fmla="*/ 2147483647 h 277"/>
              <a:gd name="T80" fmla="*/ 2147483647 w 382"/>
              <a:gd name="T81" fmla="*/ 2147483647 h 277"/>
              <a:gd name="T82" fmla="*/ 2147483647 w 382"/>
              <a:gd name="T83" fmla="*/ 2147483647 h 277"/>
              <a:gd name="T84" fmla="*/ 2147483647 w 382"/>
              <a:gd name="T85" fmla="*/ 2147483647 h 277"/>
              <a:gd name="T86" fmla="*/ 2147483647 w 382"/>
              <a:gd name="T87" fmla="*/ 2147483647 h 277"/>
              <a:gd name="T88" fmla="*/ 2147483647 w 382"/>
              <a:gd name="T89" fmla="*/ 2147483647 h 277"/>
              <a:gd name="T90" fmla="*/ 2147483647 w 382"/>
              <a:gd name="T91" fmla="*/ 2147483647 h 27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82"/>
              <a:gd name="T139" fmla="*/ 0 h 277"/>
              <a:gd name="T140" fmla="*/ 382 w 382"/>
              <a:gd name="T141" fmla="*/ 277 h 27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5" name="Freeform 55">
            <a:extLst>
              <a:ext uri="{FF2B5EF4-FFF2-40B4-BE49-F238E27FC236}">
                <a16:creationId xmlns:a16="http://schemas.microsoft.com/office/drawing/2014/main" id="{4C722026-AA70-9A39-2C7A-E6202F3C9799}"/>
              </a:ext>
            </a:extLst>
          </p:cNvPr>
          <p:cNvSpPr>
            <a:spLocks/>
          </p:cNvSpPr>
          <p:nvPr/>
        </p:nvSpPr>
        <p:spPr bwMode="auto">
          <a:xfrm>
            <a:off x="2028239" y="3354519"/>
            <a:ext cx="488990" cy="95481"/>
          </a:xfrm>
          <a:custGeom>
            <a:avLst/>
            <a:gdLst>
              <a:gd name="T0" fmla="*/ 0 w 334"/>
              <a:gd name="T1" fmla="*/ 2147483647 h 244"/>
              <a:gd name="T2" fmla="*/ 2147483647 w 334"/>
              <a:gd name="T3" fmla="*/ 2147483647 h 244"/>
              <a:gd name="T4" fmla="*/ 2147483647 w 334"/>
              <a:gd name="T5" fmla="*/ 2147483647 h 244"/>
              <a:gd name="T6" fmla="*/ 2147483647 w 334"/>
              <a:gd name="T7" fmla="*/ 2147483647 h 244"/>
              <a:gd name="T8" fmla="*/ 2147483647 w 334"/>
              <a:gd name="T9" fmla="*/ 2147483647 h 244"/>
              <a:gd name="T10" fmla="*/ 2147483647 w 334"/>
              <a:gd name="T11" fmla="*/ 2147483647 h 244"/>
              <a:gd name="T12" fmla="*/ 2147483647 w 334"/>
              <a:gd name="T13" fmla="*/ 2147483647 h 244"/>
              <a:gd name="T14" fmla="*/ 2147483647 w 334"/>
              <a:gd name="T15" fmla="*/ 2147483647 h 244"/>
              <a:gd name="T16" fmla="*/ 2147483647 w 334"/>
              <a:gd name="T17" fmla="*/ 2147483647 h 244"/>
              <a:gd name="T18" fmla="*/ 2147483647 w 334"/>
              <a:gd name="T19" fmla="*/ 2147483647 h 244"/>
              <a:gd name="T20" fmla="*/ 2147483647 w 334"/>
              <a:gd name="T21" fmla="*/ 2147483647 h 244"/>
              <a:gd name="T22" fmla="*/ 2147483647 w 334"/>
              <a:gd name="T23" fmla="*/ 2147483647 h 244"/>
              <a:gd name="T24" fmla="*/ 2147483647 w 334"/>
              <a:gd name="T25" fmla="*/ 2147483647 h 244"/>
              <a:gd name="T26" fmla="*/ 2147483647 w 334"/>
              <a:gd name="T27" fmla="*/ 2147483647 h 244"/>
              <a:gd name="T28" fmla="*/ 2147483647 w 334"/>
              <a:gd name="T29" fmla="*/ 2147483647 h 244"/>
              <a:gd name="T30" fmla="*/ 2147483647 w 334"/>
              <a:gd name="T31" fmla="*/ 2147483647 h 244"/>
              <a:gd name="T32" fmla="*/ 2147483647 w 334"/>
              <a:gd name="T33" fmla="*/ 2147483647 h 244"/>
              <a:gd name="T34" fmla="*/ 2147483647 w 334"/>
              <a:gd name="T35" fmla="*/ 2147483647 h 244"/>
              <a:gd name="T36" fmla="*/ 2147483647 w 334"/>
              <a:gd name="T37" fmla="*/ 2147483647 h 244"/>
              <a:gd name="T38" fmla="*/ 2147483647 w 334"/>
              <a:gd name="T39" fmla="*/ 2147483647 h 244"/>
              <a:gd name="T40" fmla="*/ 2147483647 w 334"/>
              <a:gd name="T41" fmla="*/ 2147483647 h 244"/>
              <a:gd name="T42" fmla="*/ 2147483647 w 334"/>
              <a:gd name="T43" fmla="*/ 2147483647 h 244"/>
              <a:gd name="T44" fmla="*/ 2147483647 w 334"/>
              <a:gd name="T45" fmla="*/ 2147483647 h 244"/>
              <a:gd name="T46" fmla="*/ 2147483647 w 334"/>
              <a:gd name="T47" fmla="*/ 2147483647 h 244"/>
              <a:gd name="T48" fmla="*/ 2147483647 w 334"/>
              <a:gd name="T49" fmla="*/ 2147483647 h 244"/>
              <a:gd name="T50" fmla="*/ 2147483647 w 334"/>
              <a:gd name="T51" fmla="*/ 2147483647 h 244"/>
              <a:gd name="T52" fmla="*/ 2147483647 w 334"/>
              <a:gd name="T53" fmla="*/ 2147483647 h 244"/>
              <a:gd name="T54" fmla="*/ 2147483647 w 334"/>
              <a:gd name="T55" fmla="*/ 2147483647 h 244"/>
              <a:gd name="T56" fmla="*/ 2147483647 w 334"/>
              <a:gd name="T57" fmla="*/ 2147483647 h 244"/>
              <a:gd name="T58" fmla="*/ 2147483647 w 334"/>
              <a:gd name="T59" fmla="*/ 2147483647 h 244"/>
              <a:gd name="T60" fmla="*/ 2147483647 w 334"/>
              <a:gd name="T61" fmla="*/ 2147483647 h 244"/>
              <a:gd name="T62" fmla="*/ 2147483647 w 334"/>
              <a:gd name="T63" fmla="*/ 2147483647 h 244"/>
              <a:gd name="T64" fmla="*/ 2147483647 w 334"/>
              <a:gd name="T65" fmla="*/ 2147483647 h 244"/>
              <a:gd name="T66" fmla="*/ 2147483647 w 334"/>
              <a:gd name="T67" fmla="*/ 2147483647 h 244"/>
              <a:gd name="T68" fmla="*/ 2147483647 w 334"/>
              <a:gd name="T69" fmla="*/ 2147483647 h 244"/>
              <a:gd name="T70" fmla="*/ 2147483647 w 334"/>
              <a:gd name="T71" fmla="*/ 2147483647 h 244"/>
              <a:gd name="T72" fmla="*/ 2147483647 w 334"/>
              <a:gd name="T73" fmla="*/ 2147483647 h 244"/>
              <a:gd name="T74" fmla="*/ 2147483647 w 334"/>
              <a:gd name="T75" fmla="*/ 2147483647 h 244"/>
              <a:gd name="T76" fmla="*/ 2147483647 w 334"/>
              <a:gd name="T77" fmla="*/ 2147483647 h 244"/>
              <a:gd name="T78" fmla="*/ 2147483647 w 334"/>
              <a:gd name="T79" fmla="*/ 0 h 24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34"/>
              <a:gd name="T121" fmla="*/ 0 h 244"/>
              <a:gd name="T122" fmla="*/ 334 w 334"/>
              <a:gd name="T123" fmla="*/ 244 h 24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6" name="Rectangle 82">
            <a:extLst>
              <a:ext uri="{FF2B5EF4-FFF2-40B4-BE49-F238E27FC236}">
                <a16:creationId xmlns:a16="http://schemas.microsoft.com/office/drawing/2014/main" id="{61647979-3671-D112-3D6A-5390D058C512}"/>
              </a:ext>
            </a:extLst>
          </p:cNvPr>
          <p:cNvSpPr>
            <a:spLocks noChangeArrowheads="1"/>
          </p:cNvSpPr>
          <p:nvPr/>
        </p:nvSpPr>
        <p:spPr bwMode="auto">
          <a:xfrm>
            <a:off x="1681612" y="2864695"/>
            <a:ext cx="816617"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主机 </a:t>
            </a:r>
            <a:r>
              <a:rPr lang="en-US" altLang="zh-CN" sz="1200" b="1" dirty="0">
                <a:latin typeface="微软雅黑" panose="020B0503020204020204" pitchFamily="34" charset="-122"/>
                <a:ea typeface="微软雅黑" panose="020B0503020204020204" pitchFamily="34" charset="-122"/>
              </a:rPr>
              <a:t>A</a:t>
            </a:r>
          </a:p>
        </p:txBody>
      </p:sp>
      <p:sp>
        <p:nvSpPr>
          <p:cNvPr id="127" name="Rectangle 83">
            <a:extLst>
              <a:ext uri="{FF2B5EF4-FFF2-40B4-BE49-F238E27FC236}">
                <a16:creationId xmlns:a16="http://schemas.microsoft.com/office/drawing/2014/main" id="{03670D9B-A1DB-25B3-2575-8E385DE8311C}"/>
              </a:ext>
            </a:extLst>
          </p:cNvPr>
          <p:cNvSpPr>
            <a:spLocks noChangeArrowheads="1"/>
          </p:cNvSpPr>
          <p:nvPr/>
        </p:nvSpPr>
        <p:spPr bwMode="auto">
          <a:xfrm>
            <a:off x="6660640" y="2864695"/>
            <a:ext cx="804578"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latin typeface="微软雅黑" panose="020B0503020204020204" pitchFamily="34" charset="-122"/>
                <a:ea typeface="微软雅黑" panose="020B0503020204020204" pitchFamily="34" charset="-122"/>
              </a:rPr>
              <a:t>主机 </a:t>
            </a:r>
            <a:r>
              <a:rPr lang="en-US" altLang="zh-CN" sz="1200" b="1">
                <a:latin typeface="微软雅黑" panose="020B0503020204020204" pitchFamily="34" charset="-122"/>
                <a:ea typeface="微软雅黑" panose="020B0503020204020204" pitchFamily="34" charset="-122"/>
              </a:rPr>
              <a:t>B</a:t>
            </a:r>
          </a:p>
        </p:txBody>
      </p:sp>
      <p:sp>
        <p:nvSpPr>
          <p:cNvPr id="129" name="Rectangle 98">
            <a:extLst>
              <a:ext uri="{FF2B5EF4-FFF2-40B4-BE49-F238E27FC236}">
                <a16:creationId xmlns:a16="http://schemas.microsoft.com/office/drawing/2014/main" id="{4DE20F3D-B79E-B3E6-B6C6-F7C1841CD84C}"/>
              </a:ext>
            </a:extLst>
          </p:cNvPr>
          <p:cNvSpPr>
            <a:spLocks noChangeArrowheads="1"/>
          </p:cNvSpPr>
          <p:nvPr/>
        </p:nvSpPr>
        <p:spPr bwMode="auto">
          <a:xfrm>
            <a:off x="2650927" y="1247276"/>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solidFill>
                  <a:srgbClr val="C00000"/>
                </a:solidFill>
                <a:latin typeface="微软雅黑" panose="020B0503020204020204" pitchFamily="34" charset="-122"/>
                <a:ea typeface="微软雅黑" panose="020B0503020204020204" pitchFamily="34" charset="-122"/>
              </a:rPr>
              <a:t>应用进程</a:t>
            </a:r>
          </a:p>
        </p:txBody>
      </p:sp>
      <p:sp>
        <p:nvSpPr>
          <p:cNvPr id="130" name="Freeform 100">
            <a:extLst>
              <a:ext uri="{FF2B5EF4-FFF2-40B4-BE49-F238E27FC236}">
                <a16:creationId xmlns:a16="http://schemas.microsoft.com/office/drawing/2014/main" id="{580D7905-C401-BFE5-EF9D-41478FB99D57}"/>
              </a:ext>
            </a:extLst>
          </p:cNvPr>
          <p:cNvSpPr>
            <a:spLocks/>
          </p:cNvSpPr>
          <p:nvPr/>
        </p:nvSpPr>
        <p:spPr bwMode="auto">
          <a:xfrm>
            <a:off x="6218693" y="1397986"/>
            <a:ext cx="370146" cy="83311"/>
          </a:xfrm>
          <a:custGeom>
            <a:avLst/>
            <a:gdLst>
              <a:gd name="T0" fmla="*/ 0 w 297"/>
              <a:gd name="T1" fmla="*/ 0 h 105"/>
              <a:gd name="T2" fmla="*/ 2147483647 w 297"/>
              <a:gd name="T3" fmla="*/ 2147483647 h 105"/>
              <a:gd name="T4" fmla="*/ 0 60000 65536"/>
              <a:gd name="T5" fmla="*/ 0 60000 65536"/>
              <a:gd name="T6" fmla="*/ 0 w 297"/>
              <a:gd name="T7" fmla="*/ 0 h 105"/>
              <a:gd name="T8" fmla="*/ 297 w 297"/>
              <a:gd name="T9" fmla="*/ 105 h 105"/>
            </a:gdLst>
            <a:ahLst/>
            <a:cxnLst>
              <a:cxn ang="T4">
                <a:pos x="T0" y="T1"/>
              </a:cxn>
              <a:cxn ang="T5">
                <a:pos x="T2" y="T3"/>
              </a:cxn>
            </a:cxnLst>
            <a:rect l="T6" t="T7" r="T8" b="T9"/>
            <a:pathLst>
              <a:path w="297" h="105">
                <a:moveTo>
                  <a:pt x="0" y="0"/>
                </a:moveTo>
                <a:lnTo>
                  <a:pt x="297" y="105"/>
                </a:lnTo>
              </a:path>
            </a:pathLst>
          </a:custGeom>
          <a:noFill/>
          <a:ln w="12700">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1" name="Rectangle 101">
            <a:extLst>
              <a:ext uri="{FF2B5EF4-FFF2-40B4-BE49-F238E27FC236}">
                <a16:creationId xmlns:a16="http://schemas.microsoft.com/office/drawing/2014/main" id="{536FAEFA-555B-3FE5-A0BA-5F135710AFD0}"/>
              </a:ext>
            </a:extLst>
          </p:cNvPr>
          <p:cNvSpPr>
            <a:spLocks noChangeArrowheads="1"/>
          </p:cNvSpPr>
          <p:nvPr/>
        </p:nvSpPr>
        <p:spPr bwMode="auto">
          <a:xfrm>
            <a:off x="5474686" y="1247276"/>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solidFill>
                  <a:srgbClr val="C00000"/>
                </a:solidFill>
                <a:latin typeface="微软雅黑" panose="020B0503020204020204" pitchFamily="34" charset="-122"/>
                <a:ea typeface="微软雅黑" panose="020B0503020204020204" pitchFamily="34" charset="-122"/>
              </a:rPr>
              <a:t>应用进程</a:t>
            </a:r>
          </a:p>
        </p:txBody>
      </p:sp>
      <p:sp>
        <p:nvSpPr>
          <p:cNvPr id="132" name="AutoShape 102">
            <a:extLst>
              <a:ext uri="{FF2B5EF4-FFF2-40B4-BE49-F238E27FC236}">
                <a16:creationId xmlns:a16="http://schemas.microsoft.com/office/drawing/2014/main" id="{B611E782-0750-F953-33F5-D5113EB34C7D}"/>
              </a:ext>
            </a:extLst>
          </p:cNvPr>
          <p:cNvSpPr>
            <a:spLocks noChangeArrowheads="1"/>
          </p:cNvSpPr>
          <p:nvPr/>
        </p:nvSpPr>
        <p:spPr bwMode="auto">
          <a:xfrm>
            <a:off x="2533322" y="1716255"/>
            <a:ext cx="3996096" cy="111394"/>
          </a:xfrm>
          <a:prstGeom prst="leftRightArrow">
            <a:avLst>
              <a:gd name="adj1" fmla="val 59167"/>
              <a:gd name="adj2" fmla="val 216108"/>
            </a:avLst>
          </a:prstGeom>
          <a:solidFill>
            <a:schemeClr val="accent6">
              <a:lumMod val="75000"/>
            </a:schemeClr>
          </a:solidFill>
          <a:ln w="6350">
            <a:solidFill>
              <a:srgbClr val="000066"/>
            </a:solidFill>
            <a:miter lim="800000"/>
            <a:headEnd/>
            <a:tailEnd/>
          </a:ln>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133" name="Rectangle 76">
            <a:extLst>
              <a:ext uri="{FF2B5EF4-FFF2-40B4-BE49-F238E27FC236}">
                <a16:creationId xmlns:a16="http://schemas.microsoft.com/office/drawing/2014/main" id="{6EBCA025-B649-838C-EB1E-6386902BCC5B}"/>
              </a:ext>
            </a:extLst>
          </p:cNvPr>
          <p:cNvSpPr>
            <a:spLocks noChangeArrowheads="1"/>
          </p:cNvSpPr>
          <p:nvPr/>
        </p:nvSpPr>
        <p:spPr bwMode="auto">
          <a:xfrm>
            <a:off x="3381058" y="3015764"/>
            <a:ext cx="78547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路由器 </a:t>
            </a:r>
            <a:r>
              <a:rPr lang="en-US" altLang="zh-CN" sz="1200" b="1" dirty="0">
                <a:latin typeface="微软雅黑" panose="020B0503020204020204" pitchFamily="34" charset="-122"/>
                <a:ea typeface="微软雅黑" panose="020B0503020204020204" pitchFamily="34" charset="-122"/>
              </a:rPr>
              <a:t>1</a:t>
            </a:r>
          </a:p>
        </p:txBody>
      </p:sp>
      <p:pic>
        <p:nvPicPr>
          <p:cNvPr id="134" name="Picture 104">
            <a:extLst>
              <a:ext uri="{FF2B5EF4-FFF2-40B4-BE49-F238E27FC236}">
                <a16:creationId xmlns:a16="http://schemas.microsoft.com/office/drawing/2014/main" id="{76C7B92A-C6A4-8702-DD95-149E9E54FFF8}"/>
              </a:ext>
            </a:extLst>
          </p:cNvPr>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79114" y="3240317"/>
            <a:ext cx="497655" cy="22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35" name="Rectangle 103">
            <a:extLst>
              <a:ext uri="{FF2B5EF4-FFF2-40B4-BE49-F238E27FC236}">
                <a16:creationId xmlns:a16="http://schemas.microsoft.com/office/drawing/2014/main" id="{5FCE6DBB-8285-5529-BCA2-AB1AF093AF33}"/>
              </a:ext>
            </a:extLst>
          </p:cNvPr>
          <p:cNvSpPr>
            <a:spLocks noChangeArrowheads="1"/>
          </p:cNvSpPr>
          <p:nvPr/>
        </p:nvSpPr>
        <p:spPr bwMode="auto">
          <a:xfrm>
            <a:off x="4897544" y="3015764"/>
            <a:ext cx="78547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latin typeface="微软雅黑" panose="020B0503020204020204" pitchFamily="34" charset="-122"/>
                <a:ea typeface="微软雅黑" panose="020B0503020204020204" pitchFamily="34" charset="-122"/>
              </a:rPr>
              <a:t>路由器 </a:t>
            </a:r>
            <a:r>
              <a:rPr lang="en-US" altLang="zh-CN" sz="1200" b="1">
                <a:latin typeface="微软雅黑" panose="020B0503020204020204" pitchFamily="34" charset="-122"/>
                <a:ea typeface="微软雅黑" panose="020B0503020204020204" pitchFamily="34" charset="-122"/>
              </a:rPr>
              <a:t>2</a:t>
            </a:r>
          </a:p>
        </p:txBody>
      </p:sp>
      <p:sp>
        <p:nvSpPr>
          <p:cNvPr id="136" name="Oval 113">
            <a:extLst>
              <a:ext uri="{FF2B5EF4-FFF2-40B4-BE49-F238E27FC236}">
                <a16:creationId xmlns:a16="http://schemas.microsoft.com/office/drawing/2014/main" id="{9F068BEE-088D-6482-7095-A43C1395DD24}"/>
              </a:ext>
            </a:extLst>
          </p:cNvPr>
          <p:cNvSpPr>
            <a:spLocks noChangeArrowheads="1"/>
          </p:cNvSpPr>
          <p:nvPr/>
        </p:nvSpPr>
        <p:spPr bwMode="auto">
          <a:xfrm>
            <a:off x="1697707" y="3162622"/>
            <a:ext cx="434519"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7" name="Rectangle 114">
            <a:extLst>
              <a:ext uri="{FF2B5EF4-FFF2-40B4-BE49-F238E27FC236}">
                <a16:creationId xmlns:a16="http://schemas.microsoft.com/office/drawing/2014/main" id="{D959FC8D-D30F-3B19-75AE-430E76F7E653}"/>
              </a:ext>
            </a:extLst>
          </p:cNvPr>
          <p:cNvSpPr>
            <a:spLocks noChangeArrowheads="1"/>
          </p:cNvSpPr>
          <p:nvPr/>
        </p:nvSpPr>
        <p:spPr bwMode="auto">
          <a:xfrm>
            <a:off x="1728655" y="3116092"/>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sp>
        <p:nvSpPr>
          <p:cNvPr id="138" name="Oval 138">
            <a:extLst>
              <a:ext uri="{FF2B5EF4-FFF2-40B4-BE49-F238E27FC236}">
                <a16:creationId xmlns:a16="http://schemas.microsoft.com/office/drawing/2014/main" id="{26796284-8FC6-5099-4F10-3150D4BFF957}"/>
              </a:ext>
            </a:extLst>
          </p:cNvPr>
          <p:cNvSpPr>
            <a:spLocks noChangeArrowheads="1"/>
          </p:cNvSpPr>
          <p:nvPr/>
        </p:nvSpPr>
        <p:spPr bwMode="auto">
          <a:xfrm>
            <a:off x="6984983" y="1359606"/>
            <a:ext cx="434520" cy="161943"/>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9" name="Line 157">
            <a:extLst>
              <a:ext uri="{FF2B5EF4-FFF2-40B4-BE49-F238E27FC236}">
                <a16:creationId xmlns:a16="http://schemas.microsoft.com/office/drawing/2014/main" id="{362AB1B4-A9B8-3F72-7ADA-E1B15C767C96}"/>
              </a:ext>
            </a:extLst>
          </p:cNvPr>
          <p:cNvSpPr>
            <a:spLocks noChangeShapeType="1"/>
          </p:cNvSpPr>
          <p:nvPr/>
        </p:nvSpPr>
        <p:spPr bwMode="auto">
          <a:xfrm rot="5400000">
            <a:off x="3501724" y="2390705"/>
            <a:ext cx="4895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0" name="Line 158">
            <a:extLst>
              <a:ext uri="{FF2B5EF4-FFF2-40B4-BE49-F238E27FC236}">
                <a16:creationId xmlns:a16="http://schemas.microsoft.com/office/drawing/2014/main" id="{B49FFF87-F5B3-1DC3-2998-422034B2AB94}"/>
              </a:ext>
            </a:extLst>
          </p:cNvPr>
          <p:cNvSpPr>
            <a:spLocks noChangeShapeType="1"/>
          </p:cNvSpPr>
          <p:nvPr/>
        </p:nvSpPr>
        <p:spPr bwMode="auto">
          <a:xfrm rot="5400000">
            <a:off x="5007507" y="2389301"/>
            <a:ext cx="49612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5" name="Oval 162">
            <a:extLst>
              <a:ext uri="{FF2B5EF4-FFF2-40B4-BE49-F238E27FC236}">
                <a16:creationId xmlns:a16="http://schemas.microsoft.com/office/drawing/2014/main" id="{60E306CD-797C-8FE4-E57A-2B62BCC3475F}"/>
              </a:ext>
            </a:extLst>
          </p:cNvPr>
          <p:cNvSpPr>
            <a:spLocks noChangeArrowheads="1"/>
          </p:cNvSpPr>
          <p:nvPr/>
        </p:nvSpPr>
        <p:spPr bwMode="auto">
          <a:xfrm>
            <a:off x="2466472" y="3309587"/>
            <a:ext cx="105226" cy="71143"/>
          </a:xfrm>
          <a:prstGeom prst="ellipse">
            <a:avLst/>
          </a:prstGeom>
          <a:solidFill>
            <a:schemeClr val="bg1"/>
          </a:solidFill>
          <a:ln w="2857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46" name="Oval 34">
            <a:extLst>
              <a:ext uri="{FF2B5EF4-FFF2-40B4-BE49-F238E27FC236}">
                <a16:creationId xmlns:a16="http://schemas.microsoft.com/office/drawing/2014/main" id="{046AB086-8FC0-704C-0E51-460997195D15}"/>
              </a:ext>
            </a:extLst>
          </p:cNvPr>
          <p:cNvSpPr>
            <a:spLocks noChangeArrowheads="1"/>
          </p:cNvSpPr>
          <p:nvPr/>
        </p:nvSpPr>
        <p:spPr bwMode="auto">
          <a:xfrm>
            <a:off x="1687803" y="3380479"/>
            <a:ext cx="434519"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47" name="Rectangle 35">
            <a:extLst>
              <a:ext uri="{FF2B5EF4-FFF2-40B4-BE49-F238E27FC236}">
                <a16:creationId xmlns:a16="http://schemas.microsoft.com/office/drawing/2014/main" id="{D5456E8C-E1A0-1E5A-81F3-E63D57A3A02E}"/>
              </a:ext>
            </a:extLst>
          </p:cNvPr>
          <p:cNvSpPr>
            <a:spLocks noChangeArrowheads="1"/>
          </p:cNvSpPr>
          <p:nvPr/>
        </p:nvSpPr>
        <p:spPr bwMode="auto">
          <a:xfrm>
            <a:off x="1700183" y="3333948"/>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2</a:t>
            </a:r>
            <a:endParaRPr lang="en-US" altLang="zh-CN" sz="1200" b="1" dirty="0">
              <a:latin typeface="微软雅黑" panose="020B0503020204020204" pitchFamily="34" charset="-122"/>
              <a:ea typeface="微软雅黑" panose="020B0503020204020204" pitchFamily="34" charset="-122"/>
            </a:endParaRPr>
          </a:p>
        </p:txBody>
      </p:sp>
      <p:sp>
        <p:nvSpPr>
          <p:cNvPr id="148" name="Rectangle 163">
            <a:extLst>
              <a:ext uri="{FF2B5EF4-FFF2-40B4-BE49-F238E27FC236}">
                <a16:creationId xmlns:a16="http://schemas.microsoft.com/office/drawing/2014/main" id="{C7397DB6-5F59-513A-E663-FE1C67B8A3DB}"/>
              </a:ext>
            </a:extLst>
          </p:cNvPr>
          <p:cNvSpPr>
            <a:spLocks noChangeArrowheads="1"/>
          </p:cNvSpPr>
          <p:nvPr/>
        </p:nvSpPr>
        <p:spPr bwMode="auto">
          <a:xfrm flipH="1">
            <a:off x="6502183" y="3105520"/>
            <a:ext cx="995310" cy="491119"/>
          </a:xfrm>
          <a:prstGeom prst="rect">
            <a:avLst/>
          </a:prstGeom>
          <a:solidFill>
            <a:schemeClr val="bg1"/>
          </a:solidFill>
          <a:ln w="9525">
            <a:solidFill>
              <a:schemeClr val="tx1"/>
            </a:solidFill>
            <a:miter lim="800000"/>
            <a:headEnd/>
            <a:tailEnd/>
          </a:ln>
          <a:effectLst/>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149" name="Freeform 164">
            <a:extLst>
              <a:ext uri="{FF2B5EF4-FFF2-40B4-BE49-F238E27FC236}">
                <a16:creationId xmlns:a16="http://schemas.microsoft.com/office/drawing/2014/main" id="{B66E7858-E4E6-ABD3-A117-2C1F1BE527D9}"/>
              </a:ext>
            </a:extLst>
          </p:cNvPr>
          <p:cNvSpPr>
            <a:spLocks/>
          </p:cNvSpPr>
          <p:nvPr/>
        </p:nvSpPr>
        <p:spPr bwMode="auto">
          <a:xfrm flipH="1">
            <a:off x="6502183" y="3258103"/>
            <a:ext cx="450613" cy="85184"/>
          </a:xfrm>
          <a:custGeom>
            <a:avLst/>
            <a:gdLst>
              <a:gd name="T0" fmla="*/ 0 w 382"/>
              <a:gd name="T1" fmla="*/ 0 h 277"/>
              <a:gd name="T2" fmla="*/ 2147483647 w 382"/>
              <a:gd name="T3" fmla="*/ 0 h 277"/>
              <a:gd name="T4" fmla="*/ 2147483647 w 382"/>
              <a:gd name="T5" fmla="*/ 2147483647 h 277"/>
              <a:gd name="T6" fmla="*/ 2147483647 w 382"/>
              <a:gd name="T7" fmla="*/ 2147483647 h 277"/>
              <a:gd name="T8" fmla="*/ 2147483647 w 382"/>
              <a:gd name="T9" fmla="*/ 2147483647 h 277"/>
              <a:gd name="T10" fmla="*/ 2147483647 w 382"/>
              <a:gd name="T11" fmla="*/ 2147483647 h 277"/>
              <a:gd name="T12" fmla="*/ 2147483647 w 382"/>
              <a:gd name="T13" fmla="*/ 2147483647 h 277"/>
              <a:gd name="T14" fmla="*/ 2147483647 w 382"/>
              <a:gd name="T15" fmla="*/ 2147483647 h 277"/>
              <a:gd name="T16" fmla="*/ 2147483647 w 382"/>
              <a:gd name="T17" fmla="*/ 2147483647 h 277"/>
              <a:gd name="T18" fmla="*/ 2147483647 w 382"/>
              <a:gd name="T19" fmla="*/ 2147483647 h 277"/>
              <a:gd name="T20" fmla="*/ 2147483647 w 382"/>
              <a:gd name="T21" fmla="*/ 2147483647 h 277"/>
              <a:gd name="T22" fmla="*/ 2147483647 w 382"/>
              <a:gd name="T23" fmla="*/ 2147483647 h 277"/>
              <a:gd name="T24" fmla="*/ 2147483647 w 382"/>
              <a:gd name="T25" fmla="*/ 2147483647 h 277"/>
              <a:gd name="T26" fmla="*/ 2147483647 w 382"/>
              <a:gd name="T27" fmla="*/ 2147483647 h 277"/>
              <a:gd name="T28" fmla="*/ 2147483647 w 382"/>
              <a:gd name="T29" fmla="*/ 2147483647 h 277"/>
              <a:gd name="T30" fmla="*/ 2147483647 w 382"/>
              <a:gd name="T31" fmla="*/ 2147483647 h 277"/>
              <a:gd name="T32" fmla="*/ 2147483647 w 382"/>
              <a:gd name="T33" fmla="*/ 2147483647 h 277"/>
              <a:gd name="T34" fmla="*/ 2147483647 w 382"/>
              <a:gd name="T35" fmla="*/ 2147483647 h 277"/>
              <a:gd name="T36" fmla="*/ 2147483647 w 382"/>
              <a:gd name="T37" fmla="*/ 2147483647 h 277"/>
              <a:gd name="T38" fmla="*/ 2147483647 w 382"/>
              <a:gd name="T39" fmla="*/ 2147483647 h 277"/>
              <a:gd name="T40" fmla="*/ 2147483647 w 382"/>
              <a:gd name="T41" fmla="*/ 2147483647 h 277"/>
              <a:gd name="T42" fmla="*/ 2147483647 w 382"/>
              <a:gd name="T43" fmla="*/ 2147483647 h 277"/>
              <a:gd name="T44" fmla="*/ 2147483647 w 382"/>
              <a:gd name="T45" fmla="*/ 2147483647 h 277"/>
              <a:gd name="T46" fmla="*/ 2147483647 w 382"/>
              <a:gd name="T47" fmla="*/ 2147483647 h 277"/>
              <a:gd name="T48" fmla="*/ 2147483647 w 382"/>
              <a:gd name="T49" fmla="*/ 2147483647 h 277"/>
              <a:gd name="T50" fmla="*/ 2147483647 w 382"/>
              <a:gd name="T51" fmla="*/ 2147483647 h 277"/>
              <a:gd name="T52" fmla="*/ 2147483647 w 382"/>
              <a:gd name="T53" fmla="*/ 2147483647 h 277"/>
              <a:gd name="T54" fmla="*/ 2147483647 w 382"/>
              <a:gd name="T55" fmla="*/ 2147483647 h 277"/>
              <a:gd name="T56" fmla="*/ 2147483647 w 382"/>
              <a:gd name="T57" fmla="*/ 2147483647 h 277"/>
              <a:gd name="T58" fmla="*/ 2147483647 w 382"/>
              <a:gd name="T59" fmla="*/ 2147483647 h 277"/>
              <a:gd name="T60" fmla="*/ 2147483647 w 382"/>
              <a:gd name="T61" fmla="*/ 2147483647 h 277"/>
              <a:gd name="T62" fmla="*/ 2147483647 w 382"/>
              <a:gd name="T63" fmla="*/ 2147483647 h 277"/>
              <a:gd name="T64" fmla="*/ 2147483647 w 382"/>
              <a:gd name="T65" fmla="*/ 2147483647 h 277"/>
              <a:gd name="T66" fmla="*/ 2147483647 w 382"/>
              <a:gd name="T67" fmla="*/ 2147483647 h 277"/>
              <a:gd name="T68" fmla="*/ 2147483647 w 382"/>
              <a:gd name="T69" fmla="*/ 2147483647 h 277"/>
              <a:gd name="T70" fmla="*/ 2147483647 w 382"/>
              <a:gd name="T71" fmla="*/ 2147483647 h 277"/>
              <a:gd name="T72" fmla="*/ 2147483647 w 382"/>
              <a:gd name="T73" fmla="*/ 2147483647 h 277"/>
              <a:gd name="T74" fmla="*/ 2147483647 w 382"/>
              <a:gd name="T75" fmla="*/ 2147483647 h 277"/>
              <a:gd name="T76" fmla="*/ 2147483647 w 382"/>
              <a:gd name="T77" fmla="*/ 2147483647 h 277"/>
              <a:gd name="T78" fmla="*/ 2147483647 w 382"/>
              <a:gd name="T79" fmla="*/ 2147483647 h 277"/>
              <a:gd name="T80" fmla="*/ 2147483647 w 382"/>
              <a:gd name="T81" fmla="*/ 2147483647 h 277"/>
              <a:gd name="T82" fmla="*/ 2147483647 w 382"/>
              <a:gd name="T83" fmla="*/ 2147483647 h 277"/>
              <a:gd name="T84" fmla="*/ 2147483647 w 382"/>
              <a:gd name="T85" fmla="*/ 2147483647 h 277"/>
              <a:gd name="T86" fmla="*/ 2147483647 w 382"/>
              <a:gd name="T87" fmla="*/ 2147483647 h 277"/>
              <a:gd name="T88" fmla="*/ 2147483647 w 382"/>
              <a:gd name="T89" fmla="*/ 2147483647 h 277"/>
              <a:gd name="T90" fmla="*/ 2147483647 w 382"/>
              <a:gd name="T91" fmla="*/ 2147483647 h 27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82"/>
              <a:gd name="T139" fmla="*/ 0 h 277"/>
              <a:gd name="T140" fmla="*/ 382 w 382"/>
              <a:gd name="T141" fmla="*/ 277 h 27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0" name="Freeform 165">
            <a:extLst>
              <a:ext uri="{FF2B5EF4-FFF2-40B4-BE49-F238E27FC236}">
                <a16:creationId xmlns:a16="http://schemas.microsoft.com/office/drawing/2014/main" id="{3B1F0776-8D04-507B-49BF-E69E59BFE870}"/>
              </a:ext>
            </a:extLst>
          </p:cNvPr>
          <p:cNvSpPr>
            <a:spLocks/>
          </p:cNvSpPr>
          <p:nvPr/>
        </p:nvSpPr>
        <p:spPr bwMode="auto">
          <a:xfrm flipH="1">
            <a:off x="6502183" y="3354519"/>
            <a:ext cx="488990" cy="95481"/>
          </a:xfrm>
          <a:custGeom>
            <a:avLst/>
            <a:gdLst>
              <a:gd name="T0" fmla="*/ 0 w 334"/>
              <a:gd name="T1" fmla="*/ 2147483647 h 244"/>
              <a:gd name="T2" fmla="*/ 2147483647 w 334"/>
              <a:gd name="T3" fmla="*/ 2147483647 h 244"/>
              <a:gd name="T4" fmla="*/ 2147483647 w 334"/>
              <a:gd name="T5" fmla="*/ 2147483647 h 244"/>
              <a:gd name="T6" fmla="*/ 2147483647 w 334"/>
              <a:gd name="T7" fmla="*/ 2147483647 h 244"/>
              <a:gd name="T8" fmla="*/ 2147483647 w 334"/>
              <a:gd name="T9" fmla="*/ 2147483647 h 244"/>
              <a:gd name="T10" fmla="*/ 2147483647 w 334"/>
              <a:gd name="T11" fmla="*/ 2147483647 h 244"/>
              <a:gd name="T12" fmla="*/ 2147483647 w 334"/>
              <a:gd name="T13" fmla="*/ 2147483647 h 244"/>
              <a:gd name="T14" fmla="*/ 2147483647 w 334"/>
              <a:gd name="T15" fmla="*/ 2147483647 h 244"/>
              <a:gd name="T16" fmla="*/ 2147483647 w 334"/>
              <a:gd name="T17" fmla="*/ 2147483647 h 244"/>
              <a:gd name="T18" fmla="*/ 2147483647 w 334"/>
              <a:gd name="T19" fmla="*/ 2147483647 h 244"/>
              <a:gd name="T20" fmla="*/ 2147483647 w 334"/>
              <a:gd name="T21" fmla="*/ 2147483647 h 244"/>
              <a:gd name="T22" fmla="*/ 2147483647 w 334"/>
              <a:gd name="T23" fmla="*/ 2147483647 h 244"/>
              <a:gd name="T24" fmla="*/ 2147483647 w 334"/>
              <a:gd name="T25" fmla="*/ 2147483647 h 244"/>
              <a:gd name="T26" fmla="*/ 2147483647 w 334"/>
              <a:gd name="T27" fmla="*/ 2147483647 h 244"/>
              <a:gd name="T28" fmla="*/ 2147483647 w 334"/>
              <a:gd name="T29" fmla="*/ 2147483647 h 244"/>
              <a:gd name="T30" fmla="*/ 2147483647 w 334"/>
              <a:gd name="T31" fmla="*/ 2147483647 h 244"/>
              <a:gd name="T32" fmla="*/ 2147483647 w 334"/>
              <a:gd name="T33" fmla="*/ 2147483647 h 244"/>
              <a:gd name="T34" fmla="*/ 2147483647 w 334"/>
              <a:gd name="T35" fmla="*/ 2147483647 h 244"/>
              <a:gd name="T36" fmla="*/ 2147483647 w 334"/>
              <a:gd name="T37" fmla="*/ 2147483647 h 244"/>
              <a:gd name="T38" fmla="*/ 2147483647 w 334"/>
              <a:gd name="T39" fmla="*/ 2147483647 h 244"/>
              <a:gd name="T40" fmla="*/ 2147483647 w 334"/>
              <a:gd name="T41" fmla="*/ 2147483647 h 244"/>
              <a:gd name="T42" fmla="*/ 2147483647 w 334"/>
              <a:gd name="T43" fmla="*/ 2147483647 h 244"/>
              <a:gd name="T44" fmla="*/ 2147483647 w 334"/>
              <a:gd name="T45" fmla="*/ 2147483647 h 244"/>
              <a:gd name="T46" fmla="*/ 2147483647 w 334"/>
              <a:gd name="T47" fmla="*/ 2147483647 h 244"/>
              <a:gd name="T48" fmla="*/ 2147483647 w 334"/>
              <a:gd name="T49" fmla="*/ 2147483647 h 244"/>
              <a:gd name="T50" fmla="*/ 2147483647 w 334"/>
              <a:gd name="T51" fmla="*/ 2147483647 h 244"/>
              <a:gd name="T52" fmla="*/ 2147483647 w 334"/>
              <a:gd name="T53" fmla="*/ 2147483647 h 244"/>
              <a:gd name="T54" fmla="*/ 2147483647 w 334"/>
              <a:gd name="T55" fmla="*/ 2147483647 h 244"/>
              <a:gd name="T56" fmla="*/ 2147483647 w 334"/>
              <a:gd name="T57" fmla="*/ 2147483647 h 244"/>
              <a:gd name="T58" fmla="*/ 2147483647 w 334"/>
              <a:gd name="T59" fmla="*/ 2147483647 h 244"/>
              <a:gd name="T60" fmla="*/ 2147483647 w 334"/>
              <a:gd name="T61" fmla="*/ 2147483647 h 244"/>
              <a:gd name="T62" fmla="*/ 2147483647 w 334"/>
              <a:gd name="T63" fmla="*/ 2147483647 h 244"/>
              <a:gd name="T64" fmla="*/ 2147483647 w 334"/>
              <a:gd name="T65" fmla="*/ 2147483647 h 244"/>
              <a:gd name="T66" fmla="*/ 2147483647 w 334"/>
              <a:gd name="T67" fmla="*/ 2147483647 h 244"/>
              <a:gd name="T68" fmla="*/ 2147483647 w 334"/>
              <a:gd name="T69" fmla="*/ 2147483647 h 244"/>
              <a:gd name="T70" fmla="*/ 2147483647 w 334"/>
              <a:gd name="T71" fmla="*/ 2147483647 h 244"/>
              <a:gd name="T72" fmla="*/ 2147483647 w 334"/>
              <a:gd name="T73" fmla="*/ 2147483647 h 244"/>
              <a:gd name="T74" fmla="*/ 2147483647 w 334"/>
              <a:gd name="T75" fmla="*/ 2147483647 h 244"/>
              <a:gd name="T76" fmla="*/ 2147483647 w 334"/>
              <a:gd name="T77" fmla="*/ 2147483647 h 244"/>
              <a:gd name="T78" fmla="*/ 2147483647 w 334"/>
              <a:gd name="T79" fmla="*/ 0 h 24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34"/>
              <a:gd name="T121" fmla="*/ 0 h 244"/>
              <a:gd name="T122" fmla="*/ 334 w 334"/>
              <a:gd name="T123" fmla="*/ 244 h 24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1" name="Oval 167">
            <a:extLst>
              <a:ext uri="{FF2B5EF4-FFF2-40B4-BE49-F238E27FC236}">
                <a16:creationId xmlns:a16="http://schemas.microsoft.com/office/drawing/2014/main" id="{F4A8EDF5-3906-F780-F69E-83ADD331690E}"/>
              </a:ext>
            </a:extLst>
          </p:cNvPr>
          <p:cNvSpPr>
            <a:spLocks noChangeArrowheads="1"/>
          </p:cNvSpPr>
          <p:nvPr/>
        </p:nvSpPr>
        <p:spPr bwMode="auto">
          <a:xfrm flipH="1">
            <a:off x="6816622" y="3162622"/>
            <a:ext cx="434520"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2" name="Rectangle 168">
            <a:extLst>
              <a:ext uri="{FF2B5EF4-FFF2-40B4-BE49-F238E27FC236}">
                <a16:creationId xmlns:a16="http://schemas.microsoft.com/office/drawing/2014/main" id="{705EE47F-8A01-D512-6870-D1B9C13994B1}"/>
              </a:ext>
            </a:extLst>
          </p:cNvPr>
          <p:cNvSpPr>
            <a:spLocks noChangeArrowheads="1"/>
          </p:cNvSpPr>
          <p:nvPr/>
        </p:nvSpPr>
        <p:spPr bwMode="auto">
          <a:xfrm flipH="1">
            <a:off x="6822814" y="3116092"/>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3</a:t>
            </a:r>
            <a:endParaRPr lang="en-US" altLang="zh-CN" sz="1200" b="1">
              <a:latin typeface="微软雅黑" panose="020B0503020204020204" pitchFamily="34" charset="-122"/>
              <a:ea typeface="微软雅黑" panose="020B0503020204020204" pitchFamily="34" charset="-122"/>
            </a:endParaRPr>
          </a:p>
        </p:txBody>
      </p:sp>
      <p:sp>
        <p:nvSpPr>
          <p:cNvPr id="153" name="Oval 169">
            <a:extLst>
              <a:ext uri="{FF2B5EF4-FFF2-40B4-BE49-F238E27FC236}">
                <a16:creationId xmlns:a16="http://schemas.microsoft.com/office/drawing/2014/main" id="{0FC9504A-3A24-F875-9266-FC593DF17F93}"/>
              </a:ext>
            </a:extLst>
          </p:cNvPr>
          <p:cNvSpPr>
            <a:spLocks noChangeArrowheads="1"/>
          </p:cNvSpPr>
          <p:nvPr/>
        </p:nvSpPr>
        <p:spPr bwMode="auto">
          <a:xfrm flipH="1">
            <a:off x="6445238" y="3309587"/>
            <a:ext cx="105226" cy="71143"/>
          </a:xfrm>
          <a:prstGeom prst="ellipse">
            <a:avLst/>
          </a:prstGeom>
          <a:solidFill>
            <a:schemeClr val="bg1"/>
          </a:solidFill>
          <a:ln w="2857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4" name="Oval 171">
            <a:extLst>
              <a:ext uri="{FF2B5EF4-FFF2-40B4-BE49-F238E27FC236}">
                <a16:creationId xmlns:a16="http://schemas.microsoft.com/office/drawing/2014/main" id="{49FEBDC6-2BCB-F2B0-0E02-B45B65BC9DA1}"/>
              </a:ext>
            </a:extLst>
          </p:cNvPr>
          <p:cNvSpPr>
            <a:spLocks noChangeArrowheads="1"/>
          </p:cNvSpPr>
          <p:nvPr/>
        </p:nvSpPr>
        <p:spPr bwMode="auto">
          <a:xfrm flipH="1">
            <a:off x="6806718" y="3389444"/>
            <a:ext cx="434520"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5" name="Rectangle 172">
            <a:extLst>
              <a:ext uri="{FF2B5EF4-FFF2-40B4-BE49-F238E27FC236}">
                <a16:creationId xmlns:a16="http://schemas.microsoft.com/office/drawing/2014/main" id="{BEB27344-623C-4C53-64A0-153D7940A8F8}"/>
              </a:ext>
            </a:extLst>
          </p:cNvPr>
          <p:cNvSpPr>
            <a:spLocks noChangeArrowheads="1"/>
          </p:cNvSpPr>
          <p:nvPr/>
        </p:nvSpPr>
        <p:spPr bwMode="auto">
          <a:xfrm flipH="1">
            <a:off x="6822814" y="3314541"/>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4</a:t>
            </a:r>
            <a:endParaRPr lang="en-US" altLang="zh-CN" sz="1200" b="1" dirty="0">
              <a:latin typeface="微软雅黑" panose="020B0503020204020204" pitchFamily="34" charset="-122"/>
              <a:ea typeface="微软雅黑" panose="020B0503020204020204" pitchFamily="34" charset="-122"/>
            </a:endParaRPr>
          </a:p>
        </p:txBody>
      </p:sp>
      <p:sp>
        <p:nvSpPr>
          <p:cNvPr id="156" name="Rectangle 175">
            <a:extLst>
              <a:ext uri="{FF2B5EF4-FFF2-40B4-BE49-F238E27FC236}">
                <a16:creationId xmlns:a16="http://schemas.microsoft.com/office/drawing/2014/main" id="{5A13B6CB-AC29-1623-2999-52FB754EBFE3}"/>
              </a:ext>
            </a:extLst>
          </p:cNvPr>
          <p:cNvSpPr>
            <a:spLocks noChangeArrowheads="1"/>
          </p:cNvSpPr>
          <p:nvPr/>
        </p:nvSpPr>
        <p:spPr bwMode="auto">
          <a:xfrm>
            <a:off x="4266449" y="1920322"/>
            <a:ext cx="535404"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IP </a:t>
            </a:r>
            <a:r>
              <a:rPr lang="zh-CN" altLang="en-US" sz="1200" b="1">
                <a:latin typeface="微软雅黑" panose="020B0503020204020204" pitchFamily="34" charset="-122"/>
                <a:ea typeface="微软雅黑" panose="020B0503020204020204" pitchFamily="34" charset="-122"/>
              </a:rPr>
              <a:t>层</a:t>
            </a:r>
          </a:p>
        </p:txBody>
      </p:sp>
      <p:sp>
        <p:nvSpPr>
          <p:cNvPr id="159" name="Freeform 99">
            <a:extLst>
              <a:ext uri="{FF2B5EF4-FFF2-40B4-BE49-F238E27FC236}">
                <a16:creationId xmlns:a16="http://schemas.microsoft.com/office/drawing/2014/main" id="{7A02C967-B270-40AE-0A44-716489AB11EC}"/>
              </a:ext>
            </a:extLst>
          </p:cNvPr>
          <p:cNvSpPr>
            <a:spLocks/>
          </p:cNvSpPr>
          <p:nvPr/>
        </p:nvSpPr>
        <p:spPr bwMode="auto">
          <a:xfrm>
            <a:off x="2461521" y="1405474"/>
            <a:ext cx="225307" cy="66462"/>
          </a:xfrm>
          <a:custGeom>
            <a:avLst/>
            <a:gdLst>
              <a:gd name="T0" fmla="*/ 2147483647 w 174"/>
              <a:gd name="T1" fmla="*/ 0 h 84"/>
              <a:gd name="T2" fmla="*/ 0 w 174"/>
              <a:gd name="T3" fmla="*/ 2147483647 h 84"/>
              <a:gd name="T4" fmla="*/ 0 60000 65536"/>
              <a:gd name="T5" fmla="*/ 0 60000 65536"/>
              <a:gd name="T6" fmla="*/ 0 w 174"/>
              <a:gd name="T7" fmla="*/ 0 h 84"/>
              <a:gd name="T8" fmla="*/ 174 w 174"/>
              <a:gd name="T9" fmla="*/ 84 h 84"/>
            </a:gdLst>
            <a:ahLst/>
            <a:cxnLst>
              <a:cxn ang="T4">
                <a:pos x="T0" y="T1"/>
              </a:cxn>
              <a:cxn ang="T5">
                <a:pos x="T2" y="T3"/>
              </a:cxn>
            </a:cxnLst>
            <a:rect l="T6" t="T7" r="T8" b="T9"/>
            <a:pathLst>
              <a:path w="174" h="84">
                <a:moveTo>
                  <a:pt x="174" y="0"/>
                </a:moveTo>
                <a:lnTo>
                  <a:pt x="0" y="84"/>
                </a:lnTo>
              </a:path>
            </a:pathLst>
          </a:custGeom>
          <a:noFill/>
          <a:ln w="12700">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0" name="Oval 131">
            <a:extLst>
              <a:ext uri="{FF2B5EF4-FFF2-40B4-BE49-F238E27FC236}">
                <a16:creationId xmlns:a16="http://schemas.microsoft.com/office/drawing/2014/main" id="{B17291B8-C7A1-DB4B-C1C1-802A15F761A5}"/>
              </a:ext>
            </a:extLst>
          </p:cNvPr>
          <p:cNvSpPr>
            <a:spLocks noChangeArrowheads="1"/>
          </p:cNvSpPr>
          <p:nvPr/>
        </p:nvSpPr>
        <p:spPr bwMode="auto">
          <a:xfrm>
            <a:off x="1576388" y="1355862"/>
            <a:ext cx="434519" cy="163815"/>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1" name="Rectangle 132">
            <a:extLst>
              <a:ext uri="{FF2B5EF4-FFF2-40B4-BE49-F238E27FC236}">
                <a16:creationId xmlns:a16="http://schemas.microsoft.com/office/drawing/2014/main" id="{2E8A4DFF-4486-9582-EC5E-D3FBF09C1C57}"/>
              </a:ext>
            </a:extLst>
          </p:cNvPr>
          <p:cNvSpPr>
            <a:spLocks noChangeArrowheads="1"/>
          </p:cNvSpPr>
          <p:nvPr/>
        </p:nvSpPr>
        <p:spPr bwMode="auto">
          <a:xfrm>
            <a:off x="1608575" y="1301843"/>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sp>
        <p:nvSpPr>
          <p:cNvPr id="163" name="Oval 128">
            <a:extLst>
              <a:ext uri="{FF2B5EF4-FFF2-40B4-BE49-F238E27FC236}">
                <a16:creationId xmlns:a16="http://schemas.microsoft.com/office/drawing/2014/main" id="{59FA3BC4-1897-8C8B-F1F1-E9E1DB62B3E4}"/>
              </a:ext>
            </a:extLst>
          </p:cNvPr>
          <p:cNvSpPr>
            <a:spLocks noChangeArrowheads="1"/>
          </p:cNvSpPr>
          <p:nvPr/>
        </p:nvSpPr>
        <p:spPr bwMode="auto">
          <a:xfrm>
            <a:off x="2045571" y="1407400"/>
            <a:ext cx="434521" cy="162356"/>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4" name="Rectangle 129">
            <a:extLst>
              <a:ext uri="{FF2B5EF4-FFF2-40B4-BE49-F238E27FC236}">
                <a16:creationId xmlns:a16="http://schemas.microsoft.com/office/drawing/2014/main" id="{7B551614-0560-D8E1-A461-6FFCC52ABD22}"/>
              </a:ext>
            </a:extLst>
          </p:cNvPr>
          <p:cNvSpPr>
            <a:spLocks noChangeArrowheads="1"/>
          </p:cNvSpPr>
          <p:nvPr/>
        </p:nvSpPr>
        <p:spPr bwMode="auto">
          <a:xfrm>
            <a:off x="2065644" y="1370790"/>
            <a:ext cx="461678" cy="274572"/>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2</a:t>
            </a:r>
            <a:endParaRPr lang="en-US" altLang="zh-CN" sz="1200" b="1" dirty="0">
              <a:latin typeface="微软雅黑" panose="020B0503020204020204" pitchFamily="34" charset="-122"/>
              <a:ea typeface="微软雅黑" panose="020B0503020204020204" pitchFamily="34" charset="-122"/>
            </a:endParaRPr>
          </a:p>
        </p:txBody>
      </p:sp>
      <p:sp>
        <p:nvSpPr>
          <p:cNvPr id="165" name="Rectangle 139">
            <a:extLst>
              <a:ext uri="{FF2B5EF4-FFF2-40B4-BE49-F238E27FC236}">
                <a16:creationId xmlns:a16="http://schemas.microsoft.com/office/drawing/2014/main" id="{E3EC806A-426B-8C18-6A35-75D8482238C6}"/>
              </a:ext>
            </a:extLst>
          </p:cNvPr>
          <p:cNvSpPr>
            <a:spLocks noChangeArrowheads="1"/>
          </p:cNvSpPr>
          <p:nvPr/>
        </p:nvSpPr>
        <p:spPr bwMode="auto">
          <a:xfrm>
            <a:off x="7003552" y="1321501"/>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4</a:t>
            </a:r>
            <a:endParaRPr lang="en-US" altLang="zh-CN" sz="1200" b="1" dirty="0">
              <a:latin typeface="微软雅黑" panose="020B0503020204020204" pitchFamily="34" charset="-122"/>
              <a:ea typeface="微软雅黑" panose="020B0503020204020204" pitchFamily="34" charset="-122"/>
            </a:endParaRPr>
          </a:p>
        </p:txBody>
      </p:sp>
      <p:sp>
        <p:nvSpPr>
          <p:cNvPr id="166" name="Oval 135">
            <a:extLst>
              <a:ext uri="{FF2B5EF4-FFF2-40B4-BE49-F238E27FC236}">
                <a16:creationId xmlns:a16="http://schemas.microsoft.com/office/drawing/2014/main" id="{AEF81512-2CAC-071B-0B8A-5E9F61A5CB4B}"/>
              </a:ext>
            </a:extLst>
          </p:cNvPr>
          <p:cNvSpPr>
            <a:spLocks noChangeArrowheads="1"/>
          </p:cNvSpPr>
          <p:nvPr/>
        </p:nvSpPr>
        <p:spPr bwMode="auto">
          <a:xfrm>
            <a:off x="6555415" y="1427004"/>
            <a:ext cx="433282"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7" name="Rectangle 136">
            <a:extLst>
              <a:ext uri="{FF2B5EF4-FFF2-40B4-BE49-F238E27FC236}">
                <a16:creationId xmlns:a16="http://schemas.microsoft.com/office/drawing/2014/main" id="{63C51E70-23B7-CB4C-9651-D42E266D2F50}"/>
              </a:ext>
            </a:extLst>
          </p:cNvPr>
          <p:cNvSpPr>
            <a:spLocks noChangeArrowheads="1"/>
          </p:cNvSpPr>
          <p:nvPr/>
        </p:nvSpPr>
        <p:spPr bwMode="auto">
          <a:xfrm>
            <a:off x="6572747" y="1382346"/>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3</a:t>
            </a:r>
            <a:endParaRPr lang="en-US" altLang="zh-CN" sz="1200" b="1">
              <a:latin typeface="微软雅黑" panose="020B0503020204020204" pitchFamily="34" charset="-122"/>
              <a:ea typeface="微软雅黑" panose="020B0503020204020204" pitchFamily="34" charset="-122"/>
            </a:endParaRPr>
          </a:p>
        </p:txBody>
      </p:sp>
      <p:sp>
        <p:nvSpPr>
          <p:cNvPr id="169" name="Line 233">
            <a:extLst>
              <a:ext uri="{FF2B5EF4-FFF2-40B4-BE49-F238E27FC236}">
                <a16:creationId xmlns:a16="http://schemas.microsoft.com/office/drawing/2014/main" id="{BFB99FE4-C94D-4ECC-1D53-390A18CBE8D5}"/>
              </a:ext>
            </a:extLst>
          </p:cNvPr>
          <p:cNvSpPr>
            <a:spLocks noChangeShapeType="1"/>
          </p:cNvSpPr>
          <p:nvPr/>
        </p:nvSpPr>
        <p:spPr bwMode="auto">
          <a:xfrm>
            <a:off x="2537036" y="3756101"/>
            <a:ext cx="3962671" cy="0"/>
          </a:xfrm>
          <a:prstGeom prst="line">
            <a:avLst/>
          </a:prstGeom>
          <a:noFill/>
          <a:ln w="19050">
            <a:solidFill>
              <a:srgbClr val="0000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0" name="Line 234">
            <a:extLst>
              <a:ext uri="{FF2B5EF4-FFF2-40B4-BE49-F238E27FC236}">
                <a16:creationId xmlns:a16="http://schemas.microsoft.com/office/drawing/2014/main" id="{2A7F7CE9-127A-F5F9-3F6F-0D82B57976ED}"/>
              </a:ext>
            </a:extLst>
          </p:cNvPr>
          <p:cNvSpPr>
            <a:spLocks noChangeShapeType="1"/>
          </p:cNvSpPr>
          <p:nvPr/>
        </p:nvSpPr>
        <p:spPr bwMode="auto">
          <a:xfrm>
            <a:off x="2537036" y="3603518"/>
            <a:ext cx="0" cy="267721"/>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1" name="Line 235">
            <a:extLst>
              <a:ext uri="{FF2B5EF4-FFF2-40B4-BE49-F238E27FC236}">
                <a16:creationId xmlns:a16="http://schemas.microsoft.com/office/drawing/2014/main" id="{79CE4F02-55CE-0BBF-B8DC-48B793ED8541}"/>
              </a:ext>
            </a:extLst>
          </p:cNvPr>
          <p:cNvSpPr>
            <a:spLocks noChangeShapeType="1"/>
          </p:cNvSpPr>
          <p:nvPr/>
        </p:nvSpPr>
        <p:spPr bwMode="auto">
          <a:xfrm>
            <a:off x="6502183" y="3603518"/>
            <a:ext cx="0" cy="267721"/>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3" name="Line 237">
            <a:extLst>
              <a:ext uri="{FF2B5EF4-FFF2-40B4-BE49-F238E27FC236}">
                <a16:creationId xmlns:a16="http://schemas.microsoft.com/office/drawing/2014/main" id="{F5680AA4-7A8B-9AB8-CA6A-C5B551F0FC86}"/>
              </a:ext>
            </a:extLst>
          </p:cNvPr>
          <p:cNvSpPr>
            <a:spLocks noChangeShapeType="1"/>
          </p:cNvSpPr>
          <p:nvPr/>
        </p:nvSpPr>
        <p:spPr bwMode="auto">
          <a:xfrm flipH="1">
            <a:off x="2282019" y="3455617"/>
            <a:ext cx="3713" cy="686151"/>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4" name="Line 238">
            <a:extLst>
              <a:ext uri="{FF2B5EF4-FFF2-40B4-BE49-F238E27FC236}">
                <a16:creationId xmlns:a16="http://schemas.microsoft.com/office/drawing/2014/main" id="{CF60F2ED-9FD4-DCD8-337C-BB906E1EEA33}"/>
              </a:ext>
            </a:extLst>
          </p:cNvPr>
          <p:cNvSpPr>
            <a:spLocks noChangeShapeType="1"/>
          </p:cNvSpPr>
          <p:nvPr/>
        </p:nvSpPr>
        <p:spPr bwMode="auto">
          <a:xfrm flipH="1">
            <a:off x="6689114" y="3449064"/>
            <a:ext cx="0" cy="651516"/>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5" name="Line 239">
            <a:extLst>
              <a:ext uri="{FF2B5EF4-FFF2-40B4-BE49-F238E27FC236}">
                <a16:creationId xmlns:a16="http://schemas.microsoft.com/office/drawing/2014/main" id="{6D9168ED-EB89-11EF-3545-B5D2F0BA2817}"/>
              </a:ext>
            </a:extLst>
          </p:cNvPr>
          <p:cNvSpPr>
            <a:spLocks noChangeShapeType="1"/>
          </p:cNvSpPr>
          <p:nvPr/>
        </p:nvSpPr>
        <p:spPr bwMode="auto">
          <a:xfrm flipV="1">
            <a:off x="2296874" y="4023821"/>
            <a:ext cx="4395953" cy="2808"/>
          </a:xfrm>
          <a:prstGeom prst="line">
            <a:avLst/>
          </a:prstGeom>
          <a:noFill/>
          <a:ln w="19050">
            <a:solidFill>
              <a:srgbClr val="9900FF"/>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pic>
        <p:nvPicPr>
          <p:cNvPr id="177" name="Picture 242">
            <a:extLst>
              <a:ext uri="{FF2B5EF4-FFF2-40B4-BE49-F238E27FC236}">
                <a16:creationId xmlns:a16="http://schemas.microsoft.com/office/drawing/2014/main" id="{3FA79925-693E-20E9-56B1-B1B88883F2F8}"/>
              </a:ext>
            </a:extLst>
          </p:cNvPr>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24073" y="3240317"/>
            <a:ext cx="497655" cy="22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78" name="Rectangle 244">
            <a:extLst>
              <a:ext uri="{FF2B5EF4-FFF2-40B4-BE49-F238E27FC236}">
                <a16:creationId xmlns:a16="http://schemas.microsoft.com/office/drawing/2014/main" id="{ACF88063-E8EE-9C43-6C22-6487559B532C}"/>
              </a:ext>
            </a:extLst>
          </p:cNvPr>
          <p:cNvSpPr>
            <a:spLocks noChangeArrowheads="1"/>
          </p:cNvSpPr>
          <p:nvPr/>
        </p:nvSpPr>
        <p:spPr bwMode="auto">
          <a:xfrm>
            <a:off x="1354795" y="1070067"/>
            <a:ext cx="13144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solidFill>
                  <a:srgbClr val="0000FF"/>
                </a:solidFill>
                <a:latin typeface="微软雅黑" panose="020B0503020204020204" pitchFamily="34" charset="-122"/>
                <a:ea typeface="微软雅黑" panose="020B0503020204020204" pitchFamily="34" charset="-122"/>
              </a:rPr>
              <a:t>主机 </a:t>
            </a:r>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的协议栈</a:t>
            </a:r>
          </a:p>
        </p:txBody>
      </p:sp>
      <p:sp>
        <p:nvSpPr>
          <p:cNvPr id="179" name="Rectangle 245">
            <a:extLst>
              <a:ext uri="{FF2B5EF4-FFF2-40B4-BE49-F238E27FC236}">
                <a16:creationId xmlns:a16="http://schemas.microsoft.com/office/drawing/2014/main" id="{56B59F19-2074-29BA-765D-AFA1D979D5B9}"/>
              </a:ext>
            </a:extLst>
          </p:cNvPr>
          <p:cNvSpPr>
            <a:spLocks noChangeArrowheads="1"/>
          </p:cNvSpPr>
          <p:nvPr/>
        </p:nvSpPr>
        <p:spPr bwMode="auto">
          <a:xfrm>
            <a:off x="6358581" y="1070067"/>
            <a:ext cx="1304845"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solidFill>
                  <a:srgbClr val="0000FF"/>
                </a:solidFill>
                <a:latin typeface="微软雅黑" panose="020B0503020204020204" pitchFamily="34" charset="-122"/>
                <a:ea typeface="微软雅黑" panose="020B0503020204020204" pitchFamily="34" charset="-122"/>
              </a:rPr>
              <a:t>主机 </a:t>
            </a:r>
            <a:r>
              <a:rPr lang="en-US" altLang="zh-CN" sz="1200" b="1">
                <a:solidFill>
                  <a:srgbClr val="0000FF"/>
                </a:solidFill>
                <a:latin typeface="微软雅黑" panose="020B0503020204020204" pitchFamily="34" charset="-122"/>
                <a:ea typeface="微软雅黑" panose="020B0503020204020204" pitchFamily="34" charset="-122"/>
              </a:rPr>
              <a:t>B </a:t>
            </a:r>
            <a:r>
              <a:rPr lang="zh-CN" altLang="en-US" sz="1200" b="1">
                <a:solidFill>
                  <a:srgbClr val="0000FF"/>
                </a:solidFill>
                <a:latin typeface="微软雅黑" panose="020B0503020204020204" pitchFamily="34" charset="-122"/>
                <a:ea typeface="微软雅黑" panose="020B0503020204020204" pitchFamily="34" charset="-122"/>
              </a:rPr>
              <a:t>的协议栈</a:t>
            </a:r>
          </a:p>
        </p:txBody>
      </p:sp>
      <p:sp>
        <p:nvSpPr>
          <p:cNvPr id="190" name="椭圆 85">
            <a:extLst>
              <a:ext uri="{FF2B5EF4-FFF2-40B4-BE49-F238E27FC236}">
                <a16:creationId xmlns:a16="http://schemas.microsoft.com/office/drawing/2014/main" id="{BA3536A7-2F3F-B0BD-9F90-1B85BACCDC1F}"/>
              </a:ext>
            </a:extLst>
          </p:cNvPr>
          <p:cNvSpPr>
            <a:spLocks noChangeArrowheads="1"/>
          </p:cNvSpPr>
          <p:nvPr/>
        </p:nvSpPr>
        <p:spPr bwMode="auto">
          <a:xfrm>
            <a:off x="6661879" y="3400928"/>
            <a:ext cx="56946"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91" name="椭圆 85">
            <a:extLst>
              <a:ext uri="{FF2B5EF4-FFF2-40B4-BE49-F238E27FC236}">
                <a16:creationId xmlns:a16="http://schemas.microsoft.com/office/drawing/2014/main" id="{8B443F1E-685D-CD77-E178-E0165F9CD1BF}"/>
              </a:ext>
            </a:extLst>
          </p:cNvPr>
          <p:cNvSpPr>
            <a:spLocks noChangeArrowheads="1"/>
          </p:cNvSpPr>
          <p:nvPr/>
        </p:nvSpPr>
        <p:spPr bwMode="auto">
          <a:xfrm>
            <a:off x="6660640" y="3264655"/>
            <a:ext cx="56946"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92" name="椭圆 85">
            <a:extLst>
              <a:ext uri="{FF2B5EF4-FFF2-40B4-BE49-F238E27FC236}">
                <a16:creationId xmlns:a16="http://schemas.microsoft.com/office/drawing/2014/main" id="{5FF6D43E-BA37-416C-4A22-3DE604D6C2D6}"/>
              </a:ext>
            </a:extLst>
          </p:cNvPr>
          <p:cNvSpPr>
            <a:spLocks noChangeArrowheads="1"/>
          </p:cNvSpPr>
          <p:nvPr/>
        </p:nvSpPr>
        <p:spPr bwMode="auto">
          <a:xfrm>
            <a:off x="2256021" y="3396644"/>
            <a:ext cx="56946"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93" name="椭圆 85">
            <a:extLst>
              <a:ext uri="{FF2B5EF4-FFF2-40B4-BE49-F238E27FC236}">
                <a16:creationId xmlns:a16="http://schemas.microsoft.com/office/drawing/2014/main" id="{F28001BE-FCBC-046B-0E5B-0854371254CA}"/>
              </a:ext>
            </a:extLst>
          </p:cNvPr>
          <p:cNvSpPr>
            <a:spLocks noChangeArrowheads="1"/>
          </p:cNvSpPr>
          <p:nvPr/>
        </p:nvSpPr>
        <p:spPr bwMode="auto">
          <a:xfrm>
            <a:off x="2262211" y="3262783"/>
            <a:ext cx="56946"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grpSp>
        <p:nvGrpSpPr>
          <p:cNvPr id="194" name="Group 44">
            <a:extLst>
              <a:ext uri="{FF2B5EF4-FFF2-40B4-BE49-F238E27FC236}">
                <a16:creationId xmlns:a16="http://schemas.microsoft.com/office/drawing/2014/main" id="{AF404E81-4A53-2318-B4FB-E39D258A644E}"/>
              </a:ext>
            </a:extLst>
          </p:cNvPr>
          <p:cNvGrpSpPr>
            <a:grpSpLocks/>
          </p:cNvGrpSpPr>
          <p:nvPr/>
        </p:nvGrpSpPr>
        <p:grpSpPr bwMode="auto">
          <a:xfrm>
            <a:off x="2680600" y="3199066"/>
            <a:ext cx="628600" cy="277145"/>
            <a:chOff x="1776" y="2768"/>
            <a:chExt cx="1824" cy="736"/>
          </a:xfrm>
          <a:solidFill>
            <a:srgbClr val="FFFF66"/>
          </a:solidFill>
          <a:effectLst>
            <a:outerShdw blurRad="50800" dist="38100" dir="2700000" algn="tl" rotWithShape="0">
              <a:prstClr val="black">
                <a:alpha val="40000"/>
              </a:prstClr>
            </a:outerShdw>
          </a:effectLst>
        </p:grpSpPr>
        <p:grpSp>
          <p:nvGrpSpPr>
            <p:cNvPr id="195" name="Group 45">
              <a:extLst>
                <a:ext uri="{FF2B5EF4-FFF2-40B4-BE49-F238E27FC236}">
                  <a16:creationId xmlns:a16="http://schemas.microsoft.com/office/drawing/2014/main" id="{FDE0FF6E-3654-A5EB-37D8-5FB324F61C6E}"/>
                </a:ext>
              </a:extLst>
            </p:cNvPr>
            <p:cNvGrpSpPr>
              <a:grpSpLocks/>
            </p:cNvGrpSpPr>
            <p:nvPr/>
          </p:nvGrpSpPr>
          <p:grpSpPr bwMode="auto">
            <a:xfrm>
              <a:off x="1787" y="2783"/>
              <a:ext cx="1813" cy="721"/>
              <a:chOff x="1787" y="2783"/>
              <a:chExt cx="1813" cy="721"/>
            </a:xfrm>
            <a:grpFill/>
          </p:grpSpPr>
          <p:sp>
            <p:nvSpPr>
              <p:cNvPr id="205" name="Oval 46">
                <a:extLst>
                  <a:ext uri="{FF2B5EF4-FFF2-40B4-BE49-F238E27FC236}">
                    <a16:creationId xmlns:a16="http://schemas.microsoft.com/office/drawing/2014/main" id="{917AEDD1-A6D8-9CD0-57C4-0BA1FAD01DAD}"/>
                  </a:ext>
                </a:extLst>
              </p:cNvPr>
              <p:cNvSpPr>
                <a:spLocks noChangeArrowheads="1"/>
              </p:cNvSpPr>
              <p:nvPr/>
            </p:nvSpPr>
            <p:spPr bwMode="auto">
              <a:xfrm>
                <a:off x="2413" y="2783"/>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6" name="Oval 47">
                <a:extLst>
                  <a:ext uri="{FF2B5EF4-FFF2-40B4-BE49-F238E27FC236}">
                    <a16:creationId xmlns:a16="http://schemas.microsoft.com/office/drawing/2014/main" id="{5754FC44-EBB0-35E1-22A7-F1669ECA6F70}"/>
                  </a:ext>
                </a:extLst>
              </p:cNvPr>
              <p:cNvSpPr>
                <a:spLocks noChangeArrowheads="1"/>
              </p:cNvSpPr>
              <p:nvPr/>
            </p:nvSpPr>
            <p:spPr bwMode="auto">
              <a:xfrm>
                <a:off x="1974" y="2863"/>
                <a:ext cx="593"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7" name="Oval 48">
                <a:extLst>
                  <a:ext uri="{FF2B5EF4-FFF2-40B4-BE49-F238E27FC236}">
                    <a16:creationId xmlns:a16="http://schemas.microsoft.com/office/drawing/2014/main" id="{A1F8873A-01B0-D77A-2FC5-80161C324802}"/>
                  </a:ext>
                </a:extLst>
              </p:cNvPr>
              <p:cNvSpPr>
                <a:spLocks noChangeArrowheads="1"/>
              </p:cNvSpPr>
              <p:nvPr/>
            </p:nvSpPr>
            <p:spPr bwMode="auto">
              <a:xfrm>
                <a:off x="1787" y="3045"/>
                <a:ext cx="396" cy="23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8" name="Oval 49">
                <a:extLst>
                  <a:ext uri="{FF2B5EF4-FFF2-40B4-BE49-F238E27FC236}">
                    <a16:creationId xmlns:a16="http://schemas.microsoft.com/office/drawing/2014/main" id="{D85EC4A5-B720-4A48-28F1-B979AB0FD72F}"/>
                  </a:ext>
                </a:extLst>
              </p:cNvPr>
              <p:cNvSpPr>
                <a:spLocks noChangeArrowheads="1"/>
              </p:cNvSpPr>
              <p:nvPr/>
            </p:nvSpPr>
            <p:spPr bwMode="auto">
              <a:xfrm>
                <a:off x="1908" y="3154"/>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9" name="Oval 50">
                <a:extLst>
                  <a:ext uri="{FF2B5EF4-FFF2-40B4-BE49-F238E27FC236}">
                    <a16:creationId xmlns:a16="http://schemas.microsoft.com/office/drawing/2014/main" id="{F56C2ED2-5799-504C-4603-F5CD97AAA770}"/>
                  </a:ext>
                </a:extLst>
              </p:cNvPr>
              <p:cNvSpPr>
                <a:spLocks noChangeArrowheads="1"/>
              </p:cNvSpPr>
              <p:nvPr/>
            </p:nvSpPr>
            <p:spPr bwMode="auto">
              <a:xfrm>
                <a:off x="2347" y="3198"/>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0" name="Oval 51">
                <a:extLst>
                  <a:ext uri="{FF2B5EF4-FFF2-40B4-BE49-F238E27FC236}">
                    <a16:creationId xmlns:a16="http://schemas.microsoft.com/office/drawing/2014/main" id="{1E5C912F-E0D6-AA2D-1EC6-93371264B2F8}"/>
                  </a:ext>
                </a:extLst>
              </p:cNvPr>
              <p:cNvSpPr>
                <a:spLocks noChangeArrowheads="1"/>
              </p:cNvSpPr>
              <p:nvPr/>
            </p:nvSpPr>
            <p:spPr bwMode="auto">
              <a:xfrm>
                <a:off x="2941" y="2870"/>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1" name="Oval 52">
                <a:extLst>
                  <a:ext uri="{FF2B5EF4-FFF2-40B4-BE49-F238E27FC236}">
                    <a16:creationId xmlns:a16="http://schemas.microsoft.com/office/drawing/2014/main" id="{8C559612-EEF9-820A-9FDE-FF3363803BD1}"/>
                  </a:ext>
                </a:extLst>
              </p:cNvPr>
              <p:cNvSpPr>
                <a:spLocks noChangeArrowheads="1"/>
              </p:cNvSpPr>
              <p:nvPr/>
            </p:nvSpPr>
            <p:spPr bwMode="auto">
              <a:xfrm>
                <a:off x="3029" y="3023"/>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2" name="Oval 53">
                <a:extLst>
                  <a:ext uri="{FF2B5EF4-FFF2-40B4-BE49-F238E27FC236}">
                    <a16:creationId xmlns:a16="http://schemas.microsoft.com/office/drawing/2014/main" id="{78BC673C-A9E8-1C25-D345-8895D4ACD878}"/>
                  </a:ext>
                </a:extLst>
              </p:cNvPr>
              <p:cNvSpPr>
                <a:spLocks noChangeArrowheads="1"/>
              </p:cNvSpPr>
              <p:nvPr/>
            </p:nvSpPr>
            <p:spPr bwMode="auto">
              <a:xfrm>
                <a:off x="2974" y="3074"/>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3" name="Oval 54">
                <a:extLst>
                  <a:ext uri="{FF2B5EF4-FFF2-40B4-BE49-F238E27FC236}">
                    <a16:creationId xmlns:a16="http://schemas.microsoft.com/office/drawing/2014/main" id="{A8C71A9D-564F-A6B7-24A0-C8D910049EAE}"/>
                  </a:ext>
                </a:extLst>
              </p:cNvPr>
              <p:cNvSpPr>
                <a:spLocks noChangeArrowheads="1"/>
              </p:cNvSpPr>
              <p:nvPr/>
            </p:nvSpPr>
            <p:spPr bwMode="auto">
              <a:xfrm>
                <a:off x="2117" y="2957"/>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sp>
          <p:nvSpPr>
            <p:cNvPr id="196" name="Oval 55">
              <a:extLst>
                <a:ext uri="{FF2B5EF4-FFF2-40B4-BE49-F238E27FC236}">
                  <a16:creationId xmlns:a16="http://schemas.microsoft.com/office/drawing/2014/main" id="{72A4DED0-4849-E3E3-7170-F33ECA30E3F9}"/>
                </a:ext>
              </a:extLst>
            </p:cNvPr>
            <p:cNvSpPr>
              <a:spLocks noChangeArrowheads="1"/>
            </p:cNvSpPr>
            <p:nvPr/>
          </p:nvSpPr>
          <p:spPr bwMode="auto">
            <a:xfrm>
              <a:off x="2402" y="2768"/>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97" name="Oval 56">
              <a:extLst>
                <a:ext uri="{FF2B5EF4-FFF2-40B4-BE49-F238E27FC236}">
                  <a16:creationId xmlns:a16="http://schemas.microsoft.com/office/drawing/2014/main" id="{FC8C8E69-1A24-FC7D-A21F-E49CCF644BAD}"/>
                </a:ext>
              </a:extLst>
            </p:cNvPr>
            <p:cNvSpPr>
              <a:spLocks noChangeArrowheads="1"/>
            </p:cNvSpPr>
            <p:nvPr/>
          </p:nvSpPr>
          <p:spPr bwMode="auto">
            <a:xfrm>
              <a:off x="1963" y="2848"/>
              <a:ext cx="593" cy="29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98" name="Oval 57">
              <a:extLst>
                <a:ext uri="{FF2B5EF4-FFF2-40B4-BE49-F238E27FC236}">
                  <a16:creationId xmlns:a16="http://schemas.microsoft.com/office/drawing/2014/main" id="{F1E75E3A-056E-5244-9967-BC46193FC25E}"/>
                </a:ext>
              </a:extLst>
            </p:cNvPr>
            <p:cNvSpPr>
              <a:spLocks noChangeArrowheads="1"/>
            </p:cNvSpPr>
            <p:nvPr/>
          </p:nvSpPr>
          <p:spPr bwMode="auto">
            <a:xfrm>
              <a:off x="1776" y="3030"/>
              <a:ext cx="396" cy="23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99" name="Oval 58">
              <a:extLst>
                <a:ext uri="{FF2B5EF4-FFF2-40B4-BE49-F238E27FC236}">
                  <a16:creationId xmlns:a16="http://schemas.microsoft.com/office/drawing/2014/main" id="{231029F4-C533-BB1F-00A0-377F8F3C2ACB}"/>
                </a:ext>
              </a:extLst>
            </p:cNvPr>
            <p:cNvSpPr>
              <a:spLocks noChangeArrowheads="1"/>
            </p:cNvSpPr>
            <p:nvPr/>
          </p:nvSpPr>
          <p:spPr bwMode="auto">
            <a:xfrm>
              <a:off x="1897" y="3140"/>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0" name="Oval 59">
              <a:extLst>
                <a:ext uri="{FF2B5EF4-FFF2-40B4-BE49-F238E27FC236}">
                  <a16:creationId xmlns:a16="http://schemas.microsoft.com/office/drawing/2014/main" id="{914E295F-08CA-105E-3073-B668DCD96B17}"/>
                </a:ext>
              </a:extLst>
            </p:cNvPr>
            <p:cNvSpPr>
              <a:spLocks noChangeArrowheads="1"/>
            </p:cNvSpPr>
            <p:nvPr/>
          </p:nvSpPr>
          <p:spPr bwMode="auto">
            <a:xfrm>
              <a:off x="2336" y="3183"/>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1" name="Oval 60">
              <a:extLst>
                <a:ext uri="{FF2B5EF4-FFF2-40B4-BE49-F238E27FC236}">
                  <a16:creationId xmlns:a16="http://schemas.microsoft.com/office/drawing/2014/main" id="{968C8B7E-8E8B-6F11-0701-4EB29365CB65}"/>
                </a:ext>
              </a:extLst>
            </p:cNvPr>
            <p:cNvSpPr>
              <a:spLocks noChangeArrowheads="1"/>
            </p:cNvSpPr>
            <p:nvPr/>
          </p:nvSpPr>
          <p:spPr bwMode="auto">
            <a:xfrm>
              <a:off x="2930" y="2855"/>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2" name="Oval 61">
              <a:extLst>
                <a:ext uri="{FF2B5EF4-FFF2-40B4-BE49-F238E27FC236}">
                  <a16:creationId xmlns:a16="http://schemas.microsoft.com/office/drawing/2014/main" id="{6C758A2C-9E60-6253-639F-EA0D91949833}"/>
                </a:ext>
              </a:extLst>
            </p:cNvPr>
            <p:cNvSpPr>
              <a:spLocks noChangeArrowheads="1"/>
            </p:cNvSpPr>
            <p:nvPr/>
          </p:nvSpPr>
          <p:spPr bwMode="auto">
            <a:xfrm>
              <a:off x="3018" y="3008"/>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3" name="Oval 62">
              <a:extLst>
                <a:ext uri="{FF2B5EF4-FFF2-40B4-BE49-F238E27FC236}">
                  <a16:creationId xmlns:a16="http://schemas.microsoft.com/office/drawing/2014/main" id="{3F7BC2EC-3796-0D93-4940-0BCA25403021}"/>
                </a:ext>
              </a:extLst>
            </p:cNvPr>
            <p:cNvSpPr>
              <a:spLocks noChangeArrowheads="1"/>
            </p:cNvSpPr>
            <p:nvPr/>
          </p:nvSpPr>
          <p:spPr bwMode="auto">
            <a:xfrm>
              <a:off x="2963" y="3059"/>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4" name="Oval 63">
              <a:extLst>
                <a:ext uri="{FF2B5EF4-FFF2-40B4-BE49-F238E27FC236}">
                  <a16:creationId xmlns:a16="http://schemas.microsoft.com/office/drawing/2014/main" id="{45EEA8D6-2452-42D5-1D1E-6D9975F1F2D4}"/>
                </a:ext>
              </a:extLst>
            </p:cNvPr>
            <p:cNvSpPr>
              <a:spLocks noChangeArrowheads="1"/>
            </p:cNvSpPr>
            <p:nvPr/>
          </p:nvSpPr>
          <p:spPr bwMode="auto">
            <a:xfrm>
              <a:off x="2106" y="2943"/>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grpSp>
        <p:nvGrpSpPr>
          <p:cNvPr id="214" name="Group 44">
            <a:extLst>
              <a:ext uri="{FF2B5EF4-FFF2-40B4-BE49-F238E27FC236}">
                <a16:creationId xmlns:a16="http://schemas.microsoft.com/office/drawing/2014/main" id="{9F556FA4-57E2-9F80-AC54-200E83A5BC6D}"/>
              </a:ext>
            </a:extLst>
          </p:cNvPr>
          <p:cNvGrpSpPr>
            <a:grpSpLocks/>
          </p:cNvGrpSpPr>
          <p:nvPr/>
        </p:nvGrpSpPr>
        <p:grpSpPr bwMode="auto">
          <a:xfrm>
            <a:off x="4178500" y="3199066"/>
            <a:ext cx="628600" cy="277145"/>
            <a:chOff x="1776" y="2768"/>
            <a:chExt cx="1824" cy="736"/>
          </a:xfrm>
          <a:solidFill>
            <a:srgbClr val="FFFF66"/>
          </a:solidFill>
          <a:effectLst>
            <a:outerShdw blurRad="50800" dist="38100" dir="2700000" algn="tl" rotWithShape="0">
              <a:prstClr val="black">
                <a:alpha val="40000"/>
              </a:prstClr>
            </a:outerShdw>
          </a:effectLst>
        </p:grpSpPr>
        <p:grpSp>
          <p:nvGrpSpPr>
            <p:cNvPr id="215" name="Group 45">
              <a:extLst>
                <a:ext uri="{FF2B5EF4-FFF2-40B4-BE49-F238E27FC236}">
                  <a16:creationId xmlns:a16="http://schemas.microsoft.com/office/drawing/2014/main" id="{C7AD0A61-67C1-66AA-6B5F-C5963A5918A5}"/>
                </a:ext>
              </a:extLst>
            </p:cNvPr>
            <p:cNvGrpSpPr>
              <a:grpSpLocks/>
            </p:cNvGrpSpPr>
            <p:nvPr/>
          </p:nvGrpSpPr>
          <p:grpSpPr bwMode="auto">
            <a:xfrm>
              <a:off x="1787" y="2783"/>
              <a:ext cx="1813" cy="721"/>
              <a:chOff x="1787" y="2783"/>
              <a:chExt cx="1813" cy="721"/>
            </a:xfrm>
            <a:grpFill/>
          </p:grpSpPr>
          <p:sp>
            <p:nvSpPr>
              <p:cNvPr id="225" name="Oval 46">
                <a:extLst>
                  <a:ext uri="{FF2B5EF4-FFF2-40B4-BE49-F238E27FC236}">
                    <a16:creationId xmlns:a16="http://schemas.microsoft.com/office/drawing/2014/main" id="{2D654BCE-77CD-7F44-F62D-6293B1DE61C6}"/>
                  </a:ext>
                </a:extLst>
              </p:cNvPr>
              <p:cNvSpPr>
                <a:spLocks noChangeArrowheads="1"/>
              </p:cNvSpPr>
              <p:nvPr/>
            </p:nvSpPr>
            <p:spPr bwMode="auto">
              <a:xfrm>
                <a:off x="2413" y="2783"/>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6" name="Oval 47">
                <a:extLst>
                  <a:ext uri="{FF2B5EF4-FFF2-40B4-BE49-F238E27FC236}">
                    <a16:creationId xmlns:a16="http://schemas.microsoft.com/office/drawing/2014/main" id="{C4BB24C9-EBF0-EE2F-6178-8B6156367011}"/>
                  </a:ext>
                </a:extLst>
              </p:cNvPr>
              <p:cNvSpPr>
                <a:spLocks noChangeArrowheads="1"/>
              </p:cNvSpPr>
              <p:nvPr/>
            </p:nvSpPr>
            <p:spPr bwMode="auto">
              <a:xfrm>
                <a:off x="1974" y="2863"/>
                <a:ext cx="593"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7" name="Oval 48">
                <a:extLst>
                  <a:ext uri="{FF2B5EF4-FFF2-40B4-BE49-F238E27FC236}">
                    <a16:creationId xmlns:a16="http://schemas.microsoft.com/office/drawing/2014/main" id="{C659AD0A-1D79-FBB0-D637-A8C7CB0A14F7}"/>
                  </a:ext>
                </a:extLst>
              </p:cNvPr>
              <p:cNvSpPr>
                <a:spLocks noChangeArrowheads="1"/>
              </p:cNvSpPr>
              <p:nvPr/>
            </p:nvSpPr>
            <p:spPr bwMode="auto">
              <a:xfrm>
                <a:off x="1787" y="3045"/>
                <a:ext cx="396" cy="23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8" name="Oval 49">
                <a:extLst>
                  <a:ext uri="{FF2B5EF4-FFF2-40B4-BE49-F238E27FC236}">
                    <a16:creationId xmlns:a16="http://schemas.microsoft.com/office/drawing/2014/main" id="{971B0303-A0F1-CFC0-30EF-52EEC7141771}"/>
                  </a:ext>
                </a:extLst>
              </p:cNvPr>
              <p:cNvSpPr>
                <a:spLocks noChangeArrowheads="1"/>
              </p:cNvSpPr>
              <p:nvPr/>
            </p:nvSpPr>
            <p:spPr bwMode="auto">
              <a:xfrm>
                <a:off x="1908" y="3154"/>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9" name="Oval 50">
                <a:extLst>
                  <a:ext uri="{FF2B5EF4-FFF2-40B4-BE49-F238E27FC236}">
                    <a16:creationId xmlns:a16="http://schemas.microsoft.com/office/drawing/2014/main" id="{327CE581-FC3A-7A84-9145-C7513B6D64E1}"/>
                  </a:ext>
                </a:extLst>
              </p:cNvPr>
              <p:cNvSpPr>
                <a:spLocks noChangeArrowheads="1"/>
              </p:cNvSpPr>
              <p:nvPr/>
            </p:nvSpPr>
            <p:spPr bwMode="auto">
              <a:xfrm>
                <a:off x="2347" y="3198"/>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0" name="Oval 51">
                <a:extLst>
                  <a:ext uri="{FF2B5EF4-FFF2-40B4-BE49-F238E27FC236}">
                    <a16:creationId xmlns:a16="http://schemas.microsoft.com/office/drawing/2014/main" id="{1436A1F1-EA9A-343B-643B-EC911808F850}"/>
                  </a:ext>
                </a:extLst>
              </p:cNvPr>
              <p:cNvSpPr>
                <a:spLocks noChangeArrowheads="1"/>
              </p:cNvSpPr>
              <p:nvPr/>
            </p:nvSpPr>
            <p:spPr bwMode="auto">
              <a:xfrm>
                <a:off x="2941" y="2870"/>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1" name="Oval 52">
                <a:extLst>
                  <a:ext uri="{FF2B5EF4-FFF2-40B4-BE49-F238E27FC236}">
                    <a16:creationId xmlns:a16="http://schemas.microsoft.com/office/drawing/2014/main" id="{33D958B0-2741-FF2B-94E6-5ED340A94826}"/>
                  </a:ext>
                </a:extLst>
              </p:cNvPr>
              <p:cNvSpPr>
                <a:spLocks noChangeArrowheads="1"/>
              </p:cNvSpPr>
              <p:nvPr/>
            </p:nvSpPr>
            <p:spPr bwMode="auto">
              <a:xfrm>
                <a:off x="3029" y="3023"/>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2" name="Oval 53">
                <a:extLst>
                  <a:ext uri="{FF2B5EF4-FFF2-40B4-BE49-F238E27FC236}">
                    <a16:creationId xmlns:a16="http://schemas.microsoft.com/office/drawing/2014/main" id="{E0748775-088F-C26E-50B2-E91AD3B026A4}"/>
                  </a:ext>
                </a:extLst>
              </p:cNvPr>
              <p:cNvSpPr>
                <a:spLocks noChangeArrowheads="1"/>
              </p:cNvSpPr>
              <p:nvPr/>
            </p:nvSpPr>
            <p:spPr bwMode="auto">
              <a:xfrm>
                <a:off x="2974" y="3074"/>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3" name="Oval 54">
                <a:extLst>
                  <a:ext uri="{FF2B5EF4-FFF2-40B4-BE49-F238E27FC236}">
                    <a16:creationId xmlns:a16="http://schemas.microsoft.com/office/drawing/2014/main" id="{AA91F6E2-817E-E80F-068C-394ACB747396}"/>
                  </a:ext>
                </a:extLst>
              </p:cNvPr>
              <p:cNvSpPr>
                <a:spLocks noChangeArrowheads="1"/>
              </p:cNvSpPr>
              <p:nvPr/>
            </p:nvSpPr>
            <p:spPr bwMode="auto">
              <a:xfrm>
                <a:off x="2117" y="2957"/>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sp>
          <p:nvSpPr>
            <p:cNvPr id="216" name="Oval 55">
              <a:extLst>
                <a:ext uri="{FF2B5EF4-FFF2-40B4-BE49-F238E27FC236}">
                  <a16:creationId xmlns:a16="http://schemas.microsoft.com/office/drawing/2014/main" id="{0DB81280-F5AD-F17D-775D-0A62FBFC21BC}"/>
                </a:ext>
              </a:extLst>
            </p:cNvPr>
            <p:cNvSpPr>
              <a:spLocks noChangeArrowheads="1"/>
            </p:cNvSpPr>
            <p:nvPr/>
          </p:nvSpPr>
          <p:spPr bwMode="auto">
            <a:xfrm>
              <a:off x="2402" y="2768"/>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7" name="Oval 56">
              <a:extLst>
                <a:ext uri="{FF2B5EF4-FFF2-40B4-BE49-F238E27FC236}">
                  <a16:creationId xmlns:a16="http://schemas.microsoft.com/office/drawing/2014/main" id="{6CA1C9CB-063F-65D1-B2C0-31EF6EA93F9D}"/>
                </a:ext>
              </a:extLst>
            </p:cNvPr>
            <p:cNvSpPr>
              <a:spLocks noChangeArrowheads="1"/>
            </p:cNvSpPr>
            <p:nvPr/>
          </p:nvSpPr>
          <p:spPr bwMode="auto">
            <a:xfrm>
              <a:off x="1963" y="2848"/>
              <a:ext cx="593" cy="29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8" name="Oval 57">
              <a:extLst>
                <a:ext uri="{FF2B5EF4-FFF2-40B4-BE49-F238E27FC236}">
                  <a16:creationId xmlns:a16="http://schemas.microsoft.com/office/drawing/2014/main" id="{C00A0BD8-31B6-2D6C-7E72-33E062A57DE5}"/>
                </a:ext>
              </a:extLst>
            </p:cNvPr>
            <p:cNvSpPr>
              <a:spLocks noChangeArrowheads="1"/>
            </p:cNvSpPr>
            <p:nvPr/>
          </p:nvSpPr>
          <p:spPr bwMode="auto">
            <a:xfrm>
              <a:off x="1776" y="3030"/>
              <a:ext cx="396" cy="23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9" name="Oval 58">
              <a:extLst>
                <a:ext uri="{FF2B5EF4-FFF2-40B4-BE49-F238E27FC236}">
                  <a16:creationId xmlns:a16="http://schemas.microsoft.com/office/drawing/2014/main" id="{835270BA-EDEE-9A7B-2305-18748A30E03E}"/>
                </a:ext>
              </a:extLst>
            </p:cNvPr>
            <p:cNvSpPr>
              <a:spLocks noChangeArrowheads="1"/>
            </p:cNvSpPr>
            <p:nvPr/>
          </p:nvSpPr>
          <p:spPr bwMode="auto">
            <a:xfrm>
              <a:off x="1897" y="3140"/>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0" name="Oval 59">
              <a:extLst>
                <a:ext uri="{FF2B5EF4-FFF2-40B4-BE49-F238E27FC236}">
                  <a16:creationId xmlns:a16="http://schemas.microsoft.com/office/drawing/2014/main" id="{B0A25A28-8C1B-CA1F-59C0-978B86F10F74}"/>
                </a:ext>
              </a:extLst>
            </p:cNvPr>
            <p:cNvSpPr>
              <a:spLocks noChangeArrowheads="1"/>
            </p:cNvSpPr>
            <p:nvPr/>
          </p:nvSpPr>
          <p:spPr bwMode="auto">
            <a:xfrm>
              <a:off x="2336" y="3183"/>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1" name="Oval 60">
              <a:extLst>
                <a:ext uri="{FF2B5EF4-FFF2-40B4-BE49-F238E27FC236}">
                  <a16:creationId xmlns:a16="http://schemas.microsoft.com/office/drawing/2014/main" id="{42345421-338E-E826-0ACF-7E53F39528C2}"/>
                </a:ext>
              </a:extLst>
            </p:cNvPr>
            <p:cNvSpPr>
              <a:spLocks noChangeArrowheads="1"/>
            </p:cNvSpPr>
            <p:nvPr/>
          </p:nvSpPr>
          <p:spPr bwMode="auto">
            <a:xfrm>
              <a:off x="2930" y="2855"/>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2" name="Oval 61">
              <a:extLst>
                <a:ext uri="{FF2B5EF4-FFF2-40B4-BE49-F238E27FC236}">
                  <a16:creationId xmlns:a16="http://schemas.microsoft.com/office/drawing/2014/main" id="{2F0BA825-09C7-0A63-40E4-043BC70853A3}"/>
                </a:ext>
              </a:extLst>
            </p:cNvPr>
            <p:cNvSpPr>
              <a:spLocks noChangeArrowheads="1"/>
            </p:cNvSpPr>
            <p:nvPr/>
          </p:nvSpPr>
          <p:spPr bwMode="auto">
            <a:xfrm>
              <a:off x="3018" y="3008"/>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3" name="Oval 62">
              <a:extLst>
                <a:ext uri="{FF2B5EF4-FFF2-40B4-BE49-F238E27FC236}">
                  <a16:creationId xmlns:a16="http://schemas.microsoft.com/office/drawing/2014/main" id="{5D844B9D-3598-D54D-800E-E7EDB5FC24B8}"/>
                </a:ext>
              </a:extLst>
            </p:cNvPr>
            <p:cNvSpPr>
              <a:spLocks noChangeArrowheads="1"/>
            </p:cNvSpPr>
            <p:nvPr/>
          </p:nvSpPr>
          <p:spPr bwMode="auto">
            <a:xfrm>
              <a:off x="2963" y="3059"/>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4" name="Oval 63">
              <a:extLst>
                <a:ext uri="{FF2B5EF4-FFF2-40B4-BE49-F238E27FC236}">
                  <a16:creationId xmlns:a16="http://schemas.microsoft.com/office/drawing/2014/main" id="{A7CFDC80-9E70-28DA-7902-D0D5B1B959E6}"/>
                </a:ext>
              </a:extLst>
            </p:cNvPr>
            <p:cNvSpPr>
              <a:spLocks noChangeArrowheads="1"/>
            </p:cNvSpPr>
            <p:nvPr/>
          </p:nvSpPr>
          <p:spPr bwMode="auto">
            <a:xfrm>
              <a:off x="2106" y="2943"/>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grpSp>
        <p:nvGrpSpPr>
          <p:cNvPr id="234" name="Group 44">
            <a:extLst>
              <a:ext uri="{FF2B5EF4-FFF2-40B4-BE49-F238E27FC236}">
                <a16:creationId xmlns:a16="http://schemas.microsoft.com/office/drawing/2014/main" id="{6AF0BC96-1A4F-632F-6613-63E4AFC15326}"/>
              </a:ext>
            </a:extLst>
          </p:cNvPr>
          <p:cNvGrpSpPr>
            <a:grpSpLocks/>
          </p:cNvGrpSpPr>
          <p:nvPr/>
        </p:nvGrpSpPr>
        <p:grpSpPr bwMode="auto">
          <a:xfrm>
            <a:off x="5666125" y="3199066"/>
            <a:ext cx="628600" cy="277145"/>
            <a:chOff x="1776" y="2768"/>
            <a:chExt cx="1824" cy="736"/>
          </a:xfrm>
          <a:solidFill>
            <a:srgbClr val="FFFF66"/>
          </a:solidFill>
          <a:effectLst>
            <a:outerShdw blurRad="50800" dist="38100" dir="2700000" algn="tl" rotWithShape="0">
              <a:prstClr val="black">
                <a:alpha val="40000"/>
              </a:prstClr>
            </a:outerShdw>
          </a:effectLst>
        </p:grpSpPr>
        <p:grpSp>
          <p:nvGrpSpPr>
            <p:cNvPr id="235" name="Group 45">
              <a:extLst>
                <a:ext uri="{FF2B5EF4-FFF2-40B4-BE49-F238E27FC236}">
                  <a16:creationId xmlns:a16="http://schemas.microsoft.com/office/drawing/2014/main" id="{784F10BC-E3D5-46B4-B376-68948735B1ED}"/>
                </a:ext>
              </a:extLst>
            </p:cNvPr>
            <p:cNvGrpSpPr>
              <a:grpSpLocks/>
            </p:cNvGrpSpPr>
            <p:nvPr/>
          </p:nvGrpSpPr>
          <p:grpSpPr bwMode="auto">
            <a:xfrm>
              <a:off x="1787" y="2783"/>
              <a:ext cx="1813" cy="721"/>
              <a:chOff x="1787" y="2783"/>
              <a:chExt cx="1813" cy="721"/>
            </a:xfrm>
            <a:grpFill/>
          </p:grpSpPr>
          <p:sp>
            <p:nvSpPr>
              <p:cNvPr id="245" name="Oval 46">
                <a:extLst>
                  <a:ext uri="{FF2B5EF4-FFF2-40B4-BE49-F238E27FC236}">
                    <a16:creationId xmlns:a16="http://schemas.microsoft.com/office/drawing/2014/main" id="{FE7CC5D5-9A38-3A4B-429E-5487E3496567}"/>
                  </a:ext>
                </a:extLst>
              </p:cNvPr>
              <p:cNvSpPr>
                <a:spLocks noChangeArrowheads="1"/>
              </p:cNvSpPr>
              <p:nvPr/>
            </p:nvSpPr>
            <p:spPr bwMode="auto">
              <a:xfrm>
                <a:off x="2413" y="2783"/>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6" name="Oval 47">
                <a:extLst>
                  <a:ext uri="{FF2B5EF4-FFF2-40B4-BE49-F238E27FC236}">
                    <a16:creationId xmlns:a16="http://schemas.microsoft.com/office/drawing/2014/main" id="{91EBB2B1-5AE4-7BDD-AEFA-E582597477B2}"/>
                  </a:ext>
                </a:extLst>
              </p:cNvPr>
              <p:cNvSpPr>
                <a:spLocks noChangeArrowheads="1"/>
              </p:cNvSpPr>
              <p:nvPr/>
            </p:nvSpPr>
            <p:spPr bwMode="auto">
              <a:xfrm>
                <a:off x="1974" y="2863"/>
                <a:ext cx="593"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7" name="Oval 48">
                <a:extLst>
                  <a:ext uri="{FF2B5EF4-FFF2-40B4-BE49-F238E27FC236}">
                    <a16:creationId xmlns:a16="http://schemas.microsoft.com/office/drawing/2014/main" id="{17409CFF-8656-9A1B-4713-D5DCDD09DCC5}"/>
                  </a:ext>
                </a:extLst>
              </p:cNvPr>
              <p:cNvSpPr>
                <a:spLocks noChangeArrowheads="1"/>
              </p:cNvSpPr>
              <p:nvPr/>
            </p:nvSpPr>
            <p:spPr bwMode="auto">
              <a:xfrm>
                <a:off x="1787" y="3045"/>
                <a:ext cx="396" cy="23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8" name="Oval 49">
                <a:extLst>
                  <a:ext uri="{FF2B5EF4-FFF2-40B4-BE49-F238E27FC236}">
                    <a16:creationId xmlns:a16="http://schemas.microsoft.com/office/drawing/2014/main" id="{A664B6C2-3C79-731D-8EC5-3450ED7EEFB5}"/>
                  </a:ext>
                </a:extLst>
              </p:cNvPr>
              <p:cNvSpPr>
                <a:spLocks noChangeArrowheads="1"/>
              </p:cNvSpPr>
              <p:nvPr/>
            </p:nvSpPr>
            <p:spPr bwMode="auto">
              <a:xfrm>
                <a:off x="1908" y="3154"/>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9" name="Oval 50">
                <a:extLst>
                  <a:ext uri="{FF2B5EF4-FFF2-40B4-BE49-F238E27FC236}">
                    <a16:creationId xmlns:a16="http://schemas.microsoft.com/office/drawing/2014/main" id="{CCE9EF10-F6CE-EA37-2993-FC27FCE745A8}"/>
                  </a:ext>
                </a:extLst>
              </p:cNvPr>
              <p:cNvSpPr>
                <a:spLocks noChangeArrowheads="1"/>
              </p:cNvSpPr>
              <p:nvPr/>
            </p:nvSpPr>
            <p:spPr bwMode="auto">
              <a:xfrm>
                <a:off x="2347" y="3198"/>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50" name="Oval 51">
                <a:extLst>
                  <a:ext uri="{FF2B5EF4-FFF2-40B4-BE49-F238E27FC236}">
                    <a16:creationId xmlns:a16="http://schemas.microsoft.com/office/drawing/2014/main" id="{0A9795AF-526A-3545-50FC-BEBBB3945E89}"/>
                  </a:ext>
                </a:extLst>
              </p:cNvPr>
              <p:cNvSpPr>
                <a:spLocks noChangeArrowheads="1"/>
              </p:cNvSpPr>
              <p:nvPr/>
            </p:nvSpPr>
            <p:spPr bwMode="auto">
              <a:xfrm>
                <a:off x="2941" y="2870"/>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51" name="Oval 52">
                <a:extLst>
                  <a:ext uri="{FF2B5EF4-FFF2-40B4-BE49-F238E27FC236}">
                    <a16:creationId xmlns:a16="http://schemas.microsoft.com/office/drawing/2014/main" id="{D84AE6C1-7C32-5CED-8852-FA67BC0B328F}"/>
                  </a:ext>
                </a:extLst>
              </p:cNvPr>
              <p:cNvSpPr>
                <a:spLocks noChangeArrowheads="1"/>
              </p:cNvSpPr>
              <p:nvPr/>
            </p:nvSpPr>
            <p:spPr bwMode="auto">
              <a:xfrm>
                <a:off x="3029" y="3023"/>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52" name="Oval 53">
                <a:extLst>
                  <a:ext uri="{FF2B5EF4-FFF2-40B4-BE49-F238E27FC236}">
                    <a16:creationId xmlns:a16="http://schemas.microsoft.com/office/drawing/2014/main" id="{846239A1-E728-BCAF-483B-E4E04EC263BA}"/>
                  </a:ext>
                </a:extLst>
              </p:cNvPr>
              <p:cNvSpPr>
                <a:spLocks noChangeArrowheads="1"/>
              </p:cNvSpPr>
              <p:nvPr/>
            </p:nvSpPr>
            <p:spPr bwMode="auto">
              <a:xfrm>
                <a:off x="2974" y="3074"/>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53" name="Oval 54">
                <a:extLst>
                  <a:ext uri="{FF2B5EF4-FFF2-40B4-BE49-F238E27FC236}">
                    <a16:creationId xmlns:a16="http://schemas.microsoft.com/office/drawing/2014/main" id="{7F2DCAD0-3E63-491A-DBA5-6D39F8C69596}"/>
                  </a:ext>
                </a:extLst>
              </p:cNvPr>
              <p:cNvSpPr>
                <a:spLocks noChangeArrowheads="1"/>
              </p:cNvSpPr>
              <p:nvPr/>
            </p:nvSpPr>
            <p:spPr bwMode="auto">
              <a:xfrm>
                <a:off x="2117" y="2957"/>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sp>
          <p:nvSpPr>
            <p:cNvPr id="236" name="Oval 55">
              <a:extLst>
                <a:ext uri="{FF2B5EF4-FFF2-40B4-BE49-F238E27FC236}">
                  <a16:creationId xmlns:a16="http://schemas.microsoft.com/office/drawing/2014/main" id="{C70FDD7E-CB41-5B6A-7C50-39C0EE652C1F}"/>
                </a:ext>
              </a:extLst>
            </p:cNvPr>
            <p:cNvSpPr>
              <a:spLocks noChangeArrowheads="1"/>
            </p:cNvSpPr>
            <p:nvPr/>
          </p:nvSpPr>
          <p:spPr bwMode="auto">
            <a:xfrm>
              <a:off x="2402" y="2768"/>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7" name="Oval 56">
              <a:extLst>
                <a:ext uri="{FF2B5EF4-FFF2-40B4-BE49-F238E27FC236}">
                  <a16:creationId xmlns:a16="http://schemas.microsoft.com/office/drawing/2014/main" id="{8DF08C59-6B67-018A-DA88-359BDA93FA66}"/>
                </a:ext>
              </a:extLst>
            </p:cNvPr>
            <p:cNvSpPr>
              <a:spLocks noChangeArrowheads="1"/>
            </p:cNvSpPr>
            <p:nvPr/>
          </p:nvSpPr>
          <p:spPr bwMode="auto">
            <a:xfrm>
              <a:off x="1963" y="2848"/>
              <a:ext cx="593" cy="29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8" name="Oval 57">
              <a:extLst>
                <a:ext uri="{FF2B5EF4-FFF2-40B4-BE49-F238E27FC236}">
                  <a16:creationId xmlns:a16="http://schemas.microsoft.com/office/drawing/2014/main" id="{E89972D1-9B81-7ADB-6A98-A7B9266F4D9A}"/>
                </a:ext>
              </a:extLst>
            </p:cNvPr>
            <p:cNvSpPr>
              <a:spLocks noChangeArrowheads="1"/>
            </p:cNvSpPr>
            <p:nvPr/>
          </p:nvSpPr>
          <p:spPr bwMode="auto">
            <a:xfrm>
              <a:off x="1776" y="3030"/>
              <a:ext cx="396" cy="23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9" name="Oval 58">
              <a:extLst>
                <a:ext uri="{FF2B5EF4-FFF2-40B4-BE49-F238E27FC236}">
                  <a16:creationId xmlns:a16="http://schemas.microsoft.com/office/drawing/2014/main" id="{6606278B-BF74-B9D7-29E5-F872363A3F99}"/>
                </a:ext>
              </a:extLst>
            </p:cNvPr>
            <p:cNvSpPr>
              <a:spLocks noChangeArrowheads="1"/>
            </p:cNvSpPr>
            <p:nvPr/>
          </p:nvSpPr>
          <p:spPr bwMode="auto">
            <a:xfrm>
              <a:off x="1897" y="3140"/>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0" name="Oval 59">
              <a:extLst>
                <a:ext uri="{FF2B5EF4-FFF2-40B4-BE49-F238E27FC236}">
                  <a16:creationId xmlns:a16="http://schemas.microsoft.com/office/drawing/2014/main" id="{664670B2-B413-A449-9EC6-654B1327AEE8}"/>
                </a:ext>
              </a:extLst>
            </p:cNvPr>
            <p:cNvSpPr>
              <a:spLocks noChangeArrowheads="1"/>
            </p:cNvSpPr>
            <p:nvPr/>
          </p:nvSpPr>
          <p:spPr bwMode="auto">
            <a:xfrm>
              <a:off x="2336" y="3183"/>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1" name="Oval 60">
              <a:extLst>
                <a:ext uri="{FF2B5EF4-FFF2-40B4-BE49-F238E27FC236}">
                  <a16:creationId xmlns:a16="http://schemas.microsoft.com/office/drawing/2014/main" id="{C33ABCF6-CDF2-7E24-D2C1-F62CCEE73824}"/>
                </a:ext>
              </a:extLst>
            </p:cNvPr>
            <p:cNvSpPr>
              <a:spLocks noChangeArrowheads="1"/>
            </p:cNvSpPr>
            <p:nvPr/>
          </p:nvSpPr>
          <p:spPr bwMode="auto">
            <a:xfrm>
              <a:off x="2930" y="2855"/>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2" name="Oval 61">
              <a:extLst>
                <a:ext uri="{FF2B5EF4-FFF2-40B4-BE49-F238E27FC236}">
                  <a16:creationId xmlns:a16="http://schemas.microsoft.com/office/drawing/2014/main" id="{CB2AFE45-1704-78DD-D6C0-134C7890D467}"/>
                </a:ext>
              </a:extLst>
            </p:cNvPr>
            <p:cNvSpPr>
              <a:spLocks noChangeArrowheads="1"/>
            </p:cNvSpPr>
            <p:nvPr/>
          </p:nvSpPr>
          <p:spPr bwMode="auto">
            <a:xfrm>
              <a:off x="3018" y="3008"/>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3" name="Oval 62">
              <a:extLst>
                <a:ext uri="{FF2B5EF4-FFF2-40B4-BE49-F238E27FC236}">
                  <a16:creationId xmlns:a16="http://schemas.microsoft.com/office/drawing/2014/main" id="{4C79CDC8-7BB6-FEAB-A02B-9D8B2EF67CAD}"/>
                </a:ext>
              </a:extLst>
            </p:cNvPr>
            <p:cNvSpPr>
              <a:spLocks noChangeArrowheads="1"/>
            </p:cNvSpPr>
            <p:nvPr/>
          </p:nvSpPr>
          <p:spPr bwMode="auto">
            <a:xfrm>
              <a:off x="2963" y="3059"/>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4" name="Oval 63">
              <a:extLst>
                <a:ext uri="{FF2B5EF4-FFF2-40B4-BE49-F238E27FC236}">
                  <a16:creationId xmlns:a16="http://schemas.microsoft.com/office/drawing/2014/main" id="{886C790F-933A-2629-DDEE-69B6E62D8A3A}"/>
                </a:ext>
              </a:extLst>
            </p:cNvPr>
            <p:cNvSpPr>
              <a:spLocks noChangeArrowheads="1"/>
            </p:cNvSpPr>
            <p:nvPr/>
          </p:nvSpPr>
          <p:spPr bwMode="auto">
            <a:xfrm>
              <a:off x="2106" y="2943"/>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sp>
        <p:nvSpPr>
          <p:cNvPr id="142" name="Rectangle 159">
            <a:extLst>
              <a:ext uri="{FF2B5EF4-FFF2-40B4-BE49-F238E27FC236}">
                <a16:creationId xmlns:a16="http://schemas.microsoft.com/office/drawing/2014/main" id="{14938CDE-84E9-F3E1-E419-00FC05719F00}"/>
              </a:ext>
            </a:extLst>
          </p:cNvPr>
          <p:cNvSpPr>
            <a:spLocks noChangeArrowheads="1"/>
          </p:cNvSpPr>
          <p:nvPr/>
        </p:nvSpPr>
        <p:spPr bwMode="auto">
          <a:xfrm>
            <a:off x="5710875" y="3203562"/>
            <a:ext cx="579327"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LAN</a:t>
            </a:r>
            <a:r>
              <a:rPr lang="en-US" altLang="zh-CN" sz="1200" b="1" baseline="-25000">
                <a:latin typeface="微软雅黑" panose="020B0503020204020204" pitchFamily="34" charset="-122"/>
                <a:ea typeface="微软雅黑" panose="020B0503020204020204" pitchFamily="34" charset="-122"/>
              </a:rPr>
              <a:t>2</a:t>
            </a:r>
            <a:endParaRPr lang="en-US" altLang="zh-CN" sz="1200" b="1">
              <a:latin typeface="微软雅黑" panose="020B0503020204020204" pitchFamily="34" charset="-122"/>
              <a:ea typeface="微软雅黑" panose="020B0503020204020204" pitchFamily="34" charset="-122"/>
            </a:endParaRPr>
          </a:p>
        </p:txBody>
      </p:sp>
      <p:sp>
        <p:nvSpPr>
          <p:cNvPr id="144" name="Rectangle 161">
            <a:extLst>
              <a:ext uri="{FF2B5EF4-FFF2-40B4-BE49-F238E27FC236}">
                <a16:creationId xmlns:a16="http://schemas.microsoft.com/office/drawing/2014/main" id="{7CE7EE2C-E874-AE01-E695-41646B463DC4}"/>
              </a:ext>
            </a:extLst>
          </p:cNvPr>
          <p:cNvSpPr>
            <a:spLocks noChangeArrowheads="1"/>
          </p:cNvSpPr>
          <p:nvPr/>
        </p:nvSpPr>
        <p:spPr bwMode="auto">
          <a:xfrm>
            <a:off x="4212958" y="3209179"/>
            <a:ext cx="587278"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WAN</a:t>
            </a:r>
          </a:p>
        </p:txBody>
      </p:sp>
      <p:sp>
        <p:nvSpPr>
          <p:cNvPr id="158" name="Rectangle 160">
            <a:extLst>
              <a:ext uri="{FF2B5EF4-FFF2-40B4-BE49-F238E27FC236}">
                <a16:creationId xmlns:a16="http://schemas.microsoft.com/office/drawing/2014/main" id="{8DDF1D6B-0946-7D43-EFE9-B7E5D5A77BE7}"/>
              </a:ext>
            </a:extLst>
          </p:cNvPr>
          <p:cNvSpPr>
            <a:spLocks noChangeArrowheads="1"/>
          </p:cNvSpPr>
          <p:nvPr/>
        </p:nvSpPr>
        <p:spPr bwMode="auto">
          <a:xfrm>
            <a:off x="2732116" y="3209992"/>
            <a:ext cx="579327"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LAN</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sp>
        <p:nvSpPr>
          <p:cNvPr id="254" name="Rectangle 10">
            <a:extLst>
              <a:ext uri="{FF2B5EF4-FFF2-40B4-BE49-F238E27FC236}">
                <a16:creationId xmlns:a16="http://schemas.microsoft.com/office/drawing/2014/main" id="{CA64A5F8-28CF-B360-29F7-2350AF504518}"/>
              </a:ext>
            </a:extLst>
          </p:cNvPr>
          <p:cNvSpPr>
            <a:spLocks noChangeArrowheads="1"/>
          </p:cNvSpPr>
          <p:nvPr/>
        </p:nvSpPr>
        <p:spPr bwMode="auto">
          <a:xfrm>
            <a:off x="7281090" y="1488853"/>
            <a:ext cx="277321" cy="116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1200"/>
              </a:lnSpc>
            </a:pPr>
            <a:r>
              <a:rPr lang="en-US" altLang="zh-CN" sz="1200" b="1" dirty="0">
                <a:latin typeface="微软雅黑" panose="020B0503020204020204" pitchFamily="34" charset="-122"/>
                <a:ea typeface="微软雅黑" panose="020B0503020204020204" pitchFamily="34" charset="-122"/>
              </a:rPr>
              <a:t>5</a:t>
            </a:r>
          </a:p>
          <a:p>
            <a:pPr>
              <a:lnSpc>
                <a:spcPts val="4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4</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3</a:t>
            </a:r>
          </a:p>
          <a:p>
            <a:pPr>
              <a:lnSpc>
                <a:spcPts val="8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2</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1</a:t>
            </a:r>
          </a:p>
        </p:txBody>
      </p:sp>
      <p:grpSp>
        <p:nvGrpSpPr>
          <p:cNvPr id="35" name="组合 34">
            <a:extLst>
              <a:ext uri="{FF2B5EF4-FFF2-40B4-BE49-F238E27FC236}">
                <a16:creationId xmlns:a16="http://schemas.microsoft.com/office/drawing/2014/main" id="{6E415156-9E8C-67D0-206E-F96ECF67452C}"/>
              </a:ext>
            </a:extLst>
          </p:cNvPr>
          <p:cNvGrpSpPr/>
          <p:nvPr/>
        </p:nvGrpSpPr>
        <p:grpSpPr>
          <a:xfrm>
            <a:off x="811003" y="1422817"/>
            <a:ext cx="1501964" cy="534806"/>
            <a:chOff x="811003" y="1423671"/>
            <a:chExt cx="1501964" cy="534806"/>
          </a:xfrm>
        </p:grpSpPr>
        <p:sp>
          <p:nvSpPr>
            <p:cNvPr id="5" name="椭圆 4">
              <a:extLst>
                <a:ext uri="{FF2B5EF4-FFF2-40B4-BE49-F238E27FC236}">
                  <a16:creationId xmlns:a16="http://schemas.microsoft.com/office/drawing/2014/main" id="{6135DBCB-3FCB-1733-BCB9-8352C97696D0}"/>
                </a:ext>
              </a:extLst>
            </p:cNvPr>
            <p:cNvSpPr/>
            <p:nvPr/>
          </p:nvSpPr>
          <p:spPr>
            <a:xfrm>
              <a:off x="1765743" y="1593158"/>
              <a:ext cx="547224" cy="365319"/>
            </a:xfrm>
            <a:prstGeom prst="ellipse">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5" name="Rectangle 98">
              <a:extLst>
                <a:ext uri="{FF2B5EF4-FFF2-40B4-BE49-F238E27FC236}">
                  <a16:creationId xmlns:a16="http://schemas.microsoft.com/office/drawing/2014/main" id="{C99E7A1F-EE2F-FFF3-4485-8E4B2E3CBF4B}"/>
                </a:ext>
              </a:extLst>
            </p:cNvPr>
            <p:cNvSpPr>
              <a:spLocks noChangeArrowheads="1"/>
            </p:cNvSpPr>
            <p:nvPr/>
          </p:nvSpPr>
          <p:spPr bwMode="auto">
            <a:xfrm>
              <a:off x="811003" y="1423671"/>
              <a:ext cx="54181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复用</a:t>
              </a:r>
            </a:p>
          </p:txBody>
        </p:sp>
        <p:cxnSp>
          <p:nvCxnSpPr>
            <p:cNvPr id="30" name="直接连接符 29">
              <a:extLst>
                <a:ext uri="{FF2B5EF4-FFF2-40B4-BE49-F238E27FC236}">
                  <a16:creationId xmlns:a16="http://schemas.microsoft.com/office/drawing/2014/main" id="{DF0EEB87-F98E-B8E2-63B0-3FE800E66122}"/>
                </a:ext>
              </a:extLst>
            </p:cNvPr>
            <p:cNvCxnSpPr/>
            <p:nvPr/>
          </p:nvCxnSpPr>
          <p:spPr>
            <a:xfrm>
              <a:off x="1284233" y="1633378"/>
              <a:ext cx="562557" cy="110949"/>
            </a:xfrm>
            <a:prstGeom prst="line">
              <a:avLst/>
            </a:prstGeom>
            <a:ln w="127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256" name="组合 255">
            <a:extLst>
              <a:ext uri="{FF2B5EF4-FFF2-40B4-BE49-F238E27FC236}">
                <a16:creationId xmlns:a16="http://schemas.microsoft.com/office/drawing/2014/main" id="{6A6B7D3B-BEF0-49EA-26E5-448C1E1A5700}"/>
              </a:ext>
            </a:extLst>
          </p:cNvPr>
          <p:cNvGrpSpPr/>
          <p:nvPr/>
        </p:nvGrpSpPr>
        <p:grpSpPr>
          <a:xfrm>
            <a:off x="6744719" y="1431513"/>
            <a:ext cx="1465661" cy="526220"/>
            <a:chOff x="-297165" y="1371297"/>
            <a:chExt cx="1465661" cy="526220"/>
          </a:xfrm>
        </p:grpSpPr>
        <p:sp>
          <p:nvSpPr>
            <p:cNvPr id="257" name="椭圆 256">
              <a:extLst>
                <a:ext uri="{FF2B5EF4-FFF2-40B4-BE49-F238E27FC236}">
                  <a16:creationId xmlns:a16="http://schemas.microsoft.com/office/drawing/2014/main" id="{BDC65A65-9B7C-CB5D-162B-91E8C25F2D26}"/>
                </a:ext>
              </a:extLst>
            </p:cNvPr>
            <p:cNvSpPr/>
            <p:nvPr/>
          </p:nvSpPr>
          <p:spPr>
            <a:xfrm>
              <a:off x="-297165" y="1532198"/>
              <a:ext cx="547224" cy="365319"/>
            </a:xfrm>
            <a:prstGeom prst="ellipse">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8" name="Rectangle 98">
              <a:extLst>
                <a:ext uri="{FF2B5EF4-FFF2-40B4-BE49-F238E27FC236}">
                  <a16:creationId xmlns:a16="http://schemas.microsoft.com/office/drawing/2014/main" id="{180DFE1B-7516-9255-5995-7F2BE47E4B5A}"/>
                </a:ext>
              </a:extLst>
            </p:cNvPr>
            <p:cNvSpPr>
              <a:spLocks noChangeArrowheads="1"/>
            </p:cNvSpPr>
            <p:nvPr/>
          </p:nvSpPr>
          <p:spPr bwMode="auto">
            <a:xfrm>
              <a:off x="626680" y="1371297"/>
              <a:ext cx="54181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分用</a:t>
              </a:r>
            </a:p>
          </p:txBody>
        </p:sp>
        <p:cxnSp>
          <p:nvCxnSpPr>
            <p:cNvPr id="259" name="直接连接符 258">
              <a:extLst>
                <a:ext uri="{FF2B5EF4-FFF2-40B4-BE49-F238E27FC236}">
                  <a16:creationId xmlns:a16="http://schemas.microsoft.com/office/drawing/2014/main" id="{C4F0BEF2-C6BB-35FE-6086-AF111419D28D}"/>
                </a:ext>
              </a:extLst>
            </p:cNvPr>
            <p:cNvCxnSpPr/>
            <p:nvPr/>
          </p:nvCxnSpPr>
          <p:spPr>
            <a:xfrm flipH="1">
              <a:off x="148855" y="1605572"/>
              <a:ext cx="545860" cy="80939"/>
            </a:xfrm>
            <a:prstGeom prst="line">
              <a:avLst/>
            </a:prstGeom>
            <a:ln w="127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42" name="组合 41">
            <a:extLst>
              <a:ext uri="{FF2B5EF4-FFF2-40B4-BE49-F238E27FC236}">
                <a16:creationId xmlns:a16="http://schemas.microsoft.com/office/drawing/2014/main" id="{DDC8553B-F279-759B-2A1E-64CED765BAEB}"/>
              </a:ext>
            </a:extLst>
          </p:cNvPr>
          <p:cNvGrpSpPr/>
          <p:nvPr/>
        </p:nvGrpSpPr>
        <p:grpSpPr>
          <a:xfrm>
            <a:off x="1814331" y="1510398"/>
            <a:ext cx="5408594" cy="1293671"/>
            <a:chOff x="1804171" y="1511252"/>
            <a:chExt cx="5408594" cy="1293671"/>
          </a:xfrm>
        </p:grpSpPr>
        <p:sp>
          <p:nvSpPr>
            <p:cNvPr id="182" name="Line 248">
              <a:extLst>
                <a:ext uri="{FF2B5EF4-FFF2-40B4-BE49-F238E27FC236}">
                  <a16:creationId xmlns:a16="http://schemas.microsoft.com/office/drawing/2014/main" id="{94F6830B-BB07-27B6-2452-E2D249550D3C}"/>
                </a:ext>
              </a:extLst>
            </p:cNvPr>
            <p:cNvSpPr>
              <a:spLocks noChangeShapeType="1"/>
            </p:cNvSpPr>
            <p:nvPr/>
          </p:nvSpPr>
          <p:spPr bwMode="auto">
            <a:xfrm>
              <a:off x="6781959" y="1588011"/>
              <a:ext cx="262445" cy="31265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3" name="Line 249">
              <a:extLst>
                <a:ext uri="{FF2B5EF4-FFF2-40B4-BE49-F238E27FC236}">
                  <a16:creationId xmlns:a16="http://schemas.microsoft.com/office/drawing/2014/main" id="{A5BD03E1-389F-F0DB-0C39-D775218D74D8}"/>
                </a:ext>
              </a:extLst>
            </p:cNvPr>
            <p:cNvSpPr>
              <a:spLocks noChangeShapeType="1"/>
            </p:cNvSpPr>
            <p:nvPr/>
          </p:nvSpPr>
          <p:spPr bwMode="auto">
            <a:xfrm flipH="1">
              <a:off x="7044404" y="1511252"/>
              <a:ext cx="168361" cy="38192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4" name="椭圆 85">
              <a:extLst>
                <a:ext uri="{FF2B5EF4-FFF2-40B4-BE49-F238E27FC236}">
                  <a16:creationId xmlns:a16="http://schemas.microsoft.com/office/drawing/2014/main" id="{EC928D21-96F0-6EA7-A351-C3A69FFB38E0}"/>
                </a:ext>
              </a:extLst>
            </p:cNvPr>
            <p:cNvSpPr>
              <a:spLocks noChangeArrowheads="1"/>
            </p:cNvSpPr>
            <p:nvPr/>
          </p:nvSpPr>
          <p:spPr bwMode="auto">
            <a:xfrm>
              <a:off x="7123633" y="1645112"/>
              <a:ext cx="56946" cy="43060"/>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5" name="椭圆 85">
              <a:extLst>
                <a:ext uri="{FF2B5EF4-FFF2-40B4-BE49-F238E27FC236}">
                  <a16:creationId xmlns:a16="http://schemas.microsoft.com/office/drawing/2014/main" id="{9C6604D5-03E4-4854-29E6-1D18AD728841}"/>
                </a:ext>
              </a:extLst>
            </p:cNvPr>
            <p:cNvSpPr>
              <a:spLocks noChangeArrowheads="1"/>
            </p:cNvSpPr>
            <p:nvPr/>
          </p:nvSpPr>
          <p:spPr bwMode="auto">
            <a:xfrm>
              <a:off x="7010980" y="1883814"/>
              <a:ext cx="55707"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6" name="椭圆 85">
              <a:extLst>
                <a:ext uri="{FF2B5EF4-FFF2-40B4-BE49-F238E27FC236}">
                  <a16:creationId xmlns:a16="http://schemas.microsoft.com/office/drawing/2014/main" id="{E19E448B-226B-9D2B-839A-4DAC72D08C6A}"/>
                </a:ext>
              </a:extLst>
            </p:cNvPr>
            <p:cNvSpPr>
              <a:spLocks noChangeArrowheads="1"/>
            </p:cNvSpPr>
            <p:nvPr/>
          </p:nvSpPr>
          <p:spPr bwMode="auto">
            <a:xfrm>
              <a:off x="6817860" y="1645112"/>
              <a:ext cx="56946" cy="43060"/>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28" name="Freeform 32">
              <a:extLst>
                <a:ext uri="{FF2B5EF4-FFF2-40B4-BE49-F238E27FC236}">
                  <a16:creationId xmlns:a16="http://schemas.microsoft.com/office/drawing/2014/main" id="{23A8376D-E3D2-96A7-B356-F411EED582E9}"/>
                </a:ext>
              </a:extLst>
            </p:cNvPr>
            <p:cNvSpPr>
              <a:spLocks/>
            </p:cNvSpPr>
            <p:nvPr/>
          </p:nvSpPr>
          <p:spPr bwMode="auto">
            <a:xfrm>
              <a:off x="1999766" y="1897856"/>
              <a:ext cx="5039686" cy="907067"/>
            </a:xfrm>
            <a:custGeom>
              <a:avLst/>
              <a:gdLst>
                <a:gd name="T0" fmla="*/ 0 w 4272"/>
                <a:gd name="T1" fmla="*/ 0 h 1138"/>
                <a:gd name="T2" fmla="*/ 0 w 4272"/>
                <a:gd name="T3" fmla="*/ 2147483647 h 1138"/>
                <a:gd name="T4" fmla="*/ 2147483647 w 4272"/>
                <a:gd name="T5" fmla="*/ 2147483647 h 1138"/>
                <a:gd name="T6" fmla="*/ 2147483647 w 4272"/>
                <a:gd name="T7" fmla="*/ 2147483647 h 1138"/>
                <a:gd name="T8" fmla="*/ 2147483647 w 4272"/>
                <a:gd name="T9" fmla="*/ 2147483647 h 1138"/>
                <a:gd name="T10" fmla="*/ 2147483647 w 4272"/>
                <a:gd name="T11" fmla="*/ 2147483647 h 1138"/>
                <a:gd name="T12" fmla="*/ 2147483647 w 4272"/>
                <a:gd name="T13" fmla="*/ 2147483647 h 1138"/>
                <a:gd name="T14" fmla="*/ 2147483647 w 4272"/>
                <a:gd name="T15" fmla="*/ 2147483647 h 1138"/>
                <a:gd name="T16" fmla="*/ 2147483647 w 4272"/>
                <a:gd name="T17" fmla="*/ 2147483647 h 1138"/>
                <a:gd name="T18" fmla="*/ 2147483647 w 4272"/>
                <a:gd name="T19" fmla="*/ 2147483647 h 1138"/>
                <a:gd name="T20" fmla="*/ 2147483647 w 4272"/>
                <a:gd name="T21" fmla="*/ 2147483647 h 1138"/>
                <a:gd name="T22" fmla="*/ 2147483647 w 4272"/>
                <a:gd name="T23" fmla="*/ 2147483647 h 1138"/>
                <a:gd name="T24" fmla="*/ 2147483647 w 4272"/>
                <a:gd name="T25" fmla="*/ 2147483647 h 1138"/>
                <a:gd name="T26" fmla="*/ 2147483647 w 4272"/>
                <a:gd name="T27" fmla="*/ 2147483647 h 1138"/>
                <a:gd name="T28" fmla="*/ 2147483647 w 4272"/>
                <a:gd name="T29" fmla="*/ 2147483647 h 1138"/>
                <a:gd name="T30" fmla="*/ 2147483647 w 4272"/>
                <a:gd name="T31" fmla="*/ 2147483647 h 1138"/>
                <a:gd name="T32" fmla="*/ 2147483647 w 4272"/>
                <a:gd name="T33" fmla="*/ 2147483647 h 1138"/>
                <a:gd name="T34" fmla="*/ 2147483647 w 4272"/>
                <a:gd name="T35" fmla="*/ 2147483647 h 1138"/>
                <a:gd name="T36" fmla="*/ 2147483647 w 4272"/>
                <a:gd name="T37" fmla="*/ 2147483647 h 1138"/>
                <a:gd name="T38" fmla="*/ 2147483647 w 4272"/>
                <a:gd name="T39" fmla="*/ 2147483647 h 1138"/>
                <a:gd name="T40" fmla="*/ 2147483647 w 4272"/>
                <a:gd name="T41" fmla="*/ 2147483647 h 1138"/>
                <a:gd name="T42" fmla="*/ 2147483647 w 4272"/>
                <a:gd name="T43" fmla="*/ 2147483647 h 1138"/>
                <a:gd name="T44" fmla="*/ 2147483647 w 4272"/>
                <a:gd name="T45" fmla="*/ 2147483647 h 1138"/>
                <a:gd name="T46" fmla="*/ 2147483647 w 4272"/>
                <a:gd name="T47" fmla="*/ 2147483647 h 1138"/>
                <a:gd name="T48" fmla="*/ 2147483647 w 4272"/>
                <a:gd name="T49" fmla="*/ 2147483647 h 1138"/>
                <a:gd name="T50" fmla="*/ 2147483647 w 4272"/>
                <a:gd name="T51" fmla="*/ 2147483647 h 1138"/>
                <a:gd name="T52" fmla="*/ 2147483647 w 4272"/>
                <a:gd name="T53" fmla="*/ 2147483647 h 1138"/>
                <a:gd name="T54" fmla="*/ 2147483647 w 4272"/>
                <a:gd name="T55" fmla="*/ 2147483647 h 1138"/>
                <a:gd name="T56" fmla="*/ 2147483647 w 4272"/>
                <a:gd name="T57" fmla="*/ 2147483647 h 1138"/>
                <a:gd name="T58" fmla="*/ 2147483647 w 4272"/>
                <a:gd name="T59" fmla="*/ 2147483647 h 1138"/>
                <a:gd name="T60" fmla="*/ 2147483647 w 4272"/>
                <a:gd name="T61" fmla="*/ 2147483647 h 1138"/>
                <a:gd name="T62" fmla="*/ 2147483647 w 4272"/>
                <a:gd name="T63" fmla="*/ 2147483647 h 1138"/>
                <a:gd name="T64" fmla="*/ 2147483647 w 4272"/>
                <a:gd name="T65" fmla="*/ 2147483647 h 1138"/>
                <a:gd name="T66" fmla="*/ 2147483647 w 4272"/>
                <a:gd name="T67" fmla="*/ 2147483647 h 1138"/>
                <a:gd name="T68" fmla="*/ 2147483647 w 4272"/>
                <a:gd name="T69" fmla="*/ 2147483647 h 1138"/>
                <a:gd name="T70" fmla="*/ 2147483647 w 4272"/>
                <a:gd name="T71" fmla="*/ 2147483647 h 1138"/>
                <a:gd name="T72" fmla="*/ 2147483647 w 4272"/>
                <a:gd name="T73" fmla="*/ 2147483647 h 1138"/>
                <a:gd name="T74" fmla="*/ 2147483647 w 4272"/>
                <a:gd name="T75" fmla="*/ 2147483647 h 1138"/>
                <a:gd name="T76" fmla="*/ 2147483647 w 4272"/>
                <a:gd name="T77" fmla="*/ 2147483647 h 1138"/>
                <a:gd name="T78" fmla="*/ 2147483647 w 4272"/>
                <a:gd name="T79" fmla="*/ 2147483647 h 1138"/>
                <a:gd name="T80" fmla="*/ 2147483647 w 4272"/>
                <a:gd name="T81" fmla="*/ 2147483647 h 1138"/>
                <a:gd name="T82" fmla="*/ 2147483647 w 4272"/>
                <a:gd name="T83" fmla="*/ 0 h 113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272"/>
                <a:gd name="T127" fmla="*/ 0 h 1138"/>
                <a:gd name="T128" fmla="*/ 4272 w 4272"/>
                <a:gd name="T129" fmla="*/ 1138 h 113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272" h="1138">
                  <a:moveTo>
                    <a:pt x="0" y="0"/>
                  </a:moveTo>
                  <a:lnTo>
                    <a:pt x="0" y="996"/>
                  </a:lnTo>
                  <a:lnTo>
                    <a:pt x="9" y="1056"/>
                  </a:lnTo>
                  <a:lnTo>
                    <a:pt x="36" y="1094"/>
                  </a:lnTo>
                  <a:lnTo>
                    <a:pt x="75" y="1110"/>
                  </a:lnTo>
                  <a:lnTo>
                    <a:pt x="127" y="1116"/>
                  </a:lnTo>
                  <a:lnTo>
                    <a:pt x="1211" y="1116"/>
                  </a:lnTo>
                  <a:lnTo>
                    <a:pt x="1250" y="1116"/>
                  </a:lnTo>
                  <a:lnTo>
                    <a:pt x="1287" y="1100"/>
                  </a:lnTo>
                  <a:lnTo>
                    <a:pt x="1305" y="1056"/>
                  </a:lnTo>
                  <a:lnTo>
                    <a:pt x="1308" y="1022"/>
                  </a:lnTo>
                  <a:lnTo>
                    <a:pt x="1308" y="307"/>
                  </a:lnTo>
                  <a:lnTo>
                    <a:pt x="1311" y="261"/>
                  </a:lnTo>
                  <a:cubicBezTo>
                    <a:pt x="1322" y="241"/>
                    <a:pt x="1325" y="202"/>
                    <a:pt x="1376" y="191"/>
                  </a:cubicBezTo>
                  <a:cubicBezTo>
                    <a:pt x="1430" y="181"/>
                    <a:pt x="1567" y="182"/>
                    <a:pt x="1620" y="191"/>
                  </a:cubicBezTo>
                  <a:cubicBezTo>
                    <a:pt x="1673" y="200"/>
                    <a:pt x="1669" y="238"/>
                    <a:pt x="1676" y="252"/>
                  </a:cubicBezTo>
                  <a:lnTo>
                    <a:pt x="1680" y="280"/>
                  </a:lnTo>
                  <a:lnTo>
                    <a:pt x="1680" y="1014"/>
                  </a:lnTo>
                  <a:lnTo>
                    <a:pt x="1683" y="1047"/>
                  </a:lnTo>
                  <a:lnTo>
                    <a:pt x="1701" y="1100"/>
                  </a:lnTo>
                  <a:lnTo>
                    <a:pt x="1755" y="1116"/>
                  </a:lnTo>
                  <a:lnTo>
                    <a:pt x="1808" y="1116"/>
                  </a:lnTo>
                  <a:lnTo>
                    <a:pt x="2486" y="1116"/>
                  </a:lnTo>
                  <a:lnTo>
                    <a:pt x="2564" y="1116"/>
                  </a:lnTo>
                  <a:cubicBezTo>
                    <a:pt x="2583" y="1112"/>
                    <a:pt x="2593" y="1111"/>
                    <a:pt x="2600" y="1091"/>
                  </a:cubicBezTo>
                  <a:cubicBezTo>
                    <a:pt x="2607" y="1072"/>
                    <a:pt x="2610" y="1138"/>
                    <a:pt x="2608" y="999"/>
                  </a:cubicBezTo>
                  <a:lnTo>
                    <a:pt x="2608" y="264"/>
                  </a:lnTo>
                  <a:lnTo>
                    <a:pt x="2616" y="227"/>
                  </a:lnTo>
                  <a:cubicBezTo>
                    <a:pt x="2627" y="215"/>
                    <a:pt x="2634" y="196"/>
                    <a:pt x="2676" y="191"/>
                  </a:cubicBezTo>
                  <a:cubicBezTo>
                    <a:pt x="2721" y="184"/>
                    <a:pt x="2824" y="187"/>
                    <a:pt x="2868" y="195"/>
                  </a:cubicBezTo>
                  <a:cubicBezTo>
                    <a:pt x="2912" y="203"/>
                    <a:pt x="2925" y="238"/>
                    <a:pt x="2928" y="251"/>
                  </a:cubicBezTo>
                  <a:lnTo>
                    <a:pt x="2928" y="280"/>
                  </a:lnTo>
                  <a:cubicBezTo>
                    <a:pt x="2928" y="280"/>
                    <a:pt x="2925" y="867"/>
                    <a:pt x="2928" y="1002"/>
                  </a:cubicBezTo>
                  <a:cubicBezTo>
                    <a:pt x="2930" y="1136"/>
                    <a:pt x="2930" y="1068"/>
                    <a:pt x="2944" y="1087"/>
                  </a:cubicBezTo>
                  <a:cubicBezTo>
                    <a:pt x="2958" y="1107"/>
                    <a:pt x="2995" y="1113"/>
                    <a:pt x="3014" y="1116"/>
                  </a:cubicBezTo>
                  <a:lnTo>
                    <a:pt x="3071" y="1116"/>
                  </a:lnTo>
                  <a:lnTo>
                    <a:pt x="4117" y="1116"/>
                  </a:lnTo>
                  <a:lnTo>
                    <a:pt x="4190" y="1116"/>
                  </a:lnTo>
                  <a:lnTo>
                    <a:pt x="4251" y="1097"/>
                  </a:lnTo>
                  <a:lnTo>
                    <a:pt x="4269" y="1044"/>
                  </a:lnTo>
                  <a:lnTo>
                    <a:pt x="4271" y="994"/>
                  </a:lnTo>
                  <a:lnTo>
                    <a:pt x="4272" y="0"/>
                  </a:lnTo>
                </a:path>
              </a:pathLst>
            </a:custGeom>
            <a:noFill/>
            <a:ln w="28575" cap="flat" cmpd="sng">
              <a:solidFill>
                <a:srgbClr val="0000FF"/>
              </a:solidFill>
              <a:prstDash val="sysDot"/>
              <a:round/>
              <a:headEnd type="none" w="med" len="lg"/>
              <a:tailEnd type="none" w="med" len="lg"/>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7" name="椭圆 85">
              <a:extLst>
                <a:ext uri="{FF2B5EF4-FFF2-40B4-BE49-F238E27FC236}">
                  <a16:creationId xmlns:a16="http://schemas.microsoft.com/office/drawing/2014/main" id="{F1E3084B-3A44-1F80-0525-A1EBCB37B4C2}"/>
                </a:ext>
              </a:extLst>
            </p:cNvPr>
            <p:cNvSpPr>
              <a:spLocks noChangeArrowheads="1"/>
            </p:cNvSpPr>
            <p:nvPr/>
          </p:nvSpPr>
          <p:spPr bwMode="auto">
            <a:xfrm>
              <a:off x="2153272" y="1650728"/>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8" name="椭圆 85">
              <a:extLst>
                <a:ext uri="{FF2B5EF4-FFF2-40B4-BE49-F238E27FC236}">
                  <a16:creationId xmlns:a16="http://schemas.microsoft.com/office/drawing/2014/main" id="{DF66A5F5-05F9-EDAE-5BAC-E56A3F19DB2E}"/>
                </a:ext>
              </a:extLst>
            </p:cNvPr>
            <p:cNvSpPr>
              <a:spLocks noChangeArrowheads="1"/>
            </p:cNvSpPr>
            <p:nvPr/>
          </p:nvSpPr>
          <p:spPr bwMode="auto">
            <a:xfrm>
              <a:off x="1846261" y="1652600"/>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9" name="椭圆 85">
              <a:extLst>
                <a:ext uri="{FF2B5EF4-FFF2-40B4-BE49-F238E27FC236}">
                  <a16:creationId xmlns:a16="http://schemas.microsoft.com/office/drawing/2014/main" id="{065AEFCE-7AC3-3B8F-F694-571071D76935}"/>
                </a:ext>
              </a:extLst>
            </p:cNvPr>
            <p:cNvSpPr>
              <a:spLocks noChangeArrowheads="1"/>
            </p:cNvSpPr>
            <p:nvPr/>
          </p:nvSpPr>
          <p:spPr bwMode="auto">
            <a:xfrm>
              <a:off x="1966341" y="1876324"/>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0" name="Line 246">
              <a:extLst>
                <a:ext uri="{FF2B5EF4-FFF2-40B4-BE49-F238E27FC236}">
                  <a16:creationId xmlns:a16="http://schemas.microsoft.com/office/drawing/2014/main" id="{446BDCB2-C283-AA5C-69A7-F491328E876C}"/>
                </a:ext>
              </a:extLst>
            </p:cNvPr>
            <p:cNvSpPr>
              <a:spLocks noChangeShapeType="1"/>
            </p:cNvSpPr>
            <p:nvPr/>
          </p:nvSpPr>
          <p:spPr bwMode="auto">
            <a:xfrm>
              <a:off x="1804171" y="1530910"/>
              <a:ext cx="189406" cy="362265"/>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1" name="Line 247">
              <a:extLst>
                <a:ext uri="{FF2B5EF4-FFF2-40B4-BE49-F238E27FC236}">
                  <a16:creationId xmlns:a16="http://schemas.microsoft.com/office/drawing/2014/main" id="{7AE7CF56-F678-0DE3-A614-F7CE3B7CC83C}"/>
                </a:ext>
              </a:extLst>
            </p:cNvPr>
            <p:cNvSpPr>
              <a:spLocks noChangeShapeType="1"/>
            </p:cNvSpPr>
            <p:nvPr/>
          </p:nvSpPr>
          <p:spPr bwMode="auto">
            <a:xfrm flipH="1">
              <a:off x="2013383" y="1573034"/>
              <a:ext cx="240162" cy="320141"/>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grpSp>
      <p:sp>
        <p:nvSpPr>
          <p:cNvPr id="3" name="文本框 2">
            <a:extLst>
              <a:ext uri="{FF2B5EF4-FFF2-40B4-BE49-F238E27FC236}">
                <a16:creationId xmlns:a16="http://schemas.microsoft.com/office/drawing/2014/main" id="{869E9BDB-9DE4-9603-FD0F-4EB5ABA69CD1}"/>
              </a:ext>
            </a:extLst>
          </p:cNvPr>
          <p:cNvSpPr txBox="1"/>
          <p:nvPr/>
        </p:nvSpPr>
        <p:spPr>
          <a:xfrm>
            <a:off x="1330634" y="4412793"/>
            <a:ext cx="6402395" cy="305212"/>
          </a:xfrm>
          <a:prstGeom prst="rect">
            <a:avLst/>
          </a:prstGeom>
          <a:noFill/>
          <a:ln>
            <a:noFill/>
          </a:ln>
        </p:spPr>
        <p:txBody>
          <a:bodyPr wrap="none" lIns="90488" tIns="44450" rIns="90488" bIns="44450">
            <a:spAutoFit/>
          </a:bodyPr>
          <a:lstStyle>
            <a:defPPr>
              <a:defRPr lang="zh-CN"/>
            </a:defPPr>
            <a:lvl1pPr defTabSz="762000">
              <a:defRPr kumimoji="1" sz="1200" b="1">
                <a:latin typeface="微软雅黑" panose="020B0503020204020204" pitchFamily="34" charset="-122"/>
                <a:ea typeface="微软雅黑" panose="020B0503020204020204" pitchFamily="34" charset="-122"/>
              </a:defRPr>
            </a:lvl1pPr>
            <a:lvl2pPr marL="742950" indent="-285750" defTabSz="762000">
              <a:defRPr kumimoji="1" sz="2400">
                <a:latin typeface="Times New Roman" panose="02020603050405020304" pitchFamily="18" charset="0"/>
                <a:ea typeface="宋体" panose="02010600030101010101" pitchFamily="2" charset="-122"/>
              </a:defRPr>
            </a:lvl2pPr>
            <a:lvl3pPr marL="1143000" indent="-228600" defTabSz="762000">
              <a:defRPr kumimoji="1" sz="2400">
                <a:latin typeface="Times New Roman" panose="02020603050405020304" pitchFamily="18" charset="0"/>
                <a:ea typeface="宋体" panose="02010600030101010101" pitchFamily="2" charset="-122"/>
              </a:defRPr>
            </a:lvl3pPr>
            <a:lvl4pPr marL="1600200" indent="-228600" defTabSz="762000">
              <a:defRPr kumimoji="1" sz="2400">
                <a:latin typeface="Times New Roman" panose="02020603050405020304" pitchFamily="18" charset="0"/>
                <a:ea typeface="宋体" panose="02010600030101010101" pitchFamily="2" charset="-122"/>
              </a:defRPr>
            </a:lvl4pPr>
            <a:lvl5pPr marL="2057400" indent="-228600" defTabSz="762000">
              <a:defRPr kumimoji="1" sz="2400">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9pPr>
          </a:lstStyle>
          <a:p>
            <a:pPr algn="ctr"/>
            <a:r>
              <a:rPr lang="zh-CN" altLang="en-US" sz="1400" dirty="0"/>
              <a:t>传输层有一个很重要的功能</a:t>
            </a:r>
            <a:r>
              <a:rPr lang="en-US" altLang="zh-CN" sz="1400" dirty="0"/>
              <a:t>—</a:t>
            </a:r>
            <a:r>
              <a:rPr lang="zh-CN" altLang="en-US" sz="1400" dirty="0">
                <a:solidFill>
                  <a:srgbClr val="0000FF"/>
                </a:solidFill>
              </a:rPr>
              <a:t>复用</a:t>
            </a:r>
            <a:r>
              <a:rPr lang="en-US" altLang="zh-CN" sz="1400" dirty="0"/>
              <a:t>(multiplexing)</a:t>
            </a:r>
            <a:r>
              <a:rPr lang="zh-CN" altLang="en-US" sz="1400" dirty="0"/>
              <a:t>和</a:t>
            </a:r>
            <a:r>
              <a:rPr lang="zh-CN" altLang="en-US" sz="1400" dirty="0">
                <a:solidFill>
                  <a:srgbClr val="0000FF"/>
                </a:solidFill>
              </a:rPr>
              <a:t>分用</a:t>
            </a:r>
            <a:r>
              <a:rPr lang="en-US" altLang="zh-CN" sz="1400" dirty="0"/>
              <a:t>(demultiplexing)</a:t>
            </a:r>
            <a:endParaRPr lang="zh-CN" altLang="en-US" sz="1400" dirty="0"/>
          </a:p>
        </p:txBody>
      </p:sp>
      <p:sp>
        <p:nvSpPr>
          <p:cNvPr id="4" name="Rectangle 236">
            <a:extLst>
              <a:ext uri="{FF2B5EF4-FFF2-40B4-BE49-F238E27FC236}">
                <a16:creationId xmlns:a16="http://schemas.microsoft.com/office/drawing/2014/main" id="{1A88E478-DA07-0B1E-1196-84D10CCDC082}"/>
              </a:ext>
            </a:extLst>
          </p:cNvPr>
          <p:cNvSpPr>
            <a:spLocks noChangeArrowheads="1"/>
          </p:cNvSpPr>
          <p:nvPr/>
        </p:nvSpPr>
        <p:spPr bwMode="auto">
          <a:xfrm>
            <a:off x="3208004" y="3621745"/>
            <a:ext cx="2491068" cy="274434"/>
          </a:xfrm>
          <a:prstGeom prst="rect">
            <a:avLst/>
          </a:prstGeom>
          <a:solidFill>
            <a:srgbClr val="C3E3F9"/>
          </a:solidFill>
          <a:ln>
            <a:noFill/>
          </a:ln>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网络层为主机之间的通信提供服务</a:t>
            </a:r>
          </a:p>
        </p:txBody>
      </p:sp>
      <p:sp>
        <p:nvSpPr>
          <p:cNvPr id="9" name="Rectangle 240">
            <a:extLst>
              <a:ext uri="{FF2B5EF4-FFF2-40B4-BE49-F238E27FC236}">
                <a16:creationId xmlns:a16="http://schemas.microsoft.com/office/drawing/2014/main" id="{9C90DAB5-11FE-522A-5AB7-E8CAF0498063}"/>
              </a:ext>
            </a:extLst>
          </p:cNvPr>
          <p:cNvSpPr>
            <a:spLocks noChangeArrowheads="1"/>
          </p:cNvSpPr>
          <p:nvPr/>
        </p:nvSpPr>
        <p:spPr bwMode="auto">
          <a:xfrm>
            <a:off x="3039643" y="3892879"/>
            <a:ext cx="2952732" cy="274434"/>
          </a:xfrm>
          <a:prstGeom prst="rect">
            <a:avLst/>
          </a:prstGeom>
          <a:solidFill>
            <a:srgbClr val="C3E3F9"/>
          </a:solidFill>
          <a:ln>
            <a:noFill/>
          </a:ln>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传输层为应用层进程之间的通信提供服务</a:t>
            </a:r>
          </a:p>
        </p:txBody>
      </p:sp>
    </p:spTree>
    <p:extLst>
      <p:ext uri="{BB962C8B-B14F-4D97-AF65-F5344CB8AC3E}">
        <p14:creationId xmlns:p14="http://schemas.microsoft.com/office/powerpoint/2010/main" val="1630967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2000" fill="hold" grpId="0" nodeType="clickEffect">
                                  <p:stCondLst>
                                    <p:cond delay="0"/>
                                  </p:stCondLst>
                                  <p:childTnLst>
                                    <p:anim calcmode="discrete" valueType="str">
                                      <p:cBhvr>
                                        <p:cTn id="6" dur="1000" fill="hold"/>
                                        <p:tgtEl>
                                          <p:spTgt spid="161"/>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2000" fill="hold" grpId="0" nodeType="clickEffect">
                                  <p:stCondLst>
                                    <p:cond delay="0"/>
                                  </p:stCondLst>
                                  <p:childTnLst>
                                    <p:anim calcmode="discrete" valueType="str">
                                      <p:cBhvr>
                                        <p:cTn id="10" dur="1000" fill="hold"/>
                                        <p:tgtEl>
                                          <p:spTgt spid="165"/>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2000" fill="hold" grpId="0" nodeType="clickEffect">
                                  <p:stCondLst>
                                    <p:cond delay="0"/>
                                  </p:stCondLst>
                                  <p:childTnLst>
                                    <p:anim calcmode="discrete" valueType="str">
                                      <p:cBhvr>
                                        <p:cTn id="14" dur="1000" fill="hold"/>
                                        <p:tgtEl>
                                          <p:spTgt spid="167"/>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35" presetClass="emph" presetSubtype="0" repeatCount="2000" fill="hold" grpId="0" nodeType="clickEffect">
                                  <p:stCondLst>
                                    <p:cond delay="0"/>
                                  </p:stCondLst>
                                  <p:childTnLst>
                                    <p:anim calcmode="discrete" valueType="str">
                                      <p:cBhvr>
                                        <p:cTn id="18" dur="1000" fill="hold"/>
                                        <p:tgtEl>
                                          <p:spTgt spid="164"/>
                                        </p:tgtEl>
                                        <p:attrNameLst>
                                          <p:attrName>style.visibility</p:attrName>
                                        </p:attrNameLst>
                                      </p:cBhvr>
                                      <p:tavLst>
                                        <p:tav tm="0">
                                          <p:val>
                                            <p:strVal val="hidden"/>
                                          </p:val>
                                        </p:tav>
                                        <p:tav tm="50000">
                                          <p:val>
                                            <p:strVal val="visible"/>
                                          </p:val>
                                        </p:tav>
                                      </p:tavLst>
                                    </p:anim>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p:cTn id="23" dur="500" fill="hold"/>
                                        <p:tgtEl>
                                          <p:spTgt spid="3"/>
                                        </p:tgtEl>
                                        <p:attrNameLst>
                                          <p:attrName>ppt_w</p:attrName>
                                        </p:attrNameLst>
                                      </p:cBhvr>
                                      <p:tavLst>
                                        <p:tav tm="0">
                                          <p:val>
                                            <p:fltVal val="0"/>
                                          </p:val>
                                        </p:tav>
                                        <p:tav tm="100000">
                                          <p:val>
                                            <p:strVal val="#ppt_w"/>
                                          </p:val>
                                        </p:tav>
                                      </p:tavLst>
                                    </p:anim>
                                    <p:anim calcmode="lin" valueType="num">
                                      <p:cBhvr>
                                        <p:cTn id="24" dur="500" fill="hold"/>
                                        <p:tgtEl>
                                          <p:spTgt spid="3"/>
                                        </p:tgtEl>
                                        <p:attrNameLst>
                                          <p:attrName>ppt_h</p:attrName>
                                        </p:attrNameLst>
                                      </p:cBhvr>
                                      <p:tavLst>
                                        <p:tav tm="0">
                                          <p:val>
                                            <p:fltVal val="0"/>
                                          </p:val>
                                        </p:tav>
                                        <p:tav tm="100000">
                                          <p:val>
                                            <p:strVal val="#ppt_h"/>
                                          </p:val>
                                        </p:tav>
                                      </p:tavLst>
                                    </p:anim>
                                    <p:animEffect transition="in" filter="fade">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fade">
                                      <p:cBhvr>
                                        <p:cTn id="30" dur="500"/>
                                        <p:tgtEl>
                                          <p:spTgt spid="35"/>
                                        </p:tgtEl>
                                      </p:cBhvr>
                                    </p:animEffect>
                                  </p:childTnLst>
                                </p:cTn>
                              </p:par>
                            </p:childTnLst>
                          </p:cTn>
                        </p:par>
                        <p:par>
                          <p:cTn id="31" fill="hold">
                            <p:stCondLst>
                              <p:cond delay="500"/>
                            </p:stCondLst>
                            <p:childTnLst>
                              <p:par>
                                <p:cTn id="32" presetID="35" presetClass="emph" presetSubtype="0" repeatCount="3000" fill="hold" nodeType="afterEffect">
                                  <p:stCondLst>
                                    <p:cond delay="0"/>
                                  </p:stCondLst>
                                  <p:childTnLst>
                                    <p:anim calcmode="discrete" valueType="str">
                                      <p:cBhvr>
                                        <p:cTn id="33" dur="1000" fill="hold"/>
                                        <p:tgtEl>
                                          <p:spTgt spid="35"/>
                                        </p:tgtEl>
                                        <p:attrNameLst>
                                          <p:attrName>style.visibility</p:attrName>
                                        </p:attrNameLst>
                                      </p:cBhvr>
                                      <p:tavLst>
                                        <p:tav tm="0">
                                          <p:val>
                                            <p:strVal val="hidden"/>
                                          </p:val>
                                        </p:tav>
                                        <p:tav tm="50000">
                                          <p:val>
                                            <p:strVal val="visible"/>
                                          </p:val>
                                        </p:tav>
                                      </p:tavLst>
                                    </p:anim>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56"/>
                                        </p:tgtEl>
                                        <p:attrNameLst>
                                          <p:attrName>style.visibility</p:attrName>
                                        </p:attrNameLst>
                                      </p:cBhvr>
                                      <p:to>
                                        <p:strVal val="visible"/>
                                      </p:to>
                                    </p:set>
                                    <p:animEffect transition="in" filter="fade">
                                      <p:cBhvr>
                                        <p:cTn id="38" dur="500"/>
                                        <p:tgtEl>
                                          <p:spTgt spid="256"/>
                                        </p:tgtEl>
                                      </p:cBhvr>
                                    </p:animEffect>
                                  </p:childTnLst>
                                </p:cTn>
                              </p:par>
                            </p:childTnLst>
                          </p:cTn>
                        </p:par>
                        <p:par>
                          <p:cTn id="39" fill="hold">
                            <p:stCondLst>
                              <p:cond delay="500"/>
                            </p:stCondLst>
                            <p:childTnLst>
                              <p:par>
                                <p:cTn id="40" presetID="35" presetClass="emph" presetSubtype="0" repeatCount="3000" fill="hold" nodeType="afterEffect">
                                  <p:stCondLst>
                                    <p:cond delay="0"/>
                                  </p:stCondLst>
                                  <p:childTnLst>
                                    <p:anim calcmode="discrete" valueType="str">
                                      <p:cBhvr>
                                        <p:cTn id="41" dur="1000" fill="hold"/>
                                        <p:tgtEl>
                                          <p:spTgt spid="256"/>
                                        </p:tgtEl>
                                        <p:attrNameLst>
                                          <p:attrName>style.visibility</p:attrName>
                                        </p:attrNameLst>
                                      </p:cBhvr>
                                      <p:tavLst>
                                        <p:tav tm="0">
                                          <p:val>
                                            <p:strVal val="hidden"/>
                                          </p:val>
                                        </p:tav>
                                        <p:tav tm="50000">
                                          <p:val>
                                            <p:strVal val="visible"/>
                                          </p:val>
                                        </p:tav>
                                      </p:tavLst>
                                    </p:anim>
                                  </p:childTnLst>
                                </p:cTn>
                              </p:par>
                            </p:childTnLst>
                          </p:cTn>
                        </p:par>
                      </p:childTnLst>
                    </p:cTn>
                  </p:par>
                  <p:par>
                    <p:cTn id="42" fill="hold">
                      <p:stCondLst>
                        <p:cond delay="indefinite"/>
                      </p:stCondLst>
                      <p:childTnLst>
                        <p:par>
                          <p:cTn id="43" fill="hold">
                            <p:stCondLst>
                              <p:cond delay="0"/>
                            </p:stCondLst>
                            <p:childTnLst>
                              <p:par>
                                <p:cTn id="44" presetID="35" presetClass="emph" presetSubtype="0" repeatCount="2000" fill="hold" grpId="0" nodeType="clickEffect">
                                  <p:stCondLst>
                                    <p:cond delay="0"/>
                                  </p:stCondLst>
                                  <p:childTnLst>
                                    <p:anim calcmode="discrete" valueType="str">
                                      <p:cBhvr>
                                        <p:cTn id="45" dur="1000" fill="hold"/>
                                        <p:tgtEl>
                                          <p:spTgt spid="122"/>
                                        </p:tgtEl>
                                        <p:attrNameLst>
                                          <p:attrName>style.visibility</p:attrName>
                                        </p:attrNameLst>
                                      </p:cBhvr>
                                      <p:tavLst>
                                        <p:tav tm="0">
                                          <p:val>
                                            <p:strVal val="hidden"/>
                                          </p:val>
                                        </p:tav>
                                        <p:tav tm="50000">
                                          <p:val>
                                            <p:strVal val="visible"/>
                                          </p:val>
                                        </p:tav>
                                      </p:tavLst>
                                    </p:anim>
                                  </p:childTnLst>
                                </p:cTn>
                              </p:par>
                            </p:childTnLst>
                          </p:cTn>
                        </p:par>
                      </p:childTnLst>
                    </p:cTn>
                  </p:par>
                  <p:par>
                    <p:cTn id="46" fill="hold">
                      <p:stCondLst>
                        <p:cond delay="indefinite"/>
                      </p:stCondLst>
                      <p:childTnLst>
                        <p:par>
                          <p:cTn id="47" fill="hold">
                            <p:stCondLst>
                              <p:cond delay="0"/>
                            </p:stCondLst>
                            <p:childTnLst>
                              <p:par>
                                <p:cTn id="48" presetID="35" presetClass="emph" presetSubtype="0" repeatCount="3000" fill="hold" nodeType="clickEffect">
                                  <p:stCondLst>
                                    <p:cond delay="0"/>
                                  </p:stCondLst>
                                  <p:childTnLst>
                                    <p:anim calcmode="discrete" valueType="str">
                                      <p:cBhvr>
                                        <p:cTn id="49" dur="1000" fill="hold"/>
                                        <p:tgtEl>
                                          <p:spTgt spid="4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 grpId="0"/>
      <p:bldP spid="161" grpId="0"/>
      <p:bldP spid="164" grpId="0"/>
      <p:bldP spid="165" grpId="0"/>
      <p:bldP spid="167"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55048-2638-1F8E-D998-9D1F0696CBE9}"/>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DC1F6AD4-AF6E-3616-9DB8-06F90293D65C}"/>
              </a:ext>
            </a:extLst>
          </p:cNvPr>
          <p:cNvSpPr>
            <a:spLocks noChangeArrowheads="1"/>
          </p:cNvSpPr>
          <p:nvPr/>
        </p:nvSpPr>
        <p:spPr bwMode="auto">
          <a:xfrm>
            <a:off x="545145" y="62312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圆角矩形 7">
            <a:extLst>
              <a:ext uri="{FF2B5EF4-FFF2-40B4-BE49-F238E27FC236}">
                <a16:creationId xmlns:a16="http://schemas.microsoft.com/office/drawing/2014/main" id="{49E53ACD-0B51-AC5F-C1F8-642A9B703884}"/>
              </a:ext>
            </a:extLst>
          </p:cNvPr>
          <p:cNvSpPr/>
          <p:nvPr/>
        </p:nvSpPr>
        <p:spPr>
          <a:xfrm>
            <a:off x="545145" y="1010920"/>
            <a:ext cx="8053710" cy="328676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Rectangle 6">
            <a:extLst>
              <a:ext uri="{FF2B5EF4-FFF2-40B4-BE49-F238E27FC236}">
                <a16:creationId xmlns:a16="http://schemas.microsoft.com/office/drawing/2014/main" id="{2C579028-D299-9927-60B7-2673F3E6CC4E}"/>
              </a:ext>
            </a:extLst>
          </p:cNvPr>
          <p:cNvSpPr>
            <a:spLocks noChangeArrowheads="1"/>
          </p:cNvSpPr>
          <p:nvPr/>
        </p:nvSpPr>
        <p:spPr bwMode="auto">
          <a:xfrm>
            <a:off x="3701580" y="58987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传输层的作用</a:t>
            </a:r>
          </a:p>
        </p:txBody>
      </p:sp>
      <p:sp>
        <p:nvSpPr>
          <p:cNvPr id="92" name="Rectangle 174">
            <a:extLst>
              <a:ext uri="{FF2B5EF4-FFF2-40B4-BE49-F238E27FC236}">
                <a16:creationId xmlns:a16="http://schemas.microsoft.com/office/drawing/2014/main" id="{93262F44-6B72-D4B5-DFA1-E6B82A1C6F00}"/>
              </a:ext>
            </a:extLst>
          </p:cNvPr>
          <p:cNvSpPr>
            <a:spLocks noChangeArrowheads="1"/>
          </p:cNvSpPr>
          <p:nvPr/>
        </p:nvSpPr>
        <p:spPr bwMode="auto">
          <a:xfrm>
            <a:off x="1518204" y="1897856"/>
            <a:ext cx="5989193" cy="243382"/>
          </a:xfrm>
          <a:prstGeom prst="rect">
            <a:avLst/>
          </a:prstGeom>
          <a:solidFill>
            <a:srgbClr val="33CC33"/>
          </a:solidFill>
          <a:ln>
            <a:noFill/>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1" name="Rectangle 2">
            <a:extLst>
              <a:ext uri="{FF2B5EF4-FFF2-40B4-BE49-F238E27FC236}">
                <a16:creationId xmlns:a16="http://schemas.microsoft.com/office/drawing/2014/main" id="{10AF9CC4-9746-F898-BD8D-8A4183912804}"/>
              </a:ext>
            </a:extLst>
          </p:cNvPr>
          <p:cNvSpPr>
            <a:spLocks noChangeArrowheads="1"/>
          </p:cNvSpPr>
          <p:nvPr/>
        </p:nvSpPr>
        <p:spPr bwMode="auto">
          <a:xfrm>
            <a:off x="1523156" y="1324035"/>
            <a:ext cx="996549" cy="13142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2" name="Line 53">
            <a:extLst>
              <a:ext uri="{FF2B5EF4-FFF2-40B4-BE49-F238E27FC236}">
                <a16:creationId xmlns:a16="http://schemas.microsoft.com/office/drawing/2014/main" id="{F8CA0204-0E48-A713-276F-B2CB6E896BA9}"/>
              </a:ext>
            </a:extLst>
          </p:cNvPr>
          <p:cNvSpPr>
            <a:spLocks noChangeShapeType="1"/>
          </p:cNvSpPr>
          <p:nvPr/>
        </p:nvSpPr>
        <p:spPr bwMode="auto">
          <a:xfrm>
            <a:off x="2513514" y="3347967"/>
            <a:ext cx="3978765"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7">
            <a:extLst>
              <a:ext uri="{FF2B5EF4-FFF2-40B4-BE49-F238E27FC236}">
                <a16:creationId xmlns:a16="http://schemas.microsoft.com/office/drawing/2014/main" id="{0175B2CB-4A5F-3F08-9BA1-E6AE6341EF55}"/>
              </a:ext>
            </a:extLst>
          </p:cNvPr>
          <p:cNvSpPr>
            <a:spLocks noChangeShapeType="1"/>
          </p:cNvSpPr>
          <p:nvPr/>
        </p:nvSpPr>
        <p:spPr bwMode="auto">
          <a:xfrm>
            <a:off x="1523156" y="2144982"/>
            <a:ext cx="99531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8">
            <a:extLst>
              <a:ext uri="{FF2B5EF4-FFF2-40B4-BE49-F238E27FC236}">
                <a16:creationId xmlns:a16="http://schemas.microsoft.com/office/drawing/2014/main" id="{1636A46A-A56C-47E1-0F09-189F079C3B1F}"/>
              </a:ext>
            </a:extLst>
          </p:cNvPr>
          <p:cNvSpPr>
            <a:spLocks noChangeShapeType="1"/>
          </p:cNvSpPr>
          <p:nvPr/>
        </p:nvSpPr>
        <p:spPr bwMode="auto">
          <a:xfrm>
            <a:off x="1523156" y="2393045"/>
            <a:ext cx="99531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Rectangle 9">
            <a:extLst>
              <a:ext uri="{FF2B5EF4-FFF2-40B4-BE49-F238E27FC236}">
                <a16:creationId xmlns:a16="http://schemas.microsoft.com/office/drawing/2014/main" id="{1CF3BC09-3A41-C4E3-7A2F-C688C9361EE9}"/>
              </a:ext>
            </a:extLst>
          </p:cNvPr>
          <p:cNvSpPr>
            <a:spLocks noChangeArrowheads="1"/>
          </p:cNvSpPr>
          <p:nvPr/>
        </p:nvSpPr>
        <p:spPr bwMode="auto">
          <a:xfrm>
            <a:off x="1528108" y="1666642"/>
            <a:ext cx="989121" cy="231214"/>
          </a:xfrm>
          <a:prstGeom prst="rect">
            <a:avLst/>
          </a:prstGeom>
          <a:solidFill>
            <a:srgbClr val="FF66FF"/>
          </a:solidFill>
          <a:ln w="19050">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6" name="Rectangle 10">
            <a:extLst>
              <a:ext uri="{FF2B5EF4-FFF2-40B4-BE49-F238E27FC236}">
                <a16:creationId xmlns:a16="http://schemas.microsoft.com/office/drawing/2014/main" id="{5111F72C-7A36-BA4D-32F5-1F2CE28DF21D}"/>
              </a:ext>
            </a:extLst>
          </p:cNvPr>
          <p:cNvSpPr>
            <a:spLocks noChangeArrowheads="1"/>
          </p:cNvSpPr>
          <p:nvPr/>
        </p:nvSpPr>
        <p:spPr bwMode="auto">
          <a:xfrm>
            <a:off x="1490519" y="1488853"/>
            <a:ext cx="277321" cy="116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1200"/>
              </a:lnSpc>
            </a:pPr>
            <a:r>
              <a:rPr lang="en-US" altLang="zh-CN" sz="1200" b="1" dirty="0">
                <a:latin typeface="微软雅黑" panose="020B0503020204020204" pitchFamily="34" charset="-122"/>
                <a:ea typeface="微软雅黑" panose="020B0503020204020204" pitchFamily="34" charset="-122"/>
              </a:rPr>
              <a:t>5</a:t>
            </a:r>
          </a:p>
          <a:p>
            <a:pPr>
              <a:lnSpc>
                <a:spcPts val="4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4</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3</a:t>
            </a:r>
          </a:p>
          <a:p>
            <a:pPr>
              <a:lnSpc>
                <a:spcPts val="8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2</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1</a:t>
            </a:r>
          </a:p>
        </p:txBody>
      </p:sp>
      <p:grpSp>
        <p:nvGrpSpPr>
          <p:cNvPr id="110" name="Group 15">
            <a:extLst>
              <a:ext uri="{FF2B5EF4-FFF2-40B4-BE49-F238E27FC236}">
                <a16:creationId xmlns:a16="http://schemas.microsoft.com/office/drawing/2014/main" id="{4B99EE51-BC2A-5AF2-F353-9F754BB200BA}"/>
              </a:ext>
            </a:extLst>
          </p:cNvPr>
          <p:cNvGrpSpPr>
            <a:grpSpLocks/>
          </p:cNvGrpSpPr>
          <p:nvPr/>
        </p:nvGrpSpPr>
        <p:grpSpPr bwMode="auto">
          <a:xfrm>
            <a:off x="3388744" y="1903472"/>
            <a:ext cx="729151" cy="734827"/>
            <a:chOff x="2017" y="1543"/>
            <a:chExt cx="619" cy="922"/>
          </a:xfrm>
        </p:grpSpPr>
        <p:sp>
          <p:nvSpPr>
            <p:cNvPr id="111" name="Rectangle 12">
              <a:extLst>
                <a:ext uri="{FF2B5EF4-FFF2-40B4-BE49-F238E27FC236}">
                  <a16:creationId xmlns:a16="http://schemas.microsoft.com/office/drawing/2014/main" id="{C6B197DB-71D4-5D4A-FD52-0BE070DC7458}"/>
                </a:ext>
              </a:extLst>
            </p:cNvPr>
            <p:cNvSpPr>
              <a:spLocks noChangeArrowheads="1"/>
            </p:cNvSpPr>
            <p:nvPr/>
          </p:nvSpPr>
          <p:spPr bwMode="auto">
            <a:xfrm>
              <a:off x="2017" y="1543"/>
              <a:ext cx="619" cy="92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12" name="Line 13">
              <a:extLst>
                <a:ext uri="{FF2B5EF4-FFF2-40B4-BE49-F238E27FC236}">
                  <a16:creationId xmlns:a16="http://schemas.microsoft.com/office/drawing/2014/main" id="{D702C0F8-FE88-7D13-0EDB-CBEAB935239E}"/>
                </a:ext>
              </a:extLst>
            </p:cNvPr>
            <p:cNvSpPr>
              <a:spLocks noChangeShapeType="1"/>
            </p:cNvSpPr>
            <p:nvPr/>
          </p:nvSpPr>
          <p:spPr bwMode="auto">
            <a:xfrm>
              <a:off x="2017" y="1845"/>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14">
              <a:extLst>
                <a:ext uri="{FF2B5EF4-FFF2-40B4-BE49-F238E27FC236}">
                  <a16:creationId xmlns:a16="http://schemas.microsoft.com/office/drawing/2014/main" id="{C47E040D-CEF1-7527-800E-8B63BC900C7B}"/>
                </a:ext>
              </a:extLst>
            </p:cNvPr>
            <p:cNvSpPr>
              <a:spLocks noChangeShapeType="1"/>
            </p:cNvSpPr>
            <p:nvPr/>
          </p:nvSpPr>
          <p:spPr bwMode="auto">
            <a:xfrm>
              <a:off x="2017" y="2157"/>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sp>
        <p:nvSpPr>
          <p:cNvPr id="114" name="Rectangle 16">
            <a:extLst>
              <a:ext uri="{FF2B5EF4-FFF2-40B4-BE49-F238E27FC236}">
                <a16:creationId xmlns:a16="http://schemas.microsoft.com/office/drawing/2014/main" id="{A91252DE-8398-3D48-BC26-DF4060B07238}"/>
              </a:ext>
            </a:extLst>
          </p:cNvPr>
          <p:cNvSpPr>
            <a:spLocks noChangeArrowheads="1"/>
          </p:cNvSpPr>
          <p:nvPr/>
        </p:nvSpPr>
        <p:spPr bwMode="auto">
          <a:xfrm>
            <a:off x="6505897" y="1324035"/>
            <a:ext cx="997786" cy="13142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15" name="Line 21">
            <a:extLst>
              <a:ext uri="{FF2B5EF4-FFF2-40B4-BE49-F238E27FC236}">
                <a16:creationId xmlns:a16="http://schemas.microsoft.com/office/drawing/2014/main" id="{88A1EC1C-3045-7B7D-C5B4-E651EB20227E}"/>
              </a:ext>
            </a:extLst>
          </p:cNvPr>
          <p:cNvSpPr>
            <a:spLocks noChangeShapeType="1"/>
          </p:cNvSpPr>
          <p:nvPr/>
        </p:nvSpPr>
        <p:spPr bwMode="auto">
          <a:xfrm>
            <a:off x="6505897" y="2144982"/>
            <a:ext cx="9965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22">
            <a:extLst>
              <a:ext uri="{FF2B5EF4-FFF2-40B4-BE49-F238E27FC236}">
                <a16:creationId xmlns:a16="http://schemas.microsoft.com/office/drawing/2014/main" id="{6950E035-DDC4-4778-8E04-A9205962377C}"/>
              </a:ext>
            </a:extLst>
          </p:cNvPr>
          <p:cNvSpPr>
            <a:spLocks noChangeShapeType="1"/>
          </p:cNvSpPr>
          <p:nvPr/>
        </p:nvSpPr>
        <p:spPr bwMode="auto">
          <a:xfrm>
            <a:off x="6505897" y="2393045"/>
            <a:ext cx="9965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Rectangle 23">
            <a:extLst>
              <a:ext uri="{FF2B5EF4-FFF2-40B4-BE49-F238E27FC236}">
                <a16:creationId xmlns:a16="http://schemas.microsoft.com/office/drawing/2014/main" id="{991C3895-91B0-0767-36D9-07E82229B3CF}"/>
              </a:ext>
            </a:extLst>
          </p:cNvPr>
          <p:cNvSpPr>
            <a:spLocks noChangeArrowheads="1"/>
          </p:cNvSpPr>
          <p:nvPr/>
        </p:nvSpPr>
        <p:spPr bwMode="auto">
          <a:xfrm>
            <a:off x="6508373" y="1666642"/>
            <a:ext cx="995310" cy="231214"/>
          </a:xfrm>
          <a:prstGeom prst="rect">
            <a:avLst/>
          </a:prstGeom>
          <a:solidFill>
            <a:srgbClr val="FF66FF"/>
          </a:solidFill>
          <a:ln w="19050">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grpSp>
        <p:nvGrpSpPr>
          <p:cNvPr id="118" name="Group 29">
            <a:extLst>
              <a:ext uri="{FF2B5EF4-FFF2-40B4-BE49-F238E27FC236}">
                <a16:creationId xmlns:a16="http://schemas.microsoft.com/office/drawing/2014/main" id="{359B117B-8887-C6DC-FD44-D016DD4457B8}"/>
              </a:ext>
            </a:extLst>
          </p:cNvPr>
          <p:cNvGrpSpPr>
            <a:grpSpLocks/>
          </p:cNvGrpSpPr>
          <p:nvPr/>
        </p:nvGrpSpPr>
        <p:grpSpPr bwMode="auto">
          <a:xfrm>
            <a:off x="4896565" y="1903472"/>
            <a:ext cx="729151" cy="734827"/>
            <a:chOff x="3295" y="1543"/>
            <a:chExt cx="619" cy="922"/>
          </a:xfrm>
        </p:grpSpPr>
        <p:sp>
          <p:nvSpPr>
            <p:cNvPr id="119" name="Rectangle 26">
              <a:extLst>
                <a:ext uri="{FF2B5EF4-FFF2-40B4-BE49-F238E27FC236}">
                  <a16:creationId xmlns:a16="http://schemas.microsoft.com/office/drawing/2014/main" id="{01DE2D84-D54B-2EEE-A5CD-F06ACC732275}"/>
                </a:ext>
              </a:extLst>
            </p:cNvPr>
            <p:cNvSpPr>
              <a:spLocks noChangeArrowheads="1"/>
            </p:cNvSpPr>
            <p:nvPr/>
          </p:nvSpPr>
          <p:spPr bwMode="auto">
            <a:xfrm>
              <a:off x="3295" y="1543"/>
              <a:ext cx="619" cy="92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20" name="Line 27">
              <a:extLst>
                <a:ext uri="{FF2B5EF4-FFF2-40B4-BE49-F238E27FC236}">
                  <a16:creationId xmlns:a16="http://schemas.microsoft.com/office/drawing/2014/main" id="{1C7F8D01-6366-9CB7-C1A9-6DF868CDCDD1}"/>
                </a:ext>
              </a:extLst>
            </p:cNvPr>
            <p:cNvSpPr>
              <a:spLocks noChangeShapeType="1"/>
            </p:cNvSpPr>
            <p:nvPr/>
          </p:nvSpPr>
          <p:spPr bwMode="auto">
            <a:xfrm>
              <a:off x="3295" y="1845"/>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28">
              <a:extLst>
                <a:ext uri="{FF2B5EF4-FFF2-40B4-BE49-F238E27FC236}">
                  <a16:creationId xmlns:a16="http://schemas.microsoft.com/office/drawing/2014/main" id="{597E9D5C-48E1-B8DE-B683-BF238222D027}"/>
                </a:ext>
              </a:extLst>
            </p:cNvPr>
            <p:cNvSpPr>
              <a:spLocks noChangeShapeType="1"/>
            </p:cNvSpPr>
            <p:nvPr/>
          </p:nvSpPr>
          <p:spPr bwMode="auto">
            <a:xfrm>
              <a:off x="3295" y="2157"/>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sp>
        <p:nvSpPr>
          <p:cNvPr id="122" name="Rectangle 31">
            <a:extLst>
              <a:ext uri="{FF2B5EF4-FFF2-40B4-BE49-F238E27FC236}">
                <a16:creationId xmlns:a16="http://schemas.microsoft.com/office/drawing/2014/main" id="{FD4D08A3-BAE4-08C2-FF40-F00CEBD34D2F}"/>
              </a:ext>
            </a:extLst>
          </p:cNvPr>
          <p:cNvSpPr>
            <a:spLocks noChangeArrowheads="1"/>
          </p:cNvSpPr>
          <p:nvPr/>
        </p:nvSpPr>
        <p:spPr bwMode="auto">
          <a:xfrm>
            <a:off x="3242326" y="1499190"/>
            <a:ext cx="266282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传输层提供应用进程</a:t>
            </a:r>
            <a:r>
              <a:rPr lang="zh-CN" altLang="zh-CN" sz="1200" b="1" dirty="0">
                <a:latin typeface="微软雅黑" panose="020B0503020204020204" pitchFamily="34" charset="-122"/>
                <a:ea typeface="微软雅黑" panose="020B0503020204020204" pitchFamily="34" charset="-122"/>
              </a:rPr>
              <a:t>间的</a:t>
            </a:r>
            <a:r>
              <a:rPr lang="zh-CN" altLang="zh-CN" sz="1200" b="1" dirty="0">
                <a:solidFill>
                  <a:srgbClr val="9900FF"/>
                </a:solidFill>
                <a:latin typeface="微软雅黑" panose="020B0503020204020204" pitchFamily="34" charset="-122"/>
                <a:ea typeface="微软雅黑" panose="020B0503020204020204" pitchFamily="34" charset="-122"/>
              </a:rPr>
              <a:t>逻辑</a:t>
            </a:r>
            <a:r>
              <a:rPr lang="zh-CN" altLang="en-US" sz="1200" b="1" dirty="0">
                <a:solidFill>
                  <a:srgbClr val="9900FF"/>
                </a:solidFill>
                <a:latin typeface="微软雅黑" panose="020B0503020204020204" pitchFamily="34" charset="-122"/>
                <a:ea typeface="微软雅黑" panose="020B0503020204020204" pitchFamily="34" charset="-122"/>
              </a:rPr>
              <a:t>通信</a:t>
            </a:r>
          </a:p>
        </p:txBody>
      </p:sp>
      <p:sp>
        <p:nvSpPr>
          <p:cNvPr id="123" name="Rectangle 33">
            <a:extLst>
              <a:ext uri="{FF2B5EF4-FFF2-40B4-BE49-F238E27FC236}">
                <a16:creationId xmlns:a16="http://schemas.microsoft.com/office/drawing/2014/main" id="{A6C59C90-94B7-81A2-E558-DCB09A58BC5F}"/>
              </a:ext>
            </a:extLst>
          </p:cNvPr>
          <p:cNvSpPr>
            <a:spLocks noChangeArrowheads="1"/>
          </p:cNvSpPr>
          <p:nvPr/>
        </p:nvSpPr>
        <p:spPr bwMode="auto">
          <a:xfrm>
            <a:off x="1523156" y="3105520"/>
            <a:ext cx="995310" cy="491119"/>
          </a:xfrm>
          <a:prstGeom prst="rect">
            <a:avLst/>
          </a:prstGeom>
          <a:solidFill>
            <a:schemeClr val="bg1"/>
          </a:solidFill>
          <a:ln w="9525">
            <a:solidFill>
              <a:schemeClr val="tx1"/>
            </a:solidFill>
            <a:miter lim="800000"/>
            <a:headEnd/>
            <a:tailEnd/>
          </a:ln>
          <a:effectLst/>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124" name="Freeform 54">
            <a:extLst>
              <a:ext uri="{FF2B5EF4-FFF2-40B4-BE49-F238E27FC236}">
                <a16:creationId xmlns:a16="http://schemas.microsoft.com/office/drawing/2014/main" id="{9EAABEE1-433A-4C6C-486A-37239EAECF87}"/>
              </a:ext>
            </a:extLst>
          </p:cNvPr>
          <p:cNvSpPr>
            <a:spLocks/>
          </p:cNvSpPr>
          <p:nvPr/>
        </p:nvSpPr>
        <p:spPr bwMode="auto">
          <a:xfrm>
            <a:off x="2070329" y="3258103"/>
            <a:ext cx="450613" cy="85184"/>
          </a:xfrm>
          <a:custGeom>
            <a:avLst/>
            <a:gdLst>
              <a:gd name="T0" fmla="*/ 0 w 382"/>
              <a:gd name="T1" fmla="*/ 0 h 277"/>
              <a:gd name="T2" fmla="*/ 2147483647 w 382"/>
              <a:gd name="T3" fmla="*/ 0 h 277"/>
              <a:gd name="T4" fmla="*/ 2147483647 w 382"/>
              <a:gd name="T5" fmla="*/ 2147483647 h 277"/>
              <a:gd name="T6" fmla="*/ 2147483647 w 382"/>
              <a:gd name="T7" fmla="*/ 2147483647 h 277"/>
              <a:gd name="T8" fmla="*/ 2147483647 w 382"/>
              <a:gd name="T9" fmla="*/ 2147483647 h 277"/>
              <a:gd name="T10" fmla="*/ 2147483647 w 382"/>
              <a:gd name="T11" fmla="*/ 2147483647 h 277"/>
              <a:gd name="T12" fmla="*/ 2147483647 w 382"/>
              <a:gd name="T13" fmla="*/ 2147483647 h 277"/>
              <a:gd name="T14" fmla="*/ 2147483647 w 382"/>
              <a:gd name="T15" fmla="*/ 2147483647 h 277"/>
              <a:gd name="T16" fmla="*/ 2147483647 w 382"/>
              <a:gd name="T17" fmla="*/ 2147483647 h 277"/>
              <a:gd name="T18" fmla="*/ 2147483647 w 382"/>
              <a:gd name="T19" fmla="*/ 2147483647 h 277"/>
              <a:gd name="T20" fmla="*/ 2147483647 w 382"/>
              <a:gd name="T21" fmla="*/ 2147483647 h 277"/>
              <a:gd name="T22" fmla="*/ 2147483647 w 382"/>
              <a:gd name="T23" fmla="*/ 2147483647 h 277"/>
              <a:gd name="T24" fmla="*/ 2147483647 w 382"/>
              <a:gd name="T25" fmla="*/ 2147483647 h 277"/>
              <a:gd name="T26" fmla="*/ 2147483647 w 382"/>
              <a:gd name="T27" fmla="*/ 2147483647 h 277"/>
              <a:gd name="T28" fmla="*/ 2147483647 w 382"/>
              <a:gd name="T29" fmla="*/ 2147483647 h 277"/>
              <a:gd name="T30" fmla="*/ 2147483647 w 382"/>
              <a:gd name="T31" fmla="*/ 2147483647 h 277"/>
              <a:gd name="T32" fmla="*/ 2147483647 w 382"/>
              <a:gd name="T33" fmla="*/ 2147483647 h 277"/>
              <a:gd name="T34" fmla="*/ 2147483647 w 382"/>
              <a:gd name="T35" fmla="*/ 2147483647 h 277"/>
              <a:gd name="T36" fmla="*/ 2147483647 w 382"/>
              <a:gd name="T37" fmla="*/ 2147483647 h 277"/>
              <a:gd name="T38" fmla="*/ 2147483647 w 382"/>
              <a:gd name="T39" fmla="*/ 2147483647 h 277"/>
              <a:gd name="T40" fmla="*/ 2147483647 w 382"/>
              <a:gd name="T41" fmla="*/ 2147483647 h 277"/>
              <a:gd name="T42" fmla="*/ 2147483647 w 382"/>
              <a:gd name="T43" fmla="*/ 2147483647 h 277"/>
              <a:gd name="T44" fmla="*/ 2147483647 w 382"/>
              <a:gd name="T45" fmla="*/ 2147483647 h 277"/>
              <a:gd name="T46" fmla="*/ 2147483647 w 382"/>
              <a:gd name="T47" fmla="*/ 2147483647 h 277"/>
              <a:gd name="T48" fmla="*/ 2147483647 w 382"/>
              <a:gd name="T49" fmla="*/ 2147483647 h 277"/>
              <a:gd name="T50" fmla="*/ 2147483647 w 382"/>
              <a:gd name="T51" fmla="*/ 2147483647 h 277"/>
              <a:gd name="T52" fmla="*/ 2147483647 w 382"/>
              <a:gd name="T53" fmla="*/ 2147483647 h 277"/>
              <a:gd name="T54" fmla="*/ 2147483647 w 382"/>
              <a:gd name="T55" fmla="*/ 2147483647 h 277"/>
              <a:gd name="T56" fmla="*/ 2147483647 w 382"/>
              <a:gd name="T57" fmla="*/ 2147483647 h 277"/>
              <a:gd name="T58" fmla="*/ 2147483647 w 382"/>
              <a:gd name="T59" fmla="*/ 2147483647 h 277"/>
              <a:gd name="T60" fmla="*/ 2147483647 w 382"/>
              <a:gd name="T61" fmla="*/ 2147483647 h 277"/>
              <a:gd name="T62" fmla="*/ 2147483647 w 382"/>
              <a:gd name="T63" fmla="*/ 2147483647 h 277"/>
              <a:gd name="T64" fmla="*/ 2147483647 w 382"/>
              <a:gd name="T65" fmla="*/ 2147483647 h 277"/>
              <a:gd name="T66" fmla="*/ 2147483647 w 382"/>
              <a:gd name="T67" fmla="*/ 2147483647 h 277"/>
              <a:gd name="T68" fmla="*/ 2147483647 w 382"/>
              <a:gd name="T69" fmla="*/ 2147483647 h 277"/>
              <a:gd name="T70" fmla="*/ 2147483647 w 382"/>
              <a:gd name="T71" fmla="*/ 2147483647 h 277"/>
              <a:gd name="T72" fmla="*/ 2147483647 w 382"/>
              <a:gd name="T73" fmla="*/ 2147483647 h 277"/>
              <a:gd name="T74" fmla="*/ 2147483647 w 382"/>
              <a:gd name="T75" fmla="*/ 2147483647 h 277"/>
              <a:gd name="T76" fmla="*/ 2147483647 w 382"/>
              <a:gd name="T77" fmla="*/ 2147483647 h 277"/>
              <a:gd name="T78" fmla="*/ 2147483647 w 382"/>
              <a:gd name="T79" fmla="*/ 2147483647 h 277"/>
              <a:gd name="T80" fmla="*/ 2147483647 w 382"/>
              <a:gd name="T81" fmla="*/ 2147483647 h 277"/>
              <a:gd name="T82" fmla="*/ 2147483647 w 382"/>
              <a:gd name="T83" fmla="*/ 2147483647 h 277"/>
              <a:gd name="T84" fmla="*/ 2147483647 w 382"/>
              <a:gd name="T85" fmla="*/ 2147483647 h 277"/>
              <a:gd name="T86" fmla="*/ 2147483647 w 382"/>
              <a:gd name="T87" fmla="*/ 2147483647 h 277"/>
              <a:gd name="T88" fmla="*/ 2147483647 w 382"/>
              <a:gd name="T89" fmla="*/ 2147483647 h 277"/>
              <a:gd name="T90" fmla="*/ 2147483647 w 382"/>
              <a:gd name="T91" fmla="*/ 2147483647 h 27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82"/>
              <a:gd name="T139" fmla="*/ 0 h 277"/>
              <a:gd name="T140" fmla="*/ 382 w 382"/>
              <a:gd name="T141" fmla="*/ 277 h 27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5" name="Freeform 55">
            <a:extLst>
              <a:ext uri="{FF2B5EF4-FFF2-40B4-BE49-F238E27FC236}">
                <a16:creationId xmlns:a16="http://schemas.microsoft.com/office/drawing/2014/main" id="{691B7555-DD33-5A45-A931-2D165D6339CF}"/>
              </a:ext>
            </a:extLst>
          </p:cNvPr>
          <p:cNvSpPr>
            <a:spLocks/>
          </p:cNvSpPr>
          <p:nvPr/>
        </p:nvSpPr>
        <p:spPr bwMode="auto">
          <a:xfrm>
            <a:off x="2028239" y="3354519"/>
            <a:ext cx="488990" cy="95481"/>
          </a:xfrm>
          <a:custGeom>
            <a:avLst/>
            <a:gdLst>
              <a:gd name="T0" fmla="*/ 0 w 334"/>
              <a:gd name="T1" fmla="*/ 2147483647 h 244"/>
              <a:gd name="T2" fmla="*/ 2147483647 w 334"/>
              <a:gd name="T3" fmla="*/ 2147483647 h 244"/>
              <a:gd name="T4" fmla="*/ 2147483647 w 334"/>
              <a:gd name="T5" fmla="*/ 2147483647 h 244"/>
              <a:gd name="T6" fmla="*/ 2147483647 w 334"/>
              <a:gd name="T7" fmla="*/ 2147483647 h 244"/>
              <a:gd name="T8" fmla="*/ 2147483647 w 334"/>
              <a:gd name="T9" fmla="*/ 2147483647 h 244"/>
              <a:gd name="T10" fmla="*/ 2147483647 w 334"/>
              <a:gd name="T11" fmla="*/ 2147483647 h 244"/>
              <a:gd name="T12" fmla="*/ 2147483647 w 334"/>
              <a:gd name="T13" fmla="*/ 2147483647 h 244"/>
              <a:gd name="T14" fmla="*/ 2147483647 w 334"/>
              <a:gd name="T15" fmla="*/ 2147483647 h 244"/>
              <a:gd name="T16" fmla="*/ 2147483647 w 334"/>
              <a:gd name="T17" fmla="*/ 2147483647 h 244"/>
              <a:gd name="T18" fmla="*/ 2147483647 w 334"/>
              <a:gd name="T19" fmla="*/ 2147483647 h 244"/>
              <a:gd name="T20" fmla="*/ 2147483647 w 334"/>
              <a:gd name="T21" fmla="*/ 2147483647 h 244"/>
              <a:gd name="T22" fmla="*/ 2147483647 w 334"/>
              <a:gd name="T23" fmla="*/ 2147483647 h 244"/>
              <a:gd name="T24" fmla="*/ 2147483647 w 334"/>
              <a:gd name="T25" fmla="*/ 2147483647 h 244"/>
              <a:gd name="T26" fmla="*/ 2147483647 w 334"/>
              <a:gd name="T27" fmla="*/ 2147483647 h 244"/>
              <a:gd name="T28" fmla="*/ 2147483647 w 334"/>
              <a:gd name="T29" fmla="*/ 2147483647 h 244"/>
              <a:gd name="T30" fmla="*/ 2147483647 w 334"/>
              <a:gd name="T31" fmla="*/ 2147483647 h 244"/>
              <a:gd name="T32" fmla="*/ 2147483647 w 334"/>
              <a:gd name="T33" fmla="*/ 2147483647 h 244"/>
              <a:gd name="T34" fmla="*/ 2147483647 w 334"/>
              <a:gd name="T35" fmla="*/ 2147483647 h 244"/>
              <a:gd name="T36" fmla="*/ 2147483647 w 334"/>
              <a:gd name="T37" fmla="*/ 2147483647 h 244"/>
              <a:gd name="T38" fmla="*/ 2147483647 w 334"/>
              <a:gd name="T39" fmla="*/ 2147483647 h 244"/>
              <a:gd name="T40" fmla="*/ 2147483647 w 334"/>
              <a:gd name="T41" fmla="*/ 2147483647 h 244"/>
              <a:gd name="T42" fmla="*/ 2147483647 w 334"/>
              <a:gd name="T43" fmla="*/ 2147483647 h 244"/>
              <a:gd name="T44" fmla="*/ 2147483647 w 334"/>
              <a:gd name="T45" fmla="*/ 2147483647 h 244"/>
              <a:gd name="T46" fmla="*/ 2147483647 w 334"/>
              <a:gd name="T47" fmla="*/ 2147483647 h 244"/>
              <a:gd name="T48" fmla="*/ 2147483647 w 334"/>
              <a:gd name="T49" fmla="*/ 2147483647 h 244"/>
              <a:gd name="T50" fmla="*/ 2147483647 w 334"/>
              <a:gd name="T51" fmla="*/ 2147483647 h 244"/>
              <a:gd name="T52" fmla="*/ 2147483647 w 334"/>
              <a:gd name="T53" fmla="*/ 2147483647 h 244"/>
              <a:gd name="T54" fmla="*/ 2147483647 w 334"/>
              <a:gd name="T55" fmla="*/ 2147483647 h 244"/>
              <a:gd name="T56" fmla="*/ 2147483647 w 334"/>
              <a:gd name="T57" fmla="*/ 2147483647 h 244"/>
              <a:gd name="T58" fmla="*/ 2147483647 w 334"/>
              <a:gd name="T59" fmla="*/ 2147483647 h 244"/>
              <a:gd name="T60" fmla="*/ 2147483647 w 334"/>
              <a:gd name="T61" fmla="*/ 2147483647 h 244"/>
              <a:gd name="T62" fmla="*/ 2147483647 w 334"/>
              <a:gd name="T63" fmla="*/ 2147483647 h 244"/>
              <a:gd name="T64" fmla="*/ 2147483647 w 334"/>
              <a:gd name="T65" fmla="*/ 2147483647 h 244"/>
              <a:gd name="T66" fmla="*/ 2147483647 w 334"/>
              <a:gd name="T67" fmla="*/ 2147483647 h 244"/>
              <a:gd name="T68" fmla="*/ 2147483647 w 334"/>
              <a:gd name="T69" fmla="*/ 2147483647 h 244"/>
              <a:gd name="T70" fmla="*/ 2147483647 w 334"/>
              <a:gd name="T71" fmla="*/ 2147483647 h 244"/>
              <a:gd name="T72" fmla="*/ 2147483647 w 334"/>
              <a:gd name="T73" fmla="*/ 2147483647 h 244"/>
              <a:gd name="T74" fmla="*/ 2147483647 w 334"/>
              <a:gd name="T75" fmla="*/ 2147483647 h 244"/>
              <a:gd name="T76" fmla="*/ 2147483647 w 334"/>
              <a:gd name="T77" fmla="*/ 2147483647 h 244"/>
              <a:gd name="T78" fmla="*/ 2147483647 w 334"/>
              <a:gd name="T79" fmla="*/ 0 h 24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34"/>
              <a:gd name="T121" fmla="*/ 0 h 244"/>
              <a:gd name="T122" fmla="*/ 334 w 334"/>
              <a:gd name="T123" fmla="*/ 244 h 24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6" name="Rectangle 82">
            <a:extLst>
              <a:ext uri="{FF2B5EF4-FFF2-40B4-BE49-F238E27FC236}">
                <a16:creationId xmlns:a16="http://schemas.microsoft.com/office/drawing/2014/main" id="{8ACB2038-11AC-6A0A-15C3-F86162C82275}"/>
              </a:ext>
            </a:extLst>
          </p:cNvPr>
          <p:cNvSpPr>
            <a:spLocks noChangeArrowheads="1"/>
          </p:cNvSpPr>
          <p:nvPr/>
        </p:nvSpPr>
        <p:spPr bwMode="auto">
          <a:xfrm>
            <a:off x="1681612" y="2864695"/>
            <a:ext cx="816617"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主机 </a:t>
            </a:r>
            <a:r>
              <a:rPr lang="en-US" altLang="zh-CN" sz="1200" b="1" dirty="0">
                <a:latin typeface="微软雅黑" panose="020B0503020204020204" pitchFamily="34" charset="-122"/>
                <a:ea typeface="微软雅黑" panose="020B0503020204020204" pitchFamily="34" charset="-122"/>
              </a:rPr>
              <a:t>A</a:t>
            </a:r>
          </a:p>
        </p:txBody>
      </p:sp>
      <p:sp>
        <p:nvSpPr>
          <p:cNvPr id="127" name="Rectangle 83">
            <a:extLst>
              <a:ext uri="{FF2B5EF4-FFF2-40B4-BE49-F238E27FC236}">
                <a16:creationId xmlns:a16="http://schemas.microsoft.com/office/drawing/2014/main" id="{140B752E-2D2B-E97F-8D99-98EC9C318517}"/>
              </a:ext>
            </a:extLst>
          </p:cNvPr>
          <p:cNvSpPr>
            <a:spLocks noChangeArrowheads="1"/>
          </p:cNvSpPr>
          <p:nvPr/>
        </p:nvSpPr>
        <p:spPr bwMode="auto">
          <a:xfrm>
            <a:off x="6660640" y="2864695"/>
            <a:ext cx="804578"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latin typeface="微软雅黑" panose="020B0503020204020204" pitchFamily="34" charset="-122"/>
                <a:ea typeface="微软雅黑" panose="020B0503020204020204" pitchFamily="34" charset="-122"/>
              </a:rPr>
              <a:t>主机 </a:t>
            </a:r>
            <a:r>
              <a:rPr lang="en-US" altLang="zh-CN" sz="1200" b="1">
                <a:latin typeface="微软雅黑" panose="020B0503020204020204" pitchFamily="34" charset="-122"/>
                <a:ea typeface="微软雅黑" panose="020B0503020204020204" pitchFamily="34" charset="-122"/>
              </a:rPr>
              <a:t>B</a:t>
            </a:r>
          </a:p>
        </p:txBody>
      </p:sp>
      <p:sp>
        <p:nvSpPr>
          <p:cNvPr id="129" name="Rectangle 98">
            <a:extLst>
              <a:ext uri="{FF2B5EF4-FFF2-40B4-BE49-F238E27FC236}">
                <a16:creationId xmlns:a16="http://schemas.microsoft.com/office/drawing/2014/main" id="{85FA3FF7-C9A6-1DCA-92D8-8FAAEDCF2205}"/>
              </a:ext>
            </a:extLst>
          </p:cNvPr>
          <p:cNvSpPr>
            <a:spLocks noChangeArrowheads="1"/>
          </p:cNvSpPr>
          <p:nvPr/>
        </p:nvSpPr>
        <p:spPr bwMode="auto">
          <a:xfrm>
            <a:off x="2650927" y="1247276"/>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solidFill>
                  <a:srgbClr val="C00000"/>
                </a:solidFill>
                <a:latin typeface="微软雅黑" panose="020B0503020204020204" pitchFamily="34" charset="-122"/>
                <a:ea typeface="微软雅黑" panose="020B0503020204020204" pitchFamily="34" charset="-122"/>
              </a:rPr>
              <a:t>应用进程</a:t>
            </a:r>
          </a:p>
        </p:txBody>
      </p:sp>
      <p:sp>
        <p:nvSpPr>
          <p:cNvPr id="130" name="Freeform 100">
            <a:extLst>
              <a:ext uri="{FF2B5EF4-FFF2-40B4-BE49-F238E27FC236}">
                <a16:creationId xmlns:a16="http://schemas.microsoft.com/office/drawing/2014/main" id="{D08E3FB3-BD50-B625-6C89-56CB62D74530}"/>
              </a:ext>
            </a:extLst>
          </p:cNvPr>
          <p:cNvSpPr>
            <a:spLocks/>
          </p:cNvSpPr>
          <p:nvPr/>
        </p:nvSpPr>
        <p:spPr bwMode="auto">
          <a:xfrm>
            <a:off x="6218693" y="1397986"/>
            <a:ext cx="370146" cy="83311"/>
          </a:xfrm>
          <a:custGeom>
            <a:avLst/>
            <a:gdLst>
              <a:gd name="T0" fmla="*/ 0 w 297"/>
              <a:gd name="T1" fmla="*/ 0 h 105"/>
              <a:gd name="T2" fmla="*/ 2147483647 w 297"/>
              <a:gd name="T3" fmla="*/ 2147483647 h 105"/>
              <a:gd name="T4" fmla="*/ 0 60000 65536"/>
              <a:gd name="T5" fmla="*/ 0 60000 65536"/>
              <a:gd name="T6" fmla="*/ 0 w 297"/>
              <a:gd name="T7" fmla="*/ 0 h 105"/>
              <a:gd name="T8" fmla="*/ 297 w 297"/>
              <a:gd name="T9" fmla="*/ 105 h 105"/>
            </a:gdLst>
            <a:ahLst/>
            <a:cxnLst>
              <a:cxn ang="T4">
                <a:pos x="T0" y="T1"/>
              </a:cxn>
              <a:cxn ang="T5">
                <a:pos x="T2" y="T3"/>
              </a:cxn>
            </a:cxnLst>
            <a:rect l="T6" t="T7" r="T8" b="T9"/>
            <a:pathLst>
              <a:path w="297" h="105">
                <a:moveTo>
                  <a:pt x="0" y="0"/>
                </a:moveTo>
                <a:lnTo>
                  <a:pt x="297" y="105"/>
                </a:lnTo>
              </a:path>
            </a:pathLst>
          </a:custGeom>
          <a:noFill/>
          <a:ln w="12700">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1" name="Rectangle 101">
            <a:extLst>
              <a:ext uri="{FF2B5EF4-FFF2-40B4-BE49-F238E27FC236}">
                <a16:creationId xmlns:a16="http://schemas.microsoft.com/office/drawing/2014/main" id="{7C7066AE-2AAD-936A-DB36-D63E9B8476A1}"/>
              </a:ext>
            </a:extLst>
          </p:cNvPr>
          <p:cNvSpPr>
            <a:spLocks noChangeArrowheads="1"/>
          </p:cNvSpPr>
          <p:nvPr/>
        </p:nvSpPr>
        <p:spPr bwMode="auto">
          <a:xfrm>
            <a:off x="5474686" y="1247276"/>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solidFill>
                  <a:srgbClr val="C00000"/>
                </a:solidFill>
                <a:latin typeface="微软雅黑" panose="020B0503020204020204" pitchFamily="34" charset="-122"/>
                <a:ea typeface="微软雅黑" panose="020B0503020204020204" pitchFamily="34" charset="-122"/>
              </a:rPr>
              <a:t>应用进程</a:t>
            </a:r>
          </a:p>
        </p:txBody>
      </p:sp>
      <p:sp>
        <p:nvSpPr>
          <p:cNvPr id="132" name="AutoShape 102">
            <a:extLst>
              <a:ext uri="{FF2B5EF4-FFF2-40B4-BE49-F238E27FC236}">
                <a16:creationId xmlns:a16="http://schemas.microsoft.com/office/drawing/2014/main" id="{6306EBA6-3E9B-353D-5026-997855A5951A}"/>
              </a:ext>
            </a:extLst>
          </p:cNvPr>
          <p:cNvSpPr>
            <a:spLocks noChangeArrowheads="1"/>
          </p:cNvSpPr>
          <p:nvPr/>
        </p:nvSpPr>
        <p:spPr bwMode="auto">
          <a:xfrm>
            <a:off x="2533322" y="1716255"/>
            <a:ext cx="3996096" cy="111394"/>
          </a:xfrm>
          <a:prstGeom prst="leftRightArrow">
            <a:avLst>
              <a:gd name="adj1" fmla="val 59167"/>
              <a:gd name="adj2" fmla="val 216108"/>
            </a:avLst>
          </a:prstGeom>
          <a:solidFill>
            <a:schemeClr val="accent6">
              <a:lumMod val="75000"/>
            </a:schemeClr>
          </a:solidFill>
          <a:ln w="6350">
            <a:solidFill>
              <a:srgbClr val="000066"/>
            </a:solidFill>
            <a:miter lim="800000"/>
            <a:headEnd/>
            <a:tailEnd/>
          </a:ln>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133" name="Rectangle 76">
            <a:extLst>
              <a:ext uri="{FF2B5EF4-FFF2-40B4-BE49-F238E27FC236}">
                <a16:creationId xmlns:a16="http://schemas.microsoft.com/office/drawing/2014/main" id="{3F497024-4255-8BA2-4F9C-84A2BAB96F47}"/>
              </a:ext>
            </a:extLst>
          </p:cNvPr>
          <p:cNvSpPr>
            <a:spLocks noChangeArrowheads="1"/>
          </p:cNvSpPr>
          <p:nvPr/>
        </p:nvSpPr>
        <p:spPr bwMode="auto">
          <a:xfrm>
            <a:off x="3381058" y="3015764"/>
            <a:ext cx="78547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路由器 </a:t>
            </a:r>
            <a:r>
              <a:rPr lang="en-US" altLang="zh-CN" sz="1200" b="1" dirty="0">
                <a:latin typeface="微软雅黑" panose="020B0503020204020204" pitchFamily="34" charset="-122"/>
                <a:ea typeface="微软雅黑" panose="020B0503020204020204" pitchFamily="34" charset="-122"/>
              </a:rPr>
              <a:t>1</a:t>
            </a:r>
          </a:p>
        </p:txBody>
      </p:sp>
      <p:pic>
        <p:nvPicPr>
          <p:cNvPr id="134" name="Picture 104">
            <a:extLst>
              <a:ext uri="{FF2B5EF4-FFF2-40B4-BE49-F238E27FC236}">
                <a16:creationId xmlns:a16="http://schemas.microsoft.com/office/drawing/2014/main" id="{2264E503-5FB7-7CDB-24BE-30888836902B}"/>
              </a:ext>
            </a:extLst>
          </p:cNvPr>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79114" y="3240317"/>
            <a:ext cx="497655" cy="22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35" name="Rectangle 103">
            <a:extLst>
              <a:ext uri="{FF2B5EF4-FFF2-40B4-BE49-F238E27FC236}">
                <a16:creationId xmlns:a16="http://schemas.microsoft.com/office/drawing/2014/main" id="{249DD92A-A2DC-9F07-4B27-74D6C68828D1}"/>
              </a:ext>
            </a:extLst>
          </p:cNvPr>
          <p:cNvSpPr>
            <a:spLocks noChangeArrowheads="1"/>
          </p:cNvSpPr>
          <p:nvPr/>
        </p:nvSpPr>
        <p:spPr bwMode="auto">
          <a:xfrm>
            <a:off x="4897544" y="3015764"/>
            <a:ext cx="78547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latin typeface="微软雅黑" panose="020B0503020204020204" pitchFamily="34" charset="-122"/>
                <a:ea typeface="微软雅黑" panose="020B0503020204020204" pitchFamily="34" charset="-122"/>
              </a:rPr>
              <a:t>路由器 </a:t>
            </a:r>
            <a:r>
              <a:rPr lang="en-US" altLang="zh-CN" sz="1200" b="1">
                <a:latin typeface="微软雅黑" panose="020B0503020204020204" pitchFamily="34" charset="-122"/>
                <a:ea typeface="微软雅黑" panose="020B0503020204020204" pitchFamily="34" charset="-122"/>
              </a:rPr>
              <a:t>2</a:t>
            </a:r>
          </a:p>
        </p:txBody>
      </p:sp>
      <p:sp>
        <p:nvSpPr>
          <p:cNvPr id="136" name="Oval 113">
            <a:extLst>
              <a:ext uri="{FF2B5EF4-FFF2-40B4-BE49-F238E27FC236}">
                <a16:creationId xmlns:a16="http://schemas.microsoft.com/office/drawing/2014/main" id="{CBEF1AF0-998E-6590-D797-0822ECD2CA5E}"/>
              </a:ext>
            </a:extLst>
          </p:cNvPr>
          <p:cNvSpPr>
            <a:spLocks noChangeArrowheads="1"/>
          </p:cNvSpPr>
          <p:nvPr/>
        </p:nvSpPr>
        <p:spPr bwMode="auto">
          <a:xfrm>
            <a:off x="1697707" y="3162622"/>
            <a:ext cx="434519"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7" name="Rectangle 114">
            <a:extLst>
              <a:ext uri="{FF2B5EF4-FFF2-40B4-BE49-F238E27FC236}">
                <a16:creationId xmlns:a16="http://schemas.microsoft.com/office/drawing/2014/main" id="{A27B739B-0857-A881-1336-C9AD97CB6462}"/>
              </a:ext>
            </a:extLst>
          </p:cNvPr>
          <p:cNvSpPr>
            <a:spLocks noChangeArrowheads="1"/>
          </p:cNvSpPr>
          <p:nvPr/>
        </p:nvSpPr>
        <p:spPr bwMode="auto">
          <a:xfrm>
            <a:off x="1728655" y="3116092"/>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sp>
        <p:nvSpPr>
          <p:cNvPr id="138" name="Oval 138">
            <a:extLst>
              <a:ext uri="{FF2B5EF4-FFF2-40B4-BE49-F238E27FC236}">
                <a16:creationId xmlns:a16="http://schemas.microsoft.com/office/drawing/2014/main" id="{2C403BF5-010B-B8FD-E690-64BC94F6B117}"/>
              </a:ext>
            </a:extLst>
          </p:cNvPr>
          <p:cNvSpPr>
            <a:spLocks noChangeArrowheads="1"/>
          </p:cNvSpPr>
          <p:nvPr/>
        </p:nvSpPr>
        <p:spPr bwMode="auto">
          <a:xfrm>
            <a:off x="6984983" y="1359606"/>
            <a:ext cx="434520" cy="161943"/>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9" name="Line 157">
            <a:extLst>
              <a:ext uri="{FF2B5EF4-FFF2-40B4-BE49-F238E27FC236}">
                <a16:creationId xmlns:a16="http://schemas.microsoft.com/office/drawing/2014/main" id="{8B7A987D-426E-1F22-8E64-E4F3E12801B6}"/>
              </a:ext>
            </a:extLst>
          </p:cNvPr>
          <p:cNvSpPr>
            <a:spLocks noChangeShapeType="1"/>
          </p:cNvSpPr>
          <p:nvPr/>
        </p:nvSpPr>
        <p:spPr bwMode="auto">
          <a:xfrm rot="5400000">
            <a:off x="3501724" y="2390705"/>
            <a:ext cx="4895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0" name="Line 158">
            <a:extLst>
              <a:ext uri="{FF2B5EF4-FFF2-40B4-BE49-F238E27FC236}">
                <a16:creationId xmlns:a16="http://schemas.microsoft.com/office/drawing/2014/main" id="{923B2A62-8B06-DB94-CD16-4F4C566A45AE}"/>
              </a:ext>
            </a:extLst>
          </p:cNvPr>
          <p:cNvSpPr>
            <a:spLocks noChangeShapeType="1"/>
          </p:cNvSpPr>
          <p:nvPr/>
        </p:nvSpPr>
        <p:spPr bwMode="auto">
          <a:xfrm rot="5400000">
            <a:off x="5007507" y="2389301"/>
            <a:ext cx="49612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5" name="Oval 162">
            <a:extLst>
              <a:ext uri="{FF2B5EF4-FFF2-40B4-BE49-F238E27FC236}">
                <a16:creationId xmlns:a16="http://schemas.microsoft.com/office/drawing/2014/main" id="{0D0B7DB8-5739-9F65-3D67-C7636047BC29}"/>
              </a:ext>
            </a:extLst>
          </p:cNvPr>
          <p:cNvSpPr>
            <a:spLocks noChangeArrowheads="1"/>
          </p:cNvSpPr>
          <p:nvPr/>
        </p:nvSpPr>
        <p:spPr bwMode="auto">
          <a:xfrm>
            <a:off x="2466472" y="3309587"/>
            <a:ext cx="105226" cy="71143"/>
          </a:xfrm>
          <a:prstGeom prst="ellipse">
            <a:avLst/>
          </a:prstGeom>
          <a:solidFill>
            <a:schemeClr val="bg1"/>
          </a:solidFill>
          <a:ln w="2857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46" name="Oval 34">
            <a:extLst>
              <a:ext uri="{FF2B5EF4-FFF2-40B4-BE49-F238E27FC236}">
                <a16:creationId xmlns:a16="http://schemas.microsoft.com/office/drawing/2014/main" id="{A9CBE60F-FD22-D06D-971C-B9295608DFE9}"/>
              </a:ext>
            </a:extLst>
          </p:cNvPr>
          <p:cNvSpPr>
            <a:spLocks noChangeArrowheads="1"/>
          </p:cNvSpPr>
          <p:nvPr/>
        </p:nvSpPr>
        <p:spPr bwMode="auto">
          <a:xfrm>
            <a:off x="1687803" y="3380479"/>
            <a:ext cx="434519"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47" name="Rectangle 35">
            <a:extLst>
              <a:ext uri="{FF2B5EF4-FFF2-40B4-BE49-F238E27FC236}">
                <a16:creationId xmlns:a16="http://schemas.microsoft.com/office/drawing/2014/main" id="{5D0B8CBE-090A-9493-BB90-813A402F531E}"/>
              </a:ext>
            </a:extLst>
          </p:cNvPr>
          <p:cNvSpPr>
            <a:spLocks noChangeArrowheads="1"/>
          </p:cNvSpPr>
          <p:nvPr/>
        </p:nvSpPr>
        <p:spPr bwMode="auto">
          <a:xfrm>
            <a:off x="1700183" y="3333948"/>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2</a:t>
            </a:r>
            <a:endParaRPr lang="en-US" altLang="zh-CN" sz="1200" b="1" dirty="0">
              <a:latin typeface="微软雅黑" panose="020B0503020204020204" pitchFamily="34" charset="-122"/>
              <a:ea typeface="微软雅黑" panose="020B0503020204020204" pitchFamily="34" charset="-122"/>
            </a:endParaRPr>
          </a:p>
        </p:txBody>
      </p:sp>
      <p:sp>
        <p:nvSpPr>
          <p:cNvPr id="148" name="Rectangle 163">
            <a:extLst>
              <a:ext uri="{FF2B5EF4-FFF2-40B4-BE49-F238E27FC236}">
                <a16:creationId xmlns:a16="http://schemas.microsoft.com/office/drawing/2014/main" id="{37B44878-F455-12D8-62CA-F6FE9E5C7B95}"/>
              </a:ext>
            </a:extLst>
          </p:cNvPr>
          <p:cNvSpPr>
            <a:spLocks noChangeArrowheads="1"/>
          </p:cNvSpPr>
          <p:nvPr/>
        </p:nvSpPr>
        <p:spPr bwMode="auto">
          <a:xfrm flipH="1">
            <a:off x="6502183" y="3105520"/>
            <a:ext cx="995310" cy="491119"/>
          </a:xfrm>
          <a:prstGeom prst="rect">
            <a:avLst/>
          </a:prstGeom>
          <a:solidFill>
            <a:schemeClr val="bg1"/>
          </a:solidFill>
          <a:ln w="9525">
            <a:solidFill>
              <a:schemeClr val="tx1"/>
            </a:solidFill>
            <a:miter lim="800000"/>
            <a:headEnd/>
            <a:tailEnd/>
          </a:ln>
          <a:effectLst/>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149" name="Freeform 164">
            <a:extLst>
              <a:ext uri="{FF2B5EF4-FFF2-40B4-BE49-F238E27FC236}">
                <a16:creationId xmlns:a16="http://schemas.microsoft.com/office/drawing/2014/main" id="{5B02EA43-0A63-FCD2-85C6-77A1B43AD842}"/>
              </a:ext>
            </a:extLst>
          </p:cNvPr>
          <p:cNvSpPr>
            <a:spLocks/>
          </p:cNvSpPr>
          <p:nvPr/>
        </p:nvSpPr>
        <p:spPr bwMode="auto">
          <a:xfrm flipH="1">
            <a:off x="6502183" y="3258103"/>
            <a:ext cx="450613" cy="85184"/>
          </a:xfrm>
          <a:custGeom>
            <a:avLst/>
            <a:gdLst>
              <a:gd name="T0" fmla="*/ 0 w 382"/>
              <a:gd name="T1" fmla="*/ 0 h 277"/>
              <a:gd name="T2" fmla="*/ 2147483647 w 382"/>
              <a:gd name="T3" fmla="*/ 0 h 277"/>
              <a:gd name="T4" fmla="*/ 2147483647 w 382"/>
              <a:gd name="T5" fmla="*/ 2147483647 h 277"/>
              <a:gd name="T6" fmla="*/ 2147483647 w 382"/>
              <a:gd name="T7" fmla="*/ 2147483647 h 277"/>
              <a:gd name="T8" fmla="*/ 2147483647 w 382"/>
              <a:gd name="T9" fmla="*/ 2147483647 h 277"/>
              <a:gd name="T10" fmla="*/ 2147483647 w 382"/>
              <a:gd name="T11" fmla="*/ 2147483647 h 277"/>
              <a:gd name="T12" fmla="*/ 2147483647 w 382"/>
              <a:gd name="T13" fmla="*/ 2147483647 h 277"/>
              <a:gd name="T14" fmla="*/ 2147483647 w 382"/>
              <a:gd name="T15" fmla="*/ 2147483647 h 277"/>
              <a:gd name="T16" fmla="*/ 2147483647 w 382"/>
              <a:gd name="T17" fmla="*/ 2147483647 h 277"/>
              <a:gd name="T18" fmla="*/ 2147483647 w 382"/>
              <a:gd name="T19" fmla="*/ 2147483647 h 277"/>
              <a:gd name="T20" fmla="*/ 2147483647 w 382"/>
              <a:gd name="T21" fmla="*/ 2147483647 h 277"/>
              <a:gd name="T22" fmla="*/ 2147483647 w 382"/>
              <a:gd name="T23" fmla="*/ 2147483647 h 277"/>
              <a:gd name="T24" fmla="*/ 2147483647 w 382"/>
              <a:gd name="T25" fmla="*/ 2147483647 h 277"/>
              <a:gd name="T26" fmla="*/ 2147483647 w 382"/>
              <a:gd name="T27" fmla="*/ 2147483647 h 277"/>
              <a:gd name="T28" fmla="*/ 2147483647 w 382"/>
              <a:gd name="T29" fmla="*/ 2147483647 h 277"/>
              <a:gd name="T30" fmla="*/ 2147483647 w 382"/>
              <a:gd name="T31" fmla="*/ 2147483647 h 277"/>
              <a:gd name="T32" fmla="*/ 2147483647 w 382"/>
              <a:gd name="T33" fmla="*/ 2147483647 h 277"/>
              <a:gd name="T34" fmla="*/ 2147483647 w 382"/>
              <a:gd name="T35" fmla="*/ 2147483647 h 277"/>
              <a:gd name="T36" fmla="*/ 2147483647 w 382"/>
              <a:gd name="T37" fmla="*/ 2147483647 h 277"/>
              <a:gd name="T38" fmla="*/ 2147483647 w 382"/>
              <a:gd name="T39" fmla="*/ 2147483647 h 277"/>
              <a:gd name="T40" fmla="*/ 2147483647 w 382"/>
              <a:gd name="T41" fmla="*/ 2147483647 h 277"/>
              <a:gd name="T42" fmla="*/ 2147483647 w 382"/>
              <a:gd name="T43" fmla="*/ 2147483647 h 277"/>
              <a:gd name="T44" fmla="*/ 2147483647 w 382"/>
              <a:gd name="T45" fmla="*/ 2147483647 h 277"/>
              <a:gd name="T46" fmla="*/ 2147483647 w 382"/>
              <a:gd name="T47" fmla="*/ 2147483647 h 277"/>
              <a:gd name="T48" fmla="*/ 2147483647 w 382"/>
              <a:gd name="T49" fmla="*/ 2147483647 h 277"/>
              <a:gd name="T50" fmla="*/ 2147483647 w 382"/>
              <a:gd name="T51" fmla="*/ 2147483647 h 277"/>
              <a:gd name="T52" fmla="*/ 2147483647 w 382"/>
              <a:gd name="T53" fmla="*/ 2147483647 h 277"/>
              <a:gd name="T54" fmla="*/ 2147483647 w 382"/>
              <a:gd name="T55" fmla="*/ 2147483647 h 277"/>
              <a:gd name="T56" fmla="*/ 2147483647 w 382"/>
              <a:gd name="T57" fmla="*/ 2147483647 h 277"/>
              <a:gd name="T58" fmla="*/ 2147483647 w 382"/>
              <a:gd name="T59" fmla="*/ 2147483647 h 277"/>
              <a:gd name="T60" fmla="*/ 2147483647 w 382"/>
              <a:gd name="T61" fmla="*/ 2147483647 h 277"/>
              <a:gd name="T62" fmla="*/ 2147483647 w 382"/>
              <a:gd name="T63" fmla="*/ 2147483647 h 277"/>
              <a:gd name="T64" fmla="*/ 2147483647 w 382"/>
              <a:gd name="T65" fmla="*/ 2147483647 h 277"/>
              <a:gd name="T66" fmla="*/ 2147483647 w 382"/>
              <a:gd name="T67" fmla="*/ 2147483647 h 277"/>
              <a:gd name="T68" fmla="*/ 2147483647 w 382"/>
              <a:gd name="T69" fmla="*/ 2147483647 h 277"/>
              <a:gd name="T70" fmla="*/ 2147483647 w 382"/>
              <a:gd name="T71" fmla="*/ 2147483647 h 277"/>
              <a:gd name="T72" fmla="*/ 2147483647 w 382"/>
              <a:gd name="T73" fmla="*/ 2147483647 h 277"/>
              <a:gd name="T74" fmla="*/ 2147483647 w 382"/>
              <a:gd name="T75" fmla="*/ 2147483647 h 277"/>
              <a:gd name="T76" fmla="*/ 2147483647 w 382"/>
              <a:gd name="T77" fmla="*/ 2147483647 h 277"/>
              <a:gd name="T78" fmla="*/ 2147483647 w 382"/>
              <a:gd name="T79" fmla="*/ 2147483647 h 277"/>
              <a:gd name="T80" fmla="*/ 2147483647 w 382"/>
              <a:gd name="T81" fmla="*/ 2147483647 h 277"/>
              <a:gd name="T82" fmla="*/ 2147483647 w 382"/>
              <a:gd name="T83" fmla="*/ 2147483647 h 277"/>
              <a:gd name="T84" fmla="*/ 2147483647 w 382"/>
              <a:gd name="T85" fmla="*/ 2147483647 h 277"/>
              <a:gd name="T86" fmla="*/ 2147483647 w 382"/>
              <a:gd name="T87" fmla="*/ 2147483647 h 277"/>
              <a:gd name="T88" fmla="*/ 2147483647 w 382"/>
              <a:gd name="T89" fmla="*/ 2147483647 h 277"/>
              <a:gd name="T90" fmla="*/ 2147483647 w 382"/>
              <a:gd name="T91" fmla="*/ 2147483647 h 27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82"/>
              <a:gd name="T139" fmla="*/ 0 h 277"/>
              <a:gd name="T140" fmla="*/ 382 w 382"/>
              <a:gd name="T141" fmla="*/ 277 h 27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0" name="Freeform 165">
            <a:extLst>
              <a:ext uri="{FF2B5EF4-FFF2-40B4-BE49-F238E27FC236}">
                <a16:creationId xmlns:a16="http://schemas.microsoft.com/office/drawing/2014/main" id="{ADE0E09C-019B-D687-2BF8-255FE257572C}"/>
              </a:ext>
            </a:extLst>
          </p:cNvPr>
          <p:cNvSpPr>
            <a:spLocks/>
          </p:cNvSpPr>
          <p:nvPr/>
        </p:nvSpPr>
        <p:spPr bwMode="auto">
          <a:xfrm flipH="1">
            <a:off x="6502183" y="3354519"/>
            <a:ext cx="488990" cy="95481"/>
          </a:xfrm>
          <a:custGeom>
            <a:avLst/>
            <a:gdLst>
              <a:gd name="T0" fmla="*/ 0 w 334"/>
              <a:gd name="T1" fmla="*/ 2147483647 h 244"/>
              <a:gd name="T2" fmla="*/ 2147483647 w 334"/>
              <a:gd name="T3" fmla="*/ 2147483647 h 244"/>
              <a:gd name="T4" fmla="*/ 2147483647 w 334"/>
              <a:gd name="T5" fmla="*/ 2147483647 h 244"/>
              <a:gd name="T6" fmla="*/ 2147483647 w 334"/>
              <a:gd name="T7" fmla="*/ 2147483647 h 244"/>
              <a:gd name="T8" fmla="*/ 2147483647 w 334"/>
              <a:gd name="T9" fmla="*/ 2147483647 h 244"/>
              <a:gd name="T10" fmla="*/ 2147483647 w 334"/>
              <a:gd name="T11" fmla="*/ 2147483647 h 244"/>
              <a:gd name="T12" fmla="*/ 2147483647 w 334"/>
              <a:gd name="T13" fmla="*/ 2147483647 h 244"/>
              <a:gd name="T14" fmla="*/ 2147483647 w 334"/>
              <a:gd name="T15" fmla="*/ 2147483647 h 244"/>
              <a:gd name="T16" fmla="*/ 2147483647 w 334"/>
              <a:gd name="T17" fmla="*/ 2147483647 h 244"/>
              <a:gd name="T18" fmla="*/ 2147483647 w 334"/>
              <a:gd name="T19" fmla="*/ 2147483647 h 244"/>
              <a:gd name="T20" fmla="*/ 2147483647 w 334"/>
              <a:gd name="T21" fmla="*/ 2147483647 h 244"/>
              <a:gd name="T22" fmla="*/ 2147483647 w 334"/>
              <a:gd name="T23" fmla="*/ 2147483647 h 244"/>
              <a:gd name="T24" fmla="*/ 2147483647 w 334"/>
              <a:gd name="T25" fmla="*/ 2147483647 h 244"/>
              <a:gd name="T26" fmla="*/ 2147483647 w 334"/>
              <a:gd name="T27" fmla="*/ 2147483647 h 244"/>
              <a:gd name="T28" fmla="*/ 2147483647 w 334"/>
              <a:gd name="T29" fmla="*/ 2147483647 h 244"/>
              <a:gd name="T30" fmla="*/ 2147483647 w 334"/>
              <a:gd name="T31" fmla="*/ 2147483647 h 244"/>
              <a:gd name="T32" fmla="*/ 2147483647 w 334"/>
              <a:gd name="T33" fmla="*/ 2147483647 h 244"/>
              <a:gd name="T34" fmla="*/ 2147483647 w 334"/>
              <a:gd name="T35" fmla="*/ 2147483647 h 244"/>
              <a:gd name="T36" fmla="*/ 2147483647 w 334"/>
              <a:gd name="T37" fmla="*/ 2147483647 h 244"/>
              <a:gd name="T38" fmla="*/ 2147483647 w 334"/>
              <a:gd name="T39" fmla="*/ 2147483647 h 244"/>
              <a:gd name="T40" fmla="*/ 2147483647 w 334"/>
              <a:gd name="T41" fmla="*/ 2147483647 h 244"/>
              <a:gd name="T42" fmla="*/ 2147483647 w 334"/>
              <a:gd name="T43" fmla="*/ 2147483647 h 244"/>
              <a:gd name="T44" fmla="*/ 2147483647 w 334"/>
              <a:gd name="T45" fmla="*/ 2147483647 h 244"/>
              <a:gd name="T46" fmla="*/ 2147483647 w 334"/>
              <a:gd name="T47" fmla="*/ 2147483647 h 244"/>
              <a:gd name="T48" fmla="*/ 2147483647 w 334"/>
              <a:gd name="T49" fmla="*/ 2147483647 h 244"/>
              <a:gd name="T50" fmla="*/ 2147483647 w 334"/>
              <a:gd name="T51" fmla="*/ 2147483647 h 244"/>
              <a:gd name="T52" fmla="*/ 2147483647 w 334"/>
              <a:gd name="T53" fmla="*/ 2147483647 h 244"/>
              <a:gd name="T54" fmla="*/ 2147483647 w 334"/>
              <a:gd name="T55" fmla="*/ 2147483647 h 244"/>
              <a:gd name="T56" fmla="*/ 2147483647 w 334"/>
              <a:gd name="T57" fmla="*/ 2147483647 h 244"/>
              <a:gd name="T58" fmla="*/ 2147483647 w 334"/>
              <a:gd name="T59" fmla="*/ 2147483647 h 244"/>
              <a:gd name="T60" fmla="*/ 2147483647 w 334"/>
              <a:gd name="T61" fmla="*/ 2147483647 h 244"/>
              <a:gd name="T62" fmla="*/ 2147483647 w 334"/>
              <a:gd name="T63" fmla="*/ 2147483647 h 244"/>
              <a:gd name="T64" fmla="*/ 2147483647 w 334"/>
              <a:gd name="T65" fmla="*/ 2147483647 h 244"/>
              <a:gd name="T66" fmla="*/ 2147483647 w 334"/>
              <a:gd name="T67" fmla="*/ 2147483647 h 244"/>
              <a:gd name="T68" fmla="*/ 2147483647 w 334"/>
              <a:gd name="T69" fmla="*/ 2147483647 h 244"/>
              <a:gd name="T70" fmla="*/ 2147483647 w 334"/>
              <a:gd name="T71" fmla="*/ 2147483647 h 244"/>
              <a:gd name="T72" fmla="*/ 2147483647 w 334"/>
              <a:gd name="T73" fmla="*/ 2147483647 h 244"/>
              <a:gd name="T74" fmla="*/ 2147483647 w 334"/>
              <a:gd name="T75" fmla="*/ 2147483647 h 244"/>
              <a:gd name="T76" fmla="*/ 2147483647 w 334"/>
              <a:gd name="T77" fmla="*/ 2147483647 h 244"/>
              <a:gd name="T78" fmla="*/ 2147483647 w 334"/>
              <a:gd name="T79" fmla="*/ 0 h 24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34"/>
              <a:gd name="T121" fmla="*/ 0 h 244"/>
              <a:gd name="T122" fmla="*/ 334 w 334"/>
              <a:gd name="T123" fmla="*/ 244 h 24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1" name="Oval 167">
            <a:extLst>
              <a:ext uri="{FF2B5EF4-FFF2-40B4-BE49-F238E27FC236}">
                <a16:creationId xmlns:a16="http://schemas.microsoft.com/office/drawing/2014/main" id="{00C14B68-DB79-23D1-D28D-AFF0FF8FB3AE}"/>
              </a:ext>
            </a:extLst>
          </p:cNvPr>
          <p:cNvSpPr>
            <a:spLocks noChangeArrowheads="1"/>
          </p:cNvSpPr>
          <p:nvPr/>
        </p:nvSpPr>
        <p:spPr bwMode="auto">
          <a:xfrm flipH="1">
            <a:off x="6816622" y="3162622"/>
            <a:ext cx="434520"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2" name="Rectangle 168">
            <a:extLst>
              <a:ext uri="{FF2B5EF4-FFF2-40B4-BE49-F238E27FC236}">
                <a16:creationId xmlns:a16="http://schemas.microsoft.com/office/drawing/2014/main" id="{235B3491-CDAE-59BD-192B-1156142C6B0A}"/>
              </a:ext>
            </a:extLst>
          </p:cNvPr>
          <p:cNvSpPr>
            <a:spLocks noChangeArrowheads="1"/>
          </p:cNvSpPr>
          <p:nvPr/>
        </p:nvSpPr>
        <p:spPr bwMode="auto">
          <a:xfrm flipH="1">
            <a:off x="6822814" y="3116092"/>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3</a:t>
            </a:r>
            <a:endParaRPr lang="en-US" altLang="zh-CN" sz="1200" b="1">
              <a:latin typeface="微软雅黑" panose="020B0503020204020204" pitchFamily="34" charset="-122"/>
              <a:ea typeface="微软雅黑" panose="020B0503020204020204" pitchFamily="34" charset="-122"/>
            </a:endParaRPr>
          </a:p>
        </p:txBody>
      </p:sp>
      <p:sp>
        <p:nvSpPr>
          <p:cNvPr id="153" name="Oval 169">
            <a:extLst>
              <a:ext uri="{FF2B5EF4-FFF2-40B4-BE49-F238E27FC236}">
                <a16:creationId xmlns:a16="http://schemas.microsoft.com/office/drawing/2014/main" id="{574BAA8E-8A41-EEA9-C704-FB8399328D3E}"/>
              </a:ext>
            </a:extLst>
          </p:cNvPr>
          <p:cNvSpPr>
            <a:spLocks noChangeArrowheads="1"/>
          </p:cNvSpPr>
          <p:nvPr/>
        </p:nvSpPr>
        <p:spPr bwMode="auto">
          <a:xfrm flipH="1">
            <a:off x="6445238" y="3309587"/>
            <a:ext cx="105226" cy="71143"/>
          </a:xfrm>
          <a:prstGeom prst="ellipse">
            <a:avLst/>
          </a:prstGeom>
          <a:solidFill>
            <a:schemeClr val="bg1"/>
          </a:solidFill>
          <a:ln w="2857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4" name="Oval 171">
            <a:extLst>
              <a:ext uri="{FF2B5EF4-FFF2-40B4-BE49-F238E27FC236}">
                <a16:creationId xmlns:a16="http://schemas.microsoft.com/office/drawing/2014/main" id="{30AE2E8B-7D3E-B529-4CB1-41F76C3FB437}"/>
              </a:ext>
            </a:extLst>
          </p:cNvPr>
          <p:cNvSpPr>
            <a:spLocks noChangeArrowheads="1"/>
          </p:cNvSpPr>
          <p:nvPr/>
        </p:nvSpPr>
        <p:spPr bwMode="auto">
          <a:xfrm flipH="1">
            <a:off x="6806718" y="3389444"/>
            <a:ext cx="434520"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5" name="Rectangle 172">
            <a:extLst>
              <a:ext uri="{FF2B5EF4-FFF2-40B4-BE49-F238E27FC236}">
                <a16:creationId xmlns:a16="http://schemas.microsoft.com/office/drawing/2014/main" id="{9ED06B78-F117-2329-FDF8-F39DBD6C1E9D}"/>
              </a:ext>
            </a:extLst>
          </p:cNvPr>
          <p:cNvSpPr>
            <a:spLocks noChangeArrowheads="1"/>
          </p:cNvSpPr>
          <p:nvPr/>
        </p:nvSpPr>
        <p:spPr bwMode="auto">
          <a:xfrm flipH="1">
            <a:off x="6822814" y="3314541"/>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4</a:t>
            </a:r>
            <a:endParaRPr lang="en-US" altLang="zh-CN" sz="1200" b="1" dirty="0">
              <a:latin typeface="微软雅黑" panose="020B0503020204020204" pitchFamily="34" charset="-122"/>
              <a:ea typeface="微软雅黑" panose="020B0503020204020204" pitchFamily="34" charset="-122"/>
            </a:endParaRPr>
          </a:p>
        </p:txBody>
      </p:sp>
      <p:sp>
        <p:nvSpPr>
          <p:cNvPr id="156" name="Rectangle 175">
            <a:extLst>
              <a:ext uri="{FF2B5EF4-FFF2-40B4-BE49-F238E27FC236}">
                <a16:creationId xmlns:a16="http://schemas.microsoft.com/office/drawing/2014/main" id="{AAD0B289-FEBB-E421-81A1-89E2DBAA39C1}"/>
              </a:ext>
            </a:extLst>
          </p:cNvPr>
          <p:cNvSpPr>
            <a:spLocks noChangeArrowheads="1"/>
          </p:cNvSpPr>
          <p:nvPr/>
        </p:nvSpPr>
        <p:spPr bwMode="auto">
          <a:xfrm>
            <a:off x="4266449" y="1920322"/>
            <a:ext cx="535404"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IP </a:t>
            </a:r>
            <a:r>
              <a:rPr lang="zh-CN" altLang="en-US" sz="1200" b="1">
                <a:latin typeface="微软雅黑" panose="020B0503020204020204" pitchFamily="34" charset="-122"/>
                <a:ea typeface="微软雅黑" panose="020B0503020204020204" pitchFamily="34" charset="-122"/>
              </a:rPr>
              <a:t>层</a:t>
            </a:r>
          </a:p>
        </p:txBody>
      </p:sp>
      <p:sp>
        <p:nvSpPr>
          <p:cNvPr id="159" name="Freeform 99">
            <a:extLst>
              <a:ext uri="{FF2B5EF4-FFF2-40B4-BE49-F238E27FC236}">
                <a16:creationId xmlns:a16="http://schemas.microsoft.com/office/drawing/2014/main" id="{06FB8A86-BEAC-AF8B-8092-A8952F27D392}"/>
              </a:ext>
            </a:extLst>
          </p:cNvPr>
          <p:cNvSpPr>
            <a:spLocks/>
          </p:cNvSpPr>
          <p:nvPr/>
        </p:nvSpPr>
        <p:spPr bwMode="auto">
          <a:xfrm>
            <a:off x="2461521" y="1405474"/>
            <a:ext cx="225307" cy="66462"/>
          </a:xfrm>
          <a:custGeom>
            <a:avLst/>
            <a:gdLst>
              <a:gd name="T0" fmla="*/ 2147483647 w 174"/>
              <a:gd name="T1" fmla="*/ 0 h 84"/>
              <a:gd name="T2" fmla="*/ 0 w 174"/>
              <a:gd name="T3" fmla="*/ 2147483647 h 84"/>
              <a:gd name="T4" fmla="*/ 0 60000 65536"/>
              <a:gd name="T5" fmla="*/ 0 60000 65536"/>
              <a:gd name="T6" fmla="*/ 0 w 174"/>
              <a:gd name="T7" fmla="*/ 0 h 84"/>
              <a:gd name="T8" fmla="*/ 174 w 174"/>
              <a:gd name="T9" fmla="*/ 84 h 84"/>
            </a:gdLst>
            <a:ahLst/>
            <a:cxnLst>
              <a:cxn ang="T4">
                <a:pos x="T0" y="T1"/>
              </a:cxn>
              <a:cxn ang="T5">
                <a:pos x="T2" y="T3"/>
              </a:cxn>
            </a:cxnLst>
            <a:rect l="T6" t="T7" r="T8" b="T9"/>
            <a:pathLst>
              <a:path w="174" h="84">
                <a:moveTo>
                  <a:pt x="174" y="0"/>
                </a:moveTo>
                <a:lnTo>
                  <a:pt x="0" y="84"/>
                </a:lnTo>
              </a:path>
            </a:pathLst>
          </a:custGeom>
          <a:noFill/>
          <a:ln w="12700">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0" name="Oval 131">
            <a:extLst>
              <a:ext uri="{FF2B5EF4-FFF2-40B4-BE49-F238E27FC236}">
                <a16:creationId xmlns:a16="http://schemas.microsoft.com/office/drawing/2014/main" id="{DB32FD74-F8F4-81F6-01E7-61AEC08B1B61}"/>
              </a:ext>
            </a:extLst>
          </p:cNvPr>
          <p:cNvSpPr>
            <a:spLocks noChangeArrowheads="1"/>
          </p:cNvSpPr>
          <p:nvPr/>
        </p:nvSpPr>
        <p:spPr bwMode="auto">
          <a:xfrm>
            <a:off x="1576388" y="1355862"/>
            <a:ext cx="434519" cy="163815"/>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1" name="Rectangle 132">
            <a:extLst>
              <a:ext uri="{FF2B5EF4-FFF2-40B4-BE49-F238E27FC236}">
                <a16:creationId xmlns:a16="http://schemas.microsoft.com/office/drawing/2014/main" id="{244F3A0F-1991-6C5C-6992-23C5CF380188}"/>
              </a:ext>
            </a:extLst>
          </p:cNvPr>
          <p:cNvSpPr>
            <a:spLocks noChangeArrowheads="1"/>
          </p:cNvSpPr>
          <p:nvPr/>
        </p:nvSpPr>
        <p:spPr bwMode="auto">
          <a:xfrm>
            <a:off x="1608575" y="1301843"/>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grpSp>
        <p:nvGrpSpPr>
          <p:cNvPr id="162" name="Group 197">
            <a:extLst>
              <a:ext uri="{FF2B5EF4-FFF2-40B4-BE49-F238E27FC236}">
                <a16:creationId xmlns:a16="http://schemas.microsoft.com/office/drawing/2014/main" id="{6F95C330-2B90-ED00-5736-D357F282B99D}"/>
              </a:ext>
            </a:extLst>
          </p:cNvPr>
          <p:cNvGrpSpPr>
            <a:grpSpLocks/>
          </p:cNvGrpSpPr>
          <p:nvPr/>
        </p:nvGrpSpPr>
        <p:grpSpPr bwMode="auto">
          <a:xfrm>
            <a:off x="2045571" y="1370790"/>
            <a:ext cx="481751" cy="274572"/>
            <a:chOff x="798" y="803"/>
            <a:chExt cx="408" cy="345"/>
          </a:xfrm>
          <a:solidFill>
            <a:schemeClr val="accent6">
              <a:lumMod val="75000"/>
            </a:schemeClr>
          </a:solidFill>
        </p:grpSpPr>
        <p:sp>
          <p:nvSpPr>
            <p:cNvPr id="163" name="Oval 128">
              <a:extLst>
                <a:ext uri="{FF2B5EF4-FFF2-40B4-BE49-F238E27FC236}">
                  <a16:creationId xmlns:a16="http://schemas.microsoft.com/office/drawing/2014/main" id="{2546F264-087D-4F3E-30F7-4291669B9556}"/>
                </a:ext>
              </a:extLst>
            </p:cNvPr>
            <p:cNvSpPr>
              <a:spLocks noChangeArrowheads="1"/>
            </p:cNvSpPr>
            <p:nvPr/>
          </p:nvSpPr>
          <p:spPr bwMode="auto">
            <a:xfrm>
              <a:off x="798" y="849"/>
              <a:ext cx="368" cy="204"/>
            </a:xfrm>
            <a:prstGeom prst="ellipse">
              <a:avLst/>
            </a:prstGeom>
            <a:grp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4" name="Rectangle 129">
              <a:extLst>
                <a:ext uri="{FF2B5EF4-FFF2-40B4-BE49-F238E27FC236}">
                  <a16:creationId xmlns:a16="http://schemas.microsoft.com/office/drawing/2014/main" id="{6BA9181F-98F0-E285-AAF4-E350974C4DFA}"/>
                </a:ext>
              </a:extLst>
            </p:cNvPr>
            <p:cNvSpPr>
              <a:spLocks noChangeArrowheads="1"/>
            </p:cNvSpPr>
            <p:nvPr/>
          </p:nvSpPr>
          <p:spPr bwMode="auto">
            <a:xfrm>
              <a:off x="815" y="803"/>
              <a:ext cx="391" cy="34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2</a:t>
              </a:r>
              <a:endParaRPr lang="en-US" altLang="zh-CN" sz="1200" b="1" dirty="0">
                <a:latin typeface="微软雅黑" panose="020B0503020204020204" pitchFamily="34" charset="-122"/>
                <a:ea typeface="微软雅黑" panose="020B0503020204020204" pitchFamily="34" charset="-122"/>
              </a:endParaRPr>
            </a:p>
          </p:txBody>
        </p:sp>
      </p:grpSp>
      <p:sp>
        <p:nvSpPr>
          <p:cNvPr id="165" name="Rectangle 139">
            <a:extLst>
              <a:ext uri="{FF2B5EF4-FFF2-40B4-BE49-F238E27FC236}">
                <a16:creationId xmlns:a16="http://schemas.microsoft.com/office/drawing/2014/main" id="{088F7C3D-9605-46DC-5EFC-76CFDF9DF44B}"/>
              </a:ext>
            </a:extLst>
          </p:cNvPr>
          <p:cNvSpPr>
            <a:spLocks noChangeArrowheads="1"/>
          </p:cNvSpPr>
          <p:nvPr/>
        </p:nvSpPr>
        <p:spPr bwMode="auto">
          <a:xfrm>
            <a:off x="7003552" y="1321501"/>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4</a:t>
            </a:r>
            <a:endParaRPr lang="en-US" altLang="zh-CN" sz="1200" b="1">
              <a:latin typeface="微软雅黑" panose="020B0503020204020204" pitchFamily="34" charset="-122"/>
              <a:ea typeface="微软雅黑" panose="020B0503020204020204" pitchFamily="34" charset="-122"/>
            </a:endParaRPr>
          </a:p>
        </p:txBody>
      </p:sp>
      <p:sp>
        <p:nvSpPr>
          <p:cNvPr id="166" name="Oval 135">
            <a:extLst>
              <a:ext uri="{FF2B5EF4-FFF2-40B4-BE49-F238E27FC236}">
                <a16:creationId xmlns:a16="http://schemas.microsoft.com/office/drawing/2014/main" id="{77C952DE-820F-2775-734E-6920137D08C1}"/>
              </a:ext>
            </a:extLst>
          </p:cNvPr>
          <p:cNvSpPr>
            <a:spLocks noChangeArrowheads="1"/>
          </p:cNvSpPr>
          <p:nvPr/>
        </p:nvSpPr>
        <p:spPr bwMode="auto">
          <a:xfrm>
            <a:off x="6555415" y="1427004"/>
            <a:ext cx="433282"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7" name="Rectangle 136">
            <a:extLst>
              <a:ext uri="{FF2B5EF4-FFF2-40B4-BE49-F238E27FC236}">
                <a16:creationId xmlns:a16="http://schemas.microsoft.com/office/drawing/2014/main" id="{69D18E5F-5D3A-E089-6E36-97C83FCF7128}"/>
              </a:ext>
            </a:extLst>
          </p:cNvPr>
          <p:cNvSpPr>
            <a:spLocks noChangeArrowheads="1"/>
          </p:cNvSpPr>
          <p:nvPr/>
        </p:nvSpPr>
        <p:spPr bwMode="auto">
          <a:xfrm>
            <a:off x="6572747" y="1382346"/>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3</a:t>
            </a:r>
            <a:endParaRPr lang="en-US" altLang="zh-CN" sz="1200" b="1">
              <a:latin typeface="微软雅黑" panose="020B0503020204020204" pitchFamily="34" charset="-122"/>
              <a:ea typeface="微软雅黑" panose="020B0503020204020204" pitchFamily="34" charset="-122"/>
            </a:endParaRPr>
          </a:p>
        </p:txBody>
      </p:sp>
      <p:sp>
        <p:nvSpPr>
          <p:cNvPr id="169" name="Line 233">
            <a:extLst>
              <a:ext uri="{FF2B5EF4-FFF2-40B4-BE49-F238E27FC236}">
                <a16:creationId xmlns:a16="http://schemas.microsoft.com/office/drawing/2014/main" id="{4D3D2597-D16D-D783-609C-F6616C40C2B5}"/>
              </a:ext>
            </a:extLst>
          </p:cNvPr>
          <p:cNvSpPr>
            <a:spLocks noChangeShapeType="1"/>
          </p:cNvSpPr>
          <p:nvPr/>
        </p:nvSpPr>
        <p:spPr bwMode="auto">
          <a:xfrm>
            <a:off x="2537036" y="3756101"/>
            <a:ext cx="3962671" cy="0"/>
          </a:xfrm>
          <a:prstGeom prst="line">
            <a:avLst/>
          </a:prstGeom>
          <a:noFill/>
          <a:ln w="19050">
            <a:solidFill>
              <a:srgbClr val="0000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0" name="Line 234">
            <a:extLst>
              <a:ext uri="{FF2B5EF4-FFF2-40B4-BE49-F238E27FC236}">
                <a16:creationId xmlns:a16="http://schemas.microsoft.com/office/drawing/2014/main" id="{B1A6AA76-AA98-382C-400F-E3A5723DB034}"/>
              </a:ext>
            </a:extLst>
          </p:cNvPr>
          <p:cNvSpPr>
            <a:spLocks noChangeShapeType="1"/>
          </p:cNvSpPr>
          <p:nvPr/>
        </p:nvSpPr>
        <p:spPr bwMode="auto">
          <a:xfrm>
            <a:off x="2537036" y="3603518"/>
            <a:ext cx="0" cy="267721"/>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1" name="Line 235">
            <a:extLst>
              <a:ext uri="{FF2B5EF4-FFF2-40B4-BE49-F238E27FC236}">
                <a16:creationId xmlns:a16="http://schemas.microsoft.com/office/drawing/2014/main" id="{3FDD1684-24C6-8090-70C0-3A78225B5F79}"/>
              </a:ext>
            </a:extLst>
          </p:cNvPr>
          <p:cNvSpPr>
            <a:spLocks noChangeShapeType="1"/>
          </p:cNvSpPr>
          <p:nvPr/>
        </p:nvSpPr>
        <p:spPr bwMode="auto">
          <a:xfrm>
            <a:off x="6502183" y="3603518"/>
            <a:ext cx="0" cy="267721"/>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2" name="Rectangle 236">
            <a:extLst>
              <a:ext uri="{FF2B5EF4-FFF2-40B4-BE49-F238E27FC236}">
                <a16:creationId xmlns:a16="http://schemas.microsoft.com/office/drawing/2014/main" id="{2A8123DA-15BB-ADC5-8839-FA9875E25FE0}"/>
              </a:ext>
            </a:extLst>
          </p:cNvPr>
          <p:cNvSpPr>
            <a:spLocks noChangeArrowheads="1"/>
          </p:cNvSpPr>
          <p:nvPr/>
        </p:nvSpPr>
        <p:spPr bwMode="auto">
          <a:xfrm>
            <a:off x="3208004" y="3621745"/>
            <a:ext cx="2491068" cy="274434"/>
          </a:xfrm>
          <a:prstGeom prst="rect">
            <a:avLst/>
          </a:prstGeom>
          <a:solidFill>
            <a:srgbClr val="C3E3F9"/>
          </a:solidFill>
          <a:ln>
            <a:noFill/>
          </a:ln>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网络层为主机之间的通信提供服务</a:t>
            </a:r>
          </a:p>
        </p:txBody>
      </p:sp>
      <p:sp>
        <p:nvSpPr>
          <p:cNvPr id="173" name="Line 237">
            <a:extLst>
              <a:ext uri="{FF2B5EF4-FFF2-40B4-BE49-F238E27FC236}">
                <a16:creationId xmlns:a16="http://schemas.microsoft.com/office/drawing/2014/main" id="{B7FAD92F-97D3-A380-14F0-DB678CCF1D81}"/>
              </a:ext>
            </a:extLst>
          </p:cNvPr>
          <p:cNvSpPr>
            <a:spLocks noChangeShapeType="1"/>
          </p:cNvSpPr>
          <p:nvPr/>
        </p:nvSpPr>
        <p:spPr bwMode="auto">
          <a:xfrm flipH="1">
            <a:off x="2282019" y="3455617"/>
            <a:ext cx="3713" cy="686151"/>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4" name="Line 238">
            <a:extLst>
              <a:ext uri="{FF2B5EF4-FFF2-40B4-BE49-F238E27FC236}">
                <a16:creationId xmlns:a16="http://schemas.microsoft.com/office/drawing/2014/main" id="{F681DFCC-7ADB-27D4-35F3-A8A9AC2C3978}"/>
              </a:ext>
            </a:extLst>
          </p:cNvPr>
          <p:cNvSpPr>
            <a:spLocks noChangeShapeType="1"/>
          </p:cNvSpPr>
          <p:nvPr/>
        </p:nvSpPr>
        <p:spPr bwMode="auto">
          <a:xfrm flipH="1">
            <a:off x="6689114" y="3449064"/>
            <a:ext cx="0" cy="651516"/>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5" name="Line 239">
            <a:extLst>
              <a:ext uri="{FF2B5EF4-FFF2-40B4-BE49-F238E27FC236}">
                <a16:creationId xmlns:a16="http://schemas.microsoft.com/office/drawing/2014/main" id="{4679F598-F5AD-31A3-E540-45B1B9B3E8EF}"/>
              </a:ext>
            </a:extLst>
          </p:cNvPr>
          <p:cNvSpPr>
            <a:spLocks noChangeShapeType="1"/>
          </p:cNvSpPr>
          <p:nvPr/>
        </p:nvSpPr>
        <p:spPr bwMode="auto">
          <a:xfrm flipV="1">
            <a:off x="2296874" y="4023821"/>
            <a:ext cx="4395953" cy="2808"/>
          </a:xfrm>
          <a:prstGeom prst="line">
            <a:avLst/>
          </a:prstGeom>
          <a:noFill/>
          <a:ln w="19050">
            <a:solidFill>
              <a:srgbClr val="9900FF"/>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6" name="Rectangle 240">
            <a:extLst>
              <a:ext uri="{FF2B5EF4-FFF2-40B4-BE49-F238E27FC236}">
                <a16:creationId xmlns:a16="http://schemas.microsoft.com/office/drawing/2014/main" id="{C82DAC32-9628-7645-5EE8-E7456CCBB72A}"/>
              </a:ext>
            </a:extLst>
          </p:cNvPr>
          <p:cNvSpPr>
            <a:spLocks noChangeArrowheads="1"/>
          </p:cNvSpPr>
          <p:nvPr/>
        </p:nvSpPr>
        <p:spPr bwMode="auto">
          <a:xfrm>
            <a:off x="3039643" y="3892879"/>
            <a:ext cx="2952732" cy="274434"/>
          </a:xfrm>
          <a:prstGeom prst="rect">
            <a:avLst/>
          </a:prstGeom>
          <a:solidFill>
            <a:srgbClr val="C3E3F9"/>
          </a:solidFill>
          <a:ln>
            <a:noFill/>
          </a:ln>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传输层为应用层进程之间的通信提供服务</a:t>
            </a:r>
          </a:p>
        </p:txBody>
      </p:sp>
      <p:pic>
        <p:nvPicPr>
          <p:cNvPr id="177" name="Picture 242">
            <a:extLst>
              <a:ext uri="{FF2B5EF4-FFF2-40B4-BE49-F238E27FC236}">
                <a16:creationId xmlns:a16="http://schemas.microsoft.com/office/drawing/2014/main" id="{73BF7005-CB34-A75E-84AC-A81E4D20A122}"/>
              </a:ext>
            </a:extLst>
          </p:cNvPr>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24073" y="3240317"/>
            <a:ext cx="497655" cy="22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78" name="Rectangle 244">
            <a:extLst>
              <a:ext uri="{FF2B5EF4-FFF2-40B4-BE49-F238E27FC236}">
                <a16:creationId xmlns:a16="http://schemas.microsoft.com/office/drawing/2014/main" id="{757DFF10-DD71-3448-A2D3-8D733E84E590}"/>
              </a:ext>
            </a:extLst>
          </p:cNvPr>
          <p:cNvSpPr>
            <a:spLocks noChangeArrowheads="1"/>
          </p:cNvSpPr>
          <p:nvPr/>
        </p:nvSpPr>
        <p:spPr bwMode="auto">
          <a:xfrm>
            <a:off x="1354795" y="1070067"/>
            <a:ext cx="13144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solidFill>
                  <a:srgbClr val="0000FF"/>
                </a:solidFill>
                <a:latin typeface="微软雅黑" panose="020B0503020204020204" pitchFamily="34" charset="-122"/>
                <a:ea typeface="微软雅黑" panose="020B0503020204020204" pitchFamily="34" charset="-122"/>
              </a:rPr>
              <a:t>主机 </a:t>
            </a:r>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的协议栈</a:t>
            </a:r>
          </a:p>
        </p:txBody>
      </p:sp>
      <p:sp>
        <p:nvSpPr>
          <p:cNvPr id="179" name="Rectangle 245">
            <a:extLst>
              <a:ext uri="{FF2B5EF4-FFF2-40B4-BE49-F238E27FC236}">
                <a16:creationId xmlns:a16="http://schemas.microsoft.com/office/drawing/2014/main" id="{65F2202E-871D-1502-2476-23CC004F2587}"/>
              </a:ext>
            </a:extLst>
          </p:cNvPr>
          <p:cNvSpPr>
            <a:spLocks noChangeArrowheads="1"/>
          </p:cNvSpPr>
          <p:nvPr/>
        </p:nvSpPr>
        <p:spPr bwMode="auto">
          <a:xfrm>
            <a:off x="6358581" y="1070067"/>
            <a:ext cx="1304845"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solidFill>
                  <a:srgbClr val="0000FF"/>
                </a:solidFill>
                <a:latin typeface="微软雅黑" panose="020B0503020204020204" pitchFamily="34" charset="-122"/>
                <a:ea typeface="微软雅黑" panose="020B0503020204020204" pitchFamily="34" charset="-122"/>
              </a:rPr>
              <a:t>主机 </a:t>
            </a:r>
            <a:r>
              <a:rPr lang="en-US" altLang="zh-CN" sz="1200" b="1">
                <a:solidFill>
                  <a:srgbClr val="0000FF"/>
                </a:solidFill>
                <a:latin typeface="微软雅黑" panose="020B0503020204020204" pitchFamily="34" charset="-122"/>
                <a:ea typeface="微软雅黑" panose="020B0503020204020204" pitchFamily="34" charset="-122"/>
              </a:rPr>
              <a:t>B </a:t>
            </a:r>
            <a:r>
              <a:rPr lang="zh-CN" altLang="en-US" sz="1200" b="1">
                <a:solidFill>
                  <a:srgbClr val="0000FF"/>
                </a:solidFill>
                <a:latin typeface="微软雅黑" panose="020B0503020204020204" pitchFamily="34" charset="-122"/>
                <a:ea typeface="微软雅黑" panose="020B0503020204020204" pitchFamily="34" charset="-122"/>
              </a:rPr>
              <a:t>的协议栈</a:t>
            </a:r>
          </a:p>
        </p:txBody>
      </p:sp>
      <p:sp>
        <p:nvSpPr>
          <p:cNvPr id="190" name="椭圆 85">
            <a:extLst>
              <a:ext uri="{FF2B5EF4-FFF2-40B4-BE49-F238E27FC236}">
                <a16:creationId xmlns:a16="http://schemas.microsoft.com/office/drawing/2014/main" id="{1468E0AF-BC9A-C82B-075D-133494FC77E6}"/>
              </a:ext>
            </a:extLst>
          </p:cNvPr>
          <p:cNvSpPr>
            <a:spLocks noChangeArrowheads="1"/>
          </p:cNvSpPr>
          <p:nvPr/>
        </p:nvSpPr>
        <p:spPr bwMode="auto">
          <a:xfrm>
            <a:off x="6661879" y="3400928"/>
            <a:ext cx="56946"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91" name="椭圆 85">
            <a:extLst>
              <a:ext uri="{FF2B5EF4-FFF2-40B4-BE49-F238E27FC236}">
                <a16:creationId xmlns:a16="http://schemas.microsoft.com/office/drawing/2014/main" id="{4F334BE4-4C40-6A19-C4B3-FDB7B5F998BF}"/>
              </a:ext>
            </a:extLst>
          </p:cNvPr>
          <p:cNvSpPr>
            <a:spLocks noChangeArrowheads="1"/>
          </p:cNvSpPr>
          <p:nvPr/>
        </p:nvSpPr>
        <p:spPr bwMode="auto">
          <a:xfrm>
            <a:off x="6660640" y="3264655"/>
            <a:ext cx="56946"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92" name="椭圆 85">
            <a:extLst>
              <a:ext uri="{FF2B5EF4-FFF2-40B4-BE49-F238E27FC236}">
                <a16:creationId xmlns:a16="http://schemas.microsoft.com/office/drawing/2014/main" id="{578BC3DD-5493-AA94-EB73-41593D9DF026}"/>
              </a:ext>
            </a:extLst>
          </p:cNvPr>
          <p:cNvSpPr>
            <a:spLocks noChangeArrowheads="1"/>
          </p:cNvSpPr>
          <p:nvPr/>
        </p:nvSpPr>
        <p:spPr bwMode="auto">
          <a:xfrm>
            <a:off x="2256021" y="3396644"/>
            <a:ext cx="56946"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93" name="椭圆 85">
            <a:extLst>
              <a:ext uri="{FF2B5EF4-FFF2-40B4-BE49-F238E27FC236}">
                <a16:creationId xmlns:a16="http://schemas.microsoft.com/office/drawing/2014/main" id="{74F303BC-44C7-AB42-1817-789F5F8E4AC8}"/>
              </a:ext>
            </a:extLst>
          </p:cNvPr>
          <p:cNvSpPr>
            <a:spLocks noChangeArrowheads="1"/>
          </p:cNvSpPr>
          <p:nvPr/>
        </p:nvSpPr>
        <p:spPr bwMode="auto">
          <a:xfrm>
            <a:off x="2262211" y="3262783"/>
            <a:ext cx="56946"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grpSp>
        <p:nvGrpSpPr>
          <p:cNvPr id="194" name="Group 44">
            <a:extLst>
              <a:ext uri="{FF2B5EF4-FFF2-40B4-BE49-F238E27FC236}">
                <a16:creationId xmlns:a16="http://schemas.microsoft.com/office/drawing/2014/main" id="{27D23A28-0AA8-0B4B-D0EA-3CB3CAAFEC6D}"/>
              </a:ext>
            </a:extLst>
          </p:cNvPr>
          <p:cNvGrpSpPr>
            <a:grpSpLocks/>
          </p:cNvGrpSpPr>
          <p:nvPr/>
        </p:nvGrpSpPr>
        <p:grpSpPr bwMode="auto">
          <a:xfrm>
            <a:off x="2680600" y="3199066"/>
            <a:ext cx="628600" cy="277145"/>
            <a:chOff x="1776" y="2768"/>
            <a:chExt cx="1824" cy="736"/>
          </a:xfrm>
          <a:solidFill>
            <a:srgbClr val="FFFF66"/>
          </a:solidFill>
          <a:effectLst>
            <a:outerShdw blurRad="50800" dist="38100" dir="2700000" algn="tl" rotWithShape="0">
              <a:prstClr val="black">
                <a:alpha val="40000"/>
              </a:prstClr>
            </a:outerShdw>
          </a:effectLst>
        </p:grpSpPr>
        <p:grpSp>
          <p:nvGrpSpPr>
            <p:cNvPr id="195" name="Group 45">
              <a:extLst>
                <a:ext uri="{FF2B5EF4-FFF2-40B4-BE49-F238E27FC236}">
                  <a16:creationId xmlns:a16="http://schemas.microsoft.com/office/drawing/2014/main" id="{9DD7776B-F032-9FC2-644F-594F954C0844}"/>
                </a:ext>
              </a:extLst>
            </p:cNvPr>
            <p:cNvGrpSpPr>
              <a:grpSpLocks/>
            </p:cNvGrpSpPr>
            <p:nvPr/>
          </p:nvGrpSpPr>
          <p:grpSpPr bwMode="auto">
            <a:xfrm>
              <a:off x="1787" y="2783"/>
              <a:ext cx="1813" cy="721"/>
              <a:chOff x="1787" y="2783"/>
              <a:chExt cx="1813" cy="721"/>
            </a:xfrm>
            <a:grpFill/>
          </p:grpSpPr>
          <p:sp>
            <p:nvSpPr>
              <p:cNvPr id="205" name="Oval 46">
                <a:extLst>
                  <a:ext uri="{FF2B5EF4-FFF2-40B4-BE49-F238E27FC236}">
                    <a16:creationId xmlns:a16="http://schemas.microsoft.com/office/drawing/2014/main" id="{A06B789C-67DE-13D8-B29B-BB64D74CB14A}"/>
                  </a:ext>
                </a:extLst>
              </p:cNvPr>
              <p:cNvSpPr>
                <a:spLocks noChangeArrowheads="1"/>
              </p:cNvSpPr>
              <p:nvPr/>
            </p:nvSpPr>
            <p:spPr bwMode="auto">
              <a:xfrm>
                <a:off x="2413" y="2783"/>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6" name="Oval 47">
                <a:extLst>
                  <a:ext uri="{FF2B5EF4-FFF2-40B4-BE49-F238E27FC236}">
                    <a16:creationId xmlns:a16="http://schemas.microsoft.com/office/drawing/2014/main" id="{B5530139-DDCE-2FBB-257D-58FEDFA387D7}"/>
                  </a:ext>
                </a:extLst>
              </p:cNvPr>
              <p:cNvSpPr>
                <a:spLocks noChangeArrowheads="1"/>
              </p:cNvSpPr>
              <p:nvPr/>
            </p:nvSpPr>
            <p:spPr bwMode="auto">
              <a:xfrm>
                <a:off x="1974" y="2863"/>
                <a:ext cx="593"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7" name="Oval 48">
                <a:extLst>
                  <a:ext uri="{FF2B5EF4-FFF2-40B4-BE49-F238E27FC236}">
                    <a16:creationId xmlns:a16="http://schemas.microsoft.com/office/drawing/2014/main" id="{A60A1801-8816-1ABB-E279-05A42D71738E}"/>
                  </a:ext>
                </a:extLst>
              </p:cNvPr>
              <p:cNvSpPr>
                <a:spLocks noChangeArrowheads="1"/>
              </p:cNvSpPr>
              <p:nvPr/>
            </p:nvSpPr>
            <p:spPr bwMode="auto">
              <a:xfrm>
                <a:off x="1787" y="3045"/>
                <a:ext cx="396" cy="23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8" name="Oval 49">
                <a:extLst>
                  <a:ext uri="{FF2B5EF4-FFF2-40B4-BE49-F238E27FC236}">
                    <a16:creationId xmlns:a16="http://schemas.microsoft.com/office/drawing/2014/main" id="{EEADE5D9-0A80-5DAF-1429-8A0DE0808FAA}"/>
                  </a:ext>
                </a:extLst>
              </p:cNvPr>
              <p:cNvSpPr>
                <a:spLocks noChangeArrowheads="1"/>
              </p:cNvSpPr>
              <p:nvPr/>
            </p:nvSpPr>
            <p:spPr bwMode="auto">
              <a:xfrm>
                <a:off x="1908" y="3154"/>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9" name="Oval 50">
                <a:extLst>
                  <a:ext uri="{FF2B5EF4-FFF2-40B4-BE49-F238E27FC236}">
                    <a16:creationId xmlns:a16="http://schemas.microsoft.com/office/drawing/2014/main" id="{E57887A8-6389-E584-BCA2-19E449CF29D9}"/>
                  </a:ext>
                </a:extLst>
              </p:cNvPr>
              <p:cNvSpPr>
                <a:spLocks noChangeArrowheads="1"/>
              </p:cNvSpPr>
              <p:nvPr/>
            </p:nvSpPr>
            <p:spPr bwMode="auto">
              <a:xfrm>
                <a:off x="2347" y="3198"/>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0" name="Oval 51">
                <a:extLst>
                  <a:ext uri="{FF2B5EF4-FFF2-40B4-BE49-F238E27FC236}">
                    <a16:creationId xmlns:a16="http://schemas.microsoft.com/office/drawing/2014/main" id="{5A0F4727-8FD0-ED19-187B-A21AF5BC3359}"/>
                  </a:ext>
                </a:extLst>
              </p:cNvPr>
              <p:cNvSpPr>
                <a:spLocks noChangeArrowheads="1"/>
              </p:cNvSpPr>
              <p:nvPr/>
            </p:nvSpPr>
            <p:spPr bwMode="auto">
              <a:xfrm>
                <a:off x="2941" y="2870"/>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1" name="Oval 52">
                <a:extLst>
                  <a:ext uri="{FF2B5EF4-FFF2-40B4-BE49-F238E27FC236}">
                    <a16:creationId xmlns:a16="http://schemas.microsoft.com/office/drawing/2014/main" id="{F0ED567F-F48B-64FF-383B-EF51CC06265F}"/>
                  </a:ext>
                </a:extLst>
              </p:cNvPr>
              <p:cNvSpPr>
                <a:spLocks noChangeArrowheads="1"/>
              </p:cNvSpPr>
              <p:nvPr/>
            </p:nvSpPr>
            <p:spPr bwMode="auto">
              <a:xfrm>
                <a:off x="3029" y="3023"/>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2" name="Oval 53">
                <a:extLst>
                  <a:ext uri="{FF2B5EF4-FFF2-40B4-BE49-F238E27FC236}">
                    <a16:creationId xmlns:a16="http://schemas.microsoft.com/office/drawing/2014/main" id="{F5A9A5FA-647B-A8B3-BF7D-4FDE9BB169A0}"/>
                  </a:ext>
                </a:extLst>
              </p:cNvPr>
              <p:cNvSpPr>
                <a:spLocks noChangeArrowheads="1"/>
              </p:cNvSpPr>
              <p:nvPr/>
            </p:nvSpPr>
            <p:spPr bwMode="auto">
              <a:xfrm>
                <a:off x="2974" y="3074"/>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3" name="Oval 54">
                <a:extLst>
                  <a:ext uri="{FF2B5EF4-FFF2-40B4-BE49-F238E27FC236}">
                    <a16:creationId xmlns:a16="http://schemas.microsoft.com/office/drawing/2014/main" id="{9FF21B30-DB96-A198-CB32-E773F30824A5}"/>
                  </a:ext>
                </a:extLst>
              </p:cNvPr>
              <p:cNvSpPr>
                <a:spLocks noChangeArrowheads="1"/>
              </p:cNvSpPr>
              <p:nvPr/>
            </p:nvSpPr>
            <p:spPr bwMode="auto">
              <a:xfrm>
                <a:off x="2117" y="2957"/>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sp>
          <p:nvSpPr>
            <p:cNvPr id="196" name="Oval 55">
              <a:extLst>
                <a:ext uri="{FF2B5EF4-FFF2-40B4-BE49-F238E27FC236}">
                  <a16:creationId xmlns:a16="http://schemas.microsoft.com/office/drawing/2014/main" id="{F7C20CBB-C95C-F48B-BD2B-5C4A190A542E}"/>
                </a:ext>
              </a:extLst>
            </p:cNvPr>
            <p:cNvSpPr>
              <a:spLocks noChangeArrowheads="1"/>
            </p:cNvSpPr>
            <p:nvPr/>
          </p:nvSpPr>
          <p:spPr bwMode="auto">
            <a:xfrm>
              <a:off x="2402" y="2768"/>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97" name="Oval 56">
              <a:extLst>
                <a:ext uri="{FF2B5EF4-FFF2-40B4-BE49-F238E27FC236}">
                  <a16:creationId xmlns:a16="http://schemas.microsoft.com/office/drawing/2014/main" id="{F9F37D84-B575-F369-0B1B-EE0B6ABEB5BB}"/>
                </a:ext>
              </a:extLst>
            </p:cNvPr>
            <p:cNvSpPr>
              <a:spLocks noChangeArrowheads="1"/>
            </p:cNvSpPr>
            <p:nvPr/>
          </p:nvSpPr>
          <p:spPr bwMode="auto">
            <a:xfrm>
              <a:off x="1963" y="2848"/>
              <a:ext cx="593" cy="29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98" name="Oval 57">
              <a:extLst>
                <a:ext uri="{FF2B5EF4-FFF2-40B4-BE49-F238E27FC236}">
                  <a16:creationId xmlns:a16="http://schemas.microsoft.com/office/drawing/2014/main" id="{4F0B11DF-4873-19ED-A66E-3CC8283D093A}"/>
                </a:ext>
              </a:extLst>
            </p:cNvPr>
            <p:cNvSpPr>
              <a:spLocks noChangeArrowheads="1"/>
            </p:cNvSpPr>
            <p:nvPr/>
          </p:nvSpPr>
          <p:spPr bwMode="auto">
            <a:xfrm>
              <a:off x="1776" y="3030"/>
              <a:ext cx="396" cy="23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99" name="Oval 58">
              <a:extLst>
                <a:ext uri="{FF2B5EF4-FFF2-40B4-BE49-F238E27FC236}">
                  <a16:creationId xmlns:a16="http://schemas.microsoft.com/office/drawing/2014/main" id="{47A7DF65-58FB-433D-0296-C5869650C778}"/>
                </a:ext>
              </a:extLst>
            </p:cNvPr>
            <p:cNvSpPr>
              <a:spLocks noChangeArrowheads="1"/>
            </p:cNvSpPr>
            <p:nvPr/>
          </p:nvSpPr>
          <p:spPr bwMode="auto">
            <a:xfrm>
              <a:off x="1897" y="3140"/>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0" name="Oval 59">
              <a:extLst>
                <a:ext uri="{FF2B5EF4-FFF2-40B4-BE49-F238E27FC236}">
                  <a16:creationId xmlns:a16="http://schemas.microsoft.com/office/drawing/2014/main" id="{E98556EA-BB7C-6DE2-D0B0-E2E2D49672DE}"/>
                </a:ext>
              </a:extLst>
            </p:cNvPr>
            <p:cNvSpPr>
              <a:spLocks noChangeArrowheads="1"/>
            </p:cNvSpPr>
            <p:nvPr/>
          </p:nvSpPr>
          <p:spPr bwMode="auto">
            <a:xfrm>
              <a:off x="2336" y="3183"/>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1" name="Oval 60">
              <a:extLst>
                <a:ext uri="{FF2B5EF4-FFF2-40B4-BE49-F238E27FC236}">
                  <a16:creationId xmlns:a16="http://schemas.microsoft.com/office/drawing/2014/main" id="{EF3C53D1-BCA8-E5E7-E190-BF46D4F291FD}"/>
                </a:ext>
              </a:extLst>
            </p:cNvPr>
            <p:cNvSpPr>
              <a:spLocks noChangeArrowheads="1"/>
            </p:cNvSpPr>
            <p:nvPr/>
          </p:nvSpPr>
          <p:spPr bwMode="auto">
            <a:xfrm>
              <a:off x="2930" y="2855"/>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2" name="Oval 61">
              <a:extLst>
                <a:ext uri="{FF2B5EF4-FFF2-40B4-BE49-F238E27FC236}">
                  <a16:creationId xmlns:a16="http://schemas.microsoft.com/office/drawing/2014/main" id="{95D74355-DFBD-F105-8F59-DEDA7E50FCC9}"/>
                </a:ext>
              </a:extLst>
            </p:cNvPr>
            <p:cNvSpPr>
              <a:spLocks noChangeArrowheads="1"/>
            </p:cNvSpPr>
            <p:nvPr/>
          </p:nvSpPr>
          <p:spPr bwMode="auto">
            <a:xfrm>
              <a:off x="3018" y="3008"/>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3" name="Oval 62">
              <a:extLst>
                <a:ext uri="{FF2B5EF4-FFF2-40B4-BE49-F238E27FC236}">
                  <a16:creationId xmlns:a16="http://schemas.microsoft.com/office/drawing/2014/main" id="{5761C75D-0088-5D26-83F8-76233BFC6079}"/>
                </a:ext>
              </a:extLst>
            </p:cNvPr>
            <p:cNvSpPr>
              <a:spLocks noChangeArrowheads="1"/>
            </p:cNvSpPr>
            <p:nvPr/>
          </p:nvSpPr>
          <p:spPr bwMode="auto">
            <a:xfrm>
              <a:off x="2963" y="3059"/>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4" name="Oval 63">
              <a:extLst>
                <a:ext uri="{FF2B5EF4-FFF2-40B4-BE49-F238E27FC236}">
                  <a16:creationId xmlns:a16="http://schemas.microsoft.com/office/drawing/2014/main" id="{F111273D-B870-E5CE-C7F5-37E1D83AC995}"/>
                </a:ext>
              </a:extLst>
            </p:cNvPr>
            <p:cNvSpPr>
              <a:spLocks noChangeArrowheads="1"/>
            </p:cNvSpPr>
            <p:nvPr/>
          </p:nvSpPr>
          <p:spPr bwMode="auto">
            <a:xfrm>
              <a:off x="2106" y="2943"/>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grpSp>
        <p:nvGrpSpPr>
          <p:cNvPr id="214" name="Group 44">
            <a:extLst>
              <a:ext uri="{FF2B5EF4-FFF2-40B4-BE49-F238E27FC236}">
                <a16:creationId xmlns:a16="http://schemas.microsoft.com/office/drawing/2014/main" id="{C8BD14B1-02BC-C556-FA2D-C69AC9F5CC47}"/>
              </a:ext>
            </a:extLst>
          </p:cNvPr>
          <p:cNvGrpSpPr>
            <a:grpSpLocks/>
          </p:cNvGrpSpPr>
          <p:nvPr/>
        </p:nvGrpSpPr>
        <p:grpSpPr bwMode="auto">
          <a:xfrm>
            <a:off x="4178500" y="3199066"/>
            <a:ext cx="628600" cy="277145"/>
            <a:chOff x="1776" y="2768"/>
            <a:chExt cx="1824" cy="736"/>
          </a:xfrm>
          <a:solidFill>
            <a:srgbClr val="FFFF66"/>
          </a:solidFill>
          <a:effectLst>
            <a:outerShdw blurRad="50800" dist="38100" dir="2700000" algn="tl" rotWithShape="0">
              <a:prstClr val="black">
                <a:alpha val="40000"/>
              </a:prstClr>
            </a:outerShdw>
          </a:effectLst>
        </p:grpSpPr>
        <p:grpSp>
          <p:nvGrpSpPr>
            <p:cNvPr id="215" name="Group 45">
              <a:extLst>
                <a:ext uri="{FF2B5EF4-FFF2-40B4-BE49-F238E27FC236}">
                  <a16:creationId xmlns:a16="http://schemas.microsoft.com/office/drawing/2014/main" id="{C556A91B-02F9-FB8B-BAB5-2C4956F2D7E1}"/>
                </a:ext>
              </a:extLst>
            </p:cNvPr>
            <p:cNvGrpSpPr>
              <a:grpSpLocks/>
            </p:cNvGrpSpPr>
            <p:nvPr/>
          </p:nvGrpSpPr>
          <p:grpSpPr bwMode="auto">
            <a:xfrm>
              <a:off x="1787" y="2783"/>
              <a:ext cx="1813" cy="721"/>
              <a:chOff x="1787" y="2783"/>
              <a:chExt cx="1813" cy="721"/>
            </a:xfrm>
            <a:grpFill/>
          </p:grpSpPr>
          <p:sp>
            <p:nvSpPr>
              <p:cNvPr id="225" name="Oval 46">
                <a:extLst>
                  <a:ext uri="{FF2B5EF4-FFF2-40B4-BE49-F238E27FC236}">
                    <a16:creationId xmlns:a16="http://schemas.microsoft.com/office/drawing/2014/main" id="{71062348-D6D2-7BBF-6E3D-88130FFCA1C6}"/>
                  </a:ext>
                </a:extLst>
              </p:cNvPr>
              <p:cNvSpPr>
                <a:spLocks noChangeArrowheads="1"/>
              </p:cNvSpPr>
              <p:nvPr/>
            </p:nvSpPr>
            <p:spPr bwMode="auto">
              <a:xfrm>
                <a:off x="2413" y="2783"/>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6" name="Oval 47">
                <a:extLst>
                  <a:ext uri="{FF2B5EF4-FFF2-40B4-BE49-F238E27FC236}">
                    <a16:creationId xmlns:a16="http://schemas.microsoft.com/office/drawing/2014/main" id="{F995A3AB-F2E0-F5F3-6B00-4C299E5C1F75}"/>
                  </a:ext>
                </a:extLst>
              </p:cNvPr>
              <p:cNvSpPr>
                <a:spLocks noChangeArrowheads="1"/>
              </p:cNvSpPr>
              <p:nvPr/>
            </p:nvSpPr>
            <p:spPr bwMode="auto">
              <a:xfrm>
                <a:off x="1974" y="2863"/>
                <a:ext cx="593"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7" name="Oval 48">
                <a:extLst>
                  <a:ext uri="{FF2B5EF4-FFF2-40B4-BE49-F238E27FC236}">
                    <a16:creationId xmlns:a16="http://schemas.microsoft.com/office/drawing/2014/main" id="{D2F46B4F-7B32-0C25-03A3-E306C4514958}"/>
                  </a:ext>
                </a:extLst>
              </p:cNvPr>
              <p:cNvSpPr>
                <a:spLocks noChangeArrowheads="1"/>
              </p:cNvSpPr>
              <p:nvPr/>
            </p:nvSpPr>
            <p:spPr bwMode="auto">
              <a:xfrm>
                <a:off x="1787" y="3045"/>
                <a:ext cx="396" cy="23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8" name="Oval 49">
                <a:extLst>
                  <a:ext uri="{FF2B5EF4-FFF2-40B4-BE49-F238E27FC236}">
                    <a16:creationId xmlns:a16="http://schemas.microsoft.com/office/drawing/2014/main" id="{ED19D41B-6E35-D7CD-9097-8B4AE6E8FA0C}"/>
                  </a:ext>
                </a:extLst>
              </p:cNvPr>
              <p:cNvSpPr>
                <a:spLocks noChangeArrowheads="1"/>
              </p:cNvSpPr>
              <p:nvPr/>
            </p:nvSpPr>
            <p:spPr bwMode="auto">
              <a:xfrm>
                <a:off x="1908" y="3154"/>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9" name="Oval 50">
                <a:extLst>
                  <a:ext uri="{FF2B5EF4-FFF2-40B4-BE49-F238E27FC236}">
                    <a16:creationId xmlns:a16="http://schemas.microsoft.com/office/drawing/2014/main" id="{9577B1B3-2D71-4551-C73F-5A0712211AA9}"/>
                  </a:ext>
                </a:extLst>
              </p:cNvPr>
              <p:cNvSpPr>
                <a:spLocks noChangeArrowheads="1"/>
              </p:cNvSpPr>
              <p:nvPr/>
            </p:nvSpPr>
            <p:spPr bwMode="auto">
              <a:xfrm>
                <a:off x="2347" y="3198"/>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0" name="Oval 51">
                <a:extLst>
                  <a:ext uri="{FF2B5EF4-FFF2-40B4-BE49-F238E27FC236}">
                    <a16:creationId xmlns:a16="http://schemas.microsoft.com/office/drawing/2014/main" id="{937282F6-4D07-C8FF-4425-6FC54C139856}"/>
                  </a:ext>
                </a:extLst>
              </p:cNvPr>
              <p:cNvSpPr>
                <a:spLocks noChangeArrowheads="1"/>
              </p:cNvSpPr>
              <p:nvPr/>
            </p:nvSpPr>
            <p:spPr bwMode="auto">
              <a:xfrm>
                <a:off x="2941" y="2870"/>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1" name="Oval 52">
                <a:extLst>
                  <a:ext uri="{FF2B5EF4-FFF2-40B4-BE49-F238E27FC236}">
                    <a16:creationId xmlns:a16="http://schemas.microsoft.com/office/drawing/2014/main" id="{CCBDC553-DB7A-E64C-5BB3-E744B3D7A00C}"/>
                  </a:ext>
                </a:extLst>
              </p:cNvPr>
              <p:cNvSpPr>
                <a:spLocks noChangeArrowheads="1"/>
              </p:cNvSpPr>
              <p:nvPr/>
            </p:nvSpPr>
            <p:spPr bwMode="auto">
              <a:xfrm>
                <a:off x="3029" y="3023"/>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2" name="Oval 53">
                <a:extLst>
                  <a:ext uri="{FF2B5EF4-FFF2-40B4-BE49-F238E27FC236}">
                    <a16:creationId xmlns:a16="http://schemas.microsoft.com/office/drawing/2014/main" id="{FFDD268B-3D58-0067-3A08-BCB37E0B331A}"/>
                  </a:ext>
                </a:extLst>
              </p:cNvPr>
              <p:cNvSpPr>
                <a:spLocks noChangeArrowheads="1"/>
              </p:cNvSpPr>
              <p:nvPr/>
            </p:nvSpPr>
            <p:spPr bwMode="auto">
              <a:xfrm>
                <a:off x="2974" y="3074"/>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3" name="Oval 54">
                <a:extLst>
                  <a:ext uri="{FF2B5EF4-FFF2-40B4-BE49-F238E27FC236}">
                    <a16:creationId xmlns:a16="http://schemas.microsoft.com/office/drawing/2014/main" id="{54794048-6238-F138-B354-DF17898612AC}"/>
                  </a:ext>
                </a:extLst>
              </p:cNvPr>
              <p:cNvSpPr>
                <a:spLocks noChangeArrowheads="1"/>
              </p:cNvSpPr>
              <p:nvPr/>
            </p:nvSpPr>
            <p:spPr bwMode="auto">
              <a:xfrm>
                <a:off x="2117" y="2957"/>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sp>
          <p:nvSpPr>
            <p:cNvPr id="216" name="Oval 55">
              <a:extLst>
                <a:ext uri="{FF2B5EF4-FFF2-40B4-BE49-F238E27FC236}">
                  <a16:creationId xmlns:a16="http://schemas.microsoft.com/office/drawing/2014/main" id="{84260030-52A0-6D3A-1260-2B3DCEED3D8A}"/>
                </a:ext>
              </a:extLst>
            </p:cNvPr>
            <p:cNvSpPr>
              <a:spLocks noChangeArrowheads="1"/>
            </p:cNvSpPr>
            <p:nvPr/>
          </p:nvSpPr>
          <p:spPr bwMode="auto">
            <a:xfrm>
              <a:off x="2402" y="2768"/>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7" name="Oval 56">
              <a:extLst>
                <a:ext uri="{FF2B5EF4-FFF2-40B4-BE49-F238E27FC236}">
                  <a16:creationId xmlns:a16="http://schemas.microsoft.com/office/drawing/2014/main" id="{2349E5FF-C8CE-4104-6E5A-045A2EB2D2BA}"/>
                </a:ext>
              </a:extLst>
            </p:cNvPr>
            <p:cNvSpPr>
              <a:spLocks noChangeArrowheads="1"/>
            </p:cNvSpPr>
            <p:nvPr/>
          </p:nvSpPr>
          <p:spPr bwMode="auto">
            <a:xfrm>
              <a:off x="1963" y="2848"/>
              <a:ext cx="593" cy="29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8" name="Oval 57">
              <a:extLst>
                <a:ext uri="{FF2B5EF4-FFF2-40B4-BE49-F238E27FC236}">
                  <a16:creationId xmlns:a16="http://schemas.microsoft.com/office/drawing/2014/main" id="{9F912365-05EC-01D7-8B8B-251EEB22174B}"/>
                </a:ext>
              </a:extLst>
            </p:cNvPr>
            <p:cNvSpPr>
              <a:spLocks noChangeArrowheads="1"/>
            </p:cNvSpPr>
            <p:nvPr/>
          </p:nvSpPr>
          <p:spPr bwMode="auto">
            <a:xfrm>
              <a:off x="1776" y="3030"/>
              <a:ext cx="396" cy="23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9" name="Oval 58">
              <a:extLst>
                <a:ext uri="{FF2B5EF4-FFF2-40B4-BE49-F238E27FC236}">
                  <a16:creationId xmlns:a16="http://schemas.microsoft.com/office/drawing/2014/main" id="{65268221-B8B9-09D6-9347-97E70A43B137}"/>
                </a:ext>
              </a:extLst>
            </p:cNvPr>
            <p:cNvSpPr>
              <a:spLocks noChangeArrowheads="1"/>
            </p:cNvSpPr>
            <p:nvPr/>
          </p:nvSpPr>
          <p:spPr bwMode="auto">
            <a:xfrm>
              <a:off x="1897" y="3140"/>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0" name="Oval 59">
              <a:extLst>
                <a:ext uri="{FF2B5EF4-FFF2-40B4-BE49-F238E27FC236}">
                  <a16:creationId xmlns:a16="http://schemas.microsoft.com/office/drawing/2014/main" id="{71D229B8-B66B-DC76-25EA-22C9D720EEEC}"/>
                </a:ext>
              </a:extLst>
            </p:cNvPr>
            <p:cNvSpPr>
              <a:spLocks noChangeArrowheads="1"/>
            </p:cNvSpPr>
            <p:nvPr/>
          </p:nvSpPr>
          <p:spPr bwMode="auto">
            <a:xfrm>
              <a:off x="2336" y="3183"/>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1" name="Oval 60">
              <a:extLst>
                <a:ext uri="{FF2B5EF4-FFF2-40B4-BE49-F238E27FC236}">
                  <a16:creationId xmlns:a16="http://schemas.microsoft.com/office/drawing/2014/main" id="{42432042-9506-B03B-F7F1-40047E3AEF6B}"/>
                </a:ext>
              </a:extLst>
            </p:cNvPr>
            <p:cNvSpPr>
              <a:spLocks noChangeArrowheads="1"/>
            </p:cNvSpPr>
            <p:nvPr/>
          </p:nvSpPr>
          <p:spPr bwMode="auto">
            <a:xfrm>
              <a:off x="2930" y="2855"/>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2" name="Oval 61">
              <a:extLst>
                <a:ext uri="{FF2B5EF4-FFF2-40B4-BE49-F238E27FC236}">
                  <a16:creationId xmlns:a16="http://schemas.microsoft.com/office/drawing/2014/main" id="{C2879B56-66B2-C49F-BD46-A9189468547B}"/>
                </a:ext>
              </a:extLst>
            </p:cNvPr>
            <p:cNvSpPr>
              <a:spLocks noChangeArrowheads="1"/>
            </p:cNvSpPr>
            <p:nvPr/>
          </p:nvSpPr>
          <p:spPr bwMode="auto">
            <a:xfrm>
              <a:off x="3018" y="3008"/>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3" name="Oval 62">
              <a:extLst>
                <a:ext uri="{FF2B5EF4-FFF2-40B4-BE49-F238E27FC236}">
                  <a16:creationId xmlns:a16="http://schemas.microsoft.com/office/drawing/2014/main" id="{2401FCE4-5D06-DF03-2E15-8697A3D445AA}"/>
                </a:ext>
              </a:extLst>
            </p:cNvPr>
            <p:cNvSpPr>
              <a:spLocks noChangeArrowheads="1"/>
            </p:cNvSpPr>
            <p:nvPr/>
          </p:nvSpPr>
          <p:spPr bwMode="auto">
            <a:xfrm>
              <a:off x="2963" y="3059"/>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4" name="Oval 63">
              <a:extLst>
                <a:ext uri="{FF2B5EF4-FFF2-40B4-BE49-F238E27FC236}">
                  <a16:creationId xmlns:a16="http://schemas.microsoft.com/office/drawing/2014/main" id="{7612B8C6-F95E-47A1-1A65-465466A97422}"/>
                </a:ext>
              </a:extLst>
            </p:cNvPr>
            <p:cNvSpPr>
              <a:spLocks noChangeArrowheads="1"/>
            </p:cNvSpPr>
            <p:nvPr/>
          </p:nvSpPr>
          <p:spPr bwMode="auto">
            <a:xfrm>
              <a:off x="2106" y="2943"/>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grpSp>
        <p:nvGrpSpPr>
          <p:cNvPr id="234" name="Group 44">
            <a:extLst>
              <a:ext uri="{FF2B5EF4-FFF2-40B4-BE49-F238E27FC236}">
                <a16:creationId xmlns:a16="http://schemas.microsoft.com/office/drawing/2014/main" id="{2EBDDFBF-D7F0-DB98-14EA-0F1BC01AD9C2}"/>
              </a:ext>
            </a:extLst>
          </p:cNvPr>
          <p:cNvGrpSpPr>
            <a:grpSpLocks/>
          </p:cNvGrpSpPr>
          <p:nvPr/>
        </p:nvGrpSpPr>
        <p:grpSpPr bwMode="auto">
          <a:xfrm>
            <a:off x="5666125" y="3199066"/>
            <a:ext cx="628600" cy="277145"/>
            <a:chOff x="1776" y="2768"/>
            <a:chExt cx="1824" cy="736"/>
          </a:xfrm>
          <a:solidFill>
            <a:srgbClr val="FFFF66"/>
          </a:solidFill>
          <a:effectLst>
            <a:outerShdw blurRad="50800" dist="38100" dir="2700000" algn="tl" rotWithShape="0">
              <a:prstClr val="black">
                <a:alpha val="40000"/>
              </a:prstClr>
            </a:outerShdw>
          </a:effectLst>
        </p:grpSpPr>
        <p:grpSp>
          <p:nvGrpSpPr>
            <p:cNvPr id="235" name="Group 45">
              <a:extLst>
                <a:ext uri="{FF2B5EF4-FFF2-40B4-BE49-F238E27FC236}">
                  <a16:creationId xmlns:a16="http://schemas.microsoft.com/office/drawing/2014/main" id="{D83973E5-1C37-D136-A5BA-389089DCC398}"/>
                </a:ext>
              </a:extLst>
            </p:cNvPr>
            <p:cNvGrpSpPr>
              <a:grpSpLocks/>
            </p:cNvGrpSpPr>
            <p:nvPr/>
          </p:nvGrpSpPr>
          <p:grpSpPr bwMode="auto">
            <a:xfrm>
              <a:off x="1787" y="2783"/>
              <a:ext cx="1813" cy="721"/>
              <a:chOff x="1787" y="2783"/>
              <a:chExt cx="1813" cy="721"/>
            </a:xfrm>
            <a:grpFill/>
          </p:grpSpPr>
          <p:sp>
            <p:nvSpPr>
              <p:cNvPr id="245" name="Oval 46">
                <a:extLst>
                  <a:ext uri="{FF2B5EF4-FFF2-40B4-BE49-F238E27FC236}">
                    <a16:creationId xmlns:a16="http://schemas.microsoft.com/office/drawing/2014/main" id="{1E7A49E8-8BFA-C0D8-A38D-8C2AF4D0304C}"/>
                  </a:ext>
                </a:extLst>
              </p:cNvPr>
              <p:cNvSpPr>
                <a:spLocks noChangeArrowheads="1"/>
              </p:cNvSpPr>
              <p:nvPr/>
            </p:nvSpPr>
            <p:spPr bwMode="auto">
              <a:xfrm>
                <a:off x="2413" y="2783"/>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6" name="Oval 47">
                <a:extLst>
                  <a:ext uri="{FF2B5EF4-FFF2-40B4-BE49-F238E27FC236}">
                    <a16:creationId xmlns:a16="http://schemas.microsoft.com/office/drawing/2014/main" id="{C3CF29E8-1EE2-F2C7-48DB-04DE168B2D11}"/>
                  </a:ext>
                </a:extLst>
              </p:cNvPr>
              <p:cNvSpPr>
                <a:spLocks noChangeArrowheads="1"/>
              </p:cNvSpPr>
              <p:nvPr/>
            </p:nvSpPr>
            <p:spPr bwMode="auto">
              <a:xfrm>
                <a:off x="1974" y="2863"/>
                <a:ext cx="593"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7" name="Oval 48">
                <a:extLst>
                  <a:ext uri="{FF2B5EF4-FFF2-40B4-BE49-F238E27FC236}">
                    <a16:creationId xmlns:a16="http://schemas.microsoft.com/office/drawing/2014/main" id="{8DF3B420-E824-4A15-F834-116139C39075}"/>
                  </a:ext>
                </a:extLst>
              </p:cNvPr>
              <p:cNvSpPr>
                <a:spLocks noChangeArrowheads="1"/>
              </p:cNvSpPr>
              <p:nvPr/>
            </p:nvSpPr>
            <p:spPr bwMode="auto">
              <a:xfrm>
                <a:off x="1787" y="3045"/>
                <a:ext cx="396" cy="23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8" name="Oval 49">
                <a:extLst>
                  <a:ext uri="{FF2B5EF4-FFF2-40B4-BE49-F238E27FC236}">
                    <a16:creationId xmlns:a16="http://schemas.microsoft.com/office/drawing/2014/main" id="{E210D6A9-3398-CDFC-FEE1-33768342E6E5}"/>
                  </a:ext>
                </a:extLst>
              </p:cNvPr>
              <p:cNvSpPr>
                <a:spLocks noChangeArrowheads="1"/>
              </p:cNvSpPr>
              <p:nvPr/>
            </p:nvSpPr>
            <p:spPr bwMode="auto">
              <a:xfrm>
                <a:off x="1908" y="3154"/>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9" name="Oval 50">
                <a:extLst>
                  <a:ext uri="{FF2B5EF4-FFF2-40B4-BE49-F238E27FC236}">
                    <a16:creationId xmlns:a16="http://schemas.microsoft.com/office/drawing/2014/main" id="{5126B923-D411-128E-5284-99AD336B9473}"/>
                  </a:ext>
                </a:extLst>
              </p:cNvPr>
              <p:cNvSpPr>
                <a:spLocks noChangeArrowheads="1"/>
              </p:cNvSpPr>
              <p:nvPr/>
            </p:nvSpPr>
            <p:spPr bwMode="auto">
              <a:xfrm>
                <a:off x="2347" y="3198"/>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50" name="Oval 51">
                <a:extLst>
                  <a:ext uri="{FF2B5EF4-FFF2-40B4-BE49-F238E27FC236}">
                    <a16:creationId xmlns:a16="http://schemas.microsoft.com/office/drawing/2014/main" id="{9A8CFBB1-E053-C031-B1D6-64E4224747F4}"/>
                  </a:ext>
                </a:extLst>
              </p:cNvPr>
              <p:cNvSpPr>
                <a:spLocks noChangeArrowheads="1"/>
              </p:cNvSpPr>
              <p:nvPr/>
            </p:nvSpPr>
            <p:spPr bwMode="auto">
              <a:xfrm>
                <a:off x="2941" y="2870"/>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51" name="Oval 52">
                <a:extLst>
                  <a:ext uri="{FF2B5EF4-FFF2-40B4-BE49-F238E27FC236}">
                    <a16:creationId xmlns:a16="http://schemas.microsoft.com/office/drawing/2014/main" id="{F17489E5-8CB9-3B5D-FBE8-0983AEA47ED7}"/>
                  </a:ext>
                </a:extLst>
              </p:cNvPr>
              <p:cNvSpPr>
                <a:spLocks noChangeArrowheads="1"/>
              </p:cNvSpPr>
              <p:nvPr/>
            </p:nvSpPr>
            <p:spPr bwMode="auto">
              <a:xfrm>
                <a:off x="3029" y="3023"/>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52" name="Oval 53">
                <a:extLst>
                  <a:ext uri="{FF2B5EF4-FFF2-40B4-BE49-F238E27FC236}">
                    <a16:creationId xmlns:a16="http://schemas.microsoft.com/office/drawing/2014/main" id="{3EFD96EA-15F0-1335-D089-91B6D187975E}"/>
                  </a:ext>
                </a:extLst>
              </p:cNvPr>
              <p:cNvSpPr>
                <a:spLocks noChangeArrowheads="1"/>
              </p:cNvSpPr>
              <p:nvPr/>
            </p:nvSpPr>
            <p:spPr bwMode="auto">
              <a:xfrm>
                <a:off x="2974" y="3074"/>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53" name="Oval 54">
                <a:extLst>
                  <a:ext uri="{FF2B5EF4-FFF2-40B4-BE49-F238E27FC236}">
                    <a16:creationId xmlns:a16="http://schemas.microsoft.com/office/drawing/2014/main" id="{5409473C-503A-62ED-17A0-9139C4E27A82}"/>
                  </a:ext>
                </a:extLst>
              </p:cNvPr>
              <p:cNvSpPr>
                <a:spLocks noChangeArrowheads="1"/>
              </p:cNvSpPr>
              <p:nvPr/>
            </p:nvSpPr>
            <p:spPr bwMode="auto">
              <a:xfrm>
                <a:off x="2117" y="2957"/>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sp>
          <p:nvSpPr>
            <p:cNvPr id="236" name="Oval 55">
              <a:extLst>
                <a:ext uri="{FF2B5EF4-FFF2-40B4-BE49-F238E27FC236}">
                  <a16:creationId xmlns:a16="http://schemas.microsoft.com/office/drawing/2014/main" id="{21B54B7D-1A1C-86D2-C0FE-DD740B1E358D}"/>
                </a:ext>
              </a:extLst>
            </p:cNvPr>
            <p:cNvSpPr>
              <a:spLocks noChangeArrowheads="1"/>
            </p:cNvSpPr>
            <p:nvPr/>
          </p:nvSpPr>
          <p:spPr bwMode="auto">
            <a:xfrm>
              <a:off x="2402" y="2768"/>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7" name="Oval 56">
              <a:extLst>
                <a:ext uri="{FF2B5EF4-FFF2-40B4-BE49-F238E27FC236}">
                  <a16:creationId xmlns:a16="http://schemas.microsoft.com/office/drawing/2014/main" id="{493AFC94-2CE8-9093-1292-6BD4AD77F310}"/>
                </a:ext>
              </a:extLst>
            </p:cNvPr>
            <p:cNvSpPr>
              <a:spLocks noChangeArrowheads="1"/>
            </p:cNvSpPr>
            <p:nvPr/>
          </p:nvSpPr>
          <p:spPr bwMode="auto">
            <a:xfrm>
              <a:off x="1963" y="2848"/>
              <a:ext cx="593" cy="29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8" name="Oval 57">
              <a:extLst>
                <a:ext uri="{FF2B5EF4-FFF2-40B4-BE49-F238E27FC236}">
                  <a16:creationId xmlns:a16="http://schemas.microsoft.com/office/drawing/2014/main" id="{CD1870CD-A33F-5FE3-6DB2-80C0466CF58B}"/>
                </a:ext>
              </a:extLst>
            </p:cNvPr>
            <p:cNvSpPr>
              <a:spLocks noChangeArrowheads="1"/>
            </p:cNvSpPr>
            <p:nvPr/>
          </p:nvSpPr>
          <p:spPr bwMode="auto">
            <a:xfrm>
              <a:off x="1776" y="3030"/>
              <a:ext cx="396" cy="23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9" name="Oval 58">
              <a:extLst>
                <a:ext uri="{FF2B5EF4-FFF2-40B4-BE49-F238E27FC236}">
                  <a16:creationId xmlns:a16="http://schemas.microsoft.com/office/drawing/2014/main" id="{45FEAF71-1F52-850B-E29C-B088AD7CFF37}"/>
                </a:ext>
              </a:extLst>
            </p:cNvPr>
            <p:cNvSpPr>
              <a:spLocks noChangeArrowheads="1"/>
            </p:cNvSpPr>
            <p:nvPr/>
          </p:nvSpPr>
          <p:spPr bwMode="auto">
            <a:xfrm>
              <a:off x="1897" y="3140"/>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0" name="Oval 59">
              <a:extLst>
                <a:ext uri="{FF2B5EF4-FFF2-40B4-BE49-F238E27FC236}">
                  <a16:creationId xmlns:a16="http://schemas.microsoft.com/office/drawing/2014/main" id="{7A9529F0-5980-678C-2180-E346B30CA4F3}"/>
                </a:ext>
              </a:extLst>
            </p:cNvPr>
            <p:cNvSpPr>
              <a:spLocks noChangeArrowheads="1"/>
            </p:cNvSpPr>
            <p:nvPr/>
          </p:nvSpPr>
          <p:spPr bwMode="auto">
            <a:xfrm>
              <a:off x="2336" y="3183"/>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1" name="Oval 60">
              <a:extLst>
                <a:ext uri="{FF2B5EF4-FFF2-40B4-BE49-F238E27FC236}">
                  <a16:creationId xmlns:a16="http://schemas.microsoft.com/office/drawing/2014/main" id="{E30AD15C-3576-0784-6FBD-ECEBBDF87FD8}"/>
                </a:ext>
              </a:extLst>
            </p:cNvPr>
            <p:cNvSpPr>
              <a:spLocks noChangeArrowheads="1"/>
            </p:cNvSpPr>
            <p:nvPr/>
          </p:nvSpPr>
          <p:spPr bwMode="auto">
            <a:xfrm>
              <a:off x="2930" y="2855"/>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2" name="Oval 61">
              <a:extLst>
                <a:ext uri="{FF2B5EF4-FFF2-40B4-BE49-F238E27FC236}">
                  <a16:creationId xmlns:a16="http://schemas.microsoft.com/office/drawing/2014/main" id="{DA570C2A-0A07-AA93-D6AE-B8A06E20B1C3}"/>
                </a:ext>
              </a:extLst>
            </p:cNvPr>
            <p:cNvSpPr>
              <a:spLocks noChangeArrowheads="1"/>
            </p:cNvSpPr>
            <p:nvPr/>
          </p:nvSpPr>
          <p:spPr bwMode="auto">
            <a:xfrm>
              <a:off x="3018" y="3008"/>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3" name="Oval 62">
              <a:extLst>
                <a:ext uri="{FF2B5EF4-FFF2-40B4-BE49-F238E27FC236}">
                  <a16:creationId xmlns:a16="http://schemas.microsoft.com/office/drawing/2014/main" id="{51B7E187-41F2-A73E-4C3D-A6DC174326C2}"/>
                </a:ext>
              </a:extLst>
            </p:cNvPr>
            <p:cNvSpPr>
              <a:spLocks noChangeArrowheads="1"/>
            </p:cNvSpPr>
            <p:nvPr/>
          </p:nvSpPr>
          <p:spPr bwMode="auto">
            <a:xfrm>
              <a:off x="2963" y="3059"/>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4" name="Oval 63">
              <a:extLst>
                <a:ext uri="{FF2B5EF4-FFF2-40B4-BE49-F238E27FC236}">
                  <a16:creationId xmlns:a16="http://schemas.microsoft.com/office/drawing/2014/main" id="{E6AEB009-B7EC-F815-1854-1488AAC8D373}"/>
                </a:ext>
              </a:extLst>
            </p:cNvPr>
            <p:cNvSpPr>
              <a:spLocks noChangeArrowheads="1"/>
            </p:cNvSpPr>
            <p:nvPr/>
          </p:nvSpPr>
          <p:spPr bwMode="auto">
            <a:xfrm>
              <a:off x="2106" y="2943"/>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sp>
        <p:nvSpPr>
          <p:cNvPr id="142" name="Rectangle 159">
            <a:extLst>
              <a:ext uri="{FF2B5EF4-FFF2-40B4-BE49-F238E27FC236}">
                <a16:creationId xmlns:a16="http://schemas.microsoft.com/office/drawing/2014/main" id="{E47FCB64-D693-FF57-238D-6489E9732BEF}"/>
              </a:ext>
            </a:extLst>
          </p:cNvPr>
          <p:cNvSpPr>
            <a:spLocks noChangeArrowheads="1"/>
          </p:cNvSpPr>
          <p:nvPr/>
        </p:nvSpPr>
        <p:spPr bwMode="auto">
          <a:xfrm>
            <a:off x="5710875" y="3203562"/>
            <a:ext cx="579327"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LAN</a:t>
            </a:r>
            <a:r>
              <a:rPr lang="en-US" altLang="zh-CN" sz="1200" b="1" baseline="-25000">
                <a:latin typeface="微软雅黑" panose="020B0503020204020204" pitchFamily="34" charset="-122"/>
                <a:ea typeface="微软雅黑" panose="020B0503020204020204" pitchFamily="34" charset="-122"/>
              </a:rPr>
              <a:t>2</a:t>
            </a:r>
            <a:endParaRPr lang="en-US" altLang="zh-CN" sz="1200" b="1">
              <a:latin typeface="微软雅黑" panose="020B0503020204020204" pitchFamily="34" charset="-122"/>
              <a:ea typeface="微软雅黑" panose="020B0503020204020204" pitchFamily="34" charset="-122"/>
            </a:endParaRPr>
          </a:p>
        </p:txBody>
      </p:sp>
      <p:sp>
        <p:nvSpPr>
          <p:cNvPr id="144" name="Rectangle 161">
            <a:extLst>
              <a:ext uri="{FF2B5EF4-FFF2-40B4-BE49-F238E27FC236}">
                <a16:creationId xmlns:a16="http://schemas.microsoft.com/office/drawing/2014/main" id="{F1CBAB8A-3D4B-0108-F4C7-F3349DB55148}"/>
              </a:ext>
            </a:extLst>
          </p:cNvPr>
          <p:cNvSpPr>
            <a:spLocks noChangeArrowheads="1"/>
          </p:cNvSpPr>
          <p:nvPr/>
        </p:nvSpPr>
        <p:spPr bwMode="auto">
          <a:xfrm>
            <a:off x="4212958" y="3209179"/>
            <a:ext cx="587278"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WAN</a:t>
            </a:r>
          </a:p>
        </p:txBody>
      </p:sp>
      <p:sp>
        <p:nvSpPr>
          <p:cNvPr id="158" name="Rectangle 160">
            <a:extLst>
              <a:ext uri="{FF2B5EF4-FFF2-40B4-BE49-F238E27FC236}">
                <a16:creationId xmlns:a16="http://schemas.microsoft.com/office/drawing/2014/main" id="{DB2580D7-8135-90B6-7F5C-EE7C9C6EF0DA}"/>
              </a:ext>
            </a:extLst>
          </p:cNvPr>
          <p:cNvSpPr>
            <a:spLocks noChangeArrowheads="1"/>
          </p:cNvSpPr>
          <p:nvPr/>
        </p:nvSpPr>
        <p:spPr bwMode="auto">
          <a:xfrm>
            <a:off x="2732116" y="3209992"/>
            <a:ext cx="579327"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LAN</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sp>
        <p:nvSpPr>
          <p:cNvPr id="254" name="Rectangle 10">
            <a:extLst>
              <a:ext uri="{FF2B5EF4-FFF2-40B4-BE49-F238E27FC236}">
                <a16:creationId xmlns:a16="http://schemas.microsoft.com/office/drawing/2014/main" id="{4C218909-F72E-6CD0-AB3A-CC1746CD23AC}"/>
              </a:ext>
            </a:extLst>
          </p:cNvPr>
          <p:cNvSpPr>
            <a:spLocks noChangeArrowheads="1"/>
          </p:cNvSpPr>
          <p:nvPr/>
        </p:nvSpPr>
        <p:spPr bwMode="auto">
          <a:xfrm>
            <a:off x="7281090" y="1488853"/>
            <a:ext cx="277321" cy="116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1200"/>
              </a:lnSpc>
            </a:pPr>
            <a:r>
              <a:rPr lang="en-US" altLang="zh-CN" sz="1200" b="1" dirty="0">
                <a:latin typeface="微软雅黑" panose="020B0503020204020204" pitchFamily="34" charset="-122"/>
                <a:ea typeface="微软雅黑" panose="020B0503020204020204" pitchFamily="34" charset="-122"/>
              </a:rPr>
              <a:t>5</a:t>
            </a:r>
          </a:p>
          <a:p>
            <a:pPr>
              <a:lnSpc>
                <a:spcPts val="4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4</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3</a:t>
            </a:r>
          </a:p>
          <a:p>
            <a:pPr>
              <a:lnSpc>
                <a:spcPts val="8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2</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1</a:t>
            </a:r>
          </a:p>
        </p:txBody>
      </p:sp>
      <p:grpSp>
        <p:nvGrpSpPr>
          <p:cNvPr id="35" name="组合 34">
            <a:extLst>
              <a:ext uri="{FF2B5EF4-FFF2-40B4-BE49-F238E27FC236}">
                <a16:creationId xmlns:a16="http://schemas.microsoft.com/office/drawing/2014/main" id="{1EFA8A79-259E-484B-3E67-020611D20812}"/>
              </a:ext>
            </a:extLst>
          </p:cNvPr>
          <p:cNvGrpSpPr/>
          <p:nvPr/>
        </p:nvGrpSpPr>
        <p:grpSpPr>
          <a:xfrm>
            <a:off x="811003" y="1422817"/>
            <a:ext cx="1501964" cy="534806"/>
            <a:chOff x="811003" y="1423671"/>
            <a:chExt cx="1501964" cy="534806"/>
          </a:xfrm>
        </p:grpSpPr>
        <p:sp>
          <p:nvSpPr>
            <p:cNvPr id="5" name="椭圆 4">
              <a:extLst>
                <a:ext uri="{FF2B5EF4-FFF2-40B4-BE49-F238E27FC236}">
                  <a16:creationId xmlns:a16="http://schemas.microsoft.com/office/drawing/2014/main" id="{05A9E5C4-6F35-2188-DD6D-D488E0C66AEC}"/>
                </a:ext>
              </a:extLst>
            </p:cNvPr>
            <p:cNvSpPr/>
            <p:nvPr/>
          </p:nvSpPr>
          <p:spPr>
            <a:xfrm>
              <a:off x="1765743" y="1593158"/>
              <a:ext cx="547224" cy="365319"/>
            </a:xfrm>
            <a:prstGeom prst="ellipse">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5" name="Rectangle 98">
              <a:extLst>
                <a:ext uri="{FF2B5EF4-FFF2-40B4-BE49-F238E27FC236}">
                  <a16:creationId xmlns:a16="http://schemas.microsoft.com/office/drawing/2014/main" id="{493DBB74-261E-2CB1-C629-0CC08650C55A}"/>
                </a:ext>
              </a:extLst>
            </p:cNvPr>
            <p:cNvSpPr>
              <a:spLocks noChangeArrowheads="1"/>
            </p:cNvSpPr>
            <p:nvPr/>
          </p:nvSpPr>
          <p:spPr bwMode="auto">
            <a:xfrm>
              <a:off x="811003" y="1423671"/>
              <a:ext cx="54181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复用</a:t>
              </a:r>
            </a:p>
          </p:txBody>
        </p:sp>
        <p:cxnSp>
          <p:nvCxnSpPr>
            <p:cNvPr id="30" name="直接连接符 29">
              <a:extLst>
                <a:ext uri="{FF2B5EF4-FFF2-40B4-BE49-F238E27FC236}">
                  <a16:creationId xmlns:a16="http://schemas.microsoft.com/office/drawing/2014/main" id="{232CAED1-E202-BCDF-9542-B90FD6FCDA28}"/>
                </a:ext>
              </a:extLst>
            </p:cNvPr>
            <p:cNvCxnSpPr/>
            <p:nvPr/>
          </p:nvCxnSpPr>
          <p:spPr>
            <a:xfrm>
              <a:off x="1284233" y="1633378"/>
              <a:ext cx="562557" cy="110949"/>
            </a:xfrm>
            <a:prstGeom prst="line">
              <a:avLst/>
            </a:prstGeom>
            <a:ln w="127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256" name="组合 255">
            <a:extLst>
              <a:ext uri="{FF2B5EF4-FFF2-40B4-BE49-F238E27FC236}">
                <a16:creationId xmlns:a16="http://schemas.microsoft.com/office/drawing/2014/main" id="{62597E13-E3C5-CA1E-A057-FBEEA1282758}"/>
              </a:ext>
            </a:extLst>
          </p:cNvPr>
          <p:cNvGrpSpPr/>
          <p:nvPr/>
        </p:nvGrpSpPr>
        <p:grpSpPr>
          <a:xfrm>
            <a:off x="6744719" y="1436276"/>
            <a:ext cx="1465661" cy="521457"/>
            <a:chOff x="-297165" y="1376060"/>
            <a:chExt cx="1465661" cy="521457"/>
          </a:xfrm>
        </p:grpSpPr>
        <p:sp>
          <p:nvSpPr>
            <p:cNvPr id="257" name="椭圆 256">
              <a:extLst>
                <a:ext uri="{FF2B5EF4-FFF2-40B4-BE49-F238E27FC236}">
                  <a16:creationId xmlns:a16="http://schemas.microsoft.com/office/drawing/2014/main" id="{D76D04D5-E7B6-6EA1-B4FC-9798F6419254}"/>
                </a:ext>
              </a:extLst>
            </p:cNvPr>
            <p:cNvSpPr/>
            <p:nvPr/>
          </p:nvSpPr>
          <p:spPr>
            <a:xfrm>
              <a:off x="-297165" y="1532198"/>
              <a:ext cx="547224" cy="365319"/>
            </a:xfrm>
            <a:prstGeom prst="ellipse">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8" name="Rectangle 98">
              <a:extLst>
                <a:ext uri="{FF2B5EF4-FFF2-40B4-BE49-F238E27FC236}">
                  <a16:creationId xmlns:a16="http://schemas.microsoft.com/office/drawing/2014/main" id="{D9938A9F-961C-9545-5A91-B0DA082210FA}"/>
                </a:ext>
              </a:extLst>
            </p:cNvPr>
            <p:cNvSpPr>
              <a:spLocks noChangeArrowheads="1"/>
            </p:cNvSpPr>
            <p:nvPr/>
          </p:nvSpPr>
          <p:spPr bwMode="auto">
            <a:xfrm>
              <a:off x="626680" y="1376060"/>
              <a:ext cx="54181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分用</a:t>
              </a:r>
            </a:p>
          </p:txBody>
        </p:sp>
        <p:cxnSp>
          <p:nvCxnSpPr>
            <p:cNvPr id="259" name="直接连接符 258">
              <a:extLst>
                <a:ext uri="{FF2B5EF4-FFF2-40B4-BE49-F238E27FC236}">
                  <a16:creationId xmlns:a16="http://schemas.microsoft.com/office/drawing/2014/main" id="{830222BE-A875-FF08-4EF6-C0C89087F873}"/>
                </a:ext>
              </a:extLst>
            </p:cNvPr>
            <p:cNvCxnSpPr/>
            <p:nvPr/>
          </p:nvCxnSpPr>
          <p:spPr>
            <a:xfrm flipH="1">
              <a:off x="148855" y="1605572"/>
              <a:ext cx="545860" cy="80939"/>
            </a:xfrm>
            <a:prstGeom prst="line">
              <a:avLst/>
            </a:prstGeom>
            <a:ln w="127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42" name="组合 41">
            <a:extLst>
              <a:ext uri="{FF2B5EF4-FFF2-40B4-BE49-F238E27FC236}">
                <a16:creationId xmlns:a16="http://schemas.microsoft.com/office/drawing/2014/main" id="{D1DDE9D1-CDDB-6E4A-16E5-077F06252D2D}"/>
              </a:ext>
            </a:extLst>
          </p:cNvPr>
          <p:cNvGrpSpPr/>
          <p:nvPr/>
        </p:nvGrpSpPr>
        <p:grpSpPr>
          <a:xfrm>
            <a:off x="1814331" y="1510398"/>
            <a:ext cx="5408594" cy="1293671"/>
            <a:chOff x="1804171" y="1511252"/>
            <a:chExt cx="5408594" cy="1293671"/>
          </a:xfrm>
        </p:grpSpPr>
        <p:sp>
          <p:nvSpPr>
            <p:cNvPr id="182" name="Line 248">
              <a:extLst>
                <a:ext uri="{FF2B5EF4-FFF2-40B4-BE49-F238E27FC236}">
                  <a16:creationId xmlns:a16="http://schemas.microsoft.com/office/drawing/2014/main" id="{49172479-C152-F7C1-C6C2-769705B1975B}"/>
                </a:ext>
              </a:extLst>
            </p:cNvPr>
            <p:cNvSpPr>
              <a:spLocks noChangeShapeType="1"/>
            </p:cNvSpPr>
            <p:nvPr/>
          </p:nvSpPr>
          <p:spPr bwMode="auto">
            <a:xfrm>
              <a:off x="6781959" y="1588011"/>
              <a:ext cx="262445" cy="31265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3" name="Line 249">
              <a:extLst>
                <a:ext uri="{FF2B5EF4-FFF2-40B4-BE49-F238E27FC236}">
                  <a16:creationId xmlns:a16="http://schemas.microsoft.com/office/drawing/2014/main" id="{AB218D87-110E-F2AA-EA25-C06B69F9C51D}"/>
                </a:ext>
              </a:extLst>
            </p:cNvPr>
            <p:cNvSpPr>
              <a:spLocks noChangeShapeType="1"/>
            </p:cNvSpPr>
            <p:nvPr/>
          </p:nvSpPr>
          <p:spPr bwMode="auto">
            <a:xfrm flipH="1">
              <a:off x="7044404" y="1511252"/>
              <a:ext cx="168361" cy="38192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4" name="椭圆 85">
              <a:extLst>
                <a:ext uri="{FF2B5EF4-FFF2-40B4-BE49-F238E27FC236}">
                  <a16:creationId xmlns:a16="http://schemas.microsoft.com/office/drawing/2014/main" id="{A2D767EB-84ED-00FA-5DBF-94AAA01E73AF}"/>
                </a:ext>
              </a:extLst>
            </p:cNvPr>
            <p:cNvSpPr>
              <a:spLocks noChangeArrowheads="1"/>
            </p:cNvSpPr>
            <p:nvPr/>
          </p:nvSpPr>
          <p:spPr bwMode="auto">
            <a:xfrm>
              <a:off x="7123633" y="1645112"/>
              <a:ext cx="56946" cy="43060"/>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5" name="椭圆 85">
              <a:extLst>
                <a:ext uri="{FF2B5EF4-FFF2-40B4-BE49-F238E27FC236}">
                  <a16:creationId xmlns:a16="http://schemas.microsoft.com/office/drawing/2014/main" id="{0FFBB475-B1E8-478A-D27A-4376B332876B}"/>
                </a:ext>
              </a:extLst>
            </p:cNvPr>
            <p:cNvSpPr>
              <a:spLocks noChangeArrowheads="1"/>
            </p:cNvSpPr>
            <p:nvPr/>
          </p:nvSpPr>
          <p:spPr bwMode="auto">
            <a:xfrm>
              <a:off x="7010980" y="1883814"/>
              <a:ext cx="55707"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6" name="椭圆 85">
              <a:extLst>
                <a:ext uri="{FF2B5EF4-FFF2-40B4-BE49-F238E27FC236}">
                  <a16:creationId xmlns:a16="http://schemas.microsoft.com/office/drawing/2014/main" id="{C93A76DA-F59A-255A-8F6C-73482D0F0129}"/>
                </a:ext>
              </a:extLst>
            </p:cNvPr>
            <p:cNvSpPr>
              <a:spLocks noChangeArrowheads="1"/>
            </p:cNvSpPr>
            <p:nvPr/>
          </p:nvSpPr>
          <p:spPr bwMode="auto">
            <a:xfrm>
              <a:off x="6817860" y="1645112"/>
              <a:ext cx="56946" cy="43060"/>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28" name="Freeform 32">
              <a:extLst>
                <a:ext uri="{FF2B5EF4-FFF2-40B4-BE49-F238E27FC236}">
                  <a16:creationId xmlns:a16="http://schemas.microsoft.com/office/drawing/2014/main" id="{A7288E5E-D17D-0807-DD60-9360D27BC693}"/>
                </a:ext>
              </a:extLst>
            </p:cNvPr>
            <p:cNvSpPr>
              <a:spLocks/>
            </p:cNvSpPr>
            <p:nvPr/>
          </p:nvSpPr>
          <p:spPr bwMode="auto">
            <a:xfrm>
              <a:off x="1999766" y="1897856"/>
              <a:ext cx="5039686" cy="907067"/>
            </a:xfrm>
            <a:custGeom>
              <a:avLst/>
              <a:gdLst>
                <a:gd name="T0" fmla="*/ 0 w 4272"/>
                <a:gd name="T1" fmla="*/ 0 h 1138"/>
                <a:gd name="T2" fmla="*/ 0 w 4272"/>
                <a:gd name="T3" fmla="*/ 2147483647 h 1138"/>
                <a:gd name="T4" fmla="*/ 2147483647 w 4272"/>
                <a:gd name="T5" fmla="*/ 2147483647 h 1138"/>
                <a:gd name="T6" fmla="*/ 2147483647 w 4272"/>
                <a:gd name="T7" fmla="*/ 2147483647 h 1138"/>
                <a:gd name="T8" fmla="*/ 2147483647 w 4272"/>
                <a:gd name="T9" fmla="*/ 2147483647 h 1138"/>
                <a:gd name="T10" fmla="*/ 2147483647 w 4272"/>
                <a:gd name="T11" fmla="*/ 2147483647 h 1138"/>
                <a:gd name="T12" fmla="*/ 2147483647 w 4272"/>
                <a:gd name="T13" fmla="*/ 2147483647 h 1138"/>
                <a:gd name="T14" fmla="*/ 2147483647 w 4272"/>
                <a:gd name="T15" fmla="*/ 2147483647 h 1138"/>
                <a:gd name="T16" fmla="*/ 2147483647 w 4272"/>
                <a:gd name="T17" fmla="*/ 2147483647 h 1138"/>
                <a:gd name="T18" fmla="*/ 2147483647 w 4272"/>
                <a:gd name="T19" fmla="*/ 2147483647 h 1138"/>
                <a:gd name="T20" fmla="*/ 2147483647 w 4272"/>
                <a:gd name="T21" fmla="*/ 2147483647 h 1138"/>
                <a:gd name="T22" fmla="*/ 2147483647 w 4272"/>
                <a:gd name="T23" fmla="*/ 2147483647 h 1138"/>
                <a:gd name="T24" fmla="*/ 2147483647 w 4272"/>
                <a:gd name="T25" fmla="*/ 2147483647 h 1138"/>
                <a:gd name="T26" fmla="*/ 2147483647 w 4272"/>
                <a:gd name="T27" fmla="*/ 2147483647 h 1138"/>
                <a:gd name="T28" fmla="*/ 2147483647 w 4272"/>
                <a:gd name="T29" fmla="*/ 2147483647 h 1138"/>
                <a:gd name="T30" fmla="*/ 2147483647 w 4272"/>
                <a:gd name="T31" fmla="*/ 2147483647 h 1138"/>
                <a:gd name="T32" fmla="*/ 2147483647 w 4272"/>
                <a:gd name="T33" fmla="*/ 2147483647 h 1138"/>
                <a:gd name="T34" fmla="*/ 2147483647 w 4272"/>
                <a:gd name="T35" fmla="*/ 2147483647 h 1138"/>
                <a:gd name="T36" fmla="*/ 2147483647 w 4272"/>
                <a:gd name="T37" fmla="*/ 2147483647 h 1138"/>
                <a:gd name="T38" fmla="*/ 2147483647 w 4272"/>
                <a:gd name="T39" fmla="*/ 2147483647 h 1138"/>
                <a:gd name="T40" fmla="*/ 2147483647 w 4272"/>
                <a:gd name="T41" fmla="*/ 2147483647 h 1138"/>
                <a:gd name="T42" fmla="*/ 2147483647 w 4272"/>
                <a:gd name="T43" fmla="*/ 2147483647 h 1138"/>
                <a:gd name="T44" fmla="*/ 2147483647 w 4272"/>
                <a:gd name="T45" fmla="*/ 2147483647 h 1138"/>
                <a:gd name="T46" fmla="*/ 2147483647 w 4272"/>
                <a:gd name="T47" fmla="*/ 2147483647 h 1138"/>
                <a:gd name="T48" fmla="*/ 2147483647 w 4272"/>
                <a:gd name="T49" fmla="*/ 2147483647 h 1138"/>
                <a:gd name="T50" fmla="*/ 2147483647 w 4272"/>
                <a:gd name="T51" fmla="*/ 2147483647 h 1138"/>
                <a:gd name="T52" fmla="*/ 2147483647 w 4272"/>
                <a:gd name="T53" fmla="*/ 2147483647 h 1138"/>
                <a:gd name="T54" fmla="*/ 2147483647 w 4272"/>
                <a:gd name="T55" fmla="*/ 2147483647 h 1138"/>
                <a:gd name="T56" fmla="*/ 2147483647 w 4272"/>
                <a:gd name="T57" fmla="*/ 2147483647 h 1138"/>
                <a:gd name="T58" fmla="*/ 2147483647 w 4272"/>
                <a:gd name="T59" fmla="*/ 2147483647 h 1138"/>
                <a:gd name="T60" fmla="*/ 2147483647 w 4272"/>
                <a:gd name="T61" fmla="*/ 2147483647 h 1138"/>
                <a:gd name="T62" fmla="*/ 2147483647 w 4272"/>
                <a:gd name="T63" fmla="*/ 2147483647 h 1138"/>
                <a:gd name="T64" fmla="*/ 2147483647 w 4272"/>
                <a:gd name="T65" fmla="*/ 2147483647 h 1138"/>
                <a:gd name="T66" fmla="*/ 2147483647 w 4272"/>
                <a:gd name="T67" fmla="*/ 2147483647 h 1138"/>
                <a:gd name="T68" fmla="*/ 2147483647 w 4272"/>
                <a:gd name="T69" fmla="*/ 2147483647 h 1138"/>
                <a:gd name="T70" fmla="*/ 2147483647 w 4272"/>
                <a:gd name="T71" fmla="*/ 2147483647 h 1138"/>
                <a:gd name="T72" fmla="*/ 2147483647 w 4272"/>
                <a:gd name="T73" fmla="*/ 2147483647 h 1138"/>
                <a:gd name="T74" fmla="*/ 2147483647 w 4272"/>
                <a:gd name="T75" fmla="*/ 2147483647 h 1138"/>
                <a:gd name="T76" fmla="*/ 2147483647 w 4272"/>
                <a:gd name="T77" fmla="*/ 2147483647 h 1138"/>
                <a:gd name="T78" fmla="*/ 2147483647 w 4272"/>
                <a:gd name="T79" fmla="*/ 2147483647 h 1138"/>
                <a:gd name="T80" fmla="*/ 2147483647 w 4272"/>
                <a:gd name="T81" fmla="*/ 2147483647 h 1138"/>
                <a:gd name="T82" fmla="*/ 2147483647 w 4272"/>
                <a:gd name="T83" fmla="*/ 0 h 113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272"/>
                <a:gd name="T127" fmla="*/ 0 h 1138"/>
                <a:gd name="T128" fmla="*/ 4272 w 4272"/>
                <a:gd name="T129" fmla="*/ 1138 h 113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272" h="1138">
                  <a:moveTo>
                    <a:pt x="0" y="0"/>
                  </a:moveTo>
                  <a:lnTo>
                    <a:pt x="0" y="996"/>
                  </a:lnTo>
                  <a:lnTo>
                    <a:pt x="9" y="1056"/>
                  </a:lnTo>
                  <a:lnTo>
                    <a:pt x="36" y="1094"/>
                  </a:lnTo>
                  <a:lnTo>
                    <a:pt x="75" y="1110"/>
                  </a:lnTo>
                  <a:lnTo>
                    <a:pt x="127" y="1116"/>
                  </a:lnTo>
                  <a:lnTo>
                    <a:pt x="1211" y="1116"/>
                  </a:lnTo>
                  <a:lnTo>
                    <a:pt x="1250" y="1116"/>
                  </a:lnTo>
                  <a:lnTo>
                    <a:pt x="1287" y="1100"/>
                  </a:lnTo>
                  <a:lnTo>
                    <a:pt x="1305" y="1056"/>
                  </a:lnTo>
                  <a:lnTo>
                    <a:pt x="1308" y="1022"/>
                  </a:lnTo>
                  <a:lnTo>
                    <a:pt x="1308" y="307"/>
                  </a:lnTo>
                  <a:lnTo>
                    <a:pt x="1311" y="261"/>
                  </a:lnTo>
                  <a:cubicBezTo>
                    <a:pt x="1322" y="241"/>
                    <a:pt x="1325" y="202"/>
                    <a:pt x="1376" y="191"/>
                  </a:cubicBezTo>
                  <a:cubicBezTo>
                    <a:pt x="1430" y="181"/>
                    <a:pt x="1567" y="182"/>
                    <a:pt x="1620" y="191"/>
                  </a:cubicBezTo>
                  <a:cubicBezTo>
                    <a:pt x="1673" y="200"/>
                    <a:pt x="1669" y="238"/>
                    <a:pt x="1676" y="252"/>
                  </a:cubicBezTo>
                  <a:lnTo>
                    <a:pt x="1680" y="280"/>
                  </a:lnTo>
                  <a:lnTo>
                    <a:pt x="1680" y="1014"/>
                  </a:lnTo>
                  <a:lnTo>
                    <a:pt x="1683" y="1047"/>
                  </a:lnTo>
                  <a:lnTo>
                    <a:pt x="1701" y="1100"/>
                  </a:lnTo>
                  <a:lnTo>
                    <a:pt x="1755" y="1116"/>
                  </a:lnTo>
                  <a:lnTo>
                    <a:pt x="1808" y="1116"/>
                  </a:lnTo>
                  <a:lnTo>
                    <a:pt x="2486" y="1116"/>
                  </a:lnTo>
                  <a:lnTo>
                    <a:pt x="2564" y="1116"/>
                  </a:lnTo>
                  <a:cubicBezTo>
                    <a:pt x="2583" y="1112"/>
                    <a:pt x="2593" y="1111"/>
                    <a:pt x="2600" y="1091"/>
                  </a:cubicBezTo>
                  <a:cubicBezTo>
                    <a:pt x="2607" y="1072"/>
                    <a:pt x="2610" y="1138"/>
                    <a:pt x="2608" y="999"/>
                  </a:cubicBezTo>
                  <a:lnTo>
                    <a:pt x="2608" y="264"/>
                  </a:lnTo>
                  <a:lnTo>
                    <a:pt x="2616" y="227"/>
                  </a:lnTo>
                  <a:cubicBezTo>
                    <a:pt x="2627" y="215"/>
                    <a:pt x="2634" y="196"/>
                    <a:pt x="2676" y="191"/>
                  </a:cubicBezTo>
                  <a:cubicBezTo>
                    <a:pt x="2721" y="184"/>
                    <a:pt x="2824" y="187"/>
                    <a:pt x="2868" y="195"/>
                  </a:cubicBezTo>
                  <a:cubicBezTo>
                    <a:pt x="2912" y="203"/>
                    <a:pt x="2925" y="238"/>
                    <a:pt x="2928" y="251"/>
                  </a:cubicBezTo>
                  <a:lnTo>
                    <a:pt x="2928" y="280"/>
                  </a:lnTo>
                  <a:cubicBezTo>
                    <a:pt x="2928" y="280"/>
                    <a:pt x="2925" y="867"/>
                    <a:pt x="2928" y="1002"/>
                  </a:cubicBezTo>
                  <a:cubicBezTo>
                    <a:pt x="2930" y="1136"/>
                    <a:pt x="2930" y="1068"/>
                    <a:pt x="2944" y="1087"/>
                  </a:cubicBezTo>
                  <a:cubicBezTo>
                    <a:pt x="2958" y="1107"/>
                    <a:pt x="2995" y="1113"/>
                    <a:pt x="3014" y="1116"/>
                  </a:cubicBezTo>
                  <a:lnTo>
                    <a:pt x="3071" y="1116"/>
                  </a:lnTo>
                  <a:lnTo>
                    <a:pt x="4117" y="1116"/>
                  </a:lnTo>
                  <a:lnTo>
                    <a:pt x="4190" y="1116"/>
                  </a:lnTo>
                  <a:lnTo>
                    <a:pt x="4251" y="1097"/>
                  </a:lnTo>
                  <a:lnTo>
                    <a:pt x="4269" y="1044"/>
                  </a:lnTo>
                  <a:lnTo>
                    <a:pt x="4271" y="994"/>
                  </a:lnTo>
                  <a:lnTo>
                    <a:pt x="4272" y="0"/>
                  </a:lnTo>
                </a:path>
              </a:pathLst>
            </a:custGeom>
            <a:noFill/>
            <a:ln w="28575" cap="flat" cmpd="sng">
              <a:solidFill>
                <a:srgbClr val="0000FF"/>
              </a:solidFill>
              <a:prstDash val="sysDot"/>
              <a:round/>
              <a:headEnd type="none" w="med" len="lg"/>
              <a:tailEnd type="none" w="med" len="lg"/>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7" name="椭圆 85">
              <a:extLst>
                <a:ext uri="{FF2B5EF4-FFF2-40B4-BE49-F238E27FC236}">
                  <a16:creationId xmlns:a16="http://schemas.microsoft.com/office/drawing/2014/main" id="{F3695F54-C605-139C-E077-B2EC5C645ED3}"/>
                </a:ext>
              </a:extLst>
            </p:cNvPr>
            <p:cNvSpPr>
              <a:spLocks noChangeArrowheads="1"/>
            </p:cNvSpPr>
            <p:nvPr/>
          </p:nvSpPr>
          <p:spPr bwMode="auto">
            <a:xfrm>
              <a:off x="2153272" y="1650728"/>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8" name="椭圆 85">
              <a:extLst>
                <a:ext uri="{FF2B5EF4-FFF2-40B4-BE49-F238E27FC236}">
                  <a16:creationId xmlns:a16="http://schemas.microsoft.com/office/drawing/2014/main" id="{F146A5B3-EC36-BA87-2C59-BB0D57A1BA2F}"/>
                </a:ext>
              </a:extLst>
            </p:cNvPr>
            <p:cNvSpPr>
              <a:spLocks noChangeArrowheads="1"/>
            </p:cNvSpPr>
            <p:nvPr/>
          </p:nvSpPr>
          <p:spPr bwMode="auto">
            <a:xfrm>
              <a:off x="1846261" y="1652600"/>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9" name="椭圆 85">
              <a:extLst>
                <a:ext uri="{FF2B5EF4-FFF2-40B4-BE49-F238E27FC236}">
                  <a16:creationId xmlns:a16="http://schemas.microsoft.com/office/drawing/2014/main" id="{9850FF73-FFC9-42BA-0FFE-8ADDB08B33D0}"/>
                </a:ext>
              </a:extLst>
            </p:cNvPr>
            <p:cNvSpPr>
              <a:spLocks noChangeArrowheads="1"/>
            </p:cNvSpPr>
            <p:nvPr/>
          </p:nvSpPr>
          <p:spPr bwMode="auto">
            <a:xfrm>
              <a:off x="1966341" y="1876324"/>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0" name="Line 246">
              <a:extLst>
                <a:ext uri="{FF2B5EF4-FFF2-40B4-BE49-F238E27FC236}">
                  <a16:creationId xmlns:a16="http://schemas.microsoft.com/office/drawing/2014/main" id="{46FA28A0-34D0-392F-9028-3FF211E14203}"/>
                </a:ext>
              </a:extLst>
            </p:cNvPr>
            <p:cNvSpPr>
              <a:spLocks noChangeShapeType="1"/>
            </p:cNvSpPr>
            <p:nvPr/>
          </p:nvSpPr>
          <p:spPr bwMode="auto">
            <a:xfrm>
              <a:off x="1804171" y="1530910"/>
              <a:ext cx="189406" cy="362265"/>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1" name="Line 247">
              <a:extLst>
                <a:ext uri="{FF2B5EF4-FFF2-40B4-BE49-F238E27FC236}">
                  <a16:creationId xmlns:a16="http://schemas.microsoft.com/office/drawing/2014/main" id="{A60EAB25-7E64-8157-EA46-41BEF345CB74}"/>
                </a:ext>
              </a:extLst>
            </p:cNvPr>
            <p:cNvSpPr>
              <a:spLocks noChangeShapeType="1"/>
            </p:cNvSpPr>
            <p:nvPr/>
          </p:nvSpPr>
          <p:spPr bwMode="auto">
            <a:xfrm flipH="1">
              <a:off x="2013383" y="1573034"/>
              <a:ext cx="240162" cy="320141"/>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grpSp>
      <p:sp>
        <p:nvSpPr>
          <p:cNvPr id="3" name="文本框 2">
            <a:extLst>
              <a:ext uri="{FF2B5EF4-FFF2-40B4-BE49-F238E27FC236}">
                <a16:creationId xmlns:a16="http://schemas.microsoft.com/office/drawing/2014/main" id="{BB3255F4-A872-E513-C742-CFDA502260B9}"/>
              </a:ext>
            </a:extLst>
          </p:cNvPr>
          <p:cNvSpPr txBox="1"/>
          <p:nvPr/>
        </p:nvSpPr>
        <p:spPr>
          <a:xfrm>
            <a:off x="1129271" y="4364556"/>
            <a:ext cx="7184661" cy="305212"/>
          </a:xfrm>
          <a:prstGeom prst="rect">
            <a:avLst/>
          </a:prstGeom>
          <a:noFill/>
          <a:ln>
            <a:noFill/>
          </a:ln>
        </p:spPr>
        <p:txBody>
          <a:bodyPr wrap="none" lIns="90488" tIns="44450" rIns="90488" bIns="44450">
            <a:spAutoFit/>
          </a:bodyPr>
          <a:lstStyle>
            <a:defPPr>
              <a:defRPr lang="zh-CN"/>
            </a:defPPr>
            <a:lvl1pPr algn="ctr" defTabSz="762000">
              <a:defRPr kumimoji="1" sz="1400" b="1">
                <a:latin typeface="微软雅黑" panose="020B0503020204020204" pitchFamily="34" charset="-122"/>
                <a:ea typeface="微软雅黑" panose="020B0503020204020204" pitchFamily="34" charset="-122"/>
              </a:defRPr>
            </a:lvl1pPr>
            <a:lvl2pPr marL="742950" indent="-285750" defTabSz="762000">
              <a:defRPr kumimoji="1" sz="2400">
                <a:latin typeface="Times New Roman" panose="02020603050405020304" pitchFamily="18" charset="0"/>
                <a:ea typeface="宋体" panose="02010600030101010101" pitchFamily="2" charset="-122"/>
              </a:defRPr>
            </a:lvl2pPr>
            <a:lvl3pPr marL="1143000" indent="-228600" defTabSz="762000">
              <a:defRPr kumimoji="1" sz="2400">
                <a:latin typeface="Times New Roman" panose="02020603050405020304" pitchFamily="18" charset="0"/>
                <a:ea typeface="宋体" panose="02010600030101010101" pitchFamily="2" charset="-122"/>
              </a:defRPr>
            </a:lvl3pPr>
            <a:lvl4pPr marL="1600200" indent="-228600" defTabSz="762000">
              <a:defRPr kumimoji="1" sz="2400">
                <a:latin typeface="Times New Roman" panose="02020603050405020304" pitchFamily="18" charset="0"/>
                <a:ea typeface="宋体" panose="02010600030101010101" pitchFamily="2" charset="-122"/>
              </a:defRPr>
            </a:lvl4pPr>
            <a:lvl5pPr marL="2057400" indent="-228600" defTabSz="762000">
              <a:defRPr kumimoji="1" sz="2400">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9pPr>
          </a:lstStyle>
          <a:p>
            <a:r>
              <a:rPr lang="zh-CN" altLang="en-US" dirty="0"/>
              <a:t>传输层向高层用户屏蔽了下面网络核心的细节（如网络拓扑、所采用的路由选择协议等）</a:t>
            </a:r>
          </a:p>
        </p:txBody>
      </p:sp>
    </p:spTree>
    <p:extLst>
      <p:ext uri="{BB962C8B-B14F-4D97-AF65-F5344CB8AC3E}">
        <p14:creationId xmlns:p14="http://schemas.microsoft.com/office/powerpoint/2010/main" val="3618571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172"/>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grpId="0" nodeType="withEffect">
                                  <p:stCondLst>
                                    <p:cond delay="0"/>
                                  </p:stCondLst>
                                  <p:childTnLst>
                                    <p:anim calcmode="discrete" valueType="str">
                                      <p:cBhvr>
                                        <p:cTn id="8" dur="1000" fill="hold"/>
                                        <p:tgtEl>
                                          <p:spTgt spid="169"/>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35" presetClass="emph" presetSubtype="0" repeatCount="3000" fill="hold" grpId="0" nodeType="clickEffect">
                                  <p:stCondLst>
                                    <p:cond delay="0"/>
                                  </p:stCondLst>
                                  <p:childTnLst>
                                    <p:anim calcmode="discrete" valueType="str">
                                      <p:cBhvr>
                                        <p:cTn id="12" dur="1000" fill="hold"/>
                                        <p:tgtEl>
                                          <p:spTgt spid="176"/>
                                        </p:tgtEl>
                                        <p:attrNameLst>
                                          <p:attrName>style.visibility</p:attrName>
                                        </p:attrNameLst>
                                      </p:cBhvr>
                                      <p:tavLst>
                                        <p:tav tm="0">
                                          <p:val>
                                            <p:strVal val="hidden"/>
                                          </p:val>
                                        </p:tav>
                                        <p:tav tm="50000">
                                          <p:val>
                                            <p:strVal val="visible"/>
                                          </p:val>
                                        </p:tav>
                                      </p:tavLst>
                                    </p:anim>
                                  </p:childTnLst>
                                </p:cTn>
                              </p:par>
                              <p:par>
                                <p:cTn id="13" presetID="35" presetClass="emph" presetSubtype="0" repeatCount="3000" fill="hold" grpId="0" nodeType="withEffect">
                                  <p:stCondLst>
                                    <p:cond delay="0"/>
                                  </p:stCondLst>
                                  <p:childTnLst>
                                    <p:anim calcmode="discrete" valueType="str">
                                      <p:cBhvr>
                                        <p:cTn id="14" dur="1000" fill="hold"/>
                                        <p:tgtEl>
                                          <p:spTgt spid="175"/>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 grpId="0" animBg="1"/>
      <p:bldP spid="172" grpId="0" animBg="1"/>
      <p:bldP spid="175" grpId="0" animBg="1"/>
      <p:bldP spid="176" grpId="0" animBg="1"/>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5"/>
          <p:cNvSpPr>
            <a:spLocks noChangeArrowheads="1"/>
          </p:cNvSpPr>
          <p:nvPr/>
        </p:nvSpPr>
        <p:spPr bwMode="auto">
          <a:xfrm>
            <a:off x="545144" y="62312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 name="Rectangle 6"/>
          <p:cNvSpPr>
            <a:spLocks noChangeArrowheads="1"/>
          </p:cNvSpPr>
          <p:nvPr/>
        </p:nvSpPr>
        <p:spPr bwMode="auto">
          <a:xfrm>
            <a:off x="1832136" y="600039"/>
            <a:ext cx="546245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不同传输层协议提供不同类型的逻辑通信信道</a:t>
            </a:r>
          </a:p>
        </p:txBody>
      </p:sp>
      <p:sp>
        <p:nvSpPr>
          <p:cNvPr id="16" name="圆角矩形 15"/>
          <p:cNvSpPr/>
          <p:nvPr/>
        </p:nvSpPr>
        <p:spPr>
          <a:xfrm>
            <a:off x="545144" y="1010920"/>
            <a:ext cx="8053711" cy="32186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Rectangle 5"/>
          <p:cNvSpPr>
            <a:spLocks noChangeArrowheads="1"/>
          </p:cNvSpPr>
          <p:nvPr/>
        </p:nvSpPr>
        <p:spPr bwMode="auto">
          <a:xfrm>
            <a:off x="1417231" y="2460055"/>
            <a:ext cx="3153585" cy="1531809"/>
          </a:xfrm>
          <a:prstGeom prst="rect">
            <a:avLst/>
          </a:prstGeom>
          <a:solidFill>
            <a:schemeClr val="accent2">
              <a:lumMod val="40000"/>
              <a:lumOff val="60000"/>
            </a:schemeClr>
          </a:solidFill>
          <a:ln>
            <a:solidFill>
              <a:schemeClr val="tx1"/>
            </a:solidFill>
            <a:prstDash val="dash"/>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 name="Line 8"/>
          <p:cNvSpPr>
            <a:spLocks noChangeShapeType="1"/>
          </p:cNvSpPr>
          <p:nvPr/>
        </p:nvSpPr>
        <p:spPr bwMode="auto">
          <a:xfrm>
            <a:off x="1426904" y="2471876"/>
            <a:ext cx="3143912" cy="0"/>
          </a:xfrm>
          <a:prstGeom prst="line">
            <a:avLst/>
          </a:prstGeom>
          <a:noFill/>
          <a:ln w="38100">
            <a:solidFill>
              <a:srgbClr val="0000FF"/>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 name="Text Box 9"/>
          <p:cNvSpPr txBox="1">
            <a:spLocks noChangeArrowheads="1"/>
          </p:cNvSpPr>
          <p:nvPr/>
        </p:nvSpPr>
        <p:spPr bwMode="auto">
          <a:xfrm>
            <a:off x="1417231" y="1683996"/>
            <a:ext cx="36420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应</a:t>
            </a:r>
          </a:p>
          <a:p>
            <a:pPr algn="l" eaLnBrk="1" hangingPunct="1"/>
            <a:r>
              <a:rPr lang="zh-CN" altLang="en-US" sz="1400" dirty="0">
                <a:latin typeface="微软雅黑" pitchFamily="34" charset="-122"/>
                <a:ea typeface="微软雅黑" pitchFamily="34" charset="-122"/>
              </a:rPr>
              <a:t>用</a:t>
            </a:r>
          </a:p>
          <a:p>
            <a:pPr algn="l" eaLnBrk="1" hangingPunct="1"/>
            <a:r>
              <a:rPr lang="zh-CN" altLang="en-US" sz="1400" dirty="0">
                <a:latin typeface="微软雅黑" pitchFamily="34" charset="-122"/>
                <a:ea typeface="微软雅黑" pitchFamily="34" charset="-122"/>
              </a:rPr>
              <a:t>层</a:t>
            </a:r>
          </a:p>
        </p:txBody>
      </p:sp>
      <p:sp>
        <p:nvSpPr>
          <p:cNvPr id="22" name="Text Box 10"/>
          <p:cNvSpPr txBox="1">
            <a:spLocks noChangeArrowheads="1"/>
          </p:cNvSpPr>
          <p:nvPr/>
        </p:nvSpPr>
        <p:spPr bwMode="auto">
          <a:xfrm>
            <a:off x="1426903" y="2874897"/>
            <a:ext cx="36420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1400" b="1" i="0" u="none" strike="noStrike" kern="0" cap="none" spc="0" normalizeH="0" baseline="0" noProof="0" dirty="0">
                <a:ln>
                  <a:noFill/>
                </a:ln>
                <a:effectLst/>
                <a:uLnTx/>
                <a:uFillTx/>
                <a:latin typeface="微软雅黑" pitchFamily="34" charset="-122"/>
                <a:ea typeface="微软雅黑" pitchFamily="34" charset="-122"/>
              </a:rPr>
              <a:t>运</a:t>
            </a:r>
          </a:p>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1400" b="1" i="0" u="none" strike="noStrike" kern="0" cap="none" spc="0" normalizeH="0" baseline="0" noProof="0" dirty="0">
                <a:ln>
                  <a:noFill/>
                </a:ln>
                <a:effectLst/>
                <a:uLnTx/>
                <a:uFillTx/>
                <a:latin typeface="微软雅黑" pitchFamily="34" charset="-122"/>
                <a:ea typeface="微软雅黑" pitchFamily="34" charset="-122"/>
              </a:rPr>
              <a:t>输</a:t>
            </a:r>
          </a:p>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1400" b="1" i="0" u="none" strike="noStrike" kern="0" cap="none" spc="0" normalizeH="0" baseline="0" noProof="0" dirty="0">
                <a:ln>
                  <a:noFill/>
                </a:ln>
                <a:effectLst/>
                <a:uLnTx/>
                <a:uFillTx/>
                <a:latin typeface="微软雅黑" pitchFamily="34" charset="-122"/>
                <a:ea typeface="微软雅黑" pitchFamily="34" charset="-122"/>
              </a:rPr>
              <a:t>层</a:t>
            </a:r>
          </a:p>
        </p:txBody>
      </p:sp>
      <p:sp>
        <p:nvSpPr>
          <p:cNvPr id="28" name="AutoShape 14"/>
          <p:cNvSpPr>
            <a:spLocks noChangeArrowheads="1"/>
          </p:cNvSpPr>
          <p:nvPr/>
        </p:nvSpPr>
        <p:spPr bwMode="auto">
          <a:xfrm rot="16200000">
            <a:off x="2838266" y="2376810"/>
            <a:ext cx="303071" cy="1458297"/>
          </a:xfrm>
          <a:prstGeom prst="can">
            <a:avLst>
              <a:gd name="adj" fmla="val 52844"/>
            </a:avLst>
          </a:prstGeom>
          <a:gradFill flip="none" rotWithShape="1">
            <a:gsLst>
              <a:gs pos="0">
                <a:srgbClr val="009900">
                  <a:shade val="30000"/>
                  <a:satMod val="115000"/>
                </a:srgbClr>
              </a:gs>
              <a:gs pos="50000">
                <a:srgbClr val="009900">
                  <a:shade val="67500"/>
                  <a:satMod val="115000"/>
                </a:srgbClr>
              </a:gs>
              <a:gs pos="100000">
                <a:srgbClr val="009900">
                  <a:shade val="100000"/>
                  <a:satMod val="115000"/>
                </a:srgbClr>
              </a:gs>
            </a:gsLst>
            <a:lin ang="0" scaled="1"/>
            <a:tileRect/>
          </a:gradFill>
          <a:ln w="9525">
            <a:solidFill>
              <a:srgbClr val="000000"/>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0000CC"/>
              </a:solidFill>
              <a:effectLst/>
              <a:uLnTx/>
              <a:uFillTx/>
              <a:latin typeface="微软雅黑" pitchFamily="34" charset="-122"/>
              <a:ea typeface="微软雅黑" pitchFamily="34" charset="-122"/>
            </a:endParaRPr>
          </a:p>
        </p:txBody>
      </p:sp>
      <p:sp>
        <p:nvSpPr>
          <p:cNvPr id="29" name="Text Box 20"/>
          <p:cNvSpPr txBox="1">
            <a:spLocks noChangeArrowheads="1"/>
          </p:cNvSpPr>
          <p:nvPr/>
        </p:nvSpPr>
        <p:spPr bwMode="auto">
          <a:xfrm>
            <a:off x="2368012" y="2964931"/>
            <a:ext cx="135165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13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全双工可靠信道</a:t>
            </a:r>
          </a:p>
        </p:txBody>
      </p:sp>
      <p:sp>
        <p:nvSpPr>
          <p:cNvPr id="35" name="Text Box 27"/>
          <p:cNvSpPr txBox="1">
            <a:spLocks noChangeArrowheads="1"/>
          </p:cNvSpPr>
          <p:nvPr/>
        </p:nvSpPr>
        <p:spPr bwMode="auto">
          <a:xfrm>
            <a:off x="2087434" y="3329338"/>
            <a:ext cx="1966406" cy="605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ctr" defTabSz="914400" eaLnBrk="1" fontAlgn="auto" latinLnBrk="0" hangingPunct="1">
              <a:lnSpc>
                <a:spcPts val="2000"/>
              </a:lnSpc>
              <a:spcBef>
                <a:spcPts val="0"/>
              </a:spcBef>
              <a:spcAft>
                <a:spcPts val="0"/>
              </a:spcAft>
              <a:buClrTx/>
              <a:buSzTx/>
              <a:buFontTx/>
              <a:buNone/>
              <a:tabLst/>
              <a:defRPr/>
            </a:pPr>
            <a:r>
              <a:rPr kumimoji="1" lang="zh-CN" altLang="en-US"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使用</a:t>
            </a:r>
            <a:r>
              <a:rPr kumimoji="1" lang="zh-CN" altLang="en-US" sz="1400" b="1" i="0" u="none" strike="noStrike" kern="0" cap="none" spc="0" normalizeH="0" baseline="0" noProof="0" dirty="0">
                <a:ln>
                  <a:noFill/>
                </a:ln>
                <a:solidFill>
                  <a:srgbClr val="C00000"/>
                </a:solidFill>
                <a:effectLst/>
                <a:uLnTx/>
                <a:uFillTx/>
                <a:latin typeface="微软雅黑" pitchFamily="34" charset="-122"/>
                <a:ea typeface="微软雅黑" pitchFamily="34" charset="-122"/>
              </a:rPr>
              <a:t>面向连接</a:t>
            </a:r>
            <a:r>
              <a:rPr kumimoji="1" lang="zh-CN" altLang="en-US"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的协议，如 </a:t>
            </a:r>
            <a:r>
              <a:rPr kumimoji="1" lang="en-US" altLang="zh-CN"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TCP</a:t>
            </a:r>
            <a:r>
              <a:rPr kumimoji="1" lang="zh-CN" altLang="en-US"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a:t>
            </a:r>
            <a:endParaRPr kumimoji="1" lang="en-US" altLang="zh-CN"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endParaRPr>
          </a:p>
        </p:txBody>
      </p:sp>
      <p:sp>
        <p:nvSpPr>
          <p:cNvPr id="37" name="Line 29"/>
          <p:cNvSpPr>
            <a:spLocks noChangeShapeType="1"/>
          </p:cNvSpPr>
          <p:nvPr/>
        </p:nvSpPr>
        <p:spPr bwMode="auto">
          <a:xfrm>
            <a:off x="2002215" y="2529911"/>
            <a:ext cx="0" cy="34391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8" name="Line 30"/>
          <p:cNvSpPr>
            <a:spLocks noChangeShapeType="1"/>
          </p:cNvSpPr>
          <p:nvPr/>
        </p:nvSpPr>
        <p:spPr bwMode="auto">
          <a:xfrm flipV="1">
            <a:off x="3996946" y="2529911"/>
            <a:ext cx="0" cy="34391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4" name="Text Box 13"/>
          <p:cNvSpPr txBox="1">
            <a:spLocks noChangeArrowheads="1"/>
          </p:cNvSpPr>
          <p:nvPr/>
        </p:nvSpPr>
        <p:spPr bwMode="auto">
          <a:xfrm>
            <a:off x="3445541" y="1320465"/>
            <a:ext cx="100936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接收进程</a:t>
            </a:r>
          </a:p>
        </p:txBody>
      </p:sp>
      <p:sp>
        <p:nvSpPr>
          <p:cNvPr id="65" name="Text Box 59"/>
          <p:cNvSpPr txBox="1">
            <a:spLocks noChangeArrowheads="1"/>
          </p:cNvSpPr>
          <p:nvPr/>
        </p:nvSpPr>
        <p:spPr bwMode="auto">
          <a:xfrm>
            <a:off x="1714408" y="1340515"/>
            <a:ext cx="10032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发送进程</a:t>
            </a:r>
          </a:p>
        </p:txBody>
      </p:sp>
      <p:sp>
        <p:nvSpPr>
          <p:cNvPr id="66" name="Rectangle 24"/>
          <p:cNvSpPr>
            <a:spLocks noChangeArrowheads="1"/>
          </p:cNvSpPr>
          <p:nvPr/>
        </p:nvSpPr>
        <p:spPr bwMode="auto">
          <a:xfrm>
            <a:off x="2203989" y="1759203"/>
            <a:ext cx="271954" cy="633732"/>
          </a:xfrm>
          <a:prstGeom prst="rect">
            <a:avLst/>
          </a:prstGeom>
          <a:solidFill>
            <a:srgbClr val="00FFFF"/>
          </a:solidFill>
          <a:ln w="9525">
            <a:solidFill>
              <a:srgbClr val="000000"/>
            </a:solidFill>
            <a:miter lim="800000"/>
            <a:headEnd/>
            <a:tailEnd/>
          </a:ln>
          <a:effec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effectLst/>
                <a:uLnTx/>
                <a:uFillTx/>
                <a:latin typeface="微软雅黑" pitchFamily="34" charset="-122"/>
                <a:ea typeface="微软雅黑" pitchFamily="34" charset="-122"/>
              </a:rPr>
              <a:t>数据</a:t>
            </a:r>
          </a:p>
        </p:txBody>
      </p:sp>
      <p:sp>
        <p:nvSpPr>
          <p:cNvPr id="67" name="Rectangle 24"/>
          <p:cNvSpPr>
            <a:spLocks noChangeArrowheads="1"/>
          </p:cNvSpPr>
          <p:nvPr/>
        </p:nvSpPr>
        <p:spPr bwMode="auto">
          <a:xfrm>
            <a:off x="3972698" y="1759203"/>
            <a:ext cx="271954" cy="633732"/>
          </a:xfrm>
          <a:prstGeom prst="rect">
            <a:avLst/>
          </a:prstGeom>
          <a:solidFill>
            <a:srgbClr val="00FFFF"/>
          </a:solidFill>
          <a:ln w="9525">
            <a:solidFill>
              <a:srgbClr val="000000"/>
            </a:solidFill>
            <a:miter lim="800000"/>
            <a:headEnd/>
            <a:tailEnd/>
          </a:ln>
          <a:effec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effectLst/>
                <a:uLnTx/>
                <a:uFillTx/>
                <a:latin typeface="微软雅黑" pitchFamily="34" charset="-122"/>
                <a:ea typeface="微软雅黑" pitchFamily="34" charset="-122"/>
              </a:rPr>
              <a:t>数据</a:t>
            </a:r>
          </a:p>
        </p:txBody>
      </p:sp>
      <p:grpSp>
        <p:nvGrpSpPr>
          <p:cNvPr id="24" name="Group 15"/>
          <p:cNvGrpSpPr>
            <a:grpSpLocks/>
          </p:cNvGrpSpPr>
          <p:nvPr/>
        </p:nvGrpSpPr>
        <p:grpSpPr bwMode="auto">
          <a:xfrm>
            <a:off x="2138234" y="1612957"/>
            <a:ext cx="1755539" cy="1493005"/>
            <a:chOff x="865" y="1467"/>
            <a:chExt cx="1348" cy="931"/>
          </a:xfrm>
        </p:grpSpPr>
        <p:sp>
          <p:nvSpPr>
            <p:cNvPr id="26" name="Freeform 17"/>
            <p:cNvSpPr>
              <a:spLocks/>
            </p:cNvSpPr>
            <p:nvPr/>
          </p:nvSpPr>
          <p:spPr bwMode="auto">
            <a:xfrm flipH="1">
              <a:off x="2072" y="1467"/>
              <a:ext cx="141"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38100" cmpd="sng">
              <a:solidFill>
                <a:srgbClr val="0000FF"/>
              </a:solidFill>
              <a:round/>
              <a:headEnd type="triangle" w="sm"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 name="Freeform 16"/>
            <p:cNvSpPr>
              <a:spLocks/>
            </p:cNvSpPr>
            <p:nvPr/>
          </p:nvSpPr>
          <p:spPr bwMode="auto">
            <a:xfrm>
              <a:off x="865" y="1474"/>
              <a:ext cx="201"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38100" cmpd="sng">
              <a:solidFill>
                <a:srgbClr val="0000FF"/>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sp>
        <p:nvSpPr>
          <p:cNvPr id="69" name="Rectangle 5"/>
          <p:cNvSpPr>
            <a:spLocks noChangeArrowheads="1"/>
          </p:cNvSpPr>
          <p:nvPr/>
        </p:nvSpPr>
        <p:spPr bwMode="auto">
          <a:xfrm>
            <a:off x="4768209" y="2460055"/>
            <a:ext cx="3153585" cy="1531809"/>
          </a:xfrm>
          <a:prstGeom prst="rect">
            <a:avLst/>
          </a:prstGeom>
          <a:solidFill>
            <a:schemeClr val="accent2">
              <a:lumMod val="40000"/>
              <a:lumOff val="60000"/>
            </a:schemeClr>
          </a:solidFill>
          <a:ln>
            <a:solidFill>
              <a:schemeClr val="tx1"/>
            </a:solidFill>
            <a:prstDash val="dash"/>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 name="AutoShape 6"/>
          <p:cNvSpPr>
            <a:spLocks noChangeArrowheads="1"/>
          </p:cNvSpPr>
          <p:nvPr/>
        </p:nvSpPr>
        <p:spPr bwMode="auto">
          <a:xfrm>
            <a:off x="7156237" y="1190339"/>
            <a:ext cx="500820" cy="458906"/>
          </a:xfrm>
          <a:prstGeom prst="cloudCallout">
            <a:avLst>
              <a:gd name="adj1" fmla="val -45565"/>
              <a:gd name="adj2" fmla="val 111593"/>
            </a:avLst>
          </a:prstGeom>
          <a:solidFill>
            <a:srgbClr val="FFFF66"/>
          </a:solidFill>
          <a:ln w="9525">
            <a:solidFill>
              <a:srgbClr val="000000"/>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zh-CN"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 name="Text Box 7"/>
          <p:cNvSpPr txBox="1">
            <a:spLocks noChangeArrowheads="1"/>
          </p:cNvSpPr>
          <p:nvPr/>
        </p:nvSpPr>
        <p:spPr bwMode="auto">
          <a:xfrm>
            <a:off x="7223944" y="1238227"/>
            <a:ext cx="2633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a:t>
            </a:r>
          </a:p>
        </p:txBody>
      </p:sp>
      <p:sp>
        <p:nvSpPr>
          <p:cNvPr id="23" name="Text Box 13"/>
          <p:cNvSpPr txBox="1">
            <a:spLocks noChangeArrowheads="1"/>
          </p:cNvSpPr>
          <p:nvPr/>
        </p:nvSpPr>
        <p:spPr bwMode="auto">
          <a:xfrm>
            <a:off x="6208954" y="1300415"/>
            <a:ext cx="100936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接收进程</a:t>
            </a:r>
          </a:p>
        </p:txBody>
      </p:sp>
      <p:grpSp>
        <p:nvGrpSpPr>
          <p:cNvPr id="30" name="Group 21"/>
          <p:cNvGrpSpPr>
            <a:grpSpLocks/>
          </p:cNvGrpSpPr>
          <p:nvPr/>
        </p:nvGrpSpPr>
        <p:grpSpPr bwMode="auto">
          <a:xfrm>
            <a:off x="5285535" y="1601646"/>
            <a:ext cx="1449798" cy="1504317"/>
            <a:chOff x="3508" y="1467"/>
            <a:chExt cx="1349" cy="931"/>
          </a:xfrm>
        </p:grpSpPr>
        <p:sp>
          <p:nvSpPr>
            <p:cNvPr id="31" name="Freeform 22"/>
            <p:cNvSpPr>
              <a:spLocks/>
            </p:cNvSpPr>
            <p:nvPr/>
          </p:nvSpPr>
          <p:spPr bwMode="auto">
            <a:xfrm>
              <a:off x="3508" y="1474"/>
              <a:ext cx="189" cy="924"/>
            </a:xfrm>
            <a:custGeom>
              <a:avLst/>
              <a:gdLst>
                <a:gd name="T0" fmla="*/ 0 w 144"/>
                <a:gd name="T1" fmla="*/ 0 h 768"/>
                <a:gd name="T2" fmla="*/ 0 w 144"/>
                <a:gd name="T3" fmla="*/ 924 h 768"/>
                <a:gd name="T4" fmla="*/ 189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38100" cmpd="sng">
              <a:solidFill>
                <a:srgbClr val="0000FF"/>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2" name="Freeform 23"/>
            <p:cNvSpPr>
              <a:spLocks/>
            </p:cNvSpPr>
            <p:nvPr/>
          </p:nvSpPr>
          <p:spPr bwMode="auto">
            <a:xfrm flipH="1">
              <a:off x="4669" y="1467"/>
              <a:ext cx="188"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38100" cmpd="sng">
              <a:solidFill>
                <a:srgbClr val="0000FF"/>
              </a:solidFill>
              <a:round/>
              <a:headEnd type="triangle" w="sm"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sp>
        <p:nvSpPr>
          <p:cNvPr id="33" name="Rectangle 24"/>
          <p:cNvSpPr>
            <a:spLocks noChangeArrowheads="1"/>
          </p:cNvSpPr>
          <p:nvPr/>
        </p:nvSpPr>
        <p:spPr bwMode="auto">
          <a:xfrm>
            <a:off x="5365870" y="1759203"/>
            <a:ext cx="271954" cy="633732"/>
          </a:xfrm>
          <a:prstGeom prst="rect">
            <a:avLst/>
          </a:prstGeom>
          <a:solidFill>
            <a:srgbClr val="00FFFF"/>
          </a:solidFill>
          <a:ln w="9525">
            <a:solidFill>
              <a:srgbClr val="000000"/>
            </a:solidFill>
            <a:miter lim="800000"/>
            <a:headEnd/>
            <a:tailEnd/>
          </a:ln>
          <a:effec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effectLst/>
                <a:uLnTx/>
                <a:uFillTx/>
                <a:latin typeface="微软雅黑" pitchFamily="34" charset="-122"/>
                <a:ea typeface="微软雅黑" pitchFamily="34" charset="-122"/>
              </a:rPr>
              <a:t>数据</a:t>
            </a:r>
          </a:p>
        </p:txBody>
      </p:sp>
      <p:sp>
        <p:nvSpPr>
          <p:cNvPr id="34" name="Line 26"/>
          <p:cNvSpPr>
            <a:spLocks noChangeShapeType="1"/>
          </p:cNvSpPr>
          <p:nvPr/>
        </p:nvSpPr>
        <p:spPr bwMode="auto">
          <a:xfrm>
            <a:off x="4768209" y="2471877"/>
            <a:ext cx="3153585" cy="0"/>
          </a:xfrm>
          <a:prstGeom prst="line">
            <a:avLst/>
          </a:prstGeom>
          <a:noFill/>
          <a:ln w="38100">
            <a:solidFill>
              <a:srgbClr val="0000FF"/>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6" name="Text Box 28"/>
          <p:cNvSpPr txBox="1">
            <a:spLocks noChangeArrowheads="1"/>
          </p:cNvSpPr>
          <p:nvPr/>
        </p:nvSpPr>
        <p:spPr bwMode="auto">
          <a:xfrm>
            <a:off x="5325356" y="3329338"/>
            <a:ext cx="1773180" cy="605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ctr" defTabSz="914400" eaLnBrk="1" fontAlgn="auto" latinLnBrk="0" hangingPunct="1">
              <a:lnSpc>
                <a:spcPts val="2000"/>
              </a:lnSpc>
              <a:spcBef>
                <a:spcPts val="0"/>
              </a:spcBef>
              <a:spcAft>
                <a:spcPts val="0"/>
              </a:spcAft>
              <a:buClrTx/>
              <a:buSzTx/>
              <a:buFontTx/>
              <a:buNone/>
              <a:tabLst/>
              <a:defRPr/>
            </a:pPr>
            <a:r>
              <a:rPr kumimoji="1" lang="zh-CN" altLang="en-US"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使用</a:t>
            </a:r>
            <a:r>
              <a:rPr kumimoji="1" lang="zh-CN" altLang="en-US" sz="1400" b="1" i="0" u="none" strike="noStrike" kern="0" cap="none" spc="0" normalizeH="0" baseline="0" noProof="0" dirty="0">
                <a:ln>
                  <a:noFill/>
                </a:ln>
                <a:solidFill>
                  <a:srgbClr val="C00000"/>
                </a:solidFill>
                <a:effectLst/>
                <a:uLnTx/>
                <a:uFillTx/>
                <a:latin typeface="微软雅黑" pitchFamily="34" charset="-122"/>
                <a:ea typeface="微软雅黑" pitchFamily="34" charset="-122"/>
              </a:rPr>
              <a:t>无连接</a:t>
            </a:r>
            <a:r>
              <a:rPr kumimoji="1" lang="zh-CN" altLang="en-US"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的协议，如 </a:t>
            </a:r>
            <a:r>
              <a:rPr kumimoji="1" lang="en-US" altLang="zh-CN"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UDP</a:t>
            </a:r>
            <a:r>
              <a:rPr kumimoji="1" lang="zh-CN" altLang="en-US"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a:t>
            </a:r>
            <a:endParaRPr kumimoji="1" lang="en-US" altLang="zh-CN"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endParaRPr>
          </a:p>
        </p:txBody>
      </p:sp>
      <p:sp>
        <p:nvSpPr>
          <p:cNvPr id="39" name="Line 31"/>
          <p:cNvSpPr>
            <a:spLocks noChangeShapeType="1"/>
          </p:cNvSpPr>
          <p:nvPr/>
        </p:nvSpPr>
        <p:spPr bwMode="auto">
          <a:xfrm flipV="1">
            <a:off x="6838506" y="2529911"/>
            <a:ext cx="0" cy="34391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0" name="Line 32"/>
          <p:cNvSpPr>
            <a:spLocks noChangeShapeType="1"/>
          </p:cNvSpPr>
          <p:nvPr/>
        </p:nvSpPr>
        <p:spPr bwMode="auto">
          <a:xfrm>
            <a:off x="5194184" y="2529911"/>
            <a:ext cx="0" cy="34391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nvGrpSpPr>
          <p:cNvPr id="41" name="Group 33"/>
          <p:cNvGrpSpPr>
            <a:grpSpLocks/>
          </p:cNvGrpSpPr>
          <p:nvPr/>
        </p:nvGrpSpPr>
        <p:grpSpPr bwMode="auto">
          <a:xfrm>
            <a:off x="5467145" y="2745366"/>
            <a:ext cx="1158183" cy="607340"/>
            <a:chOff x="1776" y="2768"/>
            <a:chExt cx="1824" cy="736"/>
          </a:xfrm>
          <a:solidFill>
            <a:srgbClr val="0000FF"/>
          </a:solidFill>
        </p:grpSpPr>
        <p:grpSp>
          <p:nvGrpSpPr>
            <p:cNvPr id="42" name="Group 34"/>
            <p:cNvGrpSpPr>
              <a:grpSpLocks/>
            </p:cNvGrpSpPr>
            <p:nvPr/>
          </p:nvGrpSpPr>
          <p:grpSpPr bwMode="auto">
            <a:xfrm>
              <a:off x="1787" y="2783"/>
              <a:ext cx="1813" cy="721"/>
              <a:chOff x="1787" y="2783"/>
              <a:chExt cx="1813" cy="721"/>
            </a:xfrm>
            <a:grpFill/>
          </p:grpSpPr>
          <p:sp>
            <p:nvSpPr>
              <p:cNvPr id="52" name="Oval 35"/>
              <p:cNvSpPr>
                <a:spLocks noChangeArrowheads="1"/>
              </p:cNvSpPr>
              <p:nvPr/>
            </p:nvSpPr>
            <p:spPr bwMode="auto">
              <a:xfrm>
                <a:off x="2413" y="2783"/>
                <a:ext cx="780" cy="291"/>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3" name="Oval 36"/>
              <p:cNvSpPr>
                <a:spLocks noChangeArrowheads="1"/>
              </p:cNvSpPr>
              <p:nvPr/>
            </p:nvSpPr>
            <p:spPr bwMode="auto">
              <a:xfrm>
                <a:off x="1974" y="2863"/>
                <a:ext cx="593" cy="291"/>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4" name="Oval 37"/>
              <p:cNvSpPr>
                <a:spLocks noChangeArrowheads="1"/>
              </p:cNvSpPr>
              <p:nvPr/>
            </p:nvSpPr>
            <p:spPr bwMode="auto">
              <a:xfrm>
                <a:off x="1787" y="3045"/>
                <a:ext cx="396" cy="233"/>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5" name="Oval 38"/>
              <p:cNvSpPr>
                <a:spLocks noChangeArrowheads="1"/>
              </p:cNvSpPr>
              <p:nvPr/>
            </p:nvSpPr>
            <p:spPr bwMode="auto">
              <a:xfrm>
                <a:off x="1908" y="3154"/>
                <a:ext cx="604" cy="255"/>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6" name="Oval 39"/>
              <p:cNvSpPr>
                <a:spLocks noChangeArrowheads="1"/>
              </p:cNvSpPr>
              <p:nvPr/>
            </p:nvSpPr>
            <p:spPr bwMode="auto">
              <a:xfrm>
                <a:off x="2347" y="3198"/>
                <a:ext cx="912" cy="30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7" name="Oval 40"/>
              <p:cNvSpPr>
                <a:spLocks noChangeArrowheads="1"/>
              </p:cNvSpPr>
              <p:nvPr/>
            </p:nvSpPr>
            <p:spPr bwMode="auto">
              <a:xfrm>
                <a:off x="2941" y="2870"/>
                <a:ext cx="571" cy="22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8" name="Oval 41"/>
              <p:cNvSpPr>
                <a:spLocks noChangeArrowheads="1"/>
              </p:cNvSpPr>
              <p:nvPr/>
            </p:nvSpPr>
            <p:spPr bwMode="auto">
              <a:xfrm>
                <a:off x="3029" y="3023"/>
                <a:ext cx="571" cy="22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9" name="Oval 42"/>
              <p:cNvSpPr>
                <a:spLocks noChangeArrowheads="1"/>
              </p:cNvSpPr>
              <p:nvPr/>
            </p:nvSpPr>
            <p:spPr bwMode="auto">
              <a:xfrm>
                <a:off x="2974" y="3074"/>
                <a:ext cx="571" cy="379"/>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0" name="Oval 43"/>
              <p:cNvSpPr>
                <a:spLocks noChangeArrowheads="1"/>
              </p:cNvSpPr>
              <p:nvPr/>
            </p:nvSpPr>
            <p:spPr bwMode="auto">
              <a:xfrm>
                <a:off x="2117" y="2957"/>
                <a:ext cx="1175" cy="379"/>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sp>
          <p:nvSpPr>
            <p:cNvPr id="43" name="Oval 44"/>
            <p:cNvSpPr>
              <a:spLocks noChangeArrowheads="1"/>
            </p:cNvSpPr>
            <p:nvPr/>
          </p:nvSpPr>
          <p:spPr bwMode="auto">
            <a:xfrm>
              <a:off x="2402" y="2768"/>
              <a:ext cx="780" cy="291"/>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4" name="Oval 45"/>
            <p:cNvSpPr>
              <a:spLocks noChangeArrowheads="1"/>
            </p:cNvSpPr>
            <p:nvPr/>
          </p:nvSpPr>
          <p:spPr bwMode="auto">
            <a:xfrm>
              <a:off x="1963" y="2848"/>
              <a:ext cx="593" cy="292"/>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5" name="Oval 46"/>
            <p:cNvSpPr>
              <a:spLocks noChangeArrowheads="1"/>
            </p:cNvSpPr>
            <p:nvPr/>
          </p:nvSpPr>
          <p:spPr bwMode="auto">
            <a:xfrm>
              <a:off x="1776" y="3030"/>
              <a:ext cx="396" cy="234"/>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6" name="Oval 47"/>
            <p:cNvSpPr>
              <a:spLocks noChangeArrowheads="1"/>
            </p:cNvSpPr>
            <p:nvPr/>
          </p:nvSpPr>
          <p:spPr bwMode="auto">
            <a:xfrm>
              <a:off x="1897" y="3140"/>
              <a:ext cx="604" cy="255"/>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7" name="Oval 48"/>
            <p:cNvSpPr>
              <a:spLocks noChangeArrowheads="1"/>
            </p:cNvSpPr>
            <p:nvPr/>
          </p:nvSpPr>
          <p:spPr bwMode="auto">
            <a:xfrm>
              <a:off x="2336" y="3183"/>
              <a:ext cx="912" cy="30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8" name="Oval 49"/>
            <p:cNvSpPr>
              <a:spLocks noChangeArrowheads="1"/>
            </p:cNvSpPr>
            <p:nvPr/>
          </p:nvSpPr>
          <p:spPr bwMode="auto">
            <a:xfrm>
              <a:off x="2930" y="2855"/>
              <a:ext cx="571" cy="22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9" name="Oval 50"/>
            <p:cNvSpPr>
              <a:spLocks noChangeArrowheads="1"/>
            </p:cNvSpPr>
            <p:nvPr/>
          </p:nvSpPr>
          <p:spPr bwMode="auto">
            <a:xfrm>
              <a:off x="3018" y="3008"/>
              <a:ext cx="571" cy="22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0" name="Oval 51"/>
            <p:cNvSpPr>
              <a:spLocks noChangeArrowheads="1"/>
            </p:cNvSpPr>
            <p:nvPr/>
          </p:nvSpPr>
          <p:spPr bwMode="auto">
            <a:xfrm>
              <a:off x="2963" y="3059"/>
              <a:ext cx="571" cy="379"/>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1" name="Oval 52"/>
            <p:cNvSpPr>
              <a:spLocks noChangeArrowheads="1"/>
            </p:cNvSpPr>
            <p:nvPr/>
          </p:nvSpPr>
          <p:spPr bwMode="auto">
            <a:xfrm>
              <a:off x="2106" y="2943"/>
              <a:ext cx="1175" cy="379"/>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sp>
        <p:nvSpPr>
          <p:cNvPr id="61" name="Text Box 53"/>
          <p:cNvSpPr txBox="1">
            <a:spLocks noChangeArrowheads="1"/>
          </p:cNvSpPr>
          <p:nvPr/>
        </p:nvSpPr>
        <p:spPr bwMode="auto">
          <a:xfrm>
            <a:off x="5544390" y="2916811"/>
            <a:ext cx="1018227"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13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不可靠信道</a:t>
            </a:r>
          </a:p>
        </p:txBody>
      </p:sp>
      <p:sp>
        <p:nvSpPr>
          <p:cNvPr id="62" name="Text Box 59"/>
          <p:cNvSpPr txBox="1">
            <a:spLocks noChangeArrowheads="1"/>
          </p:cNvSpPr>
          <p:nvPr/>
        </p:nvSpPr>
        <p:spPr bwMode="auto">
          <a:xfrm>
            <a:off x="4844895" y="1320465"/>
            <a:ext cx="10032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发送进程</a:t>
            </a:r>
          </a:p>
        </p:txBody>
      </p:sp>
      <p:sp>
        <p:nvSpPr>
          <p:cNvPr id="63" name="Rectangle 24"/>
          <p:cNvSpPr>
            <a:spLocks noChangeArrowheads="1"/>
          </p:cNvSpPr>
          <p:nvPr/>
        </p:nvSpPr>
        <p:spPr bwMode="auto">
          <a:xfrm>
            <a:off x="6848867" y="1759203"/>
            <a:ext cx="271954" cy="633732"/>
          </a:xfrm>
          <a:prstGeom prst="rect">
            <a:avLst/>
          </a:prstGeom>
          <a:solidFill>
            <a:srgbClr val="FFFF66"/>
          </a:solidFill>
          <a:ln w="9525">
            <a:solidFill>
              <a:srgbClr val="000000"/>
            </a:solidFill>
            <a:miter lim="800000"/>
            <a:headEnd/>
            <a:tailEnd/>
          </a:ln>
          <a:effec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effectLst/>
                <a:uLnTx/>
                <a:uFillTx/>
                <a:latin typeface="微软雅黑" pitchFamily="34" charset="-122"/>
                <a:ea typeface="微软雅黑" pitchFamily="34" charset="-122"/>
              </a:rPr>
              <a:t>数据</a:t>
            </a:r>
          </a:p>
        </p:txBody>
      </p:sp>
    </p:spTree>
    <p:extLst>
      <p:ext uri="{BB962C8B-B14F-4D97-AF65-F5344CB8AC3E}">
        <p14:creationId xmlns:p14="http://schemas.microsoft.com/office/powerpoint/2010/main" val="3122274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29"/>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6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6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AutoShape 5"/>
          <p:cNvSpPr>
            <a:spLocks noChangeArrowheads="1"/>
          </p:cNvSpPr>
          <p:nvPr/>
        </p:nvSpPr>
        <p:spPr bwMode="auto">
          <a:xfrm>
            <a:off x="545143" y="625137"/>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4" name="Rectangle 6"/>
          <p:cNvSpPr>
            <a:spLocks noChangeArrowheads="1"/>
          </p:cNvSpPr>
          <p:nvPr/>
        </p:nvSpPr>
        <p:spPr bwMode="auto">
          <a:xfrm>
            <a:off x="2431833" y="582866"/>
            <a:ext cx="42803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5.1.2   </a:t>
            </a:r>
            <a:r>
              <a:rPr lang="zh-CN" altLang="en-US" sz="2400" b="1" dirty="0">
                <a:solidFill>
                  <a:schemeClr val="bg1"/>
                </a:solidFill>
                <a:latin typeface="微软雅黑" pitchFamily="34" charset="-122"/>
                <a:ea typeface="微软雅黑" pitchFamily="34" charset="-122"/>
              </a:rPr>
              <a:t>传输层的两个主要协议</a:t>
            </a:r>
          </a:p>
        </p:txBody>
      </p:sp>
      <p:sp>
        <p:nvSpPr>
          <p:cNvPr id="35" name="Rectangle 8"/>
          <p:cNvSpPr>
            <a:spLocks noChangeArrowheads="1"/>
          </p:cNvSpPr>
          <p:nvPr/>
        </p:nvSpPr>
        <p:spPr bwMode="auto">
          <a:xfrm>
            <a:off x="545143" y="1010730"/>
            <a:ext cx="7665003"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3000"/>
              </a:lnSpc>
              <a:buClr>
                <a:srgbClr val="9900CC"/>
              </a:buClr>
            </a:pPr>
            <a:r>
              <a:rPr lang="zh-CN" altLang="en-US" sz="2000" b="1" dirty="0">
                <a:latin typeface="微软雅黑" pitchFamily="34" charset="-122"/>
                <a:ea typeface="微软雅黑" pitchFamily="34" charset="-122"/>
              </a:rPr>
              <a:t>互联网的正式标准：</a:t>
            </a:r>
            <a:endParaRPr lang="en-US" altLang="zh-CN" sz="2000" b="1" dirty="0">
              <a:latin typeface="微软雅黑" pitchFamily="34" charset="-122"/>
              <a:ea typeface="微软雅黑" pitchFamily="34" charset="-122"/>
            </a:endParaRPr>
          </a:p>
          <a:p>
            <a:pPr marL="357188" indent="-357188">
              <a:lnSpc>
                <a:spcPts val="3000"/>
              </a:lnSpc>
              <a:buClr>
                <a:srgbClr val="9900CC"/>
              </a:buClr>
              <a:buFont typeface="+mj-lt"/>
              <a:buAutoNum type="arabicPeriod"/>
            </a:pPr>
            <a:r>
              <a:rPr lang="zh-CN" altLang="en-US" sz="2000" b="1" dirty="0">
                <a:latin typeface="微软雅黑" pitchFamily="34" charset="-122"/>
                <a:ea typeface="微软雅黑" pitchFamily="34" charset="-122"/>
              </a:rPr>
              <a:t>用户数据报协议 </a:t>
            </a:r>
            <a:r>
              <a:rPr lang="en-US" altLang="zh-CN" sz="2000" b="1" dirty="0">
                <a:solidFill>
                  <a:srgbClr val="C00000"/>
                </a:solidFill>
                <a:latin typeface="微软雅黑" pitchFamily="34" charset="-122"/>
                <a:ea typeface="微软雅黑" pitchFamily="34" charset="-122"/>
              </a:rPr>
              <a:t>UDP</a:t>
            </a:r>
            <a:r>
              <a:rPr lang="en-US" altLang="zh-CN" sz="2000" b="1" dirty="0">
                <a:latin typeface="微软雅黑" pitchFamily="34" charset="-122"/>
                <a:ea typeface="微软雅黑" pitchFamily="34" charset="-122"/>
              </a:rPr>
              <a:t> (User Datagram Protocol)</a:t>
            </a:r>
          </a:p>
          <a:p>
            <a:pPr marL="357188" indent="-357188">
              <a:lnSpc>
                <a:spcPts val="3000"/>
              </a:lnSpc>
              <a:buClr>
                <a:srgbClr val="9900CC"/>
              </a:buClr>
              <a:buFont typeface="+mj-lt"/>
              <a:buAutoNum type="arabicPeriod"/>
            </a:pPr>
            <a:r>
              <a:rPr lang="zh-CN" altLang="en-US" sz="2000" b="1" dirty="0">
                <a:latin typeface="微软雅黑" pitchFamily="34" charset="-122"/>
                <a:ea typeface="微软雅黑" pitchFamily="34" charset="-122"/>
              </a:rPr>
              <a:t>传输控制协议 </a:t>
            </a:r>
            <a:r>
              <a:rPr lang="en-US" altLang="zh-CN" sz="2000" b="1" dirty="0">
                <a:solidFill>
                  <a:srgbClr val="C00000"/>
                </a:solidFill>
                <a:latin typeface="微软雅黑" pitchFamily="34" charset="-122"/>
                <a:ea typeface="微软雅黑" pitchFamily="34" charset="-122"/>
              </a:rPr>
              <a:t>TCP</a:t>
            </a:r>
            <a:r>
              <a:rPr lang="en-US" altLang="zh-CN" sz="2000" b="1" dirty="0">
                <a:latin typeface="微软雅黑" pitchFamily="34" charset="-122"/>
                <a:ea typeface="微软雅黑" pitchFamily="34" charset="-122"/>
              </a:rPr>
              <a:t> (Transmission Control Protocol)</a:t>
            </a:r>
          </a:p>
        </p:txBody>
      </p:sp>
      <p:sp>
        <p:nvSpPr>
          <p:cNvPr id="36" name="圆角矩形 35"/>
          <p:cNvSpPr/>
          <p:nvPr/>
        </p:nvSpPr>
        <p:spPr>
          <a:xfrm>
            <a:off x="545143" y="2249782"/>
            <a:ext cx="8053711" cy="205050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3039036" y="2387588"/>
            <a:ext cx="3318390" cy="1682387"/>
            <a:chOff x="3039036" y="2387588"/>
            <a:chExt cx="3318390" cy="1682387"/>
          </a:xfrm>
        </p:grpSpPr>
        <p:sp>
          <p:nvSpPr>
            <p:cNvPr id="38" name="Rectangle 5"/>
            <p:cNvSpPr>
              <a:spLocks noChangeArrowheads="1"/>
            </p:cNvSpPr>
            <p:nvPr/>
          </p:nvSpPr>
          <p:spPr bwMode="auto">
            <a:xfrm>
              <a:off x="3040360" y="2409454"/>
              <a:ext cx="2520202" cy="1660521"/>
            </a:xfrm>
            <a:prstGeom prst="rect">
              <a:avLst/>
            </a:prstGeom>
            <a:solidFill>
              <a:schemeClr val="accent6">
                <a:lumMod val="75000"/>
              </a:schemeClr>
            </a:solidFill>
            <a:ln w="25400">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9" name="Line 6"/>
            <p:cNvSpPr>
              <a:spLocks noChangeShapeType="1"/>
            </p:cNvSpPr>
            <p:nvPr/>
          </p:nvSpPr>
          <p:spPr bwMode="auto">
            <a:xfrm>
              <a:off x="3039036" y="2759439"/>
              <a:ext cx="25175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0" name="Line 7"/>
            <p:cNvSpPr>
              <a:spLocks noChangeShapeType="1"/>
            </p:cNvSpPr>
            <p:nvPr/>
          </p:nvSpPr>
          <p:spPr bwMode="auto">
            <a:xfrm>
              <a:off x="3039036" y="3115966"/>
              <a:ext cx="252682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1" name="Rectangle 8"/>
            <p:cNvSpPr>
              <a:spLocks noChangeArrowheads="1"/>
            </p:cNvSpPr>
            <p:nvPr/>
          </p:nvSpPr>
          <p:spPr bwMode="auto">
            <a:xfrm>
              <a:off x="3060225" y="2427989"/>
              <a:ext cx="2491066" cy="317276"/>
            </a:xfrm>
            <a:prstGeom prst="rect">
              <a:avLst/>
            </a:prstGeom>
            <a:solidFill>
              <a:srgbClr val="99FFCC"/>
            </a:solidFill>
            <a:ln>
              <a:noFill/>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2" name="Rectangle 9"/>
            <p:cNvSpPr>
              <a:spLocks noChangeArrowheads="1"/>
            </p:cNvSpPr>
            <p:nvPr/>
          </p:nvSpPr>
          <p:spPr bwMode="auto">
            <a:xfrm>
              <a:off x="3060225" y="3129049"/>
              <a:ext cx="2484444" cy="924571"/>
            </a:xfrm>
            <a:prstGeom prst="rect">
              <a:avLst/>
            </a:prstGeom>
            <a:solidFill>
              <a:srgbClr val="99FFCC"/>
            </a:solidFill>
            <a:ln>
              <a:noFill/>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3" name="Line 10"/>
            <p:cNvSpPr>
              <a:spLocks noChangeShapeType="1"/>
            </p:cNvSpPr>
            <p:nvPr/>
          </p:nvSpPr>
          <p:spPr bwMode="auto">
            <a:xfrm>
              <a:off x="4289204" y="2762710"/>
              <a:ext cx="0" cy="34889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4" name="Rectangle 11"/>
            <p:cNvSpPr>
              <a:spLocks noChangeArrowheads="1"/>
            </p:cNvSpPr>
            <p:nvPr/>
          </p:nvSpPr>
          <p:spPr bwMode="auto">
            <a:xfrm>
              <a:off x="4586210" y="2771135"/>
              <a:ext cx="6257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chemeClr val="bg1"/>
                  </a:solidFill>
                  <a:latin typeface="微软雅黑" pitchFamily="34" charset="-122"/>
                  <a:ea typeface="微软雅黑" pitchFamily="34" charset="-122"/>
                </a:rPr>
                <a:t>TCP</a:t>
              </a:r>
            </a:p>
          </p:txBody>
        </p:sp>
        <p:sp>
          <p:nvSpPr>
            <p:cNvPr id="45" name="Rectangle 12"/>
            <p:cNvSpPr>
              <a:spLocks noChangeArrowheads="1"/>
            </p:cNvSpPr>
            <p:nvPr/>
          </p:nvSpPr>
          <p:spPr bwMode="auto">
            <a:xfrm>
              <a:off x="3325446" y="2771135"/>
              <a:ext cx="6973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chemeClr val="bg1"/>
                  </a:solidFill>
                  <a:latin typeface="微软雅黑" pitchFamily="34" charset="-122"/>
                  <a:ea typeface="微软雅黑" pitchFamily="34" charset="-122"/>
                </a:rPr>
                <a:t>UDP</a:t>
              </a:r>
            </a:p>
          </p:txBody>
        </p:sp>
        <p:sp>
          <p:nvSpPr>
            <p:cNvPr id="46" name="Rectangle 15"/>
            <p:cNvSpPr>
              <a:spLocks noChangeArrowheads="1"/>
            </p:cNvSpPr>
            <p:nvPr/>
          </p:nvSpPr>
          <p:spPr bwMode="auto">
            <a:xfrm>
              <a:off x="4090555" y="3178938"/>
              <a:ext cx="423265" cy="364208"/>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400" b="1" dirty="0">
                  <a:latin typeface="微软雅黑" pitchFamily="34" charset="-122"/>
                  <a:ea typeface="微软雅黑" pitchFamily="34" charset="-122"/>
                </a:rPr>
                <a:t>IP</a:t>
              </a:r>
            </a:p>
          </p:txBody>
        </p:sp>
        <p:sp>
          <p:nvSpPr>
            <p:cNvPr id="47" name="Rectangle 18"/>
            <p:cNvSpPr>
              <a:spLocks noChangeArrowheads="1"/>
            </p:cNvSpPr>
            <p:nvPr/>
          </p:nvSpPr>
          <p:spPr bwMode="auto">
            <a:xfrm>
              <a:off x="3882635" y="2387588"/>
              <a:ext cx="842783" cy="36420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latin typeface="微软雅黑" pitchFamily="34" charset="-122"/>
                  <a:ea typeface="微软雅黑" pitchFamily="34" charset="-122"/>
                </a:rPr>
                <a:t>应用层</a:t>
              </a:r>
            </a:p>
          </p:txBody>
        </p:sp>
        <p:sp>
          <p:nvSpPr>
            <p:cNvPr id="48" name="Rectangle 19"/>
            <p:cNvSpPr>
              <a:spLocks noChangeArrowheads="1"/>
            </p:cNvSpPr>
            <p:nvPr/>
          </p:nvSpPr>
          <p:spPr bwMode="auto">
            <a:xfrm>
              <a:off x="3199198" y="3568413"/>
              <a:ext cx="2140118" cy="364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400" b="1" dirty="0">
                  <a:latin typeface="微软雅黑" pitchFamily="34" charset="-122"/>
                  <a:ea typeface="微软雅黑" pitchFamily="34" charset="-122"/>
                </a:rPr>
                <a:t>与各种网络接口</a:t>
              </a:r>
            </a:p>
          </p:txBody>
        </p:sp>
        <p:sp>
          <p:nvSpPr>
            <p:cNvPr id="49" name="Line 20"/>
            <p:cNvSpPr>
              <a:spLocks noChangeShapeType="1"/>
            </p:cNvSpPr>
            <p:nvPr/>
          </p:nvSpPr>
          <p:spPr bwMode="auto">
            <a:xfrm>
              <a:off x="3039036" y="3459409"/>
              <a:ext cx="25175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0" name="Text Box 22"/>
            <p:cNvSpPr txBox="1">
              <a:spLocks noChangeArrowheads="1"/>
            </p:cNvSpPr>
            <p:nvPr/>
          </p:nvSpPr>
          <p:spPr bwMode="auto">
            <a:xfrm>
              <a:off x="5557207" y="2768724"/>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solidFill>
                    <a:srgbClr val="0000FF"/>
                  </a:solidFill>
                  <a:latin typeface="微软雅黑" pitchFamily="34" charset="-122"/>
                  <a:ea typeface="微软雅黑" pitchFamily="34" charset="-122"/>
                </a:rPr>
                <a:t>传输层</a:t>
              </a:r>
            </a:p>
          </p:txBody>
        </p:sp>
      </p:grpSp>
    </p:spTree>
    <p:extLst>
      <p:ext uri="{BB962C8B-B14F-4D97-AF65-F5344CB8AC3E}">
        <p14:creationId xmlns:p14="http://schemas.microsoft.com/office/powerpoint/2010/main" val="21170489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3022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424624" y="597013"/>
            <a:ext cx="23134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传输协议数据单元 </a:t>
            </a:r>
          </a:p>
        </p:txBody>
      </p:sp>
      <p:sp>
        <p:nvSpPr>
          <p:cNvPr id="4" name="Rectangle 68"/>
          <p:cNvSpPr>
            <a:spLocks noChangeArrowheads="1"/>
          </p:cNvSpPr>
          <p:nvPr/>
        </p:nvSpPr>
        <p:spPr bwMode="auto">
          <a:xfrm>
            <a:off x="556963" y="986508"/>
            <a:ext cx="8184960"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两个对等传输实体在通信时传送的数据单位叫作</a:t>
            </a:r>
            <a:r>
              <a:rPr lang="zh-CN" altLang="en-US" sz="2000" b="1" dirty="0">
                <a:solidFill>
                  <a:srgbClr val="C00000"/>
                </a:solidFill>
                <a:latin typeface="微软雅黑" pitchFamily="34" charset="-122"/>
                <a:ea typeface="微软雅黑" pitchFamily="34" charset="-122"/>
              </a:rPr>
              <a:t>传输协议数据单元 </a:t>
            </a:r>
            <a:r>
              <a:rPr lang="en-US" altLang="zh-CN" sz="2000" b="1" dirty="0">
                <a:solidFill>
                  <a:srgbClr val="C00000"/>
                </a:solidFill>
                <a:latin typeface="微软雅黑" pitchFamily="34" charset="-122"/>
                <a:ea typeface="微软雅黑" pitchFamily="34" charset="-122"/>
              </a:rPr>
              <a:t>TPDU </a:t>
            </a:r>
            <a:r>
              <a:rPr lang="en-US" altLang="zh-CN" sz="2000" b="1" dirty="0">
                <a:latin typeface="微软雅黑" pitchFamily="34" charset="-122"/>
                <a:ea typeface="微软雅黑" pitchFamily="34" charset="-122"/>
              </a:rPr>
              <a:t>(Transport Protocol Data Unit)</a:t>
            </a:r>
            <a:r>
              <a:rPr lang="zh-CN" altLang="en-US" sz="2000" b="1" dirty="0">
                <a:latin typeface="微软雅黑" pitchFamily="34" charset="-122"/>
                <a:ea typeface="微软雅黑" pitchFamily="34" charset="-122"/>
              </a:rPr>
              <a:t>。</a:t>
            </a:r>
          </a:p>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传送的数据单位协议是 </a:t>
            </a:r>
            <a:r>
              <a:rPr lang="en-US" altLang="zh-CN" sz="2000" b="1" dirty="0">
                <a:solidFill>
                  <a:srgbClr val="C00000"/>
                </a:solidFill>
                <a:latin typeface="微软雅黑" pitchFamily="34" charset="-122"/>
                <a:ea typeface="微软雅黑" pitchFamily="34" charset="-122"/>
              </a:rPr>
              <a:t>TCP </a:t>
            </a:r>
            <a:r>
              <a:rPr lang="zh-CN" altLang="en-US" sz="2000" b="1" dirty="0">
                <a:solidFill>
                  <a:srgbClr val="C00000"/>
                </a:solidFill>
                <a:latin typeface="微软雅黑" pitchFamily="34" charset="-122"/>
                <a:ea typeface="微软雅黑" pitchFamily="34" charset="-122"/>
              </a:rPr>
              <a:t>报文段 </a:t>
            </a:r>
            <a:r>
              <a:rPr lang="en-US" altLang="zh-CN" sz="2000" b="1" dirty="0">
                <a:latin typeface="微软雅黑" pitchFamily="34" charset="-122"/>
                <a:ea typeface="微软雅黑" pitchFamily="34" charset="-122"/>
              </a:rPr>
              <a:t>(segment)</a:t>
            </a:r>
            <a:r>
              <a:rPr lang="zh-CN" altLang="en-US" sz="2000" b="1" dirty="0">
                <a:latin typeface="微软雅黑" pitchFamily="34" charset="-122"/>
                <a:ea typeface="微软雅黑" pitchFamily="34" charset="-122"/>
              </a:rPr>
              <a:t>。</a:t>
            </a:r>
          </a:p>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UDP </a:t>
            </a:r>
            <a:r>
              <a:rPr lang="zh-CN" altLang="en-US" sz="2000" b="1" dirty="0">
                <a:latin typeface="微软雅黑" pitchFamily="34" charset="-122"/>
                <a:ea typeface="微软雅黑" pitchFamily="34" charset="-122"/>
              </a:rPr>
              <a:t>传送的数据单位协议是 </a:t>
            </a:r>
            <a:r>
              <a:rPr lang="en-US" altLang="zh-CN" sz="2000" b="1" dirty="0">
                <a:solidFill>
                  <a:srgbClr val="C00000"/>
                </a:solidFill>
                <a:latin typeface="微软雅黑" pitchFamily="34" charset="-122"/>
                <a:ea typeface="微软雅黑" pitchFamily="34" charset="-122"/>
              </a:rPr>
              <a:t>UDP </a:t>
            </a:r>
            <a:r>
              <a:rPr lang="zh-CN" altLang="en-US" sz="2000" b="1" dirty="0">
                <a:solidFill>
                  <a:srgbClr val="C00000"/>
                </a:solidFill>
                <a:latin typeface="微软雅黑" pitchFamily="34" charset="-122"/>
                <a:ea typeface="微软雅黑" pitchFamily="34" charset="-122"/>
              </a:rPr>
              <a:t>用户数据报。 </a:t>
            </a:r>
          </a:p>
        </p:txBody>
      </p:sp>
    </p:spTree>
    <p:extLst>
      <p:ext uri="{BB962C8B-B14F-4D97-AF65-F5344CB8AC3E}">
        <p14:creationId xmlns:p14="http://schemas.microsoft.com/office/powerpoint/2010/main" val="4026141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5"/>
          <p:cNvSpPr>
            <a:spLocks noChangeArrowheads="1"/>
          </p:cNvSpPr>
          <p:nvPr/>
        </p:nvSpPr>
        <p:spPr bwMode="auto">
          <a:xfrm>
            <a:off x="556963" y="62482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0" name="Rectangle 6"/>
          <p:cNvSpPr>
            <a:spLocks noChangeArrowheads="1"/>
          </p:cNvSpPr>
          <p:nvPr/>
        </p:nvSpPr>
        <p:spPr bwMode="auto">
          <a:xfrm>
            <a:off x="3329441" y="591614"/>
            <a:ext cx="25038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UDP </a:t>
            </a:r>
            <a:r>
              <a:rPr lang="zh-CN" altLang="en-US" sz="2000" b="1" dirty="0">
                <a:solidFill>
                  <a:schemeClr val="bg1"/>
                </a:solidFill>
                <a:latin typeface="微软雅黑" pitchFamily="34" charset="-122"/>
                <a:ea typeface="微软雅黑" pitchFamily="34" charset="-122"/>
              </a:rPr>
              <a:t>与 </a:t>
            </a: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的区别</a:t>
            </a:r>
          </a:p>
        </p:txBody>
      </p:sp>
      <p:sp>
        <p:nvSpPr>
          <p:cNvPr id="3" name="任意多边形: 形状 2">
            <a:extLst>
              <a:ext uri="{FF2B5EF4-FFF2-40B4-BE49-F238E27FC236}">
                <a16:creationId xmlns:a16="http://schemas.microsoft.com/office/drawing/2014/main" id="{CB3CCBE1-15D1-0371-A956-8AD335C8C63A}"/>
              </a:ext>
            </a:extLst>
          </p:cNvPr>
          <p:cNvSpPr/>
          <p:nvPr/>
        </p:nvSpPr>
        <p:spPr>
          <a:xfrm>
            <a:off x="1542343" y="1146957"/>
            <a:ext cx="2873525" cy="748800"/>
          </a:xfrm>
          <a:custGeom>
            <a:avLst/>
            <a:gdLst>
              <a:gd name="csX0" fmla="*/ 0 w 2873525"/>
              <a:gd name="csY0" fmla="*/ 0 h 748800"/>
              <a:gd name="csX1" fmla="*/ 2873525 w 2873525"/>
              <a:gd name="csY1" fmla="*/ 0 h 748800"/>
              <a:gd name="csX2" fmla="*/ 2873525 w 2873525"/>
              <a:gd name="csY2" fmla="*/ 748800 h 748800"/>
              <a:gd name="csX3" fmla="*/ 0 w 2873525"/>
              <a:gd name="csY3" fmla="*/ 748800 h 748800"/>
              <a:gd name="csX4" fmla="*/ 0 w 2873525"/>
              <a:gd name="csY4" fmla="*/ 0 h 748800"/>
            </a:gdLst>
            <a:ahLst/>
            <a:cxnLst>
              <a:cxn ang="0">
                <a:pos x="csX0" y="csY0"/>
              </a:cxn>
              <a:cxn ang="0">
                <a:pos x="csX1" y="csY1"/>
              </a:cxn>
              <a:cxn ang="0">
                <a:pos x="csX2" y="csY2"/>
              </a:cxn>
              <a:cxn ang="0">
                <a:pos x="csX3" y="csY3"/>
              </a:cxn>
              <a:cxn ang="0">
                <a:pos x="csX4" y="csY4"/>
              </a:cxn>
            </a:cxnLst>
            <a:rect l="l" t="t" r="r" b="b"/>
            <a:pathLst>
              <a:path w="2873525" h="748800">
                <a:moveTo>
                  <a:pt x="0" y="0"/>
                </a:moveTo>
                <a:lnTo>
                  <a:pt x="2873525" y="0"/>
                </a:lnTo>
                <a:lnTo>
                  <a:pt x="2873525" y="748800"/>
                </a:lnTo>
                <a:lnTo>
                  <a:pt x="0" y="748800"/>
                </a:lnTo>
                <a:lnTo>
                  <a:pt x="0" y="0"/>
                </a:lnTo>
                <a:close/>
              </a:path>
            </a:pathLst>
          </a:custGeom>
          <a:solidFill>
            <a:srgbClr val="C0504D"/>
          </a:solidFill>
        </p:spPr>
        <p:style>
          <a:lnRef idx="2">
            <a:schemeClr val="accent2">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itchFamily="34" charset="-122"/>
                <a:ea typeface="微软雅黑" pitchFamily="34" charset="-122"/>
              </a:rPr>
              <a:t>UDP</a:t>
            </a:r>
            <a:endParaRPr lang="zh-CN" altLang="en-US" sz="1800" b="1" kern="1200" dirty="0">
              <a:latin typeface="微软雅黑" panose="020B0503020204020204" pitchFamily="34" charset="-122"/>
              <a:ea typeface="微软雅黑" panose="020B0503020204020204" pitchFamily="34" charset="-122"/>
            </a:endParaRPr>
          </a:p>
        </p:txBody>
      </p:sp>
      <p:sp>
        <p:nvSpPr>
          <p:cNvPr id="5" name="任意多边形: 形状 4">
            <a:extLst>
              <a:ext uri="{FF2B5EF4-FFF2-40B4-BE49-F238E27FC236}">
                <a16:creationId xmlns:a16="http://schemas.microsoft.com/office/drawing/2014/main" id="{196D6A64-CA20-689E-5C4F-0D3F229D3361}"/>
              </a:ext>
            </a:extLst>
          </p:cNvPr>
          <p:cNvSpPr/>
          <p:nvPr/>
        </p:nvSpPr>
        <p:spPr>
          <a:xfrm>
            <a:off x="1542343" y="1895757"/>
            <a:ext cx="2873525" cy="2212470"/>
          </a:xfrm>
          <a:custGeom>
            <a:avLst/>
            <a:gdLst>
              <a:gd name="csX0" fmla="*/ 0 w 2873525"/>
              <a:gd name="csY0" fmla="*/ 0 h 2212470"/>
              <a:gd name="csX1" fmla="*/ 2873525 w 2873525"/>
              <a:gd name="csY1" fmla="*/ 0 h 2212470"/>
              <a:gd name="csX2" fmla="*/ 2873525 w 2873525"/>
              <a:gd name="csY2" fmla="*/ 2212470 h 2212470"/>
              <a:gd name="csX3" fmla="*/ 0 w 2873525"/>
              <a:gd name="csY3" fmla="*/ 2212470 h 2212470"/>
              <a:gd name="csX4" fmla="*/ 0 w 2873525"/>
              <a:gd name="csY4" fmla="*/ 0 h 2212470"/>
            </a:gdLst>
            <a:ahLst/>
            <a:cxnLst>
              <a:cxn ang="0">
                <a:pos x="csX0" y="csY0"/>
              </a:cxn>
              <a:cxn ang="0">
                <a:pos x="csX1" y="csY1"/>
              </a:cxn>
              <a:cxn ang="0">
                <a:pos x="csX2" y="csY2"/>
              </a:cxn>
              <a:cxn ang="0">
                <a:pos x="csX3" y="csY3"/>
              </a:cxn>
              <a:cxn ang="0">
                <a:pos x="csX4" y="csY4"/>
              </a:cxn>
            </a:cxnLst>
            <a:rect l="l" t="t" r="r" b="b"/>
            <a:pathLst>
              <a:path w="2873525" h="2212470">
                <a:moveTo>
                  <a:pt x="0" y="0"/>
                </a:moveTo>
                <a:lnTo>
                  <a:pt x="2873525" y="0"/>
                </a:lnTo>
                <a:lnTo>
                  <a:pt x="2873525" y="2212470"/>
                </a:lnTo>
                <a:lnTo>
                  <a:pt x="0" y="2212470"/>
                </a:lnTo>
                <a:lnTo>
                  <a:pt x="0" y="0"/>
                </a:lnTo>
                <a:close/>
              </a:path>
            </a:pathLst>
          </a:custGeom>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171450" lvl="1" indent="-171450" algn="l" defTabSz="711200">
              <a:lnSpc>
                <a:spcPct val="125000"/>
              </a:lnSpc>
              <a:spcBef>
                <a:spcPct val="0"/>
              </a:spcBef>
              <a:spcAft>
                <a:spcPts val="600"/>
              </a:spcAft>
              <a:buChar char="•"/>
            </a:pPr>
            <a:r>
              <a:rPr lang="zh-CN" altLang="en-US" sz="1600" b="1" kern="1200" dirty="0">
                <a:latin typeface="微软雅黑" panose="020B0503020204020204" pitchFamily="34" charset="-122"/>
                <a:ea typeface="微软雅黑" panose="020B0503020204020204" pitchFamily="34" charset="-122"/>
              </a:rPr>
              <a:t>传送数据之前不需要先建立连接。</a:t>
            </a:r>
          </a:p>
          <a:p>
            <a:pPr marL="171450" lvl="1" indent="-171450" algn="l" defTabSz="711200">
              <a:lnSpc>
                <a:spcPct val="125000"/>
              </a:lnSpc>
              <a:spcBef>
                <a:spcPct val="0"/>
              </a:spcBef>
              <a:spcAft>
                <a:spcPts val="600"/>
              </a:spcAft>
              <a:buChar char="•"/>
            </a:pPr>
            <a:r>
              <a:rPr lang="zh-CN" altLang="en-US" sz="1600" b="1" kern="1200" dirty="0">
                <a:latin typeface="微软雅黑" panose="020B0503020204020204" pitchFamily="34" charset="-122"/>
                <a:ea typeface="微软雅黑" panose="020B0503020204020204" pitchFamily="34" charset="-122"/>
              </a:rPr>
              <a:t>收到 </a:t>
            </a:r>
            <a:r>
              <a:rPr lang="en-US" altLang="en-US" sz="1600" b="1" kern="1200" dirty="0">
                <a:latin typeface="微软雅黑" panose="020B0503020204020204" pitchFamily="34" charset="-122"/>
                <a:ea typeface="微软雅黑" panose="020B0503020204020204" pitchFamily="34" charset="-122"/>
              </a:rPr>
              <a:t>UDP </a:t>
            </a:r>
            <a:r>
              <a:rPr lang="zh-CN" altLang="en-US" sz="1600" b="1" kern="1200" dirty="0">
                <a:latin typeface="微软雅黑" panose="020B0503020204020204" pitchFamily="34" charset="-122"/>
                <a:ea typeface="微软雅黑" panose="020B0503020204020204" pitchFamily="34" charset="-122"/>
              </a:rPr>
              <a:t>报后，不需要给出任何确认。</a:t>
            </a:r>
          </a:p>
          <a:p>
            <a:pPr marL="171450" lvl="1" indent="-171450" defTabSz="711200">
              <a:lnSpc>
                <a:spcPct val="125000"/>
              </a:lnSpc>
              <a:spcBef>
                <a:spcPct val="0"/>
              </a:spcBef>
              <a:spcAft>
                <a:spcPts val="600"/>
              </a:spcAft>
              <a:buChar char="•"/>
            </a:pPr>
            <a:r>
              <a:rPr lang="zh-CN" altLang="en-US" sz="1600" b="1" dirty="0">
                <a:latin typeface="微软雅黑" panose="020B0503020204020204" pitchFamily="34" charset="-122"/>
                <a:ea typeface="微软雅黑" panose="020B0503020204020204" pitchFamily="34" charset="-122"/>
              </a:rPr>
              <a:t>非常简单，在某些情况下是最有效的工作方式</a:t>
            </a:r>
            <a:r>
              <a:rPr lang="zh-CN" altLang="en-US" sz="1600" b="1" kern="1200" dirty="0">
                <a:latin typeface="微软雅黑" panose="020B0503020204020204" pitchFamily="34" charset="-122"/>
                <a:ea typeface="微软雅黑" panose="020B0503020204020204" pitchFamily="34" charset="-122"/>
              </a:rPr>
              <a:t>。</a:t>
            </a:r>
          </a:p>
        </p:txBody>
      </p:sp>
      <p:sp>
        <p:nvSpPr>
          <p:cNvPr id="6" name="任意多边形: 形状 5">
            <a:extLst>
              <a:ext uri="{FF2B5EF4-FFF2-40B4-BE49-F238E27FC236}">
                <a16:creationId xmlns:a16="http://schemas.microsoft.com/office/drawing/2014/main" id="{529E6826-BC13-6C3D-5BB6-EC858DEF729F}"/>
              </a:ext>
            </a:extLst>
          </p:cNvPr>
          <p:cNvSpPr/>
          <p:nvPr/>
        </p:nvSpPr>
        <p:spPr>
          <a:xfrm>
            <a:off x="4818162" y="1146957"/>
            <a:ext cx="2873525" cy="748800"/>
          </a:xfrm>
          <a:custGeom>
            <a:avLst/>
            <a:gdLst>
              <a:gd name="csX0" fmla="*/ 0 w 2873525"/>
              <a:gd name="csY0" fmla="*/ 0 h 748800"/>
              <a:gd name="csX1" fmla="*/ 2873525 w 2873525"/>
              <a:gd name="csY1" fmla="*/ 0 h 748800"/>
              <a:gd name="csX2" fmla="*/ 2873525 w 2873525"/>
              <a:gd name="csY2" fmla="*/ 748800 h 748800"/>
              <a:gd name="csX3" fmla="*/ 0 w 2873525"/>
              <a:gd name="csY3" fmla="*/ 748800 h 748800"/>
              <a:gd name="csX4" fmla="*/ 0 w 2873525"/>
              <a:gd name="csY4" fmla="*/ 0 h 748800"/>
            </a:gdLst>
            <a:ahLst/>
            <a:cxnLst>
              <a:cxn ang="0">
                <a:pos x="csX0" y="csY0"/>
              </a:cxn>
              <a:cxn ang="0">
                <a:pos x="csX1" y="csY1"/>
              </a:cxn>
              <a:cxn ang="0">
                <a:pos x="csX2" y="csY2"/>
              </a:cxn>
              <a:cxn ang="0">
                <a:pos x="csX3" y="csY3"/>
              </a:cxn>
              <a:cxn ang="0">
                <a:pos x="csX4" y="csY4"/>
              </a:cxn>
            </a:cxnLst>
            <a:rect l="l" t="t" r="r" b="b"/>
            <a:pathLst>
              <a:path w="2873525" h="748800">
                <a:moveTo>
                  <a:pt x="0" y="0"/>
                </a:moveTo>
                <a:lnTo>
                  <a:pt x="2873525" y="0"/>
                </a:lnTo>
                <a:lnTo>
                  <a:pt x="2873525" y="748800"/>
                </a:lnTo>
                <a:lnTo>
                  <a:pt x="0" y="748800"/>
                </a:lnTo>
                <a:lnTo>
                  <a:pt x="0" y="0"/>
                </a:lnTo>
                <a:close/>
              </a:path>
            </a:pathLst>
          </a:custGeom>
          <a:solidFill>
            <a:srgbClr val="9BBB59"/>
          </a:solidFill>
        </p:spPr>
        <p:style>
          <a:lnRef idx="2">
            <a:schemeClr val="accent3">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latin typeface="微软雅黑" panose="020B0503020204020204" pitchFamily="34" charset="-122"/>
                <a:ea typeface="微软雅黑" panose="020B0503020204020204" pitchFamily="34" charset="-122"/>
              </a:rPr>
              <a:t>TCP</a:t>
            </a:r>
            <a:endParaRPr lang="zh-CN" altLang="en-US" sz="1800" b="1" kern="1200" dirty="0">
              <a:latin typeface="微软雅黑" panose="020B0503020204020204" pitchFamily="34" charset="-122"/>
              <a:ea typeface="微软雅黑" panose="020B0503020204020204" pitchFamily="34" charset="-122"/>
            </a:endParaRPr>
          </a:p>
        </p:txBody>
      </p:sp>
      <p:sp>
        <p:nvSpPr>
          <p:cNvPr id="7" name="任意多边形: 形状 6">
            <a:extLst>
              <a:ext uri="{FF2B5EF4-FFF2-40B4-BE49-F238E27FC236}">
                <a16:creationId xmlns:a16="http://schemas.microsoft.com/office/drawing/2014/main" id="{1DDE420C-B886-43AB-ED79-EC37DC743CC1}"/>
              </a:ext>
            </a:extLst>
          </p:cNvPr>
          <p:cNvSpPr/>
          <p:nvPr/>
        </p:nvSpPr>
        <p:spPr>
          <a:xfrm>
            <a:off x="4818162" y="1895757"/>
            <a:ext cx="2873525" cy="2212470"/>
          </a:xfrm>
          <a:custGeom>
            <a:avLst/>
            <a:gdLst>
              <a:gd name="csX0" fmla="*/ 0 w 2873525"/>
              <a:gd name="csY0" fmla="*/ 0 h 2212470"/>
              <a:gd name="csX1" fmla="*/ 2873525 w 2873525"/>
              <a:gd name="csY1" fmla="*/ 0 h 2212470"/>
              <a:gd name="csX2" fmla="*/ 2873525 w 2873525"/>
              <a:gd name="csY2" fmla="*/ 2212470 h 2212470"/>
              <a:gd name="csX3" fmla="*/ 0 w 2873525"/>
              <a:gd name="csY3" fmla="*/ 2212470 h 2212470"/>
              <a:gd name="csX4" fmla="*/ 0 w 2873525"/>
              <a:gd name="csY4" fmla="*/ 0 h 2212470"/>
            </a:gdLst>
            <a:ahLst/>
            <a:cxnLst>
              <a:cxn ang="0">
                <a:pos x="csX0" y="csY0"/>
              </a:cxn>
              <a:cxn ang="0">
                <a:pos x="csX1" y="csY1"/>
              </a:cxn>
              <a:cxn ang="0">
                <a:pos x="csX2" y="csY2"/>
              </a:cxn>
              <a:cxn ang="0">
                <a:pos x="csX3" y="csY3"/>
              </a:cxn>
              <a:cxn ang="0">
                <a:pos x="csX4" y="csY4"/>
              </a:cxn>
            </a:cxnLst>
            <a:rect l="l" t="t" r="r" b="b"/>
            <a:pathLst>
              <a:path w="2873525" h="2212470">
                <a:moveTo>
                  <a:pt x="0" y="0"/>
                </a:moveTo>
                <a:lnTo>
                  <a:pt x="2873525" y="0"/>
                </a:lnTo>
                <a:lnTo>
                  <a:pt x="2873525" y="2212470"/>
                </a:lnTo>
                <a:lnTo>
                  <a:pt x="0" y="2212470"/>
                </a:lnTo>
                <a:lnTo>
                  <a:pt x="0" y="0"/>
                </a:lnTo>
                <a:close/>
              </a:path>
            </a:pathLst>
          </a:custGeom>
        </p:spPr>
        <p:style>
          <a:lnRef idx="2">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0">
            <a:schemeClr val="accent3">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171450" lvl="1" indent="-171450" algn="l" defTabSz="711200">
              <a:lnSpc>
                <a:spcPct val="125000"/>
              </a:lnSpc>
              <a:spcBef>
                <a:spcPct val="0"/>
              </a:spcBef>
              <a:spcAft>
                <a:spcPts val="600"/>
              </a:spcAft>
              <a:buChar char="•"/>
            </a:pPr>
            <a:r>
              <a:rPr lang="zh-CN" altLang="en-US" sz="1600" b="1" kern="1200" dirty="0">
                <a:latin typeface="微软雅黑" panose="020B0503020204020204" pitchFamily="34" charset="-122"/>
                <a:ea typeface="微软雅黑" panose="020B0503020204020204" pitchFamily="34" charset="-122"/>
              </a:rPr>
              <a:t>提供面向连接的传输服务。</a:t>
            </a:r>
          </a:p>
          <a:p>
            <a:pPr marL="171450" lvl="1" indent="-171450" algn="l" defTabSz="711200">
              <a:lnSpc>
                <a:spcPct val="125000"/>
              </a:lnSpc>
              <a:spcBef>
                <a:spcPct val="0"/>
              </a:spcBef>
              <a:spcAft>
                <a:spcPts val="600"/>
              </a:spcAft>
              <a:buChar char="•"/>
            </a:pPr>
            <a:r>
              <a:rPr lang="zh-CN" altLang="en-US" sz="1600" b="1" kern="1200" dirty="0">
                <a:latin typeface="微软雅黑" panose="020B0503020204020204" pitchFamily="34" charset="-122"/>
                <a:ea typeface="微软雅黑" panose="020B0503020204020204" pitchFamily="34" charset="-122"/>
              </a:rPr>
              <a:t>不提供广播或多播服务。</a:t>
            </a:r>
          </a:p>
          <a:p>
            <a:pPr marL="171450" lvl="1" indent="-171450" defTabSz="711200">
              <a:lnSpc>
                <a:spcPct val="125000"/>
              </a:lnSpc>
              <a:spcBef>
                <a:spcPct val="0"/>
              </a:spcBef>
              <a:spcAft>
                <a:spcPts val="600"/>
              </a:spcAft>
              <a:buFontTx/>
              <a:buChar char="•"/>
            </a:pPr>
            <a:r>
              <a:rPr lang="zh-CN" altLang="en-US" sz="1600" b="1" dirty="0">
                <a:latin typeface="微软雅黑" panose="020B0503020204020204" pitchFamily="34" charset="-122"/>
                <a:ea typeface="微软雅黑" panose="020B0503020204020204" pitchFamily="34" charset="-122"/>
              </a:rPr>
              <a:t>比较复杂：可靠传输、流量控制、拥塞控制。</a:t>
            </a:r>
          </a:p>
          <a:p>
            <a:pPr marL="171450" lvl="1" indent="-171450" algn="l" defTabSz="711200">
              <a:lnSpc>
                <a:spcPct val="125000"/>
              </a:lnSpc>
              <a:spcBef>
                <a:spcPct val="0"/>
              </a:spcBef>
              <a:spcAft>
                <a:spcPts val="600"/>
              </a:spcAft>
              <a:buChar char="•"/>
            </a:pPr>
            <a:r>
              <a:rPr lang="zh-CN" altLang="en-US" sz="1600" b="1" kern="1200" dirty="0">
                <a:latin typeface="微软雅黑" panose="020B0503020204020204" pitchFamily="34" charset="-122"/>
                <a:ea typeface="微软雅黑" panose="020B0503020204020204" pitchFamily="34" charset="-122"/>
              </a:rPr>
              <a:t>开销较多。</a:t>
            </a:r>
            <a:endParaRPr lang="en-US" altLang="zh-CN" sz="1600" b="1" kern="1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95172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fade">
                                      <p:cBhvr>
                                        <p:cTn id="14" dur="1000"/>
                                        <p:tgtEl>
                                          <p:spTgt spid="5">
                                            <p:txEl>
                                              <p:pRg st="1" end="1"/>
                                            </p:txEl>
                                          </p:spTgt>
                                        </p:tgtEl>
                                      </p:cBhvr>
                                    </p:animEffect>
                                    <p:anim calcmode="lin" valueType="num">
                                      <p:cBhvr>
                                        <p:cTn id="15"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1000"/>
                                        <p:tgtEl>
                                          <p:spTgt spid="5">
                                            <p:txEl>
                                              <p:pRg st="2" end="2"/>
                                            </p:txEl>
                                          </p:spTgt>
                                        </p:tgtEl>
                                      </p:cBhvr>
                                    </p:animEffect>
                                    <p:anim calcmode="lin" valueType="num">
                                      <p:cBhvr>
                                        <p:cTn id="22"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fade">
                                      <p:cBhvr>
                                        <p:cTn id="28" dur="1000"/>
                                        <p:tgtEl>
                                          <p:spTgt spid="7">
                                            <p:txEl>
                                              <p:pRg st="0" end="0"/>
                                            </p:txEl>
                                          </p:spTgt>
                                        </p:tgtEl>
                                      </p:cBhvr>
                                    </p:animEffect>
                                    <p:anim calcmode="lin" valueType="num">
                                      <p:cBhvr>
                                        <p:cTn id="29"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1" end="1"/>
                                            </p:txEl>
                                          </p:spTgt>
                                        </p:tgtEl>
                                        <p:attrNameLst>
                                          <p:attrName>style.visibility</p:attrName>
                                        </p:attrNameLst>
                                      </p:cBhvr>
                                      <p:to>
                                        <p:strVal val="visible"/>
                                      </p:to>
                                    </p:set>
                                    <p:animEffect transition="in" filter="fade">
                                      <p:cBhvr>
                                        <p:cTn id="35" dur="1000"/>
                                        <p:tgtEl>
                                          <p:spTgt spid="7">
                                            <p:txEl>
                                              <p:pRg st="1" end="1"/>
                                            </p:txEl>
                                          </p:spTgt>
                                        </p:tgtEl>
                                      </p:cBhvr>
                                    </p:animEffect>
                                    <p:anim calcmode="lin" valueType="num">
                                      <p:cBhvr>
                                        <p:cTn id="36"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7">
                                            <p:txEl>
                                              <p:pRg st="2" end="2"/>
                                            </p:txEl>
                                          </p:spTgt>
                                        </p:tgtEl>
                                        <p:attrNameLst>
                                          <p:attrName>style.visibility</p:attrName>
                                        </p:attrNameLst>
                                      </p:cBhvr>
                                      <p:to>
                                        <p:strVal val="visible"/>
                                      </p:to>
                                    </p:set>
                                    <p:animEffect transition="in" filter="fade">
                                      <p:cBhvr>
                                        <p:cTn id="42" dur="1000"/>
                                        <p:tgtEl>
                                          <p:spTgt spid="7">
                                            <p:txEl>
                                              <p:pRg st="2" end="2"/>
                                            </p:txEl>
                                          </p:spTgt>
                                        </p:tgtEl>
                                      </p:cBhvr>
                                    </p:animEffect>
                                    <p:anim calcmode="lin" valueType="num">
                                      <p:cBhvr>
                                        <p:cTn id="43"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7">
                                            <p:txEl>
                                              <p:pRg st="3" end="3"/>
                                            </p:txEl>
                                          </p:spTgt>
                                        </p:tgtEl>
                                        <p:attrNameLst>
                                          <p:attrName>style.visibility</p:attrName>
                                        </p:attrNameLst>
                                      </p:cBhvr>
                                      <p:to>
                                        <p:strVal val="visible"/>
                                      </p:to>
                                    </p:set>
                                    <p:animEffect transition="in" filter="fade">
                                      <p:cBhvr>
                                        <p:cTn id="49" dur="1000"/>
                                        <p:tgtEl>
                                          <p:spTgt spid="7">
                                            <p:txEl>
                                              <p:pRg st="3" end="3"/>
                                            </p:txEl>
                                          </p:spTgt>
                                        </p:tgtEl>
                                      </p:cBhvr>
                                    </p:animEffect>
                                    <p:anim calcmode="lin" valueType="num">
                                      <p:cBhvr>
                                        <p:cTn id="5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5"/>
          <p:cNvSpPr>
            <a:spLocks noChangeArrowheads="1"/>
          </p:cNvSpPr>
          <p:nvPr/>
        </p:nvSpPr>
        <p:spPr bwMode="auto">
          <a:xfrm>
            <a:off x="556963" y="627462"/>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0" name="Rectangle 6"/>
          <p:cNvSpPr>
            <a:spLocks noChangeArrowheads="1"/>
          </p:cNvSpPr>
          <p:nvPr/>
        </p:nvSpPr>
        <p:spPr bwMode="auto">
          <a:xfrm>
            <a:off x="2008565" y="594251"/>
            <a:ext cx="514557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使用 </a:t>
            </a:r>
            <a:r>
              <a:rPr lang="en-US" altLang="zh-CN" sz="2000" b="1" dirty="0">
                <a:solidFill>
                  <a:schemeClr val="bg1"/>
                </a:solidFill>
                <a:latin typeface="微软雅黑" pitchFamily="34" charset="-122"/>
                <a:ea typeface="微软雅黑" pitchFamily="34" charset="-122"/>
              </a:rPr>
              <a:t>UDP </a:t>
            </a:r>
            <a:r>
              <a:rPr lang="zh-CN" altLang="en-US" sz="2000" b="1" dirty="0">
                <a:solidFill>
                  <a:schemeClr val="bg1"/>
                </a:solidFill>
                <a:latin typeface="微软雅黑" pitchFamily="34" charset="-122"/>
                <a:ea typeface="微软雅黑" pitchFamily="34" charset="-122"/>
              </a:rPr>
              <a:t>和 </a:t>
            </a: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的典型应用和应用层协议</a:t>
            </a:r>
          </a:p>
        </p:txBody>
      </p:sp>
      <p:sp>
        <p:nvSpPr>
          <p:cNvPr id="45" name="圆角矩形 44"/>
          <p:cNvSpPr/>
          <p:nvPr/>
        </p:nvSpPr>
        <p:spPr>
          <a:xfrm>
            <a:off x="556963" y="1022076"/>
            <a:ext cx="7978112" cy="266368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441896" y="2893891"/>
            <a:ext cx="6582637" cy="376517"/>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itchFamily="34" charset="-122"/>
                <a:ea typeface="微软雅黑" pitchFamily="34" charset="-122"/>
              </a:rPr>
              <a:t>IP</a:t>
            </a:r>
            <a:endParaRPr lang="zh-CN" altLang="en-US" b="1" dirty="0">
              <a:solidFill>
                <a:schemeClr val="bg1"/>
              </a:solidFill>
              <a:latin typeface="微软雅黑" pitchFamily="34" charset="-122"/>
              <a:ea typeface="微软雅黑" pitchFamily="34" charset="-122"/>
            </a:endParaRPr>
          </a:p>
        </p:txBody>
      </p:sp>
      <p:sp>
        <p:nvSpPr>
          <p:cNvPr id="22" name="矩形 21"/>
          <p:cNvSpPr/>
          <p:nvPr/>
        </p:nvSpPr>
        <p:spPr>
          <a:xfrm>
            <a:off x="4888680" y="2334494"/>
            <a:ext cx="3135854" cy="559398"/>
          </a:xfrm>
          <a:prstGeom prst="rect">
            <a:avLst/>
          </a:prstGeom>
          <a:solidFill>
            <a:srgbClr val="9BBB5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itchFamily="34" charset="-122"/>
                <a:ea typeface="微软雅黑" pitchFamily="34" charset="-122"/>
              </a:rPr>
              <a:t>TCP</a:t>
            </a:r>
            <a:endParaRPr lang="zh-CN" altLang="en-US" b="1" dirty="0">
              <a:solidFill>
                <a:schemeClr val="bg1"/>
              </a:solidFill>
              <a:latin typeface="微软雅黑" pitchFamily="34" charset="-122"/>
              <a:ea typeface="微软雅黑" pitchFamily="34" charset="-122"/>
            </a:endParaRPr>
          </a:p>
        </p:txBody>
      </p:sp>
      <p:sp>
        <p:nvSpPr>
          <p:cNvPr id="23" name="矩形 22"/>
          <p:cNvSpPr/>
          <p:nvPr/>
        </p:nvSpPr>
        <p:spPr>
          <a:xfrm>
            <a:off x="1441740" y="2334494"/>
            <a:ext cx="3399202" cy="559398"/>
          </a:xfrm>
          <a:prstGeom prst="rect">
            <a:avLst/>
          </a:prstGeom>
          <a:solidFill>
            <a:srgbClr val="C0504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itchFamily="34" charset="-122"/>
                <a:ea typeface="微软雅黑" pitchFamily="34" charset="-122"/>
              </a:rPr>
              <a:t>UDP</a:t>
            </a:r>
            <a:endParaRPr lang="zh-CN" altLang="en-US" b="1" dirty="0">
              <a:solidFill>
                <a:schemeClr val="bg1"/>
              </a:solidFill>
              <a:latin typeface="微软雅黑" pitchFamily="34" charset="-122"/>
              <a:ea typeface="微软雅黑" pitchFamily="34" charset="-122"/>
            </a:endParaRPr>
          </a:p>
        </p:txBody>
      </p:sp>
      <p:sp>
        <p:nvSpPr>
          <p:cNvPr id="47" name="Text Box 14"/>
          <p:cNvSpPr txBox="1">
            <a:spLocks noChangeArrowheads="1"/>
          </p:cNvSpPr>
          <p:nvPr/>
        </p:nvSpPr>
        <p:spPr bwMode="auto">
          <a:xfrm>
            <a:off x="627627" y="2475693"/>
            <a:ext cx="80605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r" eaLnBrk="1" hangingPunct="1"/>
            <a:r>
              <a:rPr lang="zh-CN" altLang="en-US" sz="1200" dirty="0">
                <a:latin typeface="微软雅黑" pitchFamily="34" charset="-122"/>
                <a:ea typeface="微软雅黑" pitchFamily="34" charset="-122"/>
              </a:rPr>
              <a:t>传输层</a:t>
            </a:r>
          </a:p>
        </p:txBody>
      </p:sp>
      <p:sp>
        <p:nvSpPr>
          <p:cNvPr id="48" name="Text Box 15"/>
          <p:cNvSpPr txBox="1">
            <a:spLocks noChangeArrowheads="1"/>
          </p:cNvSpPr>
          <p:nvPr/>
        </p:nvSpPr>
        <p:spPr bwMode="auto">
          <a:xfrm>
            <a:off x="724444" y="2939458"/>
            <a:ext cx="70923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r" eaLnBrk="1" hangingPunct="1"/>
            <a:r>
              <a:rPr lang="zh-CN" altLang="en-US" sz="1200" dirty="0">
                <a:latin typeface="微软雅黑" pitchFamily="34" charset="-122"/>
                <a:ea typeface="微软雅黑" pitchFamily="34" charset="-122"/>
              </a:rPr>
              <a:t>网络层</a:t>
            </a:r>
          </a:p>
        </p:txBody>
      </p:sp>
      <p:grpSp>
        <p:nvGrpSpPr>
          <p:cNvPr id="2" name="组合 1"/>
          <p:cNvGrpSpPr/>
          <p:nvPr/>
        </p:nvGrpSpPr>
        <p:grpSpPr>
          <a:xfrm>
            <a:off x="627627" y="1703994"/>
            <a:ext cx="4213315" cy="670388"/>
            <a:chOff x="627627" y="1695029"/>
            <a:chExt cx="4213315" cy="670388"/>
          </a:xfrm>
        </p:grpSpPr>
        <p:sp>
          <p:nvSpPr>
            <p:cNvPr id="37" name="矩形 36"/>
            <p:cNvSpPr/>
            <p:nvPr/>
          </p:nvSpPr>
          <p:spPr>
            <a:xfrm>
              <a:off x="1442249" y="2034783"/>
              <a:ext cx="641767" cy="290745"/>
            </a:xfrm>
            <a:prstGeom prst="rect">
              <a:avLst/>
            </a:prstGeom>
            <a:solidFill>
              <a:srgbClr val="FF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200" b="1" dirty="0">
                  <a:solidFill>
                    <a:schemeClr val="tx1"/>
                  </a:solidFill>
                  <a:latin typeface="微软雅黑" pitchFamily="34" charset="-122"/>
                  <a:ea typeface="微软雅黑" pitchFamily="34" charset="-122"/>
                </a:rPr>
                <a:t>DNS</a:t>
              </a:r>
              <a:endParaRPr lang="zh-CN" altLang="en-US" sz="1200" b="1" dirty="0">
                <a:solidFill>
                  <a:schemeClr val="tx1"/>
                </a:solidFill>
                <a:latin typeface="微软雅黑" pitchFamily="34" charset="-122"/>
                <a:ea typeface="微软雅黑" pitchFamily="34" charset="-122"/>
              </a:endParaRPr>
            </a:p>
          </p:txBody>
        </p:sp>
        <p:sp>
          <p:nvSpPr>
            <p:cNvPr id="38" name="矩形 37"/>
            <p:cNvSpPr/>
            <p:nvPr/>
          </p:nvSpPr>
          <p:spPr>
            <a:xfrm>
              <a:off x="2092077" y="2034783"/>
              <a:ext cx="644561" cy="290745"/>
            </a:xfrm>
            <a:prstGeom prst="rect">
              <a:avLst/>
            </a:prstGeom>
            <a:solidFill>
              <a:srgbClr val="66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200" b="1" dirty="0">
                  <a:solidFill>
                    <a:schemeClr val="tx1"/>
                  </a:solidFill>
                  <a:latin typeface="微软雅黑" pitchFamily="34" charset="-122"/>
                  <a:ea typeface="微软雅黑" pitchFamily="34" charset="-122"/>
                </a:rPr>
                <a:t>DHCP</a:t>
              </a:r>
              <a:endParaRPr lang="zh-CN" altLang="en-US" sz="1200" b="1" dirty="0">
                <a:solidFill>
                  <a:schemeClr val="tx1"/>
                </a:solidFill>
                <a:latin typeface="微软雅黑" pitchFamily="34" charset="-122"/>
                <a:ea typeface="微软雅黑" pitchFamily="34" charset="-122"/>
              </a:endParaRPr>
            </a:p>
          </p:txBody>
        </p:sp>
        <p:sp>
          <p:nvSpPr>
            <p:cNvPr id="39" name="矩形 38"/>
            <p:cNvSpPr/>
            <p:nvPr/>
          </p:nvSpPr>
          <p:spPr>
            <a:xfrm>
              <a:off x="2729570" y="2034783"/>
              <a:ext cx="560477" cy="29074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200" b="1" dirty="0">
                  <a:solidFill>
                    <a:schemeClr val="tx1"/>
                  </a:solidFill>
                  <a:latin typeface="微软雅黑" pitchFamily="34" charset="-122"/>
                  <a:ea typeface="微软雅黑" pitchFamily="34" charset="-122"/>
                </a:rPr>
                <a:t>RIP</a:t>
              </a:r>
              <a:endParaRPr lang="zh-CN" altLang="en-US" sz="1200" b="1" dirty="0">
                <a:solidFill>
                  <a:schemeClr val="tx1"/>
                </a:solidFill>
                <a:latin typeface="微软雅黑" pitchFamily="34" charset="-122"/>
                <a:ea typeface="微软雅黑" pitchFamily="34" charset="-122"/>
              </a:endParaRPr>
            </a:p>
          </p:txBody>
        </p:sp>
        <p:sp>
          <p:nvSpPr>
            <p:cNvPr id="40" name="矩形 39"/>
            <p:cNvSpPr/>
            <p:nvPr/>
          </p:nvSpPr>
          <p:spPr>
            <a:xfrm>
              <a:off x="4476746" y="2034783"/>
              <a:ext cx="364196" cy="290745"/>
            </a:xfrm>
            <a:prstGeom prst="rect">
              <a:avLst/>
            </a:prstGeom>
            <a:solidFill>
              <a:srgbClr val="FFCC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200" b="1" dirty="0">
                  <a:solidFill>
                    <a:schemeClr val="tx1"/>
                  </a:solidFill>
                  <a:latin typeface="微软雅黑" pitchFamily="34" charset="-122"/>
                  <a:ea typeface="微软雅黑" pitchFamily="34" charset="-122"/>
                </a:rPr>
                <a:t>…</a:t>
              </a:r>
              <a:endParaRPr lang="zh-CN" altLang="en-US" sz="1200" b="1" dirty="0">
                <a:solidFill>
                  <a:schemeClr val="tx1"/>
                </a:solidFill>
                <a:latin typeface="微软雅黑" pitchFamily="34" charset="-122"/>
                <a:ea typeface="微软雅黑" pitchFamily="34" charset="-122"/>
              </a:endParaRPr>
            </a:p>
          </p:txBody>
        </p:sp>
        <p:sp>
          <p:nvSpPr>
            <p:cNvPr id="41" name="矩形 40"/>
            <p:cNvSpPr/>
            <p:nvPr/>
          </p:nvSpPr>
          <p:spPr>
            <a:xfrm>
              <a:off x="1442249" y="1695029"/>
              <a:ext cx="648302" cy="415347"/>
            </a:xfrm>
            <a:prstGeom prst="rect">
              <a:avLst/>
            </a:prstGeom>
            <a:solidFill>
              <a:srgbClr val="FFFFCC"/>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a:solidFill>
                    <a:schemeClr val="tx1"/>
                  </a:solidFill>
                  <a:latin typeface="微软雅黑" pitchFamily="34" charset="-122"/>
                  <a:ea typeface="微软雅黑" pitchFamily="34" charset="-122"/>
                </a:rPr>
                <a:t>域名解析服务</a:t>
              </a:r>
            </a:p>
          </p:txBody>
        </p:sp>
        <p:sp>
          <p:nvSpPr>
            <p:cNvPr id="42" name="矩形 41"/>
            <p:cNvSpPr/>
            <p:nvPr/>
          </p:nvSpPr>
          <p:spPr>
            <a:xfrm>
              <a:off x="2094871" y="1695029"/>
              <a:ext cx="641767" cy="415347"/>
            </a:xfrm>
            <a:prstGeom prst="rect">
              <a:avLst/>
            </a:prstGeom>
            <a:solidFill>
              <a:srgbClr val="66FF99"/>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a:solidFill>
                    <a:schemeClr val="tx1"/>
                  </a:solidFill>
                  <a:latin typeface="微软雅黑" pitchFamily="34" charset="-122"/>
                  <a:ea typeface="微软雅黑" pitchFamily="34" charset="-122"/>
                </a:rPr>
                <a:t>动态主机配置</a:t>
              </a:r>
            </a:p>
          </p:txBody>
        </p:sp>
        <p:sp>
          <p:nvSpPr>
            <p:cNvPr id="43" name="矩形 42"/>
            <p:cNvSpPr/>
            <p:nvPr/>
          </p:nvSpPr>
          <p:spPr>
            <a:xfrm>
              <a:off x="2729570" y="1695029"/>
              <a:ext cx="560477" cy="415347"/>
            </a:xfrm>
            <a:prstGeom prst="rect">
              <a:avLst/>
            </a:prstGeom>
            <a:solidFill>
              <a:srgbClr val="00FFFF"/>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a:solidFill>
                    <a:schemeClr val="tx1"/>
                  </a:solidFill>
                  <a:latin typeface="微软雅黑" pitchFamily="34" charset="-122"/>
                  <a:ea typeface="微软雅黑" pitchFamily="34" charset="-122"/>
                </a:rPr>
                <a:t>路由</a:t>
              </a:r>
              <a:endParaRPr lang="en-US" altLang="zh-CN" sz="1200" b="1" dirty="0">
                <a:solidFill>
                  <a:schemeClr val="tx1"/>
                </a:solidFill>
                <a:latin typeface="微软雅黑" pitchFamily="34" charset="-122"/>
                <a:ea typeface="微软雅黑" pitchFamily="34" charset="-122"/>
              </a:endParaRPr>
            </a:p>
            <a:p>
              <a:pPr algn="ctr">
                <a:lnSpc>
                  <a:spcPts val="1400"/>
                </a:lnSpc>
              </a:pPr>
              <a:r>
                <a:rPr lang="zh-CN" altLang="en-US" sz="1200" b="1" dirty="0">
                  <a:solidFill>
                    <a:schemeClr val="tx1"/>
                  </a:solidFill>
                  <a:latin typeface="微软雅黑" pitchFamily="34" charset="-122"/>
                  <a:ea typeface="微软雅黑" pitchFamily="34" charset="-122"/>
                </a:rPr>
                <a:t>选择</a:t>
              </a:r>
            </a:p>
          </p:txBody>
        </p:sp>
        <p:sp>
          <p:nvSpPr>
            <p:cNvPr id="44" name="矩形 43"/>
            <p:cNvSpPr/>
            <p:nvPr/>
          </p:nvSpPr>
          <p:spPr>
            <a:xfrm>
              <a:off x="4476746" y="1695029"/>
              <a:ext cx="364196" cy="415347"/>
            </a:xfrm>
            <a:prstGeom prst="rect">
              <a:avLst/>
            </a:prstGeom>
            <a:solidFill>
              <a:srgbClr val="FFCCCC"/>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en-US" altLang="zh-CN" sz="1200" b="1" dirty="0">
                  <a:solidFill>
                    <a:schemeClr val="tx1"/>
                  </a:solidFill>
                  <a:latin typeface="微软雅黑" pitchFamily="34" charset="-122"/>
                  <a:ea typeface="微软雅黑" pitchFamily="34" charset="-122"/>
                </a:rPr>
                <a:t>…</a:t>
              </a:r>
              <a:endParaRPr lang="zh-CN" altLang="en-US" sz="1200" b="1" dirty="0">
                <a:solidFill>
                  <a:schemeClr val="tx1"/>
                </a:solidFill>
                <a:latin typeface="微软雅黑" pitchFamily="34" charset="-122"/>
                <a:ea typeface="微软雅黑" pitchFamily="34" charset="-122"/>
              </a:endParaRPr>
            </a:p>
          </p:txBody>
        </p:sp>
        <p:sp>
          <p:nvSpPr>
            <p:cNvPr id="49" name="Text Box 14"/>
            <p:cNvSpPr txBox="1">
              <a:spLocks noChangeArrowheads="1"/>
            </p:cNvSpPr>
            <p:nvPr/>
          </p:nvSpPr>
          <p:spPr bwMode="auto">
            <a:xfrm>
              <a:off x="627627" y="2088418"/>
              <a:ext cx="80605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r" eaLnBrk="1" hangingPunct="1"/>
              <a:r>
                <a:rPr lang="zh-CN" altLang="en-US" sz="1200" dirty="0">
                  <a:latin typeface="微软雅黑" pitchFamily="34" charset="-122"/>
                  <a:ea typeface="微软雅黑" pitchFamily="34" charset="-122"/>
                </a:rPr>
                <a:t>应用层</a:t>
              </a:r>
            </a:p>
          </p:txBody>
        </p:sp>
        <p:sp>
          <p:nvSpPr>
            <p:cNvPr id="50" name="Text Box 14"/>
            <p:cNvSpPr txBox="1">
              <a:spLocks noChangeArrowheads="1"/>
            </p:cNvSpPr>
            <p:nvPr/>
          </p:nvSpPr>
          <p:spPr bwMode="auto">
            <a:xfrm>
              <a:off x="627627" y="1738795"/>
              <a:ext cx="80605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r" eaLnBrk="1" hangingPunct="1"/>
              <a:r>
                <a:rPr lang="zh-CN" altLang="en-US" sz="1200" dirty="0">
                  <a:latin typeface="微软雅黑" pitchFamily="34" charset="-122"/>
                  <a:ea typeface="微软雅黑" pitchFamily="34" charset="-122"/>
                </a:rPr>
                <a:t>应用</a:t>
              </a:r>
            </a:p>
          </p:txBody>
        </p:sp>
        <p:sp>
          <p:nvSpPr>
            <p:cNvPr id="46" name="矩形 45"/>
            <p:cNvSpPr/>
            <p:nvPr/>
          </p:nvSpPr>
          <p:spPr>
            <a:xfrm>
              <a:off x="3289143" y="2034783"/>
              <a:ext cx="560477" cy="290745"/>
            </a:xfrm>
            <a:prstGeom prst="rect">
              <a:avLst/>
            </a:prstGeom>
            <a:solidFill>
              <a:srgbClr val="FF99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ctr">
                <a:lnSpc>
                  <a:spcPts val="1200"/>
                </a:lnSpc>
              </a:pPr>
              <a:r>
                <a:rPr lang="en-US" altLang="zh-CN" sz="1100" b="1" dirty="0">
                  <a:solidFill>
                    <a:schemeClr val="tx1"/>
                  </a:solidFill>
                  <a:latin typeface="微软雅黑" pitchFamily="34" charset="-122"/>
                  <a:ea typeface="微软雅黑" pitchFamily="34" charset="-122"/>
                </a:rPr>
                <a:t>SNMP</a:t>
              </a:r>
              <a:endParaRPr lang="zh-CN" altLang="en-US" sz="1100" b="1" dirty="0">
                <a:solidFill>
                  <a:schemeClr val="tx1"/>
                </a:solidFill>
                <a:latin typeface="微软雅黑" pitchFamily="34" charset="-122"/>
                <a:ea typeface="微软雅黑" pitchFamily="34" charset="-122"/>
              </a:endParaRPr>
            </a:p>
          </p:txBody>
        </p:sp>
        <p:sp>
          <p:nvSpPr>
            <p:cNvPr id="51" name="矩形 50"/>
            <p:cNvSpPr/>
            <p:nvPr/>
          </p:nvSpPr>
          <p:spPr>
            <a:xfrm>
              <a:off x="3289143" y="1695029"/>
              <a:ext cx="560477" cy="415347"/>
            </a:xfrm>
            <a:prstGeom prst="rect">
              <a:avLst/>
            </a:prstGeom>
            <a:solidFill>
              <a:srgbClr val="FF99FF"/>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a:solidFill>
                    <a:schemeClr val="tx1"/>
                  </a:solidFill>
                  <a:latin typeface="微软雅黑" pitchFamily="34" charset="-122"/>
                  <a:ea typeface="微软雅黑" pitchFamily="34" charset="-122"/>
                </a:rPr>
                <a:t>网络管理</a:t>
              </a:r>
            </a:p>
          </p:txBody>
        </p:sp>
        <p:sp>
          <p:nvSpPr>
            <p:cNvPr id="52" name="矩形 51"/>
            <p:cNvSpPr/>
            <p:nvPr/>
          </p:nvSpPr>
          <p:spPr>
            <a:xfrm>
              <a:off x="3851146" y="2034783"/>
              <a:ext cx="644561" cy="290745"/>
            </a:xfrm>
            <a:prstGeom prst="rect">
              <a:avLst/>
            </a:prstGeom>
            <a:solidFill>
              <a:srgbClr val="CCFF6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zh-CN" altLang="en-US" sz="900" b="1" dirty="0">
                  <a:solidFill>
                    <a:schemeClr val="tx1"/>
                  </a:solidFill>
                  <a:latin typeface="微软雅黑" pitchFamily="34" charset="-122"/>
                  <a:ea typeface="微软雅黑" pitchFamily="34" charset="-122"/>
                </a:rPr>
                <a:t>专用协议</a:t>
              </a:r>
            </a:p>
          </p:txBody>
        </p:sp>
        <p:sp>
          <p:nvSpPr>
            <p:cNvPr id="53" name="矩形 52"/>
            <p:cNvSpPr/>
            <p:nvPr/>
          </p:nvSpPr>
          <p:spPr>
            <a:xfrm>
              <a:off x="3853940" y="1695029"/>
              <a:ext cx="641767" cy="415347"/>
            </a:xfrm>
            <a:prstGeom prst="rect">
              <a:avLst/>
            </a:prstGeom>
            <a:solidFill>
              <a:srgbClr val="CCFF66"/>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900" b="1" dirty="0">
                  <a:solidFill>
                    <a:schemeClr val="tx1"/>
                  </a:solidFill>
                  <a:latin typeface="微软雅黑" pitchFamily="34" charset="-122"/>
                  <a:ea typeface="微软雅黑" pitchFamily="34" charset="-122"/>
                </a:rPr>
                <a:t>流式多媒体通信</a:t>
              </a:r>
            </a:p>
          </p:txBody>
        </p:sp>
      </p:grpSp>
      <p:grpSp>
        <p:nvGrpSpPr>
          <p:cNvPr id="7" name="组合 6">
            <a:extLst>
              <a:ext uri="{FF2B5EF4-FFF2-40B4-BE49-F238E27FC236}">
                <a16:creationId xmlns:a16="http://schemas.microsoft.com/office/drawing/2014/main" id="{3A436049-8B9D-00D4-8FED-43A0DF0A5D7F}"/>
              </a:ext>
            </a:extLst>
          </p:cNvPr>
          <p:cNvGrpSpPr/>
          <p:nvPr/>
        </p:nvGrpSpPr>
        <p:grpSpPr>
          <a:xfrm>
            <a:off x="4882646" y="1702130"/>
            <a:ext cx="3141888" cy="632363"/>
            <a:chOff x="4882646" y="1702130"/>
            <a:chExt cx="3141888" cy="632363"/>
          </a:xfrm>
        </p:grpSpPr>
        <p:grpSp>
          <p:nvGrpSpPr>
            <p:cNvPr id="3" name="组合 2"/>
            <p:cNvGrpSpPr/>
            <p:nvPr/>
          </p:nvGrpSpPr>
          <p:grpSpPr>
            <a:xfrm>
              <a:off x="4882646" y="1702937"/>
              <a:ext cx="3141888" cy="631556"/>
              <a:chOff x="4882646" y="1693972"/>
              <a:chExt cx="3141888" cy="631556"/>
            </a:xfrm>
          </p:grpSpPr>
          <p:sp>
            <p:nvSpPr>
              <p:cNvPr id="24" name="矩形 23"/>
              <p:cNvSpPr/>
              <p:nvPr/>
            </p:nvSpPr>
            <p:spPr>
              <a:xfrm>
                <a:off x="4885767" y="2034783"/>
                <a:ext cx="631241" cy="29074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400"/>
                  </a:lnSpc>
                </a:pPr>
                <a:r>
                  <a:rPr lang="en-US" altLang="zh-CN" sz="1200" b="1" dirty="0">
                    <a:solidFill>
                      <a:schemeClr val="tx1"/>
                    </a:solidFill>
                    <a:latin typeface="微软雅黑" pitchFamily="34" charset="-122"/>
                    <a:ea typeface="微软雅黑" pitchFamily="34" charset="-122"/>
                  </a:rPr>
                  <a:t>HTTP</a:t>
                </a:r>
                <a:endParaRPr lang="zh-CN" altLang="en-US" sz="1200" b="1" dirty="0">
                  <a:solidFill>
                    <a:schemeClr val="tx1"/>
                  </a:solidFill>
                  <a:latin typeface="微软雅黑" pitchFamily="34" charset="-122"/>
                  <a:ea typeface="微软雅黑" pitchFamily="34" charset="-122"/>
                </a:endParaRPr>
              </a:p>
            </p:txBody>
          </p:sp>
          <p:sp>
            <p:nvSpPr>
              <p:cNvPr id="30" name="矩形 29"/>
              <p:cNvSpPr/>
              <p:nvPr/>
            </p:nvSpPr>
            <p:spPr>
              <a:xfrm>
                <a:off x="5519791" y="2034783"/>
                <a:ext cx="571636" cy="290745"/>
              </a:xfrm>
              <a:prstGeom prst="rect">
                <a:avLst/>
              </a:prstGeom>
              <a:solidFill>
                <a:srgbClr val="00B0F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bIns="0" rtlCol="0" anchor="b" anchorCtr="0"/>
              <a:lstStyle/>
              <a:p>
                <a:pPr algn="ctr">
                  <a:lnSpc>
                    <a:spcPts val="1400"/>
                  </a:lnSpc>
                </a:pPr>
                <a:r>
                  <a:rPr lang="en-US" altLang="zh-CN" sz="1200" b="1" dirty="0">
                    <a:solidFill>
                      <a:schemeClr val="tx1"/>
                    </a:solidFill>
                    <a:latin typeface="微软雅黑" pitchFamily="34" charset="-122"/>
                    <a:ea typeface="微软雅黑" pitchFamily="34" charset="-122"/>
                  </a:rPr>
                  <a:t>SMTP</a:t>
                </a:r>
                <a:endParaRPr lang="zh-CN" altLang="en-US" sz="1200" b="1" dirty="0">
                  <a:solidFill>
                    <a:schemeClr val="tx1"/>
                  </a:solidFill>
                  <a:latin typeface="微软雅黑" pitchFamily="34" charset="-122"/>
                  <a:ea typeface="微软雅黑" pitchFamily="34" charset="-122"/>
                </a:endParaRPr>
              </a:p>
            </p:txBody>
          </p:sp>
          <p:sp>
            <p:nvSpPr>
              <p:cNvPr id="31" name="矩形 30"/>
              <p:cNvSpPr/>
              <p:nvPr/>
            </p:nvSpPr>
            <p:spPr>
              <a:xfrm>
                <a:off x="6091427" y="2034783"/>
                <a:ext cx="514161" cy="290745"/>
              </a:xfrm>
              <a:prstGeom prst="rect">
                <a:avLst/>
              </a:prstGeom>
              <a:solidFill>
                <a:srgbClr val="FF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400"/>
                  </a:lnSpc>
                </a:pPr>
                <a:r>
                  <a:rPr lang="en-US" altLang="zh-CN" sz="1200" b="1" dirty="0">
                    <a:solidFill>
                      <a:schemeClr val="tx1"/>
                    </a:solidFill>
                    <a:latin typeface="微软雅黑" pitchFamily="34" charset="-122"/>
                    <a:ea typeface="微软雅黑" pitchFamily="34" charset="-122"/>
                  </a:rPr>
                  <a:t>FTP</a:t>
                </a:r>
                <a:endParaRPr lang="zh-CN" altLang="en-US" sz="1200" b="1" dirty="0">
                  <a:solidFill>
                    <a:schemeClr val="tx1"/>
                  </a:solidFill>
                  <a:latin typeface="微软雅黑" pitchFamily="34" charset="-122"/>
                  <a:ea typeface="微软雅黑" pitchFamily="34" charset="-122"/>
                </a:endParaRPr>
              </a:p>
            </p:txBody>
          </p:sp>
          <p:sp>
            <p:nvSpPr>
              <p:cNvPr id="32" name="矩形 31"/>
              <p:cNvSpPr/>
              <p:nvPr/>
            </p:nvSpPr>
            <p:spPr>
              <a:xfrm>
                <a:off x="7701750" y="2034783"/>
                <a:ext cx="322784" cy="290745"/>
              </a:xfrm>
              <a:prstGeom prst="rect">
                <a:avLst/>
              </a:prstGeom>
              <a:solidFill>
                <a:srgbClr val="FFCC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400"/>
                  </a:lnSpc>
                </a:pPr>
                <a:r>
                  <a:rPr lang="en-US" altLang="zh-CN" sz="1200" b="1" dirty="0">
                    <a:solidFill>
                      <a:schemeClr val="tx1"/>
                    </a:solidFill>
                    <a:latin typeface="微软雅黑" pitchFamily="34" charset="-122"/>
                    <a:ea typeface="微软雅黑" pitchFamily="34" charset="-122"/>
                  </a:rPr>
                  <a:t>…</a:t>
                </a:r>
                <a:endParaRPr lang="zh-CN" altLang="en-US" sz="1200" b="1" dirty="0">
                  <a:solidFill>
                    <a:schemeClr val="tx1"/>
                  </a:solidFill>
                  <a:latin typeface="微软雅黑" pitchFamily="34" charset="-122"/>
                  <a:ea typeface="微软雅黑" pitchFamily="34" charset="-122"/>
                </a:endParaRPr>
              </a:p>
            </p:txBody>
          </p:sp>
          <p:sp>
            <p:nvSpPr>
              <p:cNvPr id="33" name="矩形 32"/>
              <p:cNvSpPr/>
              <p:nvPr/>
            </p:nvSpPr>
            <p:spPr>
              <a:xfrm>
                <a:off x="4882646" y="1693972"/>
                <a:ext cx="641767" cy="416404"/>
              </a:xfrm>
              <a:prstGeom prst="rect">
                <a:avLst/>
              </a:prstGeom>
              <a:solidFill>
                <a:srgbClr val="00FFFF"/>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100" b="1" dirty="0">
                    <a:solidFill>
                      <a:schemeClr val="tx1"/>
                    </a:solidFill>
                    <a:latin typeface="微软雅黑" pitchFamily="34" charset="-122"/>
                    <a:ea typeface="微软雅黑" pitchFamily="34" charset="-122"/>
                  </a:rPr>
                  <a:t>万维网</a:t>
                </a:r>
                <a:endParaRPr lang="en-US" altLang="zh-CN" sz="1100" b="1" dirty="0">
                  <a:solidFill>
                    <a:schemeClr val="tx1"/>
                  </a:solidFill>
                  <a:latin typeface="微软雅黑" pitchFamily="34" charset="-122"/>
                  <a:ea typeface="微软雅黑" pitchFamily="34" charset="-122"/>
                </a:endParaRPr>
              </a:p>
              <a:p>
                <a:pPr algn="ctr">
                  <a:lnSpc>
                    <a:spcPts val="1400"/>
                  </a:lnSpc>
                </a:pPr>
                <a:r>
                  <a:rPr lang="en-US" altLang="zh-CN" sz="1100" b="1" dirty="0">
                    <a:solidFill>
                      <a:schemeClr val="tx1"/>
                    </a:solidFill>
                    <a:latin typeface="微软雅黑" pitchFamily="34" charset="-122"/>
                    <a:ea typeface="微软雅黑" pitchFamily="34" charset="-122"/>
                  </a:rPr>
                  <a:t>WWW</a:t>
                </a:r>
                <a:endParaRPr lang="zh-CN" altLang="en-US" sz="1100" b="1" dirty="0">
                  <a:solidFill>
                    <a:schemeClr val="tx1"/>
                  </a:solidFill>
                  <a:latin typeface="微软雅黑" pitchFamily="34" charset="-122"/>
                  <a:ea typeface="微软雅黑" pitchFamily="34" charset="-122"/>
                </a:endParaRPr>
              </a:p>
            </p:txBody>
          </p:sp>
          <p:sp>
            <p:nvSpPr>
              <p:cNvPr id="34" name="矩形 33"/>
              <p:cNvSpPr/>
              <p:nvPr/>
            </p:nvSpPr>
            <p:spPr>
              <a:xfrm>
                <a:off x="5519791" y="1693972"/>
                <a:ext cx="571636" cy="416404"/>
              </a:xfrm>
              <a:prstGeom prst="rect">
                <a:avLst/>
              </a:prstGeom>
              <a:solidFill>
                <a:srgbClr val="00B0F0"/>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a:solidFill>
                      <a:schemeClr val="tx1"/>
                    </a:solidFill>
                    <a:latin typeface="微软雅黑" pitchFamily="34" charset="-122"/>
                    <a:ea typeface="微软雅黑" pitchFamily="34" charset="-122"/>
                  </a:rPr>
                  <a:t>电子</a:t>
                </a:r>
                <a:endParaRPr lang="en-US" altLang="zh-CN" sz="1200" b="1" dirty="0">
                  <a:solidFill>
                    <a:schemeClr val="tx1"/>
                  </a:solidFill>
                  <a:latin typeface="微软雅黑" pitchFamily="34" charset="-122"/>
                  <a:ea typeface="微软雅黑" pitchFamily="34" charset="-122"/>
                </a:endParaRPr>
              </a:p>
              <a:p>
                <a:pPr algn="ctr">
                  <a:lnSpc>
                    <a:spcPts val="1400"/>
                  </a:lnSpc>
                </a:pPr>
                <a:r>
                  <a:rPr lang="zh-CN" altLang="en-US" sz="1200" b="1" dirty="0">
                    <a:solidFill>
                      <a:schemeClr val="tx1"/>
                    </a:solidFill>
                    <a:latin typeface="微软雅黑" pitchFamily="34" charset="-122"/>
                    <a:ea typeface="微软雅黑" pitchFamily="34" charset="-122"/>
                  </a:rPr>
                  <a:t>邮件</a:t>
                </a:r>
              </a:p>
            </p:txBody>
          </p:sp>
          <p:sp>
            <p:nvSpPr>
              <p:cNvPr id="35" name="矩形 34"/>
              <p:cNvSpPr/>
              <p:nvPr/>
            </p:nvSpPr>
            <p:spPr>
              <a:xfrm>
                <a:off x="6091427" y="1693972"/>
                <a:ext cx="514161" cy="416404"/>
              </a:xfrm>
              <a:prstGeom prst="rect">
                <a:avLst/>
              </a:prstGeom>
              <a:solidFill>
                <a:srgbClr val="FFFFCC"/>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a:solidFill>
                      <a:schemeClr val="tx1"/>
                    </a:solidFill>
                    <a:latin typeface="微软雅黑" pitchFamily="34" charset="-122"/>
                    <a:ea typeface="微软雅黑" pitchFamily="34" charset="-122"/>
                  </a:rPr>
                  <a:t>文件</a:t>
                </a:r>
                <a:endParaRPr lang="en-US" altLang="zh-CN" sz="1200" b="1" dirty="0">
                  <a:solidFill>
                    <a:schemeClr val="tx1"/>
                  </a:solidFill>
                  <a:latin typeface="微软雅黑" pitchFamily="34" charset="-122"/>
                  <a:ea typeface="微软雅黑" pitchFamily="34" charset="-122"/>
                </a:endParaRPr>
              </a:p>
              <a:p>
                <a:pPr algn="ctr">
                  <a:lnSpc>
                    <a:spcPts val="1400"/>
                  </a:lnSpc>
                </a:pPr>
                <a:r>
                  <a:rPr lang="zh-CN" altLang="en-US" sz="1200" b="1" dirty="0">
                    <a:solidFill>
                      <a:schemeClr val="tx1"/>
                    </a:solidFill>
                    <a:latin typeface="微软雅黑" pitchFamily="34" charset="-122"/>
                    <a:ea typeface="微软雅黑" pitchFamily="34" charset="-122"/>
                  </a:rPr>
                  <a:t>传送</a:t>
                </a:r>
              </a:p>
            </p:txBody>
          </p:sp>
          <p:sp>
            <p:nvSpPr>
              <p:cNvPr id="36" name="矩形 35"/>
              <p:cNvSpPr/>
              <p:nvPr/>
            </p:nvSpPr>
            <p:spPr>
              <a:xfrm>
                <a:off x="7701750" y="1693972"/>
                <a:ext cx="322783" cy="416404"/>
              </a:xfrm>
              <a:prstGeom prst="rect">
                <a:avLst/>
              </a:prstGeom>
              <a:solidFill>
                <a:srgbClr val="FFCCCC"/>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en-US" altLang="zh-CN" sz="1200" b="1" dirty="0">
                    <a:solidFill>
                      <a:schemeClr val="tx1"/>
                    </a:solidFill>
                    <a:latin typeface="微软雅黑" pitchFamily="34" charset="-122"/>
                    <a:ea typeface="微软雅黑" pitchFamily="34" charset="-122"/>
                  </a:rPr>
                  <a:t>…</a:t>
                </a:r>
                <a:endParaRPr lang="zh-CN" altLang="en-US" sz="1200" b="1" dirty="0">
                  <a:solidFill>
                    <a:schemeClr val="tx1"/>
                  </a:solidFill>
                  <a:latin typeface="微软雅黑" pitchFamily="34" charset="-122"/>
                  <a:ea typeface="微软雅黑" pitchFamily="34" charset="-122"/>
                </a:endParaRPr>
              </a:p>
            </p:txBody>
          </p:sp>
          <p:sp>
            <p:nvSpPr>
              <p:cNvPr id="54" name="矩形 53"/>
              <p:cNvSpPr/>
              <p:nvPr/>
            </p:nvSpPr>
            <p:spPr>
              <a:xfrm>
                <a:off x="6605588" y="2034783"/>
                <a:ext cx="548553" cy="290745"/>
              </a:xfrm>
              <a:prstGeom prst="rect">
                <a:avLst/>
              </a:prstGeom>
              <a:solidFill>
                <a:srgbClr val="FF99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200" b="1" dirty="0">
                    <a:solidFill>
                      <a:schemeClr val="tx1"/>
                    </a:solidFill>
                    <a:latin typeface="微软雅黑" pitchFamily="34" charset="-122"/>
                    <a:ea typeface="微软雅黑" pitchFamily="34" charset="-122"/>
                  </a:rPr>
                  <a:t>BGP</a:t>
                </a:r>
                <a:endParaRPr lang="zh-CN" altLang="en-US" sz="1200" b="1" dirty="0">
                  <a:solidFill>
                    <a:schemeClr val="tx1"/>
                  </a:solidFill>
                  <a:latin typeface="微软雅黑" pitchFamily="34" charset="-122"/>
                  <a:ea typeface="微软雅黑" pitchFamily="34" charset="-122"/>
                </a:endParaRPr>
              </a:p>
            </p:txBody>
          </p:sp>
          <p:sp>
            <p:nvSpPr>
              <p:cNvPr id="55" name="矩形 54"/>
              <p:cNvSpPr/>
              <p:nvPr/>
            </p:nvSpPr>
            <p:spPr>
              <a:xfrm>
                <a:off x="6605588" y="1695029"/>
                <a:ext cx="548553" cy="415347"/>
              </a:xfrm>
              <a:prstGeom prst="rect">
                <a:avLst/>
              </a:prstGeom>
              <a:solidFill>
                <a:srgbClr val="FF99FF"/>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a:solidFill>
                      <a:schemeClr val="tx1"/>
                    </a:solidFill>
                    <a:latin typeface="微软雅黑" pitchFamily="34" charset="-122"/>
                    <a:ea typeface="微软雅黑" pitchFamily="34" charset="-122"/>
                  </a:rPr>
                  <a:t>路由选择</a:t>
                </a:r>
              </a:p>
            </p:txBody>
          </p:sp>
        </p:grpSp>
        <p:sp>
          <p:nvSpPr>
            <p:cNvPr id="5" name="矩形 4">
              <a:extLst>
                <a:ext uri="{FF2B5EF4-FFF2-40B4-BE49-F238E27FC236}">
                  <a16:creationId xmlns:a16="http://schemas.microsoft.com/office/drawing/2014/main" id="{97858D7D-5C6A-AF91-6AE0-3630FF58B88A}"/>
                </a:ext>
              </a:extLst>
            </p:cNvPr>
            <p:cNvSpPr/>
            <p:nvPr/>
          </p:nvSpPr>
          <p:spPr>
            <a:xfrm>
              <a:off x="7154142" y="2041884"/>
              <a:ext cx="547610" cy="290745"/>
            </a:xfrm>
            <a:prstGeom prst="rect">
              <a:avLst/>
            </a:prstGeom>
            <a:solidFill>
              <a:srgbClr val="CCFF6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bIns="0" rtlCol="0" anchor="b" anchorCtr="0"/>
            <a:lstStyle/>
            <a:p>
              <a:pPr algn="ctr">
                <a:lnSpc>
                  <a:spcPts val="1200"/>
                </a:lnSpc>
              </a:pPr>
              <a:r>
                <a:rPr lang="zh-CN" altLang="en-US" sz="900" b="1" dirty="0">
                  <a:solidFill>
                    <a:schemeClr val="tx1"/>
                  </a:solidFill>
                  <a:latin typeface="微软雅黑" pitchFamily="34" charset="-122"/>
                  <a:ea typeface="微软雅黑" pitchFamily="34" charset="-122"/>
                </a:rPr>
                <a:t>专用协议</a:t>
              </a:r>
            </a:p>
          </p:txBody>
        </p:sp>
        <p:sp>
          <p:nvSpPr>
            <p:cNvPr id="6" name="矩形 5">
              <a:extLst>
                <a:ext uri="{FF2B5EF4-FFF2-40B4-BE49-F238E27FC236}">
                  <a16:creationId xmlns:a16="http://schemas.microsoft.com/office/drawing/2014/main" id="{BAD5F833-00B1-4698-E557-5D06906157BC}"/>
                </a:ext>
              </a:extLst>
            </p:cNvPr>
            <p:cNvSpPr/>
            <p:nvPr/>
          </p:nvSpPr>
          <p:spPr>
            <a:xfrm>
              <a:off x="7156936" y="1702130"/>
              <a:ext cx="544816" cy="415347"/>
            </a:xfrm>
            <a:prstGeom prst="rect">
              <a:avLst/>
            </a:prstGeom>
            <a:solidFill>
              <a:srgbClr val="CCFF66"/>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1400"/>
                </a:lnSpc>
              </a:pPr>
              <a:r>
                <a:rPr lang="zh-CN" altLang="en-US" sz="900" b="1" dirty="0">
                  <a:solidFill>
                    <a:schemeClr val="tx1"/>
                  </a:solidFill>
                  <a:latin typeface="微软雅黑" pitchFamily="34" charset="-122"/>
                  <a:ea typeface="微软雅黑" pitchFamily="34" charset="-122"/>
                </a:rPr>
                <a:t>流式多媒体通信</a:t>
              </a:r>
            </a:p>
          </p:txBody>
        </p:sp>
      </p:grpSp>
    </p:spTree>
    <p:extLst>
      <p:ext uri="{BB962C8B-B14F-4D97-AF65-F5344CB8AC3E}">
        <p14:creationId xmlns:p14="http://schemas.microsoft.com/office/powerpoint/2010/main" val="1704179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2A000-940B-FC27-AF3A-B02D3B6DF9D4}"/>
            </a:ext>
          </a:extLst>
        </p:cNvPr>
        <p:cNvGrpSpPr/>
        <p:nvPr/>
      </p:nvGrpSpPr>
      <p:grpSpPr>
        <a:xfrm>
          <a:off x="0" y="0"/>
          <a:ext cx="0" cy="0"/>
          <a:chOff x="0" y="0"/>
          <a:chExt cx="0" cy="0"/>
        </a:xfrm>
      </p:grpSpPr>
      <p:sp>
        <p:nvSpPr>
          <p:cNvPr id="9" name="AutoShape 5">
            <a:extLst>
              <a:ext uri="{FF2B5EF4-FFF2-40B4-BE49-F238E27FC236}">
                <a16:creationId xmlns:a16="http://schemas.microsoft.com/office/drawing/2014/main" id="{77AB9748-4F28-F6CE-4DBD-79A376A4277E}"/>
              </a:ext>
            </a:extLst>
          </p:cNvPr>
          <p:cNvSpPr>
            <a:spLocks noChangeArrowheads="1"/>
          </p:cNvSpPr>
          <p:nvPr/>
        </p:nvSpPr>
        <p:spPr bwMode="auto">
          <a:xfrm>
            <a:off x="556963" y="627462"/>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0" name="Rectangle 6">
            <a:extLst>
              <a:ext uri="{FF2B5EF4-FFF2-40B4-BE49-F238E27FC236}">
                <a16:creationId xmlns:a16="http://schemas.microsoft.com/office/drawing/2014/main" id="{6F3E280B-D054-C840-3DF2-BC03D5B9162E}"/>
              </a:ext>
            </a:extLst>
          </p:cNvPr>
          <p:cNvSpPr>
            <a:spLocks noChangeArrowheads="1"/>
          </p:cNvSpPr>
          <p:nvPr/>
        </p:nvSpPr>
        <p:spPr bwMode="auto">
          <a:xfrm>
            <a:off x="2008565" y="594251"/>
            <a:ext cx="514557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使用 </a:t>
            </a:r>
            <a:r>
              <a:rPr lang="en-US" altLang="zh-CN" sz="2000" b="1" dirty="0">
                <a:solidFill>
                  <a:schemeClr val="bg1"/>
                </a:solidFill>
                <a:latin typeface="微软雅黑" pitchFamily="34" charset="-122"/>
                <a:ea typeface="微软雅黑" pitchFamily="34" charset="-122"/>
              </a:rPr>
              <a:t>UDP </a:t>
            </a:r>
            <a:r>
              <a:rPr lang="zh-CN" altLang="en-US" sz="2000" b="1" dirty="0">
                <a:solidFill>
                  <a:schemeClr val="bg1"/>
                </a:solidFill>
                <a:latin typeface="微软雅黑" pitchFamily="34" charset="-122"/>
                <a:ea typeface="微软雅黑" pitchFamily="34" charset="-122"/>
              </a:rPr>
              <a:t>和 </a:t>
            </a: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的典型应用和应用层协议</a:t>
            </a:r>
          </a:p>
        </p:txBody>
      </p:sp>
      <p:graphicFrame>
        <p:nvGraphicFramePr>
          <p:cNvPr id="5" name="表格 4">
            <a:extLst>
              <a:ext uri="{FF2B5EF4-FFF2-40B4-BE49-F238E27FC236}">
                <a16:creationId xmlns:a16="http://schemas.microsoft.com/office/drawing/2014/main" id="{5E163D3F-6475-9F38-0B2B-B744E6BF138D}"/>
              </a:ext>
            </a:extLst>
          </p:cNvPr>
          <p:cNvGraphicFramePr>
            <a:graphicFrameLocks noGrp="1"/>
          </p:cNvGraphicFramePr>
          <p:nvPr>
            <p:extLst>
              <p:ext uri="{D42A27DB-BD31-4B8C-83A1-F6EECF244321}">
                <p14:modId xmlns:p14="http://schemas.microsoft.com/office/powerpoint/2010/main" val="4181814906"/>
              </p:ext>
            </p:extLst>
          </p:nvPr>
        </p:nvGraphicFramePr>
        <p:xfrm>
          <a:off x="966788" y="1048073"/>
          <a:ext cx="7177088" cy="3619187"/>
        </p:xfrm>
        <a:graphic>
          <a:graphicData uri="http://schemas.openxmlformats.org/drawingml/2006/table">
            <a:tbl>
              <a:tblPr>
                <a:tableStyleId>{5C22544A-7EE6-4342-B048-85BDC9FD1C3A}</a:tableStyleId>
              </a:tblPr>
              <a:tblGrid>
                <a:gridCol w="1769119">
                  <a:extLst>
                    <a:ext uri="{9D8B030D-6E8A-4147-A177-3AD203B41FA5}">
                      <a16:colId xmlns:a16="http://schemas.microsoft.com/office/drawing/2014/main" val="3484962432"/>
                    </a:ext>
                  </a:extLst>
                </a:gridCol>
                <a:gridCol w="2970890">
                  <a:extLst>
                    <a:ext uri="{9D8B030D-6E8A-4147-A177-3AD203B41FA5}">
                      <a16:colId xmlns:a16="http://schemas.microsoft.com/office/drawing/2014/main" val="1470224577"/>
                    </a:ext>
                  </a:extLst>
                </a:gridCol>
                <a:gridCol w="2437079">
                  <a:extLst>
                    <a:ext uri="{9D8B030D-6E8A-4147-A177-3AD203B41FA5}">
                      <a16:colId xmlns:a16="http://schemas.microsoft.com/office/drawing/2014/main" val="3981292478"/>
                    </a:ext>
                  </a:extLst>
                </a:gridCol>
              </a:tblGrid>
              <a:tr h="329017">
                <a:tc>
                  <a:txBody>
                    <a:bodyPr/>
                    <a:lstStyle/>
                    <a:p>
                      <a:pPr algn="ctr">
                        <a:lnSpc>
                          <a:spcPct val="100000"/>
                        </a:lnSpc>
                        <a:buNone/>
                      </a:pPr>
                      <a:r>
                        <a:rPr lang="zh-CN" sz="1400" b="1" kern="100" dirty="0">
                          <a:solidFill>
                            <a:schemeClr val="bg1"/>
                          </a:solidFill>
                          <a:effectLst/>
                          <a:latin typeface="微软雅黑" panose="020B0503020204020204" pitchFamily="34" charset="-122"/>
                          <a:ea typeface="微软雅黑" panose="020B0503020204020204" pitchFamily="34" charset="-122"/>
                        </a:rPr>
                        <a:t>应用</a:t>
                      </a:r>
                    </a:p>
                  </a:txBody>
                  <a:tcPr marL="68580" marR="68580" marT="0" marB="0" anchor="ctr">
                    <a:solidFill>
                      <a:srgbClr val="0070C0"/>
                    </a:solidFill>
                  </a:tcPr>
                </a:tc>
                <a:tc>
                  <a:txBody>
                    <a:bodyPr/>
                    <a:lstStyle/>
                    <a:p>
                      <a:pPr algn="ctr">
                        <a:lnSpc>
                          <a:spcPct val="100000"/>
                        </a:lnSpc>
                        <a:buNone/>
                      </a:pPr>
                      <a:r>
                        <a:rPr lang="zh-CN" sz="1400" b="1" kern="100" dirty="0">
                          <a:solidFill>
                            <a:schemeClr val="bg1"/>
                          </a:solidFill>
                          <a:effectLst/>
                          <a:latin typeface="微软雅黑" panose="020B0503020204020204" pitchFamily="34" charset="-122"/>
                          <a:ea typeface="微软雅黑" panose="020B0503020204020204" pitchFamily="34" charset="-122"/>
                        </a:rPr>
                        <a:t>应用层协议</a:t>
                      </a:r>
                    </a:p>
                  </a:txBody>
                  <a:tcPr marL="68580" marR="68580" marT="0" marB="0" anchor="ctr">
                    <a:solidFill>
                      <a:srgbClr val="0070C0"/>
                    </a:solidFill>
                  </a:tcPr>
                </a:tc>
                <a:tc>
                  <a:txBody>
                    <a:bodyPr/>
                    <a:lstStyle/>
                    <a:p>
                      <a:pPr algn="ctr">
                        <a:lnSpc>
                          <a:spcPct val="100000"/>
                        </a:lnSpc>
                        <a:buNone/>
                      </a:pPr>
                      <a:r>
                        <a:rPr lang="zh-CN" sz="1400" b="1" kern="100" dirty="0">
                          <a:solidFill>
                            <a:schemeClr val="bg1"/>
                          </a:solidFill>
                          <a:effectLst/>
                          <a:latin typeface="微软雅黑" panose="020B0503020204020204" pitchFamily="34" charset="-122"/>
                          <a:ea typeface="微软雅黑" panose="020B0503020204020204" pitchFamily="34" charset="-122"/>
                        </a:rPr>
                        <a:t>传输层协议</a:t>
                      </a:r>
                    </a:p>
                  </a:txBody>
                  <a:tcPr marL="68580" marR="68580" marT="0" marB="0" anchor="ctr">
                    <a:solidFill>
                      <a:srgbClr val="0070C0"/>
                    </a:solidFill>
                  </a:tcPr>
                </a:tc>
                <a:extLst>
                  <a:ext uri="{0D108BD9-81ED-4DB2-BD59-A6C34878D82A}">
                    <a16:rowId xmlns:a16="http://schemas.microsoft.com/office/drawing/2014/main" val="4252241082"/>
                  </a:ext>
                </a:extLst>
              </a:tr>
              <a:tr h="329017">
                <a:tc>
                  <a:txBody>
                    <a:bodyPr/>
                    <a:lstStyle/>
                    <a:p>
                      <a:pPr algn="just">
                        <a:lnSpc>
                          <a:spcPct val="100000"/>
                        </a:lnSpc>
                        <a:buNone/>
                      </a:pPr>
                      <a:r>
                        <a:rPr lang="zh-CN" sz="1400" b="1" kern="100" dirty="0">
                          <a:effectLst/>
                          <a:latin typeface="微软雅黑" panose="020B0503020204020204" pitchFamily="34" charset="-122"/>
                          <a:ea typeface="微软雅黑" panose="020B0503020204020204" pitchFamily="34" charset="-122"/>
                        </a:rPr>
                        <a:t>名字转换</a:t>
                      </a:r>
                    </a:p>
                  </a:txBody>
                  <a:tcPr marL="68580" marR="68580" marT="0" marB="0" anchor="ctr">
                    <a:solidFill>
                      <a:schemeClr val="accent1">
                        <a:lumMod val="20000"/>
                        <a:lumOff val="80000"/>
                      </a:schemeClr>
                    </a:solidFill>
                  </a:tcPr>
                </a:tc>
                <a:tc>
                  <a:txBody>
                    <a:bodyPr/>
                    <a:lstStyle/>
                    <a:p>
                      <a:pPr algn="just">
                        <a:lnSpc>
                          <a:spcPct val="100000"/>
                        </a:lnSpc>
                        <a:buNone/>
                      </a:pPr>
                      <a:r>
                        <a:rPr lang="en-US" sz="1400" b="1" kern="100" dirty="0">
                          <a:effectLst/>
                          <a:latin typeface="微软雅黑" panose="020B0503020204020204" pitchFamily="34" charset="-122"/>
                          <a:ea typeface="微软雅黑" panose="020B0503020204020204" pitchFamily="34" charset="-122"/>
                        </a:rPr>
                        <a:t>DNS</a:t>
                      </a:r>
                      <a:r>
                        <a:rPr lang="zh-CN" sz="1400" b="1" kern="100" dirty="0">
                          <a:effectLst/>
                          <a:latin typeface="微软雅黑" panose="020B0503020204020204" pitchFamily="34" charset="-122"/>
                          <a:ea typeface="微软雅黑" panose="020B0503020204020204" pitchFamily="34" charset="-122"/>
                        </a:rPr>
                        <a:t>（域名系统）</a:t>
                      </a:r>
                    </a:p>
                  </a:txBody>
                  <a:tcPr marL="68580" marR="68580" marT="0" marB="0" anchor="ctr">
                    <a:solidFill>
                      <a:schemeClr val="accent1">
                        <a:lumMod val="20000"/>
                        <a:lumOff val="80000"/>
                      </a:schemeClr>
                    </a:solidFill>
                  </a:tcPr>
                </a:tc>
                <a:tc>
                  <a:txBody>
                    <a:bodyPr/>
                    <a:lstStyle/>
                    <a:p>
                      <a:pPr algn="ctr">
                        <a:lnSpc>
                          <a:spcPct val="100000"/>
                        </a:lnSpc>
                        <a:buNone/>
                      </a:pPr>
                      <a:r>
                        <a:rPr lang="en-US" sz="1400" b="1" kern="100">
                          <a:effectLst/>
                          <a:latin typeface="微软雅黑" panose="020B0503020204020204" pitchFamily="34" charset="-122"/>
                          <a:ea typeface="微软雅黑" panose="020B0503020204020204" pitchFamily="34" charset="-122"/>
                        </a:rPr>
                        <a:t>UDP</a:t>
                      </a:r>
                      <a:endParaRPr lang="zh-CN" sz="1400" b="1" kern="100">
                        <a:effectLst/>
                        <a:latin typeface="微软雅黑" panose="020B0503020204020204" pitchFamily="34" charset="-122"/>
                        <a:ea typeface="微软雅黑" panose="020B0503020204020204" pitchFamily="34" charset="-122"/>
                      </a:endParaRPr>
                    </a:p>
                  </a:txBody>
                  <a:tcPr marL="68580" marR="68580" marT="0" marB="0" anchor="ctr">
                    <a:solidFill>
                      <a:schemeClr val="accent1">
                        <a:lumMod val="20000"/>
                        <a:lumOff val="80000"/>
                      </a:schemeClr>
                    </a:solidFill>
                  </a:tcPr>
                </a:tc>
                <a:extLst>
                  <a:ext uri="{0D108BD9-81ED-4DB2-BD59-A6C34878D82A}">
                    <a16:rowId xmlns:a16="http://schemas.microsoft.com/office/drawing/2014/main" val="902294876"/>
                  </a:ext>
                </a:extLst>
              </a:tr>
              <a:tr h="329017">
                <a:tc>
                  <a:txBody>
                    <a:bodyPr/>
                    <a:lstStyle/>
                    <a:p>
                      <a:pPr algn="just">
                        <a:lnSpc>
                          <a:spcPct val="100000"/>
                        </a:lnSpc>
                        <a:buNone/>
                      </a:pPr>
                      <a:r>
                        <a:rPr lang="zh-CN" sz="1400" b="1" kern="100" dirty="0">
                          <a:effectLst/>
                          <a:latin typeface="微软雅黑" panose="020B0503020204020204" pitchFamily="34" charset="-122"/>
                          <a:ea typeface="微软雅黑" panose="020B0503020204020204" pitchFamily="34" charset="-122"/>
                        </a:rPr>
                        <a:t>路由选择协议</a:t>
                      </a:r>
                    </a:p>
                  </a:txBody>
                  <a:tcPr marL="68580" marR="68580" marT="0" marB="0" anchor="ctr">
                    <a:solidFill>
                      <a:schemeClr val="accent1">
                        <a:lumMod val="20000"/>
                        <a:lumOff val="80000"/>
                      </a:schemeClr>
                    </a:solidFill>
                  </a:tcPr>
                </a:tc>
                <a:tc>
                  <a:txBody>
                    <a:bodyPr/>
                    <a:lstStyle/>
                    <a:p>
                      <a:pPr algn="just">
                        <a:lnSpc>
                          <a:spcPct val="100000"/>
                        </a:lnSpc>
                        <a:buNone/>
                      </a:pPr>
                      <a:r>
                        <a:rPr lang="en-US" sz="1400" b="1" kern="100" dirty="0">
                          <a:effectLst/>
                          <a:latin typeface="微软雅黑" panose="020B0503020204020204" pitchFamily="34" charset="-122"/>
                          <a:ea typeface="微软雅黑" panose="020B0503020204020204" pitchFamily="34" charset="-122"/>
                        </a:rPr>
                        <a:t>RIP</a:t>
                      </a:r>
                      <a:r>
                        <a:rPr lang="zh-CN" sz="1400" b="1" kern="100" dirty="0">
                          <a:effectLst/>
                          <a:latin typeface="微软雅黑" panose="020B0503020204020204" pitchFamily="34" charset="-122"/>
                          <a:ea typeface="微软雅黑" panose="020B0503020204020204" pitchFamily="34" charset="-122"/>
                        </a:rPr>
                        <a:t>（路由信息协议）</a:t>
                      </a:r>
                    </a:p>
                  </a:txBody>
                  <a:tcPr marL="68580" marR="68580" marT="0" marB="0" anchor="ctr">
                    <a:solidFill>
                      <a:schemeClr val="accent1">
                        <a:lumMod val="20000"/>
                        <a:lumOff val="80000"/>
                      </a:schemeClr>
                    </a:solidFill>
                  </a:tcPr>
                </a:tc>
                <a:tc>
                  <a:txBody>
                    <a:bodyPr/>
                    <a:lstStyle/>
                    <a:p>
                      <a:pPr algn="ctr">
                        <a:lnSpc>
                          <a:spcPct val="100000"/>
                        </a:lnSpc>
                        <a:buNone/>
                      </a:pPr>
                      <a:r>
                        <a:rPr lang="en-US" sz="1400" b="1" kern="100">
                          <a:effectLst/>
                          <a:latin typeface="微软雅黑" panose="020B0503020204020204" pitchFamily="34" charset="-122"/>
                          <a:ea typeface="微软雅黑" panose="020B0503020204020204" pitchFamily="34" charset="-122"/>
                        </a:rPr>
                        <a:t>UDP</a:t>
                      </a:r>
                      <a:endParaRPr lang="zh-CN" sz="1400" b="1" kern="100">
                        <a:effectLst/>
                        <a:latin typeface="微软雅黑" panose="020B0503020204020204" pitchFamily="34" charset="-122"/>
                        <a:ea typeface="微软雅黑" panose="020B0503020204020204" pitchFamily="34" charset="-122"/>
                      </a:endParaRPr>
                    </a:p>
                  </a:txBody>
                  <a:tcPr marL="68580" marR="68580" marT="0" marB="0" anchor="ctr">
                    <a:solidFill>
                      <a:schemeClr val="accent1">
                        <a:lumMod val="20000"/>
                        <a:lumOff val="80000"/>
                      </a:schemeClr>
                    </a:solidFill>
                  </a:tcPr>
                </a:tc>
                <a:extLst>
                  <a:ext uri="{0D108BD9-81ED-4DB2-BD59-A6C34878D82A}">
                    <a16:rowId xmlns:a16="http://schemas.microsoft.com/office/drawing/2014/main" val="560048303"/>
                  </a:ext>
                </a:extLst>
              </a:tr>
              <a:tr h="329017">
                <a:tc>
                  <a:txBody>
                    <a:bodyPr/>
                    <a:lstStyle/>
                    <a:p>
                      <a:pPr algn="just">
                        <a:lnSpc>
                          <a:spcPct val="100000"/>
                        </a:lnSpc>
                        <a:buNone/>
                      </a:pPr>
                      <a:r>
                        <a:rPr lang="en-US" sz="1400" b="1" kern="100" dirty="0">
                          <a:effectLst/>
                          <a:latin typeface="微软雅黑" panose="020B0503020204020204" pitchFamily="34" charset="-122"/>
                          <a:ea typeface="微软雅黑" panose="020B0503020204020204" pitchFamily="34" charset="-122"/>
                        </a:rPr>
                        <a:t>IP</a:t>
                      </a:r>
                      <a:r>
                        <a:rPr lang="zh-CN" sz="1400" b="1" kern="100" dirty="0">
                          <a:effectLst/>
                          <a:latin typeface="微软雅黑" panose="020B0503020204020204" pitchFamily="34" charset="-122"/>
                          <a:ea typeface="微软雅黑" panose="020B0503020204020204" pitchFamily="34" charset="-122"/>
                        </a:rPr>
                        <a:t>地址配置</a:t>
                      </a:r>
                    </a:p>
                  </a:txBody>
                  <a:tcPr marL="68580" marR="68580" marT="0" marB="0" anchor="ctr">
                    <a:solidFill>
                      <a:schemeClr val="accent1">
                        <a:lumMod val="20000"/>
                        <a:lumOff val="80000"/>
                      </a:schemeClr>
                    </a:solidFill>
                  </a:tcPr>
                </a:tc>
                <a:tc>
                  <a:txBody>
                    <a:bodyPr/>
                    <a:lstStyle/>
                    <a:p>
                      <a:pPr algn="just">
                        <a:lnSpc>
                          <a:spcPct val="100000"/>
                        </a:lnSpc>
                        <a:buNone/>
                      </a:pPr>
                      <a:r>
                        <a:rPr lang="en-US" sz="1400" b="1" kern="100" dirty="0">
                          <a:effectLst/>
                          <a:latin typeface="微软雅黑" panose="020B0503020204020204" pitchFamily="34" charset="-122"/>
                          <a:ea typeface="微软雅黑" panose="020B0503020204020204" pitchFamily="34" charset="-122"/>
                        </a:rPr>
                        <a:t>DHCP</a:t>
                      </a:r>
                      <a:r>
                        <a:rPr lang="zh-CN" sz="1400" b="1" kern="100" dirty="0">
                          <a:effectLst/>
                          <a:latin typeface="微软雅黑" panose="020B0503020204020204" pitchFamily="34" charset="-122"/>
                          <a:ea typeface="微软雅黑" panose="020B0503020204020204" pitchFamily="34" charset="-122"/>
                        </a:rPr>
                        <a:t>（动态主机配置协议）</a:t>
                      </a:r>
                    </a:p>
                  </a:txBody>
                  <a:tcPr marL="68580" marR="68580" marT="0" marB="0" anchor="ctr">
                    <a:solidFill>
                      <a:schemeClr val="accent1">
                        <a:lumMod val="20000"/>
                        <a:lumOff val="80000"/>
                      </a:schemeClr>
                    </a:solidFill>
                  </a:tcPr>
                </a:tc>
                <a:tc>
                  <a:txBody>
                    <a:bodyPr/>
                    <a:lstStyle/>
                    <a:p>
                      <a:pPr algn="ctr">
                        <a:lnSpc>
                          <a:spcPct val="100000"/>
                        </a:lnSpc>
                        <a:buNone/>
                      </a:pPr>
                      <a:r>
                        <a:rPr lang="en-US" sz="1400" b="1" kern="100">
                          <a:effectLst/>
                          <a:latin typeface="微软雅黑" panose="020B0503020204020204" pitchFamily="34" charset="-122"/>
                          <a:ea typeface="微软雅黑" panose="020B0503020204020204" pitchFamily="34" charset="-122"/>
                        </a:rPr>
                        <a:t>UDP</a:t>
                      </a:r>
                      <a:endParaRPr lang="zh-CN" sz="1400" b="1" kern="100">
                        <a:effectLst/>
                        <a:latin typeface="微软雅黑" panose="020B0503020204020204" pitchFamily="34" charset="-122"/>
                        <a:ea typeface="微软雅黑" panose="020B0503020204020204" pitchFamily="34" charset="-122"/>
                      </a:endParaRPr>
                    </a:p>
                  </a:txBody>
                  <a:tcPr marL="68580" marR="68580" marT="0" marB="0" anchor="ctr">
                    <a:solidFill>
                      <a:schemeClr val="accent1">
                        <a:lumMod val="20000"/>
                        <a:lumOff val="80000"/>
                      </a:schemeClr>
                    </a:solidFill>
                  </a:tcPr>
                </a:tc>
                <a:extLst>
                  <a:ext uri="{0D108BD9-81ED-4DB2-BD59-A6C34878D82A}">
                    <a16:rowId xmlns:a16="http://schemas.microsoft.com/office/drawing/2014/main" val="731165014"/>
                  </a:ext>
                </a:extLst>
              </a:tr>
              <a:tr h="329017">
                <a:tc>
                  <a:txBody>
                    <a:bodyPr/>
                    <a:lstStyle/>
                    <a:p>
                      <a:pPr algn="just">
                        <a:lnSpc>
                          <a:spcPct val="100000"/>
                        </a:lnSpc>
                        <a:buNone/>
                      </a:pPr>
                      <a:r>
                        <a:rPr lang="zh-CN" sz="1400" b="1" kern="100">
                          <a:effectLst/>
                          <a:latin typeface="微软雅黑" panose="020B0503020204020204" pitchFamily="34" charset="-122"/>
                          <a:ea typeface="微软雅黑" panose="020B0503020204020204" pitchFamily="34" charset="-122"/>
                        </a:rPr>
                        <a:t>网络管理</a:t>
                      </a:r>
                    </a:p>
                  </a:txBody>
                  <a:tcPr marL="68580" marR="68580" marT="0" marB="0" anchor="ctr">
                    <a:solidFill>
                      <a:schemeClr val="accent1">
                        <a:lumMod val="20000"/>
                        <a:lumOff val="80000"/>
                      </a:schemeClr>
                    </a:solidFill>
                  </a:tcPr>
                </a:tc>
                <a:tc>
                  <a:txBody>
                    <a:bodyPr/>
                    <a:lstStyle/>
                    <a:p>
                      <a:pPr algn="just">
                        <a:lnSpc>
                          <a:spcPct val="100000"/>
                        </a:lnSpc>
                        <a:buNone/>
                      </a:pPr>
                      <a:r>
                        <a:rPr lang="en-US" sz="1400" b="1" kern="100" dirty="0">
                          <a:effectLst/>
                          <a:latin typeface="微软雅黑" panose="020B0503020204020204" pitchFamily="34" charset="-122"/>
                          <a:ea typeface="微软雅黑" panose="020B0503020204020204" pitchFamily="34" charset="-122"/>
                        </a:rPr>
                        <a:t>SNMP</a:t>
                      </a:r>
                      <a:r>
                        <a:rPr lang="zh-CN" sz="1400" b="1" kern="100" dirty="0">
                          <a:effectLst/>
                          <a:latin typeface="微软雅黑" panose="020B0503020204020204" pitchFamily="34" charset="-122"/>
                          <a:ea typeface="微软雅黑" panose="020B0503020204020204" pitchFamily="34" charset="-122"/>
                        </a:rPr>
                        <a:t>（简单网络管理协议）</a:t>
                      </a:r>
                    </a:p>
                  </a:txBody>
                  <a:tcPr marL="68580" marR="68580" marT="0" marB="0" anchor="ctr">
                    <a:solidFill>
                      <a:schemeClr val="accent1">
                        <a:lumMod val="20000"/>
                        <a:lumOff val="80000"/>
                      </a:schemeClr>
                    </a:solidFill>
                  </a:tcPr>
                </a:tc>
                <a:tc>
                  <a:txBody>
                    <a:bodyPr/>
                    <a:lstStyle/>
                    <a:p>
                      <a:pPr algn="ctr">
                        <a:lnSpc>
                          <a:spcPct val="100000"/>
                        </a:lnSpc>
                        <a:buNone/>
                      </a:pPr>
                      <a:r>
                        <a:rPr lang="en-US" sz="1400" b="1" kern="100">
                          <a:effectLst/>
                          <a:latin typeface="微软雅黑" panose="020B0503020204020204" pitchFamily="34" charset="-122"/>
                          <a:ea typeface="微软雅黑" panose="020B0503020204020204" pitchFamily="34" charset="-122"/>
                        </a:rPr>
                        <a:t>UDP</a:t>
                      </a:r>
                      <a:endParaRPr lang="zh-CN" sz="1400" b="1" kern="100">
                        <a:effectLst/>
                        <a:latin typeface="微软雅黑" panose="020B0503020204020204" pitchFamily="34" charset="-122"/>
                        <a:ea typeface="微软雅黑" panose="020B0503020204020204" pitchFamily="34" charset="-122"/>
                      </a:endParaRPr>
                    </a:p>
                  </a:txBody>
                  <a:tcPr marL="68580" marR="68580" marT="0" marB="0" anchor="ctr">
                    <a:solidFill>
                      <a:schemeClr val="accent1">
                        <a:lumMod val="20000"/>
                        <a:lumOff val="80000"/>
                      </a:schemeClr>
                    </a:solidFill>
                  </a:tcPr>
                </a:tc>
                <a:extLst>
                  <a:ext uri="{0D108BD9-81ED-4DB2-BD59-A6C34878D82A}">
                    <a16:rowId xmlns:a16="http://schemas.microsoft.com/office/drawing/2014/main" val="3985130538"/>
                  </a:ext>
                </a:extLst>
              </a:tr>
              <a:tr h="329017">
                <a:tc>
                  <a:txBody>
                    <a:bodyPr/>
                    <a:lstStyle/>
                    <a:p>
                      <a:pPr algn="just">
                        <a:lnSpc>
                          <a:spcPct val="100000"/>
                        </a:lnSpc>
                        <a:buNone/>
                      </a:pPr>
                      <a:r>
                        <a:rPr lang="en-US" sz="1400" b="1" kern="100">
                          <a:effectLst/>
                          <a:latin typeface="微软雅黑" panose="020B0503020204020204" pitchFamily="34" charset="-122"/>
                          <a:ea typeface="微软雅黑" panose="020B0503020204020204" pitchFamily="34" charset="-122"/>
                        </a:rPr>
                        <a:t>IP</a:t>
                      </a:r>
                      <a:r>
                        <a:rPr lang="zh-CN" sz="1400" b="1" kern="100">
                          <a:effectLst/>
                          <a:latin typeface="微软雅黑" panose="020B0503020204020204" pitchFamily="34" charset="-122"/>
                          <a:ea typeface="微软雅黑" panose="020B0503020204020204" pitchFamily="34" charset="-122"/>
                        </a:rPr>
                        <a:t>电话</a:t>
                      </a:r>
                    </a:p>
                  </a:txBody>
                  <a:tcPr marL="68580" marR="68580" marT="0" marB="0" anchor="ctr">
                    <a:solidFill>
                      <a:schemeClr val="accent1">
                        <a:lumMod val="20000"/>
                        <a:lumOff val="80000"/>
                      </a:schemeClr>
                    </a:solidFill>
                  </a:tcPr>
                </a:tc>
                <a:tc>
                  <a:txBody>
                    <a:bodyPr/>
                    <a:lstStyle/>
                    <a:p>
                      <a:pPr algn="just">
                        <a:lnSpc>
                          <a:spcPct val="100000"/>
                        </a:lnSpc>
                        <a:buNone/>
                      </a:pPr>
                      <a:r>
                        <a:rPr lang="zh-CN" sz="1400" b="1" kern="100" dirty="0">
                          <a:effectLst/>
                          <a:latin typeface="微软雅黑" panose="020B0503020204020204" pitchFamily="34" charset="-122"/>
                          <a:ea typeface="微软雅黑" panose="020B0503020204020204" pitchFamily="34" charset="-122"/>
                        </a:rPr>
                        <a:t>专用协议</a:t>
                      </a:r>
                    </a:p>
                  </a:txBody>
                  <a:tcPr marL="68580" marR="68580" marT="0" marB="0" anchor="ctr">
                    <a:solidFill>
                      <a:schemeClr val="accent1">
                        <a:lumMod val="20000"/>
                        <a:lumOff val="80000"/>
                      </a:schemeClr>
                    </a:solidFill>
                  </a:tcPr>
                </a:tc>
                <a:tc>
                  <a:txBody>
                    <a:bodyPr/>
                    <a:lstStyle/>
                    <a:p>
                      <a:pPr algn="ctr">
                        <a:lnSpc>
                          <a:spcPct val="100000"/>
                        </a:lnSpc>
                        <a:buNone/>
                      </a:pPr>
                      <a:r>
                        <a:rPr lang="en-US" sz="1400" b="1" kern="100">
                          <a:effectLst/>
                          <a:latin typeface="微软雅黑" panose="020B0503020204020204" pitchFamily="34" charset="-122"/>
                          <a:ea typeface="微软雅黑" panose="020B0503020204020204" pitchFamily="34" charset="-122"/>
                        </a:rPr>
                        <a:t>UDP</a:t>
                      </a:r>
                      <a:r>
                        <a:rPr lang="zh-CN" sz="1400" b="1" kern="100">
                          <a:effectLst/>
                          <a:latin typeface="微软雅黑" panose="020B0503020204020204" pitchFamily="34" charset="-122"/>
                          <a:ea typeface="微软雅黑" panose="020B0503020204020204" pitchFamily="34" charset="-122"/>
                        </a:rPr>
                        <a:t>，</a:t>
                      </a:r>
                      <a:r>
                        <a:rPr lang="en-US" sz="1400" b="1" kern="100">
                          <a:effectLst/>
                          <a:latin typeface="微软雅黑" panose="020B0503020204020204" pitchFamily="34" charset="-122"/>
                          <a:ea typeface="微软雅黑" panose="020B0503020204020204" pitchFamily="34" charset="-122"/>
                        </a:rPr>
                        <a:t>TCP</a:t>
                      </a:r>
                      <a:endParaRPr lang="zh-CN" sz="1400" b="1" kern="100">
                        <a:effectLst/>
                        <a:latin typeface="微软雅黑" panose="020B0503020204020204" pitchFamily="34" charset="-122"/>
                        <a:ea typeface="微软雅黑" panose="020B0503020204020204" pitchFamily="34" charset="-122"/>
                      </a:endParaRPr>
                    </a:p>
                  </a:txBody>
                  <a:tcPr marL="68580" marR="68580" marT="0" marB="0" anchor="ctr">
                    <a:solidFill>
                      <a:schemeClr val="accent1">
                        <a:lumMod val="20000"/>
                        <a:lumOff val="80000"/>
                      </a:schemeClr>
                    </a:solidFill>
                  </a:tcPr>
                </a:tc>
                <a:extLst>
                  <a:ext uri="{0D108BD9-81ED-4DB2-BD59-A6C34878D82A}">
                    <a16:rowId xmlns:a16="http://schemas.microsoft.com/office/drawing/2014/main" val="3514480068"/>
                  </a:ext>
                </a:extLst>
              </a:tr>
              <a:tr h="329017">
                <a:tc>
                  <a:txBody>
                    <a:bodyPr/>
                    <a:lstStyle/>
                    <a:p>
                      <a:pPr algn="just">
                        <a:lnSpc>
                          <a:spcPct val="100000"/>
                        </a:lnSpc>
                        <a:buNone/>
                      </a:pPr>
                      <a:r>
                        <a:rPr lang="zh-CN" sz="1400" b="1" kern="100">
                          <a:effectLst/>
                          <a:latin typeface="微软雅黑" panose="020B0503020204020204" pitchFamily="34" charset="-122"/>
                          <a:ea typeface="微软雅黑" panose="020B0503020204020204" pitchFamily="34" charset="-122"/>
                        </a:rPr>
                        <a:t>流式多媒体通信</a:t>
                      </a:r>
                    </a:p>
                  </a:txBody>
                  <a:tcPr marL="68580" marR="68580" marT="0" marB="0" anchor="ctr">
                    <a:solidFill>
                      <a:schemeClr val="accent1">
                        <a:lumMod val="20000"/>
                        <a:lumOff val="80000"/>
                      </a:schemeClr>
                    </a:solidFill>
                  </a:tcPr>
                </a:tc>
                <a:tc>
                  <a:txBody>
                    <a:bodyPr/>
                    <a:lstStyle/>
                    <a:p>
                      <a:pPr algn="just">
                        <a:lnSpc>
                          <a:spcPct val="100000"/>
                        </a:lnSpc>
                        <a:buNone/>
                      </a:pPr>
                      <a:r>
                        <a:rPr lang="zh-CN" sz="1400" b="1" kern="100" dirty="0">
                          <a:effectLst/>
                          <a:latin typeface="微软雅黑" panose="020B0503020204020204" pitchFamily="34" charset="-122"/>
                          <a:ea typeface="微软雅黑" panose="020B0503020204020204" pitchFamily="34" charset="-122"/>
                        </a:rPr>
                        <a:t>专用协议</a:t>
                      </a:r>
                    </a:p>
                  </a:txBody>
                  <a:tcPr marL="68580" marR="68580" marT="0" marB="0" anchor="ctr">
                    <a:solidFill>
                      <a:schemeClr val="accent1">
                        <a:lumMod val="20000"/>
                        <a:lumOff val="80000"/>
                      </a:schemeClr>
                    </a:solidFill>
                  </a:tcPr>
                </a:tc>
                <a:tc>
                  <a:txBody>
                    <a:bodyPr/>
                    <a:lstStyle/>
                    <a:p>
                      <a:pPr algn="ctr">
                        <a:lnSpc>
                          <a:spcPct val="100000"/>
                        </a:lnSpc>
                        <a:buNone/>
                      </a:pPr>
                      <a:r>
                        <a:rPr lang="en-US" sz="1400" b="1" kern="100" dirty="0">
                          <a:effectLst/>
                          <a:latin typeface="微软雅黑" panose="020B0503020204020204" pitchFamily="34" charset="-122"/>
                          <a:ea typeface="微软雅黑" panose="020B0503020204020204" pitchFamily="34" charset="-122"/>
                        </a:rPr>
                        <a:t>UDP</a:t>
                      </a:r>
                      <a:r>
                        <a:rPr lang="zh-CN" sz="1400" b="1" kern="100" dirty="0">
                          <a:effectLst/>
                          <a:latin typeface="微软雅黑" panose="020B0503020204020204" pitchFamily="34" charset="-122"/>
                          <a:ea typeface="微软雅黑" panose="020B0503020204020204" pitchFamily="34" charset="-122"/>
                        </a:rPr>
                        <a:t>，</a:t>
                      </a:r>
                      <a:r>
                        <a:rPr lang="en-US" sz="1400" b="1" kern="100" dirty="0">
                          <a:effectLst/>
                          <a:latin typeface="微软雅黑" panose="020B0503020204020204" pitchFamily="34" charset="-122"/>
                          <a:ea typeface="微软雅黑" panose="020B0503020204020204" pitchFamily="34" charset="-122"/>
                        </a:rPr>
                        <a:t>TCP</a:t>
                      </a:r>
                      <a:endParaRPr lang="zh-CN" sz="1400" b="1" kern="100" dirty="0">
                        <a:effectLst/>
                        <a:latin typeface="微软雅黑" panose="020B0503020204020204" pitchFamily="34" charset="-122"/>
                        <a:ea typeface="微软雅黑" panose="020B0503020204020204" pitchFamily="34" charset="-122"/>
                      </a:endParaRPr>
                    </a:p>
                  </a:txBody>
                  <a:tcPr marL="68580" marR="68580" marT="0" marB="0" anchor="ctr">
                    <a:solidFill>
                      <a:schemeClr val="accent1">
                        <a:lumMod val="20000"/>
                        <a:lumOff val="80000"/>
                      </a:schemeClr>
                    </a:solidFill>
                  </a:tcPr>
                </a:tc>
                <a:extLst>
                  <a:ext uri="{0D108BD9-81ED-4DB2-BD59-A6C34878D82A}">
                    <a16:rowId xmlns:a16="http://schemas.microsoft.com/office/drawing/2014/main" val="1884537345"/>
                  </a:ext>
                </a:extLst>
              </a:tr>
              <a:tr h="329017">
                <a:tc>
                  <a:txBody>
                    <a:bodyPr/>
                    <a:lstStyle/>
                    <a:p>
                      <a:pPr algn="just">
                        <a:lnSpc>
                          <a:spcPct val="100000"/>
                        </a:lnSpc>
                        <a:buNone/>
                      </a:pPr>
                      <a:r>
                        <a:rPr lang="zh-CN" sz="1400" b="1" kern="100">
                          <a:effectLst/>
                          <a:latin typeface="微软雅黑" panose="020B0503020204020204" pitchFamily="34" charset="-122"/>
                          <a:ea typeface="微软雅黑" panose="020B0503020204020204" pitchFamily="34" charset="-122"/>
                        </a:rPr>
                        <a:t>电子邮件</a:t>
                      </a:r>
                    </a:p>
                  </a:txBody>
                  <a:tcPr marL="68580" marR="68580" marT="0" marB="0" anchor="ctr">
                    <a:solidFill>
                      <a:schemeClr val="accent1">
                        <a:lumMod val="20000"/>
                        <a:lumOff val="80000"/>
                      </a:schemeClr>
                    </a:solidFill>
                  </a:tcPr>
                </a:tc>
                <a:tc>
                  <a:txBody>
                    <a:bodyPr/>
                    <a:lstStyle/>
                    <a:p>
                      <a:pPr algn="just">
                        <a:lnSpc>
                          <a:spcPct val="100000"/>
                        </a:lnSpc>
                        <a:buNone/>
                      </a:pPr>
                      <a:r>
                        <a:rPr lang="en-US" sz="1400" b="1" kern="100">
                          <a:effectLst/>
                          <a:latin typeface="微软雅黑" panose="020B0503020204020204" pitchFamily="34" charset="-122"/>
                          <a:ea typeface="微软雅黑" panose="020B0503020204020204" pitchFamily="34" charset="-122"/>
                        </a:rPr>
                        <a:t>SMTP</a:t>
                      </a:r>
                      <a:r>
                        <a:rPr lang="zh-CN" sz="1400" b="1" kern="100">
                          <a:effectLst/>
                          <a:latin typeface="微软雅黑" panose="020B0503020204020204" pitchFamily="34" charset="-122"/>
                          <a:ea typeface="微软雅黑" panose="020B0503020204020204" pitchFamily="34" charset="-122"/>
                        </a:rPr>
                        <a:t>（简单邮件传送协议）</a:t>
                      </a:r>
                    </a:p>
                  </a:txBody>
                  <a:tcPr marL="68580" marR="68580" marT="0" marB="0" anchor="ctr">
                    <a:solidFill>
                      <a:schemeClr val="accent1">
                        <a:lumMod val="20000"/>
                        <a:lumOff val="80000"/>
                      </a:schemeClr>
                    </a:solidFill>
                  </a:tcPr>
                </a:tc>
                <a:tc>
                  <a:txBody>
                    <a:bodyPr/>
                    <a:lstStyle/>
                    <a:p>
                      <a:pPr algn="ctr">
                        <a:lnSpc>
                          <a:spcPct val="100000"/>
                        </a:lnSpc>
                        <a:buNone/>
                      </a:pPr>
                      <a:r>
                        <a:rPr lang="en-US" sz="1400" b="1" kern="100" dirty="0">
                          <a:effectLst/>
                          <a:latin typeface="微软雅黑" panose="020B0503020204020204" pitchFamily="34" charset="-122"/>
                          <a:ea typeface="微软雅黑" panose="020B0503020204020204" pitchFamily="34" charset="-122"/>
                        </a:rPr>
                        <a:t>TCP</a:t>
                      </a:r>
                      <a:endParaRPr lang="zh-CN" sz="1400" b="1" kern="100" dirty="0">
                        <a:effectLst/>
                        <a:latin typeface="微软雅黑" panose="020B0503020204020204" pitchFamily="34" charset="-122"/>
                        <a:ea typeface="微软雅黑" panose="020B0503020204020204" pitchFamily="34" charset="-122"/>
                      </a:endParaRPr>
                    </a:p>
                  </a:txBody>
                  <a:tcPr marL="68580" marR="68580" marT="0" marB="0" anchor="ctr">
                    <a:solidFill>
                      <a:schemeClr val="accent1">
                        <a:lumMod val="20000"/>
                        <a:lumOff val="80000"/>
                      </a:schemeClr>
                    </a:solidFill>
                  </a:tcPr>
                </a:tc>
                <a:extLst>
                  <a:ext uri="{0D108BD9-81ED-4DB2-BD59-A6C34878D82A}">
                    <a16:rowId xmlns:a16="http://schemas.microsoft.com/office/drawing/2014/main" val="4292411357"/>
                  </a:ext>
                </a:extLst>
              </a:tr>
              <a:tr h="329017">
                <a:tc>
                  <a:txBody>
                    <a:bodyPr/>
                    <a:lstStyle/>
                    <a:p>
                      <a:pPr algn="just">
                        <a:lnSpc>
                          <a:spcPct val="100000"/>
                        </a:lnSpc>
                        <a:buNone/>
                      </a:pPr>
                      <a:r>
                        <a:rPr lang="zh-CN" sz="1400" b="1" kern="100">
                          <a:effectLst/>
                          <a:latin typeface="微软雅黑" panose="020B0503020204020204" pitchFamily="34" charset="-122"/>
                          <a:ea typeface="微软雅黑" panose="020B0503020204020204" pitchFamily="34" charset="-122"/>
                        </a:rPr>
                        <a:t>路由选择协议</a:t>
                      </a:r>
                    </a:p>
                  </a:txBody>
                  <a:tcPr marL="68580" marR="68580" marT="0" marB="0" anchor="ctr">
                    <a:solidFill>
                      <a:schemeClr val="accent1">
                        <a:lumMod val="20000"/>
                        <a:lumOff val="80000"/>
                      </a:schemeClr>
                    </a:solidFill>
                  </a:tcPr>
                </a:tc>
                <a:tc>
                  <a:txBody>
                    <a:bodyPr/>
                    <a:lstStyle/>
                    <a:p>
                      <a:pPr algn="just">
                        <a:lnSpc>
                          <a:spcPct val="100000"/>
                        </a:lnSpc>
                        <a:buNone/>
                      </a:pPr>
                      <a:r>
                        <a:rPr lang="en-US" sz="1400" b="1" kern="100">
                          <a:effectLst/>
                          <a:latin typeface="微软雅黑" panose="020B0503020204020204" pitchFamily="34" charset="-122"/>
                          <a:ea typeface="微软雅黑" panose="020B0503020204020204" pitchFamily="34" charset="-122"/>
                        </a:rPr>
                        <a:t>BGP</a:t>
                      </a:r>
                      <a:r>
                        <a:rPr lang="zh-CN" sz="1400" b="1" kern="100">
                          <a:effectLst/>
                          <a:latin typeface="微软雅黑" panose="020B0503020204020204" pitchFamily="34" charset="-122"/>
                          <a:ea typeface="微软雅黑" panose="020B0503020204020204" pitchFamily="34" charset="-122"/>
                        </a:rPr>
                        <a:t>（边界网关协议）</a:t>
                      </a:r>
                    </a:p>
                  </a:txBody>
                  <a:tcPr marL="68580" marR="68580" marT="0" marB="0" anchor="ctr">
                    <a:solidFill>
                      <a:schemeClr val="accent1">
                        <a:lumMod val="20000"/>
                        <a:lumOff val="80000"/>
                      </a:schemeClr>
                    </a:solidFill>
                  </a:tcPr>
                </a:tc>
                <a:tc>
                  <a:txBody>
                    <a:bodyPr/>
                    <a:lstStyle/>
                    <a:p>
                      <a:pPr algn="ctr">
                        <a:lnSpc>
                          <a:spcPct val="100000"/>
                        </a:lnSpc>
                        <a:buNone/>
                      </a:pPr>
                      <a:r>
                        <a:rPr lang="en-US" sz="1400" b="1" kern="100" dirty="0">
                          <a:effectLst/>
                          <a:latin typeface="微软雅黑" panose="020B0503020204020204" pitchFamily="34" charset="-122"/>
                          <a:ea typeface="微软雅黑" panose="020B0503020204020204" pitchFamily="34" charset="-122"/>
                        </a:rPr>
                        <a:t>TCP</a:t>
                      </a:r>
                      <a:endParaRPr lang="zh-CN" sz="1400" b="1" kern="100" dirty="0">
                        <a:effectLst/>
                        <a:latin typeface="微软雅黑" panose="020B0503020204020204" pitchFamily="34" charset="-122"/>
                        <a:ea typeface="微软雅黑" panose="020B0503020204020204" pitchFamily="34" charset="-122"/>
                      </a:endParaRPr>
                    </a:p>
                  </a:txBody>
                  <a:tcPr marL="68580" marR="68580" marT="0" marB="0" anchor="ctr">
                    <a:solidFill>
                      <a:schemeClr val="accent1">
                        <a:lumMod val="20000"/>
                        <a:lumOff val="80000"/>
                      </a:schemeClr>
                    </a:solidFill>
                  </a:tcPr>
                </a:tc>
                <a:extLst>
                  <a:ext uri="{0D108BD9-81ED-4DB2-BD59-A6C34878D82A}">
                    <a16:rowId xmlns:a16="http://schemas.microsoft.com/office/drawing/2014/main" val="2938105793"/>
                  </a:ext>
                </a:extLst>
              </a:tr>
              <a:tr h="329017">
                <a:tc>
                  <a:txBody>
                    <a:bodyPr/>
                    <a:lstStyle/>
                    <a:p>
                      <a:pPr algn="just">
                        <a:lnSpc>
                          <a:spcPct val="100000"/>
                        </a:lnSpc>
                        <a:buNone/>
                      </a:pPr>
                      <a:r>
                        <a:rPr lang="zh-CN" sz="1400" b="1" kern="100">
                          <a:effectLst/>
                          <a:latin typeface="微软雅黑" panose="020B0503020204020204" pitchFamily="34" charset="-122"/>
                          <a:ea typeface="微软雅黑" panose="020B0503020204020204" pitchFamily="34" charset="-122"/>
                        </a:rPr>
                        <a:t>万维网</a:t>
                      </a:r>
                    </a:p>
                  </a:txBody>
                  <a:tcPr marL="68580" marR="68580" marT="0" marB="0" anchor="ctr">
                    <a:solidFill>
                      <a:schemeClr val="accent1">
                        <a:lumMod val="20000"/>
                        <a:lumOff val="80000"/>
                      </a:schemeClr>
                    </a:solidFill>
                  </a:tcPr>
                </a:tc>
                <a:tc>
                  <a:txBody>
                    <a:bodyPr/>
                    <a:lstStyle/>
                    <a:p>
                      <a:pPr algn="just">
                        <a:lnSpc>
                          <a:spcPct val="100000"/>
                        </a:lnSpc>
                        <a:buNone/>
                      </a:pPr>
                      <a:r>
                        <a:rPr lang="en-US" sz="1400" b="1" kern="100">
                          <a:effectLst/>
                          <a:latin typeface="微软雅黑" panose="020B0503020204020204" pitchFamily="34" charset="-122"/>
                          <a:ea typeface="微软雅黑" panose="020B0503020204020204" pitchFamily="34" charset="-122"/>
                        </a:rPr>
                        <a:t>HTTP</a:t>
                      </a:r>
                      <a:r>
                        <a:rPr lang="zh-CN" sz="1400" b="1" kern="100">
                          <a:effectLst/>
                          <a:latin typeface="微软雅黑" panose="020B0503020204020204" pitchFamily="34" charset="-122"/>
                          <a:ea typeface="微软雅黑" panose="020B0503020204020204" pitchFamily="34" charset="-122"/>
                        </a:rPr>
                        <a:t>（超文本传送协议）</a:t>
                      </a:r>
                    </a:p>
                  </a:txBody>
                  <a:tcPr marL="68580" marR="68580" marT="0" marB="0" anchor="ctr">
                    <a:solidFill>
                      <a:schemeClr val="accent1">
                        <a:lumMod val="20000"/>
                        <a:lumOff val="80000"/>
                      </a:schemeClr>
                    </a:solidFill>
                  </a:tcPr>
                </a:tc>
                <a:tc>
                  <a:txBody>
                    <a:bodyPr/>
                    <a:lstStyle/>
                    <a:p>
                      <a:pPr algn="ctr">
                        <a:lnSpc>
                          <a:spcPct val="100000"/>
                        </a:lnSpc>
                        <a:buNone/>
                      </a:pPr>
                      <a:r>
                        <a:rPr lang="en-US" sz="1400" b="1" kern="100" dirty="0">
                          <a:effectLst/>
                          <a:latin typeface="微软雅黑" panose="020B0503020204020204" pitchFamily="34" charset="-122"/>
                          <a:ea typeface="微软雅黑" panose="020B0503020204020204" pitchFamily="34" charset="-122"/>
                        </a:rPr>
                        <a:t>TCP (v1, v2), UDP (v3)</a:t>
                      </a:r>
                      <a:endParaRPr lang="zh-CN" sz="1400" b="1" kern="100" dirty="0">
                        <a:effectLst/>
                        <a:latin typeface="微软雅黑" panose="020B0503020204020204" pitchFamily="34" charset="-122"/>
                        <a:ea typeface="微软雅黑" panose="020B0503020204020204" pitchFamily="34" charset="-122"/>
                      </a:endParaRPr>
                    </a:p>
                  </a:txBody>
                  <a:tcPr marL="68580" marR="68580" marT="0" marB="0" anchor="ctr">
                    <a:solidFill>
                      <a:schemeClr val="accent1">
                        <a:lumMod val="20000"/>
                        <a:lumOff val="80000"/>
                      </a:schemeClr>
                    </a:solidFill>
                  </a:tcPr>
                </a:tc>
                <a:extLst>
                  <a:ext uri="{0D108BD9-81ED-4DB2-BD59-A6C34878D82A}">
                    <a16:rowId xmlns:a16="http://schemas.microsoft.com/office/drawing/2014/main" val="1972941839"/>
                  </a:ext>
                </a:extLst>
              </a:tr>
              <a:tr h="329017">
                <a:tc>
                  <a:txBody>
                    <a:bodyPr/>
                    <a:lstStyle/>
                    <a:p>
                      <a:pPr algn="just">
                        <a:lnSpc>
                          <a:spcPct val="100000"/>
                        </a:lnSpc>
                        <a:buNone/>
                      </a:pPr>
                      <a:r>
                        <a:rPr lang="zh-CN" sz="1400" b="1" kern="100">
                          <a:effectLst/>
                          <a:latin typeface="微软雅黑" panose="020B0503020204020204" pitchFamily="34" charset="-122"/>
                          <a:ea typeface="微软雅黑" panose="020B0503020204020204" pitchFamily="34" charset="-122"/>
                        </a:rPr>
                        <a:t>文件传送</a:t>
                      </a:r>
                    </a:p>
                  </a:txBody>
                  <a:tcPr marL="68580" marR="68580" marT="0" marB="0" anchor="ctr">
                    <a:solidFill>
                      <a:schemeClr val="accent1">
                        <a:lumMod val="20000"/>
                        <a:lumOff val="80000"/>
                      </a:schemeClr>
                    </a:solidFill>
                  </a:tcPr>
                </a:tc>
                <a:tc>
                  <a:txBody>
                    <a:bodyPr/>
                    <a:lstStyle/>
                    <a:p>
                      <a:pPr algn="just">
                        <a:lnSpc>
                          <a:spcPct val="100000"/>
                        </a:lnSpc>
                        <a:buNone/>
                      </a:pPr>
                      <a:r>
                        <a:rPr lang="en-US" sz="1400" b="1" kern="100" dirty="0">
                          <a:effectLst/>
                          <a:latin typeface="微软雅黑" panose="020B0503020204020204" pitchFamily="34" charset="-122"/>
                          <a:ea typeface="微软雅黑" panose="020B0503020204020204" pitchFamily="34" charset="-122"/>
                        </a:rPr>
                        <a:t>FTP</a:t>
                      </a:r>
                      <a:r>
                        <a:rPr lang="zh-CN" sz="1400" b="1" kern="100" dirty="0">
                          <a:effectLst/>
                          <a:latin typeface="微软雅黑" panose="020B0503020204020204" pitchFamily="34" charset="-122"/>
                          <a:ea typeface="微软雅黑" panose="020B0503020204020204" pitchFamily="34" charset="-122"/>
                        </a:rPr>
                        <a:t>（文件传送协议）</a:t>
                      </a:r>
                    </a:p>
                  </a:txBody>
                  <a:tcPr marL="68580" marR="68580" marT="0" marB="0" anchor="ctr">
                    <a:solidFill>
                      <a:schemeClr val="accent1">
                        <a:lumMod val="20000"/>
                        <a:lumOff val="80000"/>
                      </a:schemeClr>
                    </a:solidFill>
                  </a:tcPr>
                </a:tc>
                <a:tc>
                  <a:txBody>
                    <a:bodyPr/>
                    <a:lstStyle/>
                    <a:p>
                      <a:pPr algn="ctr">
                        <a:lnSpc>
                          <a:spcPct val="100000"/>
                        </a:lnSpc>
                        <a:buNone/>
                      </a:pPr>
                      <a:r>
                        <a:rPr lang="en-US" sz="1400" b="1" kern="100" dirty="0">
                          <a:effectLst/>
                          <a:latin typeface="微软雅黑" panose="020B0503020204020204" pitchFamily="34" charset="-122"/>
                          <a:ea typeface="微软雅黑" panose="020B0503020204020204" pitchFamily="34" charset="-122"/>
                        </a:rPr>
                        <a:t>TCP</a:t>
                      </a:r>
                      <a:endParaRPr lang="zh-CN" sz="1400" b="1" kern="100" dirty="0">
                        <a:effectLst/>
                        <a:latin typeface="微软雅黑" panose="020B0503020204020204" pitchFamily="34" charset="-122"/>
                        <a:ea typeface="微软雅黑" panose="020B0503020204020204" pitchFamily="34" charset="-122"/>
                      </a:endParaRPr>
                    </a:p>
                  </a:txBody>
                  <a:tcPr marL="68580" marR="68580" marT="0" marB="0" anchor="ctr">
                    <a:solidFill>
                      <a:schemeClr val="accent1">
                        <a:lumMod val="20000"/>
                        <a:lumOff val="80000"/>
                      </a:schemeClr>
                    </a:solidFill>
                  </a:tcPr>
                </a:tc>
                <a:extLst>
                  <a:ext uri="{0D108BD9-81ED-4DB2-BD59-A6C34878D82A}">
                    <a16:rowId xmlns:a16="http://schemas.microsoft.com/office/drawing/2014/main" val="714126521"/>
                  </a:ext>
                </a:extLst>
              </a:tr>
            </a:tbl>
          </a:graphicData>
        </a:graphic>
      </p:graphicFrame>
    </p:spTree>
    <p:extLst>
      <p:ext uri="{BB962C8B-B14F-4D97-AF65-F5344CB8AC3E}">
        <p14:creationId xmlns:p14="http://schemas.microsoft.com/office/powerpoint/2010/main" val="20526997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31411"/>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3047386" y="589140"/>
            <a:ext cx="304923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5.1.3   </a:t>
            </a:r>
            <a:r>
              <a:rPr lang="zh-CN" altLang="en-US" sz="2400" b="1" dirty="0">
                <a:solidFill>
                  <a:schemeClr val="bg1"/>
                </a:solidFill>
                <a:latin typeface="微软雅黑" pitchFamily="34" charset="-122"/>
                <a:ea typeface="微软雅黑" pitchFamily="34" charset="-122"/>
              </a:rPr>
              <a:t>传输层的端口</a:t>
            </a:r>
          </a:p>
        </p:txBody>
      </p:sp>
      <p:sp>
        <p:nvSpPr>
          <p:cNvPr id="5" name="圆角矩形 4"/>
          <p:cNvSpPr/>
          <p:nvPr/>
        </p:nvSpPr>
        <p:spPr>
          <a:xfrm>
            <a:off x="545145" y="1064710"/>
            <a:ext cx="8053710" cy="206397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4" name="组合 163"/>
          <p:cNvGrpSpPr/>
          <p:nvPr/>
        </p:nvGrpSpPr>
        <p:grpSpPr>
          <a:xfrm>
            <a:off x="1354795" y="1123857"/>
            <a:ext cx="6308631" cy="1585772"/>
            <a:chOff x="1354795" y="1123857"/>
            <a:chExt cx="6308631" cy="1585772"/>
          </a:xfrm>
        </p:grpSpPr>
        <p:sp>
          <p:nvSpPr>
            <p:cNvPr id="7" name="Rectangle 174"/>
            <p:cNvSpPr>
              <a:spLocks noChangeArrowheads="1"/>
            </p:cNvSpPr>
            <p:nvPr/>
          </p:nvSpPr>
          <p:spPr bwMode="auto">
            <a:xfrm>
              <a:off x="1518204" y="1951646"/>
              <a:ext cx="5989193" cy="243382"/>
            </a:xfrm>
            <a:prstGeom prst="rect">
              <a:avLst/>
            </a:prstGeom>
            <a:solidFill>
              <a:srgbClr val="33CC33"/>
            </a:solidFill>
            <a:ln>
              <a:noFill/>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8" name="Rectangle 2"/>
            <p:cNvSpPr>
              <a:spLocks noChangeArrowheads="1"/>
            </p:cNvSpPr>
            <p:nvPr/>
          </p:nvSpPr>
          <p:spPr bwMode="auto">
            <a:xfrm>
              <a:off x="1523156" y="1377825"/>
              <a:ext cx="996549" cy="13142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 name="Line 7"/>
            <p:cNvSpPr>
              <a:spLocks noChangeShapeType="1"/>
            </p:cNvSpPr>
            <p:nvPr/>
          </p:nvSpPr>
          <p:spPr bwMode="auto">
            <a:xfrm>
              <a:off x="1523156" y="2198772"/>
              <a:ext cx="99531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 name="Line 8"/>
            <p:cNvSpPr>
              <a:spLocks noChangeShapeType="1"/>
            </p:cNvSpPr>
            <p:nvPr/>
          </p:nvSpPr>
          <p:spPr bwMode="auto">
            <a:xfrm>
              <a:off x="1523156" y="2446835"/>
              <a:ext cx="99531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Rectangle 9"/>
            <p:cNvSpPr>
              <a:spLocks noChangeArrowheads="1"/>
            </p:cNvSpPr>
            <p:nvPr/>
          </p:nvSpPr>
          <p:spPr bwMode="auto">
            <a:xfrm>
              <a:off x="1528108" y="1720432"/>
              <a:ext cx="989121" cy="231214"/>
            </a:xfrm>
            <a:prstGeom prst="rect">
              <a:avLst/>
            </a:prstGeom>
            <a:solidFill>
              <a:srgbClr val="FF66FF"/>
            </a:solidFill>
            <a:ln w="19050">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 name="Rectangle 10"/>
            <p:cNvSpPr>
              <a:spLocks noChangeArrowheads="1"/>
            </p:cNvSpPr>
            <p:nvPr/>
          </p:nvSpPr>
          <p:spPr bwMode="auto">
            <a:xfrm>
              <a:off x="1490519" y="1542643"/>
              <a:ext cx="277321" cy="116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1200"/>
                </a:lnSpc>
              </a:pPr>
              <a:r>
                <a:rPr lang="en-US" altLang="zh-CN" sz="1200" b="1" dirty="0">
                  <a:latin typeface="微软雅黑" panose="020B0503020204020204" pitchFamily="34" charset="-122"/>
                  <a:ea typeface="微软雅黑" panose="020B0503020204020204" pitchFamily="34" charset="-122"/>
                </a:rPr>
                <a:t>5</a:t>
              </a:r>
            </a:p>
            <a:p>
              <a:pPr>
                <a:lnSpc>
                  <a:spcPts val="4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4</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3</a:t>
              </a:r>
            </a:p>
            <a:p>
              <a:pPr>
                <a:lnSpc>
                  <a:spcPts val="8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2</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1</a:t>
              </a:r>
            </a:p>
          </p:txBody>
        </p:sp>
        <p:grpSp>
          <p:nvGrpSpPr>
            <p:cNvPr id="14" name="Group 15"/>
            <p:cNvGrpSpPr>
              <a:grpSpLocks/>
            </p:cNvGrpSpPr>
            <p:nvPr/>
          </p:nvGrpSpPr>
          <p:grpSpPr bwMode="auto">
            <a:xfrm>
              <a:off x="3388744" y="1957262"/>
              <a:ext cx="729151" cy="734827"/>
              <a:chOff x="2017" y="1543"/>
              <a:chExt cx="619" cy="922"/>
            </a:xfrm>
          </p:grpSpPr>
          <p:sp>
            <p:nvSpPr>
              <p:cNvPr id="141" name="Rectangle 12"/>
              <p:cNvSpPr>
                <a:spLocks noChangeArrowheads="1"/>
              </p:cNvSpPr>
              <p:nvPr/>
            </p:nvSpPr>
            <p:spPr bwMode="auto">
              <a:xfrm>
                <a:off x="2017" y="1543"/>
                <a:ext cx="619" cy="92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42" name="Line 13"/>
              <p:cNvSpPr>
                <a:spLocks noChangeShapeType="1"/>
              </p:cNvSpPr>
              <p:nvPr/>
            </p:nvSpPr>
            <p:spPr bwMode="auto">
              <a:xfrm>
                <a:off x="2017" y="1845"/>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3" name="Line 14"/>
              <p:cNvSpPr>
                <a:spLocks noChangeShapeType="1"/>
              </p:cNvSpPr>
              <p:nvPr/>
            </p:nvSpPr>
            <p:spPr bwMode="auto">
              <a:xfrm>
                <a:off x="2017" y="2157"/>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sp>
          <p:nvSpPr>
            <p:cNvPr id="15" name="Rectangle 16"/>
            <p:cNvSpPr>
              <a:spLocks noChangeArrowheads="1"/>
            </p:cNvSpPr>
            <p:nvPr/>
          </p:nvSpPr>
          <p:spPr bwMode="auto">
            <a:xfrm>
              <a:off x="6505897" y="1377825"/>
              <a:ext cx="997786" cy="13142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 name="Line 21"/>
            <p:cNvSpPr>
              <a:spLocks noChangeShapeType="1"/>
            </p:cNvSpPr>
            <p:nvPr/>
          </p:nvSpPr>
          <p:spPr bwMode="auto">
            <a:xfrm>
              <a:off x="6505897" y="2198772"/>
              <a:ext cx="9965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22"/>
            <p:cNvSpPr>
              <a:spLocks noChangeShapeType="1"/>
            </p:cNvSpPr>
            <p:nvPr/>
          </p:nvSpPr>
          <p:spPr bwMode="auto">
            <a:xfrm>
              <a:off x="6505897" y="2446835"/>
              <a:ext cx="9965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Rectangle 23"/>
            <p:cNvSpPr>
              <a:spLocks noChangeArrowheads="1"/>
            </p:cNvSpPr>
            <p:nvPr/>
          </p:nvSpPr>
          <p:spPr bwMode="auto">
            <a:xfrm>
              <a:off x="6508373" y="1720432"/>
              <a:ext cx="995310" cy="231214"/>
            </a:xfrm>
            <a:prstGeom prst="rect">
              <a:avLst/>
            </a:prstGeom>
            <a:solidFill>
              <a:srgbClr val="FF66FF"/>
            </a:solidFill>
            <a:ln w="19050">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grpSp>
          <p:nvGrpSpPr>
            <p:cNvPr id="19" name="Group 29"/>
            <p:cNvGrpSpPr>
              <a:grpSpLocks/>
            </p:cNvGrpSpPr>
            <p:nvPr/>
          </p:nvGrpSpPr>
          <p:grpSpPr bwMode="auto">
            <a:xfrm>
              <a:off x="4896565" y="1957262"/>
              <a:ext cx="729151" cy="734827"/>
              <a:chOff x="3295" y="1543"/>
              <a:chExt cx="619" cy="922"/>
            </a:xfrm>
          </p:grpSpPr>
          <p:sp>
            <p:nvSpPr>
              <p:cNvPr id="138" name="Rectangle 26"/>
              <p:cNvSpPr>
                <a:spLocks noChangeArrowheads="1"/>
              </p:cNvSpPr>
              <p:nvPr/>
            </p:nvSpPr>
            <p:spPr bwMode="auto">
              <a:xfrm>
                <a:off x="3295" y="1543"/>
                <a:ext cx="619" cy="92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9" name="Line 27"/>
              <p:cNvSpPr>
                <a:spLocks noChangeShapeType="1"/>
              </p:cNvSpPr>
              <p:nvPr/>
            </p:nvSpPr>
            <p:spPr bwMode="auto">
              <a:xfrm>
                <a:off x="3295" y="1845"/>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0" name="Line 28"/>
              <p:cNvSpPr>
                <a:spLocks noChangeShapeType="1"/>
              </p:cNvSpPr>
              <p:nvPr/>
            </p:nvSpPr>
            <p:spPr bwMode="auto">
              <a:xfrm>
                <a:off x="3295" y="2157"/>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sp>
          <p:nvSpPr>
            <p:cNvPr id="20" name="Rectangle 31"/>
            <p:cNvSpPr>
              <a:spLocks noChangeArrowheads="1"/>
            </p:cNvSpPr>
            <p:nvPr/>
          </p:nvSpPr>
          <p:spPr bwMode="auto">
            <a:xfrm>
              <a:off x="3242326" y="1552980"/>
              <a:ext cx="266282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传输层提供应用进程</a:t>
              </a:r>
              <a:r>
                <a:rPr lang="zh-CN" altLang="zh-CN" sz="1200" b="1" dirty="0">
                  <a:latin typeface="微软雅黑" panose="020B0503020204020204" pitchFamily="34" charset="-122"/>
                  <a:ea typeface="微软雅黑" panose="020B0503020204020204" pitchFamily="34" charset="-122"/>
                </a:rPr>
                <a:t>间的</a:t>
              </a:r>
              <a:r>
                <a:rPr lang="zh-CN" altLang="zh-CN" sz="1200" b="1" dirty="0">
                  <a:solidFill>
                    <a:srgbClr val="9900FF"/>
                  </a:solidFill>
                  <a:latin typeface="微软雅黑" panose="020B0503020204020204" pitchFamily="34" charset="-122"/>
                  <a:ea typeface="微软雅黑" panose="020B0503020204020204" pitchFamily="34" charset="-122"/>
                </a:rPr>
                <a:t>逻辑</a:t>
              </a:r>
              <a:r>
                <a:rPr lang="zh-CN" altLang="en-US" sz="1200" b="1" dirty="0">
                  <a:solidFill>
                    <a:srgbClr val="9900FF"/>
                  </a:solidFill>
                  <a:latin typeface="微软雅黑" panose="020B0503020204020204" pitchFamily="34" charset="-122"/>
                  <a:ea typeface="微软雅黑" panose="020B0503020204020204" pitchFamily="34" charset="-122"/>
                </a:rPr>
                <a:t>通信</a:t>
              </a:r>
            </a:p>
          </p:txBody>
        </p:sp>
        <p:sp>
          <p:nvSpPr>
            <p:cNvPr id="26" name="Rectangle 98"/>
            <p:cNvSpPr>
              <a:spLocks noChangeArrowheads="1"/>
            </p:cNvSpPr>
            <p:nvPr/>
          </p:nvSpPr>
          <p:spPr bwMode="auto">
            <a:xfrm>
              <a:off x="2650927" y="1301066"/>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solidFill>
                    <a:srgbClr val="C00000"/>
                  </a:solidFill>
                  <a:latin typeface="微软雅黑" panose="020B0503020204020204" pitchFamily="34" charset="-122"/>
                  <a:ea typeface="微软雅黑" panose="020B0503020204020204" pitchFamily="34" charset="-122"/>
                </a:rPr>
                <a:t>应用进程</a:t>
              </a:r>
            </a:p>
          </p:txBody>
        </p:sp>
        <p:sp>
          <p:nvSpPr>
            <p:cNvPr id="27" name="Freeform 100"/>
            <p:cNvSpPr>
              <a:spLocks/>
            </p:cNvSpPr>
            <p:nvPr/>
          </p:nvSpPr>
          <p:spPr bwMode="auto">
            <a:xfrm>
              <a:off x="6218693" y="1451776"/>
              <a:ext cx="370146" cy="83311"/>
            </a:xfrm>
            <a:custGeom>
              <a:avLst/>
              <a:gdLst>
                <a:gd name="T0" fmla="*/ 0 w 297"/>
                <a:gd name="T1" fmla="*/ 0 h 105"/>
                <a:gd name="T2" fmla="*/ 2147483647 w 297"/>
                <a:gd name="T3" fmla="*/ 2147483647 h 105"/>
                <a:gd name="T4" fmla="*/ 0 60000 65536"/>
                <a:gd name="T5" fmla="*/ 0 60000 65536"/>
                <a:gd name="T6" fmla="*/ 0 w 297"/>
                <a:gd name="T7" fmla="*/ 0 h 105"/>
                <a:gd name="T8" fmla="*/ 297 w 297"/>
                <a:gd name="T9" fmla="*/ 105 h 105"/>
              </a:gdLst>
              <a:ahLst/>
              <a:cxnLst>
                <a:cxn ang="T4">
                  <a:pos x="T0" y="T1"/>
                </a:cxn>
                <a:cxn ang="T5">
                  <a:pos x="T2" y="T3"/>
                </a:cxn>
              </a:cxnLst>
              <a:rect l="T6" t="T7" r="T8" b="T9"/>
              <a:pathLst>
                <a:path w="297" h="105">
                  <a:moveTo>
                    <a:pt x="0" y="0"/>
                  </a:moveTo>
                  <a:lnTo>
                    <a:pt x="297" y="105"/>
                  </a:lnTo>
                </a:path>
              </a:pathLst>
            </a:custGeom>
            <a:noFill/>
            <a:ln w="12700">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8" name="Rectangle 101"/>
            <p:cNvSpPr>
              <a:spLocks noChangeArrowheads="1"/>
            </p:cNvSpPr>
            <p:nvPr/>
          </p:nvSpPr>
          <p:spPr bwMode="auto">
            <a:xfrm>
              <a:off x="5474686" y="1301066"/>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solidFill>
                    <a:srgbClr val="C00000"/>
                  </a:solidFill>
                  <a:latin typeface="微软雅黑" panose="020B0503020204020204" pitchFamily="34" charset="-122"/>
                  <a:ea typeface="微软雅黑" panose="020B0503020204020204" pitchFamily="34" charset="-122"/>
                </a:rPr>
                <a:t>应用进程</a:t>
              </a:r>
            </a:p>
          </p:txBody>
        </p:sp>
        <p:sp>
          <p:nvSpPr>
            <p:cNvPr id="29" name="AutoShape 102"/>
            <p:cNvSpPr>
              <a:spLocks noChangeArrowheads="1"/>
            </p:cNvSpPr>
            <p:nvPr/>
          </p:nvSpPr>
          <p:spPr bwMode="auto">
            <a:xfrm>
              <a:off x="2533322" y="1770045"/>
              <a:ext cx="3996096" cy="111394"/>
            </a:xfrm>
            <a:prstGeom prst="leftRightArrow">
              <a:avLst>
                <a:gd name="adj1" fmla="val 59167"/>
                <a:gd name="adj2" fmla="val 216108"/>
              </a:avLst>
            </a:prstGeom>
            <a:solidFill>
              <a:schemeClr val="accent6">
                <a:lumMod val="75000"/>
              </a:schemeClr>
            </a:solidFill>
            <a:ln w="6350">
              <a:solidFill>
                <a:srgbClr val="000066"/>
              </a:solidFill>
              <a:miter lim="800000"/>
              <a:headEnd/>
              <a:tailEnd/>
            </a:ln>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35" name="Oval 138"/>
            <p:cNvSpPr>
              <a:spLocks noChangeArrowheads="1"/>
            </p:cNvSpPr>
            <p:nvPr/>
          </p:nvSpPr>
          <p:spPr bwMode="auto">
            <a:xfrm>
              <a:off x="6984983" y="1413396"/>
              <a:ext cx="434520" cy="161943"/>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36" name="Line 157"/>
            <p:cNvSpPr>
              <a:spLocks noChangeShapeType="1"/>
            </p:cNvSpPr>
            <p:nvPr/>
          </p:nvSpPr>
          <p:spPr bwMode="auto">
            <a:xfrm rot="5400000">
              <a:off x="3501724" y="2444495"/>
              <a:ext cx="4895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7" name="Line 158"/>
            <p:cNvSpPr>
              <a:spLocks noChangeShapeType="1"/>
            </p:cNvSpPr>
            <p:nvPr/>
          </p:nvSpPr>
          <p:spPr bwMode="auto">
            <a:xfrm rot="5400000">
              <a:off x="5007507" y="2443091"/>
              <a:ext cx="49612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9" name="Rectangle 175"/>
            <p:cNvSpPr>
              <a:spLocks noChangeArrowheads="1"/>
            </p:cNvSpPr>
            <p:nvPr/>
          </p:nvSpPr>
          <p:spPr bwMode="auto">
            <a:xfrm>
              <a:off x="4266449" y="1974112"/>
              <a:ext cx="535404"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IP </a:t>
              </a:r>
              <a:r>
                <a:rPr lang="zh-CN" altLang="en-US" sz="1200" b="1">
                  <a:latin typeface="微软雅黑" panose="020B0503020204020204" pitchFamily="34" charset="-122"/>
                  <a:ea typeface="微软雅黑" panose="020B0503020204020204" pitchFamily="34" charset="-122"/>
                </a:rPr>
                <a:t>层</a:t>
              </a:r>
            </a:p>
          </p:txBody>
        </p:sp>
        <p:sp>
          <p:nvSpPr>
            <p:cNvPr id="50" name="Freeform 99"/>
            <p:cNvSpPr>
              <a:spLocks/>
            </p:cNvSpPr>
            <p:nvPr/>
          </p:nvSpPr>
          <p:spPr bwMode="auto">
            <a:xfrm>
              <a:off x="2461521" y="1459264"/>
              <a:ext cx="225307" cy="66462"/>
            </a:xfrm>
            <a:custGeom>
              <a:avLst/>
              <a:gdLst>
                <a:gd name="T0" fmla="*/ 2147483647 w 174"/>
                <a:gd name="T1" fmla="*/ 0 h 84"/>
                <a:gd name="T2" fmla="*/ 0 w 174"/>
                <a:gd name="T3" fmla="*/ 2147483647 h 84"/>
                <a:gd name="T4" fmla="*/ 0 60000 65536"/>
                <a:gd name="T5" fmla="*/ 0 60000 65536"/>
                <a:gd name="T6" fmla="*/ 0 w 174"/>
                <a:gd name="T7" fmla="*/ 0 h 84"/>
                <a:gd name="T8" fmla="*/ 174 w 174"/>
                <a:gd name="T9" fmla="*/ 84 h 84"/>
              </a:gdLst>
              <a:ahLst/>
              <a:cxnLst>
                <a:cxn ang="T4">
                  <a:pos x="T0" y="T1"/>
                </a:cxn>
                <a:cxn ang="T5">
                  <a:pos x="T2" y="T3"/>
                </a:cxn>
              </a:cxnLst>
              <a:rect l="T6" t="T7" r="T8" b="T9"/>
              <a:pathLst>
                <a:path w="174" h="84">
                  <a:moveTo>
                    <a:pt x="174" y="0"/>
                  </a:moveTo>
                  <a:lnTo>
                    <a:pt x="0" y="84"/>
                  </a:lnTo>
                </a:path>
              </a:pathLst>
            </a:custGeom>
            <a:noFill/>
            <a:ln w="12700">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1" name="Oval 131"/>
            <p:cNvSpPr>
              <a:spLocks noChangeArrowheads="1"/>
            </p:cNvSpPr>
            <p:nvPr/>
          </p:nvSpPr>
          <p:spPr bwMode="auto">
            <a:xfrm>
              <a:off x="1576388" y="1409652"/>
              <a:ext cx="434519" cy="163815"/>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52" name="Rectangle 132"/>
            <p:cNvSpPr>
              <a:spLocks noChangeArrowheads="1"/>
            </p:cNvSpPr>
            <p:nvPr/>
          </p:nvSpPr>
          <p:spPr bwMode="auto">
            <a:xfrm>
              <a:off x="1608575" y="1355633"/>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grpSp>
          <p:nvGrpSpPr>
            <p:cNvPr id="53" name="Group 197"/>
            <p:cNvGrpSpPr>
              <a:grpSpLocks/>
            </p:cNvGrpSpPr>
            <p:nvPr/>
          </p:nvGrpSpPr>
          <p:grpSpPr bwMode="auto">
            <a:xfrm>
              <a:off x="2045571" y="1424580"/>
              <a:ext cx="481751" cy="274572"/>
              <a:chOff x="798" y="803"/>
              <a:chExt cx="408" cy="345"/>
            </a:xfrm>
            <a:solidFill>
              <a:schemeClr val="accent6">
                <a:lumMod val="75000"/>
              </a:schemeClr>
            </a:solidFill>
          </p:grpSpPr>
          <p:sp>
            <p:nvSpPr>
              <p:cNvPr id="136" name="Oval 128"/>
              <p:cNvSpPr>
                <a:spLocks noChangeArrowheads="1"/>
              </p:cNvSpPr>
              <p:nvPr/>
            </p:nvSpPr>
            <p:spPr bwMode="auto">
              <a:xfrm>
                <a:off x="798" y="849"/>
                <a:ext cx="368" cy="204"/>
              </a:xfrm>
              <a:prstGeom prst="ellipse">
                <a:avLst/>
              </a:prstGeom>
              <a:grp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7" name="Rectangle 129"/>
              <p:cNvSpPr>
                <a:spLocks noChangeArrowheads="1"/>
              </p:cNvSpPr>
              <p:nvPr/>
            </p:nvSpPr>
            <p:spPr bwMode="auto">
              <a:xfrm>
                <a:off x="815" y="803"/>
                <a:ext cx="391" cy="34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2</a:t>
                </a:r>
                <a:endParaRPr lang="en-US" altLang="zh-CN" sz="1200" b="1" dirty="0">
                  <a:latin typeface="微软雅黑" panose="020B0503020204020204" pitchFamily="34" charset="-122"/>
                  <a:ea typeface="微软雅黑" panose="020B0503020204020204" pitchFamily="34" charset="-122"/>
                </a:endParaRPr>
              </a:p>
            </p:txBody>
          </p:sp>
        </p:grpSp>
        <p:sp>
          <p:nvSpPr>
            <p:cNvPr id="54" name="Rectangle 139"/>
            <p:cNvSpPr>
              <a:spLocks noChangeArrowheads="1"/>
            </p:cNvSpPr>
            <p:nvPr/>
          </p:nvSpPr>
          <p:spPr bwMode="auto">
            <a:xfrm>
              <a:off x="7003552" y="1375291"/>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4</a:t>
              </a:r>
              <a:endParaRPr lang="en-US" altLang="zh-CN" sz="1200" b="1">
                <a:latin typeface="微软雅黑" panose="020B0503020204020204" pitchFamily="34" charset="-122"/>
                <a:ea typeface="微软雅黑" panose="020B0503020204020204" pitchFamily="34" charset="-122"/>
              </a:endParaRPr>
            </a:p>
          </p:txBody>
        </p:sp>
        <p:sp>
          <p:nvSpPr>
            <p:cNvPr id="55" name="Oval 135"/>
            <p:cNvSpPr>
              <a:spLocks noChangeArrowheads="1"/>
            </p:cNvSpPr>
            <p:nvPr/>
          </p:nvSpPr>
          <p:spPr bwMode="auto">
            <a:xfrm>
              <a:off x="6555415" y="1480794"/>
              <a:ext cx="433282"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56" name="Rectangle 136"/>
            <p:cNvSpPr>
              <a:spLocks noChangeArrowheads="1"/>
            </p:cNvSpPr>
            <p:nvPr/>
          </p:nvSpPr>
          <p:spPr bwMode="auto">
            <a:xfrm>
              <a:off x="6572747" y="1436136"/>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3</a:t>
              </a:r>
              <a:endParaRPr lang="en-US" altLang="zh-CN" sz="1200" b="1">
                <a:latin typeface="微软雅黑" panose="020B0503020204020204" pitchFamily="34" charset="-122"/>
                <a:ea typeface="微软雅黑" panose="020B0503020204020204" pitchFamily="34" charset="-122"/>
              </a:endParaRPr>
            </a:p>
          </p:txBody>
        </p:sp>
        <p:sp>
          <p:nvSpPr>
            <p:cNvPr id="66" name="Rectangle 244"/>
            <p:cNvSpPr>
              <a:spLocks noChangeArrowheads="1"/>
            </p:cNvSpPr>
            <p:nvPr/>
          </p:nvSpPr>
          <p:spPr bwMode="auto">
            <a:xfrm>
              <a:off x="1354795" y="1123857"/>
              <a:ext cx="13144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solidFill>
                    <a:srgbClr val="0000FF"/>
                  </a:solidFill>
                  <a:latin typeface="微软雅黑" panose="020B0503020204020204" pitchFamily="34" charset="-122"/>
                  <a:ea typeface="微软雅黑" panose="020B0503020204020204" pitchFamily="34" charset="-122"/>
                </a:rPr>
                <a:t>主机 </a:t>
              </a:r>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的协议栈</a:t>
              </a:r>
            </a:p>
          </p:txBody>
        </p:sp>
        <p:sp>
          <p:nvSpPr>
            <p:cNvPr id="67" name="Rectangle 245"/>
            <p:cNvSpPr>
              <a:spLocks noChangeArrowheads="1"/>
            </p:cNvSpPr>
            <p:nvPr/>
          </p:nvSpPr>
          <p:spPr bwMode="auto">
            <a:xfrm>
              <a:off x="6358581" y="1123857"/>
              <a:ext cx="1304845"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solidFill>
                    <a:srgbClr val="0000FF"/>
                  </a:solidFill>
                  <a:latin typeface="微软雅黑" panose="020B0503020204020204" pitchFamily="34" charset="-122"/>
                  <a:ea typeface="微软雅黑" panose="020B0503020204020204" pitchFamily="34" charset="-122"/>
                </a:rPr>
                <a:t>主机 </a:t>
              </a:r>
              <a:r>
                <a:rPr lang="en-US" altLang="zh-CN" sz="1200" b="1">
                  <a:solidFill>
                    <a:srgbClr val="0000FF"/>
                  </a:solidFill>
                  <a:latin typeface="微软雅黑" panose="020B0503020204020204" pitchFamily="34" charset="-122"/>
                  <a:ea typeface="微软雅黑" panose="020B0503020204020204" pitchFamily="34" charset="-122"/>
                </a:rPr>
                <a:t>B </a:t>
              </a:r>
              <a:r>
                <a:rPr lang="zh-CN" altLang="en-US" sz="1200" b="1">
                  <a:solidFill>
                    <a:srgbClr val="0000FF"/>
                  </a:solidFill>
                  <a:latin typeface="微软雅黑" panose="020B0503020204020204" pitchFamily="34" charset="-122"/>
                  <a:ea typeface="微软雅黑" panose="020B0503020204020204" pitchFamily="34" charset="-122"/>
                </a:rPr>
                <a:t>的协议栈</a:t>
              </a:r>
            </a:p>
          </p:txBody>
        </p:sp>
        <p:sp>
          <p:nvSpPr>
            <p:cNvPr id="78" name="Rectangle 10"/>
            <p:cNvSpPr>
              <a:spLocks noChangeArrowheads="1"/>
            </p:cNvSpPr>
            <p:nvPr/>
          </p:nvSpPr>
          <p:spPr bwMode="auto">
            <a:xfrm>
              <a:off x="7281090" y="1542643"/>
              <a:ext cx="277321" cy="116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1200"/>
                </a:lnSpc>
              </a:pPr>
              <a:r>
                <a:rPr lang="en-US" altLang="zh-CN" sz="1200" b="1" dirty="0">
                  <a:latin typeface="微软雅黑" panose="020B0503020204020204" pitchFamily="34" charset="-122"/>
                  <a:ea typeface="微软雅黑" panose="020B0503020204020204" pitchFamily="34" charset="-122"/>
                </a:rPr>
                <a:t>5</a:t>
              </a:r>
            </a:p>
            <a:p>
              <a:pPr>
                <a:lnSpc>
                  <a:spcPts val="4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4</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3</a:t>
              </a:r>
            </a:p>
            <a:p>
              <a:pPr>
                <a:lnSpc>
                  <a:spcPts val="8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2</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1</a:t>
              </a:r>
            </a:p>
          </p:txBody>
        </p:sp>
      </p:grpSp>
      <p:grpSp>
        <p:nvGrpSpPr>
          <p:cNvPr id="144" name="组合 143"/>
          <p:cNvGrpSpPr/>
          <p:nvPr/>
        </p:nvGrpSpPr>
        <p:grpSpPr>
          <a:xfrm>
            <a:off x="811003" y="1476607"/>
            <a:ext cx="1501964" cy="534806"/>
            <a:chOff x="811003" y="1423671"/>
            <a:chExt cx="1501964" cy="534806"/>
          </a:xfrm>
        </p:grpSpPr>
        <p:sp>
          <p:nvSpPr>
            <p:cNvPr id="145" name="椭圆 144"/>
            <p:cNvSpPr/>
            <p:nvPr/>
          </p:nvSpPr>
          <p:spPr>
            <a:xfrm>
              <a:off x="1765743" y="1593158"/>
              <a:ext cx="547224" cy="365319"/>
            </a:xfrm>
            <a:prstGeom prst="ellipse">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Rectangle 98"/>
            <p:cNvSpPr>
              <a:spLocks noChangeArrowheads="1"/>
            </p:cNvSpPr>
            <p:nvPr/>
          </p:nvSpPr>
          <p:spPr bwMode="auto">
            <a:xfrm>
              <a:off x="811003" y="1423671"/>
              <a:ext cx="54181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复用</a:t>
              </a:r>
            </a:p>
          </p:txBody>
        </p:sp>
        <p:cxnSp>
          <p:nvCxnSpPr>
            <p:cNvPr id="147" name="直接连接符 146"/>
            <p:cNvCxnSpPr/>
            <p:nvPr/>
          </p:nvCxnSpPr>
          <p:spPr>
            <a:xfrm>
              <a:off x="1284233" y="1633378"/>
              <a:ext cx="562557" cy="110949"/>
            </a:xfrm>
            <a:prstGeom prst="line">
              <a:avLst/>
            </a:prstGeom>
            <a:ln w="127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148" name="组合 147"/>
          <p:cNvGrpSpPr/>
          <p:nvPr/>
        </p:nvGrpSpPr>
        <p:grpSpPr>
          <a:xfrm>
            <a:off x="6744719" y="1500989"/>
            <a:ext cx="1465661" cy="510534"/>
            <a:chOff x="-297165" y="1386983"/>
            <a:chExt cx="1465661" cy="510534"/>
          </a:xfrm>
        </p:grpSpPr>
        <p:sp>
          <p:nvSpPr>
            <p:cNvPr id="149" name="椭圆 148"/>
            <p:cNvSpPr/>
            <p:nvPr/>
          </p:nvSpPr>
          <p:spPr>
            <a:xfrm>
              <a:off x="-297165" y="1532198"/>
              <a:ext cx="547224" cy="365319"/>
            </a:xfrm>
            <a:prstGeom prst="ellipse">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Rectangle 98"/>
            <p:cNvSpPr>
              <a:spLocks noChangeArrowheads="1"/>
            </p:cNvSpPr>
            <p:nvPr/>
          </p:nvSpPr>
          <p:spPr bwMode="auto">
            <a:xfrm>
              <a:off x="626680" y="1386983"/>
              <a:ext cx="54181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分用</a:t>
              </a:r>
              <a:endParaRPr lang="en-US" altLang="zh-CN" sz="1400" b="1" dirty="0">
                <a:solidFill>
                  <a:srgbClr val="C00000"/>
                </a:solidFill>
                <a:latin typeface="微软雅黑" panose="020B0503020204020204" pitchFamily="34" charset="-122"/>
                <a:ea typeface="微软雅黑" panose="020B0503020204020204" pitchFamily="34" charset="-122"/>
              </a:endParaRPr>
            </a:p>
          </p:txBody>
        </p:sp>
        <p:cxnSp>
          <p:nvCxnSpPr>
            <p:cNvPr id="151" name="直接连接符 150"/>
            <p:cNvCxnSpPr/>
            <p:nvPr/>
          </p:nvCxnSpPr>
          <p:spPr>
            <a:xfrm flipH="1">
              <a:off x="148855" y="1605572"/>
              <a:ext cx="545860" cy="80939"/>
            </a:xfrm>
            <a:prstGeom prst="line">
              <a:avLst/>
            </a:prstGeom>
            <a:ln w="127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152" name="组合 151"/>
          <p:cNvGrpSpPr/>
          <p:nvPr/>
        </p:nvGrpSpPr>
        <p:grpSpPr>
          <a:xfrm>
            <a:off x="1814331" y="1564188"/>
            <a:ext cx="5408594" cy="1293671"/>
            <a:chOff x="1804171" y="1511252"/>
            <a:chExt cx="5408594" cy="1293671"/>
          </a:xfrm>
        </p:grpSpPr>
        <p:sp>
          <p:nvSpPr>
            <p:cNvPr id="153" name="Line 248"/>
            <p:cNvSpPr>
              <a:spLocks noChangeShapeType="1"/>
            </p:cNvSpPr>
            <p:nvPr/>
          </p:nvSpPr>
          <p:spPr bwMode="auto">
            <a:xfrm>
              <a:off x="6781959" y="1588011"/>
              <a:ext cx="262445" cy="31265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4" name="Line 249"/>
            <p:cNvSpPr>
              <a:spLocks noChangeShapeType="1"/>
            </p:cNvSpPr>
            <p:nvPr/>
          </p:nvSpPr>
          <p:spPr bwMode="auto">
            <a:xfrm flipH="1">
              <a:off x="7044404" y="1511252"/>
              <a:ext cx="168361" cy="38192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5" name="椭圆 85"/>
            <p:cNvSpPr>
              <a:spLocks noChangeArrowheads="1"/>
            </p:cNvSpPr>
            <p:nvPr/>
          </p:nvSpPr>
          <p:spPr bwMode="auto">
            <a:xfrm>
              <a:off x="7123633" y="1645112"/>
              <a:ext cx="56946" cy="43060"/>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6" name="椭圆 85"/>
            <p:cNvSpPr>
              <a:spLocks noChangeArrowheads="1"/>
            </p:cNvSpPr>
            <p:nvPr/>
          </p:nvSpPr>
          <p:spPr bwMode="auto">
            <a:xfrm>
              <a:off x="7010980" y="1883814"/>
              <a:ext cx="55707"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7" name="椭圆 85"/>
            <p:cNvSpPr>
              <a:spLocks noChangeArrowheads="1"/>
            </p:cNvSpPr>
            <p:nvPr/>
          </p:nvSpPr>
          <p:spPr bwMode="auto">
            <a:xfrm>
              <a:off x="6817860" y="1645112"/>
              <a:ext cx="56946" cy="43060"/>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8" name="Freeform 32"/>
            <p:cNvSpPr>
              <a:spLocks/>
            </p:cNvSpPr>
            <p:nvPr/>
          </p:nvSpPr>
          <p:spPr bwMode="auto">
            <a:xfrm>
              <a:off x="1999766" y="1897856"/>
              <a:ext cx="5039686" cy="907067"/>
            </a:xfrm>
            <a:custGeom>
              <a:avLst/>
              <a:gdLst>
                <a:gd name="T0" fmla="*/ 0 w 4272"/>
                <a:gd name="T1" fmla="*/ 0 h 1138"/>
                <a:gd name="T2" fmla="*/ 0 w 4272"/>
                <a:gd name="T3" fmla="*/ 2147483647 h 1138"/>
                <a:gd name="T4" fmla="*/ 2147483647 w 4272"/>
                <a:gd name="T5" fmla="*/ 2147483647 h 1138"/>
                <a:gd name="T6" fmla="*/ 2147483647 w 4272"/>
                <a:gd name="T7" fmla="*/ 2147483647 h 1138"/>
                <a:gd name="T8" fmla="*/ 2147483647 w 4272"/>
                <a:gd name="T9" fmla="*/ 2147483647 h 1138"/>
                <a:gd name="T10" fmla="*/ 2147483647 w 4272"/>
                <a:gd name="T11" fmla="*/ 2147483647 h 1138"/>
                <a:gd name="T12" fmla="*/ 2147483647 w 4272"/>
                <a:gd name="T13" fmla="*/ 2147483647 h 1138"/>
                <a:gd name="T14" fmla="*/ 2147483647 w 4272"/>
                <a:gd name="T15" fmla="*/ 2147483647 h 1138"/>
                <a:gd name="T16" fmla="*/ 2147483647 w 4272"/>
                <a:gd name="T17" fmla="*/ 2147483647 h 1138"/>
                <a:gd name="T18" fmla="*/ 2147483647 w 4272"/>
                <a:gd name="T19" fmla="*/ 2147483647 h 1138"/>
                <a:gd name="T20" fmla="*/ 2147483647 w 4272"/>
                <a:gd name="T21" fmla="*/ 2147483647 h 1138"/>
                <a:gd name="T22" fmla="*/ 2147483647 w 4272"/>
                <a:gd name="T23" fmla="*/ 2147483647 h 1138"/>
                <a:gd name="T24" fmla="*/ 2147483647 w 4272"/>
                <a:gd name="T25" fmla="*/ 2147483647 h 1138"/>
                <a:gd name="T26" fmla="*/ 2147483647 w 4272"/>
                <a:gd name="T27" fmla="*/ 2147483647 h 1138"/>
                <a:gd name="T28" fmla="*/ 2147483647 w 4272"/>
                <a:gd name="T29" fmla="*/ 2147483647 h 1138"/>
                <a:gd name="T30" fmla="*/ 2147483647 w 4272"/>
                <a:gd name="T31" fmla="*/ 2147483647 h 1138"/>
                <a:gd name="T32" fmla="*/ 2147483647 w 4272"/>
                <a:gd name="T33" fmla="*/ 2147483647 h 1138"/>
                <a:gd name="T34" fmla="*/ 2147483647 w 4272"/>
                <a:gd name="T35" fmla="*/ 2147483647 h 1138"/>
                <a:gd name="T36" fmla="*/ 2147483647 w 4272"/>
                <a:gd name="T37" fmla="*/ 2147483647 h 1138"/>
                <a:gd name="T38" fmla="*/ 2147483647 w 4272"/>
                <a:gd name="T39" fmla="*/ 2147483647 h 1138"/>
                <a:gd name="T40" fmla="*/ 2147483647 w 4272"/>
                <a:gd name="T41" fmla="*/ 2147483647 h 1138"/>
                <a:gd name="T42" fmla="*/ 2147483647 w 4272"/>
                <a:gd name="T43" fmla="*/ 2147483647 h 1138"/>
                <a:gd name="T44" fmla="*/ 2147483647 w 4272"/>
                <a:gd name="T45" fmla="*/ 2147483647 h 1138"/>
                <a:gd name="T46" fmla="*/ 2147483647 w 4272"/>
                <a:gd name="T47" fmla="*/ 2147483647 h 1138"/>
                <a:gd name="T48" fmla="*/ 2147483647 w 4272"/>
                <a:gd name="T49" fmla="*/ 2147483647 h 1138"/>
                <a:gd name="T50" fmla="*/ 2147483647 w 4272"/>
                <a:gd name="T51" fmla="*/ 2147483647 h 1138"/>
                <a:gd name="T52" fmla="*/ 2147483647 w 4272"/>
                <a:gd name="T53" fmla="*/ 2147483647 h 1138"/>
                <a:gd name="T54" fmla="*/ 2147483647 w 4272"/>
                <a:gd name="T55" fmla="*/ 2147483647 h 1138"/>
                <a:gd name="T56" fmla="*/ 2147483647 w 4272"/>
                <a:gd name="T57" fmla="*/ 2147483647 h 1138"/>
                <a:gd name="T58" fmla="*/ 2147483647 w 4272"/>
                <a:gd name="T59" fmla="*/ 2147483647 h 1138"/>
                <a:gd name="T60" fmla="*/ 2147483647 w 4272"/>
                <a:gd name="T61" fmla="*/ 2147483647 h 1138"/>
                <a:gd name="T62" fmla="*/ 2147483647 w 4272"/>
                <a:gd name="T63" fmla="*/ 2147483647 h 1138"/>
                <a:gd name="T64" fmla="*/ 2147483647 w 4272"/>
                <a:gd name="T65" fmla="*/ 2147483647 h 1138"/>
                <a:gd name="T66" fmla="*/ 2147483647 w 4272"/>
                <a:gd name="T67" fmla="*/ 2147483647 h 1138"/>
                <a:gd name="T68" fmla="*/ 2147483647 w 4272"/>
                <a:gd name="T69" fmla="*/ 2147483647 h 1138"/>
                <a:gd name="T70" fmla="*/ 2147483647 w 4272"/>
                <a:gd name="T71" fmla="*/ 2147483647 h 1138"/>
                <a:gd name="T72" fmla="*/ 2147483647 w 4272"/>
                <a:gd name="T73" fmla="*/ 2147483647 h 1138"/>
                <a:gd name="T74" fmla="*/ 2147483647 w 4272"/>
                <a:gd name="T75" fmla="*/ 2147483647 h 1138"/>
                <a:gd name="T76" fmla="*/ 2147483647 w 4272"/>
                <a:gd name="T77" fmla="*/ 2147483647 h 1138"/>
                <a:gd name="T78" fmla="*/ 2147483647 w 4272"/>
                <a:gd name="T79" fmla="*/ 2147483647 h 1138"/>
                <a:gd name="T80" fmla="*/ 2147483647 w 4272"/>
                <a:gd name="T81" fmla="*/ 2147483647 h 1138"/>
                <a:gd name="T82" fmla="*/ 2147483647 w 4272"/>
                <a:gd name="T83" fmla="*/ 0 h 113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272"/>
                <a:gd name="T127" fmla="*/ 0 h 1138"/>
                <a:gd name="T128" fmla="*/ 4272 w 4272"/>
                <a:gd name="T129" fmla="*/ 1138 h 113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272" h="1138">
                  <a:moveTo>
                    <a:pt x="0" y="0"/>
                  </a:moveTo>
                  <a:lnTo>
                    <a:pt x="0" y="996"/>
                  </a:lnTo>
                  <a:lnTo>
                    <a:pt x="9" y="1056"/>
                  </a:lnTo>
                  <a:lnTo>
                    <a:pt x="36" y="1094"/>
                  </a:lnTo>
                  <a:lnTo>
                    <a:pt x="75" y="1110"/>
                  </a:lnTo>
                  <a:lnTo>
                    <a:pt x="127" y="1116"/>
                  </a:lnTo>
                  <a:lnTo>
                    <a:pt x="1211" y="1116"/>
                  </a:lnTo>
                  <a:lnTo>
                    <a:pt x="1250" y="1116"/>
                  </a:lnTo>
                  <a:lnTo>
                    <a:pt x="1287" y="1100"/>
                  </a:lnTo>
                  <a:lnTo>
                    <a:pt x="1305" y="1056"/>
                  </a:lnTo>
                  <a:lnTo>
                    <a:pt x="1308" y="1022"/>
                  </a:lnTo>
                  <a:lnTo>
                    <a:pt x="1308" y="307"/>
                  </a:lnTo>
                  <a:lnTo>
                    <a:pt x="1311" y="261"/>
                  </a:lnTo>
                  <a:cubicBezTo>
                    <a:pt x="1322" y="241"/>
                    <a:pt x="1325" y="202"/>
                    <a:pt x="1376" y="191"/>
                  </a:cubicBezTo>
                  <a:cubicBezTo>
                    <a:pt x="1430" y="181"/>
                    <a:pt x="1567" y="182"/>
                    <a:pt x="1620" y="191"/>
                  </a:cubicBezTo>
                  <a:cubicBezTo>
                    <a:pt x="1673" y="200"/>
                    <a:pt x="1669" y="238"/>
                    <a:pt x="1676" y="252"/>
                  </a:cubicBezTo>
                  <a:lnTo>
                    <a:pt x="1680" y="280"/>
                  </a:lnTo>
                  <a:lnTo>
                    <a:pt x="1680" y="1014"/>
                  </a:lnTo>
                  <a:lnTo>
                    <a:pt x="1683" y="1047"/>
                  </a:lnTo>
                  <a:lnTo>
                    <a:pt x="1701" y="1100"/>
                  </a:lnTo>
                  <a:lnTo>
                    <a:pt x="1755" y="1116"/>
                  </a:lnTo>
                  <a:lnTo>
                    <a:pt x="1808" y="1116"/>
                  </a:lnTo>
                  <a:lnTo>
                    <a:pt x="2486" y="1116"/>
                  </a:lnTo>
                  <a:lnTo>
                    <a:pt x="2564" y="1116"/>
                  </a:lnTo>
                  <a:cubicBezTo>
                    <a:pt x="2583" y="1112"/>
                    <a:pt x="2593" y="1111"/>
                    <a:pt x="2600" y="1091"/>
                  </a:cubicBezTo>
                  <a:cubicBezTo>
                    <a:pt x="2607" y="1072"/>
                    <a:pt x="2610" y="1138"/>
                    <a:pt x="2608" y="999"/>
                  </a:cubicBezTo>
                  <a:lnTo>
                    <a:pt x="2608" y="264"/>
                  </a:lnTo>
                  <a:lnTo>
                    <a:pt x="2616" y="227"/>
                  </a:lnTo>
                  <a:cubicBezTo>
                    <a:pt x="2627" y="215"/>
                    <a:pt x="2634" y="196"/>
                    <a:pt x="2676" y="191"/>
                  </a:cubicBezTo>
                  <a:cubicBezTo>
                    <a:pt x="2721" y="184"/>
                    <a:pt x="2824" y="187"/>
                    <a:pt x="2868" y="195"/>
                  </a:cubicBezTo>
                  <a:cubicBezTo>
                    <a:pt x="2912" y="203"/>
                    <a:pt x="2925" y="238"/>
                    <a:pt x="2928" y="251"/>
                  </a:cubicBezTo>
                  <a:lnTo>
                    <a:pt x="2928" y="280"/>
                  </a:lnTo>
                  <a:cubicBezTo>
                    <a:pt x="2928" y="280"/>
                    <a:pt x="2925" y="867"/>
                    <a:pt x="2928" y="1002"/>
                  </a:cubicBezTo>
                  <a:cubicBezTo>
                    <a:pt x="2930" y="1136"/>
                    <a:pt x="2930" y="1068"/>
                    <a:pt x="2944" y="1087"/>
                  </a:cubicBezTo>
                  <a:cubicBezTo>
                    <a:pt x="2958" y="1107"/>
                    <a:pt x="2995" y="1113"/>
                    <a:pt x="3014" y="1116"/>
                  </a:cubicBezTo>
                  <a:lnTo>
                    <a:pt x="3071" y="1116"/>
                  </a:lnTo>
                  <a:lnTo>
                    <a:pt x="4117" y="1116"/>
                  </a:lnTo>
                  <a:lnTo>
                    <a:pt x="4190" y="1116"/>
                  </a:lnTo>
                  <a:lnTo>
                    <a:pt x="4251" y="1097"/>
                  </a:lnTo>
                  <a:lnTo>
                    <a:pt x="4269" y="1044"/>
                  </a:lnTo>
                  <a:lnTo>
                    <a:pt x="4271" y="994"/>
                  </a:lnTo>
                  <a:lnTo>
                    <a:pt x="4272" y="0"/>
                  </a:lnTo>
                </a:path>
              </a:pathLst>
            </a:custGeom>
            <a:noFill/>
            <a:ln w="28575" cap="flat" cmpd="sng">
              <a:solidFill>
                <a:srgbClr val="0000FF"/>
              </a:solidFill>
              <a:prstDash val="sysDot"/>
              <a:round/>
              <a:headEnd type="none" w="med" len="lg"/>
              <a:tailEnd type="none" w="med" len="lg"/>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9" name="椭圆 85"/>
            <p:cNvSpPr>
              <a:spLocks noChangeArrowheads="1"/>
            </p:cNvSpPr>
            <p:nvPr/>
          </p:nvSpPr>
          <p:spPr bwMode="auto">
            <a:xfrm>
              <a:off x="2153272" y="1650728"/>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0" name="椭圆 85"/>
            <p:cNvSpPr>
              <a:spLocks noChangeArrowheads="1"/>
            </p:cNvSpPr>
            <p:nvPr/>
          </p:nvSpPr>
          <p:spPr bwMode="auto">
            <a:xfrm>
              <a:off x="1846261" y="1652600"/>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1" name="椭圆 85"/>
            <p:cNvSpPr>
              <a:spLocks noChangeArrowheads="1"/>
            </p:cNvSpPr>
            <p:nvPr/>
          </p:nvSpPr>
          <p:spPr bwMode="auto">
            <a:xfrm>
              <a:off x="1966341" y="1876324"/>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2" name="Line 246"/>
            <p:cNvSpPr>
              <a:spLocks noChangeShapeType="1"/>
            </p:cNvSpPr>
            <p:nvPr/>
          </p:nvSpPr>
          <p:spPr bwMode="auto">
            <a:xfrm>
              <a:off x="1804171" y="1530910"/>
              <a:ext cx="189406" cy="362265"/>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63" name="Line 247"/>
            <p:cNvSpPr>
              <a:spLocks noChangeShapeType="1"/>
            </p:cNvSpPr>
            <p:nvPr/>
          </p:nvSpPr>
          <p:spPr bwMode="auto">
            <a:xfrm flipH="1">
              <a:off x="2013383" y="1573034"/>
              <a:ext cx="240162" cy="320141"/>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grpSp>
      <p:sp>
        <p:nvSpPr>
          <p:cNvPr id="165" name="矩形 164"/>
          <p:cNvSpPr/>
          <p:nvPr/>
        </p:nvSpPr>
        <p:spPr>
          <a:xfrm>
            <a:off x="990543" y="3138544"/>
            <a:ext cx="7162909" cy="416589"/>
          </a:xfrm>
          <a:prstGeom prst="rect">
            <a:avLst/>
          </a:prstGeom>
        </p:spPr>
        <p:txBody>
          <a:bodyPr wrap="square">
            <a:spAutoFit/>
          </a:bodyPr>
          <a:lstStyle/>
          <a:p>
            <a:pPr marL="285750" indent="-285750">
              <a:lnSpc>
                <a:spcPts val="2800"/>
              </a:lnSpc>
              <a:buFont typeface="Wingdings" panose="05000000000000000000" pitchFamily="2" charset="2"/>
              <a:buChar char="l"/>
            </a:pPr>
            <a:r>
              <a:rPr lang="zh-CN" altLang="en-US" b="1" dirty="0">
                <a:solidFill>
                  <a:srgbClr val="C00000"/>
                </a:solidFill>
                <a:latin typeface="微软雅黑" panose="020B0503020204020204" pitchFamily="34" charset="-122"/>
                <a:ea typeface="微软雅黑" panose="020B0503020204020204" pitchFamily="34" charset="-122"/>
              </a:rPr>
              <a:t>复用：</a:t>
            </a:r>
            <a:r>
              <a:rPr lang="zh-CN" altLang="en-US" b="1" dirty="0">
                <a:latin typeface="微软雅黑" panose="020B0503020204020204" pitchFamily="34" charset="-122"/>
                <a:ea typeface="微软雅黑" panose="020B0503020204020204" pitchFamily="34" charset="-122"/>
              </a:rPr>
              <a:t>应用进程都可以通过传输层再传送到 </a:t>
            </a:r>
            <a:r>
              <a:rPr lang="en-US" altLang="zh-CN" b="1" dirty="0">
                <a:latin typeface="微软雅黑" panose="020B0503020204020204" pitchFamily="34" charset="-122"/>
                <a:ea typeface="微软雅黑" panose="020B0503020204020204" pitchFamily="34" charset="-122"/>
              </a:rPr>
              <a:t>IP </a:t>
            </a:r>
            <a:r>
              <a:rPr lang="zh-CN" altLang="en-US" b="1" dirty="0">
                <a:latin typeface="微软雅黑" panose="020B0503020204020204" pitchFamily="34" charset="-122"/>
                <a:ea typeface="微软雅黑" panose="020B0503020204020204" pitchFamily="34" charset="-122"/>
              </a:rPr>
              <a:t>层（网络层）。</a:t>
            </a:r>
            <a:endParaRPr lang="en-US" altLang="zh-CN" b="1" dirty="0">
              <a:latin typeface="微软雅黑" panose="020B0503020204020204" pitchFamily="34" charset="-122"/>
              <a:ea typeface="微软雅黑" panose="020B0503020204020204" pitchFamily="34" charset="-122"/>
            </a:endParaRPr>
          </a:p>
        </p:txBody>
      </p:sp>
      <p:sp>
        <p:nvSpPr>
          <p:cNvPr id="167" name="矩形 166"/>
          <p:cNvSpPr/>
          <p:nvPr/>
        </p:nvSpPr>
        <p:spPr>
          <a:xfrm>
            <a:off x="990543" y="3499713"/>
            <a:ext cx="7162909" cy="775662"/>
          </a:xfrm>
          <a:prstGeom prst="rect">
            <a:avLst/>
          </a:prstGeom>
        </p:spPr>
        <p:txBody>
          <a:bodyPr wrap="square">
            <a:spAutoFit/>
          </a:bodyPr>
          <a:lstStyle/>
          <a:p>
            <a:pPr marL="285750" indent="-285750">
              <a:lnSpc>
                <a:spcPts val="2800"/>
              </a:lnSpc>
              <a:buFont typeface="Wingdings" panose="05000000000000000000" pitchFamily="2" charset="2"/>
              <a:buChar char="l"/>
            </a:pPr>
            <a:r>
              <a:rPr lang="zh-CN" altLang="en-US" b="1" dirty="0">
                <a:solidFill>
                  <a:srgbClr val="C00000"/>
                </a:solidFill>
                <a:latin typeface="微软雅黑" panose="020B0503020204020204" pitchFamily="34" charset="-122"/>
                <a:ea typeface="微软雅黑" panose="020B0503020204020204" pitchFamily="34" charset="-122"/>
              </a:rPr>
              <a:t>分用：</a:t>
            </a:r>
            <a:r>
              <a:rPr lang="zh-CN" altLang="en-US" b="1" dirty="0">
                <a:latin typeface="微软雅黑" panose="020B0503020204020204" pitchFamily="34" charset="-122"/>
                <a:ea typeface="微软雅黑" panose="020B0503020204020204" pitchFamily="34" charset="-122"/>
              </a:rPr>
              <a:t>传输层从 </a:t>
            </a:r>
            <a:r>
              <a:rPr lang="en-US" altLang="zh-CN" b="1" dirty="0">
                <a:latin typeface="微软雅黑" panose="020B0503020204020204" pitchFamily="34" charset="-122"/>
                <a:ea typeface="微软雅黑" panose="020B0503020204020204" pitchFamily="34" charset="-122"/>
              </a:rPr>
              <a:t>IP </a:t>
            </a:r>
            <a:r>
              <a:rPr lang="zh-CN" altLang="en-US" b="1" dirty="0">
                <a:latin typeface="微软雅黑" panose="020B0503020204020204" pitchFamily="34" charset="-122"/>
                <a:ea typeface="微软雅黑" panose="020B0503020204020204" pitchFamily="34" charset="-122"/>
              </a:rPr>
              <a:t>层收到发送给应用进程的数据后，必须分别交付给</a:t>
            </a:r>
            <a:r>
              <a:rPr lang="zh-CN" altLang="en-US" b="1" dirty="0">
                <a:solidFill>
                  <a:srgbClr val="0000FF"/>
                </a:solidFill>
                <a:latin typeface="微软雅黑" panose="020B0503020204020204" pitchFamily="34" charset="-122"/>
                <a:ea typeface="微软雅黑" panose="020B0503020204020204" pitchFamily="34" charset="-122"/>
              </a:rPr>
              <a:t>指明的</a:t>
            </a:r>
            <a:r>
              <a:rPr lang="zh-CN" altLang="en-US" b="1" dirty="0">
                <a:latin typeface="微软雅黑" panose="020B0503020204020204" pitchFamily="34" charset="-122"/>
                <a:ea typeface="微软雅黑" panose="020B0503020204020204" pitchFamily="34" charset="-122"/>
              </a:rPr>
              <a:t>各应用进程。</a:t>
            </a:r>
          </a:p>
        </p:txBody>
      </p:sp>
      <p:sp>
        <p:nvSpPr>
          <p:cNvPr id="166" name="矩形 165"/>
          <p:cNvSpPr/>
          <p:nvPr/>
        </p:nvSpPr>
        <p:spPr>
          <a:xfrm>
            <a:off x="4178734" y="3980440"/>
            <a:ext cx="3044191" cy="626701"/>
          </a:xfrm>
          <a:prstGeom prst="rect">
            <a:avLst/>
          </a:prstGeom>
          <a:solidFill>
            <a:srgbClr val="C00000"/>
          </a:solidFill>
        </p:spPr>
        <p:txBody>
          <a:bodyPr wrap="square" lIns="108000" tIns="36000" rIns="108000" bIns="3600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需要给应用层的每个应用进程赋予一个非常明确的标志</a:t>
            </a:r>
          </a:p>
        </p:txBody>
      </p:sp>
    </p:spTree>
    <p:extLst>
      <p:ext uri="{BB962C8B-B14F-4D97-AF65-F5344CB8AC3E}">
        <p14:creationId xmlns:p14="http://schemas.microsoft.com/office/powerpoint/2010/main" val="1795130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4"/>
                                        </p:tgtEl>
                                        <p:attrNameLst>
                                          <p:attrName>style.visibility</p:attrName>
                                        </p:attrNameLst>
                                      </p:cBhvr>
                                      <p:to>
                                        <p:strVal val="visible"/>
                                      </p:to>
                                    </p:set>
                                    <p:animEffect transition="in" filter="fade">
                                      <p:cBhvr>
                                        <p:cTn id="7" dur="500"/>
                                        <p:tgtEl>
                                          <p:spTgt spid="144"/>
                                        </p:tgtEl>
                                      </p:cBhvr>
                                    </p:animEffect>
                                  </p:childTnLst>
                                </p:cTn>
                              </p:par>
                            </p:childTnLst>
                          </p:cTn>
                        </p:par>
                        <p:par>
                          <p:cTn id="8" fill="hold">
                            <p:stCondLst>
                              <p:cond delay="500"/>
                            </p:stCondLst>
                            <p:childTnLst>
                              <p:par>
                                <p:cTn id="9" presetID="35" presetClass="emph" presetSubtype="0" repeatCount="3000" fill="hold" nodeType="afterEffect">
                                  <p:stCondLst>
                                    <p:cond delay="0"/>
                                  </p:stCondLst>
                                  <p:childTnLst>
                                    <p:anim calcmode="discrete" valueType="str">
                                      <p:cBhvr>
                                        <p:cTn id="10" dur="1000" fill="hold"/>
                                        <p:tgtEl>
                                          <p:spTgt spid="144"/>
                                        </p:tgtEl>
                                        <p:attrNameLst>
                                          <p:attrName>style.visibility</p:attrName>
                                        </p:attrNameLst>
                                      </p:cBhvr>
                                      <p:tavLst>
                                        <p:tav tm="0">
                                          <p:val>
                                            <p:strVal val="hidden"/>
                                          </p:val>
                                        </p:tav>
                                        <p:tav tm="50000">
                                          <p:val>
                                            <p:strVal val="visible"/>
                                          </p:val>
                                        </p:tav>
                                      </p:tavLst>
                                    </p:anim>
                                  </p:childTnLst>
                                </p:cTn>
                              </p:par>
                              <p:par>
                                <p:cTn id="11" presetID="1" presetClass="entr" presetSubtype="0" fill="hold" grpId="0" nodeType="withEffect">
                                  <p:stCondLst>
                                    <p:cond delay="0"/>
                                  </p:stCondLst>
                                  <p:childTnLst>
                                    <p:set>
                                      <p:cBhvr>
                                        <p:cTn id="12" dur="1" fill="hold">
                                          <p:stCondLst>
                                            <p:cond delay="0"/>
                                          </p:stCondLst>
                                        </p:cTn>
                                        <p:tgtEl>
                                          <p:spTgt spid="16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8"/>
                                        </p:tgtEl>
                                        <p:attrNameLst>
                                          <p:attrName>style.visibility</p:attrName>
                                        </p:attrNameLst>
                                      </p:cBhvr>
                                      <p:to>
                                        <p:strVal val="visible"/>
                                      </p:to>
                                    </p:set>
                                    <p:animEffect transition="in" filter="fade">
                                      <p:cBhvr>
                                        <p:cTn id="17" dur="500"/>
                                        <p:tgtEl>
                                          <p:spTgt spid="148"/>
                                        </p:tgtEl>
                                      </p:cBhvr>
                                    </p:animEffect>
                                  </p:childTnLst>
                                </p:cTn>
                              </p:par>
                            </p:childTnLst>
                          </p:cTn>
                        </p:par>
                        <p:par>
                          <p:cTn id="18" fill="hold">
                            <p:stCondLst>
                              <p:cond delay="500"/>
                            </p:stCondLst>
                            <p:childTnLst>
                              <p:par>
                                <p:cTn id="19" presetID="35" presetClass="emph" presetSubtype="0" repeatCount="3000" fill="hold" nodeType="afterEffect">
                                  <p:stCondLst>
                                    <p:cond delay="0"/>
                                  </p:stCondLst>
                                  <p:childTnLst>
                                    <p:anim calcmode="discrete" valueType="str">
                                      <p:cBhvr>
                                        <p:cTn id="20" dur="1000" fill="hold"/>
                                        <p:tgtEl>
                                          <p:spTgt spid="148"/>
                                        </p:tgtEl>
                                        <p:attrNameLst>
                                          <p:attrName>style.visibility</p:attrName>
                                        </p:attrNameLst>
                                      </p:cBhvr>
                                      <p:tavLst>
                                        <p:tav tm="0">
                                          <p:val>
                                            <p:strVal val="hidden"/>
                                          </p:val>
                                        </p:tav>
                                        <p:tav tm="50000">
                                          <p:val>
                                            <p:strVal val="visible"/>
                                          </p:val>
                                        </p:tav>
                                      </p:tavLst>
                                    </p:anim>
                                  </p:childTnLst>
                                </p:cTn>
                              </p:par>
                              <p:par>
                                <p:cTn id="21" presetID="1" presetClass="entr" presetSubtype="0" fill="hold" grpId="0" nodeType="withEffect">
                                  <p:stCondLst>
                                    <p:cond delay="0"/>
                                  </p:stCondLst>
                                  <p:childTnLst>
                                    <p:set>
                                      <p:cBhvr>
                                        <p:cTn id="22" dur="1" fill="hold">
                                          <p:stCondLst>
                                            <p:cond delay="0"/>
                                          </p:stCondLst>
                                        </p:cTn>
                                        <p:tgtEl>
                                          <p:spTgt spid="16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166"/>
                                        </p:tgtEl>
                                        <p:attrNameLst>
                                          <p:attrName>style.visibility</p:attrName>
                                        </p:attrNameLst>
                                      </p:cBhvr>
                                      <p:to>
                                        <p:strVal val="visible"/>
                                      </p:to>
                                    </p:set>
                                    <p:anim calcmode="lin" valueType="num">
                                      <p:cBhvr>
                                        <p:cTn id="27" dur="500" fill="hold"/>
                                        <p:tgtEl>
                                          <p:spTgt spid="166"/>
                                        </p:tgtEl>
                                        <p:attrNameLst>
                                          <p:attrName>ppt_w</p:attrName>
                                        </p:attrNameLst>
                                      </p:cBhvr>
                                      <p:tavLst>
                                        <p:tav tm="0">
                                          <p:val>
                                            <p:fltVal val="0"/>
                                          </p:val>
                                        </p:tav>
                                        <p:tav tm="100000">
                                          <p:val>
                                            <p:strVal val="#ppt_w"/>
                                          </p:val>
                                        </p:tav>
                                      </p:tavLst>
                                    </p:anim>
                                    <p:anim calcmode="lin" valueType="num">
                                      <p:cBhvr>
                                        <p:cTn id="28" dur="500" fill="hold"/>
                                        <p:tgtEl>
                                          <p:spTgt spid="166"/>
                                        </p:tgtEl>
                                        <p:attrNameLst>
                                          <p:attrName>ppt_h</p:attrName>
                                        </p:attrNameLst>
                                      </p:cBhvr>
                                      <p:tavLst>
                                        <p:tav tm="0">
                                          <p:val>
                                            <p:fltVal val="0"/>
                                          </p:val>
                                        </p:tav>
                                        <p:tav tm="100000">
                                          <p:val>
                                            <p:strVal val="#ppt_h"/>
                                          </p:val>
                                        </p:tav>
                                      </p:tavLst>
                                    </p:anim>
                                    <p:animEffect transition="in" filter="fade">
                                      <p:cBhvr>
                                        <p:cTn id="29" dur="500"/>
                                        <p:tgtEl>
                                          <p:spTgt spid="1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 grpId="0"/>
      <p:bldP spid="167" grpId="0"/>
      <p:bldP spid="16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9506"/>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2552270" y="596295"/>
            <a:ext cx="405816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端口号 </a:t>
            </a:r>
            <a:r>
              <a:rPr lang="en-US" altLang="zh-CN" sz="2000" b="1" dirty="0">
                <a:solidFill>
                  <a:schemeClr val="bg1"/>
                </a:solidFill>
                <a:latin typeface="微软雅黑" pitchFamily="34" charset="-122"/>
                <a:ea typeface="微软雅黑" pitchFamily="34" charset="-122"/>
              </a:rPr>
              <a:t>(protocol port number)</a:t>
            </a:r>
            <a:endParaRPr lang="zh-CN" altLang="en-US" sz="2000" b="1" dirty="0">
              <a:solidFill>
                <a:schemeClr val="bg1"/>
              </a:solidFill>
              <a:latin typeface="微软雅黑" pitchFamily="34" charset="-122"/>
              <a:ea typeface="微软雅黑" pitchFamily="34" charset="-122"/>
            </a:endParaRPr>
          </a:p>
        </p:txBody>
      </p:sp>
      <p:sp>
        <p:nvSpPr>
          <p:cNvPr id="4" name="Rectangle 68"/>
          <p:cNvSpPr>
            <a:spLocks noChangeArrowheads="1"/>
          </p:cNvSpPr>
          <p:nvPr/>
        </p:nvSpPr>
        <p:spPr bwMode="auto">
          <a:xfrm>
            <a:off x="556963" y="985792"/>
            <a:ext cx="8184960" cy="826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解决方法：</a:t>
            </a:r>
            <a:r>
              <a:rPr lang="zh-CN" altLang="en-US" sz="2000" b="1" dirty="0">
                <a:latin typeface="微软雅黑" pitchFamily="34" charset="-122"/>
                <a:ea typeface="微软雅黑" pitchFamily="34" charset="-122"/>
              </a:rPr>
              <a:t>在传输层使用</a:t>
            </a:r>
            <a:r>
              <a:rPr lang="zh-CN" altLang="en-US" sz="2000" b="1" dirty="0">
                <a:solidFill>
                  <a:srgbClr val="0000FF"/>
                </a:solidFill>
                <a:latin typeface="微软雅黑" pitchFamily="34" charset="-122"/>
                <a:ea typeface="微软雅黑" pitchFamily="34" charset="-122"/>
              </a:rPr>
              <a:t>协议端口号 </a:t>
            </a:r>
            <a:r>
              <a:rPr lang="en-US" altLang="zh-CN" sz="2000" b="1" dirty="0">
                <a:latin typeface="微软雅黑" pitchFamily="34" charset="-122"/>
                <a:ea typeface="微软雅黑" pitchFamily="34" charset="-122"/>
              </a:rPr>
              <a:t>(protocol port number)</a:t>
            </a:r>
            <a:r>
              <a:rPr lang="zh-CN" altLang="en-US" sz="2000" b="1" dirty="0">
                <a:latin typeface="微软雅黑" pitchFamily="34" charset="-122"/>
                <a:ea typeface="微软雅黑" pitchFamily="34" charset="-122"/>
              </a:rPr>
              <a:t>，或通常简称为</a:t>
            </a:r>
            <a:r>
              <a:rPr lang="zh-CN" altLang="en-US" sz="2000" b="1" dirty="0">
                <a:solidFill>
                  <a:srgbClr val="C00000"/>
                </a:solidFill>
                <a:latin typeface="微软雅黑" pitchFamily="34" charset="-122"/>
                <a:ea typeface="微软雅黑" pitchFamily="34" charset="-122"/>
              </a:rPr>
              <a:t>端口</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(port)</a:t>
            </a:r>
            <a:r>
              <a:rPr lang="zh-CN" altLang="en-US" sz="2000" b="1" dirty="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把端口设为通信的</a:t>
            </a:r>
            <a:r>
              <a:rPr lang="zh-CN" altLang="en-US" sz="2000" b="1" dirty="0">
                <a:solidFill>
                  <a:srgbClr val="C00000"/>
                </a:solidFill>
                <a:latin typeface="微软雅黑" pitchFamily="34" charset="-122"/>
                <a:ea typeface="微软雅黑" pitchFamily="34" charset="-122"/>
              </a:rPr>
              <a:t>抽象终点。</a:t>
            </a:r>
          </a:p>
        </p:txBody>
      </p:sp>
      <p:sp>
        <p:nvSpPr>
          <p:cNvPr id="5" name="圆角矩形 4"/>
          <p:cNvSpPr/>
          <p:nvPr/>
        </p:nvSpPr>
        <p:spPr>
          <a:xfrm>
            <a:off x="556963" y="1808034"/>
            <a:ext cx="8048776" cy="251295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1" name="组合 60"/>
          <p:cNvGrpSpPr/>
          <p:nvPr/>
        </p:nvGrpSpPr>
        <p:grpSpPr>
          <a:xfrm>
            <a:off x="3635765" y="4055746"/>
            <a:ext cx="2075855" cy="193528"/>
            <a:chOff x="3635765" y="3966096"/>
            <a:chExt cx="2075855" cy="193528"/>
          </a:xfrm>
        </p:grpSpPr>
        <p:sp>
          <p:nvSpPr>
            <p:cNvPr id="49" name="矩形 48"/>
            <p:cNvSpPr/>
            <p:nvPr/>
          </p:nvSpPr>
          <p:spPr>
            <a:xfrm>
              <a:off x="5139252" y="3966096"/>
              <a:ext cx="572368" cy="193528"/>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微软雅黑" pitchFamily="34" charset="-122"/>
                  <a:ea typeface="微软雅黑" pitchFamily="34" charset="-122"/>
                </a:rPr>
                <a:t>数据</a:t>
              </a:r>
            </a:p>
          </p:txBody>
        </p:sp>
        <p:sp>
          <p:nvSpPr>
            <p:cNvPr id="50" name="矩形 49"/>
            <p:cNvSpPr/>
            <p:nvPr/>
          </p:nvSpPr>
          <p:spPr>
            <a:xfrm>
              <a:off x="3918957" y="3966096"/>
              <a:ext cx="572368" cy="19352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微软雅黑" pitchFamily="34" charset="-122"/>
                  <a:ea typeface="微软雅黑" pitchFamily="34" charset="-122"/>
                </a:rPr>
                <a:t>80</a:t>
              </a:r>
              <a:endParaRPr lang="zh-CN" altLang="en-US" sz="1200" b="1" dirty="0">
                <a:solidFill>
                  <a:schemeClr val="bg1"/>
                </a:solidFill>
                <a:latin typeface="微软雅黑" pitchFamily="34" charset="-122"/>
                <a:ea typeface="微软雅黑" pitchFamily="34" charset="-122"/>
              </a:endParaRPr>
            </a:p>
          </p:txBody>
        </p:sp>
        <p:sp>
          <p:nvSpPr>
            <p:cNvPr id="51" name="矩形 50"/>
            <p:cNvSpPr/>
            <p:nvPr/>
          </p:nvSpPr>
          <p:spPr>
            <a:xfrm>
              <a:off x="4483468" y="3966096"/>
              <a:ext cx="653245" cy="193528"/>
            </a:xfrm>
            <a:prstGeom prst="rect">
              <a:avLst/>
            </a:prstGeom>
            <a:solidFill>
              <a:srgbClr val="80008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微软雅黑" pitchFamily="34" charset="-122"/>
                  <a:ea typeface="微软雅黑" pitchFamily="34" charset="-122"/>
                </a:rPr>
                <a:t>58800</a:t>
              </a:r>
              <a:endParaRPr lang="zh-CN" altLang="en-US" sz="1200" b="1" dirty="0">
                <a:solidFill>
                  <a:schemeClr val="bg1"/>
                </a:solidFill>
                <a:latin typeface="微软雅黑" pitchFamily="34" charset="-122"/>
                <a:ea typeface="微软雅黑" pitchFamily="34" charset="-122"/>
              </a:endParaRPr>
            </a:p>
          </p:txBody>
        </p:sp>
        <p:sp>
          <p:nvSpPr>
            <p:cNvPr id="58" name="右箭头 57"/>
            <p:cNvSpPr/>
            <p:nvPr/>
          </p:nvSpPr>
          <p:spPr>
            <a:xfrm flipH="1">
              <a:off x="3635765" y="4014478"/>
              <a:ext cx="262817" cy="96764"/>
            </a:xfrm>
            <a:prstGeom prst="rightArrow">
              <a:avLst/>
            </a:prstGeom>
            <a:solidFill>
              <a:srgbClr val="CC0099"/>
            </a:solidFill>
            <a:ln>
              <a:solidFill>
                <a:srgbClr val="CC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dirty="0"/>
            </a:p>
          </p:txBody>
        </p:sp>
      </p:grpSp>
      <p:grpSp>
        <p:nvGrpSpPr>
          <p:cNvPr id="77" name="组合 76"/>
          <p:cNvGrpSpPr/>
          <p:nvPr/>
        </p:nvGrpSpPr>
        <p:grpSpPr>
          <a:xfrm>
            <a:off x="1658470" y="1855689"/>
            <a:ext cx="6381519" cy="2145126"/>
            <a:chOff x="1658470" y="1927409"/>
            <a:chExt cx="6381519" cy="2145126"/>
          </a:xfrm>
        </p:grpSpPr>
        <p:sp>
          <p:nvSpPr>
            <p:cNvPr id="6" name="矩形 5"/>
            <p:cNvSpPr/>
            <p:nvPr/>
          </p:nvSpPr>
          <p:spPr>
            <a:xfrm>
              <a:off x="1658470" y="2808257"/>
              <a:ext cx="2578362" cy="602500"/>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1781285" y="2736305"/>
              <a:ext cx="513452" cy="185596"/>
              <a:chOff x="1452836" y="2079261"/>
              <a:chExt cx="586980" cy="241909"/>
            </a:xfrm>
          </p:grpSpPr>
          <p:sp>
            <p:nvSpPr>
              <p:cNvPr id="10" name="矩形 9"/>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Text Box 20"/>
            <p:cNvSpPr txBox="1">
              <a:spLocks noChangeArrowheads="1"/>
            </p:cNvSpPr>
            <p:nvPr/>
          </p:nvSpPr>
          <p:spPr bwMode="auto">
            <a:xfrm>
              <a:off x="1698199" y="2030307"/>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5400" dirty="0">
                  <a:solidFill>
                    <a:srgbClr val="0000FF"/>
                  </a:solidFill>
                  <a:latin typeface="微软雅黑" pitchFamily="34" charset="-122"/>
                  <a:ea typeface="微软雅黑" pitchFamily="34" charset="-122"/>
                  <a:sym typeface="Wingdings" pitchFamily="2" charset="2"/>
                </a:rPr>
                <a:t></a:t>
              </a:r>
              <a:endParaRPr lang="en-US" altLang="zh-CN" sz="5400" dirty="0">
                <a:solidFill>
                  <a:srgbClr val="0000FF"/>
                </a:solidFill>
                <a:latin typeface="微软雅黑" pitchFamily="34" charset="-122"/>
                <a:ea typeface="微软雅黑" pitchFamily="34" charset="-122"/>
              </a:endParaRPr>
            </a:p>
          </p:txBody>
        </p:sp>
        <p:grpSp>
          <p:nvGrpSpPr>
            <p:cNvPr id="14" name="组合 13"/>
            <p:cNvGrpSpPr/>
            <p:nvPr/>
          </p:nvGrpSpPr>
          <p:grpSpPr>
            <a:xfrm>
              <a:off x="2712498" y="2736305"/>
              <a:ext cx="513452" cy="185596"/>
              <a:chOff x="1452836" y="2079261"/>
              <a:chExt cx="586980" cy="241909"/>
            </a:xfrm>
          </p:grpSpPr>
          <p:sp>
            <p:nvSpPr>
              <p:cNvPr id="15" name="矩形 14"/>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3623084" y="2736305"/>
              <a:ext cx="513452" cy="185596"/>
              <a:chOff x="1452836" y="2079261"/>
              <a:chExt cx="586980" cy="241909"/>
            </a:xfrm>
          </p:grpSpPr>
          <p:sp>
            <p:nvSpPr>
              <p:cNvPr id="19" name="矩形 18"/>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Rectangle 396"/>
            <p:cNvSpPr>
              <a:spLocks noChangeArrowheads="1"/>
            </p:cNvSpPr>
            <p:nvPr/>
          </p:nvSpPr>
          <p:spPr bwMode="auto">
            <a:xfrm>
              <a:off x="4483809" y="3029392"/>
              <a:ext cx="54181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solidFill>
                    <a:srgbClr val="C00000"/>
                  </a:solidFill>
                  <a:latin typeface="微软雅黑" pitchFamily="34" charset="-122"/>
                  <a:ea typeface="微软雅黑" pitchFamily="34" charset="-122"/>
                </a:rPr>
                <a:t>端口</a:t>
              </a:r>
            </a:p>
          </p:txBody>
        </p:sp>
        <p:sp>
          <p:nvSpPr>
            <p:cNvPr id="23" name="Line 399"/>
            <p:cNvSpPr>
              <a:spLocks noChangeShapeType="1"/>
            </p:cNvSpPr>
            <p:nvPr/>
          </p:nvSpPr>
          <p:spPr bwMode="auto">
            <a:xfrm flipH="1" flipV="1">
              <a:off x="3920828" y="2870549"/>
              <a:ext cx="563316" cy="238958"/>
            </a:xfrm>
            <a:prstGeom prst="line">
              <a:avLst/>
            </a:prstGeom>
            <a:noFill/>
            <a:ln w="28575">
              <a:solidFill>
                <a:srgbClr val="CC00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50" b="1">
                <a:latin typeface="微软雅黑" pitchFamily="34" charset="-122"/>
                <a:ea typeface="微软雅黑" pitchFamily="34" charset="-122"/>
              </a:endParaRPr>
            </a:p>
          </p:txBody>
        </p:sp>
        <p:sp>
          <p:nvSpPr>
            <p:cNvPr id="24" name="TextBox 29"/>
            <p:cNvSpPr txBox="1"/>
            <p:nvPr/>
          </p:nvSpPr>
          <p:spPr>
            <a:xfrm>
              <a:off x="2715623" y="2727311"/>
              <a:ext cx="577402" cy="261610"/>
            </a:xfrm>
            <a:prstGeom prst="rect">
              <a:avLst/>
            </a:prstGeom>
            <a:noFill/>
          </p:spPr>
          <p:txBody>
            <a:bodyPr wrap="none" rtlCol="0">
              <a:spAutoFit/>
            </a:bodyPr>
            <a:lstStyle/>
            <a:p>
              <a:r>
                <a:rPr lang="en-US" altLang="zh-CN" sz="1100" b="1" dirty="0">
                  <a:solidFill>
                    <a:srgbClr val="FF0000"/>
                  </a:solidFill>
                  <a:latin typeface="Arial" pitchFamily="34" charset="0"/>
                  <a:ea typeface="微软雅黑" pitchFamily="34" charset="-122"/>
                  <a:cs typeface="Arial" pitchFamily="34" charset="0"/>
                </a:rPr>
                <a:t>58800</a:t>
              </a:r>
              <a:endParaRPr lang="zh-CN" altLang="en-US" sz="1100" b="1" dirty="0">
                <a:solidFill>
                  <a:srgbClr val="FF0000"/>
                </a:solidFill>
                <a:latin typeface="Arial" pitchFamily="34" charset="0"/>
                <a:ea typeface="微软雅黑" pitchFamily="34" charset="-122"/>
                <a:cs typeface="Arial" pitchFamily="34" charset="0"/>
              </a:endParaRPr>
            </a:p>
          </p:txBody>
        </p:sp>
        <p:sp>
          <p:nvSpPr>
            <p:cNvPr id="25" name="矩形 24"/>
            <p:cNvSpPr/>
            <p:nvPr/>
          </p:nvSpPr>
          <p:spPr>
            <a:xfrm>
              <a:off x="5247572" y="2808257"/>
              <a:ext cx="2578362" cy="602500"/>
            </a:xfrm>
            <a:prstGeom prst="rect">
              <a:avLst/>
            </a:prstGeom>
            <a:solidFill>
              <a:srgbClr val="00B0F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5370387" y="2736305"/>
              <a:ext cx="513452" cy="185596"/>
              <a:chOff x="1452836" y="2079261"/>
              <a:chExt cx="586980" cy="241909"/>
            </a:xfrm>
          </p:grpSpPr>
          <p:sp>
            <p:nvSpPr>
              <p:cNvPr id="27" name="矩形 26"/>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 name="直接连接符 27"/>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组合 29"/>
            <p:cNvGrpSpPr/>
            <p:nvPr/>
          </p:nvGrpSpPr>
          <p:grpSpPr>
            <a:xfrm>
              <a:off x="6301600" y="2736305"/>
              <a:ext cx="513452" cy="185596"/>
              <a:chOff x="1452836" y="2079261"/>
              <a:chExt cx="586980" cy="241909"/>
            </a:xfrm>
          </p:grpSpPr>
          <p:sp>
            <p:nvSpPr>
              <p:cNvPr id="31" name="矩形 30"/>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2" name="直接连接符 31"/>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 name="组合 33"/>
            <p:cNvGrpSpPr/>
            <p:nvPr/>
          </p:nvGrpSpPr>
          <p:grpSpPr>
            <a:xfrm>
              <a:off x="7212186" y="2736305"/>
              <a:ext cx="513452" cy="185596"/>
              <a:chOff x="1452836" y="2079261"/>
              <a:chExt cx="586980" cy="241909"/>
            </a:xfrm>
          </p:grpSpPr>
          <p:sp>
            <p:nvSpPr>
              <p:cNvPr id="35" name="矩形 34"/>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 name="直接连接符 35"/>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8" name="Line 399"/>
            <p:cNvSpPr>
              <a:spLocks noChangeShapeType="1"/>
            </p:cNvSpPr>
            <p:nvPr/>
          </p:nvSpPr>
          <p:spPr bwMode="auto">
            <a:xfrm flipV="1">
              <a:off x="5042962" y="2870549"/>
              <a:ext cx="500127" cy="238958"/>
            </a:xfrm>
            <a:prstGeom prst="line">
              <a:avLst/>
            </a:prstGeom>
            <a:noFill/>
            <a:ln w="28575">
              <a:solidFill>
                <a:srgbClr val="CC00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50" b="1">
                <a:latin typeface="微软雅黑" pitchFamily="34" charset="-122"/>
                <a:ea typeface="微软雅黑" pitchFamily="34" charset="-122"/>
              </a:endParaRPr>
            </a:p>
          </p:txBody>
        </p:sp>
        <p:sp>
          <p:nvSpPr>
            <p:cNvPr id="39" name="TextBox 44"/>
            <p:cNvSpPr txBox="1"/>
            <p:nvPr/>
          </p:nvSpPr>
          <p:spPr>
            <a:xfrm>
              <a:off x="6407270" y="2727311"/>
              <a:ext cx="341760" cy="261610"/>
            </a:xfrm>
            <a:prstGeom prst="rect">
              <a:avLst/>
            </a:prstGeom>
            <a:noFill/>
          </p:spPr>
          <p:txBody>
            <a:bodyPr wrap="none" rtlCol="0">
              <a:spAutoFit/>
            </a:bodyPr>
            <a:lstStyle/>
            <a:p>
              <a:r>
                <a:rPr lang="en-US" altLang="zh-CN" sz="1100" b="1" dirty="0">
                  <a:solidFill>
                    <a:srgbClr val="FF0000"/>
                  </a:solidFill>
                  <a:latin typeface="Arial" pitchFamily="34" charset="0"/>
                  <a:ea typeface="微软雅黑" pitchFamily="34" charset="-122"/>
                  <a:cs typeface="Arial" pitchFamily="34" charset="0"/>
                </a:rPr>
                <a:t>80</a:t>
              </a:r>
              <a:endParaRPr lang="zh-CN" altLang="en-US" sz="1100" b="1" dirty="0">
                <a:solidFill>
                  <a:srgbClr val="FF0000"/>
                </a:solidFill>
                <a:latin typeface="Arial" pitchFamily="34" charset="0"/>
                <a:ea typeface="微软雅黑" pitchFamily="34" charset="-122"/>
                <a:cs typeface="Arial" pitchFamily="34" charset="0"/>
              </a:endParaRPr>
            </a:p>
          </p:txBody>
        </p:sp>
        <p:sp>
          <p:nvSpPr>
            <p:cNvPr id="40" name="Text Box 25"/>
            <p:cNvSpPr txBox="1">
              <a:spLocks noChangeArrowheads="1"/>
            </p:cNvSpPr>
            <p:nvPr/>
          </p:nvSpPr>
          <p:spPr bwMode="auto">
            <a:xfrm>
              <a:off x="7120854" y="2030307"/>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5400" dirty="0">
                  <a:solidFill>
                    <a:srgbClr val="00CC66"/>
                  </a:solidFill>
                  <a:latin typeface="微软雅黑" pitchFamily="34" charset="-122"/>
                  <a:ea typeface="微软雅黑" pitchFamily="34" charset="-122"/>
                  <a:sym typeface="Wingdings" pitchFamily="2" charset="2"/>
                </a:rPr>
                <a:t></a:t>
              </a:r>
              <a:endParaRPr lang="en-US" altLang="zh-CN" sz="5400" dirty="0">
                <a:solidFill>
                  <a:srgbClr val="00CC66"/>
                </a:solidFill>
                <a:latin typeface="微软雅黑" pitchFamily="34" charset="-122"/>
                <a:ea typeface="微软雅黑" pitchFamily="34" charset="-122"/>
              </a:endParaRPr>
            </a:p>
          </p:txBody>
        </p:sp>
        <p:sp>
          <p:nvSpPr>
            <p:cNvPr id="42" name="Text Box 20"/>
            <p:cNvSpPr txBox="1">
              <a:spLocks noChangeArrowheads="1"/>
            </p:cNvSpPr>
            <p:nvPr/>
          </p:nvSpPr>
          <p:spPr bwMode="auto">
            <a:xfrm>
              <a:off x="5277045" y="2030307"/>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5400" dirty="0">
                  <a:solidFill>
                    <a:srgbClr val="0000FF"/>
                  </a:solidFill>
                  <a:latin typeface="微软雅黑" pitchFamily="34" charset="-122"/>
                  <a:ea typeface="微软雅黑" pitchFamily="34" charset="-122"/>
                  <a:sym typeface="Wingdings" pitchFamily="2" charset="2"/>
                </a:rPr>
                <a:t></a:t>
              </a:r>
              <a:endParaRPr lang="en-US" altLang="zh-CN" sz="5400" dirty="0">
                <a:solidFill>
                  <a:srgbClr val="0000FF"/>
                </a:solidFill>
                <a:latin typeface="微软雅黑" pitchFamily="34" charset="-122"/>
                <a:ea typeface="微软雅黑" pitchFamily="34" charset="-122"/>
              </a:endParaRPr>
            </a:p>
          </p:txBody>
        </p:sp>
        <p:sp>
          <p:nvSpPr>
            <p:cNvPr id="43" name="Rectangle 396"/>
            <p:cNvSpPr>
              <a:spLocks noChangeArrowheads="1"/>
            </p:cNvSpPr>
            <p:nvPr/>
          </p:nvSpPr>
          <p:spPr bwMode="auto">
            <a:xfrm>
              <a:off x="5932421" y="1927409"/>
              <a:ext cx="120866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主机</a:t>
              </a:r>
              <a:r>
                <a:rPr kumimoji="1" lang="en-US" altLang="zh-CN" sz="1400" b="1" dirty="0">
                  <a:solidFill>
                    <a:srgbClr val="0000FF"/>
                  </a:solidFill>
                  <a:latin typeface="微软雅黑" pitchFamily="34" charset="-122"/>
                  <a:ea typeface="微软雅黑" pitchFamily="34" charset="-122"/>
                </a:rPr>
                <a:t>B</a:t>
              </a:r>
              <a:r>
                <a:rPr kumimoji="1" lang="zh-CN" altLang="en-US" sz="1400" b="1" dirty="0">
                  <a:solidFill>
                    <a:srgbClr val="0000FF"/>
                  </a:solidFill>
                  <a:latin typeface="微软雅黑" pitchFamily="34" charset="-122"/>
                  <a:ea typeface="微软雅黑" pitchFamily="34" charset="-122"/>
                </a:rPr>
                <a:t>的</a:t>
              </a:r>
              <a:r>
                <a:rPr kumimoji="1" lang="en-US" altLang="zh-CN" sz="1400" b="1" dirty="0">
                  <a:solidFill>
                    <a:srgbClr val="0000FF"/>
                  </a:solidFill>
                  <a:latin typeface="微软雅黑" pitchFamily="34" charset="-122"/>
                  <a:ea typeface="微软雅黑" pitchFamily="34" charset="-122"/>
                </a:rPr>
                <a:t>AP2</a:t>
              </a:r>
              <a:endParaRPr kumimoji="1" lang="zh-CN" altLang="en-US" sz="1400" b="1" dirty="0">
                <a:solidFill>
                  <a:srgbClr val="0000FF"/>
                </a:solidFill>
                <a:latin typeface="微软雅黑" pitchFamily="34" charset="-122"/>
                <a:ea typeface="微软雅黑" pitchFamily="34" charset="-122"/>
              </a:endParaRPr>
            </a:p>
          </p:txBody>
        </p:sp>
        <p:sp>
          <p:nvSpPr>
            <p:cNvPr id="44" name="Rectangle 396"/>
            <p:cNvSpPr>
              <a:spLocks noChangeArrowheads="1"/>
            </p:cNvSpPr>
            <p:nvPr/>
          </p:nvSpPr>
          <p:spPr bwMode="auto">
            <a:xfrm>
              <a:off x="2337708" y="1927409"/>
              <a:ext cx="1219887"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主机</a:t>
              </a:r>
              <a:r>
                <a:rPr kumimoji="1" lang="en-US" altLang="zh-CN" sz="1400" b="1" dirty="0">
                  <a:solidFill>
                    <a:srgbClr val="0000FF"/>
                  </a:solidFill>
                  <a:latin typeface="微软雅黑" pitchFamily="34" charset="-122"/>
                  <a:ea typeface="微软雅黑" pitchFamily="34" charset="-122"/>
                </a:rPr>
                <a:t>A</a:t>
              </a:r>
              <a:r>
                <a:rPr kumimoji="1" lang="zh-CN" altLang="en-US" sz="1400" b="1" dirty="0">
                  <a:solidFill>
                    <a:srgbClr val="0000FF"/>
                  </a:solidFill>
                  <a:latin typeface="微软雅黑" pitchFamily="34" charset="-122"/>
                  <a:ea typeface="微软雅黑" pitchFamily="34" charset="-122"/>
                </a:rPr>
                <a:t>的</a:t>
              </a:r>
              <a:r>
                <a:rPr kumimoji="1" lang="en-US" altLang="zh-CN" sz="1400" b="1" dirty="0">
                  <a:solidFill>
                    <a:srgbClr val="0000FF"/>
                  </a:solidFill>
                  <a:latin typeface="微软雅黑" pitchFamily="34" charset="-122"/>
                  <a:ea typeface="微软雅黑" pitchFamily="34" charset="-122"/>
                </a:rPr>
                <a:t>AP1</a:t>
              </a:r>
              <a:endParaRPr kumimoji="1" lang="zh-CN" altLang="en-US" sz="1400" b="1" dirty="0">
                <a:solidFill>
                  <a:srgbClr val="0000FF"/>
                </a:solidFill>
                <a:latin typeface="微软雅黑" pitchFamily="34" charset="-122"/>
                <a:ea typeface="微软雅黑" pitchFamily="34" charset="-122"/>
              </a:endParaRPr>
            </a:p>
          </p:txBody>
        </p:sp>
        <p:cxnSp>
          <p:nvCxnSpPr>
            <p:cNvPr id="45" name="直接连接符 44"/>
            <p:cNvCxnSpPr/>
            <p:nvPr/>
          </p:nvCxnSpPr>
          <p:spPr>
            <a:xfrm>
              <a:off x="2964781" y="4072535"/>
              <a:ext cx="359248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2964781" y="2907271"/>
              <a:ext cx="3592481" cy="1165264"/>
              <a:chOff x="2665137" y="2409968"/>
              <a:chExt cx="4106940" cy="1165570"/>
            </a:xfrm>
          </p:grpSpPr>
          <p:cxnSp>
            <p:nvCxnSpPr>
              <p:cNvPr id="47" name="直接连接符 46"/>
              <p:cNvCxnSpPr/>
              <p:nvPr/>
            </p:nvCxnSpPr>
            <p:spPr>
              <a:xfrm>
                <a:off x="6772077" y="2409968"/>
                <a:ext cx="0" cy="1165570"/>
              </a:xfrm>
              <a:prstGeom prst="line">
                <a:avLst/>
              </a:prstGeom>
              <a:ln w="28575">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2665137" y="2409968"/>
                <a:ext cx="0" cy="1165570"/>
              </a:xfrm>
              <a:prstGeom prst="line">
                <a:avLst/>
              </a:prstGeom>
              <a:ln w="28575">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grpSp>
        <p:sp>
          <p:nvSpPr>
            <p:cNvPr id="55" name="Rectangle 396"/>
            <p:cNvSpPr>
              <a:spLocks noChangeArrowheads="1"/>
            </p:cNvSpPr>
            <p:nvPr/>
          </p:nvSpPr>
          <p:spPr bwMode="auto">
            <a:xfrm>
              <a:off x="3483049" y="3149824"/>
              <a:ext cx="72135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latin typeface="微软雅黑" pitchFamily="34" charset="-122"/>
                  <a:ea typeface="微软雅黑" pitchFamily="34" charset="-122"/>
                </a:rPr>
                <a:t>传输层</a:t>
              </a:r>
            </a:p>
          </p:txBody>
        </p:sp>
        <p:sp>
          <p:nvSpPr>
            <p:cNvPr id="56" name="Rectangle 396"/>
            <p:cNvSpPr>
              <a:spLocks noChangeArrowheads="1"/>
            </p:cNvSpPr>
            <p:nvPr/>
          </p:nvSpPr>
          <p:spPr bwMode="auto">
            <a:xfrm>
              <a:off x="5323913" y="3149824"/>
              <a:ext cx="72135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latin typeface="微软雅黑" pitchFamily="34" charset="-122"/>
                  <a:ea typeface="微软雅黑" pitchFamily="34" charset="-122"/>
                </a:rPr>
                <a:t>传输层</a:t>
              </a:r>
            </a:p>
          </p:txBody>
        </p:sp>
        <p:sp>
          <p:nvSpPr>
            <p:cNvPr id="7" name="Text Box 25"/>
            <p:cNvSpPr txBox="1">
              <a:spLocks noChangeArrowheads="1"/>
            </p:cNvSpPr>
            <p:nvPr/>
          </p:nvSpPr>
          <p:spPr bwMode="auto">
            <a:xfrm>
              <a:off x="3542007" y="2030307"/>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5400" dirty="0">
                  <a:solidFill>
                    <a:srgbClr val="00CC66"/>
                  </a:solidFill>
                  <a:latin typeface="微软雅黑" pitchFamily="34" charset="-122"/>
                  <a:ea typeface="微软雅黑" pitchFamily="34" charset="-122"/>
                  <a:sym typeface="Wingdings" pitchFamily="2" charset="2"/>
                </a:rPr>
                <a:t></a:t>
              </a:r>
              <a:endParaRPr lang="en-US" altLang="zh-CN" sz="5400" dirty="0">
                <a:solidFill>
                  <a:srgbClr val="00CC66"/>
                </a:solidFill>
                <a:latin typeface="微软雅黑" pitchFamily="34" charset="-122"/>
                <a:ea typeface="微软雅黑" pitchFamily="34" charset="-122"/>
              </a:endParaRPr>
            </a:p>
          </p:txBody>
        </p:sp>
      </p:grpSp>
      <p:grpSp>
        <p:nvGrpSpPr>
          <p:cNvPr id="78" name="组合 77"/>
          <p:cNvGrpSpPr/>
          <p:nvPr/>
        </p:nvGrpSpPr>
        <p:grpSpPr>
          <a:xfrm>
            <a:off x="3911776" y="3394682"/>
            <a:ext cx="2371648" cy="548783"/>
            <a:chOff x="3911776" y="3466402"/>
            <a:chExt cx="2371648" cy="548783"/>
          </a:xfrm>
        </p:grpSpPr>
        <p:grpSp>
          <p:nvGrpSpPr>
            <p:cNvPr id="63" name="组合 62"/>
            <p:cNvGrpSpPr/>
            <p:nvPr/>
          </p:nvGrpSpPr>
          <p:grpSpPr>
            <a:xfrm>
              <a:off x="3911776" y="3821657"/>
              <a:ext cx="2094060" cy="193528"/>
              <a:chOff x="3911776" y="3660291"/>
              <a:chExt cx="2094060" cy="193528"/>
            </a:xfrm>
          </p:grpSpPr>
          <p:sp>
            <p:nvSpPr>
              <p:cNvPr id="52" name="矩形 51"/>
              <p:cNvSpPr/>
              <p:nvPr/>
            </p:nvSpPr>
            <p:spPr>
              <a:xfrm>
                <a:off x="3911776" y="3660291"/>
                <a:ext cx="572368" cy="193528"/>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微软雅黑" pitchFamily="34" charset="-122"/>
                    <a:ea typeface="微软雅黑" pitchFamily="34" charset="-122"/>
                  </a:rPr>
                  <a:t>数据</a:t>
                </a:r>
              </a:p>
            </p:txBody>
          </p:sp>
          <p:sp>
            <p:nvSpPr>
              <p:cNvPr id="53" name="矩形 52"/>
              <p:cNvSpPr/>
              <p:nvPr/>
            </p:nvSpPr>
            <p:spPr>
              <a:xfrm>
                <a:off x="4484143" y="3660291"/>
                <a:ext cx="572368" cy="193528"/>
              </a:xfrm>
              <a:prstGeom prst="rect">
                <a:avLst/>
              </a:prstGeom>
              <a:solidFill>
                <a:srgbClr val="80008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微软雅黑" pitchFamily="34" charset="-122"/>
                    <a:ea typeface="微软雅黑" pitchFamily="34" charset="-122"/>
                  </a:rPr>
                  <a:t>80</a:t>
                </a:r>
                <a:endParaRPr lang="zh-CN" altLang="en-US" sz="1200" b="1" dirty="0">
                  <a:solidFill>
                    <a:schemeClr val="bg1"/>
                  </a:solidFill>
                  <a:latin typeface="微软雅黑" pitchFamily="34" charset="-122"/>
                  <a:ea typeface="微软雅黑" pitchFamily="34" charset="-122"/>
                </a:endParaRPr>
              </a:p>
            </p:txBody>
          </p:sp>
          <p:sp>
            <p:nvSpPr>
              <p:cNvPr id="54" name="矩形 53"/>
              <p:cNvSpPr/>
              <p:nvPr/>
            </p:nvSpPr>
            <p:spPr>
              <a:xfrm>
                <a:off x="5048655" y="3660291"/>
                <a:ext cx="678992" cy="19352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微软雅黑" pitchFamily="34" charset="-122"/>
                    <a:ea typeface="微软雅黑" pitchFamily="34" charset="-122"/>
                  </a:rPr>
                  <a:t>58800</a:t>
                </a:r>
                <a:endParaRPr lang="zh-CN" altLang="en-US" sz="1200" b="1" dirty="0">
                  <a:solidFill>
                    <a:schemeClr val="bg1"/>
                  </a:solidFill>
                  <a:latin typeface="微软雅黑" pitchFamily="34" charset="-122"/>
                  <a:ea typeface="微软雅黑" pitchFamily="34" charset="-122"/>
                </a:endParaRPr>
              </a:p>
            </p:txBody>
          </p:sp>
          <p:sp>
            <p:nvSpPr>
              <p:cNvPr id="57" name="右箭头 56"/>
              <p:cNvSpPr/>
              <p:nvPr/>
            </p:nvSpPr>
            <p:spPr>
              <a:xfrm>
                <a:off x="5743019" y="3708675"/>
                <a:ext cx="262817" cy="96764"/>
              </a:xfrm>
              <a:prstGeom prst="rightArrow">
                <a:avLst/>
              </a:prstGeom>
              <a:solidFill>
                <a:srgbClr val="CC0099"/>
              </a:solidFill>
              <a:ln>
                <a:solidFill>
                  <a:srgbClr val="CC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0" name="矩形 59"/>
            <p:cNvSpPr/>
            <p:nvPr/>
          </p:nvSpPr>
          <p:spPr>
            <a:xfrm>
              <a:off x="3978955" y="3466402"/>
              <a:ext cx="954107" cy="276999"/>
            </a:xfrm>
            <a:prstGeom prst="rect">
              <a:avLst/>
            </a:prstGeom>
          </p:spPr>
          <p:txBody>
            <a:bodyPr wrap="none">
              <a:spAutoFit/>
            </a:bodyPr>
            <a:lstStyle/>
            <a:p>
              <a:r>
                <a:rPr lang="zh-CN" altLang="en-US" sz="1200" b="1" dirty="0">
                  <a:latin typeface="微软雅黑" panose="020B0503020204020204" pitchFamily="34" charset="-122"/>
                  <a:ea typeface="微软雅黑" panose="020B0503020204020204" pitchFamily="34" charset="-122"/>
                </a:rPr>
                <a:t>目的端口号</a:t>
              </a:r>
            </a:p>
          </p:txBody>
        </p:sp>
        <p:sp>
          <p:nvSpPr>
            <p:cNvPr id="66" name="矩形 65"/>
            <p:cNvSpPr/>
            <p:nvPr/>
          </p:nvSpPr>
          <p:spPr>
            <a:xfrm>
              <a:off x="5483205" y="3466402"/>
              <a:ext cx="800219" cy="276999"/>
            </a:xfrm>
            <a:prstGeom prst="rect">
              <a:avLst/>
            </a:prstGeom>
          </p:spPr>
          <p:txBody>
            <a:bodyPr wrap="none">
              <a:spAutoFit/>
            </a:bodyPr>
            <a:lstStyle/>
            <a:p>
              <a:r>
                <a:rPr lang="zh-CN" altLang="en-US" sz="1200" b="1" dirty="0">
                  <a:latin typeface="微软雅黑" panose="020B0503020204020204" pitchFamily="34" charset="-122"/>
                  <a:ea typeface="微软雅黑" panose="020B0503020204020204" pitchFamily="34" charset="-122"/>
                </a:rPr>
                <a:t>源端口号</a:t>
              </a:r>
            </a:p>
          </p:txBody>
        </p:sp>
        <p:cxnSp>
          <p:nvCxnSpPr>
            <p:cNvPr id="68" name="直接箭头连接符 67"/>
            <p:cNvCxnSpPr/>
            <p:nvPr/>
          </p:nvCxnSpPr>
          <p:spPr>
            <a:xfrm flipH="1" flipV="1">
              <a:off x="4517744" y="3690857"/>
              <a:ext cx="131700" cy="179186"/>
            </a:xfrm>
            <a:prstGeom prst="straightConnector1">
              <a:avLst/>
            </a:prstGeom>
            <a:ln w="127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69" name="直接箭头连接符 68"/>
            <p:cNvCxnSpPr/>
            <p:nvPr/>
          </p:nvCxnSpPr>
          <p:spPr>
            <a:xfrm flipV="1">
              <a:off x="5655101" y="3690857"/>
              <a:ext cx="87918" cy="169660"/>
            </a:xfrm>
            <a:prstGeom prst="straightConnector1">
              <a:avLst/>
            </a:prstGeom>
            <a:ln w="12700">
              <a:solidFill>
                <a:srgbClr val="C00000"/>
              </a:solidFill>
              <a:tailEnd type="triangle"/>
            </a:ln>
          </p:spPr>
          <p:style>
            <a:lnRef idx="1">
              <a:schemeClr val="dk1"/>
            </a:lnRef>
            <a:fillRef idx="0">
              <a:schemeClr val="dk1"/>
            </a:fillRef>
            <a:effectRef idx="0">
              <a:schemeClr val="dk1"/>
            </a:effectRef>
            <a:fontRef idx="minor">
              <a:schemeClr val="tx1"/>
            </a:fontRef>
          </p:style>
        </p:cxnSp>
      </p:grpSp>
      <p:sp>
        <p:nvSpPr>
          <p:cNvPr id="41" name="Text Box 26"/>
          <p:cNvSpPr txBox="1">
            <a:spLocks noChangeArrowheads="1"/>
          </p:cNvSpPr>
          <p:nvPr/>
        </p:nvSpPr>
        <p:spPr bwMode="auto">
          <a:xfrm>
            <a:off x="6218995" y="1977576"/>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5400" dirty="0">
                <a:solidFill>
                  <a:srgbClr val="CC6600"/>
                </a:solidFill>
                <a:latin typeface="微软雅黑" pitchFamily="34" charset="-122"/>
                <a:ea typeface="微软雅黑" pitchFamily="34" charset="-122"/>
                <a:sym typeface="Wingdings" pitchFamily="2" charset="2"/>
              </a:rPr>
              <a:t></a:t>
            </a:r>
            <a:endParaRPr lang="en-US" altLang="zh-CN" sz="5400" dirty="0">
              <a:solidFill>
                <a:srgbClr val="CC6600"/>
              </a:solidFill>
              <a:latin typeface="微软雅黑" pitchFamily="34" charset="-122"/>
              <a:ea typeface="微软雅黑" pitchFamily="34" charset="-122"/>
            </a:endParaRPr>
          </a:p>
        </p:txBody>
      </p:sp>
      <p:sp>
        <p:nvSpPr>
          <p:cNvPr id="8" name="Text Box 26"/>
          <p:cNvSpPr txBox="1">
            <a:spLocks noChangeArrowheads="1"/>
          </p:cNvSpPr>
          <p:nvPr/>
        </p:nvSpPr>
        <p:spPr bwMode="auto">
          <a:xfrm>
            <a:off x="2630157" y="1960325"/>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5400" dirty="0">
                <a:solidFill>
                  <a:srgbClr val="CC6600"/>
                </a:solidFill>
                <a:latin typeface="微软雅黑" pitchFamily="34" charset="-122"/>
                <a:ea typeface="微软雅黑" pitchFamily="34" charset="-122"/>
                <a:sym typeface="Wingdings" pitchFamily="2" charset="2"/>
              </a:rPr>
              <a:t></a:t>
            </a:r>
            <a:endParaRPr lang="en-US" altLang="zh-CN" sz="5400" dirty="0">
              <a:solidFill>
                <a:srgbClr val="CC6600"/>
              </a:solidFill>
              <a:latin typeface="微软雅黑" pitchFamily="34" charset="-122"/>
              <a:ea typeface="微软雅黑" pitchFamily="34" charset="-122"/>
            </a:endParaRPr>
          </a:p>
        </p:txBody>
      </p:sp>
    </p:spTree>
    <p:extLst>
      <p:ext uri="{BB962C8B-B14F-4D97-AF65-F5344CB8AC3E}">
        <p14:creationId xmlns:p14="http://schemas.microsoft.com/office/powerpoint/2010/main" val="936221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8"/>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grpId="0" nodeType="withEffect">
                                  <p:stCondLst>
                                    <p:cond delay="0"/>
                                  </p:stCondLst>
                                  <p:childTnLst>
                                    <p:anim calcmode="discrete" valueType="str">
                                      <p:cBhvr>
                                        <p:cTn id="8" dur="1000" fill="hold"/>
                                        <p:tgtEl>
                                          <p:spTgt spid="41"/>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78"/>
                                        </p:tgtEl>
                                        <p:attrNameLst>
                                          <p:attrName>style.visibility</p:attrName>
                                        </p:attrNameLst>
                                      </p:cBhvr>
                                      <p:to>
                                        <p:strVal val="visible"/>
                                      </p:to>
                                    </p:set>
                                    <p:animEffect transition="in" filter="wipe(left)">
                                      <p:cBhvr>
                                        <p:cTn id="13" dur="1000"/>
                                        <p:tgtEl>
                                          <p:spTgt spid="7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2" fill="hold" nodeType="clickEffect">
                                  <p:stCondLst>
                                    <p:cond delay="0"/>
                                  </p:stCondLst>
                                  <p:childTnLst>
                                    <p:set>
                                      <p:cBhvr>
                                        <p:cTn id="17" dur="1" fill="hold">
                                          <p:stCondLst>
                                            <p:cond delay="0"/>
                                          </p:stCondLst>
                                        </p:cTn>
                                        <p:tgtEl>
                                          <p:spTgt spid="61"/>
                                        </p:tgtEl>
                                        <p:attrNameLst>
                                          <p:attrName>style.visibility</p:attrName>
                                        </p:attrNameLst>
                                      </p:cBhvr>
                                      <p:to>
                                        <p:strVal val="visible"/>
                                      </p:to>
                                    </p:set>
                                    <p:animEffect transition="in" filter="wipe(right)">
                                      <p:cBhvr>
                                        <p:cTn id="18" dur="10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2000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334856" y="586793"/>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软件端口与硬件端口</a:t>
            </a:r>
          </a:p>
        </p:txBody>
      </p:sp>
      <p:sp>
        <p:nvSpPr>
          <p:cNvPr id="4" name="任意多边形: 形状 3">
            <a:extLst>
              <a:ext uri="{FF2B5EF4-FFF2-40B4-BE49-F238E27FC236}">
                <a16:creationId xmlns:a16="http://schemas.microsoft.com/office/drawing/2014/main" id="{01A9BC1A-6BD4-431E-94FD-5DF564C27744}"/>
              </a:ext>
            </a:extLst>
          </p:cNvPr>
          <p:cNvSpPr/>
          <p:nvPr/>
        </p:nvSpPr>
        <p:spPr>
          <a:xfrm>
            <a:off x="1505694" y="1201273"/>
            <a:ext cx="6377146" cy="580320"/>
          </a:xfrm>
          <a:custGeom>
            <a:avLst/>
            <a:gdLst>
              <a:gd name="csX0" fmla="*/ 0 w 6377146"/>
              <a:gd name="csY0" fmla="*/ 96722 h 580320"/>
              <a:gd name="csX1" fmla="*/ 96722 w 6377146"/>
              <a:gd name="csY1" fmla="*/ 0 h 580320"/>
              <a:gd name="csX2" fmla="*/ 6280424 w 6377146"/>
              <a:gd name="csY2" fmla="*/ 0 h 580320"/>
              <a:gd name="csX3" fmla="*/ 6377146 w 6377146"/>
              <a:gd name="csY3" fmla="*/ 96722 h 580320"/>
              <a:gd name="csX4" fmla="*/ 6377146 w 6377146"/>
              <a:gd name="csY4" fmla="*/ 483598 h 580320"/>
              <a:gd name="csX5" fmla="*/ 6280424 w 6377146"/>
              <a:gd name="csY5" fmla="*/ 580320 h 580320"/>
              <a:gd name="csX6" fmla="*/ 96722 w 6377146"/>
              <a:gd name="csY6" fmla="*/ 580320 h 580320"/>
              <a:gd name="csX7" fmla="*/ 0 w 6377146"/>
              <a:gd name="csY7" fmla="*/ 483598 h 580320"/>
              <a:gd name="csX8" fmla="*/ 0 w 6377146"/>
              <a:gd name="csY8" fmla="*/ 96722 h 5803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77146" h="580320">
                <a:moveTo>
                  <a:pt x="0" y="96722"/>
                </a:moveTo>
                <a:cubicBezTo>
                  <a:pt x="0" y="43304"/>
                  <a:pt x="43304" y="0"/>
                  <a:pt x="96722" y="0"/>
                </a:cubicBezTo>
                <a:lnTo>
                  <a:pt x="6280424" y="0"/>
                </a:lnTo>
                <a:cubicBezTo>
                  <a:pt x="6333842" y="0"/>
                  <a:pt x="6377146" y="43304"/>
                  <a:pt x="6377146" y="96722"/>
                </a:cubicBezTo>
                <a:lnTo>
                  <a:pt x="6377146" y="483598"/>
                </a:lnTo>
                <a:cubicBezTo>
                  <a:pt x="6377146" y="537016"/>
                  <a:pt x="6333842" y="580320"/>
                  <a:pt x="6280424" y="580320"/>
                </a:cubicBezTo>
                <a:lnTo>
                  <a:pt x="96722" y="580320"/>
                </a:lnTo>
                <a:cubicBezTo>
                  <a:pt x="43304" y="580320"/>
                  <a:pt x="0" y="537016"/>
                  <a:pt x="0" y="483598"/>
                </a:cubicBezTo>
                <a:lnTo>
                  <a:pt x="0" y="96722"/>
                </a:ln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5">
              <a:hueOff val="0"/>
              <a:satOff val="0"/>
              <a:lumOff val="0"/>
              <a:alphaOff val="0"/>
            </a:schemeClr>
          </a:fillRef>
          <a:effectRef idx="1">
            <a:schemeClr val="accent5">
              <a:hueOff val="0"/>
              <a:satOff val="0"/>
              <a:lumOff val="0"/>
              <a:alphaOff val="0"/>
            </a:schemeClr>
          </a:effectRef>
          <a:fontRef idx="minor">
            <a:schemeClr val="dk1"/>
          </a:fontRef>
        </p:style>
        <p:txBody>
          <a:bodyPr spcFirstLastPara="0" vert="horz" wrap="square" lIns="96909" tIns="96909" rIns="96909" bIns="96909" numCol="1" spcCol="1270" anchor="ctr" anchorCtr="0">
            <a:noAutofit/>
          </a:bodyPr>
          <a:lstStyle/>
          <a:p>
            <a:pPr marL="0" lvl="0" indent="0" algn="l" defTabSz="800100">
              <a:lnSpc>
                <a:spcPts val="3000"/>
              </a:lnSpc>
              <a:spcBef>
                <a:spcPts val="0"/>
              </a:spcBef>
              <a:spcAft>
                <a:spcPts val="0"/>
              </a:spcAft>
              <a:buNone/>
            </a:pPr>
            <a:r>
              <a:rPr lang="zh-CN" altLang="en-US" sz="1800" b="1" kern="1200" dirty="0">
                <a:latin typeface="微软雅黑" panose="020B0503020204020204" pitchFamily="34" charset="-122"/>
                <a:ea typeface="微软雅黑" panose="020B0503020204020204" pitchFamily="34" charset="-122"/>
              </a:rPr>
              <a:t>软件端口</a:t>
            </a:r>
          </a:p>
        </p:txBody>
      </p:sp>
      <p:sp>
        <p:nvSpPr>
          <p:cNvPr id="7" name="任意多边形: 形状 6">
            <a:extLst>
              <a:ext uri="{FF2B5EF4-FFF2-40B4-BE49-F238E27FC236}">
                <a16:creationId xmlns:a16="http://schemas.microsoft.com/office/drawing/2014/main" id="{46A2E70A-41C7-9C74-CD01-533B80DD4D2F}"/>
              </a:ext>
            </a:extLst>
          </p:cNvPr>
          <p:cNvSpPr/>
          <p:nvPr/>
        </p:nvSpPr>
        <p:spPr>
          <a:xfrm>
            <a:off x="1505694" y="1782776"/>
            <a:ext cx="6377146" cy="1219230"/>
          </a:xfrm>
          <a:custGeom>
            <a:avLst/>
            <a:gdLst>
              <a:gd name="csX0" fmla="*/ 0 w 6377146"/>
              <a:gd name="csY0" fmla="*/ 0 h 1219230"/>
              <a:gd name="csX1" fmla="*/ 6377146 w 6377146"/>
              <a:gd name="csY1" fmla="*/ 0 h 1219230"/>
              <a:gd name="csX2" fmla="*/ 6377146 w 6377146"/>
              <a:gd name="csY2" fmla="*/ 1219230 h 1219230"/>
              <a:gd name="csX3" fmla="*/ 0 w 6377146"/>
              <a:gd name="csY3" fmla="*/ 1219230 h 1219230"/>
              <a:gd name="csX4" fmla="*/ 0 w 6377146"/>
              <a:gd name="csY4" fmla="*/ 0 h 1219230"/>
            </a:gdLst>
            <a:ahLst/>
            <a:cxnLst>
              <a:cxn ang="0">
                <a:pos x="csX0" y="csY0"/>
              </a:cxn>
              <a:cxn ang="0">
                <a:pos x="csX1" y="csY1"/>
              </a:cxn>
              <a:cxn ang="0">
                <a:pos x="csX2" y="csY2"/>
              </a:cxn>
              <a:cxn ang="0">
                <a:pos x="csX3" y="csY3"/>
              </a:cxn>
              <a:cxn ang="0">
                <a:pos x="csX4" y="csY4"/>
              </a:cxn>
            </a:cxnLst>
            <a:rect l="l" t="t" r="r" b="b"/>
            <a:pathLst>
              <a:path w="6377146" h="1219230">
                <a:moveTo>
                  <a:pt x="0" y="0"/>
                </a:moveTo>
                <a:lnTo>
                  <a:pt x="6377146" y="0"/>
                </a:lnTo>
                <a:lnTo>
                  <a:pt x="6377146" y="1219230"/>
                </a:lnTo>
                <a:lnTo>
                  <a:pt x="0" y="121923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02474" tIns="22860" rIns="128016" bIns="22860" numCol="1" spcCol="1270" anchor="t" anchorCtr="0">
            <a:noAutofit/>
          </a:bodyPr>
          <a:lstStyle/>
          <a:p>
            <a:pPr marL="171450" lvl="1" indent="-171450" algn="l" defTabSz="800100">
              <a:lnSpc>
                <a:spcPts val="3000"/>
              </a:lnSpc>
              <a:spcBef>
                <a:spcPts val="0"/>
              </a:spcBef>
              <a:spcAft>
                <a:spcPts val="0"/>
              </a:spcAft>
              <a:buChar char="•"/>
            </a:pPr>
            <a:r>
              <a:rPr lang="zh-CN" altLang="en-US" sz="1800" b="1" kern="1200" dirty="0">
                <a:latin typeface="微软雅黑" panose="020B0503020204020204" pitchFamily="34" charset="-122"/>
                <a:ea typeface="微软雅黑" panose="020B0503020204020204" pitchFamily="34" charset="-122"/>
              </a:rPr>
              <a:t>协议栈层间的</a:t>
            </a:r>
            <a:r>
              <a:rPr lang="zh-CN" altLang="en-US" sz="1800" b="1" kern="1200" dirty="0">
                <a:solidFill>
                  <a:srgbClr val="C00000"/>
                </a:solidFill>
                <a:latin typeface="微软雅黑" panose="020B0503020204020204" pitchFamily="34" charset="-122"/>
                <a:ea typeface="微软雅黑" panose="020B0503020204020204" pitchFamily="34" charset="-122"/>
              </a:rPr>
              <a:t>抽象</a:t>
            </a:r>
            <a:r>
              <a:rPr lang="zh-CN" altLang="en-US" sz="1800" b="1" kern="1200" dirty="0">
                <a:latin typeface="微软雅黑" panose="020B0503020204020204" pitchFamily="34" charset="-122"/>
                <a:ea typeface="微软雅黑" panose="020B0503020204020204" pitchFamily="34" charset="-122"/>
              </a:rPr>
              <a:t>的协议端口。</a:t>
            </a:r>
          </a:p>
          <a:p>
            <a:pPr marL="171450" lvl="1" indent="-171450" algn="l" defTabSz="800100">
              <a:lnSpc>
                <a:spcPts val="3000"/>
              </a:lnSpc>
              <a:spcBef>
                <a:spcPts val="0"/>
              </a:spcBef>
              <a:spcAft>
                <a:spcPts val="0"/>
              </a:spcAft>
              <a:buChar char="•"/>
            </a:pPr>
            <a:r>
              <a:rPr lang="zh-CN" altLang="en-US" sz="1800" b="1" kern="1200" dirty="0">
                <a:latin typeface="微软雅黑" panose="020B0503020204020204" pitchFamily="34" charset="-122"/>
                <a:ea typeface="微软雅黑" panose="020B0503020204020204" pitchFamily="34" charset="-122"/>
              </a:rPr>
              <a:t>是应用层的各种协议</a:t>
            </a:r>
            <a:r>
              <a:rPr lang="zh-CN" altLang="en-US" sz="1800" b="1" kern="1200" dirty="0">
                <a:solidFill>
                  <a:srgbClr val="C00000"/>
                </a:solidFill>
                <a:latin typeface="微软雅黑" panose="020B0503020204020204" pitchFamily="34" charset="-122"/>
                <a:ea typeface="微软雅黑" panose="020B0503020204020204" pitchFamily="34" charset="-122"/>
              </a:rPr>
              <a:t>进程</a:t>
            </a:r>
            <a:r>
              <a:rPr lang="zh-CN" altLang="en-US" sz="1800" b="1" kern="1200" dirty="0">
                <a:latin typeface="微软雅黑" panose="020B0503020204020204" pitchFamily="34" charset="-122"/>
                <a:ea typeface="微软雅黑" panose="020B0503020204020204" pitchFamily="34" charset="-122"/>
              </a:rPr>
              <a:t>与传输</a:t>
            </a:r>
            <a:r>
              <a:rPr lang="zh-CN" altLang="en-US" sz="1800" b="1" kern="1200" dirty="0">
                <a:solidFill>
                  <a:srgbClr val="C00000"/>
                </a:solidFill>
                <a:latin typeface="微软雅黑" panose="020B0503020204020204" pitchFamily="34" charset="-122"/>
                <a:ea typeface="微软雅黑" panose="020B0503020204020204" pitchFamily="34" charset="-122"/>
              </a:rPr>
              <a:t>实体</a:t>
            </a:r>
            <a:r>
              <a:rPr lang="zh-CN" altLang="en-US" sz="1800" b="1" kern="1200" dirty="0">
                <a:latin typeface="微软雅黑" panose="020B0503020204020204" pitchFamily="34" charset="-122"/>
                <a:ea typeface="微软雅黑" panose="020B0503020204020204" pitchFamily="34" charset="-122"/>
              </a:rPr>
              <a:t>进行层间</a:t>
            </a:r>
            <a:r>
              <a:rPr lang="zh-CN" altLang="en-US" sz="1800" b="1" kern="1200" dirty="0">
                <a:solidFill>
                  <a:srgbClr val="C00000"/>
                </a:solidFill>
                <a:latin typeface="微软雅黑" panose="020B0503020204020204" pitchFamily="34" charset="-122"/>
                <a:ea typeface="微软雅黑" panose="020B0503020204020204" pitchFamily="34" charset="-122"/>
              </a:rPr>
              <a:t>交互</a:t>
            </a:r>
            <a:r>
              <a:rPr lang="zh-CN" altLang="en-US" sz="1800" b="1" kern="1200" dirty="0">
                <a:latin typeface="微软雅黑" panose="020B0503020204020204" pitchFamily="34" charset="-122"/>
                <a:ea typeface="微软雅黑" panose="020B0503020204020204" pitchFamily="34" charset="-122"/>
              </a:rPr>
              <a:t>的地点。</a:t>
            </a:r>
          </a:p>
          <a:p>
            <a:pPr marL="171450" lvl="1" indent="-171450" algn="l" defTabSz="800100">
              <a:lnSpc>
                <a:spcPts val="3000"/>
              </a:lnSpc>
              <a:spcBef>
                <a:spcPts val="0"/>
              </a:spcBef>
              <a:spcAft>
                <a:spcPts val="0"/>
              </a:spcAft>
              <a:buChar char="•"/>
            </a:pPr>
            <a:r>
              <a:rPr lang="zh-CN" altLang="en-US" sz="1800" b="1" kern="1200" dirty="0">
                <a:latin typeface="微软雅黑" panose="020B0503020204020204" pitchFamily="34" charset="-122"/>
                <a:ea typeface="微软雅黑" panose="020B0503020204020204" pitchFamily="34" charset="-122"/>
              </a:rPr>
              <a:t>不同系统实现端口的方法可以不同。</a:t>
            </a:r>
          </a:p>
        </p:txBody>
      </p:sp>
      <p:sp>
        <p:nvSpPr>
          <p:cNvPr id="8" name="任意多边形: 形状 7">
            <a:extLst>
              <a:ext uri="{FF2B5EF4-FFF2-40B4-BE49-F238E27FC236}">
                <a16:creationId xmlns:a16="http://schemas.microsoft.com/office/drawing/2014/main" id="{8EF5186C-7EF0-A4A2-0292-6FD315D81B30}"/>
              </a:ext>
            </a:extLst>
          </p:cNvPr>
          <p:cNvSpPr/>
          <p:nvPr/>
        </p:nvSpPr>
        <p:spPr>
          <a:xfrm>
            <a:off x="1505694" y="3002006"/>
            <a:ext cx="6377146" cy="580320"/>
          </a:xfrm>
          <a:custGeom>
            <a:avLst/>
            <a:gdLst>
              <a:gd name="csX0" fmla="*/ 0 w 6377146"/>
              <a:gd name="csY0" fmla="*/ 96722 h 580320"/>
              <a:gd name="csX1" fmla="*/ 96722 w 6377146"/>
              <a:gd name="csY1" fmla="*/ 0 h 580320"/>
              <a:gd name="csX2" fmla="*/ 6280424 w 6377146"/>
              <a:gd name="csY2" fmla="*/ 0 h 580320"/>
              <a:gd name="csX3" fmla="*/ 6377146 w 6377146"/>
              <a:gd name="csY3" fmla="*/ 96722 h 580320"/>
              <a:gd name="csX4" fmla="*/ 6377146 w 6377146"/>
              <a:gd name="csY4" fmla="*/ 483598 h 580320"/>
              <a:gd name="csX5" fmla="*/ 6280424 w 6377146"/>
              <a:gd name="csY5" fmla="*/ 580320 h 580320"/>
              <a:gd name="csX6" fmla="*/ 96722 w 6377146"/>
              <a:gd name="csY6" fmla="*/ 580320 h 580320"/>
              <a:gd name="csX7" fmla="*/ 0 w 6377146"/>
              <a:gd name="csY7" fmla="*/ 483598 h 580320"/>
              <a:gd name="csX8" fmla="*/ 0 w 6377146"/>
              <a:gd name="csY8" fmla="*/ 96722 h 5803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77146" h="580320">
                <a:moveTo>
                  <a:pt x="0" y="96722"/>
                </a:moveTo>
                <a:cubicBezTo>
                  <a:pt x="0" y="43304"/>
                  <a:pt x="43304" y="0"/>
                  <a:pt x="96722" y="0"/>
                </a:cubicBezTo>
                <a:lnTo>
                  <a:pt x="6280424" y="0"/>
                </a:lnTo>
                <a:cubicBezTo>
                  <a:pt x="6333842" y="0"/>
                  <a:pt x="6377146" y="43304"/>
                  <a:pt x="6377146" y="96722"/>
                </a:cubicBezTo>
                <a:lnTo>
                  <a:pt x="6377146" y="483598"/>
                </a:lnTo>
                <a:cubicBezTo>
                  <a:pt x="6377146" y="537016"/>
                  <a:pt x="6333842" y="580320"/>
                  <a:pt x="6280424" y="580320"/>
                </a:cubicBezTo>
                <a:lnTo>
                  <a:pt x="96722" y="580320"/>
                </a:lnTo>
                <a:cubicBezTo>
                  <a:pt x="43304" y="580320"/>
                  <a:pt x="0" y="537016"/>
                  <a:pt x="0" y="483598"/>
                </a:cubicBezTo>
                <a:lnTo>
                  <a:pt x="0" y="96722"/>
                </a:ln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5">
              <a:hueOff val="-9933876"/>
              <a:satOff val="39811"/>
              <a:lumOff val="8628"/>
              <a:alphaOff val="0"/>
            </a:schemeClr>
          </a:fillRef>
          <a:effectRef idx="1">
            <a:schemeClr val="accent5">
              <a:hueOff val="-9933876"/>
              <a:satOff val="39811"/>
              <a:lumOff val="8628"/>
              <a:alphaOff val="0"/>
            </a:schemeClr>
          </a:effectRef>
          <a:fontRef idx="minor">
            <a:schemeClr val="dk1"/>
          </a:fontRef>
        </p:style>
        <p:txBody>
          <a:bodyPr spcFirstLastPara="0" vert="horz" wrap="square" lIns="96909" tIns="96909" rIns="96909" bIns="96909" numCol="1" spcCol="1270" anchor="ctr" anchorCtr="0">
            <a:noAutofit/>
          </a:bodyPr>
          <a:lstStyle/>
          <a:p>
            <a:pPr marL="0" lvl="0" indent="0" algn="l" defTabSz="800100">
              <a:lnSpc>
                <a:spcPts val="3000"/>
              </a:lnSpc>
              <a:spcBef>
                <a:spcPts val="0"/>
              </a:spcBef>
              <a:spcAft>
                <a:spcPts val="0"/>
              </a:spcAft>
              <a:buNone/>
            </a:pPr>
            <a:r>
              <a:rPr lang="zh-CN" altLang="en-US" sz="1800" b="1" kern="1200" dirty="0">
                <a:latin typeface="微软雅黑" panose="020B0503020204020204" pitchFamily="34" charset="-122"/>
                <a:ea typeface="微软雅黑" panose="020B0503020204020204" pitchFamily="34" charset="-122"/>
              </a:rPr>
              <a:t>硬件端口</a:t>
            </a:r>
          </a:p>
        </p:txBody>
      </p:sp>
      <p:sp>
        <p:nvSpPr>
          <p:cNvPr id="9" name="任意多边形: 形状 8">
            <a:extLst>
              <a:ext uri="{FF2B5EF4-FFF2-40B4-BE49-F238E27FC236}">
                <a16:creationId xmlns:a16="http://schemas.microsoft.com/office/drawing/2014/main" id="{AED4A7E8-4044-3E41-9257-40CAF533C38D}"/>
              </a:ext>
            </a:extLst>
          </p:cNvPr>
          <p:cNvSpPr/>
          <p:nvPr/>
        </p:nvSpPr>
        <p:spPr>
          <a:xfrm>
            <a:off x="1505694" y="3582326"/>
            <a:ext cx="6377146" cy="513360"/>
          </a:xfrm>
          <a:custGeom>
            <a:avLst/>
            <a:gdLst>
              <a:gd name="csX0" fmla="*/ 0 w 6377146"/>
              <a:gd name="csY0" fmla="*/ 0 h 513360"/>
              <a:gd name="csX1" fmla="*/ 6377146 w 6377146"/>
              <a:gd name="csY1" fmla="*/ 0 h 513360"/>
              <a:gd name="csX2" fmla="*/ 6377146 w 6377146"/>
              <a:gd name="csY2" fmla="*/ 513360 h 513360"/>
              <a:gd name="csX3" fmla="*/ 0 w 6377146"/>
              <a:gd name="csY3" fmla="*/ 513360 h 513360"/>
              <a:gd name="csX4" fmla="*/ 0 w 6377146"/>
              <a:gd name="csY4" fmla="*/ 0 h 513360"/>
            </a:gdLst>
            <a:ahLst/>
            <a:cxnLst>
              <a:cxn ang="0">
                <a:pos x="csX0" y="csY0"/>
              </a:cxn>
              <a:cxn ang="0">
                <a:pos x="csX1" y="csY1"/>
              </a:cxn>
              <a:cxn ang="0">
                <a:pos x="csX2" y="csY2"/>
              </a:cxn>
              <a:cxn ang="0">
                <a:pos x="csX3" y="csY3"/>
              </a:cxn>
              <a:cxn ang="0">
                <a:pos x="csX4" y="csY4"/>
              </a:cxn>
            </a:cxnLst>
            <a:rect l="l" t="t" r="r" b="b"/>
            <a:pathLst>
              <a:path w="6377146" h="513360">
                <a:moveTo>
                  <a:pt x="0" y="0"/>
                </a:moveTo>
                <a:lnTo>
                  <a:pt x="6377146" y="0"/>
                </a:lnTo>
                <a:lnTo>
                  <a:pt x="6377146" y="513360"/>
                </a:lnTo>
                <a:lnTo>
                  <a:pt x="0" y="51336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02474" tIns="22860" rIns="128016" bIns="22860" numCol="1" spcCol="1270" anchor="t" anchorCtr="0">
            <a:noAutofit/>
          </a:bodyPr>
          <a:lstStyle/>
          <a:p>
            <a:pPr marL="171450" lvl="1" indent="-171450" algn="l" defTabSz="800100">
              <a:lnSpc>
                <a:spcPts val="3000"/>
              </a:lnSpc>
              <a:spcBef>
                <a:spcPts val="0"/>
              </a:spcBef>
              <a:spcAft>
                <a:spcPts val="0"/>
              </a:spcAft>
              <a:buChar char="•"/>
            </a:pPr>
            <a:r>
              <a:rPr lang="zh-CN" altLang="en-US" sz="1800" b="1" kern="1200" dirty="0">
                <a:latin typeface="微软雅黑" panose="020B0503020204020204" pitchFamily="34" charset="-122"/>
                <a:ea typeface="微软雅黑" panose="020B0503020204020204" pitchFamily="34" charset="-122"/>
              </a:rPr>
              <a:t>不同硬件</a:t>
            </a:r>
            <a:r>
              <a:rPr lang="zh-CN" altLang="en-US" sz="1800" b="1" kern="1200" dirty="0">
                <a:solidFill>
                  <a:srgbClr val="C00000"/>
                </a:solidFill>
                <a:latin typeface="微软雅黑" panose="020B0503020204020204" pitchFamily="34" charset="-122"/>
                <a:ea typeface="微软雅黑" panose="020B0503020204020204" pitchFamily="34" charset="-122"/>
              </a:rPr>
              <a:t>设备</a:t>
            </a:r>
            <a:r>
              <a:rPr lang="zh-CN" altLang="en-US" sz="1800" b="1" kern="1200" dirty="0">
                <a:latin typeface="微软雅黑" panose="020B0503020204020204" pitchFamily="34" charset="-122"/>
                <a:ea typeface="微软雅黑" panose="020B0503020204020204" pitchFamily="34" charset="-122"/>
              </a:rPr>
              <a:t>进行</a:t>
            </a:r>
            <a:r>
              <a:rPr lang="zh-CN" altLang="en-US" sz="1800" b="1" kern="1200" dirty="0">
                <a:solidFill>
                  <a:srgbClr val="C00000"/>
                </a:solidFill>
                <a:latin typeface="微软雅黑" panose="020B0503020204020204" pitchFamily="34" charset="-122"/>
                <a:ea typeface="微软雅黑" panose="020B0503020204020204" pitchFamily="34" charset="-122"/>
              </a:rPr>
              <a:t>交互</a:t>
            </a:r>
            <a:r>
              <a:rPr lang="zh-CN" altLang="en-US" sz="1800" b="1" kern="1200" dirty="0">
                <a:latin typeface="微软雅黑" panose="020B0503020204020204" pitchFamily="34" charset="-122"/>
                <a:ea typeface="微软雅黑" panose="020B0503020204020204" pitchFamily="34" charset="-122"/>
              </a:rPr>
              <a:t>的接口。</a:t>
            </a:r>
          </a:p>
        </p:txBody>
      </p:sp>
    </p:spTree>
    <p:extLst>
      <p:ext uri="{BB962C8B-B14F-4D97-AF65-F5344CB8AC3E}">
        <p14:creationId xmlns:p14="http://schemas.microsoft.com/office/powerpoint/2010/main" val="176425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圆角矩形 67"/>
          <p:cNvSpPr/>
          <p:nvPr/>
        </p:nvSpPr>
        <p:spPr>
          <a:xfrm>
            <a:off x="556963" y="2170619"/>
            <a:ext cx="8048776" cy="184793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AutoShape 5"/>
          <p:cNvSpPr>
            <a:spLocks noChangeArrowheads="1"/>
          </p:cNvSpPr>
          <p:nvPr/>
        </p:nvSpPr>
        <p:spPr bwMode="auto">
          <a:xfrm>
            <a:off x="556963" y="6170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2990403" y="583789"/>
            <a:ext cx="31818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TCP/IP </a:t>
            </a:r>
            <a:r>
              <a:rPr lang="zh-CN" altLang="en-US" sz="2000" b="1" dirty="0">
                <a:solidFill>
                  <a:schemeClr val="bg1"/>
                </a:solidFill>
                <a:latin typeface="微软雅黑" pitchFamily="34" charset="-122"/>
                <a:ea typeface="微软雅黑" pitchFamily="34" charset="-122"/>
              </a:rPr>
              <a:t>传输层端口的标志</a:t>
            </a:r>
          </a:p>
        </p:txBody>
      </p:sp>
      <p:sp>
        <p:nvSpPr>
          <p:cNvPr id="7" name="Rectangle 68"/>
          <p:cNvSpPr>
            <a:spLocks noChangeArrowheads="1"/>
          </p:cNvSpPr>
          <p:nvPr/>
        </p:nvSpPr>
        <p:spPr bwMode="auto">
          <a:xfrm>
            <a:off x="556963" y="971600"/>
            <a:ext cx="8184960" cy="12464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端口用一个 </a:t>
            </a:r>
            <a:r>
              <a:rPr lang="en-US" altLang="zh-CN" sz="2000" b="1" dirty="0">
                <a:solidFill>
                  <a:srgbClr val="C00000"/>
                </a:solidFill>
                <a:latin typeface="微软雅黑" pitchFamily="34" charset="-122"/>
                <a:ea typeface="微软雅黑" pitchFamily="34" charset="-122"/>
              </a:rPr>
              <a:t>16 </a:t>
            </a:r>
            <a:r>
              <a:rPr lang="zh-CN" altLang="en-US" sz="2000" b="1" dirty="0">
                <a:solidFill>
                  <a:srgbClr val="C00000"/>
                </a:solidFill>
                <a:latin typeface="微软雅黑" pitchFamily="34" charset="-122"/>
                <a:ea typeface="微软雅黑" pitchFamily="34" charset="-122"/>
              </a:rPr>
              <a:t>位端口号</a:t>
            </a:r>
            <a:r>
              <a:rPr lang="zh-CN" altLang="en-US" sz="2000" b="1" dirty="0">
                <a:latin typeface="微软雅黑" pitchFamily="34" charset="-122"/>
                <a:ea typeface="微软雅黑" pitchFamily="34" charset="-122"/>
              </a:rPr>
              <a:t>进行标志，允许有 </a:t>
            </a:r>
            <a:r>
              <a:rPr lang="en-US" altLang="zh-CN" sz="2000" b="1" dirty="0">
                <a:latin typeface="微软雅黑" pitchFamily="34" charset="-122"/>
                <a:ea typeface="微软雅黑" pitchFamily="34" charset="-122"/>
              </a:rPr>
              <a:t>65,535 </a:t>
            </a:r>
            <a:r>
              <a:rPr lang="zh-CN" altLang="en-US" sz="2000" b="1" dirty="0">
                <a:latin typeface="微软雅黑" pitchFamily="34" charset="-122"/>
                <a:ea typeface="微软雅黑" pitchFamily="34" charset="-122"/>
              </a:rPr>
              <a:t>个不同的端口号。</a:t>
            </a:r>
          </a:p>
          <a:p>
            <a:pPr marL="268288" indent="-268288">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端口号只具有</a:t>
            </a:r>
            <a:r>
              <a:rPr lang="zh-CN" altLang="en-US" sz="2000" b="1" dirty="0">
                <a:solidFill>
                  <a:srgbClr val="C00000"/>
                </a:solidFill>
                <a:latin typeface="微软雅黑" pitchFamily="34" charset="-122"/>
                <a:ea typeface="微软雅黑" pitchFamily="34" charset="-122"/>
              </a:rPr>
              <a:t>本地意义，</a:t>
            </a:r>
            <a:r>
              <a:rPr lang="zh-CN" altLang="en-US" sz="2000" b="1" dirty="0">
                <a:latin typeface="微软雅黑" pitchFamily="34" charset="-122"/>
                <a:ea typeface="微软雅黑" pitchFamily="34" charset="-122"/>
              </a:rPr>
              <a:t>只是为了标志</a:t>
            </a:r>
            <a:r>
              <a:rPr lang="zh-CN" altLang="en-US" sz="2000" b="1" dirty="0">
                <a:solidFill>
                  <a:srgbClr val="0000FF"/>
                </a:solidFill>
                <a:latin typeface="微软雅黑" pitchFamily="34" charset="-122"/>
                <a:ea typeface="微软雅黑" pitchFamily="34" charset="-122"/>
              </a:rPr>
              <a:t>本计算机应用层中的各进程</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268288" indent="-268288">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在互联网中，不同计算机的相同端口号没有联系。</a:t>
            </a:r>
          </a:p>
        </p:txBody>
      </p:sp>
      <p:grpSp>
        <p:nvGrpSpPr>
          <p:cNvPr id="67" name="组合 66"/>
          <p:cNvGrpSpPr/>
          <p:nvPr/>
        </p:nvGrpSpPr>
        <p:grpSpPr>
          <a:xfrm>
            <a:off x="2452764" y="2278276"/>
            <a:ext cx="4079887" cy="1740276"/>
            <a:chOff x="2452764" y="2487614"/>
            <a:chExt cx="4079887" cy="1740276"/>
          </a:xfrm>
        </p:grpSpPr>
        <p:grpSp>
          <p:nvGrpSpPr>
            <p:cNvPr id="4" name="组合 3"/>
            <p:cNvGrpSpPr/>
            <p:nvPr/>
          </p:nvGrpSpPr>
          <p:grpSpPr>
            <a:xfrm>
              <a:off x="5036729" y="2487614"/>
              <a:ext cx="1495922" cy="1740276"/>
              <a:chOff x="5020936" y="2487613"/>
              <a:chExt cx="1922848" cy="2160773"/>
            </a:xfrm>
          </p:grpSpPr>
          <p:grpSp>
            <p:nvGrpSpPr>
              <p:cNvPr id="25" name="Group 223"/>
              <p:cNvGrpSpPr>
                <a:grpSpLocks/>
              </p:cNvGrpSpPr>
              <p:nvPr/>
            </p:nvGrpSpPr>
            <p:grpSpPr bwMode="auto">
              <a:xfrm>
                <a:off x="5025269" y="2487613"/>
                <a:ext cx="1819273" cy="1360190"/>
                <a:chOff x="1234" y="3088"/>
                <a:chExt cx="572" cy="571"/>
              </a:xfrm>
            </p:grpSpPr>
            <p:sp>
              <p:nvSpPr>
                <p:cNvPr id="26" name="Rectangle 224"/>
                <p:cNvSpPr>
                  <a:spLocks noChangeArrowheads="1"/>
                </p:cNvSpPr>
                <p:nvPr/>
              </p:nvSpPr>
              <p:spPr bwMode="auto">
                <a:xfrm>
                  <a:off x="1270" y="3127"/>
                  <a:ext cx="503" cy="376"/>
                </a:xfrm>
                <a:prstGeom prst="rect">
                  <a:avLst/>
                </a:prstGeom>
                <a:solidFill>
                  <a:srgbClr val="0000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27" name="Freeform 225"/>
                <p:cNvSpPr>
                  <a:spLocks noEditPoints="1"/>
                </p:cNvSpPr>
                <p:nvPr/>
              </p:nvSpPr>
              <p:spPr bwMode="auto">
                <a:xfrm>
                  <a:off x="1234" y="3088"/>
                  <a:ext cx="572" cy="476"/>
                </a:xfrm>
                <a:custGeom>
                  <a:avLst/>
                  <a:gdLst>
                    <a:gd name="T0" fmla="*/ 0 w 10862"/>
                    <a:gd name="T1" fmla="*/ 0 h 9055"/>
                    <a:gd name="T2" fmla="*/ 572 w 10862"/>
                    <a:gd name="T3" fmla="*/ 0 h 9055"/>
                    <a:gd name="T4" fmla="*/ 572 w 10862"/>
                    <a:gd name="T5" fmla="*/ 476 h 9055"/>
                    <a:gd name="T6" fmla="*/ 0 w 10862"/>
                    <a:gd name="T7" fmla="*/ 476 h 9055"/>
                    <a:gd name="T8" fmla="*/ 0 w 10862"/>
                    <a:gd name="T9" fmla="*/ 0 h 9055"/>
                    <a:gd name="T10" fmla="*/ 51 w 10862"/>
                    <a:gd name="T11" fmla="*/ 48 h 9055"/>
                    <a:gd name="T12" fmla="*/ 527 w 10862"/>
                    <a:gd name="T13" fmla="*/ 48 h 9055"/>
                    <a:gd name="T14" fmla="*/ 527 w 10862"/>
                    <a:gd name="T15" fmla="*/ 403 h 9055"/>
                    <a:gd name="T16" fmla="*/ 51 w 10862"/>
                    <a:gd name="T17" fmla="*/ 403 h 9055"/>
                    <a:gd name="T18" fmla="*/ 51 w 10862"/>
                    <a:gd name="T19" fmla="*/ 48 h 90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862" h="9055">
                      <a:moveTo>
                        <a:pt x="0" y="0"/>
                      </a:moveTo>
                      <a:lnTo>
                        <a:pt x="10862" y="0"/>
                      </a:lnTo>
                      <a:lnTo>
                        <a:pt x="10862" y="9055"/>
                      </a:lnTo>
                      <a:lnTo>
                        <a:pt x="0" y="9055"/>
                      </a:lnTo>
                      <a:lnTo>
                        <a:pt x="0" y="0"/>
                      </a:lnTo>
                      <a:close/>
                      <a:moveTo>
                        <a:pt x="963" y="922"/>
                      </a:moveTo>
                      <a:lnTo>
                        <a:pt x="9998" y="922"/>
                      </a:lnTo>
                      <a:lnTo>
                        <a:pt x="9998" y="7663"/>
                      </a:lnTo>
                      <a:lnTo>
                        <a:pt x="963" y="7663"/>
                      </a:lnTo>
                      <a:lnTo>
                        <a:pt x="963" y="922"/>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sz="2000"/>
                </a:p>
              </p:txBody>
            </p:sp>
            <p:sp>
              <p:nvSpPr>
                <p:cNvPr id="28" name="Rectangle 226"/>
                <p:cNvSpPr>
                  <a:spLocks noChangeArrowheads="1"/>
                </p:cNvSpPr>
                <p:nvPr/>
              </p:nvSpPr>
              <p:spPr bwMode="auto">
                <a:xfrm>
                  <a:off x="1285" y="3136"/>
                  <a:ext cx="475" cy="8"/>
                </a:xfrm>
                <a:prstGeom prst="rect">
                  <a:avLst/>
                </a:prstGeom>
                <a:solidFill>
                  <a:srgbClr val="1F1A1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29" name="Rectangle 227"/>
                <p:cNvSpPr>
                  <a:spLocks noChangeArrowheads="1"/>
                </p:cNvSpPr>
                <p:nvPr/>
              </p:nvSpPr>
              <p:spPr bwMode="auto">
                <a:xfrm>
                  <a:off x="1285" y="3138"/>
                  <a:ext cx="9" cy="349"/>
                </a:xfrm>
                <a:prstGeom prst="rect">
                  <a:avLst/>
                </a:prstGeom>
                <a:solidFill>
                  <a:srgbClr val="1F1A1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30" name="Rectangle 228"/>
                <p:cNvSpPr>
                  <a:spLocks noChangeArrowheads="1"/>
                </p:cNvSpPr>
                <p:nvPr/>
              </p:nvSpPr>
              <p:spPr bwMode="auto">
                <a:xfrm>
                  <a:off x="1752" y="3136"/>
                  <a:ext cx="8" cy="3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31" name="Rectangle 229"/>
                <p:cNvSpPr>
                  <a:spLocks noChangeArrowheads="1"/>
                </p:cNvSpPr>
                <p:nvPr/>
              </p:nvSpPr>
              <p:spPr bwMode="auto">
                <a:xfrm>
                  <a:off x="1285" y="3482"/>
                  <a:ext cx="475" cy="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32" name="Rectangle 230"/>
                <p:cNvSpPr>
                  <a:spLocks noChangeArrowheads="1"/>
                </p:cNvSpPr>
                <p:nvPr/>
              </p:nvSpPr>
              <p:spPr bwMode="auto">
                <a:xfrm>
                  <a:off x="1417" y="3565"/>
                  <a:ext cx="228" cy="32"/>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33" name="Rectangle 231"/>
                <p:cNvSpPr>
                  <a:spLocks noChangeArrowheads="1"/>
                </p:cNvSpPr>
                <p:nvPr/>
              </p:nvSpPr>
              <p:spPr bwMode="auto">
                <a:xfrm>
                  <a:off x="1436" y="3598"/>
                  <a:ext cx="186" cy="19"/>
                </a:xfrm>
                <a:prstGeom prst="rect">
                  <a:avLst/>
                </a:prstGeom>
                <a:solidFill>
                  <a:srgbClr val="3253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34" name="Rectangle 232"/>
                <p:cNvSpPr>
                  <a:spLocks noChangeArrowheads="1"/>
                </p:cNvSpPr>
                <p:nvPr/>
              </p:nvSpPr>
              <p:spPr bwMode="auto">
                <a:xfrm>
                  <a:off x="1334" y="3620"/>
                  <a:ext cx="384" cy="39"/>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grpSp>
          <p:grpSp>
            <p:nvGrpSpPr>
              <p:cNvPr id="35" name="Group 5"/>
              <p:cNvGrpSpPr>
                <a:grpSpLocks/>
              </p:cNvGrpSpPr>
              <p:nvPr/>
            </p:nvGrpSpPr>
            <p:grpSpPr bwMode="auto">
              <a:xfrm>
                <a:off x="5055491" y="3835401"/>
                <a:ext cx="1828800" cy="451861"/>
                <a:chOff x="3504" y="3216"/>
                <a:chExt cx="1200" cy="496"/>
              </a:xfrm>
              <a:solidFill>
                <a:srgbClr val="66FFFF"/>
              </a:solidFill>
            </p:grpSpPr>
            <p:sp>
              <p:nvSpPr>
                <p:cNvPr id="36" name="Rectangle 6"/>
                <p:cNvSpPr>
                  <a:spLocks noChangeArrowheads="1"/>
                </p:cNvSpPr>
                <p:nvPr/>
              </p:nvSpPr>
              <p:spPr bwMode="auto">
                <a:xfrm>
                  <a:off x="3504" y="3216"/>
                  <a:ext cx="1200" cy="496"/>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37" name="Rectangle 7"/>
                <p:cNvSpPr>
                  <a:spLocks noChangeArrowheads="1"/>
                </p:cNvSpPr>
                <p:nvPr/>
              </p:nvSpPr>
              <p:spPr bwMode="auto">
                <a:xfrm>
                  <a:off x="3648" y="3419"/>
                  <a:ext cx="240"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70</a:t>
                  </a:r>
                  <a:endParaRPr kumimoji="1" lang="zh-CN" altLang="en-US" sz="1200" b="1" dirty="0">
                    <a:latin typeface="微软雅黑" pitchFamily="34" charset="-122"/>
                    <a:ea typeface="微软雅黑" pitchFamily="34" charset="-122"/>
                  </a:endParaRPr>
                </a:p>
              </p:txBody>
            </p:sp>
            <p:sp>
              <p:nvSpPr>
                <p:cNvPr id="38" name="Rectangle 8"/>
                <p:cNvSpPr>
                  <a:spLocks noChangeArrowheads="1"/>
                </p:cNvSpPr>
                <p:nvPr/>
              </p:nvSpPr>
              <p:spPr bwMode="auto">
                <a:xfrm>
                  <a:off x="3984" y="3419"/>
                  <a:ext cx="240"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200" b="1">
                      <a:latin typeface="微软雅黑" pitchFamily="34" charset="-122"/>
                      <a:ea typeface="微软雅黑" pitchFamily="34" charset="-122"/>
                    </a:rPr>
                    <a:t>80</a:t>
                  </a:r>
                </a:p>
              </p:txBody>
            </p:sp>
            <p:sp>
              <p:nvSpPr>
                <p:cNvPr id="39" name="Rectangle 9"/>
                <p:cNvSpPr>
                  <a:spLocks noChangeArrowheads="1"/>
                </p:cNvSpPr>
                <p:nvPr/>
              </p:nvSpPr>
              <p:spPr bwMode="auto">
                <a:xfrm>
                  <a:off x="4320" y="3419"/>
                  <a:ext cx="240"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90</a:t>
                  </a:r>
                  <a:endParaRPr kumimoji="1" lang="zh-CN" altLang="en-US" sz="1200" b="1" dirty="0">
                    <a:latin typeface="微软雅黑" pitchFamily="34" charset="-122"/>
                    <a:ea typeface="微软雅黑" pitchFamily="34" charset="-122"/>
                  </a:endParaRPr>
                </a:p>
              </p:txBody>
            </p:sp>
          </p:grpSp>
          <p:sp>
            <p:nvSpPr>
              <p:cNvPr id="40" name="Oval 13"/>
              <p:cNvSpPr>
                <a:spLocks noChangeArrowheads="1"/>
              </p:cNvSpPr>
              <p:nvPr/>
            </p:nvSpPr>
            <p:spPr bwMode="auto">
              <a:xfrm>
                <a:off x="5743263" y="2818789"/>
                <a:ext cx="381000" cy="381000"/>
              </a:xfrm>
              <a:prstGeom prst="ellipse">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P2</a:t>
                </a:r>
              </a:p>
            </p:txBody>
          </p:sp>
          <p:sp>
            <p:nvSpPr>
              <p:cNvPr id="41" name="Oval 14"/>
              <p:cNvSpPr>
                <a:spLocks noChangeArrowheads="1"/>
              </p:cNvSpPr>
              <p:nvPr/>
            </p:nvSpPr>
            <p:spPr bwMode="auto">
              <a:xfrm>
                <a:off x="5224517" y="2719143"/>
                <a:ext cx="381000" cy="381000"/>
              </a:xfrm>
              <a:prstGeom prst="ellipse">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P1</a:t>
                </a:r>
              </a:p>
            </p:txBody>
          </p:sp>
          <p:sp>
            <p:nvSpPr>
              <p:cNvPr id="42" name="Oval 15"/>
              <p:cNvSpPr>
                <a:spLocks noChangeArrowheads="1"/>
              </p:cNvSpPr>
              <p:nvPr/>
            </p:nvSpPr>
            <p:spPr bwMode="auto">
              <a:xfrm>
                <a:off x="6215117" y="2719143"/>
                <a:ext cx="381000" cy="381000"/>
              </a:xfrm>
              <a:prstGeom prst="ellipse">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P3</a:t>
                </a:r>
              </a:p>
            </p:txBody>
          </p:sp>
          <p:sp>
            <p:nvSpPr>
              <p:cNvPr id="43" name="AutoShape 16"/>
              <p:cNvSpPr>
                <a:spLocks noChangeArrowheads="1"/>
              </p:cNvSpPr>
              <p:nvPr/>
            </p:nvSpPr>
            <p:spPr bwMode="auto">
              <a:xfrm>
                <a:off x="5826466" y="3234959"/>
                <a:ext cx="225486" cy="671900"/>
              </a:xfrm>
              <a:prstGeom prst="upArrow">
                <a:avLst>
                  <a:gd name="adj1" fmla="val 50000"/>
                  <a:gd name="adj2" fmla="val 45000"/>
                </a:avLst>
              </a:prstGeom>
              <a:solidFill>
                <a:srgbClr val="FF66FF"/>
              </a:solidFill>
              <a:ln w="9525">
                <a:solidFill>
                  <a:schemeClr val="tx1"/>
                </a:solidFill>
                <a:miter lim="800000"/>
                <a:headEnd/>
                <a:tailEnd/>
              </a:ln>
              <a:effectLst/>
            </p:spPr>
            <p:txBody>
              <a:bodyPr wrap="none" anchor="ctr"/>
              <a:lstStyle/>
              <a:p>
                <a:endParaRPr lang="zh-CN" altLang="en-US" sz="1600"/>
              </a:p>
            </p:txBody>
          </p:sp>
          <p:sp>
            <p:nvSpPr>
              <p:cNvPr id="12" name="Text Box 10"/>
              <p:cNvSpPr txBox="1">
                <a:spLocks noChangeArrowheads="1"/>
              </p:cNvSpPr>
              <p:nvPr/>
            </p:nvSpPr>
            <p:spPr bwMode="auto">
              <a:xfrm>
                <a:off x="5020936" y="4266242"/>
                <a:ext cx="1922848" cy="382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C00000"/>
                    </a:solidFill>
                    <a:latin typeface="微软雅黑" pitchFamily="34" charset="-122"/>
                    <a:ea typeface="微软雅黑" pitchFamily="34" charset="-122"/>
                  </a:rPr>
                  <a:t>1</a:t>
                </a:r>
                <a:r>
                  <a:rPr kumimoji="1" lang="en-US" altLang="zh-CN" sz="1400" b="1" dirty="0">
                    <a:solidFill>
                      <a:srgbClr val="C00000"/>
                    </a:solidFill>
                    <a:latin typeface="微软雅黑" pitchFamily="34" charset="-122"/>
                    <a:ea typeface="微软雅黑" pitchFamily="34" charset="-122"/>
                  </a:rPr>
                  <a:t>92</a:t>
                </a:r>
                <a:r>
                  <a:rPr kumimoji="1" lang="zh-CN" altLang="en-US" sz="1400" b="1" dirty="0">
                    <a:solidFill>
                      <a:srgbClr val="C00000"/>
                    </a:solidFill>
                    <a:latin typeface="微软雅黑" pitchFamily="34" charset="-122"/>
                    <a:ea typeface="微软雅黑" pitchFamily="34" charset="-122"/>
                  </a:rPr>
                  <a:t>.1</a:t>
                </a:r>
                <a:r>
                  <a:rPr kumimoji="1" lang="en-US" altLang="zh-CN" sz="1400" b="1" dirty="0">
                    <a:solidFill>
                      <a:srgbClr val="C00000"/>
                    </a:solidFill>
                    <a:latin typeface="微软雅黑" pitchFamily="34" charset="-122"/>
                    <a:ea typeface="微软雅黑" pitchFamily="34" charset="-122"/>
                  </a:rPr>
                  <a:t>68</a:t>
                </a:r>
                <a:r>
                  <a:rPr kumimoji="1" lang="zh-CN" altLang="en-US" sz="1400" b="1" dirty="0">
                    <a:solidFill>
                      <a:srgbClr val="C00000"/>
                    </a:solidFill>
                    <a:latin typeface="微软雅黑" pitchFamily="34" charset="-122"/>
                    <a:ea typeface="微软雅黑" pitchFamily="34" charset="-122"/>
                  </a:rPr>
                  <a:t>.</a:t>
                </a:r>
                <a:r>
                  <a:rPr kumimoji="1" lang="en-US" altLang="zh-CN" sz="1400" b="1" dirty="0">
                    <a:solidFill>
                      <a:srgbClr val="C00000"/>
                    </a:solidFill>
                    <a:latin typeface="微软雅黑" pitchFamily="34" charset="-122"/>
                    <a:ea typeface="微软雅黑" pitchFamily="34" charset="-122"/>
                  </a:rPr>
                  <a:t>1</a:t>
                </a:r>
                <a:r>
                  <a:rPr kumimoji="1" lang="zh-CN" altLang="en-US" sz="1400" b="1" dirty="0">
                    <a:solidFill>
                      <a:srgbClr val="C00000"/>
                    </a:solidFill>
                    <a:latin typeface="微软雅黑" pitchFamily="34" charset="-122"/>
                    <a:ea typeface="微软雅黑" pitchFamily="34" charset="-122"/>
                  </a:rPr>
                  <a:t>.</a:t>
                </a:r>
                <a:r>
                  <a:rPr kumimoji="1" lang="en-US" altLang="zh-CN" sz="1400" b="1" dirty="0">
                    <a:solidFill>
                      <a:srgbClr val="C00000"/>
                    </a:solidFill>
                    <a:latin typeface="微软雅黑" pitchFamily="34" charset="-122"/>
                    <a:ea typeface="微软雅黑" pitchFamily="34" charset="-122"/>
                  </a:rPr>
                  <a:t>7</a:t>
                </a:r>
                <a:r>
                  <a:rPr kumimoji="1" lang="zh-CN" altLang="en-US" sz="1400" b="1" dirty="0">
                    <a:solidFill>
                      <a:srgbClr val="C00000"/>
                    </a:solidFill>
                    <a:latin typeface="微软雅黑" pitchFamily="34" charset="-122"/>
                    <a:ea typeface="微软雅黑" pitchFamily="34" charset="-122"/>
                  </a:rPr>
                  <a:t>:80</a:t>
                </a:r>
                <a:endParaRPr kumimoji="1" lang="en-US" altLang="zh-CN" sz="1400" b="1" dirty="0">
                  <a:solidFill>
                    <a:srgbClr val="C00000"/>
                  </a:solidFill>
                  <a:latin typeface="微软雅黑" pitchFamily="34" charset="-122"/>
                  <a:ea typeface="微软雅黑" pitchFamily="34" charset="-122"/>
                </a:endParaRPr>
              </a:p>
            </p:txBody>
          </p:sp>
        </p:grpSp>
        <p:grpSp>
          <p:nvGrpSpPr>
            <p:cNvPr id="3" name="组合 2"/>
            <p:cNvGrpSpPr/>
            <p:nvPr/>
          </p:nvGrpSpPr>
          <p:grpSpPr>
            <a:xfrm>
              <a:off x="2452764" y="2487614"/>
              <a:ext cx="1606529" cy="1740276"/>
              <a:chOff x="1859918" y="2487613"/>
              <a:chExt cx="2065020" cy="2160773"/>
            </a:xfrm>
          </p:grpSpPr>
          <p:grpSp>
            <p:nvGrpSpPr>
              <p:cNvPr id="44" name="Group 223"/>
              <p:cNvGrpSpPr>
                <a:grpSpLocks/>
              </p:cNvGrpSpPr>
              <p:nvPr/>
            </p:nvGrpSpPr>
            <p:grpSpPr bwMode="auto">
              <a:xfrm>
                <a:off x="1935339" y="2487613"/>
                <a:ext cx="1819273" cy="1360190"/>
                <a:chOff x="1234" y="3088"/>
                <a:chExt cx="572" cy="571"/>
              </a:xfrm>
            </p:grpSpPr>
            <p:sp>
              <p:nvSpPr>
                <p:cNvPr id="45" name="Rectangle 224"/>
                <p:cNvSpPr>
                  <a:spLocks noChangeArrowheads="1"/>
                </p:cNvSpPr>
                <p:nvPr/>
              </p:nvSpPr>
              <p:spPr bwMode="auto">
                <a:xfrm>
                  <a:off x="1270" y="3127"/>
                  <a:ext cx="503" cy="376"/>
                </a:xfrm>
                <a:prstGeom prst="rect">
                  <a:avLst/>
                </a:prstGeom>
                <a:solidFill>
                  <a:srgbClr val="0000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46" name="Freeform 225"/>
                <p:cNvSpPr>
                  <a:spLocks noEditPoints="1"/>
                </p:cNvSpPr>
                <p:nvPr/>
              </p:nvSpPr>
              <p:spPr bwMode="auto">
                <a:xfrm>
                  <a:off x="1234" y="3088"/>
                  <a:ext cx="572" cy="476"/>
                </a:xfrm>
                <a:custGeom>
                  <a:avLst/>
                  <a:gdLst>
                    <a:gd name="T0" fmla="*/ 0 w 10862"/>
                    <a:gd name="T1" fmla="*/ 0 h 9055"/>
                    <a:gd name="T2" fmla="*/ 572 w 10862"/>
                    <a:gd name="T3" fmla="*/ 0 h 9055"/>
                    <a:gd name="T4" fmla="*/ 572 w 10862"/>
                    <a:gd name="T5" fmla="*/ 476 h 9055"/>
                    <a:gd name="T6" fmla="*/ 0 w 10862"/>
                    <a:gd name="T7" fmla="*/ 476 h 9055"/>
                    <a:gd name="T8" fmla="*/ 0 w 10862"/>
                    <a:gd name="T9" fmla="*/ 0 h 9055"/>
                    <a:gd name="T10" fmla="*/ 51 w 10862"/>
                    <a:gd name="T11" fmla="*/ 48 h 9055"/>
                    <a:gd name="T12" fmla="*/ 527 w 10862"/>
                    <a:gd name="T13" fmla="*/ 48 h 9055"/>
                    <a:gd name="T14" fmla="*/ 527 w 10862"/>
                    <a:gd name="T15" fmla="*/ 403 h 9055"/>
                    <a:gd name="T16" fmla="*/ 51 w 10862"/>
                    <a:gd name="T17" fmla="*/ 403 h 9055"/>
                    <a:gd name="T18" fmla="*/ 51 w 10862"/>
                    <a:gd name="T19" fmla="*/ 48 h 90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862" h="9055">
                      <a:moveTo>
                        <a:pt x="0" y="0"/>
                      </a:moveTo>
                      <a:lnTo>
                        <a:pt x="10862" y="0"/>
                      </a:lnTo>
                      <a:lnTo>
                        <a:pt x="10862" y="9055"/>
                      </a:lnTo>
                      <a:lnTo>
                        <a:pt x="0" y="9055"/>
                      </a:lnTo>
                      <a:lnTo>
                        <a:pt x="0" y="0"/>
                      </a:lnTo>
                      <a:close/>
                      <a:moveTo>
                        <a:pt x="963" y="922"/>
                      </a:moveTo>
                      <a:lnTo>
                        <a:pt x="9998" y="922"/>
                      </a:lnTo>
                      <a:lnTo>
                        <a:pt x="9998" y="7663"/>
                      </a:lnTo>
                      <a:lnTo>
                        <a:pt x="963" y="7663"/>
                      </a:lnTo>
                      <a:lnTo>
                        <a:pt x="963" y="922"/>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sz="2000"/>
                </a:p>
              </p:txBody>
            </p:sp>
            <p:sp>
              <p:nvSpPr>
                <p:cNvPr id="47" name="Rectangle 226"/>
                <p:cNvSpPr>
                  <a:spLocks noChangeArrowheads="1"/>
                </p:cNvSpPr>
                <p:nvPr/>
              </p:nvSpPr>
              <p:spPr bwMode="auto">
                <a:xfrm>
                  <a:off x="1285" y="3136"/>
                  <a:ext cx="475" cy="8"/>
                </a:xfrm>
                <a:prstGeom prst="rect">
                  <a:avLst/>
                </a:prstGeom>
                <a:solidFill>
                  <a:srgbClr val="1F1A1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48" name="Rectangle 227"/>
                <p:cNvSpPr>
                  <a:spLocks noChangeArrowheads="1"/>
                </p:cNvSpPr>
                <p:nvPr/>
              </p:nvSpPr>
              <p:spPr bwMode="auto">
                <a:xfrm>
                  <a:off x="1285" y="3138"/>
                  <a:ext cx="9" cy="349"/>
                </a:xfrm>
                <a:prstGeom prst="rect">
                  <a:avLst/>
                </a:prstGeom>
                <a:solidFill>
                  <a:srgbClr val="1F1A1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49" name="Rectangle 228"/>
                <p:cNvSpPr>
                  <a:spLocks noChangeArrowheads="1"/>
                </p:cNvSpPr>
                <p:nvPr/>
              </p:nvSpPr>
              <p:spPr bwMode="auto">
                <a:xfrm>
                  <a:off x="1752" y="3136"/>
                  <a:ext cx="8" cy="3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50" name="Rectangle 229"/>
                <p:cNvSpPr>
                  <a:spLocks noChangeArrowheads="1"/>
                </p:cNvSpPr>
                <p:nvPr/>
              </p:nvSpPr>
              <p:spPr bwMode="auto">
                <a:xfrm>
                  <a:off x="1285" y="3482"/>
                  <a:ext cx="475" cy="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51" name="Rectangle 230"/>
                <p:cNvSpPr>
                  <a:spLocks noChangeArrowheads="1"/>
                </p:cNvSpPr>
                <p:nvPr/>
              </p:nvSpPr>
              <p:spPr bwMode="auto">
                <a:xfrm>
                  <a:off x="1417" y="3565"/>
                  <a:ext cx="228" cy="32"/>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52" name="Rectangle 231"/>
                <p:cNvSpPr>
                  <a:spLocks noChangeArrowheads="1"/>
                </p:cNvSpPr>
                <p:nvPr/>
              </p:nvSpPr>
              <p:spPr bwMode="auto">
                <a:xfrm>
                  <a:off x="1436" y="3598"/>
                  <a:ext cx="186" cy="19"/>
                </a:xfrm>
                <a:prstGeom prst="rect">
                  <a:avLst/>
                </a:prstGeom>
                <a:solidFill>
                  <a:srgbClr val="3253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53" name="Rectangle 232"/>
                <p:cNvSpPr>
                  <a:spLocks noChangeArrowheads="1"/>
                </p:cNvSpPr>
                <p:nvPr/>
              </p:nvSpPr>
              <p:spPr bwMode="auto">
                <a:xfrm>
                  <a:off x="1334" y="3620"/>
                  <a:ext cx="384" cy="39"/>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grpSp>
          <p:grpSp>
            <p:nvGrpSpPr>
              <p:cNvPr id="54" name="Group 5"/>
              <p:cNvGrpSpPr>
                <a:grpSpLocks/>
              </p:cNvGrpSpPr>
              <p:nvPr/>
            </p:nvGrpSpPr>
            <p:grpSpPr bwMode="auto">
              <a:xfrm>
                <a:off x="1965561" y="3835401"/>
                <a:ext cx="1828800" cy="451861"/>
                <a:chOff x="3504" y="3216"/>
                <a:chExt cx="1200" cy="496"/>
              </a:xfrm>
              <a:solidFill>
                <a:srgbClr val="66FFFF"/>
              </a:solidFill>
            </p:grpSpPr>
            <p:sp>
              <p:nvSpPr>
                <p:cNvPr id="55" name="Rectangle 6"/>
                <p:cNvSpPr>
                  <a:spLocks noChangeArrowheads="1"/>
                </p:cNvSpPr>
                <p:nvPr/>
              </p:nvSpPr>
              <p:spPr bwMode="auto">
                <a:xfrm>
                  <a:off x="3504" y="3216"/>
                  <a:ext cx="1200" cy="496"/>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56" name="Rectangle 7"/>
                <p:cNvSpPr>
                  <a:spLocks noChangeArrowheads="1"/>
                </p:cNvSpPr>
                <p:nvPr/>
              </p:nvSpPr>
              <p:spPr bwMode="auto">
                <a:xfrm>
                  <a:off x="3648" y="3419"/>
                  <a:ext cx="240"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70</a:t>
                  </a:r>
                  <a:endParaRPr kumimoji="1" lang="zh-CN" altLang="en-US" sz="1200" b="1" dirty="0">
                    <a:latin typeface="微软雅黑" pitchFamily="34" charset="-122"/>
                    <a:ea typeface="微软雅黑" pitchFamily="34" charset="-122"/>
                  </a:endParaRPr>
                </a:p>
              </p:txBody>
            </p:sp>
            <p:sp>
              <p:nvSpPr>
                <p:cNvPr id="57" name="Rectangle 8"/>
                <p:cNvSpPr>
                  <a:spLocks noChangeArrowheads="1"/>
                </p:cNvSpPr>
                <p:nvPr/>
              </p:nvSpPr>
              <p:spPr bwMode="auto">
                <a:xfrm>
                  <a:off x="3984" y="3419"/>
                  <a:ext cx="240"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200" b="1">
                      <a:latin typeface="微软雅黑" pitchFamily="34" charset="-122"/>
                      <a:ea typeface="微软雅黑" pitchFamily="34" charset="-122"/>
                    </a:rPr>
                    <a:t>80</a:t>
                  </a:r>
                </a:p>
              </p:txBody>
            </p:sp>
            <p:sp>
              <p:nvSpPr>
                <p:cNvPr id="58" name="Rectangle 9"/>
                <p:cNvSpPr>
                  <a:spLocks noChangeArrowheads="1"/>
                </p:cNvSpPr>
                <p:nvPr/>
              </p:nvSpPr>
              <p:spPr bwMode="auto">
                <a:xfrm>
                  <a:off x="4320" y="3419"/>
                  <a:ext cx="240"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90</a:t>
                  </a:r>
                  <a:endParaRPr kumimoji="1" lang="zh-CN" altLang="en-US" sz="1200" b="1" dirty="0">
                    <a:latin typeface="微软雅黑" pitchFamily="34" charset="-122"/>
                    <a:ea typeface="微软雅黑" pitchFamily="34" charset="-122"/>
                  </a:endParaRPr>
                </a:p>
              </p:txBody>
            </p:sp>
          </p:grpSp>
          <p:sp>
            <p:nvSpPr>
              <p:cNvPr id="59" name="Oval 13"/>
              <p:cNvSpPr>
                <a:spLocks noChangeArrowheads="1"/>
              </p:cNvSpPr>
              <p:nvPr/>
            </p:nvSpPr>
            <p:spPr bwMode="auto">
              <a:xfrm>
                <a:off x="2653333" y="2818789"/>
                <a:ext cx="381000" cy="381000"/>
              </a:xfrm>
              <a:prstGeom prst="ellipse">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P2</a:t>
                </a:r>
              </a:p>
            </p:txBody>
          </p:sp>
          <p:sp>
            <p:nvSpPr>
              <p:cNvPr id="60" name="Oval 14"/>
              <p:cNvSpPr>
                <a:spLocks noChangeArrowheads="1"/>
              </p:cNvSpPr>
              <p:nvPr/>
            </p:nvSpPr>
            <p:spPr bwMode="auto">
              <a:xfrm>
                <a:off x="2134587" y="2719143"/>
                <a:ext cx="381000" cy="381000"/>
              </a:xfrm>
              <a:prstGeom prst="ellipse">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P1</a:t>
                </a:r>
              </a:p>
            </p:txBody>
          </p:sp>
          <p:sp>
            <p:nvSpPr>
              <p:cNvPr id="61" name="Oval 15"/>
              <p:cNvSpPr>
                <a:spLocks noChangeArrowheads="1"/>
              </p:cNvSpPr>
              <p:nvPr/>
            </p:nvSpPr>
            <p:spPr bwMode="auto">
              <a:xfrm>
                <a:off x="3125187" y="2719143"/>
                <a:ext cx="381000" cy="381000"/>
              </a:xfrm>
              <a:prstGeom prst="ellipse">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P3</a:t>
                </a:r>
              </a:p>
            </p:txBody>
          </p:sp>
          <p:sp>
            <p:nvSpPr>
              <p:cNvPr id="62" name="AutoShape 16"/>
              <p:cNvSpPr>
                <a:spLocks noChangeArrowheads="1"/>
              </p:cNvSpPr>
              <p:nvPr/>
            </p:nvSpPr>
            <p:spPr bwMode="auto">
              <a:xfrm>
                <a:off x="2736536" y="3234959"/>
                <a:ext cx="225486" cy="671900"/>
              </a:xfrm>
              <a:prstGeom prst="upArrow">
                <a:avLst>
                  <a:gd name="adj1" fmla="val 50000"/>
                  <a:gd name="adj2" fmla="val 45000"/>
                </a:avLst>
              </a:prstGeom>
              <a:solidFill>
                <a:srgbClr val="FF66FF"/>
              </a:solidFill>
              <a:ln w="9525">
                <a:solidFill>
                  <a:schemeClr val="tx1"/>
                </a:solidFill>
                <a:miter lim="800000"/>
                <a:headEnd/>
                <a:tailEnd/>
              </a:ln>
              <a:effectLst/>
            </p:spPr>
            <p:txBody>
              <a:bodyPr wrap="none" anchor="ctr"/>
              <a:lstStyle/>
              <a:p>
                <a:endParaRPr lang="zh-CN" altLang="en-US" sz="1600"/>
              </a:p>
            </p:txBody>
          </p:sp>
          <p:sp>
            <p:nvSpPr>
              <p:cNvPr id="63" name="Text Box 10"/>
              <p:cNvSpPr txBox="1">
                <a:spLocks noChangeArrowheads="1"/>
              </p:cNvSpPr>
              <p:nvPr/>
            </p:nvSpPr>
            <p:spPr bwMode="auto">
              <a:xfrm>
                <a:off x="1859918" y="4266242"/>
                <a:ext cx="2065020" cy="382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FF"/>
                    </a:solidFill>
                    <a:latin typeface="微软雅黑" pitchFamily="34" charset="-122"/>
                    <a:ea typeface="微软雅黑" pitchFamily="34" charset="-122"/>
                  </a:rPr>
                  <a:t>1</a:t>
                </a:r>
                <a:r>
                  <a:rPr kumimoji="1" lang="en-US" altLang="zh-CN" sz="1400" b="1" dirty="0">
                    <a:solidFill>
                      <a:srgbClr val="0000FF"/>
                    </a:solidFill>
                    <a:latin typeface="微软雅黑" pitchFamily="34" charset="-122"/>
                    <a:ea typeface="微软雅黑" pitchFamily="34" charset="-122"/>
                  </a:rPr>
                  <a:t>92</a:t>
                </a:r>
                <a:r>
                  <a:rPr kumimoji="1" lang="zh-CN" altLang="en-US" sz="1400" b="1" dirty="0">
                    <a:solidFill>
                      <a:srgbClr val="0000FF"/>
                    </a:solidFill>
                    <a:latin typeface="微软雅黑" pitchFamily="34" charset="-122"/>
                    <a:ea typeface="微软雅黑" pitchFamily="34" charset="-122"/>
                  </a:rPr>
                  <a:t>.1</a:t>
                </a:r>
                <a:r>
                  <a:rPr kumimoji="1" lang="en-US" altLang="zh-CN" sz="1400" b="1" dirty="0">
                    <a:solidFill>
                      <a:srgbClr val="0000FF"/>
                    </a:solidFill>
                    <a:latin typeface="微软雅黑" pitchFamily="34" charset="-122"/>
                    <a:ea typeface="微软雅黑" pitchFamily="34" charset="-122"/>
                  </a:rPr>
                  <a:t>68</a:t>
                </a:r>
                <a:r>
                  <a:rPr kumimoji="1" lang="zh-CN" altLang="en-US" sz="1400" b="1" dirty="0">
                    <a:solidFill>
                      <a:srgbClr val="0000FF"/>
                    </a:solidFill>
                    <a:latin typeface="微软雅黑" pitchFamily="34" charset="-122"/>
                    <a:ea typeface="微软雅黑" pitchFamily="34" charset="-122"/>
                  </a:rPr>
                  <a:t>.</a:t>
                </a:r>
                <a:r>
                  <a:rPr kumimoji="1" lang="en-US" altLang="zh-CN" sz="1400" b="1" dirty="0">
                    <a:solidFill>
                      <a:srgbClr val="0000FF"/>
                    </a:solidFill>
                    <a:latin typeface="微软雅黑" pitchFamily="34" charset="-122"/>
                    <a:ea typeface="微软雅黑" pitchFamily="34" charset="-122"/>
                  </a:rPr>
                  <a:t>10</a:t>
                </a:r>
                <a:r>
                  <a:rPr kumimoji="1" lang="zh-CN" altLang="en-US" sz="1400" b="1" dirty="0">
                    <a:solidFill>
                      <a:srgbClr val="0000FF"/>
                    </a:solidFill>
                    <a:latin typeface="微软雅黑" pitchFamily="34" charset="-122"/>
                    <a:ea typeface="微软雅黑" pitchFamily="34" charset="-122"/>
                  </a:rPr>
                  <a:t>.</a:t>
                </a:r>
                <a:r>
                  <a:rPr kumimoji="1" lang="en-US" altLang="zh-CN" sz="1400" b="1" dirty="0">
                    <a:solidFill>
                      <a:srgbClr val="0000FF"/>
                    </a:solidFill>
                    <a:latin typeface="微软雅黑" pitchFamily="34" charset="-122"/>
                    <a:ea typeface="微软雅黑" pitchFamily="34" charset="-122"/>
                  </a:rPr>
                  <a:t>2</a:t>
                </a:r>
                <a:r>
                  <a:rPr kumimoji="1" lang="zh-CN" altLang="en-US" sz="1400" b="1" dirty="0">
                    <a:solidFill>
                      <a:srgbClr val="0000FF"/>
                    </a:solidFill>
                    <a:latin typeface="微软雅黑" pitchFamily="34" charset="-122"/>
                    <a:ea typeface="微软雅黑" pitchFamily="34" charset="-122"/>
                  </a:rPr>
                  <a:t>:80</a:t>
                </a:r>
                <a:endParaRPr kumimoji="1" lang="en-US" altLang="zh-CN" sz="1400" b="1" dirty="0">
                  <a:solidFill>
                    <a:srgbClr val="0000FF"/>
                  </a:solidFill>
                  <a:latin typeface="微软雅黑" pitchFamily="34" charset="-122"/>
                  <a:ea typeface="微软雅黑" pitchFamily="34" charset="-122"/>
                </a:endParaRPr>
              </a:p>
            </p:txBody>
          </p:sp>
        </p:grpSp>
        <p:sp>
          <p:nvSpPr>
            <p:cNvPr id="64" name="Rectangle 396"/>
            <p:cNvSpPr>
              <a:spLocks noChangeArrowheads="1"/>
            </p:cNvSpPr>
            <p:nvPr/>
          </p:nvSpPr>
          <p:spPr bwMode="auto">
            <a:xfrm>
              <a:off x="4264969" y="332061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a:solidFill>
                    <a:srgbClr val="C00000"/>
                  </a:solidFill>
                  <a:latin typeface="微软雅黑" pitchFamily="34" charset="-122"/>
                  <a:ea typeface="微软雅黑" pitchFamily="34" charset="-122"/>
                </a:rPr>
                <a:t>端口</a:t>
              </a:r>
            </a:p>
          </p:txBody>
        </p:sp>
        <p:sp>
          <p:nvSpPr>
            <p:cNvPr id="65" name="Line 399"/>
            <p:cNvSpPr>
              <a:spLocks noChangeShapeType="1"/>
            </p:cNvSpPr>
            <p:nvPr/>
          </p:nvSpPr>
          <p:spPr bwMode="auto">
            <a:xfrm flipH="1">
              <a:off x="3761794" y="3519669"/>
              <a:ext cx="488037" cy="303717"/>
            </a:xfrm>
            <a:prstGeom prst="line">
              <a:avLst/>
            </a:prstGeom>
            <a:noFill/>
            <a:ln w="28575">
              <a:solidFill>
                <a:srgbClr val="CC00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50" b="1">
                <a:latin typeface="微软雅黑" pitchFamily="34" charset="-122"/>
                <a:ea typeface="微软雅黑" pitchFamily="34" charset="-122"/>
              </a:endParaRPr>
            </a:p>
          </p:txBody>
        </p:sp>
        <p:sp>
          <p:nvSpPr>
            <p:cNvPr id="66" name="Line 399"/>
            <p:cNvSpPr>
              <a:spLocks noChangeShapeType="1"/>
            </p:cNvSpPr>
            <p:nvPr/>
          </p:nvSpPr>
          <p:spPr bwMode="auto">
            <a:xfrm>
              <a:off x="4744254" y="3498824"/>
              <a:ext cx="496873" cy="324563"/>
            </a:xfrm>
            <a:prstGeom prst="line">
              <a:avLst/>
            </a:prstGeom>
            <a:noFill/>
            <a:ln w="28575">
              <a:solidFill>
                <a:srgbClr val="CC00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50" b="1">
                <a:latin typeface="微软雅黑" pitchFamily="34" charset="-122"/>
                <a:ea typeface="微软雅黑" pitchFamily="34" charset="-122"/>
              </a:endParaRPr>
            </a:p>
          </p:txBody>
        </p:sp>
      </p:grpSp>
      <p:sp>
        <p:nvSpPr>
          <p:cNvPr id="2" name="矩形 1"/>
          <p:cNvSpPr/>
          <p:nvPr/>
        </p:nvSpPr>
        <p:spPr>
          <a:xfrm>
            <a:off x="1452284" y="3997543"/>
            <a:ext cx="6302188" cy="759182"/>
          </a:xfrm>
          <a:prstGeom prst="rect">
            <a:avLst/>
          </a:prstGeom>
        </p:spPr>
        <p:txBody>
          <a:bodyPr wrap="square">
            <a:spAutoFit/>
          </a:bodyPr>
          <a:lstStyle/>
          <a:p>
            <a:pPr>
              <a:lnSpc>
                <a:spcPts val="2600"/>
              </a:lnSpc>
              <a:spcBef>
                <a:spcPts val="600"/>
              </a:spcBef>
            </a:pPr>
            <a:r>
              <a:rPr lang="zh-CN" altLang="en-US" b="1" dirty="0">
                <a:latin typeface="微软雅黑" pitchFamily="34" charset="-122"/>
                <a:ea typeface="微软雅黑" pitchFamily="34" charset="-122"/>
              </a:rPr>
              <a:t>由此可见，两个计算机中的进程要互相通信，不仅必须知道对方的端口号，而且还要知道对方的 </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地址。</a:t>
            </a:r>
          </a:p>
        </p:txBody>
      </p:sp>
    </p:spTree>
    <p:extLst>
      <p:ext uri="{BB962C8B-B14F-4D97-AF65-F5344CB8AC3E}">
        <p14:creationId xmlns:p14="http://schemas.microsoft.com/office/powerpoint/2010/main" val="3974344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圆角矩形 36"/>
          <p:cNvSpPr/>
          <p:nvPr/>
        </p:nvSpPr>
        <p:spPr>
          <a:xfrm>
            <a:off x="472966" y="1023685"/>
            <a:ext cx="8261132" cy="29791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5"/>
          <p:cNvSpPr>
            <a:spLocks noChangeArrowheads="1"/>
          </p:cNvSpPr>
          <p:nvPr/>
        </p:nvSpPr>
        <p:spPr bwMode="auto">
          <a:xfrm>
            <a:off x="556963" y="619498"/>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 name="Rectangle 6"/>
          <p:cNvSpPr>
            <a:spLocks noChangeArrowheads="1"/>
          </p:cNvSpPr>
          <p:nvPr/>
        </p:nvSpPr>
        <p:spPr bwMode="auto">
          <a:xfrm>
            <a:off x="3078377" y="586287"/>
            <a:ext cx="3005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两大类、三种类型的端口</a:t>
            </a:r>
          </a:p>
        </p:txBody>
      </p:sp>
      <p:grpSp>
        <p:nvGrpSpPr>
          <p:cNvPr id="12" name="组合 11"/>
          <p:cNvGrpSpPr/>
          <p:nvPr/>
        </p:nvGrpSpPr>
        <p:grpSpPr>
          <a:xfrm>
            <a:off x="903891" y="2339206"/>
            <a:ext cx="1187673" cy="336331"/>
            <a:chOff x="945931" y="1776249"/>
            <a:chExt cx="1187673" cy="336331"/>
          </a:xfrm>
        </p:grpSpPr>
        <p:cxnSp>
          <p:nvCxnSpPr>
            <p:cNvPr id="7" name="直接连接符 6"/>
            <p:cNvCxnSpPr/>
            <p:nvPr/>
          </p:nvCxnSpPr>
          <p:spPr>
            <a:xfrm>
              <a:off x="945931" y="1944414"/>
              <a:ext cx="11876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945931"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2133604"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a:off x="2280747" y="2339206"/>
            <a:ext cx="3563006" cy="336331"/>
            <a:chOff x="945931" y="1776249"/>
            <a:chExt cx="1187673" cy="336331"/>
          </a:xfrm>
        </p:grpSpPr>
        <p:cxnSp>
          <p:nvCxnSpPr>
            <p:cNvPr id="14" name="直接连接符 13"/>
            <p:cNvCxnSpPr/>
            <p:nvPr/>
          </p:nvCxnSpPr>
          <p:spPr>
            <a:xfrm>
              <a:off x="945931" y="1944414"/>
              <a:ext cx="11876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45931"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2133604"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6042288" y="2339206"/>
            <a:ext cx="2313438" cy="336331"/>
            <a:chOff x="945931" y="1776249"/>
            <a:chExt cx="1187673" cy="336331"/>
          </a:xfrm>
        </p:grpSpPr>
        <p:cxnSp>
          <p:nvCxnSpPr>
            <p:cNvPr id="18" name="直接连接符 17"/>
            <p:cNvCxnSpPr/>
            <p:nvPr/>
          </p:nvCxnSpPr>
          <p:spPr>
            <a:xfrm>
              <a:off x="945931" y="1944414"/>
              <a:ext cx="11876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945931"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2133604"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746241" y="2013398"/>
            <a:ext cx="311304"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1</a:t>
            </a:r>
            <a:endParaRPr lang="zh-CN" altLang="en-US" sz="1600" b="1" dirty="0">
              <a:latin typeface="微软雅黑" pitchFamily="34" charset="-122"/>
              <a:ea typeface="微软雅黑" pitchFamily="34" charset="-122"/>
            </a:endParaRPr>
          </a:p>
        </p:txBody>
      </p:sp>
      <p:sp>
        <p:nvSpPr>
          <p:cNvPr id="22" name="TextBox 21"/>
          <p:cNvSpPr txBox="1"/>
          <p:nvPr/>
        </p:nvSpPr>
        <p:spPr>
          <a:xfrm>
            <a:off x="1624957" y="2013398"/>
            <a:ext cx="691215"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1023</a:t>
            </a:r>
            <a:endParaRPr lang="zh-CN" altLang="en-US" sz="1600" b="1" dirty="0">
              <a:latin typeface="微软雅黑" pitchFamily="34" charset="-122"/>
              <a:ea typeface="微软雅黑" pitchFamily="34" charset="-122"/>
            </a:endParaRPr>
          </a:p>
        </p:txBody>
      </p:sp>
      <p:sp>
        <p:nvSpPr>
          <p:cNvPr id="23" name="TextBox 22"/>
          <p:cNvSpPr txBox="1"/>
          <p:nvPr/>
        </p:nvSpPr>
        <p:spPr>
          <a:xfrm>
            <a:off x="2007484" y="2672439"/>
            <a:ext cx="691215"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1024</a:t>
            </a:r>
            <a:endParaRPr lang="zh-CN" altLang="en-US" sz="1600" b="1" dirty="0">
              <a:latin typeface="微软雅黑" pitchFamily="34" charset="-122"/>
              <a:ea typeface="微软雅黑" pitchFamily="34" charset="-122"/>
            </a:endParaRPr>
          </a:p>
        </p:txBody>
      </p:sp>
      <p:sp>
        <p:nvSpPr>
          <p:cNvPr id="24" name="TextBox 23"/>
          <p:cNvSpPr txBox="1"/>
          <p:nvPr/>
        </p:nvSpPr>
        <p:spPr>
          <a:xfrm>
            <a:off x="5265688" y="2672439"/>
            <a:ext cx="877163"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49,151</a:t>
            </a:r>
            <a:endParaRPr lang="zh-CN" altLang="en-US" sz="1600" b="1" dirty="0">
              <a:latin typeface="微软雅黑" pitchFamily="34" charset="-122"/>
              <a:ea typeface="微软雅黑" pitchFamily="34" charset="-122"/>
            </a:endParaRPr>
          </a:p>
        </p:txBody>
      </p:sp>
      <p:sp>
        <p:nvSpPr>
          <p:cNvPr id="25" name="TextBox 24"/>
          <p:cNvSpPr txBox="1"/>
          <p:nvPr/>
        </p:nvSpPr>
        <p:spPr>
          <a:xfrm>
            <a:off x="5804497" y="2013398"/>
            <a:ext cx="877163"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49,152</a:t>
            </a:r>
            <a:endParaRPr lang="zh-CN" altLang="en-US" sz="1600" b="1" dirty="0">
              <a:latin typeface="微软雅黑" pitchFamily="34" charset="-122"/>
              <a:ea typeface="微软雅黑" pitchFamily="34" charset="-122"/>
            </a:endParaRPr>
          </a:p>
        </p:txBody>
      </p:sp>
      <p:sp>
        <p:nvSpPr>
          <p:cNvPr id="26" name="TextBox 25"/>
          <p:cNvSpPr txBox="1"/>
          <p:nvPr/>
        </p:nvSpPr>
        <p:spPr>
          <a:xfrm>
            <a:off x="7770616" y="2013398"/>
            <a:ext cx="877163"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65,535</a:t>
            </a:r>
            <a:endParaRPr lang="zh-CN" altLang="en-US" sz="1600" b="1" dirty="0">
              <a:latin typeface="微软雅黑" pitchFamily="34" charset="-122"/>
              <a:ea typeface="微软雅黑" pitchFamily="34" charset="-122"/>
            </a:endParaRPr>
          </a:p>
        </p:txBody>
      </p:sp>
      <p:grpSp>
        <p:nvGrpSpPr>
          <p:cNvPr id="2" name="组合 1">
            <a:extLst>
              <a:ext uri="{FF2B5EF4-FFF2-40B4-BE49-F238E27FC236}">
                <a16:creationId xmlns:a16="http://schemas.microsoft.com/office/drawing/2014/main" id="{D585CAE3-1A7F-27B8-585E-8A2DDD91230E}"/>
              </a:ext>
            </a:extLst>
          </p:cNvPr>
          <p:cNvGrpSpPr/>
          <p:nvPr/>
        </p:nvGrpSpPr>
        <p:grpSpPr>
          <a:xfrm>
            <a:off x="960955" y="1359718"/>
            <a:ext cx="4809227" cy="656668"/>
            <a:chOff x="960955" y="1359718"/>
            <a:chExt cx="4809227" cy="656668"/>
          </a:xfrm>
        </p:grpSpPr>
        <p:sp>
          <p:nvSpPr>
            <p:cNvPr id="27" name="矩形 26"/>
            <p:cNvSpPr/>
            <p:nvPr/>
          </p:nvSpPr>
          <p:spPr>
            <a:xfrm>
              <a:off x="2247313" y="1359718"/>
              <a:ext cx="2236510" cy="338554"/>
            </a:xfrm>
            <a:prstGeom prst="rect">
              <a:avLst/>
            </a:prstGeom>
          </p:spPr>
          <p:txBody>
            <a:bodyPr wrap="none">
              <a:spAutoFit/>
            </a:bodyPr>
            <a:lstStyle/>
            <a:p>
              <a:pPr algn="ctr"/>
              <a:r>
                <a:rPr lang="zh-CN" altLang="en-US" sz="1600" b="1" dirty="0">
                  <a:solidFill>
                    <a:srgbClr val="C00000"/>
                  </a:solidFill>
                  <a:latin typeface="微软雅黑" pitchFamily="34" charset="-122"/>
                  <a:ea typeface="微软雅黑" pitchFamily="34" charset="-122"/>
                </a:rPr>
                <a:t>服务器端使用的端口号</a:t>
              </a:r>
            </a:p>
          </p:txBody>
        </p:sp>
        <p:sp>
          <p:nvSpPr>
            <p:cNvPr id="29" name="右大括号 28"/>
            <p:cNvSpPr/>
            <p:nvPr/>
          </p:nvSpPr>
          <p:spPr>
            <a:xfrm rot="16200000">
              <a:off x="3222679" y="-531117"/>
              <a:ext cx="285779" cy="4809227"/>
            </a:xfrm>
            <a:prstGeom prst="rightBrace">
              <a:avLst>
                <a:gd name="adj1" fmla="val 34511"/>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5" name="组合 4">
            <a:extLst>
              <a:ext uri="{FF2B5EF4-FFF2-40B4-BE49-F238E27FC236}">
                <a16:creationId xmlns:a16="http://schemas.microsoft.com/office/drawing/2014/main" id="{85AEE63E-FD3B-E9A7-91EC-D6693B26D451}"/>
              </a:ext>
            </a:extLst>
          </p:cNvPr>
          <p:cNvGrpSpPr/>
          <p:nvPr/>
        </p:nvGrpSpPr>
        <p:grpSpPr>
          <a:xfrm>
            <a:off x="6042288" y="1359718"/>
            <a:ext cx="2313438" cy="656667"/>
            <a:chOff x="6042288" y="1359718"/>
            <a:chExt cx="2313438" cy="656667"/>
          </a:xfrm>
        </p:grpSpPr>
        <p:sp>
          <p:nvSpPr>
            <p:cNvPr id="28" name="矩形 27"/>
            <p:cNvSpPr/>
            <p:nvPr/>
          </p:nvSpPr>
          <p:spPr>
            <a:xfrm>
              <a:off x="6183344" y="1359718"/>
              <a:ext cx="2031325" cy="338554"/>
            </a:xfrm>
            <a:prstGeom prst="rect">
              <a:avLst/>
            </a:prstGeom>
          </p:spPr>
          <p:txBody>
            <a:bodyPr wrap="none">
              <a:spAutoFit/>
            </a:bodyPr>
            <a:lstStyle/>
            <a:p>
              <a:pPr algn="ctr"/>
              <a:r>
                <a:rPr lang="zh-CN" altLang="en-US" sz="1600" b="1" dirty="0">
                  <a:solidFill>
                    <a:srgbClr val="C00000"/>
                  </a:solidFill>
                  <a:latin typeface="微软雅黑" pitchFamily="34" charset="-122"/>
                  <a:ea typeface="微软雅黑" pitchFamily="34" charset="-122"/>
                </a:rPr>
                <a:t>客户端使用的端口号</a:t>
              </a:r>
            </a:p>
          </p:txBody>
        </p:sp>
        <p:sp>
          <p:nvSpPr>
            <p:cNvPr id="30" name="右大括号 29"/>
            <p:cNvSpPr/>
            <p:nvPr/>
          </p:nvSpPr>
          <p:spPr>
            <a:xfrm rot="16200000">
              <a:off x="7056117" y="716777"/>
              <a:ext cx="285779" cy="2313438"/>
            </a:xfrm>
            <a:prstGeom prst="rightBrace">
              <a:avLst>
                <a:gd name="adj1" fmla="val 34511"/>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31" name="AutoShape 16"/>
          <p:cNvSpPr>
            <a:spLocks noChangeArrowheads="1"/>
          </p:cNvSpPr>
          <p:nvPr/>
        </p:nvSpPr>
        <p:spPr bwMode="auto">
          <a:xfrm>
            <a:off x="1541606" y="2675538"/>
            <a:ext cx="258679" cy="335456"/>
          </a:xfrm>
          <a:prstGeom prst="upArrow">
            <a:avLst>
              <a:gd name="adj1" fmla="val 50000"/>
              <a:gd name="adj2" fmla="val 45000"/>
            </a:avLst>
          </a:prstGeom>
          <a:solidFill>
            <a:srgbClr val="FF66FF"/>
          </a:solidFill>
          <a:ln w="9525">
            <a:solidFill>
              <a:schemeClr val="tx1"/>
            </a:solidFill>
            <a:miter lim="800000"/>
            <a:headEnd/>
            <a:tailEnd/>
          </a:ln>
          <a:effectLst/>
        </p:spPr>
        <p:txBody>
          <a:bodyPr wrap="none" anchor="ctr"/>
          <a:lstStyle/>
          <a:p>
            <a:endParaRPr lang="zh-CN" altLang="en-US" sz="1600"/>
          </a:p>
        </p:txBody>
      </p:sp>
      <p:sp>
        <p:nvSpPr>
          <p:cNvPr id="32" name="矩形 31"/>
          <p:cNvSpPr/>
          <p:nvPr/>
        </p:nvSpPr>
        <p:spPr>
          <a:xfrm>
            <a:off x="625769" y="3056515"/>
            <a:ext cx="2028119" cy="830997"/>
          </a:xfrm>
          <a:prstGeom prst="rect">
            <a:avLst/>
          </a:prstGeom>
        </p:spPr>
        <p:txBody>
          <a:bodyPr wrap="none">
            <a:spAutoFit/>
          </a:bodyPr>
          <a:lstStyle/>
          <a:p>
            <a:pPr algn="ctr"/>
            <a:r>
              <a:rPr lang="zh-CN" altLang="en-US" sz="1600" b="1" dirty="0">
                <a:solidFill>
                  <a:srgbClr val="0000FF"/>
                </a:solidFill>
                <a:latin typeface="微软雅黑" pitchFamily="34" charset="-122"/>
                <a:ea typeface="微软雅黑" pitchFamily="34" charset="-122"/>
              </a:rPr>
              <a:t>周知端口号</a:t>
            </a:r>
            <a:endParaRPr lang="en-US" altLang="zh-CN" sz="1600" b="1" dirty="0">
              <a:solidFill>
                <a:srgbClr val="0000FF"/>
              </a:solidFill>
              <a:latin typeface="微软雅黑" pitchFamily="34" charset="-122"/>
              <a:ea typeface="微软雅黑" pitchFamily="34" charset="-122"/>
            </a:endParaRPr>
          </a:p>
          <a:p>
            <a:pPr algn="ctr"/>
            <a:r>
              <a:rPr lang="zh-CN" altLang="en-US" sz="1600" b="1" dirty="0">
                <a:solidFill>
                  <a:srgbClr val="0000FF"/>
                </a:solidFill>
                <a:latin typeface="微软雅黑" pitchFamily="34" charset="-122"/>
                <a:ea typeface="微软雅黑" pitchFamily="34" charset="-122"/>
              </a:rPr>
              <a:t>（全球通用端口号）</a:t>
            </a:r>
            <a:endParaRPr lang="en-US" altLang="zh-CN" sz="1600" b="1" dirty="0">
              <a:solidFill>
                <a:srgbClr val="0000FF"/>
              </a:solidFill>
              <a:latin typeface="微软雅黑" pitchFamily="34" charset="-122"/>
              <a:ea typeface="微软雅黑" pitchFamily="34" charset="-122"/>
            </a:endParaRPr>
          </a:p>
          <a:p>
            <a:pPr algn="ctr"/>
            <a:r>
              <a:rPr lang="zh-CN" altLang="en-US" sz="1600" b="1" dirty="0">
                <a:solidFill>
                  <a:srgbClr val="0000FF"/>
                </a:solidFill>
                <a:latin typeface="微软雅黑" pitchFamily="34" charset="-122"/>
                <a:ea typeface="微软雅黑" pitchFamily="34" charset="-122"/>
              </a:rPr>
              <a:t>（</a:t>
            </a:r>
            <a:r>
              <a:rPr lang="en-US" altLang="zh-CN" sz="1600" b="1" dirty="0">
                <a:solidFill>
                  <a:srgbClr val="0000FF"/>
                </a:solidFill>
                <a:latin typeface="微软雅黑" pitchFamily="34" charset="-122"/>
                <a:ea typeface="微软雅黑" pitchFamily="34" charset="-122"/>
              </a:rPr>
              <a:t>IANA </a:t>
            </a:r>
            <a:r>
              <a:rPr lang="zh-CN" altLang="en-US" sz="1600" b="1" dirty="0">
                <a:solidFill>
                  <a:srgbClr val="0000FF"/>
                </a:solidFill>
                <a:latin typeface="微软雅黑" pitchFamily="34" charset="-122"/>
                <a:ea typeface="微软雅黑" pitchFamily="34" charset="-122"/>
              </a:rPr>
              <a:t>负责分配）</a:t>
            </a:r>
          </a:p>
        </p:txBody>
      </p:sp>
      <p:sp>
        <p:nvSpPr>
          <p:cNvPr id="33" name="AutoShape 16"/>
          <p:cNvSpPr>
            <a:spLocks noChangeArrowheads="1"/>
          </p:cNvSpPr>
          <p:nvPr/>
        </p:nvSpPr>
        <p:spPr bwMode="auto">
          <a:xfrm>
            <a:off x="3929712" y="2675538"/>
            <a:ext cx="258679" cy="335456"/>
          </a:xfrm>
          <a:prstGeom prst="upArrow">
            <a:avLst>
              <a:gd name="adj1" fmla="val 50000"/>
              <a:gd name="adj2" fmla="val 45000"/>
            </a:avLst>
          </a:prstGeom>
          <a:solidFill>
            <a:srgbClr val="FF66FF"/>
          </a:solidFill>
          <a:ln w="9525">
            <a:solidFill>
              <a:schemeClr val="tx1"/>
            </a:solidFill>
            <a:miter lim="800000"/>
            <a:headEnd/>
            <a:tailEnd/>
          </a:ln>
          <a:effectLst/>
        </p:spPr>
        <p:txBody>
          <a:bodyPr wrap="none" anchor="ctr"/>
          <a:lstStyle/>
          <a:p>
            <a:endParaRPr lang="zh-CN" altLang="en-US" sz="1600"/>
          </a:p>
        </p:txBody>
      </p:sp>
      <p:sp>
        <p:nvSpPr>
          <p:cNvPr id="34" name="矩形 33"/>
          <p:cNvSpPr/>
          <p:nvPr/>
        </p:nvSpPr>
        <p:spPr>
          <a:xfrm>
            <a:off x="3120325" y="3056515"/>
            <a:ext cx="1883850" cy="584775"/>
          </a:xfrm>
          <a:prstGeom prst="rect">
            <a:avLst/>
          </a:prstGeom>
        </p:spPr>
        <p:txBody>
          <a:bodyPr wrap="none">
            <a:spAutoFit/>
          </a:bodyPr>
          <a:lstStyle/>
          <a:p>
            <a:pPr algn="ctr"/>
            <a:r>
              <a:rPr lang="zh-CN" altLang="en-US" sz="1600" b="1" dirty="0">
                <a:solidFill>
                  <a:srgbClr val="0000FF"/>
                </a:solidFill>
                <a:latin typeface="微软雅黑" pitchFamily="34" charset="-122"/>
                <a:ea typeface="微软雅黑" pitchFamily="34" charset="-122"/>
              </a:rPr>
              <a:t>登记端口</a:t>
            </a:r>
            <a:endParaRPr lang="en-US" altLang="zh-CN" sz="1600" b="1" dirty="0">
              <a:solidFill>
                <a:srgbClr val="0000FF"/>
              </a:solidFill>
              <a:latin typeface="微软雅黑" pitchFamily="34" charset="-122"/>
              <a:ea typeface="微软雅黑" pitchFamily="34" charset="-122"/>
            </a:endParaRPr>
          </a:p>
          <a:p>
            <a:pPr algn="ctr"/>
            <a:r>
              <a:rPr lang="zh-CN" altLang="en-US" sz="1600" b="1" dirty="0">
                <a:solidFill>
                  <a:srgbClr val="0000FF"/>
                </a:solidFill>
                <a:latin typeface="微软雅黑" pitchFamily="34" charset="-122"/>
                <a:ea typeface="微软雅黑" pitchFamily="34" charset="-122"/>
              </a:rPr>
              <a:t>（在 </a:t>
            </a:r>
            <a:r>
              <a:rPr lang="en-US" altLang="zh-CN" sz="1600" b="1" dirty="0">
                <a:solidFill>
                  <a:srgbClr val="0000FF"/>
                </a:solidFill>
                <a:latin typeface="微软雅黑" pitchFamily="34" charset="-122"/>
                <a:ea typeface="微软雅黑" pitchFamily="34" charset="-122"/>
              </a:rPr>
              <a:t>IANA </a:t>
            </a:r>
            <a:r>
              <a:rPr lang="zh-CN" altLang="en-US" sz="1600" b="1" dirty="0">
                <a:solidFill>
                  <a:srgbClr val="0000FF"/>
                </a:solidFill>
                <a:latin typeface="微软雅黑" pitchFamily="34" charset="-122"/>
                <a:ea typeface="微软雅黑" pitchFamily="34" charset="-122"/>
              </a:rPr>
              <a:t>登记）</a:t>
            </a:r>
          </a:p>
        </p:txBody>
      </p:sp>
      <p:sp>
        <p:nvSpPr>
          <p:cNvPr id="35" name="AutoShape 16"/>
          <p:cNvSpPr>
            <a:spLocks noChangeArrowheads="1"/>
          </p:cNvSpPr>
          <p:nvPr/>
        </p:nvSpPr>
        <p:spPr bwMode="auto">
          <a:xfrm>
            <a:off x="7111293" y="2675538"/>
            <a:ext cx="258679" cy="335456"/>
          </a:xfrm>
          <a:prstGeom prst="upArrow">
            <a:avLst>
              <a:gd name="adj1" fmla="val 50000"/>
              <a:gd name="adj2" fmla="val 45000"/>
            </a:avLst>
          </a:prstGeom>
          <a:solidFill>
            <a:srgbClr val="FF66FF"/>
          </a:solidFill>
          <a:ln w="9525">
            <a:solidFill>
              <a:schemeClr val="tx1"/>
            </a:solidFill>
            <a:miter lim="800000"/>
            <a:headEnd/>
            <a:tailEnd/>
          </a:ln>
          <a:effectLst/>
        </p:spPr>
        <p:txBody>
          <a:bodyPr wrap="none" anchor="ctr"/>
          <a:lstStyle/>
          <a:p>
            <a:endParaRPr lang="zh-CN" altLang="en-US" sz="1600"/>
          </a:p>
        </p:txBody>
      </p:sp>
      <p:sp>
        <p:nvSpPr>
          <p:cNvPr id="36" name="矩形 35"/>
          <p:cNvSpPr/>
          <p:nvPr/>
        </p:nvSpPr>
        <p:spPr>
          <a:xfrm>
            <a:off x="5772974" y="3056515"/>
            <a:ext cx="2852063" cy="584775"/>
          </a:xfrm>
          <a:prstGeom prst="rect">
            <a:avLst/>
          </a:prstGeom>
        </p:spPr>
        <p:txBody>
          <a:bodyPr wrap="none">
            <a:spAutoFit/>
          </a:bodyPr>
          <a:lstStyle/>
          <a:p>
            <a:pPr algn="ctr"/>
            <a:r>
              <a:rPr lang="zh-CN" altLang="en-US" sz="1600" b="1" dirty="0">
                <a:solidFill>
                  <a:srgbClr val="0000FF"/>
                </a:solidFill>
                <a:latin typeface="微软雅黑" pitchFamily="34" charset="-122"/>
                <a:ea typeface="微软雅黑" pitchFamily="34" charset="-122"/>
              </a:rPr>
              <a:t>短暂端口</a:t>
            </a:r>
            <a:endParaRPr lang="en-US" altLang="zh-CN" sz="1600" b="1" dirty="0">
              <a:solidFill>
                <a:srgbClr val="0000FF"/>
              </a:solidFill>
              <a:latin typeface="微软雅黑" pitchFamily="34" charset="-122"/>
              <a:ea typeface="微软雅黑" pitchFamily="34" charset="-122"/>
            </a:endParaRPr>
          </a:p>
          <a:p>
            <a:pPr algn="ctr"/>
            <a:r>
              <a:rPr lang="zh-CN" altLang="en-US" sz="1600" b="1" dirty="0">
                <a:solidFill>
                  <a:srgbClr val="0000FF"/>
                </a:solidFill>
                <a:latin typeface="微软雅黑" pitchFamily="34" charset="-122"/>
                <a:ea typeface="微软雅黑" pitchFamily="34" charset="-122"/>
              </a:rPr>
              <a:t>（通信结束后，被系统收回）</a:t>
            </a:r>
          </a:p>
        </p:txBody>
      </p:sp>
    </p:spTree>
    <p:extLst>
      <p:ext uri="{BB962C8B-B14F-4D97-AF65-F5344CB8AC3E}">
        <p14:creationId xmlns:p14="http://schemas.microsoft.com/office/powerpoint/2010/main" val="1538451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2000" fill="hold" nodeType="clickEffect">
                                  <p:stCondLst>
                                    <p:cond delay="0"/>
                                  </p:stCondLst>
                                  <p:childTnLst>
                                    <p:anim calcmode="discrete" valueType="str">
                                      <p:cBhvr>
                                        <p:cTn id="6"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2000" fill="hold" nodeType="clickEffect">
                                  <p:stCondLst>
                                    <p:cond delay="0"/>
                                  </p:stCondLst>
                                  <p:childTnLst>
                                    <p:anim calcmode="discrete" valueType="str">
                                      <p:cBhvr>
                                        <p:cTn id="10" dur="1000" fill="hold"/>
                                        <p:tgtEl>
                                          <p:spTgt spid="5"/>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2000" fill="hold" grpId="0" nodeType="clickEffect">
                                  <p:stCondLst>
                                    <p:cond delay="0"/>
                                  </p:stCondLst>
                                  <p:childTnLst>
                                    <p:anim calcmode="discrete" valueType="str">
                                      <p:cBhvr>
                                        <p:cTn id="14" dur="1000" fill="hold"/>
                                        <p:tgtEl>
                                          <p:spTgt spid="32"/>
                                        </p:tgtEl>
                                        <p:attrNameLst>
                                          <p:attrName>style.visibility</p:attrName>
                                        </p:attrNameLst>
                                      </p:cBhvr>
                                      <p:tavLst>
                                        <p:tav tm="0">
                                          <p:val>
                                            <p:strVal val="hidden"/>
                                          </p:val>
                                        </p:tav>
                                        <p:tav tm="50000">
                                          <p:val>
                                            <p:strVal val="visible"/>
                                          </p:val>
                                        </p:tav>
                                      </p:tavLst>
                                    </p:anim>
                                  </p:childTnLst>
                                </p:cTn>
                              </p:par>
                              <p:par>
                                <p:cTn id="15" presetID="35" presetClass="emph" presetSubtype="0" repeatCount="2000" fill="hold" grpId="0" nodeType="withEffect">
                                  <p:stCondLst>
                                    <p:cond delay="0"/>
                                  </p:stCondLst>
                                  <p:childTnLst>
                                    <p:anim calcmode="discrete" valueType="str">
                                      <p:cBhvr>
                                        <p:cTn id="16" dur="1000" fill="hold"/>
                                        <p:tgtEl>
                                          <p:spTgt spid="3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AutoShape 5"/>
          <p:cNvSpPr>
            <a:spLocks noChangeArrowheads="1"/>
          </p:cNvSpPr>
          <p:nvPr/>
        </p:nvSpPr>
        <p:spPr bwMode="auto">
          <a:xfrm>
            <a:off x="545145" y="62013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99" name="Rectangle 6"/>
          <p:cNvSpPr>
            <a:spLocks noChangeArrowheads="1"/>
          </p:cNvSpPr>
          <p:nvPr/>
        </p:nvSpPr>
        <p:spPr bwMode="auto">
          <a:xfrm>
            <a:off x="3550096" y="597049"/>
            <a:ext cx="20265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常用的周知端口</a:t>
            </a:r>
          </a:p>
        </p:txBody>
      </p:sp>
      <p:sp>
        <p:nvSpPr>
          <p:cNvPr id="100" name="圆角矩形 99"/>
          <p:cNvSpPr/>
          <p:nvPr/>
        </p:nvSpPr>
        <p:spPr>
          <a:xfrm>
            <a:off x="545145" y="1026455"/>
            <a:ext cx="8053710" cy="32186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44" name="Group 52"/>
          <p:cNvGraphicFramePr>
            <a:graphicFrameLocks noGrp="1"/>
          </p:cNvGraphicFramePr>
          <p:nvPr>
            <p:extLst>
              <p:ext uri="{D42A27DB-BD31-4B8C-83A1-F6EECF244321}">
                <p14:modId xmlns:p14="http://schemas.microsoft.com/office/powerpoint/2010/main" val="3872470506"/>
              </p:ext>
            </p:extLst>
          </p:nvPr>
        </p:nvGraphicFramePr>
        <p:xfrm>
          <a:off x="1347347" y="3442933"/>
          <a:ext cx="6396835" cy="640128"/>
        </p:xfrm>
        <a:graphic>
          <a:graphicData uri="http://schemas.openxmlformats.org/drawingml/2006/table">
            <a:tbl>
              <a:tblPr/>
              <a:tblGrid>
                <a:gridCol w="1924491">
                  <a:extLst>
                    <a:ext uri="{9D8B030D-6E8A-4147-A177-3AD203B41FA5}">
                      <a16:colId xmlns:a16="http://schemas.microsoft.com/office/drawing/2014/main" val="20000"/>
                    </a:ext>
                  </a:extLst>
                </a:gridCol>
                <a:gridCol w="4472344">
                  <a:extLst>
                    <a:ext uri="{9D8B030D-6E8A-4147-A177-3AD203B41FA5}">
                      <a16:colId xmlns:a16="http://schemas.microsoft.com/office/drawing/2014/main" val="20001"/>
                    </a:ext>
                  </a:extLst>
                </a:gridCol>
              </a:tblGrid>
              <a:tr h="26824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400" b="1" i="0" u="none" strike="noStrike" cap="none" normalizeH="0" baseline="0" dirty="0">
                          <a:ln>
                            <a:noFill/>
                          </a:ln>
                          <a:solidFill>
                            <a:schemeClr val="bg1"/>
                          </a:solidFill>
                          <a:effectLst/>
                          <a:latin typeface="微软雅黑" pitchFamily="34" charset="-122"/>
                          <a:ea typeface="微软雅黑" pitchFamily="34" charset="-122"/>
                        </a:rPr>
                        <a:t>UDP</a:t>
                      </a:r>
                    </a:p>
                  </a:txBody>
                  <a:tcPr marL="99060" marR="99060" marT="45732" marB="45732" horzOverflow="overflow">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lnTlToBr>
                      <a:noFill/>
                    </a:lnTlToBr>
                    <a:lnBlToTr>
                      <a:noFill/>
                    </a:lnBlToTr>
                    <a:solidFill>
                      <a:srgbClr val="C0504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400" b="1" i="0" u="none" strike="noStrike" cap="none" normalizeH="0" baseline="0" dirty="0">
                          <a:ln>
                            <a:noFill/>
                          </a:ln>
                          <a:solidFill>
                            <a:schemeClr val="bg1"/>
                          </a:solidFill>
                          <a:effectLst/>
                          <a:latin typeface="微软雅黑" pitchFamily="34" charset="-122"/>
                          <a:ea typeface="微软雅黑" pitchFamily="34" charset="-122"/>
                        </a:rPr>
                        <a:t>TCP</a:t>
                      </a:r>
                    </a:p>
                  </a:txBody>
                  <a:tcPr marL="99060" marR="99060" marT="45732" marB="45732" horzOverflow="overflow">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lnTlToBr>
                      <a:noFill/>
                    </a:lnTlToBr>
                    <a:lnBlToTr>
                      <a:noFill/>
                    </a:lnBlToTr>
                    <a:solidFill>
                      <a:srgbClr val="9BBB59"/>
                    </a:solidFill>
                  </a:tcPr>
                </a:tc>
                <a:extLst>
                  <a:ext uri="{0D108BD9-81ED-4DB2-BD59-A6C34878D82A}">
                    <a16:rowId xmlns:a16="http://schemas.microsoft.com/office/drawing/2014/main" val="10000"/>
                  </a:ext>
                </a:extLst>
              </a:tr>
              <a:tr h="268249">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600" b="1" i="0" u="none" strike="noStrike" cap="none" normalizeH="0" baseline="0" dirty="0">
                          <a:ln>
                            <a:noFill/>
                          </a:ln>
                          <a:solidFill>
                            <a:schemeClr val="bg1"/>
                          </a:solidFill>
                          <a:effectLst/>
                          <a:latin typeface="微软雅黑" pitchFamily="34" charset="-122"/>
                          <a:ea typeface="微软雅黑" pitchFamily="34" charset="-122"/>
                        </a:rPr>
                        <a:t>IP</a:t>
                      </a:r>
                    </a:p>
                  </a:txBody>
                  <a:tcPr marL="99060" marR="99060" marT="45732" marB="45732"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0000FF"/>
                    </a:solidFill>
                  </a:tcPr>
                </a:tc>
                <a:tc hMerge="1">
                  <a:txBody>
                    <a:bodyPr/>
                    <a:lstStyle/>
                    <a:p>
                      <a:endParaRPr lang="zh-CN" altLang="en-US"/>
                    </a:p>
                  </a:txBody>
                  <a:tcPr/>
                </a:tc>
                <a:extLst>
                  <a:ext uri="{0D108BD9-81ED-4DB2-BD59-A6C34878D82A}">
                    <a16:rowId xmlns:a16="http://schemas.microsoft.com/office/drawing/2014/main" val="10001"/>
                  </a:ext>
                </a:extLst>
              </a:tr>
            </a:tbl>
          </a:graphicData>
        </a:graphic>
      </p:graphicFrame>
      <p:sp>
        <p:nvSpPr>
          <p:cNvPr id="146" name="Text Box 14"/>
          <p:cNvSpPr txBox="1">
            <a:spLocks noChangeArrowheads="1"/>
          </p:cNvSpPr>
          <p:nvPr/>
        </p:nvSpPr>
        <p:spPr bwMode="auto">
          <a:xfrm>
            <a:off x="3440201" y="2624570"/>
            <a:ext cx="105176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SMTP</a:t>
            </a:r>
          </a:p>
        </p:txBody>
      </p:sp>
      <p:sp>
        <p:nvSpPr>
          <p:cNvPr id="147" name="Text Box 15"/>
          <p:cNvSpPr txBox="1">
            <a:spLocks noChangeArrowheads="1"/>
          </p:cNvSpPr>
          <p:nvPr/>
        </p:nvSpPr>
        <p:spPr bwMode="auto">
          <a:xfrm>
            <a:off x="4285218" y="2281876"/>
            <a:ext cx="97075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FTP</a:t>
            </a:r>
          </a:p>
        </p:txBody>
      </p:sp>
      <p:sp>
        <p:nvSpPr>
          <p:cNvPr id="148" name="Text Box 16"/>
          <p:cNvSpPr txBox="1">
            <a:spLocks noChangeArrowheads="1"/>
          </p:cNvSpPr>
          <p:nvPr/>
        </p:nvSpPr>
        <p:spPr bwMode="auto">
          <a:xfrm>
            <a:off x="5026708" y="1910923"/>
            <a:ext cx="113276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Telnet</a:t>
            </a:r>
          </a:p>
        </p:txBody>
      </p:sp>
      <p:sp>
        <p:nvSpPr>
          <p:cNvPr id="149" name="Text Box 17"/>
          <p:cNvSpPr txBox="1">
            <a:spLocks noChangeArrowheads="1"/>
          </p:cNvSpPr>
          <p:nvPr/>
        </p:nvSpPr>
        <p:spPr bwMode="auto">
          <a:xfrm>
            <a:off x="6478711" y="1330766"/>
            <a:ext cx="80875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BGP</a:t>
            </a:r>
          </a:p>
        </p:txBody>
      </p:sp>
      <p:sp>
        <p:nvSpPr>
          <p:cNvPr id="150" name="Text Box 18"/>
          <p:cNvSpPr txBox="1">
            <a:spLocks noChangeArrowheads="1"/>
          </p:cNvSpPr>
          <p:nvPr/>
        </p:nvSpPr>
        <p:spPr bwMode="auto">
          <a:xfrm>
            <a:off x="1380697" y="2375511"/>
            <a:ext cx="97075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DNS</a:t>
            </a:r>
          </a:p>
        </p:txBody>
      </p:sp>
      <p:sp>
        <p:nvSpPr>
          <p:cNvPr id="151" name="Text Box 19"/>
          <p:cNvSpPr txBox="1">
            <a:spLocks noChangeArrowheads="1"/>
          </p:cNvSpPr>
          <p:nvPr/>
        </p:nvSpPr>
        <p:spPr bwMode="auto">
          <a:xfrm>
            <a:off x="1860597" y="1700822"/>
            <a:ext cx="113276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SNMP</a:t>
            </a:r>
          </a:p>
        </p:txBody>
      </p:sp>
      <p:sp>
        <p:nvSpPr>
          <p:cNvPr id="153" name="Oval 21"/>
          <p:cNvSpPr>
            <a:spLocks noChangeArrowheads="1"/>
          </p:cNvSpPr>
          <p:nvPr/>
        </p:nvSpPr>
        <p:spPr bwMode="auto">
          <a:xfrm>
            <a:off x="6703420" y="3256666"/>
            <a:ext cx="253131" cy="231323"/>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54" name="Oval 22"/>
          <p:cNvSpPr>
            <a:spLocks noChangeArrowheads="1"/>
          </p:cNvSpPr>
          <p:nvPr/>
        </p:nvSpPr>
        <p:spPr bwMode="auto">
          <a:xfrm>
            <a:off x="1568227" y="3256666"/>
            <a:ext cx="253131" cy="231323"/>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55" name="Oval 23"/>
          <p:cNvSpPr>
            <a:spLocks noChangeArrowheads="1"/>
          </p:cNvSpPr>
          <p:nvPr/>
        </p:nvSpPr>
        <p:spPr bwMode="auto">
          <a:xfrm>
            <a:off x="2103602" y="3256666"/>
            <a:ext cx="253131" cy="231323"/>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57" name="Oval 25"/>
          <p:cNvSpPr>
            <a:spLocks noChangeArrowheads="1"/>
          </p:cNvSpPr>
          <p:nvPr/>
        </p:nvSpPr>
        <p:spPr bwMode="auto">
          <a:xfrm>
            <a:off x="3743958" y="3256666"/>
            <a:ext cx="253131" cy="231323"/>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58" name="Oval 26"/>
          <p:cNvSpPr>
            <a:spLocks noChangeArrowheads="1"/>
          </p:cNvSpPr>
          <p:nvPr/>
        </p:nvSpPr>
        <p:spPr bwMode="auto">
          <a:xfrm>
            <a:off x="4477072" y="3256666"/>
            <a:ext cx="253131" cy="231323"/>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59" name="Oval 27"/>
          <p:cNvSpPr>
            <a:spLocks noChangeArrowheads="1"/>
          </p:cNvSpPr>
          <p:nvPr/>
        </p:nvSpPr>
        <p:spPr bwMode="auto">
          <a:xfrm>
            <a:off x="5262120" y="3256666"/>
            <a:ext cx="253131" cy="231323"/>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60" name="Line 28"/>
          <p:cNvSpPr>
            <a:spLocks noChangeShapeType="1"/>
          </p:cNvSpPr>
          <p:nvPr/>
        </p:nvSpPr>
        <p:spPr bwMode="auto">
          <a:xfrm>
            <a:off x="6824781" y="1638544"/>
            <a:ext cx="0" cy="161034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61" name="Line 29"/>
          <p:cNvSpPr>
            <a:spLocks noChangeShapeType="1"/>
          </p:cNvSpPr>
          <p:nvPr/>
        </p:nvSpPr>
        <p:spPr bwMode="auto">
          <a:xfrm>
            <a:off x="1689730" y="2678357"/>
            <a:ext cx="0" cy="560783"/>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62" name="Line 30"/>
          <p:cNvSpPr>
            <a:spLocks noChangeShapeType="1"/>
          </p:cNvSpPr>
          <p:nvPr/>
        </p:nvSpPr>
        <p:spPr bwMode="auto">
          <a:xfrm>
            <a:off x="2225105" y="1962046"/>
            <a:ext cx="0" cy="1277095"/>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64" name="Line 32"/>
          <p:cNvSpPr>
            <a:spLocks noChangeShapeType="1"/>
          </p:cNvSpPr>
          <p:nvPr/>
        </p:nvSpPr>
        <p:spPr bwMode="auto">
          <a:xfrm>
            <a:off x="3865461" y="2902671"/>
            <a:ext cx="0" cy="33647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65" name="Line 33"/>
          <p:cNvSpPr>
            <a:spLocks noChangeShapeType="1"/>
          </p:cNvSpPr>
          <p:nvPr/>
        </p:nvSpPr>
        <p:spPr bwMode="auto">
          <a:xfrm>
            <a:off x="4609931" y="2536409"/>
            <a:ext cx="0" cy="702731"/>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66" name="Line 34"/>
          <p:cNvSpPr>
            <a:spLocks noChangeShapeType="1"/>
          </p:cNvSpPr>
          <p:nvPr/>
        </p:nvSpPr>
        <p:spPr bwMode="auto">
          <a:xfrm>
            <a:off x="5391217" y="2153062"/>
            <a:ext cx="0" cy="1086078"/>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68" name="Text Box 36"/>
          <p:cNvSpPr txBox="1">
            <a:spLocks noChangeArrowheads="1"/>
          </p:cNvSpPr>
          <p:nvPr/>
        </p:nvSpPr>
        <p:spPr bwMode="auto">
          <a:xfrm>
            <a:off x="1306934" y="2958750"/>
            <a:ext cx="8264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53</a:t>
            </a:r>
          </a:p>
        </p:txBody>
      </p:sp>
      <p:sp>
        <p:nvSpPr>
          <p:cNvPr id="169" name="Text Box 37"/>
          <p:cNvSpPr txBox="1">
            <a:spLocks noChangeArrowheads="1"/>
          </p:cNvSpPr>
          <p:nvPr/>
        </p:nvSpPr>
        <p:spPr bwMode="auto">
          <a:xfrm>
            <a:off x="1783888" y="2932347"/>
            <a:ext cx="60118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161</a:t>
            </a:r>
          </a:p>
        </p:txBody>
      </p:sp>
      <p:sp>
        <p:nvSpPr>
          <p:cNvPr id="171" name="Text Box 39"/>
          <p:cNvSpPr txBox="1">
            <a:spLocks noChangeArrowheads="1"/>
          </p:cNvSpPr>
          <p:nvPr/>
        </p:nvSpPr>
        <p:spPr bwMode="auto">
          <a:xfrm>
            <a:off x="3497056" y="2958750"/>
            <a:ext cx="67586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25</a:t>
            </a:r>
          </a:p>
        </p:txBody>
      </p:sp>
      <p:sp>
        <p:nvSpPr>
          <p:cNvPr id="173" name="Text Box 41"/>
          <p:cNvSpPr txBox="1">
            <a:spLocks noChangeArrowheads="1"/>
          </p:cNvSpPr>
          <p:nvPr/>
        </p:nvSpPr>
        <p:spPr bwMode="auto">
          <a:xfrm>
            <a:off x="5371223" y="2958750"/>
            <a:ext cx="67586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23</a:t>
            </a:r>
          </a:p>
        </p:txBody>
      </p:sp>
      <p:sp>
        <p:nvSpPr>
          <p:cNvPr id="174" name="Text Box 42"/>
          <p:cNvSpPr txBox="1">
            <a:spLocks noChangeArrowheads="1"/>
          </p:cNvSpPr>
          <p:nvPr/>
        </p:nvSpPr>
        <p:spPr bwMode="auto">
          <a:xfrm>
            <a:off x="5709048" y="1475897"/>
            <a:ext cx="113276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HTTP</a:t>
            </a:r>
          </a:p>
        </p:txBody>
      </p:sp>
      <p:sp>
        <p:nvSpPr>
          <p:cNvPr id="175" name="Oval 43"/>
          <p:cNvSpPr>
            <a:spLocks noChangeArrowheads="1"/>
          </p:cNvSpPr>
          <p:nvPr/>
        </p:nvSpPr>
        <p:spPr bwMode="auto">
          <a:xfrm>
            <a:off x="5974014" y="3256666"/>
            <a:ext cx="253131" cy="231323"/>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76" name="Line 44"/>
          <p:cNvSpPr>
            <a:spLocks noChangeShapeType="1"/>
          </p:cNvSpPr>
          <p:nvPr/>
        </p:nvSpPr>
        <p:spPr bwMode="auto">
          <a:xfrm>
            <a:off x="6103110" y="1758907"/>
            <a:ext cx="0" cy="148023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77" name="Text Box 45"/>
          <p:cNvSpPr txBox="1">
            <a:spLocks noChangeArrowheads="1"/>
          </p:cNvSpPr>
          <p:nvPr/>
        </p:nvSpPr>
        <p:spPr bwMode="auto">
          <a:xfrm>
            <a:off x="6072425" y="2958750"/>
            <a:ext cx="67586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80</a:t>
            </a:r>
          </a:p>
        </p:txBody>
      </p:sp>
      <p:sp>
        <p:nvSpPr>
          <p:cNvPr id="178" name="Text Box 42"/>
          <p:cNvSpPr txBox="1">
            <a:spLocks noChangeArrowheads="1"/>
          </p:cNvSpPr>
          <p:nvPr/>
        </p:nvSpPr>
        <p:spPr bwMode="auto">
          <a:xfrm>
            <a:off x="6923565" y="1117895"/>
            <a:ext cx="113276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HTTPS</a:t>
            </a:r>
          </a:p>
        </p:txBody>
      </p:sp>
      <p:sp>
        <p:nvSpPr>
          <p:cNvPr id="179" name="Oval 43"/>
          <p:cNvSpPr>
            <a:spLocks noChangeArrowheads="1"/>
          </p:cNvSpPr>
          <p:nvPr/>
        </p:nvSpPr>
        <p:spPr bwMode="auto">
          <a:xfrm>
            <a:off x="7282682" y="3256666"/>
            <a:ext cx="253131" cy="231323"/>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80" name="Line 44"/>
          <p:cNvSpPr>
            <a:spLocks noChangeShapeType="1"/>
          </p:cNvSpPr>
          <p:nvPr/>
        </p:nvSpPr>
        <p:spPr bwMode="auto">
          <a:xfrm>
            <a:off x="7411778" y="1376874"/>
            <a:ext cx="0" cy="1862266"/>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81" name="Text Box 45"/>
          <p:cNvSpPr txBox="1">
            <a:spLocks noChangeArrowheads="1"/>
          </p:cNvSpPr>
          <p:nvPr/>
        </p:nvSpPr>
        <p:spPr bwMode="auto">
          <a:xfrm>
            <a:off x="7391784" y="2958750"/>
            <a:ext cx="67586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443</a:t>
            </a:r>
          </a:p>
        </p:txBody>
      </p:sp>
      <p:sp>
        <p:nvSpPr>
          <p:cNvPr id="182" name="Text Box 19"/>
          <p:cNvSpPr txBox="1">
            <a:spLocks noChangeArrowheads="1"/>
          </p:cNvSpPr>
          <p:nvPr/>
        </p:nvSpPr>
        <p:spPr bwMode="auto">
          <a:xfrm>
            <a:off x="2132426" y="1209386"/>
            <a:ext cx="15949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SNMP(trap)</a:t>
            </a:r>
          </a:p>
        </p:txBody>
      </p:sp>
      <p:sp>
        <p:nvSpPr>
          <p:cNvPr id="183" name="Oval 23"/>
          <p:cNvSpPr>
            <a:spLocks noChangeArrowheads="1"/>
          </p:cNvSpPr>
          <p:nvPr/>
        </p:nvSpPr>
        <p:spPr bwMode="auto">
          <a:xfrm>
            <a:off x="2704789" y="3256666"/>
            <a:ext cx="253131" cy="231323"/>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84" name="Line 30"/>
          <p:cNvSpPr>
            <a:spLocks noChangeShapeType="1"/>
          </p:cNvSpPr>
          <p:nvPr/>
        </p:nvSpPr>
        <p:spPr bwMode="auto">
          <a:xfrm>
            <a:off x="2826292" y="1481690"/>
            <a:ext cx="0" cy="175745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87" name="Text Box 40"/>
          <p:cNvSpPr txBox="1">
            <a:spLocks noChangeArrowheads="1"/>
          </p:cNvSpPr>
          <p:nvPr/>
        </p:nvSpPr>
        <p:spPr bwMode="auto">
          <a:xfrm>
            <a:off x="4242380" y="2933326"/>
            <a:ext cx="84039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21  20</a:t>
            </a:r>
          </a:p>
        </p:txBody>
      </p:sp>
      <p:sp>
        <p:nvSpPr>
          <p:cNvPr id="188" name="Text Box 37"/>
          <p:cNvSpPr txBox="1">
            <a:spLocks noChangeArrowheads="1"/>
          </p:cNvSpPr>
          <p:nvPr/>
        </p:nvSpPr>
        <p:spPr bwMode="auto">
          <a:xfrm>
            <a:off x="2372164" y="2921528"/>
            <a:ext cx="60118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162</a:t>
            </a:r>
          </a:p>
        </p:txBody>
      </p:sp>
      <p:sp>
        <p:nvSpPr>
          <p:cNvPr id="189" name="Text Box 35"/>
          <p:cNvSpPr txBox="1">
            <a:spLocks noChangeArrowheads="1"/>
          </p:cNvSpPr>
          <p:nvPr/>
        </p:nvSpPr>
        <p:spPr bwMode="auto">
          <a:xfrm>
            <a:off x="6757553" y="2940696"/>
            <a:ext cx="63881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179</a:t>
            </a:r>
          </a:p>
        </p:txBody>
      </p:sp>
    </p:spTree>
    <p:extLst>
      <p:ext uri="{BB962C8B-B14F-4D97-AF65-F5344CB8AC3E}">
        <p14:creationId xmlns:p14="http://schemas.microsoft.com/office/powerpoint/2010/main" val="19642666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B1D59-3685-8559-36B3-F3B9DD685E00}"/>
            </a:ext>
          </a:extLst>
        </p:cNvPr>
        <p:cNvGrpSpPr/>
        <p:nvPr/>
      </p:nvGrpSpPr>
      <p:grpSpPr>
        <a:xfrm>
          <a:off x="0" y="0"/>
          <a:ext cx="0" cy="0"/>
          <a:chOff x="0" y="0"/>
          <a:chExt cx="0" cy="0"/>
        </a:xfrm>
      </p:grpSpPr>
      <p:sp>
        <p:nvSpPr>
          <p:cNvPr id="37" name="圆角矩形 36">
            <a:extLst>
              <a:ext uri="{FF2B5EF4-FFF2-40B4-BE49-F238E27FC236}">
                <a16:creationId xmlns:a16="http://schemas.microsoft.com/office/drawing/2014/main" id="{2A27BABA-BD83-643E-D7E3-C516E45C423B}"/>
              </a:ext>
            </a:extLst>
          </p:cNvPr>
          <p:cNvSpPr/>
          <p:nvPr/>
        </p:nvSpPr>
        <p:spPr>
          <a:xfrm>
            <a:off x="472966" y="1023685"/>
            <a:ext cx="8261132" cy="29791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5">
            <a:extLst>
              <a:ext uri="{FF2B5EF4-FFF2-40B4-BE49-F238E27FC236}">
                <a16:creationId xmlns:a16="http://schemas.microsoft.com/office/drawing/2014/main" id="{0E54CF40-3D1F-A528-C89F-D6AF88E2A6A3}"/>
              </a:ext>
            </a:extLst>
          </p:cNvPr>
          <p:cNvSpPr>
            <a:spLocks noChangeArrowheads="1"/>
          </p:cNvSpPr>
          <p:nvPr/>
        </p:nvSpPr>
        <p:spPr bwMode="auto">
          <a:xfrm>
            <a:off x="556963" y="619498"/>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 name="Rectangle 6">
            <a:extLst>
              <a:ext uri="{FF2B5EF4-FFF2-40B4-BE49-F238E27FC236}">
                <a16:creationId xmlns:a16="http://schemas.microsoft.com/office/drawing/2014/main" id="{C4909D90-F3EA-58AC-C06B-A58E8BA070B4}"/>
              </a:ext>
            </a:extLst>
          </p:cNvPr>
          <p:cNvSpPr>
            <a:spLocks noChangeArrowheads="1"/>
          </p:cNvSpPr>
          <p:nvPr/>
        </p:nvSpPr>
        <p:spPr bwMode="auto">
          <a:xfrm>
            <a:off x="3078377" y="586287"/>
            <a:ext cx="3005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两大类、三种类型的端口</a:t>
            </a:r>
          </a:p>
        </p:txBody>
      </p:sp>
      <p:grpSp>
        <p:nvGrpSpPr>
          <p:cNvPr id="12" name="组合 11">
            <a:extLst>
              <a:ext uri="{FF2B5EF4-FFF2-40B4-BE49-F238E27FC236}">
                <a16:creationId xmlns:a16="http://schemas.microsoft.com/office/drawing/2014/main" id="{A066FFEC-5CF9-F4AF-34CF-28DBC0738BEF}"/>
              </a:ext>
            </a:extLst>
          </p:cNvPr>
          <p:cNvGrpSpPr/>
          <p:nvPr/>
        </p:nvGrpSpPr>
        <p:grpSpPr>
          <a:xfrm>
            <a:off x="903891" y="2339206"/>
            <a:ext cx="1187673" cy="336331"/>
            <a:chOff x="945931" y="1776249"/>
            <a:chExt cx="1187673" cy="336331"/>
          </a:xfrm>
        </p:grpSpPr>
        <p:cxnSp>
          <p:nvCxnSpPr>
            <p:cNvPr id="7" name="直接连接符 6">
              <a:extLst>
                <a:ext uri="{FF2B5EF4-FFF2-40B4-BE49-F238E27FC236}">
                  <a16:creationId xmlns:a16="http://schemas.microsoft.com/office/drawing/2014/main" id="{3FE2DCC1-FA8F-E813-65F9-CA836EAFFD09}"/>
                </a:ext>
              </a:extLst>
            </p:cNvPr>
            <p:cNvCxnSpPr/>
            <p:nvPr/>
          </p:nvCxnSpPr>
          <p:spPr>
            <a:xfrm>
              <a:off x="945931" y="1944414"/>
              <a:ext cx="11876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0C11CF0F-B384-F62E-76D5-28CC49301B0F}"/>
                </a:ext>
              </a:extLst>
            </p:cNvPr>
            <p:cNvCxnSpPr/>
            <p:nvPr/>
          </p:nvCxnSpPr>
          <p:spPr>
            <a:xfrm>
              <a:off x="945931"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49234F6D-FC2E-50A7-EBED-0AF43BA7BBFA}"/>
                </a:ext>
              </a:extLst>
            </p:cNvPr>
            <p:cNvCxnSpPr/>
            <p:nvPr/>
          </p:nvCxnSpPr>
          <p:spPr>
            <a:xfrm>
              <a:off x="2133604"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组合 12">
            <a:extLst>
              <a:ext uri="{FF2B5EF4-FFF2-40B4-BE49-F238E27FC236}">
                <a16:creationId xmlns:a16="http://schemas.microsoft.com/office/drawing/2014/main" id="{434BF738-9806-A133-C4B2-E6BF31F63D7F}"/>
              </a:ext>
            </a:extLst>
          </p:cNvPr>
          <p:cNvGrpSpPr/>
          <p:nvPr/>
        </p:nvGrpSpPr>
        <p:grpSpPr>
          <a:xfrm>
            <a:off x="2280747" y="2339206"/>
            <a:ext cx="3563006" cy="336331"/>
            <a:chOff x="945931" y="1776249"/>
            <a:chExt cx="1187673" cy="336331"/>
          </a:xfrm>
        </p:grpSpPr>
        <p:cxnSp>
          <p:nvCxnSpPr>
            <p:cNvPr id="14" name="直接连接符 13">
              <a:extLst>
                <a:ext uri="{FF2B5EF4-FFF2-40B4-BE49-F238E27FC236}">
                  <a16:creationId xmlns:a16="http://schemas.microsoft.com/office/drawing/2014/main" id="{B839269C-7962-5B40-1BF1-145DB8B91D8B}"/>
                </a:ext>
              </a:extLst>
            </p:cNvPr>
            <p:cNvCxnSpPr/>
            <p:nvPr/>
          </p:nvCxnSpPr>
          <p:spPr>
            <a:xfrm>
              <a:off x="945931" y="1944414"/>
              <a:ext cx="11876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AAB8A6DE-74C4-FF0D-CBCF-B5786E37E746}"/>
                </a:ext>
              </a:extLst>
            </p:cNvPr>
            <p:cNvCxnSpPr/>
            <p:nvPr/>
          </p:nvCxnSpPr>
          <p:spPr>
            <a:xfrm>
              <a:off x="945931"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969243DB-8031-E98D-12DB-3880192EBDC7}"/>
                </a:ext>
              </a:extLst>
            </p:cNvPr>
            <p:cNvCxnSpPr/>
            <p:nvPr/>
          </p:nvCxnSpPr>
          <p:spPr>
            <a:xfrm>
              <a:off x="2133604"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 name="组合 16">
            <a:extLst>
              <a:ext uri="{FF2B5EF4-FFF2-40B4-BE49-F238E27FC236}">
                <a16:creationId xmlns:a16="http://schemas.microsoft.com/office/drawing/2014/main" id="{3C7039CD-3DAC-85B9-B47C-D29F0BC0E2D9}"/>
              </a:ext>
            </a:extLst>
          </p:cNvPr>
          <p:cNvGrpSpPr/>
          <p:nvPr/>
        </p:nvGrpSpPr>
        <p:grpSpPr>
          <a:xfrm>
            <a:off x="6042288" y="2339206"/>
            <a:ext cx="2313438" cy="336331"/>
            <a:chOff x="945931" y="1776249"/>
            <a:chExt cx="1187673" cy="336331"/>
          </a:xfrm>
        </p:grpSpPr>
        <p:cxnSp>
          <p:nvCxnSpPr>
            <p:cNvPr id="18" name="直接连接符 17">
              <a:extLst>
                <a:ext uri="{FF2B5EF4-FFF2-40B4-BE49-F238E27FC236}">
                  <a16:creationId xmlns:a16="http://schemas.microsoft.com/office/drawing/2014/main" id="{031236E1-592C-8E69-E484-E48170A57AEB}"/>
                </a:ext>
              </a:extLst>
            </p:cNvPr>
            <p:cNvCxnSpPr/>
            <p:nvPr/>
          </p:nvCxnSpPr>
          <p:spPr>
            <a:xfrm>
              <a:off x="945931" y="1944414"/>
              <a:ext cx="11876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BDEE4D78-9165-6F40-FF84-0FB3AF700ED7}"/>
                </a:ext>
              </a:extLst>
            </p:cNvPr>
            <p:cNvCxnSpPr/>
            <p:nvPr/>
          </p:nvCxnSpPr>
          <p:spPr>
            <a:xfrm>
              <a:off x="945931"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60BB9A23-67E3-46FF-2B30-023364D1B8FD}"/>
                </a:ext>
              </a:extLst>
            </p:cNvPr>
            <p:cNvCxnSpPr/>
            <p:nvPr/>
          </p:nvCxnSpPr>
          <p:spPr>
            <a:xfrm>
              <a:off x="2133604"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7FA9D30F-48BD-0D83-ACF5-74FBFC865D60}"/>
              </a:ext>
            </a:extLst>
          </p:cNvPr>
          <p:cNvSpPr txBox="1"/>
          <p:nvPr/>
        </p:nvSpPr>
        <p:spPr>
          <a:xfrm>
            <a:off x="746241" y="2013398"/>
            <a:ext cx="311304"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1</a:t>
            </a:r>
            <a:endParaRPr lang="zh-CN" altLang="en-US" sz="1600" b="1" dirty="0">
              <a:latin typeface="微软雅黑" pitchFamily="34" charset="-122"/>
              <a:ea typeface="微软雅黑" pitchFamily="34" charset="-122"/>
            </a:endParaRPr>
          </a:p>
        </p:txBody>
      </p:sp>
      <p:sp>
        <p:nvSpPr>
          <p:cNvPr id="22" name="TextBox 21">
            <a:extLst>
              <a:ext uri="{FF2B5EF4-FFF2-40B4-BE49-F238E27FC236}">
                <a16:creationId xmlns:a16="http://schemas.microsoft.com/office/drawing/2014/main" id="{171CEA1E-AA59-7FA6-4EAE-539B5028841B}"/>
              </a:ext>
            </a:extLst>
          </p:cNvPr>
          <p:cNvSpPr txBox="1"/>
          <p:nvPr/>
        </p:nvSpPr>
        <p:spPr>
          <a:xfrm>
            <a:off x="1624957" y="2013398"/>
            <a:ext cx="691215"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1023</a:t>
            </a:r>
            <a:endParaRPr lang="zh-CN" altLang="en-US" sz="1600" b="1" dirty="0">
              <a:latin typeface="微软雅黑" pitchFamily="34" charset="-122"/>
              <a:ea typeface="微软雅黑" pitchFamily="34" charset="-122"/>
            </a:endParaRPr>
          </a:p>
        </p:txBody>
      </p:sp>
      <p:sp>
        <p:nvSpPr>
          <p:cNvPr id="23" name="TextBox 22">
            <a:extLst>
              <a:ext uri="{FF2B5EF4-FFF2-40B4-BE49-F238E27FC236}">
                <a16:creationId xmlns:a16="http://schemas.microsoft.com/office/drawing/2014/main" id="{59B371B3-23E7-2EEA-10FC-6D190A2836D3}"/>
              </a:ext>
            </a:extLst>
          </p:cNvPr>
          <p:cNvSpPr txBox="1"/>
          <p:nvPr/>
        </p:nvSpPr>
        <p:spPr>
          <a:xfrm>
            <a:off x="2007484" y="2672439"/>
            <a:ext cx="691215"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1024</a:t>
            </a:r>
            <a:endParaRPr lang="zh-CN" altLang="en-US" sz="1600" b="1" dirty="0">
              <a:latin typeface="微软雅黑" pitchFamily="34" charset="-122"/>
              <a:ea typeface="微软雅黑" pitchFamily="34" charset="-122"/>
            </a:endParaRPr>
          </a:p>
        </p:txBody>
      </p:sp>
      <p:sp>
        <p:nvSpPr>
          <p:cNvPr id="24" name="TextBox 23">
            <a:extLst>
              <a:ext uri="{FF2B5EF4-FFF2-40B4-BE49-F238E27FC236}">
                <a16:creationId xmlns:a16="http://schemas.microsoft.com/office/drawing/2014/main" id="{1613F683-DD1C-CAC5-7D21-AEFD809E85A4}"/>
              </a:ext>
            </a:extLst>
          </p:cNvPr>
          <p:cNvSpPr txBox="1"/>
          <p:nvPr/>
        </p:nvSpPr>
        <p:spPr>
          <a:xfrm>
            <a:off x="5265688" y="2672439"/>
            <a:ext cx="877163"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49,151</a:t>
            </a:r>
            <a:endParaRPr lang="zh-CN" altLang="en-US" sz="1600" b="1" dirty="0">
              <a:latin typeface="微软雅黑" pitchFamily="34" charset="-122"/>
              <a:ea typeface="微软雅黑" pitchFamily="34" charset="-122"/>
            </a:endParaRPr>
          </a:p>
        </p:txBody>
      </p:sp>
      <p:sp>
        <p:nvSpPr>
          <p:cNvPr id="25" name="TextBox 24">
            <a:extLst>
              <a:ext uri="{FF2B5EF4-FFF2-40B4-BE49-F238E27FC236}">
                <a16:creationId xmlns:a16="http://schemas.microsoft.com/office/drawing/2014/main" id="{08F44882-096A-ED76-5CE9-5EFA8E956576}"/>
              </a:ext>
            </a:extLst>
          </p:cNvPr>
          <p:cNvSpPr txBox="1"/>
          <p:nvPr/>
        </p:nvSpPr>
        <p:spPr>
          <a:xfrm>
            <a:off x="5804497" y="2013398"/>
            <a:ext cx="877163"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49,152</a:t>
            </a:r>
            <a:endParaRPr lang="zh-CN" altLang="en-US" sz="1600" b="1" dirty="0">
              <a:latin typeface="微软雅黑" pitchFamily="34" charset="-122"/>
              <a:ea typeface="微软雅黑" pitchFamily="34" charset="-122"/>
            </a:endParaRPr>
          </a:p>
        </p:txBody>
      </p:sp>
      <p:sp>
        <p:nvSpPr>
          <p:cNvPr id="26" name="TextBox 25">
            <a:extLst>
              <a:ext uri="{FF2B5EF4-FFF2-40B4-BE49-F238E27FC236}">
                <a16:creationId xmlns:a16="http://schemas.microsoft.com/office/drawing/2014/main" id="{5C17A8AC-6164-CA6C-60C9-73BA39E15318}"/>
              </a:ext>
            </a:extLst>
          </p:cNvPr>
          <p:cNvSpPr txBox="1"/>
          <p:nvPr/>
        </p:nvSpPr>
        <p:spPr>
          <a:xfrm>
            <a:off x="7770616" y="2013398"/>
            <a:ext cx="877163"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65,535</a:t>
            </a:r>
            <a:endParaRPr lang="zh-CN" altLang="en-US" sz="1600" b="1" dirty="0">
              <a:latin typeface="微软雅黑" pitchFamily="34" charset="-122"/>
              <a:ea typeface="微软雅黑" pitchFamily="34" charset="-122"/>
            </a:endParaRPr>
          </a:p>
        </p:txBody>
      </p:sp>
      <p:grpSp>
        <p:nvGrpSpPr>
          <p:cNvPr id="2" name="组合 1">
            <a:extLst>
              <a:ext uri="{FF2B5EF4-FFF2-40B4-BE49-F238E27FC236}">
                <a16:creationId xmlns:a16="http://schemas.microsoft.com/office/drawing/2014/main" id="{78F8BDE9-C65C-F2EE-2998-804999025C1B}"/>
              </a:ext>
            </a:extLst>
          </p:cNvPr>
          <p:cNvGrpSpPr/>
          <p:nvPr/>
        </p:nvGrpSpPr>
        <p:grpSpPr>
          <a:xfrm>
            <a:off x="960955" y="1359718"/>
            <a:ext cx="4809227" cy="656668"/>
            <a:chOff x="960955" y="1359718"/>
            <a:chExt cx="4809227" cy="656668"/>
          </a:xfrm>
        </p:grpSpPr>
        <p:sp>
          <p:nvSpPr>
            <p:cNvPr id="27" name="矩形 26">
              <a:extLst>
                <a:ext uri="{FF2B5EF4-FFF2-40B4-BE49-F238E27FC236}">
                  <a16:creationId xmlns:a16="http://schemas.microsoft.com/office/drawing/2014/main" id="{C6B5FA3F-0C1A-C978-479B-7E6A95BA6CBB}"/>
                </a:ext>
              </a:extLst>
            </p:cNvPr>
            <p:cNvSpPr/>
            <p:nvPr/>
          </p:nvSpPr>
          <p:spPr>
            <a:xfrm>
              <a:off x="2247313" y="1359718"/>
              <a:ext cx="2236510" cy="338554"/>
            </a:xfrm>
            <a:prstGeom prst="rect">
              <a:avLst/>
            </a:prstGeom>
          </p:spPr>
          <p:txBody>
            <a:bodyPr wrap="none">
              <a:spAutoFit/>
            </a:bodyPr>
            <a:lstStyle/>
            <a:p>
              <a:pPr algn="ctr"/>
              <a:r>
                <a:rPr lang="zh-CN" altLang="en-US" sz="1600" b="1" dirty="0">
                  <a:solidFill>
                    <a:srgbClr val="C00000"/>
                  </a:solidFill>
                  <a:latin typeface="微软雅黑" pitchFamily="34" charset="-122"/>
                  <a:ea typeface="微软雅黑" pitchFamily="34" charset="-122"/>
                </a:rPr>
                <a:t>服务器端使用的端口号</a:t>
              </a:r>
            </a:p>
          </p:txBody>
        </p:sp>
        <p:sp>
          <p:nvSpPr>
            <p:cNvPr id="29" name="右大括号 28">
              <a:extLst>
                <a:ext uri="{FF2B5EF4-FFF2-40B4-BE49-F238E27FC236}">
                  <a16:creationId xmlns:a16="http://schemas.microsoft.com/office/drawing/2014/main" id="{DEBBAA86-9E47-638F-E775-F92F274091BA}"/>
                </a:ext>
              </a:extLst>
            </p:cNvPr>
            <p:cNvSpPr/>
            <p:nvPr/>
          </p:nvSpPr>
          <p:spPr>
            <a:xfrm rot="16200000">
              <a:off x="3222679" y="-531117"/>
              <a:ext cx="285779" cy="4809227"/>
            </a:xfrm>
            <a:prstGeom prst="rightBrace">
              <a:avLst>
                <a:gd name="adj1" fmla="val 34511"/>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5" name="组合 4">
            <a:extLst>
              <a:ext uri="{FF2B5EF4-FFF2-40B4-BE49-F238E27FC236}">
                <a16:creationId xmlns:a16="http://schemas.microsoft.com/office/drawing/2014/main" id="{CA307417-099D-1D54-42C6-C2EF611F8709}"/>
              </a:ext>
            </a:extLst>
          </p:cNvPr>
          <p:cNvGrpSpPr/>
          <p:nvPr/>
        </p:nvGrpSpPr>
        <p:grpSpPr>
          <a:xfrm>
            <a:off x="6042288" y="1359718"/>
            <a:ext cx="2313438" cy="656667"/>
            <a:chOff x="6042288" y="1359718"/>
            <a:chExt cx="2313438" cy="656667"/>
          </a:xfrm>
        </p:grpSpPr>
        <p:sp>
          <p:nvSpPr>
            <p:cNvPr id="28" name="矩形 27">
              <a:extLst>
                <a:ext uri="{FF2B5EF4-FFF2-40B4-BE49-F238E27FC236}">
                  <a16:creationId xmlns:a16="http://schemas.microsoft.com/office/drawing/2014/main" id="{BABB3374-DA3B-0684-041D-04229DD40277}"/>
                </a:ext>
              </a:extLst>
            </p:cNvPr>
            <p:cNvSpPr/>
            <p:nvPr/>
          </p:nvSpPr>
          <p:spPr>
            <a:xfrm>
              <a:off x="6183344" y="1359718"/>
              <a:ext cx="2031325" cy="338554"/>
            </a:xfrm>
            <a:prstGeom prst="rect">
              <a:avLst/>
            </a:prstGeom>
          </p:spPr>
          <p:txBody>
            <a:bodyPr wrap="none">
              <a:spAutoFit/>
            </a:bodyPr>
            <a:lstStyle/>
            <a:p>
              <a:pPr algn="ctr"/>
              <a:r>
                <a:rPr lang="zh-CN" altLang="en-US" sz="1600" b="1" dirty="0">
                  <a:solidFill>
                    <a:srgbClr val="C00000"/>
                  </a:solidFill>
                  <a:latin typeface="微软雅黑" pitchFamily="34" charset="-122"/>
                  <a:ea typeface="微软雅黑" pitchFamily="34" charset="-122"/>
                </a:rPr>
                <a:t>客户端使用的端口号</a:t>
              </a:r>
            </a:p>
          </p:txBody>
        </p:sp>
        <p:sp>
          <p:nvSpPr>
            <p:cNvPr id="30" name="右大括号 29">
              <a:extLst>
                <a:ext uri="{FF2B5EF4-FFF2-40B4-BE49-F238E27FC236}">
                  <a16:creationId xmlns:a16="http://schemas.microsoft.com/office/drawing/2014/main" id="{8130CA8D-4906-B9E1-8FA1-52780B1F5187}"/>
                </a:ext>
              </a:extLst>
            </p:cNvPr>
            <p:cNvSpPr/>
            <p:nvPr/>
          </p:nvSpPr>
          <p:spPr>
            <a:xfrm rot="16200000">
              <a:off x="7056117" y="716777"/>
              <a:ext cx="285779" cy="2313438"/>
            </a:xfrm>
            <a:prstGeom prst="rightBrace">
              <a:avLst>
                <a:gd name="adj1" fmla="val 34511"/>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31" name="AutoShape 16">
            <a:extLst>
              <a:ext uri="{FF2B5EF4-FFF2-40B4-BE49-F238E27FC236}">
                <a16:creationId xmlns:a16="http://schemas.microsoft.com/office/drawing/2014/main" id="{6F011D6A-46AF-7976-B414-50559133FD68}"/>
              </a:ext>
            </a:extLst>
          </p:cNvPr>
          <p:cNvSpPr>
            <a:spLocks noChangeArrowheads="1"/>
          </p:cNvSpPr>
          <p:nvPr/>
        </p:nvSpPr>
        <p:spPr bwMode="auto">
          <a:xfrm>
            <a:off x="1541606" y="2675538"/>
            <a:ext cx="258679" cy="335456"/>
          </a:xfrm>
          <a:prstGeom prst="upArrow">
            <a:avLst>
              <a:gd name="adj1" fmla="val 50000"/>
              <a:gd name="adj2" fmla="val 45000"/>
            </a:avLst>
          </a:prstGeom>
          <a:solidFill>
            <a:srgbClr val="FF66FF"/>
          </a:solidFill>
          <a:ln w="9525">
            <a:solidFill>
              <a:schemeClr val="tx1"/>
            </a:solidFill>
            <a:miter lim="800000"/>
            <a:headEnd/>
            <a:tailEnd/>
          </a:ln>
          <a:effectLst/>
        </p:spPr>
        <p:txBody>
          <a:bodyPr wrap="none" anchor="ctr"/>
          <a:lstStyle/>
          <a:p>
            <a:endParaRPr lang="zh-CN" altLang="en-US" sz="1600"/>
          </a:p>
        </p:txBody>
      </p:sp>
      <p:sp>
        <p:nvSpPr>
          <p:cNvPr id="32" name="矩形 31">
            <a:extLst>
              <a:ext uri="{FF2B5EF4-FFF2-40B4-BE49-F238E27FC236}">
                <a16:creationId xmlns:a16="http://schemas.microsoft.com/office/drawing/2014/main" id="{EE307568-DA89-AA23-D14F-CCCF4A85D3B1}"/>
              </a:ext>
            </a:extLst>
          </p:cNvPr>
          <p:cNvSpPr/>
          <p:nvPr/>
        </p:nvSpPr>
        <p:spPr>
          <a:xfrm>
            <a:off x="625769" y="3056515"/>
            <a:ext cx="2028119" cy="830997"/>
          </a:xfrm>
          <a:prstGeom prst="rect">
            <a:avLst/>
          </a:prstGeom>
        </p:spPr>
        <p:txBody>
          <a:bodyPr wrap="none">
            <a:spAutoFit/>
          </a:bodyPr>
          <a:lstStyle/>
          <a:p>
            <a:pPr algn="ctr"/>
            <a:r>
              <a:rPr lang="zh-CN" altLang="en-US" sz="1600" b="1" dirty="0">
                <a:solidFill>
                  <a:srgbClr val="0000FF"/>
                </a:solidFill>
                <a:latin typeface="微软雅黑" pitchFamily="34" charset="-122"/>
                <a:ea typeface="微软雅黑" pitchFamily="34" charset="-122"/>
              </a:rPr>
              <a:t>周知端口号</a:t>
            </a:r>
            <a:endParaRPr lang="en-US" altLang="zh-CN" sz="1600" b="1" dirty="0">
              <a:solidFill>
                <a:srgbClr val="0000FF"/>
              </a:solidFill>
              <a:latin typeface="微软雅黑" pitchFamily="34" charset="-122"/>
              <a:ea typeface="微软雅黑" pitchFamily="34" charset="-122"/>
            </a:endParaRPr>
          </a:p>
          <a:p>
            <a:pPr algn="ctr"/>
            <a:r>
              <a:rPr lang="zh-CN" altLang="en-US" sz="1600" b="1" dirty="0">
                <a:solidFill>
                  <a:srgbClr val="0000FF"/>
                </a:solidFill>
                <a:latin typeface="微软雅黑" pitchFamily="34" charset="-122"/>
                <a:ea typeface="微软雅黑" pitchFamily="34" charset="-122"/>
              </a:rPr>
              <a:t>（全球通用端口号）</a:t>
            </a:r>
            <a:endParaRPr lang="en-US" altLang="zh-CN" sz="1600" b="1" dirty="0">
              <a:solidFill>
                <a:srgbClr val="0000FF"/>
              </a:solidFill>
              <a:latin typeface="微软雅黑" pitchFamily="34" charset="-122"/>
              <a:ea typeface="微软雅黑" pitchFamily="34" charset="-122"/>
            </a:endParaRPr>
          </a:p>
          <a:p>
            <a:pPr algn="ctr"/>
            <a:r>
              <a:rPr lang="zh-CN" altLang="en-US" sz="1600" b="1" dirty="0">
                <a:solidFill>
                  <a:srgbClr val="0000FF"/>
                </a:solidFill>
                <a:latin typeface="微软雅黑" pitchFamily="34" charset="-122"/>
                <a:ea typeface="微软雅黑" pitchFamily="34" charset="-122"/>
              </a:rPr>
              <a:t>（</a:t>
            </a:r>
            <a:r>
              <a:rPr lang="en-US" altLang="zh-CN" sz="1600" b="1" dirty="0">
                <a:solidFill>
                  <a:srgbClr val="0000FF"/>
                </a:solidFill>
                <a:latin typeface="微软雅黑" pitchFamily="34" charset="-122"/>
                <a:ea typeface="微软雅黑" pitchFamily="34" charset="-122"/>
              </a:rPr>
              <a:t>IANA </a:t>
            </a:r>
            <a:r>
              <a:rPr lang="zh-CN" altLang="en-US" sz="1600" b="1" dirty="0">
                <a:solidFill>
                  <a:srgbClr val="0000FF"/>
                </a:solidFill>
                <a:latin typeface="微软雅黑" pitchFamily="34" charset="-122"/>
                <a:ea typeface="微软雅黑" pitchFamily="34" charset="-122"/>
              </a:rPr>
              <a:t>负责分配）</a:t>
            </a:r>
          </a:p>
        </p:txBody>
      </p:sp>
      <p:grpSp>
        <p:nvGrpSpPr>
          <p:cNvPr id="6" name="组合 5">
            <a:extLst>
              <a:ext uri="{FF2B5EF4-FFF2-40B4-BE49-F238E27FC236}">
                <a16:creationId xmlns:a16="http://schemas.microsoft.com/office/drawing/2014/main" id="{8164B81B-16E7-DD5D-312A-B466DD717F55}"/>
              </a:ext>
            </a:extLst>
          </p:cNvPr>
          <p:cNvGrpSpPr/>
          <p:nvPr/>
        </p:nvGrpSpPr>
        <p:grpSpPr>
          <a:xfrm>
            <a:off x="3120325" y="2675538"/>
            <a:ext cx="1883850" cy="965752"/>
            <a:chOff x="3120325" y="2675538"/>
            <a:chExt cx="1883850" cy="965752"/>
          </a:xfrm>
        </p:grpSpPr>
        <p:sp>
          <p:nvSpPr>
            <p:cNvPr id="33" name="AutoShape 16">
              <a:extLst>
                <a:ext uri="{FF2B5EF4-FFF2-40B4-BE49-F238E27FC236}">
                  <a16:creationId xmlns:a16="http://schemas.microsoft.com/office/drawing/2014/main" id="{1DA3793D-64EB-7CD7-C7FD-80BD8BA9C7DA}"/>
                </a:ext>
              </a:extLst>
            </p:cNvPr>
            <p:cNvSpPr>
              <a:spLocks noChangeArrowheads="1"/>
            </p:cNvSpPr>
            <p:nvPr/>
          </p:nvSpPr>
          <p:spPr bwMode="auto">
            <a:xfrm>
              <a:off x="3929712" y="2675538"/>
              <a:ext cx="258679" cy="335456"/>
            </a:xfrm>
            <a:prstGeom prst="upArrow">
              <a:avLst>
                <a:gd name="adj1" fmla="val 50000"/>
                <a:gd name="adj2" fmla="val 45000"/>
              </a:avLst>
            </a:prstGeom>
            <a:solidFill>
              <a:srgbClr val="FF66FF"/>
            </a:solidFill>
            <a:ln w="9525">
              <a:solidFill>
                <a:schemeClr val="tx1"/>
              </a:solidFill>
              <a:miter lim="800000"/>
              <a:headEnd/>
              <a:tailEnd/>
            </a:ln>
            <a:effectLst/>
          </p:spPr>
          <p:txBody>
            <a:bodyPr wrap="none" anchor="ctr"/>
            <a:lstStyle/>
            <a:p>
              <a:endParaRPr lang="zh-CN" altLang="en-US" sz="1600"/>
            </a:p>
          </p:txBody>
        </p:sp>
        <p:sp>
          <p:nvSpPr>
            <p:cNvPr id="34" name="矩形 33">
              <a:extLst>
                <a:ext uri="{FF2B5EF4-FFF2-40B4-BE49-F238E27FC236}">
                  <a16:creationId xmlns:a16="http://schemas.microsoft.com/office/drawing/2014/main" id="{DFAF9253-E862-9729-73BB-2D7B1366A0A8}"/>
                </a:ext>
              </a:extLst>
            </p:cNvPr>
            <p:cNvSpPr/>
            <p:nvPr/>
          </p:nvSpPr>
          <p:spPr>
            <a:xfrm>
              <a:off x="3120325" y="3056515"/>
              <a:ext cx="1883850" cy="584775"/>
            </a:xfrm>
            <a:prstGeom prst="rect">
              <a:avLst/>
            </a:prstGeom>
          </p:spPr>
          <p:txBody>
            <a:bodyPr wrap="none">
              <a:spAutoFit/>
            </a:bodyPr>
            <a:lstStyle/>
            <a:p>
              <a:pPr algn="ctr"/>
              <a:r>
                <a:rPr lang="zh-CN" altLang="en-US" sz="1600" b="1" dirty="0">
                  <a:solidFill>
                    <a:srgbClr val="0000FF"/>
                  </a:solidFill>
                  <a:latin typeface="微软雅黑" pitchFamily="34" charset="-122"/>
                  <a:ea typeface="微软雅黑" pitchFamily="34" charset="-122"/>
                </a:rPr>
                <a:t>登记端口</a:t>
              </a:r>
              <a:endParaRPr lang="en-US" altLang="zh-CN" sz="1600" b="1" dirty="0">
                <a:solidFill>
                  <a:srgbClr val="0000FF"/>
                </a:solidFill>
                <a:latin typeface="微软雅黑" pitchFamily="34" charset="-122"/>
                <a:ea typeface="微软雅黑" pitchFamily="34" charset="-122"/>
              </a:endParaRPr>
            </a:p>
            <a:p>
              <a:pPr algn="ctr"/>
              <a:r>
                <a:rPr lang="zh-CN" altLang="en-US" sz="1600" b="1" dirty="0">
                  <a:solidFill>
                    <a:srgbClr val="0000FF"/>
                  </a:solidFill>
                  <a:latin typeface="微软雅黑" pitchFamily="34" charset="-122"/>
                  <a:ea typeface="微软雅黑" pitchFamily="34" charset="-122"/>
                </a:rPr>
                <a:t>（在 </a:t>
              </a:r>
              <a:r>
                <a:rPr lang="en-US" altLang="zh-CN" sz="1600" b="1" dirty="0">
                  <a:solidFill>
                    <a:srgbClr val="0000FF"/>
                  </a:solidFill>
                  <a:latin typeface="微软雅黑" pitchFamily="34" charset="-122"/>
                  <a:ea typeface="微软雅黑" pitchFamily="34" charset="-122"/>
                </a:rPr>
                <a:t>IANA </a:t>
              </a:r>
              <a:r>
                <a:rPr lang="zh-CN" altLang="en-US" sz="1600" b="1" dirty="0">
                  <a:solidFill>
                    <a:srgbClr val="0000FF"/>
                  </a:solidFill>
                  <a:latin typeface="微软雅黑" pitchFamily="34" charset="-122"/>
                  <a:ea typeface="微软雅黑" pitchFamily="34" charset="-122"/>
                </a:rPr>
                <a:t>登记）</a:t>
              </a:r>
            </a:p>
          </p:txBody>
        </p:sp>
      </p:grpSp>
      <p:grpSp>
        <p:nvGrpSpPr>
          <p:cNvPr id="8" name="组合 7">
            <a:extLst>
              <a:ext uri="{FF2B5EF4-FFF2-40B4-BE49-F238E27FC236}">
                <a16:creationId xmlns:a16="http://schemas.microsoft.com/office/drawing/2014/main" id="{2046E044-ECED-96B9-5939-71F799E39DD5}"/>
              </a:ext>
            </a:extLst>
          </p:cNvPr>
          <p:cNvGrpSpPr/>
          <p:nvPr/>
        </p:nvGrpSpPr>
        <p:grpSpPr>
          <a:xfrm>
            <a:off x="6042287" y="2675538"/>
            <a:ext cx="2313438" cy="1211974"/>
            <a:chOff x="6042287" y="2675538"/>
            <a:chExt cx="2313438" cy="1211974"/>
          </a:xfrm>
        </p:grpSpPr>
        <p:sp>
          <p:nvSpPr>
            <p:cNvPr id="35" name="AutoShape 16">
              <a:extLst>
                <a:ext uri="{FF2B5EF4-FFF2-40B4-BE49-F238E27FC236}">
                  <a16:creationId xmlns:a16="http://schemas.microsoft.com/office/drawing/2014/main" id="{9F834106-D6A8-B469-70FE-77A67852F3E5}"/>
                </a:ext>
              </a:extLst>
            </p:cNvPr>
            <p:cNvSpPr>
              <a:spLocks noChangeArrowheads="1"/>
            </p:cNvSpPr>
            <p:nvPr/>
          </p:nvSpPr>
          <p:spPr bwMode="auto">
            <a:xfrm>
              <a:off x="7111293" y="2675538"/>
              <a:ext cx="258679" cy="335456"/>
            </a:xfrm>
            <a:prstGeom prst="upArrow">
              <a:avLst>
                <a:gd name="adj1" fmla="val 50000"/>
                <a:gd name="adj2" fmla="val 45000"/>
              </a:avLst>
            </a:prstGeom>
            <a:solidFill>
              <a:srgbClr val="FF66FF"/>
            </a:solidFill>
            <a:ln w="9525">
              <a:solidFill>
                <a:schemeClr val="tx1"/>
              </a:solidFill>
              <a:miter lim="800000"/>
              <a:headEnd/>
              <a:tailEnd/>
            </a:ln>
            <a:effectLst/>
          </p:spPr>
          <p:txBody>
            <a:bodyPr wrap="none" anchor="ctr"/>
            <a:lstStyle/>
            <a:p>
              <a:endParaRPr lang="zh-CN" altLang="en-US" sz="1600"/>
            </a:p>
          </p:txBody>
        </p:sp>
        <p:sp>
          <p:nvSpPr>
            <p:cNvPr id="36" name="矩形 35">
              <a:extLst>
                <a:ext uri="{FF2B5EF4-FFF2-40B4-BE49-F238E27FC236}">
                  <a16:creationId xmlns:a16="http://schemas.microsoft.com/office/drawing/2014/main" id="{B86FEB5D-9CDB-A8C9-F62D-C0FE9904E3B1}"/>
                </a:ext>
              </a:extLst>
            </p:cNvPr>
            <p:cNvSpPr/>
            <p:nvPr/>
          </p:nvSpPr>
          <p:spPr>
            <a:xfrm>
              <a:off x="6042287" y="3056515"/>
              <a:ext cx="2313438" cy="830997"/>
            </a:xfrm>
            <a:prstGeom prst="rect">
              <a:avLst/>
            </a:prstGeom>
          </p:spPr>
          <p:txBody>
            <a:bodyPr wrap="square">
              <a:spAutoFit/>
            </a:bodyPr>
            <a:lstStyle/>
            <a:p>
              <a:pPr algn="ctr"/>
              <a:r>
                <a:rPr lang="zh-CN" altLang="en-US" sz="1600" b="1" dirty="0">
                  <a:solidFill>
                    <a:srgbClr val="0000FF"/>
                  </a:solidFill>
                  <a:latin typeface="微软雅黑" pitchFamily="34" charset="-122"/>
                  <a:ea typeface="微软雅黑" pitchFamily="34" charset="-122"/>
                </a:rPr>
                <a:t>短暂端口</a:t>
              </a:r>
              <a:endParaRPr lang="en-US" altLang="zh-CN" sz="1600" b="1" dirty="0">
                <a:solidFill>
                  <a:srgbClr val="0000FF"/>
                </a:solidFill>
                <a:latin typeface="微软雅黑" pitchFamily="34" charset="-122"/>
                <a:ea typeface="微软雅黑" pitchFamily="34" charset="-122"/>
              </a:endParaRPr>
            </a:p>
            <a:p>
              <a:pPr algn="ctr"/>
              <a:r>
                <a:rPr lang="zh-CN" altLang="en-US" sz="1600" b="1" dirty="0">
                  <a:solidFill>
                    <a:srgbClr val="0000FF"/>
                  </a:solidFill>
                  <a:latin typeface="微软雅黑" pitchFamily="34" charset="-122"/>
                  <a:ea typeface="微软雅黑" pitchFamily="34" charset="-122"/>
                </a:rPr>
                <a:t>（临时使用，通信结束后，被系统收回）</a:t>
              </a:r>
            </a:p>
          </p:txBody>
        </p:sp>
      </p:grpSp>
    </p:spTree>
    <p:extLst>
      <p:ext uri="{BB962C8B-B14F-4D97-AF65-F5344CB8AC3E}">
        <p14:creationId xmlns:p14="http://schemas.microsoft.com/office/powerpoint/2010/main" val="678974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2000" fill="hold" nodeType="withEffect">
                                  <p:stCondLst>
                                    <p:cond delay="0"/>
                                  </p:stCondLst>
                                  <p:childTnLst>
                                    <p:anim calcmode="discrete" valueType="str">
                                      <p:cBhvr>
                                        <p:cTn id="6" dur="1000" fill="hold"/>
                                        <p:tgtEl>
                                          <p:spTgt spid="6"/>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2000" fill="hold" nodeType="clickEffect">
                                  <p:stCondLst>
                                    <p:cond delay="0"/>
                                  </p:stCondLst>
                                  <p:childTnLst>
                                    <p:anim calcmode="discrete" valueType="str">
                                      <p:cBhvr>
                                        <p:cTn id="10" dur="1000" fill="hold"/>
                                        <p:tgtEl>
                                          <p:spTgt spid="5"/>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2000" fill="hold" nodeType="clickEffect">
                                  <p:stCondLst>
                                    <p:cond delay="0"/>
                                  </p:stCondLst>
                                  <p:childTnLst>
                                    <p:anim calcmode="discrete" valueType="str">
                                      <p:cBhvr>
                                        <p:cTn id="14"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
          <p:cNvSpPr>
            <a:spLocks noChangeArrowheads="1"/>
          </p:cNvSpPr>
          <p:nvPr/>
        </p:nvSpPr>
        <p:spPr bwMode="auto">
          <a:xfrm>
            <a:off x="2629135" y="1273139"/>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6" name="Rectangle 10"/>
          <p:cNvSpPr>
            <a:spLocks noChangeArrowheads="1"/>
          </p:cNvSpPr>
          <p:nvPr/>
        </p:nvSpPr>
        <p:spPr bwMode="auto">
          <a:xfrm>
            <a:off x="2629135" y="1879564"/>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8" name="Line 16"/>
          <p:cNvSpPr>
            <a:spLocks noChangeShapeType="1"/>
          </p:cNvSpPr>
          <p:nvPr/>
        </p:nvSpPr>
        <p:spPr bwMode="auto">
          <a:xfrm>
            <a:off x="3637198" y="1201701"/>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Rectangle 8"/>
          <p:cNvSpPr>
            <a:spLocks noChangeArrowheads="1"/>
          </p:cNvSpPr>
          <p:nvPr/>
        </p:nvSpPr>
        <p:spPr bwMode="auto">
          <a:xfrm>
            <a:off x="2700573" y="1019139"/>
            <a:ext cx="547211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5.2.1                                              UDP </a:t>
            </a:r>
            <a:r>
              <a:rPr lang="zh-CN" altLang="en-US" sz="2000" b="1" dirty="0">
                <a:solidFill>
                  <a:schemeClr val="bg1"/>
                </a:solidFill>
                <a:latin typeface="微软雅黑" pitchFamily="34" charset="-122"/>
                <a:ea typeface="微软雅黑" pitchFamily="34" charset="-122"/>
              </a:rPr>
              <a:t>概述</a:t>
            </a:r>
          </a:p>
          <a:p>
            <a:pPr eaLnBrk="0" hangingPunct="0">
              <a:lnSpc>
                <a:spcPct val="200000"/>
              </a:lnSpc>
            </a:pPr>
            <a:r>
              <a:rPr lang="en-US" altLang="zh-CN" sz="2000" b="1" dirty="0">
                <a:solidFill>
                  <a:schemeClr val="bg1"/>
                </a:solidFill>
                <a:latin typeface="微软雅黑" pitchFamily="34" charset="-122"/>
                <a:ea typeface="微软雅黑" pitchFamily="34" charset="-122"/>
              </a:rPr>
              <a:t>5.2.2                                    UDP </a:t>
            </a:r>
            <a:r>
              <a:rPr lang="zh-CN" altLang="en-US" sz="2000" b="1" dirty="0">
                <a:solidFill>
                  <a:schemeClr val="bg1"/>
                </a:solidFill>
                <a:latin typeface="微软雅黑" pitchFamily="34" charset="-122"/>
                <a:ea typeface="微软雅黑" pitchFamily="34" charset="-122"/>
              </a:rPr>
              <a:t>的首部格式</a:t>
            </a:r>
          </a:p>
        </p:txBody>
      </p:sp>
      <p:sp>
        <p:nvSpPr>
          <p:cNvPr id="10" name="Rectangle 27"/>
          <p:cNvSpPr>
            <a:spLocks noChangeArrowheads="1"/>
          </p:cNvSpPr>
          <p:nvPr/>
        </p:nvSpPr>
        <p:spPr bwMode="auto">
          <a:xfrm>
            <a:off x="639730" y="1273139"/>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1" name="Rectangle 29"/>
          <p:cNvSpPr>
            <a:spLocks noChangeArrowheads="1"/>
          </p:cNvSpPr>
          <p:nvPr/>
        </p:nvSpPr>
        <p:spPr bwMode="auto">
          <a:xfrm>
            <a:off x="648619" y="1368071"/>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5.2</a:t>
            </a:r>
          </a:p>
          <a:p>
            <a:pPr eaLnBrk="0" hangingPunct="0"/>
            <a:r>
              <a:rPr lang="zh-CN" altLang="en-US" sz="2000" b="1" dirty="0">
                <a:solidFill>
                  <a:schemeClr val="bg1"/>
                </a:solidFill>
                <a:latin typeface="微软雅黑" pitchFamily="34" charset="-122"/>
                <a:ea typeface="微软雅黑" pitchFamily="34" charset="-122"/>
              </a:rPr>
              <a:t>用户数据报协议 </a:t>
            </a:r>
            <a:r>
              <a:rPr lang="en-US" altLang="zh-CN" sz="2000" b="1" dirty="0">
                <a:solidFill>
                  <a:schemeClr val="bg1"/>
                </a:solidFill>
                <a:latin typeface="微软雅黑" pitchFamily="34" charset="-122"/>
                <a:ea typeface="微软雅黑" pitchFamily="34" charset="-122"/>
              </a:rPr>
              <a:t>UDP</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6481638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545144" y="2228205"/>
            <a:ext cx="8053710" cy="19964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AutoShape 5"/>
          <p:cNvSpPr>
            <a:spLocks noChangeArrowheads="1"/>
          </p:cNvSpPr>
          <p:nvPr/>
        </p:nvSpPr>
        <p:spPr bwMode="auto">
          <a:xfrm>
            <a:off x="545143" y="619820"/>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102" name="Rectangle 6"/>
          <p:cNvSpPr>
            <a:spLocks noChangeArrowheads="1"/>
          </p:cNvSpPr>
          <p:nvPr/>
        </p:nvSpPr>
        <p:spPr bwMode="auto">
          <a:xfrm>
            <a:off x="3320698" y="577549"/>
            <a:ext cx="25026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5.2.1  UDP </a:t>
            </a:r>
            <a:r>
              <a:rPr lang="zh-CN" altLang="en-US" sz="2400" b="1" dirty="0">
                <a:solidFill>
                  <a:schemeClr val="bg1"/>
                </a:solidFill>
                <a:latin typeface="微软雅黑" pitchFamily="34" charset="-122"/>
                <a:ea typeface="微软雅黑" pitchFamily="34" charset="-122"/>
              </a:rPr>
              <a:t>概述</a:t>
            </a:r>
          </a:p>
        </p:txBody>
      </p:sp>
      <p:sp>
        <p:nvSpPr>
          <p:cNvPr id="103" name="Rectangle 8"/>
          <p:cNvSpPr>
            <a:spLocks noChangeArrowheads="1"/>
          </p:cNvSpPr>
          <p:nvPr/>
        </p:nvSpPr>
        <p:spPr bwMode="auto">
          <a:xfrm>
            <a:off x="739495" y="1019888"/>
            <a:ext cx="7665003"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en-US" altLang="zh-CN" b="1" dirty="0">
                <a:latin typeface="微软雅黑" pitchFamily="34" charset="-122"/>
                <a:ea typeface="微软雅黑" pitchFamily="34" charset="-122"/>
              </a:rPr>
              <a:t>UDP </a:t>
            </a:r>
            <a:r>
              <a:rPr lang="zh-CN" altLang="en-US" b="1" dirty="0">
                <a:latin typeface="微软雅黑" pitchFamily="34" charset="-122"/>
                <a:ea typeface="微软雅黑" pitchFamily="34" charset="-122"/>
              </a:rPr>
              <a:t>只在 </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的数据报服务之上增加了一些功能：</a:t>
            </a:r>
          </a:p>
          <a:p>
            <a:pPr marL="625475" indent="-342900">
              <a:lnSpc>
                <a:spcPts val="3000"/>
              </a:lnSpc>
              <a:buClr>
                <a:srgbClr val="7030A0"/>
              </a:buClr>
              <a:buFont typeface="+mj-lt"/>
              <a:buAutoNum type="arabicPeriod"/>
            </a:pPr>
            <a:r>
              <a:rPr lang="zh-CN" altLang="en-US" b="1" dirty="0">
                <a:latin typeface="微软雅黑" pitchFamily="34" charset="-122"/>
                <a:ea typeface="微软雅黑" pitchFamily="34" charset="-122"/>
              </a:rPr>
              <a:t>复用和分用</a:t>
            </a:r>
            <a:endParaRPr lang="en-US" altLang="zh-CN" b="1" dirty="0">
              <a:latin typeface="微软雅黑" pitchFamily="34" charset="-122"/>
              <a:ea typeface="微软雅黑" pitchFamily="34" charset="-122"/>
            </a:endParaRPr>
          </a:p>
          <a:p>
            <a:pPr marL="625475" indent="-342900">
              <a:lnSpc>
                <a:spcPts val="3000"/>
              </a:lnSpc>
              <a:buClr>
                <a:srgbClr val="7030A0"/>
              </a:buClr>
              <a:buFont typeface="+mj-lt"/>
              <a:buAutoNum type="arabicPeriod"/>
            </a:pPr>
            <a:r>
              <a:rPr lang="zh-CN" altLang="en-US" b="1" dirty="0">
                <a:latin typeface="微软雅黑" pitchFamily="34" charset="-122"/>
                <a:ea typeface="微软雅黑" pitchFamily="34" charset="-122"/>
              </a:rPr>
              <a:t>差错检测</a:t>
            </a:r>
          </a:p>
        </p:txBody>
      </p:sp>
      <p:graphicFrame>
        <p:nvGraphicFramePr>
          <p:cNvPr id="2" name="对象 1"/>
          <p:cNvGraphicFramePr>
            <a:graphicFrameLocks noGrp="1" noChangeAspect="1"/>
          </p:cNvGraphicFramePr>
          <p:nvPr>
            <p:extLst>
              <p:ext uri="{D42A27DB-BD31-4B8C-83A1-F6EECF244321}">
                <p14:modId xmlns:p14="http://schemas.microsoft.com/office/powerpoint/2010/main" val="3324255847"/>
              </p:ext>
            </p:extLst>
          </p:nvPr>
        </p:nvGraphicFramePr>
        <p:xfrm>
          <a:off x="2361104" y="2302095"/>
          <a:ext cx="4187237" cy="1839595"/>
        </p:xfrm>
        <a:graphic>
          <a:graphicData uri="http://schemas.openxmlformats.org/presentationml/2006/ole">
            <mc:AlternateContent xmlns:mc="http://schemas.openxmlformats.org/markup-compatibility/2006">
              <mc:Choice xmlns:v="urn:schemas-microsoft-com:vml" Requires="v">
                <p:oleObj name="Visio" r:id="rId3" imgW="8733536" imgH="3835153" progId="">
                  <p:embed/>
                </p:oleObj>
              </mc:Choice>
              <mc:Fallback>
                <p:oleObj name="Visio" r:id="rId3" imgW="8733536" imgH="3835153" progId="">
                  <p:embed/>
                  <p:pic>
                    <p:nvPicPr>
                      <p:cNvPr id="0" name="Picture 7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1104" y="2302095"/>
                        <a:ext cx="4187237" cy="18395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6835817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56963" y="62292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7" name="Rectangle 6"/>
          <p:cNvSpPr>
            <a:spLocks noChangeArrowheads="1"/>
          </p:cNvSpPr>
          <p:nvPr/>
        </p:nvSpPr>
        <p:spPr bwMode="auto">
          <a:xfrm>
            <a:off x="3485538" y="589718"/>
            <a:ext cx="2191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UDP </a:t>
            </a:r>
            <a:r>
              <a:rPr lang="zh-CN" altLang="en-US" sz="2000" b="1" dirty="0">
                <a:solidFill>
                  <a:schemeClr val="bg1"/>
                </a:solidFill>
                <a:latin typeface="微软雅黑" pitchFamily="34" charset="-122"/>
                <a:ea typeface="微软雅黑" pitchFamily="34" charset="-122"/>
              </a:rPr>
              <a:t>的主要特点</a:t>
            </a:r>
          </a:p>
        </p:txBody>
      </p:sp>
      <p:sp>
        <p:nvSpPr>
          <p:cNvPr id="8" name="Rectangle 68"/>
          <p:cNvSpPr>
            <a:spLocks noChangeArrowheads="1"/>
          </p:cNvSpPr>
          <p:nvPr/>
        </p:nvSpPr>
        <p:spPr bwMode="auto">
          <a:xfrm>
            <a:off x="556963" y="986386"/>
            <a:ext cx="8184960" cy="12083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7030A0"/>
              </a:buClr>
              <a:buFont typeface="+mj-lt"/>
              <a:buAutoNum type="arabicPeriod"/>
            </a:pPr>
            <a:r>
              <a:rPr lang="zh-CN" altLang="en-US" sz="1900" b="1" dirty="0">
                <a:solidFill>
                  <a:srgbClr val="0000FF"/>
                </a:solidFill>
                <a:latin typeface="微软雅黑" pitchFamily="34" charset="-122"/>
                <a:ea typeface="微软雅黑" pitchFamily="34" charset="-122"/>
              </a:rPr>
              <a:t>无连接</a:t>
            </a:r>
            <a:r>
              <a:rPr lang="zh-CN" altLang="en-US" sz="1900" b="1" dirty="0">
                <a:latin typeface="微软雅黑" pitchFamily="34" charset="-122"/>
                <a:ea typeface="微软雅黑" pitchFamily="34" charset="-122"/>
              </a:rPr>
              <a:t>。发送数据之前不需要建立连接。</a:t>
            </a:r>
          </a:p>
          <a:p>
            <a:pPr marL="342900" indent="-342900">
              <a:lnSpc>
                <a:spcPts val="3000"/>
              </a:lnSpc>
              <a:buClr>
                <a:srgbClr val="7030A0"/>
              </a:buClr>
              <a:buFont typeface="+mj-lt"/>
              <a:buAutoNum type="arabicPeriod"/>
            </a:pPr>
            <a:r>
              <a:rPr lang="zh-CN" altLang="en-US" sz="1900" b="1" dirty="0">
                <a:solidFill>
                  <a:srgbClr val="0000FF"/>
                </a:solidFill>
                <a:latin typeface="微软雅黑" pitchFamily="34" charset="-122"/>
                <a:ea typeface="微软雅黑" pitchFamily="34" charset="-122"/>
              </a:rPr>
              <a:t>使用尽最大努力交付</a:t>
            </a:r>
            <a:r>
              <a:rPr lang="zh-CN" altLang="en-US" sz="1900" b="1" dirty="0">
                <a:latin typeface="微软雅黑" pitchFamily="34" charset="-122"/>
                <a:ea typeface="微软雅黑" pitchFamily="34" charset="-122"/>
              </a:rPr>
              <a:t>。即不保证可靠交付。</a:t>
            </a:r>
          </a:p>
          <a:p>
            <a:pPr marL="342900" indent="-342900">
              <a:lnSpc>
                <a:spcPts val="3000"/>
              </a:lnSpc>
              <a:buClr>
                <a:srgbClr val="7030A0"/>
              </a:buClr>
              <a:buFont typeface="+mj-lt"/>
              <a:buAutoNum type="arabicPeriod"/>
            </a:pPr>
            <a:r>
              <a:rPr lang="zh-CN" altLang="en-US" sz="1900" b="1" dirty="0">
                <a:solidFill>
                  <a:srgbClr val="0000FF"/>
                </a:solidFill>
                <a:latin typeface="微软雅黑" pitchFamily="34" charset="-122"/>
                <a:ea typeface="微软雅黑" pitchFamily="34" charset="-122"/>
              </a:rPr>
              <a:t>面向报文</a:t>
            </a:r>
            <a:r>
              <a:rPr lang="zh-CN" altLang="en-US" sz="1900" b="1" dirty="0">
                <a:latin typeface="微软雅黑" pitchFamily="34" charset="-122"/>
                <a:ea typeface="微软雅黑" pitchFamily="34" charset="-122"/>
              </a:rPr>
              <a:t>。对应用程序交下来的报文，在添加首部后就向下交付</a:t>
            </a:r>
            <a:r>
              <a:rPr lang="en-US" altLang="zh-CN" sz="1900" b="1" dirty="0">
                <a:latin typeface="微软雅黑" pitchFamily="34" charset="-122"/>
                <a:ea typeface="微软雅黑" pitchFamily="34" charset="-122"/>
              </a:rPr>
              <a:t>IP</a:t>
            </a:r>
            <a:r>
              <a:rPr lang="zh-CN" altLang="en-US" sz="1900" b="1" dirty="0">
                <a:latin typeface="微软雅黑" pitchFamily="34" charset="-122"/>
                <a:ea typeface="微软雅黑" pitchFamily="34" charset="-122"/>
              </a:rPr>
              <a:t>层。 </a:t>
            </a:r>
            <a:endParaRPr lang="en-US" altLang="zh-CN" sz="1900" b="1" dirty="0">
              <a:latin typeface="微软雅黑" pitchFamily="34" charset="-122"/>
              <a:ea typeface="微软雅黑" pitchFamily="34" charset="-122"/>
            </a:endParaRPr>
          </a:p>
        </p:txBody>
      </p:sp>
    </p:spTree>
    <p:extLst>
      <p:ext uri="{BB962C8B-B14F-4D97-AF65-F5344CB8AC3E}">
        <p14:creationId xmlns:p14="http://schemas.microsoft.com/office/powerpoint/2010/main" val="2658655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animEffect transition="in" filter="fade">
                                      <p:cBhvr>
                                        <p:cTn id="14" dur="1000"/>
                                        <p:tgtEl>
                                          <p:spTgt spid="8">
                                            <p:txEl>
                                              <p:pRg st="1" end="1"/>
                                            </p:txEl>
                                          </p:spTgt>
                                        </p:tgtEl>
                                      </p:cBhvr>
                                    </p:animEffect>
                                    <p:anim calcmode="lin" valueType="num">
                                      <p:cBhvr>
                                        <p:cTn id="15"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xEl>
                                              <p:pRg st="2" end="2"/>
                                            </p:txEl>
                                          </p:spTgt>
                                        </p:tgtEl>
                                        <p:attrNameLst>
                                          <p:attrName>style.visibility</p:attrName>
                                        </p:attrNameLst>
                                      </p:cBhvr>
                                      <p:to>
                                        <p:strVal val="visible"/>
                                      </p:to>
                                    </p:set>
                                    <p:animEffect transition="in" filter="fade">
                                      <p:cBhvr>
                                        <p:cTn id="21" dur="1000"/>
                                        <p:tgtEl>
                                          <p:spTgt spid="8">
                                            <p:txEl>
                                              <p:pRg st="2" end="2"/>
                                            </p:txEl>
                                          </p:spTgt>
                                        </p:tgtEl>
                                      </p:cBhvr>
                                    </p:animEffect>
                                    <p:anim calcmode="lin" valueType="num">
                                      <p:cBhvr>
                                        <p:cTn id="22"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5" y="620140"/>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411435" y="597050"/>
            <a:ext cx="23038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ea typeface="微软雅黑" pitchFamily="34" charset="-122"/>
              </a:rPr>
              <a:t>UDP </a:t>
            </a:r>
            <a:r>
              <a:rPr lang="zh-CN" altLang="en-US" sz="2000" b="1" dirty="0">
                <a:solidFill>
                  <a:schemeClr val="bg1"/>
                </a:solidFill>
                <a:ea typeface="微软雅黑" pitchFamily="34" charset="-122"/>
              </a:rPr>
              <a:t>是面向报文的</a:t>
            </a:r>
          </a:p>
        </p:txBody>
      </p:sp>
      <p:sp>
        <p:nvSpPr>
          <p:cNvPr id="4" name="圆角矩形 3"/>
          <p:cNvSpPr/>
          <p:nvPr/>
        </p:nvSpPr>
        <p:spPr>
          <a:xfrm>
            <a:off x="545145" y="1080247"/>
            <a:ext cx="8053710" cy="242495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1553426" y="1237129"/>
            <a:ext cx="5832888" cy="2070848"/>
            <a:chOff x="422071" y="1628800"/>
            <a:chExt cx="9004747" cy="3529013"/>
          </a:xfrm>
        </p:grpSpPr>
        <p:sp>
          <p:nvSpPr>
            <p:cNvPr id="6" name="AutoShape 3"/>
            <p:cNvSpPr>
              <a:spLocks noChangeArrowheads="1"/>
            </p:cNvSpPr>
            <p:nvPr/>
          </p:nvSpPr>
          <p:spPr bwMode="auto">
            <a:xfrm flipH="1">
              <a:off x="422071" y="4565675"/>
              <a:ext cx="863600" cy="363538"/>
            </a:xfrm>
            <a:prstGeom prst="rightArrow">
              <a:avLst>
                <a:gd name="adj1" fmla="val 50000"/>
                <a:gd name="adj2" fmla="val 118788"/>
              </a:avLst>
            </a:prstGeom>
            <a:solidFill>
              <a:srgbClr val="FF00FF"/>
            </a:solidFill>
            <a:ln w="12700">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7" name="Rectangle 4"/>
            <p:cNvSpPr>
              <a:spLocks noChangeArrowheads="1"/>
            </p:cNvSpPr>
            <p:nvPr/>
          </p:nvSpPr>
          <p:spPr bwMode="auto">
            <a:xfrm>
              <a:off x="2360409" y="3678263"/>
              <a:ext cx="5915024" cy="730250"/>
            </a:xfrm>
            <a:prstGeom prst="rect">
              <a:avLst/>
            </a:prstGeom>
            <a:gradFill flip="none" rotWithShape="1">
              <a:gsLst>
                <a:gs pos="0">
                  <a:srgbClr val="00FFFF"/>
                </a:gs>
                <a:gs pos="77000">
                  <a:srgbClr val="CCCCFF"/>
                </a:gs>
              </a:gsLst>
              <a:lin ang="5400000" scaled="1"/>
              <a:tileRect/>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8" name="Rectangle 5"/>
            <p:cNvSpPr>
              <a:spLocks noChangeArrowheads="1"/>
            </p:cNvSpPr>
            <p:nvPr/>
          </p:nvSpPr>
          <p:spPr bwMode="auto">
            <a:xfrm>
              <a:off x="3824084" y="2230461"/>
              <a:ext cx="4425949" cy="720726"/>
            </a:xfrm>
            <a:prstGeom prst="rect">
              <a:avLst/>
            </a:prstGeom>
            <a:gradFill rotWithShape="1">
              <a:gsLst>
                <a:gs pos="0">
                  <a:srgbClr val="66FF66"/>
                </a:gs>
                <a:gs pos="33000">
                  <a:srgbClr val="66FF66"/>
                </a:gs>
                <a:gs pos="100000">
                  <a:srgbClr val="00FFFF"/>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9" name="Rectangle 6"/>
            <p:cNvSpPr>
              <a:spLocks noChangeArrowheads="1"/>
            </p:cNvSpPr>
            <p:nvPr/>
          </p:nvSpPr>
          <p:spPr bwMode="auto">
            <a:xfrm>
              <a:off x="2360409" y="2952775"/>
              <a:ext cx="5915025" cy="722313"/>
            </a:xfrm>
            <a:prstGeom prst="rect">
              <a:avLst/>
            </a:prstGeom>
            <a:solidFill>
              <a:srgbClr val="00FFFF"/>
            </a:solidFill>
            <a:ln w="2857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10" name="Rectangle 7"/>
            <p:cNvSpPr>
              <a:spLocks noChangeArrowheads="1"/>
            </p:cNvSpPr>
            <p:nvPr/>
          </p:nvSpPr>
          <p:spPr bwMode="auto">
            <a:xfrm>
              <a:off x="1238046" y="4408513"/>
              <a:ext cx="7037388" cy="749300"/>
            </a:xfrm>
            <a:prstGeom prst="rect">
              <a:avLst/>
            </a:prstGeom>
            <a:solidFill>
              <a:srgbClr val="0000FF"/>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Rectangle 8"/>
            <p:cNvSpPr>
              <a:spLocks noChangeArrowheads="1"/>
            </p:cNvSpPr>
            <p:nvPr/>
          </p:nvSpPr>
          <p:spPr bwMode="auto">
            <a:xfrm>
              <a:off x="2360410" y="4437088"/>
              <a:ext cx="5891213" cy="690561"/>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12" name="Rectangle 9"/>
            <p:cNvSpPr>
              <a:spLocks noChangeArrowheads="1"/>
            </p:cNvSpPr>
            <p:nvPr/>
          </p:nvSpPr>
          <p:spPr bwMode="auto">
            <a:xfrm>
              <a:off x="3747885" y="4573614"/>
              <a:ext cx="2858279"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effectLst/>
                  <a:uLnTx/>
                  <a:uFillTx/>
                  <a:latin typeface="微软雅黑" pitchFamily="34" charset="-122"/>
                  <a:ea typeface="微软雅黑" pitchFamily="34" charset="-122"/>
                </a:rPr>
                <a:t>IP </a:t>
              </a:r>
              <a:r>
                <a:rPr kumimoji="0" lang="zh-CN" altLang="en-US" sz="1400" b="1" i="0" u="none" strike="noStrike" kern="0" cap="none" spc="0" normalizeH="0" baseline="0" noProof="0">
                  <a:ln>
                    <a:noFill/>
                  </a:ln>
                  <a:effectLst/>
                  <a:uLnTx/>
                  <a:uFillTx/>
                  <a:latin typeface="微软雅黑" pitchFamily="34" charset="-122"/>
                  <a:ea typeface="微软雅黑" pitchFamily="34" charset="-122"/>
                </a:rPr>
                <a:t>数据报的数据部分</a:t>
              </a:r>
            </a:p>
          </p:txBody>
        </p:sp>
        <p:sp>
          <p:nvSpPr>
            <p:cNvPr id="13" name="Rectangle 10"/>
            <p:cNvSpPr>
              <a:spLocks noChangeArrowheads="1"/>
            </p:cNvSpPr>
            <p:nvPr/>
          </p:nvSpPr>
          <p:spPr bwMode="auto">
            <a:xfrm>
              <a:off x="1199946" y="4543449"/>
              <a:ext cx="1195282"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IP </a:t>
              </a:r>
              <a:r>
                <a:rPr kumimoji="0" lang="zh-CN" altLang="en-US" sz="14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首部</a:t>
              </a:r>
            </a:p>
          </p:txBody>
        </p:sp>
        <p:sp>
          <p:nvSpPr>
            <p:cNvPr id="14" name="Rectangle 11"/>
            <p:cNvSpPr>
              <a:spLocks noChangeArrowheads="1"/>
            </p:cNvSpPr>
            <p:nvPr/>
          </p:nvSpPr>
          <p:spPr bwMode="auto">
            <a:xfrm>
              <a:off x="8313203" y="4553358"/>
              <a:ext cx="918116"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srgbClr val="0000FF"/>
                  </a:solidFill>
                  <a:effectLst/>
                  <a:uLnTx/>
                  <a:uFillTx/>
                  <a:latin typeface="微软雅黑" pitchFamily="34" charset="-122"/>
                  <a:ea typeface="微软雅黑" pitchFamily="34" charset="-122"/>
                </a:rPr>
                <a:t>IP </a:t>
              </a:r>
              <a:r>
                <a:rPr kumimoji="0" lang="zh-CN" altLang="en-US" sz="1400" b="1" i="0" u="none" strike="noStrike" kern="0" cap="none" spc="0" normalizeH="0" baseline="0" noProof="0">
                  <a:ln>
                    <a:noFill/>
                  </a:ln>
                  <a:solidFill>
                    <a:srgbClr val="0000FF"/>
                  </a:solidFill>
                  <a:effectLst/>
                  <a:uLnTx/>
                  <a:uFillTx/>
                  <a:latin typeface="微软雅黑" pitchFamily="34" charset="-122"/>
                  <a:ea typeface="微软雅黑" pitchFamily="34" charset="-122"/>
                </a:rPr>
                <a:t>层</a:t>
              </a:r>
            </a:p>
          </p:txBody>
        </p:sp>
        <p:sp>
          <p:nvSpPr>
            <p:cNvPr id="15" name="Line 12"/>
            <p:cNvSpPr>
              <a:spLocks noChangeShapeType="1"/>
            </p:cNvSpPr>
            <p:nvPr/>
          </p:nvSpPr>
          <p:spPr bwMode="auto">
            <a:xfrm>
              <a:off x="3824084" y="2952775"/>
              <a:ext cx="0" cy="7223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16" name="AutoShape 13"/>
            <p:cNvSpPr>
              <a:spLocks noChangeArrowheads="1"/>
            </p:cNvSpPr>
            <p:nvPr/>
          </p:nvSpPr>
          <p:spPr bwMode="auto">
            <a:xfrm rot="16200000" flipH="1">
              <a:off x="4890884" y="3994175"/>
              <a:ext cx="963612" cy="325438"/>
            </a:xfrm>
            <a:prstGeom prst="rightArrow">
              <a:avLst>
                <a:gd name="adj1" fmla="val 50000"/>
                <a:gd name="adj2" fmla="val 148062"/>
              </a:avLst>
            </a:prstGeom>
            <a:solidFill>
              <a:srgbClr val="FFFF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17" name="Rectangle 14"/>
            <p:cNvSpPr>
              <a:spLocks noChangeArrowheads="1"/>
            </p:cNvSpPr>
            <p:nvPr/>
          </p:nvSpPr>
          <p:spPr bwMode="auto">
            <a:xfrm>
              <a:off x="2360409" y="3060723"/>
              <a:ext cx="1536789"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effectLst/>
                  <a:uLnTx/>
                  <a:uFillTx/>
                  <a:latin typeface="微软雅黑" pitchFamily="34" charset="-122"/>
                  <a:ea typeface="微软雅黑" pitchFamily="34" charset="-122"/>
                </a:rPr>
                <a:t>UDP </a:t>
              </a:r>
              <a:r>
                <a:rPr kumimoji="0" lang="zh-CN" altLang="en-US" sz="1400" b="1" i="0" u="none" strike="noStrike" kern="0" cap="none" spc="0" normalizeH="0" baseline="0" noProof="0">
                  <a:ln>
                    <a:noFill/>
                  </a:ln>
                  <a:effectLst/>
                  <a:uLnTx/>
                  <a:uFillTx/>
                  <a:latin typeface="微软雅黑" pitchFamily="34" charset="-122"/>
                  <a:ea typeface="微软雅黑" pitchFamily="34" charset="-122"/>
                </a:rPr>
                <a:t>首部</a:t>
              </a:r>
            </a:p>
          </p:txBody>
        </p:sp>
        <p:sp>
          <p:nvSpPr>
            <p:cNvPr id="18" name="Rectangle 15"/>
            <p:cNvSpPr>
              <a:spLocks noChangeArrowheads="1"/>
            </p:cNvSpPr>
            <p:nvPr/>
          </p:nvSpPr>
          <p:spPr bwMode="auto">
            <a:xfrm>
              <a:off x="4189209" y="3065488"/>
              <a:ext cx="3754119"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effectLst/>
                  <a:uLnTx/>
                  <a:uFillTx/>
                  <a:latin typeface="微软雅黑" pitchFamily="34" charset="-122"/>
                  <a:ea typeface="微软雅黑" pitchFamily="34" charset="-122"/>
                </a:rPr>
                <a:t>UDP </a:t>
              </a:r>
              <a:r>
                <a:rPr kumimoji="0" lang="zh-CN" altLang="en-US" sz="1400" b="1" i="0" u="none" strike="noStrike" kern="0" cap="none" spc="0" normalizeH="0" baseline="0" noProof="0" dirty="0">
                  <a:ln>
                    <a:noFill/>
                  </a:ln>
                  <a:effectLst/>
                  <a:uLnTx/>
                  <a:uFillTx/>
                  <a:latin typeface="微软雅黑" pitchFamily="34" charset="-122"/>
                  <a:ea typeface="微软雅黑" pitchFamily="34" charset="-122"/>
                </a:rPr>
                <a:t>用户数据报的数据部分</a:t>
              </a:r>
            </a:p>
          </p:txBody>
        </p:sp>
        <p:sp>
          <p:nvSpPr>
            <p:cNvPr id="19" name="Rectangle 16"/>
            <p:cNvSpPr>
              <a:spLocks noChangeArrowheads="1"/>
            </p:cNvSpPr>
            <p:nvPr/>
          </p:nvSpPr>
          <p:spPr bwMode="auto">
            <a:xfrm>
              <a:off x="8313203" y="3086509"/>
              <a:ext cx="1113615" cy="520124"/>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srgbClr val="0000FF"/>
                  </a:solidFill>
                  <a:effectLst/>
                  <a:uLnTx/>
                  <a:uFillTx/>
                  <a:latin typeface="微软雅黑" pitchFamily="34" charset="-122"/>
                  <a:ea typeface="微软雅黑" pitchFamily="34" charset="-122"/>
                </a:rPr>
                <a:t>传输层</a:t>
              </a:r>
            </a:p>
          </p:txBody>
        </p:sp>
        <p:sp>
          <p:nvSpPr>
            <p:cNvPr id="20" name="Line 17"/>
            <p:cNvSpPr>
              <a:spLocks noChangeShapeType="1"/>
            </p:cNvSpPr>
            <p:nvPr/>
          </p:nvSpPr>
          <p:spPr bwMode="auto">
            <a:xfrm>
              <a:off x="2360409" y="4408513"/>
              <a:ext cx="0" cy="7493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21" name="AutoShape 18"/>
            <p:cNvSpPr>
              <a:spLocks noChangeArrowheads="1"/>
            </p:cNvSpPr>
            <p:nvPr/>
          </p:nvSpPr>
          <p:spPr bwMode="auto">
            <a:xfrm rot="16200000" flipH="1">
              <a:off x="5556841" y="2548756"/>
              <a:ext cx="963612" cy="327025"/>
            </a:xfrm>
            <a:prstGeom prst="rightArrow">
              <a:avLst>
                <a:gd name="adj1" fmla="val 50000"/>
                <a:gd name="adj2" fmla="val 147344"/>
              </a:avLst>
            </a:prstGeom>
            <a:solidFill>
              <a:srgbClr val="FFFF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22" name="Rectangle 19"/>
            <p:cNvSpPr>
              <a:spLocks noChangeArrowheads="1"/>
            </p:cNvSpPr>
            <p:nvPr/>
          </p:nvSpPr>
          <p:spPr bwMode="auto">
            <a:xfrm>
              <a:off x="3824084" y="1628800"/>
              <a:ext cx="4425950" cy="601663"/>
            </a:xfrm>
            <a:prstGeom prst="rect">
              <a:avLst/>
            </a:prstGeom>
            <a:solidFill>
              <a:srgbClr val="66FF66"/>
            </a:solidFill>
            <a:ln w="28575">
              <a:solidFill>
                <a:srgbClr val="000000"/>
              </a:solidFill>
              <a:miter lim="800000"/>
              <a:headEnd/>
              <a:tailEnd/>
            </a:ln>
            <a:effectLst/>
          </p:spPr>
          <p:txBody>
            <a:bodyPr wrap="none" anchor="ct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effectLst/>
                  <a:uLnTx/>
                  <a:uFillTx/>
                  <a:latin typeface="微软雅黑" pitchFamily="34" charset="-122"/>
                  <a:ea typeface="微软雅黑" pitchFamily="34" charset="-122"/>
                </a:rPr>
                <a:t>应用层报文</a:t>
              </a:r>
            </a:p>
          </p:txBody>
        </p:sp>
        <p:sp>
          <p:nvSpPr>
            <p:cNvPr id="23" name="Rectangle 20"/>
            <p:cNvSpPr>
              <a:spLocks noChangeArrowheads="1"/>
            </p:cNvSpPr>
            <p:nvPr/>
          </p:nvSpPr>
          <p:spPr bwMode="auto">
            <a:xfrm>
              <a:off x="8313203" y="1641884"/>
              <a:ext cx="1113615"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srgbClr val="0000FF"/>
                  </a:solidFill>
                  <a:effectLst/>
                  <a:uLnTx/>
                  <a:uFillTx/>
                  <a:latin typeface="微软雅黑" pitchFamily="34" charset="-122"/>
                  <a:ea typeface="微软雅黑" pitchFamily="34" charset="-122"/>
                </a:rPr>
                <a:t>应用层</a:t>
              </a:r>
            </a:p>
          </p:txBody>
        </p:sp>
      </p:grpSp>
      <p:sp>
        <p:nvSpPr>
          <p:cNvPr id="24" name="矩形 23"/>
          <p:cNvSpPr/>
          <p:nvPr/>
        </p:nvSpPr>
        <p:spPr>
          <a:xfrm>
            <a:off x="660758" y="3496236"/>
            <a:ext cx="7945443" cy="1015663"/>
          </a:xfrm>
          <a:prstGeom prst="rect">
            <a:avLst/>
          </a:prstGeom>
        </p:spPr>
        <p:txBody>
          <a:bodyPr wrap="square">
            <a:spAutoFit/>
          </a:bodyPr>
          <a:lstStyle/>
          <a:p>
            <a:pPr marL="285750" indent="-285750">
              <a:lnSpc>
                <a:spcPts val="2400"/>
              </a:lnSpc>
              <a:buFont typeface="Wingdings" panose="05000000000000000000" pitchFamily="2" charset="2"/>
              <a:buChar char="l"/>
            </a:pPr>
            <a:r>
              <a:rPr lang="zh-CN" altLang="en-US" sz="1600" b="1" dirty="0">
                <a:solidFill>
                  <a:srgbClr val="C00000"/>
                </a:solidFill>
                <a:latin typeface="微软雅黑" panose="020B0503020204020204" pitchFamily="34" charset="-122"/>
                <a:ea typeface="微软雅黑" panose="020B0503020204020204" pitchFamily="34" charset="-122"/>
              </a:rPr>
              <a:t>发送方</a:t>
            </a:r>
            <a:r>
              <a:rPr lang="zh-CN" altLang="en-US" sz="1600" b="1"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对应用层交下来的报文，既不合并，也不拆分，按照样发送。</a:t>
            </a:r>
            <a:endParaRPr lang="en-US" altLang="zh-CN" sz="1600" b="1" dirty="0">
              <a:latin typeface="微软雅黑" panose="020B0503020204020204" pitchFamily="34" charset="-122"/>
              <a:ea typeface="微软雅黑" panose="020B0503020204020204" pitchFamily="34" charset="-122"/>
            </a:endParaRPr>
          </a:p>
          <a:p>
            <a:pPr marL="285750" indent="-285750">
              <a:lnSpc>
                <a:spcPts val="2400"/>
              </a:lnSpc>
              <a:buFont typeface="Wingdings" panose="05000000000000000000" pitchFamily="2" charset="2"/>
              <a:buChar char="l"/>
            </a:pPr>
            <a:r>
              <a:rPr lang="zh-CN" altLang="en-US" sz="1600" b="1" dirty="0">
                <a:solidFill>
                  <a:srgbClr val="C00000"/>
                </a:solidFill>
                <a:latin typeface="微软雅黑" panose="020B0503020204020204" pitchFamily="34" charset="-122"/>
                <a:ea typeface="微软雅黑" panose="020B0503020204020204" pitchFamily="34" charset="-122"/>
              </a:rPr>
              <a:t>接收方</a:t>
            </a:r>
            <a:r>
              <a:rPr lang="zh-CN" altLang="en-US" sz="1600" b="1"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对 </a:t>
            </a:r>
            <a:r>
              <a:rPr lang="en-US" altLang="zh-CN" sz="1600" b="1" dirty="0">
                <a:latin typeface="微软雅黑" panose="020B0503020204020204" pitchFamily="34" charset="-122"/>
                <a:ea typeface="微软雅黑" panose="020B0503020204020204" pitchFamily="34" charset="-122"/>
              </a:rPr>
              <a:t>IP </a:t>
            </a:r>
            <a:r>
              <a:rPr lang="zh-CN" altLang="en-US" sz="1600" b="1" dirty="0">
                <a:latin typeface="微软雅黑" panose="020B0503020204020204" pitchFamily="34" charset="-122"/>
                <a:ea typeface="微软雅黑" panose="020B0503020204020204" pitchFamily="34" charset="-122"/>
              </a:rPr>
              <a:t>层交上来的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用户数据报，去除首部后就原封不动地交付上层的应用进程，</a:t>
            </a:r>
            <a:r>
              <a:rPr lang="en-US" altLang="zh-CN" sz="1600" b="1" dirty="0">
                <a:latin typeface="微软雅黑" panose="020B0503020204020204" pitchFamily="34" charset="-122"/>
                <a:ea typeface="微软雅黑" panose="020B0503020204020204" pitchFamily="34" charset="-122"/>
              </a:rPr>
              <a:t>UDP</a:t>
            </a:r>
            <a:r>
              <a:rPr lang="zh-CN" altLang="en-US" sz="1600" b="1" dirty="0">
                <a:latin typeface="微软雅黑" panose="020B0503020204020204" pitchFamily="34" charset="-122"/>
                <a:ea typeface="微软雅黑" panose="020B0503020204020204" pitchFamily="34" charset="-122"/>
              </a:rPr>
              <a:t>一次交付一个完整的报文。</a:t>
            </a:r>
          </a:p>
        </p:txBody>
      </p:sp>
    </p:spTree>
    <p:extLst>
      <p:ext uri="{BB962C8B-B14F-4D97-AF65-F5344CB8AC3E}">
        <p14:creationId xmlns:p14="http://schemas.microsoft.com/office/powerpoint/2010/main" val="58514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fade">
                                      <p:cBhvr>
                                        <p:cTn id="7" dur="1000"/>
                                        <p:tgtEl>
                                          <p:spTgt spid="24">
                                            <p:txEl>
                                              <p:pRg st="0" end="0"/>
                                            </p:txEl>
                                          </p:spTgt>
                                        </p:tgtEl>
                                      </p:cBhvr>
                                    </p:animEffect>
                                    <p:anim calcmode="lin" valueType="num">
                                      <p:cBhvr>
                                        <p:cTn id="8" dur="1000" fill="hold"/>
                                        <p:tgtEl>
                                          <p:spTgt spid="2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4">
                                            <p:txEl>
                                              <p:pRg st="1" end="1"/>
                                            </p:txEl>
                                          </p:spTgt>
                                        </p:tgtEl>
                                        <p:attrNameLst>
                                          <p:attrName>style.visibility</p:attrName>
                                        </p:attrNameLst>
                                      </p:cBhvr>
                                      <p:to>
                                        <p:strVal val="visible"/>
                                      </p:to>
                                    </p:set>
                                    <p:animEffect transition="in" filter="fade">
                                      <p:cBhvr>
                                        <p:cTn id="14" dur="1000"/>
                                        <p:tgtEl>
                                          <p:spTgt spid="24">
                                            <p:txEl>
                                              <p:pRg st="1" end="1"/>
                                            </p:txEl>
                                          </p:spTgt>
                                        </p:tgtEl>
                                      </p:cBhvr>
                                    </p:animEffect>
                                    <p:anim calcmode="lin" valueType="num">
                                      <p:cBhvr>
                                        <p:cTn id="15" dur="1000" fill="hold"/>
                                        <p:tgtEl>
                                          <p:spTgt spid="2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AutoShape 5"/>
          <p:cNvSpPr>
            <a:spLocks noChangeArrowheads="1"/>
          </p:cNvSpPr>
          <p:nvPr/>
        </p:nvSpPr>
        <p:spPr bwMode="auto">
          <a:xfrm>
            <a:off x="545145" y="62013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0" name="Rectangle 6"/>
          <p:cNvSpPr>
            <a:spLocks noChangeArrowheads="1"/>
          </p:cNvSpPr>
          <p:nvPr/>
        </p:nvSpPr>
        <p:spPr bwMode="auto">
          <a:xfrm>
            <a:off x="3411435" y="597049"/>
            <a:ext cx="23038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ea typeface="微软雅黑" pitchFamily="34" charset="-122"/>
              </a:rPr>
              <a:t>UDP </a:t>
            </a:r>
            <a:r>
              <a:rPr lang="zh-CN" altLang="en-US" sz="2000" b="1" dirty="0">
                <a:solidFill>
                  <a:schemeClr val="bg1"/>
                </a:solidFill>
                <a:ea typeface="微软雅黑" pitchFamily="34" charset="-122"/>
              </a:rPr>
              <a:t>是面向报文的</a:t>
            </a:r>
          </a:p>
        </p:txBody>
      </p:sp>
      <p:sp>
        <p:nvSpPr>
          <p:cNvPr id="41" name="圆角矩形 40"/>
          <p:cNvSpPr/>
          <p:nvPr/>
        </p:nvSpPr>
        <p:spPr>
          <a:xfrm>
            <a:off x="545145" y="1017489"/>
            <a:ext cx="8053710" cy="209325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1559400" y="1159979"/>
            <a:ext cx="1844188" cy="1627483"/>
            <a:chOff x="1577330" y="1312384"/>
            <a:chExt cx="1844188" cy="1627483"/>
          </a:xfrm>
        </p:grpSpPr>
        <p:sp>
          <p:nvSpPr>
            <p:cNvPr id="2" name="Documents"/>
            <p:cNvSpPr>
              <a:spLocks noEditPoints="1" noChangeArrowheads="1"/>
            </p:cNvSpPr>
            <p:nvPr/>
          </p:nvSpPr>
          <p:spPr bwMode="auto">
            <a:xfrm rot="10800000">
              <a:off x="2842728" y="1312384"/>
              <a:ext cx="351223" cy="264945"/>
            </a:xfrm>
            <a:custGeom>
              <a:avLst/>
              <a:gdLst>
                <a:gd name="T0" fmla="*/ 0 w 21600"/>
                <a:gd name="T1" fmla="*/ 2800 h 21600"/>
                <a:gd name="T2" fmla="*/ 3468 w 21600"/>
                <a:gd name="T3" fmla="*/ 0 h 21600"/>
                <a:gd name="T4" fmla="*/ 21653 w 21600"/>
                <a:gd name="T5" fmla="*/ 18828 h 21600"/>
                <a:gd name="T6" fmla="*/ 19954 w 21600"/>
                <a:gd name="T7" fmla="*/ 20214 h 21600"/>
                <a:gd name="T8" fmla="*/ 18256 w 21600"/>
                <a:gd name="T9" fmla="*/ 21628 h 21600"/>
                <a:gd name="T10" fmla="*/ 19954 w 21600"/>
                <a:gd name="T11" fmla="*/ 1428 h 21600"/>
                <a:gd name="T12" fmla="*/ 18256 w 21600"/>
                <a:gd name="T13" fmla="*/ 2800 h 21600"/>
                <a:gd name="T14" fmla="*/ 1645 w 21600"/>
                <a:gd name="T15" fmla="*/ 1428 h 21600"/>
                <a:gd name="T16" fmla="*/ 21600 w 21600"/>
                <a:gd name="T17" fmla="*/ 0 h 21600"/>
                <a:gd name="T18" fmla="*/ 10800 w 21600"/>
                <a:gd name="T19" fmla="*/ 0 h 21600"/>
                <a:gd name="T20" fmla="*/ 0 w 21600"/>
                <a:gd name="T21" fmla="*/ 10800 h 21600"/>
                <a:gd name="T22" fmla="*/ 21600 w 21600"/>
                <a:gd name="T23" fmla="*/ 10800 h 21600"/>
                <a:gd name="T24" fmla="*/ 1645 w 21600"/>
                <a:gd name="T25" fmla="*/ 4171 h 21600"/>
                <a:gd name="T26" fmla="*/ 16522 w 21600"/>
                <a:gd name="T27" fmla="*/ 17314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solidFill>
              <a:srgbClr val="99FFCC"/>
            </a:solidFill>
            <a:ln w="9525">
              <a:solidFill>
                <a:srgbClr val="000000"/>
              </a:solidFill>
              <a:miter lim="800000"/>
              <a:headEnd/>
              <a:tailEnd/>
            </a:ln>
            <a:effectLst/>
          </p:spPr>
          <p:txBody>
            <a:bodyPr vert="horz" wrap="square" lIns="91440" tIns="45720" rIns="91440" bIns="45720" numCol="1" anchor="t" anchorCtr="0" compatLnSpc="1">
              <a:prstTxWarp prst="textNoShape">
                <a:avLst/>
              </a:prstTxWarp>
            </a:bodyPr>
            <a:lstStyle/>
            <a:p>
              <a:endParaRPr lang="zh-CN" altLang="en-US" sz="1600"/>
            </a:p>
          </p:txBody>
        </p:sp>
        <p:sp>
          <p:nvSpPr>
            <p:cNvPr id="36" name="矩形 35"/>
            <p:cNvSpPr/>
            <p:nvPr/>
          </p:nvSpPr>
          <p:spPr>
            <a:xfrm>
              <a:off x="2675144" y="1766415"/>
              <a:ext cx="745752"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dirty="0">
                  <a:solidFill>
                    <a:schemeClr val="tx1"/>
                  </a:solidFill>
                  <a:latin typeface="微软雅黑" pitchFamily="34" charset="-122"/>
                  <a:ea typeface="微软雅黑" pitchFamily="34" charset="-122"/>
                </a:rPr>
                <a:t>报文</a:t>
              </a:r>
              <a:endParaRPr lang="zh-CN" altLang="en-US" sz="1100" b="1" dirty="0">
                <a:solidFill>
                  <a:schemeClr val="tx1"/>
                </a:solidFill>
                <a:latin typeface="微软雅黑" pitchFamily="34" charset="-122"/>
                <a:ea typeface="微软雅黑" pitchFamily="34" charset="-122"/>
              </a:endParaRPr>
            </a:p>
          </p:txBody>
        </p:sp>
        <p:sp>
          <p:nvSpPr>
            <p:cNvPr id="37" name="矩形 36"/>
            <p:cNvSpPr/>
            <p:nvPr/>
          </p:nvSpPr>
          <p:spPr>
            <a:xfrm>
              <a:off x="2675145" y="2219896"/>
              <a:ext cx="745752"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UDP </a:t>
              </a:r>
              <a:r>
                <a:rPr lang="zh-CN" altLang="en-US" sz="900" b="1" dirty="0">
                  <a:solidFill>
                    <a:schemeClr val="tx1"/>
                  </a:solidFill>
                  <a:latin typeface="微软雅黑" pitchFamily="34" charset="-122"/>
                  <a:ea typeface="微软雅黑" pitchFamily="34" charset="-122"/>
                </a:rPr>
                <a:t>数据</a:t>
              </a:r>
            </a:p>
          </p:txBody>
        </p:sp>
        <p:sp>
          <p:nvSpPr>
            <p:cNvPr id="38" name="矩形 37"/>
            <p:cNvSpPr/>
            <p:nvPr/>
          </p:nvSpPr>
          <p:spPr>
            <a:xfrm>
              <a:off x="2125890" y="2219896"/>
              <a:ext cx="548561" cy="262615"/>
            </a:xfrm>
            <a:prstGeom prst="rect">
              <a:avLst/>
            </a:prstGeom>
            <a:solidFill>
              <a:srgbClr val="FF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UDP</a:t>
              </a:r>
              <a:r>
                <a:rPr lang="zh-CN" altLang="en-US" sz="900" b="1" dirty="0">
                  <a:solidFill>
                    <a:schemeClr val="tx1"/>
                  </a:solidFill>
                  <a:latin typeface="微软雅黑" pitchFamily="34" charset="-122"/>
                  <a:ea typeface="微软雅黑" pitchFamily="34" charset="-122"/>
                </a:rPr>
                <a:t>首部</a:t>
              </a:r>
            </a:p>
          </p:txBody>
        </p:sp>
        <p:sp>
          <p:nvSpPr>
            <p:cNvPr id="43" name="矩形 42"/>
            <p:cNvSpPr/>
            <p:nvPr/>
          </p:nvSpPr>
          <p:spPr>
            <a:xfrm>
              <a:off x="2125890" y="2677252"/>
              <a:ext cx="1295007"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IP </a:t>
              </a:r>
              <a:r>
                <a:rPr lang="zh-CN" altLang="en-US" sz="900" b="1" dirty="0">
                  <a:solidFill>
                    <a:schemeClr val="tx1"/>
                  </a:solidFill>
                  <a:latin typeface="微软雅黑" pitchFamily="34" charset="-122"/>
                  <a:ea typeface="微软雅黑" pitchFamily="34" charset="-122"/>
                </a:rPr>
                <a:t>数据</a:t>
              </a:r>
            </a:p>
          </p:txBody>
        </p:sp>
        <p:sp>
          <p:nvSpPr>
            <p:cNvPr id="62" name="矩形 61"/>
            <p:cNvSpPr/>
            <p:nvPr/>
          </p:nvSpPr>
          <p:spPr>
            <a:xfrm>
              <a:off x="1577330" y="2677252"/>
              <a:ext cx="548561" cy="262615"/>
            </a:xfrm>
            <a:prstGeom prst="rect">
              <a:avLst/>
            </a:prstGeom>
            <a:solidFill>
              <a:srgbClr val="00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IP</a:t>
              </a:r>
            </a:p>
            <a:p>
              <a:pPr algn="ctr"/>
              <a:r>
                <a:rPr lang="zh-CN" altLang="en-US" sz="900" b="1" dirty="0">
                  <a:solidFill>
                    <a:schemeClr val="tx1"/>
                  </a:solidFill>
                  <a:latin typeface="微软雅黑" pitchFamily="34" charset="-122"/>
                  <a:ea typeface="微软雅黑" pitchFamily="34" charset="-122"/>
                </a:rPr>
                <a:t>首部</a:t>
              </a:r>
            </a:p>
          </p:txBody>
        </p:sp>
        <p:sp>
          <p:nvSpPr>
            <p:cNvPr id="4" name="下箭头 3"/>
            <p:cNvSpPr/>
            <p:nvPr/>
          </p:nvSpPr>
          <p:spPr>
            <a:xfrm>
              <a:off x="2969387" y="1603542"/>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66" name="下箭头 65"/>
            <p:cNvSpPr/>
            <p:nvPr/>
          </p:nvSpPr>
          <p:spPr>
            <a:xfrm>
              <a:off x="2959412" y="2050572"/>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67" name="下箭头 66"/>
            <p:cNvSpPr/>
            <p:nvPr/>
          </p:nvSpPr>
          <p:spPr>
            <a:xfrm>
              <a:off x="2950986" y="2508724"/>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6" name="直接连接符 5"/>
            <p:cNvCxnSpPr/>
            <p:nvPr/>
          </p:nvCxnSpPr>
          <p:spPr>
            <a:xfrm>
              <a:off x="2694726" y="2029030"/>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3421518" y="2029030"/>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3421518" y="2483672"/>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2145471" y="2483672"/>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9" name="组合 8"/>
          <p:cNvGrpSpPr/>
          <p:nvPr/>
        </p:nvGrpSpPr>
        <p:grpSpPr>
          <a:xfrm>
            <a:off x="5505656" y="1159978"/>
            <a:ext cx="1844189" cy="1627483"/>
            <a:chOff x="6052508" y="1312383"/>
            <a:chExt cx="1844189" cy="1627483"/>
          </a:xfrm>
        </p:grpSpPr>
        <p:sp>
          <p:nvSpPr>
            <p:cNvPr id="74" name="Documents"/>
            <p:cNvSpPr>
              <a:spLocks noEditPoints="1" noChangeArrowheads="1"/>
            </p:cNvSpPr>
            <p:nvPr/>
          </p:nvSpPr>
          <p:spPr bwMode="auto">
            <a:xfrm rot="10800000">
              <a:off x="7317907" y="1312383"/>
              <a:ext cx="351224" cy="264945"/>
            </a:xfrm>
            <a:custGeom>
              <a:avLst/>
              <a:gdLst>
                <a:gd name="T0" fmla="*/ 0 w 21600"/>
                <a:gd name="T1" fmla="*/ 2800 h 21600"/>
                <a:gd name="T2" fmla="*/ 3468 w 21600"/>
                <a:gd name="T3" fmla="*/ 0 h 21600"/>
                <a:gd name="T4" fmla="*/ 21653 w 21600"/>
                <a:gd name="T5" fmla="*/ 18828 h 21600"/>
                <a:gd name="T6" fmla="*/ 19954 w 21600"/>
                <a:gd name="T7" fmla="*/ 20214 h 21600"/>
                <a:gd name="T8" fmla="*/ 18256 w 21600"/>
                <a:gd name="T9" fmla="*/ 21628 h 21600"/>
                <a:gd name="T10" fmla="*/ 19954 w 21600"/>
                <a:gd name="T11" fmla="*/ 1428 h 21600"/>
                <a:gd name="T12" fmla="*/ 18256 w 21600"/>
                <a:gd name="T13" fmla="*/ 2800 h 21600"/>
                <a:gd name="T14" fmla="*/ 1645 w 21600"/>
                <a:gd name="T15" fmla="*/ 1428 h 21600"/>
                <a:gd name="T16" fmla="*/ 21600 w 21600"/>
                <a:gd name="T17" fmla="*/ 0 h 21600"/>
                <a:gd name="T18" fmla="*/ 10800 w 21600"/>
                <a:gd name="T19" fmla="*/ 0 h 21600"/>
                <a:gd name="T20" fmla="*/ 0 w 21600"/>
                <a:gd name="T21" fmla="*/ 10800 h 21600"/>
                <a:gd name="T22" fmla="*/ 21600 w 21600"/>
                <a:gd name="T23" fmla="*/ 10800 h 21600"/>
                <a:gd name="T24" fmla="*/ 1645 w 21600"/>
                <a:gd name="T25" fmla="*/ 4171 h 21600"/>
                <a:gd name="T26" fmla="*/ 16522 w 21600"/>
                <a:gd name="T27" fmla="*/ 17314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solidFill>
              <a:srgbClr val="99FFCC"/>
            </a:solidFill>
            <a:ln w="9525">
              <a:solidFill>
                <a:srgbClr val="000000"/>
              </a:solidFill>
              <a:miter lim="800000"/>
              <a:headEnd/>
              <a:tailEnd/>
            </a:ln>
            <a:effectLst/>
          </p:spPr>
          <p:txBody>
            <a:bodyPr vert="horz" wrap="square" lIns="91440" tIns="45720" rIns="91440" bIns="45720" numCol="1" anchor="t" anchorCtr="0" compatLnSpc="1">
              <a:prstTxWarp prst="textNoShape">
                <a:avLst/>
              </a:prstTxWarp>
            </a:bodyPr>
            <a:lstStyle/>
            <a:p>
              <a:endParaRPr lang="zh-CN" altLang="en-US" sz="1600"/>
            </a:p>
          </p:txBody>
        </p:sp>
        <p:sp>
          <p:nvSpPr>
            <p:cNvPr id="75" name="矩形 74"/>
            <p:cNvSpPr/>
            <p:nvPr/>
          </p:nvSpPr>
          <p:spPr>
            <a:xfrm>
              <a:off x="7150323" y="1766414"/>
              <a:ext cx="745752"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dirty="0">
                  <a:solidFill>
                    <a:schemeClr val="tx1"/>
                  </a:solidFill>
                  <a:latin typeface="微软雅黑" pitchFamily="34" charset="-122"/>
                  <a:ea typeface="微软雅黑" pitchFamily="34" charset="-122"/>
                </a:rPr>
                <a:t>报文</a:t>
              </a:r>
            </a:p>
          </p:txBody>
        </p:sp>
        <p:sp>
          <p:nvSpPr>
            <p:cNvPr id="76" name="矩形 75"/>
            <p:cNvSpPr/>
            <p:nvPr/>
          </p:nvSpPr>
          <p:spPr>
            <a:xfrm>
              <a:off x="7150324" y="2219895"/>
              <a:ext cx="745752"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UDP </a:t>
              </a:r>
              <a:r>
                <a:rPr lang="zh-CN" altLang="en-US" sz="900" b="1" dirty="0">
                  <a:solidFill>
                    <a:schemeClr val="tx1"/>
                  </a:solidFill>
                  <a:latin typeface="微软雅黑" pitchFamily="34" charset="-122"/>
                  <a:ea typeface="微软雅黑" pitchFamily="34" charset="-122"/>
                </a:rPr>
                <a:t>数据</a:t>
              </a:r>
            </a:p>
          </p:txBody>
        </p:sp>
        <p:sp>
          <p:nvSpPr>
            <p:cNvPr id="77" name="矩形 76"/>
            <p:cNvSpPr/>
            <p:nvPr/>
          </p:nvSpPr>
          <p:spPr>
            <a:xfrm>
              <a:off x="6601069" y="2219895"/>
              <a:ext cx="548561" cy="262615"/>
            </a:xfrm>
            <a:prstGeom prst="rect">
              <a:avLst/>
            </a:prstGeom>
            <a:solidFill>
              <a:srgbClr val="FF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UDP</a:t>
              </a:r>
            </a:p>
            <a:p>
              <a:pPr algn="ctr"/>
              <a:r>
                <a:rPr lang="zh-CN" altLang="en-US" sz="900" b="1" dirty="0">
                  <a:solidFill>
                    <a:schemeClr val="tx1"/>
                  </a:solidFill>
                  <a:latin typeface="微软雅黑" pitchFamily="34" charset="-122"/>
                  <a:ea typeface="微软雅黑" pitchFamily="34" charset="-122"/>
                </a:rPr>
                <a:t>首部</a:t>
              </a:r>
            </a:p>
          </p:txBody>
        </p:sp>
        <p:sp>
          <p:nvSpPr>
            <p:cNvPr id="78" name="矩形 77"/>
            <p:cNvSpPr/>
            <p:nvPr/>
          </p:nvSpPr>
          <p:spPr>
            <a:xfrm>
              <a:off x="6601069" y="2677251"/>
              <a:ext cx="1295007"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IP </a:t>
              </a:r>
              <a:r>
                <a:rPr lang="zh-CN" altLang="en-US" sz="900" b="1" dirty="0">
                  <a:solidFill>
                    <a:schemeClr val="tx1"/>
                  </a:solidFill>
                  <a:latin typeface="微软雅黑" pitchFamily="34" charset="-122"/>
                  <a:ea typeface="微软雅黑" pitchFamily="34" charset="-122"/>
                </a:rPr>
                <a:t>数据</a:t>
              </a:r>
            </a:p>
          </p:txBody>
        </p:sp>
        <p:sp>
          <p:nvSpPr>
            <p:cNvPr id="79" name="矩形 78"/>
            <p:cNvSpPr/>
            <p:nvPr/>
          </p:nvSpPr>
          <p:spPr>
            <a:xfrm>
              <a:off x="6052508" y="2677251"/>
              <a:ext cx="548561" cy="262615"/>
            </a:xfrm>
            <a:prstGeom prst="rect">
              <a:avLst/>
            </a:prstGeom>
            <a:solidFill>
              <a:srgbClr val="00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IP</a:t>
              </a:r>
            </a:p>
            <a:p>
              <a:pPr algn="ctr"/>
              <a:r>
                <a:rPr lang="zh-CN" altLang="en-US" sz="900" b="1" dirty="0">
                  <a:solidFill>
                    <a:schemeClr val="tx1"/>
                  </a:solidFill>
                  <a:latin typeface="微软雅黑" pitchFamily="34" charset="-122"/>
                  <a:ea typeface="微软雅黑" pitchFamily="34" charset="-122"/>
                </a:rPr>
                <a:t>首部</a:t>
              </a:r>
            </a:p>
          </p:txBody>
        </p:sp>
        <p:sp>
          <p:nvSpPr>
            <p:cNvPr id="82" name="下箭头 81"/>
            <p:cNvSpPr/>
            <p:nvPr/>
          </p:nvSpPr>
          <p:spPr>
            <a:xfrm flipV="1">
              <a:off x="7444566" y="1603541"/>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3" name="下箭头 82"/>
            <p:cNvSpPr/>
            <p:nvPr/>
          </p:nvSpPr>
          <p:spPr>
            <a:xfrm flipV="1">
              <a:off x="7434591" y="2050571"/>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4" name="下箭头 83"/>
            <p:cNvSpPr/>
            <p:nvPr/>
          </p:nvSpPr>
          <p:spPr>
            <a:xfrm flipV="1">
              <a:off x="7426167" y="2508723"/>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86" name="直接连接符 85"/>
            <p:cNvCxnSpPr/>
            <p:nvPr/>
          </p:nvCxnSpPr>
          <p:spPr>
            <a:xfrm>
              <a:off x="7169905" y="2029029"/>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a:off x="7896697" y="2029029"/>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a:off x="7896697" y="2483670"/>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6620650" y="2483670"/>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aphicFrame>
        <p:nvGraphicFramePr>
          <p:cNvPr id="46" name="Object 4"/>
          <p:cNvGraphicFramePr>
            <a:graphicFrameLocks noChangeAspect="1"/>
          </p:cNvGraphicFramePr>
          <p:nvPr>
            <p:extLst>
              <p:ext uri="{D42A27DB-BD31-4B8C-83A1-F6EECF244321}">
                <p14:modId xmlns:p14="http://schemas.microsoft.com/office/powerpoint/2010/main" val="515026737"/>
              </p:ext>
            </p:extLst>
          </p:nvPr>
        </p:nvGraphicFramePr>
        <p:xfrm>
          <a:off x="3853609" y="2330105"/>
          <a:ext cx="1183169" cy="707961"/>
        </p:xfrm>
        <a:graphic>
          <a:graphicData uri="http://schemas.openxmlformats.org/presentationml/2006/ole">
            <mc:AlternateContent xmlns:mc="http://schemas.openxmlformats.org/markup-compatibility/2006">
              <mc:Choice xmlns:v="urn:schemas-microsoft-com:vml" Requires="v">
                <p:oleObj name="Visio" r:id="rId3" imgW="1689885" imgH="964337" progId="">
                  <p:embed/>
                </p:oleObj>
              </mc:Choice>
              <mc:Fallback>
                <p:oleObj name="Visio" r:id="rId3" imgW="1689885" imgH="964337" progId="">
                  <p:embed/>
                  <p:pic>
                    <p:nvPicPr>
                      <p:cNvPr id="0" name="Picture 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3609" y="2330105"/>
                        <a:ext cx="1183169" cy="707961"/>
                      </a:xfrm>
                      <a:prstGeom prst="rect">
                        <a:avLst/>
                      </a:prstGeom>
                      <a:noFill/>
                      <a:effectLst>
                        <a:outerShdw dist="25400" dir="5400000" algn="ctr" rotWithShape="0">
                          <a:schemeClr val="bg2"/>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右箭头 7"/>
          <p:cNvSpPr/>
          <p:nvPr/>
        </p:nvSpPr>
        <p:spPr>
          <a:xfrm>
            <a:off x="3402967" y="2568702"/>
            <a:ext cx="548562" cy="167059"/>
          </a:xfrm>
          <a:prstGeom prst="right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右箭头 49"/>
          <p:cNvSpPr/>
          <p:nvPr/>
        </p:nvSpPr>
        <p:spPr>
          <a:xfrm>
            <a:off x="4965994" y="2568702"/>
            <a:ext cx="548562" cy="167059"/>
          </a:xfrm>
          <a:prstGeom prst="right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765799" y="3087650"/>
            <a:ext cx="7759635" cy="1134734"/>
          </a:xfrm>
          <a:prstGeom prst="rect">
            <a:avLst/>
          </a:prstGeom>
        </p:spPr>
        <p:txBody>
          <a:bodyPr wrap="square">
            <a:spAutoFit/>
          </a:bodyPr>
          <a:lstStyle/>
          <a:p>
            <a:pPr>
              <a:lnSpc>
                <a:spcPts val="2800"/>
              </a:lnSpc>
              <a:buClr>
                <a:srgbClr val="0070C0"/>
              </a:buClr>
            </a:pPr>
            <a:r>
              <a:rPr lang="zh-CN" altLang="en-US" b="1" dirty="0">
                <a:latin typeface="微软雅黑" pitchFamily="34" charset="-122"/>
                <a:ea typeface="微软雅黑" pitchFamily="34" charset="-122"/>
              </a:rPr>
              <a:t>应用程序必须选择</a:t>
            </a:r>
            <a:r>
              <a:rPr lang="zh-CN" altLang="en-US" b="1" dirty="0">
                <a:solidFill>
                  <a:srgbClr val="C00000"/>
                </a:solidFill>
                <a:latin typeface="微软雅黑" pitchFamily="34" charset="-122"/>
                <a:ea typeface="微软雅黑" pitchFamily="34" charset="-122"/>
              </a:rPr>
              <a:t>合适大小</a:t>
            </a:r>
            <a:r>
              <a:rPr lang="zh-CN" altLang="en-US" b="1" dirty="0">
                <a:latin typeface="微软雅黑" pitchFamily="34" charset="-122"/>
                <a:ea typeface="微软雅黑" pitchFamily="34" charset="-122"/>
              </a:rPr>
              <a:t>的报文。</a:t>
            </a:r>
          </a:p>
          <a:p>
            <a:pPr marL="268288" indent="-252413">
              <a:lnSpc>
                <a:spcPts val="2800"/>
              </a:lnSpc>
              <a:buClr>
                <a:srgbClr val="7030A0"/>
              </a:buClr>
              <a:buFont typeface="+mj-lt"/>
              <a:buAutoNum type="arabicPeriod"/>
            </a:pPr>
            <a:r>
              <a:rPr lang="zh-CN" altLang="en-US" b="1" dirty="0">
                <a:solidFill>
                  <a:srgbClr val="0000FF"/>
                </a:solidFill>
                <a:latin typeface="微软雅黑" pitchFamily="34" charset="-122"/>
                <a:ea typeface="微软雅黑" pitchFamily="34" charset="-122"/>
              </a:rPr>
              <a:t>若报文太长</a:t>
            </a:r>
            <a:r>
              <a:rPr lang="zh-CN" altLang="en-US" b="1" dirty="0">
                <a:latin typeface="微软雅黑" pitchFamily="34" charset="-122"/>
                <a:ea typeface="微软雅黑" pitchFamily="34" charset="-122"/>
              </a:rPr>
              <a:t>，</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层在传送时可能要进行分片，降低 </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层的效率。</a:t>
            </a:r>
          </a:p>
          <a:p>
            <a:pPr marL="268288" indent="-252413">
              <a:lnSpc>
                <a:spcPts val="2800"/>
              </a:lnSpc>
              <a:buClr>
                <a:srgbClr val="7030A0"/>
              </a:buClr>
              <a:buFont typeface="+mj-lt"/>
              <a:buAutoNum type="arabicPeriod"/>
            </a:pPr>
            <a:r>
              <a:rPr lang="zh-CN" altLang="en-US" b="1" dirty="0">
                <a:solidFill>
                  <a:srgbClr val="0000FF"/>
                </a:solidFill>
                <a:latin typeface="微软雅黑" pitchFamily="34" charset="-122"/>
                <a:ea typeface="微软雅黑" pitchFamily="34" charset="-122"/>
              </a:rPr>
              <a:t>若报文太短</a:t>
            </a:r>
            <a:r>
              <a:rPr lang="zh-CN" altLang="en-US" b="1" dirty="0">
                <a:latin typeface="微软雅黑" pitchFamily="34" charset="-122"/>
                <a:ea typeface="微软雅黑" pitchFamily="34" charset="-122"/>
              </a:rPr>
              <a:t>，会使 </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数据报的首部的相对长度太大，降低 </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层的效率。</a:t>
            </a:r>
          </a:p>
        </p:txBody>
      </p:sp>
    </p:spTree>
    <p:extLst>
      <p:ext uri="{BB962C8B-B14F-4D97-AF65-F5344CB8AC3E}">
        <p14:creationId xmlns:p14="http://schemas.microsoft.com/office/powerpoint/2010/main" val="3773091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1000"/>
                                        <p:tgtEl>
                                          <p:spTgt spid="12">
                                            <p:txEl>
                                              <p:pRg st="0" end="0"/>
                                            </p:txEl>
                                          </p:spTgt>
                                        </p:tgtEl>
                                      </p:cBhvr>
                                    </p:animEffect>
                                    <p:anim calcmode="lin" valueType="num">
                                      <p:cBhvr>
                                        <p:cTn id="8"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xEl>
                                              <p:pRg st="1" end="1"/>
                                            </p:txEl>
                                          </p:spTgt>
                                        </p:tgtEl>
                                        <p:attrNameLst>
                                          <p:attrName>style.visibility</p:attrName>
                                        </p:attrNameLst>
                                      </p:cBhvr>
                                      <p:to>
                                        <p:strVal val="visible"/>
                                      </p:to>
                                    </p:set>
                                    <p:animEffect transition="in" filter="fade">
                                      <p:cBhvr>
                                        <p:cTn id="14" dur="1000"/>
                                        <p:tgtEl>
                                          <p:spTgt spid="12">
                                            <p:txEl>
                                              <p:pRg st="1" end="1"/>
                                            </p:txEl>
                                          </p:spTgt>
                                        </p:tgtEl>
                                      </p:cBhvr>
                                    </p:animEffect>
                                    <p:anim calcmode="lin" valueType="num">
                                      <p:cBhvr>
                                        <p:cTn id="15"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animEffect transition="in" filter="fade">
                                      <p:cBhvr>
                                        <p:cTn id="21" dur="1000"/>
                                        <p:tgtEl>
                                          <p:spTgt spid="12">
                                            <p:txEl>
                                              <p:pRg st="2" end="2"/>
                                            </p:txEl>
                                          </p:spTgt>
                                        </p:tgtEl>
                                      </p:cBhvr>
                                    </p:animEffect>
                                    <p:anim calcmode="lin" valueType="num">
                                      <p:cBhvr>
                                        <p:cTn id="22"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933F3-CD2F-7665-BC84-B2F267AD5ED9}"/>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E445E975-9442-5444-B24C-D11FAFDBD802}"/>
              </a:ext>
            </a:extLst>
          </p:cNvPr>
          <p:cNvSpPr>
            <a:spLocks noChangeArrowheads="1"/>
          </p:cNvSpPr>
          <p:nvPr/>
        </p:nvSpPr>
        <p:spPr bwMode="auto">
          <a:xfrm>
            <a:off x="556963" y="62292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7" name="Rectangle 6">
            <a:extLst>
              <a:ext uri="{FF2B5EF4-FFF2-40B4-BE49-F238E27FC236}">
                <a16:creationId xmlns:a16="http://schemas.microsoft.com/office/drawing/2014/main" id="{95FDDB76-1158-D555-B91C-6BFDA8E39170}"/>
              </a:ext>
            </a:extLst>
          </p:cNvPr>
          <p:cNvSpPr>
            <a:spLocks noChangeArrowheads="1"/>
          </p:cNvSpPr>
          <p:nvPr/>
        </p:nvSpPr>
        <p:spPr bwMode="auto">
          <a:xfrm>
            <a:off x="3485538" y="589718"/>
            <a:ext cx="2191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UDP </a:t>
            </a:r>
            <a:r>
              <a:rPr lang="zh-CN" altLang="en-US" sz="2000" b="1" dirty="0">
                <a:solidFill>
                  <a:schemeClr val="bg1"/>
                </a:solidFill>
                <a:latin typeface="微软雅黑" pitchFamily="34" charset="-122"/>
                <a:ea typeface="微软雅黑" pitchFamily="34" charset="-122"/>
              </a:rPr>
              <a:t>的主要特点</a:t>
            </a:r>
          </a:p>
        </p:txBody>
      </p:sp>
      <p:sp>
        <p:nvSpPr>
          <p:cNvPr id="8" name="Rectangle 68">
            <a:extLst>
              <a:ext uri="{FF2B5EF4-FFF2-40B4-BE49-F238E27FC236}">
                <a16:creationId xmlns:a16="http://schemas.microsoft.com/office/drawing/2014/main" id="{62D75FAE-26F9-ED22-D1E0-7A5B41AEEFBD}"/>
              </a:ext>
            </a:extLst>
          </p:cNvPr>
          <p:cNvSpPr>
            <a:spLocks noChangeArrowheads="1"/>
          </p:cNvSpPr>
          <p:nvPr/>
        </p:nvSpPr>
        <p:spPr bwMode="auto">
          <a:xfrm>
            <a:off x="556963" y="986386"/>
            <a:ext cx="8184960" cy="27472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7030A0"/>
              </a:buClr>
              <a:buFont typeface="+mj-lt"/>
              <a:buAutoNum type="arabicPeriod"/>
            </a:pPr>
            <a:r>
              <a:rPr lang="zh-CN" altLang="en-US" sz="1900" b="1" dirty="0">
                <a:solidFill>
                  <a:srgbClr val="0000FF"/>
                </a:solidFill>
                <a:latin typeface="微软雅黑" pitchFamily="34" charset="-122"/>
                <a:ea typeface="微软雅黑" pitchFamily="34" charset="-122"/>
              </a:rPr>
              <a:t>无连接</a:t>
            </a:r>
            <a:r>
              <a:rPr lang="zh-CN" altLang="en-US" sz="1900" b="1" dirty="0">
                <a:latin typeface="微软雅黑" pitchFamily="34" charset="-122"/>
                <a:ea typeface="微软雅黑" pitchFamily="34" charset="-122"/>
              </a:rPr>
              <a:t>。发送数据之前不需要建立连接。</a:t>
            </a:r>
          </a:p>
          <a:p>
            <a:pPr marL="342900" indent="-342900">
              <a:lnSpc>
                <a:spcPts val="3000"/>
              </a:lnSpc>
              <a:buClr>
                <a:srgbClr val="7030A0"/>
              </a:buClr>
              <a:buFont typeface="+mj-lt"/>
              <a:buAutoNum type="arabicPeriod"/>
            </a:pPr>
            <a:r>
              <a:rPr lang="zh-CN" altLang="en-US" sz="1900" b="1" dirty="0">
                <a:solidFill>
                  <a:srgbClr val="0000FF"/>
                </a:solidFill>
                <a:latin typeface="微软雅黑" pitchFamily="34" charset="-122"/>
                <a:ea typeface="微软雅黑" pitchFamily="34" charset="-122"/>
              </a:rPr>
              <a:t>使用尽最大努力交付</a:t>
            </a:r>
            <a:r>
              <a:rPr lang="zh-CN" altLang="en-US" sz="1900" b="1" dirty="0">
                <a:latin typeface="微软雅黑" pitchFamily="34" charset="-122"/>
                <a:ea typeface="微软雅黑" pitchFamily="34" charset="-122"/>
              </a:rPr>
              <a:t>。即不保证可靠交付。</a:t>
            </a:r>
          </a:p>
          <a:p>
            <a:pPr marL="342900" indent="-342900">
              <a:lnSpc>
                <a:spcPts val="3000"/>
              </a:lnSpc>
              <a:buClr>
                <a:srgbClr val="7030A0"/>
              </a:buClr>
              <a:buFont typeface="+mj-lt"/>
              <a:buAutoNum type="arabicPeriod"/>
            </a:pPr>
            <a:r>
              <a:rPr lang="zh-CN" altLang="en-US" sz="1900" b="1" dirty="0">
                <a:solidFill>
                  <a:srgbClr val="0000FF"/>
                </a:solidFill>
                <a:latin typeface="微软雅黑" pitchFamily="34" charset="-122"/>
                <a:ea typeface="微软雅黑" pitchFamily="34" charset="-122"/>
              </a:rPr>
              <a:t>面向报文</a:t>
            </a:r>
            <a:r>
              <a:rPr lang="zh-CN" altLang="en-US" sz="1900" b="1" dirty="0">
                <a:latin typeface="微软雅黑" pitchFamily="34" charset="-122"/>
                <a:ea typeface="微软雅黑" pitchFamily="34" charset="-122"/>
              </a:rPr>
              <a:t>。</a:t>
            </a:r>
            <a:r>
              <a:rPr lang="en-US" altLang="zh-CN" sz="1900" b="1" dirty="0">
                <a:latin typeface="微软雅黑" pitchFamily="34" charset="-122"/>
                <a:ea typeface="微软雅黑" pitchFamily="34" charset="-122"/>
              </a:rPr>
              <a:t>UDP</a:t>
            </a:r>
            <a:r>
              <a:rPr lang="zh-CN" altLang="en-US" sz="1900" b="1" dirty="0">
                <a:latin typeface="微软雅黑" pitchFamily="34" charset="-122"/>
                <a:ea typeface="微软雅黑" pitchFamily="34" charset="-122"/>
              </a:rPr>
              <a:t>对应用层交下来的报文，既不合并，也不拆分。 </a:t>
            </a:r>
            <a:endParaRPr lang="en-US" altLang="zh-CN" sz="1900" b="1" dirty="0">
              <a:latin typeface="微软雅黑" pitchFamily="34" charset="-122"/>
              <a:ea typeface="微软雅黑" pitchFamily="34" charset="-122"/>
            </a:endParaRPr>
          </a:p>
          <a:p>
            <a:pPr marL="342900" indent="-342900">
              <a:lnSpc>
                <a:spcPts val="3000"/>
              </a:lnSpc>
              <a:buClr>
                <a:srgbClr val="7030A0"/>
              </a:buClr>
              <a:buFont typeface="+mj-lt"/>
              <a:buAutoNum type="arabicPeriod"/>
            </a:pPr>
            <a:r>
              <a:rPr lang="zh-CN" altLang="en-US" sz="1900" b="1" dirty="0">
                <a:solidFill>
                  <a:srgbClr val="0000FF"/>
                </a:solidFill>
                <a:latin typeface="微软雅黑" pitchFamily="34" charset="-122"/>
                <a:ea typeface="微软雅黑" pitchFamily="34" charset="-122"/>
              </a:rPr>
              <a:t>没有拥塞控制</a:t>
            </a:r>
            <a:r>
              <a:rPr lang="zh-CN" altLang="en-US" sz="1900" b="1" dirty="0">
                <a:latin typeface="微软雅黑" pitchFamily="34" charset="-122"/>
                <a:ea typeface="微软雅黑" pitchFamily="34" charset="-122"/>
              </a:rPr>
              <a:t>。网络出现的拥塞不会使源主机的发送速率降低。很适合某些实时应用的要求。 </a:t>
            </a:r>
          </a:p>
          <a:p>
            <a:pPr marL="342900" indent="-342900">
              <a:lnSpc>
                <a:spcPts val="3000"/>
              </a:lnSpc>
              <a:buClr>
                <a:srgbClr val="7030A0"/>
              </a:buClr>
              <a:buFont typeface="+mj-lt"/>
              <a:buAutoNum type="arabicPeriod"/>
            </a:pPr>
            <a:r>
              <a:rPr lang="zh-CN" altLang="en-US" sz="1900" b="1" dirty="0">
                <a:latin typeface="微软雅黑" pitchFamily="34" charset="-122"/>
                <a:ea typeface="微软雅黑" pitchFamily="34" charset="-122"/>
              </a:rPr>
              <a:t>支持</a:t>
            </a:r>
            <a:r>
              <a:rPr lang="zh-CN" altLang="en-US" sz="1900" b="1" dirty="0">
                <a:solidFill>
                  <a:srgbClr val="0000FF"/>
                </a:solidFill>
                <a:latin typeface="微软雅黑" pitchFamily="34" charset="-122"/>
                <a:ea typeface="微软雅黑" pitchFamily="34" charset="-122"/>
              </a:rPr>
              <a:t>一对一</a:t>
            </a:r>
            <a:r>
              <a:rPr lang="zh-CN" altLang="en-US" sz="1900" b="1" dirty="0">
                <a:latin typeface="微软雅黑" pitchFamily="34" charset="-122"/>
                <a:ea typeface="微软雅黑" pitchFamily="34" charset="-122"/>
              </a:rPr>
              <a:t>、</a:t>
            </a:r>
            <a:r>
              <a:rPr lang="zh-CN" altLang="en-US" sz="1900" b="1" dirty="0">
                <a:solidFill>
                  <a:srgbClr val="0000FF"/>
                </a:solidFill>
                <a:latin typeface="微软雅黑" pitchFamily="34" charset="-122"/>
                <a:ea typeface="微软雅黑" pitchFamily="34" charset="-122"/>
              </a:rPr>
              <a:t>一对多</a:t>
            </a:r>
            <a:r>
              <a:rPr lang="zh-CN" altLang="en-US" sz="1900" b="1" dirty="0">
                <a:latin typeface="微软雅黑" pitchFamily="34" charset="-122"/>
                <a:ea typeface="微软雅黑" pitchFamily="34" charset="-122"/>
              </a:rPr>
              <a:t>、</a:t>
            </a:r>
            <a:r>
              <a:rPr lang="zh-CN" altLang="en-US" sz="1900" b="1" dirty="0">
                <a:solidFill>
                  <a:srgbClr val="0000FF"/>
                </a:solidFill>
                <a:latin typeface="微软雅黑" pitchFamily="34" charset="-122"/>
                <a:ea typeface="微软雅黑" pitchFamily="34" charset="-122"/>
              </a:rPr>
              <a:t>多对一</a:t>
            </a:r>
            <a:r>
              <a:rPr lang="zh-CN" altLang="en-US" sz="1900" b="1" dirty="0">
                <a:latin typeface="微软雅黑" pitchFamily="34" charset="-122"/>
                <a:ea typeface="微软雅黑" pitchFamily="34" charset="-122"/>
              </a:rPr>
              <a:t>、</a:t>
            </a:r>
            <a:r>
              <a:rPr lang="zh-CN" altLang="en-US" sz="1900" b="1" dirty="0">
                <a:solidFill>
                  <a:srgbClr val="0000FF"/>
                </a:solidFill>
                <a:latin typeface="微软雅黑" pitchFamily="34" charset="-122"/>
                <a:ea typeface="微软雅黑" pitchFamily="34" charset="-122"/>
              </a:rPr>
              <a:t>多对多</a:t>
            </a:r>
            <a:r>
              <a:rPr lang="zh-CN" altLang="en-US" sz="1900" b="1" dirty="0">
                <a:latin typeface="微软雅黑" pitchFamily="34" charset="-122"/>
                <a:ea typeface="微软雅黑" pitchFamily="34" charset="-122"/>
              </a:rPr>
              <a:t>等交互通信。</a:t>
            </a:r>
          </a:p>
          <a:p>
            <a:pPr marL="342900" indent="-342900">
              <a:lnSpc>
                <a:spcPts val="3000"/>
              </a:lnSpc>
              <a:buClr>
                <a:srgbClr val="7030A0"/>
              </a:buClr>
              <a:buFont typeface="+mj-lt"/>
              <a:buAutoNum type="arabicPeriod"/>
            </a:pPr>
            <a:r>
              <a:rPr lang="zh-CN" altLang="en-US" sz="1900" b="1" dirty="0">
                <a:solidFill>
                  <a:srgbClr val="0000FF"/>
                </a:solidFill>
                <a:latin typeface="微软雅黑" pitchFamily="34" charset="-122"/>
                <a:ea typeface="微软雅黑" pitchFamily="34" charset="-122"/>
              </a:rPr>
              <a:t>首部开销小，</a:t>
            </a:r>
            <a:r>
              <a:rPr lang="zh-CN" altLang="en-US" sz="1900" b="1" dirty="0">
                <a:latin typeface="微软雅黑" pitchFamily="34" charset="-122"/>
                <a:ea typeface="微软雅黑" pitchFamily="34" charset="-122"/>
              </a:rPr>
              <a:t>只有 </a:t>
            </a:r>
            <a:r>
              <a:rPr lang="en-US" altLang="zh-CN" sz="1900" b="1" dirty="0">
                <a:latin typeface="微软雅黑" pitchFamily="34" charset="-122"/>
                <a:ea typeface="微软雅黑" pitchFamily="34" charset="-122"/>
              </a:rPr>
              <a:t>8 </a:t>
            </a:r>
            <a:r>
              <a:rPr lang="zh-CN" altLang="en-US" sz="1900" b="1" dirty="0">
                <a:latin typeface="微软雅黑" pitchFamily="34" charset="-122"/>
                <a:ea typeface="微软雅黑" pitchFamily="34" charset="-122"/>
              </a:rPr>
              <a:t>个字节。</a:t>
            </a:r>
          </a:p>
        </p:txBody>
      </p:sp>
      <p:sp>
        <p:nvSpPr>
          <p:cNvPr id="2" name="矩形 1">
            <a:extLst>
              <a:ext uri="{FF2B5EF4-FFF2-40B4-BE49-F238E27FC236}">
                <a16:creationId xmlns:a16="http://schemas.microsoft.com/office/drawing/2014/main" id="{33EFCFBC-C71A-7521-4ABB-6065DF5DA0EB}"/>
              </a:ext>
            </a:extLst>
          </p:cNvPr>
          <p:cNvSpPr/>
          <p:nvPr/>
        </p:nvSpPr>
        <p:spPr>
          <a:xfrm>
            <a:off x="1583514" y="3781291"/>
            <a:ext cx="6006352" cy="378117"/>
          </a:xfrm>
          <a:prstGeom prst="rect">
            <a:avLst/>
          </a:prstGeom>
          <a:solidFill>
            <a:srgbClr val="800080"/>
          </a:solidFill>
        </p:spPr>
        <p:txBody>
          <a:bodyPr wrap="square">
            <a:spAutoFit/>
          </a:bodyPr>
          <a:lstStyle/>
          <a:p>
            <a:pPr algn="ctr">
              <a:lnSpc>
                <a:spcPts val="2400"/>
              </a:lnSpc>
              <a:buClr>
                <a:srgbClr val="0070C0"/>
              </a:buClr>
            </a:pPr>
            <a:r>
              <a:rPr lang="en-US" altLang="zh-CN" b="1" dirty="0">
                <a:solidFill>
                  <a:schemeClr val="bg1"/>
                </a:solidFill>
                <a:latin typeface="微软雅黑" pitchFamily="34" charset="-122"/>
                <a:ea typeface="微软雅黑" pitchFamily="34" charset="-122"/>
              </a:rPr>
              <a:t>UDP </a:t>
            </a:r>
            <a:r>
              <a:rPr lang="zh-CN" altLang="en-US" b="1" dirty="0">
                <a:solidFill>
                  <a:schemeClr val="bg1"/>
                </a:solidFill>
                <a:latin typeface="微软雅黑" pitchFamily="34" charset="-122"/>
                <a:ea typeface="微软雅黑" pitchFamily="34" charset="-122"/>
              </a:rPr>
              <a:t>通信的特点：简单方便，但不可靠。</a:t>
            </a:r>
          </a:p>
        </p:txBody>
      </p:sp>
    </p:spTree>
    <p:extLst>
      <p:ext uri="{BB962C8B-B14F-4D97-AF65-F5344CB8AC3E}">
        <p14:creationId xmlns:p14="http://schemas.microsoft.com/office/powerpoint/2010/main" val="3623250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fade">
                                      <p:cBhvr>
                                        <p:cTn id="7" dur="1000"/>
                                        <p:tgtEl>
                                          <p:spTgt spid="8">
                                            <p:txEl>
                                              <p:pRg st="3" end="3"/>
                                            </p:txEl>
                                          </p:spTgt>
                                        </p:tgtEl>
                                      </p:cBhvr>
                                    </p:animEffect>
                                    <p:anim calcmode="lin" valueType="num">
                                      <p:cBhvr>
                                        <p:cTn id="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4" end="4"/>
                                            </p:txEl>
                                          </p:spTgt>
                                        </p:tgtEl>
                                        <p:attrNameLst>
                                          <p:attrName>style.visibility</p:attrName>
                                        </p:attrNameLst>
                                      </p:cBhvr>
                                      <p:to>
                                        <p:strVal val="visible"/>
                                      </p:to>
                                    </p:set>
                                    <p:animEffect transition="in" filter="fade">
                                      <p:cBhvr>
                                        <p:cTn id="14" dur="1000"/>
                                        <p:tgtEl>
                                          <p:spTgt spid="8">
                                            <p:txEl>
                                              <p:pRg st="4" end="4"/>
                                            </p:txEl>
                                          </p:spTgt>
                                        </p:tgtEl>
                                      </p:cBhvr>
                                    </p:animEffect>
                                    <p:anim calcmode="lin" valueType="num">
                                      <p:cBhvr>
                                        <p:cTn id="15"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animEffect transition="in" filter="fade">
                                      <p:cBhvr>
                                        <p:cTn id="21" dur="1000"/>
                                        <p:tgtEl>
                                          <p:spTgt spid="8">
                                            <p:txEl>
                                              <p:pRg st="5" end="5"/>
                                            </p:txEl>
                                          </p:spTgt>
                                        </p:tgtEl>
                                      </p:cBhvr>
                                    </p:animEffect>
                                    <p:anim calcmode="lin" valueType="num">
                                      <p:cBhvr>
                                        <p:cTn id="22"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p:cTn id="28" dur="500" fill="hold"/>
                                        <p:tgtEl>
                                          <p:spTgt spid="2"/>
                                        </p:tgtEl>
                                        <p:attrNameLst>
                                          <p:attrName>ppt_w</p:attrName>
                                        </p:attrNameLst>
                                      </p:cBhvr>
                                      <p:tavLst>
                                        <p:tav tm="0">
                                          <p:val>
                                            <p:fltVal val="0"/>
                                          </p:val>
                                        </p:tav>
                                        <p:tav tm="100000">
                                          <p:val>
                                            <p:strVal val="#ppt_w"/>
                                          </p:val>
                                        </p:tav>
                                      </p:tavLst>
                                    </p:anim>
                                    <p:anim calcmode="lin" valueType="num">
                                      <p:cBhvr>
                                        <p:cTn id="29" dur="500" fill="hold"/>
                                        <p:tgtEl>
                                          <p:spTgt spid="2"/>
                                        </p:tgtEl>
                                        <p:attrNameLst>
                                          <p:attrName>ppt_h</p:attrName>
                                        </p:attrNameLst>
                                      </p:cBhvr>
                                      <p:tavLst>
                                        <p:tav tm="0">
                                          <p:val>
                                            <p:fltVal val="0"/>
                                          </p:val>
                                        </p:tav>
                                        <p:tav tm="100000">
                                          <p:val>
                                            <p:strVal val="#ppt_h"/>
                                          </p:val>
                                        </p:tav>
                                      </p:tavLst>
                                    </p:anim>
                                    <p:animEffect transition="in" filter="fade">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AutoShape 5"/>
          <p:cNvSpPr>
            <a:spLocks noChangeArrowheads="1"/>
          </p:cNvSpPr>
          <p:nvPr/>
        </p:nvSpPr>
        <p:spPr bwMode="auto">
          <a:xfrm>
            <a:off x="545145" y="62013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0" name="Rectangle 6"/>
          <p:cNvSpPr>
            <a:spLocks noChangeArrowheads="1"/>
          </p:cNvSpPr>
          <p:nvPr/>
        </p:nvSpPr>
        <p:spPr bwMode="auto">
          <a:xfrm>
            <a:off x="3055569" y="597049"/>
            <a:ext cx="30155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ea typeface="微软雅黑" pitchFamily="34" charset="-122"/>
              </a:rPr>
              <a:t>UDP </a:t>
            </a:r>
            <a:r>
              <a:rPr lang="zh-CN" altLang="en-US" sz="2000" b="1" dirty="0">
                <a:solidFill>
                  <a:schemeClr val="bg1"/>
                </a:solidFill>
                <a:ea typeface="微软雅黑" pitchFamily="34" charset="-122"/>
              </a:rPr>
              <a:t>通信和端口号的关系</a:t>
            </a:r>
          </a:p>
        </p:txBody>
      </p:sp>
      <p:sp>
        <p:nvSpPr>
          <p:cNvPr id="41" name="圆角矩形 40"/>
          <p:cNvSpPr/>
          <p:nvPr/>
        </p:nvSpPr>
        <p:spPr>
          <a:xfrm>
            <a:off x="545145" y="1017490"/>
            <a:ext cx="8053710" cy="275342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bwMode="auto">
          <a:xfrm>
            <a:off x="6347487" y="1962182"/>
            <a:ext cx="302715"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4" name="矩形 43"/>
          <p:cNvSpPr/>
          <p:nvPr/>
        </p:nvSpPr>
        <p:spPr bwMode="auto">
          <a:xfrm>
            <a:off x="6418459" y="2147509"/>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5" name="矩形 44"/>
          <p:cNvSpPr/>
          <p:nvPr/>
        </p:nvSpPr>
        <p:spPr bwMode="auto">
          <a:xfrm>
            <a:off x="1672074" y="1962182"/>
            <a:ext cx="302715"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7" name="矩形 46"/>
          <p:cNvSpPr/>
          <p:nvPr/>
        </p:nvSpPr>
        <p:spPr bwMode="auto">
          <a:xfrm>
            <a:off x="2200738" y="1968308"/>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8" name="矩形 47"/>
          <p:cNvSpPr/>
          <p:nvPr/>
        </p:nvSpPr>
        <p:spPr bwMode="auto">
          <a:xfrm>
            <a:off x="2723608" y="1962182"/>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3" name="矩形 52"/>
          <p:cNvSpPr/>
          <p:nvPr/>
        </p:nvSpPr>
        <p:spPr bwMode="auto">
          <a:xfrm>
            <a:off x="2788786" y="2086243"/>
            <a:ext cx="172358" cy="56671"/>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4" name="矩形 53"/>
          <p:cNvSpPr/>
          <p:nvPr/>
        </p:nvSpPr>
        <p:spPr bwMode="auto">
          <a:xfrm>
            <a:off x="2273158" y="2142914"/>
            <a:ext cx="172358"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5" name="矩形 54"/>
          <p:cNvSpPr/>
          <p:nvPr/>
        </p:nvSpPr>
        <p:spPr bwMode="auto">
          <a:xfrm>
            <a:off x="2263019" y="2087775"/>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6" name="矩形 55"/>
          <p:cNvSpPr/>
          <p:nvPr/>
        </p:nvSpPr>
        <p:spPr bwMode="auto">
          <a:xfrm>
            <a:off x="2270261" y="2029574"/>
            <a:ext cx="170910"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7" name="矩形 56"/>
          <p:cNvSpPr/>
          <p:nvPr/>
        </p:nvSpPr>
        <p:spPr bwMode="auto">
          <a:xfrm>
            <a:off x="1740149" y="2028041"/>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8" name="矩形 57"/>
          <p:cNvSpPr/>
          <p:nvPr/>
        </p:nvSpPr>
        <p:spPr bwMode="auto">
          <a:xfrm>
            <a:off x="2793131" y="2029574"/>
            <a:ext cx="170910"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9" name="矩形 48"/>
          <p:cNvSpPr>
            <a:spLocks noChangeArrowheads="1"/>
          </p:cNvSpPr>
          <p:nvPr/>
        </p:nvSpPr>
        <p:spPr bwMode="auto">
          <a:xfrm>
            <a:off x="1737252" y="2029574"/>
            <a:ext cx="170910"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60" name="直接连接符 50"/>
          <p:cNvCxnSpPr>
            <a:cxnSpLocks noChangeShapeType="1"/>
          </p:cNvCxnSpPr>
          <p:nvPr/>
        </p:nvCxnSpPr>
        <p:spPr bwMode="auto">
          <a:xfrm>
            <a:off x="1737252" y="2084712"/>
            <a:ext cx="170910" cy="0"/>
          </a:xfrm>
          <a:prstGeom prst="line">
            <a:avLst/>
          </a:prstGeom>
          <a:noFill/>
          <a:ln w="9525" algn="ctr">
            <a:solidFill>
              <a:schemeClr val="tx1"/>
            </a:solidFill>
            <a:round/>
            <a:headEnd/>
            <a:tailEnd/>
          </a:ln>
        </p:spPr>
      </p:cxnSp>
      <p:cxnSp>
        <p:nvCxnSpPr>
          <p:cNvPr id="61" name="直接连接符 51"/>
          <p:cNvCxnSpPr>
            <a:cxnSpLocks noChangeShapeType="1"/>
          </p:cNvCxnSpPr>
          <p:nvPr/>
        </p:nvCxnSpPr>
        <p:spPr bwMode="auto">
          <a:xfrm>
            <a:off x="1737252" y="2084712"/>
            <a:ext cx="170910" cy="0"/>
          </a:xfrm>
          <a:prstGeom prst="line">
            <a:avLst/>
          </a:prstGeom>
          <a:noFill/>
          <a:ln w="9525" algn="ctr">
            <a:solidFill>
              <a:schemeClr val="tx1"/>
            </a:solidFill>
            <a:round/>
            <a:headEnd/>
            <a:tailEnd/>
          </a:ln>
        </p:spPr>
      </p:cxnSp>
      <p:cxnSp>
        <p:nvCxnSpPr>
          <p:cNvPr id="63" name="直接连接符 52"/>
          <p:cNvCxnSpPr>
            <a:cxnSpLocks noChangeShapeType="1"/>
          </p:cNvCxnSpPr>
          <p:nvPr/>
        </p:nvCxnSpPr>
        <p:spPr bwMode="auto">
          <a:xfrm>
            <a:off x="1737252" y="2142914"/>
            <a:ext cx="170910" cy="0"/>
          </a:xfrm>
          <a:prstGeom prst="line">
            <a:avLst/>
          </a:prstGeom>
          <a:noFill/>
          <a:ln w="9525" algn="ctr">
            <a:solidFill>
              <a:schemeClr val="tx1"/>
            </a:solidFill>
            <a:round/>
            <a:headEnd/>
            <a:tailEnd/>
          </a:ln>
        </p:spPr>
      </p:cxnSp>
      <p:cxnSp>
        <p:nvCxnSpPr>
          <p:cNvPr id="64" name="直接连接符 53"/>
          <p:cNvCxnSpPr>
            <a:cxnSpLocks noChangeShapeType="1"/>
          </p:cNvCxnSpPr>
          <p:nvPr/>
        </p:nvCxnSpPr>
        <p:spPr bwMode="auto">
          <a:xfrm>
            <a:off x="1737252" y="2193457"/>
            <a:ext cx="170910" cy="0"/>
          </a:xfrm>
          <a:prstGeom prst="line">
            <a:avLst/>
          </a:prstGeom>
          <a:noFill/>
          <a:ln w="9525" algn="ctr">
            <a:solidFill>
              <a:schemeClr val="tx1"/>
            </a:solidFill>
            <a:round/>
            <a:headEnd/>
            <a:tailEnd/>
          </a:ln>
        </p:spPr>
      </p:cxnSp>
      <p:cxnSp>
        <p:nvCxnSpPr>
          <p:cNvPr id="65" name="直接连接符 54"/>
          <p:cNvCxnSpPr>
            <a:cxnSpLocks noChangeShapeType="1"/>
          </p:cNvCxnSpPr>
          <p:nvPr/>
        </p:nvCxnSpPr>
        <p:spPr bwMode="auto">
          <a:xfrm>
            <a:off x="1737252" y="2251659"/>
            <a:ext cx="170910" cy="0"/>
          </a:xfrm>
          <a:prstGeom prst="line">
            <a:avLst/>
          </a:prstGeom>
          <a:noFill/>
          <a:ln w="9525" algn="ctr">
            <a:solidFill>
              <a:schemeClr val="tx1"/>
            </a:solidFill>
            <a:round/>
            <a:headEnd/>
            <a:tailEnd/>
          </a:ln>
        </p:spPr>
      </p:cxnSp>
      <p:sp>
        <p:nvSpPr>
          <p:cNvPr id="68" name="矩形 55"/>
          <p:cNvSpPr>
            <a:spLocks noChangeArrowheads="1"/>
          </p:cNvSpPr>
          <p:nvPr/>
        </p:nvSpPr>
        <p:spPr bwMode="auto">
          <a:xfrm>
            <a:off x="2267364" y="2029574"/>
            <a:ext cx="170910"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71" name="直接连接符 56"/>
          <p:cNvCxnSpPr>
            <a:cxnSpLocks noChangeShapeType="1"/>
          </p:cNvCxnSpPr>
          <p:nvPr/>
        </p:nvCxnSpPr>
        <p:spPr bwMode="auto">
          <a:xfrm>
            <a:off x="2267364" y="2084712"/>
            <a:ext cx="170910" cy="0"/>
          </a:xfrm>
          <a:prstGeom prst="line">
            <a:avLst/>
          </a:prstGeom>
          <a:noFill/>
          <a:ln w="9525" algn="ctr">
            <a:solidFill>
              <a:schemeClr val="tx1"/>
            </a:solidFill>
            <a:round/>
            <a:headEnd/>
            <a:tailEnd/>
          </a:ln>
        </p:spPr>
      </p:cxnSp>
      <p:cxnSp>
        <p:nvCxnSpPr>
          <p:cNvPr id="72" name="直接连接符 57"/>
          <p:cNvCxnSpPr>
            <a:cxnSpLocks noChangeShapeType="1"/>
          </p:cNvCxnSpPr>
          <p:nvPr/>
        </p:nvCxnSpPr>
        <p:spPr bwMode="auto">
          <a:xfrm>
            <a:off x="2267364" y="2084712"/>
            <a:ext cx="170910" cy="0"/>
          </a:xfrm>
          <a:prstGeom prst="line">
            <a:avLst/>
          </a:prstGeom>
          <a:noFill/>
          <a:ln w="9525" algn="ctr">
            <a:solidFill>
              <a:schemeClr val="tx1"/>
            </a:solidFill>
            <a:round/>
            <a:headEnd/>
            <a:tailEnd/>
          </a:ln>
        </p:spPr>
      </p:cxnSp>
      <p:cxnSp>
        <p:nvCxnSpPr>
          <p:cNvPr id="80" name="直接连接符 58"/>
          <p:cNvCxnSpPr>
            <a:cxnSpLocks noChangeShapeType="1"/>
          </p:cNvCxnSpPr>
          <p:nvPr/>
        </p:nvCxnSpPr>
        <p:spPr bwMode="auto">
          <a:xfrm>
            <a:off x="2267364" y="2142914"/>
            <a:ext cx="170910" cy="0"/>
          </a:xfrm>
          <a:prstGeom prst="line">
            <a:avLst/>
          </a:prstGeom>
          <a:noFill/>
          <a:ln w="9525" algn="ctr">
            <a:solidFill>
              <a:schemeClr val="tx1"/>
            </a:solidFill>
            <a:round/>
            <a:headEnd/>
            <a:tailEnd/>
          </a:ln>
        </p:spPr>
      </p:cxnSp>
      <p:cxnSp>
        <p:nvCxnSpPr>
          <p:cNvPr id="81" name="直接连接符 59"/>
          <p:cNvCxnSpPr>
            <a:cxnSpLocks noChangeShapeType="1"/>
          </p:cNvCxnSpPr>
          <p:nvPr/>
        </p:nvCxnSpPr>
        <p:spPr bwMode="auto">
          <a:xfrm>
            <a:off x="2267364" y="2193457"/>
            <a:ext cx="170910" cy="0"/>
          </a:xfrm>
          <a:prstGeom prst="line">
            <a:avLst/>
          </a:prstGeom>
          <a:noFill/>
          <a:ln w="9525" algn="ctr">
            <a:solidFill>
              <a:schemeClr val="tx1"/>
            </a:solidFill>
            <a:round/>
            <a:headEnd/>
            <a:tailEnd/>
          </a:ln>
        </p:spPr>
      </p:cxnSp>
      <p:cxnSp>
        <p:nvCxnSpPr>
          <p:cNvPr id="85" name="直接连接符 60"/>
          <p:cNvCxnSpPr>
            <a:cxnSpLocks noChangeShapeType="1"/>
          </p:cNvCxnSpPr>
          <p:nvPr/>
        </p:nvCxnSpPr>
        <p:spPr bwMode="auto">
          <a:xfrm>
            <a:off x="2267364" y="2251659"/>
            <a:ext cx="170910" cy="0"/>
          </a:xfrm>
          <a:prstGeom prst="line">
            <a:avLst/>
          </a:prstGeom>
          <a:noFill/>
          <a:ln w="9525" algn="ctr">
            <a:solidFill>
              <a:schemeClr val="tx1"/>
            </a:solidFill>
            <a:round/>
            <a:headEnd/>
            <a:tailEnd/>
          </a:ln>
        </p:spPr>
      </p:cxnSp>
      <p:sp>
        <p:nvSpPr>
          <p:cNvPr id="89" name="矩形 61"/>
          <p:cNvSpPr>
            <a:spLocks noChangeArrowheads="1"/>
          </p:cNvSpPr>
          <p:nvPr/>
        </p:nvSpPr>
        <p:spPr bwMode="auto">
          <a:xfrm>
            <a:off x="2793131" y="2029574"/>
            <a:ext cx="169462"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90" name="直接连接符 62"/>
          <p:cNvCxnSpPr>
            <a:cxnSpLocks noChangeShapeType="1"/>
          </p:cNvCxnSpPr>
          <p:nvPr/>
        </p:nvCxnSpPr>
        <p:spPr bwMode="auto">
          <a:xfrm>
            <a:off x="2793131" y="2084712"/>
            <a:ext cx="169462" cy="0"/>
          </a:xfrm>
          <a:prstGeom prst="line">
            <a:avLst/>
          </a:prstGeom>
          <a:noFill/>
          <a:ln w="9525" algn="ctr">
            <a:solidFill>
              <a:schemeClr val="tx1"/>
            </a:solidFill>
            <a:round/>
            <a:headEnd/>
            <a:tailEnd/>
          </a:ln>
        </p:spPr>
      </p:cxnSp>
      <p:cxnSp>
        <p:nvCxnSpPr>
          <p:cNvPr id="92" name="直接连接符 63"/>
          <p:cNvCxnSpPr>
            <a:cxnSpLocks noChangeShapeType="1"/>
          </p:cNvCxnSpPr>
          <p:nvPr/>
        </p:nvCxnSpPr>
        <p:spPr bwMode="auto">
          <a:xfrm>
            <a:off x="2793131" y="2084712"/>
            <a:ext cx="169462" cy="0"/>
          </a:xfrm>
          <a:prstGeom prst="line">
            <a:avLst/>
          </a:prstGeom>
          <a:noFill/>
          <a:ln w="9525" algn="ctr">
            <a:solidFill>
              <a:schemeClr val="tx1"/>
            </a:solidFill>
            <a:round/>
            <a:headEnd/>
            <a:tailEnd/>
          </a:ln>
        </p:spPr>
      </p:cxnSp>
      <p:cxnSp>
        <p:nvCxnSpPr>
          <p:cNvPr id="93" name="直接连接符 64"/>
          <p:cNvCxnSpPr>
            <a:cxnSpLocks noChangeShapeType="1"/>
          </p:cNvCxnSpPr>
          <p:nvPr/>
        </p:nvCxnSpPr>
        <p:spPr bwMode="auto">
          <a:xfrm>
            <a:off x="2793131" y="2142914"/>
            <a:ext cx="169462" cy="0"/>
          </a:xfrm>
          <a:prstGeom prst="line">
            <a:avLst/>
          </a:prstGeom>
          <a:noFill/>
          <a:ln w="9525" algn="ctr">
            <a:solidFill>
              <a:schemeClr val="tx1"/>
            </a:solidFill>
            <a:round/>
            <a:headEnd/>
            <a:tailEnd/>
          </a:ln>
        </p:spPr>
      </p:cxnSp>
      <p:cxnSp>
        <p:nvCxnSpPr>
          <p:cNvPr id="94" name="直接连接符 65"/>
          <p:cNvCxnSpPr>
            <a:cxnSpLocks noChangeShapeType="1"/>
          </p:cNvCxnSpPr>
          <p:nvPr/>
        </p:nvCxnSpPr>
        <p:spPr bwMode="auto">
          <a:xfrm>
            <a:off x="2793131" y="2193457"/>
            <a:ext cx="169462" cy="0"/>
          </a:xfrm>
          <a:prstGeom prst="line">
            <a:avLst/>
          </a:prstGeom>
          <a:noFill/>
          <a:ln w="9525" algn="ctr">
            <a:solidFill>
              <a:schemeClr val="tx1"/>
            </a:solidFill>
            <a:round/>
            <a:headEnd/>
            <a:tailEnd/>
          </a:ln>
        </p:spPr>
      </p:cxnSp>
      <p:cxnSp>
        <p:nvCxnSpPr>
          <p:cNvPr id="95" name="直接连接符 66"/>
          <p:cNvCxnSpPr>
            <a:cxnSpLocks noChangeShapeType="1"/>
          </p:cNvCxnSpPr>
          <p:nvPr/>
        </p:nvCxnSpPr>
        <p:spPr bwMode="auto">
          <a:xfrm>
            <a:off x="2793131" y="2251659"/>
            <a:ext cx="169462" cy="0"/>
          </a:xfrm>
          <a:prstGeom prst="line">
            <a:avLst/>
          </a:prstGeom>
          <a:noFill/>
          <a:ln w="9525" algn="ctr">
            <a:solidFill>
              <a:schemeClr val="tx1"/>
            </a:solidFill>
            <a:round/>
            <a:headEnd/>
            <a:tailEnd/>
          </a:ln>
        </p:spPr>
      </p:cxnSp>
      <p:sp>
        <p:nvSpPr>
          <p:cNvPr id="96" name="矩形 99"/>
          <p:cNvSpPr>
            <a:spLocks noChangeArrowheads="1"/>
          </p:cNvSpPr>
          <p:nvPr/>
        </p:nvSpPr>
        <p:spPr bwMode="auto">
          <a:xfrm>
            <a:off x="1540271" y="1476655"/>
            <a:ext cx="1642478" cy="485527"/>
          </a:xfrm>
          <a:prstGeom prst="rect">
            <a:avLst/>
          </a:prstGeom>
          <a:solidFill>
            <a:schemeClr val="accent6">
              <a:lumMod val="60000"/>
              <a:lumOff val="40000"/>
            </a:schemeClr>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97" name="矩形 100"/>
          <p:cNvSpPr>
            <a:spLocks noChangeArrowheads="1"/>
          </p:cNvSpPr>
          <p:nvPr/>
        </p:nvSpPr>
        <p:spPr bwMode="auto">
          <a:xfrm>
            <a:off x="1527235" y="2319051"/>
            <a:ext cx="1642478" cy="416603"/>
          </a:xfrm>
          <a:prstGeom prst="rect">
            <a:avLst/>
          </a:prstGeom>
          <a:solidFill>
            <a:srgbClr val="FF99FF"/>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98" name="直接箭头连接符 105"/>
          <p:cNvCxnSpPr>
            <a:cxnSpLocks noChangeShapeType="1"/>
          </p:cNvCxnSpPr>
          <p:nvPr/>
        </p:nvCxnSpPr>
        <p:spPr bwMode="auto">
          <a:xfrm>
            <a:off x="1828501" y="1830462"/>
            <a:ext cx="0" cy="208301"/>
          </a:xfrm>
          <a:prstGeom prst="straightConnector1">
            <a:avLst/>
          </a:prstGeom>
          <a:noFill/>
          <a:ln w="12700" algn="ctr">
            <a:solidFill>
              <a:schemeClr val="tx1"/>
            </a:solidFill>
            <a:round/>
            <a:headEnd/>
            <a:tailEnd type="triangle" w="sm" len="lg"/>
          </a:ln>
        </p:spPr>
      </p:cxnSp>
      <p:cxnSp>
        <p:nvCxnSpPr>
          <p:cNvPr id="99" name="直接箭头连接符 106"/>
          <p:cNvCxnSpPr>
            <a:cxnSpLocks noChangeShapeType="1"/>
          </p:cNvCxnSpPr>
          <p:nvPr/>
        </p:nvCxnSpPr>
        <p:spPr bwMode="auto">
          <a:xfrm>
            <a:off x="2345578" y="1839652"/>
            <a:ext cx="0" cy="209833"/>
          </a:xfrm>
          <a:prstGeom prst="straightConnector1">
            <a:avLst/>
          </a:prstGeom>
          <a:noFill/>
          <a:ln w="12700" algn="ctr">
            <a:solidFill>
              <a:schemeClr val="tx1"/>
            </a:solidFill>
            <a:round/>
            <a:headEnd/>
            <a:tailEnd type="triangle" w="sm" len="lg"/>
          </a:ln>
        </p:spPr>
      </p:cxnSp>
      <p:cxnSp>
        <p:nvCxnSpPr>
          <p:cNvPr id="100" name="直接箭头连接符 107"/>
          <p:cNvCxnSpPr>
            <a:cxnSpLocks noChangeShapeType="1"/>
          </p:cNvCxnSpPr>
          <p:nvPr/>
        </p:nvCxnSpPr>
        <p:spPr bwMode="auto">
          <a:xfrm>
            <a:off x="2881483" y="1822803"/>
            <a:ext cx="0" cy="209834"/>
          </a:xfrm>
          <a:prstGeom prst="straightConnector1">
            <a:avLst/>
          </a:prstGeom>
          <a:noFill/>
          <a:ln w="12700" algn="ctr">
            <a:solidFill>
              <a:schemeClr val="tx1"/>
            </a:solidFill>
            <a:round/>
            <a:headEnd/>
            <a:tailEnd type="triangle" w="sm" len="lg"/>
          </a:ln>
        </p:spPr>
      </p:cxnSp>
      <p:sp>
        <p:nvSpPr>
          <p:cNvPr id="101" name="Rectangle 5"/>
          <p:cNvSpPr>
            <a:spLocks noChangeArrowheads="1"/>
          </p:cNvSpPr>
          <p:nvPr/>
        </p:nvSpPr>
        <p:spPr bwMode="auto">
          <a:xfrm>
            <a:off x="816074" y="1562426"/>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应用层</a:t>
            </a:r>
          </a:p>
        </p:txBody>
      </p:sp>
      <p:sp>
        <p:nvSpPr>
          <p:cNvPr id="102" name="Rectangle 5"/>
          <p:cNvSpPr>
            <a:spLocks noChangeArrowheads="1"/>
          </p:cNvSpPr>
          <p:nvPr/>
        </p:nvSpPr>
        <p:spPr bwMode="auto">
          <a:xfrm>
            <a:off x="794348" y="2389914"/>
            <a:ext cx="721352" cy="305212"/>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传输层</a:t>
            </a:r>
          </a:p>
        </p:txBody>
      </p:sp>
      <p:sp>
        <p:nvSpPr>
          <p:cNvPr id="103" name="Rectangle 5"/>
          <p:cNvSpPr>
            <a:spLocks noChangeArrowheads="1"/>
          </p:cNvSpPr>
          <p:nvPr/>
        </p:nvSpPr>
        <p:spPr bwMode="auto">
          <a:xfrm>
            <a:off x="884148" y="1989077"/>
            <a:ext cx="541816" cy="305212"/>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solidFill>
                  <a:srgbClr val="0000FF"/>
                </a:solidFill>
                <a:latin typeface="微软雅黑" panose="020B0503020204020204" pitchFamily="34" charset="-122"/>
                <a:ea typeface="微软雅黑" panose="020B0503020204020204" pitchFamily="34" charset="-122"/>
              </a:rPr>
              <a:t>端口</a:t>
            </a:r>
          </a:p>
        </p:txBody>
      </p:sp>
      <p:sp>
        <p:nvSpPr>
          <p:cNvPr id="104" name="Rectangle 74"/>
          <p:cNvSpPr>
            <a:spLocks noChangeArrowheads="1"/>
          </p:cNvSpPr>
          <p:nvPr/>
        </p:nvSpPr>
        <p:spPr bwMode="auto">
          <a:xfrm>
            <a:off x="1452818" y="2024937"/>
            <a:ext cx="286939"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a</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5" name="Rectangle 74"/>
          <p:cNvSpPr>
            <a:spLocks noChangeArrowheads="1"/>
          </p:cNvSpPr>
          <p:nvPr/>
        </p:nvSpPr>
        <p:spPr bwMode="auto">
          <a:xfrm>
            <a:off x="1971068" y="2024937"/>
            <a:ext cx="302969"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b</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6" name="Rectangle 74"/>
          <p:cNvSpPr>
            <a:spLocks noChangeArrowheads="1"/>
          </p:cNvSpPr>
          <p:nvPr/>
        </p:nvSpPr>
        <p:spPr bwMode="auto">
          <a:xfrm>
            <a:off x="2518835" y="2024937"/>
            <a:ext cx="275718"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c</a:t>
            </a:r>
            <a:endParaRPr lang="zh-CN" altLang="en-US" sz="1400" b="1">
              <a:solidFill>
                <a:srgbClr val="0000FF"/>
              </a:solidFill>
              <a:latin typeface="微软雅黑" panose="020B0503020204020204" pitchFamily="34" charset="-122"/>
              <a:ea typeface="微软雅黑" panose="020B0503020204020204" pitchFamily="34" charset="-122"/>
            </a:endParaRPr>
          </a:p>
        </p:txBody>
      </p:sp>
      <p:cxnSp>
        <p:nvCxnSpPr>
          <p:cNvPr id="107" name="直接箭头连接符 115"/>
          <p:cNvCxnSpPr>
            <a:cxnSpLocks noChangeShapeType="1"/>
          </p:cNvCxnSpPr>
          <p:nvPr/>
        </p:nvCxnSpPr>
        <p:spPr bwMode="auto">
          <a:xfrm flipH="1">
            <a:off x="2332542" y="2334367"/>
            <a:ext cx="10139" cy="422729"/>
          </a:xfrm>
          <a:prstGeom prst="straightConnector1">
            <a:avLst/>
          </a:prstGeom>
          <a:noFill/>
          <a:ln w="12700" algn="ctr">
            <a:solidFill>
              <a:schemeClr val="tx1"/>
            </a:solidFill>
            <a:round/>
            <a:headEnd/>
            <a:tailEnd type="triangle" w="sm" len="lg"/>
          </a:ln>
        </p:spPr>
      </p:cxnSp>
      <p:cxnSp>
        <p:nvCxnSpPr>
          <p:cNvPr id="108" name="直接箭头连接符 117"/>
          <p:cNvCxnSpPr>
            <a:cxnSpLocks noChangeShapeType="1"/>
          </p:cNvCxnSpPr>
          <p:nvPr/>
        </p:nvCxnSpPr>
        <p:spPr bwMode="auto">
          <a:xfrm>
            <a:off x="1819810" y="2315988"/>
            <a:ext cx="517077" cy="425793"/>
          </a:xfrm>
          <a:prstGeom prst="straightConnector1">
            <a:avLst/>
          </a:prstGeom>
          <a:noFill/>
          <a:ln w="12700" algn="ctr">
            <a:solidFill>
              <a:schemeClr val="tx1"/>
            </a:solidFill>
            <a:round/>
            <a:headEnd/>
            <a:tailEnd type="triangle" w="sm" len="lg"/>
          </a:ln>
        </p:spPr>
      </p:cxnSp>
      <p:cxnSp>
        <p:nvCxnSpPr>
          <p:cNvPr id="109" name="直接箭头连接符 118"/>
          <p:cNvCxnSpPr>
            <a:cxnSpLocks noChangeShapeType="1"/>
          </p:cNvCxnSpPr>
          <p:nvPr/>
        </p:nvCxnSpPr>
        <p:spPr bwMode="auto">
          <a:xfrm flipH="1">
            <a:off x="2332542" y="2319051"/>
            <a:ext cx="541699" cy="418135"/>
          </a:xfrm>
          <a:prstGeom prst="straightConnector1">
            <a:avLst/>
          </a:prstGeom>
          <a:noFill/>
          <a:ln w="12700" algn="ctr">
            <a:solidFill>
              <a:schemeClr val="tx1"/>
            </a:solidFill>
            <a:round/>
            <a:headEnd/>
            <a:tailEnd type="triangle" w="sm" len="lg"/>
          </a:ln>
        </p:spPr>
      </p:cxnSp>
      <p:sp>
        <p:nvSpPr>
          <p:cNvPr id="110" name="椭圆 121"/>
          <p:cNvSpPr>
            <a:spLocks noChangeArrowheads="1"/>
          </p:cNvSpPr>
          <p:nvPr/>
        </p:nvSpPr>
        <p:spPr bwMode="auto">
          <a:xfrm>
            <a:off x="2299229" y="2717274"/>
            <a:ext cx="66626" cy="70455"/>
          </a:xfrm>
          <a:prstGeom prst="ellipse">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11" name="Rectangle 26"/>
          <p:cNvSpPr>
            <a:spLocks noChangeArrowheads="1"/>
          </p:cNvSpPr>
          <p:nvPr/>
        </p:nvSpPr>
        <p:spPr bwMode="auto">
          <a:xfrm>
            <a:off x="2038392" y="3433721"/>
            <a:ext cx="5261057" cy="274434"/>
          </a:xfrm>
          <a:prstGeom prst="rect">
            <a:avLst/>
          </a:prstGeom>
          <a:noFill/>
          <a:ln w="12700">
            <a:noFill/>
            <a:miter lim="800000"/>
            <a:headEnd/>
            <a:tailEnd/>
          </a:ln>
        </p:spPr>
        <p:txBody>
          <a:bodyPr wrap="none" lIns="90488" tIns="44450" rIns="90488" bIns="44450">
            <a:spAutoFit/>
          </a:bodyPr>
          <a:lstStyle/>
          <a:p>
            <a:pPr algn="ctr" defTabSz="762000" eaLnBrk="0" hangingPunct="0"/>
            <a:r>
              <a:rPr lang="zh-CN" altLang="en-US" sz="1200" b="1" dirty="0">
                <a:latin typeface="微软雅黑" panose="020B0503020204020204" pitchFamily="34" charset="-122"/>
                <a:ea typeface="微软雅黑" panose="020B0503020204020204" pitchFamily="34" charset="-122"/>
              </a:rPr>
              <a:t>（请注意：传输层之间的这条虚线不是一条连接，表示的是一条逻辑通道）</a:t>
            </a:r>
          </a:p>
        </p:txBody>
      </p:sp>
      <p:sp>
        <p:nvSpPr>
          <p:cNvPr id="112" name="矩形 111"/>
          <p:cNvSpPr/>
          <p:nvPr/>
        </p:nvSpPr>
        <p:spPr bwMode="auto">
          <a:xfrm>
            <a:off x="6983332" y="1962182"/>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5" name="矩形 114"/>
          <p:cNvSpPr/>
          <p:nvPr/>
        </p:nvSpPr>
        <p:spPr bwMode="auto">
          <a:xfrm>
            <a:off x="7048510" y="2086243"/>
            <a:ext cx="172359" cy="56671"/>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6" name="矩形 115"/>
          <p:cNvSpPr/>
          <p:nvPr/>
        </p:nvSpPr>
        <p:spPr bwMode="auto">
          <a:xfrm>
            <a:off x="6415562" y="2028041"/>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7" name="矩形 116"/>
          <p:cNvSpPr/>
          <p:nvPr/>
        </p:nvSpPr>
        <p:spPr bwMode="auto">
          <a:xfrm>
            <a:off x="7052855" y="2029574"/>
            <a:ext cx="170910"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cxnSp>
        <p:nvCxnSpPr>
          <p:cNvPr id="118" name="直接连接符 50"/>
          <p:cNvCxnSpPr>
            <a:cxnSpLocks noChangeShapeType="1"/>
          </p:cNvCxnSpPr>
          <p:nvPr/>
        </p:nvCxnSpPr>
        <p:spPr bwMode="auto">
          <a:xfrm>
            <a:off x="6412665" y="2084712"/>
            <a:ext cx="170910" cy="0"/>
          </a:xfrm>
          <a:prstGeom prst="line">
            <a:avLst/>
          </a:prstGeom>
          <a:noFill/>
          <a:ln w="9525" algn="ctr">
            <a:solidFill>
              <a:schemeClr val="tx1"/>
            </a:solidFill>
            <a:round/>
            <a:headEnd/>
            <a:tailEnd/>
          </a:ln>
        </p:spPr>
      </p:cxnSp>
      <p:cxnSp>
        <p:nvCxnSpPr>
          <p:cNvPr id="119" name="直接连接符 51"/>
          <p:cNvCxnSpPr>
            <a:cxnSpLocks noChangeShapeType="1"/>
          </p:cNvCxnSpPr>
          <p:nvPr/>
        </p:nvCxnSpPr>
        <p:spPr bwMode="auto">
          <a:xfrm>
            <a:off x="6412665" y="2084712"/>
            <a:ext cx="170910" cy="0"/>
          </a:xfrm>
          <a:prstGeom prst="line">
            <a:avLst/>
          </a:prstGeom>
          <a:noFill/>
          <a:ln w="9525" algn="ctr">
            <a:solidFill>
              <a:schemeClr val="tx1"/>
            </a:solidFill>
            <a:round/>
            <a:headEnd/>
            <a:tailEnd/>
          </a:ln>
        </p:spPr>
      </p:cxnSp>
      <p:cxnSp>
        <p:nvCxnSpPr>
          <p:cNvPr id="120" name="直接连接符 52"/>
          <p:cNvCxnSpPr>
            <a:cxnSpLocks noChangeShapeType="1"/>
          </p:cNvCxnSpPr>
          <p:nvPr/>
        </p:nvCxnSpPr>
        <p:spPr bwMode="auto">
          <a:xfrm>
            <a:off x="6412665" y="2142914"/>
            <a:ext cx="170910" cy="0"/>
          </a:xfrm>
          <a:prstGeom prst="line">
            <a:avLst/>
          </a:prstGeom>
          <a:noFill/>
          <a:ln w="9525" algn="ctr">
            <a:solidFill>
              <a:schemeClr val="tx1"/>
            </a:solidFill>
            <a:round/>
            <a:headEnd/>
            <a:tailEnd/>
          </a:ln>
        </p:spPr>
      </p:cxnSp>
      <p:cxnSp>
        <p:nvCxnSpPr>
          <p:cNvPr id="121" name="直接连接符 53"/>
          <p:cNvCxnSpPr>
            <a:cxnSpLocks noChangeShapeType="1"/>
          </p:cNvCxnSpPr>
          <p:nvPr/>
        </p:nvCxnSpPr>
        <p:spPr bwMode="auto">
          <a:xfrm>
            <a:off x="6412665" y="2193457"/>
            <a:ext cx="170910" cy="0"/>
          </a:xfrm>
          <a:prstGeom prst="line">
            <a:avLst/>
          </a:prstGeom>
          <a:noFill/>
          <a:ln w="9525" algn="ctr">
            <a:solidFill>
              <a:schemeClr val="tx1"/>
            </a:solidFill>
            <a:round/>
            <a:headEnd/>
            <a:tailEnd/>
          </a:ln>
        </p:spPr>
      </p:cxnSp>
      <p:cxnSp>
        <p:nvCxnSpPr>
          <p:cNvPr id="122" name="直接连接符 54"/>
          <p:cNvCxnSpPr>
            <a:cxnSpLocks noChangeShapeType="1"/>
          </p:cNvCxnSpPr>
          <p:nvPr/>
        </p:nvCxnSpPr>
        <p:spPr bwMode="auto">
          <a:xfrm>
            <a:off x="6412665" y="2251659"/>
            <a:ext cx="170910" cy="0"/>
          </a:xfrm>
          <a:prstGeom prst="line">
            <a:avLst/>
          </a:prstGeom>
          <a:noFill/>
          <a:ln w="9525" algn="ctr">
            <a:solidFill>
              <a:schemeClr val="tx1"/>
            </a:solidFill>
            <a:round/>
            <a:headEnd/>
            <a:tailEnd/>
          </a:ln>
        </p:spPr>
      </p:cxnSp>
      <p:cxnSp>
        <p:nvCxnSpPr>
          <p:cNvPr id="123" name="直接连接符 62"/>
          <p:cNvCxnSpPr>
            <a:cxnSpLocks noChangeShapeType="1"/>
          </p:cNvCxnSpPr>
          <p:nvPr/>
        </p:nvCxnSpPr>
        <p:spPr bwMode="auto">
          <a:xfrm>
            <a:off x="7052855" y="2084712"/>
            <a:ext cx="169462" cy="0"/>
          </a:xfrm>
          <a:prstGeom prst="line">
            <a:avLst/>
          </a:prstGeom>
          <a:noFill/>
          <a:ln w="9525" algn="ctr">
            <a:solidFill>
              <a:schemeClr val="tx1"/>
            </a:solidFill>
            <a:round/>
            <a:headEnd/>
            <a:tailEnd/>
          </a:ln>
        </p:spPr>
      </p:cxnSp>
      <p:cxnSp>
        <p:nvCxnSpPr>
          <p:cNvPr id="124" name="直接连接符 63"/>
          <p:cNvCxnSpPr>
            <a:cxnSpLocks noChangeShapeType="1"/>
          </p:cNvCxnSpPr>
          <p:nvPr/>
        </p:nvCxnSpPr>
        <p:spPr bwMode="auto">
          <a:xfrm>
            <a:off x="7052855" y="2084712"/>
            <a:ext cx="169462" cy="0"/>
          </a:xfrm>
          <a:prstGeom prst="line">
            <a:avLst/>
          </a:prstGeom>
          <a:noFill/>
          <a:ln w="9525" algn="ctr">
            <a:solidFill>
              <a:schemeClr val="tx1"/>
            </a:solidFill>
            <a:round/>
            <a:headEnd/>
            <a:tailEnd/>
          </a:ln>
        </p:spPr>
      </p:cxnSp>
      <p:cxnSp>
        <p:nvCxnSpPr>
          <p:cNvPr id="125" name="直接连接符 64"/>
          <p:cNvCxnSpPr>
            <a:cxnSpLocks noChangeShapeType="1"/>
          </p:cNvCxnSpPr>
          <p:nvPr/>
        </p:nvCxnSpPr>
        <p:spPr bwMode="auto">
          <a:xfrm>
            <a:off x="7052855" y="2142914"/>
            <a:ext cx="169462" cy="0"/>
          </a:xfrm>
          <a:prstGeom prst="line">
            <a:avLst/>
          </a:prstGeom>
          <a:noFill/>
          <a:ln w="9525" algn="ctr">
            <a:solidFill>
              <a:schemeClr val="tx1"/>
            </a:solidFill>
            <a:round/>
            <a:headEnd/>
            <a:tailEnd/>
          </a:ln>
        </p:spPr>
      </p:cxnSp>
      <p:cxnSp>
        <p:nvCxnSpPr>
          <p:cNvPr id="126" name="直接连接符 65"/>
          <p:cNvCxnSpPr>
            <a:cxnSpLocks noChangeShapeType="1"/>
          </p:cNvCxnSpPr>
          <p:nvPr/>
        </p:nvCxnSpPr>
        <p:spPr bwMode="auto">
          <a:xfrm>
            <a:off x="7052855" y="2193457"/>
            <a:ext cx="169462" cy="0"/>
          </a:xfrm>
          <a:prstGeom prst="line">
            <a:avLst/>
          </a:prstGeom>
          <a:noFill/>
          <a:ln w="9525" algn="ctr">
            <a:solidFill>
              <a:schemeClr val="tx1"/>
            </a:solidFill>
            <a:round/>
            <a:headEnd/>
            <a:tailEnd/>
          </a:ln>
        </p:spPr>
      </p:cxnSp>
      <p:cxnSp>
        <p:nvCxnSpPr>
          <p:cNvPr id="127" name="直接连接符 66"/>
          <p:cNvCxnSpPr>
            <a:cxnSpLocks noChangeShapeType="1"/>
          </p:cNvCxnSpPr>
          <p:nvPr/>
        </p:nvCxnSpPr>
        <p:spPr bwMode="auto">
          <a:xfrm>
            <a:off x="7052855" y="2251659"/>
            <a:ext cx="169462" cy="0"/>
          </a:xfrm>
          <a:prstGeom prst="line">
            <a:avLst/>
          </a:prstGeom>
          <a:noFill/>
          <a:ln w="9525" algn="ctr">
            <a:solidFill>
              <a:schemeClr val="tx1"/>
            </a:solidFill>
            <a:round/>
            <a:headEnd/>
            <a:tailEnd/>
          </a:ln>
        </p:spPr>
      </p:cxnSp>
      <p:sp>
        <p:nvSpPr>
          <p:cNvPr id="128" name="矩形 99"/>
          <p:cNvSpPr>
            <a:spLocks noChangeArrowheads="1"/>
          </p:cNvSpPr>
          <p:nvPr/>
        </p:nvSpPr>
        <p:spPr bwMode="auto">
          <a:xfrm>
            <a:off x="6008563" y="1476655"/>
            <a:ext cx="1642478" cy="485527"/>
          </a:xfrm>
          <a:prstGeom prst="rect">
            <a:avLst/>
          </a:prstGeom>
          <a:solidFill>
            <a:schemeClr val="accent6">
              <a:lumMod val="60000"/>
              <a:lumOff val="40000"/>
            </a:schemeClr>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29" name="矩形 100"/>
          <p:cNvSpPr>
            <a:spLocks noChangeArrowheads="1"/>
          </p:cNvSpPr>
          <p:nvPr/>
        </p:nvSpPr>
        <p:spPr bwMode="auto">
          <a:xfrm>
            <a:off x="5995528" y="2319051"/>
            <a:ext cx="1642478" cy="416603"/>
          </a:xfrm>
          <a:prstGeom prst="rect">
            <a:avLst/>
          </a:prstGeom>
          <a:solidFill>
            <a:srgbClr val="FF99FF"/>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30" name="直接箭头连接符 105"/>
          <p:cNvCxnSpPr>
            <a:cxnSpLocks noChangeShapeType="1"/>
          </p:cNvCxnSpPr>
          <p:nvPr/>
        </p:nvCxnSpPr>
        <p:spPr bwMode="auto">
          <a:xfrm flipV="1">
            <a:off x="6503914" y="1830462"/>
            <a:ext cx="0" cy="208301"/>
          </a:xfrm>
          <a:prstGeom prst="straightConnector1">
            <a:avLst/>
          </a:prstGeom>
          <a:noFill/>
          <a:ln w="12700" algn="ctr">
            <a:solidFill>
              <a:schemeClr val="tx1"/>
            </a:solidFill>
            <a:round/>
            <a:headEnd/>
            <a:tailEnd type="triangle" w="sm" len="lg"/>
          </a:ln>
        </p:spPr>
      </p:cxnSp>
      <p:cxnSp>
        <p:nvCxnSpPr>
          <p:cNvPr id="131" name="直接箭头连接符 107"/>
          <p:cNvCxnSpPr>
            <a:cxnSpLocks noChangeShapeType="1"/>
          </p:cNvCxnSpPr>
          <p:nvPr/>
        </p:nvCxnSpPr>
        <p:spPr bwMode="auto">
          <a:xfrm flipV="1">
            <a:off x="7141207" y="1822803"/>
            <a:ext cx="0" cy="209834"/>
          </a:xfrm>
          <a:prstGeom prst="straightConnector1">
            <a:avLst/>
          </a:prstGeom>
          <a:noFill/>
          <a:ln w="12700" algn="ctr">
            <a:solidFill>
              <a:schemeClr val="tx1"/>
            </a:solidFill>
            <a:round/>
            <a:headEnd/>
            <a:tailEnd type="triangle" w="sm" len="lg"/>
          </a:ln>
        </p:spPr>
      </p:cxnSp>
      <p:sp>
        <p:nvSpPr>
          <p:cNvPr id="132" name="Rectangle 74"/>
          <p:cNvSpPr>
            <a:spLocks noChangeArrowheads="1"/>
          </p:cNvSpPr>
          <p:nvPr/>
        </p:nvSpPr>
        <p:spPr bwMode="auto">
          <a:xfrm>
            <a:off x="6122438" y="2024937"/>
            <a:ext cx="262159" cy="305212"/>
          </a:xfrm>
          <a:prstGeom prst="rect">
            <a:avLst/>
          </a:prstGeom>
          <a:noFill/>
          <a:ln w="12700">
            <a:noFill/>
            <a:miter lim="800000"/>
            <a:headEnd/>
            <a:tailEnd/>
          </a:ln>
        </p:spPr>
        <p:txBody>
          <a:bodyPr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x                              </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33" name="Rectangle 74"/>
          <p:cNvSpPr>
            <a:spLocks noChangeArrowheads="1"/>
          </p:cNvSpPr>
          <p:nvPr/>
        </p:nvSpPr>
        <p:spPr bwMode="auto">
          <a:xfrm>
            <a:off x="6753937" y="2024937"/>
            <a:ext cx="285336"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y</a:t>
            </a:r>
            <a:endParaRPr lang="zh-CN" altLang="en-US" sz="1400" b="1">
              <a:solidFill>
                <a:srgbClr val="0000FF"/>
              </a:solidFill>
              <a:latin typeface="微软雅黑" panose="020B0503020204020204" pitchFamily="34" charset="-122"/>
              <a:ea typeface="微软雅黑" panose="020B0503020204020204" pitchFamily="34" charset="-122"/>
            </a:endParaRPr>
          </a:p>
        </p:txBody>
      </p:sp>
      <p:cxnSp>
        <p:nvCxnSpPr>
          <p:cNvPr id="134" name="直接箭头连接符 117"/>
          <p:cNvCxnSpPr>
            <a:cxnSpLocks noChangeShapeType="1"/>
          </p:cNvCxnSpPr>
          <p:nvPr/>
        </p:nvCxnSpPr>
        <p:spPr bwMode="auto">
          <a:xfrm flipH="1" flipV="1">
            <a:off x="6495223" y="2308330"/>
            <a:ext cx="309956" cy="438046"/>
          </a:xfrm>
          <a:prstGeom prst="straightConnector1">
            <a:avLst/>
          </a:prstGeom>
          <a:noFill/>
          <a:ln w="12700" algn="ctr">
            <a:solidFill>
              <a:schemeClr val="tx1"/>
            </a:solidFill>
            <a:round/>
            <a:headEnd/>
            <a:tailEnd type="triangle" w="sm" len="lg"/>
          </a:ln>
        </p:spPr>
      </p:cxnSp>
      <p:cxnSp>
        <p:nvCxnSpPr>
          <p:cNvPr id="135" name="直接箭头连接符 118"/>
          <p:cNvCxnSpPr>
            <a:cxnSpLocks noChangeShapeType="1"/>
          </p:cNvCxnSpPr>
          <p:nvPr/>
        </p:nvCxnSpPr>
        <p:spPr bwMode="auto">
          <a:xfrm flipV="1">
            <a:off x="6800835" y="2328241"/>
            <a:ext cx="311404" cy="424262"/>
          </a:xfrm>
          <a:prstGeom prst="straightConnector1">
            <a:avLst/>
          </a:prstGeom>
          <a:noFill/>
          <a:ln w="12700" algn="ctr">
            <a:solidFill>
              <a:schemeClr val="tx1"/>
            </a:solidFill>
            <a:round/>
            <a:headEnd/>
            <a:tailEnd type="triangle" w="sm" len="lg"/>
          </a:ln>
        </p:spPr>
      </p:cxnSp>
      <p:sp>
        <p:nvSpPr>
          <p:cNvPr id="136" name="矩形 135"/>
          <p:cNvSpPr/>
          <p:nvPr/>
        </p:nvSpPr>
        <p:spPr bwMode="auto">
          <a:xfrm>
            <a:off x="7054303" y="2149041"/>
            <a:ext cx="172359"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37" name="椭圆 121"/>
          <p:cNvSpPr>
            <a:spLocks noChangeArrowheads="1"/>
          </p:cNvSpPr>
          <p:nvPr/>
        </p:nvSpPr>
        <p:spPr bwMode="auto">
          <a:xfrm>
            <a:off x="6767521" y="2717274"/>
            <a:ext cx="66626" cy="70455"/>
          </a:xfrm>
          <a:prstGeom prst="ellipse">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38" name="矩形 137"/>
          <p:cNvSpPr/>
          <p:nvPr/>
        </p:nvSpPr>
        <p:spPr bwMode="auto">
          <a:xfrm>
            <a:off x="6411217" y="2198053"/>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39" name="矩形 138"/>
          <p:cNvSpPr/>
          <p:nvPr/>
        </p:nvSpPr>
        <p:spPr bwMode="auto">
          <a:xfrm>
            <a:off x="6419907" y="2087775"/>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40" name="矩形 48"/>
          <p:cNvSpPr>
            <a:spLocks noChangeArrowheads="1"/>
          </p:cNvSpPr>
          <p:nvPr/>
        </p:nvSpPr>
        <p:spPr bwMode="auto">
          <a:xfrm>
            <a:off x="6412665" y="2029574"/>
            <a:ext cx="170910"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41" name="直接连接符 66"/>
          <p:cNvCxnSpPr>
            <a:cxnSpLocks noChangeShapeType="1"/>
          </p:cNvCxnSpPr>
          <p:nvPr/>
        </p:nvCxnSpPr>
        <p:spPr bwMode="auto">
          <a:xfrm>
            <a:off x="7058649" y="2204179"/>
            <a:ext cx="169462" cy="0"/>
          </a:xfrm>
          <a:prstGeom prst="line">
            <a:avLst/>
          </a:prstGeom>
          <a:noFill/>
          <a:ln w="9525" algn="ctr">
            <a:solidFill>
              <a:schemeClr val="tx1"/>
            </a:solidFill>
            <a:round/>
            <a:headEnd/>
            <a:tailEnd/>
          </a:ln>
        </p:spPr>
      </p:cxnSp>
      <p:sp>
        <p:nvSpPr>
          <p:cNvPr id="144" name="Rectangle 5"/>
          <p:cNvSpPr>
            <a:spLocks noChangeArrowheads="1"/>
          </p:cNvSpPr>
          <p:nvPr/>
        </p:nvSpPr>
        <p:spPr bwMode="auto">
          <a:xfrm>
            <a:off x="7652490" y="2389914"/>
            <a:ext cx="721352" cy="305212"/>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传输层</a:t>
            </a:r>
          </a:p>
        </p:txBody>
      </p:sp>
      <p:sp>
        <p:nvSpPr>
          <p:cNvPr id="145" name="Rectangle 5"/>
          <p:cNvSpPr>
            <a:spLocks noChangeArrowheads="1"/>
          </p:cNvSpPr>
          <p:nvPr/>
        </p:nvSpPr>
        <p:spPr bwMode="auto">
          <a:xfrm>
            <a:off x="7742290" y="1989077"/>
            <a:ext cx="541816" cy="305212"/>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a:solidFill>
                  <a:srgbClr val="0000FF"/>
                </a:solidFill>
                <a:latin typeface="微软雅黑" panose="020B0503020204020204" pitchFamily="34" charset="-122"/>
                <a:ea typeface="微软雅黑" panose="020B0503020204020204" pitchFamily="34" charset="-122"/>
              </a:rPr>
              <a:t>端口</a:t>
            </a:r>
          </a:p>
        </p:txBody>
      </p:sp>
      <p:sp>
        <p:nvSpPr>
          <p:cNvPr id="146" name="矩形 61"/>
          <p:cNvSpPr>
            <a:spLocks noChangeArrowheads="1"/>
          </p:cNvSpPr>
          <p:nvPr/>
        </p:nvSpPr>
        <p:spPr bwMode="auto">
          <a:xfrm>
            <a:off x="7052855" y="2029574"/>
            <a:ext cx="169462"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47" name="Rectangle 5"/>
          <p:cNvSpPr>
            <a:spLocks noChangeArrowheads="1"/>
          </p:cNvSpPr>
          <p:nvPr/>
        </p:nvSpPr>
        <p:spPr bwMode="auto">
          <a:xfrm>
            <a:off x="2863785" y="1103766"/>
            <a:ext cx="821947"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应用进程</a:t>
            </a:r>
          </a:p>
        </p:txBody>
      </p:sp>
      <p:cxnSp>
        <p:nvCxnSpPr>
          <p:cNvPr id="148" name="直接箭头连接符 117"/>
          <p:cNvCxnSpPr>
            <a:cxnSpLocks noChangeShapeType="1"/>
            <a:stCxn id="147" idx="2"/>
          </p:cNvCxnSpPr>
          <p:nvPr/>
        </p:nvCxnSpPr>
        <p:spPr bwMode="auto">
          <a:xfrm flipH="1">
            <a:off x="2986088" y="1398236"/>
            <a:ext cx="288671" cy="192439"/>
          </a:xfrm>
          <a:prstGeom prst="straightConnector1">
            <a:avLst/>
          </a:prstGeom>
          <a:noFill/>
          <a:ln w="12700" algn="ctr">
            <a:solidFill>
              <a:schemeClr val="tx1"/>
            </a:solidFill>
            <a:round/>
            <a:headEnd/>
            <a:tailEnd type="triangle" w="sm" len="lg"/>
          </a:ln>
        </p:spPr>
      </p:cxnSp>
      <p:sp>
        <p:nvSpPr>
          <p:cNvPr id="149" name="Rectangle 5"/>
          <p:cNvSpPr>
            <a:spLocks noChangeArrowheads="1"/>
          </p:cNvSpPr>
          <p:nvPr/>
        </p:nvSpPr>
        <p:spPr bwMode="auto">
          <a:xfrm>
            <a:off x="5660164" y="1116850"/>
            <a:ext cx="821947"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应用进程</a:t>
            </a:r>
          </a:p>
        </p:txBody>
      </p:sp>
      <p:cxnSp>
        <p:nvCxnSpPr>
          <p:cNvPr id="150" name="直接箭头连接符 117"/>
          <p:cNvCxnSpPr>
            <a:cxnSpLocks noChangeShapeType="1"/>
            <a:stCxn id="149" idx="2"/>
          </p:cNvCxnSpPr>
          <p:nvPr/>
        </p:nvCxnSpPr>
        <p:spPr bwMode="auto">
          <a:xfrm>
            <a:off x="6071138" y="1411320"/>
            <a:ext cx="324900" cy="131730"/>
          </a:xfrm>
          <a:prstGeom prst="straightConnector1">
            <a:avLst/>
          </a:prstGeom>
          <a:noFill/>
          <a:ln w="12700" algn="ctr">
            <a:solidFill>
              <a:schemeClr val="tx1"/>
            </a:solidFill>
            <a:round/>
            <a:headEnd/>
            <a:tailEnd type="triangle" w="sm" len="lg"/>
          </a:ln>
        </p:spPr>
      </p:cxnSp>
      <p:sp>
        <p:nvSpPr>
          <p:cNvPr id="151" name="Rectangle 5"/>
          <p:cNvSpPr>
            <a:spLocks noChangeArrowheads="1"/>
          </p:cNvSpPr>
          <p:nvPr/>
        </p:nvSpPr>
        <p:spPr bwMode="auto">
          <a:xfrm rot="10800000" flipV="1">
            <a:off x="2161630" y="1138723"/>
            <a:ext cx="475073"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H</a:t>
            </a:r>
            <a:r>
              <a:rPr lang="en-US" altLang="zh-CN" sz="1400" b="1" baseline="-25000" dirty="0">
                <a:latin typeface="微软雅黑" panose="020B0503020204020204" pitchFamily="34" charset="-122"/>
                <a:ea typeface="微软雅黑" panose="020B0503020204020204" pitchFamily="34" charset="-122"/>
              </a:rPr>
              <a:t>1</a:t>
            </a:r>
            <a:endParaRPr lang="zh-CN" altLang="en-US" sz="1400" b="1" baseline="-25000" dirty="0">
              <a:latin typeface="微软雅黑" panose="020B0503020204020204" pitchFamily="34" charset="-122"/>
              <a:ea typeface="微软雅黑" panose="020B0503020204020204" pitchFamily="34" charset="-122"/>
            </a:endParaRPr>
          </a:p>
        </p:txBody>
      </p:sp>
      <p:sp>
        <p:nvSpPr>
          <p:cNvPr id="152" name="Rectangle 5"/>
          <p:cNvSpPr>
            <a:spLocks noChangeArrowheads="1"/>
          </p:cNvSpPr>
          <p:nvPr/>
        </p:nvSpPr>
        <p:spPr bwMode="auto">
          <a:xfrm>
            <a:off x="6664686" y="1128976"/>
            <a:ext cx="368561" cy="294470"/>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H</a:t>
            </a:r>
            <a:r>
              <a:rPr lang="en-US" altLang="zh-CN" sz="1400" b="1" baseline="-25000" dirty="0">
                <a:latin typeface="微软雅黑" panose="020B0503020204020204" pitchFamily="34" charset="-122"/>
                <a:ea typeface="微软雅黑" panose="020B0503020204020204" pitchFamily="34" charset="-122"/>
              </a:rPr>
              <a:t>2</a:t>
            </a:r>
            <a:endParaRPr lang="zh-CN" altLang="en-US" sz="1400" b="1" baseline="-25000" dirty="0">
              <a:latin typeface="微软雅黑" panose="020B0503020204020204" pitchFamily="34" charset="-122"/>
              <a:ea typeface="微软雅黑" panose="020B0503020204020204" pitchFamily="34" charset="-122"/>
            </a:endParaRPr>
          </a:p>
        </p:txBody>
      </p:sp>
      <p:sp>
        <p:nvSpPr>
          <p:cNvPr id="158" name="下箭头 136"/>
          <p:cNvSpPr>
            <a:spLocks noChangeArrowheads="1"/>
          </p:cNvSpPr>
          <p:nvPr/>
        </p:nvSpPr>
        <p:spPr bwMode="auto">
          <a:xfrm rot="18780000">
            <a:off x="1889633" y="2421171"/>
            <a:ext cx="68924" cy="115871"/>
          </a:xfrm>
          <a:prstGeom prst="downArrow">
            <a:avLst>
              <a:gd name="adj1" fmla="val 50000"/>
              <a:gd name="adj2" fmla="val 50502"/>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59" name="下箭头 140"/>
          <p:cNvSpPr>
            <a:spLocks noChangeArrowheads="1"/>
          </p:cNvSpPr>
          <p:nvPr/>
        </p:nvSpPr>
        <p:spPr bwMode="auto">
          <a:xfrm>
            <a:off x="2358613" y="2384911"/>
            <a:ext cx="65178" cy="139378"/>
          </a:xfrm>
          <a:prstGeom prst="downArrow">
            <a:avLst>
              <a:gd name="adj1" fmla="val 50000"/>
              <a:gd name="adj2" fmla="val 50555"/>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0" name="下箭头 141"/>
          <p:cNvSpPr>
            <a:spLocks noChangeArrowheads="1"/>
          </p:cNvSpPr>
          <p:nvPr/>
        </p:nvSpPr>
        <p:spPr bwMode="auto">
          <a:xfrm rot="8280000" flipH="1">
            <a:off x="6461911" y="2377253"/>
            <a:ext cx="66626" cy="139379"/>
          </a:xfrm>
          <a:prstGeom prst="downArrow">
            <a:avLst>
              <a:gd name="adj1" fmla="val 50000"/>
              <a:gd name="adj2" fmla="val 49457"/>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1" name="下箭头 147"/>
          <p:cNvSpPr>
            <a:spLocks noChangeArrowheads="1"/>
          </p:cNvSpPr>
          <p:nvPr/>
        </p:nvSpPr>
        <p:spPr bwMode="auto">
          <a:xfrm rot="8520000">
            <a:off x="6606750" y="2568707"/>
            <a:ext cx="66626" cy="139378"/>
          </a:xfrm>
          <a:prstGeom prst="downArrow">
            <a:avLst>
              <a:gd name="adj1" fmla="val 50000"/>
              <a:gd name="adj2" fmla="val 49456"/>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2" name="燕尾形 153"/>
          <p:cNvSpPr>
            <a:spLocks noChangeArrowheads="1"/>
          </p:cNvSpPr>
          <p:nvPr/>
        </p:nvSpPr>
        <p:spPr bwMode="auto">
          <a:xfrm rot="8310183">
            <a:off x="2732298" y="2443113"/>
            <a:ext cx="131804" cy="68923"/>
          </a:xfrm>
          <a:prstGeom prst="chevron">
            <a:avLst>
              <a:gd name="adj" fmla="val 50556"/>
            </a:avLst>
          </a:prstGeom>
          <a:solidFill>
            <a:srgbClr val="C000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3" name="燕尾形 153"/>
          <p:cNvSpPr>
            <a:spLocks noChangeArrowheads="1"/>
          </p:cNvSpPr>
          <p:nvPr/>
        </p:nvSpPr>
        <p:spPr bwMode="auto">
          <a:xfrm rot="18360000" flipV="1">
            <a:off x="6989684" y="2492466"/>
            <a:ext cx="139378" cy="65177"/>
          </a:xfrm>
          <a:prstGeom prst="chevron">
            <a:avLst>
              <a:gd name="adj" fmla="val 50556"/>
            </a:avLst>
          </a:prstGeom>
          <a:solidFill>
            <a:srgbClr val="C000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grpSp>
        <p:nvGrpSpPr>
          <p:cNvPr id="11" name="组合 10">
            <a:extLst>
              <a:ext uri="{FF2B5EF4-FFF2-40B4-BE49-F238E27FC236}">
                <a16:creationId xmlns:a16="http://schemas.microsoft.com/office/drawing/2014/main" id="{07D9AA59-1F26-B87B-7928-6FC2B30F612F}"/>
              </a:ext>
            </a:extLst>
          </p:cNvPr>
          <p:cNvGrpSpPr/>
          <p:nvPr/>
        </p:nvGrpSpPr>
        <p:grpSpPr>
          <a:xfrm>
            <a:off x="2313713" y="2746377"/>
            <a:ext cx="4521883" cy="641891"/>
            <a:chOff x="2313713" y="2746377"/>
            <a:chExt cx="4521883" cy="641891"/>
          </a:xfrm>
        </p:grpSpPr>
        <p:cxnSp>
          <p:nvCxnSpPr>
            <p:cNvPr id="142" name="直接箭头连接符 131"/>
            <p:cNvCxnSpPr>
              <a:cxnSpLocks noChangeShapeType="1"/>
            </p:cNvCxnSpPr>
            <p:nvPr/>
          </p:nvCxnSpPr>
          <p:spPr bwMode="auto">
            <a:xfrm flipV="1">
              <a:off x="6797301" y="2746377"/>
              <a:ext cx="15121" cy="639594"/>
            </a:xfrm>
            <a:prstGeom prst="straightConnector1">
              <a:avLst/>
            </a:prstGeom>
            <a:noFill/>
            <a:ln w="28575" algn="ctr">
              <a:solidFill>
                <a:srgbClr val="000066"/>
              </a:solidFill>
              <a:prstDash val="sysDot"/>
              <a:round/>
              <a:headEnd/>
              <a:tailEnd type="triangle" w="sm" len="lg"/>
            </a:ln>
          </p:spPr>
        </p:cxnSp>
        <p:cxnSp>
          <p:nvCxnSpPr>
            <p:cNvPr id="164" name="直接箭头连接符 131"/>
            <p:cNvCxnSpPr>
              <a:cxnSpLocks noChangeShapeType="1"/>
            </p:cNvCxnSpPr>
            <p:nvPr/>
          </p:nvCxnSpPr>
          <p:spPr bwMode="auto">
            <a:xfrm>
              <a:off x="2325300" y="2783135"/>
              <a:ext cx="0" cy="600539"/>
            </a:xfrm>
            <a:prstGeom prst="straightConnector1">
              <a:avLst/>
            </a:prstGeom>
            <a:noFill/>
            <a:ln w="28575" algn="ctr">
              <a:solidFill>
                <a:srgbClr val="000066"/>
              </a:solidFill>
              <a:prstDash val="sysDot"/>
              <a:round/>
              <a:headEnd/>
              <a:tailEnd type="triangle" w="sm" len="lg"/>
            </a:ln>
          </p:spPr>
        </p:cxnSp>
        <p:cxnSp>
          <p:nvCxnSpPr>
            <p:cNvPr id="165" name="直接箭头连接符 131"/>
            <p:cNvCxnSpPr>
              <a:cxnSpLocks noChangeShapeType="1"/>
            </p:cNvCxnSpPr>
            <p:nvPr/>
          </p:nvCxnSpPr>
          <p:spPr bwMode="auto">
            <a:xfrm flipV="1">
              <a:off x="2313713" y="3383674"/>
              <a:ext cx="4521883" cy="4594"/>
            </a:xfrm>
            <a:prstGeom prst="straightConnector1">
              <a:avLst/>
            </a:prstGeom>
            <a:noFill/>
            <a:ln w="28575" algn="ctr">
              <a:solidFill>
                <a:srgbClr val="000066"/>
              </a:solidFill>
              <a:prstDash val="sysDot"/>
              <a:round/>
              <a:headEnd/>
              <a:tailEnd type="triangle" w="sm" len="lg"/>
            </a:ln>
          </p:spPr>
        </p:cxnSp>
      </p:grpSp>
      <p:sp>
        <p:nvSpPr>
          <p:cNvPr id="166" name="Rectangle 5"/>
          <p:cNvSpPr>
            <a:spLocks noChangeArrowheads="1"/>
          </p:cNvSpPr>
          <p:nvPr/>
        </p:nvSpPr>
        <p:spPr bwMode="auto">
          <a:xfrm rot="10800000" flipV="1">
            <a:off x="3936772" y="2984410"/>
            <a:ext cx="2268637" cy="294470"/>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a</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x         b</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x        c</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y</a:t>
            </a:r>
            <a:endParaRPr lang="zh-CN" altLang="en-US" sz="1400" b="1" baseline="-25000" dirty="0">
              <a:latin typeface="微软雅黑" panose="020B0503020204020204" pitchFamily="34" charset="-122"/>
              <a:ea typeface="微软雅黑" panose="020B0503020204020204" pitchFamily="34" charset="-122"/>
            </a:endParaRPr>
          </a:p>
        </p:txBody>
      </p:sp>
      <p:sp>
        <p:nvSpPr>
          <p:cNvPr id="167" name="Rectangle 5"/>
          <p:cNvSpPr>
            <a:spLocks noChangeArrowheads="1"/>
          </p:cNvSpPr>
          <p:nvPr/>
        </p:nvSpPr>
        <p:spPr bwMode="auto">
          <a:xfrm>
            <a:off x="3500509" y="2361476"/>
            <a:ext cx="494339"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复用</a:t>
            </a:r>
          </a:p>
        </p:txBody>
      </p:sp>
      <p:sp>
        <p:nvSpPr>
          <p:cNvPr id="168" name="Rectangle 5"/>
          <p:cNvSpPr>
            <a:spLocks noChangeArrowheads="1"/>
          </p:cNvSpPr>
          <p:nvPr/>
        </p:nvSpPr>
        <p:spPr bwMode="auto">
          <a:xfrm>
            <a:off x="5204382" y="2379359"/>
            <a:ext cx="494339"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分用</a:t>
            </a:r>
          </a:p>
        </p:txBody>
      </p:sp>
      <p:cxnSp>
        <p:nvCxnSpPr>
          <p:cNvPr id="169" name="直接箭头连接符 117"/>
          <p:cNvCxnSpPr>
            <a:cxnSpLocks noChangeShapeType="1"/>
          </p:cNvCxnSpPr>
          <p:nvPr/>
        </p:nvCxnSpPr>
        <p:spPr bwMode="auto">
          <a:xfrm flipH="1" flipV="1">
            <a:off x="3035713" y="2536986"/>
            <a:ext cx="527893" cy="145"/>
          </a:xfrm>
          <a:prstGeom prst="straightConnector1">
            <a:avLst/>
          </a:prstGeom>
          <a:noFill/>
          <a:ln w="12700" algn="ctr">
            <a:solidFill>
              <a:schemeClr val="tx1"/>
            </a:solidFill>
            <a:round/>
            <a:headEnd/>
            <a:tailEnd type="triangle" w="sm" len="lg"/>
          </a:ln>
        </p:spPr>
      </p:cxnSp>
      <p:cxnSp>
        <p:nvCxnSpPr>
          <p:cNvPr id="170" name="直接箭头连接符 117"/>
          <p:cNvCxnSpPr>
            <a:cxnSpLocks noChangeShapeType="1"/>
          </p:cNvCxnSpPr>
          <p:nvPr/>
        </p:nvCxnSpPr>
        <p:spPr bwMode="auto">
          <a:xfrm flipV="1">
            <a:off x="5708464" y="2549054"/>
            <a:ext cx="527893" cy="145"/>
          </a:xfrm>
          <a:prstGeom prst="straightConnector1">
            <a:avLst/>
          </a:prstGeom>
          <a:noFill/>
          <a:ln w="12700" algn="ctr">
            <a:solidFill>
              <a:schemeClr val="tx1"/>
            </a:solidFill>
            <a:round/>
            <a:headEnd/>
            <a:tailEnd type="triangle" w="sm" len="lg"/>
          </a:ln>
        </p:spPr>
      </p:cxnSp>
      <p:sp>
        <p:nvSpPr>
          <p:cNvPr id="171" name="下箭头 136"/>
          <p:cNvSpPr>
            <a:spLocks noChangeArrowheads="1"/>
          </p:cNvSpPr>
          <p:nvPr/>
        </p:nvSpPr>
        <p:spPr bwMode="auto">
          <a:xfrm rot="16200000">
            <a:off x="4171803" y="3213025"/>
            <a:ext cx="88900" cy="139273"/>
          </a:xfrm>
          <a:prstGeom prst="downArrow">
            <a:avLst>
              <a:gd name="adj1" fmla="val 50000"/>
              <a:gd name="adj2" fmla="val 50502"/>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2" name="下箭头 140"/>
          <p:cNvSpPr>
            <a:spLocks noChangeArrowheads="1"/>
          </p:cNvSpPr>
          <p:nvPr/>
        </p:nvSpPr>
        <p:spPr bwMode="auto">
          <a:xfrm rot="16200000">
            <a:off x="5041352" y="3215012"/>
            <a:ext cx="68924" cy="131803"/>
          </a:xfrm>
          <a:prstGeom prst="downArrow">
            <a:avLst>
              <a:gd name="adj1" fmla="val 50000"/>
              <a:gd name="adj2" fmla="val 50555"/>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3" name="燕尾形 153"/>
          <p:cNvSpPr>
            <a:spLocks noChangeArrowheads="1"/>
          </p:cNvSpPr>
          <p:nvPr/>
        </p:nvSpPr>
        <p:spPr bwMode="auto">
          <a:xfrm>
            <a:off x="5804720" y="3245044"/>
            <a:ext cx="159482" cy="75815"/>
          </a:xfrm>
          <a:prstGeom prst="chevron">
            <a:avLst>
              <a:gd name="adj" fmla="val 50556"/>
            </a:avLst>
          </a:prstGeom>
          <a:solidFill>
            <a:srgbClr val="C000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4" name="Rectangle 26"/>
          <p:cNvSpPr>
            <a:spLocks noChangeArrowheads="1"/>
          </p:cNvSpPr>
          <p:nvPr/>
        </p:nvSpPr>
        <p:spPr bwMode="auto">
          <a:xfrm>
            <a:off x="2657706" y="3015834"/>
            <a:ext cx="1149555"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不可靠的信道</a:t>
            </a:r>
          </a:p>
        </p:txBody>
      </p:sp>
      <p:sp>
        <p:nvSpPr>
          <p:cNvPr id="49" name="Text Box 67"/>
          <p:cNvSpPr txBox="1">
            <a:spLocks noChangeArrowheads="1"/>
          </p:cNvSpPr>
          <p:nvPr/>
        </p:nvSpPr>
        <p:spPr bwMode="auto">
          <a:xfrm>
            <a:off x="1637313" y="1450618"/>
            <a:ext cx="398103" cy="504805"/>
          </a:xfrm>
          <a:prstGeom prst="rect">
            <a:avLst/>
          </a:prstGeom>
          <a:noFill/>
          <a:ln w="9525">
            <a:noFill/>
            <a:miter lim="800000"/>
            <a:headEnd/>
            <a:tailEnd/>
          </a:ln>
        </p:spPr>
        <p:txBody>
          <a:bodyPr wrap="none">
            <a:spAutoFit/>
          </a:bodyPr>
          <a:lstStyle/>
          <a:p>
            <a:r>
              <a:rPr lang="en-US" altLang="zh-CN" sz="2800" b="1" dirty="0">
                <a:latin typeface="微软雅黑" panose="020B0503020204020204" pitchFamily="34" charset="-122"/>
                <a:ea typeface="微软雅黑" panose="020B0503020204020204" pitchFamily="34" charset="-122"/>
                <a:sym typeface="Wingdings" pitchFamily="2" charset="2"/>
              </a:rPr>
              <a:t></a:t>
            </a:r>
            <a:endParaRPr lang="en-US" altLang="zh-CN" sz="2800" b="1" dirty="0">
              <a:latin typeface="微软雅黑" panose="020B0503020204020204" pitchFamily="34" charset="-122"/>
              <a:ea typeface="微软雅黑" panose="020B0503020204020204" pitchFamily="34" charset="-122"/>
            </a:endParaRPr>
          </a:p>
        </p:txBody>
      </p:sp>
      <p:sp>
        <p:nvSpPr>
          <p:cNvPr id="51" name="Text Box 68"/>
          <p:cNvSpPr txBox="1">
            <a:spLocks noChangeArrowheads="1"/>
          </p:cNvSpPr>
          <p:nvPr/>
        </p:nvSpPr>
        <p:spPr bwMode="auto">
          <a:xfrm>
            <a:off x="2693192" y="1476655"/>
            <a:ext cx="364464" cy="445417"/>
          </a:xfrm>
          <a:prstGeom prst="rect">
            <a:avLst/>
          </a:prstGeom>
          <a:noFill/>
          <a:ln w="9525">
            <a:noFill/>
            <a:miter lim="800000"/>
            <a:headEnd/>
            <a:tailEnd/>
          </a:ln>
        </p:spPr>
        <p:txBody>
          <a:bodyPr wrap="none">
            <a:spAutoFit/>
          </a:bodyPr>
          <a:lstStyle/>
          <a:p>
            <a:r>
              <a:rPr lang="en-US" altLang="zh-CN" sz="2400" b="1" dirty="0">
                <a:latin typeface="微软雅黑" panose="020B0503020204020204" pitchFamily="34" charset="-122"/>
                <a:ea typeface="微软雅黑" panose="020B0503020204020204" pitchFamily="34" charset="-122"/>
                <a:sym typeface="Wingdings" pitchFamily="2" charset="2"/>
              </a:rPr>
              <a:t></a:t>
            </a:r>
            <a:endParaRPr lang="en-US" altLang="zh-CN" sz="2400" b="1" dirty="0">
              <a:latin typeface="微软雅黑" panose="020B0503020204020204" pitchFamily="34" charset="-122"/>
              <a:ea typeface="微软雅黑" panose="020B0503020204020204" pitchFamily="34" charset="-122"/>
            </a:endParaRPr>
          </a:p>
        </p:txBody>
      </p:sp>
      <p:sp>
        <p:nvSpPr>
          <p:cNvPr id="52" name="Text Box 67"/>
          <p:cNvSpPr txBox="1">
            <a:spLocks noChangeArrowheads="1"/>
          </p:cNvSpPr>
          <p:nvPr/>
        </p:nvSpPr>
        <p:spPr bwMode="auto">
          <a:xfrm>
            <a:off x="2155838" y="1482782"/>
            <a:ext cx="364464" cy="445417"/>
          </a:xfrm>
          <a:prstGeom prst="rect">
            <a:avLst/>
          </a:prstGeom>
          <a:noFill/>
          <a:ln w="9525">
            <a:noFill/>
            <a:miter lim="800000"/>
            <a:headEnd/>
            <a:tailEnd/>
          </a:ln>
        </p:spPr>
        <p:txBody>
          <a:bodyPr wrap="none">
            <a:spAutoFit/>
          </a:bodyPr>
          <a:lstStyle/>
          <a:p>
            <a:r>
              <a:rPr lang="en-US" altLang="zh-CN" sz="2400" b="1">
                <a:latin typeface="微软雅黑" panose="020B0503020204020204" pitchFamily="34" charset="-122"/>
                <a:ea typeface="微软雅黑" panose="020B0503020204020204" pitchFamily="34" charset="-122"/>
                <a:sym typeface="Wingdings" pitchFamily="2" charset="2"/>
              </a:rPr>
              <a:t></a:t>
            </a:r>
            <a:endParaRPr lang="en-US" altLang="zh-CN" sz="2400" b="1">
              <a:latin typeface="微软雅黑" panose="020B0503020204020204" pitchFamily="34" charset="-122"/>
              <a:ea typeface="微软雅黑" panose="020B0503020204020204" pitchFamily="34" charset="-122"/>
            </a:endParaRPr>
          </a:p>
        </p:txBody>
      </p:sp>
      <p:sp>
        <p:nvSpPr>
          <p:cNvPr id="153" name="Rectangle 5"/>
          <p:cNvSpPr>
            <a:spLocks noChangeArrowheads="1"/>
          </p:cNvSpPr>
          <p:nvPr/>
        </p:nvSpPr>
        <p:spPr bwMode="auto">
          <a:xfrm rot="10800000" flipV="1">
            <a:off x="1469649" y="1442750"/>
            <a:ext cx="379478"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1</a:t>
            </a:r>
            <a:endParaRPr lang="zh-CN" altLang="en-US" sz="1400" b="1" baseline="-25000" dirty="0">
              <a:latin typeface="微软雅黑" panose="020B0503020204020204" pitchFamily="34" charset="-122"/>
              <a:ea typeface="微软雅黑" panose="020B0503020204020204" pitchFamily="34" charset="-122"/>
            </a:endParaRPr>
          </a:p>
        </p:txBody>
      </p:sp>
      <p:sp>
        <p:nvSpPr>
          <p:cNvPr id="154" name="Rectangle 5"/>
          <p:cNvSpPr>
            <a:spLocks noChangeArrowheads="1"/>
          </p:cNvSpPr>
          <p:nvPr/>
        </p:nvSpPr>
        <p:spPr bwMode="auto">
          <a:xfrm rot="10800000" flipV="1">
            <a:off x="1950516" y="1422839"/>
            <a:ext cx="379478"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2</a:t>
            </a:r>
            <a:endParaRPr lang="zh-CN" altLang="en-US" sz="1400" b="1" baseline="-25000">
              <a:latin typeface="微软雅黑" panose="020B0503020204020204" pitchFamily="34" charset="-122"/>
              <a:ea typeface="微软雅黑" panose="020B0503020204020204" pitchFamily="34" charset="-122"/>
            </a:endParaRPr>
          </a:p>
        </p:txBody>
      </p:sp>
      <p:sp>
        <p:nvSpPr>
          <p:cNvPr id="155" name="Rectangle 5"/>
          <p:cNvSpPr>
            <a:spLocks noChangeArrowheads="1"/>
          </p:cNvSpPr>
          <p:nvPr/>
        </p:nvSpPr>
        <p:spPr bwMode="auto">
          <a:xfrm rot="10800000" flipV="1">
            <a:off x="2512493" y="1427434"/>
            <a:ext cx="379478"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3</a:t>
            </a:r>
            <a:endParaRPr lang="zh-CN" altLang="en-US" sz="1400" b="1" baseline="-25000">
              <a:latin typeface="微软雅黑" panose="020B0503020204020204" pitchFamily="34" charset="-122"/>
              <a:ea typeface="微软雅黑" panose="020B0503020204020204" pitchFamily="34" charset="-122"/>
            </a:endParaRPr>
          </a:p>
        </p:txBody>
      </p:sp>
      <p:sp>
        <p:nvSpPr>
          <p:cNvPr id="113" name="Text Box 67"/>
          <p:cNvSpPr txBox="1">
            <a:spLocks noChangeArrowheads="1"/>
          </p:cNvSpPr>
          <p:nvPr/>
        </p:nvSpPr>
        <p:spPr bwMode="auto">
          <a:xfrm>
            <a:off x="6295345" y="1423049"/>
            <a:ext cx="398103" cy="504805"/>
          </a:xfrm>
          <a:prstGeom prst="rect">
            <a:avLst/>
          </a:prstGeom>
          <a:noFill/>
          <a:ln w="9525">
            <a:noFill/>
            <a:miter lim="800000"/>
            <a:headEnd/>
            <a:tailEnd/>
          </a:ln>
        </p:spPr>
        <p:txBody>
          <a:bodyPr wrap="none">
            <a:spAutoFit/>
          </a:bodyPr>
          <a:lstStyle/>
          <a:p>
            <a:r>
              <a:rPr lang="en-US" altLang="zh-CN" sz="2800" b="1">
                <a:latin typeface="微软雅黑" panose="020B0503020204020204" pitchFamily="34" charset="-122"/>
                <a:ea typeface="微软雅黑" panose="020B0503020204020204" pitchFamily="34" charset="-122"/>
                <a:sym typeface="Wingdings" pitchFamily="2" charset="2"/>
              </a:rPr>
              <a:t></a:t>
            </a:r>
            <a:endParaRPr lang="en-US" altLang="zh-CN" sz="2800" b="1">
              <a:latin typeface="微软雅黑" panose="020B0503020204020204" pitchFamily="34" charset="-122"/>
              <a:ea typeface="微软雅黑" panose="020B0503020204020204" pitchFamily="34" charset="-122"/>
            </a:endParaRPr>
          </a:p>
        </p:txBody>
      </p:sp>
      <p:sp>
        <p:nvSpPr>
          <p:cNvPr id="114" name="Text Box 68"/>
          <p:cNvSpPr txBox="1">
            <a:spLocks noChangeArrowheads="1"/>
          </p:cNvSpPr>
          <p:nvPr/>
        </p:nvSpPr>
        <p:spPr bwMode="auto">
          <a:xfrm>
            <a:off x="6925397" y="1406200"/>
            <a:ext cx="398103" cy="504805"/>
          </a:xfrm>
          <a:prstGeom prst="rect">
            <a:avLst/>
          </a:prstGeom>
          <a:noFill/>
          <a:ln w="9525">
            <a:noFill/>
            <a:miter lim="800000"/>
            <a:headEnd/>
            <a:tailEnd/>
          </a:ln>
        </p:spPr>
        <p:txBody>
          <a:bodyPr wrap="none">
            <a:spAutoFit/>
          </a:bodyPr>
          <a:lstStyle/>
          <a:p>
            <a:r>
              <a:rPr lang="en-US" altLang="zh-CN" sz="2800" b="1">
                <a:latin typeface="微软雅黑" panose="020B0503020204020204" pitchFamily="34" charset="-122"/>
                <a:ea typeface="微软雅黑" panose="020B0503020204020204" pitchFamily="34" charset="-122"/>
                <a:sym typeface="Wingdings" pitchFamily="2" charset="2"/>
              </a:rPr>
              <a:t></a:t>
            </a:r>
            <a:endParaRPr lang="en-US" altLang="zh-CN" sz="2800" b="1">
              <a:latin typeface="微软雅黑" panose="020B0503020204020204" pitchFamily="34" charset="-122"/>
              <a:ea typeface="微软雅黑" panose="020B0503020204020204" pitchFamily="34" charset="-122"/>
            </a:endParaRPr>
          </a:p>
        </p:txBody>
      </p:sp>
      <p:sp>
        <p:nvSpPr>
          <p:cNvPr id="143" name="Rectangle 5"/>
          <p:cNvSpPr>
            <a:spLocks noChangeArrowheads="1"/>
          </p:cNvSpPr>
          <p:nvPr/>
        </p:nvSpPr>
        <p:spPr bwMode="auto">
          <a:xfrm>
            <a:off x="7674215" y="1562426"/>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a:latin typeface="微软雅黑" panose="020B0503020204020204" pitchFamily="34" charset="-122"/>
                <a:ea typeface="微软雅黑" panose="020B0503020204020204" pitchFamily="34" charset="-122"/>
              </a:rPr>
              <a:t>应用层</a:t>
            </a:r>
          </a:p>
        </p:txBody>
      </p:sp>
      <p:sp>
        <p:nvSpPr>
          <p:cNvPr id="156" name="Rectangle 5"/>
          <p:cNvSpPr>
            <a:spLocks noChangeArrowheads="1"/>
          </p:cNvSpPr>
          <p:nvPr/>
        </p:nvSpPr>
        <p:spPr bwMode="auto">
          <a:xfrm rot="10800000" flipV="1">
            <a:off x="6091471" y="1469554"/>
            <a:ext cx="379479"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4</a:t>
            </a:r>
            <a:endParaRPr lang="zh-CN" altLang="en-US" sz="1400" b="1" baseline="-25000">
              <a:latin typeface="微软雅黑" panose="020B0503020204020204" pitchFamily="34" charset="-122"/>
              <a:ea typeface="微软雅黑" panose="020B0503020204020204" pitchFamily="34" charset="-122"/>
            </a:endParaRPr>
          </a:p>
        </p:txBody>
      </p:sp>
      <p:sp>
        <p:nvSpPr>
          <p:cNvPr id="157" name="Rectangle 5"/>
          <p:cNvSpPr>
            <a:spLocks noChangeArrowheads="1"/>
          </p:cNvSpPr>
          <p:nvPr/>
        </p:nvSpPr>
        <p:spPr bwMode="auto">
          <a:xfrm rot="10800000" flipV="1">
            <a:off x="6725867" y="1453472"/>
            <a:ext cx="379479"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5</a:t>
            </a:r>
            <a:endParaRPr lang="zh-CN" altLang="en-US" sz="1400" b="1" baseline="-25000">
              <a:latin typeface="微软雅黑" panose="020B0503020204020204" pitchFamily="34" charset="-122"/>
              <a:ea typeface="微软雅黑" panose="020B0503020204020204" pitchFamily="34" charset="-122"/>
            </a:endParaRPr>
          </a:p>
        </p:txBody>
      </p:sp>
      <p:sp>
        <p:nvSpPr>
          <p:cNvPr id="14" name="矩形 13"/>
          <p:cNvSpPr/>
          <p:nvPr/>
        </p:nvSpPr>
        <p:spPr>
          <a:xfrm>
            <a:off x="1317818" y="3745264"/>
            <a:ext cx="6831101" cy="1015663"/>
          </a:xfrm>
          <a:prstGeom prst="rect">
            <a:avLst/>
          </a:prstGeom>
        </p:spPr>
        <p:txBody>
          <a:bodyPr wrap="square">
            <a:spAutoFit/>
          </a:bodyPr>
          <a:lstStyle/>
          <a:p>
            <a:pPr>
              <a:lnSpc>
                <a:spcPts val="2400"/>
              </a:lnSpc>
              <a:buClr>
                <a:srgbClr val="0070C0"/>
              </a:buClr>
            </a:pPr>
            <a:r>
              <a:rPr lang="zh-CN" altLang="en-US" sz="1600" b="1" dirty="0">
                <a:solidFill>
                  <a:srgbClr val="C00000"/>
                </a:solidFill>
                <a:latin typeface="微软雅黑" pitchFamily="34" charset="-122"/>
                <a:ea typeface="微软雅黑" pitchFamily="34" charset="-122"/>
              </a:rPr>
              <a:t>复用：</a:t>
            </a:r>
            <a:r>
              <a:rPr lang="zh-CN" altLang="en-US" sz="1600" b="1" dirty="0">
                <a:latin typeface="微软雅黑" pitchFamily="34" charset="-122"/>
                <a:ea typeface="微软雅黑" pitchFamily="34" charset="-122"/>
              </a:rPr>
              <a:t>将 </a:t>
            </a:r>
            <a:r>
              <a:rPr lang="en-US" altLang="zh-CN" sz="1600" b="1" dirty="0">
                <a:latin typeface="微软雅黑" pitchFamily="34" charset="-122"/>
                <a:ea typeface="微软雅黑" pitchFamily="34" charset="-122"/>
              </a:rPr>
              <a:t>UDP </a:t>
            </a:r>
            <a:r>
              <a:rPr lang="zh-CN" altLang="en-US" sz="1600" b="1" dirty="0">
                <a:latin typeface="微软雅黑" pitchFamily="34" charset="-122"/>
                <a:ea typeface="微软雅黑" pitchFamily="34" charset="-122"/>
              </a:rPr>
              <a:t>用户数据报组装成不同的 </a:t>
            </a:r>
            <a:r>
              <a:rPr lang="en-US" altLang="zh-CN" sz="1600" b="1" dirty="0">
                <a:latin typeface="微软雅黑" pitchFamily="34" charset="-122"/>
                <a:ea typeface="微软雅黑" pitchFamily="34" charset="-122"/>
              </a:rPr>
              <a:t>IP </a:t>
            </a:r>
            <a:r>
              <a:rPr lang="zh-CN" altLang="en-US" sz="1600" b="1" dirty="0">
                <a:latin typeface="微软雅黑" pitchFamily="34" charset="-122"/>
                <a:ea typeface="微软雅黑" pitchFamily="34" charset="-122"/>
              </a:rPr>
              <a:t>数据报，发送到互联网。</a:t>
            </a:r>
            <a:endParaRPr lang="en-US" altLang="zh-CN" sz="1600" b="1" dirty="0">
              <a:latin typeface="微软雅黑" pitchFamily="34" charset="-122"/>
              <a:ea typeface="微软雅黑" pitchFamily="34" charset="-122"/>
            </a:endParaRPr>
          </a:p>
          <a:p>
            <a:pPr>
              <a:lnSpc>
                <a:spcPts val="2400"/>
              </a:lnSpc>
              <a:buClr>
                <a:srgbClr val="0070C0"/>
              </a:buClr>
            </a:pPr>
            <a:r>
              <a:rPr lang="zh-CN" altLang="en-US" sz="1600" b="1" dirty="0">
                <a:solidFill>
                  <a:srgbClr val="C00000"/>
                </a:solidFill>
                <a:latin typeface="微软雅黑" pitchFamily="34" charset="-122"/>
                <a:ea typeface="微软雅黑" pitchFamily="34" charset="-122"/>
              </a:rPr>
              <a:t>分用：</a:t>
            </a:r>
            <a:r>
              <a:rPr lang="zh-CN" altLang="en-US" sz="1600" b="1" dirty="0">
                <a:latin typeface="微软雅黑" pitchFamily="34" charset="-122"/>
                <a:ea typeface="微软雅黑" pitchFamily="34" charset="-122"/>
              </a:rPr>
              <a:t>根据 </a:t>
            </a:r>
            <a:r>
              <a:rPr lang="en-US" altLang="zh-CN" sz="1600" b="1" dirty="0">
                <a:latin typeface="微软雅黑" pitchFamily="34" charset="-122"/>
                <a:ea typeface="微软雅黑" pitchFamily="34" charset="-122"/>
              </a:rPr>
              <a:t>UDP </a:t>
            </a:r>
            <a:r>
              <a:rPr lang="zh-CN" altLang="en-US" sz="1600" b="1" dirty="0">
                <a:latin typeface="微软雅黑" pitchFamily="34" charset="-122"/>
                <a:ea typeface="微软雅黑" pitchFamily="34" charset="-122"/>
              </a:rPr>
              <a:t>用户数据报首部中的目的端口号，将数据报分别传送到相应的端口，以便应用进程到端口读取数据。</a:t>
            </a:r>
            <a:endParaRPr lang="en-US" altLang="zh-CN" sz="1600" b="1" dirty="0">
              <a:latin typeface="微软雅黑" pitchFamily="34" charset="-122"/>
              <a:ea typeface="微软雅黑" pitchFamily="34" charset="-122"/>
            </a:endParaRPr>
          </a:p>
        </p:txBody>
      </p:sp>
      <p:sp>
        <p:nvSpPr>
          <p:cNvPr id="15" name="矩形 14"/>
          <p:cNvSpPr/>
          <p:nvPr/>
        </p:nvSpPr>
        <p:spPr>
          <a:xfrm>
            <a:off x="3813128" y="1069966"/>
            <a:ext cx="1415772" cy="338554"/>
          </a:xfrm>
          <a:prstGeom prst="rect">
            <a:avLst/>
          </a:prstGeom>
          <a:solidFill>
            <a:srgbClr val="000099"/>
          </a:solidFill>
        </p:spPr>
        <p:txBody>
          <a:bodyPr wrap="none">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多对一的通信</a:t>
            </a:r>
          </a:p>
        </p:txBody>
      </p:sp>
      <p:sp>
        <p:nvSpPr>
          <p:cNvPr id="5" name="文本框 4">
            <a:extLst>
              <a:ext uri="{FF2B5EF4-FFF2-40B4-BE49-F238E27FC236}">
                <a16:creationId xmlns:a16="http://schemas.microsoft.com/office/drawing/2014/main" id="{643C2B6B-24DF-32CA-CFA6-998686E01941}"/>
              </a:ext>
            </a:extLst>
          </p:cNvPr>
          <p:cNvSpPr txBox="1"/>
          <p:nvPr/>
        </p:nvSpPr>
        <p:spPr>
          <a:xfrm>
            <a:off x="3418879" y="1428851"/>
            <a:ext cx="2306241" cy="307777"/>
          </a:xfrm>
          <a:prstGeom prst="rect">
            <a:avLst/>
          </a:prstGeom>
          <a:noFill/>
        </p:spPr>
        <p:txBody>
          <a:bodyPr wrap="square">
            <a:spAutoFit/>
          </a:bodyPr>
          <a:lstStyle/>
          <a:p>
            <a:pPr algn="ctr"/>
            <a:r>
              <a:rPr lang="en-US" altLang="zh-CN" sz="1400" b="1" dirty="0">
                <a:solidFill>
                  <a:srgbClr val="C00000"/>
                </a:solidFill>
                <a:latin typeface="微软雅黑" panose="020B0503020204020204" pitchFamily="34" charset="-122"/>
                <a:ea typeface="微软雅黑" panose="020B0503020204020204" pitchFamily="34" charset="-122"/>
              </a:rPr>
              <a:t>P</a:t>
            </a:r>
            <a:r>
              <a:rPr lang="en-US" altLang="zh-CN" sz="1400" b="1" baseline="-25000" dirty="0">
                <a:solidFill>
                  <a:srgbClr val="C00000"/>
                </a:solidFill>
                <a:latin typeface="微软雅黑" panose="020B0503020204020204" pitchFamily="34" charset="-122"/>
                <a:ea typeface="微软雅黑" panose="020B0503020204020204" pitchFamily="34" charset="-122"/>
              </a:rPr>
              <a:t>1</a:t>
            </a:r>
            <a:r>
              <a:rPr lang="en-US" altLang="zh-CN" sz="1400" b="1" dirty="0">
                <a:solidFill>
                  <a:srgbClr val="C00000"/>
                </a:solidFill>
                <a:latin typeface="微软雅黑" panose="020B0503020204020204" pitchFamily="34" charset="-122"/>
                <a:ea typeface="微软雅黑" panose="020B0503020204020204" pitchFamily="34" charset="-122"/>
              </a:rPr>
              <a:t>→P</a:t>
            </a:r>
            <a:r>
              <a:rPr lang="en-US" altLang="zh-CN" sz="1400" b="1" baseline="-25000" dirty="0">
                <a:solidFill>
                  <a:srgbClr val="C00000"/>
                </a:solidFill>
                <a:latin typeface="微软雅黑" panose="020B0503020204020204" pitchFamily="34" charset="-122"/>
                <a:ea typeface="微软雅黑" panose="020B0503020204020204" pitchFamily="34" charset="-122"/>
              </a:rPr>
              <a:t>4 </a:t>
            </a:r>
            <a:r>
              <a:rPr lang="en-US" altLang="zh-CN" sz="1400" b="1" dirty="0">
                <a:solidFill>
                  <a:srgbClr val="C00000"/>
                </a:solidFill>
                <a:latin typeface="微软雅黑" panose="020B0503020204020204" pitchFamily="34" charset="-122"/>
                <a:ea typeface="微软雅黑" panose="020B0503020204020204" pitchFamily="34" charset="-122"/>
              </a:rPr>
              <a:t>, P</a:t>
            </a:r>
            <a:r>
              <a:rPr lang="en-US" altLang="zh-CN" sz="1400" b="1" baseline="-25000" dirty="0">
                <a:solidFill>
                  <a:srgbClr val="C00000"/>
                </a:solidFill>
                <a:latin typeface="微软雅黑" panose="020B0503020204020204" pitchFamily="34" charset="-122"/>
                <a:ea typeface="微软雅黑" panose="020B0503020204020204" pitchFamily="34" charset="-122"/>
              </a:rPr>
              <a:t>2</a:t>
            </a:r>
            <a:r>
              <a:rPr lang="en-US" altLang="zh-CN" sz="1400" b="1" dirty="0">
                <a:solidFill>
                  <a:srgbClr val="C00000"/>
                </a:solidFill>
                <a:latin typeface="微软雅黑" panose="020B0503020204020204" pitchFamily="34" charset="-122"/>
                <a:ea typeface="微软雅黑" panose="020B0503020204020204" pitchFamily="34" charset="-122"/>
              </a:rPr>
              <a:t>→P</a:t>
            </a:r>
            <a:r>
              <a:rPr lang="en-US" altLang="zh-CN" sz="1400" b="1" baseline="-25000" dirty="0">
                <a:solidFill>
                  <a:srgbClr val="C00000"/>
                </a:solidFill>
                <a:latin typeface="微软雅黑" panose="020B0503020204020204" pitchFamily="34" charset="-122"/>
                <a:ea typeface="微软雅黑" panose="020B0503020204020204" pitchFamily="34" charset="-122"/>
              </a:rPr>
              <a:t>4 </a:t>
            </a:r>
            <a:r>
              <a:rPr lang="en-US" altLang="zh-CN" sz="1400" b="1" dirty="0">
                <a:solidFill>
                  <a:srgbClr val="C00000"/>
                </a:solidFill>
                <a:latin typeface="微软雅黑" panose="020B0503020204020204" pitchFamily="34" charset="-122"/>
                <a:ea typeface="微软雅黑" panose="020B0503020204020204" pitchFamily="34" charset="-122"/>
              </a:rPr>
              <a:t>, P</a:t>
            </a:r>
            <a:r>
              <a:rPr lang="en-US" altLang="zh-CN" sz="1400" b="1" baseline="-25000" dirty="0">
                <a:solidFill>
                  <a:srgbClr val="C00000"/>
                </a:solidFill>
                <a:latin typeface="微软雅黑" panose="020B0503020204020204" pitchFamily="34" charset="-122"/>
                <a:ea typeface="微软雅黑" panose="020B0503020204020204" pitchFamily="34" charset="-122"/>
              </a:rPr>
              <a:t>3</a:t>
            </a:r>
            <a:r>
              <a:rPr lang="en-US" altLang="zh-CN" sz="1400" b="1" dirty="0">
                <a:solidFill>
                  <a:srgbClr val="C00000"/>
                </a:solidFill>
                <a:latin typeface="微软雅黑" panose="020B0503020204020204" pitchFamily="34" charset="-122"/>
                <a:ea typeface="微软雅黑" panose="020B0503020204020204" pitchFamily="34" charset="-122"/>
              </a:rPr>
              <a:t>→P</a:t>
            </a:r>
            <a:r>
              <a:rPr lang="en-US" altLang="zh-CN" sz="1400" b="1" baseline="-25000" dirty="0">
                <a:solidFill>
                  <a:srgbClr val="C00000"/>
                </a:solidFill>
                <a:latin typeface="微软雅黑" panose="020B0503020204020204" pitchFamily="34" charset="-122"/>
                <a:ea typeface="微软雅黑" panose="020B0503020204020204" pitchFamily="34" charset="-122"/>
              </a:rPr>
              <a:t>5</a:t>
            </a:r>
            <a:endParaRPr lang="zh-CN" altLang="en-US" sz="1400" b="1" baseline="-2500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11881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5"/>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104"/>
                                        </p:tgtEl>
                                        <p:attrNameLst>
                                          <p:attrName>style.visibility</p:attrName>
                                        </p:attrNameLst>
                                      </p:cBhvr>
                                      <p:tavLst>
                                        <p:tav tm="0">
                                          <p:val>
                                            <p:strVal val="hidden"/>
                                          </p:val>
                                        </p:tav>
                                        <p:tav tm="50000">
                                          <p:val>
                                            <p:strVal val="visible"/>
                                          </p:val>
                                        </p:tav>
                                      </p:tavLst>
                                    </p:anim>
                                  </p:childTnLst>
                                </p:cTn>
                              </p:par>
                              <p:par>
                                <p:cTn id="11" presetID="35" presetClass="emph" presetSubtype="0" repeatCount="3000" fill="hold" grpId="0" nodeType="withEffect">
                                  <p:stCondLst>
                                    <p:cond delay="0"/>
                                  </p:stCondLst>
                                  <p:childTnLst>
                                    <p:anim calcmode="discrete" valueType="str">
                                      <p:cBhvr>
                                        <p:cTn id="12" dur="1000" fill="hold"/>
                                        <p:tgtEl>
                                          <p:spTgt spid="105"/>
                                        </p:tgtEl>
                                        <p:attrNameLst>
                                          <p:attrName>style.visibility</p:attrName>
                                        </p:attrNameLst>
                                      </p:cBhvr>
                                      <p:tavLst>
                                        <p:tav tm="0">
                                          <p:val>
                                            <p:strVal val="hidden"/>
                                          </p:val>
                                        </p:tav>
                                        <p:tav tm="50000">
                                          <p:val>
                                            <p:strVal val="visible"/>
                                          </p:val>
                                        </p:tav>
                                      </p:tavLst>
                                    </p:anim>
                                  </p:childTnLst>
                                </p:cTn>
                              </p:par>
                              <p:par>
                                <p:cTn id="13" presetID="35" presetClass="emph" presetSubtype="0" repeatCount="3000" fill="hold" grpId="0" nodeType="withEffect">
                                  <p:stCondLst>
                                    <p:cond delay="0"/>
                                  </p:stCondLst>
                                  <p:childTnLst>
                                    <p:anim calcmode="discrete" valueType="str">
                                      <p:cBhvr>
                                        <p:cTn id="14" dur="1000" fill="hold"/>
                                        <p:tgtEl>
                                          <p:spTgt spid="106"/>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35" presetClass="emph" presetSubtype="0" repeatCount="3000" fill="hold" grpId="0" nodeType="clickEffect">
                                  <p:stCondLst>
                                    <p:cond delay="0"/>
                                  </p:stCondLst>
                                  <p:childTnLst>
                                    <p:anim calcmode="discrete" valueType="str">
                                      <p:cBhvr>
                                        <p:cTn id="18" dur="1000" fill="hold"/>
                                        <p:tgtEl>
                                          <p:spTgt spid="132"/>
                                        </p:tgtEl>
                                        <p:attrNameLst>
                                          <p:attrName>style.visibility</p:attrName>
                                        </p:attrNameLst>
                                      </p:cBhvr>
                                      <p:tavLst>
                                        <p:tav tm="0">
                                          <p:val>
                                            <p:strVal val="hidden"/>
                                          </p:val>
                                        </p:tav>
                                        <p:tav tm="50000">
                                          <p:val>
                                            <p:strVal val="visible"/>
                                          </p:val>
                                        </p:tav>
                                      </p:tavLst>
                                    </p:anim>
                                  </p:childTnLst>
                                </p:cTn>
                              </p:par>
                              <p:par>
                                <p:cTn id="19" presetID="35" presetClass="emph" presetSubtype="0" repeatCount="3000" fill="hold" grpId="0" nodeType="withEffect">
                                  <p:stCondLst>
                                    <p:cond delay="0"/>
                                  </p:stCondLst>
                                  <p:childTnLst>
                                    <p:anim calcmode="discrete" valueType="str">
                                      <p:cBhvr>
                                        <p:cTn id="20" dur="1000" fill="hold"/>
                                        <p:tgtEl>
                                          <p:spTgt spid="133"/>
                                        </p:tgtEl>
                                        <p:attrNameLst>
                                          <p:attrName>style.visibility</p:attrName>
                                        </p:attrNameLst>
                                      </p:cBhvr>
                                      <p:tavLst>
                                        <p:tav tm="0">
                                          <p:val>
                                            <p:strVal val="hidden"/>
                                          </p:val>
                                        </p:tav>
                                        <p:tav tm="50000">
                                          <p:val>
                                            <p:strVal val="visible"/>
                                          </p:val>
                                        </p:tav>
                                      </p:tavLst>
                                    </p:anim>
                                  </p:childTnLst>
                                </p:cTn>
                              </p:par>
                            </p:childTnLst>
                          </p:cTn>
                        </p:par>
                      </p:childTnLst>
                    </p:cTn>
                  </p:par>
                  <p:par>
                    <p:cTn id="21" fill="hold">
                      <p:stCondLst>
                        <p:cond delay="indefinite"/>
                      </p:stCondLst>
                      <p:childTnLst>
                        <p:par>
                          <p:cTn id="22" fill="hold">
                            <p:stCondLst>
                              <p:cond delay="0"/>
                            </p:stCondLst>
                            <p:childTnLst>
                              <p:par>
                                <p:cTn id="23" presetID="35" presetClass="emph" presetSubtype="0" repeatCount="3000" fill="hold" grpId="0" nodeType="clickEffect">
                                  <p:stCondLst>
                                    <p:cond delay="0"/>
                                  </p:stCondLst>
                                  <p:childTnLst>
                                    <p:anim calcmode="discrete" valueType="str">
                                      <p:cBhvr>
                                        <p:cTn id="24" dur="1000" fill="hold"/>
                                        <p:tgtEl>
                                          <p:spTgt spid="166"/>
                                        </p:tgtEl>
                                        <p:attrNameLst>
                                          <p:attrName>style.visibility</p:attrName>
                                        </p:attrNameLst>
                                      </p:cBhvr>
                                      <p:tavLst>
                                        <p:tav tm="0">
                                          <p:val>
                                            <p:strVal val="hidden"/>
                                          </p:val>
                                        </p:tav>
                                        <p:tav tm="50000">
                                          <p:val>
                                            <p:strVal val="visible"/>
                                          </p:val>
                                        </p:tav>
                                      </p:tavLst>
                                    </p:anim>
                                  </p:childTnLst>
                                </p:cTn>
                              </p:par>
                            </p:childTnLst>
                          </p:cTn>
                        </p:par>
                      </p:childTnLst>
                    </p:cTn>
                  </p:par>
                  <p:par>
                    <p:cTn id="25" fill="hold">
                      <p:stCondLst>
                        <p:cond delay="indefinite"/>
                      </p:stCondLst>
                      <p:childTnLst>
                        <p:par>
                          <p:cTn id="26" fill="hold">
                            <p:stCondLst>
                              <p:cond delay="0"/>
                            </p:stCondLst>
                            <p:childTnLst>
                              <p:par>
                                <p:cTn id="27" presetID="35" presetClass="emph" presetSubtype="0" repeatCount="3000" fill="hold" nodeType="clickEffect">
                                  <p:stCondLst>
                                    <p:cond delay="0"/>
                                  </p:stCondLst>
                                  <p:childTnLst>
                                    <p:anim calcmode="discrete" valueType="str">
                                      <p:cBhvr>
                                        <p:cTn id="28" dur="1000" fill="hold"/>
                                        <p:tgtEl>
                                          <p:spTgt spid="1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P spid="105" grpId="0"/>
      <p:bldP spid="106" grpId="0"/>
      <p:bldP spid="132" grpId="0"/>
      <p:bldP spid="133" grpId="0"/>
      <p:bldP spid="166" grpId="0"/>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F8B96-45A0-D1F2-1826-42212644DF1C}"/>
            </a:ext>
          </a:extLst>
        </p:cNvPr>
        <p:cNvGrpSpPr/>
        <p:nvPr/>
      </p:nvGrpSpPr>
      <p:grpSpPr>
        <a:xfrm>
          <a:off x="0" y="0"/>
          <a:ext cx="0" cy="0"/>
          <a:chOff x="0" y="0"/>
          <a:chExt cx="0" cy="0"/>
        </a:xfrm>
      </p:grpSpPr>
      <p:sp>
        <p:nvSpPr>
          <p:cNvPr id="39" name="AutoShape 5">
            <a:extLst>
              <a:ext uri="{FF2B5EF4-FFF2-40B4-BE49-F238E27FC236}">
                <a16:creationId xmlns:a16="http://schemas.microsoft.com/office/drawing/2014/main" id="{EAA32F60-535D-F392-631F-A4BC9762894F}"/>
              </a:ext>
            </a:extLst>
          </p:cNvPr>
          <p:cNvSpPr>
            <a:spLocks noChangeArrowheads="1"/>
          </p:cNvSpPr>
          <p:nvPr/>
        </p:nvSpPr>
        <p:spPr bwMode="auto">
          <a:xfrm>
            <a:off x="545145" y="62013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0" name="Rectangle 6">
            <a:extLst>
              <a:ext uri="{FF2B5EF4-FFF2-40B4-BE49-F238E27FC236}">
                <a16:creationId xmlns:a16="http://schemas.microsoft.com/office/drawing/2014/main" id="{9A856489-DC9A-C3CA-FB53-BAE9601209D7}"/>
              </a:ext>
            </a:extLst>
          </p:cNvPr>
          <p:cNvSpPr>
            <a:spLocks noChangeArrowheads="1"/>
          </p:cNvSpPr>
          <p:nvPr/>
        </p:nvSpPr>
        <p:spPr bwMode="auto">
          <a:xfrm>
            <a:off x="3055569" y="597049"/>
            <a:ext cx="30155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ea typeface="微软雅黑" pitchFamily="34" charset="-122"/>
              </a:rPr>
              <a:t>UDP </a:t>
            </a:r>
            <a:r>
              <a:rPr lang="zh-CN" altLang="en-US" sz="2000" b="1" dirty="0">
                <a:solidFill>
                  <a:schemeClr val="bg1"/>
                </a:solidFill>
                <a:ea typeface="微软雅黑" pitchFamily="34" charset="-122"/>
              </a:rPr>
              <a:t>通信和端口号的关系</a:t>
            </a:r>
          </a:p>
        </p:txBody>
      </p:sp>
      <p:sp>
        <p:nvSpPr>
          <p:cNvPr id="41" name="圆角矩形 40">
            <a:extLst>
              <a:ext uri="{FF2B5EF4-FFF2-40B4-BE49-F238E27FC236}">
                <a16:creationId xmlns:a16="http://schemas.microsoft.com/office/drawing/2014/main" id="{91C711E2-3DA4-0FBA-F786-33CCCBEF0D78}"/>
              </a:ext>
            </a:extLst>
          </p:cNvPr>
          <p:cNvSpPr/>
          <p:nvPr/>
        </p:nvSpPr>
        <p:spPr>
          <a:xfrm>
            <a:off x="545145" y="1017490"/>
            <a:ext cx="8053710" cy="275342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97B6BB56-A581-9B0A-8091-A359BE199F79}"/>
              </a:ext>
            </a:extLst>
          </p:cNvPr>
          <p:cNvSpPr/>
          <p:nvPr/>
        </p:nvSpPr>
        <p:spPr bwMode="auto">
          <a:xfrm>
            <a:off x="6347487" y="1962182"/>
            <a:ext cx="302715"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4" name="矩形 43">
            <a:extLst>
              <a:ext uri="{FF2B5EF4-FFF2-40B4-BE49-F238E27FC236}">
                <a16:creationId xmlns:a16="http://schemas.microsoft.com/office/drawing/2014/main" id="{438C8454-4764-929C-E741-DC29EAC2F58B}"/>
              </a:ext>
            </a:extLst>
          </p:cNvPr>
          <p:cNvSpPr/>
          <p:nvPr/>
        </p:nvSpPr>
        <p:spPr bwMode="auto">
          <a:xfrm>
            <a:off x="6418459" y="2147509"/>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5" name="矩形 44">
            <a:extLst>
              <a:ext uri="{FF2B5EF4-FFF2-40B4-BE49-F238E27FC236}">
                <a16:creationId xmlns:a16="http://schemas.microsoft.com/office/drawing/2014/main" id="{05566B7A-278D-73A3-0E2D-A5DADF4818D3}"/>
              </a:ext>
            </a:extLst>
          </p:cNvPr>
          <p:cNvSpPr/>
          <p:nvPr/>
        </p:nvSpPr>
        <p:spPr bwMode="auto">
          <a:xfrm>
            <a:off x="1672074" y="1962182"/>
            <a:ext cx="302715"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7" name="矩形 46">
            <a:extLst>
              <a:ext uri="{FF2B5EF4-FFF2-40B4-BE49-F238E27FC236}">
                <a16:creationId xmlns:a16="http://schemas.microsoft.com/office/drawing/2014/main" id="{BCB377E0-96D2-132E-3C18-AD7677100A11}"/>
              </a:ext>
            </a:extLst>
          </p:cNvPr>
          <p:cNvSpPr/>
          <p:nvPr/>
        </p:nvSpPr>
        <p:spPr bwMode="auto">
          <a:xfrm>
            <a:off x="2200738" y="1968308"/>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8" name="矩形 47">
            <a:extLst>
              <a:ext uri="{FF2B5EF4-FFF2-40B4-BE49-F238E27FC236}">
                <a16:creationId xmlns:a16="http://schemas.microsoft.com/office/drawing/2014/main" id="{EB953CDD-0A33-E48C-82F3-5A122DA6A12B}"/>
              </a:ext>
            </a:extLst>
          </p:cNvPr>
          <p:cNvSpPr/>
          <p:nvPr/>
        </p:nvSpPr>
        <p:spPr bwMode="auto">
          <a:xfrm>
            <a:off x="2723608" y="1962182"/>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3" name="矩形 52">
            <a:extLst>
              <a:ext uri="{FF2B5EF4-FFF2-40B4-BE49-F238E27FC236}">
                <a16:creationId xmlns:a16="http://schemas.microsoft.com/office/drawing/2014/main" id="{81C11D73-95CB-22D8-C331-E465034E777A}"/>
              </a:ext>
            </a:extLst>
          </p:cNvPr>
          <p:cNvSpPr/>
          <p:nvPr/>
        </p:nvSpPr>
        <p:spPr bwMode="auto">
          <a:xfrm>
            <a:off x="2788786" y="2086243"/>
            <a:ext cx="172358" cy="56671"/>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4" name="矩形 53">
            <a:extLst>
              <a:ext uri="{FF2B5EF4-FFF2-40B4-BE49-F238E27FC236}">
                <a16:creationId xmlns:a16="http://schemas.microsoft.com/office/drawing/2014/main" id="{F8882BC2-7F86-0DBF-C074-84392B81B722}"/>
              </a:ext>
            </a:extLst>
          </p:cNvPr>
          <p:cNvSpPr/>
          <p:nvPr/>
        </p:nvSpPr>
        <p:spPr bwMode="auto">
          <a:xfrm>
            <a:off x="2273158" y="2142914"/>
            <a:ext cx="172358"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5" name="矩形 54">
            <a:extLst>
              <a:ext uri="{FF2B5EF4-FFF2-40B4-BE49-F238E27FC236}">
                <a16:creationId xmlns:a16="http://schemas.microsoft.com/office/drawing/2014/main" id="{0A3E5EE8-D108-0FFF-34D6-0153A62EF92C}"/>
              </a:ext>
            </a:extLst>
          </p:cNvPr>
          <p:cNvSpPr/>
          <p:nvPr/>
        </p:nvSpPr>
        <p:spPr bwMode="auto">
          <a:xfrm>
            <a:off x="2263019" y="2087775"/>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6" name="矩形 55">
            <a:extLst>
              <a:ext uri="{FF2B5EF4-FFF2-40B4-BE49-F238E27FC236}">
                <a16:creationId xmlns:a16="http://schemas.microsoft.com/office/drawing/2014/main" id="{B9DCCBB3-B977-2596-C99B-FDCB73266FCE}"/>
              </a:ext>
            </a:extLst>
          </p:cNvPr>
          <p:cNvSpPr/>
          <p:nvPr/>
        </p:nvSpPr>
        <p:spPr bwMode="auto">
          <a:xfrm>
            <a:off x="2270261" y="2029574"/>
            <a:ext cx="170910"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7" name="矩形 56">
            <a:extLst>
              <a:ext uri="{FF2B5EF4-FFF2-40B4-BE49-F238E27FC236}">
                <a16:creationId xmlns:a16="http://schemas.microsoft.com/office/drawing/2014/main" id="{F9D4C132-AAF7-9315-644C-6F78AEC4C336}"/>
              </a:ext>
            </a:extLst>
          </p:cNvPr>
          <p:cNvSpPr/>
          <p:nvPr/>
        </p:nvSpPr>
        <p:spPr bwMode="auto">
          <a:xfrm>
            <a:off x="1740149" y="2028041"/>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8" name="矩形 57">
            <a:extLst>
              <a:ext uri="{FF2B5EF4-FFF2-40B4-BE49-F238E27FC236}">
                <a16:creationId xmlns:a16="http://schemas.microsoft.com/office/drawing/2014/main" id="{110F7768-1428-30E9-E17E-1B4751B13FA5}"/>
              </a:ext>
            </a:extLst>
          </p:cNvPr>
          <p:cNvSpPr/>
          <p:nvPr/>
        </p:nvSpPr>
        <p:spPr bwMode="auto">
          <a:xfrm>
            <a:off x="2793131" y="2029574"/>
            <a:ext cx="170910"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9" name="矩形 48">
            <a:extLst>
              <a:ext uri="{FF2B5EF4-FFF2-40B4-BE49-F238E27FC236}">
                <a16:creationId xmlns:a16="http://schemas.microsoft.com/office/drawing/2014/main" id="{74359C47-3F07-C60D-968F-FAADDF8CA2C7}"/>
              </a:ext>
            </a:extLst>
          </p:cNvPr>
          <p:cNvSpPr>
            <a:spLocks noChangeArrowheads="1"/>
          </p:cNvSpPr>
          <p:nvPr/>
        </p:nvSpPr>
        <p:spPr bwMode="auto">
          <a:xfrm>
            <a:off x="1737252" y="2029574"/>
            <a:ext cx="170910"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60" name="直接连接符 50">
            <a:extLst>
              <a:ext uri="{FF2B5EF4-FFF2-40B4-BE49-F238E27FC236}">
                <a16:creationId xmlns:a16="http://schemas.microsoft.com/office/drawing/2014/main" id="{764E05BD-6DC2-8A8A-8D87-5CB899791EFC}"/>
              </a:ext>
            </a:extLst>
          </p:cNvPr>
          <p:cNvCxnSpPr>
            <a:cxnSpLocks noChangeShapeType="1"/>
          </p:cNvCxnSpPr>
          <p:nvPr/>
        </p:nvCxnSpPr>
        <p:spPr bwMode="auto">
          <a:xfrm>
            <a:off x="1737252" y="2084712"/>
            <a:ext cx="170910" cy="0"/>
          </a:xfrm>
          <a:prstGeom prst="line">
            <a:avLst/>
          </a:prstGeom>
          <a:noFill/>
          <a:ln w="9525" algn="ctr">
            <a:solidFill>
              <a:schemeClr val="tx1"/>
            </a:solidFill>
            <a:round/>
            <a:headEnd/>
            <a:tailEnd/>
          </a:ln>
        </p:spPr>
      </p:cxnSp>
      <p:cxnSp>
        <p:nvCxnSpPr>
          <p:cNvPr id="61" name="直接连接符 51">
            <a:extLst>
              <a:ext uri="{FF2B5EF4-FFF2-40B4-BE49-F238E27FC236}">
                <a16:creationId xmlns:a16="http://schemas.microsoft.com/office/drawing/2014/main" id="{9C439C1A-D322-4F37-F497-416A7FE04AEE}"/>
              </a:ext>
            </a:extLst>
          </p:cNvPr>
          <p:cNvCxnSpPr>
            <a:cxnSpLocks noChangeShapeType="1"/>
          </p:cNvCxnSpPr>
          <p:nvPr/>
        </p:nvCxnSpPr>
        <p:spPr bwMode="auto">
          <a:xfrm>
            <a:off x="1737252" y="2084712"/>
            <a:ext cx="170910" cy="0"/>
          </a:xfrm>
          <a:prstGeom prst="line">
            <a:avLst/>
          </a:prstGeom>
          <a:noFill/>
          <a:ln w="9525" algn="ctr">
            <a:solidFill>
              <a:schemeClr val="tx1"/>
            </a:solidFill>
            <a:round/>
            <a:headEnd/>
            <a:tailEnd/>
          </a:ln>
        </p:spPr>
      </p:cxnSp>
      <p:cxnSp>
        <p:nvCxnSpPr>
          <p:cNvPr id="63" name="直接连接符 52">
            <a:extLst>
              <a:ext uri="{FF2B5EF4-FFF2-40B4-BE49-F238E27FC236}">
                <a16:creationId xmlns:a16="http://schemas.microsoft.com/office/drawing/2014/main" id="{E648B06A-788F-86C8-8022-BEC584217357}"/>
              </a:ext>
            </a:extLst>
          </p:cNvPr>
          <p:cNvCxnSpPr>
            <a:cxnSpLocks noChangeShapeType="1"/>
          </p:cNvCxnSpPr>
          <p:nvPr/>
        </p:nvCxnSpPr>
        <p:spPr bwMode="auto">
          <a:xfrm>
            <a:off x="1737252" y="2142914"/>
            <a:ext cx="170910" cy="0"/>
          </a:xfrm>
          <a:prstGeom prst="line">
            <a:avLst/>
          </a:prstGeom>
          <a:noFill/>
          <a:ln w="9525" algn="ctr">
            <a:solidFill>
              <a:schemeClr val="tx1"/>
            </a:solidFill>
            <a:round/>
            <a:headEnd/>
            <a:tailEnd/>
          </a:ln>
        </p:spPr>
      </p:cxnSp>
      <p:cxnSp>
        <p:nvCxnSpPr>
          <p:cNvPr id="64" name="直接连接符 53">
            <a:extLst>
              <a:ext uri="{FF2B5EF4-FFF2-40B4-BE49-F238E27FC236}">
                <a16:creationId xmlns:a16="http://schemas.microsoft.com/office/drawing/2014/main" id="{F0EF6739-65EC-3F83-2F16-1245127798FB}"/>
              </a:ext>
            </a:extLst>
          </p:cNvPr>
          <p:cNvCxnSpPr>
            <a:cxnSpLocks noChangeShapeType="1"/>
          </p:cNvCxnSpPr>
          <p:nvPr/>
        </p:nvCxnSpPr>
        <p:spPr bwMode="auto">
          <a:xfrm>
            <a:off x="1737252" y="2193457"/>
            <a:ext cx="170910" cy="0"/>
          </a:xfrm>
          <a:prstGeom prst="line">
            <a:avLst/>
          </a:prstGeom>
          <a:noFill/>
          <a:ln w="9525" algn="ctr">
            <a:solidFill>
              <a:schemeClr val="tx1"/>
            </a:solidFill>
            <a:round/>
            <a:headEnd/>
            <a:tailEnd/>
          </a:ln>
        </p:spPr>
      </p:cxnSp>
      <p:cxnSp>
        <p:nvCxnSpPr>
          <p:cNvPr id="65" name="直接连接符 54">
            <a:extLst>
              <a:ext uri="{FF2B5EF4-FFF2-40B4-BE49-F238E27FC236}">
                <a16:creationId xmlns:a16="http://schemas.microsoft.com/office/drawing/2014/main" id="{D2431E30-9668-A13E-EEAA-3212A37062C0}"/>
              </a:ext>
            </a:extLst>
          </p:cNvPr>
          <p:cNvCxnSpPr>
            <a:cxnSpLocks noChangeShapeType="1"/>
          </p:cNvCxnSpPr>
          <p:nvPr/>
        </p:nvCxnSpPr>
        <p:spPr bwMode="auto">
          <a:xfrm>
            <a:off x="1737252" y="2251659"/>
            <a:ext cx="170910" cy="0"/>
          </a:xfrm>
          <a:prstGeom prst="line">
            <a:avLst/>
          </a:prstGeom>
          <a:noFill/>
          <a:ln w="9525" algn="ctr">
            <a:solidFill>
              <a:schemeClr val="tx1"/>
            </a:solidFill>
            <a:round/>
            <a:headEnd/>
            <a:tailEnd/>
          </a:ln>
        </p:spPr>
      </p:cxnSp>
      <p:sp>
        <p:nvSpPr>
          <p:cNvPr id="68" name="矩形 55">
            <a:extLst>
              <a:ext uri="{FF2B5EF4-FFF2-40B4-BE49-F238E27FC236}">
                <a16:creationId xmlns:a16="http://schemas.microsoft.com/office/drawing/2014/main" id="{6E8E8FD6-F18D-7461-C233-767BD6086ECE}"/>
              </a:ext>
            </a:extLst>
          </p:cNvPr>
          <p:cNvSpPr>
            <a:spLocks noChangeArrowheads="1"/>
          </p:cNvSpPr>
          <p:nvPr/>
        </p:nvSpPr>
        <p:spPr bwMode="auto">
          <a:xfrm>
            <a:off x="2267364" y="2029574"/>
            <a:ext cx="170910"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71" name="直接连接符 56">
            <a:extLst>
              <a:ext uri="{FF2B5EF4-FFF2-40B4-BE49-F238E27FC236}">
                <a16:creationId xmlns:a16="http://schemas.microsoft.com/office/drawing/2014/main" id="{6940175B-E61F-EB15-1541-6DEFE6A14ED6}"/>
              </a:ext>
            </a:extLst>
          </p:cNvPr>
          <p:cNvCxnSpPr>
            <a:cxnSpLocks noChangeShapeType="1"/>
          </p:cNvCxnSpPr>
          <p:nvPr/>
        </p:nvCxnSpPr>
        <p:spPr bwMode="auto">
          <a:xfrm>
            <a:off x="2267364" y="2084712"/>
            <a:ext cx="170910" cy="0"/>
          </a:xfrm>
          <a:prstGeom prst="line">
            <a:avLst/>
          </a:prstGeom>
          <a:noFill/>
          <a:ln w="9525" algn="ctr">
            <a:solidFill>
              <a:schemeClr val="tx1"/>
            </a:solidFill>
            <a:round/>
            <a:headEnd/>
            <a:tailEnd/>
          </a:ln>
        </p:spPr>
      </p:cxnSp>
      <p:cxnSp>
        <p:nvCxnSpPr>
          <p:cNvPr id="72" name="直接连接符 57">
            <a:extLst>
              <a:ext uri="{FF2B5EF4-FFF2-40B4-BE49-F238E27FC236}">
                <a16:creationId xmlns:a16="http://schemas.microsoft.com/office/drawing/2014/main" id="{3D69F144-ADE6-D9AC-04FD-52D461BFB6A7}"/>
              </a:ext>
            </a:extLst>
          </p:cNvPr>
          <p:cNvCxnSpPr>
            <a:cxnSpLocks noChangeShapeType="1"/>
          </p:cNvCxnSpPr>
          <p:nvPr/>
        </p:nvCxnSpPr>
        <p:spPr bwMode="auto">
          <a:xfrm>
            <a:off x="2267364" y="2084712"/>
            <a:ext cx="170910" cy="0"/>
          </a:xfrm>
          <a:prstGeom prst="line">
            <a:avLst/>
          </a:prstGeom>
          <a:noFill/>
          <a:ln w="9525" algn="ctr">
            <a:solidFill>
              <a:schemeClr val="tx1"/>
            </a:solidFill>
            <a:round/>
            <a:headEnd/>
            <a:tailEnd/>
          </a:ln>
        </p:spPr>
      </p:cxnSp>
      <p:cxnSp>
        <p:nvCxnSpPr>
          <p:cNvPr id="80" name="直接连接符 58">
            <a:extLst>
              <a:ext uri="{FF2B5EF4-FFF2-40B4-BE49-F238E27FC236}">
                <a16:creationId xmlns:a16="http://schemas.microsoft.com/office/drawing/2014/main" id="{0027E830-589A-00AF-4CD7-6CFA1D0BB53E}"/>
              </a:ext>
            </a:extLst>
          </p:cNvPr>
          <p:cNvCxnSpPr>
            <a:cxnSpLocks noChangeShapeType="1"/>
          </p:cNvCxnSpPr>
          <p:nvPr/>
        </p:nvCxnSpPr>
        <p:spPr bwMode="auto">
          <a:xfrm>
            <a:off x="2267364" y="2142914"/>
            <a:ext cx="170910" cy="0"/>
          </a:xfrm>
          <a:prstGeom prst="line">
            <a:avLst/>
          </a:prstGeom>
          <a:noFill/>
          <a:ln w="9525" algn="ctr">
            <a:solidFill>
              <a:schemeClr val="tx1"/>
            </a:solidFill>
            <a:round/>
            <a:headEnd/>
            <a:tailEnd/>
          </a:ln>
        </p:spPr>
      </p:cxnSp>
      <p:cxnSp>
        <p:nvCxnSpPr>
          <p:cNvPr id="81" name="直接连接符 59">
            <a:extLst>
              <a:ext uri="{FF2B5EF4-FFF2-40B4-BE49-F238E27FC236}">
                <a16:creationId xmlns:a16="http://schemas.microsoft.com/office/drawing/2014/main" id="{7D812939-36D9-788C-58BC-D0394C75F8B3}"/>
              </a:ext>
            </a:extLst>
          </p:cNvPr>
          <p:cNvCxnSpPr>
            <a:cxnSpLocks noChangeShapeType="1"/>
          </p:cNvCxnSpPr>
          <p:nvPr/>
        </p:nvCxnSpPr>
        <p:spPr bwMode="auto">
          <a:xfrm>
            <a:off x="2267364" y="2193457"/>
            <a:ext cx="170910" cy="0"/>
          </a:xfrm>
          <a:prstGeom prst="line">
            <a:avLst/>
          </a:prstGeom>
          <a:noFill/>
          <a:ln w="9525" algn="ctr">
            <a:solidFill>
              <a:schemeClr val="tx1"/>
            </a:solidFill>
            <a:round/>
            <a:headEnd/>
            <a:tailEnd/>
          </a:ln>
        </p:spPr>
      </p:cxnSp>
      <p:cxnSp>
        <p:nvCxnSpPr>
          <p:cNvPr id="85" name="直接连接符 60">
            <a:extLst>
              <a:ext uri="{FF2B5EF4-FFF2-40B4-BE49-F238E27FC236}">
                <a16:creationId xmlns:a16="http://schemas.microsoft.com/office/drawing/2014/main" id="{138BC0B3-91A3-4302-CDC4-0F03522B1C06}"/>
              </a:ext>
            </a:extLst>
          </p:cNvPr>
          <p:cNvCxnSpPr>
            <a:cxnSpLocks noChangeShapeType="1"/>
          </p:cNvCxnSpPr>
          <p:nvPr/>
        </p:nvCxnSpPr>
        <p:spPr bwMode="auto">
          <a:xfrm>
            <a:off x="2267364" y="2251659"/>
            <a:ext cx="170910" cy="0"/>
          </a:xfrm>
          <a:prstGeom prst="line">
            <a:avLst/>
          </a:prstGeom>
          <a:noFill/>
          <a:ln w="9525" algn="ctr">
            <a:solidFill>
              <a:schemeClr val="tx1"/>
            </a:solidFill>
            <a:round/>
            <a:headEnd/>
            <a:tailEnd/>
          </a:ln>
        </p:spPr>
      </p:cxnSp>
      <p:sp>
        <p:nvSpPr>
          <p:cNvPr id="89" name="矩形 61">
            <a:extLst>
              <a:ext uri="{FF2B5EF4-FFF2-40B4-BE49-F238E27FC236}">
                <a16:creationId xmlns:a16="http://schemas.microsoft.com/office/drawing/2014/main" id="{D1C3D5D3-EE7D-CFEE-930E-B60D50CEBB48}"/>
              </a:ext>
            </a:extLst>
          </p:cNvPr>
          <p:cNvSpPr>
            <a:spLocks noChangeArrowheads="1"/>
          </p:cNvSpPr>
          <p:nvPr/>
        </p:nvSpPr>
        <p:spPr bwMode="auto">
          <a:xfrm>
            <a:off x="2793131" y="2029574"/>
            <a:ext cx="169462"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90" name="直接连接符 62">
            <a:extLst>
              <a:ext uri="{FF2B5EF4-FFF2-40B4-BE49-F238E27FC236}">
                <a16:creationId xmlns:a16="http://schemas.microsoft.com/office/drawing/2014/main" id="{79864E2A-D20A-3CD9-9BDA-4122F14E7C0E}"/>
              </a:ext>
            </a:extLst>
          </p:cNvPr>
          <p:cNvCxnSpPr>
            <a:cxnSpLocks noChangeShapeType="1"/>
          </p:cNvCxnSpPr>
          <p:nvPr/>
        </p:nvCxnSpPr>
        <p:spPr bwMode="auto">
          <a:xfrm>
            <a:off x="2793131" y="2084712"/>
            <a:ext cx="169462" cy="0"/>
          </a:xfrm>
          <a:prstGeom prst="line">
            <a:avLst/>
          </a:prstGeom>
          <a:noFill/>
          <a:ln w="9525" algn="ctr">
            <a:solidFill>
              <a:schemeClr val="tx1"/>
            </a:solidFill>
            <a:round/>
            <a:headEnd/>
            <a:tailEnd/>
          </a:ln>
        </p:spPr>
      </p:cxnSp>
      <p:cxnSp>
        <p:nvCxnSpPr>
          <p:cNvPr id="92" name="直接连接符 63">
            <a:extLst>
              <a:ext uri="{FF2B5EF4-FFF2-40B4-BE49-F238E27FC236}">
                <a16:creationId xmlns:a16="http://schemas.microsoft.com/office/drawing/2014/main" id="{5835175D-D2BF-55BF-B776-BDA2ECD483CD}"/>
              </a:ext>
            </a:extLst>
          </p:cNvPr>
          <p:cNvCxnSpPr>
            <a:cxnSpLocks noChangeShapeType="1"/>
          </p:cNvCxnSpPr>
          <p:nvPr/>
        </p:nvCxnSpPr>
        <p:spPr bwMode="auto">
          <a:xfrm>
            <a:off x="2793131" y="2084712"/>
            <a:ext cx="169462" cy="0"/>
          </a:xfrm>
          <a:prstGeom prst="line">
            <a:avLst/>
          </a:prstGeom>
          <a:noFill/>
          <a:ln w="9525" algn="ctr">
            <a:solidFill>
              <a:schemeClr val="tx1"/>
            </a:solidFill>
            <a:round/>
            <a:headEnd/>
            <a:tailEnd/>
          </a:ln>
        </p:spPr>
      </p:cxnSp>
      <p:cxnSp>
        <p:nvCxnSpPr>
          <p:cNvPr id="93" name="直接连接符 64">
            <a:extLst>
              <a:ext uri="{FF2B5EF4-FFF2-40B4-BE49-F238E27FC236}">
                <a16:creationId xmlns:a16="http://schemas.microsoft.com/office/drawing/2014/main" id="{36D8B970-AFB1-1D9C-DA60-F32C1C9413DC}"/>
              </a:ext>
            </a:extLst>
          </p:cNvPr>
          <p:cNvCxnSpPr>
            <a:cxnSpLocks noChangeShapeType="1"/>
          </p:cNvCxnSpPr>
          <p:nvPr/>
        </p:nvCxnSpPr>
        <p:spPr bwMode="auto">
          <a:xfrm>
            <a:off x="2793131" y="2142914"/>
            <a:ext cx="169462" cy="0"/>
          </a:xfrm>
          <a:prstGeom prst="line">
            <a:avLst/>
          </a:prstGeom>
          <a:noFill/>
          <a:ln w="9525" algn="ctr">
            <a:solidFill>
              <a:schemeClr val="tx1"/>
            </a:solidFill>
            <a:round/>
            <a:headEnd/>
            <a:tailEnd/>
          </a:ln>
        </p:spPr>
      </p:cxnSp>
      <p:cxnSp>
        <p:nvCxnSpPr>
          <p:cNvPr id="94" name="直接连接符 65">
            <a:extLst>
              <a:ext uri="{FF2B5EF4-FFF2-40B4-BE49-F238E27FC236}">
                <a16:creationId xmlns:a16="http://schemas.microsoft.com/office/drawing/2014/main" id="{79CD0055-E229-83AE-C21F-63FCC338CC9B}"/>
              </a:ext>
            </a:extLst>
          </p:cNvPr>
          <p:cNvCxnSpPr>
            <a:cxnSpLocks noChangeShapeType="1"/>
          </p:cNvCxnSpPr>
          <p:nvPr/>
        </p:nvCxnSpPr>
        <p:spPr bwMode="auto">
          <a:xfrm>
            <a:off x="2793131" y="2193457"/>
            <a:ext cx="169462" cy="0"/>
          </a:xfrm>
          <a:prstGeom prst="line">
            <a:avLst/>
          </a:prstGeom>
          <a:noFill/>
          <a:ln w="9525" algn="ctr">
            <a:solidFill>
              <a:schemeClr val="tx1"/>
            </a:solidFill>
            <a:round/>
            <a:headEnd/>
            <a:tailEnd/>
          </a:ln>
        </p:spPr>
      </p:cxnSp>
      <p:cxnSp>
        <p:nvCxnSpPr>
          <p:cNvPr id="95" name="直接连接符 66">
            <a:extLst>
              <a:ext uri="{FF2B5EF4-FFF2-40B4-BE49-F238E27FC236}">
                <a16:creationId xmlns:a16="http://schemas.microsoft.com/office/drawing/2014/main" id="{4C33A424-003C-26D2-1721-83431F52F7A0}"/>
              </a:ext>
            </a:extLst>
          </p:cNvPr>
          <p:cNvCxnSpPr>
            <a:cxnSpLocks noChangeShapeType="1"/>
          </p:cNvCxnSpPr>
          <p:nvPr/>
        </p:nvCxnSpPr>
        <p:spPr bwMode="auto">
          <a:xfrm>
            <a:off x="2793131" y="2251659"/>
            <a:ext cx="169462" cy="0"/>
          </a:xfrm>
          <a:prstGeom prst="line">
            <a:avLst/>
          </a:prstGeom>
          <a:noFill/>
          <a:ln w="9525" algn="ctr">
            <a:solidFill>
              <a:schemeClr val="tx1"/>
            </a:solidFill>
            <a:round/>
            <a:headEnd/>
            <a:tailEnd/>
          </a:ln>
        </p:spPr>
      </p:cxnSp>
      <p:sp>
        <p:nvSpPr>
          <p:cNvPr id="96" name="矩形 99">
            <a:extLst>
              <a:ext uri="{FF2B5EF4-FFF2-40B4-BE49-F238E27FC236}">
                <a16:creationId xmlns:a16="http://schemas.microsoft.com/office/drawing/2014/main" id="{9C23F293-AB58-3808-942A-BE1812B15C8F}"/>
              </a:ext>
            </a:extLst>
          </p:cNvPr>
          <p:cNvSpPr>
            <a:spLocks noChangeArrowheads="1"/>
          </p:cNvSpPr>
          <p:nvPr/>
        </p:nvSpPr>
        <p:spPr bwMode="auto">
          <a:xfrm>
            <a:off x="1540271" y="1476655"/>
            <a:ext cx="1642478" cy="485527"/>
          </a:xfrm>
          <a:prstGeom prst="rect">
            <a:avLst/>
          </a:prstGeom>
          <a:solidFill>
            <a:schemeClr val="accent6">
              <a:lumMod val="60000"/>
              <a:lumOff val="40000"/>
            </a:schemeClr>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97" name="矩形 100">
            <a:extLst>
              <a:ext uri="{FF2B5EF4-FFF2-40B4-BE49-F238E27FC236}">
                <a16:creationId xmlns:a16="http://schemas.microsoft.com/office/drawing/2014/main" id="{1C7464AE-C50B-1768-8567-4BCEB66E9837}"/>
              </a:ext>
            </a:extLst>
          </p:cNvPr>
          <p:cNvSpPr>
            <a:spLocks noChangeArrowheads="1"/>
          </p:cNvSpPr>
          <p:nvPr/>
        </p:nvSpPr>
        <p:spPr bwMode="auto">
          <a:xfrm>
            <a:off x="1527235" y="2319051"/>
            <a:ext cx="1642478" cy="416603"/>
          </a:xfrm>
          <a:prstGeom prst="rect">
            <a:avLst/>
          </a:prstGeom>
          <a:solidFill>
            <a:srgbClr val="FF99FF"/>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98" name="直接箭头连接符 105">
            <a:extLst>
              <a:ext uri="{FF2B5EF4-FFF2-40B4-BE49-F238E27FC236}">
                <a16:creationId xmlns:a16="http://schemas.microsoft.com/office/drawing/2014/main" id="{B50B6C35-0F7B-D256-E192-D53D1A69E5C8}"/>
              </a:ext>
            </a:extLst>
          </p:cNvPr>
          <p:cNvCxnSpPr>
            <a:cxnSpLocks noChangeShapeType="1"/>
          </p:cNvCxnSpPr>
          <p:nvPr/>
        </p:nvCxnSpPr>
        <p:spPr bwMode="auto">
          <a:xfrm>
            <a:off x="1828501" y="1830462"/>
            <a:ext cx="0" cy="208301"/>
          </a:xfrm>
          <a:prstGeom prst="straightConnector1">
            <a:avLst/>
          </a:prstGeom>
          <a:noFill/>
          <a:ln w="12700" algn="ctr">
            <a:solidFill>
              <a:schemeClr val="tx1"/>
            </a:solidFill>
            <a:round/>
            <a:headEnd/>
            <a:tailEnd type="triangle" w="sm" len="lg"/>
          </a:ln>
        </p:spPr>
      </p:cxnSp>
      <p:cxnSp>
        <p:nvCxnSpPr>
          <p:cNvPr id="99" name="直接箭头连接符 106">
            <a:extLst>
              <a:ext uri="{FF2B5EF4-FFF2-40B4-BE49-F238E27FC236}">
                <a16:creationId xmlns:a16="http://schemas.microsoft.com/office/drawing/2014/main" id="{D188B150-880D-AF35-B664-944DC420C8BC}"/>
              </a:ext>
            </a:extLst>
          </p:cNvPr>
          <p:cNvCxnSpPr>
            <a:cxnSpLocks noChangeShapeType="1"/>
          </p:cNvCxnSpPr>
          <p:nvPr/>
        </p:nvCxnSpPr>
        <p:spPr bwMode="auto">
          <a:xfrm>
            <a:off x="2345578" y="1839652"/>
            <a:ext cx="0" cy="209833"/>
          </a:xfrm>
          <a:prstGeom prst="straightConnector1">
            <a:avLst/>
          </a:prstGeom>
          <a:noFill/>
          <a:ln w="12700" algn="ctr">
            <a:solidFill>
              <a:schemeClr val="tx1"/>
            </a:solidFill>
            <a:round/>
            <a:headEnd/>
            <a:tailEnd type="triangle" w="sm" len="lg"/>
          </a:ln>
        </p:spPr>
      </p:cxnSp>
      <p:cxnSp>
        <p:nvCxnSpPr>
          <p:cNvPr id="100" name="直接箭头连接符 107">
            <a:extLst>
              <a:ext uri="{FF2B5EF4-FFF2-40B4-BE49-F238E27FC236}">
                <a16:creationId xmlns:a16="http://schemas.microsoft.com/office/drawing/2014/main" id="{D668909A-72BC-4477-D02E-19F418A37B3A}"/>
              </a:ext>
            </a:extLst>
          </p:cNvPr>
          <p:cNvCxnSpPr>
            <a:cxnSpLocks noChangeShapeType="1"/>
          </p:cNvCxnSpPr>
          <p:nvPr/>
        </p:nvCxnSpPr>
        <p:spPr bwMode="auto">
          <a:xfrm>
            <a:off x="2881483" y="1822803"/>
            <a:ext cx="0" cy="209834"/>
          </a:xfrm>
          <a:prstGeom prst="straightConnector1">
            <a:avLst/>
          </a:prstGeom>
          <a:noFill/>
          <a:ln w="12700" algn="ctr">
            <a:solidFill>
              <a:schemeClr val="tx1"/>
            </a:solidFill>
            <a:round/>
            <a:headEnd/>
            <a:tailEnd type="triangle" w="sm" len="lg"/>
          </a:ln>
        </p:spPr>
      </p:cxnSp>
      <p:sp>
        <p:nvSpPr>
          <p:cNvPr id="101" name="Rectangle 5">
            <a:extLst>
              <a:ext uri="{FF2B5EF4-FFF2-40B4-BE49-F238E27FC236}">
                <a16:creationId xmlns:a16="http://schemas.microsoft.com/office/drawing/2014/main" id="{17E8487F-7E5E-B24F-23D9-4494990B175C}"/>
              </a:ext>
            </a:extLst>
          </p:cNvPr>
          <p:cNvSpPr>
            <a:spLocks noChangeArrowheads="1"/>
          </p:cNvSpPr>
          <p:nvPr/>
        </p:nvSpPr>
        <p:spPr bwMode="auto">
          <a:xfrm>
            <a:off x="816074" y="1562426"/>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应用层</a:t>
            </a:r>
          </a:p>
        </p:txBody>
      </p:sp>
      <p:sp>
        <p:nvSpPr>
          <p:cNvPr id="102" name="Rectangle 5">
            <a:extLst>
              <a:ext uri="{FF2B5EF4-FFF2-40B4-BE49-F238E27FC236}">
                <a16:creationId xmlns:a16="http://schemas.microsoft.com/office/drawing/2014/main" id="{65BD8FDA-6CDE-A0D9-7B46-57AC0A86F935}"/>
              </a:ext>
            </a:extLst>
          </p:cNvPr>
          <p:cNvSpPr>
            <a:spLocks noChangeArrowheads="1"/>
          </p:cNvSpPr>
          <p:nvPr/>
        </p:nvSpPr>
        <p:spPr bwMode="auto">
          <a:xfrm>
            <a:off x="794348" y="2389914"/>
            <a:ext cx="721352" cy="305212"/>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传输层</a:t>
            </a:r>
          </a:p>
        </p:txBody>
      </p:sp>
      <p:sp>
        <p:nvSpPr>
          <p:cNvPr id="103" name="Rectangle 5">
            <a:extLst>
              <a:ext uri="{FF2B5EF4-FFF2-40B4-BE49-F238E27FC236}">
                <a16:creationId xmlns:a16="http://schemas.microsoft.com/office/drawing/2014/main" id="{E9E52737-1EE8-3730-A6F8-1DF8AEE5FFC5}"/>
              </a:ext>
            </a:extLst>
          </p:cNvPr>
          <p:cNvSpPr>
            <a:spLocks noChangeArrowheads="1"/>
          </p:cNvSpPr>
          <p:nvPr/>
        </p:nvSpPr>
        <p:spPr bwMode="auto">
          <a:xfrm>
            <a:off x="884148" y="1989077"/>
            <a:ext cx="541816" cy="305212"/>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solidFill>
                  <a:srgbClr val="0000FF"/>
                </a:solidFill>
                <a:latin typeface="微软雅黑" panose="020B0503020204020204" pitchFamily="34" charset="-122"/>
                <a:ea typeface="微软雅黑" panose="020B0503020204020204" pitchFamily="34" charset="-122"/>
              </a:rPr>
              <a:t>端口</a:t>
            </a:r>
          </a:p>
        </p:txBody>
      </p:sp>
      <p:sp>
        <p:nvSpPr>
          <p:cNvPr id="104" name="Rectangle 74">
            <a:extLst>
              <a:ext uri="{FF2B5EF4-FFF2-40B4-BE49-F238E27FC236}">
                <a16:creationId xmlns:a16="http://schemas.microsoft.com/office/drawing/2014/main" id="{C664416E-035F-B68F-6A5B-BC02FF9231A0}"/>
              </a:ext>
            </a:extLst>
          </p:cNvPr>
          <p:cNvSpPr>
            <a:spLocks noChangeArrowheads="1"/>
          </p:cNvSpPr>
          <p:nvPr/>
        </p:nvSpPr>
        <p:spPr bwMode="auto">
          <a:xfrm>
            <a:off x="1452818" y="2024937"/>
            <a:ext cx="286939"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a</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5" name="Rectangle 74">
            <a:extLst>
              <a:ext uri="{FF2B5EF4-FFF2-40B4-BE49-F238E27FC236}">
                <a16:creationId xmlns:a16="http://schemas.microsoft.com/office/drawing/2014/main" id="{00EC209D-DF2F-FEA8-7162-1ECFDA15B47F}"/>
              </a:ext>
            </a:extLst>
          </p:cNvPr>
          <p:cNvSpPr>
            <a:spLocks noChangeArrowheads="1"/>
          </p:cNvSpPr>
          <p:nvPr/>
        </p:nvSpPr>
        <p:spPr bwMode="auto">
          <a:xfrm>
            <a:off x="1971068" y="2024937"/>
            <a:ext cx="302969"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b</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6" name="Rectangle 74">
            <a:extLst>
              <a:ext uri="{FF2B5EF4-FFF2-40B4-BE49-F238E27FC236}">
                <a16:creationId xmlns:a16="http://schemas.microsoft.com/office/drawing/2014/main" id="{C7713EA0-527A-EEB5-67A4-8EF43319569A}"/>
              </a:ext>
            </a:extLst>
          </p:cNvPr>
          <p:cNvSpPr>
            <a:spLocks noChangeArrowheads="1"/>
          </p:cNvSpPr>
          <p:nvPr/>
        </p:nvSpPr>
        <p:spPr bwMode="auto">
          <a:xfrm>
            <a:off x="2518835" y="2024937"/>
            <a:ext cx="275718"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c</a:t>
            </a:r>
            <a:endParaRPr lang="zh-CN" altLang="en-US" sz="1400" b="1">
              <a:solidFill>
                <a:srgbClr val="0000FF"/>
              </a:solidFill>
              <a:latin typeface="微软雅黑" panose="020B0503020204020204" pitchFamily="34" charset="-122"/>
              <a:ea typeface="微软雅黑" panose="020B0503020204020204" pitchFamily="34" charset="-122"/>
            </a:endParaRPr>
          </a:p>
        </p:txBody>
      </p:sp>
      <p:cxnSp>
        <p:nvCxnSpPr>
          <p:cNvPr id="107" name="直接箭头连接符 115">
            <a:extLst>
              <a:ext uri="{FF2B5EF4-FFF2-40B4-BE49-F238E27FC236}">
                <a16:creationId xmlns:a16="http://schemas.microsoft.com/office/drawing/2014/main" id="{6C819C17-2D64-4A85-7F65-DA7FE7D915C8}"/>
              </a:ext>
            </a:extLst>
          </p:cNvPr>
          <p:cNvCxnSpPr>
            <a:cxnSpLocks noChangeShapeType="1"/>
          </p:cNvCxnSpPr>
          <p:nvPr/>
        </p:nvCxnSpPr>
        <p:spPr bwMode="auto">
          <a:xfrm flipH="1">
            <a:off x="2332542" y="2334367"/>
            <a:ext cx="10139" cy="422729"/>
          </a:xfrm>
          <a:prstGeom prst="straightConnector1">
            <a:avLst/>
          </a:prstGeom>
          <a:noFill/>
          <a:ln w="12700" algn="ctr">
            <a:solidFill>
              <a:schemeClr val="tx1"/>
            </a:solidFill>
            <a:round/>
            <a:headEnd/>
            <a:tailEnd type="triangle" w="sm" len="lg"/>
          </a:ln>
        </p:spPr>
      </p:cxnSp>
      <p:cxnSp>
        <p:nvCxnSpPr>
          <p:cNvPr id="108" name="直接箭头连接符 117">
            <a:extLst>
              <a:ext uri="{FF2B5EF4-FFF2-40B4-BE49-F238E27FC236}">
                <a16:creationId xmlns:a16="http://schemas.microsoft.com/office/drawing/2014/main" id="{C6DE3407-603C-D401-5435-CAF3CF0D1967}"/>
              </a:ext>
            </a:extLst>
          </p:cNvPr>
          <p:cNvCxnSpPr>
            <a:cxnSpLocks noChangeShapeType="1"/>
          </p:cNvCxnSpPr>
          <p:nvPr/>
        </p:nvCxnSpPr>
        <p:spPr bwMode="auto">
          <a:xfrm>
            <a:off x="1819810" y="2315988"/>
            <a:ext cx="517077" cy="425793"/>
          </a:xfrm>
          <a:prstGeom prst="straightConnector1">
            <a:avLst/>
          </a:prstGeom>
          <a:noFill/>
          <a:ln w="12700" algn="ctr">
            <a:solidFill>
              <a:schemeClr val="tx1"/>
            </a:solidFill>
            <a:round/>
            <a:headEnd/>
            <a:tailEnd type="triangle" w="sm" len="lg"/>
          </a:ln>
        </p:spPr>
      </p:cxnSp>
      <p:cxnSp>
        <p:nvCxnSpPr>
          <p:cNvPr id="109" name="直接箭头连接符 118">
            <a:extLst>
              <a:ext uri="{FF2B5EF4-FFF2-40B4-BE49-F238E27FC236}">
                <a16:creationId xmlns:a16="http://schemas.microsoft.com/office/drawing/2014/main" id="{1759B888-61FC-F564-C69A-04524ED88769}"/>
              </a:ext>
            </a:extLst>
          </p:cNvPr>
          <p:cNvCxnSpPr>
            <a:cxnSpLocks noChangeShapeType="1"/>
          </p:cNvCxnSpPr>
          <p:nvPr/>
        </p:nvCxnSpPr>
        <p:spPr bwMode="auto">
          <a:xfrm flipH="1">
            <a:off x="2332542" y="2319051"/>
            <a:ext cx="541699" cy="418135"/>
          </a:xfrm>
          <a:prstGeom prst="straightConnector1">
            <a:avLst/>
          </a:prstGeom>
          <a:noFill/>
          <a:ln w="12700" algn="ctr">
            <a:solidFill>
              <a:schemeClr val="tx1"/>
            </a:solidFill>
            <a:round/>
            <a:headEnd/>
            <a:tailEnd type="triangle" w="sm" len="lg"/>
          </a:ln>
        </p:spPr>
      </p:cxnSp>
      <p:sp>
        <p:nvSpPr>
          <p:cNvPr id="110" name="椭圆 121">
            <a:extLst>
              <a:ext uri="{FF2B5EF4-FFF2-40B4-BE49-F238E27FC236}">
                <a16:creationId xmlns:a16="http://schemas.microsoft.com/office/drawing/2014/main" id="{AD172BA1-676C-68CA-0B58-C46CDD90E87F}"/>
              </a:ext>
            </a:extLst>
          </p:cNvPr>
          <p:cNvSpPr>
            <a:spLocks noChangeArrowheads="1"/>
          </p:cNvSpPr>
          <p:nvPr/>
        </p:nvSpPr>
        <p:spPr bwMode="auto">
          <a:xfrm>
            <a:off x="2299229" y="2717274"/>
            <a:ext cx="66626" cy="70455"/>
          </a:xfrm>
          <a:prstGeom prst="ellipse">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11" name="Rectangle 26">
            <a:extLst>
              <a:ext uri="{FF2B5EF4-FFF2-40B4-BE49-F238E27FC236}">
                <a16:creationId xmlns:a16="http://schemas.microsoft.com/office/drawing/2014/main" id="{9F6A332B-05FB-B3CA-3B31-393822F5D9BA}"/>
              </a:ext>
            </a:extLst>
          </p:cNvPr>
          <p:cNvSpPr>
            <a:spLocks noChangeArrowheads="1"/>
          </p:cNvSpPr>
          <p:nvPr/>
        </p:nvSpPr>
        <p:spPr bwMode="auto">
          <a:xfrm>
            <a:off x="2038392" y="3433721"/>
            <a:ext cx="5261057" cy="274434"/>
          </a:xfrm>
          <a:prstGeom prst="rect">
            <a:avLst/>
          </a:prstGeom>
          <a:noFill/>
          <a:ln w="12700">
            <a:noFill/>
            <a:miter lim="800000"/>
            <a:headEnd/>
            <a:tailEnd/>
          </a:ln>
        </p:spPr>
        <p:txBody>
          <a:bodyPr wrap="none" lIns="90488" tIns="44450" rIns="90488" bIns="44450">
            <a:spAutoFit/>
          </a:bodyPr>
          <a:lstStyle/>
          <a:p>
            <a:pPr algn="ctr" defTabSz="762000" eaLnBrk="0" hangingPunct="0"/>
            <a:r>
              <a:rPr lang="zh-CN" altLang="en-US" sz="1200" b="1" dirty="0">
                <a:latin typeface="微软雅黑" panose="020B0503020204020204" pitchFamily="34" charset="-122"/>
                <a:ea typeface="微软雅黑" panose="020B0503020204020204" pitchFamily="34" charset="-122"/>
              </a:rPr>
              <a:t>（请注意：传输层之间的这条虚线不是一条连接，表示的是一条逻辑通道）</a:t>
            </a:r>
          </a:p>
        </p:txBody>
      </p:sp>
      <p:sp>
        <p:nvSpPr>
          <p:cNvPr id="112" name="矩形 111">
            <a:extLst>
              <a:ext uri="{FF2B5EF4-FFF2-40B4-BE49-F238E27FC236}">
                <a16:creationId xmlns:a16="http://schemas.microsoft.com/office/drawing/2014/main" id="{22192874-533A-3661-FBFF-6E0C70E8F777}"/>
              </a:ext>
            </a:extLst>
          </p:cNvPr>
          <p:cNvSpPr/>
          <p:nvPr/>
        </p:nvSpPr>
        <p:spPr bwMode="auto">
          <a:xfrm>
            <a:off x="6983332" y="1962182"/>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5" name="矩形 114">
            <a:extLst>
              <a:ext uri="{FF2B5EF4-FFF2-40B4-BE49-F238E27FC236}">
                <a16:creationId xmlns:a16="http://schemas.microsoft.com/office/drawing/2014/main" id="{F5965361-FF6E-8060-4D07-388496AB3110}"/>
              </a:ext>
            </a:extLst>
          </p:cNvPr>
          <p:cNvSpPr/>
          <p:nvPr/>
        </p:nvSpPr>
        <p:spPr bwMode="auto">
          <a:xfrm>
            <a:off x="7048510" y="2086243"/>
            <a:ext cx="172359" cy="56671"/>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6" name="矩形 115">
            <a:extLst>
              <a:ext uri="{FF2B5EF4-FFF2-40B4-BE49-F238E27FC236}">
                <a16:creationId xmlns:a16="http://schemas.microsoft.com/office/drawing/2014/main" id="{BD488B87-BE93-C4A6-D826-5500B9ED0B94}"/>
              </a:ext>
            </a:extLst>
          </p:cNvPr>
          <p:cNvSpPr/>
          <p:nvPr/>
        </p:nvSpPr>
        <p:spPr bwMode="auto">
          <a:xfrm>
            <a:off x="6415562" y="2028041"/>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7" name="矩形 116">
            <a:extLst>
              <a:ext uri="{FF2B5EF4-FFF2-40B4-BE49-F238E27FC236}">
                <a16:creationId xmlns:a16="http://schemas.microsoft.com/office/drawing/2014/main" id="{01ACD0BB-7E3F-E30F-CE50-E4288D30C289}"/>
              </a:ext>
            </a:extLst>
          </p:cNvPr>
          <p:cNvSpPr/>
          <p:nvPr/>
        </p:nvSpPr>
        <p:spPr bwMode="auto">
          <a:xfrm>
            <a:off x="7052855" y="2029574"/>
            <a:ext cx="170910"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cxnSp>
        <p:nvCxnSpPr>
          <p:cNvPr id="118" name="直接连接符 50">
            <a:extLst>
              <a:ext uri="{FF2B5EF4-FFF2-40B4-BE49-F238E27FC236}">
                <a16:creationId xmlns:a16="http://schemas.microsoft.com/office/drawing/2014/main" id="{B13562F3-ECB6-C6D5-F109-2ECDEB22679E}"/>
              </a:ext>
            </a:extLst>
          </p:cNvPr>
          <p:cNvCxnSpPr>
            <a:cxnSpLocks noChangeShapeType="1"/>
          </p:cNvCxnSpPr>
          <p:nvPr/>
        </p:nvCxnSpPr>
        <p:spPr bwMode="auto">
          <a:xfrm>
            <a:off x="6412665" y="2084712"/>
            <a:ext cx="170910" cy="0"/>
          </a:xfrm>
          <a:prstGeom prst="line">
            <a:avLst/>
          </a:prstGeom>
          <a:noFill/>
          <a:ln w="9525" algn="ctr">
            <a:solidFill>
              <a:schemeClr val="tx1"/>
            </a:solidFill>
            <a:round/>
            <a:headEnd/>
            <a:tailEnd/>
          </a:ln>
        </p:spPr>
      </p:cxnSp>
      <p:cxnSp>
        <p:nvCxnSpPr>
          <p:cNvPr id="119" name="直接连接符 51">
            <a:extLst>
              <a:ext uri="{FF2B5EF4-FFF2-40B4-BE49-F238E27FC236}">
                <a16:creationId xmlns:a16="http://schemas.microsoft.com/office/drawing/2014/main" id="{92719D4F-4E93-A7D9-30A5-2DE051F23AC4}"/>
              </a:ext>
            </a:extLst>
          </p:cNvPr>
          <p:cNvCxnSpPr>
            <a:cxnSpLocks noChangeShapeType="1"/>
          </p:cNvCxnSpPr>
          <p:nvPr/>
        </p:nvCxnSpPr>
        <p:spPr bwMode="auto">
          <a:xfrm>
            <a:off x="6412665" y="2084712"/>
            <a:ext cx="170910" cy="0"/>
          </a:xfrm>
          <a:prstGeom prst="line">
            <a:avLst/>
          </a:prstGeom>
          <a:noFill/>
          <a:ln w="9525" algn="ctr">
            <a:solidFill>
              <a:schemeClr val="tx1"/>
            </a:solidFill>
            <a:round/>
            <a:headEnd/>
            <a:tailEnd/>
          </a:ln>
        </p:spPr>
      </p:cxnSp>
      <p:cxnSp>
        <p:nvCxnSpPr>
          <p:cNvPr id="120" name="直接连接符 52">
            <a:extLst>
              <a:ext uri="{FF2B5EF4-FFF2-40B4-BE49-F238E27FC236}">
                <a16:creationId xmlns:a16="http://schemas.microsoft.com/office/drawing/2014/main" id="{F51F0AA6-5507-5527-7FCB-60AD31AF9AE9}"/>
              </a:ext>
            </a:extLst>
          </p:cNvPr>
          <p:cNvCxnSpPr>
            <a:cxnSpLocks noChangeShapeType="1"/>
          </p:cNvCxnSpPr>
          <p:nvPr/>
        </p:nvCxnSpPr>
        <p:spPr bwMode="auto">
          <a:xfrm>
            <a:off x="6412665" y="2142914"/>
            <a:ext cx="170910" cy="0"/>
          </a:xfrm>
          <a:prstGeom prst="line">
            <a:avLst/>
          </a:prstGeom>
          <a:noFill/>
          <a:ln w="9525" algn="ctr">
            <a:solidFill>
              <a:schemeClr val="tx1"/>
            </a:solidFill>
            <a:round/>
            <a:headEnd/>
            <a:tailEnd/>
          </a:ln>
        </p:spPr>
      </p:cxnSp>
      <p:cxnSp>
        <p:nvCxnSpPr>
          <p:cNvPr id="121" name="直接连接符 53">
            <a:extLst>
              <a:ext uri="{FF2B5EF4-FFF2-40B4-BE49-F238E27FC236}">
                <a16:creationId xmlns:a16="http://schemas.microsoft.com/office/drawing/2014/main" id="{6C8A977E-845D-9D92-AE04-FAB695AE4AFB}"/>
              </a:ext>
            </a:extLst>
          </p:cNvPr>
          <p:cNvCxnSpPr>
            <a:cxnSpLocks noChangeShapeType="1"/>
          </p:cNvCxnSpPr>
          <p:nvPr/>
        </p:nvCxnSpPr>
        <p:spPr bwMode="auto">
          <a:xfrm>
            <a:off x="6412665" y="2193457"/>
            <a:ext cx="170910" cy="0"/>
          </a:xfrm>
          <a:prstGeom prst="line">
            <a:avLst/>
          </a:prstGeom>
          <a:noFill/>
          <a:ln w="9525" algn="ctr">
            <a:solidFill>
              <a:schemeClr val="tx1"/>
            </a:solidFill>
            <a:round/>
            <a:headEnd/>
            <a:tailEnd/>
          </a:ln>
        </p:spPr>
      </p:cxnSp>
      <p:cxnSp>
        <p:nvCxnSpPr>
          <p:cNvPr id="122" name="直接连接符 54">
            <a:extLst>
              <a:ext uri="{FF2B5EF4-FFF2-40B4-BE49-F238E27FC236}">
                <a16:creationId xmlns:a16="http://schemas.microsoft.com/office/drawing/2014/main" id="{27ECFD59-1D12-3E02-CB3B-C1066572539F}"/>
              </a:ext>
            </a:extLst>
          </p:cNvPr>
          <p:cNvCxnSpPr>
            <a:cxnSpLocks noChangeShapeType="1"/>
          </p:cNvCxnSpPr>
          <p:nvPr/>
        </p:nvCxnSpPr>
        <p:spPr bwMode="auto">
          <a:xfrm>
            <a:off x="6412665" y="2251659"/>
            <a:ext cx="170910" cy="0"/>
          </a:xfrm>
          <a:prstGeom prst="line">
            <a:avLst/>
          </a:prstGeom>
          <a:noFill/>
          <a:ln w="9525" algn="ctr">
            <a:solidFill>
              <a:schemeClr val="tx1"/>
            </a:solidFill>
            <a:round/>
            <a:headEnd/>
            <a:tailEnd/>
          </a:ln>
        </p:spPr>
      </p:cxnSp>
      <p:cxnSp>
        <p:nvCxnSpPr>
          <p:cNvPr id="123" name="直接连接符 62">
            <a:extLst>
              <a:ext uri="{FF2B5EF4-FFF2-40B4-BE49-F238E27FC236}">
                <a16:creationId xmlns:a16="http://schemas.microsoft.com/office/drawing/2014/main" id="{7D6435C7-FC53-2D7C-F3D2-03869D595C9E}"/>
              </a:ext>
            </a:extLst>
          </p:cNvPr>
          <p:cNvCxnSpPr>
            <a:cxnSpLocks noChangeShapeType="1"/>
          </p:cNvCxnSpPr>
          <p:nvPr/>
        </p:nvCxnSpPr>
        <p:spPr bwMode="auto">
          <a:xfrm>
            <a:off x="7052855" y="2084712"/>
            <a:ext cx="169462" cy="0"/>
          </a:xfrm>
          <a:prstGeom prst="line">
            <a:avLst/>
          </a:prstGeom>
          <a:noFill/>
          <a:ln w="9525" algn="ctr">
            <a:solidFill>
              <a:schemeClr val="tx1"/>
            </a:solidFill>
            <a:round/>
            <a:headEnd/>
            <a:tailEnd/>
          </a:ln>
        </p:spPr>
      </p:cxnSp>
      <p:cxnSp>
        <p:nvCxnSpPr>
          <p:cNvPr id="124" name="直接连接符 63">
            <a:extLst>
              <a:ext uri="{FF2B5EF4-FFF2-40B4-BE49-F238E27FC236}">
                <a16:creationId xmlns:a16="http://schemas.microsoft.com/office/drawing/2014/main" id="{36B524AF-7899-246D-F56C-D9439B378873}"/>
              </a:ext>
            </a:extLst>
          </p:cNvPr>
          <p:cNvCxnSpPr>
            <a:cxnSpLocks noChangeShapeType="1"/>
          </p:cNvCxnSpPr>
          <p:nvPr/>
        </p:nvCxnSpPr>
        <p:spPr bwMode="auto">
          <a:xfrm>
            <a:off x="7052855" y="2084712"/>
            <a:ext cx="169462" cy="0"/>
          </a:xfrm>
          <a:prstGeom prst="line">
            <a:avLst/>
          </a:prstGeom>
          <a:noFill/>
          <a:ln w="9525" algn="ctr">
            <a:solidFill>
              <a:schemeClr val="tx1"/>
            </a:solidFill>
            <a:round/>
            <a:headEnd/>
            <a:tailEnd/>
          </a:ln>
        </p:spPr>
      </p:cxnSp>
      <p:cxnSp>
        <p:nvCxnSpPr>
          <p:cNvPr id="125" name="直接连接符 64">
            <a:extLst>
              <a:ext uri="{FF2B5EF4-FFF2-40B4-BE49-F238E27FC236}">
                <a16:creationId xmlns:a16="http://schemas.microsoft.com/office/drawing/2014/main" id="{CA4BED88-9BF9-EB09-8699-AAF3E2437D0F}"/>
              </a:ext>
            </a:extLst>
          </p:cNvPr>
          <p:cNvCxnSpPr>
            <a:cxnSpLocks noChangeShapeType="1"/>
          </p:cNvCxnSpPr>
          <p:nvPr/>
        </p:nvCxnSpPr>
        <p:spPr bwMode="auto">
          <a:xfrm>
            <a:off x="7052855" y="2142914"/>
            <a:ext cx="169462" cy="0"/>
          </a:xfrm>
          <a:prstGeom prst="line">
            <a:avLst/>
          </a:prstGeom>
          <a:noFill/>
          <a:ln w="9525" algn="ctr">
            <a:solidFill>
              <a:schemeClr val="tx1"/>
            </a:solidFill>
            <a:round/>
            <a:headEnd/>
            <a:tailEnd/>
          </a:ln>
        </p:spPr>
      </p:cxnSp>
      <p:cxnSp>
        <p:nvCxnSpPr>
          <p:cNvPr id="126" name="直接连接符 65">
            <a:extLst>
              <a:ext uri="{FF2B5EF4-FFF2-40B4-BE49-F238E27FC236}">
                <a16:creationId xmlns:a16="http://schemas.microsoft.com/office/drawing/2014/main" id="{0F6F9D06-8919-0DA8-C44D-49ABCF796412}"/>
              </a:ext>
            </a:extLst>
          </p:cNvPr>
          <p:cNvCxnSpPr>
            <a:cxnSpLocks noChangeShapeType="1"/>
          </p:cNvCxnSpPr>
          <p:nvPr/>
        </p:nvCxnSpPr>
        <p:spPr bwMode="auto">
          <a:xfrm>
            <a:off x="7052855" y="2193457"/>
            <a:ext cx="169462" cy="0"/>
          </a:xfrm>
          <a:prstGeom prst="line">
            <a:avLst/>
          </a:prstGeom>
          <a:noFill/>
          <a:ln w="9525" algn="ctr">
            <a:solidFill>
              <a:schemeClr val="tx1"/>
            </a:solidFill>
            <a:round/>
            <a:headEnd/>
            <a:tailEnd/>
          </a:ln>
        </p:spPr>
      </p:cxnSp>
      <p:cxnSp>
        <p:nvCxnSpPr>
          <p:cNvPr id="127" name="直接连接符 66">
            <a:extLst>
              <a:ext uri="{FF2B5EF4-FFF2-40B4-BE49-F238E27FC236}">
                <a16:creationId xmlns:a16="http://schemas.microsoft.com/office/drawing/2014/main" id="{54937C54-CDBB-A3DB-45E5-0B9F8B9FC642}"/>
              </a:ext>
            </a:extLst>
          </p:cNvPr>
          <p:cNvCxnSpPr>
            <a:cxnSpLocks noChangeShapeType="1"/>
          </p:cNvCxnSpPr>
          <p:nvPr/>
        </p:nvCxnSpPr>
        <p:spPr bwMode="auto">
          <a:xfrm>
            <a:off x="7052855" y="2251659"/>
            <a:ext cx="169462" cy="0"/>
          </a:xfrm>
          <a:prstGeom prst="line">
            <a:avLst/>
          </a:prstGeom>
          <a:noFill/>
          <a:ln w="9525" algn="ctr">
            <a:solidFill>
              <a:schemeClr val="tx1"/>
            </a:solidFill>
            <a:round/>
            <a:headEnd/>
            <a:tailEnd/>
          </a:ln>
        </p:spPr>
      </p:cxnSp>
      <p:sp>
        <p:nvSpPr>
          <p:cNvPr id="128" name="矩形 99">
            <a:extLst>
              <a:ext uri="{FF2B5EF4-FFF2-40B4-BE49-F238E27FC236}">
                <a16:creationId xmlns:a16="http://schemas.microsoft.com/office/drawing/2014/main" id="{81A05957-62EA-6496-00DA-7B479FC8D114}"/>
              </a:ext>
            </a:extLst>
          </p:cNvPr>
          <p:cNvSpPr>
            <a:spLocks noChangeArrowheads="1"/>
          </p:cNvSpPr>
          <p:nvPr/>
        </p:nvSpPr>
        <p:spPr bwMode="auto">
          <a:xfrm>
            <a:off x="6008563" y="1476655"/>
            <a:ext cx="1642478" cy="485527"/>
          </a:xfrm>
          <a:prstGeom prst="rect">
            <a:avLst/>
          </a:prstGeom>
          <a:solidFill>
            <a:schemeClr val="accent6">
              <a:lumMod val="60000"/>
              <a:lumOff val="40000"/>
            </a:schemeClr>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29" name="矩形 100">
            <a:extLst>
              <a:ext uri="{FF2B5EF4-FFF2-40B4-BE49-F238E27FC236}">
                <a16:creationId xmlns:a16="http://schemas.microsoft.com/office/drawing/2014/main" id="{935D4A15-D345-3176-ACEA-9EB3060BA6BD}"/>
              </a:ext>
            </a:extLst>
          </p:cNvPr>
          <p:cNvSpPr>
            <a:spLocks noChangeArrowheads="1"/>
          </p:cNvSpPr>
          <p:nvPr/>
        </p:nvSpPr>
        <p:spPr bwMode="auto">
          <a:xfrm>
            <a:off x="5995528" y="2319051"/>
            <a:ext cx="1642478" cy="416603"/>
          </a:xfrm>
          <a:prstGeom prst="rect">
            <a:avLst/>
          </a:prstGeom>
          <a:solidFill>
            <a:srgbClr val="FF99FF"/>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30" name="直接箭头连接符 105">
            <a:extLst>
              <a:ext uri="{FF2B5EF4-FFF2-40B4-BE49-F238E27FC236}">
                <a16:creationId xmlns:a16="http://schemas.microsoft.com/office/drawing/2014/main" id="{CE6FC270-F289-F9B1-5496-395D498FD28B}"/>
              </a:ext>
            </a:extLst>
          </p:cNvPr>
          <p:cNvCxnSpPr>
            <a:cxnSpLocks noChangeShapeType="1"/>
          </p:cNvCxnSpPr>
          <p:nvPr/>
        </p:nvCxnSpPr>
        <p:spPr bwMode="auto">
          <a:xfrm flipV="1">
            <a:off x="6503914" y="1830462"/>
            <a:ext cx="0" cy="208301"/>
          </a:xfrm>
          <a:prstGeom prst="straightConnector1">
            <a:avLst/>
          </a:prstGeom>
          <a:noFill/>
          <a:ln w="12700" algn="ctr">
            <a:solidFill>
              <a:schemeClr val="tx1"/>
            </a:solidFill>
            <a:round/>
            <a:headEnd/>
            <a:tailEnd type="triangle" w="sm" len="lg"/>
          </a:ln>
        </p:spPr>
      </p:cxnSp>
      <p:cxnSp>
        <p:nvCxnSpPr>
          <p:cNvPr id="131" name="直接箭头连接符 107">
            <a:extLst>
              <a:ext uri="{FF2B5EF4-FFF2-40B4-BE49-F238E27FC236}">
                <a16:creationId xmlns:a16="http://schemas.microsoft.com/office/drawing/2014/main" id="{14F20877-F479-FA35-2780-6C308248656B}"/>
              </a:ext>
            </a:extLst>
          </p:cNvPr>
          <p:cNvCxnSpPr>
            <a:cxnSpLocks noChangeShapeType="1"/>
          </p:cNvCxnSpPr>
          <p:nvPr/>
        </p:nvCxnSpPr>
        <p:spPr bwMode="auto">
          <a:xfrm flipV="1">
            <a:off x="7141207" y="1822803"/>
            <a:ext cx="0" cy="209834"/>
          </a:xfrm>
          <a:prstGeom prst="straightConnector1">
            <a:avLst/>
          </a:prstGeom>
          <a:noFill/>
          <a:ln w="12700" algn="ctr">
            <a:solidFill>
              <a:schemeClr val="tx1"/>
            </a:solidFill>
            <a:round/>
            <a:headEnd/>
            <a:tailEnd type="triangle" w="sm" len="lg"/>
          </a:ln>
        </p:spPr>
      </p:cxnSp>
      <p:sp>
        <p:nvSpPr>
          <p:cNvPr id="132" name="Rectangle 74">
            <a:extLst>
              <a:ext uri="{FF2B5EF4-FFF2-40B4-BE49-F238E27FC236}">
                <a16:creationId xmlns:a16="http://schemas.microsoft.com/office/drawing/2014/main" id="{BCE08C33-E257-6C1F-BA78-DD91227EA488}"/>
              </a:ext>
            </a:extLst>
          </p:cNvPr>
          <p:cNvSpPr>
            <a:spLocks noChangeArrowheads="1"/>
          </p:cNvSpPr>
          <p:nvPr/>
        </p:nvSpPr>
        <p:spPr bwMode="auto">
          <a:xfrm>
            <a:off x="6122438" y="2024937"/>
            <a:ext cx="262159" cy="305212"/>
          </a:xfrm>
          <a:prstGeom prst="rect">
            <a:avLst/>
          </a:prstGeom>
          <a:noFill/>
          <a:ln w="12700">
            <a:noFill/>
            <a:miter lim="800000"/>
            <a:headEnd/>
            <a:tailEnd/>
          </a:ln>
        </p:spPr>
        <p:txBody>
          <a:bodyPr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x                              </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33" name="Rectangle 74">
            <a:extLst>
              <a:ext uri="{FF2B5EF4-FFF2-40B4-BE49-F238E27FC236}">
                <a16:creationId xmlns:a16="http://schemas.microsoft.com/office/drawing/2014/main" id="{5B7D4512-203E-ED2D-E340-3B28326B2906}"/>
              </a:ext>
            </a:extLst>
          </p:cNvPr>
          <p:cNvSpPr>
            <a:spLocks noChangeArrowheads="1"/>
          </p:cNvSpPr>
          <p:nvPr/>
        </p:nvSpPr>
        <p:spPr bwMode="auto">
          <a:xfrm>
            <a:off x="6753937" y="2024937"/>
            <a:ext cx="285336"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y</a:t>
            </a:r>
            <a:endParaRPr lang="zh-CN" altLang="en-US" sz="1400" b="1">
              <a:solidFill>
                <a:srgbClr val="0000FF"/>
              </a:solidFill>
              <a:latin typeface="微软雅黑" panose="020B0503020204020204" pitchFamily="34" charset="-122"/>
              <a:ea typeface="微软雅黑" panose="020B0503020204020204" pitchFamily="34" charset="-122"/>
            </a:endParaRPr>
          </a:p>
        </p:txBody>
      </p:sp>
      <p:cxnSp>
        <p:nvCxnSpPr>
          <p:cNvPr id="134" name="直接箭头连接符 117">
            <a:extLst>
              <a:ext uri="{FF2B5EF4-FFF2-40B4-BE49-F238E27FC236}">
                <a16:creationId xmlns:a16="http://schemas.microsoft.com/office/drawing/2014/main" id="{2AD09116-0E22-1E0D-95F6-571B1E7B2B04}"/>
              </a:ext>
            </a:extLst>
          </p:cNvPr>
          <p:cNvCxnSpPr>
            <a:cxnSpLocks noChangeShapeType="1"/>
          </p:cNvCxnSpPr>
          <p:nvPr/>
        </p:nvCxnSpPr>
        <p:spPr bwMode="auto">
          <a:xfrm flipH="1" flipV="1">
            <a:off x="6495223" y="2308330"/>
            <a:ext cx="309956" cy="438046"/>
          </a:xfrm>
          <a:prstGeom prst="straightConnector1">
            <a:avLst/>
          </a:prstGeom>
          <a:noFill/>
          <a:ln w="12700" algn="ctr">
            <a:solidFill>
              <a:schemeClr val="tx1"/>
            </a:solidFill>
            <a:round/>
            <a:headEnd/>
            <a:tailEnd type="triangle" w="sm" len="lg"/>
          </a:ln>
        </p:spPr>
      </p:cxnSp>
      <p:cxnSp>
        <p:nvCxnSpPr>
          <p:cNvPr id="135" name="直接箭头连接符 118">
            <a:extLst>
              <a:ext uri="{FF2B5EF4-FFF2-40B4-BE49-F238E27FC236}">
                <a16:creationId xmlns:a16="http://schemas.microsoft.com/office/drawing/2014/main" id="{AD853978-4B86-6BBF-FA62-9E5098FF5165}"/>
              </a:ext>
            </a:extLst>
          </p:cNvPr>
          <p:cNvCxnSpPr>
            <a:cxnSpLocks noChangeShapeType="1"/>
          </p:cNvCxnSpPr>
          <p:nvPr/>
        </p:nvCxnSpPr>
        <p:spPr bwMode="auto">
          <a:xfrm flipV="1">
            <a:off x="6800835" y="2328241"/>
            <a:ext cx="311404" cy="424262"/>
          </a:xfrm>
          <a:prstGeom prst="straightConnector1">
            <a:avLst/>
          </a:prstGeom>
          <a:noFill/>
          <a:ln w="12700" algn="ctr">
            <a:solidFill>
              <a:schemeClr val="tx1"/>
            </a:solidFill>
            <a:round/>
            <a:headEnd/>
            <a:tailEnd type="triangle" w="sm" len="lg"/>
          </a:ln>
        </p:spPr>
      </p:cxnSp>
      <p:sp>
        <p:nvSpPr>
          <p:cNvPr id="136" name="矩形 135">
            <a:extLst>
              <a:ext uri="{FF2B5EF4-FFF2-40B4-BE49-F238E27FC236}">
                <a16:creationId xmlns:a16="http://schemas.microsoft.com/office/drawing/2014/main" id="{83EAC0C0-57C8-EFEB-868C-41989DE629D2}"/>
              </a:ext>
            </a:extLst>
          </p:cNvPr>
          <p:cNvSpPr/>
          <p:nvPr/>
        </p:nvSpPr>
        <p:spPr bwMode="auto">
          <a:xfrm>
            <a:off x="7054303" y="2149041"/>
            <a:ext cx="172359"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37" name="椭圆 121">
            <a:extLst>
              <a:ext uri="{FF2B5EF4-FFF2-40B4-BE49-F238E27FC236}">
                <a16:creationId xmlns:a16="http://schemas.microsoft.com/office/drawing/2014/main" id="{30EA6A00-33CD-5A05-B855-B0753B843960}"/>
              </a:ext>
            </a:extLst>
          </p:cNvPr>
          <p:cNvSpPr>
            <a:spLocks noChangeArrowheads="1"/>
          </p:cNvSpPr>
          <p:nvPr/>
        </p:nvSpPr>
        <p:spPr bwMode="auto">
          <a:xfrm>
            <a:off x="6767521" y="2717274"/>
            <a:ext cx="66626" cy="70455"/>
          </a:xfrm>
          <a:prstGeom prst="ellipse">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38" name="矩形 137">
            <a:extLst>
              <a:ext uri="{FF2B5EF4-FFF2-40B4-BE49-F238E27FC236}">
                <a16:creationId xmlns:a16="http://schemas.microsoft.com/office/drawing/2014/main" id="{D09CA680-ECB2-F9EB-062D-3C3215E3A17E}"/>
              </a:ext>
            </a:extLst>
          </p:cNvPr>
          <p:cNvSpPr/>
          <p:nvPr/>
        </p:nvSpPr>
        <p:spPr bwMode="auto">
          <a:xfrm>
            <a:off x="6411217" y="2198053"/>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39" name="矩形 138">
            <a:extLst>
              <a:ext uri="{FF2B5EF4-FFF2-40B4-BE49-F238E27FC236}">
                <a16:creationId xmlns:a16="http://schemas.microsoft.com/office/drawing/2014/main" id="{BFF2EDC2-4E1E-AC42-A6E6-80241B3284A7}"/>
              </a:ext>
            </a:extLst>
          </p:cNvPr>
          <p:cNvSpPr/>
          <p:nvPr/>
        </p:nvSpPr>
        <p:spPr bwMode="auto">
          <a:xfrm>
            <a:off x="6419907" y="2087775"/>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40" name="矩形 48">
            <a:extLst>
              <a:ext uri="{FF2B5EF4-FFF2-40B4-BE49-F238E27FC236}">
                <a16:creationId xmlns:a16="http://schemas.microsoft.com/office/drawing/2014/main" id="{EF7D8B5B-F39E-E438-9CD3-87F5A2E372AF}"/>
              </a:ext>
            </a:extLst>
          </p:cNvPr>
          <p:cNvSpPr>
            <a:spLocks noChangeArrowheads="1"/>
          </p:cNvSpPr>
          <p:nvPr/>
        </p:nvSpPr>
        <p:spPr bwMode="auto">
          <a:xfrm>
            <a:off x="6412665" y="2029574"/>
            <a:ext cx="170910"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41" name="直接连接符 66">
            <a:extLst>
              <a:ext uri="{FF2B5EF4-FFF2-40B4-BE49-F238E27FC236}">
                <a16:creationId xmlns:a16="http://schemas.microsoft.com/office/drawing/2014/main" id="{E84FE30F-BEC0-934A-8AB7-59980CFB2734}"/>
              </a:ext>
            </a:extLst>
          </p:cNvPr>
          <p:cNvCxnSpPr>
            <a:cxnSpLocks noChangeShapeType="1"/>
          </p:cNvCxnSpPr>
          <p:nvPr/>
        </p:nvCxnSpPr>
        <p:spPr bwMode="auto">
          <a:xfrm>
            <a:off x="7058649" y="2204179"/>
            <a:ext cx="169462" cy="0"/>
          </a:xfrm>
          <a:prstGeom prst="line">
            <a:avLst/>
          </a:prstGeom>
          <a:noFill/>
          <a:ln w="9525" algn="ctr">
            <a:solidFill>
              <a:schemeClr val="tx1"/>
            </a:solidFill>
            <a:round/>
            <a:headEnd/>
            <a:tailEnd/>
          </a:ln>
        </p:spPr>
      </p:cxnSp>
      <p:sp>
        <p:nvSpPr>
          <p:cNvPr id="144" name="Rectangle 5">
            <a:extLst>
              <a:ext uri="{FF2B5EF4-FFF2-40B4-BE49-F238E27FC236}">
                <a16:creationId xmlns:a16="http://schemas.microsoft.com/office/drawing/2014/main" id="{23E69DDF-C237-6052-F171-8C935EC4C583}"/>
              </a:ext>
            </a:extLst>
          </p:cNvPr>
          <p:cNvSpPr>
            <a:spLocks noChangeArrowheads="1"/>
          </p:cNvSpPr>
          <p:nvPr/>
        </p:nvSpPr>
        <p:spPr bwMode="auto">
          <a:xfrm>
            <a:off x="7652490" y="2389914"/>
            <a:ext cx="721352" cy="305212"/>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传输层</a:t>
            </a:r>
          </a:p>
        </p:txBody>
      </p:sp>
      <p:sp>
        <p:nvSpPr>
          <p:cNvPr id="145" name="Rectangle 5">
            <a:extLst>
              <a:ext uri="{FF2B5EF4-FFF2-40B4-BE49-F238E27FC236}">
                <a16:creationId xmlns:a16="http://schemas.microsoft.com/office/drawing/2014/main" id="{2E53D074-8E3B-96F5-E204-9A706344C7E4}"/>
              </a:ext>
            </a:extLst>
          </p:cNvPr>
          <p:cNvSpPr>
            <a:spLocks noChangeArrowheads="1"/>
          </p:cNvSpPr>
          <p:nvPr/>
        </p:nvSpPr>
        <p:spPr bwMode="auto">
          <a:xfrm>
            <a:off x="7742290" y="1989077"/>
            <a:ext cx="541816" cy="305212"/>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a:solidFill>
                  <a:srgbClr val="0000FF"/>
                </a:solidFill>
                <a:latin typeface="微软雅黑" panose="020B0503020204020204" pitchFamily="34" charset="-122"/>
                <a:ea typeface="微软雅黑" panose="020B0503020204020204" pitchFamily="34" charset="-122"/>
              </a:rPr>
              <a:t>端口</a:t>
            </a:r>
          </a:p>
        </p:txBody>
      </p:sp>
      <p:sp>
        <p:nvSpPr>
          <p:cNvPr id="146" name="矩形 61">
            <a:extLst>
              <a:ext uri="{FF2B5EF4-FFF2-40B4-BE49-F238E27FC236}">
                <a16:creationId xmlns:a16="http://schemas.microsoft.com/office/drawing/2014/main" id="{DC6DDB89-EE62-D891-ECFE-3D90C18A9E00}"/>
              </a:ext>
            </a:extLst>
          </p:cNvPr>
          <p:cNvSpPr>
            <a:spLocks noChangeArrowheads="1"/>
          </p:cNvSpPr>
          <p:nvPr/>
        </p:nvSpPr>
        <p:spPr bwMode="auto">
          <a:xfrm>
            <a:off x="7052855" y="2029574"/>
            <a:ext cx="169462"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47" name="Rectangle 5">
            <a:extLst>
              <a:ext uri="{FF2B5EF4-FFF2-40B4-BE49-F238E27FC236}">
                <a16:creationId xmlns:a16="http://schemas.microsoft.com/office/drawing/2014/main" id="{054E7C79-CF08-90B6-62D9-1F106FA9DDF0}"/>
              </a:ext>
            </a:extLst>
          </p:cNvPr>
          <p:cNvSpPr>
            <a:spLocks noChangeArrowheads="1"/>
          </p:cNvSpPr>
          <p:nvPr/>
        </p:nvSpPr>
        <p:spPr bwMode="auto">
          <a:xfrm>
            <a:off x="2863785" y="1103766"/>
            <a:ext cx="821947"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应用进程</a:t>
            </a:r>
          </a:p>
        </p:txBody>
      </p:sp>
      <p:cxnSp>
        <p:nvCxnSpPr>
          <p:cNvPr id="148" name="直接箭头连接符 117">
            <a:extLst>
              <a:ext uri="{FF2B5EF4-FFF2-40B4-BE49-F238E27FC236}">
                <a16:creationId xmlns:a16="http://schemas.microsoft.com/office/drawing/2014/main" id="{882C8AE0-60E5-05EB-3CAD-228353C90904}"/>
              </a:ext>
            </a:extLst>
          </p:cNvPr>
          <p:cNvCxnSpPr>
            <a:cxnSpLocks noChangeShapeType="1"/>
            <a:stCxn id="147" idx="2"/>
          </p:cNvCxnSpPr>
          <p:nvPr/>
        </p:nvCxnSpPr>
        <p:spPr bwMode="auto">
          <a:xfrm flipH="1">
            <a:off x="2986088" y="1398236"/>
            <a:ext cx="288671" cy="192439"/>
          </a:xfrm>
          <a:prstGeom prst="straightConnector1">
            <a:avLst/>
          </a:prstGeom>
          <a:noFill/>
          <a:ln w="12700" algn="ctr">
            <a:solidFill>
              <a:schemeClr val="tx1"/>
            </a:solidFill>
            <a:round/>
            <a:headEnd/>
            <a:tailEnd type="triangle" w="sm" len="lg"/>
          </a:ln>
        </p:spPr>
      </p:cxnSp>
      <p:sp>
        <p:nvSpPr>
          <p:cNvPr id="149" name="Rectangle 5">
            <a:extLst>
              <a:ext uri="{FF2B5EF4-FFF2-40B4-BE49-F238E27FC236}">
                <a16:creationId xmlns:a16="http://schemas.microsoft.com/office/drawing/2014/main" id="{4460F1D4-F9FA-FF94-5C65-C6BBED667B59}"/>
              </a:ext>
            </a:extLst>
          </p:cNvPr>
          <p:cNvSpPr>
            <a:spLocks noChangeArrowheads="1"/>
          </p:cNvSpPr>
          <p:nvPr/>
        </p:nvSpPr>
        <p:spPr bwMode="auto">
          <a:xfrm>
            <a:off x="5660164" y="1116850"/>
            <a:ext cx="821947"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应用进程</a:t>
            </a:r>
          </a:p>
        </p:txBody>
      </p:sp>
      <p:cxnSp>
        <p:nvCxnSpPr>
          <p:cNvPr id="150" name="直接箭头连接符 117">
            <a:extLst>
              <a:ext uri="{FF2B5EF4-FFF2-40B4-BE49-F238E27FC236}">
                <a16:creationId xmlns:a16="http://schemas.microsoft.com/office/drawing/2014/main" id="{B4997F4E-413A-CE4B-8A57-A3F38E99E240}"/>
              </a:ext>
            </a:extLst>
          </p:cNvPr>
          <p:cNvCxnSpPr>
            <a:cxnSpLocks noChangeShapeType="1"/>
            <a:stCxn id="149" idx="2"/>
          </p:cNvCxnSpPr>
          <p:nvPr/>
        </p:nvCxnSpPr>
        <p:spPr bwMode="auto">
          <a:xfrm>
            <a:off x="6071138" y="1411320"/>
            <a:ext cx="324900" cy="131730"/>
          </a:xfrm>
          <a:prstGeom prst="straightConnector1">
            <a:avLst/>
          </a:prstGeom>
          <a:noFill/>
          <a:ln w="12700" algn="ctr">
            <a:solidFill>
              <a:schemeClr val="tx1"/>
            </a:solidFill>
            <a:round/>
            <a:headEnd/>
            <a:tailEnd type="triangle" w="sm" len="lg"/>
          </a:ln>
        </p:spPr>
      </p:cxnSp>
      <p:sp>
        <p:nvSpPr>
          <p:cNvPr id="151" name="Rectangle 5">
            <a:extLst>
              <a:ext uri="{FF2B5EF4-FFF2-40B4-BE49-F238E27FC236}">
                <a16:creationId xmlns:a16="http://schemas.microsoft.com/office/drawing/2014/main" id="{D24953E8-D41C-F21D-B038-9E4C41C16BEF}"/>
              </a:ext>
            </a:extLst>
          </p:cNvPr>
          <p:cNvSpPr>
            <a:spLocks noChangeArrowheads="1"/>
          </p:cNvSpPr>
          <p:nvPr/>
        </p:nvSpPr>
        <p:spPr bwMode="auto">
          <a:xfrm rot="10800000" flipV="1">
            <a:off x="2161630" y="1138723"/>
            <a:ext cx="475073"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H</a:t>
            </a:r>
            <a:r>
              <a:rPr lang="en-US" altLang="zh-CN" sz="1400" b="1" baseline="-25000" dirty="0">
                <a:latin typeface="微软雅黑" panose="020B0503020204020204" pitchFamily="34" charset="-122"/>
                <a:ea typeface="微软雅黑" panose="020B0503020204020204" pitchFamily="34" charset="-122"/>
              </a:rPr>
              <a:t>1</a:t>
            </a:r>
            <a:endParaRPr lang="zh-CN" altLang="en-US" sz="1400" b="1" baseline="-25000" dirty="0">
              <a:latin typeface="微软雅黑" panose="020B0503020204020204" pitchFamily="34" charset="-122"/>
              <a:ea typeface="微软雅黑" panose="020B0503020204020204" pitchFamily="34" charset="-122"/>
            </a:endParaRPr>
          </a:p>
        </p:txBody>
      </p:sp>
      <p:sp>
        <p:nvSpPr>
          <p:cNvPr id="152" name="Rectangle 5">
            <a:extLst>
              <a:ext uri="{FF2B5EF4-FFF2-40B4-BE49-F238E27FC236}">
                <a16:creationId xmlns:a16="http://schemas.microsoft.com/office/drawing/2014/main" id="{869C64EF-BE4F-0F2A-337F-D4DA884FBD78}"/>
              </a:ext>
            </a:extLst>
          </p:cNvPr>
          <p:cNvSpPr>
            <a:spLocks noChangeArrowheads="1"/>
          </p:cNvSpPr>
          <p:nvPr/>
        </p:nvSpPr>
        <p:spPr bwMode="auto">
          <a:xfrm>
            <a:off x="6664686" y="1128976"/>
            <a:ext cx="368561" cy="294470"/>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H</a:t>
            </a:r>
            <a:r>
              <a:rPr lang="en-US" altLang="zh-CN" sz="1400" b="1" baseline="-25000" dirty="0">
                <a:latin typeface="微软雅黑" panose="020B0503020204020204" pitchFamily="34" charset="-122"/>
                <a:ea typeface="微软雅黑" panose="020B0503020204020204" pitchFamily="34" charset="-122"/>
              </a:rPr>
              <a:t>2</a:t>
            </a:r>
            <a:endParaRPr lang="zh-CN" altLang="en-US" sz="1400" b="1" baseline="-25000" dirty="0">
              <a:latin typeface="微软雅黑" panose="020B0503020204020204" pitchFamily="34" charset="-122"/>
              <a:ea typeface="微软雅黑" panose="020B0503020204020204" pitchFamily="34" charset="-122"/>
            </a:endParaRPr>
          </a:p>
        </p:txBody>
      </p:sp>
      <p:sp>
        <p:nvSpPr>
          <p:cNvPr id="158" name="下箭头 136">
            <a:extLst>
              <a:ext uri="{FF2B5EF4-FFF2-40B4-BE49-F238E27FC236}">
                <a16:creationId xmlns:a16="http://schemas.microsoft.com/office/drawing/2014/main" id="{DDFAAE3C-D18C-6DC7-524F-CFBB124B831C}"/>
              </a:ext>
            </a:extLst>
          </p:cNvPr>
          <p:cNvSpPr>
            <a:spLocks noChangeArrowheads="1"/>
          </p:cNvSpPr>
          <p:nvPr/>
        </p:nvSpPr>
        <p:spPr bwMode="auto">
          <a:xfrm rot="18780000">
            <a:off x="1889633" y="2421171"/>
            <a:ext cx="68924" cy="115871"/>
          </a:xfrm>
          <a:prstGeom prst="downArrow">
            <a:avLst>
              <a:gd name="adj1" fmla="val 50000"/>
              <a:gd name="adj2" fmla="val 50502"/>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59" name="下箭头 140">
            <a:extLst>
              <a:ext uri="{FF2B5EF4-FFF2-40B4-BE49-F238E27FC236}">
                <a16:creationId xmlns:a16="http://schemas.microsoft.com/office/drawing/2014/main" id="{8BA65614-7F72-8C1D-062E-5F140B4E14EC}"/>
              </a:ext>
            </a:extLst>
          </p:cNvPr>
          <p:cNvSpPr>
            <a:spLocks noChangeArrowheads="1"/>
          </p:cNvSpPr>
          <p:nvPr/>
        </p:nvSpPr>
        <p:spPr bwMode="auto">
          <a:xfrm>
            <a:off x="2358613" y="2384911"/>
            <a:ext cx="65178" cy="139378"/>
          </a:xfrm>
          <a:prstGeom prst="downArrow">
            <a:avLst>
              <a:gd name="adj1" fmla="val 50000"/>
              <a:gd name="adj2" fmla="val 50555"/>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0" name="下箭头 141">
            <a:extLst>
              <a:ext uri="{FF2B5EF4-FFF2-40B4-BE49-F238E27FC236}">
                <a16:creationId xmlns:a16="http://schemas.microsoft.com/office/drawing/2014/main" id="{BCCDCA6A-0750-B364-FC1E-6F462ACB6BA9}"/>
              </a:ext>
            </a:extLst>
          </p:cNvPr>
          <p:cNvSpPr>
            <a:spLocks noChangeArrowheads="1"/>
          </p:cNvSpPr>
          <p:nvPr/>
        </p:nvSpPr>
        <p:spPr bwMode="auto">
          <a:xfrm rot="8280000" flipH="1">
            <a:off x="6461911" y="2377253"/>
            <a:ext cx="66626" cy="139379"/>
          </a:xfrm>
          <a:prstGeom prst="downArrow">
            <a:avLst>
              <a:gd name="adj1" fmla="val 50000"/>
              <a:gd name="adj2" fmla="val 49457"/>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1" name="下箭头 147">
            <a:extLst>
              <a:ext uri="{FF2B5EF4-FFF2-40B4-BE49-F238E27FC236}">
                <a16:creationId xmlns:a16="http://schemas.microsoft.com/office/drawing/2014/main" id="{3C67B16C-F32A-5DDE-1B21-1002DB5F987D}"/>
              </a:ext>
            </a:extLst>
          </p:cNvPr>
          <p:cNvSpPr>
            <a:spLocks noChangeArrowheads="1"/>
          </p:cNvSpPr>
          <p:nvPr/>
        </p:nvSpPr>
        <p:spPr bwMode="auto">
          <a:xfrm rot="8520000">
            <a:off x="6606750" y="2568707"/>
            <a:ext cx="66626" cy="139378"/>
          </a:xfrm>
          <a:prstGeom prst="downArrow">
            <a:avLst>
              <a:gd name="adj1" fmla="val 50000"/>
              <a:gd name="adj2" fmla="val 49456"/>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2" name="燕尾形 153">
            <a:extLst>
              <a:ext uri="{FF2B5EF4-FFF2-40B4-BE49-F238E27FC236}">
                <a16:creationId xmlns:a16="http://schemas.microsoft.com/office/drawing/2014/main" id="{A9C4BEF0-C736-DCC8-5BFA-D849AEF49B82}"/>
              </a:ext>
            </a:extLst>
          </p:cNvPr>
          <p:cNvSpPr>
            <a:spLocks noChangeArrowheads="1"/>
          </p:cNvSpPr>
          <p:nvPr/>
        </p:nvSpPr>
        <p:spPr bwMode="auto">
          <a:xfrm rot="8310183">
            <a:off x="2732298" y="2443113"/>
            <a:ext cx="131804" cy="68923"/>
          </a:xfrm>
          <a:prstGeom prst="chevron">
            <a:avLst>
              <a:gd name="adj" fmla="val 50556"/>
            </a:avLst>
          </a:prstGeom>
          <a:solidFill>
            <a:srgbClr val="C000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3" name="燕尾形 153">
            <a:extLst>
              <a:ext uri="{FF2B5EF4-FFF2-40B4-BE49-F238E27FC236}">
                <a16:creationId xmlns:a16="http://schemas.microsoft.com/office/drawing/2014/main" id="{618E5AAE-F215-2CE3-9F71-621A1DE3C863}"/>
              </a:ext>
            </a:extLst>
          </p:cNvPr>
          <p:cNvSpPr>
            <a:spLocks noChangeArrowheads="1"/>
          </p:cNvSpPr>
          <p:nvPr/>
        </p:nvSpPr>
        <p:spPr bwMode="auto">
          <a:xfrm rot="18360000" flipV="1">
            <a:off x="6989684" y="2492466"/>
            <a:ext cx="139378" cy="65177"/>
          </a:xfrm>
          <a:prstGeom prst="chevron">
            <a:avLst>
              <a:gd name="adj" fmla="val 50556"/>
            </a:avLst>
          </a:prstGeom>
          <a:solidFill>
            <a:srgbClr val="C000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grpSp>
        <p:nvGrpSpPr>
          <p:cNvPr id="11" name="组合 10">
            <a:extLst>
              <a:ext uri="{FF2B5EF4-FFF2-40B4-BE49-F238E27FC236}">
                <a16:creationId xmlns:a16="http://schemas.microsoft.com/office/drawing/2014/main" id="{542A101F-5DD2-EAA8-6AE2-40512D960FF2}"/>
              </a:ext>
            </a:extLst>
          </p:cNvPr>
          <p:cNvGrpSpPr/>
          <p:nvPr/>
        </p:nvGrpSpPr>
        <p:grpSpPr>
          <a:xfrm>
            <a:off x="2313713" y="2746377"/>
            <a:ext cx="4521883" cy="641891"/>
            <a:chOff x="2313713" y="2746377"/>
            <a:chExt cx="4521883" cy="641891"/>
          </a:xfrm>
        </p:grpSpPr>
        <p:cxnSp>
          <p:nvCxnSpPr>
            <p:cNvPr id="142" name="直接箭头连接符 131">
              <a:extLst>
                <a:ext uri="{FF2B5EF4-FFF2-40B4-BE49-F238E27FC236}">
                  <a16:creationId xmlns:a16="http://schemas.microsoft.com/office/drawing/2014/main" id="{8C33210B-807F-30BE-AD39-4A328FBF52FC}"/>
                </a:ext>
              </a:extLst>
            </p:cNvPr>
            <p:cNvCxnSpPr>
              <a:cxnSpLocks noChangeShapeType="1"/>
            </p:cNvCxnSpPr>
            <p:nvPr/>
          </p:nvCxnSpPr>
          <p:spPr bwMode="auto">
            <a:xfrm flipV="1">
              <a:off x="6797301" y="2746377"/>
              <a:ext cx="15121" cy="639594"/>
            </a:xfrm>
            <a:prstGeom prst="straightConnector1">
              <a:avLst/>
            </a:prstGeom>
            <a:noFill/>
            <a:ln w="28575" algn="ctr">
              <a:solidFill>
                <a:srgbClr val="000066"/>
              </a:solidFill>
              <a:prstDash val="sysDot"/>
              <a:round/>
              <a:headEnd/>
              <a:tailEnd type="triangle" w="sm" len="lg"/>
            </a:ln>
          </p:spPr>
        </p:cxnSp>
        <p:cxnSp>
          <p:nvCxnSpPr>
            <p:cNvPr id="164" name="直接箭头连接符 131">
              <a:extLst>
                <a:ext uri="{FF2B5EF4-FFF2-40B4-BE49-F238E27FC236}">
                  <a16:creationId xmlns:a16="http://schemas.microsoft.com/office/drawing/2014/main" id="{C1032D26-46ED-4118-66A0-0CD356174233}"/>
                </a:ext>
              </a:extLst>
            </p:cNvPr>
            <p:cNvCxnSpPr>
              <a:cxnSpLocks noChangeShapeType="1"/>
            </p:cNvCxnSpPr>
            <p:nvPr/>
          </p:nvCxnSpPr>
          <p:spPr bwMode="auto">
            <a:xfrm>
              <a:off x="2325300" y="2783135"/>
              <a:ext cx="0" cy="600539"/>
            </a:xfrm>
            <a:prstGeom prst="straightConnector1">
              <a:avLst/>
            </a:prstGeom>
            <a:noFill/>
            <a:ln w="28575" algn="ctr">
              <a:solidFill>
                <a:srgbClr val="000066"/>
              </a:solidFill>
              <a:prstDash val="sysDot"/>
              <a:round/>
              <a:headEnd/>
              <a:tailEnd type="triangle" w="sm" len="lg"/>
            </a:ln>
          </p:spPr>
        </p:cxnSp>
        <p:cxnSp>
          <p:nvCxnSpPr>
            <p:cNvPr id="165" name="直接箭头连接符 131">
              <a:extLst>
                <a:ext uri="{FF2B5EF4-FFF2-40B4-BE49-F238E27FC236}">
                  <a16:creationId xmlns:a16="http://schemas.microsoft.com/office/drawing/2014/main" id="{292E34BA-9242-C821-7216-61238A4FEEA0}"/>
                </a:ext>
              </a:extLst>
            </p:cNvPr>
            <p:cNvCxnSpPr>
              <a:cxnSpLocks noChangeShapeType="1"/>
            </p:cNvCxnSpPr>
            <p:nvPr/>
          </p:nvCxnSpPr>
          <p:spPr bwMode="auto">
            <a:xfrm flipV="1">
              <a:off x="2313713" y="3383674"/>
              <a:ext cx="4521883" cy="4594"/>
            </a:xfrm>
            <a:prstGeom prst="straightConnector1">
              <a:avLst/>
            </a:prstGeom>
            <a:noFill/>
            <a:ln w="28575" algn="ctr">
              <a:solidFill>
                <a:srgbClr val="000066"/>
              </a:solidFill>
              <a:prstDash val="sysDot"/>
              <a:round/>
              <a:headEnd/>
              <a:tailEnd type="triangle" w="sm" len="lg"/>
            </a:ln>
          </p:spPr>
        </p:cxnSp>
      </p:grpSp>
      <p:sp>
        <p:nvSpPr>
          <p:cNvPr id="166" name="Rectangle 5">
            <a:extLst>
              <a:ext uri="{FF2B5EF4-FFF2-40B4-BE49-F238E27FC236}">
                <a16:creationId xmlns:a16="http://schemas.microsoft.com/office/drawing/2014/main" id="{B788A3E4-2E32-E7D3-66EA-E4B70BFD1147}"/>
              </a:ext>
            </a:extLst>
          </p:cNvPr>
          <p:cNvSpPr>
            <a:spLocks noChangeArrowheads="1"/>
          </p:cNvSpPr>
          <p:nvPr/>
        </p:nvSpPr>
        <p:spPr bwMode="auto">
          <a:xfrm rot="10800000" flipV="1">
            <a:off x="3936772" y="2984410"/>
            <a:ext cx="2268637" cy="294470"/>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a</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x         b</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x        c</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y</a:t>
            </a:r>
            <a:endParaRPr lang="zh-CN" altLang="en-US" sz="1400" b="1" baseline="-25000" dirty="0">
              <a:latin typeface="微软雅黑" panose="020B0503020204020204" pitchFamily="34" charset="-122"/>
              <a:ea typeface="微软雅黑" panose="020B0503020204020204" pitchFamily="34" charset="-122"/>
            </a:endParaRPr>
          </a:p>
        </p:txBody>
      </p:sp>
      <p:sp>
        <p:nvSpPr>
          <p:cNvPr id="167" name="Rectangle 5">
            <a:extLst>
              <a:ext uri="{FF2B5EF4-FFF2-40B4-BE49-F238E27FC236}">
                <a16:creationId xmlns:a16="http://schemas.microsoft.com/office/drawing/2014/main" id="{5D156BF0-5ED5-DFCA-CDDD-0A0553CF3DAD}"/>
              </a:ext>
            </a:extLst>
          </p:cNvPr>
          <p:cNvSpPr>
            <a:spLocks noChangeArrowheads="1"/>
          </p:cNvSpPr>
          <p:nvPr/>
        </p:nvSpPr>
        <p:spPr bwMode="auto">
          <a:xfrm>
            <a:off x="3500509" y="2361476"/>
            <a:ext cx="494339"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复用</a:t>
            </a:r>
          </a:p>
        </p:txBody>
      </p:sp>
      <p:sp>
        <p:nvSpPr>
          <p:cNvPr id="168" name="Rectangle 5">
            <a:extLst>
              <a:ext uri="{FF2B5EF4-FFF2-40B4-BE49-F238E27FC236}">
                <a16:creationId xmlns:a16="http://schemas.microsoft.com/office/drawing/2014/main" id="{2B0456F6-E111-03CC-A209-5FF82C696CDC}"/>
              </a:ext>
            </a:extLst>
          </p:cNvPr>
          <p:cNvSpPr>
            <a:spLocks noChangeArrowheads="1"/>
          </p:cNvSpPr>
          <p:nvPr/>
        </p:nvSpPr>
        <p:spPr bwMode="auto">
          <a:xfrm>
            <a:off x="5204382" y="2379359"/>
            <a:ext cx="494339"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分用</a:t>
            </a:r>
          </a:p>
        </p:txBody>
      </p:sp>
      <p:cxnSp>
        <p:nvCxnSpPr>
          <p:cNvPr id="169" name="直接箭头连接符 117">
            <a:extLst>
              <a:ext uri="{FF2B5EF4-FFF2-40B4-BE49-F238E27FC236}">
                <a16:creationId xmlns:a16="http://schemas.microsoft.com/office/drawing/2014/main" id="{CA9D8531-93E9-9F49-867F-63597A211E2D}"/>
              </a:ext>
            </a:extLst>
          </p:cNvPr>
          <p:cNvCxnSpPr>
            <a:cxnSpLocks noChangeShapeType="1"/>
          </p:cNvCxnSpPr>
          <p:nvPr/>
        </p:nvCxnSpPr>
        <p:spPr bwMode="auto">
          <a:xfrm flipH="1" flipV="1">
            <a:off x="3035713" y="2536986"/>
            <a:ext cx="527893" cy="145"/>
          </a:xfrm>
          <a:prstGeom prst="straightConnector1">
            <a:avLst/>
          </a:prstGeom>
          <a:noFill/>
          <a:ln w="12700" algn="ctr">
            <a:solidFill>
              <a:schemeClr val="tx1"/>
            </a:solidFill>
            <a:round/>
            <a:headEnd/>
            <a:tailEnd type="triangle" w="sm" len="lg"/>
          </a:ln>
        </p:spPr>
      </p:cxnSp>
      <p:cxnSp>
        <p:nvCxnSpPr>
          <p:cNvPr id="170" name="直接箭头连接符 117">
            <a:extLst>
              <a:ext uri="{FF2B5EF4-FFF2-40B4-BE49-F238E27FC236}">
                <a16:creationId xmlns:a16="http://schemas.microsoft.com/office/drawing/2014/main" id="{35FBE6E1-B1F4-1D4D-BEBB-F335EB8FC6FD}"/>
              </a:ext>
            </a:extLst>
          </p:cNvPr>
          <p:cNvCxnSpPr>
            <a:cxnSpLocks noChangeShapeType="1"/>
          </p:cNvCxnSpPr>
          <p:nvPr/>
        </p:nvCxnSpPr>
        <p:spPr bwMode="auto">
          <a:xfrm flipV="1">
            <a:off x="5708464" y="2549054"/>
            <a:ext cx="527893" cy="145"/>
          </a:xfrm>
          <a:prstGeom prst="straightConnector1">
            <a:avLst/>
          </a:prstGeom>
          <a:noFill/>
          <a:ln w="12700" algn="ctr">
            <a:solidFill>
              <a:schemeClr val="tx1"/>
            </a:solidFill>
            <a:round/>
            <a:headEnd/>
            <a:tailEnd type="triangle" w="sm" len="lg"/>
          </a:ln>
        </p:spPr>
      </p:cxnSp>
      <p:sp>
        <p:nvSpPr>
          <p:cNvPr id="171" name="下箭头 136">
            <a:extLst>
              <a:ext uri="{FF2B5EF4-FFF2-40B4-BE49-F238E27FC236}">
                <a16:creationId xmlns:a16="http://schemas.microsoft.com/office/drawing/2014/main" id="{87B3F3EB-3AA9-C42F-E24F-E975A262C68E}"/>
              </a:ext>
            </a:extLst>
          </p:cNvPr>
          <p:cNvSpPr>
            <a:spLocks noChangeArrowheads="1"/>
          </p:cNvSpPr>
          <p:nvPr/>
        </p:nvSpPr>
        <p:spPr bwMode="auto">
          <a:xfrm rot="16200000">
            <a:off x="4171803" y="3213025"/>
            <a:ext cx="88900" cy="139273"/>
          </a:xfrm>
          <a:prstGeom prst="downArrow">
            <a:avLst>
              <a:gd name="adj1" fmla="val 50000"/>
              <a:gd name="adj2" fmla="val 50502"/>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2" name="下箭头 140">
            <a:extLst>
              <a:ext uri="{FF2B5EF4-FFF2-40B4-BE49-F238E27FC236}">
                <a16:creationId xmlns:a16="http://schemas.microsoft.com/office/drawing/2014/main" id="{7E8A6E16-B469-0D70-9DAA-445A4778C8A0}"/>
              </a:ext>
            </a:extLst>
          </p:cNvPr>
          <p:cNvSpPr>
            <a:spLocks noChangeArrowheads="1"/>
          </p:cNvSpPr>
          <p:nvPr/>
        </p:nvSpPr>
        <p:spPr bwMode="auto">
          <a:xfrm rot="16200000">
            <a:off x="5041352" y="3215012"/>
            <a:ext cx="68924" cy="131803"/>
          </a:xfrm>
          <a:prstGeom prst="downArrow">
            <a:avLst>
              <a:gd name="adj1" fmla="val 50000"/>
              <a:gd name="adj2" fmla="val 50555"/>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3" name="燕尾形 153">
            <a:extLst>
              <a:ext uri="{FF2B5EF4-FFF2-40B4-BE49-F238E27FC236}">
                <a16:creationId xmlns:a16="http://schemas.microsoft.com/office/drawing/2014/main" id="{EC5E131B-2F34-B6FB-C722-DB04E97882C4}"/>
              </a:ext>
            </a:extLst>
          </p:cNvPr>
          <p:cNvSpPr>
            <a:spLocks noChangeArrowheads="1"/>
          </p:cNvSpPr>
          <p:nvPr/>
        </p:nvSpPr>
        <p:spPr bwMode="auto">
          <a:xfrm>
            <a:off x="5804720" y="3245044"/>
            <a:ext cx="159482" cy="75815"/>
          </a:xfrm>
          <a:prstGeom prst="chevron">
            <a:avLst>
              <a:gd name="adj" fmla="val 50556"/>
            </a:avLst>
          </a:prstGeom>
          <a:solidFill>
            <a:srgbClr val="C000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4" name="Rectangle 26">
            <a:extLst>
              <a:ext uri="{FF2B5EF4-FFF2-40B4-BE49-F238E27FC236}">
                <a16:creationId xmlns:a16="http://schemas.microsoft.com/office/drawing/2014/main" id="{75D843E4-30BE-596E-D5E6-3A9AC3F38358}"/>
              </a:ext>
            </a:extLst>
          </p:cNvPr>
          <p:cNvSpPr>
            <a:spLocks noChangeArrowheads="1"/>
          </p:cNvSpPr>
          <p:nvPr/>
        </p:nvSpPr>
        <p:spPr bwMode="auto">
          <a:xfrm>
            <a:off x="2657706" y="3015834"/>
            <a:ext cx="1149555"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不可靠的信道</a:t>
            </a:r>
          </a:p>
        </p:txBody>
      </p:sp>
      <p:sp>
        <p:nvSpPr>
          <p:cNvPr id="49" name="Text Box 67">
            <a:extLst>
              <a:ext uri="{FF2B5EF4-FFF2-40B4-BE49-F238E27FC236}">
                <a16:creationId xmlns:a16="http://schemas.microsoft.com/office/drawing/2014/main" id="{1498D569-89AF-92D9-C565-6B58B6BF5F0D}"/>
              </a:ext>
            </a:extLst>
          </p:cNvPr>
          <p:cNvSpPr txBox="1">
            <a:spLocks noChangeArrowheads="1"/>
          </p:cNvSpPr>
          <p:nvPr/>
        </p:nvSpPr>
        <p:spPr bwMode="auto">
          <a:xfrm>
            <a:off x="1637313" y="1450618"/>
            <a:ext cx="398103" cy="504805"/>
          </a:xfrm>
          <a:prstGeom prst="rect">
            <a:avLst/>
          </a:prstGeom>
          <a:noFill/>
          <a:ln w="9525">
            <a:noFill/>
            <a:miter lim="800000"/>
            <a:headEnd/>
            <a:tailEnd/>
          </a:ln>
        </p:spPr>
        <p:txBody>
          <a:bodyPr wrap="none">
            <a:spAutoFit/>
          </a:bodyPr>
          <a:lstStyle/>
          <a:p>
            <a:r>
              <a:rPr lang="en-US" altLang="zh-CN" sz="2800" b="1" dirty="0">
                <a:latin typeface="微软雅黑" panose="020B0503020204020204" pitchFamily="34" charset="-122"/>
                <a:ea typeface="微软雅黑" panose="020B0503020204020204" pitchFamily="34" charset="-122"/>
                <a:sym typeface="Wingdings" pitchFamily="2" charset="2"/>
              </a:rPr>
              <a:t></a:t>
            </a:r>
            <a:endParaRPr lang="en-US" altLang="zh-CN" sz="2800" b="1" dirty="0">
              <a:latin typeface="微软雅黑" panose="020B0503020204020204" pitchFamily="34" charset="-122"/>
              <a:ea typeface="微软雅黑" panose="020B0503020204020204" pitchFamily="34" charset="-122"/>
            </a:endParaRPr>
          </a:p>
        </p:txBody>
      </p:sp>
      <p:sp>
        <p:nvSpPr>
          <p:cNvPr id="51" name="Text Box 68">
            <a:extLst>
              <a:ext uri="{FF2B5EF4-FFF2-40B4-BE49-F238E27FC236}">
                <a16:creationId xmlns:a16="http://schemas.microsoft.com/office/drawing/2014/main" id="{FB8A5832-9C0E-DE4F-3054-33ADDE81F0A8}"/>
              </a:ext>
            </a:extLst>
          </p:cNvPr>
          <p:cNvSpPr txBox="1">
            <a:spLocks noChangeArrowheads="1"/>
          </p:cNvSpPr>
          <p:nvPr/>
        </p:nvSpPr>
        <p:spPr bwMode="auto">
          <a:xfrm>
            <a:off x="2693192" y="1476655"/>
            <a:ext cx="364464" cy="445417"/>
          </a:xfrm>
          <a:prstGeom prst="rect">
            <a:avLst/>
          </a:prstGeom>
          <a:noFill/>
          <a:ln w="9525">
            <a:noFill/>
            <a:miter lim="800000"/>
            <a:headEnd/>
            <a:tailEnd/>
          </a:ln>
        </p:spPr>
        <p:txBody>
          <a:bodyPr wrap="none">
            <a:spAutoFit/>
          </a:bodyPr>
          <a:lstStyle/>
          <a:p>
            <a:r>
              <a:rPr lang="en-US" altLang="zh-CN" sz="2400" b="1" dirty="0">
                <a:latin typeface="微软雅黑" panose="020B0503020204020204" pitchFamily="34" charset="-122"/>
                <a:ea typeface="微软雅黑" panose="020B0503020204020204" pitchFamily="34" charset="-122"/>
                <a:sym typeface="Wingdings" pitchFamily="2" charset="2"/>
              </a:rPr>
              <a:t></a:t>
            </a:r>
            <a:endParaRPr lang="en-US" altLang="zh-CN" sz="2400" b="1" dirty="0">
              <a:latin typeface="微软雅黑" panose="020B0503020204020204" pitchFamily="34" charset="-122"/>
              <a:ea typeface="微软雅黑" panose="020B0503020204020204" pitchFamily="34" charset="-122"/>
            </a:endParaRPr>
          </a:p>
        </p:txBody>
      </p:sp>
      <p:sp>
        <p:nvSpPr>
          <p:cNvPr id="52" name="Text Box 67">
            <a:extLst>
              <a:ext uri="{FF2B5EF4-FFF2-40B4-BE49-F238E27FC236}">
                <a16:creationId xmlns:a16="http://schemas.microsoft.com/office/drawing/2014/main" id="{390986C8-F807-0CCB-0115-F173326EF1EE}"/>
              </a:ext>
            </a:extLst>
          </p:cNvPr>
          <p:cNvSpPr txBox="1">
            <a:spLocks noChangeArrowheads="1"/>
          </p:cNvSpPr>
          <p:nvPr/>
        </p:nvSpPr>
        <p:spPr bwMode="auto">
          <a:xfrm>
            <a:off x="2155838" y="1482782"/>
            <a:ext cx="364464" cy="445417"/>
          </a:xfrm>
          <a:prstGeom prst="rect">
            <a:avLst/>
          </a:prstGeom>
          <a:noFill/>
          <a:ln w="9525">
            <a:noFill/>
            <a:miter lim="800000"/>
            <a:headEnd/>
            <a:tailEnd/>
          </a:ln>
        </p:spPr>
        <p:txBody>
          <a:bodyPr wrap="none">
            <a:spAutoFit/>
          </a:bodyPr>
          <a:lstStyle/>
          <a:p>
            <a:r>
              <a:rPr lang="en-US" altLang="zh-CN" sz="2400" b="1">
                <a:latin typeface="微软雅黑" panose="020B0503020204020204" pitchFamily="34" charset="-122"/>
                <a:ea typeface="微软雅黑" panose="020B0503020204020204" pitchFamily="34" charset="-122"/>
                <a:sym typeface="Wingdings" pitchFamily="2" charset="2"/>
              </a:rPr>
              <a:t></a:t>
            </a:r>
            <a:endParaRPr lang="en-US" altLang="zh-CN" sz="2400" b="1">
              <a:latin typeface="微软雅黑" panose="020B0503020204020204" pitchFamily="34" charset="-122"/>
              <a:ea typeface="微软雅黑" panose="020B0503020204020204" pitchFamily="34" charset="-122"/>
            </a:endParaRPr>
          </a:p>
        </p:txBody>
      </p:sp>
      <p:sp>
        <p:nvSpPr>
          <p:cNvPr id="153" name="Rectangle 5">
            <a:extLst>
              <a:ext uri="{FF2B5EF4-FFF2-40B4-BE49-F238E27FC236}">
                <a16:creationId xmlns:a16="http://schemas.microsoft.com/office/drawing/2014/main" id="{0F3E23AB-4BE4-BE34-A160-A5F9DEB96B30}"/>
              </a:ext>
            </a:extLst>
          </p:cNvPr>
          <p:cNvSpPr>
            <a:spLocks noChangeArrowheads="1"/>
          </p:cNvSpPr>
          <p:nvPr/>
        </p:nvSpPr>
        <p:spPr bwMode="auto">
          <a:xfrm rot="10800000" flipV="1">
            <a:off x="1469649" y="1442750"/>
            <a:ext cx="379478"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1</a:t>
            </a:r>
            <a:endParaRPr lang="zh-CN" altLang="en-US" sz="1400" b="1" baseline="-25000" dirty="0">
              <a:latin typeface="微软雅黑" panose="020B0503020204020204" pitchFamily="34" charset="-122"/>
              <a:ea typeface="微软雅黑" panose="020B0503020204020204" pitchFamily="34" charset="-122"/>
            </a:endParaRPr>
          </a:p>
        </p:txBody>
      </p:sp>
      <p:sp>
        <p:nvSpPr>
          <p:cNvPr id="154" name="Rectangle 5">
            <a:extLst>
              <a:ext uri="{FF2B5EF4-FFF2-40B4-BE49-F238E27FC236}">
                <a16:creationId xmlns:a16="http://schemas.microsoft.com/office/drawing/2014/main" id="{0601D54A-80AE-4924-D127-114495872577}"/>
              </a:ext>
            </a:extLst>
          </p:cNvPr>
          <p:cNvSpPr>
            <a:spLocks noChangeArrowheads="1"/>
          </p:cNvSpPr>
          <p:nvPr/>
        </p:nvSpPr>
        <p:spPr bwMode="auto">
          <a:xfrm rot="10800000" flipV="1">
            <a:off x="1950516" y="1422839"/>
            <a:ext cx="379478"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2</a:t>
            </a:r>
            <a:endParaRPr lang="zh-CN" altLang="en-US" sz="1400" b="1" baseline="-25000">
              <a:latin typeface="微软雅黑" panose="020B0503020204020204" pitchFamily="34" charset="-122"/>
              <a:ea typeface="微软雅黑" panose="020B0503020204020204" pitchFamily="34" charset="-122"/>
            </a:endParaRPr>
          </a:p>
        </p:txBody>
      </p:sp>
      <p:sp>
        <p:nvSpPr>
          <p:cNvPr id="155" name="Rectangle 5">
            <a:extLst>
              <a:ext uri="{FF2B5EF4-FFF2-40B4-BE49-F238E27FC236}">
                <a16:creationId xmlns:a16="http://schemas.microsoft.com/office/drawing/2014/main" id="{ADD4AA20-992D-3D65-A4E3-968B51A8F8CA}"/>
              </a:ext>
            </a:extLst>
          </p:cNvPr>
          <p:cNvSpPr>
            <a:spLocks noChangeArrowheads="1"/>
          </p:cNvSpPr>
          <p:nvPr/>
        </p:nvSpPr>
        <p:spPr bwMode="auto">
          <a:xfrm rot="10800000" flipV="1">
            <a:off x="2512493" y="1427434"/>
            <a:ext cx="379478"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3</a:t>
            </a:r>
            <a:endParaRPr lang="zh-CN" altLang="en-US" sz="1400" b="1" baseline="-25000">
              <a:latin typeface="微软雅黑" panose="020B0503020204020204" pitchFamily="34" charset="-122"/>
              <a:ea typeface="微软雅黑" panose="020B0503020204020204" pitchFamily="34" charset="-122"/>
            </a:endParaRPr>
          </a:p>
        </p:txBody>
      </p:sp>
      <p:sp>
        <p:nvSpPr>
          <p:cNvPr id="113" name="Text Box 67">
            <a:extLst>
              <a:ext uri="{FF2B5EF4-FFF2-40B4-BE49-F238E27FC236}">
                <a16:creationId xmlns:a16="http://schemas.microsoft.com/office/drawing/2014/main" id="{499F5AF3-AEFC-6C7B-34C1-F9533692B233}"/>
              </a:ext>
            </a:extLst>
          </p:cNvPr>
          <p:cNvSpPr txBox="1">
            <a:spLocks noChangeArrowheads="1"/>
          </p:cNvSpPr>
          <p:nvPr/>
        </p:nvSpPr>
        <p:spPr bwMode="auto">
          <a:xfrm>
            <a:off x="6295345" y="1423049"/>
            <a:ext cx="398103" cy="504805"/>
          </a:xfrm>
          <a:prstGeom prst="rect">
            <a:avLst/>
          </a:prstGeom>
          <a:noFill/>
          <a:ln w="9525">
            <a:noFill/>
            <a:miter lim="800000"/>
            <a:headEnd/>
            <a:tailEnd/>
          </a:ln>
        </p:spPr>
        <p:txBody>
          <a:bodyPr wrap="none">
            <a:spAutoFit/>
          </a:bodyPr>
          <a:lstStyle/>
          <a:p>
            <a:r>
              <a:rPr lang="en-US" altLang="zh-CN" sz="2800" b="1">
                <a:latin typeface="微软雅黑" panose="020B0503020204020204" pitchFamily="34" charset="-122"/>
                <a:ea typeface="微软雅黑" panose="020B0503020204020204" pitchFamily="34" charset="-122"/>
                <a:sym typeface="Wingdings" pitchFamily="2" charset="2"/>
              </a:rPr>
              <a:t></a:t>
            </a:r>
            <a:endParaRPr lang="en-US" altLang="zh-CN" sz="2800" b="1">
              <a:latin typeface="微软雅黑" panose="020B0503020204020204" pitchFamily="34" charset="-122"/>
              <a:ea typeface="微软雅黑" panose="020B0503020204020204" pitchFamily="34" charset="-122"/>
            </a:endParaRPr>
          </a:p>
        </p:txBody>
      </p:sp>
      <p:sp>
        <p:nvSpPr>
          <p:cNvPr id="114" name="Text Box 68">
            <a:extLst>
              <a:ext uri="{FF2B5EF4-FFF2-40B4-BE49-F238E27FC236}">
                <a16:creationId xmlns:a16="http://schemas.microsoft.com/office/drawing/2014/main" id="{6B98C89B-2286-4E0D-2740-4E5CC6AFB706}"/>
              </a:ext>
            </a:extLst>
          </p:cNvPr>
          <p:cNvSpPr txBox="1">
            <a:spLocks noChangeArrowheads="1"/>
          </p:cNvSpPr>
          <p:nvPr/>
        </p:nvSpPr>
        <p:spPr bwMode="auto">
          <a:xfrm>
            <a:off x="6925397" y="1406200"/>
            <a:ext cx="398103" cy="504805"/>
          </a:xfrm>
          <a:prstGeom prst="rect">
            <a:avLst/>
          </a:prstGeom>
          <a:noFill/>
          <a:ln w="9525">
            <a:noFill/>
            <a:miter lim="800000"/>
            <a:headEnd/>
            <a:tailEnd/>
          </a:ln>
        </p:spPr>
        <p:txBody>
          <a:bodyPr wrap="none">
            <a:spAutoFit/>
          </a:bodyPr>
          <a:lstStyle/>
          <a:p>
            <a:r>
              <a:rPr lang="en-US" altLang="zh-CN" sz="2800" b="1">
                <a:latin typeface="微软雅黑" panose="020B0503020204020204" pitchFamily="34" charset="-122"/>
                <a:ea typeface="微软雅黑" panose="020B0503020204020204" pitchFamily="34" charset="-122"/>
                <a:sym typeface="Wingdings" pitchFamily="2" charset="2"/>
              </a:rPr>
              <a:t></a:t>
            </a:r>
            <a:endParaRPr lang="en-US" altLang="zh-CN" sz="2800" b="1">
              <a:latin typeface="微软雅黑" panose="020B0503020204020204" pitchFamily="34" charset="-122"/>
              <a:ea typeface="微软雅黑" panose="020B0503020204020204" pitchFamily="34" charset="-122"/>
            </a:endParaRPr>
          </a:p>
        </p:txBody>
      </p:sp>
      <p:sp>
        <p:nvSpPr>
          <p:cNvPr id="143" name="Rectangle 5">
            <a:extLst>
              <a:ext uri="{FF2B5EF4-FFF2-40B4-BE49-F238E27FC236}">
                <a16:creationId xmlns:a16="http://schemas.microsoft.com/office/drawing/2014/main" id="{46B2E6B8-91E6-1B0D-34B6-AC040F903A55}"/>
              </a:ext>
            </a:extLst>
          </p:cNvPr>
          <p:cNvSpPr>
            <a:spLocks noChangeArrowheads="1"/>
          </p:cNvSpPr>
          <p:nvPr/>
        </p:nvSpPr>
        <p:spPr bwMode="auto">
          <a:xfrm>
            <a:off x="7674215" y="1562426"/>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a:latin typeface="微软雅黑" panose="020B0503020204020204" pitchFamily="34" charset="-122"/>
                <a:ea typeface="微软雅黑" panose="020B0503020204020204" pitchFamily="34" charset="-122"/>
              </a:rPr>
              <a:t>应用层</a:t>
            </a:r>
          </a:p>
        </p:txBody>
      </p:sp>
      <p:sp>
        <p:nvSpPr>
          <p:cNvPr id="156" name="Rectangle 5">
            <a:extLst>
              <a:ext uri="{FF2B5EF4-FFF2-40B4-BE49-F238E27FC236}">
                <a16:creationId xmlns:a16="http://schemas.microsoft.com/office/drawing/2014/main" id="{95A250F4-239F-C885-9BE4-33792B3571CB}"/>
              </a:ext>
            </a:extLst>
          </p:cNvPr>
          <p:cNvSpPr>
            <a:spLocks noChangeArrowheads="1"/>
          </p:cNvSpPr>
          <p:nvPr/>
        </p:nvSpPr>
        <p:spPr bwMode="auto">
          <a:xfrm rot="10800000" flipV="1">
            <a:off x="6091471" y="1469554"/>
            <a:ext cx="379479"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4</a:t>
            </a:r>
            <a:endParaRPr lang="zh-CN" altLang="en-US" sz="1400" b="1" baseline="-25000">
              <a:latin typeface="微软雅黑" panose="020B0503020204020204" pitchFamily="34" charset="-122"/>
              <a:ea typeface="微软雅黑" panose="020B0503020204020204" pitchFamily="34" charset="-122"/>
            </a:endParaRPr>
          </a:p>
        </p:txBody>
      </p:sp>
      <p:sp>
        <p:nvSpPr>
          <p:cNvPr id="157" name="Rectangle 5">
            <a:extLst>
              <a:ext uri="{FF2B5EF4-FFF2-40B4-BE49-F238E27FC236}">
                <a16:creationId xmlns:a16="http://schemas.microsoft.com/office/drawing/2014/main" id="{9589806B-88BA-ED1E-95A7-5F982D34F9C2}"/>
              </a:ext>
            </a:extLst>
          </p:cNvPr>
          <p:cNvSpPr>
            <a:spLocks noChangeArrowheads="1"/>
          </p:cNvSpPr>
          <p:nvPr/>
        </p:nvSpPr>
        <p:spPr bwMode="auto">
          <a:xfrm rot="10800000" flipV="1">
            <a:off x="6725867" y="1453472"/>
            <a:ext cx="379479"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5</a:t>
            </a:r>
            <a:endParaRPr lang="zh-CN" altLang="en-US" sz="1400" b="1" baseline="-25000">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a16="http://schemas.microsoft.com/office/drawing/2014/main" id="{0A5D6F1F-60DA-064D-A2F6-3603239F7263}"/>
              </a:ext>
            </a:extLst>
          </p:cNvPr>
          <p:cNvSpPr/>
          <p:nvPr/>
        </p:nvSpPr>
        <p:spPr>
          <a:xfrm>
            <a:off x="1317818" y="3745264"/>
            <a:ext cx="6831101" cy="1015663"/>
          </a:xfrm>
          <a:prstGeom prst="rect">
            <a:avLst/>
          </a:prstGeom>
        </p:spPr>
        <p:txBody>
          <a:bodyPr wrap="square">
            <a:spAutoFit/>
          </a:bodyPr>
          <a:lstStyle/>
          <a:p>
            <a:pPr>
              <a:lnSpc>
                <a:spcPts val="2400"/>
              </a:lnSpc>
              <a:buClr>
                <a:srgbClr val="0070C0"/>
              </a:buClr>
            </a:pPr>
            <a:r>
              <a:rPr lang="zh-CN" altLang="en-US" sz="1600" b="1" dirty="0">
                <a:solidFill>
                  <a:srgbClr val="C00000"/>
                </a:solidFill>
                <a:latin typeface="微软雅黑" pitchFamily="34" charset="-122"/>
                <a:ea typeface="微软雅黑" pitchFamily="34" charset="-122"/>
              </a:rPr>
              <a:t>复用：</a:t>
            </a:r>
            <a:r>
              <a:rPr lang="zh-CN" altLang="en-US" sz="1600" b="1" dirty="0">
                <a:latin typeface="微软雅黑" pitchFamily="34" charset="-122"/>
                <a:ea typeface="微软雅黑" pitchFamily="34" charset="-122"/>
              </a:rPr>
              <a:t>将 </a:t>
            </a:r>
            <a:r>
              <a:rPr lang="en-US" altLang="zh-CN" sz="1600" b="1" dirty="0">
                <a:latin typeface="微软雅黑" pitchFamily="34" charset="-122"/>
                <a:ea typeface="微软雅黑" pitchFamily="34" charset="-122"/>
              </a:rPr>
              <a:t>UDP </a:t>
            </a:r>
            <a:r>
              <a:rPr lang="zh-CN" altLang="en-US" sz="1600" b="1" dirty="0">
                <a:latin typeface="微软雅黑" pitchFamily="34" charset="-122"/>
                <a:ea typeface="微软雅黑" pitchFamily="34" charset="-122"/>
              </a:rPr>
              <a:t>用户数据报组装成不同的 </a:t>
            </a:r>
            <a:r>
              <a:rPr lang="en-US" altLang="zh-CN" sz="1600" b="1" dirty="0">
                <a:latin typeface="微软雅黑" pitchFamily="34" charset="-122"/>
                <a:ea typeface="微软雅黑" pitchFamily="34" charset="-122"/>
              </a:rPr>
              <a:t>IP </a:t>
            </a:r>
            <a:r>
              <a:rPr lang="zh-CN" altLang="en-US" sz="1600" b="1" dirty="0">
                <a:latin typeface="微软雅黑" pitchFamily="34" charset="-122"/>
                <a:ea typeface="微软雅黑" pitchFamily="34" charset="-122"/>
              </a:rPr>
              <a:t>数据报，发送到互联网。</a:t>
            </a:r>
            <a:endParaRPr lang="en-US" altLang="zh-CN" sz="1600" b="1" dirty="0">
              <a:latin typeface="微软雅黑" pitchFamily="34" charset="-122"/>
              <a:ea typeface="微软雅黑" pitchFamily="34" charset="-122"/>
            </a:endParaRPr>
          </a:p>
          <a:p>
            <a:pPr>
              <a:lnSpc>
                <a:spcPts val="2400"/>
              </a:lnSpc>
              <a:buClr>
                <a:srgbClr val="0070C0"/>
              </a:buClr>
            </a:pPr>
            <a:r>
              <a:rPr lang="zh-CN" altLang="en-US" sz="1600" b="1" dirty="0">
                <a:solidFill>
                  <a:srgbClr val="C00000"/>
                </a:solidFill>
                <a:latin typeface="微软雅黑" pitchFamily="34" charset="-122"/>
                <a:ea typeface="微软雅黑" pitchFamily="34" charset="-122"/>
              </a:rPr>
              <a:t>分用：</a:t>
            </a:r>
            <a:r>
              <a:rPr lang="zh-CN" altLang="en-US" sz="1600" b="1" dirty="0">
                <a:latin typeface="微软雅黑" pitchFamily="34" charset="-122"/>
                <a:ea typeface="微软雅黑" pitchFamily="34" charset="-122"/>
              </a:rPr>
              <a:t>根据 </a:t>
            </a:r>
            <a:r>
              <a:rPr lang="en-US" altLang="zh-CN" sz="1600" b="1" dirty="0">
                <a:latin typeface="微软雅黑" pitchFamily="34" charset="-122"/>
                <a:ea typeface="微软雅黑" pitchFamily="34" charset="-122"/>
              </a:rPr>
              <a:t>UDP </a:t>
            </a:r>
            <a:r>
              <a:rPr lang="zh-CN" altLang="en-US" sz="1600" b="1" dirty="0">
                <a:latin typeface="微软雅黑" pitchFamily="34" charset="-122"/>
                <a:ea typeface="微软雅黑" pitchFamily="34" charset="-122"/>
              </a:rPr>
              <a:t>用户数据报首部中的目的端口号，将数据报分别传送到相应的端口，以便应用进程到端口读取数据。</a:t>
            </a:r>
            <a:endParaRPr lang="en-US" altLang="zh-CN" sz="1600" b="1" dirty="0">
              <a:latin typeface="微软雅黑" pitchFamily="34" charset="-122"/>
              <a:ea typeface="微软雅黑" pitchFamily="34" charset="-122"/>
            </a:endParaRPr>
          </a:p>
        </p:txBody>
      </p:sp>
      <p:sp>
        <p:nvSpPr>
          <p:cNvPr id="15" name="矩形 14">
            <a:extLst>
              <a:ext uri="{FF2B5EF4-FFF2-40B4-BE49-F238E27FC236}">
                <a16:creationId xmlns:a16="http://schemas.microsoft.com/office/drawing/2014/main" id="{08B68A48-3882-7513-99F5-7E81B1C451DA}"/>
              </a:ext>
            </a:extLst>
          </p:cNvPr>
          <p:cNvSpPr/>
          <p:nvPr/>
        </p:nvSpPr>
        <p:spPr>
          <a:xfrm>
            <a:off x="3813128" y="1069966"/>
            <a:ext cx="1415772" cy="338554"/>
          </a:xfrm>
          <a:prstGeom prst="rect">
            <a:avLst/>
          </a:prstGeom>
          <a:solidFill>
            <a:srgbClr val="000099"/>
          </a:solidFill>
        </p:spPr>
        <p:txBody>
          <a:bodyPr wrap="none">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多对一的通信</a:t>
            </a:r>
          </a:p>
        </p:txBody>
      </p:sp>
      <p:sp>
        <p:nvSpPr>
          <p:cNvPr id="5" name="文本框 4">
            <a:extLst>
              <a:ext uri="{FF2B5EF4-FFF2-40B4-BE49-F238E27FC236}">
                <a16:creationId xmlns:a16="http://schemas.microsoft.com/office/drawing/2014/main" id="{6FB22BCB-7C12-0DE8-F04F-DBB8B2FCF746}"/>
              </a:ext>
            </a:extLst>
          </p:cNvPr>
          <p:cNvSpPr txBox="1"/>
          <p:nvPr/>
        </p:nvSpPr>
        <p:spPr>
          <a:xfrm>
            <a:off x="3418879" y="1428851"/>
            <a:ext cx="2306241" cy="307777"/>
          </a:xfrm>
          <a:prstGeom prst="rect">
            <a:avLst/>
          </a:prstGeom>
          <a:noFill/>
        </p:spPr>
        <p:txBody>
          <a:bodyPr wrap="square">
            <a:spAutoFit/>
          </a:bodyPr>
          <a:lstStyle/>
          <a:p>
            <a:pPr algn="ctr"/>
            <a:r>
              <a:rPr lang="en-US" altLang="zh-CN" sz="1400" b="1" dirty="0">
                <a:solidFill>
                  <a:srgbClr val="C00000"/>
                </a:solidFill>
                <a:latin typeface="微软雅黑" panose="020B0503020204020204" pitchFamily="34" charset="-122"/>
                <a:ea typeface="微软雅黑" panose="020B0503020204020204" pitchFamily="34" charset="-122"/>
              </a:rPr>
              <a:t>P</a:t>
            </a:r>
            <a:r>
              <a:rPr lang="en-US" altLang="zh-CN" sz="1400" b="1" baseline="-25000" dirty="0">
                <a:solidFill>
                  <a:srgbClr val="C00000"/>
                </a:solidFill>
                <a:latin typeface="微软雅黑" panose="020B0503020204020204" pitchFamily="34" charset="-122"/>
                <a:ea typeface="微软雅黑" panose="020B0503020204020204" pitchFamily="34" charset="-122"/>
              </a:rPr>
              <a:t>1</a:t>
            </a:r>
            <a:r>
              <a:rPr lang="en-US" altLang="zh-CN" sz="1400" b="1" dirty="0">
                <a:solidFill>
                  <a:srgbClr val="C00000"/>
                </a:solidFill>
                <a:latin typeface="微软雅黑" panose="020B0503020204020204" pitchFamily="34" charset="-122"/>
                <a:ea typeface="微软雅黑" panose="020B0503020204020204" pitchFamily="34" charset="-122"/>
              </a:rPr>
              <a:t>→P</a:t>
            </a:r>
            <a:r>
              <a:rPr lang="en-US" altLang="zh-CN" sz="1400" b="1" baseline="-25000" dirty="0">
                <a:solidFill>
                  <a:srgbClr val="C00000"/>
                </a:solidFill>
                <a:latin typeface="微软雅黑" panose="020B0503020204020204" pitchFamily="34" charset="-122"/>
                <a:ea typeface="微软雅黑" panose="020B0503020204020204" pitchFamily="34" charset="-122"/>
              </a:rPr>
              <a:t>4 </a:t>
            </a:r>
            <a:r>
              <a:rPr lang="en-US" altLang="zh-CN" sz="1400" b="1" dirty="0">
                <a:solidFill>
                  <a:srgbClr val="C00000"/>
                </a:solidFill>
                <a:latin typeface="微软雅黑" panose="020B0503020204020204" pitchFamily="34" charset="-122"/>
                <a:ea typeface="微软雅黑" panose="020B0503020204020204" pitchFamily="34" charset="-122"/>
              </a:rPr>
              <a:t>, P</a:t>
            </a:r>
            <a:r>
              <a:rPr lang="en-US" altLang="zh-CN" sz="1400" b="1" baseline="-25000" dirty="0">
                <a:solidFill>
                  <a:srgbClr val="C00000"/>
                </a:solidFill>
                <a:latin typeface="微软雅黑" panose="020B0503020204020204" pitchFamily="34" charset="-122"/>
                <a:ea typeface="微软雅黑" panose="020B0503020204020204" pitchFamily="34" charset="-122"/>
              </a:rPr>
              <a:t>2</a:t>
            </a:r>
            <a:r>
              <a:rPr lang="en-US" altLang="zh-CN" sz="1400" b="1" dirty="0">
                <a:solidFill>
                  <a:srgbClr val="C00000"/>
                </a:solidFill>
                <a:latin typeface="微软雅黑" panose="020B0503020204020204" pitchFamily="34" charset="-122"/>
                <a:ea typeface="微软雅黑" panose="020B0503020204020204" pitchFamily="34" charset="-122"/>
              </a:rPr>
              <a:t>→P</a:t>
            </a:r>
            <a:r>
              <a:rPr lang="en-US" altLang="zh-CN" sz="1400" b="1" baseline="-25000" dirty="0">
                <a:solidFill>
                  <a:srgbClr val="C00000"/>
                </a:solidFill>
                <a:latin typeface="微软雅黑" panose="020B0503020204020204" pitchFamily="34" charset="-122"/>
                <a:ea typeface="微软雅黑" panose="020B0503020204020204" pitchFamily="34" charset="-122"/>
              </a:rPr>
              <a:t>4 </a:t>
            </a:r>
            <a:r>
              <a:rPr lang="en-US" altLang="zh-CN" sz="1400" b="1" dirty="0">
                <a:solidFill>
                  <a:srgbClr val="C00000"/>
                </a:solidFill>
                <a:latin typeface="微软雅黑" panose="020B0503020204020204" pitchFamily="34" charset="-122"/>
                <a:ea typeface="微软雅黑" panose="020B0503020204020204" pitchFamily="34" charset="-122"/>
              </a:rPr>
              <a:t>, P</a:t>
            </a:r>
            <a:r>
              <a:rPr lang="en-US" altLang="zh-CN" sz="1400" b="1" baseline="-25000" dirty="0">
                <a:solidFill>
                  <a:srgbClr val="C00000"/>
                </a:solidFill>
                <a:latin typeface="微软雅黑" panose="020B0503020204020204" pitchFamily="34" charset="-122"/>
                <a:ea typeface="微软雅黑" panose="020B0503020204020204" pitchFamily="34" charset="-122"/>
              </a:rPr>
              <a:t>3</a:t>
            </a:r>
            <a:r>
              <a:rPr lang="en-US" altLang="zh-CN" sz="1400" b="1" dirty="0">
                <a:solidFill>
                  <a:srgbClr val="C00000"/>
                </a:solidFill>
                <a:latin typeface="微软雅黑" panose="020B0503020204020204" pitchFamily="34" charset="-122"/>
                <a:ea typeface="微软雅黑" panose="020B0503020204020204" pitchFamily="34" charset="-122"/>
              </a:rPr>
              <a:t>→P</a:t>
            </a:r>
            <a:r>
              <a:rPr lang="en-US" altLang="zh-CN" sz="1400" b="1" baseline="-25000" dirty="0">
                <a:solidFill>
                  <a:srgbClr val="C00000"/>
                </a:solidFill>
                <a:latin typeface="微软雅黑" panose="020B0503020204020204" pitchFamily="34" charset="-122"/>
                <a:ea typeface="微软雅黑" panose="020B0503020204020204" pitchFamily="34" charset="-122"/>
              </a:rPr>
              <a:t>5</a:t>
            </a:r>
            <a:endParaRPr lang="zh-CN" altLang="en-US" sz="1400" b="1" baseline="-2500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16778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2000" fill="hold" grpId="0" nodeType="clickEffect">
                                  <p:stCondLst>
                                    <p:cond delay="0"/>
                                  </p:stCondLst>
                                  <p:childTnLst>
                                    <p:anim calcmode="discrete" valueType="str">
                                      <p:cBhvr>
                                        <p:cTn id="6" dur="1000" fill="hold"/>
                                        <p:tgtEl>
                                          <p:spTgt spid="167"/>
                                        </p:tgtEl>
                                        <p:attrNameLst>
                                          <p:attrName>style.visibility</p:attrName>
                                        </p:attrNameLst>
                                      </p:cBhvr>
                                      <p:tavLst>
                                        <p:tav tm="0">
                                          <p:val>
                                            <p:strVal val="hidden"/>
                                          </p:val>
                                        </p:tav>
                                        <p:tav tm="50000">
                                          <p:val>
                                            <p:strVal val="visible"/>
                                          </p:val>
                                        </p:tav>
                                      </p:tavLst>
                                    </p:anim>
                                  </p:childTnLst>
                                </p:cTn>
                              </p:par>
                              <p:par>
                                <p:cTn id="7" presetID="35" presetClass="emph" presetSubtype="0" repeatCount="2000" fill="hold" grpId="0" nodeType="withEffect">
                                  <p:stCondLst>
                                    <p:cond delay="0"/>
                                  </p:stCondLst>
                                  <p:childTnLst>
                                    <p:anim calcmode="discrete" valueType="str">
                                      <p:cBhvr>
                                        <p:cTn id="8" dur="1000" fill="hold"/>
                                        <p:tgtEl>
                                          <p:spTgt spid="14">
                                            <p:txEl>
                                              <p:pRg st="0" end="0"/>
                                            </p:txEl>
                                          </p:spTgt>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35" presetClass="emph" presetSubtype="0" repeatCount="2000" fill="hold" grpId="0" nodeType="clickEffect">
                                  <p:stCondLst>
                                    <p:cond delay="0"/>
                                  </p:stCondLst>
                                  <p:childTnLst>
                                    <p:anim calcmode="discrete" valueType="str">
                                      <p:cBhvr>
                                        <p:cTn id="12" dur="1000" fill="hold"/>
                                        <p:tgtEl>
                                          <p:spTgt spid="168"/>
                                        </p:tgtEl>
                                        <p:attrNameLst>
                                          <p:attrName>style.visibility</p:attrName>
                                        </p:attrNameLst>
                                      </p:cBhvr>
                                      <p:tavLst>
                                        <p:tav tm="0">
                                          <p:val>
                                            <p:strVal val="hidden"/>
                                          </p:val>
                                        </p:tav>
                                        <p:tav tm="50000">
                                          <p:val>
                                            <p:strVal val="visible"/>
                                          </p:val>
                                        </p:tav>
                                      </p:tavLst>
                                    </p:anim>
                                  </p:childTnLst>
                                </p:cTn>
                              </p:par>
                              <p:par>
                                <p:cTn id="13" presetID="35" presetClass="emph" presetSubtype="0" repeatCount="2000" fill="hold" grpId="0" nodeType="withEffect">
                                  <p:stCondLst>
                                    <p:cond delay="0"/>
                                  </p:stCondLst>
                                  <p:childTnLst>
                                    <p:anim calcmode="discrete" valueType="str">
                                      <p:cBhvr>
                                        <p:cTn id="14" dur="1000" fill="hold"/>
                                        <p:tgtEl>
                                          <p:spTgt spid="14">
                                            <p:txEl>
                                              <p:pRg st="1" end="1"/>
                                            </p:txEl>
                                          </p:spTgt>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35" presetClass="emph" presetSubtype="0" repeatCount="3000" fill="hold" grpId="0" nodeType="clickEffect">
                                  <p:stCondLst>
                                    <p:cond delay="0"/>
                                  </p:stCondLst>
                                  <p:childTnLst>
                                    <p:anim calcmode="discrete" valueType="str">
                                      <p:cBhvr>
                                        <p:cTn id="18" dur="1000" fill="hold"/>
                                        <p:tgtEl>
                                          <p:spTgt spid="1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 grpId="0"/>
      <p:bldP spid="168" grpId="0"/>
      <p:bldP spid="14" grpId="0" uiExpand="1" build="p"/>
      <p:bldP spid="1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AutoShape 5"/>
          <p:cNvSpPr>
            <a:spLocks noChangeArrowheads="1"/>
          </p:cNvSpPr>
          <p:nvPr/>
        </p:nvSpPr>
        <p:spPr bwMode="auto">
          <a:xfrm>
            <a:off x="545145" y="62013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0" name="Rectangle 6"/>
          <p:cNvSpPr>
            <a:spLocks noChangeArrowheads="1"/>
          </p:cNvSpPr>
          <p:nvPr/>
        </p:nvSpPr>
        <p:spPr bwMode="auto">
          <a:xfrm>
            <a:off x="3055569" y="597049"/>
            <a:ext cx="30155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ea typeface="微软雅黑" pitchFamily="34" charset="-122"/>
              </a:rPr>
              <a:t>UDP </a:t>
            </a:r>
            <a:r>
              <a:rPr lang="zh-CN" altLang="en-US" sz="2000" b="1" dirty="0">
                <a:solidFill>
                  <a:schemeClr val="bg1"/>
                </a:solidFill>
                <a:ea typeface="微软雅黑" pitchFamily="34" charset="-122"/>
              </a:rPr>
              <a:t>通信和端口号的关系</a:t>
            </a:r>
          </a:p>
        </p:txBody>
      </p:sp>
      <p:sp>
        <p:nvSpPr>
          <p:cNvPr id="41" name="圆角矩形 40"/>
          <p:cNvSpPr/>
          <p:nvPr/>
        </p:nvSpPr>
        <p:spPr>
          <a:xfrm>
            <a:off x="545145" y="1017490"/>
            <a:ext cx="8053710" cy="275342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Rectangle 5"/>
          <p:cNvSpPr>
            <a:spLocks noChangeArrowheads="1"/>
          </p:cNvSpPr>
          <p:nvPr/>
        </p:nvSpPr>
        <p:spPr bwMode="auto">
          <a:xfrm>
            <a:off x="6664686" y="1128976"/>
            <a:ext cx="368561" cy="294470"/>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H</a:t>
            </a:r>
            <a:r>
              <a:rPr lang="en-US" altLang="zh-CN" sz="1400" b="1" baseline="-25000" dirty="0">
                <a:latin typeface="微软雅黑" panose="020B0503020204020204" pitchFamily="34" charset="-122"/>
                <a:ea typeface="微软雅黑" panose="020B0503020204020204" pitchFamily="34" charset="-122"/>
              </a:rPr>
              <a:t>2</a:t>
            </a:r>
            <a:endParaRPr lang="zh-CN" altLang="en-US" sz="1400" b="1" baseline="-25000" dirty="0">
              <a:latin typeface="微软雅黑" panose="020B0503020204020204" pitchFamily="34" charset="-122"/>
              <a:ea typeface="微软雅黑" panose="020B0503020204020204" pitchFamily="34" charset="-122"/>
            </a:endParaRPr>
          </a:p>
        </p:txBody>
      </p:sp>
      <p:sp>
        <p:nvSpPr>
          <p:cNvPr id="14" name="矩形 13"/>
          <p:cNvSpPr/>
          <p:nvPr/>
        </p:nvSpPr>
        <p:spPr>
          <a:xfrm>
            <a:off x="1317818" y="3745264"/>
            <a:ext cx="6831101" cy="1015663"/>
          </a:xfrm>
          <a:prstGeom prst="rect">
            <a:avLst/>
          </a:prstGeom>
        </p:spPr>
        <p:txBody>
          <a:bodyPr wrap="square">
            <a:spAutoFit/>
          </a:bodyPr>
          <a:lstStyle/>
          <a:p>
            <a:pPr>
              <a:lnSpc>
                <a:spcPts val="2400"/>
              </a:lnSpc>
              <a:buClr>
                <a:srgbClr val="0070C0"/>
              </a:buClr>
            </a:pPr>
            <a:r>
              <a:rPr lang="zh-CN" altLang="en-US" sz="1600" b="1" dirty="0">
                <a:solidFill>
                  <a:srgbClr val="C00000"/>
                </a:solidFill>
                <a:latin typeface="微软雅黑" pitchFamily="34" charset="-122"/>
                <a:ea typeface="微软雅黑" pitchFamily="34" charset="-122"/>
              </a:rPr>
              <a:t>复用：</a:t>
            </a:r>
            <a:r>
              <a:rPr lang="zh-CN" altLang="en-US" sz="1600" b="1" dirty="0">
                <a:latin typeface="微软雅黑" pitchFamily="34" charset="-122"/>
                <a:ea typeface="微软雅黑" pitchFamily="34" charset="-122"/>
              </a:rPr>
              <a:t>将 </a:t>
            </a:r>
            <a:r>
              <a:rPr lang="en-US" altLang="zh-CN" sz="1600" b="1" dirty="0">
                <a:latin typeface="微软雅黑" pitchFamily="34" charset="-122"/>
                <a:ea typeface="微软雅黑" pitchFamily="34" charset="-122"/>
              </a:rPr>
              <a:t>UDP </a:t>
            </a:r>
            <a:r>
              <a:rPr lang="zh-CN" altLang="en-US" sz="1600" b="1" dirty="0">
                <a:latin typeface="微软雅黑" pitchFamily="34" charset="-122"/>
                <a:ea typeface="微软雅黑" pitchFamily="34" charset="-122"/>
              </a:rPr>
              <a:t>用户数据报组装成不同的 </a:t>
            </a:r>
            <a:r>
              <a:rPr lang="en-US" altLang="zh-CN" sz="1600" b="1" dirty="0">
                <a:latin typeface="微软雅黑" pitchFamily="34" charset="-122"/>
                <a:ea typeface="微软雅黑" pitchFamily="34" charset="-122"/>
              </a:rPr>
              <a:t>IP </a:t>
            </a:r>
            <a:r>
              <a:rPr lang="zh-CN" altLang="en-US" sz="1600" b="1" dirty="0">
                <a:latin typeface="微软雅黑" pitchFamily="34" charset="-122"/>
                <a:ea typeface="微软雅黑" pitchFamily="34" charset="-122"/>
              </a:rPr>
              <a:t>数据报，发送到互联网。</a:t>
            </a:r>
            <a:endParaRPr lang="en-US" altLang="zh-CN" sz="1600" b="1" dirty="0">
              <a:latin typeface="微软雅黑" pitchFamily="34" charset="-122"/>
              <a:ea typeface="微软雅黑" pitchFamily="34" charset="-122"/>
            </a:endParaRPr>
          </a:p>
          <a:p>
            <a:pPr>
              <a:lnSpc>
                <a:spcPts val="2400"/>
              </a:lnSpc>
              <a:buClr>
                <a:srgbClr val="0070C0"/>
              </a:buClr>
            </a:pPr>
            <a:r>
              <a:rPr lang="zh-CN" altLang="en-US" sz="1600" b="1" dirty="0">
                <a:solidFill>
                  <a:srgbClr val="C00000"/>
                </a:solidFill>
                <a:latin typeface="微软雅黑" pitchFamily="34" charset="-122"/>
                <a:ea typeface="微软雅黑" pitchFamily="34" charset="-122"/>
              </a:rPr>
              <a:t>分用：</a:t>
            </a:r>
            <a:r>
              <a:rPr lang="zh-CN" altLang="en-US" sz="1600" b="1" dirty="0">
                <a:latin typeface="微软雅黑" pitchFamily="34" charset="-122"/>
                <a:ea typeface="微软雅黑" pitchFamily="34" charset="-122"/>
              </a:rPr>
              <a:t>根据 </a:t>
            </a:r>
            <a:r>
              <a:rPr lang="en-US" altLang="zh-CN" sz="1600" b="1" dirty="0">
                <a:latin typeface="微软雅黑" pitchFamily="34" charset="-122"/>
                <a:ea typeface="微软雅黑" pitchFamily="34" charset="-122"/>
              </a:rPr>
              <a:t>UDP </a:t>
            </a:r>
            <a:r>
              <a:rPr lang="zh-CN" altLang="en-US" sz="1600" b="1" dirty="0">
                <a:latin typeface="微软雅黑" pitchFamily="34" charset="-122"/>
                <a:ea typeface="微软雅黑" pitchFamily="34" charset="-122"/>
              </a:rPr>
              <a:t>用户数据报首部中的目的端口号，将数据报分别传送到相应的端口，以便应用进程到端口读取数据。</a:t>
            </a:r>
            <a:endParaRPr lang="en-US" altLang="zh-CN" sz="1600" b="1" dirty="0">
              <a:latin typeface="微软雅黑" pitchFamily="34" charset="-122"/>
              <a:ea typeface="微软雅黑" pitchFamily="34" charset="-122"/>
            </a:endParaRPr>
          </a:p>
        </p:txBody>
      </p:sp>
      <p:sp>
        <p:nvSpPr>
          <p:cNvPr id="15" name="矩形 14"/>
          <p:cNvSpPr/>
          <p:nvPr/>
        </p:nvSpPr>
        <p:spPr>
          <a:xfrm>
            <a:off x="3813128" y="1069966"/>
            <a:ext cx="1415772" cy="338554"/>
          </a:xfrm>
          <a:prstGeom prst="rect">
            <a:avLst/>
          </a:prstGeom>
          <a:solidFill>
            <a:srgbClr val="000099"/>
          </a:solidFill>
        </p:spPr>
        <p:txBody>
          <a:bodyPr wrap="none">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一对多的通信</a:t>
            </a:r>
          </a:p>
        </p:txBody>
      </p:sp>
      <p:sp>
        <p:nvSpPr>
          <p:cNvPr id="42" name="矩形 41"/>
          <p:cNvSpPr/>
          <p:nvPr/>
        </p:nvSpPr>
        <p:spPr bwMode="auto">
          <a:xfrm>
            <a:off x="6347487" y="1962182"/>
            <a:ext cx="302715"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4" name="矩形 43"/>
          <p:cNvSpPr/>
          <p:nvPr/>
        </p:nvSpPr>
        <p:spPr bwMode="auto">
          <a:xfrm>
            <a:off x="6418459" y="2147509"/>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5" name="矩形 44"/>
          <p:cNvSpPr/>
          <p:nvPr/>
        </p:nvSpPr>
        <p:spPr bwMode="auto">
          <a:xfrm>
            <a:off x="1672074" y="1962182"/>
            <a:ext cx="302715"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7" name="矩形 46"/>
          <p:cNvSpPr/>
          <p:nvPr/>
        </p:nvSpPr>
        <p:spPr bwMode="auto">
          <a:xfrm>
            <a:off x="2200738" y="1968308"/>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8" name="矩形 47"/>
          <p:cNvSpPr/>
          <p:nvPr/>
        </p:nvSpPr>
        <p:spPr bwMode="auto">
          <a:xfrm>
            <a:off x="2723608" y="1962182"/>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3" name="矩形 52"/>
          <p:cNvSpPr/>
          <p:nvPr/>
        </p:nvSpPr>
        <p:spPr bwMode="auto">
          <a:xfrm>
            <a:off x="2788786" y="2086243"/>
            <a:ext cx="172358" cy="56671"/>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4" name="矩形 53"/>
          <p:cNvSpPr/>
          <p:nvPr/>
        </p:nvSpPr>
        <p:spPr bwMode="auto">
          <a:xfrm>
            <a:off x="2273158" y="2142914"/>
            <a:ext cx="172358"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5" name="矩形 54"/>
          <p:cNvSpPr/>
          <p:nvPr/>
        </p:nvSpPr>
        <p:spPr bwMode="auto">
          <a:xfrm>
            <a:off x="2263019" y="2087775"/>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6" name="矩形 55"/>
          <p:cNvSpPr/>
          <p:nvPr/>
        </p:nvSpPr>
        <p:spPr bwMode="auto">
          <a:xfrm>
            <a:off x="2270261" y="2029574"/>
            <a:ext cx="170910"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7" name="矩形 56"/>
          <p:cNvSpPr/>
          <p:nvPr/>
        </p:nvSpPr>
        <p:spPr bwMode="auto">
          <a:xfrm>
            <a:off x="1740149" y="2028041"/>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8" name="矩形 57"/>
          <p:cNvSpPr/>
          <p:nvPr/>
        </p:nvSpPr>
        <p:spPr bwMode="auto">
          <a:xfrm>
            <a:off x="2793131" y="2029574"/>
            <a:ext cx="170910"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9" name="矩形 48"/>
          <p:cNvSpPr>
            <a:spLocks noChangeArrowheads="1"/>
          </p:cNvSpPr>
          <p:nvPr/>
        </p:nvSpPr>
        <p:spPr bwMode="auto">
          <a:xfrm>
            <a:off x="1737252" y="2029574"/>
            <a:ext cx="170910"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60" name="直接连接符 50"/>
          <p:cNvCxnSpPr>
            <a:cxnSpLocks noChangeShapeType="1"/>
          </p:cNvCxnSpPr>
          <p:nvPr/>
        </p:nvCxnSpPr>
        <p:spPr bwMode="auto">
          <a:xfrm>
            <a:off x="1737252" y="2084712"/>
            <a:ext cx="170910" cy="0"/>
          </a:xfrm>
          <a:prstGeom prst="line">
            <a:avLst/>
          </a:prstGeom>
          <a:noFill/>
          <a:ln w="9525" algn="ctr">
            <a:solidFill>
              <a:schemeClr val="tx1"/>
            </a:solidFill>
            <a:round/>
            <a:headEnd/>
            <a:tailEnd/>
          </a:ln>
        </p:spPr>
      </p:cxnSp>
      <p:cxnSp>
        <p:nvCxnSpPr>
          <p:cNvPr id="61" name="直接连接符 51"/>
          <p:cNvCxnSpPr>
            <a:cxnSpLocks noChangeShapeType="1"/>
          </p:cNvCxnSpPr>
          <p:nvPr/>
        </p:nvCxnSpPr>
        <p:spPr bwMode="auto">
          <a:xfrm>
            <a:off x="1737252" y="2084712"/>
            <a:ext cx="170910" cy="0"/>
          </a:xfrm>
          <a:prstGeom prst="line">
            <a:avLst/>
          </a:prstGeom>
          <a:noFill/>
          <a:ln w="9525" algn="ctr">
            <a:solidFill>
              <a:schemeClr val="tx1"/>
            </a:solidFill>
            <a:round/>
            <a:headEnd/>
            <a:tailEnd/>
          </a:ln>
        </p:spPr>
      </p:cxnSp>
      <p:cxnSp>
        <p:nvCxnSpPr>
          <p:cNvPr id="63" name="直接连接符 52"/>
          <p:cNvCxnSpPr>
            <a:cxnSpLocks noChangeShapeType="1"/>
          </p:cNvCxnSpPr>
          <p:nvPr/>
        </p:nvCxnSpPr>
        <p:spPr bwMode="auto">
          <a:xfrm>
            <a:off x="1737252" y="2142914"/>
            <a:ext cx="170910" cy="0"/>
          </a:xfrm>
          <a:prstGeom prst="line">
            <a:avLst/>
          </a:prstGeom>
          <a:noFill/>
          <a:ln w="9525" algn="ctr">
            <a:solidFill>
              <a:schemeClr val="tx1"/>
            </a:solidFill>
            <a:round/>
            <a:headEnd/>
            <a:tailEnd/>
          </a:ln>
        </p:spPr>
      </p:cxnSp>
      <p:cxnSp>
        <p:nvCxnSpPr>
          <p:cNvPr id="64" name="直接连接符 53"/>
          <p:cNvCxnSpPr>
            <a:cxnSpLocks noChangeShapeType="1"/>
          </p:cNvCxnSpPr>
          <p:nvPr/>
        </p:nvCxnSpPr>
        <p:spPr bwMode="auto">
          <a:xfrm>
            <a:off x="1737252" y="2193457"/>
            <a:ext cx="170910" cy="0"/>
          </a:xfrm>
          <a:prstGeom prst="line">
            <a:avLst/>
          </a:prstGeom>
          <a:noFill/>
          <a:ln w="9525" algn="ctr">
            <a:solidFill>
              <a:schemeClr val="tx1"/>
            </a:solidFill>
            <a:round/>
            <a:headEnd/>
            <a:tailEnd/>
          </a:ln>
        </p:spPr>
      </p:cxnSp>
      <p:cxnSp>
        <p:nvCxnSpPr>
          <p:cNvPr id="65" name="直接连接符 54"/>
          <p:cNvCxnSpPr>
            <a:cxnSpLocks noChangeShapeType="1"/>
          </p:cNvCxnSpPr>
          <p:nvPr/>
        </p:nvCxnSpPr>
        <p:spPr bwMode="auto">
          <a:xfrm>
            <a:off x="1737252" y="2251659"/>
            <a:ext cx="170910" cy="0"/>
          </a:xfrm>
          <a:prstGeom prst="line">
            <a:avLst/>
          </a:prstGeom>
          <a:noFill/>
          <a:ln w="9525" algn="ctr">
            <a:solidFill>
              <a:schemeClr val="tx1"/>
            </a:solidFill>
            <a:round/>
            <a:headEnd/>
            <a:tailEnd/>
          </a:ln>
        </p:spPr>
      </p:cxnSp>
      <p:sp>
        <p:nvSpPr>
          <p:cNvPr id="68" name="矩形 55"/>
          <p:cNvSpPr>
            <a:spLocks noChangeArrowheads="1"/>
          </p:cNvSpPr>
          <p:nvPr/>
        </p:nvSpPr>
        <p:spPr bwMode="auto">
          <a:xfrm>
            <a:off x="2267364" y="2029574"/>
            <a:ext cx="170910"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71" name="直接连接符 56"/>
          <p:cNvCxnSpPr>
            <a:cxnSpLocks noChangeShapeType="1"/>
          </p:cNvCxnSpPr>
          <p:nvPr/>
        </p:nvCxnSpPr>
        <p:spPr bwMode="auto">
          <a:xfrm>
            <a:off x="2267364" y="2084712"/>
            <a:ext cx="170910" cy="0"/>
          </a:xfrm>
          <a:prstGeom prst="line">
            <a:avLst/>
          </a:prstGeom>
          <a:noFill/>
          <a:ln w="9525" algn="ctr">
            <a:solidFill>
              <a:schemeClr val="tx1"/>
            </a:solidFill>
            <a:round/>
            <a:headEnd/>
            <a:tailEnd/>
          </a:ln>
        </p:spPr>
      </p:cxnSp>
      <p:cxnSp>
        <p:nvCxnSpPr>
          <p:cNvPr id="72" name="直接连接符 57"/>
          <p:cNvCxnSpPr>
            <a:cxnSpLocks noChangeShapeType="1"/>
          </p:cNvCxnSpPr>
          <p:nvPr/>
        </p:nvCxnSpPr>
        <p:spPr bwMode="auto">
          <a:xfrm>
            <a:off x="2267364" y="2084712"/>
            <a:ext cx="170910" cy="0"/>
          </a:xfrm>
          <a:prstGeom prst="line">
            <a:avLst/>
          </a:prstGeom>
          <a:noFill/>
          <a:ln w="9525" algn="ctr">
            <a:solidFill>
              <a:schemeClr val="tx1"/>
            </a:solidFill>
            <a:round/>
            <a:headEnd/>
            <a:tailEnd/>
          </a:ln>
        </p:spPr>
      </p:cxnSp>
      <p:cxnSp>
        <p:nvCxnSpPr>
          <p:cNvPr id="80" name="直接连接符 58"/>
          <p:cNvCxnSpPr>
            <a:cxnSpLocks noChangeShapeType="1"/>
          </p:cNvCxnSpPr>
          <p:nvPr/>
        </p:nvCxnSpPr>
        <p:spPr bwMode="auto">
          <a:xfrm>
            <a:off x="2267364" y="2142914"/>
            <a:ext cx="170910" cy="0"/>
          </a:xfrm>
          <a:prstGeom prst="line">
            <a:avLst/>
          </a:prstGeom>
          <a:noFill/>
          <a:ln w="9525" algn="ctr">
            <a:solidFill>
              <a:schemeClr val="tx1"/>
            </a:solidFill>
            <a:round/>
            <a:headEnd/>
            <a:tailEnd/>
          </a:ln>
        </p:spPr>
      </p:cxnSp>
      <p:cxnSp>
        <p:nvCxnSpPr>
          <p:cNvPr id="81" name="直接连接符 59"/>
          <p:cNvCxnSpPr>
            <a:cxnSpLocks noChangeShapeType="1"/>
          </p:cNvCxnSpPr>
          <p:nvPr/>
        </p:nvCxnSpPr>
        <p:spPr bwMode="auto">
          <a:xfrm>
            <a:off x="2267364" y="2193457"/>
            <a:ext cx="170910" cy="0"/>
          </a:xfrm>
          <a:prstGeom prst="line">
            <a:avLst/>
          </a:prstGeom>
          <a:noFill/>
          <a:ln w="9525" algn="ctr">
            <a:solidFill>
              <a:schemeClr val="tx1"/>
            </a:solidFill>
            <a:round/>
            <a:headEnd/>
            <a:tailEnd/>
          </a:ln>
        </p:spPr>
      </p:cxnSp>
      <p:cxnSp>
        <p:nvCxnSpPr>
          <p:cNvPr id="85" name="直接连接符 60"/>
          <p:cNvCxnSpPr>
            <a:cxnSpLocks noChangeShapeType="1"/>
          </p:cNvCxnSpPr>
          <p:nvPr/>
        </p:nvCxnSpPr>
        <p:spPr bwMode="auto">
          <a:xfrm>
            <a:off x="2267364" y="2251659"/>
            <a:ext cx="170910" cy="0"/>
          </a:xfrm>
          <a:prstGeom prst="line">
            <a:avLst/>
          </a:prstGeom>
          <a:noFill/>
          <a:ln w="9525" algn="ctr">
            <a:solidFill>
              <a:schemeClr val="tx1"/>
            </a:solidFill>
            <a:round/>
            <a:headEnd/>
            <a:tailEnd/>
          </a:ln>
        </p:spPr>
      </p:cxnSp>
      <p:sp>
        <p:nvSpPr>
          <p:cNvPr id="89" name="矩形 61"/>
          <p:cNvSpPr>
            <a:spLocks noChangeArrowheads="1"/>
          </p:cNvSpPr>
          <p:nvPr/>
        </p:nvSpPr>
        <p:spPr bwMode="auto">
          <a:xfrm>
            <a:off x="2793131" y="2029574"/>
            <a:ext cx="169462"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90" name="直接连接符 62"/>
          <p:cNvCxnSpPr>
            <a:cxnSpLocks noChangeShapeType="1"/>
          </p:cNvCxnSpPr>
          <p:nvPr/>
        </p:nvCxnSpPr>
        <p:spPr bwMode="auto">
          <a:xfrm>
            <a:off x="2793131" y="2084712"/>
            <a:ext cx="169462" cy="0"/>
          </a:xfrm>
          <a:prstGeom prst="line">
            <a:avLst/>
          </a:prstGeom>
          <a:noFill/>
          <a:ln w="9525" algn="ctr">
            <a:solidFill>
              <a:schemeClr val="tx1"/>
            </a:solidFill>
            <a:round/>
            <a:headEnd/>
            <a:tailEnd/>
          </a:ln>
        </p:spPr>
      </p:cxnSp>
      <p:cxnSp>
        <p:nvCxnSpPr>
          <p:cNvPr id="92" name="直接连接符 63"/>
          <p:cNvCxnSpPr>
            <a:cxnSpLocks noChangeShapeType="1"/>
          </p:cNvCxnSpPr>
          <p:nvPr/>
        </p:nvCxnSpPr>
        <p:spPr bwMode="auto">
          <a:xfrm>
            <a:off x="2793131" y="2084712"/>
            <a:ext cx="169462" cy="0"/>
          </a:xfrm>
          <a:prstGeom prst="line">
            <a:avLst/>
          </a:prstGeom>
          <a:noFill/>
          <a:ln w="9525" algn="ctr">
            <a:solidFill>
              <a:schemeClr val="tx1"/>
            </a:solidFill>
            <a:round/>
            <a:headEnd/>
            <a:tailEnd/>
          </a:ln>
        </p:spPr>
      </p:cxnSp>
      <p:cxnSp>
        <p:nvCxnSpPr>
          <p:cNvPr id="93" name="直接连接符 64"/>
          <p:cNvCxnSpPr>
            <a:cxnSpLocks noChangeShapeType="1"/>
          </p:cNvCxnSpPr>
          <p:nvPr/>
        </p:nvCxnSpPr>
        <p:spPr bwMode="auto">
          <a:xfrm>
            <a:off x="2793131" y="2142914"/>
            <a:ext cx="169462" cy="0"/>
          </a:xfrm>
          <a:prstGeom prst="line">
            <a:avLst/>
          </a:prstGeom>
          <a:noFill/>
          <a:ln w="9525" algn="ctr">
            <a:solidFill>
              <a:schemeClr val="tx1"/>
            </a:solidFill>
            <a:round/>
            <a:headEnd/>
            <a:tailEnd/>
          </a:ln>
        </p:spPr>
      </p:cxnSp>
      <p:cxnSp>
        <p:nvCxnSpPr>
          <p:cNvPr id="94" name="直接连接符 65"/>
          <p:cNvCxnSpPr>
            <a:cxnSpLocks noChangeShapeType="1"/>
          </p:cNvCxnSpPr>
          <p:nvPr/>
        </p:nvCxnSpPr>
        <p:spPr bwMode="auto">
          <a:xfrm>
            <a:off x="2793131" y="2193457"/>
            <a:ext cx="169462" cy="0"/>
          </a:xfrm>
          <a:prstGeom prst="line">
            <a:avLst/>
          </a:prstGeom>
          <a:noFill/>
          <a:ln w="9525" algn="ctr">
            <a:solidFill>
              <a:schemeClr val="tx1"/>
            </a:solidFill>
            <a:round/>
            <a:headEnd/>
            <a:tailEnd/>
          </a:ln>
        </p:spPr>
      </p:cxnSp>
      <p:cxnSp>
        <p:nvCxnSpPr>
          <p:cNvPr id="95" name="直接连接符 66"/>
          <p:cNvCxnSpPr>
            <a:cxnSpLocks noChangeShapeType="1"/>
          </p:cNvCxnSpPr>
          <p:nvPr/>
        </p:nvCxnSpPr>
        <p:spPr bwMode="auto">
          <a:xfrm>
            <a:off x="2793131" y="2251659"/>
            <a:ext cx="169462" cy="0"/>
          </a:xfrm>
          <a:prstGeom prst="line">
            <a:avLst/>
          </a:prstGeom>
          <a:noFill/>
          <a:ln w="9525" algn="ctr">
            <a:solidFill>
              <a:schemeClr val="tx1"/>
            </a:solidFill>
            <a:round/>
            <a:headEnd/>
            <a:tailEnd/>
          </a:ln>
        </p:spPr>
      </p:cxnSp>
      <p:sp>
        <p:nvSpPr>
          <p:cNvPr id="96" name="矩形 99"/>
          <p:cNvSpPr>
            <a:spLocks noChangeArrowheads="1"/>
          </p:cNvSpPr>
          <p:nvPr/>
        </p:nvSpPr>
        <p:spPr bwMode="auto">
          <a:xfrm>
            <a:off x="1540271" y="1476655"/>
            <a:ext cx="1642478" cy="485527"/>
          </a:xfrm>
          <a:prstGeom prst="rect">
            <a:avLst/>
          </a:prstGeom>
          <a:solidFill>
            <a:schemeClr val="accent6">
              <a:lumMod val="60000"/>
              <a:lumOff val="40000"/>
            </a:schemeClr>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97" name="矩形 100"/>
          <p:cNvSpPr>
            <a:spLocks noChangeArrowheads="1"/>
          </p:cNvSpPr>
          <p:nvPr/>
        </p:nvSpPr>
        <p:spPr bwMode="auto">
          <a:xfrm>
            <a:off x="1527235" y="2319051"/>
            <a:ext cx="1642478" cy="416603"/>
          </a:xfrm>
          <a:prstGeom prst="rect">
            <a:avLst/>
          </a:prstGeom>
          <a:solidFill>
            <a:srgbClr val="FF99FF"/>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98" name="直接箭头连接符 105"/>
          <p:cNvCxnSpPr>
            <a:cxnSpLocks noChangeShapeType="1"/>
          </p:cNvCxnSpPr>
          <p:nvPr/>
        </p:nvCxnSpPr>
        <p:spPr bwMode="auto">
          <a:xfrm>
            <a:off x="1828501" y="1830462"/>
            <a:ext cx="0" cy="208301"/>
          </a:xfrm>
          <a:prstGeom prst="straightConnector1">
            <a:avLst/>
          </a:prstGeom>
          <a:noFill/>
          <a:ln w="12700" algn="ctr">
            <a:solidFill>
              <a:schemeClr val="tx1"/>
            </a:solidFill>
            <a:round/>
            <a:headEnd/>
            <a:tailEnd type="triangle" w="sm" len="lg"/>
          </a:ln>
        </p:spPr>
      </p:cxnSp>
      <p:cxnSp>
        <p:nvCxnSpPr>
          <p:cNvPr id="99" name="直接箭头连接符 106"/>
          <p:cNvCxnSpPr>
            <a:cxnSpLocks noChangeShapeType="1"/>
          </p:cNvCxnSpPr>
          <p:nvPr/>
        </p:nvCxnSpPr>
        <p:spPr bwMode="auto">
          <a:xfrm>
            <a:off x="2345578" y="1839652"/>
            <a:ext cx="0" cy="209833"/>
          </a:xfrm>
          <a:prstGeom prst="straightConnector1">
            <a:avLst/>
          </a:prstGeom>
          <a:noFill/>
          <a:ln w="12700" algn="ctr">
            <a:solidFill>
              <a:schemeClr val="tx1"/>
            </a:solidFill>
            <a:round/>
            <a:headEnd/>
            <a:tailEnd type="triangle" w="sm" len="lg"/>
          </a:ln>
        </p:spPr>
      </p:cxnSp>
      <p:cxnSp>
        <p:nvCxnSpPr>
          <p:cNvPr id="100" name="直接箭头连接符 107"/>
          <p:cNvCxnSpPr>
            <a:cxnSpLocks noChangeShapeType="1"/>
          </p:cNvCxnSpPr>
          <p:nvPr/>
        </p:nvCxnSpPr>
        <p:spPr bwMode="auto">
          <a:xfrm>
            <a:off x="2881483" y="1822803"/>
            <a:ext cx="0" cy="209834"/>
          </a:xfrm>
          <a:prstGeom prst="straightConnector1">
            <a:avLst/>
          </a:prstGeom>
          <a:noFill/>
          <a:ln w="12700" algn="ctr">
            <a:solidFill>
              <a:schemeClr val="tx1"/>
            </a:solidFill>
            <a:round/>
            <a:headEnd/>
            <a:tailEnd type="triangle" w="sm" len="lg"/>
          </a:ln>
        </p:spPr>
      </p:cxnSp>
      <p:sp>
        <p:nvSpPr>
          <p:cNvPr id="101" name="Rectangle 5"/>
          <p:cNvSpPr>
            <a:spLocks noChangeArrowheads="1"/>
          </p:cNvSpPr>
          <p:nvPr/>
        </p:nvSpPr>
        <p:spPr bwMode="auto">
          <a:xfrm>
            <a:off x="816074" y="1562426"/>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应用层</a:t>
            </a:r>
          </a:p>
        </p:txBody>
      </p:sp>
      <p:sp>
        <p:nvSpPr>
          <p:cNvPr id="102" name="Rectangle 5"/>
          <p:cNvSpPr>
            <a:spLocks noChangeArrowheads="1"/>
          </p:cNvSpPr>
          <p:nvPr/>
        </p:nvSpPr>
        <p:spPr bwMode="auto">
          <a:xfrm>
            <a:off x="794348" y="2389914"/>
            <a:ext cx="721352" cy="305212"/>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传输层</a:t>
            </a:r>
          </a:p>
        </p:txBody>
      </p:sp>
      <p:sp>
        <p:nvSpPr>
          <p:cNvPr id="103" name="Rectangle 5"/>
          <p:cNvSpPr>
            <a:spLocks noChangeArrowheads="1"/>
          </p:cNvSpPr>
          <p:nvPr/>
        </p:nvSpPr>
        <p:spPr bwMode="auto">
          <a:xfrm>
            <a:off x="884148" y="1989077"/>
            <a:ext cx="541816" cy="305212"/>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solidFill>
                  <a:srgbClr val="0000FF"/>
                </a:solidFill>
                <a:latin typeface="微软雅黑" panose="020B0503020204020204" pitchFamily="34" charset="-122"/>
                <a:ea typeface="微软雅黑" panose="020B0503020204020204" pitchFamily="34" charset="-122"/>
              </a:rPr>
              <a:t>端口</a:t>
            </a:r>
          </a:p>
        </p:txBody>
      </p:sp>
      <p:sp>
        <p:nvSpPr>
          <p:cNvPr id="104" name="Rectangle 74"/>
          <p:cNvSpPr>
            <a:spLocks noChangeArrowheads="1"/>
          </p:cNvSpPr>
          <p:nvPr/>
        </p:nvSpPr>
        <p:spPr bwMode="auto">
          <a:xfrm>
            <a:off x="1452818" y="2024937"/>
            <a:ext cx="286939"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a</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5" name="Rectangle 74"/>
          <p:cNvSpPr>
            <a:spLocks noChangeArrowheads="1"/>
          </p:cNvSpPr>
          <p:nvPr/>
        </p:nvSpPr>
        <p:spPr bwMode="auto">
          <a:xfrm>
            <a:off x="1971068" y="2024937"/>
            <a:ext cx="302969"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b</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6" name="Rectangle 74"/>
          <p:cNvSpPr>
            <a:spLocks noChangeArrowheads="1"/>
          </p:cNvSpPr>
          <p:nvPr/>
        </p:nvSpPr>
        <p:spPr bwMode="auto">
          <a:xfrm>
            <a:off x="2518835" y="2024937"/>
            <a:ext cx="275718"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c</a:t>
            </a:r>
            <a:endParaRPr lang="zh-CN" altLang="en-US" sz="1400" b="1">
              <a:solidFill>
                <a:srgbClr val="0000FF"/>
              </a:solidFill>
              <a:latin typeface="微软雅黑" panose="020B0503020204020204" pitchFamily="34" charset="-122"/>
              <a:ea typeface="微软雅黑" panose="020B0503020204020204" pitchFamily="34" charset="-122"/>
            </a:endParaRPr>
          </a:p>
        </p:txBody>
      </p:sp>
      <p:cxnSp>
        <p:nvCxnSpPr>
          <p:cNvPr id="108" name="直接箭头连接符 117"/>
          <p:cNvCxnSpPr>
            <a:cxnSpLocks noChangeShapeType="1"/>
          </p:cNvCxnSpPr>
          <p:nvPr/>
        </p:nvCxnSpPr>
        <p:spPr bwMode="auto">
          <a:xfrm>
            <a:off x="1819810" y="2315988"/>
            <a:ext cx="517077" cy="425793"/>
          </a:xfrm>
          <a:prstGeom prst="straightConnector1">
            <a:avLst/>
          </a:prstGeom>
          <a:noFill/>
          <a:ln w="12700" algn="ctr">
            <a:solidFill>
              <a:schemeClr val="tx1"/>
            </a:solidFill>
            <a:round/>
            <a:headEnd/>
            <a:tailEnd type="triangle" w="sm" len="lg"/>
          </a:ln>
        </p:spPr>
      </p:cxnSp>
      <p:cxnSp>
        <p:nvCxnSpPr>
          <p:cNvPr id="109" name="直接箭头连接符 118"/>
          <p:cNvCxnSpPr>
            <a:cxnSpLocks noChangeShapeType="1"/>
          </p:cNvCxnSpPr>
          <p:nvPr/>
        </p:nvCxnSpPr>
        <p:spPr bwMode="auto">
          <a:xfrm flipH="1">
            <a:off x="2332542" y="2319051"/>
            <a:ext cx="541699" cy="418135"/>
          </a:xfrm>
          <a:prstGeom prst="straightConnector1">
            <a:avLst/>
          </a:prstGeom>
          <a:noFill/>
          <a:ln w="12700" algn="ctr">
            <a:solidFill>
              <a:schemeClr val="tx1"/>
            </a:solidFill>
            <a:round/>
            <a:headEnd/>
            <a:tailEnd type="triangle" w="sm" len="lg"/>
          </a:ln>
        </p:spPr>
      </p:cxnSp>
      <p:sp>
        <p:nvSpPr>
          <p:cNvPr id="110" name="椭圆 121"/>
          <p:cNvSpPr>
            <a:spLocks noChangeArrowheads="1"/>
          </p:cNvSpPr>
          <p:nvPr/>
        </p:nvSpPr>
        <p:spPr bwMode="auto">
          <a:xfrm>
            <a:off x="2299229" y="2717274"/>
            <a:ext cx="66626" cy="70455"/>
          </a:xfrm>
          <a:prstGeom prst="ellipse">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11" name="Rectangle 26"/>
          <p:cNvSpPr>
            <a:spLocks noChangeArrowheads="1"/>
          </p:cNvSpPr>
          <p:nvPr/>
        </p:nvSpPr>
        <p:spPr bwMode="auto">
          <a:xfrm>
            <a:off x="2038392" y="3433721"/>
            <a:ext cx="5261057" cy="274434"/>
          </a:xfrm>
          <a:prstGeom prst="rect">
            <a:avLst/>
          </a:prstGeom>
          <a:noFill/>
          <a:ln w="12700">
            <a:noFill/>
            <a:miter lim="800000"/>
            <a:headEnd/>
            <a:tailEnd/>
          </a:ln>
        </p:spPr>
        <p:txBody>
          <a:bodyPr wrap="none" lIns="90488" tIns="44450" rIns="90488" bIns="44450">
            <a:spAutoFit/>
          </a:bodyPr>
          <a:lstStyle/>
          <a:p>
            <a:pPr algn="ctr" defTabSz="762000" eaLnBrk="0" hangingPunct="0"/>
            <a:r>
              <a:rPr lang="zh-CN" altLang="en-US" sz="1200" b="1" dirty="0">
                <a:latin typeface="微软雅黑" panose="020B0503020204020204" pitchFamily="34" charset="-122"/>
                <a:ea typeface="微软雅黑" panose="020B0503020204020204" pitchFamily="34" charset="-122"/>
              </a:rPr>
              <a:t>（请注意：传输层之间的这条虚线不是一条连接，表示的是一条逻辑通道）</a:t>
            </a:r>
          </a:p>
        </p:txBody>
      </p:sp>
      <p:sp>
        <p:nvSpPr>
          <p:cNvPr id="112" name="矩形 111"/>
          <p:cNvSpPr/>
          <p:nvPr/>
        </p:nvSpPr>
        <p:spPr bwMode="auto">
          <a:xfrm>
            <a:off x="6983332" y="1962182"/>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5" name="矩形 114"/>
          <p:cNvSpPr/>
          <p:nvPr/>
        </p:nvSpPr>
        <p:spPr bwMode="auto">
          <a:xfrm>
            <a:off x="7048510" y="2086243"/>
            <a:ext cx="172359" cy="56671"/>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6" name="矩形 115"/>
          <p:cNvSpPr/>
          <p:nvPr/>
        </p:nvSpPr>
        <p:spPr bwMode="auto">
          <a:xfrm>
            <a:off x="6415562" y="2028041"/>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7" name="矩形 116"/>
          <p:cNvSpPr/>
          <p:nvPr/>
        </p:nvSpPr>
        <p:spPr bwMode="auto">
          <a:xfrm>
            <a:off x="7052855" y="2029574"/>
            <a:ext cx="170910"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cxnSp>
        <p:nvCxnSpPr>
          <p:cNvPr id="118" name="直接连接符 50"/>
          <p:cNvCxnSpPr>
            <a:cxnSpLocks noChangeShapeType="1"/>
          </p:cNvCxnSpPr>
          <p:nvPr/>
        </p:nvCxnSpPr>
        <p:spPr bwMode="auto">
          <a:xfrm>
            <a:off x="6412665" y="2084712"/>
            <a:ext cx="170910" cy="0"/>
          </a:xfrm>
          <a:prstGeom prst="line">
            <a:avLst/>
          </a:prstGeom>
          <a:noFill/>
          <a:ln w="9525" algn="ctr">
            <a:solidFill>
              <a:schemeClr val="tx1"/>
            </a:solidFill>
            <a:round/>
            <a:headEnd/>
            <a:tailEnd/>
          </a:ln>
        </p:spPr>
      </p:cxnSp>
      <p:cxnSp>
        <p:nvCxnSpPr>
          <p:cNvPr id="119" name="直接连接符 51"/>
          <p:cNvCxnSpPr>
            <a:cxnSpLocks noChangeShapeType="1"/>
          </p:cNvCxnSpPr>
          <p:nvPr/>
        </p:nvCxnSpPr>
        <p:spPr bwMode="auto">
          <a:xfrm>
            <a:off x="6412665" y="2084712"/>
            <a:ext cx="170910" cy="0"/>
          </a:xfrm>
          <a:prstGeom prst="line">
            <a:avLst/>
          </a:prstGeom>
          <a:noFill/>
          <a:ln w="9525" algn="ctr">
            <a:solidFill>
              <a:schemeClr val="tx1"/>
            </a:solidFill>
            <a:round/>
            <a:headEnd/>
            <a:tailEnd/>
          </a:ln>
        </p:spPr>
      </p:cxnSp>
      <p:cxnSp>
        <p:nvCxnSpPr>
          <p:cNvPr id="120" name="直接连接符 52"/>
          <p:cNvCxnSpPr>
            <a:cxnSpLocks noChangeShapeType="1"/>
          </p:cNvCxnSpPr>
          <p:nvPr/>
        </p:nvCxnSpPr>
        <p:spPr bwMode="auto">
          <a:xfrm>
            <a:off x="6412665" y="2142914"/>
            <a:ext cx="170910" cy="0"/>
          </a:xfrm>
          <a:prstGeom prst="line">
            <a:avLst/>
          </a:prstGeom>
          <a:noFill/>
          <a:ln w="9525" algn="ctr">
            <a:solidFill>
              <a:schemeClr val="tx1"/>
            </a:solidFill>
            <a:round/>
            <a:headEnd/>
            <a:tailEnd/>
          </a:ln>
        </p:spPr>
      </p:cxnSp>
      <p:cxnSp>
        <p:nvCxnSpPr>
          <p:cNvPr id="121" name="直接连接符 53"/>
          <p:cNvCxnSpPr>
            <a:cxnSpLocks noChangeShapeType="1"/>
          </p:cNvCxnSpPr>
          <p:nvPr/>
        </p:nvCxnSpPr>
        <p:spPr bwMode="auto">
          <a:xfrm>
            <a:off x="6412665" y="2193457"/>
            <a:ext cx="170910" cy="0"/>
          </a:xfrm>
          <a:prstGeom prst="line">
            <a:avLst/>
          </a:prstGeom>
          <a:noFill/>
          <a:ln w="9525" algn="ctr">
            <a:solidFill>
              <a:schemeClr val="tx1"/>
            </a:solidFill>
            <a:round/>
            <a:headEnd/>
            <a:tailEnd/>
          </a:ln>
        </p:spPr>
      </p:cxnSp>
      <p:cxnSp>
        <p:nvCxnSpPr>
          <p:cNvPr id="122" name="直接连接符 54"/>
          <p:cNvCxnSpPr>
            <a:cxnSpLocks noChangeShapeType="1"/>
          </p:cNvCxnSpPr>
          <p:nvPr/>
        </p:nvCxnSpPr>
        <p:spPr bwMode="auto">
          <a:xfrm>
            <a:off x="6412665" y="2251659"/>
            <a:ext cx="170910" cy="0"/>
          </a:xfrm>
          <a:prstGeom prst="line">
            <a:avLst/>
          </a:prstGeom>
          <a:noFill/>
          <a:ln w="9525" algn="ctr">
            <a:solidFill>
              <a:schemeClr val="tx1"/>
            </a:solidFill>
            <a:round/>
            <a:headEnd/>
            <a:tailEnd/>
          </a:ln>
        </p:spPr>
      </p:cxnSp>
      <p:cxnSp>
        <p:nvCxnSpPr>
          <p:cNvPr id="123" name="直接连接符 62"/>
          <p:cNvCxnSpPr>
            <a:cxnSpLocks noChangeShapeType="1"/>
          </p:cNvCxnSpPr>
          <p:nvPr/>
        </p:nvCxnSpPr>
        <p:spPr bwMode="auto">
          <a:xfrm>
            <a:off x="7052855" y="2084712"/>
            <a:ext cx="169462" cy="0"/>
          </a:xfrm>
          <a:prstGeom prst="line">
            <a:avLst/>
          </a:prstGeom>
          <a:noFill/>
          <a:ln w="9525" algn="ctr">
            <a:solidFill>
              <a:schemeClr val="tx1"/>
            </a:solidFill>
            <a:round/>
            <a:headEnd/>
            <a:tailEnd/>
          </a:ln>
        </p:spPr>
      </p:cxnSp>
      <p:cxnSp>
        <p:nvCxnSpPr>
          <p:cNvPr id="124" name="直接连接符 63"/>
          <p:cNvCxnSpPr>
            <a:cxnSpLocks noChangeShapeType="1"/>
          </p:cNvCxnSpPr>
          <p:nvPr/>
        </p:nvCxnSpPr>
        <p:spPr bwMode="auto">
          <a:xfrm>
            <a:off x="7052855" y="2084712"/>
            <a:ext cx="169462" cy="0"/>
          </a:xfrm>
          <a:prstGeom prst="line">
            <a:avLst/>
          </a:prstGeom>
          <a:noFill/>
          <a:ln w="9525" algn="ctr">
            <a:solidFill>
              <a:schemeClr val="tx1"/>
            </a:solidFill>
            <a:round/>
            <a:headEnd/>
            <a:tailEnd/>
          </a:ln>
        </p:spPr>
      </p:cxnSp>
      <p:cxnSp>
        <p:nvCxnSpPr>
          <p:cNvPr id="125" name="直接连接符 64"/>
          <p:cNvCxnSpPr>
            <a:cxnSpLocks noChangeShapeType="1"/>
          </p:cNvCxnSpPr>
          <p:nvPr/>
        </p:nvCxnSpPr>
        <p:spPr bwMode="auto">
          <a:xfrm>
            <a:off x="7052855" y="2142914"/>
            <a:ext cx="169462" cy="0"/>
          </a:xfrm>
          <a:prstGeom prst="line">
            <a:avLst/>
          </a:prstGeom>
          <a:noFill/>
          <a:ln w="9525" algn="ctr">
            <a:solidFill>
              <a:schemeClr val="tx1"/>
            </a:solidFill>
            <a:round/>
            <a:headEnd/>
            <a:tailEnd/>
          </a:ln>
        </p:spPr>
      </p:cxnSp>
      <p:cxnSp>
        <p:nvCxnSpPr>
          <p:cNvPr id="126" name="直接连接符 65"/>
          <p:cNvCxnSpPr>
            <a:cxnSpLocks noChangeShapeType="1"/>
          </p:cNvCxnSpPr>
          <p:nvPr/>
        </p:nvCxnSpPr>
        <p:spPr bwMode="auto">
          <a:xfrm>
            <a:off x="7052855" y="2193457"/>
            <a:ext cx="169462" cy="0"/>
          </a:xfrm>
          <a:prstGeom prst="line">
            <a:avLst/>
          </a:prstGeom>
          <a:noFill/>
          <a:ln w="9525" algn="ctr">
            <a:solidFill>
              <a:schemeClr val="tx1"/>
            </a:solidFill>
            <a:round/>
            <a:headEnd/>
            <a:tailEnd/>
          </a:ln>
        </p:spPr>
      </p:cxnSp>
      <p:cxnSp>
        <p:nvCxnSpPr>
          <p:cNvPr id="127" name="直接连接符 66"/>
          <p:cNvCxnSpPr>
            <a:cxnSpLocks noChangeShapeType="1"/>
          </p:cNvCxnSpPr>
          <p:nvPr/>
        </p:nvCxnSpPr>
        <p:spPr bwMode="auto">
          <a:xfrm>
            <a:off x="7052855" y="2251659"/>
            <a:ext cx="169462" cy="0"/>
          </a:xfrm>
          <a:prstGeom prst="line">
            <a:avLst/>
          </a:prstGeom>
          <a:noFill/>
          <a:ln w="9525" algn="ctr">
            <a:solidFill>
              <a:schemeClr val="tx1"/>
            </a:solidFill>
            <a:round/>
            <a:headEnd/>
            <a:tailEnd/>
          </a:ln>
        </p:spPr>
      </p:cxnSp>
      <p:sp>
        <p:nvSpPr>
          <p:cNvPr id="128" name="矩形 99"/>
          <p:cNvSpPr>
            <a:spLocks noChangeArrowheads="1"/>
          </p:cNvSpPr>
          <p:nvPr/>
        </p:nvSpPr>
        <p:spPr bwMode="auto">
          <a:xfrm>
            <a:off x="6008563" y="1476655"/>
            <a:ext cx="1642478" cy="485527"/>
          </a:xfrm>
          <a:prstGeom prst="rect">
            <a:avLst/>
          </a:prstGeom>
          <a:solidFill>
            <a:schemeClr val="accent6">
              <a:lumMod val="60000"/>
              <a:lumOff val="40000"/>
            </a:schemeClr>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29" name="矩形 100"/>
          <p:cNvSpPr>
            <a:spLocks noChangeArrowheads="1"/>
          </p:cNvSpPr>
          <p:nvPr/>
        </p:nvSpPr>
        <p:spPr bwMode="auto">
          <a:xfrm>
            <a:off x="5995528" y="2319051"/>
            <a:ext cx="1642478" cy="416603"/>
          </a:xfrm>
          <a:prstGeom prst="rect">
            <a:avLst/>
          </a:prstGeom>
          <a:solidFill>
            <a:srgbClr val="FF99FF"/>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30" name="直接箭头连接符 105"/>
          <p:cNvCxnSpPr>
            <a:cxnSpLocks noChangeShapeType="1"/>
          </p:cNvCxnSpPr>
          <p:nvPr/>
        </p:nvCxnSpPr>
        <p:spPr bwMode="auto">
          <a:xfrm flipV="1">
            <a:off x="6503914" y="1830462"/>
            <a:ext cx="0" cy="208301"/>
          </a:xfrm>
          <a:prstGeom prst="straightConnector1">
            <a:avLst/>
          </a:prstGeom>
          <a:noFill/>
          <a:ln w="12700" algn="ctr">
            <a:solidFill>
              <a:schemeClr val="tx1"/>
            </a:solidFill>
            <a:round/>
            <a:headEnd/>
            <a:tailEnd type="triangle" w="sm" len="lg"/>
          </a:ln>
        </p:spPr>
      </p:cxnSp>
      <p:cxnSp>
        <p:nvCxnSpPr>
          <p:cNvPr id="131" name="直接箭头连接符 107"/>
          <p:cNvCxnSpPr>
            <a:cxnSpLocks noChangeShapeType="1"/>
          </p:cNvCxnSpPr>
          <p:nvPr/>
        </p:nvCxnSpPr>
        <p:spPr bwMode="auto">
          <a:xfrm flipV="1">
            <a:off x="7141207" y="1822803"/>
            <a:ext cx="0" cy="209834"/>
          </a:xfrm>
          <a:prstGeom prst="straightConnector1">
            <a:avLst/>
          </a:prstGeom>
          <a:noFill/>
          <a:ln w="12700" algn="ctr">
            <a:solidFill>
              <a:schemeClr val="tx1"/>
            </a:solidFill>
            <a:round/>
            <a:headEnd/>
            <a:tailEnd type="triangle" w="sm" len="lg"/>
          </a:ln>
        </p:spPr>
      </p:cxnSp>
      <p:sp>
        <p:nvSpPr>
          <p:cNvPr id="132" name="Rectangle 74"/>
          <p:cNvSpPr>
            <a:spLocks noChangeArrowheads="1"/>
          </p:cNvSpPr>
          <p:nvPr/>
        </p:nvSpPr>
        <p:spPr bwMode="auto">
          <a:xfrm>
            <a:off x="6122438" y="2024937"/>
            <a:ext cx="262159" cy="305212"/>
          </a:xfrm>
          <a:prstGeom prst="rect">
            <a:avLst/>
          </a:prstGeom>
          <a:noFill/>
          <a:ln w="12700">
            <a:noFill/>
            <a:miter lim="800000"/>
            <a:headEnd/>
            <a:tailEnd/>
          </a:ln>
        </p:spPr>
        <p:txBody>
          <a:bodyPr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x                              </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33" name="Rectangle 74"/>
          <p:cNvSpPr>
            <a:spLocks noChangeArrowheads="1"/>
          </p:cNvSpPr>
          <p:nvPr/>
        </p:nvSpPr>
        <p:spPr bwMode="auto">
          <a:xfrm>
            <a:off x="6753937" y="2024937"/>
            <a:ext cx="285336"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y</a:t>
            </a:r>
            <a:endParaRPr lang="zh-CN" altLang="en-US" sz="1400" b="1">
              <a:solidFill>
                <a:srgbClr val="0000FF"/>
              </a:solidFill>
              <a:latin typeface="微软雅黑" panose="020B0503020204020204" pitchFamily="34" charset="-122"/>
              <a:ea typeface="微软雅黑" panose="020B0503020204020204" pitchFamily="34" charset="-122"/>
            </a:endParaRPr>
          </a:p>
        </p:txBody>
      </p:sp>
      <p:cxnSp>
        <p:nvCxnSpPr>
          <p:cNvPr id="134" name="直接箭头连接符 117"/>
          <p:cNvCxnSpPr>
            <a:cxnSpLocks noChangeShapeType="1"/>
          </p:cNvCxnSpPr>
          <p:nvPr/>
        </p:nvCxnSpPr>
        <p:spPr bwMode="auto">
          <a:xfrm flipH="1" flipV="1">
            <a:off x="6495223" y="2308330"/>
            <a:ext cx="309956" cy="438046"/>
          </a:xfrm>
          <a:prstGeom prst="straightConnector1">
            <a:avLst/>
          </a:prstGeom>
          <a:noFill/>
          <a:ln w="12700" algn="ctr">
            <a:solidFill>
              <a:schemeClr val="tx1"/>
            </a:solidFill>
            <a:round/>
            <a:headEnd/>
            <a:tailEnd type="triangle" w="sm" len="lg"/>
          </a:ln>
        </p:spPr>
      </p:cxnSp>
      <p:cxnSp>
        <p:nvCxnSpPr>
          <p:cNvPr id="135" name="直接箭头连接符 118"/>
          <p:cNvCxnSpPr>
            <a:cxnSpLocks noChangeShapeType="1"/>
          </p:cNvCxnSpPr>
          <p:nvPr/>
        </p:nvCxnSpPr>
        <p:spPr bwMode="auto">
          <a:xfrm flipV="1">
            <a:off x="6800835" y="2328241"/>
            <a:ext cx="311404" cy="424262"/>
          </a:xfrm>
          <a:prstGeom prst="straightConnector1">
            <a:avLst/>
          </a:prstGeom>
          <a:noFill/>
          <a:ln w="12700" algn="ctr">
            <a:solidFill>
              <a:schemeClr val="tx1"/>
            </a:solidFill>
            <a:round/>
            <a:headEnd/>
            <a:tailEnd type="triangle" w="sm" len="lg"/>
          </a:ln>
        </p:spPr>
      </p:cxnSp>
      <p:sp>
        <p:nvSpPr>
          <p:cNvPr id="136" name="矩形 135"/>
          <p:cNvSpPr/>
          <p:nvPr/>
        </p:nvSpPr>
        <p:spPr bwMode="auto">
          <a:xfrm>
            <a:off x="7054303" y="2149041"/>
            <a:ext cx="172359"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37" name="椭圆 121"/>
          <p:cNvSpPr>
            <a:spLocks noChangeArrowheads="1"/>
          </p:cNvSpPr>
          <p:nvPr/>
        </p:nvSpPr>
        <p:spPr bwMode="auto">
          <a:xfrm>
            <a:off x="6767521" y="2717274"/>
            <a:ext cx="66626" cy="70455"/>
          </a:xfrm>
          <a:prstGeom prst="ellipse">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38" name="矩形 137"/>
          <p:cNvSpPr/>
          <p:nvPr/>
        </p:nvSpPr>
        <p:spPr bwMode="auto">
          <a:xfrm>
            <a:off x="6411217" y="2198053"/>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39" name="矩形 138"/>
          <p:cNvSpPr/>
          <p:nvPr/>
        </p:nvSpPr>
        <p:spPr bwMode="auto">
          <a:xfrm>
            <a:off x="6419907" y="2087775"/>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40" name="矩形 48"/>
          <p:cNvSpPr>
            <a:spLocks noChangeArrowheads="1"/>
          </p:cNvSpPr>
          <p:nvPr/>
        </p:nvSpPr>
        <p:spPr bwMode="auto">
          <a:xfrm>
            <a:off x="6412665" y="2029574"/>
            <a:ext cx="170910"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41" name="直接连接符 66"/>
          <p:cNvCxnSpPr>
            <a:cxnSpLocks noChangeShapeType="1"/>
          </p:cNvCxnSpPr>
          <p:nvPr/>
        </p:nvCxnSpPr>
        <p:spPr bwMode="auto">
          <a:xfrm>
            <a:off x="7058649" y="2204179"/>
            <a:ext cx="169462" cy="0"/>
          </a:xfrm>
          <a:prstGeom prst="line">
            <a:avLst/>
          </a:prstGeom>
          <a:noFill/>
          <a:ln w="9525" algn="ctr">
            <a:solidFill>
              <a:schemeClr val="tx1"/>
            </a:solidFill>
            <a:round/>
            <a:headEnd/>
            <a:tailEnd/>
          </a:ln>
        </p:spPr>
      </p:cxnSp>
      <p:cxnSp>
        <p:nvCxnSpPr>
          <p:cNvPr id="142" name="直接箭头连接符 131"/>
          <p:cNvCxnSpPr>
            <a:cxnSpLocks noChangeShapeType="1"/>
          </p:cNvCxnSpPr>
          <p:nvPr/>
        </p:nvCxnSpPr>
        <p:spPr bwMode="auto">
          <a:xfrm flipV="1">
            <a:off x="6797301" y="2746377"/>
            <a:ext cx="15121" cy="639594"/>
          </a:xfrm>
          <a:prstGeom prst="straightConnector1">
            <a:avLst/>
          </a:prstGeom>
          <a:noFill/>
          <a:ln w="28575" algn="ctr">
            <a:solidFill>
              <a:srgbClr val="000066"/>
            </a:solidFill>
            <a:prstDash val="sysDot"/>
            <a:round/>
            <a:headEnd/>
            <a:tailEnd type="triangle" w="sm" len="lg"/>
          </a:ln>
        </p:spPr>
      </p:cxnSp>
      <p:sp>
        <p:nvSpPr>
          <p:cNvPr id="144" name="Rectangle 5"/>
          <p:cNvSpPr>
            <a:spLocks noChangeArrowheads="1"/>
          </p:cNvSpPr>
          <p:nvPr/>
        </p:nvSpPr>
        <p:spPr bwMode="auto">
          <a:xfrm>
            <a:off x="7652490" y="2389914"/>
            <a:ext cx="721352" cy="305212"/>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传输层</a:t>
            </a:r>
          </a:p>
        </p:txBody>
      </p:sp>
      <p:sp>
        <p:nvSpPr>
          <p:cNvPr id="145" name="Rectangle 5"/>
          <p:cNvSpPr>
            <a:spLocks noChangeArrowheads="1"/>
          </p:cNvSpPr>
          <p:nvPr/>
        </p:nvSpPr>
        <p:spPr bwMode="auto">
          <a:xfrm>
            <a:off x="7742290" y="1989077"/>
            <a:ext cx="541816" cy="305212"/>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a:solidFill>
                  <a:srgbClr val="0000FF"/>
                </a:solidFill>
                <a:latin typeface="微软雅黑" panose="020B0503020204020204" pitchFamily="34" charset="-122"/>
                <a:ea typeface="微软雅黑" panose="020B0503020204020204" pitchFamily="34" charset="-122"/>
              </a:rPr>
              <a:t>端口</a:t>
            </a:r>
          </a:p>
        </p:txBody>
      </p:sp>
      <p:sp>
        <p:nvSpPr>
          <p:cNvPr id="146" name="矩形 61"/>
          <p:cNvSpPr>
            <a:spLocks noChangeArrowheads="1"/>
          </p:cNvSpPr>
          <p:nvPr/>
        </p:nvSpPr>
        <p:spPr bwMode="auto">
          <a:xfrm>
            <a:off x="7052855" y="2029574"/>
            <a:ext cx="169462"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51" name="Rectangle 5"/>
          <p:cNvSpPr>
            <a:spLocks noChangeArrowheads="1"/>
          </p:cNvSpPr>
          <p:nvPr/>
        </p:nvSpPr>
        <p:spPr bwMode="auto">
          <a:xfrm rot="10800000" flipV="1">
            <a:off x="2161630" y="1138723"/>
            <a:ext cx="475073"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H</a:t>
            </a:r>
            <a:r>
              <a:rPr lang="en-US" altLang="zh-CN" sz="1400" b="1" baseline="-25000" dirty="0">
                <a:latin typeface="微软雅黑" panose="020B0503020204020204" pitchFamily="34" charset="-122"/>
                <a:ea typeface="微软雅黑" panose="020B0503020204020204" pitchFamily="34" charset="-122"/>
              </a:rPr>
              <a:t>1</a:t>
            </a:r>
            <a:endParaRPr lang="zh-CN" altLang="en-US" sz="1400" b="1" baseline="-25000" dirty="0">
              <a:latin typeface="微软雅黑" panose="020B0503020204020204" pitchFamily="34" charset="-122"/>
              <a:ea typeface="微软雅黑" panose="020B0503020204020204" pitchFamily="34" charset="-122"/>
            </a:endParaRPr>
          </a:p>
        </p:txBody>
      </p:sp>
      <p:sp>
        <p:nvSpPr>
          <p:cNvPr id="162" name="燕尾形 153"/>
          <p:cNvSpPr>
            <a:spLocks noChangeArrowheads="1"/>
          </p:cNvSpPr>
          <p:nvPr/>
        </p:nvSpPr>
        <p:spPr bwMode="auto">
          <a:xfrm rot="8310183">
            <a:off x="2732298" y="2443113"/>
            <a:ext cx="131804" cy="68923"/>
          </a:xfrm>
          <a:prstGeom prst="chevron">
            <a:avLst>
              <a:gd name="adj" fmla="val 50556"/>
            </a:avLst>
          </a:prstGeom>
          <a:solidFill>
            <a:srgbClr val="C000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3" name="燕尾形 153"/>
          <p:cNvSpPr>
            <a:spLocks noChangeArrowheads="1"/>
          </p:cNvSpPr>
          <p:nvPr/>
        </p:nvSpPr>
        <p:spPr bwMode="auto">
          <a:xfrm rot="18360000" flipV="1">
            <a:off x="6989684" y="2492466"/>
            <a:ext cx="139378" cy="65177"/>
          </a:xfrm>
          <a:prstGeom prst="chevron">
            <a:avLst>
              <a:gd name="adj" fmla="val 50556"/>
            </a:avLst>
          </a:prstGeom>
          <a:solidFill>
            <a:srgbClr val="C000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64" name="直接箭头连接符 131"/>
          <p:cNvCxnSpPr>
            <a:cxnSpLocks noChangeShapeType="1"/>
          </p:cNvCxnSpPr>
          <p:nvPr/>
        </p:nvCxnSpPr>
        <p:spPr bwMode="auto">
          <a:xfrm>
            <a:off x="2325300" y="2783135"/>
            <a:ext cx="0" cy="600539"/>
          </a:xfrm>
          <a:prstGeom prst="straightConnector1">
            <a:avLst/>
          </a:prstGeom>
          <a:noFill/>
          <a:ln w="28575" algn="ctr">
            <a:solidFill>
              <a:srgbClr val="000066"/>
            </a:solidFill>
            <a:prstDash val="sysDot"/>
            <a:round/>
            <a:headEnd/>
            <a:tailEnd type="triangle" w="sm" len="lg"/>
          </a:ln>
        </p:spPr>
      </p:cxnSp>
      <p:cxnSp>
        <p:nvCxnSpPr>
          <p:cNvPr id="165" name="直接箭头连接符 131"/>
          <p:cNvCxnSpPr>
            <a:cxnSpLocks noChangeShapeType="1"/>
          </p:cNvCxnSpPr>
          <p:nvPr/>
        </p:nvCxnSpPr>
        <p:spPr bwMode="auto">
          <a:xfrm flipV="1">
            <a:off x="2313713" y="3383674"/>
            <a:ext cx="4521883" cy="4594"/>
          </a:xfrm>
          <a:prstGeom prst="straightConnector1">
            <a:avLst/>
          </a:prstGeom>
          <a:noFill/>
          <a:ln w="28575" algn="ctr">
            <a:solidFill>
              <a:srgbClr val="000066"/>
            </a:solidFill>
            <a:prstDash val="sysDot"/>
            <a:round/>
            <a:headEnd/>
            <a:tailEnd type="triangle" w="sm" len="lg"/>
          </a:ln>
        </p:spPr>
      </p:cxnSp>
      <p:sp>
        <p:nvSpPr>
          <p:cNvPr id="167" name="Rectangle 5"/>
          <p:cNvSpPr>
            <a:spLocks noChangeArrowheads="1"/>
          </p:cNvSpPr>
          <p:nvPr/>
        </p:nvSpPr>
        <p:spPr bwMode="auto">
          <a:xfrm>
            <a:off x="3500509" y="2361476"/>
            <a:ext cx="494339"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复用</a:t>
            </a:r>
          </a:p>
        </p:txBody>
      </p:sp>
      <p:sp>
        <p:nvSpPr>
          <p:cNvPr id="168" name="Rectangle 5"/>
          <p:cNvSpPr>
            <a:spLocks noChangeArrowheads="1"/>
          </p:cNvSpPr>
          <p:nvPr/>
        </p:nvSpPr>
        <p:spPr bwMode="auto">
          <a:xfrm>
            <a:off x="5204382" y="2379359"/>
            <a:ext cx="494339"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分用</a:t>
            </a:r>
          </a:p>
        </p:txBody>
      </p:sp>
      <p:cxnSp>
        <p:nvCxnSpPr>
          <p:cNvPr id="169" name="直接箭头连接符 117"/>
          <p:cNvCxnSpPr>
            <a:cxnSpLocks noChangeShapeType="1"/>
          </p:cNvCxnSpPr>
          <p:nvPr/>
        </p:nvCxnSpPr>
        <p:spPr bwMode="auto">
          <a:xfrm flipH="1" flipV="1">
            <a:off x="3035713" y="2536986"/>
            <a:ext cx="527893" cy="145"/>
          </a:xfrm>
          <a:prstGeom prst="straightConnector1">
            <a:avLst/>
          </a:prstGeom>
          <a:noFill/>
          <a:ln w="12700" algn="ctr">
            <a:solidFill>
              <a:schemeClr val="tx1"/>
            </a:solidFill>
            <a:round/>
            <a:headEnd/>
            <a:tailEnd type="triangle" w="sm" len="lg"/>
          </a:ln>
        </p:spPr>
      </p:cxnSp>
      <p:cxnSp>
        <p:nvCxnSpPr>
          <p:cNvPr id="170" name="直接箭头连接符 117"/>
          <p:cNvCxnSpPr>
            <a:cxnSpLocks noChangeShapeType="1"/>
          </p:cNvCxnSpPr>
          <p:nvPr/>
        </p:nvCxnSpPr>
        <p:spPr bwMode="auto">
          <a:xfrm flipV="1">
            <a:off x="5708464" y="2549054"/>
            <a:ext cx="527893" cy="145"/>
          </a:xfrm>
          <a:prstGeom prst="straightConnector1">
            <a:avLst/>
          </a:prstGeom>
          <a:noFill/>
          <a:ln w="12700" algn="ctr">
            <a:solidFill>
              <a:schemeClr val="tx1"/>
            </a:solidFill>
            <a:round/>
            <a:headEnd/>
            <a:tailEnd type="triangle" w="sm" len="lg"/>
          </a:ln>
        </p:spPr>
      </p:cxnSp>
      <p:sp>
        <p:nvSpPr>
          <p:cNvPr id="174" name="Rectangle 26"/>
          <p:cNvSpPr>
            <a:spLocks noChangeArrowheads="1"/>
          </p:cNvSpPr>
          <p:nvPr/>
        </p:nvSpPr>
        <p:spPr bwMode="auto">
          <a:xfrm>
            <a:off x="2657706" y="3015834"/>
            <a:ext cx="1149555"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不可靠的信道</a:t>
            </a:r>
          </a:p>
        </p:txBody>
      </p:sp>
      <p:sp>
        <p:nvSpPr>
          <p:cNvPr id="49" name="Text Box 67"/>
          <p:cNvSpPr txBox="1">
            <a:spLocks noChangeArrowheads="1"/>
          </p:cNvSpPr>
          <p:nvPr/>
        </p:nvSpPr>
        <p:spPr bwMode="auto">
          <a:xfrm>
            <a:off x="1637313" y="1450618"/>
            <a:ext cx="398103" cy="504805"/>
          </a:xfrm>
          <a:prstGeom prst="rect">
            <a:avLst/>
          </a:prstGeom>
          <a:noFill/>
          <a:ln w="9525">
            <a:noFill/>
            <a:miter lim="800000"/>
            <a:headEnd/>
            <a:tailEnd/>
          </a:ln>
        </p:spPr>
        <p:txBody>
          <a:bodyPr wrap="none">
            <a:spAutoFit/>
          </a:bodyPr>
          <a:lstStyle/>
          <a:p>
            <a:r>
              <a:rPr lang="en-US" altLang="zh-CN" sz="2800" b="1" dirty="0">
                <a:latin typeface="微软雅黑" panose="020B0503020204020204" pitchFamily="34" charset="-122"/>
                <a:ea typeface="微软雅黑" panose="020B0503020204020204" pitchFamily="34" charset="-122"/>
                <a:sym typeface="Wingdings" pitchFamily="2" charset="2"/>
              </a:rPr>
              <a:t></a:t>
            </a:r>
            <a:endParaRPr lang="en-US" altLang="zh-CN" sz="2800" b="1" dirty="0">
              <a:latin typeface="微软雅黑" panose="020B0503020204020204" pitchFamily="34" charset="-122"/>
              <a:ea typeface="微软雅黑" panose="020B0503020204020204" pitchFamily="34" charset="-122"/>
            </a:endParaRPr>
          </a:p>
        </p:txBody>
      </p:sp>
      <p:sp>
        <p:nvSpPr>
          <p:cNvPr id="51" name="Text Box 68"/>
          <p:cNvSpPr txBox="1">
            <a:spLocks noChangeArrowheads="1"/>
          </p:cNvSpPr>
          <p:nvPr/>
        </p:nvSpPr>
        <p:spPr bwMode="auto">
          <a:xfrm>
            <a:off x="2693192" y="1476655"/>
            <a:ext cx="364464" cy="445417"/>
          </a:xfrm>
          <a:prstGeom prst="rect">
            <a:avLst/>
          </a:prstGeom>
          <a:noFill/>
          <a:ln w="9525">
            <a:noFill/>
            <a:miter lim="800000"/>
            <a:headEnd/>
            <a:tailEnd/>
          </a:ln>
        </p:spPr>
        <p:txBody>
          <a:bodyPr wrap="none">
            <a:spAutoFit/>
          </a:bodyPr>
          <a:lstStyle/>
          <a:p>
            <a:r>
              <a:rPr lang="en-US" altLang="zh-CN" sz="2400" b="1" dirty="0">
                <a:latin typeface="微软雅黑" panose="020B0503020204020204" pitchFamily="34" charset="-122"/>
                <a:ea typeface="微软雅黑" panose="020B0503020204020204" pitchFamily="34" charset="-122"/>
                <a:sym typeface="Wingdings" pitchFamily="2" charset="2"/>
              </a:rPr>
              <a:t></a:t>
            </a:r>
            <a:endParaRPr lang="en-US" altLang="zh-CN" sz="2400" b="1" dirty="0">
              <a:latin typeface="微软雅黑" panose="020B0503020204020204" pitchFamily="34" charset="-122"/>
              <a:ea typeface="微软雅黑" panose="020B0503020204020204" pitchFamily="34" charset="-122"/>
            </a:endParaRPr>
          </a:p>
        </p:txBody>
      </p:sp>
      <p:sp>
        <p:nvSpPr>
          <p:cNvPr id="52" name="Text Box 67"/>
          <p:cNvSpPr txBox="1">
            <a:spLocks noChangeArrowheads="1"/>
          </p:cNvSpPr>
          <p:nvPr/>
        </p:nvSpPr>
        <p:spPr bwMode="auto">
          <a:xfrm>
            <a:off x="2155838" y="1482782"/>
            <a:ext cx="364464" cy="445417"/>
          </a:xfrm>
          <a:prstGeom prst="rect">
            <a:avLst/>
          </a:prstGeom>
          <a:noFill/>
          <a:ln w="9525">
            <a:noFill/>
            <a:miter lim="800000"/>
            <a:headEnd/>
            <a:tailEnd/>
          </a:ln>
        </p:spPr>
        <p:txBody>
          <a:bodyPr wrap="none">
            <a:spAutoFit/>
          </a:bodyPr>
          <a:lstStyle/>
          <a:p>
            <a:r>
              <a:rPr lang="en-US" altLang="zh-CN" sz="2400" b="1">
                <a:latin typeface="微软雅黑" panose="020B0503020204020204" pitchFamily="34" charset="-122"/>
                <a:ea typeface="微软雅黑" panose="020B0503020204020204" pitchFamily="34" charset="-122"/>
                <a:sym typeface="Wingdings" pitchFamily="2" charset="2"/>
              </a:rPr>
              <a:t></a:t>
            </a:r>
            <a:endParaRPr lang="en-US" altLang="zh-CN" sz="2400" b="1">
              <a:latin typeface="微软雅黑" panose="020B0503020204020204" pitchFamily="34" charset="-122"/>
              <a:ea typeface="微软雅黑" panose="020B0503020204020204" pitchFamily="34" charset="-122"/>
            </a:endParaRPr>
          </a:p>
        </p:txBody>
      </p:sp>
      <p:sp>
        <p:nvSpPr>
          <p:cNvPr id="153" name="Rectangle 5"/>
          <p:cNvSpPr>
            <a:spLocks noChangeArrowheads="1"/>
          </p:cNvSpPr>
          <p:nvPr/>
        </p:nvSpPr>
        <p:spPr bwMode="auto">
          <a:xfrm rot="10800000" flipV="1">
            <a:off x="1469649" y="1442750"/>
            <a:ext cx="379478"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1</a:t>
            </a:r>
            <a:endParaRPr lang="zh-CN" altLang="en-US" sz="1400" b="1" baseline="-25000" dirty="0">
              <a:latin typeface="微软雅黑" panose="020B0503020204020204" pitchFamily="34" charset="-122"/>
              <a:ea typeface="微软雅黑" panose="020B0503020204020204" pitchFamily="34" charset="-122"/>
            </a:endParaRPr>
          </a:p>
        </p:txBody>
      </p:sp>
      <p:sp>
        <p:nvSpPr>
          <p:cNvPr id="154" name="Rectangle 5"/>
          <p:cNvSpPr>
            <a:spLocks noChangeArrowheads="1"/>
          </p:cNvSpPr>
          <p:nvPr/>
        </p:nvSpPr>
        <p:spPr bwMode="auto">
          <a:xfrm rot="10800000" flipV="1">
            <a:off x="1950516" y="1422839"/>
            <a:ext cx="379478"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2</a:t>
            </a:r>
            <a:endParaRPr lang="zh-CN" altLang="en-US" sz="1400" b="1" baseline="-25000">
              <a:latin typeface="微软雅黑" panose="020B0503020204020204" pitchFamily="34" charset="-122"/>
              <a:ea typeface="微软雅黑" panose="020B0503020204020204" pitchFamily="34" charset="-122"/>
            </a:endParaRPr>
          </a:p>
        </p:txBody>
      </p:sp>
      <p:sp>
        <p:nvSpPr>
          <p:cNvPr id="155" name="Rectangle 5"/>
          <p:cNvSpPr>
            <a:spLocks noChangeArrowheads="1"/>
          </p:cNvSpPr>
          <p:nvPr/>
        </p:nvSpPr>
        <p:spPr bwMode="auto">
          <a:xfrm rot="10800000" flipV="1">
            <a:off x="2512493" y="1427434"/>
            <a:ext cx="379478"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3</a:t>
            </a:r>
            <a:endParaRPr lang="zh-CN" altLang="en-US" sz="1400" b="1" baseline="-25000">
              <a:latin typeface="微软雅黑" panose="020B0503020204020204" pitchFamily="34" charset="-122"/>
              <a:ea typeface="微软雅黑" panose="020B0503020204020204" pitchFamily="34" charset="-122"/>
            </a:endParaRPr>
          </a:p>
        </p:txBody>
      </p:sp>
      <p:sp>
        <p:nvSpPr>
          <p:cNvPr id="113" name="Text Box 67"/>
          <p:cNvSpPr txBox="1">
            <a:spLocks noChangeArrowheads="1"/>
          </p:cNvSpPr>
          <p:nvPr/>
        </p:nvSpPr>
        <p:spPr bwMode="auto">
          <a:xfrm>
            <a:off x="6295345" y="1423049"/>
            <a:ext cx="398103" cy="504805"/>
          </a:xfrm>
          <a:prstGeom prst="rect">
            <a:avLst/>
          </a:prstGeom>
          <a:noFill/>
          <a:ln w="9525">
            <a:noFill/>
            <a:miter lim="800000"/>
            <a:headEnd/>
            <a:tailEnd/>
          </a:ln>
        </p:spPr>
        <p:txBody>
          <a:bodyPr wrap="none">
            <a:spAutoFit/>
          </a:bodyPr>
          <a:lstStyle/>
          <a:p>
            <a:r>
              <a:rPr lang="en-US" altLang="zh-CN" sz="2800" b="1">
                <a:latin typeface="微软雅黑" panose="020B0503020204020204" pitchFamily="34" charset="-122"/>
                <a:ea typeface="微软雅黑" panose="020B0503020204020204" pitchFamily="34" charset="-122"/>
                <a:sym typeface="Wingdings" pitchFamily="2" charset="2"/>
              </a:rPr>
              <a:t></a:t>
            </a:r>
            <a:endParaRPr lang="en-US" altLang="zh-CN" sz="2800" b="1">
              <a:latin typeface="微软雅黑" panose="020B0503020204020204" pitchFamily="34" charset="-122"/>
              <a:ea typeface="微软雅黑" panose="020B0503020204020204" pitchFamily="34" charset="-122"/>
            </a:endParaRPr>
          </a:p>
        </p:txBody>
      </p:sp>
      <p:sp>
        <p:nvSpPr>
          <p:cNvPr id="114" name="Text Box 68"/>
          <p:cNvSpPr txBox="1">
            <a:spLocks noChangeArrowheads="1"/>
          </p:cNvSpPr>
          <p:nvPr/>
        </p:nvSpPr>
        <p:spPr bwMode="auto">
          <a:xfrm>
            <a:off x="6925397" y="1406200"/>
            <a:ext cx="398103" cy="504805"/>
          </a:xfrm>
          <a:prstGeom prst="rect">
            <a:avLst/>
          </a:prstGeom>
          <a:noFill/>
          <a:ln w="9525">
            <a:noFill/>
            <a:miter lim="800000"/>
            <a:headEnd/>
            <a:tailEnd/>
          </a:ln>
        </p:spPr>
        <p:txBody>
          <a:bodyPr wrap="none">
            <a:spAutoFit/>
          </a:bodyPr>
          <a:lstStyle/>
          <a:p>
            <a:r>
              <a:rPr lang="en-US" altLang="zh-CN" sz="2800" b="1">
                <a:latin typeface="微软雅黑" panose="020B0503020204020204" pitchFamily="34" charset="-122"/>
                <a:ea typeface="微软雅黑" panose="020B0503020204020204" pitchFamily="34" charset="-122"/>
                <a:sym typeface="Wingdings" pitchFamily="2" charset="2"/>
              </a:rPr>
              <a:t></a:t>
            </a:r>
            <a:endParaRPr lang="en-US" altLang="zh-CN" sz="2800" b="1">
              <a:latin typeface="微软雅黑" panose="020B0503020204020204" pitchFamily="34" charset="-122"/>
              <a:ea typeface="微软雅黑" panose="020B0503020204020204" pitchFamily="34" charset="-122"/>
            </a:endParaRPr>
          </a:p>
        </p:txBody>
      </p:sp>
      <p:sp>
        <p:nvSpPr>
          <p:cNvPr id="143" name="Rectangle 5"/>
          <p:cNvSpPr>
            <a:spLocks noChangeArrowheads="1"/>
          </p:cNvSpPr>
          <p:nvPr/>
        </p:nvSpPr>
        <p:spPr bwMode="auto">
          <a:xfrm>
            <a:off x="7674215" y="1562426"/>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a:latin typeface="微软雅黑" panose="020B0503020204020204" pitchFamily="34" charset="-122"/>
                <a:ea typeface="微软雅黑" panose="020B0503020204020204" pitchFamily="34" charset="-122"/>
              </a:rPr>
              <a:t>应用层</a:t>
            </a:r>
          </a:p>
        </p:txBody>
      </p:sp>
      <p:sp>
        <p:nvSpPr>
          <p:cNvPr id="156" name="Rectangle 5"/>
          <p:cNvSpPr>
            <a:spLocks noChangeArrowheads="1"/>
          </p:cNvSpPr>
          <p:nvPr/>
        </p:nvSpPr>
        <p:spPr bwMode="auto">
          <a:xfrm rot="10800000" flipV="1">
            <a:off x="6091471" y="1469554"/>
            <a:ext cx="379479"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4</a:t>
            </a:r>
            <a:endParaRPr lang="zh-CN" altLang="en-US" sz="1400" b="1" baseline="-25000">
              <a:latin typeface="微软雅黑" panose="020B0503020204020204" pitchFamily="34" charset="-122"/>
              <a:ea typeface="微软雅黑" panose="020B0503020204020204" pitchFamily="34" charset="-122"/>
            </a:endParaRPr>
          </a:p>
        </p:txBody>
      </p:sp>
      <p:sp>
        <p:nvSpPr>
          <p:cNvPr id="157" name="Rectangle 5"/>
          <p:cNvSpPr>
            <a:spLocks noChangeArrowheads="1"/>
          </p:cNvSpPr>
          <p:nvPr/>
        </p:nvSpPr>
        <p:spPr bwMode="auto">
          <a:xfrm rot="10800000" flipV="1">
            <a:off x="6725867" y="1453472"/>
            <a:ext cx="379479"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5</a:t>
            </a:r>
            <a:endParaRPr lang="zh-CN" altLang="en-US" sz="1400" b="1" baseline="-25000">
              <a:latin typeface="微软雅黑" panose="020B0503020204020204" pitchFamily="34" charset="-122"/>
              <a:ea typeface="微软雅黑" panose="020B0503020204020204" pitchFamily="34" charset="-122"/>
            </a:endParaRPr>
          </a:p>
        </p:txBody>
      </p:sp>
      <p:sp>
        <p:nvSpPr>
          <p:cNvPr id="175" name="Rectangle 5"/>
          <p:cNvSpPr>
            <a:spLocks noChangeArrowheads="1"/>
          </p:cNvSpPr>
          <p:nvPr/>
        </p:nvSpPr>
        <p:spPr bwMode="auto">
          <a:xfrm rot="10800000" flipV="1">
            <a:off x="3936772" y="2988004"/>
            <a:ext cx="2268637"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a</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x         a</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y        c</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y</a:t>
            </a:r>
            <a:endParaRPr lang="zh-CN" altLang="en-US" sz="1400" b="1" baseline="-25000" dirty="0">
              <a:latin typeface="微软雅黑" panose="020B0503020204020204" pitchFamily="34" charset="-122"/>
              <a:ea typeface="微软雅黑" panose="020B0503020204020204" pitchFamily="34" charset="-122"/>
            </a:endParaRPr>
          </a:p>
        </p:txBody>
      </p:sp>
      <p:sp>
        <p:nvSpPr>
          <p:cNvPr id="177" name="燕尾形 153"/>
          <p:cNvSpPr>
            <a:spLocks noChangeArrowheads="1"/>
          </p:cNvSpPr>
          <p:nvPr/>
        </p:nvSpPr>
        <p:spPr bwMode="auto">
          <a:xfrm>
            <a:off x="5804720" y="3245044"/>
            <a:ext cx="159482" cy="75815"/>
          </a:xfrm>
          <a:prstGeom prst="chevron">
            <a:avLst>
              <a:gd name="adj" fmla="val 50556"/>
            </a:avLst>
          </a:prstGeom>
          <a:solidFill>
            <a:srgbClr val="C000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3" name="Rectangle 5">
            <a:extLst>
              <a:ext uri="{FF2B5EF4-FFF2-40B4-BE49-F238E27FC236}">
                <a16:creationId xmlns:a16="http://schemas.microsoft.com/office/drawing/2014/main" id="{1D49AA86-1311-BF0D-AA90-06946ECE89D9}"/>
              </a:ext>
            </a:extLst>
          </p:cNvPr>
          <p:cNvSpPr>
            <a:spLocks noChangeArrowheads="1"/>
          </p:cNvSpPr>
          <p:nvPr/>
        </p:nvSpPr>
        <p:spPr bwMode="auto">
          <a:xfrm>
            <a:off x="2863785" y="1103766"/>
            <a:ext cx="821947"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应用进程</a:t>
            </a:r>
          </a:p>
        </p:txBody>
      </p:sp>
      <p:cxnSp>
        <p:nvCxnSpPr>
          <p:cNvPr id="4" name="直接箭头连接符 117">
            <a:extLst>
              <a:ext uri="{FF2B5EF4-FFF2-40B4-BE49-F238E27FC236}">
                <a16:creationId xmlns:a16="http://schemas.microsoft.com/office/drawing/2014/main" id="{7514C9E1-2C03-A758-615E-65F6EE3B2F4F}"/>
              </a:ext>
            </a:extLst>
          </p:cNvPr>
          <p:cNvCxnSpPr>
            <a:cxnSpLocks noChangeShapeType="1"/>
            <a:stCxn id="3" idx="2"/>
          </p:cNvCxnSpPr>
          <p:nvPr/>
        </p:nvCxnSpPr>
        <p:spPr bwMode="auto">
          <a:xfrm flipH="1">
            <a:off x="2986088" y="1398236"/>
            <a:ext cx="288671" cy="192439"/>
          </a:xfrm>
          <a:prstGeom prst="straightConnector1">
            <a:avLst/>
          </a:prstGeom>
          <a:noFill/>
          <a:ln w="12700" algn="ctr">
            <a:solidFill>
              <a:schemeClr val="tx1"/>
            </a:solidFill>
            <a:round/>
            <a:headEnd/>
            <a:tailEnd type="triangle" w="sm" len="lg"/>
          </a:ln>
        </p:spPr>
      </p:cxnSp>
      <p:sp>
        <p:nvSpPr>
          <p:cNvPr id="5" name="Rectangle 5">
            <a:extLst>
              <a:ext uri="{FF2B5EF4-FFF2-40B4-BE49-F238E27FC236}">
                <a16:creationId xmlns:a16="http://schemas.microsoft.com/office/drawing/2014/main" id="{2816B28E-61AB-A06C-C7F5-EACF7302498D}"/>
              </a:ext>
            </a:extLst>
          </p:cNvPr>
          <p:cNvSpPr>
            <a:spLocks noChangeArrowheads="1"/>
          </p:cNvSpPr>
          <p:nvPr/>
        </p:nvSpPr>
        <p:spPr bwMode="auto">
          <a:xfrm>
            <a:off x="5660164" y="1116850"/>
            <a:ext cx="821947"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应用进程</a:t>
            </a:r>
          </a:p>
        </p:txBody>
      </p:sp>
      <p:cxnSp>
        <p:nvCxnSpPr>
          <p:cNvPr id="6" name="直接箭头连接符 117">
            <a:extLst>
              <a:ext uri="{FF2B5EF4-FFF2-40B4-BE49-F238E27FC236}">
                <a16:creationId xmlns:a16="http://schemas.microsoft.com/office/drawing/2014/main" id="{9A9573F5-C45F-976E-19BA-0704C031B549}"/>
              </a:ext>
            </a:extLst>
          </p:cNvPr>
          <p:cNvCxnSpPr>
            <a:cxnSpLocks noChangeShapeType="1"/>
            <a:stCxn id="5" idx="2"/>
          </p:cNvCxnSpPr>
          <p:nvPr/>
        </p:nvCxnSpPr>
        <p:spPr bwMode="auto">
          <a:xfrm>
            <a:off x="6071138" y="1411320"/>
            <a:ext cx="324900" cy="131730"/>
          </a:xfrm>
          <a:prstGeom prst="straightConnector1">
            <a:avLst/>
          </a:prstGeom>
          <a:noFill/>
          <a:ln w="12700" algn="ctr">
            <a:solidFill>
              <a:schemeClr val="tx1"/>
            </a:solidFill>
            <a:round/>
            <a:headEnd/>
            <a:tailEnd type="triangle" w="sm" len="lg"/>
          </a:ln>
        </p:spPr>
      </p:cxnSp>
      <p:sp>
        <p:nvSpPr>
          <p:cNvPr id="7" name="文本框 6">
            <a:extLst>
              <a:ext uri="{FF2B5EF4-FFF2-40B4-BE49-F238E27FC236}">
                <a16:creationId xmlns:a16="http://schemas.microsoft.com/office/drawing/2014/main" id="{D888B670-3C31-0E95-3ED2-DB61DFC865D3}"/>
              </a:ext>
            </a:extLst>
          </p:cNvPr>
          <p:cNvSpPr txBox="1"/>
          <p:nvPr/>
        </p:nvSpPr>
        <p:spPr>
          <a:xfrm>
            <a:off x="3418879" y="1428851"/>
            <a:ext cx="2306241" cy="307777"/>
          </a:xfrm>
          <a:prstGeom prst="rect">
            <a:avLst/>
          </a:prstGeom>
          <a:noFill/>
        </p:spPr>
        <p:txBody>
          <a:bodyPr wrap="square">
            <a:spAutoFit/>
          </a:bodyPr>
          <a:lstStyle/>
          <a:p>
            <a:pPr algn="ctr"/>
            <a:r>
              <a:rPr lang="en-US" altLang="zh-CN" sz="1400" b="1" dirty="0">
                <a:solidFill>
                  <a:srgbClr val="C00000"/>
                </a:solidFill>
                <a:latin typeface="微软雅黑" panose="020B0503020204020204" pitchFamily="34" charset="-122"/>
                <a:ea typeface="微软雅黑" panose="020B0503020204020204" pitchFamily="34" charset="-122"/>
              </a:rPr>
              <a:t>P</a:t>
            </a:r>
            <a:r>
              <a:rPr lang="en-US" altLang="zh-CN" sz="1400" b="1" baseline="-25000" dirty="0">
                <a:solidFill>
                  <a:srgbClr val="C00000"/>
                </a:solidFill>
                <a:latin typeface="微软雅黑" panose="020B0503020204020204" pitchFamily="34" charset="-122"/>
                <a:ea typeface="微软雅黑" panose="020B0503020204020204" pitchFamily="34" charset="-122"/>
              </a:rPr>
              <a:t>1</a:t>
            </a:r>
            <a:r>
              <a:rPr lang="en-US" altLang="zh-CN" sz="1400" b="1" dirty="0">
                <a:solidFill>
                  <a:srgbClr val="C00000"/>
                </a:solidFill>
                <a:latin typeface="微软雅黑" panose="020B0503020204020204" pitchFamily="34" charset="-122"/>
                <a:ea typeface="微软雅黑" panose="020B0503020204020204" pitchFamily="34" charset="-122"/>
              </a:rPr>
              <a:t>→P</a:t>
            </a:r>
            <a:r>
              <a:rPr lang="en-US" altLang="zh-CN" sz="1400" b="1" baseline="-25000" dirty="0">
                <a:solidFill>
                  <a:srgbClr val="C00000"/>
                </a:solidFill>
                <a:latin typeface="微软雅黑" panose="020B0503020204020204" pitchFamily="34" charset="-122"/>
                <a:ea typeface="微软雅黑" panose="020B0503020204020204" pitchFamily="34" charset="-122"/>
              </a:rPr>
              <a:t>4 </a:t>
            </a:r>
            <a:r>
              <a:rPr lang="en-US" altLang="zh-CN" sz="1400" b="1" dirty="0">
                <a:solidFill>
                  <a:srgbClr val="C00000"/>
                </a:solidFill>
                <a:latin typeface="微软雅黑" panose="020B0503020204020204" pitchFamily="34" charset="-122"/>
                <a:ea typeface="微软雅黑" panose="020B0503020204020204" pitchFamily="34" charset="-122"/>
              </a:rPr>
              <a:t>, P</a:t>
            </a:r>
            <a:r>
              <a:rPr lang="en-US" altLang="zh-CN" sz="1400" b="1" baseline="-25000" dirty="0">
                <a:solidFill>
                  <a:srgbClr val="C00000"/>
                </a:solidFill>
                <a:latin typeface="微软雅黑" panose="020B0503020204020204" pitchFamily="34" charset="-122"/>
                <a:ea typeface="微软雅黑" panose="020B0503020204020204" pitchFamily="34" charset="-122"/>
              </a:rPr>
              <a:t>1</a:t>
            </a:r>
            <a:r>
              <a:rPr lang="en-US" altLang="zh-CN" sz="1400" b="1" dirty="0">
                <a:solidFill>
                  <a:srgbClr val="C00000"/>
                </a:solidFill>
                <a:latin typeface="微软雅黑" panose="020B0503020204020204" pitchFamily="34" charset="-122"/>
                <a:ea typeface="微软雅黑" panose="020B0503020204020204" pitchFamily="34" charset="-122"/>
              </a:rPr>
              <a:t>→P</a:t>
            </a:r>
            <a:r>
              <a:rPr lang="en-US" altLang="zh-CN" sz="1400" b="1" baseline="-25000" dirty="0">
                <a:solidFill>
                  <a:srgbClr val="C00000"/>
                </a:solidFill>
                <a:latin typeface="微软雅黑" panose="020B0503020204020204" pitchFamily="34" charset="-122"/>
                <a:ea typeface="微软雅黑" panose="020B0503020204020204" pitchFamily="34" charset="-122"/>
              </a:rPr>
              <a:t>5 </a:t>
            </a:r>
            <a:r>
              <a:rPr lang="en-US" altLang="zh-CN" sz="1400" b="1" dirty="0">
                <a:solidFill>
                  <a:srgbClr val="C00000"/>
                </a:solidFill>
                <a:latin typeface="微软雅黑" panose="020B0503020204020204" pitchFamily="34" charset="-122"/>
                <a:ea typeface="微软雅黑" panose="020B0503020204020204" pitchFamily="34" charset="-122"/>
              </a:rPr>
              <a:t>, P</a:t>
            </a:r>
            <a:r>
              <a:rPr lang="en-US" altLang="zh-CN" sz="1400" b="1" baseline="-25000" dirty="0">
                <a:solidFill>
                  <a:srgbClr val="C00000"/>
                </a:solidFill>
                <a:latin typeface="微软雅黑" panose="020B0503020204020204" pitchFamily="34" charset="-122"/>
                <a:ea typeface="微软雅黑" panose="020B0503020204020204" pitchFamily="34" charset="-122"/>
              </a:rPr>
              <a:t>3</a:t>
            </a:r>
            <a:r>
              <a:rPr lang="en-US" altLang="zh-CN" sz="1400" b="1" dirty="0">
                <a:solidFill>
                  <a:srgbClr val="C00000"/>
                </a:solidFill>
                <a:latin typeface="微软雅黑" panose="020B0503020204020204" pitchFamily="34" charset="-122"/>
                <a:ea typeface="微软雅黑" panose="020B0503020204020204" pitchFamily="34" charset="-122"/>
              </a:rPr>
              <a:t>→P</a:t>
            </a:r>
            <a:r>
              <a:rPr lang="en-US" altLang="zh-CN" sz="1400" b="1" baseline="-25000" dirty="0">
                <a:solidFill>
                  <a:srgbClr val="C00000"/>
                </a:solidFill>
                <a:latin typeface="微软雅黑" panose="020B0503020204020204" pitchFamily="34" charset="-122"/>
                <a:ea typeface="微软雅黑" panose="020B0503020204020204" pitchFamily="34" charset="-122"/>
              </a:rPr>
              <a:t>5</a:t>
            </a:r>
            <a:endParaRPr lang="zh-CN" altLang="en-US" sz="1400" b="1" baseline="-25000" dirty="0">
              <a:solidFill>
                <a:srgbClr val="C00000"/>
              </a:solidFill>
              <a:latin typeface="微软雅黑" panose="020B0503020204020204" pitchFamily="34" charset="-122"/>
              <a:ea typeface="微软雅黑" panose="020B0503020204020204" pitchFamily="34" charset="-122"/>
            </a:endParaRPr>
          </a:p>
        </p:txBody>
      </p:sp>
      <p:grpSp>
        <p:nvGrpSpPr>
          <p:cNvPr id="9" name="组合 8">
            <a:extLst>
              <a:ext uri="{FF2B5EF4-FFF2-40B4-BE49-F238E27FC236}">
                <a16:creationId xmlns:a16="http://schemas.microsoft.com/office/drawing/2014/main" id="{0B047358-AF8D-EB23-1E5C-706A6BD04F4B}"/>
              </a:ext>
            </a:extLst>
          </p:cNvPr>
          <p:cNvGrpSpPr/>
          <p:nvPr/>
        </p:nvGrpSpPr>
        <p:grpSpPr>
          <a:xfrm>
            <a:off x="1866159" y="2404045"/>
            <a:ext cx="5125757" cy="923067"/>
            <a:chOff x="1866159" y="2404045"/>
            <a:chExt cx="5125757" cy="923067"/>
          </a:xfrm>
        </p:grpSpPr>
        <p:sp>
          <p:nvSpPr>
            <p:cNvPr id="158" name="下箭头 136"/>
            <p:cNvSpPr>
              <a:spLocks noChangeArrowheads="1"/>
            </p:cNvSpPr>
            <p:nvPr/>
          </p:nvSpPr>
          <p:spPr bwMode="auto">
            <a:xfrm rot="18780000">
              <a:off x="1889633" y="2421171"/>
              <a:ext cx="68924" cy="115871"/>
            </a:xfrm>
            <a:prstGeom prst="downArrow">
              <a:avLst>
                <a:gd name="adj1" fmla="val 50000"/>
                <a:gd name="adj2" fmla="val 50502"/>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1" name="下箭头 147"/>
            <p:cNvSpPr>
              <a:spLocks noChangeArrowheads="1"/>
            </p:cNvSpPr>
            <p:nvPr/>
          </p:nvSpPr>
          <p:spPr bwMode="auto">
            <a:xfrm rot="8520000">
              <a:off x="6606750" y="2568707"/>
              <a:ext cx="66626" cy="139378"/>
            </a:xfrm>
            <a:prstGeom prst="downArrow">
              <a:avLst>
                <a:gd name="adj1" fmla="val 50000"/>
                <a:gd name="adj2" fmla="val 49456"/>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6" name="下箭头 136"/>
            <p:cNvSpPr>
              <a:spLocks noChangeArrowheads="1"/>
            </p:cNvSpPr>
            <p:nvPr/>
          </p:nvSpPr>
          <p:spPr bwMode="auto">
            <a:xfrm rot="16200000">
              <a:off x="4171803" y="3213025"/>
              <a:ext cx="88900" cy="139273"/>
            </a:xfrm>
            <a:prstGeom prst="downArrow">
              <a:avLst>
                <a:gd name="adj1" fmla="val 50000"/>
                <a:gd name="adj2" fmla="val 50502"/>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8" name="下箭头 136"/>
            <p:cNvSpPr>
              <a:spLocks noChangeArrowheads="1"/>
            </p:cNvSpPr>
            <p:nvPr/>
          </p:nvSpPr>
          <p:spPr bwMode="auto">
            <a:xfrm rot="16200000">
              <a:off x="5035031" y="3213025"/>
              <a:ext cx="88900" cy="139273"/>
            </a:xfrm>
            <a:prstGeom prst="downArrow">
              <a:avLst>
                <a:gd name="adj1" fmla="val 50000"/>
                <a:gd name="adj2" fmla="val 50502"/>
              </a:avLst>
            </a:prstGeom>
            <a:solidFill>
              <a:srgbClr val="FFFF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9" name="下箭头 147"/>
            <p:cNvSpPr>
              <a:spLocks noChangeArrowheads="1"/>
            </p:cNvSpPr>
            <p:nvPr/>
          </p:nvSpPr>
          <p:spPr bwMode="auto">
            <a:xfrm rot="13445197">
              <a:off x="6920959" y="2592393"/>
              <a:ext cx="70957" cy="128776"/>
            </a:xfrm>
            <a:prstGeom prst="downArrow">
              <a:avLst>
                <a:gd name="adj1" fmla="val 50000"/>
                <a:gd name="adj2" fmla="val 49456"/>
              </a:avLst>
            </a:prstGeom>
            <a:solidFill>
              <a:srgbClr val="FFFF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8" name="下箭头 136">
              <a:extLst>
                <a:ext uri="{FF2B5EF4-FFF2-40B4-BE49-F238E27FC236}">
                  <a16:creationId xmlns:a16="http://schemas.microsoft.com/office/drawing/2014/main" id="{F022368F-9560-A060-1D21-0A645CABD763}"/>
                </a:ext>
              </a:extLst>
            </p:cNvPr>
            <p:cNvSpPr>
              <a:spLocks noChangeArrowheads="1"/>
            </p:cNvSpPr>
            <p:nvPr/>
          </p:nvSpPr>
          <p:spPr bwMode="auto">
            <a:xfrm rot="18780000">
              <a:off x="2041714" y="2380571"/>
              <a:ext cx="68924" cy="115871"/>
            </a:xfrm>
            <a:prstGeom prst="downArrow">
              <a:avLst>
                <a:gd name="adj1" fmla="val 50000"/>
                <a:gd name="adj2" fmla="val 50502"/>
              </a:avLst>
            </a:prstGeom>
            <a:solidFill>
              <a:srgbClr val="FFFF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332638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5000" fill="hold" nodeType="withEffect">
                                  <p:stCondLst>
                                    <p:cond delay="0"/>
                                  </p:stCondLst>
                                  <p:childTnLst>
                                    <p:anim calcmode="discrete" valueType="str">
                                      <p:cBhvr>
                                        <p:cTn id="6" dur="1000" fill="hold"/>
                                        <p:tgtEl>
                                          <p:spTgt spid="9"/>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1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45143" y="622412"/>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8" name="Rectangle 6"/>
          <p:cNvSpPr>
            <a:spLocks noChangeArrowheads="1"/>
          </p:cNvSpPr>
          <p:nvPr/>
        </p:nvSpPr>
        <p:spPr bwMode="auto">
          <a:xfrm>
            <a:off x="2859033" y="570997"/>
            <a:ext cx="34259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5.2.2  UDP </a:t>
            </a:r>
            <a:r>
              <a:rPr lang="zh-CN" altLang="en-US" sz="2400" b="1" dirty="0">
                <a:solidFill>
                  <a:schemeClr val="bg1"/>
                </a:solidFill>
                <a:latin typeface="微软雅黑" pitchFamily="34" charset="-122"/>
                <a:ea typeface="微软雅黑" pitchFamily="34" charset="-122"/>
              </a:rPr>
              <a:t>的首部格式</a:t>
            </a:r>
          </a:p>
        </p:txBody>
      </p:sp>
      <p:sp>
        <p:nvSpPr>
          <p:cNvPr id="9" name="圆角矩形 8"/>
          <p:cNvSpPr/>
          <p:nvPr/>
        </p:nvSpPr>
        <p:spPr>
          <a:xfrm>
            <a:off x="545143" y="1051915"/>
            <a:ext cx="8053711" cy="234706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176546" y="3383327"/>
            <a:ext cx="7174141" cy="1323439"/>
          </a:xfrm>
          <a:prstGeom prst="rect">
            <a:avLst/>
          </a:prstGeom>
        </p:spPr>
        <p:txBody>
          <a:bodyPr wrap="square">
            <a:spAutoFit/>
          </a:bodyPr>
          <a:lstStyle/>
          <a:p>
            <a:pPr>
              <a:lnSpc>
                <a:spcPts val="2400"/>
              </a:lnSpc>
            </a:pPr>
            <a:r>
              <a:rPr lang="en-US" altLang="zh-CN" sz="1600" b="1" dirty="0">
                <a:solidFill>
                  <a:srgbClr val="0000FF"/>
                </a:solidFill>
                <a:latin typeface="微软雅黑" panose="020B0503020204020204" pitchFamily="34" charset="-122"/>
                <a:ea typeface="微软雅黑" panose="020B0503020204020204" pitchFamily="34" charset="-122"/>
              </a:rPr>
              <a:t>(1) </a:t>
            </a:r>
            <a:r>
              <a:rPr lang="zh-CN" altLang="en-US" sz="1600" b="1" dirty="0">
                <a:solidFill>
                  <a:srgbClr val="0000FF"/>
                </a:solidFill>
                <a:latin typeface="微软雅黑" panose="020B0503020204020204" pitchFamily="34" charset="-122"/>
                <a:ea typeface="微软雅黑" panose="020B0503020204020204" pitchFamily="34" charset="-122"/>
              </a:rPr>
              <a:t>源端口：</a:t>
            </a:r>
            <a:r>
              <a:rPr lang="zh-CN" altLang="en-US" sz="1600" b="1" dirty="0">
                <a:latin typeface="微软雅黑" panose="020B0503020204020204" pitchFamily="34" charset="-122"/>
                <a:ea typeface="微软雅黑" panose="020B0503020204020204" pitchFamily="34" charset="-122"/>
              </a:rPr>
              <a:t>源端口号。在需要对方回信时选用。不需要时可用全 </a:t>
            </a:r>
            <a:r>
              <a:rPr lang="en-US" altLang="zh-CN" sz="1600" b="1" dirty="0">
                <a:latin typeface="微软雅黑" panose="020B0503020204020204" pitchFamily="34" charset="-122"/>
                <a:ea typeface="微软雅黑" panose="020B0503020204020204" pitchFamily="34" charset="-122"/>
              </a:rPr>
              <a:t>0</a:t>
            </a:r>
            <a:r>
              <a:rPr lang="zh-CN" altLang="en-US" sz="1600" b="1" dirty="0">
                <a:latin typeface="微软雅黑" panose="020B0503020204020204" pitchFamily="34" charset="-122"/>
                <a:ea typeface="微软雅黑" panose="020B0503020204020204" pitchFamily="34" charset="-122"/>
              </a:rPr>
              <a:t>。</a:t>
            </a:r>
          </a:p>
          <a:p>
            <a:pPr>
              <a:lnSpc>
                <a:spcPts val="2400"/>
              </a:lnSpc>
            </a:pPr>
            <a:r>
              <a:rPr lang="en-US" altLang="zh-CN" sz="1600" b="1" dirty="0">
                <a:solidFill>
                  <a:srgbClr val="0000FF"/>
                </a:solidFill>
                <a:latin typeface="微软雅黑" panose="020B0503020204020204" pitchFamily="34" charset="-122"/>
                <a:ea typeface="微软雅黑" panose="020B0503020204020204" pitchFamily="34" charset="-122"/>
              </a:rPr>
              <a:t>(2) </a:t>
            </a:r>
            <a:r>
              <a:rPr lang="zh-CN" altLang="en-US" sz="1600" b="1" dirty="0">
                <a:solidFill>
                  <a:srgbClr val="0000FF"/>
                </a:solidFill>
                <a:latin typeface="微软雅黑" panose="020B0503020204020204" pitchFamily="34" charset="-122"/>
                <a:ea typeface="微软雅黑" panose="020B0503020204020204" pitchFamily="34" charset="-122"/>
              </a:rPr>
              <a:t>目的端口：</a:t>
            </a:r>
            <a:r>
              <a:rPr lang="zh-CN" altLang="en-US" sz="1600" b="1" dirty="0">
                <a:latin typeface="微软雅黑" panose="020B0503020204020204" pitchFamily="34" charset="-122"/>
                <a:ea typeface="微软雅黑" panose="020B0503020204020204" pitchFamily="34" charset="-122"/>
              </a:rPr>
              <a:t>目的端口号。终点交付报文时必须使用。</a:t>
            </a:r>
          </a:p>
          <a:p>
            <a:pPr>
              <a:lnSpc>
                <a:spcPts val="2400"/>
              </a:lnSpc>
            </a:pPr>
            <a:r>
              <a:rPr lang="en-US" altLang="zh-CN" sz="1600" b="1" dirty="0">
                <a:solidFill>
                  <a:srgbClr val="0000FF"/>
                </a:solidFill>
                <a:latin typeface="微软雅黑" panose="020B0503020204020204" pitchFamily="34" charset="-122"/>
                <a:ea typeface="微软雅黑" panose="020B0503020204020204" pitchFamily="34" charset="-122"/>
              </a:rPr>
              <a:t>(3) </a:t>
            </a:r>
            <a:r>
              <a:rPr lang="zh-CN" altLang="en-US" sz="1600" b="1" dirty="0">
                <a:solidFill>
                  <a:srgbClr val="0000FF"/>
                </a:solidFill>
                <a:latin typeface="微软雅黑" panose="020B0503020204020204" pitchFamily="34" charset="-122"/>
                <a:ea typeface="微软雅黑" panose="020B0503020204020204" pitchFamily="34" charset="-122"/>
              </a:rPr>
              <a:t>长度：</a:t>
            </a:r>
            <a:r>
              <a:rPr lang="zh-CN" altLang="en-US" sz="1600" b="1" dirty="0">
                <a:latin typeface="微软雅黑" panose="020B0503020204020204" pitchFamily="34" charset="-122"/>
                <a:ea typeface="微软雅黑" panose="020B0503020204020204" pitchFamily="34" charset="-122"/>
              </a:rPr>
              <a:t>首部加上数据部分的总长度，单位是字节。</a:t>
            </a:r>
          </a:p>
          <a:p>
            <a:pPr>
              <a:lnSpc>
                <a:spcPts val="2400"/>
              </a:lnSpc>
            </a:pPr>
            <a:r>
              <a:rPr lang="en-US" altLang="zh-CN" sz="1600" b="1" dirty="0">
                <a:solidFill>
                  <a:srgbClr val="0000FF"/>
                </a:solidFill>
                <a:latin typeface="微软雅黑" panose="020B0503020204020204" pitchFamily="34" charset="-122"/>
                <a:ea typeface="微软雅黑" panose="020B0503020204020204" pitchFamily="34" charset="-122"/>
              </a:rPr>
              <a:t>(4) </a:t>
            </a:r>
            <a:r>
              <a:rPr lang="zh-CN" altLang="en-US" sz="1600" b="1" dirty="0">
                <a:solidFill>
                  <a:srgbClr val="0000FF"/>
                </a:solidFill>
                <a:latin typeface="微软雅黑" panose="020B0503020204020204" pitchFamily="34" charset="-122"/>
                <a:ea typeface="微软雅黑" panose="020B0503020204020204" pitchFamily="34" charset="-122"/>
              </a:rPr>
              <a:t>校验和：</a:t>
            </a:r>
            <a:r>
              <a:rPr lang="zh-CN" altLang="en-US" sz="1600" b="1" dirty="0">
                <a:latin typeface="微软雅黑" panose="020B0503020204020204" pitchFamily="34" charset="-122"/>
                <a:ea typeface="微软雅黑" panose="020B0503020204020204" pitchFamily="34" charset="-122"/>
              </a:rPr>
              <a:t>检测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用户数据报在传输中是否有错。有错就丢弃。</a:t>
            </a:r>
          </a:p>
        </p:txBody>
      </p:sp>
      <p:grpSp>
        <p:nvGrpSpPr>
          <p:cNvPr id="10" name="组合 9"/>
          <p:cNvGrpSpPr/>
          <p:nvPr/>
        </p:nvGrpSpPr>
        <p:grpSpPr>
          <a:xfrm>
            <a:off x="1624570" y="1139493"/>
            <a:ext cx="6624517" cy="918285"/>
            <a:chOff x="1624570" y="1139493"/>
            <a:chExt cx="6624517" cy="918285"/>
          </a:xfrm>
        </p:grpSpPr>
        <p:grpSp>
          <p:nvGrpSpPr>
            <p:cNvPr id="6" name="组合 5"/>
            <p:cNvGrpSpPr/>
            <p:nvPr/>
          </p:nvGrpSpPr>
          <p:grpSpPr>
            <a:xfrm>
              <a:off x="2091658" y="1139493"/>
              <a:ext cx="6157429" cy="918285"/>
              <a:chOff x="2091658" y="1139493"/>
              <a:chExt cx="6157429" cy="918285"/>
            </a:xfrm>
          </p:grpSpPr>
          <p:sp>
            <p:nvSpPr>
              <p:cNvPr id="12" name="Freeform 3"/>
              <p:cNvSpPr>
                <a:spLocks/>
              </p:cNvSpPr>
              <p:nvPr/>
            </p:nvSpPr>
            <p:spPr bwMode="auto">
              <a:xfrm>
                <a:off x="2091658" y="1670941"/>
                <a:ext cx="3283840" cy="386837"/>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00FFFF"/>
                  </a:gs>
                  <a:gs pos="84000">
                    <a:srgbClr val="FF99FF"/>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Rectangle 8"/>
              <p:cNvSpPr>
                <a:spLocks noChangeArrowheads="1"/>
              </p:cNvSpPr>
              <p:nvPr/>
            </p:nvSpPr>
            <p:spPr bwMode="auto">
              <a:xfrm>
                <a:off x="2091658" y="1365241"/>
                <a:ext cx="3283840" cy="299074"/>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8" name="Line 10"/>
              <p:cNvSpPr>
                <a:spLocks noChangeShapeType="1"/>
              </p:cNvSpPr>
              <p:nvPr/>
            </p:nvSpPr>
            <p:spPr bwMode="auto">
              <a:xfrm>
                <a:off x="2912899" y="1365241"/>
                <a:ext cx="1124" cy="29907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1" name="Line 13"/>
              <p:cNvSpPr>
                <a:spLocks noChangeShapeType="1"/>
              </p:cNvSpPr>
              <p:nvPr/>
            </p:nvSpPr>
            <p:spPr bwMode="auto">
              <a:xfrm>
                <a:off x="3733015" y="1365241"/>
                <a:ext cx="2250" cy="29907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2" name="Line 14"/>
              <p:cNvSpPr>
                <a:spLocks noChangeShapeType="1"/>
              </p:cNvSpPr>
              <p:nvPr/>
            </p:nvSpPr>
            <p:spPr bwMode="auto">
              <a:xfrm>
                <a:off x="4554256" y="1365241"/>
                <a:ext cx="1125" cy="29907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5" name="Text Box 17"/>
              <p:cNvSpPr txBox="1">
                <a:spLocks noChangeArrowheads="1"/>
              </p:cNvSpPr>
              <p:nvPr/>
            </p:nvSpPr>
            <p:spPr bwMode="auto">
              <a:xfrm>
                <a:off x="2099533" y="1363164"/>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源端口</a:t>
                </a:r>
              </a:p>
            </p:txBody>
          </p:sp>
          <p:sp>
            <p:nvSpPr>
              <p:cNvPr id="26" name="Text Box 18"/>
              <p:cNvSpPr txBox="1">
                <a:spLocks noChangeArrowheads="1"/>
              </p:cNvSpPr>
              <p:nvPr/>
            </p:nvSpPr>
            <p:spPr bwMode="auto">
              <a:xfrm>
                <a:off x="2871274" y="1363164"/>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目的端口</a:t>
                </a:r>
              </a:p>
            </p:txBody>
          </p:sp>
          <p:sp>
            <p:nvSpPr>
              <p:cNvPr id="27" name="Text Box 19"/>
              <p:cNvSpPr txBox="1">
                <a:spLocks noChangeArrowheads="1"/>
              </p:cNvSpPr>
              <p:nvPr/>
            </p:nvSpPr>
            <p:spPr bwMode="auto">
              <a:xfrm>
                <a:off x="3817389" y="1362126"/>
                <a:ext cx="6495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长  度</a:t>
                </a:r>
              </a:p>
            </p:txBody>
          </p:sp>
          <p:sp>
            <p:nvSpPr>
              <p:cNvPr id="28" name="Text Box 20"/>
              <p:cNvSpPr txBox="1">
                <a:spLocks noChangeArrowheads="1"/>
              </p:cNvSpPr>
              <p:nvPr/>
            </p:nvSpPr>
            <p:spPr bwMode="auto">
              <a:xfrm>
                <a:off x="4628505" y="1363164"/>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校验和</a:t>
                </a:r>
              </a:p>
            </p:txBody>
          </p:sp>
          <p:sp>
            <p:nvSpPr>
              <p:cNvPr id="49" name="Text Box 41"/>
              <p:cNvSpPr txBox="1">
                <a:spLocks noChangeArrowheads="1"/>
              </p:cNvSpPr>
              <p:nvPr/>
            </p:nvSpPr>
            <p:spPr bwMode="auto">
              <a:xfrm>
                <a:off x="2367421" y="1139493"/>
                <a:ext cx="2792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a:solidFill>
                      <a:srgbClr val="000099"/>
                    </a:solidFill>
                    <a:latin typeface="微软雅黑" pitchFamily="34" charset="-122"/>
                    <a:ea typeface="微软雅黑" pitchFamily="34" charset="-122"/>
                  </a:rPr>
                  <a:t>2</a:t>
                </a:r>
              </a:p>
            </p:txBody>
          </p:sp>
          <p:sp>
            <p:nvSpPr>
              <p:cNvPr id="50" name="Text Box 42"/>
              <p:cNvSpPr txBox="1">
                <a:spLocks noChangeArrowheads="1"/>
              </p:cNvSpPr>
              <p:nvPr/>
            </p:nvSpPr>
            <p:spPr bwMode="auto">
              <a:xfrm>
                <a:off x="3235911" y="1139493"/>
                <a:ext cx="2792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a:solidFill>
                      <a:srgbClr val="000099"/>
                    </a:solidFill>
                    <a:latin typeface="微软雅黑" pitchFamily="34" charset="-122"/>
                    <a:ea typeface="微软雅黑" pitchFamily="34" charset="-122"/>
                  </a:rPr>
                  <a:t>2</a:t>
                </a:r>
              </a:p>
            </p:txBody>
          </p:sp>
          <p:sp>
            <p:nvSpPr>
              <p:cNvPr id="51" name="Text Box 43"/>
              <p:cNvSpPr txBox="1">
                <a:spLocks noChangeArrowheads="1"/>
              </p:cNvSpPr>
              <p:nvPr/>
            </p:nvSpPr>
            <p:spPr bwMode="auto">
              <a:xfrm>
                <a:off x="3994153" y="1139493"/>
                <a:ext cx="2792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a:solidFill>
                      <a:srgbClr val="000099"/>
                    </a:solidFill>
                    <a:latin typeface="微软雅黑" pitchFamily="34" charset="-122"/>
                    <a:ea typeface="微软雅黑" pitchFamily="34" charset="-122"/>
                  </a:rPr>
                  <a:t>2</a:t>
                </a:r>
              </a:p>
            </p:txBody>
          </p:sp>
          <p:sp>
            <p:nvSpPr>
              <p:cNvPr id="52" name="Text Box 44"/>
              <p:cNvSpPr txBox="1">
                <a:spLocks noChangeArrowheads="1"/>
              </p:cNvSpPr>
              <p:nvPr/>
            </p:nvSpPr>
            <p:spPr bwMode="auto">
              <a:xfrm>
                <a:off x="4857018" y="1139493"/>
                <a:ext cx="2792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a:solidFill>
                      <a:srgbClr val="000099"/>
                    </a:solidFill>
                    <a:latin typeface="微软雅黑" pitchFamily="34" charset="-122"/>
                    <a:ea typeface="微软雅黑" pitchFamily="34" charset="-122"/>
                  </a:rPr>
                  <a:t>2</a:t>
                </a:r>
              </a:p>
            </p:txBody>
          </p:sp>
          <p:sp>
            <p:nvSpPr>
              <p:cNvPr id="5" name="矩形 4"/>
              <p:cNvSpPr/>
              <p:nvPr/>
            </p:nvSpPr>
            <p:spPr>
              <a:xfrm>
                <a:off x="5438833" y="1203915"/>
                <a:ext cx="2810254" cy="566309"/>
              </a:xfrm>
              <a:prstGeom prst="rect">
                <a:avLst/>
              </a:prstGeom>
            </p:spPr>
            <p:txBody>
              <a:bodyPr wrap="square">
                <a:spAutoFit/>
              </a:bodyPr>
              <a:lstStyle/>
              <a:p>
                <a:pPr>
                  <a:lnSpc>
                    <a:spcPct val="110000"/>
                  </a:lnSpc>
                </a:pPr>
                <a:r>
                  <a:rPr lang="zh-CN" altLang="en-US" sz="1400" b="1" dirty="0">
                    <a:latin typeface="微软雅黑" pitchFamily="34" charset="-122"/>
                    <a:ea typeface="微软雅黑" pitchFamily="34" charset="-122"/>
                  </a:rPr>
                  <a:t>首部字段：</a:t>
                </a:r>
                <a:r>
                  <a:rPr lang="en-US" altLang="zh-CN" sz="1400" b="1" dirty="0">
                    <a:latin typeface="微软雅黑" pitchFamily="34" charset="-122"/>
                    <a:ea typeface="微软雅黑" pitchFamily="34" charset="-122"/>
                  </a:rPr>
                  <a:t>8 </a:t>
                </a:r>
                <a:r>
                  <a:rPr lang="zh-CN" altLang="en-US" sz="1400" b="1" dirty="0">
                    <a:latin typeface="微软雅黑" pitchFamily="34" charset="-122"/>
                    <a:ea typeface="微软雅黑" pitchFamily="34" charset="-122"/>
                  </a:rPr>
                  <a:t>个字节，</a:t>
                </a:r>
                <a:r>
                  <a:rPr lang="en-US" altLang="zh-CN" sz="1400" b="1" dirty="0">
                    <a:latin typeface="微软雅黑" pitchFamily="34" charset="-122"/>
                    <a:ea typeface="微软雅黑" pitchFamily="34" charset="-122"/>
                  </a:rPr>
                  <a:t>4 </a:t>
                </a:r>
                <a:r>
                  <a:rPr lang="zh-CN" altLang="en-US" sz="1400" b="1" dirty="0">
                    <a:latin typeface="微软雅黑" pitchFamily="34" charset="-122"/>
                    <a:ea typeface="微软雅黑" pitchFamily="34" charset="-122"/>
                  </a:rPr>
                  <a:t>个字段，每个字段为 </a:t>
                </a:r>
                <a:r>
                  <a:rPr lang="en-US" altLang="zh-CN" sz="1400" b="1" dirty="0">
                    <a:latin typeface="微软雅黑" pitchFamily="34" charset="-122"/>
                    <a:ea typeface="微软雅黑" pitchFamily="34" charset="-122"/>
                  </a:rPr>
                  <a:t>2 </a:t>
                </a:r>
                <a:r>
                  <a:rPr lang="zh-CN" altLang="en-US" sz="1400" b="1" dirty="0">
                    <a:latin typeface="微软雅黑" pitchFamily="34" charset="-122"/>
                    <a:ea typeface="微软雅黑" pitchFamily="34" charset="-122"/>
                  </a:rPr>
                  <a:t>个字节。 </a:t>
                </a:r>
              </a:p>
            </p:txBody>
          </p:sp>
        </p:grpSp>
        <p:sp>
          <p:nvSpPr>
            <p:cNvPr id="42" name="Text Box 34"/>
            <p:cNvSpPr txBox="1">
              <a:spLocks noChangeArrowheads="1"/>
            </p:cNvSpPr>
            <p:nvPr/>
          </p:nvSpPr>
          <p:spPr bwMode="auto">
            <a:xfrm>
              <a:off x="1624570" y="1156743"/>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99"/>
                  </a:solidFill>
                  <a:latin typeface="微软雅黑" pitchFamily="34" charset="-122"/>
                  <a:ea typeface="微软雅黑" pitchFamily="34" charset="-122"/>
                </a:rPr>
                <a:t>字节</a:t>
              </a:r>
            </a:p>
          </p:txBody>
        </p:sp>
      </p:grpSp>
      <p:sp>
        <p:nvSpPr>
          <p:cNvPr id="59" name="Rectangle 4"/>
          <p:cNvSpPr>
            <a:spLocks noChangeArrowheads="1"/>
          </p:cNvSpPr>
          <p:nvPr/>
        </p:nvSpPr>
        <p:spPr bwMode="auto">
          <a:xfrm>
            <a:off x="2500126" y="2333140"/>
            <a:ext cx="3869267" cy="422758"/>
          </a:xfrm>
          <a:prstGeom prst="rect">
            <a:avLst/>
          </a:prstGeom>
          <a:gradFill flip="none" rotWithShape="1">
            <a:gsLst>
              <a:gs pos="100000">
                <a:srgbClr val="00B0F0"/>
              </a:gs>
              <a:gs pos="0">
                <a:srgbClr val="00FFFF"/>
              </a:gs>
            </a:gsLst>
            <a:lin ang="16200000" scaled="1"/>
            <a:tileRect/>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11" name="Rectangle 2"/>
          <p:cNvSpPr>
            <a:spLocks noChangeArrowheads="1"/>
          </p:cNvSpPr>
          <p:nvPr/>
        </p:nvSpPr>
        <p:spPr bwMode="auto">
          <a:xfrm>
            <a:off x="1732164" y="2648529"/>
            <a:ext cx="764992" cy="299074"/>
          </a:xfrm>
          <a:prstGeom prst="rect">
            <a:avLst/>
          </a:prstGeom>
          <a:solidFill>
            <a:srgbClr val="0000FF"/>
          </a:solidFill>
          <a:ln w="19050">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 name="AutoShape 6"/>
          <p:cNvSpPr>
            <a:spLocks noChangeArrowheads="1"/>
          </p:cNvSpPr>
          <p:nvPr/>
        </p:nvSpPr>
        <p:spPr bwMode="auto">
          <a:xfrm>
            <a:off x="1166295" y="2707721"/>
            <a:ext cx="565870" cy="188998"/>
          </a:xfrm>
          <a:prstGeom prst="leftArrow">
            <a:avLst>
              <a:gd name="adj1" fmla="val 50000"/>
              <a:gd name="adj2" fmla="val 69093"/>
            </a:avLst>
          </a:prstGeom>
          <a:solidFill>
            <a:srgbClr val="FF00FF"/>
          </a:solidFill>
          <a:ln w="12700">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Rectangle 9"/>
          <p:cNvSpPr>
            <a:spLocks noChangeArrowheads="1"/>
          </p:cNvSpPr>
          <p:nvPr/>
        </p:nvSpPr>
        <p:spPr bwMode="auto">
          <a:xfrm>
            <a:off x="2497156" y="2650606"/>
            <a:ext cx="3877834" cy="299074"/>
          </a:xfrm>
          <a:prstGeom prst="rect">
            <a:avLst/>
          </a:prstGeom>
          <a:solidFill>
            <a:srgbClr val="00FFFF"/>
          </a:solidFill>
          <a:ln w="19050">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9" name="Text Box 21"/>
          <p:cNvSpPr txBox="1">
            <a:spLocks noChangeArrowheads="1"/>
          </p:cNvSpPr>
          <p:nvPr/>
        </p:nvSpPr>
        <p:spPr bwMode="auto">
          <a:xfrm>
            <a:off x="3972015" y="2641030"/>
            <a:ext cx="10198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数         据</a:t>
            </a:r>
          </a:p>
        </p:txBody>
      </p:sp>
      <p:sp>
        <p:nvSpPr>
          <p:cNvPr id="30" name="Text Box 22"/>
          <p:cNvSpPr txBox="1">
            <a:spLocks noChangeArrowheads="1"/>
          </p:cNvSpPr>
          <p:nvPr/>
        </p:nvSpPr>
        <p:spPr bwMode="auto">
          <a:xfrm>
            <a:off x="1806413" y="2641030"/>
            <a:ext cx="6495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chemeClr val="bg1"/>
                </a:solidFill>
                <a:latin typeface="微软雅黑" pitchFamily="34" charset="-122"/>
                <a:ea typeface="微软雅黑" pitchFamily="34" charset="-122"/>
              </a:rPr>
              <a:t>首  部</a:t>
            </a:r>
          </a:p>
        </p:txBody>
      </p:sp>
      <p:sp>
        <p:nvSpPr>
          <p:cNvPr id="39" name="Line 31"/>
          <p:cNvSpPr>
            <a:spLocks noChangeShapeType="1"/>
          </p:cNvSpPr>
          <p:nvPr/>
        </p:nvSpPr>
        <p:spPr bwMode="auto">
          <a:xfrm>
            <a:off x="1701789" y="3099216"/>
            <a:ext cx="4673201"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0" name="Rectangle 32"/>
          <p:cNvSpPr>
            <a:spLocks noChangeArrowheads="1"/>
          </p:cNvSpPr>
          <p:nvPr/>
        </p:nvSpPr>
        <p:spPr bwMode="auto">
          <a:xfrm>
            <a:off x="3533270" y="2998486"/>
            <a:ext cx="831367" cy="191075"/>
          </a:xfrm>
          <a:prstGeom prst="rect">
            <a:avLst/>
          </a:prstGeom>
          <a:solidFill>
            <a:srgbClr val="C3E3F9"/>
          </a:solidFill>
          <a:ln>
            <a:noFill/>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1" name="Text Box 33"/>
          <p:cNvSpPr txBox="1">
            <a:spLocks noChangeArrowheads="1"/>
          </p:cNvSpPr>
          <p:nvPr/>
        </p:nvSpPr>
        <p:spPr bwMode="auto">
          <a:xfrm>
            <a:off x="3546806" y="2958571"/>
            <a:ext cx="845103" cy="276999"/>
          </a:xfrm>
          <a:prstGeom prst="rect">
            <a:avLst/>
          </a:prstGeom>
          <a:solidFill>
            <a:srgbClr val="C3E3F9"/>
          </a:solidFill>
          <a:ln>
            <a:noFill/>
          </a:ln>
          <a:effectLst/>
        </p:spPr>
        <p:txBody>
          <a:bodyPr wrap="none">
            <a:spAutoFit/>
          </a:bodyPr>
          <a:lstStyle/>
          <a:p>
            <a:pPr algn="ctr"/>
            <a:r>
              <a:rPr kumimoji="1" lang="en-US" altLang="zh-CN" sz="1200" b="1" dirty="0">
                <a:solidFill>
                  <a:srgbClr val="0000FF"/>
                </a:solidFill>
                <a:latin typeface="微软雅黑" pitchFamily="34" charset="-122"/>
                <a:ea typeface="微软雅黑" pitchFamily="34" charset="-122"/>
              </a:rPr>
              <a:t>IP </a:t>
            </a:r>
            <a:r>
              <a:rPr kumimoji="1" lang="zh-CN" altLang="en-US" sz="1200" b="1" dirty="0">
                <a:solidFill>
                  <a:srgbClr val="0000FF"/>
                </a:solidFill>
                <a:latin typeface="微软雅黑" pitchFamily="34" charset="-122"/>
                <a:ea typeface="微软雅黑" pitchFamily="34" charset="-122"/>
              </a:rPr>
              <a:t>数据报</a:t>
            </a:r>
          </a:p>
        </p:txBody>
      </p:sp>
      <p:sp>
        <p:nvSpPr>
          <p:cNvPr id="54" name="Text Box 46"/>
          <p:cNvSpPr txBox="1">
            <a:spLocks noChangeArrowheads="1"/>
          </p:cNvSpPr>
          <p:nvPr/>
        </p:nvSpPr>
        <p:spPr bwMode="auto">
          <a:xfrm>
            <a:off x="781196" y="2955523"/>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99"/>
                </a:solidFill>
                <a:latin typeface="微软雅黑" pitchFamily="34" charset="-122"/>
                <a:ea typeface="微软雅黑" pitchFamily="34" charset="-122"/>
              </a:rPr>
              <a:t>发送在前</a:t>
            </a:r>
          </a:p>
        </p:txBody>
      </p:sp>
      <p:sp>
        <p:nvSpPr>
          <p:cNvPr id="3" name="矩形 2"/>
          <p:cNvSpPr/>
          <p:nvPr/>
        </p:nvSpPr>
        <p:spPr>
          <a:xfrm>
            <a:off x="6345474" y="1999868"/>
            <a:ext cx="2256915" cy="363176"/>
          </a:xfrm>
          <a:prstGeom prst="rect">
            <a:avLst/>
          </a:prstGeom>
        </p:spPr>
        <p:txBody>
          <a:bodyPr wrap="square">
            <a:spAutoFit/>
          </a:bodyPr>
          <a:lstStyle/>
          <a:p>
            <a:pPr>
              <a:lnSpc>
                <a:spcPct val="110000"/>
              </a:lnSpc>
            </a:pPr>
            <a:r>
              <a:rPr lang="en-US" altLang="zh-CN" sz="1600" b="1" dirty="0">
                <a:latin typeface="微软雅黑" pitchFamily="34" charset="-122"/>
                <a:ea typeface="微软雅黑" pitchFamily="34" charset="-122"/>
              </a:rPr>
              <a:t>2 </a:t>
            </a:r>
            <a:r>
              <a:rPr lang="zh-CN" altLang="en-US" sz="1600" b="1" dirty="0">
                <a:latin typeface="微软雅黑" pitchFamily="34" charset="-122"/>
                <a:ea typeface="微软雅黑" pitchFamily="34" charset="-122"/>
              </a:rPr>
              <a:t>个字段：首部，数据。</a:t>
            </a:r>
            <a:endParaRPr lang="en-US" altLang="zh-CN" sz="1600" b="1" dirty="0">
              <a:latin typeface="微软雅黑" pitchFamily="34" charset="-122"/>
              <a:ea typeface="微软雅黑" pitchFamily="34" charset="-122"/>
            </a:endParaRPr>
          </a:p>
        </p:txBody>
      </p:sp>
      <p:sp>
        <p:nvSpPr>
          <p:cNvPr id="13" name="Rectangle 4"/>
          <p:cNvSpPr>
            <a:spLocks noChangeArrowheads="1"/>
          </p:cNvSpPr>
          <p:nvPr/>
        </p:nvSpPr>
        <p:spPr bwMode="auto">
          <a:xfrm>
            <a:off x="2496031" y="2033901"/>
            <a:ext cx="766118" cy="299074"/>
          </a:xfrm>
          <a:prstGeom prst="rect">
            <a:avLst/>
          </a:prstGeom>
          <a:solidFill>
            <a:srgbClr val="CC00CC"/>
          </a:solidFill>
          <a:ln w="19050">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5" name="Rectangle 48"/>
          <p:cNvSpPr>
            <a:spLocks noChangeArrowheads="1"/>
          </p:cNvSpPr>
          <p:nvPr/>
        </p:nvSpPr>
        <p:spPr bwMode="auto">
          <a:xfrm>
            <a:off x="3262148" y="2033901"/>
            <a:ext cx="3112842" cy="299074"/>
          </a:xfrm>
          <a:prstGeom prst="rect">
            <a:avLst/>
          </a:prstGeom>
          <a:solidFill>
            <a:srgbClr val="66FF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7" name="Text Box 50"/>
          <p:cNvSpPr txBox="1">
            <a:spLocks noChangeArrowheads="1"/>
          </p:cNvSpPr>
          <p:nvPr/>
        </p:nvSpPr>
        <p:spPr bwMode="auto">
          <a:xfrm>
            <a:off x="2596155" y="2025363"/>
            <a:ext cx="6495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chemeClr val="bg1"/>
                </a:solidFill>
                <a:latin typeface="微软雅黑" pitchFamily="34" charset="-122"/>
                <a:ea typeface="微软雅黑" pitchFamily="34" charset="-122"/>
              </a:rPr>
              <a:t>首  部</a:t>
            </a:r>
          </a:p>
        </p:txBody>
      </p:sp>
      <p:sp>
        <p:nvSpPr>
          <p:cNvPr id="58" name="Text Box 52"/>
          <p:cNvSpPr txBox="1">
            <a:spLocks noChangeArrowheads="1"/>
          </p:cNvSpPr>
          <p:nvPr/>
        </p:nvSpPr>
        <p:spPr bwMode="auto">
          <a:xfrm>
            <a:off x="940923" y="2031870"/>
            <a:ext cx="15359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400" b="1" dirty="0">
                <a:solidFill>
                  <a:srgbClr val="000099"/>
                </a:solidFill>
                <a:latin typeface="微软雅黑" pitchFamily="34" charset="-122"/>
                <a:ea typeface="微软雅黑" pitchFamily="34" charset="-122"/>
              </a:rPr>
              <a:t>UDP </a:t>
            </a:r>
            <a:r>
              <a:rPr kumimoji="1" lang="zh-CN" altLang="en-US" sz="1400" b="1" dirty="0">
                <a:solidFill>
                  <a:srgbClr val="000099"/>
                </a:solidFill>
                <a:latin typeface="微软雅黑" pitchFamily="34" charset="-122"/>
                <a:ea typeface="微软雅黑" pitchFamily="34" charset="-122"/>
              </a:rPr>
              <a:t>用户数据报</a:t>
            </a:r>
          </a:p>
        </p:txBody>
      </p:sp>
      <p:sp>
        <p:nvSpPr>
          <p:cNvPr id="4" name="Rectangle 4">
            <a:extLst>
              <a:ext uri="{FF2B5EF4-FFF2-40B4-BE49-F238E27FC236}">
                <a16:creationId xmlns:a16="http://schemas.microsoft.com/office/drawing/2014/main" id="{871380E8-750C-2820-689F-E44AE9C444E6}"/>
              </a:ext>
            </a:extLst>
          </p:cNvPr>
          <p:cNvSpPr>
            <a:spLocks noChangeArrowheads="1"/>
          </p:cNvSpPr>
          <p:nvPr/>
        </p:nvSpPr>
        <p:spPr bwMode="auto">
          <a:xfrm>
            <a:off x="2497156" y="2025363"/>
            <a:ext cx="766118" cy="299074"/>
          </a:xfrm>
          <a:prstGeom prst="rect">
            <a:avLst/>
          </a:prstGeom>
          <a:solidFill>
            <a:srgbClr val="CC00CC"/>
          </a:solidFill>
          <a:ln w="19050">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nvGrpSpPr>
          <p:cNvPr id="19" name="组合 18">
            <a:extLst>
              <a:ext uri="{FF2B5EF4-FFF2-40B4-BE49-F238E27FC236}">
                <a16:creationId xmlns:a16="http://schemas.microsoft.com/office/drawing/2014/main" id="{B531C7FD-57A7-6AE8-B7CF-187D9AD4D47E}"/>
              </a:ext>
            </a:extLst>
          </p:cNvPr>
          <p:cNvGrpSpPr/>
          <p:nvPr/>
        </p:nvGrpSpPr>
        <p:grpSpPr>
          <a:xfrm>
            <a:off x="2597280" y="2016825"/>
            <a:ext cx="2787187" cy="316315"/>
            <a:chOff x="2597280" y="2016825"/>
            <a:chExt cx="2787187" cy="316315"/>
          </a:xfrm>
        </p:grpSpPr>
        <p:sp>
          <p:nvSpPr>
            <p:cNvPr id="56" name="Text Box 49"/>
            <p:cNvSpPr txBox="1">
              <a:spLocks noChangeArrowheads="1"/>
            </p:cNvSpPr>
            <p:nvPr/>
          </p:nvSpPr>
          <p:spPr bwMode="auto">
            <a:xfrm>
              <a:off x="4364636" y="2025363"/>
              <a:ext cx="10198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数         据</a:t>
              </a:r>
            </a:p>
          </p:txBody>
        </p:sp>
        <p:sp>
          <p:nvSpPr>
            <p:cNvPr id="15" name="Text Box 50">
              <a:extLst>
                <a:ext uri="{FF2B5EF4-FFF2-40B4-BE49-F238E27FC236}">
                  <a16:creationId xmlns:a16="http://schemas.microsoft.com/office/drawing/2014/main" id="{B4FB06BD-A053-9D6C-A327-9D9892CF957D}"/>
                </a:ext>
              </a:extLst>
            </p:cNvPr>
            <p:cNvSpPr txBox="1">
              <a:spLocks noChangeArrowheads="1"/>
            </p:cNvSpPr>
            <p:nvPr/>
          </p:nvSpPr>
          <p:spPr bwMode="auto">
            <a:xfrm>
              <a:off x="2597280" y="2016825"/>
              <a:ext cx="6495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chemeClr val="bg1"/>
                  </a:solidFill>
                  <a:latin typeface="微软雅黑" pitchFamily="34" charset="-122"/>
                  <a:ea typeface="微软雅黑" pitchFamily="34" charset="-122"/>
                </a:rPr>
                <a:t>首  部</a:t>
              </a:r>
            </a:p>
          </p:txBody>
        </p:sp>
      </p:grpSp>
      <p:sp>
        <p:nvSpPr>
          <p:cNvPr id="23" name="文本框 22">
            <a:extLst>
              <a:ext uri="{FF2B5EF4-FFF2-40B4-BE49-F238E27FC236}">
                <a16:creationId xmlns:a16="http://schemas.microsoft.com/office/drawing/2014/main" id="{0BB46B54-E13B-C7FC-52DC-D919EFAFA3A0}"/>
              </a:ext>
            </a:extLst>
          </p:cNvPr>
          <p:cNvSpPr txBox="1"/>
          <p:nvPr/>
        </p:nvSpPr>
        <p:spPr>
          <a:xfrm>
            <a:off x="1339304" y="2418707"/>
            <a:ext cx="6433095" cy="923330"/>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zh-CN" altLang="en-US" b="1" dirty="0">
                <a:latin typeface="微软雅黑" panose="020B0503020204020204" pitchFamily="34" charset="-122"/>
                <a:ea typeface="微软雅黑" panose="020B0503020204020204" pitchFamily="34" charset="-122"/>
              </a:rPr>
              <a:t>如果接收方</a:t>
            </a:r>
            <a:r>
              <a:rPr lang="en-US" altLang="zh-CN" b="1" dirty="0">
                <a:latin typeface="微软雅黑" panose="020B0503020204020204" pitchFamily="34" charset="-122"/>
                <a:ea typeface="微软雅黑" panose="020B0503020204020204" pitchFamily="34" charset="-122"/>
              </a:rPr>
              <a:t>UDP</a:t>
            </a:r>
            <a:r>
              <a:rPr lang="zh-CN" altLang="en-US" b="1" dirty="0">
                <a:latin typeface="微软雅黑" panose="020B0503020204020204" pitchFamily="34" charset="-122"/>
                <a:ea typeface="微软雅黑" panose="020B0503020204020204" pitchFamily="34" charset="-122"/>
              </a:rPr>
              <a:t>发现收到的报文中的目的端口号不正确（即不存在对应于该端口号的应用进程），就丢弃该报文，并由互联网控制报文协议</a:t>
            </a:r>
            <a:r>
              <a:rPr lang="en-US" altLang="zh-CN" b="1" dirty="0">
                <a:latin typeface="微软雅黑" panose="020B0503020204020204" pitchFamily="34" charset="-122"/>
                <a:ea typeface="微软雅黑" panose="020B0503020204020204" pitchFamily="34" charset="-122"/>
              </a:rPr>
              <a:t>ICMP</a:t>
            </a:r>
            <a:r>
              <a:rPr lang="zh-CN" altLang="en-US" b="1" dirty="0">
                <a:latin typeface="微软雅黑" panose="020B0503020204020204" pitchFamily="34" charset="-122"/>
                <a:ea typeface="微软雅黑" panose="020B0503020204020204" pitchFamily="34" charset="-122"/>
              </a:rPr>
              <a:t>发送“端口不可达”差错报文给发送方。</a:t>
            </a:r>
          </a:p>
        </p:txBody>
      </p:sp>
    </p:spTree>
    <p:extLst>
      <p:ext uri="{BB962C8B-B14F-4D97-AF65-F5344CB8AC3E}">
        <p14:creationId xmlns:p14="http://schemas.microsoft.com/office/powerpoint/2010/main" val="3788718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nodeType="clickEffect">
                                  <p:stCondLst>
                                    <p:cond delay="0"/>
                                  </p:stCondLst>
                                  <p:childTnLst>
                                    <p:anim calcmode="discrete" valueType="str">
                                      <p:cBhvr>
                                        <p:cTn id="6" dur="1000" fill="hold"/>
                                        <p:tgtEl>
                                          <p:spTgt spid="19"/>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down)">
                                      <p:cBhvr>
                                        <p:cTn id="11" dur="10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2">
                                            <p:txEl>
                                              <p:pRg st="0" end="0"/>
                                            </p:txEl>
                                          </p:spTgt>
                                        </p:tgtEl>
                                        <p:attrNameLst>
                                          <p:attrName>style.visibility</p:attrName>
                                        </p:attrNameLst>
                                      </p:cBhvr>
                                      <p:to>
                                        <p:strVal val="visible"/>
                                      </p:to>
                                    </p:set>
                                    <p:animEffect transition="in" filter="fade">
                                      <p:cBhvr>
                                        <p:cTn id="16" dur="1000"/>
                                        <p:tgtEl>
                                          <p:spTgt spid="2">
                                            <p:txEl>
                                              <p:pRg st="0" end="0"/>
                                            </p:txEl>
                                          </p:spTgt>
                                        </p:tgtEl>
                                      </p:cBhvr>
                                    </p:animEffect>
                                    <p:anim calcmode="lin" valueType="num">
                                      <p:cBhvr>
                                        <p:cTn id="17"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8"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2">
                                            <p:txEl>
                                              <p:pRg st="1" end="1"/>
                                            </p:txEl>
                                          </p:spTgt>
                                        </p:tgtEl>
                                        <p:attrNameLst>
                                          <p:attrName>style.visibility</p:attrName>
                                        </p:attrNameLst>
                                      </p:cBhvr>
                                      <p:to>
                                        <p:strVal val="visible"/>
                                      </p:to>
                                    </p:set>
                                    <p:animEffect transition="in" filter="fade">
                                      <p:cBhvr>
                                        <p:cTn id="23" dur="1000"/>
                                        <p:tgtEl>
                                          <p:spTgt spid="2">
                                            <p:txEl>
                                              <p:pRg st="1" end="1"/>
                                            </p:txEl>
                                          </p:spTgt>
                                        </p:tgtEl>
                                      </p:cBhvr>
                                    </p:animEffect>
                                    <p:anim calcmode="lin" valueType="num">
                                      <p:cBhvr>
                                        <p:cTn id="24"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5"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23"/>
                                        </p:tgtEl>
                                        <p:attrNameLst>
                                          <p:attrName>style.visibility</p:attrName>
                                        </p:attrNameLst>
                                      </p:cBhvr>
                                      <p:to>
                                        <p:strVal val="visible"/>
                                      </p:to>
                                    </p:set>
                                    <p:anim calcmode="lin" valueType="num">
                                      <p:cBhvr>
                                        <p:cTn id="30" dur="500" fill="hold"/>
                                        <p:tgtEl>
                                          <p:spTgt spid="23"/>
                                        </p:tgtEl>
                                        <p:attrNameLst>
                                          <p:attrName>ppt_w</p:attrName>
                                        </p:attrNameLst>
                                      </p:cBhvr>
                                      <p:tavLst>
                                        <p:tav tm="0">
                                          <p:val>
                                            <p:fltVal val="0"/>
                                          </p:val>
                                        </p:tav>
                                        <p:tav tm="100000">
                                          <p:val>
                                            <p:strVal val="#ppt_w"/>
                                          </p:val>
                                        </p:tav>
                                      </p:tavLst>
                                    </p:anim>
                                    <p:anim calcmode="lin" valueType="num">
                                      <p:cBhvr>
                                        <p:cTn id="31" dur="500" fill="hold"/>
                                        <p:tgtEl>
                                          <p:spTgt spid="23"/>
                                        </p:tgtEl>
                                        <p:attrNameLst>
                                          <p:attrName>ppt_h</p:attrName>
                                        </p:attrNameLst>
                                      </p:cBhvr>
                                      <p:tavLst>
                                        <p:tav tm="0">
                                          <p:val>
                                            <p:fltVal val="0"/>
                                          </p:val>
                                        </p:tav>
                                        <p:tav tm="100000">
                                          <p:val>
                                            <p:strVal val="#ppt_h"/>
                                          </p:val>
                                        </p:tav>
                                      </p:tavLst>
                                    </p:anim>
                                    <p:animEffect transition="in" filter="fade">
                                      <p:cBhvr>
                                        <p:cTn id="32" dur="500"/>
                                        <p:tgtEl>
                                          <p:spTgt spid="23"/>
                                        </p:tgtEl>
                                      </p:cBhvr>
                                    </p:animEffec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2">
                                            <p:txEl>
                                              <p:pRg st="2" end="2"/>
                                            </p:txEl>
                                          </p:spTgt>
                                        </p:tgtEl>
                                        <p:attrNameLst>
                                          <p:attrName>style.visibility</p:attrName>
                                        </p:attrNameLst>
                                      </p:cBhvr>
                                      <p:to>
                                        <p:strVal val="visible"/>
                                      </p:to>
                                    </p:set>
                                    <p:animEffect transition="in" filter="fade">
                                      <p:cBhvr>
                                        <p:cTn id="37" dur="1000"/>
                                        <p:tgtEl>
                                          <p:spTgt spid="2">
                                            <p:txEl>
                                              <p:pRg st="2" end="2"/>
                                            </p:txEl>
                                          </p:spTgt>
                                        </p:tgtEl>
                                      </p:cBhvr>
                                    </p:animEffect>
                                    <p:anim calcmode="lin" valueType="num">
                                      <p:cBhvr>
                                        <p:cTn id="38"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9"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2">
                                            <p:txEl>
                                              <p:pRg st="3" end="3"/>
                                            </p:txEl>
                                          </p:spTgt>
                                        </p:tgtEl>
                                        <p:attrNameLst>
                                          <p:attrName>style.visibility</p:attrName>
                                        </p:attrNameLst>
                                      </p:cBhvr>
                                      <p:to>
                                        <p:strVal val="visible"/>
                                      </p:to>
                                    </p:set>
                                    <p:animEffect transition="in" filter="fade">
                                      <p:cBhvr>
                                        <p:cTn id="44" dur="1000"/>
                                        <p:tgtEl>
                                          <p:spTgt spid="2">
                                            <p:txEl>
                                              <p:pRg st="3" end="3"/>
                                            </p:txEl>
                                          </p:spTgt>
                                        </p:tgtEl>
                                      </p:cBhvr>
                                    </p:animEffect>
                                    <p:anim calcmode="lin" valueType="num">
                                      <p:cBhvr>
                                        <p:cTn id="45"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46"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23"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圆角矩形 1"/>
          <p:cNvSpPr/>
          <p:nvPr/>
        </p:nvSpPr>
        <p:spPr>
          <a:xfrm>
            <a:off x="545144" y="585216"/>
            <a:ext cx="8053711" cy="37764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 Box 155"/>
          <p:cNvSpPr txBox="1">
            <a:spLocks noChangeArrowheads="1"/>
          </p:cNvSpPr>
          <p:nvPr/>
        </p:nvSpPr>
        <p:spPr bwMode="auto">
          <a:xfrm>
            <a:off x="1876424" y="732691"/>
            <a:ext cx="5519739" cy="680507"/>
          </a:xfrm>
          <a:prstGeom prst="rect">
            <a:avLst/>
          </a:prstGeom>
          <a:solidFill>
            <a:srgbClr val="0000FF"/>
          </a:solidFill>
          <a:ln w="9525">
            <a:noFill/>
            <a:miter lim="800000"/>
            <a:headEnd/>
            <a:tailEnd/>
          </a:ln>
          <a:effectLst/>
        </p:spPr>
        <p:txBody>
          <a:bodyPr wrap="square">
            <a:spAutoFit/>
          </a:bodyPr>
          <a:lstStyle/>
          <a:p>
            <a:pPr>
              <a:lnSpc>
                <a:spcPct val="110000"/>
              </a:lnSpc>
            </a:pPr>
            <a:r>
              <a:rPr lang="zh-CN" altLang="en-US" b="1" dirty="0">
                <a:solidFill>
                  <a:srgbClr val="FFFF00"/>
                </a:solidFill>
                <a:latin typeface="微软雅黑" pitchFamily="34" charset="-122"/>
                <a:ea typeface="微软雅黑" pitchFamily="34" charset="-122"/>
              </a:rPr>
              <a:t>伪首部</a:t>
            </a:r>
            <a:r>
              <a:rPr lang="zh-CN" altLang="en-US" b="1" dirty="0">
                <a:solidFill>
                  <a:schemeClr val="bg1"/>
                </a:solidFill>
                <a:latin typeface="微软雅黑" pitchFamily="34" charset="-122"/>
                <a:ea typeface="微软雅黑" pitchFamily="34" charset="-122"/>
              </a:rPr>
              <a:t>仅仅是在计算校验和时，临时添加在</a:t>
            </a:r>
            <a:r>
              <a:rPr lang="en-US" altLang="zh-CN" b="1" dirty="0">
                <a:solidFill>
                  <a:schemeClr val="bg1"/>
                </a:solidFill>
                <a:latin typeface="微软雅黑" pitchFamily="34" charset="-122"/>
                <a:ea typeface="微软雅黑" pitchFamily="34" charset="-122"/>
              </a:rPr>
              <a:t>UDP</a:t>
            </a:r>
            <a:r>
              <a:rPr lang="zh-CN" altLang="en-US" b="1" dirty="0">
                <a:solidFill>
                  <a:schemeClr val="bg1"/>
                </a:solidFill>
                <a:latin typeface="微软雅黑" pitchFamily="34" charset="-122"/>
                <a:ea typeface="微软雅黑" pitchFamily="34" charset="-122"/>
              </a:rPr>
              <a:t>用户数据报前面，提供了更强的端到端完整性保护。</a:t>
            </a:r>
          </a:p>
        </p:txBody>
      </p:sp>
      <p:sp>
        <p:nvSpPr>
          <p:cNvPr id="4" name="Rectangle 2"/>
          <p:cNvSpPr>
            <a:spLocks noChangeArrowheads="1"/>
          </p:cNvSpPr>
          <p:nvPr/>
        </p:nvSpPr>
        <p:spPr bwMode="auto">
          <a:xfrm>
            <a:off x="2898378" y="3556812"/>
            <a:ext cx="772600" cy="302048"/>
          </a:xfrm>
          <a:prstGeom prst="rect">
            <a:avLst/>
          </a:prstGeom>
          <a:solidFill>
            <a:srgbClr val="0033CC"/>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5" name="Freeform 3"/>
          <p:cNvSpPr>
            <a:spLocks/>
          </p:cNvSpPr>
          <p:nvPr/>
        </p:nvSpPr>
        <p:spPr bwMode="auto">
          <a:xfrm>
            <a:off x="3314219" y="2754490"/>
            <a:ext cx="3316500" cy="231247"/>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00B0F0"/>
              </a:gs>
              <a:gs pos="100000">
                <a:srgbClr val="FF99FF"/>
              </a:gs>
            </a:gsLst>
            <a:lin ang="5400000" scaled="1"/>
          </a:gra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6" name="Rectangle 4"/>
          <p:cNvSpPr>
            <a:spLocks noChangeArrowheads="1"/>
          </p:cNvSpPr>
          <p:nvPr/>
        </p:nvSpPr>
        <p:spPr bwMode="auto">
          <a:xfrm>
            <a:off x="3669842" y="2985736"/>
            <a:ext cx="773737" cy="302048"/>
          </a:xfrm>
          <a:prstGeom prst="rect">
            <a:avLst/>
          </a:prstGeom>
          <a:solidFill>
            <a:srgbClr val="CC00CC"/>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7" name="AutoShape 6"/>
          <p:cNvSpPr>
            <a:spLocks noChangeArrowheads="1"/>
          </p:cNvSpPr>
          <p:nvPr/>
        </p:nvSpPr>
        <p:spPr bwMode="auto">
          <a:xfrm>
            <a:off x="2326881" y="3616593"/>
            <a:ext cx="571498" cy="190878"/>
          </a:xfrm>
          <a:prstGeom prst="leftArrow">
            <a:avLst>
              <a:gd name="adj1" fmla="val 50000"/>
              <a:gd name="adj2" fmla="val 69093"/>
            </a:avLst>
          </a:prstGeom>
          <a:solidFill>
            <a:srgbClr val="CC00CC"/>
          </a:solidFill>
          <a:ln w="1270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9" name="Rectangle 8"/>
          <p:cNvSpPr>
            <a:spLocks noChangeArrowheads="1"/>
          </p:cNvSpPr>
          <p:nvPr/>
        </p:nvSpPr>
        <p:spPr bwMode="auto">
          <a:xfrm>
            <a:off x="3314219" y="2452442"/>
            <a:ext cx="3316500" cy="302048"/>
          </a:xfrm>
          <a:prstGeom prst="rect">
            <a:avLst/>
          </a:prstGeom>
          <a:solidFill>
            <a:srgbClr val="00FFFF"/>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10" name="Rectangle 9"/>
          <p:cNvSpPr>
            <a:spLocks noChangeArrowheads="1"/>
          </p:cNvSpPr>
          <p:nvPr/>
        </p:nvSpPr>
        <p:spPr bwMode="auto">
          <a:xfrm>
            <a:off x="3670978" y="3558910"/>
            <a:ext cx="3916401" cy="302048"/>
          </a:xfrm>
          <a:prstGeom prst="rect">
            <a:avLst/>
          </a:prstGeom>
          <a:solidFill>
            <a:srgbClr val="00FFFF"/>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11" name="Line 10"/>
          <p:cNvSpPr>
            <a:spLocks noChangeShapeType="1"/>
          </p:cNvSpPr>
          <p:nvPr/>
        </p:nvSpPr>
        <p:spPr bwMode="auto">
          <a:xfrm>
            <a:off x="4143628" y="2452442"/>
            <a:ext cx="1136"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3"/>
          <p:cNvSpPr>
            <a:spLocks noChangeShapeType="1"/>
          </p:cNvSpPr>
          <p:nvPr/>
        </p:nvSpPr>
        <p:spPr bwMode="auto">
          <a:xfrm>
            <a:off x="4971900" y="2452442"/>
            <a:ext cx="2273"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4"/>
          <p:cNvSpPr>
            <a:spLocks noChangeShapeType="1"/>
          </p:cNvSpPr>
          <p:nvPr/>
        </p:nvSpPr>
        <p:spPr bwMode="auto">
          <a:xfrm>
            <a:off x="5801309" y="2452442"/>
            <a:ext cx="1136"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Freeform 15"/>
          <p:cNvSpPr>
            <a:spLocks/>
          </p:cNvSpPr>
          <p:nvPr/>
        </p:nvSpPr>
        <p:spPr bwMode="auto">
          <a:xfrm>
            <a:off x="2420047" y="2452442"/>
            <a:ext cx="894172" cy="302048"/>
          </a:xfrm>
          <a:custGeom>
            <a:avLst/>
            <a:gdLst>
              <a:gd name="T0" fmla="*/ 672 w 672"/>
              <a:gd name="T1" fmla="*/ 288 h 288"/>
              <a:gd name="T2" fmla="*/ 0 w 672"/>
              <a:gd name="T3" fmla="*/ 288 h 288"/>
              <a:gd name="T4" fmla="*/ 0 w 672"/>
              <a:gd name="T5" fmla="*/ 0 h 288"/>
              <a:gd name="T6" fmla="*/ 672 w 672"/>
              <a:gd name="T7" fmla="*/ 0 h 288"/>
            </a:gdLst>
            <a:ahLst/>
            <a:cxnLst>
              <a:cxn ang="0">
                <a:pos x="T0" y="T1"/>
              </a:cxn>
              <a:cxn ang="0">
                <a:pos x="T2" y="T3"/>
              </a:cxn>
              <a:cxn ang="0">
                <a:pos x="T4" y="T5"/>
              </a:cxn>
              <a:cxn ang="0">
                <a:pos x="T6" y="T7"/>
              </a:cxn>
            </a:cxnLst>
            <a:rect l="0" t="0" r="r" b="b"/>
            <a:pathLst>
              <a:path w="672" h="288">
                <a:moveTo>
                  <a:pt x="672" y="288"/>
                </a:moveTo>
                <a:lnTo>
                  <a:pt x="0" y="288"/>
                </a:lnTo>
                <a:lnTo>
                  <a:pt x="0" y="0"/>
                </a:lnTo>
                <a:lnTo>
                  <a:pt x="672" y="0"/>
                </a:lnTo>
              </a:path>
            </a:pathLst>
          </a:custGeom>
          <a:solidFill>
            <a:srgbClr val="0000FF"/>
          </a:solidFill>
          <a:ln w="19050" cap="flat" cmpd="sng">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Text Box 16"/>
          <p:cNvSpPr txBox="1">
            <a:spLocks noChangeArrowheads="1"/>
          </p:cNvSpPr>
          <p:nvPr/>
        </p:nvSpPr>
        <p:spPr bwMode="auto">
          <a:xfrm>
            <a:off x="2522412" y="2459489"/>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itchFamily="34" charset="-122"/>
                <a:ea typeface="微软雅黑" pitchFamily="34" charset="-122"/>
              </a:rPr>
              <a:t>伪首部</a:t>
            </a:r>
          </a:p>
        </p:txBody>
      </p:sp>
      <p:sp>
        <p:nvSpPr>
          <p:cNvPr id="18" name="Text Box 17"/>
          <p:cNvSpPr txBox="1">
            <a:spLocks noChangeArrowheads="1"/>
          </p:cNvSpPr>
          <p:nvPr/>
        </p:nvSpPr>
        <p:spPr bwMode="auto">
          <a:xfrm>
            <a:off x="3395324" y="2450345"/>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源端口</a:t>
            </a:r>
          </a:p>
        </p:txBody>
      </p:sp>
      <p:sp>
        <p:nvSpPr>
          <p:cNvPr id="19" name="Text Box 18"/>
          <p:cNvSpPr txBox="1">
            <a:spLocks noChangeArrowheads="1"/>
          </p:cNvSpPr>
          <p:nvPr/>
        </p:nvSpPr>
        <p:spPr bwMode="auto">
          <a:xfrm>
            <a:off x="4147308" y="2450345"/>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目的端口</a:t>
            </a:r>
          </a:p>
        </p:txBody>
      </p:sp>
      <p:sp>
        <p:nvSpPr>
          <p:cNvPr id="20" name="Text Box 19"/>
          <p:cNvSpPr txBox="1">
            <a:spLocks noChangeArrowheads="1"/>
          </p:cNvSpPr>
          <p:nvPr/>
        </p:nvSpPr>
        <p:spPr bwMode="auto">
          <a:xfrm>
            <a:off x="5102834" y="2449296"/>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itchFamily="34" charset="-122"/>
                <a:ea typeface="微软雅黑" pitchFamily="34" charset="-122"/>
              </a:rPr>
              <a:t>长  度</a:t>
            </a:r>
          </a:p>
        </p:txBody>
      </p:sp>
      <p:sp>
        <p:nvSpPr>
          <p:cNvPr id="21" name="Text Box 20"/>
          <p:cNvSpPr txBox="1">
            <a:spLocks noChangeArrowheads="1"/>
          </p:cNvSpPr>
          <p:nvPr/>
        </p:nvSpPr>
        <p:spPr bwMode="auto">
          <a:xfrm>
            <a:off x="5903729" y="2450345"/>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校验和</a:t>
            </a:r>
          </a:p>
        </p:txBody>
      </p:sp>
      <p:sp>
        <p:nvSpPr>
          <p:cNvPr id="22" name="Text Box 21"/>
          <p:cNvSpPr txBox="1">
            <a:spLocks noChangeArrowheads="1"/>
          </p:cNvSpPr>
          <p:nvPr/>
        </p:nvSpPr>
        <p:spPr bwMode="auto">
          <a:xfrm>
            <a:off x="5160505" y="3586179"/>
            <a:ext cx="9108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itchFamily="34" charset="-122"/>
                <a:ea typeface="微软雅黑" pitchFamily="34" charset="-122"/>
              </a:rPr>
              <a:t>数         据</a:t>
            </a:r>
          </a:p>
        </p:txBody>
      </p:sp>
      <p:sp>
        <p:nvSpPr>
          <p:cNvPr id="23" name="Text Box 22"/>
          <p:cNvSpPr txBox="1">
            <a:spLocks noChangeArrowheads="1"/>
          </p:cNvSpPr>
          <p:nvPr/>
        </p:nvSpPr>
        <p:spPr bwMode="auto">
          <a:xfrm>
            <a:off x="2982509" y="3577035"/>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itchFamily="34" charset="-122"/>
                <a:ea typeface="微软雅黑" pitchFamily="34" charset="-122"/>
              </a:rPr>
              <a:t>首  部</a:t>
            </a:r>
          </a:p>
        </p:txBody>
      </p:sp>
      <p:sp>
        <p:nvSpPr>
          <p:cNvPr id="32" name="Line 31"/>
          <p:cNvSpPr>
            <a:spLocks noChangeShapeType="1"/>
          </p:cNvSpPr>
          <p:nvPr/>
        </p:nvSpPr>
        <p:spPr bwMode="auto">
          <a:xfrm>
            <a:off x="2867701" y="4011982"/>
            <a:ext cx="4719679" cy="0"/>
          </a:xfrm>
          <a:prstGeom prst="line">
            <a:avLst/>
          </a:prstGeom>
          <a:noFill/>
          <a:ln w="127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Rectangle 32"/>
          <p:cNvSpPr>
            <a:spLocks noChangeArrowheads="1"/>
          </p:cNvSpPr>
          <p:nvPr/>
        </p:nvSpPr>
        <p:spPr bwMode="auto">
          <a:xfrm>
            <a:off x="4717397" y="3910250"/>
            <a:ext cx="839635" cy="192975"/>
          </a:xfrm>
          <a:prstGeom prst="rect">
            <a:avLst/>
          </a:prstGeom>
          <a:solidFill>
            <a:srgbClr val="C3E3F9"/>
          </a:soli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34" name="Text Box 33"/>
          <p:cNvSpPr txBox="1">
            <a:spLocks noChangeArrowheads="1"/>
          </p:cNvSpPr>
          <p:nvPr/>
        </p:nvSpPr>
        <p:spPr bwMode="auto">
          <a:xfrm>
            <a:off x="4693592" y="3880264"/>
            <a:ext cx="845103" cy="276999"/>
          </a:xfrm>
          <a:prstGeom prst="rect">
            <a:avLst/>
          </a:prstGeom>
          <a:solidFill>
            <a:srgbClr val="C3E3F9"/>
          </a:solidFill>
          <a:ln>
            <a:noFill/>
          </a:ln>
          <a:effectLst/>
        </p:spPr>
        <p:txBody>
          <a:bodyPr wrap="none">
            <a:spAutoFit/>
          </a:bodyPr>
          <a:lstStyle/>
          <a:p>
            <a:r>
              <a:rPr kumimoji="1" lang="en-US" altLang="zh-CN" sz="1200" b="1" dirty="0">
                <a:solidFill>
                  <a:srgbClr val="0033CC"/>
                </a:solidFill>
                <a:latin typeface="微软雅黑" pitchFamily="34" charset="-122"/>
                <a:ea typeface="微软雅黑" pitchFamily="34" charset="-122"/>
              </a:rPr>
              <a:t>IP </a:t>
            </a:r>
            <a:r>
              <a:rPr kumimoji="1" lang="zh-CN" altLang="en-US" sz="1200" b="1" dirty="0">
                <a:solidFill>
                  <a:srgbClr val="0033CC"/>
                </a:solidFill>
                <a:latin typeface="微软雅黑" pitchFamily="34" charset="-122"/>
                <a:ea typeface="微软雅黑" pitchFamily="34" charset="-122"/>
              </a:rPr>
              <a:t>数据报</a:t>
            </a:r>
          </a:p>
        </p:txBody>
      </p:sp>
      <p:grpSp>
        <p:nvGrpSpPr>
          <p:cNvPr id="54" name="组合 53">
            <a:extLst>
              <a:ext uri="{FF2B5EF4-FFF2-40B4-BE49-F238E27FC236}">
                <a16:creationId xmlns:a16="http://schemas.microsoft.com/office/drawing/2014/main" id="{6D20247D-C085-9A3D-B569-EF8071F82E30}"/>
              </a:ext>
            </a:extLst>
          </p:cNvPr>
          <p:cNvGrpSpPr/>
          <p:nvPr/>
        </p:nvGrpSpPr>
        <p:grpSpPr>
          <a:xfrm>
            <a:off x="1480429" y="1548960"/>
            <a:ext cx="5221292" cy="903482"/>
            <a:chOff x="1480429" y="1548960"/>
            <a:chExt cx="5221292" cy="903482"/>
          </a:xfrm>
        </p:grpSpPr>
        <p:sp>
          <p:nvSpPr>
            <p:cNvPr id="8" name="Freeform 7"/>
            <p:cNvSpPr>
              <a:spLocks/>
            </p:cNvSpPr>
            <p:nvPr/>
          </p:nvSpPr>
          <p:spPr bwMode="auto">
            <a:xfrm>
              <a:off x="1912176" y="2081870"/>
              <a:ext cx="4787850" cy="370572"/>
            </a:xfrm>
            <a:custGeom>
              <a:avLst/>
              <a:gdLst>
                <a:gd name="T0" fmla="*/ 0 w 3600"/>
                <a:gd name="T1" fmla="*/ 0 h 432"/>
                <a:gd name="T2" fmla="*/ 3600 w 3600"/>
                <a:gd name="T3" fmla="*/ 0 h 432"/>
                <a:gd name="T4" fmla="*/ 1056 w 3600"/>
                <a:gd name="T5" fmla="*/ 432 h 432"/>
                <a:gd name="T6" fmla="*/ 384 w 3600"/>
                <a:gd name="T7" fmla="*/ 432 h 432"/>
                <a:gd name="T8" fmla="*/ 0 w 3600"/>
                <a:gd name="T9" fmla="*/ 0 h 432"/>
              </a:gdLst>
              <a:ahLst/>
              <a:cxnLst>
                <a:cxn ang="0">
                  <a:pos x="T0" y="T1"/>
                </a:cxn>
                <a:cxn ang="0">
                  <a:pos x="T2" y="T3"/>
                </a:cxn>
                <a:cxn ang="0">
                  <a:pos x="T4" y="T5"/>
                </a:cxn>
                <a:cxn ang="0">
                  <a:pos x="T6" y="T7"/>
                </a:cxn>
                <a:cxn ang="0">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66FF99"/>
                </a:gs>
                <a:gs pos="100000">
                  <a:srgbClr val="00B0F0"/>
                </a:gs>
              </a:gsLst>
              <a:lin ang="5400000" scaled="1"/>
            </a:gra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12" name="Rectangle 11"/>
            <p:cNvSpPr>
              <a:spLocks noChangeArrowheads="1"/>
            </p:cNvSpPr>
            <p:nvPr/>
          </p:nvSpPr>
          <p:spPr bwMode="auto">
            <a:xfrm>
              <a:off x="1915585" y="1779822"/>
              <a:ext cx="4784441" cy="302048"/>
            </a:xfrm>
            <a:prstGeom prst="rect">
              <a:avLst/>
            </a:prstGeom>
            <a:solidFill>
              <a:srgbClr val="99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2"/>
            <p:cNvSpPr>
              <a:spLocks noChangeShapeType="1"/>
            </p:cNvSpPr>
            <p:nvPr/>
          </p:nvSpPr>
          <p:spPr bwMode="auto">
            <a:xfrm>
              <a:off x="3508505" y="1779822"/>
              <a:ext cx="2273"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4" name="Line 23"/>
            <p:cNvSpPr>
              <a:spLocks noChangeShapeType="1"/>
            </p:cNvSpPr>
            <p:nvPr/>
          </p:nvSpPr>
          <p:spPr bwMode="auto">
            <a:xfrm>
              <a:off x="5105970" y="1779822"/>
              <a:ext cx="0"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Line 24"/>
            <p:cNvSpPr>
              <a:spLocks noChangeShapeType="1"/>
            </p:cNvSpPr>
            <p:nvPr/>
          </p:nvSpPr>
          <p:spPr bwMode="auto">
            <a:xfrm>
              <a:off x="5487725" y="1779822"/>
              <a:ext cx="1136"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6" name="Line 25"/>
            <p:cNvSpPr>
              <a:spLocks noChangeShapeType="1"/>
            </p:cNvSpPr>
            <p:nvPr/>
          </p:nvSpPr>
          <p:spPr bwMode="auto">
            <a:xfrm>
              <a:off x="5869480" y="1779822"/>
              <a:ext cx="0"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 name="Text Box 26"/>
            <p:cNvSpPr txBox="1">
              <a:spLocks noChangeArrowheads="1"/>
            </p:cNvSpPr>
            <p:nvPr/>
          </p:nvSpPr>
          <p:spPr bwMode="auto">
            <a:xfrm>
              <a:off x="5866236" y="1805157"/>
              <a:ext cx="83548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UDP</a:t>
              </a:r>
              <a:r>
                <a:rPr kumimoji="1" lang="zh-CN" altLang="en-US" sz="1200" b="1" dirty="0">
                  <a:latin typeface="微软雅黑" pitchFamily="34" charset="-122"/>
                  <a:ea typeface="微软雅黑" pitchFamily="34" charset="-122"/>
                </a:rPr>
                <a:t>长度</a:t>
              </a:r>
            </a:p>
          </p:txBody>
        </p:sp>
        <p:sp>
          <p:nvSpPr>
            <p:cNvPr id="28" name="Text Box 27"/>
            <p:cNvSpPr txBox="1">
              <a:spLocks noChangeArrowheads="1"/>
            </p:cNvSpPr>
            <p:nvPr/>
          </p:nvSpPr>
          <p:spPr bwMode="auto">
            <a:xfrm>
              <a:off x="2229388" y="1805157"/>
              <a:ext cx="8915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源 </a:t>
              </a:r>
              <a:r>
                <a:rPr kumimoji="1" lang="en-US" altLang="zh-CN" sz="1200" b="1" dirty="0">
                  <a:latin typeface="微软雅黑" pitchFamily="34" charset="-122"/>
                  <a:ea typeface="微软雅黑" pitchFamily="34" charset="-122"/>
                </a:rPr>
                <a:t>IP </a:t>
              </a:r>
              <a:r>
                <a:rPr kumimoji="1" lang="zh-CN" altLang="en-US" sz="1200" b="1" dirty="0">
                  <a:latin typeface="微软雅黑" pitchFamily="34" charset="-122"/>
                  <a:ea typeface="微软雅黑" pitchFamily="34" charset="-122"/>
                </a:rPr>
                <a:t>地址</a:t>
              </a:r>
            </a:p>
          </p:txBody>
        </p:sp>
        <p:sp>
          <p:nvSpPr>
            <p:cNvPr id="29" name="Text Box 28"/>
            <p:cNvSpPr txBox="1">
              <a:spLocks noChangeArrowheads="1"/>
            </p:cNvSpPr>
            <p:nvPr/>
          </p:nvSpPr>
          <p:spPr bwMode="auto">
            <a:xfrm>
              <a:off x="3778106" y="1805157"/>
              <a:ext cx="104547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目的 </a:t>
              </a:r>
              <a:r>
                <a:rPr kumimoji="1" lang="en-US" altLang="zh-CN" sz="1200" b="1" dirty="0">
                  <a:latin typeface="微软雅黑" pitchFamily="34" charset="-122"/>
                  <a:ea typeface="微软雅黑" pitchFamily="34" charset="-122"/>
                </a:rPr>
                <a:t>IP </a:t>
              </a:r>
              <a:r>
                <a:rPr kumimoji="1" lang="zh-CN" altLang="en-US" sz="1200" b="1" dirty="0">
                  <a:latin typeface="微软雅黑" pitchFamily="34" charset="-122"/>
                  <a:ea typeface="微软雅黑" pitchFamily="34" charset="-122"/>
                </a:rPr>
                <a:t>地址</a:t>
              </a:r>
            </a:p>
          </p:txBody>
        </p:sp>
        <p:sp>
          <p:nvSpPr>
            <p:cNvPr id="30" name="Text Box 29"/>
            <p:cNvSpPr txBox="1">
              <a:spLocks noChangeArrowheads="1"/>
            </p:cNvSpPr>
            <p:nvPr/>
          </p:nvSpPr>
          <p:spPr bwMode="auto">
            <a:xfrm>
              <a:off x="5178684" y="1805157"/>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0</a:t>
              </a:r>
            </a:p>
          </p:txBody>
        </p:sp>
        <p:sp>
          <p:nvSpPr>
            <p:cNvPr id="31" name="Text Box 30"/>
            <p:cNvSpPr txBox="1">
              <a:spLocks noChangeArrowheads="1"/>
            </p:cNvSpPr>
            <p:nvPr/>
          </p:nvSpPr>
          <p:spPr bwMode="auto">
            <a:xfrm>
              <a:off x="5488861" y="1805157"/>
              <a:ext cx="3738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17</a:t>
              </a:r>
            </a:p>
          </p:txBody>
        </p:sp>
        <p:sp>
          <p:nvSpPr>
            <p:cNvPr id="35" name="Text Box 34"/>
            <p:cNvSpPr txBox="1">
              <a:spLocks noChangeArrowheads="1"/>
            </p:cNvSpPr>
            <p:nvPr/>
          </p:nvSpPr>
          <p:spPr bwMode="auto">
            <a:xfrm>
              <a:off x="1480429" y="1563643"/>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itchFamily="34" charset="-122"/>
                  <a:ea typeface="微软雅黑" pitchFamily="34" charset="-122"/>
                </a:rPr>
                <a:t>字节</a:t>
              </a:r>
            </a:p>
          </p:txBody>
        </p:sp>
        <p:sp>
          <p:nvSpPr>
            <p:cNvPr id="36" name="Text Box 35"/>
            <p:cNvSpPr txBox="1">
              <a:spLocks noChangeArrowheads="1"/>
            </p:cNvSpPr>
            <p:nvPr/>
          </p:nvSpPr>
          <p:spPr bwMode="auto">
            <a:xfrm>
              <a:off x="2585929"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4</a:t>
              </a:r>
            </a:p>
          </p:txBody>
        </p:sp>
        <p:sp>
          <p:nvSpPr>
            <p:cNvPr id="37" name="Text Box 36"/>
            <p:cNvSpPr txBox="1">
              <a:spLocks noChangeArrowheads="1"/>
            </p:cNvSpPr>
            <p:nvPr/>
          </p:nvSpPr>
          <p:spPr bwMode="auto">
            <a:xfrm>
              <a:off x="4179985"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4</a:t>
              </a:r>
            </a:p>
          </p:txBody>
        </p:sp>
        <p:sp>
          <p:nvSpPr>
            <p:cNvPr id="38" name="Text Box 37"/>
            <p:cNvSpPr txBox="1">
              <a:spLocks noChangeArrowheads="1"/>
            </p:cNvSpPr>
            <p:nvPr/>
          </p:nvSpPr>
          <p:spPr bwMode="auto">
            <a:xfrm>
              <a:off x="5178684"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1</a:t>
              </a:r>
            </a:p>
          </p:txBody>
        </p:sp>
        <p:sp>
          <p:nvSpPr>
            <p:cNvPr id="39" name="Text Box 38"/>
            <p:cNvSpPr txBox="1">
              <a:spLocks noChangeArrowheads="1"/>
            </p:cNvSpPr>
            <p:nvPr/>
          </p:nvSpPr>
          <p:spPr bwMode="auto">
            <a:xfrm>
              <a:off x="5551351"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1</a:t>
              </a:r>
            </a:p>
          </p:txBody>
        </p:sp>
        <p:sp>
          <p:nvSpPr>
            <p:cNvPr id="40" name="Text Box 39"/>
            <p:cNvSpPr txBox="1">
              <a:spLocks noChangeArrowheads="1"/>
            </p:cNvSpPr>
            <p:nvPr/>
          </p:nvSpPr>
          <p:spPr bwMode="auto">
            <a:xfrm>
              <a:off x="6114894"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2</a:t>
              </a:r>
            </a:p>
          </p:txBody>
        </p:sp>
      </p:grpSp>
      <p:sp>
        <p:nvSpPr>
          <p:cNvPr id="41" name="Text Box 40"/>
          <p:cNvSpPr txBox="1">
            <a:spLocks noChangeArrowheads="1"/>
          </p:cNvSpPr>
          <p:nvPr/>
        </p:nvSpPr>
        <p:spPr bwMode="auto">
          <a:xfrm>
            <a:off x="2675687" y="2202832"/>
            <a:ext cx="3738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12</a:t>
            </a:r>
          </a:p>
        </p:txBody>
      </p:sp>
      <p:sp>
        <p:nvSpPr>
          <p:cNvPr id="42" name="Text Box 41"/>
          <p:cNvSpPr txBox="1">
            <a:spLocks noChangeArrowheads="1"/>
          </p:cNvSpPr>
          <p:nvPr/>
        </p:nvSpPr>
        <p:spPr bwMode="auto">
          <a:xfrm>
            <a:off x="3584629" y="220598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2</a:t>
            </a:r>
          </a:p>
        </p:txBody>
      </p:sp>
      <p:sp>
        <p:nvSpPr>
          <p:cNvPr id="43" name="Text Box 42"/>
          <p:cNvSpPr txBox="1">
            <a:spLocks noChangeArrowheads="1"/>
          </p:cNvSpPr>
          <p:nvPr/>
        </p:nvSpPr>
        <p:spPr bwMode="auto">
          <a:xfrm>
            <a:off x="4461758" y="220598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2</a:t>
            </a:r>
          </a:p>
        </p:txBody>
      </p:sp>
      <p:sp>
        <p:nvSpPr>
          <p:cNvPr id="44" name="Text Box 43"/>
          <p:cNvSpPr txBox="1">
            <a:spLocks noChangeArrowheads="1"/>
          </p:cNvSpPr>
          <p:nvPr/>
        </p:nvSpPr>
        <p:spPr bwMode="auto">
          <a:xfrm>
            <a:off x="5227541" y="220598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2</a:t>
            </a:r>
          </a:p>
        </p:txBody>
      </p:sp>
      <p:sp>
        <p:nvSpPr>
          <p:cNvPr id="45" name="Text Box 44"/>
          <p:cNvSpPr txBox="1">
            <a:spLocks noChangeArrowheads="1"/>
          </p:cNvSpPr>
          <p:nvPr/>
        </p:nvSpPr>
        <p:spPr bwMode="auto">
          <a:xfrm>
            <a:off x="6098988" y="220598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2</a:t>
            </a:r>
          </a:p>
        </p:txBody>
      </p:sp>
      <p:sp>
        <p:nvSpPr>
          <p:cNvPr id="46" name="Text Box 45"/>
          <p:cNvSpPr txBox="1">
            <a:spLocks noChangeArrowheads="1"/>
          </p:cNvSpPr>
          <p:nvPr/>
        </p:nvSpPr>
        <p:spPr bwMode="auto">
          <a:xfrm>
            <a:off x="1957142" y="2202832"/>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itchFamily="34" charset="-122"/>
                <a:ea typeface="微软雅黑" pitchFamily="34" charset="-122"/>
              </a:rPr>
              <a:t>字节</a:t>
            </a:r>
          </a:p>
        </p:txBody>
      </p:sp>
      <p:sp>
        <p:nvSpPr>
          <p:cNvPr id="47" name="Text Box 46"/>
          <p:cNvSpPr txBox="1">
            <a:spLocks noChangeArrowheads="1"/>
          </p:cNvSpPr>
          <p:nvPr/>
        </p:nvSpPr>
        <p:spPr bwMode="auto">
          <a:xfrm>
            <a:off x="1831083" y="3855964"/>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itchFamily="34" charset="-122"/>
                <a:ea typeface="微软雅黑" pitchFamily="34" charset="-122"/>
              </a:rPr>
              <a:t>发送在前</a:t>
            </a:r>
          </a:p>
        </p:txBody>
      </p:sp>
      <p:sp>
        <p:nvSpPr>
          <p:cNvPr id="48" name="Rectangle 48"/>
          <p:cNvSpPr>
            <a:spLocks noChangeArrowheads="1"/>
          </p:cNvSpPr>
          <p:nvPr/>
        </p:nvSpPr>
        <p:spPr bwMode="auto">
          <a:xfrm>
            <a:off x="4443579" y="2985736"/>
            <a:ext cx="3143801" cy="302048"/>
          </a:xfrm>
          <a:prstGeom prst="rect">
            <a:avLst/>
          </a:prstGeom>
          <a:solidFill>
            <a:srgbClr val="66FF99"/>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49" name="Text Box 49"/>
          <p:cNvSpPr txBox="1">
            <a:spLocks noChangeArrowheads="1"/>
          </p:cNvSpPr>
          <p:nvPr/>
        </p:nvSpPr>
        <p:spPr bwMode="auto">
          <a:xfrm>
            <a:off x="5557032" y="3014054"/>
            <a:ext cx="9108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itchFamily="34" charset="-122"/>
                <a:ea typeface="微软雅黑" pitchFamily="34" charset="-122"/>
              </a:rPr>
              <a:t>数         据</a:t>
            </a:r>
          </a:p>
        </p:txBody>
      </p:sp>
      <p:sp>
        <p:nvSpPr>
          <p:cNvPr id="50" name="Text Box 50"/>
          <p:cNvSpPr txBox="1">
            <a:spLocks noChangeArrowheads="1"/>
          </p:cNvSpPr>
          <p:nvPr/>
        </p:nvSpPr>
        <p:spPr bwMode="auto">
          <a:xfrm>
            <a:off x="3770962" y="2995766"/>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itchFamily="34" charset="-122"/>
                <a:ea typeface="微软雅黑" pitchFamily="34" charset="-122"/>
              </a:rPr>
              <a:t>首  部</a:t>
            </a:r>
          </a:p>
        </p:txBody>
      </p:sp>
      <p:sp>
        <p:nvSpPr>
          <p:cNvPr id="51" name="Text Box 52"/>
          <p:cNvSpPr txBox="1">
            <a:spLocks noChangeArrowheads="1"/>
          </p:cNvSpPr>
          <p:nvPr/>
        </p:nvSpPr>
        <p:spPr bwMode="auto">
          <a:xfrm>
            <a:off x="2312929" y="2985737"/>
            <a:ext cx="134363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0033CC"/>
                </a:solidFill>
                <a:latin typeface="微软雅黑" pitchFamily="34" charset="-122"/>
                <a:ea typeface="微软雅黑" pitchFamily="34" charset="-122"/>
              </a:rPr>
              <a:t>UDP </a:t>
            </a:r>
            <a:r>
              <a:rPr kumimoji="1" lang="zh-CN" altLang="en-US" sz="1200" b="1" dirty="0">
                <a:solidFill>
                  <a:srgbClr val="0033CC"/>
                </a:solidFill>
                <a:latin typeface="微软雅黑" pitchFamily="34" charset="-122"/>
                <a:ea typeface="微软雅黑" pitchFamily="34" charset="-122"/>
              </a:rPr>
              <a:t>用户数据报</a:t>
            </a:r>
          </a:p>
        </p:txBody>
      </p:sp>
      <p:sp>
        <p:nvSpPr>
          <p:cNvPr id="52" name="Rectangle 4"/>
          <p:cNvSpPr>
            <a:spLocks noChangeArrowheads="1"/>
          </p:cNvSpPr>
          <p:nvPr/>
        </p:nvSpPr>
        <p:spPr bwMode="auto">
          <a:xfrm>
            <a:off x="3673978" y="3294983"/>
            <a:ext cx="3907750" cy="261617"/>
          </a:xfrm>
          <a:prstGeom prst="rect">
            <a:avLst/>
          </a:prstGeom>
          <a:gradFill flip="none" rotWithShape="1">
            <a:gsLst>
              <a:gs pos="0">
                <a:srgbClr val="00B0F0"/>
              </a:gs>
              <a:gs pos="100000">
                <a:srgbClr val="99FFCC"/>
              </a:gs>
            </a:gsLst>
            <a:lin ang="16200000" scaled="1"/>
            <a:tileRect/>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Tree>
    <p:extLst>
      <p:ext uri="{BB962C8B-B14F-4D97-AF65-F5344CB8AC3E}">
        <p14:creationId xmlns:p14="http://schemas.microsoft.com/office/powerpoint/2010/main" val="1493128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17"/>
                                        </p:tgtEl>
                                        <p:attrNameLst>
                                          <p:attrName>style.visibility</p:attrName>
                                        </p:attrNameLst>
                                      </p:cBhvr>
                                      <p:tavLst>
                                        <p:tav tm="0">
                                          <p:val>
                                            <p:strVal val="hidden"/>
                                          </p:val>
                                        </p:tav>
                                        <p:tav tm="50000">
                                          <p:val>
                                            <p:strVal val="visible"/>
                                          </p:val>
                                        </p:tav>
                                      </p:tavLst>
                                    </p:anim>
                                  </p:childTnLst>
                                </p:cTn>
                              </p:par>
                            </p:childTnLst>
                          </p:cTn>
                        </p:par>
                        <p:par>
                          <p:cTn id="7" fill="hold">
                            <p:stCondLst>
                              <p:cond delay="3000"/>
                            </p:stCondLst>
                            <p:childTnLst>
                              <p:par>
                                <p:cTn id="8" presetID="22" presetClass="entr" presetSubtype="4" fill="hold" nodeType="afterEffect">
                                  <p:stCondLst>
                                    <p:cond delay="0"/>
                                  </p:stCondLst>
                                  <p:childTnLst>
                                    <p:set>
                                      <p:cBhvr>
                                        <p:cTn id="9" dur="1" fill="hold">
                                          <p:stCondLst>
                                            <p:cond delay="0"/>
                                          </p:stCondLst>
                                        </p:cTn>
                                        <p:tgtEl>
                                          <p:spTgt spid="54"/>
                                        </p:tgtEl>
                                        <p:attrNameLst>
                                          <p:attrName>style.visibility</p:attrName>
                                        </p:attrNameLst>
                                      </p:cBhvr>
                                      <p:to>
                                        <p:strVal val="visible"/>
                                      </p:to>
                                    </p:set>
                                    <p:animEffect transition="in" filter="wipe(down)">
                                      <p:cBhvr>
                                        <p:cTn id="10" dur="500"/>
                                        <p:tgtEl>
                                          <p:spTgt spid="54"/>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1000"/>
                                        <p:tgtEl>
                                          <p:spTgt spid="3"/>
                                        </p:tgtEl>
                                      </p:cBhvr>
                                    </p:animEffect>
                                    <p:anim calcmode="lin" valueType="num">
                                      <p:cBhvr>
                                        <p:cTn id="16" dur="1000" fill="hold"/>
                                        <p:tgtEl>
                                          <p:spTgt spid="3"/>
                                        </p:tgtEl>
                                        <p:attrNameLst>
                                          <p:attrName>ppt_x</p:attrName>
                                        </p:attrNameLst>
                                      </p:cBhvr>
                                      <p:tavLst>
                                        <p:tav tm="0">
                                          <p:val>
                                            <p:strVal val="#ppt_x"/>
                                          </p:val>
                                        </p:tav>
                                        <p:tav tm="100000">
                                          <p:val>
                                            <p:strVal val="#ppt_x"/>
                                          </p:val>
                                        </p:tav>
                                      </p:tavLst>
                                    </p:anim>
                                    <p:anim calcmode="lin" valueType="num">
                                      <p:cBhvr>
                                        <p:cTn id="17"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4" y="62820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126101" y="605119"/>
            <a:ext cx="287450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计算 </a:t>
            </a:r>
            <a:r>
              <a:rPr lang="en-US" altLang="zh-CN" sz="2000" b="1" dirty="0">
                <a:solidFill>
                  <a:schemeClr val="bg1"/>
                </a:solidFill>
                <a:ea typeface="微软雅黑" pitchFamily="34" charset="-122"/>
              </a:rPr>
              <a:t>UDP </a:t>
            </a:r>
            <a:r>
              <a:rPr lang="zh-CN" altLang="en-US" sz="2000" b="1" dirty="0">
                <a:solidFill>
                  <a:schemeClr val="bg1"/>
                </a:solidFill>
                <a:ea typeface="微软雅黑" pitchFamily="34" charset="-122"/>
              </a:rPr>
              <a:t>校验和的例子</a:t>
            </a:r>
          </a:p>
        </p:txBody>
      </p:sp>
      <p:sp>
        <p:nvSpPr>
          <p:cNvPr id="4" name="圆角矩形 3"/>
          <p:cNvSpPr/>
          <p:nvPr/>
        </p:nvSpPr>
        <p:spPr>
          <a:xfrm>
            <a:off x="545144" y="1069848"/>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2" name="组合 41"/>
          <p:cNvGrpSpPr/>
          <p:nvPr/>
        </p:nvGrpSpPr>
        <p:grpSpPr>
          <a:xfrm>
            <a:off x="2809248" y="1099293"/>
            <a:ext cx="4838720" cy="3287054"/>
            <a:chOff x="2662944" y="1099293"/>
            <a:chExt cx="4838720" cy="3287054"/>
          </a:xfrm>
        </p:grpSpPr>
        <p:sp>
          <p:nvSpPr>
            <p:cNvPr id="7" name="Text Box 7"/>
            <p:cNvSpPr txBox="1">
              <a:spLocks noChangeArrowheads="1"/>
            </p:cNvSpPr>
            <p:nvPr/>
          </p:nvSpPr>
          <p:spPr bwMode="auto">
            <a:xfrm>
              <a:off x="4320743" y="1099293"/>
              <a:ext cx="3180921" cy="328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1200" b="1" dirty="0">
                  <a:solidFill>
                    <a:srgbClr val="0000FF"/>
                  </a:solidFill>
                  <a:latin typeface="微软雅黑" pitchFamily="34" charset="-122"/>
                  <a:ea typeface="微软雅黑" pitchFamily="34" charset="-122"/>
                </a:rPr>
                <a:t>10011001 00010011  →  153.19</a:t>
              </a:r>
            </a:p>
            <a:p>
              <a:r>
                <a:rPr kumimoji="1" lang="en-US" altLang="zh-CN" sz="1200" b="1" dirty="0">
                  <a:solidFill>
                    <a:srgbClr val="0000FF"/>
                  </a:solidFill>
                  <a:latin typeface="微软雅黑" pitchFamily="34" charset="-122"/>
                  <a:ea typeface="微软雅黑" pitchFamily="34" charset="-122"/>
                </a:rPr>
                <a:t>00001000 01101000  →  8.104</a:t>
              </a:r>
            </a:p>
            <a:p>
              <a:r>
                <a:rPr kumimoji="1" lang="en-US" altLang="zh-CN" sz="1200" b="1" dirty="0">
                  <a:solidFill>
                    <a:srgbClr val="0000FF"/>
                  </a:solidFill>
                  <a:latin typeface="微软雅黑" pitchFamily="34" charset="-122"/>
                  <a:ea typeface="微软雅黑" pitchFamily="34" charset="-122"/>
                </a:rPr>
                <a:t>10101011 00000011  →  171.3</a:t>
              </a:r>
            </a:p>
            <a:p>
              <a:r>
                <a:rPr kumimoji="1" lang="en-US" altLang="zh-CN" sz="1200" b="1" dirty="0">
                  <a:solidFill>
                    <a:srgbClr val="0000FF"/>
                  </a:solidFill>
                  <a:latin typeface="微软雅黑" pitchFamily="34" charset="-122"/>
                  <a:ea typeface="微软雅黑" pitchFamily="34" charset="-122"/>
                </a:rPr>
                <a:t>00001110 00001011  →  14.11</a:t>
              </a:r>
            </a:p>
            <a:p>
              <a:r>
                <a:rPr kumimoji="1" lang="en-US" altLang="zh-CN" sz="1200" b="1" dirty="0">
                  <a:solidFill>
                    <a:srgbClr val="0000FF"/>
                  </a:solidFill>
                  <a:latin typeface="微软雅黑" pitchFamily="34" charset="-122"/>
                  <a:ea typeface="微软雅黑" pitchFamily="34" charset="-122"/>
                </a:rPr>
                <a:t>00000000 00010001  →  0 </a:t>
              </a:r>
              <a:r>
                <a:rPr kumimoji="1" lang="zh-CN" altLang="en-US" sz="1200" b="1" dirty="0">
                  <a:solidFill>
                    <a:srgbClr val="0000FF"/>
                  </a:solidFill>
                  <a:latin typeface="微软雅黑" pitchFamily="34" charset="-122"/>
                  <a:ea typeface="微软雅黑" pitchFamily="34" charset="-122"/>
                </a:rPr>
                <a:t>和 </a:t>
              </a:r>
              <a:r>
                <a:rPr kumimoji="1" lang="en-US" altLang="zh-CN" sz="1200" b="1" dirty="0">
                  <a:solidFill>
                    <a:srgbClr val="0000FF"/>
                  </a:solidFill>
                  <a:latin typeface="微软雅黑" pitchFamily="34" charset="-122"/>
                  <a:ea typeface="微软雅黑" pitchFamily="34" charset="-122"/>
                </a:rPr>
                <a:t>17</a:t>
              </a:r>
            </a:p>
            <a:p>
              <a:r>
                <a:rPr kumimoji="1" lang="en-US" altLang="zh-CN" sz="1200" b="1" dirty="0">
                  <a:solidFill>
                    <a:srgbClr val="0000FF"/>
                  </a:solidFill>
                  <a:latin typeface="微软雅黑" pitchFamily="34" charset="-122"/>
                  <a:ea typeface="微软雅黑" pitchFamily="34" charset="-122"/>
                </a:rPr>
                <a:t>00000000 00001111  →  15</a:t>
              </a:r>
            </a:p>
            <a:p>
              <a:r>
                <a:rPr kumimoji="1" lang="en-US" altLang="zh-CN" sz="1200" b="1" dirty="0">
                  <a:solidFill>
                    <a:srgbClr val="0000FF"/>
                  </a:solidFill>
                  <a:latin typeface="微软雅黑" pitchFamily="34" charset="-122"/>
                  <a:ea typeface="微软雅黑" pitchFamily="34" charset="-122"/>
                </a:rPr>
                <a:t>00000100 00111111  →  1087</a:t>
              </a:r>
            </a:p>
            <a:p>
              <a:r>
                <a:rPr kumimoji="1" lang="en-US" altLang="zh-CN" sz="1200" b="1" dirty="0">
                  <a:solidFill>
                    <a:srgbClr val="0000FF"/>
                  </a:solidFill>
                  <a:latin typeface="微软雅黑" pitchFamily="34" charset="-122"/>
                  <a:ea typeface="微软雅黑" pitchFamily="34" charset="-122"/>
                </a:rPr>
                <a:t>00000000 00001101  →  13</a:t>
              </a:r>
            </a:p>
            <a:p>
              <a:r>
                <a:rPr kumimoji="1" lang="en-US" altLang="zh-CN" sz="1200" b="1" dirty="0">
                  <a:solidFill>
                    <a:srgbClr val="0000FF"/>
                  </a:solidFill>
                  <a:latin typeface="微软雅黑" pitchFamily="34" charset="-122"/>
                  <a:ea typeface="微软雅黑" pitchFamily="34" charset="-122"/>
                </a:rPr>
                <a:t>00000000 00001111  →  15</a:t>
              </a:r>
            </a:p>
            <a:p>
              <a:r>
                <a:rPr kumimoji="1" lang="en-US" altLang="zh-CN" sz="1200" b="1" dirty="0">
                  <a:solidFill>
                    <a:srgbClr val="0000FF"/>
                  </a:solidFill>
                  <a:latin typeface="微软雅黑" pitchFamily="34" charset="-122"/>
                  <a:ea typeface="微软雅黑" pitchFamily="34" charset="-122"/>
                </a:rPr>
                <a:t>00000000 00000000  →  0</a:t>
              </a:r>
              <a:r>
                <a:rPr kumimoji="1" lang="zh-CN" altLang="en-US" sz="1200" b="1" dirty="0">
                  <a:solidFill>
                    <a:srgbClr val="0000FF"/>
                  </a:solidFill>
                  <a:latin typeface="微软雅黑" pitchFamily="34" charset="-122"/>
                  <a:ea typeface="微软雅黑" pitchFamily="34" charset="-122"/>
                </a:rPr>
                <a:t>（校验和）</a:t>
              </a:r>
            </a:p>
            <a:p>
              <a:r>
                <a:rPr kumimoji="1" lang="en-US" altLang="zh-CN" sz="1200" b="1" dirty="0">
                  <a:solidFill>
                    <a:srgbClr val="0000FF"/>
                  </a:solidFill>
                  <a:latin typeface="微软雅黑" pitchFamily="34" charset="-122"/>
                  <a:ea typeface="微软雅黑" pitchFamily="34" charset="-122"/>
                </a:rPr>
                <a:t>01010100 01000101  →  </a:t>
              </a:r>
              <a:r>
                <a:rPr kumimoji="1" lang="zh-CN" altLang="en-US" sz="1200" b="1" dirty="0">
                  <a:solidFill>
                    <a:srgbClr val="0000FF"/>
                  </a:solidFill>
                  <a:latin typeface="微软雅黑" pitchFamily="34" charset="-122"/>
                  <a:ea typeface="微软雅黑" pitchFamily="34" charset="-122"/>
                </a:rPr>
                <a:t>数据</a:t>
              </a:r>
            </a:p>
            <a:p>
              <a:r>
                <a:rPr kumimoji="1" lang="en-US" altLang="zh-CN" sz="1200" b="1" dirty="0">
                  <a:solidFill>
                    <a:srgbClr val="0000FF"/>
                  </a:solidFill>
                  <a:latin typeface="微软雅黑" pitchFamily="34" charset="-122"/>
                  <a:ea typeface="微软雅黑" pitchFamily="34" charset="-122"/>
                </a:rPr>
                <a:t>01010011 01010100  →  </a:t>
              </a:r>
              <a:r>
                <a:rPr kumimoji="1" lang="zh-CN" altLang="en-US" sz="1200" b="1" dirty="0">
                  <a:solidFill>
                    <a:srgbClr val="0000FF"/>
                  </a:solidFill>
                  <a:latin typeface="微软雅黑" pitchFamily="34" charset="-122"/>
                  <a:ea typeface="微软雅黑" pitchFamily="34" charset="-122"/>
                </a:rPr>
                <a:t>数据</a:t>
              </a:r>
            </a:p>
            <a:p>
              <a:r>
                <a:rPr kumimoji="1" lang="en-US" altLang="zh-CN" sz="1200" b="1" dirty="0">
                  <a:solidFill>
                    <a:srgbClr val="0000FF"/>
                  </a:solidFill>
                  <a:latin typeface="微软雅黑" pitchFamily="34" charset="-122"/>
                  <a:ea typeface="微软雅黑" pitchFamily="34" charset="-122"/>
                </a:rPr>
                <a:t>01001001 01001110  →  </a:t>
              </a:r>
              <a:r>
                <a:rPr kumimoji="1" lang="zh-CN" altLang="en-US" sz="1200" b="1" dirty="0">
                  <a:solidFill>
                    <a:srgbClr val="0000FF"/>
                  </a:solidFill>
                  <a:latin typeface="微软雅黑" pitchFamily="34" charset="-122"/>
                  <a:ea typeface="微软雅黑" pitchFamily="34" charset="-122"/>
                </a:rPr>
                <a:t>数据</a:t>
              </a:r>
            </a:p>
            <a:p>
              <a:r>
                <a:rPr kumimoji="1" lang="en-US" altLang="zh-CN" sz="1200" b="1" dirty="0">
                  <a:solidFill>
                    <a:srgbClr val="0000FF"/>
                  </a:solidFill>
                  <a:latin typeface="微软雅黑" pitchFamily="34" charset="-122"/>
                  <a:ea typeface="微软雅黑" pitchFamily="34" charset="-122"/>
                </a:rPr>
                <a:t>01000111 00000000  →  </a:t>
              </a:r>
              <a:r>
                <a:rPr kumimoji="1" lang="zh-CN" altLang="en-US" sz="1200" b="1" dirty="0">
                  <a:solidFill>
                    <a:srgbClr val="0000FF"/>
                  </a:solidFill>
                  <a:latin typeface="微软雅黑" pitchFamily="34" charset="-122"/>
                  <a:ea typeface="微软雅黑" pitchFamily="34" charset="-122"/>
                </a:rPr>
                <a:t>数据和 </a:t>
              </a:r>
              <a:r>
                <a:rPr kumimoji="1" lang="en-US" altLang="zh-CN" sz="1200" b="1" dirty="0">
                  <a:solidFill>
                    <a:srgbClr val="0000FF"/>
                  </a:solidFill>
                  <a:latin typeface="微软雅黑" pitchFamily="34" charset="-122"/>
                  <a:ea typeface="微软雅黑" pitchFamily="34" charset="-122"/>
                </a:rPr>
                <a:t>0</a:t>
              </a:r>
              <a:r>
                <a:rPr kumimoji="1" lang="zh-CN" altLang="en-US" sz="1200" b="1" dirty="0">
                  <a:solidFill>
                    <a:srgbClr val="0000FF"/>
                  </a:solidFill>
                  <a:latin typeface="微软雅黑" pitchFamily="34" charset="-122"/>
                  <a:ea typeface="微软雅黑" pitchFamily="34" charset="-122"/>
                </a:rPr>
                <a:t>（填充）</a:t>
              </a:r>
            </a:p>
            <a:p>
              <a:endParaRPr kumimoji="1" lang="zh-CN" altLang="en-US" sz="1200" b="1" dirty="0">
                <a:solidFill>
                  <a:srgbClr val="0000FF"/>
                </a:solidFill>
                <a:latin typeface="微软雅黑" pitchFamily="34" charset="-122"/>
                <a:ea typeface="微软雅黑" pitchFamily="34" charset="-122"/>
              </a:endParaRPr>
            </a:p>
            <a:p>
              <a:r>
                <a:rPr kumimoji="1" lang="en-US" altLang="zh-CN" sz="1200" b="1" dirty="0">
                  <a:solidFill>
                    <a:srgbClr val="0000FF"/>
                  </a:solidFill>
                  <a:latin typeface="微软雅黑" pitchFamily="34" charset="-122"/>
                  <a:ea typeface="微软雅黑" pitchFamily="34" charset="-122"/>
                </a:rPr>
                <a:t>10010110 11101101  →  </a:t>
              </a:r>
              <a:r>
                <a:rPr kumimoji="1" lang="zh-CN" altLang="en-US" sz="1200" b="1" dirty="0">
                  <a:solidFill>
                    <a:srgbClr val="0000FF"/>
                  </a:solidFill>
                  <a:latin typeface="微软雅黑" pitchFamily="34" charset="-122"/>
                  <a:ea typeface="微软雅黑" pitchFamily="34" charset="-122"/>
                </a:rPr>
                <a:t>求和得出的结果</a:t>
              </a:r>
            </a:p>
            <a:p>
              <a:pPr>
                <a:lnSpc>
                  <a:spcPct val="130000"/>
                </a:lnSpc>
              </a:pPr>
              <a:r>
                <a:rPr kumimoji="1" lang="en-US" altLang="zh-CN" sz="1200" b="1" dirty="0">
                  <a:solidFill>
                    <a:srgbClr val="0000FF"/>
                  </a:solidFill>
                  <a:latin typeface="微软雅黑" pitchFamily="34" charset="-122"/>
                  <a:ea typeface="微软雅黑" pitchFamily="34" charset="-122"/>
                </a:rPr>
                <a:t>01101001 00010010  →  </a:t>
              </a:r>
              <a:r>
                <a:rPr kumimoji="1" lang="zh-CN" altLang="en-US" sz="1200" b="1" dirty="0">
                  <a:solidFill>
                    <a:srgbClr val="0000FF"/>
                  </a:solidFill>
                  <a:latin typeface="微软雅黑" pitchFamily="34" charset="-122"/>
                  <a:ea typeface="微软雅黑" pitchFamily="34" charset="-122"/>
                </a:rPr>
                <a:t>校验和 </a:t>
              </a:r>
            </a:p>
          </p:txBody>
        </p:sp>
        <p:sp>
          <p:nvSpPr>
            <p:cNvPr id="32" name="Line 30"/>
            <p:cNvSpPr>
              <a:spLocks noChangeShapeType="1"/>
            </p:cNvSpPr>
            <p:nvPr/>
          </p:nvSpPr>
          <p:spPr bwMode="auto">
            <a:xfrm flipV="1">
              <a:off x="4235251" y="3795900"/>
              <a:ext cx="3164240" cy="577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3" name="Text Box 31"/>
            <p:cNvSpPr txBox="1">
              <a:spLocks noChangeArrowheads="1"/>
            </p:cNvSpPr>
            <p:nvPr/>
          </p:nvSpPr>
          <p:spPr bwMode="auto">
            <a:xfrm>
              <a:off x="2662944" y="3848835"/>
              <a:ext cx="1723549" cy="517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1200" b="1" dirty="0">
                  <a:solidFill>
                    <a:srgbClr val="A50021"/>
                  </a:solidFill>
                  <a:latin typeface="微软雅黑" pitchFamily="34" charset="-122"/>
                  <a:ea typeface="微软雅黑" pitchFamily="34" charset="-122"/>
                </a:rPr>
                <a:t>按二进制反码运算求和</a:t>
              </a:r>
            </a:p>
            <a:p>
              <a:pPr algn="r">
                <a:lnSpc>
                  <a:spcPct val="130000"/>
                </a:lnSpc>
              </a:pPr>
              <a:r>
                <a:rPr kumimoji="1" lang="zh-CN" altLang="en-US" sz="1200" b="1" dirty="0">
                  <a:solidFill>
                    <a:srgbClr val="A50021"/>
                  </a:solidFill>
                  <a:latin typeface="微软雅黑" pitchFamily="34" charset="-122"/>
                  <a:ea typeface="微软雅黑" pitchFamily="34" charset="-122"/>
                </a:rPr>
                <a:t>将得出的结果求反码</a:t>
              </a:r>
            </a:p>
          </p:txBody>
        </p:sp>
      </p:grpSp>
      <p:sp>
        <p:nvSpPr>
          <p:cNvPr id="5" name="Rectangle 36"/>
          <p:cNvSpPr>
            <a:spLocks noChangeArrowheads="1"/>
          </p:cNvSpPr>
          <p:nvPr/>
        </p:nvSpPr>
        <p:spPr bwMode="auto">
          <a:xfrm>
            <a:off x="3735893" y="2669837"/>
            <a:ext cx="456097" cy="241183"/>
          </a:xfrm>
          <a:prstGeom prst="rect">
            <a:avLst/>
          </a:prstGeom>
          <a:solidFill>
            <a:srgbClr val="FF66FF"/>
          </a:solidFill>
          <a:ln>
            <a:noFill/>
          </a:ln>
          <a:effectLst/>
        </p:spPr>
        <p:txBody>
          <a:bodyPr wrap="none" anchor="ctr"/>
          <a:lstStyle/>
          <a:p>
            <a:endParaRPr lang="zh-CN" altLang="en-US" sz="1100" b="1">
              <a:latin typeface="微软雅黑" pitchFamily="34" charset="-122"/>
              <a:ea typeface="微软雅黑" pitchFamily="34" charset="-122"/>
            </a:endParaRPr>
          </a:p>
        </p:txBody>
      </p:sp>
      <p:sp>
        <p:nvSpPr>
          <p:cNvPr id="6" name="Rectangle 35"/>
          <p:cNvSpPr>
            <a:spLocks noChangeArrowheads="1"/>
          </p:cNvSpPr>
          <p:nvPr/>
        </p:nvSpPr>
        <p:spPr bwMode="auto">
          <a:xfrm>
            <a:off x="2328499" y="1994598"/>
            <a:ext cx="1856473" cy="474253"/>
          </a:xfrm>
          <a:prstGeom prst="rect">
            <a:avLst/>
          </a:prstGeom>
          <a:solidFill>
            <a:srgbClr val="FFFF66"/>
          </a:solidFill>
          <a:ln>
            <a:noFill/>
          </a:ln>
          <a:effectLst/>
        </p:spPr>
        <p:txBody>
          <a:bodyPr wrap="none" anchor="ctr"/>
          <a:lstStyle/>
          <a:p>
            <a:endParaRPr lang="zh-CN" altLang="en-US" sz="1100" b="1">
              <a:latin typeface="微软雅黑" pitchFamily="34" charset="-122"/>
              <a:ea typeface="微软雅黑" pitchFamily="34" charset="-122"/>
            </a:endParaRPr>
          </a:p>
        </p:txBody>
      </p:sp>
      <p:sp>
        <p:nvSpPr>
          <p:cNvPr id="8" name="Freeform 5"/>
          <p:cNvSpPr>
            <a:spLocks/>
          </p:cNvSpPr>
          <p:nvPr/>
        </p:nvSpPr>
        <p:spPr bwMode="auto">
          <a:xfrm>
            <a:off x="2325432" y="2457216"/>
            <a:ext cx="1874808" cy="448515"/>
          </a:xfrm>
          <a:custGeom>
            <a:avLst/>
            <a:gdLst>
              <a:gd name="T0" fmla="*/ 0 w 1536"/>
              <a:gd name="T1" fmla="*/ 0 h 480"/>
              <a:gd name="T2" fmla="*/ 1536 w 1536"/>
              <a:gd name="T3" fmla="*/ 0 h 480"/>
              <a:gd name="T4" fmla="*/ 1536 w 1536"/>
              <a:gd name="T5" fmla="*/ 240 h 480"/>
              <a:gd name="T6" fmla="*/ 1152 w 1536"/>
              <a:gd name="T7" fmla="*/ 240 h 480"/>
              <a:gd name="T8" fmla="*/ 1152 w 1536"/>
              <a:gd name="T9" fmla="*/ 480 h 480"/>
              <a:gd name="T10" fmla="*/ 0 w 1536"/>
              <a:gd name="T11" fmla="*/ 480 h 480"/>
              <a:gd name="T12" fmla="*/ 0 w 1536"/>
              <a:gd name="T13" fmla="*/ 0 h 480"/>
            </a:gdLst>
            <a:ahLst/>
            <a:cxnLst>
              <a:cxn ang="0">
                <a:pos x="T0" y="T1"/>
              </a:cxn>
              <a:cxn ang="0">
                <a:pos x="T2" y="T3"/>
              </a:cxn>
              <a:cxn ang="0">
                <a:pos x="T4" y="T5"/>
              </a:cxn>
              <a:cxn ang="0">
                <a:pos x="T6" y="T7"/>
              </a:cxn>
              <a:cxn ang="0">
                <a:pos x="T8" y="T9"/>
              </a:cxn>
              <a:cxn ang="0">
                <a:pos x="T10" y="T11"/>
              </a:cxn>
              <a:cxn ang="0">
                <a:pos x="T12" y="T13"/>
              </a:cxn>
            </a:cxnLst>
            <a:rect l="0" t="0" r="r" b="b"/>
            <a:pathLst>
              <a:path w="1536" h="480">
                <a:moveTo>
                  <a:pt x="0" y="0"/>
                </a:moveTo>
                <a:lnTo>
                  <a:pt x="1536" y="0"/>
                </a:lnTo>
                <a:lnTo>
                  <a:pt x="1536" y="240"/>
                </a:lnTo>
                <a:lnTo>
                  <a:pt x="1152" y="240"/>
                </a:lnTo>
                <a:lnTo>
                  <a:pt x="1152" y="480"/>
                </a:lnTo>
                <a:lnTo>
                  <a:pt x="0" y="480"/>
                </a:lnTo>
                <a:lnTo>
                  <a:pt x="0" y="0"/>
                </a:lnTo>
                <a:close/>
              </a:path>
            </a:pathLst>
          </a:custGeom>
          <a:solidFill>
            <a:srgbClr val="00FF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9" name="Rectangle 6"/>
          <p:cNvSpPr>
            <a:spLocks noChangeArrowheads="1"/>
          </p:cNvSpPr>
          <p:nvPr/>
        </p:nvSpPr>
        <p:spPr bwMode="auto">
          <a:xfrm>
            <a:off x="2325432" y="1334869"/>
            <a:ext cx="1874808" cy="672774"/>
          </a:xfrm>
          <a:prstGeom prst="rect">
            <a:avLst/>
          </a:prstGeom>
          <a:solidFill>
            <a:srgbClr val="66FFFF"/>
          </a:solidFill>
          <a:ln>
            <a:noFill/>
          </a:ln>
          <a:effectLst/>
        </p:spPr>
        <p:txBody>
          <a:bodyPr wrap="none" anchor="ctr"/>
          <a:lstStyle/>
          <a:p>
            <a:endParaRPr lang="zh-CN" altLang="en-US" sz="1100" b="1">
              <a:latin typeface="微软雅黑" pitchFamily="34" charset="-122"/>
              <a:ea typeface="微软雅黑" pitchFamily="34" charset="-122"/>
            </a:endParaRPr>
          </a:p>
        </p:txBody>
      </p:sp>
      <p:sp>
        <p:nvSpPr>
          <p:cNvPr id="10" name="Rectangle 8"/>
          <p:cNvSpPr>
            <a:spLocks noChangeArrowheads="1"/>
          </p:cNvSpPr>
          <p:nvPr/>
        </p:nvSpPr>
        <p:spPr bwMode="auto">
          <a:xfrm>
            <a:off x="2326578" y="1317943"/>
            <a:ext cx="1871370" cy="1583556"/>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1" name="Line 9"/>
          <p:cNvSpPr>
            <a:spLocks noChangeShapeType="1"/>
          </p:cNvSpPr>
          <p:nvPr/>
        </p:nvSpPr>
        <p:spPr bwMode="auto">
          <a:xfrm>
            <a:off x="2325432" y="1559127"/>
            <a:ext cx="1874808" cy="105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2" name="Line 10"/>
          <p:cNvSpPr>
            <a:spLocks noChangeShapeType="1"/>
          </p:cNvSpPr>
          <p:nvPr/>
        </p:nvSpPr>
        <p:spPr bwMode="auto">
          <a:xfrm>
            <a:off x="2325432" y="1783385"/>
            <a:ext cx="1874808" cy="105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3" name="Line 11"/>
          <p:cNvSpPr>
            <a:spLocks noChangeShapeType="1"/>
          </p:cNvSpPr>
          <p:nvPr/>
        </p:nvSpPr>
        <p:spPr bwMode="auto">
          <a:xfrm>
            <a:off x="2325432" y="2007642"/>
            <a:ext cx="1874808" cy="105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4" name="Line 12"/>
          <p:cNvSpPr>
            <a:spLocks noChangeShapeType="1"/>
          </p:cNvSpPr>
          <p:nvPr/>
        </p:nvSpPr>
        <p:spPr bwMode="auto">
          <a:xfrm>
            <a:off x="2325432" y="2232959"/>
            <a:ext cx="1874808" cy="105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5" name="Line 13"/>
          <p:cNvSpPr>
            <a:spLocks noChangeShapeType="1"/>
          </p:cNvSpPr>
          <p:nvPr/>
        </p:nvSpPr>
        <p:spPr bwMode="auto">
          <a:xfrm>
            <a:off x="2325432" y="2457217"/>
            <a:ext cx="1874808" cy="105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6" name="Line 14"/>
          <p:cNvSpPr>
            <a:spLocks noChangeShapeType="1"/>
          </p:cNvSpPr>
          <p:nvPr/>
        </p:nvSpPr>
        <p:spPr bwMode="auto">
          <a:xfrm>
            <a:off x="2325432" y="2681474"/>
            <a:ext cx="1874808" cy="105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7" name="Line 15"/>
          <p:cNvSpPr>
            <a:spLocks noChangeShapeType="1"/>
          </p:cNvSpPr>
          <p:nvPr/>
        </p:nvSpPr>
        <p:spPr bwMode="auto">
          <a:xfrm>
            <a:off x="3262836" y="1783385"/>
            <a:ext cx="0" cy="112234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8" name="Line 16"/>
          <p:cNvSpPr>
            <a:spLocks noChangeShapeType="1"/>
          </p:cNvSpPr>
          <p:nvPr/>
        </p:nvSpPr>
        <p:spPr bwMode="auto">
          <a:xfrm>
            <a:off x="3730392" y="2457216"/>
            <a:ext cx="0" cy="4485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9" name="Line 17"/>
          <p:cNvSpPr>
            <a:spLocks noChangeShapeType="1"/>
          </p:cNvSpPr>
          <p:nvPr/>
        </p:nvSpPr>
        <p:spPr bwMode="auto">
          <a:xfrm>
            <a:off x="2786112" y="2458169"/>
            <a:ext cx="0" cy="4485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20" name="Line 18"/>
          <p:cNvSpPr>
            <a:spLocks noChangeShapeType="1"/>
          </p:cNvSpPr>
          <p:nvPr/>
        </p:nvSpPr>
        <p:spPr bwMode="auto">
          <a:xfrm>
            <a:off x="2794135" y="1783488"/>
            <a:ext cx="0" cy="22425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21" name="Text Box 19"/>
          <p:cNvSpPr txBox="1">
            <a:spLocks noChangeArrowheads="1"/>
          </p:cNvSpPr>
          <p:nvPr/>
        </p:nvSpPr>
        <p:spPr bwMode="auto">
          <a:xfrm>
            <a:off x="2689850" y="1322176"/>
            <a:ext cx="108395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a:latin typeface="微软雅黑" pitchFamily="34" charset="-122"/>
                <a:ea typeface="微软雅黑" pitchFamily="34" charset="-122"/>
              </a:rPr>
              <a:t>153.19.8.104</a:t>
            </a:r>
          </a:p>
        </p:txBody>
      </p:sp>
      <p:sp>
        <p:nvSpPr>
          <p:cNvPr id="22" name="Text Box 20"/>
          <p:cNvSpPr txBox="1">
            <a:spLocks noChangeArrowheads="1"/>
          </p:cNvSpPr>
          <p:nvPr/>
        </p:nvSpPr>
        <p:spPr bwMode="auto">
          <a:xfrm>
            <a:off x="2713916" y="1549608"/>
            <a:ext cx="9973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a:latin typeface="微软雅黑" pitchFamily="34" charset="-122"/>
                <a:ea typeface="微软雅黑" pitchFamily="34" charset="-122"/>
              </a:rPr>
              <a:t>171.3.14.11</a:t>
            </a:r>
          </a:p>
        </p:txBody>
      </p:sp>
      <p:sp>
        <p:nvSpPr>
          <p:cNvPr id="23" name="AutoShape 22"/>
          <p:cNvSpPr>
            <a:spLocks/>
          </p:cNvSpPr>
          <p:nvPr/>
        </p:nvSpPr>
        <p:spPr bwMode="auto">
          <a:xfrm>
            <a:off x="2223441" y="1309482"/>
            <a:ext cx="50423" cy="692872"/>
          </a:xfrm>
          <a:prstGeom prst="leftBrace">
            <a:avLst>
              <a:gd name="adj1" fmla="val 12405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4" name="AutoShape 23"/>
          <p:cNvSpPr>
            <a:spLocks/>
          </p:cNvSpPr>
          <p:nvPr/>
        </p:nvSpPr>
        <p:spPr bwMode="auto">
          <a:xfrm>
            <a:off x="2217711" y="2041493"/>
            <a:ext cx="56153" cy="403030"/>
          </a:xfrm>
          <a:prstGeom prst="leftBrace">
            <a:avLst>
              <a:gd name="adj1" fmla="val 6479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5" name="AutoShape 24"/>
          <p:cNvSpPr>
            <a:spLocks/>
          </p:cNvSpPr>
          <p:nvPr/>
        </p:nvSpPr>
        <p:spPr bwMode="auto">
          <a:xfrm>
            <a:off x="2222294" y="2468851"/>
            <a:ext cx="56153" cy="423128"/>
          </a:xfrm>
          <a:prstGeom prst="leftBrace">
            <a:avLst>
              <a:gd name="adj1" fmla="val 6802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6" name="Text Box 25"/>
          <p:cNvSpPr txBox="1">
            <a:spLocks noChangeArrowheads="1"/>
          </p:cNvSpPr>
          <p:nvPr/>
        </p:nvSpPr>
        <p:spPr bwMode="auto">
          <a:xfrm>
            <a:off x="1520961" y="1414206"/>
            <a:ext cx="752904"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en-US" altLang="zh-CN" sz="1100" b="1" dirty="0">
                <a:solidFill>
                  <a:srgbClr val="000099"/>
                </a:solidFill>
                <a:latin typeface="微软雅黑" pitchFamily="34" charset="-122"/>
                <a:ea typeface="微软雅黑" pitchFamily="34" charset="-122"/>
              </a:rPr>
              <a:t>12 </a:t>
            </a:r>
            <a:r>
              <a:rPr kumimoji="1" lang="zh-CN" altLang="en-US" sz="1100" b="1" dirty="0">
                <a:solidFill>
                  <a:srgbClr val="000099"/>
                </a:solidFill>
                <a:latin typeface="微软雅黑" pitchFamily="34" charset="-122"/>
                <a:ea typeface="微软雅黑" pitchFamily="34" charset="-122"/>
              </a:rPr>
              <a:t>字节</a:t>
            </a:r>
          </a:p>
          <a:p>
            <a:pPr algn="ctr"/>
            <a:r>
              <a:rPr kumimoji="1" lang="zh-CN" altLang="en-US" sz="1100" b="1" dirty="0">
                <a:solidFill>
                  <a:srgbClr val="000099"/>
                </a:solidFill>
                <a:latin typeface="微软雅黑" pitchFamily="34" charset="-122"/>
                <a:ea typeface="微软雅黑" pitchFamily="34" charset="-122"/>
              </a:rPr>
              <a:t>伪首部</a:t>
            </a:r>
          </a:p>
        </p:txBody>
      </p:sp>
      <p:sp>
        <p:nvSpPr>
          <p:cNvPr id="27" name="Text Box 26"/>
          <p:cNvSpPr txBox="1">
            <a:spLocks noChangeArrowheads="1"/>
          </p:cNvSpPr>
          <p:nvPr/>
        </p:nvSpPr>
        <p:spPr bwMode="auto">
          <a:xfrm>
            <a:off x="1408156" y="1965329"/>
            <a:ext cx="82266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100" b="1" dirty="0">
                <a:solidFill>
                  <a:srgbClr val="000099"/>
                </a:solidFill>
                <a:latin typeface="微软雅黑" pitchFamily="34" charset="-122"/>
                <a:ea typeface="微软雅黑" pitchFamily="34" charset="-122"/>
              </a:rPr>
              <a:t>8 </a:t>
            </a:r>
            <a:r>
              <a:rPr kumimoji="1" lang="zh-CN" altLang="en-US" sz="1100" b="1" dirty="0">
                <a:solidFill>
                  <a:srgbClr val="000099"/>
                </a:solidFill>
                <a:latin typeface="微软雅黑" pitchFamily="34" charset="-122"/>
                <a:ea typeface="微软雅黑" pitchFamily="34" charset="-122"/>
              </a:rPr>
              <a:t>字节</a:t>
            </a:r>
          </a:p>
          <a:p>
            <a:pPr algn="ctr"/>
            <a:r>
              <a:rPr kumimoji="1" lang="en-US" altLang="zh-CN" sz="1100" b="1" dirty="0">
                <a:solidFill>
                  <a:srgbClr val="000099"/>
                </a:solidFill>
                <a:latin typeface="微软雅黑" pitchFamily="34" charset="-122"/>
                <a:ea typeface="微软雅黑" pitchFamily="34" charset="-122"/>
              </a:rPr>
              <a:t>UDP </a:t>
            </a:r>
            <a:r>
              <a:rPr kumimoji="1" lang="zh-CN" altLang="en-US" sz="1100" b="1" dirty="0">
                <a:solidFill>
                  <a:srgbClr val="000099"/>
                </a:solidFill>
                <a:latin typeface="微软雅黑" pitchFamily="34" charset="-122"/>
                <a:ea typeface="微软雅黑" pitchFamily="34" charset="-122"/>
              </a:rPr>
              <a:t>首部</a:t>
            </a:r>
          </a:p>
        </p:txBody>
      </p:sp>
      <p:sp>
        <p:nvSpPr>
          <p:cNvPr id="28" name="Text Box 27"/>
          <p:cNvSpPr txBox="1">
            <a:spLocks noChangeArrowheads="1"/>
          </p:cNvSpPr>
          <p:nvPr/>
        </p:nvSpPr>
        <p:spPr bwMode="auto">
          <a:xfrm>
            <a:off x="1579840" y="2433944"/>
            <a:ext cx="59503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100" b="1" dirty="0">
                <a:solidFill>
                  <a:srgbClr val="000099"/>
                </a:solidFill>
                <a:latin typeface="微软雅黑" pitchFamily="34" charset="-122"/>
                <a:ea typeface="微软雅黑" pitchFamily="34" charset="-122"/>
              </a:rPr>
              <a:t>7 </a:t>
            </a:r>
            <a:r>
              <a:rPr kumimoji="1" lang="zh-CN" altLang="en-US" sz="1100" b="1" dirty="0">
                <a:solidFill>
                  <a:srgbClr val="000099"/>
                </a:solidFill>
                <a:latin typeface="微软雅黑" pitchFamily="34" charset="-122"/>
                <a:ea typeface="微软雅黑" pitchFamily="34" charset="-122"/>
              </a:rPr>
              <a:t>字节</a:t>
            </a:r>
          </a:p>
          <a:p>
            <a:pPr algn="ctr"/>
            <a:r>
              <a:rPr kumimoji="1" lang="zh-CN" altLang="en-US" sz="1100" b="1" dirty="0">
                <a:solidFill>
                  <a:srgbClr val="000099"/>
                </a:solidFill>
                <a:latin typeface="微软雅黑" pitchFamily="34" charset="-122"/>
                <a:ea typeface="微软雅黑" pitchFamily="34" charset="-122"/>
              </a:rPr>
              <a:t>数据</a:t>
            </a:r>
          </a:p>
        </p:txBody>
      </p:sp>
      <p:grpSp>
        <p:nvGrpSpPr>
          <p:cNvPr id="29" name="Group 34"/>
          <p:cNvGrpSpPr>
            <a:grpSpLocks/>
          </p:cNvGrpSpPr>
          <p:nvPr/>
        </p:nvGrpSpPr>
        <p:grpSpPr bwMode="auto">
          <a:xfrm>
            <a:off x="3603186" y="2878211"/>
            <a:ext cx="466410" cy="452744"/>
            <a:chOff x="1705" y="2787"/>
            <a:chExt cx="407" cy="428"/>
          </a:xfrm>
        </p:grpSpPr>
        <p:sp>
          <p:nvSpPr>
            <p:cNvPr id="30" name="Text Box 28"/>
            <p:cNvSpPr txBox="1">
              <a:spLocks noChangeArrowheads="1"/>
            </p:cNvSpPr>
            <p:nvPr/>
          </p:nvSpPr>
          <p:spPr bwMode="auto">
            <a:xfrm>
              <a:off x="1705" y="2968"/>
              <a:ext cx="407"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100" b="1" dirty="0">
                  <a:latin typeface="微软雅黑" pitchFamily="34" charset="-122"/>
                  <a:ea typeface="微软雅黑" pitchFamily="34" charset="-122"/>
                </a:rPr>
                <a:t>填充</a:t>
              </a:r>
            </a:p>
          </p:txBody>
        </p:sp>
        <p:sp>
          <p:nvSpPr>
            <p:cNvPr id="31" name="Line 29"/>
            <p:cNvSpPr>
              <a:spLocks noChangeShapeType="1"/>
            </p:cNvSpPr>
            <p:nvPr/>
          </p:nvSpPr>
          <p:spPr bwMode="auto">
            <a:xfrm flipV="1">
              <a:off x="1920" y="2787"/>
              <a:ext cx="134" cy="207"/>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sp>
        <p:nvSpPr>
          <p:cNvPr id="39" name="矩形 38"/>
          <p:cNvSpPr/>
          <p:nvPr/>
        </p:nvSpPr>
        <p:spPr>
          <a:xfrm>
            <a:off x="977757" y="3206010"/>
            <a:ext cx="2148344" cy="523220"/>
          </a:xfrm>
          <a:prstGeom prst="rect">
            <a:avLst/>
          </a:prstGeom>
          <a:solidFill>
            <a:srgbClr val="000099"/>
          </a:solidFill>
          <a:ln>
            <a:solidFill>
              <a:schemeClr val="tx1"/>
            </a:solidFill>
          </a:ln>
        </p:spPr>
        <p:txBody>
          <a:bodyPr wrap="square">
            <a:spAutoFit/>
          </a:bodyPr>
          <a:lstStyle/>
          <a:p>
            <a:r>
              <a:rPr lang="en-US" altLang="zh-CN" sz="1400" b="1" dirty="0">
                <a:solidFill>
                  <a:schemeClr val="bg1"/>
                </a:solidFill>
                <a:latin typeface="微软雅黑" pitchFamily="34" charset="-122"/>
                <a:ea typeface="微软雅黑" pitchFamily="34" charset="-122"/>
              </a:rPr>
              <a:t>UDP </a:t>
            </a:r>
            <a:r>
              <a:rPr lang="zh-CN" altLang="zh-CN" sz="1400" b="1" dirty="0">
                <a:solidFill>
                  <a:schemeClr val="bg1"/>
                </a:solidFill>
                <a:latin typeface="微软雅黑" pitchFamily="34" charset="-122"/>
                <a:ea typeface="微软雅黑" pitchFamily="34" charset="-122"/>
              </a:rPr>
              <a:t>的</a:t>
            </a:r>
            <a:r>
              <a:rPr lang="zh-CN" altLang="en-US" sz="1400" b="1" dirty="0">
                <a:solidFill>
                  <a:schemeClr val="bg1"/>
                </a:solidFill>
                <a:latin typeface="微软雅黑" pitchFamily="34" charset="-122"/>
                <a:ea typeface="微软雅黑" pitchFamily="34" charset="-122"/>
              </a:rPr>
              <a:t>校验</a:t>
            </a:r>
            <a:r>
              <a:rPr lang="zh-CN" altLang="zh-CN" sz="1400" b="1" dirty="0">
                <a:solidFill>
                  <a:schemeClr val="bg1"/>
                </a:solidFill>
                <a:latin typeface="微软雅黑" pitchFamily="34" charset="-122"/>
                <a:ea typeface="微软雅黑" pitchFamily="34" charset="-122"/>
              </a:rPr>
              <a:t>和是把首部和数据部分一起都</a:t>
            </a:r>
            <a:r>
              <a:rPr lang="zh-CN" altLang="en-US" sz="1400" b="1" dirty="0">
                <a:solidFill>
                  <a:schemeClr val="bg1"/>
                </a:solidFill>
                <a:latin typeface="微软雅黑" pitchFamily="34" charset="-122"/>
                <a:ea typeface="微软雅黑" pitchFamily="34" charset="-122"/>
              </a:rPr>
              <a:t>校验</a:t>
            </a:r>
            <a:r>
              <a:rPr lang="zh-CN" altLang="zh-CN" sz="1400" b="1" dirty="0">
                <a:solidFill>
                  <a:schemeClr val="bg1"/>
                </a:solidFill>
                <a:latin typeface="微软雅黑" pitchFamily="34" charset="-122"/>
                <a:ea typeface="微软雅黑" pitchFamily="34" charset="-122"/>
              </a:rPr>
              <a:t>。</a:t>
            </a:r>
            <a:endParaRPr lang="zh-CN" altLang="en-US" sz="1400" b="1" dirty="0">
              <a:solidFill>
                <a:schemeClr val="bg1"/>
              </a:solidFill>
              <a:latin typeface="微软雅黑" pitchFamily="34" charset="-122"/>
              <a:ea typeface="微软雅黑" pitchFamily="34" charset="-122"/>
            </a:endParaRPr>
          </a:p>
        </p:txBody>
      </p:sp>
      <p:sp>
        <p:nvSpPr>
          <p:cNvPr id="41" name="Text Box 21"/>
          <p:cNvSpPr txBox="1">
            <a:spLocks noChangeArrowheads="1"/>
          </p:cNvSpPr>
          <p:nvPr/>
        </p:nvSpPr>
        <p:spPr bwMode="auto">
          <a:xfrm>
            <a:off x="2327763" y="1762003"/>
            <a:ext cx="2079937" cy="118237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ts val="1720"/>
              </a:lnSpc>
            </a:pPr>
            <a:r>
              <a:rPr kumimoji="1" lang="zh-CN" altLang="en-US" sz="1200" b="1" dirty="0">
                <a:latin typeface="微软雅黑" pitchFamily="34" charset="-122"/>
                <a:ea typeface="微软雅黑" pitchFamily="34" charset="-122"/>
              </a:rPr>
              <a:t>全 </a:t>
            </a:r>
            <a:r>
              <a:rPr kumimoji="1" lang="en-US" altLang="zh-CN" sz="1200" b="1" dirty="0">
                <a:latin typeface="微软雅黑" pitchFamily="34" charset="-122"/>
                <a:ea typeface="微软雅黑" pitchFamily="34" charset="-122"/>
              </a:rPr>
              <a:t>0    17          15</a:t>
            </a:r>
          </a:p>
          <a:p>
            <a:pPr>
              <a:lnSpc>
                <a:spcPts val="1720"/>
              </a:lnSpc>
            </a:pPr>
            <a:r>
              <a:rPr kumimoji="1" lang="en-US" altLang="zh-CN" sz="1200" b="1" dirty="0">
                <a:latin typeface="微软雅黑" pitchFamily="34" charset="-122"/>
                <a:ea typeface="微软雅黑" pitchFamily="34" charset="-122"/>
              </a:rPr>
              <a:t>    1087            13</a:t>
            </a:r>
          </a:p>
          <a:p>
            <a:pPr>
              <a:lnSpc>
                <a:spcPts val="1720"/>
              </a:lnSpc>
            </a:pPr>
            <a:r>
              <a:rPr kumimoji="1" lang="en-US" altLang="zh-CN" sz="1200" b="1" dirty="0">
                <a:latin typeface="微软雅黑" pitchFamily="34" charset="-122"/>
                <a:ea typeface="微软雅黑" pitchFamily="34" charset="-122"/>
              </a:rPr>
              <a:t>      15             </a:t>
            </a:r>
            <a:r>
              <a:rPr kumimoji="1" lang="zh-CN" altLang="en-US" sz="1200" b="1" dirty="0">
                <a:latin typeface="微软雅黑" pitchFamily="34" charset="-122"/>
                <a:ea typeface="微软雅黑" pitchFamily="34" charset="-122"/>
              </a:rPr>
              <a:t>全 </a:t>
            </a:r>
            <a:r>
              <a:rPr kumimoji="1" lang="en-US" altLang="zh-CN" sz="1200" b="1" dirty="0">
                <a:latin typeface="微软雅黑" pitchFamily="34" charset="-122"/>
                <a:ea typeface="微软雅黑" pitchFamily="34" charset="-122"/>
              </a:rPr>
              <a:t>0</a:t>
            </a:r>
          </a:p>
          <a:p>
            <a:pPr>
              <a:lnSpc>
                <a:spcPts val="1720"/>
              </a:lnSpc>
            </a:pPr>
            <a:r>
              <a:rPr kumimoji="1" lang="zh-CN" altLang="en-US" sz="1200" b="1" dirty="0">
                <a:latin typeface="微软雅黑" pitchFamily="34" charset="-122"/>
                <a:ea typeface="微软雅黑" pitchFamily="34" charset="-122"/>
              </a:rPr>
              <a:t>数据   数据    数据   数据</a:t>
            </a:r>
          </a:p>
          <a:p>
            <a:pPr>
              <a:lnSpc>
                <a:spcPts val="1720"/>
              </a:lnSpc>
            </a:pPr>
            <a:r>
              <a:rPr kumimoji="1" lang="zh-CN" altLang="en-US" sz="1200" b="1" dirty="0">
                <a:latin typeface="微软雅黑" pitchFamily="34" charset="-122"/>
                <a:ea typeface="微软雅黑" pitchFamily="34" charset="-122"/>
              </a:rPr>
              <a:t>数据   数据    数据   全 </a:t>
            </a:r>
            <a:r>
              <a:rPr kumimoji="1" lang="en-US" altLang="zh-CN" sz="1200" b="1" dirty="0">
                <a:latin typeface="微软雅黑" pitchFamily="34" charset="-122"/>
                <a:ea typeface="微软雅黑" pitchFamily="34" charset="-122"/>
              </a:rPr>
              <a:t>0</a:t>
            </a:r>
          </a:p>
        </p:txBody>
      </p:sp>
      <p:sp>
        <p:nvSpPr>
          <p:cNvPr id="35" name="文本框 34">
            <a:extLst>
              <a:ext uri="{FF2B5EF4-FFF2-40B4-BE49-F238E27FC236}">
                <a16:creationId xmlns:a16="http://schemas.microsoft.com/office/drawing/2014/main" id="{87025210-0C46-9ECF-D397-F1A322FC0774}"/>
              </a:ext>
            </a:extLst>
          </p:cNvPr>
          <p:cNvSpPr txBox="1"/>
          <p:nvPr/>
        </p:nvSpPr>
        <p:spPr>
          <a:xfrm>
            <a:off x="3388813" y="2209673"/>
            <a:ext cx="526245" cy="276999"/>
          </a:xfrm>
          <a:prstGeom prst="rect">
            <a:avLst/>
          </a:prstGeom>
          <a:noFill/>
        </p:spPr>
        <p:txBody>
          <a:bodyPr wrap="square">
            <a:spAutoFit/>
          </a:bodyPr>
          <a:lstStyle/>
          <a:p>
            <a:r>
              <a:rPr kumimoji="1" lang="zh-CN" altLang="en-US" sz="1200" b="1" dirty="0">
                <a:solidFill>
                  <a:srgbClr val="C00000"/>
                </a:solidFill>
                <a:latin typeface="微软雅黑" pitchFamily="34" charset="-122"/>
                <a:ea typeface="微软雅黑" pitchFamily="34" charset="-122"/>
              </a:rPr>
              <a:t>全 </a:t>
            </a:r>
            <a:r>
              <a:rPr kumimoji="1" lang="en-US" altLang="zh-CN" sz="1200" b="1" dirty="0">
                <a:solidFill>
                  <a:srgbClr val="C00000"/>
                </a:solidFill>
                <a:latin typeface="微软雅黑" pitchFamily="34" charset="-122"/>
                <a:ea typeface="微软雅黑" pitchFamily="34" charset="-122"/>
              </a:rPr>
              <a:t>0</a:t>
            </a:r>
          </a:p>
        </p:txBody>
      </p:sp>
    </p:spTree>
    <p:extLst>
      <p:ext uri="{BB962C8B-B14F-4D97-AF65-F5344CB8AC3E}">
        <p14:creationId xmlns:p14="http://schemas.microsoft.com/office/powerpoint/2010/main" val="2597807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28"/>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nodeType="clickEffect">
                                  <p:stCondLst>
                                    <p:cond delay="0"/>
                                  </p:stCondLst>
                                  <p:childTnLst>
                                    <p:anim calcmode="discrete" valueType="str">
                                      <p:cBhvr>
                                        <p:cTn id="10" dur="1000" fill="hold"/>
                                        <p:tgtEl>
                                          <p:spTgt spid="29"/>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3000" fill="hold" grpId="0" nodeType="clickEffect">
                                  <p:stCondLst>
                                    <p:cond delay="0"/>
                                  </p:stCondLst>
                                  <p:childTnLst>
                                    <p:anim calcmode="discrete" valueType="str">
                                      <p:cBhvr>
                                        <p:cTn id="14" dur="1000" fill="hold"/>
                                        <p:tgtEl>
                                          <p:spTgt spid="35"/>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35" presetClass="emph" presetSubtype="0" repeatCount="3000" fill="hold" nodeType="clickEffect">
                                  <p:stCondLst>
                                    <p:cond delay="0"/>
                                  </p:stCondLst>
                                  <p:childTnLst>
                                    <p:anim calcmode="discrete" valueType="str">
                                      <p:cBhvr>
                                        <p:cTn id="18" dur="1000" fill="hold"/>
                                        <p:tgtEl>
                                          <p:spTgt spid="4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155BC-DBAD-E444-231F-CDFC50954436}"/>
            </a:ext>
          </a:extLst>
        </p:cNvPr>
        <p:cNvGrpSpPr/>
        <p:nvPr/>
      </p:nvGrpSpPr>
      <p:grpSpPr>
        <a:xfrm>
          <a:off x="0" y="0"/>
          <a:ext cx="0" cy="0"/>
          <a:chOff x="0" y="0"/>
          <a:chExt cx="0" cy="0"/>
        </a:xfrm>
      </p:grpSpPr>
      <p:sp>
        <p:nvSpPr>
          <p:cNvPr id="2" name="AutoShape 5">
            <a:extLst>
              <a:ext uri="{FF2B5EF4-FFF2-40B4-BE49-F238E27FC236}">
                <a16:creationId xmlns:a16="http://schemas.microsoft.com/office/drawing/2014/main" id="{30FB9F35-E629-FCE3-D155-E719177B02E4}"/>
              </a:ext>
            </a:extLst>
          </p:cNvPr>
          <p:cNvSpPr>
            <a:spLocks noChangeArrowheads="1"/>
          </p:cNvSpPr>
          <p:nvPr/>
        </p:nvSpPr>
        <p:spPr bwMode="auto">
          <a:xfrm>
            <a:off x="545144" y="62820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a:extLst>
              <a:ext uri="{FF2B5EF4-FFF2-40B4-BE49-F238E27FC236}">
                <a16:creationId xmlns:a16="http://schemas.microsoft.com/office/drawing/2014/main" id="{B1569252-A50E-19C4-0933-BA54B3EBD76A}"/>
              </a:ext>
            </a:extLst>
          </p:cNvPr>
          <p:cNvSpPr>
            <a:spLocks noChangeArrowheads="1"/>
          </p:cNvSpPr>
          <p:nvPr/>
        </p:nvSpPr>
        <p:spPr bwMode="auto">
          <a:xfrm>
            <a:off x="3126101" y="605119"/>
            <a:ext cx="287450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计算 </a:t>
            </a:r>
            <a:r>
              <a:rPr lang="en-US" altLang="zh-CN" sz="2000" b="1" dirty="0">
                <a:solidFill>
                  <a:schemeClr val="bg1"/>
                </a:solidFill>
                <a:ea typeface="微软雅黑" pitchFamily="34" charset="-122"/>
              </a:rPr>
              <a:t>UDP </a:t>
            </a:r>
            <a:r>
              <a:rPr lang="zh-CN" altLang="en-US" sz="2000" b="1" dirty="0">
                <a:solidFill>
                  <a:schemeClr val="bg1"/>
                </a:solidFill>
                <a:ea typeface="微软雅黑" pitchFamily="34" charset="-122"/>
              </a:rPr>
              <a:t>校验和的例子</a:t>
            </a:r>
          </a:p>
        </p:txBody>
      </p:sp>
      <p:sp>
        <p:nvSpPr>
          <p:cNvPr id="4" name="圆角矩形 3">
            <a:extLst>
              <a:ext uri="{FF2B5EF4-FFF2-40B4-BE49-F238E27FC236}">
                <a16:creationId xmlns:a16="http://schemas.microsoft.com/office/drawing/2014/main" id="{CB64F682-B410-461C-413E-7BCAFA82DB29}"/>
              </a:ext>
            </a:extLst>
          </p:cNvPr>
          <p:cNvSpPr/>
          <p:nvPr/>
        </p:nvSpPr>
        <p:spPr>
          <a:xfrm>
            <a:off x="545144" y="1069848"/>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36">
            <a:extLst>
              <a:ext uri="{FF2B5EF4-FFF2-40B4-BE49-F238E27FC236}">
                <a16:creationId xmlns:a16="http://schemas.microsoft.com/office/drawing/2014/main" id="{189CF1AE-CA5F-80A1-C3E9-B112CF425A60}"/>
              </a:ext>
            </a:extLst>
          </p:cNvPr>
          <p:cNvSpPr>
            <a:spLocks noChangeArrowheads="1"/>
          </p:cNvSpPr>
          <p:nvPr/>
        </p:nvSpPr>
        <p:spPr bwMode="auto">
          <a:xfrm>
            <a:off x="3735893" y="2669837"/>
            <a:ext cx="456097" cy="241183"/>
          </a:xfrm>
          <a:prstGeom prst="rect">
            <a:avLst/>
          </a:prstGeom>
          <a:solidFill>
            <a:srgbClr val="FF66FF"/>
          </a:solidFill>
          <a:ln>
            <a:noFill/>
          </a:ln>
          <a:effectLst/>
        </p:spPr>
        <p:txBody>
          <a:bodyPr wrap="none" anchor="ctr"/>
          <a:lstStyle/>
          <a:p>
            <a:endParaRPr lang="zh-CN" altLang="en-US" sz="1100" b="1">
              <a:latin typeface="微软雅黑" pitchFamily="34" charset="-122"/>
              <a:ea typeface="微软雅黑" pitchFamily="34" charset="-122"/>
            </a:endParaRPr>
          </a:p>
        </p:txBody>
      </p:sp>
      <p:sp>
        <p:nvSpPr>
          <p:cNvPr id="6" name="Rectangle 35">
            <a:extLst>
              <a:ext uri="{FF2B5EF4-FFF2-40B4-BE49-F238E27FC236}">
                <a16:creationId xmlns:a16="http://schemas.microsoft.com/office/drawing/2014/main" id="{BCC84486-D934-7711-1794-80E034E57FBD}"/>
              </a:ext>
            </a:extLst>
          </p:cNvPr>
          <p:cNvSpPr>
            <a:spLocks noChangeArrowheads="1"/>
          </p:cNvSpPr>
          <p:nvPr/>
        </p:nvSpPr>
        <p:spPr bwMode="auto">
          <a:xfrm>
            <a:off x="2328499" y="1994598"/>
            <a:ext cx="1856473" cy="474253"/>
          </a:xfrm>
          <a:prstGeom prst="rect">
            <a:avLst/>
          </a:prstGeom>
          <a:solidFill>
            <a:srgbClr val="FFFF66"/>
          </a:solidFill>
          <a:ln>
            <a:noFill/>
          </a:ln>
          <a:effectLst/>
        </p:spPr>
        <p:txBody>
          <a:bodyPr wrap="none" anchor="ctr"/>
          <a:lstStyle/>
          <a:p>
            <a:endParaRPr lang="zh-CN" altLang="en-US" sz="1100" b="1">
              <a:latin typeface="微软雅黑" pitchFamily="34" charset="-122"/>
              <a:ea typeface="微软雅黑" pitchFamily="34" charset="-122"/>
            </a:endParaRPr>
          </a:p>
        </p:txBody>
      </p:sp>
      <p:sp>
        <p:nvSpPr>
          <p:cNvPr id="8" name="Freeform 5">
            <a:extLst>
              <a:ext uri="{FF2B5EF4-FFF2-40B4-BE49-F238E27FC236}">
                <a16:creationId xmlns:a16="http://schemas.microsoft.com/office/drawing/2014/main" id="{EEC0ACAE-9B93-AC9A-4691-B297C233D2D1}"/>
              </a:ext>
            </a:extLst>
          </p:cNvPr>
          <p:cNvSpPr>
            <a:spLocks/>
          </p:cNvSpPr>
          <p:nvPr/>
        </p:nvSpPr>
        <p:spPr bwMode="auto">
          <a:xfrm>
            <a:off x="2325432" y="2457216"/>
            <a:ext cx="1874808" cy="448515"/>
          </a:xfrm>
          <a:custGeom>
            <a:avLst/>
            <a:gdLst>
              <a:gd name="T0" fmla="*/ 0 w 1536"/>
              <a:gd name="T1" fmla="*/ 0 h 480"/>
              <a:gd name="T2" fmla="*/ 1536 w 1536"/>
              <a:gd name="T3" fmla="*/ 0 h 480"/>
              <a:gd name="T4" fmla="*/ 1536 w 1536"/>
              <a:gd name="T5" fmla="*/ 240 h 480"/>
              <a:gd name="T6" fmla="*/ 1152 w 1536"/>
              <a:gd name="T7" fmla="*/ 240 h 480"/>
              <a:gd name="T8" fmla="*/ 1152 w 1536"/>
              <a:gd name="T9" fmla="*/ 480 h 480"/>
              <a:gd name="T10" fmla="*/ 0 w 1536"/>
              <a:gd name="T11" fmla="*/ 480 h 480"/>
              <a:gd name="T12" fmla="*/ 0 w 1536"/>
              <a:gd name="T13" fmla="*/ 0 h 480"/>
            </a:gdLst>
            <a:ahLst/>
            <a:cxnLst>
              <a:cxn ang="0">
                <a:pos x="T0" y="T1"/>
              </a:cxn>
              <a:cxn ang="0">
                <a:pos x="T2" y="T3"/>
              </a:cxn>
              <a:cxn ang="0">
                <a:pos x="T4" y="T5"/>
              </a:cxn>
              <a:cxn ang="0">
                <a:pos x="T6" y="T7"/>
              </a:cxn>
              <a:cxn ang="0">
                <a:pos x="T8" y="T9"/>
              </a:cxn>
              <a:cxn ang="0">
                <a:pos x="T10" y="T11"/>
              </a:cxn>
              <a:cxn ang="0">
                <a:pos x="T12" y="T13"/>
              </a:cxn>
            </a:cxnLst>
            <a:rect l="0" t="0" r="r" b="b"/>
            <a:pathLst>
              <a:path w="1536" h="480">
                <a:moveTo>
                  <a:pt x="0" y="0"/>
                </a:moveTo>
                <a:lnTo>
                  <a:pt x="1536" y="0"/>
                </a:lnTo>
                <a:lnTo>
                  <a:pt x="1536" y="240"/>
                </a:lnTo>
                <a:lnTo>
                  <a:pt x="1152" y="240"/>
                </a:lnTo>
                <a:lnTo>
                  <a:pt x="1152" y="480"/>
                </a:lnTo>
                <a:lnTo>
                  <a:pt x="0" y="480"/>
                </a:lnTo>
                <a:lnTo>
                  <a:pt x="0" y="0"/>
                </a:lnTo>
                <a:close/>
              </a:path>
            </a:pathLst>
          </a:custGeom>
          <a:solidFill>
            <a:srgbClr val="00FF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9" name="Rectangle 6">
            <a:extLst>
              <a:ext uri="{FF2B5EF4-FFF2-40B4-BE49-F238E27FC236}">
                <a16:creationId xmlns:a16="http://schemas.microsoft.com/office/drawing/2014/main" id="{A47873F5-F63A-C94D-B4CC-A1FEA515FC6C}"/>
              </a:ext>
            </a:extLst>
          </p:cNvPr>
          <p:cNvSpPr>
            <a:spLocks noChangeArrowheads="1"/>
          </p:cNvSpPr>
          <p:nvPr/>
        </p:nvSpPr>
        <p:spPr bwMode="auto">
          <a:xfrm>
            <a:off x="2325432" y="1334869"/>
            <a:ext cx="1874808" cy="672774"/>
          </a:xfrm>
          <a:prstGeom prst="rect">
            <a:avLst/>
          </a:prstGeom>
          <a:solidFill>
            <a:srgbClr val="66FFFF"/>
          </a:solidFill>
          <a:ln>
            <a:noFill/>
          </a:ln>
          <a:effectLst/>
        </p:spPr>
        <p:txBody>
          <a:bodyPr wrap="none" anchor="ctr"/>
          <a:lstStyle/>
          <a:p>
            <a:endParaRPr lang="zh-CN" altLang="en-US" sz="1100" b="1">
              <a:latin typeface="微软雅黑" pitchFamily="34" charset="-122"/>
              <a:ea typeface="微软雅黑" pitchFamily="34" charset="-122"/>
            </a:endParaRPr>
          </a:p>
        </p:txBody>
      </p:sp>
      <p:sp>
        <p:nvSpPr>
          <p:cNvPr id="10" name="Rectangle 8">
            <a:extLst>
              <a:ext uri="{FF2B5EF4-FFF2-40B4-BE49-F238E27FC236}">
                <a16:creationId xmlns:a16="http://schemas.microsoft.com/office/drawing/2014/main" id="{C2EBAE73-130F-7537-9BC7-FF0BFDF8AC65}"/>
              </a:ext>
            </a:extLst>
          </p:cNvPr>
          <p:cNvSpPr>
            <a:spLocks noChangeArrowheads="1"/>
          </p:cNvSpPr>
          <p:nvPr/>
        </p:nvSpPr>
        <p:spPr bwMode="auto">
          <a:xfrm>
            <a:off x="2326578" y="1317943"/>
            <a:ext cx="1871370" cy="1583556"/>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1" name="Line 9">
            <a:extLst>
              <a:ext uri="{FF2B5EF4-FFF2-40B4-BE49-F238E27FC236}">
                <a16:creationId xmlns:a16="http://schemas.microsoft.com/office/drawing/2014/main" id="{D666CA64-AF9D-AA31-96E3-5B2B66C34809}"/>
              </a:ext>
            </a:extLst>
          </p:cNvPr>
          <p:cNvSpPr>
            <a:spLocks noChangeShapeType="1"/>
          </p:cNvSpPr>
          <p:nvPr/>
        </p:nvSpPr>
        <p:spPr bwMode="auto">
          <a:xfrm>
            <a:off x="2325432" y="1559127"/>
            <a:ext cx="1874808" cy="105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2" name="Line 10">
            <a:extLst>
              <a:ext uri="{FF2B5EF4-FFF2-40B4-BE49-F238E27FC236}">
                <a16:creationId xmlns:a16="http://schemas.microsoft.com/office/drawing/2014/main" id="{12F2B382-17C0-9A14-3EF9-C590FCCBC6FD}"/>
              </a:ext>
            </a:extLst>
          </p:cNvPr>
          <p:cNvSpPr>
            <a:spLocks noChangeShapeType="1"/>
          </p:cNvSpPr>
          <p:nvPr/>
        </p:nvSpPr>
        <p:spPr bwMode="auto">
          <a:xfrm>
            <a:off x="2325432" y="1783385"/>
            <a:ext cx="1874808" cy="105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3" name="Line 11">
            <a:extLst>
              <a:ext uri="{FF2B5EF4-FFF2-40B4-BE49-F238E27FC236}">
                <a16:creationId xmlns:a16="http://schemas.microsoft.com/office/drawing/2014/main" id="{F10BF47A-29EB-06CB-BBE5-376AAFF01DE2}"/>
              </a:ext>
            </a:extLst>
          </p:cNvPr>
          <p:cNvSpPr>
            <a:spLocks noChangeShapeType="1"/>
          </p:cNvSpPr>
          <p:nvPr/>
        </p:nvSpPr>
        <p:spPr bwMode="auto">
          <a:xfrm>
            <a:off x="2325432" y="2007642"/>
            <a:ext cx="1874808" cy="105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4" name="Line 12">
            <a:extLst>
              <a:ext uri="{FF2B5EF4-FFF2-40B4-BE49-F238E27FC236}">
                <a16:creationId xmlns:a16="http://schemas.microsoft.com/office/drawing/2014/main" id="{ED0E75CD-C343-58A3-4D87-63421FBA5617}"/>
              </a:ext>
            </a:extLst>
          </p:cNvPr>
          <p:cNvSpPr>
            <a:spLocks noChangeShapeType="1"/>
          </p:cNvSpPr>
          <p:nvPr/>
        </p:nvSpPr>
        <p:spPr bwMode="auto">
          <a:xfrm>
            <a:off x="2325432" y="2232959"/>
            <a:ext cx="1874808" cy="105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5" name="Line 13">
            <a:extLst>
              <a:ext uri="{FF2B5EF4-FFF2-40B4-BE49-F238E27FC236}">
                <a16:creationId xmlns:a16="http://schemas.microsoft.com/office/drawing/2014/main" id="{19E5AC5D-A3C0-8D36-E0B3-1A5A80DF0D44}"/>
              </a:ext>
            </a:extLst>
          </p:cNvPr>
          <p:cNvSpPr>
            <a:spLocks noChangeShapeType="1"/>
          </p:cNvSpPr>
          <p:nvPr/>
        </p:nvSpPr>
        <p:spPr bwMode="auto">
          <a:xfrm>
            <a:off x="2325432" y="2457217"/>
            <a:ext cx="1874808" cy="105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6" name="Line 14">
            <a:extLst>
              <a:ext uri="{FF2B5EF4-FFF2-40B4-BE49-F238E27FC236}">
                <a16:creationId xmlns:a16="http://schemas.microsoft.com/office/drawing/2014/main" id="{FDC86CC3-2131-7D66-5812-5D60A03CF726}"/>
              </a:ext>
            </a:extLst>
          </p:cNvPr>
          <p:cNvSpPr>
            <a:spLocks noChangeShapeType="1"/>
          </p:cNvSpPr>
          <p:nvPr/>
        </p:nvSpPr>
        <p:spPr bwMode="auto">
          <a:xfrm>
            <a:off x="2325432" y="2681474"/>
            <a:ext cx="1874808" cy="105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7" name="Line 15">
            <a:extLst>
              <a:ext uri="{FF2B5EF4-FFF2-40B4-BE49-F238E27FC236}">
                <a16:creationId xmlns:a16="http://schemas.microsoft.com/office/drawing/2014/main" id="{9C53C623-D2C1-291E-F182-9BD6D6DF6D2F}"/>
              </a:ext>
            </a:extLst>
          </p:cNvPr>
          <p:cNvSpPr>
            <a:spLocks noChangeShapeType="1"/>
          </p:cNvSpPr>
          <p:nvPr/>
        </p:nvSpPr>
        <p:spPr bwMode="auto">
          <a:xfrm>
            <a:off x="3262836" y="1783385"/>
            <a:ext cx="0" cy="112234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8" name="Line 16">
            <a:extLst>
              <a:ext uri="{FF2B5EF4-FFF2-40B4-BE49-F238E27FC236}">
                <a16:creationId xmlns:a16="http://schemas.microsoft.com/office/drawing/2014/main" id="{E1FCF868-8764-3627-2134-BBF6739AB9A9}"/>
              </a:ext>
            </a:extLst>
          </p:cNvPr>
          <p:cNvSpPr>
            <a:spLocks noChangeShapeType="1"/>
          </p:cNvSpPr>
          <p:nvPr/>
        </p:nvSpPr>
        <p:spPr bwMode="auto">
          <a:xfrm>
            <a:off x="3730392" y="2457216"/>
            <a:ext cx="0" cy="4485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9" name="Line 17">
            <a:extLst>
              <a:ext uri="{FF2B5EF4-FFF2-40B4-BE49-F238E27FC236}">
                <a16:creationId xmlns:a16="http://schemas.microsoft.com/office/drawing/2014/main" id="{30F30AF4-3B4A-60F0-DC71-77EC3970E2C1}"/>
              </a:ext>
            </a:extLst>
          </p:cNvPr>
          <p:cNvSpPr>
            <a:spLocks noChangeShapeType="1"/>
          </p:cNvSpPr>
          <p:nvPr/>
        </p:nvSpPr>
        <p:spPr bwMode="auto">
          <a:xfrm>
            <a:off x="2786112" y="2458169"/>
            <a:ext cx="0" cy="4485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20" name="Line 18">
            <a:extLst>
              <a:ext uri="{FF2B5EF4-FFF2-40B4-BE49-F238E27FC236}">
                <a16:creationId xmlns:a16="http://schemas.microsoft.com/office/drawing/2014/main" id="{72F5C26E-31E1-AAFB-D45B-CFD4E13F4597}"/>
              </a:ext>
            </a:extLst>
          </p:cNvPr>
          <p:cNvSpPr>
            <a:spLocks noChangeShapeType="1"/>
          </p:cNvSpPr>
          <p:nvPr/>
        </p:nvSpPr>
        <p:spPr bwMode="auto">
          <a:xfrm>
            <a:off x="2794135" y="1783488"/>
            <a:ext cx="0" cy="22425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21" name="Text Box 19">
            <a:extLst>
              <a:ext uri="{FF2B5EF4-FFF2-40B4-BE49-F238E27FC236}">
                <a16:creationId xmlns:a16="http://schemas.microsoft.com/office/drawing/2014/main" id="{9D310FA4-32B8-C0C8-C1F8-D5FD22BD6EE4}"/>
              </a:ext>
            </a:extLst>
          </p:cNvPr>
          <p:cNvSpPr txBox="1">
            <a:spLocks noChangeArrowheads="1"/>
          </p:cNvSpPr>
          <p:nvPr/>
        </p:nvSpPr>
        <p:spPr bwMode="auto">
          <a:xfrm>
            <a:off x="2689850" y="1322176"/>
            <a:ext cx="108395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a:latin typeface="微软雅黑" pitchFamily="34" charset="-122"/>
                <a:ea typeface="微软雅黑" pitchFamily="34" charset="-122"/>
              </a:rPr>
              <a:t>153.19.8.104</a:t>
            </a:r>
          </a:p>
        </p:txBody>
      </p:sp>
      <p:sp>
        <p:nvSpPr>
          <p:cNvPr id="22" name="Text Box 20">
            <a:extLst>
              <a:ext uri="{FF2B5EF4-FFF2-40B4-BE49-F238E27FC236}">
                <a16:creationId xmlns:a16="http://schemas.microsoft.com/office/drawing/2014/main" id="{100AF57A-6024-FE4C-4F2D-EACCC80A57A8}"/>
              </a:ext>
            </a:extLst>
          </p:cNvPr>
          <p:cNvSpPr txBox="1">
            <a:spLocks noChangeArrowheads="1"/>
          </p:cNvSpPr>
          <p:nvPr/>
        </p:nvSpPr>
        <p:spPr bwMode="auto">
          <a:xfrm>
            <a:off x="2713916" y="1549608"/>
            <a:ext cx="9973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a:latin typeface="微软雅黑" pitchFamily="34" charset="-122"/>
                <a:ea typeface="微软雅黑" pitchFamily="34" charset="-122"/>
              </a:rPr>
              <a:t>171.3.14.11</a:t>
            </a:r>
          </a:p>
        </p:txBody>
      </p:sp>
      <p:sp>
        <p:nvSpPr>
          <p:cNvPr id="23" name="AutoShape 22">
            <a:extLst>
              <a:ext uri="{FF2B5EF4-FFF2-40B4-BE49-F238E27FC236}">
                <a16:creationId xmlns:a16="http://schemas.microsoft.com/office/drawing/2014/main" id="{7426CFEB-C45F-C14C-1D0A-82FF9A5192F5}"/>
              </a:ext>
            </a:extLst>
          </p:cNvPr>
          <p:cNvSpPr>
            <a:spLocks/>
          </p:cNvSpPr>
          <p:nvPr/>
        </p:nvSpPr>
        <p:spPr bwMode="auto">
          <a:xfrm>
            <a:off x="2223441" y="1309482"/>
            <a:ext cx="50423" cy="692872"/>
          </a:xfrm>
          <a:prstGeom prst="leftBrace">
            <a:avLst>
              <a:gd name="adj1" fmla="val 12405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4" name="AutoShape 23">
            <a:extLst>
              <a:ext uri="{FF2B5EF4-FFF2-40B4-BE49-F238E27FC236}">
                <a16:creationId xmlns:a16="http://schemas.microsoft.com/office/drawing/2014/main" id="{BF3ECE49-237C-BFB3-AF2E-8C72610F4A8F}"/>
              </a:ext>
            </a:extLst>
          </p:cNvPr>
          <p:cNvSpPr>
            <a:spLocks/>
          </p:cNvSpPr>
          <p:nvPr/>
        </p:nvSpPr>
        <p:spPr bwMode="auto">
          <a:xfrm>
            <a:off x="2217711" y="2041493"/>
            <a:ext cx="56153" cy="403030"/>
          </a:xfrm>
          <a:prstGeom prst="leftBrace">
            <a:avLst>
              <a:gd name="adj1" fmla="val 6479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5" name="AutoShape 24">
            <a:extLst>
              <a:ext uri="{FF2B5EF4-FFF2-40B4-BE49-F238E27FC236}">
                <a16:creationId xmlns:a16="http://schemas.microsoft.com/office/drawing/2014/main" id="{103CA942-9F12-7088-644D-E2B0F94B5D82}"/>
              </a:ext>
            </a:extLst>
          </p:cNvPr>
          <p:cNvSpPr>
            <a:spLocks/>
          </p:cNvSpPr>
          <p:nvPr/>
        </p:nvSpPr>
        <p:spPr bwMode="auto">
          <a:xfrm>
            <a:off x="2222294" y="2468851"/>
            <a:ext cx="56153" cy="423128"/>
          </a:xfrm>
          <a:prstGeom prst="leftBrace">
            <a:avLst>
              <a:gd name="adj1" fmla="val 6802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6" name="Text Box 25">
            <a:extLst>
              <a:ext uri="{FF2B5EF4-FFF2-40B4-BE49-F238E27FC236}">
                <a16:creationId xmlns:a16="http://schemas.microsoft.com/office/drawing/2014/main" id="{65BE319E-1CBA-5A75-73D9-834A72FEABD1}"/>
              </a:ext>
            </a:extLst>
          </p:cNvPr>
          <p:cNvSpPr txBox="1">
            <a:spLocks noChangeArrowheads="1"/>
          </p:cNvSpPr>
          <p:nvPr/>
        </p:nvSpPr>
        <p:spPr bwMode="auto">
          <a:xfrm>
            <a:off x="1520961" y="1414206"/>
            <a:ext cx="752904"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en-US" altLang="zh-CN" sz="1100" b="1" dirty="0">
                <a:solidFill>
                  <a:srgbClr val="000099"/>
                </a:solidFill>
                <a:latin typeface="微软雅黑" pitchFamily="34" charset="-122"/>
                <a:ea typeface="微软雅黑" pitchFamily="34" charset="-122"/>
              </a:rPr>
              <a:t>12 </a:t>
            </a:r>
            <a:r>
              <a:rPr kumimoji="1" lang="zh-CN" altLang="en-US" sz="1100" b="1" dirty="0">
                <a:solidFill>
                  <a:srgbClr val="000099"/>
                </a:solidFill>
                <a:latin typeface="微软雅黑" pitchFamily="34" charset="-122"/>
                <a:ea typeface="微软雅黑" pitchFamily="34" charset="-122"/>
              </a:rPr>
              <a:t>字节</a:t>
            </a:r>
          </a:p>
          <a:p>
            <a:pPr algn="ctr"/>
            <a:r>
              <a:rPr kumimoji="1" lang="zh-CN" altLang="en-US" sz="1100" b="1" dirty="0">
                <a:solidFill>
                  <a:srgbClr val="000099"/>
                </a:solidFill>
                <a:latin typeface="微软雅黑" pitchFamily="34" charset="-122"/>
                <a:ea typeface="微软雅黑" pitchFamily="34" charset="-122"/>
              </a:rPr>
              <a:t>伪首部</a:t>
            </a:r>
          </a:p>
        </p:txBody>
      </p:sp>
      <p:sp>
        <p:nvSpPr>
          <p:cNvPr id="27" name="Text Box 26">
            <a:extLst>
              <a:ext uri="{FF2B5EF4-FFF2-40B4-BE49-F238E27FC236}">
                <a16:creationId xmlns:a16="http://schemas.microsoft.com/office/drawing/2014/main" id="{0552A4CC-A5D8-8294-57C3-EFA71310F601}"/>
              </a:ext>
            </a:extLst>
          </p:cNvPr>
          <p:cNvSpPr txBox="1">
            <a:spLocks noChangeArrowheads="1"/>
          </p:cNvSpPr>
          <p:nvPr/>
        </p:nvSpPr>
        <p:spPr bwMode="auto">
          <a:xfrm>
            <a:off x="1408156" y="1965329"/>
            <a:ext cx="82266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100" b="1" dirty="0">
                <a:solidFill>
                  <a:srgbClr val="000099"/>
                </a:solidFill>
                <a:latin typeface="微软雅黑" pitchFamily="34" charset="-122"/>
                <a:ea typeface="微软雅黑" pitchFamily="34" charset="-122"/>
              </a:rPr>
              <a:t>8 </a:t>
            </a:r>
            <a:r>
              <a:rPr kumimoji="1" lang="zh-CN" altLang="en-US" sz="1100" b="1" dirty="0">
                <a:solidFill>
                  <a:srgbClr val="000099"/>
                </a:solidFill>
                <a:latin typeface="微软雅黑" pitchFamily="34" charset="-122"/>
                <a:ea typeface="微软雅黑" pitchFamily="34" charset="-122"/>
              </a:rPr>
              <a:t>字节</a:t>
            </a:r>
          </a:p>
          <a:p>
            <a:pPr algn="ctr"/>
            <a:r>
              <a:rPr kumimoji="1" lang="en-US" altLang="zh-CN" sz="1100" b="1" dirty="0">
                <a:solidFill>
                  <a:srgbClr val="000099"/>
                </a:solidFill>
                <a:latin typeface="微软雅黑" pitchFamily="34" charset="-122"/>
                <a:ea typeface="微软雅黑" pitchFamily="34" charset="-122"/>
              </a:rPr>
              <a:t>UDP </a:t>
            </a:r>
            <a:r>
              <a:rPr kumimoji="1" lang="zh-CN" altLang="en-US" sz="1100" b="1" dirty="0">
                <a:solidFill>
                  <a:srgbClr val="000099"/>
                </a:solidFill>
                <a:latin typeface="微软雅黑" pitchFamily="34" charset="-122"/>
                <a:ea typeface="微软雅黑" pitchFamily="34" charset="-122"/>
              </a:rPr>
              <a:t>首部</a:t>
            </a:r>
          </a:p>
        </p:txBody>
      </p:sp>
      <p:sp>
        <p:nvSpPr>
          <p:cNvPr id="28" name="Text Box 27">
            <a:extLst>
              <a:ext uri="{FF2B5EF4-FFF2-40B4-BE49-F238E27FC236}">
                <a16:creationId xmlns:a16="http://schemas.microsoft.com/office/drawing/2014/main" id="{05D4FFD7-9E06-C1F1-D6DC-15FB3F1BC6B2}"/>
              </a:ext>
            </a:extLst>
          </p:cNvPr>
          <p:cNvSpPr txBox="1">
            <a:spLocks noChangeArrowheads="1"/>
          </p:cNvSpPr>
          <p:nvPr/>
        </p:nvSpPr>
        <p:spPr bwMode="auto">
          <a:xfrm>
            <a:off x="1579840" y="2433944"/>
            <a:ext cx="59503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100" b="1" dirty="0">
                <a:solidFill>
                  <a:srgbClr val="000099"/>
                </a:solidFill>
                <a:latin typeface="微软雅黑" pitchFamily="34" charset="-122"/>
                <a:ea typeface="微软雅黑" pitchFamily="34" charset="-122"/>
              </a:rPr>
              <a:t>7 </a:t>
            </a:r>
            <a:r>
              <a:rPr kumimoji="1" lang="zh-CN" altLang="en-US" sz="1100" b="1" dirty="0">
                <a:solidFill>
                  <a:srgbClr val="000099"/>
                </a:solidFill>
                <a:latin typeface="微软雅黑" pitchFamily="34" charset="-122"/>
                <a:ea typeface="微软雅黑" pitchFamily="34" charset="-122"/>
              </a:rPr>
              <a:t>字节</a:t>
            </a:r>
          </a:p>
          <a:p>
            <a:pPr algn="ctr"/>
            <a:r>
              <a:rPr kumimoji="1" lang="zh-CN" altLang="en-US" sz="1100" b="1" dirty="0">
                <a:solidFill>
                  <a:srgbClr val="000099"/>
                </a:solidFill>
                <a:latin typeface="微软雅黑" pitchFamily="34" charset="-122"/>
                <a:ea typeface="微软雅黑" pitchFamily="34" charset="-122"/>
              </a:rPr>
              <a:t>数据</a:t>
            </a:r>
          </a:p>
        </p:txBody>
      </p:sp>
      <p:grpSp>
        <p:nvGrpSpPr>
          <p:cNvPr id="29" name="Group 34">
            <a:extLst>
              <a:ext uri="{FF2B5EF4-FFF2-40B4-BE49-F238E27FC236}">
                <a16:creationId xmlns:a16="http://schemas.microsoft.com/office/drawing/2014/main" id="{0CD4A11F-EA97-4424-1D13-340BB1976082}"/>
              </a:ext>
            </a:extLst>
          </p:cNvPr>
          <p:cNvGrpSpPr>
            <a:grpSpLocks/>
          </p:cNvGrpSpPr>
          <p:nvPr/>
        </p:nvGrpSpPr>
        <p:grpSpPr bwMode="auto">
          <a:xfrm>
            <a:off x="3603186" y="2878211"/>
            <a:ext cx="466410" cy="452744"/>
            <a:chOff x="1705" y="2787"/>
            <a:chExt cx="407" cy="428"/>
          </a:xfrm>
        </p:grpSpPr>
        <p:sp>
          <p:nvSpPr>
            <p:cNvPr id="30" name="Text Box 28">
              <a:extLst>
                <a:ext uri="{FF2B5EF4-FFF2-40B4-BE49-F238E27FC236}">
                  <a16:creationId xmlns:a16="http://schemas.microsoft.com/office/drawing/2014/main" id="{E6DA757A-D699-20E2-B7E8-6DBC067CD1B0}"/>
                </a:ext>
              </a:extLst>
            </p:cNvPr>
            <p:cNvSpPr txBox="1">
              <a:spLocks noChangeArrowheads="1"/>
            </p:cNvSpPr>
            <p:nvPr/>
          </p:nvSpPr>
          <p:spPr bwMode="auto">
            <a:xfrm>
              <a:off x="1705" y="2968"/>
              <a:ext cx="407"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100" b="1" dirty="0">
                  <a:latin typeface="微软雅黑" pitchFamily="34" charset="-122"/>
                  <a:ea typeface="微软雅黑" pitchFamily="34" charset="-122"/>
                </a:rPr>
                <a:t>填充</a:t>
              </a:r>
            </a:p>
          </p:txBody>
        </p:sp>
        <p:sp>
          <p:nvSpPr>
            <p:cNvPr id="31" name="Line 29">
              <a:extLst>
                <a:ext uri="{FF2B5EF4-FFF2-40B4-BE49-F238E27FC236}">
                  <a16:creationId xmlns:a16="http://schemas.microsoft.com/office/drawing/2014/main" id="{4E405386-A663-2B4A-0354-DD45A4E28CC1}"/>
                </a:ext>
              </a:extLst>
            </p:cNvPr>
            <p:cNvSpPr>
              <a:spLocks noChangeShapeType="1"/>
            </p:cNvSpPr>
            <p:nvPr/>
          </p:nvSpPr>
          <p:spPr bwMode="auto">
            <a:xfrm flipV="1">
              <a:off x="1920" y="2787"/>
              <a:ext cx="134" cy="207"/>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sp>
        <p:nvSpPr>
          <p:cNvPr id="39" name="矩形 38">
            <a:extLst>
              <a:ext uri="{FF2B5EF4-FFF2-40B4-BE49-F238E27FC236}">
                <a16:creationId xmlns:a16="http://schemas.microsoft.com/office/drawing/2014/main" id="{FA4B241E-16CF-4C44-2519-178976248C30}"/>
              </a:ext>
            </a:extLst>
          </p:cNvPr>
          <p:cNvSpPr/>
          <p:nvPr/>
        </p:nvSpPr>
        <p:spPr>
          <a:xfrm>
            <a:off x="977757" y="3206010"/>
            <a:ext cx="2148344" cy="523220"/>
          </a:xfrm>
          <a:prstGeom prst="rect">
            <a:avLst/>
          </a:prstGeom>
          <a:solidFill>
            <a:srgbClr val="000099"/>
          </a:solidFill>
          <a:ln>
            <a:solidFill>
              <a:schemeClr val="tx1"/>
            </a:solidFill>
          </a:ln>
        </p:spPr>
        <p:txBody>
          <a:bodyPr wrap="square">
            <a:spAutoFit/>
          </a:bodyPr>
          <a:lstStyle/>
          <a:p>
            <a:r>
              <a:rPr lang="en-US" altLang="zh-CN" sz="1400" b="1" dirty="0">
                <a:solidFill>
                  <a:schemeClr val="bg1"/>
                </a:solidFill>
                <a:latin typeface="微软雅黑" pitchFamily="34" charset="-122"/>
                <a:ea typeface="微软雅黑" pitchFamily="34" charset="-122"/>
              </a:rPr>
              <a:t>UDP </a:t>
            </a:r>
            <a:r>
              <a:rPr lang="zh-CN" altLang="zh-CN" sz="1400" b="1" dirty="0">
                <a:solidFill>
                  <a:schemeClr val="bg1"/>
                </a:solidFill>
                <a:latin typeface="微软雅黑" pitchFamily="34" charset="-122"/>
                <a:ea typeface="微软雅黑" pitchFamily="34" charset="-122"/>
              </a:rPr>
              <a:t>的</a:t>
            </a:r>
            <a:r>
              <a:rPr lang="zh-CN" altLang="en-US" sz="1400" b="1" dirty="0">
                <a:solidFill>
                  <a:schemeClr val="bg1"/>
                </a:solidFill>
                <a:latin typeface="微软雅黑" pitchFamily="34" charset="-122"/>
                <a:ea typeface="微软雅黑" pitchFamily="34" charset="-122"/>
              </a:rPr>
              <a:t>校验</a:t>
            </a:r>
            <a:r>
              <a:rPr lang="zh-CN" altLang="zh-CN" sz="1400" b="1" dirty="0">
                <a:solidFill>
                  <a:schemeClr val="bg1"/>
                </a:solidFill>
                <a:latin typeface="微软雅黑" pitchFamily="34" charset="-122"/>
                <a:ea typeface="微软雅黑" pitchFamily="34" charset="-122"/>
              </a:rPr>
              <a:t>和是把首部和数据部分一起都</a:t>
            </a:r>
            <a:r>
              <a:rPr lang="zh-CN" altLang="en-US" sz="1400" b="1" dirty="0">
                <a:solidFill>
                  <a:schemeClr val="bg1"/>
                </a:solidFill>
                <a:latin typeface="微软雅黑" pitchFamily="34" charset="-122"/>
                <a:ea typeface="微软雅黑" pitchFamily="34" charset="-122"/>
              </a:rPr>
              <a:t>校验</a:t>
            </a:r>
            <a:r>
              <a:rPr lang="zh-CN" altLang="zh-CN" sz="1400" b="1" dirty="0">
                <a:solidFill>
                  <a:schemeClr val="bg1"/>
                </a:solidFill>
                <a:latin typeface="微软雅黑" pitchFamily="34" charset="-122"/>
                <a:ea typeface="微软雅黑" pitchFamily="34" charset="-122"/>
              </a:rPr>
              <a:t>。</a:t>
            </a:r>
            <a:endParaRPr lang="zh-CN" altLang="en-US" sz="1400" b="1" dirty="0">
              <a:solidFill>
                <a:schemeClr val="bg1"/>
              </a:solidFill>
              <a:latin typeface="微软雅黑" pitchFamily="34" charset="-122"/>
              <a:ea typeface="微软雅黑" pitchFamily="34" charset="-122"/>
            </a:endParaRPr>
          </a:p>
        </p:txBody>
      </p:sp>
      <p:sp>
        <p:nvSpPr>
          <p:cNvPr id="41" name="Text Box 21">
            <a:extLst>
              <a:ext uri="{FF2B5EF4-FFF2-40B4-BE49-F238E27FC236}">
                <a16:creationId xmlns:a16="http://schemas.microsoft.com/office/drawing/2014/main" id="{DB5EA311-80B3-9BB1-E24E-58CD37E09F91}"/>
              </a:ext>
            </a:extLst>
          </p:cNvPr>
          <p:cNvSpPr txBox="1">
            <a:spLocks noChangeArrowheads="1"/>
          </p:cNvSpPr>
          <p:nvPr/>
        </p:nvSpPr>
        <p:spPr bwMode="auto">
          <a:xfrm>
            <a:off x="2327763" y="1762003"/>
            <a:ext cx="2079937" cy="118237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ts val="1720"/>
              </a:lnSpc>
            </a:pPr>
            <a:r>
              <a:rPr kumimoji="1" lang="zh-CN" altLang="en-US" sz="1200" b="1" dirty="0">
                <a:latin typeface="微软雅黑" pitchFamily="34" charset="-122"/>
                <a:ea typeface="微软雅黑" pitchFamily="34" charset="-122"/>
              </a:rPr>
              <a:t>全 </a:t>
            </a:r>
            <a:r>
              <a:rPr kumimoji="1" lang="en-US" altLang="zh-CN" sz="1200" b="1" dirty="0">
                <a:latin typeface="微软雅黑" pitchFamily="34" charset="-122"/>
                <a:ea typeface="微软雅黑" pitchFamily="34" charset="-122"/>
              </a:rPr>
              <a:t>0    17          15</a:t>
            </a:r>
          </a:p>
          <a:p>
            <a:pPr>
              <a:lnSpc>
                <a:spcPts val="1720"/>
              </a:lnSpc>
            </a:pPr>
            <a:r>
              <a:rPr kumimoji="1" lang="en-US" altLang="zh-CN" sz="1200" b="1" dirty="0">
                <a:latin typeface="微软雅黑" pitchFamily="34" charset="-122"/>
                <a:ea typeface="微软雅黑" pitchFamily="34" charset="-122"/>
              </a:rPr>
              <a:t>    1087            13</a:t>
            </a:r>
          </a:p>
          <a:p>
            <a:pPr>
              <a:lnSpc>
                <a:spcPts val="1720"/>
              </a:lnSpc>
            </a:pPr>
            <a:r>
              <a:rPr kumimoji="1" lang="en-US" altLang="zh-CN" sz="1200" b="1" dirty="0">
                <a:latin typeface="微软雅黑" pitchFamily="34" charset="-122"/>
                <a:ea typeface="微软雅黑" pitchFamily="34" charset="-122"/>
              </a:rPr>
              <a:t>      15             </a:t>
            </a:r>
            <a:r>
              <a:rPr kumimoji="1" lang="zh-CN" altLang="en-US" sz="1200" b="1" dirty="0">
                <a:latin typeface="微软雅黑" pitchFamily="34" charset="-122"/>
                <a:ea typeface="微软雅黑" pitchFamily="34" charset="-122"/>
              </a:rPr>
              <a:t>校验和</a:t>
            </a:r>
            <a:endParaRPr kumimoji="1" lang="en-US" altLang="zh-CN" sz="1200" b="1" dirty="0">
              <a:latin typeface="微软雅黑" pitchFamily="34" charset="-122"/>
              <a:ea typeface="微软雅黑" pitchFamily="34" charset="-122"/>
            </a:endParaRPr>
          </a:p>
          <a:p>
            <a:pPr>
              <a:lnSpc>
                <a:spcPts val="1720"/>
              </a:lnSpc>
            </a:pPr>
            <a:r>
              <a:rPr kumimoji="1" lang="zh-CN" altLang="en-US" sz="1200" b="1" dirty="0">
                <a:latin typeface="微软雅黑" pitchFamily="34" charset="-122"/>
                <a:ea typeface="微软雅黑" pitchFamily="34" charset="-122"/>
              </a:rPr>
              <a:t>数据   数据    数据   数据</a:t>
            </a:r>
          </a:p>
          <a:p>
            <a:pPr>
              <a:lnSpc>
                <a:spcPts val="1720"/>
              </a:lnSpc>
            </a:pPr>
            <a:r>
              <a:rPr kumimoji="1" lang="zh-CN" altLang="en-US" sz="1200" b="1" dirty="0">
                <a:latin typeface="微软雅黑" pitchFamily="34" charset="-122"/>
                <a:ea typeface="微软雅黑" pitchFamily="34" charset="-122"/>
              </a:rPr>
              <a:t>数据   数据    数据   全 </a:t>
            </a:r>
            <a:r>
              <a:rPr kumimoji="1" lang="en-US" altLang="zh-CN" sz="1200" b="1" dirty="0">
                <a:latin typeface="微软雅黑" pitchFamily="34" charset="-122"/>
                <a:ea typeface="微软雅黑" pitchFamily="34" charset="-122"/>
              </a:rPr>
              <a:t>0</a:t>
            </a:r>
          </a:p>
        </p:txBody>
      </p:sp>
      <p:sp>
        <p:nvSpPr>
          <p:cNvPr id="35" name="文本框 34">
            <a:extLst>
              <a:ext uri="{FF2B5EF4-FFF2-40B4-BE49-F238E27FC236}">
                <a16:creationId xmlns:a16="http://schemas.microsoft.com/office/drawing/2014/main" id="{CA7346F7-A8BC-D92D-A878-BD717BED31C2}"/>
              </a:ext>
            </a:extLst>
          </p:cNvPr>
          <p:cNvSpPr txBox="1"/>
          <p:nvPr/>
        </p:nvSpPr>
        <p:spPr>
          <a:xfrm>
            <a:off x="3390304" y="2209276"/>
            <a:ext cx="681841" cy="276999"/>
          </a:xfrm>
          <a:prstGeom prst="rect">
            <a:avLst/>
          </a:prstGeom>
          <a:noFill/>
        </p:spPr>
        <p:txBody>
          <a:bodyPr wrap="square">
            <a:spAutoFit/>
          </a:bodyPr>
          <a:lstStyle/>
          <a:p>
            <a:r>
              <a:rPr kumimoji="1" lang="zh-CN" altLang="en-US" sz="1200" b="1" dirty="0">
                <a:solidFill>
                  <a:srgbClr val="C00000"/>
                </a:solidFill>
                <a:latin typeface="微软雅黑" pitchFamily="34" charset="-122"/>
                <a:ea typeface="微软雅黑" pitchFamily="34" charset="-122"/>
              </a:rPr>
              <a:t>校验和</a:t>
            </a:r>
            <a:endParaRPr kumimoji="1" lang="en-US" altLang="zh-CN" sz="1200" b="1" dirty="0">
              <a:solidFill>
                <a:srgbClr val="C00000"/>
              </a:solidFill>
              <a:latin typeface="微软雅黑" pitchFamily="34" charset="-122"/>
              <a:ea typeface="微软雅黑" pitchFamily="34" charset="-122"/>
            </a:endParaRPr>
          </a:p>
        </p:txBody>
      </p:sp>
      <p:sp>
        <p:nvSpPr>
          <p:cNvPr id="36" name="文本框 35">
            <a:extLst>
              <a:ext uri="{FF2B5EF4-FFF2-40B4-BE49-F238E27FC236}">
                <a16:creationId xmlns:a16="http://schemas.microsoft.com/office/drawing/2014/main" id="{2A3E9213-AD7E-DADB-8838-D92002CCEC5D}"/>
              </a:ext>
            </a:extLst>
          </p:cNvPr>
          <p:cNvSpPr txBox="1"/>
          <p:nvPr/>
        </p:nvSpPr>
        <p:spPr>
          <a:xfrm>
            <a:off x="4407700" y="1490123"/>
            <a:ext cx="3967685" cy="2359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285750" indent="-285750">
              <a:lnSpc>
                <a:spcPts val="3000"/>
              </a:lnSpc>
              <a:buClr>
                <a:srgbClr val="0070C0"/>
              </a:buClr>
              <a:buFont typeface="Wingdings" pitchFamily="2" charset="2"/>
              <a:buChar char="l"/>
              <a:defRPr b="1">
                <a:latin typeface="微软雅黑" pitchFamily="34" charset="-122"/>
                <a:ea typeface="微软雅黑" pitchFamily="34" charset="-122"/>
              </a:defRPr>
            </a:lvl1pPr>
          </a:lstStyle>
          <a:p>
            <a:r>
              <a:rPr lang="zh-CN" altLang="en-US" dirty="0"/>
              <a:t>在接收方，把收到的</a:t>
            </a:r>
            <a:r>
              <a:rPr lang="en-US" altLang="zh-CN" dirty="0"/>
              <a:t>UDP</a:t>
            </a:r>
            <a:r>
              <a:rPr lang="zh-CN" altLang="en-US" dirty="0"/>
              <a:t>用户数据报连同伪首部一起，按二进制反码对这些</a:t>
            </a:r>
            <a:r>
              <a:rPr lang="en-US" altLang="zh-CN" dirty="0"/>
              <a:t>16</a:t>
            </a:r>
            <a:r>
              <a:rPr lang="zh-CN" altLang="en-US" dirty="0"/>
              <a:t>位字求和。</a:t>
            </a:r>
            <a:endParaRPr lang="en-US" altLang="zh-CN" dirty="0"/>
          </a:p>
          <a:p>
            <a:r>
              <a:rPr lang="zh-CN" altLang="en-US" dirty="0"/>
              <a:t>当无差错时其结果应为全</a:t>
            </a:r>
            <a:r>
              <a:rPr lang="en-US" altLang="zh-CN" dirty="0"/>
              <a:t>1</a:t>
            </a:r>
            <a:r>
              <a:rPr lang="zh-CN" altLang="en-US" dirty="0"/>
              <a:t>。否则就表明有差错出现，应丢弃这个</a:t>
            </a:r>
            <a:r>
              <a:rPr lang="en-US" altLang="zh-CN" dirty="0"/>
              <a:t>UDP</a:t>
            </a:r>
            <a:r>
              <a:rPr lang="zh-CN" altLang="en-US" dirty="0"/>
              <a:t>用户数据报。</a:t>
            </a:r>
          </a:p>
        </p:txBody>
      </p:sp>
    </p:spTree>
    <p:extLst>
      <p:ext uri="{BB962C8B-B14F-4D97-AF65-F5344CB8AC3E}">
        <p14:creationId xmlns:p14="http://schemas.microsoft.com/office/powerpoint/2010/main" val="3576478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35"/>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36">
                                            <p:txEl>
                                              <p:pRg st="0" end="0"/>
                                            </p:txEl>
                                          </p:spTgt>
                                        </p:tgtEl>
                                        <p:attrNameLst>
                                          <p:attrName>style.visibility</p:attrName>
                                        </p:attrNameLst>
                                      </p:cBhvr>
                                      <p:to>
                                        <p:strVal val="visible"/>
                                      </p:to>
                                    </p:set>
                                    <p:animEffect transition="in" filter="fade">
                                      <p:cBhvr>
                                        <p:cTn id="11" dur="1000"/>
                                        <p:tgtEl>
                                          <p:spTgt spid="36">
                                            <p:txEl>
                                              <p:pRg st="0" end="0"/>
                                            </p:txEl>
                                          </p:spTgt>
                                        </p:tgtEl>
                                      </p:cBhvr>
                                    </p:animEffect>
                                    <p:anim calcmode="lin" valueType="num">
                                      <p:cBhvr>
                                        <p:cTn id="12" dur="1000" fill="hold"/>
                                        <p:tgtEl>
                                          <p:spTgt spid="36">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3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36">
                                            <p:txEl>
                                              <p:pRg st="1" end="1"/>
                                            </p:txEl>
                                          </p:spTgt>
                                        </p:tgtEl>
                                        <p:attrNameLst>
                                          <p:attrName>style.visibility</p:attrName>
                                        </p:attrNameLst>
                                      </p:cBhvr>
                                      <p:to>
                                        <p:strVal val="visible"/>
                                      </p:to>
                                    </p:set>
                                    <p:animEffect transition="in" filter="fade">
                                      <p:cBhvr>
                                        <p:cTn id="18" dur="1000"/>
                                        <p:tgtEl>
                                          <p:spTgt spid="36">
                                            <p:txEl>
                                              <p:pRg st="1" end="1"/>
                                            </p:txEl>
                                          </p:spTgt>
                                        </p:tgtEl>
                                      </p:cBhvr>
                                    </p:animEffect>
                                    <p:anim calcmode="lin" valueType="num">
                                      <p:cBhvr>
                                        <p:cTn id="19" dur="1000" fill="hold"/>
                                        <p:tgtEl>
                                          <p:spTgt spid="36">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3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a:spLocks noChangeArrowheads="1"/>
          </p:cNvSpPr>
          <p:nvPr/>
        </p:nvSpPr>
        <p:spPr bwMode="auto">
          <a:xfrm>
            <a:off x="2629135" y="1380716"/>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3" name="Rectangle 10"/>
          <p:cNvSpPr>
            <a:spLocks noChangeArrowheads="1"/>
          </p:cNvSpPr>
          <p:nvPr/>
        </p:nvSpPr>
        <p:spPr bwMode="auto">
          <a:xfrm>
            <a:off x="2629135" y="1987141"/>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4" name="Line 16"/>
          <p:cNvSpPr>
            <a:spLocks noChangeShapeType="1"/>
          </p:cNvSpPr>
          <p:nvPr/>
        </p:nvSpPr>
        <p:spPr bwMode="auto">
          <a:xfrm>
            <a:off x="3637198" y="1309278"/>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 name="Rectangle 8"/>
          <p:cNvSpPr>
            <a:spLocks noChangeArrowheads="1"/>
          </p:cNvSpPr>
          <p:nvPr/>
        </p:nvSpPr>
        <p:spPr bwMode="auto">
          <a:xfrm>
            <a:off x="2700573" y="1126716"/>
            <a:ext cx="547211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5.3.1                                 TCP </a:t>
            </a:r>
            <a:r>
              <a:rPr lang="zh-CN" altLang="en-US" sz="2000" b="1" dirty="0">
                <a:solidFill>
                  <a:schemeClr val="bg1"/>
                </a:solidFill>
                <a:latin typeface="微软雅黑" pitchFamily="34" charset="-122"/>
                <a:ea typeface="微软雅黑" pitchFamily="34" charset="-122"/>
              </a:rPr>
              <a:t>最主要的特点</a:t>
            </a:r>
          </a:p>
          <a:p>
            <a:pPr eaLnBrk="0" hangingPunct="0">
              <a:lnSpc>
                <a:spcPct val="200000"/>
              </a:lnSpc>
            </a:pPr>
            <a:r>
              <a:rPr lang="en-US" altLang="zh-CN" sz="2000" b="1" dirty="0">
                <a:solidFill>
                  <a:schemeClr val="bg1"/>
                </a:solidFill>
                <a:latin typeface="微软雅黑" pitchFamily="34" charset="-122"/>
                <a:ea typeface="微软雅黑" pitchFamily="34" charset="-122"/>
              </a:rPr>
              <a:t>5.3.2                                           TCP </a:t>
            </a:r>
            <a:r>
              <a:rPr lang="zh-CN" altLang="en-US" sz="2000" b="1" dirty="0">
                <a:solidFill>
                  <a:schemeClr val="bg1"/>
                </a:solidFill>
                <a:latin typeface="微软雅黑" pitchFamily="34" charset="-122"/>
                <a:ea typeface="微软雅黑" pitchFamily="34" charset="-122"/>
              </a:rPr>
              <a:t>的连接</a:t>
            </a:r>
          </a:p>
        </p:txBody>
      </p:sp>
      <p:sp>
        <p:nvSpPr>
          <p:cNvPr id="6" name="Rectangle 27"/>
          <p:cNvSpPr>
            <a:spLocks noChangeArrowheads="1"/>
          </p:cNvSpPr>
          <p:nvPr/>
        </p:nvSpPr>
        <p:spPr bwMode="auto">
          <a:xfrm>
            <a:off x="639730" y="1380716"/>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7" name="Rectangle 29"/>
          <p:cNvSpPr>
            <a:spLocks noChangeArrowheads="1"/>
          </p:cNvSpPr>
          <p:nvPr/>
        </p:nvSpPr>
        <p:spPr bwMode="auto">
          <a:xfrm>
            <a:off x="648619" y="1475648"/>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5.3</a:t>
            </a:r>
          </a:p>
          <a:p>
            <a:pPr eaLnBrk="0" hangingPunct="0"/>
            <a:r>
              <a:rPr lang="zh-CN" altLang="en-US" sz="2000" b="1" dirty="0">
                <a:solidFill>
                  <a:schemeClr val="bg1"/>
                </a:solidFill>
                <a:latin typeface="微软雅黑" pitchFamily="34" charset="-122"/>
                <a:ea typeface="微软雅黑" pitchFamily="34" charset="-122"/>
              </a:rPr>
              <a:t>传输控制协议 </a:t>
            </a: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概述</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3764507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35713"/>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2752851" y="584298"/>
            <a:ext cx="363830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5.3.1  TCP </a:t>
            </a:r>
            <a:r>
              <a:rPr lang="zh-CN" altLang="en-US" sz="2400" b="1" dirty="0">
                <a:solidFill>
                  <a:schemeClr val="bg1"/>
                </a:solidFill>
                <a:latin typeface="微软雅黑" pitchFamily="34" charset="-122"/>
                <a:ea typeface="微软雅黑" pitchFamily="34" charset="-122"/>
              </a:rPr>
              <a:t>最主要的特点</a:t>
            </a:r>
          </a:p>
        </p:txBody>
      </p:sp>
      <p:sp>
        <p:nvSpPr>
          <p:cNvPr id="4" name="Rectangle 8"/>
          <p:cNvSpPr>
            <a:spLocks noChangeArrowheads="1"/>
          </p:cNvSpPr>
          <p:nvPr/>
        </p:nvSpPr>
        <p:spPr bwMode="auto">
          <a:xfrm>
            <a:off x="545143" y="1030450"/>
            <a:ext cx="8053711" cy="3289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是</a:t>
            </a:r>
            <a:r>
              <a:rPr lang="zh-CN" altLang="en-US" b="1" dirty="0">
                <a:solidFill>
                  <a:srgbClr val="C00000"/>
                </a:solidFill>
                <a:latin typeface="微软雅黑" pitchFamily="34" charset="-122"/>
                <a:ea typeface="微软雅黑" pitchFamily="34" charset="-122"/>
              </a:rPr>
              <a:t>面向连接</a:t>
            </a:r>
            <a:r>
              <a:rPr lang="zh-CN" altLang="en-US" b="1" dirty="0">
                <a:latin typeface="微软雅黑" pitchFamily="34" charset="-122"/>
                <a:ea typeface="微软雅黑" pitchFamily="34" charset="-122"/>
              </a:rPr>
              <a:t>的传输层协议。</a:t>
            </a:r>
          </a:p>
          <a:p>
            <a:pPr marL="285750" indent="-28575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每一条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连接</a:t>
            </a:r>
            <a:r>
              <a:rPr lang="zh-CN" altLang="en-US" b="1" dirty="0">
                <a:solidFill>
                  <a:srgbClr val="C00000"/>
                </a:solidFill>
                <a:latin typeface="微软雅黑" pitchFamily="34" charset="-122"/>
                <a:ea typeface="微软雅黑" pitchFamily="34" charset="-122"/>
              </a:rPr>
              <a:t>只能有两个端点 </a:t>
            </a:r>
            <a:r>
              <a:rPr lang="en-US" altLang="zh-CN" b="1" dirty="0">
                <a:latin typeface="微软雅黑" pitchFamily="34" charset="-122"/>
                <a:ea typeface="微软雅黑" pitchFamily="34" charset="-122"/>
              </a:rPr>
              <a:t>(endpoint)</a:t>
            </a:r>
            <a:r>
              <a:rPr lang="zh-CN" altLang="en-US" b="1" dirty="0">
                <a:latin typeface="微软雅黑" pitchFamily="34" charset="-122"/>
                <a:ea typeface="微软雅黑" pitchFamily="34" charset="-122"/>
              </a:rPr>
              <a:t>，每一条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连接只能是</a:t>
            </a:r>
            <a:r>
              <a:rPr lang="zh-CN" altLang="en-US" b="1" dirty="0">
                <a:solidFill>
                  <a:srgbClr val="C00000"/>
                </a:solidFill>
                <a:latin typeface="微软雅黑" pitchFamily="34" charset="-122"/>
                <a:ea typeface="微软雅黑" pitchFamily="34" charset="-122"/>
              </a:rPr>
              <a:t>点对点</a:t>
            </a:r>
            <a:r>
              <a:rPr lang="zh-CN" altLang="en-US" b="1" dirty="0">
                <a:latin typeface="微软雅黑" pitchFamily="34" charset="-122"/>
                <a:ea typeface="微软雅黑" pitchFamily="34" charset="-122"/>
              </a:rPr>
              <a:t>的（一对一）。 </a:t>
            </a:r>
          </a:p>
          <a:p>
            <a:pPr marL="285750" indent="-285750">
              <a:lnSpc>
                <a:spcPts val="2800"/>
              </a:lnSpc>
              <a:buClr>
                <a:srgbClr val="0070C0"/>
              </a:buClr>
              <a:buFont typeface="Wingdings" pitchFamily="2" charset="2"/>
              <a:buChar char="l"/>
            </a:pP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提供</a:t>
            </a:r>
            <a:r>
              <a:rPr lang="zh-CN" altLang="en-US" b="1" dirty="0">
                <a:solidFill>
                  <a:srgbClr val="C00000"/>
                </a:solidFill>
                <a:latin typeface="微软雅黑" pitchFamily="34" charset="-122"/>
                <a:ea typeface="微软雅黑" pitchFamily="34" charset="-122"/>
              </a:rPr>
              <a:t>可靠交付</a:t>
            </a:r>
            <a:r>
              <a:rPr lang="zh-CN" altLang="en-US" b="1" dirty="0">
                <a:latin typeface="微软雅黑" pitchFamily="34" charset="-122"/>
                <a:ea typeface="微软雅黑" pitchFamily="34" charset="-122"/>
              </a:rPr>
              <a:t>的服务。</a:t>
            </a:r>
          </a:p>
          <a:p>
            <a:pPr marL="285750" indent="-285750">
              <a:lnSpc>
                <a:spcPts val="2800"/>
              </a:lnSpc>
              <a:buClr>
                <a:srgbClr val="0070C0"/>
              </a:buClr>
              <a:buFont typeface="Wingdings" pitchFamily="2" charset="2"/>
              <a:buChar char="l"/>
            </a:pP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提供</a:t>
            </a:r>
            <a:r>
              <a:rPr lang="zh-CN" altLang="en-US" b="1" dirty="0">
                <a:solidFill>
                  <a:srgbClr val="C00000"/>
                </a:solidFill>
                <a:latin typeface="微软雅黑" pitchFamily="34" charset="-122"/>
                <a:ea typeface="微软雅黑" pitchFamily="34" charset="-122"/>
              </a:rPr>
              <a:t>全双工</a:t>
            </a:r>
            <a:r>
              <a:rPr lang="zh-CN" altLang="en-US" b="1" dirty="0">
                <a:latin typeface="微软雅黑" pitchFamily="34" charset="-122"/>
                <a:ea typeface="微软雅黑" pitchFamily="34" charset="-122"/>
              </a:rPr>
              <a:t>通信。</a:t>
            </a:r>
          </a:p>
          <a:p>
            <a:pPr marL="285750" indent="-285750">
              <a:lnSpc>
                <a:spcPts val="28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面向字节流</a:t>
            </a:r>
          </a:p>
          <a:p>
            <a:pPr marL="633413" indent="-342900">
              <a:lnSpc>
                <a:spcPts val="2800"/>
              </a:lnSpc>
              <a:buClr>
                <a:srgbClr val="7030A0"/>
              </a:buClr>
              <a:buFont typeface="+mj-lt"/>
              <a:buAutoNum type="arabicPeriod"/>
            </a:pP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中的“流”</a:t>
            </a:r>
            <a:r>
              <a:rPr lang="en-US" altLang="zh-CN" b="1" dirty="0">
                <a:latin typeface="微软雅黑" pitchFamily="34" charset="-122"/>
                <a:ea typeface="微软雅黑" pitchFamily="34" charset="-122"/>
              </a:rPr>
              <a:t>(stream) </a:t>
            </a:r>
            <a:r>
              <a:rPr lang="zh-CN" altLang="en-US" b="1" dirty="0">
                <a:latin typeface="微软雅黑" pitchFamily="34" charset="-122"/>
                <a:ea typeface="微软雅黑" pitchFamily="34" charset="-122"/>
              </a:rPr>
              <a:t>指的是流入或流出进程的</a:t>
            </a:r>
            <a:r>
              <a:rPr lang="zh-CN" altLang="en-US" b="1" dirty="0">
                <a:solidFill>
                  <a:srgbClr val="C00000"/>
                </a:solidFill>
                <a:latin typeface="微软雅黑" pitchFamily="34" charset="-122"/>
                <a:ea typeface="微软雅黑" pitchFamily="34" charset="-122"/>
              </a:rPr>
              <a:t>字节序列。</a:t>
            </a:r>
          </a:p>
          <a:p>
            <a:pPr marL="633413" indent="-342900">
              <a:lnSpc>
                <a:spcPts val="2800"/>
              </a:lnSpc>
              <a:buClr>
                <a:srgbClr val="7030A0"/>
              </a:buClr>
              <a:buFont typeface="+mj-lt"/>
              <a:buAutoNum type="arabicPeriod"/>
            </a:pPr>
            <a:r>
              <a:rPr lang="zh-CN" altLang="en-US" b="1" dirty="0">
                <a:solidFill>
                  <a:srgbClr val="C00000"/>
                </a:solidFill>
                <a:latin typeface="微软雅黑" pitchFamily="34" charset="-122"/>
                <a:ea typeface="微软雅黑" pitchFamily="34" charset="-122"/>
              </a:rPr>
              <a:t>面向字节流</a:t>
            </a:r>
            <a:r>
              <a:rPr lang="zh-CN" altLang="en-US" b="1" dirty="0">
                <a:latin typeface="微软雅黑" pitchFamily="34" charset="-122"/>
                <a:ea typeface="微软雅黑" pitchFamily="34" charset="-122"/>
              </a:rPr>
              <a:t>：虽然应用程序和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的交互是一次一个数据块，但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把应用程序交下来的数据看成仅仅是一连串</a:t>
            </a:r>
            <a:r>
              <a:rPr lang="zh-CN" altLang="en-US" b="1" dirty="0">
                <a:solidFill>
                  <a:srgbClr val="C00000"/>
                </a:solidFill>
                <a:latin typeface="微软雅黑" pitchFamily="34" charset="-122"/>
                <a:ea typeface="微软雅黑" pitchFamily="34" charset="-122"/>
              </a:rPr>
              <a:t>无结构的字节流。</a:t>
            </a:r>
          </a:p>
        </p:txBody>
      </p:sp>
    </p:spTree>
    <p:extLst>
      <p:ext uri="{BB962C8B-B14F-4D97-AF65-F5344CB8AC3E}">
        <p14:creationId xmlns:p14="http://schemas.microsoft.com/office/powerpoint/2010/main" val="366887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1000"/>
                                        <p:tgtEl>
                                          <p:spTgt spid="4">
                                            <p:txEl>
                                              <p:pRg st="4" end="4"/>
                                            </p:txEl>
                                          </p:spTgt>
                                        </p:tgtEl>
                                      </p:cBhvr>
                                    </p:animEffect>
                                    <p:anim calcmode="lin" valueType="num">
                                      <p:cBhvr>
                                        <p:cTn id="3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animEffect transition="in" filter="fade">
                                      <p:cBhvr>
                                        <p:cTn id="42" dur="1000"/>
                                        <p:tgtEl>
                                          <p:spTgt spid="4">
                                            <p:txEl>
                                              <p:pRg st="5" end="5"/>
                                            </p:txEl>
                                          </p:spTgt>
                                        </p:tgtEl>
                                      </p:cBhvr>
                                    </p:animEffect>
                                    <p:anim calcmode="lin" valueType="num">
                                      <p:cBhvr>
                                        <p:cTn id="4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animEffect transition="in" filter="fade">
                                      <p:cBhvr>
                                        <p:cTn id="49" dur="1000"/>
                                        <p:tgtEl>
                                          <p:spTgt spid="4">
                                            <p:txEl>
                                              <p:pRg st="6" end="6"/>
                                            </p:txEl>
                                          </p:spTgt>
                                        </p:tgtEl>
                                      </p:cBhvr>
                                    </p:animEffect>
                                    <p:anim calcmode="lin" valueType="num">
                                      <p:cBhvr>
                                        <p:cTn id="50"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4" y="62820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417238" y="605119"/>
            <a:ext cx="22922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面向流的概念</a:t>
            </a:r>
          </a:p>
        </p:txBody>
      </p:sp>
      <p:sp>
        <p:nvSpPr>
          <p:cNvPr id="4" name="圆角矩形 3"/>
          <p:cNvSpPr/>
          <p:nvPr/>
        </p:nvSpPr>
        <p:spPr>
          <a:xfrm>
            <a:off x="545144" y="1069848"/>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AutoShape 47"/>
          <p:cNvSpPr>
            <a:spLocks noChangeArrowheads="1"/>
          </p:cNvSpPr>
          <p:nvPr/>
        </p:nvSpPr>
        <p:spPr bwMode="auto">
          <a:xfrm>
            <a:off x="5959575" y="3705611"/>
            <a:ext cx="197550" cy="90625"/>
          </a:xfrm>
          <a:prstGeom prst="rightArrow">
            <a:avLst>
              <a:gd name="adj1" fmla="val 50000"/>
              <a:gd name="adj2" fmla="val 50305"/>
            </a:avLst>
          </a:prstGeom>
          <a:solidFill>
            <a:srgbClr val="CC00CC"/>
          </a:solidFill>
          <a:ln w="9525">
            <a:solidFill>
              <a:srgbClr val="CC00CC"/>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6" name="Rectangle 107"/>
          <p:cNvSpPr>
            <a:spLocks noChangeArrowheads="1"/>
          </p:cNvSpPr>
          <p:nvPr/>
        </p:nvSpPr>
        <p:spPr bwMode="auto">
          <a:xfrm>
            <a:off x="3457593" y="1276633"/>
            <a:ext cx="2247619" cy="522608"/>
          </a:xfrm>
          <a:prstGeom prst="rect">
            <a:avLst/>
          </a:prstGeom>
          <a:solidFill>
            <a:srgbClr val="99FFCC"/>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endParaRPr lang="zh-CN" altLang="en-US" sz="1100" b="1">
              <a:latin typeface="微软雅黑" pitchFamily="34" charset="-122"/>
              <a:ea typeface="微软雅黑" pitchFamily="34" charset="-122"/>
            </a:endParaRPr>
          </a:p>
        </p:txBody>
      </p:sp>
      <p:grpSp>
        <p:nvGrpSpPr>
          <p:cNvPr id="7" name="Group 80"/>
          <p:cNvGrpSpPr>
            <a:grpSpLocks/>
          </p:cNvGrpSpPr>
          <p:nvPr/>
        </p:nvGrpSpPr>
        <p:grpSpPr bwMode="auto">
          <a:xfrm>
            <a:off x="5342976" y="3643721"/>
            <a:ext cx="652517" cy="200037"/>
            <a:chOff x="2925" y="1570"/>
            <a:chExt cx="545" cy="181"/>
          </a:xfrm>
        </p:grpSpPr>
        <p:grpSp>
          <p:nvGrpSpPr>
            <p:cNvPr id="8" name="Group 81"/>
            <p:cNvGrpSpPr>
              <a:grpSpLocks/>
            </p:cNvGrpSpPr>
            <p:nvPr/>
          </p:nvGrpSpPr>
          <p:grpSpPr bwMode="auto">
            <a:xfrm>
              <a:off x="3061" y="1570"/>
              <a:ext cx="272" cy="181"/>
              <a:chOff x="3061" y="1842"/>
              <a:chExt cx="272" cy="181"/>
            </a:xfrm>
          </p:grpSpPr>
          <p:sp>
            <p:nvSpPr>
              <p:cNvPr id="11" name="Rectangle 82"/>
              <p:cNvSpPr>
                <a:spLocks noChangeArrowheads="1"/>
              </p:cNvSpPr>
              <p:nvPr/>
            </p:nvSpPr>
            <p:spPr bwMode="auto">
              <a:xfrm>
                <a:off x="3061" y="1842"/>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7</a:t>
                </a:r>
              </a:p>
            </p:txBody>
          </p:sp>
          <p:sp>
            <p:nvSpPr>
              <p:cNvPr id="12" name="Rectangle 83"/>
              <p:cNvSpPr>
                <a:spLocks noChangeArrowheads="1"/>
              </p:cNvSpPr>
              <p:nvPr/>
            </p:nvSpPr>
            <p:spPr bwMode="auto">
              <a:xfrm>
                <a:off x="3197" y="1842"/>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6</a:t>
                </a:r>
              </a:p>
            </p:txBody>
          </p:sp>
        </p:grpSp>
        <p:sp>
          <p:nvSpPr>
            <p:cNvPr id="9" name="Rectangle 84"/>
            <p:cNvSpPr>
              <a:spLocks noChangeArrowheads="1"/>
            </p:cNvSpPr>
            <p:nvPr/>
          </p:nvSpPr>
          <p:spPr bwMode="auto">
            <a:xfrm>
              <a:off x="2925" y="1570"/>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8</a:t>
              </a:r>
            </a:p>
          </p:txBody>
        </p:sp>
        <p:sp>
          <p:nvSpPr>
            <p:cNvPr id="10" name="Rectangle 85"/>
            <p:cNvSpPr>
              <a:spLocks noChangeArrowheads="1"/>
            </p:cNvSpPr>
            <p:nvPr/>
          </p:nvSpPr>
          <p:spPr bwMode="auto">
            <a:xfrm>
              <a:off x="3334" y="1570"/>
              <a:ext cx="136" cy="181"/>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H</a:t>
              </a:r>
            </a:p>
          </p:txBody>
        </p:sp>
      </p:grpSp>
      <p:sp>
        <p:nvSpPr>
          <p:cNvPr id="13" name="Text Box 62"/>
          <p:cNvSpPr txBox="1">
            <a:spLocks noChangeArrowheads="1"/>
          </p:cNvSpPr>
          <p:nvPr/>
        </p:nvSpPr>
        <p:spPr bwMode="auto">
          <a:xfrm>
            <a:off x="6440329" y="1231508"/>
            <a:ext cx="61587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800" b="1" dirty="0">
                <a:solidFill>
                  <a:srgbClr val="0033CC"/>
                </a:solidFill>
                <a:latin typeface="微软雅黑" pitchFamily="34" charset="-122"/>
                <a:ea typeface="微软雅黑" pitchFamily="34" charset="-122"/>
                <a:sym typeface="Wingdings" pitchFamily="2" charset="2"/>
              </a:rPr>
              <a:t></a:t>
            </a:r>
            <a:endParaRPr kumimoji="1" lang="en-US" altLang="zh-CN" sz="4800" b="1" dirty="0">
              <a:solidFill>
                <a:srgbClr val="0033CC"/>
              </a:solidFill>
              <a:latin typeface="微软雅黑" pitchFamily="34" charset="-122"/>
              <a:ea typeface="微软雅黑" pitchFamily="34" charset="-122"/>
            </a:endParaRPr>
          </a:p>
        </p:txBody>
      </p:sp>
      <p:sp>
        <p:nvSpPr>
          <p:cNvPr id="14" name="Freeform 44"/>
          <p:cNvSpPr>
            <a:spLocks/>
          </p:cNvSpPr>
          <p:nvPr/>
        </p:nvSpPr>
        <p:spPr bwMode="auto">
          <a:xfrm>
            <a:off x="6485179" y="3392844"/>
            <a:ext cx="269388" cy="618901"/>
          </a:xfrm>
          <a:custGeom>
            <a:avLst/>
            <a:gdLst>
              <a:gd name="T0" fmla="*/ 0 w 225"/>
              <a:gd name="T1" fmla="*/ 590 h 590"/>
              <a:gd name="T2" fmla="*/ 225 w 225"/>
              <a:gd name="T3" fmla="*/ 590 h 590"/>
              <a:gd name="T4" fmla="*/ 225 w 225"/>
              <a:gd name="T5" fmla="*/ 0 h 590"/>
            </a:gdLst>
            <a:ahLst/>
            <a:cxnLst>
              <a:cxn ang="0">
                <a:pos x="T0" y="T1"/>
              </a:cxn>
              <a:cxn ang="0">
                <a:pos x="T2" y="T3"/>
              </a:cxn>
              <a:cxn ang="0">
                <a:pos x="T4" y="T5"/>
              </a:cxn>
            </a:cxnLst>
            <a:rect l="0" t="0" r="r" b="b"/>
            <a:pathLst>
              <a:path w="225" h="590">
                <a:moveTo>
                  <a:pt x="0" y="590"/>
                </a:moveTo>
                <a:lnTo>
                  <a:pt x="225" y="590"/>
                </a:lnTo>
                <a:lnTo>
                  <a:pt x="225" y="0"/>
                </a:lnTo>
              </a:path>
            </a:pathLst>
          </a:custGeom>
          <a:noFill/>
          <a:ln w="5715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5" name="Text Box 45"/>
          <p:cNvSpPr txBox="1">
            <a:spLocks noChangeArrowheads="1"/>
          </p:cNvSpPr>
          <p:nvPr/>
        </p:nvSpPr>
        <p:spPr bwMode="auto">
          <a:xfrm>
            <a:off x="1714673" y="1231508"/>
            <a:ext cx="61587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800" b="1" dirty="0">
                <a:solidFill>
                  <a:srgbClr val="0033CC"/>
                </a:solidFill>
                <a:latin typeface="微软雅黑" pitchFamily="34" charset="-122"/>
                <a:ea typeface="微软雅黑" pitchFamily="34" charset="-122"/>
                <a:sym typeface="Wingdings" pitchFamily="2" charset="2"/>
              </a:rPr>
              <a:t></a:t>
            </a:r>
            <a:endParaRPr kumimoji="1" lang="en-US" altLang="zh-CN" sz="4800" b="1" dirty="0">
              <a:solidFill>
                <a:srgbClr val="0033CC"/>
              </a:solidFill>
              <a:latin typeface="微软雅黑" pitchFamily="34" charset="-122"/>
              <a:ea typeface="微软雅黑" pitchFamily="34" charset="-122"/>
            </a:endParaRPr>
          </a:p>
        </p:txBody>
      </p:sp>
      <p:sp>
        <p:nvSpPr>
          <p:cNvPr id="16" name="AutoShape 46"/>
          <p:cNvSpPr>
            <a:spLocks noChangeArrowheads="1"/>
          </p:cNvSpPr>
          <p:nvPr/>
        </p:nvSpPr>
        <p:spPr bwMode="auto">
          <a:xfrm>
            <a:off x="4446216" y="3706716"/>
            <a:ext cx="198748" cy="90625"/>
          </a:xfrm>
          <a:prstGeom prst="rightArrow">
            <a:avLst>
              <a:gd name="adj1" fmla="val 50000"/>
              <a:gd name="adj2" fmla="val 50610"/>
            </a:avLst>
          </a:prstGeom>
          <a:solidFill>
            <a:srgbClr val="CC00CC"/>
          </a:solidFill>
          <a:ln w="9525">
            <a:solidFill>
              <a:srgbClr val="CC00CC"/>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17" name="AutoShape 48"/>
          <p:cNvSpPr>
            <a:spLocks noChangeArrowheads="1"/>
          </p:cNvSpPr>
          <p:nvPr/>
        </p:nvSpPr>
        <p:spPr bwMode="auto">
          <a:xfrm>
            <a:off x="3080121" y="3705611"/>
            <a:ext cx="198748" cy="90625"/>
          </a:xfrm>
          <a:prstGeom prst="rightArrow">
            <a:avLst>
              <a:gd name="adj1" fmla="val 50000"/>
              <a:gd name="adj2" fmla="val 50610"/>
            </a:avLst>
          </a:prstGeom>
          <a:solidFill>
            <a:srgbClr val="CC00CC"/>
          </a:solidFill>
          <a:ln w="9525">
            <a:solidFill>
              <a:srgbClr val="CC00CC"/>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18" name="Line 49"/>
          <p:cNvSpPr>
            <a:spLocks noChangeShapeType="1"/>
          </p:cNvSpPr>
          <p:nvPr/>
        </p:nvSpPr>
        <p:spPr bwMode="auto">
          <a:xfrm>
            <a:off x="2030109" y="1889800"/>
            <a:ext cx="2395" cy="1035554"/>
          </a:xfrm>
          <a:prstGeom prst="line">
            <a:avLst/>
          </a:prstGeom>
          <a:noFill/>
          <a:ln w="19050">
            <a:solidFill>
              <a:srgbClr val="0000FF"/>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9" name="Text Box 50"/>
          <p:cNvSpPr txBox="1">
            <a:spLocks noChangeArrowheads="1"/>
          </p:cNvSpPr>
          <p:nvPr/>
        </p:nvSpPr>
        <p:spPr bwMode="auto">
          <a:xfrm>
            <a:off x="3605725" y="3390132"/>
            <a:ext cx="13424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发送 </a:t>
            </a:r>
            <a:r>
              <a:rPr kumimoji="1" lang="en-US" altLang="zh-CN" sz="1200" b="1" dirty="0">
                <a:solidFill>
                  <a:srgbClr val="0000FF"/>
                </a:solidFill>
                <a:latin typeface="微软雅黑" pitchFamily="34" charset="-122"/>
                <a:ea typeface="微软雅黑" pitchFamily="34" charset="-122"/>
              </a:rPr>
              <a:t>TCP </a:t>
            </a:r>
            <a:r>
              <a:rPr kumimoji="1" lang="zh-CN" altLang="en-US" sz="1200" b="1" dirty="0">
                <a:solidFill>
                  <a:srgbClr val="0000FF"/>
                </a:solidFill>
                <a:latin typeface="微软雅黑" pitchFamily="34" charset="-122"/>
                <a:ea typeface="微软雅黑" pitchFamily="34" charset="-122"/>
              </a:rPr>
              <a:t>报文段</a:t>
            </a:r>
          </a:p>
        </p:txBody>
      </p:sp>
      <p:sp>
        <p:nvSpPr>
          <p:cNvPr id="20" name="Rectangle 51"/>
          <p:cNvSpPr>
            <a:spLocks noChangeArrowheads="1"/>
          </p:cNvSpPr>
          <p:nvPr/>
        </p:nvSpPr>
        <p:spPr bwMode="auto">
          <a:xfrm>
            <a:off x="1408721" y="2917618"/>
            <a:ext cx="1254747" cy="475227"/>
          </a:xfrm>
          <a:prstGeom prst="rect">
            <a:avLst/>
          </a:prstGeom>
          <a:solidFill>
            <a:srgbClr val="3366FF"/>
          </a:solidFill>
          <a:ln w="19050">
            <a:solidFill>
              <a:schemeClr val="tx1"/>
            </a:solidFill>
            <a:miter lim="800000"/>
            <a:headEnd/>
            <a:tailEnd/>
          </a:ln>
          <a:effectLst/>
        </p:spPr>
        <p:txBody>
          <a:bodyPr wrap="none" anchor="ctr"/>
          <a:lstStyle/>
          <a:p>
            <a:pPr algn="ctr"/>
            <a:endParaRPr kumimoji="1" lang="en-US" altLang="zh-CN" sz="1200" b="1">
              <a:latin typeface="微软雅黑" pitchFamily="34" charset="-122"/>
              <a:ea typeface="微软雅黑" pitchFamily="34" charset="-122"/>
            </a:endParaRPr>
          </a:p>
          <a:p>
            <a:pPr algn="ctr"/>
            <a:endParaRPr kumimoji="1" lang="en-US" altLang="zh-CN" sz="1200" b="1">
              <a:latin typeface="微软雅黑" pitchFamily="34" charset="-122"/>
              <a:ea typeface="微软雅黑" pitchFamily="34" charset="-122"/>
            </a:endParaRPr>
          </a:p>
          <a:p>
            <a:pPr algn="ctr"/>
            <a:endParaRPr kumimoji="1" lang="en-US" altLang="zh-CN" sz="1200" b="1">
              <a:latin typeface="微软雅黑" pitchFamily="34" charset="-122"/>
              <a:ea typeface="微软雅黑" pitchFamily="34" charset="-122"/>
            </a:endParaRPr>
          </a:p>
        </p:txBody>
      </p:sp>
      <p:sp>
        <p:nvSpPr>
          <p:cNvPr id="21" name="Line 52"/>
          <p:cNvSpPr>
            <a:spLocks noChangeShapeType="1"/>
          </p:cNvSpPr>
          <p:nvPr/>
        </p:nvSpPr>
        <p:spPr bwMode="auto">
          <a:xfrm flipV="1">
            <a:off x="6774921" y="1889801"/>
            <a:ext cx="0" cy="1027817"/>
          </a:xfrm>
          <a:prstGeom prst="line">
            <a:avLst/>
          </a:prstGeom>
          <a:noFill/>
          <a:ln w="19050">
            <a:solidFill>
              <a:srgbClr val="0000FF"/>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2" name="Rectangle 53"/>
          <p:cNvSpPr>
            <a:spLocks noChangeArrowheads="1"/>
          </p:cNvSpPr>
          <p:nvPr/>
        </p:nvSpPr>
        <p:spPr bwMode="auto">
          <a:xfrm>
            <a:off x="6147548" y="2917618"/>
            <a:ext cx="1253550" cy="475227"/>
          </a:xfrm>
          <a:prstGeom prst="rect">
            <a:avLst/>
          </a:prstGeom>
          <a:solidFill>
            <a:srgbClr val="3366FF"/>
          </a:solidFill>
          <a:ln w="19050">
            <a:solidFill>
              <a:schemeClr val="tx1"/>
            </a:solidFill>
            <a:miter lim="800000"/>
            <a:headEnd/>
            <a:tailEnd/>
          </a:ln>
          <a:effectLst/>
        </p:spPr>
        <p:txBody>
          <a:bodyPr wrap="none" anchor="ctr"/>
          <a:lstStyle/>
          <a:p>
            <a:pPr algn="ctr"/>
            <a:endParaRPr kumimoji="1" lang="en-US" altLang="zh-CN" sz="1200" b="1">
              <a:latin typeface="微软雅黑" pitchFamily="34" charset="-122"/>
              <a:ea typeface="微软雅黑" pitchFamily="34" charset="-122"/>
            </a:endParaRPr>
          </a:p>
          <a:p>
            <a:pPr algn="ctr"/>
            <a:endParaRPr kumimoji="1" lang="en-US" altLang="zh-CN" sz="1200" b="1">
              <a:latin typeface="微软雅黑" pitchFamily="34" charset="-122"/>
              <a:ea typeface="微软雅黑" pitchFamily="34" charset="-122"/>
            </a:endParaRPr>
          </a:p>
          <a:p>
            <a:pPr algn="ctr"/>
            <a:endParaRPr kumimoji="1" lang="en-US" altLang="zh-CN" sz="1200" b="1">
              <a:latin typeface="微软雅黑" pitchFamily="34" charset="-122"/>
              <a:ea typeface="微软雅黑" pitchFamily="34" charset="-122"/>
            </a:endParaRPr>
          </a:p>
        </p:txBody>
      </p:sp>
      <p:sp>
        <p:nvSpPr>
          <p:cNvPr id="23" name="Text Box 54"/>
          <p:cNvSpPr txBox="1">
            <a:spLocks noChangeArrowheads="1"/>
          </p:cNvSpPr>
          <p:nvPr/>
        </p:nvSpPr>
        <p:spPr bwMode="auto">
          <a:xfrm>
            <a:off x="1705746" y="1133857"/>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发送方</a:t>
            </a:r>
          </a:p>
        </p:txBody>
      </p:sp>
      <p:sp>
        <p:nvSpPr>
          <p:cNvPr id="24" name="Text Box 55"/>
          <p:cNvSpPr txBox="1">
            <a:spLocks noChangeArrowheads="1"/>
          </p:cNvSpPr>
          <p:nvPr/>
        </p:nvSpPr>
        <p:spPr bwMode="auto">
          <a:xfrm>
            <a:off x="6439782" y="1133857"/>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a:solidFill>
                  <a:srgbClr val="0000FF"/>
                </a:solidFill>
                <a:latin typeface="微软雅黑" pitchFamily="34" charset="-122"/>
                <a:ea typeface="微软雅黑" pitchFamily="34" charset="-122"/>
              </a:rPr>
              <a:t>接收方</a:t>
            </a:r>
          </a:p>
        </p:txBody>
      </p:sp>
      <p:sp>
        <p:nvSpPr>
          <p:cNvPr id="25" name="AutoShape 56"/>
          <p:cNvSpPr>
            <a:spLocks noChangeArrowheads="1"/>
          </p:cNvSpPr>
          <p:nvPr/>
        </p:nvSpPr>
        <p:spPr bwMode="auto">
          <a:xfrm>
            <a:off x="2572476" y="2315045"/>
            <a:ext cx="1201202" cy="429915"/>
          </a:xfrm>
          <a:prstGeom prst="wedgeRoundRectCallout">
            <a:avLst>
              <a:gd name="adj1" fmla="val -85792"/>
              <a:gd name="adj2" fmla="val 142560"/>
              <a:gd name="adj3" fmla="val 16667"/>
            </a:avLst>
          </a:prstGeom>
          <a:solidFill>
            <a:srgbClr val="00FFFF"/>
          </a:solidFill>
          <a:ln w="9525">
            <a:solidFill>
              <a:schemeClr val="tx1"/>
            </a:solidFill>
            <a:miter lim="800000"/>
            <a:headEnd/>
            <a:tailEnd/>
          </a:ln>
          <a:effectLst/>
        </p:spPr>
        <p:txBody>
          <a:bodyPr/>
          <a:lstStyle/>
          <a:p>
            <a:pPr algn="ctr"/>
            <a:endParaRPr kumimoji="1" lang="zh-CN" altLang="zh-CN" sz="1200" b="1">
              <a:latin typeface="微软雅黑" pitchFamily="34" charset="-122"/>
              <a:ea typeface="微软雅黑" pitchFamily="34" charset="-122"/>
            </a:endParaRPr>
          </a:p>
        </p:txBody>
      </p:sp>
      <p:sp>
        <p:nvSpPr>
          <p:cNvPr id="26" name="Text Box 57"/>
          <p:cNvSpPr txBox="1">
            <a:spLocks noChangeArrowheads="1"/>
          </p:cNvSpPr>
          <p:nvPr/>
        </p:nvSpPr>
        <p:spPr bwMode="auto">
          <a:xfrm>
            <a:off x="2539800" y="2297410"/>
            <a:ext cx="125123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latin typeface="微软雅黑" pitchFamily="34" charset="-122"/>
                <a:ea typeface="微软雅黑" pitchFamily="34" charset="-122"/>
              </a:rPr>
              <a:t>把字节流按顺序写入发送缓冲区</a:t>
            </a:r>
          </a:p>
        </p:txBody>
      </p:sp>
      <p:sp>
        <p:nvSpPr>
          <p:cNvPr id="27" name="AutoShape 58"/>
          <p:cNvSpPr>
            <a:spLocks noChangeArrowheads="1"/>
          </p:cNvSpPr>
          <p:nvPr/>
        </p:nvSpPr>
        <p:spPr bwMode="auto">
          <a:xfrm>
            <a:off x="5616166" y="2190409"/>
            <a:ext cx="997122" cy="424389"/>
          </a:xfrm>
          <a:prstGeom prst="wedgeRoundRectCallout">
            <a:avLst>
              <a:gd name="adj1" fmla="val 80912"/>
              <a:gd name="adj2" fmla="val 178384"/>
              <a:gd name="adj3" fmla="val 16667"/>
            </a:avLst>
          </a:prstGeom>
          <a:solidFill>
            <a:srgbClr val="00FFFF"/>
          </a:solidFill>
          <a:ln w="9525">
            <a:solidFill>
              <a:schemeClr val="tx1"/>
            </a:solidFill>
            <a:miter lim="800000"/>
            <a:headEnd/>
            <a:tailEnd/>
          </a:ln>
          <a:effectLst/>
        </p:spPr>
        <p:txBody>
          <a:bodyPr/>
          <a:lstStyle/>
          <a:p>
            <a:pPr algn="ctr"/>
            <a:endParaRPr kumimoji="1" lang="zh-CN" altLang="zh-CN" sz="1200" b="1">
              <a:latin typeface="微软雅黑" pitchFamily="34" charset="-122"/>
              <a:ea typeface="微软雅黑" pitchFamily="34" charset="-122"/>
            </a:endParaRPr>
          </a:p>
        </p:txBody>
      </p:sp>
      <p:sp>
        <p:nvSpPr>
          <p:cNvPr id="28" name="Text Box 59"/>
          <p:cNvSpPr txBox="1">
            <a:spLocks noChangeArrowheads="1"/>
          </p:cNvSpPr>
          <p:nvPr/>
        </p:nvSpPr>
        <p:spPr bwMode="auto">
          <a:xfrm>
            <a:off x="5561221" y="2190409"/>
            <a:ext cx="11079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从接收缓冲区</a:t>
            </a:r>
          </a:p>
          <a:p>
            <a:pPr algn="ctr"/>
            <a:r>
              <a:rPr kumimoji="1" lang="zh-CN" altLang="en-US" sz="1200" b="1" dirty="0">
                <a:latin typeface="微软雅黑" pitchFamily="34" charset="-122"/>
                <a:ea typeface="微软雅黑" pitchFamily="34" charset="-122"/>
              </a:rPr>
              <a:t>读取字节流</a:t>
            </a:r>
          </a:p>
        </p:txBody>
      </p:sp>
      <p:sp>
        <p:nvSpPr>
          <p:cNvPr id="29" name="Text Box 60"/>
          <p:cNvSpPr txBox="1">
            <a:spLocks noChangeArrowheads="1"/>
          </p:cNvSpPr>
          <p:nvPr/>
        </p:nvSpPr>
        <p:spPr bwMode="auto">
          <a:xfrm>
            <a:off x="2192938" y="1551616"/>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应用进程</a:t>
            </a:r>
          </a:p>
        </p:txBody>
      </p:sp>
      <p:sp>
        <p:nvSpPr>
          <p:cNvPr id="30" name="Text Box 61"/>
          <p:cNvSpPr txBox="1">
            <a:spLocks noChangeArrowheads="1"/>
          </p:cNvSpPr>
          <p:nvPr/>
        </p:nvSpPr>
        <p:spPr bwMode="auto">
          <a:xfrm>
            <a:off x="6935356" y="1512935"/>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00FF"/>
                </a:solidFill>
                <a:latin typeface="微软雅黑" pitchFamily="34" charset="-122"/>
                <a:ea typeface="微软雅黑" pitchFamily="34" charset="-122"/>
              </a:rPr>
              <a:t>应用进程</a:t>
            </a:r>
          </a:p>
        </p:txBody>
      </p:sp>
      <p:grpSp>
        <p:nvGrpSpPr>
          <p:cNvPr id="31" name="Group 63"/>
          <p:cNvGrpSpPr>
            <a:grpSpLocks/>
          </p:cNvGrpSpPr>
          <p:nvPr/>
        </p:nvGrpSpPr>
        <p:grpSpPr bwMode="auto">
          <a:xfrm>
            <a:off x="6883873" y="1990372"/>
            <a:ext cx="162830" cy="801255"/>
            <a:chOff x="3107" y="210"/>
            <a:chExt cx="136" cy="725"/>
          </a:xfrm>
        </p:grpSpPr>
        <p:sp>
          <p:nvSpPr>
            <p:cNvPr id="32" name="Rectangle 64"/>
            <p:cNvSpPr>
              <a:spLocks noChangeArrowheads="1"/>
            </p:cNvSpPr>
            <p:nvPr/>
          </p:nvSpPr>
          <p:spPr bwMode="auto">
            <a:xfrm>
              <a:off x="3107" y="391"/>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1</a:t>
              </a:r>
            </a:p>
          </p:txBody>
        </p:sp>
        <p:sp>
          <p:nvSpPr>
            <p:cNvPr id="33" name="Rectangle 65"/>
            <p:cNvSpPr>
              <a:spLocks noChangeArrowheads="1"/>
            </p:cNvSpPr>
            <p:nvPr/>
          </p:nvSpPr>
          <p:spPr bwMode="auto">
            <a:xfrm>
              <a:off x="3107" y="573"/>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2</a:t>
              </a:r>
            </a:p>
          </p:txBody>
        </p:sp>
        <p:sp>
          <p:nvSpPr>
            <p:cNvPr id="34" name="Rectangle 66"/>
            <p:cNvSpPr>
              <a:spLocks noChangeArrowheads="1"/>
            </p:cNvSpPr>
            <p:nvPr/>
          </p:nvSpPr>
          <p:spPr bwMode="auto">
            <a:xfrm>
              <a:off x="3107" y="754"/>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3</a:t>
              </a:r>
            </a:p>
          </p:txBody>
        </p:sp>
        <p:sp>
          <p:nvSpPr>
            <p:cNvPr id="35" name="Rectangle 67"/>
            <p:cNvSpPr>
              <a:spLocks noChangeArrowheads="1"/>
            </p:cNvSpPr>
            <p:nvPr/>
          </p:nvSpPr>
          <p:spPr bwMode="auto">
            <a:xfrm>
              <a:off x="3107" y="210"/>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0</a:t>
              </a:r>
            </a:p>
          </p:txBody>
        </p:sp>
      </p:grpSp>
      <p:sp>
        <p:nvSpPr>
          <p:cNvPr id="36" name="Rectangle 68"/>
          <p:cNvSpPr>
            <a:spLocks noChangeArrowheads="1"/>
          </p:cNvSpPr>
          <p:nvPr/>
        </p:nvSpPr>
        <p:spPr bwMode="auto">
          <a:xfrm>
            <a:off x="1595496" y="3130373"/>
            <a:ext cx="162830" cy="200038"/>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微软雅黑" pitchFamily="34" charset="-122"/>
                <a:ea typeface="微软雅黑" pitchFamily="34" charset="-122"/>
              </a:rPr>
              <a:t>18</a:t>
            </a:r>
          </a:p>
        </p:txBody>
      </p:sp>
      <p:sp>
        <p:nvSpPr>
          <p:cNvPr id="37" name="Rectangle 69"/>
          <p:cNvSpPr>
            <a:spLocks noChangeArrowheads="1"/>
          </p:cNvSpPr>
          <p:nvPr/>
        </p:nvSpPr>
        <p:spPr bwMode="auto">
          <a:xfrm>
            <a:off x="1758326" y="3130373"/>
            <a:ext cx="162830" cy="200038"/>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itchFamily="34" charset="-122"/>
                <a:ea typeface="微软雅黑" pitchFamily="34" charset="-122"/>
              </a:rPr>
              <a:t>17</a:t>
            </a:r>
          </a:p>
        </p:txBody>
      </p:sp>
      <p:sp>
        <p:nvSpPr>
          <p:cNvPr id="38" name="Rectangle 70"/>
          <p:cNvSpPr>
            <a:spLocks noChangeArrowheads="1"/>
          </p:cNvSpPr>
          <p:nvPr/>
        </p:nvSpPr>
        <p:spPr bwMode="auto">
          <a:xfrm>
            <a:off x="1921156" y="3130373"/>
            <a:ext cx="162830" cy="200038"/>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itchFamily="34" charset="-122"/>
                <a:ea typeface="微软雅黑" pitchFamily="34" charset="-122"/>
              </a:rPr>
              <a:t>16</a:t>
            </a:r>
          </a:p>
        </p:txBody>
      </p:sp>
      <p:sp>
        <p:nvSpPr>
          <p:cNvPr id="39" name="Rectangle 71"/>
          <p:cNvSpPr>
            <a:spLocks noChangeArrowheads="1"/>
          </p:cNvSpPr>
          <p:nvPr/>
        </p:nvSpPr>
        <p:spPr bwMode="auto">
          <a:xfrm>
            <a:off x="2083986" y="3130373"/>
            <a:ext cx="162830" cy="200038"/>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itchFamily="34" charset="-122"/>
                <a:ea typeface="微软雅黑" pitchFamily="34" charset="-122"/>
              </a:rPr>
              <a:t>15</a:t>
            </a:r>
          </a:p>
        </p:txBody>
      </p:sp>
      <p:sp>
        <p:nvSpPr>
          <p:cNvPr id="40" name="Rectangle 72"/>
          <p:cNvSpPr>
            <a:spLocks noChangeArrowheads="1"/>
          </p:cNvSpPr>
          <p:nvPr/>
        </p:nvSpPr>
        <p:spPr bwMode="auto">
          <a:xfrm>
            <a:off x="2246815" y="3130373"/>
            <a:ext cx="162830" cy="200038"/>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itchFamily="34" charset="-122"/>
                <a:ea typeface="微软雅黑" pitchFamily="34" charset="-122"/>
              </a:rPr>
              <a:t>14</a:t>
            </a:r>
          </a:p>
        </p:txBody>
      </p:sp>
      <p:grpSp>
        <p:nvGrpSpPr>
          <p:cNvPr id="41" name="Group 73"/>
          <p:cNvGrpSpPr>
            <a:grpSpLocks/>
          </p:cNvGrpSpPr>
          <p:nvPr/>
        </p:nvGrpSpPr>
        <p:grpSpPr bwMode="auto">
          <a:xfrm>
            <a:off x="2137864" y="2053366"/>
            <a:ext cx="162830" cy="601218"/>
            <a:chOff x="1429" y="176"/>
            <a:chExt cx="136" cy="544"/>
          </a:xfrm>
        </p:grpSpPr>
        <p:sp>
          <p:nvSpPr>
            <p:cNvPr id="42" name="Rectangle 74"/>
            <p:cNvSpPr>
              <a:spLocks noChangeArrowheads="1"/>
            </p:cNvSpPr>
            <p:nvPr/>
          </p:nvSpPr>
          <p:spPr bwMode="auto">
            <a:xfrm>
              <a:off x="1429" y="539"/>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itchFamily="34" charset="-122"/>
                  <a:ea typeface="微软雅黑" pitchFamily="34" charset="-122"/>
                </a:rPr>
                <a:t>19</a:t>
              </a:r>
            </a:p>
          </p:txBody>
        </p:sp>
        <p:sp>
          <p:nvSpPr>
            <p:cNvPr id="43" name="Rectangle 75"/>
            <p:cNvSpPr>
              <a:spLocks noChangeArrowheads="1"/>
            </p:cNvSpPr>
            <p:nvPr/>
          </p:nvSpPr>
          <p:spPr bwMode="auto">
            <a:xfrm>
              <a:off x="1429" y="358"/>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微软雅黑" pitchFamily="34" charset="-122"/>
                  <a:ea typeface="微软雅黑" pitchFamily="34" charset="-122"/>
                </a:rPr>
                <a:t>20</a:t>
              </a:r>
            </a:p>
          </p:txBody>
        </p:sp>
        <p:sp>
          <p:nvSpPr>
            <p:cNvPr id="44" name="Rectangle 76"/>
            <p:cNvSpPr>
              <a:spLocks noChangeArrowheads="1"/>
            </p:cNvSpPr>
            <p:nvPr/>
          </p:nvSpPr>
          <p:spPr bwMode="auto">
            <a:xfrm>
              <a:off x="1429" y="176"/>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itchFamily="34" charset="-122"/>
                  <a:ea typeface="微软雅黑" pitchFamily="34" charset="-122"/>
                </a:rPr>
                <a:t>21</a:t>
              </a:r>
            </a:p>
          </p:txBody>
        </p:sp>
      </p:grpSp>
      <p:grpSp>
        <p:nvGrpSpPr>
          <p:cNvPr id="45" name="Group 77"/>
          <p:cNvGrpSpPr>
            <a:grpSpLocks/>
          </p:cNvGrpSpPr>
          <p:nvPr/>
        </p:nvGrpSpPr>
        <p:grpSpPr bwMode="auto">
          <a:xfrm>
            <a:off x="6613288" y="3141969"/>
            <a:ext cx="325659" cy="200037"/>
            <a:chOff x="2789" y="1842"/>
            <a:chExt cx="272" cy="181"/>
          </a:xfrm>
        </p:grpSpPr>
        <p:sp>
          <p:nvSpPr>
            <p:cNvPr id="46" name="Rectangle 78"/>
            <p:cNvSpPr>
              <a:spLocks noChangeArrowheads="1"/>
            </p:cNvSpPr>
            <p:nvPr/>
          </p:nvSpPr>
          <p:spPr bwMode="auto">
            <a:xfrm>
              <a:off x="2925" y="1842"/>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4</a:t>
              </a:r>
            </a:p>
          </p:txBody>
        </p:sp>
        <p:sp>
          <p:nvSpPr>
            <p:cNvPr id="47" name="Rectangle 79"/>
            <p:cNvSpPr>
              <a:spLocks noChangeArrowheads="1"/>
            </p:cNvSpPr>
            <p:nvPr/>
          </p:nvSpPr>
          <p:spPr bwMode="auto">
            <a:xfrm>
              <a:off x="2789" y="1842"/>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5</a:t>
              </a:r>
            </a:p>
          </p:txBody>
        </p:sp>
      </p:grpSp>
      <p:grpSp>
        <p:nvGrpSpPr>
          <p:cNvPr id="48" name="Group 86"/>
          <p:cNvGrpSpPr>
            <a:grpSpLocks/>
          </p:cNvGrpSpPr>
          <p:nvPr/>
        </p:nvGrpSpPr>
        <p:grpSpPr bwMode="auto">
          <a:xfrm>
            <a:off x="2464720" y="3643721"/>
            <a:ext cx="651319" cy="200037"/>
            <a:chOff x="2200" y="1298"/>
            <a:chExt cx="544" cy="181"/>
          </a:xfrm>
        </p:grpSpPr>
        <p:sp>
          <p:nvSpPr>
            <p:cNvPr id="49" name="Rectangle 87"/>
            <p:cNvSpPr>
              <a:spLocks noChangeArrowheads="1"/>
            </p:cNvSpPr>
            <p:nvPr/>
          </p:nvSpPr>
          <p:spPr bwMode="auto">
            <a:xfrm>
              <a:off x="2200" y="1298"/>
              <a:ext cx="136" cy="181"/>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微软雅黑" pitchFamily="34" charset="-122"/>
                  <a:ea typeface="微软雅黑" pitchFamily="34" charset="-122"/>
                </a:rPr>
                <a:t>13</a:t>
              </a:r>
            </a:p>
          </p:txBody>
        </p:sp>
        <p:sp>
          <p:nvSpPr>
            <p:cNvPr id="50" name="Rectangle 88"/>
            <p:cNvSpPr>
              <a:spLocks noChangeArrowheads="1"/>
            </p:cNvSpPr>
            <p:nvPr/>
          </p:nvSpPr>
          <p:spPr bwMode="auto">
            <a:xfrm>
              <a:off x="2336" y="1298"/>
              <a:ext cx="136" cy="181"/>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itchFamily="34" charset="-122"/>
                  <a:ea typeface="微软雅黑" pitchFamily="34" charset="-122"/>
                </a:rPr>
                <a:t>12</a:t>
              </a:r>
            </a:p>
          </p:txBody>
        </p:sp>
        <p:sp>
          <p:nvSpPr>
            <p:cNvPr id="51" name="Rectangle 89"/>
            <p:cNvSpPr>
              <a:spLocks noChangeArrowheads="1"/>
            </p:cNvSpPr>
            <p:nvPr/>
          </p:nvSpPr>
          <p:spPr bwMode="auto">
            <a:xfrm>
              <a:off x="2472" y="1298"/>
              <a:ext cx="136" cy="181"/>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itchFamily="34" charset="-122"/>
                  <a:ea typeface="微软雅黑" pitchFamily="34" charset="-122"/>
                </a:rPr>
                <a:t>11</a:t>
              </a:r>
            </a:p>
          </p:txBody>
        </p:sp>
        <p:sp>
          <p:nvSpPr>
            <p:cNvPr id="52" name="Rectangle 90"/>
            <p:cNvSpPr>
              <a:spLocks noChangeArrowheads="1"/>
            </p:cNvSpPr>
            <p:nvPr/>
          </p:nvSpPr>
          <p:spPr bwMode="auto">
            <a:xfrm>
              <a:off x="2608" y="1298"/>
              <a:ext cx="136" cy="181"/>
            </a:xfrm>
            <a:prstGeom prst="rect">
              <a:avLst/>
            </a:prstGeom>
            <a:solidFill>
              <a:srgbClr val="FF00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H</a:t>
              </a:r>
            </a:p>
          </p:txBody>
        </p:sp>
      </p:grpSp>
      <p:grpSp>
        <p:nvGrpSpPr>
          <p:cNvPr id="53" name="Group 91"/>
          <p:cNvGrpSpPr>
            <a:grpSpLocks/>
          </p:cNvGrpSpPr>
          <p:nvPr/>
        </p:nvGrpSpPr>
        <p:grpSpPr bwMode="auto">
          <a:xfrm>
            <a:off x="3985263" y="3644825"/>
            <a:ext cx="325659" cy="200038"/>
            <a:chOff x="2290" y="482"/>
            <a:chExt cx="272" cy="181"/>
          </a:xfrm>
        </p:grpSpPr>
        <p:sp>
          <p:nvSpPr>
            <p:cNvPr id="54" name="Rectangle 92"/>
            <p:cNvSpPr>
              <a:spLocks noChangeArrowheads="1"/>
            </p:cNvSpPr>
            <p:nvPr/>
          </p:nvSpPr>
          <p:spPr bwMode="auto">
            <a:xfrm>
              <a:off x="2290" y="482"/>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itchFamily="34" charset="-122"/>
                  <a:ea typeface="微软雅黑" pitchFamily="34" charset="-122"/>
                </a:rPr>
                <a:t>10</a:t>
              </a:r>
            </a:p>
          </p:txBody>
        </p:sp>
        <p:sp>
          <p:nvSpPr>
            <p:cNvPr id="55" name="Rectangle 93"/>
            <p:cNvSpPr>
              <a:spLocks noChangeArrowheads="1"/>
            </p:cNvSpPr>
            <p:nvPr/>
          </p:nvSpPr>
          <p:spPr bwMode="auto">
            <a:xfrm>
              <a:off x="2426" y="482"/>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9</a:t>
              </a:r>
            </a:p>
          </p:txBody>
        </p:sp>
      </p:grpSp>
      <p:sp>
        <p:nvSpPr>
          <p:cNvPr id="56" name="Rectangle 94"/>
          <p:cNvSpPr>
            <a:spLocks noChangeArrowheads="1"/>
          </p:cNvSpPr>
          <p:nvPr/>
        </p:nvSpPr>
        <p:spPr bwMode="auto">
          <a:xfrm>
            <a:off x="4310922" y="3644825"/>
            <a:ext cx="162830" cy="200038"/>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H</a:t>
            </a:r>
          </a:p>
        </p:txBody>
      </p:sp>
      <p:sp>
        <p:nvSpPr>
          <p:cNvPr id="57" name="AutoShape 95"/>
          <p:cNvSpPr>
            <a:spLocks noChangeArrowheads="1"/>
          </p:cNvSpPr>
          <p:nvPr/>
        </p:nvSpPr>
        <p:spPr bwMode="auto">
          <a:xfrm>
            <a:off x="3312071" y="2892198"/>
            <a:ext cx="1637720" cy="424389"/>
          </a:xfrm>
          <a:prstGeom prst="wedgeRoundRectCallout">
            <a:avLst>
              <a:gd name="adj1" fmla="val -65801"/>
              <a:gd name="adj2" fmla="val 128618"/>
              <a:gd name="adj3" fmla="val 16667"/>
            </a:avLst>
          </a:prstGeom>
          <a:solidFill>
            <a:srgbClr val="00FFFF"/>
          </a:solidFill>
          <a:ln w="9525">
            <a:solidFill>
              <a:schemeClr val="tx1"/>
            </a:solidFill>
            <a:miter lim="800000"/>
            <a:headEnd/>
            <a:tailEnd/>
          </a:ln>
          <a:effectLst/>
        </p:spPr>
        <p:txBody>
          <a:bodyPr/>
          <a:lstStyle/>
          <a:p>
            <a:pPr algn="ctr"/>
            <a:endParaRPr kumimoji="1" lang="zh-CN" altLang="zh-CN" sz="1200" b="1">
              <a:latin typeface="微软雅黑" pitchFamily="34" charset="-122"/>
              <a:ea typeface="微软雅黑" pitchFamily="34" charset="-122"/>
            </a:endParaRPr>
          </a:p>
        </p:txBody>
      </p:sp>
      <p:sp>
        <p:nvSpPr>
          <p:cNvPr id="58" name="Text Box 96"/>
          <p:cNvSpPr txBox="1">
            <a:spLocks noChangeArrowheads="1"/>
          </p:cNvSpPr>
          <p:nvPr/>
        </p:nvSpPr>
        <p:spPr bwMode="auto">
          <a:xfrm>
            <a:off x="3260589" y="2894507"/>
            <a:ext cx="172870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latin typeface="微软雅黑" pitchFamily="34" charset="-122"/>
                <a:ea typeface="微软雅黑" pitchFamily="34" charset="-122"/>
              </a:rPr>
              <a:t>把字节流分割后加上首部构成 </a:t>
            </a:r>
            <a:r>
              <a:rPr kumimoji="1" lang="en-US" altLang="zh-CN" sz="1200" b="1" dirty="0">
                <a:latin typeface="微软雅黑" pitchFamily="34" charset="-122"/>
                <a:ea typeface="微软雅黑" pitchFamily="34" charset="-122"/>
              </a:rPr>
              <a:t>TCP </a:t>
            </a:r>
            <a:r>
              <a:rPr kumimoji="1" lang="zh-CN" altLang="en-US" sz="1200" b="1" dirty="0">
                <a:latin typeface="微软雅黑" pitchFamily="34" charset="-122"/>
                <a:ea typeface="微软雅黑" pitchFamily="34" charset="-122"/>
              </a:rPr>
              <a:t>报文段</a:t>
            </a:r>
          </a:p>
        </p:txBody>
      </p:sp>
      <p:sp>
        <p:nvSpPr>
          <p:cNvPr id="59" name="Line 97"/>
          <p:cNvSpPr>
            <a:spLocks noChangeShapeType="1"/>
          </p:cNvSpPr>
          <p:nvPr/>
        </p:nvSpPr>
        <p:spPr bwMode="auto">
          <a:xfrm>
            <a:off x="2403803" y="2148412"/>
            <a:ext cx="0" cy="401181"/>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60" name="Line 98"/>
          <p:cNvSpPr>
            <a:spLocks noChangeShapeType="1"/>
          </p:cNvSpPr>
          <p:nvPr/>
        </p:nvSpPr>
        <p:spPr bwMode="auto">
          <a:xfrm flipV="1">
            <a:off x="7130656" y="2190409"/>
            <a:ext cx="0" cy="401181"/>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61" name="Text Box 99"/>
          <p:cNvSpPr txBox="1">
            <a:spLocks noChangeArrowheads="1"/>
          </p:cNvSpPr>
          <p:nvPr/>
        </p:nvSpPr>
        <p:spPr bwMode="auto">
          <a:xfrm>
            <a:off x="611794" y="2924398"/>
            <a:ext cx="89581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en-US" altLang="zh-CN" sz="1200" b="1" dirty="0">
                <a:latin typeface="微软雅黑" pitchFamily="34" charset="-122"/>
                <a:ea typeface="微软雅黑" pitchFamily="34" charset="-122"/>
              </a:rPr>
              <a:t>TCP</a:t>
            </a:r>
            <a:r>
              <a:rPr kumimoji="1" lang="zh-CN" altLang="en-US" sz="1200" b="1" dirty="0">
                <a:latin typeface="微软雅黑" pitchFamily="34" charset="-122"/>
                <a:ea typeface="微软雅黑" pitchFamily="34" charset="-122"/>
              </a:rPr>
              <a:t>发送缓冲区</a:t>
            </a:r>
            <a:endParaRPr kumimoji="1" lang="en-US" altLang="zh-CN" sz="1200" b="1" dirty="0">
              <a:latin typeface="微软雅黑" pitchFamily="34" charset="-122"/>
              <a:ea typeface="微软雅黑" pitchFamily="34" charset="-122"/>
            </a:endParaRPr>
          </a:p>
        </p:txBody>
      </p:sp>
      <p:sp>
        <p:nvSpPr>
          <p:cNvPr id="62" name="Text Box 100"/>
          <p:cNvSpPr txBox="1">
            <a:spLocks noChangeArrowheads="1"/>
          </p:cNvSpPr>
          <p:nvPr/>
        </p:nvSpPr>
        <p:spPr bwMode="auto">
          <a:xfrm>
            <a:off x="7314436" y="2914862"/>
            <a:ext cx="84168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en-US" altLang="zh-CN" sz="1200" b="1" dirty="0">
                <a:latin typeface="微软雅黑" pitchFamily="34" charset="-122"/>
                <a:ea typeface="微软雅黑" pitchFamily="34" charset="-122"/>
              </a:rPr>
              <a:t>TCP</a:t>
            </a:r>
            <a:r>
              <a:rPr kumimoji="1" lang="zh-CN" altLang="en-US" sz="1200" b="1" dirty="0">
                <a:latin typeface="微软雅黑" pitchFamily="34" charset="-122"/>
                <a:ea typeface="微软雅黑" pitchFamily="34" charset="-122"/>
              </a:rPr>
              <a:t>接收缓冲区</a:t>
            </a:r>
            <a:endParaRPr kumimoji="1" lang="en-US" altLang="zh-CN" sz="1200" b="1" dirty="0">
              <a:latin typeface="微软雅黑" pitchFamily="34" charset="-122"/>
              <a:ea typeface="微软雅黑" pitchFamily="34" charset="-122"/>
            </a:endParaRPr>
          </a:p>
        </p:txBody>
      </p:sp>
      <p:sp>
        <p:nvSpPr>
          <p:cNvPr id="63" name="Text Box 101"/>
          <p:cNvSpPr txBox="1">
            <a:spLocks noChangeArrowheads="1"/>
          </p:cNvSpPr>
          <p:nvPr/>
        </p:nvSpPr>
        <p:spPr bwMode="auto">
          <a:xfrm>
            <a:off x="2355768" y="1970478"/>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00FF"/>
                </a:solidFill>
                <a:latin typeface="微软雅黑" pitchFamily="34" charset="-122"/>
                <a:ea typeface="微软雅黑" pitchFamily="34" charset="-122"/>
              </a:rPr>
              <a:t>字节流</a:t>
            </a:r>
          </a:p>
        </p:txBody>
      </p:sp>
      <p:sp>
        <p:nvSpPr>
          <p:cNvPr id="64" name="Text Box 102"/>
          <p:cNvSpPr txBox="1">
            <a:spLocks noChangeArrowheads="1"/>
          </p:cNvSpPr>
          <p:nvPr/>
        </p:nvSpPr>
        <p:spPr bwMode="auto">
          <a:xfrm>
            <a:off x="7045505" y="1970478"/>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00FF"/>
                </a:solidFill>
                <a:latin typeface="微软雅黑" pitchFamily="34" charset="-122"/>
                <a:ea typeface="微软雅黑" pitchFamily="34" charset="-122"/>
              </a:rPr>
              <a:t>字节流</a:t>
            </a:r>
          </a:p>
        </p:txBody>
      </p:sp>
      <p:sp>
        <p:nvSpPr>
          <p:cNvPr id="65" name="Rectangle 103"/>
          <p:cNvSpPr>
            <a:spLocks noChangeArrowheads="1"/>
          </p:cNvSpPr>
          <p:nvPr/>
        </p:nvSpPr>
        <p:spPr bwMode="auto">
          <a:xfrm>
            <a:off x="3565348" y="1313850"/>
            <a:ext cx="162830" cy="200037"/>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H</a:t>
            </a:r>
          </a:p>
        </p:txBody>
      </p:sp>
      <p:sp>
        <p:nvSpPr>
          <p:cNvPr id="66" name="Text Box 104"/>
          <p:cNvSpPr txBox="1">
            <a:spLocks noChangeArrowheads="1"/>
          </p:cNvSpPr>
          <p:nvPr/>
        </p:nvSpPr>
        <p:spPr bwMode="auto">
          <a:xfrm>
            <a:off x="3783253" y="1269839"/>
            <a:ext cx="180408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表示 </a:t>
            </a:r>
            <a:r>
              <a:rPr kumimoji="1" lang="en-US" altLang="zh-CN" sz="1200" b="1" dirty="0">
                <a:latin typeface="微软雅黑" pitchFamily="34" charset="-122"/>
                <a:ea typeface="微软雅黑" pitchFamily="34" charset="-122"/>
              </a:rPr>
              <a:t>TCP </a:t>
            </a:r>
            <a:r>
              <a:rPr kumimoji="1" lang="zh-CN" altLang="en-US" sz="1200" b="1" dirty="0">
                <a:latin typeface="微软雅黑" pitchFamily="34" charset="-122"/>
                <a:ea typeface="微软雅黑" pitchFamily="34" charset="-122"/>
              </a:rPr>
              <a:t>报文段的首部</a:t>
            </a:r>
          </a:p>
        </p:txBody>
      </p:sp>
      <p:sp>
        <p:nvSpPr>
          <p:cNvPr id="67" name="Rectangle 105"/>
          <p:cNvSpPr>
            <a:spLocks noChangeArrowheads="1"/>
          </p:cNvSpPr>
          <p:nvPr/>
        </p:nvSpPr>
        <p:spPr bwMode="auto">
          <a:xfrm>
            <a:off x="3565348" y="1552838"/>
            <a:ext cx="162830" cy="200037"/>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x</a:t>
            </a:r>
          </a:p>
        </p:txBody>
      </p:sp>
      <p:sp>
        <p:nvSpPr>
          <p:cNvPr id="68" name="Text Box 106"/>
          <p:cNvSpPr txBox="1">
            <a:spLocks noChangeArrowheads="1"/>
          </p:cNvSpPr>
          <p:nvPr/>
        </p:nvSpPr>
        <p:spPr bwMode="auto">
          <a:xfrm>
            <a:off x="3783253" y="1517972"/>
            <a:ext cx="19062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表示序号为 </a:t>
            </a:r>
            <a:r>
              <a:rPr kumimoji="1" lang="en-US" altLang="zh-CN" sz="1200" b="1" dirty="0">
                <a:latin typeface="微软雅黑" pitchFamily="34" charset="-122"/>
                <a:ea typeface="微软雅黑" pitchFamily="34" charset="-122"/>
              </a:rPr>
              <a:t>x </a:t>
            </a:r>
            <a:r>
              <a:rPr kumimoji="1" lang="zh-CN" altLang="en-US" sz="1200" b="1" dirty="0">
                <a:latin typeface="微软雅黑" pitchFamily="34" charset="-122"/>
                <a:ea typeface="微软雅黑" pitchFamily="34" charset="-122"/>
              </a:rPr>
              <a:t>的数据字节</a:t>
            </a:r>
          </a:p>
        </p:txBody>
      </p:sp>
      <p:sp>
        <p:nvSpPr>
          <p:cNvPr id="69" name="AutoShape 108"/>
          <p:cNvSpPr>
            <a:spLocks noChangeArrowheads="1"/>
          </p:cNvSpPr>
          <p:nvPr/>
        </p:nvSpPr>
        <p:spPr bwMode="auto">
          <a:xfrm rot="16200000">
            <a:off x="4293838" y="1738621"/>
            <a:ext cx="250876" cy="4562826"/>
          </a:xfrm>
          <a:prstGeom prst="can">
            <a:avLst>
              <a:gd name="adj" fmla="val 28603"/>
            </a:avLst>
          </a:prstGeom>
          <a:gradFill>
            <a:gsLst>
              <a:gs pos="0">
                <a:srgbClr val="FF6600"/>
              </a:gs>
              <a:gs pos="50000">
                <a:srgbClr val="FF9933">
                  <a:lumMod val="61000"/>
                  <a:lumOff val="39000"/>
                </a:srgbClr>
              </a:gs>
              <a:gs pos="100000">
                <a:srgbClr val="FF6600"/>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70" name="Text Box 109"/>
          <p:cNvSpPr txBox="1">
            <a:spLocks noChangeArrowheads="1"/>
          </p:cNvSpPr>
          <p:nvPr/>
        </p:nvSpPr>
        <p:spPr bwMode="auto">
          <a:xfrm>
            <a:off x="2740831" y="3878018"/>
            <a:ext cx="314259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dirty="0">
                <a:latin typeface="微软雅黑" pitchFamily="34" charset="-122"/>
                <a:ea typeface="微软雅黑" pitchFamily="34" charset="-122"/>
              </a:rPr>
              <a:t>TCP </a:t>
            </a:r>
            <a:r>
              <a:rPr kumimoji="1" lang="zh-CN" altLang="en-US" sz="1200" b="1" dirty="0">
                <a:latin typeface="微软雅黑" pitchFamily="34" charset="-122"/>
                <a:ea typeface="微软雅黑" pitchFamily="34" charset="-122"/>
              </a:rPr>
              <a:t>连接（像一条可靠的双向字节流管道）</a:t>
            </a:r>
          </a:p>
        </p:txBody>
      </p:sp>
      <p:sp>
        <p:nvSpPr>
          <p:cNvPr id="71" name="Freeform 110"/>
          <p:cNvSpPr>
            <a:spLocks/>
          </p:cNvSpPr>
          <p:nvPr/>
        </p:nvSpPr>
        <p:spPr bwMode="auto">
          <a:xfrm>
            <a:off x="2036095" y="3392845"/>
            <a:ext cx="150857" cy="621111"/>
          </a:xfrm>
          <a:custGeom>
            <a:avLst/>
            <a:gdLst>
              <a:gd name="T0" fmla="*/ 0 w 108"/>
              <a:gd name="T1" fmla="*/ 0 h 590"/>
              <a:gd name="T2" fmla="*/ 0 w 108"/>
              <a:gd name="T3" fmla="*/ 590 h 590"/>
              <a:gd name="T4" fmla="*/ 108 w 108"/>
              <a:gd name="T5" fmla="*/ 587 h 590"/>
            </a:gdLst>
            <a:ahLst/>
            <a:cxnLst>
              <a:cxn ang="0">
                <a:pos x="T0" y="T1"/>
              </a:cxn>
              <a:cxn ang="0">
                <a:pos x="T2" y="T3"/>
              </a:cxn>
              <a:cxn ang="0">
                <a:pos x="T4" y="T5"/>
              </a:cxn>
            </a:cxnLst>
            <a:rect l="0" t="0" r="r" b="b"/>
            <a:pathLst>
              <a:path w="108" h="590">
                <a:moveTo>
                  <a:pt x="0" y="0"/>
                </a:moveTo>
                <a:lnTo>
                  <a:pt x="0" y="590"/>
                </a:lnTo>
                <a:lnTo>
                  <a:pt x="108" y="587"/>
                </a:lnTo>
              </a:path>
            </a:pathLst>
          </a:custGeom>
          <a:noFill/>
          <a:ln w="5715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2" name="任意多边形: 形状 71">
            <a:extLst>
              <a:ext uri="{FF2B5EF4-FFF2-40B4-BE49-F238E27FC236}">
                <a16:creationId xmlns:a16="http://schemas.microsoft.com/office/drawing/2014/main" id="{DBF827DD-7A97-7B42-1C06-4745BEDBC88A}"/>
              </a:ext>
            </a:extLst>
          </p:cNvPr>
          <p:cNvSpPr/>
          <p:nvPr/>
        </p:nvSpPr>
        <p:spPr>
          <a:xfrm>
            <a:off x="2261419" y="1152003"/>
            <a:ext cx="4213123" cy="268758"/>
          </a:xfrm>
          <a:custGeom>
            <a:avLst/>
            <a:gdLst>
              <a:gd name="csX0" fmla="*/ 0 w 4213123"/>
              <a:gd name="csY0" fmla="*/ 268758 h 268758"/>
              <a:gd name="csX1" fmla="*/ 1219200 w 4213123"/>
              <a:gd name="csY1" fmla="*/ 47532 h 268758"/>
              <a:gd name="csX2" fmla="*/ 3106994 w 4213123"/>
              <a:gd name="csY2" fmla="*/ 18036 h 268758"/>
              <a:gd name="csX3" fmla="*/ 4213123 w 4213123"/>
              <a:gd name="csY3" fmla="*/ 268758 h 268758"/>
            </a:gdLst>
            <a:ahLst/>
            <a:cxnLst>
              <a:cxn ang="0">
                <a:pos x="csX0" y="csY0"/>
              </a:cxn>
              <a:cxn ang="0">
                <a:pos x="csX1" y="csY1"/>
              </a:cxn>
              <a:cxn ang="0">
                <a:pos x="csX2" y="csY2"/>
              </a:cxn>
              <a:cxn ang="0">
                <a:pos x="csX3" y="csY3"/>
              </a:cxn>
            </a:cxnLst>
            <a:rect l="l" t="t" r="r" b="b"/>
            <a:pathLst>
              <a:path w="4213123" h="268758">
                <a:moveTo>
                  <a:pt x="0" y="268758"/>
                </a:moveTo>
                <a:cubicBezTo>
                  <a:pt x="350684" y="179038"/>
                  <a:pt x="701368" y="89319"/>
                  <a:pt x="1219200" y="47532"/>
                </a:cubicBezTo>
                <a:cubicBezTo>
                  <a:pt x="1737032" y="5745"/>
                  <a:pt x="2608007" y="-18835"/>
                  <a:pt x="3106994" y="18036"/>
                </a:cubicBezTo>
                <a:cubicBezTo>
                  <a:pt x="3605981" y="54907"/>
                  <a:pt x="3909552" y="161832"/>
                  <a:pt x="4213123" y="268758"/>
                </a:cubicBezTo>
              </a:path>
            </a:pathLst>
          </a:custGeom>
          <a:ln>
            <a:headEnd type="none" w="med" len="med"/>
            <a:tailEnd type="triangle" w="med" len="med"/>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zh-CN" altLang="en-US"/>
          </a:p>
        </p:txBody>
      </p:sp>
      <p:sp>
        <p:nvSpPr>
          <p:cNvPr id="74" name="AutoShape 58">
            <a:extLst>
              <a:ext uri="{FF2B5EF4-FFF2-40B4-BE49-F238E27FC236}">
                <a16:creationId xmlns:a16="http://schemas.microsoft.com/office/drawing/2014/main" id="{D05827A9-0F99-C518-43BC-C5F48DBB9D11}"/>
              </a:ext>
            </a:extLst>
          </p:cNvPr>
          <p:cNvSpPr>
            <a:spLocks noChangeArrowheads="1"/>
          </p:cNvSpPr>
          <p:nvPr/>
        </p:nvSpPr>
        <p:spPr bwMode="auto">
          <a:xfrm>
            <a:off x="7038052" y="3649263"/>
            <a:ext cx="1253550" cy="424389"/>
          </a:xfrm>
          <a:prstGeom prst="wedgeRoundRectCallout">
            <a:avLst>
              <a:gd name="adj1" fmla="val -136055"/>
              <a:gd name="adj2" fmla="val -42871"/>
              <a:gd name="adj3" fmla="val 16667"/>
            </a:avLst>
          </a:prstGeom>
          <a:solidFill>
            <a:srgbClr val="00FFFF"/>
          </a:solidFill>
          <a:ln w="9525">
            <a:solidFill>
              <a:schemeClr val="tx1"/>
            </a:solidFill>
            <a:miter lim="800000"/>
            <a:headEnd/>
            <a:tailEnd/>
          </a:ln>
          <a:effectLst/>
        </p:spPr>
        <p:txBody>
          <a:bodyPr/>
          <a:lstStyle/>
          <a:p>
            <a:pPr algn="ctr"/>
            <a:endParaRPr kumimoji="1" lang="zh-CN" altLang="zh-CN" sz="1200" b="1">
              <a:latin typeface="微软雅黑" pitchFamily="34" charset="-122"/>
              <a:ea typeface="微软雅黑" pitchFamily="34" charset="-122"/>
            </a:endParaRPr>
          </a:p>
        </p:txBody>
      </p:sp>
      <p:sp>
        <p:nvSpPr>
          <p:cNvPr id="75" name="Text Box 59">
            <a:extLst>
              <a:ext uri="{FF2B5EF4-FFF2-40B4-BE49-F238E27FC236}">
                <a16:creationId xmlns:a16="http://schemas.microsoft.com/office/drawing/2014/main" id="{31DDBF0B-81CB-BA2C-8B97-0E9470C031F3}"/>
              </a:ext>
            </a:extLst>
          </p:cNvPr>
          <p:cNvSpPr txBox="1">
            <a:spLocks noChangeArrowheads="1"/>
          </p:cNvSpPr>
          <p:nvPr/>
        </p:nvSpPr>
        <p:spPr bwMode="auto">
          <a:xfrm>
            <a:off x="6955405" y="3630077"/>
            <a:ext cx="14242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latin typeface="微软雅黑" pitchFamily="34" charset="-122"/>
                <a:ea typeface="微软雅黑" pitchFamily="34" charset="-122"/>
              </a:rPr>
              <a:t>剥去首部后将数据按序放入缓冲区</a:t>
            </a:r>
          </a:p>
        </p:txBody>
      </p:sp>
      <p:sp>
        <p:nvSpPr>
          <p:cNvPr id="77" name="文本框 76">
            <a:extLst>
              <a:ext uri="{FF2B5EF4-FFF2-40B4-BE49-F238E27FC236}">
                <a16:creationId xmlns:a16="http://schemas.microsoft.com/office/drawing/2014/main" id="{5FACE897-BBFE-4FF1-E152-9C42E2CE47F4}"/>
              </a:ext>
            </a:extLst>
          </p:cNvPr>
          <p:cNvSpPr txBox="1"/>
          <p:nvPr/>
        </p:nvSpPr>
        <p:spPr>
          <a:xfrm>
            <a:off x="1337535" y="4420627"/>
            <a:ext cx="6986082" cy="307777"/>
          </a:xfrm>
          <a:prstGeom prst="rect">
            <a:avLst/>
          </a:prstGeom>
          <a:noFill/>
        </p:spPr>
        <p:txBody>
          <a:bodyPr wrap="square">
            <a:spAutoFit/>
          </a:bodyPr>
          <a:lstStyle/>
          <a:p>
            <a:pPr algn="ctr"/>
            <a:r>
              <a:rPr lang="en-US" altLang="zh-CN" sz="1400" b="1" dirty="0">
                <a:latin typeface="微软雅黑" panose="020B0503020204020204" pitchFamily="34" charset="-122"/>
                <a:ea typeface="微软雅黑" panose="020B0503020204020204" pitchFamily="34" charset="-122"/>
              </a:rPr>
              <a:t>TCP</a:t>
            </a:r>
            <a:r>
              <a:rPr lang="zh-CN" altLang="en-US" sz="1400" b="1" dirty="0">
                <a:latin typeface="微软雅黑" panose="020B0503020204020204" pitchFamily="34" charset="-122"/>
                <a:ea typeface="微软雅黑" panose="020B0503020204020204" pitchFamily="34" charset="-122"/>
              </a:rPr>
              <a:t>要根据网络的具体情况来决定一个报文段应包含多少个字节，以及什么时候发送。</a:t>
            </a:r>
          </a:p>
        </p:txBody>
      </p:sp>
    </p:spTree>
    <p:extLst>
      <p:ext uri="{BB962C8B-B14F-4D97-AF65-F5344CB8AC3E}">
        <p14:creationId xmlns:p14="http://schemas.microsoft.com/office/powerpoint/2010/main" val="1390207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70"/>
                                        </p:tgtEl>
                                        <p:attrNameLst>
                                          <p:attrName>style.visibility</p:attrName>
                                        </p:attrNameLst>
                                      </p:cBhvr>
                                      <p:tavLst>
                                        <p:tav tm="0">
                                          <p:val>
                                            <p:strVal val="hidden"/>
                                          </p:val>
                                        </p:tav>
                                        <p:tav tm="50000">
                                          <p:val>
                                            <p:strVal val="visible"/>
                                          </p:val>
                                        </p:tav>
                                      </p:tavLst>
                                    </p:anim>
                                  </p:childTnLst>
                                  <p:subTnLst>
                                    <p:set>
                                      <p:cBhvr override="childStyle">
                                        <p:cTn dur="1" fill="hold" display="0" masterRel="nextClick" afterEffect="1"/>
                                        <p:tgtEl>
                                          <p:spTgt spid="70"/>
                                        </p:tgtEl>
                                        <p:attrNameLst>
                                          <p:attrName>style.visibility</p:attrName>
                                        </p:attrNameLst>
                                      </p:cBhvr>
                                      <p:to>
                                        <p:strVal val="hidden"/>
                                      </p:to>
                                    </p:set>
                                  </p:subTnLst>
                                </p:cTn>
                              </p:par>
                            </p:childTnLst>
                          </p:cTn>
                        </p:par>
                        <p:par>
                          <p:cTn id="7" fill="hold">
                            <p:stCondLst>
                              <p:cond delay="3000"/>
                            </p:stCondLst>
                            <p:childTnLst>
                              <p:par>
                                <p:cTn id="8" presetID="22" presetClass="entr" presetSubtype="8" fill="hold" grpId="0" nodeType="afterEffect">
                                  <p:stCondLst>
                                    <p:cond delay="0"/>
                                  </p:stCondLst>
                                  <p:childTnLst>
                                    <p:set>
                                      <p:cBhvr>
                                        <p:cTn id="9" dur="1" fill="hold">
                                          <p:stCondLst>
                                            <p:cond delay="0"/>
                                          </p:stCondLst>
                                        </p:cTn>
                                        <p:tgtEl>
                                          <p:spTgt spid="72"/>
                                        </p:tgtEl>
                                        <p:attrNameLst>
                                          <p:attrName>style.visibility</p:attrName>
                                        </p:attrNameLst>
                                      </p:cBhvr>
                                      <p:to>
                                        <p:strVal val="visible"/>
                                      </p:to>
                                    </p:set>
                                    <p:animEffect transition="in" filter="wipe(left)">
                                      <p:cBhvr>
                                        <p:cTn id="10" dur="500"/>
                                        <p:tgtEl>
                                          <p:spTgt spid="72"/>
                                        </p:tgtEl>
                                      </p:cBhvr>
                                    </p:animEffect>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3000" fill="hold" grpId="1" nodeType="clickEffect">
                                  <p:stCondLst>
                                    <p:cond delay="0"/>
                                  </p:stCondLst>
                                  <p:childTnLst>
                                    <p:anim calcmode="discrete" valueType="str">
                                      <p:cBhvr>
                                        <p:cTn id="14" dur="1000" fill="hold"/>
                                        <p:tgtEl>
                                          <p:spTgt spid="72"/>
                                        </p:tgtEl>
                                        <p:attrNameLst>
                                          <p:attrName>style.visibility</p:attrName>
                                        </p:attrNameLst>
                                      </p:cBhvr>
                                      <p:tavLst>
                                        <p:tav tm="0">
                                          <p:val>
                                            <p:strVal val="hidden"/>
                                          </p:val>
                                        </p:tav>
                                        <p:tav tm="50000">
                                          <p:val>
                                            <p:strVal val="visible"/>
                                          </p:val>
                                        </p:tav>
                                      </p:tavLst>
                                    </p:anim>
                                  </p:childTnLst>
                                  <p:subTnLst>
                                    <p:set>
                                      <p:cBhvr override="childStyle">
                                        <p:cTn dur="1" fill="hold" display="0" masterRel="nextClick" afterEffect="1"/>
                                        <p:tgtEl>
                                          <p:spTgt spid="72"/>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35" presetClass="emph" presetSubtype="0" repeatCount="3000" fill="hold" grpId="0" nodeType="clickEffect">
                                  <p:stCondLst>
                                    <p:cond delay="0"/>
                                  </p:stCondLst>
                                  <p:childTnLst>
                                    <p:anim calcmode="discrete" valueType="str">
                                      <p:cBhvr>
                                        <p:cTn id="18" dur="1000" fill="hold"/>
                                        <p:tgtEl>
                                          <p:spTgt spid="61"/>
                                        </p:tgtEl>
                                        <p:attrNameLst>
                                          <p:attrName>style.visibility</p:attrName>
                                        </p:attrNameLst>
                                      </p:cBhvr>
                                      <p:tavLst>
                                        <p:tav tm="0">
                                          <p:val>
                                            <p:strVal val="hidden"/>
                                          </p:val>
                                        </p:tav>
                                        <p:tav tm="50000">
                                          <p:val>
                                            <p:strVal val="visible"/>
                                          </p:val>
                                        </p:tav>
                                      </p:tavLst>
                                    </p:anim>
                                  </p:childTnLst>
                                  <p:subTnLst>
                                    <p:set>
                                      <p:cBhvr override="childStyle">
                                        <p:cTn dur="1" fill="hold" display="0" masterRel="nextClick" afterEffect="1"/>
                                        <p:tgtEl>
                                          <p:spTgt spid="61"/>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35" presetClass="emph" presetSubtype="0" repeatCount="3000" fill="hold" grpId="0" nodeType="clickEffect">
                                  <p:stCondLst>
                                    <p:cond delay="0"/>
                                  </p:stCondLst>
                                  <p:childTnLst>
                                    <p:anim calcmode="discrete" valueType="str">
                                      <p:cBhvr>
                                        <p:cTn id="22" dur="1000" fill="hold"/>
                                        <p:tgtEl>
                                          <p:spTgt spid="62"/>
                                        </p:tgtEl>
                                        <p:attrNameLst>
                                          <p:attrName>style.visibility</p:attrName>
                                        </p:attrNameLst>
                                      </p:cBhvr>
                                      <p:tavLst>
                                        <p:tav tm="0">
                                          <p:val>
                                            <p:strVal val="hidden"/>
                                          </p:val>
                                        </p:tav>
                                        <p:tav tm="50000">
                                          <p:val>
                                            <p:strVal val="visible"/>
                                          </p:val>
                                        </p:tav>
                                      </p:tavLst>
                                    </p:anim>
                                  </p:childTnLst>
                                  <p:subTnLst>
                                    <p:set>
                                      <p:cBhvr override="childStyle">
                                        <p:cTn dur="1" fill="hold" display="0" masterRel="nextClick" afterEffect="1"/>
                                        <p:tgtEl>
                                          <p:spTgt spid="62"/>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35" presetClass="emph" presetSubtype="0" repeatCount="3000" fill="hold" grpId="0" nodeType="clickEffect">
                                  <p:stCondLst>
                                    <p:cond delay="0"/>
                                  </p:stCondLst>
                                  <p:childTnLst>
                                    <p:anim calcmode="discrete" valueType="str">
                                      <p:cBhvr>
                                        <p:cTn id="26" dur="1000" fill="hold"/>
                                        <p:tgtEl>
                                          <p:spTgt spid="63"/>
                                        </p:tgtEl>
                                        <p:attrNameLst>
                                          <p:attrName>style.visibility</p:attrName>
                                        </p:attrNameLst>
                                      </p:cBhvr>
                                      <p:tavLst>
                                        <p:tav tm="0">
                                          <p:val>
                                            <p:strVal val="hidden"/>
                                          </p:val>
                                        </p:tav>
                                        <p:tav tm="50000">
                                          <p:val>
                                            <p:strVal val="visible"/>
                                          </p:val>
                                        </p:tav>
                                      </p:tavLst>
                                    </p:anim>
                                  </p:childTnLst>
                                  <p:subTnLst>
                                    <p:set>
                                      <p:cBhvr override="childStyle">
                                        <p:cTn dur="1" fill="hold" display="0" masterRel="nextClick" afterEffect="1"/>
                                        <p:tgtEl>
                                          <p:spTgt spid="63"/>
                                        </p:tgtEl>
                                        <p:attrNameLst>
                                          <p:attrName>style.visibility</p:attrName>
                                        </p:attrNameLst>
                                      </p:cBhvr>
                                      <p:to>
                                        <p:strVal val="hidden"/>
                                      </p:to>
                                    </p:set>
                                  </p:subTnLst>
                                </p:cTn>
                              </p:par>
                              <p:par>
                                <p:cTn id="27" presetID="35" presetClass="emph" presetSubtype="0" repeatCount="3000" fill="hold" grpId="0" nodeType="withEffect">
                                  <p:stCondLst>
                                    <p:cond delay="0"/>
                                  </p:stCondLst>
                                  <p:childTnLst>
                                    <p:anim calcmode="discrete" valueType="str">
                                      <p:cBhvr>
                                        <p:cTn id="28" dur="1000" fill="hold"/>
                                        <p:tgtEl>
                                          <p:spTgt spid="59"/>
                                        </p:tgtEl>
                                        <p:attrNameLst>
                                          <p:attrName>style.visibility</p:attrName>
                                        </p:attrNameLst>
                                      </p:cBhvr>
                                      <p:tavLst>
                                        <p:tav tm="0">
                                          <p:val>
                                            <p:strVal val="hidden"/>
                                          </p:val>
                                        </p:tav>
                                        <p:tav tm="50000">
                                          <p:val>
                                            <p:strVal val="visible"/>
                                          </p:val>
                                        </p:tav>
                                      </p:tavLst>
                                    </p:anim>
                                  </p:childTnLst>
                                  <p:subTnLst>
                                    <p:set>
                                      <p:cBhvr override="childStyle">
                                        <p:cTn dur="1" fill="hold" display="0" masterRel="nextClick" afterEffect="1"/>
                                        <p:tgtEl>
                                          <p:spTgt spid="59"/>
                                        </p:tgtEl>
                                        <p:attrNameLst>
                                          <p:attrName>style.visibility</p:attrName>
                                        </p:attrNameLst>
                                      </p:cBhvr>
                                      <p:to>
                                        <p:strVal val="hidden"/>
                                      </p:to>
                                    </p:set>
                                  </p:subTnLst>
                                </p:cTn>
                              </p:par>
                            </p:childTnLst>
                          </p:cTn>
                        </p:par>
                      </p:childTnLst>
                    </p:cTn>
                  </p:par>
                  <p:par>
                    <p:cTn id="29" fill="hold">
                      <p:stCondLst>
                        <p:cond delay="indefinite"/>
                      </p:stCondLst>
                      <p:childTnLst>
                        <p:par>
                          <p:cTn id="30" fill="hold">
                            <p:stCondLst>
                              <p:cond delay="0"/>
                            </p:stCondLst>
                            <p:childTnLst>
                              <p:par>
                                <p:cTn id="31" presetID="35" presetClass="emph" presetSubtype="0" repeatCount="3000" fill="hold" grpId="0" nodeType="clickEffect">
                                  <p:stCondLst>
                                    <p:cond delay="0"/>
                                  </p:stCondLst>
                                  <p:childTnLst>
                                    <p:anim calcmode="discrete" valueType="str">
                                      <p:cBhvr>
                                        <p:cTn id="32" dur="1000" fill="hold"/>
                                        <p:tgtEl>
                                          <p:spTgt spid="26"/>
                                        </p:tgtEl>
                                        <p:attrNameLst>
                                          <p:attrName>style.visibility</p:attrName>
                                        </p:attrNameLst>
                                      </p:cBhvr>
                                      <p:tavLst>
                                        <p:tav tm="0">
                                          <p:val>
                                            <p:strVal val="hidden"/>
                                          </p:val>
                                        </p:tav>
                                        <p:tav tm="50000">
                                          <p:val>
                                            <p:strVal val="visible"/>
                                          </p:val>
                                        </p:tav>
                                      </p:tavLst>
                                    </p:anim>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35" presetClass="emph" presetSubtype="0" repeatCount="3000" fill="hold" grpId="0" nodeType="clickEffect">
                                  <p:stCondLst>
                                    <p:cond delay="0"/>
                                  </p:stCondLst>
                                  <p:childTnLst>
                                    <p:anim calcmode="discrete" valueType="str">
                                      <p:cBhvr>
                                        <p:cTn id="36" dur="1000" fill="hold"/>
                                        <p:tgtEl>
                                          <p:spTgt spid="58"/>
                                        </p:tgtEl>
                                        <p:attrNameLst>
                                          <p:attrName>style.visibility</p:attrName>
                                        </p:attrNameLst>
                                      </p:cBhvr>
                                      <p:tavLst>
                                        <p:tav tm="0">
                                          <p:val>
                                            <p:strVal val="hidden"/>
                                          </p:val>
                                        </p:tav>
                                        <p:tav tm="50000">
                                          <p:val>
                                            <p:strVal val="visible"/>
                                          </p:val>
                                        </p:tav>
                                      </p:tavLst>
                                    </p:anim>
                                  </p:childTnLst>
                                  <p:subTnLst>
                                    <p:set>
                                      <p:cBhvr override="childStyle">
                                        <p:cTn dur="1" fill="hold" display="0" masterRel="nextClick" afterEffect="1"/>
                                        <p:tgtEl>
                                          <p:spTgt spid="58"/>
                                        </p:tgtEl>
                                        <p:attrNameLst>
                                          <p:attrName>style.visibility</p:attrName>
                                        </p:attrNameLst>
                                      </p:cBhvr>
                                      <p:to>
                                        <p:strVal val="hidden"/>
                                      </p:to>
                                    </p:set>
                                  </p:sub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77"/>
                                        </p:tgtEl>
                                        <p:attrNameLst>
                                          <p:attrName>style.visibility</p:attrName>
                                        </p:attrNameLst>
                                      </p:cBhvr>
                                      <p:to>
                                        <p:strVal val="visible"/>
                                      </p:to>
                                    </p:set>
                                    <p:animEffect transition="in" filter="fade">
                                      <p:cBhvr>
                                        <p:cTn id="41" dur="500"/>
                                        <p:tgtEl>
                                          <p:spTgt spid="77"/>
                                        </p:tgtEl>
                                      </p:cBhvr>
                                    </p:animEffect>
                                  </p:childTnLst>
                                </p:cTn>
                              </p:par>
                            </p:childTnLst>
                          </p:cTn>
                        </p:par>
                      </p:childTnLst>
                    </p:cTn>
                  </p:par>
                  <p:par>
                    <p:cTn id="42" fill="hold">
                      <p:stCondLst>
                        <p:cond delay="indefinite"/>
                      </p:stCondLst>
                      <p:childTnLst>
                        <p:par>
                          <p:cTn id="43" fill="hold">
                            <p:stCondLst>
                              <p:cond delay="0"/>
                            </p:stCondLst>
                            <p:childTnLst>
                              <p:par>
                                <p:cTn id="44" presetID="35" presetClass="emph" presetSubtype="0" repeatCount="3000" fill="hold" grpId="0" nodeType="clickEffect">
                                  <p:stCondLst>
                                    <p:cond delay="0"/>
                                  </p:stCondLst>
                                  <p:childTnLst>
                                    <p:anim calcmode="discrete" valueType="str">
                                      <p:cBhvr>
                                        <p:cTn id="45" dur="1000" fill="hold"/>
                                        <p:tgtEl>
                                          <p:spTgt spid="75"/>
                                        </p:tgtEl>
                                        <p:attrNameLst>
                                          <p:attrName>style.visibility</p:attrName>
                                        </p:attrNameLst>
                                      </p:cBhvr>
                                      <p:tavLst>
                                        <p:tav tm="0">
                                          <p:val>
                                            <p:strVal val="hidden"/>
                                          </p:val>
                                        </p:tav>
                                        <p:tav tm="50000">
                                          <p:val>
                                            <p:strVal val="visible"/>
                                          </p:val>
                                        </p:tav>
                                      </p:tavLst>
                                    </p:anim>
                                  </p:childTnLst>
                                  <p:subTnLst>
                                    <p:set>
                                      <p:cBhvr override="childStyle">
                                        <p:cTn dur="1" fill="hold" display="0" masterRel="nextClick" afterEffect="1"/>
                                        <p:tgtEl>
                                          <p:spTgt spid="75"/>
                                        </p:tgtEl>
                                        <p:attrNameLst>
                                          <p:attrName>style.visibility</p:attrName>
                                        </p:attrNameLst>
                                      </p:cBhvr>
                                      <p:to>
                                        <p:strVal val="hidden"/>
                                      </p:to>
                                    </p:set>
                                  </p:subTnLst>
                                </p:cTn>
                              </p:par>
                            </p:childTnLst>
                          </p:cTn>
                        </p:par>
                      </p:childTnLst>
                    </p:cTn>
                  </p:par>
                  <p:par>
                    <p:cTn id="46" fill="hold">
                      <p:stCondLst>
                        <p:cond delay="indefinite"/>
                      </p:stCondLst>
                      <p:childTnLst>
                        <p:par>
                          <p:cTn id="47" fill="hold">
                            <p:stCondLst>
                              <p:cond delay="0"/>
                            </p:stCondLst>
                            <p:childTnLst>
                              <p:par>
                                <p:cTn id="48" presetID="35" presetClass="emph" presetSubtype="0" repeatCount="3000" fill="hold" grpId="0" nodeType="clickEffect">
                                  <p:stCondLst>
                                    <p:cond delay="0"/>
                                  </p:stCondLst>
                                  <p:childTnLst>
                                    <p:anim calcmode="discrete" valueType="str">
                                      <p:cBhvr>
                                        <p:cTn id="49" dur="1000" fill="hold"/>
                                        <p:tgtEl>
                                          <p:spTgt spid="28"/>
                                        </p:tgtEl>
                                        <p:attrNameLst>
                                          <p:attrName>style.visibility</p:attrName>
                                        </p:attrNameLst>
                                      </p:cBhvr>
                                      <p:tavLst>
                                        <p:tav tm="0">
                                          <p:val>
                                            <p:strVal val="hidden"/>
                                          </p:val>
                                        </p:tav>
                                        <p:tav tm="50000">
                                          <p:val>
                                            <p:strVal val="visible"/>
                                          </p:val>
                                        </p:tav>
                                      </p:tavLst>
                                    </p:anim>
                                  </p:childTnLst>
                                  <p:subTnLst>
                                    <p:set>
                                      <p:cBhvr override="childStyle">
                                        <p:cTn dur="1" fill="hold" display="0" masterRel="nextClick" afterEffect="1"/>
                                        <p:tgtEl>
                                          <p:spTgt spid="28"/>
                                        </p:tgtEl>
                                        <p:attrNameLst>
                                          <p:attrName>style.visibility</p:attrName>
                                        </p:attrNameLst>
                                      </p:cBhvr>
                                      <p:to>
                                        <p:strVal val="hidden"/>
                                      </p:to>
                                    </p:set>
                                  </p:subTnLst>
                                </p:cTn>
                              </p:par>
                            </p:childTnLst>
                          </p:cTn>
                        </p:par>
                      </p:childTnLst>
                    </p:cTn>
                  </p:par>
                  <p:par>
                    <p:cTn id="50" fill="hold">
                      <p:stCondLst>
                        <p:cond delay="indefinite"/>
                      </p:stCondLst>
                      <p:childTnLst>
                        <p:par>
                          <p:cTn id="51" fill="hold">
                            <p:stCondLst>
                              <p:cond delay="0"/>
                            </p:stCondLst>
                            <p:childTnLst>
                              <p:par>
                                <p:cTn id="52" presetID="35" presetClass="emph" presetSubtype="0" repeatCount="3000" fill="hold" grpId="0" nodeType="clickEffect">
                                  <p:stCondLst>
                                    <p:cond delay="0"/>
                                  </p:stCondLst>
                                  <p:childTnLst>
                                    <p:anim calcmode="discrete" valueType="str">
                                      <p:cBhvr>
                                        <p:cTn id="53" dur="1000" fill="hold"/>
                                        <p:tgtEl>
                                          <p:spTgt spid="64"/>
                                        </p:tgtEl>
                                        <p:attrNameLst>
                                          <p:attrName>style.visibility</p:attrName>
                                        </p:attrNameLst>
                                      </p:cBhvr>
                                      <p:tavLst>
                                        <p:tav tm="0">
                                          <p:val>
                                            <p:strVal val="hidden"/>
                                          </p:val>
                                        </p:tav>
                                        <p:tav tm="50000">
                                          <p:val>
                                            <p:strVal val="visible"/>
                                          </p:val>
                                        </p:tav>
                                      </p:tavLst>
                                    </p:anim>
                                  </p:childTnLst>
                                  <p:subTnLst>
                                    <p:set>
                                      <p:cBhvr override="childStyle">
                                        <p:cTn dur="1" fill="hold" display="0" masterRel="nextClick" afterEffect="1"/>
                                        <p:tgtEl>
                                          <p:spTgt spid="64"/>
                                        </p:tgtEl>
                                        <p:attrNameLst>
                                          <p:attrName>style.visibility</p:attrName>
                                        </p:attrNameLst>
                                      </p:cBhvr>
                                      <p:to>
                                        <p:strVal val="hidden"/>
                                      </p:to>
                                    </p:set>
                                  </p:subTnLst>
                                </p:cTn>
                              </p:par>
                              <p:par>
                                <p:cTn id="54" presetID="35" presetClass="emph" presetSubtype="0" repeatCount="3000" fill="hold" grpId="0" nodeType="withEffect">
                                  <p:stCondLst>
                                    <p:cond delay="0"/>
                                  </p:stCondLst>
                                  <p:childTnLst>
                                    <p:anim calcmode="discrete" valueType="str">
                                      <p:cBhvr>
                                        <p:cTn id="55" dur="1000" fill="hold"/>
                                        <p:tgtEl>
                                          <p:spTgt spid="60"/>
                                        </p:tgtEl>
                                        <p:attrNameLst>
                                          <p:attrName>style.visibility</p:attrName>
                                        </p:attrNameLst>
                                      </p:cBhvr>
                                      <p:tavLst>
                                        <p:tav tm="0">
                                          <p:val>
                                            <p:strVal val="hidden"/>
                                          </p:val>
                                        </p:tav>
                                        <p:tav tm="50000">
                                          <p:val>
                                            <p:strVal val="visible"/>
                                          </p:val>
                                        </p:tav>
                                      </p:tavLst>
                                    </p:anim>
                                  </p:childTnLst>
                                  <p:subTnLst>
                                    <p:set>
                                      <p:cBhvr override="childStyle">
                                        <p:cTn dur="1" fill="hold" display="0" masterRel="nextClick" afterEffect="1"/>
                                        <p:tgtEl>
                                          <p:spTgt spid="6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8" grpId="0"/>
      <p:bldP spid="58" grpId="0"/>
      <p:bldP spid="59" grpId="0" animBg="1"/>
      <p:bldP spid="60" grpId="0" animBg="1"/>
      <p:bldP spid="61" grpId="0"/>
      <p:bldP spid="62" grpId="0"/>
      <p:bldP spid="63" grpId="0"/>
      <p:bldP spid="64" grpId="0"/>
      <p:bldP spid="70" grpId="0"/>
      <p:bldP spid="72" grpId="0" animBg="1"/>
      <p:bldP spid="72" grpId="1" animBg="1"/>
      <p:bldP spid="75" grpId="0"/>
      <p:bldP spid="7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8"/>
          <p:cNvSpPr>
            <a:spLocks noChangeArrowheads="1"/>
          </p:cNvSpPr>
          <p:nvPr/>
        </p:nvSpPr>
        <p:spPr bwMode="auto">
          <a:xfrm>
            <a:off x="556963" y="981295"/>
            <a:ext cx="8048776"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solidFill>
                  <a:srgbClr val="C00000"/>
                </a:solidFill>
                <a:latin typeface="微软雅黑" pitchFamily="34" charset="-122"/>
                <a:ea typeface="微软雅黑" pitchFamily="34" charset="-122"/>
              </a:rPr>
              <a:t>不保证</a:t>
            </a:r>
            <a:r>
              <a:rPr lang="zh-CN" altLang="en-US" sz="2000" b="1" dirty="0">
                <a:latin typeface="微软雅黑" pitchFamily="34" charset="-122"/>
                <a:ea typeface="微软雅黑" pitchFamily="34" charset="-122"/>
              </a:rPr>
              <a:t>接收方应用程序所收到的数据块和发送方应用程序所发出的数据块具有对应大小的关系。</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但接收方应用程序</a:t>
            </a:r>
            <a:r>
              <a:rPr lang="zh-CN" altLang="en-US" sz="2000" b="1" dirty="0">
                <a:solidFill>
                  <a:srgbClr val="C00000"/>
                </a:solidFill>
                <a:latin typeface="微软雅黑" pitchFamily="34" charset="-122"/>
                <a:ea typeface="微软雅黑" pitchFamily="34" charset="-122"/>
              </a:rPr>
              <a:t>收到的字节流</a:t>
            </a:r>
            <a:r>
              <a:rPr lang="zh-CN" altLang="en-US" sz="2000" b="1" dirty="0">
                <a:latin typeface="微软雅黑" pitchFamily="34" charset="-122"/>
                <a:ea typeface="微软雅黑" pitchFamily="34" charset="-122"/>
              </a:rPr>
              <a:t>必须和发送方应用程序</a:t>
            </a:r>
            <a:r>
              <a:rPr lang="zh-CN" altLang="en-US" sz="2000" b="1" dirty="0">
                <a:solidFill>
                  <a:srgbClr val="C00000"/>
                </a:solidFill>
                <a:latin typeface="微软雅黑" pitchFamily="34" charset="-122"/>
                <a:ea typeface="微软雅黑" pitchFamily="34" charset="-122"/>
              </a:rPr>
              <a:t>发出的字节流</a:t>
            </a:r>
            <a:r>
              <a:rPr lang="zh-CN" altLang="en-US" sz="2000" b="1" dirty="0">
                <a:solidFill>
                  <a:srgbClr val="0000FF"/>
                </a:solidFill>
                <a:latin typeface="微软雅黑" pitchFamily="34" charset="-122"/>
                <a:ea typeface="微软雅黑" pitchFamily="34" charset="-122"/>
              </a:rPr>
              <a:t>完全一样</a:t>
            </a:r>
            <a:r>
              <a:rPr lang="zh-CN" altLang="en-US" sz="2000" b="1" dirty="0">
                <a:latin typeface="微软雅黑" pitchFamily="34" charset="-122"/>
                <a:ea typeface="微软雅黑" pitchFamily="34" charset="-122"/>
              </a:rPr>
              <a:t>。</a:t>
            </a:r>
          </a:p>
        </p:txBody>
      </p:sp>
      <p:sp>
        <p:nvSpPr>
          <p:cNvPr id="5" name="AutoShape 5"/>
          <p:cNvSpPr>
            <a:spLocks noChangeArrowheads="1"/>
          </p:cNvSpPr>
          <p:nvPr/>
        </p:nvSpPr>
        <p:spPr bwMode="auto">
          <a:xfrm>
            <a:off x="545144" y="62820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417238" y="605119"/>
            <a:ext cx="22922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面向流的概念</a:t>
            </a:r>
          </a:p>
        </p:txBody>
      </p:sp>
    </p:spTree>
    <p:extLst>
      <p:ext uri="{BB962C8B-B14F-4D97-AF65-F5344CB8AC3E}">
        <p14:creationId xmlns:p14="http://schemas.microsoft.com/office/powerpoint/2010/main" val="4203056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30874"/>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3214516" y="588603"/>
            <a:ext cx="271497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5.3.2  TCP </a:t>
            </a:r>
            <a:r>
              <a:rPr lang="zh-CN" altLang="en-US" sz="2400" b="1" dirty="0">
                <a:solidFill>
                  <a:schemeClr val="bg1"/>
                </a:solidFill>
                <a:latin typeface="微软雅黑" pitchFamily="34" charset="-122"/>
                <a:ea typeface="微软雅黑" pitchFamily="34" charset="-122"/>
              </a:rPr>
              <a:t>的连接</a:t>
            </a:r>
          </a:p>
        </p:txBody>
      </p:sp>
      <p:sp>
        <p:nvSpPr>
          <p:cNvPr id="4" name="Rectangle 8"/>
          <p:cNvSpPr>
            <a:spLocks noChangeArrowheads="1"/>
          </p:cNvSpPr>
          <p:nvPr/>
        </p:nvSpPr>
        <p:spPr bwMode="auto">
          <a:xfrm>
            <a:off x="545143" y="1043899"/>
            <a:ext cx="8053711" cy="470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把连接作为</a:t>
            </a:r>
            <a:r>
              <a:rPr lang="zh-CN" altLang="en-US" sz="2000" b="1" dirty="0">
                <a:solidFill>
                  <a:srgbClr val="0000FF"/>
                </a:solidFill>
                <a:latin typeface="微软雅黑" pitchFamily="34" charset="-122"/>
                <a:ea typeface="微软雅黑" pitchFamily="34" charset="-122"/>
              </a:rPr>
              <a:t>最基本的抽象</a:t>
            </a:r>
            <a:r>
              <a:rPr lang="zh-CN" altLang="en-US" sz="2000" b="1" dirty="0">
                <a:latin typeface="微软雅黑" pitchFamily="34" charset="-122"/>
                <a:ea typeface="微软雅黑" pitchFamily="34" charset="-122"/>
              </a:rPr>
              <a:t>。</a:t>
            </a:r>
          </a:p>
        </p:txBody>
      </p:sp>
      <p:sp>
        <p:nvSpPr>
          <p:cNvPr id="6" name="圆角矩形 5"/>
          <p:cNvSpPr/>
          <p:nvPr/>
        </p:nvSpPr>
        <p:spPr>
          <a:xfrm>
            <a:off x="545144" y="1538973"/>
            <a:ext cx="8053710" cy="2826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3423" y="2530517"/>
            <a:ext cx="2578172" cy="861532"/>
          </a:xfrm>
          <a:prstGeom prst="rect">
            <a:avLst/>
          </a:prstGeom>
          <a:solidFill>
            <a:srgbClr val="00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 name="Text Box 25"/>
          <p:cNvSpPr txBox="1">
            <a:spLocks noChangeArrowheads="1"/>
          </p:cNvSpPr>
          <p:nvPr/>
        </p:nvSpPr>
        <p:spPr bwMode="auto">
          <a:xfrm>
            <a:off x="3247857" y="1657032"/>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dirty="0">
                <a:solidFill>
                  <a:srgbClr val="00CC66"/>
                </a:solidFill>
                <a:latin typeface="微软雅黑" pitchFamily="34" charset="-122"/>
                <a:ea typeface="微软雅黑" pitchFamily="34" charset="-122"/>
                <a:sym typeface="Wingdings" pitchFamily="2" charset="2"/>
              </a:rPr>
              <a:t></a:t>
            </a:r>
            <a:endParaRPr lang="en-US" altLang="zh-CN" sz="6000" dirty="0">
              <a:solidFill>
                <a:srgbClr val="00CC66"/>
              </a:solidFill>
              <a:latin typeface="微软雅黑" pitchFamily="34" charset="-122"/>
              <a:ea typeface="微软雅黑" pitchFamily="34" charset="-122"/>
            </a:endParaRPr>
          </a:p>
        </p:txBody>
      </p:sp>
      <p:sp>
        <p:nvSpPr>
          <p:cNvPr id="9" name="Text Box 26"/>
          <p:cNvSpPr txBox="1">
            <a:spLocks noChangeArrowheads="1"/>
          </p:cNvSpPr>
          <p:nvPr/>
        </p:nvSpPr>
        <p:spPr bwMode="auto">
          <a:xfrm>
            <a:off x="2343759" y="1657032"/>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dirty="0">
                <a:solidFill>
                  <a:srgbClr val="CC6600"/>
                </a:solidFill>
                <a:latin typeface="微软雅黑" pitchFamily="34" charset="-122"/>
                <a:ea typeface="微软雅黑" pitchFamily="34" charset="-122"/>
                <a:sym typeface="Wingdings" pitchFamily="2" charset="2"/>
              </a:rPr>
              <a:t></a:t>
            </a:r>
            <a:endParaRPr lang="en-US" altLang="zh-CN" sz="6000" dirty="0">
              <a:solidFill>
                <a:srgbClr val="CC6600"/>
              </a:solidFill>
              <a:latin typeface="微软雅黑" pitchFamily="34" charset="-122"/>
              <a:ea typeface="微软雅黑" pitchFamily="34" charset="-122"/>
            </a:endParaRPr>
          </a:p>
        </p:txBody>
      </p:sp>
      <p:grpSp>
        <p:nvGrpSpPr>
          <p:cNvPr id="10" name="组合 9"/>
          <p:cNvGrpSpPr/>
          <p:nvPr/>
        </p:nvGrpSpPr>
        <p:grpSpPr>
          <a:xfrm>
            <a:off x="1496229" y="2454208"/>
            <a:ext cx="513414" cy="196831"/>
            <a:chOff x="1452836" y="2079261"/>
            <a:chExt cx="586980" cy="241909"/>
          </a:xfrm>
        </p:grpSpPr>
        <p:sp>
          <p:nvSpPr>
            <p:cNvPr id="11" name="矩形 10"/>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12" name="直接连接符 11"/>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Text Box 20"/>
          <p:cNvSpPr txBox="1">
            <a:spLocks noChangeArrowheads="1"/>
          </p:cNvSpPr>
          <p:nvPr/>
        </p:nvSpPr>
        <p:spPr bwMode="auto">
          <a:xfrm>
            <a:off x="1404184" y="1733996"/>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dirty="0">
                <a:solidFill>
                  <a:srgbClr val="0000FF"/>
                </a:solidFill>
                <a:latin typeface="微软雅黑" pitchFamily="34" charset="-122"/>
                <a:ea typeface="微软雅黑" pitchFamily="34" charset="-122"/>
                <a:sym typeface="Wingdings" pitchFamily="2" charset="2"/>
              </a:rPr>
              <a:t></a:t>
            </a:r>
            <a:endParaRPr lang="en-US" altLang="zh-CN" sz="6000" dirty="0">
              <a:solidFill>
                <a:srgbClr val="0000FF"/>
              </a:solidFill>
              <a:latin typeface="微软雅黑" pitchFamily="34" charset="-122"/>
              <a:ea typeface="微软雅黑" pitchFamily="34" charset="-122"/>
            </a:endParaRPr>
          </a:p>
        </p:txBody>
      </p:sp>
      <p:grpSp>
        <p:nvGrpSpPr>
          <p:cNvPr id="15" name="组合 14"/>
          <p:cNvGrpSpPr/>
          <p:nvPr/>
        </p:nvGrpSpPr>
        <p:grpSpPr>
          <a:xfrm>
            <a:off x="2427373" y="2394347"/>
            <a:ext cx="513414" cy="310492"/>
            <a:chOff x="1452836" y="2079261"/>
            <a:chExt cx="586980" cy="241909"/>
          </a:xfrm>
        </p:grpSpPr>
        <p:sp>
          <p:nvSpPr>
            <p:cNvPr id="16" name="矩形 15"/>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17" name="直接连接符 16"/>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3337892" y="2394347"/>
            <a:ext cx="513414" cy="310492"/>
            <a:chOff x="1452836" y="2079261"/>
            <a:chExt cx="586980" cy="241909"/>
          </a:xfrm>
        </p:grpSpPr>
        <p:sp>
          <p:nvSpPr>
            <p:cNvPr id="20" name="矩形 19"/>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21" name="直接连接符 20"/>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 name="Rectangle 396"/>
          <p:cNvSpPr>
            <a:spLocks noChangeArrowheads="1"/>
          </p:cNvSpPr>
          <p:nvPr/>
        </p:nvSpPr>
        <p:spPr bwMode="auto">
          <a:xfrm>
            <a:off x="4318768" y="2217022"/>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a:solidFill>
                  <a:srgbClr val="0000FF"/>
                </a:solidFill>
                <a:latin typeface="微软雅黑" pitchFamily="34" charset="-122"/>
                <a:ea typeface="微软雅黑" pitchFamily="34" charset="-122"/>
              </a:rPr>
              <a:t>端口</a:t>
            </a:r>
          </a:p>
        </p:txBody>
      </p:sp>
      <p:sp>
        <p:nvSpPr>
          <p:cNvPr id="24" name="矩形 23"/>
          <p:cNvSpPr/>
          <p:nvPr/>
        </p:nvSpPr>
        <p:spPr>
          <a:xfrm>
            <a:off x="4962260" y="2530517"/>
            <a:ext cx="2578172" cy="861532"/>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nvGrpSpPr>
          <p:cNvPr id="25" name="组合 24"/>
          <p:cNvGrpSpPr/>
          <p:nvPr/>
        </p:nvGrpSpPr>
        <p:grpSpPr>
          <a:xfrm>
            <a:off x="5085067" y="2454208"/>
            <a:ext cx="513414" cy="196831"/>
            <a:chOff x="1452836" y="2079261"/>
            <a:chExt cx="586980" cy="241909"/>
          </a:xfrm>
        </p:grpSpPr>
        <p:sp>
          <p:nvSpPr>
            <p:cNvPr id="26" name="矩形 25"/>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27" name="直接连接符 26"/>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9" name="组合 28"/>
          <p:cNvGrpSpPr/>
          <p:nvPr/>
        </p:nvGrpSpPr>
        <p:grpSpPr>
          <a:xfrm>
            <a:off x="5755115" y="2394348"/>
            <a:ext cx="992462" cy="310829"/>
            <a:chOff x="1452836" y="2079261"/>
            <a:chExt cx="586980" cy="241909"/>
          </a:xfrm>
        </p:grpSpPr>
        <p:sp>
          <p:nvSpPr>
            <p:cNvPr id="30" name="矩形 29"/>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31" name="直接连接符 30"/>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3" name="组合 32"/>
          <p:cNvGrpSpPr/>
          <p:nvPr/>
        </p:nvGrpSpPr>
        <p:grpSpPr>
          <a:xfrm>
            <a:off x="6926729" y="2454208"/>
            <a:ext cx="513414" cy="196831"/>
            <a:chOff x="1452836" y="2079261"/>
            <a:chExt cx="586980" cy="241909"/>
          </a:xfrm>
        </p:grpSpPr>
        <p:sp>
          <p:nvSpPr>
            <p:cNvPr id="34" name="矩形 33"/>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35" name="直接连接符 34"/>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7" name="Line 399"/>
          <p:cNvSpPr>
            <a:spLocks noChangeShapeType="1"/>
          </p:cNvSpPr>
          <p:nvPr/>
        </p:nvSpPr>
        <p:spPr bwMode="auto">
          <a:xfrm>
            <a:off x="4752738" y="2418287"/>
            <a:ext cx="505018" cy="178292"/>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00" b="1">
              <a:latin typeface="微软雅黑" pitchFamily="34" charset="-122"/>
              <a:ea typeface="微软雅黑" pitchFamily="34" charset="-122"/>
            </a:endParaRPr>
          </a:p>
        </p:txBody>
      </p:sp>
      <p:sp>
        <p:nvSpPr>
          <p:cNvPr id="38" name="Text Box 25"/>
          <p:cNvSpPr txBox="1">
            <a:spLocks noChangeArrowheads="1"/>
          </p:cNvSpPr>
          <p:nvPr/>
        </p:nvSpPr>
        <p:spPr bwMode="auto">
          <a:xfrm>
            <a:off x="6826440" y="1733996"/>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dirty="0">
                <a:solidFill>
                  <a:srgbClr val="00CC66"/>
                </a:solidFill>
                <a:latin typeface="微软雅黑" pitchFamily="34" charset="-122"/>
                <a:ea typeface="微软雅黑" pitchFamily="34" charset="-122"/>
                <a:sym typeface="Wingdings" pitchFamily="2" charset="2"/>
              </a:rPr>
              <a:t></a:t>
            </a:r>
            <a:endParaRPr lang="en-US" altLang="zh-CN" sz="6000" dirty="0">
              <a:solidFill>
                <a:srgbClr val="00CC66"/>
              </a:solidFill>
              <a:latin typeface="微软雅黑" pitchFamily="34" charset="-122"/>
              <a:ea typeface="微软雅黑" pitchFamily="34" charset="-122"/>
            </a:endParaRPr>
          </a:p>
        </p:txBody>
      </p:sp>
      <p:sp>
        <p:nvSpPr>
          <p:cNvPr id="39" name="Text Box 26"/>
          <p:cNvSpPr txBox="1">
            <a:spLocks noChangeArrowheads="1"/>
          </p:cNvSpPr>
          <p:nvPr/>
        </p:nvSpPr>
        <p:spPr bwMode="auto">
          <a:xfrm>
            <a:off x="5857992" y="1657032"/>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dirty="0">
                <a:solidFill>
                  <a:srgbClr val="CC6600"/>
                </a:solidFill>
                <a:latin typeface="微软雅黑" pitchFamily="34" charset="-122"/>
                <a:ea typeface="微软雅黑" pitchFamily="34" charset="-122"/>
                <a:sym typeface="Wingdings" pitchFamily="2" charset="2"/>
              </a:rPr>
              <a:t></a:t>
            </a:r>
            <a:endParaRPr lang="en-US" altLang="zh-CN" sz="6000" dirty="0">
              <a:solidFill>
                <a:srgbClr val="CC6600"/>
              </a:solidFill>
              <a:latin typeface="微软雅黑" pitchFamily="34" charset="-122"/>
              <a:ea typeface="微软雅黑" pitchFamily="34" charset="-122"/>
            </a:endParaRPr>
          </a:p>
        </p:txBody>
      </p:sp>
      <p:sp>
        <p:nvSpPr>
          <p:cNvPr id="40" name="Text Box 20"/>
          <p:cNvSpPr txBox="1">
            <a:spLocks noChangeArrowheads="1"/>
          </p:cNvSpPr>
          <p:nvPr/>
        </p:nvSpPr>
        <p:spPr bwMode="auto">
          <a:xfrm>
            <a:off x="4982767" y="1733996"/>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dirty="0">
                <a:solidFill>
                  <a:srgbClr val="0000FF"/>
                </a:solidFill>
                <a:latin typeface="微软雅黑" pitchFamily="34" charset="-122"/>
                <a:ea typeface="微软雅黑" pitchFamily="34" charset="-122"/>
                <a:sym typeface="Wingdings" pitchFamily="2" charset="2"/>
              </a:rPr>
              <a:t></a:t>
            </a:r>
            <a:endParaRPr lang="en-US" altLang="zh-CN" sz="6000" dirty="0">
              <a:solidFill>
                <a:srgbClr val="0000FF"/>
              </a:solidFill>
              <a:latin typeface="微软雅黑" pitchFamily="34" charset="-122"/>
              <a:ea typeface="微软雅黑" pitchFamily="34" charset="-122"/>
            </a:endParaRPr>
          </a:p>
        </p:txBody>
      </p:sp>
      <p:sp>
        <p:nvSpPr>
          <p:cNvPr id="41" name="Rectangle 396"/>
          <p:cNvSpPr>
            <a:spLocks noChangeArrowheads="1"/>
          </p:cNvSpPr>
          <p:nvPr/>
        </p:nvSpPr>
        <p:spPr bwMode="auto">
          <a:xfrm>
            <a:off x="5883179" y="1622054"/>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服务器</a:t>
            </a:r>
          </a:p>
        </p:txBody>
      </p:sp>
      <p:sp>
        <p:nvSpPr>
          <p:cNvPr id="42" name="Rectangle 396"/>
          <p:cNvSpPr>
            <a:spLocks noChangeArrowheads="1"/>
          </p:cNvSpPr>
          <p:nvPr/>
        </p:nvSpPr>
        <p:spPr bwMode="auto">
          <a:xfrm>
            <a:off x="2417248" y="160495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客户</a:t>
            </a:r>
          </a:p>
        </p:txBody>
      </p:sp>
      <p:grpSp>
        <p:nvGrpSpPr>
          <p:cNvPr id="43" name="组合 42"/>
          <p:cNvGrpSpPr/>
          <p:nvPr/>
        </p:nvGrpSpPr>
        <p:grpSpPr>
          <a:xfrm>
            <a:off x="2670445" y="2635526"/>
            <a:ext cx="3884273" cy="404780"/>
            <a:chOff x="2551493" y="2475572"/>
            <a:chExt cx="4440845" cy="497481"/>
          </a:xfrm>
        </p:grpSpPr>
        <p:cxnSp>
          <p:nvCxnSpPr>
            <p:cNvPr id="44" name="直接连接符 43"/>
            <p:cNvCxnSpPr/>
            <p:nvPr/>
          </p:nvCxnSpPr>
          <p:spPr>
            <a:xfrm>
              <a:off x="2551493" y="2973053"/>
              <a:ext cx="4440845" cy="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45" name="组合 44"/>
            <p:cNvGrpSpPr/>
            <p:nvPr/>
          </p:nvGrpSpPr>
          <p:grpSpPr>
            <a:xfrm>
              <a:off x="2562002" y="2475572"/>
              <a:ext cx="4430335" cy="497481"/>
              <a:chOff x="2665137" y="2409968"/>
              <a:chExt cx="4106940" cy="1165570"/>
            </a:xfrm>
          </p:grpSpPr>
          <p:cxnSp>
            <p:nvCxnSpPr>
              <p:cNvPr id="46" name="直接连接符 45"/>
              <p:cNvCxnSpPr/>
              <p:nvPr/>
            </p:nvCxnSpPr>
            <p:spPr>
              <a:xfrm>
                <a:off x="6772077" y="2409968"/>
                <a:ext cx="0" cy="1165570"/>
              </a:xfrm>
              <a:prstGeom prst="line">
                <a:avLst/>
              </a:prstGeom>
              <a:ln w="28575">
                <a:solidFill>
                  <a:schemeClr val="tx1"/>
                </a:solidFill>
                <a:prstDash val="sysDot"/>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2665137" y="2409968"/>
                <a:ext cx="0" cy="1165570"/>
              </a:xfrm>
              <a:prstGeom prst="line">
                <a:avLst/>
              </a:prstGeom>
              <a:ln w="28575">
                <a:solidFill>
                  <a:schemeClr val="tx1"/>
                </a:solidFill>
                <a:prstDash val="sysDot"/>
                <a:headEnd type="triangle" w="med" len="lg"/>
                <a:tailEnd type="none" w="med" len="med"/>
              </a:ln>
            </p:spPr>
            <p:style>
              <a:lnRef idx="1">
                <a:schemeClr val="accent1"/>
              </a:lnRef>
              <a:fillRef idx="0">
                <a:schemeClr val="accent1"/>
              </a:fillRef>
              <a:effectRef idx="0">
                <a:schemeClr val="accent1"/>
              </a:effectRef>
              <a:fontRef idx="minor">
                <a:schemeClr val="tx1"/>
              </a:fontRef>
            </p:style>
          </p:cxnSp>
        </p:grpSp>
      </p:grpSp>
      <p:sp>
        <p:nvSpPr>
          <p:cNvPr id="48" name="Rectangle 396"/>
          <p:cNvSpPr>
            <a:spLocks noChangeArrowheads="1"/>
          </p:cNvSpPr>
          <p:nvPr/>
        </p:nvSpPr>
        <p:spPr bwMode="auto">
          <a:xfrm>
            <a:off x="1400318" y="3053785"/>
            <a:ext cx="4780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200" b="1" dirty="0">
                <a:solidFill>
                  <a:srgbClr val="000099"/>
                </a:solidFill>
                <a:latin typeface="微软雅黑" pitchFamily="34" charset="-122"/>
                <a:ea typeface="微软雅黑" pitchFamily="34" charset="-122"/>
              </a:rPr>
              <a:t>TCP</a:t>
            </a:r>
            <a:endParaRPr kumimoji="1" lang="zh-CN" altLang="en-US" sz="1200" b="1" dirty="0">
              <a:solidFill>
                <a:srgbClr val="000099"/>
              </a:solidFill>
              <a:latin typeface="微软雅黑" pitchFamily="34" charset="-122"/>
              <a:ea typeface="微软雅黑" pitchFamily="34" charset="-122"/>
            </a:endParaRPr>
          </a:p>
        </p:txBody>
      </p:sp>
      <p:sp>
        <p:nvSpPr>
          <p:cNvPr id="49" name="Rectangle 396"/>
          <p:cNvSpPr>
            <a:spLocks noChangeArrowheads="1"/>
          </p:cNvSpPr>
          <p:nvPr/>
        </p:nvSpPr>
        <p:spPr bwMode="auto">
          <a:xfrm>
            <a:off x="7046932" y="3053785"/>
            <a:ext cx="4780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TCP</a:t>
            </a:r>
            <a:endParaRPr kumimoji="1" lang="zh-CN" altLang="en-US" sz="1200" b="1" dirty="0">
              <a:solidFill>
                <a:srgbClr val="000099"/>
              </a:solidFill>
              <a:latin typeface="微软雅黑" pitchFamily="34" charset="-122"/>
              <a:ea typeface="微软雅黑" pitchFamily="34" charset="-122"/>
            </a:endParaRPr>
          </a:p>
        </p:txBody>
      </p:sp>
      <p:sp>
        <p:nvSpPr>
          <p:cNvPr id="50" name="椭圆 49"/>
          <p:cNvSpPr/>
          <p:nvPr/>
        </p:nvSpPr>
        <p:spPr>
          <a:xfrm>
            <a:off x="5901834" y="2459675"/>
            <a:ext cx="157441" cy="146458"/>
          </a:xfrm>
          <a:prstGeom prst="ellipse">
            <a:avLst/>
          </a:prstGeom>
          <a:solidFill>
            <a:srgbClr val="C00000"/>
          </a:solidFill>
          <a:ln w="9525">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51" name="椭圆 50"/>
          <p:cNvSpPr/>
          <p:nvPr/>
        </p:nvSpPr>
        <p:spPr>
          <a:xfrm>
            <a:off x="6475997" y="2459675"/>
            <a:ext cx="157441" cy="146458"/>
          </a:xfrm>
          <a:prstGeom prst="ellipse">
            <a:avLst/>
          </a:prstGeom>
          <a:solidFill>
            <a:srgbClr val="C00000"/>
          </a:solidFill>
          <a:ln w="9525">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52" name="椭圆 51"/>
          <p:cNvSpPr/>
          <p:nvPr/>
        </p:nvSpPr>
        <p:spPr>
          <a:xfrm>
            <a:off x="2605360" y="2459675"/>
            <a:ext cx="157441" cy="146458"/>
          </a:xfrm>
          <a:prstGeom prst="ellipse">
            <a:avLst/>
          </a:prstGeom>
          <a:solidFill>
            <a:srgbClr val="C00000"/>
          </a:solidFill>
          <a:ln w="9525">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53" name="椭圆 52"/>
          <p:cNvSpPr/>
          <p:nvPr/>
        </p:nvSpPr>
        <p:spPr>
          <a:xfrm>
            <a:off x="3515879" y="2459675"/>
            <a:ext cx="157441" cy="146458"/>
          </a:xfrm>
          <a:prstGeom prst="ellipse">
            <a:avLst/>
          </a:prstGeom>
          <a:solidFill>
            <a:srgbClr val="C00000"/>
          </a:solidFill>
          <a:ln w="9525">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nvGrpSpPr>
          <p:cNvPr id="54" name="组合 53"/>
          <p:cNvGrpSpPr/>
          <p:nvPr/>
        </p:nvGrpSpPr>
        <p:grpSpPr>
          <a:xfrm>
            <a:off x="3571034" y="2641501"/>
            <a:ext cx="2418713" cy="226655"/>
            <a:chOff x="3581127" y="2482916"/>
            <a:chExt cx="2765287" cy="278563"/>
          </a:xfrm>
        </p:grpSpPr>
        <p:grpSp>
          <p:nvGrpSpPr>
            <p:cNvPr id="55" name="组合 54"/>
            <p:cNvGrpSpPr/>
            <p:nvPr/>
          </p:nvGrpSpPr>
          <p:grpSpPr>
            <a:xfrm>
              <a:off x="3589605" y="2482916"/>
              <a:ext cx="2746299" cy="269427"/>
              <a:chOff x="2665137" y="2409968"/>
              <a:chExt cx="4106940" cy="1165570"/>
            </a:xfrm>
          </p:grpSpPr>
          <p:cxnSp>
            <p:nvCxnSpPr>
              <p:cNvPr id="57" name="直接连接符 56"/>
              <p:cNvCxnSpPr/>
              <p:nvPr/>
            </p:nvCxnSpPr>
            <p:spPr>
              <a:xfrm>
                <a:off x="6772077" y="2409968"/>
                <a:ext cx="0" cy="1165570"/>
              </a:xfrm>
              <a:prstGeom prst="line">
                <a:avLst/>
              </a:prstGeom>
              <a:ln w="28575">
                <a:solidFill>
                  <a:schemeClr val="tx1"/>
                </a:solidFill>
                <a:prstDash val="sysDot"/>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2665137" y="2409968"/>
                <a:ext cx="0" cy="1165570"/>
              </a:xfrm>
              <a:prstGeom prst="line">
                <a:avLst/>
              </a:prstGeom>
              <a:ln w="28575">
                <a:solidFill>
                  <a:schemeClr val="tx1"/>
                </a:solidFill>
                <a:prstDash val="sysDot"/>
                <a:headEnd type="triangle" w="med" len="lg"/>
                <a:tailEnd type="none" w="med" len="med"/>
              </a:ln>
            </p:spPr>
            <p:style>
              <a:lnRef idx="1">
                <a:schemeClr val="accent1"/>
              </a:lnRef>
              <a:fillRef idx="0">
                <a:schemeClr val="accent1"/>
              </a:fillRef>
              <a:effectRef idx="0">
                <a:schemeClr val="accent1"/>
              </a:effectRef>
              <a:fontRef idx="minor">
                <a:schemeClr val="tx1"/>
              </a:fontRef>
            </p:style>
          </p:cxnSp>
        </p:grpSp>
        <p:cxnSp>
          <p:nvCxnSpPr>
            <p:cNvPr id="56" name="直接连接符 55"/>
            <p:cNvCxnSpPr/>
            <p:nvPr/>
          </p:nvCxnSpPr>
          <p:spPr>
            <a:xfrm>
              <a:off x="3581127" y="2761479"/>
              <a:ext cx="2765287" cy="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59" name="Rectangle 396"/>
          <p:cNvSpPr>
            <a:spLocks noChangeArrowheads="1"/>
          </p:cNvSpPr>
          <p:nvPr/>
        </p:nvSpPr>
        <p:spPr bwMode="auto">
          <a:xfrm>
            <a:off x="3349339" y="160495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客户</a:t>
            </a:r>
          </a:p>
        </p:txBody>
      </p:sp>
      <p:sp>
        <p:nvSpPr>
          <p:cNvPr id="60" name="矩形 59"/>
          <p:cNvSpPr/>
          <p:nvPr/>
        </p:nvSpPr>
        <p:spPr>
          <a:xfrm>
            <a:off x="3002678" y="3350144"/>
            <a:ext cx="2956257" cy="425758"/>
          </a:xfrm>
          <a:prstGeom prst="rect">
            <a:avLst/>
          </a:prstGeom>
        </p:spPr>
        <p:txBody>
          <a:bodyPr wrap="none">
            <a:spAutoFit/>
          </a:bodyPr>
          <a:lstStyle/>
          <a:p>
            <a:pPr algn="ctr">
              <a:lnSpc>
                <a:spcPts val="2600"/>
              </a:lnSpc>
              <a:buClr>
                <a:srgbClr val="0070C0"/>
              </a:buClr>
            </a:pPr>
            <a:r>
              <a:rPr lang="zh-CN" altLang="en-US" sz="1600" b="1" dirty="0">
                <a:latin typeface="微软雅黑" pitchFamily="34" charset="-122"/>
                <a:ea typeface="微软雅黑" pitchFamily="34" charset="-122"/>
              </a:rPr>
              <a:t>每一条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连接有</a:t>
            </a:r>
            <a:r>
              <a:rPr lang="zh-CN" altLang="en-US" sz="1600" b="1" dirty="0">
                <a:solidFill>
                  <a:srgbClr val="C00000"/>
                </a:solidFill>
                <a:latin typeface="微软雅黑" pitchFamily="34" charset="-122"/>
                <a:ea typeface="微软雅黑" pitchFamily="34" charset="-122"/>
              </a:rPr>
              <a:t>两个端点。</a:t>
            </a:r>
            <a:endParaRPr lang="en-US" altLang="zh-CN" sz="1600" b="1" dirty="0">
              <a:solidFill>
                <a:srgbClr val="C00000"/>
              </a:solidFill>
              <a:latin typeface="微软雅黑" pitchFamily="34" charset="-122"/>
              <a:ea typeface="微软雅黑" pitchFamily="34" charset="-122"/>
            </a:endParaRPr>
          </a:p>
        </p:txBody>
      </p:sp>
      <p:sp>
        <p:nvSpPr>
          <p:cNvPr id="61" name="Rectangle 396"/>
          <p:cNvSpPr>
            <a:spLocks noChangeArrowheads="1"/>
          </p:cNvSpPr>
          <p:nvPr/>
        </p:nvSpPr>
        <p:spPr bwMode="auto">
          <a:xfrm>
            <a:off x="4090280" y="2629644"/>
            <a:ext cx="7858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200" b="1" dirty="0">
                <a:solidFill>
                  <a:srgbClr val="CC00CC"/>
                </a:solidFill>
                <a:latin typeface="微软雅黑" pitchFamily="34" charset="-122"/>
                <a:ea typeface="微软雅黑" pitchFamily="34" charset="-122"/>
              </a:rPr>
              <a:t>TCP</a:t>
            </a:r>
            <a:r>
              <a:rPr kumimoji="1" lang="zh-CN" altLang="en-US" sz="1200" b="1" dirty="0">
                <a:solidFill>
                  <a:srgbClr val="CC00CC"/>
                </a:solidFill>
                <a:latin typeface="微软雅黑" pitchFamily="34" charset="-122"/>
                <a:ea typeface="微软雅黑" pitchFamily="34" charset="-122"/>
              </a:rPr>
              <a:t>连接</a:t>
            </a:r>
          </a:p>
        </p:txBody>
      </p:sp>
      <p:sp>
        <p:nvSpPr>
          <p:cNvPr id="62" name="Rectangle 396"/>
          <p:cNvSpPr>
            <a:spLocks noChangeArrowheads="1"/>
          </p:cNvSpPr>
          <p:nvPr/>
        </p:nvSpPr>
        <p:spPr bwMode="auto">
          <a:xfrm>
            <a:off x="4154860" y="1790001"/>
            <a:ext cx="72135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solidFill>
                  <a:srgbClr val="C00000"/>
                </a:solidFill>
                <a:latin typeface="微软雅黑" pitchFamily="34" charset="-122"/>
                <a:ea typeface="微软雅黑" pitchFamily="34" charset="-122"/>
              </a:rPr>
              <a:t>套接字</a:t>
            </a:r>
          </a:p>
        </p:txBody>
      </p:sp>
      <p:sp>
        <p:nvSpPr>
          <p:cNvPr id="63" name="Line 399"/>
          <p:cNvSpPr>
            <a:spLocks noChangeShapeType="1"/>
          </p:cNvSpPr>
          <p:nvPr/>
        </p:nvSpPr>
        <p:spPr bwMode="auto">
          <a:xfrm flipH="1">
            <a:off x="3673319" y="2058065"/>
            <a:ext cx="566073" cy="436531"/>
          </a:xfrm>
          <a:prstGeom prst="line">
            <a:avLst/>
          </a:prstGeom>
          <a:noFill/>
          <a:ln w="28575">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00" b="1">
              <a:latin typeface="微软雅黑" pitchFamily="34" charset="-122"/>
              <a:ea typeface="微软雅黑" pitchFamily="34" charset="-122"/>
            </a:endParaRPr>
          </a:p>
        </p:txBody>
      </p:sp>
      <p:sp>
        <p:nvSpPr>
          <p:cNvPr id="65" name="矩形 64"/>
          <p:cNvSpPr/>
          <p:nvPr/>
        </p:nvSpPr>
        <p:spPr>
          <a:xfrm>
            <a:off x="1694722" y="3741203"/>
            <a:ext cx="5558118" cy="416589"/>
          </a:xfrm>
          <a:prstGeom prst="rect">
            <a:avLst/>
          </a:prstGeom>
          <a:solidFill>
            <a:srgbClr val="000099"/>
          </a:solidFill>
          <a:ln>
            <a:noFill/>
          </a:ln>
        </p:spPr>
        <p:style>
          <a:lnRef idx="1">
            <a:schemeClr val="accent2"/>
          </a:lnRef>
          <a:fillRef idx="3">
            <a:schemeClr val="accent2"/>
          </a:fillRef>
          <a:effectRef idx="2">
            <a:schemeClr val="accent2"/>
          </a:effectRef>
          <a:fontRef idx="minor">
            <a:schemeClr val="lt1"/>
          </a:fontRef>
        </p:style>
        <p:txBody>
          <a:bodyPr wrap="square" anchor="ctr" anchorCtr="0">
            <a:spAutoFit/>
          </a:bodyPr>
          <a:lstStyle/>
          <a:p>
            <a:pPr algn="ctr">
              <a:lnSpc>
                <a:spcPts val="2800"/>
              </a:lnSpc>
              <a:buClr>
                <a:srgbClr val="0070C0"/>
              </a:buClr>
            </a:pPr>
            <a:r>
              <a:rPr lang="en-US" altLang="zh-CN" b="1" dirty="0">
                <a:solidFill>
                  <a:schemeClr val="bg1"/>
                </a:solidFill>
                <a:latin typeface="微软雅黑" pitchFamily="34" charset="-122"/>
                <a:ea typeface="微软雅黑" pitchFamily="34" charset="-122"/>
              </a:rPr>
              <a:t>TCP </a:t>
            </a:r>
            <a:r>
              <a:rPr lang="zh-CN" altLang="en-US" b="1" dirty="0">
                <a:solidFill>
                  <a:schemeClr val="bg1"/>
                </a:solidFill>
                <a:latin typeface="微软雅黑" pitchFamily="34" charset="-122"/>
                <a:ea typeface="微软雅黑" pitchFamily="34" charset="-122"/>
              </a:rPr>
              <a:t>连接的端点：套接字 </a:t>
            </a:r>
            <a:r>
              <a:rPr lang="en-US" altLang="zh-CN" b="1" dirty="0">
                <a:solidFill>
                  <a:schemeClr val="bg1"/>
                </a:solidFill>
                <a:latin typeface="微软雅黑" pitchFamily="34" charset="-122"/>
                <a:ea typeface="微软雅黑" pitchFamily="34" charset="-122"/>
              </a:rPr>
              <a:t>(socket) </a:t>
            </a:r>
            <a:r>
              <a:rPr lang="zh-CN" altLang="en-US" b="1" dirty="0">
                <a:solidFill>
                  <a:schemeClr val="bg1"/>
                </a:solidFill>
                <a:latin typeface="微软雅黑" pitchFamily="34" charset="-122"/>
                <a:ea typeface="微软雅黑" pitchFamily="34" charset="-122"/>
              </a:rPr>
              <a:t>或插口。</a:t>
            </a:r>
          </a:p>
        </p:txBody>
      </p:sp>
    </p:spTree>
    <p:extLst>
      <p:ext uri="{BB962C8B-B14F-4D97-AF65-F5344CB8AC3E}">
        <p14:creationId xmlns:p14="http://schemas.microsoft.com/office/powerpoint/2010/main" val="4228885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0"/>
                                        </p:tgtEl>
                                        <p:attrNameLst>
                                          <p:attrName>style.visibility</p:attrName>
                                        </p:attrNameLst>
                                      </p:cBhvr>
                                      <p:to>
                                        <p:strVal val="visible"/>
                                      </p:to>
                                    </p:set>
                                    <p:animEffect transition="in" filter="fade">
                                      <p:cBhvr>
                                        <p:cTn id="14" dur="1000"/>
                                        <p:tgtEl>
                                          <p:spTgt spid="60"/>
                                        </p:tgtEl>
                                      </p:cBhvr>
                                    </p:animEffect>
                                    <p:anim calcmode="lin" valueType="num">
                                      <p:cBhvr>
                                        <p:cTn id="15" dur="1000" fill="hold"/>
                                        <p:tgtEl>
                                          <p:spTgt spid="60"/>
                                        </p:tgtEl>
                                        <p:attrNameLst>
                                          <p:attrName>ppt_x</p:attrName>
                                        </p:attrNameLst>
                                      </p:cBhvr>
                                      <p:tavLst>
                                        <p:tav tm="0">
                                          <p:val>
                                            <p:strVal val="#ppt_x"/>
                                          </p:val>
                                        </p:tav>
                                        <p:tav tm="100000">
                                          <p:val>
                                            <p:strVal val="#ppt_x"/>
                                          </p:val>
                                        </p:tav>
                                      </p:tavLst>
                                    </p:anim>
                                    <p:anim calcmode="lin" valueType="num">
                                      <p:cBhvr>
                                        <p:cTn id="16"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65"/>
                                        </p:tgtEl>
                                        <p:attrNameLst>
                                          <p:attrName>style.visibility</p:attrName>
                                        </p:attrNameLst>
                                      </p:cBhvr>
                                      <p:to>
                                        <p:strVal val="visible"/>
                                      </p:to>
                                    </p:set>
                                    <p:anim calcmode="lin" valueType="num">
                                      <p:cBhvr>
                                        <p:cTn id="21" dur="500" fill="hold"/>
                                        <p:tgtEl>
                                          <p:spTgt spid="65"/>
                                        </p:tgtEl>
                                        <p:attrNameLst>
                                          <p:attrName>ppt_w</p:attrName>
                                        </p:attrNameLst>
                                      </p:cBhvr>
                                      <p:tavLst>
                                        <p:tav tm="0">
                                          <p:val>
                                            <p:fltVal val="0"/>
                                          </p:val>
                                        </p:tav>
                                        <p:tav tm="100000">
                                          <p:val>
                                            <p:strVal val="#ppt_w"/>
                                          </p:val>
                                        </p:tav>
                                      </p:tavLst>
                                    </p:anim>
                                    <p:anim calcmode="lin" valueType="num">
                                      <p:cBhvr>
                                        <p:cTn id="22" dur="500" fill="hold"/>
                                        <p:tgtEl>
                                          <p:spTgt spid="65"/>
                                        </p:tgtEl>
                                        <p:attrNameLst>
                                          <p:attrName>ppt_h</p:attrName>
                                        </p:attrNameLst>
                                      </p:cBhvr>
                                      <p:tavLst>
                                        <p:tav tm="0">
                                          <p:val>
                                            <p:fltVal val="0"/>
                                          </p:val>
                                        </p:tav>
                                        <p:tav tm="100000">
                                          <p:val>
                                            <p:strVal val="#ppt_h"/>
                                          </p:val>
                                        </p:tav>
                                      </p:tavLst>
                                    </p:anim>
                                    <p:animEffect transition="in" filter="fade">
                                      <p:cBhvr>
                                        <p:cTn id="23"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0" grpId="0"/>
      <p:bldP spid="6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45144" y="623064"/>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7" name="Rectangle 6"/>
          <p:cNvSpPr>
            <a:spLocks noChangeArrowheads="1"/>
          </p:cNvSpPr>
          <p:nvPr/>
        </p:nvSpPr>
        <p:spPr bwMode="auto">
          <a:xfrm>
            <a:off x="3532879" y="599974"/>
            <a:ext cx="20609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套接字 </a:t>
            </a:r>
            <a:r>
              <a:rPr lang="en-US" altLang="zh-CN" sz="2000" b="1" dirty="0">
                <a:solidFill>
                  <a:schemeClr val="bg1"/>
                </a:solidFill>
                <a:latin typeface="微软雅黑" pitchFamily="34" charset="-122"/>
                <a:ea typeface="微软雅黑" pitchFamily="34" charset="-122"/>
              </a:rPr>
              <a:t>(socket)</a:t>
            </a:r>
            <a:endParaRPr lang="zh-CN" altLang="en-US" sz="2000" b="1" dirty="0">
              <a:solidFill>
                <a:schemeClr val="bg1"/>
              </a:solidFill>
              <a:latin typeface="微软雅黑" pitchFamily="34" charset="-122"/>
              <a:ea typeface="微软雅黑" pitchFamily="34" charset="-122"/>
            </a:endParaRPr>
          </a:p>
        </p:txBody>
      </p:sp>
      <p:sp>
        <p:nvSpPr>
          <p:cNvPr id="8" name="圆角矩形 7"/>
          <p:cNvSpPr/>
          <p:nvPr/>
        </p:nvSpPr>
        <p:spPr>
          <a:xfrm>
            <a:off x="545144" y="1064703"/>
            <a:ext cx="8053711" cy="336386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Rectangle 4"/>
          <p:cNvSpPr>
            <a:spLocks noChangeArrowheads="1"/>
          </p:cNvSpPr>
          <p:nvPr/>
        </p:nvSpPr>
        <p:spPr bwMode="auto">
          <a:xfrm>
            <a:off x="1727139" y="1206521"/>
            <a:ext cx="5716077" cy="432475"/>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r>
              <a:rPr lang="zh-CN" altLang="en-US" b="1" dirty="0">
                <a:latin typeface="微软雅黑" pitchFamily="34" charset="-122"/>
                <a:ea typeface="微软雅黑" pitchFamily="34" charset="-122"/>
              </a:rPr>
              <a:t>套接字 </a:t>
            </a:r>
            <a:r>
              <a:rPr lang="en-US" altLang="zh-CN" b="1" dirty="0">
                <a:latin typeface="微软雅黑" pitchFamily="34" charset="-122"/>
                <a:ea typeface="微软雅黑" pitchFamily="34" charset="-122"/>
              </a:rPr>
              <a:t>socket = (IP</a:t>
            </a:r>
            <a:r>
              <a:rPr lang="zh-CN" altLang="en-US" b="1" dirty="0">
                <a:latin typeface="微软雅黑" pitchFamily="34" charset="-122"/>
                <a:ea typeface="微软雅黑" pitchFamily="34" charset="-122"/>
              </a:rPr>
              <a:t>地址 </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端口号</a:t>
            </a:r>
            <a:r>
              <a:rPr lang="en-US" altLang="zh-CN" b="1" dirty="0">
                <a:latin typeface="微软雅黑" pitchFamily="34" charset="-122"/>
                <a:ea typeface="微软雅黑" pitchFamily="34" charset="-122"/>
              </a:rPr>
              <a:t>)                   (5-1)</a:t>
            </a:r>
          </a:p>
        </p:txBody>
      </p:sp>
      <p:sp>
        <p:nvSpPr>
          <p:cNvPr id="11" name="矩形 10"/>
          <p:cNvSpPr/>
          <p:nvPr/>
        </p:nvSpPr>
        <p:spPr>
          <a:xfrm>
            <a:off x="1727140" y="1712412"/>
            <a:ext cx="5572461" cy="378117"/>
          </a:xfrm>
          <a:prstGeom prst="rect">
            <a:avLst/>
          </a:prstGeom>
        </p:spPr>
        <p:txBody>
          <a:bodyPr wrap="square">
            <a:spAutoFit/>
          </a:bodyPr>
          <a:lstStyle/>
          <a:p>
            <a:pPr>
              <a:lnSpc>
                <a:spcPts val="2400"/>
              </a:lnSpc>
              <a:spcBef>
                <a:spcPct val="40000"/>
              </a:spcBef>
              <a:spcAft>
                <a:spcPct val="50000"/>
              </a:spcAft>
            </a:pPr>
            <a:r>
              <a:rPr lang="zh-CN" altLang="en-US" sz="1600" b="1" dirty="0">
                <a:latin typeface="微软雅黑" pitchFamily="34" charset="-122"/>
                <a:ea typeface="微软雅黑" pitchFamily="34" charset="-122"/>
              </a:rPr>
              <a:t>例如：</a:t>
            </a:r>
          </a:p>
        </p:txBody>
      </p:sp>
      <p:sp>
        <p:nvSpPr>
          <p:cNvPr id="12" name="Rectangle 4"/>
          <p:cNvSpPr>
            <a:spLocks noChangeArrowheads="1"/>
          </p:cNvSpPr>
          <p:nvPr/>
        </p:nvSpPr>
        <p:spPr bwMode="auto">
          <a:xfrm>
            <a:off x="1727139" y="2106307"/>
            <a:ext cx="5716077" cy="432475"/>
          </a:xfrm>
          <a:prstGeom prst="rect">
            <a:avLst/>
          </a:prstGeom>
          <a:solidFill>
            <a:schemeClr val="bg1"/>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r>
              <a:rPr lang="zh-CN" altLang="en-US" sz="1600" b="1" dirty="0">
                <a:latin typeface="微软雅黑" pitchFamily="34" charset="-122"/>
                <a:ea typeface="微软雅黑" pitchFamily="34" charset="-122"/>
              </a:rPr>
              <a:t>套接字 </a:t>
            </a:r>
            <a:r>
              <a:rPr lang="en-US" altLang="zh-CN" sz="1600" b="1" dirty="0">
                <a:latin typeface="微软雅黑" pitchFamily="34" charset="-122"/>
                <a:ea typeface="微软雅黑" pitchFamily="34" charset="-122"/>
              </a:rPr>
              <a:t>socket = (192.169.1.20</a:t>
            </a:r>
            <a:r>
              <a:rPr lang="zh-CN" altLang="en-US" sz="1600" b="1" dirty="0">
                <a:latin typeface="微软雅黑" pitchFamily="34" charset="-122"/>
                <a:ea typeface="微软雅黑" pitchFamily="34" charset="-122"/>
              </a:rPr>
              <a:t> </a:t>
            </a:r>
            <a:r>
              <a:rPr lang="en-US" altLang="zh-CN" sz="1600" b="1" dirty="0">
                <a:latin typeface="微软雅黑" pitchFamily="34" charset="-122"/>
                <a:ea typeface="微软雅黑" pitchFamily="34" charset="-122"/>
              </a:rPr>
              <a:t>: 2028)</a:t>
            </a:r>
          </a:p>
        </p:txBody>
      </p:sp>
      <p:grpSp>
        <p:nvGrpSpPr>
          <p:cNvPr id="2" name="组合 1"/>
          <p:cNvGrpSpPr/>
          <p:nvPr/>
        </p:nvGrpSpPr>
        <p:grpSpPr>
          <a:xfrm>
            <a:off x="641510" y="2921997"/>
            <a:ext cx="7894590" cy="899786"/>
            <a:chOff x="641510" y="2921997"/>
            <a:chExt cx="7894590" cy="899786"/>
          </a:xfrm>
        </p:grpSpPr>
        <p:sp>
          <p:nvSpPr>
            <p:cNvPr id="9" name="Rectangle 5"/>
            <p:cNvSpPr>
              <a:spLocks noChangeArrowheads="1"/>
            </p:cNvSpPr>
            <p:nvPr/>
          </p:nvSpPr>
          <p:spPr bwMode="auto">
            <a:xfrm>
              <a:off x="641510" y="3322725"/>
              <a:ext cx="7894590" cy="499058"/>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pPr>
                <a:lnSpc>
                  <a:spcPct val="110000"/>
                </a:lnSpc>
              </a:pP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连接 </a:t>
              </a:r>
              <a:r>
                <a:rPr lang="en-US" altLang="zh-CN" b="1" dirty="0">
                  <a:latin typeface="微软雅黑" pitchFamily="34" charset="-122"/>
                  <a:ea typeface="微软雅黑" pitchFamily="34" charset="-122"/>
                </a:rPr>
                <a:t>::= {socket</a:t>
              </a:r>
              <a:r>
                <a:rPr lang="en-US" altLang="zh-CN" b="1" baseline="-25000" dirty="0">
                  <a:latin typeface="微软雅黑" pitchFamily="34" charset="-122"/>
                  <a:ea typeface="微软雅黑" pitchFamily="34" charset="-122"/>
                </a:rPr>
                <a:t>1</a:t>
              </a:r>
              <a:r>
                <a:rPr lang="en-US" altLang="zh-CN" b="1" dirty="0">
                  <a:latin typeface="微软雅黑" pitchFamily="34" charset="-122"/>
                  <a:ea typeface="微软雅黑" pitchFamily="34" charset="-122"/>
                </a:rPr>
                <a:t>, socket</a:t>
              </a:r>
              <a:r>
                <a:rPr lang="en-US" altLang="zh-CN" b="1" baseline="-25000" dirty="0">
                  <a:latin typeface="微软雅黑" pitchFamily="34" charset="-122"/>
                  <a:ea typeface="微软雅黑" pitchFamily="34" charset="-122"/>
                </a:rPr>
                <a:t>2</a:t>
              </a:r>
              <a:r>
                <a:rPr lang="en-US" altLang="zh-CN" b="1" dirty="0">
                  <a:latin typeface="微软雅黑" pitchFamily="34" charset="-122"/>
                  <a:ea typeface="微软雅黑" pitchFamily="34" charset="-122"/>
                </a:rPr>
                <a:t>} = {(IP</a:t>
              </a:r>
              <a:r>
                <a:rPr lang="en-US" altLang="zh-CN" b="1" baseline="-25000" dirty="0">
                  <a:latin typeface="微软雅黑" pitchFamily="34" charset="-122"/>
                  <a:ea typeface="微软雅黑" pitchFamily="34" charset="-122"/>
                </a:rPr>
                <a:t>1</a:t>
              </a:r>
              <a:r>
                <a:rPr lang="en-US" altLang="zh-CN" b="1" dirty="0">
                  <a:latin typeface="微软雅黑" pitchFamily="34" charset="-122"/>
                  <a:ea typeface="微软雅黑" pitchFamily="34" charset="-122"/>
                </a:rPr>
                <a:t>: port</a:t>
              </a:r>
              <a:r>
                <a:rPr lang="en-US" altLang="zh-CN" b="1" baseline="-25000" dirty="0">
                  <a:latin typeface="微软雅黑" pitchFamily="34" charset="-122"/>
                  <a:ea typeface="微软雅黑" pitchFamily="34" charset="-122"/>
                </a:rPr>
                <a:t>1</a:t>
              </a:r>
              <a:r>
                <a:rPr lang="en-US" altLang="zh-CN" b="1" dirty="0">
                  <a:latin typeface="微软雅黑" pitchFamily="34" charset="-122"/>
                  <a:ea typeface="微软雅黑" pitchFamily="34" charset="-122"/>
                </a:rPr>
                <a:t>)</a:t>
              </a:r>
              <a:r>
                <a:rPr lang="zh-CN" altLang="en-US" b="1" dirty="0">
                  <a:latin typeface="微软雅黑" pitchFamily="34" charset="-122"/>
                  <a:ea typeface="微软雅黑" pitchFamily="34" charset="-122"/>
                </a:rPr>
                <a:t>，</a:t>
              </a:r>
              <a:r>
                <a:rPr lang="en-US" altLang="zh-CN" b="1" dirty="0">
                  <a:latin typeface="微软雅黑" pitchFamily="34" charset="-122"/>
                  <a:ea typeface="微软雅黑" pitchFamily="34" charset="-122"/>
                </a:rPr>
                <a:t>(IP</a:t>
              </a:r>
              <a:r>
                <a:rPr lang="en-US" altLang="zh-CN" b="1" baseline="-25000" dirty="0">
                  <a:latin typeface="微软雅黑" pitchFamily="34" charset="-122"/>
                  <a:ea typeface="微软雅黑" pitchFamily="34" charset="-122"/>
                </a:rPr>
                <a:t>2</a:t>
              </a:r>
              <a:r>
                <a:rPr lang="en-US" altLang="zh-CN" b="1" dirty="0">
                  <a:latin typeface="微软雅黑" pitchFamily="34" charset="-122"/>
                  <a:ea typeface="微软雅黑" pitchFamily="34" charset="-122"/>
                </a:rPr>
                <a:t>: port</a:t>
              </a:r>
              <a:r>
                <a:rPr lang="en-US" altLang="zh-CN" b="1" baseline="-25000" dirty="0">
                  <a:latin typeface="微软雅黑" pitchFamily="34" charset="-122"/>
                  <a:ea typeface="微软雅黑" pitchFamily="34" charset="-122"/>
                </a:rPr>
                <a:t>2</a:t>
              </a:r>
              <a:r>
                <a:rPr lang="en-US" altLang="zh-CN" b="1" dirty="0">
                  <a:latin typeface="微软雅黑" pitchFamily="34" charset="-122"/>
                  <a:ea typeface="微软雅黑" pitchFamily="34" charset="-122"/>
                </a:rPr>
                <a:t>)}      (5-2)</a:t>
              </a:r>
            </a:p>
          </p:txBody>
        </p:sp>
        <p:sp>
          <p:nvSpPr>
            <p:cNvPr id="13" name="矩形 12"/>
            <p:cNvSpPr/>
            <p:nvPr/>
          </p:nvSpPr>
          <p:spPr>
            <a:xfrm>
              <a:off x="826544" y="2921997"/>
              <a:ext cx="7517266" cy="425758"/>
            </a:xfrm>
            <a:prstGeom prst="rect">
              <a:avLst/>
            </a:prstGeom>
          </p:spPr>
          <p:txBody>
            <a:bodyPr wrap="square">
              <a:spAutoFit/>
            </a:bodyPr>
            <a:lstStyle/>
            <a:p>
              <a:pPr>
                <a:lnSpc>
                  <a:spcPts val="2600"/>
                </a:lnSpc>
                <a:spcBef>
                  <a:spcPct val="40000"/>
                </a:spcBef>
                <a:spcAft>
                  <a:spcPct val="50000"/>
                </a:spcAft>
              </a:pPr>
              <a:r>
                <a:rPr lang="zh-CN" altLang="en-US" b="1" dirty="0">
                  <a:latin typeface="微软雅黑" pitchFamily="34" charset="-122"/>
                  <a:ea typeface="微软雅黑" pitchFamily="34" charset="-122"/>
                </a:rPr>
                <a:t>每一条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连接</a:t>
              </a:r>
              <a:r>
                <a:rPr lang="zh-CN" altLang="en-US" b="1" dirty="0">
                  <a:solidFill>
                    <a:srgbClr val="C00000"/>
                  </a:solidFill>
                  <a:latin typeface="微软雅黑" pitchFamily="34" charset="-122"/>
                  <a:ea typeface="微软雅黑" pitchFamily="34" charset="-122"/>
                </a:rPr>
                <a:t>唯一</a:t>
              </a:r>
              <a:r>
                <a:rPr lang="zh-CN" altLang="en-US" b="1" dirty="0">
                  <a:latin typeface="微软雅黑" pitchFamily="34" charset="-122"/>
                  <a:ea typeface="微软雅黑" pitchFamily="34" charset="-122"/>
                </a:rPr>
                <a:t>地被通信两端的两个端点（即</a:t>
              </a:r>
              <a:r>
                <a:rPr lang="zh-CN" altLang="en-US" b="1" dirty="0">
                  <a:solidFill>
                    <a:srgbClr val="C00000"/>
                  </a:solidFill>
                  <a:latin typeface="微软雅黑" pitchFamily="34" charset="-122"/>
                  <a:ea typeface="微软雅黑" pitchFamily="34" charset="-122"/>
                </a:rPr>
                <a:t>两个套接字</a:t>
              </a:r>
              <a:r>
                <a:rPr lang="zh-CN" altLang="en-US" b="1" dirty="0">
                  <a:latin typeface="微软雅黑" pitchFamily="34" charset="-122"/>
                  <a:ea typeface="微软雅黑" pitchFamily="34" charset="-122"/>
                </a:rPr>
                <a:t>）所确定：</a:t>
              </a:r>
            </a:p>
          </p:txBody>
        </p:sp>
      </p:grpSp>
    </p:spTree>
    <p:extLst>
      <p:ext uri="{BB962C8B-B14F-4D97-AF65-F5344CB8AC3E}">
        <p14:creationId xmlns:p14="http://schemas.microsoft.com/office/powerpoint/2010/main" val="2623336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10"/>
                                        </p:tgtEl>
                                        <p:attrNameLst>
                                          <p:attrName>style.visibility</p:attrName>
                                        </p:attrNameLst>
                                      </p:cBhvr>
                                      <p:tavLst>
                                        <p:tav tm="0">
                                          <p:val>
                                            <p:strVal val="hidden"/>
                                          </p:val>
                                        </p:tav>
                                        <p:tav tm="50000">
                                          <p:val>
                                            <p:strVal val="visible"/>
                                          </p:val>
                                        </p:tav>
                                      </p:tavLst>
                                    </p:anim>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nodeType="clickEffect">
                                  <p:stCondLst>
                                    <p:cond delay="0"/>
                                  </p:stCondLst>
                                  <p:childTnLst>
                                    <p:anim calcmode="discrete" valueType="str">
                                      <p:cBhvr>
                                        <p:cTn id="10" dur="1000" fill="hold"/>
                                        <p:tgtEl>
                                          <p:spTgt spid="2"/>
                                        </p:tgtEl>
                                        <p:attrNameLst>
                                          <p:attrName>style.visibility</p:attrName>
                                        </p:attrNameLst>
                                      </p:cBhvr>
                                      <p:tavLst>
                                        <p:tav tm="0">
                                          <p:val>
                                            <p:strVal val="hidden"/>
                                          </p:val>
                                        </p:tav>
                                        <p:tav tm="50000">
                                          <p:val>
                                            <p:strVal val="visible"/>
                                          </p:val>
                                        </p:tav>
                                      </p:tavLst>
                                    </p:anim>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56963" y="627162"/>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2884605" y="593951"/>
            <a:ext cx="33934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连接，</a:t>
            </a:r>
            <a:r>
              <a:rPr lang="en-US" altLang="zh-CN" sz="2000" b="1" dirty="0">
                <a:solidFill>
                  <a:schemeClr val="bg1"/>
                </a:solidFill>
                <a:latin typeface="微软雅黑" pitchFamily="34" charset="-122"/>
                <a:ea typeface="微软雅黑" pitchFamily="34" charset="-122"/>
              </a:rPr>
              <a:t>IP </a:t>
            </a:r>
            <a:r>
              <a:rPr lang="zh-CN" altLang="en-US" sz="2000" b="1" dirty="0">
                <a:solidFill>
                  <a:schemeClr val="bg1"/>
                </a:solidFill>
                <a:latin typeface="微软雅黑" pitchFamily="34" charset="-122"/>
                <a:ea typeface="微软雅黑" pitchFamily="34" charset="-122"/>
              </a:rPr>
              <a:t>地址，套接字</a:t>
            </a:r>
          </a:p>
        </p:txBody>
      </p:sp>
      <p:sp>
        <p:nvSpPr>
          <p:cNvPr id="9" name="Rectangle 68"/>
          <p:cNvSpPr>
            <a:spLocks noChangeArrowheads="1"/>
          </p:cNvSpPr>
          <p:nvPr/>
        </p:nvSpPr>
        <p:spPr bwMode="auto">
          <a:xfrm>
            <a:off x="556963" y="1054269"/>
            <a:ext cx="8184960"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连接就是由协议软件所提供的一种</a:t>
            </a:r>
            <a:r>
              <a:rPr lang="zh-CN" altLang="en-US" sz="2000" b="1" dirty="0">
                <a:solidFill>
                  <a:srgbClr val="C00000"/>
                </a:solidFill>
                <a:latin typeface="微软雅黑" pitchFamily="34" charset="-122"/>
                <a:ea typeface="微软雅黑" pitchFamily="34" charset="-122"/>
              </a:rPr>
              <a:t>抽象。</a:t>
            </a:r>
          </a:p>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连接的端点是抽象的</a:t>
            </a:r>
            <a:r>
              <a:rPr lang="zh-CN" altLang="en-US" sz="2000" b="1" dirty="0">
                <a:solidFill>
                  <a:srgbClr val="C00000"/>
                </a:solidFill>
                <a:latin typeface="微软雅黑" pitchFamily="34" charset="-122"/>
                <a:ea typeface="微软雅黑" pitchFamily="34" charset="-122"/>
              </a:rPr>
              <a:t>套接字</a:t>
            </a:r>
            <a:r>
              <a:rPr lang="zh-CN" altLang="en-US" sz="2000" b="1" dirty="0">
                <a:latin typeface="微软雅黑" pitchFamily="34" charset="-122"/>
                <a:ea typeface="微软雅黑" pitchFamily="34" charset="-122"/>
              </a:rPr>
              <a:t>，即（</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地址：端口号）。</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同一个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地址可以有多个</a:t>
            </a:r>
            <a:r>
              <a:rPr lang="zh-CN" altLang="en-US" sz="2000" b="1" dirty="0">
                <a:solidFill>
                  <a:srgbClr val="C00000"/>
                </a:solidFill>
                <a:latin typeface="微软雅黑" pitchFamily="34" charset="-122"/>
                <a:ea typeface="微软雅黑" pitchFamily="34" charset="-122"/>
              </a:rPr>
              <a:t>不同</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同一个端口号也可以出现在多个</a:t>
            </a:r>
            <a:r>
              <a:rPr lang="zh-CN" altLang="en-US" sz="2000" b="1" dirty="0">
                <a:solidFill>
                  <a:srgbClr val="C00000"/>
                </a:solidFill>
                <a:latin typeface="微软雅黑" pitchFamily="34" charset="-122"/>
                <a:ea typeface="微软雅黑" pitchFamily="34" charset="-122"/>
              </a:rPr>
              <a:t>不同</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连接中。</a:t>
            </a:r>
          </a:p>
        </p:txBody>
      </p:sp>
    </p:spTree>
    <p:extLst>
      <p:ext uri="{BB962C8B-B14F-4D97-AF65-F5344CB8AC3E}">
        <p14:creationId xmlns:p14="http://schemas.microsoft.com/office/powerpoint/2010/main" val="212439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1000"/>
                                        <p:tgtEl>
                                          <p:spTgt spid="9">
                                            <p:txEl>
                                              <p:pRg st="0" end="0"/>
                                            </p:txEl>
                                          </p:spTgt>
                                        </p:tgtEl>
                                      </p:cBhvr>
                                    </p:animEffect>
                                    <p:anim calcmode="lin" valueType="num">
                                      <p:cBhvr>
                                        <p:cTn id="8"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animEffect transition="in" filter="fade">
                                      <p:cBhvr>
                                        <p:cTn id="14" dur="1000"/>
                                        <p:tgtEl>
                                          <p:spTgt spid="9">
                                            <p:txEl>
                                              <p:pRg st="1" end="1"/>
                                            </p:txEl>
                                          </p:spTgt>
                                        </p:tgtEl>
                                      </p:cBhvr>
                                    </p:animEffect>
                                    <p:anim calcmode="lin" valueType="num">
                                      <p:cBhvr>
                                        <p:cTn id="15"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xEl>
                                              <p:pRg st="2" end="2"/>
                                            </p:txEl>
                                          </p:spTgt>
                                        </p:tgtEl>
                                        <p:attrNameLst>
                                          <p:attrName>style.visibility</p:attrName>
                                        </p:attrNameLst>
                                      </p:cBhvr>
                                      <p:to>
                                        <p:strVal val="visible"/>
                                      </p:to>
                                    </p:set>
                                    <p:animEffect transition="in" filter="fade">
                                      <p:cBhvr>
                                        <p:cTn id="21" dur="1000"/>
                                        <p:tgtEl>
                                          <p:spTgt spid="9">
                                            <p:txEl>
                                              <p:pRg st="2" end="2"/>
                                            </p:txEl>
                                          </p:spTgt>
                                        </p:tgtEl>
                                      </p:cBhvr>
                                    </p:animEffect>
                                    <p:anim calcmode="lin" valueType="num">
                                      <p:cBhvr>
                                        <p:cTn id="22"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xEl>
                                              <p:pRg st="3" end="3"/>
                                            </p:txEl>
                                          </p:spTgt>
                                        </p:tgtEl>
                                        <p:attrNameLst>
                                          <p:attrName>style.visibility</p:attrName>
                                        </p:attrNameLst>
                                      </p:cBhvr>
                                      <p:to>
                                        <p:strVal val="visible"/>
                                      </p:to>
                                    </p:set>
                                    <p:animEffect transition="in" filter="fade">
                                      <p:cBhvr>
                                        <p:cTn id="28" dur="1000"/>
                                        <p:tgtEl>
                                          <p:spTgt spid="9">
                                            <p:txEl>
                                              <p:pRg st="3" end="3"/>
                                            </p:txEl>
                                          </p:spTgt>
                                        </p:tgtEl>
                                      </p:cBhvr>
                                    </p:animEffect>
                                    <p:anim calcmode="lin" valueType="num">
                                      <p:cBhvr>
                                        <p:cTn id="29"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77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2956965" y="594489"/>
            <a:ext cx="32487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Socket </a:t>
            </a:r>
            <a:r>
              <a:rPr lang="zh-CN" altLang="en-US" sz="2000" b="1" dirty="0">
                <a:solidFill>
                  <a:schemeClr val="bg1"/>
                </a:solidFill>
                <a:latin typeface="微软雅黑" pitchFamily="34" charset="-122"/>
                <a:ea typeface="微软雅黑" pitchFamily="34" charset="-122"/>
              </a:rPr>
              <a:t>有多种不同的意思</a:t>
            </a:r>
          </a:p>
        </p:txBody>
      </p:sp>
      <p:sp>
        <p:nvSpPr>
          <p:cNvPr id="4" name="Rectangle 68"/>
          <p:cNvSpPr>
            <a:spLocks noChangeArrowheads="1"/>
          </p:cNvSpPr>
          <p:nvPr/>
        </p:nvSpPr>
        <p:spPr bwMode="auto">
          <a:xfrm>
            <a:off x="556963" y="975022"/>
            <a:ext cx="8184960" cy="25867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网络应用编程接口  </a:t>
            </a:r>
            <a:r>
              <a:rPr lang="en-US" altLang="zh-CN" sz="2000" b="1" dirty="0">
                <a:latin typeface="微软雅黑" pitchFamily="34" charset="-122"/>
                <a:ea typeface="微软雅黑" pitchFamily="34" charset="-122"/>
              </a:rPr>
              <a:t>API  </a:t>
            </a:r>
            <a:r>
              <a:rPr lang="zh-CN" altLang="en-US" sz="2000" b="1" dirty="0">
                <a:latin typeface="微软雅黑" pitchFamily="34" charset="-122"/>
                <a:ea typeface="微软雅黑" pitchFamily="34" charset="-122"/>
              </a:rPr>
              <a:t>称为 </a:t>
            </a:r>
            <a:r>
              <a:rPr lang="en-US" altLang="zh-CN" sz="2000" b="1" dirty="0">
                <a:latin typeface="微软雅黑" pitchFamily="34" charset="-122"/>
                <a:ea typeface="微软雅黑" pitchFamily="34" charset="-122"/>
              </a:rPr>
              <a:t>socket API, </a:t>
            </a:r>
            <a:r>
              <a:rPr lang="zh-CN" altLang="en-US" sz="2000" b="1" dirty="0">
                <a:latin typeface="微软雅黑" pitchFamily="34" charset="-122"/>
                <a:ea typeface="微软雅黑" pitchFamily="34" charset="-122"/>
              </a:rPr>
              <a:t>简称为 </a:t>
            </a:r>
            <a:r>
              <a:rPr lang="en-US" altLang="zh-CN" sz="2000" b="1" dirty="0">
                <a:latin typeface="微软雅黑" pitchFamily="34" charset="-122"/>
                <a:ea typeface="微软雅黑" pitchFamily="34" charset="-122"/>
              </a:rPr>
              <a:t>socket</a:t>
            </a:r>
            <a:r>
              <a:rPr lang="zh-CN" altLang="en-US" sz="2000" b="1" dirty="0">
                <a:latin typeface="微软雅黑" pitchFamily="34" charset="-122"/>
                <a:ea typeface="微软雅黑" pitchFamily="34" charset="-122"/>
              </a:rPr>
              <a:t>。</a:t>
            </a:r>
          </a:p>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socket API </a:t>
            </a:r>
            <a:r>
              <a:rPr lang="zh-CN" altLang="en-US" sz="2000" b="1" dirty="0">
                <a:latin typeface="微软雅黑" pitchFamily="34" charset="-122"/>
                <a:ea typeface="微软雅黑" pitchFamily="34" charset="-122"/>
              </a:rPr>
              <a:t>中使用的一个函数名也叫作 </a:t>
            </a:r>
            <a:r>
              <a:rPr lang="en-US" altLang="zh-CN" sz="2000" b="1" dirty="0">
                <a:latin typeface="微软雅黑" pitchFamily="34" charset="-122"/>
                <a:ea typeface="微软雅黑" pitchFamily="34" charset="-122"/>
              </a:rPr>
              <a:t>socket</a:t>
            </a:r>
            <a:r>
              <a:rPr lang="zh-CN" altLang="en-US" sz="2000" b="1" dirty="0">
                <a:latin typeface="微软雅黑" pitchFamily="34" charset="-122"/>
                <a:ea typeface="微软雅黑" pitchFamily="34" charset="-122"/>
              </a:rPr>
              <a:t>。</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调用 </a:t>
            </a:r>
            <a:r>
              <a:rPr lang="en-US" altLang="zh-CN" sz="2000" b="1" dirty="0">
                <a:latin typeface="微软雅黑" pitchFamily="34" charset="-122"/>
                <a:ea typeface="微软雅黑" pitchFamily="34" charset="-122"/>
              </a:rPr>
              <a:t>socket </a:t>
            </a:r>
            <a:r>
              <a:rPr lang="zh-CN" altLang="en-US" sz="2000" b="1" dirty="0">
                <a:latin typeface="微软雅黑" pitchFamily="34" charset="-122"/>
                <a:ea typeface="微软雅黑" pitchFamily="34" charset="-122"/>
              </a:rPr>
              <a:t>函数的端点称为 </a:t>
            </a:r>
            <a:r>
              <a:rPr lang="en-US" altLang="zh-CN" sz="2000" b="1" dirty="0">
                <a:latin typeface="微软雅黑" pitchFamily="34" charset="-122"/>
                <a:ea typeface="微软雅黑" pitchFamily="34" charset="-122"/>
              </a:rPr>
              <a:t>socket</a:t>
            </a:r>
            <a:r>
              <a:rPr lang="zh-CN" altLang="en-US" sz="2000" b="1" dirty="0">
                <a:latin typeface="微软雅黑" pitchFamily="34" charset="-122"/>
                <a:ea typeface="微软雅黑" pitchFamily="34" charset="-122"/>
              </a:rPr>
              <a:t>。</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调用 </a:t>
            </a:r>
            <a:r>
              <a:rPr lang="en-US" altLang="zh-CN" sz="2000" b="1" dirty="0">
                <a:latin typeface="微软雅黑" pitchFamily="34" charset="-122"/>
                <a:ea typeface="微软雅黑" pitchFamily="34" charset="-122"/>
              </a:rPr>
              <a:t>socket </a:t>
            </a:r>
            <a:r>
              <a:rPr lang="zh-CN" altLang="en-US" sz="2000" b="1" dirty="0">
                <a:latin typeface="微软雅黑" pitchFamily="34" charset="-122"/>
                <a:ea typeface="微软雅黑" pitchFamily="34" charset="-122"/>
              </a:rPr>
              <a:t>函数时其返回值称为 </a:t>
            </a:r>
            <a:r>
              <a:rPr lang="en-US" altLang="zh-CN" sz="2000" b="1" dirty="0">
                <a:latin typeface="微软雅黑" pitchFamily="34" charset="-122"/>
                <a:ea typeface="微软雅黑" pitchFamily="34" charset="-122"/>
              </a:rPr>
              <a:t>socket </a:t>
            </a:r>
            <a:r>
              <a:rPr lang="zh-CN" altLang="en-US" sz="2000" b="1" dirty="0">
                <a:latin typeface="微软雅黑" pitchFamily="34" charset="-122"/>
                <a:ea typeface="微软雅黑" pitchFamily="34" charset="-122"/>
              </a:rPr>
              <a:t>描述符，可简称为 </a:t>
            </a:r>
            <a:r>
              <a:rPr lang="en-US" altLang="zh-CN" sz="2000" b="1" dirty="0">
                <a:latin typeface="微软雅黑" pitchFamily="34" charset="-122"/>
                <a:ea typeface="微软雅黑" pitchFamily="34" charset="-122"/>
              </a:rPr>
              <a:t>socket</a:t>
            </a:r>
            <a:r>
              <a:rPr lang="zh-CN" altLang="en-US" sz="2000" b="1" dirty="0">
                <a:latin typeface="微软雅黑" pitchFamily="34" charset="-122"/>
                <a:ea typeface="微软雅黑" pitchFamily="34" charset="-122"/>
              </a:rPr>
              <a:t>。</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在操作系统内核中连网协议的 </a:t>
            </a:r>
            <a:r>
              <a:rPr lang="en-US" altLang="zh-CN" sz="2000" b="1" dirty="0">
                <a:latin typeface="微软雅黑" pitchFamily="34" charset="-122"/>
                <a:ea typeface="微软雅黑" pitchFamily="34" charset="-122"/>
              </a:rPr>
              <a:t>Berkeley </a:t>
            </a:r>
            <a:r>
              <a:rPr lang="zh-CN" altLang="en-US" sz="2000" b="1" dirty="0">
                <a:latin typeface="微软雅黑" pitchFamily="34" charset="-122"/>
                <a:ea typeface="微软雅黑" pitchFamily="34" charset="-122"/>
              </a:rPr>
              <a:t>实现，称为 </a:t>
            </a:r>
            <a:r>
              <a:rPr lang="en-US" altLang="zh-CN" sz="2000" b="1" dirty="0">
                <a:latin typeface="微软雅黑" pitchFamily="34" charset="-122"/>
                <a:ea typeface="微软雅黑" pitchFamily="34" charset="-122"/>
              </a:rPr>
              <a:t>socket </a:t>
            </a:r>
            <a:r>
              <a:rPr lang="zh-CN" altLang="en-US" sz="2000" b="1" dirty="0">
                <a:latin typeface="微软雅黑" pitchFamily="34" charset="-122"/>
                <a:ea typeface="微软雅黑" pitchFamily="34" charset="-122"/>
              </a:rPr>
              <a:t>实现。 </a:t>
            </a:r>
          </a:p>
        </p:txBody>
      </p:sp>
    </p:spTree>
    <p:extLst>
      <p:ext uri="{BB962C8B-B14F-4D97-AF65-F5344CB8AC3E}">
        <p14:creationId xmlns:p14="http://schemas.microsoft.com/office/powerpoint/2010/main" val="1456438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1000"/>
                                        <p:tgtEl>
                                          <p:spTgt spid="4">
                                            <p:txEl>
                                              <p:pRg st="4" end="4"/>
                                            </p:txEl>
                                          </p:spTgt>
                                        </p:tgtEl>
                                      </p:cBhvr>
                                    </p:animEffect>
                                    <p:anim calcmode="lin" valueType="num">
                                      <p:cBhvr>
                                        <p:cTn id="3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
          <p:cNvSpPr>
            <a:spLocks noChangeArrowheads="1"/>
          </p:cNvSpPr>
          <p:nvPr/>
        </p:nvSpPr>
        <p:spPr bwMode="auto">
          <a:xfrm>
            <a:off x="2629135" y="1344855"/>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6" name="Rectangle 10"/>
          <p:cNvSpPr>
            <a:spLocks noChangeArrowheads="1"/>
          </p:cNvSpPr>
          <p:nvPr/>
        </p:nvSpPr>
        <p:spPr bwMode="auto">
          <a:xfrm>
            <a:off x="2629135" y="1951280"/>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7" name="Line 16"/>
          <p:cNvSpPr>
            <a:spLocks noChangeShapeType="1"/>
          </p:cNvSpPr>
          <p:nvPr/>
        </p:nvSpPr>
        <p:spPr bwMode="auto">
          <a:xfrm>
            <a:off x="3637198" y="1273417"/>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Rectangle 8"/>
          <p:cNvSpPr>
            <a:spLocks noChangeArrowheads="1"/>
          </p:cNvSpPr>
          <p:nvPr/>
        </p:nvSpPr>
        <p:spPr bwMode="auto">
          <a:xfrm>
            <a:off x="2700573" y="1090855"/>
            <a:ext cx="561867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5.4.1                                           </a:t>
            </a:r>
            <a:r>
              <a:rPr lang="zh-CN" altLang="en-US" sz="2000" b="1" dirty="0">
                <a:solidFill>
                  <a:schemeClr val="bg1"/>
                </a:solidFill>
                <a:latin typeface="微软雅黑" pitchFamily="34" charset="-122"/>
                <a:ea typeface="微软雅黑" pitchFamily="34" charset="-122"/>
              </a:rPr>
              <a:t>停止等待协议</a:t>
            </a:r>
          </a:p>
          <a:p>
            <a:pPr eaLnBrk="0" hangingPunct="0">
              <a:lnSpc>
                <a:spcPct val="200000"/>
              </a:lnSpc>
            </a:pPr>
            <a:r>
              <a:rPr lang="en-US" altLang="zh-CN" sz="2000" b="1" dirty="0">
                <a:solidFill>
                  <a:schemeClr val="bg1"/>
                </a:solidFill>
                <a:latin typeface="微软雅黑" pitchFamily="34" charset="-122"/>
                <a:ea typeface="微软雅黑" pitchFamily="34" charset="-122"/>
              </a:rPr>
              <a:t>5.4.2                                        </a:t>
            </a:r>
            <a:r>
              <a:rPr lang="zh-CN" altLang="en-US" sz="2000" b="1" dirty="0">
                <a:solidFill>
                  <a:schemeClr val="bg1"/>
                </a:solidFill>
                <a:latin typeface="微软雅黑" pitchFamily="34" charset="-122"/>
                <a:ea typeface="微软雅黑" pitchFamily="34" charset="-122"/>
              </a:rPr>
              <a:t>连续 </a:t>
            </a:r>
            <a:r>
              <a:rPr lang="en-US" altLang="zh-CN" sz="2000" b="1" dirty="0">
                <a:solidFill>
                  <a:schemeClr val="bg1"/>
                </a:solidFill>
                <a:latin typeface="微软雅黑" pitchFamily="34" charset="-122"/>
                <a:ea typeface="微软雅黑" pitchFamily="34" charset="-122"/>
              </a:rPr>
              <a:t>ARQ </a:t>
            </a:r>
            <a:r>
              <a:rPr lang="zh-CN" altLang="en-US" sz="2000" b="1" dirty="0">
                <a:solidFill>
                  <a:schemeClr val="bg1"/>
                </a:solidFill>
                <a:latin typeface="微软雅黑" pitchFamily="34" charset="-122"/>
                <a:ea typeface="微软雅黑" pitchFamily="34" charset="-122"/>
              </a:rPr>
              <a:t>协议</a:t>
            </a:r>
          </a:p>
        </p:txBody>
      </p:sp>
      <p:sp>
        <p:nvSpPr>
          <p:cNvPr id="9" name="Rectangle 27"/>
          <p:cNvSpPr>
            <a:spLocks noChangeArrowheads="1"/>
          </p:cNvSpPr>
          <p:nvPr/>
        </p:nvSpPr>
        <p:spPr bwMode="auto">
          <a:xfrm>
            <a:off x="639730" y="1344855"/>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0" name="Rectangle 29"/>
          <p:cNvSpPr>
            <a:spLocks noChangeArrowheads="1"/>
          </p:cNvSpPr>
          <p:nvPr/>
        </p:nvSpPr>
        <p:spPr bwMode="auto">
          <a:xfrm>
            <a:off x="648619" y="1439787"/>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5.4</a:t>
            </a:r>
          </a:p>
          <a:p>
            <a:pPr eaLnBrk="0" hangingPunct="0"/>
            <a:r>
              <a:rPr lang="zh-CN" altLang="en-US" sz="2000" b="1" dirty="0">
                <a:solidFill>
                  <a:schemeClr val="bg1"/>
                </a:solidFill>
                <a:latin typeface="微软雅黑" pitchFamily="34" charset="-122"/>
                <a:ea typeface="微软雅黑" pitchFamily="34" charset="-122"/>
              </a:rPr>
              <a:t>可靠传输的工作原理</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5257338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56963" y="62503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6" name="Rectangle 6"/>
          <p:cNvSpPr>
            <a:spLocks noChangeArrowheads="1"/>
          </p:cNvSpPr>
          <p:nvPr/>
        </p:nvSpPr>
        <p:spPr bwMode="auto">
          <a:xfrm>
            <a:off x="2784224" y="591824"/>
            <a:ext cx="35942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IP </a:t>
            </a:r>
            <a:r>
              <a:rPr lang="zh-CN" altLang="en-US" sz="2000" b="1" dirty="0">
                <a:solidFill>
                  <a:schemeClr val="bg1"/>
                </a:solidFill>
                <a:latin typeface="微软雅黑" pitchFamily="34" charset="-122"/>
                <a:ea typeface="微软雅黑" pitchFamily="34" charset="-122"/>
              </a:rPr>
              <a:t>网络提供的是不可靠的传输</a:t>
            </a:r>
          </a:p>
        </p:txBody>
      </p:sp>
      <p:sp>
        <p:nvSpPr>
          <p:cNvPr id="5" name="圆角矩形 4"/>
          <p:cNvSpPr/>
          <p:nvPr/>
        </p:nvSpPr>
        <p:spPr>
          <a:xfrm>
            <a:off x="556963" y="1030365"/>
            <a:ext cx="8048775" cy="262723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 name="对象 5"/>
          <p:cNvGraphicFramePr>
            <a:graphicFrameLocks noGrp="1" noChangeAspect="1"/>
          </p:cNvGraphicFramePr>
          <p:nvPr/>
        </p:nvGraphicFramePr>
        <p:xfrm>
          <a:off x="2277035" y="1245085"/>
          <a:ext cx="4706471" cy="2067712"/>
        </p:xfrm>
        <a:graphic>
          <a:graphicData uri="http://schemas.openxmlformats.org/presentationml/2006/ole">
            <mc:AlternateContent xmlns:mc="http://schemas.openxmlformats.org/markup-compatibility/2006">
              <mc:Choice xmlns:v="urn:schemas-microsoft-com:vml" Requires="v">
                <p:oleObj name="Visio" r:id="rId3" imgW="8715538" imgH="3819698" progId="">
                  <p:embed/>
                </p:oleObj>
              </mc:Choice>
              <mc:Fallback>
                <p:oleObj name="Visio" r:id="rId3" imgW="8715538" imgH="3819698" progId="">
                  <p:embed/>
                  <p:pic>
                    <p:nvPicPr>
                      <p:cNvPr id="6" name="对象 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7035" y="1245085"/>
                        <a:ext cx="4706471" cy="2067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237078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56963" y="63325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6" name="Rectangle 6"/>
          <p:cNvSpPr>
            <a:spLocks noChangeArrowheads="1"/>
          </p:cNvSpPr>
          <p:nvPr/>
        </p:nvSpPr>
        <p:spPr bwMode="auto">
          <a:xfrm>
            <a:off x="3303597" y="600044"/>
            <a:ext cx="255550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理想传输条件的特点</a:t>
            </a:r>
          </a:p>
        </p:txBody>
      </p:sp>
      <p:sp>
        <p:nvSpPr>
          <p:cNvPr id="17" name="Rectangle 68"/>
          <p:cNvSpPr>
            <a:spLocks noChangeArrowheads="1"/>
          </p:cNvSpPr>
          <p:nvPr/>
        </p:nvSpPr>
        <p:spPr bwMode="auto">
          <a:xfrm>
            <a:off x="556963" y="986494"/>
            <a:ext cx="8048776"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58775"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传输信道不产生差错。</a:t>
            </a:r>
          </a:p>
          <a:p>
            <a:pPr marL="358775"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不管发送方以多快的速度发送数据，接收方总是来得及处理收到的数据。</a:t>
            </a:r>
          </a:p>
        </p:txBody>
      </p:sp>
      <p:sp>
        <p:nvSpPr>
          <p:cNvPr id="2" name="矩形 1"/>
          <p:cNvSpPr/>
          <p:nvPr/>
        </p:nvSpPr>
        <p:spPr>
          <a:xfrm>
            <a:off x="860997" y="2429086"/>
            <a:ext cx="7440707" cy="1169551"/>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marL="285750" indent="-285750">
              <a:lnSpc>
                <a:spcPts val="2800"/>
              </a:lnSpc>
              <a:buFont typeface="Wingdings" panose="05000000000000000000" pitchFamily="2" charset="2"/>
              <a:buChar char="l"/>
            </a:pPr>
            <a:r>
              <a:rPr lang="zh-CN" altLang="en-US" b="1" dirty="0">
                <a:latin typeface="微软雅黑" pitchFamily="34" charset="-122"/>
                <a:ea typeface="微软雅黑" pitchFamily="34" charset="-122"/>
              </a:rPr>
              <a:t>在理想传输条件下，不需要采取任何措施就能够实现可靠传输。</a:t>
            </a:r>
          </a:p>
          <a:p>
            <a:pPr marL="285750" indent="-285750">
              <a:lnSpc>
                <a:spcPts val="2800"/>
              </a:lnSpc>
              <a:buFont typeface="Wingdings" panose="05000000000000000000" pitchFamily="2" charset="2"/>
              <a:buChar char="l"/>
            </a:pPr>
            <a:r>
              <a:rPr lang="zh-CN" altLang="en-US" b="1" dirty="0">
                <a:solidFill>
                  <a:srgbClr val="0000FF"/>
                </a:solidFill>
                <a:latin typeface="微软雅黑" pitchFamily="34" charset="-122"/>
                <a:ea typeface="微软雅黑" pitchFamily="34" charset="-122"/>
              </a:rPr>
              <a:t>但实际网络都不具备理想传输条件。</a:t>
            </a:r>
            <a:r>
              <a:rPr lang="zh-CN" altLang="en-US" b="1" dirty="0">
                <a:latin typeface="微软雅黑" pitchFamily="34" charset="-122"/>
                <a:ea typeface="微软雅黑" pitchFamily="34" charset="-122"/>
              </a:rPr>
              <a:t>必须使用可靠传输协议，在不可靠的传输信道上实现可靠传输。</a:t>
            </a:r>
          </a:p>
        </p:txBody>
      </p:sp>
    </p:spTree>
    <p:extLst>
      <p:ext uri="{BB962C8B-B14F-4D97-AF65-F5344CB8AC3E}">
        <p14:creationId xmlns:p14="http://schemas.microsoft.com/office/powerpoint/2010/main" val="3270027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1000"/>
                                        <p:tgtEl>
                                          <p:spTgt spid="17">
                                            <p:txEl>
                                              <p:pRg st="0" end="0"/>
                                            </p:txEl>
                                          </p:spTgt>
                                        </p:tgtEl>
                                      </p:cBhvr>
                                    </p:animEffect>
                                    <p:anim calcmode="lin" valueType="num">
                                      <p:cBhvr>
                                        <p:cTn id="8"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
                                            <p:txEl>
                                              <p:pRg st="1" end="1"/>
                                            </p:txEl>
                                          </p:spTgt>
                                        </p:tgtEl>
                                        <p:attrNameLst>
                                          <p:attrName>style.visibility</p:attrName>
                                        </p:attrNameLst>
                                      </p:cBhvr>
                                      <p:to>
                                        <p:strVal val="visible"/>
                                      </p:to>
                                    </p:set>
                                    <p:animEffect transition="in" filter="fade">
                                      <p:cBhvr>
                                        <p:cTn id="14" dur="1000"/>
                                        <p:tgtEl>
                                          <p:spTgt spid="17">
                                            <p:txEl>
                                              <p:pRg st="1" end="1"/>
                                            </p:txEl>
                                          </p:spTgt>
                                        </p:tgtEl>
                                      </p:cBhvr>
                                    </p:animEffect>
                                    <p:anim calcmode="lin" valueType="num">
                                      <p:cBhvr>
                                        <p:cTn id="15"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bg/>
                                          </p:spTgt>
                                        </p:tgtEl>
                                        <p:attrNameLst>
                                          <p:attrName>style.visibility</p:attrName>
                                        </p:attrNameLst>
                                      </p:cBhvr>
                                      <p:to>
                                        <p:strVal val="visible"/>
                                      </p:to>
                                    </p:set>
                                    <p:animEffect transition="in" filter="fade">
                                      <p:cBhvr>
                                        <p:cTn id="21" dur="1000"/>
                                        <p:tgtEl>
                                          <p:spTgt spid="2">
                                            <p:bg/>
                                          </p:spTgt>
                                        </p:tgtEl>
                                      </p:cBhvr>
                                    </p:animEffect>
                                    <p:anim calcmode="lin" valueType="num">
                                      <p:cBhvr>
                                        <p:cTn id="22" dur="1000" fill="hold"/>
                                        <p:tgtEl>
                                          <p:spTgt spid="2">
                                            <p:bg/>
                                          </p:spTgt>
                                        </p:tgtEl>
                                        <p:attrNameLst>
                                          <p:attrName>ppt_x</p:attrName>
                                        </p:attrNameLst>
                                      </p:cBhvr>
                                      <p:tavLst>
                                        <p:tav tm="0">
                                          <p:val>
                                            <p:strVal val="#ppt_x"/>
                                          </p:val>
                                        </p:tav>
                                        <p:tav tm="100000">
                                          <p:val>
                                            <p:strVal val="#ppt_x"/>
                                          </p:val>
                                        </p:tav>
                                      </p:tavLst>
                                    </p:anim>
                                    <p:anim calcmode="lin" valueType="num">
                                      <p:cBhvr>
                                        <p:cTn id="23" dur="1000" fill="hold"/>
                                        <p:tgtEl>
                                          <p:spTgt spid="2">
                                            <p:bg/>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2">
                                            <p:txEl>
                                              <p:pRg st="0" end="0"/>
                                            </p:txEl>
                                          </p:spTgt>
                                        </p:tgtEl>
                                        <p:attrNameLst>
                                          <p:attrName>style.visibility</p:attrName>
                                        </p:attrNameLst>
                                      </p:cBhvr>
                                      <p:to>
                                        <p:strVal val="visible"/>
                                      </p:to>
                                    </p:set>
                                    <p:animEffect transition="in" filter="fade">
                                      <p:cBhvr>
                                        <p:cTn id="26" dur="1000"/>
                                        <p:tgtEl>
                                          <p:spTgt spid="2">
                                            <p:txEl>
                                              <p:pRg st="0" end="0"/>
                                            </p:txEl>
                                          </p:spTgt>
                                        </p:tgtEl>
                                      </p:cBhvr>
                                    </p:animEffect>
                                    <p:anim calcmode="lin" valueType="num">
                                      <p:cBhvr>
                                        <p:cTn id="27"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28"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2">
                                            <p:txEl>
                                              <p:pRg st="1" end="1"/>
                                            </p:txEl>
                                          </p:spTgt>
                                        </p:tgtEl>
                                        <p:attrNameLst>
                                          <p:attrName>style.visibility</p:attrName>
                                        </p:attrNameLst>
                                      </p:cBhvr>
                                      <p:to>
                                        <p:strVal val="visible"/>
                                      </p:to>
                                    </p:set>
                                    <p:animEffect transition="in" filter="fade">
                                      <p:cBhvr>
                                        <p:cTn id="33" dur="1000"/>
                                        <p:tgtEl>
                                          <p:spTgt spid="2">
                                            <p:txEl>
                                              <p:pRg st="1" end="1"/>
                                            </p:txEl>
                                          </p:spTgt>
                                        </p:tgtEl>
                                      </p:cBhvr>
                                    </p:animEffect>
                                    <p:anim calcmode="lin" valueType="num">
                                      <p:cBhvr>
                                        <p:cTn id="34"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35"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AutoShape 5"/>
          <p:cNvSpPr>
            <a:spLocks noChangeArrowheads="1"/>
          </p:cNvSpPr>
          <p:nvPr/>
        </p:nvSpPr>
        <p:spPr bwMode="auto">
          <a:xfrm>
            <a:off x="545143" y="626213"/>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25" name="Rectangle 6"/>
          <p:cNvSpPr>
            <a:spLocks noChangeArrowheads="1"/>
          </p:cNvSpPr>
          <p:nvPr/>
        </p:nvSpPr>
        <p:spPr bwMode="auto">
          <a:xfrm>
            <a:off x="3093072" y="583942"/>
            <a:ext cx="29578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5.4.1  </a:t>
            </a:r>
            <a:r>
              <a:rPr lang="zh-CN" altLang="en-US" sz="2400" b="1" dirty="0">
                <a:solidFill>
                  <a:schemeClr val="bg1"/>
                </a:solidFill>
                <a:latin typeface="微软雅黑" pitchFamily="34" charset="-122"/>
                <a:ea typeface="微软雅黑" pitchFamily="34" charset="-122"/>
              </a:rPr>
              <a:t>停止等待协议</a:t>
            </a:r>
          </a:p>
        </p:txBody>
      </p:sp>
      <p:sp>
        <p:nvSpPr>
          <p:cNvPr id="26" name="Rectangle 8"/>
          <p:cNvSpPr>
            <a:spLocks noChangeArrowheads="1"/>
          </p:cNvSpPr>
          <p:nvPr/>
        </p:nvSpPr>
        <p:spPr bwMode="auto">
          <a:xfrm>
            <a:off x="545143" y="1012343"/>
            <a:ext cx="8053711" cy="2586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全双工通信的双方既是发送方也是接收方。</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为了讨论方便，假设仅考虑 </a:t>
            </a:r>
            <a:r>
              <a:rPr lang="en-US" altLang="zh-CN" sz="2000" b="1" dirty="0">
                <a:latin typeface="微软雅黑" pitchFamily="34" charset="-122"/>
                <a:ea typeface="微软雅黑" pitchFamily="34" charset="-122"/>
              </a:rPr>
              <a:t>A </a:t>
            </a:r>
            <a:r>
              <a:rPr lang="zh-CN" altLang="en-US" sz="2000" b="1" dirty="0">
                <a:latin typeface="微软雅黑" pitchFamily="34" charset="-122"/>
                <a:ea typeface="微软雅黑" pitchFamily="34" charset="-122"/>
              </a:rPr>
              <a:t>发送数据，而 </a:t>
            </a:r>
            <a:r>
              <a:rPr lang="en-US" altLang="zh-CN" sz="2000" b="1" dirty="0">
                <a:latin typeface="微软雅黑" pitchFamily="34" charset="-122"/>
                <a:ea typeface="微软雅黑" pitchFamily="34" charset="-122"/>
              </a:rPr>
              <a:t>B </a:t>
            </a:r>
            <a:r>
              <a:rPr lang="zh-CN" altLang="en-US" sz="2000" b="1" dirty="0">
                <a:latin typeface="微软雅黑" pitchFamily="34" charset="-122"/>
                <a:ea typeface="微软雅黑" pitchFamily="34" charset="-122"/>
              </a:rPr>
              <a:t>接收数据并发送确认。因此 </a:t>
            </a:r>
            <a:r>
              <a:rPr lang="en-US" altLang="zh-CN" sz="2000" b="1" dirty="0">
                <a:latin typeface="微软雅黑" pitchFamily="34" charset="-122"/>
                <a:ea typeface="微软雅黑" pitchFamily="34" charset="-122"/>
              </a:rPr>
              <a:t>A </a:t>
            </a:r>
            <a:r>
              <a:rPr lang="zh-CN" altLang="en-US" sz="2000" b="1" dirty="0">
                <a:latin typeface="微软雅黑" pitchFamily="34" charset="-122"/>
                <a:ea typeface="微软雅黑" pitchFamily="34" charset="-122"/>
              </a:rPr>
              <a:t>叫做</a:t>
            </a:r>
            <a:r>
              <a:rPr lang="zh-CN" altLang="en-US" sz="2000" b="1" dirty="0">
                <a:solidFill>
                  <a:srgbClr val="0000FF"/>
                </a:solidFill>
                <a:latin typeface="微软雅黑" pitchFamily="34" charset="-122"/>
                <a:ea typeface="微软雅黑" pitchFamily="34" charset="-122"/>
              </a:rPr>
              <a:t>发送方</a:t>
            </a:r>
            <a:r>
              <a:rPr lang="zh-CN" altLang="en-US" sz="2000" b="1" dirty="0">
                <a:latin typeface="微软雅黑" pitchFamily="34" charset="-122"/>
                <a:ea typeface="微软雅黑" pitchFamily="34" charset="-122"/>
              </a:rPr>
              <a:t>，而 </a:t>
            </a:r>
            <a:r>
              <a:rPr lang="en-US" altLang="zh-CN" sz="2000" b="1" dirty="0">
                <a:latin typeface="微软雅黑" pitchFamily="34" charset="-122"/>
                <a:ea typeface="微软雅黑" pitchFamily="34" charset="-122"/>
              </a:rPr>
              <a:t>B </a:t>
            </a:r>
            <a:r>
              <a:rPr lang="zh-CN" altLang="en-US" sz="2000" b="1" dirty="0">
                <a:latin typeface="微软雅黑" pitchFamily="34" charset="-122"/>
                <a:ea typeface="微软雅黑" pitchFamily="34" charset="-122"/>
              </a:rPr>
              <a:t>叫做</a:t>
            </a:r>
            <a:r>
              <a:rPr lang="zh-CN" altLang="en-US" sz="2000" b="1" dirty="0">
                <a:solidFill>
                  <a:srgbClr val="0000FF"/>
                </a:solidFill>
                <a:latin typeface="微软雅黑" pitchFamily="34" charset="-122"/>
                <a:ea typeface="微软雅黑" pitchFamily="34" charset="-122"/>
              </a:rPr>
              <a:t>接收方</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讨论可靠传输的原理时把传送的数据单元都称为分组</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每发送完一个分组就</a:t>
            </a:r>
            <a:r>
              <a:rPr lang="zh-CN" altLang="en-US" sz="2000" b="1" dirty="0">
                <a:solidFill>
                  <a:srgbClr val="C00000"/>
                </a:solidFill>
                <a:latin typeface="微软雅黑" pitchFamily="34" charset="-122"/>
                <a:ea typeface="微软雅黑" pitchFamily="34" charset="-122"/>
              </a:rPr>
              <a:t>停止</a:t>
            </a:r>
            <a:r>
              <a:rPr lang="zh-CN" altLang="en-US" sz="2000" b="1" dirty="0">
                <a:latin typeface="微软雅黑" pitchFamily="34" charset="-122"/>
                <a:ea typeface="微软雅黑" pitchFamily="34" charset="-122"/>
              </a:rPr>
              <a:t>发送，</a:t>
            </a:r>
            <a:r>
              <a:rPr lang="zh-CN" altLang="en-US" sz="2000" b="1" dirty="0">
                <a:solidFill>
                  <a:srgbClr val="C00000"/>
                </a:solidFill>
                <a:latin typeface="微软雅黑" pitchFamily="34" charset="-122"/>
                <a:ea typeface="微软雅黑" pitchFamily="34" charset="-122"/>
              </a:rPr>
              <a:t>等待</a:t>
            </a:r>
            <a:r>
              <a:rPr lang="zh-CN" altLang="en-US" sz="2000" b="1" dirty="0">
                <a:latin typeface="微软雅黑" pitchFamily="34" charset="-122"/>
                <a:ea typeface="微软雅黑" pitchFamily="34" charset="-122"/>
              </a:rPr>
              <a:t>对方的确认。在收到确认后再发送下一个分组。</a:t>
            </a:r>
          </a:p>
        </p:txBody>
      </p:sp>
    </p:spTree>
    <p:extLst>
      <p:ext uri="{BB962C8B-B14F-4D97-AF65-F5344CB8AC3E}">
        <p14:creationId xmlns:p14="http://schemas.microsoft.com/office/powerpoint/2010/main" val="208152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1000"/>
                                        <p:tgtEl>
                                          <p:spTgt spid="26">
                                            <p:txEl>
                                              <p:pRg st="0" end="0"/>
                                            </p:txEl>
                                          </p:spTgt>
                                        </p:tgtEl>
                                      </p:cBhvr>
                                    </p:animEffect>
                                    <p:anim calcmode="lin" valueType="num">
                                      <p:cBhvr>
                                        <p:cTn id="8" dur="1000" fill="hold"/>
                                        <p:tgtEl>
                                          <p:spTgt spid="2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6">
                                            <p:txEl>
                                              <p:pRg st="1" end="1"/>
                                            </p:txEl>
                                          </p:spTgt>
                                        </p:tgtEl>
                                        <p:attrNameLst>
                                          <p:attrName>style.visibility</p:attrName>
                                        </p:attrNameLst>
                                      </p:cBhvr>
                                      <p:to>
                                        <p:strVal val="visible"/>
                                      </p:to>
                                    </p:set>
                                    <p:animEffect transition="in" filter="fade">
                                      <p:cBhvr>
                                        <p:cTn id="14" dur="1000"/>
                                        <p:tgtEl>
                                          <p:spTgt spid="26">
                                            <p:txEl>
                                              <p:pRg st="1" end="1"/>
                                            </p:txEl>
                                          </p:spTgt>
                                        </p:tgtEl>
                                      </p:cBhvr>
                                    </p:animEffect>
                                    <p:anim calcmode="lin" valueType="num">
                                      <p:cBhvr>
                                        <p:cTn id="15" dur="1000" fill="hold"/>
                                        <p:tgtEl>
                                          <p:spTgt spid="2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6">
                                            <p:txEl>
                                              <p:pRg st="2" end="2"/>
                                            </p:txEl>
                                          </p:spTgt>
                                        </p:tgtEl>
                                        <p:attrNameLst>
                                          <p:attrName>style.visibility</p:attrName>
                                        </p:attrNameLst>
                                      </p:cBhvr>
                                      <p:to>
                                        <p:strVal val="visible"/>
                                      </p:to>
                                    </p:set>
                                    <p:animEffect transition="in" filter="fade">
                                      <p:cBhvr>
                                        <p:cTn id="21" dur="1000"/>
                                        <p:tgtEl>
                                          <p:spTgt spid="26">
                                            <p:txEl>
                                              <p:pRg st="2" end="2"/>
                                            </p:txEl>
                                          </p:spTgt>
                                        </p:tgtEl>
                                      </p:cBhvr>
                                    </p:animEffect>
                                    <p:anim calcmode="lin" valueType="num">
                                      <p:cBhvr>
                                        <p:cTn id="22" dur="1000" fill="hold"/>
                                        <p:tgtEl>
                                          <p:spTgt spid="2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6">
                                            <p:txEl>
                                              <p:pRg st="3" end="3"/>
                                            </p:txEl>
                                          </p:spTgt>
                                        </p:tgtEl>
                                        <p:attrNameLst>
                                          <p:attrName>style.visibility</p:attrName>
                                        </p:attrNameLst>
                                      </p:cBhvr>
                                      <p:to>
                                        <p:strVal val="visible"/>
                                      </p:to>
                                    </p:set>
                                    <p:animEffect transition="in" filter="fade">
                                      <p:cBhvr>
                                        <p:cTn id="28" dur="1000"/>
                                        <p:tgtEl>
                                          <p:spTgt spid="26">
                                            <p:txEl>
                                              <p:pRg st="3" end="3"/>
                                            </p:txEl>
                                          </p:spTgt>
                                        </p:tgtEl>
                                      </p:cBhvr>
                                    </p:animEffect>
                                    <p:anim calcmode="lin" valueType="num">
                                      <p:cBhvr>
                                        <p:cTn id="29" dur="1000" fill="hold"/>
                                        <p:tgtEl>
                                          <p:spTgt spid="2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AutoShape 5"/>
          <p:cNvSpPr>
            <a:spLocks noChangeArrowheads="1"/>
          </p:cNvSpPr>
          <p:nvPr/>
        </p:nvSpPr>
        <p:spPr bwMode="auto">
          <a:xfrm>
            <a:off x="545144" y="618481"/>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4" name="Rectangle 6"/>
          <p:cNvSpPr>
            <a:spLocks noChangeArrowheads="1"/>
          </p:cNvSpPr>
          <p:nvPr/>
        </p:nvSpPr>
        <p:spPr bwMode="auto">
          <a:xfrm>
            <a:off x="3675130" y="595391"/>
            <a:ext cx="17764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无差错情况</a:t>
            </a:r>
          </a:p>
        </p:txBody>
      </p:sp>
      <p:sp>
        <p:nvSpPr>
          <p:cNvPr id="65" name="圆角矩形 64"/>
          <p:cNvSpPr/>
          <p:nvPr/>
        </p:nvSpPr>
        <p:spPr>
          <a:xfrm>
            <a:off x="545144" y="1024260"/>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Text Box 155"/>
          <p:cNvSpPr txBox="1">
            <a:spLocks noChangeArrowheads="1"/>
          </p:cNvSpPr>
          <p:nvPr/>
        </p:nvSpPr>
        <p:spPr bwMode="auto">
          <a:xfrm>
            <a:off x="5451577" y="1725674"/>
            <a:ext cx="2922380" cy="1374735"/>
          </a:xfrm>
          <a:prstGeom prst="rect">
            <a:avLst/>
          </a:prstGeom>
          <a:solidFill>
            <a:schemeClr val="bg1"/>
          </a:solidFill>
          <a:ln w="9525">
            <a:solidFill>
              <a:schemeClr val="tx1"/>
            </a:solidFill>
            <a:miter lim="800000"/>
            <a:headEnd/>
            <a:tailEnd/>
          </a:ln>
          <a:effectLst/>
        </p:spPr>
        <p:txBody>
          <a:bodyPr wrap="square">
            <a:spAutoFit/>
          </a:bodyPr>
          <a:lstStyle/>
          <a:p>
            <a:pPr marL="285750" indent="-285750">
              <a:lnSpc>
                <a:spcPts val="2000"/>
              </a:lnSpc>
              <a:buFont typeface="Wingdings" panose="05000000000000000000" pitchFamily="2" charset="2"/>
              <a:buChar char="l"/>
            </a:pP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发送完分组 </a:t>
            </a:r>
            <a:r>
              <a:rPr lang="en-US" altLang="zh-CN" sz="1400" b="1" dirty="0">
                <a:latin typeface="微软雅黑" pitchFamily="34" charset="-122"/>
                <a:ea typeface="微软雅黑" pitchFamily="34" charset="-122"/>
              </a:rPr>
              <a:t>M</a:t>
            </a:r>
            <a:r>
              <a:rPr lang="en-US" altLang="zh-CN" sz="1400" b="1" baseline="-25000" dirty="0">
                <a:latin typeface="微软雅黑" pitchFamily="34" charset="-122"/>
                <a:ea typeface="微软雅黑" pitchFamily="34" charset="-122"/>
              </a:rPr>
              <a:t>1</a:t>
            </a:r>
            <a:r>
              <a:rPr lang="zh-CN" altLang="en-US" sz="1400" b="1" dirty="0">
                <a:latin typeface="微软雅黑" pitchFamily="34" charset="-122"/>
                <a:ea typeface="微软雅黑" pitchFamily="34" charset="-122"/>
              </a:rPr>
              <a:t> 后就暂停发送，等待 </a:t>
            </a:r>
            <a:r>
              <a:rPr lang="en-US" altLang="zh-CN" sz="1400" b="1" dirty="0">
                <a:latin typeface="微软雅黑" pitchFamily="34" charset="-122"/>
                <a:ea typeface="微软雅黑" pitchFamily="34" charset="-122"/>
              </a:rPr>
              <a:t>B </a:t>
            </a:r>
            <a:r>
              <a:rPr lang="zh-CN" altLang="en-US" sz="1400" b="1" dirty="0">
                <a:latin typeface="微软雅黑" pitchFamily="34" charset="-122"/>
                <a:ea typeface="微软雅黑" pitchFamily="34" charset="-122"/>
              </a:rPr>
              <a:t>的确认 </a:t>
            </a:r>
            <a:r>
              <a:rPr lang="en-US" altLang="zh-CN" sz="1400" b="1" dirty="0">
                <a:latin typeface="微软雅黑" pitchFamily="34" charset="-122"/>
                <a:ea typeface="微软雅黑" pitchFamily="34" charset="-122"/>
              </a:rPr>
              <a:t>(ACK)</a:t>
            </a:r>
            <a:r>
              <a:rPr lang="zh-CN" altLang="en-US" sz="1400" b="1" dirty="0">
                <a:latin typeface="微软雅黑" pitchFamily="34" charset="-122"/>
                <a:ea typeface="微软雅黑" pitchFamily="34" charset="-122"/>
              </a:rPr>
              <a:t>。</a:t>
            </a:r>
            <a:endParaRPr lang="en-US" altLang="zh-CN" sz="1400" b="1" dirty="0">
              <a:latin typeface="微软雅黑" pitchFamily="34" charset="-122"/>
              <a:ea typeface="微软雅黑" pitchFamily="34" charset="-122"/>
            </a:endParaRPr>
          </a:p>
          <a:p>
            <a:pPr marL="285750" indent="-285750">
              <a:lnSpc>
                <a:spcPts val="2000"/>
              </a:lnSpc>
              <a:buFont typeface="Wingdings" panose="05000000000000000000" pitchFamily="2" charset="2"/>
              <a:buChar char="l"/>
            </a:pPr>
            <a:r>
              <a:rPr lang="en-US" altLang="zh-CN" sz="1400" b="1" dirty="0">
                <a:latin typeface="微软雅黑" pitchFamily="34" charset="-122"/>
                <a:ea typeface="微软雅黑" pitchFamily="34" charset="-122"/>
              </a:rPr>
              <a:t>B </a:t>
            </a:r>
            <a:r>
              <a:rPr lang="zh-CN" altLang="en-US" sz="1400" b="1" dirty="0">
                <a:latin typeface="微软雅黑" pitchFamily="34" charset="-122"/>
                <a:ea typeface="微软雅黑" pitchFamily="34" charset="-122"/>
              </a:rPr>
              <a:t>收到 </a:t>
            </a:r>
            <a:r>
              <a:rPr lang="en-US" altLang="zh-CN" sz="1400" b="1" dirty="0">
                <a:latin typeface="微软雅黑" pitchFamily="34" charset="-122"/>
                <a:ea typeface="微软雅黑" pitchFamily="34" charset="-122"/>
              </a:rPr>
              <a:t>M</a:t>
            </a:r>
            <a:r>
              <a:rPr lang="en-US" altLang="zh-CN" sz="1400" b="1" baseline="-25000" dirty="0">
                <a:latin typeface="微软雅黑" pitchFamily="34" charset="-122"/>
                <a:ea typeface="微软雅黑" pitchFamily="34" charset="-122"/>
              </a:rPr>
              <a:t>1</a:t>
            </a:r>
            <a:r>
              <a:rPr lang="en-US" altLang="zh-CN" sz="1400" b="1" dirty="0">
                <a:latin typeface="微软雅黑" pitchFamily="34" charset="-122"/>
                <a:ea typeface="微软雅黑" pitchFamily="34" charset="-122"/>
              </a:rPr>
              <a:t> </a:t>
            </a:r>
            <a:r>
              <a:rPr lang="zh-CN" altLang="en-US" sz="1400" b="1" dirty="0">
                <a:latin typeface="微软雅黑" pitchFamily="34" charset="-122"/>
                <a:ea typeface="微软雅黑" pitchFamily="34" charset="-122"/>
              </a:rPr>
              <a:t>向 </a:t>
            </a: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发送  </a:t>
            </a:r>
            <a:r>
              <a:rPr lang="en-US" altLang="zh-CN" sz="1400" b="1" dirty="0">
                <a:latin typeface="微软雅黑" pitchFamily="34" charset="-122"/>
                <a:ea typeface="微软雅黑" pitchFamily="34" charset="-122"/>
              </a:rPr>
              <a:t>ACK</a:t>
            </a:r>
            <a:r>
              <a:rPr lang="zh-CN" altLang="en-US" sz="1400" b="1" dirty="0">
                <a:latin typeface="微软雅黑" pitchFamily="34" charset="-122"/>
                <a:ea typeface="微软雅黑" pitchFamily="34" charset="-122"/>
              </a:rPr>
              <a:t>。</a:t>
            </a:r>
            <a:endParaRPr lang="en-US" altLang="zh-CN" sz="1400" b="1" dirty="0">
              <a:latin typeface="微软雅黑" pitchFamily="34" charset="-122"/>
              <a:ea typeface="微软雅黑" pitchFamily="34" charset="-122"/>
            </a:endParaRPr>
          </a:p>
          <a:p>
            <a:pPr marL="285750" indent="-285750">
              <a:lnSpc>
                <a:spcPts val="2000"/>
              </a:lnSpc>
              <a:buFont typeface="Wingdings" panose="05000000000000000000" pitchFamily="2" charset="2"/>
              <a:buChar char="l"/>
            </a:pP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在收到了对 </a:t>
            </a:r>
            <a:r>
              <a:rPr lang="en-US" altLang="zh-CN" sz="1400" b="1" dirty="0">
                <a:latin typeface="微软雅黑" pitchFamily="34" charset="-122"/>
                <a:ea typeface="微软雅黑" pitchFamily="34" charset="-122"/>
              </a:rPr>
              <a:t>M</a:t>
            </a:r>
            <a:r>
              <a:rPr lang="en-US" altLang="zh-CN" sz="1400" b="1" baseline="-25000" dirty="0">
                <a:latin typeface="微软雅黑" pitchFamily="34" charset="-122"/>
                <a:ea typeface="微软雅黑" pitchFamily="34" charset="-122"/>
              </a:rPr>
              <a:t>1</a:t>
            </a:r>
            <a:r>
              <a:rPr lang="en-US" altLang="zh-CN" sz="1400" b="1" dirty="0">
                <a:latin typeface="微软雅黑" pitchFamily="34" charset="-122"/>
                <a:ea typeface="微软雅黑" pitchFamily="34" charset="-122"/>
              </a:rPr>
              <a:t> </a:t>
            </a:r>
            <a:r>
              <a:rPr lang="zh-CN" altLang="en-US" sz="1400" b="1" dirty="0">
                <a:latin typeface="微软雅黑" pitchFamily="34" charset="-122"/>
                <a:ea typeface="微软雅黑" pitchFamily="34" charset="-122"/>
              </a:rPr>
              <a:t>的确认后，就再发送下一个分组  </a:t>
            </a:r>
            <a:r>
              <a:rPr lang="en-US" altLang="zh-CN" sz="1400" b="1" dirty="0">
                <a:latin typeface="微软雅黑" pitchFamily="34" charset="-122"/>
                <a:ea typeface="微软雅黑" pitchFamily="34" charset="-122"/>
              </a:rPr>
              <a:t>M</a:t>
            </a:r>
            <a:r>
              <a:rPr lang="en-US" altLang="zh-CN" sz="1400" b="1" baseline="-25000" dirty="0">
                <a:latin typeface="微软雅黑" pitchFamily="34" charset="-122"/>
                <a:ea typeface="微软雅黑" pitchFamily="34" charset="-122"/>
              </a:rPr>
              <a:t>2</a:t>
            </a:r>
            <a:r>
              <a:rPr lang="zh-CN" altLang="en-US" sz="1400" b="1" dirty="0">
                <a:latin typeface="微软雅黑" pitchFamily="34" charset="-122"/>
                <a:ea typeface="微软雅黑" pitchFamily="34" charset="-122"/>
              </a:rPr>
              <a:t>。</a:t>
            </a:r>
          </a:p>
        </p:txBody>
      </p:sp>
      <p:grpSp>
        <p:nvGrpSpPr>
          <p:cNvPr id="67" name="Group 16"/>
          <p:cNvGrpSpPr>
            <a:grpSpLocks/>
          </p:cNvGrpSpPr>
          <p:nvPr/>
        </p:nvGrpSpPr>
        <p:grpSpPr bwMode="auto">
          <a:xfrm>
            <a:off x="3104636" y="1473745"/>
            <a:ext cx="1365577" cy="578834"/>
            <a:chOff x="3439" y="3564"/>
            <a:chExt cx="1156" cy="490"/>
          </a:xfrm>
        </p:grpSpPr>
        <p:sp>
          <p:nvSpPr>
            <p:cNvPr id="68" name="Freeform 17"/>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solidFill>
                  <a:srgbClr val="0000FF"/>
                </a:solidFill>
                <a:latin typeface="微软雅黑" pitchFamily="34" charset="-122"/>
                <a:ea typeface="微软雅黑" pitchFamily="34" charset="-122"/>
              </a:endParaRPr>
            </a:p>
          </p:txBody>
        </p:sp>
        <p:sp>
          <p:nvSpPr>
            <p:cNvPr id="69" name="AutoShape 18"/>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solidFill>
                  <a:srgbClr val="0000FF"/>
                </a:solidFill>
                <a:latin typeface="微软雅黑" pitchFamily="34" charset="-122"/>
                <a:ea typeface="微软雅黑" pitchFamily="34" charset="-122"/>
              </a:endParaRPr>
            </a:p>
          </p:txBody>
        </p:sp>
        <p:sp>
          <p:nvSpPr>
            <p:cNvPr id="70" name="Rectangle 19"/>
            <p:cNvSpPr>
              <a:spLocks noChangeArrowheads="1"/>
            </p:cNvSpPr>
            <p:nvPr/>
          </p:nvSpPr>
          <p:spPr bwMode="auto">
            <a:xfrm rot="540000">
              <a:off x="3620" y="3648"/>
              <a:ext cx="373" cy="2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grpSp>
        <p:nvGrpSpPr>
          <p:cNvPr id="71" name="Group 20"/>
          <p:cNvGrpSpPr>
            <a:grpSpLocks/>
          </p:cNvGrpSpPr>
          <p:nvPr/>
        </p:nvGrpSpPr>
        <p:grpSpPr bwMode="auto">
          <a:xfrm>
            <a:off x="3103455" y="2458943"/>
            <a:ext cx="1365577" cy="578834"/>
            <a:chOff x="3439" y="3564"/>
            <a:chExt cx="1156" cy="490"/>
          </a:xfrm>
        </p:grpSpPr>
        <p:sp>
          <p:nvSpPr>
            <p:cNvPr id="72" name="Freeform 21"/>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solidFill>
                  <a:srgbClr val="0000FF"/>
                </a:solidFill>
                <a:latin typeface="微软雅黑" pitchFamily="34" charset="-122"/>
                <a:ea typeface="微软雅黑" pitchFamily="34" charset="-122"/>
              </a:endParaRPr>
            </a:p>
          </p:txBody>
        </p:sp>
        <p:sp>
          <p:nvSpPr>
            <p:cNvPr id="73" name="AutoShape 22"/>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solidFill>
                  <a:srgbClr val="0000FF"/>
                </a:solidFill>
                <a:latin typeface="微软雅黑" pitchFamily="34" charset="-122"/>
                <a:ea typeface="微软雅黑" pitchFamily="34" charset="-122"/>
              </a:endParaRPr>
            </a:p>
          </p:txBody>
        </p:sp>
        <p:sp>
          <p:nvSpPr>
            <p:cNvPr id="74" name="Rectangle 23"/>
            <p:cNvSpPr>
              <a:spLocks noChangeArrowheads="1"/>
            </p:cNvSpPr>
            <p:nvPr/>
          </p:nvSpPr>
          <p:spPr bwMode="auto">
            <a:xfrm rot="540000">
              <a:off x="3620" y="3648"/>
              <a:ext cx="373" cy="2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2</a:t>
              </a:r>
            </a:p>
          </p:txBody>
        </p:sp>
      </p:grpSp>
      <p:grpSp>
        <p:nvGrpSpPr>
          <p:cNvPr id="75" name="Group 25"/>
          <p:cNvGrpSpPr>
            <a:grpSpLocks/>
          </p:cNvGrpSpPr>
          <p:nvPr/>
        </p:nvGrpSpPr>
        <p:grpSpPr bwMode="auto">
          <a:xfrm>
            <a:off x="3114893" y="2014780"/>
            <a:ext cx="1368315" cy="367382"/>
            <a:chOff x="2012" y="2305"/>
            <a:chExt cx="1177" cy="311"/>
          </a:xfrm>
        </p:grpSpPr>
        <p:sp>
          <p:nvSpPr>
            <p:cNvPr id="76" name="Line 26"/>
            <p:cNvSpPr>
              <a:spLocks noChangeShapeType="1"/>
            </p:cNvSpPr>
            <p:nvPr/>
          </p:nvSpPr>
          <p:spPr bwMode="auto">
            <a:xfrm flipH="1">
              <a:off x="2012" y="2415"/>
              <a:ext cx="1177"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77" name="Text Box 27"/>
            <p:cNvSpPr txBox="1">
              <a:spLocks noChangeArrowheads="1"/>
            </p:cNvSpPr>
            <p:nvPr/>
          </p:nvSpPr>
          <p:spPr bwMode="auto">
            <a:xfrm rot="21169770">
              <a:off x="2159" y="2305"/>
              <a:ext cx="583"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latin typeface="微软雅黑" pitchFamily="34" charset="-122"/>
                  <a:ea typeface="微软雅黑" pitchFamily="34" charset="-122"/>
                </a:rPr>
                <a:t>ACK </a:t>
              </a:r>
              <a:r>
                <a:rPr kumimoji="0" lang="en-US" altLang="zh-CN" sz="1400" b="1" baseline="-25000" dirty="0">
                  <a:latin typeface="微软雅黑" pitchFamily="34" charset="-122"/>
                  <a:ea typeface="微软雅黑" pitchFamily="34" charset="-122"/>
                </a:rPr>
                <a:t>1</a:t>
              </a:r>
            </a:p>
          </p:txBody>
        </p:sp>
      </p:grpSp>
      <p:grpSp>
        <p:nvGrpSpPr>
          <p:cNvPr id="78" name="Group 28"/>
          <p:cNvGrpSpPr>
            <a:grpSpLocks/>
          </p:cNvGrpSpPr>
          <p:nvPr/>
        </p:nvGrpSpPr>
        <p:grpSpPr bwMode="auto">
          <a:xfrm>
            <a:off x="3105443" y="3043683"/>
            <a:ext cx="1368315" cy="373289"/>
            <a:chOff x="2012" y="2300"/>
            <a:chExt cx="1177" cy="316"/>
          </a:xfrm>
        </p:grpSpPr>
        <p:sp>
          <p:nvSpPr>
            <p:cNvPr id="79" name="Line 29"/>
            <p:cNvSpPr>
              <a:spLocks noChangeShapeType="1"/>
            </p:cNvSpPr>
            <p:nvPr/>
          </p:nvSpPr>
          <p:spPr bwMode="auto">
            <a:xfrm flipH="1">
              <a:off x="2012" y="2415"/>
              <a:ext cx="1177"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80" name="Text Box 30"/>
            <p:cNvSpPr txBox="1">
              <a:spLocks noChangeArrowheads="1"/>
            </p:cNvSpPr>
            <p:nvPr/>
          </p:nvSpPr>
          <p:spPr bwMode="auto">
            <a:xfrm rot="21169770">
              <a:off x="2167" y="2300"/>
              <a:ext cx="583"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latin typeface="微软雅黑" pitchFamily="34" charset="-122"/>
                  <a:ea typeface="微软雅黑" pitchFamily="34" charset="-122"/>
                </a:rPr>
                <a:t>ACK </a:t>
              </a:r>
              <a:r>
                <a:rPr kumimoji="0" lang="en-US" altLang="zh-CN" sz="1400" b="1" baseline="-25000" dirty="0">
                  <a:latin typeface="微软雅黑" pitchFamily="34" charset="-122"/>
                  <a:ea typeface="微软雅黑" pitchFamily="34" charset="-122"/>
                </a:rPr>
                <a:t>2</a:t>
              </a:r>
            </a:p>
          </p:txBody>
        </p:sp>
      </p:grpSp>
      <p:grpSp>
        <p:nvGrpSpPr>
          <p:cNvPr id="81" name="Group 33"/>
          <p:cNvGrpSpPr>
            <a:grpSpLocks/>
          </p:cNvGrpSpPr>
          <p:nvPr/>
        </p:nvGrpSpPr>
        <p:grpSpPr bwMode="auto">
          <a:xfrm>
            <a:off x="1242915" y="1747808"/>
            <a:ext cx="1741229" cy="538670"/>
            <a:chOff x="446" y="1800"/>
            <a:chExt cx="1474" cy="456"/>
          </a:xfrm>
        </p:grpSpPr>
        <p:sp>
          <p:nvSpPr>
            <p:cNvPr id="82" name="Text Box 31"/>
            <p:cNvSpPr txBox="1">
              <a:spLocks noChangeArrowheads="1"/>
            </p:cNvSpPr>
            <p:nvPr/>
          </p:nvSpPr>
          <p:spPr bwMode="auto">
            <a:xfrm>
              <a:off x="446" y="1800"/>
              <a:ext cx="994" cy="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1400" b="1" dirty="0">
                  <a:solidFill>
                    <a:srgbClr val="CC00CC"/>
                  </a:solidFill>
                  <a:latin typeface="微软雅黑" pitchFamily="34" charset="-122"/>
                  <a:ea typeface="微软雅黑" pitchFamily="34" charset="-122"/>
                </a:rPr>
                <a:t>停止发送，等待 </a:t>
              </a:r>
              <a:r>
                <a:rPr lang="en-US" altLang="zh-CN" sz="1400" b="1" dirty="0">
                  <a:solidFill>
                    <a:srgbClr val="CC00CC"/>
                  </a:solidFill>
                  <a:latin typeface="微软雅黑" pitchFamily="34" charset="-122"/>
                  <a:ea typeface="微软雅黑" pitchFamily="34" charset="-122"/>
                </a:rPr>
                <a:t>ACK</a:t>
              </a:r>
            </a:p>
          </p:txBody>
        </p:sp>
        <p:sp>
          <p:nvSpPr>
            <p:cNvPr id="83" name="Line 32"/>
            <p:cNvSpPr>
              <a:spLocks noChangeShapeType="1"/>
            </p:cNvSpPr>
            <p:nvPr/>
          </p:nvSpPr>
          <p:spPr bwMode="auto">
            <a:xfrm>
              <a:off x="1296" y="1920"/>
              <a:ext cx="624" cy="0"/>
            </a:xfrm>
            <a:prstGeom prst="line">
              <a:avLst/>
            </a:prstGeom>
            <a:noFill/>
            <a:ln w="28575">
              <a:solidFill>
                <a:srgbClr val="CC00C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itchFamily="34" charset="-122"/>
                <a:ea typeface="微软雅黑" pitchFamily="34" charset="-122"/>
              </a:endParaRPr>
            </a:p>
          </p:txBody>
        </p:sp>
      </p:grpSp>
      <p:grpSp>
        <p:nvGrpSpPr>
          <p:cNvPr id="84" name="Group 37"/>
          <p:cNvGrpSpPr>
            <a:grpSpLocks/>
          </p:cNvGrpSpPr>
          <p:nvPr/>
        </p:nvGrpSpPr>
        <p:grpSpPr bwMode="auto">
          <a:xfrm>
            <a:off x="1242915" y="2299923"/>
            <a:ext cx="1741229" cy="523313"/>
            <a:chOff x="446" y="2304"/>
            <a:chExt cx="1474" cy="443"/>
          </a:xfrm>
        </p:grpSpPr>
        <p:sp>
          <p:nvSpPr>
            <p:cNvPr id="85" name="Text Box 35"/>
            <p:cNvSpPr txBox="1">
              <a:spLocks noChangeArrowheads="1"/>
            </p:cNvSpPr>
            <p:nvPr/>
          </p:nvSpPr>
          <p:spPr bwMode="auto">
            <a:xfrm>
              <a:off x="446" y="2304"/>
              <a:ext cx="1114" cy="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1400" b="1" dirty="0">
                  <a:solidFill>
                    <a:srgbClr val="0000CC"/>
                  </a:solidFill>
                  <a:latin typeface="微软雅黑" pitchFamily="34" charset="-122"/>
                  <a:ea typeface="微软雅黑" pitchFamily="34" charset="-122"/>
                </a:rPr>
                <a:t>收到 </a:t>
              </a:r>
              <a:r>
                <a:rPr lang="en-US" altLang="zh-CN" sz="1400" b="1" dirty="0">
                  <a:solidFill>
                    <a:srgbClr val="0000CC"/>
                  </a:solidFill>
                  <a:latin typeface="微软雅黑" pitchFamily="34" charset="-122"/>
                  <a:ea typeface="微软雅黑" pitchFamily="34" charset="-122"/>
                </a:rPr>
                <a:t>ACK</a:t>
              </a:r>
              <a:r>
                <a:rPr lang="zh-CN" altLang="en-US" sz="1400" b="1" dirty="0">
                  <a:solidFill>
                    <a:srgbClr val="0000CC"/>
                  </a:solidFill>
                  <a:latin typeface="微软雅黑" pitchFamily="34" charset="-122"/>
                  <a:ea typeface="微软雅黑" pitchFamily="34" charset="-122"/>
                </a:rPr>
                <a:t>，继续发送</a:t>
              </a:r>
            </a:p>
          </p:txBody>
        </p:sp>
        <p:sp>
          <p:nvSpPr>
            <p:cNvPr id="86" name="Line 36"/>
            <p:cNvSpPr>
              <a:spLocks noChangeShapeType="1"/>
            </p:cNvSpPr>
            <p:nvPr/>
          </p:nvSpPr>
          <p:spPr bwMode="auto">
            <a:xfrm>
              <a:off x="1296" y="2448"/>
              <a:ext cx="624" cy="0"/>
            </a:xfrm>
            <a:prstGeom prst="line">
              <a:avLst/>
            </a:prstGeom>
            <a:noFill/>
            <a:ln w="28575">
              <a:solidFill>
                <a:srgbClr val="0000C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itchFamily="34" charset="-122"/>
                <a:ea typeface="微软雅黑" pitchFamily="34" charset="-122"/>
              </a:endParaRPr>
            </a:p>
          </p:txBody>
        </p:sp>
      </p:grpSp>
      <p:sp>
        <p:nvSpPr>
          <p:cNvPr id="87" name="TextBox 86"/>
          <p:cNvSpPr txBox="1"/>
          <p:nvPr/>
        </p:nvSpPr>
        <p:spPr>
          <a:xfrm>
            <a:off x="4451069" y="1966259"/>
            <a:ext cx="854721" cy="307777"/>
          </a:xfrm>
          <a:prstGeom prst="rect">
            <a:avLst/>
          </a:prstGeom>
          <a:noFill/>
        </p:spPr>
        <p:txBody>
          <a:bodyPr wrap="none" rtlCol="0">
            <a:spAutoFit/>
          </a:bodyPr>
          <a:lstStyle/>
          <a:p>
            <a:pPr defTabSz="762000" eaLnBrk="0" hangingPunct="0"/>
            <a:r>
              <a:rPr lang="zh-CN" altLang="en-US" sz="1400" b="1" dirty="0">
                <a:solidFill>
                  <a:srgbClr val="0000FF"/>
                </a:solidFill>
                <a:latin typeface="微软雅黑" pitchFamily="34" charset="-122"/>
                <a:ea typeface="微软雅黑" pitchFamily="34" charset="-122"/>
              </a:rPr>
              <a:t>确认 </a:t>
            </a:r>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sp>
        <p:nvSpPr>
          <p:cNvPr id="88" name="TextBox 87"/>
          <p:cNvSpPr txBox="1"/>
          <p:nvPr/>
        </p:nvSpPr>
        <p:spPr>
          <a:xfrm>
            <a:off x="4451069" y="2954720"/>
            <a:ext cx="854721" cy="307777"/>
          </a:xfrm>
          <a:prstGeom prst="rect">
            <a:avLst/>
          </a:prstGeom>
          <a:noFill/>
        </p:spPr>
        <p:txBody>
          <a:bodyPr wrap="none" rtlCol="0">
            <a:spAutoFit/>
          </a:bodyPr>
          <a:lstStyle/>
          <a:p>
            <a:r>
              <a:rPr lang="zh-CN" altLang="en-US" sz="1400" b="1" dirty="0">
                <a:solidFill>
                  <a:srgbClr val="0000FF"/>
                </a:solidFill>
                <a:latin typeface="微软雅黑" pitchFamily="34" charset="-122"/>
                <a:ea typeface="微软雅黑" pitchFamily="34" charset="-122"/>
              </a:rPr>
              <a:t>确认 </a:t>
            </a:r>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2</a:t>
            </a:r>
            <a:endParaRPr lang="zh-CN" altLang="en-US" sz="1400" b="1" baseline="-25000" dirty="0">
              <a:solidFill>
                <a:srgbClr val="0000FF"/>
              </a:solidFill>
              <a:latin typeface="微软雅黑" pitchFamily="34" charset="-122"/>
              <a:ea typeface="微软雅黑" pitchFamily="34" charset="-122"/>
            </a:endParaRPr>
          </a:p>
        </p:txBody>
      </p:sp>
      <p:grpSp>
        <p:nvGrpSpPr>
          <p:cNvPr id="89" name="组合 88"/>
          <p:cNvGrpSpPr/>
          <p:nvPr/>
        </p:nvGrpSpPr>
        <p:grpSpPr>
          <a:xfrm>
            <a:off x="2822657" y="1374516"/>
            <a:ext cx="1930174" cy="2673907"/>
            <a:chOff x="3674443" y="2912516"/>
            <a:chExt cx="2593891" cy="3593374"/>
          </a:xfrm>
        </p:grpSpPr>
        <p:sp>
          <p:nvSpPr>
            <p:cNvPr id="90" name="Line 4"/>
            <p:cNvSpPr>
              <a:spLocks noChangeShapeType="1"/>
            </p:cNvSpPr>
            <p:nvPr/>
          </p:nvSpPr>
          <p:spPr bwMode="auto">
            <a:xfrm>
              <a:off x="4055098" y="2912516"/>
              <a:ext cx="0" cy="317976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91" name="Line 5"/>
            <p:cNvSpPr>
              <a:spLocks noChangeShapeType="1"/>
            </p:cNvSpPr>
            <p:nvPr/>
          </p:nvSpPr>
          <p:spPr bwMode="auto">
            <a:xfrm>
              <a:off x="5885232" y="2912516"/>
              <a:ext cx="0" cy="316071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92" name="TextBox 91"/>
            <p:cNvSpPr txBox="1"/>
            <p:nvPr/>
          </p:nvSpPr>
          <p:spPr>
            <a:xfrm>
              <a:off x="5537622" y="6092279"/>
              <a:ext cx="730712" cy="413611"/>
            </a:xfrm>
            <a:prstGeom prst="rect">
              <a:avLst/>
            </a:prstGeom>
            <a:noFill/>
          </p:spPr>
          <p:txBody>
            <a:bodyPr wrap="none" rtlCol="0">
              <a:spAutoFit/>
            </a:bodyPr>
            <a:lstStyle/>
            <a:p>
              <a:r>
                <a:rPr lang="zh-CN" altLang="en-US" sz="1400" b="1" dirty="0">
                  <a:latin typeface="微软雅黑" pitchFamily="34" charset="-122"/>
                  <a:ea typeface="微软雅黑" pitchFamily="34" charset="-122"/>
                </a:rPr>
                <a:t>时间</a:t>
              </a:r>
            </a:p>
          </p:txBody>
        </p:sp>
        <p:sp>
          <p:nvSpPr>
            <p:cNvPr id="93" name="TextBox 92"/>
            <p:cNvSpPr txBox="1"/>
            <p:nvPr/>
          </p:nvSpPr>
          <p:spPr>
            <a:xfrm>
              <a:off x="3674443" y="6092279"/>
              <a:ext cx="730712" cy="413611"/>
            </a:xfrm>
            <a:prstGeom prst="rect">
              <a:avLst/>
            </a:prstGeom>
            <a:noFill/>
          </p:spPr>
          <p:txBody>
            <a:bodyPr wrap="none" rtlCol="0">
              <a:spAutoFit/>
            </a:bodyPr>
            <a:lstStyle/>
            <a:p>
              <a:r>
                <a:rPr lang="zh-CN" altLang="en-US" sz="1400" b="1" dirty="0">
                  <a:latin typeface="微软雅黑" pitchFamily="34" charset="-122"/>
                  <a:ea typeface="微软雅黑" pitchFamily="34" charset="-122"/>
                </a:rPr>
                <a:t>时间</a:t>
              </a:r>
            </a:p>
          </p:txBody>
        </p:sp>
      </p:grpSp>
      <p:grpSp>
        <p:nvGrpSpPr>
          <p:cNvPr id="33" name="Group 33"/>
          <p:cNvGrpSpPr>
            <a:grpSpLocks/>
          </p:cNvGrpSpPr>
          <p:nvPr/>
        </p:nvGrpSpPr>
        <p:grpSpPr bwMode="auto">
          <a:xfrm>
            <a:off x="1242915" y="2743732"/>
            <a:ext cx="1741229" cy="538670"/>
            <a:chOff x="446" y="1800"/>
            <a:chExt cx="1474" cy="456"/>
          </a:xfrm>
        </p:grpSpPr>
        <p:sp>
          <p:nvSpPr>
            <p:cNvPr id="34" name="Text Box 31"/>
            <p:cNvSpPr txBox="1">
              <a:spLocks noChangeArrowheads="1"/>
            </p:cNvSpPr>
            <p:nvPr/>
          </p:nvSpPr>
          <p:spPr bwMode="auto">
            <a:xfrm>
              <a:off x="446" y="1800"/>
              <a:ext cx="994" cy="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1400" b="1" dirty="0">
                  <a:solidFill>
                    <a:srgbClr val="CC00CC"/>
                  </a:solidFill>
                  <a:latin typeface="微软雅黑" pitchFamily="34" charset="-122"/>
                  <a:ea typeface="微软雅黑" pitchFamily="34" charset="-122"/>
                </a:rPr>
                <a:t>停止发送，等待 </a:t>
              </a:r>
              <a:r>
                <a:rPr lang="en-US" altLang="zh-CN" sz="1400" b="1" dirty="0">
                  <a:solidFill>
                    <a:srgbClr val="CC00CC"/>
                  </a:solidFill>
                  <a:latin typeface="微软雅黑" pitchFamily="34" charset="-122"/>
                  <a:ea typeface="微软雅黑" pitchFamily="34" charset="-122"/>
                </a:rPr>
                <a:t>ACK</a:t>
              </a:r>
            </a:p>
          </p:txBody>
        </p:sp>
        <p:sp>
          <p:nvSpPr>
            <p:cNvPr id="35" name="Line 32"/>
            <p:cNvSpPr>
              <a:spLocks noChangeShapeType="1"/>
            </p:cNvSpPr>
            <p:nvPr/>
          </p:nvSpPr>
          <p:spPr bwMode="auto">
            <a:xfrm>
              <a:off x="1296" y="1920"/>
              <a:ext cx="624" cy="0"/>
            </a:xfrm>
            <a:prstGeom prst="line">
              <a:avLst/>
            </a:prstGeom>
            <a:noFill/>
            <a:ln w="28575">
              <a:solidFill>
                <a:srgbClr val="CC00C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itchFamily="34" charset="-122"/>
                <a:ea typeface="微软雅黑" pitchFamily="34" charset="-122"/>
              </a:endParaRPr>
            </a:p>
          </p:txBody>
        </p:sp>
      </p:grpSp>
      <p:sp>
        <p:nvSpPr>
          <p:cNvPr id="36" name="Rectangle 38"/>
          <p:cNvSpPr>
            <a:spLocks noChangeArrowheads="1"/>
          </p:cNvSpPr>
          <p:nvPr/>
        </p:nvSpPr>
        <p:spPr bwMode="auto">
          <a:xfrm>
            <a:off x="2934130" y="1110083"/>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A</a:t>
            </a:r>
          </a:p>
        </p:txBody>
      </p:sp>
      <p:sp>
        <p:nvSpPr>
          <p:cNvPr id="37" name="Rectangle 39"/>
          <p:cNvSpPr>
            <a:spLocks noChangeArrowheads="1"/>
          </p:cNvSpPr>
          <p:nvPr/>
        </p:nvSpPr>
        <p:spPr bwMode="auto">
          <a:xfrm>
            <a:off x="4306259" y="1110083"/>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B</a:t>
            </a:r>
          </a:p>
        </p:txBody>
      </p:sp>
    </p:spTree>
    <p:extLst>
      <p:ext uri="{BB962C8B-B14F-4D97-AF65-F5344CB8AC3E}">
        <p14:creationId xmlns:p14="http://schemas.microsoft.com/office/powerpoint/2010/main" val="3530705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wipe(left)">
                                      <p:cBhvr>
                                        <p:cTn id="7" dur="1000"/>
                                        <p:tgtEl>
                                          <p:spTgt spid="67"/>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81"/>
                                        </p:tgtEl>
                                        <p:attrNameLst>
                                          <p:attrName>style.visibility</p:attrName>
                                        </p:attrNameLst>
                                      </p:cBhvr>
                                      <p:to>
                                        <p:strVal val="visible"/>
                                      </p:to>
                                    </p:set>
                                    <p:animEffect transition="in" filter="wipe(left)">
                                      <p:cBhvr>
                                        <p:cTn id="11" dur="1000"/>
                                        <p:tgtEl>
                                          <p:spTgt spid="81"/>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999"/>
                                          </p:stCondLst>
                                        </p:cTn>
                                        <p:tgtEl>
                                          <p:spTgt spid="87"/>
                                        </p:tgtEl>
                                        <p:attrNameLst>
                                          <p:attrName>style.visibility</p:attrName>
                                        </p:attrNameLst>
                                      </p:cBhvr>
                                      <p:to>
                                        <p:strVal val="visible"/>
                                      </p:to>
                                    </p:set>
                                  </p:childTnLst>
                                </p:cTn>
                              </p:par>
                            </p:childTnLst>
                          </p:cTn>
                        </p:par>
                        <p:par>
                          <p:cTn id="16" fill="hold">
                            <p:stCondLst>
                              <p:cond delay="1000"/>
                            </p:stCondLst>
                            <p:childTnLst>
                              <p:par>
                                <p:cTn id="17" presetID="22" presetClass="entr" presetSubtype="2" fill="hold" nodeType="afterEffect">
                                  <p:stCondLst>
                                    <p:cond delay="0"/>
                                  </p:stCondLst>
                                  <p:childTnLst>
                                    <p:set>
                                      <p:cBhvr>
                                        <p:cTn id="18" dur="1" fill="hold">
                                          <p:stCondLst>
                                            <p:cond delay="0"/>
                                          </p:stCondLst>
                                        </p:cTn>
                                        <p:tgtEl>
                                          <p:spTgt spid="75"/>
                                        </p:tgtEl>
                                        <p:attrNameLst>
                                          <p:attrName>style.visibility</p:attrName>
                                        </p:attrNameLst>
                                      </p:cBhvr>
                                      <p:to>
                                        <p:strVal val="visible"/>
                                      </p:to>
                                    </p:set>
                                    <p:animEffect transition="in" filter="wipe(right)">
                                      <p:cBhvr>
                                        <p:cTn id="19" dur="1000"/>
                                        <p:tgtEl>
                                          <p:spTgt spid="7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84"/>
                                        </p:tgtEl>
                                        <p:attrNameLst>
                                          <p:attrName>style.visibility</p:attrName>
                                        </p:attrNameLst>
                                      </p:cBhvr>
                                      <p:to>
                                        <p:strVal val="visible"/>
                                      </p:to>
                                    </p:set>
                                    <p:animEffect transition="in" filter="wipe(left)">
                                      <p:cBhvr>
                                        <p:cTn id="24" dur="1000"/>
                                        <p:tgtEl>
                                          <p:spTgt spid="84"/>
                                        </p:tgtEl>
                                      </p:cBhvr>
                                    </p:animEffect>
                                  </p:childTnLst>
                                </p:cTn>
                              </p:par>
                            </p:childTnLst>
                          </p:cTn>
                        </p:par>
                        <p:par>
                          <p:cTn id="25" fill="hold">
                            <p:stCondLst>
                              <p:cond delay="1000"/>
                            </p:stCondLst>
                            <p:childTnLst>
                              <p:par>
                                <p:cTn id="26" presetID="22" presetClass="entr" presetSubtype="8" fill="hold" nodeType="afterEffect">
                                  <p:stCondLst>
                                    <p:cond delay="1000"/>
                                  </p:stCondLst>
                                  <p:childTnLst>
                                    <p:set>
                                      <p:cBhvr>
                                        <p:cTn id="27" dur="1" fill="hold">
                                          <p:stCondLst>
                                            <p:cond delay="0"/>
                                          </p:stCondLst>
                                        </p:cTn>
                                        <p:tgtEl>
                                          <p:spTgt spid="71"/>
                                        </p:tgtEl>
                                        <p:attrNameLst>
                                          <p:attrName>style.visibility</p:attrName>
                                        </p:attrNameLst>
                                      </p:cBhvr>
                                      <p:to>
                                        <p:strVal val="visible"/>
                                      </p:to>
                                    </p:set>
                                    <p:animEffect transition="in" filter="wipe(left)">
                                      <p:cBhvr>
                                        <p:cTn id="28" dur="1000"/>
                                        <p:tgtEl>
                                          <p:spTgt spid="71"/>
                                        </p:tgtEl>
                                      </p:cBhvr>
                                    </p:animEffect>
                                  </p:childTnLst>
                                </p:cTn>
                              </p:par>
                            </p:childTnLst>
                          </p:cTn>
                        </p:par>
                        <p:par>
                          <p:cTn id="29" fill="hold">
                            <p:stCondLst>
                              <p:cond delay="3000"/>
                            </p:stCondLst>
                            <p:childTnLst>
                              <p:par>
                                <p:cTn id="30" presetID="22" presetClass="entr" presetSubtype="8" fill="hold" nodeType="after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left)">
                                      <p:cBhvr>
                                        <p:cTn id="32" dur="100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8"/>
                                        </p:tgtEl>
                                        <p:attrNameLst>
                                          <p:attrName>style.visibility</p:attrName>
                                        </p:attrNameLst>
                                      </p:cBhvr>
                                      <p:to>
                                        <p:strVal val="visible"/>
                                      </p:to>
                                    </p:set>
                                  </p:childTnLst>
                                </p:cTn>
                              </p:par>
                            </p:childTnLst>
                          </p:cTn>
                        </p:par>
                        <p:par>
                          <p:cTn id="37" fill="hold">
                            <p:stCondLst>
                              <p:cond delay="0"/>
                            </p:stCondLst>
                            <p:childTnLst>
                              <p:par>
                                <p:cTn id="38" presetID="22" presetClass="entr" presetSubtype="2" fill="hold" nodeType="afterEffect">
                                  <p:stCondLst>
                                    <p:cond delay="1000"/>
                                  </p:stCondLst>
                                  <p:childTnLst>
                                    <p:set>
                                      <p:cBhvr>
                                        <p:cTn id="39" dur="1" fill="hold">
                                          <p:stCondLst>
                                            <p:cond delay="0"/>
                                          </p:stCondLst>
                                        </p:cTn>
                                        <p:tgtEl>
                                          <p:spTgt spid="78"/>
                                        </p:tgtEl>
                                        <p:attrNameLst>
                                          <p:attrName>style.visibility</p:attrName>
                                        </p:attrNameLst>
                                      </p:cBhvr>
                                      <p:to>
                                        <p:strVal val="visible"/>
                                      </p:to>
                                    </p:set>
                                    <p:animEffect transition="in" filter="wipe(right)">
                                      <p:cBhvr>
                                        <p:cTn id="40" dur="10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p:bldP spid="8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8481"/>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803370" y="595391"/>
            <a:ext cx="15199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出现差错</a:t>
            </a:r>
          </a:p>
        </p:txBody>
      </p:sp>
      <p:sp>
        <p:nvSpPr>
          <p:cNvPr id="7" name="圆角矩形 6"/>
          <p:cNvSpPr/>
          <p:nvPr/>
        </p:nvSpPr>
        <p:spPr>
          <a:xfrm>
            <a:off x="545144" y="1050392"/>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Text Box 28"/>
          <p:cNvSpPr txBox="1">
            <a:spLocks noChangeArrowheads="1"/>
          </p:cNvSpPr>
          <p:nvPr/>
        </p:nvSpPr>
        <p:spPr bwMode="auto">
          <a:xfrm>
            <a:off x="2565148" y="3952790"/>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0000FF"/>
                </a:solidFill>
                <a:latin typeface="微软雅黑" pitchFamily="34" charset="-122"/>
                <a:ea typeface="微软雅黑" pitchFamily="34" charset="-122"/>
              </a:rPr>
              <a:t>分组错误</a:t>
            </a:r>
          </a:p>
        </p:txBody>
      </p:sp>
      <p:grpSp>
        <p:nvGrpSpPr>
          <p:cNvPr id="37" name="组合 36"/>
          <p:cNvGrpSpPr/>
          <p:nvPr/>
        </p:nvGrpSpPr>
        <p:grpSpPr>
          <a:xfrm>
            <a:off x="2442953" y="1581642"/>
            <a:ext cx="1159152" cy="2263658"/>
            <a:chOff x="1968664" y="1662782"/>
            <a:chExt cx="1840305" cy="3179762"/>
          </a:xfrm>
        </p:grpSpPr>
        <p:sp>
          <p:nvSpPr>
            <p:cNvPr id="38" name="Line 36"/>
            <p:cNvSpPr>
              <a:spLocks noChangeShapeType="1"/>
            </p:cNvSpPr>
            <p:nvPr/>
          </p:nvSpPr>
          <p:spPr bwMode="auto">
            <a:xfrm>
              <a:off x="1968664" y="1662782"/>
              <a:ext cx="0" cy="3179762"/>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39" name="Line 37"/>
            <p:cNvSpPr>
              <a:spLocks noChangeShapeType="1"/>
            </p:cNvSpPr>
            <p:nvPr/>
          </p:nvSpPr>
          <p:spPr bwMode="auto">
            <a:xfrm>
              <a:off x="3808969" y="1662782"/>
              <a:ext cx="0" cy="3160711"/>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grpSp>
      <p:sp>
        <p:nvSpPr>
          <p:cNvPr id="40" name="Rectangle 38"/>
          <p:cNvSpPr>
            <a:spLocks noChangeArrowheads="1"/>
          </p:cNvSpPr>
          <p:nvPr/>
        </p:nvSpPr>
        <p:spPr bwMode="auto">
          <a:xfrm>
            <a:off x="2321087" y="1297665"/>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A</a:t>
            </a:r>
          </a:p>
        </p:txBody>
      </p:sp>
      <p:sp>
        <p:nvSpPr>
          <p:cNvPr id="41" name="Rectangle 39"/>
          <p:cNvSpPr>
            <a:spLocks noChangeArrowheads="1"/>
          </p:cNvSpPr>
          <p:nvPr/>
        </p:nvSpPr>
        <p:spPr bwMode="auto">
          <a:xfrm>
            <a:off x="3495991" y="1297665"/>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itchFamily="34" charset="-122"/>
                <a:ea typeface="微软雅黑" pitchFamily="34" charset="-122"/>
              </a:rPr>
              <a:t>B</a:t>
            </a:r>
          </a:p>
        </p:txBody>
      </p:sp>
      <p:grpSp>
        <p:nvGrpSpPr>
          <p:cNvPr id="42" name="Group 40"/>
          <p:cNvGrpSpPr>
            <a:grpSpLocks/>
          </p:cNvGrpSpPr>
          <p:nvPr/>
        </p:nvGrpSpPr>
        <p:grpSpPr bwMode="auto">
          <a:xfrm>
            <a:off x="2445077" y="1665635"/>
            <a:ext cx="1155905" cy="489960"/>
            <a:chOff x="3439" y="3564"/>
            <a:chExt cx="1156" cy="490"/>
          </a:xfrm>
        </p:grpSpPr>
        <p:sp>
          <p:nvSpPr>
            <p:cNvPr id="43" name="Freeform 41"/>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44" name="AutoShape 42"/>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45" name="Rectangle 43"/>
            <p:cNvSpPr>
              <a:spLocks noChangeArrowheads="1"/>
            </p:cNvSpPr>
            <p:nvPr/>
          </p:nvSpPr>
          <p:spPr bwMode="auto">
            <a:xfrm rot="540000">
              <a:off x="3641" y="3633"/>
              <a:ext cx="441" cy="30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grpSp>
        <p:nvGrpSpPr>
          <p:cNvPr id="46" name="Group 44"/>
          <p:cNvGrpSpPr>
            <a:grpSpLocks/>
          </p:cNvGrpSpPr>
          <p:nvPr/>
        </p:nvGrpSpPr>
        <p:grpSpPr bwMode="auto">
          <a:xfrm>
            <a:off x="2444077" y="2649335"/>
            <a:ext cx="1155905" cy="489960"/>
            <a:chOff x="3439" y="3564"/>
            <a:chExt cx="1156" cy="490"/>
          </a:xfrm>
        </p:grpSpPr>
        <p:sp>
          <p:nvSpPr>
            <p:cNvPr id="47" name="Freeform 45"/>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48" name="AutoShape 46"/>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49" name="Rectangle 47"/>
            <p:cNvSpPr>
              <a:spLocks noChangeArrowheads="1"/>
            </p:cNvSpPr>
            <p:nvPr/>
          </p:nvSpPr>
          <p:spPr bwMode="auto">
            <a:xfrm rot="540000">
              <a:off x="3641" y="3633"/>
              <a:ext cx="441" cy="30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grpSp>
        <p:nvGrpSpPr>
          <p:cNvPr id="50" name="Group 51"/>
          <p:cNvGrpSpPr>
            <a:grpSpLocks/>
          </p:cNvGrpSpPr>
          <p:nvPr/>
        </p:nvGrpSpPr>
        <p:grpSpPr bwMode="auto">
          <a:xfrm>
            <a:off x="2427078" y="3124300"/>
            <a:ext cx="1176904" cy="335973"/>
            <a:chOff x="2012" y="2280"/>
            <a:chExt cx="1177" cy="336"/>
          </a:xfrm>
        </p:grpSpPr>
        <p:sp>
          <p:nvSpPr>
            <p:cNvPr id="51" name="Line 52"/>
            <p:cNvSpPr>
              <a:spLocks noChangeShapeType="1"/>
            </p:cNvSpPr>
            <p:nvPr/>
          </p:nvSpPr>
          <p:spPr bwMode="auto">
            <a:xfrm flipH="1">
              <a:off x="2012" y="2415"/>
              <a:ext cx="1177"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52" name="Text Box 53"/>
            <p:cNvSpPr txBox="1">
              <a:spLocks noChangeArrowheads="1"/>
            </p:cNvSpPr>
            <p:nvPr/>
          </p:nvSpPr>
          <p:spPr bwMode="auto">
            <a:xfrm rot="21169770">
              <a:off x="2127" y="2280"/>
              <a:ext cx="68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latin typeface="微软雅黑" pitchFamily="34" charset="-122"/>
                  <a:ea typeface="微软雅黑" pitchFamily="34" charset="-122"/>
                </a:rPr>
                <a:t>ACK </a:t>
              </a:r>
              <a:r>
                <a:rPr kumimoji="0" lang="en-US" altLang="zh-CN" sz="1400" b="1" baseline="-25000" dirty="0">
                  <a:latin typeface="微软雅黑" pitchFamily="34" charset="-122"/>
                  <a:ea typeface="微软雅黑" pitchFamily="34" charset="-122"/>
                </a:rPr>
                <a:t>1</a:t>
              </a:r>
            </a:p>
          </p:txBody>
        </p:sp>
      </p:grpSp>
      <p:grpSp>
        <p:nvGrpSpPr>
          <p:cNvPr id="4" name="组合 3">
            <a:extLst>
              <a:ext uri="{FF2B5EF4-FFF2-40B4-BE49-F238E27FC236}">
                <a16:creationId xmlns:a16="http://schemas.microsoft.com/office/drawing/2014/main" id="{5DA4A1F2-3862-E43D-47D7-10751A942BCD}"/>
              </a:ext>
            </a:extLst>
          </p:cNvPr>
          <p:cNvGrpSpPr/>
          <p:nvPr/>
        </p:nvGrpSpPr>
        <p:grpSpPr>
          <a:xfrm>
            <a:off x="3632979" y="1839621"/>
            <a:ext cx="932516" cy="415966"/>
            <a:chOff x="3632979" y="1839621"/>
            <a:chExt cx="932516" cy="415966"/>
          </a:xfrm>
        </p:grpSpPr>
        <p:sp>
          <p:nvSpPr>
            <p:cNvPr id="53" name="Rectangle 56"/>
            <p:cNvSpPr>
              <a:spLocks noChangeArrowheads="1"/>
            </p:cNvSpPr>
            <p:nvPr/>
          </p:nvSpPr>
          <p:spPr bwMode="auto">
            <a:xfrm>
              <a:off x="4023679" y="1906605"/>
              <a:ext cx="54181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zh-CN" altLang="en-US" sz="1400" b="1" dirty="0">
                  <a:solidFill>
                    <a:srgbClr val="CC00CC"/>
                  </a:solidFill>
                  <a:latin typeface="微软雅黑" pitchFamily="34" charset="-122"/>
                  <a:ea typeface="微软雅黑" pitchFamily="34" charset="-122"/>
                </a:rPr>
                <a:t>丢弃</a:t>
              </a:r>
              <a:endParaRPr lang="zh-CN" altLang="en-US" sz="1400" b="1" baseline="-25000" dirty="0">
                <a:solidFill>
                  <a:srgbClr val="CC00CC"/>
                </a:solidFill>
                <a:latin typeface="微软雅黑" pitchFamily="34" charset="-122"/>
                <a:ea typeface="微软雅黑" pitchFamily="34" charset="-122"/>
              </a:endParaRPr>
            </a:p>
          </p:txBody>
        </p:sp>
        <p:sp>
          <p:nvSpPr>
            <p:cNvPr id="54" name="AutoShape 60"/>
            <p:cNvSpPr>
              <a:spLocks noChangeArrowheads="1"/>
            </p:cNvSpPr>
            <p:nvPr/>
          </p:nvSpPr>
          <p:spPr bwMode="auto">
            <a:xfrm>
              <a:off x="3632979" y="1839621"/>
              <a:ext cx="433965" cy="415966"/>
            </a:xfrm>
            <a:prstGeom prst="irregularSeal1">
              <a:avLst/>
            </a:prstGeom>
            <a:solidFill>
              <a:srgbClr val="FF0000"/>
            </a:solidFill>
            <a:ln w="9525" algn="ctr">
              <a:solidFill>
                <a:schemeClr val="tx1"/>
              </a:solidFill>
              <a:miter lim="800000"/>
              <a:headEnd/>
              <a:tailEnd/>
            </a:ln>
            <a:effectLst/>
          </p:spPr>
          <p:txBody>
            <a:bodyPr wrap="none" anchor="ctr"/>
            <a:lstStyle/>
            <a:p>
              <a:endParaRPr lang="zh-CN" altLang="en-US" sz="1400">
                <a:latin typeface="微软雅黑" pitchFamily="34" charset="-122"/>
                <a:ea typeface="微软雅黑" pitchFamily="34" charset="-122"/>
              </a:endParaRPr>
            </a:p>
          </p:txBody>
        </p:sp>
      </p:grpSp>
      <p:sp>
        <p:nvSpPr>
          <p:cNvPr id="55" name="Text Box 24"/>
          <p:cNvSpPr txBox="1">
            <a:spLocks noChangeArrowheads="1"/>
          </p:cNvSpPr>
          <p:nvPr/>
        </p:nvSpPr>
        <p:spPr bwMode="auto">
          <a:xfrm>
            <a:off x="1556001" y="267884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C00000"/>
                </a:solidFill>
                <a:latin typeface="微软雅黑" pitchFamily="34" charset="-122"/>
                <a:ea typeface="微软雅黑" pitchFamily="34" charset="-122"/>
              </a:rPr>
              <a:t>超时重传</a:t>
            </a:r>
          </a:p>
        </p:txBody>
      </p:sp>
      <p:grpSp>
        <p:nvGrpSpPr>
          <p:cNvPr id="56" name="Group 25"/>
          <p:cNvGrpSpPr>
            <a:grpSpLocks/>
          </p:cNvGrpSpPr>
          <p:nvPr/>
        </p:nvGrpSpPr>
        <p:grpSpPr bwMode="auto">
          <a:xfrm>
            <a:off x="1879539" y="2010185"/>
            <a:ext cx="502959" cy="583952"/>
            <a:chOff x="3188" y="2204"/>
            <a:chExt cx="503" cy="584"/>
          </a:xfrm>
        </p:grpSpPr>
        <p:sp>
          <p:nvSpPr>
            <p:cNvPr id="57" name="AutoShape 26"/>
            <p:cNvSpPr>
              <a:spLocks/>
            </p:cNvSpPr>
            <p:nvPr/>
          </p:nvSpPr>
          <p:spPr bwMode="auto">
            <a:xfrm>
              <a:off x="3635" y="2204"/>
              <a:ext cx="56" cy="584"/>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58" name="Text Box 27"/>
            <p:cNvSpPr txBox="1">
              <a:spLocks noChangeArrowheads="1"/>
            </p:cNvSpPr>
            <p:nvPr/>
          </p:nvSpPr>
          <p:spPr bwMode="auto">
            <a:xfrm>
              <a:off x="3188" y="2311"/>
              <a:ext cx="46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solidFill>
                    <a:srgbClr val="0000FF"/>
                  </a:solidFill>
                  <a:latin typeface="微软雅黑" pitchFamily="34" charset="-122"/>
                  <a:ea typeface="微软雅黑" pitchFamily="34" charset="-122"/>
                </a:rPr>
                <a:t>t</a:t>
              </a:r>
              <a:r>
                <a:rPr kumimoji="0" lang="en-US" altLang="zh-CN" sz="1400" b="1" baseline="-25000" dirty="0">
                  <a:solidFill>
                    <a:srgbClr val="0000FF"/>
                  </a:solidFill>
                  <a:latin typeface="微软雅黑" pitchFamily="34" charset="-122"/>
                  <a:ea typeface="微软雅黑" pitchFamily="34" charset="-122"/>
                </a:rPr>
                <a:t>out</a:t>
              </a:r>
            </a:p>
          </p:txBody>
        </p:sp>
      </p:grpSp>
      <p:grpSp>
        <p:nvGrpSpPr>
          <p:cNvPr id="81" name="Group 33"/>
          <p:cNvGrpSpPr>
            <a:grpSpLocks/>
          </p:cNvGrpSpPr>
          <p:nvPr/>
        </p:nvGrpSpPr>
        <p:grpSpPr bwMode="auto">
          <a:xfrm>
            <a:off x="955137" y="1854628"/>
            <a:ext cx="1383297" cy="799738"/>
            <a:chOff x="749" y="1800"/>
            <a:chExt cx="1171" cy="677"/>
          </a:xfrm>
        </p:grpSpPr>
        <p:sp>
          <p:nvSpPr>
            <p:cNvPr id="82" name="Text Box 31"/>
            <p:cNvSpPr txBox="1">
              <a:spLocks noChangeArrowheads="1"/>
            </p:cNvSpPr>
            <p:nvPr/>
          </p:nvSpPr>
          <p:spPr bwMode="auto">
            <a:xfrm>
              <a:off x="749" y="1800"/>
              <a:ext cx="891" cy="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1400" b="1" dirty="0">
                  <a:solidFill>
                    <a:srgbClr val="CC00CC"/>
                  </a:solidFill>
                  <a:latin typeface="微软雅黑" pitchFamily="34" charset="-122"/>
                  <a:ea typeface="微软雅黑" pitchFamily="34" charset="-122"/>
                </a:rPr>
                <a:t>启动超时计时器</a:t>
              </a:r>
              <a:r>
                <a:rPr lang="en-US" altLang="zh-CN" sz="1800" b="1" kern="0" dirty="0">
                  <a:solidFill>
                    <a:srgbClr val="0000FF"/>
                  </a:solidFill>
                  <a:latin typeface="微软雅黑" pitchFamily="34" charset="-122"/>
                  <a:ea typeface="微软雅黑" pitchFamily="34" charset="-122"/>
                  <a:sym typeface="Wingdings" pitchFamily="2" charset="2"/>
                </a:rPr>
                <a:t></a:t>
              </a:r>
              <a:r>
                <a:rPr lang="zh-CN" altLang="en-US" sz="1400" b="1" dirty="0">
                  <a:solidFill>
                    <a:srgbClr val="CC00CC"/>
                  </a:solidFill>
                  <a:latin typeface="微软雅黑" pitchFamily="34" charset="-122"/>
                  <a:ea typeface="微软雅黑" pitchFamily="34" charset="-122"/>
                </a:rPr>
                <a:t>，等待 </a:t>
              </a:r>
              <a:r>
                <a:rPr lang="en-US" altLang="zh-CN" sz="1400" b="1" dirty="0">
                  <a:solidFill>
                    <a:srgbClr val="CC00CC"/>
                  </a:solidFill>
                  <a:latin typeface="微软雅黑" pitchFamily="34" charset="-122"/>
                  <a:ea typeface="微软雅黑" pitchFamily="34" charset="-122"/>
                </a:rPr>
                <a:t>ACK</a:t>
              </a:r>
            </a:p>
          </p:txBody>
        </p:sp>
        <p:sp>
          <p:nvSpPr>
            <p:cNvPr id="83" name="Line 32"/>
            <p:cNvSpPr>
              <a:spLocks noChangeShapeType="1"/>
            </p:cNvSpPr>
            <p:nvPr/>
          </p:nvSpPr>
          <p:spPr bwMode="auto">
            <a:xfrm>
              <a:off x="1532" y="1920"/>
              <a:ext cx="388" cy="0"/>
            </a:xfrm>
            <a:prstGeom prst="line">
              <a:avLst/>
            </a:prstGeom>
            <a:noFill/>
            <a:ln w="28575">
              <a:solidFill>
                <a:srgbClr val="CC00C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itchFamily="34" charset="-122"/>
                <a:ea typeface="微软雅黑" pitchFamily="34" charset="-122"/>
              </a:endParaRPr>
            </a:p>
          </p:txBody>
        </p:sp>
      </p:grpSp>
      <p:sp>
        <p:nvSpPr>
          <p:cNvPr id="87" name="TextBox 86"/>
          <p:cNvSpPr txBox="1"/>
          <p:nvPr/>
        </p:nvSpPr>
        <p:spPr>
          <a:xfrm>
            <a:off x="3582107" y="3047752"/>
            <a:ext cx="854721" cy="307777"/>
          </a:xfrm>
          <a:prstGeom prst="rect">
            <a:avLst/>
          </a:prstGeom>
          <a:noFill/>
        </p:spPr>
        <p:txBody>
          <a:bodyPr wrap="none" rtlCol="0">
            <a:spAutoFit/>
          </a:bodyPr>
          <a:lstStyle/>
          <a:p>
            <a:pPr defTabSz="762000" eaLnBrk="0" hangingPunct="0"/>
            <a:r>
              <a:rPr lang="zh-CN" altLang="en-US" sz="1400" b="1" dirty="0">
                <a:solidFill>
                  <a:srgbClr val="0000FF"/>
                </a:solidFill>
                <a:latin typeface="微软雅黑" pitchFamily="34" charset="-122"/>
                <a:ea typeface="微软雅黑" pitchFamily="34" charset="-122"/>
              </a:rPr>
              <a:t>确认 </a:t>
            </a:r>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sp>
        <p:nvSpPr>
          <p:cNvPr id="3" name="文本框 2">
            <a:extLst>
              <a:ext uri="{FF2B5EF4-FFF2-40B4-BE49-F238E27FC236}">
                <a16:creationId xmlns:a16="http://schemas.microsoft.com/office/drawing/2014/main" id="{3A391C7E-3C33-95F6-F83A-E08890361833}"/>
              </a:ext>
            </a:extLst>
          </p:cNvPr>
          <p:cNvSpPr txBox="1"/>
          <p:nvPr/>
        </p:nvSpPr>
        <p:spPr>
          <a:xfrm>
            <a:off x="4956195" y="1839621"/>
            <a:ext cx="3251787" cy="2122761"/>
          </a:xfrm>
          <a:prstGeom prst="rect">
            <a:avLst/>
          </a:prstGeom>
          <a:solidFill>
            <a:schemeClr val="bg1"/>
          </a:solidFill>
          <a:ln w="9525">
            <a:solidFill>
              <a:schemeClr val="tx1"/>
            </a:solidFill>
            <a:miter lim="800000"/>
            <a:headEnd/>
            <a:tailEnd/>
          </a:ln>
          <a:effectLst/>
        </p:spPr>
        <p:txBody>
          <a:bodyPr wrap="square">
            <a:spAutoFit/>
          </a:bodyPr>
          <a:lstStyle>
            <a:defPPr>
              <a:defRPr lang="zh-CN"/>
            </a:defPPr>
            <a:lvl1pPr marL="285750" indent="-285750">
              <a:lnSpc>
                <a:spcPts val="2000"/>
              </a:lnSpc>
              <a:buFont typeface="Wingdings" panose="05000000000000000000" pitchFamily="2" charset="2"/>
              <a:buChar char="l"/>
              <a:defRPr sz="1400" b="1">
                <a:latin typeface="微软雅黑" pitchFamily="34" charset="-122"/>
                <a:ea typeface="微软雅黑" pitchFamily="34" charset="-122"/>
              </a:defRPr>
            </a:lvl1pPr>
          </a:lstStyle>
          <a:p>
            <a:r>
              <a:rPr lang="zh-CN" altLang="en-US" dirty="0"/>
              <a:t>若</a:t>
            </a:r>
            <a:r>
              <a:rPr lang="en-US" altLang="zh-CN" dirty="0"/>
              <a:t>B</a:t>
            </a:r>
            <a:r>
              <a:rPr lang="zh-CN" altLang="en-US" dirty="0"/>
              <a:t>接收</a:t>
            </a:r>
            <a:r>
              <a:rPr lang="en-US" altLang="zh-CN" dirty="0"/>
              <a:t>M</a:t>
            </a:r>
            <a:r>
              <a:rPr lang="en-US" altLang="zh-CN" baseline="-25000" dirty="0"/>
              <a:t>1</a:t>
            </a:r>
            <a:r>
              <a:rPr lang="zh-CN" altLang="en-US" dirty="0"/>
              <a:t>时检测出了差错，就丢弃</a:t>
            </a:r>
            <a:r>
              <a:rPr lang="en-US" altLang="zh-CN" dirty="0"/>
              <a:t>M</a:t>
            </a:r>
            <a:r>
              <a:rPr lang="en-US" altLang="zh-CN" baseline="-25000" dirty="0"/>
              <a:t>1</a:t>
            </a:r>
            <a:r>
              <a:rPr lang="zh-CN" altLang="en-US" dirty="0"/>
              <a:t>，其他什么也不做 。</a:t>
            </a:r>
            <a:endParaRPr lang="en-US" altLang="zh-CN" dirty="0"/>
          </a:p>
          <a:p>
            <a:r>
              <a:rPr lang="zh-CN" altLang="en-US" dirty="0"/>
              <a:t>只要超过一段时间</a:t>
            </a:r>
            <a:r>
              <a:rPr lang="en-US" altLang="zh-CN" dirty="0"/>
              <a:t>A</a:t>
            </a:r>
            <a:r>
              <a:rPr lang="zh-CN" altLang="en-US" dirty="0"/>
              <a:t>没有收到确认，就认为已发送的分组丢失了，因而重传前面发送过的分组。这就叫做</a:t>
            </a:r>
            <a:r>
              <a:rPr lang="zh-CN" altLang="en-US" dirty="0">
                <a:solidFill>
                  <a:srgbClr val="C00000"/>
                </a:solidFill>
              </a:rPr>
              <a:t>超时重传</a:t>
            </a:r>
            <a:r>
              <a:rPr lang="zh-CN" altLang="en-US" dirty="0"/>
              <a:t>。</a:t>
            </a:r>
            <a:endParaRPr lang="en-US" altLang="zh-CN" dirty="0"/>
          </a:p>
          <a:p>
            <a:r>
              <a:rPr lang="zh-CN" altLang="en-US" dirty="0"/>
              <a:t>要实现超时重传，就要在每发送完一个分组时设置一个超时计时器。</a:t>
            </a:r>
          </a:p>
        </p:txBody>
      </p:sp>
    </p:spTree>
    <p:extLst>
      <p:ext uri="{BB962C8B-B14F-4D97-AF65-F5344CB8AC3E}">
        <p14:creationId xmlns:p14="http://schemas.microsoft.com/office/powerpoint/2010/main" val="699967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35" presetClass="emph" presetSubtype="0" repeatCount="3000" fill="hold" nodeType="afterEffect">
                                  <p:stCondLst>
                                    <p:cond delay="0"/>
                                  </p:stCondLst>
                                  <p:childTnLst>
                                    <p:anim calcmode="discrete" valueType="str">
                                      <p:cBhvr>
                                        <p:cTn id="12"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1000"/>
                                        <p:tgtEl>
                                          <p:spTgt spid="3">
                                            <p:txEl>
                                              <p:pRg st="1" end="1"/>
                                            </p:txEl>
                                          </p:spTgt>
                                        </p:tgtEl>
                                      </p:cBhvr>
                                    </p:animEffect>
                                    <p:anim calcmode="lin" valueType="num">
                                      <p:cBhvr>
                                        <p:cTn id="1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par>
                          <p:cTn id="20" fill="hold">
                            <p:stCondLst>
                              <p:cond delay="1000"/>
                            </p:stCondLst>
                            <p:childTnLst>
                              <p:par>
                                <p:cTn id="21" presetID="35" presetClass="emph" presetSubtype="0" repeatCount="3000" fill="hold" grpId="0" nodeType="afterEffect">
                                  <p:stCondLst>
                                    <p:cond delay="0"/>
                                  </p:stCondLst>
                                  <p:childTnLst>
                                    <p:anim calcmode="discrete" valueType="str">
                                      <p:cBhvr>
                                        <p:cTn id="22" dur="1000" fill="hold"/>
                                        <p:tgtEl>
                                          <p:spTgt spid="55"/>
                                        </p:tgtEl>
                                        <p:attrNameLst>
                                          <p:attrName>style.visibility</p:attrName>
                                        </p:attrNameLst>
                                      </p:cBhvr>
                                      <p:tavLst>
                                        <p:tav tm="0">
                                          <p:val>
                                            <p:strVal val="hidden"/>
                                          </p:val>
                                        </p:tav>
                                        <p:tav tm="50000">
                                          <p:val>
                                            <p:strVal val="visible"/>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par>
                          <p:cTn id="30" fill="hold">
                            <p:stCondLst>
                              <p:cond delay="1000"/>
                            </p:stCondLst>
                            <p:childTnLst>
                              <p:par>
                                <p:cTn id="31" presetID="35" presetClass="emph" presetSubtype="0" repeatCount="3000" fill="hold" nodeType="afterEffect">
                                  <p:stCondLst>
                                    <p:cond delay="0"/>
                                  </p:stCondLst>
                                  <p:childTnLst>
                                    <p:anim calcmode="discrete" valueType="str">
                                      <p:cBhvr>
                                        <p:cTn id="32" dur="1000" fill="hold"/>
                                        <p:tgtEl>
                                          <p:spTgt spid="8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4C488-ABB4-74AF-E589-B04C30CAAEE7}"/>
            </a:ext>
          </a:extLst>
        </p:cNvPr>
        <p:cNvGrpSpPr/>
        <p:nvPr/>
      </p:nvGrpSpPr>
      <p:grpSpPr>
        <a:xfrm>
          <a:off x="0" y="0"/>
          <a:ext cx="0" cy="0"/>
          <a:chOff x="0" y="0"/>
          <a:chExt cx="0" cy="0"/>
        </a:xfrm>
      </p:grpSpPr>
      <p:sp>
        <p:nvSpPr>
          <p:cNvPr id="5" name="AutoShape 5">
            <a:extLst>
              <a:ext uri="{FF2B5EF4-FFF2-40B4-BE49-F238E27FC236}">
                <a16:creationId xmlns:a16="http://schemas.microsoft.com/office/drawing/2014/main" id="{8D04CD4D-68C5-3E16-223E-1FB8A4F7D489}"/>
              </a:ext>
            </a:extLst>
          </p:cNvPr>
          <p:cNvSpPr>
            <a:spLocks noChangeArrowheads="1"/>
          </p:cNvSpPr>
          <p:nvPr/>
        </p:nvSpPr>
        <p:spPr bwMode="auto">
          <a:xfrm>
            <a:off x="545144" y="618481"/>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a:extLst>
              <a:ext uri="{FF2B5EF4-FFF2-40B4-BE49-F238E27FC236}">
                <a16:creationId xmlns:a16="http://schemas.microsoft.com/office/drawing/2014/main" id="{1570D683-4A62-F91B-8E7D-872385A761CD}"/>
              </a:ext>
            </a:extLst>
          </p:cNvPr>
          <p:cNvSpPr>
            <a:spLocks noChangeArrowheads="1"/>
          </p:cNvSpPr>
          <p:nvPr/>
        </p:nvSpPr>
        <p:spPr bwMode="auto">
          <a:xfrm>
            <a:off x="3803370" y="595391"/>
            <a:ext cx="15199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出现差错</a:t>
            </a:r>
          </a:p>
        </p:txBody>
      </p:sp>
      <p:sp>
        <p:nvSpPr>
          <p:cNvPr id="7" name="圆角矩形 6">
            <a:extLst>
              <a:ext uri="{FF2B5EF4-FFF2-40B4-BE49-F238E27FC236}">
                <a16:creationId xmlns:a16="http://schemas.microsoft.com/office/drawing/2014/main" id="{FD26839D-7C8A-C74D-0FB6-3C650C5EA443}"/>
              </a:ext>
            </a:extLst>
          </p:cNvPr>
          <p:cNvSpPr/>
          <p:nvPr/>
        </p:nvSpPr>
        <p:spPr>
          <a:xfrm>
            <a:off x="545144" y="1050392"/>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Text Box 28">
            <a:extLst>
              <a:ext uri="{FF2B5EF4-FFF2-40B4-BE49-F238E27FC236}">
                <a16:creationId xmlns:a16="http://schemas.microsoft.com/office/drawing/2014/main" id="{9ED2D261-3736-0BBA-2565-D703C8AAC1F6}"/>
              </a:ext>
            </a:extLst>
          </p:cNvPr>
          <p:cNvSpPr txBox="1">
            <a:spLocks noChangeArrowheads="1"/>
          </p:cNvSpPr>
          <p:nvPr/>
        </p:nvSpPr>
        <p:spPr bwMode="auto">
          <a:xfrm>
            <a:off x="2565148" y="3952790"/>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0000FF"/>
                </a:solidFill>
                <a:latin typeface="微软雅黑" pitchFamily="34" charset="-122"/>
                <a:ea typeface="微软雅黑" pitchFamily="34" charset="-122"/>
              </a:rPr>
              <a:t>分组错误</a:t>
            </a:r>
          </a:p>
        </p:txBody>
      </p:sp>
      <p:grpSp>
        <p:nvGrpSpPr>
          <p:cNvPr id="37" name="组合 36">
            <a:extLst>
              <a:ext uri="{FF2B5EF4-FFF2-40B4-BE49-F238E27FC236}">
                <a16:creationId xmlns:a16="http://schemas.microsoft.com/office/drawing/2014/main" id="{416F5A2A-6F41-EE04-36AA-B4993D790A3D}"/>
              </a:ext>
            </a:extLst>
          </p:cNvPr>
          <p:cNvGrpSpPr/>
          <p:nvPr/>
        </p:nvGrpSpPr>
        <p:grpSpPr>
          <a:xfrm>
            <a:off x="2442953" y="1581642"/>
            <a:ext cx="1159152" cy="2263658"/>
            <a:chOff x="1968664" y="1662782"/>
            <a:chExt cx="1840305" cy="3179762"/>
          </a:xfrm>
        </p:grpSpPr>
        <p:sp>
          <p:nvSpPr>
            <p:cNvPr id="38" name="Line 36">
              <a:extLst>
                <a:ext uri="{FF2B5EF4-FFF2-40B4-BE49-F238E27FC236}">
                  <a16:creationId xmlns:a16="http://schemas.microsoft.com/office/drawing/2014/main" id="{B840C741-B0FB-93C4-1D1F-2D04BF9850EB}"/>
                </a:ext>
              </a:extLst>
            </p:cNvPr>
            <p:cNvSpPr>
              <a:spLocks noChangeShapeType="1"/>
            </p:cNvSpPr>
            <p:nvPr/>
          </p:nvSpPr>
          <p:spPr bwMode="auto">
            <a:xfrm>
              <a:off x="1968664" y="1662782"/>
              <a:ext cx="0" cy="3179762"/>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39" name="Line 37">
              <a:extLst>
                <a:ext uri="{FF2B5EF4-FFF2-40B4-BE49-F238E27FC236}">
                  <a16:creationId xmlns:a16="http://schemas.microsoft.com/office/drawing/2014/main" id="{94AEA520-6B2A-D377-FCE5-A1FC0812AFC3}"/>
                </a:ext>
              </a:extLst>
            </p:cNvPr>
            <p:cNvSpPr>
              <a:spLocks noChangeShapeType="1"/>
            </p:cNvSpPr>
            <p:nvPr/>
          </p:nvSpPr>
          <p:spPr bwMode="auto">
            <a:xfrm>
              <a:off x="3808969" y="1662782"/>
              <a:ext cx="0" cy="3160711"/>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grpSp>
      <p:sp>
        <p:nvSpPr>
          <p:cNvPr id="40" name="Rectangle 38">
            <a:extLst>
              <a:ext uri="{FF2B5EF4-FFF2-40B4-BE49-F238E27FC236}">
                <a16:creationId xmlns:a16="http://schemas.microsoft.com/office/drawing/2014/main" id="{2EE349E6-C4FD-34B7-4662-5484846B0A5D}"/>
              </a:ext>
            </a:extLst>
          </p:cNvPr>
          <p:cNvSpPr>
            <a:spLocks noChangeArrowheads="1"/>
          </p:cNvSpPr>
          <p:nvPr/>
        </p:nvSpPr>
        <p:spPr bwMode="auto">
          <a:xfrm>
            <a:off x="2321087" y="1297665"/>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A</a:t>
            </a:r>
          </a:p>
        </p:txBody>
      </p:sp>
      <p:sp>
        <p:nvSpPr>
          <p:cNvPr id="41" name="Rectangle 39">
            <a:extLst>
              <a:ext uri="{FF2B5EF4-FFF2-40B4-BE49-F238E27FC236}">
                <a16:creationId xmlns:a16="http://schemas.microsoft.com/office/drawing/2014/main" id="{3D63E608-3CE6-CB04-97C3-1B2E6BEA3E80}"/>
              </a:ext>
            </a:extLst>
          </p:cNvPr>
          <p:cNvSpPr>
            <a:spLocks noChangeArrowheads="1"/>
          </p:cNvSpPr>
          <p:nvPr/>
        </p:nvSpPr>
        <p:spPr bwMode="auto">
          <a:xfrm>
            <a:off x="3495991" y="1297665"/>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itchFamily="34" charset="-122"/>
                <a:ea typeface="微软雅黑" pitchFamily="34" charset="-122"/>
              </a:rPr>
              <a:t>B</a:t>
            </a:r>
          </a:p>
        </p:txBody>
      </p:sp>
      <p:grpSp>
        <p:nvGrpSpPr>
          <p:cNvPr id="42" name="Group 40">
            <a:extLst>
              <a:ext uri="{FF2B5EF4-FFF2-40B4-BE49-F238E27FC236}">
                <a16:creationId xmlns:a16="http://schemas.microsoft.com/office/drawing/2014/main" id="{6CC45D7D-E3A1-BEFD-5427-3869F6A29857}"/>
              </a:ext>
            </a:extLst>
          </p:cNvPr>
          <p:cNvGrpSpPr>
            <a:grpSpLocks/>
          </p:cNvGrpSpPr>
          <p:nvPr/>
        </p:nvGrpSpPr>
        <p:grpSpPr bwMode="auto">
          <a:xfrm>
            <a:off x="2445077" y="1665635"/>
            <a:ext cx="1155905" cy="489960"/>
            <a:chOff x="3439" y="3564"/>
            <a:chExt cx="1156" cy="490"/>
          </a:xfrm>
        </p:grpSpPr>
        <p:sp>
          <p:nvSpPr>
            <p:cNvPr id="43" name="Freeform 41">
              <a:extLst>
                <a:ext uri="{FF2B5EF4-FFF2-40B4-BE49-F238E27FC236}">
                  <a16:creationId xmlns:a16="http://schemas.microsoft.com/office/drawing/2014/main" id="{667E5269-CD94-4F4D-8785-FB625D57C6FF}"/>
                </a:ext>
              </a:extLst>
            </p:cNvPr>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44" name="AutoShape 42">
              <a:extLst>
                <a:ext uri="{FF2B5EF4-FFF2-40B4-BE49-F238E27FC236}">
                  <a16:creationId xmlns:a16="http://schemas.microsoft.com/office/drawing/2014/main" id="{6CF921DD-1502-A9E7-C792-62C73CA24DA6}"/>
                </a:ext>
              </a:extLst>
            </p:cNvPr>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45" name="Rectangle 43">
              <a:extLst>
                <a:ext uri="{FF2B5EF4-FFF2-40B4-BE49-F238E27FC236}">
                  <a16:creationId xmlns:a16="http://schemas.microsoft.com/office/drawing/2014/main" id="{5F69DA59-590C-FAA8-0B83-C699B081486E}"/>
                </a:ext>
              </a:extLst>
            </p:cNvPr>
            <p:cNvSpPr>
              <a:spLocks noChangeArrowheads="1"/>
            </p:cNvSpPr>
            <p:nvPr/>
          </p:nvSpPr>
          <p:spPr bwMode="auto">
            <a:xfrm rot="540000">
              <a:off x="3641" y="3633"/>
              <a:ext cx="441" cy="30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grpSp>
        <p:nvGrpSpPr>
          <p:cNvPr id="46" name="Group 44">
            <a:extLst>
              <a:ext uri="{FF2B5EF4-FFF2-40B4-BE49-F238E27FC236}">
                <a16:creationId xmlns:a16="http://schemas.microsoft.com/office/drawing/2014/main" id="{6A4779E0-5C3A-E28C-D589-855B671AC5CA}"/>
              </a:ext>
            </a:extLst>
          </p:cNvPr>
          <p:cNvGrpSpPr>
            <a:grpSpLocks/>
          </p:cNvGrpSpPr>
          <p:nvPr/>
        </p:nvGrpSpPr>
        <p:grpSpPr bwMode="auto">
          <a:xfrm>
            <a:off x="2444077" y="2649335"/>
            <a:ext cx="1155905" cy="489960"/>
            <a:chOff x="3439" y="3564"/>
            <a:chExt cx="1156" cy="490"/>
          </a:xfrm>
        </p:grpSpPr>
        <p:sp>
          <p:nvSpPr>
            <p:cNvPr id="47" name="Freeform 45">
              <a:extLst>
                <a:ext uri="{FF2B5EF4-FFF2-40B4-BE49-F238E27FC236}">
                  <a16:creationId xmlns:a16="http://schemas.microsoft.com/office/drawing/2014/main" id="{E9C7A25C-F28B-D6EF-E12B-A08E78FDF823}"/>
                </a:ext>
              </a:extLst>
            </p:cNvPr>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48" name="AutoShape 46">
              <a:extLst>
                <a:ext uri="{FF2B5EF4-FFF2-40B4-BE49-F238E27FC236}">
                  <a16:creationId xmlns:a16="http://schemas.microsoft.com/office/drawing/2014/main" id="{90589499-3E85-DF9E-B80A-668ECF446F8C}"/>
                </a:ext>
              </a:extLst>
            </p:cNvPr>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49" name="Rectangle 47">
              <a:extLst>
                <a:ext uri="{FF2B5EF4-FFF2-40B4-BE49-F238E27FC236}">
                  <a16:creationId xmlns:a16="http://schemas.microsoft.com/office/drawing/2014/main" id="{C0789110-9313-A9F2-C8A4-2C0F801E831B}"/>
                </a:ext>
              </a:extLst>
            </p:cNvPr>
            <p:cNvSpPr>
              <a:spLocks noChangeArrowheads="1"/>
            </p:cNvSpPr>
            <p:nvPr/>
          </p:nvSpPr>
          <p:spPr bwMode="auto">
            <a:xfrm rot="540000">
              <a:off x="3641" y="3633"/>
              <a:ext cx="441" cy="30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grpSp>
        <p:nvGrpSpPr>
          <p:cNvPr id="50" name="Group 51">
            <a:extLst>
              <a:ext uri="{FF2B5EF4-FFF2-40B4-BE49-F238E27FC236}">
                <a16:creationId xmlns:a16="http://schemas.microsoft.com/office/drawing/2014/main" id="{AFF8D48D-4E7B-EC4F-0895-6B885AC5CECE}"/>
              </a:ext>
            </a:extLst>
          </p:cNvPr>
          <p:cNvGrpSpPr>
            <a:grpSpLocks/>
          </p:cNvGrpSpPr>
          <p:nvPr/>
        </p:nvGrpSpPr>
        <p:grpSpPr bwMode="auto">
          <a:xfrm>
            <a:off x="2427078" y="3124300"/>
            <a:ext cx="1176904" cy="335973"/>
            <a:chOff x="2012" y="2280"/>
            <a:chExt cx="1177" cy="336"/>
          </a:xfrm>
        </p:grpSpPr>
        <p:sp>
          <p:nvSpPr>
            <p:cNvPr id="51" name="Line 52">
              <a:extLst>
                <a:ext uri="{FF2B5EF4-FFF2-40B4-BE49-F238E27FC236}">
                  <a16:creationId xmlns:a16="http://schemas.microsoft.com/office/drawing/2014/main" id="{265A275F-4737-C466-D121-96EC516C0E7D}"/>
                </a:ext>
              </a:extLst>
            </p:cNvPr>
            <p:cNvSpPr>
              <a:spLocks noChangeShapeType="1"/>
            </p:cNvSpPr>
            <p:nvPr/>
          </p:nvSpPr>
          <p:spPr bwMode="auto">
            <a:xfrm flipH="1">
              <a:off x="2012" y="2415"/>
              <a:ext cx="1177"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52" name="Text Box 53">
              <a:extLst>
                <a:ext uri="{FF2B5EF4-FFF2-40B4-BE49-F238E27FC236}">
                  <a16:creationId xmlns:a16="http://schemas.microsoft.com/office/drawing/2014/main" id="{8E3EB0BF-A488-0E04-1C65-A41D154F48D7}"/>
                </a:ext>
              </a:extLst>
            </p:cNvPr>
            <p:cNvSpPr txBox="1">
              <a:spLocks noChangeArrowheads="1"/>
            </p:cNvSpPr>
            <p:nvPr/>
          </p:nvSpPr>
          <p:spPr bwMode="auto">
            <a:xfrm rot="21169770">
              <a:off x="2127" y="2280"/>
              <a:ext cx="68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latin typeface="微软雅黑" pitchFamily="34" charset="-122"/>
                  <a:ea typeface="微软雅黑" pitchFamily="34" charset="-122"/>
                </a:rPr>
                <a:t>ACK </a:t>
              </a:r>
              <a:r>
                <a:rPr kumimoji="0" lang="en-US" altLang="zh-CN" sz="1400" b="1" baseline="-25000" dirty="0">
                  <a:latin typeface="微软雅黑" pitchFamily="34" charset="-122"/>
                  <a:ea typeface="微软雅黑" pitchFamily="34" charset="-122"/>
                </a:rPr>
                <a:t>1</a:t>
              </a:r>
            </a:p>
          </p:txBody>
        </p:sp>
      </p:grpSp>
      <p:sp>
        <p:nvSpPr>
          <p:cNvPr id="53" name="Rectangle 56">
            <a:extLst>
              <a:ext uri="{FF2B5EF4-FFF2-40B4-BE49-F238E27FC236}">
                <a16:creationId xmlns:a16="http://schemas.microsoft.com/office/drawing/2014/main" id="{2311573D-08DC-ECBA-2CA5-E1E2D4676D62}"/>
              </a:ext>
            </a:extLst>
          </p:cNvPr>
          <p:cNvSpPr>
            <a:spLocks noChangeArrowheads="1"/>
          </p:cNvSpPr>
          <p:nvPr/>
        </p:nvSpPr>
        <p:spPr bwMode="auto">
          <a:xfrm>
            <a:off x="4023679" y="1906605"/>
            <a:ext cx="54181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zh-CN" altLang="en-US" sz="1400" b="1" dirty="0">
                <a:solidFill>
                  <a:srgbClr val="CC00CC"/>
                </a:solidFill>
                <a:latin typeface="微软雅黑" pitchFamily="34" charset="-122"/>
                <a:ea typeface="微软雅黑" pitchFamily="34" charset="-122"/>
              </a:rPr>
              <a:t>丢弃</a:t>
            </a:r>
            <a:endParaRPr lang="zh-CN" altLang="en-US" sz="1400" b="1" baseline="-25000" dirty="0">
              <a:solidFill>
                <a:srgbClr val="CC00CC"/>
              </a:solidFill>
              <a:latin typeface="微软雅黑" pitchFamily="34" charset="-122"/>
              <a:ea typeface="微软雅黑" pitchFamily="34" charset="-122"/>
            </a:endParaRPr>
          </a:p>
        </p:txBody>
      </p:sp>
      <p:sp>
        <p:nvSpPr>
          <p:cNvPr id="54" name="AutoShape 60">
            <a:extLst>
              <a:ext uri="{FF2B5EF4-FFF2-40B4-BE49-F238E27FC236}">
                <a16:creationId xmlns:a16="http://schemas.microsoft.com/office/drawing/2014/main" id="{12CCC683-920C-77FB-AAB9-795E0DEFE99D}"/>
              </a:ext>
            </a:extLst>
          </p:cNvPr>
          <p:cNvSpPr>
            <a:spLocks noChangeArrowheads="1"/>
          </p:cNvSpPr>
          <p:nvPr/>
        </p:nvSpPr>
        <p:spPr bwMode="auto">
          <a:xfrm>
            <a:off x="3632979" y="1839621"/>
            <a:ext cx="433965" cy="415966"/>
          </a:xfrm>
          <a:prstGeom prst="irregularSeal1">
            <a:avLst/>
          </a:prstGeom>
          <a:solidFill>
            <a:srgbClr val="FF0000"/>
          </a:solidFill>
          <a:ln w="9525" algn="ctr">
            <a:solidFill>
              <a:schemeClr val="tx1"/>
            </a:solidFill>
            <a:miter lim="800000"/>
            <a:headEnd/>
            <a:tailEnd/>
          </a:ln>
          <a:effectLst/>
        </p:spPr>
        <p:txBody>
          <a:bodyPr wrap="none" anchor="ctr"/>
          <a:lstStyle/>
          <a:p>
            <a:endParaRPr lang="zh-CN" altLang="en-US" sz="1400">
              <a:latin typeface="微软雅黑" pitchFamily="34" charset="-122"/>
              <a:ea typeface="微软雅黑" pitchFamily="34" charset="-122"/>
            </a:endParaRPr>
          </a:p>
        </p:txBody>
      </p:sp>
      <p:sp>
        <p:nvSpPr>
          <p:cNvPr id="55" name="Text Box 24">
            <a:extLst>
              <a:ext uri="{FF2B5EF4-FFF2-40B4-BE49-F238E27FC236}">
                <a16:creationId xmlns:a16="http://schemas.microsoft.com/office/drawing/2014/main" id="{9680624E-6810-2F6E-CD7C-FCAA4FB73AAD}"/>
              </a:ext>
            </a:extLst>
          </p:cNvPr>
          <p:cNvSpPr txBox="1">
            <a:spLocks noChangeArrowheads="1"/>
          </p:cNvSpPr>
          <p:nvPr/>
        </p:nvSpPr>
        <p:spPr bwMode="auto">
          <a:xfrm>
            <a:off x="1556001" y="267884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C00000"/>
                </a:solidFill>
                <a:latin typeface="微软雅黑" pitchFamily="34" charset="-122"/>
                <a:ea typeface="微软雅黑" pitchFamily="34" charset="-122"/>
              </a:rPr>
              <a:t>超时重传</a:t>
            </a:r>
          </a:p>
        </p:txBody>
      </p:sp>
      <p:grpSp>
        <p:nvGrpSpPr>
          <p:cNvPr id="56" name="Group 25">
            <a:extLst>
              <a:ext uri="{FF2B5EF4-FFF2-40B4-BE49-F238E27FC236}">
                <a16:creationId xmlns:a16="http://schemas.microsoft.com/office/drawing/2014/main" id="{D89823F3-33CE-FB9B-7F52-44B6AE6EE0D1}"/>
              </a:ext>
            </a:extLst>
          </p:cNvPr>
          <p:cNvGrpSpPr>
            <a:grpSpLocks/>
          </p:cNvGrpSpPr>
          <p:nvPr/>
        </p:nvGrpSpPr>
        <p:grpSpPr bwMode="auto">
          <a:xfrm>
            <a:off x="1879539" y="2010185"/>
            <a:ext cx="502959" cy="583952"/>
            <a:chOff x="3188" y="2204"/>
            <a:chExt cx="503" cy="584"/>
          </a:xfrm>
        </p:grpSpPr>
        <p:sp>
          <p:nvSpPr>
            <p:cNvPr id="57" name="AutoShape 26">
              <a:extLst>
                <a:ext uri="{FF2B5EF4-FFF2-40B4-BE49-F238E27FC236}">
                  <a16:creationId xmlns:a16="http://schemas.microsoft.com/office/drawing/2014/main" id="{DDBFD6A8-C0C4-2796-B8D4-84406C9DCB37}"/>
                </a:ext>
              </a:extLst>
            </p:cNvPr>
            <p:cNvSpPr>
              <a:spLocks/>
            </p:cNvSpPr>
            <p:nvPr/>
          </p:nvSpPr>
          <p:spPr bwMode="auto">
            <a:xfrm>
              <a:off x="3635" y="2204"/>
              <a:ext cx="56" cy="584"/>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58" name="Text Box 27">
              <a:extLst>
                <a:ext uri="{FF2B5EF4-FFF2-40B4-BE49-F238E27FC236}">
                  <a16:creationId xmlns:a16="http://schemas.microsoft.com/office/drawing/2014/main" id="{7F89CD6F-2CCB-9A3F-9A0E-9FA750182622}"/>
                </a:ext>
              </a:extLst>
            </p:cNvPr>
            <p:cNvSpPr txBox="1">
              <a:spLocks noChangeArrowheads="1"/>
            </p:cNvSpPr>
            <p:nvPr/>
          </p:nvSpPr>
          <p:spPr bwMode="auto">
            <a:xfrm>
              <a:off x="3188" y="2311"/>
              <a:ext cx="46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solidFill>
                    <a:srgbClr val="0000FF"/>
                  </a:solidFill>
                  <a:latin typeface="微软雅黑" pitchFamily="34" charset="-122"/>
                  <a:ea typeface="微软雅黑" pitchFamily="34" charset="-122"/>
                </a:rPr>
                <a:t>t</a:t>
              </a:r>
              <a:r>
                <a:rPr kumimoji="0" lang="en-US" altLang="zh-CN" sz="1400" b="1" baseline="-25000" dirty="0">
                  <a:solidFill>
                    <a:srgbClr val="0000FF"/>
                  </a:solidFill>
                  <a:latin typeface="微软雅黑" pitchFamily="34" charset="-122"/>
                  <a:ea typeface="微软雅黑" pitchFamily="34" charset="-122"/>
                </a:rPr>
                <a:t>out</a:t>
              </a:r>
            </a:p>
          </p:txBody>
        </p:sp>
      </p:grpSp>
      <p:grpSp>
        <p:nvGrpSpPr>
          <p:cNvPr id="59" name="组合 58">
            <a:extLst>
              <a:ext uri="{FF2B5EF4-FFF2-40B4-BE49-F238E27FC236}">
                <a16:creationId xmlns:a16="http://schemas.microsoft.com/office/drawing/2014/main" id="{E8E426E4-12D0-3C13-1171-E64A66393903}"/>
              </a:ext>
            </a:extLst>
          </p:cNvPr>
          <p:cNvGrpSpPr/>
          <p:nvPr/>
        </p:nvGrpSpPr>
        <p:grpSpPr>
          <a:xfrm>
            <a:off x="6402443" y="1572080"/>
            <a:ext cx="1159152" cy="2259658"/>
            <a:chOff x="6885560" y="1647602"/>
            <a:chExt cx="1840305" cy="3179763"/>
          </a:xfrm>
        </p:grpSpPr>
        <p:sp>
          <p:nvSpPr>
            <p:cNvPr id="60" name="Line 4">
              <a:extLst>
                <a:ext uri="{FF2B5EF4-FFF2-40B4-BE49-F238E27FC236}">
                  <a16:creationId xmlns:a16="http://schemas.microsoft.com/office/drawing/2014/main" id="{57B30F2F-9E21-DA6C-6AEF-9CBDC9AF5E12}"/>
                </a:ext>
              </a:extLst>
            </p:cNvPr>
            <p:cNvSpPr>
              <a:spLocks noChangeShapeType="1"/>
            </p:cNvSpPr>
            <p:nvPr/>
          </p:nvSpPr>
          <p:spPr bwMode="auto">
            <a:xfrm>
              <a:off x="6885560" y="1647602"/>
              <a:ext cx="0" cy="317976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1" name="Line 5">
              <a:extLst>
                <a:ext uri="{FF2B5EF4-FFF2-40B4-BE49-F238E27FC236}">
                  <a16:creationId xmlns:a16="http://schemas.microsoft.com/office/drawing/2014/main" id="{4CB6B940-AD12-1139-F3A7-F2C3361C3307}"/>
                </a:ext>
              </a:extLst>
            </p:cNvPr>
            <p:cNvSpPr>
              <a:spLocks noChangeShapeType="1"/>
            </p:cNvSpPr>
            <p:nvPr/>
          </p:nvSpPr>
          <p:spPr bwMode="auto">
            <a:xfrm>
              <a:off x="8725865" y="1647602"/>
              <a:ext cx="0" cy="3160712"/>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sp>
        <p:nvSpPr>
          <p:cNvPr id="62" name="Rectangle 6">
            <a:extLst>
              <a:ext uri="{FF2B5EF4-FFF2-40B4-BE49-F238E27FC236}">
                <a16:creationId xmlns:a16="http://schemas.microsoft.com/office/drawing/2014/main" id="{FE8C2E75-82E1-78E7-DE5D-BE19445FB263}"/>
              </a:ext>
            </a:extLst>
          </p:cNvPr>
          <p:cNvSpPr>
            <a:spLocks noChangeArrowheads="1"/>
          </p:cNvSpPr>
          <p:nvPr/>
        </p:nvSpPr>
        <p:spPr bwMode="auto">
          <a:xfrm>
            <a:off x="6280577" y="1242748"/>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itchFamily="34" charset="-122"/>
                <a:ea typeface="微软雅黑" pitchFamily="34" charset="-122"/>
              </a:rPr>
              <a:t>A</a:t>
            </a:r>
          </a:p>
        </p:txBody>
      </p:sp>
      <p:sp>
        <p:nvSpPr>
          <p:cNvPr id="63" name="Rectangle 7">
            <a:extLst>
              <a:ext uri="{FF2B5EF4-FFF2-40B4-BE49-F238E27FC236}">
                <a16:creationId xmlns:a16="http://schemas.microsoft.com/office/drawing/2014/main" id="{4171FCF0-B417-3634-DC18-0F428A4F1196}"/>
              </a:ext>
            </a:extLst>
          </p:cNvPr>
          <p:cNvSpPr>
            <a:spLocks noChangeArrowheads="1"/>
          </p:cNvSpPr>
          <p:nvPr/>
        </p:nvSpPr>
        <p:spPr bwMode="auto">
          <a:xfrm>
            <a:off x="7455482" y="1242748"/>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itchFamily="34" charset="-122"/>
                <a:ea typeface="微软雅黑" pitchFamily="34" charset="-122"/>
              </a:rPr>
              <a:t>B</a:t>
            </a:r>
          </a:p>
        </p:txBody>
      </p:sp>
      <p:grpSp>
        <p:nvGrpSpPr>
          <p:cNvPr id="64" name="Group 8">
            <a:extLst>
              <a:ext uri="{FF2B5EF4-FFF2-40B4-BE49-F238E27FC236}">
                <a16:creationId xmlns:a16="http://schemas.microsoft.com/office/drawing/2014/main" id="{12307147-89F9-A271-AD0D-0615816F3835}"/>
              </a:ext>
            </a:extLst>
          </p:cNvPr>
          <p:cNvGrpSpPr>
            <a:grpSpLocks/>
          </p:cNvGrpSpPr>
          <p:nvPr/>
        </p:nvGrpSpPr>
        <p:grpSpPr bwMode="auto">
          <a:xfrm>
            <a:off x="6404567" y="1656074"/>
            <a:ext cx="1071912" cy="489960"/>
            <a:chOff x="3769" y="1868"/>
            <a:chExt cx="1072" cy="490"/>
          </a:xfrm>
        </p:grpSpPr>
        <p:sp>
          <p:nvSpPr>
            <p:cNvPr id="65" name="Freeform 9">
              <a:extLst>
                <a:ext uri="{FF2B5EF4-FFF2-40B4-BE49-F238E27FC236}">
                  <a16:creationId xmlns:a16="http://schemas.microsoft.com/office/drawing/2014/main" id="{ECFF26C0-322A-1492-99C8-F389DE0E6EF3}"/>
                </a:ext>
              </a:extLst>
            </p:cNvPr>
            <p:cNvSpPr>
              <a:spLocks/>
            </p:cNvSpPr>
            <p:nvPr/>
          </p:nvSpPr>
          <p:spPr bwMode="auto">
            <a:xfrm>
              <a:off x="3769" y="1868"/>
              <a:ext cx="1072" cy="490"/>
            </a:xfrm>
            <a:custGeom>
              <a:avLst/>
              <a:gdLst>
                <a:gd name="T0" fmla="*/ 0 w 1033"/>
                <a:gd name="T1" fmla="*/ 0 h 457"/>
                <a:gd name="T2" fmla="*/ 1071 w 1033"/>
                <a:gd name="T3" fmla="*/ 152 h 457"/>
                <a:gd name="T4" fmla="*/ 1071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6" name="AutoShape 10">
              <a:extLst>
                <a:ext uri="{FF2B5EF4-FFF2-40B4-BE49-F238E27FC236}">
                  <a16:creationId xmlns:a16="http://schemas.microsoft.com/office/drawing/2014/main" id="{B808F782-E338-08A7-F76D-E22B48A108CB}"/>
                </a:ext>
              </a:extLst>
            </p:cNvPr>
            <p:cNvSpPr>
              <a:spLocks noChangeArrowheads="1"/>
            </p:cNvSpPr>
            <p:nvPr/>
          </p:nvSpPr>
          <p:spPr bwMode="auto">
            <a:xfrm rot="480000">
              <a:off x="4521" y="2114"/>
              <a:ext cx="291" cy="100"/>
            </a:xfrm>
            <a:prstGeom prst="rightArrow">
              <a:avLst>
                <a:gd name="adj1" fmla="val 50000"/>
                <a:gd name="adj2" fmla="val 145513"/>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7" name="Rectangle 11">
              <a:extLst>
                <a:ext uri="{FF2B5EF4-FFF2-40B4-BE49-F238E27FC236}">
                  <a16:creationId xmlns:a16="http://schemas.microsoft.com/office/drawing/2014/main" id="{8DDF19BA-2944-5CF3-F3C9-441030E0CF24}"/>
                </a:ext>
              </a:extLst>
            </p:cNvPr>
            <p:cNvSpPr>
              <a:spLocks noChangeArrowheads="1"/>
            </p:cNvSpPr>
            <p:nvPr/>
          </p:nvSpPr>
          <p:spPr bwMode="auto">
            <a:xfrm rot="540000">
              <a:off x="3968" y="1941"/>
              <a:ext cx="441" cy="30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grpSp>
        <p:nvGrpSpPr>
          <p:cNvPr id="68" name="Group 12">
            <a:extLst>
              <a:ext uri="{FF2B5EF4-FFF2-40B4-BE49-F238E27FC236}">
                <a16:creationId xmlns:a16="http://schemas.microsoft.com/office/drawing/2014/main" id="{EB10E4E0-33B8-E20E-7997-85CA6110A00E}"/>
              </a:ext>
            </a:extLst>
          </p:cNvPr>
          <p:cNvGrpSpPr>
            <a:grpSpLocks/>
          </p:cNvGrpSpPr>
          <p:nvPr/>
        </p:nvGrpSpPr>
        <p:grpSpPr bwMode="auto">
          <a:xfrm>
            <a:off x="6403567" y="2585997"/>
            <a:ext cx="1155905" cy="489960"/>
            <a:chOff x="3439" y="3564"/>
            <a:chExt cx="1156" cy="490"/>
          </a:xfrm>
        </p:grpSpPr>
        <p:sp>
          <p:nvSpPr>
            <p:cNvPr id="69" name="Freeform 13">
              <a:extLst>
                <a:ext uri="{FF2B5EF4-FFF2-40B4-BE49-F238E27FC236}">
                  <a16:creationId xmlns:a16="http://schemas.microsoft.com/office/drawing/2014/main" id="{D0048966-7788-5A14-8BFA-BA3AD91FFE79}"/>
                </a:ext>
              </a:extLst>
            </p:cNvPr>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70" name="AutoShape 14">
              <a:extLst>
                <a:ext uri="{FF2B5EF4-FFF2-40B4-BE49-F238E27FC236}">
                  <a16:creationId xmlns:a16="http://schemas.microsoft.com/office/drawing/2014/main" id="{9536EAC2-2DF2-B067-57E2-E038CB8834D6}"/>
                </a:ext>
              </a:extLst>
            </p:cNvPr>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1" name="Rectangle 15">
              <a:extLst>
                <a:ext uri="{FF2B5EF4-FFF2-40B4-BE49-F238E27FC236}">
                  <a16:creationId xmlns:a16="http://schemas.microsoft.com/office/drawing/2014/main" id="{0FF0B039-E030-CE5A-68AF-31B7D7C296AE}"/>
                </a:ext>
              </a:extLst>
            </p:cNvPr>
            <p:cNvSpPr>
              <a:spLocks noChangeArrowheads="1"/>
            </p:cNvSpPr>
            <p:nvPr/>
          </p:nvSpPr>
          <p:spPr bwMode="auto">
            <a:xfrm rot="540000">
              <a:off x="3642" y="3633"/>
              <a:ext cx="441" cy="30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sp>
        <p:nvSpPr>
          <p:cNvPr id="72" name="Text Box 16">
            <a:extLst>
              <a:ext uri="{FF2B5EF4-FFF2-40B4-BE49-F238E27FC236}">
                <a16:creationId xmlns:a16="http://schemas.microsoft.com/office/drawing/2014/main" id="{ED07E3D1-2321-52FA-F9B3-F92A5F8C50BC}"/>
              </a:ext>
            </a:extLst>
          </p:cNvPr>
          <p:cNvSpPr txBox="1">
            <a:spLocks noChangeArrowheads="1"/>
          </p:cNvSpPr>
          <p:nvPr/>
        </p:nvSpPr>
        <p:spPr bwMode="auto">
          <a:xfrm>
            <a:off x="6557173" y="3952790"/>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0000FF"/>
                </a:solidFill>
                <a:latin typeface="微软雅黑" pitchFamily="34" charset="-122"/>
                <a:ea typeface="微软雅黑" pitchFamily="34" charset="-122"/>
              </a:rPr>
              <a:t>分组丢失</a:t>
            </a:r>
          </a:p>
        </p:txBody>
      </p:sp>
      <p:grpSp>
        <p:nvGrpSpPr>
          <p:cNvPr id="73" name="Group 17">
            <a:extLst>
              <a:ext uri="{FF2B5EF4-FFF2-40B4-BE49-F238E27FC236}">
                <a16:creationId xmlns:a16="http://schemas.microsoft.com/office/drawing/2014/main" id="{83009205-C958-C66A-3688-45AA3FF617B6}"/>
              </a:ext>
            </a:extLst>
          </p:cNvPr>
          <p:cNvGrpSpPr>
            <a:grpSpLocks/>
          </p:cNvGrpSpPr>
          <p:nvPr/>
        </p:nvGrpSpPr>
        <p:grpSpPr bwMode="auto">
          <a:xfrm>
            <a:off x="6386568" y="3045962"/>
            <a:ext cx="1176904" cy="350972"/>
            <a:chOff x="2012" y="2265"/>
            <a:chExt cx="1177" cy="351"/>
          </a:xfrm>
        </p:grpSpPr>
        <p:sp>
          <p:nvSpPr>
            <p:cNvPr id="74" name="Line 18">
              <a:extLst>
                <a:ext uri="{FF2B5EF4-FFF2-40B4-BE49-F238E27FC236}">
                  <a16:creationId xmlns:a16="http://schemas.microsoft.com/office/drawing/2014/main" id="{2639A2BF-527F-B6B8-7BB6-92DF6C258FE4}"/>
                </a:ext>
              </a:extLst>
            </p:cNvPr>
            <p:cNvSpPr>
              <a:spLocks noChangeShapeType="1"/>
            </p:cNvSpPr>
            <p:nvPr/>
          </p:nvSpPr>
          <p:spPr bwMode="auto">
            <a:xfrm flipH="1">
              <a:off x="2012" y="2415"/>
              <a:ext cx="1177"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75" name="Text Box 19">
              <a:extLst>
                <a:ext uri="{FF2B5EF4-FFF2-40B4-BE49-F238E27FC236}">
                  <a16:creationId xmlns:a16="http://schemas.microsoft.com/office/drawing/2014/main" id="{D753860B-22D7-4E06-548A-4BB80F31D1B9}"/>
                </a:ext>
              </a:extLst>
            </p:cNvPr>
            <p:cNvSpPr txBox="1">
              <a:spLocks noChangeArrowheads="1"/>
            </p:cNvSpPr>
            <p:nvPr/>
          </p:nvSpPr>
          <p:spPr bwMode="auto">
            <a:xfrm rot="21169770">
              <a:off x="2147" y="2265"/>
              <a:ext cx="68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latin typeface="微软雅黑" pitchFamily="34" charset="-122"/>
                  <a:ea typeface="微软雅黑" pitchFamily="34" charset="-122"/>
                </a:rPr>
                <a:t>ACK </a:t>
              </a:r>
              <a:r>
                <a:rPr kumimoji="0" lang="en-US" altLang="zh-CN" sz="1400" b="1" baseline="-25000" dirty="0">
                  <a:latin typeface="微软雅黑" pitchFamily="34" charset="-122"/>
                  <a:ea typeface="微软雅黑" pitchFamily="34" charset="-122"/>
                </a:rPr>
                <a:t>1</a:t>
              </a:r>
              <a:endParaRPr kumimoji="0" lang="en-US" altLang="zh-CN" sz="1400" b="1" dirty="0">
                <a:latin typeface="微软雅黑" pitchFamily="34" charset="-122"/>
                <a:ea typeface="微软雅黑" pitchFamily="34" charset="-122"/>
              </a:endParaRPr>
            </a:p>
          </p:txBody>
        </p:sp>
      </p:grpSp>
      <p:sp>
        <p:nvSpPr>
          <p:cNvPr id="76" name="AutoShape 20">
            <a:extLst>
              <a:ext uri="{FF2B5EF4-FFF2-40B4-BE49-F238E27FC236}">
                <a16:creationId xmlns:a16="http://schemas.microsoft.com/office/drawing/2014/main" id="{5ED09EFF-CD10-4318-F236-45CE04E94160}"/>
              </a:ext>
            </a:extLst>
          </p:cNvPr>
          <p:cNvSpPr>
            <a:spLocks noChangeArrowheads="1"/>
          </p:cNvSpPr>
          <p:nvPr/>
        </p:nvSpPr>
        <p:spPr bwMode="auto">
          <a:xfrm>
            <a:off x="7294494" y="1591079"/>
            <a:ext cx="475961" cy="458962"/>
          </a:xfrm>
          <a:prstGeom prst="irregularSeal1">
            <a:avLst/>
          </a:prstGeom>
          <a:solidFill>
            <a:srgbClr val="FF0000"/>
          </a:solidFill>
          <a:ln w="9525" algn="ctr">
            <a:solidFill>
              <a:schemeClr val="tx1"/>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77" name="Text Box 24">
            <a:extLst>
              <a:ext uri="{FF2B5EF4-FFF2-40B4-BE49-F238E27FC236}">
                <a16:creationId xmlns:a16="http://schemas.microsoft.com/office/drawing/2014/main" id="{F9EB2C3E-BA0D-068F-1BD6-E2D903324DD5}"/>
              </a:ext>
            </a:extLst>
          </p:cNvPr>
          <p:cNvSpPr txBox="1">
            <a:spLocks noChangeArrowheads="1"/>
          </p:cNvSpPr>
          <p:nvPr/>
        </p:nvSpPr>
        <p:spPr bwMode="auto">
          <a:xfrm>
            <a:off x="5472643" y="2606997"/>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C00000"/>
                </a:solidFill>
                <a:latin typeface="微软雅黑" pitchFamily="34" charset="-122"/>
                <a:ea typeface="微软雅黑" pitchFamily="34" charset="-122"/>
              </a:rPr>
              <a:t>超时重传</a:t>
            </a:r>
          </a:p>
        </p:txBody>
      </p:sp>
      <p:grpSp>
        <p:nvGrpSpPr>
          <p:cNvPr id="78" name="Group 25">
            <a:extLst>
              <a:ext uri="{FF2B5EF4-FFF2-40B4-BE49-F238E27FC236}">
                <a16:creationId xmlns:a16="http://schemas.microsoft.com/office/drawing/2014/main" id="{4663065F-EE52-7A4A-2159-B5C8E5013A56}"/>
              </a:ext>
            </a:extLst>
          </p:cNvPr>
          <p:cNvGrpSpPr>
            <a:grpSpLocks/>
          </p:cNvGrpSpPr>
          <p:nvPr/>
        </p:nvGrpSpPr>
        <p:grpSpPr bwMode="auto">
          <a:xfrm>
            <a:off x="5823613" y="2000045"/>
            <a:ext cx="502959" cy="583952"/>
            <a:chOff x="3188" y="2204"/>
            <a:chExt cx="503" cy="584"/>
          </a:xfrm>
        </p:grpSpPr>
        <p:sp>
          <p:nvSpPr>
            <p:cNvPr id="79" name="AutoShape 26">
              <a:extLst>
                <a:ext uri="{FF2B5EF4-FFF2-40B4-BE49-F238E27FC236}">
                  <a16:creationId xmlns:a16="http://schemas.microsoft.com/office/drawing/2014/main" id="{600E49E8-B9D4-1134-7148-8585F48D46B5}"/>
                </a:ext>
              </a:extLst>
            </p:cNvPr>
            <p:cNvSpPr>
              <a:spLocks/>
            </p:cNvSpPr>
            <p:nvPr/>
          </p:nvSpPr>
          <p:spPr bwMode="auto">
            <a:xfrm>
              <a:off x="3635" y="2204"/>
              <a:ext cx="56" cy="584"/>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0" name="Text Box 27">
              <a:extLst>
                <a:ext uri="{FF2B5EF4-FFF2-40B4-BE49-F238E27FC236}">
                  <a16:creationId xmlns:a16="http://schemas.microsoft.com/office/drawing/2014/main" id="{011A3D1E-AAE1-0351-EA33-B9E0BB392332}"/>
                </a:ext>
              </a:extLst>
            </p:cNvPr>
            <p:cNvSpPr txBox="1">
              <a:spLocks noChangeArrowheads="1"/>
            </p:cNvSpPr>
            <p:nvPr/>
          </p:nvSpPr>
          <p:spPr bwMode="auto">
            <a:xfrm>
              <a:off x="3188" y="2311"/>
              <a:ext cx="46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solidFill>
                    <a:srgbClr val="0000FF"/>
                  </a:solidFill>
                  <a:latin typeface="微软雅黑" pitchFamily="34" charset="-122"/>
                  <a:ea typeface="微软雅黑" pitchFamily="34" charset="-122"/>
                </a:rPr>
                <a:t>t</a:t>
              </a:r>
              <a:r>
                <a:rPr kumimoji="0" lang="en-US" altLang="zh-CN" sz="1400" b="1" baseline="-25000" dirty="0">
                  <a:solidFill>
                    <a:srgbClr val="0000FF"/>
                  </a:solidFill>
                  <a:latin typeface="微软雅黑" pitchFamily="34" charset="-122"/>
                  <a:ea typeface="微软雅黑" pitchFamily="34" charset="-122"/>
                </a:rPr>
                <a:t>out</a:t>
              </a:r>
            </a:p>
          </p:txBody>
        </p:sp>
      </p:grpSp>
      <p:grpSp>
        <p:nvGrpSpPr>
          <p:cNvPr id="81" name="Group 33">
            <a:extLst>
              <a:ext uri="{FF2B5EF4-FFF2-40B4-BE49-F238E27FC236}">
                <a16:creationId xmlns:a16="http://schemas.microsoft.com/office/drawing/2014/main" id="{1F8EBC1B-53E6-2CBC-739E-63A8978A0ECA}"/>
              </a:ext>
            </a:extLst>
          </p:cNvPr>
          <p:cNvGrpSpPr>
            <a:grpSpLocks/>
          </p:cNvGrpSpPr>
          <p:nvPr/>
        </p:nvGrpSpPr>
        <p:grpSpPr bwMode="auto">
          <a:xfrm>
            <a:off x="955137" y="1854628"/>
            <a:ext cx="1383297" cy="799738"/>
            <a:chOff x="749" y="1800"/>
            <a:chExt cx="1171" cy="677"/>
          </a:xfrm>
        </p:grpSpPr>
        <p:sp>
          <p:nvSpPr>
            <p:cNvPr id="82" name="Text Box 31">
              <a:extLst>
                <a:ext uri="{FF2B5EF4-FFF2-40B4-BE49-F238E27FC236}">
                  <a16:creationId xmlns:a16="http://schemas.microsoft.com/office/drawing/2014/main" id="{FDAF9596-F8CF-93F6-C68B-861E22988E46}"/>
                </a:ext>
              </a:extLst>
            </p:cNvPr>
            <p:cNvSpPr txBox="1">
              <a:spLocks noChangeArrowheads="1"/>
            </p:cNvSpPr>
            <p:nvPr/>
          </p:nvSpPr>
          <p:spPr bwMode="auto">
            <a:xfrm>
              <a:off x="749" y="1800"/>
              <a:ext cx="891" cy="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1400" b="1" dirty="0">
                  <a:solidFill>
                    <a:srgbClr val="CC00CC"/>
                  </a:solidFill>
                  <a:latin typeface="微软雅黑" pitchFamily="34" charset="-122"/>
                  <a:ea typeface="微软雅黑" pitchFamily="34" charset="-122"/>
                </a:rPr>
                <a:t>启动超时计时器</a:t>
              </a:r>
              <a:r>
                <a:rPr lang="en-US" altLang="zh-CN" sz="1800" b="1" kern="0" dirty="0">
                  <a:solidFill>
                    <a:srgbClr val="0000FF"/>
                  </a:solidFill>
                  <a:latin typeface="微软雅黑" pitchFamily="34" charset="-122"/>
                  <a:ea typeface="微软雅黑" pitchFamily="34" charset="-122"/>
                  <a:sym typeface="Wingdings" pitchFamily="2" charset="2"/>
                </a:rPr>
                <a:t></a:t>
              </a:r>
              <a:r>
                <a:rPr lang="zh-CN" altLang="en-US" sz="1400" b="1" dirty="0">
                  <a:solidFill>
                    <a:srgbClr val="CC00CC"/>
                  </a:solidFill>
                  <a:latin typeface="微软雅黑" pitchFamily="34" charset="-122"/>
                  <a:ea typeface="微软雅黑" pitchFamily="34" charset="-122"/>
                </a:rPr>
                <a:t>，等待 </a:t>
              </a:r>
              <a:r>
                <a:rPr lang="en-US" altLang="zh-CN" sz="1400" b="1" dirty="0">
                  <a:solidFill>
                    <a:srgbClr val="CC00CC"/>
                  </a:solidFill>
                  <a:latin typeface="微软雅黑" pitchFamily="34" charset="-122"/>
                  <a:ea typeface="微软雅黑" pitchFamily="34" charset="-122"/>
                </a:rPr>
                <a:t>ACK</a:t>
              </a:r>
            </a:p>
          </p:txBody>
        </p:sp>
        <p:sp>
          <p:nvSpPr>
            <p:cNvPr id="83" name="Line 32">
              <a:extLst>
                <a:ext uri="{FF2B5EF4-FFF2-40B4-BE49-F238E27FC236}">
                  <a16:creationId xmlns:a16="http://schemas.microsoft.com/office/drawing/2014/main" id="{BD03F727-76C0-FE79-5362-DF0F64C64EDA}"/>
                </a:ext>
              </a:extLst>
            </p:cNvPr>
            <p:cNvSpPr>
              <a:spLocks noChangeShapeType="1"/>
            </p:cNvSpPr>
            <p:nvPr/>
          </p:nvSpPr>
          <p:spPr bwMode="auto">
            <a:xfrm>
              <a:off x="1532" y="1920"/>
              <a:ext cx="388" cy="0"/>
            </a:xfrm>
            <a:prstGeom prst="line">
              <a:avLst/>
            </a:prstGeom>
            <a:noFill/>
            <a:ln w="28575">
              <a:solidFill>
                <a:srgbClr val="CC00C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itchFamily="34" charset="-122"/>
                <a:ea typeface="微软雅黑" pitchFamily="34" charset="-122"/>
              </a:endParaRPr>
            </a:p>
          </p:txBody>
        </p:sp>
      </p:grpSp>
      <p:grpSp>
        <p:nvGrpSpPr>
          <p:cNvPr id="84" name="Group 33">
            <a:extLst>
              <a:ext uri="{FF2B5EF4-FFF2-40B4-BE49-F238E27FC236}">
                <a16:creationId xmlns:a16="http://schemas.microsoft.com/office/drawing/2014/main" id="{92558861-9FEA-148E-A1AB-B86359B4B8EE}"/>
              </a:ext>
            </a:extLst>
          </p:cNvPr>
          <p:cNvGrpSpPr>
            <a:grpSpLocks/>
          </p:cNvGrpSpPr>
          <p:nvPr/>
        </p:nvGrpSpPr>
        <p:grpSpPr bwMode="auto">
          <a:xfrm>
            <a:off x="4945125" y="1854628"/>
            <a:ext cx="1333681" cy="799738"/>
            <a:chOff x="791" y="1800"/>
            <a:chExt cx="1129" cy="677"/>
          </a:xfrm>
        </p:grpSpPr>
        <p:sp>
          <p:nvSpPr>
            <p:cNvPr id="85" name="Text Box 31">
              <a:extLst>
                <a:ext uri="{FF2B5EF4-FFF2-40B4-BE49-F238E27FC236}">
                  <a16:creationId xmlns:a16="http://schemas.microsoft.com/office/drawing/2014/main" id="{2F4ACA09-6D9F-96F9-845E-7C2759B75B51}"/>
                </a:ext>
              </a:extLst>
            </p:cNvPr>
            <p:cNvSpPr txBox="1">
              <a:spLocks noChangeArrowheads="1"/>
            </p:cNvSpPr>
            <p:nvPr/>
          </p:nvSpPr>
          <p:spPr bwMode="auto">
            <a:xfrm>
              <a:off x="791" y="1800"/>
              <a:ext cx="825" cy="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1400" b="1" dirty="0">
                  <a:solidFill>
                    <a:srgbClr val="CC00CC"/>
                  </a:solidFill>
                  <a:latin typeface="微软雅黑" pitchFamily="34" charset="-122"/>
                  <a:ea typeface="微软雅黑" pitchFamily="34" charset="-122"/>
                </a:rPr>
                <a:t>启动超时计时器</a:t>
              </a:r>
              <a:r>
                <a:rPr lang="en-US" altLang="zh-CN" sz="1800" b="1" kern="0" dirty="0">
                  <a:solidFill>
                    <a:srgbClr val="0000FF"/>
                  </a:solidFill>
                  <a:latin typeface="微软雅黑" pitchFamily="34" charset="-122"/>
                  <a:ea typeface="微软雅黑" pitchFamily="34" charset="-122"/>
                  <a:sym typeface="Wingdings" pitchFamily="2" charset="2"/>
                </a:rPr>
                <a:t></a:t>
              </a:r>
              <a:r>
                <a:rPr lang="zh-CN" altLang="en-US" sz="1400" b="1" dirty="0">
                  <a:solidFill>
                    <a:srgbClr val="CC00CC"/>
                  </a:solidFill>
                  <a:latin typeface="微软雅黑" pitchFamily="34" charset="-122"/>
                  <a:ea typeface="微软雅黑" pitchFamily="34" charset="-122"/>
                </a:rPr>
                <a:t>，等待 </a:t>
              </a:r>
              <a:r>
                <a:rPr lang="en-US" altLang="zh-CN" sz="1400" b="1" dirty="0">
                  <a:solidFill>
                    <a:srgbClr val="CC00CC"/>
                  </a:solidFill>
                  <a:latin typeface="微软雅黑" pitchFamily="34" charset="-122"/>
                  <a:ea typeface="微软雅黑" pitchFamily="34" charset="-122"/>
                </a:rPr>
                <a:t>ACK</a:t>
              </a:r>
            </a:p>
          </p:txBody>
        </p:sp>
        <p:sp>
          <p:nvSpPr>
            <p:cNvPr id="86" name="Line 32">
              <a:extLst>
                <a:ext uri="{FF2B5EF4-FFF2-40B4-BE49-F238E27FC236}">
                  <a16:creationId xmlns:a16="http://schemas.microsoft.com/office/drawing/2014/main" id="{5E18FDB9-E9DB-0FEB-3409-E71BE6342CB1}"/>
                </a:ext>
              </a:extLst>
            </p:cNvPr>
            <p:cNvSpPr>
              <a:spLocks noChangeShapeType="1"/>
            </p:cNvSpPr>
            <p:nvPr/>
          </p:nvSpPr>
          <p:spPr bwMode="auto">
            <a:xfrm>
              <a:off x="1532" y="1920"/>
              <a:ext cx="388" cy="0"/>
            </a:xfrm>
            <a:prstGeom prst="line">
              <a:avLst/>
            </a:prstGeom>
            <a:noFill/>
            <a:ln w="28575">
              <a:solidFill>
                <a:srgbClr val="CC00C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itchFamily="34" charset="-122"/>
                <a:ea typeface="微软雅黑" pitchFamily="34" charset="-122"/>
              </a:endParaRPr>
            </a:p>
          </p:txBody>
        </p:sp>
      </p:grpSp>
      <p:sp>
        <p:nvSpPr>
          <p:cNvPr id="87" name="TextBox 86">
            <a:extLst>
              <a:ext uri="{FF2B5EF4-FFF2-40B4-BE49-F238E27FC236}">
                <a16:creationId xmlns:a16="http://schemas.microsoft.com/office/drawing/2014/main" id="{1B38B434-761F-8AB7-66C1-6CEF561C7F28}"/>
              </a:ext>
            </a:extLst>
          </p:cNvPr>
          <p:cNvSpPr txBox="1"/>
          <p:nvPr/>
        </p:nvSpPr>
        <p:spPr>
          <a:xfrm>
            <a:off x="3582107" y="3047752"/>
            <a:ext cx="854721" cy="307777"/>
          </a:xfrm>
          <a:prstGeom prst="rect">
            <a:avLst/>
          </a:prstGeom>
          <a:noFill/>
        </p:spPr>
        <p:txBody>
          <a:bodyPr wrap="none" rtlCol="0">
            <a:spAutoFit/>
          </a:bodyPr>
          <a:lstStyle/>
          <a:p>
            <a:pPr defTabSz="762000" eaLnBrk="0" hangingPunct="0"/>
            <a:r>
              <a:rPr lang="zh-CN" altLang="en-US" sz="1400" b="1" dirty="0">
                <a:solidFill>
                  <a:srgbClr val="0000FF"/>
                </a:solidFill>
                <a:latin typeface="微软雅黑" pitchFamily="34" charset="-122"/>
                <a:ea typeface="微软雅黑" pitchFamily="34" charset="-122"/>
              </a:rPr>
              <a:t>确认 </a:t>
            </a:r>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sp>
        <p:nvSpPr>
          <p:cNvPr id="88" name="TextBox 86">
            <a:extLst>
              <a:ext uri="{FF2B5EF4-FFF2-40B4-BE49-F238E27FC236}">
                <a16:creationId xmlns:a16="http://schemas.microsoft.com/office/drawing/2014/main" id="{CE8883F7-FA98-1E00-584E-4F5DE3F4FAB1}"/>
              </a:ext>
            </a:extLst>
          </p:cNvPr>
          <p:cNvSpPr txBox="1"/>
          <p:nvPr/>
        </p:nvSpPr>
        <p:spPr>
          <a:xfrm>
            <a:off x="7553223" y="2988665"/>
            <a:ext cx="854721" cy="307777"/>
          </a:xfrm>
          <a:prstGeom prst="rect">
            <a:avLst/>
          </a:prstGeom>
          <a:noFill/>
        </p:spPr>
        <p:txBody>
          <a:bodyPr wrap="none" rtlCol="0">
            <a:spAutoFit/>
          </a:bodyPr>
          <a:lstStyle/>
          <a:p>
            <a:pPr defTabSz="762000" eaLnBrk="0" hangingPunct="0"/>
            <a:r>
              <a:rPr lang="zh-CN" altLang="en-US" sz="1400" b="1" dirty="0">
                <a:solidFill>
                  <a:srgbClr val="0000FF"/>
                </a:solidFill>
                <a:latin typeface="微软雅黑" pitchFamily="34" charset="-122"/>
                <a:ea typeface="微软雅黑" pitchFamily="34" charset="-122"/>
              </a:rPr>
              <a:t>确认 </a:t>
            </a:r>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spTree>
    <p:extLst>
      <p:ext uri="{BB962C8B-B14F-4D97-AF65-F5344CB8AC3E}">
        <p14:creationId xmlns:p14="http://schemas.microsoft.com/office/powerpoint/2010/main" val="30236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76"/>
                                        </p:tgtEl>
                                        <p:attrNameLst>
                                          <p:attrName>style.visibility</p:attrName>
                                        </p:attrNameLst>
                                      </p:cBhvr>
                                      <p:tavLst>
                                        <p:tav tm="0">
                                          <p:val>
                                            <p:strVal val="hidden"/>
                                          </p:val>
                                        </p:tav>
                                        <p:tav tm="50000">
                                          <p:val>
                                            <p:strVal val="visible"/>
                                          </p:val>
                                        </p:tav>
                                      </p:tavLst>
                                    </p:anim>
                                  </p:childTnLst>
                                </p:cTn>
                              </p:par>
                            </p:childTnLst>
                          </p:cTn>
                        </p:par>
                        <p:par>
                          <p:cTn id="7" fill="hold">
                            <p:stCondLst>
                              <p:cond delay="3000"/>
                            </p:stCondLst>
                            <p:childTnLst>
                              <p:par>
                                <p:cTn id="8" presetID="35" presetClass="emph" presetSubtype="0" repeatCount="3000" fill="hold" grpId="0" nodeType="afterEffect">
                                  <p:stCondLst>
                                    <p:cond delay="0"/>
                                  </p:stCondLst>
                                  <p:childTnLst>
                                    <p:anim calcmode="discrete" valueType="str">
                                      <p:cBhvr>
                                        <p:cTn id="9" dur="1000" fill="hold"/>
                                        <p:tgtEl>
                                          <p:spTgt spid="7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7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2820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162169" y="605119"/>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确认丢失和确认迟到</a:t>
            </a:r>
          </a:p>
        </p:txBody>
      </p:sp>
      <p:sp>
        <p:nvSpPr>
          <p:cNvPr id="7" name="圆角矩形 6"/>
          <p:cNvSpPr/>
          <p:nvPr/>
        </p:nvSpPr>
        <p:spPr>
          <a:xfrm>
            <a:off x="545144" y="1025023"/>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3" name="组合 52"/>
          <p:cNvGrpSpPr/>
          <p:nvPr/>
        </p:nvGrpSpPr>
        <p:grpSpPr>
          <a:xfrm>
            <a:off x="2151462" y="1337233"/>
            <a:ext cx="1082227" cy="2099762"/>
            <a:chOff x="1965184" y="1647602"/>
            <a:chExt cx="1834656" cy="3179763"/>
          </a:xfrm>
        </p:grpSpPr>
        <p:sp>
          <p:nvSpPr>
            <p:cNvPr id="54" name="Line 28"/>
            <p:cNvSpPr>
              <a:spLocks noChangeShapeType="1"/>
            </p:cNvSpPr>
            <p:nvPr/>
          </p:nvSpPr>
          <p:spPr bwMode="auto">
            <a:xfrm>
              <a:off x="1965184" y="1647602"/>
              <a:ext cx="0" cy="317976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5" name="Line 29"/>
            <p:cNvSpPr>
              <a:spLocks noChangeShapeType="1"/>
            </p:cNvSpPr>
            <p:nvPr/>
          </p:nvSpPr>
          <p:spPr bwMode="auto">
            <a:xfrm>
              <a:off x="3799840" y="1647602"/>
              <a:ext cx="0" cy="316071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sp>
        <p:nvSpPr>
          <p:cNvPr id="56" name="Rectangle 30"/>
          <p:cNvSpPr>
            <a:spLocks noChangeArrowheads="1"/>
          </p:cNvSpPr>
          <p:nvPr/>
        </p:nvSpPr>
        <p:spPr bwMode="auto">
          <a:xfrm>
            <a:off x="1982174" y="1071286"/>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itchFamily="34" charset="-122"/>
                <a:ea typeface="微软雅黑" pitchFamily="34" charset="-122"/>
              </a:rPr>
              <a:t>A</a:t>
            </a:r>
          </a:p>
        </p:txBody>
      </p:sp>
      <p:sp>
        <p:nvSpPr>
          <p:cNvPr id="57" name="Rectangle 31"/>
          <p:cNvSpPr>
            <a:spLocks noChangeArrowheads="1"/>
          </p:cNvSpPr>
          <p:nvPr/>
        </p:nvSpPr>
        <p:spPr bwMode="auto">
          <a:xfrm>
            <a:off x="3082484" y="1071286"/>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B</a:t>
            </a:r>
          </a:p>
        </p:txBody>
      </p:sp>
      <p:grpSp>
        <p:nvGrpSpPr>
          <p:cNvPr id="58" name="Group 32"/>
          <p:cNvGrpSpPr>
            <a:grpSpLocks/>
          </p:cNvGrpSpPr>
          <p:nvPr/>
        </p:nvGrpSpPr>
        <p:grpSpPr bwMode="auto">
          <a:xfrm>
            <a:off x="2153156" y="1415894"/>
            <a:ext cx="1080298" cy="458853"/>
            <a:chOff x="3769" y="1868"/>
            <a:chExt cx="1057" cy="490"/>
          </a:xfrm>
        </p:grpSpPr>
        <p:sp>
          <p:nvSpPr>
            <p:cNvPr id="59" name="Freeform 33"/>
            <p:cNvSpPr>
              <a:spLocks/>
            </p:cNvSpPr>
            <p:nvPr/>
          </p:nvSpPr>
          <p:spPr bwMode="auto">
            <a:xfrm>
              <a:off x="3769" y="1868"/>
              <a:ext cx="1057" cy="490"/>
            </a:xfrm>
            <a:custGeom>
              <a:avLst/>
              <a:gdLst>
                <a:gd name="T0" fmla="*/ 0 w 1033"/>
                <a:gd name="T1" fmla="*/ 0 h 457"/>
                <a:gd name="T2" fmla="*/ 1071 w 1033"/>
                <a:gd name="T3" fmla="*/ 152 h 457"/>
                <a:gd name="T4" fmla="*/ 1071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0" name="AutoShape 34"/>
            <p:cNvSpPr>
              <a:spLocks noChangeArrowheads="1"/>
            </p:cNvSpPr>
            <p:nvPr/>
          </p:nvSpPr>
          <p:spPr bwMode="auto">
            <a:xfrm rot="480000">
              <a:off x="4477" y="2114"/>
              <a:ext cx="291" cy="100"/>
            </a:xfrm>
            <a:prstGeom prst="rightArrow">
              <a:avLst>
                <a:gd name="adj1" fmla="val 50000"/>
                <a:gd name="adj2" fmla="val 145513"/>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1" name="Rectangle 35"/>
            <p:cNvSpPr>
              <a:spLocks noChangeArrowheads="1"/>
            </p:cNvSpPr>
            <p:nvPr/>
          </p:nvSpPr>
          <p:spPr bwMode="auto">
            <a:xfrm rot="540000">
              <a:off x="3940" y="1949"/>
              <a:ext cx="43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grpSp>
        <p:nvGrpSpPr>
          <p:cNvPr id="62" name="Group 36"/>
          <p:cNvGrpSpPr>
            <a:grpSpLocks/>
          </p:cNvGrpSpPr>
          <p:nvPr/>
        </p:nvGrpSpPr>
        <p:grpSpPr bwMode="auto">
          <a:xfrm>
            <a:off x="2152219" y="2286778"/>
            <a:ext cx="1082519" cy="458853"/>
            <a:chOff x="3439" y="3564"/>
            <a:chExt cx="1156" cy="490"/>
          </a:xfrm>
        </p:grpSpPr>
        <p:sp>
          <p:nvSpPr>
            <p:cNvPr id="63" name="Freeform 37"/>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4" name="AutoShape 38"/>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5" name="Rectangle 39"/>
            <p:cNvSpPr>
              <a:spLocks noChangeArrowheads="1"/>
            </p:cNvSpPr>
            <p:nvPr/>
          </p:nvSpPr>
          <p:spPr bwMode="auto">
            <a:xfrm rot="540000">
              <a:off x="3626" y="3647"/>
              <a:ext cx="47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sp>
        <p:nvSpPr>
          <p:cNvPr id="66" name="Text Box 40"/>
          <p:cNvSpPr txBox="1">
            <a:spLocks noChangeArrowheads="1"/>
          </p:cNvSpPr>
          <p:nvPr/>
        </p:nvSpPr>
        <p:spPr bwMode="auto">
          <a:xfrm>
            <a:off x="2263248" y="397930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0000FF"/>
                </a:solidFill>
                <a:latin typeface="微软雅黑" pitchFamily="34" charset="-122"/>
                <a:ea typeface="微软雅黑" pitchFamily="34" charset="-122"/>
              </a:rPr>
              <a:t>确认丢失</a:t>
            </a:r>
          </a:p>
        </p:txBody>
      </p:sp>
      <p:grpSp>
        <p:nvGrpSpPr>
          <p:cNvPr id="67" name="Group 41"/>
          <p:cNvGrpSpPr>
            <a:grpSpLocks/>
          </p:cNvGrpSpPr>
          <p:nvPr/>
        </p:nvGrpSpPr>
        <p:grpSpPr bwMode="auto">
          <a:xfrm>
            <a:off x="2136299" y="2734396"/>
            <a:ext cx="1102183" cy="311833"/>
            <a:chOff x="2012" y="2283"/>
            <a:chExt cx="1177" cy="333"/>
          </a:xfrm>
        </p:grpSpPr>
        <p:sp>
          <p:nvSpPr>
            <p:cNvPr id="68" name="Line 42"/>
            <p:cNvSpPr>
              <a:spLocks noChangeShapeType="1"/>
            </p:cNvSpPr>
            <p:nvPr/>
          </p:nvSpPr>
          <p:spPr bwMode="auto">
            <a:xfrm flipH="1">
              <a:off x="2012" y="2415"/>
              <a:ext cx="1177"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9" name="Text Box 43"/>
            <p:cNvSpPr txBox="1">
              <a:spLocks noChangeArrowheads="1"/>
            </p:cNvSpPr>
            <p:nvPr/>
          </p:nvSpPr>
          <p:spPr bwMode="auto">
            <a:xfrm rot="21169770">
              <a:off x="2151" y="2283"/>
              <a:ext cx="660"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200" b="1" dirty="0">
                  <a:latin typeface="微软雅黑" pitchFamily="34" charset="-122"/>
                  <a:ea typeface="微软雅黑" pitchFamily="34" charset="-122"/>
                </a:rPr>
                <a:t>ACK </a:t>
              </a:r>
              <a:r>
                <a:rPr kumimoji="0" lang="en-US" altLang="zh-CN" sz="1200" b="1" baseline="-25000" dirty="0">
                  <a:latin typeface="微软雅黑" pitchFamily="34" charset="-122"/>
                  <a:ea typeface="微软雅黑" pitchFamily="34" charset="-122"/>
                </a:rPr>
                <a:t>1</a:t>
              </a:r>
            </a:p>
          </p:txBody>
        </p:sp>
      </p:grpSp>
      <p:sp>
        <p:nvSpPr>
          <p:cNvPr id="70" name="Text Box 47"/>
          <p:cNvSpPr txBox="1">
            <a:spLocks noChangeArrowheads="1"/>
          </p:cNvSpPr>
          <p:nvPr/>
        </p:nvSpPr>
        <p:spPr bwMode="auto">
          <a:xfrm>
            <a:off x="1280398" y="2306444"/>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CC00CC"/>
                </a:solidFill>
                <a:latin typeface="微软雅黑" pitchFamily="34" charset="-122"/>
                <a:ea typeface="微软雅黑" pitchFamily="34" charset="-122"/>
              </a:rPr>
              <a:t>超时重传</a:t>
            </a:r>
          </a:p>
        </p:txBody>
      </p:sp>
      <p:grpSp>
        <p:nvGrpSpPr>
          <p:cNvPr id="71" name="Group 48"/>
          <p:cNvGrpSpPr>
            <a:grpSpLocks/>
          </p:cNvGrpSpPr>
          <p:nvPr/>
        </p:nvGrpSpPr>
        <p:grpSpPr bwMode="auto">
          <a:xfrm>
            <a:off x="1576311" y="1738027"/>
            <a:ext cx="499119" cy="546878"/>
            <a:chOff x="3153" y="2204"/>
            <a:chExt cx="533" cy="584"/>
          </a:xfrm>
        </p:grpSpPr>
        <p:sp>
          <p:nvSpPr>
            <p:cNvPr id="72" name="AutoShape 49"/>
            <p:cNvSpPr>
              <a:spLocks/>
            </p:cNvSpPr>
            <p:nvPr/>
          </p:nvSpPr>
          <p:spPr bwMode="auto">
            <a:xfrm>
              <a:off x="3600" y="2204"/>
              <a:ext cx="56" cy="584"/>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3" name="Text Box 50"/>
            <p:cNvSpPr txBox="1">
              <a:spLocks noChangeArrowheads="1"/>
            </p:cNvSpPr>
            <p:nvPr/>
          </p:nvSpPr>
          <p:spPr bwMode="auto">
            <a:xfrm>
              <a:off x="3153" y="2311"/>
              <a:ext cx="533"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latin typeface="微软雅黑" pitchFamily="34" charset="-122"/>
                  <a:ea typeface="微软雅黑" pitchFamily="34" charset="-122"/>
                </a:rPr>
                <a:t>t</a:t>
              </a:r>
              <a:r>
                <a:rPr kumimoji="0" lang="en-US" altLang="zh-CN" sz="1400" b="1" baseline="-25000" dirty="0">
                  <a:latin typeface="微软雅黑" pitchFamily="34" charset="-122"/>
                  <a:ea typeface="微软雅黑" pitchFamily="34" charset="-122"/>
                </a:rPr>
                <a:t>out</a:t>
              </a:r>
            </a:p>
          </p:txBody>
        </p:sp>
      </p:grpSp>
      <p:grpSp>
        <p:nvGrpSpPr>
          <p:cNvPr id="74" name="Group 51"/>
          <p:cNvGrpSpPr>
            <a:grpSpLocks/>
          </p:cNvGrpSpPr>
          <p:nvPr/>
        </p:nvGrpSpPr>
        <p:grpSpPr bwMode="auto">
          <a:xfrm>
            <a:off x="2290137" y="1839164"/>
            <a:ext cx="937372" cy="336180"/>
            <a:chOff x="4012" y="2397"/>
            <a:chExt cx="1001" cy="359"/>
          </a:xfrm>
        </p:grpSpPr>
        <p:sp>
          <p:nvSpPr>
            <p:cNvPr id="75" name="Line 52"/>
            <p:cNvSpPr>
              <a:spLocks noChangeShapeType="1"/>
            </p:cNvSpPr>
            <p:nvPr/>
          </p:nvSpPr>
          <p:spPr bwMode="auto">
            <a:xfrm flipH="1">
              <a:off x="4012" y="2555"/>
              <a:ext cx="1001"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76" name="Text Box 53"/>
            <p:cNvSpPr txBox="1">
              <a:spLocks noChangeArrowheads="1"/>
            </p:cNvSpPr>
            <p:nvPr/>
          </p:nvSpPr>
          <p:spPr bwMode="auto">
            <a:xfrm rot="21169770">
              <a:off x="4145" y="2397"/>
              <a:ext cx="715"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200" b="1" dirty="0">
                  <a:latin typeface="微软雅黑" pitchFamily="34" charset="-122"/>
                  <a:ea typeface="微软雅黑" pitchFamily="34" charset="-122"/>
                </a:rPr>
                <a:t>ACK </a:t>
              </a:r>
              <a:r>
                <a:rPr kumimoji="0" lang="en-US" altLang="zh-CN" sz="1200" b="1" baseline="-25000" dirty="0">
                  <a:latin typeface="微软雅黑" pitchFamily="34" charset="-122"/>
                  <a:ea typeface="微软雅黑" pitchFamily="34" charset="-122"/>
                </a:rPr>
                <a:t>1</a:t>
              </a:r>
            </a:p>
          </p:txBody>
        </p:sp>
      </p:grpSp>
      <p:sp>
        <p:nvSpPr>
          <p:cNvPr id="77" name="AutoShape 57"/>
          <p:cNvSpPr>
            <a:spLocks noChangeArrowheads="1"/>
          </p:cNvSpPr>
          <p:nvPr/>
        </p:nvSpPr>
        <p:spPr bwMode="auto">
          <a:xfrm>
            <a:off x="2094160" y="1944043"/>
            <a:ext cx="414841" cy="340862"/>
          </a:xfrm>
          <a:prstGeom prst="irregularSeal1">
            <a:avLst/>
          </a:prstGeom>
          <a:solidFill>
            <a:srgbClr val="FF0000"/>
          </a:solidFill>
          <a:ln w="9525" algn="ctr">
            <a:solidFill>
              <a:schemeClr val="tx1"/>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grpSp>
        <p:nvGrpSpPr>
          <p:cNvPr id="78" name="组合 77"/>
          <p:cNvGrpSpPr/>
          <p:nvPr/>
        </p:nvGrpSpPr>
        <p:grpSpPr>
          <a:xfrm>
            <a:off x="6030643" y="1337233"/>
            <a:ext cx="1082227" cy="2692542"/>
            <a:chOff x="6891708" y="1647602"/>
            <a:chExt cx="1834656" cy="3179763"/>
          </a:xfrm>
        </p:grpSpPr>
        <p:sp>
          <p:nvSpPr>
            <p:cNvPr id="79" name="Line 28"/>
            <p:cNvSpPr>
              <a:spLocks noChangeShapeType="1"/>
            </p:cNvSpPr>
            <p:nvPr/>
          </p:nvSpPr>
          <p:spPr bwMode="auto">
            <a:xfrm>
              <a:off x="6891708" y="1647602"/>
              <a:ext cx="0" cy="317976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0" name="Line 29"/>
            <p:cNvSpPr>
              <a:spLocks noChangeShapeType="1"/>
            </p:cNvSpPr>
            <p:nvPr/>
          </p:nvSpPr>
          <p:spPr bwMode="auto">
            <a:xfrm>
              <a:off x="8726364" y="1647602"/>
              <a:ext cx="0" cy="316071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sp>
        <p:nvSpPr>
          <p:cNvPr id="81" name="Rectangle 30"/>
          <p:cNvSpPr>
            <a:spLocks noChangeArrowheads="1"/>
          </p:cNvSpPr>
          <p:nvPr/>
        </p:nvSpPr>
        <p:spPr bwMode="auto">
          <a:xfrm>
            <a:off x="5861356" y="1071286"/>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itchFamily="34" charset="-122"/>
                <a:ea typeface="微软雅黑" pitchFamily="34" charset="-122"/>
              </a:rPr>
              <a:t>A</a:t>
            </a:r>
          </a:p>
        </p:txBody>
      </p:sp>
      <p:sp>
        <p:nvSpPr>
          <p:cNvPr id="82" name="Rectangle 31"/>
          <p:cNvSpPr>
            <a:spLocks noChangeArrowheads="1"/>
          </p:cNvSpPr>
          <p:nvPr/>
        </p:nvSpPr>
        <p:spPr bwMode="auto">
          <a:xfrm>
            <a:off x="6961666" y="1071286"/>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itchFamily="34" charset="-122"/>
                <a:ea typeface="微软雅黑" pitchFamily="34" charset="-122"/>
              </a:rPr>
              <a:t>B</a:t>
            </a:r>
          </a:p>
        </p:txBody>
      </p:sp>
      <p:grpSp>
        <p:nvGrpSpPr>
          <p:cNvPr id="83" name="Group 32"/>
          <p:cNvGrpSpPr>
            <a:grpSpLocks/>
          </p:cNvGrpSpPr>
          <p:nvPr/>
        </p:nvGrpSpPr>
        <p:grpSpPr bwMode="auto">
          <a:xfrm>
            <a:off x="6032337" y="1415894"/>
            <a:ext cx="1080298" cy="458853"/>
            <a:chOff x="3769" y="1868"/>
            <a:chExt cx="1057" cy="490"/>
          </a:xfrm>
        </p:grpSpPr>
        <p:sp>
          <p:nvSpPr>
            <p:cNvPr id="84" name="Freeform 33"/>
            <p:cNvSpPr>
              <a:spLocks/>
            </p:cNvSpPr>
            <p:nvPr/>
          </p:nvSpPr>
          <p:spPr bwMode="auto">
            <a:xfrm>
              <a:off x="3769" y="1868"/>
              <a:ext cx="1057" cy="490"/>
            </a:xfrm>
            <a:custGeom>
              <a:avLst/>
              <a:gdLst>
                <a:gd name="T0" fmla="*/ 0 w 1033"/>
                <a:gd name="T1" fmla="*/ 0 h 457"/>
                <a:gd name="T2" fmla="*/ 1071 w 1033"/>
                <a:gd name="T3" fmla="*/ 152 h 457"/>
                <a:gd name="T4" fmla="*/ 1071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5" name="AutoShape 34"/>
            <p:cNvSpPr>
              <a:spLocks noChangeArrowheads="1"/>
            </p:cNvSpPr>
            <p:nvPr/>
          </p:nvSpPr>
          <p:spPr bwMode="auto">
            <a:xfrm rot="480000">
              <a:off x="4477" y="2114"/>
              <a:ext cx="291" cy="100"/>
            </a:xfrm>
            <a:prstGeom prst="rightArrow">
              <a:avLst>
                <a:gd name="adj1" fmla="val 50000"/>
                <a:gd name="adj2" fmla="val 145513"/>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6" name="Rectangle 35"/>
            <p:cNvSpPr>
              <a:spLocks noChangeArrowheads="1"/>
            </p:cNvSpPr>
            <p:nvPr/>
          </p:nvSpPr>
          <p:spPr bwMode="auto">
            <a:xfrm rot="540000">
              <a:off x="3940" y="1949"/>
              <a:ext cx="43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grpSp>
        <p:nvGrpSpPr>
          <p:cNvPr id="87" name="Group 36"/>
          <p:cNvGrpSpPr>
            <a:grpSpLocks/>
          </p:cNvGrpSpPr>
          <p:nvPr/>
        </p:nvGrpSpPr>
        <p:grpSpPr bwMode="auto">
          <a:xfrm>
            <a:off x="6031400" y="2286778"/>
            <a:ext cx="1082519" cy="458853"/>
            <a:chOff x="3439" y="3564"/>
            <a:chExt cx="1156" cy="490"/>
          </a:xfrm>
        </p:grpSpPr>
        <p:sp>
          <p:nvSpPr>
            <p:cNvPr id="88" name="Freeform 37"/>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9" name="AutoShape 38"/>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90" name="Rectangle 39"/>
            <p:cNvSpPr>
              <a:spLocks noChangeArrowheads="1"/>
            </p:cNvSpPr>
            <p:nvPr/>
          </p:nvSpPr>
          <p:spPr bwMode="auto">
            <a:xfrm rot="540000">
              <a:off x="3626" y="3647"/>
              <a:ext cx="47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sp>
        <p:nvSpPr>
          <p:cNvPr id="91" name="Text Box 40"/>
          <p:cNvSpPr txBox="1">
            <a:spLocks noChangeArrowheads="1"/>
          </p:cNvSpPr>
          <p:nvPr/>
        </p:nvSpPr>
        <p:spPr bwMode="auto">
          <a:xfrm>
            <a:off x="6142429" y="397930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0000FF"/>
                </a:solidFill>
                <a:latin typeface="微软雅黑" pitchFamily="34" charset="-122"/>
                <a:ea typeface="微软雅黑" pitchFamily="34" charset="-122"/>
              </a:rPr>
              <a:t>确认迟到</a:t>
            </a:r>
          </a:p>
        </p:txBody>
      </p:sp>
      <p:grpSp>
        <p:nvGrpSpPr>
          <p:cNvPr id="92" name="Group 41"/>
          <p:cNvGrpSpPr>
            <a:grpSpLocks/>
          </p:cNvGrpSpPr>
          <p:nvPr/>
        </p:nvGrpSpPr>
        <p:grpSpPr bwMode="auto">
          <a:xfrm>
            <a:off x="6015481" y="2734396"/>
            <a:ext cx="1102183" cy="311833"/>
            <a:chOff x="2012" y="2283"/>
            <a:chExt cx="1177" cy="333"/>
          </a:xfrm>
        </p:grpSpPr>
        <p:sp>
          <p:nvSpPr>
            <p:cNvPr id="93" name="Line 42"/>
            <p:cNvSpPr>
              <a:spLocks noChangeShapeType="1"/>
            </p:cNvSpPr>
            <p:nvPr/>
          </p:nvSpPr>
          <p:spPr bwMode="auto">
            <a:xfrm flipH="1">
              <a:off x="2012" y="2415"/>
              <a:ext cx="1177"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94" name="Text Box 43"/>
            <p:cNvSpPr txBox="1">
              <a:spLocks noChangeArrowheads="1"/>
            </p:cNvSpPr>
            <p:nvPr/>
          </p:nvSpPr>
          <p:spPr bwMode="auto">
            <a:xfrm rot="21169770">
              <a:off x="2151" y="2283"/>
              <a:ext cx="660"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200" b="1" dirty="0">
                  <a:latin typeface="微软雅黑" pitchFamily="34" charset="-122"/>
                  <a:ea typeface="微软雅黑" pitchFamily="34" charset="-122"/>
                </a:rPr>
                <a:t>ACK </a:t>
              </a:r>
              <a:r>
                <a:rPr kumimoji="0" lang="en-US" altLang="zh-CN" sz="1200" b="1" baseline="-25000" dirty="0">
                  <a:latin typeface="微软雅黑" pitchFamily="34" charset="-122"/>
                  <a:ea typeface="微软雅黑" pitchFamily="34" charset="-122"/>
                </a:rPr>
                <a:t>1</a:t>
              </a:r>
            </a:p>
          </p:txBody>
        </p:sp>
      </p:grpSp>
      <p:sp>
        <p:nvSpPr>
          <p:cNvPr id="95" name="Text Box 47"/>
          <p:cNvSpPr txBox="1">
            <a:spLocks noChangeArrowheads="1"/>
          </p:cNvSpPr>
          <p:nvPr/>
        </p:nvSpPr>
        <p:spPr bwMode="auto">
          <a:xfrm>
            <a:off x="5130084" y="2306444"/>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algn="r"/>
            <a:r>
              <a:rPr kumimoji="0" lang="zh-CN" altLang="en-US" sz="1400" b="1" dirty="0">
                <a:solidFill>
                  <a:srgbClr val="CC00CC"/>
                </a:solidFill>
                <a:latin typeface="微软雅黑" pitchFamily="34" charset="-122"/>
                <a:ea typeface="微软雅黑" pitchFamily="34" charset="-122"/>
              </a:rPr>
              <a:t>超时重传</a:t>
            </a:r>
          </a:p>
        </p:txBody>
      </p:sp>
      <p:grpSp>
        <p:nvGrpSpPr>
          <p:cNvPr id="96" name="Group 48"/>
          <p:cNvGrpSpPr>
            <a:grpSpLocks/>
          </p:cNvGrpSpPr>
          <p:nvPr/>
        </p:nvGrpSpPr>
        <p:grpSpPr bwMode="auto">
          <a:xfrm>
            <a:off x="5455492" y="1738027"/>
            <a:ext cx="499119" cy="546878"/>
            <a:chOff x="3153" y="2204"/>
            <a:chExt cx="533" cy="584"/>
          </a:xfrm>
        </p:grpSpPr>
        <p:sp>
          <p:nvSpPr>
            <p:cNvPr id="97" name="AutoShape 49"/>
            <p:cNvSpPr>
              <a:spLocks/>
            </p:cNvSpPr>
            <p:nvPr/>
          </p:nvSpPr>
          <p:spPr bwMode="auto">
            <a:xfrm>
              <a:off x="3600" y="2204"/>
              <a:ext cx="56" cy="584"/>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98" name="Text Box 50"/>
            <p:cNvSpPr txBox="1">
              <a:spLocks noChangeArrowheads="1"/>
            </p:cNvSpPr>
            <p:nvPr/>
          </p:nvSpPr>
          <p:spPr bwMode="auto">
            <a:xfrm>
              <a:off x="3153" y="2311"/>
              <a:ext cx="533"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latin typeface="微软雅黑" pitchFamily="34" charset="-122"/>
                  <a:ea typeface="微软雅黑" pitchFamily="34" charset="-122"/>
                </a:rPr>
                <a:t>t</a:t>
              </a:r>
              <a:r>
                <a:rPr kumimoji="0" lang="en-US" altLang="zh-CN" sz="1400" b="1" baseline="-25000" dirty="0">
                  <a:latin typeface="微软雅黑" pitchFamily="34" charset="-122"/>
                  <a:ea typeface="微软雅黑" pitchFamily="34" charset="-122"/>
                </a:rPr>
                <a:t>out</a:t>
              </a:r>
            </a:p>
          </p:txBody>
        </p:sp>
      </p:grpSp>
      <p:grpSp>
        <p:nvGrpSpPr>
          <p:cNvPr id="99" name="Group 36"/>
          <p:cNvGrpSpPr>
            <a:grpSpLocks/>
          </p:cNvGrpSpPr>
          <p:nvPr/>
        </p:nvGrpSpPr>
        <p:grpSpPr bwMode="auto">
          <a:xfrm>
            <a:off x="6031400" y="3100539"/>
            <a:ext cx="1082519" cy="458853"/>
            <a:chOff x="3439" y="3564"/>
            <a:chExt cx="1156" cy="490"/>
          </a:xfrm>
        </p:grpSpPr>
        <p:sp>
          <p:nvSpPr>
            <p:cNvPr id="100" name="Freeform 37"/>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01" name="AutoShape 38"/>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02" name="Rectangle 39"/>
            <p:cNvSpPr>
              <a:spLocks noChangeArrowheads="1"/>
            </p:cNvSpPr>
            <p:nvPr/>
          </p:nvSpPr>
          <p:spPr bwMode="auto">
            <a:xfrm rot="540000">
              <a:off x="3555" y="3623"/>
              <a:ext cx="47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2</a:t>
              </a:r>
            </a:p>
          </p:txBody>
        </p:sp>
      </p:grpSp>
      <p:sp>
        <p:nvSpPr>
          <p:cNvPr id="103" name="矩形 102"/>
          <p:cNvSpPr/>
          <p:nvPr/>
        </p:nvSpPr>
        <p:spPr>
          <a:xfrm>
            <a:off x="4411990" y="3379484"/>
            <a:ext cx="1620906" cy="523220"/>
          </a:xfrm>
          <a:prstGeom prst="rect">
            <a:avLst/>
          </a:prstGeom>
        </p:spPr>
        <p:txBody>
          <a:bodyPr wrap="square">
            <a:spAutoFit/>
          </a:bodyPr>
          <a:lstStyle/>
          <a:p>
            <a:pPr algn="r"/>
            <a:r>
              <a:rPr lang="zh-CN" altLang="en-US" sz="1400" b="1" dirty="0">
                <a:solidFill>
                  <a:srgbClr val="C00000"/>
                </a:solidFill>
                <a:latin typeface="微软雅黑" pitchFamily="34" charset="-122"/>
                <a:ea typeface="微软雅黑" pitchFamily="34" charset="-122"/>
              </a:rPr>
              <a:t>重复 </a:t>
            </a:r>
            <a:r>
              <a:rPr lang="en-US" altLang="zh-CN" sz="1400" b="1" dirty="0">
                <a:solidFill>
                  <a:srgbClr val="C00000"/>
                </a:solidFill>
                <a:latin typeface="微软雅黑" pitchFamily="34" charset="-122"/>
                <a:ea typeface="微软雅黑" pitchFamily="34" charset="-122"/>
              </a:rPr>
              <a:t>ACK</a:t>
            </a:r>
            <a:r>
              <a:rPr lang="en-US" altLang="zh-CN" sz="1400" b="1" baseline="-25000" dirty="0">
                <a:solidFill>
                  <a:srgbClr val="C00000"/>
                </a:solidFill>
                <a:latin typeface="微软雅黑" pitchFamily="34" charset="-122"/>
                <a:ea typeface="微软雅黑" pitchFamily="34" charset="-122"/>
              </a:rPr>
              <a:t>1</a:t>
            </a:r>
            <a:r>
              <a:rPr lang="zh-CN" altLang="en-US" sz="1400" b="1" dirty="0">
                <a:solidFill>
                  <a:srgbClr val="C00000"/>
                </a:solidFill>
                <a:latin typeface="微软雅黑" pitchFamily="34" charset="-122"/>
                <a:ea typeface="微软雅黑" pitchFamily="34" charset="-122"/>
              </a:rPr>
              <a:t>，丢弃</a:t>
            </a:r>
            <a:endParaRPr lang="en-US" altLang="zh-CN" sz="1400" dirty="0">
              <a:solidFill>
                <a:srgbClr val="C00000"/>
              </a:solidFill>
              <a:latin typeface="微软雅黑" pitchFamily="34" charset="-122"/>
              <a:ea typeface="微软雅黑" pitchFamily="34" charset="-122"/>
            </a:endParaRPr>
          </a:p>
          <a:p>
            <a:pPr algn="r"/>
            <a:r>
              <a:rPr lang="zh-CN" altLang="en-US" sz="1400" b="1" dirty="0">
                <a:solidFill>
                  <a:srgbClr val="C00000"/>
                </a:solidFill>
                <a:latin typeface="微软雅黑" pitchFamily="34" charset="-122"/>
                <a:ea typeface="微软雅黑" pitchFamily="34" charset="-122"/>
              </a:rPr>
              <a:t>等待 </a:t>
            </a:r>
            <a:r>
              <a:rPr lang="en-US" altLang="zh-CN" sz="1400" b="1" dirty="0">
                <a:solidFill>
                  <a:srgbClr val="C00000"/>
                </a:solidFill>
                <a:latin typeface="微软雅黑" pitchFamily="34" charset="-122"/>
                <a:ea typeface="微软雅黑" pitchFamily="34" charset="-122"/>
              </a:rPr>
              <a:t>ACK</a:t>
            </a:r>
            <a:r>
              <a:rPr lang="en-US" altLang="zh-CN" sz="1400" b="1" baseline="-25000" dirty="0">
                <a:solidFill>
                  <a:srgbClr val="C00000"/>
                </a:solidFill>
                <a:latin typeface="微软雅黑" pitchFamily="34" charset="-122"/>
                <a:ea typeface="微软雅黑" pitchFamily="34" charset="-122"/>
              </a:rPr>
              <a:t>2</a:t>
            </a:r>
            <a:r>
              <a:rPr lang="en-US" altLang="zh-CN" sz="1400" b="1" dirty="0">
                <a:solidFill>
                  <a:srgbClr val="C00000"/>
                </a:solidFill>
                <a:latin typeface="微软雅黑" pitchFamily="34" charset="-122"/>
                <a:ea typeface="微软雅黑" pitchFamily="34" charset="-122"/>
              </a:rPr>
              <a:t> </a:t>
            </a:r>
          </a:p>
        </p:txBody>
      </p:sp>
      <p:grpSp>
        <p:nvGrpSpPr>
          <p:cNvPr id="104" name="组合 103"/>
          <p:cNvGrpSpPr/>
          <p:nvPr/>
        </p:nvGrpSpPr>
        <p:grpSpPr>
          <a:xfrm>
            <a:off x="6035835" y="1900192"/>
            <a:ext cx="1078084" cy="1699467"/>
            <a:chOff x="6900509" y="2601963"/>
            <a:chExt cx="1827632" cy="2881039"/>
          </a:xfrm>
        </p:grpSpPr>
        <p:sp>
          <p:nvSpPr>
            <p:cNvPr id="105" name="Freeform 48"/>
            <p:cNvSpPr>
              <a:spLocks/>
            </p:cNvSpPr>
            <p:nvPr/>
          </p:nvSpPr>
          <p:spPr bwMode="auto">
            <a:xfrm>
              <a:off x="6900509" y="2726308"/>
              <a:ext cx="1827632" cy="2756694"/>
            </a:xfrm>
            <a:custGeom>
              <a:avLst/>
              <a:gdLst>
                <a:gd name="T0" fmla="*/ 798 w 798"/>
                <a:gd name="T1" fmla="*/ 0 h 1134"/>
                <a:gd name="T2" fmla="*/ 589 w 798"/>
                <a:gd name="T3" fmla="*/ 70 h 1134"/>
                <a:gd name="T4" fmla="*/ 466 w 798"/>
                <a:gd name="T5" fmla="*/ 217 h 1134"/>
                <a:gd name="T6" fmla="*/ 418 w 798"/>
                <a:gd name="T7" fmla="*/ 376 h 1134"/>
                <a:gd name="T8" fmla="*/ 385 w 798"/>
                <a:gd name="T9" fmla="*/ 661 h 1134"/>
                <a:gd name="T10" fmla="*/ 310 w 798"/>
                <a:gd name="T11" fmla="*/ 1018 h 1134"/>
                <a:gd name="T12" fmla="*/ 0 w 798"/>
                <a:gd name="T13" fmla="*/ 1134 h 1134"/>
              </a:gdLst>
              <a:ahLst/>
              <a:cxnLst>
                <a:cxn ang="0">
                  <a:pos x="T0" y="T1"/>
                </a:cxn>
                <a:cxn ang="0">
                  <a:pos x="T2" y="T3"/>
                </a:cxn>
                <a:cxn ang="0">
                  <a:pos x="T4" y="T5"/>
                </a:cxn>
                <a:cxn ang="0">
                  <a:pos x="T6" y="T7"/>
                </a:cxn>
                <a:cxn ang="0">
                  <a:pos x="T8" y="T9"/>
                </a:cxn>
                <a:cxn ang="0">
                  <a:pos x="T10" y="T11"/>
                </a:cxn>
                <a:cxn ang="0">
                  <a:pos x="T12" y="T13"/>
                </a:cxn>
              </a:cxnLst>
              <a:rect l="0" t="0" r="r" b="b"/>
              <a:pathLst>
                <a:path w="798" h="1134">
                  <a:moveTo>
                    <a:pt x="798" y="0"/>
                  </a:moveTo>
                  <a:cubicBezTo>
                    <a:pt x="763" y="12"/>
                    <a:pt x="644" y="34"/>
                    <a:pt x="589" y="70"/>
                  </a:cubicBezTo>
                  <a:cubicBezTo>
                    <a:pt x="534" y="106"/>
                    <a:pt x="494" y="166"/>
                    <a:pt x="466" y="217"/>
                  </a:cubicBezTo>
                  <a:cubicBezTo>
                    <a:pt x="438" y="268"/>
                    <a:pt x="431" y="302"/>
                    <a:pt x="418" y="376"/>
                  </a:cubicBezTo>
                  <a:cubicBezTo>
                    <a:pt x="405" y="450"/>
                    <a:pt x="403" y="554"/>
                    <a:pt x="385" y="661"/>
                  </a:cubicBezTo>
                  <a:cubicBezTo>
                    <a:pt x="367" y="768"/>
                    <a:pt x="374" y="939"/>
                    <a:pt x="310" y="1018"/>
                  </a:cubicBezTo>
                  <a:cubicBezTo>
                    <a:pt x="246" y="1097"/>
                    <a:pt x="65" y="1110"/>
                    <a:pt x="0" y="1134"/>
                  </a:cubicBezTo>
                </a:path>
              </a:pathLst>
            </a:custGeom>
            <a:noFill/>
            <a:ln w="38100" cap="flat" cmpd="sng">
              <a:solidFill>
                <a:srgbClr val="CC00CC"/>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06" name="矩形 105"/>
            <p:cNvSpPr/>
            <p:nvPr/>
          </p:nvSpPr>
          <p:spPr>
            <a:xfrm rot="20115699">
              <a:off x="7511689" y="2601963"/>
              <a:ext cx="1047981" cy="469585"/>
            </a:xfrm>
            <a:prstGeom prst="rect">
              <a:avLst/>
            </a:prstGeom>
          </p:spPr>
          <p:txBody>
            <a:bodyPr wrap="none">
              <a:spAutoFit/>
            </a:bodyPr>
            <a:lstStyle/>
            <a:p>
              <a:r>
                <a:rPr lang="en-US" altLang="zh-CN" sz="1200" b="1" dirty="0">
                  <a:latin typeface="微软雅黑" pitchFamily="34" charset="-122"/>
                  <a:ea typeface="微软雅黑" pitchFamily="34" charset="-122"/>
                </a:rPr>
                <a:t>ACK </a:t>
              </a:r>
              <a:r>
                <a:rPr lang="en-US" altLang="zh-CN" sz="1200" b="1" baseline="-25000" dirty="0">
                  <a:latin typeface="微软雅黑" pitchFamily="34" charset="-122"/>
                  <a:ea typeface="微软雅黑" pitchFamily="34" charset="-122"/>
                </a:rPr>
                <a:t>1</a:t>
              </a:r>
            </a:p>
          </p:txBody>
        </p:sp>
      </p:grpSp>
      <p:sp>
        <p:nvSpPr>
          <p:cNvPr id="108" name="矩形 107"/>
          <p:cNvSpPr/>
          <p:nvPr/>
        </p:nvSpPr>
        <p:spPr>
          <a:xfrm>
            <a:off x="7105160" y="2557540"/>
            <a:ext cx="1300919" cy="523220"/>
          </a:xfrm>
          <a:prstGeom prst="rect">
            <a:avLst/>
          </a:prstGeom>
        </p:spPr>
        <p:txBody>
          <a:bodyPr wrap="square">
            <a:spAutoFit/>
          </a:bodyPr>
          <a:lstStyle/>
          <a:p>
            <a:r>
              <a:rPr lang="zh-CN" altLang="en-US" sz="1400" b="1" dirty="0">
                <a:solidFill>
                  <a:srgbClr val="CC00CC"/>
                </a:solidFill>
                <a:latin typeface="微软雅黑" pitchFamily="34" charset="-122"/>
                <a:ea typeface="微软雅黑" pitchFamily="34" charset="-122"/>
              </a:rPr>
              <a:t>重复，丢弃</a:t>
            </a:r>
            <a:endParaRPr lang="en-US" altLang="zh-CN" sz="1400" b="1" dirty="0">
              <a:solidFill>
                <a:srgbClr val="CC00CC"/>
              </a:solidFill>
              <a:latin typeface="微软雅黑" pitchFamily="34" charset="-122"/>
              <a:ea typeface="微软雅黑" pitchFamily="34" charset="-122"/>
            </a:endParaRPr>
          </a:p>
          <a:p>
            <a:r>
              <a:rPr lang="zh-CN" altLang="en-US" sz="1400" b="1" dirty="0">
                <a:solidFill>
                  <a:srgbClr val="CC00CC"/>
                </a:solidFill>
                <a:latin typeface="微软雅黑" pitchFamily="34" charset="-122"/>
                <a:ea typeface="微软雅黑" pitchFamily="34" charset="-122"/>
              </a:rPr>
              <a:t>确认 </a:t>
            </a:r>
            <a:r>
              <a:rPr lang="en-US" altLang="zh-CN" sz="1400" b="1" dirty="0">
                <a:solidFill>
                  <a:srgbClr val="CC00CC"/>
                </a:solidFill>
                <a:latin typeface="微软雅黑" pitchFamily="34" charset="-122"/>
                <a:ea typeface="微软雅黑" pitchFamily="34" charset="-122"/>
              </a:rPr>
              <a:t>M</a:t>
            </a:r>
            <a:r>
              <a:rPr lang="en-US" altLang="zh-CN" sz="1400" b="1" baseline="-25000" dirty="0">
                <a:solidFill>
                  <a:srgbClr val="CC00CC"/>
                </a:solidFill>
                <a:latin typeface="微软雅黑" pitchFamily="34" charset="-122"/>
                <a:ea typeface="微软雅黑" pitchFamily="34" charset="-122"/>
              </a:rPr>
              <a:t>1</a:t>
            </a:r>
            <a:r>
              <a:rPr lang="en-US" altLang="zh-CN" sz="1400" b="1" dirty="0">
                <a:solidFill>
                  <a:srgbClr val="CC00CC"/>
                </a:solidFill>
                <a:latin typeface="微软雅黑" pitchFamily="34" charset="-122"/>
                <a:ea typeface="微软雅黑" pitchFamily="34" charset="-122"/>
              </a:rPr>
              <a:t> </a:t>
            </a:r>
            <a:endParaRPr lang="zh-CN" altLang="en-US" sz="1400" b="1" dirty="0">
              <a:solidFill>
                <a:srgbClr val="CC00CC"/>
              </a:solidFill>
              <a:latin typeface="微软雅黑" pitchFamily="34" charset="-122"/>
              <a:ea typeface="微软雅黑" pitchFamily="34" charset="-122"/>
            </a:endParaRPr>
          </a:p>
        </p:txBody>
      </p:sp>
      <p:sp>
        <p:nvSpPr>
          <p:cNvPr id="107" name="AutoShape 5"/>
          <p:cNvSpPr>
            <a:spLocks noChangeArrowheads="1"/>
          </p:cNvSpPr>
          <p:nvPr/>
        </p:nvSpPr>
        <p:spPr bwMode="auto">
          <a:xfrm>
            <a:off x="556963" y="62124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09" name="Rectangle 6"/>
          <p:cNvSpPr>
            <a:spLocks noChangeArrowheads="1"/>
          </p:cNvSpPr>
          <p:nvPr/>
        </p:nvSpPr>
        <p:spPr bwMode="auto">
          <a:xfrm>
            <a:off x="3180166" y="588036"/>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确认丢失和确认迟到</a:t>
            </a:r>
          </a:p>
        </p:txBody>
      </p:sp>
      <p:sp>
        <p:nvSpPr>
          <p:cNvPr id="110" name="矩形 109"/>
          <p:cNvSpPr/>
          <p:nvPr/>
        </p:nvSpPr>
        <p:spPr>
          <a:xfrm>
            <a:off x="3224851" y="2537641"/>
            <a:ext cx="1306549" cy="523220"/>
          </a:xfrm>
          <a:prstGeom prst="rect">
            <a:avLst/>
          </a:prstGeom>
        </p:spPr>
        <p:txBody>
          <a:bodyPr wrap="square">
            <a:spAutoFit/>
          </a:bodyPr>
          <a:lstStyle/>
          <a:p>
            <a:r>
              <a:rPr lang="zh-CN" altLang="en-US" sz="1400" b="1" dirty="0">
                <a:solidFill>
                  <a:srgbClr val="CC00CC"/>
                </a:solidFill>
                <a:latin typeface="微软雅黑" pitchFamily="34" charset="-122"/>
                <a:ea typeface="微软雅黑" pitchFamily="34" charset="-122"/>
              </a:rPr>
              <a:t>重复，丢弃</a:t>
            </a:r>
            <a:endParaRPr lang="en-US" altLang="zh-CN" sz="1400" b="1" dirty="0">
              <a:solidFill>
                <a:srgbClr val="CC00CC"/>
              </a:solidFill>
              <a:latin typeface="微软雅黑" pitchFamily="34" charset="-122"/>
              <a:ea typeface="微软雅黑" pitchFamily="34" charset="-122"/>
            </a:endParaRPr>
          </a:p>
          <a:p>
            <a:r>
              <a:rPr lang="zh-CN" altLang="en-US" sz="1400" b="1" dirty="0">
                <a:solidFill>
                  <a:srgbClr val="CC00CC"/>
                </a:solidFill>
                <a:latin typeface="微软雅黑" pitchFamily="34" charset="-122"/>
                <a:ea typeface="微软雅黑" pitchFamily="34" charset="-122"/>
              </a:rPr>
              <a:t>确认 </a:t>
            </a:r>
            <a:r>
              <a:rPr lang="en-US" altLang="zh-CN" sz="1400" b="1" dirty="0">
                <a:solidFill>
                  <a:srgbClr val="CC00CC"/>
                </a:solidFill>
                <a:latin typeface="微软雅黑" pitchFamily="34" charset="-122"/>
                <a:ea typeface="微软雅黑" pitchFamily="34" charset="-122"/>
              </a:rPr>
              <a:t>M</a:t>
            </a:r>
            <a:r>
              <a:rPr lang="en-US" altLang="zh-CN" sz="1400" b="1" baseline="-25000" dirty="0">
                <a:solidFill>
                  <a:srgbClr val="CC00CC"/>
                </a:solidFill>
                <a:latin typeface="微软雅黑" pitchFamily="34" charset="-122"/>
                <a:ea typeface="微软雅黑" pitchFamily="34" charset="-122"/>
              </a:rPr>
              <a:t>1</a:t>
            </a:r>
            <a:r>
              <a:rPr lang="en-US" altLang="zh-CN" sz="1400" b="1" dirty="0">
                <a:solidFill>
                  <a:srgbClr val="CC00CC"/>
                </a:solidFill>
                <a:latin typeface="微软雅黑" pitchFamily="34" charset="-122"/>
                <a:ea typeface="微软雅黑" pitchFamily="34" charset="-122"/>
              </a:rPr>
              <a:t> </a:t>
            </a:r>
            <a:endParaRPr lang="zh-CN" altLang="en-US" sz="1400" b="1" dirty="0">
              <a:solidFill>
                <a:srgbClr val="CC00CC"/>
              </a:solidFill>
              <a:latin typeface="微软雅黑" pitchFamily="34" charset="-122"/>
              <a:ea typeface="微软雅黑" pitchFamily="34" charset="-122"/>
            </a:endParaRPr>
          </a:p>
        </p:txBody>
      </p:sp>
      <p:sp>
        <p:nvSpPr>
          <p:cNvPr id="111" name="TextBox 86"/>
          <p:cNvSpPr txBox="1"/>
          <p:nvPr/>
        </p:nvSpPr>
        <p:spPr>
          <a:xfrm>
            <a:off x="3224250" y="1798868"/>
            <a:ext cx="854721" cy="307777"/>
          </a:xfrm>
          <a:prstGeom prst="rect">
            <a:avLst/>
          </a:prstGeom>
          <a:noFill/>
        </p:spPr>
        <p:txBody>
          <a:bodyPr wrap="none" rtlCol="0">
            <a:spAutoFit/>
          </a:bodyPr>
          <a:lstStyle/>
          <a:p>
            <a:pPr defTabSz="762000" eaLnBrk="0" hangingPunct="0"/>
            <a:r>
              <a:rPr lang="zh-CN" altLang="en-US" sz="1400" b="1" dirty="0">
                <a:solidFill>
                  <a:srgbClr val="0000FF"/>
                </a:solidFill>
                <a:latin typeface="微软雅黑" pitchFamily="34" charset="-122"/>
                <a:ea typeface="微软雅黑" pitchFamily="34" charset="-122"/>
              </a:rPr>
              <a:t>确认 </a:t>
            </a:r>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sp>
        <p:nvSpPr>
          <p:cNvPr id="112" name="TextBox 86"/>
          <p:cNvSpPr txBox="1"/>
          <p:nvPr/>
        </p:nvSpPr>
        <p:spPr>
          <a:xfrm>
            <a:off x="7107679" y="1769991"/>
            <a:ext cx="854721" cy="307777"/>
          </a:xfrm>
          <a:prstGeom prst="rect">
            <a:avLst/>
          </a:prstGeom>
          <a:noFill/>
        </p:spPr>
        <p:txBody>
          <a:bodyPr wrap="none" rtlCol="0">
            <a:spAutoFit/>
          </a:bodyPr>
          <a:lstStyle/>
          <a:p>
            <a:pPr defTabSz="762000" eaLnBrk="0" hangingPunct="0"/>
            <a:r>
              <a:rPr lang="zh-CN" altLang="en-US" sz="1400" b="1" dirty="0">
                <a:solidFill>
                  <a:srgbClr val="0000FF"/>
                </a:solidFill>
                <a:latin typeface="微软雅黑" pitchFamily="34" charset="-122"/>
                <a:ea typeface="微软雅黑" pitchFamily="34" charset="-122"/>
              </a:rPr>
              <a:t>确认 </a:t>
            </a:r>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sp>
        <p:nvSpPr>
          <p:cNvPr id="113" name="矩形 112"/>
          <p:cNvSpPr/>
          <p:nvPr/>
        </p:nvSpPr>
        <p:spPr>
          <a:xfrm>
            <a:off x="4907674" y="3054072"/>
            <a:ext cx="1125221" cy="307777"/>
          </a:xfrm>
          <a:prstGeom prst="rect">
            <a:avLst/>
          </a:prstGeom>
        </p:spPr>
        <p:txBody>
          <a:bodyPr wrap="square">
            <a:spAutoFit/>
          </a:bodyPr>
          <a:lstStyle/>
          <a:p>
            <a:pPr algn="r"/>
            <a:r>
              <a:rPr lang="zh-CN" altLang="en-US" sz="1400" b="1" dirty="0">
                <a:solidFill>
                  <a:srgbClr val="CC00CC"/>
                </a:solidFill>
                <a:latin typeface="微软雅黑" pitchFamily="34" charset="-122"/>
                <a:ea typeface="微软雅黑" pitchFamily="34" charset="-122"/>
              </a:rPr>
              <a:t>发送下一个</a:t>
            </a:r>
            <a:endParaRPr lang="zh-CN" altLang="en-US" sz="1400" dirty="0">
              <a:solidFill>
                <a:srgbClr val="CC00CC"/>
              </a:solidFill>
              <a:latin typeface="微软雅黑" pitchFamily="34" charset="-122"/>
              <a:ea typeface="微软雅黑" pitchFamily="34" charset="-122"/>
            </a:endParaRPr>
          </a:p>
        </p:txBody>
      </p:sp>
    </p:spTree>
    <p:extLst>
      <p:ext uri="{BB962C8B-B14F-4D97-AF65-F5344CB8AC3E}">
        <p14:creationId xmlns:p14="http://schemas.microsoft.com/office/powerpoint/2010/main" val="1920067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77"/>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nodeType="clickEffect">
                                  <p:stCondLst>
                                    <p:cond delay="0"/>
                                  </p:stCondLst>
                                  <p:childTnLst>
                                    <p:anim calcmode="discrete" valueType="str">
                                      <p:cBhvr>
                                        <p:cTn id="10" dur="1000" fill="hold"/>
                                        <p:tgtEl>
                                          <p:spTgt spid="71"/>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3000" fill="hold" grpId="0" nodeType="clickEffect">
                                  <p:stCondLst>
                                    <p:cond delay="0"/>
                                  </p:stCondLst>
                                  <p:childTnLst>
                                    <p:anim calcmode="discrete" valueType="str">
                                      <p:cBhvr>
                                        <p:cTn id="14" dur="1000" fill="hold"/>
                                        <p:tgtEl>
                                          <p:spTgt spid="70"/>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35" presetClass="emph" presetSubtype="0" repeatCount="3000" fill="hold" grpId="0" nodeType="clickEffect">
                                  <p:stCondLst>
                                    <p:cond delay="0"/>
                                  </p:stCondLst>
                                  <p:childTnLst>
                                    <p:anim calcmode="discrete" valueType="str">
                                      <p:cBhvr>
                                        <p:cTn id="18" dur="1000" fill="hold"/>
                                        <p:tgtEl>
                                          <p:spTgt spid="110"/>
                                        </p:tgtEl>
                                        <p:attrNameLst>
                                          <p:attrName>style.visibility</p:attrName>
                                        </p:attrNameLst>
                                      </p:cBhvr>
                                      <p:tavLst>
                                        <p:tav tm="0">
                                          <p:val>
                                            <p:strVal val="hidden"/>
                                          </p:val>
                                        </p:tav>
                                        <p:tav tm="50000">
                                          <p:val>
                                            <p:strVal val="visible"/>
                                          </p:val>
                                        </p:tav>
                                      </p:tavLst>
                                    </p:anim>
                                  </p:childTnLst>
                                </p:cTn>
                              </p:par>
                            </p:childTnLst>
                          </p:cTn>
                        </p:par>
                      </p:childTnLst>
                    </p:cTn>
                  </p:par>
                  <p:par>
                    <p:cTn id="19" fill="hold">
                      <p:stCondLst>
                        <p:cond delay="indefinite"/>
                      </p:stCondLst>
                      <p:childTnLst>
                        <p:par>
                          <p:cTn id="20" fill="hold">
                            <p:stCondLst>
                              <p:cond delay="0"/>
                            </p:stCondLst>
                            <p:childTnLst>
                              <p:par>
                                <p:cTn id="21" presetID="35" presetClass="emph" presetSubtype="0" repeatCount="3000" fill="hold" nodeType="clickEffect">
                                  <p:stCondLst>
                                    <p:cond delay="0"/>
                                  </p:stCondLst>
                                  <p:childTnLst>
                                    <p:anim calcmode="discrete" valueType="str">
                                      <p:cBhvr>
                                        <p:cTn id="22" dur="1000" fill="hold"/>
                                        <p:tgtEl>
                                          <p:spTgt spid="6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77" grpId="0" animBg="1"/>
      <p:bldP spid="11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EC736-880C-9311-9A48-F520B6B9F788}"/>
            </a:ext>
          </a:extLst>
        </p:cNvPr>
        <p:cNvGrpSpPr/>
        <p:nvPr/>
      </p:nvGrpSpPr>
      <p:grpSpPr>
        <a:xfrm>
          <a:off x="0" y="0"/>
          <a:ext cx="0" cy="0"/>
          <a:chOff x="0" y="0"/>
          <a:chExt cx="0" cy="0"/>
        </a:xfrm>
      </p:grpSpPr>
      <p:sp>
        <p:nvSpPr>
          <p:cNvPr id="5" name="AutoShape 5">
            <a:extLst>
              <a:ext uri="{FF2B5EF4-FFF2-40B4-BE49-F238E27FC236}">
                <a16:creationId xmlns:a16="http://schemas.microsoft.com/office/drawing/2014/main" id="{8C7C8575-24CE-4184-01D0-56CD867A62D3}"/>
              </a:ext>
            </a:extLst>
          </p:cNvPr>
          <p:cNvSpPr>
            <a:spLocks noChangeArrowheads="1"/>
          </p:cNvSpPr>
          <p:nvPr/>
        </p:nvSpPr>
        <p:spPr bwMode="auto">
          <a:xfrm>
            <a:off x="545144" y="62820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a:extLst>
              <a:ext uri="{FF2B5EF4-FFF2-40B4-BE49-F238E27FC236}">
                <a16:creationId xmlns:a16="http://schemas.microsoft.com/office/drawing/2014/main" id="{B07A1712-D72E-B9FC-624A-0FA00F33634F}"/>
              </a:ext>
            </a:extLst>
          </p:cNvPr>
          <p:cNvSpPr>
            <a:spLocks noChangeArrowheads="1"/>
          </p:cNvSpPr>
          <p:nvPr/>
        </p:nvSpPr>
        <p:spPr bwMode="auto">
          <a:xfrm>
            <a:off x="3162169" y="605119"/>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确认丢失和确认迟到</a:t>
            </a:r>
          </a:p>
        </p:txBody>
      </p:sp>
      <p:sp>
        <p:nvSpPr>
          <p:cNvPr id="7" name="圆角矩形 6">
            <a:extLst>
              <a:ext uri="{FF2B5EF4-FFF2-40B4-BE49-F238E27FC236}">
                <a16:creationId xmlns:a16="http://schemas.microsoft.com/office/drawing/2014/main" id="{03FD65EF-2239-D0A0-D364-FBA903687451}"/>
              </a:ext>
            </a:extLst>
          </p:cNvPr>
          <p:cNvSpPr/>
          <p:nvPr/>
        </p:nvSpPr>
        <p:spPr>
          <a:xfrm>
            <a:off x="545144" y="1025023"/>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3" name="组合 52">
            <a:extLst>
              <a:ext uri="{FF2B5EF4-FFF2-40B4-BE49-F238E27FC236}">
                <a16:creationId xmlns:a16="http://schemas.microsoft.com/office/drawing/2014/main" id="{5BB25D40-91CB-A386-316E-F5FC772D4335}"/>
              </a:ext>
            </a:extLst>
          </p:cNvPr>
          <p:cNvGrpSpPr/>
          <p:nvPr/>
        </p:nvGrpSpPr>
        <p:grpSpPr>
          <a:xfrm>
            <a:off x="2151462" y="1337233"/>
            <a:ext cx="1082227" cy="2099762"/>
            <a:chOff x="1965184" y="1647602"/>
            <a:chExt cx="1834656" cy="3179763"/>
          </a:xfrm>
        </p:grpSpPr>
        <p:sp>
          <p:nvSpPr>
            <p:cNvPr id="54" name="Line 28">
              <a:extLst>
                <a:ext uri="{FF2B5EF4-FFF2-40B4-BE49-F238E27FC236}">
                  <a16:creationId xmlns:a16="http://schemas.microsoft.com/office/drawing/2014/main" id="{3E14D5E3-638C-BD5C-C8AB-F37A99F2F6CD}"/>
                </a:ext>
              </a:extLst>
            </p:cNvPr>
            <p:cNvSpPr>
              <a:spLocks noChangeShapeType="1"/>
            </p:cNvSpPr>
            <p:nvPr/>
          </p:nvSpPr>
          <p:spPr bwMode="auto">
            <a:xfrm>
              <a:off x="1965184" y="1647602"/>
              <a:ext cx="0" cy="317976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5" name="Line 29">
              <a:extLst>
                <a:ext uri="{FF2B5EF4-FFF2-40B4-BE49-F238E27FC236}">
                  <a16:creationId xmlns:a16="http://schemas.microsoft.com/office/drawing/2014/main" id="{1EF2C61A-B7F0-7468-6651-5514D5814B7F}"/>
                </a:ext>
              </a:extLst>
            </p:cNvPr>
            <p:cNvSpPr>
              <a:spLocks noChangeShapeType="1"/>
            </p:cNvSpPr>
            <p:nvPr/>
          </p:nvSpPr>
          <p:spPr bwMode="auto">
            <a:xfrm>
              <a:off x="3799840" y="1647602"/>
              <a:ext cx="0" cy="316071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sp>
        <p:nvSpPr>
          <p:cNvPr id="56" name="Rectangle 30">
            <a:extLst>
              <a:ext uri="{FF2B5EF4-FFF2-40B4-BE49-F238E27FC236}">
                <a16:creationId xmlns:a16="http://schemas.microsoft.com/office/drawing/2014/main" id="{62795D17-751F-533D-F658-1610EB580F33}"/>
              </a:ext>
            </a:extLst>
          </p:cNvPr>
          <p:cNvSpPr>
            <a:spLocks noChangeArrowheads="1"/>
          </p:cNvSpPr>
          <p:nvPr/>
        </p:nvSpPr>
        <p:spPr bwMode="auto">
          <a:xfrm>
            <a:off x="1982174" y="1071286"/>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itchFamily="34" charset="-122"/>
                <a:ea typeface="微软雅黑" pitchFamily="34" charset="-122"/>
              </a:rPr>
              <a:t>A</a:t>
            </a:r>
          </a:p>
        </p:txBody>
      </p:sp>
      <p:sp>
        <p:nvSpPr>
          <p:cNvPr id="57" name="Rectangle 31">
            <a:extLst>
              <a:ext uri="{FF2B5EF4-FFF2-40B4-BE49-F238E27FC236}">
                <a16:creationId xmlns:a16="http://schemas.microsoft.com/office/drawing/2014/main" id="{D903BA4E-E687-4610-AF74-284F0C4362A9}"/>
              </a:ext>
            </a:extLst>
          </p:cNvPr>
          <p:cNvSpPr>
            <a:spLocks noChangeArrowheads="1"/>
          </p:cNvSpPr>
          <p:nvPr/>
        </p:nvSpPr>
        <p:spPr bwMode="auto">
          <a:xfrm>
            <a:off x="3082484" y="1071286"/>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B</a:t>
            </a:r>
          </a:p>
        </p:txBody>
      </p:sp>
      <p:grpSp>
        <p:nvGrpSpPr>
          <p:cNvPr id="58" name="Group 32">
            <a:extLst>
              <a:ext uri="{FF2B5EF4-FFF2-40B4-BE49-F238E27FC236}">
                <a16:creationId xmlns:a16="http://schemas.microsoft.com/office/drawing/2014/main" id="{D896DDC6-9495-4094-C6A0-E2AAF531EEF0}"/>
              </a:ext>
            </a:extLst>
          </p:cNvPr>
          <p:cNvGrpSpPr>
            <a:grpSpLocks/>
          </p:cNvGrpSpPr>
          <p:nvPr/>
        </p:nvGrpSpPr>
        <p:grpSpPr bwMode="auto">
          <a:xfrm>
            <a:off x="2153156" y="1415894"/>
            <a:ext cx="1080298" cy="458853"/>
            <a:chOff x="3769" y="1868"/>
            <a:chExt cx="1057" cy="490"/>
          </a:xfrm>
        </p:grpSpPr>
        <p:sp>
          <p:nvSpPr>
            <p:cNvPr id="59" name="Freeform 33">
              <a:extLst>
                <a:ext uri="{FF2B5EF4-FFF2-40B4-BE49-F238E27FC236}">
                  <a16:creationId xmlns:a16="http://schemas.microsoft.com/office/drawing/2014/main" id="{B3A6CECF-829D-C829-28A8-20E28E25AD86}"/>
                </a:ext>
              </a:extLst>
            </p:cNvPr>
            <p:cNvSpPr>
              <a:spLocks/>
            </p:cNvSpPr>
            <p:nvPr/>
          </p:nvSpPr>
          <p:spPr bwMode="auto">
            <a:xfrm>
              <a:off x="3769" y="1868"/>
              <a:ext cx="1057" cy="490"/>
            </a:xfrm>
            <a:custGeom>
              <a:avLst/>
              <a:gdLst>
                <a:gd name="T0" fmla="*/ 0 w 1033"/>
                <a:gd name="T1" fmla="*/ 0 h 457"/>
                <a:gd name="T2" fmla="*/ 1071 w 1033"/>
                <a:gd name="T3" fmla="*/ 152 h 457"/>
                <a:gd name="T4" fmla="*/ 1071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0" name="AutoShape 34">
              <a:extLst>
                <a:ext uri="{FF2B5EF4-FFF2-40B4-BE49-F238E27FC236}">
                  <a16:creationId xmlns:a16="http://schemas.microsoft.com/office/drawing/2014/main" id="{0543C11A-65DE-CA85-208A-BF7958786D76}"/>
                </a:ext>
              </a:extLst>
            </p:cNvPr>
            <p:cNvSpPr>
              <a:spLocks noChangeArrowheads="1"/>
            </p:cNvSpPr>
            <p:nvPr/>
          </p:nvSpPr>
          <p:spPr bwMode="auto">
            <a:xfrm rot="480000">
              <a:off x="4477" y="2114"/>
              <a:ext cx="291" cy="100"/>
            </a:xfrm>
            <a:prstGeom prst="rightArrow">
              <a:avLst>
                <a:gd name="adj1" fmla="val 50000"/>
                <a:gd name="adj2" fmla="val 145513"/>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1" name="Rectangle 35">
              <a:extLst>
                <a:ext uri="{FF2B5EF4-FFF2-40B4-BE49-F238E27FC236}">
                  <a16:creationId xmlns:a16="http://schemas.microsoft.com/office/drawing/2014/main" id="{BDD048E0-77A8-E486-3C4B-84A1F3CAAFE5}"/>
                </a:ext>
              </a:extLst>
            </p:cNvPr>
            <p:cNvSpPr>
              <a:spLocks noChangeArrowheads="1"/>
            </p:cNvSpPr>
            <p:nvPr/>
          </p:nvSpPr>
          <p:spPr bwMode="auto">
            <a:xfrm rot="540000">
              <a:off x="3940" y="1949"/>
              <a:ext cx="43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grpSp>
        <p:nvGrpSpPr>
          <p:cNvPr id="62" name="Group 36">
            <a:extLst>
              <a:ext uri="{FF2B5EF4-FFF2-40B4-BE49-F238E27FC236}">
                <a16:creationId xmlns:a16="http://schemas.microsoft.com/office/drawing/2014/main" id="{728A0EF4-8B68-E432-1C72-DAB01D753E51}"/>
              </a:ext>
            </a:extLst>
          </p:cNvPr>
          <p:cNvGrpSpPr>
            <a:grpSpLocks/>
          </p:cNvGrpSpPr>
          <p:nvPr/>
        </p:nvGrpSpPr>
        <p:grpSpPr bwMode="auto">
          <a:xfrm>
            <a:off x="2152219" y="2286778"/>
            <a:ext cx="1082519" cy="458853"/>
            <a:chOff x="3439" y="3564"/>
            <a:chExt cx="1156" cy="490"/>
          </a:xfrm>
        </p:grpSpPr>
        <p:sp>
          <p:nvSpPr>
            <p:cNvPr id="63" name="Freeform 37">
              <a:extLst>
                <a:ext uri="{FF2B5EF4-FFF2-40B4-BE49-F238E27FC236}">
                  <a16:creationId xmlns:a16="http://schemas.microsoft.com/office/drawing/2014/main" id="{BC5DCCC1-84DD-010B-D6CD-3B6249E8E6DE}"/>
                </a:ext>
              </a:extLst>
            </p:cNvPr>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4" name="AutoShape 38">
              <a:extLst>
                <a:ext uri="{FF2B5EF4-FFF2-40B4-BE49-F238E27FC236}">
                  <a16:creationId xmlns:a16="http://schemas.microsoft.com/office/drawing/2014/main" id="{0A316D68-80E1-D27E-85B7-7D90992399CD}"/>
                </a:ext>
              </a:extLst>
            </p:cNvPr>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5" name="Rectangle 39">
              <a:extLst>
                <a:ext uri="{FF2B5EF4-FFF2-40B4-BE49-F238E27FC236}">
                  <a16:creationId xmlns:a16="http://schemas.microsoft.com/office/drawing/2014/main" id="{05157ECB-EFFD-3640-EEFB-A0F5160EEA6B}"/>
                </a:ext>
              </a:extLst>
            </p:cNvPr>
            <p:cNvSpPr>
              <a:spLocks noChangeArrowheads="1"/>
            </p:cNvSpPr>
            <p:nvPr/>
          </p:nvSpPr>
          <p:spPr bwMode="auto">
            <a:xfrm rot="540000">
              <a:off x="3626" y="3647"/>
              <a:ext cx="47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sp>
        <p:nvSpPr>
          <p:cNvPr id="66" name="Text Box 40">
            <a:extLst>
              <a:ext uri="{FF2B5EF4-FFF2-40B4-BE49-F238E27FC236}">
                <a16:creationId xmlns:a16="http://schemas.microsoft.com/office/drawing/2014/main" id="{CBA76891-FA50-D521-4580-0F45F42811F0}"/>
              </a:ext>
            </a:extLst>
          </p:cNvPr>
          <p:cNvSpPr txBox="1">
            <a:spLocks noChangeArrowheads="1"/>
          </p:cNvSpPr>
          <p:nvPr/>
        </p:nvSpPr>
        <p:spPr bwMode="auto">
          <a:xfrm>
            <a:off x="2263248" y="397930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0000FF"/>
                </a:solidFill>
                <a:latin typeface="微软雅黑" pitchFamily="34" charset="-122"/>
                <a:ea typeface="微软雅黑" pitchFamily="34" charset="-122"/>
              </a:rPr>
              <a:t>确认丢失</a:t>
            </a:r>
          </a:p>
        </p:txBody>
      </p:sp>
      <p:grpSp>
        <p:nvGrpSpPr>
          <p:cNvPr id="67" name="Group 41">
            <a:extLst>
              <a:ext uri="{FF2B5EF4-FFF2-40B4-BE49-F238E27FC236}">
                <a16:creationId xmlns:a16="http://schemas.microsoft.com/office/drawing/2014/main" id="{F9798282-3A46-53B9-3A6B-35F9FC23A0BE}"/>
              </a:ext>
            </a:extLst>
          </p:cNvPr>
          <p:cNvGrpSpPr>
            <a:grpSpLocks/>
          </p:cNvGrpSpPr>
          <p:nvPr/>
        </p:nvGrpSpPr>
        <p:grpSpPr bwMode="auto">
          <a:xfrm>
            <a:off x="2136299" y="2734396"/>
            <a:ext cx="1102183" cy="311833"/>
            <a:chOff x="2012" y="2283"/>
            <a:chExt cx="1177" cy="333"/>
          </a:xfrm>
        </p:grpSpPr>
        <p:sp>
          <p:nvSpPr>
            <p:cNvPr id="68" name="Line 42">
              <a:extLst>
                <a:ext uri="{FF2B5EF4-FFF2-40B4-BE49-F238E27FC236}">
                  <a16:creationId xmlns:a16="http://schemas.microsoft.com/office/drawing/2014/main" id="{C2E0A2B5-5160-305D-F0BB-9C97D0B6299B}"/>
                </a:ext>
              </a:extLst>
            </p:cNvPr>
            <p:cNvSpPr>
              <a:spLocks noChangeShapeType="1"/>
            </p:cNvSpPr>
            <p:nvPr/>
          </p:nvSpPr>
          <p:spPr bwMode="auto">
            <a:xfrm flipH="1">
              <a:off x="2012" y="2415"/>
              <a:ext cx="1177"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9" name="Text Box 43">
              <a:extLst>
                <a:ext uri="{FF2B5EF4-FFF2-40B4-BE49-F238E27FC236}">
                  <a16:creationId xmlns:a16="http://schemas.microsoft.com/office/drawing/2014/main" id="{59F77E5C-3CC6-FDB8-2D89-ABD095518C9D}"/>
                </a:ext>
              </a:extLst>
            </p:cNvPr>
            <p:cNvSpPr txBox="1">
              <a:spLocks noChangeArrowheads="1"/>
            </p:cNvSpPr>
            <p:nvPr/>
          </p:nvSpPr>
          <p:spPr bwMode="auto">
            <a:xfrm rot="21169770">
              <a:off x="2151" y="2283"/>
              <a:ext cx="660"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200" b="1" dirty="0">
                  <a:latin typeface="微软雅黑" pitchFamily="34" charset="-122"/>
                  <a:ea typeface="微软雅黑" pitchFamily="34" charset="-122"/>
                </a:rPr>
                <a:t>ACK </a:t>
              </a:r>
              <a:r>
                <a:rPr kumimoji="0" lang="en-US" altLang="zh-CN" sz="1200" b="1" baseline="-25000" dirty="0">
                  <a:latin typeface="微软雅黑" pitchFamily="34" charset="-122"/>
                  <a:ea typeface="微软雅黑" pitchFamily="34" charset="-122"/>
                </a:rPr>
                <a:t>1</a:t>
              </a:r>
            </a:p>
          </p:txBody>
        </p:sp>
      </p:grpSp>
      <p:sp>
        <p:nvSpPr>
          <p:cNvPr id="70" name="Text Box 47">
            <a:extLst>
              <a:ext uri="{FF2B5EF4-FFF2-40B4-BE49-F238E27FC236}">
                <a16:creationId xmlns:a16="http://schemas.microsoft.com/office/drawing/2014/main" id="{E5DC4540-6FB3-EF28-872E-C3DD35E0CCAB}"/>
              </a:ext>
            </a:extLst>
          </p:cNvPr>
          <p:cNvSpPr txBox="1">
            <a:spLocks noChangeArrowheads="1"/>
          </p:cNvSpPr>
          <p:nvPr/>
        </p:nvSpPr>
        <p:spPr bwMode="auto">
          <a:xfrm>
            <a:off x="1280398" y="2306444"/>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CC00CC"/>
                </a:solidFill>
                <a:latin typeface="微软雅黑" pitchFamily="34" charset="-122"/>
                <a:ea typeface="微软雅黑" pitchFamily="34" charset="-122"/>
              </a:rPr>
              <a:t>超时重传</a:t>
            </a:r>
          </a:p>
        </p:txBody>
      </p:sp>
      <p:grpSp>
        <p:nvGrpSpPr>
          <p:cNvPr id="71" name="Group 48">
            <a:extLst>
              <a:ext uri="{FF2B5EF4-FFF2-40B4-BE49-F238E27FC236}">
                <a16:creationId xmlns:a16="http://schemas.microsoft.com/office/drawing/2014/main" id="{215049B7-868D-C030-98E2-0A2DDCB24151}"/>
              </a:ext>
            </a:extLst>
          </p:cNvPr>
          <p:cNvGrpSpPr>
            <a:grpSpLocks/>
          </p:cNvGrpSpPr>
          <p:nvPr/>
        </p:nvGrpSpPr>
        <p:grpSpPr bwMode="auto">
          <a:xfrm>
            <a:off x="1576311" y="1738027"/>
            <a:ext cx="499119" cy="546878"/>
            <a:chOff x="3153" y="2204"/>
            <a:chExt cx="533" cy="584"/>
          </a:xfrm>
        </p:grpSpPr>
        <p:sp>
          <p:nvSpPr>
            <p:cNvPr id="72" name="AutoShape 49">
              <a:extLst>
                <a:ext uri="{FF2B5EF4-FFF2-40B4-BE49-F238E27FC236}">
                  <a16:creationId xmlns:a16="http://schemas.microsoft.com/office/drawing/2014/main" id="{9B63B70F-5EB9-6370-47C9-D154F0DD648A}"/>
                </a:ext>
              </a:extLst>
            </p:cNvPr>
            <p:cNvSpPr>
              <a:spLocks/>
            </p:cNvSpPr>
            <p:nvPr/>
          </p:nvSpPr>
          <p:spPr bwMode="auto">
            <a:xfrm>
              <a:off x="3600" y="2204"/>
              <a:ext cx="56" cy="584"/>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3" name="Text Box 50">
              <a:extLst>
                <a:ext uri="{FF2B5EF4-FFF2-40B4-BE49-F238E27FC236}">
                  <a16:creationId xmlns:a16="http://schemas.microsoft.com/office/drawing/2014/main" id="{AD7A9A1D-BCDA-4E1B-9707-6AC0DE76ACE8}"/>
                </a:ext>
              </a:extLst>
            </p:cNvPr>
            <p:cNvSpPr txBox="1">
              <a:spLocks noChangeArrowheads="1"/>
            </p:cNvSpPr>
            <p:nvPr/>
          </p:nvSpPr>
          <p:spPr bwMode="auto">
            <a:xfrm>
              <a:off x="3153" y="2311"/>
              <a:ext cx="533"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latin typeface="微软雅黑" pitchFamily="34" charset="-122"/>
                  <a:ea typeface="微软雅黑" pitchFamily="34" charset="-122"/>
                </a:rPr>
                <a:t>t</a:t>
              </a:r>
              <a:r>
                <a:rPr kumimoji="0" lang="en-US" altLang="zh-CN" sz="1400" b="1" baseline="-25000" dirty="0">
                  <a:latin typeface="微软雅黑" pitchFamily="34" charset="-122"/>
                  <a:ea typeface="微软雅黑" pitchFamily="34" charset="-122"/>
                </a:rPr>
                <a:t>out</a:t>
              </a:r>
            </a:p>
          </p:txBody>
        </p:sp>
      </p:grpSp>
      <p:grpSp>
        <p:nvGrpSpPr>
          <p:cNvPr id="74" name="Group 51">
            <a:extLst>
              <a:ext uri="{FF2B5EF4-FFF2-40B4-BE49-F238E27FC236}">
                <a16:creationId xmlns:a16="http://schemas.microsoft.com/office/drawing/2014/main" id="{253B9CEC-FA39-49BC-C893-60FFA7DED16F}"/>
              </a:ext>
            </a:extLst>
          </p:cNvPr>
          <p:cNvGrpSpPr>
            <a:grpSpLocks/>
          </p:cNvGrpSpPr>
          <p:nvPr/>
        </p:nvGrpSpPr>
        <p:grpSpPr bwMode="auto">
          <a:xfrm>
            <a:off x="2290137" y="1839164"/>
            <a:ext cx="937372" cy="336180"/>
            <a:chOff x="4012" y="2397"/>
            <a:chExt cx="1001" cy="359"/>
          </a:xfrm>
        </p:grpSpPr>
        <p:sp>
          <p:nvSpPr>
            <p:cNvPr id="75" name="Line 52">
              <a:extLst>
                <a:ext uri="{FF2B5EF4-FFF2-40B4-BE49-F238E27FC236}">
                  <a16:creationId xmlns:a16="http://schemas.microsoft.com/office/drawing/2014/main" id="{0074F523-02F7-2458-9E7D-E731FE642808}"/>
                </a:ext>
              </a:extLst>
            </p:cNvPr>
            <p:cNvSpPr>
              <a:spLocks noChangeShapeType="1"/>
            </p:cNvSpPr>
            <p:nvPr/>
          </p:nvSpPr>
          <p:spPr bwMode="auto">
            <a:xfrm flipH="1">
              <a:off x="4012" y="2555"/>
              <a:ext cx="1001"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76" name="Text Box 53">
              <a:extLst>
                <a:ext uri="{FF2B5EF4-FFF2-40B4-BE49-F238E27FC236}">
                  <a16:creationId xmlns:a16="http://schemas.microsoft.com/office/drawing/2014/main" id="{9436660D-3900-500A-B192-E145EC1B84C1}"/>
                </a:ext>
              </a:extLst>
            </p:cNvPr>
            <p:cNvSpPr txBox="1">
              <a:spLocks noChangeArrowheads="1"/>
            </p:cNvSpPr>
            <p:nvPr/>
          </p:nvSpPr>
          <p:spPr bwMode="auto">
            <a:xfrm rot="21169770">
              <a:off x="4145" y="2397"/>
              <a:ext cx="715"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200" b="1" dirty="0">
                  <a:latin typeface="微软雅黑" pitchFamily="34" charset="-122"/>
                  <a:ea typeface="微软雅黑" pitchFamily="34" charset="-122"/>
                </a:rPr>
                <a:t>ACK </a:t>
              </a:r>
              <a:r>
                <a:rPr kumimoji="0" lang="en-US" altLang="zh-CN" sz="1200" b="1" baseline="-25000" dirty="0">
                  <a:latin typeface="微软雅黑" pitchFamily="34" charset="-122"/>
                  <a:ea typeface="微软雅黑" pitchFamily="34" charset="-122"/>
                </a:rPr>
                <a:t>1</a:t>
              </a:r>
            </a:p>
          </p:txBody>
        </p:sp>
      </p:grpSp>
      <p:sp>
        <p:nvSpPr>
          <p:cNvPr id="77" name="AutoShape 57">
            <a:extLst>
              <a:ext uri="{FF2B5EF4-FFF2-40B4-BE49-F238E27FC236}">
                <a16:creationId xmlns:a16="http://schemas.microsoft.com/office/drawing/2014/main" id="{C59624C6-5553-C6DA-CB5D-BB961ABEDC94}"/>
              </a:ext>
            </a:extLst>
          </p:cNvPr>
          <p:cNvSpPr>
            <a:spLocks noChangeArrowheads="1"/>
          </p:cNvSpPr>
          <p:nvPr/>
        </p:nvSpPr>
        <p:spPr bwMode="auto">
          <a:xfrm>
            <a:off x="2094160" y="1944043"/>
            <a:ext cx="414841" cy="340862"/>
          </a:xfrm>
          <a:prstGeom prst="irregularSeal1">
            <a:avLst/>
          </a:prstGeom>
          <a:solidFill>
            <a:srgbClr val="FF0000"/>
          </a:solidFill>
          <a:ln w="9525" algn="ctr">
            <a:solidFill>
              <a:schemeClr val="tx1"/>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grpSp>
        <p:nvGrpSpPr>
          <p:cNvPr id="78" name="组合 77">
            <a:extLst>
              <a:ext uri="{FF2B5EF4-FFF2-40B4-BE49-F238E27FC236}">
                <a16:creationId xmlns:a16="http://schemas.microsoft.com/office/drawing/2014/main" id="{0F97EA4F-73A7-2A6A-3B52-E822A1BA599C}"/>
              </a:ext>
            </a:extLst>
          </p:cNvPr>
          <p:cNvGrpSpPr/>
          <p:nvPr/>
        </p:nvGrpSpPr>
        <p:grpSpPr>
          <a:xfrm>
            <a:off x="6030643" y="1337233"/>
            <a:ext cx="1082227" cy="2692542"/>
            <a:chOff x="6891708" y="1647602"/>
            <a:chExt cx="1834656" cy="3179763"/>
          </a:xfrm>
        </p:grpSpPr>
        <p:sp>
          <p:nvSpPr>
            <p:cNvPr id="79" name="Line 28">
              <a:extLst>
                <a:ext uri="{FF2B5EF4-FFF2-40B4-BE49-F238E27FC236}">
                  <a16:creationId xmlns:a16="http://schemas.microsoft.com/office/drawing/2014/main" id="{E43FD9F7-63AE-C475-2D34-C55C09B4EE4B}"/>
                </a:ext>
              </a:extLst>
            </p:cNvPr>
            <p:cNvSpPr>
              <a:spLocks noChangeShapeType="1"/>
            </p:cNvSpPr>
            <p:nvPr/>
          </p:nvSpPr>
          <p:spPr bwMode="auto">
            <a:xfrm>
              <a:off x="6891708" y="1647602"/>
              <a:ext cx="0" cy="317976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0" name="Line 29">
              <a:extLst>
                <a:ext uri="{FF2B5EF4-FFF2-40B4-BE49-F238E27FC236}">
                  <a16:creationId xmlns:a16="http://schemas.microsoft.com/office/drawing/2014/main" id="{59D74A4D-BDEC-388E-F10D-93671D904A49}"/>
                </a:ext>
              </a:extLst>
            </p:cNvPr>
            <p:cNvSpPr>
              <a:spLocks noChangeShapeType="1"/>
            </p:cNvSpPr>
            <p:nvPr/>
          </p:nvSpPr>
          <p:spPr bwMode="auto">
            <a:xfrm>
              <a:off x="8726364" y="1647602"/>
              <a:ext cx="0" cy="316071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sp>
        <p:nvSpPr>
          <p:cNvPr id="81" name="Rectangle 30">
            <a:extLst>
              <a:ext uri="{FF2B5EF4-FFF2-40B4-BE49-F238E27FC236}">
                <a16:creationId xmlns:a16="http://schemas.microsoft.com/office/drawing/2014/main" id="{A82C2CA9-F0EF-C8A8-58F1-6DA35DA3D9C9}"/>
              </a:ext>
            </a:extLst>
          </p:cNvPr>
          <p:cNvSpPr>
            <a:spLocks noChangeArrowheads="1"/>
          </p:cNvSpPr>
          <p:nvPr/>
        </p:nvSpPr>
        <p:spPr bwMode="auto">
          <a:xfrm>
            <a:off x="5861356" y="1071286"/>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itchFamily="34" charset="-122"/>
                <a:ea typeface="微软雅黑" pitchFamily="34" charset="-122"/>
              </a:rPr>
              <a:t>A</a:t>
            </a:r>
          </a:p>
        </p:txBody>
      </p:sp>
      <p:sp>
        <p:nvSpPr>
          <p:cNvPr id="82" name="Rectangle 31">
            <a:extLst>
              <a:ext uri="{FF2B5EF4-FFF2-40B4-BE49-F238E27FC236}">
                <a16:creationId xmlns:a16="http://schemas.microsoft.com/office/drawing/2014/main" id="{3744EBE2-9751-656F-FA18-70033DBB1EB5}"/>
              </a:ext>
            </a:extLst>
          </p:cNvPr>
          <p:cNvSpPr>
            <a:spLocks noChangeArrowheads="1"/>
          </p:cNvSpPr>
          <p:nvPr/>
        </p:nvSpPr>
        <p:spPr bwMode="auto">
          <a:xfrm>
            <a:off x="6961666" y="1071286"/>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itchFamily="34" charset="-122"/>
                <a:ea typeface="微软雅黑" pitchFamily="34" charset="-122"/>
              </a:rPr>
              <a:t>B</a:t>
            </a:r>
          </a:p>
        </p:txBody>
      </p:sp>
      <p:grpSp>
        <p:nvGrpSpPr>
          <p:cNvPr id="83" name="Group 32">
            <a:extLst>
              <a:ext uri="{FF2B5EF4-FFF2-40B4-BE49-F238E27FC236}">
                <a16:creationId xmlns:a16="http://schemas.microsoft.com/office/drawing/2014/main" id="{2143E221-75EE-0CE6-698C-03A536A52094}"/>
              </a:ext>
            </a:extLst>
          </p:cNvPr>
          <p:cNvGrpSpPr>
            <a:grpSpLocks/>
          </p:cNvGrpSpPr>
          <p:nvPr/>
        </p:nvGrpSpPr>
        <p:grpSpPr bwMode="auto">
          <a:xfrm>
            <a:off x="6032337" y="1415894"/>
            <a:ext cx="1080298" cy="458853"/>
            <a:chOff x="3769" y="1868"/>
            <a:chExt cx="1057" cy="490"/>
          </a:xfrm>
        </p:grpSpPr>
        <p:sp>
          <p:nvSpPr>
            <p:cNvPr id="84" name="Freeform 33">
              <a:extLst>
                <a:ext uri="{FF2B5EF4-FFF2-40B4-BE49-F238E27FC236}">
                  <a16:creationId xmlns:a16="http://schemas.microsoft.com/office/drawing/2014/main" id="{7644D11A-86A8-8307-F1B5-6B9FB2E132FA}"/>
                </a:ext>
              </a:extLst>
            </p:cNvPr>
            <p:cNvSpPr>
              <a:spLocks/>
            </p:cNvSpPr>
            <p:nvPr/>
          </p:nvSpPr>
          <p:spPr bwMode="auto">
            <a:xfrm>
              <a:off x="3769" y="1868"/>
              <a:ext cx="1057" cy="490"/>
            </a:xfrm>
            <a:custGeom>
              <a:avLst/>
              <a:gdLst>
                <a:gd name="T0" fmla="*/ 0 w 1033"/>
                <a:gd name="T1" fmla="*/ 0 h 457"/>
                <a:gd name="T2" fmla="*/ 1071 w 1033"/>
                <a:gd name="T3" fmla="*/ 152 h 457"/>
                <a:gd name="T4" fmla="*/ 1071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5" name="AutoShape 34">
              <a:extLst>
                <a:ext uri="{FF2B5EF4-FFF2-40B4-BE49-F238E27FC236}">
                  <a16:creationId xmlns:a16="http://schemas.microsoft.com/office/drawing/2014/main" id="{88BB2D32-31ED-5BC7-004A-C5AB9D28D79B}"/>
                </a:ext>
              </a:extLst>
            </p:cNvPr>
            <p:cNvSpPr>
              <a:spLocks noChangeArrowheads="1"/>
            </p:cNvSpPr>
            <p:nvPr/>
          </p:nvSpPr>
          <p:spPr bwMode="auto">
            <a:xfrm rot="480000">
              <a:off x="4477" y="2114"/>
              <a:ext cx="291" cy="100"/>
            </a:xfrm>
            <a:prstGeom prst="rightArrow">
              <a:avLst>
                <a:gd name="adj1" fmla="val 50000"/>
                <a:gd name="adj2" fmla="val 145513"/>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6" name="Rectangle 35">
              <a:extLst>
                <a:ext uri="{FF2B5EF4-FFF2-40B4-BE49-F238E27FC236}">
                  <a16:creationId xmlns:a16="http://schemas.microsoft.com/office/drawing/2014/main" id="{C36DC972-FB72-8565-72FB-9E8B047FE0EC}"/>
                </a:ext>
              </a:extLst>
            </p:cNvPr>
            <p:cNvSpPr>
              <a:spLocks noChangeArrowheads="1"/>
            </p:cNvSpPr>
            <p:nvPr/>
          </p:nvSpPr>
          <p:spPr bwMode="auto">
            <a:xfrm rot="540000">
              <a:off x="3940" y="1949"/>
              <a:ext cx="43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grpSp>
        <p:nvGrpSpPr>
          <p:cNvPr id="87" name="Group 36">
            <a:extLst>
              <a:ext uri="{FF2B5EF4-FFF2-40B4-BE49-F238E27FC236}">
                <a16:creationId xmlns:a16="http://schemas.microsoft.com/office/drawing/2014/main" id="{4C7B92A5-B9E3-A437-AFD1-7E4544109B10}"/>
              </a:ext>
            </a:extLst>
          </p:cNvPr>
          <p:cNvGrpSpPr>
            <a:grpSpLocks/>
          </p:cNvGrpSpPr>
          <p:nvPr/>
        </p:nvGrpSpPr>
        <p:grpSpPr bwMode="auto">
          <a:xfrm>
            <a:off x="6031400" y="2286778"/>
            <a:ext cx="1082519" cy="458853"/>
            <a:chOff x="3439" y="3564"/>
            <a:chExt cx="1156" cy="490"/>
          </a:xfrm>
        </p:grpSpPr>
        <p:sp>
          <p:nvSpPr>
            <p:cNvPr id="88" name="Freeform 37">
              <a:extLst>
                <a:ext uri="{FF2B5EF4-FFF2-40B4-BE49-F238E27FC236}">
                  <a16:creationId xmlns:a16="http://schemas.microsoft.com/office/drawing/2014/main" id="{4F8FB8EE-0DFF-8C2A-D475-57F14C583301}"/>
                </a:ext>
              </a:extLst>
            </p:cNvPr>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9" name="AutoShape 38">
              <a:extLst>
                <a:ext uri="{FF2B5EF4-FFF2-40B4-BE49-F238E27FC236}">
                  <a16:creationId xmlns:a16="http://schemas.microsoft.com/office/drawing/2014/main" id="{BF81CC17-58FA-C79C-C7F8-3FFC8CA9EC6E}"/>
                </a:ext>
              </a:extLst>
            </p:cNvPr>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90" name="Rectangle 39">
              <a:extLst>
                <a:ext uri="{FF2B5EF4-FFF2-40B4-BE49-F238E27FC236}">
                  <a16:creationId xmlns:a16="http://schemas.microsoft.com/office/drawing/2014/main" id="{37D59487-D8FA-AEAC-46EA-D4EEA1C154B9}"/>
                </a:ext>
              </a:extLst>
            </p:cNvPr>
            <p:cNvSpPr>
              <a:spLocks noChangeArrowheads="1"/>
            </p:cNvSpPr>
            <p:nvPr/>
          </p:nvSpPr>
          <p:spPr bwMode="auto">
            <a:xfrm rot="540000">
              <a:off x="3626" y="3647"/>
              <a:ext cx="47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sp>
        <p:nvSpPr>
          <p:cNvPr id="91" name="Text Box 40">
            <a:extLst>
              <a:ext uri="{FF2B5EF4-FFF2-40B4-BE49-F238E27FC236}">
                <a16:creationId xmlns:a16="http://schemas.microsoft.com/office/drawing/2014/main" id="{ACE9E32D-29CF-D7E5-79EB-1DAEA1C0F00E}"/>
              </a:ext>
            </a:extLst>
          </p:cNvPr>
          <p:cNvSpPr txBox="1">
            <a:spLocks noChangeArrowheads="1"/>
          </p:cNvSpPr>
          <p:nvPr/>
        </p:nvSpPr>
        <p:spPr bwMode="auto">
          <a:xfrm>
            <a:off x="6142429" y="397930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0000FF"/>
                </a:solidFill>
                <a:latin typeface="微软雅黑" pitchFamily="34" charset="-122"/>
                <a:ea typeface="微软雅黑" pitchFamily="34" charset="-122"/>
              </a:rPr>
              <a:t>确认迟到</a:t>
            </a:r>
          </a:p>
        </p:txBody>
      </p:sp>
      <p:grpSp>
        <p:nvGrpSpPr>
          <p:cNvPr id="92" name="Group 41">
            <a:extLst>
              <a:ext uri="{FF2B5EF4-FFF2-40B4-BE49-F238E27FC236}">
                <a16:creationId xmlns:a16="http://schemas.microsoft.com/office/drawing/2014/main" id="{01A80D2D-AD01-A13E-1A6F-21FF9B067048}"/>
              </a:ext>
            </a:extLst>
          </p:cNvPr>
          <p:cNvGrpSpPr>
            <a:grpSpLocks/>
          </p:cNvGrpSpPr>
          <p:nvPr/>
        </p:nvGrpSpPr>
        <p:grpSpPr bwMode="auto">
          <a:xfrm>
            <a:off x="6015481" y="2734396"/>
            <a:ext cx="1102183" cy="311833"/>
            <a:chOff x="2012" y="2283"/>
            <a:chExt cx="1177" cy="333"/>
          </a:xfrm>
        </p:grpSpPr>
        <p:sp>
          <p:nvSpPr>
            <p:cNvPr id="93" name="Line 42">
              <a:extLst>
                <a:ext uri="{FF2B5EF4-FFF2-40B4-BE49-F238E27FC236}">
                  <a16:creationId xmlns:a16="http://schemas.microsoft.com/office/drawing/2014/main" id="{2355643B-DC62-F28F-8651-30D7586B6E10}"/>
                </a:ext>
              </a:extLst>
            </p:cNvPr>
            <p:cNvSpPr>
              <a:spLocks noChangeShapeType="1"/>
            </p:cNvSpPr>
            <p:nvPr/>
          </p:nvSpPr>
          <p:spPr bwMode="auto">
            <a:xfrm flipH="1">
              <a:off x="2012" y="2415"/>
              <a:ext cx="1177"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94" name="Text Box 43">
              <a:extLst>
                <a:ext uri="{FF2B5EF4-FFF2-40B4-BE49-F238E27FC236}">
                  <a16:creationId xmlns:a16="http://schemas.microsoft.com/office/drawing/2014/main" id="{6B5D39C5-A6CB-7B7D-DF46-E41554E6F6C3}"/>
                </a:ext>
              </a:extLst>
            </p:cNvPr>
            <p:cNvSpPr txBox="1">
              <a:spLocks noChangeArrowheads="1"/>
            </p:cNvSpPr>
            <p:nvPr/>
          </p:nvSpPr>
          <p:spPr bwMode="auto">
            <a:xfrm rot="21169770">
              <a:off x="2151" y="2283"/>
              <a:ext cx="660"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200" b="1" dirty="0">
                  <a:latin typeface="微软雅黑" pitchFamily="34" charset="-122"/>
                  <a:ea typeface="微软雅黑" pitchFamily="34" charset="-122"/>
                </a:rPr>
                <a:t>ACK </a:t>
              </a:r>
              <a:r>
                <a:rPr kumimoji="0" lang="en-US" altLang="zh-CN" sz="1200" b="1" baseline="-25000" dirty="0">
                  <a:latin typeface="微软雅黑" pitchFamily="34" charset="-122"/>
                  <a:ea typeface="微软雅黑" pitchFamily="34" charset="-122"/>
                </a:rPr>
                <a:t>1</a:t>
              </a:r>
            </a:p>
          </p:txBody>
        </p:sp>
      </p:grpSp>
      <p:sp>
        <p:nvSpPr>
          <p:cNvPr id="95" name="Text Box 47">
            <a:extLst>
              <a:ext uri="{FF2B5EF4-FFF2-40B4-BE49-F238E27FC236}">
                <a16:creationId xmlns:a16="http://schemas.microsoft.com/office/drawing/2014/main" id="{9B65B452-237F-B3F4-ABB8-102DD900FB70}"/>
              </a:ext>
            </a:extLst>
          </p:cNvPr>
          <p:cNvSpPr txBox="1">
            <a:spLocks noChangeArrowheads="1"/>
          </p:cNvSpPr>
          <p:nvPr/>
        </p:nvSpPr>
        <p:spPr bwMode="auto">
          <a:xfrm>
            <a:off x="5130084" y="2306444"/>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algn="r"/>
            <a:r>
              <a:rPr kumimoji="0" lang="zh-CN" altLang="en-US" sz="1400" b="1" dirty="0">
                <a:solidFill>
                  <a:srgbClr val="CC00CC"/>
                </a:solidFill>
                <a:latin typeface="微软雅黑" pitchFamily="34" charset="-122"/>
                <a:ea typeface="微软雅黑" pitchFamily="34" charset="-122"/>
              </a:rPr>
              <a:t>超时重传</a:t>
            </a:r>
          </a:p>
        </p:txBody>
      </p:sp>
      <p:grpSp>
        <p:nvGrpSpPr>
          <p:cNvPr id="96" name="Group 48">
            <a:extLst>
              <a:ext uri="{FF2B5EF4-FFF2-40B4-BE49-F238E27FC236}">
                <a16:creationId xmlns:a16="http://schemas.microsoft.com/office/drawing/2014/main" id="{CCEB681B-803F-2D47-2F4A-2B31D8CB111A}"/>
              </a:ext>
            </a:extLst>
          </p:cNvPr>
          <p:cNvGrpSpPr>
            <a:grpSpLocks/>
          </p:cNvGrpSpPr>
          <p:nvPr/>
        </p:nvGrpSpPr>
        <p:grpSpPr bwMode="auto">
          <a:xfrm>
            <a:off x="5455492" y="1738027"/>
            <a:ext cx="499119" cy="546878"/>
            <a:chOff x="3153" y="2204"/>
            <a:chExt cx="533" cy="584"/>
          </a:xfrm>
        </p:grpSpPr>
        <p:sp>
          <p:nvSpPr>
            <p:cNvPr id="97" name="AutoShape 49">
              <a:extLst>
                <a:ext uri="{FF2B5EF4-FFF2-40B4-BE49-F238E27FC236}">
                  <a16:creationId xmlns:a16="http://schemas.microsoft.com/office/drawing/2014/main" id="{7F6BA216-D77F-FA25-1379-906F7A52030A}"/>
                </a:ext>
              </a:extLst>
            </p:cNvPr>
            <p:cNvSpPr>
              <a:spLocks/>
            </p:cNvSpPr>
            <p:nvPr/>
          </p:nvSpPr>
          <p:spPr bwMode="auto">
            <a:xfrm>
              <a:off x="3600" y="2204"/>
              <a:ext cx="56" cy="584"/>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98" name="Text Box 50">
              <a:extLst>
                <a:ext uri="{FF2B5EF4-FFF2-40B4-BE49-F238E27FC236}">
                  <a16:creationId xmlns:a16="http://schemas.microsoft.com/office/drawing/2014/main" id="{A07D4943-4541-5E3F-A787-27E36D4ADFED}"/>
                </a:ext>
              </a:extLst>
            </p:cNvPr>
            <p:cNvSpPr txBox="1">
              <a:spLocks noChangeArrowheads="1"/>
            </p:cNvSpPr>
            <p:nvPr/>
          </p:nvSpPr>
          <p:spPr bwMode="auto">
            <a:xfrm>
              <a:off x="3153" y="2311"/>
              <a:ext cx="533"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latin typeface="微软雅黑" pitchFamily="34" charset="-122"/>
                  <a:ea typeface="微软雅黑" pitchFamily="34" charset="-122"/>
                </a:rPr>
                <a:t>t</a:t>
              </a:r>
              <a:r>
                <a:rPr kumimoji="0" lang="en-US" altLang="zh-CN" sz="1400" b="1" baseline="-25000" dirty="0">
                  <a:latin typeface="微软雅黑" pitchFamily="34" charset="-122"/>
                  <a:ea typeface="微软雅黑" pitchFamily="34" charset="-122"/>
                </a:rPr>
                <a:t>out</a:t>
              </a:r>
            </a:p>
          </p:txBody>
        </p:sp>
      </p:grpSp>
      <p:grpSp>
        <p:nvGrpSpPr>
          <p:cNvPr id="99" name="Group 36">
            <a:extLst>
              <a:ext uri="{FF2B5EF4-FFF2-40B4-BE49-F238E27FC236}">
                <a16:creationId xmlns:a16="http://schemas.microsoft.com/office/drawing/2014/main" id="{4CF620AD-7E13-10BB-991C-93612E96C415}"/>
              </a:ext>
            </a:extLst>
          </p:cNvPr>
          <p:cNvGrpSpPr>
            <a:grpSpLocks/>
          </p:cNvGrpSpPr>
          <p:nvPr/>
        </p:nvGrpSpPr>
        <p:grpSpPr bwMode="auto">
          <a:xfrm>
            <a:off x="6031400" y="3100539"/>
            <a:ext cx="1082519" cy="458853"/>
            <a:chOff x="3439" y="3564"/>
            <a:chExt cx="1156" cy="490"/>
          </a:xfrm>
        </p:grpSpPr>
        <p:sp>
          <p:nvSpPr>
            <p:cNvPr id="100" name="Freeform 37">
              <a:extLst>
                <a:ext uri="{FF2B5EF4-FFF2-40B4-BE49-F238E27FC236}">
                  <a16:creationId xmlns:a16="http://schemas.microsoft.com/office/drawing/2014/main" id="{01433731-30F6-104D-7FDD-D133D2B91475}"/>
                </a:ext>
              </a:extLst>
            </p:cNvPr>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01" name="AutoShape 38">
              <a:extLst>
                <a:ext uri="{FF2B5EF4-FFF2-40B4-BE49-F238E27FC236}">
                  <a16:creationId xmlns:a16="http://schemas.microsoft.com/office/drawing/2014/main" id="{AFC67C3A-5978-BAAB-5446-9C0101B95900}"/>
                </a:ext>
              </a:extLst>
            </p:cNvPr>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02" name="Rectangle 39">
              <a:extLst>
                <a:ext uri="{FF2B5EF4-FFF2-40B4-BE49-F238E27FC236}">
                  <a16:creationId xmlns:a16="http://schemas.microsoft.com/office/drawing/2014/main" id="{DF6304A9-6FA2-ADF6-1BBF-D21CCC8AB995}"/>
                </a:ext>
              </a:extLst>
            </p:cNvPr>
            <p:cNvSpPr>
              <a:spLocks noChangeArrowheads="1"/>
            </p:cNvSpPr>
            <p:nvPr/>
          </p:nvSpPr>
          <p:spPr bwMode="auto">
            <a:xfrm rot="540000">
              <a:off x="3555" y="3623"/>
              <a:ext cx="47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2</a:t>
              </a:r>
            </a:p>
          </p:txBody>
        </p:sp>
      </p:grpSp>
      <p:sp>
        <p:nvSpPr>
          <p:cNvPr id="103" name="矩形 102">
            <a:extLst>
              <a:ext uri="{FF2B5EF4-FFF2-40B4-BE49-F238E27FC236}">
                <a16:creationId xmlns:a16="http://schemas.microsoft.com/office/drawing/2014/main" id="{8FBA29C9-140C-B9C1-8669-F93239E0DE6C}"/>
              </a:ext>
            </a:extLst>
          </p:cNvPr>
          <p:cNvSpPr/>
          <p:nvPr/>
        </p:nvSpPr>
        <p:spPr>
          <a:xfrm>
            <a:off x="4411990" y="3379484"/>
            <a:ext cx="1620906" cy="523220"/>
          </a:xfrm>
          <a:prstGeom prst="rect">
            <a:avLst/>
          </a:prstGeom>
        </p:spPr>
        <p:txBody>
          <a:bodyPr wrap="square">
            <a:spAutoFit/>
          </a:bodyPr>
          <a:lstStyle/>
          <a:p>
            <a:pPr algn="r"/>
            <a:r>
              <a:rPr lang="zh-CN" altLang="en-US" sz="1400" b="1" dirty="0">
                <a:solidFill>
                  <a:srgbClr val="C00000"/>
                </a:solidFill>
                <a:latin typeface="微软雅黑" pitchFamily="34" charset="-122"/>
                <a:ea typeface="微软雅黑" pitchFamily="34" charset="-122"/>
              </a:rPr>
              <a:t>重复 </a:t>
            </a:r>
            <a:r>
              <a:rPr lang="en-US" altLang="zh-CN" sz="1400" b="1" dirty="0">
                <a:solidFill>
                  <a:srgbClr val="C00000"/>
                </a:solidFill>
                <a:latin typeface="微软雅黑" pitchFamily="34" charset="-122"/>
                <a:ea typeface="微软雅黑" pitchFamily="34" charset="-122"/>
              </a:rPr>
              <a:t>ACK</a:t>
            </a:r>
            <a:r>
              <a:rPr lang="en-US" altLang="zh-CN" sz="1400" b="1" baseline="-25000" dirty="0">
                <a:solidFill>
                  <a:srgbClr val="C00000"/>
                </a:solidFill>
                <a:latin typeface="微软雅黑" pitchFamily="34" charset="-122"/>
                <a:ea typeface="微软雅黑" pitchFamily="34" charset="-122"/>
              </a:rPr>
              <a:t>1</a:t>
            </a:r>
            <a:r>
              <a:rPr lang="zh-CN" altLang="en-US" sz="1400" b="1" dirty="0">
                <a:solidFill>
                  <a:srgbClr val="C00000"/>
                </a:solidFill>
                <a:latin typeface="微软雅黑" pitchFamily="34" charset="-122"/>
                <a:ea typeface="微软雅黑" pitchFamily="34" charset="-122"/>
              </a:rPr>
              <a:t>，丢弃</a:t>
            </a:r>
            <a:endParaRPr lang="en-US" altLang="zh-CN" sz="1400" dirty="0">
              <a:solidFill>
                <a:srgbClr val="C00000"/>
              </a:solidFill>
              <a:latin typeface="微软雅黑" pitchFamily="34" charset="-122"/>
              <a:ea typeface="微软雅黑" pitchFamily="34" charset="-122"/>
            </a:endParaRPr>
          </a:p>
          <a:p>
            <a:pPr algn="r"/>
            <a:r>
              <a:rPr lang="zh-CN" altLang="en-US" sz="1400" b="1" dirty="0">
                <a:solidFill>
                  <a:srgbClr val="C00000"/>
                </a:solidFill>
                <a:latin typeface="微软雅黑" pitchFamily="34" charset="-122"/>
                <a:ea typeface="微软雅黑" pitchFamily="34" charset="-122"/>
              </a:rPr>
              <a:t>等待 </a:t>
            </a:r>
            <a:r>
              <a:rPr lang="en-US" altLang="zh-CN" sz="1400" b="1" dirty="0">
                <a:solidFill>
                  <a:srgbClr val="C00000"/>
                </a:solidFill>
                <a:latin typeface="微软雅黑" pitchFamily="34" charset="-122"/>
                <a:ea typeface="微软雅黑" pitchFamily="34" charset="-122"/>
              </a:rPr>
              <a:t>ACK</a:t>
            </a:r>
            <a:r>
              <a:rPr lang="en-US" altLang="zh-CN" sz="1400" b="1" baseline="-25000" dirty="0">
                <a:solidFill>
                  <a:srgbClr val="C00000"/>
                </a:solidFill>
                <a:latin typeface="微软雅黑" pitchFamily="34" charset="-122"/>
                <a:ea typeface="微软雅黑" pitchFamily="34" charset="-122"/>
              </a:rPr>
              <a:t>2</a:t>
            </a:r>
            <a:r>
              <a:rPr lang="en-US" altLang="zh-CN" sz="1400" b="1" dirty="0">
                <a:solidFill>
                  <a:srgbClr val="C00000"/>
                </a:solidFill>
                <a:latin typeface="微软雅黑" pitchFamily="34" charset="-122"/>
                <a:ea typeface="微软雅黑" pitchFamily="34" charset="-122"/>
              </a:rPr>
              <a:t> </a:t>
            </a:r>
          </a:p>
        </p:txBody>
      </p:sp>
      <p:grpSp>
        <p:nvGrpSpPr>
          <p:cNvPr id="104" name="组合 103">
            <a:extLst>
              <a:ext uri="{FF2B5EF4-FFF2-40B4-BE49-F238E27FC236}">
                <a16:creationId xmlns:a16="http://schemas.microsoft.com/office/drawing/2014/main" id="{1C865861-2E97-D1C9-0C26-F830EE39CB2D}"/>
              </a:ext>
            </a:extLst>
          </p:cNvPr>
          <p:cNvGrpSpPr/>
          <p:nvPr/>
        </p:nvGrpSpPr>
        <p:grpSpPr>
          <a:xfrm>
            <a:off x="6035835" y="1900192"/>
            <a:ext cx="1078084" cy="1699467"/>
            <a:chOff x="6900509" y="2601963"/>
            <a:chExt cx="1827632" cy="2881039"/>
          </a:xfrm>
        </p:grpSpPr>
        <p:sp>
          <p:nvSpPr>
            <p:cNvPr id="105" name="Freeform 48">
              <a:extLst>
                <a:ext uri="{FF2B5EF4-FFF2-40B4-BE49-F238E27FC236}">
                  <a16:creationId xmlns:a16="http://schemas.microsoft.com/office/drawing/2014/main" id="{3DBDF347-7F0D-D173-14B8-850111F45422}"/>
                </a:ext>
              </a:extLst>
            </p:cNvPr>
            <p:cNvSpPr>
              <a:spLocks/>
            </p:cNvSpPr>
            <p:nvPr/>
          </p:nvSpPr>
          <p:spPr bwMode="auto">
            <a:xfrm>
              <a:off x="6900509" y="2726308"/>
              <a:ext cx="1827632" cy="2756694"/>
            </a:xfrm>
            <a:custGeom>
              <a:avLst/>
              <a:gdLst>
                <a:gd name="T0" fmla="*/ 798 w 798"/>
                <a:gd name="T1" fmla="*/ 0 h 1134"/>
                <a:gd name="T2" fmla="*/ 589 w 798"/>
                <a:gd name="T3" fmla="*/ 70 h 1134"/>
                <a:gd name="T4" fmla="*/ 466 w 798"/>
                <a:gd name="T5" fmla="*/ 217 h 1134"/>
                <a:gd name="T6" fmla="*/ 418 w 798"/>
                <a:gd name="T7" fmla="*/ 376 h 1134"/>
                <a:gd name="T8" fmla="*/ 385 w 798"/>
                <a:gd name="T9" fmla="*/ 661 h 1134"/>
                <a:gd name="T10" fmla="*/ 310 w 798"/>
                <a:gd name="T11" fmla="*/ 1018 h 1134"/>
                <a:gd name="T12" fmla="*/ 0 w 798"/>
                <a:gd name="T13" fmla="*/ 1134 h 1134"/>
              </a:gdLst>
              <a:ahLst/>
              <a:cxnLst>
                <a:cxn ang="0">
                  <a:pos x="T0" y="T1"/>
                </a:cxn>
                <a:cxn ang="0">
                  <a:pos x="T2" y="T3"/>
                </a:cxn>
                <a:cxn ang="0">
                  <a:pos x="T4" y="T5"/>
                </a:cxn>
                <a:cxn ang="0">
                  <a:pos x="T6" y="T7"/>
                </a:cxn>
                <a:cxn ang="0">
                  <a:pos x="T8" y="T9"/>
                </a:cxn>
                <a:cxn ang="0">
                  <a:pos x="T10" y="T11"/>
                </a:cxn>
                <a:cxn ang="0">
                  <a:pos x="T12" y="T13"/>
                </a:cxn>
              </a:cxnLst>
              <a:rect l="0" t="0" r="r" b="b"/>
              <a:pathLst>
                <a:path w="798" h="1134">
                  <a:moveTo>
                    <a:pt x="798" y="0"/>
                  </a:moveTo>
                  <a:cubicBezTo>
                    <a:pt x="763" y="12"/>
                    <a:pt x="644" y="34"/>
                    <a:pt x="589" y="70"/>
                  </a:cubicBezTo>
                  <a:cubicBezTo>
                    <a:pt x="534" y="106"/>
                    <a:pt x="494" y="166"/>
                    <a:pt x="466" y="217"/>
                  </a:cubicBezTo>
                  <a:cubicBezTo>
                    <a:pt x="438" y="268"/>
                    <a:pt x="431" y="302"/>
                    <a:pt x="418" y="376"/>
                  </a:cubicBezTo>
                  <a:cubicBezTo>
                    <a:pt x="405" y="450"/>
                    <a:pt x="403" y="554"/>
                    <a:pt x="385" y="661"/>
                  </a:cubicBezTo>
                  <a:cubicBezTo>
                    <a:pt x="367" y="768"/>
                    <a:pt x="374" y="939"/>
                    <a:pt x="310" y="1018"/>
                  </a:cubicBezTo>
                  <a:cubicBezTo>
                    <a:pt x="246" y="1097"/>
                    <a:pt x="65" y="1110"/>
                    <a:pt x="0" y="1134"/>
                  </a:cubicBezTo>
                </a:path>
              </a:pathLst>
            </a:custGeom>
            <a:noFill/>
            <a:ln w="38100" cap="flat" cmpd="sng">
              <a:solidFill>
                <a:srgbClr val="CC00CC"/>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06" name="矩形 105">
              <a:extLst>
                <a:ext uri="{FF2B5EF4-FFF2-40B4-BE49-F238E27FC236}">
                  <a16:creationId xmlns:a16="http://schemas.microsoft.com/office/drawing/2014/main" id="{CABF761B-DC43-0551-6CB3-EEC85A4AB6EC}"/>
                </a:ext>
              </a:extLst>
            </p:cNvPr>
            <p:cNvSpPr/>
            <p:nvPr/>
          </p:nvSpPr>
          <p:spPr>
            <a:xfrm rot="20115699">
              <a:off x="7511689" y="2601963"/>
              <a:ext cx="1047981" cy="469585"/>
            </a:xfrm>
            <a:prstGeom prst="rect">
              <a:avLst/>
            </a:prstGeom>
          </p:spPr>
          <p:txBody>
            <a:bodyPr wrap="none">
              <a:spAutoFit/>
            </a:bodyPr>
            <a:lstStyle/>
            <a:p>
              <a:r>
                <a:rPr lang="en-US" altLang="zh-CN" sz="1200" b="1" dirty="0">
                  <a:latin typeface="微软雅黑" pitchFamily="34" charset="-122"/>
                  <a:ea typeface="微软雅黑" pitchFamily="34" charset="-122"/>
                </a:rPr>
                <a:t>ACK </a:t>
              </a:r>
              <a:r>
                <a:rPr lang="en-US" altLang="zh-CN" sz="1200" b="1" baseline="-25000" dirty="0">
                  <a:latin typeface="微软雅黑" pitchFamily="34" charset="-122"/>
                  <a:ea typeface="微软雅黑" pitchFamily="34" charset="-122"/>
                </a:rPr>
                <a:t>1</a:t>
              </a:r>
            </a:p>
          </p:txBody>
        </p:sp>
      </p:grpSp>
      <p:sp>
        <p:nvSpPr>
          <p:cNvPr id="108" name="矩形 107">
            <a:extLst>
              <a:ext uri="{FF2B5EF4-FFF2-40B4-BE49-F238E27FC236}">
                <a16:creationId xmlns:a16="http://schemas.microsoft.com/office/drawing/2014/main" id="{CAB302DD-A5DE-593A-73DE-25C683A109D6}"/>
              </a:ext>
            </a:extLst>
          </p:cNvPr>
          <p:cNvSpPr/>
          <p:nvPr/>
        </p:nvSpPr>
        <p:spPr>
          <a:xfrm>
            <a:off x="7105160" y="2557540"/>
            <a:ext cx="1300919" cy="523220"/>
          </a:xfrm>
          <a:prstGeom prst="rect">
            <a:avLst/>
          </a:prstGeom>
        </p:spPr>
        <p:txBody>
          <a:bodyPr wrap="square">
            <a:spAutoFit/>
          </a:bodyPr>
          <a:lstStyle/>
          <a:p>
            <a:r>
              <a:rPr lang="zh-CN" altLang="en-US" sz="1400" b="1" dirty="0">
                <a:solidFill>
                  <a:srgbClr val="CC00CC"/>
                </a:solidFill>
                <a:latin typeface="微软雅黑" pitchFamily="34" charset="-122"/>
                <a:ea typeface="微软雅黑" pitchFamily="34" charset="-122"/>
              </a:rPr>
              <a:t>重复，丢弃</a:t>
            </a:r>
            <a:endParaRPr lang="en-US" altLang="zh-CN" sz="1400" b="1" dirty="0">
              <a:solidFill>
                <a:srgbClr val="CC00CC"/>
              </a:solidFill>
              <a:latin typeface="微软雅黑" pitchFamily="34" charset="-122"/>
              <a:ea typeface="微软雅黑" pitchFamily="34" charset="-122"/>
            </a:endParaRPr>
          </a:p>
          <a:p>
            <a:r>
              <a:rPr lang="zh-CN" altLang="en-US" sz="1400" b="1" dirty="0">
                <a:solidFill>
                  <a:srgbClr val="CC00CC"/>
                </a:solidFill>
                <a:latin typeface="微软雅黑" pitchFamily="34" charset="-122"/>
                <a:ea typeface="微软雅黑" pitchFamily="34" charset="-122"/>
              </a:rPr>
              <a:t>确认 </a:t>
            </a:r>
            <a:r>
              <a:rPr lang="en-US" altLang="zh-CN" sz="1400" b="1" dirty="0">
                <a:solidFill>
                  <a:srgbClr val="CC00CC"/>
                </a:solidFill>
                <a:latin typeface="微软雅黑" pitchFamily="34" charset="-122"/>
                <a:ea typeface="微软雅黑" pitchFamily="34" charset="-122"/>
              </a:rPr>
              <a:t>M</a:t>
            </a:r>
            <a:r>
              <a:rPr lang="en-US" altLang="zh-CN" sz="1400" b="1" baseline="-25000" dirty="0">
                <a:solidFill>
                  <a:srgbClr val="CC00CC"/>
                </a:solidFill>
                <a:latin typeface="微软雅黑" pitchFamily="34" charset="-122"/>
                <a:ea typeface="微软雅黑" pitchFamily="34" charset="-122"/>
              </a:rPr>
              <a:t>1</a:t>
            </a:r>
            <a:r>
              <a:rPr lang="en-US" altLang="zh-CN" sz="1400" b="1" dirty="0">
                <a:solidFill>
                  <a:srgbClr val="CC00CC"/>
                </a:solidFill>
                <a:latin typeface="微软雅黑" pitchFamily="34" charset="-122"/>
                <a:ea typeface="微软雅黑" pitchFamily="34" charset="-122"/>
              </a:rPr>
              <a:t> </a:t>
            </a:r>
            <a:endParaRPr lang="zh-CN" altLang="en-US" sz="1400" b="1" dirty="0">
              <a:solidFill>
                <a:srgbClr val="CC00CC"/>
              </a:solidFill>
              <a:latin typeface="微软雅黑" pitchFamily="34" charset="-122"/>
              <a:ea typeface="微软雅黑" pitchFamily="34" charset="-122"/>
            </a:endParaRPr>
          </a:p>
        </p:txBody>
      </p:sp>
      <p:sp>
        <p:nvSpPr>
          <p:cNvPr id="107" name="AutoShape 5">
            <a:extLst>
              <a:ext uri="{FF2B5EF4-FFF2-40B4-BE49-F238E27FC236}">
                <a16:creationId xmlns:a16="http://schemas.microsoft.com/office/drawing/2014/main" id="{DE5EDAB3-114E-ED0D-EA05-3ED5EDC3C2CD}"/>
              </a:ext>
            </a:extLst>
          </p:cNvPr>
          <p:cNvSpPr>
            <a:spLocks noChangeArrowheads="1"/>
          </p:cNvSpPr>
          <p:nvPr/>
        </p:nvSpPr>
        <p:spPr bwMode="auto">
          <a:xfrm>
            <a:off x="556963" y="62124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09" name="Rectangle 6">
            <a:extLst>
              <a:ext uri="{FF2B5EF4-FFF2-40B4-BE49-F238E27FC236}">
                <a16:creationId xmlns:a16="http://schemas.microsoft.com/office/drawing/2014/main" id="{46880D45-ACE4-CC27-3E9D-DC7E8457F5B5}"/>
              </a:ext>
            </a:extLst>
          </p:cNvPr>
          <p:cNvSpPr>
            <a:spLocks noChangeArrowheads="1"/>
          </p:cNvSpPr>
          <p:nvPr/>
        </p:nvSpPr>
        <p:spPr bwMode="auto">
          <a:xfrm>
            <a:off x="3180166" y="588036"/>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确认丢失和确认迟到</a:t>
            </a:r>
          </a:p>
        </p:txBody>
      </p:sp>
      <p:sp>
        <p:nvSpPr>
          <p:cNvPr id="110" name="矩形 109">
            <a:extLst>
              <a:ext uri="{FF2B5EF4-FFF2-40B4-BE49-F238E27FC236}">
                <a16:creationId xmlns:a16="http://schemas.microsoft.com/office/drawing/2014/main" id="{51608E70-75A9-6114-1E76-5A9799354634}"/>
              </a:ext>
            </a:extLst>
          </p:cNvPr>
          <p:cNvSpPr/>
          <p:nvPr/>
        </p:nvSpPr>
        <p:spPr>
          <a:xfrm>
            <a:off x="3224851" y="2537641"/>
            <a:ext cx="1306549" cy="523220"/>
          </a:xfrm>
          <a:prstGeom prst="rect">
            <a:avLst/>
          </a:prstGeom>
        </p:spPr>
        <p:txBody>
          <a:bodyPr wrap="square">
            <a:spAutoFit/>
          </a:bodyPr>
          <a:lstStyle/>
          <a:p>
            <a:r>
              <a:rPr lang="zh-CN" altLang="en-US" sz="1400" b="1" dirty="0">
                <a:solidFill>
                  <a:srgbClr val="CC00CC"/>
                </a:solidFill>
                <a:latin typeface="微软雅黑" pitchFamily="34" charset="-122"/>
                <a:ea typeface="微软雅黑" pitchFamily="34" charset="-122"/>
              </a:rPr>
              <a:t>重复，丢弃</a:t>
            </a:r>
            <a:endParaRPr lang="en-US" altLang="zh-CN" sz="1400" b="1" dirty="0">
              <a:solidFill>
                <a:srgbClr val="CC00CC"/>
              </a:solidFill>
              <a:latin typeface="微软雅黑" pitchFamily="34" charset="-122"/>
              <a:ea typeface="微软雅黑" pitchFamily="34" charset="-122"/>
            </a:endParaRPr>
          </a:p>
          <a:p>
            <a:r>
              <a:rPr lang="zh-CN" altLang="en-US" sz="1400" b="1" dirty="0">
                <a:solidFill>
                  <a:srgbClr val="CC00CC"/>
                </a:solidFill>
                <a:latin typeface="微软雅黑" pitchFamily="34" charset="-122"/>
                <a:ea typeface="微软雅黑" pitchFamily="34" charset="-122"/>
              </a:rPr>
              <a:t>确认 </a:t>
            </a:r>
            <a:r>
              <a:rPr lang="en-US" altLang="zh-CN" sz="1400" b="1" dirty="0">
                <a:solidFill>
                  <a:srgbClr val="CC00CC"/>
                </a:solidFill>
                <a:latin typeface="微软雅黑" pitchFamily="34" charset="-122"/>
                <a:ea typeface="微软雅黑" pitchFamily="34" charset="-122"/>
              </a:rPr>
              <a:t>M</a:t>
            </a:r>
            <a:r>
              <a:rPr lang="en-US" altLang="zh-CN" sz="1400" b="1" baseline="-25000" dirty="0">
                <a:solidFill>
                  <a:srgbClr val="CC00CC"/>
                </a:solidFill>
                <a:latin typeface="微软雅黑" pitchFamily="34" charset="-122"/>
                <a:ea typeface="微软雅黑" pitchFamily="34" charset="-122"/>
              </a:rPr>
              <a:t>1</a:t>
            </a:r>
            <a:r>
              <a:rPr lang="en-US" altLang="zh-CN" sz="1400" b="1" dirty="0">
                <a:solidFill>
                  <a:srgbClr val="CC00CC"/>
                </a:solidFill>
                <a:latin typeface="微软雅黑" pitchFamily="34" charset="-122"/>
                <a:ea typeface="微软雅黑" pitchFamily="34" charset="-122"/>
              </a:rPr>
              <a:t> </a:t>
            </a:r>
            <a:endParaRPr lang="zh-CN" altLang="en-US" sz="1400" b="1" dirty="0">
              <a:solidFill>
                <a:srgbClr val="CC00CC"/>
              </a:solidFill>
              <a:latin typeface="微软雅黑" pitchFamily="34" charset="-122"/>
              <a:ea typeface="微软雅黑" pitchFamily="34" charset="-122"/>
            </a:endParaRPr>
          </a:p>
        </p:txBody>
      </p:sp>
      <p:sp>
        <p:nvSpPr>
          <p:cNvPr id="111" name="TextBox 86">
            <a:extLst>
              <a:ext uri="{FF2B5EF4-FFF2-40B4-BE49-F238E27FC236}">
                <a16:creationId xmlns:a16="http://schemas.microsoft.com/office/drawing/2014/main" id="{7FB2898E-343B-E64B-B079-C9CC41218799}"/>
              </a:ext>
            </a:extLst>
          </p:cNvPr>
          <p:cNvSpPr txBox="1"/>
          <p:nvPr/>
        </p:nvSpPr>
        <p:spPr>
          <a:xfrm>
            <a:off x="3224250" y="1798868"/>
            <a:ext cx="854721" cy="307777"/>
          </a:xfrm>
          <a:prstGeom prst="rect">
            <a:avLst/>
          </a:prstGeom>
          <a:noFill/>
        </p:spPr>
        <p:txBody>
          <a:bodyPr wrap="none" rtlCol="0">
            <a:spAutoFit/>
          </a:bodyPr>
          <a:lstStyle/>
          <a:p>
            <a:pPr defTabSz="762000" eaLnBrk="0" hangingPunct="0"/>
            <a:r>
              <a:rPr lang="zh-CN" altLang="en-US" sz="1400" b="1" dirty="0">
                <a:solidFill>
                  <a:srgbClr val="0000FF"/>
                </a:solidFill>
                <a:latin typeface="微软雅黑" pitchFamily="34" charset="-122"/>
                <a:ea typeface="微软雅黑" pitchFamily="34" charset="-122"/>
              </a:rPr>
              <a:t>确认 </a:t>
            </a:r>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sp>
        <p:nvSpPr>
          <p:cNvPr id="112" name="TextBox 86">
            <a:extLst>
              <a:ext uri="{FF2B5EF4-FFF2-40B4-BE49-F238E27FC236}">
                <a16:creationId xmlns:a16="http://schemas.microsoft.com/office/drawing/2014/main" id="{22DBE313-68EC-D451-ED45-F5B1DCA726A6}"/>
              </a:ext>
            </a:extLst>
          </p:cNvPr>
          <p:cNvSpPr txBox="1"/>
          <p:nvPr/>
        </p:nvSpPr>
        <p:spPr>
          <a:xfrm>
            <a:off x="7107679" y="1769991"/>
            <a:ext cx="854721" cy="307777"/>
          </a:xfrm>
          <a:prstGeom prst="rect">
            <a:avLst/>
          </a:prstGeom>
          <a:noFill/>
        </p:spPr>
        <p:txBody>
          <a:bodyPr wrap="none" rtlCol="0">
            <a:spAutoFit/>
          </a:bodyPr>
          <a:lstStyle/>
          <a:p>
            <a:pPr defTabSz="762000" eaLnBrk="0" hangingPunct="0"/>
            <a:r>
              <a:rPr lang="zh-CN" altLang="en-US" sz="1400" b="1" dirty="0">
                <a:solidFill>
                  <a:srgbClr val="0000FF"/>
                </a:solidFill>
                <a:latin typeface="微软雅黑" pitchFamily="34" charset="-122"/>
                <a:ea typeface="微软雅黑" pitchFamily="34" charset="-122"/>
              </a:rPr>
              <a:t>确认 </a:t>
            </a:r>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sp>
        <p:nvSpPr>
          <p:cNvPr id="113" name="矩形 112">
            <a:extLst>
              <a:ext uri="{FF2B5EF4-FFF2-40B4-BE49-F238E27FC236}">
                <a16:creationId xmlns:a16="http://schemas.microsoft.com/office/drawing/2014/main" id="{7406C1D8-8553-C014-3C06-0BFD25910034}"/>
              </a:ext>
            </a:extLst>
          </p:cNvPr>
          <p:cNvSpPr/>
          <p:nvPr/>
        </p:nvSpPr>
        <p:spPr>
          <a:xfrm>
            <a:off x="4907674" y="3054072"/>
            <a:ext cx="1125221" cy="307777"/>
          </a:xfrm>
          <a:prstGeom prst="rect">
            <a:avLst/>
          </a:prstGeom>
        </p:spPr>
        <p:txBody>
          <a:bodyPr wrap="square">
            <a:spAutoFit/>
          </a:bodyPr>
          <a:lstStyle/>
          <a:p>
            <a:pPr algn="r"/>
            <a:r>
              <a:rPr lang="zh-CN" altLang="en-US" sz="1400" b="1" dirty="0">
                <a:solidFill>
                  <a:srgbClr val="CC00CC"/>
                </a:solidFill>
                <a:latin typeface="微软雅黑" pitchFamily="34" charset="-122"/>
                <a:ea typeface="微软雅黑" pitchFamily="34" charset="-122"/>
              </a:rPr>
              <a:t>发送下一个</a:t>
            </a:r>
            <a:endParaRPr lang="zh-CN" altLang="en-US" sz="1400" dirty="0">
              <a:solidFill>
                <a:srgbClr val="CC00CC"/>
              </a:solidFill>
              <a:latin typeface="微软雅黑" pitchFamily="34" charset="-122"/>
              <a:ea typeface="微软雅黑" pitchFamily="34" charset="-122"/>
            </a:endParaRPr>
          </a:p>
        </p:txBody>
      </p:sp>
    </p:spTree>
    <p:extLst>
      <p:ext uri="{BB962C8B-B14F-4D97-AF65-F5344CB8AC3E}">
        <p14:creationId xmlns:p14="http://schemas.microsoft.com/office/powerpoint/2010/main" val="1069516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104"/>
                                        </p:tgtEl>
                                        <p:attrNameLst>
                                          <p:attrName>style.visibility</p:attrName>
                                        </p:attrNameLst>
                                      </p:cBhvr>
                                      <p:tavLst>
                                        <p:tav tm="0">
                                          <p:val>
                                            <p:strVal val="hidden"/>
                                          </p:val>
                                        </p:tav>
                                        <p:tav tm="50000">
                                          <p:val>
                                            <p:strVal val="visible"/>
                                          </p:val>
                                        </p:tav>
                                      </p:tavLst>
                                    </p:anim>
                                  </p:childTnLst>
                                </p:cTn>
                              </p:par>
                            </p:childTnLst>
                          </p:cTn>
                        </p:par>
                        <p:par>
                          <p:cTn id="7" fill="hold">
                            <p:stCondLst>
                              <p:cond delay="3000"/>
                            </p:stCondLst>
                            <p:childTnLst>
                              <p:par>
                                <p:cTn id="8" presetID="35" presetClass="emph" presetSubtype="0" repeatCount="3000" fill="hold" grpId="0" nodeType="afterEffect">
                                  <p:stCondLst>
                                    <p:cond delay="0"/>
                                  </p:stCondLst>
                                  <p:childTnLst>
                                    <p:anim calcmode="discrete" valueType="str">
                                      <p:cBhvr>
                                        <p:cTn id="9" dur="1000" fill="hold"/>
                                        <p:tgtEl>
                                          <p:spTgt spid="95"/>
                                        </p:tgtEl>
                                        <p:attrNameLst>
                                          <p:attrName>style.visibility</p:attrName>
                                        </p:attrNameLst>
                                      </p:cBhvr>
                                      <p:tavLst>
                                        <p:tav tm="0">
                                          <p:val>
                                            <p:strVal val="hidden"/>
                                          </p:val>
                                        </p:tav>
                                        <p:tav tm="50000">
                                          <p:val>
                                            <p:strVal val="visible"/>
                                          </p:val>
                                        </p:tav>
                                      </p:tavLst>
                                    </p:anim>
                                  </p:childTnLst>
                                </p:cTn>
                              </p:par>
                            </p:childTnLst>
                          </p:cTn>
                        </p:par>
                        <p:par>
                          <p:cTn id="10" fill="hold">
                            <p:stCondLst>
                              <p:cond delay="9000"/>
                            </p:stCondLst>
                            <p:childTnLst>
                              <p:par>
                                <p:cTn id="11" presetID="35" presetClass="emph" presetSubtype="0" repeatCount="3000" fill="hold" grpId="0" nodeType="afterEffect">
                                  <p:stCondLst>
                                    <p:cond delay="0"/>
                                  </p:stCondLst>
                                  <p:childTnLst>
                                    <p:anim calcmode="discrete" valueType="str">
                                      <p:cBhvr>
                                        <p:cTn id="12" dur="1000" fill="hold"/>
                                        <p:tgtEl>
                                          <p:spTgt spid="108"/>
                                        </p:tgtEl>
                                        <p:attrNameLst>
                                          <p:attrName>style.visibility</p:attrName>
                                        </p:attrNameLst>
                                      </p:cBhvr>
                                      <p:tavLst>
                                        <p:tav tm="0">
                                          <p:val>
                                            <p:strVal val="hidden"/>
                                          </p:val>
                                        </p:tav>
                                        <p:tav tm="50000">
                                          <p:val>
                                            <p:strVal val="visible"/>
                                          </p:val>
                                        </p:tav>
                                      </p:tavLst>
                                    </p:anim>
                                  </p:childTnLst>
                                </p:cTn>
                              </p:par>
                            </p:childTnLst>
                          </p:cTn>
                        </p:par>
                        <p:par>
                          <p:cTn id="13" fill="hold">
                            <p:stCondLst>
                              <p:cond delay="12000"/>
                            </p:stCondLst>
                            <p:childTnLst>
                              <p:par>
                                <p:cTn id="14" presetID="35" presetClass="emph" presetSubtype="0" repeatCount="3000" fill="hold" grpId="0" nodeType="afterEffect">
                                  <p:stCondLst>
                                    <p:cond delay="0"/>
                                  </p:stCondLst>
                                  <p:childTnLst>
                                    <p:anim calcmode="discrete" valueType="str">
                                      <p:cBhvr>
                                        <p:cTn id="15" dur="1000" fill="hold"/>
                                        <p:tgtEl>
                                          <p:spTgt spid="10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p:bldP spid="103" grpId="0"/>
      <p:bldP spid="10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C321E-28B5-CE40-C942-B3823BD364C1}"/>
            </a:ext>
          </a:extLst>
        </p:cNvPr>
        <p:cNvGrpSpPr/>
        <p:nvPr/>
      </p:nvGrpSpPr>
      <p:grpSpPr>
        <a:xfrm>
          <a:off x="0" y="0"/>
          <a:ext cx="0" cy="0"/>
          <a:chOff x="0" y="0"/>
          <a:chExt cx="0" cy="0"/>
        </a:xfrm>
      </p:grpSpPr>
      <p:sp>
        <p:nvSpPr>
          <p:cNvPr id="5" name="AutoShape 5">
            <a:extLst>
              <a:ext uri="{FF2B5EF4-FFF2-40B4-BE49-F238E27FC236}">
                <a16:creationId xmlns:a16="http://schemas.microsoft.com/office/drawing/2014/main" id="{0E06DA45-C8C5-3994-D311-1C0B07150C11}"/>
              </a:ext>
            </a:extLst>
          </p:cNvPr>
          <p:cNvSpPr>
            <a:spLocks noChangeArrowheads="1"/>
          </p:cNvSpPr>
          <p:nvPr/>
        </p:nvSpPr>
        <p:spPr bwMode="auto">
          <a:xfrm>
            <a:off x="545144" y="62820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a:extLst>
              <a:ext uri="{FF2B5EF4-FFF2-40B4-BE49-F238E27FC236}">
                <a16:creationId xmlns:a16="http://schemas.microsoft.com/office/drawing/2014/main" id="{67FA6770-05D2-54D3-BC8D-1816448F4295}"/>
              </a:ext>
            </a:extLst>
          </p:cNvPr>
          <p:cNvSpPr>
            <a:spLocks noChangeArrowheads="1"/>
          </p:cNvSpPr>
          <p:nvPr/>
        </p:nvSpPr>
        <p:spPr bwMode="auto">
          <a:xfrm>
            <a:off x="3162169" y="605119"/>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确认丢失和确认迟到</a:t>
            </a:r>
          </a:p>
        </p:txBody>
      </p:sp>
      <p:sp>
        <p:nvSpPr>
          <p:cNvPr id="7" name="圆角矩形 6">
            <a:extLst>
              <a:ext uri="{FF2B5EF4-FFF2-40B4-BE49-F238E27FC236}">
                <a16:creationId xmlns:a16="http://schemas.microsoft.com/office/drawing/2014/main" id="{7547E03C-315F-410E-FE42-5F1B15D7285D}"/>
              </a:ext>
            </a:extLst>
          </p:cNvPr>
          <p:cNvSpPr/>
          <p:nvPr/>
        </p:nvSpPr>
        <p:spPr>
          <a:xfrm>
            <a:off x="545144" y="1025023"/>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3" name="组合 52">
            <a:extLst>
              <a:ext uri="{FF2B5EF4-FFF2-40B4-BE49-F238E27FC236}">
                <a16:creationId xmlns:a16="http://schemas.microsoft.com/office/drawing/2014/main" id="{4E62326B-CF97-6F79-3DA2-8B186502205F}"/>
              </a:ext>
            </a:extLst>
          </p:cNvPr>
          <p:cNvGrpSpPr/>
          <p:nvPr/>
        </p:nvGrpSpPr>
        <p:grpSpPr>
          <a:xfrm>
            <a:off x="2151462" y="1337233"/>
            <a:ext cx="1082227" cy="2099762"/>
            <a:chOff x="1965184" y="1647602"/>
            <a:chExt cx="1834656" cy="3179763"/>
          </a:xfrm>
        </p:grpSpPr>
        <p:sp>
          <p:nvSpPr>
            <p:cNvPr id="54" name="Line 28">
              <a:extLst>
                <a:ext uri="{FF2B5EF4-FFF2-40B4-BE49-F238E27FC236}">
                  <a16:creationId xmlns:a16="http://schemas.microsoft.com/office/drawing/2014/main" id="{08C42DB5-D9E7-E36D-737C-129A9A0DA739}"/>
                </a:ext>
              </a:extLst>
            </p:cNvPr>
            <p:cNvSpPr>
              <a:spLocks noChangeShapeType="1"/>
            </p:cNvSpPr>
            <p:nvPr/>
          </p:nvSpPr>
          <p:spPr bwMode="auto">
            <a:xfrm>
              <a:off x="1965184" y="1647602"/>
              <a:ext cx="0" cy="317976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5" name="Line 29">
              <a:extLst>
                <a:ext uri="{FF2B5EF4-FFF2-40B4-BE49-F238E27FC236}">
                  <a16:creationId xmlns:a16="http://schemas.microsoft.com/office/drawing/2014/main" id="{2E62590A-7A42-1AC0-102F-8966C19A990F}"/>
                </a:ext>
              </a:extLst>
            </p:cNvPr>
            <p:cNvSpPr>
              <a:spLocks noChangeShapeType="1"/>
            </p:cNvSpPr>
            <p:nvPr/>
          </p:nvSpPr>
          <p:spPr bwMode="auto">
            <a:xfrm>
              <a:off x="3799840" y="1647602"/>
              <a:ext cx="0" cy="316071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sp>
        <p:nvSpPr>
          <p:cNvPr id="56" name="Rectangle 30">
            <a:extLst>
              <a:ext uri="{FF2B5EF4-FFF2-40B4-BE49-F238E27FC236}">
                <a16:creationId xmlns:a16="http://schemas.microsoft.com/office/drawing/2014/main" id="{671AF095-79C9-A41F-9130-512CA86A24EA}"/>
              </a:ext>
            </a:extLst>
          </p:cNvPr>
          <p:cNvSpPr>
            <a:spLocks noChangeArrowheads="1"/>
          </p:cNvSpPr>
          <p:nvPr/>
        </p:nvSpPr>
        <p:spPr bwMode="auto">
          <a:xfrm>
            <a:off x="1982174" y="1071286"/>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itchFamily="34" charset="-122"/>
                <a:ea typeface="微软雅黑" pitchFamily="34" charset="-122"/>
              </a:rPr>
              <a:t>A</a:t>
            </a:r>
          </a:p>
        </p:txBody>
      </p:sp>
      <p:sp>
        <p:nvSpPr>
          <p:cNvPr id="57" name="Rectangle 31">
            <a:extLst>
              <a:ext uri="{FF2B5EF4-FFF2-40B4-BE49-F238E27FC236}">
                <a16:creationId xmlns:a16="http://schemas.microsoft.com/office/drawing/2014/main" id="{DFE7D3F5-504D-5F75-7C85-20759873CAC0}"/>
              </a:ext>
            </a:extLst>
          </p:cNvPr>
          <p:cNvSpPr>
            <a:spLocks noChangeArrowheads="1"/>
          </p:cNvSpPr>
          <p:nvPr/>
        </p:nvSpPr>
        <p:spPr bwMode="auto">
          <a:xfrm>
            <a:off x="3082484" y="1071286"/>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B</a:t>
            </a:r>
          </a:p>
        </p:txBody>
      </p:sp>
      <p:grpSp>
        <p:nvGrpSpPr>
          <p:cNvPr id="58" name="Group 32">
            <a:extLst>
              <a:ext uri="{FF2B5EF4-FFF2-40B4-BE49-F238E27FC236}">
                <a16:creationId xmlns:a16="http://schemas.microsoft.com/office/drawing/2014/main" id="{193C790C-963D-BDD0-7B05-40409BB8CC98}"/>
              </a:ext>
            </a:extLst>
          </p:cNvPr>
          <p:cNvGrpSpPr>
            <a:grpSpLocks/>
          </p:cNvGrpSpPr>
          <p:nvPr/>
        </p:nvGrpSpPr>
        <p:grpSpPr bwMode="auto">
          <a:xfrm>
            <a:off x="2153156" y="1415894"/>
            <a:ext cx="1080298" cy="458853"/>
            <a:chOff x="3769" y="1868"/>
            <a:chExt cx="1057" cy="490"/>
          </a:xfrm>
        </p:grpSpPr>
        <p:sp>
          <p:nvSpPr>
            <p:cNvPr id="59" name="Freeform 33">
              <a:extLst>
                <a:ext uri="{FF2B5EF4-FFF2-40B4-BE49-F238E27FC236}">
                  <a16:creationId xmlns:a16="http://schemas.microsoft.com/office/drawing/2014/main" id="{B616A838-0F39-64F3-A67A-8FD9499D6B17}"/>
                </a:ext>
              </a:extLst>
            </p:cNvPr>
            <p:cNvSpPr>
              <a:spLocks/>
            </p:cNvSpPr>
            <p:nvPr/>
          </p:nvSpPr>
          <p:spPr bwMode="auto">
            <a:xfrm>
              <a:off x="3769" y="1868"/>
              <a:ext cx="1057" cy="490"/>
            </a:xfrm>
            <a:custGeom>
              <a:avLst/>
              <a:gdLst>
                <a:gd name="T0" fmla="*/ 0 w 1033"/>
                <a:gd name="T1" fmla="*/ 0 h 457"/>
                <a:gd name="T2" fmla="*/ 1071 w 1033"/>
                <a:gd name="T3" fmla="*/ 152 h 457"/>
                <a:gd name="T4" fmla="*/ 1071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0" name="AutoShape 34">
              <a:extLst>
                <a:ext uri="{FF2B5EF4-FFF2-40B4-BE49-F238E27FC236}">
                  <a16:creationId xmlns:a16="http://schemas.microsoft.com/office/drawing/2014/main" id="{DB3CFAF4-2404-1534-BD25-A1A7340E00A7}"/>
                </a:ext>
              </a:extLst>
            </p:cNvPr>
            <p:cNvSpPr>
              <a:spLocks noChangeArrowheads="1"/>
            </p:cNvSpPr>
            <p:nvPr/>
          </p:nvSpPr>
          <p:spPr bwMode="auto">
            <a:xfrm rot="480000">
              <a:off x="4477" y="2114"/>
              <a:ext cx="291" cy="100"/>
            </a:xfrm>
            <a:prstGeom prst="rightArrow">
              <a:avLst>
                <a:gd name="adj1" fmla="val 50000"/>
                <a:gd name="adj2" fmla="val 145513"/>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1" name="Rectangle 35">
              <a:extLst>
                <a:ext uri="{FF2B5EF4-FFF2-40B4-BE49-F238E27FC236}">
                  <a16:creationId xmlns:a16="http://schemas.microsoft.com/office/drawing/2014/main" id="{69522556-CBEC-E093-EC5A-CD03D84E3C5E}"/>
                </a:ext>
              </a:extLst>
            </p:cNvPr>
            <p:cNvSpPr>
              <a:spLocks noChangeArrowheads="1"/>
            </p:cNvSpPr>
            <p:nvPr/>
          </p:nvSpPr>
          <p:spPr bwMode="auto">
            <a:xfrm rot="540000">
              <a:off x="3940" y="1949"/>
              <a:ext cx="43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grpSp>
        <p:nvGrpSpPr>
          <p:cNvPr id="62" name="Group 36">
            <a:extLst>
              <a:ext uri="{FF2B5EF4-FFF2-40B4-BE49-F238E27FC236}">
                <a16:creationId xmlns:a16="http://schemas.microsoft.com/office/drawing/2014/main" id="{7D634540-A3E0-1449-5785-72402D4F49A7}"/>
              </a:ext>
            </a:extLst>
          </p:cNvPr>
          <p:cNvGrpSpPr>
            <a:grpSpLocks/>
          </p:cNvGrpSpPr>
          <p:nvPr/>
        </p:nvGrpSpPr>
        <p:grpSpPr bwMode="auto">
          <a:xfrm>
            <a:off x="2152219" y="2286778"/>
            <a:ext cx="1082519" cy="458853"/>
            <a:chOff x="3439" y="3564"/>
            <a:chExt cx="1156" cy="490"/>
          </a:xfrm>
        </p:grpSpPr>
        <p:sp>
          <p:nvSpPr>
            <p:cNvPr id="63" name="Freeform 37">
              <a:extLst>
                <a:ext uri="{FF2B5EF4-FFF2-40B4-BE49-F238E27FC236}">
                  <a16:creationId xmlns:a16="http://schemas.microsoft.com/office/drawing/2014/main" id="{3563D59A-2E47-3766-D6FD-90ADB756BA75}"/>
                </a:ext>
              </a:extLst>
            </p:cNvPr>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4" name="AutoShape 38">
              <a:extLst>
                <a:ext uri="{FF2B5EF4-FFF2-40B4-BE49-F238E27FC236}">
                  <a16:creationId xmlns:a16="http://schemas.microsoft.com/office/drawing/2014/main" id="{A58BC366-F704-71DF-38F9-55277213A95F}"/>
                </a:ext>
              </a:extLst>
            </p:cNvPr>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5" name="Rectangle 39">
              <a:extLst>
                <a:ext uri="{FF2B5EF4-FFF2-40B4-BE49-F238E27FC236}">
                  <a16:creationId xmlns:a16="http://schemas.microsoft.com/office/drawing/2014/main" id="{13722AFD-0101-453E-3B64-269E1BE2D3C2}"/>
                </a:ext>
              </a:extLst>
            </p:cNvPr>
            <p:cNvSpPr>
              <a:spLocks noChangeArrowheads="1"/>
            </p:cNvSpPr>
            <p:nvPr/>
          </p:nvSpPr>
          <p:spPr bwMode="auto">
            <a:xfrm rot="540000">
              <a:off x="3626" y="3647"/>
              <a:ext cx="47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sp>
        <p:nvSpPr>
          <p:cNvPr id="66" name="Text Box 40">
            <a:extLst>
              <a:ext uri="{FF2B5EF4-FFF2-40B4-BE49-F238E27FC236}">
                <a16:creationId xmlns:a16="http://schemas.microsoft.com/office/drawing/2014/main" id="{77F5F9E1-C081-2047-D9FD-3D66F3E9164F}"/>
              </a:ext>
            </a:extLst>
          </p:cNvPr>
          <p:cNvSpPr txBox="1">
            <a:spLocks noChangeArrowheads="1"/>
          </p:cNvSpPr>
          <p:nvPr/>
        </p:nvSpPr>
        <p:spPr bwMode="auto">
          <a:xfrm>
            <a:off x="2263248" y="397930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0000FF"/>
                </a:solidFill>
                <a:latin typeface="微软雅黑" pitchFamily="34" charset="-122"/>
                <a:ea typeface="微软雅黑" pitchFamily="34" charset="-122"/>
              </a:rPr>
              <a:t>确认丢失</a:t>
            </a:r>
          </a:p>
        </p:txBody>
      </p:sp>
      <p:grpSp>
        <p:nvGrpSpPr>
          <p:cNvPr id="67" name="Group 41">
            <a:extLst>
              <a:ext uri="{FF2B5EF4-FFF2-40B4-BE49-F238E27FC236}">
                <a16:creationId xmlns:a16="http://schemas.microsoft.com/office/drawing/2014/main" id="{A87055D8-0AAC-4644-4670-154238C1767E}"/>
              </a:ext>
            </a:extLst>
          </p:cNvPr>
          <p:cNvGrpSpPr>
            <a:grpSpLocks/>
          </p:cNvGrpSpPr>
          <p:nvPr/>
        </p:nvGrpSpPr>
        <p:grpSpPr bwMode="auto">
          <a:xfrm>
            <a:off x="2136299" y="2734396"/>
            <a:ext cx="1102183" cy="311833"/>
            <a:chOff x="2012" y="2283"/>
            <a:chExt cx="1177" cy="333"/>
          </a:xfrm>
        </p:grpSpPr>
        <p:sp>
          <p:nvSpPr>
            <p:cNvPr id="68" name="Line 42">
              <a:extLst>
                <a:ext uri="{FF2B5EF4-FFF2-40B4-BE49-F238E27FC236}">
                  <a16:creationId xmlns:a16="http://schemas.microsoft.com/office/drawing/2014/main" id="{70494D5D-AC50-C4E8-ADC8-2D52F12637F9}"/>
                </a:ext>
              </a:extLst>
            </p:cNvPr>
            <p:cNvSpPr>
              <a:spLocks noChangeShapeType="1"/>
            </p:cNvSpPr>
            <p:nvPr/>
          </p:nvSpPr>
          <p:spPr bwMode="auto">
            <a:xfrm flipH="1">
              <a:off x="2012" y="2415"/>
              <a:ext cx="1177"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9" name="Text Box 43">
              <a:extLst>
                <a:ext uri="{FF2B5EF4-FFF2-40B4-BE49-F238E27FC236}">
                  <a16:creationId xmlns:a16="http://schemas.microsoft.com/office/drawing/2014/main" id="{586403D7-F427-4F42-9767-C9D094D3A091}"/>
                </a:ext>
              </a:extLst>
            </p:cNvPr>
            <p:cNvSpPr txBox="1">
              <a:spLocks noChangeArrowheads="1"/>
            </p:cNvSpPr>
            <p:nvPr/>
          </p:nvSpPr>
          <p:spPr bwMode="auto">
            <a:xfrm rot="21169770">
              <a:off x="2151" y="2283"/>
              <a:ext cx="660"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200" b="1" dirty="0">
                  <a:latin typeface="微软雅黑" pitchFamily="34" charset="-122"/>
                  <a:ea typeface="微软雅黑" pitchFamily="34" charset="-122"/>
                </a:rPr>
                <a:t>ACK </a:t>
              </a:r>
              <a:r>
                <a:rPr kumimoji="0" lang="en-US" altLang="zh-CN" sz="1200" b="1" baseline="-25000" dirty="0">
                  <a:latin typeface="微软雅黑" pitchFamily="34" charset="-122"/>
                  <a:ea typeface="微软雅黑" pitchFamily="34" charset="-122"/>
                </a:rPr>
                <a:t>1</a:t>
              </a:r>
            </a:p>
          </p:txBody>
        </p:sp>
      </p:grpSp>
      <p:sp>
        <p:nvSpPr>
          <p:cNvPr id="70" name="Text Box 47">
            <a:extLst>
              <a:ext uri="{FF2B5EF4-FFF2-40B4-BE49-F238E27FC236}">
                <a16:creationId xmlns:a16="http://schemas.microsoft.com/office/drawing/2014/main" id="{3F4E93C2-95E8-1785-68E8-3F3DC99AA8FC}"/>
              </a:ext>
            </a:extLst>
          </p:cNvPr>
          <p:cNvSpPr txBox="1">
            <a:spLocks noChangeArrowheads="1"/>
          </p:cNvSpPr>
          <p:nvPr/>
        </p:nvSpPr>
        <p:spPr bwMode="auto">
          <a:xfrm>
            <a:off x="1280398" y="2306444"/>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CC00CC"/>
                </a:solidFill>
                <a:latin typeface="微软雅黑" pitchFamily="34" charset="-122"/>
                <a:ea typeface="微软雅黑" pitchFamily="34" charset="-122"/>
              </a:rPr>
              <a:t>超时重传</a:t>
            </a:r>
          </a:p>
        </p:txBody>
      </p:sp>
      <p:grpSp>
        <p:nvGrpSpPr>
          <p:cNvPr id="71" name="Group 48">
            <a:extLst>
              <a:ext uri="{FF2B5EF4-FFF2-40B4-BE49-F238E27FC236}">
                <a16:creationId xmlns:a16="http://schemas.microsoft.com/office/drawing/2014/main" id="{E61C26F8-2FA0-7BCB-F631-94BF6CF27449}"/>
              </a:ext>
            </a:extLst>
          </p:cNvPr>
          <p:cNvGrpSpPr>
            <a:grpSpLocks/>
          </p:cNvGrpSpPr>
          <p:nvPr/>
        </p:nvGrpSpPr>
        <p:grpSpPr bwMode="auto">
          <a:xfrm>
            <a:off x="1576311" y="1738027"/>
            <a:ext cx="499119" cy="546878"/>
            <a:chOff x="3153" y="2204"/>
            <a:chExt cx="533" cy="584"/>
          </a:xfrm>
        </p:grpSpPr>
        <p:sp>
          <p:nvSpPr>
            <p:cNvPr id="72" name="AutoShape 49">
              <a:extLst>
                <a:ext uri="{FF2B5EF4-FFF2-40B4-BE49-F238E27FC236}">
                  <a16:creationId xmlns:a16="http://schemas.microsoft.com/office/drawing/2014/main" id="{B209D0CD-10FA-794B-73E3-B9D404739F22}"/>
                </a:ext>
              </a:extLst>
            </p:cNvPr>
            <p:cNvSpPr>
              <a:spLocks/>
            </p:cNvSpPr>
            <p:nvPr/>
          </p:nvSpPr>
          <p:spPr bwMode="auto">
            <a:xfrm>
              <a:off x="3600" y="2204"/>
              <a:ext cx="56" cy="584"/>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3" name="Text Box 50">
              <a:extLst>
                <a:ext uri="{FF2B5EF4-FFF2-40B4-BE49-F238E27FC236}">
                  <a16:creationId xmlns:a16="http://schemas.microsoft.com/office/drawing/2014/main" id="{11180CA2-C7A8-F8C9-04CA-9FDB72B2208B}"/>
                </a:ext>
              </a:extLst>
            </p:cNvPr>
            <p:cNvSpPr txBox="1">
              <a:spLocks noChangeArrowheads="1"/>
            </p:cNvSpPr>
            <p:nvPr/>
          </p:nvSpPr>
          <p:spPr bwMode="auto">
            <a:xfrm>
              <a:off x="3153" y="2311"/>
              <a:ext cx="533"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latin typeface="微软雅黑" pitchFamily="34" charset="-122"/>
                  <a:ea typeface="微软雅黑" pitchFamily="34" charset="-122"/>
                </a:rPr>
                <a:t>t</a:t>
              </a:r>
              <a:r>
                <a:rPr kumimoji="0" lang="en-US" altLang="zh-CN" sz="1400" b="1" baseline="-25000" dirty="0">
                  <a:latin typeface="微软雅黑" pitchFamily="34" charset="-122"/>
                  <a:ea typeface="微软雅黑" pitchFamily="34" charset="-122"/>
                </a:rPr>
                <a:t>out</a:t>
              </a:r>
            </a:p>
          </p:txBody>
        </p:sp>
      </p:grpSp>
      <p:grpSp>
        <p:nvGrpSpPr>
          <p:cNvPr id="74" name="Group 51">
            <a:extLst>
              <a:ext uri="{FF2B5EF4-FFF2-40B4-BE49-F238E27FC236}">
                <a16:creationId xmlns:a16="http://schemas.microsoft.com/office/drawing/2014/main" id="{820F5600-9038-38FA-BD41-69789E458B32}"/>
              </a:ext>
            </a:extLst>
          </p:cNvPr>
          <p:cNvGrpSpPr>
            <a:grpSpLocks/>
          </p:cNvGrpSpPr>
          <p:nvPr/>
        </p:nvGrpSpPr>
        <p:grpSpPr bwMode="auto">
          <a:xfrm>
            <a:off x="2290137" y="1839164"/>
            <a:ext cx="937372" cy="336180"/>
            <a:chOff x="4012" y="2397"/>
            <a:chExt cx="1001" cy="359"/>
          </a:xfrm>
        </p:grpSpPr>
        <p:sp>
          <p:nvSpPr>
            <p:cNvPr id="75" name="Line 52">
              <a:extLst>
                <a:ext uri="{FF2B5EF4-FFF2-40B4-BE49-F238E27FC236}">
                  <a16:creationId xmlns:a16="http://schemas.microsoft.com/office/drawing/2014/main" id="{EA5A3039-742F-E4B7-4B54-8C940CF2CAF1}"/>
                </a:ext>
              </a:extLst>
            </p:cNvPr>
            <p:cNvSpPr>
              <a:spLocks noChangeShapeType="1"/>
            </p:cNvSpPr>
            <p:nvPr/>
          </p:nvSpPr>
          <p:spPr bwMode="auto">
            <a:xfrm flipH="1">
              <a:off x="4012" y="2555"/>
              <a:ext cx="1001"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76" name="Text Box 53">
              <a:extLst>
                <a:ext uri="{FF2B5EF4-FFF2-40B4-BE49-F238E27FC236}">
                  <a16:creationId xmlns:a16="http://schemas.microsoft.com/office/drawing/2014/main" id="{40535EA8-52E9-FCD1-C72D-452D348789A9}"/>
                </a:ext>
              </a:extLst>
            </p:cNvPr>
            <p:cNvSpPr txBox="1">
              <a:spLocks noChangeArrowheads="1"/>
            </p:cNvSpPr>
            <p:nvPr/>
          </p:nvSpPr>
          <p:spPr bwMode="auto">
            <a:xfrm rot="21169770">
              <a:off x="4145" y="2397"/>
              <a:ext cx="715"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200" b="1" dirty="0">
                  <a:latin typeface="微软雅黑" pitchFamily="34" charset="-122"/>
                  <a:ea typeface="微软雅黑" pitchFamily="34" charset="-122"/>
                </a:rPr>
                <a:t>ACK </a:t>
              </a:r>
              <a:r>
                <a:rPr kumimoji="0" lang="en-US" altLang="zh-CN" sz="1200" b="1" baseline="-25000" dirty="0">
                  <a:latin typeface="微软雅黑" pitchFamily="34" charset="-122"/>
                  <a:ea typeface="微软雅黑" pitchFamily="34" charset="-122"/>
                </a:rPr>
                <a:t>1</a:t>
              </a:r>
            </a:p>
          </p:txBody>
        </p:sp>
      </p:grpSp>
      <p:sp>
        <p:nvSpPr>
          <p:cNvPr id="77" name="AutoShape 57">
            <a:extLst>
              <a:ext uri="{FF2B5EF4-FFF2-40B4-BE49-F238E27FC236}">
                <a16:creationId xmlns:a16="http://schemas.microsoft.com/office/drawing/2014/main" id="{011F5335-C1A1-064A-0D32-484833F064F2}"/>
              </a:ext>
            </a:extLst>
          </p:cNvPr>
          <p:cNvSpPr>
            <a:spLocks noChangeArrowheads="1"/>
          </p:cNvSpPr>
          <p:nvPr/>
        </p:nvSpPr>
        <p:spPr bwMode="auto">
          <a:xfrm>
            <a:off x="2094160" y="1944043"/>
            <a:ext cx="414841" cy="340862"/>
          </a:xfrm>
          <a:prstGeom prst="irregularSeal1">
            <a:avLst/>
          </a:prstGeom>
          <a:solidFill>
            <a:srgbClr val="FF0000"/>
          </a:solidFill>
          <a:ln w="9525" algn="ctr">
            <a:solidFill>
              <a:schemeClr val="tx1"/>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grpSp>
        <p:nvGrpSpPr>
          <p:cNvPr id="78" name="组合 77">
            <a:extLst>
              <a:ext uri="{FF2B5EF4-FFF2-40B4-BE49-F238E27FC236}">
                <a16:creationId xmlns:a16="http://schemas.microsoft.com/office/drawing/2014/main" id="{6F2A1E23-ACEF-B87D-FDDC-C77043130B08}"/>
              </a:ext>
            </a:extLst>
          </p:cNvPr>
          <p:cNvGrpSpPr/>
          <p:nvPr/>
        </p:nvGrpSpPr>
        <p:grpSpPr>
          <a:xfrm>
            <a:off x="6030643" y="1337233"/>
            <a:ext cx="1082227" cy="2692542"/>
            <a:chOff x="6891708" y="1647602"/>
            <a:chExt cx="1834656" cy="3179763"/>
          </a:xfrm>
        </p:grpSpPr>
        <p:sp>
          <p:nvSpPr>
            <p:cNvPr id="79" name="Line 28">
              <a:extLst>
                <a:ext uri="{FF2B5EF4-FFF2-40B4-BE49-F238E27FC236}">
                  <a16:creationId xmlns:a16="http://schemas.microsoft.com/office/drawing/2014/main" id="{0BA00208-3EF8-2894-3F45-263724BADFCA}"/>
                </a:ext>
              </a:extLst>
            </p:cNvPr>
            <p:cNvSpPr>
              <a:spLocks noChangeShapeType="1"/>
            </p:cNvSpPr>
            <p:nvPr/>
          </p:nvSpPr>
          <p:spPr bwMode="auto">
            <a:xfrm>
              <a:off x="6891708" y="1647602"/>
              <a:ext cx="0" cy="317976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0" name="Line 29">
              <a:extLst>
                <a:ext uri="{FF2B5EF4-FFF2-40B4-BE49-F238E27FC236}">
                  <a16:creationId xmlns:a16="http://schemas.microsoft.com/office/drawing/2014/main" id="{D9E88073-96D6-3416-C5C4-C3DFE385EC05}"/>
                </a:ext>
              </a:extLst>
            </p:cNvPr>
            <p:cNvSpPr>
              <a:spLocks noChangeShapeType="1"/>
            </p:cNvSpPr>
            <p:nvPr/>
          </p:nvSpPr>
          <p:spPr bwMode="auto">
            <a:xfrm>
              <a:off x="8726364" y="1647602"/>
              <a:ext cx="0" cy="316071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sp>
        <p:nvSpPr>
          <p:cNvPr id="81" name="Rectangle 30">
            <a:extLst>
              <a:ext uri="{FF2B5EF4-FFF2-40B4-BE49-F238E27FC236}">
                <a16:creationId xmlns:a16="http://schemas.microsoft.com/office/drawing/2014/main" id="{277C8542-0AD6-2F7C-2F41-4CED8B2984F4}"/>
              </a:ext>
            </a:extLst>
          </p:cNvPr>
          <p:cNvSpPr>
            <a:spLocks noChangeArrowheads="1"/>
          </p:cNvSpPr>
          <p:nvPr/>
        </p:nvSpPr>
        <p:spPr bwMode="auto">
          <a:xfrm>
            <a:off x="5861356" y="1071286"/>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itchFamily="34" charset="-122"/>
                <a:ea typeface="微软雅黑" pitchFamily="34" charset="-122"/>
              </a:rPr>
              <a:t>A</a:t>
            </a:r>
          </a:p>
        </p:txBody>
      </p:sp>
      <p:sp>
        <p:nvSpPr>
          <p:cNvPr id="82" name="Rectangle 31">
            <a:extLst>
              <a:ext uri="{FF2B5EF4-FFF2-40B4-BE49-F238E27FC236}">
                <a16:creationId xmlns:a16="http://schemas.microsoft.com/office/drawing/2014/main" id="{E174FEA6-E590-6146-459F-E277A4EF7CF4}"/>
              </a:ext>
            </a:extLst>
          </p:cNvPr>
          <p:cNvSpPr>
            <a:spLocks noChangeArrowheads="1"/>
          </p:cNvSpPr>
          <p:nvPr/>
        </p:nvSpPr>
        <p:spPr bwMode="auto">
          <a:xfrm>
            <a:off x="6961666" y="1071286"/>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itchFamily="34" charset="-122"/>
                <a:ea typeface="微软雅黑" pitchFamily="34" charset="-122"/>
              </a:rPr>
              <a:t>B</a:t>
            </a:r>
          </a:p>
        </p:txBody>
      </p:sp>
      <p:grpSp>
        <p:nvGrpSpPr>
          <p:cNvPr id="83" name="Group 32">
            <a:extLst>
              <a:ext uri="{FF2B5EF4-FFF2-40B4-BE49-F238E27FC236}">
                <a16:creationId xmlns:a16="http://schemas.microsoft.com/office/drawing/2014/main" id="{622DBF49-E28C-06FB-9921-2AB23305D18A}"/>
              </a:ext>
            </a:extLst>
          </p:cNvPr>
          <p:cNvGrpSpPr>
            <a:grpSpLocks/>
          </p:cNvGrpSpPr>
          <p:nvPr/>
        </p:nvGrpSpPr>
        <p:grpSpPr bwMode="auto">
          <a:xfrm>
            <a:off x="6032337" y="1415894"/>
            <a:ext cx="1080298" cy="458853"/>
            <a:chOff x="3769" y="1868"/>
            <a:chExt cx="1057" cy="490"/>
          </a:xfrm>
        </p:grpSpPr>
        <p:sp>
          <p:nvSpPr>
            <p:cNvPr id="84" name="Freeform 33">
              <a:extLst>
                <a:ext uri="{FF2B5EF4-FFF2-40B4-BE49-F238E27FC236}">
                  <a16:creationId xmlns:a16="http://schemas.microsoft.com/office/drawing/2014/main" id="{8B822065-746D-5393-846D-7CD4FF3A9DEA}"/>
                </a:ext>
              </a:extLst>
            </p:cNvPr>
            <p:cNvSpPr>
              <a:spLocks/>
            </p:cNvSpPr>
            <p:nvPr/>
          </p:nvSpPr>
          <p:spPr bwMode="auto">
            <a:xfrm>
              <a:off x="3769" y="1868"/>
              <a:ext cx="1057" cy="490"/>
            </a:xfrm>
            <a:custGeom>
              <a:avLst/>
              <a:gdLst>
                <a:gd name="T0" fmla="*/ 0 w 1033"/>
                <a:gd name="T1" fmla="*/ 0 h 457"/>
                <a:gd name="T2" fmla="*/ 1071 w 1033"/>
                <a:gd name="T3" fmla="*/ 152 h 457"/>
                <a:gd name="T4" fmla="*/ 1071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5" name="AutoShape 34">
              <a:extLst>
                <a:ext uri="{FF2B5EF4-FFF2-40B4-BE49-F238E27FC236}">
                  <a16:creationId xmlns:a16="http://schemas.microsoft.com/office/drawing/2014/main" id="{F2284542-2C0E-E601-860C-EBD41DC2C1CC}"/>
                </a:ext>
              </a:extLst>
            </p:cNvPr>
            <p:cNvSpPr>
              <a:spLocks noChangeArrowheads="1"/>
            </p:cNvSpPr>
            <p:nvPr/>
          </p:nvSpPr>
          <p:spPr bwMode="auto">
            <a:xfrm rot="480000">
              <a:off x="4477" y="2114"/>
              <a:ext cx="291" cy="100"/>
            </a:xfrm>
            <a:prstGeom prst="rightArrow">
              <a:avLst>
                <a:gd name="adj1" fmla="val 50000"/>
                <a:gd name="adj2" fmla="val 145513"/>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6" name="Rectangle 35">
              <a:extLst>
                <a:ext uri="{FF2B5EF4-FFF2-40B4-BE49-F238E27FC236}">
                  <a16:creationId xmlns:a16="http://schemas.microsoft.com/office/drawing/2014/main" id="{0896227A-E276-9CD9-43FB-FA2A4714A422}"/>
                </a:ext>
              </a:extLst>
            </p:cNvPr>
            <p:cNvSpPr>
              <a:spLocks noChangeArrowheads="1"/>
            </p:cNvSpPr>
            <p:nvPr/>
          </p:nvSpPr>
          <p:spPr bwMode="auto">
            <a:xfrm rot="540000">
              <a:off x="3940" y="1949"/>
              <a:ext cx="43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grpSp>
        <p:nvGrpSpPr>
          <p:cNvPr id="87" name="Group 36">
            <a:extLst>
              <a:ext uri="{FF2B5EF4-FFF2-40B4-BE49-F238E27FC236}">
                <a16:creationId xmlns:a16="http://schemas.microsoft.com/office/drawing/2014/main" id="{B2432482-4E45-55A8-898D-47B597C90650}"/>
              </a:ext>
            </a:extLst>
          </p:cNvPr>
          <p:cNvGrpSpPr>
            <a:grpSpLocks/>
          </p:cNvGrpSpPr>
          <p:nvPr/>
        </p:nvGrpSpPr>
        <p:grpSpPr bwMode="auto">
          <a:xfrm>
            <a:off x="6031400" y="2286778"/>
            <a:ext cx="1082519" cy="458853"/>
            <a:chOff x="3439" y="3564"/>
            <a:chExt cx="1156" cy="490"/>
          </a:xfrm>
        </p:grpSpPr>
        <p:sp>
          <p:nvSpPr>
            <p:cNvPr id="88" name="Freeform 37">
              <a:extLst>
                <a:ext uri="{FF2B5EF4-FFF2-40B4-BE49-F238E27FC236}">
                  <a16:creationId xmlns:a16="http://schemas.microsoft.com/office/drawing/2014/main" id="{7E4B0E74-92ED-93D8-D6D1-CD74DEB06DC2}"/>
                </a:ext>
              </a:extLst>
            </p:cNvPr>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9" name="AutoShape 38">
              <a:extLst>
                <a:ext uri="{FF2B5EF4-FFF2-40B4-BE49-F238E27FC236}">
                  <a16:creationId xmlns:a16="http://schemas.microsoft.com/office/drawing/2014/main" id="{BFBEEA76-A4EE-8F79-1FF1-E76E83022D4C}"/>
                </a:ext>
              </a:extLst>
            </p:cNvPr>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90" name="Rectangle 39">
              <a:extLst>
                <a:ext uri="{FF2B5EF4-FFF2-40B4-BE49-F238E27FC236}">
                  <a16:creationId xmlns:a16="http://schemas.microsoft.com/office/drawing/2014/main" id="{EEB10FBB-1B09-A126-0729-1C5DE28B2B5C}"/>
                </a:ext>
              </a:extLst>
            </p:cNvPr>
            <p:cNvSpPr>
              <a:spLocks noChangeArrowheads="1"/>
            </p:cNvSpPr>
            <p:nvPr/>
          </p:nvSpPr>
          <p:spPr bwMode="auto">
            <a:xfrm rot="540000">
              <a:off x="3626" y="3647"/>
              <a:ext cx="47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sp>
        <p:nvSpPr>
          <p:cNvPr id="91" name="Text Box 40">
            <a:extLst>
              <a:ext uri="{FF2B5EF4-FFF2-40B4-BE49-F238E27FC236}">
                <a16:creationId xmlns:a16="http://schemas.microsoft.com/office/drawing/2014/main" id="{7465A117-AC9F-1BC2-8C30-9771CD3E4C87}"/>
              </a:ext>
            </a:extLst>
          </p:cNvPr>
          <p:cNvSpPr txBox="1">
            <a:spLocks noChangeArrowheads="1"/>
          </p:cNvSpPr>
          <p:nvPr/>
        </p:nvSpPr>
        <p:spPr bwMode="auto">
          <a:xfrm>
            <a:off x="6142429" y="397930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0000FF"/>
                </a:solidFill>
                <a:latin typeface="微软雅黑" pitchFamily="34" charset="-122"/>
                <a:ea typeface="微软雅黑" pitchFamily="34" charset="-122"/>
              </a:rPr>
              <a:t>确认迟到</a:t>
            </a:r>
          </a:p>
        </p:txBody>
      </p:sp>
      <p:grpSp>
        <p:nvGrpSpPr>
          <p:cNvPr id="92" name="Group 41">
            <a:extLst>
              <a:ext uri="{FF2B5EF4-FFF2-40B4-BE49-F238E27FC236}">
                <a16:creationId xmlns:a16="http://schemas.microsoft.com/office/drawing/2014/main" id="{CED72757-53FC-FB0E-E887-E52F521DD8E6}"/>
              </a:ext>
            </a:extLst>
          </p:cNvPr>
          <p:cNvGrpSpPr>
            <a:grpSpLocks/>
          </p:cNvGrpSpPr>
          <p:nvPr/>
        </p:nvGrpSpPr>
        <p:grpSpPr bwMode="auto">
          <a:xfrm>
            <a:off x="6015481" y="2734396"/>
            <a:ext cx="1102183" cy="311833"/>
            <a:chOff x="2012" y="2283"/>
            <a:chExt cx="1177" cy="333"/>
          </a:xfrm>
        </p:grpSpPr>
        <p:sp>
          <p:nvSpPr>
            <p:cNvPr id="93" name="Line 42">
              <a:extLst>
                <a:ext uri="{FF2B5EF4-FFF2-40B4-BE49-F238E27FC236}">
                  <a16:creationId xmlns:a16="http://schemas.microsoft.com/office/drawing/2014/main" id="{64D10C38-C055-2888-E1CD-46D98AD6E9FF}"/>
                </a:ext>
              </a:extLst>
            </p:cNvPr>
            <p:cNvSpPr>
              <a:spLocks noChangeShapeType="1"/>
            </p:cNvSpPr>
            <p:nvPr/>
          </p:nvSpPr>
          <p:spPr bwMode="auto">
            <a:xfrm flipH="1">
              <a:off x="2012" y="2415"/>
              <a:ext cx="1177"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94" name="Text Box 43">
              <a:extLst>
                <a:ext uri="{FF2B5EF4-FFF2-40B4-BE49-F238E27FC236}">
                  <a16:creationId xmlns:a16="http://schemas.microsoft.com/office/drawing/2014/main" id="{B0C738FA-B05C-6EC7-2029-A4B1CA66F69E}"/>
                </a:ext>
              </a:extLst>
            </p:cNvPr>
            <p:cNvSpPr txBox="1">
              <a:spLocks noChangeArrowheads="1"/>
            </p:cNvSpPr>
            <p:nvPr/>
          </p:nvSpPr>
          <p:spPr bwMode="auto">
            <a:xfrm rot="21169770">
              <a:off x="2151" y="2283"/>
              <a:ext cx="660"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200" b="1" dirty="0">
                  <a:latin typeface="微软雅黑" pitchFamily="34" charset="-122"/>
                  <a:ea typeface="微软雅黑" pitchFamily="34" charset="-122"/>
                </a:rPr>
                <a:t>ACK </a:t>
              </a:r>
              <a:r>
                <a:rPr kumimoji="0" lang="en-US" altLang="zh-CN" sz="1200" b="1" baseline="-25000" dirty="0">
                  <a:latin typeface="微软雅黑" pitchFamily="34" charset="-122"/>
                  <a:ea typeface="微软雅黑" pitchFamily="34" charset="-122"/>
                </a:rPr>
                <a:t>1</a:t>
              </a:r>
            </a:p>
          </p:txBody>
        </p:sp>
      </p:grpSp>
      <p:sp>
        <p:nvSpPr>
          <p:cNvPr id="95" name="Text Box 47">
            <a:extLst>
              <a:ext uri="{FF2B5EF4-FFF2-40B4-BE49-F238E27FC236}">
                <a16:creationId xmlns:a16="http://schemas.microsoft.com/office/drawing/2014/main" id="{41FE80F6-4B59-1BAB-5A25-1C0689C97BB4}"/>
              </a:ext>
            </a:extLst>
          </p:cNvPr>
          <p:cNvSpPr txBox="1">
            <a:spLocks noChangeArrowheads="1"/>
          </p:cNvSpPr>
          <p:nvPr/>
        </p:nvSpPr>
        <p:spPr bwMode="auto">
          <a:xfrm>
            <a:off x="5130084" y="2306444"/>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algn="r"/>
            <a:r>
              <a:rPr kumimoji="0" lang="zh-CN" altLang="en-US" sz="1400" b="1" dirty="0">
                <a:solidFill>
                  <a:srgbClr val="CC00CC"/>
                </a:solidFill>
                <a:latin typeface="微软雅黑" pitchFamily="34" charset="-122"/>
                <a:ea typeface="微软雅黑" pitchFamily="34" charset="-122"/>
              </a:rPr>
              <a:t>超时重传</a:t>
            </a:r>
          </a:p>
        </p:txBody>
      </p:sp>
      <p:grpSp>
        <p:nvGrpSpPr>
          <p:cNvPr id="96" name="Group 48">
            <a:extLst>
              <a:ext uri="{FF2B5EF4-FFF2-40B4-BE49-F238E27FC236}">
                <a16:creationId xmlns:a16="http://schemas.microsoft.com/office/drawing/2014/main" id="{B46BED02-0B91-2482-1125-B1AC2B594A3D}"/>
              </a:ext>
            </a:extLst>
          </p:cNvPr>
          <p:cNvGrpSpPr>
            <a:grpSpLocks/>
          </p:cNvGrpSpPr>
          <p:nvPr/>
        </p:nvGrpSpPr>
        <p:grpSpPr bwMode="auto">
          <a:xfrm>
            <a:off x="5455492" y="1738027"/>
            <a:ext cx="499119" cy="546878"/>
            <a:chOff x="3153" y="2204"/>
            <a:chExt cx="533" cy="584"/>
          </a:xfrm>
        </p:grpSpPr>
        <p:sp>
          <p:nvSpPr>
            <p:cNvPr id="97" name="AutoShape 49">
              <a:extLst>
                <a:ext uri="{FF2B5EF4-FFF2-40B4-BE49-F238E27FC236}">
                  <a16:creationId xmlns:a16="http://schemas.microsoft.com/office/drawing/2014/main" id="{79E6DD00-8C4B-9B3F-289A-C66B926C0F53}"/>
                </a:ext>
              </a:extLst>
            </p:cNvPr>
            <p:cNvSpPr>
              <a:spLocks/>
            </p:cNvSpPr>
            <p:nvPr/>
          </p:nvSpPr>
          <p:spPr bwMode="auto">
            <a:xfrm>
              <a:off x="3600" y="2204"/>
              <a:ext cx="56" cy="584"/>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98" name="Text Box 50">
              <a:extLst>
                <a:ext uri="{FF2B5EF4-FFF2-40B4-BE49-F238E27FC236}">
                  <a16:creationId xmlns:a16="http://schemas.microsoft.com/office/drawing/2014/main" id="{3FD79532-7E9A-5EE5-C57F-1B8AC0EFAD41}"/>
                </a:ext>
              </a:extLst>
            </p:cNvPr>
            <p:cNvSpPr txBox="1">
              <a:spLocks noChangeArrowheads="1"/>
            </p:cNvSpPr>
            <p:nvPr/>
          </p:nvSpPr>
          <p:spPr bwMode="auto">
            <a:xfrm>
              <a:off x="3153" y="2311"/>
              <a:ext cx="533"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latin typeface="微软雅黑" pitchFamily="34" charset="-122"/>
                  <a:ea typeface="微软雅黑" pitchFamily="34" charset="-122"/>
                </a:rPr>
                <a:t>t</a:t>
              </a:r>
              <a:r>
                <a:rPr kumimoji="0" lang="en-US" altLang="zh-CN" sz="1400" b="1" baseline="-25000" dirty="0">
                  <a:latin typeface="微软雅黑" pitchFamily="34" charset="-122"/>
                  <a:ea typeface="微软雅黑" pitchFamily="34" charset="-122"/>
                </a:rPr>
                <a:t>out</a:t>
              </a:r>
            </a:p>
          </p:txBody>
        </p:sp>
      </p:grpSp>
      <p:grpSp>
        <p:nvGrpSpPr>
          <p:cNvPr id="99" name="Group 36">
            <a:extLst>
              <a:ext uri="{FF2B5EF4-FFF2-40B4-BE49-F238E27FC236}">
                <a16:creationId xmlns:a16="http://schemas.microsoft.com/office/drawing/2014/main" id="{66F770D0-4B81-A8D4-9C67-89E04EC0C39A}"/>
              </a:ext>
            </a:extLst>
          </p:cNvPr>
          <p:cNvGrpSpPr>
            <a:grpSpLocks/>
          </p:cNvGrpSpPr>
          <p:nvPr/>
        </p:nvGrpSpPr>
        <p:grpSpPr bwMode="auto">
          <a:xfrm>
            <a:off x="6031400" y="3100539"/>
            <a:ext cx="1082519" cy="458853"/>
            <a:chOff x="3439" y="3564"/>
            <a:chExt cx="1156" cy="490"/>
          </a:xfrm>
        </p:grpSpPr>
        <p:sp>
          <p:nvSpPr>
            <p:cNvPr id="100" name="Freeform 37">
              <a:extLst>
                <a:ext uri="{FF2B5EF4-FFF2-40B4-BE49-F238E27FC236}">
                  <a16:creationId xmlns:a16="http://schemas.microsoft.com/office/drawing/2014/main" id="{5CBA7794-44D6-8C3D-0A2C-D404AD57991A}"/>
                </a:ext>
              </a:extLst>
            </p:cNvPr>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01" name="AutoShape 38">
              <a:extLst>
                <a:ext uri="{FF2B5EF4-FFF2-40B4-BE49-F238E27FC236}">
                  <a16:creationId xmlns:a16="http://schemas.microsoft.com/office/drawing/2014/main" id="{F5EA1193-8932-E9F3-56B0-EAC232153005}"/>
                </a:ext>
              </a:extLst>
            </p:cNvPr>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02" name="Rectangle 39">
              <a:extLst>
                <a:ext uri="{FF2B5EF4-FFF2-40B4-BE49-F238E27FC236}">
                  <a16:creationId xmlns:a16="http://schemas.microsoft.com/office/drawing/2014/main" id="{26D2F0F7-6323-66C6-BC1F-A90216E8246A}"/>
                </a:ext>
              </a:extLst>
            </p:cNvPr>
            <p:cNvSpPr>
              <a:spLocks noChangeArrowheads="1"/>
            </p:cNvSpPr>
            <p:nvPr/>
          </p:nvSpPr>
          <p:spPr bwMode="auto">
            <a:xfrm rot="540000">
              <a:off x="3555" y="3623"/>
              <a:ext cx="47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2</a:t>
              </a:r>
            </a:p>
          </p:txBody>
        </p:sp>
      </p:grpSp>
      <p:sp>
        <p:nvSpPr>
          <p:cNvPr id="103" name="矩形 102">
            <a:extLst>
              <a:ext uri="{FF2B5EF4-FFF2-40B4-BE49-F238E27FC236}">
                <a16:creationId xmlns:a16="http://schemas.microsoft.com/office/drawing/2014/main" id="{D9FBD440-468A-D8FF-5904-294D334EC2D6}"/>
              </a:ext>
            </a:extLst>
          </p:cNvPr>
          <p:cNvSpPr/>
          <p:nvPr/>
        </p:nvSpPr>
        <p:spPr>
          <a:xfrm>
            <a:off x="4411990" y="3379484"/>
            <a:ext cx="1620906" cy="523220"/>
          </a:xfrm>
          <a:prstGeom prst="rect">
            <a:avLst/>
          </a:prstGeom>
        </p:spPr>
        <p:txBody>
          <a:bodyPr wrap="square">
            <a:spAutoFit/>
          </a:bodyPr>
          <a:lstStyle/>
          <a:p>
            <a:pPr algn="r"/>
            <a:r>
              <a:rPr lang="zh-CN" altLang="en-US" sz="1400" b="1" dirty="0">
                <a:solidFill>
                  <a:srgbClr val="C00000"/>
                </a:solidFill>
                <a:latin typeface="微软雅黑" pitchFamily="34" charset="-122"/>
                <a:ea typeface="微软雅黑" pitchFamily="34" charset="-122"/>
              </a:rPr>
              <a:t>重复 </a:t>
            </a:r>
            <a:r>
              <a:rPr lang="en-US" altLang="zh-CN" sz="1400" b="1" dirty="0">
                <a:solidFill>
                  <a:srgbClr val="C00000"/>
                </a:solidFill>
                <a:latin typeface="微软雅黑" pitchFamily="34" charset="-122"/>
                <a:ea typeface="微软雅黑" pitchFamily="34" charset="-122"/>
              </a:rPr>
              <a:t>ACK</a:t>
            </a:r>
            <a:r>
              <a:rPr lang="en-US" altLang="zh-CN" sz="1400" b="1" baseline="-25000" dirty="0">
                <a:solidFill>
                  <a:srgbClr val="C00000"/>
                </a:solidFill>
                <a:latin typeface="微软雅黑" pitchFamily="34" charset="-122"/>
                <a:ea typeface="微软雅黑" pitchFamily="34" charset="-122"/>
              </a:rPr>
              <a:t>1</a:t>
            </a:r>
            <a:r>
              <a:rPr lang="zh-CN" altLang="en-US" sz="1400" b="1" dirty="0">
                <a:solidFill>
                  <a:srgbClr val="C00000"/>
                </a:solidFill>
                <a:latin typeface="微软雅黑" pitchFamily="34" charset="-122"/>
                <a:ea typeface="微软雅黑" pitchFamily="34" charset="-122"/>
              </a:rPr>
              <a:t>，丢弃</a:t>
            </a:r>
            <a:endParaRPr lang="en-US" altLang="zh-CN" sz="1400" dirty="0">
              <a:solidFill>
                <a:srgbClr val="C00000"/>
              </a:solidFill>
              <a:latin typeface="微软雅黑" pitchFamily="34" charset="-122"/>
              <a:ea typeface="微软雅黑" pitchFamily="34" charset="-122"/>
            </a:endParaRPr>
          </a:p>
          <a:p>
            <a:pPr algn="r"/>
            <a:r>
              <a:rPr lang="zh-CN" altLang="en-US" sz="1400" b="1" dirty="0">
                <a:solidFill>
                  <a:srgbClr val="C00000"/>
                </a:solidFill>
                <a:latin typeface="微软雅黑" pitchFamily="34" charset="-122"/>
                <a:ea typeface="微软雅黑" pitchFamily="34" charset="-122"/>
              </a:rPr>
              <a:t>等待 </a:t>
            </a:r>
            <a:r>
              <a:rPr lang="en-US" altLang="zh-CN" sz="1400" b="1" dirty="0">
                <a:solidFill>
                  <a:srgbClr val="C00000"/>
                </a:solidFill>
                <a:latin typeface="微软雅黑" pitchFamily="34" charset="-122"/>
                <a:ea typeface="微软雅黑" pitchFamily="34" charset="-122"/>
              </a:rPr>
              <a:t>ACK</a:t>
            </a:r>
            <a:r>
              <a:rPr lang="en-US" altLang="zh-CN" sz="1400" b="1" baseline="-25000" dirty="0">
                <a:solidFill>
                  <a:srgbClr val="C00000"/>
                </a:solidFill>
                <a:latin typeface="微软雅黑" pitchFamily="34" charset="-122"/>
                <a:ea typeface="微软雅黑" pitchFamily="34" charset="-122"/>
              </a:rPr>
              <a:t>2</a:t>
            </a:r>
            <a:r>
              <a:rPr lang="en-US" altLang="zh-CN" sz="1400" b="1" dirty="0">
                <a:solidFill>
                  <a:srgbClr val="C00000"/>
                </a:solidFill>
                <a:latin typeface="微软雅黑" pitchFamily="34" charset="-122"/>
                <a:ea typeface="微软雅黑" pitchFamily="34" charset="-122"/>
              </a:rPr>
              <a:t> </a:t>
            </a:r>
          </a:p>
        </p:txBody>
      </p:sp>
      <p:grpSp>
        <p:nvGrpSpPr>
          <p:cNvPr id="104" name="组合 103">
            <a:extLst>
              <a:ext uri="{FF2B5EF4-FFF2-40B4-BE49-F238E27FC236}">
                <a16:creationId xmlns:a16="http://schemas.microsoft.com/office/drawing/2014/main" id="{5E4C17BE-E9C8-FB43-4526-C5AF27F2EFA8}"/>
              </a:ext>
            </a:extLst>
          </p:cNvPr>
          <p:cNvGrpSpPr/>
          <p:nvPr/>
        </p:nvGrpSpPr>
        <p:grpSpPr>
          <a:xfrm>
            <a:off x="6035835" y="1900192"/>
            <a:ext cx="1078084" cy="1699467"/>
            <a:chOff x="6900509" y="2601963"/>
            <a:chExt cx="1827632" cy="2881039"/>
          </a:xfrm>
        </p:grpSpPr>
        <p:sp>
          <p:nvSpPr>
            <p:cNvPr id="105" name="Freeform 48">
              <a:extLst>
                <a:ext uri="{FF2B5EF4-FFF2-40B4-BE49-F238E27FC236}">
                  <a16:creationId xmlns:a16="http://schemas.microsoft.com/office/drawing/2014/main" id="{5435251F-4D2C-0CB5-BD20-BDBCFB5C958C}"/>
                </a:ext>
              </a:extLst>
            </p:cNvPr>
            <p:cNvSpPr>
              <a:spLocks/>
            </p:cNvSpPr>
            <p:nvPr/>
          </p:nvSpPr>
          <p:spPr bwMode="auto">
            <a:xfrm>
              <a:off x="6900509" y="2726308"/>
              <a:ext cx="1827632" cy="2756694"/>
            </a:xfrm>
            <a:custGeom>
              <a:avLst/>
              <a:gdLst>
                <a:gd name="T0" fmla="*/ 798 w 798"/>
                <a:gd name="T1" fmla="*/ 0 h 1134"/>
                <a:gd name="T2" fmla="*/ 589 w 798"/>
                <a:gd name="T3" fmla="*/ 70 h 1134"/>
                <a:gd name="T4" fmla="*/ 466 w 798"/>
                <a:gd name="T5" fmla="*/ 217 h 1134"/>
                <a:gd name="T6" fmla="*/ 418 w 798"/>
                <a:gd name="T7" fmla="*/ 376 h 1134"/>
                <a:gd name="T8" fmla="*/ 385 w 798"/>
                <a:gd name="T9" fmla="*/ 661 h 1134"/>
                <a:gd name="T10" fmla="*/ 310 w 798"/>
                <a:gd name="T11" fmla="*/ 1018 h 1134"/>
                <a:gd name="T12" fmla="*/ 0 w 798"/>
                <a:gd name="T13" fmla="*/ 1134 h 1134"/>
              </a:gdLst>
              <a:ahLst/>
              <a:cxnLst>
                <a:cxn ang="0">
                  <a:pos x="T0" y="T1"/>
                </a:cxn>
                <a:cxn ang="0">
                  <a:pos x="T2" y="T3"/>
                </a:cxn>
                <a:cxn ang="0">
                  <a:pos x="T4" y="T5"/>
                </a:cxn>
                <a:cxn ang="0">
                  <a:pos x="T6" y="T7"/>
                </a:cxn>
                <a:cxn ang="0">
                  <a:pos x="T8" y="T9"/>
                </a:cxn>
                <a:cxn ang="0">
                  <a:pos x="T10" y="T11"/>
                </a:cxn>
                <a:cxn ang="0">
                  <a:pos x="T12" y="T13"/>
                </a:cxn>
              </a:cxnLst>
              <a:rect l="0" t="0" r="r" b="b"/>
              <a:pathLst>
                <a:path w="798" h="1134">
                  <a:moveTo>
                    <a:pt x="798" y="0"/>
                  </a:moveTo>
                  <a:cubicBezTo>
                    <a:pt x="763" y="12"/>
                    <a:pt x="644" y="34"/>
                    <a:pt x="589" y="70"/>
                  </a:cubicBezTo>
                  <a:cubicBezTo>
                    <a:pt x="534" y="106"/>
                    <a:pt x="494" y="166"/>
                    <a:pt x="466" y="217"/>
                  </a:cubicBezTo>
                  <a:cubicBezTo>
                    <a:pt x="438" y="268"/>
                    <a:pt x="431" y="302"/>
                    <a:pt x="418" y="376"/>
                  </a:cubicBezTo>
                  <a:cubicBezTo>
                    <a:pt x="405" y="450"/>
                    <a:pt x="403" y="554"/>
                    <a:pt x="385" y="661"/>
                  </a:cubicBezTo>
                  <a:cubicBezTo>
                    <a:pt x="367" y="768"/>
                    <a:pt x="374" y="939"/>
                    <a:pt x="310" y="1018"/>
                  </a:cubicBezTo>
                  <a:cubicBezTo>
                    <a:pt x="246" y="1097"/>
                    <a:pt x="65" y="1110"/>
                    <a:pt x="0" y="1134"/>
                  </a:cubicBezTo>
                </a:path>
              </a:pathLst>
            </a:custGeom>
            <a:noFill/>
            <a:ln w="38100" cap="flat" cmpd="sng">
              <a:solidFill>
                <a:srgbClr val="CC00CC"/>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06" name="矩形 105">
              <a:extLst>
                <a:ext uri="{FF2B5EF4-FFF2-40B4-BE49-F238E27FC236}">
                  <a16:creationId xmlns:a16="http://schemas.microsoft.com/office/drawing/2014/main" id="{C872A168-2CDB-C3E2-8315-F012A43A2E66}"/>
                </a:ext>
              </a:extLst>
            </p:cNvPr>
            <p:cNvSpPr/>
            <p:nvPr/>
          </p:nvSpPr>
          <p:spPr>
            <a:xfrm rot="20115699">
              <a:off x="7511689" y="2601963"/>
              <a:ext cx="1047981" cy="469585"/>
            </a:xfrm>
            <a:prstGeom prst="rect">
              <a:avLst/>
            </a:prstGeom>
          </p:spPr>
          <p:txBody>
            <a:bodyPr wrap="none">
              <a:spAutoFit/>
            </a:bodyPr>
            <a:lstStyle/>
            <a:p>
              <a:r>
                <a:rPr lang="en-US" altLang="zh-CN" sz="1200" b="1" dirty="0">
                  <a:latin typeface="微软雅黑" pitchFamily="34" charset="-122"/>
                  <a:ea typeface="微软雅黑" pitchFamily="34" charset="-122"/>
                </a:rPr>
                <a:t>ACK </a:t>
              </a:r>
              <a:r>
                <a:rPr lang="en-US" altLang="zh-CN" sz="1200" b="1" baseline="-25000" dirty="0">
                  <a:latin typeface="微软雅黑" pitchFamily="34" charset="-122"/>
                  <a:ea typeface="微软雅黑" pitchFamily="34" charset="-122"/>
                </a:rPr>
                <a:t>1</a:t>
              </a:r>
            </a:p>
          </p:txBody>
        </p:sp>
      </p:grpSp>
      <p:sp>
        <p:nvSpPr>
          <p:cNvPr id="108" name="矩形 107">
            <a:extLst>
              <a:ext uri="{FF2B5EF4-FFF2-40B4-BE49-F238E27FC236}">
                <a16:creationId xmlns:a16="http://schemas.microsoft.com/office/drawing/2014/main" id="{4A8BE60D-5925-0D01-46DD-D47BFA1CFC92}"/>
              </a:ext>
            </a:extLst>
          </p:cNvPr>
          <p:cNvSpPr/>
          <p:nvPr/>
        </p:nvSpPr>
        <p:spPr>
          <a:xfrm>
            <a:off x="7105160" y="2557540"/>
            <a:ext cx="1300919" cy="523220"/>
          </a:xfrm>
          <a:prstGeom prst="rect">
            <a:avLst/>
          </a:prstGeom>
        </p:spPr>
        <p:txBody>
          <a:bodyPr wrap="square">
            <a:spAutoFit/>
          </a:bodyPr>
          <a:lstStyle/>
          <a:p>
            <a:r>
              <a:rPr lang="zh-CN" altLang="en-US" sz="1400" b="1" dirty="0">
                <a:solidFill>
                  <a:srgbClr val="CC00CC"/>
                </a:solidFill>
                <a:latin typeface="微软雅黑" pitchFamily="34" charset="-122"/>
                <a:ea typeface="微软雅黑" pitchFamily="34" charset="-122"/>
              </a:rPr>
              <a:t>重复，丢弃</a:t>
            </a:r>
            <a:endParaRPr lang="en-US" altLang="zh-CN" sz="1400" b="1" dirty="0">
              <a:solidFill>
                <a:srgbClr val="CC00CC"/>
              </a:solidFill>
              <a:latin typeface="微软雅黑" pitchFamily="34" charset="-122"/>
              <a:ea typeface="微软雅黑" pitchFamily="34" charset="-122"/>
            </a:endParaRPr>
          </a:p>
          <a:p>
            <a:r>
              <a:rPr lang="zh-CN" altLang="en-US" sz="1400" b="1" dirty="0">
                <a:solidFill>
                  <a:srgbClr val="CC00CC"/>
                </a:solidFill>
                <a:latin typeface="微软雅黑" pitchFamily="34" charset="-122"/>
                <a:ea typeface="微软雅黑" pitchFamily="34" charset="-122"/>
              </a:rPr>
              <a:t>确认 </a:t>
            </a:r>
            <a:r>
              <a:rPr lang="en-US" altLang="zh-CN" sz="1400" b="1" dirty="0">
                <a:solidFill>
                  <a:srgbClr val="CC00CC"/>
                </a:solidFill>
                <a:latin typeface="微软雅黑" pitchFamily="34" charset="-122"/>
                <a:ea typeface="微软雅黑" pitchFamily="34" charset="-122"/>
              </a:rPr>
              <a:t>M</a:t>
            </a:r>
            <a:r>
              <a:rPr lang="en-US" altLang="zh-CN" sz="1400" b="1" baseline="-25000" dirty="0">
                <a:solidFill>
                  <a:srgbClr val="CC00CC"/>
                </a:solidFill>
                <a:latin typeface="微软雅黑" pitchFamily="34" charset="-122"/>
                <a:ea typeface="微软雅黑" pitchFamily="34" charset="-122"/>
              </a:rPr>
              <a:t>1</a:t>
            </a:r>
            <a:r>
              <a:rPr lang="en-US" altLang="zh-CN" sz="1400" b="1" dirty="0">
                <a:solidFill>
                  <a:srgbClr val="CC00CC"/>
                </a:solidFill>
                <a:latin typeface="微软雅黑" pitchFamily="34" charset="-122"/>
                <a:ea typeface="微软雅黑" pitchFamily="34" charset="-122"/>
              </a:rPr>
              <a:t> </a:t>
            </a:r>
            <a:endParaRPr lang="zh-CN" altLang="en-US" sz="1400" b="1" dirty="0">
              <a:solidFill>
                <a:srgbClr val="CC00CC"/>
              </a:solidFill>
              <a:latin typeface="微软雅黑" pitchFamily="34" charset="-122"/>
              <a:ea typeface="微软雅黑" pitchFamily="34" charset="-122"/>
            </a:endParaRPr>
          </a:p>
        </p:txBody>
      </p:sp>
      <p:sp>
        <p:nvSpPr>
          <p:cNvPr id="107" name="AutoShape 5">
            <a:extLst>
              <a:ext uri="{FF2B5EF4-FFF2-40B4-BE49-F238E27FC236}">
                <a16:creationId xmlns:a16="http://schemas.microsoft.com/office/drawing/2014/main" id="{8AF7D25A-EB13-CABB-8DAD-1E35F47CC86C}"/>
              </a:ext>
            </a:extLst>
          </p:cNvPr>
          <p:cNvSpPr>
            <a:spLocks noChangeArrowheads="1"/>
          </p:cNvSpPr>
          <p:nvPr/>
        </p:nvSpPr>
        <p:spPr bwMode="auto">
          <a:xfrm>
            <a:off x="556963" y="62124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09" name="Rectangle 6">
            <a:extLst>
              <a:ext uri="{FF2B5EF4-FFF2-40B4-BE49-F238E27FC236}">
                <a16:creationId xmlns:a16="http://schemas.microsoft.com/office/drawing/2014/main" id="{812F4A34-32F6-6383-A539-4B79C77650A4}"/>
              </a:ext>
            </a:extLst>
          </p:cNvPr>
          <p:cNvSpPr>
            <a:spLocks noChangeArrowheads="1"/>
          </p:cNvSpPr>
          <p:nvPr/>
        </p:nvSpPr>
        <p:spPr bwMode="auto">
          <a:xfrm>
            <a:off x="3180166" y="588036"/>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确认丢失和确认迟到</a:t>
            </a:r>
          </a:p>
        </p:txBody>
      </p:sp>
      <p:sp>
        <p:nvSpPr>
          <p:cNvPr id="110" name="矩形 109">
            <a:extLst>
              <a:ext uri="{FF2B5EF4-FFF2-40B4-BE49-F238E27FC236}">
                <a16:creationId xmlns:a16="http://schemas.microsoft.com/office/drawing/2014/main" id="{58BCA0CA-5C76-6898-F001-B60A3A5E956F}"/>
              </a:ext>
            </a:extLst>
          </p:cNvPr>
          <p:cNvSpPr/>
          <p:nvPr/>
        </p:nvSpPr>
        <p:spPr>
          <a:xfrm>
            <a:off x="3224851" y="2537641"/>
            <a:ext cx="1306549" cy="523220"/>
          </a:xfrm>
          <a:prstGeom prst="rect">
            <a:avLst/>
          </a:prstGeom>
        </p:spPr>
        <p:txBody>
          <a:bodyPr wrap="square">
            <a:spAutoFit/>
          </a:bodyPr>
          <a:lstStyle/>
          <a:p>
            <a:r>
              <a:rPr lang="zh-CN" altLang="en-US" sz="1400" b="1" dirty="0">
                <a:solidFill>
                  <a:srgbClr val="CC00CC"/>
                </a:solidFill>
                <a:latin typeface="微软雅黑" pitchFamily="34" charset="-122"/>
                <a:ea typeface="微软雅黑" pitchFamily="34" charset="-122"/>
              </a:rPr>
              <a:t>重复，丢弃</a:t>
            </a:r>
            <a:endParaRPr lang="en-US" altLang="zh-CN" sz="1400" b="1" dirty="0">
              <a:solidFill>
                <a:srgbClr val="CC00CC"/>
              </a:solidFill>
              <a:latin typeface="微软雅黑" pitchFamily="34" charset="-122"/>
              <a:ea typeface="微软雅黑" pitchFamily="34" charset="-122"/>
            </a:endParaRPr>
          </a:p>
          <a:p>
            <a:r>
              <a:rPr lang="zh-CN" altLang="en-US" sz="1400" b="1" dirty="0">
                <a:solidFill>
                  <a:srgbClr val="CC00CC"/>
                </a:solidFill>
                <a:latin typeface="微软雅黑" pitchFamily="34" charset="-122"/>
                <a:ea typeface="微软雅黑" pitchFamily="34" charset="-122"/>
              </a:rPr>
              <a:t>确认 </a:t>
            </a:r>
            <a:r>
              <a:rPr lang="en-US" altLang="zh-CN" sz="1400" b="1" dirty="0">
                <a:solidFill>
                  <a:srgbClr val="CC00CC"/>
                </a:solidFill>
                <a:latin typeface="微软雅黑" pitchFamily="34" charset="-122"/>
                <a:ea typeface="微软雅黑" pitchFamily="34" charset="-122"/>
              </a:rPr>
              <a:t>M</a:t>
            </a:r>
            <a:r>
              <a:rPr lang="en-US" altLang="zh-CN" sz="1400" b="1" baseline="-25000" dirty="0">
                <a:solidFill>
                  <a:srgbClr val="CC00CC"/>
                </a:solidFill>
                <a:latin typeface="微软雅黑" pitchFamily="34" charset="-122"/>
                <a:ea typeface="微软雅黑" pitchFamily="34" charset="-122"/>
              </a:rPr>
              <a:t>1</a:t>
            </a:r>
            <a:r>
              <a:rPr lang="en-US" altLang="zh-CN" sz="1400" b="1" dirty="0">
                <a:solidFill>
                  <a:srgbClr val="CC00CC"/>
                </a:solidFill>
                <a:latin typeface="微软雅黑" pitchFamily="34" charset="-122"/>
                <a:ea typeface="微软雅黑" pitchFamily="34" charset="-122"/>
              </a:rPr>
              <a:t> </a:t>
            </a:r>
            <a:endParaRPr lang="zh-CN" altLang="en-US" sz="1400" b="1" dirty="0">
              <a:solidFill>
                <a:srgbClr val="CC00CC"/>
              </a:solidFill>
              <a:latin typeface="微软雅黑" pitchFamily="34" charset="-122"/>
              <a:ea typeface="微软雅黑" pitchFamily="34" charset="-122"/>
            </a:endParaRPr>
          </a:p>
        </p:txBody>
      </p:sp>
      <p:sp>
        <p:nvSpPr>
          <p:cNvPr id="111" name="TextBox 86">
            <a:extLst>
              <a:ext uri="{FF2B5EF4-FFF2-40B4-BE49-F238E27FC236}">
                <a16:creationId xmlns:a16="http://schemas.microsoft.com/office/drawing/2014/main" id="{56EA527E-34DC-9D19-FBBC-7746A8044EE6}"/>
              </a:ext>
            </a:extLst>
          </p:cNvPr>
          <p:cNvSpPr txBox="1"/>
          <p:nvPr/>
        </p:nvSpPr>
        <p:spPr>
          <a:xfrm>
            <a:off x="3224250" y="1798868"/>
            <a:ext cx="854721" cy="307777"/>
          </a:xfrm>
          <a:prstGeom prst="rect">
            <a:avLst/>
          </a:prstGeom>
          <a:noFill/>
        </p:spPr>
        <p:txBody>
          <a:bodyPr wrap="none" rtlCol="0">
            <a:spAutoFit/>
          </a:bodyPr>
          <a:lstStyle/>
          <a:p>
            <a:pPr defTabSz="762000" eaLnBrk="0" hangingPunct="0"/>
            <a:r>
              <a:rPr lang="zh-CN" altLang="en-US" sz="1400" b="1" dirty="0">
                <a:solidFill>
                  <a:srgbClr val="0000FF"/>
                </a:solidFill>
                <a:latin typeface="微软雅黑" pitchFamily="34" charset="-122"/>
                <a:ea typeface="微软雅黑" pitchFamily="34" charset="-122"/>
              </a:rPr>
              <a:t>确认 </a:t>
            </a:r>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sp>
        <p:nvSpPr>
          <p:cNvPr id="112" name="TextBox 86">
            <a:extLst>
              <a:ext uri="{FF2B5EF4-FFF2-40B4-BE49-F238E27FC236}">
                <a16:creationId xmlns:a16="http://schemas.microsoft.com/office/drawing/2014/main" id="{38ACCCE1-C882-6CE7-EB4E-A158B187FC21}"/>
              </a:ext>
            </a:extLst>
          </p:cNvPr>
          <p:cNvSpPr txBox="1"/>
          <p:nvPr/>
        </p:nvSpPr>
        <p:spPr>
          <a:xfrm>
            <a:off x="7107679" y="1769991"/>
            <a:ext cx="854721" cy="307777"/>
          </a:xfrm>
          <a:prstGeom prst="rect">
            <a:avLst/>
          </a:prstGeom>
          <a:noFill/>
        </p:spPr>
        <p:txBody>
          <a:bodyPr wrap="none" rtlCol="0">
            <a:spAutoFit/>
          </a:bodyPr>
          <a:lstStyle/>
          <a:p>
            <a:pPr defTabSz="762000" eaLnBrk="0" hangingPunct="0"/>
            <a:r>
              <a:rPr lang="zh-CN" altLang="en-US" sz="1400" b="1" dirty="0">
                <a:solidFill>
                  <a:srgbClr val="0000FF"/>
                </a:solidFill>
                <a:latin typeface="微软雅黑" pitchFamily="34" charset="-122"/>
                <a:ea typeface="微软雅黑" pitchFamily="34" charset="-122"/>
              </a:rPr>
              <a:t>确认 </a:t>
            </a:r>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sp>
        <p:nvSpPr>
          <p:cNvPr id="113" name="矩形 112">
            <a:extLst>
              <a:ext uri="{FF2B5EF4-FFF2-40B4-BE49-F238E27FC236}">
                <a16:creationId xmlns:a16="http://schemas.microsoft.com/office/drawing/2014/main" id="{F35CD3E0-A85D-BE1A-E757-750FE816D3C6}"/>
              </a:ext>
            </a:extLst>
          </p:cNvPr>
          <p:cNvSpPr/>
          <p:nvPr/>
        </p:nvSpPr>
        <p:spPr>
          <a:xfrm>
            <a:off x="4907674" y="3054072"/>
            <a:ext cx="1125221" cy="307777"/>
          </a:xfrm>
          <a:prstGeom prst="rect">
            <a:avLst/>
          </a:prstGeom>
        </p:spPr>
        <p:txBody>
          <a:bodyPr wrap="square">
            <a:spAutoFit/>
          </a:bodyPr>
          <a:lstStyle/>
          <a:p>
            <a:pPr algn="r"/>
            <a:r>
              <a:rPr lang="zh-CN" altLang="en-US" sz="1400" b="1" dirty="0">
                <a:solidFill>
                  <a:srgbClr val="CC00CC"/>
                </a:solidFill>
                <a:latin typeface="微软雅黑" pitchFamily="34" charset="-122"/>
                <a:ea typeface="微软雅黑" pitchFamily="34" charset="-122"/>
              </a:rPr>
              <a:t>发送下一个</a:t>
            </a:r>
            <a:endParaRPr lang="zh-CN" altLang="en-US" sz="1400" dirty="0">
              <a:solidFill>
                <a:srgbClr val="CC00CC"/>
              </a:solidFill>
              <a:latin typeface="微软雅黑" pitchFamily="34" charset="-122"/>
              <a:ea typeface="微软雅黑" pitchFamily="34" charset="-122"/>
            </a:endParaRPr>
          </a:p>
        </p:txBody>
      </p:sp>
    </p:spTree>
    <p:extLst>
      <p:ext uri="{BB962C8B-B14F-4D97-AF65-F5344CB8AC3E}">
        <p14:creationId xmlns:p14="http://schemas.microsoft.com/office/powerpoint/2010/main" val="1091785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left)">
                                      <p:cBhvr>
                                        <p:cTn id="7" dur="2000"/>
                                        <p:tgtEl>
                                          <p:spTgt spid="58"/>
                                        </p:tgtEl>
                                      </p:cBhvr>
                                    </p:animEffect>
                                  </p:childTnLst>
                                </p:cTn>
                              </p:par>
                            </p:childTnLst>
                          </p:cTn>
                        </p:par>
                        <p:par>
                          <p:cTn id="8" fill="hold">
                            <p:stCondLst>
                              <p:cond delay="2000"/>
                            </p:stCondLst>
                            <p:childTnLst>
                              <p:par>
                                <p:cTn id="9" presetID="1" presetClass="entr" presetSubtype="0" fill="hold" grpId="0" nodeType="afterEffect">
                                  <p:stCondLst>
                                    <p:cond delay="0"/>
                                  </p:stCondLst>
                                  <p:childTnLst>
                                    <p:set>
                                      <p:cBhvr>
                                        <p:cTn id="10" dur="1" fill="hold">
                                          <p:stCondLst>
                                            <p:cond delay="999"/>
                                          </p:stCondLst>
                                        </p:cTn>
                                        <p:tgtEl>
                                          <p:spTgt spid="111"/>
                                        </p:tgtEl>
                                        <p:attrNameLst>
                                          <p:attrName>style.visibility</p:attrName>
                                        </p:attrNameLst>
                                      </p:cBhvr>
                                      <p:to>
                                        <p:strVal val="visible"/>
                                      </p:to>
                                    </p:set>
                                  </p:childTnLst>
                                </p:cTn>
                              </p:par>
                            </p:childTnLst>
                          </p:cTn>
                        </p:par>
                        <p:par>
                          <p:cTn id="11" fill="hold">
                            <p:stCondLst>
                              <p:cond delay="3000"/>
                            </p:stCondLst>
                            <p:childTnLst>
                              <p:par>
                                <p:cTn id="12" presetID="35" presetClass="emph" presetSubtype="0" repeatCount="3000" fill="hold" grpId="1" nodeType="afterEffect">
                                  <p:stCondLst>
                                    <p:cond delay="0"/>
                                  </p:stCondLst>
                                  <p:childTnLst>
                                    <p:anim calcmode="discrete" valueType="str">
                                      <p:cBhvr>
                                        <p:cTn id="13" dur="500" fill="hold"/>
                                        <p:tgtEl>
                                          <p:spTgt spid="111"/>
                                        </p:tgtEl>
                                        <p:attrNameLst>
                                          <p:attrName>style.visibility</p:attrName>
                                        </p:attrNameLst>
                                      </p:cBhvr>
                                      <p:tavLst>
                                        <p:tav tm="0">
                                          <p:val>
                                            <p:strVal val="hidden"/>
                                          </p:val>
                                        </p:tav>
                                        <p:tav tm="50000">
                                          <p:val>
                                            <p:strVal val="visible"/>
                                          </p:val>
                                        </p:tav>
                                      </p:tavLst>
                                    </p:anim>
                                  </p:childTnLst>
                                </p:cTn>
                              </p:par>
                            </p:childTnLst>
                          </p:cTn>
                        </p:par>
                        <p:par>
                          <p:cTn id="14" fill="hold">
                            <p:stCondLst>
                              <p:cond delay="4500"/>
                            </p:stCondLst>
                            <p:childTnLst>
                              <p:par>
                                <p:cTn id="15" presetID="22" presetClass="entr" presetSubtype="2" fill="hold" nodeType="afterEffect">
                                  <p:stCondLst>
                                    <p:cond delay="1000"/>
                                  </p:stCondLst>
                                  <p:childTnLst>
                                    <p:set>
                                      <p:cBhvr>
                                        <p:cTn id="16" dur="1" fill="hold">
                                          <p:stCondLst>
                                            <p:cond delay="0"/>
                                          </p:stCondLst>
                                        </p:cTn>
                                        <p:tgtEl>
                                          <p:spTgt spid="74"/>
                                        </p:tgtEl>
                                        <p:attrNameLst>
                                          <p:attrName>style.visibility</p:attrName>
                                        </p:attrNameLst>
                                      </p:cBhvr>
                                      <p:to>
                                        <p:strVal val="visible"/>
                                      </p:to>
                                    </p:set>
                                    <p:animEffect transition="in" filter="wipe(right)">
                                      <p:cBhvr>
                                        <p:cTn id="17" dur="2000"/>
                                        <p:tgtEl>
                                          <p:spTgt spid="74"/>
                                        </p:tgtEl>
                                      </p:cBhvr>
                                    </p:animEffect>
                                  </p:childTnLst>
                                </p:cTn>
                              </p:par>
                            </p:childTnLst>
                          </p:cTn>
                        </p:par>
                        <p:par>
                          <p:cTn id="18" fill="hold">
                            <p:stCondLst>
                              <p:cond delay="7500"/>
                            </p:stCondLst>
                            <p:childTnLst>
                              <p:par>
                                <p:cTn id="19" presetID="1" presetClass="entr" presetSubtype="0" fill="hold" grpId="0" nodeType="afterEffect">
                                  <p:stCondLst>
                                    <p:cond delay="0"/>
                                  </p:stCondLst>
                                  <p:childTnLst>
                                    <p:set>
                                      <p:cBhvr>
                                        <p:cTn id="20" dur="1" fill="hold">
                                          <p:stCondLst>
                                            <p:cond delay="0"/>
                                          </p:stCondLst>
                                        </p:cTn>
                                        <p:tgtEl>
                                          <p:spTgt spid="77"/>
                                        </p:tgtEl>
                                        <p:attrNameLst>
                                          <p:attrName>style.visibility</p:attrName>
                                        </p:attrNameLst>
                                      </p:cBhvr>
                                      <p:to>
                                        <p:strVal val="visible"/>
                                      </p:to>
                                    </p:set>
                                  </p:childTnLst>
                                </p:cTn>
                              </p:par>
                            </p:childTnLst>
                          </p:cTn>
                        </p:par>
                        <p:par>
                          <p:cTn id="21" fill="hold">
                            <p:stCondLst>
                              <p:cond delay="7500"/>
                            </p:stCondLst>
                            <p:childTnLst>
                              <p:par>
                                <p:cTn id="22" presetID="35" presetClass="emph" presetSubtype="0" repeatCount="3000" fill="hold" grpId="1" nodeType="afterEffect">
                                  <p:stCondLst>
                                    <p:cond delay="0"/>
                                  </p:stCondLst>
                                  <p:childTnLst>
                                    <p:anim calcmode="discrete" valueType="str">
                                      <p:cBhvr>
                                        <p:cTn id="23" dur="500" fill="hold"/>
                                        <p:tgtEl>
                                          <p:spTgt spid="77"/>
                                        </p:tgtEl>
                                        <p:attrNameLst>
                                          <p:attrName>style.visibility</p:attrName>
                                        </p:attrNameLst>
                                      </p:cBhvr>
                                      <p:tavLst>
                                        <p:tav tm="0">
                                          <p:val>
                                            <p:strVal val="hidden"/>
                                          </p:val>
                                        </p:tav>
                                        <p:tav tm="50000">
                                          <p:val>
                                            <p:strVal val="visible"/>
                                          </p:val>
                                        </p:tav>
                                      </p:tavLst>
                                    </p:anim>
                                  </p:childTnLst>
                                </p:cTn>
                              </p:par>
                            </p:childTnLst>
                          </p:cTn>
                        </p:par>
                        <p:par>
                          <p:cTn id="24" fill="hold">
                            <p:stCondLst>
                              <p:cond delay="9000"/>
                            </p:stCondLst>
                            <p:childTnLst>
                              <p:par>
                                <p:cTn id="25" presetID="1" presetClass="entr" presetSubtype="0" fill="hold" nodeType="afterEffect">
                                  <p:stCondLst>
                                    <p:cond delay="1000"/>
                                  </p:stCondLst>
                                  <p:childTnLst>
                                    <p:set>
                                      <p:cBhvr>
                                        <p:cTn id="26" dur="1" fill="hold">
                                          <p:stCondLst>
                                            <p:cond delay="9"/>
                                          </p:stCondLst>
                                        </p:cTn>
                                        <p:tgtEl>
                                          <p:spTgt spid="71"/>
                                        </p:tgtEl>
                                        <p:attrNameLst>
                                          <p:attrName>style.visibility</p:attrName>
                                        </p:attrNameLst>
                                      </p:cBhvr>
                                      <p:to>
                                        <p:strVal val="visible"/>
                                      </p:to>
                                    </p:set>
                                  </p:childTnLst>
                                </p:cTn>
                              </p:par>
                            </p:childTnLst>
                          </p:cTn>
                        </p:par>
                        <p:par>
                          <p:cTn id="27" fill="hold">
                            <p:stCondLst>
                              <p:cond delay="10010"/>
                            </p:stCondLst>
                            <p:childTnLst>
                              <p:par>
                                <p:cTn id="28" presetID="35" presetClass="emph" presetSubtype="0" repeatCount="3000" fill="hold" nodeType="afterEffect">
                                  <p:stCondLst>
                                    <p:cond delay="0"/>
                                  </p:stCondLst>
                                  <p:childTnLst>
                                    <p:anim calcmode="discrete" valueType="str">
                                      <p:cBhvr>
                                        <p:cTn id="29" dur="500" fill="hold"/>
                                        <p:tgtEl>
                                          <p:spTgt spid="71"/>
                                        </p:tgtEl>
                                        <p:attrNameLst>
                                          <p:attrName>style.visibility</p:attrName>
                                        </p:attrNameLst>
                                      </p:cBhvr>
                                      <p:tavLst>
                                        <p:tav tm="0">
                                          <p:val>
                                            <p:strVal val="hidden"/>
                                          </p:val>
                                        </p:tav>
                                        <p:tav tm="50000">
                                          <p:val>
                                            <p:strVal val="visible"/>
                                          </p:val>
                                        </p:tav>
                                      </p:tavLst>
                                    </p:anim>
                                  </p:childTnLst>
                                </p:cTn>
                              </p:par>
                            </p:childTnLst>
                          </p:cTn>
                        </p:par>
                        <p:par>
                          <p:cTn id="30" fill="hold">
                            <p:stCondLst>
                              <p:cond delay="11510"/>
                            </p:stCondLst>
                            <p:childTnLst>
                              <p:par>
                                <p:cTn id="31" presetID="1" presetClass="entr" presetSubtype="0" fill="hold" grpId="0" nodeType="afterEffect">
                                  <p:stCondLst>
                                    <p:cond delay="0"/>
                                  </p:stCondLst>
                                  <p:childTnLst>
                                    <p:set>
                                      <p:cBhvr>
                                        <p:cTn id="32" dur="1" fill="hold">
                                          <p:stCondLst>
                                            <p:cond delay="0"/>
                                          </p:stCondLst>
                                        </p:cTn>
                                        <p:tgtEl>
                                          <p:spTgt spid="70"/>
                                        </p:tgtEl>
                                        <p:attrNameLst>
                                          <p:attrName>style.visibility</p:attrName>
                                        </p:attrNameLst>
                                      </p:cBhvr>
                                      <p:to>
                                        <p:strVal val="visible"/>
                                      </p:to>
                                    </p:set>
                                  </p:childTnLst>
                                </p:cTn>
                              </p:par>
                            </p:childTnLst>
                          </p:cTn>
                        </p:par>
                        <p:par>
                          <p:cTn id="33" fill="hold">
                            <p:stCondLst>
                              <p:cond delay="11510"/>
                            </p:stCondLst>
                            <p:childTnLst>
                              <p:par>
                                <p:cTn id="34" presetID="35" presetClass="emph" presetSubtype="0" repeatCount="3000" fill="hold" grpId="1" nodeType="afterEffect">
                                  <p:stCondLst>
                                    <p:cond delay="0"/>
                                  </p:stCondLst>
                                  <p:childTnLst>
                                    <p:anim calcmode="discrete" valueType="str">
                                      <p:cBhvr>
                                        <p:cTn id="35" dur="500" fill="hold"/>
                                        <p:tgtEl>
                                          <p:spTgt spid="70"/>
                                        </p:tgtEl>
                                        <p:attrNameLst>
                                          <p:attrName>style.visibility</p:attrName>
                                        </p:attrNameLst>
                                      </p:cBhvr>
                                      <p:tavLst>
                                        <p:tav tm="0">
                                          <p:val>
                                            <p:strVal val="hidden"/>
                                          </p:val>
                                        </p:tav>
                                        <p:tav tm="50000">
                                          <p:val>
                                            <p:strVal val="visible"/>
                                          </p:val>
                                        </p:tav>
                                      </p:tavLst>
                                    </p:anim>
                                  </p:childTnLst>
                                </p:cTn>
                              </p:par>
                            </p:childTnLst>
                          </p:cTn>
                        </p:par>
                        <p:par>
                          <p:cTn id="36" fill="hold">
                            <p:stCondLst>
                              <p:cond delay="13010"/>
                            </p:stCondLst>
                            <p:childTnLst>
                              <p:par>
                                <p:cTn id="37" presetID="22" presetClass="entr" presetSubtype="8" fill="hold" nodeType="afterEffect">
                                  <p:stCondLst>
                                    <p:cond delay="1000"/>
                                  </p:stCondLst>
                                  <p:childTnLst>
                                    <p:set>
                                      <p:cBhvr>
                                        <p:cTn id="38" dur="1" fill="hold">
                                          <p:stCondLst>
                                            <p:cond delay="0"/>
                                          </p:stCondLst>
                                        </p:cTn>
                                        <p:tgtEl>
                                          <p:spTgt spid="62"/>
                                        </p:tgtEl>
                                        <p:attrNameLst>
                                          <p:attrName>style.visibility</p:attrName>
                                        </p:attrNameLst>
                                      </p:cBhvr>
                                      <p:to>
                                        <p:strVal val="visible"/>
                                      </p:to>
                                    </p:set>
                                    <p:animEffect transition="in" filter="wipe(left)">
                                      <p:cBhvr>
                                        <p:cTn id="39" dur="2000"/>
                                        <p:tgtEl>
                                          <p:spTgt spid="62"/>
                                        </p:tgtEl>
                                      </p:cBhvr>
                                    </p:animEffect>
                                  </p:childTnLst>
                                </p:cTn>
                              </p:par>
                            </p:childTnLst>
                          </p:cTn>
                        </p:par>
                        <p:par>
                          <p:cTn id="40" fill="hold">
                            <p:stCondLst>
                              <p:cond delay="16010"/>
                            </p:stCondLst>
                            <p:childTnLst>
                              <p:par>
                                <p:cTn id="41" presetID="22" presetClass="entr" presetSubtype="8" fill="hold" grpId="0" nodeType="afterEffect">
                                  <p:stCondLst>
                                    <p:cond delay="0"/>
                                  </p:stCondLst>
                                  <p:childTnLst>
                                    <p:set>
                                      <p:cBhvr>
                                        <p:cTn id="42" dur="1" fill="hold">
                                          <p:stCondLst>
                                            <p:cond delay="0"/>
                                          </p:stCondLst>
                                        </p:cTn>
                                        <p:tgtEl>
                                          <p:spTgt spid="110"/>
                                        </p:tgtEl>
                                        <p:attrNameLst>
                                          <p:attrName>style.visibility</p:attrName>
                                        </p:attrNameLst>
                                      </p:cBhvr>
                                      <p:to>
                                        <p:strVal val="visible"/>
                                      </p:to>
                                    </p:set>
                                    <p:animEffect transition="in" filter="wipe(left)">
                                      <p:cBhvr>
                                        <p:cTn id="43" dur="2000"/>
                                        <p:tgtEl>
                                          <p:spTgt spid="110"/>
                                        </p:tgtEl>
                                      </p:cBhvr>
                                    </p:animEffect>
                                  </p:childTnLst>
                                </p:cTn>
                              </p:par>
                            </p:childTnLst>
                          </p:cTn>
                        </p:par>
                        <p:par>
                          <p:cTn id="44" fill="hold">
                            <p:stCondLst>
                              <p:cond delay="18010"/>
                            </p:stCondLst>
                            <p:childTnLst>
                              <p:par>
                                <p:cTn id="45" presetID="22" presetClass="entr" presetSubtype="2" fill="hold" nodeType="afterEffect">
                                  <p:stCondLst>
                                    <p:cond delay="500"/>
                                  </p:stCondLst>
                                  <p:childTnLst>
                                    <p:set>
                                      <p:cBhvr>
                                        <p:cTn id="46" dur="1" fill="hold">
                                          <p:stCondLst>
                                            <p:cond delay="0"/>
                                          </p:stCondLst>
                                        </p:cTn>
                                        <p:tgtEl>
                                          <p:spTgt spid="67"/>
                                        </p:tgtEl>
                                        <p:attrNameLst>
                                          <p:attrName>style.visibility</p:attrName>
                                        </p:attrNameLst>
                                      </p:cBhvr>
                                      <p:to>
                                        <p:strVal val="visible"/>
                                      </p:to>
                                    </p:set>
                                    <p:animEffect transition="in" filter="wipe(right)">
                                      <p:cBhvr>
                                        <p:cTn id="47" dur="2000"/>
                                        <p:tgtEl>
                                          <p:spTgt spid="6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83"/>
                                        </p:tgtEl>
                                        <p:attrNameLst>
                                          <p:attrName>style.visibility</p:attrName>
                                        </p:attrNameLst>
                                      </p:cBhvr>
                                      <p:to>
                                        <p:strVal val="visible"/>
                                      </p:to>
                                    </p:set>
                                    <p:animEffect transition="in" filter="wipe(left)">
                                      <p:cBhvr>
                                        <p:cTn id="52" dur="3000"/>
                                        <p:tgtEl>
                                          <p:spTgt spid="83"/>
                                        </p:tgtEl>
                                      </p:cBhvr>
                                    </p:animEffect>
                                  </p:childTnLst>
                                </p:cTn>
                              </p:par>
                            </p:childTnLst>
                          </p:cTn>
                        </p:par>
                        <p:par>
                          <p:cTn id="53" fill="hold">
                            <p:stCondLst>
                              <p:cond delay="3000"/>
                            </p:stCondLst>
                            <p:childTnLst>
                              <p:par>
                                <p:cTn id="54" presetID="1" presetClass="entr" presetSubtype="0" fill="hold" grpId="0" nodeType="afterEffect">
                                  <p:stCondLst>
                                    <p:cond delay="0"/>
                                  </p:stCondLst>
                                  <p:childTnLst>
                                    <p:set>
                                      <p:cBhvr>
                                        <p:cTn id="55" dur="1" fill="hold">
                                          <p:stCondLst>
                                            <p:cond delay="999"/>
                                          </p:stCondLst>
                                        </p:cTn>
                                        <p:tgtEl>
                                          <p:spTgt spid="112"/>
                                        </p:tgtEl>
                                        <p:attrNameLst>
                                          <p:attrName>style.visibility</p:attrName>
                                        </p:attrNameLst>
                                      </p:cBhvr>
                                      <p:to>
                                        <p:strVal val="visible"/>
                                      </p:to>
                                    </p:set>
                                  </p:childTnLst>
                                </p:cTn>
                              </p:par>
                              <p:par>
                                <p:cTn id="56" presetID="35" presetClass="emph" presetSubtype="0" repeatCount="3000" fill="hold" grpId="1" nodeType="withEffect">
                                  <p:stCondLst>
                                    <p:cond delay="0"/>
                                  </p:stCondLst>
                                  <p:childTnLst>
                                    <p:anim calcmode="discrete" valueType="str">
                                      <p:cBhvr>
                                        <p:cTn id="57" dur="500" fill="hold"/>
                                        <p:tgtEl>
                                          <p:spTgt spid="112"/>
                                        </p:tgtEl>
                                        <p:attrNameLst>
                                          <p:attrName>style.visibility</p:attrName>
                                        </p:attrNameLst>
                                      </p:cBhvr>
                                      <p:tavLst>
                                        <p:tav tm="0">
                                          <p:val>
                                            <p:strVal val="hidden"/>
                                          </p:val>
                                        </p:tav>
                                        <p:tav tm="50000">
                                          <p:val>
                                            <p:strVal val="visible"/>
                                          </p:val>
                                        </p:tav>
                                      </p:tavLst>
                                    </p:anim>
                                  </p:childTnLst>
                                </p:cTn>
                              </p:par>
                            </p:childTnLst>
                          </p:cTn>
                        </p:par>
                        <p:par>
                          <p:cTn id="58" fill="hold">
                            <p:stCondLst>
                              <p:cond delay="4500"/>
                            </p:stCondLst>
                            <p:childTnLst>
                              <p:par>
                                <p:cTn id="59" presetID="22" presetClass="entr" presetSubtype="1" fill="hold" nodeType="afterEffect">
                                  <p:stCondLst>
                                    <p:cond delay="0"/>
                                  </p:stCondLst>
                                  <p:childTnLst>
                                    <p:set>
                                      <p:cBhvr>
                                        <p:cTn id="60" dur="1" fill="hold">
                                          <p:stCondLst>
                                            <p:cond delay="0"/>
                                          </p:stCondLst>
                                        </p:cTn>
                                        <p:tgtEl>
                                          <p:spTgt spid="104"/>
                                        </p:tgtEl>
                                        <p:attrNameLst>
                                          <p:attrName>style.visibility</p:attrName>
                                        </p:attrNameLst>
                                      </p:cBhvr>
                                      <p:to>
                                        <p:strVal val="visible"/>
                                      </p:to>
                                    </p:set>
                                    <p:animEffect transition="in" filter="wipe(up)">
                                      <p:cBhvr>
                                        <p:cTn id="61" dur="23000"/>
                                        <p:tgtEl>
                                          <p:spTgt spid="104"/>
                                        </p:tgtEl>
                                      </p:cBhvr>
                                    </p:animEffect>
                                  </p:childTnLst>
                                </p:cTn>
                              </p:par>
                              <p:par>
                                <p:cTn id="62" presetID="1" presetClass="entr" presetSubtype="0" fill="hold" nodeType="withEffect">
                                  <p:stCondLst>
                                    <p:cond delay="2000"/>
                                  </p:stCondLst>
                                  <p:childTnLst>
                                    <p:set>
                                      <p:cBhvr>
                                        <p:cTn id="63" dur="1" fill="hold">
                                          <p:stCondLst>
                                            <p:cond delay="0"/>
                                          </p:stCondLst>
                                        </p:cTn>
                                        <p:tgtEl>
                                          <p:spTgt spid="96"/>
                                        </p:tgtEl>
                                        <p:attrNameLst>
                                          <p:attrName>style.visibility</p:attrName>
                                        </p:attrNameLst>
                                      </p:cBhvr>
                                      <p:to>
                                        <p:strVal val="visible"/>
                                      </p:to>
                                    </p:set>
                                  </p:childTnLst>
                                </p:cTn>
                              </p:par>
                              <p:par>
                                <p:cTn id="64" presetID="35" presetClass="emph" presetSubtype="0" repeatCount="3000" fill="hold" nodeType="withEffect">
                                  <p:stCondLst>
                                    <p:cond delay="2000"/>
                                  </p:stCondLst>
                                  <p:childTnLst>
                                    <p:anim calcmode="discrete" valueType="str">
                                      <p:cBhvr>
                                        <p:cTn id="65" dur="500" fill="hold"/>
                                        <p:tgtEl>
                                          <p:spTgt spid="96"/>
                                        </p:tgtEl>
                                        <p:attrNameLst>
                                          <p:attrName>style.visibility</p:attrName>
                                        </p:attrNameLst>
                                      </p:cBhvr>
                                      <p:tavLst>
                                        <p:tav tm="0">
                                          <p:val>
                                            <p:strVal val="hidden"/>
                                          </p:val>
                                        </p:tav>
                                        <p:tav tm="50000">
                                          <p:val>
                                            <p:strVal val="visible"/>
                                          </p:val>
                                        </p:tav>
                                      </p:tavLst>
                                    </p:anim>
                                  </p:childTnLst>
                                </p:cTn>
                              </p:par>
                              <p:par>
                                <p:cTn id="66" presetID="1" presetClass="entr" presetSubtype="0" fill="hold" grpId="0" nodeType="withEffect">
                                  <p:stCondLst>
                                    <p:cond delay="4000"/>
                                  </p:stCondLst>
                                  <p:childTnLst>
                                    <p:set>
                                      <p:cBhvr>
                                        <p:cTn id="67" dur="1" fill="hold">
                                          <p:stCondLst>
                                            <p:cond delay="0"/>
                                          </p:stCondLst>
                                        </p:cTn>
                                        <p:tgtEl>
                                          <p:spTgt spid="95"/>
                                        </p:tgtEl>
                                        <p:attrNameLst>
                                          <p:attrName>style.visibility</p:attrName>
                                        </p:attrNameLst>
                                      </p:cBhvr>
                                      <p:to>
                                        <p:strVal val="visible"/>
                                      </p:to>
                                    </p:set>
                                  </p:childTnLst>
                                </p:cTn>
                              </p:par>
                              <p:par>
                                <p:cTn id="68" presetID="35" presetClass="emph" presetSubtype="0" repeatCount="3000" fill="hold" grpId="1" nodeType="withEffect">
                                  <p:stCondLst>
                                    <p:cond delay="4000"/>
                                  </p:stCondLst>
                                  <p:childTnLst>
                                    <p:anim calcmode="discrete" valueType="str">
                                      <p:cBhvr>
                                        <p:cTn id="69" dur="500" fill="hold"/>
                                        <p:tgtEl>
                                          <p:spTgt spid="95"/>
                                        </p:tgtEl>
                                        <p:attrNameLst>
                                          <p:attrName>style.visibility</p:attrName>
                                        </p:attrNameLst>
                                      </p:cBhvr>
                                      <p:tavLst>
                                        <p:tav tm="0">
                                          <p:val>
                                            <p:strVal val="hidden"/>
                                          </p:val>
                                        </p:tav>
                                        <p:tav tm="50000">
                                          <p:val>
                                            <p:strVal val="visible"/>
                                          </p:val>
                                        </p:tav>
                                      </p:tavLst>
                                    </p:anim>
                                  </p:childTnLst>
                                </p:cTn>
                              </p:par>
                              <p:par>
                                <p:cTn id="70" presetID="22" presetClass="entr" presetSubtype="8" fill="hold" nodeType="withEffect">
                                  <p:stCondLst>
                                    <p:cond delay="6000"/>
                                  </p:stCondLst>
                                  <p:childTnLst>
                                    <p:set>
                                      <p:cBhvr>
                                        <p:cTn id="71" dur="1" fill="hold">
                                          <p:stCondLst>
                                            <p:cond delay="0"/>
                                          </p:stCondLst>
                                        </p:cTn>
                                        <p:tgtEl>
                                          <p:spTgt spid="87"/>
                                        </p:tgtEl>
                                        <p:attrNameLst>
                                          <p:attrName>style.visibility</p:attrName>
                                        </p:attrNameLst>
                                      </p:cBhvr>
                                      <p:to>
                                        <p:strVal val="visible"/>
                                      </p:to>
                                    </p:set>
                                    <p:animEffect transition="in" filter="wipe(left)">
                                      <p:cBhvr>
                                        <p:cTn id="72" dur="2000"/>
                                        <p:tgtEl>
                                          <p:spTgt spid="87"/>
                                        </p:tgtEl>
                                      </p:cBhvr>
                                    </p:animEffect>
                                  </p:childTnLst>
                                </p:cTn>
                              </p:par>
                              <p:par>
                                <p:cTn id="73" presetID="22" presetClass="entr" presetSubtype="8" fill="hold" grpId="0" nodeType="withEffect">
                                  <p:stCondLst>
                                    <p:cond delay="9000"/>
                                  </p:stCondLst>
                                  <p:childTnLst>
                                    <p:set>
                                      <p:cBhvr>
                                        <p:cTn id="74" dur="1" fill="hold">
                                          <p:stCondLst>
                                            <p:cond delay="0"/>
                                          </p:stCondLst>
                                        </p:cTn>
                                        <p:tgtEl>
                                          <p:spTgt spid="108"/>
                                        </p:tgtEl>
                                        <p:attrNameLst>
                                          <p:attrName>style.visibility</p:attrName>
                                        </p:attrNameLst>
                                      </p:cBhvr>
                                      <p:to>
                                        <p:strVal val="visible"/>
                                      </p:to>
                                    </p:set>
                                    <p:animEffect transition="in" filter="wipe(left)">
                                      <p:cBhvr>
                                        <p:cTn id="75" dur="2000"/>
                                        <p:tgtEl>
                                          <p:spTgt spid="108"/>
                                        </p:tgtEl>
                                      </p:cBhvr>
                                    </p:animEffect>
                                  </p:childTnLst>
                                </p:cTn>
                              </p:par>
                              <p:par>
                                <p:cTn id="76" presetID="22" presetClass="entr" presetSubtype="2" fill="hold" nodeType="withEffect">
                                  <p:stCondLst>
                                    <p:cond delay="12000"/>
                                  </p:stCondLst>
                                  <p:childTnLst>
                                    <p:set>
                                      <p:cBhvr>
                                        <p:cTn id="77" dur="1" fill="hold">
                                          <p:stCondLst>
                                            <p:cond delay="0"/>
                                          </p:stCondLst>
                                        </p:cTn>
                                        <p:tgtEl>
                                          <p:spTgt spid="92"/>
                                        </p:tgtEl>
                                        <p:attrNameLst>
                                          <p:attrName>style.visibility</p:attrName>
                                        </p:attrNameLst>
                                      </p:cBhvr>
                                      <p:to>
                                        <p:strVal val="visible"/>
                                      </p:to>
                                    </p:set>
                                    <p:animEffect transition="in" filter="wipe(right)">
                                      <p:cBhvr>
                                        <p:cTn id="78" dur="2000"/>
                                        <p:tgtEl>
                                          <p:spTgt spid="92"/>
                                        </p:tgtEl>
                                      </p:cBhvr>
                                    </p:animEffect>
                                  </p:childTnLst>
                                </p:cTn>
                              </p:par>
                              <p:par>
                                <p:cTn id="79" presetID="1" presetClass="entr" presetSubtype="0" fill="hold" grpId="0" nodeType="withEffect">
                                  <p:stCondLst>
                                    <p:cond delay="14500"/>
                                  </p:stCondLst>
                                  <p:childTnLst>
                                    <p:set>
                                      <p:cBhvr>
                                        <p:cTn id="80" dur="1" fill="hold">
                                          <p:stCondLst>
                                            <p:cond delay="0"/>
                                          </p:stCondLst>
                                        </p:cTn>
                                        <p:tgtEl>
                                          <p:spTgt spid="113"/>
                                        </p:tgtEl>
                                        <p:attrNameLst>
                                          <p:attrName>style.visibility</p:attrName>
                                        </p:attrNameLst>
                                      </p:cBhvr>
                                      <p:to>
                                        <p:strVal val="visible"/>
                                      </p:to>
                                    </p:set>
                                  </p:childTnLst>
                                </p:cTn>
                              </p:par>
                              <p:par>
                                <p:cTn id="81" presetID="35" presetClass="emph" presetSubtype="0" repeatCount="3000" fill="hold" grpId="1" nodeType="withEffect">
                                  <p:stCondLst>
                                    <p:cond delay="14500"/>
                                  </p:stCondLst>
                                  <p:childTnLst>
                                    <p:anim calcmode="discrete" valueType="str">
                                      <p:cBhvr>
                                        <p:cTn id="82" dur="500" fill="hold"/>
                                        <p:tgtEl>
                                          <p:spTgt spid="113"/>
                                        </p:tgtEl>
                                        <p:attrNameLst>
                                          <p:attrName>style.visibility</p:attrName>
                                        </p:attrNameLst>
                                      </p:cBhvr>
                                      <p:tavLst>
                                        <p:tav tm="0">
                                          <p:val>
                                            <p:strVal val="hidden"/>
                                          </p:val>
                                        </p:tav>
                                        <p:tav tm="50000">
                                          <p:val>
                                            <p:strVal val="visible"/>
                                          </p:val>
                                        </p:tav>
                                      </p:tavLst>
                                    </p:anim>
                                  </p:childTnLst>
                                </p:cTn>
                              </p:par>
                              <p:par>
                                <p:cTn id="83" presetID="22" presetClass="entr" presetSubtype="8" fill="hold" nodeType="withEffect">
                                  <p:stCondLst>
                                    <p:cond delay="16500"/>
                                  </p:stCondLst>
                                  <p:childTnLst>
                                    <p:set>
                                      <p:cBhvr>
                                        <p:cTn id="84" dur="1" fill="hold">
                                          <p:stCondLst>
                                            <p:cond delay="0"/>
                                          </p:stCondLst>
                                        </p:cTn>
                                        <p:tgtEl>
                                          <p:spTgt spid="99"/>
                                        </p:tgtEl>
                                        <p:attrNameLst>
                                          <p:attrName>style.visibility</p:attrName>
                                        </p:attrNameLst>
                                      </p:cBhvr>
                                      <p:to>
                                        <p:strVal val="visible"/>
                                      </p:to>
                                    </p:set>
                                    <p:animEffect transition="in" filter="wipe(left)">
                                      <p:cBhvr>
                                        <p:cTn id="85" dur="2000"/>
                                        <p:tgtEl>
                                          <p:spTgt spid="99"/>
                                        </p:tgtEl>
                                      </p:cBhvr>
                                    </p:animEffect>
                                  </p:childTnLst>
                                </p:cTn>
                              </p:par>
                              <p:par>
                                <p:cTn id="86" presetID="1" presetClass="entr" presetSubtype="0" fill="hold" grpId="0" nodeType="withEffect">
                                  <p:stCondLst>
                                    <p:cond delay="21500"/>
                                  </p:stCondLst>
                                  <p:childTnLst>
                                    <p:set>
                                      <p:cBhvr>
                                        <p:cTn id="87" dur="1" fill="hold">
                                          <p:stCondLst>
                                            <p:cond delay="0"/>
                                          </p:stCondLst>
                                        </p:cTn>
                                        <p:tgtEl>
                                          <p:spTgt spid="103"/>
                                        </p:tgtEl>
                                        <p:attrNameLst>
                                          <p:attrName>style.visibility</p:attrName>
                                        </p:attrNameLst>
                                      </p:cBhvr>
                                      <p:to>
                                        <p:strVal val="visible"/>
                                      </p:to>
                                    </p:set>
                                  </p:childTnLst>
                                </p:cTn>
                              </p:par>
                              <p:par>
                                <p:cTn id="88" presetID="35" presetClass="emph" presetSubtype="0" repeatCount="3000" fill="hold" grpId="1" nodeType="withEffect">
                                  <p:stCondLst>
                                    <p:cond delay="21500"/>
                                  </p:stCondLst>
                                  <p:childTnLst>
                                    <p:anim calcmode="discrete" valueType="str">
                                      <p:cBhvr>
                                        <p:cTn id="89" dur="500" fill="hold"/>
                                        <p:tgtEl>
                                          <p:spTgt spid="10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70" grpId="1"/>
      <p:bldP spid="77" grpId="0" animBg="1"/>
      <p:bldP spid="77" grpId="1" animBg="1"/>
      <p:bldP spid="95" grpId="0"/>
      <p:bldP spid="95" grpId="1"/>
      <p:bldP spid="103" grpId="0"/>
      <p:bldP spid="103" grpId="1"/>
      <p:bldP spid="108" grpId="0"/>
      <p:bldP spid="110" grpId="0"/>
      <p:bldP spid="111" grpId="0"/>
      <p:bldP spid="111" grpId="1"/>
      <p:bldP spid="112" grpId="0"/>
      <p:bldP spid="112" grpId="1"/>
      <p:bldP spid="113" grpId="0"/>
      <p:bldP spid="113" grpId="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124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591336" y="588036"/>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应注意以下三点</a:t>
            </a:r>
          </a:p>
        </p:txBody>
      </p:sp>
      <p:sp>
        <p:nvSpPr>
          <p:cNvPr id="4" name="Rectangle 68"/>
          <p:cNvSpPr>
            <a:spLocks noChangeArrowheads="1"/>
          </p:cNvSpPr>
          <p:nvPr/>
        </p:nvSpPr>
        <p:spPr bwMode="auto">
          <a:xfrm>
            <a:off x="556963" y="976954"/>
            <a:ext cx="8048776" cy="29233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发送方发送完一个分组后，必须暂时保留已发送的分组的副本，供超时重传时使用。只有在收到相应的确认后才能清除该分组副本。只有在收到对方的确认后才能删除暂时保留的副本。</a:t>
            </a:r>
          </a:p>
          <a:p>
            <a:pPr marL="342900" indent="-34290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第二，分组和确认分组都必须进行编号 。这样才能知道所收到的确认是对哪一个发送出的分组的确认。</a:t>
            </a:r>
          </a:p>
          <a:p>
            <a:pPr marL="342900" indent="-34290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第三，超时计时器设置的重传时间应当比分组传输的平均往返时间更长一些。</a:t>
            </a:r>
          </a:p>
        </p:txBody>
      </p:sp>
    </p:spTree>
    <p:extLst>
      <p:ext uri="{BB962C8B-B14F-4D97-AF65-F5344CB8AC3E}">
        <p14:creationId xmlns:p14="http://schemas.microsoft.com/office/powerpoint/2010/main" val="1473500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AutoShape 5"/>
          <p:cNvSpPr>
            <a:spLocks noChangeArrowheads="1"/>
          </p:cNvSpPr>
          <p:nvPr/>
        </p:nvSpPr>
        <p:spPr bwMode="auto">
          <a:xfrm>
            <a:off x="545144" y="619244"/>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25" name="Rectangle 6"/>
          <p:cNvSpPr>
            <a:spLocks noChangeArrowheads="1"/>
          </p:cNvSpPr>
          <p:nvPr/>
        </p:nvSpPr>
        <p:spPr bwMode="auto">
          <a:xfrm>
            <a:off x="3675130" y="596154"/>
            <a:ext cx="177644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4. </a:t>
            </a:r>
            <a:r>
              <a:rPr lang="zh-CN" altLang="en-US" sz="2000" b="1" dirty="0">
                <a:solidFill>
                  <a:schemeClr val="bg1"/>
                </a:solidFill>
                <a:latin typeface="微软雅黑" pitchFamily="34" charset="-122"/>
                <a:ea typeface="微软雅黑" pitchFamily="34" charset="-122"/>
              </a:rPr>
              <a:t>信道利用率</a:t>
            </a:r>
          </a:p>
        </p:txBody>
      </p:sp>
      <p:sp>
        <p:nvSpPr>
          <p:cNvPr id="26" name="圆角矩形 25"/>
          <p:cNvSpPr/>
          <p:nvPr/>
        </p:nvSpPr>
        <p:spPr>
          <a:xfrm>
            <a:off x="545144" y="1025024"/>
            <a:ext cx="8053711" cy="282083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Text Box 155"/>
          <p:cNvSpPr txBox="1">
            <a:spLocks noChangeArrowheads="1"/>
          </p:cNvSpPr>
          <p:nvPr/>
        </p:nvSpPr>
        <p:spPr bwMode="auto">
          <a:xfrm>
            <a:off x="1846729" y="3890323"/>
            <a:ext cx="5844989" cy="397032"/>
          </a:xfrm>
          <a:prstGeom prst="rect">
            <a:avLst/>
          </a:prstGeom>
          <a:solidFill>
            <a:srgbClr val="000099"/>
          </a:solidFill>
          <a:ln w="9525">
            <a:solidFill>
              <a:schemeClr val="tx1"/>
            </a:solidFill>
            <a:miter lim="800000"/>
            <a:headEnd/>
            <a:tailEnd/>
          </a:ln>
          <a:effectLst/>
        </p:spPr>
        <p:txBody>
          <a:bodyPr wrap="square">
            <a:spAutoFit/>
          </a:bodyPr>
          <a:lstStyle/>
          <a:p>
            <a:pPr algn="ctr">
              <a:lnSpc>
                <a:spcPct val="110000"/>
              </a:lnSpc>
            </a:pPr>
            <a:r>
              <a:rPr lang="zh-CN" altLang="en-US" b="1" dirty="0">
                <a:solidFill>
                  <a:srgbClr val="FFC000"/>
                </a:solidFill>
                <a:latin typeface="微软雅黑" pitchFamily="34" charset="-122"/>
                <a:ea typeface="微软雅黑" pitchFamily="34" charset="-122"/>
              </a:rPr>
              <a:t>优点：</a:t>
            </a:r>
            <a:r>
              <a:rPr lang="zh-CN" altLang="en-US" b="1" dirty="0">
                <a:solidFill>
                  <a:schemeClr val="bg1"/>
                </a:solidFill>
                <a:latin typeface="微软雅黑" pitchFamily="34" charset="-122"/>
                <a:ea typeface="微软雅黑" pitchFamily="34" charset="-122"/>
              </a:rPr>
              <a:t>简单。</a:t>
            </a:r>
            <a:r>
              <a:rPr lang="zh-CN" altLang="en-US" b="1" dirty="0">
                <a:solidFill>
                  <a:srgbClr val="FFC000"/>
                </a:solidFill>
                <a:latin typeface="微软雅黑" pitchFamily="34" charset="-122"/>
                <a:ea typeface="微软雅黑" pitchFamily="34" charset="-122"/>
              </a:rPr>
              <a:t>缺点：</a:t>
            </a:r>
            <a:r>
              <a:rPr lang="zh-CN" altLang="en-US" b="1" dirty="0">
                <a:solidFill>
                  <a:schemeClr val="bg1"/>
                </a:solidFill>
                <a:latin typeface="微软雅黑" pitchFamily="34" charset="-122"/>
                <a:ea typeface="微软雅黑" pitchFamily="34" charset="-122"/>
              </a:rPr>
              <a:t>信道利用率太低。</a:t>
            </a:r>
          </a:p>
        </p:txBody>
      </p:sp>
      <p:sp>
        <p:nvSpPr>
          <p:cNvPr id="28" name="Text Box 4"/>
          <p:cNvSpPr txBox="1">
            <a:spLocks noChangeArrowheads="1"/>
          </p:cNvSpPr>
          <p:nvPr/>
        </p:nvSpPr>
        <p:spPr bwMode="auto">
          <a:xfrm>
            <a:off x="2430781" y="2044553"/>
            <a:ext cx="362600"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i="1" dirty="0">
                <a:latin typeface="微软雅黑" pitchFamily="34" charset="-122"/>
                <a:ea typeface="微软雅黑" pitchFamily="34" charset="-122"/>
              </a:rPr>
              <a:t>T</a:t>
            </a:r>
            <a:r>
              <a:rPr lang="en-US" altLang="zh-CN" sz="1200" b="1" i="1" baseline="-25000" dirty="0">
                <a:latin typeface="微软雅黑" pitchFamily="34" charset="-122"/>
                <a:ea typeface="微软雅黑" pitchFamily="34" charset="-122"/>
              </a:rPr>
              <a:t>D</a:t>
            </a:r>
          </a:p>
        </p:txBody>
      </p:sp>
      <p:sp>
        <p:nvSpPr>
          <p:cNvPr id="29" name="Line 5"/>
          <p:cNvSpPr>
            <a:spLocks noChangeShapeType="1"/>
          </p:cNvSpPr>
          <p:nvPr/>
        </p:nvSpPr>
        <p:spPr bwMode="auto">
          <a:xfrm flipV="1">
            <a:off x="2524893" y="2056969"/>
            <a:ext cx="0" cy="443410"/>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0" name="Line 6"/>
          <p:cNvSpPr>
            <a:spLocks noChangeShapeType="1"/>
          </p:cNvSpPr>
          <p:nvPr/>
        </p:nvSpPr>
        <p:spPr bwMode="auto">
          <a:xfrm>
            <a:off x="2733296" y="2091554"/>
            <a:ext cx="0" cy="22081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1" name="Line 7"/>
          <p:cNvSpPr>
            <a:spLocks noChangeShapeType="1"/>
          </p:cNvSpPr>
          <p:nvPr/>
        </p:nvSpPr>
        <p:spPr bwMode="auto">
          <a:xfrm>
            <a:off x="4560147" y="2091554"/>
            <a:ext cx="0" cy="22081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2" name="Line 8"/>
          <p:cNvSpPr>
            <a:spLocks noChangeShapeType="1"/>
          </p:cNvSpPr>
          <p:nvPr/>
        </p:nvSpPr>
        <p:spPr bwMode="auto">
          <a:xfrm>
            <a:off x="2732409" y="2200634"/>
            <a:ext cx="1826851"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3" name="Text Box 9"/>
          <p:cNvSpPr txBox="1">
            <a:spLocks noChangeArrowheads="1"/>
          </p:cNvSpPr>
          <p:nvPr/>
        </p:nvSpPr>
        <p:spPr bwMode="auto">
          <a:xfrm>
            <a:off x="3397524" y="2057855"/>
            <a:ext cx="348172" cy="276999"/>
          </a:xfrm>
          <a:prstGeom prst="rect">
            <a:avLst/>
          </a:prstGeom>
          <a:solidFill>
            <a:srgbClr val="C3E3F9"/>
          </a:solidFill>
          <a:ln>
            <a:noFill/>
          </a:ln>
          <a:effectLst/>
        </p:spPr>
        <p:txBody>
          <a:bodyPr wrap="none">
            <a:spAutoFit/>
          </a:bodyPr>
          <a:lstStyle/>
          <a:p>
            <a:r>
              <a:rPr lang="en-US" altLang="zh-CN" sz="1200" b="1" i="1" dirty="0">
                <a:solidFill>
                  <a:srgbClr val="C00000"/>
                </a:solidFill>
                <a:latin typeface="微软雅黑" pitchFamily="34" charset="-122"/>
                <a:ea typeface="微软雅黑" pitchFamily="34" charset="-122"/>
              </a:rPr>
              <a:t>T</a:t>
            </a:r>
            <a:r>
              <a:rPr lang="en-US" altLang="zh-CN" sz="1200" b="1" i="1" baseline="-25000" dirty="0">
                <a:solidFill>
                  <a:srgbClr val="C00000"/>
                </a:solidFill>
                <a:latin typeface="微软雅黑" pitchFamily="34" charset="-122"/>
                <a:ea typeface="微软雅黑" pitchFamily="34" charset="-122"/>
              </a:rPr>
              <a:t>P</a:t>
            </a:r>
          </a:p>
        </p:txBody>
      </p:sp>
      <p:sp>
        <p:nvSpPr>
          <p:cNvPr id="34" name="Line 10"/>
          <p:cNvSpPr>
            <a:spLocks noChangeShapeType="1"/>
          </p:cNvSpPr>
          <p:nvPr/>
        </p:nvSpPr>
        <p:spPr bwMode="auto">
          <a:xfrm rot="5400000" flipH="1" flipV="1">
            <a:off x="2399851" y="2076479"/>
            <a:ext cx="0" cy="24831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5" name="Text Box 11"/>
          <p:cNvSpPr txBox="1">
            <a:spLocks noChangeArrowheads="1"/>
          </p:cNvSpPr>
          <p:nvPr/>
        </p:nvSpPr>
        <p:spPr bwMode="auto">
          <a:xfrm>
            <a:off x="2126600" y="1900944"/>
            <a:ext cx="31931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latin typeface="微软雅黑" pitchFamily="34" charset="-122"/>
                <a:ea typeface="微软雅黑" pitchFamily="34" charset="-122"/>
              </a:rPr>
              <a:t>A</a:t>
            </a:r>
          </a:p>
        </p:txBody>
      </p:sp>
      <p:sp>
        <p:nvSpPr>
          <p:cNvPr id="36" name="Line 12"/>
          <p:cNvSpPr>
            <a:spLocks noChangeShapeType="1"/>
          </p:cNvSpPr>
          <p:nvPr/>
        </p:nvSpPr>
        <p:spPr bwMode="auto">
          <a:xfrm flipV="1">
            <a:off x="4601827" y="2056969"/>
            <a:ext cx="0" cy="443410"/>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7" name="Line 13"/>
          <p:cNvSpPr>
            <a:spLocks noChangeShapeType="1"/>
          </p:cNvSpPr>
          <p:nvPr/>
        </p:nvSpPr>
        <p:spPr bwMode="auto">
          <a:xfrm>
            <a:off x="2524893" y="2423225"/>
            <a:ext cx="2076934"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8" name="Text Box 14"/>
          <p:cNvSpPr txBox="1">
            <a:spLocks noChangeArrowheads="1"/>
          </p:cNvSpPr>
          <p:nvPr/>
        </p:nvSpPr>
        <p:spPr bwMode="auto">
          <a:xfrm>
            <a:off x="2957661" y="2299957"/>
            <a:ext cx="1091517" cy="276999"/>
          </a:xfrm>
          <a:prstGeom prst="rect">
            <a:avLst/>
          </a:prstGeom>
          <a:solidFill>
            <a:srgbClr val="C3E3F9"/>
          </a:solidFill>
          <a:ln>
            <a:noFill/>
          </a:ln>
          <a:effectLst/>
        </p:spPr>
        <p:txBody>
          <a:bodyPr wrap="none">
            <a:spAutoFit/>
          </a:bodyPr>
          <a:lstStyle/>
          <a:p>
            <a:r>
              <a:rPr lang="en-US" altLang="zh-CN" sz="1200" b="1" i="1" dirty="0">
                <a:solidFill>
                  <a:srgbClr val="0000FF"/>
                </a:solidFill>
                <a:latin typeface="微软雅黑" pitchFamily="34" charset="-122"/>
                <a:ea typeface="微软雅黑" pitchFamily="34" charset="-122"/>
              </a:rPr>
              <a:t>T</a:t>
            </a:r>
            <a:r>
              <a:rPr lang="en-US" altLang="zh-CN" sz="1200" b="1" i="1" baseline="-25000" dirty="0">
                <a:solidFill>
                  <a:srgbClr val="0000FF"/>
                </a:solidFill>
                <a:latin typeface="微软雅黑" pitchFamily="34" charset="-122"/>
                <a:ea typeface="微软雅黑" pitchFamily="34" charset="-122"/>
              </a:rPr>
              <a:t>D</a:t>
            </a:r>
            <a:r>
              <a:rPr lang="en-US" altLang="zh-CN" sz="1200" b="1" dirty="0">
                <a:solidFill>
                  <a:srgbClr val="0000FF"/>
                </a:solidFill>
                <a:latin typeface="微软雅黑" pitchFamily="34" charset="-122"/>
                <a:ea typeface="微软雅黑" pitchFamily="34" charset="-122"/>
              </a:rPr>
              <a:t> + </a:t>
            </a:r>
            <a:r>
              <a:rPr lang="en-US" altLang="zh-CN" sz="1200" b="1" i="1" dirty="0">
                <a:solidFill>
                  <a:srgbClr val="0000FF"/>
                </a:solidFill>
                <a:latin typeface="微软雅黑" pitchFamily="34" charset="-122"/>
                <a:ea typeface="微软雅黑" pitchFamily="34" charset="-122"/>
              </a:rPr>
              <a:t>T</a:t>
            </a:r>
            <a:r>
              <a:rPr lang="en-US" altLang="zh-CN" sz="1200" b="1" i="1" baseline="-25000" dirty="0">
                <a:solidFill>
                  <a:srgbClr val="0000FF"/>
                </a:solidFill>
                <a:latin typeface="微软雅黑" pitchFamily="34" charset="-122"/>
                <a:ea typeface="微软雅黑" pitchFamily="34" charset="-122"/>
              </a:rPr>
              <a:t>P</a:t>
            </a:r>
            <a:r>
              <a:rPr lang="en-US" altLang="zh-CN" sz="1200" b="1" baseline="-25000" dirty="0">
                <a:solidFill>
                  <a:srgbClr val="0000FF"/>
                </a:solidFill>
                <a:latin typeface="微软雅黑" pitchFamily="34" charset="-122"/>
                <a:ea typeface="微软雅黑" pitchFamily="34" charset="-122"/>
              </a:rPr>
              <a:t> </a:t>
            </a:r>
            <a:r>
              <a:rPr lang="en-US" altLang="zh-CN" sz="1200" b="1" dirty="0">
                <a:solidFill>
                  <a:srgbClr val="0000FF"/>
                </a:solidFill>
                <a:latin typeface="微软雅黑" pitchFamily="34" charset="-122"/>
                <a:ea typeface="微软雅黑" pitchFamily="34" charset="-122"/>
              </a:rPr>
              <a:t>+ </a:t>
            </a:r>
            <a:r>
              <a:rPr lang="en-US" altLang="zh-CN" sz="1200" b="1" i="1" dirty="0">
                <a:solidFill>
                  <a:srgbClr val="0000FF"/>
                </a:solidFill>
                <a:latin typeface="微软雅黑" pitchFamily="34" charset="-122"/>
                <a:ea typeface="微软雅黑" pitchFamily="34" charset="-122"/>
              </a:rPr>
              <a:t>T</a:t>
            </a:r>
            <a:r>
              <a:rPr lang="en-US" altLang="zh-CN" sz="1200" b="1" i="1" baseline="-25000" dirty="0">
                <a:solidFill>
                  <a:srgbClr val="0000FF"/>
                </a:solidFill>
                <a:latin typeface="微软雅黑" pitchFamily="34" charset="-122"/>
                <a:ea typeface="微软雅黑" pitchFamily="34" charset="-122"/>
              </a:rPr>
              <a:t>A</a:t>
            </a:r>
          </a:p>
        </p:txBody>
      </p:sp>
      <p:sp>
        <p:nvSpPr>
          <p:cNvPr id="39" name="Freeform 16"/>
          <p:cNvSpPr>
            <a:spLocks/>
          </p:cNvSpPr>
          <p:nvPr/>
        </p:nvSpPr>
        <p:spPr bwMode="auto">
          <a:xfrm>
            <a:off x="2524893" y="1247301"/>
            <a:ext cx="1116508" cy="809668"/>
          </a:xfrm>
          <a:custGeom>
            <a:avLst/>
            <a:gdLst>
              <a:gd name="T0" fmla="*/ 0 w 1218"/>
              <a:gd name="T1" fmla="*/ 1091 h 1091"/>
              <a:gd name="T2" fmla="*/ 997 w 1218"/>
              <a:gd name="T3" fmla="*/ 3 h 1091"/>
              <a:gd name="T4" fmla="*/ 1218 w 1218"/>
              <a:gd name="T5" fmla="*/ 0 h 1091"/>
              <a:gd name="T6" fmla="*/ 225 w 1218"/>
              <a:gd name="T7" fmla="*/ 1086 h 1091"/>
              <a:gd name="T8" fmla="*/ 0 w 1218"/>
              <a:gd name="T9" fmla="*/ 1091 h 1091"/>
            </a:gdLst>
            <a:ahLst/>
            <a:cxnLst>
              <a:cxn ang="0">
                <a:pos x="T0" y="T1"/>
              </a:cxn>
              <a:cxn ang="0">
                <a:pos x="T2" y="T3"/>
              </a:cxn>
              <a:cxn ang="0">
                <a:pos x="T4" y="T5"/>
              </a:cxn>
              <a:cxn ang="0">
                <a:pos x="T6" y="T7"/>
              </a:cxn>
              <a:cxn ang="0">
                <a:pos x="T8" y="T9"/>
              </a:cxn>
            </a:cxnLst>
            <a:rect l="0" t="0" r="r" b="b"/>
            <a:pathLst>
              <a:path w="1218" h="1091">
                <a:moveTo>
                  <a:pt x="0" y="1091"/>
                </a:moveTo>
                <a:lnTo>
                  <a:pt x="997" y="3"/>
                </a:lnTo>
                <a:lnTo>
                  <a:pt x="1218" y="0"/>
                </a:lnTo>
                <a:lnTo>
                  <a:pt x="225" y="1086"/>
                </a:lnTo>
                <a:lnTo>
                  <a:pt x="0" y="1091"/>
                </a:lnTo>
                <a:close/>
              </a:path>
            </a:pathLst>
          </a:custGeom>
          <a:solidFill>
            <a:srgbClr val="FF00FF"/>
          </a:solidFill>
          <a:ln>
            <a:noFill/>
          </a:ln>
          <a:effectLst/>
        </p:spPr>
        <p:txBody>
          <a:bodyPr/>
          <a:lstStyle/>
          <a:p>
            <a:endParaRPr lang="zh-CN" altLang="en-US" sz="1400" b="1">
              <a:solidFill>
                <a:srgbClr val="000099"/>
              </a:solidFill>
              <a:latin typeface="微软雅黑" pitchFamily="34" charset="-122"/>
              <a:ea typeface="微软雅黑" pitchFamily="34" charset="-122"/>
            </a:endParaRPr>
          </a:p>
        </p:txBody>
      </p:sp>
      <p:sp>
        <p:nvSpPr>
          <p:cNvPr id="40" name="Text Box 17"/>
          <p:cNvSpPr txBox="1">
            <a:spLocks noChangeArrowheads="1"/>
          </p:cNvSpPr>
          <p:nvPr/>
        </p:nvSpPr>
        <p:spPr bwMode="auto">
          <a:xfrm>
            <a:off x="2134581" y="1107239"/>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latin typeface="微软雅黑" pitchFamily="34" charset="-122"/>
                <a:ea typeface="微软雅黑" pitchFamily="34" charset="-122"/>
              </a:rPr>
              <a:t>B</a:t>
            </a:r>
          </a:p>
        </p:txBody>
      </p:sp>
      <p:sp>
        <p:nvSpPr>
          <p:cNvPr id="41" name="Line 18"/>
          <p:cNvSpPr>
            <a:spLocks noChangeShapeType="1"/>
          </p:cNvSpPr>
          <p:nvPr/>
        </p:nvSpPr>
        <p:spPr bwMode="auto">
          <a:xfrm flipV="1">
            <a:off x="2524893" y="1249074"/>
            <a:ext cx="913425" cy="8078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2" name="Line 19"/>
          <p:cNvSpPr>
            <a:spLocks noChangeShapeType="1"/>
          </p:cNvSpPr>
          <p:nvPr/>
        </p:nvSpPr>
        <p:spPr bwMode="auto">
          <a:xfrm flipV="1">
            <a:off x="2732409" y="1249074"/>
            <a:ext cx="912539" cy="8078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3" name="Text Box 22"/>
          <p:cNvSpPr txBox="1">
            <a:spLocks noChangeArrowheads="1"/>
          </p:cNvSpPr>
          <p:nvPr/>
        </p:nvSpPr>
        <p:spPr bwMode="auto">
          <a:xfrm rot="19131970">
            <a:off x="2464974" y="1535050"/>
            <a:ext cx="543739"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0000FF"/>
                </a:solidFill>
                <a:latin typeface="微软雅黑" pitchFamily="34" charset="-122"/>
                <a:ea typeface="微软雅黑" pitchFamily="34" charset="-122"/>
              </a:rPr>
              <a:t>分组</a:t>
            </a:r>
          </a:p>
        </p:txBody>
      </p:sp>
      <p:sp>
        <p:nvSpPr>
          <p:cNvPr id="44" name="Text Box 23"/>
          <p:cNvSpPr txBox="1">
            <a:spLocks noChangeArrowheads="1"/>
          </p:cNvSpPr>
          <p:nvPr/>
        </p:nvSpPr>
        <p:spPr bwMode="auto">
          <a:xfrm rot="2307784">
            <a:off x="3852848" y="1319552"/>
            <a:ext cx="543739"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a:solidFill>
                  <a:srgbClr val="0000FF"/>
                </a:solidFill>
                <a:latin typeface="微软雅黑" pitchFamily="34" charset="-122"/>
                <a:ea typeface="微软雅黑" pitchFamily="34" charset="-122"/>
              </a:rPr>
              <a:t>确认</a:t>
            </a:r>
          </a:p>
        </p:txBody>
      </p:sp>
      <p:sp>
        <p:nvSpPr>
          <p:cNvPr id="45" name="Text Box 24"/>
          <p:cNvSpPr txBox="1">
            <a:spLocks noChangeArrowheads="1"/>
          </p:cNvSpPr>
          <p:nvPr/>
        </p:nvSpPr>
        <p:spPr bwMode="auto">
          <a:xfrm>
            <a:off x="6803803" y="1107239"/>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i="1">
                <a:latin typeface="微软雅黑" pitchFamily="34" charset="-122"/>
                <a:ea typeface="微软雅黑" pitchFamily="34" charset="-122"/>
              </a:rPr>
              <a:t>t</a:t>
            </a:r>
          </a:p>
        </p:txBody>
      </p:sp>
      <p:sp>
        <p:nvSpPr>
          <p:cNvPr id="46" name="Text Box 25"/>
          <p:cNvSpPr txBox="1">
            <a:spLocks noChangeArrowheads="1"/>
          </p:cNvSpPr>
          <p:nvPr/>
        </p:nvSpPr>
        <p:spPr bwMode="auto">
          <a:xfrm>
            <a:off x="6803803" y="1879604"/>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i="1">
                <a:latin typeface="微软雅黑" pitchFamily="34" charset="-122"/>
                <a:ea typeface="微软雅黑" pitchFamily="34" charset="-122"/>
              </a:rPr>
              <a:t>t</a:t>
            </a:r>
          </a:p>
        </p:txBody>
      </p:sp>
      <p:sp>
        <p:nvSpPr>
          <p:cNvPr id="47" name="Line 26"/>
          <p:cNvSpPr>
            <a:spLocks noChangeShapeType="1"/>
          </p:cNvSpPr>
          <p:nvPr/>
        </p:nvSpPr>
        <p:spPr bwMode="auto">
          <a:xfrm>
            <a:off x="4269269" y="1653465"/>
            <a:ext cx="158741" cy="138344"/>
          </a:xfrm>
          <a:prstGeom prst="line">
            <a:avLst/>
          </a:prstGeom>
          <a:noFill/>
          <a:ln w="28575">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8" name="Line 27"/>
          <p:cNvSpPr>
            <a:spLocks noChangeShapeType="1"/>
          </p:cNvSpPr>
          <p:nvPr/>
        </p:nvSpPr>
        <p:spPr bwMode="auto">
          <a:xfrm rot="15894661">
            <a:off x="2953671" y="1441071"/>
            <a:ext cx="128589" cy="172043"/>
          </a:xfrm>
          <a:prstGeom prst="line">
            <a:avLst/>
          </a:prstGeom>
          <a:noFill/>
          <a:ln w="28575">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9" name="Freeform 28"/>
          <p:cNvSpPr>
            <a:spLocks/>
          </p:cNvSpPr>
          <p:nvPr/>
        </p:nvSpPr>
        <p:spPr bwMode="auto">
          <a:xfrm>
            <a:off x="5746906" y="1249074"/>
            <a:ext cx="947124" cy="810554"/>
          </a:xfrm>
          <a:custGeom>
            <a:avLst/>
            <a:gdLst>
              <a:gd name="T0" fmla="*/ 0 w 1035"/>
              <a:gd name="T1" fmla="*/ 3 h 1091"/>
              <a:gd name="T2" fmla="*/ 998 w 1035"/>
              <a:gd name="T3" fmla="*/ 1091 h 1091"/>
              <a:gd name="T4" fmla="*/ 1035 w 1035"/>
              <a:gd name="T5" fmla="*/ 1083 h 1091"/>
              <a:gd name="T6" fmla="*/ 45 w 1035"/>
              <a:gd name="T7" fmla="*/ 0 h 1091"/>
              <a:gd name="T8" fmla="*/ 0 w 1035"/>
              <a:gd name="T9" fmla="*/ 3 h 1091"/>
            </a:gdLst>
            <a:ahLst/>
            <a:cxnLst>
              <a:cxn ang="0">
                <a:pos x="T0" y="T1"/>
              </a:cxn>
              <a:cxn ang="0">
                <a:pos x="T2" y="T3"/>
              </a:cxn>
              <a:cxn ang="0">
                <a:pos x="T4" y="T5"/>
              </a:cxn>
              <a:cxn ang="0">
                <a:pos x="T6" y="T7"/>
              </a:cxn>
              <a:cxn ang="0">
                <a:pos x="T8" y="T9"/>
              </a:cxn>
            </a:cxnLst>
            <a:rect l="0" t="0" r="r" b="b"/>
            <a:pathLst>
              <a:path w="1035" h="1091">
                <a:moveTo>
                  <a:pt x="0" y="3"/>
                </a:moveTo>
                <a:lnTo>
                  <a:pt x="998" y="1091"/>
                </a:lnTo>
                <a:lnTo>
                  <a:pt x="1035" y="1083"/>
                </a:lnTo>
                <a:lnTo>
                  <a:pt x="45" y="0"/>
                </a:lnTo>
                <a:lnTo>
                  <a:pt x="0" y="3"/>
                </a:lnTo>
                <a:close/>
              </a:path>
            </a:pathLst>
          </a:custGeom>
          <a:solidFill>
            <a:srgbClr val="0000FF"/>
          </a:solidFill>
          <a:ln>
            <a:noFill/>
          </a:ln>
          <a:effectLst/>
        </p:spPr>
        <p:txBody>
          <a:bodyPr/>
          <a:lstStyle/>
          <a:p>
            <a:endParaRPr lang="zh-CN" altLang="en-US" sz="1400" b="1">
              <a:solidFill>
                <a:srgbClr val="000099"/>
              </a:solidFill>
              <a:latin typeface="微软雅黑" pitchFamily="34" charset="-122"/>
              <a:ea typeface="微软雅黑" pitchFamily="34" charset="-122"/>
            </a:endParaRPr>
          </a:p>
        </p:txBody>
      </p:sp>
      <p:sp>
        <p:nvSpPr>
          <p:cNvPr id="50" name="Freeform 29"/>
          <p:cNvSpPr>
            <a:spLocks/>
          </p:cNvSpPr>
          <p:nvPr/>
        </p:nvSpPr>
        <p:spPr bwMode="auto">
          <a:xfrm>
            <a:off x="4618677" y="1249074"/>
            <a:ext cx="1116507" cy="810554"/>
          </a:xfrm>
          <a:custGeom>
            <a:avLst/>
            <a:gdLst>
              <a:gd name="T0" fmla="*/ 0 w 1218"/>
              <a:gd name="T1" fmla="*/ 1091 h 1091"/>
              <a:gd name="T2" fmla="*/ 997 w 1218"/>
              <a:gd name="T3" fmla="*/ 3 h 1091"/>
              <a:gd name="T4" fmla="*/ 1218 w 1218"/>
              <a:gd name="T5" fmla="*/ 0 h 1091"/>
              <a:gd name="T6" fmla="*/ 225 w 1218"/>
              <a:gd name="T7" fmla="*/ 1086 h 1091"/>
              <a:gd name="T8" fmla="*/ 0 w 1218"/>
              <a:gd name="T9" fmla="*/ 1091 h 1091"/>
            </a:gdLst>
            <a:ahLst/>
            <a:cxnLst>
              <a:cxn ang="0">
                <a:pos x="T0" y="T1"/>
              </a:cxn>
              <a:cxn ang="0">
                <a:pos x="T2" y="T3"/>
              </a:cxn>
              <a:cxn ang="0">
                <a:pos x="T4" y="T5"/>
              </a:cxn>
              <a:cxn ang="0">
                <a:pos x="T6" y="T7"/>
              </a:cxn>
              <a:cxn ang="0">
                <a:pos x="T8" y="T9"/>
              </a:cxn>
            </a:cxnLst>
            <a:rect l="0" t="0" r="r" b="b"/>
            <a:pathLst>
              <a:path w="1218" h="1091">
                <a:moveTo>
                  <a:pt x="0" y="1091"/>
                </a:moveTo>
                <a:lnTo>
                  <a:pt x="997" y="3"/>
                </a:lnTo>
                <a:lnTo>
                  <a:pt x="1218" y="0"/>
                </a:lnTo>
                <a:lnTo>
                  <a:pt x="225" y="1086"/>
                </a:lnTo>
                <a:lnTo>
                  <a:pt x="0" y="1091"/>
                </a:lnTo>
                <a:close/>
              </a:path>
            </a:pathLst>
          </a:custGeom>
          <a:solidFill>
            <a:srgbClr val="FF00FF"/>
          </a:solidFill>
          <a:ln>
            <a:noFill/>
          </a:ln>
          <a:effectLst/>
        </p:spPr>
        <p:txBody>
          <a:bodyPr/>
          <a:lstStyle/>
          <a:p>
            <a:endParaRPr lang="zh-CN" altLang="en-US" sz="1400" b="1">
              <a:solidFill>
                <a:srgbClr val="000099"/>
              </a:solidFill>
              <a:latin typeface="微软雅黑" pitchFamily="34" charset="-122"/>
              <a:ea typeface="微软雅黑" pitchFamily="34" charset="-122"/>
            </a:endParaRPr>
          </a:p>
        </p:txBody>
      </p:sp>
      <p:sp>
        <p:nvSpPr>
          <p:cNvPr id="51" name="Line 30"/>
          <p:cNvSpPr>
            <a:spLocks noChangeShapeType="1"/>
          </p:cNvSpPr>
          <p:nvPr/>
        </p:nvSpPr>
        <p:spPr bwMode="auto">
          <a:xfrm flipV="1">
            <a:off x="4618677" y="1251735"/>
            <a:ext cx="913425" cy="8078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2" name="Line 31"/>
          <p:cNvSpPr>
            <a:spLocks noChangeShapeType="1"/>
          </p:cNvSpPr>
          <p:nvPr/>
        </p:nvSpPr>
        <p:spPr bwMode="auto">
          <a:xfrm flipV="1">
            <a:off x="4826193" y="1251735"/>
            <a:ext cx="912538" cy="8078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5" name="Text Box 34"/>
          <p:cNvSpPr txBox="1">
            <a:spLocks noChangeArrowheads="1"/>
          </p:cNvSpPr>
          <p:nvPr/>
        </p:nvSpPr>
        <p:spPr bwMode="auto">
          <a:xfrm rot="19044759">
            <a:off x="4516634" y="1576287"/>
            <a:ext cx="543739"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a:solidFill>
                  <a:srgbClr val="0000FF"/>
                </a:solidFill>
                <a:latin typeface="微软雅黑" pitchFamily="34" charset="-122"/>
                <a:ea typeface="微软雅黑" pitchFamily="34" charset="-122"/>
              </a:rPr>
              <a:t>分组</a:t>
            </a:r>
          </a:p>
        </p:txBody>
      </p:sp>
      <p:sp>
        <p:nvSpPr>
          <p:cNvPr id="56" name="Line 35"/>
          <p:cNvSpPr>
            <a:spLocks noChangeShapeType="1"/>
          </p:cNvSpPr>
          <p:nvPr/>
        </p:nvSpPr>
        <p:spPr bwMode="auto">
          <a:xfrm rot="15894661">
            <a:off x="5021293" y="1460138"/>
            <a:ext cx="128589" cy="171156"/>
          </a:xfrm>
          <a:prstGeom prst="line">
            <a:avLst/>
          </a:prstGeom>
          <a:noFill/>
          <a:ln w="28575">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7" name="Text Box 36"/>
          <p:cNvSpPr txBox="1">
            <a:spLocks noChangeArrowheads="1"/>
          </p:cNvSpPr>
          <p:nvPr/>
        </p:nvSpPr>
        <p:spPr bwMode="auto">
          <a:xfrm rot="2510398">
            <a:off x="5994520" y="1361233"/>
            <a:ext cx="543739"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a:solidFill>
                  <a:srgbClr val="0000FF"/>
                </a:solidFill>
                <a:latin typeface="微软雅黑" pitchFamily="34" charset="-122"/>
                <a:ea typeface="微软雅黑" pitchFamily="34" charset="-122"/>
              </a:rPr>
              <a:t>确认</a:t>
            </a:r>
          </a:p>
        </p:txBody>
      </p:sp>
      <p:sp>
        <p:nvSpPr>
          <p:cNvPr id="58" name="Line 37"/>
          <p:cNvSpPr>
            <a:spLocks noChangeShapeType="1"/>
          </p:cNvSpPr>
          <p:nvPr/>
        </p:nvSpPr>
        <p:spPr bwMode="auto">
          <a:xfrm>
            <a:off x="6391431" y="1675636"/>
            <a:ext cx="158741" cy="138344"/>
          </a:xfrm>
          <a:prstGeom prst="line">
            <a:avLst/>
          </a:prstGeom>
          <a:noFill/>
          <a:ln w="28575">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9" name="Line 38"/>
          <p:cNvSpPr>
            <a:spLocks noChangeShapeType="1"/>
          </p:cNvSpPr>
          <p:nvPr/>
        </p:nvSpPr>
        <p:spPr bwMode="auto">
          <a:xfrm>
            <a:off x="2398964" y="1249074"/>
            <a:ext cx="4420801"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0" name="Line 39"/>
          <p:cNvSpPr>
            <a:spLocks noChangeShapeType="1"/>
          </p:cNvSpPr>
          <p:nvPr/>
        </p:nvSpPr>
        <p:spPr bwMode="auto">
          <a:xfrm>
            <a:off x="2398964" y="2056969"/>
            <a:ext cx="4420801"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1" name="Freeform 28"/>
          <p:cNvSpPr>
            <a:spLocks/>
          </p:cNvSpPr>
          <p:nvPr/>
        </p:nvSpPr>
        <p:spPr bwMode="auto">
          <a:xfrm>
            <a:off x="3638426" y="1249074"/>
            <a:ext cx="947124" cy="810554"/>
          </a:xfrm>
          <a:custGeom>
            <a:avLst/>
            <a:gdLst>
              <a:gd name="T0" fmla="*/ 0 w 1035"/>
              <a:gd name="T1" fmla="*/ 3 h 1091"/>
              <a:gd name="T2" fmla="*/ 998 w 1035"/>
              <a:gd name="T3" fmla="*/ 1091 h 1091"/>
              <a:gd name="T4" fmla="*/ 1035 w 1035"/>
              <a:gd name="T5" fmla="*/ 1083 h 1091"/>
              <a:gd name="T6" fmla="*/ 45 w 1035"/>
              <a:gd name="T7" fmla="*/ 0 h 1091"/>
              <a:gd name="T8" fmla="*/ 0 w 1035"/>
              <a:gd name="T9" fmla="*/ 3 h 1091"/>
            </a:gdLst>
            <a:ahLst/>
            <a:cxnLst>
              <a:cxn ang="0">
                <a:pos x="T0" y="T1"/>
              </a:cxn>
              <a:cxn ang="0">
                <a:pos x="T2" y="T3"/>
              </a:cxn>
              <a:cxn ang="0">
                <a:pos x="T4" y="T5"/>
              </a:cxn>
              <a:cxn ang="0">
                <a:pos x="T6" y="T7"/>
              </a:cxn>
              <a:cxn ang="0">
                <a:pos x="T8" y="T9"/>
              </a:cxn>
            </a:cxnLst>
            <a:rect l="0" t="0" r="r" b="b"/>
            <a:pathLst>
              <a:path w="1035" h="1091">
                <a:moveTo>
                  <a:pt x="0" y="3"/>
                </a:moveTo>
                <a:lnTo>
                  <a:pt x="998" y="1091"/>
                </a:lnTo>
                <a:lnTo>
                  <a:pt x="1035" y="1083"/>
                </a:lnTo>
                <a:lnTo>
                  <a:pt x="45" y="0"/>
                </a:lnTo>
                <a:lnTo>
                  <a:pt x="0" y="3"/>
                </a:lnTo>
                <a:close/>
              </a:path>
            </a:pathLst>
          </a:custGeom>
          <a:solidFill>
            <a:srgbClr val="0000FF"/>
          </a:solidFill>
          <a:ln>
            <a:noFill/>
          </a:ln>
          <a:effectLst/>
        </p:spPr>
        <p:txBody>
          <a:bodyPr/>
          <a:lstStyle/>
          <a:p>
            <a:endParaRPr lang="zh-CN" altLang="en-US" sz="1400" b="1">
              <a:solidFill>
                <a:srgbClr val="000099"/>
              </a:solidFill>
              <a:latin typeface="微软雅黑" pitchFamily="34" charset="-122"/>
              <a:ea typeface="微软雅黑" pitchFamily="34" charset="-122"/>
            </a:endParaRPr>
          </a:p>
        </p:txBody>
      </p:sp>
      <p:grpSp>
        <p:nvGrpSpPr>
          <p:cNvPr id="64" name="组合 63"/>
          <p:cNvGrpSpPr/>
          <p:nvPr/>
        </p:nvGrpSpPr>
        <p:grpSpPr>
          <a:xfrm>
            <a:off x="2024468" y="2623770"/>
            <a:ext cx="5095061" cy="643610"/>
            <a:chOff x="603552" y="5085184"/>
            <a:chExt cx="9120681" cy="1152128"/>
          </a:xfrm>
          <a:solidFill>
            <a:srgbClr val="FFFF99"/>
          </a:solidFill>
        </p:grpSpPr>
        <p:sp>
          <p:nvSpPr>
            <p:cNvPr id="65" name="矩形 64"/>
            <p:cNvSpPr/>
            <p:nvPr/>
          </p:nvSpPr>
          <p:spPr bwMode="auto">
            <a:xfrm>
              <a:off x="603552" y="5085184"/>
              <a:ext cx="9120681" cy="1152128"/>
            </a:xfrm>
            <a:prstGeom prst="rect">
              <a:avLst/>
            </a:prstGeom>
            <a:gr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chemeClr val="tx1"/>
                </a:solidFill>
                <a:effectLst/>
                <a:latin typeface="微软雅黑" pitchFamily="34" charset="-122"/>
                <a:ea typeface="微软雅黑" pitchFamily="34" charset="-122"/>
              </a:endParaRPr>
            </a:p>
          </p:txBody>
        </p:sp>
        <p:sp>
          <p:nvSpPr>
            <p:cNvPr id="67" name="Text Box 6"/>
            <p:cNvSpPr txBox="1">
              <a:spLocks noChangeArrowheads="1"/>
            </p:cNvSpPr>
            <p:nvPr/>
          </p:nvSpPr>
          <p:spPr bwMode="auto">
            <a:xfrm>
              <a:off x="8219829" y="5397242"/>
              <a:ext cx="1231607" cy="606046"/>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rPr>
                <a:t>(5-3)</a:t>
              </a:r>
            </a:p>
          </p:txBody>
        </p:sp>
        <p:sp>
          <p:nvSpPr>
            <p:cNvPr id="68" name="TextBox 67"/>
            <p:cNvSpPr txBox="1"/>
            <p:nvPr/>
          </p:nvSpPr>
          <p:spPr>
            <a:xfrm>
              <a:off x="1050286" y="5399420"/>
              <a:ext cx="2167077" cy="606046"/>
            </a:xfrm>
            <a:prstGeom prst="rect">
              <a:avLst/>
            </a:prstGeom>
            <a:grp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defRPr sz="3200" b="1">
                  <a:solidFill>
                    <a:srgbClr val="003399"/>
                  </a:solidFill>
                  <a:latin typeface="+mn-lt"/>
                  <a:ea typeface="黑体" pitchFamily="2" charset="-122"/>
                </a:defRPr>
              </a:lvl1pPr>
            </a:lstStyle>
            <a:p>
              <a:r>
                <a:rPr lang="zh-CN" altLang="en-US" sz="1600" dirty="0">
                  <a:solidFill>
                    <a:schemeClr val="tx1"/>
                  </a:solidFill>
                  <a:latin typeface="微软雅黑" pitchFamily="34" charset="-122"/>
                  <a:ea typeface="微软雅黑" pitchFamily="34" charset="-122"/>
                </a:rPr>
                <a:t>信道利用率</a:t>
              </a:r>
            </a:p>
          </p:txBody>
        </p:sp>
      </p:grpSp>
      <p:sp>
        <p:nvSpPr>
          <p:cNvPr id="2" name="矩形 1"/>
          <p:cNvSpPr/>
          <p:nvPr/>
        </p:nvSpPr>
        <p:spPr>
          <a:xfrm>
            <a:off x="1344707" y="3350401"/>
            <a:ext cx="6714564" cy="338554"/>
          </a:xfrm>
          <a:prstGeom prst="rect">
            <a:avLst/>
          </a:prstGeom>
        </p:spPr>
        <p:txBody>
          <a:bodyPr wrap="square">
            <a:spAutoFit/>
          </a:bodyPr>
          <a:lstStyle/>
          <a:p>
            <a:r>
              <a:rPr lang="zh-CN" altLang="en-US" sz="1600" b="1" dirty="0">
                <a:latin typeface="微软雅黑" panose="020B0503020204020204" pitchFamily="34" charset="-122"/>
                <a:ea typeface="微软雅黑" panose="020B0503020204020204" pitchFamily="34" charset="-122"/>
              </a:rPr>
              <a:t>当往返时间 </a:t>
            </a:r>
            <a:r>
              <a:rPr lang="en-US" altLang="zh-CN" sz="1600" b="1" dirty="0">
                <a:latin typeface="微软雅黑" panose="020B0503020204020204" pitchFamily="34" charset="-122"/>
                <a:ea typeface="微软雅黑" panose="020B0503020204020204" pitchFamily="34" charset="-122"/>
              </a:rPr>
              <a:t>RTT </a:t>
            </a:r>
            <a:r>
              <a:rPr lang="zh-CN" altLang="en-US" sz="1600" b="1" dirty="0">
                <a:latin typeface="微软雅黑" panose="020B0503020204020204" pitchFamily="34" charset="-122"/>
                <a:ea typeface="微软雅黑" panose="020B0503020204020204" pitchFamily="34" charset="-122"/>
              </a:rPr>
              <a:t>远大于分组发送时间 </a:t>
            </a:r>
            <a:r>
              <a:rPr lang="en-US" altLang="zh-CN" sz="1600" b="1" dirty="0">
                <a:latin typeface="微软雅黑" panose="020B0503020204020204" pitchFamily="34" charset="-122"/>
                <a:ea typeface="微软雅黑" panose="020B0503020204020204" pitchFamily="34" charset="-122"/>
              </a:rPr>
              <a:t>T</a:t>
            </a:r>
            <a:r>
              <a:rPr lang="en-US" altLang="zh-CN" sz="1600" b="1" baseline="-25000" dirty="0">
                <a:latin typeface="微软雅黑" panose="020B0503020204020204" pitchFamily="34" charset="-122"/>
                <a:ea typeface="微软雅黑" panose="020B0503020204020204" pitchFamily="34" charset="-122"/>
              </a:rPr>
              <a:t>D</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时，信道的利用率会非常低。</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4CEC804A-81C3-7C37-FAD4-841D55E23D1F}"/>
                  </a:ext>
                </a:extLst>
              </p:cNvPr>
              <p:cNvSpPr txBox="1"/>
              <p:nvPr/>
            </p:nvSpPr>
            <p:spPr>
              <a:xfrm>
                <a:off x="3737369" y="2746686"/>
                <a:ext cx="1997815" cy="426142"/>
              </a:xfrm>
              <a:prstGeom prst="rect">
                <a:avLst/>
              </a:prstGeom>
              <a:noFill/>
            </p:spPr>
            <p:txBody>
              <a:bodyPr wrap="square" lIns="0" tIns="0" rIns="0" bIns="0" rtlCol="0">
                <a:spAutoFit/>
              </a:bodyPr>
              <a:lstStyle/>
              <a:p>
                <a14:m>
                  <m:oMath xmlns:m="http://schemas.openxmlformats.org/officeDocument/2006/math">
                    <m:r>
                      <a:rPr lang="en-US" altLang="zh-CN" b="0" i="1" smtClean="0">
                        <a:latin typeface="Cambria Math" panose="02040503050406030204" pitchFamily="18" charset="0"/>
                      </a:rPr>
                      <m:t>𝑈</m:t>
                    </m:r>
                  </m:oMath>
                </a14:m>
                <a:r>
                  <a:rPr lang="en-US" altLang="zh-CN" dirty="0"/>
                  <a:t>=</a:t>
                </a:r>
                <a14:m>
                  <m:oMath xmlns:m="http://schemas.openxmlformats.org/officeDocument/2006/math">
                    <m:f>
                      <m:fPr>
                        <m:ctrlPr>
                          <a:rPr lang="en-US" altLang="zh-CN" i="1" dirty="0" smtClean="0">
                            <a:latin typeface="Cambria Math" panose="02040503050406030204" pitchFamily="18" charset="0"/>
                          </a:rPr>
                        </m:ctrlPr>
                      </m:fPr>
                      <m:num>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𝑇</m:t>
                            </m:r>
                          </m:e>
                          <m:sub>
                            <m:r>
                              <a:rPr lang="en-US" altLang="zh-CN" b="0" i="1" dirty="0" smtClean="0">
                                <a:latin typeface="Cambria Math" panose="02040503050406030204" pitchFamily="18" charset="0"/>
                              </a:rPr>
                              <m:t>𝐷</m:t>
                            </m:r>
                          </m:sub>
                        </m:sSub>
                      </m:num>
                      <m:den>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𝑇</m:t>
                            </m:r>
                          </m:e>
                          <m:sub>
                            <m:r>
                              <a:rPr lang="en-US" altLang="zh-CN" b="0" i="1" dirty="0" smtClean="0">
                                <a:latin typeface="Cambria Math" panose="02040503050406030204" pitchFamily="18" charset="0"/>
                              </a:rPr>
                              <m:t>𝐷</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𝑇</m:t>
                            </m:r>
                          </m:e>
                          <m:sub>
                            <m:r>
                              <a:rPr lang="en-US" altLang="zh-CN" b="0" i="1" dirty="0" smtClean="0">
                                <a:latin typeface="Cambria Math" panose="02040503050406030204" pitchFamily="18" charset="0"/>
                              </a:rPr>
                              <m:t>𝑃</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𝑇</m:t>
                            </m:r>
                          </m:e>
                          <m:sub>
                            <m:r>
                              <a:rPr lang="en-US" altLang="zh-CN" b="0" i="1" dirty="0" smtClean="0">
                                <a:latin typeface="Cambria Math" panose="02040503050406030204" pitchFamily="18" charset="0"/>
                              </a:rPr>
                              <m:t>𝐴</m:t>
                            </m:r>
                          </m:sub>
                        </m:sSub>
                      </m:den>
                    </m:f>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𝑇</m:t>
                            </m:r>
                          </m:e>
                          <m:sub>
                            <m:r>
                              <a:rPr lang="en-US" altLang="zh-CN" i="1" dirty="0">
                                <a:latin typeface="Cambria Math" panose="02040503050406030204" pitchFamily="18" charset="0"/>
                              </a:rPr>
                              <m:t>𝐷</m:t>
                            </m:r>
                          </m:sub>
                        </m:sSub>
                      </m:num>
                      <m:den>
                        <m:r>
                          <m:rPr>
                            <m:sty m:val="p"/>
                          </m:rPr>
                          <a:rPr lang="en-US" altLang="zh-CN" b="0" i="0" dirty="0" smtClean="0">
                            <a:latin typeface="Cambria Math" panose="02040503050406030204" pitchFamily="18" charset="0"/>
                          </a:rPr>
                          <m:t>RTT</m:t>
                        </m:r>
                      </m:den>
                    </m:f>
                  </m:oMath>
                </a14:m>
                <a:endParaRPr lang="zh-CN" altLang="en-US" dirty="0"/>
              </a:p>
            </p:txBody>
          </p:sp>
        </mc:Choice>
        <mc:Fallback xmlns="">
          <p:sp>
            <p:nvSpPr>
              <p:cNvPr id="5" name="文本框 4">
                <a:extLst>
                  <a:ext uri="{FF2B5EF4-FFF2-40B4-BE49-F238E27FC236}">
                    <a16:creationId xmlns:a16="http://schemas.microsoft.com/office/drawing/2014/main" id="{4CEC804A-81C3-7C37-FAD4-841D55E23D1F}"/>
                  </a:ext>
                </a:extLst>
              </p:cNvPr>
              <p:cNvSpPr txBox="1">
                <a:spLocks noRot="1" noChangeAspect="1" noMove="1" noResize="1" noEditPoints="1" noAdjustHandles="1" noChangeArrowheads="1" noChangeShapeType="1" noTextEdit="1"/>
              </p:cNvSpPr>
              <p:nvPr/>
            </p:nvSpPr>
            <p:spPr>
              <a:xfrm>
                <a:off x="3737369" y="2746686"/>
                <a:ext cx="1997815" cy="426142"/>
              </a:xfrm>
              <a:prstGeom prst="rect">
                <a:avLst/>
              </a:prstGeom>
              <a:blipFill>
                <a:blip r:embed="rId3"/>
                <a:stretch>
                  <a:fillRect l="-3963" t="-4348" b="-13043"/>
                </a:stretch>
              </a:blipFill>
            </p:spPr>
            <p:txBody>
              <a:bodyPr/>
              <a:lstStyle/>
              <a:p>
                <a:r>
                  <a:rPr lang="zh-CN" altLang="en-US">
                    <a:noFill/>
                  </a:rPr>
                  <a:t> </a:t>
                </a:r>
              </a:p>
            </p:txBody>
          </p:sp>
        </mc:Fallback>
      </mc:AlternateContent>
      <p:grpSp>
        <p:nvGrpSpPr>
          <p:cNvPr id="9" name="组合 8">
            <a:extLst>
              <a:ext uri="{FF2B5EF4-FFF2-40B4-BE49-F238E27FC236}">
                <a16:creationId xmlns:a16="http://schemas.microsoft.com/office/drawing/2014/main" id="{C4D7966E-2151-24EC-60B5-4C56BE909FEB}"/>
              </a:ext>
            </a:extLst>
          </p:cNvPr>
          <p:cNvGrpSpPr/>
          <p:nvPr/>
        </p:nvGrpSpPr>
        <p:grpSpPr>
          <a:xfrm>
            <a:off x="4583854" y="2204819"/>
            <a:ext cx="633080" cy="321610"/>
            <a:chOff x="4824878" y="2190535"/>
            <a:chExt cx="633080" cy="321610"/>
          </a:xfrm>
        </p:grpSpPr>
        <p:sp>
          <p:nvSpPr>
            <p:cNvPr id="6" name="Text Box 14">
              <a:extLst>
                <a:ext uri="{FF2B5EF4-FFF2-40B4-BE49-F238E27FC236}">
                  <a16:creationId xmlns:a16="http://schemas.microsoft.com/office/drawing/2014/main" id="{177A0343-C28C-5E9D-1B42-53C98882EDB4}"/>
                </a:ext>
              </a:extLst>
            </p:cNvPr>
            <p:cNvSpPr txBox="1">
              <a:spLocks noChangeArrowheads="1"/>
            </p:cNvSpPr>
            <p:nvPr/>
          </p:nvSpPr>
          <p:spPr bwMode="auto">
            <a:xfrm>
              <a:off x="5079328" y="2235146"/>
              <a:ext cx="378630" cy="276999"/>
            </a:xfrm>
            <a:prstGeom prst="rect">
              <a:avLst/>
            </a:prstGeom>
            <a:solidFill>
              <a:srgbClr val="C3E3F9"/>
            </a:solidFill>
            <a:ln>
              <a:noFill/>
            </a:ln>
            <a:effectLst/>
          </p:spPr>
          <p:txBody>
            <a:bodyPr wrap="none">
              <a:spAutoFit/>
            </a:bodyPr>
            <a:lstStyle/>
            <a:p>
              <a:r>
                <a:rPr lang="en-US" altLang="zh-CN" sz="1200" b="1" i="1" dirty="0">
                  <a:solidFill>
                    <a:srgbClr val="0000FF"/>
                  </a:solidFill>
                  <a:latin typeface="微软雅黑" pitchFamily="34" charset="-122"/>
                  <a:ea typeface="微软雅黑" pitchFamily="34" charset="-122"/>
                </a:rPr>
                <a:t>T</a:t>
              </a:r>
              <a:r>
                <a:rPr lang="en-US" altLang="zh-CN" sz="1200" b="1" i="1" baseline="-25000" dirty="0">
                  <a:solidFill>
                    <a:srgbClr val="0000FF"/>
                  </a:solidFill>
                  <a:latin typeface="微软雅黑" pitchFamily="34" charset="-122"/>
                  <a:ea typeface="微软雅黑" pitchFamily="34" charset="-122"/>
                </a:rPr>
                <a:t>A</a:t>
              </a:r>
              <a:r>
                <a:rPr lang="en-US" altLang="zh-CN" sz="1200" b="1" baseline="-25000" dirty="0">
                  <a:solidFill>
                    <a:srgbClr val="0000FF"/>
                  </a:solidFill>
                  <a:latin typeface="微软雅黑" pitchFamily="34" charset="-122"/>
                  <a:ea typeface="微软雅黑" pitchFamily="34" charset="-122"/>
                </a:rPr>
                <a:t> </a:t>
              </a:r>
              <a:endParaRPr lang="en-US" altLang="zh-CN" sz="1200" b="1" i="1" baseline="-25000" dirty="0">
                <a:solidFill>
                  <a:srgbClr val="0000FF"/>
                </a:solidFill>
                <a:latin typeface="微软雅黑" pitchFamily="34" charset="-122"/>
                <a:ea typeface="微软雅黑" pitchFamily="34" charset="-122"/>
              </a:endParaRPr>
            </a:p>
          </p:txBody>
        </p:sp>
        <p:cxnSp>
          <p:nvCxnSpPr>
            <p:cNvPr id="8" name="直接箭头连接符 7">
              <a:extLst>
                <a:ext uri="{FF2B5EF4-FFF2-40B4-BE49-F238E27FC236}">
                  <a16:creationId xmlns:a16="http://schemas.microsoft.com/office/drawing/2014/main" id="{0C3E7E52-81EF-64B1-7D8A-0E9067C08CBB}"/>
                </a:ext>
              </a:extLst>
            </p:cNvPr>
            <p:cNvCxnSpPr>
              <a:cxnSpLocks/>
            </p:cNvCxnSpPr>
            <p:nvPr/>
          </p:nvCxnSpPr>
          <p:spPr>
            <a:xfrm flipH="1" flipV="1">
              <a:off x="4824878" y="2190535"/>
              <a:ext cx="329599" cy="1762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69443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5" presetClass="emph" presetSubtype="0" repeatCount="3000" fill="hold" grpId="0" nodeType="clickEffect">
                                  <p:stCondLst>
                                    <p:cond delay="0"/>
                                  </p:stCondLst>
                                  <p:childTnLst>
                                    <p:anim calcmode="discrete" valueType="str">
                                      <p:cBhvr>
                                        <p:cTn id="13" dur="1000" fill="hold"/>
                                        <p:tgtEl>
                                          <p:spTgt spid="28"/>
                                        </p:tgtEl>
                                        <p:attrNameLst>
                                          <p:attrName>style.visibility</p:attrName>
                                        </p:attrNameLst>
                                      </p:cBhvr>
                                      <p:tavLst>
                                        <p:tav tm="0">
                                          <p:val>
                                            <p:strVal val="hidden"/>
                                          </p:val>
                                        </p:tav>
                                        <p:tav tm="50000">
                                          <p:val>
                                            <p:strVal val="visible"/>
                                          </p:val>
                                        </p:tav>
                                      </p:tavLst>
                                    </p:anim>
                                  </p:childTnLst>
                                </p:cTn>
                              </p:par>
                            </p:childTnLst>
                          </p:cTn>
                        </p:par>
                      </p:childTnLst>
                    </p:cTn>
                  </p:par>
                  <p:par>
                    <p:cTn id="14" fill="hold">
                      <p:stCondLst>
                        <p:cond delay="indefinite"/>
                      </p:stCondLst>
                      <p:childTnLst>
                        <p:par>
                          <p:cTn id="15" fill="hold">
                            <p:stCondLst>
                              <p:cond delay="0"/>
                            </p:stCondLst>
                            <p:childTnLst>
                              <p:par>
                                <p:cTn id="16" presetID="35" presetClass="emph" presetSubtype="0" repeatCount="3000" fill="hold" grpId="0" nodeType="clickEffect">
                                  <p:stCondLst>
                                    <p:cond delay="0"/>
                                  </p:stCondLst>
                                  <p:childTnLst>
                                    <p:anim calcmode="discrete" valueType="str">
                                      <p:cBhvr>
                                        <p:cTn id="17" dur="1000" fill="hold"/>
                                        <p:tgtEl>
                                          <p:spTgt spid="33"/>
                                        </p:tgtEl>
                                        <p:attrNameLst>
                                          <p:attrName>style.visibility</p:attrName>
                                        </p:attrNameLst>
                                      </p:cBhvr>
                                      <p:tavLst>
                                        <p:tav tm="0">
                                          <p:val>
                                            <p:strVal val="hidden"/>
                                          </p:val>
                                        </p:tav>
                                        <p:tav tm="50000">
                                          <p:val>
                                            <p:strVal val="visible"/>
                                          </p:val>
                                        </p:tav>
                                      </p:tavLst>
                                    </p:anim>
                                  </p:childTnLst>
                                </p:cTn>
                              </p:par>
                              <p:par>
                                <p:cTn id="18" presetID="35" presetClass="emph" presetSubtype="0" repeatCount="3000" fill="hold" grpId="0" nodeType="withEffect">
                                  <p:stCondLst>
                                    <p:cond delay="0"/>
                                  </p:stCondLst>
                                  <p:childTnLst>
                                    <p:anim calcmode="discrete" valueType="str">
                                      <p:cBhvr>
                                        <p:cTn id="19" dur="1000" fill="hold"/>
                                        <p:tgtEl>
                                          <p:spTgt spid="32"/>
                                        </p:tgtEl>
                                        <p:attrNameLst>
                                          <p:attrName>style.visibility</p:attrName>
                                        </p:attrNameLst>
                                      </p:cBhvr>
                                      <p:tavLst>
                                        <p:tav tm="0">
                                          <p:val>
                                            <p:strVal val="hidden"/>
                                          </p:val>
                                        </p:tav>
                                        <p:tav tm="50000">
                                          <p:val>
                                            <p:strVal val="visible"/>
                                          </p:val>
                                        </p:tav>
                                      </p:tavLst>
                                    </p:anim>
                                  </p:childTnLst>
                                </p:cTn>
                              </p:par>
                            </p:childTnLst>
                          </p:cTn>
                        </p:par>
                      </p:childTnLst>
                    </p:cTn>
                  </p:par>
                  <p:par>
                    <p:cTn id="20" fill="hold">
                      <p:stCondLst>
                        <p:cond delay="indefinite"/>
                      </p:stCondLst>
                      <p:childTnLst>
                        <p:par>
                          <p:cTn id="21" fill="hold">
                            <p:stCondLst>
                              <p:cond delay="0"/>
                            </p:stCondLst>
                            <p:childTnLst>
                              <p:par>
                                <p:cTn id="22" presetID="35" presetClass="emph" presetSubtype="0" repeatCount="3000" fill="hold" grpId="0" nodeType="clickEffect">
                                  <p:stCondLst>
                                    <p:cond delay="0"/>
                                  </p:stCondLst>
                                  <p:childTnLst>
                                    <p:anim calcmode="discrete" valueType="str">
                                      <p:cBhvr>
                                        <p:cTn id="23" dur="1000" fill="hold"/>
                                        <p:tgtEl>
                                          <p:spTgt spid="38"/>
                                        </p:tgtEl>
                                        <p:attrNameLst>
                                          <p:attrName>style.visibility</p:attrName>
                                        </p:attrNameLst>
                                      </p:cBhvr>
                                      <p:tavLst>
                                        <p:tav tm="0">
                                          <p:val>
                                            <p:strVal val="hidden"/>
                                          </p:val>
                                        </p:tav>
                                        <p:tav tm="50000">
                                          <p:val>
                                            <p:strVal val="visible"/>
                                          </p:val>
                                        </p:tav>
                                      </p:tavLst>
                                    </p:anim>
                                  </p:childTnLst>
                                </p:cTn>
                              </p:par>
                              <p:par>
                                <p:cTn id="24" presetID="35" presetClass="emph" presetSubtype="0" repeatCount="3000" fill="hold" grpId="0" nodeType="withEffect">
                                  <p:stCondLst>
                                    <p:cond delay="0"/>
                                  </p:stCondLst>
                                  <p:childTnLst>
                                    <p:anim calcmode="discrete" valueType="str">
                                      <p:cBhvr>
                                        <p:cTn id="25" dur="1000" fill="hold"/>
                                        <p:tgtEl>
                                          <p:spTgt spid="37"/>
                                        </p:tgtEl>
                                        <p:attrNameLst>
                                          <p:attrName>style.visibility</p:attrName>
                                        </p:attrNameLst>
                                      </p:cBhvr>
                                      <p:tavLst>
                                        <p:tav tm="0">
                                          <p:val>
                                            <p:strVal val="hidden"/>
                                          </p:val>
                                        </p:tav>
                                        <p:tav tm="50000">
                                          <p:val>
                                            <p:strVal val="visible"/>
                                          </p:val>
                                        </p:tav>
                                      </p:tavLst>
                                    </p:anim>
                                  </p:childTnLst>
                                </p:cTn>
                              </p:par>
                            </p:childTnLst>
                          </p:cTn>
                        </p:par>
                      </p:childTnLst>
                    </p:cTn>
                  </p:par>
                  <p:par>
                    <p:cTn id="26" fill="hold">
                      <p:stCondLst>
                        <p:cond delay="indefinite"/>
                      </p:stCondLst>
                      <p:childTnLst>
                        <p:par>
                          <p:cTn id="27" fill="hold">
                            <p:stCondLst>
                              <p:cond delay="0"/>
                            </p:stCondLst>
                            <p:childTnLst>
                              <p:par>
                                <p:cTn id="28" presetID="35" presetClass="emph" presetSubtype="0" repeatCount="3000" fill="hold" nodeType="clickEffect">
                                  <p:stCondLst>
                                    <p:cond delay="0"/>
                                  </p:stCondLst>
                                  <p:childTnLst>
                                    <p:anim calcmode="discrete" valueType="str">
                                      <p:cBhvr>
                                        <p:cTn id="29" dur="1000" fill="hold"/>
                                        <p:tgtEl>
                                          <p:spTgt spid="9"/>
                                        </p:tgtEl>
                                        <p:attrNameLst>
                                          <p:attrName>style.visibility</p:attrName>
                                        </p:attrNameLst>
                                      </p:cBhvr>
                                      <p:tavLst>
                                        <p:tav tm="0">
                                          <p:val>
                                            <p:strVal val="hidden"/>
                                          </p:val>
                                        </p:tav>
                                        <p:tav tm="50000">
                                          <p:val>
                                            <p:strVal val="visible"/>
                                          </p:val>
                                        </p:tav>
                                      </p:tavLst>
                                    </p:anim>
                                  </p:childTnLst>
                                </p:cTn>
                              </p:par>
                            </p:childTnLst>
                          </p:cTn>
                        </p:par>
                      </p:childTnLst>
                    </p:cTn>
                  </p:par>
                  <p:par>
                    <p:cTn id="30" fill="hold">
                      <p:stCondLst>
                        <p:cond delay="indefinite"/>
                      </p:stCondLst>
                      <p:childTnLst>
                        <p:par>
                          <p:cTn id="31" fill="hold">
                            <p:stCondLst>
                              <p:cond delay="0"/>
                            </p:stCondLst>
                            <p:childTnLst>
                              <p:par>
                                <p:cTn id="32" presetID="35" presetClass="emph" presetSubtype="0" repeatCount="3000" fill="hold" grpId="0" nodeType="clickEffect">
                                  <p:stCondLst>
                                    <p:cond delay="0"/>
                                  </p:stCondLst>
                                  <p:childTnLst>
                                    <p:anim calcmode="discrete" valueType="str">
                                      <p:cBhvr>
                                        <p:cTn id="33" dur="1000" fill="hold"/>
                                        <p:tgtEl>
                                          <p:spTgt spid="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p:bldP spid="32" grpId="0" animBg="1"/>
      <p:bldP spid="33" grpId="0" animBg="1"/>
      <p:bldP spid="37" grpId="0" animBg="1"/>
      <p:bldP spid="38" grpId="0" animBg="1"/>
      <p:bldP spid="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3" name="Rectangle 6"/>
          <p:cNvSpPr>
            <a:spLocks noChangeArrowheads="1"/>
          </p:cNvSpPr>
          <p:nvPr/>
        </p:nvSpPr>
        <p:spPr bwMode="auto">
          <a:xfrm>
            <a:off x="3463095" y="587638"/>
            <a:ext cx="223651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停止等待协议要点</a:t>
            </a:r>
          </a:p>
        </p:txBody>
      </p:sp>
      <p:sp>
        <p:nvSpPr>
          <p:cNvPr id="34" name="Rectangle 68"/>
          <p:cNvSpPr>
            <a:spLocks noChangeArrowheads="1"/>
          </p:cNvSpPr>
          <p:nvPr/>
        </p:nvSpPr>
        <p:spPr bwMode="auto">
          <a:xfrm>
            <a:off x="556963" y="983948"/>
            <a:ext cx="8048776" cy="36482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8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停止等待。</a:t>
            </a:r>
            <a:r>
              <a:rPr lang="zh-CN" altLang="en-US" b="1" dirty="0">
                <a:latin typeface="微软雅黑" pitchFamily="34" charset="-122"/>
                <a:ea typeface="微软雅黑" pitchFamily="34" charset="-122"/>
              </a:rPr>
              <a:t>发送方每次只发送一个分组。在收到确认后再发送下一个分组。</a:t>
            </a:r>
            <a:endParaRPr lang="en-US" altLang="zh-CN" b="1" dirty="0">
              <a:latin typeface="微软雅黑" pitchFamily="34" charset="-122"/>
              <a:ea typeface="微软雅黑" pitchFamily="34" charset="-122"/>
            </a:endParaRPr>
          </a:p>
          <a:p>
            <a:pPr marL="342900" indent="-34290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在发送完一个分组后，发送方必须暂存已发送的分组的副本，以备重传。</a:t>
            </a:r>
          </a:p>
          <a:p>
            <a:pPr marL="342900" indent="-342900">
              <a:lnSpc>
                <a:spcPts val="28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编号。</a:t>
            </a:r>
            <a:r>
              <a:rPr lang="zh-CN" altLang="en-US" b="1" dirty="0">
                <a:latin typeface="微软雅黑" pitchFamily="34" charset="-122"/>
                <a:ea typeface="微软雅黑" pitchFamily="34" charset="-122"/>
              </a:rPr>
              <a:t>对发送的每个分组和确认都进行编号。</a:t>
            </a:r>
            <a:endParaRPr lang="en-US" altLang="zh-CN" b="1" dirty="0">
              <a:latin typeface="微软雅黑" pitchFamily="34" charset="-122"/>
              <a:ea typeface="微软雅黑" pitchFamily="34" charset="-122"/>
            </a:endParaRPr>
          </a:p>
          <a:p>
            <a:pPr marL="342900" indent="-342900">
              <a:lnSpc>
                <a:spcPts val="28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超时重传。</a:t>
            </a:r>
            <a:r>
              <a:rPr lang="zh-CN" altLang="en-US" b="1" dirty="0">
                <a:latin typeface="微软雅黑" pitchFamily="34" charset="-122"/>
                <a:ea typeface="微软雅黑" pitchFamily="34" charset="-122"/>
              </a:rPr>
              <a:t>发送方为发送的每个分组设置一个超时计时器。若超时计时器超时位收到确认，发送方会</a:t>
            </a:r>
            <a:r>
              <a:rPr lang="zh-CN" altLang="en-US" b="1" dirty="0">
                <a:solidFill>
                  <a:srgbClr val="C00000"/>
                </a:solidFill>
                <a:latin typeface="微软雅黑" pitchFamily="34" charset="-122"/>
                <a:ea typeface="微软雅黑" pitchFamily="34" charset="-122"/>
              </a:rPr>
              <a:t>自动</a:t>
            </a:r>
            <a:r>
              <a:rPr lang="zh-CN" altLang="en-US" b="1" dirty="0">
                <a:latin typeface="微软雅黑" pitchFamily="34" charset="-122"/>
                <a:ea typeface="微软雅黑" pitchFamily="34" charset="-122"/>
              </a:rPr>
              <a:t>超时重传分组。重传是自动产生的，因此停止等待协议又称为停止等待</a:t>
            </a:r>
            <a:r>
              <a:rPr lang="en-US" altLang="zh-CN" b="1" dirty="0">
                <a:solidFill>
                  <a:srgbClr val="C00000"/>
                </a:solidFill>
                <a:latin typeface="微软雅黑" pitchFamily="34" charset="-122"/>
                <a:ea typeface="微软雅黑" pitchFamily="34" charset="-122"/>
              </a:rPr>
              <a:t>ARQ</a:t>
            </a:r>
            <a:r>
              <a:rPr lang="en-US" altLang="zh-CN" b="1" dirty="0">
                <a:latin typeface="微软雅黑" pitchFamily="34" charset="-122"/>
                <a:ea typeface="微软雅黑" pitchFamily="34" charset="-122"/>
              </a:rPr>
              <a:t> (Automatic Repeat </a:t>
            </a:r>
            <a:r>
              <a:rPr lang="en-US" altLang="zh-CN" b="1" dirty="0" err="1">
                <a:latin typeface="微软雅黑" pitchFamily="34" charset="-122"/>
                <a:ea typeface="微软雅黑" pitchFamily="34" charset="-122"/>
              </a:rPr>
              <a:t>reQuest</a:t>
            </a:r>
            <a:r>
              <a:rPr lang="en-US" altLang="zh-CN" b="1" dirty="0">
                <a:latin typeface="微软雅黑" pitchFamily="34" charset="-122"/>
                <a:ea typeface="微软雅黑" pitchFamily="34" charset="-122"/>
              </a:rPr>
              <a:t>)</a:t>
            </a:r>
            <a:r>
              <a:rPr lang="zh-CN" altLang="en-US" b="1" dirty="0">
                <a:latin typeface="微软雅黑" pitchFamily="34" charset="-122"/>
                <a:ea typeface="微软雅黑" pitchFamily="34" charset="-122"/>
              </a:rPr>
              <a:t>，</a:t>
            </a:r>
            <a:r>
              <a:rPr lang="en-US" altLang="zh-CN" b="1" dirty="0">
                <a:latin typeface="微软雅黑" pitchFamily="34" charset="-122"/>
                <a:ea typeface="微软雅黑" pitchFamily="34" charset="-122"/>
              </a:rPr>
              <a:t>ARQ</a:t>
            </a:r>
            <a:r>
              <a:rPr lang="zh-CN" altLang="en-US" b="1" dirty="0">
                <a:latin typeface="微软雅黑" pitchFamily="34" charset="-122"/>
                <a:ea typeface="微软雅黑" pitchFamily="34" charset="-122"/>
              </a:rPr>
              <a:t>的译名是即</a:t>
            </a:r>
            <a:r>
              <a:rPr lang="zh-CN" altLang="en-US" b="1" dirty="0">
                <a:solidFill>
                  <a:srgbClr val="C00000"/>
                </a:solidFill>
                <a:latin typeface="微软雅黑" pitchFamily="34" charset="-122"/>
                <a:ea typeface="微软雅黑" pitchFamily="34" charset="-122"/>
              </a:rPr>
              <a:t>自动重传请求</a:t>
            </a:r>
            <a:r>
              <a:rPr lang="zh-CN" altLang="en-US" b="1" dirty="0">
                <a:latin typeface="微软雅黑" pitchFamily="34" charset="-122"/>
                <a:ea typeface="微软雅黑" pitchFamily="34" charset="-122"/>
              </a:rPr>
              <a:t>。</a:t>
            </a:r>
            <a:endParaRPr lang="en-US" altLang="zh-CN" b="1" dirty="0">
              <a:latin typeface="微软雅黑" pitchFamily="34" charset="-122"/>
              <a:ea typeface="微软雅黑" pitchFamily="34" charset="-122"/>
            </a:endParaRPr>
          </a:p>
          <a:p>
            <a:pPr marL="342900" indent="-34290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超时计时器的重传时间应当比数据在分组传输的平均往返时间</a:t>
            </a:r>
            <a:r>
              <a:rPr lang="zh-CN" altLang="en-US" b="1" dirty="0">
                <a:solidFill>
                  <a:srgbClr val="C00000"/>
                </a:solidFill>
                <a:latin typeface="微软雅黑" pitchFamily="34" charset="-122"/>
                <a:ea typeface="微软雅黑" pitchFamily="34" charset="-122"/>
              </a:rPr>
              <a:t>更长一些，</a:t>
            </a:r>
            <a:r>
              <a:rPr lang="zh-CN" altLang="en-US" b="1" dirty="0">
                <a:latin typeface="微软雅黑" pitchFamily="34" charset="-122"/>
                <a:ea typeface="微软雅黑" pitchFamily="34" charset="-122"/>
              </a:rPr>
              <a:t>防止不必要的重传。</a:t>
            </a:r>
          </a:p>
          <a:p>
            <a:pPr marL="342900" indent="-342900">
              <a:lnSpc>
                <a:spcPts val="2800"/>
              </a:lnSpc>
              <a:buClr>
                <a:srgbClr val="0070C0"/>
              </a:buClr>
              <a:buFont typeface="Wingdings" pitchFamily="2" charset="2"/>
              <a:buChar char="l"/>
            </a:pPr>
            <a:r>
              <a:rPr lang="zh-CN" altLang="en-US" b="1" dirty="0">
                <a:solidFill>
                  <a:srgbClr val="0000FF"/>
                </a:solidFill>
                <a:latin typeface="微软雅黑" pitchFamily="34" charset="-122"/>
                <a:ea typeface="微软雅黑" pitchFamily="34" charset="-122"/>
              </a:rPr>
              <a:t>简单，但信道利用率太低。</a:t>
            </a:r>
          </a:p>
        </p:txBody>
      </p:sp>
    </p:spTree>
    <p:extLst>
      <p:ext uri="{BB962C8B-B14F-4D97-AF65-F5344CB8AC3E}">
        <p14:creationId xmlns:p14="http://schemas.microsoft.com/office/powerpoint/2010/main" val="42546720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圆角矩形 23"/>
          <p:cNvSpPr/>
          <p:nvPr/>
        </p:nvSpPr>
        <p:spPr>
          <a:xfrm>
            <a:off x="545144" y="1025024"/>
            <a:ext cx="8053711" cy="230984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 Box 155"/>
          <p:cNvSpPr txBox="1">
            <a:spLocks noChangeArrowheads="1"/>
          </p:cNvSpPr>
          <p:nvPr/>
        </p:nvSpPr>
        <p:spPr bwMode="auto">
          <a:xfrm>
            <a:off x="2483225" y="3365643"/>
            <a:ext cx="4435888" cy="759182"/>
          </a:xfrm>
          <a:prstGeom prst="rect">
            <a:avLst/>
          </a:prstGeom>
          <a:solidFill>
            <a:srgbClr val="FFCC66"/>
          </a:solidFill>
          <a:ln w="9525">
            <a:solidFill>
              <a:schemeClr val="tx1"/>
            </a:solidFill>
            <a:miter lim="800000"/>
            <a:headEnd/>
            <a:tailEnd/>
          </a:ln>
          <a:effectLst/>
        </p:spPr>
        <p:txBody>
          <a:bodyPr wrap="square">
            <a:spAutoFit/>
          </a:bodyPr>
          <a:lstStyle/>
          <a:p>
            <a:pPr algn="ctr">
              <a:lnSpc>
                <a:spcPts val="2600"/>
              </a:lnSpc>
            </a:pPr>
            <a:r>
              <a:rPr lang="zh-CN" altLang="en-US" b="1" dirty="0">
                <a:latin typeface="微软雅黑" pitchFamily="34" charset="-122"/>
                <a:ea typeface="微软雅黑" pitchFamily="34" charset="-122"/>
              </a:rPr>
              <a:t>由于信道上一直有数据不间断地传送，</a:t>
            </a:r>
            <a:endParaRPr lang="en-US" altLang="zh-CN" b="1" dirty="0">
              <a:latin typeface="微软雅黑" pitchFamily="34" charset="-122"/>
              <a:ea typeface="微软雅黑" pitchFamily="34" charset="-122"/>
            </a:endParaRPr>
          </a:p>
          <a:p>
            <a:pPr algn="ctr">
              <a:lnSpc>
                <a:spcPts val="2600"/>
              </a:lnSpc>
            </a:pPr>
            <a:r>
              <a:rPr lang="zh-CN" altLang="en-US" b="1" dirty="0">
                <a:latin typeface="微软雅黑" pitchFamily="34" charset="-122"/>
                <a:ea typeface="微软雅黑" pitchFamily="34" charset="-122"/>
              </a:rPr>
              <a:t>流水线传输可获得很高的信道利用率。 </a:t>
            </a:r>
          </a:p>
        </p:txBody>
      </p:sp>
      <p:grpSp>
        <p:nvGrpSpPr>
          <p:cNvPr id="64" name="组合 63"/>
          <p:cNvGrpSpPr/>
          <p:nvPr/>
        </p:nvGrpSpPr>
        <p:grpSpPr>
          <a:xfrm>
            <a:off x="1211409" y="1027656"/>
            <a:ext cx="6790641" cy="1588776"/>
            <a:chOff x="667764" y="2780929"/>
            <a:chExt cx="8907101" cy="2083959"/>
          </a:xfrm>
        </p:grpSpPr>
        <p:sp>
          <p:nvSpPr>
            <p:cNvPr id="26" name="Freeform 4"/>
            <p:cNvSpPr>
              <a:spLocks/>
            </p:cNvSpPr>
            <p:nvPr/>
          </p:nvSpPr>
          <p:spPr bwMode="auto">
            <a:xfrm>
              <a:off x="1318638" y="3084143"/>
              <a:ext cx="7015153" cy="1627189"/>
            </a:xfrm>
            <a:custGeom>
              <a:avLst/>
              <a:gdLst>
                <a:gd name="T0" fmla="*/ 0 w 4131"/>
                <a:gd name="T1" fmla="*/ 1088 h 1088"/>
                <a:gd name="T2" fmla="*/ 987 w 4131"/>
                <a:gd name="T3" fmla="*/ 0 h 1088"/>
                <a:gd name="T4" fmla="*/ 4131 w 4131"/>
                <a:gd name="T5" fmla="*/ 6 h 1088"/>
                <a:gd name="T6" fmla="*/ 3165 w 4131"/>
                <a:gd name="T7" fmla="*/ 1080 h 1088"/>
                <a:gd name="T8" fmla="*/ 0 w 4131"/>
                <a:gd name="T9" fmla="*/ 1088 h 1088"/>
              </a:gdLst>
              <a:ahLst/>
              <a:cxnLst>
                <a:cxn ang="0">
                  <a:pos x="T0" y="T1"/>
                </a:cxn>
                <a:cxn ang="0">
                  <a:pos x="T2" y="T3"/>
                </a:cxn>
                <a:cxn ang="0">
                  <a:pos x="T4" y="T5"/>
                </a:cxn>
                <a:cxn ang="0">
                  <a:pos x="T6" y="T7"/>
                </a:cxn>
                <a:cxn ang="0">
                  <a:pos x="T8" y="T9"/>
                </a:cxn>
              </a:cxnLst>
              <a:rect l="0" t="0" r="r" b="b"/>
              <a:pathLst>
                <a:path w="4131" h="1088">
                  <a:moveTo>
                    <a:pt x="0" y="1088"/>
                  </a:moveTo>
                  <a:lnTo>
                    <a:pt x="987" y="0"/>
                  </a:lnTo>
                  <a:lnTo>
                    <a:pt x="4131" y="6"/>
                  </a:lnTo>
                  <a:lnTo>
                    <a:pt x="3165" y="1080"/>
                  </a:lnTo>
                  <a:lnTo>
                    <a:pt x="0" y="1088"/>
                  </a:lnTo>
                  <a:close/>
                </a:path>
              </a:pathLst>
            </a:custGeom>
            <a:solidFill>
              <a:srgbClr val="00FFFF"/>
            </a:solidFill>
            <a:ln>
              <a:noFill/>
            </a:ln>
            <a:effectLst/>
          </p:spPr>
          <p:txBody>
            <a:bodyPr/>
            <a:lstStyle/>
            <a:p>
              <a:endParaRPr lang="zh-CN" altLang="en-US" sz="1600" b="1">
                <a:latin typeface="微软雅黑" pitchFamily="34" charset="-122"/>
                <a:ea typeface="微软雅黑" pitchFamily="34" charset="-122"/>
              </a:endParaRPr>
            </a:p>
          </p:txBody>
        </p:sp>
        <p:sp>
          <p:nvSpPr>
            <p:cNvPr id="27" name="Line 5"/>
            <p:cNvSpPr>
              <a:spLocks noChangeShapeType="1"/>
            </p:cNvSpPr>
            <p:nvPr/>
          </p:nvSpPr>
          <p:spPr bwMode="auto">
            <a:xfrm>
              <a:off x="1044000" y="4711331"/>
              <a:ext cx="819784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28" name="Line 6"/>
            <p:cNvSpPr>
              <a:spLocks noChangeShapeType="1"/>
            </p:cNvSpPr>
            <p:nvPr/>
          </p:nvSpPr>
          <p:spPr bwMode="auto">
            <a:xfrm>
              <a:off x="1044000" y="3084143"/>
              <a:ext cx="819784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29" name="Text Box 7"/>
            <p:cNvSpPr txBox="1">
              <a:spLocks noChangeArrowheads="1"/>
            </p:cNvSpPr>
            <p:nvPr/>
          </p:nvSpPr>
          <p:spPr bwMode="auto">
            <a:xfrm>
              <a:off x="682051" y="2806331"/>
              <a:ext cx="427251" cy="44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latin typeface="微软雅黑" pitchFamily="34" charset="-122"/>
                  <a:ea typeface="微软雅黑" pitchFamily="34" charset="-122"/>
                </a:rPr>
                <a:t>B</a:t>
              </a:r>
            </a:p>
          </p:txBody>
        </p:sp>
        <p:sp>
          <p:nvSpPr>
            <p:cNvPr id="30" name="Line 8"/>
            <p:cNvSpPr>
              <a:spLocks noChangeShapeType="1"/>
            </p:cNvSpPr>
            <p:nvPr/>
          </p:nvSpPr>
          <p:spPr bwMode="auto">
            <a:xfrm flipV="1">
              <a:off x="1307525" y="3084143"/>
              <a:ext cx="1693861" cy="162718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1" name="Line 9"/>
            <p:cNvSpPr>
              <a:spLocks noChangeShapeType="1"/>
            </p:cNvSpPr>
            <p:nvPr/>
          </p:nvSpPr>
          <p:spPr bwMode="auto">
            <a:xfrm flipV="1">
              <a:off x="1694875" y="3084143"/>
              <a:ext cx="1692273" cy="162718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2" name="Text Box 10"/>
            <p:cNvSpPr txBox="1">
              <a:spLocks noChangeArrowheads="1"/>
            </p:cNvSpPr>
            <p:nvPr/>
          </p:nvSpPr>
          <p:spPr bwMode="auto">
            <a:xfrm rot="18918223">
              <a:off x="1291930" y="3750314"/>
              <a:ext cx="780491" cy="4440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latin typeface="微软雅黑" pitchFamily="34" charset="-122"/>
                  <a:ea typeface="微软雅黑" pitchFamily="34" charset="-122"/>
                </a:rPr>
                <a:t>分组</a:t>
              </a:r>
            </a:p>
          </p:txBody>
        </p:sp>
        <p:sp>
          <p:nvSpPr>
            <p:cNvPr id="33" name="Text Box 11"/>
            <p:cNvSpPr txBox="1">
              <a:spLocks noChangeArrowheads="1"/>
            </p:cNvSpPr>
            <p:nvPr/>
          </p:nvSpPr>
          <p:spPr bwMode="auto">
            <a:xfrm>
              <a:off x="9221204" y="2780929"/>
              <a:ext cx="353661" cy="44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i="1">
                  <a:latin typeface="微软雅黑" pitchFamily="34" charset="-122"/>
                  <a:ea typeface="微软雅黑" pitchFamily="34" charset="-122"/>
                </a:rPr>
                <a:t>t</a:t>
              </a:r>
            </a:p>
          </p:txBody>
        </p:sp>
        <p:sp>
          <p:nvSpPr>
            <p:cNvPr id="34" name="Text Box 12"/>
            <p:cNvSpPr txBox="1">
              <a:spLocks noChangeArrowheads="1"/>
            </p:cNvSpPr>
            <p:nvPr/>
          </p:nvSpPr>
          <p:spPr bwMode="auto">
            <a:xfrm>
              <a:off x="9221204" y="4366844"/>
              <a:ext cx="353661" cy="44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i="1">
                  <a:latin typeface="微软雅黑" pitchFamily="34" charset="-122"/>
                  <a:ea typeface="微软雅黑" pitchFamily="34" charset="-122"/>
                </a:rPr>
                <a:t>t</a:t>
              </a:r>
            </a:p>
          </p:txBody>
        </p:sp>
        <p:sp>
          <p:nvSpPr>
            <p:cNvPr id="35" name="Text Box 13"/>
            <p:cNvSpPr txBox="1">
              <a:spLocks noChangeArrowheads="1"/>
            </p:cNvSpPr>
            <p:nvPr/>
          </p:nvSpPr>
          <p:spPr bwMode="auto">
            <a:xfrm>
              <a:off x="667764" y="4420815"/>
              <a:ext cx="444072" cy="44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latin typeface="微软雅黑" pitchFamily="34" charset="-122"/>
                  <a:ea typeface="微软雅黑" pitchFamily="34" charset="-122"/>
                </a:rPr>
                <a:t>A</a:t>
              </a:r>
            </a:p>
          </p:txBody>
        </p:sp>
        <p:sp>
          <p:nvSpPr>
            <p:cNvPr id="36" name="Line 14"/>
            <p:cNvSpPr>
              <a:spLocks noChangeShapeType="1"/>
            </p:cNvSpPr>
            <p:nvPr/>
          </p:nvSpPr>
          <p:spPr bwMode="auto">
            <a:xfrm rot="15894661">
              <a:off x="2034600" y="3347668"/>
              <a:ext cx="350836" cy="461962"/>
            </a:xfrm>
            <a:prstGeom prst="line">
              <a:avLst/>
            </a:prstGeom>
            <a:noFill/>
            <a:ln w="57150">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7" name="Line 15"/>
            <p:cNvSpPr>
              <a:spLocks noChangeShapeType="1"/>
            </p:cNvSpPr>
            <p:nvPr/>
          </p:nvSpPr>
          <p:spPr bwMode="auto">
            <a:xfrm flipV="1">
              <a:off x="2077463" y="3088904"/>
              <a:ext cx="1693861" cy="16271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8" name="Line 16"/>
            <p:cNvSpPr>
              <a:spLocks noChangeShapeType="1"/>
            </p:cNvSpPr>
            <p:nvPr/>
          </p:nvSpPr>
          <p:spPr bwMode="auto">
            <a:xfrm flipV="1">
              <a:off x="5544559" y="3088904"/>
              <a:ext cx="1693861" cy="1627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9" name="Line 17"/>
            <p:cNvSpPr>
              <a:spLocks noChangeShapeType="1"/>
            </p:cNvSpPr>
            <p:nvPr/>
          </p:nvSpPr>
          <p:spPr bwMode="auto">
            <a:xfrm flipH="1" flipV="1">
              <a:off x="3388737" y="3088904"/>
              <a:ext cx="1693861"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2" name="Line 20"/>
            <p:cNvSpPr>
              <a:spLocks noChangeShapeType="1"/>
            </p:cNvSpPr>
            <p:nvPr/>
          </p:nvSpPr>
          <p:spPr bwMode="auto">
            <a:xfrm flipV="1">
              <a:off x="2461638" y="3084142"/>
              <a:ext cx="1692274"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3" name="Line 21"/>
            <p:cNvSpPr>
              <a:spLocks noChangeShapeType="1"/>
            </p:cNvSpPr>
            <p:nvPr/>
          </p:nvSpPr>
          <p:spPr bwMode="auto">
            <a:xfrm flipV="1">
              <a:off x="2847400" y="3084142"/>
              <a:ext cx="1693861"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4" name="Line 22"/>
            <p:cNvSpPr>
              <a:spLocks noChangeShapeType="1"/>
            </p:cNvSpPr>
            <p:nvPr/>
          </p:nvSpPr>
          <p:spPr bwMode="auto">
            <a:xfrm flipV="1">
              <a:off x="3250624" y="3103190"/>
              <a:ext cx="1692273"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5" name="Line 23"/>
            <p:cNvSpPr>
              <a:spLocks noChangeShapeType="1"/>
            </p:cNvSpPr>
            <p:nvPr/>
          </p:nvSpPr>
          <p:spPr bwMode="auto">
            <a:xfrm flipV="1">
              <a:off x="3620512" y="3084140"/>
              <a:ext cx="1695448"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6" name="Line 24"/>
            <p:cNvSpPr>
              <a:spLocks noChangeShapeType="1"/>
            </p:cNvSpPr>
            <p:nvPr/>
          </p:nvSpPr>
          <p:spPr bwMode="auto">
            <a:xfrm flipV="1">
              <a:off x="4395211" y="3084140"/>
              <a:ext cx="1695448"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7" name="Line 25"/>
            <p:cNvSpPr>
              <a:spLocks noChangeShapeType="1"/>
            </p:cNvSpPr>
            <p:nvPr/>
          </p:nvSpPr>
          <p:spPr bwMode="auto">
            <a:xfrm flipV="1">
              <a:off x="4784147" y="3084140"/>
              <a:ext cx="1692273"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8" name="Line 26"/>
            <p:cNvSpPr>
              <a:spLocks noChangeShapeType="1"/>
            </p:cNvSpPr>
            <p:nvPr/>
          </p:nvSpPr>
          <p:spPr bwMode="auto">
            <a:xfrm flipV="1">
              <a:off x="5169910" y="3084140"/>
              <a:ext cx="1693861"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9" name="Line 27"/>
            <p:cNvSpPr>
              <a:spLocks noChangeShapeType="1"/>
            </p:cNvSpPr>
            <p:nvPr/>
          </p:nvSpPr>
          <p:spPr bwMode="auto">
            <a:xfrm flipV="1">
              <a:off x="5558846" y="3084140"/>
              <a:ext cx="1692273"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0" name="Line 28"/>
            <p:cNvSpPr>
              <a:spLocks noChangeShapeType="1"/>
            </p:cNvSpPr>
            <p:nvPr/>
          </p:nvSpPr>
          <p:spPr bwMode="auto">
            <a:xfrm flipV="1">
              <a:off x="4003098" y="3084140"/>
              <a:ext cx="1695448"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1" name="Line 29"/>
            <p:cNvSpPr>
              <a:spLocks noChangeShapeType="1"/>
            </p:cNvSpPr>
            <p:nvPr/>
          </p:nvSpPr>
          <p:spPr bwMode="auto">
            <a:xfrm flipV="1">
              <a:off x="5928734" y="3084140"/>
              <a:ext cx="1693861"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2" name="Line 30"/>
            <p:cNvSpPr>
              <a:spLocks noChangeShapeType="1"/>
            </p:cNvSpPr>
            <p:nvPr/>
          </p:nvSpPr>
          <p:spPr bwMode="auto">
            <a:xfrm flipV="1">
              <a:off x="6301796" y="3084140"/>
              <a:ext cx="1692273"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3" name="Line 31"/>
            <p:cNvSpPr>
              <a:spLocks noChangeShapeType="1"/>
            </p:cNvSpPr>
            <p:nvPr/>
          </p:nvSpPr>
          <p:spPr bwMode="auto">
            <a:xfrm flipV="1">
              <a:off x="6673270" y="3084139"/>
              <a:ext cx="1693861" cy="16271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4" name="Line 32"/>
            <p:cNvSpPr>
              <a:spLocks noChangeShapeType="1"/>
            </p:cNvSpPr>
            <p:nvPr/>
          </p:nvSpPr>
          <p:spPr bwMode="auto">
            <a:xfrm flipH="1" flipV="1">
              <a:off x="3772912" y="3088902"/>
              <a:ext cx="1693861" cy="1627186"/>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5" name="Line 33"/>
            <p:cNvSpPr>
              <a:spLocks noChangeShapeType="1"/>
            </p:cNvSpPr>
            <p:nvPr/>
          </p:nvSpPr>
          <p:spPr bwMode="auto">
            <a:xfrm flipH="1" flipV="1">
              <a:off x="4155498" y="3088902"/>
              <a:ext cx="1693861" cy="1627186"/>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6" name="Line 34"/>
            <p:cNvSpPr>
              <a:spLocks noChangeShapeType="1"/>
            </p:cNvSpPr>
            <p:nvPr/>
          </p:nvSpPr>
          <p:spPr bwMode="auto">
            <a:xfrm flipH="1" flipV="1">
              <a:off x="4541261" y="3088902"/>
              <a:ext cx="1692273" cy="1627186"/>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7" name="Line 35"/>
            <p:cNvSpPr>
              <a:spLocks noChangeShapeType="1"/>
            </p:cNvSpPr>
            <p:nvPr/>
          </p:nvSpPr>
          <p:spPr bwMode="auto">
            <a:xfrm flipH="1" flipV="1">
              <a:off x="4925435" y="3088902"/>
              <a:ext cx="1692273" cy="1627186"/>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8" name="Line 36"/>
            <p:cNvSpPr>
              <a:spLocks noChangeShapeType="1"/>
            </p:cNvSpPr>
            <p:nvPr/>
          </p:nvSpPr>
          <p:spPr bwMode="auto">
            <a:xfrm flipH="1" flipV="1">
              <a:off x="5308022" y="3088902"/>
              <a:ext cx="1693861" cy="1627186"/>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9" name="Line 37"/>
            <p:cNvSpPr>
              <a:spLocks noChangeShapeType="1"/>
            </p:cNvSpPr>
            <p:nvPr/>
          </p:nvSpPr>
          <p:spPr bwMode="auto">
            <a:xfrm flipH="1" flipV="1">
              <a:off x="5692196" y="3088902"/>
              <a:ext cx="1692273" cy="1627186"/>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60" name="Line 38"/>
            <p:cNvSpPr>
              <a:spLocks noChangeShapeType="1"/>
            </p:cNvSpPr>
            <p:nvPr/>
          </p:nvSpPr>
          <p:spPr bwMode="auto">
            <a:xfrm flipH="1" flipV="1">
              <a:off x="6076371" y="3088902"/>
              <a:ext cx="1692273" cy="1627186"/>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61" name="Line 39"/>
            <p:cNvSpPr>
              <a:spLocks noChangeShapeType="1"/>
            </p:cNvSpPr>
            <p:nvPr/>
          </p:nvSpPr>
          <p:spPr bwMode="auto">
            <a:xfrm flipH="1" flipV="1">
              <a:off x="6458958" y="3088902"/>
              <a:ext cx="1695448" cy="1627186"/>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62" name="Line 40"/>
            <p:cNvSpPr>
              <a:spLocks noChangeShapeType="1"/>
            </p:cNvSpPr>
            <p:nvPr/>
          </p:nvSpPr>
          <p:spPr bwMode="auto">
            <a:xfrm flipH="1" flipV="1">
              <a:off x="6843133" y="3088902"/>
              <a:ext cx="1692273" cy="1627186"/>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63" name="Line 41"/>
            <p:cNvSpPr>
              <a:spLocks noChangeShapeType="1"/>
            </p:cNvSpPr>
            <p:nvPr/>
          </p:nvSpPr>
          <p:spPr bwMode="auto">
            <a:xfrm flipH="1" flipV="1">
              <a:off x="7227307" y="3088902"/>
              <a:ext cx="1693860" cy="1627186"/>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0" name="Text Box 18"/>
            <p:cNvSpPr txBox="1">
              <a:spLocks noChangeArrowheads="1"/>
            </p:cNvSpPr>
            <p:nvPr/>
          </p:nvSpPr>
          <p:spPr bwMode="auto">
            <a:xfrm rot="2268438">
              <a:off x="3392100" y="3533620"/>
              <a:ext cx="807657" cy="4440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rPr>
                <a:t>ACK</a:t>
              </a:r>
            </a:p>
          </p:txBody>
        </p:sp>
        <p:sp>
          <p:nvSpPr>
            <p:cNvPr id="41" name="Line 19"/>
            <p:cNvSpPr>
              <a:spLocks noChangeShapeType="1"/>
            </p:cNvSpPr>
            <p:nvPr/>
          </p:nvSpPr>
          <p:spPr bwMode="auto">
            <a:xfrm>
              <a:off x="4088828" y="3981078"/>
              <a:ext cx="292099" cy="279400"/>
            </a:xfrm>
            <a:prstGeom prst="line">
              <a:avLst/>
            </a:prstGeom>
            <a:noFill/>
            <a:ln w="38100">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2" name="左大括号 1"/>
          <p:cNvSpPr/>
          <p:nvPr/>
        </p:nvSpPr>
        <p:spPr>
          <a:xfrm rot="16200000">
            <a:off x="3000782" y="1289503"/>
            <a:ext cx="229088" cy="2775777"/>
          </a:xfrm>
          <a:prstGeom prst="leftBrace">
            <a:avLst>
              <a:gd name="adj1" fmla="val 30208"/>
              <a:gd name="adj2" fmla="val 50000"/>
            </a:avLst>
          </a:prstGeom>
          <a:ln w="12700">
            <a:solidFill>
              <a:srgbClr val="0000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矩形 2"/>
          <p:cNvSpPr/>
          <p:nvPr/>
        </p:nvSpPr>
        <p:spPr>
          <a:xfrm>
            <a:off x="1182444" y="2765041"/>
            <a:ext cx="6186309" cy="369332"/>
          </a:xfrm>
          <a:prstGeom prst="rect">
            <a:avLst/>
          </a:prstGeom>
        </p:spPr>
        <p:txBody>
          <a:bodyPr wrap="none">
            <a:spAutoFit/>
          </a:bodyPr>
          <a:lstStyle/>
          <a:p>
            <a:r>
              <a:rPr lang="zh-CN" altLang="en-US" b="1" dirty="0">
                <a:solidFill>
                  <a:srgbClr val="C00000"/>
                </a:solidFill>
                <a:latin typeface="微软雅黑" pitchFamily="34" charset="-122"/>
                <a:ea typeface="微软雅黑" pitchFamily="34" charset="-122"/>
              </a:rPr>
              <a:t>流水线传输：</a:t>
            </a:r>
            <a:r>
              <a:rPr lang="zh-CN" altLang="en-US" b="1" dirty="0">
                <a:solidFill>
                  <a:srgbClr val="000099"/>
                </a:solidFill>
                <a:latin typeface="微软雅黑" pitchFamily="34" charset="-122"/>
                <a:ea typeface="微软雅黑" pitchFamily="34" charset="-122"/>
              </a:rPr>
              <a:t>在收到确认之前，发送方连续发出多个分组。</a:t>
            </a:r>
          </a:p>
        </p:txBody>
      </p:sp>
      <p:sp>
        <p:nvSpPr>
          <p:cNvPr id="66"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7" name="Rectangle 6"/>
          <p:cNvSpPr>
            <a:spLocks noChangeArrowheads="1"/>
          </p:cNvSpPr>
          <p:nvPr/>
        </p:nvSpPr>
        <p:spPr bwMode="auto">
          <a:xfrm>
            <a:off x="2950134" y="587638"/>
            <a:ext cx="32624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提高传输效率：流水线传输</a:t>
            </a:r>
          </a:p>
        </p:txBody>
      </p:sp>
      <p:sp>
        <p:nvSpPr>
          <p:cNvPr id="4" name="矩形 3"/>
          <p:cNvSpPr/>
          <p:nvPr/>
        </p:nvSpPr>
        <p:spPr>
          <a:xfrm>
            <a:off x="1727437" y="4119737"/>
            <a:ext cx="5901528" cy="397353"/>
          </a:xfrm>
          <a:prstGeom prst="rect">
            <a:avLst/>
          </a:prstGeom>
          <a:solidFill>
            <a:schemeClr val="accent6">
              <a:lumMod val="50000"/>
            </a:schemeClr>
          </a:solidFill>
        </p:spPr>
        <p:txBody>
          <a:bodyPr wrap="square">
            <a:spAutoFit/>
          </a:bodyPr>
          <a:lstStyle/>
          <a:p>
            <a:pPr algn="ctr">
              <a:lnSpc>
                <a:spcPts val="2600"/>
              </a:lnSpc>
            </a:pPr>
            <a:r>
              <a:rPr lang="zh-CN" altLang="en-US" b="1" dirty="0">
                <a:solidFill>
                  <a:schemeClr val="bg1"/>
                </a:solidFill>
                <a:latin typeface="微软雅黑" panose="020B0503020204020204" pitchFamily="34" charset="-122"/>
                <a:ea typeface="微软雅黑" panose="020B0503020204020204" pitchFamily="34" charset="-122"/>
              </a:rPr>
              <a:t>连续 </a:t>
            </a:r>
            <a:r>
              <a:rPr lang="en-US" altLang="zh-CN" b="1" dirty="0">
                <a:solidFill>
                  <a:schemeClr val="bg1"/>
                </a:solidFill>
                <a:latin typeface="微软雅黑" panose="020B0503020204020204" pitchFamily="34" charset="-122"/>
                <a:ea typeface="微软雅黑" panose="020B0503020204020204" pitchFamily="34" charset="-122"/>
              </a:rPr>
              <a:t>ARQ </a:t>
            </a:r>
            <a:r>
              <a:rPr lang="zh-CN" altLang="en-US" b="1" dirty="0">
                <a:solidFill>
                  <a:schemeClr val="bg1"/>
                </a:solidFill>
                <a:latin typeface="微软雅黑" panose="020B0503020204020204" pitchFamily="34" charset="-122"/>
                <a:ea typeface="微软雅黑" panose="020B0503020204020204" pitchFamily="34" charset="-122"/>
              </a:rPr>
              <a:t>协议采用流水线传输方式。</a:t>
            </a:r>
          </a:p>
        </p:txBody>
      </p:sp>
    </p:spTree>
    <p:extLst>
      <p:ext uri="{BB962C8B-B14F-4D97-AF65-F5344CB8AC3E}">
        <p14:creationId xmlns:p14="http://schemas.microsoft.com/office/powerpoint/2010/main" val="1571172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1000"/>
                                        <p:tgtEl>
                                          <p:spTgt spid="25"/>
                                        </p:tgtEl>
                                      </p:cBhvr>
                                    </p:animEffect>
                                    <p:anim calcmode="lin" valueType="num">
                                      <p:cBhvr>
                                        <p:cTn id="12" dur="1000" fill="hold"/>
                                        <p:tgtEl>
                                          <p:spTgt spid="25"/>
                                        </p:tgtEl>
                                        <p:attrNameLst>
                                          <p:attrName>ppt_x</p:attrName>
                                        </p:attrNameLst>
                                      </p:cBhvr>
                                      <p:tavLst>
                                        <p:tav tm="0">
                                          <p:val>
                                            <p:strVal val="#ppt_x"/>
                                          </p:val>
                                        </p:tav>
                                        <p:tav tm="100000">
                                          <p:val>
                                            <p:strVal val="#ppt_x"/>
                                          </p:val>
                                        </p:tav>
                                      </p:tavLst>
                                    </p:anim>
                                    <p:anim calcmode="lin" valueType="num">
                                      <p:cBhvr>
                                        <p:cTn id="13"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500" fill="hold"/>
                                        <p:tgtEl>
                                          <p:spTgt spid="4"/>
                                        </p:tgtEl>
                                        <p:attrNameLst>
                                          <p:attrName>ppt_w</p:attrName>
                                        </p:attrNameLst>
                                      </p:cBhvr>
                                      <p:tavLst>
                                        <p:tav tm="0">
                                          <p:val>
                                            <p:fltVal val="0"/>
                                          </p:val>
                                        </p:tav>
                                        <p:tav tm="100000">
                                          <p:val>
                                            <p:strVal val="#ppt_w"/>
                                          </p:val>
                                        </p:tav>
                                      </p:tavLst>
                                    </p:anim>
                                    <p:anim calcmode="lin" valueType="num">
                                      <p:cBhvr>
                                        <p:cTn id="19" dur="500" fill="hold"/>
                                        <p:tgtEl>
                                          <p:spTgt spid="4"/>
                                        </p:tgtEl>
                                        <p:attrNameLst>
                                          <p:attrName>ppt_h</p:attrName>
                                        </p:attrNameLst>
                                      </p:cBhvr>
                                      <p:tavLst>
                                        <p:tav tm="0">
                                          <p:val>
                                            <p:fltVal val="0"/>
                                          </p:val>
                                        </p:tav>
                                        <p:tav tm="100000">
                                          <p:val>
                                            <p:strVal val="#ppt_h"/>
                                          </p:val>
                                        </p:tav>
                                      </p:tavLst>
                                    </p:anim>
                                    <p:animEffect transition="in" filter="fade">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3" grpId="0"/>
      <p:bldP spid="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3" y="628758"/>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916871" y="586487"/>
            <a:ext cx="331026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5.4.2   </a:t>
            </a:r>
            <a:r>
              <a:rPr lang="zh-CN" altLang="en-US" sz="2400" b="1" dirty="0">
                <a:solidFill>
                  <a:schemeClr val="bg1"/>
                </a:solidFill>
                <a:latin typeface="微软雅黑" pitchFamily="34" charset="-122"/>
                <a:ea typeface="微软雅黑" pitchFamily="34" charset="-122"/>
              </a:rPr>
              <a:t>连续 </a:t>
            </a:r>
            <a:r>
              <a:rPr lang="en-US" altLang="zh-CN" sz="2400" b="1" dirty="0">
                <a:solidFill>
                  <a:schemeClr val="bg1"/>
                </a:solidFill>
                <a:latin typeface="微软雅黑" pitchFamily="34" charset="-122"/>
                <a:ea typeface="微软雅黑" pitchFamily="34" charset="-122"/>
              </a:rPr>
              <a:t>ARQ </a:t>
            </a:r>
            <a:r>
              <a:rPr lang="zh-CN" altLang="en-US" sz="2400" b="1" dirty="0">
                <a:solidFill>
                  <a:schemeClr val="bg1"/>
                </a:solidFill>
                <a:latin typeface="微软雅黑" pitchFamily="34" charset="-122"/>
                <a:ea typeface="微软雅黑" pitchFamily="34" charset="-122"/>
              </a:rPr>
              <a:t>协议</a:t>
            </a:r>
          </a:p>
        </p:txBody>
      </p:sp>
      <p:sp>
        <p:nvSpPr>
          <p:cNvPr id="7" name="Rectangle 8"/>
          <p:cNvSpPr>
            <a:spLocks noChangeArrowheads="1"/>
          </p:cNvSpPr>
          <p:nvPr/>
        </p:nvSpPr>
        <p:spPr bwMode="auto">
          <a:xfrm>
            <a:off x="545143" y="1014888"/>
            <a:ext cx="8053711" cy="2586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发送窗口：</a:t>
            </a:r>
            <a:r>
              <a:rPr lang="zh-CN" altLang="en-US" sz="2000" b="1" dirty="0">
                <a:latin typeface="微软雅黑" pitchFamily="34" charset="-122"/>
                <a:ea typeface="微软雅黑" pitchFamily="34" charset="-122"/>
              </a:rPr>
              <a:t>发送方维持一个发送窗口，发送窗口的数值就是发送方在未收到确认的情况下，可以发送的分组数的上限。</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位于发送窗口内的分组都可被</a:t>
            </a:r>
            <a:r>
              <a:rPr lang="zh-CN" altLang="en-US" sz="2000" b="1" dirty="0">
                <a:solidFill>
                  <a:srgbClr val="0000FF"/>
                </a:solidFill>
                <a:latin typeface="微软雅黑" pitchFamily="34" charset="-122"/>
                <a:ea typeface="微软雅黑" pitchFamily="34" charset="-122"/>
              </a:rPr>
              <a:t>连续发送</a:t>
            </a:r>
            <a:r>
              <a:rPr lang="zh-CN" altLang="en-US" sz="2000" b="1" dirty="0">
                <a:latin typeface="微软雅黑" pitchFamily="34" charset="-122"/>
                <a:ea typeface="微软雅黑" pitchFamily="34" charset="-122"/>
              </a:rPr>
              <a:t>出去，而不需要等待对方的确认。</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发送窗口滑动：</a:t>
            </a:r>
            <a:r>
              <a:rPr lang="zh-CN" altLang="en-US" sz="2000" b="1" dirty="0">
                <a:latin typeface="微软雅黑" pitchFamily="34" charset="-122"/>
                <a:ea typeface="微软雅黑" pitchFamily="34" charset="-122"/>
              </a:rPr>
              <a:t>发送方每收到一个确认，就把发送窗口</a:t>
            </a:r>
            <a:r>
              <a:rPr lang="zh-CN" altLang="en-US" sz="2000" b="1" dirty="0">
                <a:solidFill>
                  <a:srgbClr val="0000FF"/>
                </a:solidFill>
                <a:latin typeface="微软雅黑" pitchFamily="34" charset="-122"/>
                <a:ea typeface="微软雅黑" pitchFamily="34" charset="-122"/>
              </a:rPr>
              <a:t>向前滑动一个分组的位置。</a:t>
            </a:r>
            <a:endParaRPr lang="en-US" altLang="zh-CN" sz="2000" b="1" dirty="0">
              <a:latin typeface="微软雅黑" pitchFamily="34" charset="-122"/>
              <a:ea typeface="微软雅黑" pitchFamily="34" charset="-122"/>
            </a:endParaRPr>
          </a:p>
        </p:txBody>
      </p:sp>
    </p:spTree>
    <p:extLst>
      <p:ext uri="{BB962C8B-B14F-4D97-AF65-F5344CB8AC3E}">
        <p14:creationId xmlns:p14="http://schemas.microsoft.com/office/powerpoint/2010/main" val="1703270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545144" y="1027708"/>
            <a:ext cx="8053710" cy="309200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2063225" y="1049057"/>
            <a:ext cx="5014230" cy="1258442"/>
            <a:chOff x="930027" y="1412776"/>
            <a:chExt cx="8199437" cy="2057847"/>
          </a:xfrm>
        </p:grpSpPr>
        <p:sp>
          <p:nvSpPr>
            <p:cNvPr id="6" name="Rectangle 29"/>
            <p:cNvSpPr>
              <a:spLocks noChangeArrowheads="1"/>
            </p:cNvSpPr>
            <p:nvPr/>
          </p:nvSpPr>
          <p:spPr bwMode="auto">
            <a:xfrm>
              <a:off x="930027" y="1933476"/>
              <a:ext cx="3413125" cy="911225"/>
            </a:xfrm>
            <a:prstGeom prst="rect">
              <a:avLst/>
            </a:prstGeom>
            <a:solidFill>
              <a:srgbClr val="66FF66"/>
            </a:solidFill>
            <a:ln w="28575">
              <a:solidFill>
                <a:srgbClr val="000066"/>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 name="Rectangle 17"/>
            <p:cNvSpPr>
              <a:spLocks noChangeArrowheads="1"/>
            </p:cNvSpPr>
            <p:nvPr/>
          </p:nvSpPr>
          <p:spPr bwMode="auto">
            <a:xfrm>
              <a:off x="930027" y="2136676"/>
              <a:ext cx="8189912" cy="50482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 name="Rectangle 5"/>
            <p:cNvSpPr>
              <a:spLocks noChangeArrowheads="1"/>
            </p:cNvSpPr>
            <p:nvPr/>
          </p:nvSpPr>
          <p:spPr bwMode="auto">
            <a:xfrm>
              <a:off x="930027"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1</a:t>
              </a:r>
            </a:p>
          </p:txBody>
        </p:sp>
        <p:sp>
          <p:nvSpPr>
            <p:cNvPr id="9" name="Rectangle 6"/>
            <p:cNvSpPr>
              <a:spLocks noChangeArrowheads="1"/>
            </p:cNvSpPr>
            <p:nvPr/>
          </p:nvSpPr>
          <p:spPr bwMode="auto">
            <a:xfrm>
              <a:off x="1612652"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2</a:t>
              </a:r>
            </a:p>
          </p:txBody>
        </p:sp>
        <p:sp>
          <p:nvSpPr>
            <p:cNvPr id="10" name="Rectangle 7"/>
            <p:cNvSpPr>
              <a:spLocks noChangeArrowheads="1"/>
            </p:cNvSpPr>
            <p:nvPr/>
          </p:nvSpPr>
          <p:spPr bwMode="auto">
            <a:xfrm>
              <a:off x="2296864"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3</a:t>
              </a:r>
            </a:p>
          </p:txBody>
        </p:sp>
        <p:sp>
          <p:nvSpPr>
            <p:cNvPr id="11" name="Rectangle 8"/>
            <p:cNvSpPr>
              <a:spLocks noChangeArrowheads="1"/>
            </p:cNvSpPr>
            <p:nvPr/>
          </p:nvSpPr>
          <p:spPr bwMode="auto">
            <a:xfrm>
              <a:off x="2979489" y="2136676"/>
              <a:ext cx="681038"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4</a:t>
              </a:r>
            </a:p>
          </p:txBody>
        </p:sp>
        <p:sp>
          <p:nvSpPr>
            <p:cNvPr id="12" name="Rectangle 9"/>
            <p:cNvSpPr>
              <a:spLocks noChangeArrowheads="1"/>
            </p:cNvSpPr>
            <p:nvPr/>
          </p:nvSpPr>
          <p:spPr bwMode="auto">
            <a:xfrm>
              <a:off x="3663702" y="2136676"/>
              <a:ext cx="681037"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5</a:t>
              </a:r>
            </a:p>
          </p:txBody>
        </p:sp>
        <p:sp>
          <p:nvSpPr>
            <p:cNvPr id="13" name="Rectangle 10"/>
            <p:cNvSpPr>
              <a:spLocks noChangeArrowheads="1"/>
            </p:cNvSpPr>
            <p:nvPr/>
          </p:nvSpPr>
          <p:spPr bwMode="auto">
            <a:xfrm>
              <a:off x="4347914"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6</a:t>
              </a:r>
            </a:p>
          </p:txBody>
        </p:sp>
        <p:sp>
          <p:nvSpPr>
            <p:cNvPr id="14" name="Rectangle 11"/>
            <p:cNvSpPr>
              <a:spLocks noChangeArrowheads="1"/>
            </p:cNvSpPr>
            <p:nvPr/>
          </p:nvSpPr>
          <p:spPr bwMode="auto">
            <a:xfrm>
              <a:off x="5030539" y="2136676"/>
              <a:ext cx="681038"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7</a:t>
              </a:r>
            </a:p>
          </p:txBody>
        </p:sp>
        <p:sp>
          <p:nvSpPr>
            <p:cNvPr id="15" name="Rectangle 12"/>
            <p:cNvSpPr>
              <a:spLocks noChangeArrowheads="1"/>
            </p:cNvSpPr>
            <p:nvPr/>
          </p:nvSpPr>
          <p:spPr bwMode="auto">
            <a:xfrm>
              <a:off x="5714752" y="2136676"/>
              <a:ext cx="681037"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8</a:t>
              </a:r>
            </a:p>
          </p:txBody>
        </p:sp>
        <p:sp>
          <p:nvSpPr>
            <p:cNvPr id="16" name="Rectangle 13"/>
            <p:cNvSpPr>
              <a:spLocks noChangeArrowheads="1"/>
            </p:cNvSpPr>
            <p:nvPr/>
          </p:nvSpPr>
          <p:spPr bwMode="auto">
            <a:xfrm>
              <a:off x="6395789"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9</a:t>
              </a:r>
            </a:p>
          </p:txBody>
        </p:sp>
        <p:sp>
          <p:nvSpPr>
            <p:cNvPr id="17" name="Rectangle 14"/>
            <p:cNvSpPr>
              <a:spLocks noChangeArrowheads="1"/>
            </p:cNvSpPr>
            <p:nvPr/>
          </p:nvSpPr>
          <p:spPr bwMode="auto">
            <a:xfrm>
              <a:off x="7081589" y="2136676"/>
              <a:ext cx="681038"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10</a:t>
              </a:r>
            </a:p>
          </p:txBody>
        </p:sp>
        <p:sp>
          <p:nvSpPr>
            <p:cNvPr id="18" name="Rectangle 15"/>
            <p:cNvSpPr>
              <a:spLocks noChangeArrowheads="1"/>
            </p:cNvSpPr>
            <p:nvPr/>
          </p:nvSpPr>
          <p:spPr bwMode="auto">
            <a:xfrm>
              <a:off x="7765802" y="2136676"/>
              <a:ext cx="681037"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11</a:t>
              </a:r>
            </a:p>
          </p:txBody>
        </p:sp>
        <p:sp>
          <p:nvSpPr>
            <p:cNvPr id="19" name="Rectangle 16"/>
            <p:cNvSpPr>
              <a:spLocks noChangeArrowheads="1"/>
            </p:cNvSpPr>
            <p:nvPr/>
          </p:nvSpPr>
          <p:spPr bwMode="auto">
            <a:xfrm>
              <a:off x="8446839"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12</a:t>
              </a:r>
            </a:p>
          </p:txBody>
        </p:sp>
        <p:sp>
          <p:nvSpPr>
            <p:cNvPr id="20" name="Line 18"/>
            <p:cNvSpPr>
              <a:spLocks noChangeShapeType="1"/>
            </p:cNvSpPr>
            <p:nvPr/>
          </p:nvSpPr>
          <p:spPr bwMode="auto">
            <a:xfrm>
              <a:off x="1612652"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1" name="Line 19"/>
            <p:cNvSpPr>
              <a:spLocks noChangeShapeType="1"/>
            </p:cNvSpPr>
            <p:nvPr/>
          </p:nvSpPr>
          <p:spPr bwMode="auto">
            <a:xfrm>
              <a:off x="2295277"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2" name="Line 20"/>
            <p:cNvSpPr>
              <a:spLocks noChangeShapeType="1"/>
            </p:cNvSpPr>
            <p:nvPr/>
          </p:nvSpPr>
          <p:spPr bwMode="auto">
            <a:xfrm>
              <a:off x="2976314"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3" name="Line 21"/>
            <p:cNvSpPr>
              <a:spLocks noChangeShapeType="1"/>
            </p:cNvSpPr>
            <p:nvPr/>
          </p:nvSpPr>
          <p:spPr bwMode="auto">
            <a:xfrm>
              <a:off x="3658939"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4" name="Line 22"/>
            <p:cNvSpPr>
              <a:spLocks noChangeShapeType="1"/>
            </p:cNvSpPr>
            <p:nvPr/>
          </p:nvSpPr>
          <p:spPr bwMode="auto">
            <a:xfrm>
              <a:off x="4339977"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5" name="Line 23"/>
            <p:cNvSpPr>
              <a:spLocks noChangeShapeType="1"/>
            </p:cNvSpPr>
            <p:nvPr/>
          </p:nvSpPr>
          <p:spPr bwMode="auto">
            <a:xfrm>
              <a:off x="5022602"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 name="Line 24"/>
            <p:cNvSpPr>
              <a:spLocks noChangeShapeType="1"/>
            </p:cNvSpPr>
            <p:nvPr/>
          </p:nvSpPr>
          <p:spPr bwMode="auto">
            <a:xfrm>
              <a:off x="5705227"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7" name="Line 25"/>
            <p:cNvSpPr>
              <a:spLocks noChangeShapeType="1"/>
            </p:cNvSpPr>
            <p:nvPr/>
          </p:nvSpPr>
          <p:spPr bwMode="auto">
            <a:xfrm>
              <a:off x="6386264"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8" name="Line 26"/>
            <p:cNvSpPr>
              <a:spLocks noChangeShapeType="1"/>
            </p:cNvSpPr>
            <p:nvPr/>
          </p:nvSpPr>
          <p:spPr bwMode="auto">
            <a:xfrm>
              <a:off x="7068889"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Line 27"/>
            <p:cNvSpPr>
              <a:spLocks noChangeShapeType="1"/>
            </p:cNvSpPr>
            <p:nvPr/>
          </p:nvSpPr>
          <p:spPr bwMode="auto">
            <a:xfrm>
              <a:off x="7749927"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0" name="Line 28"/>
            <p:cNvSpPr>
              <a:spLocks noChangeShapeType="1"/>
            </p:cNvSpPr>
            <p:nvPr/>
          </p:nvSpPr>
          <p:spPr bwMode="auto">
            <a:xfrm>
              <a:off x="8432552"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1" name="Text Box 30"/>
            <p:cNvSpPr txBox="1">
              <a:spLocks noChangeArrowheads="1"/>
            </p:cNvSpPr>
            <p:nvPr/>
          </p:nvSpPr>
          <p:spPr bwMode="auto">
            <a:xfrm>
              <a:off x="2288927" y="2967336"/>
              <a:ext cx="6341411" cy="503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(a) </a:t>
              </a:r>
              <a:r>
                <a:rPr lang="zh-CN" altLang="en-US" sz="1400" b="1" dirty="0">
                  <a:solidFill>
                    <a:srgbClr val="000099"/>
                  </a:solidFill>
                  <a:latin typeface="微软雅黑" pitchFamily="34" charset="-122"/>
                  <a:ea typeface="微软雅黑" pitchFamily="34" charset="-122"/>
                </a:rPr>
                <a:t>发送方维持发送窗口（发送窗口大小是 </a:t>
              </a:r>
              <a:r>
                <a:rPr lang="en-US" altLang="zh-CN" sz="1400" b="1" dirty="0">
                  <a:solidFill>
                    <a:srgbClr val="000099"/>
                  </a:solidFill>
                  <a:latin typeface="微软雅黑" pitchFamily="34" charset="-122"/>
                  <a:ea typeface="微软雅黑" pitchFamily="34" charset="-122"/>
                </a:rPr>
                <a:t>5</a:t>
              </a:r>
              <a:r>
                <a:rPr lang="zh-CN" altLang="en-US" sz="1400" b="1" dirty="0">
                  <a:solidFill>
                    <a:srgbClr val="000099"/>
                  </a:solidFill>
                  <a:latin typeface="微软雅黑" pitchFamily="34" charset="-122"/>
                  <a:ea typeface="微软雅黑" pitchFamily="34" charset="-122"/>
                </a:rPr>
                <a:t>）</a:t>
              </a:r>
            </a:p>
          </p:txBody>
        </p:sp>
        <p:sp>
          <p:nvSpPr>
            <p:cNvPr id="32" name="Text Box 31"/>
            <p:cNvSpPr txBox="1">
              <a:spLocks noChangeArrowheads="1"/>
            </p:cNvSpPr>
            <p:nvPr/>
          </p:nvSpPr>
          <p:spPr bwMode="auto">
            <a:xfrm>
              <a:off x="1858714" y="1412776"/>
              <a:ext cx="1476307" cy="503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latin typeface="微软雅黑" pitchFamily="34" charset="-122"/>
                  <a:ea typeface="微软雅黑" pitchFamily="34" charset="-122"/>
                </a:rPr>
                <a:t>发送窗口</a:t>
              </a:r>
            </a:p>
          </p:txBody>
        </p:sp>
      </p:grpSp>
      <p:sp>
        <p:nvSpPr>
          <p:cNvPr id="36" name="Text Box 32"/>
          <p:cNvSpPr txBox="1">
            <a:spLocks noChangeArrowheads="1"/>
          </p:cNvSpPr>
          <p:nvPr/>
        </p:nvSpPr>
        <p:spPr bwMode="auto">
          <a:xfrm>
            <a:off x="2915850" y="3497760"/>
            <a:ext cx="337143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(b) </a:t>
            </a:r>
            <a:r>
              <a:rPr lang="zh-CN" altLang="en-US" sz="1400" b="1" dirty="0">
                <a:solidFill>
                  <a:srgbClr val="000099"/>
                </a:solidFill>
                <a:latin typeface="微软雅黑" pitchFamily="34" charset="-122"/>
                <a:ea typeface="微软雅黑" pitchFamily="34" charset="-122"/>
              </a:rPr>
              <a:t>收到一个确认后，发送窗口向前滑动</a:t>
            </a:r>
          </a:p>
        </p:txBody>
      </p:sp>
      <p:grpSp>
        <p:nvGrpSpPr>
          <p:cNvPr id="73" name="组合 72"/>
          <p:cNvGrpSpPr/>
          <p:nvPr/>
        </p:nvGrpSpPr>
        <p:grpSpPr>
          <a:xfrm>
            <a:off x="3571346" y="2422996"/>
            <a:ext cx="1261884" cy="328639"/>
            <a:chOff x="3716242" y="2442860"/>
            <a:chExt cx="1261884" cy="328639"/>
          </a:xfrm>
        </p:grpSpPr>
        <p:sp>
          <p:nvSpPr>
            <p:cNvPr id="38" name="Text Box 34"/>
            <p:cNvSpPr txBox="1">
              <a:spLocks noChangeArrowheads="1"/>
            </p:cNvSpPr>
            <p:nvPr/>
          </p:nvSpPr>
          <p:spPr bwMode="auto">
            <a:xfrm>
              <a:off x="3716242" y="2442860"/>
              <a:ext cx="12618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0000FF"/>
                  </a:solidFill>
                  <a:latin typeface="微软雅黑" pitchFamily="34" charset="-122"/>
                  <a:ea typeface="微软雅黑" pitchFamily="34" charset="-122"/>
                </a:rPr>
                <a:t>窗口向前滑动</a:t>
              </a:r>
            </a:p>
          </p:txBody>
        </p:sp>
        <p:sp>
          <p:nvSpPr>
            <p:cNvPr id="37" name="Line 33"/>
            <p:cNvSpPr>
              <a:spLocks noChangeShapeType="1"/>
            </p:cNvSpPr>
            <p:nvPr/>
          </p:nvSpPr>
          <p:spPr bwMode="auto">
            <a:xfrm>
              <a:off x="4142829" y="2771499"/>
              <a:ext cx="408710" cy="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grpSp>
        <p:nvGrpSpPr>
          <p:cNvPr id="72" name="组合 71"/>
          <p:cNvGrpSpPr/>
          <p:nvPr/>
        </p:nvGrpSpPr>
        <p:grpSpPr>
          <a:xfrm>
            <a:off x="2059329" y="2605906"/>
            <a:ext cx="2087240" cy="857226"/>
            <a:chOff x="2059329" y="2428927"/>
            <a:chExt cx="2087240" cy="857226"/>
          </a:xfrm>
        </p:grpSpPr>
        <p:sp>
          <p:nvSpPr>
            <p:cNvPr id="34" name="Rectangle 60"/>
            <p:cNvSpPr>
              <a:spLocks noChangeArrowheads="1"/>
            </p:cNvSpPr>
            <p:nvPr/>
          </p:nvSpPr>
          <p:spPr bwMode="auto">
            <a:xfrm>
              <a:off x="2059329" y="2727937"/>
              <a:ext cx="2087240" cy="558216"/>
            </a:xfrm>
            <a:prstGeom prst="rect">
              <a:avLst/>
            </a:prstGeom>
            <a:solidFill>
              <a:srgbClr val="66FF66"/>
            </a:solidFill>
            <a:ln w="28575">
              <a:solidFill>
                <a:srgbClr val="000066"/>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2" name="Text Box 61"/>
            <p:cNvSpPr txBox="1">
              <a:spLocks noChangeArrowheads="1"/>
            </p:cNvSpPr>
            <p:nvPr/>
          </p:nvSpPr>
          <p:spPr bwMode="auto">
            <a:xfrm>
              <a:off x="2715596" y="2428927"/>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latin typeface="微软雅黑" pitchFamily="34" charset="-122"/>
                  <a:ea typeface="微软雅黑" pitchFamily="34" charset="-122"/>
                </a:rPr>
                <a:t>发送窗口</a:t>
              </a:r>
            </a:p>
          </p:txBody>
        </p:sp>
      </p:grpSp>
      <p:grpSp>
        <p:nvGrpSpPr>
          <p:cNvPr id="71" name="组合 70"/>
          <p:cNvGrpSpPr/>
          <p:nvPr/>
        </p:nvGrpSpPr>
        <p:grpSpPr>
          <a:xfrm>
            <a:off x="1895639" y="3409736"/>
            <a:ext cx="723275" cy="602023"/>
            <a:chOff x="1895639" y="3232757"/>
            <a:chExt cx="723275" cy="602023"/>
          </a:xfrm>
        </p:grpSpPr>
        <p:sp>
          <p:nvSpPr>
            <p:cNvPr id="66" name="Line 33"/>
            <p:cNvSpPr>
              <a:spLocks noChangeShapeType="1"/>
            </p:cNvSpPr>
            <p:nvPr/>
          </p:nvSpPr>
          <p:spPr bwMode="auto">
            <a:xfrm flipV="1">
              <a:off x="2251262" y="3232757"/>
              <a:ext cx="0" cy="348035"/>
            </a:xfrm>
            <a:prstGeom prst="line">
              <a:avLst/>
            </a:prstGeom>
            <a:noFill/>
            <a:ln w="3810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7" name="Text Box 34"/>
            <p:cNvSpPr txBox="1">
              <a:spLocks noChangeArrowheads="1"/>
            </p:cNvSpPr>
            <p:nvPr/>
          </p:nvSpPr>
          <p:spPr bwMode="auto">
            <a:xfrm>
              <a:off x="1895639" y="3527003"/>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C00000"/>
                  </a:solidFill>
                  <a:latin typeface="微软雅黑" pitchFamily="34" charset="-122"/>
                  <a:ea typeface="微软雅黑" pitchFamily="34" charset="-122"/>
                </a:rPr>
                <a:t>被确认</a:t>
              </a:r>
            </a:p>
          </p:txBody>
        </p:sp>
      </p:grpSp>
      <p:sp>
        <p:nvSpPr>
          <p:cNvPr id="64"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5" name="Rectangle 6"/>
          <p:cNvSpPr>
            <a:spLocks noChangeArrowheads="1"/>
          </p:cNvSpPr>
          <p:nvPr/>
        </p:nvSpPr>
        <p:spPr bwMode="auto">
          <a:xfrm>
            <a:off x="3976056" y="587638"/>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发送窗口</a:t>
            </a:r>
          </a:p>
        </p:txBody>
      </p:sp>
      <p:grpSp>
        <p:nvGrpSpPr>
          <p:cNvPr id="69" name="组合 68"/>
          <p:cNvGrpSpPr/>
          <p:nvPr/>
        </p:nvGrpSpPr>
        <p:grpSpPr>
          <a:xfrm>
            <a:off x="2057401" y="3029180"/>
            <a:ext cx="5014229" cy="309689"/>
            <a:chOff x="2057401" y="2852201"/>
            <a:chExt cx="5014229" cy="309689"/>
          </a:xfrm>
        </p:grpSpPr>
        <p:sp>
          <p:nvSpPr>
            <p:cNvPr id="35" name="Rectangle 48"/>
            <p:cNvSpPr>
              <a:spLocks noChangeArrowheads="1"/>
            </p:cNvSpPr>
            <p:nvPr/>
          </p:nvSpPr>
          <p:spPr bwMode="auto">
            <a:xfrm>
              <a:off x="2057401" y="2852201"/>
              <a:ext cx="5007434" cy="309689"/>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9" name="Rectangle 36"/>
            <p:cNvSpPr>
              <a:spLocks noChangeArrowheads="1"/>
            </p:cNvSpPr>
            <p:nvPr/>
          </p:nvSpPr>
          <p:spPr bwMode="auto">
            <a:xfrm>
              <a:off x="2057401"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1</a:t>
              </a:r>
            </a:p>
          </p:txBody>
        </p:sp>
        <p:sp>
          <p:nvSpPr>
            <p:cNvPr id="40" name="Rectangle 37"/>
            <p:cNvSpPr>
              <a:spLocks noChangeArrowheads="1"/>
            </p:cNvSpPr>
            <p:nvPr/>
          </p:nvSpPr>
          <p:spPr bwMode="auto">
            <a:xfrm>
              <a:off x="2474849"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2</a:t>
              </a:r>
            </a:p>
          </p:txBody>
        </p:sp>
        <p:sp>
          <p:nvSpPr>
            <p:cNvPr id="41" name="Rectangle 38"/>
            <p:cNvSpPr>
              <a:spLocks noChangeArrowheads="1"/>
            </p:cNvSpPr>
            <p:nvPr/>
          </p:nvSpPr>
          <p:spPr bwMode="auto">
            <a:xfrm>
              <a:off x="2893267"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3</a:t>
              </a:r>
            </a:p>
          </p:txBody>
        </p:sp>
        <p:sp>
          <p:nvSpPr>
            <p:cNvPr id="42" name="Rectangle 39"/>
            <p:cNvSpPr>
              <a:spLocks noChangeArrowheads="1"/>
            </p:cNvSpPr>
            <p:nvPr/>
          </p:nvSpPr>
          <p:spPr bwMode="auto">
            <a:xfrm>
              <a:off x="3309745"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4</a:t>
              </a:r>
            </a:p>
          </p:txBody>
        </p:sp>
        <p:sp>
          <p:nvSpPr>
            <p:cNvPr id="43" name="Rectangle 40"/>
            <p:cNvSpPr>
              <a:spLocks noChangeArrowheads="1"/>
            </p:cNvSpPr>
            <p:nvPr/>
          </p:nvSpPr>
          <p:spPr bwMode="auto">
            <a:xfrm>
              <a:off x="3729134"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5</a:t>
              </a:r>
            </a:p>
          </p:txBody>
        </p:sp>
        <p:sp>
          <p:nvSpPr>
            <p:cNvPr id="44" name="Rectangle 41"/>
            <p:cNvSpPr>
              <a:spLocks noChangeArrowheads="1"/>
            </p:cNvSpPr>
            <p:nvPr/>
          </p:nvSpPr>
          <p:spPr bwMode="auto">
            <a:xfrm>
              <a:off x="4147553"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6</a:t>
              </a:r>
            </a:p>
          </p:txBody>
        </p:sp>
        <p:sp>
          <p:nvSpPr>
            <p:cNvPr id="45" name="Rectangle 42"/>
            <p:cNvSpPr>
              <a:spLocks noChangeArrowheads="1"/>
            </p:cNvSpPr>
            <p:nvPr/>
          </p:nvSpPr>
          <p:spPr bwMode="auto">
            <a:xfrm>
              <a:off x="4564030"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7</a:t>
              </a:r>
            </a:p>
          </p:txBody>
        </p:sp>
        <p:sp>
          <p:nvSpPr>
            <p:cNvPr id="46" name="Rectangle 43"/>
            <p:cNvSpPr>
              <a:spLocks noChangeArrowheads="1"/>
            </p:cNvSpPr>
            <p:nvPr/>
          </p:nvSpPr>
          <p:spPr bwMode="auto">
            <a:xfrm>
              <a:off x="4983420"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8</a:t>
              </a:r>
            </a:p>
          </p:txBody>
        </p:sp>
        <p:sp>
          <p:nvSpPr>
            <p:cNvPr id="47" name="Rectangle 44"/>
            <p:cNvSpPr>
              <a:spLocks noChangeArrowheads="1"/>
            </p:cNvSpPr>
            <p:nvPr/>
          </p:nvSpPr>
          <p:spPr bwMode="auto">
            <a:xfrm>
              <a:off x="5399896"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9</a:t>
              </a:r>
            </a:p>
          </p:txBody>
        </p:sp>
        <p:sp>
          <p:nvSpPr>
            <p:cNvPr id="48" name="Rectangle 45"/>
            <p:cNvSpPr>
              <a:spLocks noChangeArrowheads="1"/>
            </p:cNvSpPr>
            <p:nvPr/>
          </p:nvSpPr>
          <p:spPr bwMode="auto">
            <a:xfrm>
              <a:off x="5818316"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10</a:t>
              </a:r>
            </a:p>
          </p:txBody>
        </p:sp>
        <p:sp>
          <p:nvSpPr>
            <p:cNvPr id="49" name="Rectangle 46"/>
            <p:cNvSpPr>
              <a:spLocks noChangeArrowheads="1"/>
            </p:cNvSpPr>
            <p:nvPr/>
          </p:nvSpPr>
          <p:spPr bwMode="auto">
            <a:xfrm>
              <a:off x="6236734"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11</a:t>
              </a:r>
            </a:p>
          </p:txBody>
        </p:sp>
        <p:sp>
          <p:nvSpPr>
            <p:cNvPr id="50" name="Rectangle 47"/>
            <p:cNvSpPr>
              <a:spLocks noChangeArrowheads="1"/>
            </p:cNvSpPr>
            <p:nvPr/>
          </p:nvSpPr>
          <p:spPr bwMode="auto">
            <a:xfrm>
              <a:off x="6654182"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12</a:t>
              </a:r>
            </a:p>
          </p:txBody>
        </p:sp>
        <p:sp>
          <p:nvSpPr>
            <p:cNvPr id="51" name="Line 49"/>
            <p:cNvSpPr>
              <a:spLocks noChangeShapeType="1"/>
            </p:cNvSpPr>
            <p:nvPr/>
          </p:nvSpPr>
          <p:spPr bwMode="auto">
            <a:xfrm>
              <a:off x="2474849"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2" name="Line 50"/>
            <p:cNvSpPr>
              <a:spLocks noChangeShapeType="1"/>
            </p:cNvSpPr>
            <p:nvPr/>
          </p:nvSpPr>
          <p:spPr bwMode="auto">
            <a:xfrm>
              <a:off x="2891325"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3" name="Line 51"/>
            <p:cNvSpPr>
              <a:spLocks noChangeShapeType="1"/>
            </p:cNvSpPr>
            <p:nvPr/>
          </p:nvSpPr>
          <p:spPr bwMode="auto">
            <a:xfrm>
              <a:off x="3308773"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4" name="Line 52"/>
            <p:cNvSpPr>
              <a:spLocks noChangeShapeType="1"/>
            </p:cNvSpPr>
            <p:nvPr/>
          </p:nvSpPr>
          <p:spPr bwMode="auto">
            <a:xfrm>
              <a:off x="3725251"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5" name="Line 53"/>
            <p:cNvSpPr>
              <a:spLocks noChangeShapeType="1"/>
            </p:cNvSpPr>
            <p:nvPr/>
          </p:nvSpPr>
          <p:spPr bwMode="auto">
            <a:xfrm>
              <a:off x="4142699"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6" name="Line 54"/>
            <p:cNvSpPr>
              <a:spLocks noChangeShapeType="1"/>
            </p:cNvSpPr>
            <p:nvPr/>
          </p:nvSpPr>
          <p:spPr bwMode="auto">
            <a:xfrm>
              <a:off x="4560147"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7" name="Line 55"/>
            <p:cNvSpPr>
              <a:spLocks noChangeShapeType="1"/>
            </p:cNvSpPr>
            <p:nvPr/>
          </p:nvSpPr>
          <p:spPr bwMode="auto">
            <a:xfrm>
              <a:off x="4976624"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8" name="Line 56"/>
            <p:cNvSpPr>
              <a:spLocks noChangeShapeType="1"/>
            </p:cNvSpPr>
            <p:nvPr/>
          </p:nvSpPr>
          <p:spPr bwMode="auto">
            <a:xfrm>
              <a:off x="5394072"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9" name="Line 57"/>
            <p:cNvSpPr>
              <a:spLocks noChangeShapeType="1"/>
            </p:cNvSpPr>
            <p:nvPr/>
          </p:nvSpPr>
          <p:spPr bwMode="auto">
            <a:xfrm>
              <a:off x="5810549"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0" name="Line 58"/>
            <p:cNvSpPr>
              <a:spLocks noChangeShapeType="1"/>
            </p:cNvSpPr>
            <p:nvPr/>
          </p:nvSpPr>
          <p:spPr bwMode="auto">
            <a:xfrm>
              <a:off x="6227997"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1" name="Line 59"/>
            <p:cNvSpPr>
              <a:spLocks noChangeShapeType="1"/>
            </p:cNvSpPr>
            <p:nvPr/>
          </p:nvSpPr>
          <p:spPr bwMode="auto">
            <a:xfrm>
              <a:off x="6645445"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sp>
        <p:nvSpPr>
          <p:cNvPr id="2" name="对话气泡: 圆角矩形 1">
            <a:extLst>
              <a:ext uri="{FF2B5EF4-FFF2-40B4-BE49-F238E27FC236}">
                <a16:creationId xmlns:a16="http://schemas.microsoft.com/office/drawing/2014/main" id="{074270C9-BEC7-A43B-19AB-259856AE49C8}"/>
              </a:ext>
            </a:extLst>
          </p:cNvPr>
          <p:cNvSpPr/>
          <p:nvPr/>
        </p:nvSpPr>
        <p:spPr>
          <a:xfrm>
            <a:off x="4198502" y="1068796"/>
            <a:ext cx="988142" cy="264059"/>
          </a:xfrm>
          <a:prstGeom prst="wedgeRoundRectCallout">
            <a:avLst>
              <a:gd name="adj1" fmla="val -32606"/>
              <a:gd name="adj2" fmla="val 133247"/>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400" b="1" dirty="0">
                <a:latin typeface="微软雅黑" panose="020B0503020204020204" pitchFamily="34" charset="-122"/>
                <a:ea typeface="微软雅黑" panose="020B0503020204020204" pitchFamily="34" charset="-122"/>
              </a:rPr>
              <a:t>不能发送</a:t>
            </a:r>
          </a:p>
        </p:txBody>
      </p:sp>
      <p:sp>
        <p:nvSpPr>
          <p:cNvPr id="3" name="对话气泡: 圆角矩形 2">
            <a:extLst>
              <a:ext uri="{FF2B5EF4-FFF2-40B4-BE49-F238E27FC236}">
                <a16:creationId xmlns:a16="http://schemas.microsoft.com/office/drawing/2014/main" id="{D77639E8-77C5-7482-3686-A7A28066DC26}"/>
              </a:ext>
            </a:extLst>
          </p:cNvPr>
          <p:cNvSpPr/>
          <p:nvPr/>
        </p:nvSpPr>
        <p:spPr>
          <a:xfrm>
            <a:off x="4718685" y="2640857"/>
            <a:ext cx="988142" cy="264059"/>
          </a:xfrm>
          <a:prstGeom prst="wedgeRoundRectCallout">
            <a:avLst>
              <a:gd name="adj1" fmla="val -85342"/>
              <a:gd name="adj2" fmla="val 116491"/>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400" b="1" dirty="0">
                <a:latin typeface="微软雅黑" panose="020B0503020204020204" pitchFamily="34" charset="-122"/>
                <a:ea typeface="微软雅黑" panose="020B0503020204020204" pitchFamily="34" charset="-122"/>
              </a:rPr>
              <a:t>可以发送</a:t>
            </a:r>
          </a:p>
        </p:txBody>
      </p:sp>
    </p:spTree>
    <p:extLst>
      <p:ext uri="{BB962C8B-B14F-4D97-AF65-F5344CB8AC3E}">
        <p14:creationId xmlns:p14="http://schemas.microsoft.com/office/powerpoint/2010/main" val="3677341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1"/>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73"/>
                                        </p:tgtEl>
                                        <p:attrNameLst>
                                          <p:attrName>style.visibility</p:attrName>
                                        </p:attrNameLst>
                                      </p:cBhvr>
                                      <p:to>
                                        <p:strVal val="visible"/>
                                      </p:to>
                                    </p:set>
                                  </p:childTnLst>
                                </p:cTn>
                              </p:par>
                            </p:childTnLst>
                          </p:cTn>
                        </p:par>
                        <p:par>
                          <p:cTn id="17" fill="hold">
                            <p:stCondLst>
                              <p:cond delay="0"/>
                            </p:stCondLst>
                            <p:childTnLst>
                              <p:par>
                                <p:cTn id="18" presetID="35" presetClass="emph" presetSubtype="0" repeatCount="3000" fill="hold" nodeType="afterEffect">
                                  <p:stCondLst>
                                    <p:cond delay="0"/>
                                  </p:stCondLst>
                                  <p:childTnLst>
                                    <p:anim calcmode="discrete" valueType="str">
                                      <p:cBhvr>
                                        <p:cTn id="19" dur="1000" fill="hold"/>
                                        <p:tgtEl>
                                          <p:spTgt spid="73"/>
                                        </p:tgtEl>
                                        <p:attrNameLst>
                                          <p:attrName>style.visibility</p:attrName>
                                        </p:attrNameLst>
                                      </p:cBhvr>
                                      <p:tavLst>
                                        <p:tav tm="0">
                                          <p:val>
                                            <p:strVal val="hidden"/>
                                          </p:val>
                                        </p:tav>
                                        <p:tav tm="50000">
                                          <p:val>
                                            <p:strVal val="visible"/>
                                          </p:val>
                                        </p:tav>
                                      </p:tavLst>
                                    </p:anim>
                                  </p:childTnLst>
                                </p:cTn>
                              </p:par>
                            </p:childTnLst>
                          </p:cTn>
                        </p:par>
                        <p:par>
                          <p:cTn id="20" fill="hold">
                            <p:stCondLst>
                              <p:cond delay="3000"/>
                            </p:stCondLst>
                            <p:childTnLst>
                              <p:par>
                                <p:cTn id="21" presetID="63" presetClass="path" presetSubtype="0" accel="50000" decel="50000" fill="hold" nodeType="afterEffect">
                                  <p:stCondLst>
                                    <p:cond delay="0"/>
                                  </p:stCondLst>
                                  <p:childTnLst>
                                    <p:animMotion origin="layout" path="M 3.88889E-6 -3.45679E-6 L 0.04548 -3.45679E-6 " pathEditMode="relative" rAng="0" ptsTypes="AA">
                                      <p:cBhvr>
                                        <p:cTn id="22" dur="2000" fill="hold"/>
                                        <p:tgtEl>
                                          <p:spTgt spid="72"/>
                                        </p:tgtEl>
                                        <p:attrNameLst>
                                          <p:attrName>ppt_x</p:attrName>
                                          <p:attrName>ppt_y</p:attrName>
                                        </p:attrNameLst>
                                      </p:cBhvr>
                                      <p:rCtr x="2274" y="0"/>
                                    </p:animMotion>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p:cTn id="27" dur="500" fill="hold"/>
                                        <p:tgtEl>
                                          <p:spTgt spid="3"/>
                                        </p:tgtEl>
                                        <p:attrNameLst>
                                          <p:attrName>ppt_w</p:attrName>
                                        </p:attrNameLst>
                                      </p:cBhvr>
                                      <p:tavLst>
                                        <p:tav tm="0">
                                          <p:val>
                                            <p:fltVal val="0"/>
                                          </p:val>
                                        </p:tav>
                                        <p:tav tm="100000">
                                          <p:val>
                                            <p:strVal val="#ppt_w"/>
                                          </p:val>
                                        </p:tav>
                                      </p:tavLst>
                                    </p:anim>
                                    <p:anim calcmode="lin" valueType="num">
                                      <p:cBhvr>
                                        <p:cTn id="28" dur="500" fill="hold"/>
                                        <p:tgtEl>
                                          <p:spTgt spid="3"/>
                                        </p:tgtEl>
                                        <p:attrNameLst>
                                          <p:attrName>ppt_h</p:attrName>
                                        </p:attrNameLst>
                                      </p:cBhvr>
                                      <p:tavLst>
                                        <p:tav tm="0">
                                          <p:val>
                                            <p:fltVal val="0"/>
                                          </p:val>
                                        </p:tav>
                                        <p:tav tm="100000">
                                          <p:val>
                                            <p:strVal val="#ppt_h"/>
                                          </p:val>
                                        </p:tav>
                                      </p:tavLst>
                                    </p:anim>
                                    <p:animEffect transition="in" filter="fade">
                                      <p:cBhvr>
                                        <p:cTn id="2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CA7BE-E27A-1939-AD07-431AEC1C5614}"/>
            </a:ext>
          </a:extLst>
        </p:cNvPr>
        <p:cNvGrpSpPr/>
        <p:nvPr/>
      </p:nvGrpSpPr>
      <p:grpSpPr>
        <a:xfrm>
          <a:off x="0" y="0"/>
          <a:ext cx="0" cy="0"/>
          <a:chOff x="0" y="0"/>
          <a:chExt cx="0" cy="0"/>
        </a:xfrm>
      </p:grpSpPr>
      <p:sp>
        <p:nvSpPr>
          <p:cNvPr id="115" name="圆角矩形 3">
            <a:extLst>
              <a:ext uri="{FF2B5EF4-FFF2-40B4-BE49-F238E27FC236}">
                <a16:creationId xmlns:a16="http://schemas.microsoft.com/office/drawing/2014/main" id="{4EB72043-7F1F-22FE-B16D-4232BC094200}"/>
              </a:ext>
            </a:extLst>
          </p:cNvPr>
          <p:cNvSpPr/>
          <p:nvPr/>
        </p:nvSpPr>
        <p:spPr>
          <a:xfrm>
            <a:off x="4092715" y="1034498"/>
            <a:ext cx="4736654" cy="374889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AutoShape 5">
            <a:extLst>
              <a:ext uri="{FF2B5EF4-FFF2-40B4-BE49-F238E27FC236}">
                <a16:creationId xmlns:a16="http://schemas.microsoft.com/office/drawing/2014/main" id="{9F7779D4-654C-F69F-2BBD-443F75E0201E}"/>
              </a:ext>
            </a:extLst>
          </p:cNvPr>
          <p:cNvSpPr>
            <a:spLocks noChangeArrowheads="1"/>
          </p:cNvSpPr>
          <p:nvPr/>
        </p:nvSpPr>
        <p:spPr bwMode="auto">
          <a:xfrm>
            <a:off x="556963" y="62060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5" name="Rectangle 6">
            <a:extLst>
              <a:ext uri="{FF2B5EF4-FFF2-40B4-BE49-F238E27FC236}">
                <a16:creationId xmlns:a16="http://schemas.microsoft.com/office/drawing/2014/main" id="{6A1C5F56-D3B8-5D05-60DF-F50F7479CCDE}"/>
              </a:ext>
            </a:extLst>
          </p:cNvPr>
          <p:cNvSpPr>
            <a:spLocks noChangeArrowheads="1"/>
          </p:cNvSpPr>
          <p:nvPr/>
        </p:nvSpPr>
        <p:spPr bwMode="auto">
          <a:xfrm>
            <a:off x="3976057" y="587392"/>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累积确认</a:t>
            </a:r>
          </a:p>
        </p:txBody>
      </p:sp>
      <p:sp>
        <p:nvSpPr>
          <p:cNvPr id="5" name="Text Box 4">
            <a:extLst>
              <a:ext uri="{FF2B5EF4-FFF2-40B4-BE49-F238E27FC236}">
                <a16:creationId xmlns:a16="http://schemas.microsoft.com/office/drawing/2014/main" id="{82921177-053F-39E1-4955-8EFA7784DAC7}"/>
              </a:ext>
            </a:extLst>
          </p:cNvPr>
          <p:cNvSpPr txBox="1">
            <a:spLocks noChangeArrowheads="1"/>
          </p:cNvSpPr>
          <p:nvPr/>
        </p:nvSpPr>
        <p:spPr bwMode="auto">
          <a:xfrm>
            <a:off x="5478642" y="1203072"/>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0"/>
              </a:spcBef>
              <a:spcAft>
                <a:spcPts val="0"/>
              </a:spcAft>
              <a:buClrTx/>
              <a:buSzTx/>
              <a:buFontTx/>
              <a:buNone/>
            </a:pPr>
            <a:r>
              <a:rPr lang="zh-CN" altLang="en-US" sz="1200" b="1">
                <a:solidFill>
                  <a:prstClr val="black"/>
                </a:solidFill>
                <a:latin typeface="微软雅黑"/>
                <a:ea typeface="微软雅黑"/>
              </a:rPr>
              <a:t>发送方</a:t>
            </a:r>
            <a:endParaRPr lang="zh-CN" altLang="en-US" sz="1050" b="1">
              <a:solidFill>
                <a:prstClr val="black"/>
              </a:solidFill>
              <a:latin typeface="微软雅黑"/>
              <a:ea typeface="微软雅黑"/>
            </a:endParaRPr>
          </a:p>
        </p:txBody>
      </p:sp>
      <p:sp>
        <p:nvSpPr>
          <p:cNvPr id="11" name="Text Box 6">
            <a:extLst>
              <a:ext uri="{FF2B5EF4-FFF2-40B4-BE49-F238E27FC236}">
                <a16:creationId xmlns:a16="http://schemas.microsoft.com/office/drawing/2014/main" id="{F04F206A-034E-AABA-7DDA-0909CF895933}"/>
              </a:ext>
            </a:extLst>
          </p:cNvPr>
          <p:cNvSpPr txBox="1">
            <a:spLocks noChangeArrowheads="1"/>
          </p:cNvSpPr>
          <p:nvPr/>
        </p:nvSpPr>
        <p:spPr bwMode="auto">
          <a:xfrm>
            <a:off x="6789187" y="1212087"/>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0"/>
              </a:spcBef>
              <a:spcAft>
                <a:spcPts val="0"/>
              </a:spcAft>
              <a:buClrTx/>
              <a:buSzTx/>
              <a:buFontTx/>
              <a:buNone/>
            </a:pPr>
            <a:r>
              <a:rPr lang="zh-CN" altLang="en-US" sz="1200" b="1" dirty="0">
                <a:solidFill>
                  <a:prstClr val="black"/>
                </a:solidFill>
                <a:latin typeface="微软雅黑"/>
                <a:ea typeface="微软雅黑"/>
              </a:rPr>
              <a:t>接收方</a:t>
            </a:r>
            <a:endParaRPr lang="zh-CN" altLang="en-US" sz="1050" b="1" dirty="0">
              <a:solidFill>
                <a:prstClr val="black"/>
              </a:solidFill>
              <a:latin typeface="微软雅黑"/>
              <a:ea typeface="微软雅黑"/>
            </a:endParaRPr>
          </a:p>
        </p:txBody>
      </p:sp>
      <p:sp>
        <p:nvSpPr>
          <p:cNvPr id="26" name="Line 7">
            <a:extLst>
              <a:ext uri="{FF2B5EF4-FFF2-40B4-BE49-F238E27FC236}">
                <a16:creationId xmlns:a16="http://schemas.microsoft.com/office/drawing/2014/main" id="{8F8B5B99-4E72-C89A-0534-CA67D7B2B1F3}"/>
              </a:ext>
            </a:extLst>
          </p:cNvPr>
          <p:cNvSpPr>
            <a:spLocks noChangeShapeType="1"/>
          </p:cNvSpPr>
          <p:nvPr/>
        </p:nvSpPr>
        <p:spPr bwMode="auto">
          <a:xfrm>
            <a:off x="5797571" y="1517937"/>
            <a:ext cx="0" cy="3124835"/>
          </a:xfrm>
          <a:prstGeom prst="line">
            <a:avLst/>
          </a:prstGeom>
          <a:noFill/>
          <a:ln w="19050">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black"/>
              </a:solidFill>
              <a:effectLst/>
              <a:uLnTx/>
              <a:uFillTx/>
              <a:latin typeface="微软雅黑"/>
              <a:ea typeface="微软雅黑"/>
            </a:endParaRPr>
          </a:p>
        </p:txBody>
      </p:sp>
      <p:sp>
        <p:nvSpPr>
          <p:cNvPr id="27" name="Line 8">
            <a:extLst>
              <a:ext uri="{FF2B5EF4-FFF2-40B4-BE49-F238E27FC236}">
                <a16:creationId xmlns:a16="http://schemas.microsoft.com/office/drawing/2014/main" id="{DE813A18-13DE-1A65-3CDF-3F15EEAA5100}"/>
              </a:ext>
            </a:extLst>
          </p:cNvPr>
          <p:cNvSpPr>
            <a:spLocks noChangeShapeType="1"/>
          </p:cNvSpPr>
          <p:nvPr/>
        </p:nvSpPr>
        <p:spPr bwMode="auto">
          <a:xfrm>
            <a:off x="7113291" y="1549052"/>
            <a:ext cx="0" cy="3124835"/>
          </a:xfrm>
          <a:prstGeom prst="line">
            <a:avLst/>
          </a:prstGeom>
          <a:noFill/>
          <a:ln w="19050">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black"/>
              </a:solidFill>
              <a:effectLst/>
              <a:uLnTx/>
              <a:uFillTx/>
              <a:latin typeface="微软雅黑"/>
              <a:ea typeface="微软雅黑"/>
            </a:endParaRPr>
          </a:p>
        </p:txBody>
      </p:sp>
      <p:sp>
        <p:nvSpPr>
          <p:cNvPr id="28" name="Line 12">
            <a:extLst>
              <a:ext uri="{FF2B5EF4-FFF2-40B4-BE49-F238E27FC236}">
                <a16:creationId xmlns:a16="http://schemas.microsoft.com/office/drawing/2014/main" id="{06E9C9F2-68CA-B2C5-DB35-068C5DA86095}"/>
              </a:ext>
            </a:extLst>
          </p:cNvPr>
          <p:cNvSpPr>
            <a:spLocks noChangeShapeType="1"/>
          </p:cNvSpPr>
          <p:nvPr/>
        </p:nvSpPr>
        <p:spPr bwMode="auto">
          <a:xfrm>
            <a:off x="5838687" y="1740187"/>
            <a:ext cx="1226820" cy="533400"/>
          </a:xfrm>
          <a:prstGeom prst="line">
            <a:avLst/>
          </a:prstGeom>
          <a:noFill/>
          <a:ln w="28575">
            <a:solidFill>
              <a:srgbClr val="1F497D"/>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prstClr val="black"/>
              </a:solidFill>
              <a:effectLst/>
              <a:uLnTx/>
              <a:uFillTx/>
              <a:latin typeface="微软雅黑"/>
              <a:ea typeface="微软雅黑"/>
            </a:endParaRPr>
          </a:p>
        </p:txBody>
      </p:sp>
      <p:sp>
        <p:nvSpPr>
          <p:cNvPr id="29" name="Text Box 14">
            <a:extLst>
              <a:ext uri="{FF2B5EF4-FFF2-40B4-BE49-F238E27FC236}">
                <a16:creationId xmlns:a16="http://schemas.microsoft.com/office/drawing/2014/main" id="{DD00B9D9-0DBA-74F9-FEE6-6BC4D9E6E133}"/>
              </a:ext>
            </a:extLst>
          </p:cNvPr>
          <p:cNvSpPr txBox="1">
            <a:spLocks noChangeArrowheads="1"/>
          </p:cNvSpPr>
          <p:nvPr/>
        </p:nvSpPr>
        <p:spPr bwMode="auto">
          <a:xfrm>
            <a:off x="4890607" y="1623131"/>
            <a:ext cx="122682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50000"/>
              </a:spcBef>
              <a:spcAft>
                <a:spcPts val="0"/>
              </a:spcAft>
              <a:buClrTx/>
              <a:buSzTx/>
              <a:buFontTx/>
              <a:buNone/>
            </a:pPr>
            <a:r>
              <a:rPr lang="zh-CN" altLang="en-US" sz="1100" b="1" dirty="0">
                <a:solidFill>
                  <a:prstClr val="black"/>
                </a:solidFill>
                <a:latin typeface="微软雅黑"/>
                <a:ea typeface="微软雅黑"/>
              </a:rPr>
              <a:t>发送</a:t>
            </a:r>
            <a:r>
              <a:rPr lang="en-US" altLang="zh-CN" sz="1100" b="1" dirty="0">
                <a:solidFill>
                  <a:prstClr val="black"/>
                </a:solidFill>
                <a:latin typeface="微软雅黑"/>
                <a:ea typeface="微软雅黑"/>
              </a:rPr>
              <a:t>M0</a:t>
            </a:r>
          </a:p>
        </p:txBody>
      </p:sp>
      <p:sp>
        <p:nvSpPr>
          <p:cNvPr id="30" name="Line 15">
            <a:extLst>
              <a:ext uri="{FF2B5EF4-FFF2-40B4-BE49-F238E27FC236}">
                <a16:creationId xmlns:a16="http://schemas.microsoft.com/office/drawing/2014/main" id="{BAD72AF5-009A-0878-D415-405AFF56F2B8}"/>
              </a:ext>
            </a:extLst>
          </p:cNvPr>
          <p:cNvSpPr>
            <a:spLocks noChangeShapeType="1"/>
          </p:cNvSpPr>
          <p:nvPr/>
        </p:nvSpPr>
        <p:spPr bwMode="auto">
          <a:xfrm>
            <a:off x="5838687" y="1900207"/>
            <a:ext cx="1226820" cy="533400"/>
          </a:xfrm>
          <a:prstGeom prst="line">
            <a:avLst/>
          </a:prstGeom>
          <a:noFill/>
          <a:ln w="28575">
            <a:solidFill>
              <a:srgbClr val="1F497D"/>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prstClr val="black"/>
              </a:solidFill>
              <a:effectLst/>
              <a:uLnTx/>
              <a:uFillTx/>
              <a:latin typeface="微软雅黑"/>
              <a:ea typeface="微软雅黑"/>
            </a:endParaRPr>
          </a:p>
        </p:txBody>
      </p:sp>
      <p:sp>
        <p:nvSpPr>
          <p:cNvPr id="31" name="Line 16">
            <a:extLst>
              <a:ext uri="{FF2B5EF4-FFF2-40B4-BE49-F238E27FC236}">
                <a16:creationId xmlns:a16="http://schemas.microsoft.com/office/drawing/2014/main" id="{0B7051CF-0A08-C8AA-7AA1-79A583C80F14}"/>
              </a:ext>
            </a:extLst>
          </p:cNvPr>
          <p:cNvSpPr>
            <a:spLocks noChangeShapeType="1"/>
          </p:cNvSpPr>
          <p:nvPr/>
        </p:nvSpPr>
        <p:spPr bwMode="auto">
          <a:xfrm>
            <a:off x="5838687" y="2060227"/>
            <a:ext cx="1226820" cy="533400"/>
          </a:xfrm>
          <a:prstGeom prst="line">
            <a:avLst/>
          </a:prstGeom>
          <a:noFill/>
          <a:ln w="28575">
            <a:solidFill>
              <a:srgbClr val="1F497D"/>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prstClr val="black"/>
              </a:solidFill>
              <a:effectLst/>
              <a:uLnTx/>
              <a:uFillTx/>
              <a:latin typeface="微软雅黑"/>
              <a:ea typeface="微软雅黑"/>
            </a:endParaRPr>
          </a:p>
        </p:txBody>
      </p:sp>
      <p:sp>
        <p:nvSpPr>
          <p:cNvPr id="38" name="Line 17">
            <a:extLst>
              <a:ext uri="{FF2B5EF4-FFF2-40B4-BE49-F238E27FC236}">
                <a16:creationId xmlns:a16="http://schemas.microsoft.com/office/drawing/2014/main" id="{1A86100F-24B7-253B-41D8-F64E192AC125}"/>
              </a:ext>
            </a:extLst>
          </p:cNvPr>
          <p:cNvSpPr>
            <a:spLocks noChangeShapeType="1"/>
          </p:cNvSpPr>
          <p:nvPr/>
        </p:nvSpPr>
        <p:spPr bwMode="auto">
          <a:xfrm>
            <a:off x="5838687" y="2220247"/>
            <a:ext cx="1226820" cy="533400"/>
          </a:xfrm>
          <a:prstGeom prst="line">
            <a:avLst/>
          </a:prstGeom>
          <a:noFill/>
          <a:ln w="28575">
            <a:solidFill>
              <a:srgbClr val="1F497D"/>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prstClr val="black"/>
              </a:solidFill>
              <a:effectLst/>
              <a:uLnTx/>
              <a:uFillTx/>
              <a:latin typeface="微软雅黑"/>
              <a:ea typeface="微软雅黑"/>
            </a:endParaRPr>
          </a:p>
        </p:txBody>
      </p:sp>
      <p:sp>
        <p:nvSpPr>
          <p:cNvPr id="39" name="Line 18">
            <a:extLst>
              <a:ext uri="{FF2B5EF4-FFF2-40B4-BE49-F238E27FC236}">
                <a16:creationId xmlns:a16="http://schemas.microsoft.com/office/drawing/2014/main" id="{1BE143C0-5378-65FC-CD3C-040CF4C40C16}"/>
              </a:ext>
            </a:extLst>
          </p:cNvPr>
          <p:cNvSpPr>
            <a:spLocks noChangeShapeType="1"/>
          </p:cNvSpPr>
          <p:nvPr/>
        </p:nvSpPr>
        <p:spPr bwMode="auto">
          <a:xfrm flipV="1">
            <a:off x="5838687" y="3145708"/>
            <a:ext cx="1226820" cy="586740"/>
          </a:xfrm>
          <a:prstGeom prst="line">
            <a:avLst/>
          </a:prstGeom>
          <a:noFill/>
          <a:ln w="28575">
            <a:solidFill>
              <a:srgbClr val="0099FF"/>
            </a:solidFill>
            <a:round/>
            <a:headEnd type="triangle" w="med" len="med"/>
            <a:tailEnd/>
          </a:ln>
          <a:extLst>
            <a:ext uri="{909E8E84-426E-40DD-AFC4-6F175D3DCCD1}">
              <a14:hiddenFill xmlns:a14="http://schemas.microsoft.com/office/drawing/2010/main">
                <a:noFill/>
              </a14:hiddenFill>
            </a:ext>
          </a:extLst>
        </p:spPr>
        <p:txBody>
          <a:bodyPr wrap="none" anchor="ctr"/>
          <a:lstStyle/>
          <a:p>
            <a:pPr defTabSz="1219627" fontAlgn="auto">
              <a:spcBef>
                <a:spcPts val="0"/>
              </a:spcBef>
              <a:spcAft>
                <a:spcPts val="0"/>
              </a:spcAft>
            </a:pPr>
            <a:endParaRPr lang="zh-CN" altLang="en-US" sz="1400">
              <a:solidFill>
                <a:prstClr val="black"/>
              </a:solidFill>
              <a:latin typeface="微软雅黑"/>
              <a:ea typeface="微软雅黑"/>
            </a:endParaRPr>
          </a:p>
        </p:txBody>
      </p:sp>
      <p:sp>
        <p:nvSpPr>
          <p:cNvPr id="42" name="Text Box 20">
            <a:extLst>
              <a:ext uri="{FF2B5EF4-FFF2-40B4-BE49-F238E27FC236}">
                <a16:creationId xmlns:a16="http://schemas.microsoft.com/office/drawing/2014/main" id="{E5882374-FAFE-8137-7CE9-993149A46AD8}"/>
              </a:ext>
            </a:extLst>
          </p:cNvPr>
          <p:cNvSpPr txBox="1">
            <a:spLocks noChangeArrowheads="1"/>
          </p:cNvSpPr>
          <p:nvPr/>
        </p:nvSpPr>
        <p:spPr bwMode="auto">
          <a:xfrm>
            <a:off x="4890607" y="1783151"/>
            <a:ext cx="122682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50000"/>
              </a:spcBef>
              <a:spcAft>
                <a:spcPts val="0"/>
              </a:spcAft>
              <a:buClrTx/>
              <a:buSzTx/>
              <a:buFontTx/>
              <a:buNone/>
            </a:pPr>
            <a:r>
              <a:rPr lang="zh-CN" altLang="en-US" sz="1100" b="1" dirty="0">
                <a:solidFill>
                  <a:prstClr val="black"/>
                </a:solidFill>
                <a:latin typeface="微软雅黑"/>
                <a:ea typeface="微软雅黑"/>
              </a:rPr>
              <a:t>发送</a:t>
            </a:r>
            <a:r>
              <a:rPr lang="en-US" altLang="zh-CN" sz="1100" b="1" dirty="0">
                <a:solidFill>
                  <a:prstClr val="black"/>
                </a:solidFill>
                <a:latin typeface="微软雅黑"/>
                <a:ea typeface="微软雅黑"/>
              </a:rPr>
              <a:t>M1</a:t>
            </a:r>
          </a:p>
        </p:txBody>
      </p:sp>
      <p:sp>
        <p:nvSpPr>
          <p:cNvPr id="43" name="Text Box 21">
            <a:extLst>
              <a:ext uri="{FF2B5EF4-FFF2-40B4-BE49-F238E27FC236}">
                <a16:creationId xmlns:a16="http://schemas.microsoft.com/office/drawing/2014/main" id="{99975A39-590F-3FC4-DDB9-9647412D5A9F}"/>
              </a:ext>
            </a:extLst>
          </p:cNvPr>
          <p:cNvSpPr txBox="1">
            <a:spLocks noChangeArrowheads="1"/>
          </p:cNvSpPr>
          <p:nvPr/>
        </p:nvSpPr>
        <p:spPr bwMode="auto">
          <a:xfrm>
            <a:off x="4890607" y="1943171"/>
            <a:ext cx="122682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50000"/>
              </a:spcBef>
              <a:spcAft>
                <a:spcPts val="0"/>
              </a:spcAft>
              <a:buClrTx/>
              <a:buSzTx/>
              <a:buFontTx/>
              <a:buNone/>
            </a:pPr>
            <a:r>
              <a:rPr lang="zh-CN" altLang="en-US" sz="1100" b="1" dirty="0">
                <a:solidFill>
                  <a:prstClr val="black"/>
                </a:solidFill>
                <a:latin typeface="微软雅黑"/>
                <a:ea typeface="微软雅黑"/>
              </a:rPr>
              <a:t>发送</a:t>
            </a:r>
            <a:r>
              <a:rPr lang="en-US" altLang="zh-CN" sz="1100" b="1" dirty="0">
                <a:solidFill>
                  <a:prstClr val="black"/>
                </a:solidFill>
                <a:latin typeface="微软雅黑"/>
                <a:ea typeface="微软雅黑"/>
              </a:rPr>
              <a:t>M2</a:t>
            </a:r>
          </a:p>
        </p:txBody>
      </p:sp>
      <p:sp>
        <p:nvSpPr>
          <p:cNvPr id="44" name="Text Box 22">
            <a:extLst>
              <a:ext uri="{FF2B5EF4-FFF2-40B4-BE49-F238E27FC236}">
                <a16:creationId xmlns:a16="http://schemas.microsoft.com/office/drawing/2014/main" id="{518B58FF-CA4B-733F-C00A-A5A30EA11C48}"/>
              </a:ext>
            </a:extLst>
          </p:cNvPr>
          <p:cNvSpPr txBox="1">
            <a:spLocks noChangeArrowheads="1"/>
          </p:cNvSpPr>
          <p:nvPr/>
        </p:nvSpPr>
        <p:spPr bwMode="auto">
          <a:xfrm>
            <a:off x="4890607" y="2103191"/>
            <a:ext cx="122682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50000"/>
              </a:spcBef>
              <a:spcAft>
                <a:spcPts val="0"/>
              </a:spcAft>
              <a:buClrTx/>
              <a:buSzTx/>
              <a:buFontTx/>
              <a:buNone/>
            </a:pPr>
            <a:r>
              <a:rPr lang="zh-CN" altLang="en-US" sz="1100" b="1" dirty="0">
                <a:solidFill>
                  <a:prstClr val="black"/>
                </a:solidFill>
                <a:latin typeface="微软雅黑"/>
                <a:ea typeface="微软雅黑"/>
              </a:rPr>
              <a:t>发送</a:t>
            </a:r>
            <a:r>
              <a:rPr lang="en-US" altLang="zh-CN" sz="1100" b="1" dirty="0">
                <a:solidFill>
                  <a:prstClr val="black"/>
                </a:solidFill>
                <a:latin typeface="微软雅黑"/>
                <a:ea typeface="微软雅黑"/>
              </a:rPr>
              <a:t>M3</a:t>
            </a:r>
          </a:p>
        </p:txBody>
      </p:sp>
      <p:sp>
        <p:nvSpPr>
          <p:cNvPr id="48" name="Line 27">
            <a:extLst>
              <a:ext uri="{FF2B5EF4-FFF2-40B4-BE49-F238E27FC236}">
                <a16:creationId xmlns:a16="http://schemas.microsoft.com/office/drawing/2014/main" id="{6D5824F2-FBCA-5601-880E-657E8D014EDD}"/>
              </a:ext>
            </a:extLst>
          </p:cNvPr>
          <p:cNvSpPr>
            <a:spLocks noChangeShapeType="1"/>
          </p:cNvSpPr>
          <p:nvPr/>
        </p:nvSpPr>
        <p:spPr bwMode="auto">
          <a:xfrm>
            <a:off x="5838687" y="2381986"/>
            <a:ext cx="1226820" cy="533400"/>
          </a:xfrm>
          <a:prstGeom prst="line">
            <a:avLst/>
          </a:prstGeom>
          <a:noFill/>
          <a:ln w="28575">
            <a:solidFill>
              <a:srgbClr val="1F497D"/>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prstClr val="black"/>
              </a:solidFill>
              <a:effectLst/>
              <a:uLnTx/>
              <a:uFillTx/>
              <a:latin typeface="微软雅黑"/>
              <a:ea typeface="微软雅黑"/>
            </a:endParaRPr>
          </a:p>
        </p:txBody>
      </p:sp>
      <p:sp>
        <p:nvSpPr>
          <p:cNvPr id="49" name="Text Box 28">
            <a:extLst>
              <a:ext uri="{FF2B5EF4-FFF2-40B4-BE49-F238E27FC236}">
                <a16:creationId xmlns:a16="http://schemas.microsoft.com/office/drawing/2014/main" id="{4E22DCA5-58ED-6104-F7CB-F315DFBAD4EC}"/>
              </a:ext>
            </a:extLst>
          </p:cNvPr>
          <p:cNvSpPr txBox="1">
            <a:spLocks noChangeArrowheads="1"/>
          </p:cNvSpPr>
          <p:nvPr/>
        </p:nvSpPr>
        <p:spPr bwMode="auto">
          <a:xfrm>
            <a:off x="4890607" y="2264930"/>
            <a:ext cx="122682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50000"/>
              </a:spcBef>
              <a:spcAft>
                <a:spcPts val="0"/>
              </a:spcAft>
              <a:buClrTx/>
              <a:buSzTx/>
              <a:buFontTx/>
              <a:buNone/>
            </a:pPr>
            <a:r>
              <a:rPr lang="zh-CN" altLang="en-US" sz="1100" b="1" dirty="0">
                <a:solidFill>
                  <a:prstClr val="black"/>
                </a:solidFill>
                <a:latin typeface="微软雅黑"/>
                <a:ea typeface="微软雅黑"/>
              </a:rPr>
              <a:t>发送</a:t>
            </a:r>
            <a:r>
              <a:rPr lang="en-US" altLang="zh-CN" sz="1100" b="1" dirty="0">
                <a:solidFill>
                  <a:prstClr val="black"/>
                </a:solidFill>
                <a:latin typeface="微软雅黑"/>
                <a:ea typeface="微软雅黑"/>
              </a:rPr>
              <a:t>M4</a:t>
            </a:r>
          </a:p>
        </p:txBody>
      </p:sp>
      <p:sp>
        <p:nvSpPr>
          <p:cNvPr id="50" name="Line 29">
            <a:extLst>
              <a:ext uri="{FF2B5EF4-FFF2-40B4-BE49-F238E27FC236}">
                <a16:creationId xmlns:a16="http://schemas.microsoft.com/office/drawing/2014/main" id="{26A1EFA4-C1AB-808B-40C3-67C52D4AD1D6}"/>
              </a:ext>
            </a:extLst>
          </p:cNvPr>
          <p:cNvSpPr>
            <a:spLocks noChangeShapeType="1"/>
          </p:cNvSpPr>
          <p:nvPr/>
        </p:nvSpPr>
        <p:spPr bwMode="auto">
          <a:xfrm>
            <a:off x="5838687" y="2542006"/>
            <a:ext cx="1226820" cy="533400"/>
          </a:xfrm>
          <a:prstGeom prst="line">
            <a:avLst/>
          </a:prstGeom>
          <a:noFill/>
          <a:ln w="28575">
            <a:solidFill>
              <a:srgbClr val="1F497D"/>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prstClr val="black"/>
              </a:solidFill>
              <a:effectLst/>
              <a:uLnTx/>
              <a:uFillTx/>
              <a:latin typeface="微软雅黑"/>
              <a:ea typeface="微软雅黑"/>
            </a:endParaRPr>
          </a:p>
        </p:txBody>
      </p:sp>
      <p:sp>
        <p:nvSpPr>
          <p:cNvPr id="54" name="Text Box 32">
            <a:extLst>
              <a:ext uri="{FF2B5EF4-FFF2-40B4-BE49-F238E27FC236}">
                <a16:creationId xmlns:a16="http://schemas.microsoft.com/office/drawing/2014/main" id="{B5128AA6-22AD-8EDC-32DF-91D94FCD601F}"/>
              </a:ext>
            </a:extLst>
          </p:cNvPr>
          <p:cNvSpPr txBox="1">
            <a:spLocks noChangeArrowheads="1"/>
          </p:cNvSpPr>
          <p:nvPr/>
        </p:nvSpPr>
        <p:spPr bwMode="auto">
          <a:xfrm>
            <a:off x="4890607" y="2424950"/>
            <a:ext cx="122682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50000"/>
              </a:spcBef>
              <a:spcAft>
                <a:spcPts val="0"/>
              </a:spcAft>
              <a:buClrTx/>
              <a:buSzTx/>
              <a:buFontTx/>
              <a:buNone/>
            </a:pPr>
            <a:r>
              <a:rPr lang="zh-CN" altLang="en-US" sz="1100" b="1" dirty="0">
                <a:solidFill>
                  <a:prstClr val="black"/>
                </a:solidFill>
                <a:latin typeface="微软雅黑"/>
                <a:ea typeface="微软雅黑"/>
              </a:rPr>
              <a:t>发送</a:t>
            </a:r>
            <a:r>
              <a:rPr lang="en-US" altLang="zh-CN" sz="1100" b="1" dirty="0">
                <a:solidFill>
                  <a:prstClr val="black"/>
                </a:solidFill>
                <a:latin typeface="微软雅黑"/>
                <a:ea typeface="微软雅黑"/>
              </a:rPr>
              <a:t>M5</a:t>
            </a:r>
          </a:p>
        </p:txBody>
      </p:sp>
      <p:sp>
        <p:nvSpPr>
          <p:cNvPr id="107" name="Text Box 24">
            <a:extLst>
              <a:ext uri="{FF2B5EF4-FFF2-40B4-BE49-F238E27FC236}">
                <a16:creationId xmlns:a16="http://schemas.microsoft.com/office/drawing/2014/main" id="{1848EA29-DB7E-496A-A1E2-4D28AA109712}"/>
              </a:ext>
            </a:extLst>
          </p:cNvPr>
          <p:cNvSpPr txBox="1">
            <a:spLocks noChangeArrowheads="1"/>
          </p:cNvSpPr>
          <p:nvPr/>
        </p:nvSpPr>
        <p:spPr bwMode="auto">
          <a:xfrm>
            <a:off x="7141166" y="3019709"/>
            <a:ext cx="1229719"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defTabSz="1219627" fontAlgn="auto">
              <a:spcBef>
                <a:spcPct val="50000"/>
              </a:spcBef>
              <a:spcAft>
                <a:spcPts val="0"/>
              </a:spcAft>
              <a:buClrTx/>
              <a:buSzTx/>
              <a:buFontTx/>
              <a:buNone/>
            </a:pPr>
            <a:r>
              <a:rPr lang="zh-CN" altLang="en-US" sz="1100" b="1" dirty="0">
                <a:solidFill>
                  <a:prstClr val="black"/>
                </a:solidFill>
                <a:latin typeface="微软雅黑"/>
                <a:ea typeface="微软雅黑"/>
              </a:rPr>
              <a:t>发送</a:t>
            </a:r>
            <a:r>
              <a:rPr lang="en-US" altLang="zh-CN" sz="1100" b="1" dirty="0">
                <a:solidFill>
                  <a:srgbClr val="C00000"/>
                </a:solidFill>
                <a:latin typeface="微软雅黑"/>
                <a:ea typeface="微软雅黑"/>
              </a:rPr>
              <a:t>ACK5</a:t>
            </a:r>
          </a:p>
        </p:txBody>
      </p:sp>
      <p:sp>
        <p:nvSpPr>
          <p:cNvPr id="112" name="Rectangle 8">
            <a:extLst>
              <a:ext uri="{FF2B5EF4-FFF2-40B4-BE49-F238E27FC236}">
                <a16:creationId xmlns:a16="http://schemas.microsoft.com/office/drawing/2014/main" id="{FCCA4295-CF71-6B6A-8D4C-2E533004DCDB}"/>
              </a:ext>
            </a:extLst>
          </p:cNvPr>
          <p:cNvSpPr>
            <a:spLocks noChangeArrowheads="1"/>
          </p:cNvSpPr>
          <p:nvPr/>
        </p:nvSpPr>
        <p:spPr bwMode="auto">
          <a:xfrm>
            <a:off x="592572" y="1131168"/>
            <a:ext cx="3362632" cy="3647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spcAft>
                <a:spcPts val="600"/>
              </a:spcAft>
              <a:buClr>
                <a:srgbClr val="0070C0"/>
              </a:buClr>
              <a:buFont typeface="Wingdings" pitchFamily="2" charset="2"/>
              <a:buChar char="l"/>
            </a:pPr>
            <a:r>
              <a:rPr lang="zh-CN" altLang="en-US" b="1" dirty="0">
                <a:latin typeface="微软雅黑" pitchFamily="34" charset="-122"/>
                <a:ea typeface="微软雅黑" pitchFamily="34" charset="-122"/>
              </a:rPr>
              <a:t>连续</a:t>
            </a:r>
            <a:r>
              <a:rPr lang="en-US" altLang="zh-CN" b="1" dirty="0">
                <a:latin typeface="微软雅黑" pitchFamily="34" charset="-122"/>
                <a:ea typeface="微软雅黑" pitchFamily="34" charset="-122"/>
              </a:rPr>
              <a:t>ARQ</a:t>
            </a:r>
            <a:r>
              <a:rPr lang="zh-CN" altLang="en-US" b="1" dirty="0">
                <a:latin typeface="微软雅黑" pitchFamily="34" charset="-122"/>
                <a:ea typeface="微软雅黑" pitchFamily="34" charset="-122"/>
              </a:rPr>
              <a:t>默认使用</a:t>
            </a:r>
            <a:r>
              <a:rPr lang="zh-CN" altLang="en-US" b="1" dirty="0">
                <a:solidFill>
                  <a:srgbClr val="C00000"/>
                </a:solidFill>
                <a:latin typeface="微软雅黑" pitchFamily="34" charset="-122"/>
                <a:ea typeface="微软雅黑" pitchFamily="34" charset="-122"/>
              </a:rPr>
              <a:t>累积确认</a:t>
            </a:r>
            <a:r>
              <a:rPr lang="zh-CN" altLang="en-US" b="1" dirty="0">
                <a:latin typeface="微软雅黑" pitchFamily="34" charset="-122"/>
                <a:ea typeface="微软雅黑" pitchFamily="34" charset="-122"/>
              </a:rPr>
              <a:t>机制：对分组</a:t>
            </a:r>
            <a:r>
              <a:rPr lang="en-US" altLang="zh-CN" b="1" dirty="0">
                <a:latin typeface="微软雅黑" pitchFamily="34" charset="-122"/>
                <a:ea typeface="微软雅黑" pitchFamily="34" charset="-122"/>
              </a:rPr>
              <a:t>Mn</a:t>
            </a:r>
            <a:r>
              <a:rPr lang="zh-CN" altLang="en-US" b="1" dirty="0">
                <a:latin typeface="微软雅黑" pitchFamily="34" charset="-122"/>
                <a:ea typeface="微软雅黑" pitchFamily="34" charset="-122"/>
              </a:rPr>
              <a:t>的确认，表明接收方已正确接收到分组</a:t>
            </a:r>
            <a:r>
              <a:rPr lang="en-US" altLang="zh-CN" b="1" dirty="0">
                <a:latin typeface="微软雅黑" pitchFamily="34" charset="-122"/>
                <a:ea typeface="微软雅黑" pitchFamily="34" charset="-122"/>
              </a:rPr>
              <a:t>Mn</a:t>
            </a:r>
            <a:r>
              <a:rPr lang="zh-CN" altLang="en-US" b="1" dirty="0">
                <a:latin typeface="微软雅黑" pitchFamily="34" charset="-122"/>
                <a:ea typeface="微软雅黑" pitchFamily="34" charset="-122"/>
              </a:rPr>
              <a:t>及以前的所有分组。</a:t>
            </a:r>
            <a:endParaRPr lang="en-US" altLang="zh-CN" b="1" dirty="0">
              <a:latin typeface="微软雅黑" pitchFamily="34" charset="-122"/>
              <a:ea typeface="微软雅黑" pitchFamily="34" charset="-122"/>
            </a:endParaRPr>
          </a:p>
          <a:p>
            <a:pPr marL="285750" indent="-285750">
              <a:spcAft>
                <a:spcPts val="600"/>
              </a:spcAft>
              <a:buClr>
                <a:srgbClr val="0070C0"/>
              </a:buClr>
              <a:buFont typeface="Wingdings" pitchFamily="2" charset="2"/>
              <a:buChar char="l"/>
            </a:pPr>
            <a:r>
              <a:rPr lang="zh-CN" altLang="en-US" b="1" dirty="0">
                <a:latin typeface="微软雅黑" pitchFamily="34" charset="-122"/>
                <a:ea typeface="微软雅黑" pitchFamily="34" charset="-122"/>
              </a:rPr>
              <a:t>既保证可靠传输，又可减少网络中确认分组的数量，因而提高了网络利用率。</a:t>
            </a:r>
            <a:endParaRPr lang="en-US" altLang="zh-CN" b="1" dirty="0">
              <a:latin typeface="微软雅黑" pitchFamily="34" charset="-122"/>
              <a:ea typeface="微软雅黑" pitchFamily="34" charset="-122"/>
            </a:endParaRPr>
          </a:p>
          <a:p>
            <a:pPr marL="285750" indent="-285750">
              <a:spcAft>
                <a:spcPts val="600"/>
              </a:spcAft>
              <a:buClr>
                <a:srgbClr val="0070C0"/>
              </a:buClr>
              <a:buFont typeface="Wingdings" pitchFamily="2" charset="2"/>
              <a:buChar char="l"/>
            </a:pPr>
            <a:r>
              <a:rPr lang="en-US" altLang="zh-CN" b="1" dirty="0">
                <a:latin typeface="微软雅黑" pitchFamily="34" charset="-122"/>
                <a:ea typeface="微软雅黑" pitchFamily="34" charset="-122"/>
              </a:rPr>
              <a:t>TCP</a:t>
            </a:r>
            <a:r>
              <a:rPr lang="zh-CN" altLang="en-US" b="1" dirty="0">
                <a:latin typeface="微软雅黑" pitchFamily="34" charset="-122"/>
                <a:ea typeface="微软雅黑" pitchFamily="34" charset="-122"/>
              </a:rPr>
              <a:t>使用累积确认机制。</a:t>
            </a:r>
            <a:endParaRPr lang="en-US" altLang="zh-CN" b="1" dirty="0">
              <a:latin typeface="微软雅黑" pitchFamily="34" charset="-122"/>
              <a:ea typeface="微软雅黑" pitchFamily="34" charset="-122"/>
            </a:endParaRPr>
          </a:p>
          <a:p>
            <a:pPr marL="285750" indent="-285750">
              <a:spcAft>
                <a:spcPts val="600"/>
              </a:spcAft>
              <a:buClr>
                <a:srgbClr val="0070C0"/>
              </a:buClr>
              <a:buFont typeface="Wingdings" pitchFamily="2" charset="2"/>
              <a:buChar char="l"/>
            </a:pPr>
            <a:r>
              <a:rPr lang="zh-CN" altLang="en-US" b="1" dirty="0">
                <a:latin typeface="微软雅黑" pitchFamily="34" charset="-122"/>
                <a:ea typeface="微软雅黑" pitchFamily="34" charset="-122"/>
              </a:rPr>
              <a:t>为保证确认的及时性，收到分组后也不能推迟太长时间进行确认，不同协议有各自具体的规定。</a:t>
            </a:r>
            <a:endParaRPr lang="en-US" altLang="zh-CN" b="1" dirty="0">
              <a:latin typeface="微软雅黑" pitchFamily="34" charset="-122"/>
              <a:ea typeface="微软雅黑" pitchFamily="34" charset="-122"/>
            </a:endParaRPr>
          </a:p>
        </p:txBody>
      </p:sp>
      <p:sp>
        <p:nvSpPr>
          <p:cNvPr id="2" name="Text Box 63">
            <a:extLst>
              <a:ext uri="{FF2B5EF4-FFF2-40B4-BE49-F238E27FC236}">
                <a16:creationId xmlns:a16="http://schemas.microsoft.com/office/drawing/2014/main" id="{BA02111D-4063-0E9B-2D56-C6F9C4D27B12}"/>
              </a:ext>
            </a:extLst>
          </p:cNvPr>
          <p:cNvSpPr txBox="1">
            <a:spLocks noChangeArrowheads="1"/>
          </p:cNvSpPr>
          <p:nvPr/>
        </p:nvSpPr>
        <p:spPr bwMode="auto">
          <a:xfrm>
            <a:off x="7106622" y="3196727"/>
            <a:ext cx="163031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200" b="1" dirty="0">
                <a:latin typeface="微软雅黑" pitchFamily="34" charset="-122"/>
                <a:ea typeface="微软雅黑" pitchFamily="34" charset="-122"/>
              </a:rPr>
              <a:t>ACK5 </a:t>
            </a:r>
            <a:r>
              <a:rPr lang="zh-CN" altLang="en-US" sz="1200" b="1" dirty="0">
                <a:latin typeface="微软雅黑" pitchFamily="34" charset="-122"/>
                <a:ea typeface="微软雅黑" pitchFamily="34" charset="-122"/>
              </a:rPr>
              <a:t>为</a:t>
            </a:r>
            <a:r>
              <a:rPr lang="zh-CN" altLang="en-US" sz="1200" b="1" dirty="0">
                <a:solidFill>
                  <a:srgbClr val="C00000"/>
                </a:solidFill>
                <a:latin typeface="微软雅黑" pitchFamily="34" charset="-122"/>
                <a:ea typeface="微软雅黑" pitchFamily="34" charset="-122"/>
              </a:rPr>
              <a:t>累积确认，</a:t>
            </a:r>
            <a:endParaRPr lang="en-US" altLang="zh-CN" sz="1200" b="1" dirty="0">
              <a:solidFill>
                <a:srgbClr val="C00000"/>
              </a:solidFill>
              <a:latin typeface="微软雅黑" pitchFamily="34" charset="-122"/>
              <a:ea typeface="微软雅黑" pitchFamily="34" charset="-122"/>
            </a:endParaRPr>
          </a:p>
          <a:p>
            <a:pPr eaLnBrk="1" hangingPunct="1"/>
            <a:r>
              <a:rPr lang="zh-CN" altLang="en-US" sz="1200" b="1" dirty="0">
                <a:latin typeface="微软雅黑" pitchFamily="34" charset="-122"/>
                <a:ea typeface="微软雅黑" pitchFamily="34" charset="-122"/>
              </a:rPr>
              <a:t>表示 </a:t>
            </a:r>
            <a:r>
              <a:rPr lang="en-US" altLang="zh-CN" sz="1200" b="1" dirty="0">
                <a:latin typeface="微软雅黑" pitchFamily="34" charset="-122"/>
                <a:ea typeface="微软雅黑" pitchFamily="34" charset="-122"/>
              </a:rPr>
              <a:t>M5 </a:t>
            </a:r>
            <a:r>
              <a:rPr lang="zh-CN" altLang="en-US" sz="1200" b="1" dirty="0">
                <a:latin typeface="微软雅黑" pitchFamily="34" charset="-122"/>
                <a:ea typeface="微软雅黑" pitchFamily="34" charset="-122"/>
              </a:rPr>
              <a:t>及之前的 </a:t>
            </a:r>
            <a:endParaRPr lang="en-US" altLang="zh-CN" sz="1200" b="1" dirty="0">
              <a:latin typeface="微软雅黑" pitchFamily="34" charset="-122"/>
              <a:ea typeface="微软雅黑" pitchFamily="34" charset="-122"/>
            </a:endParaRPr>
          </a:p>
          <a:p>
            <a:pPr eaLnBrk="1" hangingPunct="1"/>
            <a:r>
              <a:rPr lang="zh-CN" altLang="en-US" sz="1200" b="1" dirty="0">
                <a:latin typeface="微软雅黑" pitchFamily="34" charset="-122"/>
                <a:ea typeface="微软雅黑" pitchFamily="34" charset="-122"/>
              </a:rPr>
              <a:t>分组都已正确接收。</a:t>
            </a:r>
            <a:endParaRPr lang="en-US" altLang="zh-CN" sz="1200" b="1" dirty="0">
              <a:latin typeface="微软雅黑" pitchFamily="34" charset="-122"/>
              <a:ea typeface="微软雅黑" pitchFamily="34" charset="-122"/>
            </a:endParaRPr>
          </a:p>
        </p:txBody>
      </p:sp>
    </p:spTree>
    <p:extLst>
      <p:ext uri="{BB962C8B-B14F-4D97-AF65-F5344CB8AC3E}">
        <p14:creationId xmlns:p14="http://schemas.microsoft.com/office/powerpoint/2010/main" val="675662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12">
                                            <p:txEl>
                                              <p:pRg st="0" end="0"/>
                                            </p:txEl>
                                          </p:spTgt>
                                        </p:tgtEl>
                                        <p:attrNameLst>
                                          <p:attrName>style.visibility</p:attrName>
                                        </p:attrNameLst>
                                      </p:cBhvr>
                                      <p:to>
                                        <p:strVal val="visible"/>
                                      </p:to>
                                    </p:set>
                                    <p:animEffect transition="in" filter="fade">
                                      <p:cBhvr>
                                        <p:cTn id="7" dur="1000"/>
                                        <p:tgtEl>
                                          <p:spTgt spid="112">
                                            <p:txEl>
                                              <p:pRg st="0" end="0"/>
                                            </p:txEl>
                                          </p:spTgt>
                                        </p:tgtEl>
                                      </p:cBhvr>
                                    </p:animEffect>
                                    <p:anim calcmode="lin" valueType="num">
                                      <p:cBhvr>
                                        <p:cTn id="8" dur="1000" fill="hold"/>
                                        <p:tgtEl>
                                          <p:spTgt spid="11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1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5" presetClass="emph" presetSubtype="0" repeatCount="3000" fill="hold" grpId="0" nodeType="clickEffect">
                                  <p:stCondLst>
                                    <p:cond delay="0"/>
                                  </p:stCondLst>
                                  <p:childTnLst>
                                    <p:anim calcmode="discrete" valueType="str">
                                      <p:cBhvr>
                                        <p:cTn id="13" dur="1000" fill="hold"/>
                                        <p:tgtEl>
                                          <p:spTgt spid="107"/>
                                        </p:tgtEl>
                                        <p:attrNameLst>
                                          <p:attrName>style.visibility</p:attrName>
                                        </p:attrNameLst>
                                      </p:cBhvr>
                                      <p:tavLst>
                                        <p:tav tm="0">
                                          <p:val>
                                            <p:strVal val="hidden"/>
                                          </p:val>
                                        </p:tav>
                                        <p:tav tm="50000">
                                          <p:val>
                                            <p:strVal val="visible"/>
                                          </p:val>
                                        </p:tav>
                                      </p:tavLst>
                                    </p:anim>
                                  </p:childTnLst>
                                </p:cTn>
                              </p:par>
                            </p:childTnLst>
                          </p:cTn>
                        </p:par>
                      </p:childTnLst>
                    </p:cTn>
                  </p:par>
                  <p:par>
                    <p:cTn id="14" fill="hold">
                      <p:stCondLst>
                        <p:cond delay="indefinite"/>
                      </p:stCondLst>
                      <p:childTnLst>
                        <p:par>
                          <p:cTn id="15" fill="hold">
                            <p:stCondLst>
                              <p:cond delay="0"/>
                            </p:stCondLst>
                            <p:childTnLst>
                              <p:par>
                                <p:cTn id="16" presetID="35" presetClass="emph" presetSubtype="0" repeatCount="3000" fill="hold" grpId="0" nodeType="clickEffect">
                                  <p:stCondLst>
                                    <p:cond delay="0"/>
                                  </p:stCondLst>
                                  <p:childTnLst>
                                    <p:anim calcmode="discrete" valueType="str">
                                      <p:cBhvr>
                                        <p:cTn id="17"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112">
                                            <p:txEl>
                                              <p:pRg st="1" end="1"/>
                                            </p:txEl>
                                          </p:spTgt>
                                        </p:tgtEl>
                                        <p:attrNameLst>
                                          <p:attrName>style.visibility</p:attrName>
                                        </p:attrNameLst>
                                      </p:cBhvr>
                                      <p:to>
                                        <p:strVal val="visible"/>
                                      </p:to>
                                    </p:set>
                                    <p:animEffect transition="in" filter="fade">
                                      <p:cBhvr>
                                        <p:cTn id="22" dur="1000"/>
                                        <p:tgtEl>
                                          <p:spTgt spid="112">
                                            <p:txEl>
                                              <p:pRg st="1" end="1"/>
                                            </p:txEl>
                                          </p:spTgt>
                                        </p:tgtEl>
                                      </p:cBhvr>
                                    </p:animEffect>
                                    <p:anim calcmode="lin" valueType="num">
                                      <p:cBhvr>
                                        <p:cTn id="23" dur="1000" fill="hold"/>
                                        <p:tgtEl>
                                          <p:spTgt spid="112">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11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12">
                                            <p:txEl>
                                              <p:pRg st="2" end="2"/>
                                            </p:txEl>
                                          </p:spTgt>
                                        </p:tgtEl>
                                        <p:attrNameLst>
                                          <p:attrName>style.visibility</p:attrName>
                                        </p:attrNameLst>
                                      </p:cBhvr>
                                      <p:to>
                                        <p:strVal val="visible"/>
                                      </p:to>
                                    </p:set>
                                    <p:animEffect transition="in" filter="fade">
                                      <p:cBhvr>
                                        <p:cTn id="29" dur="1000"/>
                                        <p:tgtEl>
                                          <p:spTgt spid="112">
                                            <p:txEl>
                                              <p:pRg st="2" end="2"/>
                                            </p:txEl>
                                          </p:spTgt>
                                        </p:tgtEl>
                                      </p:cBhvr>
                                    </p:animEffect>
                                    <p:anim calcmode="lin" valueType="num">
                                      <p:cBhvr>
                                        <p:cTn id="30" dur="1000" fill="hold"/>
                                        <p:tgtEl>
                                          <p:spTgt spid="112">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1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112">
                                            <p:txEl>
                                              <p:pRg st="3" end="3"/>
                                            </p:txEl>
                                          </p:spTgt>
                                        </p:tgtEl>
                                        <p:attrNameLst>
                                          <p:attrName>style.visibility</p:attrName>
                                        </p:attrNameLst>
                                      </p:cBhvr>
                                      <p:to>
                                        <p:strVal val="visible"/>
                                      </p:to>
                                    </p:set>
                                    <p:animEffect transition="in" filter="fade">
                                      <p:cBhvr>
                                        <p:cTn id="36" dur="1000"/>
                                        <p:tgtEl>
                                          <p:spTgt spid="112">
                                            <p:txEl>
                                              <p:pRg st="3" end="3"/>
                                            </p:txEl>
                                          </p:spTgt>
                                        </p:tgtEl>
                                      </p:cBhvr>
                                    </p:animEffect>
                                    <p:anim calcmode="lin" valueType="num">
                                      <p:cBhvr>
                                        <p:cTn id="37" dur="1000" fill="hold"/>
                                        <p:tgtEl>
                                          <p:spTgt spid="112">
                                            <p:txEl>
                                              <p:pRg st="3" end="3"/>
                                            </p:txEl>
                                          </p:spTgt>
                                        </p:tgtEl>
                                        <p:attrNameLst>
                                          <p:attrName>ppt_x</p:attrName>
                                        </p:attrNameLst>
                                      </p:cBhvr>
                                      <p:tavLst>
                                        <p:tav tm="0">
                                          <p:val>
                                            <p:strVal val="#ppt_x"/>
                                          </p:val>
                                        </p:tav>
                                        <p:tav tm="100000">
                                          <p:val>
                                            <p:strVal val="#ppt_x"/>
                                          </p:val>
                                        </p:tav>
                                      </p:tavLst>
                                    </p:anim>
                                    <p:anim calcmode="lin" valueType="num">
                                      <p:cBhvr>
                                        <p:cTn id="38" dur="1000" fill="hold"/>
                                        <p:tgtEl>
                                          <p:spTgt spid="11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p:bldP spid="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B729B-7CE6-5FA1-6B4A-F48E7381D770}"/>
            </a:ext>
          </a:extLst>
        </p:cNvPr>
        <p:cNvGrpSpPr/>
        <p:nvPr/>
      </p:nvGrpSpPr>
      <p:grpSpPr>
        <a:xfrm>
          <a:off x="0" y="0"/>
          <a:ext cx="0" cy="0"/>
          <a:chOff x="0" y="0"/>
          <a:chExt cx="0" cy="0"/>
        </a:xfrm>
      </p:grpSpPr>
      <p:sp>
        <p:nvSpPr>
          <p:cNvPr id="115" name="圆角矩形 3">
            <a:extLst>
              <a:ext uri="{FF2B5EF4-FFF2-40B4-BE49-F238E27FC236}">
                <a16:creationId xmlns:a16="http://schemas.microsoft.com/office/drawing/2014/main" id="{C9B4009F-4429-343B-4C87-3DAF4AE244B4}"/>
              </a:ext>
            </a:extLst>
          </p:cNvPr>
          <p:cNvSpPr/>
          <p:nvPr/>
        </p:nvSpPr>
        <p:spPr>
          <a:xfrm>
            <a:off x="4092715" y="1034498"/>
            <a:ext cx="4736654" cy="374889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64" name="AutoShape 5">
            <a:extLst>
              <a:ext uri="{FF2B5EF4-FFF2-40B4-BE49-F238E27FC236}">
                <a16:creationId xmlns:a16="http://schemas.microsoft.com/office/drawing/2014/main" id="{ACF0BFD8-E2BA-6D29-E877-1AA4470CCCA8}"/>
              </a:ext>
            </a:extLst>
          </p:cNvPr>
          <p:cNvSpPr>
            <a:spLocks noChangeArrowheads="1"/>
          </p:cNvSpPr>
          <p:nvPr/>
        </p:nvSpPr>
        <p:spPr bwMode="auto">
          <a:xfrm>
            <a:off x="556963" y="62060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5" name="Rectangle 6">
            <a:extLst>
              <a:ext uri="{FF2B5EF4-FFF2-40B4-BE49-F238E27FC236}">
                <a16:creationId xmlns:a16="http://schemas.microsoft.com/office/drawing/2014/main" id="{5325C511-B9A7-18C0-B403-CD74CFE9BC12}"/>
              </a:ext>
            </a:extLst>
          </p:cNvPr>
          <p:cNvSpPr>
            <a:spLocks noChangeArrowheads="1"/>
          </p:cNvSpPr>
          <p:nvPr/>
        </p:nvSpPr>
        <p:spPr bwMode="auto">
          <a:xfrm>
            <a:off x="2821895" y="587392"/>
            <a:ext cx="35189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对未按序到达分组的处理方式</a:t>
            </a:r>
          </a:p>
        </p:txBody>
      </p:sp>
      <p:sp>
        <p:nvSpPr>
          <p:cNvPr id="5" name="Text Box 4">
            <a:extLst>
              <a:ext uri="{FF2B5EF4-FFF2-40B4-BE49-F238E27FC236}">
                <a16:creationId xmlns:a16="http://schemas.microsoft.com/office/drawing/2014/main" id="{16C7C95B-E1C6-CB72-B996-E843CD888EA9}"/>
              </a:ext>
            </a:extLst>
          </p:cNvPr>
          <p:cNvSpPr txBox="1">
            <a:spLocks noChangeArrowheads="1"/>
          </p:cNvSpPr>
          <p:nvPr/>
        </p:nvSpPr>
        <p:spPr bwMode="auto">
          <a:xfrm>
            <a:off x="5478642" y="1203072"/>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0"/>
              </a:spcBef>
              <a:spcAft>
                <a:spcPts val="0"/>
              </a:spcAft>
              <a:buClrTx/>
              <a:buSzTx/>
              <a:buFontTx/>
              <a:buNone/>
            </a:pPr>
            <a:r>
              <a:rPr lang="zh-CN" altLang="en-US" sz="1200" b="1">
                <a:solidFill>
                  <a:prstClr val="black"/>
                </a:solidFill>
                <a:latin typeface="微软雅黑"/>
                <a:ea typeface="微软雅黑"/>
              </a:rPr>
              <a:t>发送方</a:t>
            </a:r>
            <a:endParaRPr lang="zh-CN" altLang="en-US" sz="1050" b="1">
              <a:solidFill>
                <a:prstClr val="black"/>
              </a:solidFill>
              <a:latin typeface="微软雅黑"/>
              <a:ea typeface="微软雅黑"/>
            </a:endParaRPr>
          </a:p>
        </p:txBody>
      </p:sp>
      <p:sp>
        <p:nvSpPr>
          <p:cNvPr id="11" name="Text Box 6">
            <a:extLst>
              <a:ext uri="{FF2B5EF4-FFF2-40B4-BE49-F238E27FC236}">
                <a16:creationId xmlns:a16="http://schemas.microsoft.com/office/drawing/2014/main" id="{856AD914-40FF-050A-CED5-50E1DBE242B2}"/>
              </a:ext>
            </a:extLst>
          </p:cNvPr>
          <p:cNvSpPr txBox="1">
            <a:spLocks noChangeArrowheads="1"/>
          </p:cNvSpPr>
          <p:nvPr/>
        </p:nvSpPr>
        <p:spPr bwMode="auto">
          <a:xfrm>
            <a:off x="6789187" y="1212087"/>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0"/>
              </a:spcBef>
              <a:spcAft>
                <a:spcPts val="0"/>
              </a:spcAft>
              <a:buClrTx/>
              <a:buSzTx/>
              <a:buFontTx/>
              <a:buNone/>
            </a:pPr>
            <a:r>
              <a:rPr lang="zh-CN" altLang="en-US" sz="1200" b="1" dirty="0">
                <a:solidFill>
                  <a:prstClr val="black"/>
                </a:solidFill>
                <a:latin typeface="微软雅黑"/>
                <a:ea typeface="微软雅黑"/>
              </a:rPr>
              <a:t>接收方</a:t>
            </a:r>
            <a:endParaRPr lang="zh-CN" altLang="en-US" sz="1050" b="1" dirty="0">
              <a:solidFill>
                <a:prstClr val="black"/>
              </a:solidFill>
              <a:latin typeface="微软雅黑"/>
              <a:ea typeface="微软雅黑"/>
            </a:endParaRPr>
          </a:p>
        </p:txBody>
      </p:sp>
      <p:sp>
        <p:nvSpPr>
          <p:cNvPr id="26" name="Line 7">
            <a:extLst>
              <a:ext uri="{FF2B5EF4-FFF2-40B4-BE49-F238E27FC236}">
                <a16:creationId xmlns:a16="http://schemas.microsoft.com/office/drawing/2014/main" id="{C04E987D-1A2D-2F48-E6CC-6221AFE2E1C1}"/>
              </a:ext>
            </a:extLst>
          </p:cNvPr>
          <p:cNvSpPr>
            <a:spLocks noChangeShapeType="1"/>
          </p:cNvSpPr>
          <p:nvPr/>
        </p:nvSpPr>
        <p:spPr bwMode="auto">
          <a:xfrm>
            <a:off x="5797571" y="1517937"/>
            <a:ext cx="0" cy="3124835"/>
          </a:xfrm>
          <a:prstGeom prst="line">
            <a:avLst/>
          </a:prstGeom>
          <a:noFill/>
          <a:ln w="19050">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prstClr val="black"/>
              </a:solidFill>
              <a:effectLst/>
              <a:uLnTx/>
              <a:uFillTx/>
              <a:latin typeface="微软雅黑"/>
              <a:ea typeface="微软雅黑"/>
            </a:endParaRPr>
          </a:p>
        </p:txBody>
      </p:sp>
      <p:sp>
        <p:nvSpPr>
          <p:cNvPr id="27" name="Line 8">
            <a:extLst>
              <a:ext uri="{FF2B5EF4-FFF2-40B4-BE49-F238E27FC236}">
                <a16:creationId xmlns:a16="http://schemas.microsoft.com/office/drawing/2014/main" id="{702A4296-7844-CCEC-A5E4-592A785C2AE9}"/>
              </a:ext>
            </a:extLst>
          </p:cNvPr>
          <p:cNvSpPr>
            <a:spLocks noChangeShapeType="1"/>
          </p:cNvSpPr>
          <p:nvPr/>
        </p:nvSpPr>
        <p:spPr bwMode="auto">
          <a:xfrm>
            <a:off x="7113291" y="1549052"/>
            <a:ext cx="0" cy="3124835"/>
          </a:xfrm>
          <a:prstGeom prst="line">
            <a:avLst/>
          </a:prstGeom>
          <a:noFill/>
          <a:ln w="19050">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prstClr val="black"/>
              </a:solidFill>
              <a:effectLst/>
              <a:uLnTx/>
              <a:uFillTx/>
              <a:latin typeface="微软雅黑"/>
              <a:ea typeface="微软雅黑"/>
            </a:endParaRPr>
          </a:p>
        </p:txBody>
      </p:sp>
      <p:sp>
        <p:nvSpPr>
          <p:cNvPr id="28" name="Line 12">
            <a:extLst>
              <a:ext uri="{FF2B5EF4-FFF2-40B4-BE49-F238E27FC236}">
                <a16:creationId xmlns:a16="http://schemas.microsoft.com/office/drawing/2014/main" id="{EA0CD9EC-F187-9E99-8851-FE86FFB049AF}"/>
              </a:ext>
            </a:extLst>
          </p:cNvPr>
          <p:cNvSpPr>
            <a:spLocks noChangeShapeType="1"/>
          </p:cNvSpPr>
          <p:nvPr/>
        </p:nvSpPr>
        <p:spPr bwMode="auto">
          <a:xfrm>
            <a:off x="5838687" y="1740187"/>
            <a:ext cx="1226820" cy="533400"/>
          </a:xfrm>
          <a:prstGeom prst="line">
            <a:avLst/>
          </a:prstGeom>
          <a:noFill/>
          <a:ln w="28575">
            <a:solidFill>
              <a:srgbClr val="1F497D"/>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prstClr val="black"/>
              </a:solidFill>
              <a:effectLst/>
              <a:uLnTx/>
              <a:uFillTx/>
              <a:latin typeface="微软雅黑"/>
              <a:ea typeface="微软雅黑"/>
            </a:endParaRPr>
          </a:p>
        </p:txBody>
      </p:sp>
      <p:sp>
        <p:nvSpPr>
          <p:cNvPr id="29" name="Text Box 14">
            <a:extLst>
              <a:ext uri="{FF2B5EF4-FFF2-40B4-BE49-F238E27FC236}">
                <a16:creationId xmlns:a16="http://schemas.microsoft.com/office/drawing/2014/main" id="{F07A6847-10FB-2F0B-AB47-CEFA648BF013}"/>
              </a:ext>
            </a:extLst>
          </p:cNvPr>
          <p:cNvSpPr txBox="1">
            <a:spLocks noChangeArrowheads="1"/>
          </p:cNvSpPr>
          <p:nvPr/>
        </p:nvSpPr>
        <p:spPr bwMode="auto">
          <a:xfrm>
            <a:off x="4890607" y="1623131"/>
            <a:ext cx="122682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50000"/>
              </a:spcBef>
              <a:spcAft>
                <a:spcPts val="0"/>
              </a:spcAft>
              <a:buClrTx/>
              <a:buSzTx/>
              <a:buFontTx/>
              <a:buNone/>
            </a:pPr>
            <a:r>
              <a:rPr lang="zh-CN" altLang="en-US" sz="1100" b="1" dirty="0">
                <a:solidFill>
                  <a:prstClr val="black"/>
                </a:solidFill>
                <a:latin typeface="微软雅黑"/>
                <a:ea typeface="微软雅黑"/>
              </a:rPr>
              <a:t>发送</a:t>
            </a:r>
            <a:r>
              <a:rPr lang="en-US" altLang="zh-CN" sz="1100" b="1" dirty="0">
                <a:solidFill>
                  <a:prstClr val="black"/>
                </a:solidFill>
                <a:latin typeface="微软雅黑"/>
                <a:ea typeface="微软雅黑"/>
              </a:rPr>
              <a:t>M0</a:t>
            </a:r>
          </a:p>
        </p:txBody>
      </p:sp>
      <p:sp>
        <p:nvSpPr>
          <p:cNvPr id="30" name="Line 15">
            <a:extLst>
              <a:ext uri="{FF2B5EF4-FFF2-40B4-BE49-F238E27FC236}">
                <a16:creationId xmlns:a16="http://schemas.microsoft.com/office/drawing/2014/main" id="{C2402BA8-2764-F698-95F1-B5B376A6D6F9}"/>
              </a:ext>
            </a:extLst>
          </p:cNvPr>
          <p:cNvSpPr>
            <a:spLocks noChangeShapeType="1"/>
          </p:cNvSpPr>
          <p:nvPr/>
        </p:nvSpPr>
        <p:spPr bwMode="auto">
          <a:xfrm>
            <a:off x="5838687" y="1900207"/>
            <a:ext cx="1226820" cy="533400"/>
          </a:xfrm>
          <a:prstGeom prst="line">
            <a:avLst/>
          </a:prstGeom>
          <a:noFill/>
          <a:ln w="28575">
            <a:solidFill>
              <a:srgbClr val="1F497D"/>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prstClr val="black"/>
              </a:solidFill>
              <a:effectLst/>
              <a:uLnTx/>
              <a:uFillTx/>
              <a:latin typeface="微软雅黑"/>
              <a:ea typeface="微软雅黑"/>
            </a:endParaRPr>
          </a:p>
        </p:txBody>
      </p:sp>
      <p:sp>
        <p:nvSpPr>
          <p:cNvPr id="31" name="Line 16">
            <a:extLst>
              <a:ext uri="{FF2B5EF4-FFF2-40B4-BE49-F238E27FC236}">
                <a16:creationId xmlns:a16="http://schemas.microsoft.com/office/drawing/2014/main" id="{5AE6B7DC-E249-CB60-081C-92C44135EB30}"/>
              </a:ext>
            </a:extLst>
          </p:cNvPr>
          <p:cNvSpPr>
            <a:spLocks noChangeShapeType="1"/>
          </p:cNvSpPr>
          <p:nvPr/>
        </p:nvSpPr>
        <p:spPr bwMode="auto">
          <a:xfrm>
            <a:off x="5838687" y="2060227"/>
            <a:ext cx="1226820" cy="533400"/>
          </a:xfrm>
          <a:prstGeom prst="line">
            <a:avLst/>
          </a:prstGeom>
          <a:noFill/>
          <a:ln w="28575">
            <a:solidFill>
              <a:srgbClr val="1F497D"/>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prstClr val="black"/>
              </a:solidFill>
              <a:effectLst/>
              <a:uLnTx/>
              <a:uFillTx/>
              <a:latin typeface="微软雅黑"/>
              <a:ea typeface="微软雅黑"/>
            </a:endParaRPr>
          </a:p>
        </p:txBody>
      </p:sp>
      <p:sp>
        <p:nvSpPr>
          <p:cNvPr id="38" name="Line 17">
            <a:extLst>
              <a:ext uri="{FF2B5EF4-FFF2-40B4-BE49-F238E27FC236}">
                <a16:creationId xmlns:a16="http://schemas.microsoft.com/office/drawing/2014/main" id="{EFF3C50C-5AAC-EDD3-3708-5B1A446544DF}"/>
              </a:ext>
            </a:extLst>
          </p:cNvPr>
          <p:cNvSpPr>
            <a:spLocks noChangeShapeType="1"/>
          </p:cNvSpPr>
          <p:nvPr/>
        </p:nvSpPr>
        <p:spPr bwMode="auto">
          <a:xfrm>
            <a:off x="5838687" y="2220247"/>
            <a:ext cx="1226820" cy="533400"/>
          </a:xfrm>
          <a:prstGeom prst="line">
            <a:avLst/>
          </a:prstGeom>
          <a:noFill/>
          <a:ln w="28575">
            <a:solidFill>
              <a:srgbClr val="1F497D"/>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prstClr val="black"/>
              </a:solidFill>
              <a:effectLst/>
              <a:uLnTx/>
              <a:uFillTx/>
              <a:latin typeface="微软雅黑"/>
              <a:ea typeface="微软雅黑"/>
            </a:endParaRPr>
          </a:p>
        </p:txBody>
      </p:sp>
      <p:sp>
        <p:nvSpPr>
          <p:cNvPr id="39" name="Line 18">
            <a:extLst>
              <a:ext uri="{FF2B5EF4-FFF2-40B4-BE49-F238E27FC236}">
                <a16:creationId xmlns:a16="http://schemas.microsoft.com/office/drawing/2014/main" id="{815E57F1-002F-D5F4-D780-338BC516C0BB}"/>
              </a:ext>
            </a:extLst>
          </p:cNvPr>
          <p:cNvSpPr>
            <a:spLocks noChangeShapeType="1"/>
          </p:cNvSpPr>
          <p:nvPr/>
        </p:nvSpPr>
        <p:spPr bwMode="auto">
          <a:xfrm flipV="1">
            <a:off x="5838687" y="2486947"/>
            <a:ext cx="1226820" cy="586740"/>
          </a:xfrm>
          <a:prstGeom prst="line">
            <a:avLst/>
          </a:prstGeom>
          <a:noFill/>
          <a:ln w="28575">
            <a:solidFill>
              <a:srgbClr val="0099FF"/>
            </a:solidFill>
            <a:round/>
            <a:headEnd type="triangle" w="med" len="med"/>
            <a:tailEnd/>
          </a:ln>
          <a:extLst>
            <a:ext uri="{909E8E84-426E-40DD-AFC4-6F175D3DCCD1}">
              <a14:hiddenFill xmlns:a14="http://schemas.microsoft.com/office/drawing/2010/main">
                <a:noFill/>
              </a14:hiddenFill>
            </a:ext>
          </a:extLst>
        </p:spPr>
        <p:txBody>
          <a:bodyPr wrap="none" anchor="ctr"/>
          <a:lstStyle/>
          <a:p>
            <a:pPr defTabSz="1219627" fontAlgn="auto">
              <a:spcBef>
                <a:spcPts val="0"/>
              </a:spcBef>
              <a:spcAft>
                <a:spcPts val="0"/>
              </a:spcAft>
            </a:pPr>
            <a:endParaRPr lang="zh-CN" altLang="en-US" sz="1400" b="1">
              <a:solidFill>
                <a:prstClr val="black"/>
              </a:solidFill>
              <a:latin typeface="微软雅黑"/>
              <a:ea typeface="微软雅黑"/>
            </a:endParaRPr>
          </a:p>
        </p:txBody>
      </p:sp>
      <p:sp>
        <p:nvSpPr>
          <p:cNvPr id="41" name="Line 19">
            <a:extLst>
              <a:ext uri="{FF2B5EF4-FFF2-40B4-BE49-F238E27FC236}">
                <a16:creationId xmlns:a16="http://schemas.microsoft.com/office/drawing/2014/main" id="{3FFCCA9F-C1E2-7A48-F653-248861DEE32D}"/>
              </a:ext>
            </a:extLst>
          </p:cNvPr>
          <p:cNvSpPr>
            <a:spLocks noChangeShapeType="1"/>
          </p:cNvSpPr>
          <p:nvPr/>
        </p:nvSpPr>
        <p:spPr bwMode="auto">
          <a:xfrm flipV="1">
            <a:off x="5838687" y="2806987"/>
            <a:ext cx="1226820" cy="586740"/>
          </a:xfrm>
          <a:prstGeom prst="line">
            <a:avLst/>
          </a:prstGeom>
          <a:noFill/>
          <a:ln w="28575">
            <a:solidFill>
              <a:srgbClr val="0099FF"/>
            </a:solidFill>
            <a:round/>
            <a:headEnd type="triangle" w="med" len="med"/>
            <a:tailEnd/>
          </a:ln>
          <a:extLst>
            <a:ext uri="{909E8E84-426E-40DD-AFC4-6F175D3DCCD1}">
              <a14:hiddenFill xmlns:a14="http://schemas.microsoft.com/office/drawing/2010/main">
                <a:noFill/>
              </a14:hiddenFill>
            </a:ext>
          </a:extLst>
        </p:spPr>
        <p:txBody>
          <a:bodyPr wrap="none" anchor="ctr"/>
          <a:lstStyle/>
          <a:p>
            <a:pPr defTabSz="1219627" fontAlgn="auto">
              <a:spcBef>
                <a:spcPts val="0"/>
              </a:spcBef>
              <a:spcAft>
                <a:spcPts val="0"/>
              </a:spcAft>
            </a:pPr>
            <a:endParaRPr lang="zh-CN" altLang="en-US" sz="1400" b="1">
              <a:solidFill>
                <a:prstClr val="black"/>
              </a:solidFill>
              <a:latin typeface="微软雅黑"/>
              <a:ea typeface="微软雅黑"/>
            </a:endParaRPr>
          </a:p>
        </p:txBody>
      </p:sp>
      <p:sp>
        <p:nvSpPr>
          <p:cNvPr id="42" name="Text Box 20">
            <a:extLst>
              <a:ext uri="{FF2B5EF4-FFF2-40B4-BE49-F238E27FC236}">
                <a16:creationId xmlns:a16="http://schemas.microsoft.com/office/drawing/2014/main" id="{9B992DBF-91FC-A3FD-B53B-762DB098F74E}"/>
              </a:ext>
            </a:extLst>
          </p:cNvPr>
          <p:cNvSpPr txBox="1">
            <a:spLocks noChangeArrowheads="1"/>
          </p:cNvSpPr>
          <p:nvPr/>
        </p:nvSpPr>
        <p:spPr bwMode="auto">
          <a:xfrm>
            <a:off x="4890607" y="1783151"/>
            <a:ext cx="122682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50000"/>
              </a:spcBef>
              <a:spcAft>
                <a:spcPts val="0"/>
              </a:spcAft>
              <a:buClrTx/>
              <a:buSzTx/>
              <a:buFontTx/>
              <a:buNone/>
            </a:pPr>
            <a:r>
              <a:rPr lang="zh-CN" altLang="en-US" sz="1100" b="1" dirty="0">
                <a:solidFill>
                  <a:prstClr val="black"/>
                </a:solidFill>
                <a:latin typeface="微软雅黑"/>
                <a:ea typeface="微软雅黑"/>
              </a:rPr>
              <a:t>发送</a:t>
            </a:r>
            <a:r>
              <a:rPr lang="en-US" altLang="zh-CN" sz="1100" b="1" dirty="0">
                <a:solidFill>
                  <a:prstClr val="black"/>
                </a:solidFill>
                <a:latin typeface="微软雅黑"/>
                <a:ea typeface="微软雅黑"/>
              </a:rPr>
              <a:t>M1</a:t>
            </a:r>
          </a:p>
        </p:txBody>
      </p:sp>
      <p:sp>
        <p:nvSpPr>
          <p:cNvPr id="43" name="Text Box 21">
            <a:extLst>
              <a:ext uri="{FF2B5EF4-FFF2-40B4-BE49-F238E27FC236}">
                <a16:creationId xmlns:a16="http://schemas.microsoft.com/office/drawing/2014/main" id="{FC489AB2-2FF5-D0DF-2E8B-24FB5B3AB7CF}"/>
              </a:ext>
            </a:extLst>
          </p:cNvPr>
          <p:cNvSpPr txBox="1">
            <a:spLocks noChangeArrowheads="1"/>
          </p:cNvSpPr>
          <p:nvPr/>
        </p:nvSpPr>
        <p:spPr bwMode="auto">
          <a:xfrm>
            <a:off x="4890607" y="1943171"/>
            <a:ext cx="122682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50000"/>
              </a:spcBef>
              <a:spcAft>
                <a:spcPts val="0"/>
              </a:spcAft>
              <a:buClrTx/>
              <a:buSzTx/>
              <a:buFontTx/>
              <a:buNone/>
            </a:pPr>
            <a:r>
              <a:rPr lang="zh-CN" altLang="en-US" sz="1100" b="1" dirty="0">
                <a:solidFill>
                  <a:prstClr val="black"/>
                </a:solidFill>
                <a:latin typeface="微软雅黑"/>
                <a:ea typeface="微软雅黑"/>
              </a:rPr>
              <a:t>发送</a:t>
            </a:r>
            <a:r>
              <a:rPr lang="en-US" altLang="zh-CN" sz="1100" b="1" dirty="0">
                <a:solidFill>
                  <a:prstClr val="black"/>
                </a:solidFill>
                <a:latin typeface="微软雅黑"/>
                <a:ea typeface="微软雅黑"/>
              </a:rPr>
              <a:t>M2</a:t>
            </a:r>
          </a:p>
        </p:txBody>
      </p:sp>
      <p:sp>
        <p:nvSpPr>
          <p:cNvPr id="44" name="Text Box 22">
            <a:extLst>
              <a:ext uri="{FF2B5EF4-FFF2-40B4-BE49-F238E27FC236}">
                <a16:creationId xmlns:a16="http://schemas.microsoft.com/office/drawing/2014/main" id="{C8B36603-6966-8F7D-76F9-5B0C3B2E32C6}"/>
              </a:ext>
            </a:extLst>
          </p:cNvPr>
          <p:cNvSpPr txBox="1">
            <a:spLocks noChangeArrowheads="1"/>
          </p:cNvSpPr>
          <p:nvPr/>
        </p:nvSpPr>
        <p:spPr bwMode="auto">
          <a:xfrm>
            <a:off x="4890607" y="2103191"/>
            <a:ext cx="122682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50000"/>
              </a:spcBef>
              <a:spcAft>
                <a:spcPts val="0"/>
              </a:spcAft>
              <a:buClrTx/>
              <a:buSzTx/>
              <a:buFontTx/>
              <a:buNone/>
            </a:pPr>
            <a:r>
              <a:rPr lang="zh-CN" altLang="en-US" sz="1100" b="1" dirty="0">
                <a:solidFill>
                  <a:prstClr val="black"/>
                </a:solidFill>
                <a:latin typeface="微软雅黑"/>
                <a:ea typeface="微软雅黑"/>
              </a:rPr>
              <a:t>发送</a:t>
            </a:r>
            <a:r>
              <a:rPr lang="en-US" altLang="zh-CN" sz="1100" b="1" dirty="0">
                <a:solidFill>
                  <a:prstClr val="black"/>
                </a:solidFill>
                <a:latin typeface="微软雅黑"/>
                <a:ea typeface="微软雅黑"/>
              </a:rPr>
              <a:t>M3</a:t>
            </a:r>
          </a:p>
        </p:txBody>
      </p:sp>
      <p:sp>
        <p:nvSpPr>
          <p:cNvPr id="45" name="Text Box 23">
            <a:extLst>
              <a:ext uri="{FF2B5EF4-FFF2-40B4-BE49-F238E27FC236}">
                <a16:creationId xmlns:a16="http://schemas.microsoft.com/office/drawing/2014/main" id="{13EC7BA8-46FB-4F69-D345-3FBF0A2DD4F7}"/>
              </a:ext>
            </a:extLst>
          </p:cNvPr>
          <p:cNvSpPr txBox="1">
            <a:spLocks noChangeArrowheads="1"/>
          </p:cNvSpPr>
          <p:nvPr/>
        </p:nvSpPr>
        <p:spPr bwMode="auto">
          <a:xfrm>
            <a:off x="7159201" y="2166907"/>
            <a:ext cx="999015"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defTabSz="1219627" fontAlgn="auto">
              <a:spcBef>
                <a:spcPct val="50000"/>
              </a:spcBef>
              <a:spcAft>
                <a:spcPts val="0"/>
              </a:spcAft>
              <a:buClrTx/>
              <a:buSzTx/>
              <a:buFontTx/>
              <a:buNone/>
            </a:pPr>
            <a:r>
              <a:rPr lang="zh-CN" altLang="en-US" sz="1100" b="1" dirty="0">
                <a:solidFill>
                  <a:prstClr val="black"/>
                </a:solidFill>
                <a:latin typeface="微软雅黑"/>
                <a:ea typeface="微软雅黑"/>
              </a:rPr>
              <a:t>发送</a:t>
            </a:r>
            <a:r>
              <a:rPr lang="en-US" altLang="zh-CN" sz="1100" b="1" dirty="0">
                <a:solidFill>
                  <a:prstClr val="black"/>
                </a:solidFill>
                <a:latin typeface="微软雅黑"/>
                <a:ea typeface="微软雅黑"/>
              </a:rPr>
              <a:t>ACK0</a:t>
            </a:r>
          </a:p>
        </p:txBody>
      </p:sp>
      <p:sp>
        <p:nvSpPr>
          <p:cNvPr id="46" name="Text Box 24">
            <a:extLst>
              <a:ext uri="{FF2B5EF4-FFF2-40B4-BE49-F238E27FC236}">
                <a16:creationId xmlns:a16="http://schemas.microsoft.com/office/drawing/2014/main" id="{BFA77E05-9ADD-92C0-72B4-F8D9D16A481B}"/>
              </a:ext>
            </a:extLst>
          </p:cNvPr>
          <p:cNvSpPr txBox="1">
            <a:spLocks noChangeArrowheads="1"/>
          </p:cNvSpPr>
          <p:nvPr/>
        </p:nvSpPr>
        <p:spPr bwMode="auto">
          <a:xfrm>
            <a:off x="7159201" y="2345241"/>
            <a:ext cx="844289"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defTabSz="1219627" fontAlgn="auto">
              <a:spcBef>
                <a:spcPct val="50000"/>
              </a:spcBef>
              <a:spcAft>
                <a:spcPts val="0"/>
              </a:spcAft>
              <a:buClrTx/>
              <a:buSzTx/>
              <a:buFontTx/>
              <a:buNone/>
            </a:pPr>
            <a:r>
              <a:rPr lang="zh-CN" altLang="en-US" sz="1100" b="1" dirty="0">
                <a:solidFill>
                  <a:prstClr val="black"/>
                </a:solidFill>
                <a:latin typeface="微软雅黑"/>
                <a:ea typeface="微软雅黑"/>
              </a:rPr>
              <a:t>发送</a:t>
            </a:r>
            <a:r>
              <a:rPr lang="en-US" altLang="zh-CN" sz="1100" b="1" dirty="0">
                <a:solidFill>
                  <a:prstClr val="black"/>
                </a:solidFill>
                <a:latin typeface="微软雅黑"/>
                <a:ea typeface="微软雅黑"/>
              </a:rPr>
              <a:t>ACK1</a:t>
            </a:r>
          </a:p>
        </p:txBody>
      </p:sp>
      <p:sp>
        <p:nvSpPr>
          <p:cNvPr id="47" name="Text Box 26">
            <a:extLst>
              <a:ext uri="{FF2B5EF4-FFF2-40B4-BE49-F238E27FC236}">
                <a16:creationId xmlns:a16="http://schemas.microsoft.com/office/drawing/2014/main" id="{1B35CC8E-C794-7149-7DC7-664259C27CED}"/>
              </a:ext>
            </a:extLst>
          </p:cNvPr>
          <p:cNvSpPr txBox="1">
            <a:spLocks noChangeArrowheads="1"/>
          </p:cNvSpPr>
          <p:nvPr/>
        </p:nvSpPr>
        <p:spPr bwMode="auto">
          <a:xfrm>
            <a:off x="7154407" y="2646968"/>
            <a:ext cx="1714289"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defTabSz="1219627" fontAlgn="auto">
              <a:spcBef>
                <a:spcPct val="50000"/>
              </a:spcBef>
              <a:spcAft>
                <a:spcPts val="0"/>
              </a:spcAft>
              <a:buClrTx/>
              <a:buSzTx/>
              <a:buFontTx/>
              <a:buNone/>
            </a:pPr>
            <a:r>
              <a:rPr lang="zh-CN" altLang="en-US" sz="1100" b="1" dirty="0">
                <a:solidFill>
                  <a:prstClr val="black"/>
                </a:solidFill>
                <a:latin typeface="微软雅黑"/>
                <a:ea typeface="微软雅黑"/>
              </a:rPr>
              <a:t>丢弃失序分组，发送</a:t>
            </a:r>
            <a:r>
              <a:rPr lang="en-US" altLang="zh-CN" sz="1100" b="1" dirty="0">
                <a:solidFill>
                  <a:prstClr val="black"/>
                </a:solidFill>
                <a:latin typeface="微软雅黑"/>
                <a:ea typeface="微软雅黑"/>
              </a:rPr>
              <a:t>ACK1</a:t>
            </a:r>
          </a:p>
        </p:txBody>
      </p:sp>
      <p:sp>
        <p:nvSpPr>
          <p:cNvPr id="48" name="Line 27">
            <a:extLst>
              <a:ext uri="{FF2B5EF4-FFF2-40B4-BE49-F238E27FC236}">
                <a16:creationId xmlns:a16="http://schemas.microsoft.com/office/drawing/2014/main" id="{46091B66-78D0-C613-B487-EE3CADF0335C}"/>
              </a:ext>
            </a:extLst>
          </p:cNvPr>
          <p:cNvSpPr>
            <a:spLocks noChangeShapeType="1"/>
          </p:cNvSpPr>
          <p:nvPr/>
        </p:nvSpPr>
        <p:spPr bwMode="auto">
          <a:xfrm>
            <a:off x="5838687" y="2967007"/>
            <a:ext cx="1226820" cy="533400"/>
          </a:xfrm>
          <a:prstGeom prst="line">
            <a:avLst/>
          </a:prstGeom>
          <a:noFill/>
          <a:ln w="28575">
            <a:solidFill>
              <a:srgbClr val="1F497D"/>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prstClr val="black"/>
              </a:solidFill>
              <a:effectLst/>
              <a:uLnTx/>
              <a:uFillTx/>
              <a:latin typeface="微软雅黑"/>
              <a:ea typeface="微软雅黑"/>
            </a:endParaRPr>
          </a:p>
        </p:txBody>
      </p:sp>
      <p:sp>
        <p:nvSpPr>
          <p:cNvPr id="49" name="Text Box 28">
            <a:extLst>
              <a:ext uri="{FF2B5EF4-FFF2-40B4-BE49-F238E27FC236}">
                <a16:creationId xmlns:a16="http://schemas.microsoft.com/office/drawing/2014/main" id="{B8A17CCC-A932-B6E4-EEAF-6832328648F8}"/>
              </a:ext>
            </a:extLst>
          </p:cNvPr>
          <p:cNvSpPr txBox="1">
            <a:spLocks noChangeArrowheads="1"/>
          </p:cNvSpPr>
          <p:nvPr/>
        </p:nvSpPr>
        <p:spPr bwMode="auto">
          <a:xfrm>
            <a:off x="4890607" y="2849951"/>
            <a:ext cx="122682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50000"/>
              </a:spcBef>
              <a:spcAft>
                <a:spcPts val="0"/>
              </a:spcAft>
              <a:buClrTx/>
              <a:buSzTx/>
              <a:buFontTx/>
              <a:buNone/>
            </a:pPr>
            <a:r>
              <a:rPr lang="zh-CN" altLang="en-US" sz="1100" b="1" dirty="0">
                <a:solidFill>
                  <a:prstClr val="black"/>
                </a:solidFill>
                <a:latin typeface="微软雅黑"/>
                <a:ea typeface="微软雅黑"/>
              </a:rPr>
              <a:t>发送</a:t>
            </a:r>
            <a:r>
              <a:rPr lang="en-US" altLang="zh-CN" sz="1100" b="1" dirty="0">
                <a:solidFill>
                  <a:prstClr val="black"/>
                </a:solidFill>
                <a:latin typeface="微软雅黑"/>
                <a:ea typeface="微软雅黑"/>
              </a:rPr>
              <a:t>M4</a:t>
            </a:r>
          </a:p>
        </p:txBody>
      </p:sp>
      <p:sp>
        <p:nvSpPr>
          <p:cNvPr id="50" name="Line 29">
            <a:extLst>
              <a:ext uri="{FF2B5EF4-FFF2-40B4-BE49-F238E27FC236}">
                <a16:creationId xmlns:a16="http://schemas.microsoft.com/office/drawing/2014/main" id="{7CD46050-EE0E-3494-7AFB-0AD5BB497F2B}"/>
              </a:ext>
            </a:extLst>
          </p:cNvPr>
          <p:cNvSpPr>
            <a:spLocks noChangeShapeType="1"/>
          </p:cNvSpPr>
          <p:nvPr/>
        </p:nvSpPr>
        <p:spPr bwMode="auto">
          <a:xfrm>
            <a:off x="5838687" y="3127027"/>
            <a:ext cx="1226820" cy="533400"/>
          </a:xfrm>
          <a:prstGeom prst="line">
            <a:avLst/>
          </a:prstGeom>
          <a:noFill/>
          <a:ln w="28575">
            <a:solidFill>
              <a:srgbClr val="1F497D"/>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prstClr val="black"/>
              </a:solidFill>
              <a:effectLst/>
              <a:uLnTx/>
              <a:uFillTx/>
              <a:latin typeface="微软雅黑"/>
              <a:ea typeface="微软雅黑"/>
            </a:endParaRPr>
          </a:p>
        </p:txBody>
      </p:sp>
      <p:sp>
        <p:nvSpPr>
          <p:cNvPr id="51" name="Line 30">
            <a:extLst>
              <a:ext uri="{FF2B5EF4-FFF2-40B4-BE49-F238E27FC236}">
                <a16:creationId xmlns:a16="http://schemas.microsoft.com/office/drawing/2014/main" id="{34B1AF97-7D89-DD8A-C0C5-476649E38D58}"/>
              </a:ext>
            </a:extLst>
          </p:cNvPr>
          <p:cNvSpPr>
            <a:spLocks noChangeShapeType="1"/>
          </p:cNvSpPr>
          <p:nvPr/>
        </p:nvSpPr>
        <p:spPr bwMode="auto">
          <a:xfrm>
            <a:off x="5838687" y="3607087"/>
            <a:ext cx="1226820" cy="533400"/>
          </a:xfrm>
          <a:prstGeom prst="line">
            <a:avLst/>
          </a:prstGeom>
          <a:noFill/>
          <a:ln w="28575">
            <a:solidFill>
              <a:srgbClr val="1F497D"/>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prstClr val="black"/>
              </a:solidFill>
              <a:effectLst/>
              <a:uLnTx/>
              <a:uFillTx/>
              <a:latin typeface="微软雅黑"/>
              <a:ea typeface="微软雅黑"/>
            </a:endParaRPr>
          </a:p>
        </p:txBody>
      </p:sp>
      <p:sp>
        <p:nvSpPr>
          <p:cNvPr id="53" name="Line 31">
            <a:extLst>
              <a:ext uri="{FF2B5EF4-FFF2-40B4-BE49-F238E27FC236}">
                <a16:creationId xmlns:a16="http://schemas.microsoft.com/office/drawing/2014/main" id="{A38A85DB-9C24-4AB9-8F76-7008E0721303}"/>
              </a:ext>
            </a:extLst>
          </p:cNvPr>
          <p:cNvSpPr>
            <a:spLocks noChangeShapeType="1"/>
          </p:cNvSpPr>
          <p:nvPr/>
        </p:nvSpPr>
        <p:spPr bwMode="auto">
          <a:xfrm>
            <a:off x="5838687" y="3767107"/>
            <a:ext cx="1226820" cy="533400"/>
          </a:xfrm>
          <a:prstGeom prst="line">
            <a:avLst/>
          </a:prstGeom>
          <a:noFill/>
          <a:ln w="28575">
            <a:solidFill>
              <a:srgbClr val="1F497D"/>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prstClr val="black"/>
              </a:solidFill>
              <a:effectLst/>
              <a:uLnTx/>
              <a:uFillTx/>
              <a:latin typeface="微软雅黑"/>
              <a:ea typeface="微软雅黑"/>
            </a:endParaRPr>
          </a:p>
        </p:txBody>
      </p:sp>
      <p:sp>
        <p:nvSpPr>
          <p:cNvPr id="54" name="Text Box 32">
            <a:extLst>
              <a:ext uri="{FF2B5EF4-FFF2-40B4-BE49-F238E27FC236}">
                <a16:creationId xmlns:a16="http://schemas.microsoft.com/office/drawing/2014/main" id="{9A8E2396-8048-6C3B-1F4E-A3E3ED59B5AB}"/>
              </a:ext>
            </a:extLst>
          </p:cNvPr>
          <p:cNvSpPr txBox="1">
            <a:spLocks noChangeArrowheads="1"/>
          </p:cNvSpPr>
          <p:nvPr/>
        </p:nvSpPr>
        <p:spPr bwMode="auto">
          <a:xfrm>
            <a:off x="4890607" y="3009971"/>
            <a:ext cx="122682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50000"/>
              </a:spcBef>
              <a:spcAft>
                <a:spcPts val="0"/>
              </a:spcAft>
              <a:buClrTx/>
              <a:buSzTx/>
              <a:buFontTx/>
              <a:buNone/>
            </a:pPr>
            <a:r>
              <a:rPr lang="zh-CN" altLang="en-US" sz="1100" b="1" dirty="0">
                <a:solidFill>
                  <a:prstClr val="black"/>
                </a:solidFill>
                <a:latin typeface="微软雅黑"/>
                <a:ea typeface="微软雅黑"/>
              </a:rPr>
              <a:t>发送</a:t>
            </a:r>
            <a:r>
              <a:rPr lang="en-US" altLang="zh-CN" sz="1100" b="1" dirty="0">
                <a:solidFill>
                  <a:prstClr val="black"/>
                </a:solidFill>
                <a:latin typeface="微软雅黑"/>
                <a:ea typeface="微软雅黑"/>
              </a:rPr>
              <a:t>M5</a:t>
            </a:r>
          </a:p>
        </p:txBody>
      </p:sp>
      <p:sp>
        <p:nvSpPr>
          <p:cNvPr id="55" name="Text Box 33">
            <a:extLst>
              <a:ext uri="{FF2B5EF4-FFF2-40B4-BE49-F238E27FC236}">
                <a16:creationId xmlns:a16="http://schemas.microsoft.com/office/drawing/2014/main" id="{7FDA3F06-4A7A-5481-56FD-30DC7990D7DF}"/>
              </a:ext>
            </a:extLst>
          </p:cNvPr>
          <p:cNvSpPr txBox="1">
            <a:spLocks noChangeArrowheads="1"/>
          </p:cNvSpPr>
          <p:nvPr/>
        </p:nvSpPr>
        <p:spPr bwMode="auto">
          <a:xfrm>
            <a:off x="4890607" y="3521160"/>
            <a:ext cx="122682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50000"/>
              </a:spcBef>
              <a:spcAft>
                <a:spcPts val="0"/>
              </a:spcAft>
              <a:buClrTx/>
              <a:buSzTx/>
              <a:buFontTx/>
              <a:buNone/>
            </a:pPr>
            <a:r>
              <a:rPr lang="zh-CN" altLang="en-US" sz="1100" b="1" dirty="0">
                <a:solidFill>
                  <a:prstClr val="black"/>
                </a:solidFill>
                <a:latin typeface="微软雅黑"/>
                <a:ea typeface="微软雅黑"/>
              </a:rPr>
              <a:t>发送</a:t>
            </a:r>
            <a:r>
              <a:rPr lang="en-US" altLang="zh-CN" sz="1100" b="1" dirty="0">
                <a:solidFill>
                  <a:prstClr val="black"/>
                </a:solidFill>
                <a:latin typeface="微软雅黑"/>
                <a:ea typeface="微软雅黑"/>
              </a:rPr>
              <a:t>M2</a:t>
            </a:r>
          </a:p>
        </p:txBody>
      </p:sp>
      <p:sp>
        <p:nvSpPr>
          <p:cNvPr id="56" name="Text Box 34">
            <a:extLst>
              <a:ext uri="{FF2B5EF4-FFF2-40B4-BE49-F238E27FC236}">
                <a16:creationId xmlns:a16="http://schemas.microsoft.com/office/drawing/2014/main" id="{8842703B-BBD2-D586-92BA-182C3BF5F546}"/>
              </a:ext>
            </a:extLst>
          </p:cNvPr>
          <p:cNvSpPr txBox="1">
            <a:spLocks noChangeArrowheads="1"/>
          </p:cNvSpPr>
          <p:nvPr/>
        </p:nvSpPr>
        <p:spPr bwMode="auto">
          <a:xfrm>
            <a:off x="4890607" y="3681180"/>
            <a:ext cx="122682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50000"/>
              </a:spcBef>
              <a:spcAft>
                <a:spcPts val="0"/>
              </a:spcAft>
              <a:buClrTx/>
              <a:buSzTx/>
              <a:buFontTx/>
              <a:buNone/>
            </a:pPr>
            <a:r>
              <a:rPr lang="zh-CN" altLang="en-US" sz="1100" b="1" dirty="0">
                <a:solidFill>
                  <a:prstClr val="black"/>
                </a:solidFill>
                <a:latin typeface="微软雅黑"/>
                <a:ea typeface="微软雅黑"/>
              </a:rPr>
              <a:t>发送</a:t>
            </a:r>
            <a:r>
              <a:rPr lang="en-US" altLang="zh-CN" sz="1100" b="1" dirty="0">
                <a:solidFill>
                  <a:prstClr val="black"/>
                </a:solidFill>
                <a:latin typeface="微软雅黑"/>
                <a:ea typeface="微软雅黑"/>
              </a:rPr>
              <a:t>M3</a:t>
            </a:r>
          </a:p>
        </p:txBody>
      </p:sp>
      <p:sp>
        <p:nvSpPr>
          <p:cNvPr id="59" name="Freeform 37">
            <a:extLst>
              <a:ext uri="{FF2B5EF4-FFF2-40B4-BE49-F238E27FC236}">
                <a16:creationId xmlns:a16="http://schemas.microsoft.com/office/drawing/2014/main" id="{A1CDDDC1-F70A-9E7D-A663-682CE029EDF4}"/>
              </a:ext>
            </a:extLst>
          </p:cNvPr>
          <p:cNvSpPr>
            <a:spLocks/>
          </p:cNvSpPr>
          <p:nvPr/>
        </p:nvSpPr>
        <p:spPr bwMode="auto">
          <a:xfrm>
            <a:off x="5040853" y="2026521"/>
            <a:ext cx="182727" cy="1581302"/>
          </a:xfrm>
          <a:custGeom>
            <a:avLst/>
            <a:gdLst>
              <a:gd name="T0" fmla="*/ 2147483646 w 144"/>
              <a:gd name="T1" fmla="*/ 0 h 1344"/>
              <a:gd name="T2" fmla="*/ 0 w 144"/>
              <a:gd name="T3" fmla="*/ 0 h 1344"/>
              <a:gd name="T4" fmla="*/ 0 w 144"/>
              <a:gd name="T5" fmla="*/ 2147483646 h 1344"/>
              <a:gd name="T6" fmla="*/ 2147483646 w 144"/>
              <a:gd name="T7" fmla="*/ 2147483646 h 1344"/>
              <a:gd name="T8" fmla="*/ 0 60000 65536"/>
              <a:gd name="T9" fmla="*/ 0 60000 65536"/>
              <a:gd name="T10" fmla="*/ 0 60000 65536"/>
              <a:gd name="T11" fmla="*/ 0 60000 65536"/>
              <a:gd name="T12" fmla="*/ 0 w 144"/>
              <a:gd name="T13" fmla="*/ 0 h 1344"/>
              <a:gd name="T14" fmla="*/ 144 w 144"/>
              <a:gd name="T15" fmla="*/ 1344 h 1344"/>
            </a:gdLst>
            <a:ahLst/>
            <a:cxnLst>
              <a:cxn ang="T8">
                <a:pos x="T0" y="T1"/>
              </a:cxn>
              <a:cxn ang="T9">
                <a:pos x="T2" y="T3"/>
              </a:cxn>
              <a:cxn ang="T10">
                <a:pos x="T4" y="T5"/>
              </a:cxn>
              <a:cxn ang="T11">
                <a:pos x="T6" y="T7"/>
              </a:cxn>
            </a:cxnLst>
            <a:rect l="T12" t="T13" r="T14" b="T15"/>
            <a:pathLst>
              <a:path w="144" h="1344">
                <a:moveTo>
                  <a:pt x="144" y="0"/>
                </a:moveTo>
                <a:lnTo>
                  <a:pt x="0" y="0"/>
                </a:lnTo>
                <a:lnTo>
                  <a:pt x="0" y="1344"/>
                </a:lnTo>
                <a:lnTo>
                  <a:pt x="144" y="1344"/>
                </a:lnTo>
              </a:path>
            </a:pathLst>
          </a:custGeom>
          <a:noFill/>
          <a:ln w="38100">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defTabSz="1219627" fontAlgn="auto">
              <a:spcBef>
                <a:spcPts val="0"/>
              </a:spcBef>
              <a:spcAft>
                <a:spcPts val="0"/>
              </a:spcAft>
            </a:pPr>
            <a:endParaRPr lang="zh-CN" altLang="en-US" sz="1400" b="1">
              <a:solidFill>
                <a:prstClr val="black"/>
              </a:solidFill>
              <a:latin typeface="微软雅黑"/>
              <a:ea typeface="微软雅黑"/>
            </a:endParaRPr>
          </a:p>
        </p:txBody>
      </p:sp>
      <p:sp>
        <p:nvSpPr>
          <p:cNvPr id="61" name="Text Box 38">
            <a:extLst>
              <a:ext uri="{FF2B5EF4-FFF2-40B4-BE49-F238E27FC236}">
                <a16:creationId xmlns:a16="http://schemas.microsoft.com/office/drawing/2014/main" id="{07B91488-321C-93F2-F2A8-664FC480F7E3}"/>
              </a:ext>
            </a:extLst>
          </p:cNvPr>
          <p:cNvSpPr txBox="1">
            <a:spLocks noChangeArrowheads="1"/>
          </p:cNvSpPr>
          <p:nvPr/>
        </p:nvSpPr>
        <p:spPr bwMode="auto">
          <a:xfrm>
            <a:off x="4092715" y="3501143"/>
            <a:ext cx="1173480"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50000"/>
              </a:spcBef>
              <a:spcAft>
                <a:spcPts val="0"/>
              </a:spcAft>
              <a:buClrTx/>
              <a:buSzTx/>
              <a:buFontTx/>
              <a:buNone/>
            </a:pPr>
            <a:r>
              <a:rPr lang="zh-CN" altLang="en-US" sz="1200" b="1" dirty="0">
                <a:solidFill>
                  <a:prstClr val="black"/>
                </a:solidFill>
                <a:latin typeface="微软雅黑"/>
                <a:ea typeface="微软雅黑"/>
              </a:rPr>
              <a:t>超时重传</a:t>
            </a:r>
          </a:p>
        </p:txBody>
      </p:sp>
      <p:sp>
        <p:nvSpPr>
          <p:cNvPr id="62" name="Text Box 39">
            <a:extLst>
              <a:ext uri="{FF2B5EF4-FFF2-40B4-BE49-F238E27FC236}">
                <a16:creationId xmlns:a16="http://schemas.microsoft.com/office/drawing/2014/main" id="{3F087E2C-4A20-F37C-8998-DE103AE92FE6}"/>
              </a:ext>
            </a:extLst>
          </p:cNvPr>
          <p:cNvSpPr txBox="1">
            <a:spLocks noChangeArrowheads="1"/>
          </p:cNvSpPr>
          <p:nvPr/>
        </p:nvSpPr>
        <p:spPr bwMode="auto">
          <a:xfrm>
            <a:off x="7154407" y="3367057"/>
            <a:ext cx="1714289"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defTabSz="1219627" fontAlgn="auto">
              <a:spcBef>
                <a:spcPct val="50000"/>
              </a:spcBef>
              <a:spcAft>
                <a:spcPts val="0"/>
              </a:spcAft>
              <a:buClrTx/>
              <a:buSzTx/>
              <a:buFontTx/>
              <a:buNone/>
            </a:pPr>
            <a:r>
              <a:rPr lang="zh-CN" altLang="en-US" sz="1100" b="1" dirty="0">
                <a:solidFill>
                  <a:prstClr val="black"/>
                </a:solidFill>
                <a:latin typeface="微软雅黑"/>
                <a:ea typeface="微软雅黑"/>
              </a:rPr>
              <a:t>丢弃失序分组，发送</a:t>
            </a:r>
            <a:r>
              <a:rPr lang="en-US" altLang="zh-CN" sz="1100" b="1" dirty="0">
                <a:solidFill>
                  <a:prstClr val="black"/>
                </a:solidFill>
                <a:latin typeface="微软雅黑"/>
                <a:ea typeface="微软雅黑"/>
              </a:rPr>
              <a:t>ACK1</a:t>
            </a:r>
          </a:p>
        </p:txBody>
      </p:sp>
      <p:sp>
        <p:nvSpPr>
          <p:cNvPr id="66" name="Text Box 40">
            <a:extLst>
              <a:ext uri="{FF2B5EF4-FFF2-40B4-BE49-F238E27FC236}">
                <a16:creationId xmlns:a16="http://schemas.microsoft.com/office/drawing/2014/main" id="{0CA3E97A-FE79-D48D-D486-E3C3380EE021}"/>
              </a:ext>
            </a:extLst>
          </p:cNvPr>
          <p:cNvSpPr txBox="1">
            <a:spLocks noChangeArrowheads="1"/>
          </p:cNvSpPr>
          <p:nvPr/>
        </p:nvSpPr>
        <p:spPr bwMode="auto">
          <a:xfrm>
            <a:off x="7154407" y="3553747"/>
            <a:ext cx="1674961"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defTabSz="1219627" fontAlgn="auto">
              <a:spcBef>
                <a:spcPct val="50000"/>
              </a:spcBef>
              <a:spcAft>
                <a:spcPts val="0"/>
              </a:spcAft>
              <a:buClrTx/>
              <a:buSzTx/>
              <a:buFontTx/>
              <a:buNone/>
            </a:pPr>
            <a:r>
              <a:rPr lang="zh-CN" altLang="en-US" sz="1100" b="1" dirty="0">
                <a:solidFill>
                  <a:prstClr val="black"/>
                </a:solidFill>
                <a:latin typeface="微软雅黑"/>
                <a:ea typeface="微软雅黑"/>
              </a:rPr>
              <a:t>丢弃失序分组，发送</a:t>
            </a:r>
            <a:r>
              <a:rPr lang="en-US" altLang="zh-CN" sz="1100" b="1" dirty="0">
                <a:solidFill>
                  <a:prstClr val="black"/>
                </a:solidFill>
                <a:latin typeface="微软雅黑"/>
                <a:ea typeface="微软雅黑"/>
              </a:rPr>
              <a:t>ACK1</a:t>
            </a:r>
          </a:p>
        </p:txBody>
      </p:sp>
      <p:sp>
        <p:nvSpPr>
          <p:cNvPr id="68" name="Line 41">
            <a:extLst>
              <a:ext uri="{FF2B5EF4-FFF2-40B4-BE49-F238E27FC236}">
                <a16:creationId xmlns:a16="http://schemas.microsoft.com/office/drawing/2014/main" id="{C1FB577B-86F0-A93E-425A-30FB11F9FB50}"/>
              </a:ext>
            </a:extLst>
          </p:cNvPr>
          <p:cNvSpPr>
            <a:spLocks noChangeShapeType="1"/>
          </p:cNvSpPr>
          <p:nvPr/>
        </p:nvSpPr>
        <p:spPr bwMode="auto">
          <a:xfrm flipV="1">
            <a:off x="5838687" y="3553747"/>
            <a:ext cx="1226820" cy="586740"/>
          </a:xfrm>
          <a:prstGeom prst="line">
            <a:avLst/>
          </a:prstGeom>
          <a:noFill/>
          <a:ln w="28575">
            <a:solidFill>
              <a:srgbClr val="0099FF"/>
            </a:solidFill>
            <a:round/>
            <a:headEnd type="triangle" w="med" len="med"/>
            <a:tailEnd/>
          </a:ln>
          <a:extLst>
            <a:ext uri="{909E8E84-426E-40DD-AFC4-6F175D3DCCD1}">
              <a14:hiddenFill xmlns:a14="http://schemas.microsoft.com/office/drawing/2010/main">
                <a:noFill/>
              </a14:hiddenFill>
            </a:ext>
          </a:extLst>
        </p:spPr>
        <p:txBody>
          <a:bodyPr wrap="none" anchor="ctr"/>
          <a:lstStyle/>
          <a:p>
            <a:pPr defTabSz="1219627" fontAlgn="auto">
              <a:spcBef>
                <a:spcPts val="0"/>
              </a:spcBef>
              <a:spcAft>
                <a:spcPts val="0"/>
              </a:spcAft>
            </a:pPr>
            <a:endParaRPr lang="zh-CN" altLang="en-US" sz="1400" b="1">
              <a:solidFill>
                <a:prstClr val="black"/>
              </a:solidFill>
              <a:latin typeface="微软雅黑"/>
              <a:ea typeface="微软雅黑"/>
            </a:endParaRPr>
          </a:p>
        </p:txBody>
      </p:sp>
      <p:sp>
        <p:nvSpPr>
          <p:cNvPr id="69" name="Line 42">
            <a:extLst>
              <a:ext uri="{FF2B5EF4-FFF2-40B4-BE49-F238E27FC236}">
                <a16:creationId xmlns:a16="http://schemas.microsoft.com/office/drawing/2014/main" id="{08E1EE29-E142-AA99-1BA9-4B25F598A974}"/>
              </a:ext>
            </a:extLst>
          </p:cNvPr>
          <p:cNvSpPr>
            <a:spLocks noChangeShapeType="1"/>
          </p:cNvSpPr>
          <p:nvPr/>
        </p:nvSpPr>
        <p:spPr bwMode="auto">
          <a:xfrm flipV="1">
            <a:off x="5838687" y="3713767"/>
            <a:ext cx="1226820" cy="586740"/>
          </a:xfrm>
          <a:prstGeom prst="line">
            <a:avLst/>
          </a:prstGeom>
          <a:noFill/>
          <a:ln w="28575">
            <a:solidFill>
              <a:srgbClr val="0099FF"/>
            </a:solidFill>
            <a:round/>
            <a:headEnd type="triangle" w="med" len="med"/>
            <a:tailEnd/>
          </a:ln>
          <a:extLst>
            <a:ext uri="{909E8E84-426E-40DD-AFC4-6F175D3DCCD1}">
              <a14:hiddenFill xmlns:a14="http://schemas.microsoft.com/office/drawing/2010/main">
                <a:noFill/>
              </a14:hiddenFill>
            </a:ext>
          </a:extLst>
        </p:spPr>
        <p:txBody>
          <a:bodyPr wrap="none" anchor="ctr"/>
          <a:lstStyle/>
          <a:p>
            <a:pPr defTabSz="1219627" fontAlgn="auto">
              <a:spcBef>
                <a:spcPts val="0"/>
              </a:spcBef>
              <a:spcAft>
                <a:spcPts val="0"/>
              </a:spcAft>
            </a:pPr>
            <a:endParaRPr lang="zh-CN" altLang="en-US" sz="1400" b="1">
              <a:solidFill>
                <a:prstClr val="black"/>
              </a:solidFill>
              <a:latin typeface="微软雅黑"/>
              <a:ea typeface="微软雅黑"/>
            </a:endParaRPr>
          </a:p>
        </p:txBody>
      </p:sp>
      <p:sp>
        <p:nvSpPr>
          <p:cNvPr id="70" name="Line 43">
            <a:extLst>
              <a:ext uri="{FF2B5EF4-FFF2-40B4-BE49-F238E27FC236}">
                <a16:creationId xmlns:a16="http://schemas.microsoft.com/office/drawing/2014/main" id="{95C52287-9822-92AC-D519-6650CE484C41}"/>
              </a:ext>
            </a:extLst>
          </p:cNvPr>
          <p:cNvSpPr>
            <a:spLocks noChangeShapeType="1"/>
          </p:cNvSpPr>
          <p:nvPr/>
        </p:nvSpPr>
        <p:spPr bwMode="auto">
          <a:xfrm>
            <a:off x="5838687" y="3927127"/>
            <a:ext cx="1226820" cy="533400"/>
          </a:xfrm>
          <a:prstGeom prst="line">
            <a:avLst/>
          </a:prstGeom>
          <a:noFill/>
          <a:ln w="28575">
            <a:solidFill>
              <a:srgbClr val="1F497D"/>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prstClr val="black"/>
              </a:solidFill>
              <a:effectLst/>
              <a:uLnTx/>
              <a:uFillTx/>
              <a:latin typeface="微软雅黑"/>
              <a:ea typeface="微软雅黑"/>
            </a:endParaRPr>
          </a:p>
        </p:txBody>
      </p:sp>
      <p:sp>
        <p:nvSpPr>
          <p:cNvPr id="71" name="Text Box 44">
            <a:extLst>
              <a:ext uri="{FF2B5EF4-FFF2-40B4-BE49-F238E27FC236}">
                <a16:creationId xmlns:a16="http://schemas.microsoft.com/office/drawing/2014/main" id="{4C428879-02DA-1279-B9A8-442329D62AAD}"/>
              </a:ext>
            </a:extLst>
          </p:cNvPr>
          <p:cNvSpPr txBox="1">
            <a:spLocks noChangeArrowheads="1"/>
          </p:cNvSpPr>
          <p:nvPr/>
        </p:nvSpPr>
        <p:spPr bwMode="auto">
          <a:xfrm>
            <a:off x="4890607" y="3841200"/>
            <a:ext cx="122682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50000"/>
              </a:spcBef>
              <a:spcAft>
                <a:spcPts val="0"/>
              </a:spcAft>
              <a:buClrTx/>
              <a:buSzTx/>
              <a:buFontTx/>
              <a:buNone/>
            </a:pPr>
            <a:r>
              <a:rPr lang="zh-CN" altLang="en-US" sz="1100" b="1" dirty="0">
                <a:solidFill>
                  <a:prstClr val="black"/>
                </a:solidFill>
                <a:latin typeface="微软雅黑"/>
                <a:ea typeface="微软雅黑"/>
              </a:rPr>
              <a:t>发送</a:t>
            </a:r>
            <a:r>
              <a:rPr lang="en-US" altLang="zh-CN" sz="1100" b="1" dirty="0">
                <a:solidFill>
                  <a:prstClr val="black"/>
                </a:solidFill>
                <a:latin typeface="微软雅黑"/>
                <a:ea typeface="微软雅黑"/>
              </a:rPr>
              <a:t>M4</a:t>
            </a:r>
          </a:p>
        </p:txBody>
      </p:sp>
      <p:sp>
        <p:nvSpPr>
          <p:cNvPr id="72" name="Line 45">
            <a:extLst>
              <a:ext uri="{FF2B5EF4-FFF2-40B4-BE49-F238E27FC236}">
                <a16:creationId xmlns:a16="http://schemas.microsoft.com/office/drawing/2014/main" id="{CE316F6C-6833-2A80-D98D-15F985D376F8}"/>
              </a:ext>
            </a:extLst>
          </p:cNvPr>
          <p:cNvSpPr>
            <a:spLocks noChangeShapeType="1"/>
          </p:cNvSpPr>
          <p:nvPr/>
        </p:nvSpPr>
        <p:spPr bwMode="auto">
          <a:xfrm>
            <a:off x="5838687" y="4087147"/>
            <a:ext cx="1226820" cy="533400"/>
          </a:xfrm>
          <a:prstGeom prst="line">
            <a:avLst/>
          </a:prstGeom>
          <a:noFill/>
          <a:ln w="28575">
            <a:solidFill>
              <a:srgbClr val="1F497D"/>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prstClr val="black"/>
              </a:solidFill>
              <a:effectLst/>
              <a:uLnTx/>
              <a:uFillTx/>
              <a:latin typeface="微软雅黑"/>
              <a:ea typeface="微软雅黑"/>
            </a:endParaRPr>
          </a:p>
        </p:txBody>
      </p:sp>
      <p:sp>
        <p:nvSpPr>
          <p:cNvPr id="73" name="Text Box 46">
            <a:extLst>
              <a:ext uri="{FF2B5EF4-FFF2-40B4-BE49-F238E27FC236}">
                <a16:creationId xmlns:a16="http://schemas.microsoft.com/office/drawing/2014/main" id="{77DBDB19-7BC2-BE91-9752-823C3BD9C2E6}"/>
              </a:ext>
            </a:extLst>
          </p:cNvPr>
          <p:cNvSpPr txBox="1">
            <a:spLocks noChangeArrowheads="1"/>
          </p:cNvSpPr>
          <p:nvPr/>
        </p:nvSpPr>
        <p:spPr bwMode="auto">
          <a:xfrm>
            <a:off x="4890607" y="4001220"/>
            <a:ext cx="122682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50000"/>
              </a:spcBef>
              <a:spcAft>
                <a:spcPts val="0"/>
              </a:spcAft>
              <a:buClrTx/>
              <a:buSzTx/>
              <a:buFontTx/>
              <a:buNone/>
            </a:pPr>
            <a:r>
              <a:rPr lang="zh-CN" altLang="en-US" sz="1100" b="1" dirty="0">
                <a:solidFill>
                  <a:prstClr val="black"/>
                </a:solidFill>
                <a:latin typeface="微软雅黑"/>
                <a:ea typeface="微软雅黑"/>
              </a:rPr>
              <a:t>发送</a:t>
            </a:r>
            <a:r>
              <a:rPr lang="en-US" altLang="zh-CN" sz="1100" b="1" dirty="0">
                <a:solidFill>
                  <a:prstClr val="black"/>
                </a:solidFill>
                <a:latin typeface="微软雅黑"/>
                <a:ea typeface="微软雅黑"/>
              </a:rPr>
              <a:t>M5</a:t>
            </a:r>
          </a:p>
        </p:txBody>
      </p:sp>
      <p:sp>
        <p:nvSpPr>
          <p:cNvPr id="82" name="Line 13">
            <a:extLst>
              <a:ext uri="{FF2B5EF4-FFF2-40B4-BE49-F238E27FC236}">
                <a16:creationId xmlns:a16="http://schemas.microsoft.com/office/drawing/2014/main" id="{DE7F249C-CB39-4638-C860-596D260130E9}"/>
              </a:ext>
            </a:extLst>
          </p:cNvPr>
          <p:cNvSpPr>
            <a:spLocks noChangeShapeType="1"/>
          </p:cNvSpPr>
          <p:nvPr/>
        </p:nvSpPr>
        <p:spPr bwMode="auto">
          <a:xfrm flipV="1">
            <a:off x="5838687" y="2326927"/>
            <a:ext cx="1226820" cy="586740"/>
          </a:xfrm>
          <a:prstGeom prst="line">
            <a:avLst/>
          </a:prstGeom>
          <a:noFill/>
          <a:ln w="28575">
            <a:solidFill>
              <a:srgbClr val="0099FF"/>
            </a:solidFill>
            <a:round/>
            <a:headEnd type="triangle" w="med" len="med"/>
            <a:tailEnd/>
          </a:ln>
          <a:extLst>
            <a:ext uri="{909E8E84-426E-40DD-AFC4-6F175D3DCCD1}">
              <a14:hiddenFill xmlns:a14="http://schemas.microsoft.com/office/drawing/2010/main">
                <a:noFill/>
              </a14:hiddenFill>
            </a:ext>
          </a:extLst>
        </p:spPr>
        <p:txBody>
          <a:bodyPr wrap="none" anchor="ctr"/>
          <a:lstStyle/>
          <a:p>
            <a:pPr defTabSz="1219627" fontAlgn="auto">
              <a:spcBef>
                <a:spcPts val="0"/>
              </a:spcBef>
              <a:spcAft>
                <a:spcPts val="0"/>
              </a:spcAft>
            </a:pPr>
            <a:endParaRPr lang="zh-CN" altLang="en-US" sz="1400" b="1">
              <a:solidFill>
                <a:prstClr val="black"/>
              </a:solidFill>
              <a:latin typeface="微软雅黑"/>
              <a:ea typeface="微软雅黑"/>
            </a:endParaRPr>
          </a:p>
        </p:txBody>
      </p:sp>
      <p:sp>
        <p:nvSpPr>
          <p:cNvPr id="105" name="Line 42">
            <a:extLst>
              <a:ext uri="{FF2B5EF4-FFF2-40B4-BE49-F238E27FC236}">
                <a16:creationId xmlns:a16="http://schemas.microsoft.com/office/drawing/2014/main" id="{EFFBE61F-337B-9FE2-BADF-8622209D4487}"/>
              </a:ext>
            </a:extLst>
          </p:cNvPr>
          <p:cNvSpPr>
            <a:spLocks noChangeShapeType="1"/>
          </p:cNvSpPr>
          <p:nvPr/>
        </p:nvSpPr>
        <p:spPr bwMode="auto">
          <a:xfrm flipV="1">
            <a:off x="6274210" y="4192195"/>
            <a:ext cx="793172" cy="379343"/>
          </a:xfrm>
          <a:prstGeom prst="line">
            <a:avLst/>
          </a:prstGeom>
          <a:noFill/>
          <a:ln w="28575">
            <a:solidFill>
              <a:srgbClr val="0099FF"/>
            </a:solidFill>
            <a:round/>
            <a:headEnd type="triangle" w="med" len="med"/>
            <a:tailEnd/>
          </a:ln>
          <a:extLst>
            <a:ext uri="{909E8E84-426E-40DD-AFC4-6F175D3DCCD1}">
              <a14:hiddenFill xmlns:a14="http://schemas.microsoft.com/office/drawing/2010/main">
                <a:noFill/>
              </a14:hiddenFill>
            </a:ext>
          </a:extLst>
        </p:spPr>
        <p:txBody>
          <a:bodyPr wrap="none" anchor="ctr"/>
          <a:lstStyle/>
          <a:p>
            <a:pPr defTabSz="1219627" fontAlgn="auto">
              <a:spcBef>
                <a:spcPts val="0"/>
              </a:spcBef>
              <a:spcAft>
                <a:spcPts val="0"/>
              </a:spcAft>
            </a:pPr>
            <a:endParaRPr lang="zh-CN" altLang="en-US" sz="1400" b="1">
              <a:solidFill>
                <a:prstClr val="black"/>
              </a:solidFill>
              <a:latin typeface="微软雅黑"/>
              <a:ea typeface="微软雅黑"/>
            </a:endParaRPr>
          </a:p>
        </p:txBody>
      </p:sp>
      <p:sp>
        <p:nvSpPr>
          <p:cNvPr id="107" name="Text Box 24">
            <a:extLst>
              <a:ext uri="{FF2B5EF4-FFF2-40B4-BE49-F238E27FC236}">
                <a16:creationId xmlns:a16="http://schemas.microsoft.com/office/drawing/2014/main" id="{190CF3DE-0DD0-797E-E855-8C06B12E23BE}"/>
              </a:ext>
            </a:extLst>
          </p:cNvPr>
          <p:cNvSpPr txBox="1">
            <a:spLocks noChangeArrowheads="1"/>
          </p:cNvSpPr>
          <p:nvPr/>
        </p:nvSpPr>
        <p:spPr bwMode="auto">
          <a:xfrm>
            <a:off x="7141166" y="4071758"/>
            <a:ext cx="1229719"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defTabSz="1219627" fontAlgn="auto">
              <a:spcBef>
                <a:spcPct val="50000"/>
              </a:spcBef>
              <a:spcAft>
                <a:spcPts val="0"/>
              </a:spcAft>
              <a:buClrTx/>
              <a:buSzTx/>
              <a:buFontTx/>
              <a:buNone/>
            </a:pPr>
            <a:r>
              <a:rPr lang="zh-CN" altLang="en-US" sz="1100" b="1" dirty="0">
                <a:solidFill>
                  <a:prstClr val="black"/>
                </a:solidFill>
                <a:latin typeface="微软雅黑"/>
                <a:ea typeface="微软雅黑"/>
              </a:rPr>
              <a:t>发送</a:t>
            </a:r>
            <a:r>
              <a:rPr lang="en-US" altLang="zh-CN" sz="1100" b="1" dirty="0">
                <a:solidFill>
                  <a:srgbClr val="C00000"/>
                </a:solidFill>
                <a:latin typeface="微软雅黑"/>
                <a:ea typeface="微软雅黑"/>
              </a:rPr>
              <a:t>ACK2</a:t>
            </a:r>
          </a:p>
        </p:txBody>
      </p:sp>
      <p:grpSp>
        <p:nvGrpSpPr>
          <p:cNvPr id="108" name="组合 107">
            <a:extLst>
              <a:ext uri="{FF2B5EF4-FFF2-40B4-BE49-F238E27FC236}">
                <a16:creationId xmlns:a16="http://schemas.microsoft.com/office/drawing/2014/main" id="{B98AE940-D92B-0124-9D76-85C63F7B0327}"/>
              </a:ext>
            </a:extLst>
          </p:cNvPr>
          <p:cNvGrpSpPr/>
          <p:nvPr/>
        </p:nvGrpSpPr>
        <p:grpSpPr>
          <a:xfrm rot="2700000">
            <a:off x="6928850" y="2489455"/>
            <a:ext cx="173078" cy="173078"/>
            <a:chOff x="8028384" y="2924944"/>
            <a:chExt cx="247254" cy="247254"/>
          </a:xfrm>
        </p:grpSpPr>
        <p:cxnSp>
          <p:nvCxnSpPr>
            <p:cNvPr id="109" name="直接连接符 108">
              <a:extLst>
                <a:ext uri="{FF2B5EF4-FFF2-40B4-BE49-F238E27FC236}">
                  <a16:creationId xmlns:a16="http://schemas.microsoft.com/office/drawing/2014/main" id="{FE2422C9-4536-A42B-6B76-DAF2B82F5923}"/>
                </a:ext>
              </a:extLst>
            </p:cNvPr>
            <p:cNvCxnSpPr/>
            <p:nvPr/>
          </p:nvCxnSpPr>
          <p:spPr bwMode="auto">
            <a:xfrm>
              <a:off x="8028384" y="3048000"/>
              <a:ext cx="247254" cy="0"/>
            </a:xfrm>
            <a:prstGeom prst="line">
              <a:avLst/>
            </a:prstGeom>
            <a:solidFill>
              <a:srgbClr val="4F81BD"/>
            </a:solidFill>
            <a:ln w="38100" cap="flat" cmpd="sng" algn="ctr">
              <a:solidFill>
                <a:srgbClr val="FF0000"/>
              </a:solidFill>
              <a:prstDash val="solid"/>
              <a:round/>
              <a:headEnd type="none" w="med" len="med"/>
              <a:tailEnd type="none" w="med" len="med"/>
            </a:ln>
            <a:effectLst/>
          </p:spPr>
        </p:cxnSp>
        <p:cxnSp>
          <p:nvCxnSpPr>
            <p:cNvPr id="110" name="直接连接符 109">
              <a:extLst>
                <a:ext uri="{FF2B5EF4-FFF2-40B4-BE49-F238E27FC236}">
                  <a16:creationId xmlns:a16="http://schemas.microsoft.com/office/drawing/2014/main" id="{ED793607-F4ED-AFEB-4F52-2F9783E548C2}"/>
                </a:ext>
              </a:extLst>
            </p:cNvPr>
            <p:cNvCxnSpPr/>
            <p:nvPr/>
          </p:nvCxnSpPr>
          <p:spPr bwMode="auto">
            <a:xfrm rot="5400000">
              <a:off x="8029723" y="3048571"/>
              <a:ext cx="247254" cy="0"/>
            </a:xfrm>
            <a:prstGeom prst="line">
              <a:avLst/>
            </a:prstGeom>
            <a:solidFill>
              <a:srgbClr val="4F81BD"/>
            </a:solidFill>
            <a:ln w="38100" cap="flat" cmpd="sng" algn="ctr">
              <a:solidFill>
                <a:srgbClr val="FF0000"/>
              </a:solidFill>
              <a:prstDash val="solid"/>
              <a:round/>
              <a:headEnd type="none" w="med" len="med"/>
              <a:tailEnd type="none" w="med" len="med"/>
            </a:ln>
            <a:effectLst/>
          </p:spPr>
        </p:cxnSp>
      </p:grpSp>
      <p:sp>
        <p:nvSpPr>
          <p:cNvPr id="112" name="Rectangle 8">
            <a:extLst>
              <a:ext uri="{FF2B5EF4-FFF2-40B4-BE49-F238E27FC236}">
                <a16:creationId xmlns:a16="http://schemas.microsoft.com/office/drawing/2014/main" id="{BE8CCFA6-9A0A-433A-592B-EB1DD36A07C4}"/>
              </a:ext>
            </a:extLst>
          </p:cNvPr>
          <p:cNvSpPr>
            <a:spLocks noChangeArrowheads="1"/>
          </p:cNvSpPr>
          <p:nvPr/>
        </p:nvSpPr>
        <p:spPr bwMode="auto">
          <a:xfrm>
            <a:off x="592572" y="1131168"/>
            <a:ext cx="3362632" cy="3370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Aft>
                <a:spcPts val="600"/>
              </a:spcAft>
              <a:buClr>
                <a:srgbClr val="0070C0"/>
              </a:buClr>
            </a:pPr>
            <a:r>
              <a:rPr lang="en-US" altLang="zh-CN" b="1" dirty="0">
                <a:latin typeface="微软雅黑" pitchFamily="34" charset="-122"/>
                <a:ea typeface="微软雅黑" pitchFamily="34" charset="-122"/>
              </a:rPr>
              <a:t>(1) </a:t>
            </a:r>
            <a:r>
              <a:rPr lang="zh-CN" altLang="en-US" b="1" dirty="0">
                <a:latin typeface="微软雅黑" pitchFamily="34" charset="-122"/>
                <a:ea typeface="微软雅黑" pitchFamily="34" charset="-122"/>
              </a:rPr>
              <a:t>接收方只收下按序到达的无比特差错的分组</a:t>
            </a:r>
            <a:endParaRPr lang="en-US" altLang="zh-CN" b="1" dirty="0">
              <a:latin typeface="微软雅黑" pitchFamily="34" charset="-122"/>
              <a:ea typeface="微软雅黑" pitchFamily="34" charset="-122"/>
            </a:endParaRPr>
          </a:p>
          <a:p>
            <a:pPr marL="285750" indent="-285750">
              <a:spcAft>
                <a:spcPts val="600"/>
              </a:spcAft>
              <a:buClr>
                <a:srgbClr val="0070C0"/>
              </a:buClr>
              <a:buFont typeface="Wingdings" pitchFamily="2" charset="2"/>
              <a:buChar char="l"/>
            </a:pPr>
            <a:r>
              <a:rPr lang="zh-CN" altLang="en-US" b="1" dirty="0">
                <a:latin typeface="微软雅黑" pitchFamily="34" charset="-122"/>
                <a:ea typeface="微软雅黑" pitchFamily="34" charset="-122"/>
              </a:rPr>
              <a:t>对乱序到达的分组一律丢弃。</a:t>
            </a:r>
            <a:endParaRPr lang="en-US" altLang="zh-CN" b="1" dirty="0">
              <a:latin typeface="微软雅黑" pitchFamily="34" charset="-122"/>
              <a:ea typeface="微软雅黑" pitchFamily="34" charset="-122"/>
            </a:endParaRPr>
          </a:p>
          <a:p>
            <a:pPr marL="285750" indent="-285750">
              <a:spcAft>
                <a:spcPts val="600"/>
              </a:spcAft>
              <a:buClr>
                <a:srgbClr val="0070C0"/>
              </a:buClr>
              <a:buFont typeface="Wingdings" pitchFamily="2" charset="2"/>
              <a:buChar char="l"/>
            </a:pPr>
            <a:r>
              <a:rPr lang="zh-CN" altLang="en-US" b="1" dirty="0">
                <a:latin typeface="微软雅黑" pitchFamily="34" charset="-122"/>
                <a:ea typeface="微软雅黑" pitchFamily="34" charset="-122"/>
              </a:rPr>
              <a:t>这种方式又称为</a:t>
            </a:r>
            <a:r>
              <a:rPr lang="en-US" altLang="zh-CN" b="1" dirty="0">
                <a:solidFill>
                  <a:srgbClr val="0000FF"/>
                </a:solidFill>
                <a:latin typeface="微软雅黑" pitchFamily="34" charset="-122"/>
                <a:ea typeface="微软雅黑" pitchFamily="34" charset="-122"/>
              </a:rPr>
              <a:t>Go-back-N</a:t>
            </a:r>
            <a:r>
              <a:rPr lang="zh-CN" altLang="en-US" b="1" dirty="0">
                <a:latin typeface="微软雅黑" pitchFamily="34" charset="-122"/>
                <a:ea typeface="微软雅黑" pitchFamily="34" charset="-122"/>
              </a:rPr>
              <a:t>，意思是</a:t>
            </a:r>
            <a:r>
              <a:rPr lang="zh-CN" altLang="en-US" b="1" dirty="0">
                <a:solidFill>
                  <a:srgbClr val="0000FF"/>
                </a:solidFill>
                <a:latin typeface="微软雅黑" pitchFamily="34" charset="-122"/>
                <a:ea typeface="微软雅黑" pitchFamily="34" charset="-122"/>
              </a:rPr>
              <a:t>回退</a:t>
            </a:r>
            <a:r>
              <a:rPr lang="en-US" altLang="zh-CN" b="1" dirty="0">
                <a:solidFill>
                  <a:srgbClr val="0000FF"/>
                </a:solidFill>
                <a:latin typeface="微软雅黑" pitchFamily="34" charset="-122"/>
                <a:ea typeface="微软雅黑" pitchFamily="34" charset="-122"/>
              </a:rPr>
              <a:t>N</a:t>
            </a:r>
            <a:r>
              <a:rPr lang="zh-CN" altLang="en-US" b="1" dirty="0">
                <a:latin typeface="微软雅黑" pitchFamily="34" charset="-122"/>
                <a:ea typeface="微软雅黑" pitchFamily="34" charset="-122"/>
              </a:rPr>
              <a:t>，表示发送方需要再重传已发送过的</a:t>
            </a:r>
            <a:r>
              <a:rPr lang="en-US" altLang="zh-CN" b="1" dirty="0">
                <a:latin typeface="微软雅黑" pitchFamily="34" charset="-122"/>
                <a:ea typeface="微软雅黑" pitchFamily="34" charset="-122"/>
              </a:rPr>
              <a:t>N</a:t>
            </a:r>
            <a:r>
              <a:rPr lang="zh-CN" altLang="en-US" b="1" dirty="0">
                <a:latin typeface="微软雅黑" pitchFamily="34" charset="-122"/>
                <a:ea typeface="微软雅黑" pitchFamily="34" charset="-122"/>
              </a:rPr>
              <a:t>个分组。</a:t>
            </a:r>
            <a:endParaRPr lang="en-US" altLang="zh-CN" b="1" dirty="0">
              <a:latin typeface="微软雅黑" pitchFamily="34" charset="-122"/>
              <a:ea typeface="微软雅黑" pitchFamily="34" charset="-122"/>
            </a:endParaRPr>
          </a:p>
          <a:p>
            <a:pPr marL="285750" indent="-285750">
              <a:spcAft>
                <a:spcPts val="600"/>
              </a:spcAft>
              <a:buClr>
                <a:srgbClr val="0070C0"/>
              </a:buClr>
              <a:buFont typeface="Wingdings" pitchFamily="2" charset="2"/>
              <a:buChar char="l"/>
            </a:pPr>
            <a:r>
              <a:rPr lang="zh-CN" altLang="en-US" b="1" dirty="0">
                <a:latin typeface="微软雅黑" pitchFamily="34" charset="-122"/>
                <a:ea typeface="微软雅黑" pitchFamily="34" charset="-122"/>
              </a:rPr>
              <a:t>回退</a:t>
            </a:r>
            <a:r>
              <a:rPr lang="en-US" altLang="zh-CN" b="1" dirty="0">
                <a:latin typeface="微软雅黑" pitchFamily="34" charset="-122"/>
                <a:ea typeface="微软雅黑" pitchFamily="34" charset="-122"/>
              </a:rPr>
              <a:t>N</a:t>
            </a:r>
            <a:r>
              <a:rPr lang="zh-CN" altLang="en-US" b="1" dirty="0">
                <a:latin typeface="微软雅黑" pitchFamily="34" charset="-122"/>
                <a:ea typeface="微软雅黑" pitchFamily="34" charset="-122"/>
              </a:rPr>
              <a:t>的优点是实现比较简单，但缺点是效率较低，在网络误码率较高的情况下，可能会浪费大量的网络带宽。</a:t>
            </a:r>
            <a:endParaRPr lang="en-US" altLang="zh-CN" b="1" dirty="0">
              <a:latin typeface="微软雅黑" pitchFamily="34" charset="-122"/>
              <a:ea typeface="微软雅黑" pitchFamily="34" charset="-122"/>
            </a:endParaRPr>
          </a:p>
        </p:txBody>
      </p:sp>
      <p:sp>
        <p:nvSpPr>
          <p:cNvPr id="117" name="文本框 116">
            <a:extLst>
              <a:ext uri="{FF2B5EF4-FFF2-40B4-BE49-F238E27FC236}">
                <a16:creationId xmlns:a16="http://schemas.microsoft.com/office/drawing/2014/main" id="{7ADC86F1-05BE-79C5-1585-32EFAB7A045A}"/>
              </a:ext>
            </a:extLst>
          </p:cNvPr>
          <p:cNvSpPr txBox="1"/>
          <p:nvPr/>
        </p:nvSpPr>
        <p:spPr>
          <a:xfrm>
            <a:off x="4356347" y="1177975"/>
            <a:ext cx="909848" cy="523220"/>
          </a:xfrm>
          <a:prstGeom prst="rect">
            <a:avLst/>
          </a:prstGeom>
          <a:noFill/>
        </p:spPr>
        <p:txBody>
          <a:bodyPr wrap="square">
            <a:spAutoFit/>
          </a:bodyPr>
          <a:lstStyle/>
          <a:p>
            <a:pPr marL="0" marR="0" lvl="0" indent="0" defTabSz="1219627" eaLnBrk="1" fontAlgn="auto" latinLnBrk="0" hangingPunct="1">
              <a:lnSpc>
                <a:spcPct val="100000"/>
              </a:lnSpc>
              <a:spcBef>
                <a:spcPct val="50000"/>
              </a:spcBef>
              <a:spcAft>
                <a:spcPts val="0"/>
              </a:spcAft>
              <a:buClrTx/>
              <a:buSzTx/>
              <a:buFontTx/>
              <a:buNone/>
              <a:tabLst/>
              <a:defRPr/>
            </a:pPr>
            <a:r>
              <a:rPr kumimoji="0" lang="zh-CN" altLang="en-US" sz="1400" b="1" i="0" u="none" strike="noStrike" kern="0" cap="none" spc="0" normalizeH="0" baseline="0" noProof="0" dirty="0">
                <a:ln>
                  <a:noFill/>
                </a:ln>
                <a:solidFill>
                  <a:srgbClr val="C00000"/>
                </a:solidFill>
                <a:effectLst/>
                <a:uLnTx/>
                <a:uFillTx/>
                <a:latin typeface="微软雅黑"/>
                <a:ea typeface="微软雅黑"/>
              </a:rPr>
              <a:t>发送窗口</a:t>
            </a:r>
            <a:r>
              <a:rPr lang="zh-CN" altLang="en-US" sz="1400" b="1" kern="0" dirty="0">
                <a:solidFill>
                  <a:srgbClr val="C00000"/>
                </a:solidFill>
                <a:latin typeface="微软雅黑"/>
                <a:ea typeface="微软雅黑"/>
              </a:rPr>
              <a:t>大小</a:t>
            </a:r>
            <a:r>
              <a:rPr kumimoji="0" lang="zh-CN" altLang="en-US" sz="1400" b="1" i="0" u="none" strike="noStrike" kern="0" cap="none" spc="0" normalizeH="0" baseline="0" noProof="0" dirty="0">
                <a:ln>
                  <a:noFill/>
                </a:ln>
                <a:solidFill>
                  <a:srgbClr val="C00000"/>
                </a:solidFill>
                <a:effectLst/>
                <a:uLnTx/>
                <a:uFillTx/>
                <a:latin typeface="微软雅黑"/>
                <a:ea typeface="微软雅黑"/>
              </a:rPr>
              <a:t>为 </a:t>
            </a:r>
            <a:r>
              <a:rPr kumimoji="0" lang="en-US" altLang="zh-CN" sz="1400" b="1" i="0" u="none" strike="noStrike" kern="0" cap="none" spc="0" normalizeH="0" baseline="0" noProof="0" dirty="0">
                <a:ln>
                  <a:noFill/>
                </a:ln>
                <a:solidFill>
                  <a:srgbClr val="C00000"/>
                </a:solidFill>
                <a:effectLst/>
                <a:uLnTx/>
                <a:uFillTx/>
                <a:latin typeface="微软雅黑"/>
                <a:ea typeface="微软雅黑"/>
              </a:rPr>
              <a:t>4</a:t>
            </a:r>
            <a:endParaRPr kumimoji="0" lang="zh-CN" altLang="en-US" sz="1400" b="1" i="0" u="none" strike="noStrike" kern="0" cap="none" spc="0" normalizeH="0" baseline="0" noProof="0" dirty="0">
              <a:ln>
                <a:noFill/>
              </a:ln>
              <a:solidFill>
                <a:srgbClr val="C00000"/>
              </a:solidFill>
              <a:effectLst/>
              <a:uLnTx/>
              <a:uFillTx/>
              <a:latin typeface="微软雅黑"/>
              <a:ea typeface="微软雅黑"/>
            </a:endParaRPr>
          </a:p>
        </p:txBody>
      </p:sp>
    </p:spTree>
    <p:extLst>
      <p:ext uri="{BB962C8B-B14F-4D97-AF65-F5344CB8AC3E}">
        <p14:creationId xmlns:p14="http://schemas.microsoft.com/office/powerpoint/2010/main" val="1111323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2">
                                            <p:txEl>
                                              <p:pRg st="1" end="1"/>
                                            </p:txEl>
                                          </p:spTgt>
                                        </p:tgtEl>
                                        <p:attrNameLst>
                                          <p:attrName>style.visibility</p:attrName>
                                        </p:attrNameLst>
                                      </p:cBhvr>
                                      <p:to>
                                        <p:strVal val="visible"/>
                                      </p:to>
                                    </p:set>
                                    <p:animEffect transition="in" filter="fade">
                                      <p:cBhvr>
                                        <p:cTn id="7" dur="1000"/>
                                        <p:tgtEl>
                                          <p:spTgt spid="112">
                                            <p:txEl>
                                              <p:pRg st="1" end="1"/>
                                            </p:txEl>
                                          </p:spTgt>
                                        </p:tgtEl>
                                      </p:cBhvr>
                                    </p:animEffect>
                                    <p:anim calcmode="lin" valueType="num">
                                      <p:cBhvr>
                                        <p:cTn id="8" dur="1000" fill="hold"/>
                                        <p:tgtEl>
                                          <p:spTgt spid="11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1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5" presetClass="emph" presetSubtype="0" repeatCount="3000" fill="hold" grpId="0" nodeType="clickEffect">
                                  <p:stCondLst>
                                    <p:cond delay="0"/>
                                  </p:stCondLst>
                                  <p:childTnLst>
                                    <p:anim calcmode="discrete" valueType="str">
                                      <p:cBhvr>
                                        <p:cTn id="13" dur="1000" fill="hold"/>
                                        <p:tgtEl>
                                          <p:spTgt spid="28"/>
                                        </p:tgtEl>
                                        <p:attrNameLst>
                                          <p:attrName>style.visibility</p:attrName>
                                        </p:attrNameLst>
                                      </p:cBhvr>
                                      <p:tavLst>
                                        <p:tav tm="0">
                                          <p:val>
                                            <p:strVal val="hidden"/>
                                          </p:val>
                                        </p:tav>
                                        <p:tav tm="50000">
                                          <p:val>
                                            <p:strVal val="visible"/>
                                          </p:val>
                                        </p:tav>
                                      </p:tavLst>
                                    </p:anim>
                                  </p:childTnLst>
                                </p:cTn>
                              </p:par>
                              <p:par>
                                <p:cTn id="14" presetID="35" presetClass="emph" presetSubtype="0" repeatCount="3000" fill="hold" grpId="0" nodeType="withEffect">
                                  <p:stCondLst>
                                    <p:cond delay="0"/>
                                  </p:stCondLst>
                                  <p:childTnLst>
                                    <p:anim calcmode="discrete" valueType="str">
                                      <p:cBhvr>
                                        <p:cTn id="15" dur="1000" fill="hold"/>
                                        <p:tgtEl>
                                          <p:spTgt spid="30"/>
                                        </p:tgtEl>
                                        <p:attrNameLst>
                                          <p:attrName>style.visibility</p:attrName>
                                        </p:attrNameLst>
                                      </p:cBhvr>
                                      <p:tavLst>
                                        <p:tav tm="0">
                                          <p:val>
                                            <p:strVal val="hidden"/>
                                          </p:val>
                                        </p:tav>
                                        <p:tav tm="50000">
                                          <p:val>
                                            <p:strVal val="visible"/>
                                          </p:val>
                                        </p:tav>
                                      </p:tavLst>
                                    </p:anim>
                                  </p:childTnLst>
                                </p:cTn>
                              </p:par>
                            </p:childTnLst>
                          </p:cTn>
                        </p:par>
                      </p:childTnLst>
                    </p:cTn>
                  </p:par>
                  <p:par>
                    <p:cTn id="16" fill="hold">
                      <p:stCondLst>
                        <p:cond delay="indefinite"/>
                      </p:stCondLst>
                      <p:childTnLst>
                        <p:par>
                          <p:cTn id="17" fill="hold">
                            <p:stCondLst>
                              <p:cond delay="0"/>
                            </p:stCondLst>
                            <p:childTnLst>
                              <p:par>
                                <p:cTn id="18" presetID="35" presetClass="emph" presetSubtype="0" repeatCount="3000" fill="hold" nodeType="clickEffect">
                                  <p:stCondLst>
                                    <p:cond delay="0"/>
                                  </p:stCondLst>
                                  <p:childTnLst>
                                    <p:anim calcmode="discrete" valueType="str">
                                      <p:cBhvr>
                                        <p:cTn id="19" dur="1000" fill="hold"/>
                                        <p:tgtEl>
                                          <p:spTgt spid="108"/>
                                        </p:tgtEl>
                                        <p:attrNameLst>
                                          <p:attrName>style.visibility</p:attrName>
                                        </p:attrNameLst>
                                      </p:cBhvr>
                                      <p:tavLst>
                                        <p:tav tm="0">
                                          <p:val>
                                            <p:strVal val="hidden"/>
                                          </p:val>
                                        </p:tav>
                                        <p:tav tm="50000">
                                          <p:val>
                                            <p:strVal val="visible"/>
                                          </p:val>
                                        </p:tav>
                                      </p:tavLst>
                                    </p:anim>
                                  </p:childTnLst>
                                </p:cTn>
                              </p:par>
                              <p:par>
                                <p:cTn id="20" presetID="35" presetClass="emph" presetSubtype="0" repeatCount="3000" fill="hold" grpId="0" nodeType="withEffect">
                                  <p:stCondLst>
                                    <p:cond delay="0"/>
                                  </p:stCondLst>
                                  <p:childTnLst>
                                    <p:anim calcmode="discrete" valueType="str">
                                      <p:cBhvr>
                                        <p:cTn id="21" dur="1000" fill="hold"/>
                                        <p:tgtEl>
                                          <p:spTgt spid="31"/>
                                        </p:tgtEl>
                                        <p:attrNameLst>
                                          <p:attrName>style.visibility</p:attrName>
                                        </p:attrNameLst>
                                      </p:cBhvr>
                                      <p:tavLst>
                                        <p:tav tm="0">
                                          <p:val>
                                            <p:strVal val="hidden"/>
                                          </p:val>
                                        </p:tav>
                                        <p:tav tm="50000">
                                          <p:val>
                                            <p:strVal val="visible"/>
                                          </p:val>
                                        </p:tav>
                                      </p:tavLst>
                                    </p:anim>
                                  </p:childTnLst>
                                </p:cTn>
                              </p:par>
                            </p:childTnLst>
                          </p:cTn>
                        </p:par>
                      </p:childTnLst>
                    </p:cTn>
                  </p:par>
                  <p:par>
                    <p:cTn id="22" fill="hold">
                      <p:stCondLst>
                        <p:cond delay="indefinite"/>
                      </p:stCondLst>
                      <p:childTnLst>
                        <p:par>
                          <p:cTn id="23" fill="hold">
                            <p:stCondLst>
                              <p:cond delay="0"/>
                            </p:stCondLst>
                            <p:childTnLst>
                              <p:par>
                                <p:cTn id="24" presetID="35" presetClass="emph" presetSubtype="0" repeatCount="3000" fill="hold" grpId="0" nodeType="clickEffect">
                                  <p:stCondLst>
                                    <p:cond delay="0"/>
                                  </p:stCondLst>
                                  <p:childTnLst>
                                    <p:anim calcmode="discrete" valueType="str">
                                      <p:cBhvr>
                                        <p:cTn id="25" dur="1000" fill="hold"/>
                                        <p:tgtEl>
                                          <p:spTgt spid="38"/>
                                        </p:tgtEl>
                                        <p:attrNameLst>
                                          <p:attrName>style.visibility</p:attrName>
                                        </p:attrNameLst>
                                      </p:cBhvr>
                                      <p:tavLst>
                                        <p:tav tm="0">
                                          <p:val>
                                            <p:strVal val="hidden"/>
                                          </p:val>
                                        </p:tav>
                                        <p:tav tm="50000">
                                          <p:val>
                                            <p:strVal val="visible"/>
                                          </p:val>
                                        </p:tav>
                                      </p:tavLst>
                                    </p:anim>
                                  </p:childTnLst>
                                </p:cTn>
                              </p:par>
                              <p:par>
                                <p:cTn id="26" presetID="35" presetClass="emph" presetSubtype="0" repeatCount="3000" fill="hold" grpId="0" nodeType="withEffect">
                                  <p:stCondLst>
                                    <p:cond delay="0"/>
                                  </p:stCondLst>
                                  <p:childTnLst>
                                    <p:anim calcmode="discrete" valueType="str">
                                      <p:cBhvr>
                                        <p:cTn id="27" dur="1000" fill="hold"/>
                                        <p:tgtEl>
                                          <p:spTgt spid="48"/>
                                        </p:tgtEl>
                                        <p:attrNameLst>
                                          <p:attrName>style.visibility</p:attrName>
                                        </p:attrNameLst>
                                      </p:cBhvr>
                                      <p:tavLst>
                                        <p:tav tm="0">
                                          <p:val>
                                            <p:strVal val="hidden"/>
                                          </p:val>
                                        </p:tav>
                                        <p:tav tm="50000">
                                          <p:val>
                                            <p:strVal val="visible"/>
                                          </p:val>
                                        </p:tav>
                                      </p:tavLst>
                                    </p:anim>
                                  </p:childTnLst>
                                </p:cTn>
                              </p:par>
                              <p:par>
                                <p:cTn id="28" presetID="35" presetClass="emph" presetSubtype="0" repeatCount="3000" fill="hold" grpId="0" nodeType="withEffect">
                                  <p:stCondLst>
                                    <p:cond delay="0"/>
                                  </p:stCondLst>
                                  <p:childTnLst>
                                    <p:anim calcmode="discrete" valueType="str">
                                      <p:cBhvr>
                                        <p:cTn id="29" dur="1000" fill="hold"/>
                                        <p:tgtEl>
                                          <p:spTgt spid="50"/>
                                        </p:tgtEl>
                                        <p:attrNameLst>
                                          <p:attrName>style.visibility</p:attrName>
                                        </p:attrNameLst>
                                      </p:cBhvr>
                                      <p:tavLst>
                                        <p:tav tm="0">
                                          <p:val>
                                            <p:strVal val="hidden"/>
                                          </p:val>
                                        </p:tav>
                                        <p:tav tm="50000">
                                          <p:val>
                                            <p:strVal val="visible"/>
                                          </p:val>
                                        </p:tav>
                                      </p:tavLst>
                                    </p:anim>
                                  </p:childTnLst>
                                </p:cTn>
                              </p:par>
                            </p:childTnLst>
                          </p:cTn>
                        </p:par>
                      </p:childTnLst>
                    </p:cTn>
                  </p:par>
                  <p:par>
                    <p:cTn id="30" fill="hold">
                      <p:stCondLst>
                        <p:cond delay="indefinite"/>
                      </p:stCondLst>
                      <p:childTnLst>
                        <p:par>
                          <p:cTn id="31" fill="hold">
                            <p:stCondLst>
                              <p:cond delay="0"/>
                            </p:stCondLst>
                            <p:childTnLst>
                              <p:par>
                                <p:cTn id="32" presetID="35" presetClass="emph" presetSubtype="0" repeatCount="3000" fill="hold" grpId="0" nodeType="clickEffect">
                                  <p:stCondLst>
                                    <p:cond delay="0"/>
                                  </p:stCondLst>
                                  <p:childTnLst>
                                    <p:anim calcmode="discrete" valueType="str">
                                      <p:cBhvr>
                                        <p:cTn id="33" dur="1000" fill="hold"/>
                                        <p:tgtEl>
                                          <p:spTgt spid="47"/>
                                        </p:tgtEl>
                                        <p:attrNameLst>
                                          <p:attrName>style.visibility</p:attrName>
                                        </p:attrNameLst>
                                      </p:cBhvr>
                                      <p:tavLst>
                                        <p:tav tm="0">
                                          <p:val>
                                            <p:strVal val="hidden"/>
                                          </p:val>
                                        </p:tav>
                                        <p:tav tm="50000">
                                          <p:val>
                                            <p:strVal val="visible"/>
                                          </p:val>
                                        </p:tav>
                                      </p:tavLst>
                                    </p:anim>
                                  </p:childTnLst>
                                </p:cTn>
                              </p:par>
                              <p:par>
                                <p:cTn id="34" presetID="35" presetClass="emph" presetSubtype="0" repeatCount="3000" fill="hold" grpId="0" nodeType="withEffect">
                                  <p:stCondLst>
                                    <p:cond delay="0"/>
                                  </p:stCondLst>
                                  <p:childTnLst>
                                    <p:anim calcmode="discrete" valueType="str">
                                      <p:cBhvr>
                                        <p:cTn id="35" dur="1000" fill="hold"/>
                                        <p:tgtEl>
                                          <p:spTgt spid="62"/>
                                        </p:tgtEl>
                                        <p:attrNameLst>
                                          <p:attrName>style.visibility</p:attrName>
                                        </p:attrNameLst>
                                      </p:cBhvr>
                                      <p:tavLst>
                                        <p:tav tm="0">
                                          <p:val>
                                            <p:strVal val="hidden"/>
                                          </p:val>
                                        </p:tav>
                                        <p:tav tm="50000">
                                          <p:val>
                                            <p:strVal val="visible"/>
                                          </p:val>
                                        </p:tav>
                                      </p:tavLst>
                                    </p:anim>
                                  </p:childTnLst>
                                </p:cTn>
                              </p:par>
                              <p:par>
                                <p:cTn id="36" presetID="35" presetClass="emph" presetSubtype="0" repeatCount="3000" fill="hold" grpId="0" nodeType="withEffect">
                                  <p:stCondLst>
                                    <p:cond delay="0"/>
                                  </p:stCondLst>
                                  <p:childTnLst>
                                    <p:anim calcmode="discrete" valueType="str">
                                      <p:cBhvr>
                                        <p:cTn id="37" dur="1000" fill="hold"/>
                                        <p:tgtEl>
                                          <p:spTgt spid="66"/>
                                        </p:tgtEl>
                                        <p:attrNameLst>
                                          <p:attrName>style.visibility</p:attrName>
                                        </p:attrNameLst>
                                      </p:cBhvr>
                                      <p:tavLst>
                                        <p:tav tm="0">
                                          <p:val>
                                            <p:strVal val="hidden"/>
                                          </p:val>
                                        </p:tav>
                                        <p:tav tm="50000">
                                          <p:val>
                                            <p:strVal val="visible"/>
                                          </p:val>
                                        </p:tav>
                                      </p:tavLst>
                                    </p:anim>
                                  </p:childTnLst>
                                </p:cTn>
                              </p:par>
                            </p:childTnLst>
                          </p:cTn>
                        </p:par>
                      </p:childTnLst>
                    </p:cTn>
                  </p:par>
                  <p:par>
                    <p:cTn id="38" fill="hold">
                      <p:stCondLst>
                        <p:cond delay="indefinite"/>
                      </p:stCondLst>
                      <p:childTnLst>
                        <p:par>
                          <p:cTn id="39" fill="hold">
                            <p:stCondLst>
                              <p:cond delay="0"/>
                            </p:stCondLst>
                            <p:childTnLst>
                              <p:par>
                                <p:cTn id="40" presetID="35" presetClass="emph" presetSubtype="0" repeatCount="3000" fill="hold" grpId="0" nodeType="clickEffect">
                                  <p:stCondLst>
                                    <p:cond delay="0"/>
                                  </p:stCondLst>
                                  <p:childTnLst>
                                    <p:anim calcmode="discrete" valueType="str">
                                      <p:cBhvr>
                                        <p:cTn id="41" dur="1000" fill="hold"/>
                                        <p:tgtEl>
                                          <p:spTgt spid="61"/>
                                        </p:tgtEl>
                                        <p:attrNameLst>
                                          <p:attrName>style.visibility</p:attrName>
                                        </p:attrNameLst>
                                      </p:cBhvr>
                                      <p:tavLst>
                                        <p:tav tm="0">
                                          <p:val>
                                            <p:strVal val="hidden"/>
                                          </p:val>
                                        </p:tav>
                                        <p:tav tm="50000">
                                          <p:val>
                                            <p:strVal val="visible"/>
                                          </p:val>
                                        </p:tav>
                                      </p:tavLst>
                                    </p:anim>
                                  </p:childTnLst>
                                </p:cTn>
                              </p:par>
                              <p:par>
                                <p:cTn id="42" presetID="35" presetClass="emph" presetSubtype="0" repeatCount="3000" fill="hold" grpId="0" nodeType="withEffect">
                                  <p:stCondLst>
                                    <p:cond delay="0"/>
                                  </p:stCondLst>
                                  <p:childTnLst>
                                    <p:anim calcmode="discrete" valueType="str">
                                      <p:cBhvr>
                                        <p:cTn id="43" dur="1000" fill="hold"/>
                                        <p:tgtEl>
                                          <p:spTgt spid="51"/>
                                        </p:tgtEl>
                                        <p:attrNameLst>
                                          <p:attrName>style.visibility</p:attrName>
                                        </p:attrNameLst>
                                      </p:cBhvr>
                                      <p:tavLst>
                                        <p:tav tm="0">
                                          <p:val>
                                            <p:strVal val="hidden"/>
                                          </p:val>
                                        </p:tav>
                                        <p:tav tm="50000">
                                          <p:val>
                                            <p:strVal val="visible"/>
                                          </p:val>
                                        </p:tav>
                                      </p:tavLst>
                                    </p:anim>
                                  </p:childTnLst>
                                </p:cTn>
                              </p:par>
                            </p:childTnLst>
                          </p:cTn>
                        </p:par>
                      </p:childTnLst>
                    </p:cTn>
                  </p:par>
                  <p:par>
                    <p:cTn id="44" fill="hold">
                      <p:stCondLst>
                        <p:cond delay="indefinite"/>
                      </p:stCondLst>
                      <p:childTnLst>
                        <p:par>
                          <p:cTn id="45" fill="hold">
                            <p:stCondLst>
                              <p:cond delay="0"/>
                            </p:stCondLst>
                            <p:childTnLst>
                              <p:par>
                                <p:cTn id="46" presetID="35" presetClass="emph" presetSubtype="0" repeatCount="3000" fill="hold" grpId="0" nodeType="clickEffect">
                                  <p:stCondLst>
                                    <p:cond delay="0"/>
                                  </p:stCondLst>
                                  <p:childTnLst>
                                    <p:anim calcmode="discrete" valueType="str">
                                      <p:cBhvr>
                                        <p:cTn id="47" dur="1000" fill="hold"/>
                                        <p:tgtEl>
                                          <p:spTgt spid="53"/>
                                        </p:tgtEl>
                                        <p:attrNameLst>
                                          <p:attrName>style.visibility</p:attrName>
                                        </p:attrNameLst>
                                      </p:cBhvr>
                                      <p:tavLst>
                                        <p:tav tm="0">
                                          <p:val>
                                            <p:strVal val="hidden"/>
                                          </p:val>
                                        </p:tav>
                                        <p:tav tm="50000">
                                          <p:val>
                                            <p:strVal val="visible"/>
                                          </p:val>
                                        </p:tav>
                                      </p:tavLst>
                                    </p:anim>
                                  </p:childTnLst>
                                </p:cTn>
                              </p:par>
                              <p:par>
                                <p:cTn id="48" presetID="35" presetClass="emph" presetSubtype="0" repeatCount="3000" fill="hold" grpId="0" nodeType="withEffect">
                                  <p:stCondLst>
                                    <p:cond delay="0"/>
                                  </p:stCondLst>
                                  <p:childTnLst>
                                    <p:anim calcmode="discrete" valueType="str">
                                      <p:cBhvr>
                                        <p:cTn id="49" dur="1000" fill="hold"/>
                                        <p:tgtEl>
                                          <p:spTgt spid="70"/>
                                        </p:tgtEl>
                                        <p:attrNameLst>
                                          <p:attrName>style.visibility</p:attrName>
                                        </p:attrNameLst>
                                      </p:cBhvr>
                                      <p:tavLst>
                                        <p:tav tm="0">
                                          <p:val>
                                            <p:strVal val="hidden"/>
                                          </p:val>
                                        </p:tav>
                                        <p:tav tm="50000">
                                          <p:val>
                                            <p:strVal val="visible"/>
                                          </p:val>
                                        </p:tav>
                                      </p:tavLst>
                                    </p:anim>
                                  </p:childTnLst>
                                </p:cTn>
                              </p:par>
                              <p:par>
                                <p:cTn id="50" presetID="35" presetClass="emph" presetSubtype="0" repeatCount="3000" fill="hold" grpId="0" nodeType="withEffect">
                                  <p:stCondLst>
                                    <p:cond delay="0"/>
                                  </p:stCondLst>
                                  <p:childTnLst>
                                    <p:anim calcmode="discrete" valueType="str">
                                      <p:cBhvr>
                                        <p:cTn id="51" dur="1000" fill="hold"/>
                                        <p:tgtEl>
                                          <p:spTgt spid="72"/>
                                        </p:tgtEl>
                                        <p:attrNameLst>
                                          <p:attrName>style.visibility</p:attrName>
                                        </p:attrNameLst>
                                      </p:cBhvr>
                                      <p:tavLst>
                                        <p:tav tm="0">
                                          <p:val>
                                            <p:strVal val="hidden"/>
                                          </p:val>
                                        </p:tav>
                                        <p:tav tm="50000">
                                          <p:val>
                                            <p:strVal val="visible"/>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12">
                                            <p:txEl>
                                              <p:pRg st="2" end="2"/>
                                            </p:txEl>
                                          </p:spTgt>
                                        </p:tgtEl>
                                        <p:attrNameLst>
                                          <p:attrName>style.visibility</p:attrName>
                                        </p:attrNameLst>
                                      </p:cBhvr>
                                      <p:to>
                                        <p:strVal val="visible"/>
                                      </p:to>
                                    </p:set>
                                    <p:animEffect transition="in" filter="fade">
                                      <p:cBhvr>
                                        <p:cTn id="56" dur="1000"/>
                                        <p:tgtEl>
                                          <p:spTgt spid="112">
                                            <p:txEl>
                                              <p:pRg st="2" end="2"/>
                                            </p:txEl>
                                          </p:spTgt>
                                        </p:tgtEl>
                                      </p:cBhvr>
                                    </p:animEffect>
                                    <p:anim calcmode="lin" valueType="num">
                                      <p:cBhvr>
                                        <p:cTn id="57" dur="1000" fill="hold"/>
                                        <p:tgtEl>
                                          <p:spTgt spid="112">
                                            <p:txEl>
                                              <p:pRg st="2" end="2"/>
                                            </p:txEl>
                                          </p:spTgt>
                                        </p:tgtEl>
                                        <p:attrNameLst>
                                          <p:attrName>ppt_x</p:attrName>
                                        </p:attrNameLst>
                                      </p:cBhvr>
                                      <p:tavLst>
                                        <p:tav tm="0">
                                          <p:val>
                                            <p:strVal val="#ppt_x"/>
                                          </p:val>
                                        </p:tav>
                                        <p:tav tm="100000">
                                          <p:val>
                                            <p:strVal val="#ppt_x"/>
                                          </p:val>
                                        </p:tav>
                                      </p:tavLst>
                                    </p:anim>
                                    <p:anim calcmode="lin" valueType="num">
                                      <p:cBhvr>
                                        <p:cTn id="58" dur="1000" fill="hold"/>
                                        <p:tgtEl>
                                          <p:spTgt spid="1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12">
                                            <p:txEl>
                                              <p:pRg st="3" end="3"/>
                                            </p:txEl>
                                          </p:spTgt>
                                        </p:tgtEl>
                                        <p:attrNameLst>
                                          <p:attrName>style.visibility</p:attrName>
                                        </p:attrNameLst>
                                      </p:cBhvr>
                                      <p:to>
                                        <p:strVal val="visible"/>
                                      </p:to>
                                    </p:set>
                                    <p:animEffect transition="in" filter="fade">
                                      <p:cBhvr>
                                        <p:cTn id="63" dur="1000"/>
                                        <p:tgtEl>
                                          <p:spTgt spid="112">
                                            <p:txEl>
                                              <p:pRg st="3" end="3"/>
                                            </p:txEl>
                                          </p:spTgt>
                                        </p:tgtEl>
                                      </p:cBhvr>
                                    </p:animEffect>
                                    <p:anim calcmode="lin" valueType="num">
                                      <p:cBhvr>
                                        <p:cTn id="64" dur="1000" fill="hold"/>
                                        <p:tgtEl>
                                          <p:spTgt spid="112">
                                            <p:txEl>
                                              <p:pRg st="3" end="3"/>
                                            </p:txEl>
                                          </p:spTgt>
                                        </p:tgtEl>
                                        <p:attrNameLst>
                                          <p:attrName>ppt_x</p:attrName>
                                        </p:attrNameLst>
                                      </p:cBhvr>
                                      <p:tavLst>
                                        <p:tav tm="0">
                                          <p:val>
                                            <p:strVal val="#ppt_x"/>
                                          </p:val>
                                        </p:tav>
                                        <p:tav tm="100000">
                                          <p:val>
                                            <p:strVal val="#ppt_x"/>
                                          </p:val>
                                        </p:tav>
                                      </p:tavLst>
                                    </p:anim>
                                    <p:anim calcmode="lin" valueType="num">
                                      <p:cBhvr>
                                        <p:cTn id="65" dur="1000" fill="hold"/>
                                        <p:tgtEl>
                                          <p:spTgt spid="11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0" grpId="0" animBg="1"/>
      <p:bldP spid="31" grpId="0" animBg="1"/>
      <p:bldP spid="38" grpId="0" animBg="1"/>
      <p:bldP spid="47" grpId="0"/>
      <p:bldP spid="48" grpId="0" animBg="1"/>
      <p:bldP spid="50" grpId="0" animBg="1"/>
      <p:bldP spid="51" grpId="0" animBg="1"/>
      <p:bldP spid="53" grpId="0" animBg="1"/>
      <p:bldP spid="61" grpId="0"/>
      <p:bldP spid="62" grpId="0"/>
      <p:bldP spid="66" grpId="0"/>
      <p:bldP spid="70" grpId="0" animBg="1"/>
      <p:bldP spid="72"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C031C-0147-BA7B-44D3-50B269F8963E}"/>
            </a:ext>
          </a:extLst>
        </p:cNvPr>
        <p:cNvGrpSpPr/>
        <p:nvPr/>
      </p:nvGrpSpPr>
      <p:grpSpPr>
        <a:xfrm>
          <a:off x="0" y="0"/>
          <a:ext cx="0" cy="0"/>
          <a:chOff x="0" y="0"/>
          <a:chExt cx="0" cy="0"/>
        </a:xfrm>
      </p:grpSpPr>
      <p:sp>
        <p:nvSpPr>
          <p:cNvPr id="115" name="圆角矩形 3">
            <a:extLst>
              <a:ext uri="{FF2B5EF4-FFF2-40B4-BE49-F238E27FC236}">
                <a16:creationId xmlns:a16="http://schemas.microsoft.com/office/drawing/2014/main" id="{38BCCA50-A68B-159C-62BA-E7082D4FBE85}"/>
              </a:ext>
            </a:extLst>
          </p:cNvPr>
          <p:cNvSpPr/>
          <p:nvPr/>
        </p:nvSpPr>
        <p:spPr>
          <a:xfrm>
            <a:off x="4092715" y="1034498"/>
            <a:ext cx="4736654" cy="374889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AutoShape 5">
            <a:extLst>
              <a:ext uri="{FF2B5EF4-FFF2-40B4-BE49-F238E27FC236}">
                <a16:creationId xmlns:a16="http://schemas.microsoft.com/office/drawing/2014/main" id="{A69F2834-2065-3C4A-9D17-3D6394DF1BF1}"/>
              </a:ext>
            </a:extLst>
          </p:cNvPr>
          <p:cNvSpPr>
            <a:spLocks noChangeArrowheads="1"/>
          </p:cNvSpPr>
          <p:nvPr/>
        </p:nvSpPr>
        <p:spPr bwMode="auto">
          <a:xfrm>
            <a:off x="556963" y="62060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5" name="Rectangle 6">
            <a:extLst>
              <a:ext uri="{FF2B5EF4-FFF2-40B4-BE49-F238E27FC236}">
                <a16:creationId xmlns:a16="http://schemas.microsoft.com/office/drawing/2014/main" id="{B6E2684E-97DB-B31F-A8F3-2D40FCCEF094}"/>
              </a:ext>
            </a:extLst>
          </p:cNvPr>
          <p:cNvSpPr>
            <a:spLocks noChangeArrowheads="1"/>
          </p:cNvSpPr>
          <p:nvPr/>
        </p:nvSpPr>
        <p:spPr bwMode="auto">
          <a:xfrm>
            <a:off x="2821895" y="587392"/>
            <a:ext cx="35189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对未按序到达分组的处理方式</a:t>
            </a:r>
          </a:p>
        </p:txBody>
      </p:sp>
      <p:sp>
        <p:nvSpPr>
          <p:cNvPr id="5" name="Text Box 4">
            <a:extLst>
              <a:ext uri="{FF2B5EF4-FFF2-40B4-BE49-F238E27FC236}">
                <a16:creationId xmlns:a16="http://schemas.microsoft.com/office/drawing/2014/main" id="{A80A90CD-9AA3-2396-F429-6FFC0511DF62}"/>
              </a:ext>
            </a:extLst>
          </p:cNvPr>
          <p:cNvSpPr txBox="1">
            <a:spLocks noChangeArrowheads="1"/>
          </p:cNvSpPr>
          <p:nvPr/>
        </p:nvSpPr>
        <p:spPr bwMode="auto">
          <a:xfrm>
            <a:off x="5478642" y="1203072"/>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0"/>
              </a:spcBef>
              <a:spcAft>
                <a:spcPts val="0"/>
              </a:spcAft>
              <a:buClrTx/>
              <a:buSzTx/>
              <a:buFontTx/>
              <a:buNone/>
            </a:pPr>
            <a:r>
              <a:rPr lang="zh-CN" altLang="en-US" sz="1200" b="1">
                <a:solidFill>
                  <a:prstClr val="black"/>
                </a:solidFill>
                <a:latin typeface="微软雅黑"/>
                <a:ea typeface="微软雅黑"/>
              </a:rPr>
              <a:t>发送方</a:t>
            </a:r>
            <a:endParaRPr lang="zh-CN" altLang="en-US" sz="1050" b="1">
              <a:solidFill>
                <a:prstClr val="black"/>
              </a:solidFill>
              <a:latin typeface="微软雅黑"/>
              <a:ea typeface="微软雅黑"/>
            </a:endParaRPr>
          </a:p>
        </p:txBody>
      </p:sp>
      <p:sp>
        <p:nvSpPr>
          <p:cNvPr id="11" name="Text Box 6">
            <a:extLst>
              <a:ext uri="{FF2B5EF4-FFF2-40B4-BE49-F238E27FC236}">
                <a16:creationId xmlns:a16="http://schemas.microsoft.com/office/drawing/2014/main" id="{8E7668C2-9B42-ABD9-A3AE-BFD98F22B16F}"/>
              </a:ext>
            </a:extLst>
          </p:cNvPr>
          <p:cNvSpPr txBox="1">
            <a:spLocks noChangeArrowheads="1"/>
          </p:cNvSpPr>
          <p:nvPr/>
        </p:nvSpPr>
        <p:spPr bwMode="auto">
          <a:xfrm>
            <a:off x="6789187" y="1212087"/>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0"/>
              </a:spcBef>
              <a:spcAft>
                <a:spcPts val="0"/>
              </a:spcAft>
              <a:buClrTx/>
              <a:buSzTx/>
              <a:buFontTx/>
              <a:buNone/>
            </a:pPr>
            <a:r>
              <a:rPr lang="zh-CN" altLang="en-US" sz="1200" b="1" dirty="0">
                <a:solidFill>
                  <a:prstClr val="black"/>
                </a:solidFill>
                <a:latin typeface="微软雅黑"/>
                <a:ea typeface="微软雅黑"/>
              </a:rPr>
              <a:t>接收方</a:t>
            </a:r>
            <a:endParaRPr lang="zh-CN" altLang="en-US" sz="1050" b="1" dirty="0">
              <a:solidFill>
                <a:prstClr val="black"/>
              </a:solidFill>
              <a:latin typeface="微软雅黑"/>
              <a:ea typeface="微软雅黑"/>
            </a:endParaRPr>
          </a:p>
        </p:txBody>
      </p:sp>
      <p:sp>
        <p:nvSpPr>
          <p:cNvPr id="26" name="Line 7">
            <a:extLst>
              <a:ext uri="{FF2B5EF4-FFF2-40B4-BE49-F238E27FC236}">
                <a16:creationId xmlns:a16="http://schemas.microsoft.com/office/drawing/2014/main" id="{79A09151-9434-4BF1-A59D-2705BBE810CE}"/>
              </a:ext>
            </a:extLst>
          </p:cNvPr>
          <p:cNvSpPr>
            <a:spLocks noChangeShapeType="1"/>
          </p:cNvSpPr>
          <p:nvPr/>
        </p:nvSpPr>
        <p:spPr bwMode="auto">
          <a:xfrm>
            <a:off x="5797571" y="1517937"/>
            <a:ext cx="0" cy="3124835"/>
          </a:xfrm>
          <a:prstGeom prst="line">
            <a:avLst/>
          </a:prstGeom>
          <a:noFill/>
          <a:ln w="19050">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prstClr val="black"/>
              </a:solidFill>
              <a:effectLst/>
              <a:uLnTx/>
              <a:uFillTx/>
              <a:latin typeface="微软雅黑"/>
              <a:ea typeface="微软雅黑"/>
            </a:endParaRPr>
          </a:p>
        </p:txBody>
      </p:sp>
      <p:sp>
        <p:nvSpPr>
          <p:cNvPr id="27" name="Line 8">
            <a:extLst>
              <a:ext uri="{FF2B5EF4-FFF2-40B4-BE49-F238E27FC236}">
                <a16:creationId xmlns:a16="http://schemas.microsoft.com/office/drawing/2014/main" id="{B848B0E4-0E81-9323-63CB-5228B0924CF6}"/>
              </a:ext>
            </a:extLst>
          </p:cNvPr>
          <p:cNvSpPr>
            <a:spLocks noChangeShapeType="1"/>
          </p:cNvSpPr>
          <p:nvPr/>
        </p:nvSpPr>
        <p:spPr bwMode="auto">
          <a:xfrm>
            <a:off x="7113291" y="1549052"/>
            <a:ext cx="0" cy="3124835"/>
          </a:xfrm>
          <a:prstGeom prst="line">
            <a:avLst/>
          </a:prstGeom>
          <a:noFill/>
          <a:ln w="19050">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prstClr val="black"/>
              </a:solidFill>
              <a:effectLst/>
              <a:uLnTx/>
              <a:uFillTx/>
              <a:latin typeface="微软雅黑"/>
              <a:ea typeface="微软雅黑"/>
            </a:endParaRPr>
          </a:p>
        </p:txBody>
      </p:sp>
      <p:sp>
        <p:nvSpPr>
          <p:cNvPr id="28" name="Line 12">
            <a:extLst>
              <a:ext uri="{FF2B5EF4-FFF2-40B4-BE49-F238E27FC236}">
                <a16:creationId xmlns:a16="http://schemas.microsoft.com/office/drawing/2014/main" id="{ACADF5AC-0F51-47C0-857A-3EC78D45253A}"/>
              </a:ext>
            </a:extLst>
          </p:cNvPr>
          <p:cNvSpPr>
            <a:spLocks noChangeShapeType="1"/>
          </p:cNvSpPr>
          <p:nvPr/>
        </p:nvSpPr>
        <p:spPr bwMode="auto">
          <a:xfrm>
            <a:off x="5838687" y="1740187"/>
            <a:ext cx="1226820" cy="533400"/>
          </a:xfrm>
          <a:prstGeom prst="line">
            <a:avLst/>
          </a:prstGeom>
          <a:noFill/>
          <a:ln w="28575">
            <a:solidFill>
              <a:srgbClr val="1F497D"/>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prstClr val="black"/>
              </a:solidFill>
              <a:effectLst/>
              <a:uLnTx/>
              <a:uFillTx/>
              <a:latin typeface="微软雅黑"/>
              <a:ea typeface="微软雅黑"/>
            </a:endParaRPr>
          </a:p>
        </p:txBody>
      </p:sp>
      <p:sp>
        <p:nvSpPr>
          <p:cNvPr id="29" name="Text Box 14">
            <a:extLst>
              <a:ext uri="{FF2B5EF4-FFF2-40B4-BE49-F238E27FC236}">
                <a16:creationId xmlns:a16="http://schemas.microsoft.com/office/drawing/2014/main" id="{B2DBACC3-3633-51DE-175A-D23A40BAE223}"/>
              </a:ext>
            </a:extLst>
          </p:cNvPr>
          <p:cNvSpPr txBox="1">
            <a:spLocks noChangeArrowheads="1"/>
          </p:cNvSpPr>
          <p:nvPr/>
        </p:nvSpPr>
        <p:spPr bwMode="auto">
          <a:xfrm>
            <a:off x="4890607" y="1623131"/>
            <a:ext cx="122682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50000"/>
              </a:spcBef>
              <a:spcAft>
                <a:spcPts val="0"/>
              </a:spcAft>
              <a:buClrTx/>
              <a:buSzTx/>
              <a:buFontTx/>
              <a:buNone/>
            </a:pPr>
            <a:r>
              <a:rPr lang="zh-CN" altLang="en-US" sz="1100" b="1" dirty="0">
                <a:solidFill>
                  <a:prstClr val="black"/>
                </a:solidFill>
                <a:latin typeface="微软雅黑"/>
                <a:ea typeface="微软雅黑"/>
              </a:rPr>
              <a:t>发送</a:t>
            </a:r>
            <a:r>
              <a:rPr lang="en-US" altLang="zh-CN" sz="1100" b="1" dirty="0">
                <a:solidFill>
                  <a:prstClr val="black"/>
                </a:solidFill>
                <a:latin typeface="微软雅黑"/>
                <a:ea typeface="微软雅黑"/>
              </a:rPr>
              <a:t>M0</a:t>
            </a:r>
          </a:p>
        </p:txBody>
      </p:sp>
      <p:sp>
        <p:nvSpPr>
          <p:cNvPr id="30" name="Line 15">
            <a:extLst>
              <a:ext uri="{FF2B5EF4-FFF2-40B4-BE49-F238E27FC236}">
                <a16:creationId xmlns:a16="http://schemas.microsoft.com/office/drawing/2014/main" id="{C90F80FF-378D-2ACD-9483-2DD1EB78080E}"/>
              </a:ext>
            </a:extLst>
          </p:cNvPr>
          <p:cNvSpPr>
            <a:spLocks noChangeShapeType="1"/>
          </p:cNvSpPr>
          <p:nvPr/>
        </p:nvSpPr>
        <p:spPr bwMode="auto">
          <a:xfrm>
            <a:off x="5838687" y="1900207"/>
            <a:ext cx="1226820" cy="533400"/>
          </a:xfrm>
          <a:prstGeom prst="line">
            <a:avLst/>
          </a:prstGeom>
          <a:noFill/>
          <a:ln w="28575">
            <a:solidFill>
              <a:srgbClr val="1F497D"/>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prstClr val="black"/>
              </a:solidFill>
              <a:effectLst/>
              <a:uLnTx/>
              <a:uFillTx/>
              <a:latin typeface="微软雅黑"/>
              <a:ea typeface="微软雅黑"/>
            </a:endParaRPr>
          </a:p>
        </p:txBody>
      </p:sp>
      <p:sp>
        <p:nvSpPr>
          <p:cNvPr id="31" name="Line 16">
            <a:extLst>
              <a:ext uri="{FF2B5EF4-FFF2-40B4-BE49-F238E27FC236}">
                <a16:creationId xmlns:a16="http://schemas.microsoft.com/office/drawing/2014/main" id="{14DC5F5A-3598-A103-1DB0-3CCDB15A5DA6}"/>
              </a:ext>
            </a:extLst>
          </p:cNvPr>
          <p:cNvSpPr>
            <a:spLocks noChangeShapeType="1"/>
          </p:cNvSpPr>
          <p:nvPr/>
        </p:nvSpPr>
        <p:spPr bwMode="auto">
          <a:xfrm>
            <a:off x="5838687" y="2060227"/>
            <a:ext cx="1226820" cy="533400"/>
          </a:xfrm>
          <a:prstGeom prst="line">
            <a:avLst/>
          </a:prstGeom>
          <a:noFill/>
          <a:ln w="28575">
            <a:solidFill>
              <a:srgbClr val="1F497D"/>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prstClr val="black"/>
              </a:solidFill>
              <a:effectLst/>
              <a:uLnTx/>
              <a:uFillTx/>
              <a:latin typeface="微软雅黑"/>
              <a:ea typeface="微软雅黑"/>
            </a:endParaRPr>
          </a:p>
        </p:txBody>
      </p:sp>
      <p:sp>
        <p:nvSpPr>
          <p:cNvPr id="38" name="Line 17">
            <a:extLst>
              <a:ext uri="{FF2B5EF4-FFF2-40B4-BE49-F238E27FC236}">
                <a16:creationId xmlns:a16="http://schemas.microsoft.com/office/drawing/2014/main" id="{94BDF4F9-118C-35FC-C62A-F72BECCD9293}"/>
              </a:ext>
            </a:extLst>
          </p:cNvPr>
          <p:cNvSpPr>
            <a:spLocks noChangeShapeType="1"/>
          </p:cNvSpPr>
          <p:nvPr/>
        </p:nvSpPr>
        <p:spPr bwMode="auto">
          <a:xfrm>
            <a:off x="5838687" y="2220247"/>
            <a:ext cx="1226820" cy="533400"/>
          </a:xfrm>
          <a:prstGeom prst="line">
            <a:avLst/>
          </a:prstGeom>
          <a:noFill/>
          <a:ln w="28575">
            <a:solidFill>
              <a:srgbClr val="1F497D"/>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prstClr val="black"/>
              </a:solidFill>
              <a:effectLst/>
              <a:uLnTx/>
              <a:uFillTx/>
              <a:latin typeface="微软雅黑"/>
              <a:ea typeface="微软雅黑"/>
            </a:endParaRPr>
          </a:p>
        </p:txBody>
      </p:sp>
      <p:sp>
        <p:nvSpPr>
          <p:cNvPr id="39" name="Line 18">
            <a:extLst>
              <a:ext uri="{FF2B5EF4-FFF2-40B4-BE49-F238E27FC236}">
                <a16:creationId xmlns:a16="http://schemas.microsoft.com/office/drawing/2014/main" id="{F50DBC55-E268-0C72-BB9B-16EB18EE0CF5}"/>
              </a:ext>
            </a:extLst>
          </p:cNvPr>
          <p:cNvSpPr>
            <a:spLocks noChangeShapeType="1"/>
          </p:cNvSpPr>
          <p:nvPr/>
        </p:nvSpPr>
        <p:spPr bwMode="auto">
          <a:xfrm flipV="1">
            <a:off x="5838687" y="2486947"/>
            <a:ext cx="1226820" cy="586740"/>
          </a:xfrm>
          <a:prstGeom prst="line">
            <a:avLst/>
          </a:prstGeom>
          <a:noFill/>
          <a:ln w="28575">
            <a:solidFill>
              <a:srgbClr val="0099FF"/>
            </a:solidFill>
            <a:round/>
            <a:headEnd type="triangle" w="med" len="med"/>
            <a:tailEnd/>
          </a:ln>
          <a:extLst>
            <a:ext uri="{909E8E84-426E-40DD-AFC4-6F175D3DCCD1}">
              <a14:hiddenFill xmlns:a14="http://schemas.microsoft.com/office/drawing/2010/main">
                <a:noFill/>
              </a14:hiddenFill>
            </a:ext>
          </a:extLst>
        </p:spPr>
        <p:txBody>
          <a:bodyPr wrap="none" anchor="ctr"/>
          <a:lstStyle/>
          <a:p>
            <a:pPr defTabSz="1219627" fontAlgn="auto">
              <a:spcBef>
                <a:spcPts val="0"/>
              </a:spcBef>
              <a:spcAft>
                <a:spcPts val="0"/>
              </a:spcAft>
            </a:pPr>
            <a:endParaRPr lang="zh-CN" altLang="en-US" sz="1400" b="1">
              <a:solidFill>
                <a:prstClr val="black"/>
              </a:solidFill>
              <a:latin typeface="微软雅黑"/>
              <a:ea typeface="微软雅黑"/>
            </a:endParaRPr>
          </a:p>
        </p:txBody>
      </p:sp>
      <p:sp>
        <p:nvSpPr>
          <p:cNvPr id="41" name="Line 19">
            <a:extLst>
              <a:ext uri="{FF2B5EF4-FFF2-40B4-BE49-F238E27FC236}">
                <a16:creationId xmlns:a16="http://schemas.microsoft.com/office/drawing/2014/main" id="{5ED48C0D-3395-CCE4-F2D7-0DD35D7A75D5}"/>
              </a:ext>
            </a:extLst>
          </p:cNvPr>
          <p:cNvSpPr>
            <a:spLocks noChangeShapeType="1"/>
          </p:cNvSpPr>
          <p:nvPr/>
        </p:nvSpPr>
        <p:spPr bwMode="auto">
          <a:xfrm flipV="1">
            <a:off x="5838687" y="2806987"/>
            <a:ext cx="1226820" cy="586740"/>
          </a:xfrm>
          <a:prstGeom prst="line">
            <a:avLst/>
          </a:prstGeom>
          <a:noFill/>
          <a:ln w="28575">
            <a:solidFill>
              <a:srgbClr val="0099FF"/>
            </a:solidFill>
            <a:round/>
            <a:headEnd type="triangle" w="med" len="med"/>
            <a:tailEnd/>
          </a:ln>
          <a:extLst>
            <a:ext uri="{909E8E84-426E-40DD-AFC4-6F175D3DCCD1}">
              <a14:hiddenFill xmlns:a14="http://schemas.microsoft.com/office/drawing/2010/main">
                <a:noFill/>
              </a14:hiddenFill>
            </a:ext>
          </a:extLst>
        </p:spPr>
        <p:txBody>
          <a:bodyPr wrap="none" anchor="ctr"/>
          <a:lstStyle/>
          <a:p>
            <a:pPr defTabSz="1219627" fontAlgn="auto">
              <a:spcBef>
                <a:spcPts val="0"/>
              </a:spcBef>
              <a:spcAft>
                <a:spcPts val="0"/>
              </a:spcAft>
            </a:pPr>
            <a:endParaRPr lang="zh-CN" altLang="en-US" sz="1400" b="1">
              <a:solidFill>
                <a:prstClr val="black"/>
              </a:solidFill>
              <a:latin typeface="微软雅黑"/>
              <a:ea typeface="微软雅黑"/>
            </a:endParaRPr>
          </a:p>
        </p:txBody>
      </p:sp>
      <p:sp>
        <p:nvSpPr>
          <p:cNvPr id="42" name="Text Box 20">
            <a:extLst>
              <a:ext uri="{FF2B5EF4-FFF2-40B4-BE49-F238E27FC236}">
                <a16:creationId xmlns:a16="http://schemas.microsoft.com/office/drawing/2014/main" id="{0FAD1F94-7519-ADA5-22BE-FBA60CB997D0}"/>
              </a:ext>
            </a:extLst>
          </p:cNvPr>
          <p:cNvSpPr txBox="1">
            <a:spLocks noChangeArrowheads="1"/>
          </p:cNvSpPr>
          <p:nvPr/>
        </p:nvSpPr>
        <p:spPr bwMode="auto">
          <a:xfrm>
            <a:off x="4890607" y="1783151"/>
            <a:ext cx="122682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50000"/>
              </a:spcBef>
              <a:spcAft>
                <a:spcPts val="0"/>
              </a:spcAft>
              <a:buClrTx/>
              <a:buSzTx/>
              <a:buFontTx/>
              <a:buNone/>
            </a:pPr>
            <a:r>
              <a:rPr lang="zh-CN" altLang="en-US" sz="1100" b="1" dirty="0">
                <a:solidFill>
                  <a:prstClr val="black"/>
                </a:solidFill>
                <a:latin typeface="微软雅黑"/>
                <a:ea typeface="微软雅黑"/>
              </a:rPr>
              <a:t>发送</a:t>
            </a:r>
            <a:r>
              <a:rPr lang="en-US" altLang="zh-CN" sz="1100" b="1" dirty="0">
                <a:solidFill>
                  <a:prstClr val="black"/>
                </a:solidFill>
                <a:latin typeface="微软雅黑"/>
                <a:ea typeface="微软雅黑"/>
              </a:rPr>
              <a:t>M1</a:t>
            </a:r>
          </a:p>
        </p:txBody>
      </p:sp>
      <p:sp>
        <p:nvSpPr>
          <p:cNvPr id="43" name="Text Box 21">
            <a:extLst>
              <a:ext uri="{FF2B5EF4-FFF2-40B4-BE49-F238E27FC236}">
                <a16:creationId xmlns:a16="http://schemas.microsoft.com/office/drawing/2014/main" id="{3555FD2B-2923-1F21-B255-25136B20787B}"/>
              </a:ext>
            </a:extLst>
          </p:cNvPr>
          <p:cNvSpPr txBox="1">
            <a:spLocks noChangeArrowheads="1"/>
          </p:cNvSpPr>
          <p:nvPr/>
        </p:nvSpPr>
        <p:spPr bwMode="auto">
          <a:xfrm>
            <a:off x="4890607" y="1943171"/>
            <a:ext cx="122682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50000"/>
              </a:spcBef>
              <a:spcAft>
                <a:spcPts val="0"/>
              </a:spcAft>
              <a:buClrTx/>
              <a:buSzTx/>
              <a:buFontTx/>
              <a:buNone/>
            </a:pPr>
            <a:r>
              <a:rPr lang="zh-CN" altLang="en-US" sz="1100" b="1" dirty="0">
                <a:solidFill>
                  <a:prstClr val="black"/>
                </a:solidFill>
                <a:latin typeface="微软雅黑"/>
                <a:ea typeface="微软雅黑"/>
              </a:rPr>
              <a:t>发送</a:t>
            </a:r>
            <a:r>
              <a:rPr lang="en-US" altLang="zh-CN" sz="1100" b="1" dirty="0">
                <a:solidFill>
                  <a:prstClr val="black"/>
                </a:solidFill>
                <a:latin typeface="微软雅黑"/>
                <a:ea typeface="微软雅黑"/>
              </a:rPr>
              <a:t>M2</a:t>
            </a:r>
          </a:p>
        </p:txBody>
      </p:sp>
      <p:sp>
        <p:nvSpPr>
          <p:cNvPr id="44" name="Text Box 22">
            <a:extLst>
              <a:ext uri="{FF2B5EF4-FFF2-40B4-BE49-F238E27FC236}">
                <a16:creationId xmlns:a16="http://schemas.microsoft.com/office/drawing/2014/main" id="{CDFA01DF-92B2-EFAC-D6DE-C2239013109D}"/>
              </a:ext>
            </a:extLst>
          </p:cNvPr>
          <p:cNvSpPr txBox="1">
            <a:spLocks noChangeArrowheads="1"/>
          </p:cNvSpPr>
          <p:nvPr/>
        </p:nvSpPr>
        <p:spPr bwMode="auto">
          <a:xfrm>
            <a:off x="4890607" y="2103191"/>
            <a:ext cx="122682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50000"/>
              </a:spcBef>
              <a:spcAft>
                <a:spcPts val="0"/>
              </a:spcAft>
              <a:buClrTx/>
              <a:buSzTx/>
              <a:buFontTx/>
              <a:buNone/>
            </a:pPr>
            <a:r>
              <a:rPr lang="zh-CN" altLang="en-US" sz="1100" b="1" dirty="0">
                <a:solidFill>
                  <a:prstClr val="black"/>
                </a:solidFill>
                <a:latin typeface="微软雅黑"/>
                <a:ea typeface="微软雅黑"/>
              </a:rPr>
              <a:t>发送</a:t>
            </a:r>
            <a:r>
              <a:rPr lang="en-US" altLang="zh-CN" sz="1100" b="1" dirty="0">
                <a:solidFill>
                  <a:prstClr val="black"/>
                </a:solidFill>
                <a:latin typeface="微软雅黑"/>
                <a:ea typeface="微软雅黑"/>
              </a:rPr>
              <a:t>M3</a:t>
            </a:r>
          </a:p>
        </p:txBody>
      </p:sp>
      <p:sp>
        <p:nvSpPr>
          <p:cNvPr id="45" name="Text Box 23">
            <a:extLst>
              <a:ext uri="{FF2B5EF4-FFF2-40B4-BE49-F238E27FC236}">
                <a16:creationId xmlns:a16="http://schemas.microsoft.com/office/drawing/2014/main" id="{6C1DFA54-9381-118E-CCDE-2F87DC69FBD7}"/>
              </a:ext>
            </a:extLst>
          </p:cNvPr>
          <p:cNvSpPr txBox="1">
            <a:spLocks noChangeArrowheads="1"/>
          </p:cNvSpPr>
          <p:nvPr/>
        </p:nvSpPr>
        <p:spPr bwMode="auto">
          <a:xfrm>
            <a:off x="7159201" y="2166907"/>
            <a:ext cx="999015"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defTabSz="1219627" fontAlgn="auto">
              <a:spcBef>
                <a:spcPct val="50000"/>
              </a:spcBef>
              <a:spcAft>
                <a:spcPts val="0"/>
              </a:spcAft>
              <a:buClrTx/>
              <a:buSzTx/>
              <a:buFontTx/>
              <a:buNone/>
            </a:pPr>
            <a:r>
              <a:rPr lang="zh-CN" altLang="en-US" sz="1100" b="1" dirty="0">
                <a:solidFill>
                  <a:prstClr val="black"/>
                </a:solidFill>
                <a:latin typeface="微软雅黑"/>
                <a:ea typeface="微软雅黑"/>
              </a:rPr>
              <a:t>发送</a:t>
            </a:r>
            <a:r>
              <a:rPr lang="en-US" altLang="zh-CN" sz="1100" b="1" dirty="0">
                <a:solidFill>
                  <a:prstClr val="black"/>
                </a:solidFill>
                <a:latin typeface="微软雅黑"/>
                <a:ea typeface="微软雅黑"/>
              </a:rPr>
              <a:t>ACK0</a:t>
            </a:r>
          </a:p>
        </p:txBody>
      </p:sp>
      <p:sp>
        <p:nvSpPr>
          <p:cNvPr id="46" name="Text Box 24">
            <a:extLst>
              <a:ext uri="{FF2B5EF4-FFF2-40B4-BE49-F238E27FC236}">
                <a16:creationId xmlns:a16="http://schemas.microsoft.com/office/drawing/2014/main" id="{97EE45D3-EBDA-CD60-59B4-9F1BE9B821FA}"/>
              </a:ext>
            </a:extLst>
          </p:cNvPr>
          <p:cNvSpPr txBox="1">
            <a:spLocks noChangeArrowheads="1"/>
          </p:cNvSpPr>
          <p:nvPr/>
        </p:nvSpPr>
        <p:spPr bwMode="auto">
          <a:xfrm>
            <a:off x="7159201" y="2345241"/>
            <a:ext cx="844289"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defTabSz="1219627" fontAlgn="auto">
              <a:spcBef>
                <a:spcPct val="50000"/>
              </a:spcBef>
              <a:spcAft>
                <a:spcPts val="0"/>
              </a:spcAft>
              <a:buClrTx/>
              <a:buSzTx/>
              <a:buFontTx/>
              <a:buNone/>
            </a:pPr>
            <a:r>
              <a:rPr lang="zh-CN" altLang="en-US" sz="1100" b="1" dirty="0">
                <a:solidFill>
                  <a:prstClr val="black"/>
                </a:solidFill>
                <a:latin typeface="微软雅黑"/>
                <a:ea typeface="微软雅黑"/>
              </a:rPr>
              <a:t>发送</a:t>
            </a:r>
            <a:r>
              <a:rPr lang="en-US" altLang="zh-CN" sz="1100" b="1" dirty="0">
                <a:solidFill>
                  <a:prstClr val="black"/>
                </a:solidFill>
                <a:latin typeface="微软雅黑"/>
                <a:ea typeface="微软雅黑"/>
              </a:rPr>
              <a:t>ACK1</a:t>
            </a:r>
          </a:p>
        </p:txBody>
      </p:sp>
      <p:sp>
        <p:nvSpPr>
          <p:cNvPr id="47" name="Text Box 26">
            <a:extLst>
              <a:ext uri="{FF2B5EF4-FFF2-40B4-BE49-F238E27FC236}">
                <a16:creationId xmlns:a16="http://schemas.microsoft.com/office/drawing/2014/main" id="{C968826F-C472-41B9-368C-7814EFCCE41A}"/>
              </a:ext>
            </a:extLst>
          </p:cNvPr>
          <p:cNvSpPr txBox="1">
            <a:spLocks noChangeArrowheads="1"/>
          </p:cNvSpPr>
          <p:nvPr/>
        </p:nvSpPr>
        <p:spPr bwMode="auto">
          <a:xfrm>
            <a:off x="7154407" y="2646968"/>
            <a:ext cx="1714289"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defTabSz="1219627" fontAlgn="auto">
              <a:spcBef>
                <a:spcPct val="50000"/>
              </a:spcBef>
              <a:spcAft>
                <a:spcPts val="0"/>
              </a:spcAft>
              <a:buClrTx/>
              <a:buSzTx/>
              <a:buFontTx/>
              <a:buNone/>
            </a:pPr>
            <a:r>
              <a:rPr lang="zh-CN" altLang="en-US" sz="1100" b="1" dirty="0">
                <a:solidFill>
                  <a:prstClr val="black"/>
                </a:solidFill>
                <a:latin typeface="微软雅黑"/>
                <a:ea typeface="微软雅黑"/>
              </a:rPr>
              <a:t>暂存不交付，发送</a:t>
            </a:r>
            <a:r>
              <a:rPr lang="en-US" altLang="zh-CN" sz="1100" b="1" dirty="0">
                <a:solidFill>
                  <a:prstClr val="black"/>
                </a:solidFill>
                <a:latin typeface="微软雅黑"/>
                <a:ea typeface="微软雅黑"/>
              </a:rPr>
              <a:t>ACK1</a:t>
            </a:r>
          </a:p>
        </p:txBody>
      </p:sp>
      <p:sp>
        <p:nvSpPr>
          <p:cNvPr id="48" name="Line 27">
            <a:extLst>
              <a:ext uri="{FF2B5EF4-FFF2-40B4-BE49-F238E27FC236}">
                <a16:creationId xmlns:a16="http://schemas.microsoft.com/office/drawing/2014/main" id="{E4FD7FAB-3DEF-687D-4AB0-1E2DF5BCCA6D}"/>
              </a:ext>
            </a:extLst>
          </p:cNvPr>
          <p:cNvSpPr>
            <a:spLocks noChangeShapeType="1"/>
          </p:cNvSpPr>
          <p:nvPr/>
        </p:nvSpPr>
        <p:spPr bwMode="auto">
          <a:xfrm>
            <a:off x="5838687" y="2967007"/>
            <a:ext cx="1226820" cy="533400"/>
          </a:xfrm>
          <a:prstGeom prst="line">
            <a:avLst/>
          </a:prstGeom>
          <a:noFill/>
          <a:ln w="28575">
            <a:solidFill>
              <a:srgbClr val="1F497D"/>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prstClr val="black"/>
              </a:solidFill>
              <a:effectLst/>
              <a:uLnTx/>
              <a:uFillTx/>
              <a:latin typeface="微软雅黑"/>
              <a:ea typeface="微软雅黑"/>
            </a:endParaRPr>
          </a:p>
        </p:txBody>
      </p:sp>
      <p:sp>
        <p:nvSpPr>
          <p:cNvPr id="49" name="Text Box 28">
            <a:extLst>
              <a:ext uri="{FF2B5EF4-FFF2-40B4-BE49-F238E27FC236}">
                <a16:creationId xmlns:a16="http://schemas.microsoft.com/office/drawing/2014/main" id="{4E1C5B02-51A3-1997-68FA-C9E4CF1D2CD9}"/>
              </a:ext>
            </a:extLst>
          </p:cNvPr>
          <p:cNvSpPr txBox="1">
            <a:spLocks noChangeArrowheads="1"/>
          </p:cNvSpPr>
          <p:nvPr/>
        </p:nvSpPr>
        <p:spPr bwMode="auto">
          <a:xfrm>
            <a:off x="4890607" y="2849951"/>
            <a:ext cx="122682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50000"/>
              </a:spcBef>
              <a:spcAft>
                <a:spcPts val="0"/>
              </a:spcAft>
              <a:buClrTx/>
              <a:buSzTx/>
              <a:buFontTx/>
              <a:buNone/>
            </a:pPr>
            <a:r>
              <a:rPr lang="zh-CN" altLang="en-US" sz="1100" b="1" dirty="0">
                <a:solidFill>
                  <a:prstClr val="black"/>
                </a:solidFill>
                <a:latin typeface="微软雅黑"/>
                <a:ea typeface="微软雅黑"/>
              </a:rPr>
              <a:t>发送</a:t>
            </a:r>
            <a:r>
              <a:rPr lang="en-US" altLang="zh-CN" sz="1100" b="1" dirty="0">
                <a:solidFill>
                  <a:prstClr val="black"/>
                </a:solidFill>
                <a:latin typeface="微软雅黑"/>
                <a:ea typeface="微软雅黑"/>
              </a:rPr>
              <a:t>M4</a:t>
            </a:r>
          </a:p>
        </p:txBody>
      </p:sp>
      <p:sp>
        <p:nvSpPr>
          <p:cNvPr id="50" name="Line 29">
            <a:extLst>
              <a:ext uri="{FF2B5EF4-FFF2-40B4-BE49-F238E27FC236}">
                <a16:creationId xmlns:a16="http://schemas.microsoft.com/office/drawing/2014/main" id="{A6152DD1-F24B-E6CE-F00C-2E159D6E7338}"/>
              </a:ext>
            </a:extLst>
          </p:cNvPr>
          <p:cNvSpPr>
            <a:spLocks noChangeShapeType="1"/>
          </p:cNvSpPr>
          <p:nvPr/>
        </p:nvSpPr>
        <p:spPr bwMode="auto">
          <a:xfrm>
            <a:off x="5838687" y="3127027"/>
            <a:ext cx="1226820" cy="533400"/>
          </a:xfrm>
          <a:prstGeom prst="line">
            <a:avLst/>
          </a:prstGeom>
          <a:noFill/>
          <a:ln w="28575">
            <a:solidFill>
              <a:srgbClr val="1F497D"/>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prstClr val="black"/>
              </a:solidFill>
              <a:effectLst/>
              <a:uLnTx/>
              <a:uFillTx/>
              <a:latin typeface="微软雅黑"/>
              <a:ea typeface="微软雅黑"/>
            </a:endParaRPr>
          </a:p>
        </p:txBody>
      </p:sp>
      <p:sp>
        <p:nvSpPr>
          <p:cNvPr id="51" name="Line 30">
            <a:extLst>
              <a:ext uri="{FF2B5EF4-FFF2-40B4-BE49-F238E27FC236}">
                <a16:creationId xmlns:a16="http://schemas.microsoft.com/office/drawing/2014/main" id="{ECE99034-8951-E662-08A8-31E44670F5EC}"/>
              </a:ext>
            </a:extLst>
          </p:cNvPr>
          <p:cNvSpPr>
            <a:spLocks noChangeShapeType="1"/>
          </p:cNvSpPr>
          <p:nvPr/>
        </p:nvSpPr>
        <p:spPr bwMode="auto">
          <a:xfrm>
            <a:off x="5838687" y="3607087"/>
            <a:ext cx="1226820" cy="533400"/>
          </a:xfrm>
          <a:prstGeom prst="line">
            <a:avLst/>
          </a:prstGeom>
          <a:noFill/>
          <a:ln w="28575">
            <a:solidFill>
              <a:srgbClr val="1F497D"/>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prstClr val="black"/>
              </a:solidFill>
              <a:effectLst/>
              <a:uLnTx/>
              <a:uFillTx/>
              <a:latin typeface="微软雅黑"/>
              <a:ea typeface="微软雅黑"/>
            </a:endParaRPr>
          </a:p>
        </p:txBody>
      </p:sp>
      <p:sp>
        <p:nvSpPr>
          <p:cNvPr id="54" name="Text Box 32">
            <a:extLst>
              <a:ext uri="{FF2B5EF4-FFF2-40B4-BE49-F238E27FC236}">
                <a16:creationId xmlns:a16="http://schemas.microsoft.com/office/drawing/2014/main" id="{26E53FB0-25D7-33A9-AE66-3CA13E293E85}"/>
              </a:ext>
            </a:extLst>
          </p:cNvPr>
          <p:cNvSpPr txBox="1">
            <a:spLocks noChangeArrowheads="1"/>
          </p:cNvSpPr>
          <p:nvPr/>
        </p:nvSpPr>
        <p:spPr bwMode="auto">
          <a:xfrm>
            <a:off x="4890607" y="3009971"/>
            <a:ext cx="122682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50000"/>
              </a:spcBef>
              <a:spcAft>
                <a:spcPts val="0"/>
              </a:spcAft>
              <a:buClrTx/>
              <a:buSzTx/>
              <a:buFontTx/>
              <a:buNone/>
            </a:pPr>
            <a:r>
              <a:rPr lang="zh-CN" altLang="en-US" sz="1100" b="1" dirty="0">
                <a:solidFill>
                  <a:prstClr val="black"/>
                </a:solidFill>
                <a:latin typeface="微软雅黑"/>
                <a:ea typeface="微软雅黑"/>
              </a:rPr>
              <a:t>发送</a:t>
            </a:r>
            <a:r>
              <a:rPr lang="en-US" altLang="zh-CN" sz="1100" b="1" dirty="0">
                <a:solidFill>
                  <a:prstClr val="black"/>
                </a:solidFill>
                <a:latin typeface="微软雅黑"/>
                <a:ea typeface="微软雅黑"/>
              </a:rPr>
              <a:t>M5</a:t>
            </a:r>
          </a:p>
        </p:txBody>
      </p:sp>
      <p:sp>
        <p:nvSpPr>
          <p:cNvPr id="55" name="Text Box 33">
            <a:extLst>
              <a:ext uri="{FF2B5EF4-FFF2-40B4-BE49-F238E27FC236}">
                <a16:creationId xmlns:a16="http://schemas.microsoft.com/office/drawing/2014/main" id="{99092234-2422-7EAA-1A55-6D284F17A25D}"/>
              </a:ext>
            </a:extLst>
          </p:cNvPr>
          <p:cNvSpPr txBox="1">
            <a:spLocks noChangeArrowheads="1"/>
          </p:cNvSpPr>
          <p:nvPr/>
        </p:nvSpPr>
        <p:spPr bwMode="auto">
          <a:xfrm>
            <a:off x="4890607" y="3521160"/>
            <a:ext cx="122682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50000"/>
              </a:spcBef>
              <a:spcAft>
                <a:spcPts val="0"/>
              </a:spcAft>
              <a:buClrTx/>
              <a:buSzTx/>
              <a:buFontTx/>
              <a:buNone/>
            </a:pPr>
            <a:r>
              <a:rPr lang="zh-CN" altLang="en-US" sz="1100" b="1" dirty="0">
                <a:solidFill>
                  <a:prstClr val="black"/>
                </a:solidFill>
                <a:latin typeface="微软雅黑"/>
                <a:ea typeface="微软雅黑"/>
              </a:rPr>
              <a:t>发送</a:t>
            </a:r>
            <a:r>
              <a:rPr lang="en-US" altLang="zh-CN" sz="1100" b="1" dirty="0">
                <a:solidFill>
                  <a:prstClr val="black"/>
                </a:solidFill>
                <a:latin typeface="微软雅黑"/>
                <a:ea typeface="微软雅黑"/>
              </a:rPr>
              <a:t>M2</a:t>
            </a:r>
          </a:p>
        </p:txBody>
      </p:sp>
      <p:sp>
        <p:nvSpPr>
          <p:cNvPr id="59" name="Freeform 37">
            <a:extLst>
              <a:ext uri="{FF2B5EF4-FFF2-40B4-BE49-F238E27FC236}">
                <a16:creationId xmlns:a16="http://schemas.microsoft.com/office/drawing/2014/main" id="{048C5DDF-06C9-D31C-C315-509C9058650F}"/>
              </a:ext>
            </a:extLst>
          </p:cNvPr>
          <p:cNvSpPr>
            <a:spLocks/>
          </p:cNvSpPr>
          <p:nvPr/>
        </p:nvSpPr>
        <p:spPr bwMode="auto">
          <a:xfrm>
            <a:off x="5040853" y="2026521"/>
            <a:ext cx="182727" cy="1581302"/>
          </a:xfrm>
          <a:custGeom>
            <a:avLst/>
            <a:gdLst>
              <a:gd name="T0" fmla="*/ 2147483646 w 144"/>
              <a:gd name="T1" fmla="*/ 0 h 1344"/>
              <a:gd name="T2" fmla="*/ 0 w 144"/>
              <a:gd name="T3" fmla="*/ 0 h 1344"/>
              <a:gd name="T4" fmla="*/ 0 w 144"/>
              <a:gd name="T5" fmla="*/ 2147483646 h 1344"/>
              <a:gd name="T6" fmla="*/ 2147483646 w 144"/>
              <a:gd name="T7" fmla="*/ 2147483646 h 1344"/>
              <a:gd name="T8" fmla="*/ 0 60000 65536"/>
              <a:gd name="T9" fmla="*/ 0 60000 65536"/>
              <a:gd name="T10" fmla="*/ 0 60000 65536"/>
              <a:gd name="T11" fmla="*/ 0 60000 65536"/>
              <a:gd name="T12" fmla="*/ 0 w 144"/>
              <a:gd name="T13" fmla="*/ 0 h 1344"/>
              <a:gd name="T14" fmla="*/ 144 w 144"/>
              <a:gd name="T15" fmla="*/ 1344 h 1344"/>
            </a:gdLst>
            <a:ahLst/>
            <a:cxnLst>
              <a:cxn ang="T8">
                <a:pos x="T0" y="T1"/>
              </a:cxn>
              <a:cxn ang="T9">
                <a:pos x="T2" y="T3"/>
              </a:cxn>
              <a:cxn ang="T10">
                <a:pos x="T4" y="T5"/>
              </a:cxn>
              <a:cxn ang="T11">
                <a:pos x="T6" y="T7"/>
              </a:cxn>
            </a:cxnLst>
            <a:rect l="T12" t="T13" r="T14" b="T15"/>
            <a:pathLst>
              <a:path w="144" h="1344">
                <a:moveTo>
                  <a:pt x="144" y="0"/>
                </a:moveTo>
                <a:lnTo>
                  <a:pt x="0" y="0"/>
                </a:lnTo>
                <a:lnTo>
                  <a:pt x="0" y="1344"/>
                </a:lnTo>
                <a:lnTo>
                  <a:pt x="144" y="1344"/>
                </a:lnTo>
              </a:path>
            </a:pathLst>
          </a:custGeom>
          <a:noFill/>
          <a:ln w="38100">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defTabSz="1219627" fontAlgn="auto">
              <a:spcBef>
                <a:spcPts val="0"/>
              </a:spcBef>
              <a:spcAft>
                <a:spcPts val="0"/>
              </a:spcAft>
            </a:pPr>
            <a:endParaRPr lang="zh-CN" altLang="en-US" sz="1400" b="1">
              <a:solidFill>
                <a:prstClr val="black"/>
              </a:solidFill>
              <a:latin typeface="微软雅黑"/>
              <a:ea typeface="微软雅黑"/>
            </a:endParaRPr>
          </a:p>
        </p:txBody>
      </p:sp>
      <p:sp>
        <p:nvSpPr>
          <p:cNvPr id="61" name="Text Box 38">
            <a:extLst>
              <a:ext uri="{FF2B5EF4-FFF2-40B4-BE49-F238E27FC236}">
                <a16:creationId xmlns:a16="http://schemas.microsoft.com/office/drawing/2014/main" id="{397935F2-6F7C-08E8-8176-0E661C577D55}"/>
              </a:ext>
            </a:extLst>
          </p:cNvPr>
          <p:cNvSpPr txBox="1">
            <a:spLocks noChangeArrowheads="1"/>
          </p:cNvSpPr>
          <p:nvPr/>
        </p:nvSpPr>
        <p:spPr bwMode="auto">
          <a:xfrm>
            <a:off x="4092715" y="3501143"/>
            <a:ext cx="1173480"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defTabSz="1219627" fontAlgn="auto">
              <a:spcBef>
                <a:spcPct val="50000"/>
              </a:spcBef>
              <a:spcAft>
                <a:spcPts val="0"/>
              </a:spcAft>
              <a:buClrTx/>
              <a:buSzTx/>
              <a:buFontTx/>
              <a:buNone/>
            </a:pPr>
            <a:r>
              <a:rPr lang="zh-CN" altLang="en-US" sz="1200" b="1" dirty="0">
                <a:solidFill>
                  <a:prstClr val="black"/>
                </a:solidFill>
                <a:latin typeface="微软雅黑"/>
                <a:ea typeface="微软雅黑"/>
              </a:rPr>
              <a:t>超时重传</a:t>
            </a:r>
          </a:p>
        </p:txBody>
      </p:sp>
      <p:sp>
        <p:nvSpPr>
          <p:cNvPr id="62" name="Text Box 39">
            <a:extLst>
              <a:ext uri="{FF2B5EF4-FFF2-40B4-BE49-F238E27FC236}">
                <a16:creationId xmlns:a16="http://schemas.microsoft.com/office/drawing/2014/main" id="{2C71D920-5275-36BB-FC5C-BF99CBD8B151}"/>
              </a:ext>
            </a:extLst>
          </p:cNvPr>
          <p:cNvSpPr txBox="1">
            <a:spLocks noChangeArrowheads="1"/>
          </p:cNvSpPr>
          <p:nvPr/>
        </p:nvSpPr>
        <p:spPr bwMode="auto">
          <a:xfrm>
            <a:off x="7154407" y="3367057"/>
            <a:ext cx="1714289"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defTabSz="1219627" fontAlgn="auto">
              <a:spcBef>
                <a:spcPct val="50000"/>
              </a:spcBef>
              <a:spcAft>
                <a:spcPts val="0"/>
              </a:spcAft>
              <a:buClrTx/>
              <a:buSzTx/>
              <a:buFontTx/>
              <a:buNone/>
            </a:pPr>
            <a:r>
              <a:rPr lang="zh-CN" altLang="en-US" sz="1100" b="1" dirty="0">
                <a:solidFill>
                  <a:prstClr val="black"/>
                </a:solidFill>
                <a:latin typeface="微软雅黑"/>
                <a:ea typeface="微软雅黑"/>
              </a:rPr>
              <a:t>暂存不交付，发送</a:t>
            </a:r>
            <a:r>
              <a:rPr lang="en-US" altLang="zh-CN" sz="1100" b="1" dirty="0">
                <a:solidFill>
                  <a:prstClr val="black"/>
                </a:solidFill>
                <a:latin typeface="微软雅黑"/>
                <a:ea typeface="微软雅黑"/>
              </a:rPr>
              <a:t>ACK1</a:t>
            </a:r>
          </a:p>
        </p:txBody>
      </p:sp>
      <p:sp>
        <p:nvSpPr>
          <p:cNvPr id="66" name="Text Box 40">
            <a:extLst>
              <a:ext uri="{FF2B5EF4-FFF2-40B4-BE49-F238E27FC236}">
                <a16:creationId xmlns:a16="http://schemas.microsoft.com/office/drawing/2014/main" id="{99014AF3-1314-BC59-4816-B6846C792391}"/>
              </a:ext>
            </a:extLst>
          </p:cNvPr>
          <p:cNvSpPr txBox="1">
            <a:spLocks noChangeArrowheads="1"/>
          </p:cNvSpPr>
          <p:nvPr/>
        </p:nvSpPr>
        <p:spPr bwMode="auto">
          <a:xfrm>
            <a:off x="7154407" y="3553747"/>
            <a:ext cx="1674961"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defTabSz="1219627" fontAlgn="auto">
              <a:spcBef>
                <a:spcPct val="50000"/>
              </a:spcBef>
              <a:spcAft>
                <a:spcPts val="0"/>
              </a:spcAft>
              <a:buClrTx/>
              <a:buSzTx/>
              <a:buFontTx/>
              <a:buNone/>
            </a:pPr>
            <a:r>
              <a:rPr lang="zh-CN" altLang="en-US" sz="1100" b="1" dirty="0">
                <a:solidFill>
                  <a:prstClr val="black"/>
                </a:solidFill>
                <a:latin typeface="微软雅黑"/>
                <a:ea typeface="微软雅黑"/>
              </a:rPr>
              <a:t>暂存不交付，发送</a:t>
            </a:r>
            <a:r>
              <a:rPr lang="en-US" altLang="zh-CN" sz="1100" b="1" dirty="0">
                <a:solidFill>
                  <a:prstClr val="black"/>
                </a:solidFill>
                <a:latin typeface="微软雅黑"/>
                <a:ea typeface="微软雅黑"/>
              </a:rPr>
              <a:t>ACK1</a:t>
            </a:r>
          </a:p>
        </p:txBody>
      </p:sp>
      <p:sp>
        <p:nvSpPr>
          <p:cNvPr id="68" name="Line 41">
            <a:extLst>
              <a:ext uri="{FF2B5EF4-FFF2-40B4-BE49-F238E27FC236}">
                <a16:creationId xmlns:a16="http://schemas.microsoft.com/office/drawing/2014/main" id="{A262F04B-E6D0-A3AF-92D1-175E01BCABBC}"/>
              </a:ext>
            </a:extLst>
          </p:cNvPr>
          <p:cNvSpPr>
            <a:spLocks noChangeShapeType="1"/>
          </p:cNvSpPr>
          <p:nvPr/>
        </p:nvSpPr>
        <p:spPr bwMode="auto">
          <a:xfrm flipV="1">
            <a:off x="5838687" y="3553747"/>
            <a:ext cx="1226820" cy="586740"/>
          </a:xfrm>
          <a:prstGeom prst="line">
            <a:avLst/>
          </a:prstGeom>
          <a:noFill/>
          <a:ln w="28575">
            <a:solidFill>
              <a:srgbClr val="0099FF"/>
            </a:solidFill>
            <a:round/>
            <a:headEnd type="triangle" w="med" len="med"/>
            <a:tailEnd/>
          </a:ln>
          <a:extLst>
            <a:ext uri="{909E8E84-426E-40DD-AFC4-6F175D3DCCD1}">
              <a14:hiddenFill xmlns:a14="http://schemas.microsoft.com/office/drawing/2010/main">
                <a:noFill/>
              </a14:hiddenFill>
            </a:ext>
          </a:extLst>
        </p:spPr>
        <p:txBody>
          <a:bodyPr wrap="none" anchor="ctr"/>
          <a:lstStyle/>
          <a:p>
            <a:pPr defTabSz="1219627" fontAlgn="auto">
              <a:spcBef>
                <a:spcPts val="0"/>
              </a:spcBef>
              <a:spcAft>
                <a:spcPts val="0"/>
              </a:spcAft>
            </a:pPr>
            <a:endParaRPr lang="zh-CN" altLang="en-US" sz="1400" b="1">
              <a:solidFill>
                <a:prstClr val="black"/>
              </a:solidFill>
              <a:latin typeface="微软雅黑"/>
              <a:ea typeface="微软雅黑"/>
            </a:endParaRPr>
          </a:p>
        </p:txBody>
      </p:sp>
      <p:sp>
        <p:nvSpPr>
          <p:cNvPr id="69" name="Line 42">
            <a:extLst>
              <a:ext uri="{FF2B5EF4-FFF2-40B4-BE49-F238E27FC236}">
                <a16:creationId xmlns:a16="http://schemas.microsoft.com/office/drawing/2014/main" id="{0536CDB1-544D-0B3C-E457-C3DCCDEBE4B6}"/>
              </a:ext>
            </a:extLst>
          </p:cNvPr>
          <p:cNvSpPr>
            <a:spLocks noChangeShapeType="1"/>
          </p:cNvSpPr>
          <p:nvPr/>
        </p:nvSpPr>
        <p:spPr bwMode="auto">
          <a:xfrm flipV="1">
            <a:off x="5838687" y="3713767"/>
            <a:ext cx="1226820" cy="586740"/>
          </a:xfrm>
          <a:prstGeom prst="line">
            <a:avLst/>
          </a:prstGeom>
          <a:noFill/>
          <a:ln w="28575">
            <a:solidFill>
              <a:srgbClr val="0099FF"/>
            </a:solidFill>
            <a:round/>
            <a:headEnd type="triangle" w="med" len="med"/>
            <a:tailEnd/>
          </a:ln>
          <a:extLst>
            <a:ext uri="{909E8E84-426E-40DD-AFC4-6F175D3DCCD1}">
              <a14:hiddenFill xmlns:a14="http://schemas.microsoft.com/office/drawing/2010/main">
                <a:noFill/>
              </a14:hiddenFill>
            </a:ext>
          </a:extLst>
        </p:spPr>
        <p:txBody>
          <a:bodyPr wrap="none" anchor="ctr"/>
          <a:lstStyle/>
          <a:p>
            <a:pPr defTabSz="1219627" fontAlgn="auto">
              <a:spcBef>
                <a:spcPts val="0"/>
              </a:spcBef>
              <a:spcAft>
                <a:spcPts val="0"/>
              </a:spcAft>
            </a:pPr>
            <a:endParaRPr lang="zh-CN" altLang="en-US" sz="1400" b="1">
              <a:solidFill>
                <a:prstClr val="black"/>
              </a:solidFill>
              <a:latin typeface="微软雅黑"/>
              <a:ea typeface="微软雅黑"/>
            </a:endParaRPr>
          </a:p>
        </p:txBody>
      </p:sp>
      <p:sp>
        <p:nvSpPr>
          <p:cNvPr id="82" name="Line 13">
            <a:extLst>
              <a:ext uri="{FF2B5EF4-FFF2-40B4-BE49-F238E27FC236}">
                <a16:creationId xmlns:a16="http://schemas.microsoft.com/office/drawing/2014/main" id="{25839559-ECF6-F51E-01B8-B7C7F83664C4}"/>
              </a:ext>
            </a:extLst>
          </p:cNvPr>
          <p:cNvSpPr>
            <a:spLocks noChangeShapeType="1"/>
          </p:cNvSpPr>
          <p:nvPr/>
        </p:nvSpPr>
        <p:spPr bwMode="auto">
          <a:xfrm flipV="1">
            <a:off x="5838687" y="2326927"/>
            <a:ext cx="1226820" cy="586740"/>
          </a:xfrm>
          <a:prstGeom prst="line">
            <a:avLst/>
          </a:prstGeom>
          <a:noFill/>
          <a:ln w="28575">
            <a:solidFill>
              <a:srgbClr val="0099FF"/>
            </a:solidFill>
            <a:round/>
            <a:headEnd type="triangle" w="med" len="med"/>
            <a:tailEnd/>
          </a:ln>
          <a:extLst>
            <a:ext uri="{909E8E84-426E-40DD-AFC4-6F175D3DCCD1}">
              <a14:hiddenFill xmlns:a14="http://schemas.microsoft.com/office/drawing/2010/main">
                <a:noFill/>
              </a14:hiddenFill>
            </a:ext>
          </a:extLst>
        </p:spPr>
        <p:txBody>
          <a:bodyPr wrap="none" anchor="ctr"/>
          <a:lstStyle/>
          <a:p>
            <a:pPr defTabSz="1219627" fontAlgn="auto">
              <a:spcBef>
                <a:spcPts val="0"/>
              </a:spcBef>
              <a:spcAft>
                <a:spcPts val="0"/>
              </a:spcAft>
            </a:pPr>
            <a:endParaRPr lang="zh-CN" altLang="en-US" sz="1400" b="1">
              <a:solidFill>
                <a:prstClr val="black"/>
              </a:solidFill>
              <a:latin typeface="微软雅黑"/>
              <a:ea typeface="微软雅黑"/>
            </a:endParaRPr>
          </a:p>
        </p:txBody>
      </p:sp>
      <p:sp>
        <p:nvSpPr>
          <p:cNvPr id="105" name="Line 42">
            <a:extLst>
              <a:ext uri="{FF2B5EF4-FFF2-40B4-BE49-F238E27FC236}">
                <a16:creationId xmlns:a16="http://schemas.microsoft.com/office/drawing/2014/main" id="{DD7F936B-0D67-DDFC-20CD-DF3392C2709B}"/>
              </a:ext>
            </a:extLst>
          </p:cNvPr>
          <p:cNvSpPr>
            <a:spLocks noChangeShapeType="1"/>
          </p:cNvSpPr>
          <p:nvPr/>
        </p:nvSpPr>
        <p:spPr bwMode="auto">
          <a:xfrm flipV="1">
            <a:off x="6274210" y="4192195"/>
            <a:ext cx="793172" cy="379343"/>
          </a:xfrm>
          <a:prstGeom prst="line">
            <a:avLst/>
          </a:prstGeom>
          <a:noFill/>
          <a:ln w="28575">
            <a:solidFill>
              <a:srgbClr val="0099FF"/>
            </a:solidFill>
            <a:round/>
            <a:headEnd type="triangle" w="med" len="med"/>
            <a:tailEnd/>
          </a:ln>
          <a:extLst>
            <a:ext uri="{909E8E84-426E-40DD-AFC4-6F175D3DCCD1}">
              <a14:hiddenFill xmlns:a14="http://schemas.microsoft.com/office/drawing/2010/main">
                <a:noFill/>
              </a14:hiddenFill>
            </a:ext>
          </a:extLst>
        </p:spPr>
        <p:txBody>
          <a:bodyPr wrap="none" anchor="ctr"/>
          <a:lstStyle/>
          <a:p>
            <a:pPr defTabSz="1219627" fontAlgn="auto">
              <a:spcBef>
                <a:spcPts val="0"/>
              </a:spcBef>
              <a:spcAft>
                <a:spcPts val="0"/>
              </a:spcAft>
            </a:pPr>
            <a:endParaRPr lang="zh-CN" altLang="en-US" sz="1400" b="1">
              <a:solidFill>
                <a:prstClr val="black"/>
              </a:solidFill>
              <a:latin typeface="微软雅黑"/>
              <a:ea typeface="微软雅黑"/>
            </a:endParaRPr>
          </a:p>
        </p:txBody>
      </p:sp>
      <p:sp>
        <p:nvSpPr>
          <p:cNvPr id="107" name="Text Box 24">
            <a:extLst>
              <a:ext uri="{FF2B5EF4-FFF2-40B4-BE49-F238E27FC236}">
                <a16:creationId xmlns:a16="http://schemas.microsoft.com/office/drawing/2014/main" id="{6D5B4702-B01F-8A67-B359-79BE11515575}"/>
              </a:ext>
            </a:extLst>
          </p:cNvPr>
          <p:cNvSpPr txBox="1">
            <a:spLocks noChangeArrowheads="1"/>
          </p:cNvSpPr>
          <p:nvPr/>
        </p:nvSpPr>
        <p:spPr bwMode="auto">
          <a:xfrm>
            <a:off x="7141166" y="4071758"/>
            <a:ext cx="1714289"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defTabSz="1219627" fontAlgn="auto">
              <a:spcBef>
                <a:spcPct val="50000"/>
              </a:spcBef>
              <a:spcAft>
                <a:spcPts val="0"/>
              </a:spcAft>
              <a:buClrTx/>
              <a:buSzTx/>
              <a:buFontTx/>
              <a:buNone/>
            </a:pPr>
            <a:r>
              <a:rPr lang="zh-CN" altLang="en-US" sz="1100" b="1" dirty="0">
                <a:solidFill>
                  <a:prstClr val="black"/>
                </a:solidFill>
                <a:latin typeface="微软雅黑"/>
                <a:ea typeface="微软雅黑"/>
              </a:rPr>
              <a:t>交付</a:t>
            </a:r>
            <a:r>
              <a:rPr lang="en-US" altLang="zh-CN" sz="1100" b="1" dirty="0">
                <a:solidFill>
                  <a:prstClr val="black"/>
                </a:solidFill>
                <a:latin typeface="微软雅黑"/>
                <a:ea typeface="微软雅黑"/>
              </a:rPr>
              <a:t>M2~M5</a:t>
            </a:r>
            <a:r>
              <a:rPr lang="zh-CN" altLang="en-US" sz="1100" b="1" dirty="0">
                <a:solidFill>
                  <a:prstClr val="black"/>
                </a:solidFill>
                <a:latin typeface="微软雅黑"/>
                <a:ea typeface="微软雅黑"/>
              </a:rPr>
              <a:t>，发送</a:t>
            </a:r>
            <a:r>
              <a:rPr lang="en-US" altLang="zh-CN" sz="1100" b="1" dirty="0">
                <a:solidFill>
                  <a:srgbClr val="C00000"/>
                </a:solidFill>
                <a:latin typeface="微软雅黑"/>
                <a:ea typeface="微软雅黑"/>
              </a:rPr>
              <a:t>ACK5</a:t>
            </a:r>
          </a:p>
        </p:txBody>
      </p:sp>
      <p:grpSp>
        <p:nvGrpSpPr>
          <p:cNvPr id="108" name="组合 107">
            <a:extLst>
              <a:ext uri="{FF2B5EF4-FFF2-40B4-BE49-F238E27FC236}">
                <a16:creationId xmlns:a16="http://schemas.microsoft.com/office/drawing/2014/main" id="{7AA01299-76D2-2473-0DFE-EE692FDD527F}"/>
              </a:ext>
            </a:extLst>
          </p:cNvPr>
          <p:cNvGrpSpPr/>
          <p:nvPr/>
        </p:nvGrpSpPr>
        <p:grpSpPr>
          <a:xfrm rot="2700000">
            <a:off x="6928850" y="2489455"/>
            <a:ext cx="173078" cy="173078"/>
            <a:chOff x="8028384" y="2924944"/>
            <a:chExt cx="247254" cy="247254"/>
          </a:xfrm>
        </p:grpSpPr>
        <p:cxnSp>
          <p:nvCxnSpPr>
            <p:cNvPr id="109" name="直接连接符 108">
              <a:extLst>
                <a:ext uri="{FF2B5EF4-FFF2-40B4-BE49-F238E27FC236}">
                  <a16:creationId xmlns:a16="http://schemas.microsoft.com/office/drawing/2014/main" id="{8CD63AC6-C79E-4756-ECED-00037ABA1577}"/>
                </a:ext>
              </a:extLst>
            </p:cNvPr>
            <p:cNvCxnSpPr/>
            <p:nvPr/>
          </p:nvCxnSpPr>
          <p:spPr bwMode="auto">
            <a:xfrm>
              <a:off x="8028384" y="3048000"/>
              <a:ext cx="247254" cy="0"/>
            </a:xfrm>
            <a:prstGeom prst="line">
              <a:avLst/>
            </a:prstGeom>
            <a:solidFill>
              <a:srgbClr val="4F81BD"/>
            </a:solidFill>
            <a:ln w="38100" cap="flat" cmpd="sng" algn="ctr">
              <a:solidFill>
                <a:srgbClr val="FF0000"/>
              </a:solidFill>
              <a:prstDash val="solid"/>
              <a:round/>
              <a:headEnd type="none" w="med" len="med"/>
              <a:tailEnd type="none" w="med" len="med"/>
            </a:ln>
            <a:effectLst/>
          </p:spPr>
        </p:cxnSp>
        <p:cxnSp>
          <p:nvCxnSpPr>
            <p:cNvPr id="110" name="直接连接符 109">
              <a:extLst>
                <a:ext uri="{FF2B5EF4-FFF2-40B4-BE49-F238E27FC236}">
                  <a16:creationId xmlns:a16="http://schemas.microsoft.com/office/drawing/2014/main" id="{D386CF92-482D-803E-EE61-0CC085A05BF3}"/>
                </a:ext>
              </a:extLst>
            </p:cNvPr>
            <p:cNvCxnSpPr/>
            <p:nvPr/>
          </p:nvCxnSpPr>
          <p:spPr bwMode="auto">
            <a:xfrm rot="5400000">
              <a:off x="8029723" y="3048571"/>
              <a:ext cx="247254" cy="0"/>
            </a:xfrm>
            <a:prstGeom prst="line">
              <a:avLst/>
            </a:prstGeom>
            <a:solidFill>
              <a:srgbClr val="4F81BD"/>
            </a:solidFill>
            <a:ln w="38100" cap="flat" cmpd="sng" algn="ctr">
              <a:solidFill>
                <a:srgbClr val="FF0000"/>
              </a:solidFill>
              <a:prstDash val="solid"/>
              <a:round/>
              <a:headEnd type="none" w="med" len="med"/>
              <a:tailEnd type="none" w="med" len="med"/>
            </a:ln>
            <a:effectLst/>
          </p:spPr>
        </p:cxnSp>
      </p:grpSp>
      <p:sp>
        <p:nvSpPr>
          <p:cNvPr id="112" name="Rectangle 8">
            <a:extLst>
              <a:ext uri="{FF2B5EF4-FFF2-40B4-BE49-F238E27FC236}">
                <a16:creationId xmlns:a16="http://schemas.microsoft.com/office/drawing/2014/main" id="{C4A6017E-61C3-58B8-3B67-AF190D06550F}"/>
              </a:ext>
            </a:extLst>
          </p:cNvPr>
          <p:cNvSpPr>
            <a:spLocks noChangeArrowheads="1"/>
          </p:cNvSpPr>
          <p:nvPr/>
        </p:nvSpPr>
        <p:spPr bwMode="auto">
          <a:xfrm>
            <a:off x="592572" y="1131168"/>
            <a:ext cx="3362632" cy="3370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Aft>
                <a:spcPts val="600"/>
              </a:spcAft>
              <a:buClr>
                <a:srgbClr val="0070C0"/>
              </a:buClr>
            </a:pPr>
            <a:r>
              <a:rPr lang="en-US" altLang="zh-CN" b="1" dirty="0">
                <a:latin typeface="微软雅黑" pitchFamily="34" charset="-122"/>
                <a:ea typeface="微软雅黑" pitchFamily="34" charset="-122"/>
              </a:rPr>
              <a:t>(2) </a:t>
            </a:r>
            <a:r>
              <a:rPr lang="zh-CN" altLang="en-US" b="1" dirty="0">
                <a:latin typeface="微软雅黑" pitchFamily="34" charset="-122"/>
                <a:ea typeface="微软雅黑" pitchFamily="34" charset="-122"/>
              </a:rPr>
              <a:t>接收方对乱序到达的分组，不进行确认，先暂存在缓冲区中，等待缺失分组的到达。</a:t>
            </a:r>
            <a:endParaRPr lang="en-US" altLang="zh-CN" b="1" dirty="0">
              <a:latin typeface="微软雅黑" pitchFamily="34" charset="-122"/>
              <a:ea typeface="微软雅黑" pitchFamily="34" charset="-122"/>
            </a:endParaRPr>
          </a:p>
          <a:p>
            <a:pPr marL="285750" indent="-285750">
              <a:spcAft>
                <a:spcPts val="600"/>
              </a:spcAft>
              <a:buClr>
                <a:srgbClr val="0070C0"/>
              </a:buClr>
              <a:buFont typeface="Wingdings" pitchFamily="2" charset="2"/>
              <a:buChar char="l"/>
            </a:pPr>
            <a:r>
              <a:rPr lang="zh-CN" altLang="en-US" b="1" dirty="0">
                <a:latin typeface="微软雅黑" pitchFamily="34" charset="-122"/>
                <a:ea typeface="微软雅黑" pitchFamily="34" charset="-122"/>
              </a:rPr>
              <a:t>当分组丢失时，有助减少重传分组的数量，节约了网络资源。</a:t>
            </a:r>
            <a:r>
              <a:rPr lang="en-US" altLang="zh-CN" b="1" dirty="0">
                <a:latin typeface="微软雅黑" pitchFamily="34" charset="-122"/>
                <a:ea typeface="微软雅黑" pitchFamily="34" charset="-122"/>
              </a:rPr>
              <a:t>TCP</a:t>
            </a:r>
            <a:r>
              <a:rPr lang="zh-CN" altLang="en-US" b="1" dirty="0">
                <a:latin typeface="微软雅黑" pitchFamily="34" charset="-122"/>
                <a:ea typeface="微软雅黑" pitchFamily="34" charset="-122"/>
              </a:rPr>
              <a:t>普遍采用该方法。</a:t>
            </a:r>
            <a:endParaRPr lang="en-US" altLang="zh-CN" b="1" dirty="0">
              <a:latin typeface="微软雅黑" pitchFamily="34" charset="-122"/>
              <a:ea typeface="微软雅黑" pitchFamily="34" charset="-122"/>
            </a:endParaRPr>
          </a:p>
          <a:p>
            <a:pPr marL="285750" indent="-285750">
              <a:spcAft>
                <a:spcPts val="600"/>
              </a:spcAft>
              <a:buClr>
                <a:srgbClr val="0070C0"/>
              </a:buClr>
              <a:buFont typeface="Wingdings" pitchFamily="2" charset="2"/>
              <a:buChar char="l"/>
            </a:pPr>
            <a:r>
              <a:rPr lang="zh-CN" altLang="en-US" b="1" dirty="0">
                <a:latin typeface="微软雅黑" pitchFamily="34" charset="-122"/>
                <a:ea typeface="微软雅黑" pitchFamily="34" charset="-122"/>
              </a:rPr>
              <a:t>接收方并不告诉发送方，已经收到了哪些乱序的分组。</a:t>
            </a:r>
            <a:endParaRPr lang="en-US" altLang="zh-CN" b="1" dirty="0">
              <a:latin typeface="微软雅黑" pitchFamily="34" charset="-122"/>
              <a:ea typeface="微软雅黑" pitchFamily="34" charset="-122"/>
            </a:endParaRPr>
          </a:p>
          <a:p>
            <a:pPr marL="285750" indent="-285750">
              <a:spcAft>
                <a:spcPts val="600"/>
              </a:spcAft>
              <a:buClr>
                <a:srgbClr val="0070C0"/>
              </a:buClr>
              <a:buFont typeface="Wingdings" pitchFamily="2" charset="2"/>
              <a:buChar char="l"/>
            </a:pPr>
            <a:r>
              <a:rPr lang="zh-CN" altLang="en-US" b="1" dirty="0">
                <a:latin typeface="微软雅黑" pitchFamily="34" charset="-122"/>
                <a:ea typeface="微软雅黑" pitchFamily="34" charset="-122"/>
              </a:rPr>
              <a:t>这些没有被确认的分组亦然有可能因为超时而被发送方重传。</a:t>
            </a:r>
            <a:endParaRPr lang="en-US" altLang="zh-CN" b="1" dirty="0">
              <a:latin typeface="微软雅黑" pitchFamily="34" charset="-122"/>
              <a:ea typeface="微软雅黑" pitchFamily="34" charset="-122"/>
            </a:endParaRPr>
          </a:p>
        </p:txBody>
      </p:sp>
      <p:sp>
        <p:nvSpPr>
          <p:cNvPr id="117" name="文本框 116">
            <a:extLst>
              <a:ext uri="{FF2B5EF4-FFF2-40B4-BE49-F238E27FC236}">
                <a16:creationId xmlns:a16="http://schemas.microsoft.com/office/drawing/2014/main" id="{26F2A65E-59F1-3D3E-1679-142F4EFA5C1A}"/>
              </a:ext>
            </a:extLst>
          </p:cNvPr>
          <p:cNvSpPr txBox="1"/>
          <p:nvPr/>
        </p:nvSpPr>
        <p:spPr>
          <a:xfrm>
            <a:off x="4356347" y="1177975"/>
            <a:ext cx="909848" cy="523220"/>
          </a:xfrm>
          <a:prstGeom prst="rect">
            <a:avLst/>
          </a:prstGeom>
          <a:noFill/>
        </p:spPr>
        <p:txBody>
          <a:bodyPr wrap="square">
            <a:spAutoFit/>
          </a:bodyPr>
          <a:lstStyle/>
          <a:p>
            <a:pPr marL="0" marR="0" lvl="0" indent="0" defTabSz="1219627" eaLnBrk="1" fontAlgn="auto" latinLnBrk="0" hangingPunct="1">
              <a:lnSpc>
                <a:spcPct val="100000"/>
              </a:lnSpc>
              <a:spcBef>
                <a:spcPct val="50000"/>
              </a:spcBef>
              <a:spcAft>
                <a:spcPts val="0"/>
              </a:spcAft>
              <a:buClrTx/>
              <a:buSzTx/>
              <a:buFontTx/>
              <a:buNone/>
              <a:tabLst/>
              <a:defRPr/>
            </a:pPr>
            <a:r>
              <a:rPr kumimoji="0" lang="zh-CN" altLang="en-US" sz="1400" b="1" i="0" u="none" strike="noStrike" kern="0" cap="none" spc="0" normalizeH="0" baseline="0" noProof="0" dirty="0">
                <a:ln>
                  <a:noFill/>
                </a:ln>
                <a:solidFill>
                  <a:srgbClr val="C00000"/>
                </a:solidFill>
                <a:effectLst/>
                <a:uLnTx/>
                <a:uFillTx/>
                <a:latin typeface="微软雅黑"/>
                <a:ea typeface="微软雅黑"/>
              </a:rPr>
              <a:t>发送窗口</a:t>
            </a:r>
            <a:r>
              <a:rPr lang="zh-CN" altLang="en-US" sz="1400" b="1" kern="0" dirty="0">
                <a:solidFill>
                  <a:srgbClr val="C00000"/>
                </a:solidFill>
                <a:latin typeface="微软雅黑"/>
                <a:ea typeface="微软雅黑"/>
              </a:rPr>
              <a:t>大小</a:t>
            </a:r>
            <a:r>
              <a:rPr kumimoji="0" lang="zh-CN" altLang="en-US" sz="1400" b="1" i="0" u="none" strike="noStrike" kern="0" cap="none" spc="0" normalizeH="0" baseline="0" noProof="0" dirty="0">
                <a:ln>
                  <a:noFill/>
                </a:ln>
                <a:solidFill>
                  <a:srgbClr val="C00000"/>
                </a:solidFill>
                <a:effectLst/>
                <a:uLnTx/>
                <a:uFillTx/>
                <a:latin typeface="微软雅黑"/>
                <a:ea typeface="微软雅黑"/>
              </a:rPr>
              <a:t>为 </a:t>
            </a:r>
            <a:r>
              <a:rPr kumimoji="0" lang="en-US" altLang="zh-CN" sz="1400" b="1" i="0" u="none" strike="noStrike" kern="0" cap="none" spc="0" normalizeH="0" baseline="0" noProof="0" dirty="0">
                <a:ln>
                  <a:noFill/>
                </a:ln>
                <a:solidFill>
                  <a:srgbClr val="C00000"/>
                </a:solidFill>
                <a:effectLst/>
                <a:uLnTx/>
                <a:uFillTx/>
                <a:latin typeface="微软雅黑"/>
                <a:ea typeface="微软雅黑"/>
              </a:rPr>
              <a:t>4</a:t>
            </a:r>
            <a:endParaRPr kumimoji="0" lang="zh-CN" altLang="en-US" sz="1400" b="1" i="0" u="none" strike="noStrike" kern="0" cap="none" spc="0" normalizeH="0" baseline="0" noProof="0" dirty="0">
              <a:ln>
                <a:noFill/>
              </a:ln>
              <a:solidFill>
                <a:srgbClr val="C00000"/>
              </a:solidFill>
              <a:effectLst/>
              <a:uLnTx/>
              <a:uFillTx/>
              <a:latin typeface="微软雅黑"/>
              <a:ea typeface="微软雅黑"/>
            </a:endParaRPr>
          </a:p>
        </p:txBody>
      </p:sp>
      <p:sp>
        <p:nvSpPr>
          <p:cNvPr id="119" name="文本框 118">
            <a:extLst>
              <a:ext uri="{FF2B5EF4-FFF2-40B4-BE49-F238E27FC236}">
                <a16:creationId xmlns:a16="http://schemas.microsoft.com/office/drawing/2014/main" id="{69362149-469A-2CF4-BEF6-416E5F5E7BF3}"/>
              </a:ext>
            </a:extLst>
          </p:cNvPr>
          <p:cNvSpPr txBox="1"/>
          <p:nvPr/>
        </p:nvSpPr>
        <p:spPr>
          <a:xfrm>
            <a:off x="5007498" y="3792676"/>
            <a:ext cx="736284"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defPPr>
              <a:defRPr lang="zh-CN"/>
            </a:defPPr>
            <a:lvl1pPr defTabSz="1219627" fontAlgn="auto">
              <a:spcBef>
                <a:spcPct val="50000"/>
              </a:spcBef>
              <a:spcAft>
                <a:spcPts val="0"/>
              </a:spcAft>
              <a:buClrTx/>
              <a:buSzTx/>
              <a:buFontTx/>
              <a:buNone/>
              <a:defRPr sz="1100">
                <a:solidFill>
                  <a:prstClr val="black"/>
                </a:solidFill>
                <a:latin typeface="微软雅黑"/>
                <a:ea typeface="微软雅黑"/>
              </a:defRPr>
            </a:lvl1pPr>
            <a:lvl2pPr marL="742950" indent="-285750">
              <a:spcBef>
                <a:spcPct val="20000"/>
              </a:spcBef>
              <a:buClr>
                <a:schemeClr val="hlink"/>
              </a:buClr>
              <a:buSzPct val="55000"/>
              <a:buFont typeface="Wingdings" panose="05000000000000000000" pitchFamily="2" charset="2"/>
              <a:buChar char="n"/>
              <a:defRPr sz="2800">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latin typeface="Tahoma" panose="020B0604030504040204" pitchFamily="34" charset="0"/>
                <a:ea typeface="黑体" panose="02010609060101010101" pitchFamily="49" charset="-122"/>
              </a:defRPr>
            </a:lvl9pPr>
          </a:lstStyle>
          <a:p>
            <a:pPr algn="just"/>
            <a:r>
              <a:rPr lang="zh-CN" altLang="en-US" b="1" dirty="0"/>
              <a:t>发送方不必再重传分组</a:t>
            </a:r>
            <a:r>
              <a:rPr lang="en-US" altLang="zh-CN" b="1" dirty="0"/>
              <a:t>M3~M5</a:t>
            </a:r>
            <a:endParaRPr lang="zh-CN" altLang="en-US" b="1" dirty="0"/>
          </a:p>
        </p:txBody>
      </p:sp>
    </p:spTree>
    <p:extLst>
      <p:ext uri="{BB962C8B-B14F-4D97-AF65-F5344CB8AC3E}">
        <p14:creationId xmlns:p14="http://schemas.microsoft.com/office/powerpoint/2010/main" val="3730120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12">
                                            <p:txEl>
                                              <p:pRg st="0" end="0"/>
                                            </p:txEl>
                                          </p:spTgt>
                                        </p:tgtEl>
                                        <p:attrNameLst>
                                          <p:attrName>style.visibility</p:attrName>
                                        </p:attrNameLst>
                                      </p:cBhvr>
                                      <p:to>
                                        <p:strVal val="visible"/>
                                      </p:to>
                                    </p:set>
                                    <p:animEffect transition="in" filter="fade">
                                      <p:cBhvr>
                                        <p:cTn id="7" dur="1000"/>
                                        <p:tgtEl>
                                          <p:spTgt spid="112">
                                            <p:txEl>
                                              <p:pRg st="0" end="0"/>
                                            </p:txEl>
                                          </p:spTgt>
                                        </p:tgtEl>
                                      </p:cBhvr>
                                    </p:animEffect>
                                    <p:anim calcmode="lin" valueType="num">
                                      <p:cBhvr>
                                        <p:cTn id="8" dur="1000" fill="hold"/>
                                        <p:tgtEl>
                                          <p:spTgt spid="11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1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5" presetClass="emph" presetSubtype="0" repeatCount="3000" fill="hold" grpId="0" nodeType="clickEffect">
                                  <p:stCondLst>
                                    <p:cond delay="0"/>
                                  </p:stCondLst>
                                  <p:childTnLst>
                                    <p:anim calcmode="discrete" valueType="str">
                                      <p:cBhvr>
                                        <p:cTn id="13" dur="1000" fill="hold"/>
                                        <p:tgtEl>
                                          <p:spTgt spid="38"/>
                                        </p:tgtEl>
                                        <p:attrNameLst>
                                          <p:attrName>style.visibility</p:attrName>
                                        </p:attrNameLst>
                                      </p:cBhvr>
                                      <p:tavLst>
                                        <p:tav tm="0">
                                          <p:val>
                                            <p:strVal val="hidden"/>
                                          </p:val>
                                        </p:tav>
                                        <p:tav tm="50000">
                                          <p:val>
                                            <p:strVal val="visible"/>
                                          </p:val>
                                        </p:tav>
                                      </p:tavLst>
                                    </p:anim>
                                  </p:childTnLst>
                                </p:cTn>
                              </p:par>
                              <p:par>
                                <p:cTn id="14" presetID="35" presetClass="emph" presetSubtype="0" repeatCount="3000" fill="hold" grpId="0" nodeType="withEffect">
                                  <p:stCondLst>
                                    <p:cond delay="0"/>
                                  </p:stCondLst>
                                  <p:childTnLst>
                                    <p:anim calcmode="discrete" valueType="str">
                                      <p:cBhvr>
                                        <p:cTn id="15" dur="1000" fill="hold"/>
                                        <p:tgtEl>
                                          <p:spTgt spid="48"/>
                                        </p:tgtEl>
                                        <p:attrNameLst>
                                          <p:attrName>style.visibility</p:attrName>
                                        </p:attrNameLst>
                                      </p:cBhvr>
                                      <p:tavLst>
                                        <p:tav tm="0">
                                          <p:val>
                                            <p:strVal val="hidden"/>
                                          </p:val>
                                        </p:tav>
                                        <p:tav tm="50000">
                                          <p:val>
                                            <p:strVal val="visible"/>
                                          </p:val>
                                        </p:tav>
                                      </p:tavLst>
                                    </p:anim>
                                  </p:childTnLst>
                                </p:cTn>
                              </p:par>
                              <p:par>
                                <p:cTn id="16" presetID="35" presetClass="emph" presetSubtype="0" repeatCount="3000" fill="hold" grpId="0" nodeType="withEffect">
                                  <p:stCondLst>
                                    <p:cond delay="0"/>
                                  </p:stCondLst>
                                  <p:childTnLst>
                                    <p:anim calcmode="discrete" valueType="str">
                                      <p:cBhvr>
                                        <p:cTn id="17" dur="1000" fill="hold"/>
                                        <p:tgtEl>
                                          <p:spTgt spid="50"/>
                                        </p:tgtEl>
                                        <p:attrNameLst>
                                          <p:attrName>style.visibility</p:attrName>
                                        </p:attrNameLst>
                                      </p:cBhvr>
                                      <p:tavLst>
                                        <p:tav tm="0">
                                          <p:val>
                                            <p:strVal val="hidden"/>
                                          </p:val>
                                        </p:tav>
                                        <p:tav tm="50000">
                                          <p:val>
                                            <p:strVal val="visible"/>
                                          </p:val>
                                        </p:tav>
                                      </p:tavLst>
                                    </p:anim>
                                  </p:childTnLst>
                                </p:cTn>
                              </p:par>
                            </p:childTnLst>
                          </p:cTn>
                        </p:par>
                      </p:childTnLst>
                    </p:cTn>
                  </p:par>
                  <p:par>
                    <p:cTn id="18" fill="hold">
                      <p:stCondLst>
                        <p:cond delay="indefinite"/>
                      </p:stCondLst>
                      <p:childTnLst>
                        <p:par>
                          <p:cTn id="19" fill="hold">
                            <p:stCondLst>
                              <p:cond delay="0"/>
                            </p:stCondLst>
                            <p:childTnLst>
                              <p:par>
                                <p:cTn id="20" presetID="35" presetClass="emph" presetSubtype="0" repeatCount="3000" fill="hold" grpId="0" nodeType="clickEffect">
                                  <p:stCondLst>
                                    <p:cond delay="0"/>
                                  </p:stCondLst>
                                  <p:childTnLst>
                                    <p:anim calcmode="discrete" valueType="str">
                                      <p:cBhvr>
                                        <p:cTn id="21" dur="1000" fill="hold"/>
                                        <p:tgtEl>
                                          <p:spTgt spid="47"/>
                                        </p:tgtEl>
                                        <p:attrNameLst>
                                          <p:attrName>style.visibility</p:attrName>
                                        </p:attrNameLst>
                                      </p:cBhvr>
                                      <p:tavLst>
                                        <p:tav tm="0">
                                          <p:val>
                                            <p:strVal val="hidden"/>
                                          </p:val>
                                        </p:tav>
                                        <p:tav tm="50000">
                                          <p:val>
                                            <p:strVal val="visible"/>
                                          </p:val>
                                        </p:tav>
                                      </p:tavLst>
                                    </p:anim>
                                  </p:childTnLst>
                                </p:cTn>
                              </p:par>
                              <p:par>
                                <p:cTn id="22" presetID="35" presetClass="emph" presetSubtype="0" repeatCount="3000" fill="hold" grpId="0" nodeType="withEffect">
                                  <p:stCondLst>
                                    <p:cond delay="0"/>
                                  </p:stCondLst>
                                  <p:childTnLst>
                                    <p:anim calcmode="discrete" valueType="str">
                                      <p:cBhvr>
                                        <p:cTn id="23" dur="1000" fill="hold"/>
                                        <p:tgtEl>
                                          <p:spTgt spid="62"/>
                                        </p:tgtEl>
                                        <p:attrNameLst>
                                          <p:attrName>style.visibility</p:attrName>
                                        </p:attrNameLst>
                                      </p:cBhvr>
                                      <p:tavLst>
                                        <p:tav tm="0">
                                          <p:val>
                                            <p:strVal val="hidden"/>
                                          </p:val>
                                        </p:tav>
                                        <p:tav tm="50000">
                                          <p:val>
                                            <p:strVal val="visible"/>
                                          </p:val>
                                        </p:tav>
                                      </p:tavLst>
                                    </p:anim>
                                  </p:childTnLst>
                                </p:cTn>
                              </p:par>
                              <p:par>
                                <p:cTn id="24" presetID="35" presetClass="emph" presetSubtype="0" repeatCount="3000" fill="hold" grpId="0" nodeType="withEffect">
                                  <p:stCondLst>
                                    <p:cond delay="0"/>
                                  </p:stCondLst>
                                  <p:childTnLst>
                                    <p:anim calcmode="discrete" valueType="str">
                                      <p:cBhvr>
                                        <p:cTn id="25" dur="1000" fill="hold"/>
                                        <p:tgtEl>
                                          <p:spTgt spid="66"/>
                                        </p:tgtEl>
                                        <p:attrNameLst>
                                          <p:attrName>style.visibility</p:attrName>
                                        </p:attrNameLst>
                                      </p:cBhvr>
                                      <p:tavLst>
                                        <p:tav tm="0">
                                          <p:val>
                                            <p:strVal val="hidden"/>
                                          </p:val>
                                        </p:tav>
                                        <p:tav tm="50000">
                                          <p:val>
                                            <p:strVal val="visible"/>
                                          </p:val>
                                        </p:tav>
                                      </p:tavLst>
                                    </p:anim>
                                  </p:childTnLst>
                                </p:cTn>
                              </p:par>
                            </p:childTnLst>
                          </p:cTn>
                        </p:par>
                      </p:childTnLst>
                    </p:cTn>
                  </p:par>
                  <p:par>
                    <p:cTn id="26" fill="hold">
                      <p:stCondLst>
                        <p:cond delay="indefinite"/>
                      </p:stCondLst>
                      <p:childTnLst>
                        <p:par>
                          <p:cTn id="27" fill="hold">
                            <p:stCondLst>
                              <p:cond delay="0"/>
                            </p:stCondLst>
                            <p:childTnLst>
                              <p:par>
                                <p:cTn id="28" presetID="35" presetClass="emph" presetSubtype="0" repeatCount="3000" fill="hold" grpId="0" nodeType="clickEffect">
                                  <p:stCondLst>
                                    <p:cond delay="0"/>
                                  </p:stCondLst>
                                  <p:childTnLst>
                                    <p:anim calcmode="discrete" valueType="str">
                                      <p:cBhvr>
                                        <p:cTn id="29" dur="1000" fill="hold"/>
                                        <p:tgtEl>
                                          <p:spTgt spid="61"/>
                                        </p:tgtEl>
                                        <p:attrNameLst>
                                          <p:attrName>style.visibility</p:attrName>
                                        </p:attrNameLst>
                                      </p:cBhvr>
                                      <p:tavLst>
                                        <p:tav tm="0">
                                          <p:val>
                                            <p:strVal val="hidden"/>
                                          </p:val>
                                        </p:tav>
                                        <p:tav tm="50000">
                                          <p:val>
                                            <p:strVal val="visible"/>
                                          </p:val>
                                        </p:tav>
                                      </p:tavLst>
                                    </p:anim>
                                  </p:childTnLst>
                                </p:cTn>
                              </p:par>
                              <p:par>
                                <p:cTn id="30" presetID="35" presetClass="emph" presetSubtype="0" repeatCount="3000" fill="hold" grpId="0" nodeType="withEffect">
                                  <p:stCondLst>
                                    <p:cond delay="0"/>
                                  </p:stCondLst>
                                  <p:childTnLst>
                                    <p:anim calcmode="discrete" valueType="str">
                                      <p:cBhvr>
                                        <p:cTn id="31" dur="1000" fill="hold"/>
                                        <p:tgtEl>
                                          <p:spTgt spid="51"/>
                                        </p:tgtEl>
                                        <p:attrNameLst>
                                          <p:attrName>style.visibility</p:attrName>
                                        </p:attrNameLst>
                                      </p:cBhvr>
                                      <p:tavLst>
                                        <p:tav tm="0">
                                          <p:val>
                                            <p:strVal val="hidden"/>
                                          </p:val>
                                        </p:tav>
                                        <p:tav tm="50000">
                                          <p:val>
                                            <p:strVal val="visible"/>
                                          </p:val>
                                        </p:tav>
                                      </p:tavLst>
                                    </p:anim>
                                  </p:childTnLst>
                                </p:cTn>
                              </p:par>
                            </p:childTnLst>
                          </p:cTn>
                        </p:par>
                      </p:childTnLst>
                    </p:cTn>
                  </p:par>
                  <p:par>
                    <p:cTn id="32" fill="hold">
                      <p:stCondLst>
                        <p:cond delay="indefinite"/>
                      </p:stCondLst>
                      <p:childTnLst>
                        <p:par>
                          <p:cTn id="33" fill="hold">
                            <p:stCondLst>
                              <p:cond delay="0"/>
                            </p:stCondLst>
                            <p:childTnLst>
                              <p:par>
                                <p:cTn id="34" presetID="35" presetClass="emph" presetSubtype="0" repeatCount="3000" fill="hold" grpId="0" nodeType="clickEffect">
                                  <p:stCondLst>
                                    <p:cond delay="0"/>
                                  </p:stCondLst>
                                  <p:childTnLst>
                                    <p:anim calcmode="discrete" valueType="str">
                                      <p:cBhvr>
                                        <p:cTn id="35" dur="1000" fill="hold"/>
                                        <p:tgtEl>
                                          <p:spTgt spid="107"/>
                                        </p:tgtEl>
                                        <p:attrNameLst>
                                          <p:attrName>style.visibility</p:attrName>
                                        </p:attrNameLst>
                                      </p:cBhvr>
                                      <p:tavLst>
                                        <p:tav tm="0">
                                          <p:val>
                                            <p:strVal val="hidden"/>
                                          </p:val>
                                        </p:tav>
                                        <p:tav tm="50000">
                                          <p:val>
                                            <p:strVal val="visible"/>
                                          </p:val>
                                        </p:tav>
                                      </p:tavLst>
                                    </p:anim>
                                  </p:childTnLst>
                                </p:cTn>
                              </p:par>
                            </p:childTnLst>
                          </p:cTn>
                        </p:par>
                      </p:childTnLst>
                    </p:cTn>
                  </p:par>
                  <p:par>
                    <p:cTn id="36" fill="hold">
                      <p:stCondLst>
                        <p:cond delay="indefinite"/>
                      </p:stCondLst>
                      <p:childTnLst>
                        <p:par>
                          <p:cTn id="37" fill="hold">
                            <p:stCondLst>
                              <p:cond delay="0"/>
                            </p:stCondLst>
                            <p:childTnLst>
                              <p:par>
                                <p:cTn id="38" presetID="35" presetClass="emph" presetSubtype="0" repeatCount="3000" fill="hold" grpId="0" nodeType="clickEffect">
                                  <p:stCondLst>
                                    <p:cond delay="0"/>
                                  </p:stCondLst>
                                  <p:childTnLst>
                                    <p:anim calcmode="discrete" valueType="str">
                                      <p:cBhvr>
                                        <p:cTn id="39" dur="1000" fill="hold"/>
                                        <p:tgtEl>
                                          <p:spTgt spid="119"/>
                                        </p:tgtEl>
                                        <p:attrNameLst>
                                          <p:attrName>style.visibility</p:attrName>
                                        </p:attrNameLst>
                                      </p:cBhvr>
                                      <p:tavLst>
                                        <p:tav tm="0">
                                          <p:val>
                                            <p:strVal val="hidden"/>
                                          </p:val>
                                        </p:tav>
                                        <p:tav tm="50000">
                                          <p:val>
                                            <p:strVal val="visible"/>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112">
                                            <p:txEl>
                                              <p:pRg st="1" end="1"/>
                                            </p:txEl>
                                          </p:spTgt>
                                        </p:tgtEl>
                                        <p:attrNameLst>
                                          <p:attrName>style.visibility</p:attrName>
                                        </p:attrNameLst>
                                      </p:cBhvr>
                                      <p:to>
                                        <p:strVal val="visible"/>
                                      </p:to>
                                    </p:set>
                                    <p:animEffect transition="in" filter="fade">
                                      <p:cBhvr>
                                        <p:cTn id="44" dur="1000"/>
                                        <p:tgtEl>
                                          <p:spTgt spid="112">
                                            <p:txEl>
                                              <p:pRg st="1" end="1"/>
                                            </p:txEl>
                                          </p:spTgt>
                                        </p:tgtEl>
                                      </p:cBhvr>
                                    </p:animEffect>
                                    <p:anim calcmode="lin" valueType="num">
                                      <p:cBhvr>
                                        <p:cTn id="45" dur="1000" fill="hold"/>
                                        <p:tgtEl>
                                          <p:spTgt spid="112">
                                            <p:txEl>
                                              <p:pRg st="1" end="1"/>
                                            </p:txEl>
                                          </p:spTgt>
                                        </p:tgtEl>
                                        <p:attrNameLst>
                                          <p:attrName>ppt_x</p:attrName>
                                        </p:attrNameLst>
                                      </p:cBhvr>
                                      <p:tavLst>
                                        <p:tav tm="0">
                                          <p:val>
                                            <p:strVal val="#ppt_x"/>
                                          </p:val>
                                        </p:tav>
                                        <p:tav tm="100000">
                                          <p:val>
                                            <p:strVal val="#ppt_x"/>
                                          </p:val>
                                        </p:tav>
                                      </p:tavLst>
                                    </p:anim>
                                    <p:anim calcmode="lin" valueType="num">
                                      <p:cBhvr>
                                        <p:cTn id="46" dur="1000" fill="hold"/>
                                        <p:tgtEl>
                                          <p:spTgt spid="11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112">
                                            <p:txEl>
                                              <p:pRg st="2" end="2"/>
                                            </p:txEl>
                                          </p:spTgt>
                                        </p:tgtEl>
                                        <p:attrNameLst>
                                          <p:attrName>style.visibility</p:attrName>
                                        </p:attrNameLst>
                                      </p:cBhvr>
                                      <p:to>
                                        <p:strVal val="visible"/>
                                      </p:to>
                                    </p:set>
                                    <p:animEffect transition="in" filter="fade">
                                      <p:cBhvr>
                                        <p:cTn id="51" dur="1000"/>
                                        <p:tgtEl>
                                          <p:spTgt spid="112">
                                            <p:txEl>
                                              <p:pRg st="2" end="2"/>
                                            </p:txEl>
                                          </p:spTgt>
                                        </p:tgtEl>
                                      </p:cBhvr>
                                    </p:animEffect>
                                    <p:anim calcmode="lin" valueType="num">
                                      <p:cBhvr>
                                        <p:cTn id="52" dur="1000" fill="hold"/>
                                        <p:tgtEl>
                                          <p:spTgt spid="112">
                                            <p:txEl>
                                              <p:pRg st="2" end="2"/>
                                            </p:txEl>
                                          </p:spTgt>
                                        </p:tgtEl>
                                        <p:attrNameLst>
                                          <p:attrName>ppt_x</p:attrName>
                                        </p:attrNameLst>
                                      </p:cBhvr>
                                      <p:tavLst>
                                        <p:tav tm="0">
                                          <p:val>
                                            <p:strVal val="#ppt_x"/>
                                          </p:val>
                                        </p:tav>
                                        <p:tav tm="100000">
                                          <p:val>
                                            <p:strVal val="#ppt_x"/>
                                          </p:val>
                                        </p:tav>
                                      </p:tavLst>
                                    </p:anim>
                                    <p:anim calcmode="lin" valueType="num">
                                      <p:cBhvr>
                                        <p:cTn id="53" dur="1000" fill="hold"/>
                                        <p:tgtEl>
                                          <p:spTgt spid="1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112">
                                            <p:txEl>
                                              <p:pRg st="3" end="3"/>
                                            </p:txEl>
                                          </p:spTgt>
                                        </p:tgtEl>
                                        <p:attrNameLst>
                                          <p:attrName>style.visibility</p:attrName>
                                        </p:attrNameLst>
                                      </p:cBhvr>
                                      <p:to>
                                        <p:strVal val="visible"/>
                                      </p:to>
                                    </p:set>
                                    <p:animEffect transition="in" filter="fade">
                                      <p:cBhvr>
                                        <p:cTn id="58" dur="1000"/>
                                        <p:tgtEl>
                                          <p:spTgt spid="112">
                                            <p:txEl>
                                              <p:pRg st="3" end="3"/>
                                            </p:txEl>
                                          </p:spTgt>
                                        </p:tgtEl>
                                      </p:cBhvr>
                                    </p:animEffect>
                                    <p:anim calcmode="lin" valueType="num">
                                      <p:cBhvr>
                                        <p:cTn id="59" dur="1000" fill="hold"/>
                                        <p:tgtEl>
                                          <p:spTgt spid="112">
                                            <p:txEl>
                                              <p:pRg st="3" end="3"/>
                                            </p:txEl>
                                          </p:spTgt>
                                        </p:tgtEl>
                                        <p:attrNameLst>
                                          <p:attrName>ppt_x</p:attrName>
                                        </p:attrNameLst>
                                      </p:cBhvr>
                                      <p:tavLst>
                                        <p:tav tm="0">
                                          <p:val>
                                            <p:strVal val="#ppt_x"/>
                                          </p:val>
                                        </p:tav>
                                        <p:tav tm="100000">
                                          <p:val>
                                            <p:strVal val="#ppt_x"/>
                                          </p:val>
                                        </p:tav>
                                      </p:tavLst>
                                    </p:anim>
                                    <p:anim calcmode="lin" valueType="num">
                                      <p:cBhvr>
                                        <p:cTn id="60" dur="1000" fill="hold"/>
                                        <p:tgtEl>
                                          <p:spTgt spid="11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47" grpId="0"/>
      <p:bldP spid="48" grpId="0" animBg="1"/>
      <p:bldP spid="50" grpId="0" animBg="1"/>
      <p:bldP spid="51" grpId="0" animBg="1"/>
      <p:bldP spid="61" grpId="0"/>
      <p:bldP spid="62" grpId="0"/>
      <p:bldP spid="66" grpId="0"/>
      <p:bldP spid="107" grpId="0"/>
      <p:bldP spid="119"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D0CF5-F839-E470-5D3D-C0958EF8D251}"/>
            </a:ext>
          </a:extLst>
        </p:cNvPr>
        <p:cNvGrpSpPr/>
        <p:nvPr/>
      </p:nvGrpSpPr>
      <p:grpSpPr>
        <a:xfrm>
          <a:off x="0" y="0"/>
          <a:ext cx="0" cy="0"/>
          <a:chOff x="0" y="0"/>
          <a:chExt cx="0" cy="0"/>
        </a:xfrm>
      </p:grpSpPr>
      <p:sp>
        <p:nvSpPr>
          <p:cNvPr id="5" name="AutoShape 5">
            <a:extLst>
              <a:ext uri="{FF2B5EF4-FFF2-40B4-BE49-F238E27FC236}">
                <a16:creationId xmlns:a16="http://schemas.microsoft.com/office/drawing/2014/main" id="{4A2FA6BC-AE73-AADC-9ED2-6B837336B984}"/>
              </a:ext>
            </a:extLst>
          </p:cNvPr>
          <p:cNvSpPr>
            <a:spLocks noChangeArrowheads="1"/>
          </p:cNvSpPr>
          <p:nvPr/>
        </p:nvSpPr>
        <p:spPr bwMode="auto">
          <a:xfrm>
            <a:off x="545143" y="628758"/>
            <a:ext cx="8053711" cy="388721"/>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a:extLst>
              <a:ext uri="{FF2B5EF4-FFF2-40B4-BE49-F238E27FC236}">
                <a16:creationId xmlns:a16="http://schemas.microsoft.com/office/drawing/2014/main" id="{DF695FD0-9752-7779-E03F-8A935DA2BF60}"/>
              </a:ext>
            </a:extLst>
          </p:cNvPr>
          <p:cNvSpPr>
            <a:spLocks noChangeArrowheads="1"/>
          </p:cNvSpPr>
          <p:nvPr/>
        </p:nvSpPr>
        <p:spPr bwMode="auto">
          <a:xfrm>
            <a:off x="2812547" y="586487"/>
            <a:ext cx="35189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对未按序到达分组的处理方式</a:t>
            </a:r>
          </a:p>
        </p:txBody>
      </p:sp>
      <p:sp>
        <p:nvSpPr>
          <p:cNvPr id="7" name="Rectangle 8">
            <a:extLst>
              <a:ext uri="{FF2B5EF4-FFF2-40B4-BE49-F238E27FC236}">
                <a16:creationId xmlns:a16="http://schemas.microsoft.com/office/drawing/2014/main" id="{BC6DEE4B-FD82-586B-D57E-16E0D498771C}"/>
              </a:ext>
            </a:extLst>
          </p:cNvPr>
          <p:cNvSpPr>
            <a:spLocks noChangeArrowheads="1"/>
          </p:cNvSpPr>
          <p:nvPr/>
        </p:nvSpPr>
        <p:spPr bwMode="auto">
          <a:xfrm>
            <a:off x="545143" y="1014888"/>
            <a:ext cx="8053711" cy="3433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3300"/>
              </a:lnSpc>
              <a:buClr>
                <a:srgbClr val="0070C0"/>
              </a:buClr>
            </a:pPr>
            <a:r>
              <a:rPr lang="en-US" altLang="zh-CN" sz="2000" b="1" dirty="0">
                <a:latin typeface="微软雅黑" pitchFamily="34" charset="-122"/>
                <a:ea typeface="微软雅黑" pitchFamily="34" charset="-122"/>
              </a:rPr>
              <a:t>(3) </a:t>
            </a:r>
            <a:r>
              <a:rPr lang="zh-CN" altLang="en-US" sz="2000" b="1" dirty="0">
                <a:latin typeface="微软雅黑" pitchFamily="34" charset="-122"/>
                <a:ea typeface="微软雅黑" pitchFamily="34" charset="-122"/>
              </a:rPr>
              <a:t>接收方对乱序到达的分组，先暂存在缓冲区中，等待缺失分组的到达，但主动告诉发送方，已经收到了哪些乱序的分组</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发送方就能够及时知道这些乱序分组已被确认，这些乱序分组就不再会被超时重传。</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这种方式叫做</a:t>
            </a:r>
            <a:r>
              <a:rPr lang="zh-CN" altLang="en-US" sz="2000" b="1" dirty="0">
                <a:solidFill>
                  <a:srgbClr val="C00000"/>
                </a:solidFill>
                <a:latin typeface="微软雅黑" pitchFamily="34" charset="-122"/>
                <a:ea typeface="微软雅黑" pitchFamily="34" charset="-122"/>
              </a:rPr>
              <a:t>选择性确认</a:t>
            </a:r>
            <a:r>
              <a:rPr lang="en-US" altLang="zh-CN" sz="2000" b="1" dirty="0">
                <a:solidFill>
                  <a:srgbClr val="C00000"/>
                </a:solidFill>
                <a:latin typeface="微软雅黑" pitchFamily="34" charset="-122"/>
                <a:ea typeface="微软雅黑" pitchFamily="34" charset="-122"/>
              </a:rPr>
              <a:t>SACK</a:t>
            </a:r>
            <a:r>
              <a:rPr lang="en-US" altLang="zh-CN" sz="2000" b="1" dirty="0">
                <a:latin typeface="微软雅黑" pitchFamily="34" charset="-122"/>
                <a:ea typeface="微软雅黑" pitchFamily="34" charset="-122"/>
              </a:rPr>
              <a:t> (Selective ACK)</a:t>
            </a:r>
            <a:r>
              <a:rPr lang="zh-CN" altLang="en-US" sz="2000" b="1" dirty="0">
                <a:latin typeface="微软雅黑" pitchFamily="34" charset="-122"/>
                <a:ea typeface="微软雅黑" pitchFamily="34" charset="-122"/>
              </a:rPr>
              <a:t>，有效避免了不必要的重传，虽然实现虽较复杂，但在高误码率、长时延的环境下（比如卫星通信），能显著提升网络效率。</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选择性确认</a:t>
            </a:r>
            <a:r>
              <a:rPr lang="en-US" altLang="zh-CN" sz="2000" b="1" dirty="0">
                <a:solidFill>
                  <a:srgbClr val="0000FF"/>
                </a:solidFill>
                <a:latin typeface="微软雅黑" pitchFamily="34" charset="-122"/>
                <a:ea typeface="微软雅黑" pitchFamily="34" charset="-122"/>
              </a:rPr>
              <a:t>SACK</a:t>
            </a:r>
            <a:r>
              <a:rPr lang="zh-CN" altLang="en-US" sz="2000" b="1" dirty="0">
                <a:latin typeface="微软雅黑" pitchFamily="34" charset="-122"/>
                <a:ea typeface="微软雅黑" pitchFamily="34" charset="-122"/>
              </a:rPr>
              <a:t>作为</a:t>
            </a:r>
            <a:r>
              <a:rPr lang="zh-CN" altLang="en-US" sz="2000" b="1" dirty="0">
                <a:solidFill>
                  <a:srgbClr val="0000FF"/>
                </a:solidFill>
                <a:latin typeface="微软雅黑" pitchFamily="34" charset="-122"/>
                <a:ea typeface="微软雅黑" pitchFamily="34" charset="-122"/>
              </a:rPr>
              <a:t>可选项</a:t>
            </a:r>
            <a:r>
              <a:rPr lang="zh-CN" altLang="en-US" sz="2000" b="1" dirty="0">
                <a:latin typeface="微软雅黑" pitchFamily="34" charset="-122"/>
                <a:ea typeface="微软雅黑" pitchFamily="34" charset="-122"/>
              </a:rPr>
              <a:t>现已在多数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协议中实现。</a:t>
            </a:r>
            <a:endParaRPr lang="en-US" altLang="zh-CN" sz="2000" b="1" dirty="0">
              <a:latin typeface="微软雅黑" pitchFamily="34" charset="-122"/>
              <a:ea typeface="微软雅黑" pitchFamily="34" charset="-122"/>
            </a:endParaRPr>
          </a:p>
        </p:txBody>
      </p:sp>
    </p:spTree>
    <p:extLst>
      <p:ext uri="{BB962C8B-B14F-4D97-AF65-F5344CB8AC3E}">
        <p14:creationId xmlns:p14="http://schemas.microsoft.com/office/powerpoint/2010/main" val="578394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8"/>
          <p:cNvSpPr>
            <a:spLocks noChangeArrowheads="1"/>
          </p:cNvSpPr>
          <p:nvPr/>
        </p:nvSpPr>
        <p:spPr bwMode="auto">
          <a:xfrm>
            <a:off x="545145" y="1065923"/>
            <a:ext cx="7940488" cy="13171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虽然是面向字节流的，但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传送的数据单元却是报文段。</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一个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报文段分为首部和数据两部分，而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的全部功能都体现在它首部中各字段的作用。</a:t>
            </a:r>
          </a:p>
        </p:txBody>
      </p:sp>
      <p:sp>
        <p:nvSpPr>
          <p:cNvPr id="3" name="AutoShape 5"/>
          <p:cNvSpPr>
            <a:spLocks noChangeArrowheads="1"/>
          </p:cNvSpPr>
          <p:nvPr/>
        </p:nvSpPr>
        <p:spPr bwMode="auto">
          <a:xfrm>
            <a:off x="545144" y="614832"/>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4" name="Rectangle 6"/>
          <p:cNvSpPr>
            <a:spLocks noChangeArrowheads="1"/>
          </p:cNvSpPr>
          <p:nvPr/>
        </p:nvSpPr>
        <p:spPr bwMode="auto">
          <a:xfrm>
            <a:off x="2583732" y="572561"/>
            <a:ext cx="39765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FFFF00"/>
                </a:solidFill>
                <a:latin typeface="微软雅黑" pitchFamily="34" charset="-122"/>
                <a:ea typeface="微软雅黑" pitchFamily="34" charset="-122"/>
              </a:rPr>
              <a:t>5.5  </a:t>
            </a:r>
            <a:r>
              <a:rPr lang="en-US" altLang="zh-CN" sz="2400" b="1" dirty="0">
                <a:solidFill>
                  <a:schemeClr val="bg1"/>
                </a:solidFill>
                <a:latin typeface="微软雅黑" pitchFamily="34" charset="-122"/>
                <a:ea typeface="微软雅黑" pitchFamily="34" charset="-122"/>
              </a:rPr>
              <a:t>TCP </a:t>
            </a:r>
            <a:r>
              <a:rPr lang="zh-CN" altLang="en-US" sz="2400" b="1" dirty="0">
                <a:solidFill>
                  <a:schemeClr val="bg1"/>
                </a:solidFill>
                <a:latin typeface="微软雅黑" pitchFamily="34" charset="-122"/>
                <a:ea typeface="微软雅黑" pitchFamily="34" charset="-122"/>
              </a:rPr>
              <a:t>报文段的首部格式</a:t>
            </a:r>
          </a:p>
        </p:txBody>
      </p:sp>
    </p:spTree>
    <p:extLst>
      <p:ext uri="{BB962C8B-B14F-4D97-AF65-F5344CB8AC3E}">
        <p14:creationId xmlns:p14="http://schemas.microsoft.com/office/powerpoint/2010/main" val="1412898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E8BB6-4A79-A276-4DF8-405F04D8B022}"/>
            </a:ext>
          </a:extLst>
        </p:cNvPr>
        <p:cNvGrpSpPr/>
        <p:nvPr/>
      </p:nvGrpSpPr>
      <p:grpSpPr>
        <a:xfrm>
          <a:off x="0" y="0"/>
          <a:ext cx="0" cy="0"/>
          <a:chOff x="0" y="0"/>
          <a:chExt cx="0" cy="0"/>
        </a:xfrm>
      </p:grpSpPr>
      <p:sp>
        <p:nvSpPr>
          <p:cNvPr id="108" name="圆角矩形 107">
            <a:extLst>
              <a:ext uri="{FF2B5EF4-FFF2-40B4-BE49-F238E27FC236}">
                <a16:creationId xmlns:a16="http://schemas.microsoft.com/office/drawing/2014/main" id="{4AD0C0C6-562D-D06B-8813-874EC9B152B7}"/>
              </a:ext>
            </a:extLst>
          </p:cNvPr>
          <p:cNvSpPr/>
          <p:nvPr/>
        </p:nvSpPr>
        <p:spPr>
          <a:xfrm>
            <a:off x="545144" y="1030659"/>
            <a:ext cx="8053712" cy="339790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5">
            <a:extLst>
              <a:ext uri="{FF2B5EF4-FFF2-40B4-BE49-F238E27FC236}">
                <a16:creationId xmlns:a16="http://schemas.microsoft.com/office/drawing/2014/main" id="{ACB59F3D-EE15-DE68-BA55-82E8EB39D13B}"/>
              </a:ext>
            </a:extLst>
          </p:cNvPr>
          <p:cNvSpPr>
            <a:spLocks/>
          </p:cNvSpPr>
          <p:nvPr/>
        </p:nvSpPr>
        <p:spPr bwMode="auto">
          <a:xfrm>
            <a:off x="2466523" y="3184393"/>
            <a:ext cx="4206284" cy="314892"/>
          </a:xfrm>
          <a:custGeom>
            <a:avLst/>
            <a:gdLst>
              <a:gd name="T0" fmla="*/ 0 w 4626"/>
              <a:gd name="T1" fmla="*/ 0 h 544"/>
              <a:gd name="T2" fmla="*/ 861 w 4626"/>
              <a:gd name="T3" fmla="*/ 544 h 544"/>
              <a:gd name="T4" fmla="*/ 1814 w 4626"/>
              <a:gd name="T5" fmla="*/ 544 h 544"/>
              <a:gd name="T6" fmla="*/ 4626 w 4626"/>
              <a:gd name="T7" fmla="*/ 0 h 544"/>
              <a:gd name="T8" fmla="*/ 0 w 4626"/>
              <a:gd name="T9" fmla="*/ 0 h 544"/>
            </a:gdLst>
            <a:ahLst/>
            <a:cxnLst>
              <a:cxn ang="0">
                <a:pos x="T0" y="T1"/>
              </a:cxn>
              <a:cxn ang="0">
                <a:pos x="T2" y="T3"/>
              </a:cxn>
              <a:cxn ang="0">
                <a:pos x="T4" y="T5"/>
              </a:cxn>
              <a:cxn ang="0">
                <a:pos x="T6" y="T7"/>
              </a:cxn>
              <a:cxn ang="0">
                <a:pos x="T8" y="T9"/>
              </a:cxn>
            </a:cxnLst>
            <a:rect l="0" t="0" r="r" b="b"/>
            <a:pathLst>
              <a:path w="4626" h="544">
                <a:moveTo>
                  <a:pt x="0" y="0"/>
                </a:moveTo>
                <a:lnTo>
                  <a:pt x="861" y="544"/>
                </a:lnTo>
                <a:lnTo>
                  <a:pt x="1814" y="544"/>
                </a:lnTo>
                <a:lnTo>
                  <a:pt x="4626" y="0"/>
                </a:lnTo>
                <a:lnTo>
                  <a:pt x="0" y="0"/>
                </a:lnTo>
                <a:close/>
              </a:path>
            </a:pathLst>
          </a:custGeom>
          <a:gradFill rotWithShape="1">
            <a:gsLst>
              <a:gs pos="0">
                <a:srgbClr val="99FFCC"/>
              </a:gs>
              <a:gs pos="100000">
                <a:srgbClr val="00B0F0"/>
              </a:gs>
            </a:gsLst>
            <a:lin ang="5400000" scaled="1"/>
          </a:gradFill>
          <a:ln>
            <a:noFill/>
          </a:ln>
          <a:effectLst/>
        </p:spPr>
        <p:txBody>
          <a:bodyPr/>
          <a:lstStyle/>
          <a:p>
            <a:endParaRPr lang="zh-CN" altLang="en-US" sz="1000" b="1">
              <a:latin typeface="微软雅黑" pitchFamily="34" charset="-122"/>
              <a:ea typeface="微软雅黑" pitchFamily="34" charset="-122"/>
            </a:endParaRPr>
          </a:p>
        </p:txBody>
      </p:sp>
      <p:sp>
        <p:nvSpPr>
          <p:cNvPr id="7" name="AutoShape 4">
            <a:extLst>
              <a:ext uri="{FF2B5EF4-FFF2-40B4-BE49-F238E27FC236}">
                <a16:creationId xmlns:a16="http://schemas.microsoft.com/office/drawing/2014/main" id="{9C519B12-8958-AD82-6E16-26BD5CBDE30B}"/>
              </a:ext>
            </a:extLst>
          </p:cNvPr>
          <p:cNvSpPr>
            <a:spLocks noChangeArrowheads="1"/>
          </p:cNvSpPr>
          <p:nvPr/>
        </p:nvSpPr>
        <p:spPr bwMode="auto">
          <a:xfrm>
            <a:off x="2115346" y="4053589"/>
            <a:ext cx="391282" cy="143571"/>
          </a:xfrm>
          <a:prstGeom prst="leftArrow">
            <a:avLst>
              <a:gd name="adj1" fmla="val 50000"/>
              <a:gd name="adj2" fmla="val 62893"/>
            </a:avLst>
          </a:prstGeom>
          <a:solidFill>
            <a:srgbClr val="FF00FF"/>
          </a:solidFill>
          <a:ln w="12700">
            <a:solidFill>
              <a:schemeClr val="tx1"/>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8" name="Rectangle 106">
            <a:extLst>
              <a:ext uri="{FF2B5EF4-FFF2-40B4-BE49-F238E27FC236}">
                <a16:creationId xmlns:a16="http://schemas.microsoft.com/office/drawing/2014/main" id="{E20B979F-DA21-7922-9AC3-C4FFFE2B2E0E}"/>
              </a:ext>
            </a:extLst>
          </p:cNvPr>
          <p:cNvSpPr>
            <a:spLocks noChangeArrowheads="1"/>
          </p:cNvSpPr>
          <p:nvPr/>
        </p:nvSpPr>
        <p:spPr bwMode="auto">
          <a:xfrm>
            <a:off x="2486086" y="3982255"/>
            <a:ext cx="755175" cy="287141"/>
          </a:xfrm>
          <a:prstGeom prst="rect">
            <a:avLst/>
          </a:prstGeom>
          <a:solidFill>
            <a:srgbClr val="66FF66"/>
          </a:solidFill>
          <a:ln w="19050">
            <a:solidFill>
              <a:srgbClr val="333399"/>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9" name="Line 33">
            <a:extLst>
              <a:ext uri="{FF2B5EF4-FFF2-40B4-BE49-F238E27FC236}">
                <a16:creationId xmlns:a16="http://schemas.microsoft.com/office/drawing/2014/main" id="{FBB74F72-4D02-BA6F-BE8F-96F99721CEFA}"/>
              </a:ext>
            </a:extLst>
          </p:cNvPr>
          <p:cNvSpPr>
            <a:spLocks noChangeShapeType="1"/>
          </p:cNvSpPr>
          <p:nvPr/>
        </p:nvSpPr>
        <p:spPr bwMode="auto">
          <a:xfrm flipH="1">
            <a:off x="2282620" y="1613244"/>
            <a:ext cx="9782" cy="1568439"/>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0" name="Rectangle 34">
            <a:extLst>
              <a:ext uri="{FF2B5EF4-FFF2-40B4-BE49-F238E27FC236}">
                <a16:creationId xmlns:a16="http://schemas.microsoft.com/office/drawing/2014/main" id="{3B56F76F-008B-0D90-2335-072279AD616B}"/>
              </a:ext>
            </a:extLst>
          </p:cNvPr>
          <p:cNvSpPr>
            <a:spLocks noChangeArrowheads="1"/>
          </p:cNvSpPr>
          <p:nvPr/>
        </p:nvSpPr>
        <p:spPr bwMode="auto">
          <a:xfrm>
            <a:off x="2024068" y="2221838"/>
            <a:ext cx="439224" cy="366767"/>
          </a:xfrm>
          <a:prstGeom prst="rect">
            <a:avLst/>
          </a:prstGeom>
          <a:solidFill>
            <a:srgbClr val="C3E3F9"/>
          </a:solidFill>
          <a:ln>
            <a:noFill/>
          </a:ln>
          <a:effectLst/>
        </p:spPr>
        <p:txBody>
          <a:bodyPr wrap="none" lIns="90488" tIns="44450" rIns="90488" bIns="44450">
            <a:spAutoFit/>
          </a:bodyPr>
          <a:lstStyle/>
          <a:p>
            <a:pPr algn="ctr" defTabSz="762000" eaLnBrk="0" hangingPunct="0">
              <a:lnSpc>
                <a:spcPct val="90000"/>
              </a:lnSpc>
            </a:pPr>
            <a:r>
              <a:rPr kumimoji="1" lang="en-US" altLang="zh-CN" sz="1000" b="1" dirty="0">
                <a:solidFill>
                  <a:srgbClr val="0000FF"/>
                </a:solidFill>
                <a:latin typeface="微软雅黑" pitchFamily="34" charset="-122"/>
                <a:ea typeface="微软雅黑" pitchFamily="34" charset="-122"/>
              </a:rPr>
              <a:t>TCP</a:t>
            </a:r>
          </a:p>
          <a:p>
            <a:pPr algn="ctr" defTabSz="762000" eaLnBrk="0" hangingPunct="0">
              <a:lnSpc>
                <a:spcPct val="90000"/>
              </a:lnSpc>
            </a:pPr>
            <a:r>
              <a:rPr kumimoji="1" lang="zh-CN" altLang="en-US" sz="1000" b="1" dirty="0">
                <a:solidFill>
                  <a:srgbClr val="0000FF"/>
                </a:solidFill>
                <a:latin typeface="微软雅黑" pitchFamily="34" charset="-122"/>
                <a:ea typeface="微软雅黑" pitchFamily="34" charset="-122"/>
              </a:rPr>
              <a:t>首部</a:t>
            </a:r>
          </a:p>
        </p:txBody>
      </p:sp>
      <p:grpSp>
        <p:nvGrpSpPr>
          <p:cNvPr id="4" name="组合 3">
            <a:extLst>
              <a:ext uri="{FF2B5EF4-FFF2-40B4-BE49-F238E27FC236}">
                <a16:creationId xmlns:a16="http://schemas.microsoft.com/office/drawing/2014/main" id="{6B4BC1FA-84CF-CD49-4E68-1E15CE5CA429}"/>
              </a:ext>
            </a:extLst>
          </p:cNvPr>
          <p:cNvGrpSpPr/>
          <p:nvPr/>
        </p:nvGrpSpPr>
        <p:grpSpPr>
          <a:xfrm>
            <a:off x="6635856" y="1609631"/>
            <a:ext cx="763030" cy="1317417"/>
            <a:chOff x="6635856" y="1609631"/>
            <a:chExt cx="763030" cy="1317417"/>
          </a:xfrm>
        </p:grpSpPr>
        <p:sp>
          <p:nvSpPr>
            <p:cNvPr id="11" name="Line 35">
              <a:extLst>
                <a:ext uri="{FF2B5EF4-FFF2-40B4-BE49-F238E27FC236}">
                  <a16:creationId xmlns:a16="http://schemas.microsoft.com/office/drawing/2014/main" id="{38F1D798-F512-F0C7-722D-474C082D1DA9}"/>
                </a:ext>
              </a:extLst>
            </p:cNvPr>
            <p:cNvSpPr>
              <a:spLocks noChangeShapeType="1"/>
            </p:cNvSpPr>
            <p:nvPr/>
          </p:nvSpPr>
          <p:spPr bwMode="auto">
            <a:xfrm>
              <a:off x="6919314" y="1609631"/>
              <a:ext cx="0" cy="1317417"/>
            </a:xfrm>
            <a:prstGeom prst="line">
              <a:avLst/>
            </a:prstGeom>
            <a:noFill/>
            <a:ln w="12700">
              <a:solidFill>
                <a:srgbClr val="CC00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2" name="Rectangle 36">
              <a:extLst>
                <a:ext uri="{FF2B5EF4-FFF2-40B4-BE49-F238E27FC236}">
                  <a16:creationId xmlns:a16="http://schemas.microsoft.com/office/drawing/2014/main" id="{16AACB7C-F3EB-9C08-B9DC-C085D16BFC06}"/>
                </a:ext>
              </a:extLst>
            </p:cNvPr>
            <p:cNvSpPr>
              <a:spLocks noChangeArrowheads="1"/>
            </p:cNvSpPr>
            <p:nvPr/>
          </p:nvSpPr>
          <p:spPr bwMode="auto">
            <a:xfrm>
              <a:off x="6635856" y="2090188"/>
              <a:ext cx="763030" cy="366767"/>
            </a:xfrm>
            <a:prstGeom prst="rect">
              <a:avLst/>
            </a:prstGeom>
            <a:solidFill>
              <a:srgbClr val="C3E3F9"/>
            </a:solidFill>
            <a:ln>
              <a:noFill/>
            </a:ln>
            <a:effectLst/>
          </p:spPr>
          <p:txBody>
            <a:bodyPr wrap="none" lIns="90488" tIns="44450" rIns="90488" bIns="44450">
              <a:spAutoFit/>
            </a:bodyPr>
            <a:lstStyle/>
            <a:p>
              <a:pPr algn="ctr" defTabSz="762000" eaLnBrk="0" hangingPunct="0">
                <a:lnSpc>
                  <a:spcPct val="90000"/>
                </a:lnSpc>
              </a:pPr>
              <a:r>
                <a:rPr kumimoji="1" lang="en-US" altLang="zh-CN" sz="1000" b="1" dirty="0">
                  <a:solidFill>
                    <a:srgbClr val="CC00CC"/>
                  </a:solidFill>
                  <a:latin typeface="微软雅黑" pitchFamily="34" charset="-122"/>
                  <a:ea typeface="微软雅黑" pitchFamily="34" charset="-122"/>
                </a:rPr>
                <a:t>20 </a:t>
              </a:r>
              <a:r>
                <a:rPr kumimoji="1" lang="zh-CN" altLang="en-US" sz="1000" b="1" dirty="0">
                  <a:solidFill>
                    <a:srgbClr val="CC00CC"/>
                  </a:solidFill>
                  <a:latin typeface="微软雅黑" pitchFamily="34" charset="-122"/>
                  <a:ea typeface="微软雅黑" pitchFamily="34" charset="-122"/>
                </a:rPr>
                <a:t>字节的</a:t>
              </a:r>
            </a:p>
            <a:p>
              <a:pPr algn="ctr" defTabSz="762000" eaLnBrk="0" hangingPunct="0">
                <a:lnSpc>
                  <a:spcPct val="90000"/>
                </a:lnSpc>
              </a:pPr>
              <a:r>
                <a:rPr kumimoji="1" lang="zh-CN" altLang="en-US" sz="1000" b="1" dirty="0">
                  <a:solidFill>
                    <a:srgbClr val="CC00CC"/>
                  </a:solidFill>
                  <a:latin typeface="微软雅黑" pitchFamily="34" charset="-122"/>
                  <a:ea typeface="微软雅黑" pitchFamily="34" charset="-122"/>
                </a:rPr>
                <a:t>固定首部</a:t>
              </a:r>
            </a:p>
          </p:txBody>
        </p:sp>
      </p:grpSp>
      <p:sp>
        <p:nvSpPr>
          <p:cNvPr id="13" name="Rectangle 75">
            <a:extLst>
              <a:ext uri="{FF2B5EF4-FFF2-40B4-BE49-F238E27FC236}">
                <a16:creationId xmlns:a16="http://schemas.microsoft.com/office/drawing/2014/main" id="{8ADD0090-8598-7CCC-74EA-D2964F01CFDA}"/>
              </a:ext>
            </a:extLst>
          </p:cNvPr>
          <p:cNvSpPr>
            <a:spLocks noChangeArrowheads="1"/>
          </p:cNvSpPr>
          <p:nvPr/>
        </p:nvSpPr>
        <p:spPr bwMode="auto">
          <a:xfrm>
            <a:off x="2460653" y="1612340"/>
            <a:ext cx="4196502" cy="1572052"/>
          </a:xfrm>
          <a:prstGeom prst="rect">
            <a:avLst/>
          </a:prstGeom>
          <a:solidFill>
            <a:srgbClr val="00FFFF"/>
          </a:solidFill>
          <a:ln w="25400">
            <a:solidFill>
              <a:schemeClr val="tx1"/>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15" name="Line 6">
            <a:extLst>
              <a:ext uri="{FF2B5EF4-FFF2-40B4-BE49-F238E27FC236}">
                <a16:creationId xmlns:a16="http://schemas.microsoft.com/office/drawing/2014/main" id="{3DDEBF59-8620-2BB2-FBFF-C70D7109B7CB}"/>
              </a:ext>
            </a:extLst>
          </p:cNvPr>
          <p:cNvSpPr>
            <a:spLocks noChangeShapeType="1"/>
          </p:cNvSpPr>
          <p:nvPr/>
        </p:nvSpPr>
        <p:spPr bwMode="auto">
          <a:xfrm>
            <a:off x="2456740" y="1879616"/>
            <a:ext cx="42033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6" name="Line 7">
            <a:extLst>
              <a:ext uri="{FF2B5EF4-FFF2-40B4-BE49-F238E27FC236}">
                <a16:creationId xmlns:a16="http://schemas.microsoft.com/office/drawing/2014/main" id="{6139CB5D-556D-E6EB-A3DB-55450B447A4E}"/>
              </a:ext>
            </a:extLst>
          </p:cNvPr>
          <p:cNvSpPr>
            <a:spLocks noChangeShapeType="1"/>
          </p:cNvSpPr>
          <p:nvPr/>
        </p:nvSpPr>
        <p:spPr bwMode="auto">
          <a:xfrm>
            <a:off x="2464566" y="2144183"/>
            <a:ext cx="41955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7" name="Line 8">
            <a:extLst>
              <a:ext uri="{FF2B5EF4-FFF2-40B4-BE49-F238E27FC236}">
                <a16:creationId xmlns:a16="http://schemas.microsoft.com/office/drawing/2014/main" id="{2BD0C01D-0188-30E4-7077-0BD081FFEDB7}"/>
              </a:ext>
            </a:extLst>
          </p:cNvPr>
          <p:cNvSpPr>
            <a:spLocks noChangeShapeType="1"/>
          </p:cNvSpPr>
          <p:nvPr/>
        </p:nvSpPr>
        <p:spPr bwMode="auto">
          <a:xfrm>
            <a:off x="2456740" y="2407847"/>
            <a:ext cx="42033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8" name="Line 9">
            <a:extLst>
              <a:ext uri="{FF2B5EF4-FFF2-40B4-BE49-F238E27FC236}">
                <a16:creationId xmlns:a16="http://schemas.microsoft.com/office/drawing/2014/main" id="{8A45B379-8294-D36B-3DCE-939D0DF90E2D}"/>
              </a:ext>
            </a:extLst>
          </p:cNvPr>
          <p:cNvSpPr>
            <a:spLocks noChangeShapeType="1"/>
          </p:cNvSpPr>
          <p:nvPr/>
        </p:nvSpPr>
        <p:spPr bwMode="auto">
          <a:xfrm>
            <a:off x="2456740" y="2671511"/>
            <a:ext cx="42033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9" name="Line 10">
            <a:extLst>
              <a:ext uri="{FF2B5EF4-FFF2-40B4-BE49-F238E27FC236}">
                <a16:creationId xmlns:a16="http://schemas.microsoft.com/office/drawing/2014/main" id="{81589452-EB93-027F-4CA1-88922DC06F30}"/>
              </a:ext>
            </a:extLst>
          </p:cNvPr>
          <p:cNvSpPr>
            <a:spLocks noChangeShapeType="1"/>
          </p:cNvSpPr>
          <p:nvPr/>
        </p:nvSpPr>
        <p:spPr bwMode="auto">
          <a:xfrm>
            <a:off x="2464566" y="2936078"/>
            <a:ext cx="41955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20" name="Line 11">
            <a:extLst>
              <a:ext uri="{FF2B5EF4-FFF2-40B4-BE49-F238E27FC236}">
                <a16:creationId xmlns:a16="http://schemas.microsoft.com/office/drawing/2014/main" id="{84B42650-A224-FC52-5723-AF860CFCDFA8}"/>
              </a:ext>
            </a:extLst>
          </p:cNvPr>
          <p:cNvSpPr>
            <a:spLocks noChangeShapeType="1"/>
          </p:cNvSpPr>
          <p:nvPr/>
        </p:nvSpPr>
        <p:spPr bwMode="auto">
          <a:xfrm>
            <a:off x="4559883" y="1615049"/>
            <a:ext cx="0" cy="2699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21" name="Rectangle 12">
            <a:extLst>
              <a:ext uri="{FF2B5EF4-FFF2-40B4-BE49-F238E27FC236}">
                <a16:creationId xmlns:a16="http://schemas.microsoft.com/office/drawing/2014/main" id="{188C03D0-37F0-0A77-D80E-DB976ACDFB0C}"/>
              </a:ext>
            </a:extLst>
          </p:cNvPr>
          <p:cNvSpPr>
            <a:spLocks noChangeArrowheads="1"/>
          </p:cNvSpPr>
          <p:nvPr/>
        </p:nvSpPr>
        <p:spPr bwMode="auto">
          <a:xfrm>
            <a:off x="5215280" y="1619919"/>
            <a:ext cx="926537"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a:latin typeface="微软雅黑" pitchFamily="34" charset="-122"/>
                <a:ea typeface="微软雅黑" pitchFamily="34" charset="-122"/>
              </a:rPr>
              <a:t>目  的  端  口</a:t>
            </a:r>
          </a:p>
        </p:txBody>
      </p:sp>
      <p:sp>
        <p:nvSpPr>
          <p:cNvPr id="22" name="Rectangle 13">
            <a:extLst>
              <a:ext uri="{FF2B5EF4-FFF2-40B4-BE49-F238E27FC236}">
                <a16:creationId xmlns:a16="http://schemas.microsoft.com/office/drawing/2014/main" id="{5BA80EBD-E6B5-51D3-B721-A021EA78AF34}"/>
              </a:ext>
            </a:extLst>
          </p:cNvPr>
          <p:cNvSpPr>
            <a:spLocks noChangeArrowheads="1"/>
          </p:cNvSpPr>
          <p:nvPr/>
        </p:nvSpPr>
        <p:spPr bwMode="auto">
          <a:xfrm>
            <a:off x="2427738" y="2418327"/>
            <a:ext cx="69648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000" b="1" dirty="0">
                <a:latin typeface="微软雅黑" pitchFamily="34" charset="-122"/>
                <a:ea typeface="微软雅黑" pitchFamily="34" charset="-122"/>
              </a:rPr>
              <a:t>数据偏移</a:t>
            </a:r>
          </a:p>
        </p:txBody>
      </p:sp>
      <p:sp>
        <p:nvSpPr>
          <p:cNvPr id="23" name="Rectangle 14">
            <a:extLst>
              <a:ext uri="{FF2B5EF4-FFF2-40B4-BE49-F238E27FC236}">
                <a16:creationId xmlns:a16="http://schemas.microsoft.com/office/drawing/2014/main" id="{15035EEF-D58B-6244-D788-7823575E66C1}"/>
              </a:ext>
            </a:extLst>
          </p:cNvPr>
          <p:cNvSpPr>
            <a:spLocks noChangeArrowheads="1"/>
          </p:cNvSpPr>
          <p:nvPr/>
        </p:nvSpPr>
        <p:spPr bwMode="auto">
          <a:xfrm>
            <a:off x="3133659" y="2687308"/>
            <a:ext cx="798296"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a:latin typeface="微软雅黑" pitchFamily="34" charset="-122"/>
                <a:ea typeface="微软雅黑" pitchFamily="34" charset="-122"/>
              </a:rPr>
              <a:t>检   验   和</a:t>
            </a:r>
          </a:p>
        </p:txBody>
      </p:sp>
      <p:sp>
        <p:nvSpPr>
          <p:cNvPr id="24" name="Rectangle 15">
            <a:extLst>
              <a:ext uri="{FF2B5EF4-FFF2-40B4-BE49-F238E27FC236}">
                <a16:creationId xmlns:a16="http://schemas.microsoft.com/office/drawing/2014/main" id="{39E719F7-7446-92A3-A34E-C3478CABAEC9}"/>
              </a:ext>
            </a:extLst>
          </p:cNvPr>
          <p:cNvSpPr>
            <a:spLocks noChangeArrowheads="1"/>
          </p:cNvSpPr>
          <p:nvPr/>
        </p:nvSpPr>
        <p:spPr bwMode="auto">
          <a:xfrm>
            <a:off x="3244195" y="2931107"/>
            <a:ext cx="174609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选    项    （长  度  可  变）</a:t>
            </a:r>
          </a:p>
        </p:txBody>
      </p:sp>
      <p:sp>
        <p:nvSpPr>
          <p:cNvPr id="25" name="Rectangle 16">
            <a:extLst>
              <a:ext uri="{FF2B5EF4-FFF2-40B4-BE49-F238E27FC236}">
                <a16:creationId xmlns:a16="http://schemas.microsoft.com/office/drawing/2014/main" id="{88DCC4DA-86C1-78FE-2528-BAAC3FCA96C1}"/>
              </a:ext>
            </a:extLst>
          </p:cNvPr>
          <p:cNvSpPr>
            <a:spLocks noChangeArrowheads="1"/>
          </p:cNvSpPr>
          <p:nvPr/>
        </p:nvSpPr>
        <p:spPr bwMode="auto">
          <a:xfrm>
            <a:off x="3196264" y="1619919"/>
            <a:ext cx="721352"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源  端  口</a:t>
            </a:r>
          </a:p>
        </p:txBody>
      </p:sp>
      <p:sp>
        <p:nvSpPr>
          <p:cNvPr id="26" name="Rectangle 17">
            <a:extLst>
              <a:ext uri="{FF2B5EF4-FFF2-40B4-BE49-F238E27FC236}">
                <a16:creationId xmlns:a16="http://schemas.microsoft.com/office/drawing/2014/main" id="{7FAAB6EE-B9A7-F37D-F1F6-E057E3694606}"/>
              </a:ext>
            </a:extLst>
          </p:cNvPr>
          <p:cNvSpPr>
            <a:spLocks noChangeArrowheads="1"/>
          </p:cNvSpPr>
          <p:nvPr/>
        </p:nvSpPr>
        <p:spPr bwMode="auto">
          <a:xfrm>
            <a:off x="4317288" y="1880873"/>
            <a:ext cx="62996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序   号</a:t>
            </a:r>
          </a:p>
        </p:txBody>
      </p:sp>
      <p:sp>
        <p:nvSpPr>
          <p:cNvPr id="27" name="Line 18">
            <a:extLst>
              <a:ext uri="{FF2B5EF4-FFF2-40B4-BE49-F238E27FC236}">
                <a16:creationId xmlns:a16="http://schemas.microsoft.com/office/drawing/2014/main" id="{9255CDD5-E843-15AA-E882-BE261A68585E}"/>
              </a:ext>
            </a:extLst>
          </p:cNvPr>
          <p:cNvSpPr>
            <a:spLocks noChangeShapeType="1"/>
          </p:cNvSpPr>
          <p:nvPr/>
        </p:nvSpPr>
        <p:spPr bwMode="auto">
          <a:xfrm>
            <a:off x="4562817" y="2411459"/>
            <a:ext cx="0" cy="52100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28" name="Rectangle 19">
            <a:extLst>
              <a:ext uri="{FF2B5EF4-FFF2-40B4-BE49-F238E27FC236}">
                <a16:creationId xmlns:a16="http://schemas.microsoft.com/office/drawing/2014/main" id="{B26107DA-8855-AEBB-6B58-622E96B53088}"/>
              </a:ext>
            </a:extLst>
          </p:cNvPr>
          <p:cNvSpPr>
            <a:spLocks noChangeArrowheads="1"/>
          </p:cNvSpPr>
          <p:nvPr/>
        </p:nvSpPr>
        <p:spPr bwMode="auto">
          <a:xfrm>
            <a:off x="5127242" y="2687308"/>
            <a:ext cx="104195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a:latin typeface="微软雅黑" pitchFamily="34" charset="-122"/>
                <a:ea typeface="微软雅黑" pitchFamily="34" charset="-122"/>
              </a:rPr>
              <a:t>紧   急   指   针</a:t>
            </a:r>
          </a:p>
        </p:txBody>
      </p:sp>
      <p:sp>
        <p:nvSpPr>
          <p:cNvPr id="29" name="Rectangle 20">
            <a:extLst>
              <a:ext uri="{FF2B5EF4-FFF2-40B4-BE49-F238E27FC236}">
                <a16:creationId xmlns:a16="http://schemas.microsoft.com/office/drawing/2014/main" id="{935F237A-F8A9-B7FD-40CE-95C64D65A05D}"/>
              </a:ext>
            </a:extLst>
          </p:cNvPr>
          <p:cNvSpPr>
            <a:spLocks noChangeArrowheads="1"/>
          </p:cNvSpPr>
          <p:nvPr/>
        </p:nvSpPr>
        <p:spPr bwMode="auto">
          <a:xfrm>
            <a:off x="5372771" y="2413711"/>
            <a:ext cx="554640"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a:latin typeface="微软雅黑" pitchFamily="34" charset="-122"/>
                <a:ea typeface="微软雅黑" pitchFamily="34" charset="-122"/>
              </a:rPr>
              <a:t>窗   口</a:t>
            </a:r>
          </a:p>
        </p:txBody>
      </p:sp>
      <p:sp>
        <p:nvSpPr>
          <p:cNvPr id="30" name="Rectangle 21">
            <a:extLst>
              <a:ext uri="{FF2B5EF4-FFF2-40B4-BE49-F238E27FC236}">
                <a16:creationId xmlns:a16="http://schemas.microsoft.com/office/drawing/2014/main" id="{84FD2CD1-FA5D-CA50-86BC-CF7516C29326}"/>
              </a:ext>
            </a:extLst>
          </p:cNvPr>
          <p:cNvSpPr>
            <a:spLocks noChangeArrowheads="1"/>
          </p:cNvSpPr>
          <p:nvPr/>
        </p:nvSpPr>
        <p:spPr bwMode="auto">
          <a:xfrm>
            <a:off x="4183272" y="2148961"/>
            <a:ext cx="92629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确    认    号</a:t>
            </a:r>
          </a:p>
        </p:txBody>
      </p:sp>
      <p:sp>
        <p:nvSpPr>
          <p:cNvPr id="31" name="Line 22">
            <a:extLst>
              <a:ext uri="{FF2B5EF4-FFF2-40B4-BE49-F238E27FC236}">
                <a16:creationId xmlns:a16="http://schemas.microsoft.com/office/drawing/2014/main" id="{7F1405CF-0875-3A24-5646-FB894D884A79}"/>
              </a:ext>
            </a:extLst>
          </p:cNvPr>
          <p:cNvSpPr>
            <a:spLocks noChangeShapeType="1"/>
          </p:cNvSpPr>
          <p:nvPr/>
        </p:nvSpPr>
        <p:spPr bwMode="auto">
          <a:xfrm>
            <a:off x="3056165" y="2411459"/>
            <a:ext cx="0" cy="26366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32" name="Line 23">
            <a:extLst>
              <a:ext uri="{FF2B5EF4-FFF2-40B4-BE49-F238E27FC236}">
                <a16:creationId xmlns:a16="http://schemas.microsoft.com/office/drawing/2014/main" id="{616E7B98-F71E-D564-8DE8-44B598BE2E07}"/>
              </a:ext>
            </a:extLst>
          </p:cNvPr>
          <p:cNvSpPr>
            <a:spLocks noChangeShapeType="1"/>
          </p:cNvSpPr>
          <p:nvPr/>
        </p:nvSpPr>
        <p:spPr bwMode="auto">
          <a:xfrm>
            <a:off x="4035564" y="2408750"/>
            <a:ext cx="0" cy="2600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33" name="Line 24">
            <a:extLst>
              <a:ext uri="{FF2B5EF4-FFF2-40B4-BE49-F238E27FC236}">
                <a16:creationId xmlns:a16="http://schemas.microsoft.com/office/drawing/2014/main" id="{B68528C7-7264-2DF5-56B0-929A47D1335A}"/>
              </a:ext>
            </a:extLst>
          </p:cNvPr>
          <p:cNvSpPr>
            <a:spLocks noChangeShapeType="1"/>
          </p:cNvSpPr>
          <p:nvPr/>
        </p:nvSpPr>
        <p:spPr bwMode="auto">
          <a:xfrm>
            <a:off x="3765580" y="2411459"/>
            <a:ext cx="0" cy="26366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34" name="Line 25">
            <a:extLst>
              <a:ext uri="{FF2B5EF4-FFF2-40B4-BE49-F238E27FC236}">
                <a16:creationId xmlns:a16="http://schemas.microsoft.com/office/drawing/2014/main" id="{9AC75D74-BA02-9FC4-86C5-304179895DD6}"/>
              </a:ext>
            </a:extLst>
          </p:cNvPr>
          <p:cNvSpPr>
            <a:spLocks noChangeShapeType="1"/>
          </p:cNvSpPr>
          <p:nvPr/>
        </p:nvSpPr>
        <p:spPr bwMode="auto">
          <a:xfrm>
            <a:off x="3899593" y="2411459"/>
            <a:ext cx="0" cy="2591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35" name="Line 26">
            <a:extLst>
              <a:ext uri="{FF2B5EF4-FFF2-40B4-BE49-F238E27FC236}">
                <a16:creationId xmlns:a16="http://schemas.microsoft.com/office/drawing/2014/main" id="{0DF1EF76-9E86-2099-403A-CE77C5496333}"/>
              </a:ext>
            </a:extLst>
          </p:cNvPr>
          <p:cNvSpPr>
            <a:spLocks noChangeShapeType="1"/>
          </p:cNvSpPr>
          <p:nvPr/>
        </p:nvSpPr>
        <p:spPr bwMode="auto">
          <a:xfrm>
            <a:off x="4297724" y="2411459"/>
            <a:ext cx="0" cy="2591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36" name="Line 27">
            <a:extLst>
              <a:ext uri="{FF2B5EF4-FFF2-40B4-BE49-F238E27FC236}">
                <a16:creationId xmlns:a16="http://schemas.microsoft.com/office/drawing/2014/main" id="{F66560B0-B9E2-32C7-8AE3-CAA3FF740ECF}"/>
              </a:ext>
            </a:extLst>
          </p:cNvPr>
          <p:cNvSpPr>
            <a:spLocks noChangeShapeType="1"/>
          </p:cNvSpPr>
          <p:nvPr/>
        </p:nvSpPr>
        <p:spPr bwMode="auto">
          <a:xfrm>
            <a:off x="4166644" y="2411459"/>
            <a:ext cx="0" cy="2591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37" name="Line 28">
            <a:extLst>
              <a:ext uri="{FF2B5EF4-FFF2-40B4-BE49-F238E27FC236}">
                <a16:creationId xmlns:a16="http://schemas.microsoft.com/office/drawing/2014/main" id="{7C4B717C-3DD5-6B0A-4F62-2D4BC7B59645}"/>
              </a:ext>
            </a:extLst>
          </p:cNvPr>
          <p:cNvSpPr>
            <a:spLocks noChangeShapeType="1"/>
          </p:cNvSpPr>
          <p:nvPr/>
        </p:nvSpPr>
        <p:spPr bwMode="auto">
          <a:xfrm>
            <a:off x="4431737" y="2411459"/>
            <a:ext cx="0" cy="2591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38" name="Rectangle 29">
            <a:extLst>
              <a:ext uri="{FF2B5EF4-FFF2-40B4-BE49-F238E27FC236}">
                <a16:creationId xmlns:a16="http://schemas.microsoft.com/office/drawing/2014/main" id="{9920ABFF-8CBE-7FA8-7C7D-B5CD92C46A84}"/>
              </a:ext>
            </a:extLst>
          </p:cNvPr>
          <p:cNvSpPr>
            <a:spLocks noChangeArrowheads="1"/>
          </p:cNvSpPr>
          <p:nvPr/>
        </p:nvSpPr>
        <p:spPr bwMode="auto">
          <a:xfrm>
            <a:off x="3147354" y="2419129"/>
            <a:ext cx="554640"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保   留</a:t>
            </a:r>
          </a:p>
        </p:txBody>
      </p:sp>
      <p:sp>
        <p:nvSpPr>
          <p:cNvPr id="39" name="Rectangle 30">
            <a:extLst>
              <a:ext uri="{FF2B5EF4-FFF2-40B4-BE49-F238E27FC236}">
                <a16:creationId xmlns:a16="http://schemas.microsoft.com/office/drawing/2014/main" id="{A5337490-BFA1-7B26-F2DA-EBC32E2CCDDD}"/>
              </a:ext>
            </a:extLst>
          </p:cNvPr>
          <p:cNvSpPr>
            <a:spLocks noChangeArrowheads="1"/>
          </p:cNvSpPr>
          <p:nvPr/>
        </p:nvSpPr>
        <p:spPr bwMode="auto">
          <a:xfrm>
            <a:off x="4376548" y="2389423"/>
            <a:ext cx="258085" cy="332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700" b="1" dirty="0">
                <a:latin typeface="微软雅黑" pitchFamily="34" charset="-122"/>
                <a:ea typeface="微软雅黑" pitchFamily="34" charset="-122"/>
              </a:rPr>
              <a:t>F</a:t>
            </a:r>
          </a:p>
          <a:p>
            <a:pPr algn="ctr" defTabSz="762000" eaLnBrk="0" hangingPunct="0">
              <a:lnSpc>
                <a:spcPct val="75000"/>
              </a:lnSpc>
            </a:pPr>
            <a:r>
              <a:rPr kumimoji="1" lang="en-US" altLang="zh-CN" sz="700" b="1" dirty="0">
                <a:latin typeface="微软雅黑" pitchFamily="34" charset="-122"/>
                <a:ea typeface="微软雅黑" pitchFamily="34" charset="-122"/>
              </a:rPr>
              <a:t>I</a:t>
            </a:r>
          </a:p>
          <a:p>
            <a:pPr algn="ctr" defTabSz="762000" eaLnBrk="0" hangingPunct="0">
              <a:lnSpc>
                <a:spcPct val="75000"/>
              </a:lnSpc>
            </a:pPr>
            <a:r>
              <a:rPr kumimoji="1" lang="en-US" altLang="zh-CN" sz="700" b="1" dirty="0">
                <a:latin typeface="微软雅黑" pitchFamily="34" charset="-122"/>
                <a:ea typeface="微软雅黑" pitchFamily="34" charset="-122"/>
              </a:rPr>
              <a:t>N</a:t>
            </a:r>
          </a:p>
        </p:txBody>
      </p:sp>
      <p:sp>
        <p:nvSpPr>
          <p:cNvPr id="40" name="Line 31">
            <a:extLst>
              <a:ext uri="{FF2B5EF4-FFF2-40B4-BE49-F238E27FC236}">
                <a16:creationId xmlns:a16="http://schemas.microsoft.com/office/drawing/2014/main" id="{541FDA18-F2A3-A2B5-1688-EEAEAD1CD3DC}"/>
              </a:ext>
            </a:extLst>
          </p:cNvPr>
          <p:cNvSpPr>
            <a:spLocks noChangeShapeType="1"/>
          </p:cNvSpPr>
          <p:nvPr/>
        </p:nvSpPr>
        <p:spPr bwMode="auto">
          <a:xfrm>
            <a:off x="2467500" y="1224367"/>
            <a:ext cx="4186720" cy="0"/>
          </a:xfrm>
          <a:prstGeom prst="line">
            <a:avLst/>
          </a:prstGeom>
          <a:noFill/>
          <a:ln w="127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41" name="Rectangle 32">
            <a:extLst>
              <a:ext uri="{FF2B5EF4-FFF2-40B4-BE49-F238E27FC236}">
                <a16:creationId xmlns:a16="http://schemas.microsoft.com/office/drawing/2014/main" id="{C3C3701A-6CAF-B005-2489-A4D3171B8CDC}"/>
              </a:ext>
            </a:extLst>
          </p:cNvPr>
          <p:cNvSpPr>
            <a:spLocks noChangeArrowheads="1"/>
          </p:cNvSpPr>
          <p:nvPr/>
        </p:nvSpPr>
        <p:spPr bwMode="auto">
          <a:xfrm>
            <a:off x="4291854" y="1114069"/>
            <a:ext cx="506551" cy="243656"/>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00" b="1" dirty="0">
                <a:solidFill>
                  <a:srgbClr val="0000FF"/>
                </a:solidFill>
                <a:latin typeface="微软雅黑" pitchFamily="34" charset="-122"/>
                <a:ea typeface="微软雅黑" pitchFamily="34" charset="-122"/>
              </a:rPr>
              <a:t>32 </a:t>
            </a:r>
            <a:r>
              <a:rPr kumimoji="1" lang="zh-CN" altLang="en-US" sz="1000" b="1" dirty="0">
                <a:solidFill>
                  <a:srgbClr val="0000FF"/>
                </a:solidFill>
                <a:latin typeface="微软雅黑" pitchFamily="34" charset="-122"/>
                <a:ea typeface="微软雅黑" pitchFamily="34" charset="-122"/>
              </a:rPr>
              <a:t>位</a:t>
            </a:r>
          </a:p>
        </p:txBody>
      </p:sp>
      <p:sp>
        <p:nvSpPr>
          <p:cNvPr id="80" name="Rectangle 76">
            <a:extLst>
              <a:ext uri="{FF2B5EF4-FFF2-40B4-BE49-F238E27FC236}">
                <a16:creationId xmlns:a16="http://schemas.microsoft.com/office/drawing/2014/main" id="{281E6A04-3853-BDB8-3F4B-51CF5966FF58}"/>
              </a:ext>
            </a:extLst>
          </p:cNvPr>
          <p:cNvSpPr>
            <a:spLocks noChangeArrowheads="1"/>
          </p:cNvSpPr>
          <p:nvPr/>
        </p:nvSpPr>
        <p:spPr bwMode="auto">
          <a:xfrm>
            <a:off x="4255279" y="2396738"/>
            <a:ext cx="258085"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a:latin typeface="微软雅黑" pitchFamily="34" charset="-122"/>
                <a:ea typeface="微软雅黑" pitchFamily="34" charset="-122"/>
              </a:rPr>
              <a:t>S</a:t>
            </a:r>
          </a:p>
          <a:p>
            <a:pPr defTabSz="762000" eaLnBrk="0" hangingPunct="0">
              <a:lnSpc>
                <a:spcPct val="75000"/>
              </a:lnSpc>
            </a:pPr>
            <a:r>
              <a:rPr kumimoji="1" lang="en-US" altLang="zh-CN" sz="700" b="1">
                <a:latin typeface="微软雅黑" pitchFamily="34" charset="-122"/>
                <a:ea typeface="微软雅黑" pitchFamily="34" charset="-122"/>
              </a:rPr>
              <a:t>Y</a:t>
            </a:r>
          </a:p>
          <a:p>
            <a:pPr defTabSz="762000" eaLnBrk="0" hangingPunct="0">
              <a:lnSpc>
                <a:spcPct val="75000"/>
              </a:lnSpc>
            </a:pPr>
            <a:r>
              <a:rPr kumimoji="1" lang="en-US" altLang="zh-CN" sz="700" b="1">
                <a:latin typeface="微软雅黑" pitchFamily="34" charset="-122"/>
                <a:ea typeface="微软雅黑" pitchFamily="34" charset="-122"/>
              </a:rPr>
              <a:t>N</a:t>
            </a:r>
          </a:p>
        </p:txBody>
      </p:sp>
      <p:sp>
        <p:nvSpPr>
          <p:cNvPr id="81" name="Rectangle 77">
            <a:extLst>
              <a:ext uri="{FF2B5EF4-FFF2-40B4-BE49-F238E27FC236}">
                <a16:creationId xmlns:a16="http://schemas.microsoft.com/office/drawing/2014/main" id="{E0BC4F6C-DB25-3674-C0B1-05892B0311D2}"/>
              </a:ext>
            </a:extLst>
          </p:cNvPr>
          <p:cNvSpPr>
            <a:spLocks noChangeArrowheads="1"/>
          </p:cNvSpPr>
          <p:nvPr/>
        </p:nvSpPr>
        <p:spPr bwMode="auto">
          <a:xfrm>
            <a:off x="4125178" y="2396738"/>
            <a:ext cx="245261"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a:latin typeface="微软雅黑" pitchFamily="34" charset="-122"/>
                <a:ea typeface="微软雅黑" pitchFamily="34" charset="-122"/>
              </a:rPr>
              <a:t>R</a:t>
            </a:r>
          </a:p>
          <a:p>
            <a:pPr defTabSz="762000" eaLnBrk="0" hangingPunct="0">
              <a:lnSpc>
                <a:spcPct val="75000"/>
              </a:lnSpc>
            </a:pPr>
            <a:r>
              <a:rPr kumimoji="1" lang="en-US" altLang="zh-CN" sz="700" b="1">
                <a:latin typeface="微软雅黑" pitchFamily="34" charset="-122"/>
                <a:ea typeface="微软雅黑" pitchFamily="34" charset="-122"/>
              </a:rPr>
              <a:t>S</a:t>
            </a:r>
          </a:p>
          <a:p>
            <a:pPr defTabSz="762000" eaLnBrk="0" hangingPunct="0">
              <a:lnSpc>
                <a:spcPct val="75000"/>
              </a:lnSpc>
            </a:pPr>
            <a:r>
              <a:rPr kumimoji="1" lang="en-US" altLang="zh-CN" sz="700" b="1">
                <a:latin typeface="微软雅黑" pitchFamily="34" charset="-122"/>
                <a:ea typeface="微软雅黑" pitchFamily="34" charset="-122"/>
              </a:rPr>
              <a:t>T</a:t>
            </a:r>
          </a:p>
        </p:txBody>
      </p:sp>
      <p:sp>
        <p:nvSpPr>
          <p:cNvPr id="82" name="Rectangle 78">
            <a:extLst>
              <a:ext uri="{FF2B5EF4-FFF2-40B4-BE49-F238E27FC236}">
                <a16:creationId xmlns:a16="http://schemas.microsoft.com/office/drawing/2014/main" id="{DDC8B77B-1037-F8C9-D81B-78D84C0B508A}"/>
              </a:ext>
            </a:extLst>
          </p:cNvPr>
          <p:cNvSpPr>
            <a:spLocks noChangeArrowheads="1"/>
          </p:cNvSpPr>
          <p:nvPr/>
        </p:nvSpPr>
        <p:spPr bwMode="auto">
          <a:xfrm>
            <a:off x="3985294" y="2396738"/>
            <a:ext cx="256481"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dirty="0">
                <a:latin typeface="微软雅黑" pitchFamily="34" charset="-122"/>
                <a:ea typeface="微软雅黑" pitchFamily="34" charset="-122"/>
              </a:rPr>
              <a:t>P</a:t>
            </a:r>
          </a:p>
          <a:p>
            <a:pPr defTabSz="762000" eaLnBrk="0" hangingPunct="0">
              <a:lnSpc>
                <a:spcPct val="75000"/>
              </a:lnSpc>
            </a:pPr>
            <a:r>
              <a:rPr kumimoji="1" lang="en-US" altLang="zh-CN" sz="700" b="1" dirty="0">
                <a:latin typeface="微软雅黑" pitchFamily="34" charset="-122"/>
                <a:ea typeface="微软雅黑" pitchFamily="34" charset="-122"/>
              </a:rPr>
              <a:t>S</a:t>
            </a:r>
          </a:p>
          <a:p>
            <a:pPr defTabSz="762000" eaLnBrk="0" hangingPunct="0">
              <a:lnSpc>
                <a:spcPct val="75000"/>
              </a:lnSpc>
            </a:pPr>
            <a:r>
              <a:rPr kumimoji="1" lang="en-US" altLang="zh-CN" sz="700" b="1" dirty="0">
                <a:latin typeface="微软雅黑" pitchFamily="34" charset="-122"/>
                <a:ea typeface="微软雅黑" pitchFamily="34" charset="-122"/>
              </a:rPr>
              <a:t>H</a:t>
            </a:r>
          </a:p>
        </p:txBody>
      </p:sp>
      <p:sp>
        <p:nvSpPr>
          <p:cNvPr id="83" name="Rectangle 79">
            <a:extLst>
              <a:ext uri="{FF2B5EF4-FFF2-40B4-BE49-F238E27FC236}">
                <a16:creationId xmlns:a16="http://schemas.microsoft.com/office/drawing/2014/main" id="{FDF4FE2E-4D37-A98C-3FCD-1C6EC0CC966F}"/>
              </a:ext>
            </a:extLst>
          </p:cNvPr>
          <p:cNvSpPr>
            <a:spLocks noChangeArrowheads="1"/>
          </p:cNvSpPr>
          <p:nvPr/>
        </p:nvSpPr>
        <p:spPr bwMode="auto">
          <a:xfrm>
            <a:off x="3846900" y="2396738"/>
            <a:ext cx="250069"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dirty="0">
                <a:latin typeface="微软雅黑" pitchFamily="34" charset="-122"/>
                <a:ea typeface="微软雅黑" pitchFamily="34" charset="-122"/>
              </a:rPr>
              <a:t>A</a:t>
            </a:r>
          </a:p>
          <a:p>
            <a:pPr defTabSz="762000" eaLnBrk="0" hangingPunct="0">
              <a:lnSpc>
                <a:spcPct val="75000"/>
              </a:lnSpc>
            </a:pPr>
            <a:r>
              <a:rPr kumimoji="1" lang="en-US" altLang="zh-CN" sz="700" b="1" dirty="0">
                <a:latin typeface="微软雅黑" pitchFamily="34" charset="-122"/>
                <a:ea typeface="微软雅黑" pitchFamily="34" charset="-122"/>
              </a:rPr>
              <a:t>C</a:t>
            </a:r>
          </a:p>
          <a:p>
            <a:pPr defTabSz="762000" eaLnBrk="0" hangingPunct="0">
              <a:lnSpc>
                <a:spcPct val="75000"/>
              </a:lnSpc>
            </a:pPr>
            <a:r>
              <a:rPr kumimoji="1" lang="en-US" altLang="zh-CN" sz="700" b="1" dirty="0">
                <a:latin typeface="微软雅黑" pitchFamily="34" charset="-122"/>
                <a:ea typeface="微软雅黑" pitchFamily="34" charset="-122"/>
              </a:rPr>
              <a:t>K</a:t>
            </a:r>
          </a:p>
        </p:txBody>
      </p:sp>
      <p:sp>
        <p:nvSpPr>
          <p:cNvPr id="84" name="Rectangle 80">
            <a:extLst>
              <a:ext uri="{FF2B5EF4-FFF2-40B4-BE49-F238E27FC236}">
                <a16:creationId xmlns:a16="http://schemas.microsoft.com/office/drawing/2014/main" id="{8CDA2F1B-4B4F-DCC0-C4C5-DD9F4113C050}"/>
              </a:ext>
            </a:extLst>
          </p:cNvPr>
          <p:cNvSpPr>
            <a:spLocks noChangeArrowheads="1"/>
          </p:cNvSpPr>
          <p:nvPr/>
        </p:nvSpPr>
        <p:spPr bwMode="auto">
          <a:xfrm>
            <a:off x="3711397" y="2396738"/>
            <a:ext cx="251673"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dirty="0">
                <a:latin typeface="微软雅黑" pitchFamily="34" charset="-122"/>
                <a:ea typeface="微软雅黑" pitchFamily="34" charset="-122"/>
              </a:rPr>
              <a:t>U</a:t>
            </a:r>
          </a:p>
          <a:p>
            <a:pPr defTabSz="762000" eaLnBrk="0" hangingPunct="0">
              <a:lnSpc>
                <a:spcPct val="75000"/>
              </a:lnSpc>
            </a:pPr>
            <a:r>
              <a:rPr kumimoji="1" lang="en-US" altLang="zh-CN" sz="700" b="1" dirty="0">
                <a:latin typeface="微软雅黑" pitchFamily="34" charset="-122"/>
                <a:ea typeface="微软雅黑" pitchFamily="34" charset="-122"/>
              </a:rPr>
              <a:t>R</a:t>
            </a:r>
          </a:p>
          <a:p>
            <a:pPr defTabSz="762000" eaLnBrk="0" hangingPunct="0">
              <a:lnSpc>
                <a:spcPct val="75000"/>
              </a:lnSpc>
            </a:pPr>
            <a:r>
              <a:rPr kumimoji="1" lang="en-US" altLang="zh-CN" sz="700" b="1" dirty="0">
                <a:latin typeface="微软雅黑" pitchFamily="34" charset="-122"/>
                <a:ea typeface="微软雅黑" pitchFamily="34" charset="-122"/>
              </a:rPr>
              <a:t>G</a:t>
            </a:r>
          </a:p>
        </p:txBody>
      </p:sp>
      <p:sp>
        <p:nvSpPr>
          <p:cNvPr id="86" name="Line 82">
            <a:extLst>
              <a:ext uri="{FF2B5EF4-FFF2-40B4-BE49-F238E27FC236}">
                <a16:creationId xmlns:a16="http://schemas.microsoft.com/office/drawing/2014/main" id="{75B2553D-F6EE-75EA-6F73-A794ECA0C17A}"/>
              </a:ext>
            </a:extLst>
          </p:cNvPr>
          <p:cNvSpPr>
            <a:spLocks noChangeShapeType="1"/>
          </p:cNvSpPr>
          <p:nvPr/>
        </p:nvSpPr>
        <p:spPr bwMode="auto">
          <a:xfrm flipH="1">
            <a:off x="5600693" y="2942399"/>
            <a:ext cx="1957" cy="2447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87" name="Rectangle 105">
            <a:extLst>
              <a:ext uri="{FF2B5EF4-FFF2-40B4-BE49-F238E27FC236}">
                <a16:creationId xmlns:a16="http://schemas.microsoft.com/office/drawing/2014/main" id="{E4862891-1BB5-2E29-FA36-95C83DEA117E}"/>
              </a:ext>
            </a:extLst>
          </p:cNvPr>
          <p:cNvSpPr>
            <a:spLocks noChangeArrowheads="1"/>
          </p:cNvSpPr>
          <p:nvPr/>
        </p:nvSpPr>
        <p:spPr bwMode="auto">
          <a:xfrm>
            <a:off x="4128493" y="3513732"/>
            <a:ext cx="2652894" cy="280821"/>
          </a:xfrm>
          <a:prstGeom prst="rect">
            <a:avLst/>
          </a:prstGeom>
          <a:solidFill>
            <a:srgbClr val="99FFCC"/>
          </a:solidFill>
          <a:ln>
            <a:noFill/>
          </a:ln>
          <a:effectLst/>
        </p:spPr>
        <p:txBody>
          <a:bodyPr wrap="none" anchor="ctr"/>
          <a:lstStyle/>
          <a:p>
            <a:endParaRPr lang="zh-CN" altLang="en-US" sz="1000" b="1">
              <a:latin typeface="微软雅黑" pitchFamily="34" charset="-122"/>
              <a:ea typeface="微软雅黑" pitchFamily="34" charset="-122"/>
            </a:endParaRPr>
          </a:p>
        </p:txBody>
      </p:sp>
      <p:sp>
        <p:nvSpPr>
          <p:cNvPr id="88" name="Rectangle 83">
            <a:extLst>
              <a:ext uri="{FF2B5EF4-FFF2-40B4-BE49-F238E27FC236}">
                <a16:creationId xmlns:a16="http://schemas.microsoft.com/office/drawing/2014/main" id="{1D495083-C6C0-E962-ABCD-E74075A45EB0}"/>
              </a:ext>
            </a:extLst>
          </p:cNvPr>
          <p:cNvSpPr>
            <a:spLocks noChangeArrowheads="1"/>
          </p:cNvSpPr>
          <p:nvPr/>
        </p:nvSpPr>
        <p:spPr bwMode="auto">
          <a:xfrm>
            <a:off x="5880459" y="2931107"/>
            <a:ext cx="71016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填    充</a:t>
            </a:r>
          </a:p>
        </p:txBody>
      </p:sp>
      <p:sp>
        <p:nvSpPr>
          <p:cNvPr id="89" name="Rectangle 84">
            <a:extLst>
              <a:ext uri="{FF2B5EF4-FFF2-40B4-BE49-F238E27FC236}">
                <a16:creationId xmlns:a16="http://schemas.microsoft.com/office/drawing/2014/main" id="{5C9D70E5-5FBD-66E9-98E8-82E7FE9161FE}"/>
              </a:ext>
            </a:extLst>
          </p:cNvPr>
          <p:cNvSpPr>
            <a:spLocks noChangeArrowheads="1"/>
          </p:cNvSpPr>
          <p:nvPr/>
        </p:nvSpPr>
        <p:spPr bwMode="auto">
          <a:xfrm>
            <a:off x="4982467" y="3523392"/>
            <a:ext cx="985848"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TCP </a:t>
            </a:r>
            <a:r>
              <a:rPr kumimoji="1" lang="zh-CN" altLang="en-US" sz="1000" b="1" dirty="0">
                <a:latin typeface="微软雅黑" pitchFamily="34" charset="-122"/>
                <a:ea typeface="微软雅黑" pitchFamily="34" charset="-122"/>
              </a:rPr>
              <a:t>数据部分</a:t>
            </a:r>
          </a:p>
        </p:txBody>
      </p:sp>
      <p:sp>
        <p:nvSpPr>
          <p:cNvPr id="90" name="Rectangle 85">
            <a:extLst>
              <a:ext uri="{FF2B5EF4-FFF2-40B4-BE49-F238E27FC236}">
                <a16:creationId xmlns:a16="http://schemas.microsoft.com/office/drawing/2014/main" id="{DDE2AA7A-030F-F43C-B7EC-1C9AD7A3958C}"/>
              </a:ext>
            </a:extLst>
          </p:cNvPr>
          <p:cNvSpPr>
            <a:spLocks noChangeArrowheads="1"/>
          </p:cNvSpPr>
          <p:nvPr/>
        </p:nvSpPr>
        <p:spPr bwMode="auto">
          <a:xfrm>
            <a:off x="3249087" y="3499285"/>
            <a:ext cx="866690" cy="288044"/>
          </a:xfrm>
          <a:prstGeom prst="rect">
            <a:avLst/>
          </a:prstGeom>
          <a:solidFill>
            <a:srgbClr val="3366FF"/>
          </a:solidFill>
          <a:ln>
            <a:noFill/>
          </a:ln>
          <a:effectLst/>
        </p:spPr>
        <p:txBody>
          <a:bodyPr wrap="none" anchor="ctr"/>
          <a:lstStyle/>
          <a:p>
            <a:endParaRPr lang="zh-CN" altLang="en-US" sz="1000" b="1">
              <a:latin typeface="微软雅黑" pitchFamily="34" charset="-122"/>
              <a:ea typeface="微软雅黑" pitchFamily="34" charset="-122"/>
            </a:endParaRPr>
          </a:p>
        </p:txBody>
      </p:sp>
      <p:sp>
        <p:nvSpPr>
          <p:cNvPr id="91" name="Rectangle 86">
            <a:extLst>
              <a:ext uri="{FF2B5EF4-FFF2-40B4-BE49-F238E27FC236}">
                <a16:creationId xmlns:a16="http://schemas.microsoft.com/office/drawing/2014/main" id="{2D62A24D-BFC7-C19F-EFDD-8FBD7C906416}"/>
              </a:ext>
            </a:extLst>
          </p:cNvPr>
          <p:cNvSpPr>
            <a:spLocks noChangeArrowheads="1"/>
          </p:cNvSpPr>
          <p:nvPr/>
        </p:nvSpPr>
        <p:spPr bwMode="auto">
          <a:xfrm>
            <a:off x="3249087" y="3499285"/>
            <a:ext cx="3547952" cy="288044"/>
          </a:xfrm>
          <a:prstGeom prst="rect">
            <a:avLst/>
          </a:prstGeom>
          <a:noFill/>
          <a:ln w="19050">
            <a:solidFill>
              <a:srgbClr val="3333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92" name="Line 87">
            <a:extLst>
              <a:ext uri="{FF2B5EF4-FFF2-40B4-BE49-F238E27FC236}">
                <a16:creationId xmlns:a16="http://schemas.microsoft.com/office/drawing/2014/main" id="{88A14AD7-3CD9-5B1D-A5D6-2E44877DFBC9}"/>
              </a:ext>
            </a:extLst>
          </p:cNvPr>
          <p:cNvSpPr>
            <a:spLocks noChangeShapeType="1"/>
          </p:cNvSpPr>
          <p:nvPr/>
        </p:nvSpPr>
        <p:spPr bwMode="auto">
          <a:xfrm flipH="1">
            <a:off x="4115777" y="3505606"/>
            <a:ext cx="0" cy="28172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93" name="Rectangle 88">
            <a:extLst>
              <a:ext uri="{FF2B5EF4-FFF2-40B4-BE49-F238E27FC236}">
                <a16:creationId xmlns:a16="http://schemas.microsoft.com/office/drawing/2014/main" id="{A90CF179-881E-798B-A6C0-7F50C92A07C4}"/>
              </a:ext>
            </a:extLst>
          </p:cNvPr>
          <p:cNvSpPr>
            <a:spLocks noChangeArrowheads="1"/>
          </p:cNvSpPr>
          <p:nvPr/>
        </p:nvSpPr>
        <p:spPr bwMode="auto">
          <a:xfrm>
            <a:off x="3369406" y="3572425"/>
            <a:ext cx="444105" cy="15350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94" name="Rectangle 89">
            <a:extLst>
              <a:ext uri="{FF2B5EF4-FFF2-40B4-BE49-F238E27FC236}">
                <a16:creationId xmlns:a16="http://schemas.microsoft.com/office/drawing/2014/main" id="{5EF6BBBB-6E63-664C-94E8-F9899BB04517}"/>
              </a:ext>
            </a:extLst>
          </p:cNvPr>
          <p:cNvSpPr>
            <a:spLocks noChangeArrowheads="1"/>
          </p:cNvSpPr>
          <p:nvPr/>
        </p:nvSpPr>
        <p:spPr bwMode="auto">
          <a:xfrm>
            <a:off x="3345038" y="3523392"/>
            <a:ext cx="729368"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solidFill>
                  <a:schemeClr val="bg1"/>
                </a:solidFill>
                <a:latin typeface="微软雅黑" pitchFamily="34" charset="-122"/>
                <a:ea typeface="微软雅黑" pitchFamily="34" charset="-122"/>
              </a:rPr>
              <a:t>TCP </a:t>
            </a:r>
            <a:r>
              <a:rPr kumimoji="1" lang="zh-CN" altLang="en-US" sz="1000" b="1" dirty="0">
                <a:solidFill>
                  <a:schemeClr val="bg1"/>
                </a:solidFill>
                <a:latin typeface="微软雅黑" pitchFamily="34" charset="-122"/>
                <a:ea typeface="微软雅黑" pitchFamily="34" charset="-122"/>
              </a:rPr>
              <a:t>首部</a:t>
            </a:r>
          </a:p>
        </p:txBody>
      </p:sp>
      <p:sp>
        <p:nvSpPr>
          <p:cNvPr id="95" name="Rectangle 93">
            <a:extLst>
              <a:ext uri="{FF2B5EF4-FFF2-40B4-BE49-F238E27FC236}">
                <a16:creationId xmlns:a16="http://schemas.microsoft.com/office/drawing/2014/main" id="{31D7CE04-D725-19E0-39E3-876D1321F652}"/>
              </a:ext>
            </a:extLst>
          </p:cNvPr>
          <p:cNvSpPr>
            <a:spLocks noChangeArrowheads="1"/>
          </p:cNvSpPr>
          <p:nvPr/>
        </p:nvSpPr>
        <p:spPr bwMode="auto">
          <a:xfrm>
            <a:off x="6761170" y="3508714"/>
            <a:ext cx="1004618"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TCP </a:t>
            </a:r>
            <a:r>
              <a:rPr kumimoji="1" lang="zh-CN" altLang="en-US" sz="1200" b="1" dirty="0">
                <a:latin typeface="微软雅黑" pitchFamily="34" charset="-122"/>
                <a:ea typeface="微软雅黑" pitchFamily="34" charset="-122"/>
              </a:rPr>
              <a:t>报文段</a:t>
            </a:r>
          </a:p>
        </p:txBody>
      </p:sp>
      <p:sp>
        <p:nvSpPr>
          <p:cNvPr id="96" name="Rectangle 94">
            <a:extLst>
              <a:ext uri="{FF2B5EF4-FFF2-40B4-BE49-F238E27FC236}">
                <a16:creationId xmlns:a16="http://schemas.microsoft.com/office/drawing/2014/main" id="{BBF833CB-0B0E-D79F-54B4-C1D33BB84E13}"/>
              </a:ext>
            </a:extLst>
          </p:cNvPr>
          <p:cNvSpPr>
            <a:spLocks noChangeArrowheads="1"/>
          </p:cNvSpPr>
          <p:nvPr/>
        </p:nvSpPr>
        <p:spPr bwMode="auto">
          <a:xfrm>
            <a:off x="3241261" y="3982255"/>
            <a:ext cx="3555777" cy="287141"/>
          </a:xfrm>
          <a:prstGeom prst="rect">
            <a:avLst/>
          </a:prstGeom>
          <a:solidFill>
            <a:srgbClr val="00FFFF"/>
          </a:solidFill>
          <a:ln w="19050">
            <a:solidFill>
              <a:srgbClr val="333399"/>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97" name="Rectangle 96">
            <a:extLst>
              <a:ext uri="{FF2B5EF4-FFF2-40B4-BE49-F238E27FC236}">
                <a16:creationId xmlns:a16="http://schemas.microsoft.com/office/drawing/2014/main" id="{008BEAE4-3874-D9BB-0AC6-3A59E9949FC1}"/>
              </a:ext>
            </a:extLst>
          </p:cNvPr>
          <p:cNvSpPr>
            <a:spLocks noChangeArrowheads="1"/>
          </p:cNvSpPr>
          <p:nvPr/>
        </p:nvSpPr>
        <p:spPr bwMode="auto">
          <a:xfrm>
            <a:off x="4268658" y="4010402"/>
            <a:ext cx="1413850"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IP </a:t>
            </a:r>
            <a:r>
              <a:rPr kumimoji="1" lang="zh-CN" altLang="en-US" sz="1000" b="1" dirty="0">
                <a:latin typeface="微软雅黑" pitchFamily="34" charset="-122"/>
                <a:ea typeface="微软雅黑" pitchFamily="34" charset="-122"/>
              </a:rPr>
              <a:t>数据报的</a:t>
            </a:r>
            <a:r>
              <a:rPr kumimoji="1" lang="en-US" altLang="zh-CN" sz="1000" b="1" dirty="0">
                <a:latin typeface="微软雅黑" pitchFamily="34" charset="-122"/>
                <a:ea typeface="微软雅黑" pitchFamily="34" charset="-122"/>
              </a:rPr>
              <a:t> </a:t>
            </a:r>
            <a:r>
              <a:rPr kumimoji="1" lang="zh-CN" altLang="en-US" sz="1000" b="1" dirty="0">
                <a:latin typeface="微软雅黑" pitchFamily="34" charset="-122"/>
                <a:ea typeface="微软雅黑" pitchFamily="34" charset="-122"/>
              </a:rPr>
              <a:t>数据部分</a:t>
            </a:r>
          </a:p>
        </p:txBody>
      </p:sp>
      <p:sp>
        <p:nvSpPr>
          <p:cNvPr id="98" name="Rectangle 97">
            <a:extLst>
              <a:ext uri="{FF2B5EF4-FFF2-40B4-BE49-F238E27FC236}">
                <a16:creationId xmlns:a16="http://schemas.microsoft.com/office/drawing/2014/main" id="{4F74DB43-3420-D824-B67B-13760B257093}"/>
              </a:ext>
            </a:extLst>
          </p:cNvPr>
          <p:cNvSpPr>
            <a:spLocks noChangeArrowheads="1"/>
          </p:cNvSpPr>
          <p:nvPr/>
        </p:nvSpPr>
        <p:spPr bwMode="auto">
          <a:xfrm>
            <a:off x="2560641" y="4001034"/>
            <a:ext cx="605936"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IP </a:t>
            </a:r>
            <a:r>
              <a:rPr kumimoji="1" lang="zh-CN" altLang="en-US" sz="1000" b="1" dirty="0">
                <a:latin typeface="微软雅黑" pitchFamily="34" charset="-122"/>
                <a:ea typeface="微软雅黑" pitchFamily="34" charset="-122"/>
              </a:rPr>
              <a:t>首部</a:t>
            </a:r>
          </a:p>
        </p:txBody>
      </p:sp>
      <p:sp>
        <p:nvSpPr>
          <p:cNvPr id="99" name="Line 100">
            <a:extLst>
              <a:ext uri="{FF2B5EF4-FFF2-40B4-BE49-F238E27FC236}">
                <a16:creationId xmlns:a16="http://schemas.microsoft.com/office/drawing/2014/main" id="{CE180249-3F6D-6705-B1FC-B5E081E1BF46}"/>
              </a:ext>
            </a:extLst>
          </p:cNvPr>
          <p:cNvSpPr>
            <a:spLocks noChangeShapeType="1"/>
          </p:cNvSpPr>
          <p:nvPr/>
        </p:nvSpPr>
        <p:spPr bwMode="auto">
          <a:xfrm>
            <a:off x="6714869" y="1603310"/>
            <a:ext cx="4538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0" name="Line 101">
            <a:extLst>
              <a:ext uri="{FF2B5EF4-FFF2-40B4-BE49-F238E27FC236}">
                <a16:creationId xmlns:a16="http://schemas.microsoft.com/office/drawing/2014/main" id="{58A3002A-55A1-BB79-5DAF-62AAC6E2D0FF}"/>
              </a:ext>
            </a:extLst>
          </p:cNvPr>
          <p:cNvSpPr>
            <a:spLocks noChangeShapeType="1"/>
          </p:cNvSpPr>
          <p:nvPr/>
        </p:nvSpPr>
        <p:spPr bwMode="auto">
          <a:xfrm>
            <a:off x="6714869" y="2932466"/>
            <a:ext cx="4538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1" name="Line 102">
            <a:extLst>
              <a:ext uri="{FF2B5EF4-FFF2-40B4-BE49-F238E27FC236}">
                <a16:creationId xmlns:a16="http://schemas.microsoft.com/office/drawing/2014/main" id="{81CC8E5F-BB2A-09DB-6D55-7427A534F733}"/>
              </a:ext>
            </a:extLst>
          </p:cNvPr>
          <p:cNvSpPr>
            <a:spLocks noChangeShapeType="1"/>
          </p:cNvSpPr>
          <p:nvPr/>
        </p:nvSpPr>
        <p:spPr bwMode="auto">
          <a:xfrm>
            <a:off x="2135889" y="1617757"/>
            <a:ext cx="2895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2" name="Line 103">
            <a:extLst>
              <a:ext uri="{FF2B5EF4-FFF2-40B4-BE49-F238E27FC236}">
                <a16:creationId xmlns:a16="http://schemas.microsoft.com/office/drawing/2014/main" id="{DBEA02C0-E05E-B1DF-8567-1A2EE8F791A0}"/>
              </a:ext>
            </a:extLst>
          </p:cNvPr>
          <p:cNvSpPr>
            <a:spLocks noChangeShapeType="1"/>
          </p:cNvSpPr>
          <p:nvPr/>
        </p:nvSpPr>
        <p:spPr bwMode="auto">
          <a:xfrm>
            <a:off x="2143714" y="3177168"/>
            <a:ext cx="2895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3" name="Rectangle 104">
            <a:extLst>
              <a:ext uri="{FF2B5EF4-FFF2-40B4-BE49-F238E27FC236}">
                <a16:creationId xmlns:a16="http://schemas.microsoft.com/office/drawing/2014/main" id="{A0F9CAB1-2AF9-2438-DC77-653665C418D1}"/>
              </a:ext>
            </a:extLst>
          </p:cNvPr>
          <p:cNvSpPr>
            <a:spLocks noChangeArrowheads="1"/>
          </p:cNvSpPr>
          <p:nvPr/>
        </p:nvSpPr>
        <p:spPr bwMode="auto">
          <a:xfrm>
            <a:off x="1793206" y="3826947"/>
            <a:ext cx="695704"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发送在前</a:t>
            </a:r>
          </a:p>
        </p:txBody>
      </p:sp>
      <p:sp>
        <p:nvSpPr>
          <p:cNvPr id="104" name="矩形 103">
            <a:extLst>
              <a:ext uri="{FF2B5EF4-FFF2-40B4-BE49-F238E27FC236}">
                <a16:creationId xmlns:a16="http://schemas.microsoft.com/office/drawing/2014/main" id="{4A868A66-8C19-6628-513C-EC631FD0F058}"/>
              </a:ext>
            </a:extLst>
          </p:cNvPr>
          <p:cNvSpPr/>
          <p:nvPr/>
        </p:nvSpPr>
        <p:spPr bwMode="auto">
          <a:xfrm>
            <a:off x="3249087" y="3781786"/>
            <a:ext cx="3532300" cy="194595"/>
          </a:xfrm>
          <a:prstGeom prst="rect">
            <a:avLst/>
          </a:prstGeom>
          <a:gradFill flip="none" rotWithShape="1">
            <a:gsLst>
              <a:gs pos="0">
                <a:srgbClr val="00FFFF"/>
              </a:gs>
              <a:gs pos="100000">
                <a:srgbClr val="00B0F0"/>
              </a:gs>
            </a:gsLst>
            <a:lin ang="54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000" b="0" i="0" u="none" strike="noStrike" cap="none" normalizeH="0" baseline="0">
              <a:ln>
                <a:noFill/>
              </a:ln>
              <a:effectLst/>
              <a:latin typeface="微软雅黑" pitchFamily="34" charset="-122"/>
              <a:ea typeface="微软雅黑" pitchFamily="34" charset="-122"/>
            </a:endParaRPr>
          </a:p>
        </p:txBody>
      </p:sp>
      <p:sp>
        <p:nvSpPr>
          <p:cNvPr id="105" name="AutoShape 99">
            <a:extLst>
              <a:ext uri="{FF2B5EF4-FFF2-40B4-BE49-F238E27FC236}">
                <a16:creationId xmlns:a16="http://schemas.microsoft.com/office/drawing/2014/main" id="{B83952EC-6A9C-260F-B9B4-43565C08A149}"/>
              </a:ext>
            </a:extLst>
          </p:cNvPr>
          <p:cNvSpPr>
            <a:spLocks noChangeArrowheads="1"/>
          </p:cNvSpPr>
          <p:nvPr/>
        </p:nvSpPr>
        <p:spPr bwMode="auto">
          <a:xfrm rot="16200000">
            <a:off x="4852113" y="3796139"/>
            <a:ext cx="267600" cy="247299"/>
          </a:xfrm>
          <a:prstGeom prst="leftArrow">
            <a:avLst>
              <a:gd name="adj1" fmla="val 50000"/>
              <a:gd name="adj2" fmla="val 52851"/>
            </a:avLst>
          </a:prstGeom>
          <a:solidFill>
            <a:srgbClr val="FFFF00"/>
          </a:solidFill>
          <a:ln w="12700">
            <a:solidFill>
              <a:schemeClr val="tx1"/>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grpSp>
        <p:nvGrpSpPr>
          <p:cNvPr id="3" name="组合 2">
            <a:extLst>
              <a:ext uri="{FF2B5EF4-FFF2-40B4-BE49-F238E27FC236}">
                <a16:creationId xmlns:a16="http://schemas.microsoft.com/office/drawing/2014/main" id="{1775418C-272A-541C-526E-DAB06282F9AA}"/>
              </a:ext>
            </a:extLst>
          </p:cNvPr>
          <p:cNvGrpSpPr/>
          <p:nvPr/>
        </p:nvGrpSpPr>
        <p:grpSpPr>
          <a:xfrm>
            <a:off x="2224351" y="1296751"/>
            <a:ext cx="4531691" cy="255995"/>
            <a:chOff x="2340896" y="1296751"/>
            <a:chExt cx="4531691" cy="255995"/>
          </a:xfrm>
        </p:grpSpPr>
        <p:sp>
          <p:nvSpPr>
            <p:cNvPr id="42" name="Line 37">
              <a:extLst>
                <a:ext uri="{FF2B5EF4-FFF2-40B4-BE49-F238E27FC236}">
                  <a16:creationId xmlns:a16="http://schemas.microsoft.com/office/drawing/2014/main" id="{04A69832-1062-167A-ECFE-4F4C3578CEF1}"/>
                </a:ext>
              </a:extLst>
            </p:cNvPr>
            <p:cNvSpPr>
              <a:spLocks noChangeShapeType="1"/>
            </p:cNvSpPr>
            <p:nvPr/>
          </p:nvSpPr>
          <p:spPr bwMode="auto">
            <a:xfrm>
              <a:off x="2575242" y="1552744"/>
              <a:ext cx="419063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44" name="Line 39">
              <a:extLst>
                <a:ext uri="{FF2B5EF4-FFF2-40B4-BE49-F238E27FC236}">
                  <a16:creationId xmlns:a16="http://schemas.microsoft.com/office/drawing/2014/main" id="{EC649AED-F739-9D72-9967-28B21CEB5ECB}"/>
                </a:ext>
              </a:extLst>
            </p:cNvPr>
            <p:cNvSpPr>
              <a:spLocks noChangeShapeType="1"/>
            </p:cNvSpPr>
            <p:nvPr/>
          </p:nvSpPr>
          <p:spPr bwMode="auto">
            <a:xfrm flipH="1">
              <a:off x="2706320"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45" name="Line 40">
              <a:extLst>
                <a:ext uri="{FF2B5EF4-FFF2-40B4-BE49-F238E27FC236}">
                  <a16:creationId xmlns:a16="http://schemas.microsoft.com/office/drawing/2014/main" id="{3CC05BE5-FD7D-119E-794C-AE9B23D1ECF1}"/>
                </a:ext>
              </a:extLst>
            </p:cNvPr>
            <p:cNvSpPr>
              <a:spLocks noChangeShapeType="1"/>
            </p:cNvSpPr>
            <p:nvPr/>
          </p:nvSpPr>
          <p:spPr bwMode="auto">
            <a:xfrm>
              <a:off x="2837401" y="1486893"/>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46" name="Line 41">
              <a:extLst>
                <a:ext uri="{FF2B5EF4-FFF2-40B4-BE49-F238E27FC236}">
                  <a16:creationId xmlns:a16="http://schemas.microsoft.com/office/drawing/2014/main" id="{FC40DA53-CA8D-813D-6C99-D9BD9B32B3F9}"/>
                </a:ext>
              </a:extLst>
            </p:cNvPr>
            <p:cNvSpPr>
              <a:spLocks noChangeShapeType="1"/>
            </p:cNvSpPr>
            <p:nvPr/>
          </p:nvSpPr>
          <p:spPr bwMode="auto">
            <a:xfrm>
              <a:off x="2968480" y="1486893"/>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47" name="Line 42">
              <a:extLst>
                <a:ext uri="{FF2B5EF4-FFF2-40B4-BE49-F238E27FC236}">
                  <a16:creationId xmlns:a16="http://schemas.microsoft.com/office/drawing/2014/main" id="{94F40D0C-555E-36D7-7C5F-9217A9480ACB}"/>
                </a:ext>
              </a:extLst>
            </p:cNvPr>
            <p:cNvSpPr>
              <a:spLocks noChangeShapeType="1"/>
            </p:cNvSpPr>
            <p:nvPr/>
          </p:nvSpPr>
          <p:spPr bwMode="auto">
            <a:xfrm>
              <a:off x="3099560" y="1486894"/>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48" name="Line 43">
              <a:extLst>
                <a:ext uri="{FF2B5EF4-FFF2-40B4-BE49-F238E27FC236}">
                  <a16:creationId xmlns:a16="http://schemas.microsoft.com/office/drawing/2014/main" id="{0929B184-3256-F66D-6A66-3E3BC5502CBF}"/>
                </a:ext>
              </a:extLst>
            </p:cNvPr>
            <p:cNvSpPr>
              <a:spLocks noChangeShapeType="1"/>
            </p:cNvSpPr>
            <p:nvPr/>
          </p:nvSpPr>
          <p:spPr bwMode="auto">
            <a:xfrm>
              <a:off x="3230640" y="1486893"/>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49" name="Line 44">
              <a:extLst>
                <a:ext uri="{FF2B5EF4-FFF2-40B4-BE49-F238E27FC236}">
                  <a16:creationId xmlns:a16="http://schemas.microsoft.com/office/drawing/2014/main" id="{919D4609-1D78-276B-7623-7B4D81EC46A1}"/>
                </a:ext>
              </a:extLst>
            </p:cNvPr>
            <p:cNvSpPr>
              <a:spLocks noChangeShapeType="1"/>
            </p:cNvSpPr>
            <p:nvPr/>
          </p:nvSpPr>
          <p:spPr bwMode="auto">
            <a:xfrm>
              <a:off x="3360740" y="1486893"/>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0" name="Line 45">
              <a:extLst>
                <a:ext uri="{FF2B5EF4-FFF2-40B4-BE49-F238E27FC236}">
                  <a16:creationId xmlns:a16="http://schemas.microsoft.com/office/drawing/2014/main" id="{2D8F44AF-3604-65A0-9EAA-41E58FEA744C}"/>
                </a:ext>
              </a:extLst>
            </p:cNvPr>
            <p:cNvSpPr>
              <a:spLocks noChangeShapeType="1"/>
            </p:cNvSpPr>
            <p:nvPr/>
          </p:nvSpPr>
          <p:spPr bwMode="auto">
            <a:xfrm>
              <a:off x="3491820" y="1486894"/>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1" name="Line 46">
              <a:extLst>
                <a:ext uri="{FF2B5EF4-FFF2-40B4-BE49-F238E27FC236}">
                  <a16:creationId xmlns:a16="http://schemas.microsoft.com/office/drawing/2014/main" id="{60CB3DFD-8A83-8369-EDFC-6CD99E6CB744}"/>
                </a:ext>
              </a:extLst>
            </p:cNvPr>
            <p:cNvSpPr>
              <a:spLocks noChangeShapeType="1"/>
            </p:cNvSpPr>
            <p:nvPr/>
          </p:nvSpPr>
          <p:spPr bwMode="auto">
            <a:xfrm>
              <a:off x="3622900" y="1403190"/>
              <a:ext cx="0" cy="14955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2" name="Line 47">
              <a:extLst>
                <a:ext uri="{FF2B5EF4-FFF2-40B4-BE49-F238E27FC236}">
                  <a16:creationId xmlns:a16="http://schemas.microsoft.com/office/drawing/2014/main" id="{D147408E-4112-7D67-8C79-CB3EEE5A67CD}"/>
                </a:ext>
              </a:extLst>
            </p:cNvPr>
            <p:cNvSpPr>
              <a:spLocks noChangeShapeType="1"/>
            </p:cNvSpPr>
            <p:nvPr/>
          </p:nvSpPr>
          <p:spPr bwMode="auto">
            <a:xfrm>
              <a:off x="3753979"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3" name="Line 48">
              <a:extLst>
                <a:ext uri="{FF2B5EF4-FFF2-40B4-BE49-F238E27FC236}">
                  <a16:creationId xmlns:a16="http://schemas.microsoft.com/office/drawing/2014/main" id="{CACEBA95-6618-FE99-3183-76A2275D327A}"/>
                </a:ext>
              </a:extLst>
            </p:cNvPr>
            <p:cNvSpPr>
              <a:spLocks noChangeShapeType="1"/>
            </p:cNvSpPr>
            <p:nvPr/>
          </p:nvSpPr>
          <p:spPr bwMode="auto">
            <a:xfrm>
              <a:off x="3885059"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4" name="Line 49">
              <a:extLst>
                <a:ext uri="{FF2B5EF4-FFF2-40B4-BE49-F238E27FC236}">
                  <a16:creationId xmlns:a16="http://schemas.microsoft.com/office/drawing/2014/main" id="{F42A814C-1076-03C2-B5F2-62D6720A9F06}"/>
                </a:ext>
              </a:extLst>
            </p:cNvPr>
            <p:cNvSpPr>
              <a:spLocks noChangeShapeType="1"/>
            </p:cNvSpPr>
            <p:nvPr/>
          </p:nvSpPr>
          <p:spPr bwMode="auto">
            <a:xfrm>
              <a:off x="4016138"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5" name="Line 50">
              <a:extLst>
                <a:ext uri="{FF2B5EF4-FFF2-40B4-BE49-F238E27FC236}">
                  <a16:creationId xmlns:a16="http://schemas.microsoft.com/office/drawing/2014/main" id="{3CDE94F3-CEAA-41F9-FEE5-C4BF1C280492}"/>
                </a:ext>
              </a:extLst>
            </p:cNvPr>
            <p:cNvSpPr>
              <a:spLocks noChangeShapeType="1"/>
            </p:cNvSpPr>
            <p:nvPr/>
          </p:nvSpPr>
          <p:spPr bwMode="auto">
            <a:xfrm>
              <a:off x="4147218"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6" name="Line 51">
              <a:extLst>
                <a:ext uri="{FF2B5EF4-FFF2-40B4-BE49-F238E27FC236}">
                  <a16:creationId xmlns:a16="http://schemas.microsoft.com/office/drawing/2014/main" id="{30D0A855-F555-2182-E897-E92B38ED975B}"/>
                </a:ext>
              </a:extLst>
            </p:cNvPr>
            <p:cNvSpPr>
              <a:spLocks noChangeShapeType="1"/>
            </p:cNvSpPr>
            <p:nvPr/>
          </p:nvSpPr>
          <p:spPr bwMode="auto">
            <a:xfrm>
              <a:off x="4278297"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7" name="Line 52">
              <a:extLst>
                <a:ext uri="{FF2B5EF4-FFF2-40B4-BE49-F238E27FC236}">
                  <a16:creationId xmlns:a16="http://schemas.microsoft.com/office/drawing/2014/main" id="{A10A3F98-15A5-8690-6592-FD43E00C4521}"/>
                </a:ext>
              </a:extLst>
            </p:cNvPr>
            <p:cNvSpPr>
              <a:spLocks noChangeShapeType="1"/>
            </p:cNvSpPr>
            <p:nvPr/>
          </p:nvSpPr>
          <p:spPr bwMode="auto">
            <a:xfrm>
              <a:off x="4408399"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8" name="Line 53">
              <a:extLst>
                <a:ext uri="{FF2B5EF4-FFF2-40B4-BE49-F238E27FC236}">
                  <a16:creationId xmlns:a16="http://schemas.microsoft.com/office/drawing/2014/main" id="{6A7FC04A-EBF3-1ADC-213B-EA93D927D3CC}"/>
                </a:ext>
              </a:extLst>
            </p:cNvPr>
            <p:cNvSpPr>
              <a:spLocks noChangeShapeType="1"/>
            </p:cNvSpPr>
            <p:nvPr/>
          </p:nvSpPr>
          <p:spPr bwMode="auto">
            <a:xfrm>
              <a:off x="4539479"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9" name="Line 54">
              <a:extLst>
                <a:ext uri="{FF2B5EF4-FFF2-40B4-BE49-F238E27FC236}">
                  <a16:creationId xmlns:a16="http://schemas.microsoft.com/office/drawing/2014/main" id="{47FF747D-4AA9-2F2F-8B23-1C3F14C7A2D5}"/>
                </a:ext>
              </a:extLst>
            </p:cNvPr>
            <p:cNvSpPr>
              <a:spLocks noChangeShapeType="1"/>
            </p:cNvSpPr>
            <p:nvPr/>
          </p:nvSpPr>
          <p:spPr bwMode="auto">
            <a:xfrm>
              <a:off x="4670558" y="1403190"/>
              <a:ext cx="0" cy="14955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0" name="Line 55">
              <a:extLst>
                <a:ext uri="{FF2B5EF4-FFF2-40B4-BE49-F238E27FC236}">
                  <a16:creationId xmlns:a16="http://schemas.microsoft.com/office/drawing/2014/main" id="{1B4AF4B9-EFC7-9E8B-4CF8-BE07C5616F2E}"/>
                </a:ext>
              </a:extLst>
            </p:cNvPr>
            <p:cNvSpPr>
              <a:spLocks noChangeShapeType="1"/>
            </p:cNvSpPr>
            <p:nvPr/>
          </p:nvSpPr>
          <p:spPr bwMode="auto">
            <a:xfrm>
              <a:off x="4801638"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1" name="Line 56">
              <a:extLst>
                <a:ext uri="{FF2B5EF4-FFF2-40B4-BE49-F238E27FC236}">
                  <a16:creationId xmlns:a16="http://schemas.microsoft.com/office/drawing/2014/main" id="{6A1F315E-DD83-11CF-8CF0-64C655C1AB71}"/>
                </a:ext>
              </a:extLst>
            </p:cNvPr>
            <p:cNvSpPr>
              <a:spLocks noChangeShapeType="1"/>
            </p:cNvSpPr>
            <p:nvPr/>
          </p:nvSpPr>
          <p:spPr bwMode="auto">
            <a:xfrm>
              <a:off x="4932717"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2" name="Line 57">
              <a:extLst>
                <a:ext uri="{FF2B5EF4-FFF2-40B4-BE49-F238E27FC236}">
                  <a16:creationId xmlns:a16="http://schemas.microsoft.com/office/drawing/2014/main" id="{30C37692-D770-DDC7-3A33-931FA5A27DD4}"/>
                </a:ext>
              </a:extLst>
            </p:cNvPr>
            <p:cNvSpPr>
              <a:spLocks noChangeShapeType="1"/>
            </p:cNvSpPr>
            <p:nvPr/>
          </p:nvSpPr>
          <p:spPr bwMode="auto">
            <a:xfrm>
              <a:off x="5063797"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3" name="Line 58">
              <a:extLst>
                <a:ext uri="{FF2B5EF4-FFF2-40B4-BE49-F238E27FC236}">
                  <a16:creationId xmlns:a16="http://schemas.microsoft.com/office/drawing/2014/main" id="{6E9155EC-00A4-CFD5-89F8-5B397B38C739}"/>
                </a:ext>
              </a:extLst>
            </p:cNvPr>
            <p:cNvSpPr>
              <a:spLocks noChangeShapeType="1"/>
            </p:cNvSpPr>
            <p:nvPr/>
          </p:nvSpPr>
          <p:spPr bwMode="auto">
            <a:xfrm>
              <a:off x="5194876"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4" name="Line 59">
              <a:extLst>
                <a:ext uri="{FF2B5EF4-FFF2-40B4-BE49-F238E27FC236}">
                  <a16:creationId xmlns:a16="http://schemas.microsoft.com/office/drawing/2014/main" id="{8EC47D83-BD12-7E31-D98E-6BB465CB8DB5}"/>
                </a:ext>
              </a:extLst>
            </p:cNvPr>
            <p:cNvSpPr>
              <a:spLocks noChangeShapeType="1"/>
            </p:cNvSpPr>
            <p:nvPr/>
          </p:nvSpPr>
          <p:spPr bwMode="auto">
            <a:xfrm>
              <a:off x="5325956"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5" name="Line 60">
              <a:extLst>
                <a:ext uri="{FF2B5EF4-FFF2-40B4-BE49-F238E27FC236}">
                  <a16:creationId xmlns:a16="http://schemas.microsoft.com/office/drawing/2014/main" id="{BA6D2A43-A438-D3BD-F31B-3B681044FBB7}"/>
                </a:ext>
              </a:extLst>
            </p:cNvPr>
            <p:cNvSpPr>
              <a:spLocks noChangeShapeType="1"/>
            </p:cNvSpPr>
            <p:nvPr/>
          </p:nvSpPr>
          <p:spPr bwMode="auto">
            <a:xfrm>
              <a:off x="5456057"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6" name="Line 61">
              <a:extLst>
                <a:ext uri="{FF2B5EF4-FFF2-40B4-BE49-F238E27FC236}">
                  <a16:creationId xmlns:a16="http://schemas.microsoft.com/office/drawing/2014/main" id="{509C0408-CBC4-9E2D-8C39-EE7B71C48939}"/>
                </a:ext>
              </a:extLst>
            </p:cNvPr>
            <p:cNvSpPr>
              <a:spLocks noChangeShapeType="1"/>
            </p:cNvSpPr>
            <p:nvPr/>
          </p:nvSpPr>
          <p:spPr bwMode="auto">
            <a:xfrm>
              <a:off x="5587137"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7" name="Line 62">
              <a:extLst>
                <a:ext uri="{FF2B5EF4-FFF2-40B4-BE49-F238E27FC236}">
                  <a16:creationId xmlns:a16="http://schemas.microsoft.com/office/drawing/2014/main" id="{DDAA9B98-188D-448A-DD69-1A45F16B7CFF}"/>
                </a:ext>
              </a:extLst>
            </p:cNvPr>
            <p:cNvSpPr>
              <a:spLocks noChangeShapeType="1"/>
            </p:cNvSpPr>
            <p:nvPr/>
          </p:nvSpPr>
          <p:spPr bwMode="auto">
            <a:xfrm flipH="1">
              <a:off x="5718215" y="1403190"/>
              <a:ext cx="979" cy="14955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8" name="Line 63">
              <a:extLst>
                <a:ext uri="{FF2B5EF4-FFF2-40B4-BE49-F238E27FC236}">
                  <a16:creationId xmlns:a16="http://schemas.microsoft.com/office/drawing/2014/main" id="{5827BBCE-ED93-3538-26AE-BEA3BADC81B4}"/>
                </a:ext>
              </a:extLst>
            </p:cNvPr>
            <p:cNvSpPr>
              <a:spLocks noChangeShapeType="1"/>
            </p:cNvSpPr>
            <p:nvPr/>
          </p:nvSpPr>
          <p:spPr bwMode="auto">
            <a:xfrm>
              <a:off x="5849296"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9" name="Line 64">
              <a:extLst>
                <a:ext uri="{FF2B5EF4-FFF2-40B4-BE49-F238E27FC236}">
                  <a16:creationId xmlns:a16="http://schemas.microsoft.com/office/drawing/2014/main" id="{A4E7AC96-FB90-FA4B-7F2A-06E12EB3FE04}"/>
                </a:ext>
              </a:extLst>
            </p:cNvPr>
            <p:cNvSpPr>
              <a:spLocks noChangeShapeType="1"/>
            </p:cNvSpPr>
            <p:nvPr/>
          </p:nvSpPr>
          <p:spPr bwMode="auto">
            <a:xfrm>
              <a:off x="5980375"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70" name="Line 65">
              <a:extLst>
                <a:ext uri="{FF2B5EF4-FFF2-40B4-BE49-F238E27FC236}">
                  <a16:creationId xmlns:a16="http://schemas.microsoft.com/office/drawing/2014/main" id="{8950D267-9E49-216A-F799-BDF4EAA7083B}"/>
                </a:ext>
              </a:extLst>
            </p:cNvPr>
            <p:cNvSpPr>
              <a:spLocks noChangeShapeType="1"/>
            </p:cNvSpPr>
            <p:nvPr/>
          </p:nvSpPr>
          <p:spPr bwMode="auto">
            <a:xfrm>
              <a:off x="6111455"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71" name="Line 66">
              <a:extLst>
                <a:ext uri="{FF2B5EF4-FFF2-40B4-BE49-F238E27FC236}">
                  <a16:creationId xmlns:a16="http://schemas.microsoft.com/office/drawing/2014/main" id="{AD27A458-1B5F-A550-90B1-8EA17354184E}"/>
                </a:ext>
              </a:extLst>
            </p:cNvPr>
            <p:cNvSpPr>
              <a:spLocks noChangeShapeType="1"/>
            </p:cNvSpPr>
            <p:nvPr/>
          </p:nvSpPr>
          <p:spPr bwMode="auto">
            <a:xfrm>
              <a:off x="6242535"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72" name="Line 67">
              <a:extLst>
                <a:ext uri="{FF2B5EF4-FFF2-40B4-BE49-F238E27FC236}">
                  <a16:creationId xmlns:a16="http://schemas.microsoft.com/office/drawing/2014/main" id="{927C6E38-0E4D-23DC-6C4A-B2587DDE10F6}"/>
                </a:ext>
              </a:extLst>
            </p:cNvPr>
            <p:cNvSpPr>
              <a:spLocks noChangeShapeType="1"/>
            </p:cNvSpPr>
            <p:nvPr/>
          </p:nvSpPr>
          <p:spPr bwMode="auto">
            <a:xfrm>
              <a:off x="6373614"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73" name="Line 68">
              <a:extLst>
                <a:ext uri="{FF2B5EF4-FFF2-40B4-BE49-F238E27FC236}">
                  <a16:creationId xmlns:a16="http://schemas.microsoft.com/office/drawing/2014/main" id="{BFA679D0-3569-D1C1-1ACB-4DDF33E13B76}"/>
                </a:ext>
              </a:extLst>
            </p:cNvPr>
            <p:cNvSpPr>
              <a:spLocks noChangeShapeType="1"/>
            </p:cNvSpPr>
            <p:nvPr/>
          </p:nvSpPr>
          <p:spPr bwMode="auto">
            <a:xfrm>
              <a:off x="6503716"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74" name="Line 69">
              <a:extLst>
                <a:ext uri="{FF2B5EF4-FFF2-40B4-BE49-F238E27FC236}">
                  <a16:creationId xmlns:a16="http://schemas.microsoft.com/office/drawing/2014/main" id="{82A445CF-221B-0966-5832-1848D04FA163}"/>
                </a:ext>
              </a:extLst>
            </p:cNvPr>
            <p:cNvSpPr>
              <a:spLocks noChangeShapeType="1"/>
            </p:cNvSpPr>
            <p:nvPr/>
          </p:nvSpPr>
          <p:spPr bwMode="auto">
            <a:xfrm>
              <a:off x="6634795"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75" name="Line 70">
              <a:extLst>
                <a:ext uri="{FF2B5EF4-FFF2-40B4-BE49-F238E27FC236}">
                  <a16:creationId xmlns:a16="http://schemas.microsoft.com/office/drawing/2014/main" id="{A9A180F3-9C03-3F89-7CB5-65C9BC88F463}"/>
                </a:ext>
              </a:extLst>
            </p:cNvPr>
            <p:cNvSpPr>
              <a:spLocks noChangeShapeType="1"/>
            </p:cNvSpPr>
            <p:nvPr/>
          </p:nvSpPr>
          <p:spPr bwMode="auto">
            <a:xfrm>
              <a:off x="6765875" y="1403190"/>
              <a:ext cx="0" cy="1495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07" name="Rectangle 81">
              <a:extLst>
                <a:ext uri="{FF2B5EF4-FFF2-40B4-BE49-F238E27FC236}">
                  <a16:creationId xmlns:a16="http://schemas.microsoft.com/office/drawing/2014/main" id="{23031F18-8ADA-0567-EA4F-208A60B9850A}"/>
                </a:ext>
              </a:extLst>
            </p:cNvPr>
            <p:cNvSpPr>
              <a:spLocks noChangeArrowheads="1"/>
            </p:cNvSpPr>
            <p:nvPr/>
          </p:nvSpPr>
          <p:spPr bwMode="auto">
            <a:xfrm>
              <a:off x="2340896" y="1296751"/>
              <a:ext cx="4531691" cy="2128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800" b="1" dirty="0">
                  <a:solidFill>
                    <a:srgbClr val="0000FF"/>
                  </a:solidFill>
                  <a:latin typeface="微软雅黑" pitchFamily="34" charset="-122"/>
                  <a:ea typeface="微软雅黑" pitchFamily="34" charset="-122"/>
                </a:rPr>
                <a:t>位  </a:t>
              </a:r>
              <a:r>
                <a:rPr kumimoji="1" lang="en-US" altLang="zh-CN" sz="800" b="1" dirty="0">
                  <a:solidFill>
                    <a:srgbClr val="0000FF"/>
                  </a:solidFill>
                  <a:latin typeface="微软雅黑" pitchFamily="34" charset="-122"/>
                  <a:ea typeface="微软雅黑" pitchFamily="34" charset="-122"/>
                </a:rPr>
                <a:t>0                                 8                                16                               24                          31</a:t>
              </a:r>
            </a:p>
          </p:txBody>
        </p:sp>
      </p:grpSp>
      <p:sp>
        <p:nvSpPr>
          <p:cNvPr id="106" name="AutoShape 5">
            <a:extLst>
              <a:ext uri="{FF2B5EF4-FFF2-40B4-BE49-F238E27FC236}">
                <a16:creationId xmlns:a16="http://schemas.microsoft.com/office/drawing/2014/main" id="{B28DE5D1-B031-5DB9-A47A-A8876441BEF6}"/>
              </a:ext>
            </a:extLst>
          </p:cNvPr>
          <p:cNvSpPr>
            <a:spLocks noChangeArrowheads="1"/>
          </p:cNvSpPr>
          <p:nvPr/>
        </p:nvSpPr>
        <p:spPr bwMode="auto">
          <a:xfrm>
            <a:off x="545144" y="573653"/>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109" name="Rectangle 6">
            <a:extLst>
              <a:ext uri="{FF2B5EF4-FFF2-40B4-BE49-F238E27FC236}">
                <a16:creationId xmlns:a16="http://schemas.microsoft.com/office/drawing/2014/main" id="{B1E45993-92D5-DD93-45B9-B26C6F0A561F}"/>
              </a:ext>
            </a:extLst>
          </p:cNvPr>
          <p:cNvSpPr>
            <a:spLocks noChangeArrowheads="1"/>
          </p:cNvSpPr>
          <p:nvPr/>
        </p:nvSpPr>
        <p:spPr bwMode="auto">
          <a:xfrm>
            <a:off x="2418309" y="531382"/>
            <a:ext cx="39765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FFFF00"/>
                </a:solidFill>
                <a:latin typeface="微软雅黑" pitchFamily="34" charset="-122"/>
                <a:ea typeface="微软雅黑" pitchFamily="34" charset="-122"/>
              </a:rPr>
              <a:t>5.5  </a:t>
            </a:r>
            <a:r>
              <a:rPr lang="en-US" altLang="zh-CN" sz="2400" b="1" dirty="0">
                <a:solidFill>
                  <a:schemeClr val="bg1"/>
                </a:solidFill>
                <a:latin typeface="微软雅黑" pitchFamily="34" charset="-122"/>
                <a:ea typeface="微软雅黑" pitchFamily="34" charset="-122"/>
              </a:rPr>
              <a:t>TCP </a:t>
            </a:r>
            <a:r>
              <a:rPr lang="zh-CN" altLang="en-US" sz="2400" b="1" dirty="0">
                <a:solidFill>
                  <a:schemeClr val="bg1"/>
                </a:solidFill>
                <a:latin typeface="微软雅黑" pitchFamily="34" charset="-122"/>
                <a:ea typeface="微软雅黑" pitchFamily="34" charset="-122"/>
              </a:rPr>
              <a:t>报文段的首部格式</a:t>
            </a:r>
          </a:p>
        </p:txBody>
      </p:sp>
      <p:sp>
        <p:nvSpPr>
          <p:cNvPr id="110" name="Rectangle 93">
            <a:extLst>
              <a:ext uri="{FF2B5EF4-FFF2-40B4-BE49-F238E27FC236}">
                <a16:creationId xmlns:a16="http://schemas.microsoft.com/office/drawing/2014/main" id="{FBBED9F4-03FB-FFF3-4A5A-ADC03578D8E7}"/>
              </a:ext>
            </a:extLst>
          </p:cNvPr>
          <p:cNvSpPr>
            <a:spLocks noChangeArrowheads="1"/>
          </p:cNvSpPr>
          <p:nvPr/>
        </p:nvSpPr>
        <p:spPr bwMode="auto">
          <a:xfrm>
            <a:off x="6761170" y="3984452"/>
            <a:ext cx="1004618"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IP </a:t>
            </a:r>
            <a:r>
              <a:rPr kumimoji="1" lang="zh-CN" altLang="en-US" sz="1200" b="1" dirty="0">
                <a:latin typeface="微软雅黑" pitchFamily="34" charset="-122"/>
                <a:ea typeface="微软雅黑" pitchFamily="34" charset="-122"/>
              </a:rPr>
              <a:t>数据报</a:t>
            </a:r>
          </a:p>
        </p:txBody>
      </p:sp>
      <p:sp>
        <p:nvSpPr>
          <p:cNvPr id="2" name="矩形 1">
            <a:extLst>
              <a:ext uri="{FF2B5EF4-FFF2-40B4-BE49-F238E27FC236}">
                <a16:creationId xmlns:a16="http://schemas.microsoft.com/office/drawing/2014/main" id="{8BF02A4C-4626-E4DC-D37E-4CF996DBAF6F}"/>
              </a:ext>
            </a:extLst>
          </p:cNvPr>
          <p:cNvSpPr/>
          <p:nvPr/>
        </p:nvSpPr>
        <p:spPr>
          <a:xfrm>
            <a:off x="746838" y="1987196"/>
            <a:ext cx="1300112" cy="738664"/>
          </a:xfrm>
          <a:prstGeom prst="rect">
            <a:avLst/>
          </a:prstGeom>
          <a:solidFill>
            <a:schemeClr val="bg1"/>
          </a:solidFill>
        </p:spPr>
        <p:txBody>
          <a:bodyPr wrap="square">
            <a:spAutoFit/>
          </a:bodyPr>
          <a:lstStyle/>
          <a:p>
            <a:r>
              <a:rPr lang="en-US" altLang="zh-CN" sz="1400" b="1" dirty="0">
                <a:solidFill>
                  <a:srgbClr val="0000CC"/>
                </a:solidFill>
                <a:latin typeface="微软雅黑" pitchFamily="34" charset="-122"/>
                <a:ea typeface="微软雅黑" pitchFamily="34" charset="-122"/>
              </a:rPr>
              <a:t>TCP</a:t>
            </a:r>
            <a:r>
              <a:rPr lang="zh-CN" altLang="en-US" sz="1400" b="1" dirty="0">
                <a:solidFill>
                  <a:srgbClr val="0000CC"/>
                </a:solidFill>
                <a:latin typeface="微软雅黑" pitchFamily="34" charset="-122"/>
                <a:ea typeface="微软雅黑" pitchFamily="34" charset="-122"/>
              </a:rPr>
              <a:t>首部的长度是 </a:t>
            </a:r>
            <a:r>
              <a:rPr lang="en-US" altLang="zh-CN" sz="1400" b="1" dirty="0">
                <a:solidFill>
                  <a:srgbClr val="0000CC"/>
                </a:solidFill>
                <a:latin typeface="微软雅黑" pitchFamily="34" charset="-122"/>
                <a:ea typeface="微软雅黑" pitchFamily="34" charset="-122"/>
              </a:rPr>
              <a:t>4 </a:t>
            </a:r>
            <a:r>
              <a:rPr lang="zh-CN" altLang="en-US" sz="1400" b="1" dirty="0">
                <a:solidFill>
                  <a:srgbClr val="0000CC"/>
                </a:solidFill>
                <a:latin typeface="微软雅黑" pitchFamily="34" charset="-122"/>
                <a:ea typeface="微软雅黑" pitchFamily="34" charset="-122"/>
              </a:rPr>
              <a:t>字节的整数倍。</a:t>
            </a:r>
          </a:p>
        </p:txBody>
      </p:sp>
      <p:sp>
        <p:nvSpPr>
          <p:cNvPr id="111" name="Line 40">
            <a:extLst>
              <a:ext uri="{FF2B5EF4-FFF2-40B4-BE49-F238E27FC236}">
                <a16:creationId xmlns:a16="http://schemas.microsoft.com/office/drawing/2014/main" id="{D1726F2C-20E3-47BF-97DF-83172FE3E601}"/>
              </a:ext>
            </a:extLst>
          </p:cNvPr>
          <p:cNvSpPr>
            <a:spLocks noChangeShapeType="1"/>
          </p:cNvSpPr>
          <p:nvPr/>
        </p:nvSpPr>
        <p:spPr bwMode="auto">
          <a:xfrm>
            <a:off x="2463121" y="1430007"/>
            <a:ext cx="0" cy="11377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12" name="矩形 111">
            <a:extLst>
              <a:ext uri="{FF2B5EF4-FFF2-40B4-BE49-F238E27FC236}">
                <a16:creationId xmlns:a16="http://schemas.microsoft.com/office/drawing/2014/main" id="{FB0C526D-7998-C6D9-91A5-A5EF9560A5EB}"/>
              </a:ext>
            </a:extLst>
          </p:cNvPr>
          <p:cNvSpPr/>
          <p:nvPr/>
        </p:nvSpPr>
        <p:spPr>
          <a:xfrm>
            <a:off x="7345086" y="1793903"/>
            <a:ext cx="1188986" cy="738664"/>
          </a:xfrm>
          <a:prstGeom prst="rect">
            <a:avLst/>
          </a:prstGeom>
          <a:solidFill>
            <a:schemeClr val="bg1"/>
          </a:solidFill>
        </p:spPr>
        <p:txBody>
          <a:bodyPr wrap="square">
            <a:spAutoFit/>
          </a:bodyPr>
          <a:lstStyle/>
          <a:p>
            <a:r>
              <a:rPr lang="en-US" altLang="zh-CN" sz="1400" b="1" dirty="0">
                <a:solidFill>
                  <a:srgbClr val="0000CC"/>
                </a:solidFill>
                <a:latin typeface="微软雅黑" pitchFamily="34" charset="-122"/>
                <a:ea typeface="微软雅黑" pitchFamily="34" charset="-122"/>
              </a:rPr>
              <a:t>TCP </a:t>
            </a:r>
            <a:r>
              <a:rPr lang="zh-CN" altLang="en-US" sz="1400" b="1" dirty="0">
                <a:solidFill>
                  <a:srgbClr val="0000CC"/>
                </a:solidFill>
                <a:latin typeface="微软雅黑" pitchFamily="34" charset="-122"/>
                <a:ea typeface="微软雅黑" pitchFamily="34" charset="-122"/>
              </a:rPr>
              <a:t>首部的最小长度是 </a:t>
            </a:r>
            <a:r>
              <a:rPr lang="en-US" altLang="zh-CN" sz="1400" b="1" dirty="0">
                <a:solidFill>
                  <a:srgbClr val="0000CC"/>
                </a:solidFill>
                <a:latin typeface="微软雅黑" pitchFamily="34" charset="-122"/>
                <a:ea typeface="微软雅黑" pitchFamily="34" charset="-122"/>
              </a:rPr>
              <a:t>20 </a:t>
            </a:r>
            <a:r>
              <a:rPr lang="zh-CN" altLang="en-US" sz="1400" b="1" dirty="0">
                <a:solidFill>
                  <a:srgbClr val="0000CC"/>
                </a:solidFill>
                <a:latin typeface="微软雅黑" pitchFamily="34" charset="-122"/>
                <a:ea typeface="微软雅黑" pitchFamily="34" charset="-122"/>
              </a:rPr>
              <a:t>字节。</a:t>
            </a:r>
          </a:p>
        </p:txBody>
      </p:sp>
    </p:spTree>
    <p:extLst>
      <p:ext uri="{BB962C8B-B14F-4D97-AF65-F5344CB8AC3E}">
        <p14:creationId xmlns:p14="http://schemas.microsoft.com/office/powerpoint/2010/main" val="1720395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withEffect">
                                  <p:stCondLst>
                                    <p:cond delay="0"/>
                                  </p:stCondLst>
                                  <p:childTnLst>
                                    <p:anim calcmode="discrete" valueType="str">
                                      <p:cBhvr>
                                        <p:cTn id="6"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24"/>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3000" fill="hold" grpId="0" nodeType="clickEffect">
                                  <p:stCondLst>
                                    <p:cond delay="0"/>
                                  </p:stCondLst>
                                  <p:childTnLst>
                                    <p:anim calcmode="discrete" valueType="str">
                                      <p:cBhvr>
                                        <p:cTn id="14" dur="1000" fill="hold"/>
                                        <p:tgtEl>
                                          <p:spTgt spid="88"/>
                                        </p:tgtEl>
                                        <p:attrNameLst>
                                          <p:attrName>style.visibility</p:attrName>
                                        </p:attrNameLst>
                                      </p:cBhvr>
                                      <p:tavLst>
                                        <p:tav tm="0">
                                          <p:val>
                                            <p:strVal val="hidden"/>
                                          </p:val>
                                        </p:tav>
                                        <p:tav tm="50000">
                                          <p:val>
                                            <p:strVal val="visible"/>
                                          </p:val>
                                        </p:tav>
                                      </p:tavLst>
                                    </p:anim>
                                  </p:childTnLst>
                                </p:cTn>
                              </p:par>
                            </p:childTnLst>
                          </p:cTn>
                        </p:par>
                        <p:par>
                          <p:cTn id="15" fill="hold">
                            <p:stCondLst>
                              <p:cond delay="3000"/>
                            </p:stCondLst>
                            <p:childTnLst>
                              <p:par>
                                <p:cTn id="16" presetID="35" presetClass="emph" presetSubtype="0" repeatCount="3000" fill="hold" grpId="0" nodeType="afterEffect">
                                  <p:stCondLst>
                                    <p:cond delay="0"/>
                                  </p:stCondLst>
                                  <p:childTnLst>
                                    <p:anim calcmode="discrete" valueType="str">
                                      <p:cBhvr>
                                        <p:cTn id="17"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par>
                    <p:cTn id="18" fill="hold">
                      <p:stCondLst>
                        <p:cond delay="indefinite"/>
                      </p:stCondLst>
                      <p:childTnLst>
                        <p:par>
                          <p:cTn id="19" fill="hold">
                            <p:stCondLst>
                              <p:cond delay="0"/>
                            </p:stCondLst>
                            <p:childTnLst>
                              <p:par>
                                <p:cTn id="20" presetID="35" presetClass="emph" presetSubtype="0" repeatCount="3000" fill="hold" grpId="0" nodeType="clickEffect">
                                  <p:stCondLst>
                                    <p:cond delay="0"/>
                                  </p:stCondLst>
                                  <p:childTnLst>
                                    <p:anim calcmode="discrete" valueType="str">
                                      <p:cBhvr>
                                        <p:cTn id="21" dur="1000" fill="hold"/>
                                        <p:tgtEl>
                                          <p:spTgt spid="11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88" grpId="0"/>
      <p:bldP spid="2" grpId="0" animBg="1"/>
      <p:bldP spid="112"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圆角矩形 87"/>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
        <p:nvSpPr>
          <p:cNvPr id="10" name="Line 5"/>
          <p:cNvSpPr>
            <a:spLocks noChangeShapeType="1"/>
          </p:cNvSpPr>
          <p:nvPr/>
        </p:nvSpPr>
        <p:spPr bwMode="auto">
          <a:xfrm>
            <a:off x="7187795" y="1145253"/>
            <a:ext cx="0" cy="1953179"/>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2" name="Rectangle 7"/>
          <p:cNvSpPr>
            <a:spLocks noChangeArrowheads="1"/>
          </p:cNvSpPr>
          <p:nvPr/>
        </p:nvSpPr>
        <p:spPr bwMode="auto">
          <a:xfrm>
            <a:off x="2154821" y="1148833"/>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Line 15"/>
          <p:cNvSpPr>
            <a:spLocks noChangeShapeType="1"/>
          </p:cNvSpPr>
          <p:nvPr/>
        </p:nvSpPr>
        <p:spPr bwMode="auto">
          <a:xfrm>
            <a:off x="4503500" y="1153309"/>
            <a:ext cx="0" cy="4001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9" name="Rectangle 16"/>
          <p:cNvSpPr>
            <a:spLocks noChangeArrowheads="1"/>
          </p:cNvSpPr>
          <p:nvPr/>
        </p:nvSpPr>
        <p:spPr bwMode="auto">
          <a:xfrm>
            <a:off x="5236614" y="1224919"/>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20"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1"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2"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3" name="Rectangle 20"/>
          <p:cNvSpPr>
            <a:spLocks noChangeArrowheads="1"/>
          </p:cNvSpPr>
          <p:nvPr/>
        </p:nvSpPr>
        <p:spPr bwMode="auto">
          <a:xfrm>
            <a:off x="2978119" y="1224919"/>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4"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5"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6"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7"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8" name="Rectangle 25"/>
          <p:cNvSpPr>
            <a:spLocks noChangeArrowheads="1"/>
          </p:cNvSpPr>
          <p:nvPr/>
        </p:nvSpPr>
        <p:spPr bwMode="auto">
          <a:xfrm>
            <a:off x="3921708" y="2006062"/>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9"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7"/>
          <p:cNvSpPr>
            <a:spLocks noChangeShapeType="1"/>
          </p:cNvSpPr>
          <p:nvPr/>
        </p:nvSpPr>
        <p:spPr bwMode="auto">
          <a:xfrm>
            <a:off x="3916815" y="2329513"/>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29"/>
          <p:cNvSpPr>
            <a:spLocks noChangeShapeType="1"/>
          </p:cNvSpPr>
          <p:nvPr/>
        </p:nvSpPr>
        <p:spPr bwMode="auto">
          <a:xfrm>
            <a:off x="3764568" y="2333989"/>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0"/>
          <p:cNvSpPr>
            <a:spLocks noChangeShapeType="1"/>
          </p:cNvSpPr>
          <p:nvPr/>
        </p:nvSpPr>
        <p:spPr bwMode="auto">
          <a:xfrm>
            <a:off x="4210642" y="2333989"/>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1"/>
          <p:cNvSpPr>
            <a:spLocks noChangeShapeType="1"/>
          </p:cNvSpPr>
          <p:nvPr/>
        </p:nvSpPr>
        <p:spPr bwMode="auto">
          <a:xfrm>
            <a:off x="4063244" y="2333989"/>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Line 32"/>
          <p:cNvSpPr>
            <a:spLocks noChangeShapeType="1"/>
          </p:cNvSpPr>
          <p:nvPr/>
        </p:nvSpPr>
        <p:spPr bwMode="auto">
          <a:xfrm>
            <a:off x="4359980" y="2333989"/>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6"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7" name="Rectangle 34"/>
          <p:cNvSpPr>
            <a:spLocks noChangeArrowheads="1"/>
          </p:cNvSpPr>
          <p:nvPr/>
        </p:nvSpPr>
        <p:spPr bwMode="auto">
          <a:xfrm>
            <a:off x="4280467" y="2322785"/>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6" name="Rectangle 75"/>
          <p:cNvSpPr>
            <a:spLocks noChangeArrowheads="1"/>
          </p:cNvSpPr>
          <p:nvPr/>
        </p:nvSpPr>
        <p:spPr bwMode="auto">
          <a:xfrm>
            <a:off x="4152650" y="2322785"/>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7" name="Rectangle 76"/>
          <p:cNvSpPr>
            <a:spLocks noChangeArrowheads="1"/>
          </p:cNvSpPr>
          <p:nvPr/>
        </p:nvSpPr>
        <p:spPr bwMode="auto">
          <a:xfrm>
            <a:off x="4021820" y="2322785"/>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8" name="Rectangle 77"/>
          <p:cNvSpPr>
            <a:spLocks noChangeArrowheads="1"/>
          </p:cNvSpPr>
          <p:nvPr/>
        </p:nvSpPr>
        <p:spPr bwMode="auto">
          <a:xfrm>
            <a:off x="3850095" y="2322785"/>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9" name="Rectangle 78"/>
          <p:cNvSpPr>
            <a:spLocks noChangeArrowheads="1"/>
          </p:cNvSpPr>
          <p:nvPr/>
        </p:nvSpPr>
        <p:spPr bwMode="auto">
          <a:xfrm>
            <a:off x="3703666" y="2322785"/>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80" name="Rectangle 79"/>
          <p:cNvSpPr>
            <a:spLocks noChangeArrowheads="1"/>
          </p:cNvSpPr>
          <p:nvPr/>
        </p:nvSpPr>
        <p:spPr bwMode="auto">
          <a:xfrm>
            <a:off x="3558291" y="2322785"/>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82"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3"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84"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5"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7"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9" name="Rectangle 104"/>
          <p:cNvSpPr>
            <a:spLocks noChangeArrowheads="1"/>
          </p:cNvSpPr>
          <p:nvPr/>
        </p:nvSpPr>
        <p:spPr bwMode="auto">
          <a:xfrm>
            <a:off x="2159946" y="1140776"/>
            <a:ext cx="4681566" cy="40460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Text Box 155"/>
          <p:cNvSpPr txBox="1">
            <a:spLocks noChangeArrowheads="1"/>
          </p:cNvSpPr>
          <p:nvPr/>
        </p:nvSpPr>
        <p:spPr bwMode="auto">
          <a:xfrm>
            <a:off x="1237129" y="3554287"/>
            <a:ext cx="6813177"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源端口和目的端口：各占 </a:t>
            </a:r>
            <a:r>
              <a:rPr lang="en-US" altLang="zh-CN" sz="1600" b="1" dirty="0">
                <a:solidFill>
                  <a:schemeClr val="bg1"/>
                </a:solidFill>
                <a:latin typeface="微软雅黑" pitchFamily="34" charset="-122"/>
                <a:ea typeface="微软雅黑" pitchFamily="34" charset="-122"/>
              </a:rPr>
              <a:t>16 </a:t>
            </a:r>
            <a:r>
              <a:rPr lang="zh-CN" altLang="en-US" sz="1600" b="1" dirty="0">
                <a:solidFill>
                  <a:schemeClr val="bg1"/>
                </a:solidFill>
                <a:latin typeface="微软雅黑" pitchFamily="34" charset="-122"/>
                <a:ea typeface="微软雅黑" pitchFamily="34" charset="-122"/>
              </a:rPr>
              <a:t>位。</a:t>
            </a:r>
            <a:r>
              <a:rPr lang="en-US" altLang="zh-CN" sz="1600" b="1" dirty="0">
                <a:solidFill>
                  <a:schemeClr val="bg1"/>
                </a:solidFill>
                <a:latin typeface="微软雅黑" pitchFamily="34" charset="-122"/>
                <a:ea typeface="微软雅黑" pitchFamily="34" charset="-122"/>
              </a:rPr>
              <a:t>IP</a:t>
            </a:r>
            <a:r>
              <a:rPr lang="zh-CN" altLang="en-US" sz="1600" b="1" dirty="0">
                <a:solidFill>
                  <a:schemeClr val="bg1"/>
                </a:solidFill>
                <a:latin typeface="微软雅黑" pitchFamily="34" charset="-122"/>
                <a:ea typeface="微软雅黑" pitchFamily="34" charset="-122"/>
              </a:rPr>
              <a:t>地址和端口号构成了套接字。</a:t>
            </a:r>
            <a:endParaRPr lang="en-US" altLang="zh-CN" sz="1600" b="1" dirty="0">
              <a:solidFill>
                <a:schemeClr val="bg1"/>
              </a:solidFill>
              <a:latin typeface="微软雅黑" pitchFamily="34" charset="-122"/>
              <a:ea typeface="微软雅黑" pitchFamily="34" charset="-122"/>
            </a:endParaRPr>
          </a:p>
          <a:p>
            <a:pPr algn="ctr">
              <a:lnSpc>
                <a:spcPct val="110000"/>
              </a:lnSpc>
            </a:pPr>
            <a:r>
              <a:rPr lang="en-US" altLang="zh-CN" sz="1600" b="1" dirty="0">
                <a:solidFill>
                  <a:schemeClr val="bg1"/>
                </a:solidFill>
                <a:latin typeface="微软雅黑" pitchFamily="34" charset="-122"/>
                <a:ea typeface="微软雅黑" pitchFamily="34" charset="-122"/>
              </a:rPr>
              <a:t>TCP</a:t>
            </a:r>
            <a:r>
              <a:rPr lang="zh-CN" altLang="en-US" sz="1600" b="1" dirty="0">
                <a:solidFill>
                  <a:schemeClr val="bg1"/>
                </a:solidFill>
                <a:latin typeface="微软雅黑" pitchFamily="34" charset="-122"/>
                <a:ea typeface="微软雅黑" pitchFamily="34" charset="-122"/>
              </a:rPr>
              <a:t>连接的两个端点就是两个套接字。</a:t>
            </a:r>
          </a:p>
        </p:txBody>
      </p:sp>
      <p:grpSp>
        <p:nvGrpSpPr>
          <p:cNvPr id="2" name="组合 1"/>
          <p:cNvGrpSpPr/>
          <p:nvPr/>
        </p:nvGrpSpPr>
        <p:grpSpPr>
          <a:xfrm>
            <a:off x="1827330" y="782473"/>
            <a:ext cx="5158580" cy="374416"/>
            <a:chOff x="1827330" y="782473"/>
            <a:chExt cx="5158580" cy="374416"/>
          </a:xfrm>
        </p:grpSpPr>
        <p:sp>
          <p:nvSpPr>
            <p:cNvPr id="38"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9"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0"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1"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2"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3"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4"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5"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6"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7"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8"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9"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0"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1"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2"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3"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4"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5"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6"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7"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8"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9"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0"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1"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2"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3"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4"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5"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6"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7"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8"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9"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70"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71"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6"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91"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Tree>
    <p:extLst>
      <p:ext uri="{BB962C8B-B14F-4D97-AF65-F5344CB8AC3E}">
        <p14:creationId xmlns:p14="http://schemas.microsoft.com/office/powerpoint/2010/main" val="3937213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8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2"/>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Rectangle 104"/>
          <p:cNvSpPr>
            <a:spLocks noChangeArrowheads="1"/>
          </p:cNvSpPr>
          <p:nvPr/>
        </p:nvSpPr>
        <p:spPr bwMode="auto">
          <a:xfrm>
            <a:off x="2159946" y="1553473"/>
            <a:ext cx="4681566" cy="40460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3" name="Text Box 155"/>
          <p:cNvSpPr txBox="1">
            <a:spLocks noChangeArrowheads="1"/>
          </p:cNvSpPr>
          <p:nvPr/>
        </p:nvSpPr>
        <p:spPr bwMode="auto">
          <a:xfrm>
            <a:off x="950259" y="3546756"/>
            <a:ext cx="7360023"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序号：占 </a:t>
            </a:r>
            <a:r>
              <a:rPr lang="en-US" altLang="zh-CN" sz="1600" b="1" dirty="0">
                <a:solidFill>
                  <a:schemeClr val="bg1"/>
                </a:solidFill>
                <a:latin typeface="微软雅黑" pitchFamily="34" charset="-122"/>
                <a:ea typeface="微软雅黑" pitchFamily="34" charset="-122"/>
              </a:rPr>
              <a:t>32 </a:t>
            </a:r>
            <a:r>
              <a:rPr lang="zh-CN" altLang="en-US" sz="1600" b="1" dirty="0">
                <a:solidFill>
                  <a:schemeClr val="bg1"/>
                </a:solidFill>
                <a:latin typeface="微软雅黑" pitchFamily="34" charset="-122"/>
                <a:ea typeface="微软雅黑" pitchFamily="34" charset="-122"/>
              </a:rPr>
              <a:t>位。</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连接中传输的数据中的</a:t>
            </a:r>
            <a:r>
              <a:rPr lang="zh-CN" altLang="en-US" sz="1600" b="1" dirty="0">
                <a:solidFill>
                  <a:srgbClr val="FFC000"/>
                </a:solidFill>
                <a:latin typeface="微软雅黑" pitchFamily="34" charset="-122"/>
                <a:ea typeface="微软雅黑" pitchFamily="34" charset="-122"/>
              </a:rPr>
              <a:t>每一个字节</a:t>
            </a:r>
            <a:r>
              <a:rPr lang="zh-CN" altLang="en-US" sz="1600" b="1" dirty="0">
                <a:solidFill>
                  <a:schemeClr val="bg1"/>
                </a:solidFill>
                <a:latin typeface="微软雅黑" pitchFamily="34" charset="-122"/>
                <a:ea typeface="微软雅黑" pitchFamily="34" charset="-122"/>
              </a:rPr>
              <a:t>都有一个序号。序号字段的值则指的是本报文段</a:t>
            </a:r>
            <a:r>
              <a:rPr lang="zh-CN" altLang="en-US" sz="1600" b="1" dirty="0">
                <a:solidFill>
                  <a:srgbClr val="FFC000"/>
                </a:solidFill>
                <a:latin typeface="微软雅黑" pitchFamily="34" charset="-122"/>
                <a:ea typeface="微软雅黑" pitchFamily="34" charset="-122"/>
              </a:rPr>
              <a:t>所发送</a:t>
            </a:r>
            <a:r>
              <a:rPr lang="zh-CN" altLang="en-US" sz="1600" b="1" dirty="0">
                <a:solidFill>
                  <a:schemeClr val="bg1"/>
                </a:solidFill>
                <a:latin typeface="微软雅黑" pitchFamily="34" charset="-122"/>
                <a:ea typeface="微软雅黑" pitchFamily="34" charset="-122"/>
              </a:rPr>
              <a:t>的数据的</a:t>
            </a:r>
            <a:r>
              <a:rPr lang="zh-CN" altLang="en-US" sz="1600" b="1" dirty="0">
                <a:solidFill>
                  <a:srgbClr val="FFC000"/>
                </a:solidFill>
                <a:latin typeface="微软雅黑" pitchFamily="34" charset="-122"/>
                <a:ea typeface="微软雅黑" pitchFamily="34" charset="-122"/>
              </a:rPr>
              <a:t>第一个字</a:t>
            </a:r>
            <a:r>
              <a:rPr lang="zh-CN" altLang="en-US" sz="1600" b="1" dirty="0">
                <a:solidFill>
                  <a:schemeClr val="bg1"/>
                </a:solidFill>
                <a:latin typeface="微软雅黑" pitchFamily="34" charset="-122"/>
                <a:ea typeface="微软雅黑" pitchFamily="34" charset="-122"/>
              </a:rPr>
              <a:t>节的序号。 </a:t>
            </a:r>
          </a:p>
        </p:txBody>
      </p:sp>
      <p:grpSp>
        <p:nvGrpSpPr>
          <p:cNvPr id="84" name="组合 83"/>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2696927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8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1156793"/>
            <a:ext cx="8053712" cy="322232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418897" y="1337257"/>
            <a:ext cx="6442841" cy="656590"/>
          </a:xfrm>
          <a:prstGeom prst="rect">
            <a:avLst/>
          </a:prstGeom>
        </p:spPr>
        <p:txBody>
          <a:bodyPr wrap="square">
            <a:spAutoFit/>
          </a:bodyPr>
          <a:lstStyle/>
          <a:p>
            <a:pPr algn="ctr">
              <a:lnSpc>
                <a:spcPts val="2200"/>
              </a:lnSpc>
            </a:pPr>
            <a:r>
              <a:rPr lang="zh-CN" altLang="en-US" sz="1600" b="1" dirty="0">
                <a:latin typeface="微软雅黑" pitchFamily="34" charset="-122"/>
                <a:ea typeface="微软雅黑" pitchFamily="34" charset="-122"/>
              </a:rPr>
              <a:t>现有 </a:t>
            </a:r>
            <a:r>
              <a:rPr lang="en-US" altLang="zh-CN" sz="1600" b="1" dirty="0">
                <a:latin typeface="微软雅黑" pitchFamily="34" charset="-122"/>
                <a:ea typeface="微软雅黑" pitchFamily="34" charset="-122"/>
              </a:rPr>
              <a:t>5000 </a:t>
            </a:r>
            <a:r>
              <a:rPr lang="zh-CN" altLang="en-US" sz="1600" b="1" dirty="0">
                <a:latin typeface="微软雅黑" pitchFamily="34" charset="-122"/>
                <a:ea typeface="微软雅黑" pitchFamily="34" charset="-122"/>
              </a:rPr>
              <a:t>个字节的数据。</a:t>
            </a:r>
            <a:endParaRPr lang="en-US" altLang="zh-CN" sz="1600" b="1" dirty="0">
              <a:latin typeface="微软雅黑" pitchFamily="34" charset="-122"/>
              <a:ea typeface="微软雅黑" pitchFamily="34" charset="-122"/>
            </a:endParaRPr>
          </a:p>
          <a:p>
            <a:pPr algn="ctr">
              <a:lnSpc>
                <a:spcPts val="2200"/>
              </a:lnSpc>
            </a:pPr>
            <a:r>
              <a:rPr lang="zh-CN" altLang="en-US" sz="1600" b="1" dirty="0">
                <a:latin typeface="微软雅黑" pitchFamily="34" charset="-122"/>
                <a:ea typeface="微软雅黑" pitchFamily="34" charset="-122"/>
              </a:rPr>
              <a:t>假设报文段的最大数据长度为 </a:t>
            </a:r>
            <a:r>
              <a:rPr lang="en-US" altLang="zh-CN" sz="1600" b="1" dirty="0">
                <a:latin typeface="微软雅黑" pitchFamily="34" charset="-122"/>
                <a:ea typeface="微软雅黑" pitchFamily="34" charset="-122"/>
              </a:rPr>
              <a:t>1000 </a:t>
            </a:r>
            <a:r>
              <a:rPr lang="zh-CN" altLang="en-US" sz="1600" b="1" dirty="0">
                <a:latin typeface="微软雅黑" pitchFamily="34" charset="-122"/>
                <a:ea typeface="微软雅黑" pitchFamily="34" charset="-122"/>
              </a:rPr>
              <a:t>个字节，初始序号为 </a:t>
            </a:r>
            <a:r>
              <a:rPr lang="en-US" altLang="zh-CN" sz="1600" b="1" dirty="0">
                <a:latin typeface="微软雅黑" pitchFamily="34" charset="-122"/>
                <a:ea typeface="微软雅黑" pitchFamily="34" charset="-122"/>
              </a:rPr>
              <a:t>1001</a:t>
            </a:r>
            <a:r>
              <a:rPr lang="zh-CN" altLang="en-US" sz="1600" b="1" dirty="0">
                <a:latin typeface="微软雅黑" pitchFamily="34" charset="-122"/>
                <a:ea typeface="微软雅黑" pitchFamily="34" charset="-122"/>
              </a:rPr>
              <a:t>。</a:t>
            </a:r>
          </a:p>
        </p:txBody>
      </p:sp>
      <p:sp>
        <p:nvSpPr>
          <p:cNvPr id="87" name="矩形 86"/>
          <p:cNvSpPr/>
          <p:nvPr/>
        </p:nvSpPr>
        <p:spPr>
          <a:xfrm>
            <a:off x="1881361" y="2072985"/>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a:latin typeface="微软雅黑" pitchFamily="34" charset="-122"/>
                <a:ea typeface="微软雅黑" pitchFamily="34" charset="-122"/>
              </a:rPr>
              <a:t>报文段 </a:t>
            </a:r>
            <a:r>
              <a:rPr lang="en-US" altLang="zh-CN" sz="1600" b="1" dirty="0">
                <a:latin typeface="微软雅黑" pitchFamily="34" charset="-122"/>
                <a:ea typeface="微软雅黑" pitchFamily="34" charset="-122"/>
              </a:rPr>
              <a:t>1 </a:t>
            </a:r>
            <a:r>
              <a:rPr lang="zh-CN" altLang="en-US" sz="1600" b="1" dirty="0">
                <a:latin typeface="微软雅黑" pitchFamily="34" charset="-122"/>
                <a:ea typeface="微软雅黑" pitchFamily="34" charset="-122"/>
              </a:rPr>
              <a:t>序号 </a:t>
            </a:r>
            <a:r>
              <a:rPr lang="en-US" altLang="zh-CN" sz="1600" b="1" dirty="0">
                <a:latin typeface="微软雅黑" pitchFamily="34" charset="-122"/>
                <a:ea typeface="微软雅黑" pitchFamily="34" charset="-122"/>
              </a:rPr>
              <a:t>= </a:t>
            </a:r>
            <a:r>
              <a:rPr lang="en-US" altLang="zh-CN" sz="1600" b="1" dirty="0">
                <a:solidFill>
                  <a:srgbClr val="0000FF"/>
                </a:solidFill>
                <a:latin typeface="微软雅黑" pitchFamily="34" charset="-122"/>
                <a:ea typeface="微软雅黑" pitchFamily="34" charset="-122"/>
              </a:rPr>
              <a:t>1001</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（数据字节序号：</a:t>
            </a:r>
            <a:r>
              <a:rPr lang="en-US" altLang="zh-CN" sz="1600" b="1" dirty="0">
                <a:latin typeface="微软雅黑" pitchFamily="34" charset="-122"/>
                <a:ea typeface="微软雅黑" pitchFamily="34" charset="-122"/>
              </a:rPr>
              <a:t>1001 ~ 2000</a:t>
            </a:r>
            <a:r>
              <a:rPr lang="zh-CN" altLang="en-US" sz="1600" b="1" dirty="0">
                <a:latin typeface="微软雅黑" pitchFamily="34" charset="-122"/>
                <a:ea typeface="微软雅黑" pitchFamily="34" charset="-122"/>
              </a:rPr>
              <a:t>）</a:t>
            </a:r>
          </a:p>
        </p:txBody>
      </p:sp>
      <p:sp>
        <p:nvSpPr>
          <p:cNvPr id="88" name="矩形 87"/>
          <p:cNvSpPr/>
          <p:nvPr/>
        </p:nvSpPr>
        <p:spPr>
          <a:xfrm>
            <a:off x="1881361" y="2478976"/>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a:latin typeface="微软雅黑" pitchFamily="34" charset="-122"/>
                <a:ea typeface="微软雅黑" pitchFamily="34" charset="-122"/>
              </a:rPr>
              <a:t>报文段 </a:t>
            </a:r>
            <a:r>
              <a:rPr lang="en-US" altLang="zh-CN" sz="1600" b="1" dirty="0">
                <a:latin typeface="微软雅黑" pitchFamily="34" charset="-122"/>
                <a:ea typeface="微软雅黑" pitchFamily="34" charset="-122"/>
              </a:rPr>
              <a:t>2 </a:t>
            </a:r>
            <a:r>
              <a:rPr lang="zh-CN" altLang="en-US" sz="1600" b="1" dirty="0">
                <a:latin typeface="微软雅黑" pitchFamily="34" charset="-122"/>
                <a:ea typeface="微软雅黑" pitchFamily="34" charset="-122"/>
              </a:rPr>
              <a:t>序号 </a:t>
            </a:r>
            <a:r>
              <a:rPr lang="en-US" altLang="zh-CN" sz="1600" b="1" dirty="0">
                <a:latin typeface="微软雅黑" pitchFamily="34" charset="-122"/>
                <a:ea typeface="微软雅黑" pitchFamily="34" charset="-122"/>
              </a:rPr>
              <a:t>= </a:t>
            </a:r>
            <a:r>
              <a:rPr lang="en-US" altLang="zh-CN" sz="1600" b="1" dirty="0">
                <a:solidFill>
                  <a:srgbClr val="0000FF"/>
                </a:solidFill>
                <a:latin typeface="微软雅黑" pitchFamily="34" charset="-122"/>
                <a:ea typeface="微软雅黑" pitchFamily="34" charset="-122"/>
              </a:rPr>
              <a:t>2001</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（数据字节序号：</a:t>
            </a:r>
            <a:r>
              <a:rPr lang="en-US" altLang="zh-CN" sz="1600" b="1" dirty="0">
                <a:latin typeface="微软雅黑" pitchFamily="34" charset="-122"/>
                <a:ea typeface="微软雅黑" pitchFamily="34" charset="-122"/>
              </a:rPr>
              <a:t>2001 ~ 3000</a:t>
            </a:r>
            <a:r>
              <a:rPr lang="zh-CN" altLang="en-US" sz="1600" b="1" dirty="0">
                <a:latin typeface="微软雅黑" pitchFamily="34" charset="-122"/>
                <a:ea typeface="微软雅黑" pitchFamily="34" charset="-122"/>
              </a:rPr>
              <a:t>）</a:t>
            </a:r>
          </a:p>
        </p:txBody>
      </p:sp>
      <p:sp>
        <p:nvSpPr>
          <p:cNvPr id="89" name="矩形 88"/>
          <p:cNvSpPr/>
          <p:nvPr/>
        </p:nvSpPr>
        <p:spPr>
          <a:xfrm>
            <a:off x="1881361" y="2887027"/>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a:latin typeface="微软雅黑" pitchFamily="34" charset="-122"/>
                <a:ea typeface="微软雅黑" pitchFamily="34" charset="-122"/>
              </a:rPr>
              <a:t>报文段 </a:t>
            </a:r>
            <a:r>
              <a:rPr lang="en-US" altLang="zh-CN" sz="1600" b="1" dirty="0">
                <a:latin typeface="微软雅黑" pitchFamily="34" charset="-122"/>
                <a:ea typeface="微软雅黑" pitchFamily="34" charset="-122"/>
              </a:rPr>
              <a:t>3 </a:t>
            </a:r>
            <a:r>
              <a:rPr lang="zh-CN" altLang="en-US" sz="1600" b="1" dirty="0">
                <a:latin typeface="微软雅黑" pitchFamily="34" charset="-122"/>
                <a:ea typeface="微软雅黑" pitchFamily="34" charset="-122"/>
              </a:rPr>
              <a:t>序号 </a:t>
            </a:r>
            <a:r>
              <a:rPr lang="en-US" altLang="zh-CN" sz="1600" b="1" dirty="0">
                <a:latin typeface="微软雅黑" pitchFamily="34" charset="-122"/>
                <a:ea typeface="微软雅黑" pitchFamily="34" charset="-122"/>
              </a:rPr>
              <a:t>= </a:t>
            </a:r>
            <a:r>
              <a:rPr lang="en-US" altLang="zh-CN" sz="1600" b="1" dirty="0">
                <a:solidFill>
                  <a:srgbClr val="0000FF"/>
                </a:solidFill>
                <a:latin typeface="微软雅黑" pitchFamily="34" charset="-122"/>
                <a:ea typeface="微软雅黑" pitchFamily="34" charset="-122"/>
              </a:rPr>
              <a:t>3001</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（数据字节序号：</a:t>
            </a:r>
            <a:r>
              <a:rPr lang="en-US" altLang="zh-CN" sz="1600" b="1" dirty="0">
                <a:latin typeface="微软雅黑" pitchFamily="34" charset="-122"/>
                <a:ea typeface="微软雅黑" pitchFamily="34" charset="-122"/>
              </a:rPr>
              <a:t>3001 ~ 4000</a:t>
            </a:r>
            <a:r>
              <a:rPr lang="zh-CN" altLang="en-US" sz="1600" b="1" dirty="0">
                <a:latin typeface="微软雅黑" pitchFamily="34" charset="-122"/>
                <a:ea typeface="微软雅黑" pitchFamily="34" charset="-122"/>
              </a:rPr>
              <a:t>）</a:t>
            </a:r>
          </a:p>
        </p:txBody>
      </p:sp>
      <p:sp>
        <p:nvSpPr>
          <p:cNvPr id="90" name="矩形 89"/>
          <p:cNvSpPr/>
          <p:nvPr/>
        </p:nvSpPr>
        <p:spPr>
          <a:xfrm>
            <a:off x="1881361" y="3293018"/>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a:latin typeface="微软雅黑" pitchFamily="34" charset="-122"/>
                <a:ea typeface="微软雅黑" pitchFamily="34" charset="-122"/>
              </a:rPr>
              <a:t>报文段 </a:t>
            </a:r>
            <a:r>
              <a:rPr lang="en-US" altLang="zh-CN" sz="1600" b="1" dirty="0">
                <a:latin typeface="微软雅黑" pitchFamily="34" charset="-122"/>
                <a:ea typeface="微软雅黑" pitchFamily="34" charset="-122"/>
              </a:rPr>
              <a:t>4 </a:t>
            </a:r>
            <a:r>
              <a:rPr lang="zh-CN" altLang="en-US" sz="1600" b="1" dirty="0">
                <a:latin typeface="微软雅黑" pitchFamily="34" charset="-122"/>
                <a:ea typeface="微软雅黑" pitchFamily="34" charset="-122"/>
              </a:rPr>
              <a:t>序号 </a:t>
            </a:r>
            <a:r>
              <a:rPr lang="en-US" altLang="zh-CN" sz="1600" b="1" dirty="0">
                <a:latin typeface="微软雅黑" pitchFamily="34" charset="-122"/>
                <a:ea typeface="微软雅黑" pitchFamily="34" charset="-122"/>
              </a:rPr>
              <a:t>= </a:t>
            </a:r>
            <a:r>
              <a:rPr lang="en-US" altLang="zh-CN" sz="1600" b="1" dirty="0">
                <a:solidFill>
                  <a:srgbClr val="0000FF"/>
                </a:solidFill>
                <a:latin typeface="微软雅黑" pitchFamily="34" charset="-122"/>
                <a:ea typeface="微软雅黑" pitchFamily="34" charset="-122"/>
              </a:rPr>
              <a:t>4001</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（数据字节序号：</a:t>
            </a:r>
            <a:r>
              <a:rPr lang="en-US" altLang="zh-CN" sz="1600" b="1" dirty="0">
                <a:latin typeface="微软雅黑" pitchFamily="34" charset="-122"/>
                <a:ea typeface="微软雅黑" pitchFamily="34" charset="-122"/>
              </a:rPr>
              <a:t>4001 ~ 5000</a:t>
            </a:r>
            <a:r>
              <a:rPr lang="zh-CN" altLang="en-US" sz="1600" b="1" dirty="0">
                <a:latin typeface="微软雅黑" pitchFamily="34" charset="-122"/>
                <a:ea typeface="微软雅黑" pitchFamily="34" charset="-122"/>
              </a:rPr>
              <a:t>）</a:t>
            </a:r>
          </a:p>
        </p:txBody>
      </p:sp>
      <p:sp>
        <p:nvSpPr>
          <p:cNvPr id="91" name="矩形 90"/>
          <p:cNvSpPr/>
          <p:nvPr/>
        </p:nvSpPr>
        <p:spPr>
          <a:xfrm>
            <a:off x="1881361" y="3699009"/>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a:latin typeface="微软雅黑" pitchFamily="34" charset="-122"/>
                <a:ea typeface="微软雅黑" pitchFamily="34" charset="-122"/>
              </a:rPr>
              <a:t>报文段 </a:t>
            </a:r>
            <a:r>
              <a:rPr lang="en-US" altLang="zh-CN" sz="1600" b="1" dirty="0">
                <a:latin typeface="微软雅黑" pitchFamily="34" charset="-122"/>
                <a:ea typeface="微软雅黑" pitchFamily="34" charset="-122"/>
              </a:rPr>
              <a:t>5 </a:t>
            </a:r>
            <a:r>
              <a:rPr lang="zh-CN" altLang="en-US" sz="1600" b="1" dirty="0">
                <a:latin typeface="微软雅黑" pitchFamily="34" charset="-122"/>
                <a:ea typeface="微软雅黑" pitchFamily="34" charset="-122"/>
              </a:rPr>
              <a:t>序号 </a:t>
            </a:r>
            <a:r>
              <a:rPr lang="en-US" altLang="zh-CN" sz="1600" b="1" dirty="0">
                <a:latin typeface="微软雅黑" pitchFamily="34" charset="-122"/>
                <a:ea typeface="微软雅黑" pitchFamily="34" charset="-122"/>
              </a:rPr>
              <a:t>= </a:t>
            </a:r>
            <a:r>
              <a:rPr lang="en-US" altLang="zh-CN" sz="1600" b="1" dirty="0">
                <a:solidFill>
                  <a:srgbClr val="0000FF"/>
                </a:solidFill>
                <a:latin typeface="微软雅黑" pitchFamily="34" charset="-122"/>
                <a:ea typeface="微软雅黑" pitchFamily="34" charset="-122"/>
              </a:rPr>
              <a:t>5001</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（数据字节序号：</a:t>
            </a:r>
            <a:r>
              <a:rPr lang="en-US" altLang="zh-CN" sz="1600" b="1" dirty="0">
                <a:latin typeface="微软雅黑" pitchFamily="34" charset="-122"/>
                <a:ea typeface="微软雅黑" pitchFamily="34" charset="-122"/>
              </a:rPr>
              <a:t>5001 ~ 6000</a:t>
            </a:r>
            <a:r>
              <a:rPr lang="zh-CN" altLang="en-US" sz="1600" b="1" dirty="0">
                <a:latin typeface="微软雅黑" pitchFamily="34" charset="-122"/>
                <a:ea typeface="微软雅黑" pitchFamily="34" charset="-122"/>
              </a:rPr>
              <a:t>）</a:t>
            </a:r>
          </a:p>
        </p:txBody>
      </p:sp>
      <p:sp>
        <p:nvSpPr>
          <p:cNvPr id="3" name="AutoShape 5">
            <a:extLst>
              <a:ext uri="{FF2B5EF4-FFF2-40B4-BE49-F238E27FC236}">
                <a16:creationId xmlns:a16="http://schemas.microsoft.com/office/drawing/2014/main" id="{681CAD39-895F-C8C9-56B7-37F3A865C89D}"/>
              </a:ext>
            </a:extLst>
          </p:cNvPr>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 name="Rectangle 6">
            <a:extLst>
              <a:ext uri="{FF2B5EF4-FFF2-40B4-BE49-F238E27FC236}">
                <a16:creationId xmlns:a16="http://schemas.microsoft.com/office/drawing/2014/main" id="{3FF5D24B-7708-D348-54BD-83A41096C116}"/>
              </a:ext>
            </a:extLst>
          </p:cNvPr>
          <p:cNvSpPr>
            <a:spLocks noChangeArrowheads="1"/>
          </p:cNvSpPr>
          <p:nvPr/>
        </p:nvSpPr>
        <p:spPr bwMode="auto">
          <a:xfrm>
            <a:off x="2922279" y="587638"/>
            <a:ext cx="331815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报文段序号字段的例子</a:t>
            </a:r>
            <a:endParaRPr lang="en-US"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529929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5" presetClass="emph" presetSubtype="0" repeatCount="3000" fill="hold" grpId="0" nodeType="clickEffect">
                                  <p:stCondLst>
                                    <p:cond delay="0"/>
                                  </p:stCondLst>
                                  <p:childTnLst>
                                    <p:anim calcmode="discrete" valueType="str">
                                      <p:cBhvr>
                                        <p:cTn id="13" dur="1000" fill="hold"/>
                                        <p:tgtEl>
                                          <p:spTgt spid="87"/>
                                        </p:tgtEl>
                                        <p:attrNameLst>
                                          <p:attrName>style.visibility</p:attrName>
                                        </p:attrNameLst>
                                      </p:cBhvr>
                                      <p:tavLst>
                                        <p:tav tm="0">
                                          <p:val>
                                            <p:strVal val="hidden"/>
                                          </p:val>
                                        </p:tav>
                                        <p:tav tm="50000">
                                          <p:val>
                                            <p:strVal val="visible"/>
                                          </p:val>
                                        </p:tav>
                                      </p:tavLst>
                                    </p:anim>
                                  </p:childTnLst>
                                </p:cTn>
                              </p:par>
                            </p:childTnLst>
                          </p:cTn>
                        </p:par>
                      </p:childTnLst>
                    </p:cTn>
                  </p:par>
                  <p:par>
                    <p:cTn id="14" fill="hold">
                      <p:stCondLst>
                        <p:cond delay="indefinite"/>
                      </p:stCondLst>
                      <p:childTnLst>
                        <p:par>
                          <p:cTn id="15" fill="hold">
                            <p:stCondLst>
                              <p:cond delay="0"/>
                            </p:stCondLst>
                            <p:childTnLst>
                              <p:par>
                                <p:cTn id="16" presetID="35" presetClass="emph" presetSubtype="0" repeatCount="3000" fill="hold" grpId="0" nodeType="clickEffect">
                                  <p:stCondLst>
                                    <p:cond delay="0"/>
                                  </p:stCondLst>
                                  <p:childTnLst>
                                    <p:anim calcmode="discrete" valueType="str">
                                      <p:cBhvr>
                                        <p:cTn id="17" dur="1000" fill="hold"/>
                                        <p:tgtEl>
                                          <p:spTgt spid="8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7" grpId="0" animBg="1"/>
      <p:bldP spid="88"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2555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Rectangle 104"/>
          <p:cNvSpPr>
            <a:spLocks noChangeArrowheads="1"/>
          </p:cNvSpPr>
          <p:nvPr/>
        </p:nvSpPr>
        <p:spPr bwMode="auto">
          <a:xfrm>
            <a:off x="2159946" y="1928377"/>
            <a:ext cx="4681566" cy="40460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3" name="Text Box 155"/>
          <p:cNvSpPr txBox="1">
            <a:spLocks noChangeArrowheads="1"/>
          </p:cNvSpPr>
          <p:nvPr/>
        </p:nvSpPr>
        <p:spPr bwMode="auto">
          <a:xfrm>
            <a:off x="1520216" y="3536782"/>
            <a:ext cx="5888915"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确认号：占 </a:t>
            </a:r>
            <a:r>
              <a:rPr lang="en-US" altLang="zh-CN" sz="1600" b="1" dirty="0">
                <a:solidFill>
                  <a:schemeClr val="bg1"/>
                </a:solidFill>
                <a:latin typeface="微软雅黑" pitchFamily="34" charset="-122"/>
                <a:ea typeface="微软雅黑" pitchFamily="34" charset="-122"/>
              </a:rPr>
              <a:t>32 </a:t>
            </a:r>
            <a:r>
              <a:rPr lang="zh-CN" altLang="en-US" sz="1600" b="1" dirty="0">
                <a:solidFill>
                  <a:schemeClr val="bg1"/>
                </a:solidFill>
                <a:latin typeface="微软雅黑" pitchFamily="34" charset="-122"/>
                <a:ea typeface="微软雅黑" pitchFamily="34" charset="-122"/>
              </a:rPr>
              <a:t>位，是</a:t>
            </a:r>
            <a:r>
              <a:rPr lang="zh-CN" altLang="en-US" sz="1600" b="1" dirty="0">
                <a:solidFill>
                  <a:srgbClr val="FFC000"/>
                </a:solidFill>
                <a:latin typeface="微软雅黑" pitchFamily="34" charset="-122"/>
                <a:ea typeface="微软雅黑" pitchFamily="34" charset="-122"/>
              </a:rPr>
              <a:t>期望收到</a:t>
            </a:r>
            <a:r>
              <a:rPr lang="zh-CN" altLang="en-US" sz="1600" b="1" dirty="0">
                <a:solidFill>
                  <a:schemeClr val="bg1"/>
                </a:solidFill>
                <a:latin typeface="微软雅黑" pitchFamily="34" charset="-122"/>
                <a:ea typeface="微软雅黑" pitchFamily="34" charset="-122"/>
              </a:rPr>
              <a:t>对方下一个报文段的数据的</a:t>
            </a:r>
            <a:r>
              <a:rPr lang="zh-CN" altLang="en-US" sz="1600" b="1" dirty="0">
                <a:solidFill>
                  <a:srgbClr val="FFC000"/>
                </a:solidFill>
                <a:latin typeface="微软雅黑" pitchFamily="34" charset="-122"/>
                <a:ea typeface="微软雅黑" pitchFamily="34" charset="-122"/>
              </a:rPr>
              <a:t>第一个字节</a:t>
            </a:r>
            <a:r>
              <a:rPr lang="zh-CN" altLang="en-US" sz="1600" b="1" dirty="0">
                <a:solidFill>
                  <a:schemeClr val="bg1"/>
                </a:solidFill>
                <a:latin typeface="微软雅黑" pitchFamily="34" charset="-122"/>
                <a:ea typeface="微软雅黑" pitchFamily="34" charset="-122"/>
              </a:rPr>
              <a:t>的序号。 </a:t>
            </a:r>
          </a:p>
        </p:txBody>
      </p:sp>
      <p:grpSp>
        <p:nvGrpSpPr>
          <p:cNvPr id="123" name="组合 122"/>
          <p:cNvGrpSpPr/>
          <p:nvPr/>
        </p:nvGrpSpPr>
        <p:grpSpPr>
          <a:xfrm>
            <a:off x="1827330" y="782473"/>
            <a:ext cx="5158580" cy="374416"/>
            <a:chOff x="1827330" y="782473"/>
            <a:chExt cx="5158580" cy="374416"/>
          </a:xfrm>
        </p:grpSpPr>
        <p:sp>
          <p:nvSpPr>
            <p:cNvPr id="124"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5"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6"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7"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8"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9"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0"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1"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2"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3"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4"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5"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6"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7"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8"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9"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0"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1"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2"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3"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4"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5"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6"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7"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8"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9"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0"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1"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2"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3"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4"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5"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6"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7"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8"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59"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4"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
        <p:nvSpPr>
          <p:cNvPr id="2" name="矩形 1"/>
          <p:cNvSpPr/>
          <p:nvPr/>
        </p:nvSpPr>
        <p:spPr>
          <a:xfrm>
            <a:off x="1210628" y="4393791"/>
            <a:ext cx="6866964" cy="323165"/>
          </a:xfrm>
          <a:prstGeom prst="rect">
            <a:avLst/>
          </a:prstGeom>
          <a:solidFill>
            <a:srgbClr val="009900"/>
          </a:solidFill>
        </p:spPr>
        <p:txBody>
          <a:bodyPr wrap="square">
            <a:spAutoFit/>
          </a:bodyPr>
          <a:lstStyle/>
          <a:p>
            <a:pPr algn="ctr"/>
            <a:r>
              <a:rPr lang="zh-CN" altLang="en-US" sz="1500" b="1" dirty="0">
                <a:solidFill>
                  <a:schemeClr val="bg1"/>
                </a:solidFill>
                <a:latin typeface="微软雅黑" panose="020B0503020204020204" pitchFamily="34" charset="-122"/>
                <a:ea typeface="微软雅黑" panose="020B0503020204020204" pitchFamily="34" charset="-122"/>
              </a:rPr>
              <a:t>记住：若确认号 </a:t>
            </a:r>
            <a:r>
              <a:rPr lang="en-US" altLang="zh-CN" sz="1500" b="1" dirty="0">
                <a:solidFill>
                  <a:schemeClr val="bg1"/>
                </a:solidFill>
                <a:latin typeface="微软雅黑" panose="020B0503020204020204" pitchFamily="34" charset="-122"/>
                <a:ea typeface="微软雅黑" panose="020B0503020204020204" pitchFamily="34" charset="-122"/>
              </a:rPr>
              <a:t>= N</a:t>
            </a:r>
            <a:r>
              <a:rPr lang="zh-CN" altLang="en-US" sz="1500" b="1" dirty="0">
                <a:solidFill>
                  <a:schemeClr val="bg1"/>
                </a:solidFill>
                <a:latin typeface="微软雅黑" panose="020B0503020204020204" pitchFamily="34" charset="-122"/>
                <a:ea typeface="微软雅黑" panose="020B0503020204020204" pitchFamily="34" charset="-122"/>
              </a:rPr>
              <a:t>，则表明：到序号 </a:t>
            </a:r>
            <a:r>
              <a:rPr lang="en-US" altLang="zh-CN" sz="1500" b="1" dirty="0">
                <a:solidFill>
                  <a:schemeClr val="bg1"/>
                </a:solidFill>
                <a:latin typeface="微软雅黑" panose="020B0503020204020204" pitchFamily="34" charset="-122"/>
                <a:ea typeface="微软雅黑" panose="020B0503020204020204" pitchFamily="34" charset="-122"/>
              </a:rPr>
              <a:t>N – 1 </a:t>
            </a:r>
            <a:r>
              <a:rPr lang="zh-CN" altLang="en-US" sz="1500" b="1" dirty="0">
                <a:solidFill>
                  <a:schemeClr val="bg1"/>
                </a:solidFill>
                <a:latin typeface="微软雅黑" panose="020B0503020204020204" pitchFamily="34" charset="-122"/>
                <a:ea typeface="微软雅黑" panose="020B0503020204020204" pitchFamily="34" charset="-122"/>
              </a:rPr>
              <a:t>为止的所有数据都已正确收到。</a:t>
            </a:r>
          </a:p>
        </p:txBody>
      </p:sp>
    </p:spTree>
    <p:extLst>
      <p:ext uri="{BB962C8B-B14F-4D97-AF65-F5344CB8AC3E}">
        <p14:creationId xmlns:p14="http://schemas.microsoft.com/office/powerpoint/2010/main" val="3506774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82"/>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fltVal val="0"/>
                                          </p:val>
                                        </p:tav>
                                        <p:tav tm="100000">
                                          <p:val>
                                            <p:strVal val="#ppt_h"/>
                                          </p:val>
                                        </p:tav>
                                      </p:tavLst>
                                    </p:anim>
                                    <p:animEffect transition="in" filter="fad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P spid="2"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圆角矩形 81"/>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99"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1"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2"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203"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4"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5"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6"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7"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8"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9"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10"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211"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12"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5"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16"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17"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18"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19"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20"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21"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22"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3"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4"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5"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6"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7"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8"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9"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230"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265"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266"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267"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268"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269"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270"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1"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272"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3"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4"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5"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6" name="Rectangle 104"/>
          <p:cNvSpPr>
            <a:spLocks noChangeArrowheads="1"/>
          </p:cNvSpPr>
          <p:nvPr/>
        </p:nvSpPr>
        <p:spPr bwMode="auto">
          <a:xfrm>
            <a:off x="2159946" y="2315473"/>
            <a:ext cx="579621" cy="40460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7" name="Text Box 155"/>
          <p:cNvSpPr txBox="1">
            <a:spLocks noChangeArrowheads="1"/>
          </p:cNvSpPr>
          <p:nvPr/>
        </p:nvSpPr>
        <p:spPr bwMode="auto">
          <a:xfrm>
            <a:off x="1069848" y="3528826"/>
            <a:ext cx="7061140"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数据偏移（即首部长度）：占 </a:t>
            </a:r>
            <a:r>
              <a:rPr lang="en-US" altLang="zh-CN" sz="1600" b="1" dirty="0">
                <a:solidFill>
                  <a:schemeClr val="bg1"/>
                </a:solidFill>
                <a:latin typeface="微软雅黑" pitchFamily="34" charset="-122"/>
                <a:ea typeface="微软雅黑" pitchFamily="34" charset="-122"/>
              </a:rPr>
              <a:t>4 </a:t>
            </a:r>
            <a:r>
              <a:rPr lang="zh-CN" altLang="en-US" sz="1600" b="1" dirty="0">
                <a:solidFill>
                  <a:schemeClr val="bg1"/>
                </a:solidFill>
                <a:latin typeface="微软雅黑" pitchFamily="34" charset="-122"/>
                <a:ea typeface="微软雅黑" pitchFamily="34" charset="-122"/>
              </a:rPr>
              <a:t>位，指出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报文段的</a:t>
            </a:r>
            <a:r>
              <a:rPr lang="zh-CN" altLang="en-US" sz="1600" b="1" dirty="0">
                <a:solidFill>
                  <a:srgbClr val="FFC000"/>
                </a:solidFill>
                <a:latin typeface="微软雅黑" pitchFamily="34" charset="-122"/>
                <a:ea typeface="微软雅黑" pitchFamily="34" charset="-122"/>
              </a:rPr>
              <a:t>数据起始处</a:t>
            </a:r>
            <a:r>
              <a:rPr lang="zh-CN" altLang="en-US" sz="1600" b="1" dirty="0">
                <a:solidFill>
                  <a:schemeClr val="bg1"/>
                </a:solidFill>
                <a:latin typeface="微软雅黑" pitchFamily="34" charset="-122"/>
                <a:ea typeface="微软雅黑" pitchFamily="34" charset="-122"/>
              </a:rPr>
              <a:t>距离 </a:t>
            </a:r>
            <a:r>
              <a:rPr lang="en-US" altLang="zh-CN" sz="1600" b="1" dirty="0">
                <a:solidFill>
                  <a:schemeClr val="bg1"/>
                </a:solidFill>
                <a:latin typeface="微软雅黑" pitchFamily="34" charset="-122"/>
                <a:ea typeface="微软雅黑" pitchFamily="34" charset="-122"/>
              </a:rPr>
              <a:t>TCP </a:t>
            </a:r>
            <a:r>
              <a:rPr lang="zh-CN" altLang="en-US" sz="1600" b="1" dirty="0">
                <a:solidFill>
                  <a:srgbClr val="FFC000"/>
                </a:solidFill>
                <a:latin typeface="微软雅黑" pitchFamily="34" charset="-122"/>
                <a:ea typeface="微软雅黑" pitchFamily="34" charset="-122"/>
              </a:rPr>
              <a:t>报文段的起始处</a:t>
            </a:r>
            <a:r>
              <a:rPr lang="zh-CN" altLang="en-US" sz="1600" b="1" dirty="0">
                <a:solidFill>
                  <a:schemeClr val="bg1"/>
                </a:solidFill>
                <a:latin typeface="微软雅黑" pitchFamily="34" charset="-122"/>
                <a:ea typeface="微软雅黑" pitchFamily="34" charset="-122"/>
              </a:rPr>
              <a:t>有多远。单位是 </a:t>
            </a:r>
            <a:r>
              <a:rPr lang="en-US" altLang="zh-CN" sz="1600" b="1" dirty="0">
                <a:solidFill>
                  <a:schemeClr val="bg1"/>
                </a:solidFill>
                <a:latin typeface="微软雅黑" pitchFamily="34" charset="-122"/>
                <a:ea typeface="微软雅黑" pitchFamily="34" charset="-122"/>
              </a:rPr>
              <a:t>32 </a:t>
            </a:r>
            <a:r>
              <a:rPr lang="zh-CN" altLang="en-US" sz="1600" b="1" dirty="0">
                <a:solidFill>
                  <a:schemeClr val="bg1"/>
                </a:solidFill>
                <a:latin typeface="微软雅黑" pitchFamily="34" charset="-122"/>
                <a:ea typeface="微软雅黑" pitchFamily="34" charset="-122"/>
              </a:rPr>
              <a:t>位字（以 </a:t>
            </a:r>
            <a:r>
              <a:rPr lang="en-US" altLang="zh-CN" sz="1600" b="1" dirty="0">
                <a:solidFill>
                  <a:schemeClr val="bg1"/>
                </a:solidFill>
                <a:latin typeface="微软雅黑" pitchFamily="34" charset="-122"/>
                <a:ea typeface="微软雅黑" pitchFamily="34" charset="-122"/>
              </a:rPr>
              <a:t>4 </a:t>
            </a:r>
            <a:r>
              <a:rPr lang="zh-CN" altLang="en-US" sz="1600" b="1" dirty="0">
                <a:solidFill>
                  <a:schemeClr val="bg1"/>
                </a:solidFill>
                <a:latin typeface="微软雅黑" pitchFamily="34" charset="-122"/>
                <a:ea typeface="微软雅黑" pitchFamily="34" charset="-122"/>
              </a:rPr>
              <a:t>字节为计算单位）。 </a:t>
            </a:r>
          </a:p>
        </p:txBody>
      </p:sp>
      <p:grpSp>
        <p:nvGrpSpPr>
          <p:cNvPr id="84" name="组合 83"/>
          <p:cNvGrpSpPr/>
          <p:nvPr/>
        </p:nvGrpSpPr>
        <p:grpSpPr>
          <a:xfrm>
            <a:off x="1827330" y="782473"/>
            <a:ext cx="5158580" cy="374416"/>
            <a:chOff x="1827330" y="782473"/>
            <a:chExt cx="5158580" cy="374416"/>
          </a:xfrm>
        </p:grpSpPr>
        <p:sp>
          <p:nvSpPr>
            <p:cNvPr id="85"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6"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7"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0"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3"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4141163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27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圆角矩形 82"/>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Rectangle 104"/>
          <p:cNvSpPr>
            <a:spLocks noChangeArrowheads="1"/>
          </p:cNvSpPr>
          <p:nvPr/>
        </p:nvSpPr>
        <p:spPr bwMode="auto">
          <a:xfrm flipH="1">
            <a:off x="2739567" y="2315473"/>
            <a:ext cx="878572" cy="40460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5" name="Text Box 155"/>
          <p:cNvSpPr txBox="1">
            <a:spLocks noChangeArrowheads="1"/>
          </p:cNvSpPr>
          <p:nvPr/>
        </p:nvSpPr>
        <p:spPr bwMode="auto">
          <a:xfrm>
            <a:off x="1417320" y="3528826"/>
            <a:ext cx="6309360" cy="363176"/>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保留：占 </a:t>
            </a:r>
            <a:r>
              <a:rPr lang="en-US" altLang="zh-CN" sz="1600" b="1" dirty="0">
                <a:solidFill>
                  <a:schemeClr val="bg1"/>
                </a:solidFill>
                <a:latin typeface="微软雅黑" pitchFamily="34" charset="-122"/>
                <a:ea typeface="微软雅黑" pitchFamily="34" charset="-122"/>
              </a:rPr>
              <a:t>6 </a:t>
            </a:r>
            <a:r>
              <a:rPr lang="zh-CN" altLang="en-US" sz="1600" b="1" dirty="0">
                <a:solidFill>
                  <a:schemeClr val="bg1"/>
                </a:solidFill>
                <a:latin typeface="微软雅黑" pitchFamily="34" charset="-122"/>
                <a:ea typeface="微软雅黑" pitchFamily="34" charset="-122"/>
              </a:rPr>
              <a:t>位，保留为今后使用，但目前应置为 </a:t>
            </a:r>
            <a:r>
              <a:rPr lang="en-US" altLang="zh-CN" sz="1600" b="1" dirty="0">
                <a:solidFill>
                  <a:schemeClr val="bg1"/>
                </a:solidFill>
                <a:latin typeface="微软雅黑" pitchFamily="34" charset="-122"/>
                <a:ea typeface="微软雅黑" pitchFamily="34" charset="-122"/>
              </a:rPr>
              <a:t>0</a:t>
            </a:r>
            <a:r>
              <a:rPr lang="zh-CN" altLang="en-US" sz="1600" b="1" dirty="0">
                <a:solidFill>
                  <a:schemeClr val="bg1"/>
                </a:solidFill>
                <a:latin typeface="微软雅黑" pitchFamily="34" charset="-122"/>
                <a:ea typeface="微软雅黑" pitchFamily="34" charset="-122"/>
              </a:rPr>
              <a:t>。 </a:t>
            </a:r>
          </a:p>
        </p:txBody>
      </p:sp>
      <p:grpSp>
        <p:nvGrpSpPr>
          <p:cNvPr id="84" name="组合 83"/>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331070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8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Text Box 155"/>
          <p:cNvSpPr txBox="1">
            <a:spLocks noChangeArrowheads="1"/>
          </p:cNvSpPr>
          <p:nvPr/>
        </p:nvSpPr>
        <p:spPr bwMode="auto">
          <a:xfrm>
            <a:off x="1106424" y="3528826"/>
            <a:ext cx="6986016" cy="615168"/>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控制位：共有</a:t>
            </a:r>
            <a:r>
              <a:rPr lang="en-US" altLang="zh-CN" sz="1600" b="1" dirty="0">
                <a:solidFill>
                  <a:schemeClr val="bg1"/>
                </a:solidFill>
                <a:latin typeface="微软雅黑" pitchFamily="34" charset="-122"/>
                <a:ea typeface="微软雅黑" pitchFamily="34" charset="-122"/>
              </a:rPr>
              <a:t>8</a:t>
            </a:r>
            <a:r>
              <a:rPr lang="zh-CN" altLang="en-US" sz="1600" b="1" dirty="0">
                <a:solidFill>
                  <a:schemeClr val="bg1"/>
                </a:solidFill>
                <a:latin typeface="微软雅黑" pitchFamily="34" charset="-122"/>
                <a:ea typeface="微软雅黑" pitchFamily="34" charset="-122"/>
              </a:rPr>
              <a:t>个，控制位也叫做</a:t>
            </a:r>
            <a:r>
              <a:rPr lang="zh-CN" altLang="en-US" sz="1600" b="1" dirty="0">
                <a:solidFill>
                  <a:srgbClr val="FFC000"/>
                </a:solidFill>
                <a:latin typeface="微软雅黑" pitchFamily="34" charset="-122"/>
                <a:ea typeface="微软雅黑" pitchFamily="34" charset="-122"/>
              </a:rPr>
              <a:t>标志</a:t>
            </a:r>
            <a:r>
              <a:rPr lang="en-US" altLang="zh-CN" sz="1600" b="1" dirty="0">
                <a:solidFill>
                  <a:srgbClr val="FFC000"/>
                </a:solidFill>
                <a:latin typeface="微软雅黑" pitchFamily="34" charset="-122"/>
                <a:ea typeface="微软雅黑" pitchFamily="34" charset="-122"/>
              </a:rPr>
              <a:t>(Flag)</a:t>
            </a:r>
            <a:r>
              <a:rPr lang="zh-CN" altLang="en-US" sz="1600" b="1" dirty="0">
                <a:solidFill>
                  <a:schemeClr val="bg1"/>
                </a:solidFill>
                <a:latin typeface="微软雅黑" pitchFamily="34" charset="-122"/>
                <a:ea typeface="微软雅黑" pitchFamily="34" charset="-122"/>
              </a:rPr>
              <a:t>，虽然每个控制位只占</a:t>
            </a:r>
            <a:r>
              <a:rPr lang="en-US" altLang="zh-CN" sz="1600" b="1" dirty="0">
                <a:solidFill>
                  <a:schemeClr val="bg1"/>
                </a:solidFill>
                <a:latin typeface="微软雅黑" pitchFamily="34" charset="-122"/>
                <a:ea typeface="微软雅黑" pitchFamily="34" charset="-122"/>
              </a:rPr>
              <a:t>1</a:t>
            </a:r>
            <a:r>
              <a:rPr lang="zh-CN" altLang="en-US" sz="1600" b="1" dirty="0">
                <a:solidFill>
                  <a:schemeClr val="bg1"/>
                </a:solidFill>
                <a:latin typeface="微软雅黑" pitchFamily="34" charset="-122"/>
                <a:ea typeface="微软雅黑" pitchFamily="34" charset="-122"/>
              </a:rPr>
              <a:t>位，但非常重要。</a:t>
            </a:r>
            <a:endParaRPr lang="en-US" altLang="zh-CN" sz="1600" b="1" dirty="0">
              <a:solidFill>
                <a:schemeClr val="bg1"/>
              </a:solidFill>
              <a:latin typeface="微软雅黑" pitchFamily="34" charset="-122"/>
              <a:ea typeface="微软雅黑" pitchFamily="34" charset="-122"/>
            </a:endParaRPr>
          </a:p>
        </p:txBody>
      </p:sp>
      <p:sp>
        <p:nvSpPr>
          <p:cNvPr id="84" name="Rectangle 104"/>
          <p:cNvSpPr>
            <a:spLocks noChangeArrowheads="1"/>
          </p:cNvSpPr>
          <p:nvPr/>
        </p:nvSpPr>
        <p:spPr bwMode="auto">
          <a:xfrm>
            <a:off x="3618832" y="2310709"/>
            <a:ext cx="906956" cy="43792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682515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C7C17-EE66-08C0-9A8E-0CE10C8D61C5}"/>
            </a:ext>
          </a:extLst>
        </p:cNvPr>
        <p:cNvGrpSpPr/>
        <p:nvPr/>
      </p:nvGrpSpPr>
      <p:grpSpPr>
        <a:xfrm>
          <a:off x="0" y="0"/>
          <a:ext cx="0" cy="0"/>
          <a:chOff x="0" y="0"/>
          <a:chExt cx="0" cy="0"/>
        </a:xfrm>
      </p:grpSpPr>
      <p:sp>
        <p:nvSpPr>
          <p:cNvPr id="85" name="圆角矩形 84">
            <a:extLst>
              <a:ext uri="{FF2B5EF4-FFF2-40B4-BE49-F238E27FC236}">
                <a16:creationId xmlns:a16="http://schemas.microsoft.com/office/drawing/2014/main" id="{9088DDC3-BFA8-A914-0DD0-51BAE2C6D875}"/>
              </a:ext>
            </a:extLst>
          </p:cNvPr>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a:extLst>
              <a:ext uri="{FF2B5EF4-FFF2-40B4-BE49-F238E27FC236}">
                <a16:creationId xmlns:a16="http://schemas.microsoft.com/office/drawing/2014/main" id="{915F5862-119A-43C6-87B0-78BEC3BB6370}"/>
              </a:ext>
            </a:extLst>
          </p:cNvPr>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a:extLst>
              <a:ext uri="{FF2B5EF4-FFF2-40B4-BE49-F238E27FC236}">
                <a16:creationId xmlns:a16="http://schemas.microsoft.com/office/drawing/2014/main" id="{3ADF4B91-6693-6776-8376-25D2F4727C8C}"/>
              </a:ext>
            </a:extLst>
          </p:cNvPr>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a:extLst>
              <a:ext uri="{FF2B5EF4-FFF2-40B4-BE49-F238E27FC236}">
                <a16:creationId xmlns:a16="http://schemas.microsoft.com/office/drawing/2014/main" id="{F5A89DB9-A62C-B949-A3DA-7B6C979E2D60}"/>
              </a:ext>
            </a:extLst>
          </p:cNvPr>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a:extLst>
              <a:ext uri="{FF2B5EF4-FFF2-40B4-BE49-F238E27FC236}">
                <a16:creationId xmlns:a16="http://schemas.microsoft.com/office/drawing/2014/main" id="{F1622100-E302-7C75-A906-C6B77DD3B1C3}"/>
              </a:ext>
            </a:extLst>
          </p:cNvPr>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a:extLst>
              <a:ext uri="{FF2B5EF4-FFF2-40B4-BE49-F238E27FC236}">
                <a16:creationId xmlns:a16="http://schemas.microsoft.com/office/drawing/2014/main" id="{D3008121-E21E-259D-AE58-689AB435114D}"/>
              </a:ext>
            </a:extLst>
          </p:cNvPr>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a:extLst>
              <a:ext uri="{FF2B5EF4-FFF2-40B4-BE49-F238E27FC236}">
                <a16:creationId xmlns:a16="http://schemas.microsoft.com/office/drawing/2014/main" id="{F9EB37B9-A2B8-ABBA-D129-68DBDD572059}"/>
              </a:ext>
            </a:extLst>
          </p:cNvPr>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a:extLst>
              <a:ext uri="{FF2B5EF4-FFF2-40B4-BE49-F238E27FC236}">
                <a16:creationId xmlns:a16="http://schemas.microsoft.com/office/drawing/2014/main" id="{6E0E2175-5C39-15EF-7B01-32D00FFA3BE6}"/>
              </a:ext>
            </a:extLst>
          </p:cNvPr>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a:extLst>
              <a:ext uri="{FF2B5EF4-FFF2-40B4-BE49-F238E27FC236}">
                <a16:creationId xmlns:a16="http://schemas.microsoft.com/office/drawing/2014/main" id="{14B87556-6631-224F-7E8B-FB5FE8DDD12C}"/>
              </a:ext>
            </a:extLst>
          </p:cNvPr>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a:extLst>
              <a:ext uri="{FF2B5EF4-FFF2-40B4-BE49-F238E27FC236}">
                <a16:creationId xmlns:a16="http://schemas.microsoft.com/office/drawing/2014/main" id="{10AC72C2-F3B8-0455-5D02-08026A892B47}"/>
              </a:ext>
            </a:extLst>
          </p:cNvPr>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a:extLst>
              <a:ext uri="{FF2B5EF4-FFF2-40B4-BE49-F238E27FC236}">
                <a16:creationId xmlns:a16="http://schemas.microsoft.com/office/drawing/2014/main" id="{F9CCCE63-62AE-7511-BF29-F56A705E7B78}"/>
              </a:ext>
            </a:extLst>
          </p:cNvPr>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a:extLst>
              <a:ext uri="{FF2B5EF4-FFF2-40B4-BE49-F238E27FC236}">
                <a16:creationId xmlns:a16="http://schemas.microsoft.com/office/drawing/2014/main" id="{2D3877B4-A5C9-76D9-A73C-7F68F3F90001}"/>
              </a:ext>
            </a:extLst>
          </p:cNvPr>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a:extLst>
              <a:ext uri="{FF2B5EF4-FFF2-40B4-BE49-F238E27FC236}">
                <a16:creationId xmlns:a16="http://schemas.microsoft.com/office/drawing/2014/main" id="{C1063078-35D1-15F2-D920-79F158E492F5}"/>
              </a:ext>
            </a:extLst>
          </p:cNvPr>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a:extLst>
              <a:ext uri="{FF2B5EF4-FFF2-40B4-BE49-F238E27FC236}">
                <a16:creationId xmlns:a16="http://schemas.microsoft.com/office/drawing/2014/main" id="{8C85DFF9-A410-67C7-42E3-84FAFCA79E0D}"/>
              </a:ext>
            </a:extLst>
          </p:cNvPr>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a:extLst>
              <a:ext uri="{FF2B5EF4-FFF2-40B4-BE49-F238E27FC236}">
                <a16:creationId xmlns:a16="http://schemas.microsoft.com/office/drawing/2014/main" id="{68FDDE7E-80EB-50E2-9B32-DAA0BD2CD495}"/>
              </a:ext>
            </a:extLst>
          </p:cNvPr>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a:extLst>
              <a:ext uri="{FF2B5EF4-FFF2-40B4-BE49-F238E27FC236}">
                <a16:creationId xmlns:a16="http://schemas.microsoft.com/office/drawing/2014/main" id="{1D86021F-4795-5799-590B-99BB8540BBC7}"/>
              </a:ext>
            </a:extLst>
          </p:cNvPr>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a:extLst>
              <a:ext uri="{FF2B5EF4-FFF2-40B4-BE49-F238E27FC236}">
                <a16:creationId xmlns:a16="http://schemas.microsoft.com/office/drawing/2014/main" id="{1053B081-F04F-F29D-3CB6-FF74055478CA}"/>
              </a:ext>
            </a:extLst>
          </p:cNvPr>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a:extLst>
              <a:ext uri="{FF2B5EF4-FFF2-40B4-BE49-F238E27FC236}">
                <a16:creationId xmlns:a16="http://schemas.microsoft.com/office/drawing/2014/main" id="{959A16C1-8445-4C42-0D32-9E5262ADB6F8}"/>
              </a:ext>
            </a:extLst>
          </p:cNvPr>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a:extLst>
              <a:ext uri="{FF2B5EF4-FFF2-40B4-BE49-F238E27FC236}">
                <a16:creationId xmlns:a16="http://schemas.microsoft.com/office/drawing/2014/main" id="{300BAE3B-3FB0-ADCC-FF7D-5D748A4F7919}"/>
              </a:ext>
            </a:extLst>
          </p:cNvPr>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a:extLst>
              <a:ext uri="{FF2B5EF4-FFF2-40B4-BE49-F238E27FC236}">
                <a16:creationId xmlns:a16="http://schemas.microsoft.com/office/drawing/2014/main" id="{B9729B28-8248-1F02-0194-9FA863CA9B60}"/>
              </a:ext>
            </a:extLst>
          </p:cNvPr>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a:extLst>
              <a:ext uri="{FF2B5EF4-FFF2-40B4-BE49-F238E27FC236}">
                <a16:creationId xmlns:a16="http://schemas.microsoft.com/office/drawing/2014/main" id="{D9E33362-CB30-BB1C-C354-15775FA3D09D}"/>
              </a:ext>
            </a:extLst>
          </p:cNvPr>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a:extLst>
              <a:ext uri="{FF2B5EF4-FFF2-40B4-BE49-F238E27FC236}">
                <a16:creationId xmlns:a16="http://schemas.microsoft.com/office/drawing/2014/main" id="{35EE3886-B5AE-39FB-680F-EE41BBC88F4A}"/>
              </a:ext>
            </a:extLst>
          </p:cNvPr>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a:extLst>
              <a:ext uri="{FF2B5EF4-FFF2-40B4-BE49-F238E27FC236}">
                <a16:creationId xmlns:a16="http://schemas.microsoft.com/office/drawing/2014/main" id="{4C5F0663-3045-9E4B-6969-4830F495D1F3}"/>
              </a:ext>
            </a:extLst>
          </p:cNvPr>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a:extLst>
              <a:ext uri="{FF2B5EF4-FFF2-40B4-BE49-F238E27FC236}">
                <a16:creationId xmlns:a16="http://schemas.microsoft.com/office/drawing/2014/main" id="{5F815586-3447-E9F4-1268-01F30F7130F1}"/>
              </a:ext>
            </a:extLst>
          </p:cNvPr>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a:extLst>
              <a:ext uri="{FF2B5EF4-FFF2-40B4-BE49-F238E27FC236}">
                <a16:creationId xmlns:a16="http://schemas.microsoft.com/office/drawing/2014/main" id="{A7EFEE4E-E9AF-C511-3527-2D7B7510883B}"/>
              </a:ext>
            </a:extLst>
          </p:cNvPr>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a:extLst>
              <a:ext uri="{FF2B5EF4-FFF2-40B4-BE49-F238E27FC236}">
                <a16:creationId xmlns:a16="http://schemas.microsoft.com/office/drawing/2014/main" id="{23F18E8A-3128-C858-ECEE-F6BA9D095448}"/>
              </a:ext>
            </a:extLst>
          </p:cNvPr>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a:extLst>
              <a:ext uri="{FF2B5EF4-FFF2-40B4-BE49-F238E27FC236}">
                <a16:creationId xmlns:a16="http://schemas.microsoft.com/office/drawing/2014/main" id="{26F34EF2-F276-2FBF-0F74-44E477BDD4D4}"/>
              </a:ext>
            </a:extLst>
          </p:cNvPr>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a:extLst>
              <a:ext uri="{FF2B5EF4-FFF2-40B4-BE49-F238E27FC236}">
                <a16:creationId xmlns:a16="http://schemas.microsoft.com/office/drawing/2014/main" id="{35990ACA-CCC0-5CF1-7F31-5341525EABE2}"/>
              </a:ext>
            </a:extLst>
          </p:cNvPr>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a:extLst>
              <a:ext uri="{FF2B5EF4-FFF2-40B4-BE49-F238E27FC236}">
                <a16:creationId xmlns:a16="http://schemas.microsoft.com/office/drawing/2014/main" id="{413EB95D-E862-358D-713D-B9356358C8A8}"/>
              </a:ext>
            </a:extLst>
          </p:cNvPr>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a:extLst>
              <a:ext uri="{FF2B5EF4-FFF2-40B4-BE49-F238E27FC236}">
                <a16:creationId xmlns:a16="http://schemas.microsoft.com/office/drawing/2014/main" id="{C790CB96-C193-721C-B9DD-247298ABF223}"/>
              </a:ext>
            </a:extLst>
          </p:cNvPr>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a:extLst>
              <a:ext uri="{FF2B5EF4-FFF2-40B4-BE49-F238E27FC236}">
                <a16:creationId xmlns:a16="http://schemas.microsoft.com/office/drawing/2014/main" id="{7277BDA5-73C0-8D56-8B21-200B44385996}"/>
              </a:ext>
            </a:extLst>
          </p:cNvPr>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a:extLst>
              <a:ext uri="{FF2B5EF4-FFF2-40B4-BE49-F238E27FC236}">
                <a16:creationId xmlns:a16="http://schemas.microsoft.com/office/drawing/2014/main" id="{C38E3534-2393-C29F-7DD6-881BB643EEBF}"/>
              </a:ext>
            </a:extLst>
          </p:cNvPr>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a:extLst>
              <a:ext uri="{FF2B5EF4-FFF2-40B4-BE49-F238E27FC236}">
                <a16:creationId xmlns:a16="http://schemas.microsoft.com/office/drawing/2014/main" id="{0CA11AD6-9FF2-7C33-D9BE-A71F370724F8}"/>
              </a:ext>
            </a:extLst>
          </p:cNvPr>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a:extLst>
              <a:ext uri="{FF2B5EF4-FFF2-40B4-BE49-F238E27FC236}">
                <a16:creationId xmlns:a16="http://schemas.microsoft.com/office/drawing/2014/main" id="{21E677DC-1C2D-FD59-BB48-98564F7A5BCE}"/>
              </a:ext>
            </a:extLst>
          </p:cNvPr>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a:extLst>
              <a:ext uri="{FF2B5EF4-FFF2-40B4-BE49-F238E27FC236}">
                <a16:creationId xmlns:a16="http://schemas.microsoft.com/office/drawing/2014/main" id="{D8A023D6-CB47-4B74-D852-1772A4274B83}"/>
              </a:ext>
            </a:extLst>
          </p:cNvPr>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a:extLst>
              <a:ext uri="{FF2B5EF4-FFF2-40B4-BE49-F238E27FC236}">
                <a16:creationId xmlns:a16="http://schemas.microsoft.com/office/drawing/2014/main" id="{18E94B09-6FC9-078B-94C5-72850DECE188}"/>
              </a:ext>
            </a:extLst>
          </p:cNvPr>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a:extLst>
              <a:ext uri="{FF2B5EF4-FFF2-40B4-BE49-F238E27FC236}">
                <a16:creationId xmlns:a16="http://schemas.microsoft.com/office/drawing/2014/main" id="{541DDF69-BE7F-6FB3-0A24-7380CF6D7584}"/>
              </a:ext>
            </a:extLst>
          </p:cNvPr>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a:extLst>
              <a:ext uri="{FF2B5EF4-FFF2-40B4-BE49-F238E27FC236}">
                <a16:creationId xmlns:a16="http://schemas.microsoft.com/office/drawing/2014/main" id="{28D87979-1B4B-FB58-9BE0-C762C73CA6ED}"/>
              </a:ext>
            </a:extLst>
          </p:cNvPr>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a:extLst>
              <a:ext uri="{FF2B5EF4-FFF2-40B4-BE49-F238E27FC236}">
                <a16:creationId xmlns:a16="http://schemas.microsoft.com/office/drawing/2014/main" id="{63FABE92-CDD4-C1C0-DAB5-3272D46E6E39}"/>
              </a:ext>
            </a:extLst>
          </p:cNvPr>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a:extLst>
              <a:ext uri="{FF2B5EF4-FFF2-40B4-BE49-F238E27FC236}">
                <a16:creationId xmlns:a16="http://schemas.microsoft.com/office/drawing/2014/main" id="{5C075017-5B88-3556-F596-C5D600B5D289}"/>
              </a:ext>
            </a:extLst>
          </p:cNvPr>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a:extLst>
              <a:ext uri="{FF2B5EF4-FFF2-40B4-BE49-F238E27FC236}">
                <a16:creationId xmlns:a16="http://schemas.microsoft.com/office/drawing/2014/main" id="{EA3A1E59-B39F-7B77-9DBA-1B408373939B}"/>
              </a:ext>
            </a:extLst>
          </p:cNvPr>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Text Box 155">
            <a:extLst>
              <a:ext uri="{FF2B5EF4-FFF2-40B4-BE49-F238E27FC236}">
                <a16:creationId xmlns:a16="http://schemas.microsoft.com/office/drawing/2014/main" id="{6C73BA19-2B1A-0DB6-B5E0-E94D0E10EA15}"/>
              </a:ext>
            </a:extLst>
          </p:cNvPr>
          <p:cNvSpPr txBox="1">
            <a:spLocks noChangeArrowheads="1"/>
          </p:cNvSpPr>
          <p:nvPr/>
        </p:nvSpPr>
        <p:spPr bwMode="auto">
          <a:xfrm>
            <a:off x="1106424" y="3528826"/>
            <a:ext cx="6986016" cy="1040285"/>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400" b="1" dirty="0">
                <a:solidFill>
                  <a:schemeClr val="bg1"/>
                </a:solidFill>
                <a:latin typeface="微软雅黑" pitchFamily="34" charset="-122"/>
                <a:ea typeface="微软雅黑" pitchFamily="34" charset="-122"/>
              </a:rPr>
              <a:t>同步 </a:t>
            </a:r>
            <a:r>
              <a:rPr lang="en-US" altLang="zh-CN" sz="1400" b="1" dirty="0">
                <a:solidFill>
                  <a:schemeClr val="bg1"/>
                </a:solidFill>
                <a:latin typeface="微软雅黑" pitchFamily="34" charset="-122"/>
                <a:ea typeface="微软雅黑" pitchFamily="34" charset="-122"/>
              </a:rPr>
              <a:t>SYN (</a:t>
            </a:r>
            <a:r>
              <a:rPr lang="en-US" altLang="zh-CN" sz="1400" b="1" dirty="0" err="1">
                <a:solidFill>
                  <a:schemeClr val="bg1"/>
                </a:solidFill>
                <a:latin typeface="微软雅黑" pitchFamily="34" charset="-122"/>
                <a:ea typeface="微软雅黑" pitchFamily="34" charset="-122"/>
              </a:rPr>
              <a:t>SYNchronization</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：控制位。</a:t>
            </a:r>
            <a:endParaRPr lang="en-US" altLang="zh-CN" sz="1400" b="1" dirty="0">
              <a:solidFill>
                <a:schemeClr val="bg1"/>
              </a:solidFill>
              <a:latin typeface="微软雅黑" pitchFamily="34" charset="-122"/>
              <a:ea typeface="微软雅黑" pitchFamily="34" charset="-122"/>
            </a:endParaRPr>
          </a:p>
          <a:p>
            <a:pPr algn="ctr">
              <a:lnSpc>
                <a:spcPct val="110000"/>
              </a:lnSpc>
            </a:pPr>
            <a:r>
              <a:rPr lang="zh-CN" altLang="en-US" sz="1400" b="1" dirty="0">
                <a:solidFill>
                  <a:schemeClr val="bg1"/>
                </a:solidFill>
                <a:latin typeface="微软雅黑" pitchFamily="34" charset="-122"/>
                <a:ea typeface="微软雅黑" pitchFamily="34" charset="-122"/>
              </a:rPr>
              <a:t>同步 </a:t>
            </a:r>
            <a:r>
              <a:rPr lang="en-US" altLang="zh-CN" sz="1400" b="1" dirty="0">
                <a:solidFill>
                  <a:schemeClr val="bg1"/>
                </a:solidFill>
                <a:latin typeface="微软雅黑" pitchFamily="34" charset="-122"/>
                <a:ea typeface="微软雅黑" pitchFamily="34" charset="-122"/>
              </a:rPr>
              <a:t>SYN = 1 </a:t>
            </a:r>
            <a:r>
              <a:rPr lang="zh-CN" altLang="en-US" sz="1400" b="1" dirty="0">
                <a:solidFill>
                  <a:schemeClr val="bg1"/>
                </a:solidFill>
                <a:latin typeface="微软雅黑" pitchFamily="34" charset="-122"/>
                <a:ea typeface="微软雅黑" pitchFamily="34" charset="-122"/>
              </a:rPr>
              <a:t>表示这是一个连接请求或连接接受报文。 </a:t>
            </a:r>
          </a:p>
          <a:p>
            <a:pPr algn="ctr">
              <a:lnSpc>
                <a:spcPct val="110000"/>
              </a:lnSpc>
            </a:pPr>
            <a:r>
              <a:rPr lang="zh-CN" altLang="en-US" sz="1400" b="1" dirty="0">
                <a:solidFill>
                  <a:schemeClr val="bg1"/>
                </a:solidFill>
                <a:latin typeface="微软雅黑" pitchFamily="34" charset="-122"/>
                <a:ea typeface="微软雅黑" pitchFamily="34" charset="-122"/>
              </a:rPr>
              <a:t>当 </a:t>
            </a:r>
            <a:r>
              <a:rPr lang="en-US" altLang="zh-CN" sz="1400" b="1" dirty="0">
                <a:solidFill>
                  <a:schemeClr val="bg1"/>
                </a:solidFill>
                <a:latin typeface="微软雅黑" pitchFamily="34" charset="-122"/>
                <a:ea typeface="微软雅黑" pitchFamily="34" charset="-122"/>
              </a:rPr>
              <a:t>SYN = 1</a:t>
            </a:r>
            <a:r>
              <a:rPr lang="zh-CN" altLang="en-US" sz="1400" b="1" dirty="0">
                <a:solidFill>
                  <a:schemeClr val="bg1"/>
                </a:solidFill>
                <a:latin typeface="微软雅黑" pitchFamily="34" charset="-122"/>
                <a:ea typeface="微软雅黑" pitchFamily="34" charset="-122"/>
              </a:rPr>
              <a:t>，</a:t>
            </a:r>
            <a:r>
              <a:rPr lang="en-US" altLang="zh-CN" sz="1400" b="1" dirty="0">
                <a:solidFill>
                  <a:schemeClr val="bg1"/>
                </a:solidFill>
                <a:latin typeface="微软雅黑" pitchFamily="34" charset="-122"/>
                <a:ea typeface="微软雅黑" pitchFamily="34" charset="-122"/>
              </a:rPr>
              <a:t>ACK = 0 </a:t>
            </a:r>
            <a:r>
              <a:rPr lang="zh-CN" altLang="en-US" sz="1400" b="1" dirty="0">
                <a:solidFill>
                  <a:schemeClr val="bg1"/>
                </a:solidFill>
                <a:latin typeface="微软雅黑" pitchFamily="34" charset="-122"/>
                <a:ea typeface="微软雅黑" pitchFamily="34" charset="-122"/>
              </a:rPr>
              <a:t>时，表明这是一个</a:t>
            </a:r>
            <a:r>
              <a:rPr lang="zh-CN" altLang="en-US" sz="1400" b="1" dirty="0">
                <a:solidFill>
                  <a:srgbClr val="FFC000"/>
                </a:solidFill>
                <a:latin typeface="微软雅黑" pitchFamily="34" charset="-122"/>
                <a:ea typeface="微软雅黑" pitchFamily="34" charset="-122"/>
              </a:rPr>
              <a:t>连接请求</a:t>
            </a:r>
            <a:r>
              <a:rPr lang="zh-CN" altLang="en-US" sz="1400" b="1" dirty="0">
                <a:solidFill>
                  <a:schemeClr val="bg1"/>
                </a:solidFill>
                <a:latin typeface="微软雅黑" pitchFamily="34" charset="-122"/>
                <a:ea typeface="微软雅黑" pitchFamily="34" charset="-122"/>
              </a:rPr>
              <a:t>报文段。</a:t>
            </a:r>
            <a:endParaRPr lang="en-US" altLang="zh-CN" sz="1400" b="1" dirty="0">
              <a:solidFill>
                <a:schemeClr val="bg1"/>
              </a:solidFill>
              <a:latin typeface="微软雅黑" pitchFamily="34" charset="-122"/>
              <a:ea typeface="微软雅黑" pitchFamily="34" charset="-122"/>
            </a:endParaRPr>
          </a:p>
          <a:p>
            <a:pPr algn="ctr">
              <a:lnSpc>
                <a:spcPct val="110000"/>
              </a:lnSpc>
            </a:pPr>
            <a:r>
              <a:rPr lang="zh-CN" altLang="en-US" sz="1400" b="1" dirty="0">
                <a:solidFill>
                  <a:schemeClr val="bg1"/>
                </a:solidFill>
                <a:latin typeface="微软雅黑" pitchFamily="34" charset="-122"/>
                <a:ea typeface="微软雅黑" pitchFamily="34" charset="-122"/>
              </a:rPr>
              <a:t>当 </a:t>
            </a:r>
            <a:r>
              <a:rPr lang="en-US" altLang="zh-CN" sz="1400" b="1" dirty="0">
                <a:solidFill>
                  <a:schemeClr val="bg1"/>
                </a:solidFill>
                <a:latin typeface="微软雅黑" pitchFamily="34" charset="-122"/>
                <a:ea typeface="微软雅黑" pitchFamily="34" charset="-122"/>
              </a:rPr>
              <a:t>SYN = 1</a:t>
            </a:r>
            <a:r>
              <a:rPr lang="zh-CN" altLang="en-US" sz="1400" b="1" dirty="0">
                <a:solidFill>
                  <a:schemeClr val="bg1"/>
                </a:solidFill>
                <a:latin typeface="微软雅黑" pitchFamily="34" charset="-122"/>
                <a:ea typeface="微软雅黑" pitchFamily="34" charset="-122"/>
              </a:rPr>
              <a:t>，</a:t>
            </a:r>
            <a:r>
              <a:rPr lang="en-US" altLang="zh-CN" sz="1400" b="1" dirty="0">
                <a:solidFill>
                  <a:schemeClr val="bg1"/>
                </a:solidFill>
                <a:latin typeface="微软雅黑" pitchFamily="34" charset="-122"/>
                <a:ea typeface="微软雅黑" pitchFamily="34" charset="-122"/>
              </a:rPr>
              <a:t>ACK = 1 </a:t>
            </a:r>
            <a:r>
              <a:rPr lang="zh-CN" altLang="en-US" sz="1400" b="1" dirty="0">
                <a:solidFill>
                  <a:schemeClr val="bg1"/>
                </a:solidFill>
                <a:latin typeface="微软雅黑" pitchFamily="34" charset="-122"/>
                <a:ea typeface="微软雅黑" pitchFamily="34" charset="-122"/>
              </a:rPr>
              <a:t>时，表明这是一个</a:t>
            </a:r>
            <a:r>
              <a:rPr lang="zh-CN" altLang="en-US" sz="1400" b="1" dirty="0">
                <a:solidFill>
                  <a:srgbClr val="FFC000"/>
                </a:solidFill>
                <a:latin typeface="微软雅黑" pitchFamily="34" charset="-122"/>
                <a:ea typeface="微软雅黑" pitchFamily="34" charset="-122"/>
              </a:rPr>
              <a:t>连接接受</a:t>
            </a:r>
            <a:r>
              <a:rPr lang="zh-CN" altLang="en-US" sz="1400" b="1" dirty="0">
                <a:solidFill>
                  <a:schemeClr val="bg1"/>
                </a:solidFill>
                <a:latin typeface="微软雅黑" pitchFamily="34" charset="-122"/>
                <a:ea typeface="微软雅黑" pitchFamily="34" charset="-122"/>
              </a:rPr>
              <a:t>报文段。</a:t>
            </a:r>
            <a:endParaRPr lang="en-US" altLang="zh-CN" sz="1400" b="1" dirty="0">
              <a:solidFill>
                <a:schemeClr val="bg1"/>
              </a:solidFill>
              <a:latin typeface="微软雅黑" pitchFamily="34" charset="-122"/>
              <a:ea typeface="微软雅黑" pitchFamily="34" charset="-122"/>
            </a:endParaRPr>
          </a:p>
        </p:txBody>
      </p:sp>
      <p:sp>
        <p:nvSpPr>
          <p:cNvPr id="84" name="Rectangle 104">
            <a:extLst>
              <a:ext uri="{FF2B5EF4-FFF2-40B4-BE49-F238E27FC236}">
                <a16:creationId xmlns:a16="http://schemas.microsoft.com/office/drawing/2014/main" id="{451DEED9-A261-60C3-A910-64F8181D7132}"/>
              </a:ext>
            </a:extLst>
          </p:cNvPr>
          <p:cNvSpPr>
            <a:spLocks noChangeArrowheads="1"/>
          </p:cNvSpPr>
          <p:nvPr/>
        </p:nvSpPr>
        <p:spPr bwMode="auto">
          <a:xfrm>
            <a:off x="4193812" y="2310709"/>
            <a:ext cx="190338" cy="43792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3" name="组合 82">
            <a:extLst>
              <a:ext uri="{FF2B5EF4-FFF2-40B4-BE49-F238E27FC236}">
                <a16:creationId xmlns:a16="http://schemas.microsoft.com/office/drawing/2014/main" id="{CCC3EA6F-9048-E09D-57B3-5D6B492E7EA4}"/>
              </a:ext>
            </a:extLst>
          </p:cNvPr>
          <p:cNvGrpSpPr/>
          <p:nvPr/>
        </p:nvGrpSpPr>
        <p:grpSpPr>
          <a:xfrm>
            <a:off x="1827330" y="782473"/>
            <a:ext cx="5158580" cy="374416"/>
            <a:chOff x="1827330" y="782473"/>
            <a:chExt cx="5158580" cy="374416"/>
          </a:xfrm>
        </p:grpSpPr>
        <p:sp>
          <p:nvSpPr>
            <p:cNvPr id="87" name="Line 37">
              <a:extLst>
                <a:ext uri="{FF2B5EF4-FFF2-40B4-BE49-F238E27FC236}">
                  <a16:creationId xmlns:a16="http://schemas.microsoft.com/office/drawing/2014/main" id="{1BF95757-88F0-3644-C9E2-4D316A01C63A}"/>
                </a:ext>
              </a:extLst>
            </p:cNvPr>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38">
              <a:extLst>
                <a:ext uri="{FF2B5EF4-FFF2-40B4-BE49-F238E27FC236}">
                  <a16:creationId xmlns:a16="http://schemas.microsoft.com/office/drawing/2014/main" id="{F1B4F65F-6ED7-D686-4025-00C06912D95E}"/>
                </a:ext>
              </a:extLst>
            </p:cNvPr>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9">
              <a:extLst>
                <a:ext uri="{FF2B5EF4-FFF2-40B4-BE49-F238E27FC236}">
                  <a16:creationId xmlns:a16="http://schemas.microsoft.com/office/drawing/2014/main" id="{2BFC7CF8-AB6A-7A00-EA3A-DF1836E8CC9E}"/>
                </a:ext>
              </a:extLst>
            </p:cNvPr>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0">
              <a:extLst>
                <a:ext uri="{FF2B5EF4-FFF2-40B4-BE49-F238E27FC236}">
                  <a16:creationId xmlns:a16="http://schemas.microsoft.com/office/drawing/2014/main" id="{8BBC305E-F6E3-D885-1326-6EBBC9378CD0}"/>
                </a:ext>
              </a:extLst>
            </p:cNvPr>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1">
              <a:extLst>
                <a:ext uri="{FF2B5EF4-FFF2-40B4-BE49-F238E27FC236}">
                  <a16:creationId xmlns:a16="http://schemas.microsoft.com/office/drawing/2014/main" id="{B8FF5512-6F6E-E390-BEAA-9A13F797077E}"/>
                </a:ext>
              </a:extLst>
            </p:cNvPr>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2">
              <a:extLst>
                <a:ext uri="{FF2B5EF4-FFF2-40B4-BE49-F238E27FC236}">
                  <a16:creationId xmlns:a16="http://schemas.microsoft.com/office/drawing/2014/main" id="{AF39D72A-E1BB-6B1F-EC8C-04D673C4CCB9}"/>
                </a:ext>
              </a:extLst>
            </p:cNvPr>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3">
              <a:extLst>
                <a:ext uri="{FF2B5EF4-FFF2-40B4-BE49-F238E27FC236}">
                  <a16:creationId xmlns:a16="http://schemas.microsoft.com/office/drawing/2014/main" id="{1C01E65B-9416-0761-F562-5F21D5AAD2EE}"/>
                </a:ext>
              </a:extLst>
            </p:cNvPr>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4">
              <a:extLst>
                <a:ext uri="{FF2B5EF4-FFF2-40B4-BE49-F238E27FC236}">
                  <a16:creationId xmlns:a16="http://schemas.microsoft.com/office/drawing/2014/main" id="{50D39D21-EA73-D770-2159-EAE977C4A71B}"/>
                </a:ext>
              </a:extLst>
            </p:cNvPr>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5">
              <a:extLst>
                <a:ext uri="{FF2B5EF4-FFF2-40B4-BE49-F238E27FC236}">
                  <a16:creationId xmlns:a16="http://schemas.microsoft.com/office/drawing/2014/main" id="{382EDE2A-9E9F-855F-CF26-081A5357B902}"/>
                </a:ext>
              </a:extLst>
            </p:cNvPr>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6">
              <a:extLst>
                <a:ext uri="{FF2B5EF4-FFF2-40B4-BE49-F238E27FC236}">
                  <a16:creationId xmlns:a16="http://schemas.microsoft.com/office/drawing/2014/main" id="{DC5470CB-C0C9-851B-9C92-7C8EE195B5D3}"/>
                </a:ext>
              </a:extLst>
            </p:cNvPr>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7">
              <a:extLst>
                <a:ext uri="{FF2B5EF4-FFF2-40B4-BE49-F238E27FC236}">
                  <a16:creationId xmlns:a16="http://schemas.microsoft.com/office/drawing/2014/main" id="{CFE69273-B7C9-A510-FAE9-16EDDFB451ED}"/>
                </a:ext>
              </a:extLst>
            </p:cNvPr>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8">
              <a:extLst>
                <a:ext uri="{FF2B5EF4-FFF2-40B4-BE49-F238E27FC236}">
                  <a16:creationId xmlns:a16="http://schemas.microsoft.com/office/drawing/2014/main" id="{E041E2BD-3D26-F002-5679-20F5DAE1E484}"/>
                </a:ext>
              </a:extLst>
            </p:cNvPr>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9">
              <a:extLst>
                <a:ext uri="{FF2B5EF4-FFF2-40B4-BE49-F238E27FC236}">
                  <a16:creationId xmlns:a16="http://schemas.microsoft.com/office/drawing/2014/main" id="{8920D091-209D-BA24-8F14-FE523E9FE1C1}"/>
                </a:ext>
              </a:extLst>
            </p:cNvPr>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0">
              <a:extLst>
                <a:ext uri="{FF2B5EF4-FFF2-40B4-BE49-F238E27FC236}">
                  <a16:creationId xmlns:a16="http://schemas.microsoft.com/office/drawing/2014/main" id="{FC10AC5A-145C-5A16-C7C6-1FFDDBAA1714}"/>
                </a:ext>
              </a:extLst>
            </p:cNvPr>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1">
              <a:extLst>
                <a:ext uri="{FF2B5EF4-FFF2-40B4-BE49-F238E27FC236}">
                  <a16:creationId xmlns:a16="http://schemas.microsoft.com/office/drawing/2014/main" id="{ED0398D8-CF46-41D1-51A5-AEEA88636728}"/>
                </a:ext>
              </a:extLst>
            </p:cNvPr>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2">
              <a:extLst>
                <a:ext uri="{FF2B5EF4-FFF2-40B4-BE49-F238E27FC236}">
                  <a16:creationId xmlns:a16="http://schemas.microsoft.com/office/drawing/2014/main" id="{D7AF274C-7976-7BA0-BC76-10F782BD8A96}"/>
                </a:ext>
              </a:extLst>
            </p:cNvPr>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3">
              <a:extLst>
                <a:ext uri="{FF2B5EF4-FFF2-40B4-BE49-F238E27FC236}">
                  <a16:creationId xmlns:a16="http://schemas.microsoft.com/office/drawing/2014/main" id="{EB67D8E5-4831-436B-1179-AD6600640268}"/>
                </a:ext>
              </a:extLst>
            </p:cNvPr>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4">
              <a:extLst>
                <a:ext uri="{FF2B5EF4-FFF2-40B4-BE49-F238E27FC236}">
                  <a16:creationId xmlns:a16="http://schemas.microsoft.com/office/drawing/2014/main" id="{100F1344-46BB-E514-C58D-5F3B92FBA382}"/>
                </a:ext>
              </a:extLst>
            </p:cNvPr>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5">
              <a:extLst>
                <a:ext uri="{FF2B5EF4-FFF2-40B4-BE49-F238E27FC236}">
                  <a16:creationId xmlns:a16="http://schemas.microsoft.com/office/drawing/2014/main" id="{99ABE10D-5333-A76B-9BA2-2E5EF8E289A7}"/>
                </a:ext>
              </a:extLst>
            </p:cNvPr>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6">
              <a:extLst>
                <a:ext uri="{FF2B5EF4-FFF2-40B4-BE49-F238E27FC236}">
                  <a16:creationId xmlns:a16="http://schemas.microsoft.com/office/drawing/2014/main" id="{67C74754-1DB9-3BCB-DE2E-1E7BCEE1181A}"/>
                </a:ext>
              </a:extLst>
            </p:cNvPr>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7">
              <a:extLst>
                <a:ext uri="{FF2B5EF4-FFF2-40B4-BE49-F238E27FC236}">
                  <a16:creationId xmlns:a16="http://schemas.microsoft.com/office/drawing/2014/main" id="{CD976D17-EFC3-D646-1372-3A1B7307C72E}"/>
                </a:ext>
              </a:extLst>
            </p:cNvPr>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8">
              <a:extLst>
                <a:ext uri="{FF2B5EF4-FFF2-40B4-BE49-F238E27FC236}">
                  <a16:creationId xmlns:a16="http://schemas.microsoft.com/office/drawing/2014/main" id="{6A4B0BF9-39F3-106B-FC10-E16D59312AF6}"/>
                </a:ext>
              </a:extLst>
            </p:cNvPr>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9">
              <a:extLst>
                <a:ext uri="{FF2B5EF4-FFF2-40B4-BE49-F238E27FC236}">
                  <a16:creationId xmlns:a16="http://schemas.microsoft.com/office/drawing/2014/main" id="{28C67D60-F32A-6366-F00A-A647EA73F493}"/>
                </a:ext>
              </a:extLst>
            </p:cNvPr>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0">
              <a:extLst>
                <a:ext uri="{FF2B5EF4-FFF2-40B4-BE49-F238E27FC236}">
                  <a16:creationId xmlns:a16="http://schemas.microsoft.com/office/drawing/2014/main" id="{C4C130B4-BE68-D3A2-9FED-095A60C61CF4}"/>
                </a:ext>
              </a:extLst>
            </p:cNvPr>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1">
              <a:extLst>
                <a:ext uri="{FF2B5EF4-FFF2-40B4-BE49-F238E27FC236}">
                  <a16:creationId xmlns:a16="http://schemas.microsoft.com/office/drawing/2014/main" id="{26CBB605-B835-6444-84BA-91356D282B70}"/>
                </a:ext>
              </a:extLst>
            </p:cNvPr>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2">
              <a:extLst>
                <a:ext uri="{FF2B5EF4-FFF2-40B4-BE49-F238E27FC236}">
                  <a16:creationId xmlns:a16="http://schemas.microsoft.com/office/drawing/2014/main" id="{322076F5-B859-50C4-CDCB-C588B1861FCC}"/>
                </a:ext>
              </a:extLst>
            </p:cNvPr>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3">
              <a:extLst>
                <a:ext uri="{FF2B5EF4-FFF2-40B4-BE49-F238E27FC236}">
                  <a16:creationId xmlns:a16="http://schemas.microsoft.com/office/drawing/2014/main" id="{5D8EE246-655C-A07C-AE76-C9C0425AA748}"/>
                </a:ext>
              </a:extLst>
            </p:cNvPr>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4">
              <a:extLst>
                <a:ext uri="{FF2B5EF4-FFF2-40B4-BE49-F238E27FC236}">
                  <a16:creationId xmlns:a16="http://schemas.microsoft.com/office/drawing/2014/main" id="{0639F0BE-A135-FDE4-1331-BC025F81847C}"/>
                </a:ext>
              </a:extLst>
            </p:cNvPr>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5">
              <a:extLst>
                <a:ext uri="{FF2B5EF4-FFF2-40B4-BE49-F238E27FC236}">
                  <a16:creationId xmlns:a16="http://schemas.microsoft.com/office/drawing/2014/main" id="{FACED44A-A2D8-9DEA-D563-174042C83C4B}"/>
                </a:ext>
              </a:extLst>
            </p:cNvPr>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6">
              <a:extLst>
                <a:ext uri="{FF2B5EF4-FFF2-40B4-BE49-F238E27FC236}">
                  <a16:creationId xmlns:a16="http://schemas.microsoft.com/office/drawing/2014/main" id="{DF62A7C8-3E52-E2DD-F7A1-054852254123}"/>
                </a:ext>
              </a:extLst>
            </p:cNvPr>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7">
              <a:extLst>
                <a:ext uri="{FF2B5EF4-FFF2-40B4-BE49-F238E27FC236}">
                  <a16:creationId xmlns:a16="http://schemas.microsoft.com/office/drawing/2014/main" id="{C841C3BC-8172-1A79-ED5D-0C2914CFAEAE}"/>
                </a:ext>
              </a:extLst>
            </p:cNvPr>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8">
              <a:extLst>
                <a:ext uri="{FF2B5EF4-FFF2-40B4-BE49-F238E27FC236}">
                  <a16:creationId xmlns:a16="http://schemas.microsoft.com/office/drawing/2014/main" id="{7CF312B7-CF4F-4E76-52EE-07D0C051B2E4}"/>
                </a:ext>
              </a:extLst>
            </p:cNvPr>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9">
              <a:extLst>
                <a:ext uri="{FF2B5EF4-FFF2-40B4-BE49-F238E27FC236}">
                  <a16:creationId xmlns:a16="http://schemas.microsoft.com/office/drawing/2014/main" id="{5B4230C9-F792-EB2D-F722-176DBAFE47BA}"/>
                </a:ext>
              </a:extLst>
            </p:cNvPr>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70">
              <a:extLst>
                <a:ext uri="{FF2B5EF4-FFF2-40B4-BE49-F238E27FC236}">
                  <a16:creationId xmlns:a16="http://schemas.microsoft.com/office/drawing/2014/main" id="{5981D7BC-FD64-7FB6-A696-FBC3DFC3FEE2}"/>
                </a:ext>
              </a:extLst>
            </p:cNvPr>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98">
              <a:extLst>
                <a:ext uri="{FF2B5EF4-FFF2-40B4-BE49-F238E27FC236}">
                  <a16:creationId xmlns:a16="http://schemas.microsoft.com/office/drawing/2014/main" id="{F6D28E3B-E168-D3B5-3C5E-032503932726}"/>
                </a:ext>
              </a:extLst>
            </p:cNvPr>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2" name="Rectangle 80">
              <a:extLst>
                <a:ext uri="{FF2B5EF4-FFF2-40B4-BE49-F238E27FC236}">
                  <a16:creationId xmlns:a16="http://schemas.microsoft.com/office/drawing/2014/main" id="{9046B353-664C-CAFB-2A92-2B93A3CDE5E5}"/>
                </a:ext>
              </a:extLst>
            </p:cNvPr>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a:extLst>
              <a:ext uri="{FF2B5EF4-FFF2-40B4-BE49-F238E27FC236}">
                <a16:creationId xmlns:a16="http://schemas.microsoft.com/office/drawing/2014/main" id="{F270E855-5928-AB90-3D74-5152D137B69E}"/>
              </a:ext>
            </a:extLst>
          </p:cNvPr>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4097105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圆角矩形 86"/>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3"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9"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21"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2"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3"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4"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5"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6"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8"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9"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30"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6"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7"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8"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3"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4"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5"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6"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7"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8"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80"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3"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4" name="Text Box 155"/>
          <p:cNvSpPr txBox="1">
            <a:spLocks noChangeArrowheads="1"/>
          </p:cNvSpPr>
          <p:nvPr/>
        </p:nvSpPr>
        <p:spPr bwMode="auto">
          <a:xfrm>
            <a:off x="1097459" y="3528827"/>
            <a:ext cx="6986016"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终止 </a:t>
            </a:r>
            <a:r>
              <a:rPr lang="en-US" altLang="zh-CN" sz="1600" b="1" dirty="0">
                <a:solidFill>
                  <a:schemeClr val="bg1"/>
                </a:solidFill>
                <a:latin typeface="微软雅黑" pitchFamily="34" charset="-122"/>
                <a:ea typeface="微软雅黑" pitchFamily="34" charset="-122"/>
              </a:rPr>
              <a:t>FIN (</a:t>
            </a:r>
            <a:r>
              <a:rPr lang="en-US" altLang="zh-CN" sz="1600" b="1" dirty="0" err="1">
                <a:solidFill>
                  <a:schemeClr val="bg1"/>
                </a:solidFill>
                <a:latin typeface="微软雅黑" pitchFamily="34" charset="-122"/>
                <a:ea typeface="微软雅黑" pitchFamily="34" charset="-122"/>
              </a:rPr>
              <a:t>FINish</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：控制位。用来释放一个连接。</a:t>
            </a:r>
            <a:endParaRPr lang="en-US" altLang="zh-CN" sz="1600" b="1" dirty="0">
              <a:solidFill>
                <a:schemeClr val="bg1"/>
              </a:solidFill>
              <a:latin typeface="微软雅黑" pitchFamily="34" charset="-122"/>
              <a:ea typeface="微软雅黑" pitchFamily="34" charset="-122"/>
            </a:endParaRPr>
          </a:p>
          <a:p>
            <a:pPr algn="ctr">
              <a:lnSpc>
                <a:spcPct val="110000"/>
              </a:lnSpc>
            </a:pPr>
            <a:r>
              <a:rPr lang="en-US" altLang="zh-CN" sz="1600" b="1" dirty="0">
                <a:solidFill>
                  <a:schemeClr val="bg1"/>
                </a:solidFill>
                <a:latin typeface="微软雅黑" pitchFamily="34" charset="-122"/>
                <a:ea typeface="微软雅黑" pitchFamily="34" charset="-122"/>
              </a:rPr>
              <a:t>FIN=1 </a:t>
            </a:r>
            <a:r>
              <a:rPr lang="zh-CN" altLang="en-US" sz="1600" b="1" dirty="0">
                <a:solidFill>
                  <a:schemeClr val="bg1"/>
                </a:solidFill>
                <a:latin typeface="微软雅黑" pitchFamily="34" charset="-122"/>
                <a:ea typeface="微软雅黑" pitchFamily="34" charset="-122"/>
              </a:rPr>
              <a:t>表明数据已发送完毕，并请求释放传输连接。 </a:t>
            </a:r>
          </a:p>
        </p:txBody>
      </p:sp>
      <p:sp>
        <p:nvSpPr>
          <p:cNvPr id="86" name="Rectangle 104"/>
          <p:cNvSpPr>
            <a:spLocks noChangeArrowheads="1"/>
          </p:cNvSpPr>
          <p:nvPr/>
        </p:nvSpPr>
        <p:spPr bwMode="auto">
          <a:xfrm>
            <a:off x="4328552" y="2310709"/>
            <a:ext cx="190338" cy="43792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5" name="组合 84"/>
          <p:cNvGrpSpPr/>
          <p:nvPr/>
        </p:nvGrpSpPr>
        <p:grpSpPr>
          <a:xfrm>
            <a:off x="1827330" y="782473"/>
            <a:ext cx="5158580" cy="374416"/>
            <a:chOff x="1827330" y="782473"/>
            <a:chExt cx="5158580" cy="374416"/>
          </a:xfrm>
        </p:grpSpPr>
        <p:sp>
          <p:nvSpPr>
            <p:cNvPr id="89"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2"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3"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4"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8"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311519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8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圆角矩形 87"/>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4"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9"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1"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22"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3"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4"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5"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6"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7"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8"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9"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30"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31"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6"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7"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8"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9"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4"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5"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6"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7"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8"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9"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81"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3"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4"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5" name="Text Box 155"/>
          <p:cNvSpPr txBox="1">
            <a:spLocks noChangeArrowheads="1"/>
          </p:cNvSpPr>
          <p:nvPr/>
        </p:nvSpPr>
        <p:spPr bwMode="auto">
          <a:xfrm>
            <a:off x="1052633" y="3528830"/>
            <a:ext cx="7159035"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复位 </a:t>
            </a:r>
            <a:r>
              <a:rPr lang="en-US" altLang="zh-CN" sz="1600" b="1" dirty="0">
                <a:solidFill>
                  <a:schemeClr val="bg1"/>
                </a:solidFill>
                <a:latin typeface="微软雅黑" pitchFamily="34" charset="-122"/>
                <a:ea typeface="微软雅黑" pitchFamily="34" charset="-122"/>
              </a:rPr>
              <a:t>RST (</a:t>
            </a:r>
            <a:r>
              <a:rPr lang="en-US" altLang="zh-CN" sz="1600" b="1" dirty="0" err="1">
                <a:solidFill>
                  <a:schemeClr val="bg1"/>
                </a:solidFill>
                <a:latin typeface="微软雅黑" pitchFamily="34" charset="-122"/>
                <a:ea typeface="微软雅黑" pitchFamily="34" charset="-122"/>
              </a:rPr>
              <a:t>ReSeT</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：控制位。当 </a:t>
            </a:r>
            <a:r>
              <a:rPr lang="en-US" altLang="zh-CN" sz="1600" b="1" dirty="0">
                <a:solidFill>
                  <a:schemeClr val="bg1"/>
                </a:solidFill>
                <a:latin typeface="微软雅黑" pitchFamily="34" charset="-122"/>
                <a:ea typeface="微软雅黑" pitchFamily="34" charset="-122"/>
              </a:rPr>
              <a:t>RST=1 </a:t>
            </a:r>
            <a:r>
              <a:rPr lang="zh-CN" altLang="en-US" sz="1600" b="1" dirty="0">
                <a:solidFill>
                  <a:schemeClr val="bg1"/>
                </a:solidFill>
                <a:latin typeface="微软雅黑" pitchFamily="34" charset="-122"/>
                <a:ea typeface="微软雅黑" pitchFamily="34" charset="-122"/>
              </a:rPr>
              <a:t>时，表明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连接中出现严重差错（如主机崩溃或其他原因），必须释放连接，然后再重新建立传输连接。 </a:t>
            </a:r>
          </a:p>
        </p:txBody>
      </p:sp>
      <p:sp>
        <p:nvSpPr>
          <p:cNvPr id="87" name="Rectangle 104"/>
          <p:cNvSpPr>
            <a:spLocks noChangeArrowheads="1"/>
          </p:cNvSpPr>
          <p:nvPr/>
        </p:nvSpPr>
        <p:spPr bwMode="auto">
          <a:xfrm>
            <a:off x="4058963" y="2310709"/>
            <a:ext cx="190338" cy="43792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6" name="组合 85"/>
          <p:cNvGrpSpPr/>
          <p:nvPr/>
        </p:nvGrpSpPr>
        <p:grpSpPr>
          <a:xfrm>
            <a:off x="1827330" y="782473"/>
            <a:ext cx="5158580" cy="374416"/>
            <a:chOff x="1827330" y="782473"/>
            <a:chExt cx="5158580" cy="374416"/>
          </a:xfrm>
        </p:grpSpPr>
        <p:sp>
          <p:nvSpPr>
            <p:cNvPr id="90"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2"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3"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4"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5"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9"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3449543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8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Text Box 155"/>
          <p:cNvSpPr txBox="1">
            <a:spLocks noChangeArrowheads="1"/>
          </p:cNvSpPr>
          <p:nvPr/>
        </p:nvSpPr>
        <p:spPr bwMode="auto">
          <a:xfrm>
            <a:off x="1488141" y="3528831"/>
            <a:ext cx="6140824"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确认 </a:t>
            </a:r>
            <a:r>
              <a:rPr lang="en-US" altLang="zh-CN" sz="1600" b="1" dirty="0">
                <a:solidFill>
                  <a:schemeClr val="bg1"/>
                </a:solidFill>
                <a:latin typeface="微软雅黑" pitchFamily="34" charset="-122"/>
                <a:ea typeface="微软雅黑" pitchFamily="34" charset="-122"/>
              </a:rPr>
              <a:t>ACK</a:t>
            </a:r>
            <a:r>
              <a:rPr lang="zh-CN" altLang="en-US" sz="1600" b="1" dirty="0">
                <a:solidFill>
                  <a:schemeClr val="bg1"/>
                </a:solidFill>
                <a:latin typeface="微软雅黑" pitchFamily="34" charset="-122"/>
                <a:ea typeface="微软雅黑" pitchFamily="34" charset="-122"/>
              </a:rPr>
              <a:t>：控制位。只有当 </a:t>
            </a:r>
            <a:r>
              <a:rPr lang="en-US" altLang="zh-CN" sz="1600" b="1" dirty="0">
                <a:solidFill>
                  <a:schemeClr val="bg1"/>
                </a:solidFill>
                <a:latin typeface="微软雅黑" pitchFamily="34" charset="-122"/>
                <a:ea typeface="微软雅黑" pitchFamily="34" charset="-122"/>
              </a:rPr>
              <a:t>ACK =1 </a:t>
            </a:r>
            <a:r>
              <a:rPr lang="zh-CN" altLang="en-US" sz="1600" b="1" dirty="0">
                <a:solidFill>
                  <a:schemeClr val="bg1"/>
                </a:solidFill>
                <a:latin typeface="微软雅黑" pitchFamily="34" charset="-122"/>
                <a:ea typeface="微软雅黑" pitchFamily="34" charset="-122"/>
              </a:rPr>
              <a:t>时，确认号字段才有效。当 </a:t>
            </a:r>
            <a:r>
              <a:rPr lang="en-US" altLang="zh-CN" sz="1600" b="1" dirty="0">
                <a:solidFill>
                  <a:schemeClr val="bg1"/>
                </a:solidFill>
                <a:latin typeface="微软雅黑" pitchFamily="34" charset="-122"/>
                <a:ea typeface="微软雅黑" pitchFamily="34" charset="-122"/>
              </a:rPr>
              <a:t>ACK =0 </a:t>
            </a:r>
            <a:r>
              <a:rPr lang="zh-CN" altLang="en-US" sz="1600" b="1" dirty="0">
                <a:solidFill>
                  <a:schemeClr val="bg1"/>
                </a:solidFill>
                <a:latin typeface="微软雅黑" pitchFamily="34" charset="-122"/>
                <a:ea typeface="微软雅黑" pitchFamily="34" charset="-122"/>
              </a:rPr>
              <a:t>时，该报文段中的确认号无效。 </a:t>
            </a:r>
          </a:p>
        </p:txBody>
      </p:sp>
      <p:sp>
        <p:nvSpPr>
          <p:cNvPr id="84" name="Rectangle 104"/>
          <p:cNvSpPr>
            <a:spLocks noChangeArrowheads="1"/>
          </p:cNvSpPr>
          <p:nvPr/>
        </p:nvSpPr>
        <p:spPr bwMode="auto">
          <a:xfrm>
            <a:off x="3744545" y="2310709"/>
            <a:ext cx="190338" cy="43792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3994603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圆角矩形 81"/>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3" name="Text Box 155"/>
          <p:cNvSpPr txBox="1">
            <a:spLocks noChangeArrowheads="1"/>
          </p:cNvSpPr>
          <p:nvPr/>
        </p:nvSpPr>
        <p:spPr bwMode="auto">
          <a:xfrm>
            <a:off x="1069848" y="3528826"/>
            <a:ext cx="7077456"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紧急 </a:t>
            </a:r>
            <a:r>
              <a:rPr lang="en-US" altLang="zh-CN" sz="1600" b="1" dirty="0">
                <a:solidFill>
                  <a:schemeClr val="bg1"/>
                </a:solidFill>
                <a:latin typeface="微软雅黑" pitchFamily="34" charset="-122"/>
                <a:ea typeface="微软雅黑" pitchFamily="34" charset="-122"/>
              </a:rPr>
              <a:t>URG (</a:t>
            </a:r>
            <a:r>
              <a:rPr lang="en-US" altLang="zh-CN" sz="1600" b="1" dirty="0" err="1">
                <a:solidFill>
                  <a:schemeClr val="bg1"/>
                </a:solidFill>
                <a:latin typeface="微软雅黑" pitchFamily="34" charset="-122"/>
                <a:ea typeface="微软雅黑" pitchFamily="34" charset="-122"/>
              </a:rPr>
              <a:t>URGent</a:t>
            </a:r>
            <a:r>
              <a:rPr lang="en-US" altLang="zh-CN" sz="1600" b="1" dirty="0">
                <a:solidFill>
                  <a:schemeClr val="bg1"/>
                </a:solidFill>
                <a:latin typeface="微软雅黑" pitchFamily="34" charset="-122"/>
                <a:ea typeface="微软雅黑" pitchFamily="34" charset="-122"/>
              </a:rPr>
              <a:t>)</a:t>
            </a:r>
            <a:r>
              <a:rPr lang="zh-CN" altLang="en-US" sz="1600" b="1" dirty="0">
                <a:solidFill>
                  <a:schemeClr val="bg1"/>
                </a:solidFill>
                <a:latin typeface="微软雅黑" pitchFamily="34" charset="-122"/>
                <a:ea typeface="微软雅黑" pitchFamily="34" charset="-122"/>
              </a:rPr>
              <a:t>：控制位。当 </a:t>
            </a:r>
            <a:r>
              <a:rPr lang="en-US" altLang="zh-CN" sz="1600" b="1" dirty="0">
                <a:solidFill>
                  <a:schemeClr val="bg1"/>
                </a:solidFill>
                <a:latin typeface="微软雅黑" pitchFamily="34" charset="-122"/>
                <a:ea typeface="微软雅黑" pitchFamily="34" charset="-122"/>
              </a:rPr>
              <a:t>URG = 1 </a:t>
            </a:r>
            <a:r>
              <a:rPr lang="zh-CN" altLang="en-US" sz="1600" b="1" dirty="0">
                <a:solidFill>
                  <a:schemeClr val="bg1"/>
                </a:solidFill>
                <a:latin typeface="微软雅黑" pitchFamily="34" charset="-122"/>
                <a:ea typeface="微软雅黑" pitchFamily="34" charset="-122"/>
              </a:rPr>
              <a:t>时，表明紧急指针字段有效，告诉系统此报文段中有紧急数据，应尽快传送 </a:t>
            </a:r>
            <a:r>
              <a:rPr lang="en-US" altLang="zh-CN" sz="1600" b="1" dirty="0">
                <a:solidFill>
                  <a:schemeClr val="bg1"/>
                </a:solidFill>
                <a:latin typeface="微软雅黑" pitchFamily="34" charset="-122"/>
                <a:ea typeface="微软雅黑" pitchFamily="34" charset="-122"/>
              </a:rPr>
              <a:t>(</a:t>
            </a:r>
            <a:r>
              <a:rPr lang="zh-CN" altLang="en-US" sz="1600" b="1" dirty="0">
                <a:solidFill>
                  <a:schemeClr val="bg1"/>
                </a:solidFill>
                <a:latin typeface="微软雅黑" pitchFamily="34" charset="-122"/>
                <a:ea typeface="微软雅黑" pitchFamily="34" charset="-122"/>
              </a:rPr>
              <a:t>相当于高优先级的数据</a:t>
            </a:r>
            <a:r>
              <a:rPr lang="en-US" altLang="zh-CN" sz="1600" b="1" dirty="0">
                <a:solidFill>
                  <a:schemeClr val="bg1"/>
                </a:solidFill>
                <a:latin typeface="微软雅黑" pitchFamily="34" charset="-122"/>
                <a:ea typeface="微软雅黑" pitchFamily="34" charset="-122"/>
              </a:rPr>
              <a:t>)</a:t>
            </a:r>
            <a:r>
              <a:rPr lang="zh-CN" altLang="en-US" sz="1600" b="1" dirty="0">
                <a:solidFill>
                  <a:schemeClr val="bg1"/>
                </a:solidFill>
                <a:latin typeface="微软雅黑" pitchFamily="34" charset="-122"/>
                <a:ea typeface="微软雅黑" pitchFamily="34" charset="-122"/>
              </a:rPr>
              <a:t>。 </a:t>
            </a:r>
          </a:p>
        </p:txBody>
      </p:sp>
      <p:sp>
        <p:nvSpPr>
          <p:cNvPr id="85" name="Rectangle 104"/>
          <p:cNvSpPr>
            <a:spLocks noChangeArrowheads="1"/>
          </p:cNvSpPr>
          <p:nvPr/>
        </p:nvSpPr>
        <p:spPr bwMode="auto">
          <a:xfrm>
            <a:off x="3603849" y="2310709"/>
            <a:ext cx="190338" cy="43792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4" name="组合 83"/>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1666926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8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圆角矩形 86"/>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3"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9"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21"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2"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3"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4"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5"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6"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8"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9"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30"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6"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7"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8"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3"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4"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5"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6"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7"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8"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80"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3"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4" name="Text Box 155"/>
          <p:cNvSpPr txBox="1">
            <a:spLocks noChangeArrowheads="1"/>
          </p:cNvSpPr>
          <p:nvPr/>
        </p:nvSpPr>
        <p:spPr bwMode="auto">
          <a:xfrm>
            <a:off x="959224" y="3528826"/>
            <a:ext cx="7297270"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紧急指针：占 </a:t>
            </a:r>
            <a:r>
              <a:rPr lang="en-US" altLang="zh-CN" sz="1600" b="1" dirty="0">
                <a:solidFill>
                  <a:schemeClr val="bg1"/>
                </a:solidFill>
                <a:latin typeface="微软雅黑" pitchFamily="34" charset="-122"/>
                <a:ea typeface="微软雅黑" pitchFamily="34" charset="-122"/>
              </a:rPr>
              <a:t>2 </a:t>
            </a:r>
            <a:r>
              <a:rPr lang="zh-CN" altLang="en-US" sz="1600" b="1" dirty="0">
                <a:solidFill>
                  <a:schemeClr val="bg1"/>
                </a:solidFill>
                <a:latin typeface="微软雅黑" pitchFamily="34" charset="-122"/>
                <a:ea typeface="微软雅黑" pitchFamily="34" charset="-122"/>
              </a:rPr>
              <a:t>字节。在 </a:t>
            </a:r>
            <a:r>
              <a:rPr lang="en-US" altLang="zh-CN" sz="1600" b="1" dirty="0">
                <a:solidFill>
                  <a:schemeClr val="bg1"/>
                </a:solidFill>
                <a:latin typeface="微软雅黑" pitchFamily="34" charset="-122"/>
                <a:ea typeface="微软雅黑" pitchFamily="34" charset="-122"/>
              </a:rPr>
              <a:t>URG = 1</a:t>
            </a:r>
            <a:r>
              <a:rPr lang="zh-CN" altLang="en-US" sz="1600" b="1" dirty="0">
                <a:solidFill>
                  <a:schemeClr val="bg1"/>
                </a:solidFill>
                <a:latin typeface="微软雅黑" pitchFamily="34" charset="-122"/>
                <a:ea typeface="微软雅黑" pitchFamily="34" charset="-122"/>
              </a:rPr>
              <a:t>时，指出本报文段中的紧急数据的字节数（紧急数据结束后就是普通数据），指出了紧急数据的末尾在报文段中的位置。 </a:t>
            </a:r>
          </a:p>
        </p:txBody>
      </p:sp>
      <p:sp>
        <p:nvSpPr>
          <p:cNvPr id="86" name="Rectangle 104"/>
          <p:cNvSpPr>
            <a:spLocks noChangeArrowheads="1"/>
          </p:cNvSpPr>
          <p:nvPr/>
        </p:nvSpPr>
        <p:spPr bwMode="auto">
          <a:xfrm>
            <a:off x="4496711" y="2713745"/>
            <a:ext cx="2344800" cy="40729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5" name="组合 84"/>
          <p:cNvGrpSpPr/>
          <p:nvPr/>
        </p:nvGrpSpPr>
        <p:grpSpPr>
          <a:xfrm>
            <a:off x="1827330" y="782473"/>
            <a:ext cx="5158580" cy="374416"/>
            <a:chOff x="1827330" y="782473"/>
            <a:chExt cx="5158580" cy="374416"/>
          </a:xfrm>
        </p:grpSpPr>
        <p:sp>
          <p:nvSpPr>
            <p:cNvPr id="89"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2"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3"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4"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8"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2159412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8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Text Box 155"/>
          <p:cNvSpPr txBox="1">
            <a:spLocks noChangeArrowheads="1"/>
          </p:cNvSpPr>
          <p:nvPr/>
        </p:nvSpPr>
        <p:spPr bwMode="auto">
          <a:xfrm>
            <a:off x="1426464" y="3528830"/>
            <a:ext cx="6400799" cy="904863"/>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推送 </a:t>
            </a:r>
            <a:r>
              <a:rPr lang="en-US" altLang="zh-CN" sz="1600" b="1" dirty="0">
                <a:solidFill>
                  <a:schemeClr val="bg1"/>
                </a:solidFill>
                <a:latin typeface="微软雅黑" pitchFamily="34" charset="-122"/>
                <a:ea typeface="微软雅黑" pitchFamily="34" charset="-122"/>
              </a:rPr>
              <a:t>PSH (</a:t>
            </a:r>
            <a:r>
              <a:rPr lang="en-US" altLang="zh-CN" sz="1600" b="1" dirty="0" err="1">
                <a:solidFill>
                  <a:schemeClr val="bg1"/>
                </a:solidFill>
                <a:latin typeface="微软雅黑" pitchFamily="34" charset="-122"/>
                <a:ea typeface="微软雅黑" pitchFamily="34" charset="-122"/>
              </a:rPr>
              <a:t>PuSH</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：控制位。接收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收到 </a:t>
            </a:r>
            <a:r>
              <a:rPr lang="en-US" altLang="zh-CN" sz="1600" b="1" dirty="0">
                <a:solidFill>
                  <a:schemeClr val="bg1"/>
                </a:solidFill>
                <a:latin typeface="微软雅黑" pitchFamily="34" charset="-122"/>
                <a:ea typeface="微软雅黑" pitchFamily="34" charset="-122"/>
              </a:rPr>
              <a:t>PSH = 1 </a:t>
            </a:r>
            <a:r>
              <a:rPr lang="zh-CN" altLang="en-US" sz="1600" b="1" dirty="0">
                <a:solidFill>
                  <a:schemeClr val="bg1"/>
                </a:solidFill>
                <a:latin typeface="微软雅黑" pitchFamily="34" charset="-122"/>
                <a:ea typeface="微软雅黑" pitchFamily="34" charset="-122"/>
              </a:rPr>
              <a:t>的报文段后，就尽快（即“推送”向前）交付接收应用进程，而不再等到整个缓冲区都填满后再交付。 </a:t>
            </a:r>
          </a:p>
        </p:txBody>
      </p:sp>
      <p:sp>
        <p:nvSpPr>
          <p:cNvPr id="84" name="Rectangle 104"/>
          <p:cNvSpPr>
            <a:spLocks noChangeArrowheads="1"/>
          </p:cNvSpPr>
          <p:nvPr/>
        </p:nvSpPr>
        <p:spPr bwMode="auto">
          <a:xfrm>
            <a:off x="3889736" y="2310709"/>
            <a:ext cx="190338" cy="43792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1241871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Text Box 155"/>
          <p:cNvSpPr txBox="1">
            <a:spLocks noChangeArrowheads="1"/>
          </p:cNvSpPr>
          <p:nvPr/>
        </p:nvSpPr>
        <p:spPr bwMode="auto">
          <a:xfrm>
            <a:off x="1620894" y="3528826"/>
            <a:ext cx="5761804" cy="615168"/>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窗口：占 </a:t>
            </a:r>
            <a:r>
              <a:rPr lang="en-US" altLang="zh-CN" sz="1600" b="1" dirty="0">
                <a:solidFill>
                  <a:schemeClr val="bg1"/>
                </a:solidFill>
                <a:latin typeface="微软雅黑" pitchFamily="34" charset="-122"/>
                <a:ea typeface="微软雅黑" pitchFamily="34" charset="-122"/>
              </a:rPr>
              <a:t>16 </a:t>
            </a:r>
            <a:r>
              <a:rPr lang="zh-CN" altLang="en-US" sz="1600" b="1" dirty="0">
                <a:solidFill>
                  <a:schemeClr val="bg1"/>
                </a:solidFill>
                <a:latin typeface="微软雅黑" pitchFamily="34" charset="-122"/>
                <a:ea typeface="微软雅黑" pitchFamily="34" charset="-122"/>
              </a:rPr>
              <a:t>位。即发送方自己的接收窗口大小（以字节为单位），用于流量控制。窗口值是动态变化的。</a:t>
            </a:r>
            <a:endParaRPr lang="en-US" altLang="zh-CN" sz="1600" b="1" dirty="0">
              <a:solidFill>
                <a:schemeClr val="bg1"/>
              </a:solidFill>
              <a:latin typeface="微软雅黑" pitchFamily="34" charset="-122"/>
              <a:ea typeface="微软雅黑" pitchFamily="34" charset="-122"/>
            </a:endParaRPr>
          </a:p>
        </p:txBody>
      </p:sp>
      <p:sp>
        <p:nvSpPr>
          <p:cNvPr id="84" name="Rectangle 104"/>
          <p:cNvSpPr>
            <a:spLocks noChangeArrowheads="1"/>
          </p:cNvSpPr>
          <p:nvPr/>
        </p:nvSpPr>
        <p:spPr bwMode="auto">
          <a:xfrm flipH="1">
            <a:off x="4518888" y="2315995"/>
            <a:ext cx="2334259" cy="40729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3370187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圆角矩形 86"/>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3"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9"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21"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2"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3"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4"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5"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6"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8"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9"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30"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6"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7"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8"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3"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4"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5"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6"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7"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8"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80"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3"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4" name="Text Box 155"/>
          <p:cNvSpPr txBox="1">
            <a:spLocks noChangeArrowheads="1"/>
          </p:cNvSpPr>
          <p:nvPr/>
        </p:nvSpPr>
        <p:spPr bwMode="auto">
          <a:xfrm>
            <a:off x="1106424" y="3528827"/>
            <a:ext cx="6986016"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校验和：占 </a:t>
            </a:r>
            <a:r>
              <a:rPr lang="en-US" altLang="zh-CN" sz="1600" b="1" dirty="0">
                <a:solidFill>
                  <a:schemeClr val="bg1"/>
                </a:solidFill>
                <a:latin typeface="微软雅黑" pitchFamily="34" charset="-122"/>
                <a:ea typeface="微软雅黑" pitchFamily="34" charset="-122"/>
              </a:rPr>
              <a:t>16 </a:t>
            </a:r>
            <a:r>
              <a:rPr lang="zh-CN" altLang="en-US" sz="1600" b="1" dirty="0">
                <a:solidFill>
                  <a:schemeClr val="bg1"/>
                </a:solidFill>
                <a:latin typeface="微软雅黑" pitchFamily="34" charset="-122"/>
                <a:ea typeface="微软雅黑" pitchFamily="34" charset="-122"/>
              </a:rPr>
              <a:t>位。校验和字段校验的范围包括首部和数据这两部分。</a:t>
            </a:r>
            <a:endParaRPr lang="en-US" altLang="zh-CN" sz="1600" b="1" dirty="0">
              <a:solidFill>
                <a:schemeClr val="bg1"/>
              </a:solidFill>
              <a:latin typeface="微软雅黑" pitchFamily="34" charset="-122"/>
              <a:ea typeface="微软雅黑" pitchFamily="34" charset="-122"/>
            </a:endParaRPr>
          </a:p>
          <a:p>
            <a:pPr algn="ctr">
              <a:lnSpc>
                <a:spcPct val="110000"/>
              </a:lnSpc>
            </a:pPr>
            <a:r>
              <a:rPr lang="zh-CN" altLang="en-US" sz="1600" b="1" dirty="0">
                <a:solidFill>
                  <a:schemeClr val="bg1"/>
                </a:solidFill>
                <a:latin typeface="微软雅黑" pitchFamily="34" charset="-122"/>
                <a:ea typeface="微软雅黑" pitchFamily="34" charset="-122"/>
              </a:rPr>
              <a:t>在计算校验和时，要在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报文段的前面加上 </a:t>
            </a:r>
            <a:r>
              <a:rPr lang="en-US" altLang="zh-CN" sz="1600" b="1" dirty="0">
                <a:solidFill>
                  <a:schemeClr val="bg1"/>
                </a:solidFill>
                <a:latin typeface="微软雅黑" pitchFamily="34" charset="-122"/>
                <a:ea typeface="微软雅黑" pitchFamily="34" charset="-122"/>
              </a:rPr>
              <a:t>12 </a:t>
            </a:r>
            <a:r>
              <a:rPr lang="zh-CN" altLang="en-US" sz="1600" b="1" dirty="0">
                <a:solidFill>
                  <a:schemeClr val="bg1"/>
                </a:solidFill>
                <a:latin typeface="微软雅黑" pitchFamily="34" charset="-122"/>
                <a:ea typeface="微软雅黑" pitchFamily="34" charset="-122"/>
              </a:rPr>
              <a:t>字节的</a:t>
            </a:r>
            <a:r>
              <a:rPr lang="zh-CN" altLang="en-US" sz="1600" b="1" dirty="0">
                <a:solidFill>
                  <a:srgbClr val="FFC000"/>
                </a:solidFill>
                <a:latin typeface="微软雅黑" pitchFamily="34" charset="-122"/>
                <a:ea typeface="微软雅黑" pitchFamily="34" charset="-122"/>
              </a:rPr>
              <a:t>伪首部。</a:t>
            </a:r>
          </a:p>
        </p:txBody>
      </p:sp>
      <p:sp>
        <p:nvSpPr>
          <p:cNvPr id="86" name="Rectangle 104"/>
          <p:cNvSpPr>
            <a:spLocks noChangeArrowheads="1"/>
          </p:cNvSpPr>
          <p:nvPr/>
        </p:nvSpPr>
        <p:spPr bwMode="auto">
          <a:xfrm flipH="1">
            <a:off x="2162453" y="2713745"/>
            <a:ext cx="2334259" cy="40729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5" name="组合 84"/>
          <p:cNvGrpSpPr/>
          <p:nvPr/>
        </p:nvGrpSpPr>
        <p:grpSpPr>
          <a:xfrm>
            <a:off x="1827330" y="782473"/>
            <a:ext cx="5158580" cy="374416"/>
            <a:chOff x="1827330" y="782473"/>
            <a:chExt cx="5158580" cy="374416"/>
          </a:xfrm>
        </p:grpSpPr>
        <p:sp>
          <p:nvSpPr>
            <p:cNvPr id="89"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2"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3"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4"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8"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2388984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8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Text Box 155"/>
          <p:cNvSpPr txBox="1">
            <a:spLocks noChangeArrowheads="1"/>
          </p:cNvSpPr>
          <p:nvPr/>
        </p:nvSpPr>
        <p:spPr bwMode="auto">
          <a:xfrm>
            <a:off x="1042416" y="3645371"/>
            <a:ext cx="7086600" cy="786754"/>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400" b="1" dirty="0">
                <a:solidFill>
                  <a:schemeClr val="bg1"/>
                </a:solidFill>
                <a:latin typeface="微软雅黑" pitchFamily="34" charset="-122"/>
                <a:ea typeface="微软雅黑" pitchFamily="34" charset="-122"/>
              </a:rPr>
              <a:t>选项：长度可变，最长可达 </a:t>
            </a:r>
            <a:r>
              <a:rPr lang="en-US" altLang="zh-CN" sz="1400" b="1" dirty="0">
                <a:solidFill>
                  <a:schemeClr val="bg1"/>
                </a:solidFill>
                <a:latin typeface="微软雅黑" pitchFamily="34" charset="-122"/>
                <a:ea typeface="微软雅黑" pitchFamily="34" charset="-122"/>
              </a:rPr>
              <a:t>40 </a:t>
            </a:r>
            <a:r>
              <a:rPr lang="zh-CN" altLang="en-US" sz="1400" b="1" dirty="0">
                <a:solidFill>
                  <a:schemeClr val="bg1"/>
                </a:solidFill>
                <a:latin typeface="微软雅黑" pitchFamily="34" charset="-122"/>
                <a:ea typeface="微软雅黑" pitchFamily="34" charset="-122"/>
              </a:rPr>
              <a:t>字节。</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长度可变。</a:t>
            </a:r>
            <a:r>
              <a:rPr lang="en-US" altLang="zh-CN" sz="1400" b="1" dirty="0">
                <a:solidFill>
                  <a:schemeClr val="bg1"/>
                </a:solidFill>
                <a:latin typeface="微软雅黑" pitchFamily="34" charset="-122"/>
                <a:ea typeface="微软雅黑" pitchFamily="34" charset="-122"/>
              </a:rPr>
              <a:t>TCP </a:t>
            </a:r>
            <a:r>
              <a:rPr lang="zh-CN" altLang="en-US" sz="1400" b="1" dirty="0">
                <a:solidFill>
                  <a:schemeClr val="bg1"/>
                </a:solidFill>
                <a:latin typeface="微软雅黑" pitchFamily="34" charset="-122"/>
                <a:ea typeface="微软雅黑" pitchFamily="34" charset="-122"/>
              </a:rPr>
              <a:t>最初只规定了一种选项，即最大报文段长度 </a:t>
            </a:r>
            <a:r>
              <a:rPr lang="en-US" altLang="zh-CN" sz="1400" b="1" dirty="0">
                <a:solidFill>
                  <a:schemeClr val="bg1"/>
                </a:solidFill>
                <a:latin typeface="微软雅黑" pitchFamily="34" charset="-122"/>
                <a:ea typeface="微软雅黑" pitchFamily="34" charset="-122"/>
              </a:rPr>
              <a:t>MSS (Maximum Segment Size)</a:t>
            </a:r>
            <a:r>
              <a:rPr lang="zh-CN" altLang="en-US" sz="1400" b="1" dirty="0">
                <a:solidFill>
                  <a:schemeClr val="bg1"/>
                </a:solidFill>
                <a:latin typeface="微软雅黑" pitchFamily="34" charset="-122"/>
                <a:ea typeface="微软雅黑" pitchFamily="34" charset="-122"/>
              </a:rPr>
              <a:t>，是 </a:t>
            </a:r>
            <a:r>
              <a:rPr lang="en-US" altLang="zh-CN" sz="1400" b="1" dirty="0">
                <a:solidFill>
                  <a:schemeClr val="bg1"/>
                </a:solidFill>
                <a:latin typeface="微软雅黑" pitchFamily="34" charset="-122"/>
                <a:ea typeface="微软雅黑" pitchFamily="34" charset="-122"/>
              </a:rPr>
              <a:t>TCP </a:t>
            </a:r>
            <a:r>
              <a:rPr lang="zh-CN" altLang="en-US" sz="1400" b="1" dirty="0">
                <a:solidFill>
                  <a:schemeClr val="bg1"/>
                </a:solidFill>
                <a:latin typeface="微软雅黑" pitchFamily="34" charset="-122"/>
                <a:ea typeface="微软雅黑" pitchFamily="34" charset="-122"/>
              </a:rPr>
              <a:t>报文段中的</a:t>
            </a:r>
            <a:r>
              <a:rPr lang="zh-CN" altLang="en-US" sz="1400" b="1" dirty="0">
                <a:solidFill>
                  <a:srgbClr val="FFC000"/>
                </a:solidFill>
                <a:latin typeface="微软雅黑" pitchFamily="34" charset="-122"/>
                <a:ea typeface="微软雅黑" pitchFamily="34" charset="-122"/>
              </a:rPr>
              <a:t>数据字段的最大长度</a:t>
            </a:r>
            <a:r>
              <a:rPr lang="zh-CN" altLang="en-US" sz="1400" b="1" dirty="0">
                <a:solidFill>
                  <a:schemeClr val="bg1"/>
                </a:solidFill>
                <a:latin typeface="微软雅黑" pitchFamily="34" charset="-122"/>
                <a:ea typeface="微软雅黑" pitchFamily="34" charset="-122"/>
              </a:rPr>
              <a:t>。注意：</a:t>
            </a:r>
            <a:r>
              <a:rPr lang="en-US" altLang="zh-CN" sz="1400" b="1" dirty="0">
                <a:solidFill>
                  <a:schemeClr val="bg1"/>
                </a:solidFill>
                <a:latin typeface="微软雅黑" pitchFamily="34" charset="-122"/>
                <a:ea typeface="微软雅黑" pitchFamily="34" charset="-122"/>
              </a:rPr>
              <a:t>MSS</a:t>
            </a:r>
            <a:r>
              <a:rPr lang="zh-CN" altLang="en-US" sz="1400" b="1" dirty="0">
                <a:solidFill>
                  <a:schemeClr val="bg1"/>
                </a:solidFill>
                <a:latin typeface="微软雅黑" pitchFamily="34" charset="-122"/>
                <a:ea typeface="微软雅黑" pitchFamily="34" charset="-122"/>
              </a:rPr>
              <a:t>并不是整个</a:t>
            </a:r>
            <a:r>
              <a:rPr lang="en-US" altLang="zh-CN" sz="1400" b="1" dirty="0">
                <a:solidFill>
                  <a:schemeClr val="bg1"/>
                </a:solidFill>
                <a:latin typeface="微软雅黑" pitchFamily="34" charset="-122"/>
                <a:ea typeface="微软雅黑" pitchFamily="34" charset="-122"/>
              </a:rPr>
              <a:t>TCP</a:t>
            </a:r>
            <a:r>
              <a:rPr lang="zh-CN" altLang="en-US" sz="1400" b="1" dirty="0">
                <a:solidFill>
                  <a:schemeClr val="bg1"/>
                </a:solidFill>
                <a:latin typeface="微软雅黑" pitchFamily="34" charset="-122"/>
                <a:ea typeface="微软雅黑" pitchFamily="34" charset="-122"/>
              </a:rPr>
              <a:t>报文段的最大长度。</a:t>
            </a:r>
          </a:p>
        </p:txBody>
      </p:sp>
      <p:sp>
        <p:nvSpPr>
          <p:cNvPr id="84" name="Rectangle 104"/>
          <p:cNvSpPr>
            <a:spLocks noChangeArrowheads="1"/>
          </p:cNvSpPr>
          <p:nvPr/>
        </p:nvSpPr>
        <p:spPr bwMode="auto">
          <a:xfrm>
            <a:off x="2162578" y="3110963"/>
            <a:ext cx="3507503" cy="38116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2"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3"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3077230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84"/>
                                        </p:tgtEl>
                                        <p:attrNameLst>
                                          <p:attrName>style.visibility</p:attrName>
                                        </p:attrNameLst>
                                      </p:cBhvr>
                                      <p:to>
                                        <p:strVal val="visible"/>
                                      </p:to>
                                    </p:set>
                                  </p:childTnLst>
                                </p:cTn>
                              </p:par>
                            </p:childTnLst>
                          </p:cTn>
                        </p:par>
                        <p:par>
                          <p:cTn id="7" fill="hold">
                            <p:stCondLst>
                              <p:cond delay="1000"/>
                            </p:stCondLst>
                            <p:childTnLst>
                              <p:par>
                                <p:cTn id="8" presetID="35" presetClass="emph" presetSubtype="0" repeatCount="3000" fill="hold" grpId="1" nodeType="afterEffect">
                                  <p:stCondLst>
                                    <p:cond delay="0"/>
                                  </p:stCondLst>
                                  <p:childTnLst>
                                    <p:anim calcmode="discrete" valueType="str">
                                      <p:cBhvr>
                                        <p:cTn id="9"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4" grpId="1"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4A173-B1D8-A98C-07C5-2ED35B0585D5}"/>
            </a:ext>
          </a:extLst>
        </p:cNvPr>
        <p:cNvGrpSpPr/>
        <p:nvPr/>
      </p:nvGrpSpPr>
      <p:grpSpPr>
        <a:xfrm>
          <a:off x="0" y="0"/>
          <a:ext cx="0" cy="0"/>
          <a:chOff x="0" y="0"/>
          <a:chExt cx="0" cy="0"/>
        </a:xfrm>
      </p:grpSpPr>
      <p:sp>
        <p:nvSpPr>
          <p:cNvPr id="85" name="圆角矩形 84">
            <a:extLst>
              <a:ext uri="{FF2B5EF4-FFF2-40B4-BE49-F238E27FC236}">
                <a16:creationId xmlns:a16="http://schemas.microsoft.com/office/drawing/2014/main" id="{ACAB32CC-FECE-27CF-3D6A-8AD31F2CB04B}"/>
              </a:ext>
            </a:extLst>
          </p:cNvPr>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a:extLst>
              <a:ext uri="{FF2B5EF4-FFF2-40B4-BE49-F238E27FC236}">
                <a16:creationId xmlns:a16="http://schemas.microsoft.com/office/drawing/2014/main" id="{F2318C88-00A1-5586-46EE-A9EC7CB45841}"/>
              </a:ext>
            </a:extLst>
          </p:cNvPr>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a:extLst>
              <a:ext uri="{FF2B5EF4-FFF2-40B4-BE49-F238E27FC236}">
                <a16:creationId xmlns:a16="http://schemas.microsoft.com/office/drawing/2014/main" id="{1AA99CFE-B832-A294-CB04-AD93BF59A835}"/>
              </a:ext>
            </a:extLst>
          </p:cNvPr>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a:extLst>
              <a:ext uri="{FF2B5EF4-FFF2-40B4-BE49-F238E27FC236}">
                <a16:creationId xmlns:a16="http://schemas.microsoft.com/office/drawing/2014/main" id="{39FA39B9-F7A3-E143-5F9A-BB6CB3A2A6AF}"/>
              </a:ext>
            </a:extLst>
          </p:cNvPr>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a:extLst>
              <a:ext uri="{FF2B5EF4-FFF2-40B4-BE49-F238E27FC236}">
                <a16:creationId xmlns:a16="http://schemas.microsoft.com/office/drawing/2014/main" id="{4A417014-1C64-99EA-9813-597A25D4C479}"/>
              </a:ext>
            </a:extLst>
          </p:cNvPr>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a:extLst>
              <a:ext uri="{FF2B5EF4-FFF2-40B4-BE49-F238E27FC236}">
                <a16:creationId xmlns:a16="http://schemas.microsoft.com/office/drawing/2014/main" id="{0BCC1EFF-353B-EC1E-E04E-DE606F4D623F}"/>
              </a:ext>
            </a:extLst>
          </p:cNvPr>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a:extLst>
              <a:ext uri="{FF2B5EF4-FFF2-40B4-BE49-F238E27FC236}">
                <a16:creationId xmlns:a16="http://schemas.microsoft.com/office/drawing/2014/main" id="{084BABF3-C679-9566-B69C-8821456E0B43}"/>
              </a:ext>
            </a:extLst>
          </p:cNvPr>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a:extLst>
              <a:ext uri="{FF2B5EF4-FFF2-40B4-BE49-F238E27FC236}">
                <a16:creationId xmlns:a16="http://schemas.microsoft.com/office/drawing/2014/main" id="{8D71A0F0-DC3D-B5F0-E95B-4F5CA4F9CE8E}"/>
              </a:ext>
            </a:extLst>
          </p:cNvPr>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a:extLst>
              <a:ext uri="{FF2B5EF4-FFF2-40B4-BE49-F238E27FC236}">
                <a16:creationId xmlns:a16="http://schemas.microsoft.com/office/drawing/2014/main" id="{58C8843F-248E-C5DD-3523-63D65A62459B}"/>
              </a:ext>
            </a:extLst>
          </p:cNvPr>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a:extLst>
              <a:ext uri="{FF2B5EF4-FFF2-40B4-BE49-F238E27FC236}">
                <a16:creationId xmlns:a16="http://schemas.microsoft.com/office/drawing/2014/main" id="{5942AE71-90FB-A12E-3DE3-2643A6A247CF}"/>
              </a:ext>
            </a:extLst>
          </p:cNvPr>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a:extLst>
              <a:ext uri="{FF2B5EF4-FFF2-40B4-BE49-F238E27FC236}">
                <a16:creationId xmlns:a16="http://schemas.microsoft.com/office/drawing/2014/main" id="{63CD084E-4A6E-10B4-B024-D2E1A24C5C79}"/>
              </a:ext>
            </a:extLst>
          </p:cNvPr>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a:extLst>
              <a:ext uri="{FF2B5EF4-FFF2-40B4-BE49-F238E27FC236}">
                <a16:creationId xmlns:a16="http://schemas.microsoft.com/office/drawing/2014/main" id="{2A6DE8E8-5449-6B47-6DAE-F69C0F49CD1B}"/>
              </a:ext>
            </a:extLst>
          </p:cNvPr>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a:extLst>
              <a:ext uri="{FF2B5EF4-FFF2-40B4-BE49-F238E27FC236}">
                <a16:creationId xmlns:a16="http://schemas.microsoft.com/office/drawing/2014/main" id="{62CCFC72-FADB-B202-4846-365B5B67F8B4}"/>
              </a:ext>
            </a:extLst>
          </p:cNvPr>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a:extLst>
              <a:ext uri="{FF2B5EF4-FFF2-40B4-BE49-F238E27FC236}">
                <a16:creationId xmlns:a16="http://schemas.microsoft.com/office/drawing/2014/main" id="{19848263-06A2-A3C9-C00D-0C2A445B59A1}"/>
              </a:ext>
            </a:extLst>
          </p:cNvPr>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a:extLst>
              <a:ext uri="{FF2B5EF4-FFF2-40B4-BE49-F238E27FC236}">
                <a16:creationId xmlns:a16="http://schemas.microsoft.com/office/drawing/2014/main" id="{1A60C7C3-1823-D28E-64D9-C7C76F221307}"/>
              </a:ext>
            </a:extLst>
          </p:cNvPr>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a:extLst>
              <a:ext uri="{FF2B5EF4-FFF2-40B4-BE49-F238E27FC236}">
                <a16:creationId xmlns:a16="http://schemas.microsoft.com/office/drawing/2014/main" id="{834E9C01-BB67-2AC5-F61D-6573127B7238}"/>
              </a:ext>
            </a:extLst>
          </p:cNvPr>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a:extLst>
              <a:ext uri="{FF2B5EF4-FFF2-40B4-BE49-F238E27FC236}">
                <a16:creationId xmlns:a16="http://schemas.microsoft.com/office/drawing/2014/main" id="{5E5505F8-BA1A-60C1-F4C5-E131191B9046}"/>
              </a:ext>
            </a:extLst>
          </p:cNvPr>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a:extLst>
              <a:ext uri="{FF2B5EF4-FFF2-40B4-BE49-F238E27FC236}">
                <a16:creationId xmlns:a16="http://schemas.microsoft.com/office/drawing/2014/main" id="{117C5755-356D-F462-18A5-E4B828BA60DE}"/>
              </a:ext>
            </a:extLst>
          </p:cNvPr>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a:extLst>
              <a:ext uri="{FF2B5EF4-FFF2-40B4-BE49-F238E27FC236}">
                <a16:creationId xmlns:a16="http://schemas.microsoft.com/office/drawing/2014/main" id="{0A192F6A-FE80-F995-9B69-ACA4F9B2CA8D}"/>
              </a:ext>
            </a:extLst>
          </p:cNvPr>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a:extLst>
              <a:ext uri="{FF2B5EF4-FFF2-40B4-BE49-F238E27FC236}">
                <a16:creationId xmlns:a16="http://schemas.microsoft.com/office/drawing/2014/main" id="{964123B2-7777-7EF8-B4F7-9B24AE6F735D}"/>
              </a:ext>
            </a:extLst>
          </p:cNvPr>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a:extLst>
              <a:ext uri="{FF2B5EF4-FFF2-40B4-BE49-F238E27FC236}">
                <a16:creationId xmlns:a16="http://schemas.microsoft.com/office/drawing/2014/main" id="{7CD8CDB9-D3B4-9EA4-D7B8-086E3249DE8C}"/>
              </a:ext>
            </a:extLst>
          </p:cNvPr>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a:extLst>
              <a:ext uri="{FF2B5EF4-FFF2-40B4-BE49-F238E27FC236}">
                <a16:creationId xmlns:a16="http://schemas.microsoft.com/office/drawing/2014/main" id="{8152E7DC-34DF-78E4-6C08-265F20045BEA}"/>
              </a:ext>
            </a:extLst>
          </p:cNvPr>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a:extLst>
              <a:ext uri="{FF2B5EF4-FFF2-40B4-BE49-F238E27FC236}">
                <a16:creationId xmlns:a16="http://schemas.microsoft.com/office/drawing/2014/main" id="{F30CB9DF-3266-F6FE-F720-9BB407714B21}"/>
              </a:ext>
            </a:extLst>
          </p:cNvPr>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a:extLst>
              <a:ext uri="{FF2B5EF4-FFF2-40B4-BE49-F238E27FC236}">
                <a16:creationId xmlns:a16="http://schemas.microsoft.com/office/drawing/2014/main" id="{EC69A03F-7BC7-AA10-5130-BEA39F3ECF28}"/>
              </a:ext>
            </a:extLst>
          </p:cNvPr>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a:extLst>
              <a:ext uri="{FF2B5EF4-FFF2-40B4-BE49-F238E27FC236}">
                <a16:creationId xmlns:a16="http://schemas.microsoft.com/office/drawing/2014/main" id="{DB555D31-2CB0-B794-9204-CDAC74E09040}"/>
              </a:ext>
            </a:extLst>
          </p:cNvPr>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a:extLst>
              <a:ext uri="{FF2B5EF4-FFF2-40B4-BE49-F238E27FC236}">
                <a16:creationId xmlns:a16="http://schemas.microsoft.com/office/drawing/2014/main" id="{1C57CC48-83D5-917B-10DB-3BDF4ECE80B8}"/>
              </a:ext>
            </a:extLst>
          </p:cNvPr>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a:extLst>
              <a:ext uri="{FF2B5EF4-FFF2-40B4-BE49-F238E27FC236}">
                <a16:creationId xmlns:a16="http://schemas.microsoft.com/office/drawing/2014/main" id="{8630B9AE-6255-CDD9-72A0-0F5A270BADE8}"/>
              </a:ext>
            </a:extLst>
          </p:cNvPr>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a:extLst>
              <a:ext uri="{FF2B5EF4-FFF2-40B4-BE49-F238E27FC236}">
                <a16:creationId xmlns:a16="http://schemas.microsoft.com/office/drawing/2014/main" id="{DDADF530-8E42-19F6-AA36-E793F9558F57}"/>
              </a:ext>
            </a:extLst>
          </p:cNvPr>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a:extLst>
              <a:ext uri="{FF2B5EF4-FFF2-40B4-BE49-F238E27FC236}">
                <a16:creationId xmlns:a16="http://schemas.microsoft.com/office/drawing/2014/main" id="{659F8597-0550-C949-B642-AF3970C8B4C1}"/>
              </a:ext>
            </a:extLst>
          </p:cNvPr>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a:extLst>
              <a:ext uri="{FF2B5EF4-FFF2-40B4-BE49-F238E27FC236}">
                <a16:creationId xmlns:a16="http://schemas.microsoft.com/office/drawing/2014/main" id="{D2686EAB-7320-0222-91D5-05F778CE2D37}"/>
              </a:ext>
            </a:extLst>
          </p:cNvPr>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a:extLst>
              <a:ext uri="{FF2B5EF4-FFF2-40B4-BE49-F238E27FC236}">
                <a16:creationId xmlns:a16="http://schemas.microsoft.com/office/drawing/2014/main" id="{840E8D22-87AD-B2A8-9A02-C47B1FFF8334}"/>
              </a:ext>
            </a:extLst>
          </p:cNvPr>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a:extLst>
              <a:ext uri="{FF2B5EF4-FFF2-40B4-BE49-F238E27FC236}">
                <a16:creationId xmlns:a16="http://schemas.microsoft.com/office/drawing/2014/main" id="{E64CA1BF-090E-77F8-1351-9001FF621F20}"/>
              </a:ext>
            </a:extLst>
          </p:cNvPr>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a:extLst>
              <a:ext uri="{FF2B5EF4-FFF2-40B4-BE49-F238E27FC236}">
                <a16:creationId xmlns:a16="http://schemas.microsoft.com/office/drawing/2014/main" id="{6DD6BAC8-2A59-4F95-14E2-CC3B76C575CB}"/>
              </a:ext>
            </a:extLst>
          </p:cNvPr>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a:extLst>
              <a:ext uri="{FF2B5EF4-FFF2-40B4-BE49-F238E27FC236}">
                <a16:creationId xmlns:a16="http://schemas.microsoft.com/office/drawing/2014/main" id="{0EA251CF-DCEE-2BB4-C65C-34F75361D1EE}"/>
              </a:ext>
            </a:extLst>
          </p:cNvPr>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a:extLst>
              <a:ext uri="{FF2B5EF4-FFF2-40B4-BE49-F238E27FC236}">
                <a16:creationId xmlns:a16="http://schemas.microsoft.com/office/drawing/2014/main" id="{7CB9D1A9-FA8D-2A75-CB3F-6179BF3D86AD}"/>
              </a:ext>
            </a:extLst>
          </p:cNvPr>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a:extLst>
              <a:ext uri="{FF2B5EF4-FFF2-40B4-BE49-F238E27FC236}">
                <a16:creationId xmlns:a16="http://schemas.microsoft.com/office/drawing/2014/main" id="{9B599346-F10C-21EA-B2B7-ED5D72FEEA6E}"/>
              </a:ext>
            </a:extLst>
          </p:cNvPr>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a:extLst>
              <a:ext uri="{FF2B5EF4-FFF2-40B4-BE49-F238E27FC236}">
                <a16:creationId xmlns:a16="http://schemas.microsoft.com/office/drawing/2014/main" id="{592733CA-5F94-8F90-D68E-C8F3FC7C2117}"/>
              </a:ext>
            </a:extLst>
          </p:cNvPr>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a:extLst>
              <a:ext uri="{FF2B5EF4-FFF2-40B4-BE49-F238E27FC236}">
                <a16:creationId xmlns:a16="http://schemas.microsoft.com/office/drawing/2014/main" id="{29CE9614-7EE0-B612-3B50-63CE7B8C2607}"/>
              </a:ext>
            </a:extLst>
          </p:cNvPr>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a:extLst>
              <a:ext uri="{FF2B5EF4-FFF2-40B4-BE49-F238E27FC236}">
                <a16:creationId xmlns:a16="http://schemas.microsoft.com/office/drawing/2014/main" id="{40DA075F-F0A7-5CAC-D71D-892E50E2A0D2}"/>
              </a:ext>
            </a:extLst>
          </p:cNvPr>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a:extLst>
              <a:ext uri="{FF2B5EF4-FFF2-40B4-BE49-F238E27FC236}">
                <a16:creationId xmlns:a16="http://schemas.microsoft.com/office/drawing/2014/main" id="{EDCAEF19-3041-7E7E-E575-D27D9650CAEA}"/>
              </a:ext>
            </a:extLst>
          </p:cNvPr>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a:extLst>
              <a:ext uri="{FF2B5EF4-FFF2-40B4-BE49-F238E27FC236}">
                <a16:creationId xmlns:a16="http://schemas.microsoft.com/office/drawing/2014/main" id="{87EB47CF-4677-CF08-547A-F414C391F142}"/>
              </a:ext>
            </a:extLst>
          </p:cNvPr>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Text Box 155">
            <a:extLst>
              <a:ext uri="{FF2B5EF4-FFF2-40B4-BE49-F238E27FC236}">
                <a16:creationId xmlns:a16="http://schemas.microsoft.com/office/drawing/2014/main" id="{0013AD8F-314D-919E-E3A8-6ADC565A7876}"/>
              </a:ext>
            </a:extLst>
          </p:cNvPr>
          <p:cNvSpPr txBox="1">
            <a:spLocks noChangeArrowheads="1"/>
          </p:cNvSpPr>
          <p:nvPr/>
        </p:nvSpPr>
        <p:spPr bwMode="auto">
          <a:xfrm>
            <a:off x="1042416" y="3645371"/>
            <a:ext cx="7086600" cy="549766"/>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400" b="1" dirty="0">
                <a:solidFill>
                  <a:schemeClr val="bg1"/>
                </a:solidFill>
                <a:latin typeface="微软雅黑" pitchFamily="34" charset="-122"/>
                <a:ea typeface="微软雅黑" pitchFamily="34" charset="-122"/>
              </a:rPr>
              <a:t>随着互联网的发展，又陆续增加了几个选项，如</a:t>
            </a:r>
            <a:r>
              <a:rPr lang="zh-CN" altLang="en-US" sz="1400" b="1" dirty="0">
                <a:solidFill>
                  <a:srgbClr val="FFC000"/>
                </a:solidFill>
                <a:latin typeface="微软雅黑" pitchFamily="34" charset="-122"/>
                <a:ea typeface="微软雅黑" pitchFamily="34" charset="-122"/>
              </a:rPr>
              <a:t>窗口扩大选项</a:t>
            </a:r>
            <a:r>
              <a:rPr lang="zh-CN" altLang="en-US" sz="1400" b="1" dirty="0">
                <a:solidFill>
                  <a:schemeClr val="bg1"/>
                </a:solidFill>
                <a:latin typeface="微软雅黑" pitchFamily="34" charset="-122"/>
                <a:ea typeface="微软雅黑" pitchFamily="34" charset="-122"/>
              </a:rPr>
              <a:t>、</a:t>
            </a:r>
            <a:r>
              <a:rPr lang="zh-CN" altLang="en-US" sz="1400" b="1" dirty="0">
                <a:solidFill>
                  <a:srgbClr val="FFC000"/>
                </a:solidFill>
                <a:latin typeface="微软雅黑" pitchFamily="34" charset="-122"/>
                <a:ea typeface="微软雅黑" pitchFamily="34" charset="-122"/>
              </a:rPr>
              <a:t>时间戳选项</a:t>
            </a:r>
            <a:r>
              <a:rPr lang="zh-CN" altLang="en-US" sz="1400" b="1" dirty="0">
                <a:solidFill>
                  <a:schemeClr val="bg1"/>
                </a:solidFill>
                <a:latin typeface="微软雅黑" pitchFamily="34" charset="-122"/>
                <a:ea typeface="微软雅黑" pitchFamily="34" charset="-122"/>
              </a:rPr>
              <a:t>等。以后又增加了有关</a:t>
            </a:r>
            <a:r>
              <a:rPr lang="zh-CN" altLang="en-US" sz="1400" b="1" dirty="0">
                <a:solidFill>
                  <a:srgbClr val="FFC000"/>
                </a:solidFill>
                <a:latin typeface="微软雅黑" pitchFamily="34" charset="-122"/>
                <a:ea typeface="微软雅黑" pitchFamily="34" charset="-122"/>
              </a:rPr>
              <a:t>选择性确认</a:t>
            </a:r>
            <a:r>
              <a:rPr lang="en-US" altLang="zh-CN" sz="1400" b="1" dirty="0">
                <a:solidFill>
                  <a:srgbClr val="FFC000"/>
                </a:solidFill>
                <a:latin typeface="微软雅黑" pitchFamily="34" charset="-122"/>
                <a:ea typeface="微软雅黑" pitchFamily="34" charset="-122"/>
              </a:rPr>
              <a:t>(SACK)</a:t>
            </a:r>
            <a:r>
              <a:rPr lang="zh-CN" altLang="en-US" sz="1400" b="1" dirty="0">
                <a:solidFill>
                  <a:srgbClr val="FFC000"/>
                </a:solidFill>
                <a:latin typeface="微软雅黑" pitchFamily="34" charset="-122"/>
                <a:ea typeface="微软雅黑" pitchFamily="34" charset="-122"/>
              </a:rPr>
              <a:t>选项</a:t>
            </a:r>
            <a:r>
              <a:rPr lang="zh-CN" altLang="en-US" sz="1400" b="1" dirty="0">
                <a:solidFill>
                  <a:schemeClr val="bg1"/>
                </a:solidFill>
                <a:latin typeface="微软雅黑" pitchFamily="34" charset="-122"/>
                <a:ea typeface="微软雅黑" pitchFamily="34" charset="-122"/>
              </a:rPr>
              <a:t>。</a:t>
            </a:r>
          </a:p>
        </p:txBody>
      </p:sp>
      <p:sp>
        <p:nvSpPr>
          <p:cNvPr id="84" name="Rectangle 104">
            <a:extLst>
              <a:ext uri="{FF2B5EF4-FFF2-40B4-BE49-F238E27FC236}">
                <a16:creationId xmlns:a16="http://schemas.microsoft.com/office/drawing/2014/main" id="{625CC7CD-2296-61F1-24C7-E4613F68994F}"/>
              </a:ext>
            </a:extLst>
          </p:cNvPr>
          <p:cNvSpPr>
            <a:spLocks noChangeArrowheads="1"/>
          </p:cNvSpPr>
          <p:nvPr/>
        </p:nvSpPr>
        <p:spPr bwMode="auto">
          <a:xfrm>
            <a:off x="2162578" y="3110963"/>
            <a:ext cx="3507503" cy="38116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3" name="组合 82">
            <a:extLst>
              <a:ext uri="{FF2B5EF4-FFF2-40B4-BE49-F238E27FC236}">
                <a16:creationId xmlns:a16="http://schemas.microsoft.com/office/drawing/2014/main" id="{A22DCDDB-4BFB-A74B-9DA4-FE5D43BF7BE9}"/>
              </a:ext>
            </a:extLst>
          </p:cNvPr>
          <p:cNvGrpSpPr/>
          <p:nvPr/>
        </p:nvGrpSpPr>
        <p:grpSpPr>
          <a:xfrm>
            <a:off x="1827330" y="782473"/>
            <a:ext cx="5158580" cy="374416"/>
            <a:chOff x="1827330" y="782473"/>
            <a:chExt cx="5158580" cy="374416"/>
          </a:xfrm>
        </p:grpSpPr>
        <p:sp>
          <p:nvSpPr>
            <p:cNvPr id="87" name="Line 37">
              <a:extLst>
                <a:ext uri="{FF2B5EF4-FFF2-40B4-BE49-F238E27FC236}">
                  <a16:creationId xmlns:a16="http://schemas.microsoft.com/office/drawing/2014/main" id="{E36D80E3-AF0A-589A-5F25-238FCEE47718}"/>
                </a:ext>
              </a:extLst>
            </p:cNvPr>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8">
              <a:extLst>
                <a:ext uri="{FF2B5EF4-FFF2-40B4-BE49-F238E27FC236}">
                  <a16:creationId xmlns:a16="http://schemas.microsoft.com/office/drawing/2014/main" id="{1A12DB23-FF8A-EF77-5CD6-26A7308D7104}"/>
                </a:ext>
              </a:extLst>
            </p:cNvPr>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39">
              <a:extLst>
                <a:ext uri="{FF2B5EF4-FFF2-40B4-BE49-F238E27FC236}">
                  <a16:creationId xmlns:a16="http://schemas.microsoft.com/office/drawing/2014/main" id="{42910BF1-3E8B-A1F7-BC5B-F0DD6E1E2315}"/>
                </a:ext>
              </a:extLst>
            </p:cNvPr>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0">
              <a:extLst>
                <a:ext uri="{FF2B5EF4-FFF2-40B4-BE49-F238E27FC236}">
                  <a16:creationId xmlns:a16="http://schemas.microsoft.com/office/drawing/2014/main" id="{F6539798-3452-76D5-77F8-9ACD6DD8DC18}"/>
                </a:ext>
              </a:extLst>
            </p:cNvPr>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1">
              <a:extLst>
                <a:ext uri="{FF2B5EF4-FFF2-40B4-BE49-F238E27FC236}">
                  <a16:creationId xmlns:a16="http://schemas.microsoft.com/office/drawing/2014/main" id="{269271DB-96BF-0A56-958B-66F0DCAC2C8C}"/>
                </a:ext>
              </a:extLst>
            </p:cNvPr>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2">
              <a:extLst>
                <a:ext uri="{FF2B5EF4-FFF2-40B4-BE49-F238E27FC236}">
                  <a16:creationId xmlns:a16="http://schemas.microsoft.com/office/drawing/2014/main" id="{ECA7E7A6-88BB-E8FA-06A9-7DE055E3D8BF}"/>
                </a:ext>
              </a:extLst>
            </p:cNvPr>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3">
              <a:extLst>
                <a:ext uri="{FF2B5EF4-FFF2-40B4-BE49-F238E27FC236}">
                  <a16:creationId xmlns:a16="http://schemas.microsoft.com/office/drawing/2014/main" id="{799DBEE8-4432-52FE-FBA7-7DF7EF381C94}"/>
                </a:ext>
              </a:extLst>
            </p:cNvPr>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4">
              <a:extLst>
                <a:ext uri="{FF2B5EF4-FFF2-40B4-BE49-F238E27FC236}">
                  <a16:creationId xmlns:a16="http://schemas.microsoft.com/office/drawing/2014/main" id="{F1E06A1B-794F-BCB6-A8EE-DA2BD8DA6AC5}"/>
                </a:ext>
              </a:extLst>
            </p:cNvPr>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5">
              <a:extLst>
                <a:ext uri="{FF2B5EF4-FFF2-40B4-BE49-F238E27FC236}">
                  <a16:creationId xmlns:a16="http://schemas.microsoft.com/office/drawing/2014/main" id="{C332DFCD-9714-E985-6932-43D6E2510C59}"/>
                </a:ext>
              </a:extLst>
            </p:cNvPr>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6">
              <a:extLst>
                <a:ext uri="{FF2B5EF4-FFF2-40B4-BE49-F238E27FC236}">
                  <a16:creationId xmlns:a16="http://schemas.microsoft.com/office/drawing/2014/main" id="{3B117F04-6E97-A88B-C7D9-CDEA69A10FD9}"/>
                </a:ext>
              </a:extLst>
            </p:cNvPr>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7">
              <a:extLst>
                <a:ext uri="{FF2B5EF4-FFF2-40B4-BE49-F238E27FC236}">
                  <a16:creationId xmlns:a16="http://schemas.microsoft.com/office/drawing/2014/main" id="{4E109DFE-AAAE-417B-9C85-6ECD9F1A97CD}"/>
                </a:ext>
              </a:extLst>
            </p:cNvPr>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8">
              <a:extLst>
                <a:ext uri="{FF2B5EF4-FFF2-40B4-BE49-F238E27FC236}">
                  <a16:creationId xmlns:a16="http://schemas.microsoft.com/office/drawing/2014/main" id="{918C3D56-63CC-DB82-09D5-DE26C3F85CBB}"/>
                </a:ext>
              </a:extLst>
            </p:cNvPr>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49">
              <a:extLst>
                <a:ext uri="{FF2B5EF4-FFF2-40B4-BE49-F238E27FC236}">
                  <a16:creationId xmlns:a16="http://schemas.microsoft.com/office/drawing/2014/main" id="{ED7E1156-E4AC-E458-27BE-9D3A0BFA06C4}"/>
                </a:ext>
              </a:extLst>
            </p:cNvPr>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0">
              <a:extLst>
                <a:ext uri="{FF2B5EF4-FFF2-40B4-BE49-F238E27FC236}">
                  <a16:creationId xmlns:a16="http://schemas.microsoft.com/office/drawing/2014/main" id="{893C844B-963B-B120-F908-5BCEC006675A}"/>
                </a:ext>
              </a:extLst>
            </p:cNvPr>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1">
              <a:extLst>
                <a:ext uri="{FF2B5EF4-FFF2-40B4-BE49-F238E27FC236}">
                  <a16:creationId xmlns:a16="http://schemas.microsoft.com/office/drawing/2014/main" id="{F9CBD693-1885-55B8-AEEB-7125914CE7A5}"/>
                </a:ext>
              </a:extLst>
            </p:cNvPr>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2">
              <a:extLst>
                <a:ext uri="{FF2B5EF4-FFF2-40B4-BE49-F238E27FC236}">
                  <a16:creationId xmlns:a16="http://schemas.microsoft.com/office/drawing/2014/main" id="{F32798C9-9CB6-308D-2C23-95CB9EAB6286}"/>
                </a:ext>
              </a:extLst>
            </p:cNvPr>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3">
              <a:extLst>
                <a:ext uri="{FF2B5EF4-FFF2-40B4-BE49-F238E27FC236}">
                  <a16:creationId xmlns:a16="http://schemas.microsoft.com/office/drawing/2014/main" id="{AB002075-F7B4-5806-84CD-D814B6177DEC}"/>
                </a:ext>
              </a:extLst>
            </p:cNvPr>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4">
              <a:extLst>
                <a:ext uri="{FF2B5EF4-FFF2-40B4-BE49-F238E27FC236}">
                  <a16:creationId xmlns:a16="http://schemas.microsoft.com/office/drawing/2014/main" id="{69491BA7-9D8B-7B41-B54B-8BBC651DD47B}"/>
                </a:ext>
              </a:extLst>
            </p:cNvPr>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5">
              <a:extLst>
                <a:ext uri="{FF2B5EF4-FFF2-40B4-BE49-F238E27FC236}">
                  <a16:creationId xmlns:a16="http://schemas.microsoft.com/office/drawing/2014/main" id="{A532DEC1-BBE6-7F42-1A70-E6EC28273233}"/>
                </a:ext>
              </a:extLst>
            </p:cNvPr>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6">
              <a:extLst>
                <a:ext uri="{FF2B5EF4-FFF2-40B4-BE49-F238E27FC236}">
                  <a16:creationId xmlns:a16="http://schemas.microsoft.com/office/drawing/2014/main" id="{9B99C3BD-7782-3A67-93A4-7BE015FA57C9}"/>
                </a:ext>
              </a:extLst>
            </p:cNvPr>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7">
              <a:extLst>
                <a:ext uri="{FF2B5EF4-FFF2-40B4-BE49-F238E27FC236}">
                  <a16:creationId xmlns:a16="http://schemas.microsoft.com/office/drawing/2014/main" id="{5177AB58-B48F-6E87-FDA1-598F480EC5D8}"/>
                </a:ext>
              </a:extLst>
            </p:cNvPr>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8">
              <a:extLst>
                <a:ext uri="{FF2B5EF4-FFF2-40B4-BE49-F238E27FC236}">
                  <a16:creationId xmlns:a16="http://schemas.microsoft.com/office/drawing/2014/main" id="{89BD78BC-38C5-1FB1-CD5D-72084BFC00C9}"/>
                </a:ext>
              </a:extLst>
            </p:cNvPr>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59">
              <a:extLst>
                <a:ext uri="{FF2B5EF4-FFF2-40B4-BE49-F238E27FC236}">
                  <a16:creationId xmlns:a16="http://schemas.microsoft.com/office/drawing/2014/main" id="{80BC2D4A-97AC-1302-BD1A-93C2A9AA5DB1}"/>
                </a:ext>
              </a:extLst>
            </p:cNvPr>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0">
              <a:extLst>
                <a:ext uri="{FF2B5EF4-FFF2-40B4-BE49-F238E27FC236}">
                  <a16:creationId xmlns:a16="http://schemas.microsoft.com/office/drawing/2014/main" id="{3D7DB227-E814-DFE2-70CE-68FDFB1DC363}"/>
                </a:ext>
              </a:extLst>
            </p:cNvPr>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1">
              <a:extLst>
                <a:ext uri="{FF2B5EF4-FFF2-40B4-BE49-F238E27FC236}">
                  <a16:creationId xmlns:a16="http://schemas.microsoft.com/office/drawing/2014/main" id="{EF955C55-8301-EFA7-188D-80CB355D2B9E}"/>
                </a:ext>
              </a:extLst>
            </p:cNvPr>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2">
              <a:extLst>
                <a:ext uri="{FF2B5EF4-FFF2-40B4-BE49-F238E27FC236}">
                  <a16:creationId xmlns:a16="http://schemas.microsoft.com/office/drawing/2014/main" id="{493E4067-C661-36C7-2730-35A92E3C48A7}"/>
                </a:ext>
              </a:extLst>
            </p:cNvPr>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3">
              <a:extLst>
                <a:ext uri="{FF2B5EF4-FFF2-40B4-BE49-F238E27FC236}">
                  <a16:creationId xmlns:a16="http://schemas.microsoft.com/office/drawing/2014/main" id="{C795AC45-12A9-A828-EF02-1085000CA3D6}"/>
                </a:ext>
              </a:extLst>
            </p:cNvPr>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4">
              <a:extLst>
                <a:ext uri="{FF2B5EF4-FFF2-40B4-BE49-F238E27FC236}">
                  <a16:creationId xmlns:a16="http://schemas.microsoft.com/office/drawing/2014/main" id="{ABBB2EFB-5A43-BAC5-A759-47833CE3D994}"/>
                </a:ext>
              </a:extLst>
            </p:cNvPr>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5">
              <a:extLst>
                <a:ext uri="{FF2B5EF4-FFF2-40B4-BE49-F238E27FC236}">
                  <a16:creationId xmlns:a16="http://schemas.microsoft.com/office/drawing/2014/main" id="{4908963A-70E2-77AC-676E-A49BAE3A806C}"/>
                </a:ext>
              </a:extLst>
            </p:cNvPr>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6">
              <a:extLst>
                <a:ext uri="{FF2B5EF4-FFF2-40B4-BE49-F238E27FC236}">
                  <a16:creationId xmlns:a16="http://schemas.microsoft.com/office/drawing/2014/main" id="{B60A70AA-8737-F4CB-8FC5-7E1B663FAB44}"/>
                </a:ext>
              </a:extLst>
            </p:cNvPr>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7">
              <a:extLst>
                <a:ext uri="{FF2B5EF4-FFF2-40B4-BE49-F238E27FC236}">
                  <a16:creationId xmlns:a16="http://schemas.microsoft.com/office/drawing/2014/main" id="{32E56B65-8B39-74E5-E01B-1465F611C214}"/>
                </a:ext>
              </a:extLst>
            </p:cNvPr>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8">
              <a:extLst>
                <a:ext uri="{FF2B5EF4-FFF2-40B4-BE49-F238E27FC236}">
                  <a16:creationId xmlns:a16="http://schemas.microsoft.com/office/drawing/2014/main" id="{99E8BBA8-CB8C-9105-EDD9-70FE23D57F69}"/>
                </a:ext>
              </a:extLst>
            </p:cNvPr>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69">
              <a:extLst>
                <a:ext uri="{FF2B5EF4-FFF2-40B4-BE49-F238E27FC236}">
                  <a16:creationId xmlns:a16="http://schemas.microsoft.com/office/drawing/2014/main" id="{64F8AAB6-D605-F35A-550E-1469F88161C2}"/>
                </a:ext>
              </a:extLst>
            </p:cNvPr>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70">
              <a:extLst>
                <a:ext uri="{FF2B5EF4-FFF2-40B4-BE49-F238E27FC236}">
                  <a16:creationId xmlns:a16="http://schemas.microsoft.com/office/drawing/2014/main" id="{5E5FB6B7-D226-3C36-3B2D-2C7028FBDC74}"/>
                </a:ext>
              </a:extLst>
            </p:cNvPr>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2" name="Line 98">
              <a:extLst>
                <a:ext uri="{FF2B5EF4-FFF2-40B4-BE49-F238E27FC236}">
                  <a16:creationId xmlns:a16="http://schemas.microsoft.com/office/drawing/2014/main" id="{742F31F7-B0BE-EE20-66BA-DB7BC2FE7D47}"/>
                </a:ext>
              </a:extLst>
            </p:cNvPr>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3" name="Rectangle 80">
              <a:extLst>
                <a:ext uri="{FF2B5EF4-FFF2-40B4-BE49-F238E27FC236}">
                  <a16:creationId xmlns:a16="http://schemas.microsoft.com/office/drawing/2014/main" id="{A9488329-5F87-9A59-37DC-01A5298823F1}"/>
                </a:ext>
              </a:extLst>
            </p:cNvPr>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a:extLst>
              <a:ext uri="{FF2B5EF4-FFF2-40B4-BE49-F238E27FC236}">
                <a16:creationId xmlns:a16="http://schemas.microsoft.com/office/drawing/2014/main" id="{34DCFC47-3206-F2B8-557A-2ECE32C6572D}"/>
              </a:ext>
            </a:extLst>
          </p:cNvPr>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2066687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fade">
                                      <p:cBhvr>
                                        <p:cTn id="7" dur="1000"/>
                                        <p:tgtEl>
                                          <p:spTgt spid="82"/>
                                        </p:tgtEl>
                                      </p:cBhvr>
                                    </p:animEffect>
                                    <p:anim calcmode="lin" valueType="num">
                                      <p:cBhvr>
                                        <p:cTn id="8" dur="1000" fill="hold"/>
                                        <p:tgtEl>
                                          <p:spTgt spid="82"/>
                                        </p:tgtEl>
                                        <p:attrNameLst>
                                          <p:attrName>ppt_x</p:attrName>
                                        </p:attrNameLst>
                                      </p:cBhvr>
                                      <p:tavLst>
                                        <p:tav tm="0">
                                          <p:val>
                                            <p:strVal val="#ppt_x"/>
                                          </p:val>
                                        </p:tav>
                                        <p:tav tm="100000">
                                          <p:val>
                                            <p:strVal val="#ppt_x"/>
                                          </p:val>
                                        </p:tav>
                                      </p:tavLst>
                                    </p:anim>
                                    <p:anim calcmode="lin" valueType="num">
                                      <p:cBhvr>
                                        <p:cTn id="9" dur="1000" fill="hold"/>
                                        <p:tgtEl>
                                          <p:spTgt spid="8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594E2-B3AF-548F-8047-9038B6B69528}"/>
            </a:ext>
          </a:extLst>
        </p:cNvPr>
        <p:cNvGrpSpPr/>
        <p:nvPr/>
      </p:nvGrpSpPr>
      <p:grpSpPr>
        <a:xfrm>
          <a:off x="0" y="0"/>
          <a:ext cx="0" cy="0"/>
          <a:chOff x="0" y="0"/>
          <a:chExt cx="0" cy="0"/>
        </a:xfrm>
      </p:grpSpPr>
      <p:sp>
        <p:nvSpPr>
          <p:cNvPr id="2" name="AutoShape 5">
            <a:extLst>
              <a:ext uri="{FF2B5EF4-FFF2-40B4-BE49-F238E27FC236}">
                <a16:creationId xmlns:a16="http://schemas.microsoft.com/office/drawing/2014/main" id="{38A31039-2E75-767C-4CC9-554C2378343C}"/>
              </a:ext>
            </a:extLst>
          </p:cNvPr>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a:extLst>
              <a:ext uri="{FF2B5EF4-FFF2-40B4-BE49-F238E27FC236}">
                <a16:creationId xmlns:a16="http://schemas.microsoft.com/office/drawing/2014/main" id="{A4861634-8489-AFA8-989F-C531D078B2AF}"/>
              </a:ext>
            </a:extLst>
          </p:cNvPr>
          <p:cNvSpPr>
            <a:spLocks noChangeArrowheads="1"/>
          </p:cNvSpPr>
          <p:nvPr/>
        </p:nvSpPr>
        <p:spPr bwMode="auto">
          <a:xfrm>
            <a:off x="3719574" y="587638"/>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窗口扩大选项</a:t>
            </a:r>
          </a:p>
        </p:txBody>
      </p:sp>
      <p:sp>
        <p:nvSpPr>
          <p:cNvPr id="4" name="Rectangle 8">
            <a:extLst>
              <a:ext uri="{FF2B5EF4-FFF2-40B4-BE49-F238E27FC236}">
                <a16:creationId xmlns:a16="http://schemas.microsoft.com/office/drawing/2014/main" id="{40F67410-1308-10FC-85CC-07A5816ECAF9}"/>
              </a:ext>
            </a:extLst>
          </p:cNvPr>
          <p:cNvSpPr>
            <a:spLocks noChangeArrowheads="1"/>
          </p:cNvSpPr>
          <p:nvPr/>
        </p:nvSpPr>
        <p:spPr bwMode="auto">
          <a:xfrm>
            <a:off x="556963" y="986547"/>
            <a:ext cx="8048776" cy="3519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用于扩大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的窗口大小。</a:t>
            </a:r>
            <a:endParaRPr lang="en-US" altLang="zh-CN" sz="2000"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en-US" altLang="zh-CN" sz="2000" b="1" dirty="0">
                <a:latin typeface="微软雅黑" pitchFamily="34" charset="-122"/>
                <a:ea typeface="微软雅黑" pitchFamily="34" charset="-122"/>
              </a:rPr>
              <a:t>TCP</a:t>
            </a:r>
            <a:r>
              <a:rPr lang="zh-CN" altLang="en-US" sz="2000" b="1" dirty="0">
                <a:latin typeface="微软雅黑" pitchFamily="34" charset="-122"/>
                <a:ea typeface="微软雅黑" pitchFamily="34" charset="-122"/>
              </a:rPr>
              <a:t>首部中窗口字段长度是</a:t>
            </a:r>
            <a:r>
              <a:rPr lang="en-US" altLang="zh-CN" sz="2000" b="1" dirty="0">
                <a:latin typeface="微软雅黑" pitchFamily="34" charset="-122"/>
                <a:ea typeface="微软雅黑" pitchFamily="34" charset="-122"/>
              </a:rPr>
              <a:t>16</a:t>
            </a:r>
            <a:r>
              <a:rPr lang="zh-CN" altLang="en-US" sz="2000" b="1" dirty="0">
                <a:latin typeface="微软雅黑" pitchFamily="34" charset="-122"/>
                <a:ea typeface="微软雅黑" pitchFamily="34" charset="-122"/>
              </a:rPr>
              <a:t>位，因此最大的窗口大小为</a:t>
            </a:r>
            <a:r>
              <a:rPr lang="en-US" altLang="zh-CN" sz="2000" b="1" dirty="0">
                <a:latin typeface="微软雅黑" pitchFamily="34" charset="-122"/>
                <a:ea typeface="微软雅黑" pitchFamily="34" charset="-122"/>
              </a:rPr>
              <a:t>2</a:t>
            </a:r>
            <a:r>
              <a:rPr lang="en-US" altLang="zh-CN" sz="2000" b="1" baseline="30000" dirty="0">
                <a:latin typeface="微软雅黑" pitchFamily="34" charset="-122"/>
                <a:ea typeface="微软雅黑" pitchFamily="34" charset="-122"/>
              </a:rPr>
              <a:t>16</a:t>
            </a:r>
            <a:r>
              <a:rPr lang="en-US" altLang="zh-CN" sz="2000" b="1" dirty="0">
                <a:latin typeface="微软雅黑" pitchFamily="34" charset="-122"/>
                <a:ea typeface="微软雅黑" pitchFamily="34" charset="-122"/>
              </a:rPr>
              <a:t> – 1 = 65535 </a:t>
            </a:r>
            <a:r>
              <a:rPr lang="zh-CN" altLang="en-US" sz="2000" b="1" dirty="0">
                <a:latin typeface="微软雅黑" pitchFamily="34" charset="-122"/>
                <a:ea typeface="微软雅黑" pitchFamily="34" charset="-122"/>
              </a:rPr>
              <a:t>字节。虽然这对早期的网络是足够用的，但对于现代的长距离高速网络，要获得高吞吐率就需要</a:t>
            </a:r>
            <a:r>
              <a:rPr lang="zh-CN" altLang="en-US" sz="2000" b="1" dirty="0">
                <a:solidFill>
                  <a:srgbClr val="0000FF"/>
                </a:solidFill>
                <a:latin typeface="微软雅黑" pitchFamily="34" charset="-122"/>
                <a:ea typeface="微软雅黑" pitchFamily="34" charset="-122"/>
              </a:rPr>
              <a:t>扩大窗口</a:t>
            </a:r>
            <a:r>
              <a:rPr lang="zh-CN" altLang="en-US" sz="2000" b="1" dirty="0">
                <a:latin typeface="微软雅黑" pitchFamily="34" charset="-122"/>
                <a:ea typeface="微软雅黑" pitchFamily="34" charset="-122"/>
              </a:rPr>
              <a:t>的数值。</a:t>
            </a:r>
            <a:endParaRPr lang="en-US" altLang="zh-CN" sz="2000"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窗口扩大选项占</a:t>
            </a:r>
            <a:r>
              <a:rPr lang="en-US" altLang="zh-CN" sz="2000" b="1" dirty="0">
                <a:latin typeface="微软雅黑" pitchFamily="34" charset="-122"/>
                <a:ea typeface="微软雅黑" pitchFamily="34" charset="-122"/>
              </a:rPr>
              <a:t>3</a:t>
            </a:r>
            <a:r>
              <a:rPr lang="zh-CN" altLang="en-US" sz="2000" b="1" dirty="0">
                <a:latin typeface="微软雅黑" pitchFamily="34" charset="-122"/>
                <a:ea typeface="微软雅黑" pitchFamily="34" charset="-122"/>
              </a:rPr>
              <a:t>字节，其中有一个字节表示</a:t>
            </a:r>
            <a:r>
              <a:rPr lang="zh-CN" altLang="en-US" sz="2000" b="1" dirty="0">
                <a:solidFill>
                  <a:srgbClr val="0000FF"/>
                </a:solidFill>
                <a:latin typeface="微软雅黑" pitchFamily="34" charset="-122"/>
                <a:ea typeface="微软雅黑" pitchFamily="34" charset="-122"/>
              </a:rPr>
              <a:t>移位值</a:t>
            </a:r>
            <a:r>
              <a:rPr lang="en-US" altLang="zh-CN" sz="2000" b="1" dirty="0">
                <a:solidFill>
                  <a:srgbClr val="0000FF"/>
                </a:solidFill>
                <a:latin typeface="微软雅黑" pitchFamily="34" charset="-122"/>
                <a:ea typeface="微软雅黑" pitchFamily="34" charset="-122"/>
              </a:rPr>
              <a:t>S</a:t>
            </a:r>
            <a:r>
              <a:rPr lang="zh-CN" altLang="en-US" sz="2000" b="1" dirty="0">
                <a:latin typeface="微软雅黑" pitchFamily="34" charset="-122"/>
                <a:ea typeface="微软雅黑" pitchFamily="34" charset="-122"/>
              </a:rPr>
              <a:t>。当使用窗口扩大选项时，实际</a:t>
            </a:r>
            <a:r>
              <a:rPr lang="zh-CN" altLang="en-US" sz="2000" b="1" dirty="0">
                <a:solidFill>
                  <a:srgbClr val="0000FF"/>
                </a:solidFill>
                <a:latin typeface="微软雅黑" pitchFamily="34" charset="-122"/>
                <a:ea typeface="微软雅黑" pitchFamily="34" charset="-122"/>
              </a:rPr>
              <a:t>窗口大小</a:t>
            </a:r>
            <a:r>
              <a:rPr lang="en-US" altLang="zh-CN" sz="2000" b="1" dirty="0">
                <a:solidFill>
                  <a:srgbClr val="0000FF"/>
                </a:solidFill>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窗口字段</a:t>
            </a:r>
            <a:r>
              <a:rPr lang="en-US" altLang="zh-CN" sz="2000" b="1" dirty="0">
                <a:solidFill>
                  <a:srgbClr val="0000FF"/>
                </a:solidFill>
                <a:latin typeface="微软雅黑" pitchFamily="34" charset="-122"/>
                <a:ea typeface="微软雅黑" pitchFamily="34" charset="-122"/>
              </a:rPr>
              <a:t>×2</a:t>
            </a:r>
            <a:r>
              <a:rPr lang="en-US" altLang="zh-CN" sz="2000" b="1" baseline="30000" dirty="0">
                <a:solidFill>
                  <a:srgbClr val="0000FF"/>
                </a:solidFill>
                <a:latin typeface="微软雅黑" pitchFamily="34" charset="-122"/>
                <a:ea typeface="微软雅黑" pitchFamily="34" charset="-122"/>
              </a:rPr>
              <a:t>S</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移位值</a:t>
            </a:r>
            <a:r>
              <a:rPr lang="en-US" altLang="zh-CN" sz="2000" b="1" dirty="0">
                <a:latin typeface="微软雅黑" pitchFamily="34" charset="-122"/>
                <a:ea typeface="微软雅黑" pitchFamily="34" charset="-122"/>
              </a:rPr>
              <a:t>S</a:t>
            </a:r>
            <a:r>
              <a:rPr lang="zh-CN" altLang="en-US" sz="2000" b="1" dirty="0">
                <a:latin typeface="微软雅黑" pitchFamily="34" charset="-122"/>
                <a:ea typeface="微软雅黑" pitchFamily="34" charset="-122"/>
              </a:rPr>
              <a:t>的最大值只允许是</a:t>
            </a:r>
            <a:r>
              <a:rPr lang="en-US" altLang="zh-CN" sz="2000" b="1" dirty="0">
                <a:latin typeface="微软雅黑" pitchFamily="34" charset="-122"/>
                <a:ea typeface="微软雅黑" pitchFamily="34" charset="-122"/>
              </a:rPr>
              <a:t>14</a:t>
            </a:r>
            <a:r>
              <a:rPr lang="zh-CN" altLang="en-US" sz="2000" b="1" dirty="0">
                <a:latin typeface="微软雅黑" pitchFamily="34" charset="-122"/>
                <a:ea typeface="微软雅黑" pitchFamily="34" charset="-122"/>
              </a:rPr>
              <a:t>。所以使用窗口扩大选项后，窗口最大值增大到</a:t>
            </a:r>
            <a:r>
              <a:rPr lang="en-US" altLang="zh-CN" sz="2000" b="1" dirty="0">
                <a:latin typeface="微软雅黑" pitchFamily="34" charset="-122"/>
                <a:ea typeface="微软雅黑" pitchFamily="34" charset="-122"/>
              </a:rPr>
              <a:t>65535×2</a:t>
            </a:r>
            <a:r>
              <a:rPr lang="en-US" altLang="zh-CN" sz="2000" b="1" baseline="30000" dirty="0">
                <a:latin typeface="微软雅黑" pitchFamily="34" charset="-122"/>
                <a:ea typeface="微软雅黑" pitchFamily="34" charset="-122"/>
              </a:rPr>
              <a:t>14 </a:t>
            </a:r>
            <a:r>
              <a:rPr lang="zh-CN" altLang="en-US" sz="2000" b="1" dirty="0">
                <a:latin typeface="微软雅黑" pitchFamily="34" charset="-122"/>
                <a:ea typeface="微软雅黑" pitchFamily="34" charset="-122"/>
              </a:rPr>
              <a:t>字节，已经超过 </a:t>
            </a:r>
            <a:r>
              <a:rPr lang="en-US" altLang="zh-CN" sz="2000" b="1" dirty="0">
                <a:latin typeface="微软雅黑" pitchFamily="34" charset="-122"/>
                <a:ea typeface="微软雅黑" pitchFamily="34" charset="-122"/>
              </a:rPr>
              <a:t>1 GB</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窗口扩大选项可以在双方初始建立</a:t>
            </a:r>
            <a:r>
              <a:rPr lang="en-US" altLang="zh-CN" sz="2000" b="1" dirty="0">
                <a:latin typeface="微软雅黑" pitchFamily="34" charset="-122"/>
                <a:ea typeface="微软雅黑" pitchFamily="34" charset="-122"/>
              </a:rPr>
              <a:t>TCP</a:t>
            </a:r>
            <a:r>
              <a:rPr lang="zh-CN" altLang="en-US" sz="2000" b="1" dirty="0">
                <a:latin typeface="微软雅黑" pitchFamily="34" charset="-122"/>
                <a:ea typeface="微软雅黑" pitchFamily="34" charset="-122"/>
              </a:rPr>
              <a:t>连接时确定。</a:t>
            </a:r>
            <a:endParaRPr lang="en-US" altLang="zh-CN" sz="2000" b="1" dirty="0">
              <a:latin typeface="微软雅黑" pitchFamily="34" charset="-122"/>
              <a:ea typeface="微软雅黑" pitchFamily="34" charset="-122"/>
            </a:endParaRPr>
          </a:p>
        </p:txBody>
      </p:sp>
    </p:spTree>
    <p:extLst>
      <p:ext uri="{BB962C8B-B14F-4D97-AF65-F5344CB8AC3E}">
        <p14:creationId xmlns:p14="http://schemas.microsoft.com/office/powerpoint/2010/main" val="3445421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1000"/>
                                        <p:tgtEl>
                                          <p:spTgt spid="4">
                                            <p:txEl>
                                              <p:pRg st="4" end="4"/>
                                            </p:txEl>
                                          </p:spTgt>
                                        </p:tgtEl>
                                      </p:cBhvr>
                                    </p:animEffect>
                                    <p:anim calcmode="lin" valueType="num">
                                      <p:cBhvr>
                                        <p:cTn id="3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847812" y="587638"/>
            <a:ext cx="14670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时间戳选项</a:t>
            </a:r>
          </a:p>
        </p:txBody>
      </p:sp>
      <p:sp>
        <p:nvSpPr>
          <p:cNvPr id="4" name="Rectangle 8"/>
          <p:cNvSpPr>
            <a:spLocks noChangeArrowheads="1"/>
          </p:cNvSpPr>
          <p:nvPr/>
        </p:nvSpPr>
        <p:spPr bwMode="auto">
          <a:xfrm>
            <a:off x="556963" y="986547"/>
            <a:ext cx="8048776" cy="32567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占 </a:t>
            </a:r>
            <a:r>
              <a:rPr lang="en-US" altLang="zh-CN" sz="2000" b="1" dirty="0">
                <a:latin typeface="微软雅黑" pitchFamily="34" charset="-122"/>
                <a:ea typeface="微软雅黑" pitchFamily="34" charset="-122"/>
              </a:rPr>
              <a:t>10 </a:t>
            </a:r>
            <a:r>
              <a:rPr lang="zh-CN" altLang="en-US" sz="2000" b="1" dirty="0">
                <a:latin typeface="微软雅黑" pitchFamily="34" charset="-122"/>
                <a:ea typeface="微软雅黑" pitchFamily="34" charset="-122"/>
              </a:rPr>
              <a:t>字节。最主要的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个字段：</a:t>
            </a:r>
            <a:endParaRPr lang="en-US" altLang="zh-CN" sz="2000" b="1" dirty="0">
              <a:latin typeface="微软雅黑" pitchFamily="34" charset="-122"/>
              <a:ea typeface="微软雅黑" pitchFamily="34" charset="-122"/>
            </a:endParaRPr>
          </a:p>
          <a:p>
            <a:pPr>
              <a:lnSpc>
                <a:spcPts val="3000"/>
              </a:lnSpc>
              <a:buClr>
                <a:srgbClr val="0070C0"/>
              </a:buClr>
            </a:pPr>
            <a:r>
              <a:rPr lang="en-US" altLang="zh-CN" sz="2000" b="1" dirty="0">
                <a:latin typeface="微软雅黑" pitchFamily="34" charset="-122"/>
                <a:ea typeface="微软雅黑" pitchFamily="34" charset="-122"/>
              </a:rPr>
              <a:t>	</a:t>
            </a:r>
            <a:r>
              <a:rPr lang="zh-CN" altLang="en-US" sz="2000" b="1" dirty="0">
                <a:solidFill>
                  <a:srgbClr val="0000CC"/>
                </a:solidFill>
                <a:latin typeface="微软雅黑" pitchFamily="34" charset="-122"/>
                <a:ea typeface="微软雅黑" pitchFamily="34" charset="-122"/>
              </a:rPr>
              <a:t>时间戳值字段</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4</a:t>
            </a:r>
            <a:r>
              <a:rPr lang="zh-CN" altLang="en-US" sz="2000" b="1" dirty="0">
                <a:latin typeface="微软雅黑" pitchFamily="34" charset="-122"/>
                <a:ea typeface="微软雅黑" pitchFamily="34" charset="-122"/>
              </a:rPr>
              <a:t>字节）和</a:t>
            </a:r>
            <a:r>
              <a:rPr lang="zh-CN" altLang="en-US" sz="2000" b="1" dirty="0">
                <a:solidFill>
                  <a:srgbClr val="0000CC"/>
                </a:solidFill>
                <a:latin typeface="微软雅黑" pitchFamily="34" charset="-122"/>
                <a:ea typeface="微软雅黑" pitchFamily="34" charset="-122"/>
              </a:rPr>
              <a:t>时间戳回送回答</a:t>
            </a:r>
            <a:r>
              <a:rPr lang="zh-CN" altLang="en-US" sz="2000" b="1" dirty="0">
                <a:latin typeface="微软雅黑" pitchFamily="34" charset="-122"/>
                <a:ea typeface="微软雅黑" pitchFamily="34" charset="-122"/>
              </a:rPr>
              <a:t>字段（</a:t>
            </a:r>
            <a:r>
              <a:rPr lang="en-US" altLang="zh-CN" sz="2000" b="1" dirty="0">
                <a:latin typeface="微软雅黑" pitchFamily="34" charset="-122"/>
                <a:ea typeface="微软雅黑" pitchFamily="34" charset="-122"/>
              </a:rPr>
              <a:t>4</a:t>
            </a:r>
            <a:r>
              <a:rPr lang="zh-CN" altLang="en-US" sz="2000" b="1" dirty="0">
                <a:latin typeface="微软雅黑" pitchFamily="34" charset="-122"/>
                <a:ea typeface="微软雅黑" pitchFamily="34" charset="-122"/>
              </a:rPr>
              <a:t>字节）。</a:t>
            </a:r>
            <a:endParaRPr lang="en-US" altLang="zh-CN" sz="2000"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个主要功能：</a:t>
            </a:r>
            <a:endParaRPr lang="en-US" altLang="zh-CN" sz="2000" b="1" dirty="0">
              <a:latin typeface="微软雅黑" pitchFamily="34" charset="-122"/>
              <a:ea typeface="微软雅黑" pitchFamily="34" charset="-122"/>
            </a:endParaRPr>
          </a:p>
          <a:p>
            <a:pPr marL="633413" indent="-342900">
              <a:lnSpc>
                <a:spcPts val="3200"/>
              </a:lnSpc>
              <a:buClr>
                <a:srgbClr val="7030A0"/>
              </a:buClr>
              <a:buFont typeface="+mj-lt"/>
              <a:buAutoNum type="arabicPeriod"/>
            </a:pPr>
            <a:r>
              <a:rPr lang="zh-CN" altLang="en-US" sz="2000" b="1" dirty="0">
                <a:latin typeface="微软雅黑" pitchFamily="34" charset="-122"/>
                <a:ea typeface="微软雅黑" pitchFamily="34" charset="-122"/>
              </a:rPr>
              <a:t>计算往返时间 </a:t>
            </a:r>
            <a:r>
              <a:rPr lang="en-US" altLang="zh-CN" sz="2000" b="1" dirty="0">
                <a:latin typeface="微软雅黑" pitchFamily="34" charset="-122"/>
                <a:ea typeface="微软雅黑" pitchFamily="34" charset="-122"/>
              </a:rPr>
              <a:t>RTT</a:t>
            </a:r>
            <a:r>
              <a:rPr lang="zh-CN" altLang="en-US" sz="2000" b="1" dirty="0">
                <a:latin typeface="微软雅黑" pitchFamily="34" charset="-122"/>
                <a:ea typeface="微软雅黑" pitchFamily="34" charset="-122"/>
              </a:rPr>
              <a:t>。发送报文段时携带时间戳值字段，确认时把时间戳字段值复制到时间戳回送回答字段，发送方在收到确认后，将当前时间减回送的时间戳可更准确地计算出往返时间</a:t>
            </a:r>
            <a:r>
              <a:rPr lang="en-US" altLang="zh-CN" sz="2000" b="1" dirty="0">
                <a:latin typeface="微软雅黑" pitchFamily="34" charset="-122"/>
                <a:ea typeface="微软雅黑" pitchFamily="34" charset="-122"/>
              </a:rPr>
              <a:t>RTT</a:t>
            </a:r>
            <a:r>
              <a:rPr lang="zh-CN" altLang="en-US" sz="2000" b="1" dirty="0">
                <a:latin typeface="微软雅黑" pitchFamily="34" charset="-122"/>
                <a:ea typeface="微软雅黑" pitchFamily="34" charset="-122"/>
              </a:rPr>
              <a:t>来。</a:t>
            </a:r>
            <a:endParaRPr lang="en-US" altLang="zh-CN" sz="2000" b="1" dirty="0">
              <a:latin typeface="微软雅黑" pitchFamily="34" charset="-122"/>
              <a:ea typeface="微软雅黑" pitchFamily="34" charset="-122"/>
            </a:endParaRPr>
          </a:p>
          <a:p>
            <a:pPr marL="633413" indent="-342900">
              <a:lnSpc>
                <a:spcPts val="3200"/>
              </a:lnSpc>
              <a:buClr>
                <a:srgbClr val="7030A0"/>
              </a:buClr>
              <a:buFont typeface="+mj-lt"/>
              <a:buAutoNum type="arabicPeriod"/>
            </a:pPr>
            <a:r>
              <a:rPr lang="zh-CN" altLang="en-US" sz="2000" b="1" dirty="0">
                <a:latin typeface="微软雅黑" pitchFamily="34" charset="-122"/>
                <a:ea typeface="微软雅黑" pitchFamily="34" charset="-122"/>
              </a:rPr>
              <a:t>防止序号绕回。序号重复使用时，为了使接收方能够把</a:t>
            </a:r>
            <a:r>
              <a:rPr lang="zh-CN" altLang="en-US" sz="2000" b="1" dirty="0">
                <a:solidFill>
                  <a:srgbClr val="C00000"/>
                </a:solidFill>
                <a:latin typeface="微软雅黑" pitchFamily="34" charset="-122"/>
                <a:ea typeface="微软雅黑" pitchFamily="34" charset="-122"/>
              </a:rPr>
              <a:t>新报文段</a:t>
            </a:r>
            <a:r>
              <a:rPr lang="zh-CN" altLang="en-US" sz="2000" b="1" dirty="0">
                <a:latin typeface="微软雅黑" pitchFamily="34" charset="-122"/>
                <a:ea typeface="微软雅黑" pitchFamily="34" charset="-122"/>
              </a:rPr>
              <a:t>和迟到很久的</a:t>
            </a:r>
            <a:r>
              <a:rPr lang="zh-CN" altLang="en-US" sz="2000" b="1" dirty="0">
                <a:solidFill>
                  <a:srgbClr val="C00000"/>
                </a:solidFill>
                <a:latin typeface="微软雅黑" pitchFamily="34" charset="-122"/>
                <a:ea typeface="微软雅黑" pitchFamily="34" charset="-122"/>
              </a:rPr>
              <a:t>旧报文段</a:t>
            </a:r>
            <a:r>
              <a:rPr lang="zh-CN" altLang="en-US" sz="2000" b="1" dirty="0">
                <a:latin typeface="微软雅黑" pitchFamily="34" charset="-122"/>
                <a:ea typeface="微软雅黑" pitchFamily="34" charset="-122"/>
              </a:rPr>
              <a:t>区分开，可以在报文段中加上时间戳。</a:t>
            </a:r>
            <a:endParaRPr lang="en-US" altLang="zh-CN" sz="2000" b="1" dirty="0">
              <a:latin typeface="微软雅黑" pitchFamily="34" charset="-122"/>
              <a:ea typeface="微软雅黑" pitchFamily="34" charset="-122"/>
            </a:endParaRPr>
          </a:p>
        </p:txBody>
      </p:sp>
    </p:spTree>
    <p:extLst>
      <p:ext uri="{BB962C8B-B14F-4D97-AF65-F5344CB8AC3E}">
        <p14:creationId xmlns:p14="http://schemas.microsoft.com/office/powerpoint/2010/main" val="95755087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a:spLocks noChangeArrowheads="1"/>
          </p:cNvSpPr>
          <p:nvPr/>
        </p:nvSpPr>
        <p:spPr bwMode="auto">
          <a:xfrm>
            <a:off x="2629135" y="2607249"/>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3" name="Rectangle 9"/>
          <p:cNvSpPr>
            <a:spLocks noChangeArrowheads="1"/>
          </p:cNvSpPr>
          <p:nvPr/>
        </p:nvSpPr>
        <p:spPr bwMode="auto">
          <a:xfrm>
            <a:off x="2629135" y="1404945"/>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4" name="Rectangle 10"/>
          <p:cNvSpPr>
            <a:spLocks noChangeArrowheads="1"/>
          </p:cNvSpPr>
          <p:nvPr/>
        </p:nvSpPr>
        <p:spPr bwMode="auto">
          <a:xfrm>
            <a:off x="2629135" y="2011370"/>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5" name="Line 16"/>
          <p:cNvSpPr>
            <a:spLocks noChangeShapeType="1"/>
          </p:cNvSpPr>
          <p:nvPr/>
        </p:nvSpPr>
        <p:spPr bwMode="auto">
          <a:xfrm>
            <a:off x="3637198" y="1333507"/>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 name="Rectangle 8"/>
          <p:cNvSpPr>
            <a:spLocks noChangeArrowheads="1"/>
          </p:cNvSpPr>
          <p:nvPr/>
        </p:nvSpPr>
        <p:spPr bwMode="auto">
          <a:xfrm>
            <a:off x="2700573" y="1150945"/>
            <a:ext cx="5585588" cy="1846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5.6.1                                      TCP </a:t>
            </a:r>
            <a:r>
              <a:rPr lang="zh-CN" altLang="en-US" sz="2000" b="1" dirty="0">
                <a:solidFill>
                  <a:schemeClr val="bg1"/>
                </a:solidFill>
                <a:latin typeface="微软雅黑" pitchFamily="34" charset="-122"/>
                <a:ea typeface="微软雅黑" pitchFamily="34" charset="-122"/>
              </a:rPr>
              <a:t>的连接建立</a:t>
            </a:r>
          </a:p>
          <a:p>
            <a:pPr eaLnBrk="0" hangingPunct="0">
              <a:lnSpc>
                <a:spcPct val="200000"/>
              </a:lnSpc>
            </a:pPr>
            <a:r>
              <a:rPr lang="en-US" altLang="zh-CN" sz="2000" b="1" dirty="0">
                <a:solidFill>
                  <a:schemeClr val="bg1"/>
                </a:solidFill>
                <a:latin typeface="微软雅黑" pitchFamily="34" charset="-122"/>
                <a:ea typeface="微软雅黑" pitchFamily="34" charset="-122"/>
              </a:rPr>
              <a:t>5.6.2                                      TCP </a:t>
            </a:r>
            <a:r>
              <a:rPr lang="zh-CN" altLang="en-US" sz="2000" b="1" dirty="0">
                <a:solidFill>
                  <a:schemeClr val="bg1"/>
                </a:solidFill>
                <a:latin typeface="微软雅黑" pitchFamily="34" charset="-122"/>
                <a:ea typeface="微软雅黑" pitchFamily="34" charset="-122"/>
              </a:rPr>
              <a:t>的连接释放</a:t>
            </a:r>
          </a:p>
          <a:p>
            <a:pPr eaLnBrk="0" hangingPunct="0">
              <a:lnSpc>
                <a:spcPct val="200000"/>
              </a:lnSpc>
            </a:pPr>
            <a:r>
              <a:rPr lang="en-US" altLang="zh-CN" sz="2000" b="1" dirty="0">
                <a:solidFill>
                  <a:schemeClr val="bg1"/>
                </a:solidFill>
                <a:latin typeface="微软雅黑" pitchFamily="34" charset="-122"/>
                <a:ea typeface="微软雅黑" pitchFamily="34" charset="-122"/>
              </a:rPr>
              <a:t>5.6.3                      TCP </a:t>
            </a:r>
            <a:r>
              <a:rPr lang="zh-CN" altLang="en-US" sz="2000" b="1" dirty="0">
                <a:solidFill>
                  <a:schemeClr val="bg1"/>
                </a:solidFill>
                <a:latin typeface="微软雅黑" pitchFamily="34" charset="-122"/>
                <a:ea typeface="微软雅黑" pitchFamily="34" charset="-122"/>
              </a:rPr>
              <a:t>的连接管理有限状态机</a:t>
            </a:r>
          </a:p>
        </p:txBody>
      </p:sp>
      <p:sp>
        <p:nvSpPr>
          <p:cNvPr id="7" name="Rectangle 27"/>
          <p:cNvSpPr>
            <a:spLocks noChangeArrowheads="1"/>
          </p:cNvSpPr>
          <p:nvPr/>
        </p:nvSpPr>
        <p:spPr bwMode="auto">
          <a:xfrm>
            <a:off x="639730" y="1404945"/>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8" name="Rectangle 29"/>
          <p:cNvSpPr>
            <a:spLocks noChangeArrowheads="1"/>
          </p:cNvSpPr>
          <p:nvPr/>
        </p:nvSpPr>
        <p:spPr bwMode="auto">
          <a:xfrm>
            <a:off x="648619" y="1499877"/>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5.6</a:t>
            </a:r>
          </a:p>
          <a:p>
            <a:pPr eaLnBrk="0" hangingPunct="0"/>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的传输连接管理</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86263196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67821-AE0D-014B-C331-D0458F2C639A}"/>
            </a:ext>
          </a:extLst>
        </p:cNvPr>
        <p:cNvGrpSpPr/>
        <p:nvPr/>
      </p:nvGrpSpPr>
      <p:grpSpPr>
        <a:xfrm>
          <a:off x="0" y="0"/>
          <a:ext cx="0" cy="0"/>
          <a:chOff x="0" y="0"/>
          <a:chExt cx="0" cy="0"/>
        </a:xfrm>
      </p:grpSpPr>
      <p:sp>
        <p:nvSpPr>
          <p:cNvPr id="2" name="AutoShape 5">
            <a:extLst>
              <a:ext uri="{FF2B5EF4-FFF2-40B4-BE49-F238E27FC236}">
                <a16:creationId xmlns:a16="http://schemas.microsoft.com/office/drawing/2014/main" id="{847C99F6-450C-25A4-D065-80971F7DDB9F}"/>
              </a:ext>
            </a:extLst>
          </p:cNvPr>
          <p:cNvSpPr>
            <a:spLocks noChangeArrowheads="1"/>
          </p:cNvSpPr>
          <p:nvPr/>
        </p:nvSpPr>
        <p:spPr bwMode="auto">
          <a:xfrm>
            <a:off x="545143" y="621855"/>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a:extLst>
              <a:ext uri="{FF2B5EF4-FFF2-40B4-BE49-F238E27FC236}">
                <a16:creationId xmlns:a16="http://schemas.microsoft.com/office/drawing/2014/main" id="{DD0B0A10-9A51-8BA3-6B44-E097505789EF}"/>
              </a:ext>
            </a:extLst>
          </p:cNvPr>
          <p:cNvSpPr>
            <a:spLocks noChangeArrowheads="1"/>
          </p:cNvSpPr>
          <p:nvPr/>
        </p:nvSpPr>
        <p:spPr bwMode="auto">
          <a:xfrm>
            <a:off x="2906740" y="579584"/>
            <a:ext cx="33305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5.6.1  TCP </a:t>
            </a:r>
            <a:r>
              <a:rPr lang="zh-CN" altLang="en-US" sz="2400" b="1" dirty="0">
                <a:solidFill>
                  <a:schemeClr val="bg1"/>
                </a:solidFill>
                <a:latin typeface="微软雅黑" pitchFamily="34" charset="-122"/>
                <a:ea typeface="微软雅黑" pitchFamily="34" charset="-122"/>
              </a:rPr>
              <a:t>的连接建立</a:t>
            </a:r>
          </a:p>
        </p:txBody>
      </p:sp>
      <p:sp>
        <p:nvSpPr>
          <p:cNvPr id="4" name="Rectangle 8">
            <a:extLst>
              <a:ext uri="{FF2B5EF4-FFF2-40B4-BE49-F238E27FC236}">
                <a16:creationId xmlns:a16="http://schemas.microsoft.com/office/drawing/2014/main" id="{02241F89-1D90-6DC3-C878-8A9D9A2B0932}"/>
              </a:ext>
            </a:extLst>
          </p:cNvPr>
          <p:cNvSpPr>
            <a:spLocks noChangeArrowheads="1"/>
          </p:cNvSpPr>
          <p:nvPr/>
        </p:nvSpPr>
        <p:spPr bwMode="auto">
          <a:xfrm>
            <a:off x="545143" y="1016026"/>
            <a:ext cx="8053711" cy="2137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3200"/>
              </a:lnSpc>
              <a:buClr>
                <a:srgbClr val="9900CC"/>
              </a:buClr>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连接建立过程中要解决三个问题：</a:t>
            </a:r>
          </a:p>
          <a:p>
            <a:pPr marL="342900" indent="-342900">
              <a:lnSpc>
                <a:spcPts val="3200"/>
              </a:lnSpc>
              <a:buClr>
                <a:srgbClr val="9900CC"/>
              </a:buClr>
              <a:buFont typeface="+mj-lt"/>
              <a:buAutoNum type="arabicPeriod"/>
            </a:pPr>
            <a:r>
              <a:rPr lang="zh-CN" altLang="en-US" sz="2000" b="1" dirty="0">
                <a:latin typeface="微软雅黑" pitchFamily="34" charset="-122"/>
                <a:ea typeface="微软雅黑" pitchFamily="34" charset="-122"/>
              </a:rPr>
              <a:t>要使每一方能够确知对方的</a:t>
            </a:r>
            <a:r>
              <a:rPr lang="zh-CN" altLang="en-US" sz="2000" b="1" dirty="0">
                <a:solidFill>
                  <a:srgbClr val="C00000"/>
                </a:solidFill>
                <a:latin typeface="微软雅黑" pitchFamily="34" charset="-122"/>
                <a:ea typeface="微软雅黑" pitchFamily="34" charset="-122"/>
              </a:rPr>
              <a:t>存在。</a:t>
            </a:r>
          </a:p>
          <a:p>
            <a:pPr marL="342900" indent="-342900">
              <a:lnSpc>
                <a:spcPts val="3300"/>
              </a:lnSpc>
              <a:buClr>
                <a:srgbClr val="9900CC"/>
              </a:buClr>
              <a:buFont typeface="+mj-lt"/>
              <a:buAutoNum type="arabicPeriod"/>
            </a:pPr>
            <a:r>
              <a:rPr lang="zh-CN" altLang="en-US" sz="2000" b="1" dirty="0">
                <a:latin typeface="微软雅黑" pitchFamily="34" charset="-122"/>
                <a:ea typeface="微软雅黑" pitchFamily="34" charset="-122"/>
              </a:rPr>
              <a:t>要允许双方</a:t>
            </a:r>
            <a:r>
              <a:rPr lang="zh-CN" altLang="en-US" sz="2000" b="1" dirty="0">
                <a:solidFill>
                  <a:srgbClr val="C00000"/>
                </a:solidFill>
                <a:latin typeface="微软雅黑" pitchFamily="34" charset="-122"/>
                <a:ea typeface="微软雅黑" pitchFamily="34" charset="-122"/>
              </a:rPr>
              <a:t>协商</a:t>
            </a:r>
            <a:r>
              <a:rPr lang="zh-CN" altLang="en-US" sz="2000" b="1" dirty="0">
                <a:latin typeface="微软雅黑" pitchFamily="34" charset="-122"/>
                <a:ea typeface="微软雅黑" pitchFamily="34" charset="-122"/>
              </a:rPr>
              <a:t>一些参数（如初始接收窗口大小，初始序号，最大报文段长度，以及是否使用某些选项等）。</a:t>
            </a:r>
          </a:p>
          <a:p>
            <a:pPr marL="342900" indent="-342900">
              <a:lnSpc>
                <a:spcPts val="3300"/>
              </a:lnSpc>
              <a:buClr>
                <a:srgbClr val="9900CC"/>
              </a:buClr>
              <a:buFont typeface="+mj-lt"/>
              <a:buAutoNum type="arabicPeriod"/>
            </a:pPr>
            <a:r>
              <a:rPr lang="zh-CN" altLang="en-US" sz="2000" b="1" dirty="0">
                <a:latin typeface="微软雅黑" pitchFamily="34" charset="-122"/>
                <a:ea typeface="微软雅黑" pitchFamily="34" charset="-122"/>
              </a:rPr>
              <a:t>能够对传输实体资源（如缓存大小、各数据结构等）进行</a:t>
            </a:r>
            <a:r>
              <a:rPr lang="zh-CN" altLang="en-US" sz="2000" b="1" dirty="0">
                <a:solidFill>
                  <a:srgbClr val="C00000"/>
                </a:solidFill>
                <a:latin typeface="微软雅黑" pitchFamily="34" charset="-122"/>
                <a:ea typeface="微软雅黑" pitchFamily="34" charset="-122"/>
              </a:rPr>
              <a:t>分配。</a:t>
            </a:r>
          </a:p>
        </p:txBody>
      </p:sp>
      <p:sp>
        <p:nvSpPr>
          <p:cNvPr id="5" name="矩形 4">
            <a:extLst>
              <a:ext uri="{FF2B5EF4-FFF2-40B4-BE49-F238E27FC236}">
                <a16:creationId xmlns:a16="http://schemas.microsoft.com/office/drawing/2014/main" id="{E3514A89-09F3-0DA7-3828-3EC3FD38264F}"/>
              </a:ext>
            </a:extLst>
          </p:cNvPr>
          <p:cNvSpPr/>
          <p:nvPr/>
        </p:nvSpPr>
        <p:spPr>
          <a:xfrm>
            <a:off x="975672" y="3260408"/>
            <a:ext cx="7192651" cy="1211357"/>
          </a:xfrm>
          <a:prstGeom prst="rect">
            <a:avLst/>
          </a:prstGeom>
          <a:solidFill>
            <a:srgbClr val="000066"/>
          </a:solidFill>
        </p:spPr>
        <p:txBody>
          <a:bodyPr wrap="square">
            <a:spAutoFit/>
          </a:bodyPr>
          <a:lstStyle/>
          <a:p>
            <a:pPr marL="342900" indent="-342900">
              <a:lnSpc>
                <a:spcPts val="3000"/>
              </a:lnSpc>
              <a:buClr>
                <a:schemeClr val="bg1"/>
              </a:buClr>
              <a:buFont typeface="Wingdings" pitchFamily="2" charset="2"/>
              <a:buChar char="l"/>
            </a:pP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连接的建立采用</a:t>
            </a:r>
            <a:r>
              <a:rPr lang="zh-CN" altLang="en-US" sz="2000" b="1" dirty="0">
                <a:solidFill>
                  <a:srgbClr val="FFC000"/>
                </a:solidFill>
                <a:latin typeface="微软雅黑" pitchFamily="34" charset="-122"/>
                <a:ea typeface="微软雅黑" pitchFamily="34" charset="-122"/>
              </a:rPr>
              <a:t>客户服务器</a:t>
            </a:r>
            <a:r>
              <a:rPr lang="zh-CN" altLang="en-US" sz="2000" b="1" dirty="0">
                <a:solidFill>
                  <a:schemeClr val="bg1"/>
                </a:solidFill>
                <a:latin typeface="微软雅黑" pitchFamily="34" charset="-122"/>
                <a:ea typeface="微软雅黑" pitchFamily="34" charset="-122"/>
              </a:rPr>
              <a:t>方式。</a:t>
            </a:r>
          </a:p>
          <a:p>
            <a:pPr marL="342900" indent="-342900">
              <a:lnSpc>
                <a:spcPts val="3000"/>
              </a:lnSpc>
              <a:buClr>
                <a:schemeClr val="bg1"/>
              </a:buClr>
              <a:buFont typeface="Wingdings" pitchFamily="2" charset="2"/>
              <a:buChar char="l"/>
            </a:pPr>
            <a:r>
              <a:rPr lang="zh-CN" altLang="en-US" sz="2000" b="1" dirty="0">
                <a:solidFill>
                  <a:srgbClr val="FFC000"/>
                </a:solidFill>
                <a:latin typeface="微软雅黑" pitchFamily="34" charset="-122"/>
                <a:ea typeface="微软雅黑" pitchFamily="34" charset="-122"/>
              </a:rPr>
              <a:t>主动发起</a:t>
            </a:r>
            <a:r>
              <a:rPr lang="zh-CN" altLang="en-US" sz="2000" b="1" dirty="0">
                <a:solidFill>
                  <a:schemeClr val="bg1"/>
                </a:solidFill>
                <a:latin typeface="微软雅黑" pitchFamily="34" charset="-122"/>
                <a:ea typeface="微软雅黑" pitchFamily="34" charset="-122"/>
              </a:rPr>
              <a:t>连接建立的应用进程叫做</a:t>
            </a:r>
            <a:r>
              <a:rPr lang="zh-CN" altLang="en-US" sz="2000" b="1" dirty="0">
                <a:solidFill>
                  <a:srgbClr val="FFC000"/>
                </a:solidFill>
                <a:latin typeface="微软雅黑" pitchFamily="34" charset="-122"/>
                <a:ea typeface="微软雅黑" pitchFamily="34" charset="-122"/>
              </a:rPr>
              <a:t>客户</a:t>
            </a:r>
            <a:r>
              <a:rPr lang="zh-CN" altLang="en-US" sz="2000" b="1" dirty="0">
                <a:solidFill>
                  <a:schemeClr val="bg1"/>
                </a:solidFill>
                <a:latin typeface="微软雅黑" pitchFamily="34" charset="-122"/>
                <a:ea typeface="微软雅黑" pitchFamily="34" charset="-122"/>
              </a:rPr>
              <a:t> </a:t>
            </a:r>
            <a:r>
              <a:rPr lang="en-US" altLang="zh-CN" sz="2000" b="1" dirty="0">
                <a:solidFill>
                  <a:schemeClr val="bg1"/>
                </a:solidFill>
                <a:latin typeface="微软雅黑" pitchFamily="34" charset="-122"/>
                <a:ea typeface="微软雅黑" pitchFamily="34" charset="-122"/>
              </a:rPr>
              <a:t>(client)</a:t>
            </a:r>
            <a:r>
              <a:rPr lang="zh-CN" altLang="en-US" sz="2000" b="1" dirty="0">
                <a:solidFill>
                  <a:schemeClr val="bg1"/>
                </a:solidFill>
                <a:latin typeface="微软雅黑" pitchFamily="34" charset="-122"/>
                <a:ea typeface="微软雅黑" pitchFamily="34" charset="-122"/>
              </a:rPr>
              <a:t>。</a:t>
            </a:r>
          </a:p>
          <a:p>
            <a:pPr marL="342900" indent="-342900">
              <a:lnSpc>
                <a:spcPts val="3000"/>
              </a:lnSpc>
              <a:buClr>
                <a:schemeClr val="bg1"/>
              </a:buClr>
              <a:buFont typeface="Wingdings" pitchFamily="2" charset="2"/>
              <a:buChar char="l"/>
            </a:pPr>
            <a:r>
              <a:rPr lang="zh-CN" altLang="en-US" sz="2000" b="1" dirty="0">
                <a:solidFill>
                  <a:srgbClr val="FFC000"/>
                </a:solidFill>
                <a:latin typeface="微软雅黑" pitchFamily="34" charset="-122"/>
                <a:ea typeface="微软雅黑" pitchFamily="34" charset="-122"/>
              </a:rPr>
              <a:t>被动等待</a:t>
            </a:r>
            <a:r>
              <a:rPr lang="zh-CN" altLang="en-US" sz="2000" b="1" dirty="0">
                <a:solidFill>
                  <a:schemeClr val="bg1"/>
                </a:solidFill>
                <a:latin typeface="微软雅黑" pitchFamily="34" charset="-122"/>
                <a:ea typeface="微软雅黑" pitchFamily="34" charset="-122"/>
              </a:rPr>
              <a:t>连接建立的应用进程叫做</a:t>
            </a:r>
            <a:r>
              <a:rPr lang="zh-CN" altLang="en-US" sz="2000" b="1" dirty="0">
                <a:solidFill>
                  <a:srgbClr val="FFC000"/>
                </a:solidFill>
                <a:latin typeface="微软雅黑" pitchFamily="34" charset="-122"/>
                <a:ea typeface="微软雅黑" pitchFamily="34" charset="-122"/>
              </a:rPr>
              <a:t>服务器</a:t>
            </a:r>
            <a:r>
              <a:rPr lang="zh-CN" altLang="en-US" sz="2000" b="1" dirty="0">
                <a:solidFill>
                  <a:schemeClr val="bg1"/>
                </a:solidFill>
                <a:latin typeface="微软雅黑" pitchFamily="34" charset="-122"/>
                <a:ea typeface="微软雅黑" pitchFamily="34" charset="-122"/>
              </a:rPr>
              <a:t> </a:t>
            </a:r>
            <a:r>
              <a:rPr lang="en-US" altLang="zh-CN" sz="2000" b="1" dirty="0">
                <a:solidFill>
                  <a:schemeClr val="bg1"/>
                </a:solidFill>
                <a:latin typeface="微软雅黑" pitchFamily="34" charset="-122"/>
                <a:ea typeface="微软雅黑" pitchFamily="34" charset="-122"/>
              </a:rPr>
              <a:t>(server)</a:t>
            </a:r>
            <a:r>
              <a:rPr lang="zh-CN" altLang="en-US" sz="2000" b="1" dirty="0">
                <a:solidFill>
                  <a:schemeClr val="bg1"/>
                </a:solidFill>
                <a:latin typeface="微软雅黑" pitchFamily="34" charset="-122"/>
                <a:ea typeface="微软雅黑" pitchFamily="34" charset="-122"/>
              </a:rPr>
              <a:t>。</a:t>
            </a:r>
          </a:p>
        </p:txBody>
      </p:sp>
    </p:spTree>
    <p:extLst>
      <p:ext uri="{BB962C8B-B14F-4D97-AF65-F5344CB8AC3E}">
        <p14:creationId xmlns:p14="http://schemas.microsoft.com/office/powerpoint/2010/main" val="2086922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26099"/>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2906739" y="583828"/>
            <a:ext cx="33305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5.6.1  TCP </a:t>
            </a:r>
            <a:r>
              <a:rPr lang="zh-CN" altLang="en-US" sz="2400" b="1" dirty="0">
                <a:solidFill>
                  <a:schemeClr val="bg1"/>
                </a:solidFill>
                <a:latin typeface="微软雅黑" pitchFamily="34" charset="-122"/>
                <a:ea typeface="微软雅黑" pitchFamily="34" charset="-122"/>
              </a:rPr>
              <a:t>的连接建立</a:t>
            </a:r>
          </a:p>
        </p:txBody>
      </p:sp>
      <p:sp>
        <p:nvSpPr>
          <p:cNvPr id="4" name="Rectangle 8"/>
          <p:cNvSpPr>
            <a:spLocks noChangeArrowheads="1"/>
          </p:cNvSpPr>
          <p:nvPr/>
        </p:nvSpPr>
        <p:spPr bwMode="auto">
          <a:xfrm>
            <a:off x="545143" y="1029697"/>
            <a:ext cx="8053711" cy="1317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建立连接的过程叫做</a:t>
            </a:r>
            <a:r>
              <a:rPr lang="zh-CN" altLang="en-US" sz="2000" b="1" dirty="0">
                <a:solidFill>
                  <a:srgbClr val="C00000"/>
                </a:solidFill>
                <a:latin typeface="微软雅黑" pitchFamily="34" charset="-122"/>
                <a:ea typeface="微软雅黑" pitchFamily="34" charset="-122"/>
              </a:rPr>
              <a:t>握手。</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采用</a:t>
            </a:r>
            <a:r>
              <a:rPr lang="zh-CN" altLang="en-US" sz="2000" b="1" dirty="0">
                <a:solidFill>
                  <a:srgbClr val="C00000"/>
                </a:solidFill>
                <a:latin typeface="微软雅黑" pitchFamily="34" charset="-122"/>
                <a:ea typeface="微软雅黑" pitchFamily="34" charset="-122"/>
              </a:rPr>
              <a:t>三报文握手</a:t>
            </a:r>
            <a:r>
              <a:rPr lang="zh-CN" altLang="en-US" sz="2000" b="1" dirty="0">
                <a:latin typeface="微软雅黑" pitchFamily="34" charset="-122"/>
                <a:ea typeface="微软雅黑" pitchFamily="34" charset="-122"/>
              </a:rPr>
              <a:t>（曾采用“三次握手”这个广为流行但不太准确的译名）</a:t>
            </a:r>
            <a:r>
              <a:rPr lang="zh-CN" altLang="en-US" sz="2000" b="1" dirty="0">
                <a:solidFill>
                  <a:srgbClr val="C00000"/>
                </a:solidFill>
                <a:latin typeface="微软雅黑" pitchFamily="34" charset="-122"/>
                <a:ea typeface="微软雅黑" pitchFamily="34" charset="-122"/>
              </a:rPr>
              <a:t>：</a:t>
            </a:r>
            <a:r>
              <a:rPr lang="zh-CN" altLang="en-US" sz="2000" b="1" dirty="0">
                <a:latin typeface="微软雅黑" pitchFamily="34" charset="-122"/>
                <a:ea typeface="微软雅黑" pitchFamily="34" charset="-122"/>
              </a:rPr>
              <a:t>在客户和服务器之间交换三个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报文段。</a:t>
            </a:r>
          </a:p>
        </p:txBody>
      </p:sp>
    </p:spTree>
    <p:extLst>
      <p:ext uri="{BB962C8B-B14F-4D97-AF65-F5344CB8AC3E}">
        <p14:creationId xmlns:p14="http://schemas.microsoft.com/office/powerpoint/2010/main" val="100057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的连接建立：采用三报文握手</a:t>
            </a:r>
          </a:p>
        </p:txBody>
      </p:sp>
      <p:grpSp>
        <p:nvGrpSpPr>
          <p:cNvPr id="4" name="Group 2"/>
          <p:cNvGrpSpPr>
            <a:grpSpLocks/>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dirty="0">
                <a:latin typeface="微软雅黑" pitchFamily="34" charset="-122"/>
                <a:ea typeface="微软雅黑"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a:latin typeface="微软雅黑" pitchFamily="34" charset="-122"/>
                <a:ea typeface="微软雅黑" pitchFamily="34" charset="-122"/>
              </a:rPr>
              <a:t>CLOSED</a:t>
            </a:r>
          </a:p>
        </p:txBody>
      </p:sp>
      <p:sp>
        <p:nvSpPr>
          <p:cNvPr id="22"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A</a:t>
            </a:r>
          </a:p>
        </p:txBody>
      </p:sp>
      <p:sp>
        <p:nvSpPr>
          <p:cNvPr id="23"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24"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5"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服务器</a:t>
            </a:r>
          </a:p>
        </p:txBody>
      </p:sp>
      <p:pic>
        <p:nvPicPr>
          <p:cNvPr id="28" name="Picture 134"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34"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7468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24"/>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25"/>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3000" fill="hold" grpId="0" nodeType="clickEffect">
                                  <p:stCondLst>
                                    <p:cond delay="0"/>
                                  </p:stCondLst>
                                  <p:childTnLst>
                                    <p:anim calcmode="discrete" valueType="str">
                                      <p:cBhvr>
                                        <p:cTn id="14" dur="1000" fill="hold"/>
                                        <p:tgtEl>
                                          <p:spTgt spid="11"/>
                                        </p:tgtEl>
                                        <p:attrNameLst>
                                          <p:attrName>style.visibility</p:attrName>
                                        </p:attrNameLst>
                                      </p:cBhvr>
                                      <p:tavLst>
                                        <p:tav tm="0">
                                          <p:val>
                                            <p:strVal val="hidden"/>
                                          </p:val>
                                        </p:tav>
                                        <p:tav tm="50000">
                                          <p:val>
                                            <p:strVal val="visible"/>
                                          </p:val>
                                        </p:tav>
                                      </p:tavLst>
                                    </p:anim>
                                  </p:childTnLst>
                                </p:cTn>
                              </p:par>
                              <p:par>
                                <p:cTn id="15" presetID="35" presetClass="emph" presetSubtype="0" repeatCount="3000" fill="hold" grpId="0" nodeType="withEffect">
                                  <p:stCondLst>
                                    <p:cond delay="0"/>
                                  </p:stCondLst>
                                  <p:childTnLst>
                                    <p:anim calcmode="discrete" valueType="str">
                                      <p:cBhvr>
                                        <p:cTn id="16" dur="1000" fill="hold"/>
                                        <p:tgtEl>
                                          <p:spTgt spid="1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24" grpId="0"/>
      <p:bldP spid="25"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的连接建立：采用三报文握手</a:t>
            </a:r>
          </a:p>
        </p:txBody>
      </p:sp>
      <p:grpSp>
        <p:nvGrpSpPr>
          <p:cNvPr id="4" name="Group 2"/>
          <p:cNvGrpSpPr>
            <a:grpSpLocks/>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dirty="0">
                <a:latin typeface="微软雅黑" pitchFamily="34" charset="-122"/>
                <a:ea typeface="微软雅黑"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a:latin typeface="微软雅黑" pitchFamily="34" charset="-122"/>
                <a:ea typeface="微软雅黑" pitchFamily="34" charset="-122"/>
              </a:rPr>
              <a:t>CLOSED</a:t>
            </a:r>
          </a:p>
        </p:txBody>
      </p:sp>
      <p:grpSp>
        <p:nvGrpSpPr>
          <p:cNvPr id="17" name="Group 16"/>
          <p:cNvGrpSpPr>
            <a:grpSpLocks/>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被动打开</a:t>
              </a:r>
            </a:p>
          </p:txBody>
        </p:sp>
        <p:sp>
          <p:nvSpPr>
            <p:cNvPr id="19" name="Freeform 18"/>
            <p:cNvSpPr>
              <a:spLocks/>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22"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A</a:t>
            </a:r>
          </a:p>
        </p:txBody>
      </p:sp>
      <p:sp>
        <p:nvSpPr>
          <p:cNvPr id="23"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24"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5"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服务器</a:t>
            </a:r>
          </a:p>
        </p:txBody>
      </p:sp>
      <p:pic>
        <p:nvPicPr>
          <p:cNvPr id="28" name="Picture 134"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34"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sp>
        <p:nvSpPr>
          <p:cNvPr id="30" name="Text Box 155"/>
          <p:cNvSpPr txBox="1">
            <a:spLocks noChangeArrowheads="1"/>
          </p:cNvSpPr>
          <p:nvPr/>
        </p:nvSpPr>
        <p:spPr bwMode="auto">
          <a:xfrm>
            <a:off x="1954355" y="2189214"/>
            <a:ext cx="5724639" cy="886012"/>
          </a:xfrm>
          <a:prstGeom prst="rect">
            <a:avLst/>
          </a:prstGeom>
          <a:solidFill>
            <a:srgbClr val="FFFF99"/>
          </a:solidFill>
          <a:ln w="9525">
            <a:solidFill>
              <a:schemeClr val="tx1"/>
            </a:solidFill>
            <a:miter lim="800000"/>
            <a:headEnd/>
            <a:tailEnd/>
          </a:ln>
          <a:effectLst/>
        </p:spPr>
        <p:txBody>
          <a:bodyPr wrap="square">
            <a:spAutoFit/>
          </a:bodyPr>
          <a:lstStyle/>
          <a:p>
            <a:pPr>
              <a:lnSpc>
                <a:spcPct val="110000"/>
              </a:lnSpc>
            </a:pP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的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服务器进程</a:t>
            </a:r>
            <a:r>
              <a:rPr lang="zh-CN" altLang="en-US" sz="1600" b="1" dirty="0">
                <a:solidFill>
                  <a:srgbClr val="0000FF"/>
                </a:solidFill>
                <a:latin typeface="微软雅黑" pitchFamily="34" charset="-122"/>
                <a:ea typeface="微软雅黑" pitchFamily="34" charset="-122"/>
              </a:rPr>
              <a:t>先创建</a:t>
            </a:r>
            <a:r>
              <a:rPr lang="zh-CN" altLang="en-US" sz="1600" b="1" dirty="0">
                <a:latin typeface="微软雅黑" pitchFamily="34" charset="-122"/>
                <a:ea typeface="微软雅黑" pitchFamily="34" charset="-122"/>
              </a:rPr>
              <a:t>传输控制块 </a:t>
            </a:r>
            <a:r>
              <a:rPr lang="en-US" altLang="zh-CN" sz="1600" b="1" dirty="0">
                <a:latin typeface="微软雅黑" pitchFamily="34" charset="-122"/>
                <a:ea typeface="微软雅黑" pitchFamily="34" charset="-122"/>
              </a:rPr>
              <a:t>TCB (Transmission Control Block) </a:t>
            </a:r>
            <a:r>
              <a:rPr lang="zh-CN" altLang="en-US" sz="1600" b="1" dirty="0">
                <a:latin typeface="微软雅黑" pitchFamily="34" charset="-122"/>
                <a:ea typeface="微软雅黑" pitchFamily="34" charset="-122"/>
              </a:rPr>
              <a:t>，准备接受客户进程的连接请求（被动打开连接）。</a:t>
            </a:r>
          </a:p>
        </p:txBody>
      </p:sp>
      <p:sp>
        <p:nvSpPr>
          <p:cNvPr id="8" name="Text Box 155">
            <a:extLst>
              <a:ext uri="{FF2B5EF4-FFF2-40B4-BE49-F238E27FC236}">
                <a16:creationId xmlns:a16="http://schemas.microsoft.com/office/drawing/2014/main" id="{1CA2D199-2EE6-8BE2-8575-C2E6838C0AA4}"/>
              </a:ext>
            </a:extLst>
          </p:cNvPr>
          <p:cNvSpPr txBox="1">
            <a:spLocks noChangeArrowheads="1"/>
          </p:cNvSpPr>
          <p:nvPr/>
        </p:nvSpPr>
        <p:spPr bwMode="auto">
          <a:xfrm>
            <a:off x="1954354" y="3071571"/>
            <a:ext cx="5724639" cy="886012"/>
          </a:xfrm>
          <a:prstGeom prst="rect">
            <a:avLst/>
          </a:prstGeom>
          <a:solidFill>
            <a:srgbClr val="FFFF99"/>
          </a:solidFill>
          <a:ln w="9525">
            <a:solidFill>
              <a:schemeClr val="tx1"/>
            </a:solidFill>
            <a:miter lim="800000"/>
            <a:headEnd/>
            <a:tailEnd/>
          </a:ln>
          <a:effectLst/>
        </p:spPr>
        <p:txBody>
          <a:bodyPr wrap="square">
            <a:spAutoFit/>
          </a:bodyPr>
          <a:lstStyle/>
          <a:p>
            <a:pPr>
              <a:lnSpc>
                <a:spcPct val="110000"/>
              </a:lnSpc>
            </a:pPr>
            <a:r>
              <a:rPr lang="en-US" altLang="zh-CN" sz="1600" b="1" dirty="0">
                <a:latin typeface="微软雅黑" pitchFamily="34" charset="-122"/>
                <a:ea typeface="微软雅黑" pitchFamily="34" charset="-122"/>
              </a:rPr>
              <a:t>TCB</a:t>
            </a:r>
            <a:r>
              <a:rPr lang="zh-CN" altLang="en-US" sz="1600" b="1" dirty="0">
                <a:latin typeface="微软雅黑" pitchFamily="34" charset="-122"/>
                <a:ea typeface="微软雅黑" pitchFamily="34" charset="-122"/>
              </a:rPr>
              <a:t>存储的内容有：</a:t>
            </a:r>
            <a:r>
              <a:rPr lang="en-US" altLang="zh-CN" sz="1600" b="1" dirty="0">
                <a:latin typeface="微软雅黑" pitchFamily="34" charset="-122"/>
                <a:ea typeface="微软雅黑" pitchFamily="34" charset="-122"/>
              </a:rPr>
              <a:t>TCP</a:t>
            </a:r>
            <a:r>
              <a:rPr lang="zh-CN" altLang="en-US" sz="1600" b="1" dirty="0">
                <a:latin typeface="微软雅黑" pitchFamily="34" charset="-122"/>
                <a:ea typeface="微软雅黑" pitchFamily="34" charset="-122"/>
              </a:rPr>
              <a:t>连接点的</a:t>
            </a:r>
            <a:r>
              <a:rPr lang="en-US" altLang="zh-CN" sz="1600" b="1" dirty="0">
                <a:latin typeface="微软雅黑" pitchFamily="34" charset="-122"/>
                <a:ea typeface="微软雅黑" pitchFamily="34" charset="-122"/>
              </a:rPr>
              <a:t>IP</a:t>
            </a:r>
            <a:r>
              <a:rPr lang="zh-CN" altLang="en-US" sz="1600" b="1" dirty="0">
                <a:latin typeface="微软雅黑" pitchFamily="34" charset="-122"/>
                <a:ea typeface="微软雅黑" pitchFamily="34" charset="-122"/>
              </a:rPr>
              <a:t>地址和传输层端口号，连接的状态，序号、确认号以及窗口大小，指向发送缓冲区和接收缓冲区的指针，等等。</a:t>
            </a:r>
          </a:p>
        </p:txBody>
      </p:sp>
    </p:spTree>
    <p:extLst>
      <p:ext uri="{BB962C8B-B14F-4D97-AF65-F5344CB8AC3E}">
        <p14:creationId xmlns:p14="http://schemas.microsoft.com/office/powerpoint/2010/main" val="3361732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1" fill="hold" nodeType="afterEffect">
                                  <p:stCondLst>
                                    <p:cond delay="2000"/>
                                  </p:stCondLst>
                                  <p:childTnLst>
                                    <p:set>
                                      <p:cBhvr>
                                        <p:cTn id="12" dur="1" fill="hold">
                                          <p:stCondLst>
                                            <p:cond delay="0"/>
                                          </p:stCondLst>
                                        </p:cTn>
                                        <p:tgtEl>
                                          <p:spTgt spid="17"/>
                                        </p:tgtEl>
                                        <p:attrNameLst>
                                          <p:attrName>style.visibility</p:attrName>
                                        </p:attrNameLst>
                                      </p:cBhvr>
                                      <p:to>
                                        <p:strVal val="visible"/>
                                      </p:to>
                                    </p:set>
                                    <p:animEffect transition="in" filter="wipe(up)">
                                      <p:cBhvr>
                                        <p:cTn id="13" dur="20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1000"/>
                                        <p:tgtEl>
                                          <p:spTgt spid="8"/>
                                        </p:tgtEl>
                                      </p:cBhvr>
                                    </p:animEffect>
                                    <p:anim calcmode="lin" valueType="num">
                                      <p:cBhvr>
                                        <p:cTn id="19" dur="1000" fill="hold"/>
                                        <p:tgtEl>
                                          <p:spTgt spid="8"/>
                                        </p:tgtEl>
                                        <p:attrNameLst>
                                          <p:attrName>ppt_x</p:attrName>
                                        </p:attrNameLst>
                                      </p:cBhvr>
                                      <p:tavLst>
                                        <p:tav tm="0">
                                          <p:val>
                                            <p:strVal val="#ppt_x"/>
                                          </p:val>
                                        </p:tav>
                                        <p:tav tm="100000">
                                          <p:val>
                                            <p:strVal val="#ppt_x"/>
                                          </p:val>
                                        </p:tav>
                                      </p:tavLst>
                                    </p:anim>
                                    <p:anim calcmode="lin" valueType="num">
                                      <p:cBhvr>
                                        <p:cTn id="2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8"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的连接建立：采用三报文握手</a:t>
            </a:r>
          </a:p>
        </p:txBody>
      </p:sp>
      <p:grpSp>
        <p:nvGrpSpPr>
          <p:cNvPr id="4" name="Group 2"/>
          <p:cNvGrpSpPr>
            <a:grpSpLocks/>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7" name="Group 6"/>
          <p:cNvGrpSpPr>
            <a:grpSpLocks/>
          </p:cNvGrpSpPr>
          <p:nvPr/>
        </p:nvGrpSpPr>
        <p:grpSpPr bwMode="auto">
          <a:xfrm>
            <a:off x="3365167" y="2006212"/>
            <a:ext cx="2492586" cy="512955"/>
            <a:chOff x="1520" y="1865"/>
            <a:chExt cx="2590" cy="533"/>
          </a:xfrm>
        </p:grpSpPr>
        <p:sp>
          <p:nvSpPr>
            <p:cNvPr id="8" name="Rectangle 7"/>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SYN = 1, </a:t>
              </a: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x</a:t>
              </a:r>
            </a:p>
          </p:txBody>
        </p:sp>
        <p:sp>
          <p:nvSpPr>
            <p:cNvPr id="9" name="Line 8"/>
            <p:cNvSpPr>
              <a:spLocks noChangeShapeType="1"/>
            </p:cNvSpPr>
            <p:nvPr/>
          </p:nvSpPr>
          <p:spPr bwMode="auto">
            <a:xfrm>
              <a:off x="1520" y="1893"/>
              <a:ext cx="2590" cy="505"/>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dirty="0">
                <a:latin typeface="微软雅黑" pitchFamily="34" charset="-122"/>
                <a:ea typeface="微软雅黑"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a:latin typeface="微软雅黑" pitchFamily="34" charset="-122"/>
                <a:ea typeface="微软雅黑" pitchFamily="34" charset="-122"/>
              </a:rPr>
              <a:t>CLOSED</a:t>
            </a:r>
          </a:p>
        </p:txBody>
      </p:sp>
      <p:grpSp>
        <p:nvGrpSpPr>
          <p:cNvPr id="14" name="Group 13"/>
          <p:cNvGrpSpPr>
            <a:grpSpLocks/>
          </p:cNvGrpSpPr>
          <p:nvPr/>
        </p:nvGrpSpPr>
        <p:grpSpPr bwMode="auto">
          <a:xfrm>
            <a:off x="1847479" y="1458608"/>
            <a:ext cx="1095199" cy="593794"/>
            <a:chOff x="-57" y="1296"/>
            <a:chExt cx="1138" cy="617"/>
          </a:xfrm>
        </p:grpSpPr>
        <p:sp>
          <p:nvSpPr>
            <p:cNvPr id="15" name="Rectangle 14"/>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主动打开</a:t>
              </a:r>
            </a:p>
          </p:txBody>
        </p:sp>
        <p:sp>
          <p:nvSpPr>
            <p:cNvPr id="16" name="Freeform 15"/>
            <p:cNvSpPr>
              <a:spLocks/>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7" name="Group 16"/>
          <p:cNvGrpSpPr>
            <a:grpSpLocks/>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被动打开</a:t>
              </a:r>
            </a:p>
          </p:txBody>
        </p:sp>
        <p:sp>
          <p:nvSpPr>
            <p:cNvPr id="19" name="Freeform 18"/>
            <p:cNvSpPr>
              <a:spLocks/>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22"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A</a:t>
            </a:r>
          </a:p>
        </p:txBody>
      </p:sp>
      <p:sp>
        <p:nvSpPr>
          <p:cNvPr id="23"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24"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5"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服务器</a:t>
            </a:r>
          </a:p>
        </p:txBody>
      </p:sp>
      <p:pic>
        <p:nvPicPr>
          <p:cNvPr id="28" name="Picture 134"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34"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sp>
        <p:nvSpPr>
          <p:cNvPr id="30" name="Text Box 155"/>
          <p:cNvSpPr txBox="1">
            <a:spLocks noChangeArrowheads="1"/>
          </p:cNvSpPr>
          <p:nvPr/>
        </p:nvSpPr>
        <p:spPr bwMode="auto">
          <a:xfrm>
            <a:off x="1929775" y="3024317"/>
            <a:ext cx="5422002" cy="904863"/>
          </a:xfrm>
          <a:prstGeom prst="rect">
            <a:avLst/>
          </a:prstGeom>
          <a:solidFill>
            <a:srgbClr val="FFFF99"/>
          </a:solidFill>
          <a:ln w="9525">
            <a:solidFill>
              <a:schemeClr val="tx1"/>
            </a:solidFill>
            <a:miter lim="800000"/>
            <a:headEnd/>
            <a:tailEnd/>
          </a:ln>
          <a:effectLst/>
        </p:spPr>
        <p:txBody>
          <a:bodyPr wrap="square">
            <a:spAutoFit/>
          </a:bodyPr>
          <a:lstStyle/>
          <a:p>
            <a:pPr>
              <a:lnSpc>
                <a:spcPct val="110000"/>
              </a:lnSpc>
            </a:pP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的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先创建</a:t>
            </a:r>
            <a:r>
              <a:rPr lang="en-US" altLang="zh-CN" sz="1600" b="1" dirty="0">
                <a:latin typeface="微软雅黑" pitchFamily="34" charset="-122"/>
                <a:ea typeface="微软雅黑" pitchFamily="34" charset="-122"/>
              </a:rPr>
              <a:t>TCB</a:t>
            </a:r>
            <a:r>
              <a:rPr lang="zh-CN" altLang="en-US" sz="1600" b="1" dirty="0">
                <a:latin typeface="微软雅黑" pitchFamily="34" charset="-122"/>
                <a:ea typeface="微软雅黑" pitchFamily="34" charset="-122"/>
              </a:rPr>
              <a:t>，然后向 </a:t>
            </a: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主动发出连接请求报文段，其首部中的同步位 </a:t>
            </a:r>
            <a:r>
              <a:rPr lang="en-US" altLang="zh-CN" sz="1600" b="1" dirty="0">
                <a:latin typeface="微软雅黑" pitchFamily="34" charset="-122"/>
                <a:ea typeface="微软雅黑" pitchFamily="34" charset="-122"/>
              </a:rPr>
              <a:t>SYN = 1</a:t>
            </a:r>
            <a:r>
              <a:rPr lang="zh-CN" altLang="en-US" sz="1600" b="1" dirty="0">
                <a:latin typeface="微软雅黑" pitchFamily="34" charset="-122"/>
                <a:ea typeface="微软雅黑" pitchFamily="34" charset="-122"/>
              </a:rPr>
              <a:t>，并选择初始序号 </a:t>
            </a:r>
            <a:r>
              <a:rPr lang="en-US" altLang="zh-CN" sz="1600" b="1" dirty="0" err="1">
                <a:latin typeface="微软雅黑" pitchFamily="34" charset="-122"/>
                <a:ea typeface="微软雅黑" pitchFamily="34" charset="-122"/>
              </a:rPr>
              <a:t>seq</a:t>
            </a:r>
            <a:r>
              <a:rPr lang="en-US" altLang="zh-CN" sz="1600" b="1" dirty="0">
                <a:latin typeface="微软雅黑" pitchFamily="34" charset="-122"/>
                <a:ea typeface="微软雅黑" pitchFamily="34" charset="-122"/>
              </a:rPr>
              <a:t> = x</a:t>
            </a:r>
            <a:r>
              <a:rPr lang="zh-CN" altLang="en-US" sz="1600" b="1" dirty="0">
                <a:latin typeface="微软雅黑" pitchFamily="34" charset="-122"/>
                <a:ea typeface="微软雅黑" pitchFamily="34" charset="-122"/>
              </a:rPr>
              <a:t>，表明传送数据时的第一个数据字节的序号是 </a:t>
            </a:r>
            <a:r>
              <a:rPr lang="en-US" altLang="zh-CN" sz="1600" b="1" dirty="0">
                <a:latin typeface="微软雅黑" pitchFamily="34" charset="-122"/>
                <a:ea typeface="微软雅黑" pitchFamily="34" charset="-122"/>
              </a:rPr>
              <a:t>x</a:t>
            </a:r>
            <a:r>
              <a:rPr lang="zh-CN" altLang="en-US" sz="1600" b="1" dirty="0">
                <a:latin typeface="微软雅黑" pitchFamily="34" charset="-122"/>
                <a:ea typeface="微软雅黑" pitchFamily="34" charset="-122"/>
              </a:rPr>
              <a:t>。</a:t>
            </a:r>
          </a:p>
        </p:txBody>
      </p:sp>
      <p:sp>
        <p:nvSpPr>
          <p:cNvPr id="20" name="矩形 19"/>
          <p:cNvSpPr/>
          <p:nvPr/>
        </p:nvSpPr>
        <p:spPr>
          <a:xfrm>
            <a:off x="1668543" y="4114800"/>
            <a:ext cx="5891753" cy="646331"/>
          </a:xfrm>
          <a:prstGeom prst="rect">
            <a:avLst/>
          </a:prstGeom>
          <a:solidFill>
            <a:schemeClr val="accent6">
              <a:lumMod val="60000"/>
              <a:lumOff val="40000"/>
            </a:schemeClr>
          </a:solidFill>
        </p:spPr>
        <p:txBody>
          <a:bodyPr wrap="square">
            <a:spAutoFit/>
          </a:bodyPr>
          <a:lstStyle/>
          <a:p>
            <a:r>
              <a:rPr lang="zh-CN" altLang="en-US" b="1" kern="500" dirty="0">
                <a:latin typeface="微软雅黑" panose="020B0503020204020204" pitchFamily="34" charset="-122"/>
                <a:ea typeface="微软雅黑" panose="020B0503020204020204" pitchFamily="34" charset="-122"/>
              </a:rPr>
              <a:t>注意：</a:t>
            </a:r>
            <a:r>
              <a:rPr lang="en-US" altLang="zh-CN" b="1" kern="500" dirty="0">
                <a:latin typeface="微软雅黑" panose="020B0503020204020204" pitchFamily="34" charset="-122"/>
                <a:ea typeface="微软雅黑" panose="020B0503020204020204" pitchFamily="34" charset="-122"/>
              </a:rPr>
              <a:t>TCP</a:t>
            </a:r>
            <a:r>
              <a:rPr lang="zh-CN" altLang="zh-CN" b="1" kern="500" dirty="0">
                <a:latin typeface="微软雅黑" panose="020B0503020204020204" pitchFamily="34" charset="-122"/>
                <a:ea typeface="微软雅黑" panose="020B0503020204020204" pitchFamily="34" charset="-122"/>
                <a:cs typeface="Times New Roman" panose="02020603050405020304" pitchFamily="18" charset="0"/>
              </a:rPr>
              <a:t>规定，</a:t>
            </a:r>
            <a:r>
              <a:rPr lang="en-US" altLang="zh-CN" b="1" kern="500" dirty="0">
                <a:latin typeface="微软雅黑" panose="020B0503020204020204" pitchFamily="34" charset="-122"/>
                <a:ea typeface="微软雅黑" panose="020B0503020204020204" pitchFamily="34" charset="-122"/>
              </a:rPr>
              <a:t>SYN </a:t>
            </a:r>
            <a:r>
              <a:rPr lang="zh-CN" altLang="zh-CN" b="1" kern="500" dirty="0">
                <a:latin typeface="微软雅黑" panose="020B0503020204020204" pitchFamily="34" charset="-122"/>
                <a:ea typeface="微软雅黑" panose="020B0503020204020204" pitchFamily="34" charset="-122"/>
                <a:cs typeface="Times New Roman" panose="02020603050405020304" pitchFamily="18" charset="0"/>
              </a:rPr>
              <a:t>报文段（即</a:t>
            </a:r>
            <a:r>
              <a:rPr lang="en-US" altLang="zh-CN" b="1" kern="500" dirty="0">
                <a:latin typeface="微软雅黑" panose="020B0503020204020204" pitchFamily="34" charset="-122"/>
                <a:ea typeface="微软雅黑" panose="020B0503020204020204" pitchFamily="34" charset="-122"/>
              </a:rPr>
              <a:t>SYN = 1</a:t>
            </a:r>
            <a:r>
              <a:rPr lang="zh-CN" altLang="zh-CN" b="1" kern="500" dirty="0">
                <a:latin typeface="微软雅黑" panose="020B0503020204020204" pitchFamily="34" charset="-122"/>
                <a:ea typeface="微软雅黑" panose="020B0503020204020204" pitchFamily="34" charset="-122"/>
                <a:cs typeface="Times New Roman" panose="02020603050405020304" pitchFamily="18" charset="0"/>
              </a:rPr>
              <a:t>的报文段）</a:t>
            </a:r>
            <a:r>
              <a:rPr lang="zh-CN" altLang="zh-CN" b="1" kern="500"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不能携带数据，</a:t>
            </a:r>
            <a:r>
              <a:rPr lang="zh-CN" altLang="zh-CN" b="1" kern="500" dirty="0">
                <a:latin typeface="微软雅黑" panose="020B0503020204020204" pitchFamily="34" charset="-122"/>
                <a:ea typeface="微软雅黑" panose="020B0503020204020204" pitchFamily="34" charset="-122"/>
                <a:cs typeface="Times New Roman" panose="02020603050405020304" pitchFamily="18" charset="0"/>
              </a:rPr>
              <a:t>但要</a:t>
            </a:r>
            <a:r>
              <a:rPr lang="zh-CN" altLang="en-US" b="1" kern="500" dirty="0">
                <a:latin typeface="微软雅黑" panose="020B0503020204020204" pitchFamily="34" charset="-122"/>
                <a:ea typeface="微软雅黑" panose="020B0503020204020204" pitchFamily="34" charset="-122"/>
                <a:cs typeface="Times New Roman" panose="02020603050405020304" pitchFamily="18" charset="0"/>
              </a:rPr>
              <a:t>占用</a:t>
            </a:r>
            <a:r>
              <a:rPr lang="zh-CN" altLang="zh-CN" b="1" kern="500" dirty="0">
                <a:latin typeface="微软雅黑" panose="020B0503020204020204" pitchFamily="34" charset="-122"/>
                <a:ea typeface="微软雅黑" panose="020B0503020204020204" pitchFamily="34" charset="-122"/>
                <a:cs typeface="Times New Roman" panose="02020603050405020304" pitchFamily="18" charset="0"/>
              </a:rPr>
              <a:t>一个序号。</a:t>
            </a:r>
            <a:endParaRPr lang="zh-CN" altLang="en-US" b="1" dirty="0">
              <a:latin typeface="微软雅黑" panose="020B0503020204020204" pitchFamily="34" charset="-122"/>
              <a:ea typeface="微软雅黑" panose="020B0503020204020204" pitchFamily="34" charset="-122"/>
            </a:endParaRPr>
          </a:p>
        </p:txBody>
      </p:sp>
      <p:grpSp>
        <p:nvGrpSpPr>
          <p:cNvPr id="21" name="Group 12">
            <a:extLst>
              <a:ext uri="{FF2B5EF4-FFF2-40B4-BE49-F238E27FC236}">
                <a16:creationId xmlns:a16="http://schemas.microsoft.com/office/drawing/2014/main" id="{CAB169B8-EC0D-6323-3365-0A3D60CB1809}"/>
              </a:ext>
            </a:extLst>
          </p:cNvPr>
          <p:cNvGrpSpPr>
            <a:grpSpLocks/>
          </p:cNvGrpSpPr>
          <p:nvPr/>
        </p:nvGrpSpPr>
        <p:grpSpPr bwMode="auto">
          <a:xfrm>
            <a:off x="5866745" y="2045590"/>
            <a:ext cx="687989" cy="463930"/>
            <a:chOff x="3949" y="1893"/>
            <a:chExt cx="678" cy="519"/>
          </a:xfrm>
        </p:grpSpPr>
        <p:sp>
          <p:nvSpPr>
            <p:cNvPr id="26" name="Rectangle 13">
              <a:extLst>
                <a:ext uri="{FF2B5EF4-FFF2-40B4-BE49-F238E27FC236}">
                  <a16:creationId xmlns:a16="http://schemas.microsoft.com/office/drawing/2014/main" id="{90A60659-E5EC-02DA-0222-915A76355D6D}"/>
                </a:ext>
              </a:extLst>
            </p:cNvPr>
            <p:cNvSpPr>
              <a:spLocks noChangeArrowheads="1"/>
            </p:cNvSpPr>
            <p:nvPr/>
          </p:nvSpPr>
          <p:spPr bwMode="auto">
            <a:xfrm>
              <a:off x="3949" y="1893"/>
              <a:ext cx="621" cy="519"/>
            </a:xfrm>
            <a:prstGeom prst="rect">
              <a:avLst/>
            </a:prstGeom>
            <a:solidFill>
              <a:srgbClr val="CC00CC"/>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27" name="Rectangle 14">
              <a:extLst>
                <a:ext uri="{FF2B5EF4-FFF2-40B4-BE49-F238E27FC236}">
                  <a16:creationId xmlns:a16="http://schemas.microsoft.com/office/drawing/2014/main" id="{86EADDCE-6ADC-5843-5A39-EDDF4C33DA0E}"/>
                </a:ext>
              </a:extLst>
            </p:cNvPr>
            <p:cNvSpPr>
              <a:spLocks noChangeArrowheads="1"/>
            </p:cNvSpPr>
            <p:nvPr/>
          </p:nvSpPr>
          <p:spPr bwMode="auto">
            <a:xfrm>
              <a:off x="3956" y="2004"/>
              <a:ext cx="671"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LISTEN</a:t>
              </a:r>
            </a:p>
          </p:txBody>
        </p:sp>
      </p:grpSp>
      <p:sp>
        <p:nvSpPr>
          <p:cNvPr id="36" name="矩形 35">
            <a:extLst>
              <a:ext uri="{FF2B5EF4-FFF2-40B4-BE49-F238E27FC236}">
                <a16:creationId xmlns:a16="http://schemas.microsoft.com/office/drawing/2014/main" id="{B7C9E203-CDE9-A438-2540-DA5C292FB85E}"/>
              </a:ext>
            </a:extLst>
          </p:cNvPr>
          <p:cNvSpPr/>
          <p:nvPr/>
        </p:nvSpPr>
        <p:spPr>
          <a:xfrm>
            <a:off x="6374300" y="2119796"/>
            <a:ext cx="630149" cy="276999"/>
          </a:xfrm>
          <a:prstGeom prst="rect">
            <a:avLst/>
          </a:prstGeom>
        </p:spPr>
        <p:txBody>
          <a:bodyPr wrap="square">
            <a:spAutoFit/>
          </a:bodyPr>
          <a:lstStyle/>
          <a:p>
            <a:pPr algn="ctr"/>
            <a:r>
              <a:rPr lang="zh-CN" altLang="en-US" sz="1200" b="1" dirty="0">
                <a:solidFill>
                  <a:srgbClr val="0000FF"/>
                </a:solidFill>
                <a:latin typeface="微软雅黑" panose="020B0503020204020204" pitchFamily="34" charset="-122"/>
                <a:ea typeface="微软雅黑" panose="020B0503020204020204" pitchFamily="34" charset="-122"/>
              </a:rPr>
              <a:t>监听</a:t>
            </a:r>
          </a:p>
        </p:txBody>
      </p:sp>
    </p:spTree>
    <p:extLst>
      <p:ext uri="{BB962C8B-B14F-4D97-AF65-F5344CB8AC3E}">
        <p14:creationId xmlns:p14="http://schemas.microsoft.com/office/powerpoint/2010/main" val="2254017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withEffect">
                                  <p:stCondLst>
                                    <p:cond delay="0"/>
                                  </p:stCondLst>
                                  <p:childTnLst>
                                    <p:anim calcmode="discrete" valueType="str">
                                      <p:cBhvr>
                                        <p:cTn id="6" dur="1000" fill="hold"/>
                                        <p:tgtEl>
                                          <p:spTgt spid="21"/>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up)">
                                      <p:cBhvr>
                                        <p:cTn id="11" dur="10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1000"/>
                                        <p:tgtEl>
                                          <p:spTgt spid="30"/>
                                        </p:tgtEl>
                                      </p:cBhvr>
                                    </p:animEffect>
                                    <p:anim calcmode="lin" valueType="num">
                                      <p:cBhvr>
                                        <p:cTn id="17" dur="1000" fill="hold"/>
                                        <p:tgtEl>
                                          <p:spTgt spid="30"/>
                                        </p:tgtEl>
                                        <p:attrNameLst>
                                          <p:attrName>ppt_x</p:attrName>
                                        </p:attrNameLst>
                                      </p:cBhvr>
                                      <p:tavLst>
                                        <p:tav tm="0">
                                          <p:val>
                                            <p:strVal val="#ppt_x"/>
                                          </p:val>
                                        </p:tav>
                                        <p:tav tm="100000">
                                          <p:val>
                                            <p:strVal val="#ppt_x"/>
                                          </p:val>
                                        </p:tav>
                                      </p:tavLst>
                                    </p:anim>
                                    <p:anim calcmode="lin" valueType="num">
                                      <p:cBhvr>
                                        <p:cTn id="18"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left)">
                                      <p:cBhvr>
                                        <p:cTn id="23" dur="20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0"/>
                                        </p:tgtEl>
                                        <p:attrNameLst>
                                          <p:attrName>style.visibility</p:attrName>
                                        </p:attrNameLst>
                                      </p:cBhvr>
                                      <p:to>
                                        <p:strVal val="visible"/>
                                      </p:to>
                                    </p:set>
                                    <p:anim calcmode="lin" valueType="num">
                                      <p:cBhvr>
                                        <p:cTn id="28" dur="500" fill="hold"/>
                                        <p:tgtEl>
                                          <p:spTgt spid="20"/>
                                        </p:tgtEl>
                                        <p:attrNameLst>
                                          <p:attrName>ppt_w</p:attrName>
                                        </p:attrNameLst>
                                      </p:cBhvr>
                                      <p:tavLst>
                                        <p:tav tm="0">
                                          <p:val>
                                            <p:fltVal val="0"/>
                                          </p:val>
                                        </p:tav>
                                        <p:tav tm="100000">
                                          <p:val>
                                            <p:strVal val="#ppt_w"/>
                                          </p:val>
                                        </p:tav>
                                      </p:tavLst>
                                    </p:anim>
                                    <p:anim calcmode="lin" valueType="num">
                                      <p:cBhvr>
                                        <p:cTn id="29" dur="500" fill="hold"/>
                                        <p:tgtEl>
                                          <p:spTgt spid="20"/>
                                        </p:tgtEl>
                                        <p:attrNameLst>
                                          <p:attrName>ppt_h</p:attrName>
                                        </p:attrNameLst>
                                      </p:cBhvr>
                                      <p:tavLst>
                                        <p:tav tm="0">
                                          <p:val>
                                            <p:fltVal val="0"/>
                                          </p:val>
                                        </p:tav>
                                        <p:tav tm="100000">
                                          <p:val>
                                            <p:strVal val="#ppt_h"/>
                                          </p:val>
                                        </p:tav>
                                      </p:tavLst>
                                    </p:anim>
                                    <p:animEffect transition="in" filter="fade">
                                      <p:cBhvr>
                                        <p:cTn id="3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20"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圆角矩形 30"/>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的连接建立：采用三报文握手</a:t>
            </a:r>
          </a:p>
        </p:txBody>
      </p:sp>
      <p:grpSp>
        <p:nvGrpSpPr>
          <p:cNvPr id="4" name="Group 2"/>
          <p:cNvGrpSpPr>
            <a:grpSpLocks/>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7" name="Group 6"/>
          <p:cNvGrpSpPr>
            <a:grpSpLocks/>
          </p:cNvGrpSpPr>
          <p:nvPr/>
        </p:nvGrpSpPr>
        <p:grpSpPr bwMode="auto">
          <a:xfrm>
            <a:off x="3365167" y="2006212"/>
            <a:ext cx="2492586" cy="512955"/>
            <a:chOff x="1520" y="1865"/>
            <a:chExt cx="2590" cy="533"/>
          </a:xfrm>
        </p:grpSpPr>
        <p:sp>
          <p:nvSpPr>
            <p:cNvPr id="8" name="Rectangle 7"/>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SYN = 1, </a:t>
              </a: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x</a:t>
              </a:r>
            </a:p>
          </p:txBody>
        </p:sp>
        <p:sp>
          <p:nvSpPr>
            <p:cNvPr id="9" name="Line 8"/>
            <p:cNvSpPr>
              <a:spLocks noChangeShapeType="1"/>
            </p:cNvSpPr>
            <p:nvPr/>
          </p:nvSpPr>
          <p:spPr bwMode="auto">
            <a:xfrm>
              <a:off x="1520" y="1893"/>
              <a:ext cx="2590" cy="505"/>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dirty="0">
                <a:latin typeface="微软雅黑" pitchFamily="34" charset="-122"/>
                <a:ea typeface="微软雅黑"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a:latin typeface="微软雅黑" pitchFamily="34" charset="-122"/>
                <a:ea typeface="微软雅黑" pitchFamily="34" charset="-122"/>
              </a:rPr>
              <a:t>CLOSED</a:t>
            </a:r>
          </a:p>
        </p:txBody>
      </p:sp>
      <p:grpSp>
        <p:nvGrpSpPr>
          <p:cNvPr id="14" name="Group 13"/>
          <p:cNvGrpSpPr>
            <a:grpSpLocks/>
          </p:cNvGrpSpPr>
          <p:nvPr/>
        </p:nvGrpSpPr>
        <p:grpSpPr bwMode="auto">
          <a:xfrm>
            <a:off x="1847479" y="1458608"/>
            <a:ext cx="1095199" cy="593794"/>
            <a:chOff x="-57" y="1296"/>
            <a:chExt cx="1138" cy="617"/>
          </a:xfrm>
        </p:grpSpPr>
        <p:sp>
          <p:nvSpPr>
            <p:cNvPr id="15" name="Rectangle 14"/>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主动打开</a:t>
              </a:r>
            </a:p>
          </p:txBody>
        </p:sp>
        <p:sp>
          <p:nvSpPr>
            <p:cNvPr id="16" name="Freeform 15"/>
            <p:cNvSpPr>
              <a:spLocks/>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7" name="Group 16"/>
          <p:cNvGrpSpPr>
            <a:grpSpLocks/>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被动打开</a:t>
              </a:r>
            </a:p>
          </p:txBody>
        </p:sp>
        <p:sp>
          <p:nvSpPr>
            <p:cNvPr id="19" name="Freeform 18"/>
            <p:cNvSpPr>
              <a:spLocks/>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20"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A</a:t>
            </a:r>
          </a:p>
        </p:txBody>
      </p:sp>
      <p:sp>
        <p:nvSpPr>
          <p:cNvPr id="21"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22"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3"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服务器</a:t>
            </a:r>
          </a:p>
        </p:txBody>
      </p:sp>
      <p:pic>
        <p:nvPicPr>
          <p:cNvPr id="24" name="Picture 134"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34"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grpSp>
        <p:nvGrpSpPr>
          <p:cNvPr id="29" name="组合 28"/>
          <p:cNvGrpSpPr/>
          <p:nvPr/>
        </p:nvGrpSpPr>
        <p:grpSpPr>
          <a:xfrm>
            <a:off x="3196383" y="2596780"/>
            <a:ext cx="2679215" cy="406168"/>
            <a:chOff x="3196383" y="2596780"/>
            <a:chExt cx="2679215" cy="406168"/>
          </a:xfrm>
        </p:grpSpPr>
        <p:sp>
          <p:nvSpPr>
            <p:cNvPr id="27" name="Line 27"/>
            <p:cNvSpPr>
              <a:spLocks noChangeShapeType="1"/>
            </p:cNvSpPr>
            <p:nvPr/>
          </p:nvSpPr>
          <p:spPr bwMode="auto">
            <a:xfrm flipH="1">
              <a:off x="3397974" y="2596896"/>
              <a:ext cx="2477624" cy="406052"/>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kern="0">
                <a:latin typeface="微软雅黑" pitchFamily="34" charset="-122"/>
                <a:ea typeface="微软雅黑" pitchFamily="34" charset="-122"/>
              </a:endParaRPr>
            </a:p>
          </p:txBody>
        </p:sp>
        <p:sp>
          <p:nvSpPr>
            <p:cNvPr id="28" name="Rectangle 28"/>
            <p:cNvSpPr>
              <a:spLocks noChangeArrowheads="1"/>
            </p:cNvSpPr>
            <p:nvPr/>
          </p:nvSpPr>
          <p:spPr bwMode="auto">
            <a:xfrm rot="21038127" flipH="1">
              <a:off x="3196383" y="2596780"/>
              <a:ext cx="2585915"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SYN = 1, 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y,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x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grpSp>
      <p:sp>
        <p:nvSpPr>
          <p:cNvPr id="30" name="Text Box 155"/>
          <p:cNvSpPr txBox="1">
            <a:spLocks noChangeArrowheads="1"/>
          </p:cNvSpPr>
          <p:nvPr/>
        </p:nvSpPr>
        <p:spPr bwMode="auto">
          <a:xfrm>
            <a:off x="1774326" y="3365384"/>
            <a:ext cx="5514965" cy="904863"/>
          </a:xfrm>
          <a:prstGeom prst="rect">
            <a:avLst/>
          </a:prstGeom>
          <a:solidFill>
            <a:srgbClr val="FFFF99"/>
          </a:solidFill>
          <a:ln w="9525">
            <a:solidFill>
              <a:schemeClr val="tx1"/>
            </a:solidFill>
            <a:miter lim="800000"/>
            <a:headEnd/>
            <a:tailEnd/>
          </a:ln>
          <a:effectLst/>
        </p:spPr>
        <p:txBody>
          <a:bodyPr wrap="square">
            <a:spAutoFit/>
          </a:bodyPr>
          <a:lstStyle/>
          <a:p>
            <a:pPr marL="285750" indent="-285750">
              <a:lnSpc>
                <a:spcPct val="110000"/>
              </a:lnSpc>
              <a:buFont typeface="Wingdings" pitchFamily="2" charset="2"/>
              <a:buChar char="l"/>
            </a:pP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的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收到连接请求报文段后，如同意，则发回确认。</a:t>
            </a:r>
          </a:p>
          <a:p>
            <a:pPr marL="285750" indent="-285750">
              <a:lnSpc>
                <a:spcPct val="110000"/>
              </a:lnSpc>
              <a:buFont typeface="Wingdings" pitchFamily="2" charset="2"/>
              <a:buChar char="l"/>
            </a:pP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在确认报文段中应使 </a:t>
            </a:r>
            <a:r>
              <a:rPr lang="en-US" altLang="zh-CN" sz="1600" b="1" dirty="0">
                <a:latin typeface="微软雅黑" pitchFamily="34" charset="-122"/>
                <a:ea typeface="微软雅黑" pitchFamily="34" charset="-122"/>
              </a:rPr>
              <a:t>SYN = 1</a:t>
            </a:r>
            <a:r>
              <a:rPr lang="zh-CN" altLang="en-US" sz="1600" b="1" dirty="0">
                <a:latin typeface="微软雅黑" pitchFamily="34" charset="-122"/>
                <a:ea typeface="微软雅黑" pitchFamily="34" charset="-122"/>
              </a:rPr>
              <a:t>，使 </a:t>
            </a:r>
            <a:r>
              <a:rPr lang="en-US" altLang="zh-CN" sz="1600" b="1" dirty="0">
                <a:latin typeface="微软雅黑" pitchFamily="34" charset="-122"/>
                <a:ea typeface="微软雅黑" pitchFamily="34" charset="-122"/>
              </a:rPr>
              <a:t>ACK = 1</a:t>
            </a:r>
            <a:r>
              <a:rPr lang="zh-CN" altLang="en-US" sz="1600" b="1" dirty="0">
                <a:latin typeface="微软雅黑" pitchFamily="34" charset="-122"/>
                <a:ea typeface="微软雅黑" pitchFamily="34" charset="-122"/>
              </a:rPr>
              <a:t>，其确认号 </a:t>
            </a:r>
            <a:r>
              <a:rPr lang="en-US" altLang="zh-CN" sz="1600" b="1" dirty="0">
                <a:latin typeface="微软雅黑" pitchFamily="34" charset="-122"/>
                <a:ea typeface="微软雅黑" pitchFamily="34" charset="-122"/>
              </a:rPr>
              <a:t>ack = x + 1</a:t>
            </a:r>
            <a:r>
              <a:rPr lang="zh-CN" altLang="en-US" sz="1600" b="1" dirty="0">
                <a:latin typeface="微软雅黑" pitchFamily="34" charset="-122"/>
                <a:ea typeface="微软雅黑" pitchFamily="34" charset="-122"/>
              </a:rPr>
              <a:t>，</a:t>
            </a: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选择初始序号 </a:t>
            </a:r>
            <a:r>
              <a:rPr lang="en-US" altLang="zh-CN" sz="1600" b="1" dirty="0" err="1">
                <a:latin typeface="微软雅黑" pitchFamily="34" charset="-122"/>
                <a:ea typeface="微软雅黑" pitchFamily="34" charset="-122"/>
              </a:rPr>
              <a:t>seq</a:t>
            </a:r>
            <a:r>
              <a:rPr lang="en-US" altLang="zh-CN" sz="1600" b="1" dirty="0">
                <a:latin typeface="微软雅黑" pitchFamily="34" charset="-122"/>
                <a:ea typeface="微软雅黑" pitchFamily="34" charset="-122"/>
              </a:rPr>
              <a:t> = y</a:t>
            </a:r>
            <a:r>
              <a:rPr lang="zh-CN" altLang="en-US" sz="1600" b="1" dirty="0">
                <a:latin typeface="微软雅黑" pitchFamily="34" charset="-122"/>
                <a:ea typeface="微软雅黑" pitchFamily="34" charset="-122"/>
              </a:rPr>
              <a:t>。</a:t>
            </a:r>
          </a:p>
        </p:txBody>
      </p:sp>
      <p:sp>
        <p:nvSpPr>
          <p:cNvPr id="2" name="矩形 1"/>
          <p:cNvSpPr/>
          <p:nvPr/>
        </p:nvSpPr>
        <p:spPr>
          <a:xfrm>
            <a:off x="1541282" y="4368391"/>
            <a:ext cx="6216978" cy="369332"/>
          </a:xfrm>
          <a:prstGeom prst="rect">
            <a:avLst/>
          </a:prstGeom>
          <a:solidFill>
            <a:schemeClr val="accent6">
              <a:lumMod val="60000"/>
              <a:lumOff val="40000"/>
            </a:schemeClr>
          </a:solidFill>
        </p:spPr>
        <p:txBody>
          <a:bodyPr wrap="square">
            <a:spAutoFit/>
          </a:bodyPr>
          <a:lstStyle/>
          <a:p>
            <a:pPr algn="ctr"/>
            <a:r>
              <a:rPr lang="zh-CN" altLang="zh-CN" b="1" kern="500" dirty="0">
                <a:latin typeface="微软雅黑" panose="020B0503020204020204" pitchFamily="34" charset="-122"/>
                <a:ea typeface="微软雅黑" panose="020B0503020204020204" pitchFamily="34" charset="-122"/>
              </a:rPr>
              <a:t>这个报文段也</a:t>
            </a:r>
            <a:r>
              <a:rPr lang="zh-CN" altLang="zh-CN" b="1" kern="500" dirty="0">
                <a:solidFill>
                  <a:srgbClr val="0000FF"/>
                </a:solidFill>
                <a:latin typeface="微软雅黑" panose="020B0503020204020204" pitchFamily="34" charset="-122"/>
                <a:ea typeface="微软雅黑" panose="020B0503020204020204" pitchFamily="34" charset="-122"/>
              </a:rPr>
              <a:t>不能携带数据，</a:t>
            </a:r>
            <a:r>
              <a:rPr lang="zh-CN" altLang="zh-CN" b="1" kern="500" dirty="0">
                <a:latin typeface="微软雅黑" panose="020B0503020204020204" pitchFamily="34" charset="-122"/>
                <a:ea typeface="微软雅黑" panose="020B0503020204020204" pitchFamily="34" charset="-122"/>
              </a:rPr>
              <a:t>但同样要</a:t>
            </a:r>
            <a:r>
              <a:rPr lang="zh-CN" altLang="en-US" b="1" kern="500" dirty="0">
                <a:latin typeface="微软雅黑" panose="020B0503020204020204" pitchFamily="34" charset="-122"/>
                <a:ea typeface="微软雅黑" panose="020B0503020204020204" pitchFamily="34" charset="-122"/>
              </a:rPr>
              <a:t>占用</a:t>
            </a:r>
            <a:r>
              <a:rPr lang="zh-CN" altLang="zh-CN" b="1" kern="500" dirty="0">
                <a:latin typeface="微软雅黑" panose="020B0503020204020204" pitchFamily="34" charset="-122"/>
                <a:ea typeface="微软雅黑" panose="020B0503020204020204" pitchFamily="34" charset="-122"/>
              </a:rPr>
              <a:t>一个序号。</a:t>
            </a:r>
            <a:endParaRPr lang="zh-CN" altLang="en-US" b="1" kern="500" dirty="0">
              <a:latin typeface="微软雅黑" panose="020B0503020204020204" pitchFamily="34" charset="-122"/>
              <a:ea typeface="微软雅黑" panose="020B0503020204020204" pitchFamily="34" charset="-122"/>
            </a:endParaRPr>
          </a:p>
        </p:txBody>
      </p:sp>
      <p:grpSp>
        <p:nvGrpSpPr>
          <p:cNvPr id="26" name="Group 3">
            <a:extLst>
              <a:ext uri="{FF2B5EF4-FFF2-40B4-BE49-F238E27FC236}">
                <a16:creationId xmlns:a16="http://schemas.microsoft.com/office/drawing/2014/main" id="{035851C7-6FCB-E825-C960-158979E6771D}"/>
              </a:ext>
            </a:extLst>
          </p:cNvPr>
          <p:cNvGrpSpPr>
            <a:grpSpLocks/>
          </p:cNvGrpSpPr>
          <p:nvPr/>
        </p:nvGrpSpPr>
        <p:grpSpPr bwMode="auto">
          <a:xfrm>
            <a:off x="2771808" y="2066150"/>
            <a:ext cx="631164" cy="936798"/>
            <a:chOff x="899" y="1916"/>
            <a:chExt cx="622" cy="1048"/>
          </a:xfrm>
        </p:grpSpPr>
        <p:sp>
          <p:nvSpPr>
            <p:cNvPr id="32" name="Rectangle 4">
              <a:extLst>
                <a:ext uri="{FF2B5EF4-FFF2-40B4-BE49-F238E27FC236}">
                  <a16:creationId xmlns:a16="http://schemas.microsoft.com/office/drawing/2014/main" id="{01B34B53-14CD-E0A4-4B3C-91711BEE1862}"/>
                </a:ext>
              </a:extLst>
            </p:cNvPr>
            <p:cNvSpPr>
              <a:spLocks noChangeArrowheads="1"/>
            </p:cNvSpPr>
            <p:nvPr/>
          </p:nvSpPr>
          <p:spPr bwMode="auto">
            <a:xfrm>
              <a:off x="899" y="1916"/>
              <a:ext cx="622" cy="1048"/>
            </a:xfrm>
            <a:prstGeom prst="rect">
              <a:avLst/>
            </a:prstGeom>
            <a:solidFill>
              <a:srgbClr val="009900"/>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33" name="Rectangle 5">
              <a:extLst>
                <a:ext uri="{FF2B5EF4-FFF2-40B4-BE49-F238E27FC236}">
                  <a16:creationId xmlns:a16="http://schemas.microsoft.com/office/drawing/2014/main" id="{8D556E7F-E30C-3E9A-CC51-223A91B8A2F3}"/>
                </a:ext>
              </a:extLst>
            </p:cNvPr>
            <p:cNvSpPr>
              <a:spLocks noChangeArrowheads="1"/>
            </p:cNvSpPr>
            <p:nvPr/>
          </p:nvSpPr>
          <p:spPr bwMode="auto">
            <a:xfrm>
              <a:off x="946" y="2199"/>
              <a:ext cx="548"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SYN-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SENT</a:t>
              </a:r>
            </a:p>
          </p:txBody>
        </p:sp>
      </p:grpSp>
      <p:grpSp>
        <p:nvGrpSpPr>
          <p:cNvPr id="34" name="Group 12">
            <a:extLst>
              <a:ext uri="{FF2B5EF4-FFF2-40B4-BE49-F238E27FC236}">
                <a16:creationId xmlns:a16="http://schemas.microsoft.com/office/drawing/2014/main" id="{3FAACCE6-6484-8736-E6EA-F3E4CA0B8617}"/>
              </a:ext>
            </a:extLst>
          </p:cNvPr>
          <p:cNvGrpSpPr>
            <a:grpSpLocks/>
          </p:cNvGrpSpPr>
          <p:nvPr/>
        </p:nvGrpSpPr>
        <p:grpSpPr bwMode="auto">
          <a:xfrm>
            <a:off x="5866745" y="2045590"/>
            <a:ext cx="687989" cy="463930"/>
            <a:chOff x="3949" y="1893"/>
            <a:chExt cx="678" cy="519"/>
          </a:xfrm>
        </p:grpSpPr>
        <p:sp>
          <p:nvSpPr>
            <p:cNvPr id="35" name="Rectangle 13">
              <a:extLst>
                <a:ext uri="{FF2B5EF4-FFF2-40B4-BE49-F238E27FC236}">
                  <a16:creationId xmlns:a16="http://schemas.microsoft.com/office/drawing/2014/main" id="{8C3E0335-6EE4-942C-83B4-BC140ADECA83}"/>
                </a:ext>
              </a:extLst>
            </p:cNvPr>
            <p:cNvSpPr>
              <a:spLocks noChangeArrowheads="1"/>
            </p:cNvSpPr>
            <p:nvPr/>
          </p:nvSpPr>
          <p:spPr bwMode="auto">
            <a:xfrm>
              <a:off x="3949" y="1893"/>
              <a:ext cx="621" cy="519"/>
            </a:xfrm>
            <a:prstGeom prst="rect">
              <a:avLst/>
            </a:prstGeom>
            <a:solidFill>
              <a:srgbClr val="CC00CC"/>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36" name="Rectangle 14">
              <a:extLst>
                <a:ext uri="{FF2B5EF4-FFF2-40B4-BE49-F238E27FC236}">
                  <a16:creationId xmlns:a16="http://schemas.microsoft.com/office/drawing/2014/main" id="{1C8B421A-7D47-1260-7269-01D42BC189D2}"/>
                </a:ext>
              </a:extLst>
            </p:cNvPr>
            <p:cNvSpPr>
              <a:spLocks noChangeArrowheads="1"/>
            </p:cNvSpPr>
            <p:nvPr/>
          </p:nvSpPr>
          <p:spPr bwMode="auto">
            <a:xfrm>
              <a:off x="3956" y="2004"/>
              <a:ext cx="671"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LISTEN</a:t>
              </a:r>
            </a:p>
          </p:txBody>
        </p:sp>
      </p:grpSp>
      <p:sp>
        <p:nvSpPr>
          <p:cNvPr id="38" name="矩形 37">
            <a:extLst>
              <a:ext uri="{FF2B5EF4-FFF2-40B4-BE49-F238E27FC236}">
                <a16:creationId xmlns:a16="http://schemas.microsoft.com/office/drawing/2014/main" id="{6F8ECE61-3105-407A-D7A4-5B15A70D41FA}"/>
              </a:ext>
            </a:extLst>
          </p:cNvPr>
          <p:cNvSpPr/>
          <p:nvPr/>
        </p:nvSpPr>
        <p:spPr>
          <a:xfrm>
            <a:off x="1797879" y="2358936"/>
            <a:ext cx="1131526" cy="276999"/>
          </a:xfrm>
          <a:prstGeom prst="rect">
            <a:avLst/>
          </a:prstGeom>
        </p:spPr>
        <p:txBody>
          <a:bodyPr wrap="square">
            <a:spAutoFit/>
          </a:bodyPr>
          <a:lstStyle/>
          <a:p>
            <a:pPr algn="ctr"/>
            <a:r>
              <a:rPr lang="zh-CN" altLang="en-US" sz="1200" b="1" dirty="0">
                <a:solidFill>
                  <a:srgbClr val="0000FF"/>
                </a:solidFill>
                <a:latin typeface="微软雅黑" panose="020B0503020204020204" pitchFamily="34" charset="-122"/>
                <a:ea typeface="微软雅黑" panose="020B0503020204020204" pitchFamily="34" charset="-122"/>
              </a:rPr>
              <a:t>同步已发送</a:t>
            </a:r>
          </a:p>
        </p:txBody>
      </p:sp>
      <p:sp>
        <p:nvSpPr>
          <p:cNvPr id="39" name="矩形 38">
            <a:extLst>
              <a:ext uri="{FF2B5EF4-FFF2-40B4-BE49-F238E27FC236}">
                <a16:creationId xmlns:a16="http://schemas.microsoft.com/office/drawing/2014/main" id="{445C4057-949B-8B41-5B17-2187B9627FD9}"/>
              </a:ext>
            </a:extLst>
          </p:cNvPr>
          <p:cNvSpPr/>
          <p:nvPr/>
        </p:nvSpPr>
        <p:spPr>
          <a:xfrm>
            <a:off x="6374300" y="2119796"/>
            <a:ext cx="630149" cy="276999"/>
          </a:xfrm>
          <a:prstGeom prst="rect">
            <a:avLst/>
          </a:prstGeom>
        </p:spPr>
        <p:txBody>
          <a:bodyPr wrap="square">
            <a:spAutoFit/>
          </a:bodyPr>
          <a:lstStyle/>
          <a:p>
            <a:pPr algn="ctr"/>
            <a:r>
              <a:rPr lang="zh-CN" altLang="en-US" sz="1200" b="1" dirty="0">
                <a:solidFill>
                  <a:srgbClr val="0000FF"/>
                </a:solidFill>
                <a:latin typeface="微软雅黑" panose="020B0503020204020204" pitchFamily="34" charset="-122"/>
                <a:ea typeface="微软雅黑" panose="020B0503020204020204" pitchFamily="34" charset="-122"/>
              </a:rPr>
              <a:t>监听</a:t>
            </a:r>
          </a:p>
        </p:txBody>
      </p:sp>
    </p:spTree>
    <p:extLst>
      <p:ext uri="{BB962C8B-B14F-4D97-AF65-F5344CB8AC3E}">
        <p14:creationId xmlns:p14="http://schemas.microsoft.com/office/powerpoint/2010/main" val="3160544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withEffect">
                                  <p:stCondLst>
                                    <p:cond delay="0"/>
                                  </p:stCondLst>
                                  <p:childTnLst>
                                    <p:anim calcmode="discrete" valueType="str">
                                      <p:cBhvr>
                                        <p:cTn id="6" dur="1000" fill="hold"/>
                                        <p:tgtEl>
                                          <p:spTgt spid="26"/>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1000"/>
                                        <p:tgtEl>
                                          <p:spTgt spid="30"/>
                                        </p:tgtEl>
                                      </p:cBhvr>
                                    </p:animEffect>
                                    <p:anim calcmode="lin" valueType="num">
                                      <p:cBhvr>
                                        <p:cTn id="12" dur="1000" fill="hold"/>
                                        <p:tgtEl>
                                          <p:spTgt spid="30"/>
                                        </p:tgtEl>
                                        <p:attrNameLst>
                                          <p:attrName>ppt_x</p:attrName>
                                        </p:attrNameLst>
                                      </p:cBhvr>
                                      <p:tavLst>
                                        <p:tav tm="0">
                                          <p:val>
                                            <p:strVal val="#ppt_x"/>
                                          </p:val>
                                        </p:tav>
                                        <p:tav tm="100000">
                                          <p:val>
                                            <p:strVal val="#ppt_x"/>
                                          </p:val>
                                        </p:tav>
                                      </p:tavLst>
                                    </p:anim>
                                    <p:anim calcmode="lin" valueType="num">
                                      <p:cBhvr>
                                        <p:cTn id="13"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2" fill="hold" nodeType="click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wipe(right)">
                                      <p:cBhvr>
                                        <p:cTn id="18" dur="2000"/>
                                        <p:tgtEl>
                                          <p:spTgt spid="29"/>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p:cTn id="23" dur="500" fill="hold"/>
                                        <p:tgtEl>
                                          <p:spTgt spid="2"/>
                                        </p:tgtEl>
                                        <p:attrNameLst>
                                          <p:attrName>ppt_w</p:attrName>
                                        </p:attrNameLst>
                                      </p:cBhvr>
                                      <p:tavLst>
                                        <p:tav tm="0">
                                          <p:val>
                                            <p:fltVal val="0"/>
                                          </p:val>
                                        </p:tav>
                                        <p:tav tm="100000">
                                          <p:val>
                                            <p:strVal val="#ppt_w"/>
                                          </p:val>
                                        </p:tav>
                                      </p:tavLst>
                                    </p:anim>
                                    <p:anim calcmode="lin" valueType="num">
                                      <p:cBhvr>
                                        <p:cTn id="24" dur="500" fill="hold"/>
                                        <p:tgtEl>
                                          <p:spTgt spid="2"/>
                                        </p:tgtEl>
                                        <p:attrNameLst>
                                          <p:attrName>ppt_h</p:attrName>
                                        </p:attrNameLst>
                                      </p:cBhvr>
                                      <p:tavLst>
                                        <p:tav tm="0">
                                          <p:val>
                                            <p:fltVal val="0"/>
                                          </p:val>
                                        </p:tav>
                                        <p:tav tm="100000">
                                          <p:val>
                                            <p:strVal val="#ppt_h"/>
                                          </p:val>
                                        </p:tav>
                                      </p:tavLst>
                                    </p:anim>
                                    <p:animEffect transition="in" filter="fade">
                                      <p:cBhvr>
                                        <p:cTn id="2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2"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圆角矩形 33"/>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的连接建立：采用三报文握手</a:t>
            </a:r>
          </a:p>
        </p:txBody>
      </p:sp>
      <p:grpSp>
        <p:nvGrpSpPr>
          <p:cNvPr id="4" name="Group 2"/>
          <p:cNvGrpSpPr>
            <a:grpSpLocks/>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7" name="Group 6"/>
          <p:cNvGrpSpPr>
            <a:grpSpLocks/>
          </p:cNvGrpSpPr>
          <p:nvPr/>
        </p:nvGrpSpPr>
        <p:grpSpPr bwMode="auto">
          <a:xfrm>
            <a:off x="3365167" y="2006212"/>
            <a:ext cx="2492586" cy="512955"/>
            <a:chOff x="1520" y="1865"/>
            <a:chExt cx="2590" cy="533"/>
          </a:xfrm>
        </p:grpSpPr>
        <p:sp>
          <p:nvSpPr>
            <p:cNvPr id="8" name="Rectangle 7"/>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SYN = 1, </a:t>
              </a: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x</a:t>
              </a:r>
            </a:p>
          </p:txBody>
        </p:sp>
        <p:sp>
          <p:nvSpPr>
            <p:cNvPr id="9" name="Line 8"/>
            <p:cNvSpPr>
              <a:spLocks noChangeShapeType="1"/>
            </p:cNvSpPr>
            <p:nvPr/>
          </p:nvSpPr>
          <p:spPr bwMode="auto">
            <a:xfrm>
              <a:off x="1520" y="1893"/>
              <a:ext cx="2590" cy="505"/>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dirty="0">
                <a:latin typeface="微软雅黑" pitchFamily="34" charset="-122"/>
                <a:ea typeface="微软雅黑"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a:latin typeface="微软雅黑" pitchFamily="34" charset="-122"/>
                <a:ea typeface="微软雅黑" pitchFamily="34" charset="-122"/>
              </a:rPr>
              <a:t>CLOSED</a:t>
            </a:r>
          </a:p>
        </p:txBody>
      </p:sp>
      <p:grpSp>
        <p:nvGrpSpPr>
          <p:cNvPr id="14" name="Group 13"/>
          <p:cNvGrpSpPr>
            <a:grpSpLocks/>
          </p:cNvGrpSpPr>
          <p:nvPr/>
        </p:nvGrpSpPr>
        <p:grpSpPr bwMode="auto">
          <a:xfrm>
            <a:off x="1847479" y="1458608"/>
            <a:ext cx="1095199" cy="593794"/>
            <a:chOff x="-57" y="1296"/>
            <a:chExt cx="1138" cy="617"/>
          </a:xfrm>
        </p:grpSpPr>
        <p:sp>
          <p:nvSpPr>
            <p:cNvPr id="15" name="Rectangle 14"/>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主动打开</a:t>
              </a:r>
            </a:p>
          </p:txBody>
        </p:sp>
        <p:sp>
          <p:nvSpPr>
            <p:cNvPr id="16" name="Freeform 15"/>
            <p:cNvSpPr>
              <a:spLocks/>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7" name="Group 16"/>
          <p:cNvGrpSpPr>
            <a:grpSpLocks/>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被动打开</a:t>
              </a:r>
            </a:p>
          </p:txBody>
        </p:sp>
        <p:sp>
          <p:nvSpPr>
            <p:cNvPr id="19" name="Freeform 18"/>
            <p:cNvSpPr>
              <a:spLocks/>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20"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A</a:t>
            </a:r>
          </a:p>
        </p:txBody>
      </p:sp>
      <p:sp>
        <p:nvSpPr>
          <p:cNvPr id="21"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22"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3"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服务器</a:t>
            </a:r>
          </a:p>
        </p:txBody>
      </p:sp>
      <p:pic>
        <p:nvPicPr>
          <p:cNvPr id="24" name="Picture 134"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34"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grpSp>
        <p:nvGrpSpPr>
          <p:cNvPr id="33" name="组合 32"/>
          <p:cNvGrpSpPr/>
          <p:nvPr/>
        </p:nvGrpSpPr>
        <p:grpSpPr>
          <a:xfrm>
            <a:off x="3381262" y="3060495"/>
            <a:ext cx="2492586" cy="486008"/>
            <a:chOff x="3369609" y="3385648"/>
            <a:chExt cx="2492586" cy="486008"/>
          </a:xfrm>
        </p:grpSpPr>
        <p:sp>
          <p:nvSpPr>
            <p:cNvPr id="30" name="Line 8"/>
            <p:cNvSpPr>
              <a:spLocks noChangeShapeType="1"/>
            </p:cNvSpPr>
            <p:nvPr/>
          </p:nvSpPr>
          <p:spPr bwMode="auto">
            <a:xfrm>
              <a:off x="3369609" y="3385648"/>
              <a:ext cx="2492586" cy="486008"/>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32" name="Rectangle 7"/>
            <p:cNvSpPr>
              <a:spLocks noChangeArrowheads="1"/>
            </p:cNvSpPr>
            <p:nvPr/>
          </p:nvSpPr>
          <p:spPr bwMode="auto">
            <a:xfrm rot="665985">
              <a:off x="3673451" y="3400197"/>
              <a:ext cx="2046588"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lvl="0" defTabSz="762000" eaLnBrk="0" hangingPunct="0">
                <a:defRPr/>
              </a:pPr>
              <a:r>
                <a:rPr lang="es-ES" altLang="zh-CN" sz="900" b="1" kern="0" dirty="0">
                  <a:latin typeface="微软雅黑" pitchFamily="34" charset="-122"/>
                  <a:ea typeface="微软雅黑" pitchFamily="34" charset="-122"/>
                </a:rPr>
                <a:t>ACK = 1, seq = x + 1, ack = y+1</a:t>
              </a:r>
            </a:p>
          </p:txBody>
        </p:sp>
      </p:grpSp>
      <p:sp>
        <p:nvSpPr>
          <p:cNvPr id="35" name="矩形 34"/>
          <p:cNvSpPr/>
          <p:nvPr/>
        </p:nvSpPr>
        <p:spPr>
          <a:xfrm>
            <a:off x="1131216" y="4123289"/>
            <a:ext cx="6862714" cy="620683"/>
          </a:xfrm>
          <a:prstGeom prst="rect">
            <a:avLst/>
          </a:prstGeom>
          <a:solidFill>
            <a:schemeClr val="accent6">
              <a:lumMod val="60000"/>
              <a:lumOff val="40000"/>
            </a:schemeClr>
          </a:solidFill>
        </p:spPr>
        <p:txBody>
          <a:bodyPr wrap="square">
            <a:spAutoFit/>
          </a:bodyPr>
          <a:lstStyle/>
          <a:p>
            <a:pPr algn="ctr">
              <a:lnSpc>
                <a:spcPts val="2200"/>
              </a:lnSpc>
            </a:pPr>
            <a:r>
              <a:rPr lang="en-US" altLang="zh-CN" sz="1600" b="1" kern="500" dirty="0">
                <a:latin typeface="微软雅黑" panose="020B0503020204020204" pitchFamily="34" charset="-122"/>
                <a:ea typeface="微软雅黑" panose="020B0503020204020204" pitchFamily="34" charset="-122"/>
              </a:rPr>
              <a:t>TCP </a:t>
            </a:r>
            <a:r>
              <a:rPr lang="zh-CN" altLang="en-US" sz="1600" b="1" kern="500" dirty="0">
                <a:latin typeface="微软雅黑" panose="020B0503020204020204" pitchFamily="34" charset="-122"/>
                <a:ea typeface="微软雅黑" panose="020B0503020204020204" pitchFamily="34" charset="-122"/>
              </a:rPr>
              <a:t>标准规定：</a:t>
            </a:r>
            <a:r>
              <a:rPr lang="en-US" altLang="zh-CN" sz="1600" b="1" kern="500" dirty="0">
                <a:solidFill>
                  <a:srgbClr val="0000FF"/>
                </a:solidFill>
                <a:latin typeface="微软雅黑" panose="020B0503020204020204" pitchFamily="34" charset="-122"/>
                <a:ea typeface="微软雅黑" panose="020B0503020204020204" pitchFamily="34" charset="-122"/>
              </a:rPr>
              <a:t>ACK </a:t>
            </a:r>
            <a:r>
              <a:rPr lang="zh-CN" altLang="en-US" sz="1600" b="1" kern="500" dirty="0">
                <a:solidFill>
                  <a:srgbClr val="0000FF"/>
                </a:solidFill>
                <a:latin typeface="微软雅黑" panose="020B0503020204020204" pitchFamily="34" charset="-122"/>
                <a:ea typeface="微软雅黑" panose="020B0503020204020204" pitchFamily="34" charset="-122"/>
              </a:rPr>
              <a:t>报文段可以携带数据。</a:t>
            </a:r>
            <a:endParaRPr lang="en-US" altLang="zh-CN" sz="1600" b="1" kern="500" dirty="0">
              <a:solidFill>
                <a:srgbClr val="0000FF"/>
              </a:solidFill>
              <a:latin typeface="微软雅黑" panose="020B0503020204020204" pitchFamily="34" charset="-122"/>
              <a:ea typeface="微软雅黑" panose="020B0503020204020204" pitchFamily="34" charset="-122"/>
            </a:endParaRPr>
          </a:p>
          <a:p>
            <a:pPr algn="ctr"/>
            <a:r>
              <a:rPr lang="zh-CN" altLang="en-US" sz="1600" b="1" kern="500" dirty="0">
                <a:latin typeface="微软雅黑" panose="020B0503020204020204" pitchFamily="34" charset="-122"/>
                <a:ea typeface="微软雅黑" panose="020B0503020204020204" pitchFamily="34" charset="-122"/>
              </a:rPr>
              <a:t>但如果不携带数据，则不占用序号，</a:t>
            </a:r>
            <a:r>
              <a:rPr lang="zh-CN" altLang="en-US" sz="1400" b="1" kern="500" dirty="0">
                <a:latin typeface="微软雅黑" panose="020B0503020204020204" pitchFamily="34" charset="-122"/>
                <a:ea typeface="微软雅黑" panose="020B0503020204020204" pitchFamily="34" charset="-122"/>
              </a:rPr>
              <a:t>下一个数据报文段的序号仍是 </a:t>
            </a:r>
            <a:r>
              <a:rPr lang="en-US" altLang="zh-CN" sz="1400" b="1" kern="500" dirty="0" err="1">
                <a:latin typeface="微软雅黑" panose="020B0503020204020204" pitchFamily="34" charset="-122"/>
                <a:ea typeface="微软雅黑" panose="020B0503020204020204" pitchFamily="34" charset="-122"/>
              </a:rPr>
              <a:t>seq</a:t>
            </a:r>
            <a:r>
              <a:rPr lang="en-US" altLang="zh-CN" sz="1400" b="1" kern="500" dirty="0">
                <a:latin typeface="微软雅黑" panose="020B0503020204020204" pitchFamily="34" charset="-122"/>
                <a:ea typeface="微软雅黑" panose="020B0503020204020204" pitchFamily="34" charset="-122"/>
              </a:rPr>
              <a:t> = x + 1</a:t>
            </a:r>
            <a:r>
              <a:rPr lang="zh-CN" altLang="en-US" sz="1400" b="1" kern="500" dirty="0">
                <a:latin typeface="微软雅黑" panose="020B0503020204020204" pitchFamily="34" charset="-122"/>
                <a:ea typeface="微软雅黑" panose="020B0503020204020204" pitchFamily="34" charset="-122"/>
              </a:rPr>
              <a:t>。</a:t>
            </a:r>
          </a:p>
        </p:txBody>
      </p:sp>
      <p:grpSp>
        <p:nvGrpSpPr>
          <p:cNvPr id="2" name="Group 9">
            <a:extLst>
              <a:ext uri="{FF2B5EF4-FFF2-40B4-BE49-F238E27FC236}">
                <a16:creationId xmlns:a16="http://schemas.microsoft.com/office/drawing/2014/main" id="{9530B849-311D-B17B-0ECB-20074492B83B}"/>
              </a:ext>
            </a:extLst>
          </p:cNvPr>
          <p:cNvGrpSpPr>
            <a:grpSpLocks/>
          </p:cNvGrpSpPr>
          <p:nvPr/>
        </p:nvGrpSpPr>
        <p:grpSpPr bwMode="auto">
          <a:xfrm>
            <a:off x="5866745" y="2539018"/>
            <a:ext cx="630149" cy="951101"/>
            <a:chOff x="3949" y="2445"/>
            <a:chExt cx="621" cy="1064"/>
          </a:xfrm>
        </p:grpSpPr>
        <p:sp>
          <p:nvSpPr>
            <p:cNvPr id="31" name="Rectangle 10">
              <a:extLst>
                <a:ext uri="{FF2B5EF4-FFF2-40B4-BE49-F238E27FC236}">
                  <a16:creationId xmlns:a16="http://schemas.microsoft.com/office/drawing/2014/main" id="{523610AA-0881-7B5C-3015-E7110D8C76F3}"/>
                </a:ext>
              </a:extLst>
            </p:cNvPr>
            <p:cNvSpPr>
              <a:spLocks noChangeArrowheads="1"/>
            </p:cNvSpPr>
            <p:nvPr/>
          </p:nvSpPr>
          <p:spPr bwMode="auto">
            <a:xfrm>
              <a:off x="3949" y="2445"/>
              <a:ext cx="621" cy="1064"/>
            </a:xfrm>
            <a:prstGeom prst="rect">
              <a:avLst/>
            </a:prstGeom>
            <a:solidFill>
              <a:srgbClr val="009900"/>
            </a:solidFill>
            <a:ln>
              <a:noFill/>
            </a:ln>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36" name="Rectangle 11">
              <a:extLst>
                <a:ext uri="{FF2B5EF4-FFF2-40B4-BE49-F238E27FC236}">
                  <a16:creationId xmlns:a16="http://schemas.microsoft.com/office/drawing/2014/main" id="{8E64BC34-AD50-70FB-88E2-0191506E405E}"/>
                </a:ext>
              </a:extLst>
            </p:cNvPr>
            <p:cNvSpPr>
              <a:spLocks noChangeArrowheads="1"/>
            </p:cNvSpPr>
            <p:nvPr/>
          </p:nvSpPr>
          <p:spPr bwMode="auto">
            <a:xfrm>
              <a:off x="3976" y="2751"/>
              <a:ext cx="580"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SYN-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RCVD</a:t>
              </a:r>
            </a:p>
          </p:txBody>
        </p:sp>
      </p:grpSp>
      <p:grpSp>
        <p:nvGrpSpPr>
          <p:cNvPr id="37" name="Group 3">
            <a:extLst>
              <a:ext uri="{FF2B5EF4-FFF2-40B4-BE49-F238E27FC236}">
                <a16:creationId xmlns:a16="http://schemas.microsoft.com/office/drawing/2014/main" id="{E0725FD4-BA27-CF0D-5D5B-B3DBF57D57E5}"/>
              </a:ext>
            </a:extLst>
          </p:cNvPr>
          <p:cNvGrpSpPr>
            <a:grpSpLocks/>
          </p:cNvGrpSpPr>
          <p:nvPr/>
        </p:nvGrpSpPr>
        <p:grpSpPr bwMode="auto">
          <a:xfrm>
            <a:off x="2771808" y="2066150"/>
            <a:ext cx="631164" cy="936798"/>
            <a:chOff x="899" y="1916"/>
            <a:chExt cx="622" cy="1048"/>
          </a:xfrm>
        </p:grpSpPr>
        <p:sp>
          <p:nvSpPr>
            <p:cNvPr id="38" name="Rectangle 4">
              <a:extLst>
                <a:ext uri="{FF2B5EF4-FFF2-40B4-BE49-F238E27FC236}">
                  <a16:creationId xmlns:a16="http://schemas.microsoft.com/office/drawing/2014/main" id="{FF842046-CEC3-5F97-CB24-15D6A76F820B}"/>
                </a:ext>
              </a:extLst>
            </p:cNvPr>
            <p:cNvSpPr>
              <a:spLocks noChangeArrowheads="1"/>
            </p:cNvSpPr>
            <p:nvPr/>
          </p:nvSpPr>
          <p:spPr bwMode="auto">
            <a:xfrm>
              <a:off x="899" y="1916"/>
              <a:ext cx="622" cy="1048"/>
            </a:xfrm>
            <a:prstGeom prst="rect">
              <a:avLst/>
            </a:prstGeom>
            <a:solidFill>
              <a:srgbClr val="009900"/>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39" name="Rectangle 5">
              <a:extLst>
                <a:ext uri="{FF2B5EF4-FFF2-40B4-BE49-F238E27FC236}">
                  <a16:creationId xmlns:a16="http://schemas.microsoft.com/office/drawing/2014/main" id="{CC08B2F6-3E8B-2F01-7FB1-893B05C3675E}"/>
                </a:ext>
              </a:extLst>
            </p:cNvPr>
            <p:cNvSpPr>
              <a:spLocks noChangeArrowheads="1"/>
            </p:cNvSpPr>
            <p:nvPr/>
          </p:nvSpPr>
          <p:spPr bwMode="auto">
            <a:xfrm>
              <a:off x="946" y="2199"/>
              <a:ext cx="548"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SYN-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SENT</a:t>
              </a:r>
            </a:p>
          </p:txBody>
        </p:sp>
      </p:grpSp>
      <p:grpSp>
        <p:nvGrpSpPr>
          <p:cNvPr id="40" name="Group 12">
            <a:extLst>
              <a:ext uri="{FF2B5EF4-FFF2-40B4-BE49-F238E27FC236}">
                <a16:creationId xmlns:a16="http://schemas.microsoft.com/office/drawing/2014/main" id="{32D647DD-0491-DD58-B266-1B6A68BC37FC}"/>
              </a:ext>
            </a:extLst>
          </p:cNvPr>
          <p:cNvGrpSpPr>
            <a:grpSpLocks/>
          </p:cNvGrpSpPr>
          <p:nvPr/>
        </p:nvGrpSpPr>
        <p:grpSpPr bwMode="auto">
          <a:xfrm>
            <a:off x="5866745" y="2045590"/>
            <a:ext cx="687989" cy="463930"/>
            <a:chOff x="3949" y="1893"/>
            <a:chExt cx="678" cy="519"/>
          </a:xfrm>
        </p:grpSpPr>
        <p:sp>
          <p:nvSpPr>
            <p:cNvPr id="41" name="Rectangle 13">
              <a:extLst>
                <a:ext uri="{FF2B5EF4-FFF2-40B4-BE49-F238E27FC236}">
                  <a16:creationId xmlns:a16="http://schemas.microsoft.com/office/drawing/2014/main" id="{E7EE65A0-2046-3875-47C3-0704E1AC513C}"/>
                </a:ext>
              </a:extLst>
            </p:cNvPr>
            <p:cNvSpPr>
              <a:spLocks noChangeArrowheads="1"/>
            </p:cNvSpPr>
            <p:nvPr/>
          </p:nvSpPr>
          <p:spPr bwMode="auto">
            <a:xfrm>
              <a:off x="3949" y="1893"/>
              <a:ext cx="621" cy="519"/>
            </a:xfrm>
            <a:prstGeom prst="rect">
              <a:avLst/>
            </a:prstGeom>
            <a:solidFill>
              <a:srgbClr val="CC00CC"/>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42" name="Rectangle 14">
              <a:extLst>
                <a:ext uri="{FF2B5EF4-FFF2-40B4-BE49-F238E27FC236}">
                  <a16:creationId xmlns:a16="http://schemas.microsoft.com/office/drawing/2014/main" id="{2E622C21-4E2E-3B0B-B7A6-EC6812F4587F}"/>
                </a:ext>
              </a:extLst>
            </p:cNvPr>
            <p:cNvSpPr>
              <a:spLocks noChangeArrowheads="1"/>
            </p:cNvSpPr>
            <p:nvPr/>
          </p:nvSpPr>
          <p:spPr bwMode="auto">
            <a:xfrm>
              <a:off x="3956" y="2004"/>
              <a:ext cx="671"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LISTEN</a:t>
              </a:r>
            </a:p>
          </p:txBody>
        </p:sp>
      </p:grpSp>
      <p:sp>
        <p:nvSpPr>
          <p:cNvPr id="26" name="Text Box 155"/>
          <p:cNvSpPr txBox="1">
            <a:spLocks noChangeArrowheads="1"/>
          </p:cNvSpPr>
          <p:nvPr/>
        </p:nvSpPr>
        <p:spPr bwMode="auto">
          <a:xfrm>
            <a:off x="873301" y="2815766"/>
            <a:ext cx="2436395" cy="1090298"/>
          </a:xfrm>
          <a:prstGeom prst="rect">
            <a:avLst/>
          </a:prstGeom>
          <a:solidFill>
            <a:srgbClr val="FFFF99"/>
          </a:solidFill>
          <a:ln w="9525">
            <a:solidFill>
              <a:schemeClr val="tx1"/>
            </a:solidFill>
            <a:miter lim="800000"/>
            <a:headEnd/>
            <a:tailEnd/>
          </a:ln>
          <a:effectLst/>
        </p:spPr>
        <p:txBody>
          <a:bodyPr wrap="square">
            <a:spAutoFit/>
          </a:bodyPr>
          <a:lstStyle/>
          <a:p>
            <a:pPr>
              <a:lnSpc>
                <a:spcPct val="110000"/>
              </a:lnSpc>
            </a:pPr>
            <a:r>
              <a:rPr lang="en-US" altLang="zh-CN" sz="1500" b="1" dirty="0">
                <a:latin typeface="微软雅黑" pitchFamily="34" charset="-122"/>
                <a:ea typeface="微软雅黑" pitchFamily="34" charset="-122"/>
              </a:rPr>
              <a:t>A </a:t>
            </a:r>
            <a:r>
              <a:rPr lang="zh-CN" altLang="en-US" sz="1500" b="1" dirty="0">
                <a:latin typeface="微软雅黑" pitchFamily="34" charset="-122"/>
                <a:ea typeface="微软雅黑" pitchFamily="34" charset="-122"/>
              </a:rPr>
              <a:t>收到此报文段后向 </a:t>
            </a:r>
            <a:r>
              <a:rPr lang="en-US" altLang="zh-CN" sz="1500" b="1" dirty="0">
                <a:latin typeface="微软雅黑" pitchFamily="34" charset="-122"/>
                <a:ea typeface="微软雅黑" pitchFamily="34" charset="-122"/>
              </a:rPr>
              <a:t>B </a:t>
            </a:r>
            <a:r>
              <a:rPr lang="zh-CN" altLang="en-US" sz="1500" b="1" dirty="0">
                <a:latin typeface="微软雅黑" pitchFamily="34" charset="-122"/>
                <a:ea typeface="微软雅黑" pitchFamily="34" charset="-122"/>
              </a:rPr>
              <a:t>发送确认，其 </a:t>
            </a:r>
            <a:r>
              <a:rPr lang="en-US" altLang="zh-CN" sz="1500" b="1" dirty="0">
                <a:latin typeface="微软雅黑" pitchFamily="34" charset="-122"/>
                <a:ea typeface="微软雅黑" pitchFamily="34" charset="-122"/>
              </a:rPr>
              <a:t>ACK = 1</a:t>
            </a:r>
            <a:r>
              <a:rPr lang="zh-CN" altLang="en-US" sz="1500" b="1" dirty="0">
                <a:latin typeface="微软雅黑" pitchFamily="34" charset="-122"/>
                <a:ea typeface="微软雅黑" pitchFamily="34" charset="-122"/>
              </a:rPr>
              <a:t>，确认号 </a:t>
            </a:r>
            <a:r>
              <a:rPr lang="en-US" altLang="zh-CN" sz="1500" b="1" dirty="0">
                <a:latin typeface="微软雅黑" pitchFamily="34" charset="-122"/>
                <a:ea typeface="微软雅黑" pitchFamily="34" charset="-122"/>
              </a:rPr>
              <a:t>ack = y + 1</a:t>
            </a:r>
            <a:r>
              <a:rPr lang="zh-CN" altLang="en-US" sz="1500" b="1" dirty="0">
                <a:latin typeface="微软雅黑" pitchFamily="34" charset="-122"/>
                <a:ea typeface="微软雅黑" pitchFamily="34" charset="-122"/>
              </a:rPr>
              <a:t>，而序号 </a:t>
            </a:r>
            <a:r>
              <a:rPr lang="en-US" altLang="zh-CN" sz="1500" b="1" dirty="0">
                <a:latin typeface="微软雅黑" pitchFamily="34" charset="-122"/>
                <a:ea typeface="微软雅黑" pitchFamily="34" charset="-122"/>
              </a:rPr>
              <a:t>seq = x + 1</a:t>
            </a:r>
            <a:r>
              <a:rPr lang="zh-CN" altLang="en-US" sz="1500" b="1" dirty="0">
                <a:latin typeface="微软雅黑" pitchFamily="34" charset="-122"/>
                <a:ea typeface="微软雅黑" pitchFamily="34" charset="-122"/>
              </a:rPr>
              <a:t>。</a:t>
            </a:r>
          </a:p>
        </p:txBody>
      </p:sp>
      <p:sp>
        <p:nvSpPr>
          <p:cNvPr id="43" name="矩形 42">
            <a:extLst>
              <a:ext uri="{FF2B5EF4-FFF2-40B4-BE49-F238E27FC236}">
                <a16:creationId xmlns:a16="http://schemas.microsoft.com/office/drawing/2014/main" id="{3C8A5530-8202-5209-3E64-FBABA7FC5345}"/>
              </a:ext>
            </a:extLst>
          </p:cNvPr>
          <p:cNvSpPr/>
          <p:nvPr/>
        </p:nvSpPr>
        <p:spPr>
          <a:xfrm>
            <a:off x="6325060" y="2844543"/>
            <a:ext cx="1028288" cy="276999"/>
          </a:xfrm>
          <a:prstGeom prst="rect">
            <a:avLst/>
          </a:prstGeom>
        </p:spPr>
        <p:txBody>
          <a:bodyPr wrap="square">
            <a:spAutoFit/>
          </a:bodyPr>
          <a:lstStyle/>
          <a:p>
            <a:pPr algn="ctr"/>
            <a:r>
              <a:rPr lang="zh-CN" altLang="en-US" sz="1200" b="1" dirty="0">
                <a:solidFill>
                  <a:srgbClr val="0000FF"/>
                </a:solidFill>
                <a:latin typeface="微软雅黑" panose="020B0503020204020204" pitchFamily="34" charset="-122"/>
                <a:ea typeface="微软雅黑" panose="020B0503020204020204" pitchFamily="34" charset="-122"/>
              </a:rPr>
              <a:t>同步收到</a:t>
            </a:r>
          </a:p>
        </p:txBody>
      </p:sp>
      <p:sp>
        <p:nvSpPr>
          <p:cNvPr id="44" name="矩形 43">
            <a:extLst>
              <a:ext uri="{FF2B5EF4-FFF2-40B4-BE49-F238E27FC236}">
                <a16:creationId xmlns:a16="http://schemas.microsoft.com/office/drawing/2014/main" id="{BD64FD03-9BA5-09F2-CB7E-A277879A21DF}"/>
              </a:ext>
            </a:extLst>
          </p:cNvPr>
          <p:cNvSpPr/>
          <p:nvPr/>
        </p:nvSpPr>
        <p:spPr>
          <a:xfrm>
            <a:off x="1797879" y="2358936"/>
            <a:ext cx="1131526" cy="276999"/>
          </a:xfrm>
          <a:prstGeom prst="rect">
            <a:avLst/>
          </a:prstGeom>
        </p:spPr>
        <p:txBody>
          <a:bodyPr wrap="square">
            <a:spAutoFit/>
          </a:bodyPr>
          <a:lstStyle/>
          <a:p>
            <a:pPr algn="ctr"/>
            <a:r>
              <a:rPr lang="zh-CN" altLang="en-US" sz="1200" b="1" dirty="0">
                <a:solidFill>
                  <a:srgbClr val="0000FF"/>
                </a:solidFill>
                <a:latin typeface="微软雅黑" panose="020B0503020204020204" pitchFamily="34" charset="-122"/>
                <a:ea typeface="微软雅黑" panose="020B0503020204020204" pitchFamily="34" charset="-122"/>
              </a:rPr>
              <a:t>同步已发送</a:t>
            </a:r>
          </a:p>
        </p:txBody>
      </p:sp>
      <p:sp>
        <p:nvSpPr>
          <p:cNvPr id="45" name="矩形 44">
            <a:extLst>
              <a:ext uri="{FF2B5EF4-FFF2-40B4-BE49-F238E27FC236}">
                <a16:creationId xmlns:a16="http://schemas.microsoft.com/office/drawing/2014/main" id="{DF572232-6963-028F-BDD2-9F06587BDC56}"/>
              </a:ext>
            </a:extLst>
          </p:cNvPr>
          <p:cNvSpPr/>
          <p:nvPr/>
        </p:nvSpPr>
        <p:spPr>
          <a:xfrm>
            <a:off x="6374300" y="2119796"/>
            <a:ext cx="630149" cy="276999"/>
          </a:xfrm>
          <a:prstGeom prst="rect">
            <a:avLst/>
          </a:prstGeom>
        </p:spPr>
        <p:txBody>
          <a:bodyPr wrap="square">
            <a:spAutoFit/>
          </a:bodyPr>
          <a:lstStyle/>
          <a:p>
            <a:pPr algn="ctr"/>
            <a:r>
              <a:rPr lang="zh-CN" altLang="en-US" sz="1200" b="1" dirty="0">
                <a:solidFill>
                  <a:srgbClr val="0000FF"/>
                </a:solidFill>
                <a:latin typeface="微软雅黑" panose="020B0503020204020204" pitchFamily="34" charset="-122"/>
                <a:ea typeface="微软雅黑" panose="020B0503020204020204" pitchFamily="34" charset="-122"/>
              </a:rPr>
              <a:t>监听</a:t>
            </a:r>
          </a:p>
        </p:txBody>
      </p:sp>
      <p:grpSp>
        <p:nvGrpSpPr>
          <p:cNvPr id="46" name="组合 45">
            <a:extLst>
              <a:ext uri="{FF2B5EF4-FFF2-40B4-BE49-F238E27FC236}">
                <a16:creationId xmlns:a16="http://schemas.microsoft.com/office/drawing/2014/main" id="{36BBA5E7-EDBE-AC27-EE41-3C3D3DEF1A52}"/>
              </a:ext>
            </a:extLst>
          </p:cNvPr>
          <p:cNvGrpSpPr/>
          <p:nvPr/>
        </p:nvGrpSpPr>
        <p:grpSpPr>
          <a:xfrm>
            <a:off x="3196383" y="2596780"/>
            <a:ext cx="2679215" cy="406168"/>
            <a:chOff x="3196383" y="2596780"/>
            <a:chExt cx="2679215" cy="406168"/>
          </a:xfrm>
        </p:grpSpPr>
        <p:sp>
          <p:nvSpPr>
            <p:cNvPr id="47" name="Line 27">
              <a:extLst>
                <a:ext uri="{FF2B5EF4-FFF2-40B4-BE49-F238E27FC236}">
                  <a16:creationId xmlns:a16="http://schemas.microsoft.com/office/drawing/2014/main" id="{343C1B31-B70D-847A-1521-D47033D83C31}"/>
                </a:ext>
              </a:extLst>
            </p:cNvPr>
            <p:cNvSpPr>
              <a:spLocks noChangeShapeType="1"/>
            </p:cNvSpPr>
            <p:nvPr/>
          </p:nvSpPr>
          <p:spPr bwMode="auto">
            <a:xfrm flipH="1">
              <a:off x="3397974" y="2596896"/>
              <a:ext cx="2477624" cy="406052"/>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kern="0">
                <a:latin typeface="微软雅黑" pitchFamily="34" charset="-122"/>
                <a:ea typeface="微软雅黑" pitchFamily="34" charset="-122"/>
              </a:endParaRPr>
            </a:p>
          </p:txBody>
        </p:sp>
        <p:sp>
          <p:nvSpPr>
            <p:cNvPr id="48" name="Rectangle 28">
              <a:extLst>
                <a:ext uri="{FF2B5EF4-FFF2-40B4-BE49-F238E27FC236}">
                  <a16:creationId xmlns:a16="http://schemas.microsoft.com/office/drawing/2014/main" id="{DD7A6A73-8515-1FFA-78AA-52C72D3644FC}"/>
                </a:ext>
              </a:extLst>
            </p:cNvPr>
            <p:cNvSpPr>
              <a:spLocks noChangeArrowheads="1"/>
            </p:cNvSpPr>
            <p:nvPr/>
          </p:nvSpPr>
          <p:spPr bwMode="auto">
            <a:xfrm rot="21038127" flipH="1">
              <a:off x="3196383" y="2596780"/>
              <a:ext cx="2585915"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SYN = 1, 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y,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x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grpSp>
    </p:spTree>
    <p:extLst>
      <p:ext uri="{BB962C8B-B14F-4D97-AF65-F5344CB8AC3E}">
        <p14:creationId xmlns:p14="http://schemas.microsoft.com/office/powerpoint/2010/main" val="3824361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withEffect">
                                  <p:stCondLst>
                                    <p:cond delay="0"/>
                                  </p:stCondLst>
                                  <p:childTnLst>
                                    <p:anim calcmode="discrete" valueType="str">
                                      <p:cBhvr>
                                        <p:cTn id="6"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1000"/>
                                        <p:tgtEl>
                                          <p:spTgt spid="26"/>
                                        </p:tgtEl>
                                      </p:cBhvr>
                                    </p:animEffect>
                                    <p:anim calcmode="lin" valueType="num">
                                      <p:cBhvr>
                                        <p:cTn id="12" dur="1000" fill="hold"/>
                                        <p:tgtEl>
                                          <p:spTgt spid="26"/>
                                        </p:tgtEl>
                                        <p:attrNameLst>
                                          <p:attrName>ppt_x</p:attrName>
                                        </p:attrNameLst>
                                      </p:cBhvr>
                                      <p:tavLst>
                                        <p:tav tm="0">
                                          <p:val>
                                            <p:strVal val="#ppt_x"/>
                                          </p:val>
                                        </p:tav>
                                        <p:tav tm="100000">
                                          <p:val>
                                            <p:strVal val="#ppt_x"/>
                                          </p:val>
                                        </p:tav>
                                      </p:tavLst>
                                    </p:anim>
                                    <p:anim calcmode="lin" valueType="num">
                                      <p:cBhvr>
                                        <p:cTn id="13"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wipe(left)">
                                      <p:cBhvr>
                                        <p:cTn id="18" dur="2000"/>
                                        <p:tgtEl>
                                          <p:spTgt spid="33"/>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anim calcmode="lin" valueType="num">
                                      <p:cBhvr>
                                        <p:cTn id="23" dur="500" fill="hold"/>
                                        <p:tgtEl>
                                          <p:spTgt spid="35"/>
                                        </p:tgtEl>
                                        <p:attrNameLst>
                                          <p:attrName>ppt_w</p:attrName>
                                        </p:attrNameLst>
                                      </p:cBhvr>
                                      <p:tavLst>
                                        <p:tav tm="0">
                                          <p:val>
                                            <p:fltVal val="0"/>
                                          </p:val>
                                        </p:tav>
                                        <p:tav tm="100000">
                                          <p:val>
                                            <p:strVal val="#ppt_w"/>
                                          </p:val>
                                        </p:tav>
                                      </p:tavLst>
                                    </p:anim>
                                    <p:anim calcmode="lin" valueType="num">
                                      <p:cBhvr>
                                        <p:cTn id="24" dur="500" fill="hold"/>
                                        <p:tgtEl>
                                          <p:spTgt spid="35"/>
                                        </p:tgtEl>
                                        <p:attrNameLst>
                                          <p:attrName>ppt_h</p:attrName>
                                        </p:attrNameLst>
                                      </p:cBhvr>
                                      <p:tavLst>
                                        <p:tav tm="0">
                                          <p:val>
                                            <p:fltVal val="0"/>
                                          </p:val>
                                        </p:tav>
                                        <p:tav tm="100000">
                                          <p:val>
                                            <p:strVal val="#ppt_h"/>
                                          </p:val>
                                        </p:tav>
                                      </p:tavLst>
                                    </p:anim>
                                    <p:animEffect transition="in" filter="fade">
                                      <p:cBhvr>
                                        <p:cTn id="2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26"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圆角矩形 35"/>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的连接建立：采用三报文握手</a:t>
            </a:r>
          </a:p>
        </p:txBody>
      </p:sp>
      <p:grpSp>
        <p:nvGrpSpPr>
          <p:cNvPr id="4" name="Group 2"/>
          <p:cNvGrpSpPr>
            <a:grpSpLocks/>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7" name="Group 6"/>
          <p:cNvGrpSpPr>
            <a:grpSpLocks/>
          </p:cNvGrpSpPr>
          <p:nvPr/>
        </p:nvGrpSpPr>
        <p:grpSpPr bwMode="auto">
          <a:xfrm>
            <a:off x="3365167" y="2006212"/>
            <a:ext cx="2492586" cy="512955"/>
            <a:chOff x="1520" y="1865"/>
            <a:chExt cx="2590" cy="533"/>
          </a:xfrm>
        </p:grpSpPr>
        <p:sp>
          <p:nvSpPr>
            <p:cNvPr id="8" name="Rectangle 7"/>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SYN = 1, </a:t>
              </a: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x</a:t>
              </a:r>
            </a:p>
          </p:txBody>
        </p:sp>
        <p:sp>
          <p:nvSpPr>
            <p:cNvPr id="9" name="Line 8"/>
            <p:cNvSpPr>
              <a:spLocks noChangeShapeType="1"/>
            </p:cNvSpPr>
            <p:nvPr/>
          </p:nvSpPr>
          <p:spPr bwMode="auto">
            <a:xfrm>
              <a:off x="1520" y="1893"/>
              <a:ext cx="2590" cy="505"/>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dirty="0">
                <a:latin typeface="微软雅黑" pitchFamily="34" charset="-122"/>
                <a:ea typeface="微软雅黑"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a:latin typeface="微软雅黑" pitchFamily="34" charset="-122"/>
                <a:ea typeface="微软雅黑" pitchFamily="34" charset="-122"/>
              </a:rPr>
              <a:t>CLOSED</a:t>
            </a:r>
          </a:p>
        </p:txBody>
      </p:sp>
      <p:grpSp>
        <p:nvGrpSpPr>
          <p:cNvPr id="14" name="Group 13"/>
          <p:cNvGrpSpPr>
            <a:grpSpLocks/>
          </p:cNvGrpSpPr>
          <p:nvPr/>
        </p:nvGrpSpPr>
        <p:grpSpPr bwMode="auto">
          <a:xfrm>
            <a:off x="1847479" y="1458608"/>
            <a:ext cx="1095199" cy="593794"/>
            <a:chOff x="-57" y="1296"/>
            <a:chExt cx="1138" cy="617"/>
          </a:xfrm>
        </p:grpSpPr>
        <p:sp>
          <p:nvSpPr>
            <p:cNvPr id="15" name="Rectangle 14"/>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主动打开</a:t>
              </a:r>
            </a:p>
          </p:txBody>
        </p:sp>
        <p:sp>
          <p:nvSpPr>
            <p:cNvPr id="16" name="Freeform 15"/>
            <p:cNvSpPr>
              <a:spLocks/>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7" name="Group 16"/>
          <p:cNvGrpSpPr>
            <a:grpSpLocks/>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被动打开</a:t>
              </a:r>
            </a:p>
          </p:txBody>
        </p:sp>
        <p:sp>
          <p:nvSpPr>
            <p:cNvPr id="19" name="Freeform 18"/>
            <p:cNvSpPr>
              <a:spLocks/>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20"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A</a:t>
            </a:r>
          </a:p>
        </p:txBody>
      </p:sp>
      <p:sp>
        <p:nvSpPr>
          <p:cNvPr id="21"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22"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3"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服务器</a:t>
            </a:r>
          </a:p>
        </p:txBody>
      </p:sp>
      <p:pic>
        <p:nvPicPr>
          <p:cNvPr id="24" name="Picture 134"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34"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grpSp>
        <p:nvGrpSpPr>
          <p:cNvPr id="33" name="Group 15"/>
          <p:cNvGrpSpPr>
            <a:grpSpLocks/>
          </p:cNvGrpSpPr>
          <p:nvPr/>
        </p:nvGrpSpPr>
        <p:grpSpPr bwMode="auto">
          <a:xfrm>
            <a:off x="3931920" y="3836802"/>
            <a:ext cx="1330219" cy="274235"/>
            <a:chOff x="2088" y="3679"/>
            <a:chExt cx="1494" cy="308"/>
          </a:xfrm>
        </p:grpSpPr>
        <p:sp>
          <p:nvSpPr>
            <p:cNvPr id="34" name="AutoShape 16"/>
            <p:cNvSpPr>
              <a:spLocks noChangeArrowheads="1"/>
            </p:cNvSpPr>
            <p:nvPr/>
          </p:nvSpPr>
          <p:spPr bwMode="auto">
            <a:xfrm>
              <a:off x="2088" y="3735"/>
              <a:ext cx="1494" cy="166"/>
            </a:xfrm>
            <a:prstGeom prst="leftRightArrow">
              <a:avLst>
                <a:gd name="adj1" fmla="val 55880"/>
                <a:gd name="adj2" fmla="val 103167"/>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5" name="Rectangle 17"/>
            <p:cNvSpPr>
              <a:spLocks noChangeArrowheads="1"/>
            </p:cNvSpPr>
            <p:nvPr/>
          </p:nvSpPr>
          <p:spPr bwMode="auto">
            <a:xfrm>
              <a:off x="2382" y="3679"/>
              <a:ext cx="897" cy="308"/>
            </a:xfrm>
            <a:prstGeom prst="rect">
              <a:avLst/>
            </a:prstGeom>
            <a:solidFill>
              <a:srgbClr val="66FF99"/>
            </a:solidFill>
            <a:ln w="12700">
              <a:solidFill>
                <a:schemeClr val="tx1"/>
              </a:solidFill>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数据传送</a:t>
              </a:r>
            </a:p>
          </p:txBody>
        </p:sp>
      </p:grpSp>
      <p:grpSp>
        <p:nvGrpSpPr>
          <p:cNvPr id="2" name="Group 3">
            <a:extLst>
              <a:ext uri="{FF2B5EF4-FFF2-40B4-BE49-F238E27FC236}">
                <a16:creationId xmlns:a16="http://schemas.microsoft.com/office/drawing/2014/main" id="{11BED6C3-DBC4-E882-668A-1B815D8F6E5C}"/>
              </a:ext>
            </a:extLst>
          </p:cNvPr>
          <p:cNvGrpSpPr>
            <a:grpSpLocks/>
          </p:cNvGrpSpPr>
          <p:nvPr/>
        </p:nvGrpSpPr>
        <p:grpSpPr bwMode="auto">
          <a:xfrm>
            <a:off x="2771808" y="2066150"/>
            <a:ext cx="631164" cy="936798"/>
            <a:chOff x="899" y="1916"/>
            <a:chExt cx="622" cy="1048"/>
          </a:xfrm>
        </p:grpSpPr>
        <p:sp>
          <p:nvSpPr>
            <p:cNvPr id="37" name="Rectangle 4">
              <a:extLst>
                <a:ext uri="{FF2B5EF4-FFF2-40B4-BE49-F238E27FC236}">
                  <a16:creationId xmlns:a16="http://schemas.microsoft.com/office/drawing/2014/main" id="{D9AF48B7-7C31-94F5-DE34-67517CBF8CB8}"/>
                </a:ext>
              </a:extLst>
            </p:cNvPr>
            <p:cNvSpPr>
              <a:spLocks noChangeArrowheads="1"/>
            </p:cNvSpPr>
            <p:nvPr/>
          </p:nvSpPr>
          <p:spPr bwMode="auto">
            <a:xfrm>
              <a:off x="899" y="1916"/>
              <a:ext cx="622" cy="1048"/>
            </a:xfrm>
            <a:prstGeom prst="rect">
              <a:avLst/>
            </a:prstGeom>
            <a:solidFill>
              <a:srgbClr val="009900"/>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38" name="Rectangle 5">
              <a:extLst>
                <a:ext uri="{FF2B5EF4-FFF2-40B4-BE49-F238E27FC236}">
                  <a16:creationId xmlns:a16="http://schemas.microsoft.com/office/drawing/2014/main" id="{DE99BEE6-A937-E595-B433-C48700E2E4A9}"/>
                </a:ext>
              </a:extLst>
            </p:cNvPr>
            <p:cNvSpPr>
              <a:spLocks noChangeArrowheads="1"/>
            </p:cNvSpPr>
            <p:nvPr/>
          </p:nvSpPr>
          <p:spPr bwMode="auto">
            <a:xfrm>
              <a:off x="946" y="2199"/>
              <a:ext cx="548"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SYN-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SENT</a:t>
              </a:r>
            </a:p>
          </p:txBody>
        </p:sp>
      </p:grpSp>
      <p:grpSp>
        <p:nvGrpSpPr>
          <p:cNvPr id="39" name="Group 6">
            <a:extLst>
              <a:ext uri="{FF2B5EF4-FFF2-40B4-BE49-F238E27FC236}">
                <a16:creationId xmlns:a16="http://schemas.microsoft.com/office/drawing/2014/main" id="{0F5499CD-9ABA-8A99-2DC4-DEDF64AEB0B8}"/>
              </a:ext>
            </a:extLst>
          </p:cNvPr>
          <p:cNvGrpSpPr>
            <a:grpSpLocks/>
          </p:cNvGrpSpPr>
          <p:nvPr/>
        </p:nvGrpSpPr>
        <p:grpSpPr bwMode="auto">
          <a:xfrm>
            <a:off x="2752528" y="3046749"/>
            <a:ext cx="700166" cy="1119152"/>
            <a:chOff x="880" y="3013"/>
            <a:chExt cx="690" cy="1252"/>
          </a:xfrm>
        </p:grpSpPr>
        <p:sp>
          <p:nvSpPr>
            <p:cNvPr id="40" name="Rectangle 7">
              <a:extLst>
                <a:ext uri="{FF2B5EF4-FFF2-40B4-BE49-F238E27FC236}">
                  <a16:creationId xmlns:a16="http://schemas.microsoft.com/office/drawing/2014/main" id="{0D6F9B18-773F-A19F-CD5D-98FD0200C917}"/>
                </a:ext>
              </a:extLst>
            </p:cNvPr>
            <p:cNvSpPr>
              <a:spLocks noChangeArrowheads="1"/>
            </p:cNvSpPr>
            <p:nvPr/>
          </p:nvSpPr>
          <p:spPr bwMode="auto">
            <a:xfrm>
              <a:off x="905" y="3013"/>
              <a:ext cx="609" cy="1252"/>
            </a:xfrm>
            <a:prstGeom prst="rect">
              <a:avLst/>
            </a:prstGeom>
            <a:solidFill>
              <a:srgbClr val="0000FF"/>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41" name="Rectangle 8">
              <a:extLst>
                <a:ext uri="{FF2B5EF4-FFF2-40B4-BE49-F238E27FC236}">
                  <a16:creationId xmlns:a16="http://schemas.microsoft.com/office/drawing/2014/main" id="{A02B5B14-C36F-04DA-F0BB-D0989A30E745}"/>
                </a:ext>
              </a:extLst>
            </p:cNvPr>
            <p:cNvSpPr>
              <a:spLocks noChangeArrowheads="1"/>
            </p:cNvSpPr>
            <p:nvPr/>
          </p:nvSpPr>
          <p:spPr bwMode="auto">
            <a:xfrm>
              <a:off x="880" y="3383"/>
              <a:ext cx="690"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grpSp>
        <p:nvGrpSpPr>
          <p:cNvPr id="42" name="Group 9">
            <a:extLst>
              <a:ext uri="{FF2B5EF4-FFF2-40B4-BE49-F238E27FC236}">
                <a16:creationId xmlns:a16="http://schemas.microsoft.com/office/drawing/2014/main" id="{390381A8-1C1C-A5A2-9ACF-A7568B2C2EB3}"/>
              </a:ext>
            </a:extLst>
          </p:cNvPr>
          <p:cNvGrpSpPr>
            <a:grpSpLocks/>
          </p:cNvGrpSpPr>
          <p:nvPr/>
        </p:nvGrpSpPr>
        <p:grpSpPr bwMode="auto">
          <a:xfrm>
            <a:off x="5866745" y="2539018"/>
            <a:ext cx="630149" cy="951101"/>
            <a:chOff x="3949" y="2445"/>
            <a:chExt cx="621" cy="1064"/>
          </a:xfrm>
        </p:grpSpPr>
        <p:sp>
          <p:nvSpPr>
            <p:cNvPr id="43" name="Rectangle 10">
              <a:extLst>
                <a:ext uri="{FF2B5EF4-FFF2-40B4-BE49-F238E27FC236}">
                  <a16:creationId xmlns:a16="http://schemas.microsoft.com/office/drawing/2014/main" id="{504B4AD3-3675-FBE5-4FA5-01694662A65A}"/>
                </a:ext>
              </a:extLst>
            </p:cNvPr>
            <p:cNvSpPr>
              <a:spLocks noChangeArrowheads="1"/>
            </p:cNvSpPr>
            <p:nvPr/>
          </p:nvSpPr>
          <p:spPr bwMode="auto">
            <a:xfrm>
              <a:off x="3949" y="2445"/>
              <a:ext cx="621" cy="1064"/>
            </a:xfrm>
            <a:prstGeom prst="rect">
              <a:avLst/>
            </a:prstGeom>
            <a:solidFill>
              <a:srgbClr val="009900"/>
            </a:solidFill>
            <a:ln>
              <a:noFill/>
            </a:ln>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44" name="Rectangle 11">
              <a:extLst>
                <a:ext uri="{FF2B5EF4-FFF2-40B4-BE49-F238E27FC236}">
                  <a16:creationId xmlns:a16="http://schemas.microsoft.com/office/drawing/2014/main" id="{2A579D61-3B4D-0A34-05D0-DA5CEBCC406F}"/>
                </a:ext>
              </a:extLst>
            </p:cNvPr>
            <p:cNvSpPr>
              <a:spLocks noChangeArrowheads="1"/>
            </p:cNvSpPr>
            <p:nvPr/>
          </p:nvSpPr>
          <p:spPr bwMode="auto">
            <a:xfrm>
              <a:off x="3976" y="2751"/>
              <a:ext cx="580"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SYN-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RCVD</a:t>
              </a:r>
            </a:p>
          </p:txBody>
        </p:sp>
      </p:grpSp>
      <p:grpSp>
        <p:nvGrpSpPr>
          <p:cNvPr id="45" name="Group 12">
            <a:extLst>
              <a:ext uri="{FF2B5EF4-FFF2-40B4-BE49-F238E27FC236}">
                <a16:creationId xmlns:a16="http://schemas.microsoft.com/office/drawing/2014/main" id="{1CF164AC-3D63-6EF7-7DB2-1A78A6C831FC}"/>
              </a:ext>
            </a:extLst>
          </p:cNvPr>
          <p:cNvGrpSpPr>
            <a:grpSpLocks/>
          </p:cNvGrpSpPr>
          <p:nvPr/>
        </p:nvGrpSpPr>
        <p:grpSpPr bwMode="auto">
          <a:xfrm>
            <a:off x="5866745" y="2045590"/>
            <a:ext cx="687989" cy="463930"/>
            <a:chOff x="3949" y="1893"/>
            <a:chExt cx="678" cy="519"/>
          </a:xfrm>
        </p:grpSpPr>
        <p:sp>
          <p:nvSpPr>
            <p:cNvPr id="46" name="Rectangle 13">
              <a:extLst>
                <a:ext uri="{FF2B5EF4-FFF2-40B4-BE49-F238E27FC236}">
                  <a16:creationId xmlns:a16="http://schemas.microsoft.com/office/drawing/2014/main" id="{D713C29F-E075-0E68-095B-10487F36961B}"/>
                </a:ext>
              </a:extLst>
            </p:cNvPr>
            <p:cNvSpPr>
              <a:spLocks noChangeArrowheads="1"/>
            </p:cNvSpPr>
            <p:nvPr/>
          </p:nvSpPr>
          <p:spPr bwMode="auto">
            <a:xfrm>
              <a:off x="3949" y="1893"/>
              <a:ext cx="621" cy="519"/>
            </a:xfrm>
            <a:prstGeom prst="rect">
              <a:avLst/>
            </a:prstGeom>
            <a:solidFill>
              <a:srgbClr val="CC00CC"/>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47" name="Rectangle 14">
              <a:extLst>
                <a:ext uri="{FF2B5EF4-FFF2-40B4-BE49-F238E27FC236}">
                  <a16:creationId xmlns:a16="http://schemas.microsoft.com/office/drawing/2014/main" id="{FBD81822-D7E8-73AB-76DA-F0A8D69677D2}"/>
                </a:ext>
              </a:extLst>
            </p:cNvPr>
            <p:cNvSpPr>
              <a:spLocks noChangeArrowheads="1"/>
            </p:cNvSpPr>
            <p:nvPr/>
          </p:nvSpPr>
          <p:spPr bwMode="auto">
            <a:xfrm>
              <a:off x="3956" y="2004"/>
              <a:ext cx="671"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LISTEN</a:t>
              </a:r>
            </a:p>
          </p:txBody>
        </p:sp>
      </p:grpSp>
      <p:sp>
        <p:nvSpPr>
          <p:cNvPr id="49" name="文本框 48">
            <a:extLst>
              <a:ext uri="{FF2B5EF4-FFF2-40B4-BE49-F238E27FC236}">
                <a16:creationId xmlns:a16="http://schemas.microsoft.com/office/drawing/2014/main" id="{8138017A-24D1-6DBF-6046-2C91F0BB5D46}"/>
              </a:ext>
            </a:extLst>
          </p:cNvPr>
          <p:cNvSpPr txBox="1"/>
          <p:nvPr/>
        </p:nvSpPr>
        <p:spPr>
          <a:xfrm>
            <a:off x="1876351" y="3434117"/>
            <a:ext cx="985890" cy="276999"/>
          </a:xfrm>
          <a:prstGeom prst="rect">
            <a:avLst/>
          </a:prstGeom>
        </p:spPr>
        <p:txBody>
          <a:bodyPr wrap="square">
            <a:spAutoFit/>
          </a:bodyPr>
          <a:lstStyle>
            <a:defPPr>
              <a:defRPr lang="zh-CN"/>
            </a:defPPr>
            <a:lvl1pPr algn="ctr">
              <a:defRPr sz="1200" b="1">
                <a:solidFill>
                  <a:srgbClr val="0000FF"/>
                </a:solidFill>
                <a:latin typeface="微软雅黑" panose="020B0503020204020204" pitchFamily="34" charset="-122"/>
                <a:ea typeface="微软雅黑" panose="020B0503020204020204" pitchFamily="34" charset="-122"/>
              </a:defRPr>
            </a:lvl1pPr>
          </a:lstStyle>
          <a:p>
            <a:r>
              <a:rPr lang="zh-CN" altLang="en-US" dirty="0"/>
              <a:t>已建立连接</a:t>
            </a:r>
          </a:p>
        </p:txBody>
      </p:sp>
      <p:sp>
        <p:nvSpPr>
          <p:cNvPr id="50" name="矩形 49">
            <a:extLst>
              <a:ext uri="{FF2B5EF4-FFF2-40B4-BE49-F238E27FC236}">
                <a16:creationId xmlns:a16="http://schemas.microsoft.com/office/drawing/2014/main" id="{F379504D-E6E6-00A7-EEE8-77CD0C955BEC}"/>
              </a:ext>
            </a:extLst>
          </p:cNvPr>
          <p:cNvSpPr/>
          <p:nvPr/>
        </p:nvSpPr>
        <p:spPr>
          <a:xfrm>
            <a:off x="6325060" y="2844543"/>
            <a:ext cx="1028288" cy="276999"/>
          </a:xfrm>
          <a:prstGeom prst="rect">
            <a:avLst/>
          </a:prstGeom>
        </p:spPr>
        <p:txBody>
          <a:bodyPr wrap="square">
            <a:spAutoFit/>
          </a:bodyPr>
          <a:lstStyle/>
          <a:p>
            <a:pPr algn="ctr"/>
            <a:r>
              <a:rPr lang="zh-CN" altLang="en-US" sz="1200" b="1" dirty="0">
                <a:solidFill>
                  <a:srgbClr val="0000FF"/>
                </a:solidFill>
                <a:latin typeface="微软雅黑" panose="020B0503020204020204" pitchFamily="34" charset="-122"/>
                <a:ea typeface="微软雅黑" panose="020B0503020204020204" pitchFamily="34" charset="-122"/>
              </a:rPr>
              <a:t>同步收到</a:t>
            </a:r>
          </a:p>
        </p:txBody>
      </p:sp>
      <p:sp>
        <p:nvSpPr>
          <p:cNvPr id="51" name="矩形 50">
            <a:extLst>
              <a:ext uri="{FF2B5EF4-FFF2-40B4-BE49-F238E27FC236}">
                <a16:creationId xmlns:a16="http://schemas.microsoft.com/office/drawing/2014/main" id="{4DF0E15E-10F5-E181-FCF7-5FB75B4D6A62}"/>
              </a:ext>
            </a:extLst>
          </p:cNvPr>
          <p:cNvSpPr/>
          <p:nvPr/>
        </p:nvSpPr>
        <p:spPr>
          <a:xfrm>
            <a:off x="1797879" y="2358936"/>
            <a:ext cx="1131526" cy="276999"/>
          </a:xfrm>
          <a:prstGeom prst="rect">
            <a:avLst/>
          </a:prstGeom>
        </p:spPr>
        <p:txBody>
          <a:bodyPr wrap="square">
            <a:spAutoFit/>
          </a:bodyPr>
          <a:lstStyle/>
          <a:p>
            <a:pPr algn="ctr"/>
            <a:r>
              <a:rPr lang="zh-CN" altLang="en-US" sz="1200" b="1" dirty="0">
                <a:solidFill>
                  <a:srgbClr val="0000FF"/>
                </a:solidFill>
                <a:latin typeface="微软雅黑" panose="020B0503020204020204" pitchFamily="34" charset="-122"/>
                <a:ea typeface="微软雅黑" panose="020B0503020204020204" pitchFamily="34" charset="-122"/>
              </a:rPr>
              <a:t>同步已发送</a:t>
            </a:r>
          </a:p>
        </p:txBody>
      </p:sp>
      <p:sp>
        <p:nvSpPr>
          <p:cNvPr id="52" name="矩形 51">
            <a:extLst>
              <a:ext uri="{FF2B5EF4-FFF2-40B4-BE49-F238E27FC236}">
                <a16:creationId xmlns:a16="http://schemas.microsoft.com/office/drawing/2014/main" id="{7C80DCA5-4750-5622-38F1-0CDAEBADA7A6}"/>
              </a:ext>
            </a:extLst>
          </p:cNvPr>
          <p:cNvSpPr/>
          <p:nvPr/>
        </p:nvSpPr>
        <p:spPr>
          <a:xfrm>
            <a:off x="6374300" y="2119796"/>
            <a:ext cx="630149" cy="276999"/>
          </a:xfrm>
          <a:prstGeom prst="rect">
            <a:avLst/>
          </a:prstGeom>
        </p:spPr>
        <p:txBody>
          <a:bodyPr wrap="square">
            <a:spAutoFit/>
          </a:bodyPr>
          <a:lstStyle/>
          <a:p>
            <a:pPr algn="ctr"/>
            <a:r>
              <a:rPr lang="zh-CN" altLang="en-US" sz="1200" b="1" dirty="0">
                <a:solidFill>
                  <a:srgbClr val="0000FF"/>
                </a:solidFill>
                <a:latin typeface="微软雅黑" panose="020B0503020204020204" pitchFamily="34" charset="-122"/>
                <a:ea typeface="微软雅黑" panose="020B0503020204020204" pitchFamily="34" charset="-122"/>
              </a:rPr>
              <a:t>监听</a:t>
            </a:r>
          </a:p>
        </p:txBody>
      </p:sp>
      <p:grpSp>
        <p:nvGrpSpPr>
          <p:cNvPr id="53" name="Group 15">
            <a:extLst>
              <a:ext uri="{FF2B5EF4-FFF2-40B4-BE49-F238E27FC236}">
                <a16:creationId xmlns:a16="http://schemas.microsoft.com/office/drawing/2014/main" id="{203888AF-7F5B-451B-1FE8-92BE77F21A90}"/>
              </a:ext>
            </a:extLst>
          </p:cNvPr>
          <p:cNvGrpSpPr>
            <a:grpSpLocks/>
          </p:cNvGrpSpPr>
          <p:nvPr/>
        </p:nvGrpSpPr>
        <p:grpSpPr bwMode="auto">
          <a:xfrm>
            <a:off x="5847465" y="3539283"/>
            <a:ext cx="700166" cy="626618"/>
            <a:chOff x="3930" y="3564"/>
            <a:chExt cx="690" cy="701"/>
          </a:xfrm>
        </p:grpSpPr>
        <p:sp>
          <p:nvSpPr>
            <p:cNvPr id="54" name="Rectangle 16">
              <a:extLst>
                <a:ext uri="{FF2B5EF4-FFF2-40B4-BE49-F238E27FC236}">
                  <a16:creationId xmlns:a16="http://schemas.microsoft.com/office/drawing/2014/main" id="{B479326D-CBA6-9981-0D94-2B57B9D38896}"/>
                </a:ext>
              </a:extLst>
            </p:cNvPr>
            <p:cNvSpPr>
              <a:spLocks noChangeArrowheads="1"/>
            </p:cNvSpPr>
            <p:nvPr/>
          </p:nvSpPr>
          <p:spPr bwMode="auto">
            <a:xfrm>
              <a:off x="3949" y="3564"/>
              <a:ext cx="621" cy="701"/>
            </a:xfrm>
            <a:prstGeom prst="rect">
              <a:avLst/>
            </a:prstGeom>
            <a:solidFill>
              <a:srgbClr val="0000FF"/>
            </a:solidFill>
            <a:ln>
              <a:noFill/>
            </a:ln>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55" name="Rectangle 17">
              <a:extLst>
                <a:ext uri="{FF2B5EF4-FFF2-40B4-BE49-F238E27FC236}">
                  <a16:creationId xmlns:a16="http://schemas.microsoft.com/office/drawing/2014/main" id="{EB9CB2F3-E032-2220-FEE6-82344361481E}"/>
                </a:ext>
              </a:extLst>
            </p:cNvPr>
            <p:cNvSpPr>
              <a:spLocks noChangeArrowheads="1"/>
            </p:cNvSpPr>
            <p:nvPr/>
          </p:nvSpPr>
          <p:spPr bwMode="auto">
            <a:xfrm>
              <a:off x="3930" y="3708"/>
              <a:ext cx="690"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sp>
        <p:nvSpPr>
          <p:cNvPr id="56" name="文本框 55">
            <a:extLst>
              <a:ext uri="{FF2B5EF4-FFF2-40B4-BE49-F238E27FC236}">
                <a16:creationId xmlns:a16="http://schemas.microsoft.com/office/drawing/2014/main" id="{FC56000E-6EBF-C3B1-8B20-4CF5024C14E3}"/>
              </a:ext>
            </a:extLst>
          </p:cNvPr>
          <p:cNvSpPr txBox="1"/>
          <p:nvPr/>
        </p:nvSpPr>
        <p:spPr>
          <a:xfrm>
            <a:off x="6400125" y="3684726"/>
            <a:ext cx="985890" cy="276999"/>
          </a:xfrm>
          <a:prstGeom prst="rect">
            <a:avLst/>
          </a:prstGeom>
        </p:spPr>
        <p:txBody>
          <a:bodyPr wrap="square">
            <a:spAutoFit/>
          </a:bodyPr>
          <a:lstStyle>
            <a:defPPr>
              <a:defRPr lang="zh-CN"/>
            </a:defPPr>
            <a:lvl1pPr algn="ctr">
              <a:defRPr sz="1200" b="1">
                <a:solidFill>
                  <a:srgbClr val="0000FF"/>
                </a:solidFill>
                <a:latin typeface="微软雅黑" panose="020B0503020204020204" pitchFamily="34" charset="-122"/>
                <a:ea typeface="微软雅黑" panose="020B0503020204020204" pitchFamily="34" charset="-122"/>
              </a:defRPr>
            </a:lvl1pPr>
          </a:lstStyle>
          <a:p>
            <a:r>
              <a:rPr lang="zh-CN" altLang="en-US" dirty="0"/>
              <a:t>已建立连接</a:t>
            </a:r>
          </a:p>
        </p:txBody>
      </p:sp>
      <p:grpSp>
        <p:nvGrpSpPr>
          <p:cNvPr id="26" name="组合 25">
            <a:extLst>
              <a:ext uri="{FF2B5EF4-FFF2-40B4-BE49-F238E27FC236}">
                <a16:creationId xmlns:a16="http://schemas.microsoft.com/office/drawing/2014/main" id="{044D3FDD-A2FA-BF1C-16F9-44E8527C02C1}"/>
              </a:ext>
            </a:extLst>
          </p:cNvPr>
          <p:cNvGrpSpPr/>
          <p:nvPr/>
        </p:nvGrpSpPr>
        <p:grpSpPr>
          <a:xfrm>
            <a:off x="3381262" y="3060495"/>
            <a:ext cx="2492586" cy="486008"/>
            <a:chOff x="3369609" y="3385648"/>
            <a:chExt cx="2492586" cy="486008"/>
          </a:xfrm>
        </p:grpSpPr>
        <p:sp>
          <p:nvSpPr>
            <p:cNvPr id="48" name="Line 8">
              <a:extLst>
                <a:ext uri="{FF2B5EF4-FFF2-40B4-BE49-F238E27FC236}">
                  <a16:creationId xmlns:a16="http://schemas.microsoft.com/office/drawing/2014/main" id="{B18E86A6-CCB2-63FF-3B2D-7C3FB5460EE2}"/>
                </a:ext>
              </a:extLst>
            </p:cNvPr>
            <p:cNvSpPr>
              <a:spLocks noChangeShapeType="1"/>
            </p:cNvSpPr>
            <p:nvPr/>
          </p:nvSpPr>
          <p:spPr bwMode="auto">
            <a:xfrm>
              <a:off x="3369609" y="3385648"/>
              <a:ext cx="2492586" cy="486008"/>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57" name="Rectangle 7">
              <a:extLst>
                <a:ext uri="{FF2B5EF4-FFF2-40B4-BE49-F238E27FC236}">
                  <a16:creationId xmlns:a16="http://schemas.microsoft.com/office/drawing/2014/main" id="{06DCA75C-D843-88F1-0880-774DEDFF6034}"/>
                </a:ext>
              </a:extLst>
            </p:cNvPr>
            <p:cNvSpPr>
              <a:spLocks noChangeArrowheads="1"/>
            </p:cNvSpPr>
            <p:nvPr/>
          </p:nvSpPr>
          <p:spPr bwMode="auto">
            <a:xfrm rot="665985">
              <a:off x="3673451" y="3400197"/>
              <a:ext cx="2046588"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lvl="0" defTabSz="762000" eaLnBrk="0" hangingPunct="0">
                <a:defRPr/>
              </a:pPr>
              <a:r>
                <a:rPr lang="es-ES" altLang="zh-CN" sz="900" b="1" kern="0" dirty="0">
                  <a:latin typeface="微软雅黑" pitchFamily="34" charset="-122"/>
                  <a:ea typeface="微软雅黑" pitchFamily="34" charset="-122"/>
                </a:rPr>
                <a:t>ACK = 1, seq = x + 1, ack = y+1</a:t>
              </a:r>
            </a:p>
          </p:txBody>
        </p:sp>
      </p:grpSp>
      <p:grpSp>
        <p:nvGrpSpPr>
          <p:cNvPr id="58" name="组合 57">
            <a:extLst>
              <a:ext uri="{FF2B5EF4-FFF2-40B4-BE49-F238E27FC236}">
                <a16:creationId xmlns:a16="http://schemas.microsoft.com/office/drawing/2014/main" id="{DE8F78C9-6F83-2620-E429-AD2F76BF0714}"/>
              </a:ext>
            </a:extLst>
          </p:cNvPr>
          <p:cNvGrpSpPr/>
          <p:nvPr/>
        </p:nvGrpSpPr>
        <p:grpSpPr>
          <a:xfrm>
            <a:off x="3196383" y="2596780"/>
            <a:ext cx="2679215" cy="406168"/>
            <a:chOff x="3196383" y="2596780"/>
            <a:chExt cx="2679215" cy="406168"/>
          </a:xfrm>
        </p:grpSpPr>
        <p:sp>
          <p:nvSpPr>
            <p:cNvPr id="59" name="Line 27">
              <a:extLst>
                <a:ext uri="{FF2B5EF4-FFF2-40B4-BE49-F238E27FC236}">
                  <a16:creationId xmlns:a16="http://schemas.microsoft.com/office/drawing/2014/main" id="{0A5A38C7-AB3C-B070-4C48-491D2A2F00EF}"/>
                </a:ext>
              </a:extLst>
            </p:cNvPr>
            <p:cNvSpPr>
              <a:spLocks noChangeShapeType="1"/>
            </p:cNvSpPr>
            <p:nvPr/>
          </p:nvSpPr>
          <p:spPr bwMode="auto">
            <a:xfrm flipH="1">
              <a:off x="3397974" y="2596896"/>
              <a:ext cx="2477624" cy="406052"/>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kern="0">
                <a:latin typeface="微软雅黑" pitchFamily="34" charset="-122"/>
                <a:ea typeface="微软雅黑" pitchFamily="34" charset="-122"/>
              </a:endParaRPr>
            </a:p>
          </p:txBody>
        </p:sp>
        <p:sp>
          <p:nvSpPr>
            <p:cNvPr id="60" name="Rectangle 28">
              <a:extLst>
                <a:ext uri="{FF2B5EF4-FFF2-40B4-BE49-F238E27FC236}">
                  <a16:creationId xmlns:a16="http://schemas.microsoft.com/office/drawing/2014/main" id="{5172C9FD-A1C4-B132-809C-63B1E2A7E1A3}"/>
                </a:ext>
              </a:extLst>
            </p:cNvPr>
            <p:cNvSpPr>
              <a:spLocks noChangeArrowheads="1"/>
            </p:cNvSpPr>
            <p:nvPr/>
          </p:nvSpPr>
          <p:spPr bwMode="auto">
            <a:xfrm rot="21038127" flipH="1">
              <a:off x="3196383" y="2596780"/>
              <a:ext cx="2585915"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SYN = 1, 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y,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x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grpSp>
    </p:spTree>
    <p:extLst>
      <p:ext uri="{BB962C8B-B14F-4D97-AF65-F5344CB8AC3E}">
        <p14:creationId xmlns:p14="http://schemas.microsoft.com/office/powerpoint/2010/main" val="1801933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withEffect">
                                  <p:stCondLst>
                                    <p:cond delay="0"/>
                                  </p:stCondLst>
                                  <p:childTnLst>
                                    <p:anim calcmode="discrete" valueType="str">
                                      <p:cBhvr>
                                        <p:cTn id="6" dur="1000" fill="hold"/>
                                        <p:tgtEl>
                                          <p:spTgt spid="39"/>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3"/>
                                        </p:tgtEl>
                                        <p:attrNameLst>
                                          <p:attrName>style.visibility</p:attrName>
                                        </p:attrNameLst>
                                      </p:cBhvr>
                                      <p:to>
                                        <p:strVal val="visible"/>
                                      </p:to>
                                    </p:set>
                                    <p:animEffect transition="in" filter="fade">
                                      <p:cBhvr>
                                        <p:cTn id="11" dur="500"/>
                                        <p:tgtEl>
                                          <p:spTgt spid="5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6"/>
                                        </p:tgtEl>
                                        <p:attrNameLst>
                                          <p:attrName>style.visibility</p:attrName>
                                        </p:attrNameLst>
                                      </p:cBhvr>
                                      <p:to>
                                        <p:strVal val="visible"/>
                                      </p:to>
                                    </p:set>
                                    <p:animEffect transition="in" filter="fade">
                                      <p:cBhvr>
                                        <p:cTn id="14" dur="500"/>
                                        <p:tgtEl>
                                          <p:spTgt spid="56"/>
                                        </p:tgtEl>
                                      </p:cBhvr>
                                    </p:animEffect>
                                  </p:childTnLst>
                                </p:cTn>
                              </p:par>
                            </p:childTnLst>
                          </p:cTn>
                        </p:par>
                        <p:par>
                          <p:cTn id="15" fill="hold">
                            <p:stCondLst>
                              <p:cond delay="500"/>
                            </p:stCondLst>
                            <p:childTnLst>
                              <p:par>
                                <p:cTn id="16" presetID="35" presetClass="emph" presetSubtype="0" repeatCount="3000" fill="hold" nodeType="afterEffect">
                                  <p:stCondLst>
                                    <p:cond delay="0"/>
                                  </p:stCondLst>
                                  <p:childTnLst>
                                    <p:anim calcmode="discrete" valueType="str">
                                      <p:cBhvr>
                                        <p:cTn id="17" dur="1000" fill="hold"/>
                                        <p:tgtEl>
                                          <p:spTgt spid="53"/>
                                        </p:tgtEl>
                                        <p:attrNameLst>
                                          <p:attrName>style.visibility</p:attrName>
                                        </p:attrNameLst>
                                      </p:cBhvr>
                                      <p:tavLst>
                                        <p:tav tm="0">
                                          <p:val>
                                            <p:strVal val="hidden"/>
                                          </p:val>
                                        </p:tav>
                                        <p:tav tm="50000">
                                          <p:val>
                                            <p:strVal val="visible"/>
                                          </p:val>
                                        </p:tav>
                                      </p:tavLst>
                                    </p:anim>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barn(outVertical)">
                                      <p:cBhvr>
                                        <p:cTn id="22" dur="2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DDB38-CA9A-BEDD-B252-829E2AC90220}"/>
            </a:ext>
          </a:extLst>
        </p:cNvPr>
        <p:cNvGrpSpPr/>
        <p:nvPr/>
      </p:nvGrpSpPr>
      <p:grpSpPr>
        <a:xfrm>
          <a:off x="0" y="0"/>
          <a:ext cx="0" cy="0"/>
          <a:chOff x="0" y="0"/>
          <a:chExt cx="0" cy="0"/>
        </a:xfrm>
      </p:grpSpPr>
      <p:sp>
        <p:nvSpPr>
          <p:cNvPr id="4" name="Rectangle 8">
            <a:extLst>
              <a:ext uri="{FF2B5EF4-FFF2-40B4-BE49-F238E27FC236}">
                <a16:creationId xmlns:a16="http://schemas.microsoft.com/office/drawing/2014/main" id="{873A7A8D-A5F6-7624-6066-B2DF4F64D39F}"/>
              </a:ext>
            </a:extLst>
          </p:cNvPr>
          <p:cNvSpPr>
            <a:spLocks noChangeArrowheads="1"/>
          </p:cNvSpPr>
          <p:nvPr/>
        </p:nvSpPr>
        <p:spPr bwMode="auto">
          <a:xfrm>
            <a:off x="545143" y="992269"/>
            <a:ext cx="8053711" cy="3433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这主要是为了防止“</a:t>
            </a:r>
            <a:r>
              <a:rPr lang="zh-CN" altLang="en-US" sz="2000" b="1" dirty="0">
                <a:solidFill>
                  <a:srgbClr val="C00000"/>
                </a:solidFill>
                <a:latin typeface="微软雅黑" pitchFamily="34" charset="-122"/>
                <a:ea typeface="微软雅黑" pitchFamily="34" charset="-122"/>
              </a:rPr>
              <a:t>已失效的连接请求报文段</a:t>
            </a:r>
            <a:r>
              <a:rPr lang="zh-CN" altLang="en-US" sz="2000" b="1" dirty="0">
                <a:latin typeface="微软雅黑" pitchFamily="34" charset="-122"/>
                <a:ea typeface="微软雅黑" pitchFamily="34" charset="-122"/>
              </a:rPr>
              <a:t>”突然又传送到了</a:t>
            </a:r>
            <a:r>
              <a:rPr lang="en-US" altLang="zh-CN" sz="2000" b="1" dirty="0">
                <a:latin typeface="微软雅黑" pitchFamily="34" charset="-122"/>
                <a:ea typeface="微软雅黑" pitchFamily="34" charset="-122"/>
              </a:rPr>
              <a:t>B</a:t>
            </a:r>
            <a:r>
              <a:rPr lang="zh-CN" altLang="en-US" sz="2000" b="1" dirty="0">
                <a:latin typeface="微软雅黑" pitchFamily="34" charset="-122"/>
                <a:ea typeface="微软雅黑" pitchFamily="34" charset="-122"/>
              </a:rPr>
              <a:t>，因而产生错误。</a:t>
            </a:r>
            <a:r>
              <a:rPr lang="en-US" altLang="zh-CN" sz="2000" b="1" dirty="0">
                <a:latin typeface="微软雅黑" pitchFamily="34" charset="-122"/>
                <a:ea typeface="微软雅黑" pitchFamily="34" charset="-122"/>
              </a:rPr>
              <a:t> </a:t>
            </a:r>
            <a:endParaRPr lang="zh-CN" altLang="en-US" sz="2000" b="1" dirty="0">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例如，</a:t>
            </a:r>
            <a:r>
              <a:rPr lang="en-US" altLang="zh-CN" sz="2000" b="1" dirty="0">
                <a:latin typeface="微软雅黑" pitchFamily="34" charset="-122"/>
                <a:ea typeface="微软雅黑" pitchFamily="34" charset="-122"/>
              </a:rPr>
              <a:t>A </a:t>
            </a:r>
            <a:r>
              <a:rPr lang="zh-CN" altLang="en-US" sz="2000" b="1" dirty="0">
                <a:latin typeface="微软雅黑" pitchFamily="34" charset="-122"/>
                <a:ea typeface="微软雅黑" pitchFamily="34" charset="-122"/>
              </a:rPr>
              <a:t>之前发送的一个连接请求报文段在某些网络节点长时间排队滞留了，以致延误到连接释放以后的某个时间才到达</a:t>
            </a:r>
            <a:r>
              <a:rPr lang="en-US" altLang="zh-CN" sz="2000" b="1" dirty="0">
                <a:latin typeface="微软雅黑" pitchFamily="34" charset="-122"/>
                <a:ea typeface="微软雅黑" pitchFamily="34" charset="-122"/>
              </a:rPr>
              <a:t>B</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B</a:t>
            </a:r>
            <a:r>
              <a:rPr lang="zh-CN" altLang="en-US" sz="2000" b="1" dirty="0">
                <a:latin typeface="微软雅黑" pitchFamily="34" charset="-122"/>
                <a:ea typeface="微软雅黑" pitchFamily="34" charset="-122"/>
              </a:rPr>
              <a:t>收到后，就误认为是</a:t>
            </a:r>
            <a:r>
              <a:rPr lang="en-US" altLang="zh-CN" sz="2000" b="1" dirty="0">
                <a:latin typeface="微软雅黑" pitchFamily="34" charset="-122"/>
                <a:ea typeface="微软雅黑" pitchFamily="34" charset="-122"/>
              </a:rPr>
              <a:t>A</a:t>
            </a:r>
            <a:r>
              <a:rPr lang="zh-CN" altLang="en-US" sz="2000" b="1" dirty="0">
                <a:latin typeface="微软雅黑" pitchFamily="34" charset="-122"/>
                <a:ea typeface="微软雅黑" pitchFamily="34" charset="-122"/>
              </a:rPr>
              <a:t>又发出一次新的连接请求。于是就向</a:t>
            </a:r>
            <a:r>
              <a:rPr lang="en-US" altLang="zh-CN" sz="2000" b="1" dirty="0">
                <a:latin typeface="微软雅黑" pitchFamily="34" charset="-122"/>
                <a:ea typeface="微软雅黑" pitchFamily="34" charset="-122"/>
              </a:rPr>
              <a:t>A</a:t>
            </a:r>
            <a:r>
              <a:rPr lang="zh-CN" altLang="en-US" sz="2000" b="1" dirty="0">
                <a:latin typeface="微软雅黑" pitchFamily="34" charset="-122"/>
                <a:ea typeface="微软雅黑" pitchFamily="34" charset="-122"/>
              </a:rPr>
              <a:t>发出确认报文段。假定不采用三报文握手，那么只要</a:t>
            </a:r>
            <a:r>
              <a:rPr lang="en-US" altLang="zh-CN" sz="2000" b="1" dirty="0">
                <a:latin typeface="微软雅黑" pitchFamily="34" charset="-122"/>
                <a:ea typeface="微软雅黑" pitchFamily="34" charset="-122"/>
              </a:rPr>
              <a:t>B</a:t>
            </a:r>
            <a:r>
              <a:rPr lang="zh-CN" altLang="en-US" sz="2000" b="1" dirty="0">
                <a:latin typeface="微软雅黑" pitchFamily="34" charset="-122"/>
                <a:ea typeface="微软雅黑" pitchFamily="34" charset="-122"/>
              </a:rPr>
              <a:t>发出确认，新的连接就建立了。</a:t>
            </a:r>
            <a:endParaRPr lang="en-US" altLang="zh-CN" sz="2000" b="1" dirty="0">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采用三报文握手，</a:t>
            </a:r>
            <a:r>
              <a:rPr lang="en-US" altLang="zh-CN" sz="2000" b="1" dirty="0">
                <a:latin typeface="微软雅黑" pitchFamily="34" charset="-122"/>
                <a:ea typeface="微软雅黑" pitchFamily="34" charset="-122"/>
              </a:rPr>
              <a:t>B</a:t>
            </a:r>
            <a:r>
              <a:rPr lang="zh-CN" altLang="en-US" sz="2000" b="1" dirty="0">
                <a:latin typeface="微软雅黑" pitchFamily="34" charset="-122"/>
                <a:ea typeface="微软雅黑" pitchFamily="34" charset="-122"/>
              </a:rPr>
              <a:t>不收到</a:t>
            </a:r>
            <a:r>
              <a:rPr lang="en-US" altLang="zh-CN" sz="2000" b="1" dirty="0">
                <a:latin typeface="微软雅黑" pitchFamily="34" charset="-122"/>
                <a:ea typeface="微软雅黑" pitchFamily="34" charset="-122"/>
              </a:rPr>
              <a:t>A</a:t>
            </a:r>
            <a:r>
              <a:rPr lang="zh-CN" altLang="en-US" sz="2000" b="1" dirty="0">
                <a:latin typeface="微软雅黑" pitchFamily="34" charset="-122"/>
                <a:ea typeface="微软雅黑" pitchFamily="34" charset="-122"/>
              </a:rPr>
              <a:t>的确认就不会建立连接。</a:t>
            </a:r>
          </a:p>
        </p:txBody>
      </p:sp>
      <p:sp>
        <p:nvSpPr>
          <p:cNvPr id="5" name="AutoShape 5">
            <a:extLst>
              <a:ext uri="{FF2B5EF4-FFF2-40B4-BE49-F238E27FC236}">
                <a16:creationId xmlns:a16="http://schemas.microsoft.com/office/drawing/2014/main" id="{122DB53F-87C4-32E2-F189-39BEE749C435}"/>
              </a:ext>
            </a:extLst>
          </p:cNvPr>
          <p:cNvSpPr>
            <a:spLocks noChangeArrowheads="1"/>
          </p:cNvSpPr>
          <p:nvPr/>
        </p:nvSpPr>
        <p:spPr bwMode="auto">
          <a:xfrm>
            <a:off x="556963" y="62297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a:extLst>
              <a:ext uri="{FF2B5EF4-FFF2-40B4-BE49-F238E27FC236}">
                <a16:creationId xmlns:a16="http://schemas.microsoft.com/office/drawing/2014/main" id="{D2A24B6E-ABBE-C8A6-783B-5BBD9E2CF919}"/>
              </a:ext>
            </a:extLst>
          </p:cNvPr>
          <p:cNvSpPr>
            <a:spLocks noChangeArrowheads="1"/>
          </p:cNvSpPr>
          <p:nvPr/>
        </p:nvSpPr>
        <p:spPr bwMode="auto">
          <a:xfrm>
            <a:off x="2911664" y="589768"/>
            <a:ext cx="333937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为什么要采用三报文握手？ </a:t>
            </a:r>
          </a:p>
        </p:txBody>
      </p:sp>
    </p:spTree>
    <p:extLst>
      <p:ext uri="{BB962C8B-B14F-4D97-AF65-F5344CB8AC3E}">
        <p14:creationId xmlns:p14="http://schemas.microsoft.com/office/powerpoint/2010/main" val="1618061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EAAA4-925B-D535-67D5-7C964C0EF525}"/>
            </a:ext>
          </a:extLst>
        </p:cNvPr>
        <p:cNvGrpSpPr/>
        <p:nvPr/>
      </p:nvGrpSpPr>
      <p:grpSpPr>
        <a:xfrm>
          <a:off x="0" y="0"/>
          <a:ext cx="0" cy="0"/>
          <a:chOff x="0" y="0"/>
          <a:chExt cx="0" cy="0"/>
        </a:xfrm>
      </p:grpSpPr>
      <p:sp>
        <p:nvSpPr>
          <p:cNvPr id="2" name="AutoShape 5">
            <a:extLst>
              <a:ext uri="{FF2B5EF4-FFF2-40B4-BE49-F238E27FC236}">
                <a16:creationId xmlns:a16="http://schemas.microsoft.com/office/drawing/2014/main" id="{AB327A3A-88AB-6B5C-A8F3-1B903888721F}"/>
              </a:ext>
            </a:extLst>
          </p:cNvPr>
          <p:cNvSpPr>
            <a:spLocks noChangeArrowheads="1"/>
          </p:cNvSpPr>
          <p:nvPr/>
        </p:nvSpPr>
        <p:spPr bwMode="auto">
          <a:xfrm>
            <a:off x="545143" y="636184"/>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a:extLst>
              <a:ext uri="{FF2B5EF4-FFF2-40B4-BE49-F238E27FC236}">
                <a16:creationId xmlns:a16="http://schemas.microsoft.com/office/drawing/2014/main" id="{E523E9B8-4341-1D1A-B2D5-5B723B7C5300}"/>
              </a:ext>
            </a:extLst>
          </p:cNvPr>
          <p:cNvSpPr>
            <a:spLocks noChangeArrowheads="1"/>
          </p:cNvSpPr>
          <p:nvPr/>
        </p:nvSpPr>
        <p:spPr bwMode="auto">
          <a:xfrm>
            <a:off x="2906739" y="584769"/>
            <a:ext cx="33305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5.6.2  TCP </a:t>
            </a:r>
            <a:r>
              <a:rPr lang="zh-CN" altLang="en-US" sz="2400" b="1" dirty="0">
                <a:solidFill>
                  <a:schemeClr val="bg1"/>
                </a:solidFill>
                <a:latin typeface="微软雅黑" pitchFamily="34" charset="-122"/>
                <a:ea typeface="微软雅黑" pitchFamily="34" charset="-122"/>
              </a:rPr>
              <a:t>的连接释放</a:t>
            </a:r>
          </a:p>
        </p:txBody>
      </p:sp>
      <p:sp>
        <p:nvSpPr>
          <p:cNvPr id="4" name="Rectangle 8">
            <a:extLst>
              <a:ext uri="{FF2B5EF4-FFF2-40B4-BE49-F238E27FC236}">
                <a16:creationId xmlns:a16="http://schemas.microsoft.com/office/drawing/2014/main" id="{373DC1DA-29D1-BC5D-6BF6-1DC27861866C}"/>
              </a:ext>
            </a:extLst>
          </p:cNvPr>
          <p:cNvSpPr>
            <a:spLocks noChangeArrowheads="1"/>
          </p:cNvSpPr>
          <p:nvPr/>
        </p:nvSpPr>
        <p:spPr bwMode="auto">
          <a:xfrm>
            <a:off x="545143" y="1039782"/>
            <a:ext cx="7665003" cy="1317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a:t>
            </a:r>
            <a:r>
              <a:rPr lang="zh-CN" altLang="en-US" sz="2000" b="1" dirty="0">
                <a:latin typeface="微软雅黑" pitchFamily="34" charset="-122"/>
                <a:ea typeface="微软雅黑" pitchFamily="34" charset="-122"/>
              </a:rPr>
              <a:t>连接建立后，通信的任何一方都可主动提出连接释放请求（作为</a:t>
            </a:r>
            <a:r>
              <a:rPr lang="zh-CN" altLang="en-US" sz="2000" b="1" dirty="0">
                <a:solidFill>
                  <a:srgbClr val="C00000"/>
                </a:solidFill>
                <a:latin typeface="微软雅黑" pitchFamily="34" charset="-122"/>
                <a:ea typeface="微软雅黑" pitchFamily="34" charset="-122"/>
              </a:rPr>
              <a:t>主动关闭方</a:t>
            </a:r>
            <a:r>
              <a:rPr lang="zh-CN" altLang="en-US" sz="2000" b="1" dirty="0">
                <a:latin typeface="微软雅黑" pitchFamily="34" charset="-122"/>
                <a:ea typeface="微软雅黑" pitchFamily="34" charset="-122"/>
              </a:rPr>
              <a:t>）。</a:t>
            </a:r>
          </a:p>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连接释放很多情况需要</a:t>
            </a:r>
            <a:r>
              <a:rPr lang="zh-CN" altLang="en-US" sz="2000" b="1" dirty="0">
                <a:solidFill>
                  <a:srgbClr val="C00000"/>
                </a:solidFill>
                <a:latin typeface="微软雅黑" pitchFamily="34" charset="-122"/>
                <a:ea typeface="微软雅黑" pitchFamily="34" charset="-122"/>
              </a:rPr>
              <a:t>四报文握手。</a:t>
            </a:r>
          </a:p>
        </p:txBody>
      </p:sp>
    </p:spTree>
    <p:extLst>
      <p:ext uri="{BB962C8B-B14F-4D97-AF65-F5344CB8AC3E}">
        <p14:creationId xmlns:p14="http://schemas.microsoft.com/office/powerpoint/2010/main" val="3162134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圆角矩形 28"/>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5" name="Text Box 155"/>
          <p:cNvSpPr txBox="1">
            <a:spLocks noChangeArrowheads="1"/>
          </p:cNvSpPr>
          <p:nvPr/>
        </p:nvSpPr>
        <p:spPr bwMode="auto">
          <a:xfrm>
            <a:off x="2708899" y="667244"/>
            <a:ext cx="3751385" cy="634020"/>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的连接释放</a:t>
            </a:r>
            <a:endParaRPr lang="en-US" altLang="zh-CN" sz="1600" b="1" dirty="0">
              <a:latin typeface="微软雅黑" pitchFamily="34" charset="-122"/>
              <a:ea typeface="微软雅黑" pitchFamily="34" charset="-122"/>
            </a:endParaRPr>
          </a:p>
          <a:p>
            <a:pPr algn="ctr">
              <a:lnSpc>
                <a:spcPct val="110000"/>
              </a:lnSpc>
            </a:pPr>
            <a:r>
              <a:rPr lang="zh-CN" altLang="en-US" sz="1600" b="1" dirty="0">
                <a:latin typeface="微软雅黑" pitchFamily="34" charset="-122"/>
                <a:ea typeface="微软雅黑" pitchFamily="34" charset="-122"/>
              </a:rPr>
              <a:t>采用</a:t>
            </a:r>
            <a:r>
              <a:rPr lang="zh-CN" altLang="en-US" sz="1600" b="1" dirty="0">
                <a:solidFill>
                  <a:srgbClr val="C00000"/>
                </a:solidFill>
                <a:latin typeface="微软雅黑" pitchFamily="34" charset="-122"/>
                <a:ea typeface="微软雅黑" pitchFamily="34" charset="-122"/>
              </a:rPr>
              <a:t>四报文握手</a:t>
            </a:r>
          </a:p>
        </p:txBody>
      </p:sp>
      <p:sp>
        <p:nvSpPr>
          <p:cNvPr id="136" name="AutoShape 6"/>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137" name="Group 8"/>
          <p:cNvGrpSpPr>
            <a:grpSpLocks/>
          </p:cNvGrpSpPr>
          <p:nvPr/>
        </p:nvGrpSpPr>
        <p:grpSpPr bwMode="auto">
          <a:xfrm>
            <a:off x="3393849" y="1833311"/>
            <a:ext cx="2305317" cy="428484"/>
            <a:chOff x="1614" y="1484"/>
            <a:chExt cx="2604" cy="484"/>
          </a:xfrm>
        </p:grpSpPr>
        <p:sp>
          <p:nvSpPr>
            <p:cNvPr id="138" name="Rectangle 9"/>
            <p:cNvSpPr>
              <a:spLocks noChangeArrowheads="1"/>
            </p:cNvSpPr>
            <p:nvPr/>
          </p:nvSpPr>
          <p:spPr bwMode="auto">
            <a:xfrm rot="597975">
              <a:off x="2411" y="1507"/>
              <a:ext cx="1374" cy="275"/>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effectLst/>
                  <a:uLnTx/>
                  <a:uFillTx/>
                  <a:latin typeface="微软雅黑" pitchFamily="34" charset="-122"/>
                  <a:ea typeface="微软雅黑" pitchFamily="34" charset="-122"/>
                </a:rPr>
                <a:t>FIN = 1, seq = u</a:t>
              </a:r>
            </a:p>
          </p:txBody>
        </p:sp>
        <p:sp>
          <p:nvSpPr>
            <p:cNvPr id="139" name="Line 10"/>
            <p:cNvSpPr>
              <a:spLocks noChangeShapeType="1"/>
            </p:cNvSpPr>
            <p:nvPr/>
          </p:nvSpPr>
          <p:spPr bwMode="auto">
            <a:xfrm>
              <a:off x="1614" y="1484"/>
              <a:ext cx="2604" cy="484"/>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140" name="Rectangle 17"/>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41" name="Rectangle 19"/>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142" name="Group 20"/>
          <p:cNvGrpSpPr>
            <a:grpSpLocks/>
          </p:cNvGrpSpPr>
          <p:nvPr/>
        </p:nvGrpSpPr>
        <p:grpSpPr bwMode="auto">
          <a:xfrm>
            <a:off x="2806011" y="1372071"/>
            <a:ext cx="3501355" cy="46036"/>
            <a:chOff x="1020" y="481"/>
            <a:chExt cx="4037" cy="46"/>
          </a:xfrm>
        </p:grpSpPr>
        <p:sp>
          <p:nvSpPr>
            <p:cNvPr id="143" name="Line 21"/>
            <p:cNvSpPr>
              <a:spLocks noChangeShapeType="1"/>
            </p:cNvSpPr>
            <p:nvPr/>
          </p:nvSpPr>
          <p:spPr bwMode="auto">
            <a:xfrm>
              <a:off x="1020" y="527"/>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44" name="Line 22"/>
            <p:cNvSpPr>
              <a:spLocks noChangeShapeType="1"/>
            </p:cNvSpPr>
            <p:nvPr/>
          </p:nvSpPr>
          <p:spPr bwMode="auto">
            <a:xfrm>
              <a:off x="1020" y="481"/>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45" name="Group 37"/>
          <p:cNvGrpSpPr>
            <a:grpSpLocks/>
          </p:cNvGrpSpPr>
          <p:nvPr/>
        </p:nvGrpSpPr>
        <p:grpSpPr bwMode="auto">
          <a:xfrm>
            <a:off x="2103083" y="1220685"/>
            <a:ext cx="922481" cy="603775"/>
            <a:chOff x="156" y="792"/>
            <a:chExt cx="1042" cy="682"/>
          </a:xfrm>
        </p:grpSpPr>
        <p:sp>
          <p:nvSpPr>
            <p:cNvPr id="146" name="Freeform 38"/>
            <p:cNvSpPr>
              <a:spLocks/>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47" name="Rectangle 39"/>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主动关闭</a:t>
              </a:r>
            </a:p>
          </p:txBody>
        </p:sp>
      </p:grpSp>
      <p:sp>
        <p:nvSpPr>
          <p:cNvPr id="148" name="Rectangle 42"/>
          <p:cNvSpPr>
            <a:spLocks noChangeArrowheads="1"/>
          </p:cNvSpPr>
          <p:nvPr/>
        </p:nvSpPr>
        <p:spPr bwMode="auto">
          <a:xfrm>
            <a:off x="4255700" y="1511062"/>
            <a:ext cx="721352" cy="251351"/>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05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149" name="Rectangle 50"/>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effectLst/>
                <a:uLnTx/>
                <a:uFillTx/>
                <a:latin typeface="微软雅黑" pitchFamily="34" charset="-122"/>
                <a:ea typeface="微软雅黑" pitchFamily="34" charset="-122"/>
              </a:rPr>
              <a:t>A</a:t>
            </a:r>
          </a:p>
        </p:txBody>
      </p:sp>
      <p:sp>
        <p:nvSpPr>
          <p:cNvPr id="150" name="Rectangle 51"/>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151" name="Rectangle 52"/>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152" name="Rectangle 53"/>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服务器</a:t>
            </a:r>
          </a:p>
        </p:txBody>
      </p:sp>
      <p:pic>
        <p:nvPicPr>
          <p:cNvPr id="153" name="Picture 134"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154" name="Picture 134"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155" name="Rectangle 46"/>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sp>
        <p:nvSpPr>
          <p:cNvPr id="156" name="Rectangle 47"/>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nvGrpSpPr>
          <p:cNvPr id="157" name="Group 2"/>
          <p:cNvGrpSpPr>
            <a:grpSpLocks/>
          </p:cNvGrpSpPr>
          <p:nvPr/>
        </p:nvGrpSpPr>
        <p:grpSpPr bwMode="auto">
          <a:xfrm>
            <a:off x="3384905" y="1795969"/>
            <a:ext cx="2321296" cy="2086458"/>
            <a:chOff x="1474" y="1888"/>
            <a:chExt cx="2412" cy="2432"/>
          </a:xfrm>
        </p:grpSpPr>
        <p:sp>
          <p:nvSpPr>
            <p:cNvPr id="158"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59" name="Line 4"/>
            <p:cNvSpPr>
              <a:spLocks noChangeShapeType="1"/>
            </p:cNvSpPr>
            <p:nvPr/>
          </p:nvSpPr>
          <p:spPr bwMode="auto">
            <a:xfrm>
              <a:off x="3886" y="2409"/>
              <a:ext cx="0" cy="1911"/>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160" name="Text Box 155"/>
          <p:cNvSpPr txBox="1">
            <a:spLocks noChangeArrowheads="1"/>
          </p:cNvSpPr>
          <p:nvPr/>
        </p:nvSpPr>
        <p:spPr bwMode="auto">
          <a:xfrm>
            <a:off x="1929775" y="3098036"/>
            <a:ext cx="5422002" cy="1175706"/>
          </a:xfrm>
          <a:prstGeom prst="rect">
            <a:avLst/>
          </a:prstGeom>
          <a:solidFill>
            <a:srgbClr val="FFFF99"/>
          </a:solidFill>
          <a:ln w="9525">
            <a:solidFill>
              <a:schemeClr val="tx1"/>
            </a:solidFill>
            <a:miter lim="800000"/>
            <a:headEnd/>
            <a:tailEnd/>
          </a:ln>
          <a:effectLst/>
        </p:spPr>
        <p:txBody>
          <a:bodyPr wrap="square">
            <a:spAutoFit/>
          </a:bodyPr>
          <a:lstStyle/>
          <a:p>
            <a:pPr marL="285750" indent="-285750">
              <a:lnSpc>
                <a:spcPct val="110000"/>
              </a:lnSpc>
              <a:buFont typeface="Wingdings" pitchFamily="2" charset="2"/>
              <a:buChar char="l"/>
            </a:pP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先向其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发出连接释放报文段，并停止再发送数据，</a:t>
            </a:r>
            <a:r>
              <a:rPr lang="zh-CN" altLang="en-US" sz="1600" b="1" dirty="0">
                <a:solidFill>
                  <a:srgbClr val="0000FF"/>
                </a:solidFill>
                <a:latin typeface="微软雅黑" pitchFamily="34" charset="-122"/>
                <a:ea typeface="微软雅黑" pitchFamily="34" charset="-122"/>
              </a:rPr>
              <a:t>主动关闭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连接。</a:t>
            </a:r>
          </a:p>
          <a:p>
            <a:pPr marL="285750" indent="-285750">
              <a:lnSpc>
                <a:spcPct val="110000"/>
              </a:lnSpc>
              <a:buFont typeface="Wingdings" pitchFamily="2" charset="2"/>
              <a:buChar char="l"/>
            </a:pP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把连接释放报文段首部的 </a:t>
            </a:r>
            <a:r>
              <a:rPr lang="en-US" altLang="zh-CN" sz="1600" b="1" dirty="0">
                <a:latin typeface="微软雅黑" pitchFamily="34" charset="-122"/>
                <a:ea typeface="微软雅黑" pitchFamily="34" charset="-122"/>
              </a:rPr>
              <a:t>FIN = 1</a:t>
            </a:r>
            <a:r>
              <a:rPr lang="zh-CN" altLang="en-US" sz="1600" b="1" dirty="0">
                <a:latin typeface="微软雅黑" pitchFamily="34" charset="-122"/>
                <a:ea typeface="微软雅黑" pitchFamily="34" charset="-122"/>
              </a:rPr>
              <a:t>，其序号</a:t>
            </a:r>
            <a:r>
              <a:rPr lang="en-US" altLang="zh-CN" sz="1600" b="1" dirty="0" err="1">
                <a:latin typeface="微软雅黑" pitchFamily="34" charset="-122"/>
                <a:ea typeface="微软雅黑" pitchFamily="34" charset="-122"/>
              </a:rPr>
              <a:t>seq</a:t>
            </a:r>
            <a:r>
              <a:rPr lang="en-US" altLang="zh-CN" sz="1600" b="1" dirty="0">
                <a:latin typeface="微软雅黑" pitchFamily="34" charset="-122"/>
                <a:ea typeface="微软雅黑" pitchFamily="34" charset="-122"/>
              </a:rPr>
              <a:t> = u</a:t>
            </a:r>
            <a:r>
              <a:rPr lang="zh-CN" altLang="en-US" sz="1600" b="1" dirty="0">
                <a:latin typeface="微软雅黑" pitchFamily="34" charset="-122"/>
                <a:ea typeface="微软雅黑" pitchFamily="34" charset="-122"/>
              </a:rPr>
              <a:t>，等待 </a:t>
            </a: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的确认。</a:t>
            </a:r>
          </a:p>
        </p:txBody>
      </p:sp>
      <p:sp>
        <p:nvSpPr>
          <p:cNvPr id="30" name="矩形 29"/>
          <p:cNvSpPr/>
          <p:nvPr/>
        </p:nvSpPr>
        <p:spPr>
          <a:xfrm>
            <a:off x="1541282" y="4368391"/>
            <a:ext cx="6216978" cy="369332"/>
          </a:xfrm>
          <a:prstGeom prst="rect">
            <a:avLst/>
          </a:prstGeom>
          <a:solidFill>
            <a:schemeClr val="accent6">
              <a:lumMod val="60000"/>
              <a:lumOff val="40000"/>
            </a:schemeClr>
          </a:solidFill>
        </p:spPr>
        <p:txBody>
          <a:bodyPr wrap="square">
            <a:spAutoFit/>
          </a:bodyPr>
          <a:lstStyle/>
          <a:p>
            <a:pPr algn="ctr"/>
            <a:r>
              <a:rPr lang="en-US" altLang="zh-CN" b="1" kern="500" dirty="0">
                <a:latin typeface="微软雅黑" panose="020B0503020204020204" pitchFamily="34" charset="-122"/>
                <a:ea typeface="微软雅黑" panose="020B0503020204020204" pitchFamily="34" charset="-122"/>
              </a:rPr>
              <a:t>TCP</a:t>
            </a:r>
            <a:r>
              <a:rPr lang="zh-CN" altLang="en-US" b="1" kern="500" dirty="0">
                <a:latin typeface="微软雅黑" panose="020B0503020204020204" pitchFamily="34" charset="-122"/>
                <a:ea typeface="微软雅黑" panose="020B0503020204020204" pitchFamily="34" charset="-122"/>
              </a:rPr>
              <a:t>规定：</a:t>
            </a:r>
            <a:r>
              <a:rPr lang="en-US" altLang="zh-CN" b="1" kern="500" dirty="0">
                <a:latin typeface="微软雅黑" panose="020B0503020204020204" pitchFamily="34" charset="-122"/>
                <a:ea typeface="微软雅黑" panose="020B0503020204020204" pitchFamily="34" charset="-122"/>
              </a:rPr>
              <a:t>FIN </a:t>
            </a:r>
            <a:r>
              <a:rPr lang="zh-CN" altLang="en-US" b="1" kern="500" dirty="0">
                <a:latin typeface="微软雅黑" panose="020B0503020204020204" pitchFamily="34" charset="-122"/>
                <a:ea typeface="微软雅黑" panose="020B0503020204020204" pitchFamily="34" charset="-122"/>
              </a:rPr>
              <a:t>报文段即使不携带数据，也要占用一个序号。</a:t>
            </a:r>
          </a:p>
        </p:txBody>
      </p:sp>
    </p:spTree>
    <p:extLst>
      <p:ext uri="{BB962C8B-B14F-4D97-AF65-F5344CB8AC3E}">
        <p14:creationId xmlns:p14="http://schemas.microsoft.com/office/powerpoint/2010/main" val="3254962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1000"/>
                                  </p:stCondLst>
                                  <p:childTnLst>
                                    <p:set>
                                      <p:cBhvr>
                                        <p:cTn id="6" dur="1" fill="hold">
                                          <p:stCondLst>
                                            <p:cond delay="0"/>
                                          </p:stCondLst>
                                        </p:cTn>
                                        <p:tgtEl>
                                          <p:spTgt spid="145"/>
                                        </p:tgtEl>
                                        <p:attrNameLst>
                                          <p:attrName>style.visibility</p:attrName>
                                        </p:attrNameLst>
                                      </p:cBhvr>
                                      <p:to>
                                        <p:strVal val="visible"/>
                                      </p:to>
                                    </p:set>
                                    <p:animEffect transition="in" filter="wipe(up)">
                                      <p:cBhvr>
                                        <p:cTn id="7" dur="1000"/>
                                        <p:tgtEl>
                                          <p:spTgt spid="14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60"/>
                                        </p:tgtEl>
                                        <p:attrNameLst>
                                          <p:attrName>style.visibility</p:attrName>
                                        </p:attrNameLst>
                                      </p:cBhvr>
                                      <p:to>
                                        <p:strVal val="visible"/>
                                      </p:to>
                                    </p:set>
                                    <p:animEffect transition="in" filter="fade">
                                      <p:cBhvr>
                                        <p:cTn id="12" dur="1000"/>
                                        <p:tgtEl>
                                          <p:spTgt spid="160"/>
                                        </p:tgtEl>
                                      </p:cBhvr>
                                    </p:animEffect>
                                    <p:anim calcmode="lin" valueType="num">
                                      <p:cBhvr>
                                        <p:cTn id="13" dur="1000" fill="hold"/>
                                        <p:tgtEl>
                                          <p:spTgt spid="160"/>
                                        </p:tgtEl>
                                        <p:attrNameLst>
                                          <p:attrName>ppt_x</p:attrName>
                                        </p:attrNameLst>
                                      </p:cBhvr>
                                      <p:tavLst>
                                        <p:tav tm="0">
                                          <p:val>
                                            <p:strVal val="#ppt_x"/>
                                          </p:val>
                                        </p:tav>
                                        <p:tav tm="100000">
                                          <p:val>
                                            <p:strVal val="#ppt_x"/>
                                          </p:val>
                                        </p:tav>
                                      </p:tavLst>
                                    </p:anim>
                                    <p:anim calcmode="lin" valueType="num">
                                      <p:cBhvr>
                                        <p:cTn id="14" dur="1000" fill="hold"/>
                                        <p:tgtEl>
                                          <p:spTgt spid="160"/>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137"/>
                                        </p:tgtEl>
                                        <p:attrNameLst>
                                          <p:attrName>style.visibility</p:attrName>
                                        </p:attrNameLst>
                                      </p:cBhvr>
                                      <p:to>
                                        <p:strVal val="visible"/>
                                      </p:to>
                                    </p:set>
                                    <p:animEffect transition="in" filter="wipe(left)">
                                      <p:cBhvr>
                                        <p:cTn id="18" dur="2000"/>
                                        <p:tgtEl>
                                          <p:spTgt spid="137"/>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anim calcmode="lin" valueType="num">
                                      <p:cBhvr>
                                        <p:cTn id="23" dur="500" fill="hold"/>
                                        <p:tgtEl>
                                          <p:spTgt spid="30"/>
                                        </p:tgtEl>
                                        <p:attrNameLst>
                                          <p:attrName>ppt_w</p:attrName>
                                        </p:attrNameLst>
                                      </p:cBhvr>
                                      <p:tavLst>
                                        <p:tav tm="0">
                                          <p:val>
                                            <p:fltVal val="0"/>
                                          </p:val>
                                        </p:tav>
                                        <p:tav tm="100000">
                                          <p:val>
                                            <p:strVal val="#ppt_w"/>
                                          </p:val>
                                        </p:tav>
                                      </p:tavLst>
                                    </p:anim>
                                    <p:anim calcmode="lin" valueType="num">
                                      <p:cBhvr>
                                        <p:cTn id="24" dur="500" fill="hold"/>
                                        <p:tgtEl>
                                          <p:spTgt spid="30"/>
                                        </p:tgtEl>
                                        <p:attrNameLst>
                                          <p:attrName>ppt_h</p:attrName>
                                        </p:attrNameLst>
                                      </p:cBhvr>
                                      <p:tavLst>
                                        <p:tav tm="0">
                                          <p:val>
                                            <p:fltVal val="0"/>
                                          </p:val>
                                        </p:tav>
                                        <p:tav tm="100000">
                                          <p:val>
                                            <p:strVal val="#ppt_h"/>
                                          </p:val>
                                        </p:tav>
                                      </p:tavLst>
                                    </p:anim>
                                    <p:animEffect transition="in" filter="fade">
                                      <p:cBhvr>
                                        <p:cTn id="2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 grpId="0" animBg="1"/>
      <p:bldP spid="30"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AF585-4582-56F8-B2E4-B59E6EF23548}"/>
            </a:ext>
          </a:extLst>
        </p:cNvPr>
        <p:cNvGrpSpPr/>
        <p:nvPr/>
      </p:nvGrpSpPr>
      <p:grpSpPr>
        <a:xfrm>
          <a:off x="0" y="0"/>
          <a:ext cx="0" cy="0"/>
          <a:chOff x="0" y="0"/>
          <a:chExt cx="0" cy="0"/>
        </a:xfrm>
      </p:grpSpPr>
      <p:sp>
        <p:nvSpPr>
          <p:cNvPr id="59" name="圆角矩形 58">
            <a:extLst>
              <a:ext uri="{FF2B5EF4-FFF2-40B4-BE49-F238E27FC236}">
                <a16:creationId xmlns:a16="http://schemas.microsoft.com/office/drawing/2014/main" id="{C0C65CFB-5443-B2DC-75E4-253C26096749}"/>
              </a:ext>
            </a:extLst>
          </p:cNvPr>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Text Box 155">
            <a:extLst>
              <a:ext uri="{FF2B5EF4-FFF2-40B4-BE49-F238E27FC236}">
                <a16:creationId xmlns:a16="http://schemas.microsoft.com/office/drawing/2014/main" id="{1E565A12-532D-0326-69CE-8CDE57706F3C}"/>
              </a:ext>
            </a:extLst>
          </p:cNvPr>
          <p:cNvSpPr txBox="1">
            <a:spLocks noChangeArrowheads="1"/>
          </p:cNvSpPr>
          <p:nvPr/>
        </p:nvSpPr>
        <p:spPr bwMode="auto">
          <a:xfrm>
            <a:off x="2708899" y="667244"/>
            <a:ext cx="3751385" cy="634020"/>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的连接释放</a:t>
            </a:r>
            <a:endParaRPr lang="en-US" altLang="zh-CN" sz="1600" b="1" dirty="0">
              <a:latin typeface="微软雅黑" pitchFamily="34" charset="-122"/>
              <a:ea typeface="微软雅黑" pitchFamily="34" charset="-122"/>
            </a:endParaRPr>
          </a:p>
          <a:p>
            <a:pPr algn="ctr">
              <a:lnSpc>
                <a:spcPct val="110000"/>
              </a:lnSpc>
            </a:pPr>
            <a:r>
              <a:rPr lang="zh-CN" altLang="en-US" sz="1600" b="1" dirty="0">
                <a:latin typeface="微软雅黑" pitchFamily="34" charset="-122"/>
                <a:ea typeface="微软雅黑" pitchFamily="34" charset="-122"/>
              </a:rPr>
              <a:t>采用</a:t>
            </a:r>
            <a:r>
              <a:rPr lang="zh-CN" altLang="en-US" sz="1600" b="1" dirty="0">
                <a:solidFill>
                  <a:srgbClr val="C00000"/>
                </a:solidFill>
                <a:latin typeface="微软雅黑" pitchFamily="34" charset="-122"/>
                <a:ea typeface="微软雅黑" pitchFamily="34" charset="-122"/>
              </a:rPr>
              <a:t>四报文握手</a:t>
            </a:r>
          </a:p>
        </p:txBody>
      </p:sp>
      <p:sp>
        <p:nvSpPr>
          <p:cNvPr id="34" name="AutoShape 6">
            <a:extLst>
              <a:ext uri="{FF2B5EF4-FFF2-40B4-BE49-F238E27FC236}">
                <a16:creationId xmlns:a16="http://schemas.microsoft.com/office/drawing/2014/main" id="{813D0DCC-21D4-C8F4-C6B7-CB722D7953C9}"/>
              </a:ext>
            </a:extLst>
          </p:cNvPr>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35" name="Group 8">
            <a:extLst>
              <a:ext uri="{FF2B5EF4-FFF2-40B4-BE49-F238E27FC236}">
                <a16:creationId xmlns:a16="http://schemas.microsoft.com/office/drawing/2014/main" id="{498F7CF4-E270-DE32-AE54-2989F2029898}"/>
              </a:ext>
            </a:extLst>
          </p:cNvPr>
          <p:cNvGrpSpPr>
            <a:grpSpLocks/>
          </p:cNvGrpSpPr>
          <p:nvPr/>
        </p:nvGrpSpPr>
        <p:grpSpPr bwMode="auto">
          <a:xfrm>
            <a:off x="3393849" y="1833311"/>
            <a:ext cx="2305317" cy="428484"/>
            <a:chOff x="1614" y="1484"/>
            <a:chExt cx="2604" cy="484"/>
          </a:xfrm>
        </p:grpSpPr>
        <p:sp>
          <p:nvSpPr>
            <p:cNvPr id="36" name="Rectangle 9">
              <a:extLst>
                <a:ext uri="{FF2B5EF4-FFF2-40B4-BE49-F238E27FC236}">
                  <a16:creationId xmlns:a16="http://schemas.microsoft.com/office/drawing/2014/main" id="{5FDD7D4D-EEB8-7C7A-270A-3CA151DC0F53}"/>
                </a:ext>
              </a:extLst>
            </p:cNvPr>
            <p:cNvSpPr>
              <a:spLocks noChangeArrowheads="1"/>
            </p:cNvSpPr>
            <p:nvPr/>
          </p:nvSpPr>
          <p:spPr bwMode="auto">
            <a:xfrm rot="597975">
              <a:off x="2411" y="1507"/>
              <a:ext cx="1374" cy="275"/>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FIN = 1, </a:t>
              </a:r>
              <a:r>
                <a:rPr kumimoji="0" lang="en-US" altLang="zh-CN" sz="10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 = u</a:t>
              </a:r>
            </a:p>
          </p:txBody>
        </p:sp>
        <p:sp>
          <p:nvSpPr>
            <p:cNvPr id="37" name="Line 10">
              <a:extLst>
                <a:ext uri="{FF2B5EF4-FFF2-40B4-BE49-F238E27FC236}">
                  <a16:creationId xmlns:a16="http://schemas.microsoft.com/office/drawing/2014/main" id="{BC768638-0033-A48E-F327-A85ACBCF7291}"/>
                </a:ext>
              </a:extLst>
            </p:cNvPr>
            <p:cNvSpPr>
              <a:spLocks noChangeShapeType="1"/>
            </p:cNvSpPr>
            <p:nvPr/>
          </p:nvSpPr>
          <p:spPr bwMode="auto">
            <a:xfrm>
              <a:off x="1614" y="1484"/>
              <a:ext cx="2604" cy="484"/>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38" name="Rectangle 17">
            <a:extLst>
              <a:ext uri="{FF2B5EF4-FFF2-40B4-BE49-F238E27FC236}">
                <a16:creationId xmlns:a16="http://schemas.microsoft.com/office/drawing/2014/main" id="{9A45691C-D788-D3D1-685C-528C8CFAA064}"/>
              </a:ext>
            </a:extLst>
          </p:cNvPr>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39" name="Rectangle 19">
            <a:extLst>
              <a:ext uri="{FF2B5EF4-FFF2-40B4-BE49-F238E27FC236}">
                <a16:creationId xmlns:a16="http://schemas.microsoft.com/office/drawing/2014/main" id="{FB3A64F8-FB85-9F96-2EC9-39B33B2F232C}"/>
              </a:ext>
            </a:extLst>
          </p:cNvPr>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40" name="Group 20">
            <a:extLst>
              <a:ext uri="{FF2B5EF4-FFF2-40B4-BE49-F238E27FC236}">
                <a16:creationId xmlns:a16="http://schemas.microsoft.com/office/drawing/2014/main" id="{FFDD1EA8-3B10-1E8F-75E0-3E0ABD02EE64}"/>
              </a:ext>
            </a:extLst>
          </p:cNvPr>
          <p:cNvGrpSpPr>
            <a:grpSpLocks/>
          </p:cNvGrpSpPr>
          <p:nvPr/>
        </p:nvGrpSpPr>
        <p:grpSpPr bwMode="auto">
          <a:xfrm>
            <a:off x="2806011" y="1372071"/>
            <a:ext cx="3501355" cy="46036"/>
            <a:chOff x="1020" y="481"/>
            <a:chExt cx="4037" cy="46"/>
          </a:xfrm>
        </p:grpSpPr>
        <p:sp>
          <p:nvSpPr>
            <p:cNvPr id="41" name="Line 21">
              <a:extLst>
                <a:ext uri="{FF2B5EF4-FFF2-40B4-BE49-F238E27FC236}">
                  <a16:creationId xmlns:a16="http://schemas.microsoft.com/office/drawing/2014/main" id="{EF61D9DC-C121-3581-1079-56F260647E09}"/>
                </a:ext>
              </a:extLst>
            </p:cNvPr>
            <p:cNvSpPr>
              <a:spLocks noChangeShapeType="1"/>
            </p:cNvSpPr>
            <p:nvPr/>
          </p:nvSpPr>
          <p:spPr bwMode="auto">
            <a:xfrm>
              <a:off x="1020" y="527"/>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2" name="Line 22">
              <a:extLst>
                <a:ext uri="{FF2B5EF4-FFF2-40B4-BE49-F238E27FC236}">
                  <a16:creationId xmlns:a16="http://schemas.microsoft.com/office/drawing/2014/main" id="{A66E39E1-C9DA-2547-8617-B655A87A416C}"/>
                </a:ext>
              </a:extLst>
            </p:cNvPr>
            <p:cNvSpPr>
              <a:spLocks noChangeShapeType="1"/>
            </p:cNvSpPr>
            <p:nvPr/>
          </p:nvSpPr>
          <p:spPr bwMode="auto">
            <a:xfrm>
              <a:off x="1020" y="481"/>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43" name="Group 37">
            <a:extLst>
              <a:ext uri="{FF2B5EF4-FFF2-40B4-BE49-F238E27FC236}">
                <a16:creationId xmlns:a16="http://schemas.microsoft.com/office/drawing/2014/main" id="{A1C4BCFD-DE31-99FC-DE91-3549461E37E7}"/>
              </a:ext>
            </a:extLst>
          </p:cNvPr>
          <p:cNvGrpSpPr>
            <a:grpSpLocks/>
          </p:cNvGrpSpPr>
          <p:nvPr/>
        </p:nvGrpSpPr>
        <p:grpSpPr bwMode="auto">
          <a:xfrm>
            <a:off x="2103083" y="1220685"/>
            <a:ext cx="922481" cy="603775"/>
            <a:chOff x="156" y="792"/>
            <a:chExt cx="1042" cy="682"/>
          </a:xfrm>
        </p:grpSpPr>
        <p:sp>
          <p:nvSpPr>
            <p:cNvPr id="44" name="Freeform 38">
              <a:extLst>
                <a:ext uri="{FF2B5EF4-FFF2-40B4-BE49-F238E27FC236}">
                  <a16:creationId xmlns:a16="http://schemas.microsoft.com/office/drawing/2014/main" id="{FA19858A-BFEC-C1D2-B81E-B357E35058FD}"/>
                </a:ext>
              </a:extLst>
            </p:cNvPr>
            <p:cNvSpPr>
              <a:spLocks/>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5" name="Rectangle 39">
              <a:extLst>
                <a:ext uri="{FF2B5EF4-FFF2-40B4-BE49-F238E27FC236}">
                  <a16:creationId xmlns:a16="http://schemas.microsoft.com/office/drawing/2014/main" id="{B17EF6C4-AF81-15A4-F593-E8D3DA0170E1}"/>
                </a:ext>
              </a:extLst>
            </p:cNvPr>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主动关闭</a:t>
              </a:r>
            </a:p>
          </p:txBody>
        </p:sp>
      </p:grpSp>
      <p:sp>
        <p:nvSpPr>
          <p:cNvPr id="46" name="Rectangle 42">
            <a:extLst>
              <a:ext uri="{FF2B5EF4-FFF2-40B4-BE49-F238E27FC236}">
                <a16:creationId xmlns:a16="http://schemas.microsoft.com/office/drawing/2014/main" id="{2F5A414C-94FF-B0CC-346E-CB8D7773D372}"/>
              </a:ext>
            </a:extLst>
          </p:cNvPr>
          <p:cNvSpPr>
            <a:spLocks noChangeArrowheads="1"/>
          </p:cNvSpPr>
          <p:nvPr/>
        </p:nvSpPr>
        <p:spPr bwMode="auto">
          <a:xfrm>
            <a:off x="4255700" y="1511062"/>
            <a:ext cx="721352" cy="251351"/>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05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47" name="Rectangle 50">
            <a:extLst>
              <a:ext uri="{FF2B5EF4-FFF2-40B4-BE49-F238E27FC236}">
                <a16:creationId xmlns:a16="http://schemas.microsoft.com/office/drawing/2014/main" id="{C8F10F82-BEA6-D794-85ED-369100D3D59F}"/>
              </a:ext>
            </a:extLst>
          </p:cNvPr>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effectLst/>
                <a:uLnTx/>
                <a:uFillTx/>
                <a:latin typeface="微软雅黑" pitchFamily="34" charset="-122"/>
                <a:ea typeface="微软雅黑" pitchFamily="34" charset="-122"/>
              </a:rPr>
              <a:t>A</a:t>
            </a:r>
          </a:p>
        </p:txBody>
      </p:sp>
      <p:sp>
        <p:nvSpPr>
          <p:cNvPr id="48" name="Rectangle 51">
            <a:extLst>
              <a:ext uri="{FF2B5EF4-FFF2-40B4-BE49-F238E27FC236}">
                <a16:creationId xmlns:a16="http://schemas.microsoft.com/office/drawing/2014/main" id="{D2F5D757-5508-E260-A465-5946885DCF87}"/>
              </a:ext>
            </a:extLst>
          </p:cNvPr>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49" name="Rectangle 52">
            <a:extLst>
              <a:ext uri="{FF2B5EF4-FFF2-40B4-BE49-F238E27FC236}">
                <a16:creationId xmlns:a16="http://schemas.microsoft.com/office/drawing/2014/main" id="{2BBB7321-4DCF-2E48-6903-E0E8636997EF}"/>
              </a:ext>
            </a:extLst>
          </p:cNvPr>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50" name="Rectangle 53">
            <a:extLst>
              <a:ext uri="{FF2B5EF4-FFF2-40B4-BE49-F238E27FC236}">
                <a16:creationId xmlns:a16="http://schemas.microsoft.com/office/drawing/2014/main" id="{21E67929-862C-D1E1-39F7-C22288427FE6}"/>
              </a:ext>
            </a:extLst>
          </p:cNvPr>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服务器</a:t>
            </a:r>
          </a:p>
        </p:txBody>
      </p:sp>
      <p:pic>
        <p:nvPicPr>
          <p:cNvPr id="51" name="Picture 134" descr="jisuanji">
            <a:extLst>
              <a:ext uri="{FF2B5EF4-FFF2-40B4-BE49-F238E27FC236}">
                <a16:creationId xmlns:a16="http://schemas.microsoft.com/office/drawing/2014/main" id="{3CA1CDEC-9E23-FD17-A89B-9DD86C5C8DF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134" descr="jisuanji">
            <a:extLst>
              <a:ext uri="{FF2B5EF4-FFF2-40B4-BE49-F238E27FC236}">
                <a16:creationId xmlns:a16="http://schemas.microsoft.com/office/drawing/2014/main" id="{E889F84E-1037-4C42-9F7F-C4E860735DF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53" name="Rectangle 46">
            <a:extLst>
              <a:ext uri="{FF2B5EF4-FFF2-40B4-BE49-F238E27FC236}">
                <a16:creationId xmlns:a16="http://schemas.microsoft.com/office/drawing/2014/main" id="{4CB8B90E-520B-1643-FE7B-356922C6DBF7}"/>
              </a:ext>
            </a:extLst>
          </p:cNvPr>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sp>
        <p:nvSpPr>
          <p:cNvPr id="54" name="Rectangle 47">
            <a:extLst>
              <a:ext uri="{FF2B5EF4-FFF2-40B4-BE49-F238E27FC236}">
                <a16:creationId xmlns:a16="http://schemas.microsoft.com/office/drawing/2014/main" id="{481C5ADB-3EC0-1EC4-BC09-BDD74E2BAF42}"/>
              </a:ext>
            </a:extLst>
          </p:cNvPr>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nvGrpSpPr>
          <p:cNvPr id="55" name="Group 2">
            <a:extLst>
              <a:ext uri="{FF2B5EF4-FFF2-40B4-BE49-F238E27FC236}">
                <a16:creationId xmlns:a16="http://schemas.microsoft.com/office/drawing/2014/main" id="{8B069214-7D0E-DCF3-6693-274951914A70}"/>
              </a:ext>
            </a:extLst>
          </p:cNvPr>
          <p:cNvGrpSpPr>
            <a:grpSpLocks/>
          </p:cNvGrpSpPr>
          <p:nvPr/>
        </p:nvGrpSpPr>
        <p:grpSpPr bwMode="auto">
          <a:xfrm>
            <a:off x="3384905" y="1795969"/>
            <a:ext cx="2321296" cy="2086458"/>
            <a:chOff x="1474" y="1888"/>
            <a:chExt cx="2412" cy="2432"/>
          </a:xfrm>
        </p:grpSpPr>
        <p:sp>
          <p:nvSpPr>
            <p:cNvPr id="56" name="Line 3">
              <a:extLst>
                <a:ext uri="{FF2B5EF4-FFF2-40B4-BE49-F238E27FC236}">
                  <a16:creationId xmlns:a16="http://schemas.microsoft.com/office/drawing/2014/main" id="{1CFACB2A-63AA-5A62-A455-7AA72979BBC7}"/>
                </a:ext>
              </a:extLst>
            </p:cNvPr>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57" name="Line 4">
              <a:extLst>
                <a:ext uri="{FF2B5EF4-FFF2-40B4-BE49-F238E27FC236}">
                  <a16:creationId xmlns:a16="http://schemas.microsoft.com/office/drawing/2014/main" id="{0FB2DF47-6633-499D-C723-C0837A1F2AF1}"/>
                </a:ext>
              </a:extLst>
            </p:cNvPr>
            <p:cNvSpPr>
              <a:spLocks noChangeShapeType="1"/>
            </p:cNvSpPr>
            <p:nvPr/>
          </p:nvSpPr>
          <p:spPr bwMode="auto">
            <a:xfrm>
              <a:off x="3886" y="2409"/>
              <a:ext cx="0" cy="1911"/>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58" name="Text Box 155">
            <a:extLst>
              <a:ext uri="{FF2B5EF4-FFF2-40B4-BE49-F238E27FC236}">
                <a16:creationId xmlns:a16="http://schemas.microsoft.com/office/drawing/2014/main" id="{64177CF8-F628-40E0-B3E8-21820DCF7B1A}"/>
              </a:ext>
            </a:extLst>
          </p:cNvPr>
          <p:cNvSpPr txBox="1">
            <a:spLocks noChangeArrowheads="1"/>
          </p:cNvSpPr>
          <p:nvPr/>
        </p:nvSpPr>
        <p:spPr bwMode="auto">
          <a:xfrm>
            <a:off x="1046375" y="3098035"/>
            <a:ext cx="7173798" cy="1175706"/>
          </a:xfrm>
          <a:prstGeom prst="rect">
            <a:avLst/>
          </a:prstGeom>
          <a:solidFill>
            <a:srgbClr val="FFFF99"/>
          </a:solidFill>
          <a:ln w="9525">
            <a:solidFill>
              <a:schemeClr val="tx1"/>
            </a:solidFill>
            <a:miter lim="800000"/>
            <a:headEnd/>
            <a:tailEnd/>
          </a:ln>
          <a:effectLst/>
        </p:spPr>
        <p:txBody>
          <a:bodyPr wrap="square">
            <a:spAutoFit/>
          </a:bodyPr>
          <a:lstStyle/>
          <a:p>
            <a:pPr marL="285750" indent="-285750">
              <a:lnSpc>
                <a:spcPct val="110000"/>
              </a:lnSpc>
              <a:buFont typeface="Wingdings" pitchFamily="2" charset="2"/>
              <a:buChar char="l"/>
            </a:pP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发出确认，</a:t>
            </a:r>
            <a:r>
              <a:rPr lang="en-US" altLang="zh-CN" sz="1600" b="1" dirty="0">
                <a:latin typeface="微软雅黑" pitchFamily="34" charset="-122"/>
                <a:ea typeface="微软雅黑" pitchFamily="34" charset="-122"/>
              </a:rPr>
              <a:t>ACK=1</a:t>
            </a:r>
            <a:r>
              <a:rPr lang="zh-CN" altLang="en-US" sz="1600" b="1" dirty="0">
                <a:latin typeface="微软雅黑" pitchFamily="34" charset="-122"/>
                <a:ea typeface="微软雅黑" pitchFamily="34" charset="-122"/>
              </a:rPr>
              <a:t>，确认号 </a:t>
            </a:r>
            <a:r>
              <a:rPr lang="en-US" altLang="zh-CN" sz="1600" b="1" dirty="0" err="1">
                <a:latin typeface="微软雅黑" pitchFamily="34" charset="-122"/>
                <a:ea typeface="微软雅黑" pitchFamily="34" charset="-122"/>
              </a:rPr>
              <a:t>ack</a:t>
            </a:r>
            <a:r>
              <a:rPr lang="en-US" altLang="zh-CN" sz="1600" b="1" dirty="0">
                <a:latin typeface="微软雅黑" pitchFamily="34" charset="-122"/>
                <a:ea typeface="微软雅黑" pitchFamily="34" charset="-122"/>
              </a:rPr>
              <a:t> = u+1</a:t>
            </a:r>
            <a:r>
              <a:rPr lang="zh-CN" altLang="en-US" sz="1600" b="1" dirty="0">
                <a:latin typeface="微软雅黑" pitchFamily="34" charset="-122"/>
                <a:ea typeface="微软雅黑" pitchFamily="34" charset="-122"/>
              </a:rPr>
              <a:t>，这个报文段的序号 </a:t>
            </a:r>
            <a:r>
              <a:rPr lang="en-US" altLang="zh-CN" sz="1600" b="1" dirty="0" err="1">
                <a:latin typeface="微软雅黑" pitchFamily="34" charset="-122"/>
                <a:ea typeface="微软雅黑" pitchFamily="34" charset="-122"/>
              </a:rPr>
              <a:t>seq</a:t>
            </a:r>
            <a:r>
              <a:rPr lang="en-US" altLang="zh-CN" sz="1600" b="1" dirty="0">
                <a:latin typeface="微软雅黑" pitchFamily="34" charset="-122"/>
                <a:ea typeface="微软雅黑" pitchFamily="34" charset="-122"/>
              </a:rPr>
              <a:t> = v</a:t>
            </a:r>
            <a:r>
              <a:rPr lang="zh-CN" altLang="en-US" sz="1600" b="1" dirty="0">
                <a:latin typeface="微软雅黑" pitchFamily="34" charset="-122"/>
                <a:ea typeface="微软雅黑" pitchFamily="34" charset="-122"/>
              </a:rPr>
              <a:t>。</a:t>
            </a:r>
          </a:p>
          <a:p>
            <a:pPr marL="285750" indent="-285750">
              <a:lnSpc>
                <a:spcPct val="110000"/>
              </a:lnSpc>
              <a:buFont typeface="Wingdings" pitchFamily="2" charset="2"/>
              <a:buChar char="l"/>
            </a:pPr>
            <a:r>
              <a:rPr lang="zh-CN" altLang="en-US" sz="1600" b="1" dirty="0">
                <a:latin typeface="微软雅黑" pitchFamily="34" charset="-122"/>
                <a:ea typeface="微软雅黑" pitchFamily="34" charset="-122"/>
              </a:rPr>
              <a:t>然后</a:t>
            </a:r>
            <a:r>
              <a:rPr lang="en-US" altLang="zh-CN" sz="1600" b="1" dirty="0">
                <a:latin typeface="微软雅黑" pitchFamily="34" charset="-122"/>
                <a:ea typeface="微软雅黑" pitchFamily="34" charset="-122"/>
              </a:rPr>
              <a:t>B</a:t>
            </a:r>
            <a:r>
              <a:rPr lang="zh-CN" altLang="en-US" sz="1600" b="1" dirty="0">
                <a:latin typeface="微软雅黑" pitchFamily="34" charset="-122"/>
                <a:ea typeface="微软雅黑" pitchFamily="34" charset="-122"/>
              </a:rPr>
              <a:t>就进入</a:t>
            </a:r>
            <a:r>
              <a:rPr lang="en-US" altLang="zh-CN" sz="1600" b="1" dirty="0">
                <a:latin typeface="微软雅黑" pitchFamily="34" charset="-122"/>
                <a:ea typeface="微软雅黑" pitchFamily="34" charset="-122"/>
              </a:rPr>
              <a:t>CLOSE-WAIT</a:t>
            </a:r>
            <a:r>
              <a:rPr lang="zh-CN" altLang="en-US" sz="1600" b="1" dirty="0">
                <a:latin typeface="微软雅黑" pitchFamily="34" charset="-122"/>
                <a:ea typeface="微软雅黑" pitchFamily="34" charset="-122"/>
              </a:rPr>
              <a:t>（关闭等待）状态。</a:t>
            </a:r>
          </a:p>
          <a:p>
            <a:pPr marL="285750" indent="-285750">
              <a:lnSpc>
                <a:spcPct val="110000"/>
              </a:lnSpc>
              <a:buFont typeface="Wingdings" pitchFamily="2" charset="2"/>
              <a:buChar char="l"/>
            </a:pPr>
            <a:r>
              <a:rPr lang="zh-CN" altLang="en-US" sz="1600" b="1" dirty="0">
                <a:latin typeface="微软雅黑" pitchFamily="34" charset="-122"/>
                <a:ea typeface="微软雅黑" pitchFamily="34" charset="-122"/>
              </a:rPr>
              <a:t>从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到 </a:t>
            </a: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这个方向的连接就释放了，</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连接处于</a:t>
            </a:r>
            <a:r>
              <a:rPr lang="zh-CN" altLang="en-US" sz="1600" b="1" dirty="0">
                <a:solidFill>
                  <a:srgbClr val="C00000"/>
                </a:solidFill>
                <a:latin typeface="微软雅黑" pitchFamily="34" charset="-122"/>
                <a:ea typeface="微软雅黑" pitchFamily="34" charset="-122"/>
              </a:rPr>
              <a:t>半关闭 </a:t>
            </a:r>
            <a:r>
              <a:rPr lang="en-US" altLang="zh-CN" sz="1600" b="1" dirty="0">
                <a:solidFill>
                  <a:srgbClr val="C00000"/>
                </a:solidFill>
                <a:latin typeface="微软雅黑" pitchFamily="34" charset="-122"/>
                <a:ea typeface="微软雅黑" pitchFamily="34" charset="-122"/>
              </a:rPr>
              <a:t>(half-close) </a:t>
            </a:r>
            <a:r>
              <a:rPr lang="zh-CN" altLang="en-US" sz="1600" b="1" dirty="0">
                <a:latin typeface="微软雅黑" pitchFamily="34" charset="-122"/>
                <a:ea typeface="微软雅黑" pitchFamily="34" charset="-122"/>
              </a:rPr>
              <a:t>状态。</a:t>
            </a: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若发送数据，</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仍要接收。</a:t>
            </a:r>
          </a:p>
        </p:txBody>
      </p:sp>
      <p:grpSp>
        <p:nvGrpSpPr>
          <p:cNvPr id="62" name="Group 43">
            <a:extLst>
              <a:ext uri="{FF2B5EF4-FFF2-40B4-BE49-F238E27FC236}">
                <a16:creationId xmlns:a16="http://schemas.microsoft.com/office/drawing/2014/main" id="{7265FD71-BAE3-76D5-BE99-B45D0F13B6F2}"/>
              </a:ext>
            </a:extLst>
          </p:cNvPr>
          <p:cNvGrpSpPr>
            <a:grpSpLocks/>
          </p:cNvGrpSpPr>
          <p:nvPr/>
        </p:nvGrpSpPr>
        <p:grpSpPr bwMode="auto">
          <a:xfrm>
            <a:off x="6121453" y="1287082"/>
            <a:ext cx="750733" cy="997731"/>
            <a:chOff x="4695" y="867"/>
            <a:chExt cx="848" cy="1127"/>
          </a:xfrm>
        </p:grpSpPr>
        <p:sp>
          <p:nvSpPr>
            <p:cNvPr id="63" name="Freeform 44">
              <a:extLst>
                <a:ext uri="{FF2B5EF4-FFF2-40B4-BE49-F238E27FC236}">
                  <a16:creationId xmlns:a16="http://schemas.microsoft.com/office/drawing/2014/main" id="{DF64A85F-3E89-644D-B63C-5E465852234F}"/>
                </a:ext>
              </a:extLst>
            </p:cNvPr>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65" name="Rectangle 45">
              <a:extLst>
                <a:ext uri="{FF2B5EF4-FFF2-40B4-BE49-F238E27FC236}">
                  <a16:creationId xmlns:a16="http://schemas.microsoft.com/office/drawing/2014/main" id="{F1246EEC-CB7E-0E8C-002F-E6CDFE53D6B4}"/>
                </a:ext>
              </a:extLst>
            </p:cNvPr>
            <p:cNvSpPr>
              <a:spLocks noChangeArrowheads="1"/>
            </p:cNvSpPr>
            <p:nvPr/>
          </p:nvSpPr>
          <p:spPr bwMode="auto">
            <a:xfrm>
              <a:off x="5047" y="1120"/>
              <a:ext cx="496" cy="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通知</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应用</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进程</a:t>
              </a:r>
            </a:p>
          </p:txBody>
        </p:sp>
      </p:grpSp>
      <p:grpSp>
        <p:nvGrpSpPr>
          <p:cNvPr id="69" name="Group 11">
            <a:extLst>
              <a:ext uri="{FF2B5EF4-FFF2-40B4-BE49-F238E27FC236}">
                <a16:creationId xmlns:a16="http://schemas.microsoft.com/office/drawing/2014/main" id="{1D6897C6-E489-FB6D-F9CD-AEA83A12288A}"/>
              </a:ext>
            </a:extLst>
          </p:cNvPr>
          <p:cNvGrpSpPr>
            <a:grpSpLocks/>
          </p:cNvGrpSpPr>
          <p:nvPr/>
        </p:nvGrpSpPr>
        <p:grpSpPr bwMode="auto">
          <a:xfrm>
            <a:off x="3401817" y="2285699"/>
            <a:ext cx="2305317" cy="429369"/>
            <a:chOff x="1623" y="1995"/>
            <a:chExt cx="2604" cy="485"/>
          </a:xfrm>
        </p:grpSpPr>
        <p:sp>
          <p:nvSpPr>
            <p:cNvPr id="70" name="Rectangle 12">
              <a:extLst>
                <a:ext uri="{FF2B5EF4-FFF2-40B4-BE49-F238E27FC236}">
                  <a16:creationId xmlns:a16="http://schemas.microsoft.com/office/drawing/2014/main" id="{CE5E6120-3F87-92AE-D0B9-D18807B0882D}"/>
                </a:ext>
              </a:extLst>
            </p:cNvPr>
            <p:cNvSpPr>
              <a:spLocks noChangeArrowheads="1"/>
            </p:cNvSpPr>
            <p:nvPr/>
          </p:nvSpPr>
          <p:spPr bwMode="auto">
            <a:xfrm rot="20990024" flipH="1">
              <a:off x="1826" y="2006"/>
              <a:ext cx="2041" cy="25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v,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71" name="Line 13">
              <a:extLst>
                <a:ext uri="{FF2B5EF4-FFF2-40B4-BE49-F238E27FC236}">
                  <a16:creationId xmlns:a16="http://schemas.microsoft.com/office/drawing/2014/main" id="{F3714C57-4EA8-6226-C319-AD4C0747109C}"/>
                </a:ext>
              </a:extLst>
            </p:cNvPr>
            <p:cNvSpPr>
              <a:spLocks noChangeShapeType="1"/>
            </p:cNvSpPr>
            <p:nvPr/>
          </p:nvSpPr>
          <p:spPr bwMode="auto">
            <a:xfrm flipH="1">
              <a:off x="1623" y="1995"/>
              <a:ext cx="2604" cy="485"/>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3" name="组合 2">
            <a:extLst>
              <a:ext uri="{FF2B5EF4-FFF2-40B4-BE49-F238E27FC236}">
                <a16:creationId xmlns:a16="http://schemas.microsoft.com/office/drawing/2014/main" id="{17E529D6-184E-31EA-DE39-568F66E371D4}"/>
              </a:ext>
            </a:extLst>
          </p:cNvPr>
          <p:cNvGrpSpPr/>
          <p:nvPr/>
        </p:nvGrpSpPr>
        <p:grpSpPr>
          <a:xfrm>
            <a:off x="2816590" y="1840394"/>
            <a:ext cx="674866" cy="866707"/>
            <a:chOff x="2816590" y="1840394"/>
            <a:chExt cx="674866" cy="866707"/>
          </a:xfrm>
        </p:grpSpPr>
        <p:sp>
          <p:nvSpPr>
            <p:cNvPr id="4" name="Rectangle 18">
              <a:extLst>
                <a:ext uri="{FF2B5EF4-FFF2-40B4-BE49-F238E27FC236}">
                  <a16:creationId xmlns:a16="http://schemas.microsoft.com/office/drawing/2014/main" id="{E9551D27-1649-2B5B-F325-F528344A8E43}"/>
                </a:ext>
              </a:extLst>
            </p:cNvPr>
            <p:cNvSpPr>
              <a:spLocks noChangeArrowheads="1"/>
            </p:cNvSpPr>
            <p:nvPr/>
          </p:nvSpPr>
          <p:spPr bwMode="auto">
            <a:xfrm>
              <a:off x="2860899" y="1840394"/>
              <a:ext cx="532065" cy="866707"/>
            </a:xfrm>
            <a:prstGeom prst="rect">
              <a:avLst/>
            </a:prstGeom>
            <a:solidFill>
              <a:srgbClr val="CC00CC"/>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5" name="Rectangle 23">
              <a:extLst>
                <a:ext uri="{FF2B5EF4-FFF2-40B4-BE49-F238E27FC236}">
                  <a16:creationId xmlns:a16="http://schemas.microsoft.com/office/drawing/2014/main" id="{7C8FF58C-0A78-2BEB-7F9B-62DF657C6998}"/>
                </a:ext>
              </a:extLst>
            </p:cNvPr>
            <p:cNvSpPr>
              <a:spLocks noChangeArrowheads="1"/>
            </p:cNvSpPr>
            <p:nvPr/>
          </p:nvSpPr>
          <p:spPr bwMode="auto">
            <a:xfrm>
              <a:off x="2816590" y="2049137"/>
              <a:ext cx="674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FIN-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WAIT-1</a:t>
              </a:r>
            </a:p>
          </p:txBody>
        </p:sp>
      </p:grpSp>
      <p:sp>
        <p:nvSpPr>
          <p:cNvPr id="7" name="文本框 6">
            <a:extLst>
              <a:ext uri="{FF2B5EF4-FFF2-40B4-BE49-F238E27FC236}">
                <a16:creationId xmlns:a16="http://schemas.microsoft.com/office/drawing/2014/main" id="{23432FE1-85F3-C63C-03DB-4CF3CF0E53AD}"/>
              </a:ext>
            </a:extLst>
          </p:cNvPr>
          <p:cNvSpPr txBox="1"/>
          <p:nvPr/>
        </p:nvSpPr>
        <p:spPr>
          <a:xfrm>
            <a:off x="2012187" y="2120233"/>
            <a:ext cx="914708" cy="276999"/>
          </a:xfrm>
          <a:prstGeom prst="rect">
            <a:avLst/>
          </a:prstGeom>
        </p:spPr>
        <p:txBody>
          <a:bodyPr wrap="square">
            <a:spAutoFit/>
          </a:bodyPr>
          <a:lstStyle>
            <a:defPPr>
              <a:defRPr lang="zh-CN"/>
            </a:defPPr>
            <a:lvl1pPr algn="ctr">
              <a:defRPr sz="1200" b="1">
                <a:solidFill>
                  <a:srgbClr val="0000FF"/>
                </a:solidFill>
                <a:latin typeface="微软雅黑" panose="020B0503020204020204" pitchFamily="34" charset="-122"/>
                <a:ea typeface="微软雅黑" panose="020B0503020204020204" pitchFamily="34" charset="-122"/>
              </a:defRPr>
            </a:lvl1pPr>
          </a:lstStyle>
          <a:p>
            <a:pPr algn="r"/>
            <a:r>
              <a:rPr lang="zh-CN" altLang="en-US" dirty="0"/>
              <a:t>终止等待</a:t>
            </a:r>
            <a:r>
              <a:rPr lang="en-US" altLang="zh-CN" dirty="0"/>
              <a:t>1</a:t>
            </a:r>
            <a:endParaRPr lang="zh-CN" altLang="en-US" dirty="0"/>
          </a:p>
        </p:txBody>
      </p:sp>
      <p:grpSp>
        <p:nvGrpSpPr>
          <p:cNvPr id="2" name="组合 1">
            <a:extLst>
              <a:ext uri="{FF2B5EF4-FFF2-40B4-BE49-F238E27FC236}">
                <a16:creationId xmlns:a16="http://schemas.microsoft.com/office/drawing/2014/main" id="{D5A0F15D-668A-25AB-6F0B-33C4B5D6E775}"/>
              </a:ext>
            </a:extLst>
          </p:cNvPr>
          <p:cNvGrpSpPr/>
          <p:nvPr/>
        </p:nvGrpSpPr>
        <p:grpSpPr>
          <a:xfrm>
            <a:off x="5664639" y="2291896"/>
            <a:ext cx="650820" cy="489570"/>
            <a:chOff x="5664639" y="2291896"/>
            <a:chExt cx="650820" cy="489570"/>
          </a:xfrm>
        </p:grpSpPr>
        <p:sp>
          <p:nvSpPr>
            <p:cNvPr id="6" name="Rectangle 24">
              <a:extLst>
                <a:ext uri="{FF2B5EF4-FFF2-40B4-BE49-F238E27FC236}">
                  <a16:creationId xmlns:a16="http://schemas.microsoft.com/office/drawing/2014/main" id="{748ED449-5498-121B-A4A3-FE968043C040}"/>
                </a:ext>
              </a:extLst>
            </p:cNvPr>
            <p:cNvSpPr>
              <a:spLocks noChangeArrowheads="1"/>
            </p:cNvSpPr>
            <p:nvPr/>
          </p:nvSpPr>
          <p:spPr bwMode="auto">
            <a:xfrm>
              <a:off x="5697395" y="2291896"/>
              <a:ext cx="532950" cy="489570"/>
            </a:xfrm>
            <a:prstGeom prst="rect">
              <a:avLst/>
            </a:prstGeom>
            <a:solidFill>
              <a:schemeClr val="accent5">
                <a:lumMod val="75000"/>
              </a:schemeClr>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8" name="Rectangle 25">
              <a:extLst>
                <a:ext uri="{FF2B5EF4-FFF2-40B4-BE49-F238E27FC236}">
                  <a16:creationId xmlns:a16="http://schemas.microsoft.com/office/drawing/2014/main" id="{DA4587FF-3C85-BADD-DC0F-2E3DB974F173}"/>
                </a:ext>
              </a:extLst>
            </p:cNvPr>
            <p:cNvSpPr>
              <a:spLocks noChangeArrowheads="1"/>
            </p:cNvSpPr>
            <p:nvPr/>
          </p:nvSpPr>
          <p:spPr bwMode="auto">
            <a:xfrm>
              <a:off x="5664639" y="2354752"/>
              <a:ext cx="65082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CLOSE-</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WAIT</a:t>
              </a:r>
            </a:p>
          </p:txBody>
        </p:sp>
      </p:grpSp>
      <p:sp>
        <p:nvSpPr>
          <p:cNvPr id="11" name="文本框 10">
            <a:extLst>
              <a:ext uri="{FF2B5EF4-FFF2-40B4-BE49-F238E27FC236}">
                <a16:creationId xmlns:a16="http://schemas.microsoft.com/office/drawing/2014/main" id="{51A95755-1E51-7CCD-AB32-F6C7D6A1F68C}"/>
              </a:ext>
            </a:extLst>
          </p:cNvPr>
          <p:cNvSpPr txBox="1"/>
          <p:nvPr/>
        </p:nvSpPr>
        <p:spPr>
          <a:xfrm>
            <a:off x="6161099" y="2347267"/>
            <a:ext cx="914708" cy="276999"/>
          </a:xfrm>
          <a:prstGeom prst="rect">
            <a:avLst/>
          </a:prstGeom>
        </p:spPr>
        <p:txBody>
          <a:bodyPr wrap="square">
            <a:spAutoFit/>
          </a:bodyPr>
          <a:lstStyle>
            <a:defPPr>
              <a:defRPr lang="zh-CN"/>
            </a:defPPr>
            <a:lvl1pPr algn="ctr">
              <a:defRPr sz="1200" b="1">
                <a:solidFill>
                  <a:srgbClr val="0000FF"/>
                </a:solidFill>
                <a:latin typeface="微软雅黑" panose="020B0503020204020204" pitchFamily="34" charset="-122"/>
                <a:ea typeface="微软雅黑" panose="020B0503020204020204" pitchFamily="34" charset="-122"/>
              </a:defRPr>
            </a:lvl1pPr>
          </a:lstStyle>
          <a:p>
            <a:pPr algn="l"/>
            <a:r>
              <a:rPr lang="zh-CN" altLang="en-US" dirty="0"/>
              <a:t>关闭等待</a:t>
            </a:r>
          </a:p>
        </p:txBody>
      </p:sp>
    </p:spTree>
    <p:extLst>
      <p:ext uri="{BB962C8B-B14F-4D97-AF65-F5344CB8AC3E}">
        <p14:creationId xmlns:p14="http://schemas.microsoft.com/office/powerpoint/2010/main" val="3161004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with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58">
                                            <p:txEl>
                                              <p:pRg st="0" end="0"/>
                                            </p:txEl>
                                          </p:spTgt>
                                        </p:tgtEl>
                                        <p:attrNameLst>
                                          <p:attrName>style.visibility</p:attrName>
                                        </p:attrNameLst>
                                      </p:cBhvr>
                                      <p:to>
                                        <p:strVal val="visible"/>
                                      </p:to>
                                    </p:set>
                                    <p:animEffect transition="in" filter="fade">
                                      <p:cBhvr>
                                        <p:cTn id="11" dur="1000"/>
                                        <p:tgtEl>
                                          <p:spTgt spid="58">
                                            <p:txEl>
                                              <p:pRg st="0" end="0"/>
                                            </p:txEl>
                                          </p:spTgt>
                                        </p:tgtEl>
                                      </p:cBhvr>
                                    </p:animEffect>
                                    <p:anim calcmode="lin" valueType="num">
                                      <p:cBhvr>
                                        <p:cTn id="12" dur="1000" fill="hold"/>
                                        <p:tgtEl>
                                          <p:spTgt spid="58">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58">
                                            <p:txEl>
                                              <p:pRg st="0" end="0"/>
                                            </p:txEl>
                                          </p:spTgt>
                                        </p:tgtEl>
                                        <p:attrNameLst>
                                          <p:attrName>ppt_y</p:attrName>
                                        </p:attrNameLst>
                                      </p:cBhvr>
                                      <p:tavLst>
                                        <p:tav tm="0">
                                          <p:val>
                                            <p:strVal val="#ppt_y+.1"/>
                                          </p:val>
                                        </p:tav>
                                        <p:tav tm="100000">
                                          <p:val>
                                            <p:strVal val="#ppt_y"/>
                                          </p:val>
                                        </p:tav>
                                      </p:tavLst>
                                    </p:anim>
                                  </p:childTnLst>
                                </p:cTn>
                              </p:par>
                              <p:par>
                                <p:cTn id="14" presetID="22" presetClass="entr" presetSubtype="2" fill="hold" nodeType="withEffect">
                                  <p:stCondLst>
                                    <p:cond delay="0"/>
                                  </p:stCondLst>
                                  <p:childTnLst>
                                    <p:set>
                                      <p:cBhvr>
                                        <p:cTn id="15" dur="1" fill="hold">
                                          <p:stCondLst>
                                            <p:cond delay="0"/>
                                          </p:stCondLst>
                                        </p:cTn>
                                        <p:tgtEl>
                                          <p:spTgt spid="69"/>
                                        </p:tgtEl>
                                        <p:attrNameLst>
                                          <p:attrName>style.visibility</p:attrName>
                                        </p:attrNameLst>
                                      </p:cBhvr>
                                      <p:to>
                                        <p:strVal val="visible"/>
                                      </p:to>
                                    </p:set>
                                    <p:animEffect transition="in" filter="wipe(right)">
                                      <p:cBhvr>
                                        <p:cTn id="16" dur="2000"/>
                                        <p:tgtEl>
                                          <p:spTgt spid="69"/>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par>
                                <p:cTn id="21" presetID="1" presetClass="entr" presetSubtype="0" fill="hold" grpId="0" nodeType="withEffect">
                                  <p:stCondLst>
                                    <p:cond delay="500"/>
                                  </p:stCondLst>
                                  <p:childTnLst>
                                    <p:set>
                                      <p:cBhvr>
                                        <p:cTn id="22" dur="1" fill="hold">
                                          <p:stCondLst>
                                            <p:cond delay="0"/>
                                          </p:stCondLst>
                                        </p:cTn>
                                        <p:tgtEl>
                                          <p:spTgt spid="11"/>
                                        </p:tgtEl>
                                        <p:attrNameLst>
                                          <p:attrName>style.visibility</p:attrName>
                                        </p:attrNameLst>
                                      </p:cBhvr>
                                      <p:to>
                                        <p:strVal val="visible"/>
                                      </p:to>
                                    </p:set>
                                  </p:childTnLst>
                                </p:cTn>
                              </p:par>
                              <p:par>
                                <p:cTn id="23" presetID="35" presetClass="emph" presetSubtype="0" repeatCount="3000" fill="hold" nodeType="withEffect">
                                  <p:stCondLst>
                                    <p:cond delay="0"/>
                                  </p:stCondLst>
                                  <p:childTnLst>
                                    <p:anim calcmode="discrete" valueType="str">
                                      <p:cBhvr>
                                        <p:cTn id="24" dur="1000" fill="hold"/>
                                        <p:tgtEl>
                                          <p:spTgt spid="2"/>
                                        </p:tgtEl>
                                        <p:attrNameLst>
                                          <p:attrName>style.visibility</p:attrName>
                                        </p:attrNameLst>
                                      </p:cBhvr>
                                      <p:tavLst>
                                        <p:tav tm="0">
                                          <p:val>
                                            <p:strVal val="hidden"/>
                                          </p:val>
                                        </p:tav>
                                        <p:tav tm="50000">
                                          <p:val>
                                            <p:strVal val="visible"/>
                                          </p:val>
                                        </p:tav>
                                      </p:tavLst>
                                    </p:anim>
                                  </p:childTnLst>
                                </p:cTn>
                              </p:par>
                              <p:par>
                                <p:cTn id="25" presetID="42" presetClass="entr" presetSubtype="0" fill="hold" nodeType="withEffect">
                                  <p:stCondLst>
                                    <p:cond delay="0"/>
                                  </p:stCondLst>
                                  <p:childTnLst>
                                    <p:set>
                                      <p:cBhvr>
                                        <p:cTn id="26" dur="1" fill="hold">
                                          <p:stCondLst>
                                            <p:cond delay="0"/>
                                          </p:stCondLst>
                                        </p:cTn>
                                        <p:tgtEl>
                                          <p:spTgt spid="58">
                                            <p:txEl>
                                              <p:pRg st="1" end="1"/>
                                            </p:txEl>
                                          </p:spTgt>
                                        </p:tgtEl>
                                        <p:attrNameLst>
                                          <p:attrName>style.visibility</p:attrName>
                                        </p:attrNameLst>
                                      </p:cBhvr>
                                      <p:to>
                                        <p:strVal val="visible"/>
                                      </p:to>
                                    </p:set>
                                    <p:animEffect transition="in" filter="fade">
                                      <p:cBhvr>
                                        <p:cTn id="27" dur="1000"/>
                                        <p:tgtEl>
                                          <p:spTgt spid="58">
                                            <p:txEl>
                                              <p:pRg st="1" end="1"/>
                                            </p:txEl>
                                          </p:spTgt>
                                        </p:tgtEl>
                                      </p:cBhvr>
                                    </p:animEffect>
                                    <p:anim calcmode="lin" valueType="num">
                                      <p:cBhvr>
                                        <p:cTn id="28" dur="1000" fill="hold"/>
                                        <p:tgtEl>
                                          <p:spTgt spid="58">
                                            <p:txEl>
                                              <p:pRg st="1" end="1"/>
                                            </p:txEl>
                                          </p:spTgt>
                                        </p:tgtEl>
                                        <p:attrNameLst>
                                          <p:attrName>ppt_x</p:attrName>
                                        </p:attrNameLst>
                                      </p:cBhvr>
                                      <p:tavLst>
                                        <p:tav tm="0">
                                          <p:val>
                                            <p:strVal val="#ppt_x"/>
                                          </p:val>
                                        </p:tav>
                                        <p:tav tm="100000">
                                          <p:val>
                                            <p:strVal val="#ppt_x"/>
                                          </p:val>
                                        </p:tav>
                                      </p:tavLst>
                                    </p:anim>
                                    <p:anim calcmode="lin" valueType="num">
                                      <p:cBhvr>
                                        <p:cTn id="29" dur="1000" fill="hold"/>
                                        <p:tgtEl>
                                          <p:spTgt spid="5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62"/>
                                        </p:tgtEl>
                                        <p:attrNameLst>
                                          <p:attrName>style.visibility</p:attrName>
                                        </p:attrNameLst>
                                      </p:cBhvr>
                                      <p:to>
                                        <p:strVal val="visible"/>
                                      </p:to>
                                    </p:set>
                                    <p:animEffect transition="in" filter="wipe(down)">
                                      <p:cBhvr>
                                        <p:cTn id="34" dur="2000"/>
                                        <p:tgtEl>
                                          <p:spTgt spid="62"/>
                                        </p:tgtEl>
                                      </p:cBhvr>
                                    </p:animEffect>
                                  </p:childTnLst>
                                </p:cTn>
                              </p:par>
                            </p:childTnLst>
                          </p:cTn>
                        </p:par>
                        <p:par>
                          <p:cTn id="35" fill="hold">
                            <p:stCondLst>
                              <p:cond delay="2000"/>
                            </p:stCondLst>
                            <p:childTnLst>
                              <p:par>
                                <p:cTn id="36" presetID="42" presetClass="entr" presetSubtype="0" fill="hold" nodeType="afterEffect">
                                  <p:stCondLst>
                                    <p:cond delay="0"/>
                                  </p:stCondLst>
                                  <p:childTnLst>
                                    <p:set>
                                      <p:cBhvr>
                                        <p:cTn id="37" dur="1" fill="hold">
                                          <p:stCondLst>
                                            <p:cond delay="0"/>
                                          </p:stCondLst>
                                        </p:cTn>
                                        <p:tgtEl>
                                          <p:spTgt spid="58">
                                            <p:txEl>
                                              <p:pRg st="2" end="2"/>
                                            </p:txEl>
                                          </p:spTgt>
                                        </p:tgtEl>
                                        <p:attrNameLst>
                                          <p:attrName>style.visibility</p:attrName>
                                        </p:attrNameLst>
                                      </p:cBhvr>
                                      <p:to>
                                        <p:strVal val="visible"/>
                                      </p:to>
                                    </p:set>
                                    <p:animEffect transition="in" filter="fade">
                                      <p:cBhvr>
                                        <p:cTn id="38" dur="1000"/>
                                        <p:tgtEl>
                                          <p:spTgt spid="58">
                                            <p:txEl>
                                              <p:pRg st="2" end="2"/>
                                            </p:txEl>
                                          </p:spTgt>
                                        </p:tgtEl>
                                      </p:cBhvr>
                                    </p:animEffect>
                                    <p:anim calcmode="lin" valueType="num">
                                      <p:cBhvr>
                                        <p:cTn id="39" dur="1000" fill="hold"/>
                                        <p:tgtEl>
                                          <p:spTgt spid="58">
                                            <p:txEl>
                                              <p:pRg st="2" end="2"/>
                                            </p:txEl>
                                          </p:spTgt>
                                        </p:tgtEl>
                                        <p:attrNameLst>
                                          <p:attrName>ppt_x</p:attrName>
                                        </p:attrNameLst>
                                      </p:cBhvr>
                                      <p:tavLst>
                                        <p:tav tm="0">
                                          <p:val>
                                            <p:strVal val="#ppt_x"/>
                                          </p:val>
                                        </p:tav>
                                        <p:tav tm="100000">
                                          <p:val>
                                            <p:strVal val="#ppt_x"/>
                                          </p:val>
                                        </p:tav>
                                      </p:tavLst>
                                    </p:anim>
                                    <p:anim calcmode="lin" valueType="num">
                                      <p:cBhvr>
                                        <p:cTn id="40" dur="1000" fill="hold"/>
                                        <p:tgtEl>
                                          <p:spTgt spid="58">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圆角矩形 61"/>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6" name="Text Box 155"/>
          <p:cNvSpPr txBox="1">
            <a:spLocks noChangeArrowheads="1"/>
          </p:cNvSpPr>
          <p:nvPr/>
        </p:nvSpPr>
        <p:spPr bwMode="auto">
          <a:xfrm>
            <a:off x="2708899" y="667244"/>
            <a:ext cx="3751385" cy="634020"/>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的连接释放</a:t>
            </a:r>
            <a:endParaRPr lang="en-US" altLang="zh-CN" sz="1600" b="1" dirty="0">
              <a:latin typeface="微软雅黑" pitchFamily="34" charset="-122"/>
              <a:ea typeface="微软雅黑" pitchFamily="34" charset="-122"/>
            </a:endParaRPr>
          </a:p>
          <a:p>
            <a:pPr algn="ctr">
              <a:lnSpc>
                <a:spcPct val="110000"/>
              </a:lnSpc>
            </a:pPr>
            <a:r>
              <a:rPr lang="zh-CN" altLang="en-US" sz="1600" b="1" dirty="0">
                <a:latin typeface="微软雅黑" pitchFamily="34" charset="-122"/>
                <a:ea typeface="微软雅黑" pitchFamily="34" charset="-122"/>
              </a:rPr>
              <a:t>采用</a:t>
            </a:r>
            <a:r>
              <a:rPr lang="zh-CN" altLang="en-US" sz="1600" b="1" dirty="0">
                <a:solidFill>
                  <a:srgbClr val="C00000"/>
                </a:solidFill>
                <a:latin typeface="微软雅黑" pitchFamily="34" charset="-122"/>
                <a:ea typeface="微软雅黑" pitchFamily="34" charset="-122"/>
              </a:rPr>
              <a:t>四报文握手</a:t>
            </a:r>
          </a:p>
        </p:txBody>
      </p:sp>
      <p:sp>
        <p:nvSpPr>
          <p:cNvPr id="37" name="AutoShape 6"/>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38" name="Group 8"/>
          <p:cNvGrpSpPr>
            <a:grpSpLocks/>
          </p:cNvGrpSpPr>
          <p:nvPr/>
        </p:nvGrpSpPr>
        <p:grpSpPr bwMode="auto">
          <a:xfrm>
            <a:off x="3393849" y="1833311"/>
            <a:ext cx="2305317" cy="428484"/>
            <a:chOff x="1614" y="1484"/>
            <a:chExt cx="2604" cy="484"/>
          </a:xfrm>
        </p:grpSpPr>
        <p:sp>
          <p:nvSpPr>
            <p:cNvPr id="39" name="Rectangle 9"/>
            <p:cNvSpPr>
              <a:spLocks noChangeArrowheads="1"/>
            </p:cNvSpPr>
            <p:nvPr/>
          </p:nvSpPr>
          <p:spPr bwMode="auto">
            <a:xfrm rot="597975">
              <a:off x="2411" y="1507"/>
              <a:ext cx="1374" cy="275"/>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FIN = 1, </a:t>
              </a:r>
              <a:r>
                <a:rPr kumimoji="0" lang="en-US" altLang="zh-CN" sz="10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 = u</a:t>
              </a:r>
            </a:p>
          </p:txBody>
        </p:sp>
        <p:sp>
          <p:nvSpPr>
            <p:cNvPr id="40" name="Line 10"/>
            <p:cNvSpPr>
              <a:spLocks noChangeShapeType="1"/>
            </p:cNvSpPr>
            <p:nvPr/>
          </p:nvSpPr>
          <p:spPr bwMode="auto">
            <a:xfrm>
              <a:off x="1614" y="1484"/>
              <a:ext cx="2604" cy="484"/>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41" name="Rectangle 17"/>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2" name="Rectangle 19"/>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43" name="Group 20"/>
          <p:cNvGrpSpPr>
            <a:grpSpLocks/>
          </p:cNvGrpSpPr>
          <p:nvPr/>
        </p:nvGrpSpPr>
        <p:grpSpPr bwMode="auto">
          <a:xfrm>
            <a:off x="2806011" y="1372071"/>
            <a:ext cx="3501355" cy="46036"/>
            <a:chOff x="1020" y="481"/>
            <a:chExt cx="4037" cy="46"/>
          </a:xfrm>
        </p:grpSpPr>
        <p:sp>
          <p:nvSpPr>
            <p:cNvPr id="44" name="Line 21"/>
            <p:cNvSpPr>
              <a:spLocks noChangeShapeType="1"/>
            </p:cNvSpPr>
            <p:nvPr/>
          </p:nvSpPr>
          <p:spPr bwMode="auto">
            <a:xfrm>
              <a:off x="1020" y="527"/>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5" name="Line 22"/>
            <p:cNvSpPr>
              <a:spLocks noChangeShapeType="1"/>
            </p:cNvSpPr>
            <p:nvPr/>
          </p:nvSpPr>
          <p:spPr bwMode="auto">
            <a:xfrm>
              <a:off x="1020" y="481"/>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46" name="Group 37"/>
          <p:cNvGrpSpPr>
            <a:grpSpLocks/>
          </p:cNvGrpSpPr>
          <p:nvPr/>
        </p:nvGrpSpPr>
        <p:grpSpPr bwMode="auto">
          <a:xfrm>
            <a:off x="2103083" y="1220685"/>
            <a:ext cx="922481" cy="603775"/>
            <a:chOff x="156" y="792"/>
            <a:chExt cx="1042" cy="682"/>
          </a:xfrm>
        </p:grpSpPr>
        <p:sp>
          <p:nvSpPr>
            <p:cNvPr id="47" name="Freeform 38"/>
            <p:cNvSpPr>
              <a:spLocks/>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8" name="Rectangle 39"/>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主动关闭</a:t>
              </a:r>
            </a:p>
          </p:txBody>
        </p:sp>
      </p:grpSp>
      <p:sp>
        <p:nvSpPr>
          <p:cNvPr id="49" name="Rectangle 42"/>
          <p:cNvSpPr>
            <a:spLocks noChangeArrowheads="1"/>
          </p:cNvSpPr>
          <p:nvPr/>
        </p:nvSpPr>
        <p:spPr bwMode="auto">
          <a:xfrm>
            <a:off x="4255700" y="1511062"/>
            <a:ext cx="721352" cy="251351"/>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05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50" name="Rectangle 50"/>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effectLst/>
                <a:uLnTx/>
                <a:uFillTx/>
                <a:latin typeface="微软雅黑" pitchFamily="34" charset="-122"/>
                <a:ea typeface="微软雅黑" pitchFamily="34" charset="-122"/>
              </a:rPr>
              <a:t>A</a:t>
            </a:r>
          </a:p>
        </p:txBody>
      </p:sp>
      <p:sp>
        <p:nvSpPr>
          <p:cNvPr id="51" name="Rectangle 51"/>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52" name="Rectangle 52"/>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53" name="Rectangle 53"/>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服务器</a:t>
            </a:r>
          </a:p>
        </p:txBody>
      </p:sp>
      <p:pic>
        <p:nvPicPr>
          <p:cNvPr id="54" name="Picture 134"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134"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le 46"/>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sp>
        <p:nvSpPr>
          <p:cNvPr id="57" name="Rectangle 47"/>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nvGrpSpPr>
          <p:cNvPr id="58" name="Group 2"/>
          <p:cNvGrpSpPr>
            <a:grpSpLocks/>
          </p:cNvGrpSpPr>
          <p:nvPr/>
        </p:nvGrpSpPr>
        <p:grpSpPr bwMode="auto">
          <a:xfrm>
            <a:off x="3384905" y="1795969"/>
            <a:ext cx="2321296" cy="2086458"/>
            <a:chOff x="1474" y="1888"/>
            <a:chExt cx="2412" cy="2432"/>
          </a:xfrm>
        </p:grpSpPr>
        <p:sp>
          <p:nvSpPr>
            <p:cNvPr id="59"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60" name="Line 4"/>
            <p:cNvSpPr>
              <a:spLocks noChangeShapeType="1"/>
            </p:cNvSpPr>
            <p:nvPr/>
          </p:nvSpPr>
          <p:spPr bwMode="auto">
            <a:xfrm>
              <a:off x="3886" y="2409"/>
              <a:ext cx="0" cy="1911"/>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61" name="Text Box 155"/>
          <p:cNvSpPr txBox="1">
            <a:spLocks noChangeArrowheads="1"/>
          </p:cNvSpPr>
          <p:nvPr/>
        </p:nvSpPr>
        <p:spPr bwMode="auto">
          <a:xfrm>
            <a:off x="1929775" y="3617831"/>
            <a:ext cx="5422002" cy="904863"/>
          </a:xfrm>
          <a:prstGeom prst="rect">
            <a:avLst/>
          </a:prstGeom>
          <a:solidFill>
            <a:srgbClr val="FFFF99"/>
          </a:solidFill>
          <a:ln w="9525">
            <a:solidFill>
              <a:schemeClr val="tx1"/>
            </a:solidFill>
            <a:miter lim="800000"/>
            <a:headEnd/>
            <a:tailEnd/>
          </a:ln>
          <a:effectLst/>
        </p:spPr>
        <p:txBody>
          <a:bodyPr wrap="square">
            <a:spAutoFit/>
          </a:bodyPr>
          <a:lstStyle/>
          <a:p>
            <a:pPr marL="285750" indent="-285750">
              <a:lnSpc>
                <a:spcPct val="110000"/>
              </a:lnSpc>
              <a:buFont typeface="Wingdings" pitchFamily="2" charset="2"/>
              <a:buChar char="l"/>
            </a:pPr>
            <a:r>
              <a:rPr lang="zh-CN" altLang="en-US" sz="1600" b="1" dirty="0">
                <a:latin typeface="微软雅黑" pitchFamily="34" charset="-122"/>
                <a:ea typeface="微软雅黑" pitchFamily="34" charset="-122"/>
              </a:rPr>
              <a:t>若 </a:t>
            </a: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已经没有要向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发送的数据，其应用进程就通知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释放连接。 </a:t>
            </a:r>
            <a:endParaRPr lang="en-US" altLang="zh-CN" sz="1600" b="1" dirty="0">
              <a:latin typeface="微软雅黑" pitchFamily="34" charset="-122"/>
              <a:ea typeface="微软雅黑" pitchFamily="34" charset="-122"/>
            </a:endParaRPr>
          </a:p>
          <a:p>
            <a:pPr marL="285750" indent="-285750">
              <a:lnSpc>
                <a:spcPct val="110000"/>
              </a:lnSpc>
              <a:buFont typeface="Wingdings" pitchFamily="2" charset="2"/>
              <a:buChar char="l"/>
            </a:pPr>
            <a:r>
              <a:rPr lang="en-US" altLang="zh-CN" sz="1600" b="1" dirty="0">
                <a:latin typeface="微软雅黑" pitchFamily="34" charset="-122"/>
                <a:ea typeface="微软雅黑" pitchFamily="34" charset="-122"/>
              </a:rPr>
              <a:t>FIN=1</a:t>
            </a:r>
            <a:r>
              <a:rPr lang="zh-CN" altLang="en-US" sz="1600" b="1" dirty="0">
                <a:latin typeface="微软雅黑" pitchFamily="34" charset="-122"/>
                <a:ea typeface="微软雅黑" pitchFamily="34" charset="-122"/>
              </a:rPr>
              <a:t>，</a:t>
            </a:r>
            <a:r>
              <a:rPr lang="en-US" altLang="zh-CN" sz="1600" b="1" dirty="0">
                <a:latin typeface="微软雅黑" pitchFamily="34" charset="-122"/>
                <a:ea typeface="微软雅黑" pitchFamily="34" charset="-122"/>
              </a:rPr>
              <a:t>ACK=1</a:t>
            </a:r>
            <a:r>
              <a:rPr lang="zh-CN" altLang="en-US" sz="1600" b="1" dirty="0">
                <a:latin typeface="微软雅黑" pitchFamily="34" charset="-122"/>
                <a:ea typeface="微软雅黑" pitchFamily="34" charset="-122"/>
              </a:rPr>
              <a:t>，确认号 </a:t>
            </a:r>
            <a:r>
              <a:rPr lang="en-US" altLang="zh-CN" sz="1600" b="1" dirty="0" err="1">
                <a:latin typeface="微软雅黑" pitchFamily="34" charset="-122"/>
                <a:ea typeface="微软雅黑" pitchFamily="34" charset="-122"/>
              </a:rPr>
              <a:t>ack</a:t>
            </a:r>
            <a:r>
              <a:rPr lang="en-US" altLang="zh-CN" sz="1600" b="1" dirty="0">
                <a:latin typeface="微软雅黑" pitchFamily="34" charset="-122"/>
                <a:ea typeface="微软雅黑" pitchFamily="34" charset="-122"/>
              </a:rPr>
              <a:t> = u+1</a:t>
            </a:r>
            <a:r>
              <a:rPr lang="zh-CN" altLang="en-US" sz="1600" b="1" dirty="0">
                <a:latin typeface="微软雅黑" pitchFamily="34" charset="-122"/>
                <a:ea typeface="微软雅黑" pitchFamily="34" charset="-122"/>
              </a:rPr>
              <a:t>。</a:t>
            </a:r>
          </a:p>
        </p:txBody>
      </p:sp>
      <p:grpSp>
        <p:nvGrpSpPr>
          <p:cNvPr id="65" name="Group 43"/>
          <p:cNvGrpSpPr>
            <a:grpSpLocks/>
          </p:cNvGrpSpPr>
          <p:nvPr/>
        </p:nvGrpSpPr>
        <p:grpSpPr bwMode="auto">
          <a:xfrm>
            <a:off x="6121453" y="1287082"/>
            <a:ext cx="750733" cy="997731"/>
            <a:chOff x="4695" y="867"/>
            <a:chExt cx="848" cy="1127"/>
          </a:xfrm>
        </p:grpSpPr>
        <p:sp>
          <p:nvSpPr>
            <p:cNvPr id="66" name="Freeform 44"/>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67" name="Rectangle 45"/>
            <p:cNvSpPr>
              <a:spLocks noChangeArrowheads="1"/>
            </p:cNvSpPr>
            <p:nvPr/>
          </p:nvSpPr>
          <p:spPr bwMode="auto">
            <a:xfrm>
              <a:off x="5047" y="1120"/>
              <a:ext cx="496" cy="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通知</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应用</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进程</a:t>
              </a:r>
            </a:p>
          </p:txBody>
        </p:sp>
      </p:grpSp>
      <p:grpSp>
        <p:nvGrpSpPr>
          <p:cNvPr id="78" name="组合 77"/>
          <p:cNvGrpSpPr/>
          <p:nvPr/>
        </p:nvGrpSpPr>
        <p:grpSpPr>
          <a:xfrm>
            <a:off x="3382340" y="2558723"/>
            <a:ext cx="2400818" cy="704797"/>
            <a:chOff x="3382340" y="2532597"/>
            <a:chExt cx="2400818" cy="704797"/>
          </a:xfrm>
        </p:grpSpPr>
        <p:sp>
          <p:nvSpPr>
            <p:cNvPr id="68" name="AutoShape 5"/>
            <p:cNvSpPr>
              <a:spLocks noChangeArrowheads="1"/>
            </p:cNvSpPr>
            <p:nvPr/>
          </p:nvSpPr>
          <p:spPr bwMode="auto">
            <a:xfrm rot="20948448">
              <a:off x="4076414" y="2692051"/>
              <a:ext cx="377137" cy="131910"/>
            </a:xfrm>
            <a:prstGeom prst="leftArrow">
              <a:avLst>
                <a:gd name="adj1" fmla="val 53620"/>
                <a:gd name="adj2" fmla="val 119816"/>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69" name="Rectangle 16"/>
            <p:cNvSpPr>
              <a:spLocks noChangeArrowheads="1"/>
            </p:cNvSpPr>
            <p:nvPr/>
          </p:nvSpPr>
          <p:spPr bwMode="auto">
            <a:xfrm rot="20943314" flipH="1">
              <a:off x="3452391" y="2786404"/>
              <a:ext cx="2330767" cy="22826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FIN = 1, 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w,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70" name="Rectangle 54"/>
            <p:cNvSpPr>
              <a:spLocks noChangeArrowheads="1"/>
            </p:cNvSpPr>
            <p:nvPr/>
          </p:nvSpPr>
          <p:spPr bwMode="auto">
            <a:xfrm rot="20971112">
              <a:off x="4355353" y="2532597"/>
              <a:ext cx="695704" cy="243656"/>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71" name="Line 15"/>
            <p:cNvSpPr>
              <a:spLocks noChangeShapeType="1"/>
            </p:cNvSpPr>
            <p:nvPr/>
          </p:nvSpPr>
          <p:spPr bwMode="auto">
            <a:xfrm flipH="1">
              <a:off x="3382340" y="2808025"/>
              <a:ext cx="2305317" cy="429369"/>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72" name="Group 11"/>
          <p:cNvGrpSpPr>
            <a:grpSpLocks/>
          </p:cNvGrpSpPr>
          <p:nvPr/>
        </p:nvGrpSpPr>
        <p:grpSpPr bwMode="auto">
          <a:xfrm>
            <a:off x="3401817" y="2285699"/>
            <a:ext cx="2305317" cy="429369"/>
            <a:chOff x="1623" y="1995"/>
            <a:chExt cx="2604" cy="485"/>
          </a:xfrm>
        </p:grpSpPr>
        <p:sp>
          <p:nvSpPr>
            <p:cNvPr id="73" name="Rectangle 12"/>
            <p:cNvSpPr>
              <a:spLocks noChangeArrowheads="1"/>
            </p:cNvSpPr>
            <p:nvPr/>
          </p:nvSpPr>
          <p:spPr bwMode="auto">
            <a:xfrm rot="20990024" flipH="1">
              <a:off x="1826" y="2006"/>
              <a:ext cx="2041" cy="25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v,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74" name="Line 13"/>
            <p:cNvSpPr>
              <a:spLocks noChangeShapeType="1"/>
            </p:cNvSpPr>
            <p:nvPr/>
          </p:nvSpPr>
          <p:spPr bwMode="auto">
            <a:xfrm flipH="1">
              <a:off x="1623" y="1995"/>
              <a:ext cx="2604" cy="485"/>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77" name="组合 76"/>
          <p:cNvGrpSpPr/>
          <p:nvPr/>
        </p:nvGrpSpPr>
        <p:grpSpPr>
          <a:xfrm>
            <a:off x="6098436" y="1183502"/>
            <a:ext cx="912727" cy="1654716"/>
            <a:chOff x="6098436" y="1183502"/>
            <a:chExt cx="912727" cy="1654716"/>
          </a:xfrm>
        </p:grpSpPr>
        <p:sp>
          <p:nvSpPr>
            <p:cNvPr id="75" name="Freeform 40"/>
            <p:cNvSpPr>
              <a:spLocks/>
            </p:cNvSpPr>
            <p:nvPr/>
          </p:nvSpPr>
          <p:spPr bwMode="auto">
            <a:xfrm>
              <a:off x="6098436" y="1183502"/>
              <a:ext cx="860369" cy="1620096"/>
            </a:xfrm>
            <a:custGeom>
              <a:avLst/>
              <a:gdLst>
                <a:gd name="T0" fmla="*/ 0 w 868"/>
                <a:gd name="T1" fmla="*/ 0 h 1493"/>
                <a:gd name="T2" fmla="*/ 1408112 w 868"/>
                <a:gd name="T3" fmla="*/ 13621 h 1493"/>
                <a:gd name="T4" fmla="*/ 1408112 w 868"/>
                <a:gd name="T5" fmla="*/ 2905125 h 1493"/>
                <a:gd name="T6" fmla="*/ 201159 w 868"/>
                <a:gd name="T7" fmla="*/ 2905125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76" name="Rectangle 41"/>
            <p:cNvSpPr>
              <a:spLocks noChangeArrowheads="1"/>
            </p:cNvSpPr>
            <p:nvPr/>
          </p:nvSpPr>
          <p:spPr bwMode="auto">
            <a:xfrm>
              <a:off x="6315459" y="2594562"/>
              <a:ext cx="69570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被动关闭</a:t>
              </a:r>
            </a:p>
          </p:txBody>
        </p:sp>
      </p:grpSp>
      <p:grpSp>
        <p:nvGrpSpPr>
          <p:cNvPr id="2" name="组合 1">
            <a:extLst>
              <a:ext uri="{FF2B5EF4-FFF2-40B4-BE49-F238E27FC236}">
                <a16:creationId xmlns:a16="http://schemas.microsoft.com/office/drawing/2014/main" id="{872EB1C6-EE69-C1FA-30A4-0E9F734B3B5B}"/>
              </a:ext>
            </a:extLst>
          </p:cNvPr>
          <p:cNvGrpSpPr/>
          <p:nvPr/>
        </p:nvGrpSpPr>
        <p:grpSpPr>
          <a:xfrm>
            <a:off x="2816590" y="1840394"/>
            <a:ext cx="674866" cy="866707"/>
            <a:chOff x="2816590" y="1840394"/>
            <a:chExt cx="674866" cy="866707"/>
          </a:xfrm>
        </p:grpSpPr>
        <p:sp>
          <p:nvSpPr>
            <p:cNvPr id="3" name="Rectangle 18">
              <a:extLst>
                <a:ext uri="{FF2B5EF4-FFF2-40B4-BE49-F238E27FC236}">
                  <a16:creationId xmlns:a16="http://schemas.microsoft.com/office/drawing/2014/main" id="{EBFA27E2-6D5E-BDE2-FA80-40F407905587}"/>
                </a:ext>
              </a:extLst>
            </p:cNvPr>
            <p:cNvSpPr>
              <a:spLocks noChangeArrowheads="1"/>
            </p:cNvSpPr>
            <p:nvPr/>
          </p:nvSpPr>
          <p:spPr bwMode="auto">
            <a:xfrm>
              <a:off x="2860899" y="1840394"/>
              <a:ext cx="532065" cy="866707"/>
            </a:xfrm>
            <a:prstGeom prst="rect">
              <a:avLst/>
            </a:prstGeom>
            <a:solidFill>
              <a:srgbClr val="CC00CC"/>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 name="Rectangle 23">
              <a:extLst>
                <a:ext uri="{FF2B5EF4-FFF2-40B4-BE49-F238E27FC236}">
                  <a16:creationId xmlns:a16="http://schemas.microsoft.com/office/drawing/2014/main" id="{F3E0B1D3-97D3-4A5F-29D5-38D0E765E8FD}"/>
                </a:ext>
              </a:extLst>
            </p:cNvPr>
            <p:cNvSpPr>
              <a:spLocks noChangeArrowheads="1"/>
            </p:cNvSpPr>
            <p:nvPr/>
          </p:nvSpPr>
          <p:spPr bwMode="auto">
            <a:xfrm>
              <a:off x="2816590" y="2049137"/>
              <a:ext cx="674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FIN-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WAIT-1</a:t>
              </a:r>
            </a:p>
          </p:txBody>
        </p:sp>
      </p:grpSp>
      <p:grpSp>
        <p:nvGrpSpPr>
          <p:cNvPr id="5" name="组合 4">
            <a:extLst>
              <a:ext uri="{FF2B5EF4-FFF2-40B4-BE49-F238E27FC236}">
                <a16:creationId xmlns:a16="http://schemas.microsoft.com/office/drawing/2014/main" id="{D9A751BB-400D-4745-C2D9-2413AA160D10}"/>
              </a:ext>
            </a:extLst>
          </p:cNvPr>
          <p:cNvGrpSpPr/>
          <p:nvPr/>
        </p:nvGrpSpPr>
        <p:grpSpPr>
          <a:xfrm>
            <a:off x="5664639" y="2291896"/>
            <a:ext cx="650820" cy="489570"/>
            <a:chOff x="5664639" y="2291896"/>
            <a:chExt cx="650820" cy="489570"/>
          </a:xfrm>
        </p:grpSpPr>
        <p:sp>
          <p:nvSpPr>
            <p:cNvPr id="6" name="Rectangle 24">
              <a:extLst>
                <a:ext uri="{FF2B5EF4-FFF2-40B4-BE49-F238E27FC236}">
                  <a16:creationId xmlns:a16="http://schemas.microsoft.com/office/drawing/2014/main" id="{D5C99AB5-9056-71B1-8EF3-052307BBC98C}"/>
                </a:ext>
              </a:extLst>
            </p:cNvPr>
            <p:cNvSpPr>
              <a:spLocks noChangeArrowheads="1"/>
            </p:cNvSpPr>
            <p:nvPr/>
          </p:nvSpPr>
          <p:spPr bwMode="auto">
            <a:xfrm>
              <a:off x="5697395" y="2291896"/>
              <a:ext cx="532950" cy="489570"/>
            </a:xfrm>
            <a:prstGeom prst="rect">
              <a:avLst/>
            </a:prstGeom>
            <a:solidFill>
              <a:schemeClr val="accent5">
                <a:lumMod val="75000"/>
              </a:schemeClr>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7" name="Rectangle 25">
              <a:extLst>
                <a:ext uri="{FF2B5EF4-FFF2-40B4-BE49-F238E27FC236}">
                  <a16:creationId xmlns:a16="http://schemas.microsoft.com/office/drawing/2014/main" id="{FA993F9C-74E1-A47E-4D0C-06A5CB5077B5}"/>
                </a:ext>
              </a:extLst>
            </p:cNvPr>
            <p:cNvSpPr>
              <a:spLocks noChangeArrowheads="1"/>
            </p:cNvSpPr>
            <p:nvPr/>
          </p:nvSpPr>
          <p:spPr bwMode="auto">
            <a:xfrm>
              <a:off x="5664639" y="2354752"/>
              <a:ext cx="65082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CLOSE-</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WAIT</a:t>
              </a:r>
            </a:p>
          </p:txBody>
        </p:sp>
      </p:grpSp>
      <p:grpSp>
        <p:nvGrpSpPr>
          <p:cNvPr id="8" name="组合 7">
            <a:extLst>
              <a:ext uri="{FF2B5EF4-FFF2-40B4-BE49-F238E27FC236}">
                <a16:creationId xmlns:a16="http://schemas.microsoft.com/office/drawing/2014/main" id="{858280A4-6595-DF05-E8A9-70E8785F74C6}"/>
              </a:ext>
            </a:extLst>
          </p:cNvPr>
          <p:cNvGrpSpPr/>
          <p:nvPr/>
        </p:nvGrpSpPr>
        <p:grpSpPr>
          <a:xfrm>
            <a:off x="2809275" y="2747825"/>
            <a:ext cx="674866" cy="486029"/>
            <a:chOff x="2809275" y="2747825"/>
            <a:chExt cx="674866" cy="486029"/>
          </a:xfrm>
        </p:grpSpPr>
        <p:sp>
          <p:nvSpPr>
            <p:cNvPr id="9" name="Rectangle 26">
              <a:extLst>
                <a:ext uri="{FF2B5EF4-FFF2-40B4-BE49-F238E27FC236}">
                  <a16:creationId xmlns:a16="http://schemas.microsoft.com/office/drawing/2014/main" id="{0C6F6635-9E6D-50E9-0B83-9490DA852B36}"/>
                </a:ext>
              </a:extLst>
            </p:cNvPr>
            <p:cNvSpPr>
              <a:spLocks noChangeArrowheads="1"/>
            </p:cNvSpPr>
            <p:nvPr/>
          </p:nvSpPr>
          <p:spPr bwMode="auto">
            <a:xfrm>
              <a:off x="2860899" y="2747825"/>
              <a:ext cx="532065" cy="486029"/>
            </a:xfrm>
            <a:prstGeom prst="rect">
              <a:avLst/>
            </a:prstGeom>
            <a:solidFill>
              <a:srgbClr val="0000FF"/>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0" name="Rectangle 27">
              <a:extLst>
                <a:ext uri="{FF2B5EF4-FFF2-40B4-BE49-F238E27FC236}">
                  <a16:creationId xmlns:a16="http://schemas.microsoft.com/office/drawing/2014/main" id="{69DDA29D-2668-6A4D-B293-A6311103F543}"/>
                </a:ext>
              </a:extLst>
            </p:cNvPr>
            <p:cNvSpPr>
              <a:spLocks noChangeArrowheads="1"/>
            </p:cNvSpPr>
            <p:nvPr/>
          </p:nvSpPr>
          <p:spPr bwMode="auto">
            <a:xfrm>
              <a:off x="2809275" y="2777925"/>
              <a:ext cx="674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FIN-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WAIT-2</a:t>
              </a:r>
            </a:p>
          </p:txBody>
        </p:sp>
      </p:grpSp>
      <p:sp>
        <p:nvSpPr>
          <p:cNvPr id="11" name="文本框 10">
            <a:extLst>
              <a:ext uri="{FF2B5EF4-FFF2-40B4-BE49-F238E27FC236}">
                <a16:creationId xmlns:a16="http://schemas.microsoft.com/office/drawing/2014/main" id="{03A632FA-23BE-9DA9-1630-2399371D222C}"/>
              </a:ext>
            </a:extLst>
          </p:cNvPr>
          <p:cNvSpPr txBox="1"/>
          <p:nvPr/>
        </p:nvSpPr>
        <p:spPr>
          <a:xfrm>
            <a:off x="2012187" y="2120233"/>
            <a:ext cx="914708" cy="276999"/>
          </a:xfrm>
          <a:prstGeom prst="rect">
            <a:avLst/>
          </a:prstGeom>
        </p:spPr>
        <p:txBody>
          <a:bodyPr wrap="square">
            <a:spAutoFit/>
          </a:bodyPr>
          <a:lstStyle>
            <a:defPPr>
              <a:defRPr lang="zh-CN"/>
            </a:defPPr>
            <a:lvl1pPr algn="ctr">
              <a:defRPr sz="1200" b="1">
                <a:solidFill>
                  <a:srgbClr val="0000FF"/>
                </a:solidFill>
                <a:latin typeface="微软雅黑" panose="020B0503020204020204" pitchFamily="34" charset="-122"/>
                <a:ea typeface="微软雅黑" panose="020B0503020204020204" pitchFamily="34" charset="-122"/>
              </a:defRPr>
            </a:lvl1pPr>
          </a:lstStyle>
          <a:p>
            <a:pPr algn="r"/>
            <a:r>
              <a:rPr lang="zh-CN" altLang="en-US" dirty="0"/>
              <a:t>终止等待</a:t>
            </a:r>
            <a:r>
              <a:rPr lang="en-US" altLang="zh-CN" dirty="0"/>
              <a:t>1</a:t>
            </a:r>
            <a:endParaRPr lang="zh-CN" altLang="en-US" dirty="0"/>
          </a:p>
        </p:txBody>
      </p:sp>
      <p:sp>
        <p:nvSpPr>
          <p:cNvPr id="12" name="文本框 11">
            <a:extLst>
              <a:ext uri="{FF2B5EF4-FFF2-40B4-BE49-F238E27FC236}">
                <a16:creationId xmlns:a16="http://schemas.microsoft.com/office/drawing/2014/main" id="{7AE10C40-DF25-0371-5763-94E4F1DA70AC}"/>
              </a:ext>
            </a:extLst>
          </p:cNvPr>
          <p:cNvSpPr txBox="1"/>
          <p:nvPr/>
        </p:nvSpPr>
        <p:spPr>
          <a:xfrm>
            <a:off x="6161099" y="2352183"/>
            <a:ext cx="914708" cy="276999"/>
          </a:xfrm>
          <a:prstGeom prst="rect">
            <a:avLst/>
          </a:prstGeom>
        </p:spPr>
        <p:txBody>
          <a:bodyPr wrap="square">
            <a:spAutoFit/>
          </a:bodyPr>
          <a:lstStyle>
            <a:defPPr>
              <a:defRPr lang="zh-CN"/>
            </a:defPPr>
            <a:lvl1pPr algn="ctr">
              <a:defRPr sz="1200" b="1">
                <a:solidFill>
                  <a:srgbClr val="0000FF"/>
                </a:solidFill>
                <a:latin typeface="微软雅黑" panose="020B0503020204020204" pitchFamily="34" charset="-122"/>
                <a:ea typeface="微软雅黑" panose="020B0503020204020204" pitchFamily="34" charset="-122"/>
              </a:defRPr>
            </a:lvl1pPr>
          </a:lstStyle>
          <a:p>
            <a:pPr algn="l"/>
            <a:r>
              <a:rPr lang="zh-CN" altLang="en-US" dirty="0"/>
              <a:t>关闭等待</a:t>
            </a:r>
          </a:p>
        </p:txBody>
      </p:sp>
      <p:sp>
        <p:nvSpPr>
          <p:cNvPr id="13" name="文本框 12">
            <a:extLst>
              <a:ext uri="{FF2B5EF4-FFF2-40B4-BE49-F238E27FC236}">
                <a16:creationId xmlns:a16="http://schemas.microsoft.com/office/drawing/2014/main" id="{87AC0325-9AC5-0B2A-5A21-FF11831DF91D}"/>
              </a:ext>
            </a:extLst>
          </p:cNvPr>
          <p:cNvSpPr txBox="1"/>
          <p:nvPr/>
        </p:nvSpPr>
        <p:spPr>
          <a:xfrm>
            <a:off x="2001006" y="2838197"/>
            <a:ext cx="914708" cy="276999"/>
          </a:xfrm>
          <a:prstGeom prst="rect">
            <a:avLst/>
          </a:prstGeom>
        </p:spPr>
        <p:txBody>
          <a:bodyPr wrap="square">
            <a:spAutoFit/>
          </a:bodyPr>
          <a:lstStyle>
            <a:defPPr>
              <a:defRPr lang="zh-CN"/>
            </a:defPPr>
            <a:lvl1pPr algn="ctr">
              <a:defRPr sz="1200" b="1">
                <a:solidFill>
                  <a:srgbClr val="0000FF"/>
                </a:solidFill>
                <a:latin typeface="微软雅黑" panose="020B0503020204020204" pitchFamily="34" charset="-122"/>
                <a:ea typeface="微软雅黑" panose="020B0503020204020204" pitchFamily="34" charset="-122"/>
              </a:defRPr>
            </a:lvl1pPr>
          </a:lstStyle>
          <a:p>
            <a:pPr algn="r"/>
            <a:r>
              <a:rPr lang="zh-CN" altLang="en-US" dirty="0"/>
              <a:t>终止等待</a:t>
            </a:r>
            <a:r>
              <a:rPr lang="en-US" altLang="zh-CN" dirty="0"/>
              <a:t>2</a:t>
            </a:r>
            <a:endParaRPr lang="zh-CN" altLang="en-US" dirty="0"/>
          </a:p>
        </p:txBody>
      </p:sp>
    </p:spTree>
    <p:extLst>
      <p:ext uri="{BB962C8B-B14F-4D97-AF65-F5344CB8AC3E}">
        <p14:creationId xmlns:p14="http://schemas.microsoft.com/office/powerpoint/2010/main" val="3987164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withEffect">
                                  <p:stCondLst>
                                    <p:cond delay="0"/>
                                  </p:stCondLst>
                                  <p:childTnLst>
                                    <p:anim calcmode="discrete" valueType="str">
                                      <p:cBhvr>
                                        <p:cTn id="6"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61"/>
                                        </p:tgtEl>
                                        <p:attrNameLst>
                                          <p:attrName>style.visibility</p:attrName>
                                        </p:attrNameLst>
                                      </p:cBhvr>
                                      <p:to>
                                        <p:strVal val="visible"/>
                                      </p:to>
                                    </p:set>
                                    <p:animEffect transition="in" filter="fade">
                                      <p:cBhvr>
                                        <p:cTn id="11" dur="1000"/>
                                        <p:tgtEl>
                                          <p:spTgt spid="61"/>
                                        </p:tgtEl>
                                      </p:cBhvr>
                                    </p:animEffect>
                                    <p:anim calcmode="lin" valueType="num">
                                      <p:cBhvr>
                                        <p:cTn id="12" dur="1000" fill="hold"/>
                                        <p:tgtEl>
                                          <p:spTgt spid="61"/>
                                        </p:tgtEl>
                                        <p:attrNameLst>
                                          <p:attrName>ppt_x</p:attrName>
                                        </p:attrNameLst>
                                      </p:cBhvr>
                                      <p:tavLst>
                                        <p:tav tm="0">
                                          <p:val>
                                            <p:strVal val="#ppt_x"/>
                                          </p:val>
                                        </p:tav>
                                        <p:tav tm="100000">
                                          <p:val>
                                            <p:strVal val="#ppt_x"/>
                                          </p:val>
                                        </p:tav>
                                      </p:tavLst>
                                    </p:anim>
                                    <p:anim calcmode="lin" valueType="num">
                                      <p:cBhvr>
                                        <p:cTn id="13" dur="1000" fill="hold"/>
                                        <p:tgtEl>
                                          <p:spTgt spid="61"/>
                                        </p:tgtEl>
                                        <p:attrNameLst>
                                          <p:attrName>ppt_y</p:attrName>
                                        </p:attrNameLst>
                                      </p:cBhvr>
                                      <p:tavLst>
                                        <p:tav tm="0">
                                          <p:val>
                                            <p:strVal val="#ppt_y+.1"/>
                                          </p:val>
                                        </p:tav>
                                        <p:tav tm="100000">
                                          <p:val>
                                            <p:strVal val="#ppt_y"/>
                                          </p:val>
                                        </p:tav>
                                      </p:tavLst>
                                    </p:anim>
                                  </p:childTnLst>
                                </p:cTn>
                              </p:par>
                              <p:par>
                                <p:cTn id="14" presetID="22" presetClass="entr" presetSubtype="1" fill="hold" nodeType="withEffect">
                                  <p:stCondLst>
                                    <p:cond delay="0"/>
                                  </p:stCondLst>
                                  <p:childTnLst>
                                    <p:set>
                                      <p:cBhvr>
                                        <p:cTn id="15" dur="1" fill="hold">
                                          <p:stCondLst>
                                            <p:cond delay="0"/>
                                          </p:stCondLst>
                                        </p:cTn>
                                        <p:tgtEl>
                                          <p:spTgt spid="77"/>
                                        </p:tgtEl>
                                        <p:attrNameLst>
                                          <p:attrName>style.visibility</p:attrName>
                                        </p:attrNameLst>
                                      </p:cBhvr>
                                      <p:to>
                                        <p:strVal val="visible"/>
                                      </p:to>
                                    </p:set>
                                    <p:animEffect transition="in" filter="wipe(up)">
                                      <p:cBhvr>
                                        <p:cTn id="16" dur="1000"/>
                                        <p:tgtEl>
                                          <p:spTgt spid="7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78"/>
                                        </p:tgtEl>
                                        <p:attrNameLst>
                                          <p:attrName>style.visibility</p:attrName>
                                        </p:attrNameLst>
                                      </p:cBhvr>
                                      <p:to>
                                        <p:strVal val="visible"/>
                                      </p:to>
                                    </p:set>
                                    <p:animEffect transition="in" filter="wipe(right)">
                                      <p:cBhvr>
                                        <p:cTn id="21" dur="20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圆角矩形 45"/>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667244"/>
            <a:ext cx="3751385" cy="634020"/>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的连接释放</a:t>
            </a:r>
            <a:endParaRPr lang="en-US" altLang="zh-CN" sz="1600" b="1" dirty="0">
              <a:latin typeface="微软雅黑" pitchFamily="34" charset="-122"/>
              <a:ea typeface="微软雅黑" pitchFamily="34" charset="-122"/>
            </a:endParaRPr>
          </a:p>
          <a:p>
            <a:pPr algn="ctr">
              <a:lnSpc>
                <a:spcPct val="110000"/>
              </a:lnSpc>
            </a:pPr>
            <a:r>
              <a:rPr lang="zh-CN" altLang="en-US" sz="1600" b="1" dirty="0">
                <a:latin typeface="微软雅黑" pitchFamily="34" charset="-122"/>
                <a:ea typeface="微软雅黑" pitchFamily="34" charset="-122"/>
              </a:rPr>
              <a:t>采用</a:t>
            </a:r>
            <a:r>
              <a:rPr lang="zh-CN" altLang="en-US" sz="1600" b="1" dirty="0">
                <a:solidFill>
                  <a:srgbClr val="C00000"/>
                </a:solidFill>
                <a:latin typeface="微软雅黑" pitchFamily="34" charset="-122"/>
                <a:ea typeface="微软雅黑" pitchFamily="34" charset="-122"/>
              </a:rPr>
              <a:t>四报文握手</a:t>
            </a:r>
          </a:p>
        </p:txBody>
      </p:sp>
      <p:sp>
        <p:nvSpPr>
          <p:cNvPr id="4" name="AutoShape 6"/>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5" name="Group 8"/>
          <p:cNvGrpSpPr>
            <a:grpSpLocks/>
          </p:cNvGrpSpPr>
          <p:nvPr/>
        </p:nvGrpSpPr>
        <p:grpSpPr bwMode="auto">
          <a:xfrm>
            <a:off x="3393849" y="1833311"/>
            <a:ext cx="2305317" cy="428484"/>
            <a:chOff x="1614" y="1484"/>
            <a:chExt cx="2604" cy="484"/>
          </a:xfrm>
        </p:grpSpPr>
        <p:sp>
          <p:nvSpPr>
            <p:cNvPr id="6" name="Rectangle 9"/>
            <p:cNvSpPr>
              <a:spLocks noChangeArrowheads="1"/>
            </p:cNvSpPr>
            <p:nvPr/>
          </p:nvSpPr>
          <p:spPr bwMode="auto">
            <a:xfrm rot="597975">
              <a:off x="2411" y="1507"/>
              <a:ext cx="1374" cy="275"/>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FIN = 1, </a:t>
              </a:r>
              <a:r>
                <a:rPr kumimoji="0" lang="en-US" altLang="zh-CN" sz="10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 = u</a:t>
              </a:r>
            </a:p>
          </p:txBody>
        </p:sp>
        <p:sp>
          <p:nvSpPr>
            <p:cNvPr id="7" name="Line 10"/>
            <p:cNvSpPr>
              <a:spLocks noChangeShapeType="1"/>
            </p:cNvSpPr>
            <p:nvPr/>
          </p:nvSpPr>
          <p:spPr bwMode="auto">
            <a:xfrm>
              <a:off x="1614" y="1484"/>
              <a:ext cx="2604" cy="484"/>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8" name="Rectangle 17"/>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9" name="Rectangle 19"/>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10" name="Group 20"/>
          <p:cNvGrpSpPr>
            <a:grpSpLocks/>
          </p:cNvGrpSpPr>
          <p:nvPr/>
        </p:nvGrpSpPr>
        <p:grpSpPr bwMode="auto">
          <a:xfrm>
            <a:off x="2806011" y="1372071"/>
            <a:ext cx="3501355" cy="46036"/>
            <a:chOff x="1020" y="481"/>
            <a:chExt cx="4037" cy="46"/>
          </a:xfrm>
        </p:grpSpPr>
        <p:sp>
          <p:nvSpPr>
            <p:cNvPr id="11" name="Line 21"/>
            <p:cNvSpPr>
              <a:spLocks noChangeShapeType="1"/>
            </p:cNvSpPr>
            <p:nvPr/>
          </p:nvSpPr>
          <p:spPr bwMode="auto">
            <a:xfrm>
              <a:off x="1020" y="527"/>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2" name="Line 22"/>
            <p:cNvSpPr>
              <a:spLocks noChangeShapeType="1"/>
            </p:cNvSpPr>
            <p:nvPr/>
          </p:nvSpPr>
          <p:spPr bwMode="auto">
            <a:xfrm>
              <a:off x="1020" y="481"/>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3" name="Group 37"/>
          <p:cNvGrpSpPr>
            <a:grpSpLocks/>
          </p:cNvGrpSpPr>
          <p:nvPr/>
        </p:nvGrpSpPr>
        <p:grpSpPr bwMode="auto">
          <a:xfrm>
            <a:off x="2103083" y="1220685"/>
            <a:ext cx="922481" cy="603775"/>
            <a:chOff x="156" y="792"/>
            <a:chExt cx="1042" cy="682"/>
          </a:xfrm>
        </p:grpSpPr>
        <p:sp>
          <p:nvSpPr>
            <p:cNvPr id="14" name="Freeform 38"/>
            <p:cNvSpPr>
              <a:spLocks/>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5" name="Rectangle 39"/>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主动关闭</a:t>
              </a:r>
            </a:p>
          </p:txBody>
        </p:sp>
      </p:grpSp>
      <p:sp>
        <p:nvSpPr>
          <p:cNvPr id="16" name="Rectangle 42"/>
          <p:cNvSpPr>
            <a:spLocks noChangeArrowheads="1"/>
          </p:cNvSpPr>
          <p:nvPr/>
        </p:nvSpPr>
        <p:spPr bwMode="auto">
          <a:xfrm>
            <a:off x="4255700" y="1511062"/>
            <a:ext cx="721352" cy="251351"/>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05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17" name="Rectangle 50"/>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effectLst/>
                <a:uLnTx/>
                <a:uFillTx/>
                <a:latin typeface="微软雅黑" pitchFamily="34" charset="-122"/>
                <a:ea typeface="微软雅黑" pitchFamily="34" charset="-122"/>
              </a:rPr>
              <a:t>A</a:t>
            </a:r>
          </a:p>
        </p:txBody>
      </p:sp>
      <p:sp>
        <p:nvSpPr>
          <p:cNvPr id="18" name="Rectangle 51"/>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19" name="Rectangle 52"/>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0" name="Rectangle 53"/>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服务器</a:t>
            </a:r>
          </a:p>
        </p:txBody>
      </p:sp>
      <p:pic>
        <p:nvPicPr>
          <p:cNvPr id="21" name="Picture 134"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34"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46"/>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sp>
        <p:nvSpPr>
          <p:cNvPr id="24" name="Rectangle 47"/>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nvGrpSpPr>
          <p:cNvPr id="25" name="Group 2"/>
          <p:cNvGrpSpPr>
            <a:grpSpLocks/>
          </p:cNvGrpSpPr>
          <p:nvPr/>
        </p:nvGrpSpPr>
        <p:grpSpPr bwMode="auto">
          <a:xfrm>
            <a:off x="3384905" y="1795968"/>
            <a:ext cx="2321296" cy="2358159"/>
            <a:chOff x="1474" y="1888"/>
            <a:chExt cx="2412" cy="2432"/>
          </a:xfrm>
        </p:grpSpPr>
        <p:sp>
          <p:nvSpPr>
            <p:cNvPr id="26"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27" name="Line 4"/>
            <p:cNvSpPr>
              <a:spLocks noChangeShapeType="1"/>
            </p:cNvSpPr>
            <p:nvPr/>
          </p:nvSpPr>
          <p:spPr bwMode="auto">
            <a:xfrm>
              <a:off x="3886" y="2409"/>
              <a:ext cx="0" cy="1911"/>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28" name="Text Box 155"/>
          <p:cNvSpPr txBox="1">
            <a:spLocks noChangeArrowheads="1"/>
          </p:cNvSpPr>
          <p:nvPr/>
        </p:nvSpPr>
        <p:spPr bwMode="auto">
          <a:xfrm>
            <a:off x="1864670" y="4037556"/>
            <a:ext cx="5503412" cy="615168"/>
          </a:xfrm>
          <a:prstGeom prst="rect">
            <a:avLst/>
          </a:prstGeom>
          <a:solidFill>
            <a:srgbClr val="FFFF99"/>
          </a:solidFill>
          <a:ln w="9525">
            <a:solidFill>
              <a:schemeClr val="tx1"/>
            </a:solidFill>
            <a:miter lim="800000"/>
            <a:headEnd/>
            <a:tailEnd/>
          </a:ln>
          <a:effectLst/>
        </p:spPr>
        <p:txBody>
          <a:bodyPr wrap="square">
            <a:spAutoFit/>
          </a:bodyPr>
          <a:lstStyle/>
          <a:p>
            <a:pPr>
              <a:lnSpc>
                <a:spcPct val="110000"/>
              </a:lnSpc>
            </a:pPr>
            <a:r>
              <a:rPr lang="zh-CN" altLang="en-US" sz="1600" b="1" dirty="0">
                <a:latin typeface="微软雅黑" pitchFamily="34" charset="-122"/>
                <a:ea typeface="微软雅黑" pitchFamily="34" charset="-122"/>
              </a:rPr>
              <a:t>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收到连接释放报文段后，必须发出确认。</a:t>
            </a:r>
            <a:endParaRPr lang="en-US" altLang="zh-CN" sz="1600" b="1" dirty="0">
              <a:latin typeface="微软雅黑" pitchFamily="34" charset="-122"/>
              <a:ea typeface="微软雅黑" pitchFamily="34" charset="-122"/>
            </a:endParaRPr>
          </a:p>
          <a:p>
            <a:pPr>
              <a:lnSpc>
                <a:spcPct val="110000"/>
              </a:lnSpc>
            </a:pPr>
            <a:r>
              <a:rPr lang="zh-CN" altLang="en-US" sz="1600" b="1" dirty="0">
                <a:latin typeface="微软雅黑" pitchFamily="34" charset="-122"/>
                <a:ea typeface="微软雅黑" pitchFamily="34" charset="-122"/>
              </a:rPr>
              <a:t> </a:t>
            </a:r>
            <a:r>
              <a:rPr lang="en-US" altLang="zh-CN" sz="1600" b="1" dirty="0">
                <a:latin typeface="微软雅黑" pitchFamily="34" charset="-122"/>
                <a:ea typeface="微软雅黑" pitchFamily="34" charset="-122"/>
              </a:rPr>
              <a:t>ACK=1</a:t>
            </a:r>
            <a:r>
              <a:rPr lang="zh-CN" altLang="en-US" sz="1600" b="1" dirty="0">
                <a:latin typeface="微软雅黑" pitchFamily="34" charset="-122"/>
                <a:ea typeface="微软雅黑" pitchFamily="34" charset="-122"/>
              </a:rPr>
              <a:t>，确认号 </a:t>
            </a:r>
            <a:r>
              <a:rPr lang="en-US" altLang="zh-CN" sz="1600" b="1" dirty="0" err="1">
                <a:latin typeface="微软雅黑" pitchFamily="34" charset="-122"/>
                <a:ea typeface="微软雅黑" pitchFamily="34" charset="-122"/>
              </a:rPr>
              <a:t>ack</a:t>
            </a:r>
            <a:r>
              <a:rPr lang="en-US" altLang="zh-CN" sz="1600" b="1" dirty="0">
                <a:latin typeface="微软雅黑" pitchFamily="34" charset="-122"/>
                <a:ea typeface="微软雅黑" pitchFamily="34" charset="-122"/>
              </a:rPr>
              <a:t>=w+1</a:t>
            </a:r>
            <a:r>
              <a:rPr lang="zh-CN" altLang="en-US" sz="1600" b="1" dirty="0">
                <a:latin typeface="微软雅黑" pitchFamily="34" charset="-122"/>
                <a:ea typeface="微软雅黑" pitchFamily="34" charset="-122"/>
              </a:rPr>
              <a:t>，自己的序号 </a:t>
            </a:r>
            <a:r>
              <a:rPr lang="en-US" altLang="zh-CN" sz="1600" b="1" dirty="0" err="1">
                <a:latin typeface="微软雅黑" pitchFamily="34" charset="-122"/>
                <a:ea typeface="微软雅黑" pitchFamily="34" charset="-122"/>
              </a:rPr>
              <a:t>seq</a:t>
            </a:r>
            <a:r>
              <a:rPr lang="en-US" altLang="zh-CN" sz="1600" b="1" dirty="0">
                <a:latin typeface="微软雅黑" pitchFamily="34" charset="-122"/>
                <a:ea typeface="微软雅黑" pitchFamily="34" charset="-122"/>
              </a:rPr>
              <a:t> = u + 1</a:t>
            </a:r>
            <a:endParaRPr lang="zh-CN" altLang="en-US" sz="1600" b="1" dirty="0">
              <a:latin typeface="微软雅黑" pitchFamily="34" charset="-122"/>
              <a:ea typeface="微软雅黑" pitchFamily="34" charset="-122"/>
            </a:endParaRPr>
          </a:p>
        </p:txBody>
      </p:sp>
      <p:grpSp>
        <p:nvGrpSpPr>
          <p:cNvPr id="29" name="Group 43"/>
          <p:cNvGrpSpPr>
            <a:grpSpLocks/>
          </p:cNvGrpSpPr>
          <p:nvPr/>
        </p:nvGrpSpPr>
        <p:grpSpPr bwMode="auto">
          <a:xfrm>
            <a:off x="6121453" y="1287082"/>
            <a:ext cx="750733" cy="997731"/>
            <a:chOff x="4695" y="867"/>
            <a:chExt cx="848" cy="1127"/>
          </a:xfrm>
        </p:grpSpPr>
        <p:sp>
          <p:nvSpPr>
            <p:cNvPr id="30" name="Freeform 44"/>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31" name="Rectangle 45"/>
            <p:cNvSpPr>
              <a:spLocks noChangeArrowheads="1"/>
            </p:cNvSpPr>
            <p:nvPr/>
          </p:nvSpPr>
          <p:spPr bwMode="auto">
            <a:xfrm>
              <a:off x="5047" y="1120"/>
              <a:ext cx="496" cy="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通知</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应用</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进程</a:t>
              </a:r>
            </a:p>
          </p:txBody>
        </p:sp>
      </p:grpSp>
      <p:grpSp>
        <p:nvGrpSpPr>
          <p:cNvPr id="32" name="组合 31"/>
          <p:cNvGrpSpPr/>
          <p:nvPr/>
        </p:nvGrpSpPr>
        <p:grpSpPr>
          <a:xfrm>
            <a:off x="3382340" y="2532597"/>
            <a:ext cx="2400818" cy="704797"/>
            <a:chOff x="3382340" y="2532597"/>
            <a:chExt cx="2400818" cy="704797"/>
          </a:xfrm>
        </p:grpSpPr>
        <p:sp>
          <p:nvSpPr>
            <p:cNvPr id="33" name="AutoShape 5"/>
            <p:cNvSpPr>
              <a:spLocks noChangeArrowheads="1"/>
            </p:cNvSpPr>
            <p:nvPr/>
          </p:nvSpPr>
          <p:spPr bwMode="auto">
            <a:xfrm rot="20948448">
              <a:off x="4076414" y="2692051"/>
              <a:ext cx="377137" cy="131910"/>
            </a:xfrm>
            <a:prstGeom prst="leftArrow">
              <a:avLst>
                <a:gd name="adj1" fmla="val 53620"/>
                <a:gd name="adj2" fmla="val 119816"/>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34" name="Rectangle 16"/>
            <p:cNvSpPr>
              <a:spLocks noChangeArrowheads="1"/>
            </p:cNvSpPr>
            <p:nvPr/>
          </p:nvSpPr>
          <p:spPr bwMode="auto">
            <a:xfrm rot="20943314" flipH="1">
              <a:off x="3452391" y="2786404"/>
              <a:ext cx="2330767" cy="22826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FIN = 1, 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w,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35" name="Rectangle 54"/>
            <p:cNvSpPr>
              <a:spLocks noChangeArrowheads="1"/>
            </p:cNvSpPr>
            <p:nvPr/>
          </p:nvSpPr>
          <p:spPr bwMode="auto">
            <a:xfrm rot="20971112">
              <a:off x="4355353" y="2532597"/>
              <a:ext cx="695704" cy="243656"/>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36" name="Line 15"/>
            <p:cNvSpPr>
              <a:spLocks noChangeShapeType="1"/>
            </p:cNvSpPr>
            <p:nvPr/>
          </p:nvSpPr>
          <p:spPr bwMode="auto">
            <a:xfrm flipH="1">
              <a:off x="3382340" y="2808025"/>
              <a:ext cx="2305317" cy="429369"/>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37" name="Group 11"/>
          <p:cNvGrpSpPr>
            <a:grpSpLocks/>
          </p:cNvGrpSpPr>
          <p:nvPr/>
        </p:nvGrpSpPr>
        <p:grpSpPr bwMode="auto">
          <a:xfrm>
            <a:off x="3401817" y="2285699"/>
            <a:ext cx="2305317" cy="429369"/>
            <a:chOff x="1623" y="1995"/>
            <a:chExt cx="2604" cy="485"/>
          </a:xfrm>
        </p:grpSpPr>
        <p:sp>
          <p:nvSpPr>
            <p:cNvPr id="38" name="Rectangle 12"/>
            <p:cNvSpPr>
              <a:spLocks noChangeArrowheads="1"/>
            </p:cNvSpPr>
            <p:nvPr/>
          </p:nvSpPr>
          <p:spPr bwMode="auto">
            <a:xfrm rot="20990024" flipH="1">
              <a:off x="1826" y="2006"/>
              <a:ext cx="2041" cy="25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v,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39" name="Line 13"/>
            <p:cNvSpPr>
              <a:spLocks noChangeShapeType="1"/>
            </p:cNvSpPr>
            <p:nvPr/>
          </p:nvSpPr>
          <p:spPr bwMode="auto">
            <a:xfrm flipH="1">
              <a:off x="1623" y="1995"/>
              <a:ext cx="2604" cy="485"/>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40" name="组合 39"/>
          <p:cNvGrpSpPr/>
          <p:nvPr/>
        </p:nvGrpSpPr>
        <p:grpSpPr>
          <a:xfrm>
            <a:off x="6098436" y="1183502"/>
            <a:ext cx="930398" cy="1654904"/>
            <a:chOff x="6098436" y="1183502"/>
            <a:chExt cx="930398" cy="1654904"/>
          </a:xfrm>
        </p:grpSpPr>
        <p:sp>
          <p:nvSpPr>
            <p:cNvPr id="41" name="Freeform 40"/>
            <p:cNvSpPr>
              <a:spLocks/>
            </p:cNvSpPr>
            <p:nvPr/>
          </p:nvSpPr>
          <p:spPr bwMode="auto">
            <a:xfrm>
              <a:off x="6098436" y="1183502"/>
              <a:ext cx="860369" cy="1620096"/>
            </a:xfrm>
            <a:custGeom>
              <a:avLst/>
              <a:gdLst>
                <a:gd name="T0" fmla="*/ 0 w 868"/>
                <a:gd name="T1" fmla="*/ 0 h 1493"/>
                <a:gd name="T2" fmla="*/ 1408112 w 868"/>
                <a:gd name="T3" fmla="*/ 13621 h 1493"/>
                <a:gd name="T4" fmla="*/ 1408112 w 868"/>
                <a:gd name="T5" fmla="*/ 2905125 h 1493"/>
                <a:gd name="T6" fmla="*/ 201159 w 868"/>
                <a:gd name="T7" fmla="*/ 2905125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2" name="Rectangle 41"/>
            <p:cNvSpPr>
              <a:spLocks noChangeArrowheads="1"/>
            </p:cNvSpPr>
            <p:nvPr/>
          </p:nvSpPr>
          <p:spPr bwMode="auto">
            <a:xfrm>
              <a:off x="6333130" y="2594750"/>
              <a:ext cx="69570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被动关闭</a:t>
              </a:r>
            </a:p>
          </p:txBody>
        </p:sp>
      </p:grpSp>
      <p:grpSp>
        <p:nvGrpSpPr>
          <p:cNvPr id="45" name="组合 44"/>
          <p:cNvGrpSpPr/>
          <p:nvPr/>
        </p:nvGrpSpPr>
        <p:grpSpPr>
          <a:xfrm>
            <a:off x="3393849" y="3270695"/>
            <a:ext cx="2343998" cy="429369"/>
            <a:chOff x="3393849" y="3270695"/>
            <a:chExt cx="2343998" cy="429369"/>
          </a:xfrm>
        </p:grpSpPr>
        <p:sp>
          <p:nvSpPr>
            <p:cNvPr id="43" name="Rectangle 7"/>
            <p:cNvSpPr>
              <a:spLocks noChangeArrowheads="1"/>
            </p:cNvSpPr>
            <p:nvPr/>
          </p:nvSpPr>
          <p:spPr bwMode="auto">
            <a:xfrm rot="610931">
              <a:off x="3641118" y="3294225"/>
              <a:ext cx="2096729"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u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w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p>
          </p:txBody>
        </p:sp>
        <p:sp>
          <p:nvSpPr>
            <p:cNvPr id="44" name="Line 14"/>
            <p:cNvSpPr>
              <a:spLocks noChangeShapeType="1"/>
            </p:cNvSpPr>
            <p:nvPr/>
          </p:nvSpPr>
          <p:spPr bwMode="auto">
            <a:xfrm>
              <a:off x="3393849" y="3270695"/>
              <a:ext cx="2305317" cy="429369"/>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2" name="Rectangle 19">
            <a:extLst>
              <a:ext uri="{FF2B5EF4-FFF2-40B4-BE49-F238E27FC236}">
                <a16:creationId xmlns:a16="http://schemas.microsoft.com/office/drawing/2014/main" id="{EFC3CA67-6D64-9354-5594-7A2DE51CB411}"/>
              </a:ext>
            </a:extLst>
          </p:cNvPr>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47" name="组合 46">
            <a:extLst>
              <a:ext uri="{FF2B5EF4-FFF2-40B4-BE49-F238E27FC236}">
                <a16:creationId xmlns:a16="http://schemas.microsoft.com/office/drawing/2014/main" id="{66ACA7FC-1577-8BF6-ACAA-C69CE702B219}"/>
              </a:ext>
            </a:extLst>
          </p:cNvPr>
          <p:cNvGrpSpPr/>
          <p:nvPr/>
        </p:nvGrpSpPr>
        <p:grpSpPr>
          <a:xfrm>
            <a:off x="2816590" y="1840394"/>
            <a:ext cx="674866" cy="866707"/>
            <a:chOff x="2816590" y="1840394"/>
            <a:chExt cx="674866" cy="866707"/>
          </a:xfrm>
        </p:grpSpPr>
        <p:sp>
          <p:nvSpPr>
            <p:cNvPr id="48" name="Rectangle 18">
              <a:extLst>
                <a:ext uri="{FF2B5EF4-FFF2-40B4-BE49-F238E27FC236}">
                  <a16:creationId xmlns:a16="http://schemas.microsoft.com/office/drawing/2014/main" id="{EE8CEF0B-7AA8-E5B4-5206-D5993638758B}"/>
                </a:ext>
              </a:extLst>
            </p:cNvPr>
            <p:cNvSpPr>
              <a:spLocks noChangeArrowheads="1"/>
            </p:cNvSpPr>
            <p:nvPr/>
          </p:nvSpPr>
          <p:spPr bwMode="auto">
            <a:xfrm>
              <a:off x="2860899" y="1840394"/>
              <a:ext cx="532065" cy="866707"/>
            </a:xfrm>
            <a:prstGeom prst="rect">
              <a:avLst/>
            </a:prstGeom>
            <a:solidFill>
              <a:srgbClr val="CC00CC"/>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9" name="Rectangle 23">
              <a:extLst>
                <a:ext uri="{FF2B5EF4-FFF2-40B4-BE49-F238E27FC236}">
                  <a16:creationId xmlns:a16="http://schemas.microsoft.com/office/drawing/2014/main" id="{52A7E2A3-70FA-D83E-83EE-E9BEA923895B}"/>
                </a:ext>
              </a:extLst>
            </p:cNvPr>
            <p:cNvSpPr>
              <a:spLocks noChangeArrowheads="1"/>
            </p:cNvSpPr>
            <p:nvPr/>
          </p:nvSpPr>
          <p:spPr bwMode="auto">
            <a:xfrm>
              <a:off x="2816590" y="2049137"/>
              <a:ext cx="674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FIN-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WAIT-1</a:t>
              </a:r>
            </a:p>
          </p:txBody>
        </p:sp>
      </p:grpSp>
      <p:grpSp>
        <p:nvGrpSpPr>
          <p:cNvPr id="50" name="组合 49">
            <a:extLst>
              <a:ext uri="{FF2B5EF4-FFF2-40B4-BE49-F238E27FC236}">
                <a16:creationId xmlns:a16="http://schemas.microsoft.com/office/drawing/2014/main" id="{C6956243-9F8A-D854-3D70-86B5D12EBE3F}"/>
              </a:ext>
            </a:extLst>
          </p:cNvPr>
          <p:cNvGrpSpPr/>
          <p:nvPr/>
        </p:nvGrpSpPr>
        <p:grpSpPr>
          <a:xfrm>
            <a:off x="5664639" y="2291896"/>
            <a:ext cx="650820" cy="489570"/>
            <a:chOff x="5664639" y="2291896"/>
            <a:chExt cx="650820" cy="489570"/>
          </a:xfrm>
        </p:grpSpPr>
        <p:sp>
          <p:nvSpPr>
            <p:cNvPr id="51" name="Rectangle 24">
              <a:extLst>
                <a:ext uri="{FF2B5EF4-FFF2-40B4-BE49-F238E27FC236}">
                  <a16:creationId xmlns:a16="http://schemas.microsoft.com/office/drawing/2014/main" id="{7EAAE3F2-F678-B3CC-CFBF-B661924F48B0}"/>
                </a:ext>
              </a:extLst>
            </p:cNvPr>
            <p:cNvSpPr>
              <a:spLocks noChangeArrowheads="1"/>
            </p:cNvSpPr>
            <p:nvPr/>
          </p:nvSpPr>
          <p:spPr bwMode="auto">
            <a:xfrm>
              <a:off x="5697395" y="2291896"/>
              <a:ext cx="532950" cy="489570"/>
            </a:xfrm>
            <a:prstGeom prst="rect">
              <a:avLst/>
            </a:prstGeom>
            <a:solidFill>
              <a:schemeClr val="accent5">
                <a:lumMod val="75000"/>
              </a:schemeClr>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52" name="Rectangle 25">
              <a:extLst>
                <a:ext uri="{FF2B5EF4-FFF2-40B4-BE49-F238E27FC236}">
                  <a16:creationId xmlns:a16="http://schemas.microsoft.com/office/drawing/2014/main" id="{BF4B90D5-F8AC-345E-9812-2F856854A482}"/>
                </a:ext>
              </a:extLst>
            </p:cNvPr>
            <p:cNvSpPr>
              <a:spLocks noChangeArrowheads="1"/>
            </p:cNvSpPr>
            <p:nvPr/>
          </p:nvSpPr>
          <p:spPr bwMode="auto">
            <a:xfrm>
              <a:off x="5664639" y="2354752"/>
              <a:ext cx="65082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CLOSE-</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WAIT</a:t>
              </a:r>
            </a:p>
          </p:txBody>
        </p:sp>
      </p:grpSp>
      <p:grpSp>
        <p:nvGrpSpPr>
          <p:cNvPr id="53" name="组合 52">
            <a:extLst>
              <a:ext uri="{FF2B5EF4-FFF2-40B4-BE49-F238E27FC236}">
                <a16:creationId xmlns:a16="http://schemas.microsoft.com/office/drawing/2014/main" id="{09DC892E-938D-DA58-1229-9F87132BCA14}"/>
              </a:ext>
            </a:extLst>
          </p:cNvPr>
          <p:cNvGrpSpPr/>
          <p:nvPr/>
        </p:nvGrpSpPr>
        <p:grpSpPr>
          <a:xfrm>
            <a:off x="2809275" y="2747825"/>
            <a:ext cx="674866" cy="486029"/>
            <a:chOff x="2809275" y="2747825"/>
            <a:chExt cx="674866" cy="486029"/>
          </a:xfrm>
        </p:grpSpPr>
        <p:sp>
          <p:nvSpPr>
            <p:cNvPr id="54" name="Rectangle 26">
              <a:extLst>
                <a:ext uri="{FF2B5EF4-FFF2-40B4-BE49-F238E27FC236}">
                  <a16:creationId xmlns:a16="http://schemas.microsoft.com/office/drawing/2014/main" id="{83C44281-2262-74C1-2D57-B1AAA915FCD2}"/>
                </a:ext>
              </a:extLst>
            </p:cNvPr>
            <p:cNvSpPr>
              <a:spLocks noChangeArrowheads="1"/>
            </p:cNvSpPr>
            <p:nvPr/>
          </p:nvSpPr>
          <p:spPr bwMode="auto">
            <a:xfrm>
              <a:off x="2860899" y="2747825"/>
              <a:ext cx="532065" cy="486029"/>
            </a:xfrm>
            <a:prstGeom prst="rect">
              <a:avLst/>
            </a:prstGeom>
            <a:solidFill>
              <a:srgbClr val="0000FF"/>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55" name="Rectangle 27">
              <a:extLst>
                <a:ext uri="{FF2B5EF4-FFF2-40B4-BE49-F238E27FC236}">
                  <a16:creationId xmlns:a16="http://schemas.microsoft.com/office/drawing/2014/main" id="{26832C37-361A-4AD0-2395-66E7BCDCD14B}"/>
                </a:ext>
              </a:extLst>
            </p:cNvPr>
            <p:cNvSpPr>
              <a:spLocks noChangeArrowheads="1"/>
            </p:cNvSpPr>
            <p:nvPr/>
          </p:nvSpPr>
          <p:spPr bwMode="auto">
            <a:xfrm>
              <a:off x="2809275" y="2777925"/>
              <a:ext cx="674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FIN-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WAIT-2</a:t>
              </a:r>
            </a:p>
          </p:txBody>
        </p:sp>
      </p:grpSp>
      <p:grpSp>
        <p:nvGrpSpPr>
          <p:cNvPr id="56" name="组合 55">
            <a:extLst>
              <a:ext uri="{FF2B5EF4-FFF2-40B4-BE49-F238E27FC236}">
                <a16:creationId xmlns:a16="http://schemas.microsoft.com/office/drawing/2014/main" id="{1474437B-42B1-1F29-9492-A2D27D230909}"/>
              </a:ext>
            </a:extLst>
          </p:cNvPr>
          <p:cNvGrpSpPr/>
          <p:nvPr/>
        </p:nvGrpSpPr>
        <p:grpSpPr>
          <a:xfrm>
            <a:off x="5697395" y="2825731"/>
            <a:ext cx="563962" cy="826869"/>
            <a:chOff x="5697395" y="2825731"/>
            <a:chExt cx="563962" cy="826869"/>
          </a:xfrm>
        </p:grpSpPr>
        <p:sp>
          <p:nvSpPr>
            <p:cNvPr id="57" name="Rectangle 28">
              <a:extLst>
                <a:ext uri="{FF2B5EF4-FFF2-40B4-BE49-F238E27FC236}">
                  <a16:creationId xmlns:a16="http://schemas.microsoft.com/office/drawing/2014/main" id="{0F42DAB5-CC24-12C0-B0A3-2EEBCB33253A}"/>
                </a:ext>
              </a:extLst>
            </p:cNvPr>
            <p:cNvSpPr>
              <a:spLocks noChangeArrowheads="1"/>
            </p:cNvSpPr>
            <p:nvPr/>
          </p:nvSpPr>
          <p:spPr bwMode="auto">
            <a:xfrm>
              <a:off x="5697395" y="2825731"/>
              <a:ext cx="532950" cy="826869"/>
            </a:xfrm>
            <a:prstGeom prst="rect">
              <a:avLst/>
            </a:prstGeom>
            <a:solidFill>
              <a:srgbClr val="0070C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58" name="Rectangle 29">
              <a:extLst>
                <a:ext uri="{FF2B5EF4-FFF2-40B4-BE49-F238E27FC236}">
                  <a16:creationId xmlns:a16="http://schemas.microsoft.com/office/drawing/2014/main" id="{4F059F85-41A0-E52C-967E-D6F971F2B51C}"/>
                </a:ext>
              </a:extLst>
            </p:cNvPr>
            <p:cNvSpPr>
              <a:spLocks noChangeArrowheads="1"/>
            </p:cNvSpPr>
            <p:nvPr/>
          </p:nvSpPr>
          <p:spPr bwMode="auto">
            <a:xfrm>
              <a:off x="5698701" y="3060335"/>
              <a:ext cx="56265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LAST-</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ACK</a:t>
              </a:r>
            </a:p>
          </p:txBody>
        </p:sp>
      </p:grpSp>
      <p:sp>
        <p:nvSpPr>
          <p:cNvPr id="59" name="文本框 58">
            <a:extLst>
              <a:ext uri="{FF2B5EF4-FFF2-40B4-BE49-F238E27FC236}">
                <a16:creationId xmlns:a16="http://schemas.microsoft.com/office/drawing/2014/main" id="{8A0ED8D7-09AC-4153-B954-BF79117A7B50}"/>
              </a:ext>
            </a:extLst>
          </p:cNvPr>
          <p:cNvSpPr txBox="1"/>
          <p:nvPr/>
        </p:nvSpPr>
        <p:spPr>
          <a:xfrm>
            <a:off x="2012187" y="2120233"/>
            <a:ext cx="914708" cy="276999"/>
          </a:xfrm>
          <a:prstGeom prst="rect">
            <a:avLst/>
          </a:prstGeom>
        </p:spPr>
        <p:txBody>
          <a:bodyPr wrap="square">
            <a:spAutoFit/>
          </a:bodyPr>
          <a:lstStyle>
            <a:defPPr>
              <a:defRPr lang="zh-CN"/>
            </a:defPPr>
            <a:lvl1pPr algn="ctr">
              <a:defRPr sz="1200" b="1">
                <a:solidFill>
                  <a:srgbClr val="0000FF"/>
                </a:solidFill>
                <a:latin typeface="微软雅黑" panose="020B0503020204020204" pitchFamily="34" charset="-122"/>
                <a:ea typeface="微软雅黑" panose="020B0503020204020204" pitchFamily="34" charset="-122"/>
              </a:defRPr>
            </a:lvl1pPr>
          </a:lstStyle>
          <a:p>
            <a:pPr algn="r"/>
            <a:r>
              <a:rPr lang="zh-CN" altLang="en-US" dirty="0"/>
              <a:t>终止等待</a:t>
            </a:r>
            <a:r>
              <a:rPr lang="en-US" altLang="zh-CN" dirty="0"/>
              <a:t>1</a:t>
            </a:r>
            <a:endParaRPr lang="zh-CN" altLang="en-US" dirty="0"/>
          </a:p>
        </p:txBody>
      </p:sp>
      <p:sp>
        <p:nvSpPr>
          <p:cNvPr id="60" name="文本框 59">
            <a:extLst>
              <a:ext uri="{FF2B5EF4-FFF2-40B4-BE49-F238E27FC236}">
                <a16:creationId xmlns:a16="http://schemas.microsoft.com/office/drawing/2014/main" id="{7D21BAAD-9392-89B9-607C-ECBE14CDE113}"/>
              </a:ext>
            </a:extLst>
          </p:cNvPr>
          <p:cNvSpPr txBox="1"/>
          <p:nvPr/>
        </p:nvSpPr>
        <p:spPr>
          <a:xfrm>
            <a:off x="6161099" y="2352183"/>
            <a:ext cx="914708" cy="276999"/>
          </a:xfrm>
          <a:prstGeom prst="rect">
            <a:avLst/>
          </a:prstGeom>
        </p:spPr>
        <p:txBody>
          <a:bodyPr wrap="square">
            <a:spAutoFit/>
          </a:bodyPr>
          <a:lstStyle>
            <a:defPPr>
              <a:defRPr lang="zh-CN"/>
            </a:defPPr>
            <a:lvl1pPr algn="ctr">
              <a:defRPr sz="1200" b="1">
                <a:solidFill>
                  <a:srgbClr val="0000FF"/>
                </a:solidFill>
                <a:latin typeface="微软雅黑" panose="020B0503020204020204" pitchFamily="34" charset="-122"/>
                <a:ea typeface="微软雅黑" panose="020B0503020204020204" pitchFamily="34" charset="-122"/>
              </a:defRPr>
            </a:lvl1pPr>
          </a:lstStyle>
          <a:p>
            <a:pPr algn="l"/>
            <a:r>
              <a:rPr lang="zh-CN" altLang="en-US" dirty="0"/>
              <a:t>关闭等待</a:t>
            </a:r>
          </a:p>
        </p:txBody>
      </p:sp>
      <p:sp>
        <p:nvSpPr>
          <p:cNvPr id="61" name="文本框 60">
            <a:extLst>
              <a:ext uri="{FF2B5EF4-FFF2-40B4-BE49-F238E27FC236}">
                <a16:creationId xmlns:a16="http://schemas.microsoft.com/office/drawing/2014/main" id="{7B0C361D-8AA7-2EC4-DEC1-9DAFB657DA33}"/>
              </a:ext>
            </a:extLst>
          </p:cNvPr>
          <p:cNvSpPr txBox="1"/>
          <p:nvPr/>
        </p:nvSpPr>
        <p:spPr>
          <a:xfrm>
            <a:off x="2001006" y="2838197"/>
            <a:ext cx="914708" cy="276999"/>
          </a:xfrm>
          <a:prstGeom prst="rect">
            <a:avLst/>
          </a:prstGeom>
        </p:spPr>
        <p:txBody>
          <a:bodyPr wrap="square">
            <a:spAutoFit/>
          </a:bodyPr>
          <a:lstStyle>
            <a:defPPr>
              <a:defRPr lang="zh-CN"/>
            </a:defPPr>
            <a:lvl1pPr algn="ctr">
              <a:defRPr sz="1200" b="1">
                <a:solidFill>
                  <a:srgbClr val="0000FF"/>
                </a:solidFill>
                <a:latin typeface="微软雅黑" panose="020B0503020204020204" pitchFamily="34" charset="-122"/>
                <a:ea typeface="微软雅黑" panose="020B0503020204020204" pitchFamily="34" charset="-122"/>
              </a:defRPr>
            </a:lvl1pPr>
          </a:lstStyle>
          <a:p>
            <a:pPr algn="r"/>
            <a:r>
              <a:rPr lang="zh-CN" altLang="en-US" dirty="0"/>
              <a:t>终止等待</a:t>
            </a:r>
            <a:r>
              <a:rPr lang="en-US" altLang="zh-CN" dirty="0"/>
              <a:t>2</a:t>
            </a:r>
            <a:endParaRPr lang="zh-CN" altLang="en-US" dirty="0"/>
          </a:p>
        </p:txBody>
      </p:sp>
      <p:sp>
        <p:nvSpPr>
          <p:cNvPr id="63" name="文本框 62">
            <a:extLst>
              <a:ext uri="{FF2B5EF4-FFF2-40B4-BE49-F238E27FC236}">
                <a16:creationId xmlns:a16="http://schemas.microsoft.com/office/drawing/2014/main" id="{5BC67E2F-FF62-A742-E1E1-ACE432B8CF68}"/>
              </a:ext>
            </a:extLst>
          </p:cNvPr>
          <p:cNvSpPr txBox="1"/>
          <p:nvPr/>
        </p:nvSpPr>
        <p:spPr>
          <a:xfrm>
            <a:off x="6145667" y="3095271"/>
            <a:ext cx="901314" cy="276999"/>
          </a:xfrm>
          <a:prstGeom prst="rect">
            <a:avLst/>
          </a:prstGeom>
        </p:spPr>
        <p:txBody>
          <a:bodyPr wrap="square">
            <a:spAutoFit/>
          </a:bodyPr>
          <a:lstStyle>
            <a:defPPr>
              <a:defRPr lang="zh-CN"/>
            </a:defPPr>
            <a:lvl1pPr>
              <a:defRPr sz="1200" b="1">
                <a:solidFill>
                  <a:srgbClr val="0000FF"/>
                </a:solidFill>
                <a:latin typeface="微软雅黑" panose="020B0503020204020204" pitchFamily="34" charset="-122"/>
                <a:ea typeface="微软雅黑" panose="020B0503020204020204" pitchFamily="34" charset="-122"/>
              </a:defRPr>
            </a:lvl1pPr>
          </a:lstStyle>
          <a:p>
            <a:r>
              <a:rPr lang="zh-CN" altLang="en-US" dirty="0"/>
              <a:t>最后确认</a:t>
            </a:r>
          </a:p>
        </p:txBody>
      </p:sp>
      <p:grpSp>
        <p:nvGrpSpPr>
          <p:cNvPr id="64" name="组合 63">
            <a:extLst>
              <a:ext uri="{FF2B5EF4-FFF2-40B4-BE49-F238E27FC236}">
                <a16:creationId xmlns:a16="http://schemas.microsoft.com/office/drawing/2014/main" id="{5477C23C-8044-4032-FC7A-88A9EFD57391}"/>
              </a:ext>
            </a:extLst>
          </p:cNvPr>
          <p:cNvGrpSpPr/>
          <p:nvPr/>
        </p:nvGrpSpPr>
        <p:grpSpPr>
          <a:xfrm>
            <a:off x="5698171" y="3692967"/>
            <a:ext cx="541802" cy="294805"/>
            <a:chOff x="2857404" y="3984586"/>
            <a:chExt cx="541802" cy="294805"/>
          </a:xfrm>
        </p:grpSpPr>
        <p:sp>
          <p:nvSpPr>
            <p:cNvPr id="65" name="Rectangle 3">
              <a:extLst>
                <a:ext uri="{FF2B5EF4-FFF2-40B4-BE49-F238E27FC236}">
                  <a16:creationId xmlns:a16="http://schemas.microsoft.com/office/drawing/2014/main" id="{F5A4F712-0836-4826-90EA-6805F9AE6BB0}"/>
                </a:ext>
              </a:extLst>
            </p:cNvPr>
            <p:cNvSpPr>
              <a:spLocks noChangeArrowheads="1"/>
            </p:cNvSpPr>
            <p:nvPr/>
          </p:nvSpPr>
          <p:spPr bwMode="auto">
            <a:xfrm>
              <a:off x="2860900" y="3984586"/>
              <a:ext cx="532064" cy="294805"/>
            </a:xfrm>
            <a:prstGeom prst="rect">
              <a:avLst/>
            </a:prstGeom>
            <a:solidFill>
              <a:srgbClr val="00FF99"/>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66" name="Text Box 4">
              <a:extLst>
                <a:ext uri="{FF2B5EF4-FFF2-40B4-BE49-F238E27FC236}">
                  <a16:creationId xmlns:a16="http://schemas.microsoft.com/office/drawing/2014/main" id="{06B914A0-91BB-FF7D-C4F2-8C7F03957BC7}"/>
                </a:ext>
              </a:extLst>
            </p:cNvPr>
            <p:cNvSpPr txBox="1">
              <a:spLocks noChangeArrowheads="1"/>
            </p:cNvSpPr>
            <p:nvPr/>
          </p:nvSpPr>
          <p:spPr bwMode="auto">
            <a:xfrm>
              <a:off x="2857404" y="4031507"/>
              <a:ext cx="541802" cy="187684"/>
            </a:xfrm>
            <a:prstGeom prst="rect">
              <a:avLst/>
            </a:prstGeom>
            <a:no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tabLst/>
                <a:defRPr/>
              </a:pPr>
              <a:r>
                <a:rPr kumimoji="1" lang="en-US" altLang="zh-CN" sz="1000" i="0" u="none" strike="noStrike" kern="0" cap="none" spc="0" normalizeH="0" baseline="0" noProof="0" dirty="0">
                  <a:ln>
                    <a:noFill/>
                  </a:ln>
                  <a:effectLst/>
                  <a:uLnTx/>
                  <a:uFillTx/>
                  <a:latin typeface="微软雅黑" pitchFamily="34" charset="-122"/>
                  <a:ea typeface="微软雅黑" pitchFamily="34" charset="-122"/>
                </a:rPr>
                <a:t>CLOSED</a:t>
              </a:r>
            </a:p>
          </p:txBody>
        </p:sp>
      </p:grpSp>
    </p:spTree>
    <p:extLst>
      <p:ext uri="{BB962C8B-B14F-4D97-AF65-F5344CB8AC3E}">
        <p14:creationId xmlns:p14="http://schemas.microsoft.com/office/powerpoint/2010/main" val="2349903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withEffect">
                                  <p:stCondLst>
                                    <p:cond delay="0"/>
                                  </p:stCondLst>
                                  <p:childTnLst>
                                    <p:anim calcmode="discrete" valueType="str">
                                      <p:cBhvr>
                                        <p:cTn id="6" dur="1000" fill="hold"/>
                                        <p:tgtEl>
                                          <p:spTgt spid="56"/>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1000"/>
                                        <p:tgtEl>
                                          <p:spTgt spid="28"/>
                                        </p:tgtEl>
                                      </p:cBhvr>
                                    </p:animEffect>
                                    <p:anim calcmode="lin" valueType="num">
                                      <p:cBhvr>
                                        <p:cTn id="12" dur="1000" fill="hold"/>
                                        <p:tgtEl>
                                          <p:spTgt spid="28"/>
                                        </p:tgtEl>
                                        <p:attrNameLst>
                                          <p:attrName>ppt_x</p:attrName>
                                        </p:attrNameLst>
                                      </p:cBhvr>
                                      <p:tavLst>
                                        <p:tav tm="0">
                                          <p:val>
                                            <p:strVal val="#ppt_x"/>
                                          </p:val>
                                        </p:tav>
                                        <p:tav tm="100000">
                                          <p:val>
                                            <p:strVal val="#ppt_x"/>
                                          </p:val>
                                        </p:tav>
                                      </p:tavLst>
                                    </p:anim>
                                    <p:anim calcmode="lin" valueType="num">
                                      <p:cBhvr>
                                        <p:cTn id="13"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45"/>
                                        </p:tgtEl>
                                        <p:attrNameLst>
                                          <p:attrName>style.visibility</p:attrName>
                                        </p:attrNameLst>
                                      </p:cBhvr>
                                      <p:to>
                                        <p:strVal val="visible"/>
                                      </p:to>
                                    </p:set>
                                    <p:animEffect transition="in" filter="wipe(left)">
                                      <p:cBhvr>
                                        <p:cTn id="18" dur="1000"/>
                                        <p:tgtEl>
                                          <p:spTgt spid="45"/>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par>
                                <p:cTn id="23" presetID="35" presetClass="emph" presetSubtype="0" repeatCount="3000" fill="hold" nodeType="withEffect">
                                  <p:stCondLst>
                                    <p:cond delay="0"/>
                                  </p:stCondLst>
                                  <p:childTnLst>
                                    <p:anim calcmode="discrete" valueType="str">
                                      <p:cBhvr>
                                        <p:cTn id="24" dur="1000" fill="hold"/>
                                        <p:tgtEl>
                                          <p:spTgt spid="6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E3492-4218-4718-6120-92378813C1B8}"/>
            </a:ext>
          </a:extLst>
        </p:cNvPr>
        <p:cNvGrpSpPr/>
        <p:nvPr/>
      </p:nvGrpSpPr>
      <p:grpSpPr>
        <a:xfrm>
          <a:off x="0" y="0"/>
          <a:ext cx="0" cy="0"/>
          <a:chOff x="0" y="0"/>
          <a:chExt cx="0" cy="0"/>
        </a:xfrm>
      </p:grpSpPr>
      <p:sp>
        <p:nvSpPr>
          <p:cNvPr id="46" name="圆角矩形 45">
            <a:extLst>
              <a:ext uri="{FF2B5EF4-FFF2-40B4-BE49-F238E27FC236}">
                <a16:creationId xmlns:a16="http://schemas.microsoft.com/office/drawing/2014/main" id="{30701726-71B0-07F5-2BAF-232957A67F31}"/>
              </a:ext>
            </a:extLst>
          </p:cNvPr>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a:extLst>
              <a:ext uri="{FF2B5EF4-FFF2-40B4-BE49-F238E27FC236}">
                <a16:creationId xmlns:a16="http://schemas.microsoft.com/office/drawing/2014/main" id="{A42440A0-671E-30D6-CE0A-F983B697BA3C}"/>
              </a:ext>
            </a:extLst>
          </p:cNvPr>
          <p:cNvSpPr txBox="1">
            <a:spLocks noChangeArrowheads="1"/>
          </p:cNvSpPr>
          <p:nvPr/>
        </p:nvSpPr>
        <p:spPr bwMode="auto">
          <a:xfrm>
            <a:off x="2708899" y="667244"/>
            <a:ext cx="3751385" cy="634020"/>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的连接释放</a:t>
            </a:r>
            <a:endParaRPr lang="en-US" altLang="zh-CN" sz="1600" b="1" dirty="0">
              <a:latin typeface="微软雅黑" pitchFamily="34" charset="-122"/>
              <a:ea typeface="微软雅黑" pitchFamily="34" charset="-122"/>
            </a:endParaRPr>
          </a:p>
          <a:p>
            <a:pPr algn="ctr">
              <a:lnSpc>
                <a:spcPct val="110000"/>
              </a:lnSpc>
            </a:pPr>
            <a:r>
              <a:rPr lang="zh-CN" altLang="en-US" sz="1600" b="1" dirty="0">
                <a:latin typeface="微软雅黑" pitchFamily="34" charset="-122"/>
                <a:ea typeface="微软雅黑" pitchFamily="34" charset="-122"/>
              </a:rPr>
              <a:t>采用</a:t>
            </a:r>
            <a:r>
              <a:rPr lang="zh-CN" altLang="en-US" sz="1600" b="1" dirty="0">
                <a:solidFill>
                  <a:srgbClr val="C00000"/>
                </a:solidFill>
                <a:latin typeface="微软雅黑" pitchFamily="34" charset="-122"/>
                <a:ea typeface="微软雅黑" pitchFamily="34" charset="-122"/>
              </a:rPr>
              <a:t>四报文握手</a:t>
            </a:r>
          </a:p>
        </p:txBody>
      </p:sp>
      <p:sp>
        <p:nvSpPr>
          <p:cNvPr id="4" name="AutoShape 6">
            <a:extLst>
              <a:ext uri="{FF2B5EF4-FFF2-40B4-BE49-F238E27FC236}">
                <a16:creationId xmlns:a16="http://schemas.microsoft.com/office/drawing/2014/main" id="{BC885D21-C6B4-B96F-C9E5-5DE8EC6E0D7C}"/>
              </a:ext>
            </a:extLst>
          </p:cNvPr>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5" name="Group 8">
            <a:extLst>
              <a:ext uri="{FF2B5EF4-FFF2-40B4-BE49-F238E27FC236}">
                <a16:creationId xmlns:a16="http://schemas.microsoft.com/office/drawing/2014/main" id="{FC64A349-32AF-E696-6144-6E84C35F48A2}"/>
              </a:ext>
            </a:extLst>
          </p:cNvPr>
          <p:cNvGrpSpPr>
            <a:grpSpLocks/>
          </p:cNvGrpSpPr>
          <p:nvPr/>
        </p:nvGrpSpPr>
        <p:grpSpPr bwMode="auto">
          <a:xfrm>
            <a:off x="3393849" y="1833311"/>
            <a:ext cx="2305317" cy="428484"/>
            <a:chOff x="1614" y="1484"/>
            <a:chExt cx="2604" cy="484"/>
          </a:xfrm>
        </p:grpSpPr>
        <p:sp>
          <p:nvSpPr>
            <p:cNvPr id="6" name="Rectangle 9">
              <a:extLst>
                <a:ext uri="{FF2B5EF4-FFF2-40B4-BE49-F238E27FC236}">
                  <a16:creationId xmlns:a16="http://schemas.microsoft.com/office/drawing/2014/main" id="{3D2B6E3E-B5FB-BED8-2BA4-5D4D253CC17C}"/>
                </a:ext>
              </a:extLst>
            </p:cNvPr>
            <p:cNvSpPr>
              <a:spLocks noChangeArrowheads="1"/>
            </p:cNvSpPr>
            <p:nvPr/>
          </p:nvSpPr>
          <p:spPr bwMode="auto">
            <a:xfrm rot="597975">
              <a:off x="2411" y="1507"/>
              <a:ext cx="1374" cy="275"/>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FIN = 1, </a:t>
              </a:r>
              <a:r>
                <a:rPr kumimoji="0" lang="en-US" altLang="zh-CN" sz="10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 = u</a:t>
              </a:r>
            </a:p>
          </p:txBody>
        </p:sp>
        <p:sp>
          <p:nvSpPr>
            <p:cNvPr id="7" name="Line 10">
              <a:extLst>
                <a:ext uri="{FF2B5EF4-FFF2-40B4-BE49-F238E27FC236}">
                  <a16:creationId xmlns:a16="http://schemas.microsoft.com/office/drawing/2014/main" id="{ABD8F1C5-B47A-E5FE-16F4-900DB192A432}"/>
                </a:ext>
              </a:extLst>
            </p:cNvPr>
            <p:cNvSpPr>
              <a:spLocks noChangeShapeType="1"/>
            </p:cNvSpPr>
            <p:nvPr/>
          </p:nvSpPr>
          <p:spPr bwMode="auto">
            <a:xfrm>
              <a:off x="1614" y="1484"/>
              <a:ext cx="2604" cy="484"/>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8" name="Rectangle 17">
            <a:extLst>
              <a:ext uri="{FF2B5EF4-FFF2-40B4-BE49-F238E27FC236}">
                <a16:creationId xmlns:a16="http://schemas.microsoft.com/office/drawing/2014/main" id="{25AA07FE-88FE-C615-EDD1-6A5487BA7AEC}"/>
              </a:ext>
            </a:extLst>
          </p:cNvPr>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9" name="Rectangle 19">
            <a:extLst>
              <a:ext uri="{FF2B5EF4-FFF2-40B4-BE49-F238E27FC236}">
                <a16:creationId xmlns:a16="http://schemas.microsoft.com/office/drawing/2014/main" id="{04296D2A-DFB4-570C-3155-C653E48C6AF2}"/>
              </a:ext>
            </a:extLst>
          </p:cNvPr>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10" name="Group 20">
            <a:extLst>
              <a:ext uri="{FF2B5EF4-FFF2-40B4-BE49-F238E27FC236}">
                <a16:creationId xmlns:a16="http://schemas.microsoft.com/office/drawing/2014/main" id="{27C31351-0FAB-DCED-6AB5-720E6E1FF680}"/>
              </a:ext>
            </a:extLst>
          </p:cNvPr>
          <p:cNvGrpSpPr>
            <a:grpSpLocks/>
          </p:cNvGrpSpPr>
          <p:nvPr/>
        </p:nvGrpSpPr>
        <p:grpSpPr bwMode="auto">
          <a:xfrm>
            <a:off x="2806011" y="1372071"/>
            <a:ext cx="3501355" cy="46036"/>
            <a:chOff x="1020" y="481"/>
            <a:chExt cx="4037" cy="46"/>
          </a:xfrm>
        </p:grpSpPr>
        <p:sp>
          <p:nvSpPr>
            <p:cNvPr id="11" name="Line 21">
              <a:extLst>
                <a:ext uri="{FF2B5EF4-FFF2-40B4-BE49-F238E27FC236}">
                  <a16:creationId xmlns:a16="http://schemas.microsoft.com/office/drawing/2014/main" id="{9B1C7D45-F9D4-CF51-0892-4E08D0D81AB9}"/>
                </a:ext>
              </a:extLst>
            </p:cNvPr>
            <p:cNvSpPr>
              <a:spLocks noChangeShapeType="1"/>
            </p:cNvSpPr>
            <p:nvPr/>
          </p:nvSpPr>
          <p:spPr bwMode="auto">
            <a:xfrm>
              <a:off x="1020" y="527"/>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2" name="Line 22">
              <a:extLst>
                <a:ext uri="{FF2B5EF4-FFF2-40B4-BE49-F238E27FC236}">
                  <a16:creationId xmlns:a16="http://schemas.microsoft.com/office/drawing/2014/main" id="{5B43D691-B6A7-FD38-6374-918843DAEF63}"/>
                </a:ext>
              </a:extLst>
            </p:cNvPr>
            <p:cNvSpPr>
              <a:spLocks noChangeShapeType="1"/>
            </p:cNvSpPr>
            <p:nvPr/>
          </p:nvSpPr>
          <p:spPr bwMode="auto">
            <a:xfrm>
              <a:off x="1020" y="481"/>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3" name="Group 37">
            <a:extLst>
              <a:ext uri="{FF2B5EF4-FFF2-40B4-BE49-F238E27FC236}">
                <a16:creationId xmlns:a16="http://schemas.microsoft.com/office/drawing/2014/main" id="{8372CB10-A144-C091-2942-486B793C04EB}"/>
              </a:ext>
            </a:extLst>
          </p:cNvPr>
          <p:cNvGrpSpPr>
            <a:grpSpLocks/>
          </p:cNvGrpSpPr>
          <p:nvPr/>
        </p:nvGrpSpPr>
        <p:grpSpPr bwMode="auto">
          <a:xfrm>
            <a:off x="2103083" y="1220685"/>
            <a:ext cx="922481" cy="603775"/>
            <a:chOff x="156" y="792"/>
            <a:chExt cx="1042" cy="682"/>
          </a:xfrm>
        </p:grpSpPr>
        <p:sp>
          <p:nvSpPr>
            <p:cNvPr id="14" name="Freeform 38">
              <a:extLst>
                <a:ext uri="{FF2B5EF4-FFF2-40B4-BE49-F238E27FC236}">
                  <a16:creationId xmlns:a16="http://schemas.microsoft.com/office/drawing/2014/main" id="{34DF6493-CA98-5A0F-C40C-CB72E7766E0D}"/>
                </a:ext>
              </a:extLst>
            </p:cNvPr>
            <p:cNvSpPr>
              <a:spLocks/>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5" name="Rectangle 39">
              <a:extLst>
                <a:ext uri="{FF2B5EF4-FFF2-40B4-BE49-F238E27FC236}">
                  <a16:creationId xmlns:a16="http://schemas.microsoft.com/office/drawing/2014/main" id="{4657D4D8-39B1-1162-2C2B-40D84A324843}"/>
                </a:ext>
              </a:extLst>
            </p:cNvPr>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主动关闭</a:t>
              </a:r>
            </a:p>
          </p:txBody>
        </p:sp>
      </p:grpSp>
      <p:sp>
        <p:nvSpPr>
          <p:cNvPr id="16" name="Rectangle 42">
            <a:extLst>
              <a:ext uri="{FF2B5EF4-FFF2-40B4-BE49-F238E27FC236}">
                <a16:creationId xmlns:a16="http://schemas.microsoft.com/office/drawing/2014/main" id="{2DCB2CB2-EFD4-0059-5B52-C92F06542B15}"/>
              </a:ext>
            </a:extLst>
          </p:cNvPr>
          <p:cNvSpPr>
            <a:spLocks noChangeArrowheads="1"/>
          </p:cNvSpPr>
          <p:nvPr/>
        </p:nvSpPr>
        <p:spPr bwMode="auto">
          <a:xfrm>
            <a:off x="4255700" y="1511062"/>
            <a:ext cx="721352" cy="251351"/>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05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17" name="Rectangle 50">
            <a:extLst>
              <a:ext uri="{FF2B5EF4-FFF2-40B4-BE49-F238E27FC236}">
                <a16:creationId xmlns:a16="http://schemas.microsoft.com/office/drawing/2014/main" id="{637AED1B-64C1-7BA2-70E8-FB46F03BCF4F}"/>
              </a:ext>
            </a:extLst>
          </p:cNvPr>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effectLst/>
                <a:uLnTx/>
                <a:uFillTx/>
                <a:latin typeface="微软雅黑" pitchFamily="34" charset="-122"/>
                <a:ea typeface="微软雅黑" pitchFamily="34" charset="-122"/>
              </a:rPr>
              <a:t>A</a:t>
            </a:r>
          </a:p>
        </p:txBody>
      </p:sp>
      <p:sp>
        <p:nvSpPr>
          <p:cNvPr id="18" name="Rectangle 51">
            <a:extLst>
              <a:ext uri="{FF2B5EF4-FFF2-40B4-BE49-F238E27FC236}">
                <a16:creationId xmlns:a16="http://schemas.microsoft.com/office/drawing/2014/main" id="{145499C5-EFCA-7836-F268-1A75007CA46C}"/>
              </a:ext>
            </a:extLst>
          </p:cNvPr>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19" name="Rectangle 52">
            <a:extLst>
              <a:ext uri="{FF2B5EF4-FFF2-40B4-BE49-F238E27FC236}">
                <a16:creationId xmlns:a16="http://schemas.microsoft.com/office/drawing/2014/main" id="{678B095A-08EC-3391-B5E8-F5829262228A}"/>
              </a:ext>
            </a:extLst>
          </p:cNvPr>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0" name="Rectangle 53">
            <a:extLst>
              <a:ext uri="{FF2B5EF4-FFF2-40B4-BE49-F238E27FC236}">
                <a16:creationId xmlns:a16="http://schemas.microsoft.com/office/drawing/2014/main" id="{145DCD81-8231-54AF-CA0B-13DC90E1B25E}"/>
              </a:ext>
            </a:extLst>
          </p:cNvPr>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服务器</a:t>
            </a:r>
          </a:p>
        </p:txBody>
      </p:sp>
      <p:pic>
        <p:nvPicPr>
          <p:cNvPr id="21" name="Picture 134" descr="jisuanji">
            <a:extLst>
              <a:ext uri="{FF2B5EF4-FFF2-40B4-BE49-F238E27FC236}">
                <a16:creationId xmlns:a16="http://schemas.microsoft.com/office/drawing/2014/main" id="{247D7C9D-1E08-A088-51E5-84B2555DCEF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34" descr="jisuanji">
            <a:extLst>
              <a:ext uri="{FF2B5EF4-FFF2-40B4-BE49-F238E27FC236}">
                <a16:creationId xmlns:a16="http://schemas.microsoft.com/office/drawing/2014/main" id="{03EDFF70-44FB-CFBF-F36F-7AC7AD4C80E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46">
            <a:extLst>
              <a:ext uri="{FF2B5EF4-FFF2-40B4-BE49-F238E27FC236}">
                <a16:creationId xmlns:a16="http://schemas.microsoft.com/office/drawing/2014/main" id="{C84C029B-CF42-CEFB-270F-4940AF276CC4}"/>
              </a:ext>
            </a:extLst>
          </p:cNvPr>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sp>
        <p:nvSpPr>
          <p:cNvPr id="24" name="Rectangle 47">
            <a:extLst>
              <a:ext uri="{FF2B5EF4-FFF2-40B4-BE49-F238E27FC236}">
                <a16:creationId xmlns:a16="http://schemas.microsoft.com/office/drawing/2014/main" id="{82229505-5F51-341F-EEDB-F04B532D1206}"/>
              </a:ext>
            </a:extLst>
          </p:cNvPr>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nvGrpSpPr>
          <p:cNvPr id="25" name="Group 2">
            <a:extLst>
              <a:ext uri="{FF2B5EF4-FFF2-40B4-BE49-F238E27FC236}">
                <a16:creationId xmlns:a16="http://schemas.microsoft.com/office/drawing/2014/main" id="{466A7FC6-13F3-61F9-E6A6-7C1432676049}"/>
              </a:ext>
            </a:extLst>
          </p:cNvPr>
          <p:cNvGrpSpPr>
            <a:grpSpLocks/>
          </p:cNvGrpSpPr>
          <p:nvPr/>
        </p:nvGrpSpPr>
        <p:grpSpPr bwMode="auto">
          <a:xfrm>
            <a:off x="3384905" y="1795968"/>
            <a:ext cx="2321296" cy="2521657"/>
            <a:chOff x="1474" y="1888"/>
            <a:chExt cx="2412" cy="2432"/>
          </a:xfrm>
        </p:grpSpPr>
        <p:sp>
          <p:nvSpPr>
            <p:cNvPr id="26" name="Line 3">
              <a:extLst>
                <a:ext uri="{FF2B5EF4-FFF2-40B4-BE49-F238E27FC236}">
                  <a16:creationId xmlns:a16="http://schemas.microsoft.com/office/drawing/2014/main" id="{8753284F-F36E-1A56-1285-33B1BBD5B294}"/>
                </a:ext>
              </a:extLst>
            </p:cNvPr>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27" name="Line 4">
              <a:extLst>
                <a:ext uri="{FF2B5EF4-FFF2-40B4-BE49-F238E27FC236}">
                  <a16:creationId xmlns:a16="http://schemas.microsoft.com/office/drawing/2014/main" id="{B6DE1D7E-1819-1E38-6F4C-6DBE2A20C338}"/>
                </a:ext>
              </a:extLst>
            </p:cNvPr>
            <p:cNvSpPr>
              <a:spLocks noChangeShapeType="1"/>
            </p:cNvSpPr>
            <p:nvPr/>
          </p:nvSpPr>
          <p:spPr bwMode="auto">
            <a:xfrm>
              <a:off x="3886" y="2409"/>
              <a:ext cx="0" cy="1911"/>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29" name="Group 43">
            <a:extLst>
              <a:ext uri="{FF2B5EF4-FFF2-40B4-BE49-F238E27FC236}">
                <a16:creationId xmlns:a16="http://schemas.microsoft.com/office/drawing/2014/main" id="{2F12F233-3A10-09D6-61E3-9578F7F7D261}"/>
              </a:ext>
            </a:extLst>
          </p:cNvPr>
          <p:cNvGrpSpPr>
            <a:grpSpLocks/>
          </p:cNvGrpSpPr>
          <p:nvPr/>
        </p:nvGrpSpPr>
        <p:grpSpPr bwMode="auto">
          <a:xfrm>
            <a:off x="6121453" y="1287082"/>
            <a:ext cx="750733" cy="997731"/>
            <a:chOff x="4695" y="867"/>
            <a:chExt cx="848" cy="1127"/>
          </a:xfrm>
        </p:grpSpPr>
        <p:sp>
          <p:nvSpPr>
            <p:cNvPr id="30" name="Freeform 44">
              <a:extLst>
                <a:ext uri="{FF2B5EF4-FFF2-40B4-BE49-F238E27FC236}">
                  <a16:creationId xmlns:a16="http://schemas.microsoft.com/office/drawing/2014/main" id="{50A398A7-3D74-4F11-D7FC-4BF18003C441}"/>
                </a:ext>
              </a:extLst>
            </p:cNvPr>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31" name="Rectangle 45">
              <a:extLst>
                <a:ext uri="{FF2B5EF4-FFF2-40B4-BE49-F238E27FC236}">
                  <a16:creationId xmlns:a16="http://schemas.microsoft.com/office/drawing/2014/main" id="{C09A5783-0C10-79BD-05F5-8D38B26C09E6}"/>
                </a:ext>
              </a:extLst>
            </p:cNvPr>
            <p:cNvSpPr>
              <a:spLocks noChangeArrowheads="1"/>
            </p:cNvSpPr>
            <p:nvPr/>
          </p:nvSpPr>
          <p:spPr bwMode="auto">
            <a:xfrm>
              <a:off x="5047" y="1120"/>
              <a:ext cx="496" cy="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通知</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应用</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进程</a:t>
              </a:r>
            </a:p>
          </p:txBody>
        </p:sp>
      </p:grpSp>
      <p:grpSp>
        <p:nvGrpSpPr>
          <p:cNvPr id="32" name="组合 31">
            <a:extLst>
              <a:ext uri="{FF2B5EF4-FFF2-40B4-BE49-F238E27FC236}">
                <a16:creationId xmlns:a16="http://schemas.microsoft.com/office/drawing/2014/main" id="{16507AE9-8B8F-38D5-FBDE-53BE7978275F}"/>
              </a:ext>
            </a:extLst>
          </p:cNvPr>
          <p:cNvGrpSpPr/>
          <p:nvPr/>
        </p:nvGrpSpPr>
        <p:grpSpPr>
          <a:xfrm>
            <a:off x="3382340" y="2532597"/>
            <a:ext cx="2400818" cy="704797"/>
            <a:chOff x="3382340" y="2532597"/>
            <a:chExt cx="2400818" cy="704797"/>
          </a:xfrm>
        </p:grpSpPr>
        <p:sp>
          <p:nvSpPr>
            <p:cNvPr id="33" name="AutoShape 5">
              <a:extLst>
                <a:ext uri="{FF2B5EF4-FFF2-40B4-BE49-F238E27FC236}">
                  <a16:creationId xmlns:a16="http://schemas.microsoft.com/office/drawing/2014/main" id="{B952D690-D54E-B7A0-9861-D17EA482CCF6}"/>
                </a:ext>
              </a:extLst>
            </p:cNvPr>
            <p:cNvSpPr>
              <a:spLocks noChangeArrowheads="1"/>
            </p:cNvSpPr>
            <p:nvPr/>
          </p:nvSpPr>
          <p:spPr bwMode="auto">
            <a:xfrm rot="20948448">
              <a:off x="4076414" y="2692051"/>
              <a:ext cx="377137" cy="131910"/>
            </a:xfrm>
            <a:prstGeom prst="leftArrow">
              <a:avLst>
                <a:gd name="adj1" fmla="val 53620"/>
                <a:gd name="adj2" fmla="val 119816"/>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34" name="Rectangle 16">
              <a:extLst>
                <a:ext uri="{FF2B5EF4-FFF2-40B4-BE49-F238E27FC236}">
                  <a16:creationId xmlns:a16="http://schemas.microsoft.com/office/drawing/2014/main" id="{71F1E30A-2CC7-2096-E3EE-48809B5EE830}"/>
                </a:ext>
              </a:extLst>
            </p:cNvPr>
            <p:cNvSpPr>
              <a:spLocks noChangeArrowheads="1"/>
            </p:cNvSpPr>
            <p:nvPr/>
          </p:nvSpPr>
          <p:spPr bwMode="auto">
            <a:xfrm rot="20943314" flipH="1">
              <a:off x="3452391" y="2786404"/>
              <a:ext cx="2330767" cy="22826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FIN = 1, 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w,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35" name="Rectangle 54">
              <a:extLst>
                <a:ext uri="{FF2B5EF4-FFF2-40B4-BE49-F238E27FC236}">
                  <a16:creationId xmlns:a16="http://schemas.microsoft.com/office/drawing/2014/main" id="{DEDB1622-E747-16D5-042B-EBBA4BBB4DE5}"/>
                </a:ext>
              </a:extLst>
            </p:cNvPr>
            <p:cNvSpPr>
              <a:spLocks noChangeArrowheads="1"/>
            </p:cNvSpPr>
            <p:nvPr/>
          </p:nvSpPr>
          <p:spPr bwMode="auto">
            <a:xfrm rot="20971112">
              <a:off x="4355353" y="2532597"/>
              <a:ext cx="695704" cy="243656"/>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36" name="Line 15">
              <a:extLst>
                <a:ext uri="{FF2B5EF4-FFF2-40B4-BE49-F238E27FC236}">
                  <a16:creationId xmlns:a16="http://schemas.microsoft.com/office/drawing/2014/main" id="{A939166A-0646-102E-A924-933BEF8D312B}"/>
                </a:ext>
              </a:extLst>
            </p:cNvPr>
            <p:cNvSpPr>
              <a:spLocks noChangeShapeType="1"/>
            </p:cNvSpPr>
            <p:nvPr/>
          </p:nvSpPr>
          <p:spPr bwMode="auto">
            <a:xfrm flipH="1">
              <a:off x="3382340" y="2808025"/>
              <a:ext cx="2305317" cy="429369"/>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37" name="Group 11">
            <a:extLst>
              <a:ext uri="{FF2B5EF4-FFF2-40B4-BE49-F238E27FC236}">
                <a16:creationId xmlns:a16="http://schemas.microsoft.com/office/drawing/2014/main" id="{34AD2358-A9CE-460F-8728-DEEBAF5416C2}"/>
              </a:ext>
            </a:extLst>
          </p:cNvPr>
          <p:cNvGrpSpPr>
            <a:grpSpLocks/>
          </p:cNvGrpSpPr>
          <p:nvPr/>
        </p:nvGrpSpPr>
        <p:grpSpPr bwMode="auto">
          <a:xfrm>
            <a:off x="3401817" y="2285699"/>
            <a:ext cx="2305317" cy="429369"/>
            <a:chOff x="1623" y="1995"/>
            <a:chExt cx="2604" cy="485"/>
          </a:xfrm>
        </p:grpSpPr>
        <p:sp>
          <p:nvSpPr>
            <p:cNvPr id="38" name="Rectangle 12">
              <a:extLst>
                <a:ext uri="{FF2B5EF4-FFF2-40B4-BE49-F238E27FC236}">
                  <a16:creationId xmlns:a16="http://schemas.microsoft.com/office/drawing/2014/main" id="{14AFF7E6-B63C-3FF2-BC0C-F9DDFCE80800}"/>
                </a:ext>
              </a:extLst>
            </p:cNvPr>
            <p:cNvSpPr>
              <a:spLocks noChangeArrowheads="1"/>
            </p:cNvSpPr>
            <p:nvPr/>
          </p:nvSpPr>
          <p:spPr bwMode="auto">
            <a:xfrm rot="20990024" flipH="1">
              <a:off x="1826" y="2006"/>
              <a:ext cx="2041" cy="25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v,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39" name="Line 13">
              <a:extLst>
                <a:ext uri="{FF2B5EF4-FFF2-40B4-BE49-F238E27FC236}">
                  <a16:creationId xmlns:a16="http://schemas.microsoft.com/office/drawing/2014/main" id="{EC064566-AF2A-B63F-1E17-ED2E1494CFC1}"/>
                </a:ext>
              </a:extLst>
            </p:cNvPr>
            <p:cNvSpPr>
              <a:spLocks noChangeShapeType="1"/>
            </p:cNvSpPr>
            <p:nvPr/>
          </p:nvSpPr>
          <p:spPr bwMode="auto">
            <a:xfrm flipH="1">
              <a:off x="1623" y="1995"/>
              <a:ext cx="2604" cy="485"/>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40" name="组合 39">
            <a:extLst>
              <a:ext uri="{FF2B5EF4-FFF2-40B4-BE49-F238E27FC236}">
                <a16:creationId xmlns:a16="http://schemas.microsoft.com/office/drawing/2014/main" id="{350207D5-690B-8E2A-2766-CEC180DB4723}"/>
              </a:ext>
            </a:extLst>
          </p:cNvPr>
          <p:cNvGrpSpPr/>
          <p:nvPr/>
        </p:nvGrpSpPr>
        <p:grpSpPr>
          <a:xfrm>
            <a:off x="6098436" y="1183502"/>
            <a:ext cx="925482" cy="1659820"/>
            <a:chOff x="6098436" y="1183502"/>
            <a:chExt cx="925482" cy="1659820"/>
          </a:xfrm>
        </p:grpSpPr>
        <p:sp>
          <p:nvSpPr>
            <p:cNvPr id="41" name="Freeform 40">
              <a:extLst>
                <a:ext uri="{FF2B5EF4-FFF2-40B4-BE49-F238E27FC236}">
                  <a16:creationId xmlns:a16="http://schemas.microsoft.com/office/drawing/2014/main" id="{DB5C6BFC-37FA-F19A-FF48-9412A5A9EB2E}"/>
                </a:ext>
              </a:extLst>
            </p:cNvPr>
            <p:cNvSpPr>
              <a:spLocks/>
            </p:cNvSpPr>
            <p:nvPr/>
          </p:nvSpPr>
          <p:spPr bwMode="auto">
            <a:xfrm>
              <a:off x="6098436" y="1183502"/>
              <a:ext cx="860369" cy="1620096"/>
            </a:xfrm>
            <a:custGeom>
              <a:avLst/>
              <a:gdLst>
                <a:gd name="T0" fmla="*/ 0 w 868"/>
                <a:gd name="T1" fmla="*/ 0 h 1493"/>
                <a:gd name="T2" fmla="*/ 1408112 w 868"/>
                <a:gd name="T3" fmla="*/ 13621 h 1493"/>
                <a:gd name="T4" fmla="*/ 1408112 w 868"/>
                <a:gd name="T5" fmla="*/ 2905125 h 1493"/>
                <a:gd name="T6" fmla="*/ 201159 w 868"/>
                <a:gd name="T7" fmla="*/ 2905125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2" name="Rectangle 41">
              <a:extLst>
                <a:ext uri="{FF2B5EF4-FFF2-40B4-BE49-F238E27FC236}">
                  <a16:creationId xmlns:a16="http://schemas.microsoft.com/office/drawing/2014/main" id="{DD5F3F51-E406-95A6-CB89-C2C7DFCA86E9}"/>
                </a:ext>
              </a:extLst>
            </p:cNvPr>
            <p:cNvSpPr>
              <a:spLocks noChangeArrowheads="1"/>
            </p:cNvSpPr>
            <p:nvPr/>
          </p:nvSpPr>
          <p:spPr bwMode="auto">
            <a:xfrm>
              <a:off x="6328214" y="2599666"/>
              <a:ext cx="69570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被动关闭</a:t>
              </a:r>
            </a:p>
          </p:txBody>
        </p:sp>
      </p:grpSp>
      <p:grpSp>
        <p:nvGrpSpPr>
          <p:cNvPr id="45" name="组合 44">
            <a:extLst>
              <a:ext uri="{FF2B5EF4-FFF2-40B4-BE49-F238E27FC236}">
                <a16:creationId xmlns:a16="http://schemas.microsoft.com/office/drawing/2014/main" id="{29654951-96BD-169B-9C95-8622351C5B11}"/>
              </a:ext>
            </a:extLst>
          </p:cNvPr>
          <p:cNvGrpSpPr/>
          <p:nvPr/>
        </p:nvGrpSpPr>
        <p:grpSpPr>
          <a:xfrm>
            <a:off x="3393849" y="3270695"/>
            <a:ext cx="2343998" cy="429369"/>
            <a:chOff x="3393849" y="3270695"/>
            <a:chExt cx="2343998" cy="429369"/>
          </a:xfrm>
        </p:grpSpPr>
        <p:sp>
          <p:nvSpPr>
            <p:cNvPr id="43" name="Rectangle 7">
              <a:extLst>
                <a:ext uri="{FF2B5EF4-FFF2-40B4-BE49-F238E27FC236}">
                  <a16:creationId xmlns:a16="http://schemas.microsoft.com/office/drawing/2014/main" id="{9ACD12F8-E261-BB43-E63D-314D77105663}"/>
                </a:ext>
              </a:extLst>
            </p:cNvPr>
            <p:cNvSpPr>
              <a:spLocks noChangeArrowheads="1"/>
            </p:cNvSpPr>
            <p:nvPr/>
          </p:nvSpPr>
          <p:spPr bwMode="auto">
            <a:xfrm rot="610931">
              <a:off x="3641118" y="3294225"/>
              <a:ext cx="2096729"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u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w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p>
          </p:txBody>
        </p:sp>
        <p:sp>
          <p:nvSpPr>
            <p:cNvPr id="44" name="Line 14">
              <a:extLst>
                <a:ext uri="{FF2B5EF4-FFF2-40B4-BE49-F238E27FC236}">
                  <a16:creationId xmlns:a16="http://schemas.microsoft.com/office/drawing/2014/main" id="{DF35697A-589D-707B-51BF-7BDC7AE49589}"/>
                </a:ext>
              </a:extLst>
            </p:cNvPr>
            <p:cNvSpPr>
              <a:spLocks noChangeShapeType="1"/>
            </p:cNvSpPr>
            <p:nvPr/>
          </p:nvSpPr>
          <p:spPr bwMode="auto">
            <a:xfrm>
              <a:off x="3393849" y="3270695"/>
              <a:ext cx="2305317" cy="429369"/>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2" name="Rectangle 19">
            <a:extLst>
              <a:ext uri="{FF2B5EF4-FFF2-40B4-BE49-F238E27FC236}">
                <a16:creationId xmlns:a16="http://schemas.microsoft.com/office/drawing/2014/main" id="{5982722F-8E9C-9632-D881-F0625C6673F2}"/>
              </a:ext>
            </a:extLst>
          </p:cNvPr>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47" name="组合 46">
            <a:extLst>
              <a:ext uri="{FF2B5EF4-FFF2-40B4-BE49-F238E27FC236}">
                <a16:creationId xmlns:a16="http://schemas.microsoft.com/office/drawing/2014/main" id="{5FDB1410-8404-BC70-45D1-3CADCF7571C9}"/>
              </a:ext>
            </a:extLst>
          </p:cNvPr>
          <p:cNvGrpSpPr/>
          <p:nvPr/>
        </p:nvGrpSpPr>
        <p:grpSpPr>
          <a:xfrm>
            <a:off x="2816590" y="1840394"/>
            <a:ext cx="674866" cy="866707"/>
            <a:chOff x="2816590" y="1840394"/>
            <a:chExt cx="674866" cy="866707"/>
          </a:xfrm>
        </p:grpSpPr>
        <p:sp>
          <p:nvSpPr>
            <p:cNvPr id="48" name="Rectangle 18">
              <a:extLst>
                <a:ext uri="{FF2B5EF4-FFF2-40B4-BE49-F238E27FC236}">
                  <a16:creationId xmlns:a16="http://schemas.microsoft.com/office/drawing/2014/main" id="{9A01155F-5FB8-CA1E-EC75-05BF0E81C5C1}"/>
                </a:ext>
              </a:extLst>
            </p:cNvPr>
            <p:cNvSpPr>
              <a:spLocks noChangeArrowheads="1"/>
            </p:cNvSpPr>
            <p:nvPr/>
          </p:nvSpPr>
          <p:spPr bwMode="auto">
            <a:xfrm>
              <a:off x="2860899" y="1840394"/>
              <a:ext cx="532065" cy="866707"/>
            </a:xfrm>
            <a:prstGeom prst="rect">
              <a:avLst/>
            </a:prstGeom>
            <a:solidFill>
              <a:srgbClr val="CC00CC"/>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9" name="Rectangle 23">
              <a:extLst>
                <a:ext uri="{FF2B5EF4-FFF2-40B4-BE49-F238E27FC236}">
                  <a16:creationId xmlns:a16="http://schemas.microsoft.com/office/drawing/2014/main" id="{36E2EB02-3837-94B9-BB47-DA31E1877D62}"/>
                </a:ext>
              </a:extLst>
            </p:cNvPr>
            <p:cNvSpPr>
              <a:spLocks noChangeArrowheads="1"/>
            </p:cNvSpPr>
            <p:nvPr/>
          </p:nvSpPr>
          <p:spPr bwMode="auto">
            <a:xfrm>
              <a:off x="2816590" y="2049137"/>
              <a:ext cx="674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FIN-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WAIT-1</a:t>
              </a:r>
            </a:p>
          </p:txBody>
        </p:sp>
      </p:grpSp>
      <p:grpSp>
        <p:nvGrpSpPr>
          <p:cNvPr id="50" name="组合 49">
            <a:extLst>
              <a:ext uri="{FF2B5EF4-FFF2-40B4-BE49-F238E27FC236}">
                <a16:creationId xmlns:a16="http://schemas.microsoft.com/office/drawing/2014/main" id="{4887D488-A25C-DAFA-1564-49ACBAC8DF55}"/>
              </a:ext>
            </a:extLst>
          </p:cNvPr>
          <p:cNvGrpSpPr/>
          <p:nvPr/>
        </p:nvGrpSpPr>
        <p:grpSpPr>
          <a:xfrm>
            <a:off x="5664639" y="2291896"/>
            <a:ext cx="650820" cy="489570"/>
            <a:chOff x="5664639" y="2291896"/>
            <a:chExt cx="650820" cy="489570"/>
          </a:xfrm>
        </p:grpSpPr>
        <p:sp>
          <p:nvSpPr>
            <p:cNvPr id="51" name="Rectangle 24">
              <a:extLst>
                <a:ext uri="{FF2B5EF4-FFF2-40B4-BE49-F238E27FC236}">
                  <a16:creationId xmlns:a16="http://schemas.microsoft.com/office/drawing/2014/main" id="{1BD1568E-C5D6-09E5-92F9-43E8D6D0219E}"/>
                </a:ext>
              </a:extLst>
            </p:cNvPr>
            <p:cNvSpPr>
              <a:spLocks noChangeArrowheads="1"/>
            </p:cNvSpPr>
            <p:nvPr/>
          </p:nvSpPr>
          <p:spPr bwMode="auto">
            <a:xfrm>
              <a:off x="5697395" y="2291896"/>
              <a:ext cx="532950" cy="489570"/>
            </a:xfrm>
            <a:prstGeom prst="rect">
              <a:avLst/>
            </a:prstGeom>
            <a:solidFill>
              <a:schemeClr val="accent5">
                <a:lumMod val="75000"/>
              </a:schemeClr>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52" name="Rectangle 25">
              <a:extLst>
                <a:ext uri="{FF2B5EF4-FFF2-40B4-BE49-F238E27FC236}">
                  <a16:creationId xmlns:a16="http://schemas.microsoft.com/office/drawing/2014/main" id="{5410C5C4-FDAD-D758-952F-3901FCA23ED1}"/>
                </a:ext>
              </a:extLst>
            </p:cNvPr>
            <p:cNvSpPr>
              <a:spLocks noChangeArrowheads="1"/>
            </p:cNvSpPr>
            <p:nvPr/>
          </p:nvSpPr>
          <p:spPr bwMode="auto">
            <a:xfrm>
              <a:off x="5664639" y="2354752"/>
              <a:ext cx="65082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CLOSE-</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WAIT</a:t>
              </a:r>
            </a:p>
          </p:txBody>
        </p:sp>
      </p:grpSp>
      <p:grpSp>
        <p:nvGrpSpPr>
          <p:cNvPr id="53" name="组合 52">
            <a:extLst>
              <a:ext uri="{FF2B5EF4-FFF2-40B4-BE49-F238E27FC236}">
                <a16:creationId xmlns:a16="http://schemas.microsoft.com/office/drawing/2014/main" id="{C94BAAD4-DA52-40F9-E06F-A7CE1FB5756F}"/>
              </a:ext>
            </a:extLst>
          </p:cNvPr>
          <p:cNvGrpSpPr/>
          <p:nvPr/>
        </p:nvGrpSpPr>
        <p:grpSpPr>
          <a:xfrm>
            <a:off x="2809275" y="2747825"/>
            <a:ext cx="674866" cy="486029"/>
            <a:chOff x="2809275" y="2747825"/>
            <a:chExt cx="674866" cy="486029"/>
          </a:xfrm>
        </p:grpSpPr>
        <p:sp>
          <p:nvSpPr>
            <p:cNvPr id="54" name="Rectangle 26">
              <a:extLst>
                <a:ext uri="{FF2B5EF4-FFF2-40B4-BE49-F238E27FC236}">
                  <a16:creationId xmlns:a16="http://schemas.microsoft.com/office/drawing/2014/main" id="{E7576EEB-16D6-BDA7-03A8-8CE2A27E5BE6}"/>
                </a:ext>
              </a:extLst>
            </p:cNvPr>
            <p:cNvSpPr>
              <a:spLocks noChangeArrowheads="1"/>
            </p:cNvSpPr>
            <p:nvPr/>
          </p:nvSpPr>
          <p:spPr bwMode="auto">
            <a:xfrm>
              <a:off x="2860899" y="2747825"/>
              <a:ext cx="532065" cy="486029"/>
            </a:xfrm>
            <a:prstGeom prst="rect">
              <a:avLst/>
            </a:prstGeom>
            <a:solidFill>
              <a:srgbClr val="0000FF"/>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55" name="Rectangle 27">
              <a:extLst>
                <a:ext uri="{FF2B5EF4-FFF2-40B4-BE49-F238E27FC236}">
                  <a16:creationId xmlns:a16="http://schemas.microsoft.com/office/drawing/2014/main" id="{8861B756-8BFE-2FB9-BADD-B94D12F3A361}"/>
                </a:ext>
              </a:extLst>
            </p:cNvPr>
            <p:cNvSpPr>
              <a:spLocks noChangeArrowheads="1"/>
            </p:cNvSpPr>
            <p:nvPr/>
          </p:nvSpPr>
          <p:spPr bwMode="auto">
            <a:xfrm>
              <a:off x="2809275" y="2777925"/>
              <a:ext cx="674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FIN-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WAIT-2</a:t>
              </a:r>
            </a:p>
          </p:txBody>
        </p:sp>
      </p:grpSp>
      <p:grpSp>
        <p:nvGrpSpPr>
          <p:cNvPr id="56" name="组合 55">
            <a:extLst>
              <a:ext uri="{FF2B5EF4-FFF2-40B4-BE49-F238E27FC236}">
                <a16:creationId xmlns:a16="http://schemas.microsoft.com/office/drawing/2014/main" id="{18341FC4-59ED-FF4F-3303-14A5EBCFE752}"/>
              </a:ext>
            </a:extLst>
          </p:cNvPr>
          <p:cNvGrpSpPr/>
          <p:nvPr/>
        </p:nvGrpSpPr>
        <p:grpSpPr>
          <a:xfrm>
            <a:off x="5697395" y="2825731"/>
            <a:ext cx="563962" cy="826869"/>
            <a:chOff x="5697395" y="2825731"/>
            <a:chExt cx="563962" cy="826869"/>
          </a:xfrm>
        </p:grpSpPr>
        <p:sp>
          <p:nvSpPr>
            <p:cNvPr id="57" name="Rectangle 28">
              <a:extLst>
                <a:ext uri="{FF2B5EF4-FFF2-40B4-BE49-F238E27FC236}">
                  <a16:creationId xmlns:a16="http://schemas.microsoft.com/office/drawing/2014/main" id="{12319753-1E35-3D84-7DDB-DABFB8676CF9}"/>
                </a:ext>
              </a:extLst>
            </p:cNvPr>
            <p:cNvSpPr>
              <a:spLocks noChangeArrowheads="1"/>
            </p:cNvSpPr>
            <p:nvPr/>
          </p:nvSpPr>
          <p:spPr bwMode="auto">
            <a:xfrm>
              <a:off x="5697395" y="2825731"/>
              <a:ext cx="532950" cy="826869"/>
            </a:xfrm>
            <a:prstGeom prst="rect">
              <a:avLst/>
            </a:prstGeom>
            <a:solidFill>
              <a:srgbClr val="0070C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58" name="Rectangle 29">
              <a:extLst>
                <a:ext uri="{FF2B5EF4-FFF2-40B4-BE49-F238E27FC236}">
                  <a16:creationId xmlns:a16="http://schemas.microsoft.com/office/drawing/2014/main" id="{0644359C-8F52-0AC0-5547-2064441626C6}"/>
                </a:ext>
              </a:extLst>
            </p:cNvPr>
            <p:cNvSpPr>
              <a:spLocks noChangeArrowheads="1"/>
            </p:cNvSpPr>
            <p:nvPr/>
          </p:nvSpPr>
          <p:spPr bwMode="auto">
            <a:xfrm>
              <a:off x="5698701" y="3060335"/>
              <a:ext cx="56265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LAST-</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ACK</a:t>
              </a:r>
            </a:p>
          </p:txBody>
        </p:sp>
      </p:grpSp>
      <p:sp>
        <p:nvSpPr>
          <p:cNvPr id="59" name="文本框 58">
            <a:extLst>
              <a:ext uri="{FF2B5EF4-FFF2-40B4-BE49-F238E27FC236}">
                <a16:creationId xmlns:a16="http://schemas.microsoft.com/office/drawing/2014/main" id="{5C42FAE6-5959-59C8-FF9D-301D72524F03}"/>
              </a:ext>
            </a:extLst>
          </p:cNvPr>
          <p:cNvSpPr txBox="1"/>
          <p:nvPr/>
        </p:nvSpPr>
        <p:spPr>
          <a:xfrm>
            <a:off x="2012187" y="2120233"/>
            <a:ext cx="914708" cy="276999"/>
          </a:xfrm>
          <a:prstGeom prst="rect">
            <a:avLst/>
          </a:prstGeom>
        </p:spPr>
        <p:txBody>
          <a:bodyPr wrap="square">
            <a:spAutoFit/>
          </a:bodyPr>
          <a:lstStyle>
            <a:defPPr>
              <a:defRPr lang="zh-CN"/>
            </a:defPPr>
            <a:lvl1pPr algn="ctr">
              <a:defRPr sz="1200" b="1">
                <a:solidFill>
                  <a:srgbClr val="0000FF"/>
                </a:solidFill>
                <a:latin typeface="微软雅黑" panose="020B0503020204020204" pitchFamily="34" charset="-122"/>
                <a:ea typeface="微软雅黑" panose="020B0503020204020204" pitchFamily="34" charset="-122"/>
              </a:defRPr>
            </a:lvl1pPr>
          </a:lstStyle>
          <a:p>
            <a:pPr algn="r"/>
            <a:r>
              <a:rPr lang="zh-CN" altLang="en-US" dirty="0"/>
              <a:t>终止等待</a:t>
            </a:r>
            <a:r>
              <a:rPr lang="en-US" altLang="zh-CN" dirty="0"/>
              <a:t>1</a:t>
            </a:r>
            <a:endParaRPr lang="zh-CN" altLang="en-US" dirty="0"/>
          </a:p>
        </p:txBody>
      </p:sp>
      <p:sp>
        <p:nvSpPr>
          <p:cNvPr id="60" name="文本框 59">
            <a:extLst>
              <a:ext uri="{FF2B5EF4-FFF2-40B4-BE49-F238E27FC236}">
                <a16:creationId xmlns:a16="http://schemas.microsoft.com/office/drawing/2014/main" id="{4F7085E2-7D1C-05E9-1466-D157C94413CA}"/>
              </a:ext>
            </a:extLst>
          </p:cNvPr>
          <p:cNvSpPr txBox="1"/>
          <p:nvPr/>
        </p:nvSpPr>
        <p:spPr>
          <a:xfrm>
            <a:off x="6161099" y="2352183"/>
            <a:ext cx="914708" cy="276999"/>
          </a:xfrm>
          <a:prstGeom prst="rect">
            <a:avLst/>
          </a:prstGeom>
        </p:spPr>
        <p:txBody>
          <a:bodyPr wrap="square">
            <a:spAutoFit/>
          </a:bodyPr>
          <a:lstStyle>
            <a:defPPr>
              <a:defRPr lang="zh-CN"/>
            </a:defPPr>
            <a:lvl1pPr algn="ctr">
              <a:defRPr sz="1200" b="1">
                <a:solidFill>
                  <a:srgbClr val="0000FF"/>
                </a:solidFill>
                <a:latin typeface="微软雅黑" panose="020B0503020204020204" pitchFamily="34" charset="-122"/>
                <a:ea typeface="微软雅黑" panose="020B0503020204020204" pitchFamily="34" charset="-122"/>
              </a:defRPr>
            </a:lvl1pPr>
          </a:lstStyle>
          <a:p>
            <a:pPr algn="l"/>
            <a:r>
              <a:rPr lang="zh-CN" altLang="en-US" dirty="0"/>
              <a:t>关闭等待</a:t>
            </a:r>
          </a:p>
        </p:txBody>
      </p:sp>
      <p:sp>
        <p:nvSpPr>
          <p:cNvPr id="61" name="文本框 60">
            <a:extLst>
              <a:ext uri="{FF2B5EF4-FFF2-40B4-BE49-F238E27FC236}">
                <a16:creationId xmlns:a16="http://schemas.microsoft.com/office/drawing/2014/main" id="{F6949BC2-1D69-511E-AEC6-167D794B4965}"/>
              </a:ext>
            </a:extLst>
          </p:cNvPr>
          <p:cNvSpPr txBox="1"/>
          <p:nvPr/>
        </p:nvSpPr>
        <p:spPr>
          <a:xfrm>
            <a:off x="2001006" y="2838197"/>
            <a:ext cx="914708" cy="276999"/>
          </a:xfrm>
          <a:prstGeom prst="rect">
            <a:avLst/>
          </a:prstGeom>
        </p:spPr>
        <p:txBody>
          <a:bodyPr wrap="square">
            <a:spAutoFit/>
          </a:bodyPr>
          <a:lstStyle>
            <a:defPPr>
              <a:defRPr lang="zh-CN"/>
            </a:defPPr>
            <a:lvl1pPr algn="ctr">
              <a:defRPr sz="1200" b="1">
                <a:solidFill>
                  <a:srgbClr val="0000FF"/>
                </a:solidFill>
                <a:latin typeface="微软雅黑" panose="020B0503020204020204" pitchFamily="34" charset="-122"/>
                <a:ea typeface="微软雅黑" panose="020B0503020204020204" pitchFamily="34" charset="-122"/>
              </a:defRPr>
            </a:lvl1pPr>
          </a:lstStyle>
          <a:p>
            <a:pPr algn="r"/>
            <a:r>
              <a:rPr lang="zh-CN" altLang="en-US" dirty="0"/>
              <a:t>终止等待</a:t>
            </a:r>
            <a:r>
              <a:rPr lang="en-US" altLang="zh-CN" dirty="0"/>
              <a:t>2</a:t>
            </a:r>
            <a:endParaRPr lang="zh-CN" altLang="en-US" dirty="0"/>
          </a:p>
        </p:txBody>
      </p:sp>
      <p:sp>
        <p:nvSpPr>
          <p:cNvPr id="63" name="文本框 62">
            <a:extLst>
              <a:ext uri="{FF2B5EF4-FFF2-40B4-BE49-F238E27FC236}">
                <a16:creationId xmlns:a16="http://schemas.microsoft.com/office/drawing/2014/main" id="{62603007-71C0-FFA9-38F4-310B98A61612}"/>
              </a:ext>
            </a:extLst>
          </p:cNvPr>
          <p:cNvSpPr txBox="1"/>
          <p:nvPr/>
        </p:nvSpPr>
        <p:spPr>
          <a:xfrm>
            <a:off x="6145667" y="3095271"/>
            <a:ext cx="901314" cy="276999"/>
          </a:xfrm>
          <a:prstGeom prst="rect">
            <a:avLst/>
          </a:prstGeom>
        </p:spPr>
        <p:txBody>
          <a:bodyPr wrap="square">
            <a:spAutoFit/>
          </a:bodyPr>
          <a:lstStyle>
            <a:defPPr>
              <a:defRPr lang="zh-CN"/>
            </a:defPPr>
            <a:lvl1pPr>
              <a:defRPr sz="1200" b="1">
                <a:solidFill>
                  <a:srgbClr val="0000FF"/>
                </a:solidFill>
                <a:latin typeface="微软雅黑" panose="020B0503020204020204" pitchFamily="34" charset="-122"/>
                <a:ea typeface="微软雅黑" panose="020B0503020204020204" pitchFamily="34" charset="-122"/>
              </a:defRPr>
            </a:lvl1pPr>
          </a:lstStyle>
          <a:p>
            <a:r>
              <a:rPr lang="zh-CN" altLang="en-US" dirty="0"/>
              <a:t>最后确认</a:t>
            </a:r>
          </a:p>
        </p:txBody>
      </p:sp>
      <p:grpSp>
        <p:nvGrpSpPr>
          <p:cNvPr id="62" name="Group 30">
            <a:extLst>
              <a:ext uri="{FF2B5EF4-FFF2-40B4-BE49-F238E27FC236}">
                <a16:creationId xmlns:a16="http://schemas.microsoft.com/office/drawing/2014/main" id="{7EEA64B7-3C18-D45C-5875-85F00B946152}"/>
              </a:ext>
            </a:extLst>
          </p:cNvPr>
          <p:cNvGrpSpPr>
            <a:grpSpLocks/>
          </p:cNvGrpSpPr>
          <p:nvPr/>
        </p:nvGrpSpPr>
        <p:grpSpPr bwMode="auto">
          <a:xfrm>
            <a:off x="2099547" y="3263852"/>
            <a:ext cx="1324404" cy="794112"/>
            <a:chOff x="152" y="3081"/>
            <a:chExt cx="1496" cy="897"/>
          </a:xfrm>
        </p:grpSpPr>
        <p:sp>
          <p:nvSpPr>
            <p:cNvPr id="64" name="Rectangle 31">
              <a:extLst>
                <a:ext uri="{FF2B5EF4-FFF2-40B4-BE49-F238E27FC236}">
                  <a16:creationId xmlns:a16="http://schemas.microsoft.com/office/drawing/2014/main" id="{59FE4A28-61A5-1C8A-EA8F-F22B5B9E9821}"/>
                </a:ext>
              </a:extLst>
            </p:cNvPr>
            <p:cNvSpPr>
              <a:spLocks noChangeArrowheads="1"/>
            </p:cNvSpPr>
            <p:nvPr/>
          </p:nvSpPr>
          <p:spPr bwMode="auto">
            <a:xfrm>
              <a:off x="152" y="3081"/>
              <a:ext cx="943"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等待 </a:t>
              </a: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2MSL</a:t>
              </a:r>
            </a:p>
          </p:txBody>
        </p:sp>
        <p:sp>
          <p:nvSpPr>
            <p:cNvPr id="65" name="Rectangle 32">
              <a:extLst>
                <a:ext uri="{FF2B5EF4-FFF2-40B4-BE49-F238E27FC236}">
                  <a16:creationId xmlns:a16="http://schemas.microsoft.com/office/drawing/2014/main" id="{54987F9A-D52F-B641-D16C-CCA0ACFDA223}"/>
                </a:ext>
              </a:extLst>
            </p:cNvPr>
            <p:cNvSpPr>
              <a:spLocks noChangeArrowheads="1"/>
            </p:cNvSpPr>
            <p:nvPr/>
          </p:nvSpPr>
          <p:spPr bwMode="auto">
            <a:xfrm>
              <a:off x="1012" y="3097"/>
              <a:ext cx="601" cy="779"/>
            </a:xfrm>
            <a:prstGeom prst="rect">
              <a:avLst/>
            </a:prstGeom>
            <a:solidFill>
              <a:srgbClr val="7030A0"/>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66" name="Rectangle 33">
              <a:extLst>
                <a:ext uri="{FF2B5EF4-FFF2-40B4-BE49-F238E27FC236}">
                  <a16:creationId xmlns:a16="http://schemas.microsoft.com/office/drawing/2014/main" id="{C7069AAD-8181-7384-E735-A83D4F6E91FA}"/>
                </a:ext>
              </a:extLst>
            </p:cNvPr>
            <p:cNvSpPr>
              <a:spLocks noChangeArrowheads="1"/>
            </p:cNvSpPr>
            <p:nvPr/>
          </p:nvSpPr>
          <p:spPr bwMode="auto">
            <a:xfrm>
              <a:off x="1007" y="3292"/>
              <a:ext cx="641" cy="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TIME-</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WAIT</a:t>
              </a:r>
            </a:p>
          </p:txBody>
        </p:sp>
        <p:sp>
          <p:nvSpPr>
            <p:cNvPr id="67" name="Freeform 34">
              <a:extLst>
                <a:ext uri="{FF2B5EF4-FFF2-40B4-BE49-F238E27FC236}">
                  <a16:creationId xmlns:a16="http://schemas.microsoft.com/office/drawing/2014/main" id="{276EEAFC-E09D-D4FC-4C5C-C496AC519507}"/>
                </a:ext>
              </a:extLst>
            </p:cNvPr>
            <p:cNvSpPr>
              <a:spLocks/>
            </p:cNvSpPr>
            <p:nvPr/>
          </p:nvSpPr>
          <p:spPr bwMode="auto">
            <a:xfrm>
              <a:off x="185" y="3081"/>
              <a:ext cx="819" cy="799"/>
            </a:xfrm>
            <a:custGeom>
              <a:avLst/>
              <a:gdLst>
                <a:gd name="T0" fmla="*/ 749 w 635"/>
                <a:gd name="T1" fmla="*/ 0 h 499"/>
                <a:gd name="T2" fmla="*/ 0 w 635"/>
                <a:gd name="T3" fmla="*/ 0 h 499"/>
                <a:gd name="T4" fmla="*/ 0 w 635"/>
                <a:gd name="T5" fmla="*/ 799 h 499"/>
                <a:gd name="T6" fmla="*/ 749 w 635"/>
                <a:gd name="T7" fmla="*/ 799 h 49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5" h="499">
                  <a:moveTo>
                    <a:pt x="635" y="0"/>
                  </a:moveTo>
                  <a:lnTo>
                    <a:pt x="0" y="0"/>
                  </a:lnTo>
                  <a:lnTo>
                    <a:pt x="0" y="499"/>
                  </a:lnTo>
                  <a:lnTo>
                    <a:pt x="635" y="499"/>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68" name="Text Box 35">
              <a:extLst>
                <a:ext uri="{FF2B5EF4-FFF2-40B4-BE49-F238E27FC236}">
                  <a16:creationId xmlns:a16="http://schemas.microsoft.com/office/drawing/2014/main" id="{4F923E7F-4984-A8C4-F54F-C86458BB0514}"/>
                </a:ext>
              </a:extLst>
            </p:cNvPr>
            <p:cNvSpPr txBox="1">
              <a:spLocks noChangeArrowheads="1"/>
            </p:cNvSpPr>
            <p:nvPr/>
          </p:nvSpPr>
          <p:spPr bwMode="auto">
            <a:xfrm>
              <a:off x="265" y="3178"/>
              <a:ext cx="725" cy="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4000" i="0" u="none" strike="noStrike" kern="0" cap="none" spc="0" normalizeH="0" baseline="0" noProof="0" dirty="0">
                  <a:ln>
                    <a:noFill/>
                  </a:ln>
                  <a:solidFill>
                    <a:srgbClr val="0000FF"/>
                  </a:solidFill>
                  <a:effectLst/>
                  <a:uLnTx/>
                  <a:uFillTx/>
                  <a:latin typeface="微软雅黑" pitchFamily="34" charset="-122"/>
                  <a:ea typeface="微软雅黑" pitchFamily="34" charset="-122"/>
                  <a:sym typeface="Wingdings" pitchFamily="2" charset="2"/>
                </a:rPr>
                <a:t></a:t>
              </a:r>
            </a:p>
          </p:txBody>
        </p:sp>
      </p:grpSp>
      <p:grpSp>
        <p:nvGrpSpPr>
          <p:cNvPr id="70" name="组合 69">
            <a:extLst>
              <a:ext uri="{FF2B5EF4-FFF2-40B4-BE49-F238E27FC236}">
                <a16:creationId xmlns:a16="http://schemas.microsoft.com/office/drawing/2014/main" id="{E3939F07-D49A-AA28-57BD-10FE8DE5345A}"/>
              </a:ext>
            </a:extLst>
          </p:cNvPr>
          <p:cNvGrpSpPr/>
          <p:nvPr/>
        </p:nvGrpSpPr>
        <p:grpSpPr>
          <a:xfrm>
            <a:off x="2857404" y="3984586"/>
            <a:ext cx="541802" cy="294805"/>
            <a:chOff x="2857404" y="3984586"/>
            <a:chExt cx="541802" cy="294805"/>
          </a:xfrm>
        </p:grpSpPr>
        <p:sp>
          <p:nvSpPr>
            <p:cNvPr id="71" name="Rectangle 3">
              <a:extLst>
                <a:ext uri="{FF2B5EF4-FFF2-40B4-BE49-F238E27FC236}">
                  <a16:creationId xmlns:a16="http://schemas.microsoft.com/office/drawing/2014/main" id="{CA870E32-D0BD-92E2-2FE0-B1266567983F}"/>
                </a:ext>
              </a:extLst>
            </p:cNvPr>
            <p:cNvSpPr>
              <a:spLocks noChangeArrowheads="1"/>
            </p:cNvSpPr>
            <p:nvPr/>
          </p:nvSpPr>
          <p:spPr bwMode="auto">
            <a:xfrm>
              <a:off x="2860900" y="3984586"/>
              <a:ext cx="532064" cy="294805"/>
            </a:xfrm>
            <a:prstGeom prst="rect">
              <a:avLst/>
            </a:prstGeom>
            <a:solidFill>
              <a:srgbClr val="00FF99"/>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72" name="Text Box 4">
              <a:extLst>
                <a:ext uri="{FF2B5EF4-FFF2-40B4-BE49-F238E27FC236}">
                  <a16:creationId xmlns:a16="http://schemas.microsoft.com/office/drawing/2014/main" id="{BC7D690C-E237-FBC9-EF41-988E2C276084}"/>
                </a:ext>
              </a:extLst>
            </p:cNvPr>
            <p:cNvSpPr txBox="1">
              <a:spLocks noChangeArrowheads="1"/>
            </p:cNvSpPr>
            <p:nvPr/>
          </p:nvSpPr>
          <p:spPr bwMode="auto">
            <a:xfrm>
              <a:off x="2857404" y="4031507"/>
              <a:ext cx="541802" cy="187684"/>
            </a:xfrm>
            <a:prstGeom prst="rect">
              <a:avLst/>
            </a:prstGeom>
            <a:no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tabLst/>
                <a:defRPr/>
              </a:pPr>
              <a:r>
                <a:rPr kumimoji="1" lang="en-US" altLang="zh-CN" sz="1000" i="0" u="none" strike="noStrike" kern="0" cap="none" spc="0" normalizeH="0" baseline="0" noProof="0" dirty="0">
                  <a:ln>
                    <a:noFill/>
                  </a:ln>
                  <a:effectLst/>
                  <a:uLnTx/>
                  <a:uFillTx/>
                  <a:latin typeface="微软雅黑" pitchFamily="34" charset="-122"/>
                  <a:ea typeface="微软雅黑" pitchFamily="34" charset="-122"/>
                </a:rPr>
                <a:t>CLOSED</a:t>
              </a:r>
            </a:p>
          </p:txBody>
        </p:sp>
      </p:grpSp>
      <p:grpSp>
        <p:nvGrpSpPr>
          <p:cNvPr id="73" name="组合 72">
            <a:extLst>
              <a:ext uri="{FF2B5EF4-FFF2-40B4-BE49-F238E27FC236}">
                <a16:creationId xmlns:a16="http://schemas.microsoft.com/office/drawing/2014/main" id="{DDAE372C-A394-1781-E450-817BB4C2E85A}"/>
              </a:ext>
            </a:extLst>
          </p:cNvPr>
          <p:cNvGrpSpPr/>
          <p:nvPr/>
        </p:nvGrpSpPr>
        <p:grpSpPr>
          <a:xfrm>
            <a:off x="5698171" y="3692967"/>
            <a:ext cx="541802" cy="294805"/>
            <a:chOff x="2857404" y="3984586"/>
            <a:chExt cx="541802" cy="294805"/>
          </a:xfrm>
        </p:grpSpPr>
        <p:sp>
          <p:nvSpPr>
            <p:cNvPr id="74" name="Rectangle 3">
              <a:extLst>
                <a:ext uri="{FF2B5EF4-FFF2-40B4-BE49-F238E27FC236}">
                  <a16:creationId xmlns:a16="http://schemas.microsoft.com/office/drawing/2014/main" id="{07F326CC-E1D5-9BB5-7847-08CBF0DD9D6D}"/>
                </a:ext>
              </a:extLst>
            </p:cNvPr>
            <p:cNvSpPr>
              <a:spLocks noChangeArrowheads="1"/>
            </p:cNvSpPr>
            <p:nvPr/>
          </p:nvSpPr>
          <p:spPr bwMode="auto">
            <a:xfrm>
              <a:off x="2860900" y="3984586"/>
              <a:ext cx="532064" cy="294805"/>
            </a:xfrm>
            <a:prstGeom prst="rect">
              <a:avLst/>
            </a:prstGeom>
            <a:solidFill>
              <a:srgbClr val="00FF99"/>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75" name="Text Box 4">
              <a:extLst>
                <a:ext uri="{FF2B5EF4-FFF2-40B4-BE49-F238E27FC236}">
                  <a16:creationId xmlns:a16="http://schemas.microsoft.com/office/drawing/2014/main" id="{785B88F9-88AC-DAAD-A389-6A1651024C9D}"/>
                </a:ext>
              </a:extLst>
            </p:cNvPr>
            <p:cNvSpPr txBox="1">
              <a:spLocks noChangeArrowheads="1"/>
            </p:cNvSpPr>
            <p:nvPr/>
          </p:nvSpPr>
          <p:spPr bwMode="auto">
            <a:xfrm>
              <a:off x="2857404" y="4031507"/>
              <a:ext cx="541802" cy="187684"/>
            </a:xfrm>
            <a:prstGeom prst="rect">
              <a:avLst/>
            </a:prstGeom>
            <a:no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tabLst/>
                <a:defRPr/>
              </a:pPr>
              <a:r>
                <a:rPr kumimoji="1" lang="en-US" altLang="zh-CN" sz="1000" i="0" u="none" strike="noStrike" kern="0" cap="none" spc="0" normalizeH="0" baseline="0" noProof="0" dirty="0">
                  <a:ln>
                    <a:noFill/>
                  </a:ln>
                  <a:effectLst/>
                  <a:uLnTx/>
                  <a:uFillTx/>
                  <a:latin typeface="微软雅黑" pitchFamily="34" charset="-122"/>
                  <a:ea typeface="微软雅黑" pitchFamily="34" charset="-122"/>
                </a:rPr>
                <a:t>CLOSED</a:t>
              </a:r>
            </a:p>
          </p:txBody>
        </p:sp>
      </p:grpSp>
      <p:sp>
        <p:nvSpPr>
          <p:cNvPr id="69" name="Text Box 155">
            <a:extLst>
              <a:ext uri="{FF2B5EF4-FFF2-40B4-BE49-F238E27FC236}">
                <a16:creationId xmlns:a16="http://schemas.microsoft.com/office/drawing/2014/main" id="{22746CE4-0AC2-E830-AE9F-A213C6ECD145}"/>
              </a:ext>
            </a:extLst>
          </p:cNvPr>
          <p:cNvSpPr txBox="1">
            <a:spLocks noChangeArrowheads="1"/>
          </p:cNvSpPr>
          <p:nvPr/>
        </p:nvSpPr>
        <p:spPr bwMode="auto">
          <a:xfrm>
            <a:off x="3528968" y="3838359"/>
            <a:ext cx="4071366" cy="886012"/>
          </a:xfrm>
          <a:prstGeom prst="rect">
            <a:avLst/>
          </a:prstGeom>
          <a:solidFill>
            <a:srgbClr val="FFFF99"/>
          </a:solidFill>
          <a:ln w="9525">
            <a:solidFill>
              <a:schemeClr val="tx1"/>
            </a:solidFill>
            <a:miter lim="800000"/>
            <a:headEnd/>
            <a:tailEnd/>
          </a:ln>
          <a:effectLst/>
        </p:spPr>
        <p:txBody>
          <a:bodyPr wrap="square">
            <a:spAutoFit/>
          </a:bodyPr>
          <a:lstStyle/>
          <a:p>
            <a:pPr>
              <a:lnSpc>
                <a:spcPct val="110000"/>
              </a:lnSpc>
            </a:pPr>
            <a:r>
              <a:rPr lang="zh-CN" altLang="en-US" sz="1600" b="1" dirty="0">
                <a:latin typeface="微软雅黑" pitchFamily="34" charset="-122"/>
                <a:ea typeface="微软雅黑" pitchFamily="34" charset="-122"/>
              </a:rPr>
              <a:t>必须经过</a:t>
            </a:r>
            <a:r>
              <a:rPr lang="zh-CN" altLang="en-US" sz="1600" b="1" dirty="0">
                <a:solidFill>
                  <a:srgbClr val="C00000"/>
                </a:solidFill>
                <a:latin typeface="微软雅黑" pitchFamily="34" charset="-122"/>
                <a:ea typeface="微软雅黑" pitchFamily="34" charset="-122"/>
              </a:rPr>
              <a:t>时间等待计时器</a:t>
            </a:r>
            <a:r>
              <a:rPr lang="zh-CN" altLang="en-US" sz="1600" b="1" dirty="0">
                <a:latin typeface="微软雅黑" pitchFamily="34" charset="-122"/>
                <a:ea typeface="微软雅黑" pitchFamily="34" charset="-122"/>
              </a:rPr>
              <a:t>设置的 </a:t>
            </a:r>
            <a:r>
              <a:rPr lang="en-US" altLang="zh-CN" sz="1600" b="1" dirty="0">
                <a:solidFill>
                  <a:srgbClr val="C00000"/>
                </a:solidFill>
                <a:latin typeface="微软雅黑" pitchFamily="34" charset="-122"/>
                <a:ea typeface="微软雅黑" pitchFamily="34" charset="-122"/>
              </a:rPr>
              <a:t>2MSL</a:t>
            </a:r>
            <a:r>
              <a:rPr lang="zh-CN" altLang="en-US" sz="1600" b="1" dirty="0">
                <a:solidFill>
                  <a:srgbClr val="C00000"/>
                </a:solidFill>
                <a:latin typeface="微软雅黑" pitchFamily="34" charset="-122"/>
                <a:ea typeface="微软雅黑" pitchFamily="34" charset="-122"/>
              </a:rPr>
              <a:t> </a:t>
            </a:r>
            <a:r>
              <a:rPr lang="en-US" altLang="zh-CN" sz="1600" b="1" dirty="0">
                <a:solidFill>
                  <a:srgbClr val="C00000"/>
                </a:solidFill>
                <a:latin typeface="微软雅黑" pitchFamily="34" charset="-122"/>
                <a:ea typeface="微软雅黑" pitchFamily="34" charset="-122"/>
              </a:rPr>
              <a:t>(Maximum Segment Lifetime</a:t>
            </a:r>
            <a:r>
              <a:rPr lang="zh-CN" altLang="en-US" sz="1600" b="1" dirty="0">
                <a:solidFill>
                  <a:srgbClr val="C00000"/>
                </a:solidFill>
                <a:latin typeface="微软雅黑" pitchFamily="34" charset="-122"/>
                <a:ea typeface="微软雅黑" pitchFamily="34" charset="-122"/>
              </a:rPr>
              <a:t>，最长报文段寿命</a:t>
            </a:r>
            <a:r>
              <a:rPr lang="en-US" altLang="zh-CN" sz="1600" b="1" dirty="0">
                <a:solidFill>
                  <a:srgbClr val="C00000"/>
                </a:solidFill>
                <a:latin typeface="微软雅黑" pitchFamily="34" charset="-122"/>
                <a:ea typeface="微软雅黑" pitchFamily="34" charset="-122"/>
              </a:rPr>
              <a:t>) </a:t>
            </a:r>
            <a:r>
              <a:rPr lang="zh-CN" altLang="en-US" sz="1600" b="1" dirty="0">
                <a:latin typeface="微软雅黑" pitchFamily="34" charset="-122"/>
                <a:ea typeface="微软雅黑" pitchFamily="34" charset="-122"/>
              </a:rPr>
              <a:t>时间后，</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才进入关闭状态。</a:t>
            </a:r>
          </a:p>
        </p:txBody>
      </p:sp>
    </p:spTree>
    <p:extLst>
      <p:ext uri="{BB962C8B-B14F-4D97-AF65-F5344CB8AC3E}">
        <p14:creationId xmlns:p14="http://schemas.microsoft.com/office/powerpoint/2010/main" val="1826110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500"/>
                                  </p:stCondLst>
                                  <p:childTnLst>
                                    <p:anim calcmode="discrete" valueType="str">
                                      <p:cBhvr>
                                        <p:cTn id="6" dur="1000" fill="hold"/>
                                        <p:tgtEl>
                                          <p:spTgt spid="62"/>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69"/>
                                        </p:tgtEl>
                                        <p:attrNameLst>
                                          <p:attrName>style.visibility</p:attrName>
                                        </p:attrNameLst>
                                      </p:cBhvr>
                                      <p:to>
                                        <p:strVal val="visible"/>
                                      </p:to>
                                    </p:set>
                                    <p:animEffect transition="in" filter="fade">
                                      <p:cBhvr>
                                        <p:cTn id="11" dur="1000"/>
                                        <p:tgtEl>
                                          <p:spTgt spid="69"/>
                                        </p:tgtEl>
                                      </p:cBhvr>
                                    </p:animEffect>
                                    <p:anim calcmode="lin" valueType="num">
                                      <p:cBhvr>
                                        <p:cTn id="12" dur="1000" fill="hold"/>
                                        <p:tgtEl>
                                          <p:spTgt spid="69"/>
                                        </p:tgtEl>
                                        <p:attrNameLst>
                                          <p:attrName>ppt_x</p:attrName>
                                        </p:attrNameLst>
                                      </p:cBhvr>
                                      <p:tavLst>
                                        <p:tav tm="0">
                                          <p:val>
                                            <p:strVal val="#ppt_x"/>
                                          </p:val>
                                        </p:tav>
                                        <p:tav tm="100000">
                                          <p:val>
                                            <p:strVal val="#ppt_x"/>
                                          </p:val>
                                        </p:tav>
                                      </p:tavLst>
                                    </p:anim>
                                    <p:anim calcmode="lin" valueType="num">
                                      <p:cBhvr>
                                        <p:cTn id="13" dur="1000" fill="hold"/>
                                        <p:tgtEl>
                                          <p:spTgt spid="69"/>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70"/>
                                        </p:tgtEl>
                                        <p:attrNameLst>
                                          <p:attrName>style.visibility</p:attrName>
                                        </p:attrNameLst>
                                      </p:cBhvr>
                                      <p:to>
                                        <p:strVal val="visible"/>
                                      </p:to>
                                    </p:set>
                                  </p:childTnLst>
                                </p:cTn>
                              </p:par>
                              <p:par>
                                <p:cTn id="18" presetID="35" presetClass="emph" presetSubtype="0" repeatCount="3000" fill="hold" nodeType="withEffect">
                                  <p:stCondLst>
                                    <p:cond delay="0"/>
                                  </p:stCondLst>
                                  <p:childTnLst>
                                    <p:anim calcmode="discrete" valueType="str">
                                      <p:cBhvr>
                                        <p:cTn id="19" dur="1000" fill="hold"/>
                                        <p:tgtEl>
                                          <p:spTgt spid="7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E2724-80AD-2FE6-0C0E-8FEB616DE488}"/>
            </a:ext>
          </a:extLst>
        </p:cNvPr>
        <p:cNvGrpSpPr/>
        <p:nvPr/>
      </p:nvGrpSpPr>
      <p:grpSpPr>
        <a:xfrm>
          <a:off x="0" y="0"/>
          <a:ext cx="0" cy="0"/>
          <a:chOff x="0" y="0"/>
          <a:chExt cx="0" cy="0"/>
        </a:xfrm>
      </p:grpSpPr>
      <p:sp>
        <p:nvSpPr>
          <p:cNvPr id="46" name="圆角矩形 45">
            <a:extLst>
              <a:ext uri="{FF2B5EF4-FFF2-40B4-BE49-F238E27FC236}">
                <a16:creationId xmlns:a16="http://schemas.microsoft.com/office/drawing/2014/main" id="{BC85584D-D495-0ED9-924C-BF41B7711AC1}"/>
              </a:ext>
            </a:extLst>
          </p:cNvPr>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a:extLst>
              <a:ext uri="{FF2B5EF4-FFF2-40B4-BE49-F238E27FC236}">
                <a16:creationId xmlns:a16="http://schemas.microsoft.com/office/drawing/2014/main" id="{C491800B-75AB-A810-AFB6-3BA51A4E2E3D}"/>
              </a:ext>
            </a:extLst>
          </p:cNvPr>
          <p:cNvSpPr txBox="1">
            <a:spLocks noChangeArrowheads="1"/>
          </p:cNvSpPr>
          <p:nvPr/>
        </p:nvSpPr>
        <p:spPr bwMode="auto">
          <a:xfrm>
            <a:off x="2708899" y="667244"/>
            <a:ext cx="3751385" cy="634020"/>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的连接释放</a:t>
            </a:r>
            <a:endParaRPr lang="en-US" altLang="zh-CN" sz="1600" b="1" dirty="0">
              <a:latin typeface="微软雅黑" pitchFamily="34" charset="-122"/>
              <a:ea typeface="微软雅黑" pitchFamily="34" charset="-122"/>
            </a:endParaRPr>
          </a:p>
          <a:p>
            <a:pPr algn="ctr">
              <a:lnSpc>
                <a:spcPct val="110000"/>
              </a:lnSpc>
            </a:pPr>
            <a:r>
              <a:rPr lang="zh-CN" altLang="en-US" sz="1600" b="1" dirty="0">
                <a:latin typeface="微软雅黑" pitchFamily="34" charset="-122"/>
                <a:ea typeface="微软雅黑" pitchFamily="34" charset="-122"/>
              </a:rPr>
              <a:t>采用</a:t>
            </a:r>
            <a:r>
              <a:rPr lang="zh-CN" altLang="en-US" sz="1600" b="1" dirty="0">
                <a:solidFill>
                  <a:srgbClr val="C00000"/>
                </a:solidFill>
                <a:latin typeface="微软雅黑" pitchFamily="34" charset="-122"/>
                <a:ea typeface="微软雅黑" pitchFamily="34" charset="-122"/>
              </a:rPr>
              <a:t>四报文握手</a:t>
            </a:r>
          </a:p>
        </p:txBody>
      </p:sp>
      <p:sp>
        <p:nvSpPr>
          <p:cNvPr id="4" name="AutoShape 6">
            <a:extLst>
              <a:ext uri="{FF2B5EF4-FFF2-40B4-BE49-F238E27FC236}">
                <a16:creationId xmlns:a16="http://schemas.microsoft.com/office/drawing/2014/main" id="{52657140-B1EC-B419-5AFF-7D2076C56FAB}"/>
              </a:ext>
            </a:extLst>
          </p:cNvPr>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5" name="Group 8">
            <a:extLst>
              <a:ext uri="{FF2B5EF4-FFF2-40B4-BE49-F238E27FC236}">
                <a16:creationId xmlns:a16="http://schemas.microsoft.com/office/drawing/2014/main" id="{A572BBBA-FD95-549B-AEDD-ACFFC0E61E3E}"/>
              </a:ext>
            </a:extLst>
          </p:cNvPr>
          <p:cNvGrpSpPr>
            <a:grpSpLocks/>
          </p:cNvGrpSpPr>
          <p:nvPr/>
        </p:nvGrpSpPr>
        <p:grpSpPr bwMode="auto">
          <a:xfrm>
            <a:off x="3393849" y="1833311"/>
            <a:ext cx="2305317" cy="428484"/>
            <a:chOff x="1614" y="1484"/>
            <a:chExt cx="2604" cy="484"/>
          </a:xfrm>
        </p:grpSpPr>
        <p:sp>
          <p:nvSpPr>
            <p:cNvPr id="6" name="Rectangle 9">
              <a:extLst>
                <a:ext uri="{FF2B5EF4-FFF2-40B4-BE49-F238E27FC236}">
                  <a16:creationId xmlns:a16="http://schemas.microsoft.com/office/drawing/2014/main" id="{29C821D6-AFC2-F9FA-77A8-07A1116346CC}"/>
                </a:ext>
              </a:extLst>
            </p:cNvPr>
            <p:cNvSpPr>
              <a:spLocks noChangeArrowheads="1"/>
            </p:cNvSpPr>
            <p:nvPr/>
          </p:nvSpPr>
          <p:spPr bwMode="auto">
            <a:xfrm rot="597975">
              <a:off x="2411" y="1507"/>
              <a:ext cx="1374" cy="275"/>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FIN = 1, </a:t>
              </a:r>
              <a:r>
                <a:rPr kumimoji="0" lang="en-US" altLang="zh-CN" sz="10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 = u</a:t>
              </a:r>
            </a:p>
          </p:txBody>
        </p:sp>
        <p:sp>
          <p:nvSpPr>
            <p:cNvPr id="7" name="Line 10">
              <a:extLst>
                <a:ext uri="{FF2B5EF4-FFF2-40B4-BE49-F238E27FC236}">
                  <a16:creationId xmlns:a16="http://schemas.microsoft.com/office/drawing/2014/main" id="{1D956B22-4C74-3B9C-0709-CA219C975AF5}"/>
                </a:ext>
              </a:extLst>
            </p:cNvPr>
            <p:cNvSpPr>
              <a:spLocks noChangeShapeType="1"/>
            </p:cNvSpPr>
            <p:nvPr/>
          </p:nvSpPr>
          <p:spPr bwMode="auto">
            <a:xfrm>
              <a:off x="1614" y="1484"/>
              <a:ext cx="2604" cy="484"/>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8" name="Rectangle 17">
            <a:extLst>
              <a:ext uri="{FF2B5EF4-FFF2-40B4-BE49-F238E27FC236}">
                <a16:creationId xmlns:a16="http://schemas.microsoft.com/office/drawing/2014/main" id="{E39170B2-1080-6D01-E119-5AB24E564E29}"/>
              </a:ext>
            </a:extLst>
          </p:cNvPr>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9" name="Rectangle 19">
            <a:extLst>
              <a:ext uri="{FF2B5EF4-FFF2-40B4-BE49-F238E27FC236}">
                <a16:creationId xmlns:a16="http://schemas.microsoft.com/office/drawing/2014/main" id="{A461796D-2A6F-91F9-36E0-42DB66AE02B5}"/>
              </a:ext>
            </a:extLst>
          </p:cNvPr>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10" name="Group 20">
            <a:extLst>
              <a:ext uri="{FF2B5EF4-FFF2-40B4-BE49-F238E27FC236}">
                <a16:creationId xmlns:a16="http://schemas.microsoft.com/office/drawing/2014/main" id="{AC378835-59E8-EAD5-D50E-BC612C890095}"/>
              </a:ext>
            </a:extLst>
          </p:cNvPr>
          <p:cNvGrpSpPr>
            <a:grpSpLocks/>
          </p:cNvGrpSpPr>
          <p:nvPr/>
        </p:nvGrpSpPr>
        <p:grpSpPr bwMode="auto">
          <a:xfrm>
            <a:off x="2806011" y="1372071"/>
            <a:ext cx="3501355" cy="46036"/>
            <a:chOff x="1020" y="481"/>
            <a:chExt cx="4037" cy="46"/>
          </a:xfrm>
        </p:grpSpPr>
        <p:sp>
          <p:nvSpPr>
            <p:cNvPr id="11" name="Line 21">
              <a:extLst>
                <a:ext uri="{FF2B5EF4-FFF2-40B4-BE49-F238E27FC236}">
                  <a16:creationId xmlns:a16="http://schemas.microsoft.com/office/drawing/2014/main" id="{27D12304-AD9D-8A48-405F-70DAD88D661F}"/>
                </a:ext>
              </a:extLst>
            </p:cNvPr>
            <p:cNvSpPr>
              <a:spLocks noChangeShapeType="1"/>
            </p:cNvSpPr>
            <p:nvPr/>
          </p:nvSpPr>
          <p:spPr bwMode="auto">
            <a:xfrm>
              <a:off x="1020" y="527"/>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2" name="Line 22">
              <a:extLst>
                <a:ext uri="{FF2B5EF4-FFF2-40B4-BE49-F238E27FC236}">
                  <a16:creationId xmlns:a16="http://schemas.microsoft.com/office/drawing/2014/main" id="{DA86EED5-18E9-7BE7-7DEF-BB5EDAC964CC}"/>
                </a:ext>
              </a:extLst>
            </p:cNvPr>
            <p:cNvSpPr>
              <a:spLocks noChangeShapeType="1"/>
            </p:cNvSpPr>
            <p:nvPr/>
          </p:nvSpPr>
          <p:spPr bwMode="auto">
            <a:xfrm>
              <a:off x="1020" y="481"/>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3" name="Group 37">
            <a:extLst>
              <a:ext uri="{FF2B5EF4-FFF2-40B4-BE49-F238E27FC236}">
                <a16:creationId xmlns:a16="http://schemas.microsoft.com/office/drawing/2014/main" id="{B9E704C4-C9CD-E0A9-92EE-9FAF8FC66C7E}"/>
              </a:ext>
            </a:extLst>
          </p:cNvPr>
          <p:cNvGrpSpPr>
            <a:grpSpLocks/>
          </p:cNvGrpSpPr>
          <p:nvPr/>
        </p:nvGrpSpPr>
        <p:grpSpPr bwMode="auto">
          <a:xfrm>
            <a:off x="2103083" y="1220685"/>
            <a:ext cx="922481" cy="603775"/>
            <a:chOff x="156" y="792"/>
            <a:chExt cx="1042" cy="682"/>
          </a:xfrm>
        </p:grpSpPr>
        <p:sp>
          <p:nvSpPr>
            <p:cNvPr id="14" name="Freeform 38">
              <a:extLst>
                <a:ext uri="{FF2B5EF4-FFF2-40B4-BE49-F238E27FC236}">
                  <a16:creationId xmlns:a16="http://schemas.microsoft.com/office/drawing/2014/main" id="{B0E25CA1-04D7-7303-9314-F8265BE5E2FE}"/>
                </a:ext>
              </a:extLst>
            </p:cNvPr>
            <p:cNvSpPr>
              <a:spLocks/>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5" name="Rectangle 39">
              <a:extLst>
                <a:ext uri="{FF2B5EF4-FFF2-40B4-BE49-F238E27FC236}">
                  <a16:creationId xmlns:a16="http://schemas.microsoft.com/office/drawing/2014/main" id="{A1A8CD87-5559-CA54-77FA-1764280BF382}"/>
                </a:ext>
              </a:extLst>
            </p:cNvPr>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主动关闭</a:t>
              </a:r>
            </a:p>
          </p:txBody>
        </p:sp>
      </p:grpSp>
      <p:sp>
        <p:nvSpPr>
          <p:cNvPr id="16" name="Rectangle 42">
            <a:extLst>
              <a:ext uri="{FF2B5EF4-FFF2-40B4-BE49-F238E27FC236}">
                <a16:creationId xmlns:a16="http://schemas.microsoft.com/office/drawing/2014/main" id="{CDC34E48-3F48-5D45-B5DF-4D7CDA17D83D}"/>
              </a:ext>
            </a:extLst>
          </p:cNvPr>
          <p:cNvSpPr>
            <a:spLocks noChangeArrowheads="1"/>
          </p:cNvSpPr>
          <p:nvPr/>
        </p:nvSpPr>
        <p:spPr bwMode="auto">
          <a:xfrm>
            <a:off x="4255700" y="1511062"/>
            <a:ext cx="721352" cy="251351"/>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05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17" name="Rectangle 50">
            <a:extLst>
              <a:ext uri="{FF2B5EF4-FFF2-40B4-BE49-F238E27FC236}">
                <a16:creationId xmlns:a16="http://schemas.microsoft.com/office/drawing/2014/main" id="{F28DBB59-F212-2F95-E79E-83750015B7E3}"/>
              </a:ext>
            </a:extLst>
          </p:cNvPr>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effectLst/>
                <a:uLnTx/>
                <a:uFillTx/>
                <a:latin typeface="微软雅黑" pitchFamily="34" charset="-122"/>
                <a:ea typeface="微软雅黑" pitchFamily="34" charset="-122"/>
              </a:rPr>
              <a:t>A</a:t>
            </a:r>
          </a:p>
        </p:txBody>
      </p:sp>
      <p:sp>
        <p:nvSpPr>
          <p:cNvPr id="18" name="Rectangle 51">
            <a:extLst>
              <a:ext uri="{FF2B5EF4-FFF2-40B4-BE49-F238E27FC236}">
                <a16:creationId xmlns:a16="http://schemas.microsoft.com/office/drawing/2014/main" id="{A126D1FA-8280-79DA-F2D4-DE0015D6C1A0}"/>
              </a:ext>
            </a:extLst>
          </p:cNvPr>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19" name="Rectangle 52">
            <a:extLst>
              <a:ext uri="{FF2B5EF4-FFF2-40B4-BE49-F238E27FC236}">
                <a16:creationId xmlns:a16="http://schemas.microsoft.com/office/drawing/2014/main" id="{B5BA7E30-39C0-2A0F-B5C2-B5CC813F5CDE}"/>
              </a:ext>
            </a:extLst>
          </p:cNvPr>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0" name="Rectangle 53">
            <a:extLst>
              <a:ext uri="{FF2B5EF4-FFF2-40B4-BE49-F238E27FC236}">
                <a16:creationId xmlns:a16="http://schemas.microsoft.com/office/drawing/2014/main" id="{16347496-3B7A-A39B-B855-B29DC23C7CA9}"/>
              </a:ext>
            </a:extLst>
          </p:cNvPr>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服务器</a:t>
            </a:r>
          </a:p>
        </p:txBody>
      </p:sp>
      <p:pic>
        <p:nvPicPr>
          <p:cNvPr id="21" name="Picture 134" descr="jisuanji">
            <a:extLst>
              <a:ext uri="{FF2B5EF4-FFF2-40B4-BE49-F238E27FC236}">
                <a16:creationId xmlns:a16="http://schemas.microsoft.com/office/drawing/2014/main" id="{319118E9-AB44-9C8B-7276-381B1F90632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34" descr="jisuanji">
            <a:extLst>
              <a:ext uri="{FF2B5EF4-FFF2-40B4-BE49-F238E27FC236}">
                <a16:creationId xmlns:a16="http://schemas.microsoft.com/office/drawing/2014/main" id="{8EBA623E-F9D6-FFC3-1F4A-60AD0D3DDC6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46">
            <a:extLst>
              <a:ext uri="{FF2B5EF4-FFF2-40B4-BE49-F238E27FC236}">
                <a16:creationId xmlns:a16="http://schemas.microsoft.com/office/drawing/2014/main" id="{BF8A133E-6F15-D6F9-AEC8-D1678F9BBE1A}"/>
              </a:ext>
            </a:extLst>
          </p:cNvPr>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sp>
        <p:nvSpPr>
          <p:cNvPr id="24" name="Rectangle 47">
            <a:extLst>
              <a:ext uri="{FF2B5EF4-FFF2-40B4-BE49-F238E27FC236}">
                <a16:creationId xmlns:a16="http://schemas.microsoft.com/office/drawing/2014/main" id="{701611A5-CBAE-29B9-32F8-2BBBF009762D}"/>
              </a:ext>
            </a:extLst>
          </p:cNvPr>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nvGrpSpPr>
          <p:cNvPr id="25" name="Group 2">
            <a:extLst>
              <a:ext uri="{FF2B5EF4-FFF2-40B4-BE49-F238E27FC236}">
                <a16:creationId xmlns:a16="http://schemas.microsoft.com/office/drawing/2014/main" id="{687628D2-55B3-F9FB-E7C3-20D0576B3A36}"/>
              </a:ext>
            </a:extLst>
          </p:cNvPr>
          <p:cNvGrpSpPr>
            <a:grpSpLocks/>
          </p:cNvGrpSpPr>
          <p:nvPr/>
        </p:nvGrpSpPr>
        <p:grpSpPr bwMode="auto">
          <a:xfrm>
            <a:off x="3384905" y="1795968"/>
            <a:ext cx="2321296" cy="2521657"/>
            <a:chOff x="1474" y="1888"/>
            <a:chExt cx="2412" cy="2432"/>
          </a:xfrm>
        </p:grpSpPr>
        <p:sp>
          <p:nvSpPr>
            <p:cNvPr id="26" name="Line 3">
              <a:extLst>
                <a:ext uri="{FF2B5EF4-FFF2-40B4-BE49-F238E27FC236}">
                  <a16:creationId xmlns:a16="http://schemas.microsoft.com/office/drawing/2014/main" id="{00BFF1B2-0E6D-EE62-03DC-7A5C99D8E8DF}"/>
                </a:ext>
              </a:extLst>
            </p:cNvPr>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27" name="Line 4">
              <a:extLst>
                <a:ext uri="{FF2B5EF4-FFF2-40B4-BE49-F238E27FC236}">
                  <a16:creationId xmlns:a16="http://schemas.microsoft.com/office/drawing/2014/main" id="{C50ACB9E-231F-28C4-58E9-E03762B54949}"/>
                </a:ext>
              </a:extLst>
            </p:cNvPr>
            <p:cNvSpPr>
              <a:spLocks noChangeShapeType="1"/>
            </p:cNvSpPr>
            <p:nvPr/>
          </p:nvSpPr>
          <p:spPr bwMode="auto">
            <a:xfrm>
              <a:off x="3886" y="2409"/>
              <a:ext cx="0" cy="1911"/>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29" name="Group 43">
            <a:extLst>
              <a:ext uri="{FF2B5EF4-FFF2-40B4-BE49-F238E27FC236}">
                <a16:creationId xmlns:a16="http://schemas.microsoft.com/office/drawing/2014/main" id="{2A47825E-8914-630B-58C7-B7E174762D77}"/>
              </a:ext>
            </a:extLst>
          </p:cNvPr>
          <p:cNvGrpSpPr>
            <a:grpSpLocks/>
          </p:cNvGrpSpPr>
          <p:nvPr/>
        </p:nvGrpSpPr>
        <p:grpSpPr bwMode="auto">
          <a:xfrm>
            <a:off x="6121453" y="1287082"/>
            <a:ext cx="750733" cy="997731"/>
            <a:chOff x="4695" y="867"/>
            <a:chExt cx="848" cy="1127"/>
          </a:xfrm>
        </p:grpSpPr>
        <p:sp>
          <p:nvSpPr>
            <p:cNvPr id="30" name="Freeform 44">
              <a:extLst>
                <a:ext uri="{FF2B5EF4-FFF2-40B4-BE49-F238E27FC236}">
                  <a16:creationId xmlns:a16="http://schemas.microsoft.com/office/drawing/2014/main" id="{1029CD08-312C-538C-63FB-3E4A2B0F40CE}"/>
                </a:ext>
              </a:extLst>
            </p:cNvPr>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31" name="Rectangle 45">
              <a:extLst>
                <a:ext uri="{FF2B5EF4-FFF2-40B4-BE49-F238E27FC236}">
                  <a16:creationId xmlns:a16="http://schemas.microsoft.com/office/drawing/2014/main" id="{2A36837F-8468-D2F5-5C98-8D4818399E01}"/>
                </a:ext>
              </a:extLst>
            </p:cNvPr>
            <p:cNvSpPr>
              <a:spLocks noChangeArrowheads="1"/>
            </p:cNvSpPr>
            <p:nvPr/>
          </p:nvSpPr>
          <p:spPr bwMode="auto">
            <a:xfrm>
              <a:off x="5047" y="1120"/>
              <a:ext cx="496" cy="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通知</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应用</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进程</a:t>
              </a:r>
            </a:p>
          </p:txBody>
        </p:sp>
      </p:grpSp>
      <p:grpSp>
        <p:nvGrpSpPr>
          <p:cNvPr id="32" name="组合 31">
            <a:extLst>
              <a:ext uri="{FF2B5EF4-FFF2-40B4-BE49-F238E27FC236}">
                <a16:creationId xmlns:a16="http://schemas.microsoft.com/office/drawing/2014/main" id="{E4FB86C8-BADF-52D7-1B83-BF8C79AFD4F7}"/>
              </a:ext>
            </a:extLst>
          </p:cNvPr>
          <p:cNvGrpSpPr/>
          <p:nvPr/>
        </p:nvGrpSpPr>
        <p:grpSpPr>
          <a:xfrm>
            <a:off x="3382340" y="2532597"/>
            <a:ext cx="2400818" cy="704797"/>
            <a:chOff x="3382340" y="2532597"/>
            <a:chExt cx="2400818" cy="704797"/>
          </a:xfrm>
        </p:grpSpPr>
        <p:sp>
          <p:nvSpPr>
            <p:cNvPr id="33" name="AutoShape 5">
              <a:extLst>
                <a:ext uri="{FF2B5EF4-FFF2-40B4-BE49-F238E27FC236}">
                  <a16:creationId xmlns:a16="http://schemas.microsoft.com/office/drawing/2014/main" id="{F735A7DF-10F9-21B2-EC2D-BE5B6A47B94E}"/>
                </a:ext>
              </a:extLst>
            </p:cNvPr>
            <p:cNvSpPr>
              <a:spLocks noChangeArrowheads="1"/>
            </p:cNvSpPr>
            <p:nvPr/>
          </p:nvSpPr>
          <p:spPr bwMode="auto">
            <a:xfrm rot="20948448">
              <a:off x="4076414" y="2692051"/>
              <a:ext cx="377137" cy="131910"/>
            </a:xfrm>
            <a:prstGeom prst="leftArrow">
              <a:avLst>
                <a:gd name="adj1" fmla="val 53620"/>
                <a:gd name="adj2" fmla="val 119816"/>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34" name="Rectangle 16">
              <a:extLst>
                <a:ext uri="{FF2B5EF4-FFF2-40B4-BE49-F238E27FC236}">
                  <a16:creationId xmlns:a16="http://schemas.microsoft.com/office/drawing/2014/main" id="{02AEC8BA-A6A4-4687-A605-720E6324057A}"/>
                </a:ext>
              </a:extLst>
            </p:cNvPr>
            <p:cNvSpPr>
              <a:spLocks noChangeArrowheads="1"/>
            </p:cNvSpPr>
            <p:nvPr/>
          </p:nvSpPr>
          <p:spPr bwMode="auto">
            <a:xfrm rot="20943314" flipH="1">
              <a:off x="3452391" y="2786404"/>
              <a:ext cx="2330767" cy="22826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FIN = 1, 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w,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35" name="Rectangle 54">
              <a:extLst>
                <a:ext uri="{FF2B5EF4-FFF2-40B4-BE49-F238E27FC236}">
                  <a16:creationId xmlns:a16="http://schemas.microsoft.com/office/drawing/2014/main" id="{B6119B2C-E5FC-04D1-9F8E-5B8A6CCD0D2D}"/>
                </a:ext>
              </a:extLst>
            </p:cNvPr>
            <p:cNvSpPr>
              <a:spLocks noChangeArrowheads="1"/>
            </p:cNvSpPr>
            <p:nvPr/>
          </p:nvSpPr>
          <p:spPr bwMode="auto">
            <a:xfrm rot="20971112">
              <a:off x="4355353" y="2532597"/>
              <a:ext cx="695704" cy="243656"/>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36" name="Line 15">
              <a:extLst>
                <a:ext uri="{FF2B5EF4-FFF2-40B4-BE49-F238E27FC236}">
                  <a16:creationId xmlns:a16="http://schemas.microsoft.com/office/drawing/2014/main" id="{B698E1C4-CC9F-0FAC-4846-B88ECAB0A429}"/>
                </a:ext>
              </a:extLst>
            </p:cNvPr>
            <p:cNvSpPr>
              <a:spLocks noChangeShapeType="1"/>
            </p:cNvSpPr>
            <p:nvPr/>
          </p:nvSpPr>
          <p:spPr bwMode="auto">
            <a:xfrm flipH="1">
              <a:off x="3382340" y="2808025"/>
              <a:ext cx="2305317" cy="429369"/>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37" name="Group 11">
            <a:extLst>
              <a:ext uri="{FF2B5EF4-FFF2-40B4-BE49-F238E27FC236}">
                <a16:creationId xmlns:a16="http://schemas.microsoft.com/office/drawing/2014/main" id="{8872A63F-FA3F-61BC-B8B6-88DFDB9AD4BB}"/>
              </a:ext>
            </a:extLst>
          </p:cNvPr>
          <p:cNvGrpSpPr>
            <a:grpSpLocks/>
          </p:cNvGrpSpPr>
          <p:nvPr/>
        </p:nvGrpSpPr>
        <p:grpSpPr bwMode="auto">
          <a:xfrm>
            <a:off x="3401817" y="2285699"/>
            <a:ext cx="2305317" cy="429369"/>
            <a:chOff x="1623" y="1995"/>
            <a:chExt cx="2604" cy="485"/>
          </a:xfrm>
        </p:grpSpPr>
        <p:sp>
          <p:nvSpPr>
            <p:cNvPr id="38" name="Rectangle 12">
              <a:extLst>
                <a:ext uri="{FF2B5EF4-FFF2-40B4-BE49-F238E27FC236}">
                  <a16:creationId xmlns:a16="http://schemas.microsoft.com/office/drawing/2014/main" id="{2CEA7C9B-270C-93FD-62B8-368C69BFB5FF}"/>
                </a:ext>
              </a:extLst>
            </p:cNvPr>
            <p:cNvSpPr>
              <a:spLocks noChangeArrowheads="1"/>
            </p:cNvSpPr>
            <p:nvPr/>
          </p:nvSpPr>
          <p:spPr bwMode="auto">
            <a:xfrm rot="20990024" flipH="1">
              <a:off x="1826" y="2006"/>
              <a:ext cx="2041" cy="25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v,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39" name="Line 13">
              <a:extLst>
                <a:ext uri="{FF2B5EF4-FFF2-40B4-BE49-F238E27FC236}">
                  <a16:creationId xmlns:a16="http://schemas.microsoft.com/office/drawing/2014/main" id="{E328804F-CFB5-1A26-83F9-ACB9E601E9F4}"/>
                </a:ext>
              </a:extLst>
            </p:cNvPr>
            <p:cNvSpPr>
              <a:spLocks noChangeShapeType="1"/>
            </p:cNvSpPr>
            <p:nvPr/>
          </p:nvSpPr>
          <p:spPr bwMode="auto">
            <a:xfrm flipH="1">
              <a:off x="1623" y="1995"/>
              <a:ext cx="2604" cy="485"/>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40" name="组合 39">
            <a:extLst>
              <a:ext uri="{FF2B5EF4-FFF2-40B4-BE49-F238E27FC236}">
                <a16:creationId xmlns:a16="http://schemas.microsoft.com/office/drawing/2014/main" id="{E24292A0-2620-8BF6-5F8D-7A9682524797}"/>
              </a:ext>
            </a:extLst>
          </p:cNvPr>
          <p:cNvGrpSpPr/>
          <p:nvPr/>
        </p:nvGrpSpPr>
        <p:grpSpPr>
          <a:xfrm>
            <a:off x="6098436" y="1183502"/>
            <a:ext cx="925482" cy="1659820"/>
            <a:chOff x="6098436" y="1183502"/>
            <a:chExt cx="925482" cy="1659820"/>
          </a:xfrm>
        </p:grpSpPr>
        <p:sp>
          <p:nvSpPr>
            <p:cNvPr id="41" name="Freeform 40">
              <a:extLst>
                <a:ext uri="{FF2B5EF4-FFF2-40B4-BE49-F238E27FC236}">
                  <a16:creationId xmlns:a16="http://schemas.microsoft.com/office/drawing/2014/main" id="{BDEE18FF-3622-9263-9B22-12F0942A5E82}"/>
                </a:ext>
              </a:extLst>
            </p:cNvPr>
            <p:cNvSpPr>
              <a:spLocks/>
            </p:cNvSpPr>
            <p:nvPr/>
          </p:nvSpPr>
          <p:spPr bwMode="auto">
            <a:xfrm>
              <a:off x="6098436" y="1183502"/>
              <a:ext cx="860369" cy="1620096"/>
            </a:xfrm>
            <a:custGeom>
              <a:avLst/>
              <a:gdLst>
                <a:gd name="T0" fmla="*/ 0 w 868"/>
                <a:gd name="T1" fmla="*/ 0 h 1493"/>
                <a:gd name="T2" fmla="*/ 1408112 w 868"/>
                <a:gd name="T3" fmla="*/ 13621 h 1493"/>
                <a:gd name="T4" fmla="*/ 1408112 w 868"/>
                <a:gd name="T5" fmla="*/ 2905125 h 1493"/>
                <a:gd name="T6" fmla="*/ 201159 w 868"/>
                <a:gd name="T7" fmla="*/ 2905125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2" name="Rectangle 41">
              <a:extLst>
                <a:ext uri="{FF2B5EF4-FFF2-40B4-BE49-F238E27FC236}">
                  <a16:creationId xmlns:a16="http://schemas.microsoft.com/office/drawing/2014/main" id="{A41F13DB-FCD5-D123-9F09-D1261E1F3099}"/>
                </a:ext>
              </a:extLst>
            </p:cNvPr>
            <p:cNvSpPr>
              <a:spLocks noChangeArrowheads="1"/>
            </p:cNvSpPr>
            <p:nvPr/>
          </p:nvSpPr>
          <p:spPr bwMode="auto">
            <a:xfrm>
              <a:off x="6328214" y="2599666"/>
              <a:ext cx="69570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被动关闭</a:t>
              </a:r>
            </a:p>
          </p:txBody>
        </p:sp>
      </p:grpSp>
      <p:grpSp>
        <p:nvGrpSpPr>
          <p:cNvPr id="45" name="组合 44">
            <a:extLst>
              <a:ext uri="{FF2B5EF4-FFF2-40B4-BE49-F238E27FC236}">
                <a16:creationId xmlns:a16="http://schemas.microsoft.com/office/drawing/2014/main" id="{B53882B7-5374-9161-D2E5-356AE623D9AA}"/>
              </a:ext>
            </a:extLst>
          </p:cNvPr>
          <p:cNvGrpSpPr/>
          <p:nvPr/>
        </p:nvGrpSpPr>
        <p:grpSpPr>
          <a:xfrm>
            <a:off x="3393849" y="3270695"/>
            <a:ext cx="2343998" cy="429369"/>
            <a:chOff x="3393849" y="3270695"/>
            <a:chExt cx="2343998" cy="429369"/>
          </a:xfrm>
        </p:grpSpPr>
        <p:sp>
          <p:nvSpPr>
            <p:cNvPr id="43" name="Rectangle 7">
              <a:extLst>
                <a:ext uri="{FF2B5EF4-FFF2-40B4-BE49-F238E27FC236}">
                  <a16:creationId xmlns:a16="http://schemas.microsoft.com/office/drawing/2014/main" id="{ECA17476-63AF-735E-B810-06A2CABD8DC6}"/>
                </a:ext>
              </a:extLst>
            </p:cNvPr>
            <p:cNvSpPr>
              <a:spLocks noChangeArrowheads="1"/>
            </p:cNvSpPr>
            <p:nvPr/>
          </p:nvSpPr>
          <p:spPr bwMode="auto">
            <a:xfrm rot="610931">
              <a:off x="3641118" y="3294225"/>
              <a:ext cx="2096729"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u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w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p>
          </p:txBody>
        </p:sp>
        <p:sp>
          <p:nvSpPr>
            <p:cNvPr id="44" name="Line 14">
              <a:extLst>
                <a:ext uri="{FF2B5EF4-FFF2-40B4-BE49-F238E27FC236}">
                  <a16:creationId xmlns:a16="http://schemas.microsoft.com/office/drawing/2014/main" id="{1B2B5EBE-66C4-B4E6-0F83-061216994D08}"/>
                </a:ext>
              </a:extLst>
            </p:cNvPr>
            <p:cNvSpPr>
              <a:spLocks noChangeShapeType="1"/>
            </p:cNvSpPr>
            <p:nvPr/>
          </p:nvSpPr>
          <p:spPr bwMode="auto">
            <a:xfrm>
              <a:off x="3393849" y="3270695"/>
              <a:ext cx="2305317" cy="429369"/>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2" name="Rectangle 19">
            <a:extLst>
              <a:ext uri="{FF2B5EF4-FFF2-40B4-BE49-F238E27FC236}">
                <a16:creationId xmlns:a16="http://schemas.microsoft.com/office/drawing/2014/main" id="{384224F3-71A0-8BF2-F358-DD849129DE71}"/>
              </a:ext>
            </a:extLst>
          </p:cNvPr>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47" name="组合 46">
            <a:extLst>
              <a:ext uri="{FF2B5EF4-FFF2-40B4-BE49-F238E27FC236}">
                <a16:creationId xmlns:a16="http://schemas.microsoft.com/office/drawing/2014/main" id="{EED35F6F-7928-C821-9441-E8121530A9CE}"/>
              </a:ext>
            </a:extLst>
          </p:cNvPr>
          <p:cNvGrpSpPr/>
          <p:nvPr/>
        </p:nvGrpSpPr>
        <p:grpSpPr>
          <a:xfrm>
            <a:off x="2816590" y="1840394"/>
            <a:ext cx="674866" cy="866707"/>
            <a:chOff x="2816590" y="1840394"/>
            <a:chExt cx="674866" cy="866707"/>
          </a:xfrm>
        </p:grpSpPr>
        <p:sp>
          <p:nvSpPr>
            <p:cNvPr id="48" name="Rectangle 18">
              <a:extLst>
                <a:ext uri="{FF2B5EF4-FFF2-40B4-BE49-F238E27FC236}">
                  <a16:creationId xmlns:a16="http://schemas.microsoft.com/office/drawing/2014/main" id="{54172CAA-ACD0-2A4B-09FA-C215EC1E5E8C}"/>
                </a:ext>
              </a:extLst>
            </p:cNvPr>
            <p:cNvSpPr>
              <a:spLocks noChangeArrowheads="1"/>
            </p:cNvSpPr>
            <p:nvPr/>
          </p:nvSpPr>
          <p:spPr bwMode="auto">
            <a:xfrm>
              <a:off x="2860899" y="1840394"/>
              <a:ext cx="532065" cy="866707"/>
            </a:xfrm>
            <a:prstGeom prst="rect">
              <a:avLst/>
            </a:prstGeom>
            <a:solidFill>
              <a:srgbClr val="CC00CC"/>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9" name="Rectangle 23">
              <a:extLst>
                <a:ext uri="{FF2B5EF4-FFF2-40B4-BE49-F238E27FC236}">
                  <a16:creationId xmlns:a16="http://schemas.microsoft.com/office/drawing/2014/main" id="{6DD78B2A-4161-8505-A44C-1CCD82682F84}"/>
                </a:ext>
              </a:extLst>
            </p:cNvPr>
            <p:cNvSpPr>
              <a:spLocks noChangeArrowheads="1"/>
            </p:cNvSpPr>
            <p:nvPr/>
          </p:nvSpPr>
          <p:spPr bwMode="auto">
            <a:xfrm>
              <a:off x="2816590" y="2049137"/>
              <a:ext cx="674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FIN-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WAIT-1</a:t>
              </a:r>
            </a:p>
          </p:txBody>
        </p:sp>
      </p:grpSp>
      <p:grpSp>
        <p:nvGrpSpPr>
          <p:cNvPr id="50" name="组合 49">
            <a:extLst>
              <a:ext uri="{FF2B5EF4-FFF2-40B4-BE49-F238E27FC236}">
                <a16:creationId xmlns:a16="http://schemas.microsoft.com/office/drawing/2014/main" id="{49A9F45A-B33E-07C8-6EBA-1A2726EBDBE2}"/>
              </a:ext>
            </a:extLst>
          </p:cNvPr>
          <p:cNvGrpSpPr/>
          <p:nvPr/>
        </p:nvGrpSpPr>
        <p:grpSpPr>
          <a:xfrm>
            <a:off x="5664639" y="2291896"/>
            <a:ext cx="650820" cy="489570"/>
            <a:chOff x="5664639" y="2291896"/>
            <a:chExt cx="650820" cy="489570"/>
          </a:xfrm>
        </p:grpSpPr>
        <p:sp>
          <p:nvSpPr>
            <p:cNvPr id="51" name="Rectangle 24">
              <a:extLst>
                <a:ext uri="{FF2B5EF4-FFF2-40B4-BE49-F238E27FC236}">
                  <a16:creationId xmlns:a16="http://schemas.microsoft.com/office/drawing/2014/main" id="{09D1528D-2764-6064-B2C5-085DED90B015}"/>
                </a:ext>
              </a:extLst>
            </p:cNvPr>
            <p:cNvSpPr>
              <a:spLocks noChangeArrowheads="1"/>
            </p:cNvSpPr>
            <p:nvPr/>
          </p:nvSpPr>
          <p:spPr bwMode="auto">
            <a:xfrm>
              <a:off x="5697395" y="2291896"/>
              <a:ext cx="532950" cy="489570"/>
            </a:xfrm>
            <a:prstGeom prst="rect">
              <a:avLst/>
            </a:prstGeom>
            <a:solidFill>
              <a:schemeClr val="accent5">
                <a:lumMod val="75000"/>
              </a:schemeClr>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52" name="Rectangle 25">
              <a:extLst>
                <a:ext uri="{FF2B5EF4-FFF2-40B4-BE49-F238E27FC236}">
                  <a16:creationId xmlns:a16="http://schemas.microsoft.com/office/drawing/2014/main" id="{BA77AD86-559C-DF79-D5C1-4B2A95B9338B}"/>
                </a:ext>
              </a:extLst>
            </p:cNvPr>
            <p:cNvSpPr>
              <a:spLocks noChangeArrowheads="1"/>
            </p:cNvSpPr>
            <p:nvPr/>
          </p:nvSpPr>
          <p:spPr bwMode="auto">
            <a:xfrm>
              <a:off x="5664639" y="2354752"/>
              <a:ext cx="65082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CLOSE-</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WAIT</a:t>
              </a:r>
            </a:p>
          </p:txBody>
        </p:sp>
      </p:grpSp>
      <p:grpSp>
        <p:nvGrpSpPr>
          <p:cNvPr id="53" name="组合 52">
            <a:extLst>
              <a:ext uri="{FF2B5EF4-FFF2-40B4-BE49-F238E27FC236}">
                <a16:creationId xmlns:a16="http://schemas.microsoft.com/office/drawing/2014/main" id="{3881E493-4499-F183-D97A-CCB4366A5590}"/>
              </a:ext>
            </a:extLst>
          </p:cNvPr>
          <p:cNvGrpSpPr/>
          <p:nvPr/>
        </p:nvGrpSpPr>
        <p:grpSpPr>
          <a:xfrm>
            <a:off x="2809275" y="2747825"/>
            <a:ext cx="674866" cy="486029"/>
            <a:chOff x="2809275" y="2747825"/>
            <a:chExt cx="674866" cy="486029"/>
          </a:xfrm>
        </p:grpSpPr>
        <p:sp>
          <p:nvSpPr>
            <p:cNvPr id="54" name="Rectangle 26">
              <a:extLst>
                <a:ext uri="{FF2B5EF4-FFF2-40B4-BE49-F238E27FC236}">
                  <a16:creationId xmlns:a16="http://schemas.microsoft.com/office/drawing/2014/main" id="{F0AA4157-5767-415B-1B5B-DCA204B2EC7B}"/>
                </a:ext>
              </a:extLst>
            </p:cNvPr>
            <p:cNvSpPr>
              <a:spLocks noChangeArrowheads="1"/>
            </p:cNvSpPr>
            <p:nvPr/>
          </p:nvSpPr>
          <p:spPr bwMode="auto">
            <a:xfrm>
              <a:off x="2860899" y="2747825"/>
              <a:ext cx="532065" cy="486029"/>
            </a:xfrm>
            <a:prstGeom prst="rect">
              <a:avLst/>
            </a:prstGeom>
            <a:solidFill>
              <a:srgbClr val="0000FF"/>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55" name="Rectangle 27">
              <a:extLst>
                <a:ext uri="{FF2B5EF4-FFF2-40B4-BE49-F238E27FC236}">
                  <a16:creationId xmlns:a16="http://schemas.microsoft.com/office/drawing/2014/main" id="{CA375644-AD20-D837-9675-003C50CCCEBB}"/>
                </a:ext>
              </a:extLst>
            </p:cNvPr>
            <p:cNvSpPr>
              <a:spLocks noChangeArrowheads="1"/>
            </p:cNvSpPr>
            <p:nvPr/>
          </p:nvSpPr>
          <p:spPr bwMode="auto">
            <a:xfrm>
              <a:off x="2809275" y="2777925"/>
              <a:ext cx="674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FIN-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WAIT-2</a:t>
              </a:r>
            </a:p>
          </p:txBody>
        </p:sp>
      </p:grpSp>
      <p:grpSp>
        <p:nvGrpSpPr>
          <p:cNvPr id="56" name="组合 55">
            <a:extLst>
              <a:ext uri="{FF2B5EF4-FFF2-40B4-BE49-F238E27FC236}">
                <a16:creationId xmlns:a16="http://schemas.microsoft.com/office/drawing/2014/main" id="{AF662514-910F-8709-7DB4-351A6EDADD53}"/>
              </a:ext>
            </a:extLst>
          </p:cNvPr>
          <p:cNvGrpSpPr/>
          <p:nvPr/>
        </p:nvGrpSpPr>
        <p:grpSpPr>
          <a:xfrm>
            <a:off x="5697395" y="2825731"/>
            <a:ext cx="563962" cy="826869"/>
            <a:chOff x="5697395" y="2825731"/>
            <a:chExt cx="563962" cy="826869"/>
          </a:xfrm>
        </p:grpSpPr>
        <p:sp>
          <p:nvSpPr>
            <p:cNvPr id="57" name="Rectangle 28">
              <a:extLst>
                <a:ext uri="{FF2B5EF4-FFF2-40B4-BE49-F238E27FC236}">
                  <a16:creationId xmlns:a16="http://schemas.microsoft.com/office/drawing/2014/main" id="{12F291A6-A90F-6A5A-F42F-A780130BC6C7}"/>
                </a:ext>
              </a:extLst>
            </p:cNvPr>
            <p:cNvSpPr>
              <a:spLocks noChangeArrowheads="1"/>
            </p:cNvSpPr>
            <p:nvPr/>
          </p:nvSpPr>
          <p:spPr bwMode="auto">
            <a:xfrm>
              <a:off x="5697395" y="2825731"/>
              <a:ext cx="532950" cy="826869"/>
            </a:xfrm>
            <a:prstGeom prst="rect">
              <a:avLst/>
            </a:prstGeom>
            <a:solidFill>
              <a:srgbClr val="0070C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58" name="Rectangle 29">
              <a:extLst>
                <a:ext uri="{FF2B5EF4-FFF2-40B4-BE49-F238E27FC236}">
                  <a16:creationId xmlns:a16="http://schemas.microsoft.com/office/drawing/2014/main" id="{4955AA5D-26D0-1C02-5B2F-0F929735EB70}"/>
                </a:ext>
              </a:extLst>
            </p:cNvPr>
            <p:cNvSpPr>
              <a:spLocks noChangeArrowheads="1"/>
            </p:cNvSpPr>
            <p:nvPr/>
          </p:nvSpPr>
          <p:spPr bwMode="auto">
            <a:xfrm>
              <a:off x="5698701" y="3060335"/>
              <a:ext cx="56265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LAST-</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ACK</a:t>
              </a:r>
            </a:p>
          </p:txBody>
        </p:sp>
      </p:grpSp>
      <p:sp>
        <p:nvSpPr>
          <p:cNvPr id="59" name="文本框 58">
            <a:extLst>
              <a:ext uri="{FF2B5EF4-FFF2-40B4-BE49-F238E27FC236}">
                <a16:creationId xmlns:a16="http://schemas.microsoft.com/office/drawing/2014/main" id="{CE21058E-55B0-9153-A357-2BA4D5A30881}"/>
              </a:ext>
            </a:extLst>
          </p:cNvPr>
          <p:cNvSpPr txBox="1"/>
          <p:nvPr/>
        </p:nvSpPr>
        <p:spPr>
          <a:xfrm>
            <a:off x="2012187" y="2120233"/>
            <a:ext cx="914708" cy="276999"/>
          </a:xfrm>
          <a:prstGeom prst="rect">
            <a:avLst/>
          </a:prstGeom>
        </p:spPr>
        <p:txBody>
          <a:bodyPr wrap="square">
            <a:spAutoFit/>
          </a:bodyPr>
          <a:lstStyle>
            <a:defPPr>
              <a:defRPr lang="zh-CN"/>
            </a:defPPr>
            <a:lvl1pPr algn="ctr">
              <a:defRPr sz="1200" b="1">
                <a:solidFill>
                  <a:srgbClr val="0000FF"/>
                </a:solidFill>
                <a:latin typeface="微软雅黑" panose="020B0503020204020204" pitchFamily="34" charset="-122"/>
                <a:ea typeface="微软雅黑" panose="020B0503020204020204" pitchFamily="34" charset="-122"/>
              </a:defRPr>
            </a:lvl1pPr>
          </a:lstStyle>
          <a:p>
            <a:pPr algn="r"/>
            <a:r>
              <a:rPr lang="zh-CN" altLang="en-US" dirty="0"/>
              <a:t>终止等待</a:t>
            </a:r>
            <a:r>
              <a:rPr lang="en-US" altLang="zh-CN" dirty="0"/>
              <a:t>1</a:t>
            </a:r>
            <a:endParaRPr lang="zh-CN" altLang="en-US" dirty="0"/>
          </a:p>
        </p:txBody>
      </p:sp>
      <p:sp>
        <p:nvSpPr>
          <p:cNvPr id="60" name="文本框 59">
            <a:extLst>
              <a:ext uri="{FF2B5EF4-FFF2-40B4-BE49-F238E27FC236}">
                <a16:creationId xmlns:a16="http://schemas.microsoft.com/office/drawing/2014/main" id="{798938B4-5AF8-7E89-C397-CF7DA7008587}"/>
              </a:ext>
            </a:extLst>
          </p:cNvPr>
          <p:cNvSpPr txBox="1"/>
          <p:nvPr/>
        </p:nvSpPr>
        <p:spPr>
          <a:xfrm>
            <a:off x="6161099" y="2352183"/>
            <a:ext cx="914708" cy="276999"/>
          </a:xfrm>
          <a:prstGeom prst="rect">
            <a:avLst/>
          </a:prstGeom>
        </p:spPr>
        <p:txBody>
          <a:bodyPr wrap="square">
            <a:spAutoFit/>
          </a:bodyPr>
          <a:lstStyle>
            <a:defPPr>
              <a:defRPr lang="zh-CN"/>
            </a:defPPr>
            <a:lvl1pPr algn="ctr">
              <a:defRPr sz="1200" b="1">
                <a:solidFill>
                  <a:srgbClr val="0000FF"/>
                </a:solidFill>
                <a:latin typeface="微软雅黑" panose="020B0503020204020204" pitchFamily="34" charset="-122"/>
                <a:ea typeface="微软雅黑" panose="020B0503020204020204" pitchFamily="34" charset="-122"/>
              </a:defRPr>
            </a:lvl1pPr>
          </a:lstStyle>
          <a:p>
            <a:pPr algn="l"/>
            <a:r>
              <a:rPr lang="zh-CN" altLang="en-US" dirty="0"/>
              <a:t>关闭等待</a:t>
            </a:r>
          </a:p>
        </p:txBody>
      </p:sp>
      <p:sp>
        <p:nvSpPr>
          <p:cNvPr id="61" name="文本框 60">
            <a:extLst>
              <a:ext uri="{FF2B5EF4-FFF2-40B4-BE49-F238E27FC236}">
                <a16:creationId xmlns:a16="http://schemas.microsoft.com/office/drawing/2014/main" id="{4BD62FC7-5C57-24C3-D2B1-BC3C7656836E}"/>
              </a:ext>
            </a:extLst>
          </p:cNvPr>
          <p:cNvSpPr txBox="1"/>
          <p:nvPr/>
        </p:nvSpPr>
        <p:spPr>
          <a:xfrm>
            <a:off x="2001006" y="2838197"/>
            <a:ext cx="914708" cy="276999"/>
          </a:xfrm>
          <a:prstGeom prst="rect">
            <a:avLst/>
          </a:prstGeom>
        </p:spPr>
        <p:txBody>
          <a:bodyPr wrap="square">
            <a:spAutoFit/>
          </a:bodyPr>
          <a:lstStyle>
            <a:defPPr>
              <a:defRPr lang="zh-CN"/>
            </a:defPPr>
            <a:lvl1pPr algn="ctr">
              <a:defRPr sz="1200" b="1">
                <a:solidFill>
                  <a:srgbClr val="0000FF"/>
                </a:solidFill>
                <a:latin typeface="微软雅黑" panose="020B0503020204020204" pitchFamily="34" charset="-122"/>
                <a:ea typeface="微软雅黑" panose="020B0503020204020204" pitchFamily="34" charset="-122"/>
              </a:defRPr>
            </a:lvl1pPr>
          </a:lstStyle>
          <a:p>
            <a:pPr algn="r"/>
            <a:r>
              <a:rPr lang="zh-CN" altLang="en-US" dirty="0"/>
              <a:t>终止等待</a:t>
            </a:r>
            <a:r>
              <a:rPr lang="en-US" altLang="zh-CN" dirty="0"/>
              <a:t>2</a:t>
            </a:r>
            <a:endParaRPr lang="zh-CN" altLang="en-US" dirty="0"/>
          </a:p>
        </p:txBody>
      </p:sp>
      <p:sp>
        <p:nvSpPr>
          <p:cNvPr id="63" name="文本框 62">
            <a:extLst>
              <a:ext uri="{FF2B5EF4-FFF2-40B4-BE49-F238E27FC236}">
                <a16:creationId xmlns:a16="http://schemas.microsoft.com/office/drawing/2014/main" id="{E2CC2160-CB87-F698-D4C0-AEE671B17DB6}"/>
              </a:ext>
            </a:extLst>
          </p:cNvPr>
          <p:cNvSpPr txBox="1"/>
          <p:nvPr/>
        </p:nvSpPr>
        <p:spPr>
          <a:xfrm>
            <a:off x="6145667" y="3095271"/>
            <a:ext cx="901314" cy="276999"/>
          </a:xfrm>
          <a:prstGeom prst="rect">
            <a:avLst/>
          </a:prstGeom>
        </p:spPr>
        <p:txBody>
          <a:bodyPr wrap="square">
            <a:spAutoFit/>
          </a:bodyPr>
          <a:lstStyle>
            <a:defPPr>
              <a:defRPr lang="zh-CN"/>
            </a:defPPr>
            <a:lvl1pPr>
              <a:defRPr sz="1200" b="1">
                <a:solidFill>
                  <a:srgbClr val="0000FF"/>
                </a:solidFill>
                <a:latin typeface="微软雅黑" panose="020B0503020204020204" pitchFamily="34" charset="-122"/>
                <a:ea typeface="微软雅黑" panose="020B0503020204020204" pitchFamily="34" charset="-122"/>
              </a:defRPr>
            </a:lvl1pPr>
          </a:lstStyle>
          <a:p>
            <a:r>
              <a:rPr lang="zh-CN" altLang="en-US" dirty="0"/>
              <a:t>最后确认</a:t>
            </a:r>
          </a:p>
        </p:txBody>
      </p:sp>
      <p:grpSp>
        <p:nvGrpSpPr>
          <p:cNvPr id="62" name="Group 30">
            <a:extLst>
              <a:ext uri="{FF2B5EF4-FFF2-40B4-BE49-F238E27FC236}">
                <a16:creationId xmlns:a16="http://schemas.microsoft.com/office/drawing/2014/main" id="{DBB01EBB-9DD2-4B51-84DC-084F3F4077F3}"/>
              </a:ext>
            </a:extLst>
          </p:cNvPr>
          <p:cNvGrpSpPr>
            <a:grpSpLocks/>
          </p:cNvGrpSpPr>
          <p:nvPr/>
        </p:nvGrpSpPr>
        <p:grpSpPr bwMode="auto">
          <a:xfrm>
            <a:off x="2099547" y="3263852"/>
            <a:ext cx="1324404" cy="794112"/>
            <a:chOff x="152" y="3081"/>
            <a:chExt cx="1496" cy="897"/>
          </a:xfrm>
        </p:grpSpPr>
        <p:sp>
          <p:nvSpPr>
            <p:cNvPr id="64" name="Rectangle 31">
              <a:extLst>
                <a:ext uri="{FF2B5EF4-FFF2-40B4-BE49-F238E27FC236}">
                  <a16:creationId xmlns:a16="http://schemas.microsoft.com/office/drawing/2014/main" id="{81B36594-14F8-D4E7-2A6B-F8F27E691111}"/>
                </a:ext>
              </a:extLst>
            </p:cNvPr>
            <p:cNvSpPr>
              <a:spLocks noChangeArrowheads="1"/>
            </p:cNvSpPr>
            <p:nvPr/>
          </p:nvSpPr>
          <p:spPr bwMode="auto">
            <a:xfrm>
              <a:off x="152" y="3081"/>
              <a:ext cx="943"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等待 </a:t>
              </a: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2MSL</a:t>
              </a:r>
            </a:p>
          </p:txBody>
        </p:sp>
        <p:sp>
          <p:nvSpPr>
            <p:cNvPr id="65" name="Rectangle 32">
              <a:extLst>
                <a:ext uri="{FF2B5EF4-FFF2-40B4-BE49-F238E27FC236}">
                  <a16:creationId xmlns:a16="http://schemas.microsoft.com/office/drawing/2014/main" id="{8E7ECDC7-AD11-B459-C7DB-75AD56B0200D}"/>
                </a:ext>
              </a:extLst>
            </p:cNvPr>
            <p:cNvSpPr>
              <a:spLocks noChangeArrowheads="1"/>
            </p:cNvSpPr>
            <p:nvPr/>
          </p:nvSpPr>
          <p:spPr bwMode="auto">
            <a:xfrm>
              <a:off x="1012" y="3097"/>
              <a:ext cx="601" cy="779"/>
            </a:xfrm>
            <a:prstGeom prst="rect">
              <a:avLst/>
            </a:prstGeom>
            <a:solidFill>
              <a:srgbClr val="7030A0"/>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66" name="Rectangle 33">
              <a:extLst>
                <a:ext uri="{FF2B5EF4-FFF2-40B4-BE49-F238E27FC236}">
                  <a16:creationId xmlns:a16="http://schemas.microsoft.com/office/drawing/2014/main" id="{4916DB97-1F9A-6015-5A85-A614DBC127B7}"/>
                </a:ext>
              </a:extLst>
            </p:cNvPr>
            <p:cNvSpPr>
              <a:spLocks noChangeArrowheads="1"/>
            </p:cNvSpPr>
            <p:nvPr/>
          </p:nvSpPr>
          <p:spPr bwMode="auto">
            <a:xfrm>
              <a:off x="1007" y="3292"/>
              <a:ext cx="641" cy="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TIME-</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WAIT</a:t>
              </a:r>
            </a:p>
          </p:txBody>
        </p:sp>
        <p:sp>
          <p:nvSpPr>
            <p:cNvPr id="67" name="Freeform 34">
              <a:extLst>
                <a:ext uri="{FF2B5EF4-FFF2-40B4-BE49-F238E27FC236}">
                  <a16:creationId xmlns:a16="http://schemas.microsoft.com/office/drawing/2014/main" id="{893202BE-C06F-579E-C8EE-2116415A5A78}"/>
                </a:ext>
              </a:extLst>
            </p:cNvPr>
            <p:cNvSpPr>
              <a:spLocks/>
            </p:cNvSpPr>
            <p:nvPr/>
          </p:nvSpPr>
          <p:spPr bwMode="auto">
            <a:xfrm>
              <a:off x="185" y="3081"/>
              <a:ext cx="819" cy="799"/>
            </a:xfrm>
            <a:custGeom>
              <a:avLst/>
              <a:gdLst>
                <a:gd name="T0" fmla="*/ 749 w 635"/>
                <a:gd name="T1" fmla="*/ 0 h 499"/>
                <a:gd name="T2" fmla="*/ 0 w 635"/>
                <a:gd name="T3" fmla="*/ 0 h 499"/>
                <a:gd name="T4" fmla="*/ 0 w 635"/>
                <a:gd name="T5" fmla="*/ 799 h 499"/>
                <a:gd name="T6" fmla="*/ 749 w 635"/>
                <a:gd name="T7" fmla="*/ 799 h 49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5" h="499">
                  <a:moveTo>
                    <a:pt x="635" y="0"/>
                  </a:moveTo>
                  <a:lnTo>
                    <a:pt x="0" y="0"/>
                  </a:lnTo>
                  <a:lnTo>
                    <a:pt x="0" y="499"/>
                  </a:lnTo>
                  <a:lnTo>
                    <a:pt x="635" y="499"/>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68" name="Text Box 35">
              <a:extLst>
                <a:ext uri="{FF2B5EF4-FFF2-40B4-BE49-F238E27FC236}">
                  <a16:creationId xmlns:a16="http://schemas.microsoft.com/office/drawing/2014/main" id="{7F2F39E7-09F9-35CD-39C3-75E5AEDE962A}"/>
                </a:ext>
              </a:extLst>
            </p:cNvPr>
            <p:cNvSpPr txBox="1">
              <a:spLocks noChangeArrowheads="1"/>
            </p:cNvSpPr>
            <p:nvPr/>
          </p:nvSpPr>
          <p:spPr bwMode="auto">
            <a:xfrm>
              <a:off x="265" y="3178"/>
              <a:ext cx="725" cy="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4000" i="0" u="none" strike="noStrike" kern="0" cap="none" spc="0" normalizeH="0" baseline="0" noProof="0" dirty="0">
                  <a:ln>
                    <a:noFill/>
                  </a:ln>
                  <a:solidFill>
                    <a:srgbClr val="0000FF"/>
                  </a:solidFill>
                  <a:effectLst/>
                  <a:uLnTx/>
                  <a:uFillTx/>
                  <a:latin typeface="微软雅黑" pitchFamily="34" charset="-122"/>
                  <a:ea typeface="微软雅黑" pitchFamily="34" charset="-122"/>
                  <a:sym typeface="Wingdings" pitchFamily="2" charset="2"/>
                </a:rPr>
                <a:t></a:t>
              </a:r>
            </a:p>
          </p:txBody>
        </p:sp>
      </p:grpSp>
      <p:grpSp>
        <p:nvGrpSpPr>
          <p:cNvPr id="70" name="组合 69">
            <a:extLst>
              <a:ext uri="{FF2B5EF4-FFF2-40B4-BE49-F238E27FC236}">
                <a16:creationId xmlns:a16="http://schemas.microsoft.com/office/drawing/2014/main" id="{5885D3DE-B513-8D4E-D691-A51548313541}"/>
              </a:ext>
            </a:extLst>
          </p:cNvPr>
          <p:cNvGrpSpPr/>
          <p:nvPr/>
        </p:nvGrpSpPr>
        <p:grpSpPr>
          <a:xfrm>
            <a:off x="2857404" y="3984586"/>
            <a:ext cx="541802" cy="294805"/>
            <a:chOff x="2857404" y="3984586"/>
            <a:chExt cx="541802" cy="294805"/>
          </a:xfrm>
        </p:grpSpPr>
        <p:sp>
          <p:nvSpPr>
            <p:cNvPr id="71" name="Rectangle 3">
              <a:extLst>
                <a:ext uri="{FF2B5EF4-FFF2-40B4-BE49-F238E27FC236}">
                  <a16:creationId xmlns:a16="http://schemas.microsoft.com/office/drawing/2014/main" id="{FB3D0213-5E5F-5F5C-03E0-545D471BE33B}"/>
                </a:ext>
              </a:extLst>
            </p:cNvPr>
            <p:cNvSpPr>
              <a:spLocks noChangeArrowheads="1"/>
            </p:cNvSpPr>
            <p:nvPr/>
          </p:nvSpPr>
          <p:spPr bwMode="auto">
            <a:xfrm>
              <a:off x="2860900" y="3984586"/>
              <a:ext cx="532064" cy="294805"/>
            </a:xfrm>
            <a:prstGeom prst="rect">
              <a:avLst/>
            </a:prstGeom>
            <a:solidFill>
              <a:srgbClr val="00FF99"/>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72" name="Text Box 4">
              <a:extLst>
                <a:ext uri="{FF2B5EF4-FFF2-40B4-BE49-F238E27FC236}">
                  <a16:creationId xmlns:a16="http://schemas.microsoft.com/office/drawing/2014/main" id="{E005856B-0152-BA3D-2FF4-9877C79A4333}"/>
                </a:ext>
              </a:extLst>
            </p:cNvPr>
            <p:cNvSpPr txBox="1">
              <a:spLocks noChangeArrowheads="1"/>
            </p:cNvSpPr>
            <p:nvPr/>
          </p:nvSpPr>
          <p:spPr bwMode="auto">
            <a:xfrm>
              <a:off x="2857404" y="4031507"/>
              <a:ext cx="541802" cy="187684"/>
            </a:xfrm>
            <a:prstGeom prst="rect">
              <a:avLst/>
            </a:prstGeom>
            <a:no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tabLst/>
                <a:defRPr/>
              </a:pPr>
              <a:r>
                <a:rPr kumimoji="1" lang="en-US" altLang="zh-CN" sz="1000" i="0" u="none" strike="noStrike" kern="0" cap="none" spc="0" normalizeH="0" baseline="0" noProof="0" dirty="0">
                  <a:ln>
                    <a:noFill/>
                  </a:ln>
                  <a:effectLst/>
                  <a:uLnTx/>
                  <a:uFillTx/>
                  <a:latin typeface="微软雅黑" pitchFamily="34" charset="-122"/>
                  <a:ea typeface="微软雅黑" pitchFamily="34" charset="-122"/>
                </a:rPr>
                <a:t>CLOSED</a:t>
              </a:r>
            </a:p>
          </p:txBody>
        </p:sp>
      </p:grpSp>
      <p:grpSp>
        <p:nvGrpSpPr>
          <p:cNvPr id="73" name="组合 72">
            <a:extLst>
              <a:ext uri="{FF2B5EF4-FFF2-40B4-BE49-F238E27FC236}">
                <a16:creationId xmlns:a16="http://schemas.microsoft.com/office/drawing/2014/main" id="{49BB8AD7-C3AD-E5BC-A155-60AEAF621478}"/>
              </a:ext>
            </a:extLst>
          </p:cNvPr>
          <p:cNvGrpSpPr/>
          <p:nvPr/>
        </p:nvGrpSpPr>
        <p:grpSpPr>
          <a:xfrm>
            <a:off x="5698171" y="3692967"/>
            <a:ext cx="541802" cy="294805"/>
            <a:chOff x="2857404" y="3984586"/>
            <a:chExt cx="541802" cy="294805"/>
          </a:xfrm>
        </p:grpSpPr>
        <p:sp>
          <p:nvSpPr>
            <p:cNvPr id="74" name="Rectangle 3">
              <a:extLst>
                <a:ext uri="{FF2B5EF4-FFF2-40B4-BE49-F238E27FC236}">
                  <a16:creationId xmlns:a16="http://schemas.microsoft.com/office/drawing/2014/main" id="{1E2F886C-7E08-6C1B-9419-CABFC39DDEC3}"/>
                </a:ext>
              </a:extLst>
            </p:cNvPr>
            <p:cNvSpPr>
              <a:spLocks noChangeArrowheads="1"/>
            </p:cNvSpPr>
            <p:nvPr/>
          </p:nvSpPr>
          <p:spPr bwMode="auto">
            <a:xfrm>
              <a:off x="2860900" y="3984586"/>
              <a:ext cx="532064" cy="294805"/>
            </a:xfrm>
            <a:prstGeom prst="rect">
              <a:avLst/>
            </a:prstGeom>
            <a:solidFill>
              <a:srgbClr val="00FF99"/>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75" name="Text Box 4">
              <a:extLst>
                <a:ext uri="{FF2B5EF4-FFF2-40B4-BE49-F238E27FC236}">
                  <a16:creationId xmlns:a16="http://schemas.microsoft.com/office/drawing/2014/main" id="{B798F913-8405-5FE5-028D-B733A58F057D}"/>
                </a:ext>
              </a:extLst>
            </p:cNvPr>
            <p:cNvSpPr txBox="1">
              <a:spLocks noChangeArrowheads="1"/>
            </p:cNvSpPr>
            <p:nvPr/>
          </p:nvSpPr>
          <p:spPr bwMode="auto">
            <a:xfrm>
              <a:off x="2857404" y="4031507"/>
              <a:ext cx="541802" cy="187684"/>
            </a:xfrm>
            <a:prstGeom prst="rect">
              <a:avLst/>
            </a:prstGeom>
            <a:no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tabLst/>
                <a:defRPr/>
              </a:pPr>
              <a:r>
                <a:rPr kumimoji="1" lang="en-US" altLang="zh-CN" sz="1000" i="0" u="none" strike="noStrike" kern="0" cap="none" spc="0" normalizeH="0" baseline="0" noProof="0" dirty="0">
                  <a:ln>
                    <a:noFill/>
                  </a:ln>
                  <a:effectLst/>
                  <a:uLnTx/>
                  <a:uFillTx/>
                  <a:latin typeface="微软雅黑" pitchFamily="34" charset="-122"/>
                  <a:ea typeface="微软雅黑" pitchFamily="34" charset="-122"/>
                </a:rPr>
                <a:t>CLOSED</a:t>
              </a:r>
            </a:p>
          </p:txBody>
        </p:sp>
      </p:grpSp>
      <p:sp>
        <p:nvSpPr>
          <p:cNvPr id="69" name="Text Box 155">
            <a:extLst>
              <a:ext uri="{FF2B5EF4-FFF2-40B4-BE49-F238E27FC236}">
                <a16:creationId xmlns:a16="http://schemas.microsoft.com/office/drawing/2014/main" id="{C74CC143-270E-C523-33D3-D7526233CC1C}"/>
              </a:ext>
            </a:extLst>
          </p:cNvPr>
          <p:cNvSpPr txBox="1">
            <a:spLocks noChangeArrowheads="1"/>
          </p:cNvSpPr>
          <p:nvPr/>
        </p:nvSpPr>
        <p:spPr bwMode="auto">
          <a:xfrm>
            <a:off x="3663449" y="4070328"/>
            <a:ext cx="3194479" cy="615168"/>
          </a:xfrm>
          <a:prstGeom prst="rect">
            <a:avLst/>
          </a:prstGeom>
          <a:solidFill>
            <a:srgbClr val="FFFF99"/>
          </a:solidFill>
          <a:ln w="9525">
            <a:solidFill>
              <a:schemeClr val="tx1"/>
            </a:solidFill>
            <a:miter lim="800000"/>
            <a:headEnd/>
            <a:tailEnd/>
          </a:ln>
          <a:effectLst/>
        </p:spPr>
        <p:txBody>
          <a:bodyPr wrap="square">
            <a:spAutoFit/>
          </a:bodyPr>
          <a:lstStyle/>
          <a:p>
            <a:pPr>
              <a:lnSpc>
                <a:spcPct val="110000"/>
              </a:lnSpc>
            </a:pPr>
            <a:r>
              <a:rPr lang="en-US" altLang="zh-CN" sz="1600" b="1" dirty="0">
                <a:latin typeface="微软雅黑" pitchFamily="34" charset="-122"/>
                <a:ea typeface="微软雅黑" pitchFamily="34" charset="-122"/>
              </a:rPr>
              <a:t>A</a:t>
            </a:r>
            <a:r>
              <a:rPr lang="zh-CN" altLang="en-US" sz="1600" b="1" dirty="0">
                <a:latin typeface="微软雅黑" pitchFamily="34" charset="-122"/>
                <a:ea typeface="微软雅黑" pitchFamily="34" charset="-122"/>
              </a:rPr>
              <a:t>，</a:t>
            </a:r>
            <a:r>
              <a:rPr lang="en-US" altLang="zh-CN" sz="1600" b="1" dirty="0">
                <a:latin typeface="微软雅黑" pitchFamily="34" charset="-122"/>
                <a:ea typeface="微软雅黑" pitchFamily="34" charset="-122"/>
              </a:rPr>
              <a:t>B</a:t>
            </a:r>
            <a:r>
              <a:rPr lang="zh-CN" altLang="en-US" sz="1600" b="1" dirty="0">
                <a:latin typeface="微软雅黑" pitchFamily="34" charset="-122"/>
                <a:ea typeface="微软雅黑" pitchFamily="34" charset="-122"/>
              </a:rPr>
              <a:t>进入关闭状态后撤销相应的传输控制块</a:t>
            </a:r>
            <a:r>
              <a:rPr lang="en-US" altLang="zh-CN" sz="1600" b="1" dirty="0">
                <a:latin typeface="微软雅黑" pitchFamily="34" charset="-122"/>
                <a:ea typeface="微软雅黑" pitchFamily="34" charset="-122"/>
              </a:rPr>
              <a:t>TCB</a:t>
            </a:r>
            <a:r>
              <a:rPr lang="zh-CN" altLang="en-US" sz="1600" b="1" dirty="0">
                <a:latin typeface="微软雅黑" pitchFamily="34" charset="-122"/>
                <a:ea typeface="微软雅黑" pitchFamily="34" charset="-122"/>
              </a:rPr>
              <a:t>，结束这次连接。</a:t>
            </a:r>
          </a:p>
        </p:txBody>
      </p:sp>
    </p:spTree>
    <p:extLst>
      <p:ext uri="{BB962C8B-B14F-4D97-AF65-F5344CB8AC3E}">
        <p14:creationId xmlns:p14="http://schemas.microsoft.com/office/powerpoint/2010/main" val="2979675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fade">
                                      <p:cBhvr>
                                        <p:cTn id="7" dur="1000"/>
                                        <p:tgtEl>
                                          <p:spTgt spid="69"/>
                                        </p:tgtEl>
                                      </p:cBhvr>
                                    </p:animEffect>
                                    <p:anim calcmode="lin" valueType="num">
                                      <p:cBhvr>
                                        <p:cTn id="8" dur="1000" fill="hold"/>
                                        <p:tgtEl>
                                          <p:spTgt spid="69"/>
                                        </p:tgtEl>
                                        <p:attrNameLst>
                                          <p:attrName>ppt_x</p:attrName>
                                        </p:attrNameLst>
                                      </p:cBhvr>
                                      <p:tavLst>
                                        <p:tav tm="0">
                                          <p:val>
                                            <p:strVal val="#ppt_x"/>
                                          </p:val>
                                        </p:tav>
                                        <p:tav tm="100000">
                                          <p:val>
                                            <p:strVal val="#ppt_x"/>
                                          </p:val>
                                        </p:tav>
                                      </p:tavLst>
                                    </p:anim>
                                    <p:anim calcmode="lin" valueType="num">
                                      <p:cBhvr>
                                        <p:cTn id="9" dur="1000" fill="hold"/>
                                        <p:tgtEl>
                                          <p:spTgt spid="6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ChangeArrowheads="1"/>
          </p:cNvSpPr>
          <p:nvPr/>
        </p:nvSpPr>
        <p:spPr bwMode="auto">
          <a:xfrm>
            <a:off x="545143" y="992269"/>
            <a:ext cx="8053711" cy="3433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第一</a:t>
            </a:r>
            <a:r>
              <a:rPr lang="zh-CN" altLang="en-US" sz="2000" b="1" dirty="0">
                <a:latin typeface="微软雅黑" pitchFamily="34" charset="-122"/>
                <a:ea typeface="微软雅黑" pitchFamily="34" charset="-122"/>
              </a:rPr>
              <a:t>，保证发送的</a:t>
            </a:r>
            <a:r>
              <a:rPr lang="zh-CN" altLang="en-US" sz="2000" b="1" dirty="0">
                <a:solidFill>
                  <a:srgbClr val="C00000"/>
                </a:solidFill>
                <a:latin typeface="微软雅黑" pitchFamily="34" charset="-122"/>
                <a:ea typeface="微软雅黑" pitchFamily="34" charset="-122"/>
              </a:rPr>
              <a:t>最后一个 </a:t>
            </a:r>
            <a:r>
              <a:rPr lang="en-US" altLang="zh-CN" sz="2000" b="1" dirty="0">
                <a:solidFill>
                  <a:srgbClr val="C00000"/>
                </a:solidFill>
                <a:latin typeface="微软雅黑" pitchFamily="34" charset="-122"/>
                <a:ea typeface="微软雅黑" pitchFamily="34" charset="-122"/>
              </a:rPr>
              <a:t>ACK </a:t>
            </a:r>
            <a:r>
              <a:rPr lang="zh-CN" altLang="en-US" sz="2000" b="1" dirty="0">
                <a:latin typeface="微软雅黑" pitchFamily="34" charset="-122"/>
                <a:ea typeface="微软雅黑" pitchFamily="34" charset="-122"/>
              </a:rPr>
              <a:t>报文段能够到达 </a:t>
            </a:r>
            <a:r>
              <a:rPr lang="en-US" altLang="zh-CN" sz="2000" b="1" dirty="0">
                <a:latin typeface="微软雅黑" pitchFamily="34" charset="-122"/>
                <a:ea typeface="微软雅黑" pitchFamily="34" charset="-122"/>
              </a:rPr>
              <a:t>B</a:t>
            </a:r>
            <a:r>
              <a:rPr lang="zh-CN" altLang="en-US" sz="2000" b="1" dirty="0">
                <a:latin typeface="微软雅黑" pitchFamily="34" charset="-122"/>
                <a:ea typeface="微软雅黑" pitchFamily="34" charset="-122"/>
              </a:rPr>
              <a:t>。若这个</a:t>
            </a:r>
            <a:r>
              <a:rPr lang="en-US" altLang="zh-CN" sz="2000" b="1" dirty="0">
                <a:latin typeface="微软雅黑" pitchFamily="34" charset="-122"/>
                <a:ea typeface="微软雅黑" pitchFamily="34" charset="-122"/>
              </a:rPr>
              <a:t>ACK</a:t>
            </a:r>
            <a:r>
              <a:rPr lang="zh-CN" altLang="en-US" sz="2000" b="1" dirty="0">
                <a:latin typeface="微软雅黑" pitchFamily="34" charset="-122"/>
                <a:ea typeface="微软雅黑" pitchFamily="34" charset="-122"/>
              </a:rPr>
              <a:t>报文段丢失。</a:t>
            </a:r>
            <a:r>
              <a:rPr lang="en-US" altLang="zh-CN" sz="2000" b="1" dirty="0">
                <a:latin typeface="微软雅黑" pitchFamily="34" charset="-122"/>
                <a:ea typeface="微软雅黑" pitchFamily="34" charset="-122"/>
              </a:rPr>
              <a:t>B</a:t>
            </a:r>
            <a:r>
              <a:rPr lang="zh-CN" altLang="en-US" sz="2000" b="1" dirty="0">
                <a:latin typeface="微软雅黑" pitchFamily="34" charset="-122"/>
                <a:ea typeface="微软雅黑" pitchFamily="34" charset="-122"/>
              </a:rPr>
              <a:t>会超时重传这个</a:t>
            </a:r>
            <a:r>
              <a:rPr lang="en-US" altLang="zh-CN" sz="2000" b="1" dirty="0">
                <a:latin typeface="微软雅黑" pitchFamily="34" charset="-122"/>
                <a:ea typeface="微软雅黑" pitchFamily="34" charset="-122"/>
              </a:rPr>
              <a:t>FIN + ACK</a:t>
            </a:r>
            <a:r>
              <a:rPr lang="zh-CN" altLang="en-US" sz="2000" b="1" dirty="0">
                <a:latin typeface="微软雅黑" pitchFamily="34" charset="-122"/>
                <a:ea typeface="微软雅黑" pitchFamily="34" charset="-122"/>
              </a:rPr>
              <a:t>报文段，而</a:t>
            </a:r>
            <a:r>
              <a:rPr lang="en-US" altLang="zh-CN" sz="2000" b="1" dirty="0">
                <a:latin typeface="微软雅黑" pitchFamily="34" charset="-122"/>
                <a:ea typeface="微软雅黑" pitchFamily="34" charset="-122"/>
              </a:rPr>
              <a:t>A</a:t>
            </a:r>
            <a:r>
              <a:rPr lang="zh-CN" altLang="en-US" sz="2000" b="1" dirty="0">
                <a:latin typeface="微软雅黑" pitchFamily="34" charset="-122"/>
                <a:ea typeface="微软雅黑" pitchFamily="34" charset="-122"/>
              </a:rPr>
              <a:t>就能在</a:t>
            </a:r>
            <a:r>
              <a:rPr lang="en-US" altLang="zh-CN" sz="2000" b="1" dirty="0">
                <a:latin typeface="微软雅黑" pitchFamily="34" charset="-122"/>
                <a:ea typeface="微软雅黑" pitchFamily="34" charset="-122"/>
              </a:rPr>
              <a:t>2MSL</a:t>
            </a:r>
            <a:r>
              <a:rPr lang="zh-CN" altLang="en-US" sz="2000" b="1" dirty="0">
                <a:latin typeface="微软雅黑" pitchFamily="34" charset="-122"/>
                <a:ea typeface="微软雅黑" pitchFamily="34" charset="-122"/>
              </a:rPr>
              <a:t>时间内收到这个重传的</a:t>
            </a:r>
            <a:r>
              <a:rPr lang="en-US" altLang="zh-CN" sz="2000" b="1" dirty="0">
                <a:latin typeface="微软雅黑" pitchFamily="34" charset="-122"/>
                <a:ea typeface="微软雅黑" pitchFamily="34" charset="-122"/>
              </a:rPr>
              <a:t>FIN + ACK</a:t>
            </a:r>
            <a:r>
              <a:rPr lang="zh-CN" altLang="en-US" sz="2000" b="1" dirty="0">
                <a:latin typeface="微软雅黑" pitchFamily="34" charset="-122"/>
                <a:ea typeface="微软雅黑" pitchFamily="34" charset="-122"/>
              </a:rPr>
              <a:t>报文段。接着</a:t>
            </a:r>
            <a:r>
              <a:rPr lang="en-US" altLang="zh-CN" sz="2000" b="1" dirty="0">
                <a:latin typeface="微软雅黑" pitchFamily="34" charset="-122"/>
                <a:ea typeface="微软雅黑" pitchFamily="34" charset="-122"/>
              </a:rPr>
              <a:t>A</a:t>
            </a:r>
            <a:r>
              <a:rPr lang="zh-CN" altLang="en-US" sz="2000" b="1" dirty="0">
                <a:latin typeface="微软雅黑" pitchFamily="34" charset="-122"/>
                <a:ea typeface="微软雅黑" pitchFamily="34" charset="-122"/>
              </a:rPr>
              <a:t>重传一次确认，重新启动</a:t>
            </a:r>
            <a:r>
              <a:rPr lang="en-US" altLang="zh-CN" sz="2000" b="1" dirty="0">
                <a:latin typeface="微软雅黑" pitchFamily="34" charset="-122"/>
                <a:ea typeface="微软雅黑" pitchFamily="34" charset="-122"/>
              </a:rPr>
              <a:t>2MSL</a:t>
            </a:r>
            <a:r>
              <a:rPr lang="zh-CN" altLang="en-US" sz="2000" b="1" dirty="0">
                <a:latin typeface="微软雅黑" pitchFamily="34" charset="-122"/>
                <a:ea typeface="微软雅黑" pitchFamily="34" charset="-122"/>
              </a:rPr>
              <a:t>计时器。</a:t>
            </a:r>
            <a:r>
              <a:rPr lang="en-US" altLang="zh-CN" sz="2000" b="1" dirty="0">
                <a:latin typeface="微软雅黑" pitchFamily="34" charset="-122"/>
                <a:ea typeface="微软雅黑" pitchFamily="34" charset="-122"/>
              </a:rPr>
              <a:t> </a:t>
            </a:r>
            <a:endParaRPr lang="zh-CN" altLang="en-US" sz="2000" b="1" dirty="0">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第二</a:t>
            </a:r>
            <a:r>
              <a:rPr lang="zh-CN" altLang="en-US" sz="2000" b="1" dirty="0">
                <a:latin typeface="微软雅黑" pitchFamily="34" charset="-122"/>
                <a:ea typeface="微软雅黑" pitchFamily="34" charset="-122"/>
              </a:rPr>
              <a:t>，防止“</a:t>
            </a:r>
            <a:r>
              <a:rPr lang="zh-CN" altLang="en-US" sz="2000" b="1" dirty="0">
                <a:solidFill>
                  <a:srgbClr val="C00000"/>
                </a:solidFill>
                <a:latin typeface="微软雅黑" pitchFamily="34" charset="-122"/>
                <a:ea typeface="微软雅黑" pitchFamily="34" charset="-122"/>
              </a:rPr>
              <a:t>已失效的连接请求报文段</a:t>
            </a:r>
            <a:r>
              <a:rPr lang="zh-CN" altLang="en-US" sz="2000" b="1" dirty="0">
                <a:latin typeface="微软雅黑" pitchFamily="34" charset="-122"/>
                <a:ea typeface="微软雅黑" pitchFamily="34" charset="-122"/>
              </a:rPr>
              <a:t>”出现在本连接中。</a:t>
            </a:r>
            <a:r>
              <a:rPr lang="en-US" altLang="zh-CN" sz="2000" b="1" dirty="0">
                <a:latin typeface="微软雅黑" pitchFamily="34" charset="-122"/>
                <a:ea typeface="微软雅黑" pitchFamily="34" charset="-122"/>
              </a:rPr>
              <a:t>A</a:t>
            </a:r>
            <a:r>
              <a:rPr lang="zh-CN" altLang="en-US" sz="2000" b="1" dirty="0">
                <a:latin typeface="微软雅黑" pitchFamily="34" charset="-122"/>
                <a:ea typeface="微软雅黑" pitchFamily="34" charset="-122"/>
              </a:rPr>
              <a:t>在发送完最后一个</a:t>
            </a:r>
            <a:r>
              <a:rPr lang="en-US" altLang="zh-CN" sz="2000" b="1" dirty="0">
                <a:latin typeface="微软雅黑" pitchFamily="34" charset="-122"/>
                <a:ea typeface="微软雅黑" pitchFamily="34" charset="-122"/>
              </a:rPr>
              <a:t>ACK</a:t>
            </a:r>
            <a:r>
              <a:rPr lang="zh-CN" altLang="en-US" sz="2000" b="1" dirty="0">
                <a:latin typeface="微软雅黑" pitchFamily="34" charset="-122"/>
                <a:ea typeface="微软雅黑" pitchFamily="34" charset="-122"/>
              </a:rPr>
              <a:t>报文段后，再经过</a:t>
            </a:r>
            <a:r>
              <a:rPr lang="en-US" altLang="zh-CN" sz="2000" b="1" dirty="0">
                <a:latin typeface="微软雅黑" pitchFamily="34" charset="-122"/>
                <a:ea typeface="微软雅黑" pitchFamily="34" charset="-122"/>
              </a:rPr>
              <a:t>2MSL</a:t>
            </a:r>
            <a:r>
              <a:rPr lang="zh-CN" altLang="en-US" sz="2000" b="1" dirty="0">
                <a:latin typeface="微软雅黑" pitchFamily="34" charset="-122"/>
                <a:ea typeface="微软雅黑" pitchFamily="34" charset="-122"/>
              </a:rPr>
              <a:t>时间，就可以使本连接持续的时间内所产生的所有报文段都从网络中消失。这样就可以使下一个新的连接中不会出现这种旧的连接请求报文段。</a:t>
            </a:r>
          </a:p>
        </p:txBody>
      </p:sp>
      <p:sp>
        <p:nvSpPr>
          <p:cNvPr id="5" name="AutoShape 5"/>
          <p:cNvSpPr>
            <a:spLocks noChangeArrowheads="1"/>
          </p:cNvSpPr>
          <p:nvPr/>
        </p:nvSpPr>
        <p:spPr bwMode="auto">
          <a:xfrm>
            <a:off x="556963" y="62297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1372844" y="589768"/>
            <a:ext cx="64170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为什么</a:t>
            </a:r>
            <a:r>
              <a:rPr lang="en-US" altLang="zh-CN" sz="2000" b="1" dirty="0">
                <a:solidFill>
                  <a:schemeClr val="bg1"/>
                </a:solidFill>
                <a:latin typeface="微软雅黑" pitchFamily="34" charset="-122"/>
                <a:ea typeface="微软雅黑" pitchFamily="34" charset="-122"/>
              </a:rPr>
              <a:t>A</a:t>
            </a:r>
            <a:r>
              <a:rPr lang="zh-CN" altLang="en-US" sz="2000" b="1" dirty="0">
                <a:solidFill>
                  <a:schemeClr val="bg1"/>
                </a:solidFill>
                <a:latin typeface="微软雅黑" pitchFamily="34" charset="-122"/>
                <a:ea typeface="微软雅黑" pitchFamily="34" charset="-122"/>
              </a:rPr>
              <a:t>在</a:t>
            </a:r>
            <a:r>
              <a:rPr lang="en-US" altLang="zh-CN" sz="2000" b="1" dirty="0">
                <a:solidFill>
                  <a:schemeClr val="bg1"/>
                </a:solidFill>
                <a:latin typeface="微软雅黑" pitchFamily="34" charset="-122"/>
                <a:ea typeface="微软雅黑" pitchFamily="34" charset="-122"/>
              </a:rPr>
              <a:t>TIME-WAIT</a:t>
            </a:r>
            <a:r>
              <a:rPr lang="zh-CN" altLang="en-US" sz="2000" b="1" dirty="0">
                <a:solidFill>
                  <a:schemeClr val="bg1"/>
                </a:solidFill>
                <a:latin typeface="微软雅黑" pitchFamily="34" charset="-122"/>
                <a:ea typeface="微软雅黑" pitchFamily="34" charset="-122"/>
              </a:rPr>
              <a:t>状态必须等待</a:t>
            </a:r>
            <a:r>
              <a:rPr lang="en-US" altLang="zh-CN" sz="2000" b="1" dirty="0">
                <a:solidFill>
                  <a:schemeClr val="bg1"/>
                </a:solidFill>
                <a:latin typeface="微软雅黑" pitchFamily="34" charset="-122"/>
                <a:ea typeface="微软雅黑" pitchFamily="34" charset="-122"/>
              </a:rPr>
              <a:t>2MSL</a:t>
            </a:r>
            <a:r>
              <a:rPr lang="zh-CN" altLang="en-US" sz="2000" b="1" dirty="0">
                <a:solidFill>
                  <a:schemeClr val="bg1"/>
                </a:solidFill>
                <a:latin typeface="微软雅黑" pitchFamily="34" charset="-122"/>
                <a:ea typeface="微软雅黑" pitchFamily="34" charset="-122"/>
              </a:rPr>
              <a:t>的时间呢？</a:t>
            </a:r>
          </a:p>
        </p:txBody>
      </p:sp>
    </p:spTree>
    <p:extLst>
      <p:ext uri="{BB962C8B-B14F-4D97-AF65-F5344CB8AC3E}">
        <p14:creationId xmlns:p14="http://schemas.microsoft.com/office/powerpoint/2010/main" val="894965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ChangeArrowheads="1"/>
          </p:cNvSpPr>
          <p:nvPr/>
        </p:nvSpPr>
        <p:spPr bwMode="auto">
          <a:xfrm>
            <a:off x="545143" y="992271"/>
            <a:ext cx="8053711" cy="30099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用来主动检测连接对端的</a:t>
            </a:r>
            <a:r>
              <a:rPr lang="zh-CN" altLang="en-US" sz="2000" b="1" dirty="0">
                <a:solidFill>
                  <a:srgbClr val="C00000"/>
                </a:solidFill>
                <a:latin typeface="微软雅黑" pitchFamily="34" charset="-122"/>
                <a:ea typeface="微软雅黑" pitchFamily="34" charset="-122"/>
              </a:rPr>
              <a:t>存活状态</a:t>
            </a:r>
            <a:r>
              <a:rPr lang="zh-CN" altLang="en-US" sz="2000" b="1" dirty="0">
                <a:latin typeface="微软雅黑" pitchFamily="34" charset="-122"/>
                <a:ea typeface="微软雅黑" pitchFamily="34" charset="-122"/>
              </a:rPr>
              <a:t>。</a:t>
            </a:r>
            <a:endParaRPr lang="en-US" altLang="zh-CN" sz="2000" b="1" dirty="0">
              <a:solidFill>
                <a:srgbClr val="C00000"/>
              </a:solidFill>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通常设置为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小时 （服务器每收到一次客户的数据，就重新设置保活计时器）。</a:t>
            </a:r>
            <a:endParaRPr lang="en-US" altLang="zh-CN" sz="2000" b="1" dirty="0">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若服务器过了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小时还没有收到客户的信息，它就每隔</a:t>
            </a:r>
            <a:r>
              <a:rPr lang="en-US" altLang="zh-CN" sz="2000" b="1" dirty="0">
                <a:latin typeface="微软雅黑" pitchFamily="34" charset="-122"/>
                <a:ea typeface="微软雅黑" pitchFamily="34" charset="-122"/>
              </a:rPr>
              <a:t>75</a:t>
            </a:r>
            <a:r>
              <a:rPr lang="zh-CN" altLang="en-US" sz="2000" b="1" dirty="0">
                <a:latin typeface="微软雅黑" pitchFamily="34" charset="-122"/>
                <a:ea typeface="微软雅黑" pitchFamily="34" charset="-122"/>
              </a:rPr>
              <a:t>秒钟发送一次发送</a:t>
            </a:r>
            <a:r>
              <a:rPr lang="zh-CN" altLang="en-US" sz="2000" b="1" dirty="0">
                <a:solidFill>
                  <a:srgbClr val="C00000"/>
                </a:solidFill>
                <a:latin typeface="微软雅黑" pitchFamily="34" charset="-122"/>
                <a:ea typeface="微软雅黑" pitchFamily="34" charset="-122"/>
              </a:rPr>
              <a:t>探测</a:t>
            </a:r>
            <a:r>
              <a:rPr lang="zh-CN" altLang="en-US" sz="2000" b="1" dirty="0">
                <a:latin typeface="微软雅黑" pitchFamily="34" charset="-122"/>
                <a:ea typeface="微软雅黑" pitchFamily="34" charset="-122"/>
              </a:rPr>
              <a:t>报文段。</a:t>
            </a:r>
            <a:endParaRPr lang="en-US" altLang="zh-CN" sz="2000" b="1" dirty="0">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若发送了 </a:t>
            </a:r>
            <a:r>
              <a:rPr lang="en-US" altLang="zh-CN" sz="2000" b="1" dirty="0">
                <a:latin typeface="微软雅黑" pitchFamily="34" charset="-122"/>
                <a:ea typeface="微软雅黑" pitchFamily="34" charset="-122"/>
              </a:rPr>
              <a:t>10 </a:t>
            </a:r>
            <a:r>
              <a:rPr lang="zh-CN" altLang="en-US" sz="2000" b="1" dirty="0">
                <a:latin typeface="微软雅黑" pitchFamily="34" charset="-122"/>
                <a:ea typeface="微软雅黑" pitchFamily="34" charset="-122"/>
              </a:rPr>
              <a:t>个探测报文段还没有响应，就假定客户端出了故障，因而就</a:t>
            </a:r>
            <a:r>
              <a:rPr lang="zh-CN" altLang="en-US" sz="2000" b="1" dirty="0">
                <a:solidFill>
                  <a:srgbClr val="C00000"/>
                </a:solidFill>
                <a:latin typeface="微软雅黑" pitchFamily="34" charset="-122"/>
                <a:ea typeface="微软雅黑" pitchFamily="34" charset="-122"/>
              </a:rPr>
              <a:t>关闭</a:t>
            </a:r>
            <a:r>
              <a:rPr lang="zh-CN" altLang="en-US" sz="2000" b="1" dirty="0">
                <a:latin typeface="微软雅黑" pitchFamily="34" charset="-122"/>
                <a:ea typeface="微软雅黑" pitchFamily="34" charset="-122"/>
              </a:rPr>
              <a:t>该连接。 </a:t>
            </a:r>
          </a:p>
        </p:txBody>
      </p:sp>
      <p:sp>
        <p:nvSpPr>
          <p:cNvPr id="5" name="AutoShape 5"/>
          <p:cNvSpPr>
            <a:spLocks noChangeArrowheads="1"/>
          </p:cNvSpPr>
          <p:nvPr/>
        </p:nvSpPr>
        <p:spPr bwMode="auto">
          <a:xfrm>
            <a:off x="556963" y="62297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2722604" y="589768"/>
            <a:ext cx="37174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保活计时器 </a:t>
            </a:r>
            <a:r>
              <a:rPr lang="en-US" altLang="zh-CN" sz="2000" b="1" dirty="0">
                <a:solidFill>
                  <a:schemeClr val="bg1"/>
                </a:solidFill>
                <a:latin typeface="微软雅黑" pitchFamily="34" charset="-122"/>
                <a:ea typeface="微软雅黑" pitchFamily="34" charset="-122"/>
              </a:rPr>
              <a:t>(keepalive timer)</a:t>
            </a:r>
            <a:endParaRPr lang="zh-CN" altLang="en-US"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86857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6"/>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fade">
                                      <p:cBhvr>
                                        <p:cTn id="11" dur="1000"/>
                                        <p:tgtEl>
                                          <p:spTgt spid="4">
                                            <p:txEl>
                                              <p:pRg st="0" end="0"/>
                                            </p:txEl>
                                          </p:spTgt>
                                        </p:tgtEl>
                                      </p:cBhvr>
                                    </p:animEffect>
                                    <p:anim calcmode="lin" valueType="num">
                                      <p:cBhvr>
                                        <p:cTn id="12"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4">
                                            <p:txEl>
                                              <p:pRg st="1" end="1"/>
                                            </p:txEl>
                                          </p:spTgt>
                                        </p:tgtEl>
                                        <p:attrNameLst>
                                          <p:attrName>style.visibility</p:attrName>
                                        </p:attrNameLst>
                                      </p:cBhvr>
                                      <p:to>
                                        <p:strVal val="visible"/>
                                      </p:to>
                                    </p:set>
                                    <p:animEffect transition="in" filter="fade">
                                      <p:cBhvr>
                                        <p:cTn id="18" dur="1000"/>
                                        <p:tgtEl>
                                          <p:spTgt spid="4">
                                            <p:txEl>
                                              <p:pRg st="1" end="1"/>
                                            </p:txEl>
                                          </p:spTgt>
                                        </p:tgtEl>
                                      </p:cBhvr>
                                    </p:animEffect>
                                    <p:anim calcmode="lin" valueType="num">
                                      <p:cBhvr>
                                        <p:cTn id="19"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Effect transition="in" filter="fade">
                                      <p:cBhvr>
                                        <p:cTn id="25" dur="1000"/>
                                        <p:tgtEl>
                                          <p:spTgt spid="4">
                                            <p:txEl>
                                              <p:pRg st="2" end="2"/>
                                            </p:txEl>
                                          </p:spTgt>
                                        </p:tgtEl>
                                      </p:cBhvr>
                                    </p:animEffect>
                                    <p:anim calcmode="lin" valueType="num">
                                      <p:cBhvr>
                                        <p:cTn id="26"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4">
                                            <p:txEl>
                                              <p:pRg st="3" end="3"/>
                                            </p:txEl>
                                          </p:spTgt>
                                        </p:tgtEl>
                                        <p:attrNameLst>
                                          <p:attrName>style.visibility</p:attrName>
                                        </p:attrNameLst>
                                      </p:cBhvr>
                                      <p:to>
                                        <p:strVal val="visible"/>
                                      </p:to>
                                    </p:set>
                                    <p:animEffect transition="in" filter="fade">
                                      <p:cBhvr>
                                        <p:cTn id="32" dur="1000"/>
                                        <p:tgtEl>
                                          <p:spTgt spid="4">
                                            <p:txEl>
                                              <p:pRg st="3" end="3"/>
                                            </p:txEl>
                                          </p:spTgt>
                                        </p:tgtEl>
                                      </p:cBhvr>
                                    </p:animEffect>
                                    <p:anim calcmode="lin" valueType="num">
                                      <p:cBhvr>
                                        <p:cTn id="3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545143" y="993781"/>
            <a:ext cx="7797580" cy="371311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69" name="组合 68"/>
          <p:cNvGrpSpPr/>
          <p:nvPr/>
        </p:nvGrpSpPr>
        <p:grpSpPr>
          <a:xfrm>
            <a:off x="3392395" y="957988"/>
            <a:ext cx="4263459" cy="3743225"/>
            <a:chOff x="688417" y="-112036"/>
            <a:chExt cx="8078966" cy="7093164"/>
          </a:xfrm>
        </p:grpSpPr>
        <p:sp>
          <p:nvSpPr>
            <p:cNvPr id="6" name="Rectangle 5"/>
            <p:cNvSpPr>
              <a:spLocks noChangeArrowheads="1"/>
            </p:cNvSpPr>
            <p:nvPr/>
          </p:nvSpPr>
          <p:spPr bwMode="auto">
            <a:xfrm>
              <a:off x="688417" y="4458427"/>
              <a:ext cx="4783787" cy="2451016"/>
            </a:xfrm>
            <a:prstGeom prst="rect">
              <a:avLst/>
            </a:prstGeom>
            <a:solidFill>
              <a:srgbClr val="FFFF00"/>
            </a:solidFill>
            <a:ln w="9525">
              <a:solidFill>
                <a:schemeClr val="tx1"/>
              </a:solidFill>
              <a:prstDash val="sysDot"/>
              <a:miter lim="800000"/>
              <a:headEnd/>
              <a:tailEnd/>
            </a:ln>
            <a:effectLst/>
          </p:spPr>
          <p:txBody>
            <a:bodyPr wrap="none" anchor="ctr"/>
            <a:lstStyle/>
            <a:p>
              <a:endParaRPr lang="zh-CN" altLang="en-US" sz="800" b="1">
                <a:latin typeface="微软雅黑" pitchFamily="34" charset="-122"/>
                <a:ea typeface="微软雅黑" pitchFamily="34" charset="-122"/>
              </a:endParaRPr>
            </a:p>
          </p:txBody>
        </p:sp>
        <p:sp>
          <p:nvSpPr>
            <p:cNvPr id="7" name="Rectangle 6"/>
            <p:cNvSpPr>
              <a:spLocks noChangeArrowheads="1"/>
            </p:cNvSpPr>
            <p:nvPr/>
          </p:nvSpPr>
          <p:spPr bwMode="auto">
            <a:xfrm>
              <a:off x="5726732" y="3632200"/>
              <a:ext cx="1575329" cy="2012950"/>
            </a:xfrm>
            <a:prstGeom prst="rect">
              <a:avLst/>
            </a:prstGeom>
            <a:solidFill>
              <a:srgbClr val="FFFF99"/>
            </a:solidFill>
            <a:ln w="9525">
              <a:solidFill>
                <a:schemeClr val="tx1"/>
              </a:solidFill>
              <a:prstDash val="sysDot"/>
              <a:miter lim="800000"/>
              <a:headEnd/>
              <a:tailEnd/>
            </a:ln>
            <a:effectLst/>
          </p:spPr>
          <p:txBody>
            <a:bodyPr wrap="none" anchor="ctr"/>
            <a:lstStyle/>
            <a:p>
              <a:endParaRPr lang="zh-CN" altLang="en-US" sz="800" b="1">
                <a:latin typeface="微软雅黑" pitchFamily="34" charset="-122"/>
                <a:ea typeface="微软雅黑" pitchFamily="34" charset="-122"/>
              </a:endParaRPr>
            </a:p>
          </p:txBody>
        </p:sp>
        <p:sp>
          <p:nvSpPr>
            <p:cNvPr id="8" name="Line 7"/>
            <p:cNvSpPr>
              <a:spLocks noChangeShapeType="1"/>
            </p:cNvSpPr>
            <p:nvPr/>
          </p:nvSpPr>
          <p:spPr bwMode="auto">
            <a:xfrm rot="5400000" flipV="1">
              <a:off x="5303663" y="3291285"/>
              <a:ext cx="0" cy="1186656"/>
            </a:xfrm>
            <a:prstGeom prst="line">
              <a:avLst/>
            </a:prstGeom>
            <a:noFill/>
            <a:ln w="38100">
              <a:solidFill>
                <a:srgbClr val="CC00CC"/>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9" name="Rectangle 8"/>
            <p:cNvSpPr>
              <a:spLocks noChangeArrowheads="1"/>
            </p:cNvSpPr>
            <p:nvPr/>
          </p:nvSpPr>
          <p:spPr bwMode="auto">
            <a:xfrm>
              <a:off x="3609668" y="236538"/>
              <a:ext cx="846138" cy="252412"/>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CLOSED</a:t>
              </a:r>
            </a:p>
          </p:txBody>
        </p:sp>
        <p:sp>
          <p:nvSpPr>
            <p:cNvPr id="10" name="Rectangle 9"/>
            <p:cNvSpPr>
              <a:spLocks noChangeArrowheads="1"/>
            </p:cNvSpPr>
            <p:nvPr/>
          </p:nvSpPr>
          <p:spPr bwMode="auto">
            <a:xfrm>
              <a:off x="3270870" y="3759201"/>
              <a:ext cx="1439465"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ESTABLISHED</a:t>
              </a:r>
            </a:p>
          </p:txBody>
        </p:sp>
        <p:sp>
          <p:nvSpPr>
            <p:cNvPr id="11" name="Rectangle 10"/>
            <p:cNvSpPr>
              <a:spLocks noChangeArrowheads="1"/>
            </p:cNvSpPr>
            <p:nvPr/>
          </p:nvSpPr>
          <p:spPr bwMode="auto">
            <a:xfrm>
              <a:off x="3609668" y="1243013"/>
              <a:ext cx="846138" cy="252412"/>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LISTEN</a:t>
              </a:r>
            </a:p>
          </p:txBody>
        </p:sp>
        <p:sp>
          <p:nvSpPr>
            <p:cNvPr id="12" name="Rectangle 11"/>
            <p:cNvSpPr>
              <a:spLocks noChangeArrowheads="1"/>
            </p:cNvSpPr>
            <p:nvPr/>
          </p:nvSpPr>
          <p:spPr bwMode="auto">
            <a:xfrm>
              <a:off x="5853996" y="3759201"/>
              <a:ext cx="1355196"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CLOSE_WAIT</a:t>
              </a:r>
            </a:p>
          </p:txBody>
        </p:sp>
        <p:sp>
          <p:nvSpPr>
            <p:cNvPr id="13" name="Rectangle 12"/>
            <p:cNvSpPr>
              <a:spLocks noChangeArrowheads="1"/>
            </p:cNvSpPr>
            <p:nvPr/>
          </p:nvSpPr>
          <p:spPr bwMode="auto">
            <a:xfrm>
              <a:off x="983547" y="4891089"/>
              <a:ext cx="1184936"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FIN_WAIT_1</a:t>
              </a:r>
            </a:p>
          </p:txBody>
        </p:sp>
        <p:sp>
          <p:nvSpPr>
            <p:cNvPr id="14" name="Rectangle 13"/>
            <p:cNvSpPr>
              <a:spLocks noChangeArrowheads="1"/>
            </p:cNvSpPr>
            <p:nvPr/>
          </p:nvSpPr>
          <p:spPr bwMode="auto">
            <a:xfrm>
              <a:off x="983547" y="2312989"/>
              <a:ext cx="1184936"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dirty="0">
                  <a:latin typeface="微软雅黑" pitchFamily="34" charset="-122"/>
                  <a:ea typeface="微软雅黑" pitchFamily="34" charset="-122"/>
                </a:rPr>
                <a:t>SYN_RCVD</a:t>
              </a:r>
            </a:p>
          </p:txBody>
        </p:sp>
        <p:sp>
          <p:nvSpPr>
            <p:cNvPr id="15" name="Rectangle 14"/>
            <p:cNvSpPr>
              <a:spLocks noChangeArrowheads="1"/>
            </p:cNvSpPr>
            <p:nvPr/>
          </p:nvSpPr>
          <p:spPr bwMode="auto">
            <a:xfrm>
              <a:off x="983547" y="6337301"/>
              <a:ext cx="1184936"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FIN_WAIT_2</a:t>
              </a:r>
            </a:p>
          </p:txBody>
        </p:sp>
        <p:sp>
          <p:nvSpPr>
            <p:cNvPr id="16" name="Rectangle 15"/>
            <p:cNvSpPr>
              <a:spLocks noChangeArrowheads="1"/>
            </p:cNvSpPr>
            <p:nvPr/>
          </p:nvSpPr>
          <p:spPr bwMode="auto">
            <a:xfrm>
              <a:off x="3566674" y="4891089"/>
              <a:ext cx="932127"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CLOSING</a:t>
              </a:r>
            </a:p>
          </p:txBody>
        </p:sp>
        <p:sp>
          <p:nvSpPr>
            <p:cNvPr id="17" name="Rectangle 16"/>
            <p:cNvSpPr>
              <a:spLocks noChangeArrowheads="1"/>
            </p:cNvSpPr>
            <p:nvPr/>
          </p:nvSpPr>
          <p:spPr bwMode="auto">
            <a:xfrm>
              <a:off x="3439410" y="6337301"/>
              <a:ext cx="1186656"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TIME_WAIT</a:t>
              </a:r>
            </a:p>
          </p:txBody>
        </p:sp>
        <p:sp>
          <p:nvSpPr>
            <p:cNvPr id="18" name="Rectangle 17"/>
            <p:cNvSpPr>
              <a:spLocks noChangeArrowheads="1"/>
            </p:cNvSpPr>
            <p:nvPr/>
          </p:nvSpPr>
          <p:spPr bwMode="auto">
            <a:xfrm>
              <a:off x="5981261" y="2312989"/>
              <a:ext cx="1100667"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SYN_SENT</a:t>
              </a:r>
            </a:p>
          </p:txBody>
        </p:sp>
        <p:sp>
          <p:nvSpPr>
            <p:cNvPr id="19" name="Rectangle 18"/>
            <p:cNvSpPr>
              <a:spLocks noChangeArrowheads="1"/>
            </p:cNvSpPr>
            <p:nvPr/>
          </p:nvSpPr>
          <p:spPr bwMode="auto">
            <a:xfrm>
              <a:off x="5938266" y="5267326"/>
              <a:ext cx="1186656" cy="252413"/>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LAST_ACK</a:t>
              </a:r>
            </a:p>
          </p:txBody>
        </p:sp>
        <p:sp>
          <p:nvSpPr>
            <p:cNvPr id="20" name="Line 19"/>
            <p:cNvSpPr>
              <a:spLocks noChangeShapeType="1"/>
            </p:cNvSpPr>
            <p:nvPr/>
          </p:nvSpPr>
          <p:spPr bwMode="auto">
            <a:xfrm>
              <a:off x="4287266" y="488950"/>
              <a:ext cx="2244329" cy="1824038"/>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1" name="Line 20"/>
            <p:cNvSpPr>
              <a:spLocks noChangeShapeType="1"/>
            </p:cNvSpPr>
            <p:nvPr/>
          </p:nvSpPr>
          <p:spPr bwMode="auto">
            <a:xfrm flipH="1">
              <a:off x="4371536" y="2563814"/>
              <a:ext cx="1736990" cy="1195387"/>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2" name="Line 21"/>
            <p:cNvSpPr>
              <a:spLocks noChangeShapeType="1"/>
            </p:cNvSpPr>
            <p:nvPr/>
          </p:nvSpPr>
          <p:spPr bwMode="auto">
            <a:xfrm flipH="1">
              <a:off x="1915674" y="4010026"/>
              <a:ext cx="1693994" cy="881063"/>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3" name="Line 22"/>
            <p:cNvSpPr>
              <a:spLocks noChangeShapeType="1"/>
            </p:cNvSpPr>
            <p:nvPr/>
          </p:nvSpPr>
          <p:spPr bwMode="auto">
            <a:xfrm flipH="1">
              <a:off x="1554517" y="5141914"/>
              <a:ext cx="0" cy="1195387"/>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4" name="Line 23"/>
            <p:cNvSpPr>
              <a:spLocks noChangeShapeType="1"/>
            </p:cNvSpPr>
            <p:nvPr/>
          </p:nvSpPr>
          <p:spPr bwMode="auto">
            <a:xfrm>
              <a:off x="2166763" y="6462713"/>
              <a:ext cx="1277805"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5" name="Line 24"/>
            <p:cNvSpPr>
              <a:spLocks noChangeShapeType="1"/>
            </p:cNvSpPr>
            <p:nvPr/>
          </p:nvSpPr>
          <p:spPr bwMode="auto">
            <a:xfrm>
              <a:off x="3857318" y="498475"/>
              <a:ext cx="6879" cy="736600"/>
            </a:xfrm>
            <a:prstGeom prst="line">
              <a:avLst/>
            </a:prstGeom>
            <a:noFill/>
            <a:ln w="38100">
              <a:solidFill>
                <a:srgbClr val="CC00CC"/>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6" name="Line 25"/>
            <p:cNvSpPr>
              <a:spLocks noChangeShapeType="1"/>
            </p:cNvSpPr>
            <p:nvPr/>
          </p:nvSpPr>
          <p:spPr bwMode="auto">
            <a:xfrm flipH="1">
              <a:off x="1363619" y="1263992"/>
              <a:ext cx="2246048" cy="1006475"/>
            </a:xfrm>
            <a:prstGeom prst="line">
              <a:avLst/>
            </a:prstGeom>
            <a:noFill/>
            <a:ln w="38100">
              <a:solidFill>
                <a:srgbClr val="CC00CC"/>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7" name="Line 26"/>
            <p:cNvSpPr>
              <a:spLocks noChangeShapeType="1"/>
            </p:cNvSpPr>
            <p:nvPr/>
          </p:nvSpPr>
          <p:spPr bwMode="auto">
            <a:xfrm>
              <a:off x="1829684" y="2563814"/>
              <a:ext cx="1864254" cy="1195387"/>
            </a:xfrm>
            <a:prstGeom prst="line">
              <a:avLst/>
            </a:prstGeom>
            <a:noFill/>
            <a:ln w="38100">
              <a:solidFill>
                <a:srgbClr val="CC00CC"/>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8" name="Line 27"/>
            <p:cNvSpPr>
              <a:spLocks noChangeShapeType="1"/>
            </p:cNvSpPr>
            <p:nvPr/>
          </p:nvSpPr>
          <p:spPr bwMode="auto">
            <a:xfrm>
              <a:off x="6658859" y="4010025"/>
              <a:ext cx="0" cy="1257300"/>
            </a:xfrm>
            <a:prstGeom prst="line">
              <a:avLst/>
            </a:prstGeom>
            <a:noFill/>
            <a:ln w="38100">
              <a:solidFill>
                <a:srgbClr val="CC00CC"/>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9" name="Freeform 28"/>
            <p:cNvSpPr>
              <a:spLocks/>
            </p:cNvSpPr>
            <p:nvPr/>
          </p:nvSpPr>
          <p:spPr bwMode="auto">
            <a:xfrm>
              <a:off x="7133521" y="5386388"/>
              <a:ext cx="1203854" cy="6350"/>
            </a:xfrm>
            <a:custGeom>
              <a:avLst/>
              <a:gdLst>
                <a:gd name="T0" fmla="*/ 0 w 682"/>
                <a:gd name="T1" fmla="*/ 5 h 5"/>
                <a:gd name="T2" fmla="*/ 682 w 682"/>
                <a:gd name="T3" fmla="*/ 0 h 5"/>
              </a:gdLst>
              <a:ahLst/>
              <a:cxnLst>
                <a:cxn ang="0">
                  <a:pos x="T0" y="T1"/>
                </a:cxn>
                <a:cxn ang="0">
                  <a:pos x="T2" y="T3"/>
                </a:cxn>
              </a:cxnLst>
              <a:rect l="0" t="0" r="r" b="b"/>
              <a:pathLst>
                <a:path w="682" h="5">
                  <a:moveTo>
                    <a:pt x="0" y="5"/>
                  </a:moveTo>
                  <a:lnTo>
                    <a:pt x="682" y="0"/>
                  </a:lnTo>
                </a:path>
              </a:pathLst>
            </a:custGeom>
            <a:noFill/>
            <a:ln w="38100" cmpd="sng">
              <a:solidFill>
                <a:srgbClr val="CC00CC"/>
              </a:solidFill>
              <a:prstDash val="sysDot"/>
              <a:round/>
              <a:headE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0" name="Line 29"/>
            <p:cNvSpPr>
              <a:spLocks noChangeShapeType="1"/>
            </p:cNvSpPr>
            <p:nvPr/>
          </p:nvSpPr>
          <p:spPr bwMode="auto">
            <a:xfrm>
              <a:off x="1554517" y="2563814"/>
              <a:ext cx="0" cy="2327275"/>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1" name="Line 30"/>
            <p:cNvSpPr>
              <a:spLocks noChangeShapeType="1"/>
            </p:cNvSpPr>
            <p:nvPr/>
          </p:nvSpPr>
          <p:spPr bwMode="auto">
            <a:xfrm>
              <a:off x="4032737" y="5141914"/>
              <a:ext cx="0" cy="1195387"/>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2" name="Line 31"/>
            <p:cNvSpPr>
              <a:spLocks noChangeShapeType="1"/>
            </p:cNvSpPr>
            <p:nvPr/>
          </p:nvSpPr>
          <p:spPr bwMode="auto">
            <a:xfrm rot="-5400000">
              <a:off x="2864205" y="4319192"/>
              <a:ext cx="1587" cy="1393031"/>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3" name="Line 33"/>
            <p:cNvSpPr>
              <a:spLocks noChangeShapeType="1"/>
            </p:cNvSpPr>
            <p:nvPr/>
          </p:nvSpPr>
          <p:spPr bwMode="auto">
            <a:xfrm rot="5400000" flipH="1">
              <a:off x="4070572" y="529300"/>
              <a:ext cx="0" cy="3821377"/>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4" name="Line 34"/>
            <p:cNvSpPr>
              <a:spLocks noChangeShapeType="1"/>
            </p:cNvSpPr>
            <p:nvPr/>
          </p:nvSpPr>
          <p:spPr bwMode="auto">
            <a:xfrm rot="-5400000">
              <a:off x="2184357" y="882915"/>
              <a:ext cx="876300" cy="1974321"/>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5" name="Line 35"/>
            <p:cNvSpPr>
              <a:spLocks noChangeShapeType="1"/>
            </p:cNvSpPr>
            <p:nvPr/>
          </p:nvSpPr>
          <p:spPr bwMode="auto">
            <a:xfrm>
              <a:off x="1915674" y="5141914"/>
              <a:ext cx="1693994" cy="1195387"/>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6" name="Freeform 36"/>
            <p:cNvSpPr>
              <a:spLocks/>
            </p:cNvSpPr>
            <p:nvPr/>
          </p:nvSpPr>
          <p:spPr bwMode="auto">
            <a:xfrm>
              <a:off x="4455805" y="1368425"/>
              <a:ext cx="1666479" cy="933450"/>
            </a:xfrm>
            <a:custGeom>
              <a:avLst/>
              <a:gdLst>
                <a:gd name="T0" fmla="*/ 0 w 944"/>
                <a:gd name="T1" fmla="*/ 0 h 712"/>
                <a:gd name="T2" fmla="*/ 944 w 944"/>
                <a:gd name="T3" fmla="*/ 712 h 712"/>
              </a:gdLst>
              <a:ahLst/>
              <a:cxnLst>
                <a:cxn ang="0">
                  <a:pos x="T0" y="T1"/>
                </a:cxn>
                <a:cxn ang="0">
                  <a:pos x="T2" y="T3"/>
                </a:cxn>
              </a:cxnLst>
              <a:rect l="0" t="0" r="r" b="b"/>
              <a:pathLst>
                <a:path w="944" h="712">
                  <a:moveTo>
                    <a:pt x="0" y="0"/>
                  </a:moveTo>
                  <a:lnTo>
                    <a:pt x="944" y="712"/>
                  </a:lnTo>
                </a:path>
              </a:pathLst>
            </a:custGeom>
            <a:noFill/>
            <a:ln w="19050">
              <a:solidFill>
                <a:srgbClr val="FF0000"/>
              </a:solidFill>
              <a:round/>
              <a:headE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7" name="Text Box 37"/>
            <p:cNvSpPr txBox="1">
              <a:spLocks noChangeArrowheads="1"/>
            </p:cNvSpPr>
            <p:nvPr/>
          </p:nvSpPr>
          <p:spPr bwMode="auto">
            <a:xfrm>
              <a:off x="6043645" y="2501137"/>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itchFamily="34" charset="-122"/>
                  <a:ea typeface="微软雅黑" pitchFamily="34" charset="-122"/>
                </a:rPr>
                <a:t>主动打开</a:t>
              </a:r>
            </a:p>
          </p:txBody>
        </p:sp>
        <p:sp>
          <p:nvSpPr>
            <p:cNvPr id="38" name="Text Box 38"/>
            <p:cNvSpPr txBox="1">
              <a:spLocks noChangeArrowheads="1"/>
            </p:cNvSpPr>
            <p:nvPr/>
          </p:nvSpPr>
          <p:spPr bwMode="auto">
            <a:xfrm>
              <a:off x="3496940" y="1495425"/>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itchFamily="34" charset="-122"/>
                  <a:ea typeface="微软雅黑" pitchFamily="34" charset="-122"/>
                </a:rPr>
                <a:t>被动打开</a:t>
              </a:r>
            </a:p>
          </p:txBody>
        </p:sp>
        <p:sp>
          <p:nvSpPr>
            <p:cNvPr id="39" name="Text Box 39"/>
            <p:cNvSpPr txBox="1">
              <a:spLocks noChangeArrowheads="1"/>
            </p:cNvSpPr>
            <p:nvPr/>
          </p:nvSpPr>
          <p:spPr bwMode="auto">
            <a:xfrm>
              <a:off x="5981262" y="3302601"/>
              <a:ext cx="1127551" cy="408252"/>
            </a:xfrm>
            <a:prstGeom prst="rect">
              <a:avLst/>
            </a:prstGeom>
            <a:solidFill>
              <a:srgbClr val="FFFF99"/>
            </a:solidFill>
            <a:ln w="9525">
              <a:solidFill>
                <a:schemeClr val="tx1"/>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itchFamily="34" charset="-122"/>
                  <a:ea typeface="微软雅黑" pitchFamily="34" charset="-122"/>
                </a:rPr>
                <a:t>被动关闭</a:t>
              </a:r>
            </a:p>
          </p:txBody>
        </p:sp>
        <p:sp>
          <p:nvSpPr>
            <p:cNvPr id="40" name="Text Box 40"/>
            <p:cNvSpPr txBox="1">
              <a:spLocks noChangeArrowheads="1"/>
            </p:cNvSpPr>
            <p:nvPr/>
          </p:nvSpPr>
          <p:spPr bwMode="auto">
            <a:xfrm>
              <a:off x="3676130" y="4119257"/>
              <a:ext cx="1127551" cy="408252"/>
            </a:xfrm>
            <a:prstGeom prst="rect">
              <a:avLst/>
            </a:prstGeom>
            <a:solidFill>
              <a:srgbClr val="FFFF00"/>
            </a:solidFill>
            <a:ln w="9525">
              <a:solidFill>
                <a:schemeClr val="tx1"/>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itchFamily="34" charset="-122"/>
                  <a:ea typeface="微软雅黑" pitchFamily="34" charset="-122"/>
                </a:rPr>
                <a:t>主动关闭</a:t>
              </a:r>
            </a:p>
          </p:txBody>
        </p:sp>
        <p:sp>
          <p:nvSpPr>
            <p:cNvPr id="41" name="Text Box 41"/>
            <p:cNvSpPr txBox="1">
              <a:spLocks noChangeArrowheads="1"/>
            </p:cNvSpPr>
            <p:nvPr/>
          </p:nvSpPr>
          <p:spPr bwMode="auto">
            <a:xfrm>
              <a:off x="3682846" y="-112036"/>
              <a:ext cx="738739"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起点</a:t>
              </a:r>
            </a:p>
          </p:txBody>
        </p:sp>
        <p:sp>
          <p:nvSpPr>
            <p:cNvPr id="42" name="Text Box 42"/>
            <p:cNvSpPr txBox="1">
              <a:spLocks noChangeArrowheads="1"/>
            </p:cNvSpPr>
            <p:nvPr/>
          </p:nvSpPr>
          <p:spPr bwMode="auto">
            <a:xfrm>
              <a:off x="2792381" y="488177"/>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itchFamily="34" charset="-122"/>
                  <a:ea typeface="微软雅黑" pitchFamily="34" charset="-122"/>
                </a:rPr>
                <a:t>被动打开</a:t>
              </a:r>
            </a:p>
          </p:txBody>
        </p:sp>
        <p:sp>
          <p:nvSpPr>
            <p:cNvPr id="43" name="Text Box 43"/>
            <p:cNvSpPr txBox="1">
              <a:spLocks noChangeArrowheads="1"/>
            </p:cNvSpPr>
            <p:nvPr/>
          </p:nvSpPr>
          <p:spPr bwMode="auto">
            <a:xfrm>
              <a:off x="5043973" y="717550"/>
              <a:ext cx="1321956"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itchFamily="34" charset="-122"/>
                  <a:ea typeface="微软雅黑" pitchFamily="34" charset="-122"/>
                </a:rPr>
                <a:t>主动打开</a:t>
              </a:r>
            </a:p>
            <a:p>
              <a:r>
                <a:rPr kumimoji="1" lang="zh-CN" altLang="en-US" sz="800" b="1">
                  <a:latin typeface="微软雅黑" pitchFamily="34" charset="-122"/>
                  <a:ea typeface="微软雅黑" pitchFamily="34" charset="-122"/>
                </a:rPr>
                <a:t>  发送 </a:t>
              </a:r>
              <a:r>
                <a:rPr kumimoji="1" lang="en-US" altLang="zh-CN" sz="800" b="1">
                  <a:latin typeface="微软雅黑" pitchFamily="34" charset="-122"/>
                  <a:ea typeface="微软雅黑" pitchFamily="34" charset="-122"/>
                </a:rPr>
                <a:t>SYN</a:t>
              </a:r>
            </a:p>
          </p:txBody>
        </p:sp>
        <p:sp>
          <p:nvSpPr>
            <p:cNvPr id="44" name="Text Box 44"/>
            <p:cNvSpPr txBox="1">
              <a:spLocks noChangeArrowheads="1"/>
            </p:cNvSpPr>
            <p:nvPr/>
          </p:nvSpPr>
          <p:spPr bwMode="auto">
            <a:xfrm>
              <a:off x="3609668" y="2438399"/>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itchFamily="34" charset="-122"/>
                  <a:ea typeface="微软雅黑" pitchFamily="34" charset="-122"/>
                </a:rPr>
                <a:t>同时打开</a:t>
              </a:r>
            </a:p>
          </p:txBody>
        </p:sp>
        <p:sp>
          <p:nvSpPr>
            <p:cNvPr id="45" name="Text Box 45"/>
            <p:cNvSpPr txBox="1">
              <a:spLocks noChangeArrowheads="1"/>
            </p:cNvSpPr>
            <p:nvPr/>
          </p:nvSpPr>
          <p:spPr bwMode="auto">
            <a:xfrm>
              <a:off x="2793238" y="2104599"/>
              <a:ext cx="2919724"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SYN</a:t>
              </a:r>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SYN</a:t>
              </a:r>
              <a:r>
                <a:rPr kumimoji="1" lang="zh-CN" altLang="en-US" sz="800" b="1" dirty="0">
                  <a:latin typeface="微软雅黑" pitchFamily="34" charset="-122"/>
                  <a:ea typeface="微软雅黑" pitchFamily="34" charset="-122"/>
                </a:rPr>
                <a:t>，</a:t>
              </a:r>
              <a:r>
                <a:rPr kumimoji="1" lang="en-US" altLang="zh-CN" sz="800" b="1" dirty="0">
                  <a:latin typeface="微软雅黑" pitchFamily="34" charset="-122"/>
                  <a:ea typeface="微软雅黑" pitchFamily="34" charset="-122"/>
                </a:rPr>
                <a:t> ACK</a:t>
              </a:r>
            </a:p>
          </p:txBody>
        </p:sp>
        <p:sp>
          <p:nvSpPr>
            <p:cNvPr id="46" name="Text Box 46"/>
            <p:cNvSpPr txBox="1">
              <a:spLocks noChangeArrowheads="1"/>
            </p:cNvSpPr>
            <p:nvPr/>
          </p:nvSpPr>
          <p:spPr bwMode="auto">
            <a:xfrm>
              <a:off x="2413469" y="2670176"/>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ACK</a:t>
              </a:r>
            </a:p>
          </p:txBody>
        </p:sp>
        <p:sp>
          <p:nvSpPr>
            <p:cNvPr id="47" name="Text Box 47"/>
            <p:cNvSpPr txBox="1">
              <a:spLocks noChangeArrowheads="1"/>
            </p:cNvSpPr>
            <p:nvPr/>
          </p:nvSpPr>
          <p:spPr bwMode="auto">
            <a:xfrm>
              <a:off x="3376289" y="2997959"/>
              <a:ext cx="1321956" cy="758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solidFill>
                    <a:srgbClr val="CC00CC"/>
                  </a:solidFill>
                  <a:latin typeface="微软雅黑" pitchFamily="34" charset="-122"/>
                  <a:ea typeface="微软雅黑" pitchFamily="34" charset="-122"/>
                </a:rPr>
                <a:t>数据传送</a:t>
              </a:r>
            </a:p>
            <a:p>
              <a:pPr algn="ctr"/>
              <a:r>
                <a:rPr kumimoji="1" lang="zh-CN" altLang="en-US" sz="1000" b="1" dirty="0">
                  <a:solidFill>
                    <a:srgbClr val="CC00CC"/>
                  </a:solidFill>
                  <a:latin typeface="微软雅黑" pitchFamily="34" charset="-122"/>
                  <a:ea typeface="微软雅黑" pitchFamily="34" charset="-122"/>
                </a:rPr>
                <a:t>阶段</a:t>
              </a:r>
            </a:p>
          </p:txBody>
        </p:sp>
        <p:sp>
          <p:nvSpPr>
            <p:cNvPr id="48" name="Text Box 48"/>
            <p:cNvSpPr txBox="1">
              <a:spLocks noChangeArrowheads="1"/>
            </p:cNvSpPr>
            <p:nvPr/>
          </p:nvSpPr>
          <p:spPr bwMode="auto">
            <a:xfrm>
              <a:off x="5628242" y="4314826"/>
              <a:ext cx="1133627"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itchFamily="34" charset="-122"/>
                  <a:ea typeface="微软雅黑" pitchFamily="34" charset="-122"/>
                </a:rPr>
                <a:t>   </a:t>
              </a:r>
              <a:r>
                <a:rPr kumimoji="1" lang="zh-CN" altLang="en-US" sz="800" b="1" dirty="0">
                  <a:latin typeface="微软雅黑" pitchFamily="34" charset="-122"/>
                  <a:ea typeface="微软雅黑" pitchFamily="34" charset="-122"/>
                </a:rPr>
                <a:t>关闭</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FIN</a:t>
              </a:r>
            </a:p>
          </p:txBody>
        </p:sp>
        <p:sp>
          <p:nvSpPr>
            <p:cNvPr id="49" name="Text Box 49"/>
            <p:cNvSpPr txBox="1">
              <a:spLocks noChangeArrowheads="1"/>
            </p:cNvSpPr>
            <p:nvPr/>
          </p:nvSpPr>
          <p:spPr bwMode="auto">
            <a:xfrm>
              <a:off x="1963828" y="3816889"/>
              <a:ext cx="1133626"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itchFamily="34" charset="-122"/>
                  <a:ea typeface="微软雅黑" pitchFamily="34" charset="-122"/>
                </a:rPr>
                <a:t>   </a:t>
              </a:r>
              <a:r>
                <a:rPr kumimoji="1" lang="zh-CN" altLang="en-US" sz="800" b="1" dirty="0">
                  <a:latin typeface="微软雅黑" pitchFamily="34" charset="-122"/>
                  <a:ea typeface="微软雅黑" pitchFamily="34" charset="-122"/>
                </a:rPr>
                <a:t>关闭</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FIN</a:t>
              </a:r>
            </a:p>
          </p:txBody>
        </p:sp>
        <p:sp>
          <p:nvSpPr>
            <p:cNvPr id="50" name="Text Box 50"/>
            <p:cNvSpPr txBox="1">
              <a:spLocks noChangeArrowheads="1"/>
            </p:cNvSpPr>
            <p:nvPr/>
          </p:nvSpPr>
          <p:spPr bwMode="auto">
            <a:xfrm>
              <a:off x="1442579" y="3205761"/>
              <a:ext cx="1133626"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itchFamily="34" charset="-122"/>
                  <a:ea typeface="微软雅黑" pitchFamily="34" charset="-122"/>
                </a:rPr>
                <a:t>   </a:t>
              </a:r>
              <a:r>
                <a:rPr kumimoji="1" lang="zh-CN" altLang="en-US" sz="800" b="1" dirty="0">
                  <a:latin typeface="微软雅黑" pitchFamily="34" charset="-122"/>
                  <a:ea typeface="微软雅黑" pitchFamily="34" charset="-122"/>
                </a:rPr>
                <a:t>关闭</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FIN</a:t>
              </a:r>
            </a:p>
          </p:txBody>
        </p:sp>
        <p:sp>
          <p:nvSpPr>
            <p:cNvPr id="51" name="Text Box 51"/>
            <p:cNvSpPr txBox="1">
              <a:spLocks noChangeArrowheads="1"/>
            </p:cNvSpPr>
            <p:nvPr/>
          </p:nvSpPr>
          <p:spPr bwMode="auto">
            <a:xfrm>
              <a:off x="2591551" y="1787526"/>
              <a:ext cx="1173115"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itchFamily="34" charset="-122"/>
                  <a:ea typeface="微软雅黑" pitchFamily="34" charset="-122"/>
                </a:rPr>
                <a:t>收到 </a:t>
              </a:r>
              <a:r>
                <a:rPr kumimoji="1" lang="en-US" altLang="zh-CN" sz="800" b="1">
                  <a:latin typeface="微软雅黑" pitchFamily="34" charset="-122"/>
                  <a:ea typeface="微软雅黑" pitchFamily="34" charset="-122"/>
                </a:rPr>
                <a:t>RST</a:t>
              </a:r>
            </a:p>
          </p:txBody>
        </p:sp>
        <p:sp>
          <p:nvSpPr>
            <p:cNvPr id="52" name="Text Box 52"/>
            <p:cNvSpPr txBox="1">
              <a:spLocks noChangeArrowheads="1"/>
            </p:cNvSpPr>
            <p:nvPr/>
          </p:nvSpPr>
          <p:spPr bwMode="auto">
            <a:xfrm>
              <a:off x="1272471" y="1051665"/>
              <a:ext cx="1728992"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itchFamily="34" charset="-122"/>
                  <a:ea typeface="微软雅黑" pitchFamily="34" charset="-122"/>
                </a:rPr>
                <a:t>         </a:t>
              </a:r>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SYN</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SYN, ACK</a:t>
              </a:r>
            </a:p>
          </p:txBody>
        </p:sp>
        <p:sp>
          <p:nvSpPr>
            <p:cNvPr id="53" name="Text Box 53"/>
            <p:cNvSpPr txBox="1">
              <a:spLocks noChangeArrowheads="1"/>
            </p:cNvSpPr>
            <p:nvPr/>
          </p:nvSpPr>
          <p:spPr bwMode="auto">
            <a:xfrm>
              <a:off x="7222951" y="1852331"/>
              <a:ext cx="933146"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itchFamily="34" charset="-122"/>
                  <a:ea typeface="微软雅黑" pitchFamily="34" charset="-122"/>
                </a:rPr>
                <a:t>  </a:t>
              </a:r>
              <a:r>
                <a:rPr kumimoji="1" lang="zh-CN" altLang="en-US" sz="800" b="1" dirty="0">
                  <a:latin typeface="微软雅黑" pitchFamily="34" charset="-122"/>
                  <a:ea typeface="微软雅黑" pitchFamily="34" charset="-122"/>
                </a:rPr>
                <a:t>关闭</a:t>
              </a:r>
            </a:p>
            <a:p>
              <a:r>
                <a:rPr kumimoji="1" lang="zh-CN" altLang="en-US" sz="800" b="1" dirty="0">
                  <a:latin typeface="微软雅黑" pitchFamily="34" charset="-122"/>
                  <a:ea typeface="微软雅黑" pitchFamily="34" charset="-122"/>
                </a:rPr>
                <a:t>或超时</a:t>
              </a:r>
            </a:p>
          </p:txBody>
        </p:sp>
        <p:sp>
          <p:nvSpPr>
            <p:cNvPr id="54" name="Text Box 54"/>
            <p:cNvSpPr txBox="1">
              <a:spLocks noChangeArrowheads="1"/>
            </p:cNvSpPr>
            <p:nvPr/>
          </p:nvSpPr>
          <p:spPr bwMode="auto">
            <a:xfrm>
              <a:off x="7195592" y="4928280"/>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ACK</a:t>
              </a:r>
            </a:p>
          </p:txBody>
        </p:sp>
        <p:sp>
          <p:nvSpPr>
            <p:cNvPr id="55" name="Text Box 55"/>
            <p:cNvSpPr txBox="1">
              <a:spLocks noChangeArrowheads="1"/>
            </p:cNvSpPr>
            <p:nvPr/>
          </p:nvSpPr>
          <p:spPr bwMode="auto">
            <a:xfrm>
              <a:off x="5259895" y="2771976"/>
              <a:ext cx="2017563"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itchFamily="34" charset="-122"/>
                  <a:ea typeface="微软雅黑" pitchFamily="34" charset="-122"/>
                </a:rPr>
                <a:t>     </a:t>
              </a:r>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SYN, ACK</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ACK</a:t>
              </a:r>
            </a:p>
          </p:txBody>
        </p:sp>
        <p:sp>
          <p:nvSpPr>
            <p:cNvPr id="56" name="Text Box 56"/>
            <p:cNvSpPr txBox="1">
              <a:spLocks noChangeArrowheads="1"/>
            </p:cNvSpPr>
            <p:nvPr/>
          </p:nvSpPr>
          <p:spPr bwMode="auto">
            <a:xfrm>
              <a:off x="3915017" y="5390442"/>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ACK</a:t>
              </a:r>
            </a:p>
          </p:txBody>
        </p:sp>
        <p:sp>
          <p:nvSpPr>
            <p:cNvPr id="57" name="Text Box 57"/>
            <p:cNvSpPr txBox="1">
              <a:spLocks noChangeArrowheads="1"/>
            </p:cNvSpPr>
            <p:nvPr/>
          </p:nvSpPr>
          <p:spPr bwMode="auto">
            <a:xfrm>
              <a:off x="1429605" y="5486316"/>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ACK</a:t>
              </a:r>
            </a:p>
          </p:txBody>
        </p:sp>
        <p:sp>
          <p:nvSpPr>
            <p:cNvPr id="58" name="Text Box 58"/>
            <p:cNvSpPr txBox="1">
              <a:spLocks noChangeArrowheads="1"/>
            </p:cNvSpPr>
            <p:nvPr/>
          </p:nvSpPr>
          <p:spPr bwMode="auto">
            <a:xfrm>
              <a:off x="2051233" y="5875535"/>
              <a:ext cx="1206528"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FIN</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ACK</a:t>
              </a:r>
            </a:p>
          </p:txBody>
        </p:sp>
        <p:sp>
          <p:nvSpPr>
            <p:cNvPr id="59" name="Text Box 59"/>
            <p:cNvSpPr txBox="1">
              <a:spLocks noChangeArrowheads="1"/>
            </p:cNvSpPr>
            <p:nvPr/>
          </p:nvSpPr>
          <p:spPr bwMode="auto">
            <a:xfrm>
              <a:off x="2440674" y="5310190"/>
              <a:ext cx="1656089"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FIN, ACK</a:t>
              </a:r>
            </a:p>
            <a:p>
              <a:r>
                <a:rPr kumimoji="1" lang="en-US" altLang="zh-CN" sz="800" b="1" dirty="0">
                  <a:latin typeface="微软雅黑" pitchFamily="34" charset="-122"/>
                  <a:ea typeface="微软雅黑" pitchFamily="34" charset="-122"/>
                </a:rPr>
                <a:t>     </a:t>
              </a:r>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ACK</a:t>
              </a:r>
            </a:p>
          </p:txBody>
        </p:sp>
        <p:sp>
          <p:nvSpPr>
            <p:cNvPr id="60" name="Text Box 60"/>
            <p:cNvSpPr txBox="1">
              <a:spLocks noChangeArrowheads="1"/>
            </p:cNvSpPr>
            <p:nvPr/>
          </p:nvSpPr>
          <p:spPr bwMode="auto">
            <a:xfrm>
              <a:off x="2410662" y="4443330"/>
              <a:ext cx="1206528"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FIN</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ACK</a:t>
              </a:r>
            </a:p>
          </p:txBody>
        </p:sp>
        <p:sp>
          <p:nvSpPr>
            <p:cNvPr id="61" name="Text Box 61"/>
            <p:cNvSpPr txBox="1">
              <a:spLocks noChangeArrowheads="1"/>
            </p:cNvSpPr>
            <p:nvPr/>
          </p:nvSpPr>
          <p:spPr bwMode="auto">
            <a:xfrm>
              <a:off x="3480846" y="4545696"/>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800" b="1" dirty="0">
                  <a:latin typeface="微软雅黑" pitchFamily="34" charset="-122"/>
                  <a:ea typeface="微软雅黑" pitchFamily="34" charset="-122"/>
                </a:rPr>
                <a:t>同时关闭</a:t>
              </a:r>
            </a:p>
          </p:txBody>
        </p:sp>
        <p:sp>
          <p:nvSpPr>
            <p:cNvPr id="62" name="Text Box 62"/>
            <p:cNvSpPr txBox="1">
              <a:spLocks noChangeArrowheads="1"/>
            </p:cNvSpPr>
            <p:nvPr/>
          </p:nvSpPr>
          <p:spPr bwMode="auto">
            <a:xfrm>
              <a:off x="4667812" y="3251257"/>
              <a:ext cx="1206528"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FIN</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ACK</a:t>
              </a:r>
            </a:p>
          </p:txBody>
        </p:sp>
        <p:sp>
          <p:nvSpPr>
            <p:cNvPr id="63" name="Text Box 63"/>
            <p:cNvSpPr txBox="1">
              <a:spLocks noChangeArrowheads="1"/>
            </p:cNvSpPr>
            <p:nvPr/>
          </p:nvSpPr>
          <p:spPr bwMode="auto">
            <a:xfrm>
              <a:off x="4287266" y="1808163"/>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itchFamily="34" charset="-122"/>
                  <a:ea typeface="微软雅黑" pitchFamily="34" charset="-122"/>
                </a:rPr>
                <a:t>发送 </a:t>
              </a:r>
              <a:r>
                <a:rPr kumimoji="1" lang="en-US" altLang="zh-CN" sz="800" b="1">
                  <a:latin typeface="微软雅黑" pitchFamily="34" charset="-122"/>
                  <a:ea typeface="微软雅黑" pitchFamily="34" charset="-122"/>
                </a:rPr>
                <a:t>SYN</a:t>
              </a:r>
            </a:p>
          </p:txBody>
        </p:sp>
        <p:sp>
          <p:nvSpPr>
            <p:cNvPr id="64" name="Text Box 64"/>
            <p:cNvSpPr txBox="1">
              <a:spLocks noChangeArrowheads="1"/>
            </p:cNvSpPr>
            <p:nvPr/>
          </p:nvSpPr>
          <p:spPr bwMode="auto">
            <a:xfrm>
              <a:off x="3085116" y="6572876"/>
              <a:ext cx="1981112"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等待 </a:t>
              </a:r>
              <a:r>
                <a:rPr kumimoji="1" lang="en-US" altLang="zh-CN" sz="800" b="1" dirty="0">
                  <a:latin typeface="微软雅黑" pitchFamily="34" charset="-122"/>
                  <a:ea typeface="微软雅黑" pitchFamily="34" charset="-122"/>
                </a:rPr>
                <a:t>2MSL </a:t>
              </a:r>
              <a:r>
                <a:rPr kumimoji="1" lang="zh-CN" altLang="en-US" sz="800" b="1" dirty="0">
                  <a:latin typeface="微软雅黑" pitchFamily="34" charset="-122"/>
                  <a:ea typeface="微软雅黑" pitchFamily="34" charset="-122"/>
                </a:rPr>
                <a:t>时间后</a:t>
              </a:r>
            </a:p>
          </p:txBody>
        </p:sp>
        <p:sp>
          <p:nvSpPr>
            <p:cNvPr id="65" name="Line 65"/>
            <p:cNvSpPr>
              <a:spLocks noChangeShapeType="1"/>
            </p:cNvSpPr>
            <p:nvPr/>
          </p:nvSpPr>
          <p:spPr bwMode="auto">
            <a:xfrm flipV="1">
              <a:off x="4117007" y="488951"/>
              <a:ext cx="0" cy="758825"/>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66" name="Text Box 66"/>
            <p:cNvSpPr txBox="1">
              <a:spLocks noChangeArrowheads="1"/>
            </p:cNvSpPr>
            <p:nvPr/>
          </p:nvSpPr>
          <p:spPr bwMode="auto">
            <a:xfrm>
              <a:off x="4103249" y="846138"/>
              <a:ext cx="738740"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itchFamily="34" charset="-122"/>
                  <a:ea typeface="微软雅黑" pitchFamily="34" charset="-122"/>
                </a:rPr>
                <a:t>关闭</a:t>
              </a:r>
            </a:p>
          </p:txBody>
        </p:sp>
        <p:sp>
          <p:nvSpPr>
            <p:cNvPr id="67" name="Freeform 67"/>
            <p:cNvSpPr>
              <a:spLocks/>
            </p:cNvSpPr>
            <p:nvPr/>
          </p:nvSpPr>
          <p:spPr bwMode="auto">
            <a:xfrm>
              <a:off x="4455804" y="363537"/>
              <a:ext cx="4311579" cy="6094413"/>
            </a:xfrm>
            <a:custGeom>
              <a:avLst/>
              <a:gdLst>
                <a:gd name="T0" fmla="*/ 103 w 2196"/>
                <a:gd name="T1" fmla="*/ 4653 h 4653"/>
                <a:gd name="T2" fmla="*/ 1518 w 2196"/>
                <a:gd name="T3" fmla="*/ 4650 h 4653"/>
                <a:gd name="T4" fmla="*/ 1926 w 2196"/>
                <a:gd name="T5" fmla="*/ 4650 h 4653"/>
                <a:gd name="T6" fmla="*/ 2004 w 2196"/>
                <a:gd name="T7" fmla="*/ 4620 h 4653"/>
                <a:gd name="T8" fmla="*/ 2082 w 2196"/>
                <a:gd name="T9" fmla="*/ 4584 h 4653"/>
                <a:gd name="T10" fmla="*/ 2148 w 2196"/>
                <a:gd name="T11" fmla="*/ 4500 h 4653"/>
                <a:gd name="T12" fmla="*/ 2190 w 2196"/>
                <a:gd name="T13" fmla="*/ 4386 h 4653"/>
                <a:gd name="T14" fmla="*/ 2195 w 2196"/>
                <a:gd name="T15" fmla="*/ 4300 h 4653"/>
                <a:gd name="T16" fmla="*/ 2196 w 2196"/>
                <a:gd name="T17" fmla="*/ 336 h 4653"/>
                <a:gd name="T18" fmla="*/ 2184 w 2196"/>
                <a:gd name="T19" fmla="*/ 210 h 4653"/>
                <a:gd name="T20" fmla="*/ 2154 w 2196"/>
                <a:gd name="T21" fmla="*/ 126 h 4653"/>
                <a:gd name="T22" fmla="*/ 2070 w 2196"/>
                <a:gd name="T23" fmla="*/ 54 h 4653"/>
                <a:gd name="T24" fmla="*/ 1950 w 2196"/>
                <a:gd name="T25" fmla="*/ 6 h 4653"/>
                <a:gd name="T26" fmla="*/ 1806 w 2196"/>
                <a:gd name="T27" fmla="*/ 0 h 4653"/>
                <a:gd name="T28" fmla="*/ 256 w 2196"/>
                <a:gd name="T29" fmla="*/ 0 h 4653"/>
                <a:gd name="T30" fmla="*/ 0 w 2196"/>
                <a:gd name="T31" fmla="*/ 0 h 4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96" h="4653">
                  <a:moveTo>
                    <a:pt x="103" y="4653"/>
                  </a:moveTo>
                  <a:lnTo>
                    <a:pt x="1518" y="4650"/>
                  </a:lnTo>
                  <a:lnTo>
                    <a:pt x="1926" y="4650"/>
                  </a:lnTo>
                  <a:lnTo>
                    <a:pt x="2004" y="4620"/>
                  </a:lnTo>
                  <a:lnTo>
                    <a:pt x="2082" y="4584"/>
                  </a:lnTo>
                  <a:lnTo>
                    <a:pt x="2148" y="4500"/>
                  </a:lnTo>
                  <a:lnTo>
                    <a:pt x="2190" y="4386"/>
                  </a:lnTo>
                  <a:lnTo>
                    <a:pt x="2195" y="4300"/>
                  </a:lnTo>
                  <a:lnTo>
                    <a:pt x="2196" y="336"/>
                  </a:lnTo>
                  <a:lnTo>
                    <a:pt x="2184" y="210"/>
                  </a:lnTo>
                  <a:lnTo>
                    <a:pt x="2154" y="126"/>
                  </a:lnTo>
                  <a:lnTo>
                    <a:pt x="2070" y="54"/>
                  </a:lnTo>
                  <a:lnTo>
                    <a:pt x="1950" y="6"/>
                  </a:lnTo>
                  <a:lnTo>
                    <a:pt x="1806" y="0"/>
                  </a:lnTo>
                  <a:lnTo>
                    <a:pt x="256" y="0"/>
                  </a:lnTo>
                  <a:lnTo>
                    <a:pt x="0" y="0"/>
                  </a:lnTo>
                </a:path>
              </a:pathLst>
            </a:custGeom>
            <a:noFill/>
            <a:ln w="28575" cmpd="sng">
              <a:solidFill>
                <a:srgbClr val="0000FF"/>
              </a:solidFill>
              <a:round/>
              <a:headE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68" name="Line 31"/>
            <p:cNvSpPr>
              <a:spLocks noChangeShapeType="1"/>
            </p:cNvSpPr>
            <p:nvPr/>
          </p:nvSpPr>
          <p:spPr bwMode="auto">
            <a:xfrm rot="-5400000">
              <a:off x="7722729" y="1828911"/>
              <a:ext cx="0" cy="1218976"/>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grpSp>
      <p:sp>
        <p:nvSpPr>
          <p:cNvPr id="70" name="AutoShape 5"/>
          <p:cNvSpPr>
            <a:spLocks noChangeArrowheads="1"/>
          </p:cNvSpPr>
          <p:nvPr/>
        </p:nvSpPr>
        <p:spPr bwMode="auto">
          <a:xfrm>
            <a:off x="545143" y="574386"/>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71" name="Rectangle 6"/>
          <p:cNvSpPr>
            <a:spLocks noChangeArrowheads="1"/>
          </p:cNvSpPr>
          <p:nvPr/>
        </p:nvSpPr>
        <p:spPr bwMode="auto">
          <a:xfrm>
            <a:off x="2137301" y="532115"/>
            <a:ext cx="48694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5.6.3  TCP </a:t>
            </a:r>
            <a:r>
              <a:rPr lang="zh-CN" altLang="en-US" sz="2400" b="1" dirty="0">
                <a:solidFill>
                  <a:schemeClr val="bg1"/>
                </a:solidFill>
                <a:latin typeface="微软雅黑" pitchFamily="34" charset="-122"/>
                <a:ea typeface="微软雅黑" pitchFamily="34" charset="-122"/>
              </a:rPr>
              <a:t>的连接管理有限状态机</a:t>
            </a:r>
          </a:p>
        </p:txBody>
      </p:sp>
      <p:sp>
        <p:nvSpPr>
          <p:cNvPr id="4" name="矩形 3"/>
          <p:cNvSpPr/>
          <p:nvPr/>
        </p:nvSpPr>
        <p:spPr>
          <a:xfrm>
            <a:off x="1203986" y="3621397"/>
            <a:ext cx="2339102" cy="307777"/>
          </a:xfrm>
          <a:prstGeom prst="rect">
            <a:avLst/>
          </a:prstGeom>
        </p:spPr>
        <p:txBody>
          <a:bodyPr wrap="none">
            <a:spAutoFit/>
          </a:bodyPr>
          <a:lstStyle/>
          <a:p>
            <a:r>
              <a:rPr lang="zh-CN" altLang="en-US" sz="1400" b="1" dirty="0">
                <a:latin typeface="微软雅黑" panose="020B0503020204020204" pitchFamily="34" charset="-122"/>
                <a:ea typeface="微软雅黑" panose="020B0503020204020204" pitchFamily="34" charset="-122"/>
              </a:rPr>
              <a:t>对服务器进程的正常变迁。</a:t>
            </a:r>
          </a:p>
        </p:txBody>
      </p:sp>
      <p:sp>
        <p:nvSpPr>
          <p:cNvPr id="76" name="Line 22"/>
          <p:cNvSpPr>
            <a:spLocks noChangeShapeType="1"/>
          </p:cNvSpPr>
          <p:nvPr/>
        </p:nvSpPr>
        <p:spPr bwMode="auto">
          <a:xfrm>
            <a:off x="772662" y="3491176"/>
            <a:ext cx="437344" cy="0"/>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78" name="Line 22"/>
          <p:cNvSpPr>
            <a:spLocks noChangeShapeType="1"/>
          </p:cNvSpPr>
          <p:nvPr/>
        </p:nvSpPr>
        <p:spPr bwMode="auto">
          <a:xfrm>
            <a:off x="772662" y="3776500"/>
            <a:ext cx="437344" cy="0"/>
          </a:xfrm>
          <a:prstGeom prst="line">
            <a:avLst/>
          </a:prstGeom>
          <a:noFill/>
          <a:ln w="38100">
            <a:solidFill>
              <a:srgbClr val="CC00CC"/>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79" name="Line 22"/>
          <p:cNvSpPr>
            <a:spLocks noChangeShapeType="1"/>
          </p:cNvSpPr>
          <p:nvPr/>
        </p:nvSpPr>
        <p:spPr bwMode="auto">
          <a:xfrm>
            <a:off x="772662" y="4036738"/>
            <a:ext cx="437344" cy="0"/>
          </a:xfrm>
          <a:prstGeom prst="line">
            <a:avLst/>
          </a:prstGeom>
          <a:noFill/>
          <a:ln w="1905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 name="矩形 2"/>
          <p:cNvSpPr/>
          <p:nvPr/>
        </p:nvSpPr>
        <p:spPr>
          <a:xfrm>
            <a:off x="1156851" y="3327893"/>
            <a:ext cx="2159566" cy="307777"/>
          </a:xfrm>
          <a:prstGeom prst="rect">
            <a:avLst/>
          </a:prstGeom>
        </p:spPr>
        <p:txBody>
          <a:bodyPr wrap="none">
            <a:spAutoFit/>
          </a:bodyPr>
          <a:lstStyle/>
          <a:p>
            <a:r>
              <a:rPr lang="zh-CN" altLang="en-US" sz="1400" b="1" dirty="0">
                <a:latin typeface="微软雅黑" panose="020B0503020204020204" pitchFamily="34" charset="-122"/>
                <a:ea typeface="微软雅黑" panose="020B0503020204020204" pitchFamily="34" charset="-122"/>
              </a:rPr>
              <a:t>对客户进程的正常变迁。</a:t>
            </a:r>
          </a:p>
        </p:txBody>
      </p:sp>
      <p:sp>
        <p:nvSpPr>
          <p:cNvPr id="80" name="矩形 79"/>
          <p:cNvSpPr/>
          <p:nvPr/>
        </p:nvSpPr>
        <p:spPr>
          <a:xfrm>
            <a:off x="1156851" y="3903911"/>
            <a:ext cx="1135247" cy="307777"/>
          </a:xfrm>
          <a:prstGeom prst="rect">
            <a:avLst/>
          </a:prstGeom>
        </p:spPr>
        <p:txBody>
          <a:bodyPr wrap="none">
            <a:spAutoFit/>
          </a:bodyPr>
          <a:lstStyle/>
          <a:p>
            <a:r>
              <a:rPr lang="zh-CN" altLang="en-US" sz="1400" b="1" dirty="0">
                <a:latin typeface="微软雅黑" panose="020B0503020204020204" pitchFamily="34" charset="-122"/>
                <a:ea typeface="微软雅黑" panose="020B0503020204020204" pitchFamily="34" charset="-122"/>
              </a:rPr>
              <a:t>异常变迁。 </a:t>
            </a:r>
          </a:p>
        </p:txBody>
      </p:sp>
    </p:spTree>
    <p:extLst>
      <p:ext uri="{BB962C8B-B14F-4D97-AF65-F5344CB8AC3E}">
        <p14:creationId xmlns:p14="http://schemas.microsoft.com/office/powerpoint/2010/main" val="1573763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fade">
                                      <p:cBhvr>
                                        <p:cTn id="7" dur="1000"/>
                                        <p:tgtEl>
                                          <p:spTgt spid="69"/>
                                        </p:tgtEl>
                                      </p:cBhvr>
                                    </p:animEffect>
                                    <p:anim calcmode="lin" valueType="num">
                                      <p:cBhvr>
                                        <p:cTn id="8" dur="1000" fill="hold"/>
                                        <p:tgtEl>
                                          <p:spTgt spid="69"/>
                                        </p:tgtEl>
                                        <p:attrNameLst>
                                          <p:attrName>ppt_x</p:attrName>
                                        </p:attrNameLst>
                                      </p:cBhvr>
                                      <p:tavLst>
                                        <p:tav tm="0">
                                          <p:val>
                                            <p:strVal val="#ppt_x"/>
                                          </p:val>
                                        </p:tav>
                                        <p:tav tm="100000">
                                          <p:val>
                                            <p:strVal val="#ppt_x"/>
                                          </p:val>
                                        </p:tav>
                                      </p:tavLst>
                                    </p:anim>
                                    <p:anim calcmode="lin" valueType="num">
                                      <p:cBhvr>
                                        <p:cTn id="9" dur="1000" fill="hold"/>
                                        <p:tgtEl>
                                          <p:spTgt spid="6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5" presetClass="emph" presetSubtype="0" repeatCount="3000" fill="hold" grpId="0" nodeType="clickEffect">
                                  <p:stCondLst>
                                    <p:cond delay="0"/>
                                  </p:stCondLst>
                                  <p:childTnLst>
                                    <p:anim calcmode="discrete" valueType="str">
                                      <p:cBhvr>
                                        <p:cTn id="13" dur="1000" fill="hold"/>
                                        <p:tgtEl>
                                          <p:spTgt spid="76"/>
                                        </p:tgtEl>
                                        <p:attrNameLst>
                                          <p:attrName>style.visibility</p:attrName>
                                        </p:attrNameLst>
                                      </p:cBhvr>
                                      <p:tavLst>
                                        <p:tav tm="0">
                                          <p:val>
                                            <p:strVal val="hidden"/>
                                          </p:val>
                                        </p:tav>
                                        <p:tav tm="50000">
                                          <p:val>
                                            <p:strVal val="visible"/>
                                          </p:val>
                                        </p:tav>
                                      </p:tavLst>
                                    </p:anim>
                                  </p:childTnLst>
                                </p:cTn>
                              </p:par>
                            </p:childTnLst>
                          </p:cTn>
                        </p:par>
                      </p:childTnLst>
                    </p:cTn>
                  </p:par>
                  <p:par>
                    <p:cTn id="14" fill="hold">
                      <p:stCondLst>
                        <p:cond delay="indefinite"/>
                      </p:stCondLst>
                      <p:childTnLst>
                        <p:par>
                          <p:cTn id="15" fill="hold">
                            <p:stCondLst>
                              <p:cond delay="0"/>
                            </p:stCondLst>
                            <p:childTnLst>
                              <p:par>
                                <p:cTn id="16" presetID="35" presetClass="emph" presetSubtype="0" repeatCount="3000" fill="hold" grpId="0" nodeType="clickEffect">
                                  <p:stCondLst>
                                    <p:cond delay="0"/>
                                  </p:stCondLst>
                                  <p:childTnLst>
                                    <p:anim calcmode="discrete" valueType="str">
                                      <p:cBhvr>
                                        <p:cTn id="17" dur="1000" fill="hold"/>
                                        <p:tgtEl>
                                          <p:spTgt spid="78"/>
                                        </p:tgtEl>
                                        <p:attrNameLst>
                                          <p:attrName>style.visibility</p:attrName>
                                        </p:attrNameLst>
                                      </p:cBhvr>
                                      <p:tavLst>
                                        <p:tav tm="0">
                                          <p:val>
                                            <p:strVal val="hidden"/>
                                          </p:val>
                                        </p:tav>
                                        <p:tav tm="50000">
                                          <p:val>
                                            <p:strVal val="visible"/>
                                          </p:val>
                                        </p:tav>
                                      </p:tavLst>
                                    </p:anim>
                                  </p:childTnLst>
                                </p:cTn>
                              </p:par>
                            </p:childTnLst>
                          </p:cTn>
                        </p:par>
                      </p:childTnLst>
                    </p:cTn>
                  </p:par>
                  <p:par>
                    <p:cTn id="18" fill="hold">
                      <p:stCondLst>
                        <p:cond delay="indefinite"/>
                      </p:stCondLst>
                      <p:childTnLst>
                        <p:par>
                          <p:cTn id="19" fill="hold">
                            <p:stCondLst>
                              <p:cond delay="0"/>
                            </p:stCondLst>
                            <p:childTnLst>
                              <p:par>
                                <p:cTn id="20" presetID="35" presetClass="emph" presetSubtype="0" repeatCount="3000" fill="hold" grpId="0" nodeType="clickEffect">
                                  <p:stCondLst>
                                    <p:cond delay="0"/>
                                  </p:stCondLst>
                                  <p:childTnLst>
                                    <p:anim calcmode="discrete" valueType="str">
                                      <p:cBhvr>
                                        <p:cTn id="21" dur="1000" fill="hold"/>
                                        <p:tgtEl>
                                          <p:spTgt spid="7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78" grpId="0" animBg="1"/>
      <p:bldP spid="79"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9"/>
          <p:cNvSpPr>
            <a:spLocks noChangeArrowheads="1"/>
          </p:cNvSpPr>
          <p:nvPr/>
        </p:nvSpPr>
        <p:spPr bwMode="auto">
          <a:xfrm>
            <a:off x="2629135" y="2529226"/>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7" name="Rectangle 9"/>
          <p:cNvSpPr>
            <a:spLocks noChangeArrowheads="1"/>
          </p:cNvSpPr>
          <p:nvPr/>
        </p:nvSpPr>
        <p:spPr bwMode="auto">
          <a:xfrm>
            <a:off x="2629135" y="1326922"/>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8" name="Rectangle 10"/>
          <p:cNvSpPr>
            <a:spLocks noChangeArrowheads="1"/>
          </p:cNvSpPr>
          <p:nvPr/>
        </p:nvSpPr>
        <p:spPr bwMode="auto">
          <a:xfrm>
            <a:off x="2629135" y="1933347"/>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9" name="Line 16"/>
          <p:cNvSpPr>
            <a:spLocks noChangeShapeType="1"/>
          </p:cNvSpPr>
          <p:nvPr/>
        </p:nvSpPr>
        <p:spPr bwMode="auto">
          <a:xfrm>
            <a:off x="3637198" y="1255484"/>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Rectangle 8"/>
          <p:cNvSpPr>
            <a:spLocks noChangeArrowheads="1"/>
          </p:cNvSpPr>
          <p:nvPr/>
        </p:nvSpPr>
        <p:spPr bwMode="auto">
          <a:xfrm>
            <a:off x="2700573" y="1072922"/>
            <a:ext cx="5627639" cy="1846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dist" eaLnBrk="0" hangingPunct="0">
              <a:lnSpc>
                <a:spcPct val="200000"/>
              </a:lnSpc>
            </a:pPr>
            <a:r>
              <a:rPr lang="en-US" altLang="zh-CN" sz="2000" b="1" dirty="0">
                <a:solidFill>
                  <a:schemeClr val="bg1"/>
                </a:solidFill>
                <a:latin typeface="微软雅黑" pitchFamily="34" charset="-122"/>
                <a:ea typeface="微软雅黑" pitchFamily="34" charset="-122"/>
              </a:rPr>
              <a:t>5.7.1                                 TCP</a:t>
            </a:r>
            <a:r>
              <a:rPr lang="zh-CN" altLang="en-US" sz="2000" b="1" dirty="0">
                <a:solidFill>
                  <a:schemeClr val="bg1"/>
                </a:solidFill>
                <a:latin typeface="微软雅黑" pitchFamily="34" charset="-122"/>
                <a:ea typeface="微软雅黑" pitchFamily="34" charset="-122"/>
              </a:rPr>
              <a:t>的滑动窗口机制</a:t>
            </a:r>
          </a:p>
          <a:p>
            <a:pPr algn="dist" eaLnBrk="0" hangingPunct="0">
              <a:lnSpc>
                <a:spcPct val="200000"/>
              </a:lnSpc>
            </a:pPr>
            <a:r>
              <a:rPr lang="en-US" altLang="zh-CN" sz="2000" b="1" dirty="0">
                <a:solidFill>
                  <a:schemeClr val="bg1"/>
                </a:solidFill>
                <a:latin typeface="微软雅黑" pitchFamily="34" charset="-122"/>
                <a:ea typeface="微软雅黑" pitchFamily="34" charset="-122"/>
              </a:rPr>
              <a:t>5.7.2                                 </a:t>
            </a:r>
            <a:r>
              <a:rPr lang="zh-CN" altLang="en-US" sz="2000" b="1" dirty="0">
                <a:solidFill>
                  <a:schemeClr val="bg1"/>
                </a:solidFill>
                <a:latin typeface="微软雅黑" pitchFamily="34" charset="-122"/>
                <a:ea typeface="微软雅黑" pitchFamily="34" charset="-122"/>
              </a:rPr>
              <a:t>超时重传时间的选择  </a:t>
            </a:r>
          </a:p>
          <a:p>
            <a:pPr algn="dist" eaLnBrk="0" hangingPunct="0">
              <a:lnSpc>
                <a:spcPct val="200000"/>
              </a:lnSpc>
            </a:pPr>
            <a:r>
              <a:rPr lang="en-US" altLang="zh-CN" sz="2000" b="1" dirty="0">
                <a:solidFill>
                  <a:schemeClr val="bg1"/>
                </a:solidFill>
                <a:latin typeface="微软雅黑" pitchFamily="34" charset="-122"/>
                <a:ea typeface="微软雅黑" pitchFamily="34" charset="-122"/>
              </a:rPr>
              <a:t>5.7.3                                    </a:t>
            </a:r>
            <a:r>
              <a:rPr lang="zh-CN" altLang="en-US" sz="2000" b="1" dirty="0">
                <a:solidFill>
                  <a:schemeClr val="bg1"/>
                </a:solidFill>
                <a:latin typeface="微软雅黑" pitchFamily="34" charset="-122"/>
                <a:ea typeface="微软雅黑" pitchFamily="34" charset="-122"/>
              </a:rPr>
              <a:t>选择性确认 </a:t>
            </a:r>
            <a:r>
              <a:rPr lang="en-US" altLang="zh-CN" sz="2000" b="1" dirty="0">
                <a:solidFill>
                  <a:schemeClr val="bg1"/>
                </a:solidFill>
                <a:latin typeface="微软雅黑" pitchFamily="34" charset="-122"/>
                <a:ea typeface="微软雅黑" pitchFamily="34" charset="-122"/>
              </a:rPr>
              <a:t>SACK</a:t>
            </a:r>
          </a:p>
        </p:txBody>
      </p:sp>
      <p:sp>
        <p:nvSpPr>
          <p:cNvPr id="11" name="Rectangle 27"/>
          <p:cNvSpPr>
            <a:spLocks noChangeArrowheads="1"/>
          </p:cNvSpPr>
          <p:nvPr/>
        </p:nvSpPr>
        <p:spPr bwMode="auto">
          <a:xfrm>
            <a:off x="639730" y="132692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2" name="Rectangle 29"/>
          <p:cNvSpPr>
            <a:spLocks noChangeArrowheads="1"/>
          </p:cNvSpPr>
          <p:nvPr/>
        </p:nvSpPr>
        <p:spPr bwMode="auto">
          <a:xfrm>
            <a:off x="648619" y="1421854"/>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5.7</a:t>
            </a:r>
          </a:p>
          <a:p>
            <a:pPr eaLnBrk="0" hangingPunct="0"/>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可靠传输的实现</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88534924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utoShape 5"/>
          <p:cNvSpPr>
            <a:spLocks noChangeArrowheads="1"/>
          </p:cNvSpPr>
          <p:nvPr/>
        </p:nvSpPr>
        <p:spPr bwMode="auto">
          <a:xfrm>
            <a:off x="556963" y="619536"/>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5" name="Rectangle 6"/>
          <p:cNvSpPr>
            <a:spLocks noChangeArrowheads="1"/>
          </p:cNvSpPr>
          <p:nvPr/>
        </p:nvSpPr>
        <p:spPr bwMode="auto">
          <a:xfrm>
            <a:off x="2598963" y="586409"/>
            <a:ext cx="39460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5.7.1   TCP</a:t>
            </a:r>
            <a:r>
              <a:rPr lang="zh-CN" altLang="en-US" sz="2400" b="1" dirty="0">
                <a:solidFill>
                  <a:schemeClr val="bg1"/>
                </a:solidFill>
                <a:latin typeface="微软雅黑" pitchFamily="34" charset="-122"/>
                <a:ea typeface="微软雅黑" pitchFamily="34" charset="-122"/>
              </a:rPr>
              <a:t>的滑动窗口机制</a:t>
            </a:r>
          </a:p>
        </p:txBody>
      </p:sp>
      <p:sp>
        <p:nvSpPr>
          <p:cNvPr id="36" name="Rectangle 8"/>
          <p:cNvSpPr>
            <a:spLocks noChangeArrowheads="1"/>
          </p:cNvSpPr>
          <p:nvPr/>
        </p:nvSpPr>
        <p:spPr bwMode="auto">
          <a:xfrm>
            <a:off x="556963" y="1032561"/>
            <a:ext cx="8048776" cy="3433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a:t>
            </a:r>
            <a:r>
              <a:rPr lang="zh-CN" altLang="en-US" sz="2000" b="1" dirty="0">
                <a:solidFill>
                  <a:srgbClr val="C00000"/>
                </a:solidFill>
                <a:latin typeface="微软雅黑" pitchFamily="34" charset="-122"/>
                <a:ea typeface="微软雅黑" pitchFamily="34" charset="-122"/>
              </a:rPr>
              <a:t>属于连续</a:t>
            </a:r>
            <a:r>
              <a:rPr lang="en-US" altLang="zh-CN" sz="2000" b="1" dirty="0">
                <a:solidFill>
                  <a:srgbClr val="C00000"/>
                </a:solidFill>
                <a:latin typeface="微软雅黑" pitchFamily="34" charset="-122"/>
                <a:ea typeface="微软雅黑" pitchFamily="34" charset="-122"/>
              </a:rPr>
              <a:t>ARQ</a:t>
            </a:r>
            <a:r>
              <a:rPr lang="zh-CN" altLang="en-US" sz="2000" b="1" dirty="0">
                <a:latin typeface="微软雅黑" pitchFamily="34" charset="-122"/>
                <a:ea typeface="微软雅黑" pitchFamily="34" charset="-122"/>
              </a:rPr>
              <a:t>的一种具体实现，采用流水线传输和滑动窗口机制实现高效、可靠的</a:t>
            </a:r>
            <a:r>
              <a:rPr lang="zh-CN" altLang="en-US" sz="2000" b="1" dirty="0">
                <a:solidFill>
                  <a:srgbClr val="0000FF"/>
                </a:solidFill>
                <a:latin typeface="微软雅黑" pitchFamily="34" charset="-122"/>
                <a:ea typeface="微软雅黑" pitchFamily="34" charset="-122"/>
              </a:rPr>
              <a:t>字节流</a:t>
            </a:r>
            <a:r>
              <a:rPr lang="zh-CN" altLang="en-US" sz="2000" b="1" dirty="0">
                <a:latin typeface="微软雅黑" pitchFamily="34" charset="-122"/>
                <a:ea typeface="微软雅黑" pitchFamily="34" charset="-122"/>
              </a:rPr>
              <a:t>传输。</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发送方的应用进程把待发送字节流写入</a:t>
            </a:r>
            <a:r>
              <a:rPr lang="en-US" altLang="zh-CN" sz="2000" b="1" dirty="0">
                <a:latin typeface="微软雅黑" pitchFamily="34" charset="-122"/>
                <a:ea typeface="微软雅黑" pitchFamily="34" charset="-122"/>
              </a:rPr>
              <a:t>TCP</a:t>
            </a:r>
            <a:r>
              <a:rPr lang="zh-CN" altLang="en-US" sz="2000" b="1" dirty="0">
                <a:latin typeface="微软雅黑" pitchFamily="34" charset="-122"/>
                <a:ea typeface="微软雅黑" pitchFamily="34" charset="-122"/>
              </a:rPr>
              <a:t>的</a:t>
            </a:r>
            <a:r>
              <a:rPr lang="zh-CN" altLang="en-US" sz="2000" b="1" dirty="0">
                <a:solidFill>
                  <a:srgbClr val="0000FF"/>
                </a:solidFill>
                <a:latin typeface="微软雅黑" pitchFamily="34" charset="-122"/>
                <a:ea typeface="微软雅黑" pitchFamily="34" charset="-122"/>
              </a:rPr>
              <a:t>发送缓冲区</a:t>
            </a:r>
            <a:r>
              <a:rPr lang="zh-CN" altLang="en-US" sz="2000" b="1" dirty="0">
                <a:latin typeface="微软雅黑" pitchFamily="34" charset="-122"/>
                <a:ea typeface="微软雅黑" pitchFamily="34" charset="-122"/>
              </a:rPr>
              <a:t>，接收方的应用进程从</a:t>
            </a:r>
            <a:r>
              <a:rPr lang="en-US" altLang="zh-CN" sz="2000" b="1" dirty="0">
                <a:latin typeface="微软雅黑" pitchFamily="34" charset="-122"/>
                <a:ea typeface="微软雅黑" pitchFamily="34" charset="-122"/>
              </a:rPr>
              <a:t>TCP</a:t>
            </a:r>
            <a:r>
              <a:rPr lang="zh-CN" altLang="en-US" sz="2000" b="1" dirty="0">
                <a:latin typeface="微软雅黑" pitchFamily="34" charset="-122"/>
                <a:ea typeface="微软雅黑" pitchFamily="34" charset="-122"/>
              </a:rPr>
              <a:t>的</a:t>
            </a:r>
            <a:r>
              <a:rPr lang="zh-CN" altLang="en-US" sz="2000" b="1" dirty="0">
                <a:solidFill>
                  <a:srgbClr val="0000FF"/>
                </a:solidFill>
                <a:latin typeface="微软雅黑" pitchFamily="34" charset="-122"/>
                <a:ea typeface="微软雅黑" pitchFamily="34" charset="-122"/>
              </a:rPr>
              <a:t>接收缓冲区</a:t>
            </a:r>
            <a:r>
              <a:rPr lang="zh-CN" altLang="en-US" sz="2000" b="1" dirty="0">
                <a:latin typeface="微软雅黑" pitchFamily="34" charset="-122"/>
                <a:ea typeface="微软雅黑" pitchFamily="34" charset="-122"/>
              </a:rPr>
              <a:t>中读取收到的字节流。</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在我们讨论</a:t>
            </a:r>
            <a:r>
              <a:rPr lang="en-US" altLang="zh-CN" sz="2000" b="1" dirty="0">
                <a:latin typeface="微软雅黑" pitchFamily="34" charset="-122"/>
                <a:ea typeface="微软雅黑" pitchFamily="34" charset="-122"/>
              </a:rPr>
              <a:t>TCP</a:t>
            </a:r>
            <a:r>
              <a:rPr lang="zh-CN" altLang="en-US" sz="2000" b="1" dirty="0">
                <a:latin typeface="微软雅黑" pitchFamily="34" charset="-122"/>
                <a:ea typeface="微软雅黑" pitchFamily="34" charset="-122"/>
              </a:rPr>
              <a:t>的可靠传输问题时，假定数据传输是单向进行，即发送方发送数据，接收方发送确认。</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a:t>
            </a:r>
            <a:r>
              <a:rPr lang="zh-CN" altLang="en-US" sz="2000" b="1" dirty="0">
                <a:latin typeface="微软雅黑" pitchFamily="34" charset="-122"/>
                <a:ea typeface="微软雅黑" pitchFamily="34" charset="-122"/>
              </a:rPr>
              <a:t>的</a:t>
            </a:r>
            <a:r>
              <a:rPr lang="zh-CN" altLang="en-US" sz="2000" b="1" dirty="0">
                <a:solidFill>
                  <a:srgbClr val="C00000"/>
                </a:solidFill>
                <a:latin typeface="微软雅黑" pitchFamily="34" charset="-122"/>
                <a:ea typeface="微软雅黑" pitchFamily="34" charset="-122"/>
              </a:rPr>
              <a:t>滑动窗口以字节为单位</a:t>
            </a:r>
            <a:r>
              <a:rPr lang="zh-CN" altLang="en-US" sz="2000" b="1" dirty="0">
                <a:latin typeface="微软雅黑" pitchFamily="34" charset="-122"/>
                <a:ea typeface="微软雅黑" pitchFamily="34" charset="-122"/>
              </a:rPr>
              <a:t>，发送方和接收方分别维持一个</a:t>
            </a:r>
            <a:r>
              <a:rPr lang="zh-CN" altLang="en-US" sz="2000" b="1" dirty="0">
                <a:solidFill>
                  <a:srgbClr val="0000FF"/>
                </a:solidFill>
                <a:latin typeface="微软雅黑" pitchFamily="34" charset="-122"/>
                <a:ea typeface="微软雅黑" pitchFamily="34" charset="-122"/>
              </a:rPr>
              <a:t>发送窗口</a:t>
            </a:r>
            <a:r>
              <a:rPr lang="zh-CN" altLang="en-US" sz="2000" b="1" dirty="0">
                <a:latin typeface="微软雅黑" pitchFamily="34" charset="-122"/>
                <a:ea typeface="微软雅黑" pitchFamily="34" charset="-122"/>
              </a:rPr>
              <a:t>和一个</a:t>
            </a:r>
            <a:r>
              <a:rPr lang="zh-CN" altLang="en-US" sz="2000" b="1" dirty="0">
                <a:solidFill>
                  <a:srgbClr val="0000FF"/>
                </a:solidFill>
                <a:latin typeface="微软雅黑" pitchFamily="34" charset="-122"/>
                <a:ea typeface="微软雅黑" pitchFamily="34" charset="-122"/>
              </a:rPr>
              <a:t>接收窗口</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p:txBody>
      </p:sp>
    </p:spTree>
    <p:extLst>
      <p:ext uri="{BB962C8B-B14F-4D97-AF65-F5344CB8AC3E}">
        <p14:creationId xmlns:p14="http://schemas.microsoft.com/office/powerpoint/2010/main" val="1163553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6">
                                            <p:txEl>
                                              <p:pRg st="0" end="0"/>
                                            </p:txEl>
                                          </p:spTgt>
                                        </p:tgtEl>
                                        <p:attrNameLst>
                                          <p:attrName>style.visibility</p:attrName>
                                        </p:attrNameLst>
                                      </p:cBhvr>
                                      <p:to>
                                        <p:strVal val="visible"/>
                                      </p:to>
                                    </p:set>
                                    <p:animEffect transition="in" filter="fade">
                                      <p:cBhvr>
                                        <p:cTn id="7" dur="1000"/>
                                        <p:tgtEl>
                                          <p:spTgt spid="36">
                                            <p:txEl>
                                              <p:pRg st="0" end="0"/>
                                            </p:txEl>
                                          </p:spTgt>
                                        </p:tgtEl>
                                      </p:cBhvr>
                                    </p:animEffect>
                                    <p:anim calcmode="lin" valueType="num">
                                      <p:cBhvr>
                                        <p:cTn id="8" dur="1000" fill="hold"/>
                                        <p:tgtEl>
                                          <p:spTgt spid="3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6">
                                            <p:txEl>
                                              <p:pRg st="1" end="1"/>
                                            </p:txEl>
                                          </p:spTgt>
                                        </p:tgtEl>
                                        <p:attrNameLst>
                                          <p:attrName>style.visibility</p:attrName>
                                        </p:attrNameLst>
                                      </p:cBhvr>
                                      <p:to>
                                        <p:strVal val="visible"/>
                                      </p:to>
                                    </p:set>
                                    <p:animEffect transition="in" filter="fade">
                                      <p:cBhvr>
                                        <p:cTn id="14" dur="1000"/>
                                        <p:tgtEl>
                                          <p:spTgt spid="36">
                                            <p:txEl>
                                              <p:pRg st="1" end="1"/>
                                            </p:txEl>
                                          </p:spTgt>
                                        </p:tgtEl>
                                      </p:cBhvr>
                                    </p:animEffect>
                                    <p:anim calcmode="lin" valueType="num">
                                      <p:cBhvr>
                                        <p:cTn id="15" dur="1000" fill="hold"/>
                                        <p:tgtEl>
                                          <p:spTgt spid="3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6">
                                            <p:txEl>
                                              <p:pRg st="2" end="2"/>
                                            </p:txEl>
                                          </p:spTgt>
                                        </p:tgtEl>
                                        <p:attrNameLst>
                                          <p:attrName>style.visibility</p:attrName>
                                        </p:attrNameLst>
                                      </p:cBhvr>
                                      <p:to>
                                        <p:strVal val="visible"/>
                                      </p:to>
                                    </p:set>
                                    <p:animEffect transition="in" filter="fade">
                                      <p:cBhvr>
                                        <p:cTn id="21" dur="1000"/>
                                        <p:tgtEl>
                                          <p:spTgt spid="36">
                                            <p:txEl>
                                              <p:pRg st="2" end="2"/>
                                            </p:txEl>
                                          </p:spTgt>
                                        </p:tgtEl>
                                      </p:cBhvr>
                                    </p:animEffect>
                                    <p:anim calcmode="lin" valueType="num">
                                      <p:cBhvr>
                                        <p:cTn id="22" dur="1000" fill="hold"/>
                                        <p:tgtEl>
                                          <p:spTgt spid="3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6">
                                            <p:txEl>
                                              <p:pRg st="3" end="3"/>
                                            </p:txEl>
                                          </p:spTgt>
                                        </p:tgtEl>
                                        <p:attrNameLst>
                                          <p:attrName>style.visibility</p:attrName>
                                        </p:attrNameLst>
                                      </p:cBhvr>
                                      <p:to>
                                        <p:strVal val="visible"/>
                                      </p:to>
                                    </p:set>
                                    <p:animEffect transition="in" filter="fade">
                                      <p:cBhvr>
                                        <p:cTn id="28" dur="1000"/>
                                        <p:tgtEl>
                                          <p:spTgt spid="36">
                                            <p:txEl>
                                              <p:pRg st="3" end="3"/>
                                            </p:txEl>
                                          </p:spTgt>
                                        </p:tgtEl>
                                      </p:cBhvr>
                                    </p:animEffect>
                                    <p:anim calcmode="lin" valueType="num">
                                      <p:cBhvr>
                                        <p:cTn id="29" dur="1000" fill="hold"/>
                                        <p:tgtEl>
                                          <p:spTgt spid="3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圆角矩形 60">
            <a:extLst>
              <a:ext uri="{FF2B5EF4-FFF2-40B4-BE49-F238E27FC236}">
                <a16:creationId xmlns:a16="http://schemas.microsoft.com/office/drawing/2014/main" id="{7E92DA1C-14EE-6DD2-B33D-ECE6C17FAAF4}"/>
              </a:ext>
            </a:extLst>
          </p:cNvPr>
          <p:cNvSpPr/>
          <p:nvPr/>
        </p:nvSpPr>
        <p:spPr>
          <a:xfrm>
            <a:off x="545144" y="1020960"/>
            <a:ext cx="8053712" cy="149609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Rectangle 26">
            <a:extLst>
              <a:ext uri="{FF2B5EF4-FFF2-40B4-BE49-F238E27FC236}">
                <a16:creationId xmlns:a16="http://schemas.microsoft.com/office/drawing/2014/main" id="{DFC3CC9B-0F87-AAAA-14B8-E78A83A5CE9E}"/>
              </a:ext>
            </a:extLst>
          </p:cNvPr>
          <p:cNvSpPr>
            <a:spLocks noChangeArrowheads="1"/>
          </p:cNvSpPr>
          <p:nvPr/>
        </p:nvSpPr>
        <p:spPr bwMode="auto">
          <a:xfrm>
            <a:off x="2286237" y="1561693"/>
            <a:ext cx="1735772" cy="237807"/>
          </a:xfrm>
          <a:prstGeom prst="rect">
            <a:avLst/>
          </a:prstGeom>
          <a:solidFill>
            <a:srgbClr val="92D050"/>
          </a:solidFill>
          <a:ln>
            <a:noFill/>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9" name="Rectangle 14">
            <a:extLst>
              <a:ext uri="{FF2B5EF4-FFF2-40B4-BE49-F238E27FC236}">
                <a16:creationId xmlns:a16="http://schemas.microsoft.com/office/drawing/2014/main" id="{CEE1BBC6-981B-98A2-0EBA-E1382DC0B1F7}"/>
              </a:ext>
            </a:extLst>
          </p:cNvPr>
          <p:cNvSpPr>
            <a:spLocks noChangeArrowheads="1"/>
          </p:cNvSpPr>
          <p:nvPr/>
        </p:nvSpPr>
        <p:spPr bwMode="auto">
          <a:xfrm>
            <a:off x="5394404" y="1559471"/>
            <a:ext cx="1626868" cy="252253"/>
          </a:xfrm>
          <a:prstGeom prst="rect">
            <a:avLst/>
          </a:prstGeom>
          <a:solidFill>
            <a:srgbClr val="FFFF00"/>
          </a:solidFill>
          <a:ln>
            <a:noFill/>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2" name="Rectangle 6"/>
          <p:cNvSpPr>
            <a:spLocks noChangeArrowheads="1"/>
          </p:cNvSpPr>
          <p:nvPr/>
        </p:nvSpPr>
        <p:spPr bwMode="auto">
          <a:xfrm>
            <a:off x="2832506" y="587638"/>
            <a:ext cx="34976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a:t>
            </a:r>
            <a:r>
              <a:rPr lang="zh-CN" altLang="en-US" sz="2000" b="1" dirty="0">
                <a:solidFill>
                  <a:schemeClr val="bg1"/>
                </a:solidFill>
                <a:latin typeface="微软雅黑" pitchFamily="34" charset="-122"/>
                <a:ea typeface="微软雅黑" pitchFamily="34" charset="-122"/>
              </a:rPr>
              <a:t>的发送缓冲区和发送窗口</a:t>
            </a:r>
          </a:p>
        </p:txBody>
      </p:sp>
      <p:cxnSp>
        <p:nvCxnSpPr>
          <p:cNvPr id="5" name="直接箭头连接符 4">
            <a:extLst>
              <a:ext uri="{FF2B5EF4-FFF2-40B4-BE49-F238E27FC236}">
                <a16:creationId xmlns:a16="http://schemas.microsoft.com/office/drawing/2014/main" id="{393EB083-B0F0-3624-201D-EF9C853230C0}"/>
              </a:ext>
            </a:extLst>
          </p:cNvPr>
          <p:cNvCxnSpPr>
            <a:cxnSpLocks/>
          </p:cNvCxnSpPr>
          <p:nvPr/>
        </p:nvCxnSpPr>
        <p:spPr>
          <a:xfrm>
            <a:off x="2279570" y="1294994"/>
            <a:ext cx="4739481" cy="0"/>
          </a:xfrm>
          <a:prstGeom prst="straightConnector1">
            <a:avLst/>
          </a:prstGeom>
          <a:noFill/>
          <a:ln w="9525" cap="flat" cmpd="sng" algn="ctr">
            <a:solidFill>
              <a:srgbClr val="000000"/>
            </a:solidFill>
            <a:prstDash val="solid"/>
            <a:headEnd type="triangle" w="sm" len="lg"/>
            <a:tailEnd type="triangle" w="sm" len="lg"/>
          </a:ln>
          <a:effectLst/>
        </p:spPr>
      </p:cxnSp>
      <p:sp>
        <p:nvSpPr>
          <p:cNvPr id="56" name="矩形 55">
            <a:extLst>
              <a:ext uri="{FF2B5EF4-FFF2-40B4-BE49-F238E27FC236}">
                <a16:creationId xmlns:a16="http://schemas.microsoft.com/office/drawing/2014/main" id="{09695F6F-C326-D638-2295-9F13219C3BD3}"/>
              </a:ext>
            </a:extLst>
          </p:cNvPr>
          <p:cNvSpPr/>
          <p:nvPr/>
        </p:nvSpPr>
        <p:spPr>
          <a:xfrm>
            <a:off x="4254261" y="1169422"/>
            <a:ext cx="796766" cy="216694"/>
          </a:xfrm>
          <a:prstGeom prst="rect">
            <a:avLst/>
          </a:prstGeom>
          <a:solidFill>
            <a:srgbClr val="C3E3F9"/>
          </a:solidFill>
          <a:ln w="25400" cap="flat" cmpd="sng" algn="ctr">
            <a:noFill/>
            <a:prstDash val="solid"/>
          </a:ln>
          <a:effectLst/>
        </p:spPr>
        <p:txBody>
          <a:bodyPr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cxnSp>
        <p:nvCxnSpPr>
          <p:cNvPr id="57" name="直接箭头连接符 56">
            <a:extLst>
              <a:ext uri="{FF2B5EF4-FFF2-40B4-BE49-F238E27FC236}">
                <a16:creationId xmlns:a16="http://schemas.microsoft.com/office/drawing/2014/main" id="{92FDBFAF-27E8-2DC9-EF51-EB7D4910F3AF}"/>
              </a:ext>
            </a:extLst>
          </p:cNvPr>
          <p:cNvCxnSpPr>
            <a:cxnSpLocks/>
          </p:cNvCxnSpPr>
          <p:nvPr/>
        </p:nvCxnSpPr>
        <p:spPr>
          <a:xfrm>
            <a:off x="2288460" y="1449457"/>
            <a:ext cx="2815907" cy="0"/>
          </a:xfrm>
          <a:prstGeom prst="straightConnector1">
            <a:avLst/>
          </a:prstGeom>
          <a:noFill/>
          <a:ln w="9525" cap="flat" cmpd="sng" algn="ctr">
            <a:solidFill>
              <a:srgbClr val="000000"/>
            </a:solidFill>
            <a:prstDash val="solid"/>
            <a:headEnd type="triangle" w="sm" len="lg"/>
            <a:tailEnd type="triangle" w="sm" len="lg"/>
          </a:ln>
          <a:effectLst/>
        </p:spPr>
      </p:cxnSp>
      <p:sp>
        <p:nvSpPr>
          <p:cNvPr id="58" name="矩形 57">
            <a:extLst>
              <a:ext uri="{FF2B5EF4-FFF2-40B4-BE49-F238E27FC236}">
                <a16:creationId xmlns:a16="http://schemas.microsoft.com/office/drawing/2014/main" id="{A5C094E4-21B6-60E8-1CBD-F1B6F1E172D4}"/>
              </a:ext>
            </a:extLst>
          </p:cNvPr>
          <p:cNvSpPr/>
          <p:nvPr/>
        </p:nvSpPr>
        <p:spPr>
          <a:xfrm>
            <a:off x="3409711" y="1360558"/>
            <a:ext cx="632146" cy="170019"/>
          </a:xfrm>
          <a:prstGeom prst="rect">
            <a:avLst/>
          </a:prstGeom>
          <a:solidFill>
            <a:srgbClr val="C3E3F9"/>
          </a:solidFill>
          <a:ln w="25400" cap="flat" cmpd="sng" algn="ctr">
            <a:noFill/>
            <a:prstDash val="solid"/>
          </a:ln>
          <a:effectLst/>
        </p:spPr>
        <p:txBody>
          <a:bodyPr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59" name="Rectangle 14">
            <a:extLst>
              <a:ext uri="{FF2B5EF4-FFF2-40B4-BE49-F238E27FC236}">
                <a16:creationId xmlns:a16="http://schemas.microsoft.com/office/drawing/2014/main" id="{967CC231-12BB-A952-675A-16C69629D125}"/>
              </a:ext>
            </a:extLst>
          </p:cNvPr>
          <p:cNvSpPr>
            <a:spLocks noChangeArrowheads="1"/>
          </p:cNvSpPr>
          <p:nvPr/>
        </p:nvSpPr>
        <p:spPr bwMode="auto">
          <a:xfrm>
            <a:off x="4024231" y="1559471"/>
            <a:ext cx="1389061" cy="252253"/>
          </a:xfrm>
          <a:prstGeom prst="rect">
            <a:avLst/>
          </a:prstGeom>
          <a:solidFill>
            <a:srgbClr val="FFC000"/>
          </a:solidFill>
          <a:ln>
            <a:noFill/>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nvGrpSpPr>
          <p:cNvPr id="63" name="组合 2">
            <a:extLst>
              <a:ext uri="{FF2B5EF4-FFF2-40B4-BE49-F238E27FC236}">
                <a16:creationId xmlns:a16="http://schemas.microsoft.com/office/drawing/2014/main" id="{1C9A0C8B-F58E-E44D-BF59-B0E5069110C5}"/>
              </a:ext>
            </a:extLst>
          </p:cNvPr>
          <p:cNvGrpSpPr>
            <a:grpSpLocks/>
          </p:cNvGrpSpPr>
          <p:nvPr/>
        </p:nvGrpSpPr>
        <p:grpSpPr bwMode="auto">
          <a:xfrm>
            <a:off x="1521697" y="1563916"/>
            <a:ext cx="6496367" cy="246697"/>
            <a:chOff x="1408113" y="1868488"/>
            <a:chExt cx="4040187" cy="352425"/>
          </a:xfrm>
        </p:grpSpPr>
        <p:sp>
          <p:nvSpPr>
            <p:cNvPr id="166" name="Line 10">
              <a:extLst>
                <a:ext uri="{FF2B5EF4-FFF2-40B4-BE49-F238E27FC236}">
                  <a16:creationId xmlns:a16="http://schemas.microsoft.com/office/drawing/2014/main" id="{0697211B-3356-FABD-A3F1-DF45439B454C}"/>
                </a:ext>
              </a:extLst>
            </p:cNvPr>
            <p:cNvSpPr>
              <a:spLocks noChangeShapeType="1"/>
            </p:cNvSpPr>
            <p:nvPr/>
          </p:nvSpPr>
          <p:spPr bwMode="auto">
            <a:xfrm>
              <a:off x="1408113" y="1868488"/>
              <a:ext cx="4032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7" name="Line 11">
              <a:extLst>
                <a:ext uri="{FF2B5EF4-FFF2-40B4-BE49-F238E27FC236}">
                  <a16:creationId xmlns:a16="http://schemas.microsoft.com/office/drawing/2014/main" id="{1969F160-1AC6-4ACC-CF4C-011E84219931}"/>
                </a:ext>
              </a:extLst>
            </p:cNvPr>
            <p:cNvSpPr>
              <a:spLocks noChangeShapeType="1"/>
            </p:cNvSpPr>
            <p:nvPr/>
          </p:nvSpPr>
          <p:spPr bwMode="auto">
            <a:xfrm>
              <a:off x="1416050" y="2220913"/>
              <a:ext cx="4032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64" name="Line 15">
            <a:extLst>
              <a:ext uri="{FF2B5EF4-FFF2-40B4-BE49-F238E27FC236}">
                <a16:creationId xmlns:a16="http://schemas.microsoft.com/office/drawing/2014/main" id="{E095DA77-D8CE-03B4-8482-811F7D789E8B}"/>
              </a:ext>
            </a:extLst>
          </p:cNvPr>
          <p:cNvSpPr>
            <a:spLocks noChangeShapeType="1"/>
          </p:cNvSpPr>
          <p:nvPr/>
        </p:nvSpPr>
        <p:spPr bwMode="auto">
          <a:xfrm>
            <a:off x="2279570" y="1558359"/>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5" name="Line 16">
            <a:extLst>
              <a:ext uri="{FF2B5EF4-FFF2-40B4-BE49-F238E27FC236}">
                <a16:creationId xmlns:a16="http://schemas.microsoft.com/office/drawing/2014/main" id="{A4B377FE-90F6-999C-4E64-C58767C17F30}"/>
              </a:ext>
            </a:extLst>
          </p:cNvPr>
          <p:cNvSpPr>
            <a:spLocks noChangeShapeType="1"/>
          </p:cNvSpPr>
          <p:nvPr/>
        </p:nvSpPr>
        <p:spPr bwMode="auto">
          <a:xfrm flipH="1">
            <a:off x="5404404" y="1558359"/>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6" name="Line 23">
            <a:extLst>
              <a:ext uri="{FF2B5EF4-FFF2-40B4-BE49-F238E27FC236}">
                <a16:creationId xmlns:a16="http://schemas.microsoft.com/office/drawing/2014/main" id="{DCC0A1B4-D065-233C-EC7E-8E01268E8889}"/>
              </a:ext>
            </a:extLst>
          </p:cNvPr>
          <p:cNvSpPr>
            <a:spLocks noChangeShapeType="1"/>
          </p:cNvSpPr>
          <p:nvPr/>
        </p:nvSpPr>
        <p:spPr bwMode="auto">
          <a:xfrm>
            <a:off x="4018676" y="1558359"/>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8" name="Text Box 27">
            <a:extLst>
              <a:ext uri="{FF2B5EF4-FFF2-40B4-BE49-F238E27FC236}">
                <a16:creationId xmlns:a16="http://schemas.microsoft.com/office/drawing/2014/main" id="{61C3B94F-F65C-8FD3-A816-12827AE73806}"/>
              </a:ext>
            </a:extLst>
          </p:cNvPr>
          <p:cNvSpPr txBox="1">
            <a:spLocks noChangeArrowheads="1"/>
          </p:cNvSpPr>
          <p:nvPr/>
        </p:nvSpPr>
        <p:spPr bwMode="auto">
          <a:xfrm>
            <a:off x="3337635" y="1301535"/>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发送窗口</a:t>
            </a:r>
          </a:p>
        </p:txBody>
      </p:sp>
      <p:sp>
        <p:nvSpPr>
          <p:cNvPr id="69" name="Freeform 36">
            <a:extLst>
              <a:ext uri="{FF2B5EF4-FFF2-40B4-BE49-F238E27FC236}">
                <a16:creationId xmlns:a16="http://schemas.microsoft.com/office/drawing/2014/main" id="{36382415-8BF2-6D44-F758-A4565C95AA14}"/>
              </a:ext>
            </a:extLst>
          </p:cNvPr>
          <p:cNvSpPr>
            <a:spLocks/>
          </p:cNvSpPr>
          <p:nvPr/>
        </p:nvSpPr>
        <p:spPr bwMode="auto">
          <a:xfrm>
            <a:off x="7974726" y="1526134"/>
            <a:ext cx="48895" cy="300037"/>
          </a:xfrm>
          <a:custGeom>
            <a:avLst/>
            <a:gdLst>
              <a:gd name="T0" fmla="*/ 2147483646 w 36"/>
              <a:gd name="T1" fmla="*/ 0 h 286"/>
              <a:gd name="T2" fmla="*/ 2147483646 w 36"/>
              <a:gd name="T3" fmla="*/ 2147483646 h 286"/>
              <a:gd name="T4" fmla="*/ 2147483646 w 36"/>
              <a:gd name="T5" fmla="*/ 2147483646 h 286"/>
              <a:gd name="T6" fmla="*/ 2147483646 w 36"/>
              <a:gd name="T7" fmla="*/ 2147483646 h 286"/>
              <a:gd name="T8" fmla="*/ 0 w 36"/>
              <a:gd name="T9" fmla="*/ 2147483646 h 286"/>
              <a:gd name="T10" fmla="*/ 2147483646 w 36"/>
              <a:gd name="T11" fmla="*/ 2147483646 h 286"/>
              <a:gd name="T12" fmla="*/ 2147483646 w 36"/>
              <a:gd name="T13" fmla="*/ 2147483646 h 286"/>
              <a:gd name="T14" fmla="*/ 2147483646 w 36"/>
              <a:gd name="T15" fmla="*/ 2147483646 h 286"/>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86"/>
              <a:gd name="T26" fmla="*/ 36 w 36"/>
              <a:gd name="T27" fmla="*/ 286 h 28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0" name="Freeform 39">
            <a:extLst>
              <a:ext uri="{FF2B5EF4-FFF2-40B4-BE49-F238E27FC236}">
                <a16:creationId xmlns:a16="http://schemas.microsoft.com/office/drawing/2014/main" id="{6CFB09B5-C299-B9FC-B6DD-ECD79E5FA6B8}"/>
              </a:ext>
            </a:extLst>
          </p:cNvPr>
          <p:cNvSpPr>
            <a:spLocks/>
          </p:cNvSpPr>
          <p:nvPr/>
        </p:nvSpPr>
        <p:spPr bwMode="auto">
          <a:xfrm>
            <a:off x="1472802" y="1538357"/>
            <a:ext cx="73342" cy="304482"/>
          </a:xfrm>
          <a:custGeom>
            <a:avLst/>
            <a:gdLst>
              <a:gd name="T0" fmla="*/ 2147483646 w 66"/>
              <a:gd name="T1" fmla="*/ 0 h 274"/>
              <a:gd name="T2" fmla="*/ 2147483646 w 66"/>
              <a:gd name="T3" fmla="*/ 2147483646 h 274"/>
              <a:gd name="T4" fmla="*/ 2147483646 w 66"/>
              <a:gd name="T5" fmla="*/ 2147483646 h 274"/>
              <a:gd name="T6" fmla="*/ 2147483646 w 66"/>
              <a:gd name="T7" fmla="*/ 2147483646 h 274"/>
              <a:gd name="T8" fmla="*/ 0 w 66"/>
              <a:gd name="T9" fmla="*/ 2147483646 h 274"/>
              <a:gd name="T10" fmla="*/ 2147483646 w 66"/>
              <a:gd name="T11" fmla="*/ 2147483646 h 274"/>
              <a:gd name="T12" fmla="*/ 2147483646 w 66"/>
              <a:gd name="T13" fmla="*/ 2147483646 h 274"/>
              <a:gd name="T14" fmla="*/ 0 60000 65536"/>
              <a:gd name="T15" fmla="*/ 0 60000 65536"/>
              <a:gd name="T16" fmla="*/ 0 60000 65536"/>
              <a:gd name="T17" fmla="*/ 0 60000 65536"/>
              <a:gd name="T18" fmla="*/ 0 60000 65536"/>
              <a:gd name="T19" fmla="*/ 0 60000 65536"/>
              <a:gd name="T20" fmla="*/ 0 60000 65536"/>
              <a:gd name="T21" fmla="*/ 0 w 66"/>
              <a:gd name="T22" fmla="*/ 0 h 274"/>
              <a:gd name="T23" fmla="*/ 66 w 66"/>
              <a:gd name="T24" fmla="*/ 274 h 2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274">
                <a:moveTo>
                  <a:pt x="14" y="0"/>
                </a:moveTo>
                <a:lnTo>
                  <a:pt x="66" y="46"/>
                </a:lnTo>
                <a:lnTo>
                  <a:pt x="6" y="84"/>
                </a:lnTo>
                <a:lnTo>
                  <a:pt x="54" y="136"/>
                </a:lnTo>
                <a:lnTo>
                  <a:pt x="0" y="178"/>
                </a:lnTo>
                <a:lnTo>
                  <a:pt x="54" y="214"/>
                </a:lnTo>
                <a:lnTo>
                  <a:pt x="12" y="274"/>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1" name="Line 43">
            <a:extLst>
              <a:ext uri="{FF2B5EF4-FFF2-40B4-BE49-F238E27FC236}">
                <a16:creationId xmlns:a16="http://schemas.microsoft.com/office/drawing/2014/main" id="{4DAE87F9-65AB-7474-D749-17E72E9A77D8}"/>
              </a:ext>
            </a:extLst>
          </p:cNvPr>
          <p:cNvSpPr>
            <a:spLocks noChangeShapeType="1"/>
          </p:cNvSpPr>
          <p:nvPr/>
        </p:nvSpPr>
        <p:spPr bwMode="auto">
          <a:xfrm>
            <a:off x="7524669" y="1869509"/>
            <a:ext cx="504507" cy="0"/>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2" name="Text Box 44">
            <a:extLst>
              <a:ext uri="{FF2B5EF4-FFF2-40B4-BE49-F238E27FC236}">
                <a16:creationId xmlns:a16="http://schemas.microsoft.com/office/drawing/2014/main" id="{A23C1214-7450-A1D4-1D05-0B4FE732799C}"/>
              </a:ext>
            </a:extLst>
          </p:cNvPr>
          <p:cNvSpPr txBox="1">
            <a:spLocks noChangeArrowheads="1"/>
          </p:cNvSpPr>
          <p:nvPr/>
        </p:nvSpPr>
        <p:spPr bwMode="auto">
          <a:xfrm>
            <a:off x="7376814" y="1872844"/>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序号增大</a:t>
            </a:r>
          </a:p>
        </p:txBody>
      </p:sp>
      <p:sp>
        <p:nvSpPr>
          <p:cNvPr id="73" name="Text Box 65">
            <a:extLst>
              <a:ext uri="{FF2B5EF4-FFF2-40B4-BE49-F238E27FC236}">
                <a16:creationId xmlns:a16="http://schemas.microsoft.com/office/drawing/2014/main" id="{B01C3077-E829-7849-DDEF-139E2F4170A2}"/>
              </a:ext>
            </a:extLst>
          </p:cNvPr>
          <p:cNvSpPr txBox="1">
            <a:spLocks noChangeArrowheads="1"/>
          </p:cNvSpPr>
          <p:nvPr/>
        </p:nvSpPr>
        <p:spPr bwMode="auto">
          <a:xfrm>
            <a:off x="970370" y="1568361"/>
            <a:ext cx="3914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(a)</a:t>
            </a:r>
          </a:p>
        </p:txBody>
      </p:sp>
      <p:sp>
        <p:nvSpPr>
          <p:cNvPr id="74" name="Line 19">
            <a:extLst>
              <a:ext uri="{FF2B5EF4-FFF2-40B4-BE49-F238E27FC236}">
                <a16:creationId xmlns:a16="http://schemas.microsoft.com/office/drawing/2014/main" id="{7F1E70E4-A41F-41AC-BB6F-7075DE6CEC1C}"/>
              </a:ext>
            </a:extLst>
          </p:cNvPr>
          <p:cNvSpPr>
            <a:spLocks noChangeShapeType="1"/>
          </p:cNvSpPr>
          <p:nvPr/>
        </p:nvSpPr>
        <p:spPr bwMode="auto">
          <a:xfrm flipV="1">
            <a:off x="2261790" y="1810613"/>
            <a:ext cx="0" cy="181133"/>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5" name="Line 19">
            <a:extLst>
              <a:ext uri="{FF2B5EF4-FFF2-40B4-BE49-F238E27FC236}">
                <a16:creationId xmlns:a16="http://schemas.microsoft.com/office/drawing/2014/main" id="{96C95F61-7C62-342A-A4FD-D6526D8FC45B}"/>
              </a:ext>
            </a:extLst>
          </p:cNvPr>
          <p:cNvSpPr>
            <a:spLocks noChangeShapeType="1"/>
          </p:cNvSpPr>
          <p:nvPr/>
        </p:nvSpPr>
        <p:spPr bwMode="auto">
          <a:xfrm flipV="1">
            <a:off x="4003119" y="1813947"/>
            <a:ext cx="0" cy="181134"/>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cxnSp>
        <p:nvCxnSpPr>
          <p:cNvPr id="76" name="直接连接符 75">
            <a:extLst>
              <a:ext uri="{FF2B5EF4-FFF2-40B4-BE49-F238E27FC236}">
                <a16:creationId xmlns:a16="http://schemas.microsoft.com/office/drawing/2014/main" id="{3242466D-685F-4AA2-921B-926E87A5A5F9}"/>
              </a:ext>
            </a:extLst>
          </p:cNvPr>
          <p:cNvCxnSpPr>
            <a:cxnSpLocks/>
          </p:cNvCxnSpPr>
          <p:nvPr/>
        </p:nvCxnSpPr>
        <p:spPr>
          <a:xfrm>
            <a:off x="5102144" y="1391672"/>
            <a:ext cx="0" cy="407829"/>
          </a:xfrm>
          <a:prstGeom prst="line">
            <a:avLst/>
          </a:prstGeom>
          <a:noFill/>
          <a:ln w="12700" cap="flat" cmpd="sng" algn="ctr">
            <a:solidFill>
              <a:srgbClr val="000000"/>
            </a:solidFill>
            <a:prstDash val="solid"/>
          </a:ln>
          <a:effectLst/>
        </p:spPr>
      </p:cxnSp>
      <p:sp>
        <p:nvSpPr>
          <p:cNvPr id="77" name="Text Box 27">
            <a:extLst>
              <a:ext uri="{FF2B5EF4-FFF2-40B4-BE49-F238E27FC236}">
                <a16:creationId xmlns:a16="http://schemas.microsoft.com/office/drawing/2014/main" id="{33D0FBC2-449D-4E6A-7B7E-DAC9ACC14F48}"/>
              </a:ext>
            </a:extLst>
          </p:cNvPr>
          <p:cNvSpPr txBox="1">
            <a:spLocks noChangeArrowheads="1"/>
          </p:cNvSpPr>
          <p:nvPr/>
        </p:nvSpPr>
        <p:spPr bwMode="auto">
          <a:xfrm>
            <a:off x="4194254" y="1149014"/>
            <a:ext cx="9541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发送缓冲区</a:t>
            </a:r>
          </a:p>
        </p:txBody>
      </p:sp>
      <p:sp>
        <p:nvSpPr>
          <p:cNvPr id="78" name="Text Box 20">
            <a:extLst>
              <a:ext uri="{FF2B5EF4-FFF2-40B4-BE49-F238E27FC236}">
                <a16:creationId xmlns:a16="http://schemas.microsoft.com/office/drawing/2014/main" id="{BE305AD3-23A8-3180-191A-3CA488B742C0}"/>
              </a:ext>
            </a:extLst>
          </p:cNvPr>
          <p:cNvSpPr txBox="1">
            <a:spLocks noChangeArrowheads="1"/>
          </p:cNvSpPr>
          <p:nvPr/>
        </p:nvSpPr>
        <p:spPr bwMode="auto">
          <a:xfrm>
            <a:off x="4246690" y="1553782"/>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待发送</a:t>
            </a:r>
          </a:p>
        </p:txBody>
      </p:sp>
      <p:sp>
        <p:nvSpPr>
          <p:cNvPr id="79" name="Text Box 20">
            <a:extLst>
              <a:ext uri="{FF2B5EF4-FFF2-40B4-BE49-F238E27FC236}">
                <a16:creationId xmlns:a16="http://schemas.microsoft.com/office/drawing/2014/main" id="{E6A8EF0B-EA1B-C7D2-46DE-D7E175AACA59}"/>
              </a:ext>
            </a:extLst>
          </p:cNvPr>
          <p:cNvSpPr txBox="1">
            <a:spLocks noChangeArrowheads="1"/>
          </p:cNvSpPr>
          <p:nvPr/>
        </p:nvSpPr>
        <p:spPr bwMode="auto">
          <a:xfrm>
            <a:off x="1811407" y="1945073"/>
            <a:ext cx="9541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最后被确认</a:t>
            </a:r>
            <a:endParaRPr kumimoji="0" lang="en-US" altLang="zh-CN"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的字节</a:t>
            </a:r>
          </a:p>
        </p:txBody>
      </p:sp>
      <p:sp>
        <p:nvSpPr>
          <p:cNvPr id="80" name="Text Box 20">
            <a:extLst>
              <a:ext uri="{FF2B5EF4-FFF2-40B4-BE49-F238E27FC236}">
                <a16:creationId xmlns:a16="http://schemas.microsoft.com/office/drawing/2014/main" id="{AC125E6A-119D-91D5-5365-83EF7BAAB7C5}"/>
              </a:ext>
            </a:extLst>
          </p:cNvPr>
          <p:cNvSpPr txBox="1">
            <a:spLocks noChangeArrowheads="1"/>
          </p:cNvSpPr>
          <p:nvPr/>
        </p:nvSpPr>
        <p:spPr bwMode="auto">
          <a:xfrm>
            <a:off x="3593564" y="1956187"/>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最后发送</a:t>
            </a:r>
            <a:endParaRPr kumimoji="0" lang="en-US" altLang="zh-CN"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的字节</a:t>
            </a:r>
          </a:p>
        </p:txBody>
      </p:sp>
      <p:sp>
        <p:nvSpPr>
          <p:cNvPr id="81" name="Text Box 20">
            <a:extLst>
              <a:ext uri="{FF2B5EF4-FFF2-40B4-BE49-F238E27FC236}">
                <a16:creationId xmlns:a16="http://schemas.microsoft.com/office/drawing/2014/main" id="{A68C44B0-3689-D905-D589-EE26F7FB77A5}"/>
              </a:ext>
            </a:extLst>
          </p:cNvPr>
          <p:cNvSpPr txBox="1">
            <a:spLocks noChangeArrowheads="1"/>
          </p:cNvSpPr>
          <p:nvPr/>
        </p:nvSpPr>
        <p:spPr bwMode="auto">
          <a:xfrm>
            <a:off x="4978737" y="1965077"/>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最后写入</a:t>
            </a:r>
            <a:endParaRPr kumimoji="0" lang="en-US" altLang="zh-CN"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的字节</a:t>
            </a:r>
          </a:p>
        </p:txBody>
      </p:sp>
      <p:sp>
        <p:nvSpPr>
          <p:cNvPr id="82" name="Line 19">
            <a:extLst>
              <a:ext uri="{FF2B5EF4-FFF2-40B4-BE49-F238E27FC236}">
                <a16:creationId xmlns:a16="http://schemas.microsoft.com/office/drawing/2014/main" id="{DD75E9AF-93D0-7A2E-0CFF-168E20B84F88}"/>
              </a:ext>
            </a:extLst>
          </p:cNvPr>
          <p:cNvSpPr>
            <a:spLocks noChangeShapeType="1"/>
          </p:cNvSpPr>
          <p:nvPr/>
        </p:nvSpPr>
        <p:spPr bwMode="auto">
          <a:xfrm flipV="1">
            <a:off x="5394404" y="1810613"/>
            <a:ext cx="0" cy="181133"/>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83" name="Text Box 20">
            <a:extLst>
              <a:ext uri="{FF2B5EF4-FFF2-40B4-BE49-F238E27FC236}">
                <a16:creationId xmlns:a16="http://schemas.microsoft.com/office/drawing/2014/main" id="{C5396240-7B69-65D2-1326-C2E74A6ACBE6}"/>
              </a:ext>
            </a:extLst>
          </p:cNvPr>
          <p:cNvSpPr txBox="1">
            <a:spLocks noChangeArrowheads="1"/>
          </p:cNvSpPr>
          <p:nvPr/>
        </p:nvSpPr>
        <p:spPr bwMode="auto">
          <a:xfrm>
            <a:off x="2734279" y="1553782"/>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已发送</a:t>
            </a:r>
          </a:p>
        </p:txBody>
      </p:sp>
      <p:cxnSp>
        <p:nvCxnSpPr>
          <p:cNvPr id="84" name="直接连接符 83">
            <a:extLst>
              <a:ext uri="{FF2B5EF4-FFF2-40B4-BE49-F238E27FC236}">
                <a16:creationId xmlns:a16="http://schemas.microsoft.com/office/drawing/2014/main" id="{31949B62-2658-63CD-6151-62F1298D3915}"/>
              </a:ext>
            </a:extLst>
          </p:cNvPr>
          <p:cNvCxnSpPr>
            <a:cxnSpLocks/>
          </p:cNvCxnSpPr>
          <p:nvPr/>
        </p:nvCxnSpPr>
        <p:spPr>
          <a:xfrm>
            <a:off x="2277347" y="1229429"/>
            <a:ext cx="0" cy="570071"/>
          </a:xfrm>
          <a:prstGeom prst="line">
            <a:avLst/>
          </a:prstGeom>
          <a:noFill/>
          <a:ln w="9525" cap="flat" cmpd="sng" algn="ctr">
            <a:solidFill>
              <a:srgbClr val="000000"/>
            </a:solidFill>
            <a:prstDash val="solid"/>
          </a:ln>
          <a:effectLst/>
        </p:spPr>
      </p:cxnSp>
      <p:cxnSp>
        <p:nvCxnSpPr>
          <p:cNvPr id="85" name="直接连接符 84">
            <a:extLst>
              <a:ext uri="{FF2B5EF4-FFF2-40B4-BE49-F238E27FC236}">
                <a16:creationId xmlns:a16="http://schemas.microsoft.com/office/drawing/2014/main" id="{E91A0A03-7594-9D8E-D3A0-3F81E5E02DB7}"/>
              </a:ext>
            </a:extLst>
          </p:cNvPr>
          <p:cNvCxnSpPr>
            <a:cxnSpLocks/>
          </p:cNvCxnSpPr>
          <p:nvPr/>
        </p:nvCxnSpPr>
        <p:spPr>
          <a:xfrm>
            <a:off x="7019051" y="1240542"/>
            <a:ext cx="0" cy="570071"/>
          </a:xfrm>
          <a:prstGeom prst="line">
            <a:avLst/>
          </a:prstGeom>
          <a:noFill/>
          <a:ln w="9525" cap="flat" cmpd="sng" algn="ctr">
            <a:solidFill>
              <a:srgbClr val="000000"/>
            </a:solidFill>
            <a:prstDash val="solid"/>
          </a:ln>
          <a:effectLst/>
        </p:spPr>
      </p:cxnSp>
      <p:cxnSp>
        <p:nvCxnSpPr>
          <p:cNvPr id="86" name="直接连接符 85">
            <a:extLst>
              <a:ext uri="{FF2B5EF4-FFF2-40B4-BE49-F238E27FC236}">
                <a16:creationId xmlns:a16="http://schemas.microsoft.com/office/drawing/2014/main" id="{871813C8-2DA3-7167-25C5-4BD7435A8F27}"/>
              </a:ext>
            </a:extLst>
          </p:cNvPr>
          <p:cNvCxnSpPr>
            <a:cxnSpLocks/>
          </p:cNvCxnSpPr>
          <p:nvPr/>
        </p:nvCxnSpPr>
        <p:spPr>
          <a:xfrm>
            <a:off x="7017939" y="1552803"/>
            <a:ext cx="5557" cy="258921"/>
          </a:xfrm>
          <a:prstGeom prst="line">
            <a:avLst/>
          </a:prstGeom>
          <a:noFill/>
          <a:ln w="19050" cap="flat" cmpd="sng" algn="ctr">
            <a:solidFill>
              <a:srgbClr val="000000"/>
            </a:solidFill>
            <a:prstDash val="solid"/>
          </a:ln>
          <a:effectLst/>
        </p:spPr>
      </p:cxnSp>
      <p:sp>
        <p:nvSpPr>
          <p:cNvPr id="142" name="Text Box 44">
            <a:extLst>
              <a:ext uri="{FF2B5EF4-FFF2-40B4-BE49-F238E27FC236}">
                <a16:creationId xmlns:a16="http://schemas.microsoft.com/office/drawing/2014/main" id="{1F49A776-5C76-471C-C2E4-FBA594CB37F6}"/>
              </a:ext>
            </a:extLst>
          </p:cNvPr>
          <p:cNvSpPr txBox="1">
            <a:spLocks noChangeArrowheads="1"/>
          </p:cNvSpPr>
          <p:nvPr/>
        </p:nvSpPr>
        <p:spPr bwMode="auto">
          <a:xfrm>
            <a:off x="6950898" y="1169422"/>
            <a:ext cx="3385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前</a:t>
            </a:r>
          </a:p>
        </p:txBody>
      </p:sp>
      <p:sp>
        <p:nvSpPr>
          <p:cNvPr id="147" name="Text Box 44">
            <a:extLst>
              <a:ext uri="{FF2B5EF4-FFF2-40B4-BE49-F238E27FC236}">
                <a16:creationId xmlns:a16="http://schemas.microsoft.com/office/drawing/2014/main" id="{FD5D292F-0425-58C1-A346-BB93F60BCACB}"/>
              </a:ext>
            </a:extLst>
          </p:cNvPr>
          <p:cNvSpPr txBox="1">
            <a:spLocks noChangeArrowheads="1"/>
          </p:cNvSpPr>
          <p:nvPr/>
        </p:nvSpPr>
        <p:spPr bwMode="auto">
          <a:xfrm>
            <a:off x="1954162" y="1176089"/>
            <a:ext cx="3385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后</a:t>
            </a:r>
          </a:p>
        </p:txBody>
      </p:sp>
      <p:sp>
        <p:nvSpPr>
          <p:cNvPr id="148" name="Text Box 20">
            <a:extLst>
              <a:ext uri="{FF2B5EF4-FFF2-40B4-BE49-F238E27FC236}">
                <a16:creationId xmlns:a16="http://schemas.microsoft.com/office/drawing/2014/main" id="{8D637896-711B-D359-19FE-EE9C8C2879FF}"/>
              </a:ext>
            </a:extLst>
          </p:cNvPr>
          <p:cNvSpPr txBox="1">
            <a:spLocks noChangeArrowheads="1"/>
          </p:cNvSpPr>
          <p:nvPr/>
        </p:nvSpPr>
        <p:spPr bwMode="auto">
          <a:xfrm>
            <a:off x="5061525" y="1300549"/>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不能发送</a:t>
            </a:r>
          </a:p>
        </p:txBody>
      </p:sp>
      <p:cxnSp>
        <p:nvCxnSpPr>
          <p:cNvPr id="151" name="直接箭头连接符 150">
            <a:extLst>
              <a:ext uri="{FF2B5EF4-FFF2-40B4-BE49-F238E27FC236}">
                <a16:creationId xmlns:a16="http://schemas.microsoft.com/office/drawing/2014/main" id="{75939B7F-CE6C-4A2F-4AEA-3D1B8E7F3AF1}"/>
              </a:ext>
            </a:extLst>
          </p:cNvPr>
          <p:cNvCxnSpPr>
            <a:cxnSpLocks/>
          </p:cNvCxnSpPr>
          <p:nvPr/>
        </p:nvCxnSpPr>
        <p:spPr>
          <a:xfrm flipH="1">
            <a:off x="5252164" y="1499464"/>
            <a:ext cx="32226" cy="202247"/>
          </a:xfrm>
          <a:prstGeom prst="straightConnector1">
            <a:avLst/>
          </a:prstGeom>
          <a:noFill/>
          <a:ln w="9525" cap="flat" cmpd="sng" algn="ctr">
            <a:solidFill>
              <a:srgbClr val="000000"/>
            </a:solidFill>
            <a:prstDash val="solid"/>
            <a:headEnd type="none" w="med" len="lg"/>
            <a:tailEnd type="triangle" w="sm" len="lg"/>
          </a:ln>
          <a:effectLst/>
        </p:spPr>
      </p:cxnSp>
      <p:cxnSp>
        <p:nvCxnSpPr>
          <p:cNvPr id="154" name="直接连接符 153">
            <a:extLst>
              <a:ext uri="{FF2B5EF4-FFF2-40B4-BE49-F238E27FC236}">
                <a16:creationId xmlns:a16="http://schemas.microsoft.com/office/drawing/2014/main" id="{F4BB4C55-1A79-1FDC-3552-6BCCEEABAD18}"/>
              </a:ext>
            </a:extLst>
          </p:cNvPr>
          <p:cNvCxnSpPr/>
          <p:nvPr/>
        </p:nvCxnSpPr>
        <p:spPr>
          <a:xfrm>
            <a:off x="5405516" y="1571694"/>
            <a:ext cx="0" cy="241142"/>
          </a:xfrm>
          <a:prstGeom prst="line">
            <a:avLst/>
          </a:prstGeom>
          <a:noFill/>
          <a:ln w="12700" cap="flat" cmpd="sng" algn="ctr">
            <a:solidFill>
              <a:srgbClr val="000000"/>
            </a:solidFill>
            <a:prstDash val="solid"/>
          </a:ln>
          <a:effectLst/>
        </p:spPr>
      </p:cxnSp>
      <p:cxnSp>
        <p:nvCxnSpPr>
          <p:cNvPr id="156" name="直接连接符 155">
            <a:extLst>
              <a:ext uri="{FF2B5EF4-FFF2-40B4-BE49-F238E27FC236}">
                <a16:creationId xmlns:a16="http://schemas.microsoft.com/office/drawing/2014/main" id="{7D15E559-2875-4756-0831-570254F225E7}"/>
              </a:ext>
            </a:extLst>
          </p:cNvPr>
          <p:cNvCxnSpPr/>
          <p:nvPr/>
        </p:nvCxnSpPr>
        <p:spPr>
          <a:xfrm>
            <a:off x="4026455" y="1569472"/>
            <a:ext cx="0" cy="241142"/>
          </a:xfrm>
          <a:prstGeom prst="line">
            <a:avLst/>
          </a:prstGeom>
          <a:noFill/>
          <a:ln w="12700" cap="flat" cmpd="sng" algn="ctr">
            <a:solidFill>
              <a:srgbClr val="000000"/>
            </a:solidFill>
            <a:prstDash val="solid"/>
          </a:ln>
          <a:effectLst/>
        </p:spPr>
      </p:cxnSp>
      <p:cxnSp>
        <p:nvCxnSpPr>
          <p:cNvPr id="158" name="直接连接符 157">
            <a:extLst>
              <a:ext uri="{FF2B5EF4-FFF2-40B4-BE49-F238E27FC236}">
                <a16:creationId xmlns:a16="http://schemas.microsoft.com/office/drawing/2014/main" id="{999B0013-B4E5-1F22-7FA4-2FD2F4589B4E}"/>
              </a:ext>
            </a:extLst>
          </p:cNvPr>
          <p:cNvCxnSpPr/>
          <p:nvPr/>
        </p:nvCxnSpPr>
        <p:spPr>
          <a:xfrm>
            <a:off x="2278459" y="1556137"/>
            <a:ext cx="0" cy="241142"/>
          </a:xfrm>
          <a:prstGeom prst="line">
            <a:avLst/>
          </a:prstGeom>
          <a:noFill/>
          <a:ln w="12700" cap="flat" cmpd="sng" algn="ctr">
            <a:solidFill>
              <a:srgbClr val="000000"/>
            </a:solidFill>
            <a:prstDash val="solid"/>
          </a:ln>
          <a:effectLst/>
        </p:spPr>
      </p:cxnSp>
      <p:sp>
        <p:nvSpPr>
          <p:cNvPr id="159" name="Text Box 20">
            <a:extLst>
              <a:ext uri="{FF2B5EF4-FFF2-40B4-BE49-F238E27FC236}">
                <a16:creationId xmlns:a16="http://schemas.microsoft.com/office/drawing/2014/main" id="{538282AC-8797-F99F-77E3-4FB2A6EF94BF}"/>
              </a:ext>
            </a:extLst>
          </p:cNvPr>
          <p:cNvSpPr txBox="1">
            <a:spLocks noChangeArrowheads="1"/>
          </p:cNvSpPr>
          <p:nvPr/>
        </p:nvSpPr>
        <p:spPr bwMode="auto">
          <a:xfrm>
            <a:off x="1516082" y="1552501"/>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已被确认</a:t>
            </a:r>
          </a:p>
        </p:txBody>
      </p:sp>
      <p:sp>
        <p:nvSpPr>
          <p:cNvPr id="173" name="Rectangle 8">
            <a:extLst>
              <a:ext uri="{FF2B5EF4-FFF2-40B4-BE49-F238E27FC236}">
                <a16:creationId xmlns:a16="http://schemas.microsoft.com/office/drawing/2014/main" id="{68677A62-BAEA-BBC5-C431-9D7008F69DB9}"/>
              </a:ext>
            </a:extLst>
          </p:cNvPr>
          <p:cNvSpPr>
            <a:spLocks noChangeArrowheads="1"/>
          </p:cNvSpPr>
          <p:nvPr/>
        </p:nvSpPr>
        <p:spPr bwMode="auto">
          <a:xfrm>
            <a:off x="556963" y="2527579"/>
            <a:ext cx="8048776" cy="2163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发送缓冲区是发送方</a:t>
            </a:r>
            <a:r>
              <a:rPr lang="en-US" altLang="zh-CN" sz="2000" b="1" dirty="0">
                <a:latin typeface="微软雅黑" pitchFamily="34" charset="-122"/>
                <a:ea typeface="微软雅黑" pitchFamily="34" charset="-122"/>
              </a:rPr>
              <a:t>TCP</a:t>
            </a:r>
            <a:r>
              <a:rPr lang="zh-CN" altLang="en-US" sz="2000" b="1" dirty="0">
                <a:latin typeface="微软雅黑" pitchFamily="34" charset="-122"/>
                <a:ea typeface="微软雅黑" pitchFamily="34" charset="-122"/>
              </a:rPr>
              <a:t>暂时存放数据的地方。包括已发送但还没有被确认的数据，以及未发送（待发送和暂时不能发送）的数据。</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发送窗口是</a:t>
            </a:r>
            <a:r>
              <a:rPr lang="en-US" altLang="zh-CN" sz="2000" b="1" dirty="0">
                <a:latin typeface="微软雅黑" pitchFamily="34" charset="-122"/>
                <a:ea typeface="微软雅黑" pitchFamily="34" charset="-122"/>
              </a:rPr>
              <a:t>TCP</a:t>
            </a:r>
            <a:r>
              <a:rPr lang="zh-CN" altLang="en-US" sz="2000" b="1" dirty="0">
                <a:latin typeface="微软雅黑" pitchFamily="34" charset="-122"/>
                <a:ea typeface="微软雅黑" pitchFamily="34" charset="-122"/>
              </a:rPr>
              <a:t>连接中可以发送但尚未被确认的数据的最大字节数，其大小受接收方接收能力与网络拥塞程度的变化而动态变化。</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发送窗口是发送缓冲区的一个子集。</a:t>
            </a:r>
            <a:endParaRPr lang="en-US" altLang="zh-CN" sz="2000" b="1" dirty="0">
              <a:latin typeface="微软雅黑" pitchFamily="34" charset="-122"/>
              <a:ea typeface="微软雅黑" pitchFamily="34" charset="-122"/>
            </a:endParaRPr>
          </a:p>
        </p:txBody>
      </p:sp>
    </p:spTree>
    <p:extLst>
      <p:ext uri="{BB962C8B-B14F-4D97-AF65-F5344CB8AC3E}">
        <p14:creationId xmlns:p14="http://schemas.microsoft.com/office/powerpoint/2010/main" val="208689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72"/>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77"/>
                                        </p:tgtEl>
                                        <p:attrNameLst>
                                          <p:attrName>style.visibility</p:attrName>
                                        </p:attrNameLst>
                                      </p:cBhvr>
                                      <p:tavLst>
                                        <p:tav tm="0">
                                          <p:val>
                                            <p:strVal val="hidden"/>
                                          </p:val>
                                        </p:tav>
                                        <p:tav tm="50000">
                                          <p:val>
                                            <p:strVal val="visible"/>
                                          </p:val>
                                        </p:tav>
                                      </p:tavLst>
                                    </p:anim>
                                  </p:childTnLst>
                                </p:cTn>
                              </p:par>
                              <p:par>
                                <p:cTn id="11" presetID="42" presetClass="entr" presetSubtype="0" fill="hold" nodeType="withEffect">
                                  <p:stCondLst>
                                    <p:cond delay="0"/>
                                  </p:stCondLst>
                                  <p:childTnLst>
                                    <p:set>
                                      <p:cBhvr>
                                        <p:cTn id="12" dur="1" fill="hold">
                                          <p:stCondLst>
                                            <p:cond delay="0"/>
                                          </p:stCondLst>
                                        </p:cTn>
                                        <p:tgtEl>
                                          <p:spTgt spid="173">
                                            <p:txEl>
                                              <p:pRg st="0" end="0"/>
                                            </p:txEl>
                                          </p:spTgt>
                                        </p:tgtEl>
                                        <p:attrNameLst>
                                          <p:attrName>style.visibility</p:attrName>
                                        </p:attrNameLst>
                                      </p:cBhvr>
                                      <p:to>
                                        <p:strVal val="visible"/>
                                      </p:to>
                                    </p:set>
                                    <p:animEffect transition="in" filter="fade">
                                      <p:cBhvr>
                                        <p:cTn id="13" dur="1000"/>
                                        <p:tgtEl>
                                          <p:spTgt spid="173">
                                            <p:txEl>
                                              <p:pRg st="0" end="0"/>
                                            </p:txEl>
                                          </p:spTgt>
                                        </p:tgtEl>
                                      </p:cBhvr>
                                    </p:animEffect>
                                    <p:anim calcmode="lin" valueType="num">
                                      <p:cBhvr>
                                        <p:cTn id="14" dur="1000" fill="hold"/>
                                        <p:tgtEl>
                                          <p:spTgt spid="17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17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35" presetClass="emph" presetSubtype="0" repeatCount="3000" fill="hold" grpId="0" nodeType="clickEffect">
                                  <p:stCondLst>
                                    <p:cond delay="0"/>
                                  </p:stCondLst>
                                  <p:childTnLst>
                                    <p:anim calcmode="discrete" valueType="str">
                                      <p:cBhvr>
                                        <p:cTn id="19" dur="1000" fill="hold"/>
                                        <p:tgtEl>
                                          <p:spTgt spid="67"/>
                                        </p:tgtEl>
                                        <p:attrNameLst>
                                          <p:attrName>style.visibility</p:attrName>
                                        </p:attrNameLst>
                                      </p:cBhvr>
                                      <p:tavLst>
                                        <p:tav tm="0">
                                          <p:val>
                                            <p:strVal val="hidden"/>
                                          </p:val>
                                        </p:tav>
                                        <p:tav tm="50000">
                                          <p:val>
                                            <p:strVal val="visible"/>
                                          </p:val>
                                        </p:tav>
                                      </p:tavLst>
                                    </p:anim>
                                  </p:childTnLst>
                                </p:cTn>
                              </p:par>
                            </p:childTnLst>
                          </p:cTn>
                        </p:par>
                      </p:childTnLst>
                    </p:cTn>
                  </p:par>
                  <p:par>
                    <p:cTn id="20" fill="hold">
                      <p:stCondLst>
                        <p:cond delay="indefinite"/>
                      </p:stCondLst>
                      <p:childTnLst>
                        <p:par>
                          <p:cTn id="21" fill="hold">
                            <p:stCondLst>
                              <p:cond delay="0"/>
                            </p:stCondLst>
                            <p:childTnLst>
                              <p:par>
                                <p:cTn id="22" presetID="35" presetClass="emph" presetSubtype="0" repeatCount="3000" fill="hold" grpId="0" nodeType="clickEffect">
                                  <p:stCondLst>
                                    <p:cond delay="0"/>
                                  </p:stCondLst>
                                  <p:childTnLst>
                                    <p:anim calcmode="discrete" valueType="str">
                                      <p:cBhvr>
                                        <p:cTn id="23" dur="1000" fill="hold"/>
                                        <p:tgtEl>
                                          <p:spTgt spid="59"/>
                                        </p:tgtEl>
                                        <p:attrNameLst>
                                          <p:attrName>style.visibility</p:attrName>
                                        </p:attrNameLst>
                                      </p:cBhvr>
                                      <p:tavLst>
                                        <p:tav tm="0">
                                          <p:val>
                                            <p:strVal val="hidden"/>
                                          </p:val>
                                        </p:tav>
                                        <p:tav tm="50000">
                                          <p:val>
                                            <p:strVal val="visible"/>
                                          </p:val>
                                        </p:tav>
                                      </p:tavLst>
                                    </p:anim>
                                  </p:childTnLst>
                                </p:cTn>
                              </p:par>
                            </p:childTnLst>
                          </p:cTn>
                        </p:par>
                      </p:childTnLst>
                    </p:cTn>
                  </p:par>
                  <p:par>
                    <p:cTn id="24" fill="hold">
                      <p:stCondLst>
                        <p:cond delay="indefinite"/>
                      </p:stCondLst>
                      <p:childTnLst>
                        <p:par>
                          <p:cTn id="25" fill="hold">
                            <p:stCondLst>
                              <p:cond delay="0"/>
                            </p:stCondLst>
                            <p:childTnLst>
                              <p:par>
                                <p:cTn id="26" presetID="35" presetClass="emph" presetSubtype="0" repeatCount="3000" fill="hold" grpId="0" nodeType="clickEffect">
                                  <p:stCondLst>
                                    <p:cond delay="0"/>
                                  </p:stCondLst>
                                  <p:childTnLst>
                                    <p:anim calcmode="discrete" valueType="str">
                                      <p:cBhvr>
                                        <p:cTn id="27" dur="1000" fill="hold"/>
                                        <p:tgtEl>
                                          <p:spTgt spid="169"/>
                                        </p:tgtEl>
                                        <p:attrNameLst>
                                          <p:attrName>style.visibility</p:attrName>
                                        </p:attrNameLst>
                                      </p:cBhvr>
                                      <p:tavLst>
                                        <p:tav tm="0">
                                          <p:val>
                                            <p:strVal val="hidden"/>
                                          </p:val>
                                        </p:tav>
                                        <p:tav tm="50000">
                                          <p:val>
                                            <p:strVal val="visible"/>
                                          </p:val>
                                        </p:tav>
                                      </p:tavLst>
                                    </p:anim>
                                  </p:childTnLst>
                                </p:cTn>
                              </p:par>
                            </p:childTnLst>
                          </p:cTn>
                        </p:par>
                      </p:childTnLst>
                    </p:cTn>
                  </p:par>
                  <p:par>
                    <p:cTn id="28" fill="hold">
                      <p:stCondLst>
                        <p:cond delay="indefinite"/>
                      </p:stCondLst>
                      <p:childTnLst>
                        <p:par>
                          <p:cTn id="29" fill="hold">
                            <p:stCondLst>
                              <p:cond delay="0"/>
                            </p:stCondLst>
                            <p:childTnLst>
                              <p:par>
                                <p:cTn id="30" presetID="35" presetClass="emph" presetSubtype="0" repeatCount="3000" fill="hold" grpId="0" nodeType="clickEffect">
                                  <p:stCondLst>
                                    <p:cond delay="0"/>
                                  </p:stCondLst>
                                  <p:childTnLst>
                                    <p:anim calcmode="discrete" valueType="str">
                                      <p:cBhvr>
                                        <p:cTn id="31" dur="1000" fill="hold"/>
                                        <p:tgtEl>
                                          <p:spTgt spid="80"/>
                                        </p:tgtEl>
                                        <p:attrNameLst>
                                          <p:attrName>style.visibility</p:attrName>
                                        </p:attrNameLst>
                                      </p:cBhvr>
                                      <p:tavLst>
                                        <p:tav tm="0">
                                          <p:val>
                                            <p:strVal val="hidden"/>
                                          </p:val>
                                        </p:tav>
                                        <p:tav tm="50000">
                                          <p:val>
                                            <p:strVal val="visible"/>
                                          </p:val>
                                        </p:tav>
                                      </p:tavLst>
                                    </p:anim>
                                  </p:childTnLst>
                                </p:cTn>
                              </p:par>
                              <p:par>
                                <p:cTn id="32" presetID="35" presetClass="emph" presetSubtype="0" repeatCount="3000" fill="hold" grpId="0" nodeType="withEffect">
                                  <p:stCondLst>
                                    <p:cond delay="0"/>
                                  </p:stCondLst>
                                  <p:childTnLst>
                                    <p:anim calcmode="discrete" valueType="str">
                                      <p:cBhvr>
                                        <p:cTn id="33" dur="1000" fill="hold"/>
                                        <p:tgtEl>
                                          <p:spTgt spid="81"/>
                                        </p:tgtEl>
                                        <p:attrNameLst>
                                          <p:attrName>style.visibility</p:attrName>
                                        </p:attrNameLst>
                                      </p:cBhvr>
                                      <p:tavLst>
                                        <p:tav tm="0">
                                          <p:val>
                                            <p:strVal val="hidden"/>
                                          </p:val>
                                        </p:tav>
                                        <p:tav tm="50000">
                                          <p:val>
                                            <p:strVal val="visible"/>
                                          </p:val>
                                        </p:tav>
                                      </p:tavLst>
                                    </p:anim>
                                  </p:childTnLst>
                                </p:cTn>
                              </p:par>
                            </p:childTnLst>
                          </p:cTn>
                        </p:par>
                      </p:childTnLst>
                    </p:cTn>
                  </p:par>
                  <p:par>
                    <p:cTn id="34" fill="hold">
                      <p:stCondLst>
                        <p:cond delay="indefinite"/>
                      </p:stCondLst>
                      <p:childTnLst>
                        <p:par>
                          <p:cTn id="35" fill="hold">
                            <p:stCondLst>
                              <p:cond delay="0"/>
                            </p:stCondLst>
                            <p:childTnLst>
                              <p:par>
                                <p:cTn id="36" presetID="35" presetClass="emph" presetSubtype="0" repeatCount="3000" fill="hold" grpId="0" nodeType="clickEffect">
                                  <p:stCondLst>
                                    <p:cond delay="0"/>
                                  </p:stCondLst>
                                  <p:childTnLst>
                                    <p:anim calcmode="discrete" valueType="str">
                                      <p:cBhvr>
                                        <p:cTn id="37" dur="1000" fill="hold"/>
                                        <p:tgtEl>
                                          <p:spTgt spid="68"/>
                                        </p:tgtEl>
                                        <p:attrNameLst>
                                          <p:attrName>style.visibility</p:attrName>
                                        </p:attrNameLst>
                                      </p:cBhvr>
                                      <p:tavLst>
                                        <p:tav tm="0">
                                          <p:val>
                                            <p:strVal val="hidden"/>
                                          </p:val>
                                        </p:tav>
                                        <p:tav tm="50000">
                                          <p:val>
                                            <p:strVal val="visible"/>
                                          </p:val>
                                        </p:tav>
                                      </p:tavLst>
                                    </p:anim>
                                  </p:childTnLst>
                                </p:cTn>
                              </p:par>
                              <p:par>
                                <p:cTn id="38" presetID="42" presetClass="entr" presetSubtype="0" fill="hold" nodeType="withEffect">
                                  <p:stCondLst>
                                    <p:cond delay="0"/>
                                  </p:stCondLst>
                                  <p:childTnLst>
                                    <p:set>
                                      <p:cBhvr>
                                        <p:cTn id="39" dur="1" fill="hold">
                                          <p:stCondLst>
                                            <p:cond delay="0"/>
                                          </p:stCondLst>
                                        </p:cTn>
                                        <p:tgtEl>
                                          <p:spTgt spid="173">
                                            <p:txEl>
                                              <p:pRg st="1" end="1"/>
                                            </p:txEl>
                                          </p:spTgt>
                                        </p:tgtEl>
                                        <p:attrNameLst>
                                          <p:attrName>style.visibility</p:attrName>
                                        </p:attrNameLst>
                                      </p:cBhvr>
                                      <p:to>
                                        <p:strVal val="visible"/>
                                      </p:to>
                                    </p:set>
                                    <p:animEffect transition="in" filter="fade">
                                      <p:cBhvr>
                                        <p:cTn id="40" dur="1000"/>
                                        <p:tgtEl>
                                          <p:spTgt spid="173">
                                            <p:txEl>
                                              <p:pRg st="1" end="1"/>
                                            </p:txEl>
                                          </p:spTgt>
                                        </p:tgtEl>
                                      </p:cBhvr>
                                    </p:animEffect>
                                    <p:anim calcmode="lin" valueType="num">
                                      <p:cBhvr>
                                        <p:cTn id="41" dur="1000" fill="hold"/>
                                        <p:tgtEl>
                                          <p:spTgt spid="173">
                                            <p:txEl>
                                              <p:pRg st="1" end="1"/>
                                            </p:txEl>
                                          </p:spTgt>
                                        </p:tgtEl>
                                        <p:attrNameLst>
                                          <p:attrName>ppt_x</p:attrName>
                                        </p:attrNameLst>
                                      </p:cBhvr>
                                      <p:tavLst>
                                        <p:tav tm="0">
                                          <p:val>
                                            <p:strVal val="#ppt_x"/>
                                          </p:val>
                                        </p:tav>
                                        <p:tav tm="100000">
                                          <p:val>
                                            <p:strVal val="#ppt_x"/>
                                          </p:val>
                                        </p:tav>
                                      </p:tavLst>
                                    </p:anim>
                                    <p:anim calcmode="lin" valueType="num">
                                      <p:cBhvr>
                                        <p:cTn id="42" dur="1000" fill="hold"/>
                                        <p:tgtEl>
                                          <p:spTgt spid="17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173">
                                            <p:txEl>
                                              <p:pRg st="2" end="2"/>
                                            </p:txEl>
                                          </p:spTgt>
                                        </p:tgtEl>
                                        <p:attrNameLst>
                                          <p:attrName>style.visibility</p:attrName>
                                        </p:attrNameLst>
                                      </p:cBhvr>
                                      <p:to>
                                        <p:strVal val="visible"/>
                                      </p:to>
                                    </p:set>
                                    <p:animEffect transition="in" filter="fade">
                                      <p:cBhvr>
                                        <p:cTn id="47" dur="1000"/>
                                        <p:tgtEl>
                                          <p:spTgt spid="173">
                                            <p:txEl>
                                              <p:pRg st="2" end="2"/>
                                            </p:txEl>
                                          </p:spTgt>
                                        </p:tgtEl>
                                      </p:cBhvr>
                                    </p:animEffect>
                                    <p:anim calcmode="lin" valueType="num">
                                      <p:cBhvr>
                                        <p:cTn id="48" dur="1000" fill="hold"/>
                                        <p:tgtEl>
                                          <p:spTgt spid="173">
                                            <p:txEl>
                                              <p:pRg st="2" end="2"/>
                                            </p:txEl>
                                          </p:spTgt>
                                        </p:tgtEl>
                                        <p:attrNameLst>
                                          <p:attrName>ppt_x</p:attrName>
                                        </p:attrNameLst>
                                      </p:cBhvr>
                                      <p:tavLst>
                                        <p:tav tm="0">
                                          <p:val>
                                            <p:strVal val="#ppt_x"/>
                                          </p:val>
                                        </p:tav>
                                        <p:tav tm="100000">
                                          <p:val>
                                            <p:strVal val="#ppt_x"/>
                                          </p:val>
                                        </p:tav>
                                      </p:tavLst>
                                    </p:anim>
                                    <p:anim calcmode="lin" valueType="num">
                                      <p:cBhvr>
                                        <p:cTn id="49" dur="1000" fill="hold"/>
                                        <p:tgtEl>
                                          <p:spTgt spid="17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169" grpId="0" animBg="1"/>
      <p:bldP spid="59" grpId="0" animBg="1"/>
      <p:bldP spid="68" grpId="0"/>
      <p:bldP spid="72" grpId="0"/>
      <p:bldP spid="77" grpId="0"/>
      <p:bldP spid="80" grpId="0"/>
      <p:bldP spid="81"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5DCC5-54BF-17D9-D4E2-10F1B569FB68}"/>
            </a:ext>
          </a:extLst>
        </p:cNvPr>
        <p:cNvGrpSpPr/>
        <p:nvPr/>
      </p:nvGrpSpPr>
      <p:grpSpPr>
        <a:xfrm>
          <a:off x="0" y="0"/>
          <a:ext cx="0" cy="0"/>
          <a:chOff x="0" y="0"/>
          <a:chExt cx="0" cy="0"/>
        </a:xfrm>
      </p:grpSpPr>
      <p:sp>
        <p:nvSpPr>
          <p:cNvPr id="172" name="圆角矩形 60">
            <a:extLst>
              <a:ext uri="{FF2B5EF4-FFF2-40B4-BE49-F238E27FC236}">
                <a16:creationId xmlns:a16="http://schemas.microsoft.com/office/drawing/2014/main" id="{A5076739-2769-8964-8230-B41561C2C114}"/>
              </a:ext>
            </a:extLst>
          </p:cNvPr>
          <p:cNvSpPr/>
          <p:nvPr/>
        </p:nvSpPr>
        <p:spPr>
          <a:xfrm>
            <a:off x="545144" y="1020960"/>
            <a:ext cx="8053712" cy="149609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Rectangle 26">
            <a:extLst>
              <a:ext uri="{FF2B5EF4-FFF2-40B4-BE49-F238E27FC236}">
                <a16:creationId xmlns:a16="http://schemas.microsoft.com/office/drawing/2014/main" id="{43CF68CD-A4BD-16B9-364F-87D534B832E4}"/>
              </a:ext>
            </a:extLst>
          </p:cNvPr>
          <p:cNvSpPr>
            <a:spLocks noChangeArrowheads="1"/>
          </p:cNvSpPr>
          <p:nvPr/>
        </p:nvSpPr>
        <p:spPr bwMode="auto">
          <a:xfrm>
            <a:off x="2286237" y="1561693"/>
            <a:ext cx="1735772" cy="237807"/>
          </a:xfrm>
          <a:prstGeom prst="rect">
            <a:avLst/>
          </a:prstGeom>
          <a:solidFill>
            <a:srgbClr val="92D050"/>
          </a:solidFill>
          <a:ln>
            <a:noFill/>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9" name="Rectangle 14">
            <a:extLst>
              <a:ext uri="{FF2B5EF4-FFF2-40B4-BE49-F238E27FC236}">
                <a16:creationId xmlns:a16="http://schemas.microsoft.com/office/drawing/2014/main" id="{FD17F78D-306F-F273-36CC-2683AC2711DD}"/>
              </a:ext>
            </a:extLst>
          </p:cNvPr>
          <p:cNvSpPr>
            <a:spLocks noChangeArrowheads="1"/>
          </p:cNvSpPr>
          <p:nvPr/>
        </p:nvSpPr>
        <p:spPr bwMode="auto">
          <a:xfrm>
            <a:off x="5394404" y="1559471"/>
            <a:ext cx="1626868" cy="252253"/>
          </a:xfrm>
          <a:prstGeom prst="rect">
            <a:avLst/>
          </a:prstGeom>
          <a:solidFill>
            <a:srgbClr val="FFFF00"/>
          </a:solidFill>
          <a:ln>
            <a:noFill/>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0" name="AutoShape 5">
            <a:extLst>
              <a:ext uri="{FF2B5EF4-FFF2-40B4-BE49-F238E27FC236}">
                <a16:creationId xmlns:a16="http://schemas.microsoft.com/office/drawing/2014/main" id="{5CB96669-E2FD-31F2-9B5D-B06FDC48BB2E}"/>
              </a:ext>
            </a:extLst>
          </p:cNvPr>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2" name="Rectangle 6">
            <a:extLst>
              <a:ext uri="{FF2B5EF4-FFF2-40B4-BE49-F238E27FC236}">
                <a16:creationId xmlns:a16="http://schemas.microsoft.com/office/drawing/2014/main" id="{87759213-EEEB-5BE0-709A-DB8DD6F40D37}"/>
              </a:ext>
            </a:extLst>
          </p:cNvPr>
          <p:cNvSpPr>
            <a:spLocks noChangeArrowheads="1"/>
          </p:cNvSpPr>
          <p:nvPr/>
        </p:nvSpPr>
        <p:spPr bwMode="auto">
          <a:xfrm>
            <a:off x="2832506" y="587638"/>
            <a:ext cx="34976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a:t>
            </a:r>
            <a:r>
              <a:rPr lang="zh-CN" altLang="en-US" sz="2000" b="1" dirty="0">
                <a:solidFill>
                  <a:schemeClr val="bg1"/>
                </a:solidFill>
                <a:latin typeface="微软雅黑" pitchFamily="34" charset="-122"/>
                <a:ea typeface="微软雅黑" pitchFamily="34" charset="-122"/>
              </a:rPr>
              <a:t>的发送缓冲区和发送窗口</a:t>
            </a:r>
          </a:p>
        </p:txBody>
      </p:sp>
      <p:cxnSp>
        <p:nvCxnSpPr>
          <p:cNvPr id="5" name="直接箭头连接符 4">
            <a:extLst>
              <a:ext uri="{FF2B5EF4-FFF2-40B4-BE49-F238E27FC236}">
                <a16:creationId xmlns:a16="http://schemas.microsoft.com/office/drawing/2014/main" id="{610A68A1-270A-46C7-9D3B-B0FE6AEE64DC}"/>
              </a:ext>
            </a:extLst>
          </p:cNvPr>
          <p:cNvCxnSpPr>
            <a:cxnSpLocks/>
          </p:cNvCxnSpPr>
          <p:nvPr/>
        </p:nvCxnSpPr>
        <p:spPr>
          <a:xfrm>
            <a:off x="2279570" y="1294994"/>
            <a:ext cx="4739481" cy="0"/>
          </a:xfrm>
          <a:prstGeom prst="straightConnector1">
            <a:avLst/>
          </a:prstGeom>
          <a:noFill/>
          <a:ln w="9525" cap="flat" cmpd="sng" algn="ctr">
            <a:solidFill>
              <a:srgbClr val="000000"/>
            </a:solidFill>
            <a:prstDash val="solid"/>
            <a:headEnd type="triangle" w="sm" len="lg"/>
            <a:tailEnd type="triangle" w="sm" len="lg"/>
          </a:ln>
          <a:effectLst/>
        </p:spPr>
      </p:cxnSp>
      <p:sp>
        <p:nvSpPr>
          <p:cNvPr id="56" name="矩形 55">
            <a:extLst>
              <a:ext uri="{FF2B5EF4-FFF2-40B4-BE49-F238E27FC236}">
                <a16:creationId xmlns:a16="http://schemas.microsoft.com/office/drawing/2014/main" id="{733DCF19-4DF5-9C8D-644D-78C731962419}"/>
              </a:ext>
            </a:extLst>
          </p:cNvPr>
          <p:cNvSpPr/>
          <p:nvPr/>
        </p:nvSpPr>
        <p:spPr>
          <a:xfrm>
            <a:off x="4254261" y="1169422"/>
            <a:ext cx="796766" cy="216694"/>
          </a:xfrm>
          <a:prstGeom prst="rect">
            <a:avLst/>
          </a:prstGeom>
          <a:solidFill>
            <a:srgbClr val="C3E3F9"/>
          </a:solidFill>
          <a:ln w="25400" cap="flat" cmpd="sng" algn="ctr">
            <a:noFill/>
            <a:prstDash val="solid"/>
          </a:ln>
          <a:effectLst/>
        </p:spPr>
        <p:txBody>
          <a:bodyPr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cxnSp>
        <p:nvCxnSpPr>
          <p:cNvPr id="57" name="直接箭头连接符 56">
            <a:extLst>
              <a:ext uri="{FF2B5EF4-FFF2-40B4-BE49-F238E27FC236}">
                <a16:creationId xmlns:a16="http://schemas.microsoft.com/office/drawing/2014/main" id="{E078BC69-3B44-4A60-1578-A414F875E5B6}"/>
              </a:ext>
            </a:extLst>
          </p:cNvPr>
          <p:cNvCxnSpPr>
            <a:cxnSpLocks/>
          </p:cNvCxnSpPr>
          <p:nvPr/>
        </p:nvCxnSpPr>
        <p:spPr>
          <a:xfrm>
            <a:off x="2288460" y="1449457"/>
            <a:ext cx="2815907" cy="0"/>
          </a:xfrm>
          <a:prstGeom prst="straightConnector1">
            <a:avLst/>
          </a:prstGeom>
          <a:noFill/>
          <a:ln w="9525" cap="flat" cmpd="sng" algn="ctr">
            <a:solidFill>
              <a:srgbClr val="000000"/>
            </a:solidFill>
            <a:prstDash val="solid"/>
            <a:headEnd type="triangle" w="sm" len="lg"/>
            <a:tailEnd type="triangle" w="sm" len="lg"/>
          </a:ln>
          <a:effectLst/>
        </p:spPr>
      </p:cxnSp>
      <p:sp>
        <p:nvSpPr>
          <p:cNvPr id="58" name="矩形 57">
            <a:extLst>
              <a:ext uri="{FF2B5EF4-FFF2-40B4-BE49-F238E27FC236}">
                <a16:creationId xmlns:a16="http://schemas.microsoft.com/office/drawing/2014/main" id="{B28F3CC5-53F3-18FB-F1EC-7F820D2EC44A}"/>
              </a:ext>
            </a:extLst>
          </p:cNvPr>
          <p:cNvSpPr/>
          <p:nvPr/>
        </p:nvSpPr>
        <p:spPr>
          <a:xfrm>
            <a:off x="3409711" y="1360558"/>
            <a:ext cx="632146" cy="170019"/>
          </a:xfrm>
          <a:prstGeom prst="rect">
            <a:avLst/>
          </a:prstGeom>
          <a:solidFill>
            <a:srgbClr val="C3E3F9"/>
          </a:solidFill>
          <a:ln w="25400" cap="flat" cmpd="sng" algn="ctr">
            <a:noFill/>
            <a:prstDash val="solid"/>
          </a:ln>
          <a:effectLst/>
        </p:spPr>
        <p:txBody>
          <a:bodyPr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59" name="Rectangle 14">
            <a:extLst>
              <a:ext uri="{FF2B5EF4-FFF2-40B4-BE49-F238E27FC236}">
                <a16:creationId xmlns:a16="http://schemas.microsoft.com/office/drawing/2014/main" id="{774089A9-F0DA-987E-29E2-DDBA14E55138}"/>
              </a:ext>
            </a:extLst>
          </p:cNvPr>
          <p:cNvSpPr>
            <a:spLocks noChangeArrowheads="1"/>
          </p:cNvSpPr>
          <p:nvPr/>
        </p:nvSpPr>
        <p:spPr bwMode="auto">
          <a:xfrm>
            <a:off x="4024231" y="1559471"/>
            <a:ext cx="1389061" cy="252253"/>
          </a:xfrm>
          <a:prstGeom prst="rect">
            <a:avLst/>
          </a:prstGeom>
          <a:solidFill>
            <a:srgbClr val="FFC000"/>
          </a:solidFill>
          <a:ln>
            <a:noFill/>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nvGrpSpPr>
          <p:cNvPr id="63" name="组合 2">
            <a:extLst>
              <a:ext uri="{FF2B5EF4-FFF2-40B4-BE49-F238E27FC236}">
                <a16:creationId xmlns:a16="http://schemas.microsoft.com/office/drawing/2014/main" id="{F6B83D87-0B6D-B6D9-7A9E-E7A687634A64}"/>
              </a:ext>
            </a:extLst>
          </p:cNvPr>
          <p:cNvGrpSpPr>
            <a:grpSpLocks/>
          </p:cNvGrpSpPr>
          <p:nvPr/>
        </p:nvGrpSpPr>
        <p:grpSpPr bwMode="auto">
          <a:xfrm>
            <a:off x="1521697" y="1563916"/>
            <a:ext cx="6496367" cy="246697"/>
            <a:chOff x="1408113" y="1868488"/>
            <a:chExt cx="4040187" cy="352425"/>
          </a:xfrm>
        </p:grpSpPr>
        <p:sp>
          <p:nvSpPr>
            <p:cNvPr id="166" name="Line 10">
              <a:extLst>
                <a:ext uri="{FF2B5EF4-FFF2-40B4-BE49-F238E27FC236}">
                  <a16:creationId xmlns:a16="http://schemas.microsoft.com/office/drawing/2014/main" id="{7A4739FE-C455-D6CF-5B0E-46E1CA3BA408}"/>
                </a:ext>
              </a:extLst>
            </p:cNvPr>
            <p:cNvSpPr>
              <a:spLocks noChangeShapeType="1"/>
            </p:cNvSpPr>
            <p:nvPr/>
          </p:nvSpPr>
          <p:spPr bwMode="auto">
            <a:xfrm>
              <a:off x="1408113" y="1868488"/>
              <a:ext cx="4032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7" name="Line 11">
              <a:extLst>
                <a:ext uri="{FF2B5EF4-FFF2-40B4-BE49-F238E27FC236}">
                  <a16:creationId xmlns:a16="http://schemas.microsoft.com/office/drawing/2014/main" id="{8CFF8E42-4910-BFF0-4045-9D00FB8A7F81}"/>
                </a:ext>
              </a:extLst>
            </p:cNvPr>
            <p:cNvSpPr>
              <a:spLocks noChangeShapeType="1"/>
            </p:cNvSpPr>
            <p:nvPr/>
          </p:nvSpPr>
          <p:spPr bwMode="auto">
            <a:xfrm>
              <a:off x="1416050" y="2220913"/>
              <a:ext cx="4032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64" name="Line 15">
            <a:extLst>
              <a:ext uri="{FF2B5EF4-FFF2-40B4-BE49-F238E27FC236}">
                <a16:creationId xmlns:a16="http://schemas.microsoft.com/office/drawing/2014/main" id="{E1910072-8F88-18D1-DC83-0E567FD2AC23}"/>
              </a:ext>
            </a:extLst>
          </p:cNvPr>
          <p:cNvSpPr>
            <a:spLocks noChangeShapeType="1"/>
          </p:cNvSpPr>
          <p:nvPr/>
        </p:nvSpPr>
        <p:spPr bwMode="auto">
          <a:xfrm>
            <a:off x="2279570" y="1558359"/>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5" name="Line 16">
            <a:extLst>
              <a:ext uri="{FF2B5EF4-FFF2-40B4-BE49-F238E27FC236}">
                <a16:creationId xmlns:a16="http://schemas.microsoft.com/office/drawing/2014/main" id="{A27D5542-AABF-1270-C0E4-8E9FD6A824DA}"/>
              </a:ext>
            </a:extLst>
          </p:cNvPr>
          <p:cNvSpPr>
            <a:spLocks noChangeShapeType="1"/>
          </p:cNvSpPr>
          <p:nvPr/>
        </p:nvSpPr>
        <p:spPr bwMode="auto">
          <a:xfrm flipH="1">
            <a:off x="5404404" y="1558359"/>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6" name="Line 23">
            <a:extLst>
              <a:ext uri="{FF2B5EF4-FFF2-40B4-BE49-F238E27FC236}">
                <a16:creationId xmlns:a16="http://schemas.microsoft.com/office/drawing/2014/main" id="{87A8B365-35CB-5F60-7F90-90335528CB1F}"/>
              </a:ext>
            </a:extLst>
          </p:cNvPr>
          <p:cNvSpPr>
            <a:spLocks noChangeShapeType="1"/>
          </p:cNvSpPr>
          <p:nvPr/>
        </p:nvSpPr>
        <p:spPr bwMode="auto">
          <a:xfrm>
            <a:off x="4018676" y="1558359"/>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8" name="Text Box 27">
            <a:extLst>
              <a:ext uri="{FF2B5EF4-FFF2-40B4-BE49-F238E27FC236}">
                <a16:creationId xmlns:a16="http://schemas.microsoft.com/office/drawing/2014/main" id="{842FB8F8-0969-5C1B-6CD1-39AC0C8401AD}"/>
              </a:ext>
            </a:extLst>
          </p:cNvPr>
          <p:cNvSpPr txBox="1">
            <a:spLocks noChangeArrowheads="1"/>
          </p:cNvSpPr>
          <p:nvPr/>
        </p:nvSpPr>
        <p:spPr bwMode="auto">
          <a:xfrm>
            <a:off x="3337635" y="1301535"/>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发送窗口</a:t>
            </a:r>
          </a:p>
        </p:txBody>
      </p:sp>
      <p:sp>
        <p:nvSpPr>
          <p:cNvPr id="69" name="Freeform 36">
            <a:extLst>
              <a:ext uri="{FF2B5EF4-FFF2-40B4-BE49-F238E27FC236}">
                <a16:creationId xmlns:a16="http://schemas.microsoft.com/office/drawing/2014/main" id="{D418AF39-A3E2-EBA3-20A7-22AAC1F91926}"/>
              </a:ext>
            </a:extLst>
          </p:cNvPr>
          <p:cNvSpPr>
            <a:spLocks/>
          </p:cNvSpPr>
          <p:nvPr/>
        </p:nvSpPr>
        <p:spPr bwMode="auto">
          <a:xfrm>
            <a:off x="7974726" y="1526134"/>
            <a:ext cx="48895" cy="300037"/>
          </a:xfrm>
          <a:custGeom>
            <a:avLst/>
            <a:gdLst>
              <a:gd name="T0" fmla="*/ 2147483646 w 36"/>
              <a:gd name="T1" fmla="*/ 0 h 286"/>
              <a:gd name="T2" fmla="*/ 2147483646 w 36"/>
              <a:gd name="T3" fmla="*/ 2147483646 h 286"/>
              <a:gd name="T4" fmla="*/ 2147483646 w 36"/>
              <a:gd name="T5" fmla="*/ 2147483646 h 286"/>
              <a:gd name="T6" fmla="*/ 2147483646 w 36"/>
              <a:gd name="T7" fmla="*/ 2147483646 h 286"/>
              <a:gd name="T8" fmla="*/ 0 w 36"/>
              <a:gd name="T9" fmla="*/ 2147483646 h 286"/>
              <a:gd name="T10" fmla="*/ 2147483646 w 36"/>
              <a:gd name="T11" fmla="*/ 2147483646 h 286"/>
              <a:gd name="T12" fmla="*/ 2147483646 w 36"/>
              <a:gd name="T13" fmla="*/ 2147483646 h 286"/>
              <a:gd name="T14" fmla="*/ 2147483646 w 36"/>
              <a:gd name="T15" fmla="*/ 2147483646 h 286"/>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86"/>
              <a:gd name="T26" fmla="*/ 36 w 36"/>
              <a:gd name="T27" fmla="*/ 286 h 28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0" name="Freeform 39">
            <a:extLst>
              <a:ext uri="{FF2B5EF4-FFF2-40B4-BE49-F238E27FC236}">
                <a16:creationId xmlns:a16="http://schemas.microsoft.com/office/drawing/2014/main" id="{AE4BA67B-450A-DDFE-9ADA-6F68E17E99F0}"/>
              </a:ext>
            </a:extLst>
          </p:cNvPr>
          <p:cNvSpPr>
            <a:spLocks/>
          </p:cNvSpPr>
          <p:nvPr/>
        </p:nvSpPr>
        <p:spPr bwMode="auto">
          <a:xfrm>
            <a:off x="1472802" y="1538357"/>
            <a:ext cx="73342" cy="304482"/>
          </a:xfrm>
          <a:custGeom>
            <a:avLst/>
            <a:gdLst>
              <a:gd name="T0" fmla="*/ 2147483646 w 66"/>
              <a:gd name="T1" fmla="*/ 0 h 274"/>
              <a:gd name="T2" fmla="*/ 2147483646 w 66"/>
              <a:gd name="T3" fmla="*/ 2147483646 h 274"/>
              <a:gd name="T4" fmla="*/ 2147483646 w 66"/>
              <a:gd name="T5" fmla="*/ 2147483646 h 274"/>
              <a:gd name="T6" fmla="*/ 2147483646 w 66"/>
              <a:gd name="T7" fmla="*/ 2147483646 h 274"/>
              <a:gd name="T8" fmla="*/ 0 w 66"/>
              <a:gd name="T9" fmla="*/ 2147483646 h 274"/>
              <a:gd name="T10" fmla="*/ 2147483646 w 66"/>
              <a:gd name="T11" fmla="*/ 2147483646 h 274"/>
              <a:gd name="T12" fmla="*/ 2147483646 w 66"/>
              <a:gd name="T13" fmla="*/ 2147483646 h 274"/>
              <a:gd name="T14" fmla="*/ 0 60000 65536"/>
              <a:gd name="T15" fmla="*/ 0 60000 65536"/>
              <a:gd name="T16" fmla="*/ 0 60000 65536"/>
              <a:gd name="T17" fmla="*/ 0 60000 65536"/>
              <a:gd name="T18" fmla="*/ 0 60000 65536"/>
              <a:gd name="T19" fmla="*/ 0 60000 65536"/>
              <a:gd name="T20" fmla="*/ 0 60000 65536"/>
              <a:gd name="T21" fmla="*/ 0 w 66"/>
              <a:gd name="T22" fmla="*/ 0 h 274"/>
              <a:gd name="T23" fmla="*/ 66 w 66"/>
              <a:gd name="T24" fmla="*/ 274 h 2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274">
                <a:moveTo>
                  <a:pt x="14" y="0"/>
                </a:moveTo>
                <a:lnTo>
                  <a:pt x="66" y="46"/>
                </a:lnTo>
                <a:lnTo>
                  <a:pt x="6" y="84"/>
                </a:lnTo>
                <a:lnTo>
                  <a:pt x="54" y="136"/>
                </a:lnTo>
                <a:lnTo>
                  <a:pt x="0" y="178"/>
                </a:lnTo>
                <a:lnTo>
                  <a:pt x="54" y="214"/>
                </a:lnTo>
                <a:lnTo>
                  <a:pt x="12" y="274"/>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1" name="Line 43">
            <a:extLst>
              <a:ext uri="{FF2B5EF4-FFF2-40B4-BE49-F238E27FC236}">
                <a16:creationId xmlns:a16="http://schemas.microsoft.com/office/drawing/2014/main" id="{E6C7EC84-7C41-83FA-E889-5E8082EDF7DA}"/>
              </a:ext>
            </a:extLst>
          </p:cNvPr>
          <p:cNvSpPr>
            <a:spLocks noChangeShapeType="1"/>
          </p:cNvSpPr>
          <p:nvPr/>
        </p:nvSpPr>
        <p:spPr bwMode="auto">
          <a:xfrm>
            <a:off x="7524669" y="1869509"/>
            <a:ext cx="504507" cy="0"/>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2" name="Text Box 44">
            <a:extLst>
              <a:ext uri="{FF2B5EF4-FFF2-40B4-BE49-F238E27FC236}">
                <a16:creationId xmlns:a16="http://schemas.microsoft.com/office/drawing/2014/main" id="{CD5A2B8F-8C39-406B-051D-4B5372CB1F92}"/>
              </a:ext>
            </a:extLst>
          </p:cNvPr>
          <p:cNvSpPr txBox="1">
            <a:spLocks noChangeArrowheads="1"/>
          </p:cNvSpPr>
          <p:nvPr/>
        </p:nvSpPr>
        <p:spPr bwMode="auto">
          <a:xfrm>
            <a:off x="7376814" y="1872844"/>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序号增大</a:t>
            </a:r>
          </a:p>
        </p:txBody>
      </p:sp>
      <p:sp>
        <p:nvSpPr>
          <p:cNvPr id="73" name="Text Box 65">
            <a:extLst>
              <a:ext uri="{FF2B5EF4-FFF2-40B4-BE49-F238E27FC236}">
                <a16:creationId xmlns:a16="http://schemas.microsoft.com/office/drawing/2014/main" id="{B176C46A-6A76-1D63-C058-BBF0EFE67550}"/>
              </a:ext>
            </a:extLst>
          </p:cNvPr>
          <p:cNvSpPr txBox="1">
            <a:spLocks noChangeArrowheads="1"/>
          </p:cNvSpPr>
          <p:nvPr/>
        </p:nvSpPr>
        <p:spPr bwMode="auto">
          <a:xfrm>
            <a:off x="970370" y="1568361"/>
            <a:ext cx="3914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(a)</a:t>
            </a:r>
          </a:p>
        </p:txBody>
      </p:sp>
      <p:sp>
        <p:nvSpPr>
          <p:cNvPr id="74" name="Line 19">
            <a:extLst>
              <a:ext uri="{FF2B5EF4-FFF2-40B4-BE49-F238E27FC236}">
                <a16:creationId xmlns:a16="http://schemas.microsoft.com/office/drawing/2014/main" id="{619D4F29-28EE-55BE-9F3E-7EC71D2BE15D}"/>
              </a:ext>
            </a:extLst>
          </p:cNvPr>
          <p:cNvSpPr>
            <a:spLocks noChangeShapeType="1"/>
          </p:cNvSpPr>
          <p:nvPr/>
        </p:nvSpPr>
        <p:spPr bwMode="auto">
          <a:xfrm flipV="1">
            <a:off x="2261790" y="1810613"/>
            <a:ext cx="0" cy="181133"/>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5" name="Line 19">
            <a:extLst>
              <a:ext uri="{FF2B5EF4-FFF2-40B4-BE49-F238E27FC236}">
                <a16:creationId xmlns:a16="http://schemas.microsoft.com/office/drawing/2014/main" id="{625280A8-CFD9-9C54-38EB-09834AD6A830}"/>
              </a:ext>
            </a:extLst>
          </p:cNvPr>
          <p:cNvSpPr>
            <a:spLocks noChangeShapeType="1"/>
          </p:cNvSpPr>
          <p:nvPr/>
        </p:nvSpPr>
        <p:spPr bwMode="auto">
          <a:xfrm flipV="1">
            <a:off x="4003119" y="1813947"/>
            <a:ext cx="0" cy="181134"/>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cxnSp>
        <p:nvCxnSpPr>
          <p:cNvPr id="76" name="直接连接符 75">
            <a:extLst>
              <a:ext uri="{FF2B5EF4-FFF2-40B4-BE49-F238E27FC236}">
                <a16:creationId xmlns:a16="http://schemas.microsoft.com/office/drawing/2014/main" id="{05B6C1B0-70DB-6A76-E46D-A1509BFB605B}"/>
              </a:ext>
            </a:extLst>
          </p:cNvPr>
          <p:cNvCxnSpPr>
            <a:cxnSpLocks/>
          </p:cNvCxnSpPr>
          <p:nvPr/>
        </p:nvCxnSpPr>
        <p:spPr>
          <a:xfrm>
            <a:off x="5102144" y="1391672"/>
            <a:ext cx="0" cy="407829"/>
          </a:xfrm>
          <a:prstGeom prst="line">
            <a:avLst/>
          </a:prstGeom>
          <a:noFill/>
          <a:ln w="12700" cap="flat" cmpd="sng" algn="ctr">
            <a:solidFill>
              <a:srgbClr val="000000"/>
            </a:solidFill>
            <a:prstDash val="solid"/>
          </a:ln>
          <a:effectLst/>
        </p:spPr>
      </p:cxnSp>
      <p:sp>
        <p:nvSpPr>
          <p:cNvPr id="77" name="Text Box 27">
            <a:extLst>
              <a:ext uri="{FF2B5EF4-FFF2-40B4-BE49-F238E27FC236}">
                <a16:creationId xmlns:a16="http://schemas.microsoft.com/office/drawing/2014/main" id="{301ABAC3-7A67-5912-252D-6F3FC8896428}"/>
              </a:ext>
            </a:extLst>
          </p:cNvPr>
          <p:cNvSpPr txBox="1">
            <a:spLocks noChangeArrowheads="1"/>
          </p:cNvSpPr>
          <p:nvPr/>
        </p:nvSpPr>
        <p:spPr bwMode="auto">
          <a:xfrm>
            <a:off x="4194254" y="1149014"/>
            <a:ext cx="9541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发送缓冲区</a:t>
            </a:r>
          </a:p>
        </p:txBody>
      </p:sp>
      <p:sp>
        <p:nvSpPr>
          <p:cNvPr id="78" name="Text Box 20">
            <a:extLst>
              <a:ext uri="{FF2B5EF4-FFF2-40B4-BE49-F238E27FC236}">
                <a16:creationId xmlns:a16="http://schemas.microsoft.com/office/drawing/2014/main" id="{0FE2E610-B2DE-729D-6413-D34C43FB5956}"/>
              </a:ext>
            </a:extLst>
          </p:cNvPr>
          <p:cNvSpPr txBox="1">
            <a:spLocks noChangeArrowheads="1"/>
          </p:cNvSpPr>
          <p:nvPr/>
        </p:nvSpPr>
        <p:spPr bwMode="auto">
          <a:xfrm>
            <a:off x="4246690" y="1553782"/>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待发送</a:t>
            </a:r>
          </a:p>
        </p:txBody>
      </p:sp>
      <p:sp>
        <p:nvSpPr>
          <p:cNvPr id="79" name="Text Box 20">
            <a:extLst>
              <a:ext uri="{FF2B5EF4-FFF2-40B4-BE49-F238E27FC236}">
                <a16:creationId xmlns:a16="http://schemas.microsoft.com/office/drawing/2014/main" id="{ACFD0CD4-20B6-6AB0-E13C-AC96359F0C81}"/>
              </a:ext>
            </a:extLst>
          </p:cNvPr>
          <p:cNvSpPr txBox="1">
            <a:spLocks noChangeArrowheads="1"/>
          </p:cNvSpPr>
          <p:nvPr/>
        </p:nvSpPr>
        <p:spPr bwMode="auto">
          <a:xfrm>
            <a:off x="1811407" y="1945073"/>
            <a:ext cx="9541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最后被确认</a:t>
            </a:r>
            <a:endParaRPr kumimoji="0" lang="en-US" altLang="zh-CN"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的字节</a:t>
            </a:r>
          </a:p>
        </p:txBody>
      </p:sp>
      <p:sp>
        <p:nvSpPr>
          <p:cNvPr id="80" name="Text Box 20">
            <a:extLst>
              <a:ext uri="{FF2B5EF4-FFF2-40B4-BE49-F238E27FC236}">
                <a16:creationId xmlns:a16="http://schemas.microsoft.com/office/drawing/2014/main" id="{98F645F1-D576-47D6-9AF1-7793B54C0AEF}"/>
              </a:ext>
            </a:extLst>
          </p:cNvPr>
          <p:cNvSpPr txBox="1">
            <a:spLocks noChangeArrowheads="1"/>
          </p:cNvSpPr>
          <p:nvPr/>
        </p:nvSpPr>
        <p:spPr bwMode="auto">
          <a:xfrm>
            <a:off x="3593564" y="1956187"/>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最后发送</a:t>
            </a:r>
            <a:endParaRPr kumimoji="0" lang="en-US" altLang="zh-CN"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的字节</a:t>
            </a:r>
          </a:p>
        </p:txBody>
      </p:sp>
      <p:sp>
        <p:nvSpPr>
          <p:cNvPr id="81" name="Text Box 20">
            <a:extLst>
              <a:ext uri="{FF2B5EF4-FFF2-40B4-BE49-F238E27FC236}">
                <a16:creationId xmlns:a16="http://schemas.microsoft.com/office/drawing/2014/main" id="{6474B612-575C-9DAF-C53F-C38D4DED3D7A}"/>
              </a:ext>
            </a:extLst>
          </p:cNvPr>
          <p:cNvSpPr txBox="1">
            <a:spLocks noChangeArrowheads="1"/>
          </p:cNvSpPr>
          <p:nvPr/>
        </p:nvSpPr>
        <p:spPr bwMode="auto">
          <a:xfrm>
            <a:off x="4978737" y="1965077"/>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最后写入</a:t>
            </a:r>
            <a:endParaRPr kumimoji="0" lang="en-US" altLang="zh-CN"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的字节</a:t>
            </a:r>
          </a:p>
        </p:txBody>
      </p:sp>
      <p:sp>
        <p:nvSpPr>
          <p:cNvPr id="82" name="Line 19">
            <a:extLst>
              <a:ext uri="{FF2B5EF4-FFF2-40B4-BE49-F238E27FC236}">
                <a16:creationId xmlns:a16="http://schemas.microsoft.com/office/drawing/2014/main" id="{8F1552D7-18F3-9C77-3236-77F1BA0F9A89}"/>
              </a:ext>
            </a:extLst>
          </p:cNvPr>
          <p:cNvSpPr>
            <a:spLocks noChangeShapeType="1"/>
          </p:cNvSpPr>
          <p:nvPr/>
        </p:nvSpPr>
        <p:spPr bwMode="auto">
          <a:xfrm flipV="1">
            <a:off x="5394404" y="1810613"/>
            <a:ext cx="0" cy="181133"/>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83" name="Text Box 20">
            <a:extLst>
              <a:ext uri="{FF2B5EF4-FFF2-40B4-BE49-F238E27FC236}">
                <a16:creationId xmlns:a16="http://schemas.microsoft.com/office/drawing/2014/main" id="{FB59EA3A-664F-99DC-830B-1D779AAFAEDD}"/>
              </a:ext>
            </a:extLst>
          </p:cNvPr>
          <p:cNvSpPr txBox="1">
            <a:spLocks noChangeArrowheads="1"/>
          </p:cNvSpPr>
          <p:nvPr/>
        </p:nvSpPr>
        <p:spPr bwMode="auto">
          <a:xfrm>
            <a:off x="2734279" y="1553782"/>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已发送</a:t>
            </a:r>
          </a:p>
        </p:txBody>
      </p:sp>
      <p:cxnSp>
        <p:nvCxnSpPr>
          <p:cNvPr id="84" name="直接连接符 83">
            <a:extLst>
              <a:ext uri="{FF2B5EF4-FFF2-40B4-BE49-F238E27FC236}">
                <a16:creationId xmlns:a16="http://schemas.microsoft.com/office/drawing/2014/main" id="{39337D6F-D097-173A-F311-1813216BC8EB}"/>
              </a:ext>
            </a:extLst>
          </p:cNvPr>
          <p:cNvCxnSpPr>
            <a:cxnSpLocks/>
          </p:cNvCxnSpPr>
          <p:nvPr/>
        </p:nvCxnSpPr>
        <p:spPr>
          <a:xfrm>
            <a:off x="2277347" y="1229429"/>
            <a:ext cx="0" cy="570071"/>
          </a:xfrm>
          <a:prstGeom prst="line">
            <a:avLst/>
          </a:prstGeom>
          <a:noFill/>
          <a:ln w="9525" cap="flat" cmpd="sng" algn="ctr">
            <a:solidFill>
              <a:srgbClr val="000000"/>
            </a:solidFill>
            <a:prstDash val="solid"/>
          </a:ln>
          <a:effectLst/>
        </p:spPr>
      </p:cxnSp>
      <p:cxnSp>
        <p:nvCxnSpPr>
          <p:cNvPr id="85" name="直接连接符 84">
            <a:extLst>
              <a:ext uri="{FF2B5EF4-FFF2-40B4-BE49-F238E27FC236}">
                <a16:creationId xmlns:a16="http://schemas.microsoft.com/office/drawing/2014/main" id="{2BB15B6B-D923-856F-B223-214F3DC3E329}"/>
              </a:ext>
            </a:extLst>
          </p:cNvPr>
          <p:cNvCxnSpPr>
            <a:cxnSpLocks/>
          </p:cNvCxnSpPr>
          <p:nvPr/>
        </p:nvCxnSpPr>
        <p:spPr>
          <a:xfrm>
            <a:off x="7019051" y="1240542"/>
            <a:ext cx="0" cy="570071"/>
          </a:xfrm>
          <a:prstGeom prst="line">
            <a:avLst/>
          </a:prstGeom>
          <a:noFill/>
          <a:ln w="9525" cap="flat" cmpd="sng" algn="ctr">
            <a:solidFill>
              <a:srgbClr val="000000"/>
            </a:solidFill>
            <a:prstDash val="solid"/>
          </a:ln>
          <a:effectLst/>
        </p:spPr>
      </p:cxnSp>
      <p:cxnSp>
        <p:nvCxnSpPr>
          <p:cNvPr id="86" name="直接连接符 85">
            <a:extLst>
              <a:ext uri="{FF2B5EF4-FFF2-40B4-BE49-F238E27FC236}">
                <a16:creationId xmlns:a16="http://schemas.microsoft.com/office/drawing/2014/main" id="{7A9165B0-DEC1-BC99-E668-DF841DDC9D0B}"/>
              </a:ext>
            </a:extLst>
          </p:cNvPr>
          <p:cNvCxnSpPr>
            <a:cxnSpLocks/>
          </p:cNvCxnSpPr>
          <p:nvPr/>
        </p:nvCxnSpPr>
        <p:spPr>
          <a:xfrm>
            <a:off x="7017939" y="1552803"/>
            <a:ext cx="5557" cy="258921"/>
          </a:xfrm>
          <a:prstGeom prst="line">
            <a:avLst/>
          </a:prstGeom>
          <a:noFill/>
          <a:ln w="19050" cap="flat" cmpd="sng" algn="ctr">
            <a:solidFill>
              <a:srgbClr val="000000"/>
            </a:solidFill>
            <a:prstDash val="solid"/>
          </a:ln>
          <a:effectLst/>
        </p:spPr>
      </p:cxnSp>
      <p:sp>
        <p:nvSpPr>
          <p:cNvPr id="142" name="Text Box 44">
            <a:extLst>
              <a:ext uri="{FF2B5EF4-FFF2-40B4-BE49-F238E27FC236}">
                <a16:creationId xmlns:a16="http://schemas.microsoft.com/office/drawing/2014/main" id="{839EE724-A7F1-6C48-8F32-B4A3F5C428F4}"/>
              </a:ext>
            </a:extLst>
          </p:cNvPr>
          <p:cNvSpPr txBox="1">
            <a:spLocks noChangeArrowheads="1"/>
          </p:cNvSpPr>
          <p:nvPr/>
        </p:nvSpPr>
        <p:spPr bwMode="auto">
          <a:xfrm>
            <a:off x="6950898" y="1169422"/>
            <a:ext cx="3385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前</a:t>
            </a:r>
          </a:p>
        </p:txBody>
      </p:sp>
      <p:sp>
        <p:nvSpPr>
          <p:cNvPr id="147" name="Text Box 44">
            <a:extLst>
              <a:ext uri="{FF2B5EF4-FFF2-40B4-BE49-F238E27FC236}">
                <a16:creationId xmlns:a16="http://schemas.microsoft.com/office/drawing/2014/main" id="{0B18C4E6-75B9-489B-DBE9-6D96F5E8A812}"/>
              </a:ext>
            </a:extLst>
          </p:cNvPr>
          <p:cNvSpPr txBox="1">
            <a:spLocks noChangeArrowheads="1"/>
          </p:cNvSpPr>
          <p:nvPr/>
        </p:nvSpPr>
        <p:spPr bwMode="auto">
          <a:xfrm>
            <a:off x="1954162" y="1176089"/>
            <a:ext cx="3385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后</a:t>
            </a:r>
          </a:p>
        </p:txBody>
      </p:sp>
      <p:sp>
        <p:nvSpPr>
          <p:cNvPr id="148" name="Text Box 20">
            <a:extLst>
              <a:ext uri="{FF2B5EF4-FFF2-40B4-BE49-F238E27FC236}">
                <a16:creationId xmlns:a16="http://schemas.microsoft.com/office/drawing/2014/main" id="{E2AD0141-B264-AC3D-7430-F2A1FD24DBBA}"/>
              </a:ext>
            </a:extLst>
          </p:cNvPr>
          <p:cNvSpPr txBox="1">
            <a:spLocks noChangeArrowheads="1"/>
          </p:cNvSpPr>
          <p:nvPr/>
        </p:nvSpPr>
        <p:spPr bwMode="auto">
          <a:xfrm>
            <a:off x="5061525" y="1300549"/>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不能发送</a:t>
            </a:r>
          </a:p>
        </p:txBody>
      </p:sp>
      <p:cxnSp>
        <p:nvCxnSpPr>
          <p:cNvPr id="151" name="直接箭头连接符 150">
            <a:extLst>
              <a:ext uri="{FF2B5EF4-FFF2-40B4-BE49-F238E27FC236}">
                <a16:creationId xmlns:a16="http://schemas.microsoft.com/office/drawing/2014/main" id="{71C8FC58-E4D4-58D2-4B17-E26A59DCCDC3}"/>
              </a:ext>
            </a:extLst>
          </p:cNvPr>
          <p:cNvCxnSpPr>
            <a:cxnSpLocks/>
          </p:cNvCxnSpPr>
          <p:nvPr/>
        </p:nvCxnSpPr>
        <p:spPr>
          <a:xfrm flipH="1">
            <a:off x="5252164" y="1499464"/>
            <a:ext cx="32226" cy="202247"/>
          </a:xfrm>
          <a:prstGeom prst="straightConnector1">
            <a:avLst/>
          </a:prstGeom>
          <a:noFill/>
          <a:ln w="9525" cap="flat" cmpd="sng" algn="ctr">
            <a:solidFill>
              <a:srgbClr val="000000"/>
            </a:solidFill>
            <a:prstDash val="solid"/>
            <a:headEnd type="none" w="med" len="lg"/>
            <a:tailEnd type="triangle" w="sm" len="lg"/>
          </a:ln>
          <a:effectLst/>
        </p:spPr>
      </p:cxnSp>
      <p:cxnSp>
        <p:nvCxnSpPr>
          <p:cNvPr id="154" name="直接连接符 153">
            <a:extLst>
              <a:ext uri="{FF2B5EF4-FFF2-40B4-BE49-F238E27FC236}">
                <a16:creationId xmlns:a16="http://schemas.microsoft.com/office/drawing/2014/main" id="{28A17DE2-8901-4797-10E0-40DA35743816}"/>
              </a:ext>
            </a:extLst>
          </p:cNvPr>
          <p:cNvCxnSpPr/>
          <p:nvPr/>
        </p:nvCxnSpPr>
        <p:spPr>
          <a:xfrm>
            <a:off x="5405516" y="1571694"/>
            <a:ext cx="0" cy="241142"/>
          </a:xfrm>
          <a:prstGeom prst="line">
            <a:avLst/>
          </a:prstGeom>
          <a:noFill/>
          <a:ln w="12700" cap="flat" cmpd="sng" algn="ctr">
            <a:solidFill>
              <a:srgbClr val="000000"/>
            </a:solidFill>
            <a:prstDash val="solid"/>
          </a:ln>
          <a:effectLst/>
        </p:spPr>
      </p:cxnSp>
      <p:cxnSp>
        <p:nvCxnSpPr>
          <p:cNvPr id="156" name="直接连接符 155">
            <a:extLst>
              <a:ext uri="{FF2B5EF4-FFF2-40B4-BE49-F238E27FC236}">
                <a16:creationId xmlns:a16="http://schemas.microsoft.com/office/drawing/2014/main" id="{F71D0440-35FE-0280-DEEB-FAF7BF50C158}"/>
              </a:ext>
            </a:extLst>
          </p:cNvPr>
          <p:cNvCxnSpPr/>
          <p:nvPr/>
        </p:nvCxnSpPr>
        <p:spPr>
          <a:xfrm>
            <a:off x="4026455" y="1569472"/>
            <a:ext cx="0" cy="241142"/>
          </a:xfrm>
          <a:prstGeom prst="line">
            <a:avLst/>
          </a:prstGeom>
          <a:noFill/>
          <a:ln w="12700" cap="flat" cmpd="sng" algn="ctr">
            <a:solidFill>
              <a:srgbClr val="000000"/>
            </a:solidFill>
            <a:prstDash val="solid"/>
          </a:ln>
          <a:effectLst/>
        </p:spPr>
      </p:cxnSp>
      <p:cxnSp>
        <p:nvCxnSpPr>
          <p:cNvPr id="158" name="直接连接符 157">
            <a:extLst>
              <a:ext uri="{FF2B5EF4-FFF2-40B4-BE49-F238E27FC236}">
                <a16:creationId xmlns:a16="http://schemas.microsoft.com/office/drawing/2014/main" id="{7BDCCD8B-104F-0F03-FF31-54A6372943C5}"/>
              </a:ext>
            </a:extLst>
          </p:cNvPr>
          <p:cNvCxnSpPr/>
          <p:nvPr/>
        </p:nvCxnSpPr>
        <p:spPr>
          <a:xfrm>
            <a:off x="2278459" y="1556137"/>
            <a:ext cx="0" cy="241142"/>
          </a:xfrm>
          <a:prstGeom prst="line">
            <a:avLst/>
          </a:prstGeom>
          <a:noFill/>
          <a:ln w="12700" cap="flat" cmpd="sng" algn="ctr">
            <a:solidFill>
              <a:srgbClr val="000000"/>
            </a:solidFill>
            <a:prstDash val="solid"/>
          </a:ln>
          <a:effectLst/>
        </p:spPr>
      </p:cxnSp>
      <p:sp>
        <p:nvSpPr>
          <p:cNvPr id="159" name="Text Box 20">
            <a:extLst>
              <a:ext uri="{FF2B5EF4-FFF2-40B4-BE49-F238E27FC236}">
                <a16:creationId xmlns:a16="http://schemas.microsoft.com/office/drawing/2014/main" id="{96BAB9B7-8614-5E04-93C4-E9A0BB9156E8}"/>
              </a:ext>
            </a:extLst>
          </p:cNvPr>
          <p:cNvSpPr txBox="1">
            <a:spLocks noChangeArrowheads="1"/>
          </p:cNvSpPr>
          <p:nvPr/>
        </p:nvSpPr>
        <p:spPr bwMode="auto">
          <a:xfrm>
            <a:off x="1516082" y="1552501"/>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已被确认</a:t>
            </a:r>
          </a:p>
        </p:txBody>
      </p:sp>
      <p:sp>
        <p:nvSpPr>
          <p:cNvPr id="173" name="Rectangle 8">
            <a:extLst>
              <a:ext uri="{FF2B5EF4-FFF2-40B4-BE49-F238E27FC236}">
                <a16:creationId xmlns:a16="http://schemas.microsoft.com/office/drawing/2014/main" id="{D9C5C38D-DDCB-B20F-7313-AB46E1A71A81}"/>
              </a:ext>
            </a:extLst>
          </p:cNvPr>
          <p:cNvSpPr>
            <a:spLocks noChangeArrowheads="1"/>
          </p:cNvSpPr>
          <p:nvPr/>
        </p:nvSpPr>
        <p:spPr bwMode="auto">
          <a:xfrm>
            <a:off x="556963" y="2527579"/>
            <a:ext cx="8048776" cy="2163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发送缓冲区和发送窗口的后沿相重合</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已被确认的数据不再保留在发送缓冲区中</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zh-CN" sz="2000" b="1" dirty="0">
                <a:latin typeface="微软雅黑" pitchFamily="34" charset="-122"/>
                <a:ea typeface="微软雅黑" pitchFamily="34" charset="-122"/>
              </a:rPr>
              <a:t>最后写入的字节序号 </a:t>
            </a:r>
            <a:r>
              <a:rPr lang="en-US" altLang="zh-CN" sz="2000" b="1" dirty="0">
                <a:latin typeface="微软雅黑" pitchFamily="34" charset="-122"/>
                <a:ea typeface="微软雅黑" pitchFamily="34" charset="-122"/>
                <a:sym typeface="Symbol" panose="05050102010706020507" pitchFamily="18" charset="2"/>
              </a:rPr>
              <a:t></a:t>
            </a:r>
            <a:r>
              <a:rPr lang="en-US" altLang="zh-CN" sz="2000" b="1" dirty="0">
                <a:latin typeface="微软雅黑" pitchFamily="34" charset="-122"/>
                <a:ea typeface="微软雅黑" pitchFamily="34" charset="-122"/>
              </a:rPr>
              <a:t> </a:t>
            </a:r>
            <a:r>
              <a:rPr lang="zh-CN" altLang="zh-CN" sz="2000" b="1" dirty="0">
                <a:latin typeface="微软雅黑" pitchFamily="34" charset="-122"/>
                <a:ea typeface="微软雅黑" pitchFamily="34" charset="-122"/>
              </a:rPr>
              <a:t>最后被确认的字节序号 </a:t>
            </a:r>
            <a:r>
              <a:rPr lang="en-US" altLang="zh-CN" sz="2000" b="1" dirty="0">
                <a:latin typeface="微软雅黑" pitchFamily="34" charset="-122"/>
                <a:ea typeface="微软雅黑" pitchFamily="34" charset="-122"/>
                <a:sym typeface="Symbol" panose="05050102010706020507" pitchFamily="18" charset="2"/>
              </a:rPr>
              <a:t></a:t>
            </a:r>
            <a:r>
              <a:rPr lang="en-US" altLang="zh-CN" sz="2000" b="1" dirty="0">
                <a:latin typeface="微软雅黑" pitchFamily="34" charset="-122"/>
                <a:ea typeface="微软雅黑" pitchFamily="34" charset="-122"/>
              </a:rPr>
              <a:t> </a:t>
            </a:r>
            <a:r>
              <a:rPr lang="zh-CN" altLang="zh-CN" sz="2000" b="1" dirty="0">
                <a:latin typeface="微软雅黑" pitchFamily="34" charset="-122"/>
                <a:ea typeface="微软雅黑" pitchFamily="34" charset="-122"/>
              </a:rPr>
              <a:t>发送缓冲区的大小</a:t>
            </a:r>
          </a:p>
          <a:p>
            <a:pPr marL="285750" indent="-285750">
              <a:lnSpc>
                <a:spcPts val="3300"/>
              </a:lnSpc>
              <a:buClr>
                <a:srgbClr val="0070C0"/>
              </a:buClr>
              <a:buFont typeface="Wingdings" pitchFamily="2" charset="2"/>
              <a:buChar char="l"/>
            </a:pPr>
            <a:r>
              <a:rPr lang="zh-CN" altLang="zh-CN" sz="2000" b="1" dirty="0">
                <a:latin typeface="微软雅黑" pitchFamily="34" charset="-122"/>
                <a:ea typeface="微软雅黑" pitchFamily="34" charset="-122"/>
              </a:rPr>
              <a:t>最后发送的字节序号 </a:t>
            </a:r>
            <a:r>
              <a:rPr lang="en-US" altLang="zh-CN" sz="2000" b="1" dirty="0">
                <a:latin typeface="微软雅黑" pitchFamily="34" charset="-122"/>
                <a:ea typeface="微软雅黑" pitchFamily="34" charset="-122"/>
                <a:sym typeface="Symbol" panose="05050102010706020507" pitchFamily="18" charset="2"/>
              </a:rPr>
              <a:t></a:t>
            </a:r>
            <a:r>
              <a:rPr lang="en-US" altLang="zh-CN" sz="2000" b="1" dirty="0">
                <a:latin typeface="微软雅黑" pitchFamily="34" charset="-122"/>
                <a:ea typeface="微软雅黑" pitchFamily="34" charset="-122"/>
              </a:rPr>
              <a:t> </a:t>
            </a:r>
            <a:r>
              <a:rPr lang="zh-CN" altLang="zh-CN" sz="2000" b="1" dirty="0">
                <a:latin typeface="微软雅黑" pitchFamily="34" charset="-122"/>
                <a:ea typeface="微软雅黑" pitchFamily="34" charset="-122"/>
              </a:rPr>
              <a:t>最后被确认的字节序号 </a:t>
            </a:r>
            <a:r>
              <a:rPr lang="en-US" altLang="zh-CN" sz="2000" b="1" dirty="0">
                <a:latin typeface="微软雅黑" pitchFamily="34" charset="-122"/>
                <a:ea typeface="微软雅黑" pitchFamily="34" charset="-122"/>
                <a:sym typeface="Symbol" panose="05050102010706020507" pitchFamily="18" charset="2"/>
              </a:rPr>
              <a:t></a:t>
            </a:r>
            <a:r>
              <a:rPr lang="en-US" altLang="zh-CN" sz="2000" b="1" dirty="0">
                <a:latin typeface="微软雅黑" pitchFamily="34" charset="-122"/>
                <a:ea typeface="微软雅黑" pitchFamily="34" charset="-122"/>
              </a:rPr>
              <a:t> </a:t>
            </a:r>
            <a:r>
              <a:rPr lang="zh-CN" altLang="zh-CN" sz="2000" b="1" dirty="0">
                <a:latin typeface="微软雅黑" pitchFamily="34" charset="-122"/>
                <a:ea typeface="微软雅黑" pitchFamily="34" charset="-122"/>
              </a:rPr>
              <a:t>发送窗口的大小</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只允许发送在发送窗口以内的数据。</a:t>
            </a:r>
            <a:endParaRPr lang="en-US" altLang="zh-CN" sz="2000" b="1" dirty="0">
              <a:latin typeface="微软雅黑" pitchFamily="34" charset="-122"/>
              <a:ea typeface="微软雅黑" pitchFamily="34" charset="-122"/>
            </a:endParaRPr>
          </a:p>
        </p:txBody>
      </p:sp>
      <p:cxnSp>
        <p:nvCxnSpPr>
          <p:cNvPr id="3" name="直接连接符 2">
            <a:extLst>
              <a:ext uri="{FF2B5EF4-FFF2-40B4-BE49-F238E27FC236}">
                <a16:creationId xmlns:a16="http://schemas.microsoft.com/office/drawing/2014/main" id="{838D438E-434D-4666-5D0A-3AC3E4D389C4}"/>
              </a:ext>
            </a:extLst>
          </p:cNvPr>
          <p:cNvCxnSpPr/>
          <p:nvPr/>
        </p:nvCxnSpPr>
        <p:spPr>
          <a:xfrm>
            <a:off x="2277347" y="1202051"/>
            <a:ext cx="0" cy="35045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6466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nodeType="click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par>
                                <p:cTn id="7" presetID="42" presetClass="entr" presetSubtype="0" fill="hold" nodeType="withEffect">
                                  <p:stCondLst>
                                    <p:cond delay="0"/>
                                  </p:stCondLst>
                                  <p:childTnLst>
                                    <p:set>
                                      <p:cBhvr>
                                        <p:cTn id="8" dur="1" fill="hold">
                                          <p:stCondLst>
                                            <p:cond delay="0"/>
                                          </p:stCondLst>
                                        </p:cTn>
                                        <p:tgtEl>
                                          <p:spTgt spid="173">
                                            <p:txEl>
                                              <p:pRg st="0" end="0"/>
                                            </p:txEl>
                                          </p:spTgt>
                                        </p:tgtEl>
                                        <p:attrNameLst>
                                          <p:attrName>style.visibility</p:attrName>
                                        </p:attrNameLst>
                                      </p:cBhvr>
                                      <p:to>
                                        <p:strVal val="visible"/>
                                      </p:to>
                                    </p:set>
                                    <p:animEffect transition="in" filter="fade">
                                      <p:cBhvr>
                                        <p:cTn id="9" dur="1000"/>
                                        <p:tgtEl>
                                          <p:spTgt spid="173">
                                            <p:txEl>
                                              <p:pRg st="0" end="0"/>
                                            </p:txEl>
                                          </p:spTgt>
                                        </p:tgtEl>
                                      </p:cBhvr>
                                    </p:animEffect>
                                    <p:anim calcmode="lin" valueType="num">
                                      <p:cBhvr>
                                        <p:cTn id="10" dur="1000" fill="hold"/>
                                        <p:tgtEl>
                                          <p:spTgt spid="173">
                                            <p:txEl>
                                              <p:pRg st="0" end="0"/>
                                            </p:txEl>
                                          </p:spTgt>
                                        </p:tgtEl>
                                        <p:attrNameLst>
                                          <p:attrName>ppt_x</p:attrName>
                                        </p:attrNameLst>
                                      </p:cBhvr>
                                      <p:tavLst>
                                        <p:tav tm="0">
                                          <p:val>
                                            <p:strVal val="#ppt_x"/>
                                          </p:val>
                                        </p:tav>
                                        <p:tav tm="100000">
                                          <p:val>
                                            <p:strVal val="#ppt_x"/>
                                          </p:val>
                                        </p:tav>
                                      </p:tavLst>
                                    </p:anim>
                                    <p:anim calcmode="lin" valueType="num">
                                      <p:cBhvr>
                                        <p:cTn id="11" dur="1000" fill="hold"/>
                                        <p:tgtEl>
                                          <p:spTgt spid="17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35" presetClass="emph" presetSubtype="0" repeatCount="3000" fill="hold" grpId="0" nodeType="clickEffect">
                                  <p:stCondLst>
                                    <p:cond delay="0"/>
                                  </p:stCondLst>
                                  <p:childTnLst>
                                    <p:anim calcmode="discrete" valueType="str">
                                      <p:cBhvr>
                                        <p:cTn id="15" dur="1000" fill="hold"/>
                                        <p:tgtEl>
                                          <p:spTgt spid="79"/>
                                        </p:tgtEl>
                                        <p:attrNameLst>
                                          <p:attrName>style.visibility</p:attrName>
                                        </p:attrNameLst>
                                      </p:cBhvr>
                                      <p:tavLst>
                                        <p:tav tm="0">
                                          <p:val>
                                            <p:strVal val="hidden"/>
                                          </p:val>
                                        </p:tav>
                                        <p:tav tm="50000">
                                          <p:val>
                                            <p:strVal val="visible"/>
                                          </p:val>
                                        </p:tav>
                                      </p:tavLst>
                                    </p:anim>
                                  </p:childTnLst>
                                </p:cTn>
                              </p:par>
                            </p:childTnLst>
                          </p:cTn>
                        </p:par>
                      </p:childTnLst>
                    </p:cTn>
                  </p:par>
                  <p:par>
                    <p:cTn id="16" fill="hold">
                      <p:stCondLst>
                        <p:cond delay="indefinite"/>
                      </p:stCondLst>
                      <p:childTnLst>
                        <p:par>
                          <p:cTn id="17" fill="hold">
                            <p:stCondLst>
                              <p:cond delay="0"/>
                            </p:stCondLst>
                            <p:childTnLst>
                              <p:par>
                                <p:cTn id="18" presetID="35" presetClass="emph" presetSubtype="0" repeatCount="3000" fill="hold" grpId="0" nodeType="clickEffect">
                                  <p:stCondLst>
                                    <p:cond delay="0"/>
                                  </p:stCondLst>
                                  <p:childTnLst>
                                    <p:anim calcmode="discrete" valueType="str">
                                      <p:cBhvr>
                                        <p:cTn id="19" dur="1000" fill="hold"/>
                                        <p:tgtEl>
                                          <p:spTgt spid="159"/>
                                        </p:tgtEl>
                                        <p:attrNameLst>
                                          <p:attrName>style.visibility</p:attrName>
                                        </p:attrNameLst>
                                      </p:cBhvr>
                                      <p:tavLst>
                                        <p:tav tm="0">
                                          <p:val>
                                            <p:strVal val="hidden"/>
                                          </p:val>
                                        </p:tav>
                                        <p:tav tm="50000">
                                          <p:val>
                                            <p:strVal val="visible"/>
                                          </p:val>
                                        </p:tav>
                                      </p:tavLst>
                                    </p:anim>
                                  </p:childTnLst>
                                </p:cTn>
                              </p:par>
                              <p:par>
                                <p:cTn id="20" presetID="42" presetClass="entr" presetSubtype="0" fill="hold" nodeType="withEffect">
                                  <p:stCondLst>
                                    <p:cond delay="0"/>
                                  </p:stCondLst>
                                  <p:childTnLst>
                                    <p:set>
                                      <p:cBhvr>
                                        <p:cTn id="21" dur="1" fill="hold">
                                          <p:stCondLst>
                                            <p:cond delay="0"/>
                                          </p:stCondLst>
                                        </p:cTn>
                                        <p:tgtEl>
                                          <p:spTgt spid="173">
                                            <p:txEl>
                                              <p:pRg st="1" end="1"/>
                                            </p:txEl>
                                          </p:spTgt>
                                        </p:tgtEl>
                                        <p:attrNameLst>
                                          <p:attrName>style.visibility</p:attrName>
                                        </p:attrNameLst>
                                      </p:cBhvr>
                                      <p:to>
                                        <p:strVal val="visible"/>
                                      </p:to>
                                    </p:set>
                                    <p:animEffect transition="in" filter="fade">
                                      <p:cBhvr>
                                        <p:cTn id="22" dur="1000"/>
                                        <p:tgtEl>
                                          <p:spTgt spid="173">
                                            <p:txEl>
                                              <p:pRg st="1" end="1"/>
                                            </p:txEl>
                                          </p:spTgt>
                                        </p:tgtEl>
                                      </p:cBhvr>
                                    </p:animEffect>
                                    <p:anim calcmode="lin" valueType="num">
                                      <p:cBhvr>
                                        <p:cTn id="23" dur="1000" fill="hold"/>
                                        <p:tgtEl>
                                          <p:spTgt spid="173">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17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73">
                                            <p:txEl>
                                              <p:pRg st="2" end="2"/>
                                            </p:txEl>
                                          </p:spTgt>
                                        </p:tgtEl>
                                        <p:attrNameLst>
                                          <p:attrName>style.visibility</p:attrName>
                                        </p:attrNameLst>
                                      </p:cBhvr>
                                      <p:to>
                                        <p:strVal val="visible"/>
                                      </p:to>
                                    </p:set>
                                    <p:animEffect transition="in" filter="fade">
                                      <p:cBhvr>
                                        <p:cTn id="29" dur="1000"/>
                                        <p:tgtEl>
                                          <p:spTgt spid="173">
                                            <p:txEl>
                                              <p:pRg st="2" end="2"/>
                                            </p:txEl>
                                          </p:spTgt>
                                        </p:tgtEl>
                                      </p:cBhvr>
                                    </p:animEffect>
                                    <p:anim calcmode="lin" valueType="num">
                                      <p:cBhvr>
                                        <p:cTn id="30" dur="1000" fill="hold"/>
                                        <p:tgtEl>
                                          <p:spTgt spid="173">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17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173">
                                            <p:txEl>
                                              <p:pRg st="3" end="3"/>
                                            </p:txEl>
                                          </p:spTgt>
                                        </p:tgtEl>
                                        <p:attrNameLst>
                                          <p:attrName>style.visibility</p:attrName>
                                        </p:attrNameLst>
                                      </p:cBhvr>
                                      <p:to>
                                        <p:strVal val="visible"/>
                                      </p:to>
                                    </p:set>
                                    <p:animEffect transition="in" filter="fade">
                                      <p:cBhvr>
                                        <p:cTn id="36" dur="1000"/>
                                        <p:tgtEl>
                                          <p:spTgt spid="173">
                                            <p:txEl>
                                              <p:pRg st="3" end="3"/>
                                            </p:txEl>
                                          </p:spTgt>
                                        </p:tgtEl>
                                      </p:cBhvr>
                                    </p:animEffect>
                                    <p:anim calcmode="lin" valueType="num">
                                      <p:cBhvr>
                                        <p:cTn id="37" dur="1000" fill="hold"/>
                                        <p:tgtEl>
                                          <p:spTgt spid="173">
                                            <p:txEl>
                                              <p:pRg st="3" end="3"/>
                                            </p:txEl>
                                          </p:spTgt>
                                        </p:tgtEl>
                                        <p:attrNameLst>
                                          <p:attrName>ppt_x</p:attrName>
                                        </p:attrNameLst>
                                      </p:cBhvr>
                                      <p:tavLst>
                                        <p:tav tm="0">
                                          <p:val>
                                            <p:strVal val="#ppt_x"/>
                                          </p:val>
                                        </p:tav>
                                        <p:tav tm="100000">
                                          <p:val>
                                            <p:strVal val="#ppt_x"/>
                                          </p:val>
                                        </p:tav>
                                      </p:tavLst>
                                    </p:anim>
                                    <p:anim calcmode="lin" valueType="num">
                                      <p:cBhvr>
                                        <p:cTn id="38" dur="1000" fill="hold"/>
                                        <p:tgtEl>
                                          <p:spTgt spid="17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35" presetClass="emph" presetSubtype="0" repeatCount="3000" fill="hold" grpId="0" nodeType="clickEffect">
                                  <p:stCondLst>
                                    <p:cond delay="0"/>
                                  </p:stCondLst>
                                  <p:childTnLst>
                                    <p:anim calcmode="discrete" valueType="str">
                                      <p:cBhvr>
                                        <p:cTn id="42" dur="1000" fill="hold"/>
                                        <p:tgtEl>
                                          <p:spTgt spid="59"/>
                                        </p:tgtEl>
                                        <p:attrNameLst>
                                          <p:attrName>style.visibility</p:attrName>
                                        </p:attrNameLst>
                                      </p:cBhvr>
                                      <p:tavLst>
                                        <p:tav tm="0">
                                          <p:val>
                                            <p:strVal val="hidden"/>
                                          </p:val>
                                        </p:tav>
                                        <p:tav tm="50000">
                                          <p:val>
                                            <p:strVal val="visible"/>
                                          </p:val>
                                        </p:tav>
                                      </p:tavLst>
                                    </p:anim>
                                  </p:childTnLst>
                                </p:cTn>
                              </p:par>
                            </p:childTnLst>
                          </p:cTn>
                        </p:par>
                      </p:childTnLst>
                    </p:cTn>
                  </p:par>
                  <p:par>
                    <p:cTn id="43" fill="hold">
                      <p:stCondLst>
                        <p:cond delay="indefinite"/>
                      </p:stCondLst>
                      <p:childTnLst>
                        <p:par>
                          <p:cTn id="44" fill="hold">
                            <p:stCondLst>
                              <p:cond delay="0"/>
                            </p:stCondLst>
                            <p:childTnLst>
                              <p:par>
                                <p:cTn id="45" presetID="35" presetClass="emph" presetSubtype="0" repeatCount="3000" fill="hold" grpId="0" nodeType="clickEffect">
                                  <p:stCondLst>
                                    <p:cond delay="0"/>
                                  </p:stCondLst>
                                  <p:childTnLst>
                                    <p:anim calcmode="discrete" valueType="str">
                                      <p:cBhvr>
                                        <p:cTn id="46" dur="1000" fill="hold"/>
                                        <p:tgtEl>
                                          <p:spTgt spid="148"/>
                                        </p:tgtEl>
                                        <p:attrNameLst>
                                          <p:attrName>style.visibility</p:attrName>
                                        </p:attrNameLst>
                                      </p:cBhvr>
                                      <p:tavLst>
                                        <p:tav tm="0">
                                          <p:val>
                                            <p:strVal val="hidden"/>
                                          </p:val>
                                        </p:tav>
                                        <p:tav tm="50000">
                                          <p:val>
                                            <p:strVal val="visible"/>
                                          </p:val>
                                        </p:tav>
                                      </p:tavLst>
                                    </p:anim>
                                  </p:childTnLst>
                                </p:cTn>
                              </p:par>
                              <p:par>
                                <p:cTn id="47" presetID="35" presetClass="emph" presetSubtype="0" repeatCount="3000" fill="hold" nodeType="withEffect">
                                  <p:stCondLst>
                                    <p:cond delay="0"/>
                                  </p:stCondLst>
                                  <p:childTnLst>
                                    <p:anim calcmode="discrete" valueType="str">
                                      <p:cBhvr>
                                        <p:cTn id="48" dur="1000" fill="hold"/>
                                        <p:tgtEl>
                                          <p:spTgt spid="151"/>
                                        </p:tgtEl>
                                        <p:attrNameLst>
                                          <p:attrName>style.visibility</p:attrName>
                                        </p:attrNameLst>
                                      </p:cBhvr>
                                      <p:tavLst>
                                        <p:tav tm="0">
                                          <p:val>
                                            <p:strVal val="hidden"/>
                                          </p:val>
                                        </p:tav>
                                        <p:tav tm="50000">
                                          <p:val>
                                            <p:strVal val="visible"/>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173">
                                            <p:txEl>
                                              <p:pRg st="4" end="4"/>
                                            </p:txEl>
                                          </p:spTgt>
                                        </p:tgtEl>
                                        <p:attrNameLst>
                                          <p:attrName>style.visibility</p:attrName>
                                        </p:attrNameLst>
                                      </p:cBhvr>
                                      <p:to>
                                        <p:strVal val="visible"/>
                                      </p:to>
                                    </p:set>
                                    <p:animEffect transition="in" filter="fade">
                                      <p:cBhvr>
                                        <p:cTn id="53" dur="1000"/>
                                        <p:tgtEl>
                                          <p:spTgt spid="173">
                                            <p:txEl>
                                              <p:pRg st="4" end="4"/>
                                            </p:txEl>
                                          </p:spTgt>
                                        </p:tgtEl>
                                      </p:cBhvr>
                                    </p:animEffect>
                                    <p:anim calcmode="lin" valueType="num">
                                      <p:cBhvr>
                                        <p:cTn id="54" dur="1000" fill="hold"/>
                                        <p:tgtEl>
                                          <p:spTgt spid="173">
                                            <p:txEl>
                                              <p:pRg st="4" end="4"/>
                                            </p:txEl>
                                          </p:spTgt>
                                        </p:tgtEl>
                                        <p:attrNameLst>
                                          <p:attrName>ppt_x</p:attrName>
                                        </p:attrNameLst>
                                      </p:cBhvr>
                                      <p:tavLst>
                                        <p:tav tm="0">
                                          <p:val>
                                            <p:strVal val="#ppt_x"/>
                                          </p:val>
                                        </p:tav>
                                        <p:tav tm="100000">
                                          <p:val>
                                            <p:strVal val="#ppt_x"/>
                                          </p:val>
                                        </p:tav>
                                      </p:tavLst>
                                    </p:anim>
                                    <p:anim calcmode="lin" valueType="num">
                                      <p:cBhvr>
                                        <p:cTn id="55" dur="1000" fill="hold"/>
                                        <p:tgtEl>
                                          <p:spTgt spid="17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79" grpId="0"/>
      <p:bldP spid="148" grpId="0"/>
      <p:bldP spid="159"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03DAD-51BA-9870-652D-45A469842295}"/>
            </a:ext>
          </a:extLst>
        </p:cNvPr>
        <p:cNvGrpSpPr/>
        <p:nvPr/>
      </p:nvGrpSpPr>
      <p:grpSpPr>
        <a:xfrm>
          <a:off x="0" y="0"/>
          <a:ext cx="0" cy="0"/>
          <a:chOff x="0" y="0"/>
          <a:chExt cx="0" cy="0"/>
        </a:xfrm>
      </p:grpSpPr>
      <p:sp>
        <p:nvSpPr>
          <p:cNvPr id="40" name="圆角矩形 60">
            <a:extLst>
              <a:ext uri="{FF2B5EF4-FFF2-40B4-BE49-F238E27FC236}">
                <a16:creationId xmlns:a16="http://schemas.microsoft.com/office/drawing/2014/main" id="{A7A7122C-46E3-3134-9628-20FE3941483A}"/>
              </a:ext>
            </a:extLst>
          </p:cNvPr>
          <p:cNvSpPr/>
          <p:nvPr/>
        </p:nvSpPr>
        <p:spPr>
          <a:xfrm>
            <a:off x="545144" y="1020960"/>
            <a:ext cx="8053712" cy="376735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Rectangle 26">
            <a:extLst>
              <a:ext uri="{FF2B5EF4-FFF2-40B4-BE49-F238E27FC236}">
                <a16:creationId xmlns:a16="http://schemas.microsoft.com/office/drawing/2014/main" id="{EC0B36DA-9255-2A5B-9802-F5AA2811C0B8}"/>
              </a:ext>
            </a:extLst>
          </p:cNvPr>
          <p:cNvSpPr>
            <a:spLocks noChangeArrowheads="1"/>
          </p:cNvSpPr>
          <p:nvPr/>
        </p:nvSpPr>
        <p:spPr bwMode="auto">
          <a:xfrm>
            <a:off x="3032997" y="3952874"/>
            <a:ext cx="2061369" cy="237807"/>
          </a:xfrm>
          <a:prstGeom prst="rect">
            <a:avLst/>
          </a:prstGeom>
          <a:solidFill>
            <a:srgbClr val="92D050"/>
          </a:solidFill>
          <a:ln>
            <a:noFill/>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auto">
              <a:spcAft>
                <a:spcPts val="0"/>
              </a:spcAft>
              <a:buNone/>
            </a:pPr>
            <a:endParaRPr lang="zh-CN" altLang="en-US" sz="1400" b="1" kern="0">
              <a:solidFill>
                <a:srgbClr val="000000"/>
              </a:solidFill>
              <a:latin typeface="微软雅黑" panose="020B0503020204020204" pitchFamily="34" charset="-122"/>
              <a:ea typeface="微软雅黑" panose="020B0503020204020204" pitchFamily="34" charset="-122"/>
            </a:endParaRPr>
          </a:p>
        </p:txBody>
      </p:sp>
      <p:sp>
        <p:nvSpPr>
          <p:cNvPr id="15" name="Rectangle 26">
            <a:extLst>
              <a:ext uri="{FF2B5EF4-FFF2-40B4-BE49-F238E27FC236}">
                <a16:creationId xmlns:a16="http://schemas.microsoft.com/office/drawing/2014/main" id="{1E5446C1-20F2-98C2-1FE0-BB4F6431A1ED}"/>
              </a:ext>
            </a:extLst>
          </p:cNvPr>
          <p:cNvSpPr>
            <a:spLocks noChangeArrowheads="1"/>
          </p:cNvSpPr>
          <p:nvPr/>
        </p:nvSpPr>
        <p:spPr bwMode="auto">
          <a:xfrm>
            <a:off x="2282904" y="2787610"/>
            <a:ext cx="2827020" cy="237807"/>
          </a:xfrm>
          <a:prstGeom prst="rect">
            <a:avLst/>
          </a:prstGeom>
          <a:solidFill>
            <a:srgbClr val="92D050"/>
          </a:solidFill>
          <a:ln>
            <a:noFill/>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auto">
              <a:spcAft>
                <a:spcPts val="0"/>
              </a:spcAft>
              <a:buNone/>
            </a:pPr>
            <a:endParaRPr lang="zh-CN" altLang="en-US" sz="1400" b="1" kern="0">
              <a:solidFill>
                <a:srgbClr val="000000"/>
              </a:solidFill>
              <a:latin typeface="微软雅黑" panose="020B0503020204020204" pitchFamily="34" charset="-122"/>
              <a:ea typeface="微软雅黑" panose="020B0503020204020204" pitchFamily="34" charset="-122"/>
            </a:endParaRPr>
          </a:p>
        </p:txBody>
      </p:sp>
      <p:sp>
        <p:nvSpPr>
          <p:cNvPr id="67" name="Rectangle 26">
            <a:extLst>
              <a:ext uri="{FF2B5EF4-FFF2-40B4-BE49-F238E27FC236}">
                <a16:creationId xmlns:a16="http://schemas.microsoft.com/office/drawing/2014/main" id="{970F85A5-90E2-99CD-7DEE-93CAD6A989D3}"/>
              </a:ext>
            </a:extLst>
          </p:cNvPr>
          <p:cNvSpPr>
            <a:spLocks noChangeArrowheads="1"/>
          </p:cNvSpPr>
          <p:nvPr/>
        </p:nvSpPr>
        <p:spPr bwMode="auto">
          <a:xfrm>
            <a:off x="2286237" y="1561693"/>
            <a:ext cx="1735772" cy="237807"/>
          </a:xfrm>
          <a:prstGeom prst="rect">
            <a:avLst/>
          </a:prstGeom>
          <a:solidFill>
            <a:srgbClr val="92D050"/>
          </a:solidFill>
          <a:ln>
            <a:noFill/>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9" name="Rectangle 14">
            <a:extLst>
              <a:ext uri="{FF2B5EF4-FFF2-40B4-BE49-F238E27FC236}">
                <a16:creationId xmlns:a16="http://schemas.microsoft.com/office/drawing/2014/main" id="{0956DD7C-FA05-545F-E902-58802AFCDF40}"/>
              </a:ext>
            </a:extLst>
          </p:cNvPr>
          <p:cNvSpPr>
            <a:spLocks noChangeArrowheads="1"/>
          </p:cNvSpPr>
          <p:nvPr/>
        </p:nvSpPr>
        <p:spPr bwMode="auto">
          <a:xfrm>
            <a:off x="5394404" y="1559471"/>
            <a:ext cx="1626868" cy="252253"/>
          </a:xfrm>
          <a:prstGeom prst="rect">
            <a:avLst/>
          </a:prstGeom>
          <a:solidFill>
            <a:srgbClr val="FFFF00"/>
          </a:solidFill>
          <a:ln>
            <a:noFill/>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0" name="AutoShape 5">
            <a:extLst>
              <a:ext uri="{FF2B5EF4-FFF2-40B4-BE49-F238E27FC236}">
                <a16:creationId xmlns:a16="http://schemas.microsoft.com/office/drawing/2014/main" id="{42789520-2E37-DF77-EAAD-2DC6670DA1D6}"/>
              </a:ext>
            </a:extLst>
          </p:cNvPr>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2" name="Rectangle 6">
            <a:extLst>
              <a:ext uri="{FF2B5EF4-FFF2-40B4-BE49-F238E27FC236}">
                <a16:creationId xmlns:a16="http://schemas.microsoft.com/office/drawing/2014/main" id="{6F0B5978-D28D-069F-F3A8-44FE137CB575}"/>
              </a:ext>
            </a:extLst>
          </p:cNvPr>
          <p:cNvSpPr>
            <a:spLocks noChangeArrowheads="1"/>
          </p:cNvSpPr>
          <p:nvPr/>
        </p:nvSpPr>
        <p:spPr bwMode="auto">
          <a:xfrm>
            <a:off x="2832506" y="587638"/>
            <a:ext cx="34976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a:t>
            </a:r>
            <a:r>
              <a:rPr lang="zh-CN" altLang="en-US" sz="2000" b="1" dirty="0">
                <a:solidFill>
                  <a:schemeClr val="bg1"/>
                </a:solidFill>
                <a:latin typeface="微软雅黑" pitchFamily="34" charset="-122"/>
                <a:ea typeface="微软雅黑" pitchFamily="34" charset="-122"/>
              </a:rPr>
              <a:t>的发送缓冲区和发送窗口</a:t>
            </a:r>
          </a:p>
        </p:txBody>
      </p:sp>
      <p:cxnSp>
        <p:nvCxnSpPr>
          <p:cNvPr id="5" name="直接箭头连接符 4">
            <a:extLst>
              <a:ext uri="{FF2B5EF4-FFF2-40B4-BE49-F238E27FC236}">
                <a16:creationId xmlns:a16="http://schemas.microsoft.com/office/drawing/2014/main" id="{2CBA63EB-340C-E1A8-CBD9-95672EBA6BBD}"/>
              </a:ext>
            </a:extLst>
          </p:cNvPr>
          <p:cNvCxnSpPr>
            <a:cxnSpLocks/>
          </p:cNvCxnSpPr>
          <p:nvPr/>
        </p:nvCxnSpPr>
        <p:spPr>
          <a:xfrm>
            <a:off x="2279570" y="1294994"/>
            <a:ext cx="4739481" cy="0"/>
          </a:xfrm>
          <a:prstGeom prst="straightConnector1">
            <a:avLst/>
          </a:prstGeom>
          <a:noFill/>
          <a:ln w="9525" cap="flat" cmpd="sng" algn="ctr">
            <a:solidFill>
              <a:srgbClr val="000000"/>
            </a:solidFill>
            <a:prstDash val="solid"/>
            <a:headEnd type="triangle" w="sm" len="lg"/>
            <a:tailEnd type="triangle" w="sm" len="lg"/>
          </a:ln>
          <a:effectLst/>
        </p:spPr>
      </p:cxnSp>
      <p:sp>
        <p:nvSpPr>
          <p:cNvPr id="56" name="矩形 55">
            <a:extLst>
              <a:ext uri="{FF2B5EF4-FFF2-40B4-BE49-F238E27FC236}">
                <a16:creationId xmlns:a16="http://schemas.microsoft.com/office/drawing/2014/main" id="{22F4978A-0C2D-BC3D-599B-84BF73D9676B}"/>
              </a:ext>
            </a:extLst>
          </p:cNvPr>
          <p:cNvSpPr/>
          <p:nvPr/>
        </p:nvSpPr>
        <p:spPr>
          <a:xfrm>
            <a:off x="4254261" y="1169422"/>
            <a:ext cx="796766" cy="216694"/>
          </a:xfrm>
          <a:prstGeom prst="rect">
            <a:avLst/>
          </a:prstGeom>
          <a:solidFill>
            <a:srgbClr val="C3E3F9"/>
          </a:solidFill>
          <a:ln w="25400" cap="flat" cmpd="sng" algn="ctr">
            <a:noFill/>
            <a:prstDash val="solid"/>
          </a:ln>
          <a:effectLst/>
        </p:spPr>
        <p:txBody>
          <a:bodyPr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cxnSp>
        <p:nvCxnSpPr>
          <p:cNvPr id="57" name="直接箭头连接符 56">
            <a:extLst>
              <a:ext uri="{FF2B5EF4-FFF2-40B4-BE49-F238E27FC236}">
                <a16:creationId xmlns:a16="http://schemas.microsoft.com/office/drawing/2014/main" id="{641C676D-F657-B0FE-716E-F150663A72F5}"/>
              </a:ext>
            </a:extLst>
          </p:cNvPr>
          <p:cNvCxnSpPr>
            <a:cxnSpLocks/>
          </p:cNvCxnSpPr>
          <p:nvPr/>
        </p:nvCxnSpPr>
        <p:spPr>
          <a:xfrm>
            <a:off x="2288460" y="1449457"/>
            <a:ext cx="2815907" cy="0"/>
          </a:xfrm>
          <a:prstGeom prst="straightConnector1">
            <a:avLst/>
          </a:prstGeom>
          <a:noFill/>
          <a:ln w="9525" cap="flat" cmpd="sng" algn="ctr">
            <a:solidFill>
              <a:srgbClr val="000000"/>
            </a:solidFill>
            <a:prstDash val="solid"/>
            <a:headEnd type="triangle" w="sm" len="lg"/>
            <a:tailEnd type="triangle" w="sm" len="lg"/>
          </a:ln>
          <a:effectLst/>
        </p:spPr>
      </p:cxnSp>
      <p:sp>
        <p:nvSpPr>
          <p:cNvPr id="58" name="矩形 57">
            <a:extLst>
              <a:ext uri="{FF2B5EF4-FFF2-40B4-BE49-F238E27FC236}">
                <a16:creationId xmlns:a16="http://schemas.microsoft.com/office/drawing/2014/main" id="{A71BB20F-6AFE-AF20-5D25-E3FC74FADAFD}"/>
              </a:ext>
            </a:extLst>
          </p:cNvPr>
          <p:cNvSpPr/>
          <p:nvPr/>
        </p:nvSpPr>
        <p:spPr>
          <a:xfrm>
            <a:off x="3409711" y="1360558"/>
            <a:ext cx="632146" cy="170019"/>
          </a:xfrm>
          <a:prstGeom prst="rect">
            <a:avLst/>
          </a:prstGeom>
          <a:solidFill>
            <a:srgbClr val="C3E3F9"/>
          </a:solidFill>
          <a:ln w="25400" cap="flat" cmpd="sng" algn="ctr">
            <a:noFill/>
            <a:prstDash val="solid"/>
          </a:ln>
          <a:effectLst/>
        </p:spPr>
        <p:txBody>
          <a:bodyPr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59" name="Rectangle 14">
            <a:extLst>
              <a:ext uri="{FF2B5EF4-FFF2-40B4-BE49-F238E27FC236}">
                <a16:creationId xmlns:a16="http://schemas.microsoft.com/office/drawing/2014/main" id="{5547411F-9457-FBA0-D13B-933E4713B240}"/>
              </a:ext>
            </a:extLst>
          </p:cNvPr>
          <p:cNvSpPr>
            <a:spLocks noChangeArrowheads="1"/>
          </p:cNvSpPr>
          <p:nvPr/>
        </p:nvSpPr>
        <p:spPr bwMode="auto">
          <a:xfrm>
            <a:off x="4024231" y="1559471"/>
            <a:ext cx="1389061" cy="252253"/>
          </a:xfrm>
          <a:prstGeom prst="rect">
            <a:avLst/>
          </a:prstGeom>
          <a:solidFill>
            <a:srgbClr val="FFC000"/>
          </a:solidFill>
          <a:ln>
            <a:noFill/>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nvGrpSpPr>
          <p:cNvPr id="63" name="组合 2">
            <a:extLst>
              <a:ext uri="{FF2B5EF4-FFF2-40B4-BE49-F238E27FC236}">
                <a16:creationId xmlns:a16="http://schemas.microsoft.com/office/drawing/2014/main" id="{A23377C7-0666-3923-0134-E9CB1C5C9F27}"/>
              </a:ext>
            </a:extLst>
          </p:cNvPr>
          <p:cNvGrpSpPr>
            <a:grpSpLocks/>
          </p:cNvGrpSpPr>
          <p:nvPr/>
        </p:nvGrpSpPr>
        <p:grpSpPr bwMode="auto">
          <a:xfrm>
            <a:off x="1521697" y="1563916"/>
            <a:ext cx="6496367" cy="246697"/>
            <a:chOff x="1408113" y="1868488"/>
            <a:chExt cx="4040187" cy="352425"/>
          </a:xfrm>
        </p:grpSpPr>
        <p:sp>
          <p:nvSpPr>
            <p:cNvPr id="166" name="Line 10">
              <a:extLst>
                <a:ext uri="{FF2B5EF4-FFF2-40B4-BE49-F238E27FC236}">
                  <a16:creationId xmlns:a16="http://schemas.microsoft.com/office/drawing/2014/main" id="{0C48DAF3-0AB0-7341-B07E-FFFD2040C46D}"/>
                </a:ext>
              </a:extLst>
            </p:cNvPr>
            <p:cNvSpPr>
              <a:spLocks noChangeShapeType="1"/>
            </p:cNvSpPr>
            <p:nvPr/>
          </p:nvSpPr>
          <p:spPr bwMode="auto">
            <a:xfrm>
              <a:off x="1408113" y="1868488"/>
              <a:ext cx="4032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7" name="Line 11">
              <a:extLst>
                <a:ext uri="{FF2B5EF4-FFF2-40B4-BE49-F238E27FC236}">
                  <a16:creationId xmlns:a16="http://schemas.microsoft.com/office/drawing/2014/main" id="{DCE5B4BB-3C74-539E-B979-9659B5973964}"/>
                </a:ext>
              </a:extLst>
            </p:cNvPr>
            <p:cNvSpPr>
              <a:spLocks noChangeShapeType="1"/>
            </p:cNvSpPr>
            <p:nvPr/>
          </p:nvSpPr>
          <p:spPr bwMode="auto">
            <a:xfrm>
              <a:off x="1416050" y="2220913"/>
              <a:ext cx="4032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64" name="Line 15">
            <a:extLst>
              <a:ext uri="{FF2B5EF4-FFF2-40B4-BE49-F238E27FC236}">
                <a16:creationId xmlns:a16="http://schemas.microsoft.com/office/drawing/2014/main" id="{8A65C5B1-76FA-0F99-8DDD-3E1CCE8C39C0}"/>
              </a:ext>
            </a:extLst>
          </p:cNvPr>
          <p:cNvSpPr>
            <a:spLocks noChangeShapeType="1"/>
          </p:cNvSpPr>
          <p:nvPr/>
        </p:nvSpPr>
        <p:spPr bwMode="auto">
          <a:xfrm>
            <a:off x="2279570" y="1558359"/>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5" name="Line 16">
            <a:extLst>
              <a:ext uri="{FF2B5EF4-FFF2-40B4-BE49-F238E27FC236}">
                <a16:creationId xmlns:a16="http://schemas.microsoft.com/office/drawing/2014/main" id="{667C21BB-A4FA-524E-BDD6-F256D00B0E4D}"/>
              </a:ext>
            </a:extLst>
          </p:cNvPr>
          <p:cNvSpPr>
            <a:spLocks noChangeShapeType="1"/>
          </p:cNvSpPr>
          <p:nvPr/>
        </p:nvSpPr>
        <p:spPr bwMode="auto">
          <a:xfrm flipH="1">
            <a:off x="5404404" y="1558359"/>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6" name="Line 23">
            <a:extLst>
              <a:ext uri="{FF2B5EF4-FFF2-40B4-BE49-F238E27FC236}">
                <a16:creationId xmlns:a16="http://schemas.microsoft.com/office/drawing/2014/main" id="{8DA2C993-0369-B572-53D9-FE8820D75BD1}"/>
              </a:ext>
            </a:extLst>
          </p:cNvPr>
          <p:cNvSpPr>
            <a:spLocks noChangeShapeType="1"/>
          </p:cNvSpPr>
          <p:nvPr/>
        </p:nvSpPr>
        <p:spPr bwMode="auto">
          <a:xfrm>
            <a:off x="4018676" y="1558359"/>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8" name="Text Box 27">
            <a:extLst>
              <a:ext uri="{FF2B5EF4-FFF2-40B4-BE49-F238E27FC236}">
                <a16:creationId xmlns:a16="http://schemas.microsoft.com/office/drawing/2014/main" id="{FF087AF8-CDE5-5E11-7845-77710E406C11}"/>
              </a:ext>
            </a:extLst>
          </p:cNvPr>
          <p:cNvSpPr txBox="1">
            <a:spLocks noChangeArrowheads="1"/>
          </p:cNvSpPr>
          <p:nvPr/>
        </p:nvSpPr>
        <p:spPr bwMode="auto">
          <a:xfrm>
            <a:off x="3337635" y="1301535"/>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发送窗口</a:t>
            </a:r>
          </a:p>
        </p:txBody>
      </p:sp>
      <p:sp>
        <p:nvSpPr>
          <p:cNvPr id="69" name="Freeform 36">
            <a:extLst>
              <a:ext uri="{FF2B5EF4-FFF2-40B4-BE49-F238E27FC236}">
                <a16:creationId xmlns:a16="http://schemas.microsoft.com/office/drawing/2014/main" id="{585A79A0-AA4A-8BF1-2AE7-F9D84AE0629D}"/>
              </a:ext>
            </a:extLst>
          </p:cNvPr>
          <p:cNvSpPr>
            <a:spLocks/>
          </p:cNvSpPr>
          <p:nvPr/>
        </p:nvSpPr>
        <p:spPr bwMode="auto">
          <a:xfrm>
            <a:off x="7974726" y="1526134"/>
            <a:ext cx="48895" cy="300037"/>
          </a:xfrm>
          <a:custGeom>
            <a:avLst/>
            <a:gdLst>
              <a:gd name="T0" fmla="*/ 2147483646 w 36"/>
              <a:gd name="T1" fmla="*/ 0 h 286"/>
              <a:gd name="T2" fmla="*/ 2147483646 w 36"/>
              <a:gd name="T3" fmla="*/ 2147483646 h 286"/>
              <a:gd name="T4" fmla="*/ 2147483646 w 36"/>
              <a:gd name="T5" fmla="*/ 2147483646 h 286"/>
              <a:gd name="T6" fmla="*/ 2147483646 w 36"/>
              <a:gd name="T7" fmla="*/ 2147483646 h 286"/>
              <a:gd name="T8" fmla="*/ 0 w 36"/>
              <a:gd name="T9" fmla="*/ 2147483646 h 286"/>
              <a:gd name="T10" fmla="*/ 2147483646 w 36"/>
              <a:gd name="T11" fmla="*/ 2147483646 h 286"/>
              <a:gd name="T12" fmla="*/ 2147483646 w 36"/>
              <a:gd name="T13" fmla="*/ 2147483646 h 286"/>
              <a:gd name="T14" fmla="*/ 2147483646 w 36"/>
              <a:gd name="T15" fmla="*/ 2147483646 h 286"/>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86"/>
              <a:gd name="T26" fmla="*/ 36 w 36"/>
              <a:gd name="T27" fmla="*/ 286 h 28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0" name="Freeform 39">
            <a:extLst>
              <a:ext uri="{FF2B5EF4-FFF2-40B4-BE49-F238E27FC236}">
                <a16:creationId xmlns:a16="http://schemas.microsoft.com/office/drawing/2014/main" id="{6DC4EB06-3BF2-C263-B21A-00213787A07F}"/>
              </a:ext>
            </a:extLst>
          </p:cNvPr>
          <p:cNvSpPr>
            <a:spLocks/>
          </p:cNvSpPr>
          <p:nvPr/>
        </p:nvSpPr>
        <p:spPr bwMode="auto">
          <a:xfrm>
            <a:off x="1472802" y="1538357"/>
            <a:ext cx="73342" cy="304482"/>
          </a:xfrm>
          <a:custGeom>
            <a:avLst/>
            <a:gdLst>
              <a:gd name="T0" fmla="*/ 2147483646 w 66"/>
              <a:gd name="T1" fmla="*/ 0 h 274"/>
              <a:gd name="T2" fmla="*/ 2147483646 w 66"/>
              <a:gd name="T3" fmla="*/ 2147483646 h 274"/>
              <a:gd name="T4" fmla="*/ 2147483646 w 66"/>
              <a:gd name="T5" fmla="*/ 2147483646 h 274"/>
              <a:gd name="T6" fmla="*/ 2147483646 w 66"/>
              <a:gd name="T7" fmla="*/ 2147483646 h 274"/>
              <a:gd name="T8" fmla="*/ 0 w 66"/>
              <a:gd name="T9" fmla="*/ 2147483646 h 274"/>
              <a:gd name="T10" fmla="*/ 2147483646 w 66"/>
              <a:gd name="T11" fmla="*/ 2147483646 h 274"/>
              <a:gd name="T12" fmla="*/ 2147483646 w 66"/>
              <a:gd name="T13" fmla="*/ 2147483646 h 274"/>
              <a:gd name="T14" fmla="*/ 0 60000 65536"/>
              <a:gd name="T15" fmla="*/ 0 60000 65536"/>
              <a:gd name="T16" fmla="*/ 0 60000 65536"/>
              <a:gd name="T17" fmla="*/ 0 60000 65536"/>
              <a:gd name="T18" fmla="*/ 0 60000 65536"/>
              <a:gd name="T19" fmla="*/ 0 60000 65536"/>
              <a:gd name="T20" fmla="*/ 0 60000 65536"/>
              <a:gd name="T21" fmla="*/ 0 w 66"/>
              <a:gd name="T22" fmla="*/ 0 h 274"/>
              <a:gd name="T23" fmla="*/ 66 w 66"/>
              <a:gd name="T24" fmla="*/ 274 h 2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274">
                <a:moveTo>
                  <a:pt x="14" y="0"/>
                </a:moveTo>
                <a:lnTo>
                  <a:pt x="66" y="46"/>
                </a:lnTo>
                <a:lnTo>
                  <a:pt x="6" y="84"/>
                </a:lnTo>
                <a:lnTo>
                  <a:pt x="54" y="136"/>
                </a:lnTo>
                <a:lnTo>
                  <a:pt x="0" y="178"/>
                </a:lnTo>
                <a:lnTo>
                  <a:pt x="54" y="214"/>
                </a:lnTo>
                <a:lnTo>
                  <a:pt x="12" y="274"/>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1" name="Line 43">
            <a:extLst>
              <a:ext uri="{FF2B5EF4-FFF2-40B4-BE49-F238E27FC236}">
                <a16:creationId xmlns:a16="http://schemas.microsoft.com/office/drawing/2014/main" id="{E2D73DB0-D8F3-D684-CD28-F4FE244FEC38}"/>
              </a:ext>
            </a:extLst>
          </p:cNvPr>
          <p:cNvSpPr>
            <a:spLocks noChangeShapeType="1"/>
          </p:cNvSpPr>
          <p:nvPr/>
        </p:nvSpPr>
        <p:spPr bwMode="auto">
          <a:xfrm>
            <a:off x="7524669" y="1869509"/>
            <a:ext cx="504507" cy="0"/>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2" name="Text Box 44">
            <a:extLst>
              <a:ext uri="{FF2B5EF4-FFF2-40B4-BE49-F238E27FC236}">
                <a16:creationId xmlns:a16="http://schemas.microsoft.com/office/drawing/2014/main" id="{8041E53A-886D-879C-40B3-ECDD96594E85}"/>
              </a:ext>
            </a:extLst>
          </p:cNvPr>
          <p:cNvSpPr txBox="1">
            <a:spLocks noChangeArrowheads="1"/>
          </p:cNvSpPr>
          <p:nvPr/>
        </p:nvSpPr>
        <p:spPr bwMode="auto">
          <a:xfrm>
            <a:off x="7376814" y="1872844"/>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序号增大</a:t>
            </a:r>
          </a:p>
        </p:txBody>
      </p:sp>
      <p:sp>
        <p:nvSpPr>
          <p:cNvPr id="73" name="Text Box 65">
            <a:extLst>
              <a:ext uri="{FF2B5EF4-FFF2-40B4-BE49-F238E27FC236}">
                <a16:creationId xmlns:a16="http://schemas.microsoft.com/office/drawing/2014/main" id="{92F35C41-6398-BA8D-802F-79FB14531833}"/>
              </a:ext>
            </a:extLst>
          </p:cNvPr>
          <p:cNvSpPr txBox="1">
            <a:spLocks noChangeArrowheads="1"/>
          </p:cNvSpPr>
          <p:nvPr/>
        </p:nvSpPr>
        <p:spPr bwMode="auto">
          <a:xfrm>
            <a:off x="970370" y="1568361"/>
            <a:ext cx="3914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(a)</a:t>
            </a:r>
          </a:p>
        </p:txBody>
      </p:sp>
      <p:sp>
        <p:nvSpPr>
          <p:cNvPr id="74" name="Line 19">
            <a:extLst>
              <a:ext uri="{FF2B5EF4-FFF2-40B4-BE49-F238E27FC236}">
                <a16:creationId xmlns:a16="http://schemas.microsoft.com/office/drawing/2014/main" id="{3EC63689-8F86-C170-0B35-64D06BEA13A2}"/>
              </a:ext>
            </a:extLst>
          </p:cNvPr>
          <p:cNvSpPr>
            <a:spLocks noChangeShapeType="1"/>
          </p:cNvSpPr>
          <p:nvPr/>
        </p:nvSpPr>
        <p:spPr bwMode="auto">
          <a:xfrm flipV="1">
            <a:off x="2261790" y="1810613"/>
            <a:ext cx="0" cy="181133"/>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5" name="Line 19">
            <a:extLst>
              <a:ext uri="{FF2B5EF4-FFF2-40B4-BE49-F238E27FC236}">
                <a16:creationId xmlns:a16="http://schemas.microsoft.com/office/drawing/2014/main" id="{BE78EFA2-CD0A-20DC-415C-A6D913769BCA}"/>
              </a:ext>
            </a:extLst>
          </p:cNvPr>
          <p:cNvSpPr>
            <a:spLocks noChangeShapeType="1"/>
          </p:cNvSpPr>
          <p:nvPr/>
        </p:nvSpPr>
        <p:spPr bwMode="auto">
          <a:xfrm flipV="1">
            <a:off x="4003119" y="1813947"/>
            <a:ext cx="0" cy="181134"/>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cxnSp>
        <p:nvCxnSpPr>
          <p:cNvPr id="76" name="直接连接符 75">
            <a:extLst>
              <a:ext uri="{FF2B5EF4-FFF2-40B4-BE49-F238E27FC236}">
                <a16:creationId xmlns:a16="http://schemas.microsoft.com/office/drawing/2014/main" id="{B14908CD-CDD4-0226-748B-BFB9D67BBD18}"/>
              </a:ext>
            </a:extLst>
          </p:cNvPr>
          <p:cNvCxnSpPr>
            <a:cxnSpLocks/>
          </p:cNvCxnSpPr>
          <p:nvPr/>
        </p:nvCxnSpPr>
        <p:spPr>
          <a:xfrm>
            <a:off x="5102144" y="1391672"/>
            <a:ext cx="0" cy="407829"/>
          </a:xfrm>
          <a:prstGeom prst="line">
            <a:avLst/>
          </a:prstGeom>
          <a:noFill/>
          <a:ln w="12700" cap="flat" cmpd="sng" algn="ctr">
            <a:solidFill>
              <a:srgbClr val="000000"/>
            </a:solidFill>
            <a:prstDash val="solid"/>
          </a:ln>
          <a:effectLst/>
        </p:spPr>
      </p:cxnSp>
      <p:sp>
        <p:nvSpPr>
          <p:cNvPr id="77" name="Text Box 27">
            <a:extLst>
              <a:ext uri="{FF2B5EF4-FFF2-40B4-BE49-F238E27FC236}">
                <a16:creationId xmlns:a16="http://schemas.microsoft.com/office/drawing/2014/main" id="{0697D414-E7B2-4D48-007D-40861D7A4F83}"/>
              </a:ext>
            </a:extLst>
          </p:cNvPr>
          <p:cNvSpPr txBox="1">
            <a:spLocks noChangeArrowheads="1"/>
          </p:cNvSpPr>
          <p:nvPr/>
        </p:nvSpPr>
        <p:spPr bwMode="auto">
          <a:xfrm>
            <a:off x="4194254" y="1149014"/>
            <a:ext cx="9541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发送缓冲区</a:t>
            </a:r>
          </a:p>
        </p:txBody>
      </p:sp>
      <p:sp>
        <p:nvSpPr>
          <p:cNvPr id="78" name="Text Box 20">
            <a:extLst>
              <a:ext uri="{FF2B5EF4-FFF2-40B4-BE49-F238E27FC236}">
                <a16:creationId xmlns:a16="http://schemas.microsoft.com/office/drawing/2014/main" id="{6060F1A3-6B9B-BE43-8BDC-A29B8F89F643}"/>
              </a:ext>
            </a:extLst>
          </p:cNvPr>
          <p:cNvSpPr txBox="1">
            <a:spLocks noChangeArrowheads="1"/>
          </p:cNvSpPr>
          <p:nvPr/>
        </p:nvSpPr>
        <p:spPr bwMode="auto">
          <a:xfrm>
            <a:off x="4246690" y="1553782"/>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待发送</a:t>
            </a:r>
          </a:p>
        </p:txBody>
      </p:sp>
      <p:sp>
        <p:nvSpPr>
          <p:cNvPr id="79" name="Text Box 20">
            <a:extLst>
              <a:ext uri="{FF2B5EF4-FFF2-40B4-BE49-F238E27FC236}">
                <a16:creationId xmlns:a16="http://schemas.microsoft.com/office/drawing/2014/main" id="{C5D953CE-AF84-60A2-E2B9-DAAFFE3BFB3E}"/>
              </a:ext>
            </a:extLst>
          </p:cNvPr>
          <p:cNvSpPr txBox="1">
            <a:spLocks noChangeArrowheads="1"/>
          </p:cNvSpPr>
          <p:nvPr/>
        </p:nvSpPr>
        <p:spPr bwMode="auto">
          <a:xfrm>
            <a:off x="1811407" y="1945073"/>
            <a:ext cx="9541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最后被确认</a:t>
            </a:r>
            <a:endParaRPr kumimoji="0" lang="en-US" altLang="zh-CN"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的字节</a:t>
            </a:r>
          </a:p>
        </p:txBody>
      </p:sp>
      <p:sp>
        <p:nvSpPr>
          <p:cNvPr id="80" name="Text Box 20">
            <a:extLst>
              <a:ext uri="{FF2B5EF4-FFF2-40B4-BE49-F238E27FC236}">
                <a16:creationId xmlns:a16="http://schemas.microsoft.com/office/drawing/2014/main" id="{DD8893AD-914B-4A0B-1A71-48A53CB98646}"/>
              </a:ext>
            </a:extLst>
          </p:cNvPr>
          <p:cNvSpPr txBox="1">
            <a:spLocks noChangeArrowheads="1"/>
          </p:cNvSpPr>
          <p:nvPr/>
        </p:nvSpPr>
        <p:spPr bwMode="auto">
          <a:xfrm>
            <a:off x="3593564" y="1956187"/>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最后发送</a:t>
            </a:r>
            <a:endParaRPr kumimoji="0" lang="en-US" altLang="zh-CN"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的字节</a:t>
            </a:r>
          </a:p>
        </p:txBody>
      </p:sp>
      <p:sp>
        <p:nvSpPr>
          <p:cNvPr id="81" name="Text Box 20">
            <a:extLst>
              <a:ext uri="{FF2B5EF4-FFF2-40B4-BE49-F238E27FC236}">
                <a16:creationId xmlns:a16="http://schemas.microsoft.com/office/drawing/2014/main" id="{8AA16E1E-CB16-220B-09DF-6E00B78DFBFC}"/>
              </a:ext>
            </a:extLst>
          </p:cNvPr>
          <p:cNvSpPr txBox="1">
            <a:spLocks noChangeArrowheads="1"/>
          </p:cNvSpPr>
          <p:nvPr/>
        </p:nvSpPr>
        <p:spPr bwMode="auto">
          <a:xfrm>
            <a:off x="4978737" y="1965077"/>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最后写入</a:t>
            </a:r>
            <a:endParaRPr kumimoji="0" lang="en-US" altLang="zh-CN"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的字节</a:t>
            </a:r>
          </a:p>
        </p:txBody>
      </p:sp>
      <p:sp>
        <p:nvSpPr>
          <p:cNvPr id="82" name="Line 19">
            <a:extLst>
              <a:ext uri="{FF2B5EF4-FFF2-40B4-BE49-F238E27FC236}">
                <a16:creationId xmlns:a16="http://schemas.microsoft.com/office/drawing/2014/main" id="{95E749BF-94A7-23FB-1EDC-7F2A6617B6C6}"/>
              </a:ext>
            </a:extLst>
          </p:cNvPr>
          <p:cNvSpPr>
            <a:spLocks noChangeShapeType="1"/>
          </p:cNvSpPr>
          <p:nvPr/>
        </p:nvSpPr>
        <p:spPr bwMode="auto">
          <a:xfrm flipV="1">
            <a:off x="5394404" y="1810613"/>
            <a:ext cx="0" cy="181133"/>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83" name="Text Box 20">
            <a:extLst>
              <a:ext uri="{FF2B5EF4-FFF2-40B4-BE49-F238E27FC236}">
                <a16:creationId xmlns:a16="http://schemas.microsoft.com/office/drawing/2014/main" id="{724F3AE9-0022-9E1B-0628-C8A0C108F404}"/>
              </a:ext>
            </a:extLst>
          </p:cNvPr>
          <p:cNvSpPr txBox="1">
            <a:spLocks noChangeArrowheads="1"/>
          </p:cNvSpPr>
          <p:nvPr/>
        </p:nvSpPr>
        <p:spPr bwMode="auto">
          <a:xfrm>
            <a:off x="2734279" y="1553782"/>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已发送</a:t>
            </a:r>
          </a:p>
        </p:txBody>
      </p:sp>
      <p:cxnSp>
        <p:nvCxnSpPr>
          <p:cNvPr id="84" name="直接连接符 83">
            <a:extLst>
              <a:ext uri="{FF2B5EF4-FFF2-40B4-BE49-F238E27FC236}">
                <a16:creationId xmlns:a16="http://schemas.microsoft.com/office/drawing/2014/main" id="{269F90FA-74FB-6B74-E8A0-9058ABFF7A1B}"/>
              </a:ext>
            </a:extLst>
          </p:cNvPr>
          <p:cNvCxnSpPr>
            <a:cxnSpLocks/>
          </p:cNvCxnSpPr>
          <p:nvPr/>
        </p:nvCxnSpPr>
        <p:spPr>
          <a:xfrm>
            <a:off x="2277347" y="1229429"/>
            <a:ext cx="0" cy="570071"/>
          </a:xfrm>
          <a:prstGeom prst="line">
            <a:avLst/>
          </a:prstGeom>
          <a:noFill/>
          <a:ln w="9525" cap="flat" cmpd="sng" algn="ctr">
            <a:solidFill>
              <a:srgbClr val="000000"/>
            </a:solidFill>
            <a:prstDash val="solid"/>
          </a:ln>
          <a:effectLst/>
        </p:spPr>
      </p:cxnSp>
      <p:cxnSp>
        <p:nvCxnSpPr>
          <p:cNvPr id="85" name="直接连接符 84">
            <a:extLst>
              <a:ext uri="{FF2B5EF4-FFF2-40B4-BE49-F238E27FC236}">
                <a16:creationId xmlns:a16="http://schemas.microsoft.com/office/drawing/2014/main" id="{30F38966-FDFC-F68D-436B-9647115D34A9}"/>
              </a:ext>
            </a:extLst>
          </p:cNvPr>
          <p:cNvCxnSpPr>
            <a:cxnSpLocks/>
          </p:cNvCxnSpPr>
          <p:nvPr/>
        </p:nvCxnSpPr>
        <p:spPr>
          <a:xfrm>
            <a:off x="7019051" y="1240542"/>
            <a:ext cx="0" cy="570071"/>
          </a:xfrm>
          <a:prstGeom prst="line">
            <a:avLst/>
          </a:prstGeom>
          <a:noFill/>
          <a:ln w="9525" cap="flat" cmpd="sng" algn="ctr">
            <a:solidFill>
              <a:srgbClr val="000000"/>
            </a:solidFill>
            <a:prstDash val="solid"/>
          </a:ln>
          <a:effectLst/>
        </p:spPr>
      </p:cxnSp>
      <p:cxnSp>
        <p:nvCxnSpPr>
          <p:cNvPr id="86" name="直接连接符 85">
            <a:extLst>
              <a:ext uri="{FF2B5EF4-FFF2-40B4-BE49-F238E27FC236}">
                <a16:creationId xmlns:a16="http://schemas.microsoft.com/office/drawing/2014/main" id="{5102B48E-BA6B-8197-DBA2-383F0E875FD5}"/>
              </a:ext>
            </a:extLst>
          </p:cNvPr>
          <p:cNvCxnSpPr>
            <a:cxnSpLocks/>
          </p:cNvCxnSpPr>
          <p:nvPr/>
        </p:nvCxnSpPr>
        <p:spPr>
          <a:xfrm>
            <a:off x="7017939" y="1552803"/>
            <a:ext cx="5557" cy="258921"/>
          </a:xfrm>
          <a:prstGeom prst="line">
            <a:avLst/>
          </a:prstGeom>
          <a:noFill/>
          <a:ln w="19050" cap="flat" cmpd="sng" algn="ctr">
            <a:solidFill>
              <a:srgbClr val="000000"/>
            </a:solidFill>
            <a:prstDash val="solid"/>
          </a:ln>
          <a:effectLst/>
        </p:spPr>
      </p:cxnSp>
      <p:sp>
        <p:nvSpPr>
          <p:cNvPr id="142" name="Text Box 44">
            <a:extLst>
              <a:ext uri="{FF2B5EF4-FFF2-40B4-BE49-F238E27FC236}">
                <a16:creationId xmlns:a16="http://schemas.microsoft.com/office/drawing/2014/main" id="{DEF11ED1-A068-8382-FD59-D82B3EA53E78}"/>
              </a:ext>
            </a:extLst>
          </p:cNvPr>
          <p:cNvSpPr txBox="1">
            <a:spLocks noChangeArrowheads="1"/>
          </p:cNvSpPr>
          <p:nvPr/>
        </p:nvSpPr>
        <p:spPr bwMode="auto">
          <a:xfrm>
            <a:off x="6950898" y="1169422"/>
            <a:ext cx="3385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前</a:t>
            </a:r>
          </a:p>
        </p:txBody>
      </p:sp>
      <p:sp>
        <p:nvSpPr>
          <p:cNvPr id="147" name="Text Box 44">
            <a:extLst>
              <a:ext uri="{FF2B5EF4-FFF2-40B4-BE49-F238E27FC236}">
                <a16:creationId xmlns:a16="http://schemas.microsoft.com/office/drawing/2014/main" id="{D351A9E2-B67F-A194-F3E1-DEF2C2F87534}"/>
              </a:ext>
            </a:extLst>
          </p:cNvPr>
          <p:cNvSpPr txBox="1">
            <a:spLocks noChangeArrowheads="1"/>
          </p:cNvSpPr>
          <p:nvPr/>
        </p:nvSpPr>
        <p:spPr bwMode="auto">
          <a:xfrm>
            <a:off x="1954162" y="1176089"/>
            <a:ext cx="3385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后</a:t>
            </a:r>
          </a:p>
        </p:txBody>
      </p:sp>
      <p:sp>
        <p:nvSpPr>
          <p:cNvPr id="148" name="Text Box 20">
            <a:extLst>
              <a:ext uri="{FF2B5EF4-FFF2-40B4-BE49-F238E27FC236}">
                <a16:creationId xmlns:a16="http://schemas.microsoft.com/office/drawing/2014/main" id="{36575E7B-7135-60C7-7EC0-7B785FA096E9}"/>
              </a:ext>
            </a:extLst>
          </p:cNvPr>
          <p:cNvSpPr txBox="1">
            <a:spLocks noChangeArrowheads="1"/>
          </p:cNvSpPr>
          <p:nvPr/>
        </p:nvSpPr>
        <p:spPr bwMode="auto">
          <a:xfrm>
            <a:off x="5061525" y="1300549"/>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不能发送</a:t>
            </a:r>
          </a:p>
        </p:txBody>
      </p:sp>
      <p:cxnSp>
        <p:nvCxnSpPr>
          <p:cNvPr id="151" name="直接箭头连接符 150">
            <a:extLst>
              <a:ext uri="{FF2B5EF4-FFF2-40B4-BE49-F238E27FC236}">
                <a16:creationId xmlns:a16="http://schemas.microsoft.com/office/drawing/2014/main" id="{B9DB4E4E-E4DB-1AF7-7DBE-200EF300533F}"/>
              </a:ext>
            </a:extLst>
          </p:cNvPr>
          <p:cNvCxnSpPr>
            <a:cxnSpLocks/>
          </p:cNvCxnSpPr>
          <p:nvPr/>
        </p:nvCxnSpPr>
        <p:spPr>
          <a:xfrm flipH="1">
            <a:off x="5252164" y="1499464"/>
            <a:ext cx="32226" cy="202247"/>
          </a:xfrm>
          <a:prstGeom prst="straightConnector1">
            <a:avLst/>
          </a:prstGeom>
          <a:noFill/>
          <a:ln w="9525" cap="flat" cmpd="sng" algn="ctr">
            <a:solidFill>
              <a:srgbClr val="000000"/>
            </a:solidFill>
            <a:prstDash val="solid"/>
            <a:headEnd type="none" w="med" len="lg"/>
            <a:tailEnd type="triangle" w="sm" len="lg"/>
          </a:ln>
          <a:effectLst/>
        </p:spPr>
      </p:cxnSp>
      <p:cxnSp>
        <p:nvCxnSpPr>
          <p:cNvPr id="154" name="直接连接符 153">
            <a:extLst>
              <a:ext uri="{FF2B5EF4-FFF2-40B4-BE49-F238E27FC236}">
                <a16:creationId xmlns:a16="http://schemas.microsoft.com/office/drawing/2014/main" id="{E805D211-EB1B-7E0A-B40A-042CA169A915}"/>
              </a:ext>
            </a:extLst>
          </p:cNvPr>
          <p:cNvCxnSpPr/>
          <p:nvPr/>
        </p:nvCxnSpPr>
        <p:spPr>
          <a:xfrm>
            <a:off x="5405516" y="1571694"/>
            <a:ext cx="0" cy="241142"/>
          </a:xfrm>
          <a:prstGeom prst="line">
            <a:avLst/>
          </a:prstGeom>
          <a:noFill/>
          <a:ln w="12700" cap="flat" cmpd="sng" algn="ctr">
            <a:solidFill>
              <a:srgbClr val="000000"/>
            </a:solidFill>
            <a:prstDash val="solid"/>
          </a:ln>
          <a:effectLst/>
        </p:spPr>
      </p:cxnSp>
      <p:cxnSp>
        <p:nvCxnSpPr>
          <p:cNvPr id="156" name="直接连接符 155">
            <a:extLst>
              <a:ext uri="{FF2B5EF4-FFF2-40B4-BE49-F238E27FC236}">
                <a16:creationId xmlns:a16="http://schemas.microsoft.com/office/drawing/2014/main" id="{5D0A7820-2977-6A72-57D3-EBAC506D6729}"/>
              </a:ext>
            </a:extLst>
          </p:cNvPr>
          <p:cNvCxnSpPr/>
          <p:nvPr/>
        </p:nvCxnSpPr>
        <p:spPr>
          <a:xfrm>
            <a:off x="4026455" y="1569472"/>
            <a:ext cx="0" cy="241142"/>
          </a:xfrm>
          <a:prstGeom prst="line">
            <a:avLst/>
          </a:prstGeom>
          <a:noFill/>
          <a:ln w="12700" cap="flat" cmpd="sng" algn="ctr">
            <a:solidFill>
              <a:srgbClr val="000000"/>
            </a:solidFill>
            <a:prstDash val="solid"/>
          </a:ln>
          <a:effectLst/>
        </p:spPr>
      </p:cxnSp>
      <p:cxnSp>
        <p:nvCxnSpPr>
          <p:cNvPr id="158" name="直接连接符 157">
            <a:extLst>
              <a:ext uri="{FF2B5EF4-FFF2-40B4-BE49-F238E27FC236}">
                <a16:creationId xmlns:a16="http://schemas.microsoft.com/office/drawing/2014/main" id="{5587C821-DFEE-5FFC-BE9C-E3D15BA45267}"/>
              </a:ext>
            </a:extLst>
          </p:cNvPr>
          <p:cNvCxnSpPr/>
          <p:nvPr/>
        </p:nvCxnSpPr>
        <p:spPr>
          <a:xfrm>
            <a:off x="2278459" y="1556137"/>
            <a:ext cx="0" cy="241142"/>
          </a:xfrm>
          <a:prstGeom prst="line">
            <a:avLst/>
          </a:prstGeom>
          <a:noFill/>
          <a:ln w="12700" cap="flat" cmpd="sng" algn="ctr">
            <a:solidFill>
              <a:srgbClr val="000000"/>
            </a:solidFill>
            <a:prstDash val="solid"/>
          </a:ln>
          <a:effectLst/>
        </p:spPr>
      </p:cxnSp>
      <p:sp>
        <p:nvSpPr>
          <p:cNvPr id="159" name="Text Box 20">
            <a:extLst>
              <a:ext uri="{FF2B5EF4-FFF2-40B4-BE49-F238E27FC236}">
                <a16:creationId xmlns:a16="http://schemas.microsoft.com/office/drawing/2014/main" id="{2E787C43-07C7-5B3E-7FDA-06D652FAA488}"/>
              </a:ext>
            </a:extLst>
          </p:cNvPr>
          <p:cNvSpPr txBox="1">
            <a:spLocks noChangeArrowheads="1"/>
          </p:cNvSpPr>
          <p:nvPr/>
        </p:nvSpPr>
        <p:spPr bwMode="auto">
          <a:xfrm>
            <a:off x="1516082" y="1552501"/>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已被确认</a:t>
            </a:r>
          </a:p>
        </p:txBody>
      </p:sp>
      <p:sp>
        <p:nvSpPr>
          <p:cNvPr id="2" name="Rectangle 14">
            <a:extLst>
              <a:ext uri="{FF2B5EF4-FFF2-40B4-BE49-F238E27FC236}">
                <a16:creationId xmlns:a16="http://schemas.microsoft.com/office/drawing/2014/main" id="{015FBC98-EB67-6CCF-8809-305B27E24F5F}"/>
              </a:ext>
            </a:extLst>
          </p:cNvPr>
          <p:cNvSpPr>
            <a:spLocks noChangeArrowheads="1"/>
          </p:cNvSpPr>
          <p:nvPr/>
        </p:nvSpPr>
        <p:spPr bwMode="auto">
          <a:xfrm>
            <a:off x="6012258" y="2783165"/>
            <a:ext cx="1002349" cy="252253"/>
          </a:xfrm>
          <a:prstGeom prst="rect">
            <a:avLst/>
          </a:prstGeom>
          <a:solidFill>
            <a:srgbClr val="FFFF00"/>
          </a:solidFill>
          <a:ln>
            <a:noFill/>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 name="Rectangle 14">
            <a:extLst>
              <a:ext uri="{FF2B5EF4-FFF2-40B4-BE49-F238E27FC236}">
                <a16:creationId xmlns:a16="http://schemas.microsoft.com/office/drawing/2014/main" id="{FB852316-53FB-70A5-C0EF-59F45ABCC011}"/>
              </a:ext>
            </a:extLst>
          </p:cNvPr>
          <p:cNvSpPr>
            <a:spLocks noChangeArrowheads="1"/>
          </p:cNvSpPr>
          <p:nvPr/>
        </p:nvSpPr>
        <p:spPr bwMode="auto">
          <a:xfrm>
            <a:off x="5106589" y="2790944"/>
            <a:ext cx="905670" cy="252253"/>
          </a:xfrm>
          <a:prstGeom prst="rect">
            <a:avLst/>
          </a:prstGeom>
          <a:solidFill>
            <a:srgbClr val="FFC000"/>
          </a:solidFill>
          <a:ln>
            <a:noFill/>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auto">
              <a:spcAft>
                <a:spcPts val="0"/>
              </a:spcAft>
              <a:buNone/>
            </a:pPr>
            <a:endParaRPr lang="zh-CN" altLang="en-US" sz="1400" b="1" kern="0">
              <a:solidFill>
                <a:srgbClr val="000000"/>
              </a:solidFill>
              <a:latin typeface="微软雅黑" panose="020B0503020204020204" pitchFamily="34" charset="-122"/>
              <a:ea typeface="微软雅黑" panose="020B0503020204020204" pitchFamily="34" charset="-122"/>
            </a:endParaRPr>
          </a:p>
        </p:txBody>
      </p:sp>
      <p:cxnSp>
        <p:nvCxnSpPr>
          <p:cNvPr id="8" name="直接箭头连接符 7">
            <a:extLst>
              <a:ext uri="{FF2B5EF4-FFF2-40B4-BE49-F238E27FC236}">
                <a16:creationId xmlns:a16="http://schemas.microsoft.com/office/drawing/2014/main" id="{C0F060BE-B8C6-9183-D11C-F70D0B7276BB}"/>
              </a:ext>
            </a:extLst>
          </p:cNvPr>
          <p:cNvCxnSpPr>
            <a:cxnSpLocks/>
          </p:cNvCxnSpPr>
          <p:nvPr/>
        </p:nvCxnSpPr>
        <p:spPr>
          <a:xfrm>
            <a:off x="2290682" y="2669817"/>
            <a:ext cx="2815907" cy="0"/>
          </a:xfrm>
          <a:prstGeom prst="straightConnector1">
            <a:avLst/>
          </a:prstGeom>
          <a:noFill/>
          <a:ln w="9525" cap="flat" cmpd="sng" algn="ctr">
            <a:solidFill>
              <a:srgbClr val="000000"/>
            </a:solidFill>
            <a:prstDash val="solid"/>
            <a:headEnd type="triangle" w="sm" len="lg"/>
            <a:tailEnd type="triangle" w="sm" len="lg"/>
          </a:ln>
          <a:effectLst/>
        </p:spPr>
      </p:cxnSp>
      <p:sp>
        <p:nvSpPr>
          <p:cNvPr id="9" name="矩形 8">
            <a:extLst>
              <a:ext uri="{FF2B5EF4-FFF2-40B4-BE49-F238E27FC236}">
                <a16:creationId xmlns:a16="http://schemas.microsoft.com/office/drawing/2014/main" id="{F79759A5-8C1A-C471-2324-B7B53058B226}"/>
              </a:ext>
            </a:extLst>
          </p:cNvPr>
          <p:cNvSpPr/>
          <p:nvPr/>
        </p:nvSpPr>
        <p:spPr>
          <a:xfrm>
            <a:off x="3411934" y="2622842"/>
            <a:ext cx="688205" cy="128096"/>
          </a:xfrm>
          <a:prstGeom prst="rect">
            <a:avLst/>
          </a:prstGeom>
          <a:solidFill>
            <a:srgbClr val="C3E3F9"/>
          </a:solidFill>
          <a:ln w="25400" cap="flat" cmpd="sng" algn="ctr">
            <a:noFill/>
            <a:prstDash val="solid"/>
          </a:ln>
          <a:effectLst/>
        </p:spPr>
        <p:txBody>
          <a:bodyPr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grpSp>
        <p:nvGrpSpPr>
          <p:cNvPr id="10" name="组合 2">
            <a:extLst>
              <a:ext uri="{FF2B5EF4-FFF2-40B4-BE49-F238E27FC236}">
                <a16:creationId xmlns:a16="http://schemas.microsoft.com/office/drawing/2014/main" id="{1C2B0487-FF6F-9D52-2666-CFDD24A16A6D}"/>
              </a:ext>
            </a:extLst>
          </p:cNvPr>
          <p:cNvGrpSpPr>
            <a:grpSpLocks/>
          </p:cNvGrpSpPr>
          <p:nvPr/>
        </p:nvGrpSpPr>
        <p:grpSpPr bwMode="auto">
          <a:xfrm>
            <a:off x="1500584" y="2784276"/>
            <a:ext cx="6519703" cy="246697"/>
            <a:chOff x="1408113" y="1868488"/>
            <a:chExt cx="4040187" cy="352425"/>
          </a:xfrm>
        </p:grpSpPr>
        <p:sp>
          <p:nvSpPr>
            <p:cNvPr id="11" name="Line 10">
              <a:extLst>
                <a:ext uri="{FF2B5EF4-FFF2-40B4-BE49-F238E27FC236}">
                  <a16:creationId xmlns:a16="http://schemas.microsoft.com/office/drawing/2014/main" id="{3EC2DFB5-8036-5AB5-8C01-58FC4276FC85}"/>
                </a:ext>
              </a:extLst>
            </p:cNvPr>
            <p:cNvSpPr>
              <a:spLocks noChangeShapeType="1"/>
            </p:cNvSpPr>
            <p:nvPr/>
          </p:nvSpPr>
          <p:spPr bwMode="auto">
            <a:xfrm>
              <a:off x="1408113" y="1868488"/>
              <a:ext cx="4032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2" name="Line 11">
              <a:extLst>
                <a:ext uri="{FF2B5EF4-FFF2-40B4-BE49-F238E27FC236}">
                  <a16:creationId xmlns:a16="http://schemas.microsoft.com/office/drawing/2014/main" id="{C5D88520-6531-C4F2-8DB6-7A3BF31014BD}"/>
                </a:ext>
              </a:extLst>
            </p:cNvPr>
            <p:cNvSpPr>
              <a:spLocks noChangeShapeType="1"/>
            </p:cNvSpPr>
            <p:nvPr/>
          </p:nvSpPr>
          <p:spPr bwMode="auto">
            <a:xfrm>
              <a:off x="1416050" y="2220913"/>
              <a:ext cx="4032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13" name="Line 15">
            <a:extLst>
              <a:ext uri="{FF2B5EF4-FFF2-40B4-BE49-F238E27FC236}">
                <a16:creationId xmlns:a16="http://schemas.microsoft.com/office/drawing/2014/main" id="{9B0D0294-4755-8BE8-F207-9A040CDF7D14}"/>
              </a:ext>
            </a:extLst>
          </p:cNvPr>
          <p:cNvSpPr>
            <a:spLocks noChangeShapeType="1"/>
          </p:cNvSpPr>
          <p:nvPr/>
        </p:nvSpPr>
        <p:spPr bwMode="auto">
          <a:xfrm>
            <a:off x="2281792" y="2778720"/>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4" name="Line 16">
            <a:extLst>
              <a:ext uri="{FF2B5EF4-FFF2-40B4-BE49-F238E27FC236}">
                <a16:creationId xmlns:a16="http://schemas.microsoft.com/office/drawing/2014/main" id="{00C3F271-5C8A-BB6E-77DD-3B9B8426B2A0}"/>
              </a:ext>
            </a:extLst>
          </p:cNvPr>
          <p:cNvSpPr>
            <a:spLocks noChangeShapeType="1"/>
          </p:cNvSpPr>
          <p:nvPr/>
        </p:nvSpPr>
        <p:spPr bwMode="auto">
          <a:xfrm flipH="1">
            <a:off x="6011147" y="2778720"/>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 name="Text Box 27">
            <a:extLst>
              <a:ext uri="{FF2B5EF4-FFF2-40B4-BE49-F238E27FC236}">
                <a16:creationId xmlns:a16="http://schemas.microsoft.com/office/drawing/2014/main" id="{A9009733-7472-EE46-B7BD-BF68BB19F350}"/>
              </a:ext>
            </a:extLst>
          </p:cNvPr>
          <p:cNvSpPr txBox="1">
            <a:spLocks noChangeArrowheads="1"/>
          </p:cNvSpPr>
          <p:nvPr/>
        </p:nvSpPr>
        <p:spPr bwMode="auto">
          <a:xfrm>
            <a:off x="3360694" y="2521838"/>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发送窗口</a:t>
            </a:r>
          </a:p>
        </p:txBody>
      </p:sp>
      <p:sp>
        <p:nvSpPr>
          <p:cNvPr id="17" name="Freeform 36">
            <a:extLst>
              <a:ext uri="{FF2B5EF4-FFF2-40B4-BE49-F238E27FC236}">
                <a16:creationId xmlns:a16="http://schemas.microsoft.com/office/drawing/2014/main" id="{84EA9DB0-28E3-42D3-E7FA-9E2D721739DD}"/>
              </a:ext>
            </a:extLst>
          </p:cNvPr>
          <p:cNvSpPr>
            <a:spLocks/>
          </p:cNvSpPr>
          <p:nvPr/>
        </p:nvSpPr>
        <p:spPr bwMode="auto">
          <a:xfrm>
            <a:off x="7976949" y="2746494"/>
            <a:ext cx="48895" cy="300037"/>
          </a:xfrm>
          <a:custGeom>
            <a:avLst/>
            <a:gdLst>
              <a:gd name="T0" fmla="*/ 2147483646 w 36"/>
              <a:gd name="T1" fmla="*/ 0 h 286"/>
              <a:gd name="T2" fmla="*/ 2147483646 w 36"/>
              <a:gd name="T3" fmla="*/ 2147483646 h 286"/>
              <a:gd name="T4" fmla="*/ 2147483646 w 36"/>
              <a:gd name="T5" fmla="*/ 2147483646 h 286"/>
              <a:gd name="T6" fmla="*/ 2147483646 w 36"/>
              <a:gd name="T7" fmla="*/ 2147483646 h 286"/>
              <a:gd name="T8" fmla="*/ 0 w 36"/>
              <a:gd name="T9" fmla="*/ 2147483646 h 286"/>
              <a:gd name="T10" fmla="*/ 2147483646 w 36"/>
              <a:gd name="T11" fmla="*/ 2147483646 h 286"/>
              <a:gd name="T12" fmla="*/ 2147483646 w 36"/>
              <a:gd name="T13" fmla="*/ 2147483646 h 286"/>
              <a:gd name="T14" fmla="*/ 2147483646 w 36"/>
              <a:gd name="T15" fmla="*/ 2147483646 h 286"/>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86"/>
              <a:gd name="T26" fmla="*/ 36 w 36"/>
              <a:gd name="T27" fmla="*/ 286 h 28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 name="Freeform 39">
            <a:extLst>
              <a:ext uri="{FF2B5EF4-FFF2-40B4-BE49-F238E27FC236}">
                <a16:creationId xmlns:a16="http://schemas.microsoft.com/office/drawing/2014/main" id="{1CD22485-96C1-4E8A-5F76-33DFF85807F0}"/>
              </a:ext>
            </a:extLst>
          </p:cNvPr>
          <p:cNvSpPr>
            <a:spLocks/>
          </p:cNvSpPr>
          <p:nvPr/>
        </p:nvSpPr>
        <p:spPr bwMode="auto">
          <a:xfrm>
            <a:off x="1475025" y="2758717"/>
            <a:ext cx="73342" cy="304482"/>
          </a:xfrm>
          <a:custGeom>
            <a:avLst/>
            <a:gdLst>
              <a:gd name="T0" fmla="*/ 2147483646 w 66"/>
              <a:gd name="T1" fmla="*/ 0 h 274"/>
              <a:gd name="T2" fmla="*/ 2147483646 w 66"/>
              <a:gd name="T3" fmla="*/ 2147483646 h 274"/>
              <a:gd name="T4" fmla="*/ 2147483646 w 66"/>
              <a:gd name="T5" fmla="*/ 2147483646 h 274"/>
              <a:gd name="T6" fmla="*/ 2147483646 w 66"/>
              <a:gd name="T7" fmla="*/ 2147483646 h 274"/>
              <a:gd name="T8" fmla="*/ 0 w 66"/>
              <a:gd name="T9" fmla="*/ 2147483646 h 274"/>
              <a:gd name="T10" fmla="*/ 2147483646 w 66"/>
              <a:gd name="T11" fmla="*/ 2147483646 h 274"/>
              <a:gd name="T12" fmla="*/ 2147483646 w 66"/>
              <a:gd name="T13" fmla="*/ 2147483646 h 274"/>
              <a:gd name="T14" fmla="*/ 0 60000 65536"/>
              <a:gd name="T15" fmla="*/ 0 60000 65536"/>
              <a:gd name="T16" fmla="*/ 0 60000 65536"/>
              <a:gd name="T17" fmla="*/ 0 60000 65536"/>
              <a:gd name="T18" fmla="*/ 0 60000 65536"/>
              <a:gd name="T19" fmla="*/ 0 60000 65536"/>
              <a:gd name="T20" fmla="*/ 0 60000 65536"/>
              <a:gd name="T21" fmla="*/ 0 w 66"/>
              <a:gd name="T22" fmla="*/ 0 h 274"/>
              <a:gd name="T23" fmla="*/ 66 w 66"/>
              <a:gd name="T24" fmla="*/ 274 h 2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274">
                <a:moveTo>
                  <a:pt x="14" y="0"/>
                </a:moveTo>
                <a:lnTo>
                  <a:pt x="66" y="46"/>
                </a:lnTo>
                <a:lnTo>
                  <a:pt x="6" y="84"/>
                </a:lnTo>
                <a:lnTo>
                  <a:pt x="54" y="136"/>
                </a:lnTo>
                <a:lnTo>
                  <a:pt x="0" y="178"/>
                </a:lnTo>
                <a:lnTo>
                  <a:pt x="54" y="214"/>
                </a:lnTo>
                <a:lnTo>
                  <a:pt x="12" y="274"/>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 name="Line 43">
            <a:extLst>
              <a:ext uri="{FF2B5EF4-FFF2-40B4-BE49-F238E27FC236}">
                <a16:creationId xmlns:a16="http://schemas.microsoft.com/office/drawing/2014/main" id="{32F8FD91-1F10-86C1-9B20-A2CAED4D3178}"/>
              </a:ext>
            </a:extLst>
          </p:cNvPr>
          <p:cNvSpPr>
            <a:spLocks noChangeShapeType="1"/>
          </p:cNvSpPr>
          <p:nvPr/>
        </p:nvSpPr>
        <p:spPr bwMode="auto">
          <a:xfrm>
            <a:off x="7524669" y="3089869"/>
            <a:ext cx="504507" cy="0"/>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 name="Text Box 44">
            <a:extLst>
              <a:ext uri="{FF2B5EF4-FFF2-40B4-BE49-F238E27FC236}">
                <a16:creationId xmlns:a16="http://schemas.microsoft.com/office/drawing/2014/main" id="{306EFFA5-F221-5E00-B580-3772940D7632}"/>
              </a:ext>
            </a:extLst>
          </p:cNvPr>
          <p:cNvSpPr txBox="1">
            <a:spLocks noChangeArrowheads="1"/>
          </p:cNvSpPr>
          <p:nvPr/>
        </p:nvSpPr>
        <p:spPr bwMode="auto">
          <a:xfrm>
            <a:off x="7376814" y="3093204"/>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序号增大</a:t>
            </a:r>
          </a:p>
        </p:txBody>
      </p:sp>
      <p:sp>
        <p:nvSpPr>
          <p:cNvPr id="21" name="Text Box 65">
            <a:extLst>
              <a:ext uri="{FF2B5EF4-FFF2-40B4-BE49-F238E27FC236}">
                <a16:creationId xmlns:a16="http://schemas.microsoft.com/office/drawing/2014/main" id="{023DA0E5-5025-B470-E2DF-CAB9CE456DA2}"/>
              </a:ext>
            </a:extLst>
          </p:cNvPr>
          <p:cNvSpPr txBox="1">
            <a:spLocks noChangeArrowheads="1"/>
          </p:cNvSpPr>
          <p:nvPr/>
        </p:nvSpPr>
        <p:spPr bwMode="auto">
          <a:xfrm>
            <a:off x="964824" y="2788720"/>
            <a:ext cx="40588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(b)</a:t>
            </a:r>
          </a:p>
        </p:txBody>
      </p:sp>
      <p:sp>
        <p:nvSpPr>
          <p:cNvPr id="22" name="Line 19">
            <a:extLst>
              <a:ext uri="{FF2B5EF4-FFF2-40B4-BE49-F238E27FC236}">
                <a16:creationId xmlns:a16="http://schemas.microsoft.com/office/drawing/2014/main" id="{0BDDEE69-987E-D751-E63B-B08C49ACF39C}"/>
              </a:ext>
            </a:extLst>
          </p:cNvPr>
          <p:cNvSpPr>
            <a:spLocks noChangeShapeType="1"/>
          </p:cNvSpPr>
          <p:nvPr/>
        </p:nvSpPr>
        <p:spPr bwMode="auto">
          <a:xfrm flipV="1">
            <a:off x="2264012" y="3036529"/>
            <a:ext cx="0" cy="181134"/>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3" name="Line 19">
            <a:extLst>
              <a:ext uri="{FF2B5EF4-FFF2-40B4-BE49-F238E27FC236}">
                <a16:creationId xmlns:a16="http://schemas.microsoft.com/office/drawing/2014/main" id="{E328E4B4-E375-2C47-9620-7FB97C790F57}"/>
              </a:ext>
            </a:extLst>
          </p:cNvPr>
          <p:cNvSpPr>
            <a:spLocks noChangeShapeType="1"/>
          </p:cNvSpPr>
          <p:nvPr/>
        </p:nvSpPr>
        <p:spPr bwMode="auto">
          <a:xfrm flipV="1">
            <a:off x="5083254" y="3034307"/>
            <a:ext cx="0" cy="181134"/>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cxnSp>
        <p:nvCxnSpPr>
          <p:cNvPr id="24" name="直接连接符 23">
            <a:extLst>
              <a:ext uri="{FF2B5EF4-FFF2-40B4-BE49-F238E27FC236}">
                <a16:creationId xmlns:a16="http://schemas.microsoft.com/office/drawing/2014/main" id="{045307A7-491A-293C-3329-9863C3364B84}"/>
              </a:ext>
            </a:extLst>
          </p:cNvPr>
          <p:cNvCxnSpPr>
            <a:cxnSpLocks/>
          </p:cNvCxnSpPr>
          <p:nvPr/>
        </p:nvCxnSpPr>
        <p:spPr>
          <a:xfrm>
            <a:off x="5104367" y="2612032"/>
            <a:ext cx="0" cy="407829"/>
          </a:xfrm>
          <a:prstGeom prst="line">
            <a:avLst/>
          </a:prstGeom>
          <a:noFill/>
          <a:ln w="12700" cap="flat" cmpd="sng" algn="ctr">
            <a:solidFill>
              <a:srgbClr val="000000"/>
            </a:solidFill>
            <a:prstDash val="solid"/>
          </a:ln>
          <a:effectLst/>
        </p:spPr>
      </p:cxnSp>
      <p:cxnSp>
        <p:nvCxnSpPr>
          <p:cNvPr id="6" name="直接箭头连接符 5">
            <a:extLst>
              <a:ext uri="{FF2B5EF4-FFF2-40B4-BE49-F238E27FC236}">
                <a16:creationId xmlns:a16="http://schemas.microsoft.com/office/drawing/2014/main" id="{9B6FD559-A8E6-799D-AB02-4CE23807B7A6}"/>
              </a:ext>
            </a:extLst>
          </p:cNvPr>
          <p:cNvCxnSpPr>
            <a:cxnSpLocks/>
          </p:cNvCxnSpPr>
          <p:nvPr/>
        </p:nvCxnSpPr>
        <p:spPr>
          <a:xfrm>
            <a:off x="2281793" y="2515354"/>
            <a:ext cx="4739480" cy="0"/>
          </a:xfrm>
          <a:prstGeom prst="straightConnector1">
            <a:avLst/>
          </a:prstGeom>
          <a:noFill/>
          <a:ln w="9525" cap="flat" cmpd="sng" algn="ctr">
            <a:solidFill>
              <a:srgbClr val="000000"/>
            </a:solidFill>
            <a:prstDash val="solid"/>
            <a:headEnd type="triangle" w="sm" len="lg"/>
            <a:tailEnd type="triangle" w="sm" len="lg"/>
          </a:ln>
          <a:effectLst/>
        </p:spPr>
      </p:cxnSp>
      <p:sp>
        <p:nvSpPr>
          <p:cNvPr id="26" name="Text Box 20">
            <a:extLst>
              <a:ext uri="{FF2B5EF4-FFF2-40B4-BE49-F238E27FC236}">
                <a16:creationId xmlns:a16="http://schemas.microsoft.com/office/drawing/2014/main" id="{C43D58C6-DD9B-9236-AB7D-1FF58EB96052}"/>
              </a:ext>
            </a:extLst>
          </p:cNvPr>
          <p:cNvSpPr txBox="1">
            <a:spLocks noChangeArrowheads="1"/>
          </p:cNvSpPr>
          <p:nvPr/>
        </p:nvSpPr>
        <p:spPr bwMode="auto">
          <a:xfrm>
            <a:off x="1811407" y="3180992"/>
            <a:ext cx="9541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最后被确认</a:t>
            </a:r>
            <a:endPar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的字节</a:t>
            </a:r>
          </a:p>
        </p:txBody>
      </p:sp>
      <p:sp>
        <p:nvSpPr>
          <p:cNvPr id="27" name="Text Box 20">
            <a:extLst>
              <a:ext uri="{FF2B5EF4-FFF2-40B4-BE49-F238E27FC236}">
                <a16:creationId xmlns:a16="http://schemas.microsoft.com/office/drawing/2014/main" id="{20761CA4-72F2-56F0-9CD5-60EFA78AD277}"/>
              </a:ext>
            </a:extLst>
          </p:cNvPr>
          <p:cNvSpPr txBox="1">
            <a:spLocks noChangeArrowheads="1"/>
          </p:cNvSpPr>
          <p:nvPr/>
        </p:nvSpPr>
        <p:spPr bwMode="auto">
          <a:xfrm>
            <a:off x="4663141" y="3154322"/>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最后发送</a:t>
            </a:r>
            <a:endPar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的字节</a:t>
            </a:r>
          </a:p>
        </p:txBody>
      </p:sp>
      <p:sp>
        <p:nvSpPr>
          <p:cNvPr id="28" name="Text Box 20">
            <a:extLst>
              <a:ext uri="{FF2B5EF4-FFF2-40B4-BE49-F238E27FC236}">
                <a16:creationId xmlns:a16="http://schemas.microsoft.com/office/drawing/2014/main" id="{B800AE6B-45AE-78CD-53DE-48E1F546148F}"/>
              </a:ext>
            </a:extLst>
          </p:cNvPr>
          <p:cNvSpPr txBox="1">
            <a:spLocks noChangeArrowheads="1"/>
          </p:cNvSpPr>
          <p:nvPr/>
        </p:nvSpPr>
        <p:spPr bwMode="auto">
          <a:xfrm>
            <a:off x="5589369" y="3159879"/>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最后写入</a:t>
            </a:r>
            <a:endPar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的字节</a:t>
            </a:r>
          </a:p>
        </p:txBody>
      </p:sp>
      <p:sp>
        <p:nvSpPr>
          <p:cNvPr id="29" name="Line 19">
            <a:extLst>
              <a:ext uri="{FF2B5EF4-FFF2-40B4-BE49-F238E27FC236}">
                <a16:creationId xmlns:a16="http://schemas.microsoft.com/office/drawing/2014/main" id="{8CD8C7E1-A3E6-4D55-4E0D-A3E56076DF68}"/>
              </a:ext>
            </a:extLst>
          </p:cNvPr>
          <p:cNvSpPr>
            <a:spLocks noChangeShapeType="1"/>
          </p:cNvSpPr>
          <p:nvPr/>
        </p:nvSpPr>
        <p:spPr bwMode="auto">
          <a:xfrm flipV="1">
            <a:off x="5995589" y="3040974"/>
            <a:ext cx="0" cy="181134"/>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0" name="Text Box 20">
            <a:extLst>
              <a:ext uri="{FF2B5EF4-FFF2-40B4-BE49-F238E27FC236}">
                <a16:creationId xmlns:a16="http://schemas.microsoft.com/office/drawing/2014/main" id="{5247BC48-216B-738F-EB71-E37B333FE855}"/>
              </a:ext>
            </a:extLst>
          </p:cNvPr>
          <p:cNvSpPr txBox="1">
            <a:spLocks noChangeArrowheads="1"/>
          </p:cNvSpPr>
          <p:nvPr/>
        </p:nvSpPr>
        <p:spPr bwMode="auto">
          <a:xfrm>
            <a:off x="3345466" y="2778417"/>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已发送</a:t>
            </a:r>
          </a:p>
        </p:txBody>
      </p:sp>
      <p:cxnSp>
        <p:nvCxnSpPr>
          <p:cNvPr id="31" name="直接连接符 30">
            <a:extLst>
              <a:ext uri="{FF2B5EF4-FFF2-40B4-BE49-F238E27FC236}">
                <a16:creationId xmlns:a16="http://schemas.microsoft.com/office/drawing/2014/main" id="{BAAC0B0F-EA07-EC9B-C112-52F757873E49}"/>
              </a:ext>
            </a:extLst>
          </p:cNvPr>
          <p:cNvCxnSpPr>
            <a:cxnSpLocks/>
          </p:cNvCxnSpPr>
          <p:nvPr/>
        </p:nvCxnSpPr>
        <p:spPr>
          <a:xfrm>
            <a:off x="2279570" y="2449790"/>
            <a:ext cx="0" cy="570071"/>
          </a:xfrm>
          <a:prstGeom prst="line">
            <a:avLst/>
          </a:prstGeom>
          <a:noFill/>
          <a:ln w="9525" cap="flat" cmpd="sng" algn="ctr">
            <a:solidFill>
              <a:srgbClr val="000000"/>
            </a:solidFill>
            <a:prstDash val="solid"/>
          </a:ln>
          <a:effectLst/>
        </p:spPr>
      </p:cxnSp>
      <p:cxnSp>
        <p:nvCxnSpPr>
          <p:cNvPr id="32" name="直接连接符 31">
            <a:extLst>
              <a:ext uri="{FF2B5EF4-FFF2-40B4-BE49-F238E27FC236}">
                <a16:creationId xmlns:a16="http://schemas.microsoft.com/office/drawing/2014/main" id="{4D7CBECB-94FA-F8FD-5986-3298867DB6EE}"/>
              </a:ext>
            </a:extLst>
          </p:cNvPr>
          <p:cNvCxnSpPr>
            <a:cxnSpLocks/>
          </p:cNvCxnSpPr>
          <p:nvPr/>
        </p:nvCxnSpPr>
        <p:spPr>
          <a:xfrm>
            <a:off x="7021274" y="2460902"/>
            <a:ext cx="0" cy="570071"/>
          </a:xfrm>
          <a:prstGeom prst="line">
            <a:avLst/>
          </a:prstGeom>
          <a:noFill/>
          <a:ln w="9525" cap="flat" cmpd="sng" algn="ctr">
            <a:solidFill>
              <a:srgbClr val="000000"/>
            </a:solidFill>
            <a:prstDash val="solid"/>
          </a:ln>
          <a:effectLst/>
        </p:spPr>
      </p:cxnSp>
      <p:cxnSp>
        <p:nvCxnSpPr>
          <p:cNvPr id="33" name="直接连接符 32">
            <a:extLst>
              <a:ext uri="{FF2B5EF4-FFF2-40B4-BE49-F238E27FC236}">
                <a16:creationId xmlns:a16="http://schemas.microsoft.com/office/drawing/2014/main" id="{4D1C338D-2309-8FFE-A4F9-D9C3D1407B8B}"/>
              </a:ext>
            </a:extLst>
          </p:cNvPr>
          <p:cNvCxnSpPr>
            <a:cxnSpLocks/>
          </p:cNvCxnSpPr>
          <p:nvPr/>
        </p:nvCxnSpPr>
        <p:spPr>
          <a:xfrm>
            <a:off x="7019051" y="2773164"/>
            <a:ext cx="6667" cy="258921"/>
          </a:xfrm>
          <a:prstGeom prst="line">
            <a:avLst/>
          </a:prstGeom>
          <a:noFill/>
          <a:ln w="19050" cap="flat" cmpd="sng" algn="ctr">
            <a:solidFill>
              <a:srgbClr val="000000"/>
            </a:solidFill>
            <a:prstDash val="solid"/>
          </a:ln>
          <a:effectLst/>
        </p:spPr>
      </p:cxnSp>
      <p:sp>
        <p:nvSpPr>
          <p:cNvPr id="34" name="Text Box 44">
            <a:extLst>
              <a:ext uri="{FF2B5EF4-FFF2-40B4-BE49-F238E27FC236}">
                <a16:creationId xmlns:a16="http://schemas.microsoft.com/office/drawing/2014/main" id="{9B436CE3-03EA-9C62-543E-440AC9420393}"/>
              </a:ext>
            </a:extLst>
          </p:cNvPr>
          <p:cNvSpPr txBox="1">
            <a:spLocks noChangeArrowheads="1"/>
          </p:cNvSpPr>
          <p:nvPr/>
        </p:nvSpPr>
        <p:spPr bwMode="auto">
          <a:xfrm>
            <a:off x="6948676" y="2396449"/>
            <a:ext cx="3385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前</a:t>
            </a:r>
          </a:p>
        </p:txBody>
      </p:sp>
      <p:sp>
        <p:nvSpPr>
          <p:cNvPr id="35" name="Text Box 44">
            <a:extLst>
              <a:ext uri="{FF2B5EF4-FFF2-40B4-BE49-F238E27FC236}">
                <a16:creationId xmlns:a16="http://schemas.microsoft.com/office/drawing/2014/main" id="{229148C4-D3C5-5B7D-A3B4-37F3AF59ED28}"/>
              </a:ext>
            </a:extLst>
          </p:cNvPr>
          <p:cNvSpPr txBox="1">
            <a:spLocks noChangeArrowheads="1"/>
          </p:cNvSpPr>
          <p:nvPr/>
        </p:nvSpPr>
        <p:spPr bwMode="auto">
          <a:xfrm>
            <a:off x="1974721" y="2396449"/>
            <a:ext cx="3385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后</a:t>
            </a:r>
          </a:p>
        </p:txBody>
      </p:sp>
      <p:sp>
        <p:nvSpPr>
          <p:cNvPr id="36" name="Text Box 20">
            <a:extLst>
              <a:ext uri="{FF2B5EF4-FFF2-40B4-BE49-F238E27FC236}">
                <a16:creationId xmlns:a16="http://schemas.microsoft.com/office/drawing/2014/main" id="{06C20127-A272-77BB-485F-1AFF6BE408AB}"/>
              </a:ext>
            </a:extLst>
          </p:cNvPr>
          <p:cNvSpPr txBox="1">
            <a:spLocks noChangeArrowheads="1"/>
          </p:cNvSpPr>
          <p:nvPr/>
        </p:nvSpPr>
        <p:spPr bwMode="auto">
          <a:xfrm>
            <a:off x="5160426" y="2748922"/>
            <a:ext cx="902811" cy="307777"/>
          </a:xfrm>
          <a:prstGeom prst="rect">
            <a:avLst/>
          </a:prstGeom>
          <a:noFill/>
          <a:ln>
            <a:noFill/>
          </a:ln>
        </p:spPr>
        <p:txBody>
          <a:bodyPr wrap="none" anchor="ctr"/>
          <a:lstStyle>
            <a:defPPr>
              <a:defRPr lang="zh-CN"/>
            </a:defPPr>
            <a:lvl1pPr marL="0" marR="0" lvl="0" indent="0" defTabSz="914400" eaLnBrk="1" fontAlgn="auto" latinLnBrk="0" hangingPunct="1">
              <a:lnSpc>
                <a:spcPct val="100000"/>
              </a:lnSpc>
              <a:spcAft>
                <a:spcPts val="0"/>
              </a:spcAft>
              <a:buClrTx/>
              <a:buSzTx/>
              <a:buFontTx/>
              <a:buNone/>
              <a:tabLst/>
              <a:defRPr kumimoji="0" sz="1400" b="1" i="0" u="none" strike="noStrike" kern="0" cap="none" spc="0" normalizeH="0" baseline="0">
                <a:ln>
                  <a:noFill/>
                </a:ln>
                <a:solidFill>
                  <a:srgbClr val="000000"/>
                </a:solidFill>
                <a:effectLst/>
                <a:uLnTx/>
                <a:uFillTx/>
                <a:latin typeface="微软雅黑" panose="020B0503020204020204" pitchFamily="34" charset="-122"/>
                <a:ea typeface="微软雅黑" panose="020B0503020204020204" pitchFamily="34" charset="-122"/>
              </a:defRPr>
            </a:lvl1pPr>
            <a:lvl2pPr marL="742950" indent="-285750">
              <a:spcBef>
                <a:spcPct val="20000"/>
              </a:spcBef>
              <a:buChar char="–"/>
              <a:defRPr sz="2800">
                <a:latin typeface="Arial" panose="020B0604020202020204" pitchFamily="34" charset="0"/>
                <a:ea typeface="宋体" panose="02010600030101010101" pitchFamily="2" charset="-122"/>
              </a:defRPr>
            </a:lvl2pPr>
            <a:lvl3pPr marL="1143000" indent="-228600">
              <a:spcBef>
                <a:spcPct val="20000"/>
              </a:spcBef>
              <a:buChar char="•"/>
              <a:defRPr sz="2400">
                <a:latin typeface="Arial" panose="020B0604020202020204" pitchFamily="34" charset="0"/>
                <a:ea typeface="宋体" panose="02010600030101010101" pitchFamily="2" charset="-122"/>
              </a:defRPr>
            </a:lvl3pPr>
            <a:lvl4pPr marL="1600200" indent="-228600">
              <a:spcBef>
                <a:spcPct val="20000"/>
              </a:spcBef>
              <a:buChar char="–"/>
              <a:defRPr sz="2000">
                <a:latin typeface="Arial" panose="020B0604020202020204" pitchFamily="34" charset="0"/>
                <a:ea typeface="宋体" panose="02010600030101010101" pitchFamily="2" charset="-122"/>
              </a:defRPr>
            </a:lvl4pPr>
            <a:lvl5pPr marL="2057400" indent="-228600">
              <a:spcBef>
                <a:spcPct val="20000"/>
              </a:spcBef>
              <a:buChar char="»"/>
              <a:defRPr sz="2000">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latin typeface="Arial" panose="020B0604020202020204" pitchFamily="34" charset="0"/>
                <a:ea typeface="宋体" panose="02010600030101010101" pitchFamily="2" charset="-122"/>
              </a:defRPr>
            </a:lvl9pPr>
          </a:lstStyle>
          <a:p>
            <a:r>
              <a:rPr lang="zh-CN" altLang="en-US" sz="1200" dirty="0"/>
              <a:t>不能发送</a:t>
            </a:r>
          </a:p>
        </p:txBody>
      </p:sp>
      <p:cxnSp>
        <p:nvCxnSpPr>
          <p:cNvPr id="37" name="直接连接符 36">
            <a:extLst>
              <a:ext uri="{FF2B5EF4-FFF2-40B4-BE49-F238E27FC236}">
                <a16:creationId xmlns:a16="http://schemas.microsoft.com/office/drawing/2014/main" id="{B7B6A17D-1BA8-6DFE-94E2-8EBD04466EC4}"/>
              </a:ext>
            </a:extLst>
          </p:cNvPr>
          <p:cNvCxnSpPr/>
          <p:nvPr/>
        </p:nvCxnSpPr>
        <p:spPr>
          <a:xfrm>
            <a:off x="6018926" y="2789832"/>
            <a:ext cx="0" cy="241142"/>
          </a:xfrm>
          <a:prstGeom prst="line">
            <a:avLst/>
          </a:prstGeom>
          <a:solidFill>
            <a:srgbClr val="FFFF00"/>
          </a:solidFill>
          <a:ln>
            <a:noFill/>
          </a:ln>
        </p:spPr>
      </p:cxnSp>
      <p:cxnSp>
        <p:nvCxnSpPr>
          <p:cNvPr id="38" name="直接连接符 37">
            <a:extLst>
              <a:ext uri="{FF2B5EF4-FFF2-40B4-BE49-F238E27FC236}">
                <a16:creationId xmlns:a16="http://schemas.microsoft.com/office/drawing/2014/main" id="{922F6EE0-F3CB-CD7D-F320-23D27ABDB01D}"/>
              </a:ext>
            </a:extLst>
          </p:cNvPr>
          <p:cNvCxnSpPr/>
          <p:nvPr/>
        </p:nvCxnSpPr>
        <p:spPr>
          <a:xfrm>
            <a:off x="2287349" y="2785387"/>
            <a:ext cx="0" cy="241142"/>
          </a:xfrm>
          <a:prstGeom prst="line">
            <a:avLst/>
          </a:prstGeom>
          <a:noFill/>
          <a:ln w="12700" cap="flat" cmpd="sng" algn="ctr">
            <a:solidFill>
              <a:srgbClr val="000000"/>
            </a:solidFill>
            <a:prstDash val="solid"/>
          </a:ln>
          <a:effectLst/>
        </p:spPr>
      </p:cxnSp>
      <p:sp>
        <p:nvSpPr>
          <p:cNvPr id="39" name="Text Box 20">
            <a:extLst>
              <a:ext uri="{FF2B5EF4-FFF2-40B4-BE49-F238E27FC236}">
                <a16:creationId xmlns:a16="http://schemas.microsoft.com/office/drawing/2014/main" id="{296F9D5C-5C70-36E9-4465-1B786C99B522}"/>
              </a:ext>
            </a:extLst>
          </p:cNvPr>
          <p:cNvSpPr txBox="1">
            <a:spLocks noChangeArrowheads="1"/>
          </p:cNvSpPr>
          <p:nvPr/>
        </p:nvSpPr>
        <p:spPr bwMode="auto">
          <a:xfrm>
            <a:off x="1497747" y="2773502"/>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已被确认</a:t>
            </a:r>
          </a:p>
        </p:txBody>
      </p:sp>
      <p:sp>
        <p:nvSpPr>
          <p:cNvPr id="141" name="Rectangle 14">
            <a:extLst>
              <a:ext uri="{FF2B5EF4-FFF2-40B4-BE49-F238E27FC236}">
                <a16:creationId xmlns:a16="http://schemas.microsoft.com/office/drawing/2014/main" id="{A281102E-39F3-6346-A019-9260BEF4A29A}"/>
              </a:ext>
            </a:extLst>
          </p:cNvPr>
          <p:cNvSpPr>
            <a:spLocks noChangeArrowheads="1"/>
          </p:cNvSpPr>
          <p:nvPr/>
        </p:nvSpPr>
        <p:spPr bwMode="auto">
          <a:xfrm>
            <a:off x="7177959" y="3963987"/>
            <a:ext cx="595628" cy="252253"/>
          </a:xfrm>
          <a:prstGeom prst="rect">
            <a:avLst/>
          </a:prstGeom>
          <a:solidFill>
            <a:srgbClr val="FFFF00"/>
          </a:solidFill>
          <a:ln>
            <a:noFill/>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cxnSp>
        <p:nvCxnSpPr>
          <p:cNvPr id="143" name="直接箭头连接符 142">
            <a:extLst>
              <a:ext uri="{FF2B5EF4-FFF2-40B4-BE49-F238E27FC236}">
                <a16:creationId xmlns:a16="http://schemas.microsoft.com/office/drawing/2014/main" id="{86E93C4D-088E-C818-A3AD-51D6F8377056}"/>
              </a:ext>
            </a:extLst>
          </p:cNvPr>
          <p:cNvCxnSpPr>
            <a:cxnSpLocks/>
          </p:cNvCxnSpPr>
          <p:nvPr/>
        </p:nvCxnSpPr>
        <p:spPr>
          <a:xfrm>
            <a:off x="3034109" y="3685063"/>
            <a:ext cx="4739481" cy="0"/>
          </a:xfrm>
          <a:prstGeom prst="straightConnector1">
            <a:avLst/>
          </a:prstGeom>
          <a:noFill/>
          <a:ln w="9525" cap="flat" cmpd="sng" algn="ctr">
            <a:solidFill>
              <a:srgbClr val="000000"/>
            </a:solidFill>
            <a:prstDash val="solid"/>
            <a:headEnd type="triangle" w="sm" len="lg"/>
            <a:tailEnd type="triangle" w="sm" len="lg"/>
          </a:ln>
          <a:effectLst/>
        </p:spPr>
      </p:cxnSp>
      <p:sp>
        <p:nvSpPr>
          <p:cNvPr id="144" name="矩形 143">
            <a:extLst>
              <a:ext uri="{FF2B5EF4-FFF2-40B4-BE49-F238E27FC236}">
                <a16:creationId xmlns:a16="http://schemas.microsoft.com/office/drawing/2014/main" id="{09613C31-3379-8914-354C-768A59FD5901}"/>
              </a:ext>
            </a:extLst>
          </p:cNvPr>
          <p:cNvSpPr/>
          <p:nvPr/>
        </p:nvSpPr>
        <p:spPr>
          <a:xfrm>
            <a:off x="5008799" y="3559492"/>
            <a:ext cx="796767" cy="216694"/>
          </a:xfrm>
          <a:prstGeom prst="rect">
            <a:avLst/>
          </a:prstGeom>
          <a:solidFill>
            <a:srgbClr val="C3E3F9"/>
          </a:solidFill>
          <a:ln w="25400" cap="flat" cmpd="sng" algn="ctr">
            <a:noFill/>
            <a:prstDash val="solid"/>
          </a:ln>
          <a:effectLst/>
        </p:spPr>
        <p:txBody>
          <a:bodyPr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cxnSp>
        <p:nvCxnSpPr>
          <p:cNvPr id="145" name="直接箭头连接符 144">
            <a:extLst>
              <a:ext uri="{FF2B5EF4-FFF2-40B4-BE49-F238E27FC236}">
                <a16:creationId xmlns:a16="http://schemas.microsoft.com/office/drawing/2014/main" id="{BB8E2789-7DEC-5263-D103-9A3091EEC919}"/>
              </a:ext>
            </a:extLst>
          </p:cNvPr>
          <p:cNvCxnSpPr>
            <a:cxnSpLocks/>
          </p:cNvCxnSpPr>
          <p:nvPr/>
        </p:nvCxnSpPr>
        <p:spPr>
          <a:xfrm>
            <a:off x="3035220" y="3833971"/>
            <a:ext cx="2815907" cy="0"/>
          </a:xfrm>
          <a:prstGeom prst="straightConnector1">
            <a:avLst/>
          </a:prstGeom>
          <a:noFill/>
          <a:ln w="9525" cap="flat" cmpd="sng" algn="ctr">
            <a:solidFill>
              <a:srgbClr val="000000"/>
            </a:solidFill>
            <a:prstDash val="solid"/>
            <a:headEnd type="triangle" w="sm" len="lg"/>
            <a:tailEnd type="triangle" w="sm" len="lg"/>
          </a:ln>
          <a:effectLst/>
        </p:spPr>
      </p:cxnSp>
      <p:sp>
        <p:nvSpPr>
          <p:cNvPr id="146" name="矩形 145">
            <a:extLst>
              <a:ext uri="{FF2B5EF4-FFF2-40B4-BE49-F238E27FC236}">
                <a16:creationId xmlns:a16="http://schemas.microsoft.com/office/drawing/2014/main" id="{ED58865A-E245-1801-AB05-D6278D749B92}"/>
              </a:ext>
            </a:extLst>
          </p:cNvPr>
          <p:cNvSpPr/>
          <p:nvPr/>
        </p:nvSpPr>
        <p:spPr>
          <a:xfrm>
            <a:off x="4142024" y="3733898"/>
            <a:ext cx="674501" cy="182303"/>
          </a:xfrm>
          <a:prstGeom prst="rect">
            <a:avLst/>
          </a:prstGeom>
          <a:solidFill>
            <a:srgbClr val="C3E3F9"/>
          </a:solidFill>
          <a:ln w="25400" cap="flat" cmpd="sng" algn="ctr">
            <a:noFill/>
            <a:prstDash val="solid"/>
          </a:ln>
          <a:effectLst/>
        </p:spPr>
        <p:txBody>
          <a:bodyPr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49" name="Rectangle 14">
            <a:extLst>
              <a:ext uri="{FF2B5EF4-FFF2-40B4-BE49-F238E27FC236}">
                <a16:creationId xmlns:a16="http://schemas.microsoft.com/office/drawing/2014/main" id="{DFAD2F35-9487-2433-752D-B5887A1C460A}"/>
              </a:ext>
            </a:extLst>
          </p:cNvPr>
          <p:cNvSpPr>
            <a:spLocks noChangeArrowheads="1"/>
          </p:cNvSpPr>
          <p:nvPr/>
        </p:nvSpPr>
        <p:spPr bwMode="auto">
          <a:xfrm>
            <a:off x="5077696" y="3948429"/>
            <a:ext cx="2092485" cy="252254"/>
          </a:xfrm>
          <a:prstGeom prst="rect">
            <a:avLst/>
          </a:prstGeom>
          <a:solidFill>
            <a:srgbClr val="FFC000"/>
          </a:solidFill>
          <a:ln>
            <a:noFill/>
          </a:ln>
        </p:spPr>
        <p:txBody>
          <a:bodyPr wrap="none" anchor="ctr"/>
          <a:lstStyle/>
          <a:p>
            <a:pPr fontAlgn="auto">
              <a:spcAft>
                <a:spcPts val="0"/>
              </a:spcAft>
            </a:pPr>
            <a:endParaRPr lang="zh-CN" altLang="en-US" sz="1400" b="1" kern="0">
              <a:solidFill>
                <a:srgbClr val="000000"/>
              </a:solidFill>
              <a:latin typeface="微软雅黑" panose="020B0503020204020204" pitchFamily="34" charset="-122"/>
              <a:ea typeface="微软雅黑" panose="020B0503020204020204" pitchFamily="34" charset="-122"/>
            </a:endParaRPr>
          </a:p>
        </p:txBody>
      </p:sp>
      <p:grpSp>
        <p:nvGrpSpPr>
          <p:cNvPr id="150" name="组合 2">
            <a:extLst>
              <a:ext uri="{FF2B5EF4-FFF2-40B4-BE49-F238E27FC236}">
                <a16:creationId xmlns:a16="http://schemas.microsoft.com/office/drawing/2014/main" id="{318A8F3C-0F89-8F45-AF29-9301C75B4E2B}"/>
              </a:ext>
            </a:extLst>
          </p:cNvPr>
          <p:cNvGrpSpPr>
            <a:grpSpLocks/>
          </p:cNvGrpSpPr>
          <p:nvPr/>
        </p:nvGrpSpPr>
        <p:grpSpPr bwMode="auto">
          <a:xfrm>
            <a:off x="1521697" y="3953986"/>
            <a:ext cx="6498590" cy="246697"/>
            <a:chOff x="1408113" y="1868488"/>
            <a:chExt cx="4040187" cy="352425"/>
          </a:xfrm>
        </p:grpSpPr>
        <p:sp>
          <p:nvSpPr>
            <p:cNvPr id="152" name="Line 10">
              <a:extLst>
                <a:ext uri="{FF2B5EF4-FFF2-40B4-BE49-F238E27FC236}">
                  <a16:creationId xmlns:a16="http://schemas.microsoft.com/office/drawing/2014/main" id="{00067918-1F32-AC58-01C2-A0B4FF1A2456}"/>
                </a:ext>
              </a:extLst>
            </p:cNvPr>
            <p:cNvSpPr>
              <a:spLocks noChangeShapeType="1"/>
            </p:cNvSpPr>
            <p:nvPr/>
          </p:nvSpPr>
          <p:spPr bwMode="auto">
            <a:xfrm>
              <a:off x="1408113" y="1868488"/>
              <a:ext cx="4032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53" name="Line 11">
              <a:extLst>
                <a:ext uri="{FF2B5EF4-FFF2-40B4-BE49-F238E27FC236}">
                  <a16:creationId xmlns:a16="http://schemas.microsoft.com/office/drawing/2014/main" id="{D8584709-EF1A-B693-6283-A8F1159BBE02}"/>
                </a:ext>
              </a:extLst>
            </p:cNvPr>
            <p:cNvSpPr>
              <a:spLocks noChangeShapeType="1"/>
            </p:cNvSpPr>
            <p:nvPr/>
          </p:nvSpPr>
          <p:spPr bwMode="auto">
            <a:xfrm>
              <a:off x="1416050" y="2220913"/>
              <a:ext cx="4032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155" name="Line 16">
            <a:extLst>
              <a:ext uri="{FF2B5EF4-FFF2-40B4-BE49-F238E27FC236}">
                <a16:creationId xmlns:a16="http://schemas.microsoft.com/office/drawing/2014/main" id="{181C58FC-05AF-B937-D06F-EB6099959460}"/>
              </a:ext>
            </a:extLst>
          </p:cNvPr>
          <p:cNvSpPr>
            <a:spLocks noChangeShapeType="1"/>
          </p:cNvSpPr>
          <p:nvPr/>
        </p:nvSpPr>
        <p:spPr bwMode="auto">
          <a:xfrm flipH="1">
            <a:off x="7167959" y="3948429"/>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57" name="Line 23">
            <a:extLst>
              <a:ext uri="{FF2B5EF4-FFF2-40B4-BE49-F238E27FC236}">
                <a16:creationId xmlns:a16="http://schemas.microsoft.com/office/drawing/2014/main" id="{CC40ED23-D1AC-D075-63D9-A1D339F488BE}"/>
              </a:ext>
            </a:extLst>
          </p:cNvPr>
          <p:cNvSpPr>
            <a:spLocks noChangeShapeType="1"/>
          </p:cNvSpPr>
          <p:nvPr/>
        </p:nvSpPr>
        <p:spPr bwMode="auto">
          <a:xfrm>
            <a:off x="5088809" y="3948429"/>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1" name="Text Box 27">
            <a:extLst>
              <a:ext uri="{FF2B5EF4-FFF2-40B4-BE49-F238E27FC236}">
                <a16:creationId xmlns:a16="http://schemas.microsoft.com/office/drawing/2014/main" id="{992160C8-0929-BE95-4D67-071196BC08E0}"/>
              </a:ext>
            </a:extLst>
          </p:cNvPr>
          <p:cNvSpPr txBox="1">
            <a:spLocks noChangeArrowheads="1"/>
          </p:cNvSpPr>
          <p:nvPr/>
        </p:nvSpPr>
        <p:spPr bwMode="auto">
          <a:xfrm>
            <a:off x="4098820" y="3689233"/>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发送窗口</a:t>
            </a:r>
          </a:p>
        </p:txBody>
      </p:sp>
      <p:sp>
        <p:nvSpPr>
          <p:cNvPr id="162" name="Freeform 36">
            <a:extLst>
              <a:ext uri="{FF2B5EF4-FFF2-40B4-BE49-F238E27FC236}">
                <a16:creationId xmlns:a16="http://schemas.microsoft.com/office/drawing/2014/main" id="{FB832EDC-B615-95D9-48F4-E14669766FB3}"/>
              </a:ext>
            </a:extLst>
          </p:cNvPr>
          <p:cNvSpPr>
            <a:spLocks/>
          </p:cNvSpPr>
          <p:nvPr/>
        </p:nvSpPr>
        <p:spPr bwMode="auto">
          <a:xfrm>
            <a:off x="7976949" y="3916203"/>
            <a:ext cx="48895" cy="300037"/>
          </a:xfrm>
          <a:custGeom>
            <a:avLst/>
            <a:gdLst>
              <a:gd name="T0" fmla="*/ 2147483646 w 36"/>
              <a:gd name="T1" fmla="*/ 0 h 286"/>
              <a:gd name="T2" fmla="*/ 2147483646 w 36"/>
              <a:gd name="T3" fmla="*/ 2147483646 h 286"/>
              <a:gd name="T4" fmla="*/ 2147483646 w 36"/>
              <a:gd name="T5" fmla="*/ 2147483646 h 286"/>
              <a:gd name="T6" fmla="*/ 2147483646 w 36"/>
              <a:gd name="T7" fmla="*/ 2147483646 h 286"/>
              <a:gd name="T8" fmla="*/ 0 w 36"/>
              <a:gd name="T9" fmla="*/ 2147483646 h 286"/>
              <a:gd name="T10" fmla="*/ 2147483646 w 36"/>
              <a:gd name="T11" fmla="*/ 2147483646 h 286"/>
              <a:gd name="T12" fmla="*/ 2147483646 w 36"/>
              <a:gd name="T13" fmla="*/ 2147483646 h 286"/>
              <a:gd name="T14" fmla="*/ 2147483646 w 36"/>
              <a:gd name="T15" fmla="*/ 2147483646 h 286"/>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86"/>
              <a:gd name="T26" fmla="*/ 36 w 36"/>
              <a:gd name="T27" fmla="*/ 286 h 28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3" name="Freeform 39">
            <a:extLst>
              <a:ext uri="{FF2B5EF4-FFF2-40B4-BE49-F238E27FC236}">
                <a16:creationId xmlns:a16="http://schemas.microsoft.com/office/drawing/2014/main" id="{C93002DC-0A65-0457-56D5-2B503B1BB1F2}"/>
              </a:ext>
            </a:extLst>
          </p:cNvPr>
          <p:cNvSpPr>
            <a:spLocks/>
          </p:cNvSpPr>
          <p:nvPr/>
        </p:nvSpPr>
        <p:spPr bwMode="auto">
          <a:xfrm>
            <a:off x="1475025" y="3928427"/>
            <a:ext cx="73342" cy="304482"/>
          </a:xfrm>
          <a:custGeom>
            <a:avLst/>
            <a:gdLst>
              <a:gd name="T0" fmla="*/ 2147483646 w 66"/>
              <a:gd name="T1" fmla="*/ 0 h 274"/>
              <a:gd name="T2" fmla="*/ 2147483646 w 66"/>
              <a:gd name="T3" fmla="*/ 2147483646 h 274"/>
              <a:gd name="T4" fmla="*/ 2147483646 w 66"/>
              <a:gd name="T5" fmla="*/ 2147483646 h 274"/>
              <a:gd name="T6" fmla="*/ 2147483646 w 66"/>
              <a:gd name="T7" fmla="*/ 2147483646 h 274"/>
              <a:gd name="T8" fmla="*/ 0 w 66"/>
              <a:gd name="T9" fmla="*/ 2147483646 h 274"/>
              <a:gd name="T10" fmla="*/ 2147483646 w 66"/>
              <a:gd name="T11" fmla="*/ 2147483646 h 274"/>
              <a:gd name="T12" fmla="*/ 2147483646 w 66"/>
              <a:gd name="T13" fmla="*/ 2147483646 h 274"/>
              <a:gd name="T14" fmla="*/ 0 60000 65536"/>
              <a:gd name="T15" fmla="*/ 0 60000 65536"/>
              <a:gd name="T16" fmla="*/ 0 60000 65536"/>
              <a:gd name="T17" fmla="*/ 0 60000 65536"/>
              <a:gd name="T18" fmla="*/ 0 60000 65536"/>
              <a:gd name="T19" fmla="*/ 0 60000 65536"/>
              <a:gd name="T20" fmla="*/ 0 60000 65536"/>
              <a:gd name="T21" fmla="*/ 0 w 66"/>
              <a:gd name="T22" fmla="*/ 0 h 274"/>
              <a:gd name="T23" fmla="*/ 66 w 66"/>
              <a:gd name="T24" fmla="*/ 274 h 2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274">
                <a:moveTo>
                  <a:pt x="14" y="0"/>
                </a:moveTo>
                <a:lnTo>
                  <a:pt x="66" y="46"/>
                </a:lnTo>
                <a:lnTo>
                  <a:pt x="6" y="84"/>
                </a:lnTo>
                <a:lnTo>
                  <a:pt x="54" y="136"/>
                </a:lnTo>
                <a:lnTo>
                  <a:pt x="0" y="178"/>
                </a:lnTo>
                <a:lnTo>
                  <a:pt x="54" y="214"/>
                </a:lnTo>
                <a:lnTo>
                  <a:pt x="12" y="274"/>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4" name="Line 43">
            <a:extLst>
              <a:ext uri="{FF2B5EF4-FFF2-40B4-BE49-F238E27FC236}">
                <a16:creationId xmlns:a16="http://schemas.microsoft.com/office/drawing/2014/main" id="{C691F3A9-9DEE-09B5-818C-3E45D91F8157}"/>
              </a:ext>
            </a:extLst>
          </p:cNvPr>
          <p:cNvSpPr>
            <a:spLocks noChangeShapeType="1"/>
          </p:cNvSpPr>
          <p:nvPr/>
        </p:nvSpPr>
        <p:spPr bwMode="auto">
          <a:xfrm>
            <a:off x="7524669" y="4259579"/>
            <a:ext cx="504507" cy="0"/>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5" name="Text Box 44">
            <a:extLst>
              <a:ext uri="{FF2B5EF4-FFF2-40B4-BE49-F238E27FC236}">
                <a16:creationId xmlns:a16="http://schemas.microsoft.com/office/drawing/2014/main" id="{A741D78B-5A0B-ADD0-084F-9794720237A2}"/>
              </a:ext>
            </a:extLst>
          </p:cNvPr>
          <p:cNvSpPr txBox="1">
            <a:spLocks noChangeArrowheads="1"/>
          </p:cNvSpPr>
          <p:nvPr/>
        </p:nvSpPr>
        <p:spPr bwMode="auto">
          <a:xfrm>
            <a:off x="7376814" y="4262913"/>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序号增大</a:t>
            </a:r>
          </a:p>
        </p:txBody>
      </p:sp>
      <p:sp>
        <p:nvSpPr>
          <p:cNvPr id="168" name="Text Box 65">
            <a:extLst>
              <a:ext uri="{FF2B5EF4-FFF2-40B4-BE49-F238E27FC236}">
                <a16:creationId xmlns:a16="http://schemas.microsoft.com/office/drawing/2014/main" id="{A24356F0-5DF4-746D-FC11-DCF023C024AB}"/>
              </a:ext>
            </a:extLst>
          </p:cNvPr>
          <p:cNvSpPr txBox="1">
            <a:spLocks noChangeArrowheads="1"/>
          </p:cNvSpPr>
          <p:nvPr/>
        </p:nvSpPr>
        <p:spPr bwMode="auto">
          <a:xfrm>
            <a:off x="976044" y="3958430"/>
            <a:ext cx="38343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(c)</a:t>
            </a:r>
          </a:p>
        </p:txBody>
      </p:sp>
      <p:sp>
        <p:nvSpPr>
          <p:cNvPr id="170" name="Line 19">
            <a:extLst>
              <a:ext uri="{FF2B5EF4-FFF2-40B4-BE49-F238E27FC236}">
                <a16:creationId xmlns:a16="http://schemas.microsoft.com/office/drawing/2014/main" id="{DAE8667F-F078-A259-F1EC-5A069806C0EE}"/>
              </a:ext>
            </a:extLst>
          </p:cNvPr>
          <p:cNvSpPr>
            <a:spLocks noChangeShapeType="1"/>
          </p:cNvSpPr>
          <p:nvPr/>
        </p:nvSpPr>
        <p:spPr bwMode="auto">
          <a:xfrm flipV="1">
            <a:off x="3017440" y="4200683"/>
            <a:ext cx="0" cy="181133"/>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1" name="Line 19">
            <a:extLst>
              <a:ext uri="{FF2B5EF4-FFF2-40B4-BE49-F238E27FC236}">
                <a16:creationId xmlns:a16="http://schemas.microsoft.com/office/drawing/2014/main" id="{5E6B6A0B-9573-2320-849A-0E4B62B2E404}"/>
              </a:ext>
            </a:extLst>
          </p:cNvPr>
          <p:cNvSpPr>
            <a:spLocks noChangeShapeType="1"/>
          </p:cNvSpPr>
          <p:nvPr/>
        </p:nvSpPr>
        <p:spPr bwMode="auto">
          <a:xfrm flipV="1">
            <a:off x="5067696" y="4204017"/>
            <a:ext cx="0" cy="181134"/>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cxnSp>
        <p:nvCxnSpPr>
          <p:cNvPr id="174" name="直接连接符 173">
            <a:extLst>
              <a:ext uri="{FF2B5EF4-FFF2-40B4-BE49-F238E27FC236}">
                <a16:creationId xmlns:a16="http://schemas.microsoft.com/office/drawing/2014/main" id="{89768230-9A2C-E003-3519-D08906EE8395}"/>
              </a:ext>
            </a:extLst>
          </p:cNvPr>
          <p:cNvCxnSpPr>
            <a:cxnSpLocks/>
          </p:cNvCxnSpPr>
          <p:nvPr/>
        </p:nvCxnSpPr>
        <p:spPr>
          <a:xfrm>
            <a:off x="5851127" y="3788409"/>
            <a:ext cx="0" cy="407829"/>
          </a:xfrm>
          <a:prstGeom prst="line">
            <a:avLst/>
          </a:prstGeom>
          <a:noFill/>
          <a:ln w="12700" cap="flat" cmpd="sng" algn="ctr">
            <a:solidFill>
              <a:srgbClr val="000000"/>
            </a:solidFill>
            <a:prstDash val="solid"/>
          </a:ln>
          <a:effectLst/>
        </p:spPr>
      </p:cxnSp>
      <p:sp>
        <p:nvSpPr>
          <p:cNvPr id="175" name="Text Box 27">
            <a:extLst>
              <a:ext uri="{FF2B5EF4-FFF2-40B4-BE49-F238E27FC236}">
                <a16:creationId xmlns:a16="http://schemas.microsoft.com/office/drawing/2014/main" id="{AE137278-34C2-7A01-4A11-F7E156CE2671}"/>
              </a:ext>
            </a:extLst>
          </p:cNvPr>
          <p:cNvSpPr txBox="1">
            <a:spLocks noChangeArrowheads="1"/>
          </p:cNvSpPr>
          <p:nvPr/>
        </p:nvSpPr>
        <p:spPr bwMode="auto">
          <a:xfrm>
            <a:off x="4948620" y="3553426"/>
            <a:ext cx="9541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发送缓冲区</a:t>
            </a:r>
          </a:p>
        </p:txBody>
      </p:sp>
      <p:sp>
        <p:nvSpPr>
          <p:cNvPr id="176" name="Text Box 20">
            <a:extLst>
              <a:ext uri="{FF2B5EF4-FFF2-40B4-BE49-F238E27FC236}">
                <a16:creationId xmlns:a16="http://schemas.microsoft.com/office/drawing/2014/main" id="{4933EA3B-81A5-215D-0027-DDFFA1CFF4D3}"/>
              </a:ext>
            </a:extLst>
          </p:cNvPr>
          <p:cNvSpPr txBox="1">
            <a:spLocks noChangeArrowheads="1"/>
          </p:cNvSpPr>
          <p:nvPr/>
        </p:nvSpPr>
        <p:spPr bwMode="auto">
          <a:xfrm>
            <a:off x="5153470" y="3942102"/>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待发送</a:t>
            </a:r>
          </a:p>
        </p:txBody>
      </p:sp>
      <p:sp>
        <p:nvSpPr>
          <p:cNvPr id="177" name="Text Box 20">
            <a:extLst>
              <a:ext uri="{FF2B5EF4-FFF2-40B4-BE49-F238E27FC236}">
                <a16:creationId xmlns:a16="http://schemas.microsoft.com/office/drawing/2014/main" id="{7C3BF238-1E3D-762D-ABCF-479C9E7A9680}"/>
              </a:ext>
            </a:extLst>
          </p:cNvPr>
          <p:cNvSpPr txBox="1">
            <a:spLocks noChangeArrowheads="1"/>
          </p:cNvSpPr>
          <p:nvPr/>
        </p:nvSpPr>
        <p:spPr bwMode="auto">
          <a:xfrm>
            <a:off x="2555944" y="4329588"/>
            <a:ext cx="9541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最后被确认</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的字节</a:t>
            </a:r>
          </a:p>
        </p:txBody>
      </p:sp>
      <p:sp>
        <p:nvSpPr>
          <p:cNvPr id="178" name="Text Box 20">
            <a:extLst>
              <a:ext uri="{FF2B5EF4-FFF2-40B4-BE49-F238E27FC236}">
                <a16:creationId xmlns:a16="http://schemas.microsoft.com/office/drawing/2014/main" id="{AD4B7F09-405E-D5E5-60AE-8D3E74BD5FEC}"/>
              </a:ext>
            </a:extLst>
          </p:cNvPr>
          <p:cNvSpPr txBox="1">
            <a:spLocks noChangeArrowheads="1"/>
          </p:cNvSpPr>
          <p:nvPr/>
        </p:nvSpPr>
        <p:spPr bwMode="auto">
          <a:xfrm>
            <a:off x="4663697" y="4319587"/>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最后发送</a:t>
            </a:r>
            <a:endPar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的字节</a:t>
            </a:r>
          </a:p>
        </p:txBody>
      </p:sp>
      <p:sp>
        <p:nvSpPr>
          <p:cNvPr id="179" name="Text Box 20">
            <a:extLst>
              <a:ext uri="{FF2B5EF4-FFF2-40B4-BE49-F238E27FC236}">
                <a16:creationId xmlns:a16="http://schemas.microsoft.com/office/drawing/2014/main" id="{D023C235-C1AF-B282-1386-63CB24248F40}"/>
              </a:ext>
            </a:extLst>
          </p:cNvPr>
          <p:cNvSpPr txBox="1">
            <a:spLocks noChangeArrowheads="1"/>
          </p:cNvSpPr>
          <p:nvPr/>
        </p:nvSpPr>
        <p:spPr bwMode="auto">
          <a:xfrm>
            <a:off x="6738401" y="4349591"/>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最后写入</a:t>
            </a:r>
            <a:endPar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的字节</a:t>
            </a:r>
          </a:p>
        </p:txBody>
      </p:sp>
      <p:sp>
        <p:nvSpPr>
          <p:cNvPr id="180" name="Line 19">
            <a:extLst>
              <a:ext uri="{FF2B5EF4-FFF2-40B4-BE49-F238E27FC236}">
                <a16:creationId xmlns:a16="http://schemas.microsoft.com/office/drawing/2014/main" id="{7167BB58-2FAA-79D2-E806-E04104E3E4F5}"/>
              </a:ext>
            </a:extLst>
          </p:cNvPr>
          <p:cNvSpPr>
            <a:spLocks noChangeShapeType="1"/>
          </p:cNvSpPr>
          <p:nvPr/>
        </p:nvSpPr>
        <p:spPr bwMode="auto">
          <a:xfrm flipV="1">
            <a:off x="7149067" y="4210684"/>
            <a:ext cx="0" cy="181134"/>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1" name="Text Box 20">
            <a:extLst>
              <a:ext uri="{FF2B5EF4-FFF2-40B4-BE49-F238E27FC236}">
                <a16:creationId xmlns:a16="http://schemas.microsoft.com/office/drawing/2014/main" id="{323F8D57-7003-6892-E0A3-B974A0D5FC78}"/>
              </a:ext>
            </a:extLst>
          </p:cNvPr>
          <p:cNvSpPr txBox="1">
            <a:spLocks noChangeArrowheads="1"/>
          </p:cNvSpPr>
          <p:nvPr/>
        </p:nvSpPr>
        <p:spPr bwMode="auto">
          <a:xfrm>
            <a:off x="3763296" y="3935131"/>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已发送</a:t>
            </a:r>
          </a:p>
        </p:txBody>
      </p:sp>
      <p:cxnSp>
        <p:nvCxnSpPr>
          <p:cNvPr id="182" name="直接连接符 3109">
            <a:extLst>
              <a:ext uri="{FF2B5EF4-FFF2-40B4-BE49-F238E27FC236}">
                <a16:creationId xmlns:a16="http://schemas.microsoft.com/office/drawing/2014/main" id="{B9BEFFB4-CF6F-9491-FDF2-ACBD4E28D076}"/>
              </a:ext>
            </a:extLst>
          </p:cNvPr>
          <p:cNvCxnSpPr>
            <a:cxnSpLocks/>
          </p:cNvCxnSpPr>
          <p:nvPr/>
        </p:nvCxnSpPr>
        <p:spPr>
          <a:xfrm>
            <a:off x="3032997" y="3606164"/>
            <a:ext cx="0" cy="452279"/>
          </a:xfrm>
          <a:prstGeom prst="line">
            <a:avLst/>
          </a:prstGeom>
          <a:noFill/>
          <a:ln w="9525" cap="flat" cmpd="sng" algn="ctr">
            <a:solidFill>
              <a:srgbClr val="000000"/>
            </a:solidFill>
            <a:prstDash val="solid"/>
          </a:ln>
          <a:effectLst/>
        </p:spPr>
      </p:cxnSp>
      <p:cxnSp>
        <p:nvCxnSpPr>
          <p:cNvPr id="183" name="直接连接符 3110">
            <a:extLst>
              <a:ext uri="{FF2B5EF4-FFF2-40B4-BE49-F238E27FC236}">
                <a16:creationId xmlns:a16="http://schemas.microsoft.com/office/drawing/2014/main" id="{F5086328-BE6C-2832-0D70-F14098B1CC53}"/>
              </a:ext>
            </a:extLst>
          </p:cNvPr>
          <p:cNvCxnSpPr>
            <a:cxnSpLocks/>
          </p:cNvCxnSpPr>
          <p:nvPr/>
        </p:nvCxnSpPr>
        <p:spPr>
          <a:xfrm>
            <a:off x="7773589" y="3626167"/>
            <a:ext cx="0" cy="570071"/>
          </a:xfrm>
          <a:prstGeom prst="line">
            <a:avLst/>
          </a:prstGeom>
          <a:noFill/>
          <a:ln w="9525" cap="flat" cmpd="sng" algn="ctr">
            <a:solidFill>
              <a:srgbClr val="000000"/>
            </a:solidFill>
            <a:prstDash val="solid"/>
          </a:ln>
          <a:effectLst/>
        </p:spPr>
      </p:cxnSp>
      <p:cxnSp>
        <p:nvCxnSpPr>
          <p:cNvPr id="184" name="直接连接符 3111">
            <a:extLst>
              <a:ext uri="{FF2B5EF4-FFF2-40B4-BE49-F238E27FC236}">
                <a16:creationId xmlns:a16="http://schemas.microsoft.com/office/drawing/2014/main" id="{249832DF-9FB3-E55E-684A-7F7AC4C27B3F}"/>
              </a:ext>
            </a:extLst>
          </p:cNvPr>
          <p:cNvCxnSpPr>
            <a:cxnSpLocks/>
          </p:cNvCxnSpPr>
          <p:nvPr/>
        </p:nvCxnSpPr>
        <p:spPr>
          <a:xfrm>
            <a:off x="3032997" y="3951763"/>
            <a:ext cx="1112" cy="244475"/>
          </a:xfrm>
          <a:prstGeom prst="line">
            <a:avLst/>
          </a:prstGeom>
          <a:noFill/>
          <a:ln w="19050" cap="flat" cmpd="sng" algn="ctr">
            <a:solidFill>
              <a:srgbClr val="000000"/>
            </a:solidFill>
            <a:prstDash val="solid"/>
          </a:ln>
          <a:effectLst/>
        </p:spPr>
      </p:cxnSp>
      <p:cxnSp>
        <p:nvCxnSpPr>
          <p:cNvPr id="185" name="直接连接符 3112">
            <a:extLst>
              <a:ext uri="{FF2B5EF4-FFF2-40B4-BE49-F238E27FC236}">
                <a16:creationId xmlns:a16="http://schemas.microsoft.com/office/drawing/2014/main" id="{4C5F7C42-7404-6608-4ADA-99A6AE60B900}"/>
              </a:ext>
            </a:extLst>
          </p:cNvPr>
          <p:cNvCxnSpPr>
            <a:cxnSpLocks/>
          </p:cNvCxnSpPr>
          <p:nvPr/>
        </p:nvCxnSpPr>
        <p:spPr>
          <a:xfrm>
            <a:off x="7773589" y="3942873"/>
            <a:ext cx="5557" cy="258921"/>
          </a:xfrm>
          <a:prstGeom prst="line">
            <a:avLst/>
          </a:prstGeom>
          <a:noFill/>
          <a:ln w="19050" cap="flat" cmpd="sng" algn="ctr">
            <a:solidFill>
              <a:srgbClr val="000000"/>
            </a:solidFill>
            <a:prstDash val="solid"/>
          </a:ln>
          <a:effectLst/>
        </p:spPr>
      </p:cxnSp>
      <p:sp>
        <p:nvSpPr>
          <p:cNvPr id="186" name="Text Box 44">
            <a:extLst>
              <a:ext uri="{FF2B5EF4-FFF2-40B4-BE49-F238E27FC236}">
                <a16:creationId xmlns:a16="http://schemas.microsoft.com/office/drawing/2014/main" id="{82127CF8-3613-0285-EB85-A9270EE0772A}"/>
              </a:ext>
            </a:extLst>
          </p:cNvPr>
          <p:cNvSpPr txBox="1">
            <a:spLocks noChangeArrowheads="1"/>
          </p:cNvSpPr>
          <p:nvPr/>
        </p:nvSpPr>
        <p:spPr bwMode="auto">
          <a:xfrm>
            <a:off x="7716549" y="3559493"/>
            <a:ext cx="3385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前</a:t>
            </a:r>
          </a:p>
        </p:txBody>
      </p:sp>
      <p:sp>
        <p:nvSpPr>
          <p:cNvPr id="187" name="Text Box 44">
            <a:extLst>
              <a:ext uri="{FF2B5EF4-FFF2-40B4-BE49-F238E27FC236}">
                <a16:creationId xmlns:a16="http://schemas.microsoft.com/office/drawing/2014/main" id="{AFD3AED9-7E83-62D2-0637-7B447ECD0CC8}"/>
              </a:ext>
            </a:extLst>
          </p:cNvPr>
          <p:cNvSpPr txBox="1">
            <a:spLocks noChangeArrowheads="1"/>
          </p:cNvSpPr>
          <p:nvPr/>
        </p:nvSpPr>
        <p:spPr bwMode="auto">
          <a:xfrm>
            <a:off x="2727709" y="3559492"/>
            <a:ext cx="3385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后</a:t>
            </a:r>
          </a:p>
        </p:txBody>
      </p:sp>
      <p:sp>
        <p:nvSpPr>
          <p:cNvPr id="188" name="Text Box 20">
            <a:extLst>
              <a:ext uri="{FF2B5EF4-FFF2-40B4-BE49-F238E27FC236}">
                <a16:creationId xmlns:a16="http://schemas.microsoft.com/office/drawing/2014/main" id="{7AD1A8DE-E1D5-7D5C-7E1E-9C8336AA8812}"/>
              </a:ext>
            </a:extLst>
          </p:cNvPr>
          <p:cNvSpPr txBox="1">
            <a:spLocks noChangeArrowheads="1"/>
          </p:cNvSpPr>
          <p:nvPr/>
        </p:nvSpPr>
        <p:spPr bwMode="auto">
          <a:xfrm>
            <a:off x="6108322" y="3935432"/>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不能发送</a:t>
            </a:r>
          </a:p>
        </p:txBody>
      </p:sp>
      <p:cxnSp>
        <p:nvCxnSpPr>
          <p:cNvPr id="189" name="直接连接符 188">
            <a:extLst>
              <a:ext uri="{FF2B5EF4-FFF2-40B4-BE49-F238E27FC236}">
                <a16:creationId xmlns:a16="http://schemas.microsoft.com/office/drawing/2014/main" id="{228D9777-E876-5CE3-7DAE-AD25DB0DBB8E}"/>
              </a:ext>
            </a:extLst>
          </p:cNvPr>
          <p:cNvCxnSpPr/>
          <p:nvPr/>
        </p:nvCxnSpPr>
        <p:spPr>
          <a:xfrm>
            <a:off x="5088809" y="3953986"/>
            <a:ext cx="0" cy="241141"/>
          </a:xfrm>
          <a:prstGeom prst="line">
            <a:avLst/>
          </a:prstGeom>
          <a:noFill/>
          <a:ln w="12700" cap="flat" cmpd="sng" algn="ctr">
            <a:solidFill>
              <a:srgbClr val="000000"/>
            </a:solidFill>
            <a:prstDash val="solid"/>
          </a:ln>
          <a:effectLst/>
        </p:spPr>
      </p:cxnSp>
      <p:cxnSp>
        <p:nvCxnSpPr>
          <p:cNvPr id="190" name="直接连接符 189">
            <a:extLst>
              <a:ext uri="{FF2B5EF4-FFF2-40B4-BE49-F238E27FC236}">
                <a16:creationId xmlns:a16="http://schemas.microsoft.com/office/drawing/2014/main" id="{260DFB2B-E44C-6078-088C-31ED0680EDF0}"/>
              </a:ext>
            </a:extLst>
          </p:cNvPr>
          <p:cNvCxnSpPr/>
          <p:nvPr/>
        </p:nvCxnSpPr>
        <p:spPr>
          <a:xfrm>
            <a:off x="7167959" y="3946207"/>
            <a:ext cx="0" cy="241142"/>
          </a:xfrm>
          <a:prstGeom prst="line">
            <a:avLst/>
          </a:prstGeom>
          <a:noFill/>
          <a:ln w="12700" cap="flat" cmpd="sng" algn="ctr">
            <a:solidFill>
              <a:srgbClr val="000000"/>
            </a:solidFill>
            <a:prstDash val="solid"/>
          </a:ln>
          <a:effectLst/>
        </p:spPr>
      </p:cxnSp>
      <p:sp>
        <p:nvSpPr>
          <p:cNvPr id="191" name="Text Box 20">
            <a:extLst>
              <a:ext uri="{FF2B5EF4-FFF2-40B4-BE49-F238E27FC236}">
                <a16:creationId xmlns:a16="http://schemas.microsoft.com/office/drawing/2014/main" id="{53956AF6-20C1-9082-C9F6-AD692E03A7D7}"/>
              </a:ext>
            </a:extLst>
          </p:cNvPr>
          <p:cNvSpPr txBox="1">
            <a:spLocks noChangeArrowheads="1"/>
          </p:cNvSpPr>
          <p:nvPr/>
        </p:nvSpPr>
        <p:spPr bwMode="auto">
          <a:xfrm>
            <a:off x="1853347" y="3939237"/>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已被确认</a:t>
            </a:r>
          </a:p>
        </p:txBody>
      </p:sp>
      <p:sp>
        <p:nvSpPr>
          <p:cNvPr id="7" name="矩形 6">
            <a:extLst>
              <a:ext uri="{FF2B5EF4-FFF2-40B4-BE49-F238E27FC236}">
                <a16:creationId xmlns:a16="http://schemas.microsoft.com/office/drawing/2014/main" id="{D592D35E-D2FE-E739-E252-7762932E4497}"/>
              </a:ext>
            </a:extLst>
          </p:cNvPr>
          <p:cNvSpPr/>
          <p:nvPr/>
        </p:nvSpPr>
        <p:spPr>
          <a:xfrm>
            <a:off x="4256484" y="2389782"/>
            <a:ext cx="796766" cy="216694"/>
          </a:xfrm>
          <a:prstGeom prst="rect">
            <a:avLst/>
          </a:prstGeom>
          <a:solidFill>
            <a:srgbClr val="C3E3F9"/>
          </a:solidFill>
          <a:ln w="25400" cap="flat" cmpd="sng" algn="ctr">
            <a:noFill/>
            <a:prstDash val="solid"/>
          </a:ln>
          <a:effectLst/>
        </p:spPr>
        <p:txBody>
          <a:bodyPr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5" name="Text Box 27">
            <a:extLst>
              <a:ext uri="{FF2B5EF4-FFF2-40B4-BE49-F238E27FC236}">
                <a16:creationId xmlns:a16="http://schemas.microsoft.com/office/drawing/2014/main" id="{5A6C64A1-2F84-FB0F-12E1-21F74E344F57}"/>
              </a:ext>
            </a:extLst>
          </p:cNvPr>
          <p:cNvSpPr txBox="1">
            <a:spLocks noChangeArrowheads="1"/>
          </p:cNvSpPr>
          <p:nvPr/>
        </p:nvSpPr>
        <p:spPr bwMode="auto">
          <a:xfrm>
            <a:off x="4194253" y="2375038"/>
            <a:ext cx="9541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发送缓冲区</a:t>
            </a:r>
          </a:p>
        </p:txBody>
      </p:sp>
    </p:spTree>
    <p:extLst>
      <p:ext uri="{BB962C8B-B14F-4D97-AF65-F5344CB8AC3E}">
        <p14:creationId xmlns:p14="http://schemas.microsoft.com/office/powerpoint/2010/main" val="4154151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15"/>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16"/>
                                        </p:tgtEl>
                                        <p:attrNameLst>
                                          <p:attrName>style.visibility</p:attrName>
                                        </p:attrNameLst>
                                      </p:cBhvr>
                                      <p:tavLst>
                                        <p:tav tm="0">
                                          <p:val>
                                            <p:strVal val="hidden"/>
                                          </p:val>
                                        </p:tav>
                                        <p:tav tm="50000">
                                          <p:val>
                                            <p:strVal val="visible"/>
                                          </p:val>
                                        </p:tav>
                                      </p:tavLst>
                                    </p:anim>
                                  </p:childTnLst>
                                </p:cTn>
                              </p:par>
                              <p:par>
                                <p:cTn id="11" presetID="35" presetClass="emph" presetSubtype="0" repeatCount="3000" fill="hold" nodeType="withEffect">
                                  <p:stCondLst>
                                    <p:cond delay="0"/>
                                  </p:stCondLst>
                                  <p:childTnLst>
                                    <p:anim calcmode="discrete" valueType="str">
                                      <p:cBhvr>
                                        <p:cTn id="12"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par>
                    <p:cTn id="13" fill="hold">
                      <p:stCondLst>
                        <p:cond delay="indefinite"/>
                      </p:stCondLst>
                      <p:childTnLst>
                        <p:par>
                          <p:cTn id="14" fill="hold">
                            <p:stCondLst>
                              <p:cond delay="0"/>
                            </p:stCondLst>
                            <p:childTnLst>
                              <p:par>
                                <p:cTn id="15" presetID="35" presetClass="emph" presetSubtype="0" repeatCount="3000" fill="hold" grpId="0" nodeType="clickEffect">
                                  <p:stCondLst>
                                    <p:cond delay="0"/>
                                  </p:stCondLst>
                                  <p:childTnLst>
                                    <p:anim calcmode="discrete" valueType="str">
                                      <p:cBhvr>
                                        <p:cTn id="16" dur="1000" fill="hold"/>
                                        <p:tgtEl>
                                          <p:spTgt spid="36"/>
                                        </p:tgtEl>
                                        <p:attrNameLst>
                                          <p:attrName>style.visibility</p:attrName>
                                        </p:attrNameLst>
                                      </p:cBhvr>
                                      <p:tavLst>
                                        <p:tav tm="0">
                                          <p:val>
                                            <p:strVal val="hidden"/>
                                          </p:val>
                                        </p:tav>
                                        <p:tav tm="50000">
                                          <p:val>
                                            <p:strVal val="visible"/>
                                          </p:val>
                                        </p:tav>
                                      </p:tavLst>
                                    </p:anim>
                                  </p:childTnLst>
                                </p:cTn>
                              </p:par>
                            </p:childTnLst>
                          </p:cTn>
                        </p:par>
                      </p:childTnLst>
                    </p:cTn>
                  </p:par>
                  <p:par>
                    <p:cTn id="17" fill="hold">
                      <p:stCondLst>
                        <p:cond delay="indefinite"/>
                      </p:stCondLst>
                      <p:childTnLst>
                        <p:par>
                          <p:cTn id="18" fill="hold">
                            <p:stCondLst>
                              <p:cond delay="0"/>
                            </p:stCondLst>
                            <p:childTnLst>
                              <p:par>
                                <p:cTn id="19" presetID="35" presetClass="emph" presetSubtype="0" repeatCount="3000" fill="hold" grpId="0" nodeType="clickEffect">
                                  <p:stCondLst>
                                    <p:cond delay="0"/>
                                  </p:stCondLst>
                                  <p:childTnLst>
                                    <p:anim calcmode="discrete" valueType="str">
                                      <p:cBhvr>
                                        <p:cTn id="20" dur="1000" fill="hold"/>
                                        <p:tgtEl>
                                          <p:spTgt spid="177"/>
                                        </p:tgtEl>
                                        <p:attrNameLst>
                                          <p:attrName>style.visibility</p:attrName>
                                        </p:attrNameLst>
                                      </p:cBhvr>
                                      <p:tavLst>
                                        <p:tav tm="0">
                                          <p:val>
                                            <p:strVal val="hidden"/>
                                          </p:val>
                                        </p:tav>
                                        <p:tav tm="50000">
                                          <p:val>
                                            <p:strVal val="visible"/>
                                          </p:val>
                                        </p:tav>
                                      </p:tavLst>
                                    </p:anim>
                                  </p:childTnLst>
                                </p:cTn>
                              </p:par>
                            </p:childTnLst>
                          </p:cTn>
                        </p:par>
                      </p:childTnLst>
                    </p:cTn>
                  </p:par>
                  <p:par>
                    <p:cTn id="21" fill="hold">
                      <p:stCondLst>
                        <p:cond delay="indefinite"/>
                      </p:stCondLst>
                      <p:childTnLst>
                        <p:par>
                          <p:cTn id="22" fill="hold">
                            <p:stCondLst>
                              <p:cond delay="0"/>
                            </p:stCondLst>
                            <p:childTnLst>
                              <p:par>
                                <p:cTn id="23" presetID="35" presetClass="emph" presetSubtype="0" repeatCount="3000" fill="hold" grpId="0" nodeType="clickEffect">
                                  <p:stCondLst>
                                    <p:cond delay="0"/>
                                  </p:stCondLst>
                                  <p:childTnLst>
                                    <p:anim calcmode="discrete" valueType="str">
                                      <p:cBhvr>
                                        <p:cTn id="24" dur="1000" fill="hold"/>
                                        <p:tgtEl>
                                          <p:spTgt spid="161"/>
                                        </p:tgtEl>
                                        <p:attrNameLst>
                                          <p:attrName>style.visibility</p:attrName>
                                        </p:attrNameLst>
                                      </p:cBhvr>
                                      <p:tavLst>
                                        <p:tav tm="0">
                                          <p:val>
                                            <p:strVal val="hidden"/>
                                          </p:val>
                                        </p:tav>
                                        <p:tav tm="50000">
                                          <p:val>
                                            <p:strVal val="visible"/>
                                          </p:val>
                                        </p:tav>
                                      </p:tavLst>
                                    </p:anim>
                                  </p:childTnLst>
                                </p:cTn>
                              </p:par>
                              <p:par>
                                <p:cTn id="25" presetID="35" presetClass="emph" presetSubtype="0" repeatCount="3000" fill="hold" nodeType="withEffect">
                                  <p:stCondLst>
                                    <p:cond delay="0"/>
                                  </p:stCondLst>
                                  <p:childTnLst>
                                    <p:anim calcmode="discrete" valueType="str">
                                      <p:cBhvr>
                                        <p:cTn id="26" dur="1000" fill="hold"/>
                                        <p:tgtEl>
                                          <p:spTgt spid="143"/>
                                        </p:tgtEl>
                                        <p:attrNameLst>
                                          <p:attrName>style.visibility</p:attrName>
                                        </p:attrNameLst>
                                      </p:cBhvr>
                                      <p:tavLst>
                                        <p:tav tm="0">
                                          <p:val>
                                            <p:strVal val="hidden"/>
                                          </p:val>
                                        </p:tav>
                                        <p:tav tm="50000">
                                          <p:val>
                                            <p:strVal val="visible"/>
                                          </p:val>
                                        </p:tav>
                                      </p:tavLst>
                                    </p:anim>
                                  </p:childTnLst>
                                </p:cTn>
                              </p:par>
                              <p:par>
                                <p:cTn id="27" presetID="35" presetClass="emph" presetSubtype="0" repeatCount="3000" fill="hold" grpId="0" nodeType="withEffect">
                                  <p:stCondLst>
                                    <p:cond delay="0"/>
                                  </p:stCondLst>
                                  <p:childTnLst>
                                    <p:anim calcmode="discrete" valueType="str">
                                      <p:cBhvr>
                                        <p:cTn id="28" dur="1000" fill="hold"/>
                                        <p:tgtEl>
                                          <p:spTgt spid="175"/>
                                        </p:tgtEl>
                                        <p:attrNameLst>
                                          <p:attrName>style.visibility</p:attrName>
                                        </p:attrNameLst>
                                      </p:cBhvr>
                                      <p:tavLst>
                                        <p:tav tm="0">
                                          <p:val>
                                            <p:strVal val="hidden"/>
                                          </p:val>
                                        </p:tav>
                                        <p:tav tm="50000">
                                          <p:val>
                                            <p:strVal val="visible"/>
                                          </p:val>
                                        </p:tav>
                                      </p:tavLst>
                                    </p:anim>
                                  </p:childTnLst>
                                </p:cTn>
                              </p:par>
                              <p:par>
                                <p:cTn id="29" presetID="35" presetClass="emph" presetSubtype="0" repeatCount="3000" fill="hold" nodeType="withEffect">
                                  <p:stCondLst>
                                    <p:cond delay="0"/>
                                  </p:stCondLst>
                                  <p:childTnLst>
                                    <p:anim calcmode="discrete" valueType="str">
                                      <p:cBhvr>
                                        <p:cTn id="30" dur="1000" fill="hold"/>
                                        <p:tgtEl>
                                          <p:spTgt spid="145"/>
                                        </p:tgtEl>
                                        <p:attrNameLst>
                                          <p:attrName>style.visibility</p:attrName>
                                        </p:attrNameLst>
                                      </p:cBhvr>
                                      <p:tavLst>
                                        <p:tav tm="0">
                                          <p:val>
                                            <p:strVal val="hidden"/>
                                          </p:val>
                                        </p:tav>
                                        <p:tav tm="50000">
                                          <p:val>
                                            <p:strVal val="visible"/>
                                          </p:val>
                                        </p:tav>
                                      </p:tavLst>
                                    </p:anim>
                                  </p:childTnLst>
                                </p:cTn>
                              </p:par>
                              <p:par>
                                <p:cTn id="31" presetID="35" presetClass="emph" presetSubtype="0" repeatCount="3000" fill="hold" nodeType="withEffect">
                                  <p:stCondLst>
                                    <p:cond delay="0"/>
                                  </p:stCondLst>
                                  <p:childTnLst>
                                    <p:anim calcmode="discrete" valueType="str">
                                      <p:cBhvr>
                                        <p:cTn id="32" dur="1000" fill="hold"/>
                                        <p:tgtEl>
                                          <p:spTgt spid="183"/>
                                        </p:tgtEl>
                                        <p:attrNameLst>
                                          <p:attrName>style.visibility</p:attrName>
                                        </p:attrNameLst>
                                      </p:cBhvr>
                                      <p:tavLst>
                                        <p:tav tm="0">
                                          <p:val>
                                            <p:strVal val="hidden"/>
                                          </p:val>
                                        </p:tav>
                                        <p:tav tm="50000">
                                          <p:val>
                                            <p:strVal val="visible"/>
                                          </p:val>
                                        </p:tav>
                                      </p:tavLst>
                                    </p:anim>
                                  </p:childTnLst>
                                </p:cTn>
                              </p:par>
                              <p:par>
                                <p:cTn id="33" presetID="35" presetClass="emph" presetSubtype="0" repeatCount="3000" fill="hold" nodeType="withEffect">
                                  <p:stCondLst>
                                    <p:cond delay="0"/>
                                  </p:stCondLst>
                                  <p:childTnLst>
                                    <p:anim calcmode="discrete" valueType="str">
                                      <p:cBhvr>
                                        <p:cTn id="34" dur="1000" fill="hold"/>
                                        <p:tgtEl>
                                          <p:spTgt spid="174"/>
                                        </p:tgtEl>
                                        <p:attrNameLst>
                                          <p:attrName>style.visibility</p:attrName>
                                        </p:attrNameLst>
                                      </p:cBhvr>
                                      <p:tavLst>
                                        <p:tav tm="0">
                                          <p:val>
                                            <p:strVal val="hidden"/>
                                          </p:val>
                                        </p:tav>
                                        <p:tav tm="50000">
                                          <p:val>
                                            <p:strVal val="visible"/>
                                          </p:val>
                                        </p:tav>
                                      </p:tavLst>
                                    </p:anim>
                                  </p:childTnLst>
                                </p:cTn>
                              </p:par>
                              <p:par>
                                <p:cTn id="35" presetID="35" presetClass="emph" presetSubtype="0" repeatCount="3000" fill="hold" nodeType="withEffect">
                                  <p:stCondLst>
                                    <p:cond delay="0"/>
                                  </p:stCondLst>
                                  <p:childTnLst>
                                    <p:anim calcmode="discrete" valueType="str">
                                      <p:cBhvr>
                                        <p:cTn id="36" dur="1000" fill="hold"/>
                                        <p:tgtEl>
                                          <p:spTgt spid="182"/>
                                        </p:tgtEl>
                                        <p:attrNameLst>
                                          <p:attrName>style.visibility</p:attrName>
                                        </p:attrNameLst>
                                      </p:cBhvr>
                                      <p:tavLst>
                                        <p:tav tm="0">
                                          <p:val>
                                            <p:strVal val="hidden"/>
                                          </p:val>
                                        </p:tav>
                                        <p:tav tm="50000">
                                          <p:val>
                                            <p:strVal val="visible"/>
                                          </p:val>
                                        </p:tav>
                                      </p:tavLst>
                                    </p:anim>
                                  </p:childTnLst>
                                </p:cTn>
                              </p:par>
                            </p:childTnLst>
                          </p:cTn>
                        </p:par>
                      </p:childTnLst>
                    </p:cTn>
                  </p:par>
                  <p:par>
                    <p:cTn id="37" fill="hold">
                      <p:stCondLst>
                        <p:cond delay="indefinite"/>
                      </p:stCondLst>
                      <p:childTnLst>
                        <p:par>
                          <p:cTn id="38" fill="hold">
                            <p:stCondLst>
                              <p:cond delay="0"/>
                            </p:stCondLst>
                            <p:childTnLst>
                              <p:par>
                                <p:cTn id="39" presetID="35" presetClass="emph" presetSubtype="0" repeatCount="3000" fill="hold" grpId="0" nodeType="clickEffect">
                                  <p:stCondLst>
                                    <p:cond delay="0"/>
                                  </p:stCondLst>
                                  <p:childTnLst>
                                    <p:anim calcmode="discrete" valueType="str">
                                      <p:cBhvr>
                                        <p:cTn id="40" dur="1000" fill="hold"/>
                                        <p:tgtEl>
                                          <p:spTgt spid="18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36" grpId="0"/>
      <p:bldP spid="161" grpId="0"/>
      <p:bldP spid="175" grpId="0"/>
      <p:bldP spid="177" grpId="0"/>
      <p:bldP spid="188"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0D74A-152F-48BF-99CA-44F11D6808ED}"/>
            </a:ext>
          </a:extLst>
        </p:cNvPr>
        <p:cNvGrpSpPr/>
        <p:nvPr/>
      </p:nvGrpSpPr>
      <p:grpSpPr>
        <a:xfrm>
          <a:off x="0" y="0"/>
          <a:ext cx="0" cy="0"/>
          <a:chOff x="0" y="0"/>
          <a:chExt cx="0" cy="0"/>
        </a:xfrm>
      </p:grpSpPr>
      <p:sp>
        <p:nvSpPr>
          <p:cNvPr id="40" name="圆角矩形 60">
            <a:extLst>
              <a:ext uri="{FF2B5EF4-FFF2-40B4-BE49-F238E27FC236}">
                <a16:creationId xmlns:a16="http://schemas.microsoft.com/office/drawing/2014/main" id="{95AFECF9-5776-05C1-E62B-1F350C8D291B}"/>
              </a:ext>
            </a:extLst>
          </p:cNvPr>
          <p:cNvSpPr/>
          <p:nvPr/>
        </p:nvSpPr>
        <p:spPr>
          <a:xfrm>
            <a:off x="545144" y="1020960"/>
            <a:ext cx="8053712" cy="217452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Rectangle 26">
            <a:extLst>
              <a:ext uri="{FF2B5EF4-FFF2-40B4-BE49-F238E27FC236}">
                <a16:creationId xmlns:a16="http://schemas.microsoft.com/office/drawing/2014/main" id="{8AD15B5D-2252-F26E-711F-4771D29535F7}"/>
              </a:ext>
            </a:extLst>
          </p:cNvPr>
          <p:cNvSpPr>
            <a:spLocks noChangeArrowheads="1"/>
          </p:cNvSpPr>
          <p:nvPr/>
        </p:nvSpPr>
        <p:spPr bwMode="auto">
          <a:xfrm>
            <a:off x="3032998" y="1966763"/>
            <a:ext cx="2055812" cy="237807"/>
          </a:xfrm>
          <a:prstGeom prst="rect">
            <a:avLst/>
          </a:prstGeom>
          <a:solidFill>
            <a:srgbClr val="92D050"/>
          </a:solidFill>
          <a:ln>
            <a:noFill/>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auto">
              <a:spcAft>
                <a:spcPts val="0"/>
              </a:spcAft>
              <a:buNone/>
            </a:pPr>
            <a:endParaRPr lang="zh-CN" altLang="en-US" sz="1400" b="1" kern="0">
              <a:solidFill>
                <a:srgbClr val="000000"/>
              </a:solidFill>
              <a:latin typeface="微软雅黑" panose="020B0503020204020204" pitchFamily="34" charset="-122"/>
              <a:ea typeface="微软雅黑" panose="020B0503020204020204" pitchFamily="34" charset="-122"/>
            </a:endParaRPr>
          </a:p>
        </p:txBody>
      </p:sp>
      <p:sp>
        <p:nvSpPr>
          <p:cNvPr id="60" name="AutoShape 5">
            <a:extLst>
              <a:ext uri="{FF2B5EF4-FFF2-40B4-BE49-F238E27FC236}">
                <a16:creationId xmlns:a16="http://schemas.microsoft.com/office/drawing/2014/main" id="{2A5ED462-B348-DDC7-10A0-A1354B30057B}"/>
              </a:ext>
            </a:extLst>
          </p:cNvPr>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2" name="Rectangle 6">
            <a:extLst>
              <a:ext uri="{FF2B5EF4-FFF2-40B4-BE49-F238E27FC236}">
                <a16:creationId xmlns:a16="http://schemas.microsoft.com/office/drawing/2014/main" id="{F3D2C863-7956-056F-DFF6-A6AAC7B220B7}"/>
              </a:ext>
            </a:extLst>
          </p:cNvPr>
          <p:cNvSpPr>
            <a:spLocks noChangeArrowheads="1"/>
          </p:cNvSpPr>
          <p:nvPr/>
        </p:nvSpPr>
        <p:spPr bwMode="auto">
          <a:xfrm>
            <a:off x="2832506" y="587638"/>
            <a:ext cx="34976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a:t>
            </a:r>
            <a:r>
              <a:rPr lang="zh-CN" altLang="en-US" sz="2000" b="1" dirty="0">
                <a:solidFill>
                  <a:schemeClr val="bg1"/>
                </a:solidFill>
                <a:latin typeface="微软雅黑" pitchFamily="34" charset="-122"/>
                <a:ea typeface="微软雅黑" pitchFamily="34" charset="-122"/>
              </a:rPr>
              <a:t>的发送缓冲区和发送窗口</a:t>
            </a:r>
          </a:p>
        </p:txBody>
      </p:sp>
      <p:sp>
        <p:nvSpPr>
          <p:cNvPr id="26" name="Text Box 20">
            <a:extLst>
              <a:ext uri="{FF2B5EF4-FFF2-40B4-BE49-F238E27FC236}">
                <a16:creationId xmlns:a16="http://schemas.microsoft.com/office/drawing/2014/main" id="{09B32B21-97A7-64D3-C92E-DC4C87EA675C}"/>
              </a:ext>
            </a:extLst>
          </p:cNvPr>
          <p:cNvSpPr txBox="1">
            <a:spLocks noChangeArrowheads="1"/>
          </p:cNvSpPr>
          <p:nvPr/>
        </p:nvSpPr>
        <p:spPr bwMode="auto">
          <a:xfrm>
            <a:off x="1811407" y="1194881"/>
            <a:ext cx="9541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最后被确认</a:t>
            </a:r>
            <a:endPar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的字节</a:t>
            </a:r>
          </a:p>
        </p:txBody>
      </p:sp>
      <p:cxnSp>
        <p:nvCxnSpPr>
          <p:cNvPr id="143" name="直接箭头连接符 142">
            <a:extLst>
              <a:ext uri="{FF2B5EF4-FFF2-40B4-BE49-F238E27FC236}">
                <a16:creationId xmlns:a16="http://schemas.microsoft.com/office/drawing/2014/main" id="{5FE69FC1-CC6D-B6C1-6D29-2FB020774A20}"/>
              </a:ext>
            </a:extLst>
          </p:cNvPr>
          <p:cNvCxnSpPr>
            <a:cxnSpLocks/>
          </p:cNvCxnSpPr>
          <p:nvPr/>
        </p:nvCxnSpPr>
        <p:spPr>
          <a:xfrm>
            <a:off x="3034109" y="1698952"/>
            <a:ext cx="4739481" cy="0"/>
          </a:xfrm>
          <a:prstGeom prst="straightConnector1">
            <a:avLst/>
          </a:prstGeom>
          <a:noFill/>
          <a:ln w="9525" cap="flat" cmpd="sng" algn="ctr">
            <a:solidFill>
              <a:srgbClr val="000000"/>
            </a:solidFill>
            <a:prstDash val="solid"/>
            <a:headEnd type="triangle" w="sm" len="lg"/>
            <a:tailEnd type="triangle" w="sm" len="lg"/>
          </a:ln>
          <a:effectLst/>
        </p:spPr>
      </p:cxnSp>
      <p:sp>
        <p:nvSpPr>
          <p:cNvPr id="144" name="矩形 143">
            <a:extLst>
              <a:ext uri="{FF2B5EF4-FFF2-40B4-BE49-F238E27FC236}">
                <a16:creationId xmlns:a16="http://schemas.microsoft.com/office/drawing/2014/main" id="{32984F93-8B9D-6699-B1F7-1A6F6E39178C}"/>
              </a:ext>
            </a:extLst>
          </p:cNvPr>
          <p:cNvSpPr/>
          <p:nvPr/>
        </p:nvSpPr>
        <p:spPr>
          <a:xfrm>
            <a:off x="5008799" y="1573381"/>
            <a:ext cx="796767" cy="216694"/>
          </a:xfrm>
          <a:prstGeom prst="rect">
            <a:avLst/>
          </a:prstGeom>
          <a:solidFill>
            <a:srgbClr val="C3E3F9"/>
          </a:solidFill>
          <a:ln w="25400" cap="flat" cmpd="sng" algn="ctr">
            <a:noFill/>
            <a:prstDash val="solid"/>
          </a:ln>
          <a:effectLst/>
        </p:spPr>
        <p:txBody>
          <a:bodyPr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cxnSp>
        <p:nvCxnSpPr>
          <p:cNvPr id="145" name="直接箭头连接符 144">
            <a:extLst>
              <a:ext uri="{FF2B5EF4-FFF2-40B4-BE49-F238E27FC236}">
                <a16:creationId xmlns:a16="http://schemas.microsoft.com/office/drawing/2014/main" id="{4FDDF764-3F93-5895-AC64-63B22D85CA4D}"/>
              </a:ext>
            </a:extLst>
          </p:cNvPr>
          <p:cNvCxnSpPr>
            <a:cxnSpLocks/>
          </p:cNvCxnSpPr>
          <p:nvPr/>
        </p:nvCxnSpPr>
        <p:spPr>
          <a:xfrm>
            <a:off x="3035220" y="1847860"/>
            <a:ext cx="2815907" cy="0"/>
          </a:xfrm>
          <a:prstGeom prst="straightConnector1">
            <a:avLst/>
          </a:prstGeom>
          <a:noFill/>
          <a:ln w="9525" cap="flat" cmpd="sng" algn="ctr">
            <a:solidFill>
              <a:srgbClr val="000000"/>
            </a:solidFill>
            <a:prstDash val="solid"/>
            <a:headEnd type="triangle" w="sm" len="lg"/>
            <a:tailEnd type="triangle" w="sm" len="lg"/>
          </a:ln>
          <a:effectLst/>
        </p:spPr>
      </p:cxnSp>
      <p:sp>
        <p:nvSpPr>
          <p:cNvPr id="146" name="矩形 145">
            <a:extLst>
              <a:ext uri="{FF2B5EF4-FFF2-40B4-BE49-F238E27FC236}">
                <a16:creationId xmlns:a16="http://schemas.microsoft.com/office/drawing/2014/main" id="{C53B6A13-54F0-83F7-332C-4911D0BBF1A6}"/>
              </a:ext>
            </a:extLst>
          </p:cNvPr>
          <p:cNvSpPr/>
          <p:nvPr/>
        </p:nvSpPr>
        <p:spPr>
          <a:xfrm>
            <a:off x="4142024" y="1747787"/>
            <a:ext cx="674501" cy="182303"/>
          </a:xfrm>
          <a:prstGeom prst="rect">
            <a:avLst/>
          </a:prstGeom>
          <a:solidFill>
            <a:srgbClr val="C3E3F9"/>
          </a:solidFill>
          <a:ln w="25400" cap="flat" cmpd="sng" algn="ctr">
            <a:noFill/>
            <a:prstDash val="solid"/>
          </a:ln>
          <a:effectLst/>
        </p:spPr>
        <p:txBody>
          <a:bodyPr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49" name="Rectangle 14">
            <a:extLst>
              <a:ext uri="{FF2B5EF4-FFF2-40B4-BE49-F238E27FC236}">
                <a16:creationId xmlns:a16="http://schemas.microsoft.com/office/drawing/2014/main" id="{D3F2D290-F18A-2C1E-35F8-EE03A26C48F7}"/>
              </a:ext>
            </a:extLst>
          </p:cNvPr>
          <p:cNvSpPr>
            <a:spLocks noChangeArrowheads="1"/>
          </p:cNvSpPr>
          <p:nvPr/>
        </p:nvSpPr>
        <p:spPr bwMode="auto">
          <a:xfrm>
            <a:off x="5088809" y="1962318"/>
            <a:ext cx="2684780" cy="252254"/>
          </a:xfrm>
          <a:prstGeom prst="rect">
            <a:avLst/>
          </a:prstGeom>
          <a:solidFill>
            <a:srgbClr val="FFC000"/>
          </a:solidFill>
          <a:ln>
            <a:noFill/>
          </a:ln>
        </p:spPr>
        <p:txBody>
          <a:bodyPr wrap="none" anchor="ctr"/>
          <a:lstStyle/>
          <a:p>
            <a:pPr fontAlgn="auto">
              <a:spcAft>
                <a:spcPts val="0"/>
              </a:spcAft>
            </a:pPr>
            <a:endParaRPr lang="zh-CN" altLang="en-US" sz="1400" b="1" kern="0">
              <a:solidFill>
                <a:srgbClr val="000000"/>
              </a:solidFill>
              <a:latin typeface="微软雅黑" panose="020B0503020204020204" pitchFamily="34" charset="-122"/>
              <a:ea typeface="微软雅黑" panose="020B0503020204020204" pitchFamily="34" charset="-122"/>
            </a:endParaRPr>
          </a:p>
        </p:txBody>
      </p:sp>
      <p:grpSp>
        <p:nvGrpSpPr>
          <p:cNvPr id="150" name="组合 2">
            <a:extLst>
              <a:ext uri="{FF2B5EF4-FFF2-40B4-BE49-F238E27FC236}">
                <a16:creationId xmlns:a16="http://schemas.microsoft.com/office/drawing/2014/main" id="{FCCC89EF-3DB2-7E6E-DDE6-4D543DEC5B5D}"/>
              </a:ext>
            </a:extLst>
          </p:cNvPr>
          <p:cNvGrpSpPr>
            <a:grpSpLocks/>
          </p:cNvGrpSpPr>
          <p:nvPr/>
        </p:nvGrpSpPr>
        <p:grpSpPr bwMode="auto">
          <a:xfrm>
            <a:off x="1521697" y="1967875"/>
            <a:ext cx="6498590" cy="246697"/>
            <a:chOff x="1408113" y="1868488"/>
            <a:chExt cx="4040187" cy="352425"/>
          </a:xfrm>
        </p:grpSpPr>
        <p:sp>
          <p:nvSpPr>
            <p:cNvPr id="152" name="Line 10">
              <a:extLst>
                <a:ext uri="{FF2B5EF4-FFF2-40B4-BE49-F238E27FC236}">
                  <a16:creationId xmlns:a16="http://schemas.microsoft.com/office/drawing/2014/main" id="{556461CB-7243-D874-348B-4DD5EBEF7CC5}"/>
                </a:ext>
              </a:extLst>
            </p:cNvPr>
            <p:cNvSpPr>
              <a:spLocks noChangeShapeType="1"/>
            </p:cNvSpPr>
            <p:nvPr/>
          </p:nvSpPr>
          <p:spPr bwMode="auto">
            <a:xfrm>
              <a:off x="1408113" y="1868488"/>
              <a:ext cx="4032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53" name="Line 11">
              <a:extLst>
                <a:ext uri="{FF2B5EF4-FFF2-40B4-BE49-F238E27FC236}">
                  <a16:creationId xmlns:a16="http://schemas.microsoft.com/office/drawing/2014/main" id="{C7262FF8-88B9-D4BF-6680-65F800FDBDE3}"/>
                </a:ext>
              </a:extLst>
            </p:cNvPr>
            <p:cNvSpPr>
              <a:spLocks noChangeShapeType="1"/>
            </p:cNvSpPr>
            <p:nvPr/>
          </p:nvSpPr>
          <p:spPr bwMode="auto">
            <a:xfrm>
              <a:off x="1416050" y="2220913"/>
              <a:ext cx="4032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157" name="Line 23">
            <a:extLst>
              <a:ext uri="{FF2B5EF4-FFF2-40B4-BE49-F238E27FC236}">
                <a16:creationId xmlns:a16="http://schemas.microsoft.com/office/drawing/2014/main" id="{EE1146FA-AACD-C552-F474-A2F9462BC675}"/>
              </a:ext>
            </a:extLst>
          </p:cNvPr>
          <p:cNvSpPr>
            <a:spLocks noChangeShapeType="1"/>
          </p:cNvSpPr>
          <p:nvPr/>
        </p:nvSpPr>
        <p:spPr bwMode="auto">
          <a:xfrm>
            <a:off x="5088809" y="1962318"/>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1" name="Text Box 27">
            <a:extLst>
              <a:ext uri="{FF2B5EF4-FFF2-40B4-BE49-F238E27FC236}">
                <a16:creationId xmlns:a16="http://schemas.microsoft.com/office/drawing/2014/main" id="{4F7175AE-9DCA-65CA-1C70-2FD039A69280}"/>
              </a:ext>
            </a:extLst>
          </p:cNvPr>
          <p:cNvSpPr txBox="1">
            <a:spLocks noChangeArrowheads="1"/>
          </p:cNvSpPr>
          <p:nvPr/>
        </p:nvSpPr>
        <p:spPr bwMode="auto">
          <a:xfrm>
            <a:off x="4098820" y="1703122"/>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发送窗口</a:t>
            </a:r>
          </a:p>
        </p:txBody>
      </p:sp>
      <p:sp>
        <p:nvSpPr>
          <p:cNvPr id="162" name="Freeform 36">
            <a:extLst>
              <a:ext uri="{FF2B5EF4-FFF2-40B4-BE49-F238E27FC236}">
                <a16:creationId xmlns:a16="http://schemas.microsoft.com/office/drawing/2014/main" id="{3528D269-F64B-2D0A-98E8-327AB77E98C5}"/>
              </a:ext>
            </a:extLst>
          </p:cNvPr>
          <p:cNvSpPr>
            <a:spLocks/>
          </p:cNvSpPr>
          <p:nvPr/>
        </p:nvSpPr>
        <p:spPr bwMode="auto">
          <a:xfrm>
            <a:off x="7976949" y="1930092"/>
            <a:ext cx="48895" cy="300037"/>
          </a:xfrm>
          <a:custGeom>
            <a:avLst/>
            <a:gdLst>
              <a:gd name="T0" fmla="*/ 2147483646 w 36"/>
              <a:gd name="T1" fmla="*/ 0 h 286"/>
              <a:gd name="T2" fmla="*/ 2147483646 w 36"/>
              <a:gd name="T3" fmla="*/ 2147483646 h 286"/>
              <a:gd name="T4" fmla="*/ 2147483646 w 36"/>
              <a:gd name="T5" fmla="*/ 2147483646 h 286"/>
              <a:gd name="T6" fmla="*/ 2147483646 w 36"/>
              <a:gd name="T7" fmla="*/ 2147483646 h 286"/>
              <a:gd name="T8" fmla="*/ 0 w 36"/>
              <a:gd name="T9" fmla="*/ 2147483646 h 286"/>
              <a:gd name="T10" fmla="*/ 2147483646 w 36"/>
              <a:gd name="T11" fmla="*/ 2147483646 h 286"/>
              <a:gd name="T12" fmla="*/ 2147483646 w 36"/>
              <a:gd name="T13" fmla="*/ 2147483646 h 286"/>
              <a:gd name="T14" fmla="*/ 2147483646 w 36"/>
              <a:gd name="T15" fmla="*/ 2147483646 h 286"/>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86"/>
              <a:gd name="T26" fmla="*/ 36 w 36"/>
              <a:gd name="T27" fmla="*/ 286 h 28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3" name="Freeform 39">
            <a:extLst>
              <a:ext uri="{FF2B5EF4-FFF2-40B4-BE49-F238E27FC236}">
                <a16:creationId xmlns:a16="http://schemas.microsoft.com/office/drawing/2014/main" id="{690C9C80-71D2-EDB8-A4B6-A6AD4C87F43B}"/>
              </a:ext>
            </a:extLst>
          </p:cNvPr>
          <p:cNvSpPr>
            <a:spLocks/>
          </p:cNvSpPr>
          <p:nvPr/>
        </p:nvSpPr>
        <p:spPr bwMode="auto">
          <a:xfrm>
            <a:off x="1475025" y="1942316"/>
            <a:ext cx="73342" cy="304482"/>
          </a:xfrm>
          <a:custGeom>
            <a:avLst/>
            <a:gdLst>
              <a:gd name="T0" fmla="*/ 2147483646 w 66"/>
              <a:gd name="T1" fmla="*/ 0 h 274"/>
              <a:gd name="T2" fmla="*/ 2147483646 w 66"/>
              <a:gd name="T3" fmla="*/ 2147483646 h 274"/>
              <a:gd name="T4" fmla="*/ 2147483646 w 66"/>
              <a:gd name="T5" fmla="*/ 2147483646 h 274"/>
              <a:gd name="T6" fmla="*/ 2147483646 w 66"/>
              <a:gd name="T7" fmla="*/ 2147483646 h 274"/>
              <a:gd name="T8" fmla="*/ 0 w 66"/>
              <a:gd name="T9" fmla="*/ 2147483646 h 274"/>
              <a:gd name="T10" fmla="*/ 2147483646 w 66"/>
              <a:gd name="T11" fmla="*/ 2147483646 h 274"/>
              <a:gd name="T12" fmla="*/ 2147483646 w 66"/>
              <a:gd name="T13" fmla="*/ 2147483646 h 274"/>
              <a:gd name="T14" fmla="*/ 0 60000 65536"/>
              <a:gd name="T15" fmla="*/ 0 60000 65536"/>
              <a:gd name="T16" fmla="*/ 0 60000 65536"/>
              <a:gd name="T17" fmla="*/ 0 60000 65536"/>
              <a:gd name="T18" fmla="*/ 0 60000 65536"/>
              <a:gd name="T19" fmla="*/ 0 60000 65536"/>
              <a:gd name="T20" fmla="*/ 0 60000 65536"/>
              <a:gd name="T21" fmla="*/ 0 w 66"/>
              <a:gd name="T22" fmla="*/ 0 h 274"/>
              <a:gd name="T23" fmla="*/ 66 w 66"/>
              <a:gd name="T24" fmla="*/ 274 h 2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274">
                <a:moveTo>
                  <a:pt x="14" y="0"/>
                </a:moveTo>
                <a:lnTo>
                  <a:pt x="66" y="46"/>
                </a:lnTo>
                <a:lnTo>
                  <a:pt x="6" y="84"/>
                </a:lnTo>
                <a:lnTo>
                  <a:pt x="54" y="136"/>
                </a:lnTo>
                <a:lnTo>
                  <a:pt x="0" y="178"/>
                </a:lnTo>
                <a:lnTo>
                  <a:pt x="54" y="214"/>
                </a:lnTo>
                <a:lnTo>
                  <a:pt x="12" y="274"/>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4" name="Line 43">
            <a:extLst>
              <a:ext uri="{FF2B5EF4-FFF2-40B4-BE49-F238E27FC236}">
                <a16:creationId xmlns:a16="http://schemas.microsoft.com/office/drawing/2014/main" id="{99C2FC1D-E377-D4FF-85D4-051359449A20}"/>
              </a:ext>
            </a:extLst>
          </p:cNvPr>
          <p:cNvSpPr>
            <a:spLocks noChangeShapeType="1"/>
          </p:cNvSpPr>
          <p:nvPr/>
        </p:nvSpPr>
        <p:spPr bwMode="auto">
          <a:xfrm>
            <a:off x="7524669" y="2273468"/>
            <a:ext cx="504507" cy="0"/>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5" name="Text Box 44">
            <a:extLst>
              <a:ext uri="{FF2B5EF4-FFF2-40B4-BE49-F238E27FC236}">
                <a16:creationId xmlns:a16="http://schemas.microsoft.com/office/drawing/2014/main" id="{F849239A-A4A9-C7C3-FF44-36B1DAF746BE}"/>
              </a:ext>
            </a:extLst>
          </p:cNvPr>
          <p:cNvSpPr txBox="1">
            <a:spLocks noChangeArrowheads="1"/>
          </p:cNvSpPr>
          <p:nvPr/>
        </p:nvSpPr>
        <p:spPr bwMode="auto">
          <a:xfrm>
            <a:off x="7376814" y="2276802"/>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序号增大</a:t>
            </a:r>
          </a:p>
        </p:txBody>
      </p:sp>
      <p:sp>
        <p:nvSpPr>
          <p:cNvPr id="170" name="Line 19">
            <a:extLst>
              <a:ext uri="{FF2B5EF4-FFF2-40B4-BE49-F238E27FC236}">
                <a16:creationId xmlns:a16="http://schemas.microsoft.com/office/drawing/2014/main" id="{6C4A0445-C216-7100-3EBE-C298EA3F8EB7}"/>
              </a:ext>
            </a:extLst>
          </p:cNvPr>
          <p:cNvSpPr>
            <a:spLocks noChangeShapeType="1"/>
          </p:cNvSpPr>
          <p:nvPr/>
        </p:nvSpPr>
        <p:spPr bwMode="auto">
          <a:xfrm flipV="1">
            <a:off x="3017440" y="2214572"/>
            <a:ext cx="0" cy="181133"/>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1" name="Line 19">
            <a:extLst>
              <a:ext uri="{FF2B5EF4-FFF2-40B4-BE49-F238E27FC236}">
                <a16:creationId xmlns:a16="http://schemas.microsoft.com/office/drawing/2014/main" id="{A56C67ED-1A77-FE42-E505-1DDEEEEC52AE}"/>
              </a:ext>
            </a:extLst>
          </p:cNvPr>
          <p:cNvSpPr>
            <a:spLocks noChangeShapeType="1"/>
          </p:cNvSpPr>
          <p:nvPr/>
        </p:nvSpPr>
        <p:spPr bwMode="auto">
          <a:xfrm flipV="1">
            <a:off x="5067696" y="2217906"/>
            <a:ext cx="0" cy="181134"/>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cxnSp>
        <p:nvCxnSpPr>
          <p:cNvPr id="174" name="直接连接符 173">
            <a:extLst>
              <a:ext uri="{FF2B5EF4-FFF2-40B4-BE49-F238E27FC236}">
                <a16:creationId xmlns:a16="http://schemas.microsoft.com/office/drawing/2014/main" id="{70EEEC23-1BF1-6566-5417-E887411C48CD}"/>
              </a:ext>
            </a:extLst>
          </p:cNvPr>
          <p:cNvCxnSpPr>
            <a:cxnSpLocks/>
          </p:cNvCxnSpPr>
          <p:nvPr/>
        </p:nvCxnSpPr>
        <p:spPr>
          <a:xfrm>
            <a:off x="5851127" y="1802298"/>
            <a:ext cx="0" cy="407829"/>
          </a:xfrm>
          <a:prstGeom prst="line">
            <a:avLst/>
          </a:prstGeom>
          <a:noFill/>
          <a:ln w="12700" cap="flat" cmpd="sng" algn="ctr">
            <a:solidFill>
              <a:srgbClr val="000000"/>
            </a:solidFill>
            <a:prstDash val="solid"/>
          </a:ln>
          <a:effectLst/>
        </p:spPr>
      </p:cxnSp>
      <p:sp>
        <p:nvSpPr>
          <p:cNvPr id="175" name="Text Box 27">
            <a:extLst>
              <a:ext uri="{FF2B5EF4-FFF2-40B4-BE49-F238E27FC236}">
                <a16:creationId xmlns:a16="http://schemas.microsoft.com/office/drawing/2014/main" id="{07C0456E-E90D-BEBC-D048-98E509D3B135}"/>
              </a:ext>
            </a:extLst>
          </p:cNvPr>
          <p:cNvSpPr txBox="1">
            <a:spLocks noChangeArrowheads="1"/>
          </p:cNvSpPr>
          <p:nvPr/>
        </p:nvSpPr>
        <p:spPr bwMode="auto">
          <a:xfrm>
            <a:off x="4948620" y="1567315"/>
            <a:ext cx="9541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发送缓冲区</a:t>
            </a:r>
          </a:p>
        </p:txBody>
      </p:sp>
      <p:sp>
        <p:nvSpPr>
          <p:cNvPr id="176" name="Text Box 20">
            <a:extLst>
              <a:ext uri="{FF2B5EF4-FFF2-40B4-BE49-F238E27FC236}">
                <a16:creationId xmlns:a16="http://schemas.microsoft.com/office/drawing/2014/main" id="{F6D2DC21-E359-FB32-3294-CBE6243E7B32}"/>
              </a:ext>
            </a:extLst>
          </p:cNvPr>
          <p:cNvSpPr txBox="1">
            <a:spLocks noChangeArrowheads="1"/>
          </p:cNvSpPr>
          <p:nvPr/>
        </p:nvSpPr>
        <p:spPr bwMode="auto">
          <a:xfrm>
            <a:off x="5153470" y="1955991"/>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待发送</a:t>
            </a:r>
          </a:p>
        </p:txBody>
      </p:sp>
      <p:sp>
        <p:nvSpPr>
          <p:cNvPr id="177" name="Text Box 20">
            <a:extLst>
              <a:ext uri="{FF2B5EF4-FFF2-40B4-BE49-F238E27FC236}">
                <a16:creationId xmlns:a16="http://schemas.microsoft.com/office/drawing/2014/main" id="{3511E361-0E57-6AA9-C8CC-052DE7FA4796}"/>
              </a:ext>
            </a:extLst>
          </p:cNvPr>
          <p:cNvSpPr txBox="1">
            <a:spLocks noChangeArrowheads="1"/>
          </p:cNvSpPr>
          <p:nvPr/>
        </p:nvSpPr>
        <p:spPr bwMode="auto">
          <a:xfrm>
            <a:off x="2555944" y="2343477"/>
            <a:ext cx="9541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最后被确认</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的字节</a:t>
            </a:r>
          </a:p>
        </p:txBody>
      </p:sp>
      <p:sp>
        <p:nvSpPr>
          <p:cNvPr id="178" name="Text Box 20">
            <a:extLst>
              <a:ext uri="{FF2B5EF4-FFF2-40B4-BE49-F238E27FC236}">
                <a16:creationId xmlns:a16="http://schemas.microsoft.com/office/drawing/2014/main" id="{6F1EEA45-9B70-1334-6562-416A1F7CAD87}"/>
              </a:ext>
            </a:extLst>
          </p:cNvPr>
          <p:cNvSpPr txBox="1">
            <a:spLocks noChangeArrowheads="1"/>
          </p:cNvSpPr>
          <p:nvPr/>
        </p:nvSpPr>
        <p:spPr bwMode="auto">
          <a:xfrm>
            <a:off x="4663697" y="2333476"/>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最后发送</a:t>
            </a:r>
            <a:endPar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的字节</a:t>
            </a:r>
          </a:p>
        </p:txBody>
      </p:sp>
      <p:sp>
        <p:nvSpPr>
          <p:cNvPr id="179" name="Text Box 20">
            <a:extLst>
              <a:ext uri="{FF2B5EF4-FFF2-40B4-BE49-F238E27FC236}">
                <a16:creationId xmlns:a16="http://schemas.microsoft.com/office/drawing/2014/main" id="{39A5B7CA-A717-8A0B-50F4-7C4EBF0E3D0E}"/>
              </a:ext>
            </a:extLst>
          </p:cNvPr>
          <p:cNvSpPr txBox="1">
            <a:spLocks noChangeArrowheads="1"/>
          </p:cNvSpPr>
          <p:nvPr/>
        </p:nvSpPr>
        <p:spPr bwMode="auto">
          <a:xfrm>
            <a:off x="6738401" y="2363480"/>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最后写入</a:t>
            </a:r>
            <a:endPar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的字节</a:t>
            </a:r>
          </a:p>
        </p:txBody>
      </p:sp>
      <p:sp>
        <p:nvSpPr>
          <p:cNvPr id="180" name="Line 19">
            <a:extLst>
              <a:ext uri="{FF2B5EF4-FFF2-40B4-BE49-F238E27FC236}">
                <a16:creationId xmlns:a16="http://schemas.microsoft.com/office/drawing/2014/main" id="{C2B2C9E1-1883-5A1F-C2D1-ED6AC3941A2D}"/>
              </a:ext>
            </a:extLst>
          </p:cNvPr>
          <p:cNvSpPr>
            <a:spLocks noChangeShapeType="1"/>
          </p:cNvSpPr>
          <p:nvPr/>
        </p:nvSpPr>
        <p:spPr bwMode="auto">
          <a:xfrm flipV="1">
            <a:off x="7149067" y="2224573"/>
            <a:ext cx="0" cy="181134"/>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1" name="Text Box 20">
            <a:extLst>
              <a:ext uri="{FF2B5EF4-FFF2-40B4-BE49-F238E27FC236}">
                <a16:creationId xmlns:a16="http://schemas.microsoft.com/office/drawing/2014/main" id="{B965EE52-6566-4590-35E0-A1814F33A77E}"/>
              </a:ext>
            </a:extLst>
          </p:cNvPr>
          <p:cNvSpPr txBox="1">
            <a:spLocks noChangeArrowheads="1"/>
          </p:cNvSpPr>
          <p:nvPr/>
        </p:nvSpPr>
        <p:spPr bwMode="auto">
          <a:xfrm>
            <a:off x="3763296" y="1949020"/>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已发送</a:t>
            </a:r>
          </a:p>
        </p:txBody>
      </p:sp>
      <p:cxnSp>
        <p:nvCxnSpPr>
          <p:cNvPr id="182" name="直接连接符 3109">
            <a:extLst>
              <a:ext uri="{FF2B5EF4-FFF2-40B4-BE49-F238E27FC236}">
                <a16:creationId xmlns:a16="http://schemas.microsoft.com/office/drawing/2014/main" id="{21DE6138-8772-288D-24F9-80B3CDD1031D}"/>
              </a:ext>
            </a:extLst>
          </p:cNvPr>
          <p:cNvCxnSpPr>
            <a:cxnSpLocks/>
          </p:cNvCxnSpPr>
          <p:nvPr/>
        </p:nvCxnSpPr>
        <p:spPr>
          <a:xfrm>
            <a:off x="3032997" y="1620053"/>
            <a:ext cx="0" cy="452279"/>
          </a:xfrm>
          <a:prstGeom prst="line">
            <a:avLst/>
          </a:prstGeom>
          <a:noFill/>
          <a:ln w="9525" cap="flat" cmpd="sng" algn="ctr">
            <a:solidFill>
              <a:srgbClr val="000000"/>
            </a:solidFill>
            <a:prstDash val="solid"/>
          </a:ln>
          <a:effectLst/>
        </p:spPr>
      </p:cxnSp>
      <p:cxnSp>
        <p:nvCxnSpPr>
          <p:cNvPr id="183" name="直接连接符 3110">
            <a:extLst>
              <a:ext uri="{FF2B5EF4-FFF2-40B4-BE49-F238E27FC236}">
                <a16:creationId xmlns:a16="http://schemas.microsoft.com/office/drawing/2014/main" id="{F245B7ED-1BCF-255F-E0C6-778AEE3B8AE5}"/>
              </a:ext>
            </a:extLst>
          </p:cNvPr>
          <p:cNvCxnSpPr>
            <a:cxnSpLocks/>
          </p:cNvCxnSpPr>
          <p:nvPr/>
        </p:nvCxnSpPr>
        <p:spPr>
          <a:xfrm>
            <a:off x="7773589" y="1640056"/>
            <a:ext cx="0" cy="570071"/>
          </a:xfrm>
          <a:prstGeom prst="line">
            <a:avLst/>
          </a:prstGeom>
          <a:noFill/>
          <a:ln w="9525" cap="flat" cmpd="sng" algn="ctr">
            <a:solidFill>
              <a:srgbClr val="000000"/>
            </a:solidFill>
            <a:prstDash val="solid"/>
          </a:ln>
          <a:effectLst/>
        </p:spPr>
      </p:cxnSp>
      <p:cxnSp>
        <p:nvCxnSpPr>
          <p:cNvPr id="184" name="直接连接符 3111">
            <a:extLst>
              <a:ext uri="{FF2B5EF4-FFF2-40B4-BE49-F238E27FC236}">
                <a16:creationId xmlns:a16="http://schemas.microsoft.com/office/drawing/2014/main" id="{75868305-E50D-FB03-5038-4DB746945AAC}"/>
              </a:ext>
            </a:extLst>
          </p:cNvPr>
          <p:cNvCxnSpPr>
            <a:cxnSpLocks/>
          </p:cNvCxnSpPr>
          <p:nvPr/>
        </p:nvCxnSpPr>
        <p:spPr>
          <a:xfrm>
            <a:off x="3032997" y="1965652"/>
            <a:ext cx="1112" cy="244475"/>
          </a:xfrm>
          <a:prstGeom prst="line">
            <a:avLst/>
          </a:prstGeom>
          <a:noFill/>
          <a:ln w="19050" cap="flat" cmpd="sng" algn="ctr">
            <a:solidFill>
              <a:srgbClr val="000000"/>
            </a:solidFill>
            <a:prstDash val="solid"/>
          </a:ln>
          <a:effectLst/>
        </p:spPr>
      </p:cxnSp>
      <p:cxnSp>
        <p:nvCxnSpPr>
          <p:cNvPr id="185" name="直接连接符 3112">
            <a:extLst>
              <a:ext uri="{FF2B5EF4-FFF2-40B4-BE49-F238E27FC236}">
                <a16:creationId xmlns:a16="http://schemas.microsoft.com/office/drawing/2014/main" id="{EBA6D8CC-EBAE-519C-7F97-A1424691AC39}"/>
              </a:ext>
            </a:extLst>
          </p:cNvPr>
          <p:cNvCxnSpPr>
            <a:cxnSpLocks/>
          </p:cNvCxnSpPr>
          <p:nvPr/>
        </p:nvCxnSpPr>
        <p:spPr>
          <a:xfrm>
            <a:off x="7773589" y="1956762"/>
            <a:ext cx="5557" cy="258921"/>
          </a:xfrm>
          <a:prstGeom prst="line">
            <a:avLst/>
          </a:prstGeom>
          <a:noFill/>
          <a:ln w="19050" cap="flat" cmpd="sng" algn="ctr">
            <a:solidFill>
              <a:srgbClr val="000000"/>
            </a:solidFill>
            <a:prstDash val="solid"/>
          </a:ln>
          <a:effectLst/>
        </p:spPr>
      </p:cxnSp>
      <p:sp>
        <p:nvSpPr>
          <p:cNvPr id="186" name="Text Box 44">
            <a:extLst>
              <a:ext uri="{FF2B5EF4-FFF2-40B4-BE49-F238E27FC236}">
                <a16:creationId xmlns:a16="http://schemas.microsoft.com/office/drawing/2014/main" id="{B6A18B2A-9E2C-A3D7-A9CE-9DD50343B57A}"/>
              </a:ext>
            </a:extLst>
          </p:cNvPr>
          <p:cNvSpPr txBox="1">
            <a:spLocks noChangeArrowheads="1"/>
          </p:cNvSpPr>
          <p:nvPr/>
        </p:nvSpPr>
        <p:spPr bwMode="auto">
          <a:xfrm>
            <a:off x="7716549" y="1573382"/>
            <a:ext cx="3385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前</a:t>
            </a:r>
          </a:p>
        </p:txBody>
      </p:sp>
      <p:sp>
        <p:nvSpPr>
          <p:cNvPr id="187" name="Text Box 44">
            <a:extLst>
              <a:ext uri="{FF2B5EF4-FFF2-40B4-BE49-F238E27FC236}">
                <a16:creationId xmlns:a16="http://schemas.microsoft.com/office/drawing/2014/main" id="{9EDBE53E-A508-8770-6D8D-402A6DE18ACB}"/>
              </a:ext>
            </a:extLst>
          </p:cNvPr>
          <p:cNvSpPr txBox="1">
            <a:spLocks noChangeArrowheads="1"/>
          </p:cNvSpPr>
          <p:nvPr/>
        </p:nvSpPr>
        <p:spPr bwMode="auto">
          <a:xfrm>
            <a:off x="2727709" y="1573381"/>
            <a:ext cx="3385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后</a:t>
            </a:r>
          </a:p>
        </p:txBody>
      </p:sp>
      <p:sp>
        <p:nvSpPr>
          <p:cNvPr id="188" name="Text Box 20">
            <a:extLst>
              <a:ext uri="{FF2B5EF4-FFF2-40B4-BE49-F238E27FC236}">
                <a16:creationId xmlns:a16="http://schemas.microsoft.com/office/drawing/2014/main" id="{8DEAC566-D77F-8889-2714-03359805F330}"/>
              </a:ext>
            </a:extLst>
          </p:cNvPr>
          <p:cNvSpPr txBox="1">
            <a:spLocks noChangeArrowheads="1"/>
          </p:cNvSpPr>
          <p:nvPr/>
        </p:nvSpPr>
        <p:spPr bwMode="auto">
          <a:xfrm>
            <a:off x="6462282" y="1949321"/>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不能发送</a:t>
            </a:r>
          </a:p>
        </p:txBody>
      </p:sp>
      <p:cxnSp>
        <p:nvCxnSpPr>
          <p:cNvPr id="189" name="直接连接符 188">
            <a:extLst>
              <a:ext uri="{FF2B5EF4-FFF2-40B4-BE49-F238E27FC236}">
                <a16:creationId xmlns:a16="http://schemas.microsoft.com/office/drawing/2014/main" id="{B5EA7FF7-C1E8-780E-E53E-2CE0CD5B04CD}"/>
              </a:ext>
            </a:extLst>
          </p:cNvPr>
          <p:cNvCxnSpPr/>
          <p:nvPr/>
        </p:nvCxnSpPr>
        <p:spPr>
          <a:xfrm>
            <a:off x="5088809" y="1967875"/>
            <a:ext cx="0" cy="241141"/>
          </a:xfrm>
          <a:prstGeom prst="line">
            <a:avLst/>
          </a:prstGeom>
          <a:noFill/>
          <a:ln w="12700" cap="flat" cmpd="sng" algn="ctr">
            <a:solidFill>
              <a:srgbClr val="000000"/>
            </a:solidFill>
            <a:prstDash val="solid"/>
          </a:ln>
          <a:effectLst/>
        </p:spPr>
      </p:cxnSp>
      <p:sp>
        <p:nvSpPr>
          <p:cNvPr id="191" name="Text Box 20">
            <a:extLst>
              <a:ext uri="{FF2B5EF4-FFF2-40B4-BE49-F238E27FC236}">
                <a16:creationId xmlns:a16="http://schemas.microsoft.com/office/drawing/2014/main" id="{B0EBEB80-B256-931E-33C3-8227D91F783A}"/>
              </a:ext>
            </a:extLst>
          </p:cNvPr>
          <p:cNvSpPr txBox="1">
            <a:spLocks noChangeArrowheads="1"/>
          </p:cNvSpPr>
          <p:nvPr/>
        </p:nvSpPr>
        <p:spPr bwMode="auto">
          <a:xfrm>
            <a:off x="1853347" y="1953126"/>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已被确认</a:t>
            </a:r>
          </a:p>
        </p:txBody>
      </p:sp>
      <p:sp>
        <p:nvSpPr>
          <p:cNvPr id="3" name="Rectangle 8">
            <a:extLst>
              <a:ext uri="{FF2B5EF4-FFF2-40B4-BE49-F238E27FC236}">
                <a16:creationId xmlns:a16="http://schemas.microsoft.com/office/drawing/2014/main" id="{36F31159-917C-83DB-D026-E29E783F961E}"/>
              </a:ext>
            </a:extLst>
          </p:cNvPr>
          <p:cNvSpPr>
            <a:spLocks noChangeArrowheads="1"/>
          </p:cNvSpPr>
          <p:nvPr/>
        </p:nvSpPr>
        <p:spPr bwMode="auto">
          <a:xfrm>
            <a:off x="556963" y="3201088"/>
            <a:ext cx="8048776" cy="893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如果发送应用程序写入过快、缓冲区数据来不及发送出去，系统会自动阻塞应用程序的写入调用，直至缓冲区有空间可用。</a:t>
            </a:r>
          </a:p>
        </p:txBody>
      </p:sp>
    </p:spTree>
    <p:extLst>
      <p:ext uri="{BB962C8B-B14F-4D97-AF65-F5344CB8AC3E}">
        <p14:creationId xmlns:p14="http://schemas.microsoft.com/office/powerpoint/2010/main" val="249360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14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F4FEF-C80E-F627-C5CF-D90ED7FFD046}"/>
            </a:ext>
          </a:extLst>
        </p:cNvPr>
        <p:cNvGrpSpPr/>
        <p:nvPr/>
      </p:nvGrpSpPr>
      <p:grpSpPr>
        <a:xfrm>
          <a:off x="0" y="0"/>
          <a:ext cx="0" cy="0"/>
          <a:chOff x="0" y="0"/>
          <a:chExt cx="0" cy="0"/>
        </a:xfrm>
      </p:grpSpPr>
      <p:sp>
        <p:nvSpPr>
          <p:cNvPr id="308" name="圆角矩形 60">
            <a:extLst>
              <a:ext uri="{FF2B5EF4-FFF2-40B4-BE49-F238E27FC236}">
                <a16:creationId xmlns:a16="http://schemas.microsoft.com/office/drawing/2014/main" id="{6B41EC54-FAF8-B0BF-A694-4D77E788C114}"/>
              </a:ext>
            </a:extLst>
          </p:cNvPr>
          <p:cNvSpPr/>
          <p:nvPr/>
        </p:nvSpPr>
        <p:spPr>
          <a:xfrm>
            <a:off x="545144" y="1020960"/>
            <a:ext cx="8053712" cy="134600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8" name="Rectangle 26">
            <a:extLst>
              <a:ext uri="{FF2B5EF4-FFF2-40B4-BE49-F238E27FC236}">
                <a16:creationId xmlns:a16="http://schemas.microsoft.com/office/drawing/2014/main" id="{6CF70B60-3750-BC2A-A5A0-0B1148E69B62}"/>
              </a:ext>
            </a:extLst>
          </p:cNvPr>
          <p:cNvSpPr>
            <a:spLocks noChangeArrowheads="1"/>
          </p:cNvSpPr>
          <p:nvPr/>
        </p:nvSpPr>
        <p:spPr bwMode="auto">
          <a:xfrm>
            <a:off x="2311252" y="1426565"/>
            <a:ext cx="866305" cy="237808"/>
          </a:xfrm>
          <a:prstGeom prst="rect">
            <a:avLst/>
          </a:prstGeom>
          <a:solidFill>
            <a:srgbClr val="92D050"/>
          </a:solidFill>
          <a:ln>
            <a:noFill/>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0" name="AutoShape 5">
            <a:extLst>
              <a:ext uri="{FF2B5EF4-FFF2-40B4-BE49-F238E27FC236}">
                <a16:creationId xmlns:a16="http://schemas.microsoft.com/office/drawing/2014/main" id="{00A6D822-D0BF-FFE6-64E2-0CCE64977324}"/>
              </a:ext>
            </a:extLst>
          </p:cNvPr>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2" name="Rectangle 6">
            <a:extLst>
              <a:ext uri="{FF2B5EF4-FFF2-40B4-BE49-F238E27FC236}">
                <a16:creationId xmlns:a16="http://schemas.microsoft.com/office/drawing/2014/main" id="{C48092AE-1896-74E0-61DD-BC3813CEF6AE}"/>
              </a:ext>
            </a:extLst>
          </p:cNvPr>
          <p:cNvSpPr>
            <a:spLocks noChangeArrowheads="1"/>
          </p:cNvSpPr>
          <p:nvPr/>
        </p:nvSpPr>
        <p:spPr bwMode="auto">
          <a:xfrm>
            <a:off x="2832507" y="587638"/>
            <a:ext cx="349768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a:t>
            </a:r>
            <a:r>
              <a:rPr lang="zh-CN" altLang="en-US" sz="2000" b="1" dirty="0">
                <a:solidFill>
                  <a:schemeClr val="bg1"/>
                </a:solidFill>
                <a:latin typeface="微软雅黑" pitchFamily="34" charset="-122"/>
                <a:ea typeface="微软雅黑" pitchFamily="34" charset="-122"/>
              </a:rPr>
              <a:t>的接收缓冲区和接收窗口</a:t>
            </a:r>
          </a:p>
        </p:txBody>
      </p:sp>
      <p:cxnSp>
        <p:nvCxnSpPr>
          <p:cNvPr id="209" name="直接箭头连接符 208">
            <a:extLst>
              <a:ext uri="{FF2B5EF4-FFF2-40B4-BE49-F238E27FC236}">
                <a16:creationId xmlns:a16="http://schemas.microsoft.com/office/drawing/2014/main" id="{6FCE81C1-868F-5EE5-B4CB-F09C69D3B306}"/>
              </a:ext>
            </a:extLst>
          </p:cNvPr>
          <p:cNvCxnSpPr>
            <a:cxnSpLocks/>
          </p:cNvCxnSpPr>
          <p:nvPr/>
        </p:nvCxnSpPr>
        <p:spPr>
          <a:xfrm>
            <a:off x="2320783" y="1149864"/>
            <a:ext cx="3679349" cy="0"/>
          </a:xfrm>
          <a:prstGeom prst="straightConnector1">
            <a:avLst/>
          </a:prstGeom>
          <a:noFill/>
          <a:ln w="9525" cap="flat" cmpd="sng" algn="ctr">
            <a:solidFill>
              <a:srgbClr val="000000"/>
            </a:solidFill>
            <a:prstDash val="solid"/>
            <a:headEnd type="triangle" w="sm" len="lg"/>
            <a:tailEnd type="triangle" w="sm" len="lg"/>
          </a:ln>
          <a:effectLst/>
        </p:spPr>
      </p:cxnSp>
      <p:sp>
        <p:nvSpPr>
          <p:cNvPr id="210" name="矩形 209">
            <a:extLst>
              <a:ext uri="{FF2B5EF4-FFF2-40B4-BE49-F238E27FC236}">
                <a16:creationId xmlns:a16="http://schemas.microsoft.com/office/drawing/2014/main" id="{68843507-3EE0-3553-A79B-9491E7ADC854}"/>
              </a:ext>
            </a:extLst>
          </p:cNvPr>
          <p:cNvSpPr/>
          <p:nvPr/>
        </p:nvSpPr>
        <p:spPr>
          <a:xfrm>
            <a:off x="3361960" y="1070588"/>
            <a:ext cx="796767" cy="147797"/>
          </a:xfrm>
          <a:prstGeom prst="rect">
            <a:avLst/>
          </a:prstGeom>
          <a:solidFill>
            <a:srgbClr val="C3E3F9"/>
          </a:solidFill>
          <a:ln w="25400" cap="flat" cmpd="sng" algn="ctr">
            <a:noFill/>
            <a:prstDash val="solid"/>
          </a:ln>
          <a:effectLst/>
        </p:spPr>
        <p:txBody>
          <a:bodyPr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cxnSp>
        <p:nvCxnSpPr>
          <p:cNvPr id="211" name="直接箭头连接符 210">
            <a:extLst>
              <a:ext uri="{FF2B5EF4-FFF2-40B4-BE49-F238E27FC236}">
                <a16:creationId xmlns:a16="http://schemas.microsoft.com/office/drawing/2014/main" id="{39344A78-40A9-B58D-2DD8-0773847E95B8}"/>
              </a:ext>
            </a:extLst>
          </p:cNvPr>
          <p:cNvCxnSpPr>
            <a:cxnSpLocks/>
          </p:cNvCxnSpPr>
          <p:nvPr/>
        </p:nvCxnSpPr>
        <p:spPr>
          <a:xfrm>
            <a:off x="3184225" y="1329887"/>
            <a:ext cx="2815908" cy="0"/>
          </a:xfrm>
          <a:prstGeom prst="straightConnector1">
            <a:avLst/>
          </a:prstGeom>
          <a:noFill/>
          <a:ln w="9525" cap="flat" cmpd="sng" algn="ctr">
            <a:solidFill>
              <a:srgbClr val="000000"/>
            </a:solidFill>
            <a:prstDash val="solid"/>
            <a:headEnd type="triangle" w="sm" len="lg"/>
            <a:tailEnd type="triangle" w="sm" len="lg"/>
          </a:ln>
          <a:effectLst/>
        </p:spPr>
      </p:cxnSp>
      <p:sp>
        <p:nvSpPr>
          <p:cNvPr id="212" name="矩形 211">
            <a:extLst>
              <a:ext uri="{FF2B5EF4-FFF2-40B4-BE49-F238E27FC236}">
                <a16:creationId xmlns:a16="http://schemas.microsoft.com/office/drawing/2014/main" id="{787A57B0-F3B6-F0E8-C034-1CAA43F29F7C}"/>
              </a:ext>
            </a:extLst>
          </p:cNvPr>
          <p:cNvSpPr/>
          <p:nvPr/>
        </p:nvSpPr>
        <p:spPr>
          <a:xfrm>
            <a:off x="4245805" y="1268471"/>
            <a:ext cx="724197" cy="116979"/>
          </a:xfrm>
          <a:prstGeom prst="rect">
            <a:avLst/>
          </a:prstGeom>
          <a:solidFill>
            <a:srgbClr val="C3E3F9"/>
          </a:solidFill>
          <a:ln w="25400" cap="flat" cmpd="sng" algn="ctr">
            <a:noFill/>
            <a:prstDash val="solid"/>
          </a:ln>
          <a:effectLst/>
        </p:spPr>
        <p:txBody>
          <a:bodyPr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13" name="Rectangle 14">
            <a:extLst>
              <a:ext uri="{FF2B5EF4-FFF2-40B4-BE49-F238E27FC236}">
                <a16:creationId xmlns:a16="http://schemas.microsoft.com/office/drawing/2014/main" id="{3F56CF77-B84E-69F9-C868-8B2C0DFC044B}"/>
              </a:ext>
            </a:extLst>
          </p:cNvPr>
          <p:cNvSpPr>
            <a:spLocks noChangeArrowheads="1"/>
          </p:cNvSpPr>
          <p:nvPr/>
        </p:nvSpPr>
        <p:spPr bwMode="auto">
          <a:xfrm>
            <a:off x="4028775" y="1419897"/>
            <a:ext cx="290204" cy="252254"/>
          </a:xfrm>
          <a:prstGeom prst="rect">
            <a:avLst/>
          </a:prstGeom>
          <a:solidFill>
            <a:srgbClr val="FFC000"/>
          </a:solidFill>
          <a:ln>
            <a:noFill/>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nvGrpSpPr>
          <p:cNvPr id="214" name="组合 2">
            <a:extLst>
              <a:ext uri="{FF2B5EF4-FFF2-40B4-BE49-F238E27FC236}">
                <a16:creationId xmlns:a16="http://schemas.microsoft.com/office/drawing/2014/main" id="{3506F20C-38A5-A998-6589-E2DFF40B87C3}"/>
              </a:ext>
            </a:extLst>
          </p:cNvPr>
          <p:cNvGrpSpPr>
            <a:grpSpLocks/>
          </p:cNvGrpSpPr>
          <p:nvPr/>
        </p:nvGrpSpPr>
        <p:grpSpPr bwMode="auto">
          <a:xfrm>
            <a:off x="1537352" y="1418787"/>
            <a:ext cx="6521927" cy="246698"/>
            <a:chOff x="1408113" y="1868488"/>
            <a:chExt cx="4040187" cy="352425"/>
          </a:xfrm>
        </p:grpSpPr>
        <p:sp>
          <p:nvSpPr>
            <p:cNvPr id="299" name="Line 10">
              <a:extLst>
                <a:ext uri="{FF2B5EF4-FFF2-40B4-BE49-F238E27FC236}">
                  <a16:creationId xmlns:a16="http://schemas.microsoft.com/office/drawing/2014/main" id="{03E7F6A6-5CBE-3659-0BEB-BC9BB68F6E2F}"/>
                </a:ext>
              </a:extLst>
            </p:cNvPr>
            <p:cNvSpPr>
              <a:spLocks noChangeShapeType="1"/>
            </p:cNvSpPr>
            <p:nvPr/>
          </p:nvSpPr>
          <p:spPr bwMode="auto">
            <a:xfrm>
              <a:off x="1408113" y="1868488"/>
              <a:ext cx="4032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00" name="Line 11">
              <a:extLst>
                <a:ext uri="{FF2B5EF4-FFF2-40B4-BE49-F238E27FC236}">
                  <a16:creationId xmlns:a16="http://schemas.microsoft.com/office/drawing/2014/main" id="{CC988E30-CCFA-D837-6345-D2ACBB1D238E}"/>
                </a:ext>
              </a:extLst>
            </p:cNvPr>
            <p:cNvSpPr>
              <a:spLocks noChangeShapeType="1"/>
            </p:cNvSpPr>
            <p:nvPr/>
          </p:nvSpPr>
          <p:spPr bwMode="auto">
            <a:xfrm>
              <a:off x="1416050" y="2220913"/>
              <a:ext cx="4032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215" name="Line 15">
            <a:extLst>
              <a:ext uri="{FF2B5EF4-FFF2-40B4-BE49-F238E27FC236}">
                <a16:creationId xmlns:a16="http://schemas.microsoft.com/office/drawing/2014/main" id="{23257FD2-4F15-A055-BB44-C45E9BA3C5E3}"/>
              </a:ext>
            </a:extLst>
          </p:cNvPr>
          <p:cNvSpPr>
            <a:spLocks noChangeShapeType="1"/>
          </p:cNvSpPr>
          <p:nvPr/>
        </p:nvSpPr>
        <p:spPr bwMode="auto">
          <a:xfrm>
            <a:off x="2320783" y="1413230"/>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6" name="Line 16">
            <a:extLst>
              <a:ext uri="{FF2B5EF4-FFF2-40B4-BE49-F238E27FC236}">
                <a16:creationId xmlns:a16="http://schemas.microsoft.com/office/drawing/2014/main" id="{9A765CDA-24C5-F870-D077-FCB1272A2332}"/>
              </a:ext>
            </a:extLst>
          </p:cNvPr>
          <p:cNvSpPr>
            <a:spLocks noChangeShapeType="1"/>
          </p:cNvSpPr>
          <p:nvPr/>
        </p:nvSpPr>
        <p:spPr bwMode="auto">
          <a:xfrm flipH="1">
            <a:off x="4034330" y="1413230"/>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7" name="Line 23">
            <a:extLst>
              <a:ext uri="{FF2B5EF4-FFF2-40B4-BE49-F238E27FC236}">
                <a16:creationId xmlns:a16="http://schemas.microsoft.com/office/drawing/2014/main" id="{023EAFD9-A8A5-ADE5-E845-88060C90A293}"/>
              </a:ext>
            </a:extLst>
          </p:cNvPr>
          <p:cNvSpPr>
            <a:spLocks noChangeShapeType="1"/>
          </p:cNvSpPr>
          <p:nvPr/>
        </p:nvSpPr>
        <p:spPr bwMode="auto">
          <a:xfrm>
            <a:off x="3177557" y="1413230"/>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9" name="Text Box 27">
            <a:extLst>
              <a:ext uri="{FF2B5EF4-FFF2-40B4-BE49-F238E27FC236}">
                <a16:creationId xmlns:a16="http://schemas.microsoft.com/office/drawing/2014/main" id="{8BCF2773-5683-CA6E-DEF9-C9801EC4E44C}"/>
              </a:ext>
            </a:extLst>
          </p:cNvPr>
          <p:cNvSpPr txBox="1">
            <a:spLocks noChangeArrowheads="1"/>
          </p:cNvSpPr>
          <p:nvPr/>
        </p:nvSpPr>
        <p:spPr bwMode="auto">
          <a:xfrm>
            <a:off x="4213105" y="1184896"/>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接收窗口</a:t>
            </a:r>
          </a:p>
        </p:txBody>
      </p:sp>
      <p:sp>
        <p:nvSpPr>
          <p:cNvPr id="220" name="Freeform 36">
            <a:extLst>
              <a:ext uri="{FF2B5EF4-FFF2-40B4-BE49-F238E27FC236}">
                <a16:creationId xmlns:a16="http://schemas.microsoft.com/office/drawing/2014/main" id="{91762CC4-56E8-F8B6-41E3-B79780F7CD20}"/>
              </a:ext>
            </a:extLst>
          </p:cNvPr>
          <p:cNvSpPr>
            <a:spLocks/>
          </p:cNvSpPr>
          <p:nvPr/>
        </p:nvSpPr>
        <p:spPr bwMode="auto">
          <a:xfrm>
            <a:off x="8015940" y="1381004"/>
            <a:ext cx="48895" cy="300038"/>
          </a:xfrm>
          <a:custGeom>
            <a:avLst/>
            <a:gdLst>
              <a:gd name="T0" fmla="*/ 2147483646 w 36"/>
              <a:gd name="T1" fmla="*/ 0 h 286"/>
              <a:gd name="T2" fmla="*/ 2147483646 w 36"/>
              <a:gd name="T3" fmla="*/ 2147483646 h 286"/>
              <a:gd name="T4" fmla="*/ 2147483646 w 36"/>
              <a:gd name="T5" fmla="*/ 2147483646 h 286"/>
              <a:gd name="T6" fmla="*/ 2147483646 w 36"/>
              <a:gd name="T7" fmla="*/ 2147483646 h 286"/>
              <a:gd name="T8" fmla="*/ 0 w 36"/>
              <a:gd name="T9" fmla="*/ 2147483646 h 286"/>
              <a:gd name="T10" fmla="*/ 2147483646 w 36"/>
              <a:gd name="T11" fmla="*/ 2147483646 h 286"/>
              <a:gd name="T12" fmla="*/ 2147483646 w 36"/>
              <a:gd name="T13" fmla="*/ 2147483646 h 286"/>
              <a:gd name="T14" fmla="*/ 2147483646 w 36"/>
              <a:gd name="T15" fmla="*/ 2147483646 h 286"/>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86"/>
              <a:gd name="T26" fmla="*/ 36 w 36"/>
              <a:gd name="T27" fmla="*/ 286 h 28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1" name="Freeform 39">
            <a:extLst>
              <a:ext uri="{FF2B5EF4-FFF2-40B4-BE49-F238E27FC236}">
                <a16:creationId xmlns:a16="http://schemas.microsoft.com/office/drawing/2014/main" id="{D7FC315A-4FAB-1AE3-93D1-3E567067A99C}"/>
              </a:ext>
            </a:extLst>
          </p:cNvPr>
          <p:cNvSpPr>
            <a:spLocks/>
          </p:cNvSpPr>
          <p:nvPr/>
        </p:nvSpPr>
        <p:spPr bwMode="auto">
          <a:xfrm>
            <a:off x="1492902" y="1393227"/>
            <a:ext cx="73343" cy="304483"/>
          </a:xfrm>
          <a:custGeom>
            <a:avLst/>
            <a:gdLst>
              <a:gd name="T0" fmla="*/ 2147483646 w 66"/>
              <a:gd name="T1" fmla="*/ 0 h 274"/>
              <a:gd name="T2" fmla="*/ 2147483646 w 66"/>
              <a:gd name="T3" fmla="*/ 2147483646 h 274"/>
              <a:gd name="T4" fmla="*/ 2147483646 w 66"/>
              <a:gd name="T5" fmla="*/ 2147483646 h 274"/>
              <a:gd name="T6" fmla="*/ 2147483646 w 66"/>
              <a:gd name="T7" fmla="*/ 2147483646 h 274"/>
              <a:gd name="T8" fmla="*/ 0 w 66"/>
              <a:gd name="T9" fmla="*/ 2147483646 h 274"/>
              <a:gd name="T10" fmla="*/ 2147483646 w 66"/>
              <a:gd name="T11" fmla="*/ 2147483646 h 274"/>
              <a:gd name="T12" fmla="*/ 2147483646 w 66"/>
              <a:gd name="T13" fmla="*/ 2147483646 h 274"/>
              <a:gd name="T14" fmla="*/ 0 60000 65536"/>
              <a:gd name="T15" fmla="*/ 0 60000 65536"/>
              <a:gd name="T16" fmla="*/ 0 60000 65536"/>
              <a:gd name="T17" fmla="*/ 0 60000 65536"/>
              <a:gd name="T18" fmla="*/ 0 60000 65536"/>
              <a:gd name="T19" fmla="*/ 0 60000 65536"/>
              <a:gd name="T20" fmla="*/ 0 60000 65536"/>
              <a:gd name="T21" fmla="*/ 0 w 66"/>
              <a:gd name="T22" fmla="*/ 0 h 274"/>
              <a:gd name="T23" fmla="*/ 66 w 66"/>
              <a:gd name="T24" fmla="*/ 274 h 2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274">
                <a:moveTo>
                  <a:pt x="14" y="0"/>
                </a:moveTo>
                <a:lnTo>
                  <a:pt x="66" y="46"/>
                </a:lnTo>
                <a:lnTo>
                  <a:pt x="6" y="84"/>
                </a:lnTo>
                <a:lnTo>
                  <a:pt x="54" y="136"/>
                </a:lnTo>
                <a:lnTo>
                  <a:pt x="0" y="178"/>
                </a:lnTo>
                <a:lnTo>
                  <a:pt x="54" y="214"/>
                </a:lnTo>
                <a:lnTo>
                  <a:pt x="12" y="274"/>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2" name="Line 43">
            <a:extLst>
              <a:ext uri="{FF2B5EF4-FFF2-40B4-BE49-F238E27FC236}">
                <a16:creationId xmlns:a16="http://schemas.microsoft.com/office/drawing/2014/main" id="{8033D030-8E5F-378B-718C-16F7757E0A92}"/>
              </a:ext>
            </a:extLst>
          </p:cNvPr>
          <p:cNvSpPr>
            <a:spLocks noChangeShapeType="1"/>
          </p:cNvSpPr>
          <p:nvPr/>
        </p:nvSpPr>
        <p:spPr bwMode="auto">
          <a:xfrm>
            <a:off x="7565883" y="1724380"/>
            <a:ext cx="504508" cy="0"/>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3" name="Text Box 44">
            <a:extLst>
              <a:ext uri="{FF2B5EF4-FFF2-40B4-BE49-F238E27FC236}">
                <a16:creationId xmlns:a16="http://schemas.microsoft.com/office/drawing/2014/main" id="{18FFDE65-18CB-919E-6320-12AC3A254104}"/>
              </a:ext>
            </a:extLst>
          </p:cNvPr>
          <p:cNvSpPr txBox="1">
            <a:spLocks noChangeArrowheads="1"/>
          </p:cNvSpPr>
          <p:nvPr/>
        </p:nvSpPr>
        <p:spPr bwMode="auto">
          <a:xfrm>
            <a:off x="7418028" y="1727714"/>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序号增大</a:t>
            </a:r>
          </a:p>
        </p:txBody>
      </p:sp>
      <p:sp>
        <p:nvSpPr>
          <p:cNvPr id="224" name="Text Box 65">
            <a:extLst>
              <a:ext uri="{FF2B5EF4-FFF2-40B4-BE49-F238E27FC236}">
                <a16:creationId xmlns:a16="http://schemas.microsoft.com/office/drawing/2014/main" id="{51B94F63-A437-D4D7-7E94-63B0C4DFBE42}"/>
              </a:ext>
            </a:extLst>
          </p:cNvPr>
          <p:cNvSpPr txBox="1">
            <a:spLocks noChangeArrowheads="1"/>
          </p:cNvSpPr>
          <p:nvPr/>
        </p:nvSpPr>
        <p:spPr bwMode="auto">
          <a:xfrm>
            <a:off x="910461" y="1423231"/>
            <a:ext cx="3914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(a)</a:t>
            </a:r>
          </a:p>
        </p:txBody>
      </p:sp>
      <p:sp>
        <p:nvSpPr>
          <p:cNvPr id="225" name="Line 19">
            <a:extLst>
              <a:ext uri="{FF2B5EF4-FFF2-40B4-BE49-F238E27FC236}">
                <a16:creationId xmlns:a16="http://schemas.microsoft.com/office/drawing/2014/main" id="{310BA077-2C1D-FA3E-C745-4F4CFBA2FBBB}"/>
              </a:ext>
            </a:extLst>
          </p:cNvPr>
          <p:cNvSpPr>
            <a:spLocks noChangeShapeType="1"/>
          </p:cNvSpPr>
          <p:nvPr/>
        </p:nvSpPr>
        <p:spPr bwMode="auto">
          <a:xfrm flipV="1">
            <a:off x="2347453" y="1671040"/>
            <a:ext cx="0" cy="181134"/>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6" name="Line 19">
            <a:extLst>
              <a:ext uri="{FF2B5EF4-FFF2-40B4-BE49-F238E27FC236}">
                <a16:creationId xmlns:a16="http://schemas.microsoft.com/office/drawing/2014/main" id="{5E7F46B5-C799-8C3B-1D95-19AB5C044155}"/>
              </a:ext>
            </a:extLst>
          </p:cNvPr>
          <p:cNvSpPr>
            <a:spLocks noChangeShapeType="1"/>
          </p:cNvSpPr>
          <p:nvPr/>
        </p:nvSpPr>
        <p:spPr bwMode="auto">
          <a:xfrm flipV="1">
            <a:off x="3206450" y="1679930"/>
            <a:ext cx="0" cy="181134"/>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cxnSp>
        <p:nvCxnSpPr>
          <p:cNvPr id="227" name="直接连接符 226">
            <a:extLst>
              <a:ext uri="{FF2B5EF4-FFF2-40B4-BE49-F238E27FC236}">
                <a16:creationId xmlns:a16="http://schemas.microsoft.com/office/drawing/2014/main" id="{48F69DEA-1FE5-4868-FDB2-013C0E2B1FBD}"/>
              </a:ext>
            </a:extLst>
          </p:cNvPr>
          <p:cNvCxnSpPr>
            <a:cxnSpLocks/>
          </p:cNvCxnSpPr>
          <p:nvPr/>
        </p:nvCxnSpPr>
        <p:spPr>
          <a:xfrm>
            <a:off x="3177557" y="1246542"/>
            <a:ext cx="0" cy="407829"/>
          </a:xfrm>
          <a:prstGeom prst="line">
            <a:avLst/>
          </a:prstGeom>
          <a:noFill/>
          <a:ln w="12700" cap="flat" cmpd="sng" algn="ctr">
            <a:solidFill>
              <a:srgbClr val="000000"/>
            </a:solidFill>
            <a:prstDash val="solid"/>
          </a:ln>
          <a:effectLst/>
        </p:spPr>
      </p:cxnSp>
      <p:sp>
        <p:nvSpPr>
          <p:cNvPr id="228" name="Text Box 27">
            <a:extLst>
              <a:ext uri="{FF2B5EF4-FFF2-40B4-BE49-F238E27FC236}">
                <a16:creationId xmlns:a16="http://schemas.microsoft.com/office/drawing/2014/main" id="{3BF967EB-E744-3A48-5472-E48375753958}"/>
              </a:ext>
            </a:extLst>
          </p:cNvPr>
          <p:cNvSpPr txBox="1">
            <a:spLocks noChangeArrowheads="1"/>
          </p:cNvSpPr>
          <p:nvPr/>
        </p:nvSpPr>
        <p:spPr bwMode="auto">
          <a:xfrm>
            <a:off x="3286143" y="999633"/>
            <a:ext cx="9541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接收缓冲区</a:t>
            </a:r>
          </a:p>
        </p:txBody>
      </p:sp>
      <p:sp>
        <p:nvSpPr>
          <p:cNvPr id="229" name="Text Box 20">
            <a:extLst>
              <a:ext uri="{FF2B5EF4-FFF2-40B4-BE49-F238E27FC236}">
                <a16:creationId xmlns:a16="http://schemas.microsoft.com/office/drawing/2014/main" id="{6D9FB196-8A58-2994-8FCF-35C11A182827}"/>
              </a:ext>
            </a:extLst>
          </p:cNvPr>
          <p:cNvSpPr txBox="1">
            <a:spLocks noChangeArrowheads="1"/>
          </p:cNvSpPr>
          <p:nvPr/>
        </p:nvSpPr>
        <p:spPr bwMode="auto">
          <a:xfrm>
            <a:off x="1856509" y="1832171"/>
            <a:ext cx="9541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下一个读取</a:t>
            </a:r>
            <a:endPar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的字节</a:t>
            </a:r>
          </a:p>
        </p:txBody>
      </p:sp>
      <p:sp>
        <p:nvSpPr>
          <p:cNvPr id="230" name="Text Box 20">
            <a:extLst>
              <a:ext uri="{FF2B5EF4-FFF2-40B4-BE49-F238E27FC236}">
                <a16:creationId xmlns:a16="http://schemas.microsoft.com/office/drawing/2014/main" id="{43F4129A-8E7D-4875-8CCD-9E54D7411C90}"/>
              </a:ext>
            </a:extLst>
          </p:cNvPr>
          <p:cNvSpPr txBox="1">
            <a:spLocks noChangeArrowheads="1"/>
          </p:cNvSpPr>
          <p:nvPr/>
        </p:nvSpPr>
        <p:spPr bwMode="auto">
          <a:xfrm>
            <a:off x="2706615" y="1827726"/>
            <a:ext cx="9541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下一个期望</a:t>
            </a:r>
            <a:endPar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收到的字节</a:t>
            </a:r>
          </a:p>
        </p:txBody>
      </p:sp>
      <p:sp>
        <p:nvSpPr>
          <p:cNvPr id="231" name="Text Box 20">
            <a:extLst>
              <a:ext uri="{FF2B5EF4-FFF2-40B4-BE49-F238E27FC236}">
                <a16:creationId xmlns:a16="http://schemas.microsoft.com/office/drawing/2014/main" id="{5C97102F-D8E8-8922-930D-8A0C7DAF8EAA}"/>
              </a:ext>
            </a:extLst>
          </p:cNvPr>
          <p:cNvSpPr txBox="1">
            <a:spLocks noChangeArrowheads="1"/>
          </p:cNvSpPr>
          <p:nvPr/>
        </p:nvSpPr>
        <p:spPr bwMode="auto">
          <a:xfrm>
            <a:off x="3840069" y="1819947"/>
            <a:ext cx="6463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未按序</a:t>
            </a:r>
            <a:endPar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收到的</a:t>
            </a:r>
          </a:p>
        </p:txBody>
      </p:sp>
      <p:sp>
        <p:nvSpPr>
          <p:cNvPr id="232" name="Line 19">
            <a:extLst>
              <a:ext uri="{FF2B5EF4-FFF2-40B4-BE49-F238E27FC236}">
                <a16:creationId xmlns:a16="http://schemas.microsoft.com/office/drawing/2014/main" id="{0B1BE178-E212-5E30-9D4F-0CB872FA754B}"/>
              </a:ext>
            </a:extLst>
          </p:cNvPr>
          <p:cNvSpPr>
            <a:spLocks noChangeShapeType="1"/>
          </p:cNvSpPr>
          <p:nvPr/>
        </p:nvSpPr>
        <p:spPr bwMode="auto">
          <a:xfrm flipV="1">
            <a:off x="4163236" y="1681042"/>
            <a:ext cx="0" cy="181133"/>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33" name="Text Box 20">
            <a:extLst>
              <a:ext uri="{FF2B5EF4-FFF2-40B4-BE49-F238E27FC236}">
                <a16:creationId xmlns:a16="http://schemas.microsoft.com/office/drawing/2014/main" id="{D9F883D0-16E6-54CF-33F6-F941517D8A0E}"/>
              </a:ext>
            </a:extLst>
          </p:cNvPr>
          <p:cNvSpPr txBox="1">
            <a:spLocks noChangeArrowheads="1"/>
          </p:cNvSpPr>
          <p:nvPr/>
        </p:nvSpPr>
        <p:spPr bwMode="auto">
          <a:xfrm>
            <a:off x="2278978" y="1397177"/>
            <a:ext cx="9541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尚未读取的</a:t>
            </a:r>
          </a:p>
        </p:txBody>
      </p:sp>
      <p:cxnSp>
        <p:nvCxnSpPr>
          <p:cNvPr id="234" name="直接连接符 233">
            <a:extLst>
              <a:ext uri="{FF2B5EF4-FFF2-40B4-BE49-F238E27FC236}">
                <a16:creationId xmlns:a16="http://schemas.microsoft.com/office/drawing/2014/main" id="{3ED05139-4333-2BD9-DF1E-EAF8ECB1DA3F}"/>
              </a:ext>
            </a:extLst>
          </p:cNvPr>
          <p:cNvCxnSpPr>
            <a:cxnSpLocks/>
          </p:cNvCxnSpPr>
          <p:nvPr/>
        </p:nvCxnSpPr>
        <p:spPr>
          <a:xfrm>
            <a:off x="2318560" y="1084300"/>
            <a:ext cx="0" cy="570072"/>
          </a:xfrm>
          <a:prstGeom prst="line">
            <a:avLst/>
          </a:prstGeom>
          <a:noFill/>
          <a:ln w="9525" cap="flat" cmpd="sng" algn="ctr">
            <a:solidFill>
              <a:srgbClr val="000000"/>
            </a:solidFill>
            <a:prstDash val="solid"/>
          </a:ln>
          <a:effectLst/>
        </p:spPr>
      </p:cxnSp>
      <p:cxnSp>
        <p:nvCxnSpPr>
          <p:cNvPr id="235" name="直接连接符 234">
            <a:extLst>
              <a:ext uri="{FF2B5EF4-FFF2-40B4-BE49-F238E27FC236}">
                <a16:creationId xmlns:a16="http://schemas.microsoft.com/office/drawing/2014/main" id="{0C99D986-92AB-BEAB-47BD-A8F27EEE2080}"/>
              </a:ext>
            </a:extLst>
          </p:cNvPr>
          <p:cNvCxnSpPr>
            <a:cxnSpLocks/>
          </p:cNvCxnSpPr>
          <p:nvPr/>
        </p:nvCxnSpPr>
        <p:spPr>
          <a:xfrm>
            <a:off x="6000132" y="1095412"/>
            <a:ext cx="0" cy="570072"/>
          </a:xfrm>
          <a:prstGeom prst="line">
            <a:avLst/>
          </a:prstGeom>
          <a:noFill/>
          <a:ln w="9525" cap="flat" cmpd="sng" algn="ctr">
            <a:solidFill>
              <a:srgbClr val="000000"/>
            </a:solidFill>
            <a:prstDash val="solid"/>
          </a:ln>
          <a:effectLst/>
        </p:spPr>
      </p:cxnSp>
      <p:cxnSp>
        <p:nvCxnSpPr>
          <p:cNvPr id="236" name="直接连接符 235">
            <a:extLst>
              <a:ext uri="{FF2B5EF4-FFF2-40B4-BE49-F238E27FC236}">
                <a16:creationId xmlns:a16="http://schemas.microsoft.com/office/drawing/2014/main" id="{FD234410-E48E-B443-4730-D2237F783E0F}"/>
              </a:ext>
            </a:extLst>
          </p:cNvPr>
          <p:cNvCxnSpPr>
            <a:cxnSpLocks/>
          </p:cNvCxnSpPr>
          <p:nvPr/>
        </p:nvCxnSpPr>
        <p:spPr>
          <a:xfrm flipH="1">
            <a:off x="2311252" y="1419897"/>
            <a:ext cx="5555" cy="252254"/>
          </a:xfrm>
          <a:prstGeom prst="line">
            <a:avLst/>
          </a:prstGeom>
          <a:noFill/>
          <a:ln w="19050" cap="flat" cmpd="sng" algn="ctr">
            <a:solidFill>
              <a:srgbClr val="000000"/>
            </a:solidFill>
            <a:prstDash val="solid"/>
          </a:ln>
          <a:effectLst/>
        </p:spPr>
      </p:cxnSp>
      <p:cxnSp>
        <p:nvCxnSpPr>
          <p:cNvPr id="237" name="直接连接符 236">
            <a:extLst>
              <a:ext uri="{FF2B5EF4-FFF2-40B4-BE49-F238E27FC236}">
                <a16:creationId xmlns:a16="http://schemas.microsoft.com/office/drawing/2014/main" id="{930665D9-5239-604E-543F-2B18EA4BEE45}"/>
              </a:ext>
            </a:extLst>
          </p:cNvPr>
          <p:cNvCxnSpPr>
            <a:cxnSpLocks/>
          </p:cNvCxnSpPr>
          <p:nvPr/>
        </p:nvCxnSpPr>
        <p:spPr>
          <a:xfrm>
            <a:off x="6000132" y="1407674"/>
            <a:ext cx="5556" cy="258921"/>
          </a:xfrm>
          <a:prstGeom prst="line">
            <a:avLst/>
          </a:prstGeom>
          <a:noFill/>
          <a:ln w="19050" cap="flat" cmpd="sng" algn="ctr">
            <a:solidFill>
              <a:srgbClr val="000000"/>
            </a:solidFill>
            <a:prstDash val="solid"/>
          </a:ln>
          <a:effectLst/>
        </p:spPr>
      </p:cxnSp>
      <p:sp>
        <p:nvSpPr>
          <p:cNvPr id="279" name="Line 16">
            <a:extLst>
              <a:ext uri="{FF2B5EF4-FFF2-40B4-BE49-F238E27FC236}">
                <a16:creationId xmlns:a16="http://schemas.microsoft.com/office/drawing/2014/main" id="{2069E416-A2A1-E887-9005-2344DAB9EFF8}"/>
              </a:ext>
            </a:extLst>
          </p:cNvPr>
          <p:cNvSpPr>
            <a:spLocks noChangeShapeType="1"/>
          </p:cNvSpPr>
          <p:nvPr/>
        </p:nvSpPr>
        <p:spPr bwMode="auto">
          <a:xfrm flipH="1">
            <a:off x="4316588" y="1406562"/>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86" name="Text Box 44">
            <a:extLst>
              <a:ext uri="{FF2B5EF4-FFF2-40B4-BE49-F238E27FC236}">
                <a16:creationId xmlns:a16="http://schemas.microsoft.com/office/drawing/2014/main" id="{8D3E2E2C-A860-1352-4344-3A4F4A81A52C}"/>
              </a:ext>
            </a:extLst>
          </p:cNvPr>
          <p:cNvSpPr txBox="1">
            <a:spLocks noChangeArrowheads="1"/>
          </p:cNvSpPr>
          <p:nvPr/>
        </p:nvSpPr>
        <p:spPr bwMode="auto">
          <a:xfrm>
            <a:off x="2047049" y="1042072"/>
            <a:ext cx="3385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后</a:t>
            </a:r>
          </a:p>
        </p:txBody>
      </p:sp>
      <p:sp>
        <p:nvSpPr>
          <p:cNvPr id="289" name="Text Box 44">
            <a:extLst>
              <a:ext uri="{FF2B5EF4-FFF2-40B4-BE49-F238E27FC236}">
                <a16:creationId xmlns:a16="http://schemas.microsoft.com/office/drawing/2014/main" id="{3E7253B6-C6CF-E74B-6CBC-6AF3A3114F99}"/>
              </a:ext>
            </a:extLst>
          </p:cNvPr>
          <p:cNvSpPr txBox="1">
            <a:spLocks noChangeArrowheads="1"/>
          </p:cNvSpPr>
          <p:nvPr/>
        </p:nvSpPr>
        <p:spPr bwMode="auto">
          <a:xfrm>
            <a:off x="5958093" y="1020959"/>
            <a:ext cx="3385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前</a:t>
            </a:r>
          </a:p>
        </p:txBody>
      </p:sp>
      <p:sp>
        <p:nvSpPr>
          <p:cNvPr id="292" name="Text Box 20">
            <a:extLst>
              <a:ext uri="{FF2B5EF4-FFF2-40B4-BE49-F238E27FC236}">
                <a16:creationId xmlns:a16="http://schemas.microsoft.com/office/drawing/2014/main" id="{D0F38E47-104E-A30D-6EC8-40559A385B2D}"/>
              </a:ext>
            </a:extLst>
          </p:cNvPr>
          <p:cNvSpPr txBox="1">
            <a:spLocks noChangeArrowheads="1"/>
          </p:cNvSpPr>
          <p:nvPr/>
        </p:nvSpPr>
        <p:spPr bwMode="auto">
          <a:xfrm>
            <a:off x="1536677" y="1410233"/>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已读取的</a:t>
            </a:r>
          </a:p>
        </p:txBody>
      </p:sp>
      <p:sp>
        <p:nvSpPr>
          <p:cNvPr id="309" name="Rectangle 8">
            <a:extLst>
              <a:ext uri="{FF2B5EF4-FFF2-40B4-BE49-F238E27FC236}">
                <a16:creationId xmlns:a16="http://schemas.microsoft.com/office/drawing/2014/main" id="{946D9FB0-3992-C36B-9ED4-B3C18C675B9D}"/>
              </a:ext>
            </a:extLst>
          </p:cNvPr>
          <p:cNvSpPr>
            <a:spLocks noChangeArrowheads="1"/>
          </p:cNvSpPr>
          <p:nvPr/>
        </p:nvSpPr>
        <p:spPr bwMode="auto">
          <a:xfrm>
            <a:off x="556963" y="2527579"/>
            <a:ext cx="8048776" cy="2163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接收缓冲区用来暂时存放接收到的数据，包括按序到达但还尚未被应用程序读取的数据，以及未按序到达的数据。</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应用程序应在合适时机按序读取在接收缓冲区中的数据。</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未按序到达的数据，只要其序号在接收窗口之内，都要收下暂存，但不能被应用程序读取，也不影响接收窗口的大小与位置。</a:t>
            </a:r>
            <a:endParaRPr lang="en-US" altLang="zh-CN" sz="2000" b="1" dirty="0">
              <a:latin typeface="微软雅黑" pitchFamily="34" charset="-122"/>
              <a:ea typeface="微软雅黑" pitchFamily="34" charset="-122"/>
            </a:endParaRPr>
          </a:p>
        </p:txBody>
      </p:sp>
      <p:sp>
        <p:nvSpPr>
          <p:cNvPr id="310" name="对话气泡: 圆角矩形 309">
            <a:extLst>
              <a:ext uri="{FF2B5EF4-FFF2-40B4-BE49-F238E27FC236}">
                <a16:creationId xmlns:a16="http://schemas.microsoft.com/office/drawing/2014/main" id="{A2F1C3DD-EE2E-45D8-E759-427B2A3D0BDA}"/>
              </a:ext>
            </a:extLst>
          </p:cNvPr>
          <p:cNvSpPr/>
          <p:nvPr/>
        </p:nvSpPr>
        <p:spPr>
          <a:xfrm>
            <a:off x="4554495" y="1761608"/>
            <a:ext cx="1012867" cy="461666"/>
          </a:xfrm>
          <a:prstGeom prst="wedgeRoundRectCallout">
            <a:avLst>
              <a:gd name="adj1" fmla="val -82121"/>
              <a:gd name="adj2" fmla="val -84246"/>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200" b="1" dirty="0">
                <a:latin typeface="微软雅黑" panose="020B0503020204020204" pitchFamily="34" charset="-122"/>
                <a:ea typeface="微软雅黑" panose="020B0503020204020204" pitchFamily="34" charset="-122"/>
              </a:rPr>
              <a:t>不能被应用程序读取</a:t>
            </a:r>
          </a:p>
        </p:txBody>
      </p:sp>
    </p:spTree>
    <p:extLst>
      <p:ext uri="{BB962C8B-B14F-4D97-AF65-F5344CB8AC3E}">
        <p14:creationId xmlns:p14="http://schemas.microsoft.com/office/powerpoint/2010/main" val="572961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62"/>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228"/>
                                        </p:tgtEl>
                                        <p:attrNameLst>
                                          <p:attrName>style.visibility</p:attrName>
                                        </p:attrNameLst>
                                      </p:cBhvr>
                                      <p:tavLst>
                                        <p:tav tm="0">
                                          <p:val>
                                            <p:strVal val="hidden"/>
                                          </p:val>
                                        </p:tav>
                                        <p:tav tm="50000">
                                          <p:val>
                                            <p:strVal val="visible"/>
                                          </p:val>
                                        </p:tav>
                                      </p:tavLst>
                                    </p:anim>
                                  </p:childTnLst>
                                </p:cTn>
                              </p:par>
                              <p:par>
                                <p:cTn id="11" presetID="42" presetClass="entr" presetSubtype="0" fill="hold" nodeType="withEffect">
                                  <p:stCondLst>
                                    <p:cond delay="0"/>
                                  </p:stCondLst>
                                  <p:childTnLst>
                                    <p:set>
                                      <p:cBhvr>
                                        <p:cTn id="12" dur="1" fill="hold">
                                          <p:stCondLst>
                                            <p:cond delay="0"/>
                                          </p:stCondLst>
                                        </p:cTn>
                                        <p:tgtEl>
                                          <p:spTgt spid="309">
                                            <p:txEl>
                                              <p:pRg st="0" end="0"/>
                                            </p:txEl>
                                          </p:spTgt>
                                        </p:tgtEl>
                                        <p:attrNameLst>
                                          <p:attrName>style.visibility</p:attrName>
                                        </p:attrNameLst>
                                      </p:cBhvr>
                                      <p:to>
                                        <p:strVal val="visible"/>
                                      </p:to>
                                    </p:set>
                                    <p:animEffect transition="in" filter="fade">
                                      <p:cBhvr>
                                        <p:cTn id="13" dur="1000"/>
                                        <p:tgtEl>
                                          <p:spTgt spid="309">
                                            <p:txEl>
                                              <p:pRg st="0" end="0"/>
                                            </p:txEl>
                                          </p:spTgt>
                                        </p:tgtEl>
                                      </p:cBhvr>
                                    </p:animEffect>
                                    <p:anim calcmode="lin" valueType="num">
                                      <p:cBhvr>
                                        <p:cTn id="14" dur="1000" fill="hold"/>
                                        <p:tgtEl>
                                          <p:spTgt spid="309">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09">
                                            <p:txEl>
                                              <p:pRg st="0" end="0"/>
                                            </p:txEl>
                                          </p:spTgt>
                                        </p:tgtEl>
                                        <p:attrNameLst>
                                          <p:attrName>ppt_y</p:attrName>
                                        </p:attrNameLst>
                                      </p:cBhvr>
                                      <p:tavLst>
                                        <p:tav tm="0">
                                          <p:val>
                                            <p:strVal val="#ppt_y+.1"/>
                                          </p:val>
                                        </p:tav>
                                        <p:tav tm="100000">
                                          <p:val>
                                            <p:strVal val="#ppt_y"/>
                                          </p:val>
                                        </p:tav>
                                      </p:tavLst>
                                    </p:anim>
                                  </p:childTnLst>
                                </p:cTn>
                              </p:par>
                              <p:par>
                                <p:cTn id="16" presetID="35" presetClass="emph" presetSubtype="0" repeatCount="3000" fill="hold" nodeType="withEffect">
                                  <p:stCondLst>
                                    <p:cond delay="0"/>
                                  </p:stCondLst>
                                  <p:childTnLst>
                                    <p:anim calcmode="discrete" valueType="str">
                                      <p:cBhvr>
                                        <p:cTn id="17" dur="1000" fill="hold"/>
                                        <p:tgtEl>
                                          <p:spTgt spid="209"/>
                                        </p:tgtEl>
                                        <p:attrNameLst>
                                          <p:attrName>style.visibility</p:attrName>
                                        </p:attrNameLst>
                                      </p:cBhvr>
                                      <p:tavLst>
                                        <p:tav tm="0">
                                          <p:val>
                                            <p:strVal val="hidden"/>
                                          </p:val>
                                        </p:tav>
                                        <p:tav tm="50000">
                                          <p:val>
                                            <p:strVal val="visible"/>
                                          </p:val>
                                        </p:tav>
                                      </p:tavLst>
                                    </p:anim>
                                  </p:childTnLst>
                                </p:cTn>
                              </p:par>
                            </p:childTnLst>
                          </p:cTn>
                        </p:par>
                      </p:childTnLst>
                    </p:cTn>
                  </p:par>
                  <p:par>
                    <p:cTn id="18" fill="hold">
                      <p:stCondLst>
                        <p:cond delay="indefinite"/>
                      </p:stCondLst>
                      <p:childTnLst>
                        <p:par>
                          <p:cTn id="19" fill="hold">
                            <p:stCondLst>
                              <p:cond delay="0"/>
                            </p:stCondLst>
                            <p:childTnLst>
                              <p:par>
                                <p:cTn id="20" presetID="35" presetClass="emph" presetSubtype="0" repeatCount="3000" fill="hold" grpId="0" nodeType="clickEffect">
                                  <p:stCondLst>
                                    <p:cond delay="0"/>
                                  </p:stCondLst>
                                  <p:childTnLst>
                                    <p:anim calcmode="discrete" valueType="str">
                                      <p:cBhvr>
                                        <p:cTn id="21" dur="1000" fill="hold"/>
                                        <p:tgtEl>
                                          <p:spTgt spid="233"/>
                                        </p:tgtEl>
                                        <p:attrNameLst>
                                          <p:attrName>style.visibility</p:attrName>
                                        </p:attrNameLst>
                                      </p:cBhvr>
                                      <p:tavLst>
                                        <p:tav tm="0">
                                          <p:val>
                                            <p:strVal val="hidden"/>
                                          </p:val>
                                        </p:tav>
                                        <p:tav tm="50000">
                                          <p:val>
                                            <p:strVal val="visible"/>
                                          </p:val>
                                        </p:tav>
                                      </p:tavLst>
                                    </p:anim>
                                  </p:childTnLst>
                                </p:cTn>
                              </p:par>
                            </p:childTnLst>
                          </p:cTn>
                        </p:par>
                      </p:childTnLst>
                    </p:cTn>
                  </p:par>
                  <p:par>
                    <p:cTn id="22" fill="hold">
                      <p:stCondLst>
                        <p:cond delay="indefinite"/>
                      </p:stCondLst>
                      <p:childTnLst>
                        <p:par>
                          <p:cTn id="23" fill="hold">
                            <p:stCondLst>
                              <p:cond delay="0"/>
                            </p:stCondLst>
                            <p:childTnLst>
                              <p:par>
                                <p:cTn id="24" presetID="35" presetClass="emph" presetSubtype="0" repeatCount="3000" fill="hold" grpId="0" nodeType="clickEffect">
                                  <p:stCondLst>
                                    <p:cond delay="0"/>
                                  </p:stCondLst>
                                  <p:childTnLst>
                                    <p:anim calcmode="discrete" valueType="str">
                                      <p:cBhvr>
                                        <p:cTn id="25" dur="1000" fill="hold"/>
                                        <p:tgtEl>
                                          <p:spTgt spid="213"/>
                                        </p:tgtEl>
                                        <p:attrNameLst>
                                          <p:attrName>style.visibility</p:attrName>
                                        </p:attrNameLst>
                                      </p:cBhvr>
                                      <p:tavLst>
                                        <p:tav tm="0">
                                          <p:val>
                                            <p:strVal val="hidden"/>
                                          </p:val>
                                        </p:tav>
                                        <p:tav tm="50000">
                                          <p:val>
                                            <p:strVal val="visible"/>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309">
                                            <p:txEl>
                                              <p:pRg st="1" end="1"/>
                                            </p:txEl>
                                          </p:spTgt>
                                        </p:tgtEl>
                                        <p:attrNameLst>
                                          <p:attrName>style.visibility</p:attrName>
                                        </p:attrNameLst>
                                      </p:cBhvr>
                                      <p:to>
                                        <p:strVal val="visible"/>
                                      </p:to>
                                    </p:set>
                                    <p:animEffect transition="in" filter="fade">
                                      <p:cBhvr>
                                        <p:cTn id="30" dur="1000"/>
                                        <p:tgtEl>
                                          <p:spTgt spid="309">
                                            <p:txEl>
                                              <p:pRg st="1" end="1"/>
                                            </p:txEl>
                                          </p:spTgt>
                                        </p:tgtEl>
                                      </p:cBhvr>
                                    </p:animEffect>
                                    <p:anim calcmode="lin" valueType="num">
                                      <p:cBhvr>
                                        <p:cTn id="31" dur="1000" fill="hold"/>
                                        <p:tgtEl>
                                          <p:spTgt spid="309">
                                            <p:txEl>
                                              <p:pRg st="1" end="1"/>
                                            </p:txEl>
                                          </p:spTgt>
                                        </p:tgtEl>
                                        <p:attrNameLst>
                                          <p:attrName>ppt_x</p:attrName>
                                        </p:attrNameLst>
                                      </p:cBhvr>
                                      <p:tavLst>
                                        <p:tav tm="0">
                                          <p:val>
                                            <p:strVal val="#ppt_x"/>
                                          </p:val>
                                        </p:tav>
                                        <p:tav tm="100000">
                                          <p:val>
                                            <p:strVal val="#ppt_x"/>
                                          </p:val>
                                        </p:tav>
                                      </p:tavLst>
                                    </p:anim>
                                    <p:anim calcmode="lin" valueType="num">
                                      <p:cBhvr>
                                        <p:cTn id="32" dur="1000" fill="hold"/>
                                        <p:tgtEl>
                                          <p:spTgt spid="30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5" presetClass="emph" presetSubtype="0" repeatCount="3000" fill="hold" grpId="0" nodeType="clickEffect">
                                  <p:stCondLst>
                                    <p:cond delay="0"/>
                                  </p:stCondLst>
                                  <p:childTnLst>
                                    <p:anim calcmode="discrete" valueType="str">
                                      <p:cBhvr>
                                        <p:cTn id="36" dur="1000" fill="hold"/>
                                        <p:tgtEl>
                                          <p:spTgt spid="229"/>
                                        </p:tgtEl>
                                        <p:attrNameLst>
                                          <p:attrName>style.visibility</p:attrName>
                                        </p:attrNameLst>
                                      </p:cBhvr>
                                      <p:tavLst>
                                        <p:tav tm="0">
                                          <p:val>
                                            <p:strVal val="hidden"/>
                                          </p:val>
                                        </p:tav>
                                        <p:tav tm="50000">
                                          <p:val>
                                            <p:strVal val="visible"/>
                                          </p:val>
                                        </p:tav>
                                      </p:tavLst>
                                    </p:anim>
                                  </p:childTnLst>
                                </p:cTn>
                              </p:par>
                            </p:childTnLst>
                          </p:cTn>
                        </p:par>
                      </p:childTnLst>
                    </p:cTn>
                  </p:par>
                  <p:par>
                    <p:cTn id="37" fill="hold">
                      <p:stCondLst>
                        <p:cond delay="indefinite"/>
                      </p:stCondLst>
                      <p:childTnLst>
                        <p:par>
                          <p:cTn id="38" fill="hold">
                            <p:stCondLst>
                              <p:cond delay="0"/>
                            </p:stCondLst>
                            <p:childTnLst>
                              <p:par>
                                <p:cTn id="39" presetID="35" presetClass="emph" presetSubtype="0" repeatCount="3000" fill="hold" grpId="0" nodeType="clickEffect">
                                  <p:stCondLst>
                                    <p:cond delay="0"/>
                                  </p:stCondLst>
                                  <p:childTnLst>
                                    <p:anim calcmode="discrete" valueType="str">
                                      <p:cBhvr>
                                        <p:cTn id="40" dur="1000" fill="hold"/>
                                        <p:tgtEl>
                                          <p:spTgt spid="231"/>
                                        </p:tgtEl>
                                        <p:attrNameLst>
                                          <p:attrName>style.visibility</p:attrName>
                                        </p:attrNameLst>
                                      </p:cBhvr>
                                      <p:tavLst>
                                        <p:tav tm="0">
                                          <p:val>
                                            <p:strVal val="hidden"/>
                                          </p:val>
                                        </p:tav>
                                        <p:tav tm="50000">
                                          <p:val>
                                            <p:strVal val="visible"/>
                                          </p:val>
                                        </p:tav>
                                      </p:tavLst>
                                    </p:anim>
                                  </p:childTnLst>
                                </p:cTn>
                              </p:par>
                              <p:par>
                                <p:cTn id="41" presetID="42" presetClass="entr" presetSubtype="0" fill="hold" nodeType="withEffect">
                                  <p:stCondLst>
                                    <p:cond delay="0"/>
                                  </p:stCondLst>
                                  <p:childTnLst>
                                    <p:set>
                                      <p:cBhvr>
                                        <p:cTn id="42" dur="1" fill="hold">
                                          <p:stCondLst>
                                            <p:cond delay="0"/>
                                          </p:stCondLst>
                                        </p:cTn>
                                        <p:tgtEl>
                                          <p:spTgt spid="309">
                                            <p:txEl>
                                              <p:pRg st="2" end="2"/>
                                            </p:txEl>
                                          </p:spTgt>
                                        </p:tgtEl>
                                        <p:attrNameLst>
                                          <p:attrName>style.visibility</p:attrName>
                                        </p:attrNameLst>
                                      </p:cBhvr>
                                      <p:to>
                                        <p:strVal val="visible"/>
                                      </p:to>
                                    </p:set>
                                    <p:animEffect transition="in" filter="fade">
                                      <p:cBhvr>
                                        <p:cTn id="43" dur="1000"/>
                                        <p:tgtEl>
                                          <p:spTgt spid="309">
                                            <p:txEl>
                                              <p:pRg st="2" end="2"/>
                                            </p:txEl>
                                          </p:spTgt>
                                        </p:tgtEl>
                                      </p:cBhvr>
                                    </p:animEffect>
                                    <p:anim calcmode="lin" valueType="num">
                                      <p:cBhvr>
                                        <p:cTn id="44" dur="1000" fill="hold"/>
                                        <p:tgtEl>
                                          <p:spTgt spid="309">
                                            <p:txEl>
                                              <p:pRg st="2" end="2"/>
                                            </p:txEl>
                                          </p:spTgt>
                                        </p:tgtEl>
                                        <p:attrNameLst>
                                          <p:attrName>ppt_x</p:attrName>
                                        </p:attrNameLst>
                                      </p:cBhvr>
                                      <p:tavLst>
                                        <p:tav tm="0">
                                          <p:val>
                                            <p:strVal val="#ppt_x"/>
                                          </p:val>
                                        </p:tav>
                                        <p:tav tm="100000">
                                          <p:val>
                                            <p:strVal val="#ppt_x"/>
                                          </p:val>
                                        </p:tav>
                                      </p:tavLst>
                                    </p:anim>
                                    <p:anim calcmode="lin" valueType="num">
                                      <p:cBhvr>
                                        <p:cTn id="45" dur="1000" fill="hold"/>
                                        <p:tgtEl>
                                          <p:spTgt spid="30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310"/>
                                        </p:tgtEl>
                                        <p:attrNameLst>
                                          <p:attrName>style.visibility</p:attrName>
                                        </p:attrNameLst>
                                      </p:cBhvr>
                                      <p:to>
                                        <p:strVal val="visible"/>
                                      </p:to>
                                    </p:set>
                                    <p:anim calcmode="lin" valueType="num">
                                      <p:cBhvr>
                                        <p:cTn id="50" dur="500" fill="hold"/>
                                        <p:tgtEl>
                                          <p:spTgt spid="310"/>
                                        </p:tgtEl>
                                        <p:attrNameLst>
                                          <p:attrName>ppt_w</p:attrName>
                                        </p:attrNameLst>
                                      </p:cBhvr>
                                      <p:tavLst>
                                        <p:tav tm="0">
                                          <p:val>
                                            <p:fltVal val="0"/>
                                          </p:val>
                                        </p:tav>
                                        <p:tav tm="100000">
                                          <p:val>
                                            <p:strVal val="#ppt_w"/>
                                          </p:val>
                                        </p:tav>
                                      </p:tavLst>
                                    </p:anim>
                                    <p:anim calcmode="lin" valueType="num">
                                      <p:cBhvr>
                                        <p:cTn id="51" dur="500" fill="hold"/>
                                        <p:tgtEl>
                                          <p:spTgt spid="310"/>
                                        </p:tgtEl>
                                        <p:attrNameLst>
                                          <p:attrName>ppt_h</p:attrName>
                                        </p:attrNameLst>
                                      </p:cBhvr>
                                      <p:tavLst>
                                        <p:tav tm="0">
                                          <p:val>
                                            <p:fltVal val="0"/>
                                          </p:val>
                                        </p:tav>
                                        <p:tav tm="100000">
                                          <p:val>
                                            <p:strVal val="#ppt_h"/>
                                          </p:val>
                                        </p:tav>
                                      </p:tavLst>
                                    </p:anim>
                                    <p:animEffect transition="in" filter="fade">
                                      <p:cBhvr>
                                        <p:cTn id="52" dur="500"/>
                                        <p:tgtEl>
                                          <p:spTgt spid="310"/>
                                        </p:tgtEl>
                                      </p:cBhvr>
                                    </p:animEffect>
                                  </p:childTnLst>
                                </p:cTn>
                              </p:par>
                            </p:childTnLst>
                          </p:cTn>
                        </p:par>
                      </p:childTnLst>
                    </p:cTn>
                  </p:par>
                  <p:par>
                    <p:cTn id="53" fill="hold">
                      <p:stCondLst>
                        <p:cond delay="indefinite"/>
                      </p:stCondLst>
                      <p:childTnLst>
                        <p:par>
                          <p:cTn id="54" fill="hold">
                            <p:stCondLst>
                              <p:cond delay="0"/>
                            </p:stCondLst>
                            <p:childTnLst>
                              <p:par>
                                <p:cTn id="55" presetID="35" presetClass="emph" presetSubtype="0" repeatCount="3000" fill="hold" grpId="0" nodeType="clickEffect">
                                  <p:stCondLst>
                                    <p:cond delay="0"/>
                                  </p:stCondLst>
                                  <p:childTnLst>
                                    <p:anim calcmode="discrete" valueType="str">
                                      <p:cBhvr>
                                        <p:cTn id="56" dur="1000" fill="hold"/>
                                        <p:tgtEl>
                                          <p:spTgt spid="29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213" grpId="0" animBg="1"/>
      <p:bldP spid="228" grpId="0"/>
      <p:bldP spid="229" grpId="0"/>
      <p:bldP spid="231" grpId="0"/>
      <p:bldP spid="233" grpId="0"/>
      <p:bldP spid="292" grpId="0"/>
      <p:bldP spid="310"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B2608-CED0-8DD8-D019-3062BB72F878}"/>
            </a:ext>
          </a:extLst>
        </p:cNvPr>
        <p:cNvGrpSpPr/>
        <p:nvPr/>
      </p:nvGrpSpPr>
      <p:grpSpPr>
        <a:xfrm>
          <a:off x="0" y="0"/>
          <a:ext cx="0" cy="0"/>
          <a:chOff x="0" y="0"/>
          <a:chExt cx="0" cy="0"/>
        </a:xfrm>
      </p:grpSpPr>
      <p:sp>
        <p:nvSpPr>
          <p:cNvPr id="308" name="圆角矩形 60">
            <a:extLst>
              <a:ext uri="{FF2B5EF4-FFF2-40B4-BE49-F238E27FC236}">
                <a16:creationId xmlns:a16="http://schemas.microsoft.com/office/drawing/2014/main" id="{033A1D5C-497C-73C8-7ADF-31107F77E4A3}"/>
              </a:ext>
            </a:extLst>
          </p:cNvPr>
          <p:cNvSpPr/>
          <p:nvPr/>
        </p:nvSpPr>
        <p:spPr>
          <a:xfrm>
            <a:off x="545144" y="1020960"/>
            <a:ext cx="8053712" cy="134600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8" name="Rectangle 26">
            <a:extLst>
              <a:ext uri="{FF2B5EF4-FFF2-40B4-BE49-F238E27FC236}">
                <a16:creationId xmlns:a16="http://schemas.microsoft.com/office/drawing/2014/main" id="{A924D8CD-9C64-926C-9933-AD35CE353EAA}"/>
              </a:ext>
            </a:extLst>
          </p:cNvPr>
          <p:cNvSpPr>
            <a:spLocks noChangeArrowheads="1"/>
          </p:cNvSpPr>
          <p:nvPr/>
        </p:nvSpPr>
        <p:spPr bwMode="auto">
          <a:xfrm>
            <a:off x="2311252" y="1426565"/>
            <a:ext cx="866305" cy="237808"/>
          </a:xfrm>
          <a:prstGeom prst="rect">
            <a:avLst/>
          </a:prstGeom>
          <a:solidFill>
            <a:srgbClr val="92D050"/>
          </a:solidFill>
          <a:ln>
            <a:noFill/>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0" name="AutoShape 5">
            <a:extLst>
              <a:ext uri="{FF2B5EF4-FFF2-40B4-BE49-F238E27FC236}">
                <a16:creationId xmlns:a16="http://schemas.microsoft.com/office/drawing/2014/main" id="{9057401A-0244-4B8E-6EF0-6CF07101EE05}"/>
              </a:ext>
            </a:extLst>
          </p:cNvPr>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2" name="Rectangle 6">
            <a:extLst>
              <a:ext uri="{FF2B5EF4-FFF2-40B4-BE49-F238E27FC236}">
                <a16:creationId xmlns:a16="http://schemas.microsoft.com/office/drawing/2014/main" id="{758DAE70-5377-2F8A-C56F-D91FFA5073AF}"/>
              </a:ext>
            </a:extLst>
          </p:cNvPr>
          <p:cNvSpPr>
            <a:spLocks noChangeArrowheads="1"/>
          </p:cNvSpPr>
          <p:nvPr/>
        </p:nvSpPr>
        <p:spPr bwMode="auto">
          <a:xfrm>
            <a:off x="2832507" y="587638"/>
            <a:ext cx="349768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a:t>
            </a:r>
            <a:r>
              <a:rPr lang="zh-CN" altLang="en-US" sz="2000" b="1" dirty="0">
                <a:solidFill>
                  <a:schemeClr val="bg1"/>
                </a:solidFill>
                <a:latin typeface="微软雅黑" pitchFamily="34" charset="-122"/>
                <a:ea typeface="微软雅黑" pitchFamily="34" charset="-122"/>
              </a:rPr>
              <a:t>的接收缓冲区和接收窗口</a:t>
            </a:r>
          </a:p>
        </p:txBody>
      </p:sp>
      <p:cxnSp>
        <p:nvCxnSpPr>
          <p:cNvPr id="209" name="直接箭头连接符 208">
            <a:extLst>
              <a:ext uri="{FF2B5EF4-FFF2-40B4-BE49-F238E27FC236}">
                <a16:creationId xmlns:a16="http://schemas.microsoft.com/office/drawing/2014/main" id="{B460496A-6DB9-9CD3-BA8B-C532FEC53EA4}"/>
              </a:ext>
            </a:extLst>
          </p:cNvPr>
          <p:cNvCxnSpPr>
            <a:cxnSpLocks/>
          </p:cNvCxnSpPr>
          <p:nvPr/>
        </p:nvCxnSpPr>
        <p:spPr>
          <a:xfrm>
            <a:off x="2320783" y="1149864"/>
            <a:ext cx="3679349" cy="0"/>
          </a:xfrm>
          <a:prstGeom prst="straightConnector1">
            <a:avLst/>
          </a:prstGeom>
          <a:noFill/>
          <a:ln w="9525" cap="flat" cmpd="sng" algn="ctr">
            <a:solidFill>
              <a:srgbClr val="000000"/>
            </a:solidFill>
            <a:prstDash val="solid"/>
            <a:headEnd type="triangle" w="sm" len="lg"/>
            <a:tailEnd type="triangle" w="sm" len="lg"/>
          </a:ln>
          <a:effectLst/>
        </p:spPr>
      </p:cxnSp>
      <p:sp>
        <p:nvSpPr>
          <p:cNvPr id="210" name="矩形 209">
            <a:extLst>
              <a:ext uri="{FF2B5EF4-FFF2-40B4-BE49-F238E27FC236}">
                <a16:creationId xmlns:a16="http://schemas.microsoft.com/office/drawing/2014/main" id="{B89F0D96-5E5D-56E0-BDDD-05F6F0CD7455}"/>
              </a:ext>
            </a:extLst>
          </p:cNvPr>
          <p:cNvSpPr/>
          <p:nvPr/>
        </p:nvSpPr>
        <p:spPr>
          <a:xfrm>
            <a:off x="3361960" y="1070588"/>
            <a:ext cx="796767" cy="147797"/>
          </a:xfrm>
          <a:prstGeom prst="rect">
            <a:avLst/>
          </a:prstGeom>
          <a:solidFill>
            <a:srgbClr val="C3E3F9"/>
          </a:solidFill>
          <a:ln w="25400" cap="flat" cmpd="sng" algn="ctr">
            <a:noFill/>
            <a:prstDash val="solid"/>
          </a:ln>
          <a:effectLst/>
        </p:spPr>
        <p:txBody>
          <a:bodyPr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cxnSp>
        <p:nvCxnSpPr>
          <p:cNvPr id="211" name="直接箭头连接符 210">
            <a:extLst>
              <a:ext uri="{FF2B5EF4-FFF2-40B4-BE49-F238E27FC236}">
                <a16:creationId xmlns:a16="http://schemas.microsoft.com/office/drawing/2014/main" id="{C5135547-F3B1-3854-EC8E-8D47A101E0F3}"/>
              </a:ext>
            </a:extLst>
          </p:cNvPr>
          <p:cNvCxnSpPr>
            <a:cxnSpLocks/>
          </p:cNvCxnSpPr>
          <p:nvPr/>
        </p:nvCxnSpPr>
        <p:spPr>
          <a:xfrm>
            <a:off x="3184225" y="1329887"/>
            <a:ext cx="2815908" cy="0"/>
          </a:xfrm>
          <a:prstGeom prst="straightConnector1">
            <a:avLst/>
          </a:prstGeom>
          <a:noFill/>
          <a:ln w="9525" cap="flat" cmpd="sng" algn="ctr">
            <a:solidFill>
              <a:srgbClr val="000000"/>
            </a:solidFill>
            <a:prstDash val="solid"/>
            <a:headEnd type="triangle" w="sm" len="lg"/>
            <a:tailEnd type="triangle" w="sm" len="lg"/>
          </a:ln>
          <a:effectLst/>
        </p:spPr>
      </p:cxnSp>
      <p:sp>
        <p:nvSpPr>
          <p:cNvPr id="212" name="矩形 211">
            <a:extLst>
              <a:ext uri="{FF2B5EF4-FFF2-40B4-BE49-F238E27FC236}">
                <a16:creationId xmlns:a16="http://schemas.microsoft.com/office/drawing/2014/main" id="{F0CD0782-BC44-67A2-8D37-6640A15F2CAC}"/>
              </a:ext>
            </a:extLst>
          </p:cNvPr>
          <p:cNvSpPr/>
          <p:nvPr/>
        </p:nvSpPr>
        <p:spPr>
          <a:xfrm>
            <a:off x="4245805" y="1268471"/>
            <a:ext cx="724197" cy="116979"/>
          </a:xfrm>
          <a:prstGeom prst="rect">
            <a:avLst/>
          </a:prstGeom>
          <a:solidFill>
            <a:srgbClr val="C3E3F9"/>
          </a:solidFill>
          <a:ln w="25400" cap="flat" cmpd="sng" algn="ctr">
            <a:noFill/>
            <a:prstDash val="solid"/>
          </a:ln>
          <a:effectLst/>
        </p:spPr>
        <p:txBody>
          <a:bodyPr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13" name="Rectangle 14">
            <a:extLst>
              <a:ext uri="{FF2B5EF4-FFF2-40B4-BE49-F238E27FC236}">
                <a16:creationId xmlns:a16="http://schemas.microsoft.com/office/drawing/2014/main" id="{3B82B689-C450-FAE5-355E-128B43286ED2}"/>
              </a:ext>
            </a:extLst>
          </p:cNvPr>
          <p:cNvSpPr>
            <a:spLocks noChangeArrowheads="1"/>
          </p:cNvSpPr>
          <p:nvPr/>
        </p:nvSpPr>
        <p:spPr bwMode="auto">
          <a:xfrm>
            <a:off x="4028775" y="1419897"/>
            <a:ext cx="290204" cy="252254"/>
          </a:xfrm>
          <a:prstGeom prst="rect">
            <a:avLst/>
          </a:prstGeom>
          <a:solidFill>
            <a:srgbClr val="FFC000"/>
          </a:solidFill>
          <a:ln>
            <a:noFill/>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nvGrpSpPr>
          <p:cNvPr id="214" name="组合 2">
            <a:extLst>
              <a:ext uri="{FF2B5EF4-FFF2-40B4-BE49-F238E27FC236}">
                <a16:creationId xmlns:a16="http://schemas.microsoft.com/office/drawing/2014/main" id="{FF7DF2C0-C905-5B2E-6408-7B62FCBC9ADC}"/>
              </a:ext>
            </a:extLst>
          </p:cNvPr>
          <p:cNvGrpSpPr>
            <a:grpSpLocks/>
          </p:cNvGrpSpPr>
          <p:nvPr/>
        </p:nvGrpSpPr>
        <p:grpSpPr bwMode="auto">
          <a:xfrm>
            <a:off x="1537352" y="1418787"/>
            <a:ext cx="6521927" cy="246698"/>
            <a:chOff x="1408113" y="1868488"/>
            <a:chExt cx="4040187" cy="352425"/>
          </a:xfrm>
        </p:grpSpPr>
        <p:sp>
          <p:nvSpPr>
            <p:cNvPr id="299" name="Line 10">
              <a:extLst>
                <a:ext uri="{FF2B5EF4-FFF2-40B4-BE49-F238E27FC236}">
                  <a16:creationId xmlns:a16="http://schemas.microsoft.com/office/drawing/2014/main" id="{A3B4A305-5B09-C7F6-A688-F9A73347BC7E}"/>
                </a:ext>
              </a:extLst>
            </p:cNvPr>
            <p:cNvSpPr>
              <a:spLocks noChangeShapeType="1"/>
            </p:cNvSpPr>
            <p:nvPr/>
          </p:nvSpPr>
          <p:spPr bwMode="auto">
            <a:xfrm>
              <a:off x="1408113" y="1868488"/>
              <a:ext cx="4032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00" name="Line 11">
              <a:extLst>
                <a:ext uri="{FF2B5EF4-FFF2-40B4-BE49-F238E27FC236}">
                  <a16:creationId xmlns:a16="http://schemas.microsoft.com/office/drawing/2014/main" id="{32D34326-F643-DF4A-847A-D32A3872847D}"/>
                </a:ext>
              </a:extLst>
            </p:cNvPr>
            <p:cNvSpPr>
              <a:spLocks noChangeShapeType="1"/>
            </p:cNvSpPr>
            <p:nvPr/>
          </p:nvSpPr>
          <p:spPr bwMode="auto">
            <a:xfrm>
              <a:off x="1416050" y="2220913"/>
              <a:ext cx="4032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215" name="Line 15">
            <a:extLst>
              <a:ext uri="{FF2B5EF4-FFF2-40B4-BE49-F238E27FC236}">
                <a16:creationId xmlns:a16="http://schemas.microsoft.com/office/drawing/2014/main" id="{A6160F90-A553-C65E-ABC6-5A2B978707B1}"/>
              </a:ext>
            </a:extLst>
          </p:cNvPr>
          <p:cNvSpPr>
            <a:spLocks noChangeShapeType="1"/>
          </p:cNvSpPr>
          <p:nvPr/>
        </p:nvSpPr>
        <p:spPr bwMode="auto">
          <a:xfrm>
            <a:off x="2320783" y="1413230"/>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6" name="Line 16">
            <a:extLst>
              <a:ext uri="{FF2B5EF4-FFF2-40B4-BE49-F238E27FC236}">
                <a16:creationId xmlns:a16="http://schemas.microsoft.com/office/drawing/2014/main" id="{67EB9000-3A33-3A93-3449-24380B8CAF2B}"/>
              </a:ext>
            </a:extLst>
          </p:cNvPr>
          <p:cNvSpPr>
            <a:spLocks noChangeShapeType="1"/>
          </p:cNvSpPr>
          <p:nvPr/>
        </p:nvSpPr>
        <p:spPr bwMode="auto">
          <a:xfrm flipH="1">
            <a:off x="4034330" y="1413230"/>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7" name="Line 23">
            <a:extLst>
              <a:ext uri="{FF2B5EF4-FFF2-40B4-BE49-F238E27FC236}">
                <a16:creationId xmlns:a16="http://schemas.microsoft.com/office/drawing/2014/main" id="{11291A31-41AA-A996-283F-A665142A89E6}"/>
              </a:ext>
            </a:extLst>
          </p:cNvPr>
          <p:cNvSpPr>
            <a:spLocks noChangeShapeType="1"/>
          </p:cNvSpPr>
          <p:nvPr/>
        </p:nvSpPr>
        <p:spPr bwMode="auto">
          <a:xfrm>
            <a:off x="3177557" y="1413230"/>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9" name="Text Box 27">
            <a:extLst>
              <a:ext uri="{FF2B5EF4-FFF2-40B4-BE49-F238E27FC236}">
                <a16:creationId xmlns:a16="http://schemas.microsoft.com/office/drawing/2014/main" id="{5C4C0BD6-53A0-6729-C738-740A8C86B1A2}"/>
              </a:ext>
            </a:extLst>
          </p:cNvPr>
          <p:cNvSpPr txBox="1">
            <a:spLocks noChangeArrowheads="1"/>
          </p:cNvSpPr>
          <p:nvPr/>
        </p:nvSpPr>
        <p:spPr bwMode="auto">
          <a:xfrm>
            <a:off x="4213105" y="1184896"/>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接收窗口</a:t>
            </a:r>
          </a:p>
        </p:txBody>
      </p:sp>
      <p:sp>
        <p:nvSpPr>
          <p:cNvPr id="220" name="Freeform 36">
            <a:extLst>
              <a:ext uri="{FF2B5EF4-FFF2-40B4-BE49-F238E27FC236}">
                <a16:creationId xmlns:a16="http://schemas.microsoft.com/office/drawing/2014/main" id="{A768BDC6-D12F-8190-2A5C-2EF7E7C13CD7}"/>
              </a:ext>
            </a:extLst>
          </p:cNvPr>
          <p:cNvSpPr>
            <a:spLocks/>
          </p:cNvSpPr>
          <p:nvPr/>
        </p:nvSpPr>
        <p:spPr bwMode="auto">
          <a:xfrm>
            <a:off x="8015940" y="1381004"/>
            <a:ext cx="48895" cy="300038"/>
          </a:xfrm>
          <a:custGeom>
            <a:avLst/>
            <a:gdLst>
              <a:gd name="T0" fmla="*/ 2147483646 w 36"/>
              <a:gd name="T1" fmla="*/ 0 h 286"/>
              <a:gd name="T2" fmla="*/ 2147483646 w 36"/>
              <a:gd name="T3" fmla="*/ 2147483646 h 286"/>
              <a:gd name="T4" fmla="*/ 2147483646 w 36"/>
              <a:gd name="T5" fmla="*/ 2147483646 h 286"/>
              <a:gd name="T6" fmla="*/ 2147483646 w 36"/>
              <a:gd name="T7" fmla="*/ 2147483646 h 286"/>
              <a:gd name="T8" fmla="*/ 0 w 36"/>
              <a:gd name="T9" fmla="*/ 2147483646 h 286"/>
              <a:gd name="T10" fmla="*/ 2147483646 w 36"/>
              <a:gd name="T11" fmla="*/ 2147483646 h 286"/>
              <a:gd name="T12" fmla="*/ 2147483646 w 36"/>
              <a:gd name="T13" fmla="*/ 2147483646 h 286"/>
              <a:gd name="T14" fmla="*/ 2147483646 w 36"/>
              <a:gd name="T15" fmla="*/ 2147483646 h 286"/>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86"/>
              <a:gd name="T26" fmla="*/ 36 w 36"/>
              <a:gd name="T27" fmla="*/ 286 h 28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1" name="Freeform 39">
            <a:extLst>
              <a:ext uri="{FF2B5EF4-FFF2-40B4-BE49-F238E27FC236}">
                <a16:creationId xmlns:a16="http://schemas.microsoft.com/office/drawing/2014/main" id="{D57B4EFB-6731-BB87-1805-D2FC1CD98707}"/>
              </a:ext>
            </a:extLst>
          </p:cNvPr>
          <p:cNvSpPr>
            <a:spLocks/>
          </p:cNvSpPr>
          <p:nvPr/>
        </p:nvSpPr>
        <p:spPr bwMode="auto">
          <a:xfrm>
            <a:off x="1492902" y="1393227"/>
            <a:ext cx="73343" cy="304483"/>
          </a:xfrm>
          <a:custGeom>
            <a:avLst/>
            <a:gdLst>
              <a:gd name="T0" fmla="*/ 2147483646 w 66"/>
              <a:gd name="T1" fmla="*/ 0 h 274"/>
              <a:gd name="T2" fmla="*/ 2147483646 w 66"/>
              <a:gd name="T3" fmla="*/ 2147483646 h 274"/>
              <a:gd name="T4" fmla="*/ 2147483646 w 66"/>
              <a:gd name="T5" fmla="*/ 2147483646 h 274"/>
              <a:gd name="T6" fmla="*/ 2147483646 w 66"/>
              <a:gd name="T7" fmla="*/ 2147483646 h 274"/>
              <a:gd name="T8" fmla="*/ 0 w 66"/>
              <a:gd name="T9" fmla="*/ 2147483646 h 274"/>
              <a:gd name="T10" fmla="*/ 2147483646 w 66"/>
              <a:gd name="T11" fmla="*/ 2147483646 h 274"/>
              <a:gd name="T12" fmla="*/ 2147483646 w 66"/>
              <a:gd name="T13" fmla="*/ 2147483646 h 274"/>
              <a:gd name="T14" fmla="*/ 0 60000 65536"/>
              <a:gd name="T15" fmla="*/ 0 60000 65536"/>
              <a:gd name="T16" fmla="*/ 0 60000 65536"/>
              <a:gd name="T17" fmla="*/ 0 60000 65536"/>
              <a:gd name="T18" fmla="*/ 0 60000 65536"/>
              <a:gd name="T19" fmla="*/ 0 60000 65536"/>
              <a:gd name="T20" fmla="*/ 0 60000 65536"/>
              <a:gd name="T21" fmla="*/ 0 w 66"/>
              <a:gd name="T22" fmla="*/ 0 h 274"/>
              <a:gd name="T23" fmla="*/ 66 w 66"/>
              <a:gd name="T24" fmla="*/ 274 h 2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274">
                <a:moveTo>
                  <a:pt x="14" y="0"/>
                </a:moveTo>
                <a:lnTo>
                  <a:pt x="66" y="46"/>
                </a:lnTo>
                <a:lnTo>
                  <a:pt x="6" y="84"/>
                </a:lnTo>
                <a:lnTo>
                  <a:pt x="54" y="136"/>
                </a:lnTo>
                <a:lnTo>
                  <a:pt x="0" y="178"/>
                </a:lnTo>
                <a:lnTo>
                  <a:pt x="54" y="214"/>
                </a:lnTo>
                <a:lnTo>
                  <a:pt x="12" y="274"/>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2" name="Line 43">
            <a:extLst>
              <a:ext uri="{FF2B5EF4-FFF2-40B4-BE49-F238E27FC236}">
                <a16:creationId xmlns:a16="http://schemas.microsoft.com/office/drawing/2014/main" id="{2D17B2BB-C3C9-491F-2FD0-88727FDFEDFA}"/>
              </a:ext>
            </a:extLst>
          </p:cNvPr>
          <p:cNvSpPr>
            <a:spLocks noChangeShapeType="1"/>
          </p:cNvSpPr>
          <p:nvPr/>
        </p:nvSpPr>
        <p:spPr bwMode="auto">
          <a:xfrm>
            <a:off x="7565883" y="1724380"/>
            <a:ext cx="504508" cy="0"/>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3" name="Text Box 44">
            <a:extLst>
              <a:ext uri="{FF2B5EF4-FFF2-40B4-BE49-F238E27FC236}">
                <a16:creationId xmlns:a16="http://schemas.microsoft.com/office/drawing/2014/main" id="{B52F3767-54FA-A80C-F314-DAB824EC9135}"/>
              </a:ext>
            </a:extLst>
          </p:cNvPr>
          <p:cNvSpPr txBox="1">
            <a:spLocks noChangeArrowheads="1"/>
          </p:cNvSpPr>
          <p:nvPr/>
        </p:nvSpPr>
        <p:spPr bwMode="auto">
          <a:xfrm>
            <a:off x="7418028" y="1727714"/>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序号增大</a:t>
            </a:r>
          </a:p>
        </p:txBody>
      </p:sp>
      <p:sp>
        <p:nvSpPr>
          <p:cNvPr id="224" name="Text Box 65">
            <a:extLst>
              <a:ext uri="{FF2B5EF4-FFF2-40B4-BE49-F238E27FC236}">
                <a16:creationId xmlns:a16="http://schemas.microsoft.com/office/drawing/2014/main" id="{B7451FCC-DF9F-2208-0FE4-31260D3BB94E}"/>
              </a:ext>
            </a:extLst>
          </p:cNvPr>
          <p:cNvSpPr txBox="1">
            <a:spLocks noChangeArrowheads="1"/>
          </p:cNvSpPr>
          <p:nvPr/>
        </p:nvSpPr>
        <p:spPr bwMode="auto">
          <a:xfrm>
            <a:off x="910461" y="1423231"/>
            <a:ext cx="3914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(a)</a:t>
            </a:r>
          </a:p>
        </p:txBody>
      </p:sp>
      <p:sp>
        <p:nvSpPr>
          <p:cNvPr id="225" name="Line 19">
            <a:extLst>
              <a:ext uri="{FF2B5EF4-FFF2-40B4-BE49-F238E27FC236}">
                <a16:creationId xmlns:a16="http://schemas.microsoft.com/office/drawing/2014/main" id="{33BBE8A2-C524-B62B-09D6-EDE0482CBE99}"/>
              </a:ext>
            </a:extLst>
          </p:cNvPr>
          <p:cNvSpPr>
            <a:spLocks noChangeShapeType="1"/>
          </p:cNvSpPr>
          <p:nvPr/>
        </p:nvSpPr>
        <p:spPr bwMode="auto">
          <a:xfrm flipV="1">
            <a:off x="2347453" y="1671040"/>
            <a:ext cx="0" cy="181134"/>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6" name="Line 19">
            <a:extLst>
              <a:ext uri="{FF2B5EF4-FFF2-40B4-BE49-F238E27FC236}">
                <a16:creationId xmlns:a16="http://schemas.microsoft.com/office/drawing/2014/main" id="{14B302BC-4C89-F9E4-AAD7-1E11194ADF10}"/>
              </a:ext>
            </a:extLst>
          </p:cNvPr>
          <p:cNvSpPr>
            <a:spLocks noChangeShapeType="1"/>
          </p:cNvSpPr>
          <p:nvPr/>
        </p:nvSpPr>
        <p:spPr bwMode="auto">
          <a:xfrm flipV="1">
            <a:off x="3206450" y="1679930"/>
            <a:ext cx="0" cy="181134"/>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cxnSp>
        <p:nvCxnSpPr>
          <p:cNvPr id="227" name="直接连接符 226">
            <a:extLst>
              <a:ext uri="{FF2B5EF4-FFF2-40B4-BE49-F238E27FC236}">
                <a16:creationId xmlns:a16="http://schemas.microsoft.com/office/drawing/2014/main" id="{7B59CB00-A2C8-9318-AC66-64E7C81CF26F}"/>
              </a:ext>
            </a:extLst>
          </p:cNvPr>
          <p:cNvCxnSpPr>
            <a:cxnSpLocks/>
          </p:cNvCxnSpPr>
          <p:nvPr/>
        </p:nvCxnSpPr>
        <p:spPr>
          <a:xfrm>
            <a:off x="3177557" y="1246542"/>
            <a:ext cx="0" cy="407829"/>
          </a:xfrm>
          <a:prstGeom prst="line">
            <a:avLst/>
          </a:prstGeom>
          <a:noFill/>
          <a:ln w="12700" cap="flat" cmpd="sng" algn="ctr">
            <a:solidFill>
              <a:srgbClr val="000000"/>
            </a:solidFill>
            <a:prstDash val="solid"/>
          </a:ln>
          <a:effectLst/>
        </p:spPr>
      </p:cxnSp>
      <p:sp>
        <p:nvSpPr>
          <p:cNvPr id="228" name="Text Box 27">
            <a:extLst>
              <a:ext uri="{FF2B5EF4-FFF2-40B4-BE49-F238E27FC236}">
                <a16:creationId xmlns:a16="http://schemas.microsoft.com/office/drawing/2014/main" id="{CB002558-04DD-B026-B9EC-1426681CA33A}"/>
              </a:ext>
            </a:extLst>
          </p:cNvPr>
          <p:cNvSpPr txBox="1">
            <a:spLocks noChangeArrowheads="1"/>
          </p:cNvSpPr>
          <p:nvPr/>
        </p:nvSpPr>
        <p:spPr bwMode="auto">
          <a:xfrm>
            <a:off x="3286143" y="999633"/>
            <a:ext cx="9541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接收缓冲区</a:t>
            </a:r>
          </a:p>
        </p:txBody>
      </p:sp>
      <p:sp>
        <p:nvSpPr>
          <p:cNvPr id="229" name="Text Box 20">
            <a:extLst>
              <a:ext uri="{FF2B5EF4-FFF2-40B4-BE49-F238E27FC236}">
                <a16:creationId xmlns:a16="http://schemas.microsoft.com/office/drawing/2014/main" id="{8600DCA9-56EC-0E60-0DB4-6E92991FB4C3}"/>
              </a:ext>
            </a:extLst>
          </p:cNvPr>
          <p:cNvSpPr txBox="1">
            <a:spLocks noChangeArrowheads="1"/>
          </p:cNvSpPr>
          <p:nvPr/>
        </p:nvSpPr>
        <p:spPr bwMode="auto">
          <a:xfrm>
            <a:off x="1856509" y="1832171"/>
            <a:ext cx="9541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下一个读取</a:t>
            </a:r>
            <a:endPar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的字节</a:t>
            </a:r>
          </a:p>
        </p:txBody>
      </p:sp>
      <p:sp>
        <p:nvSpPr>
          <p:cNvPr id="230" name="Text Box 20">
            <a:extLst>
              <a:ext uri="{FF2B5EF4-FFF2-40B4-BE49-F238E27FC236}">
                <a16:creationId xmlns:a16="http://schemas.microsoft.com/office/drawing/2014/main" id="{7AE4D520-A893-5064-0D15-8F9A66F8D033}"/>
              </a:ext>
            </a:extLst>
          </p:cNvPr>
          <p:cNvSpPr txBox="1">
            <a:spLocks noChangeArrowheads="1"/>
          </p:cNvSpPr>
          <p:nvPr/>
        </p:nvSpPr>
        <p:spPr bwMode="auto">
          <a:xfrm>
            <a:off x="2706615" y="1827726"/>
            <a:ext cx="9541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下一个期望</a:t>
            </a:r>
            <a:endPar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收到的字节</a:t>
            </a:r>
          </a:p>
        </p:txBody>
      </p:sp>
      <p:sp>
        <p:nvSpPr>
          <p:cNvPr id="231" name="Text Box 20">
            <a:extLst>
              <a:ext uri="{FF2B5EF4-FFF2-40B4-BE49-F238E27FC236}">
                <a16:creationId xmlns:a16="http://schemas.microsoft.com/office/drawing/2014/main" id="{6EA421E2-3402-99B1-1BA7-50E8CE050052}"/>
              </a:ext>
            </a:extLst>
          </p:cNvPr>
          <p:cNvSpPr txBox="1">
            <a:spLocks noChangeArrowheads="1"/>
          </p:cNvSpPr>
          <p:nvPr/>
        </p:nvSpPr>
        <p:spPr bwMode="auto">
          <a:xfrm>
            <a:off x="3840069" y="1819947"/>
            <a:ext cx="6463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未按序</a:t>
            </a:r>
            <a:endPar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收到的</a:t>
            </a:r>
          </a:p>
        </p:txBody>
      </p:sp>
      <p:sp>
        <p:nvSpPr>
          <p:cNvPr id="232" name="Line 19">
            <a:extLst>
              <a:ext uri="{FF2B5EF4-FFF2-40B4-BE49-F238E27FC236}">
                <a16:creationId xmlns:a16="http://schemas.microsoft.com/office/drawing/2014/main" id="{5787655D-BC8E-BBA8-D54E-1BB7DFB02904}"/>
              </a:ext>
            </a:extLst>
          </p:cNvPr>
          <p:cNvSpPr>
            <a:spLocks noChangeShapeType="1"/>
          </p:cNvSpPr>
          <p:nvPr/>
        </p:nvSpPr>
        <p:spPr bwMode="auto">
          <a:xfrm flipV="1">
            <a:off x="4163236" y="1681042"/>
            <a:ext cx="0" cy="181133"/>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33" name="Text Box 20">
            <a:extLst>
              <a:ext uri="{FF2B5EF4-FFF2-40B4-BE49-F238E27FC236}">
                <a16:creationId xmlns:a16="http://schemas.microsoft.com/office/drawing/2014/main" id="{BCFCFE51-A199-D486-CA9F-C8A6F6953BCE}"/>
              </a:ext>
            </a:extLst>
          </p:cNvPr>
          <p:cNvSpPr txBox="1">
            <a:spLocks noChangeArrowheads="1"/>
          </p:cNvSpPr>
          <p:nvPr/>
        </p:nvSpPr>
        <p:spPr bwMode="auto">
          <a:xfrm>
            <a:off x="2278978" y="1397177"/>
            <a:ext cx="9541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尚未读取的</a:t>
            </a:r>
          </a:p>
        </p:txBody>
      </p:sp>
      <p:cxnSp>
        <p:nvCxnSpPr>
          <p:cNvPr id="234" name="直接连接符 233">
            <a:extLst>
              <a:ext uri="{FF2B5EF4-FFF2-40B4-BE49-F238E27FC236}">
                <a16:creationId xmlns:a16="http://schemas.microsoft.com/office/drawing/2014/main" id="{1DEDAB0D-C3A3-9137-2473-69051EAEEA75}"/>
              </a:ext>
            </a:extLst>
          </p:cNvPr>
          <p:cNvCxnSpPr>
            <a:cxnSpLocks/>
          </p:cNvCxnSpPr>
          <p:nvPr/>
        </p:nvCxnSpPr>
        <p:spPr>
          <a:xfrm>
            <a:off x="2318560" y="1084300"/>
            <a:ext cx="0" cy="570072"/>
          </a:xfrm>
          <a:prstGeom prst="line">
            <a:avLst/>
          </a:prstGeom>
          <a:noFill/>
          <a:ln w="9525" cap="flat" cmpd="sng" algn="ctr">
            <a:solidFill>
              <a:srgbClr val="000000"/>
            </a:solidFill>
            <a:prstDash val="solid"/>
          </a:ln>
          <a:effectLst/>
        </p:spPr>
      </p:cxnSp>
      <p:cxnSp>
        <p:nvCxnSpPr>
          <p:cNvPr id="235" name="直接连接符 234">
            <a:extLst>
              <a:ext uri="{FF2B5EF4-FFF2-40B4-BE49-F238E27FC236}">
                <a16:creationId xmlns:a16="http://schemas.microsoft.com/office/drawing/2014/main" id="{A0E6FE87-1E4E-FF73-9847-98F40F450F52}"/>
              </a:ext>
            </a:extLst>
          </p:cNvPr>
          <p:cNvCxnSpPr>
            <a:cxnSpLocks/>
          </p:cNvCxnSpPr>
          <p:nvPr/>
        </p:nvCxnSpPr>
        <p:spPr>
          <a:xfrm>
            <a:off x="6000132" y="1095412"/>
            <a:ext cx="0" cy="570072"/>
          </a:xfrm>
          <a:prstGeom prst="line">
            <a:avLst/>
          </a:prstGeom>
          <a:noFill/>
          <a:ln w="9525" cap="flat" cmpd="sng" algn="ctr">
            <a:solidFill>
              <a:srgbClr val="000000"/>
            </a:solidFill>
            <a:prstDash val="solid"/>
          </a:ln>
          <a:effectLst/>
        </p:spPr>
      </p:cxnSp>
      <p:cxnSp>
        <p:nvCxnSpPr>
          <p:cNvPr id="236" name="直接连接符 235">
            <a:extLst>
              <a:ext uri="{FF2B5EF4-FFF2-40B4-BE49-F238E27FC236}">
                <a16:creationId xmlns:a16="http://schemas.microsoft.com/office/drawing/2014/main" id="{5ED9C68C-C320-7F21-CD26-FBD26B9E57AC}"/>
              </a:ext>
            </a:extLst>
          </p:cNvPr>
          <p:cNvCxnSpPr>
            <a:cxnSpLocks/>
          </p:cNvCxnSpPr>
          <p:nvPr/>
        </p:nvCxnSpPr>
        <p:spPr>
          <a:xfrm flipH="1">
            <a:off x="2311252" y="1419897"/>
            <a:ext cx="5555" cy="252254"/>
          </a:xfrm>
          <a:prstGeom prst="line">
            <a:avLst/>
          </a:prstGeom>
          <a:noFill/>
          <a:ln w="19050" cap="flat" cmpd="sng" algn="ctr">
            <a:solidFill>
              <a:srgbClr val="000000"/>
            </a:solidFill>
            <a:prstDash val="solid"/>
          </a:ln>
          <a:effectLst/>
        </p:spPr>
      </p:cxnSp>
      <p:cxnSp>
        <p:nvCxnSpPr>
          <p:cNvPr id="237" name="直接连接符 236">
            <a:extLst>
              <a:ext uri="{FF2B5EF4-FFF2-40B4-BE49-F238E27FC236}">
                <a16:creationId xmlns:a16="http://schemas.microsoft.com/office/drawing/2014/main" id="{30183D66-1F3B-53EC-BC0F-A86D6157335B}"/>
              </a:ext>
            </a:extLst>
          </p:cNvPr>
          <p:cNvCxnSpPr>
            <a:cxnSpLocks/>
          </p:cNvCxnSpPr>
          <p:nvPr/>
        </p:nvCxnSpPr>
        <p:spPr>
          <a:xfrm>
            <a:off x="6000132" y="1407674"/>
            <a:ext cx="5556" cy="258921"/>
          </a:xfrm>
          <a:prstGeom prst="line">
            <a:avLst/>
          </a:prstGeom>
          <a:noFill/>
          <a:ln w="19050" cap="flat" cmpd="sng" algn="ctr">
            <a:solidFill>
              <a:srgbClr val="000000"/>
            </a:solidFill>
            <a:prstDash val="solid"/>
          </a:ln>
          <a:effectLst/>
        </p:spPr>
      </p:cxnSp>
      <p:sp>
        <p:nvSpPr>
          <p:cNvPr id="279" name="Line 16">
            <a:extLst>
              <a:ext uri="{FF2B5EF4-FFF2-40B4-BE49-F238E27FC236}">
                <a16:creationId xmlns:a16="http://schemas.microsoft.com/office/drawing/2014/main" id="{333C9C3E-25CF-0512-D0AC-4554292EEE35}"/>
              </a:ext>
            </a:extLst>
          </p:cNvPr>
          <p:cNvSpPr>
            <a:spLocks noChangeShapeType="1"/>
          </p:cNvSpPr>
          <p:nvPr/>
        </p:nvSpPr>
        <p:spPr bwMode="auto">
          <a:xfrm flipH="1">
            <a:off x="4316588" y="1406562"/>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86" name="Text Box 44">
            <a:extLst>
              <a:ext uri="{FF2B5EF4-FFF2-40B4-BE49-F238E27FC236}">
                <a16:creationId xmlns:a16="http://schemas.microsoft.com/office/drawing/2014/main" id="{EA3456C8-9E71-5412-E038-42081CC2B4C2}"/>
              </a:ext>
            </a:extLst>
          </p:cNvPr>
          <p:cNvSpPr txBox="1">
            <a:spLocks noChangeArrowheads="1"/>
          </p:cNvSpPr>
          <p:nvPr/>
        </p:nvSpPr>
        <p:spPr bwMode="auto">
          <a:xfrm>
            <a:off x="2047049" y="1042072"/>
            <a:ext cx="3385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后</a:t>
            </a:r>
          </a:p>
        </p:txBody>
      </p:sp>
      <p:sp>
        <p:nvSpPr>
          <p:cNvPr id="289" name="Text Box 44">
            <a:extLst>
              <a:ext uri="{FF2B5EF4-FFF2-40B4-BE49-F238E27FC236}">
                <a16:creationId xmlns:a16="http://schemas.microsoft.com/office/drawing/2014/main" id="{EC5B3DBA-D425-437F-5ADE-7681A413EF6B}"/>
              </a:ext>
            </a:extLst>
          </p:cNvPr>
          <p:cNvSpPr txBox="1">
            <a:spLocks noChangeArrowheads="1"/>
          </p:cNvSpPr>
          <p:nvPr/>
        </p:nvSpPr>
        <p:spPr bwMode="auto">
          <a:xfrm>
            <a:off x="5958093" y="1020959"/>
            <a:ext cx="3385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前</a:t>
            </a:r>
          </a:p>
        </p:txBody>
      </p:sp>
      <p:sp>
        <p:nvSpPr>
          <p:cNvPr id="292" name="Text Box 20">
            <a:extLst>
              <a:ext uri="{FF2B5EF4-FFF2-40B4-BE49-F238E27FC236}">
                <a16:creationId xmlns:a16="http://schemas.microsoft.com/office/drawing/2014/main" id="{9AE609A7-D774-F3EA-813E-5EA0918B7233}"/>
              </a:ext>
            </a:extLst>
          </p:cNvPr>
          <p:cNvSpPr txBox="1">
            <a:spLocks noChangeArrowheads="1"/>
          </p:cNvSpPr>
          <p:nvPr/>
        </p:nvSpPr>
        <p:spPr bwMode="auto">
          <a:xfrm>
            <a:off x="1536677" y="1410233"/>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已读取的</a:t>
            </a:r>
          </a:p>
        </p:txBody>
      </p:sp>
      <p:sp>
        <p:nvSpPr>
          <p:cNvPr id="309" name="Rectangle 8">
            <a:extLst>
              <a:ext uri="{FF2B5EF4-FFF2-40B4-BE49-F238E27FC236}">
                <a16:creationId xmlns:a16="http://schemas.microsoft.com/office/drawing/2014/main" id="{07B25CC9-0A78-E3BE-0A8E-119FC63C74A2}"/>
              </a:ext>
            </a:extLst>
          </p:cNvPr>
          <p:cNvSpPr>
            <a:spLocks noChangeArrowheads="1"/>
          </p:cNvSpPr>
          <p:nvPr/>
        </p:nvSpPr>
        <p:spPr bwMode="auto">
          <a:xfrm>
            <a:off x="556963" y="2527579"/>
            <a:ext cx="8048776" cy="1740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接收方对按序收到的这些数据都已发送过确认。</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接收方最近发送确认的确认号为“下一个期望收到的字节”。</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a:t>
            </a:r>
            <a:r>
              <a:rPr lang="zh-CN" altLang="en-US" sz="2000" b="1" dirty="0">
                <a:latin typeface="微软雅黑" pitchFamily="34" charset="-122"/>
                <a:ea typeface="微软雅黑" pitchFamily="34" charset="-122"/>
              </a:rPr>
              <a:t>默认采用的是累积确认，接收方不对未按序收到的数据进行确认（这里先不考虑采用选择性确认</a:t>
            </a:r>
            <a:r>
              <a:rPr lang="en-US" altLang="zh-CN" sz="2000" b="1" dirty="0">
                <a:latin typeface="微软雅黑" pitchFamily="34" charset="-122"/>
                <a:ea typeface="微软雅黑" pitchFamily="34" charset="-122"/>
              </a:rPr>
              <a:t>SACK</a:t>
            </a:r>
            <a:r>
              <a:rPr lang="zh-CN" altLang="en-US" sz="2000" b="1" dirty="0">
                <a:latin typeface="微软雅黑" pitchFamily="34" charset="-122"/>
                <a:ea typeface="微软雅黑" pitchFamily="34" charset="-122"/>
              </a:rPr>
              <a:t>的情况）。</a:t>
            </a:r>
            <a:endParaRPr lang="en-US" altLang="zh-CN" sz="2000" b="1" dirty="0">
              <a:latin typeface="微软雅黑" pitchFamily="34" charset="-122"/>
              <a:ea typeface="微软雅黑" pitchFamily="34" charset="-122"/>
            </a:endParaRPr>
          </a:p>
        </p:txBody>
      </p:sp>
    </p:spTree>
    <p:extLst>
      <p:ext uri="{BB962C8B-B14F-4D97-AF65-F5344CB8AC3E}">
        <p14:creationId xmlns:p14="http://schemas.microsoft.com/office/powerpoint/2010/main" val="2069349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09">
                                            <p:txEl>
                                              <p:pRg st="0" end="0"/>
                                            </p:txEl>
                                          </p:spTgt>
                                        </p:tgtEl>
                                        <p:attrNameLst>
                                          <p:attrName>style.visibility</p:attrName>
                                        </p:attrNameLst>
                                      </p:cBhvr>
                                      <p:to>
                                        <p:strVal val="visible"/>
                                      </p:to>
                                    </p:set>
                                    <p:animEffect transition="in" filter="fade">
                                      <p:cBhvr>
                                        <p:cTn id="7" dur="1000"/>
                                        <p:tgtEl>
                                          <p:spTgt spid="309">
                                            <p:txEl>
                                              <p:pRg st="0" end="0"/>
                                            </p:txEl>
                                          </p:spTgt>
                                        </p:tgtEl>
                                      </p:cBhvr>
                                    </p:animEffect>
                                    <p:anim calcmode="lin" valueType="num">
                                      <p:cBhvr>
                                        <p:cTn id="8" dur="1000" fill="hold"/>
                                        <p:tgtEl>
                                          <p:spTgt spid="30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0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09">
                                            <p:txEl>
                                              <p:pRg st="1" end="1"/>
                                            </p:txEl>
                                          </p:spTgt>
                                        </p:tgtEl>
                                        <p:attrNameLst>
                                          <p:attrName>style.visibility</p:attrName>
                                        </p:attrNameLst>
                                      </p:cBhvr>
                                      <p:to>
                                        <p:strVal val="visible"/>
                                      </p:to>
                                    </p:set>
                                    <p:animEffect transition="in" filter="fade">
                                      <p:cBhvr>
                                        <p:cTn id="14" dur="1000"/>
                                        <p:tgtEl>
                                          <p:spTgt spid="309">
                                            <p:txEl>
                                              <p:pRg st="1" end="1"/>
                                            </p:txEl>
                                          </p:spTgt>
                                        </p:tgtEl>
                                      </p:cBhvr>
                                    </p:animEffect>
                                    <p:anim calcmode="lin" valueType="num">
                                      <p:cBhvr>
                                        <p:cTn id="15" dur="1000" fill="hold"/>
                                        <p:tgtEl>
                                          <p:spTgt spid="30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0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09">
                                            <p:txEl>
                                              <p:pRg st="2" end="2"/>
                                            </p:txEl>
                                          </p:spTgt>
                                        </p:tgtEl>
                                        <p:attrNameLst>
                                          <p:attrName>style.visibility</p:attrName>
                                        </p:attrNameLst>
                                      </p:cBhvr>
                                      <p:to>
                                        <p:strVal val="visible"/>
                                      </p:to>
                                    </p:set>
                                    <p:animEffect transition="in" filter="fade">
                                      <p:cBhvr>
                                        <p:cTn id="21" dur="1000"/>
                                        <p:tgtEl>
                                          <p:spTgt spid="309">
                                            <p:txEl>
                                              <p:pRg st="2" end="2"/>
                                            </p:txEl>
                                          </p:spTgt>
                                        </p:tgtEl>
                                      </p:cBhvr>
                                    </p:animEffect>
                                    <p:anim calcmode="lin" valueType="num">
                                      <p:cBhvr>
                                        <p:cTn id="22" dur="1000" fill="hold"/>
                                        <p:tgtEl>
                                          <p:spTgt spid="309">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09">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FB43F-1A9B-C53A-1188-F0D8A0F73188}"/>
            </a:ext>
          </a:extLst>
        </p:cNvPr>
        <p:cNvGrpSpPr/>
        <p:nvPr/>
      </p:nvGrpSpPr>
      <p:grpSpPr>
        <a:xfrm>
          <a:off x="0" y="0"/>
          <a:ext cx="0" cy="0"/>
          <a:chOff x="0" y="0"/>
          <a:chExt cx="0" cy="0"/>
        </a:xfrm>
      </p:grpSpPr>
      <p:sp>
        <p:nvSpPr>
          <p:cNvPr id="308" name="圆角矩形 60">
            <a:extLst>
              <a:ext uri="{FF2B5EF4-FFF2-40B4-BE49-F238E27FC236}">
                <a16:creationId xmlns:a16="http://schemas.microsoft.com/office/drawing/2014/main" id="{0D7FAB06-B3A7-924E-253A-CF55C30E6B32}"/>
              </a:ext>
            </a:extLst>
          </p:cNvPr>
          <p:cNvSpPr/>
          <p:nvPr/>
        </p:nvSpPr>
        <p:spPr>
          <a:xfrm>
            <a:off x="545144" y="1020960"/>
            <a:ext cx="8053712" cy="134600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8" name="Rectangle 26">
            <a:extLst>
              <a:ext uri="{FF2B5EF4-FFF2-40B4-BE49-F238E27FC236}">
                <a16:creationId xmlns:a16="http://schemas.microsoft.com/office/drawing/2014/main" id="{6ECD18F5-5358-975C-8CF6-53B283B75B46}"/>
              </a:ext>
            </a:extLst>
          </p:cNvPr>
          <p:cNvSpPr>
            <a:spLocks noChangeArrowheads="1"/>
          </p:cNvSpPr>
          <p:nvPr/>
        </p:nvSpPr>
        <p:spPr bwMode="auto">
          <a:xfrm>
            <a:off x="2311252" y="1426565"/>
            <a:ext cx="866305" cy="237808"/>
          </a:xfrm>
          <a:prstGeom prst="rect">
            <a:avLst/>
          </a:prstGeom>
          <a:solidFill>
            <a:srgbClr val="92D050"/>
          </a:solidFill>
          <a:ln>
            <a:noFill/>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0" name="AutoShape 5">
            <a:extLst>
              <a:ext uri="{FF2B5EF4-FFF2-40B4-BE49-F238E27FC236}">
                <a16:creationId xmlns:a16="http://schemas.microsoft.com/office/drawing/2014/main" id="{A0C5DF6F-B4CA-22DB-90CA-7524E175CE9A}"/>
              </a:ext>
            </a:extLst>
          </p:cNvPr>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2" name="Rectangle 6">
            <a:extLst>
              <a:ext uri="{FF2B5EF4-FFF2-40B4-BE49-F238E27FC236}">
                <a16:creationId xmlns:a16="http://schemas.microsoft.com/office/drawing/2014/main" id="{AB7AC8DC-BA0B-3AF2-5624-18B5529FF36D}"/>
              </a:ext>
            </a:extLst>
          </p:cNvPr>
          <p:cNvSpPr>
            <a:spLocks noChangeArrowheads="1"/>
          </p:cNvSpPr>
          <p:nvPr/>
        </p:nvSpPr>
        <p:spPr bwMode="auto">
          <a:xfrm>
            <a:off x="2832507" y="587638"/>
            <a:ext cx="349768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a:t>
            </a:r>
            <a:r>
              <a:rPr lang="zh-CN" altLang="en-US" sz="2000" b="1" dirty="0">
                <a:solidFill>
                  <a:schemeClr val="bg1"/>
                </a:solidFill>
                <a:latin typeface="微软雅黑" pitchFamily="34" charset="-122"/>
                <a:ea typeface="微软雅黑" pitchFamily="34" charset="-122"/>
              </a:rPr>
              <a:t>的接收缓冲区和接收窗口</a:t>
            </a:r>
          </a:p>
        </p:txBody>
      </p:sp>
      <p:cxnSp>
        <p:nvCxnSpPr>
          <p:cNvPr id="209" name="直接箭头连接符 208">
            <a:extLst>
              <a:ext uri="{FF2B5EF4-FFF2-40B4-BE49-F238E27FC236}">
                <a16:creationId xmlns:a16="http://schemas.microsoft.com/office/drawing/2014/main" id="{C3F6273D-600C-AEFD-5931-967EBA25820E}"/>
              </a:ext>
            </a:extLst>
          </p:cNvPr>
          <p:cNvCxnSpPr>
            <a:cxnSpLocks/>
          </p:cNvCxnSpPr>
          <p:nvPr/>
        </p:nvCxnSpPr>
        <p:spPr>
          <a:xfrm>
            <a:off x="2320783" y="1149864"/>
            <a:ext cx="3679349" cy="0"/>
          </a:xfrm>
          <a:prstGeom prst="straightConnector1">
            <a:avLst/>
          </a:prstGeom>
          <a:noFill/>
          <a:ln w="9525" cap="flat" cmpd="sng" algn="ctr">
            <a:solidFill>
              <a:srgbClr val="000000"/>
            </a:solidFill>
            <a:prstDash val="solid"/>
            <a:headEnd type="triangle" w="sm" len="lg"/>
            <a:tailEnd type="triangle" w="sm" len="lg"/>
          </a:ln>
          <a:effectLst/>
        </p:spPr>
      </p:cxnSp>
      <p:sp>
        <p:nvSpPr>
          <p:cNvPr id="210" name="矩形 209">
            <a:extLst>
              <a:ext uri="{FF2B5EF4-FFF2-40B4-BE49-F238E27FC236}">
                <a16:creationId xmlns:a16="http://schemas.microsoft.com/office/drawing/2014/main" id="{6B825FA0-2DD2-72A4-DF91-0410A10C45DD}"/>
              </a:ext>
            </a:extLst>
          </p:cNvPr>
          <p:cNvSpPr/>
          <p:nvPr/>
        </p:nvSpPr>
        <p:spPr>
          <a:xfrm>
            <a:off x="3361960" y="1070588"/>
            <a:ext cx="796767" cy="147797"/>
          </a:xfrm>
          <a:prstGeom prst="rect">
            <a:avLst/>
          </a:prstGeom>
          <a:solidFill>
            <a:srgbClr val="C3E3F9"/>
          </a:solidFill>
          <a:ln w="25400" cap="flat" cmpd="sng" algn="ctr">
            <a:noFill/>
            <a:prstDash val="solid"/>
          </a:ln>
          <a:effectLst/>
        </p:spPr>
        <p:txBody>
          <a:bodyPr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cxnSp>
        <p:nvCxnSpPr>
          <p:cNvPr id="211" name="直接箭头连接符 210">
            <a:extLst>
              <a:ext uri="{FF2B5EF4-FFF2-40B4-BE49-F238E27FC236}">
                <a16:creationId xmlns:a16="http://schemas.microsoft.com/office/drawing/2014/main" id="{E275EF47-C1FE-E322-6330-86344E83535B}"/>
              </a:ext>
            </a:extLst>
          </p:cNvPr>
          <p:cNvCxnSpPr>
            <a:cxnSpLocks/>
          </p:cNvCxnSpPr>
          <p:nvPr/>
        </p:nvCxnSpPr>
        <p:spPr>
          <a:xfrm>
            <a:off x="3184225" y="1329887"/>
            <a:ext cx="2815908" cy="0"/>
          </a:xfrm>
          <a:prstGeom prst="straightConnector1">
            <a:avLst/>
          </a:prstGeom>
          <a:noFill/>
          <a:ln w="9525" cap="flat" cmpd="sng" algn="ctr">
            <a:solidFill>
              <a:srgbClr val="000000"/>
            </a:solidFill>
            <a:prstDash val="solid"/>
            <a:headEnd type="triangle" w="sm" len="lg"/>
            <a:tailEnd type="triangle" w="sm" len="lg"/>
          </a:ln>
          <a:effectLst/>
        </p:spPr>
      </p:cxnSp>
      <p:sp>
        <p:nvSpPr>
          <p:cNvPr id="212" name="矩形 211">
            <a:extLst>
              <a:ext uri="{FF2B5EF4-FFF2-40B4-BE49-F238E27FC236}">
                <a16:creationId xmlns:a16="http://schemas.microsoft.com/office/drawing/2014/main" id="{8F9A0A24-D41A-328B-F14E-3922B6509695}"/>
              </a:ext>
            </a:extLst>
          </p:cNvPr>
          <p:cNvSpPr/>
          <p:nvPr/>
        </p:nvSpPr>
        <p:spPr>
          <a:xfrm>
            <a:off x="4245805" y="1268471"/>
            <a:ext cx="724197" cy="116979"/>
          </a:xfrm>
          <a:prstGeom prst="rect">
            <a:avLst/>
          </a:prstGeom>
          <a:solidFill>
            <a:srgbClr val="C3E3F9"/>
          </a:solidFill>
          <a:ln w="25400" cap="flat" cmpd="sng" algn="ctr">
            <a:noFill/>
            <a:prstDash val="solid"/>
          </a:ln>
          <a:effectLst/>
        </p:spPr>
        <p:txBody>
          <a:bodyPr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13" name="Rectangle 14">
            <a:extLst>
              <a:ext uri="{FF2B5EF4-FFF2-40B4-BE49-F238E27FC236}">
                <a16:creationId xmlns:a16="http://schemas.microsoft.com/office/drawing/2014/main" id="{D6A5ABD1-3387-16A1-F2AC-17BE8D91FA4D}"/>
              </a:ext>
            </a:extLst>
          </p:cNvPr>
          <p:cNvSpPr>
            <a:spLocks noChangeArrowheads="1"/>
          </p:cNvSpPr>
          <p:nvPr/>
        </p:nvSpPr>
        <p:spPr bwMode="auto">
          <a:xfrm>
            <a:off x="4028775" y="1419897"/>
            <a:ext cx="290204" cy="252254"/>
          </a:xfrm>
          <a:prstGeom prst="rect">
            <a:avLst/>
          </a:prstGeom>
          <a:solidFill>
            <a:srgbClr val="FFC000"/>
          </a:solidFill>
          <a:ln>
            <a:noFill/>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nvGrpSpPr>
          <p:cNvPr id="214" name="组合 2">
            <a:extLst>
              <a:ext uri="{FF2B5EF4-FFF2-40B4-BE49-F238E27FC236}">
                <a16:creationId xmlns:a16="http://schemas.microsoft.com/office/drawing/2014/main" id="{CC7FE8A3-7BDC-CFB0-F42F-8C5002F44B54}"/>
              </a:ext>
            </a:extLst>
          </p:cNvPr>
          <p:cNvGrpSpPr>
            <a:grpSpLocks/>
          </p:cNvGrpSpPr>
          <p:nvPr/>
        </p:nvGrpSpPr>
        <p:grpSpPr bwMode="auto">
          <a:xfrm>
            <a:off x="1537352" y="1418787"/>
            <a:ext cx="6521927" cy="246698"/>
            <a:chOff x="1408113" y="1868488"/>
            <a:chExt cx="4040187" cy="352425"/>
          </a:xfrm>
        </p:grpSpPr>
        <p:sp>
          <p:nvSpPr>
            <p:cNvPr id="299" name="Line 10">
              <a:extLst>
                <a:ext uri="{FF2B5EF4-FFF2-40B4-BE49-F238E27FC236}">
                  <a16:creationId xmlns:a16="http://schemas.microsoft.com/office/drawing/2014/main" id="{4DF5F5B0-7995-264C-9542-DEF7E1A94D42}"/>
                </a:ext>
              </a:extLst>
            </p:cNvPr>
            <p:cNvSpPr>
              <a:spLocks noChangeShapeType="1"/>
            </p:cNvSpPr>
            <p:nvPr/>
          </p:nvSpPr>
          <p:spPr bwMode="auto">
            <a:xfrm>
              <a:off x="1408113" y="1868488"/>
              <a:ext cx="4032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00" name="Line 11">
              <a:extLst>
                <a:ext uri="{FF2B5EF4-FFF2-40B4-BE49-F238E27FC236}">
                  <a16:creationId xmlns:a16="http://schemas.microsoft.com/office/drawing/2014/main" id="{CA785B2F-A8A5-B7FF-BFB2-CF4C9E5F5116}"/>
                </a:ext>
              </a:extLst>
            </p:cNvPr>
            <p:cNvSpPr>
              <a:spLocks noChangeShapeType="1"/>
            </p:cNvSpPr>
            <p:nvPr/>
          </p:nvSpPr>
          <p:spPr bwMode="auto">
            <a:xfrm>
              <a:off x="1416050" y="2220913"/>
              <a:ext cx="4032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215" name="Line 15">
            <a:extLst>
              <a:ext uri="{FF2B5EF4-FFF2-40B4-BE49-F238E27FC236}">
                <a16:creationId xmlns:a16="http://schemas.microsoft.com/office/drawing/2014/main" id="{F2028396-B474-8D49-CFA4-C5037B29C1D0}"/>
              </a:ext>
            </a:extLst>
          </p:cNvPr>
          <p:cNvSpPr>
            <a:spLocks noChangeShapeType="1"/>
          </p:cNvSpPr>
          <p:nvPr/>
        </p:nvSpPr>
        <p:spPr bwMode="auto">
          <a:xfrm>
            <a:off x="2320783" y="1413230"/>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6" name="Line 16">
            <a:extLst>
              <a:ext uri="{FF2B5EF4-FFF2-40B4-BE49-F238E27FC236}">
                <a16:creationId xmlns:a16="http://schemas.microsoft.com/office/drawing/2014/main" id="{CDC9766B-E9BB-AEAA-FC4E-60ECCCB4ED42}"/>
              </a:ext>
            </a:extLst>
          </p:cNvPr>
          <p:cNvSpPr>
            <a:spLocks noChangeShapeType="1"/>
          </p:cNvSpPr>
          <p:nvPr/>
        </p:nvSpPr>
        <p:spPr bwMode="auto">
          <a:xfrm flipH="1">
            <a:off x="4034330" y="1413230"/>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7" name="Line 23">
            <a:extLst>
              <a:ext uri="{FF2B5EF4-FFF2-40B4-BE49-F238E27FC236}">
                <a16:creationId xmlns:a16="http://schemas.microsoft.com/office/drawing/2014/main" id="{C720B019-409C-EF31-F452-ADA620B285CD}"/>
              </a:ext>
            </a:extLst>
          </p:cNvPr>
          <p:cNvSpPr>
            <a:spLocks noChangeShapeType="1"/>
          </p:cNvSpPr>
          <p:nvPr/>
        </p:nvSpPr>
        <p:spPr bwMode="auto">
          <a:xfrm>
            <a:off x="3177557" y="1413230"/>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9" name="Text Box 27">
            <a:extLst>
              <a:ext uri="{FF2B5EF4-FFF2-40B4-BE49-F238E27FC236}">
                <a16:creationId xmlns:a16="http://schemas.microsoft.com/office/drawing/2014/main" id="{A025CD1E-662B-490A-CF13-6396FBD80C0B}"/>
              </a:ext>
            </a:extLst>
          </p:cNvPr>
          <p:cNvSpPr txBox="1">
            <a:spLocks noChangeArrowheads="1"/>
          </p:cNvSpPr>
          <p:nvPr/>
        </p:nvSpPr>
        <p:spPr bwMode="auto">
          <a:xfrm>
            <a:off x="4213105" y="1184896"/>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接收窗口</a:t>
            </a:r>
          </a:p>
        </p:txBody>
      </p:sp>
      <p:sp>
        <p:nvSpPr>
          <p:cNvPr id="220" name="Freeform 36">
            <a:extLst>
              <a:ext uri="{FF2B5EF4-FFF2-40B4-BE49-F238E27FC236}">
                <a16:creationId xmlns:a16="http://schemas.microsoft.com/office/drawing/2014/main" id="{D35587D0-E2E4-7BC2-BCE3-DC91E27EE9DF}"/>
              </a:ext>
            </a:extLst>
          </p:cNvPr>
          <p:cNvSpPr>
            <a:spLocks/>
          </p:cNvSpPr>
          <p:nvPr/>
        </p:nvSpPr>
        <p:spPr bwMode="auto">
          <a:xfrm>
            <a:off x="8015940" y="1381004"/>
            <a:ext cx="48895" cy="300038"/>
          </a:xfrm>
          <a:custGeom>
            <a:avLst/>
            <a:gdLst>
              <a:gd name="T0" fmla="*/ 2147483646 w 36"/>
              <a:gd name="T1" fmla="*/ 0 h 286"/>
              <a:gd name="T2" fmla="*/ 2147483646 w 36"/>
              <a:gd name="T3" fmla="*/ 2147483646 h 286"/>
              <a:gd name="T4" fmla="*/ 2147483646 w 36"/>
              <a:gd name="T5" fmla="*/ 2147483646 h 286"/>
              <a:gd name="T6" fmla="*/ 2147483646 w 36"/>
              <a:gd name="T7" fmla="*/ 2147483646 h 286"/>
              <a:gd name="T8" fmla="*/ 0 w 36"/>
              <a:gd name="T9" fmla="*/ 2147483646 h 286"/>
              <a:gd name="T10" fmla="*/ 2147483646 w 36"/>
              <a:gd name="T11" fmla="*/ 2147483646 h 286"/>
              <a:gd name="T12" fmla="*/ 2147483646 w 36"/>
              <a:gd name="T13" fmla="*/ 2147483646 h 286"/>
              <a:gd name="T14" fmla="*/ 2147483646 w 36"/>
              <a:gd name="T15" fmla="*/ 2147483646 h 286"/>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86"/>
              <a:gd name="T26" fmla="*/ 36 w 36"/>
              <a:gd name="T27" fmla="*/ 286 h 28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1" name="Freeform 39">
            <a:extLst>
              <a:ext uri="{FF2B5EF4-FFF2-40B4-BE49-F238E27FC236}">
                <a16:creationId xmlns:a16="http://schemas.microsoft.com/office/drawing/2014/main" id="{769F509B-BD3B-558E-7223-799D4349935E}"/>
              </a:ext>
            </a:extLst>
          </p:cNvPr>
          <p:cNvSpPr>
            <a:spLocks/>
          </p:cNvSpPr>
          <p:nvPr/>
        </p:nvSpPr>
        <p:spPr bwMode="auto">
          <a:xfrm>
            <a:off x="1492902" y="1393227"/>
            <a:ext cx="73343" cy="304483"/>
          </a:xfrm>
          <a:custGeom>
            <a:avLst/>
            <a:gdLst>
              <a:gd name="T0" fmla="*/ 2147483646 w 66"/>
              <a:gd name="T1" fmla="*/ 0 h 274"/>
              <a:gd name="T2" fmla="*/ 2147483646 w 66"/>
              <a:gd name="T3" fmla="*/ 2147483646 h 274"/>
              <a:gd name="T4" fmla="*/ 2147483646 w 66"/>
              <a:gd name="T5" fmla="*/ 2147483646 h 274"/>
              <a:gd name="T6" fmla="*/ 2147483646 w 66"/>
              <a:gd name="T7" fmla="*/ 2147483646 h 274"/>
              <a:gd name="T8" fmla="*/ 0 w 66"/>
              <a:gd name="T9" fmla="*/ 2147483646 h 274"/>
              <a:gd name="T10" fmla="*/ 2147483646 w 66"/>
              <a:gd name="T11" fmla="*/ 2147483646 h 274"/>
              <a:gd name="T12" fmla="*/ 2147483646 w 66"/>
              <a:gd name="T13" fmla="*/ 2147483646 h 274"/>
              <a:gd name="T14" fmla="*/ 0 60000 65536"/>
              <a:gd name="T15" fmla="*/ 0 60000 65536"/>
              <a:gd name="T16" fmla="*/ 0 60000 65536"/>
              <a:gd name="T17" fmla="*/ 0 60000 65536"/>
              <a:gd name="T18" fmla="*/ 0 60000 65536"/>
              <a:gd name="T19" fmla="*/ 0 60000 65536"/>
              <a:gd name="T20" fmla="*/ 0 60000 65536"/>
              <a:gd name="T21" fmla="*/ 0 w 66"/>
              <a:gd name="T22" fmla="*/ 0 h 274"/>
              <a:gd name="T23" fmla="*/ 66 w 66"/>
              <a:gd name="T24" fmla="*/ 274 h 2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274">
                <a:moveTo>
                  <a:pt x="14" y="0"/>
                </a:moveTo>
                <a:lnTo>
                  <a:pt x="66" y="46"/>
                </a:lnTo>
                <a:lnTo>
                  <a:pt x="6" y="84"/>
                </a:lnTo>
                <a:lnTo>
                  <a:pt x="54" y="136"/>
                </a:lnTo>
                <a:lnTo>
                  <a:pt x="0" y="178"/>
                </a:lnTo>
                <a:lnTo>
                  <a:pt x="54" y="214"/>
                </a:lnTo>
                <a:lnTo>
                  <a:pt x="12" y="274"/>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2" name="Line 43">
            <a:extLst>
              <a:ext uri="{FF2B5EF4-FFF2-40B4-BE49-F238E27FC236}">
                <a16:creationId xmlns:a16="http://schemas.microsoft.com/office/drawing/2014/main" id="{5981E0B6-951E-ACC2-8AD1-6A12CC9896D7}"/>
              </a:ext>
            </a:extLst>
          </p:cNvPr>
          <p:cNvSpPr>
            <a:spLocks noChangeShapeType="1"/>
          </p:cNvSpPr>
          <p:nvPr/>
        </p:nvSpPr>
        <p:spPr bwMode="auto">
          <a:xfrm>
            <a:off x="7565883" y="1724380"/>
            <a:ext cx="504508" cy="0"/>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3" name="Text Box 44">
            <a:extLst>
              <a:ext uri="{FF2B5EF4-FFF2-40B4-BE49-F238E27FC236}">
                <a16:creationId xmlns:a16="http://schemas.microsoft.com/office/drawing/2014/main" id="{D6D0E3F9-9051-5934-33F2-8974B2D91083}"/>
              </a:ext>
            </a:extLst>
          </p:cNvPr>
          <p:cNvSpPr txBox="1">
            <a:spLocks noChangeArrowheads="1"/>
          </p:cNvSpPr>
          <p:nvPr/>
        </p:nvSpPr>
        <p:spPr bwMode="auto">
          <a:xfrm>
            <a:off x="7418028" y="1727714"/>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序号增大</a:t>
            </a:r>
          </a:p>
        </p:txBody>
      </p:sp>
      <p:sp>
        <p:nvSpPr>
          <p:cNvPr id="224" name="Text Box 65">
            <a:extLst>
              <a:ext uri="{FF2B5EF4-FFF2-40B4-BE49-F238E27FC236}">
                <a16:creationId xmlns:a16="http://schemas.microsoft.com/office/drawing/2014/main" id="{E193C17B-AB8C-1B5C-1D81-4D4003E5DF4E}"/>
              </a:ext>
            </a:extLst>
          </p:cNvPr>
          <p:cNvSpPr txBox="1">
            <a:spLocks noChangeArrowheads="1"/>
          </p:cNvSpPr>
          <p:nvPr/>
        </p:nvSpPr>
        <p:spPr bwMode="auto">
          <a:xfrm>
            <a:off x="910461" y="1423231"/>
            <a:ext cx="3914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(a)</a:t>
            </a:r>
          </a:p>
        </p:txBody>
      </p:sp>
      <p:sp>
        <p:nvSpPr>
          <p:cNvPr id="225" name="Line 19">
            <a:extLst>
              <a:ext uri="{FF2B5EF4-FFF2-40B4-BE49-F238E27FC236}">
                <a16:creationId xmlns:a16="http://schemas.microsoft.com/office/drawing/2014/main" id="{9F9A4036-71D8-4A50-6373-C3BC721EFB0E}"/>
              </a:ext>
            </a:extLst>
          </p:cNvPr>
          <p:cNvSpPr>
            <a:spLocks noChangeShapeType="1"/>
          </p:cNvSpPr>
          <p:nvPr/>
        </p:nvSpPr>
        <p:spPr bwMode="auto">
          <a:xfrm flipV="1">
            <a:off x="2347453" y="1671040"/>
            <a:ext cx="0" cy="181134"/>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6" name="Line 19">
            <a:extLst>
              <a:ext uri="{FF2B5EF4-FFF2-40B4-BE49-F238E27FC236}">
                <a16:creationId xmlns:a16="http://schemas.microsoft.com/office/drawing/2014/main" id="{7A781594-2A13-AC1B-B295-28B440272061}"/>
              </a:ext>
            </a:extLst>
          </p:cNvPr>
          <p:cNvSpPr>
            <a:spLocks noChangeShapeType="1"/>
          </p:cNvSpPr>
          <p:nvPr/>
        </p:nvSpPr>
        <p:spPr bwMode="auto">
          <a:xfrm flipV="1">
            <a:off x="3206450" y="1679930"/>
            <a:ext cx="0" cy="181134"/>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cxnSp>
        <p:nvCxnSpPr>
          <p:cNvPr id="227" name="直接连接符 226">
            <a:extLst>
              <a:ext uri="{FF2B5EF4-FFF2-40B4-BE49-F238E27FC236}">
                <a16:creationId xmlns:a16="http://schemas.microsoft.com/office/drawing/2014/main" id="{8E14527D-DEA5-20D8-B2E4-6AFD1BED9005}"/>
              </a:ext>
            </a:extLst>
          </p:cNvPr>
          <p:cNvCxnSpPr>
            <a:cxnSpLocks/>
          </p:cNvCxnSpPr>
          <p:nvPr/>
        </p:nvCxnSpPr>
        <p:spPr>
          <a:xfrm>
            <a:off x="3177557" y="1246542"/>
            <a:ext cx="0" cy="407829"/>
          </a:xfrm>
          <a:prstGeom prst="line">
            <a:avLst/>
          </a:prstGeom>
          <a:noFill/>
          <a:ln w="12700" cap="flat" cmpd="sng" algn="ctr">
            <a:solidFill>
              <a:srgbClr val="000000"/>
            </a:solidFill>
            <a:prstDash val="solid"/>
          </a:ln>
          <a:effectLst/>
        </p:spPr>
      </p:cxnSp>
      <p:sp>
        <p:nvSpPr>
          <p:cNvPr id="228" name="Text Box 27">
            <a:extLst>
              <a:ext uri="{FF2B5EF4-FFF2-40B4-BE49-F238E27FC236}">
                <a16:creationId xmlns:a16="http://schemas.microsoft.com/office/drawing/2014/main" id="{A3C53348-EC3B-F698-7C97-D00916521715}"/>
              </a:ext>
            </a:extLst>
          </p:cNvPr>
          <p:cNvSpPr txBox="1">
            <a:spLocks noChangeArrowheads="1"/>
          </p:cNvSpPr>
          <p:nvPr/>
        </p:nvSpPr>
        <p:spPr bwMode="auto">
          <a:xfrm>
            <a:off x="3286143" y="999633"/>
            <a:ext cx="9541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接收缓冲区</a:t>
            </a:r>
          </a:p>
        </p:txBody>
      </p:sp>
      <p:sp>
        <p:nvSpPr>
          <p:cNvPr id="229" name="Text Box 20">
            <a:extLst>
              <a:ext uri="{FF2B5EF4-FFF2-40B4-BE49-F238E27FC236}">
                <a16:creationId xmlns:a16="http://schemas.microsoft.com/office/drawing/2014/main" id="{406DF2D7-98CC-EC5A-DED2-B828CF2E05F9}"/>
              </a:ext>
            </a:extLst>
          </p:cNvPr>
          <p:cNvSpPr txBox="1">
            <a:spLocks noChangeArrowheads="1"/>
          </p:cNvSpPr>
          <p:nvPr/>
        </p:nvSpPr>
        <p:spPr bwMode="auto">
          <a:xfrm>
            <a:off x="1856509" y="1832171"/>
            <a:ext cx="9541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下一个读取</a:t>
            </a:r>
            <a:endPar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的字节</a:t>
            </a:r>
          </a:p>
        </p:txBody>
      </p:sp>
      <p:sp>
        <p:nvSpPr>
          <p:cNvPr id="230" name="Text Box 20">
            <a:extLst>
              <a:ext uri="{FF2B5EF4-FFF2-40B4-BE49-F238E27FC236}">
                <a16:creationId xmlns:a16="http://schemas.microsoft.com/office/drawing/2014/main" id="{7493CFAD-9ECC-7D87-49CF-DF9091ADD9C0}"/>
              </a:ext>
            </a:extLst>
          </p:cNvPr>
          <p:cNvSpPr txBox="1">
            <a:spLocks noChangeArrowheads="1"/>
          </p:cNvSpPr>
          <p:nvPr/>
        </p:nvSpPr>
        <p:spPr bwMode="auto">
          <a:xfrm>
            <a:off x="2706615" y="1827726"/>
            <a:ext cx="9541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下一个期望</a:t>
            </a:r>
            <a:endPar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收到的字节</a:t>
            </a:r>
          </a:p>
        </p:txBody>
      </p:sp>
      <p:sp>
        <p:nvSpPr>
          <p:cNvPr id="231" name="Text Box 20">
            <a:extLst>
              <a:ext uri="{FF2B5EF4-FFF2-40B4-BE49-F238E27FC236}">
                <a16:creationId xmlns:a16="http://schemas.microsoft.com/office/drawing/2014/main" id="{BBF7BE0F-6596-03B3-D564-4E520C80733C}"/>
              </a:ext>
            </a:extLst>
          </p:cNvPr>
          <p:cNvSpPr txBox="1">
            <a:spLocks noChangeArrowheads="1"/>
          </p:cNvSpPr>
          <p:nvPr/>
        </p:nvSpPr>
        <p:spPr bwMode="auto">
          <a:xfrm>
            <a:off x="3840069" y="1819947"/>
            <a:ext cx="6463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未按序</a:t>
            </a:r>
            <a:endPar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收到的</a:t>
            </a:r>
          </a:p>
        </p:txBody>
      </p:sp>
      <p:sp>
        <p:nvSpPr>
          <p:cNvPr id="232" name="Line 19">
            <a:extLst>
              <a:ext uri="{FF2B5EF4-FFF2-40B4-BE49-F238E27FC236}">
                <a16:creationId xmlns:a16="http://schemas.microsoft.com/office/drawing/2014/main" id="{2AE0FCBB-344E-832A-1ED8-E9E76359DA76}"/>
              </a:ext>
            </a:extLst>
          </p:cNvPr>
          <p:cNvSpPr>
            <a:spLocks noChangeShapeType="1"/>
          </p:cNvSpPr>
          <p:nvPr/>
        </p:nvSpPr>
        <p:spPr bwMode="auto">
          <a:xfrm flipV="1">
            <a:off x="4163236" y="1681042"/>
            <a:ext cx="0" cy="181133"/>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33" name="Text Box 20">
            <a:extLst>
              <a:ext uri="{FF2B5EF4-FFF2-40B4-BE49-F238E27FC236}">
                <a16:creationId xmlns:a16="http://schemas.microsoft.com/office/drawing/2014/main" id="{41FD0C02-18C1-5BEB-9465-431B96149415}"/>
              </a:ext>
            </a:extLst>
          </p:cNvPr>
          <p:cNvSpPr txBox="1">
            <a:spLocks noChangeArrowheads="1"/>
          </p:cNvSpPr>
          <p:nvPr/>
        </p:nvSpPr>
        <p:spPr bwMode="auto">
          <a:xfrm>
            <a:off x="2278978" y="1397177"/>
            <a:ext cx="9541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尚未读取的</a:t>
            </a:r>
          </a:p>
        </p:txBody>
      </p:sp>
      <p:cxnSp>
        <p:nvCxnSpPr>
          <p:cNvPr id="234" name="直接连接符 233">
            <a:extLst>
              <a:ext uri="{FF2B5EF4-FFF2-40B4-BE49-F238E27FC236}">
                <a16:creationId xmlns:a16="http://schemas.microsoft.com/office/drawing/2014/main" id="{880C1B09-EB05-5100-2F47-F6ACF48A12A2}"/>
              </a:ext>
            </a:extLst>
          </p:cNvPr>
          <p:cNvCxnSpPr>
            <a:cxnSpLocks/>
          </p:cNvCxnSpPr>
          <p:nvPr/>
        </p:nvCxnSpPr>
        <p:spPr>
          <a:xfrm>
            <a:off x="2318560" y="1084300"/>
            <a:ext cx="0" cy="570072"/>
          </a:xfrm>
          <a:prstGeom prst="line">
            <a:avLst/>
          </a:prstGeom>
          <a:noFill/>
          <a:ln w="9525" cap="flat" cmpd="sng" algn="ctr">
            <a:solidFill>
              <a:srgbClr val="000000"/>
            </a:solidFill>
            <a:prstDash val="solid"/>
          </a:ln>
          <a:effectLst/>
        </p:spPr>
      </p:cxnSp>
      <p:cxnSp>
        <p:nvCxnSpPr>
          <p:cNvPr id="235" name="直接连接符 234">
            <a:extLst>
              <a:ext uri="{FF2B5EF4-FFF2-40B4-BE49-F238E27FC236}">
                <a16:creationId xmlns:a16="http://schemas.microsoft.com/office/drawing/2014/main" id="{8A441C60-6DF2-6473-127C-CFBBD7E275FB}"/>
              </a:ext>
            </a:extLst>
          </p:cNvPr>
          <p:cNvCxnSpPr>
            <a:cxnSpLocks/>
          </p:cNvCxnSpPr>
          <p:nvPr/>
        </p:nvCxnSpPr>
        <p:spPr>
          <a:xfrm>
            <a:off x="6000132" y="1095412"/>
            <a:ext cx="0" cy="570072"/>
          </a:xfrm>
          <a:prstGeom prst="line">
            <a:avLst/>
          </a:prstGeom>
          <a:noFill/>
          <a:ln w="9525" cap="flat" cmpd="sng" algn="ctr">
            <a:solidFill>
              <a:srgbClr val="000000"/>
            </a:solidFill>
            <a:prstDash val="solid"/>
          </a:ln>
          <a:effectLst/>
        </p:spPr>
      </p:cxnSp>
      <p:cxnSp>
        <p:nvCxnSpPr>
          <p:cNvPr id="236" name="直接连接符 235">
            <a:extLst>
              <a:ext uri="{FF2B5EF4-FFF2-40B4-BE49-F238E27FC236}">
                <a16:creationId xmlns:a16="http://schemas.microsoft.com/office/drawing/2014/main" id="{E41CD424-EABD-138E-8A5C-5450CF1C2696}"/>
              </a:ext>
            </a:extLst>
          </p:cNvPr>
          <p:cNvCxnSpPr>
            <a:cxnSpLocks/>
          </p:cNvCxnSpPr>
          <p:nvPr/>
        </p:nvCxnSpPr>
        <p:spPr>
          <a:xfrm flipH="1">
            <a:off x="2311252" y="1419897"/>
            <a:ext cx="5555" cy="252254"/>
          </a:xfrm>
          <a:prstGeom prst="line">
            <a:avLst/>
          </a:prstGeom>
          <a:noFill/>
          <a:ln w="19050" cap="flat" cmpd="sng" algn="ctr">
            <a:solidFill>
              <a:srgbClr val="000000"/>
            </a:solidFill>
            <a:prstDash val="solid"/>
          </a:ln>
          <a:effectLst/>
        </p:spPr>
      </p:cxnSp>
      <p:cxnSp>
        <p:nvCxnSpPr>
          <p:cNvPr id="237" name="直接连接符 236">
            <a:extLst>
              <a:ext uri="{FF2B5EF4-FFF2-40B4-BE49-F238E27FC236}">
                <a16:creationId xmlns:a16="http://schemas.microsoft.com/office/drawing/2014/main" id="{99D70132-413B-9FF4-331E-7462C70DB0A8}"/>
              </a:ext>
            </a:extLst>
          </p:cNvPr>
          <p:cNvCxnSpPr>
            <a:cxnSpLocks/>
          </p:cNvCxnSpPr>
          <p:nvPr/>
        </p:nvCxnSpPr>
        <p:spPr>
          <a:xfrm>
            <a:off x="6000132" y="1407674"/>
            <a:ext cx="5556" cy="258921"/>
          </a:xfrm>
          <a:prstGeom prst="line">
            <a:avLst/>
          </a:prstGeom>
          <a:noFill/>
          <a:ln w="19050" cap="flat" cmpd="sng" algn="ctr">
            <a:solidFill>
              <a:srgbClr val="000000"/>
            </a:solidFill>
            <a:prstDash val="solid"/>
          </a:ln>
          <a:effectLst/>
        </p:spPr>
      </p:cxnSp>
      <p:sp>
        <p:nvSpPr>
          <p:cNvPr id="279" name="Line 16">
            <a:extLst>
              <a:ext uri="{FF2B5EF4-FFF2-40B4-BE49-F238E27FC236}">
                <a16:creationId xmlns:a16="http://schemas.microsoft.com/office/drawing/2014/main" id="{A54107CC-D0F8-F1EE-245D-42E0D55D2AB1}"/>
              </a:ext>
            </a:extLst>
          </p:cNvPr>
          <p:cNvSpPr>
            <a:spLocks noChangeShapeType="1"/>
          </p:cNvSpPr>
          <p:nvPr/>
        </p:nvSpPr>
        <p:spPr bwMode="auto">
          <a:xfrm flipH="1">
            <a:off x="4316588" y="1406562"/>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86" name="Text Box 44">
            <a:extLst>
              <a:ext uri="{FF2B5EF4-FFF2-40B4-BE49-F238E27FC236}">
                <a16:creationId xmlns:a16="http://schemas.microsoft.com/office/drawing/2014/main" id="{D290A0C3-A70B-5560-996B-D4B014D716A4}"/>
              </a:ext>
            </a:extLst>
          </p:cNvPr>
          <p:cNvSpPr txBox="1">
            <a:spLocks noChangeArrowheads="1"/>
          </p:cNvSpPr>
          <p:nvPr/>
        </p:nvSpPr>
        <p:spPr bwMode="auto">
          <a:xfrm>
            <a:off x="2047049" y="1042072"/>
            <a:ext cx="3385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后</a:t>
            </a:r>
          </a:p>
        </p:txBody>
      </p:sp>
      <p:sp>
        <p:nvSpPr>
          <p:cNvPr id="289" name="Text Box 44">
            <a:extLst>
              <a:ext uri="{FF2B5EF4-FFF2-40B4-BE49-F238E27FC236}">
                <a16:creationId xmlns:a16="http://schemas.microsoft.com/office/drawing/2014/main" id="{0F478B21-179E-6AD4-0641-266CB521AA10}"/>
              </a:ext>
            </a:extLst>
          </p:cNvPr>
          <p:cNvSpPr txBox="1">
            <a:spLocks noChangeArrowheads="1"/>
          </p:cNvSpPr>
          <p:nvPr/>
        </p:nvSpPr>
        <p:spPr bwMode="auto">
          <a:xfrm>
            <a:off x="5958093" y="1020959"/>
            <a:ext cx="3385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前</a:t>
            </a:r>
          </a:p>
        </p:txBody>
      </p:sp>
      <p:sp>
        <p:nvSpPr>
          <p:cNvPr id="292" name="Text Box 20">
            <a:extLst>
              <a:ext uri="{FF2B5EF4-FFF2-40B4-BE49-F238E27FC236}">
                <a16:creationId xmlns:a16="http://schemas.microsoft.com/office/drawing/2014/main" id="{BF457A85-F677-D7FA-E35B-FDFB736DBAE8}"/>
              </a:ext>
            </a:extLst>
          </p:cNvPr>
          <p:cNvSpPr txBox="1">
            <a:spLocks noChangeArrowheads="1"/>
          </p:cNvSpPr>
          <p:nvPr/>
        </p:nvSpPr>
        <p:spPr bwMode="auto">
          <a:xfrm>
            <a:off x="1536677" y="1410233"/>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已读取的</a:t>
            </a:r>
          </a:p>
        </p:txBody>
      </p:sp>
      <p:sp>
        <p:nvSpPr>
          <p:cNvPr id="309" name="Rectangle 8">
            <a:extLst>
              <a:ext uri="{FF2B5EF4-FFF2-40B4-BE49-F238E27FC236}">
                <a16:creationId xmlns:a16="http://schemas.microsoft.com/office/drawing/2014/main" id="{13490281-5554-59C0-75BC-8D143F7134ED}"/>
              </a:ext>
            </a:extLst>
          </p:cNvPr>
          <p:cNvSpPr>
            <a:spLocks noChangeArrowheads="1"/>
          </p:cNvSpPr>
          <p:nvPr/>
        </p:nvSpPr>
        <p:spPr bwMode="auto">
          <a:xfrm>
            <a:off x="556963" y="2341836"/>
            <a:ext cx="8048776" cy="2156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zh-CN" altLang="en-US" b="1" dirty="0">
                <a:latin typeface="微软雅黑" pitchFamily="34" charset="-122"/>
                <a:ea typeface="微软雅黑" pitchFamily="34" charset="-122"/>
              </a:rPr>
              <a:t>应用程序读取数据整个接收缓冲区会向前移动，而接收到按序到达数据时，接收窗口后沿会向前移动，并且接收窗口前沿始终与接收缓冲区的前沿重合。</a:t>
            </a:r>
            <a:endParaRPr lang="en-US" altLang="zh-CN"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b="1" dirty="0">
                <a:latin typeface="微软雅黑" pitchFamily="34" charset="-122"/>
                <a:ea typeface="微软雅黑" pitchFamily="34" charset="-122"/>
              </a:rPr>
              <a:t>下一个期望收到的字节序号 </a:t>
            </a:r>
            <a:r>
              <a:rPr lang="en-US" altLang="zh-CN" b="1" dirty="0">
                <a:latin typeface="微软雅黑" pitchFamily="34" charset="-122"/>
                <a:ea typeface="微软雅黑" pitchFamily="34" charset="-122"/>
                <a:sym typeface="Symbol" panose="05050102010706020507" pitchFamily="18" charset="2"/>
              </a:rPr>
              <a:t></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下一个读取的字节序号 </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尚未读取的字节数 </a:t>
            </a:r>
            <a:r>
              <a:rPr lang="en-US" altLang="zh-CN" b="1" dirty="0">
                <a:latin typeface="微软雅黑" pitchFamily="34" charset="-122"/>
                <a:ea typeface="微软雅黑" pitchFamily="34" charset="-122"/>
                <a:sym typeface="Symbol" panose="05050102010706020507" pitchFamily="18" charset="2"/>
              </a:rPr>
              <a:t> </a:t>
            </a:r>
            <a:r>
              <a:rPr lang="zh-CN" altLang="en-US" b="1" dirty="0">
                <a:latin typeface="微软雅黑" pitchFamily="34" charset="-122"/>
                <a:ea typeface="微软雅黑" pitchFamily="34" charset="-122"/>
              </a:rPr>
              <a:t>接收缓冲区的大小</a:t>
            </a:r>
            <a:endParaRPr lang="en-US" altLang="zh-CN"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b="1" dirty="0">
                <a:latin typeface="微软雅黑" pitchFamily="34" charset="-122"/>
                <a:ea typeface="微软雅黑" pitchFamily="34" charset="-122"/>
              </a:rPr>
              <a:t>接收缓冲区的大小 </a:t>
            </a:r>
            <a:r>
              <a:rPr lang="en-US" altLang="zh-CN" b="1" dirty="0">
                <a:latin typeface="微软雅黑" pitchFamily="34" charset="-122"/>
                <a:ea typeface="微软雅黑" pitchFamily="34" charset="-122"/>
                <a:sym typeface="Symbol" panose="05050102010706020507" pitchFamily="18" charset="2"/>
              </a:rPr>
              <a:t></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尚未读取的字节数 </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接收窗口的大小</a:t>
            </a:r>
            <a:endParaRPr lang="en-US" altLang="zh-CN" b="1" dirty="0">
              <a:latin typeface="微软雅黑" pitchFamily="34" charset="-122"/>
              <a:ea typeface="微软雅黑" pitchFamily="34" charset="-122"/>
            </a:endParaRPr>
          </a:p>
        </p:txBody>
      </p:sp>
      <p:cxnSp>
        <p:nvCxnSpPr>
          <p:cNvPr id="2" name="直接连接符 1">
            <a:extLst>
              <a:ext uri="{FF2B5EF4-FFF2-40B4-BE49-F238E27FC236}">
                <a16:creationId xmlns:a16="http://schemas.microsoft.com/office/drawing/2014/main" id="{F4A00022-617A-2FDD-AF8D-B4EB3BA6B08B}"/>
              </a:ext>
            </a:extLst>
          </p:cNvPr>
          <p:cNvCxnSpPr/>
          <p:nvPr/>
        </p:nvCxnSpPr>
        <p:spPr>
          <a:xfrm>
            <a:off x="6001003" y="1056112"/>
            <a:ext cx="0" cy="35045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2435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09">
                                            <p:txEl>
                                              <p:pRg st="0" end="0"/>
                                            </p:txEl>
                                          </p:spTgt>
                                        </p:tgtEl>
                                        <p:attrNameLst>
                                          <p:attrName>style.visibility</p:attrName>
                                        </p:attrNameLst>
                                      </p:cBhvr>
                                      <p:to>
                                        <p:strVal val="visible"/>
                                      </p:to>
                                    </p:set>
                                    <p:animEffect transition="in" filter="fade">
                                      <p:cBhvr>
                                        <p:cTn id="7" dur="1000"/>
                                        <p:tgtEl>
                                          <p:spTgt spid="309">
                                            <p:txEl>
                                              <p:pRg st="0" end="0"/>
                                            </p:txEl>
                                          </p:spTgt>
                                        </p:tgtEl>
                                      </p:cBhvr>
                                    </p:animEffect>
                                    <p:anim calcmode="lin" valueType="num">
                                      <p:cBhvr>
                                        <p:cTn id="8" dur="1000" fill="hold"/>
                                        <p:tgtEl>
                                          <p:spTgt spid="30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0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5" presetClass="emph" presetSubtype="0" repeatCount="3000" fill="hold" nodeType="clickEffect">
                                  <p:stCondLst>
                                    <p:cond delay="0"/>
                                  </p:stCondLst>
                                  <p:childTnLst>
                                    <p:anim calcmode="discrete" valueType="str">
                                      <p:cBhvr>
                                        <p:cTn id="13"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309">
                                            <p:txEl>
                                              <p:pRg st="1" end="1"/>
                                            </p:txEl>
                                          </p:spTgt>
                                        </p:tgtEl>
                                        <p:attrNameLst>
                                          <p:attrName>style.visibility</p:attrName>
                                        </p:attrNameLst>
                                      </p:cBhvr>
                                      <p:to>
                                        <p:strVal val="visible"/>
                                      </p:to>
                                    </p:set>
                                    <p:animEffect transition="in" filter="fade">
                                      <p:cBhvr>
                                        <p:cTn id="18" dur="1000"/>
                                        <p:tgtEl>
                                          <p:spTgt spid="309">
                                            <p:txEl>
                                              <p:pRg st="1" end="1"/>
                                            </p:txEl>
                                          </p:spTgt>
                                        </p:tgtEl>
                                      </p:cBhvr>
                                    </p:animEffect>
                                    <p:anim calcmode="lin" valueType="num">
                                      <p:cBhvr>
                                        <p:cTn id="19" dur="1000" fill="hold"/>
                                        <p:tgtEl>
                                          <p:spTgt spid="309">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30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309">
                                            <p:txEl>
                                              <p:pRg st="2" end="2"/>
                                            </p:txEl>
                                          </p:spTgt>
                                        </p:tgtEl>
                                        <p:attrNameLst>
                                          <p:attrName>style.visibility</p:attrName>
                                        </p:attrNameLst>
                                      </p:cBhvr>
                                      <p:to>
                                        <p:strVal val="visible"/>
                                      </p:to>
                                    </p:set>
                                    <p:animEffect transition="in" filter="fade">
                                      <p:cBhvr>
                                        <p:cTn id="25" dur="1000"/>
                                        <p:tgtEl>
                                          <p:spTgt spid="309">
                                            <p:txEl>
                                              <p:pRg st="2" end="2"/>
                                            </p:txEl>
                                          </p:spTgt>
                                        </p:tgtEl>
                                      </p:cBhvr>
                                    </p:animEffect>
                                    <p:anim calcmode="lin" valueType="num">
                                      <p:cBhvr>
                                        <p:cTn id="26" dur="1000" fill="hold"/>
                                        <p:tgtEl>
                                          <p:spTgt spid="309">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309">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EC4D4-21EC-2AD8-45EE-811514368D1D}"/>
            </a:ext>
          </a:extLst>
        </p:cNvPr>
        <p:cNvGrpSpPr/>
        <p:nvPr/>
      </p:nvGrpSpPr>
      <p:grpSpPr>
        <a:xfrm>
          <a:off x="0" y="0"/>
          <a:ext cx="0" cy="0"/>
          <a:chOff x="0" y="0"/>
          <a:chExt cx="0" cy="0"/>
        </a:xfrm>
      </p:grpSpPr>
      <p:sp>
        <p:nvSpPr>
          <p:cNvPr id="308" name="圆角矩形 60">
            <a:extLst>
              <a:ext uri="{FF2B5EF4-FFF2-40B4-BE49-F238E27FC236}">
                <a16:creationId xmlns:a16="http://schemas.microsoft.com/office/drawing/2014/main" id="{237831B8-FE56-1D81-2687-D8A346083166}"/>
              </a:ext>
            </a:extLst>
          </p:cNvPr>
          <p:cNvSpPr/>
          <p:nvPr/>
        </p:nvSpPr>
        <p:spPr>
          <a:xfrm>
            <a:off x="545144" y="1020960"/>
            <a:ext cx="8053712" cy="376735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4" name="Rectangle 26">
            <a:extLst>
              <a:ext uri="{FF2B5EF4-FFF2-40B4-BE49-F238E27FC236}">
                <a16:creationId xmlns:a16="http://schemas.microsoft.com/office/drawing/2014/main" id="{3D3FDAEA-6540-FF8D-6108-5E3F92728124}"/>
              </a:ext>
            </a:extLst>
          </p:cNvPr>
          <p:cNvSpPr>
            <a:spLocks noChangeArrowheads="1"/>
          </p:cNvSpPr>
          <p:nvPr/>
        </p:nvSpPr>
        <p:spPr bwMode="auto">
          <a:xfrm>
            <a:off x="2311253" y="2681167"/>
            <a:ext cx="2275370" cy="237808"/>
          </a:xfrm>
          <a:prstGeom prst="rect">
            <a:avLst/>
          </a:prstGeom>
          <a:solidFill>
            <a:srgbClr val="92D050"/>
          </a:solidFill>
          <a:ln>
            <a:noFill/>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8" name="Rectangle 26">
            <a:extLst>
              <a:ext uri="{FF2B5EF4-FFF2-40B4-BE49-F238E27FC236}">
                <a16:creationId xmlns:a16="http://schemas.microsoft.com/office/drawing/2014/main" id="{6C1BCB2E-5D04-F049-D0B2-033362ED6C35}"/>
              </a:ext>
            </a:extLst>
          </p:cNvPr>
          <p:cNvSpPr>
            <a:spLocks noChangeArrowheads="1"/>
          </p:cNvSpPr>
          <p:nvPr/>
        </p:nvSpPr>
        <p:spPr bwMode="auto">
          <a:xfrm>
            <a:off x="2311252" y="1426565"/>
            <a:ext cx="866305" cy="237808"/>
          </a:xfrm>
          <a:prstGeom prst="rect">
            <a:avLst/>
          </a:prstGeom>
          <a:solidFill>
            <a:srgbClr val="92D050"/>
          </a:solidFill>
          <a:ln>
            <a:noFill/>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cxnSp>
        <p:nvCxnSpPr>
          <p:cNvPr id="253" name="直接连接符 252">
            <a:extLst>
              <a:ext uri="{FF2B5EF4-FFF2-40B4-BE49-F238E27FC236}">
                <a16:creationId xmlns:a16="http://schemas.microsoft.com/office/drawing/2014/main" id="{DF2EAB21-BE71-BA64-8E58-93D6550BAE59}"/>
              </a:ext>
            </a:extLst>
          </p:cNvPr>
          <p:cNvCxnSpPr>
            <a:cxnSpLocks/>
          </p:cNvCxnSpPr>
          <p:nvPr/>
        </p:nvCxnSpPr>
        <p:spPr>
          <a:xfrm>
            <a:off x="4588845" y="2511145"/>
            <a:ext cx="0" cy="407829"/>
          </a:xfrm>
          <a:prstGeom prst="line">
            <a:avLst/>
          </a:prstGeom>
          <a:noFill/>
          <a:ln w="12700" cap="flat" cmpd="sng" algn="ctr">
            <a:solidFill>
              <a:srgbClr val="000000"/>
            </a:solidFill>
            <a:prstDash val="solid"/>
          </a:ln>
          <a:effectLst/>
        </p:spPr>
      </p:cxnSp>
      <p:sp>
        <p:nvSpPr>
          <p:cNvPr id="264" name="Rectangle 26">
            <a:extLst>
              <a:ext uri="{FF2B5EF4-FFF2-40B4-BE49-F238E27FC236}">
                <a16:creationId xmlns:a16="http://schemas.microsoft.com/office/drawing/2014/main" id="{22C4852A-F439-ABB6-B645-2758D93AC8B7}"/>
              </a:ext>
            </a:extLst>
          </p:cNvPr>
          <p:cNvSpPr>
            <a:spLocks noChangeArrowheads="1"/>
          </p:cNvSpPr>
          <p:nvPr/>
        </p:nvSpPr>
        <p:spPr bwMode="auto">
          <a:xfrm>
            <a:off x="3837640" y="3891318"/>
            <a:ext cx="1150144" cy="237808"/>
          </a:xfrm>
          <a:prstGeom prst="rect">
            <a:avLst/>
          </a:prstGeom>
          <a:solidFill>
            <a:srgbClr val="92D050"/>
          </a:solidFill>
          <a:ln>
            <a:noFill/>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0" name="AutoShape 5">
            <a:extLst>
              <a:ext uri="{FF2B5EF4-FFF2-40B4-BE49-F238E27FC236}">
                <a16:creationId xmlns:a16="http://schemas.microsoft.com/office/drawing/2014/main" id="{9E71918E-6A8A-40FA-A3B8-DD57524A7F28}"/>
              </a:ext>
            </a:extLst>
          </p:cNvPr>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2" name="Rectangle 6">
            <a:extLst>
              <a:ext uri="{FF2B5EF4-FFF2-40B4-BE49-F238E27FC236}">
                <a16:creationId xmlns:a16="http://schemas.microsoft.com/office/drawing/2014/main" id="{9AC61E7B-F150-B18E-69BD-A94310589C86}"/>
              </a:ext>
            </a:extLst>
          </p:cNvPr>
          <p:cNvSpPr>
            <a:spLocks noChangeArrowheads="1"/>
          </p:cNvSpPr>
          <p:nvPr/>
        </p:nvSpPr>
        <p:spPr bwMode="auto">
          <a:xfrm>
            <a:off x="2832507" y="587638"/>
            <a:ext cx="349768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a:t>
            </a:r>
            <a:r>
              <a:rPr lang="zh-CN" altLang="en-US" sz="2000" b="1" dirty="0">
                <a:solidFill>
                  <a:schemeClr val="bg1"/>
                </a:solidFill>
                <a:latin typeface="微软雅黑" pitchFamily="34" charset="-122"/>
                <a:ea typeface="微软雅黑" pitchFamily="34" charset="-122"/>
              </a:rPr>
              <a:t>的接收缓冲区和接收窗口</a:t>
            </a:r>
          </a:p>
        </p:txBody>
      </p:sp>
      <p:cxnSp>
        <p:nvCxnSpPr>
          <p:cNvPr id="209" name="直接箭头连接符 208">
            <a:extLst>
              <a:ext uri="{FF2B5EF4-FFF2-40B4-BE49-F238E27FC236}">
                <a16:creationId xmlns:a16="http://schemas.microsoft.com/office/drawing/2014/main" id="{047D42BA-7C4F-B264-57FC-5045EA8CD5F1}"/>
              </a:ext>
            </a:extLst>
          </p:cNvPr>
          <p:cNvCxnSpPr>
            <a:cxnSpLocks/>
          </p:cNvCxnSpPr>
          <p:nvPr/>
        </p:nvCxnSpPr>
        <p:spPr>
          <a:xfrm>
            <a:off x="2320783" y="1149864"/>
            <a:ext cx="3679349" cy="0"/>
          </a:xfrm>
          <a:prstGeom prst="straightConnector1">
            <a:avLst/>
          </a:prstGeom>
          <a:noFill/>
          <a:ln w="9525" cap="flat" cmpd="sng" algn="ctr">
            <a:solidFill>
              <a:srgbClr val="000000"/>
            </a:solidFill>
            <a:prstDash val="solid"/>
            <a:headEnd type="triangle" w="sm" len="lg"/>
            <a:tailEnd type="triangle" w="sm" len="lg"/>
          </a:ln>
          <a:effectLst/>
        </p:spPr>
      </p:cxnSp>
      <p:sp>
        <p:nvSpPr>
          <p:cNvPr id="210" name="矩形 209">
            <a:extLst>
              <a:ext uri="{FF2B5EF4-FFF2-40B4-BE49-F238E27FC236}">
                <a16:creationId xmlns:a16="http://schemas.microsoft.com/office/drawing/2014/main" id="{69BF0806-CCDD-BF1B-3DBD-3A5BDE9C2A50}"/>
              </a:ext>
            </a:extLst>
          </p:cNvPr>
          <p:cNvSpPr/>
          <p:nvPr/>
        </p:nvSpPr>
        <p:spPr>
          <a:xfrm>
            <a:off x="3361960" y="1070588"/>
            <a:ext cx="796767" cy="147797"/>
          </a:xfrm>
          <a:prstGeom prst="rect">
            <a:avLst/>
          </a:prstGeom>
          <a:solidFill>
            <a:srgbClr val="C3E3F9"/>
          </a:solidFill>
          <a:ln w="25400" cap="flat" cmpd="sng" algn="ctr">
            <a:noFill/>
            <a:prstDash val="solid"/>
          </a:ln>
          <a:effectLst/>
        </p:spPr>
        <p:txBody>
          <a:bodyPr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cxnSp>
        <p:nvCxnSpPr>
          <p:cNvPr id="211" name="直接箭头连接符 210">
            <a:extLst>
              <a:ext uri="{FF2B5EF4-FFF2-40B4-BE49-F238E27FC236}">
                <a16:creationId xmlns:a16="http://schemas.microsoft.com/office/drawing/2014/main" id="{C1D66D5E-775F-7C3F-740E-5FFA86692BB5}"/>
              </a:ext>
            </a:extLst>
          </p:cNvPr>
          <p:cNvCxnSpPr>
            <a:cxnSpLocks/>
          </p:cNvCxnSpPr>
          <p:nvPr/>
        </p:nvCxnSpPr>
        <p:spPr>
          <a:xfrm>
            <a:off x="3184225" y="1329887"/>
            <a:ext cx="2815908" cy="0"/>
          </a:xfrm>
          <a:prstGeom prst="straightConnector1">
            <a:avLst/>
          </a:prstGeom>
          <a:noFill/>
          <a:ln w="9525" cap="flat" cmpd="sng" algn="ctr">
            <a:solidFill>
              <a:srgbClr val="000000"/>
            </a:solidFill>
            <a:prstDash val="solid"/>
            <a:headEnd type="triangle" w="sm" len="lg"/>
            <a:tailEnd type="triangle" w="sm" len="lg"/>
          </a:ln>
          <a:effectLst/>
        </p:spPr>
      </p:cxnSp>
      <p:sp>
        <p:nvSpPr>
          <p:cNvPr id="212" name="矩形 211">
            <a:extLst>
              <a:ext uri="{FF2B5EF4-FFF2-40B4-BE49-F238E27FC236}">
                <a16:creationId xmlns:a16="http://schemas.microsoft.com/office/drawing/2014/main" id="{8C25578D-AD0A-4D99-F294-18C52DFD92F1}"/>
              </a:ext>
            </a:extLst>
          </p:cNvPr>
          <p:cNvSpPr/>
          <p:nvPr/>
        </p:nvSpPr>
        <p:spPr>
          <a:xfrm>
            <a:off x="4245805" y="1268471"/>
            <a:ext cx="724197" cy="116979"/>
          </a:xfrm>
          <a:prstGeom prst="rect">
            <a:avLst/>
          </a:prstGeom>
          <a:solidFill>
            <a:srgbClr val="C3E3F9"/>
          </a:solidFill>
          <a:ln w="25400" cap="flat" cmpd="sng" algn="ctr">
            <a:noFill/>
            <a:prstDash val="solid"/>
          </a:ln>
          <a:effectLst/>
        </p:spPr>
        <p:txBody>
          <a:bodyPr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13" name="Rectangle 14">
            <a:extLst>
              <a:ext uri="{FF2B5EF4-FFF2-40B4-BE49-F238E27FC236}">
                <a16:creationId xmlns:a16="http://schemas.microsoft.com/office/drawing/2014/main" id="{D26978EE-9A91-B7AD-6C81-0C4EC3EDA77A}"/>
              </a:ext>
            </a:extLst>
          </p:cNvPr>
          <p:cNvSpPr>
            <a:spLocks noChangeArrowheads="1"/>
          </p:cNvSpPr>
          <p:nvPr/>
        </p:nvSpPr>
        <p:spPr bwMode="auto">
          <a:xfrm>
            <a:off x="4028775" y="1419897"/>
            <a:ext cx="290204" cy="252254"/>
          </a:xfrm>
          <a:prstGeom prst="rect">
            <a:avLst/>
          </a:prstGeom>
          <a:solidFill>
            <a:srgbClr val="FFC000"/>
          </a:solidFill>
          <a:ln>
            <a:noFill/>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nvGrpSpPr>
          <p:cNvPr id="214" name="组合 2">
            <a:extLst>
              <a:ext uri="{FF2B5EF4-FFF2-40B4-BE49-F238E27FC236}">
                <a16:creationId xmlns:a16="http://schemas.microsoft.com/office/drawing/2014/main" id="{7106A934-56A4-1F59-E629-E9794E95E570}"/>
              </a:ext>
            </a:extLst>
          </p:cNvPr>
          <p:cNvGrpSpPr>
            <a:grpSpLocks/>
          </p:cNvGrpSpPr>
          <p:nvPr/>
        </p:nvGrpSpPr>
        <p:grpSpPr bwMode="auto">
          <a:xfrm>
            <a:off x="1537352" y="1418787"/>
            <a:ext cx="6521927" cy="246698"/>
            <a:chOff x="1408113" y="1868488"/>
            <a:chExt cx="4040187" cy="352425"/>
          </a:xfrm>
        </p:grpSpPr>
        <p:sp>
          <p:nvSpPr>
            <p:cNvPr id="299" name="Line 10">
              <a:extLst>
                <a:ext uri="{FF2B5EF4-FFF2-40B4-BE49-F238E27FC236}">
                  <a16:creationId xmlns:a16="http://schemas.microsoft.com/office/drawing/2014/main" id="{F7ECA409-705B-4AA0-46AF-C4F7B6BE79F0}"/>
                </a:ext>
              </a:extLst>
            </p:cNvPr>
            <p:cNvSpPr>
              <a:spLocks noChangeShapeType="1"/>
            </p:cNvSpPr>
            <p:nvPr/>
          </p:nvSpPr>
          <p:spPr bwMode="auto">
            <a:xfrm>
              <a:off x="1408113" y="1868488"/>
              <a:ext cx="4032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00" name="Line 11">
              <a:extLst>
                <a:ext uri="{FF2B5EF4-FFF2-40B4-BE49-F238E27FC236}">
                  <a16:creationId xmlns:a16="http://schemas.microsoft.com/office/drawing/2014/main" id="{41B0A81F-16C5-D73D-BDF9-36D58586C73A}"/>
                </a:ext>
              </a:extLst>
            </p:cNvPr>
            <p:cNvSpPr>
              <a:spLocks noChangeShapeType="1"/>
            </p:cNvSpPr>
            <p:nvPr/>
          </p:nvSpPr>
          <p:spPr bwMode="auto">
            <a:xfrm>
              <a:off x="1416050" y="2220913"/>
              <a:ext cx="4032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215" name="Line 15">
            <a:extLst>
              <a:ext uri="{FF2B5EF4-FFF2-40B4-BE49-F238E27FC236}">
                <a16:creationId xmlns:a16="http://schemas.microsoft.com/office/drawing/2014/main" id="{4D4F0AB2-9C30-D5DF-C1A3-F64F18F58BC4}"/>
              </a:ext>
            </a:extLst>
          </p:cNvPr>
          <p:cNvSpPr>
            <a:spLocks noChangeShapeType="1"/>
          </p:cNvSpPr>
          <p:nvPr/>
        </p:nvSpPr>
        <p:spPr bwMode="auto">
          <a:xfrm>
            <a:off x="2320783" y="1413230"/>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6" name="Line 16">
            <a:extLst>
              <a:ext uri="{FF2B5EF4-FFF2-40B4-BE49-F238E27FC236}">
                <a16:creationId xmlns:a16="http://schemas.microsoft.com/office/drawing/2014/main" id="{7ABFC029-DD6E-E904-1793-DFB643516F92}"/>
              </a:ext>
            </a:extLst>
          </p:cNvPr>
          <p:cNvSpPr>
            <a:spLocks noChangeShapeType="1"/>
          </p:cNvSpPr>
          <p:nvPr/>
        </p:nvSpPr>
        <p:spPr bwMode="auto">
          <a:xfrm flipH="1">
            <a:off x="4034330" y="1413230"/>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7" name="Line 23">
            <a:extLst>
              <a:ext uri="{FF2B5EF4-FFF2-40B4-BE49-F238E27FC236}">
                <a16:creationId xmlns:a16="http://schemas.microsoft.com/office/drawing/2014/main" id="{A4B99EEF-ED51-6B2A-C883-8E94C7A689A6}"/>
              </a:ext>
            </a:extLst>
          </p:cNvPr>
          <p:cNvSpPr>
            <a:spLocks noChangeShapeType="1"/>
          </p:cNvSpPr>
          <p:nvPr/>
        </p:nvSpPr>
        <p:spPr bwMode="auto">
          <a:xfrm>
            <a:off x="3177557" y="1413230"/>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9" name="Text Box 27">
            <a:extLst>
              <a:ext uri="{FF2B5EF4-FFF2-40B4-BE49-F238E27FC236}">
                <a16:creationId xmlns:a16="http://schemas.microsoft.com/office/drawing/2014/main" id="{BAC9052A-3455-4BBB-24A0-5E952FE1F2C1}"/>
              </a:ext>
            </a:extLst>
          </p:cNvPr>
          <p:cNvSpPr txBox="1">
            <a:spLocks noChangeArrowheads="1"/>
          </p:cNvSpPr>
          <p:nvPr/>
        </p:nvSpPr>
        <p:spPr bwMode="auto">
          <a:xfrm>
            <a:off x="4213105" y="1184896"/>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接收窗口</a:t>
            </a:r>
          </a:p>
        </p:txBody>
      </p:sp>
      <p:sp>
        <p:nvSpPr>
          <p:cNvPr id="220" name="Freeform 36">
            <a:extLst>
              <a:ext uri="{FF2B5EF4-FFF2-40B4-BE49-F238E27FC236}">
                <a16:creationId xmlns:a16="http://schemas.microsoft.com/office/drawing/2014/main" id="{DA21CA53-0D53-6791-D81F-DBE93EFB3213}"/>
              </a:ext>
            </a:extLst>
          </p:cNvPr>
          <p:cNvSpPr>
            <a:spLocks/>
          </p:cNvSpPr>
          <p:nvPr/>
        </p:nvSpPr>
        <p:spPr bwMode="auto">
          <a:xfrm>
            <a:off x="8015940" y="1381004"/>
            <a:ext cx="48895" cy="300038"/>
          </a:xfrm>
          <a:custGeom>
            <a:avLst/>
            <a:gdLst>
              <a:gd name="T0" fmla="*/ 2147483646 w 36"/>
              <a:gd name="T1" fmla="*/ 0 h 286"/>
              <a:gd name="T2" fmla="*/ 2147483646 w 36"/>
              <a:gd name="T3" fmla="*/ 2147483646 h 286"/>
              <a:gd name="T4" fmla="*/ 2147483646 w 36"/>
              <a:gd name="T5" fmla="*/ 2147483646 h 286"/>
              <a:gd name="T6" fmla="*/ 2147483646 w 36"/>
              <a:gd name="T7" fmla="*/ 2147483646 h 286"/>
              <a:gd name="T8" fmla="*/ 0 w 36"/>
              <a:gd name="T9" fmla="*/ 2147483646 h 286"/>
              <a:gd name="T10" fmla="*/ 2147483646 w 36"/>
              <a:gd name="T11" fmla="*/ 2147483646 h 286"/>
              <a:gd name="T12" fmla="*/ 2147483646 w 36"/>
              <a:gd name="T13" fmla="*/ 2147483646 h 286"/>
              <a:gd name="T14" fmla="*/ 2147483646 w 36"/>
              <a:gd name="T15" fmla="*/ 2147483646 h 286"/>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86"/>
              <a:gd name="T26" fmla="*/ 36 w 36"/>
              <a:gd name="T27" fmla="*/ 286 h 28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1" name="Freeform 39">
            <a:extLst>
              <a:ext uri="{FF2B5EF4-FFF2-40B4-BE49-F238E27FC236}">
                <a16:creationId xmlns:a16="http://schemas.microsoft.com/office/drawing/2014/main" id="{9DE626CF-6B38-5157-1B44-AD8EC8ABCD0B}"/>
              </a:ext>
            </a:extLst>
          </p:cNvPr>
          <p:cNvSpPr>
            <a:spLocks/>
          </p:cNvSpPr>
          <p:nvPr/>
        </p:nvSpPr>
        <p:spPr bwMode="auto">
          <a:xfrm>
            <a:off x="1492902" y="1393227"/>
            <a:ext cx="73343" cy="304483"/>
          </a:xfrm>
          <a:custGeom>
            <a:avLst/>
            <a:gdLst>
              <a:gd name="T0" fmla="*/ 2147483646 w 66"/>
              <a:gd name="T1" fmla="*/ 0 h 274"/>
              <a:gd name="T2" fmla="*/ 2147483646 w 66"/>
              <a:gd name="T3" fmla="*/ 2147483646 h 274"/>
              <a:gd name="T4" fmla="*/ 2147483646 w 66"/>
              <a:gd name="T5" fmla="*/ 2147483646 h 274"/>
              <a:gd name="T6" fmla="*/ 2147483646 w 66"/>
              <a:gd name="T7" fmla="*/ 2147483646 h 274"/>
              <a:gd name="T8" fmla="*/ 0 w 66"/>
              <a:gd name="T9" fmla="*/ 2147483646 h 274"/>
              <a:gd name="T10" fmla="*/ 2147483646 w 66"/>
              <a:gd name="T11" fmla="*/ 2147483646 h 274"/>
              <a:gd name="T12" fmla="*/ 2147483646 w 66"/>
              <a:gd name="T13" fmla="*/ 2147483646 h 274"/>
              <a:gd name="T14" fmla="*/ 0 60000 65536"/>
              <a:gd name="T15" fmla="*/ 0 60000 65536"/>
              <a:gd name="T16" fmla="*/ 0 60000 65536"/>
              <a:gd name="T17" fmla="*/ 0 60000 65536"/>
              <a:gd name="T18" fmla="*/ 0 60000 65536"/>
              <a:gd name="T19" fmla="*/ 0 60000 65536"/>
              <a:gd name="T20" fmla="*/ 0 60000 65536"/>
              <a:gd name="T21" fmla="*/ 0 w 66"/>
              <a:gd name="T22" fmla="*/ 0 h 274"/>
              <a:gd name="T23" fmla="*/ 66 w 66"/>
              <a:gd name="T24" fmla="*/ 274 h 2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274">
                <a:moveTo>
                  <a:pt x="14" y="0"/>
                </a:moveTo>
                <a:lnTo>
                  <a:pt x="66" y="46"/>
                </a:lnTo>
                <a:lnTo>
                  <a:pt x="6" y="84"/>
                </a:lnTo>
                <a:lnTo>
                  <a:pt x="54" y="136"/>
                </a:lnTo>
                <a:lnTo>
                  <a:pt x="0" y="178"/>
                </a:lnTo>
                <a:lnTo>
                  <a:pt x="54" y="214"/>
                </a:lnTo>
                <a:lnTo>
                  <a:pt x="12" y="274"/>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2" name="Line 43">
            <a:extLst>
              <a:ext uri="{FF2B5EF4-FFF2-40B4-BE49-F238E27FC236}">
                <a16:creationId xmlns:a16="http://schemas.microsoft.com/office/drawing/2014/main" id="{744D88C7-3E00-18A5-41BF-FB9C3B186FD3}"/>
              </a:ext>
            </a:extLst>
          </p:cNvPr>
          <p:cNvSpPr>
            <a:spLocks noChangeShapeType="1"/>
          </p:cNvSpPr>
          <p:nvPr/>
        </p:nvSpPr>
        <p:spPr bwMode="auto">
          <a:xfrm>
            <a:off x="7565883" y="1724380"/>
            <a:ext cx="504508" cy="0"/>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3" name="Text Box 44">
            <a:extLst>
              <a:ext uri="{FF2B5EF4-FFF2-40B4-BE49-F238E27FC236}">
                <a16:creationId xmlns:a16="http://schemas.microsoft.com/office/drawing/2014/main" id="{1D243AF4-F036-580C-7CA0-608BCAF79571}"/>
              </a:ext>
            </a:extLst>
          </p:cNvPr>
          <p:cNvSpPr txBox="1">
            <a:spLocks noChangeArrowheads="1"/>
          </p:cNvSpPr>
          <p:nvPr/>
        </p:nvSpPr>
        <p:spPr bwMode="auto">
          <a:xfrm>
            <a:off x="7418028" y="1727714"/>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序号增大</a:t>
            </a:r>
          </a:p>
        </p:txBody>
      </p:sp>
      <p:sp>
        <p:nvSpPr>
          <p:cNvPr id="224" name="Text Box 65">
            <a:extLst>
              <a:ext uri="{FF2B5EF4-FFF2-40B4-BE49-F238E27FC236}">
                <a16:creationId xmlns:a16="http://schemas.microsoft.com/office/drawing/2014/main" id="{35FD1982-8A8D-7A1E-F729-70842E0C981A}"/>
              </a:ext>
            </a:extLst>
          </p:cNvPr>
          <p:cNvSpPr txBox="1">
            <a:spLocks noChangeArrowheads="1"/>
          </p:cNvSpPr>
          <p:nvPr/>
        </p:nvSpPr>
        <p:spPr bwMode="auto">
          <a:xfrm>
            <a:off x="910461" y="1423231"/>
            <a:ext cx="3914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(a)</a:t>
            </a:r>
          </a:p>
        </p:txBody>
      </p:sp>
      <p:sp>
        <p:nvSpPr>
          <p:cNvPr id="225" name="Line 19">
            <a:extLst>
              <a:ext uri="{FF2B5EF4-FFF2-40B4-BE49-F238E27FC236}">
                <a16:creationId xmlns:a16="http://schemas.microsoft.com/office/drawing/2014/main" id="{EDA195A3-E7BD-679B-EDE5-14A41E57DBC8}"/>
              </a:ext>
            </a:extLst>
          </p:cNvPr>
          <p:cNvSpPr>
            <a:spLocks noChangeShapeType="1"/>
          </p:cNvSpPr>
          <p:nvPr/>
        </p:nvSpPr>
        <p:spPr bwMode="auto">
          <a:xfrm flipV="1">
            <a:off x="2347453" y="1671040"/>
            <a:ext cx="0" cy="181134"/>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6" name="Line 19">
            <a:extLst>
              <a:ext uri="{FF2B5EF4-FFF2-40B4-BE49-F238E27FC236}">
                <a16:creationId xmlns:a16="http://schemas.microsoft.com/office/drawing/2014/main" id="{B4F8C0A3-13A6-0C39-B27F-F0180AA13824}"/>
              </a:ext>
            </a:extLst>
          </p:cNvPr>
          <p:cNvSpPr>
            <a:spLocks noChangeShapeType="1"/>
          </p:cNvSpPr>
          <p:nvPr/>
        </p:nvSpPr>
        <p:spPr bwMode="auto">
          <a:xfrm flipV="1">
            <a:off x="3206450" y="1679930"/>
            <a:ext cx="0" cy="181134"/>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cxnSp>
        <p:nvCxnSpPr>
          <p:cNvPr id="227" name="直接连接符 226">
            <a:extLst>
              <a:ext uri="{FF2B5EF4-FFF2-40B4-BE49-F238E27FC236}">
                <a16:creationId xmlns:a16="http://schemas.microsoft.com/office/drawing/2014/main" id="{450C3388-8A09-53D1-E6E1-4FDB5B78D30E}"/>
              </a:ext>
            </a:extLst>
          </p:cNvPr>
          <p:cNvCxnSpPr>
            <a:cxnSpLocks/>
          </p:cNvCxnSpPr>
          <p:nvPr/>
        </p:nvCxnSpPr>
        <p:spPr>
          <a:xfrm>
            <a:off x="3177557" y="1246542"/>
            <a:ext cx="0" cy="407829"/>
          </a:xfrm>
          <a:prstGeom prst="line">
            <a:avLst/>
          </a:prstGeom>
          <a:noFill/>
          <a:ln w="12700" cap="flat" cmpd="sng" algn="ctr">
            <a:solidFill>
              <a:srgbClr val="000000"/>
            </a:solidFill>
            <a:prstDash val="solid"/>
          </a:ln>
          <a:effectLst/>
        </p:spPr>
      </p:cxnSp>
      <p:sp>
        <p:nvSpPr>
          <p:cNvPr id="228" name="Text Box 27">
            <a:extLst>
              <a:ext uri="{FF2B5EF4-FFF2-40B4-BE49-F238E27FC236}">
                <a16:creationId xmlns:a16="http://schemas.microsoft.com/office/drawing/2014/main" id="{5C89C735-71B2-B67F-1CE7-D3A3A65C5ACA}"/>
              </a:ext>
            </a:extLst>
          </p:cNvPr>
          <p:cNvSpPr txBox="1">
            <a:spLocks noChangeArrowheads="1"/>
          </p:cNvSpPr>
          <p:nvPr/>
        </p:nvSpPr>
        <p:spPr bwMode="auto">
          <a:xfrm>
            <a:off x="3286143" y="999633"/>
            <a:ext cx="9541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接收缓冲区</a:t>
            </a:r>
          </a:p>
        </p:txBody>
      </p:sp>
      <p:sp>
        <p:nvSpPr>
          <p:cNvPr id="229" name="Text Box 20">
            <a:extLst>
              <a:ext uri="{FF2B5EF4-FFF2-40B4-BE49-F238E27FC236}">
                <a16:creationId xmlns:a16="http://schemas.microsoft.com/office/drawing/2014/main" id="{555BDB47-FBCA-D383-FE25-29E1F2109CAA}"/>
              </a:ext>
            </a:extLst>
          </p:cNvPr>
          <p:cNvSpPr txBox="1">
            <a:spLocks noChangeArrowheads="1"/>
          </p:cNvSpPr>
          <p:nvPr/>
        </p:nvSpPr>
        <p:spPr bwMode="auto">
          <a:xfrm>
            <a:off x="1856509" y="1832171"/>
            <a:ext cx="9541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下一个读取</a:t>
            </a:r>
            <a:endPar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的字节</a:t>
            </a:r>
          </a:p>
        </p:txBody>
      </p:sp>
      <p:sp>
        <p:nvSpPr>
          <p:cNvPr id="230" name="Text Box 20">
            <a:extLst>
              <a:ext uri="{FF2B5EF4-FFF2-40B4-BE49-F238E27FC236}">
                <a16:creationId xmlns:a16="http://schemas.microsoft.com/office/drawing/2014/main" id="{181DA6D4-9615-CD0F-AB2F-B7E399D4B39B}"/>
              </a:ext>
            </a:extLst>
          </p:cNvPr>
          <p:cNvSpPr txBox="1">
            <a:spLocks noChangeArrowheads="1"/>
          </p:cNvSpPr>
          <p:nvPr/>
        </p:nvSpPr>
        <p:spPr bwMode="auto">
          <a:xfrm>
            <a:off x="2706615" y="1827726"/>
            <a:ext cx="9541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下一个期望</a:t>
            </a:r>
            <a:endPar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收到的字节</a:t>
            </a:r>
          </a:p>
        </p:txBody>
      </p:sp>
      <p:sp>
        <p:nvSpPr>
          <p:cNvPr id="231" name="Text Box 20">
            <a:extLst>
              <a:ext uri="{FF2B5EF4-FFF2-40B4-BE49-F238E27FC236}">
                <a16:creationId xmlns:a16="http://schemas.microsoft.com/office/drawing/2014/main" id="{C7D58487-01A2-9F61-3A18-7BE25BC2AC5B}"/>
              </a:ext>
            </a:extLst>
          </p:cNvPr>
          <p:cNvSpPr txBox="1">
            <a:spLocks noChangeArrowheads="1"/>
          </p:cNvSpPr>
          <p:nvPr/>
        </p:nvSpPr>
        <p:spPr bwMode="auto">
          <a:xfrm>
            <a:off x="3840069" y="1819947"/>
            <a:ext cx="6463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未按序</a:t>
            </a:r>
            <a:endPar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收到的</a:t>
            </a:r>
          </a:p>
        </p:txBody>
      </p:sp>
      <p:sp>
        <p:nvSpPr>
          <p:cNvPr id="232" name="Line 19">
            <a:extLst>
              <a:ext uri="{FF2B5EF4-FFF2-40B4-BE49-F238E27FC236}">
                <a16:creationId xmlns:a16="http://schemas.microsoft.com/office/drawing/2014/main" id="{D115842B-354A-7335-82DE-5CBF52A4ECCD}"/>
              </a:ext>
            </a:extLst>
          </p:cNvPr>
          <p:cNvSpPr>
            <a:spLocks noChangeShapeType="1"/>
          </p:cNvSpPr>
          <p:nvPr/>
        </p:nvSpPr>
        <p:spPr bwMode="auto">
          <a:xfrm flipV="1">
            <a:off x="4163236" y="1681042"/>
            <a:ext cx="0" cy="181133"/>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33" name="Text Box 20">
            <a:extLst>
              <a:ext uri="{FF2B5EF4-FFF2-40B4-BE49-F238E27FC236}">
                <a16:creationId xmlns:a16="http://schemas.microsoft.com/office/drawing/2014/main" id="{35280F8F-436C-2F3E-E5AD-6F3156A0F78A}"/>
              </a:ext>
            </a:extLst>
          </p:cNvPr>
          <p:cNvSpPr txBox="1">
            <a:spLocks noChangeArrowheads="1"/>
          </p:cNvSpPr>
          <p:nvPr/>
        </p:nvSpPr>
        <p:spPr bwMode="auto">
          <a:xfrm>
            <a:off x="2278978" y="1397177"/>
            <a:ext cx="9541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尚未读取的</a:t>
            </a:r>
          </a:p>
        </p:txBody>
      </p:sp>
      <p:cxnSp>
        <p:nvCxnSpPr>
          <p:cNvPr id="234" name="直接连接符 233">
            <a:extLst>
              <a:ext uri="{FF2B5EF4-FFF2-40B4-BE49-F238E27FC236}">
                <a16:creationId xmlns:a16="http://schemas.microsoft.com/office/drawing/2014/main" id="{337E1257-E65B-3567-0D9F-E7BF1218F438}"/>
              </a:ext>
            </a:extLst>
          </p:cNvPr>
          <p:cNvCxnSpPr>
            <a:cxnSpLocks/>
          </p:cNvCxnSpPr>
          <p:nvPr/>
        </p:nvCxnSpPr>
        <p:spPr>
          <a:xfrm>
            <a:off x="2318560" y="1084300"/>
            <a:ext cx="0" cy="570072"/>
          </a:xfrm>
          <a:prstGeom prst="line">
            <a:avLst/>
          </a:prstGeom>
          <a:noFill/>
          <a:ln w="9525" cap="flat" cmpd="sng" algn="ctr">
            <a:solidFill>
              <a:srgbClr val="000000"/>
            </a:solidFill>
            <a:prstDash val="solid"/>
          </a:ln>
          <a:effectLst/>
        </p:spPr>
      </p:cxnSp>
      <p:cxnSp>
        <p:nvCxnSpPr>
          <p:cNvPr id="235" name="直接连接符 234">
            <a:extLst>
              <a:ext uri="{FF2B5EF4-FFF2-40B4-BE49-F238E27FC236}">
                <a16:creationId xmlns:a16="http://schemas.microsoft.com/office/drawing/2014/main" id="{F8C70F29-1D8F-3969-86D3-877AC441048D}"/>
              </a:ext>
            </a:extLst>
          </p:cNvPr>
          <p:cNvCxnSpPr>
            <a:cxnSpLocks/>
          </p:cNvCxnSpPr>
          <p:nvPr/>
        </p:nvCxnSpPr>
        <p:spPr>
          <a:xfrm>
            <a:off x="6000132" y="1095412"/>
            <a:ext cx="0" cy="570072"/>
          </a:xfrm>
          <a:prstGeom prst="line">
            <a:avLst/>
          </a:prstGeom>
          <a:noFill/>
          <a:ln w="9525" cap="flat" cmpd="sng" algn="ctr">
            <a:solidFill>
              <a:srgbClr val="000000"/>
            </a:solidFill>
            <a:prstDash val="solid"/>
          </a:ln>
          <a:effectLst/>
        </p:spPr>
      </p:cxnSp>
      <p:cxnSp>
        <p:nvCxnSpPr>
          <p:cNvPr id="236" name="直接连接符 235">
            <a:extLst>
              <a:ext uri="{FF2B5EF4-FFF2-40B4-BE49-F238E27FC236}">
                <a16:creationId xmlns:a16="http://schemas.microsoft.com/office/drawing/2014/main" id="{78254F90-D7DB-3252-4B3E-BEC015319B4F}"/>
              </a:ext>
            </a:extLst>
          </p:cNvPr>
          <p:cNvCxnSpPr>
            <a:cxnSpLocks/>
          </p:cNvCxnSpPr>
          <p:nvPr/>
        </p:nvCxnSpPr>
        <p:spPr>
          <a:xfrm flipH="1">
            <a:off x="2311252" y="1419897"/>
            <a:ext cx="5555" cy="252254"/>
          </a:xfrm>
          <a:prstGeom prst="line">
            <a:avLst/>
          </a:prstGeom>
          <a:noFill/>
          <a:ln w="19050" cap="flat" cmpd="sng" algn="ctr">
            <a:solidFill>
              <a:srgbClr val="000000"/>
            </a:solidFill>
            <a:prstDash val="solid"/>
          </a:ln>
          <a:effectLst/>
        </p:spPr>
      </p:cxnSp>
      <p:cxnSp>
        <p:nvCxnSpPr>
          <p:cNvPr id="237" name="直接连接符 236">
            <a:extLst>
              <a:ext uri="{FF2B5EF4-FFF2-40B4-BE49-F238E27FC236}">
                <a16:creationId xmlns:a16="http://schemas.microsoft.com/office/drawing/2014/main" id="{09759855-47CE-EF5D-7594-3472C2B5AC09}"/>
              </a:ext>
            </a:extLst>
          </p:cNvPr>
          <p:cNvCxnSpPr>
            <a:cxnSpLocks/>
          </p:cNvCxnSpPr>
          <p:nvPr/>
        </p:nvCxnSpPr>
        <p:spPr>
          <a:xfrm>
            <a:off x="6000132" y="1407674"/>
            <a:ext cx="5556" cy="258921"/>
          </a:xfrm>
          <a:prstGeom prst="line">
            <a:avLst/>
          </a:prstGeom>
          <a:noFill/>
          <a:ln w="19050" cap="flat" cmpd="sng" algn="ctr">
            <a:solidFill>
              <a:srgbClr val="000000"/>
            </a:solidFill>
            <a:prstDash val="solid"/>
          </a:ln>
          <a:effectLst/>
        </p:spPr>
      </p:cxnSp>
      <p:cxnSp>
        <p:nvCxnSpPr>
          <p:cNvPr id="238" name="直接箭头连接符 237">
            <a:extLst>
              <a:ext uri="{FF2B5EF4-FFF2-40B4-BE49-F238E27FC236}">
                <a16:creationId xmlns:a16="http://schemas.microsoft.com/office/drawing/2014/main" id="{5A08FD18-E94C-2813-AB89-656C9D84D0CB}"/>
              </a:ext>
            </a:extLst>
          </p:cNvPr>
          <p:cNvCxnSpPr>
            <a:cxnSpLocks/>
          </p:cNvCxnSpPr>
          <p:nvPr/>
        </p:nvCxnSpPr>
        <p:spPr>
          <a:xfrm>
            <a:off x="2323005" y="2414467"/>
            <a:ext cx="3677127" cy="0"/>
          </a:xfrm>
          <a:prstGeom prst="straightConnector1">
            <a:avLst/>
          </a:prstGeom>
          <a:noFill/>
          <a:ln w="9525" cap="flat" cmpd="sng" algn="ctr">
            <a:solidFill>
              <a:srgbClr val="000000"/>
            </a:solidFill>
            <a:prstDash val="solid"/>
            <a:headEnd type="triangle" w="sm" len="lg"/>
            <a:tailEnd type="triangle" w="sm" len="lg"/>
          </a:ln>
          <a:effectLst/>
        </p:spPr>
      </p:cxnSp>
      <p:sp>
        <p:nvSpPr>
          <p:cNvPr id="239" name="矩形 238">
            <a:extLst>
              <a:ext uri="{FF2B5EF4-FFF2-40B4-BE49-F238E27FC236}">
                <a16:creationId xmlns:a16="http://schemas.microsoft.com/office/drawing/2014/main" id="{7E37655A-1106-428A-1361-36020414495E}"/>
              </a:ext>
            </a:extLst>
          </p:cNvPr>
          <p:cNvSpPr/>
          <p:nvPr/>
        </p:nvSpPr>
        <p:spPr>
          <a:xfrm>
            <a:off x="3635946" y="2299391"/>
            <a:ext cx="796767" cy="195581"/>
          </a:xfrm>
          <a:prstGeom prst="rect">
            <a:avLst/>
          </a:prstGeom>
          <a:solidFill>
            <a:srgbClr val="C3E3F9"/>
          </a:solidFill>
          <a:ln w="25400" cap="flat" cmpd="sng" algn="ctr">
            <a:noFill/>
            <a:prstDash val="solid"/>
          </a:ln>
          <a:effectLst/>
        </p:spPr>
        <p:txBody>
          <a:bodyPr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cxnSp>
        <p:nvCxnSpPr>
          <p:cNvPr id="240" name="直接箭头连接符 239">
            <a:extLst>
              <a:ext uri="{FF2B5EF4-FFF2-40B4-BE49-F238E27FC236}">
                <a16:creationId xmlns:a16="http://schemas.microsoft.com/office/drawing/2014/main" id="{A6265266-40E5-BFEA-470D-62365209AB30}"/>
              </a:ext>
            </a:extLst>
          </p:cNvPr>
          <p:cNvCxnSpPr>
            <a:cxnSpLocks/>
          </p:cNvCxnSpPr>
          <p:nvPr/>
        </p:nvCxnSpPr>
        <p:spPr>
          <a:xfrm>
            <a:off x="4588845" y="2594489"/>
            <a:ext cx="1411288" cy="0"/>
          </a:xfrm>
          <a:prstGeom prst="straightConnector1">
            <a:avLst/>
          </a:prstGeom>
          <a:noFill/>
          <a:ln w="9525" cap="flat" cmpd="sng" algn="ctr">
            <a:solidFill>
              <a:srgbClr val="000000"/>
            </a:solidFill>
            <a:prstDash val="solid"/>
            <a:headEnd type="triangle" w="sm" len="lg"/>
            <a:tailEnd type="triangle" w="sm" len="lg"/>
          </a:ln>
          <a:effectLst/>
        </p:spPr>
      </p:cxnSp>
      <p:sp>
        <p:nvSpPr>
          <p:cNvPr id="241" name="矩形 240">
            <a:extLst>
              <a:ext uri="{FF2B5EF4-FFF2-40B4-BE49-F238E27FC236}">
                <a16:creationId xmlns:a16="http://schemas.microsoft.com/office/drawing/2014/main" id="{C94774E8-982B-359D-0BA8-4DF5DC72F6DE}"/>
              </a:ext>
            </a:extLst>
          </p:cNvPr>
          <p:cNvSpPr/>
          <p:nvPr/>
        </p:nvSpPr>
        <p:spPr>
          <a:xfrm>
            <a:off x="4970002" y="2511144"/>
            <a:ext cx="614721" cy="138907"/>
          </a:xfrm>
          <a:prstGeom prst="rect">
            <a:avLst/>
          </a:prstGeom>
          <a:solidFill>
            <a:srgbClr val="C3E3F9"/>
          </a:solidFill>
          <a:ln w="25400" cap="flat" cmpd="sng" algn="ctr">
            <a:noFill/>
            <a:prstDash val="solid"/>
          </a:ln>
          <a:effectLst/>
        </p:spPr>
        <p:txBody>
          <a:bodyPr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grpSp>
        <p:nvGrpSpPr>
          <p:cNvPr id="242" name="组合 2">
            <a:extLst>
              <a:ext uri="{FF2B5EF4-FFF2-40B4-BE49-F238E27FC236}">
                <a16:creationId xmlns:a16="http://schemas.microsoft.com/office/drawing/2014/main" id="{5F01D311-9E4E-0DD0-B4D8-DF5F24EDCE48}"/>
              </a:ext>
            </a:extLst>
          </p:cNvPr>
          <p:cNvGrpSpPr>
            <a:grpSpLocks/>
          </p:cNvGrpSpPr>
          <p:nvPr/>
        </p:nvGrpSpPr>
        <p:grpSpPr bwMode="auto">
          <a:xfrm>
            <a:off x="1547353" y="2683389"/>
            <a:ext cx="6514148" cy="246698"/>
            <a:chOff x="1408113" y="1868488"/>
            <a:chExt cx="4040187" cy="352425"/>
          </a:xfrm>
        </p:grpSpPr>
        <p:sp>
          <p:nvSpPr>
            <p:cNvPr id="297" name="Line 10">
              <a:extLst>
                <a:ext uri="{FF2B5EF4-FFF2-40B4-BE49-F238E27FC236}">
                  <a16:creationId xmlns:a16="http://schemas.microsoft.com/office/drawing/2014/main" id="{AA3ACD61-6412-FD78-6531-3ED7DDA49878}"/>
                </a:ext>
              </a:extLst>
            </p:cNvPr>
            <p:cNvSpPr>
              <a:spLocks noChangeShapeType="1"/>
            </p:cNvSpPr>
            <p:nvPr/>
          </p:nvSpPr>
          <p:spPr bwMode="auto">
            <a:xfrm>
              <a:off x="1408113" y="1868488"/>
              <a:ext cx="4032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98" name="Line 11">
              <a:extLst>
                <a:ext uri="{FF2B5EF4-FFF2-40B4-BE49-F238E27FC236}">
                  <a16:creationId xmlns:a16="http://schemas.microsoft.com/office/drawing/2014/main" id="{D1B79525-CC15-E7DB-6390-B66E4091935F}"/>
                </a:ext>
              </a:extLst>
            </p:cNvPr>
            <p:cNvSpPr>
              <a:spLocks noChangeShapeType="1"/>
            </p:cNvSpPr>
            <p:nvPr/>
          </p:nvSpPr>
          <p:spPr bwMode="auto">
            <a:xfrm>
              <a:off x="1416050" y="2220913"/>
              <a:ext cx="4032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243" name="Line 15">
            <a:extLst>
              <a:ext uri="{FF2B5EF4-FFF2-40B4-BE49-F238E27FC236}">
                <a16:creationId xmlns:a16="http://schemas.microsoft.com/office/drawing/2014/main" id="{D202FE05-7760-1412-E834-7761C206F08C}"/>
              </a:ext>
            </a:extLst>
          </p:cNvPr>
          <p:cNvSpPr>
            <a:spLocks noChangeShapeType="1"/>
          </p:cNvSpPr>
          <p:nvPr/>
        </p:nvSpPr>
        <p:spPr bwMode="auto">
          <a:xfrm>
            <a:off x="2323005" y="2677833"/>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45" name="Text Box 27">
            <a:extLst>
              <a:ext uri="{FF2B5EF4-FFF2-40B4-BE49-F238E27FC236}">
                <a16:creationId xmlns:a16="http://schemas.microsoft.com/office/drawing/2014/main" id="{C16AF9DB-2D34-614E-B09F-0582F56DFF78}"/>
              </a:ext>
            </a:extLst>
          </p:cNvPr>
          <p:cNvSpPr txBox="1">
            <a:spLocks noChangeArrowheads="1"/>
          </p:cNvSpPr>
          <p:nvPr/>
        </p:nvSpPr>
        <p:spPr bwMode="auto">
          <a:xfrm>
            <a:off x="4887465" y="2449499"/>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接收窗口</a:t>
            </a:r>
          </a:p>
        </p:txBody>
      </p:sp>
      <p:sp>
        <p:nvSpPr>
          <p:cNvPr id="246" name="Freeform 36">
            <a:extLst>
              <a:ext uri="{FF2B5EF4-FFF2-40B4-BE49-F238E27FC236}">
                <a16:creationId xmlns:a16="http://schemas.microsoft.com/office/drawing/2014/main" id="{E759F151-8766-9656-6347-044D31A4E3B1}"/>
              </a:ext>
            </a:extLst>
          </p:cNvPr>
          <p:cNvSpPr>
            <a:spLocks/>
          </p:cNvSpPr>
          <p:nvPr/>
        </p:nvSpPr>
        <p:spPr bwMode="auto">
          <a:xfrm>
            <a:off x="8018162" y="2645607"/>
            <a:ext cx="48895" cy="300038"/>
          </a:xfrm>
          <a:custGeom>
            <a:avLst/>
            <a:gdLst>
              <a:gd name="T0" fmla="*/ 2147483646 w 36"/>
              <a:gd name="T1" fmla="*/ 0 h 286"/>
              <a:gd name="T2" fmla="*/ 2147483646 w 36"/>
              <a:gd name="T3" fmla="*/ 2147483646 h 286"/>
              <a:gd name="T4" fmla="*/ 2147483646 w 36"/>
              <a:gd name="T5" fmla="*/ 2147483646 h 286"/>
              <a:gd name="T6" fmla="*/ 2147483646 w 36"/>
              <a:gd name="T7" fmla="*/ 2147483646 h 286"/>
              <a:gd name="T8" fmla="*/ 0 w 36"/>
              <a:gd name="T9" fmla="*/ 2147483646 h 286"/>
              <a:gd name="T10" fmla="*/ 2147483646 w 36"/>
              <a:gd name="T11" fmla="*/ 2147483646 h 286"/>
              <a:gd name="T12" fmla="*/ 2147483646 w 36"/>
              <a:gd name="T13" fmla="*/ 2147483646 h 286"/>
              <a:gd name="T14" fmla="*/ 2147483646 w 36"/>
              <a:gd name="T15" fmla="*/ 2147483646 h 286"/>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86"/>
              <a:gd name="T26" fmla="*/ 36 w 36"/>
              <a:gd name="T27" fmla="*/ 286 h 28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47" name="Freeform 39">
            <a:extLst>
              <a:ext uri="{FF2B5EF4-FFF2-40B4-BE49-F238E27FC236}">
                <a16:creationId xmlns:a16="http://schemas.microsoft.com/office/drawing/2014/main" id="{67520BB1-F43B-384A-8EFB-931ED94F27B9}"/>
              </a:ext>
            </a:extLst>
          </p:cNvPr>
          <p:cNvSpPr>
            <a:spLocks/>
          </p:cNvSpPr>
          <p:nvPr/>
        </p:nvSpPr>
        <p:spPr bwMode="auto">
          <a:xfrm>
            <a:off x="1495124" y="2657830"/>
            <a:ext cx="73343" cy="304483"/>
          </a:xfrm>
          <a:custGeom>
            <a:avLst/>
            <a:gdLst>
              <a:gd name="T0" fmla="*/ 2147483646 w 66"/>
              <a:gd name="T1" fmla="*/ 0 h 274"/>
              <a:gd name="T2" fmla="*/ 2147483646 w 66"/>
              <a:gd name="T3" fmla="*/ 2147483646 h 274"/>
              <a:gd name="T4" fmla="*/ 2147483646 w 66"/>
              <a:gd name="T5" fmla="*/ 2147483646 h 274"/>
              <a:gd name="T6" fmla="*/ 2147483646 w 66"/>
              <a:gd name="T7" fmla="*/ 2147483646 h 274"/>
              <a:gd name="T8" fmla="*/ 0 w 66"/>
              <a:gd name="T9" fmla="*/ 2147483646 h 274"/>
              <a:gd name="T10" fmla="*/ 2147483646 w 66"/>
              <a:gd name="T11" fmla="*/ 2147483646 h 274"/>
              <a:gd name="T12" fmla="*/ 2147483646 w 66"/>
              <a:gd name="T13" fmla="*/ 2147483646 h 274"/>
              <a:gd name="T14" fmla="*/ 0 60000 65536"/>
              <a:gd name="T15" fmla="*/ 0 60000 65536"/>
              <a:gd name="T16" fmla="*/ 0 60000 65536"/>
              <a:gd name="T17" fmla="*/ 0 60000 65536"/>
              <a:gd name="T18" fmla="*/ 0 60000 65536"/>
              <a:gd name="T19" fmla="*/ 0 60000 65536"/>
              <a:gd name="T20" fmla="*/ 0 60000 65536"/>
              <a:gd name="T21" fmla="*/ 0 w 66"/>
              <a:gd name="T22" fmla="*/ 0 h 274"/>
              <a:gd name="T23" fmla="*/ 66 w 66"/>
              <a:gd name="T24" fmla="*/ 274 h 2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274">
                <a:moveTo>
                  <a:pt x="14" y="0"/>
                </a:moveTo>
                <a:lnTo>
                  <a:pt x="66" y="46"/>
                </a:lnTo>
                <a:lnTo>
                  <a:pt x="6" y="84"/>
                </a:lnTo>
                <a:lnTo>
                  <a:pt x="54" y="136"/>
                </a:lnTo>
                <a:lnTo>
                  <a:pt x="0" y="178"/>
                </a:lnTo>
                <a:lnTo>
                  <a:pt x="54" y="214"/>
                </a:lnTo>
                <a:lnTo>
                  <a:pt x="12" y="274"/>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48" name="Line 43">
            <a:extLst>
              <a:ext uri="{FF2B5EF4-FFF2-40B4-BE49-F238E27FC236}">
                <a16:creationId xmlns:a16="http://schemas.microsoft.com/office/drawing/2014/main" id="{806F0D9D-E083-B01C-1117-BD0498E34318}"/>
              </a:ext>
            </a:extLst>
          </p:cNvPr>
          <p:cNvSpPr>
            <a:spLocks noChangeShapeType="1"/>
          </p:cNvSpPr>
          <p:nvPr/>
        </p:nvSpPr>
        <p:spPr bwMode="auto">
          <a:xfrm>
            <a:off x="7565883" y="2988983"/>
            <a:ext cx="504508" cy="0"/>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49" name="Text Box 44">
            <a:extLst>
              <a:ext uri="{FF2B5EF4-FFF2-40B4-BE49-F238E27FC236}">
                <a16:creationId xmlns:a16="http://schemas.microsoft.com/office/drawing/2014/main" id="{990C92B2-6E3E-6A97-641F-B4C56DD5B08E}"/>
              </a:ext>
            </a:extLst>
          </p:cNvPr>
          <p:cNvSpPr txBox="1">
            <a:spLocks noChangeArrowheads="1"/>
          </p:cNvSpPr>
          <p:nvPr/>
        </p:nvSpPr>
        <p:spPr bwMode="auto">
          <a:xfrm>
            <a:off x="7418028" y="2992316"/>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序号增大</a:t>
            </a:r>
          </a:p>
        </p:txBody>
      </p:sp>
      <p:sp>
        <p:nvSpPr>
          <p:cNvPr id="250" name="Text Box 65">
            <a:extLst>
              <a:ext uri="{FF2B5EF4-FFF2-40B4-BE49-F238E27FC236}">
                <a16:creationId xmlns:a16="http://schemas.microsoft.com/office/drawing/2014/main" id="{90E9D35C-71EC-1927-8210-DBA3C6792259}"/>
              </a:ext>
            </a:extLst>
          </p:cNvPr>
          <p:cNvSpPr txBox="1">
            <a:spLocks noChangeArrowheads="1"/>
          </p:cNvSpPr>
          <p:nvPr/>
        </p:nvSpPr>
        <p:spPr bwMode="auto">
          <a:xfrm>
            <a:off x="904913" y="2687834"/>
            <a:ext cx="40588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(b)</a:t>
            </a:r>
          </a:p>
        </p:txBody>
      </p:sp>
      <p:sp>
        <p:nvSpPr>
          <p:cNvPr id="251" name="Line 19">
            <a:extLst>
              <a:ext uri="{FF2B5EF4-FFF2-40B4-BE49-F238E27FC236}">
                <a16:creationId xmlns:a16="http://schemas.microsoft.com/office/drawing/2014/main" id="{A36D7AF0-6692-CF0E-4325-5BA814169AA3}"/>
              </a:ext>
            </a:extLst>
          </p:cNvPr>
          <p:cNvSpPr>
            <a:spLocks noChangeShapeType="1"/>
          </p:cNvSpPr>
          <p:nvPr/>
        </p:nvSpPr>
        <p:spPr bwMode="auto">
          <a:xfrm flipV="1">
            <a:off x="2346342" y="2935643"/>
            <a:ext cx="0" cy="181134"/>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52" name="Line 19">
            <a:extLst>
              <a:ext uri="{FF2B5EF4-FFF2-40B4-BE49-F238E27FC236}">
                <a16:creationId xmlns:a16="http://schemas.microsoft.com/office/drawing/2014/main" id="{D8399F7C-27DB-973D-D5BE-990626E532E1}"/>
              </a:ext>
            </a:extLst>
          </p:cNvPr>
          <p:cNvSpPr>
            <a:spLocks noChangeShapeType="1"/>
          </p:cNvSpPr>
          <p:nvPr/>
        </p:nvSpPr>
        <p:spPr bwMode="auto">
          <a:xfrm flipV="1">
            <a:off x="4613292" y="2933420"/>
            <a:ext cx="0" cy="181134"/>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54" name="Text Box 27">
            <a:extLst>
              <a:ext uri="{FF2B5EF4-FFF2-40B4-BE49-F238E27FC236}">
                <a16:creationId xmlns:a16="http://schemas.microsoft.com/office/drawing/2014/main" id="{BAD4DC67-0240-C3D8-09DD-CC01F45703EF}"/>
              </a:ext>
            </a:extLst>
          </p:cNvPr>
          <p:cNvSpPr txBox="1">
            <a:spLocks noChangeArrowheads="1"/>
          </p:cNvSpPr>
          <p:nvPr/>
        </p:nvSpPr>
        <p:spPr bwMode="auto">
          <a:xfrm>
            <a:off x="3578082" y="2273575"/>
            <a:ext cx="9541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接收缓冲区</a:t>
            </a:r>
          </a:p>
        </p:txBody>
      </p:sp>
      <p:cxnSp>
        <p:nvCxnSpPr>
          <p:cNvPr id="255" name="直接连接符 254">
            <a:extLst>
              <a:ext uri="{FF2B5EF4-FFF2-40B4-BE49-F238E27FC236}">
                <a16:creationId xmlns:a16="http://schemas.microsoft.com/office/drawing/2014/main" id="{86E92E11-71AD-9ECA-D3DB-64A0925AA38F}"/>
              </a:ext>
            </a:extLst>
          </p:cNvPr>
          <p:cNvCxnSpPr>
            <a:cxnSpLocks/>
          </p:cNvCxnSpPr>
          <p:nvPr/>
        </p:nvCxnSpPr>
        <p:spPr>
          <a:xfrm>
            <a:off x="2320783" y="2348903"/>
            <a:ext cx="0" cy="570072"/>
          </a:xfrm>
          <a:prstGeom prst="line">
            <a:avLst/>
          </a:prstGeom>
          <a:noFill/>
          <a:ln w="9525" cap="flat" cmpd="sng" algn="ctr">
            <a:solidFill>
              <a:srgbClr val="000000"/>
            </a:solidFill>
            <a:prstDash val="solid"/>
          </a:ln>
          <a:effectLst/>
        </p:spPr>
      </p:cxnSp>
      <p:cxnSp>
        <p:nvCxnSpPr>
          <p:cNvPr id="256" name="直接连接符 255">
            <a:extLst>
              <a:ext uri="{FF2B5EF4-FFF2-40B4-BE49-F238E27FC236}">
                <a16:creationId xmlns:a16="http://schemas.microsoft.com/office/drawing/2014/main" id="{F777E1E2-8484-880F-6E22-A5C85DB6EE6A}"/>
              </a:ext>
            </a:extLst>
          </p:cNvPr>
          <p:cNvCxnSpPr>
            <a:cxnSpLocks/>
          </p:cNvCxnSpPr>
          <p:nvPr/>
        </p:nvCxnSpPr>
        <p:spPr>
          <a:xfrm>
            <a:off x="6005688" y="2358904"/>
            <a:ext cx="0" cy="570071"/>
          </a:xfrm>
          <a:prstGeom prst="line">
            <a:avLst/>
          </a:prstGeom>
          <a:noFill/>
          <a:ln w="9525" cap="flat" cmpd="sng" algn="ctr">
            <a:solidFill>
              <a:srgbClr val="000000"/>
            </a:solidFill>
            <a:prstDash val="solid"/>
          </a:ln>
          <a:effectLst/>
        </p:spPr>
      </p:cxnSp>
      <p:cxnSp>
        <p:nvCxnSpPr>
          <p:cNvPr id="257" name="直接连接符 256">
            <a:extLst>
              <a:ext uri="{FF2B5EF4-FFF2-40B4-BE49-F238E27FC236}">
                <a16:creationId xmlns:a16="http://schemas.microsoft.com/office/drawing/2014/main" id="{6722FF94-C1DF-A599-1178-79DFDC4D8908}"/>
              </a:ext>
            </a:extLst>
          </p:cNvPr>
          <p:cNvCxnSpPr>
            <a:cxnSpLocks/>
          </p:cNvCxnSpPr>
          <p:nvPr/>
        </p:nvCxnSpPr>
        <p:spPr>
          <a:xfrm>
            <a:off x="2319432" y="2676419"/>
            <a:ext cx="0" cy="252321"/>
          </a:xfrm>
          <a:prstGeom prst="line">
            <a:avLst/>
          </a:prstGeom>
          <a:noFill/>
          <a:ln w="19050" cap="flat" cmpd="sng" algn="ctr">
            <a:solidFill>
              <a:srgbClr val="000000"/>
            </a:solidFill>
            <a:prstDash val="solid"/>
          </a:ln>
          <a:effectLst/>
        </p:spPr>
      </p:cxnSp>
      <p:cxnSp>
        <p:nvCxnSpPr>
          <p:cNvPr id="258" name="直接连接符 257">
            <a:extLst>
              <a:ext uri="{FF2B5EF4-FFF2-40B4-BE49-F238E27FC236}">
                <a16:creationId xmlns:a16="http://schemas.microsoft.com/office/drawing/2014/main" id="{45633362-4B15-A275-94BA-DE96D832B6DD}"/>
              </a:ext>
            </a:extLst>
          </p:cNvPr>
          <p:cNvCxnSpPr>
            <a:cxnSpLocks/>
          </p:cNvCxnSpPr>
          <p:nvPr/>
        </p:nvCxnSpPr>
        <p:spPr>
          <a:xfrm>
            <a:off x="6000132" y="2672277"/>
            <a:ext cx="6668" cy="258921"/>
          </a:xfrm>
          <a:prstGeom prst="line">
            <a:avLst/>
          </a:prstGeom>
          <a:noFill/>
          <a:ln w="19050" cap="flat" cmpd="sng" algn="ctr">
            <a:solidFill>
              <a:srgbClr val="000000"/>
            </a:solidFill>
            <a:prstDash val="solid"/>
          </a:ln>
          <a:effectLst/>
        </p:spPr>
      </p:cxnSp>
      <p:cxnSp>
        <p:nvCxnSpPr>
          <p:cNvPr id="259" name="直接箭头连接符 258">
            <a:extLst>
              <a:ext uri="{FF2B5EF4-FFF2-40B4-BE49-F238E27FC236}">
                <a16:creationId xmlns:a16="http://schemas.microsoft.com/office/drawing/2014/main" id="{A5AA3AB3-AF3D-0322-B292-C79489EC2F64}"/>
              </a:ext>
            </a:extLst>
          </p:cNvPr>
          <p:cNvCxnSpPr>
            <a:cxnSpLocks/>
          </p:cNvCxnSpPr>
          <p:nvPr/>
        </p:nvCxnSpPr>
        <p:spPr>
          <a:xfrm>
            <a:off x="3830972" y="3623507"/>
            <a:ext cx="3983831" cy="0"/>
          </a:xfrm>
          <a:prstGeom prst="straightConnector1">
            <a:avLst/>
          </a:prstGeom>
          <a:noFill/>
          <a:ln w="9525" cap="flat" cmpd="sng" algn="ctr">
            <a:solidFill>
              <a:srgbClr val="000000"/>
            </a:solidFill>
            <a:prstDash val="solid"/>
            <a:headEnd type="triangle" w="sm" len="lg"/>
            <a:tailEnd type="triangle" w="sm" len="lg"/>
          </a:ln>
          <a:effectLst/>
        </p:spPr>
      </p:cxnSp>
      <p:sp>
        <p:nvSpPr>
          <p:cNvPr id="260" name="矩形 259">
            <a:extLst>
              <a:ext uri="{FF2B5EF4-FFF2-40B4-BE49-F238E27FC236}">
                <a16:creationId xmlns:a16="http://schemas.microsoft.com/office/drawing/2014/main" id="{9ABF6AD0-4DAD-B439-80AC-F496F9D9F535}"/>
              </a:ext>
            </a:extLst>
          </p:cNvPr>
          <p:cNvSpPr/>
          <p:nvPr/>
        </p:nvSpPr>
        <p:spPr>
          <a:xfrm>
            <a:off x="5050013" y="3497935"/>
            <a:ext cx="796767" cy="188825"/>
          </a:xfrm>
          <a:prstGeom prst="rect">
            <a:avLst/>
          </a:prstGeom>
          <a:solidFill>
            <a:srgbClr val="C3E3F9"/>
          </a:solidFill>
          <a:ln w="25400" cap="flat" cmpd="sng" algn="ctr">
            <a:noFill/>
            <a:prstDash val="solid"/>
          </a:ln>
          <a:effectLst/>
        </p:spPr>
        <p:txBody>
          <a:bodyPr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cxnSp>
        <p:nvCxnSpPr>
          <p:cNvPr id="261" name="直接箭头连接符 260">
            <a:extLst>
              <a:ext uri="{FF2B5EF4-FFF2-40B4-BE49-F238E27FC236}">
                <a16:creationId xmlns:a16="http://schemas.microsoft.com/office/drawing/2014/main" id="{21ED5A53-855C-DB06-89F0-5576838339E4}"/>
              </a:ext>
            </a:extLst>
          </p:cNvPr>
          <p:cNvCxnSpPr>
            <a:cxnSpLocks/>
          </p:cNvCxnSpPr>
          <p:nvPr/>
        </p:nvCxnSpPr>
        <p:spPr>
          <a:xfrm>
            <a:off x="4987783" y="3803529"/>
            <a:ext cx="2827020" cy="0"/>
          </a:xfrm>
          <a:prstGeom prst="straightConnector1">
            <a:avLst/>
          </a:prstGeom>
          <a:noFill/>
          <a:ln w="9525" cap="flat" cmpd="sng" algn="ctr">
            <a:solidFill>
              <a:srgbClr val="000000"/>
            </a:solidFill>
            <a:prstDash val="solid"/>
            <a:headEnd type="triangle" w="sm" len="lg"/>
            <a:tailEnd type="triangle" w="sm" len="lg"/>
          </a:ln>
          <a:effectLst/>
        </p:spPr>
      </p:cxnSp>
      <p:sp>
        <p:nvSpPr>
          <p:cNvPr id="262" name="矩形 261">
            <a:extLst>
              <a:ext uri="{FF2B5EF4-FFF2-40B4-BE49-F238E27FC236}">
                <a16:creationId xmlns:a16="http://schemas.microsoft.com/office/drawing/2014/main" id="{EE1AA102-91E2-D474-E110-2C9E8BDB3A84}"/>
              </a:ext>
            </a:extLst>
          </p:cNvPr>
          <p:cNvSpPr/>
          <p:nvPr/>
        </p:nvSpPr>
        <p:spPr>
          <a:xfrm>
            <a:off x="6095700" y="3726852"/>
            <a:ext cx="762317" cy="127795"/>
          </a:xfrm>
          <a:prstGeom prst="rect">
            <a:avLst/>
          </a:prstGeom>
          <a:solidFill>
            <a:srgbClr val="C3E3F9"/>
          </a:solidFill>
          <a:ln w="25400" cap="flat" cmpd="sng" algn="ctr">
            <a:noFill/>
            <a:prstDash val="solid"/>
          </a:ln>
          <a:effectLst/>
        </p:spPr>
        <p:txBody>
          <a:bodyPr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grpSp>
        <p:nvGrpSpPr>
          <p:cNvPr id="263" name="组合 2">
            <a:extLst>
              <a:ext uri="{FF2B5EF4-FFF2-40B4-BE49-F238E27FC236}">
                <a16:creationId xmlns:a16="http://schemas.microsoft.com/office/drawing/2014/main" id="{F788F393-E486-A930-E8F5-A6A375A45F82}"/>
              </a:ext>
            </a:extLst>
          </p:cNvPr>
          <p:cNvGrpSpPr>
            <a:grpSpLocks/>
          </p:cNvGrpSpPr>
          <p:nvPr/>
        </p:nvGrpSpPr>
        <p:grpSpPr bwMode="auto">
          <a:xfrm>
            <a:off x="1541797" y="3892429"/>
            <a:ext cx="6519704" cy="246698"/>
            <a:chOff x="1408113" y="1868488"/>
            <a:chExt cx="4040187" cy="352425"/>
          </a:xfrm>
        </p:grpSpPr>
        <p:sp>
          <p:nvSpPr>
            <p:cNvPr id="295" name="Line 10">
              <a:extLst>
                <a:ext uri="{FF2B5EF4-FFF2-40B4-BE49-F238E27FC236}">
                  <a16:creationId xmlns:a16="http://schemas.microsoft.com/office/drawing/2014/main" id="{7B4996C0-6431-82F1-8035-90DDD4D8292B}"/>
                </a:ext>
              </a:extLst>
            </p:cNvPr>
            <p:cNvSpPr>
              <a:spLocks noChangeShapeType="1"/>
            </p:cNvSpPr>
            <p:nvPr/>
          </p:nvSpPr>
          <p:spPr bwMode="auto">
            <a:xfrm>
              <a:off x="1408113" y="1868488"/>
              <a:ext cx="4032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96" name="Line 11">
              <a:extLst>
                <a:ext uri="{FF2B5EF4-FFF2-40B4-BE49-F238E27FC236}">
                  <a16:creationId xmlns:a16="http://schemas.microsoft.com/office/drawing/2014/main" id="{A3920B42-A990-BC0D-A0E2-CA03ED0271E3}"/>
                </a:ext>
              </a:extLst>
            </p:cNvPr>
            <p:cNvSpPr>
              <a:spLocks noChangeShapeType="1"/>
            </p:cNvSpPr>
            <p:nvPr/>
          </p:nvSpPr>
          <p:spPr bwMode="auto">
            <a:xfrm>
              <a:off x="1416050" y="2220913"/>
              <a:ext cx="40322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265" name="Text Box 27">
            <a:extLst>
              <a:ext uri="{FF2B5EF4-FFF2-40B4-BE49-F238E27FC236}">
                <a16:creationId xmlns:a16="http://schemas.microsoft.com/office/drawing/2014/main" id="{49D8E292-4054-C660-38B6-E00DAFAB7F6C}"/>
              </a:ext>
            </a:extLst>
          </p:cNvPr>
          <p:cNvSpPr txBox="1">
            <a:spLocks noChangeArrowheads="1"/>
          </p:cNvSpPr>
          <p:nvPr/>
        </p:nvSpPr>
        <p:spPr bwMode="auto">
          <a:xfrm>
            <a:off x="6095394" y="3658539"/>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接收窗口</a:t>
            </a:r>
          </a:p>
        </p:txBody>
      </p:sp>
      <p:sp>
        <p:nvSpPr>
          <p:cNvPr id="266" name="Freeform 36">
            <a:extLst>
              <a:ext uri="{FF2B5EF4-FFF2-40B4-BE49-F238E27FC236}">
                <a16:creationId xmlns:a16="http://schemas.microsoft.com/office/drawing/2014/main" id="{B3BE6161-8100-85B3-BBD5-28ABA35E65E4}"/>
              </a:ext>
            </a:extLst>
          </p:cNvPr>
          <p:cNvSpPr>
            <a:spLocks/>
          </p:cNvSpPr>
          <p:nvPr/>
        </p:nvSpPr>
        <p:spPr bwMode="auto">
          <a:xfrm>
            <a:off x="8018162" y="3854647"/>
            <a:ext cx="48895" cy="300038"/>
          </a:xfrm>
          <a:custGeom>
            <a:avLst/>
            <a:gdLst>
              <a:gd name="T0" fmla="*/ 2147483646 w 36"/>
              <a:gd name="T1" fmla="*/ 0 h 286"/>
              <a:gd name="T2" fmla="*/ 2147483646 w 36"/>
              <a:gd name="T3" fmla="*/ 2147483646 h 286"/>
              <a:gd name="T4" fmla="*/ 2147483646 w 36"/>
              <a:gd name="T5" fmla="*/ 2147483646 h 286"/>
              <a:gd name="T6" fmla="*/ 2147483646 w 36"/>
              <a:gd name="T7" fmla="*/ 2147483646 h 286"/>
              <a:gd name="T8" fmla="*/ 0 w 36"/>
              <a:gd name="T9" fmla="*/ 2147483646 h 286"/>
              <a:gd name="T10" fmla="*/ 2147483646 w 36"/>
              <a:gd name="T11" fmla="*/ 2147483646 h 286"/>
              <a:gd name="T12" fmla="*/ 2147483646 w 36"/>
              <a:gd name="T13" fmla="*/ 2147483646 h 286"/>
              <a:gd name="T14" fmla="*/ 2147483646 w 36"/>
              <a:gd name="T15" fmla="*/ 2147483646 h 286"/>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86"/>
              <a:gd name="T26" fmla="*/ 36 w 36"/>
              <a:gd name="T27" fmla="*/ 286 h 28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67" name="Freeform 39">
            <a:extLst>
              <a:ext uri="{FF2B5EF4-FFF2-40B4-BE49-F238E27FC236}">
                <a16:creationId xmlns:a16="http://schemas.microsoft.com/office/drawing/2014/main" id="{5E02D6F3-494F-82E2-8FEF-F64E5870C86C}"/>
              </a:ext>
            </a:extLst>
          </p:cNvPr>
          <p:cNvSpPr>
            <a:spLocks/>
          </p:cNvSpPr>
          <p:nvPr/>
        </p:nvSpPr>
        <p:spPr bwMode="auto">
          <a:xfrm>
            <a:off x="1495124" y="3866870"/>
            <a:ext cx="73343" cy="304483"/>
          </a:xfrm>
          <a:custGeom>
            <a:avLst/>
            <a:gdLst>
              <a:gd name="T0" fmla="*/ 2147483646 w 66"/>
              <a:gd name="T1" fmla="*/ 0 h 274"/>
              <a:gd name="T2" fmla="*/ 2147483646 w 66"/>
              <a:gd name="T3" fmla="*/ 2147483646 h 274"/>
              <a:gd name="T4" fmla="*/ 2147483646 w 66"/>
              <a:gd name="T5" fmla="*/ 2147483646 h 274"/>
              <a:gd name="T6" fmla="*/ 2147483646 w 66"/>
              <a:gd name="T7" fmla="*/ 2147483646 h 274"/>
              <a:gd name="T8" fmla="*/ 0 w 66"/>
              <a:gd name="T9" fmla="*/ 2147483646 h 274"/>
              <a:gd name="T10" fmla="*/ 2147483646 w 66"/>
              <a:gd name="T11" fmla="*/ 2147483646 h 274"/>
              <a:gd name="T12" fmla="*/ 2147483646 w 66"/>
              <a:gd name="T13" fmla="*/ 2147483646 h 274"/>
              <a:gd name="T14" fmla="*/ 0 60000 65536"/>
              <a:gd name="T15" fmla="*/ 0 60000 65536"/>
              <a:gd name="T16" fmla="*/ 0 60000 65536"/>
              <a:gd name="T17" fmla="*/ 0 60000 65536"/>
              <a:gd name="T18" fmla="*/ 0 60000 65536"/>
              <a:gd name="T19" fmla="*/ 0 60000 65536"/>
              <a:gd name="T20" fmla="*/ 0 60000 65536"/>
              <a:gd name="T21" fmla="*/ 0 w 66"/>
              <a:gd name="T22" fmla="*/ 0 h 274"/>
              <a:gd name="T23" fmla="*/ 66 w 66"/>
              <a:gd name="T24" fmla="*/ 274 h 2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274">
                <a:moveTo>
                  <a:pt x="14" y="0"/>
                </a:moveTo>
                <a:lnTo>
                  <a:pt x="66" y="46"/>
                </a:lnTo>
                <a:lnTo>
                  <a:pt x="6" y="84"/>
                </a:lnTo>
                <a:lnTo>
                  <a:pt x="54" y="136"/>
                </a:lnTo>
                <a:lnTo>
                  <a:pt x="0" y="178"/>
                </a:lnTo>
                <a:lnTo>
                  <a:pt x="54" y="214"/>
                </a:lnTo>
                <a:lnTo>
                  <a:pt x="12" y="274"/>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68" name="Line 43">
            <a:extLst>
              <a:ext uri="{FF2B5EF4-FFF2-40B4-BE49-F238E27FC236}">
                <a16:creationId xmlns:a16="http://schemas.microsoft.com/office/drawing/2014/main" id="{61A08BE8-A544-781B-99E2-51B0C23A634D}"/>
              </a:ext>
            </a:extLst>
          </p:cNvPr>
          <p:cNvSpPr>
            <a:spLocks noChangeShapeType="1"/>
          </p:cNvSpPr>
          <p:nvPr/>
        </p:nvSpPr>
        <p:spPr bwMode="auto">
          <a:xfrm>
            <a:off x="7565883" y="4198023"/>
            <a:ext cx="504508" cy="0"/>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69" name="Text Box 44">
            <a:extLst>
              <a:ext uri="{FF2B5EF4-FFF2-40B4-BE49-F238E27FC236}">
                <a16:creationId xmlns:a16="http://schemas.microsoft.com/office/drawing/2014/main" id="{C428CA18-753F-C07A-66C6-F8A209AD38B1}"/>
              </a:ext>
            </a:extLst>
          </p:cNvPr>
          <p:cNvSpPr txBox="1">
            <a:spLocks noChangeArrowheads="1"/>
          </p:cNvSpPr>
          <p:nvPr/>
        </p:nvSpPr>
        <p:spPr bwMode="auto">
          <a:xfrm>
            <a:off x="7418028" y="4201356"/>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序号增大</a:t>
            </a:r>
          </a:p>
        </p:txBody>
      </p:sp>
      <p:sp>
        <p:nvSpPr>
          <p:cNvPr id="270" name="Text Box 65">
            <a:extLst>
              <a:ext uri="{FF2B5EF4-FFF2-40B4-BE49-F238E27FC236}">
                <a16:creationId xmlns:a16="http://schemas.microsoft.com/office/drawing/2014/main" id="{36048A2E-67AC-D2B0-7B2E-35E2B80D01CD}"/>
              </a:ext>
            </a:extLst>
          </p:cNvPr>
          <p:cNvSpPr txBox="1">
            <a:spLocks noChangeArrowheads="1"/>
          </p:cNvSpPr>
          <p:nvPr/>
        </p:nvSpPr>
        <p:spPr bwMode="auto">
          <a:xfrm>
            <a:off x="916133" y="3896874"/>
            <a:ext cx="38343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(c)</a:t>
            </a:r>
          </a:p>
        </p:txBody>
      </p:sp>
      <p:sp>
        <p:nvSpPr>
          <p:cNvPr id="271" name="Line 19">
            <a:extLst>
              <a:ext uri="{FF2B5EF4-FFF2-40B4-BE49-F238E27FC236}">
                <a16:creationId xmlns:a16="http://schemas.microsoft.com/office/drawing/2014/main" id="{DC6FDC47-4426-6DE8-604B-41BE451560C7}"/>
              </a:ext>
            </a:extLst>
          </p:cNvPr>
          <p:cNvSpPr>
            <a:spLocks noChangeShapeType="1"/>
          </p:cNvSpPr>
          <p:nvPr/>
        </p:nvSpPr>
        <p:spPr bwMode="auto">
          <a:xfrm flipV="1">
            <a:off x="3852085" y="4155795"/>
            <a:ext cx="0" cy="181134"/>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72" name="Line 19">
            <a:extLst>
              <a:ext uri="{FF2B5EF4-FFF2-40B4-BE49-F238E27FC236}">
                <a16:creationId xmlns:a16="http://schemas.microsoft.com/office/drawing/2014/main" id="{FD38B876-DF94-ACAC-C65A-E304104345DE}"/>
              </a:ext>
            </a:extLst>
          </p:cNvPr>
          <p:cNvSpPr>
            <a:spLocks noChangeShapeType="1"/>
          </p:cNvSpPr>
          <p:nvPr/>
        </p:nvSpPr>
        <p:spPr bwMode="auto">
          <a:xfrm flipV="1">
            <a:off x="5013342" y="4136904"/>
            <a:ext cx="0" cy="181133"/>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cxnSp>
        <p:nvCxnSpPr>
          <p:cNvPr id="273" name="直接连接符 272">
            <a:extLst>
              <a:ext uri="{FF2B5EF4-FFF2-40B4-BE49-F238E27FC236}">
                <a16:creationId xmlns:a16="http://schemas.microsoft.com/office/drawing/2014/main" id="{67D49A3A-9CAE-8D7D-9E26-98C6C252306E}"/>
              </a:ext>
            </a:extLst>
          </p:cNvPr>
          <p:cNvCxnSpPr>
            <a:cxnSpLocks/>
          </p:cNvCxnSpPr>
          <p:nvPr/>
        </p:nvCxnSpPr>
        <p:spPr>
          <a:xfrm>
            <a:off x="4992228" y="3726853"/>
            <a:ext cx="0" cy="407829"/>
          </a:xfrm>
          <a:prstGeom prst="line">
            <a:avLst/>
          </a:prstGeom>
          <a:noFill/>
          <a:ln w="12700" cap="flat" cmpd="sng" algn="ctr">
            <a:solidFill>
              <a:srgbClr val="000000"/>
            </a:solidFill>
            <a:prstDash val="solid"/>
          </a:ln>
          <a:effectLst/>
        </p:spPr>
      </p:cxnSp>
      <p:sp>
        <p:nvSpPr>
          <p:cNvPr id="274" name="Text Box 27">
            <a:extLst>
              <a:ext uri="{FF2B5EF4-FFF2-40B4-BE49-F238E27FC236}">
                <a16:creationId xmlns:a16="http://schemas.microsoft.com/office/drawing/2014/main" id="{BF541631-4B79-5CF4-859F-F6B49CFFDFA9}"/>
              </a:ext>
            </a:extLst>
          </p:cNvPr>
          <p:cNvSpPr txBox="1">
            <a:spLocks noChangeArrowheads="1"/>
          </p:cNvSpPr>
          <p:nvPr/>
        </p:nvSpPr>
        <p:spPr bwMode="auto">
          <a:xfrm>
            <a:off x="4975959" y="3488192"/>
            <a:ext cx="9541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接收缓冲区</a:t>
            </a:r>
          </a:p>
        </p:txBody>
      </p:sp>
      <p:cxnSp>
        <p:nvCxnSpPr>
          <p:cNvPr id="275" name="直接连接符 3109">
            <a:extLst>
              <a:ext uri="{FF2B5EF4-FFF2-40B4-BE49-F238E27FC236}">
                <a16:creationId xmlns:a16="http://schemas.microsoft.com/office/drawing/2014/main" id="{DE3AF0D6-4374-9BA7-C7B0-01E83C525E57}"/>
              </a:ext>
            </a:extLst>
          </p:cNvPr>
          <p:cNvCxnSpPr>
            <a:cxnSpLocks/>
          </p:cNvCxnSpPr>
          <p:nvPr/>
        </p:nvCxnSpPr>
        <p:spPr>
          <a:xfrm>
            <a:off x="3832083" y="3544608"/>
            <a:ext cx="0" cy="452279"/>
          </a:xfrm>
          <a:prstGeom prst="line">
            <a:avLst/>
          </a:prstGeom>
          <a:noFill/>
          <a:ln w="9525" cap="flat" cmpd="sng" algn="ctr">
            <a:solidFill>
              <a:srgbClr val="000000"/>
            </a:solidFill>
            <a:prstDash val="solid"/>
          </a:ln>
          <a:effectLst/>
        </p:spPr>
      </p:cxnSp>
      <p:cxnSp>
        <p:nvCxnSpPr>
          <p:cNvPr id="276" name="直接连接符 3110">
            <a:extLst>
              <a:ext uri="{FF2B5EF4-FFF2-40B4-BE49-F238E27FC236}">
                <a16:creationId xmlns:a16="http://schemas.microsoft.com/office/drawing/2014/main" id="{E8A144D6-3FC3-AEB3-0BEA-037269AE7B4C}"/>
              </a:ext>
            </a:extLst>
          </p:cNvPr>
          <p:cNvCxnSpPr>
            <a:cxnSpLocks/>
          </p:cNvCxnSpPr>
          <p:nvPr/>
        </p:nvCxnSpPr>
        <p:spPr>
          <a:xfrm>
            <a:off x="7814803" y="3564610"/>
            <a:ext cx="0" cy="570072"/>
          </a:xfrm>
          <a:prstGeom prst="line">
            <a:avLst/>
          </a:prstGeom>
          <a:noFill/>
          <a:ln w="9525" cap="flat" cmpd="sng" algn="ctr">
            <a:solidFill>
              <a:srgbClr val="000000"/>
            </a:solidFill>
            <a:prstDash val="solid"/>
          </a:ln>
          <a:effectLst/>
        </p:spPr>
      </p:cxnSp>
      <p:cxnSp>
        <p:nvCxnSpPr>
          <p:cNvPr id="277" name="直接连接符 3111">
            <a:extLst>
              <a:ext uri="{FF2B5EF4-FFF2-40B4-BE49-F238E27FC236}">
                <a16:creationId xmlns:a16="http://schemas.microsoft.com/office/drawing/2014/main" id="{B55AD49C-A5FC-7F5E-E82F-3ADC4B015D09}"/>
              </a:ext>
            </a:extLst>
          </p:cNvPr>
          <p:cNvCxnSpPr>
            <a:cxnSpLocks/>
          </p:cNvCxnSpPr>
          <p:nvPr/>
        </p:nvCxnSpPr>
        <p:spPr>
          <a:xfrm>
            <a:off x="3830972" y="3890207"/>
            <a:ext cx="1111" cy="244475"/>
          </a:xfrm>
          <a:prstGeom prst="line">
            <a:avLst/>
          </a:prstGeom>
          <a:noFill/>
          <a:ln w="19050" cap="flat" cmpd="sng" algn="ctr">
            <a:solidFill>
              <a:srgbClr val="000000"/>
            </a:solidFill>
            <a:prstDash val="solid"/>
          </a:ln>
          <a:effectLst/>
        </p:spPr>
      </p:cxnSp>
      <p:cxnSp>
        <p:nvCxnSpPr>
          <p:cNvPr id="278" name="直接连接符 3112">
            <a:extLst>
              <a:ext uri="{FF2B5EF4-FFF2-40B4-BE49-F238E27FC236}">
                <a16:creationId xmlns:a16="http://schemas.microsoft.com/office/drawing/2014/main" id="{6A4E9227-FD3C-E659-5202-68F2246BD5A7}"/>
              </a:ext>
            </a:extLst>
          </p:cNvPr>
          <p:cNvCxnSpPr>
            <a:cxnSpLocks/>
          </p:cNvCxnSpPr>
          <p:nvPr/>
        </p:nvCxnSpPr>
        <p:spPr>
          <a:xfrm>
            <a:off x="7814803" y="3881317"/>
            <a:ext cx="5557" cy="258921"/>
          </a:xfrm>
          <a:prstGeom prst="line">
            <a:avLst/>
          </a:prstGeom>
          <a:noFill/>
          <a:ln w="19050" cap="flat" cmpd="sng" algn="ctr">
            <a:solidFill>
              <a:srgbClr val="000000"/>
            </a:solidFill>
            <a:prstDash val="solid"/>
          </a:ln>
          <a:effectLst/>
        </p:spPr>
      </p:cxnSp>
      <p:sp>
        <p:nvSpPr>
          <p:cNvPr id="279" name="Line 16">
            <a:extLst>
              <a:ext uri="{FF2B5EF4-FFF2-40B4-BE49-F238E27FC236}">
                <a16:creationId xmlns:a16="http://schemas.microsoft.com/office/drawing/2014/main" id="{F67DE39F-076C-BBD9-DC13-C430DDFAEFFF}"/>
              </a:ext>
            </a:extLst>
          </p:cNvPr>
          <p:cNvSpPr>
            <a:spLocks noChangeShapeType="1"/>
          </p:cNvSpPr>
          <p:nvPr/>
        </p:nvSpPr>
        <p:spPr bwMode="auto">
          <a:xfrm flipH="1">
            <a:off x="4316588" y="1406562"/>
            <a:ext cx="0" cy="252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80" name="Text Box 20">
            <a:extLst>
              <a:ext uri="{FF2B5EF4-FFF2-40B4-BE49-F238E27FC236}">
                <a16:creationId xmlns:a16="http://schemas.microsoft.com/office/drawing/2014/main" id="{C9006792-E2D5-4004-7D19-02ACC7A3D089}"/>
              </a:ext>
            </a:extLst>
          </p:cNvPr>
          <p:cNvSpPr txBox="1">
            <a:spLocks noChangeArrowheads="1"/>
          </p:cNvSpPr>
          <p:nvPr/>
        </p:nvSpPr>
        <p:spPr bwMode="auto">
          <a:xfrm>
            <a:off x="2928310" y="2666587"/>
            <a:ext cx="9541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尚未读取的</a:t>
            </a:r>
          </a:p>
        </p:txBody>
      </p:sp>
      <p:sp>
        <p:nvSpPr>
          <p:cNvPr id="281" name="Text Box 20">
            <a:extLst>
              <a:ext uri="{FF2B5EF4-FFF2-40B4-BE49-F238E27FC236}">
                <a16:creationId xmlns:a16="http://schemas.microsoft.com/office/drawing/2014/main" id="{0A765992-53AE-C3AA-90EB-DE2C2F524E42}"/>
              </a:ext>
            </a:extLst>
          </p:cNvPr>
          <p:cNvSpPr txBox="1">
            <a:spLocks noChangeArrowheads="1"/>
          </p:cNvSpPr>
          <p:nvPr/>
        </p:nvSpPr>
        <p:spPr bwMode="auto">
          <a:xfrm>
            <a:off x="1845952" y="3090106"/>
            <a:ext cx="9541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下一个读取</a:t>
            </a:r>
            <a:endPar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的字节</a:t>
            </a:r>
          </a:p>
        </p:txBody>
      </p:sp>
      <p:sp>
        <p:nvSpPr>
          <p:cNvPr id="282" name="Text Box 20">
            <a:extLst>
              <a:ext uri="{FF2B5EF4-FFF2-40B4-BE49-F238E27FC236}">
                <a16:creationId xmlns:a16="http://schemas.microsoft.com/office/drawing/2014/main" id="{9DA018E9-4524-6D15-7573-8043B8293A58}"/>
              </a:ext>
            </a:extLst>
          </p:cNvPr>
          <p:cNvSpPr txBox="1">
            <a:spLocks noChangeArrowheads="1"/>
          </p:cNvSpPr>
          <p:nvPr/>
        </p:nvSpPr>
        <p:spPr bwMode="auto">
          <a:xfrm>
            <a:off x="4111235" y="3080105"/>
            <a:ext cx="9541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下一个期望</a:t>
            </a:r>
            <a:endParaRPr kumimoji="0" lang="en-US" altLang="zh-CN"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收到的字节</a:t>
            </a:r>
          </a:p>
        </p:txBody>
      </p:sp>
      <p:sp>
        <p:nvSpPr>
          <p:cNvPr id="283" name="Text Box 20">
            <a:extLst>
              <a:ext uri="{FF2B5EF4-FFF2-40B4-BE49-F238E27FC236}">
                <a16:creationId xmlns:a16="http://schemas.microsoft.com/office/drawing/2014/main" id="{7E925C1A-FD6B-15F4-1A67-11C4F418ADF7}"/>
              </a:ext>
            </a:extLst>
          </p:cNvPr>
          <p:cNvSpPr txBox="1">
            <a:spLocks noChangeArrowheads="1"/>
          </p:cNvSpPr>
          <p:nvPr/>
        </p:nvSpPr>
        <p:spPr bwMode="auto">
          <a:xfrm>
            <a:off x="3348918" y="4294098"/>
            <a:ext cx="9541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下一个读取</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的字节</a:t>
            </a:r>
          </a:p>
        </p:txBody>
      </p:sp>
      <p:sp>
        <p:nvSpPr>
          <p:cNvPr id="284" name="Text Box 20">
            <a:extLst>
              <a:ext uri="{FF2B5EF4-FFF2-40B4-BE49-F238E27FC236}">
                <a16:creationId xmlns:a16="http://schemas.microsoft.com/office/drawing/2014/main" id="{86F587D8-3953-1746-82CC-6AAC7DDC4191}"/>
              </a:ext>
            </a:extLst>
          </p:cNvPr>
          <p:cNvSpPr txBox="1">
            <a:spLocks noChangeArrowheads="1"/>
          </p:cNvSpPr>
          <p:nvPr/>
        </p:nvSpPr>
        <p:spPr bwMode="auto">
          <a:xfrm>
            <a:off x="4514620" y="4302480"/>
            <a:ext cx="9541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下一个期望</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收到的字节</a:t>
            </a:r>
          </a:p>
        </p:txBody>
      </p:sp>
      <p:sp>
        <p:nvSpPr>
          <p:cNvPr id="285" name="Text Box 20">
            <a:extLst>
              <a:ext uri="{FF2B5EF4-FFF2-40B4-BE49-F238E27FC236}">
                <a16:creationId xmlns:a16="http://schemas.microsoft.com/office/drawing/2014/main" id="{D7C8660B-0EC2-365D-339E-DFF3B9621231}"/>
              </a:ext>
            </a:extLst>
          </p:cNvPr>
          <p:cNvSpPr txBox="1">
            <a:spLocks noChangeArrowheads="1"/>
          </p:cNvSpPr>
          <p:nvPr/>
        </p:nvSpPr>
        <p:spPr bwMode="auto">
          <a:xfrm>
            <a:off x="3983441" y="3882126"/>
            <a:ext cx="9541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尚未读取的</a:t>
            </a:r>
          </a:p>
        </p:txBody>
      </p:sp>
      <p:sp>
        <p:nvSpPr>
          <p:cNvPr id="286" name="Text Box 44">
            <a:extLst>
              <a:ext uri="{FF2B5EF4-FFF2-40B4-BE49-F238E27FC236}">
                <a16:creationId xmlns:a16="http://schemas.microsoft.com/office/drawing/2014/main" id="{8B973519-0FFF-40FC-68C6-61390D892376}"/>
              </a:ext>
            </a:extLst>
          </p:cNvPr>
          <p:cNvSpPr txBox="1">
            <a:spLocks noChangeArrowheads="1"/>
          </p:cNvSpPr>
          <p:nvPr/>
        </p:nvSpPr>
        <p:spPr bwMode="auto">
          <a:xfrm>
            <a:off x="2047049" y="1042072"/>
            <a:ext cx="3385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后</a:t>
            </a:r>
          </a:p>
        </p:txBody>
      </p:sp>
      <p:sp>
        <p:nvSpPr>
          <p:cNvPr id="287" name="Text Box 44">
            <a:extLst>
              <a:ext uri="{FF2B5EF4-FFF2-40B4-BE49-F238E27FC236}">
                <a16:creationId xmlns:a16="http://schemas.microsoft.com/office/drawing/2014/main" id="{A0B2B65C-7B4C-F380-C5C2-CE6521B5DEB2}"/>
              </a:ext>
            </a:extLst>
          </p:cNvPr>
          <p:cNvSpPr txBox="1">
            <a:spLocks noChangeArrowheads="1"/>
          </p:cNvSpPr>
          <p:nvPr/>
        </p:nvSpPr>
        <p:spPr bwMode="auto">
          <a:xfrm>
            <a:off x="7747762" y="3492379"/>
            <a:ext cx="3385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前</a:t>
            </a:r>
          </a:p>
        </p:txBody>
      </p:sp>
      <p:sp>
        <p:nvSpPr>
          <p:cNvPr id="288" name="Text Box 44">
            <a:extLst>
              <a:ext uri="{FF2B5EF4-FFF2-40B4-BE49-F238E27FC236}">
                <a16:creationId xmlns:a16="http://schemas.microsoft.com/office/drawing/2014/main" id="{33AD9E30-9B96-41D1-7629-60968CB5DE66}"/>
              </a:ext>
            </a:extLst>
          </p:cNvPr>
          <p:cNvSpPr txBox="1">
            <a:spLocks noChangeArrowheads="1"/>
          </p:cNvSpPr>
          <p:nvPr/>
        </p:nvSpPr>
        <p:spPr bwMode="auto">
          <a:xfrm>
            <a:off x="5936980" y="2277782"/>
            <a:ext cx="3385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前</a:t>
            </a:r>
          </a:p>
        </p:txBody>
      </p:sp>
      <p:sp>
        <p:nvSpPr>
          <p:cNvPr id="289" name="Text Box 44">
            <a:extLst>
              <a:ext uri="{FF2B5EF4-FFF2-40B4-BE49-F238E27FC236}">
                <a16:creationId xmlns:a16="http://schemas.microsoft.com/office/drawing/2014/main" id="{5DF2A1F0-8C67-ADAB-0D62-DCDE8B47169F}"/>
              </a:ext>
            </a:extLst>
          </p:cNvPr>
          <p:cNvSpPr txBox="1">
            <a:spLocks noChangeArrowheads="1"/>
          </p:cNvSpPr>
          <p:nvPr/>
        </p:nvSpPr>
        <p:spPr bwMode="auto">
          <a:xfrm>
            <a:off x="5958093" y="1020959"/>
            <a:ext cx="3385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前</a:t>
            </a:r>
          </a:p>
        </p:txBody>
      </p:sp>
      <p:sp>
        <p:nvSpPr>
          <p:cNvPr id="290" name="Text Box 44">
            <a:extLst>
              <a:ext uri="{FF2B5EF4-FFF2-40B4-BE49-F238E27FC236}">
                <a16:creationId xmlns:a16="http://schemas.microsoft.com/office/drawing/2014/main" id="{2D413476-402B-A295-4CDB-0338C1B5771F}"/>
              </a:ext>
            </a:extLst>
          </p:cNvPr>
          <p:cNvSpPr txBox="1">
            <a:spLocks noChangeArrowheads="1"/>
          </p:cNvSpPr>
          <p:nvPr/>
        </p:nvSpPr>
        <p:spPr bwMode="auto">
          <a:xfrm>
            <a:off x="3519455" y="3513492"/>
            <a:ext cx="3385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后</a:t>
            </a:r>
          </a:p>
        </p:txBody>
      </p:sp>
      <p:sp>
        <p:nvSpPr>
          <p:cNvPr id="291" name="Text Box 44">
            <a:extLst>
              <a:ext uri="{FF2B5EF4-FFF2-40B4-BE49-F238E27FC236}">
                <a16:creationId xmlns:a16="http://schemas.microsoft.com/office/drawing/2014/main" id="{82EBC8ED-D2FF-1A24-7B94-8D5FB14D0C05}"/>
              </a:ext>
            </a:extLst>
          </p:cNvPr>
          <p:cNvSpPr txBox="1">
            <a:spLocks noChangeArrowheads="1"/>
          </p:cNvSpPr>
          <p:nvPr/>
        </p:nvSpPr>
        <p:spPr bwMode="auto">
          <a:xfrm>
            <a:off x="2018156" y="2300007"/>
            <a:ext cx="3385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后</a:t>
            </a:r>
          </a:p>
        </p:txBody>
      </p:sp>
      <p:sp>
        <p:nvSpPr>
          <p:cNvPr id="292" name="Text Box 20">
            <a:extLst>
              <a:ext uri="{FF2B5EF4-FFF2-40B4-BE49-F238E27FC236}">
                <a16:creationId xmlns:a16="http://schemas.microsoft.com/office/drawing/2014/main" id="{0B515B1D-DF47-D749-C86A-35311759454B}"/>
              </a:ext>
            </a:extLst>
          </p:cNvPr>
          <p:cNvSpPr txBox="1">
            <a:spLocks noChangeArrowheads="1"/>
          </p:cNvSpPr>
          <p:nvPr/>
        </p:nvSpPr>
        <p:spPr bwMode="auto">
          <a:xfrm>
            <a:off x="1536677" y="1410233"/>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已读取的</a:t>
            </a:r>
          </a:p>
        </p:txBody>
      </p:sp>
      <p:sp>
        <p:nvSpPr>
          <p:cNvPr id="293" name="Text Box 20">
            <a:extLst>
              <a:ext uri="{FF2B5EF4-FFF2-40B4-BE49-F238E27FC236}">
                <a16:creationId xmlns:a16="http://schemas.microsoft.com/office/drawing/2014/main" id="{80EB1FA6-60A7-9FDF-7DFB-83DA1BF8E277}"/>
              </a:ext>
            </a:extLst>
          </p:cNvPr>
          <p:cNvSpPr txBox="1">
            <a:spLocks noChangeArrowheads="1"/>
          </p:cNvSpPr>
          <p:nvPr/>
        </p:nvSpPr>
        <p:spPr bwMode="auto">
          <a:xfrm>
            <a:off x="2256827" y="3883878"/>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已读取的</a:t>
            </a:r>
          </a:p>
        </p:txBody>
      </p:sp>
      <p:sp>
        <p:nvSpPr>
          <p:cNvPr id="294" name="Text Box 20">
            <a:extLst>
              <a:ext uri="{FF2B5EF4-FFF2-40B4-BE49-F238E27FC236}">
                <a16:creationId xmlns:a16="http://schemas.microsoft.com/office/drawing/2014/main" id="{07B02FF4-0351-D290-0BD7-AF0B8618D8BB}"/>
              </a:ext>
            </a:extLst>
          </p:cNvPr>
          <p:cNvSpPr txBox="1">
            <a:spLocks noChangeArrowheads="1"/>
          </p:cNvSpPr>
          <p:nvPr/>
        </p:nvSpPr>
        <p:spPr bwMode="auto">
          <a:xfrm>
            <a:off x="1539751" y="2666274"/>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已读取的</a:t>
            </a:r>
          </a:p>
        </p:txBody>
      </p:sp>
    </p:spTree>
    <p:extLst>
      <p:ext uri="{BB962C8B-B14F-4D97-AF65-F5344CB8AC3E}">
        <p14:creationId xmlns:p14="http://schemas.microsoft.com/office/powerpoint/2010/main" val="1953241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244"/>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254"/>
                                        </p:tgtEl>
                                        <p:attrNameLst>
                                          <p:attrName>style.visibility</p:attrName>
                                        </p:attrNameLst>
                                      </p:cBhvr>
                                      <p:tavLst>
                                        <p:tav tm="0">
                                          <p:val>
                                            <p:strVal val="hidden"/>
                                          </p:val>
                                        </p:tav>
                                        <p:tav tm="50000">
                                          <p:val>
                                            <p:strVal val="visible"/>
                                          </p:val>
                                        </p:tav>
                                      </p:tavLst>
                                    </p:anim>
                                  </p:childTnLst>
                                </p:cTn>
                              </p:par>
                              <p:par>
                                <p:cTn id="11" presetID="35" presetClass="emph" presetSubtype="0" repeatCount="3000" fill="hold" nodeType="withEffect">
                                  <p:stCondLst>
                                    <p:cond delay="0"/>
                                  </p:stCondLst>
                                  <p:childTnLst>
                                    <p:anim calcmode="discrete" valueType="str">
                                      <p:cBhvr>
                                        <p:cTn id="12" dur="1000" fill="hold"/>
                                        <p:tgtEl>
                                          <p:spTgt spid="238"/>
                                        </p:tgtEl>
                                        <p:attrNameLst>
                                          <p:attrName>style.visibility</p:attrName>
                                        </p:attrNameLst>
                                      </p:cBhvr>
                                      <p:tavLst>
                                        <p:tav tm="0">
                                          <p:val>
                                            <p:strVal val="hidden"/>
                                          </p:val>
                                        </p:tav>
                                        <p:tav tm="50000">
                                          <p:val>
                                            <p:strVal val="visible"/>
                                          </p:val>
                                        </p:tav>
                                      </p:tavLst>
                                    </p:anim>
                                  </p:childTnLst>
                                </p:cTn>
                              </p:par>
                            </p:childTnLst>
                          </p:cTn>
                        </p:par>
                      </p:childTnLst>
                    </p:cTn>
                  </p:par>
                  <p:par>
                    <p:cTn id="13" fill="hold">
                      <p:stCondLst>
                        <p:cond delay="indefinite"/>
                      </p:stCondLst>
                      <p:childTnLst>
                        <p:par>
                          <p:cTn id="14" fill="hold">
                            <p:stCondLst>
                              <p:cond delay="0"/>
                            </p:stCondLst>
                            <p:childTnLst>
                              <p:par>
                                <p:cTn id="15" presetID="35" presetClass="emph" presetSubtype="0" repeatCount="3000" fill="hold" grpId="0" nodeType="clickEffect">
                                  <p:stCondLst>
                                    <p:cond delay="0"/>
                                  </p:stCondLst>
                                  <p:childTnLst>
                                    <p:anim calcmode="discrete" valueType="str">
                                      <p:cBhvr>
                                        <p:cTn id="16" dur="1000" fill="hold"/>
                                        <p:tgtEl>
                                          <p:spTgt spid="282"/>
                                        </p:tgtEl>
                                        <p:attrNameLst>
                                          <p:attrName>style.visibility</p:attrName>
                                        </p:attrNameLst>
                                      </p:cBhvr>
                                      <p:tavLst>
                                        <p:tav tm="0">
                                          <p:val>
                                            <p:strVal val="hidden"/>
                                          </p:val>
                                        </p:tav>
                                        <p:tav tm="50000">
                                          <p:val>
                                            <p:strVal val="visible"/>
                                          </p:val>
                                        </p:tav>
                                      </p:tavLst>
                                    </p:anim>
                                  </p:childTnLst>
                                </p:cTn>
                              </p:par>
                            </p:childTnLst>
                          </p:cTn>
                        </p:par>
                      </p:childTnLst>
                    </p:cTn>
                  </p:par>
                  <p:par>
                    <p:cTn id="17" fill="hold">
                      <p:stCondLst>
                        <p:cond delay="indefinite"/>
                      </p:stCondLst>
                      <p:childTnLst>
                        <p:par>
                          <p:cTn id="18" fill="hold">
                            <p:stCondLst>
                              <p:cond delay="0"/>
                            </p:stCondLst>
                            <p:childTnLst>
                              <p:par>
                                <p:cTn id="19" presetID="35" presetClass="emph" presetSubtype="0" repeatCount="3000" fill="hold" grpId="0" nodeType="clickEffect">
                                  <p:stCondLst>
                                    <p:cond delay="0"/>
                                  </p:stCondLst>
                                  <p:childTnLst>
                                    <p:anim calcmode="discrete" valueType="str">
                                      <p:cBhvr>
                                        <p:cTn id="20" dur="1000" fill="hold"/>
                                        <p:tgtEl>
                                          <p:spTgt spid="245"/>
                                        </p:tgtEl>
                                        <p:attrNameLst>
                                          <p:attrName>style.visibility</p:attrName>
                                        </p:attrNameLst>
                                      </p:cBhvr>
                                      <p:tavLst>
                                        <p:tav tm="0">
                                          <p:val>
                                            <p:strVal val="hidden"/>
                                          </p:val>
                                        </p:tav>
                                        <p:tav tm="50000">
                                          <p:val>
                                            <p:strVal val="visible"/>
                                          </p:val>
                                        </p:tav>
                                      </p:tavLst>
                                    </p:anim>
                                  </p:childTnLst>
                                </p:cTn>
                              </p:par>
                              <p:par>
                                <p:cTn id="21" presetID="35" presetClass="emph" presetSubtype="0" repeatCount="3000" fill="hold" nodeType="withEffect">
                                  <p:stCondLst>
                                    <p:cond delay="0"/>
                                  </p:stCondLst>
                                  <p:childTnLst>
                                    <p:anim calcmode="discrete" valueType="str">
                                      <p:cBhvr>
                                        <p:cTn id="22" dur="1000" fill="hold"/>
                                        <p:tgtEl>
                                          <p:spTgt spid="240"/>
                                        </p:tgtEl>
                                        <p:attrNameLst>
                                          <p:attrName>style.visibility</p:attrName>
                                        </p:attrNameLst>
                                      </p:cBhvr>
                                      <p:tavLst>
                                        <p:tav tm="0">
                                          <p:val>
                                            <p:strVal val="hidden"/>
                                          </p:val>
                                        </p:tav>
                                        <p:tav tm="50000">
                                          <p:val>
                                            <p:strVal val="visible"/>
                                          </p:val>
                                        </p:tav>
                                      </p:tavLst>
                                    </p:anim>
                                  </p:childTnLst>
                                </p:cTn>
                              </p:par>
                            </p:childTnLst>
                          </p:cTn>
                        </p:par>
                      </p:childTnLst>
                    </p:cTn>
                  </p:par>
                  <p:par>
                    <p:cTn id="23" fill="hold">
                      <p:stCondLst>
                        <p:cond delay="indefinite"/>
                      </p:stCondLst>
                      <p:childTnLst>
                        <p:par>
                          <p:cTn id="24" fill="hold">
                            <p:stCondLst>
                              <p:cond delay="0"/>
                            </p:stCondLst>
                            <p:childTnLst>
                              <p:par>
                                <p:cTn id="25" presetID="35" presetClass="emph" presetSubtype="0" repeatCount="3000" fill="hold" grpId="0" nodeType="clickEffect">
                                  <p:stCondLst>
                                    <p:cond delay="0"/>
                                  </p:stCondLst>
                                  <p:childTnLst>
                                    <p:anim calcmode="discrete" valueType="str">
                                      <p:cBhvr>
                                        <p:cTn id="26" dur="1000" fill="hold"/>
                                        <p:tgtEl>
                                          <p:spTgt spid="293"/>
                                        </p:tgtEl>
                                        <p:attrNameLst>
                                          <p:attrName>style.visibility</p:attrName>
                                        </p:attrNameLst>
                                      </p:cBhvr>
                                      <p:tavLst>
                                        <p:tav tm="0">
                                          <p:val>
                                            <p:strVal val="hidden"/>
                                          </p:val>
                                        </p:tav>
                                        <p:tav tm="50000">
                                          <p:val>
                                            <p:strVal val="visible"/>
                                          </p:val>
                                        </p:tav>
                                      </p:tavLst>
                                    </p:anim>
                                  </p:childTnLst>
                                </p:cTn>
                              </p:par>
                            </p:childTnLst>
                          </p:cTn>
                        </p:par>
                      </p:childTnLst>
                    </p:cTn>
                  </p:par>
                  <p:par>
                    <p:cTn id="27" fill="hold">
                      <p:stCondLst>
                        <p:cond delay="indefinite"/>
                      </p:stCondLst>
                      <p:childTnLst>
                        <p:par>
                          <p:cTn id="28" fill="hold">
                            <p:stCondLst>
                              <p:cond delay="0"/>
                            </p:stCondLst>
                            <p:childTnLst>
                              <p:par>
                                <p:cTn id="29" presetID="35" presetClass="emph" presetSubtype="0" repeatCount="3000" fill="hold" grpId="0" nodeType="clickEffect">
                                  <p:stCondLst>
                                    <p:cond delay="0"/>
                                  </p:stCondLst>
                                  <p:childTnLst>
                                    <p:anim calcmode="discrete" valueType="str">
                                      <p:cBhvr>
                                        <p:cTn id="30" dur="1000" fill="hold"/>
                                        <p:tgtEl>
                                          <p:spTgt spid="264"/>
                                        </p:tgtEl>
                                        <p:attrNameLst>
                                          <p:attrName>style.visibility</p:attrName>
                                        </p:attrNameLst>
                                      </p:cBhvr>
                                      <p:tavLst>
                                        <p:tav tm="0">
                                          <p:val>
                                            <p:strVal val="hidden"/>
                                          </p:val>
                                        </p:tav>
                                        <p:tav tm="50000">
                                          <p:val>
                                            <p:strVal val="visible"/>
                                          </p:val>
                                        </p:tav>
                                      </p:tavLst>
                                    </p:anim>
                                  </p:childTnLst>
                                </p:cTn>
                              </p:par>
                            </p:childTnLst>
                          </p:cTn>
                        </p:par>
                      </p:childTnLst>
                    </p:cTn>
                  </p:par>
                  <p:par>
                    <p:cTn id="31" fill="hold">
                      <p:stCondLst>
                        <p:cond delay="indefinite"/>
                      </p:stCondLst>
                      <p:childTnLst>
                        <p:par>
                          <p:cTn id="32" fill="hold">
                            <p:stCondLst>
                              <p:cond delay="0"/>
                            </p:stCondLst>
                            <p:childTnLst>
                              <p:par>
                                <p:cTn id="33" presetID="35" presetClass="emph" presetSubtype="0" repeatCount="3000" fill="hold" grpId="0" nodeType="clickEffect">
                                  <p:stCondLst>
                                    <p:cond delay="0"/>
                                  </p:stCondLst>
                                  <p:childTnLst>
                                    <p:anim calcmode="discrete" valueType="str">
                                      <p:cBhvr>
                                        <p:cTn id="34" dur="1000" fill="hold"/>
                                        <p:tgtEl>
                                          <p:spTgt spid="274"/>
                                        </p:tgtEl>
                                        <p:attrNameLst>
                                          <p:attrName>style.visibility</p:attrName>
                                        </p:attrNameLst>
                                      </p:cBhvr>
                                      <p:tavLst>
                                        <p:tav tm="0">
                                          <p:val>
                                            <p:strVal val="hidden"/>
                                          </p:val>
                                        </p:tav>
                                        <p:tav tm="50000">
                                          <p:val>
                                            <p:strVal val="visible"/>
                                          </p:val>
                                        </p:tav>
                                      </p:tavLst>
                                    </p:anim>
                                  </p:childTnLst>
                                </p:cTn>
                              </p:par>
                              <p:par>
                                <p:cTn id="35" presetID="35" presetClass="emph" presetSubtype="0" repeatCount="3000" fill="hold" nodeType="withEffect">
                                  <p:stCondLst>
                                    <p:cond delay="0"/>
                                  </p:stCondLst>
                                  <p:childTnLst>
                                    <p:anim calcmode="discrete" valueType="str">
                                      <p:cBhvr>
                                        <p:cTn id="36" dur="1000" fill="hold"/>
                                        <p:tgtEl>
                                          <p:spTgt spid="259"/>
                                        </p:tgtEl>
                                        <p:attrNameLst>
                                          <p:attrName>style.visibility</p:attrName>
                                        </p:attrNameLst>
                                      </p:cBhvr>
                                      <p:tavLst>
                                        <p:tav tm="0">
                                          <p:val>
                                            <p:strVal val="hidden"/>
                                          </p:val>
                                        </p:tav>
                                        <p:tav tm="50000">
                                          <p:val>
                                            <p:strVal val="visible"/>
                                          </p:val>
                                        </p:tav>
                                      </p:tavLst>
                                    </p:anim>
                                  </p:childTnLst>
                                </p:cTn>
                              </p:par>
                            </p:childTnLst>
                          </p:cTn>
                        </p:par>
                        <p:par>
                          <p:cTn id="37" fill="hold">
                            <p:stCondLst>
                              <p:cond delay="3000"/>
                            </p:stCondLst>
                            <p:childTnLst>
                              <p:par>
                                <p:cTn id="38" presetID="35" presetClass="emph" presetSubtype="0" repeatCount="3000" fill="hold" grpId="0" nodeType="afterEffect">
                                  <p:stCondLst>
                                    <p:cond delay="0"/>
                                  </p:stCondLst>
                                  <p:childTnLst>
                                    <p:anim calcmode="discrete" valueType="str">
                                      <p:cBhvr>
                                        <p:cTn id="39" dur="1000" fill="hold"/>
                                        <p:tgtEl>
                                          <p:spTgt spid="265"/>
                                        </p:tgtEl>
                                        <p:attrNameLst>
                                          <p:attrName>style.visibility</p:attrName>
                                        </p:attrNameLst>
                                      </p:cBhvr>
                                      <p:tavLst>
                                        <p:tav tm="0">
                                          <p:val>
                                            <p:strVal val="hidden"/>
                                          </p:val>
                                        </p:tav>
                                        <p:tav tm="50000">
                                          <p:val>
                                            <p:strVal val="visible"/>
                                          </p:val>
                                        </p:tav>
                                      </p:tavLst>
                                    </p:anim>
                                  </p:childTnLst>
                                </p:cTn>
                              </p:par>
                              <p:par>
                                <p:cTn id="40" presetID="35" presetClass="emph" presetSubtype="0" repeatCount="3000" fill="hold" nodeType="withEffect">
                                  <p:stCondLst>
                                    <p:cond delay="0"/>
                                  </p:stCondLst>
                                  <p:childTnLst>
                                    <p:anim calcmode="discrete" valueType="str">
                                      <p:cBhvr>
                                        <p:cTn id="41" dur="1000" fill="hold"/>
                                        <p:tgtEl>
                                          <p:spTgt spid="26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 grpId="0" animBg="1"/>
      <p:bldP spid="264" grpId="0" animBg="1"/>
      <p:bldP spid="245" grpId="0"/>
      <p:bldP spid="254" grpId="0"/>
      <p:bldP spid="265" grpId="0"/>
      <p:bldP spid="274" grpId="0"/>
      <p:bldP spid="282" grpId="0"/>
      <p:bldP spid="293"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56963" y="615691"/>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6" name="Rectangle 6"/>
          <p:cNvSpPr>
            <a:spLocks noChangeArrowheads="1"/>
          </p:cNvSpPr>
          <p:nvPr/>
        </p:nvSpPr>
        <p:spPr bwMode="auto">
          <a:xfrm>
            <a:off x="3719577" y="582480"/>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需要强调三点</a:t>
            </a:r>
          </a:p>
        </p:txBody>
      </p:sp>
      <p:sp>
        <p:nvSpPr>
          <p:cNvPr id="17" name="Rectangle 68"/>
          <p:cNvSpPr>
            <a:spLocks noChangeArrowheads="1"/>
          </p:cNvSpPr>
          <p:nvPr/>
        </p:nvSpPr>
        <p:spPr bwMode="auto">
          <a:xfrm>
            <a:off x="556963" y="978790"/>
            <a:ext cx="8048776" cy="35548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第一</a:t>
            </a:r>
            <a:r>
              <a:rPr lang="zh-CN" altLang="en-US" sz="2000" b="1" dirty="0">
                <a:latin typeface="微软雅黑" pitchFamily="34" charset="-122"/>
                <a:ea typeface="微软雅黑" pitchFamily="34" charset="-122"/>
              </a:rPr>
              <a:t>，发送窗口是根据接收窗口设置的，但在同一时刻，发送窗口并</a:t>
            </a:r>
            <a:r>
              <a:rPr lang="zh-CN" altLang="en-US" sz="2000" b="1" dirty="0">
                <a:solidFill>
                  <a:srgbClr val="C00000"/>
                </a:solidFill>
                <a:latin typeface="微软雅黑" pitchFamily="34" charset="-122"/>
                <a:ea typeface="微软雅黑" pitchFamily="34" charset="-122"/>
              </a:rPr>
              <a:t>不总是</a:t>
            </a:r>
            <a:r>
              <a:rPr lang="zh-CN" altLang="en-US" sz="2000" b="1" dirty="0">
                <a:latin typeface="微软雅黑" pitchFamily="34" charset="-122"/>
                <a:ea typeface="微软雅黑" pitchFamily="34" charset="-122"/>
              </a:rPr>
              <a:t>和接收窗口</a:t>
            </a:r>
            <a:r>
              <a:rPr lang="zh-CN" altLang="en-US" sz="2000" b="1" dirty="0">
                <a:solidFill>
                  <a:srgbClr val="C00000"/>
                </a:solidFill>
                <a:latin typeface="微软雅黑" pitchFamily="34" charset="-122"/>
                <a:ea typeface="微软雅黑" pitchFamily="34" charset="-122"/>
              </a:rPr>
              <a:t>一样大</a:t>
            </a:r>
            <a:r>
              <a:rPr lang="zh-CN" altLang="en-US" sz="2000" b="1" dirty="0">
                <a:latin typeface="微软雅黑" pitchFamily="34" charset="-122"/>
                <a:ea typeface="微软雅黑" pitchFamily="34" charset="-122"/>
              </a:rPr>
              <a:t>（因为有一定的时间滞后）。</a:t>
            </a:r>
          </a:p>
          <a:p>
            <a:pPr marL="342900" indent="-342900">
              <a:lnSpc>
                <a:spcPts val="30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第二</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标准</a:t>
            </a:r>
            <a:r>
              <a:rPr lang="zh-CN" altLang="en-US" sz="2000" b="1" dirty="0">
                <a:solidFill>
                  <a:srgbClr val="C00000"/>
                </a:solidFill>
                <a:latin typeface="微软雅黑" pitchFamily="34" charset="-122"/>
                <a:ea typeface="微软雅黑" pitchFamily="34" charset="-122"/>
              </a:rPr>
              <a:t>没有规定</a:t>
            </a:r>
            <a:r>
              <a:rPr lang="zh-CN" altLang="en-US" sz="2000" b="1" dirty="0">
                <a:latin typeface="微软雅黑" pitchFamily="34" charset="-122"/>
                <a:ea typeface="微软雅黑" pitchFamily="34" charset="-122"/>
              </a:rPr>
              <a:t>对不按序到达的数据应如何处理。通常是先临时存放在接收窗口中，等到字节流中所缺少的字节收到后，再</a:t>
            </a:r>
            <a:r>
              <a:rPr lang="zh-CN" altLang="en-US" sz="2000" b="1" dirty="0">
                <a:solidFill>
                  <a:srgbClr val="C00000"/>
                </a:solidFill>
                <a:latin typeface="微软雅黑" pitchFamily="34" charset="-122"/>
                <a:ea typeface="微软雅黑" pitchFamily="34" charset="-122"/>
              </a:rPr>
              <a:t>按序交付</a:t>
            </a:r>
            <a:r>
              <a:rPr lang="zh-CN" altLang="en-US" sz="2000" b="1" dirty="0">
                <a:latin typeface="微软雅黑" pitchFamily="34" charset="-122"/>
                <a:ea typeface="微软雅黑" pitchFamily="34" charset="-122"/>
              </a:rPr>
              <a:t>上层的应用进程。</a:t>
            </a:r>
          </a:p>
          <a:p>
            <a:pPr marL="342900" indent="-342900">
              <a:lnSpc>
                <a:spcPts val="30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第三</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要求接收方必须有</a:t>
            </a:r>
            <a:r>
              <a:rPr lang="zh-CN" altLang="en-US" sz="2000" b="1" dirty="0">
                <a:solidFill>
                  <a:srgbClr val="C00000"/>
                </a:solidFill>
                <a:latin typeface="微软雅黑" pitchFamily="34" charset="-122"/>
                <a:ea typeface="微软雅黑" pitchFamily="34" charset="-122"/>
              </a:rPr>
              <a:t>累积确认</a:t>
            </a:r>
            <a:r>
              <a:rPr lang="zh-CN" altLang="en-US" sz="2000" b="1" dirty="0">
                <a:latin typeface="微软雅黑" pitchFamily="34" charset="-122"/>
                <a:ea typeface="微软雅黑" pitchFamily="34" charset="-122"/>
              </a:rPr>
              <a:t>的功能，以减小传输开销。接收方可以在合适的时候发送确认，也可以在自己有数据要发送时把确认信息顺便</a:t>
            </a:r>
            <a:r>
              <a:rPr lang="zh-CN" altLang="en-US" sz="2000" b="1" dirty="0">
                <a:solidFill>
                  <a:srgbClr val="C00000"/>
                </a:solidFill>
                <a:latin typeface="微软雅黑" pitchFamily="34" charset="-122"/>
                <a:ea typeface="微软雅黑" pitchFamily="34" charset="-122"/>
              </a:rPr>
              <a:t>捎带</a:t>
            </a:r>
            <a:r>
              <a:rPr lang="zh-CN" altLang="en-US" sz="2000" b="1" dirty="0">
                <a:latin typeface="微软雅黑" pitchFamily="34" charset="-122"/>
                <a:ea typeface="微软雅黑" pitchFamily="34" charset="-122"/>
              </a:rPr>
              <a:t>上。但接收方</a:t>
            </a:r>
            <a:r>
              <a:rPr lang="zh-CN" altLang="en-US" sz="2000" b="1" dirty="0">
                <a:solidFill>
                  <a:srgbClr val="C00000"/>
                </a:solidFill>
                <a:latin typeface="微软雅黑" pitchFamily="34" charset="-122"/>
                <a:ea typeface="微软雅黑" pitchFamily="34" charset="-122"/>
              </a:rPr>
              <a:t>不应过分推迟</a:t>
            </a:r>
            <a:r>
              <a:rPr lang="zh-CN" altLang="en-US" sz="2000" b="1" dirty="0">
                <a:latin typeface="微软雅黑" pitchFamily="34" charset="-122"/>
                <a:ea typeface="微软雅黑" pitchFamily="34" charset="-122"/>
              </a:rPr>
              <a:t>发送确认，否则会导致发送方不必要的重传，</a:t>
            </a:r>
            <a:r>
              <a:rPr lang="zh-CN" altLang="en-US" sz="2000" b="1" dirty="0">
                <a:solidFill>
                  <a:srgbClr val="C00000"/>
                </a:solidFill>
                <a:latin typeface="微软雅黑" pitchFamily="34" charset="-122"/>
                <a:ea typeface="微软雅黑" pitchFamily="34" charset="-122"/>
              </a:rPr>
              <a:t>捎带确认</a:t>
            </a:r>
            <a:r>
              <a:rPr lang="zh-CN" altLang="en-US" sz="2000" b="1" dirty="0">
                <a:latin typeface="微软雅黑" pitchFamily="34" charset="-122"/>
                <a:ea typeface="微软雅黑" pitchFamily="34" charset="-122"/>
              </a:rPr>
              <a:t>实际上并不经常发生。</a:t>
            </a:r>
            <a:endParaRPr lang="zh-CN" altLang="en-US" sz="2000" b="1" dirty="0">
              <a:solidFill>
                <a:srgbClr val="0000FF"/>
              </a:solidFill>
              <a:latin typeface="微软雅黑" pitchFamily="34" charset="-122"/>
              <a:ea typeface="微软雅黑" pitchFamily="34" charset="-122"/>
            </a:endParaRPr>
          </a:p>
        </p:txBody>
      </p:sp>
    </p:spTree>
    <p:extLst>
      <p:ext uri="{BB962C8B-B14F-4D97-AF65-F5344CB8AC3E}">
        <p14:creationId xmlns:p14="http://schemas.microsoft.com/office/powerpoint/2010/main" val="1204740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1000"/>
                                        <p:tgtEl>
                                          <p:spTgt spid="17">
                                            <p:txEl>
                                              <p:pRg st="0" end="0"/>
                                            </p:txEl>
                                          </p:spTgt>
                                        </p:tgtEl>
                                      </p:cBhvr>
                                    </p:animEffect>
                                    <p:anim calcmode="lin" valueType="num">
                                      <p:cBhvr>
                                        <p:cTn id="8"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
                                            <p:txEl>
                                              <p:pRg st="1" end="1"/>
                                            </p:txEl>
                                          </p:spTgt>
                                        </p:tgtEl>
                                        <p:attrNameLst>
                                          <p:attrName>style.visibility</p:attrName>
                                        </p:attrNameLst>
                                      </p:cBhvr>
                                      <p:to>
                                        <p:strVal val="visible"/>
                                      </p:to>
                                    </p:set>
                                    <p:animEffect transition="in" filter="fade">
                                      <p:cBhvr>
                                        <p:cTn id="14" dur="1000"/>
                                        <p:tgtEl>
                                          <p:spTgt spid="17">
                                            <p:txEl>
                                              <p:pRg st="1" end="1"/>
                                            </p:txEl>
                                          </p:spTgt>
                                        </p:tgtEl>
                                      </p:cBhvr>
                                    </p:animEffect>
                                    <p:anim calcmode="lin" valueType="num">
                                      <p:cBhvr>
                                        <p:cTn id="15"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7">
                                            <p:txEl>
                                              <p:pRg st="2" end="2"/>
                                            </p:txEl>
                                          </p:spTgt>
                                        </p:tgtEl>
                                        <p:attrNameLst>
                                          <p:attrName>style.visibility</p:attrName>
                                        </p:attrNameLst>
                                      </p:cBhvr>
                                      <p:to>
                                        <p:strVal val="visible"/>
                                      </p:to>
                                    </p:set>
                                    <p:animEffect transition="in" filter="fade">
                                      <p:cBhvr>
                                        <p:cTn id="21" dur="1000"/>
                                        <p:tgtEl>
                                          <p:spTgt spid="17">
                                            <p:txEl>
                                              <p:pRg st="2" end="2"/>
                                            </p:txEl>
                                          </p:spTgt>
                                        </p:tgtEl>
                                      </p:cBhvr>
                                    </p:animEffect>
                                    <p:anim calcmode="lin" valueType="num">
                                      <p:cBhvr>
                                        <p:cTn id="22" dur="1000" fill="hold"/>
                                        <p:tgtEl>
                                          <p:spTgt spid="1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圆角矩形 25"/>
          <p:cNvSpPr/>
          <p:nvPr/>
        </p:nvSpPr>
        <p:spPr>
          <a:xfrm>
            <a:off x="556963" y="2598733"/>
            <a:ext cx="8048776" cy="163260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AutoShape 5"/>
          <p:cNvSpPr>
            <a:spLocks noChangeArrowheads="1"/>
          </p:cNvSpPr>
          <p:nvPr/>
        </p:nvSpPr>
        <p:spPr bwMode="auto">
          <a:xfrm>
            <a:off x="556963" y="617247"/>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585722" y="584120"/>
            <a:ext cx="39725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5.7.2   </a:t>
            </a:r>
            <a:r>
              <a:rPr lang="zh-CN" altLang="en-US" sz="2400" b="1" dirty="0">
                <a:solidFill>
                  <a:schemeClr val="bg1"/>
                </a:solidFill>
                <a:latin typeface="微软雅黑" pitchFamily="34" charset="-122"/>
                <a:ea typeface="微软雅黑" pitchFamily="34" charset="-122"/>
              </a:rPr>
              <a:t>超时重传时间的选择</a:t>
            </a:r>
          </a:p>
        </p:txBody>
      </p:sp>
      <p:sp>
        <p:nvSpPr>
          <p:cNvPr id="7" name="Rectangle 8"/>
          <p:cNvSpPr>
            <a:spLocks noChangeArrowheads="1"/>
          </p:cNvSpPr>
          <p:nvPr/>
        </p:nvSpPr>
        <p:spPr bwMode="auto">
          <a:xfrm>
            <a:off x="556963" y="1003377"/>
            <a:ext cx="8048776"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发送方在规定的时间内没有收到确认就要</a:t>
            </a:r>
            <a:r>
              <a:rPr lang="zh-CN" altLang="en-US" sz="2000" b="1" dirty="0">
                <a:solidFill>
                  <a:srgbClr val="C00000"/>
                </a:solidFill>
                <a:latin typeface="微软雅黑" pitchFamily="34" charset="-122"/>
                <a:ea typeface="微软雅黑" pitchFamily="34" charset="-122"/>
              </a:rPr>
              <a:t>重传</a:t>
            </a:r>
            <a:r>
              <a:rPr lang="zh-CN" altLang="en-US" sz="2000" b="1" dirty="0">
                <a:latin typeface="微软雅黑" pitchFamily="34" charset="-122"/>
                <a:ea typeface="微软雅黑" pitchFamily="34" charset="-122"/>
              </a:rPr>
              <a:t>已发送的报文段。</a:t>
            </a:r>
            <a:endParaRPr lang="en-US" altLang="zh-CN" sz="2000"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但</a:t>
            </a:r>
            <a:r>
              <a:rPr lang="zh-CN" altLang="en-US" sz="2000" b="1" dirty="0">
                <a:solidFill>
                  <a:srgbClr val="C00000"/>
                </a:solidFill>
                <a:latin typeface="微软雅黑" pitchFamily="34" charset="-122"/>
                <a:ea typeface="微软雅黑" pitchFamily="34" charset="-122"/>
              </a:rPr>
              <a:t>重传时间</a:t>
            </a:r>
            <a:r>
              <a:rPr lang="zh-CN" altLang="en-US" sz="2000" b="1" dirty="0">
                <a:latin typeface="微软雅黑" pitchFamily="34" charset="-122"/>
                <a:ea typeface="微软雅黑" pitchFamily="34" charset="-122"/>
              </a:rPr>
              <a:t>的选择是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最复杂的问题之一。</a:t>
            </a:r>
            <a:endParaRPr lang="en-US" altLang="zh-CN" sz="2000"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互联网环境复杂，</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数据报所选择的路由变化很大，导致传输层的往返时间 </a:t>
            </a:r>
            <a:r>
              <a:rPr lang="en-US" altLang="zh-CN" sz="2000" b="1" dirty="0">
                <a:latin typeface="微软雅黑" pitchFamily="34" charset="-122"/>
                <a:ea typeface="微软雅黑" pitchFamily="34" charset="-122"/>
              </a:rPr>
              <a:t>(RTT) </a:t>
            </a:r>
            <a:r>
              <a:rPr lang="zh-CN" altLang="en-US" sz="2000" b="1" dirty="0">
                <a:latin typeface="微软雅黑" pitchFamily="34" charset="-122"/>
                <a:ea typeface="微软雅黑" pitchFamily="34" charset="-122"/>
              </a:rPr>
              <a:t>的变化也很大。</a:t>
            </a:r>
          </a:p>
        </p:txBody>
      </p:sp>
      <p:sp>
        <p:nvSpPr>
          <p:cNvPr id="9" name="Line 4"/>
          <p:cNvSpPr>
            <a:spLocks noChangeShapeType="1"/>
          </p:cNvSpPr>
          <p:nvPr/>
        </p:nvSpPr>
        <p:spPr bwMode="auto">
          <a:xfrm>
            <a:off x="2292279" y="3886548"/>
            <a:ext cx="5456559" cy="0"/>
          </a:xfrm>
          <a:prstGeom prst="line">
            <a:avLst/>
          </a:prstGeom>
          <a:noFill/>
          <a:ln w="19050">
            <a:solidFill>
              <a:srgbClr val="0033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0" name="Line 5"/>
          <p:cNvSpPr>
            <a:spLocks noChangeShapeType="1"/>
          </p:cNvSpPr>
          <p:nvPr/>
        </p:nvSpPr>
        <p:spPr bwMode="auto">
          <a:xfrm rot="5400000" flipH="1">
            <a:off x="1744550" y="3338819"/>
            <a:ext cx="1093290" cy="2168"/>
          </a:xfrm>
          <a:prstGeom prst="line">
            <a:avLst/>
          </a:prstGeom>
          <a:noFill/>
          <a:ln w="19050">
            <a:solidFill>
              <a:srgbClr val="0033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1" name="Freeform 6"/>
          <p:cNvSpPr>
            <a:spLocks/>
          </p:cNvSpPr>
          <p:nvPr/>
        </p:nvSpPr>
        <p:spPr bwMode="auto">
          <a:xfrm>
            <a:off x="3662109" y="2780515"/>
            <a:ext cx="1263624" cy="1106034"/>
          </a:xfrm>
          <a:custGeom>
            <a:avLst/>
            <a:gdLst>
              <a:gd name="T0" fmla="*/ 0 w 360"/>
              <a:gd name="T1" fmla="*/ 1012 h 1012"/>
              <a:gd name="T2" fmla="*/ 84 w 360"/>
              <a:gd name="T3" fmla="*/ 982 h 1012"/>
              <a:gd name="T4" fmla="*/ 117 w 360"/>
              <a:gd name="T5" fmla="*/ 934 h 1012"/>
              <a:gd name="T6" fmla="*/ 135 w 360"/>
              <a:gd name="T7" fmla="*/ 844 h 1012"/>
              <a:gd name="T8" fmla="*/ 159 w 360"/>
              <a:gd name="T9" fmla="*/ 364 h 1012"/>
              <a:gd name="T10" fmla="*/ 171 w 360"/>
              <a:gd name="T11" fmla="*/ 109 h 1012"/>
              <a:gd name="T12" fmla="*/ 183 w 360"/>
              <a:gd name="T13" fmla="*/ 16 h 1012"/>
              <a:gd name="T14" fmla="*/ 201 w 360"/>
              <a:gd name="T15" fmla="*/ 16 h 1012"/>
              <a:gd name="T16" fmla="*/ 207 w 360"/>
              <a:gd name="T17" fmla="*/ 112 h 1012"/>
              <a:gd name="T18" fmla="*/ 216 w 360"/>
              <a:gd name="T19" fmla="*/ 367 h 1012"/>
              <a:gd name="T20" fmla="*/ 231 w 360"/>
              <a:gd name="T21" fmla="*/ 847 h 1012"/>
              <a:gd name="T22" fmla="*/ 255 w 360"/>
              <a:gd name="T23" fmla="*/ 961 h 1012"/>
              <a:gd name="T24" fmla="*/ 360 w 360"/>
              <a:gd name="T25" fmla="*/ 1009 h 10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0" h="1012">
                <a:moveTo>
                  <a:pt x="0" y="1012"/>
                </a:moveTo>
                <a:cubicBezTo>
                  <a:pt x="14" y="1007"/>
                  <a:pt x="65" y="995"/>
                  <a:pt x="84" y="982"/>
                </a:cubicBezTo>
                <a:cubicBezTo>
                  <a:pt x="110" y="970"/>
                  <a:pt x="105" y="960"/>
                  <a:pt x="117" y="934"/>
                </a:cubicBezTo>
                <a:cubicBezTo>
                  <a:pt x="129" y="908"/>
                  <a:pt x="128" y="939"/>
                  <a:pt x="135" y="844"/>
                </a:cubicBezTo>
                <a:cubicBezTo>
                  <a:pt x="142" y="749"/>
                  <a:pt x="153" y="486"/>
                  <a:pt x="159" y="364"/>
                </a:cubicBezTo>
                <a:cubicBezTo>
                  <a:pt x="165" y="242"/>
                  <a:pt x="167" y="167"/>
                  <a:pt x="171" y="109"/>
                </a:cubicBezTo>
                <a:cubicBezTo>
                  <a:pt x="175" y="51"/>
                  <a:pt x="178" y="31"/>
                  <a:pt x="183" y="16"/>
                </a:cubicBezTo>
                <a:cubicBezTo>
                  <a:pt x="188" y="1"/>
                  <a:pt x="197" y="0"/>
                  <a:pt x="201" y="16"/>
                </a:cubicBezTo>
                <a:cubicBezTo>
                  <a:pt x="205" y="32"/>
                  <a:pt x="205" y="54"/>
                  <a:pt x="207" y="112"/>
                </a:cubicBezTo>
                <a:cubicBezTo>
                  <a:pt x="209" y="170"/>
                  <a:pt x="212" y="245"/>
                  <a:pt x="216" y="367"/>
                </a:cubicBezTo>
                <a:cubicBezTo>
                  <a:pt x="220" y="489"/>
                  <a:pt x="225" y="748"/>
                  <a:pt x="231" y="847"/>
                </a:cubicBezTo>
                <a:cubicBezTo>
                  <a:pt x="237" y="946"/>
                  <a:pt x="234" y="934"/>
                  <a:pt x="255" y="961"/>
                </a:cubicBezTo>
                <a:cubicBezTo>
                  <a:pt x="281" y="988"/>
                  <a:pt x="339" y="998"/>
                  <a:pt x="360" y="1009"/>
                </a:cubicBezTo>
              </a:path>
            </a:pathLst>
          </a:custGeom>
          <a:noFill/>
          <a:ln w="38100" cmpd="sng">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2" name="Freeform 7"/>
          <p:cNvSpPr>
            <a:spLocks/>
          </p:cNvSpPr>
          <p:nvPr/>
        </p:nvSpPr>
        <p:spPr bwMode="auto">
          <a:xfrm>
            <a:off x="3373837" y="3609538"/>
            <a:ext cx="3716096" cy="277012"/>
          </a:xfrm>
          <a:custGeom>
            <a:avLst/>
            <a:gdLst>
              <a:gd name="T0" fmla="*/ 0 w 1608"/>
              <a:gd name="T1" fmla="*/ 160 h 160"/>
              <a:gd name="T2" fmla="*/ 120 w 1608"/>
              <a:gd name="T3" fmla="*/ 94 h 160"/>
              <a:gd name="T4" fmla="*/ 264 w 1608"/>
              <a:gd name="T5" fmla="*/ 13 h 160"/>
              <a:gd name="T6" fmla="*/ 441 w 1608"/>
              <a:gd name="T7" fmla="*/ 13 h 160"/>
              <a:gd name="T8" fmla="*/ 708 w 1608"/>
              <a:gd name="T9" fmla="*/ 70 h 160"/>
              <a:gd name="T10" fmla="*/ 858 w 1608"/>
              <a:gd name="T11" fmla="*/ 112 h 160"/>
              <a:gd name="T12" fmla="*/ 1041 w 1608"/>
              <a:gd name="T13" fmla="*/ 133 h 160"/>
              <a:gd name="T14" fmla="*/ 1230 w 1608"/>
              <a:gd name="T15" fmla="*/ 145 h 160"/>
              <a:gd name="T16" fmla="*/ 1608 w 160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08" h="160">
                <a:moveTo>
                  <a:pt x="0" y="160"/>
                </a:moveTo>
                <a:cubicBezTo>
                  <a:pt x="20" y="149"/>
                  <a:pt x="76" y="118"/>
                  <a:pt x="120" y="94"/>
                </a:cubicBezTo>
                <a:cubicBezTo>
                  <a:pt x="164" y="70"/>
                  <a:pt x="211" y="26"/>
                  <a:pt x="264" y="13"/>
                </a:cubicBezTo>
                <a:cubicBezTo>
                  <a:pt x="317" y="0"/>
                  <a:pt x="367" y="4"/>
                  <a:pt x="441" y="13"/>
                </a:cubicBezTo>
                <a:cubicBezTo>
                  <a:pt x="515" y="22"/>
                  <a:pt x="639" y="54"/>
                  <a:pt x="708" y="70"/>
                </a:cubicBezTo>
                <a:cubicBezTo>
                  <a:pt x="777" y="86"/>
                  <a:pt x="803" y="102"/>
                  <a:pt x="858" y="112"/>
                </a:cubicBezTo>
                <a:cubicBezTo>
                  <a:pt x="913" y="122"/>
                  <a:pt x="979" y="128"/>
                  <a:pt x="1041" y="133"/>
                </a:cubicBezTo>
                <a:cubicBezTo>
                  <a:pt x="1103" y="138"/>
                  <a:pt x="1136" y="141"/>
                  <a:pt x="1230" y="145"/>
                </a:cubicBezTo>
                <a:cubicBezTo>
                  <a:pt x="1324" y="149"/>
                  <a:pt x="1529" y="157"/>
                  <a:pt x="1608" y="160"/>
                </a:cubicBezTo>
              </a:path>
            </a:pathLst>
          </a:custGeom>
          <a:noFill/>
          <a:ln w="571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3" name="Line 8"/>
          <p:cNvSpPr>
            <a:spLocks noChangeShapeType="1"/>
          </p:cNvSpPr>
          <p:nvPr/>
        </p:nvSpPr>
        <p:spPr bwMode="auto">
          <a:xfrm>
            <a:off x="4330768" y="2734234"/>
            <a:ext cx="0" cy="1152315"/>
          </a:xfrm>
          <a:prstGeom prst="line">
            <a:avLst/>
          </a:prstGeom>
          <a:noFill/>
          <a:ln w="19050">
            <a:solidFill>
              <a:srgbClr val="00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4" name="Line 9"/>
          <p:cNvSpPr>
            <a:spLocks noChangeShapeType="1"/>
          </p:cNvSpPr>
          <p:nvPr/>
        </p:nvSpPr>
        <p:spPr bwMode="auto">
          <a:xfrm>
            <a:off x="4925733" y="2964965"/>
            <a:ext cx="0" cy="921583"/>
          </a:xfrm>
          <a:prstGeom prst="line">
            <a:avLst/>
          </a:prstGeom>
          <a:noFill/>
          <a:ln w="19050">
            <a:solidFill>
              <a:srgbClr val="00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5" name="Line 10"/>
          <p:cNvSpPr>
            <a:spLocks noChangeShapeType="1"/>
          </p:cNvSpPr>
          <p:nvPr/>
        </p:nvSpPr>
        <p:spPr bwMode="auto">
          <a:xfrm>
            <a:off x="6808164" y="2964965"/>
            <a:ext cx="0" cy="921583"/>
          </a:xfrm>
          <a:prstGeom prst="line">
            <a:avLst/>
          </a:prstGeom>
          <a:noFill/>
          <a:ln w="19050">
            <a:solidFill>
              <a:srgbClr val="00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6" name="Text Box 11"/>
          <p:cNvSpPr txBox="1">
            <a:spLocks noChangeArrowheads="1"/>
          </p:cNvSpPr>
          <p:nvPr/>
        </p:nvSpPr>
        <p:spPr bwMode="auto">
          <a:xfrm>
            <a:off x="7300961" y="3867558"/>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时间</a:t>
            </a:r>
          </a:p>
        </p:txBody>
      </p:sp>
      <p:sp>
        <p:nvSpPr>
          <p:cNvPr id="17" name="Line 12"/>
          <p:cNvSpPr>
            <a:spLocks noChangeShapeType="1"/>
          </p:cNvSpPr>
          <p:nvPr/>
        </p:nvSpPr>
        <p:spPr bwMode="auto">
          <a:xfrm>
            <a:off x="3777560" y="3340065"/>
            <a:ext cx="379811" cy="123551"/>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8" name="Text Box 13"/>
          <p:cNvSpPr txBox="1">
            <a:spLocks noChangeArrowheads="1"/>
          </p:cNvSpPr>
          <p:nvPr/>
        </p:nvSpPr>
        <p:spPr bwMode="auto">
          <a:xfrm>
            <a:off x="2767728" y="3174149"/>
            <a:ext cx="108234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CC00CC"/>
                </a:solidFill>
                <a:latin typeface="微软雅黑" pitchFamily="34" charset="-122"/>
                <a:ea typeface="微软雅黑" pitchFamily="34" charset="-122"/>
              </a:rPr>
              <a:t>数据链路层</a:t>
            </a:r>
          </a:p>
        </p:txBody>
      </p:sp>
      <p:grpSp>
        <p:nvGrpSpPr>
          <p:cNvPr id="19" name="Group 14"/>
          <p:cNvGrpSpPr>
            <a:grpSpLocks/>
          </p:cNvGrpSpPr>
          <p:nvPr/>
        </p:nvGrpSpPr>
        <p:grpSpPr bwMode="auto">
          <a:xfrm>
            <a:off x="5029773" y="3415026"/>
            <a:ext cx="961265" cy="307865"/>
            <a:chOff x="3002" y="3126"/>
            <a:chExt cx="887" cy="459"/>
          </a:xfrm>
        </p:grpSpPr>
        <p:sp>
          <p:nvSpPr>
            <p:cNvPr id="24" name="Text Box 15"/>
            <p:cNvSpPr txBox="1">
              <a:spLocks noChangeArrowheads="1"/>
            </p:cNvSpPr>
            <p:nvPr/>
          </p:nvSpPr>
          <p:spPr bwMode="auto">
            <a:xfrm>
              <a:off x="3222" y="3126"/>
              <a:ext cx="667" cy="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传输层</a:t>
              </a:r>
            </a:p>
          </p:txBody>
        </p:sp>
        <p:sp>
          <p:nvSpPr>
            <p:cNvPr id="25" name="Line 16"/>
            <p:cNvSpPr>
              <a:spLocks noChangeShapeType="1"/>
            </p:cNvSpPr>
            <p:nvPr/>
          </p:nvSpPr>
          <p:spPr bwMode="auto">
            <a:xfrm flipH="1">
              <a:off x="3002" y="3363"/>
              <a:ext cx="276" cy="217"/>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sp>
        <p:nvSpPr>
          <p:cNvPr id="20" name="Text Box 17"/>
          <p:cNvSpPr txBox="1">
            <a:spLocks noChangeArrowheads="1"/>
          </p:cNvSpPr>
          <p:nvPr/>
        </p:nvSpPr>
        <p:spPr bwMode="auto">
          <a:xfrm>
            <a:off x="4157371" y="3876489"/>
            <a:ext cx="3433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dirty="0">
                <a:latin typeface="微软雅黑" pitchFamily="34" charset="-122"/>
                <a:ea typeface="微软雅黑" pitchFamily="34" charset="-122"/>
              </a:rPr>
              <a:t>T</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21" name="Text Box 18"/>
          <p:cNvSpPr txBox="1">
            <a:spLocks noChangeArrowheads="1"/>
          </p:cNvSpPr>
          <p:nvPr/>
        </p:nvSpPr>
        <p:spPr bwMode="auto">
          <a:xfrm>
            <a:off x="4741499" y="3876488"/>
            <a:ext cx="3433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a:latin typeface="微软雅黑" pitchFamily="34" charset="-122"/>
                <a:ea typeface="微软雅黑" pitchFamily="34" charset="-122"/>
              </a:rPr>
              <a:t>T</a:t>
            </a:r>
            <a:r>
              <a:rPr kumimoji="1" lang="en-US" altLang="zh-CN" sz="1200" b="1" baseline="-25000">
                <a:latin typeface="微软雅黑" pitchFamily="34" charset="-122"/>
                <a:ea typeface="微软雅黑" pitchFamily="34" charset="-122"/>
              </a:rPr>
              <a:t>2</a:t>
            </a:r>
            <a:endParaRPr kumimoji="1" lang="en-US" altLang="zh-CN" sz="1200" b="1">
              <a:latin typeface="微软雅黑" pitchFamily="34" charset="-122"/>
              <a:ea typeface="微软雅黑" pitchFamily="34" charset="-122"/>
            </a:endParaRPr>
          </a:p>
        </p:txBody>
      </p:sp>
      <p:sp>
        <p:nvSpPr>
          <p:cNvPr id="22" name="Text Box 19"/>
          <p:cNvSpPr txBox="1">
            <a:spLocks noChangeArrowheads="1"/>
          </p:cNvSpPr>
          <p:nvPr/>
        </p:nvSpPr>
        <p:spPr bwMode="auto">
          <a:xfrm>
            <a:off x="6623932" y="3876488"/>
            <a:ext cx="3433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a:latin typeface="微软雅黑" pitchFamily="34" charset="-122"/>
                <a:ea typeface="微软雅黑" pitchFamily="34" charset="-122"/>
              </a:rPr>
              <a:t>T</a:t>
            </a:r>
            <a:r>
              <a:rPr kumimoji="1" lang="en-US" altLang="zh-CN" sz="1200" b="1" baseline="-25000">
                <a:latin typeface="微软雅黑" pitchFamily="34" charset="-122"/>
                <a:ea typeface="微软雅黑" pitchFamily="34" charset="-122"/>
              </a:rPr>
              <a:t>3</a:t>
            </a:r>
            <a:endParaRPr kumimoji="1" lang="en-US" altLang="zh-CN" sz="1200" b="1">
              <a:latin typeface="微软雅黑" pitchFamily="34" charset="-122"/>
              <a:ea typeface="微软雅黑" pitchFamily="34" charset="-122"/>
            </a:endParaRPr>
          </a:p>
        </p:txBody>
      </p:sp>
      <p:sp>
        <p:nvSpPr>
          <p:cNvPr id="23" name="Text Box 20"/>
          <p:cNvSpPr txBox="1">
            <a:spLocks noChangeArrowheads="1"/>
          </p:cNvSpPr>
          <p:nvPr/>
        </p:nvSpPr>
        <p:spPr bwMode="auto">
          <a:xfrm>
            <a:off x="1369298" y="2736246"/>
            <a:ext cx="9541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往返时间的</a:t>
            </a:r>
          </a:p>
          <a:p>
            <a:r>
              <a:rPr kumimoji="1" lang="zh-CN" altLang="en-US" sz="1200" b="1" dirty="0">
                <a:latin typeface="微软雅黑" pitchFamily="34" charset="-122"/>
                <a:ea typeface="微软雅黑" pitchFamily="34" charset="-122"/>
              </a:rPr>
              <a:t>概率分布</a:t>
            </a:r>
          </a:p>
        </p:txBody>
      </p:sp>
    </p:spTree>
    <p:extLst>
      <p:ext uri="{BB962C8B-B14F-4D97-AF65-F5344CB8AC3E}">
        <p14:creationId xmlns:p14="http://schemas.microsoft.com/office/powerpoint/2010/main" val="3419522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par>
                          <p:cTn id="24" fill="hold">
                            <p:stCondLst>
                              <p:cond delay="1000"/>
                            </p:stCondLst>
                            <p:childTnLst>
                              <p:par>
                                <p:cTn id="25" presetID="35" presetClass="emph" presetSubtype="0" repeatCount="3000" fill="hold" grpId="0" nodeType="afterEffect">
                                  <p:stCondLst>
                                    <p:cond delay="0"/>
                                  </p:stCondLst>
                                  <p:childTnLst>
                                    <p:anim calcmode="discrete" valueType="str">
                                      <p:cBhvr>
                                        <p:cTn id="26" dur="1000" fill="hold"/>
                                        <p:tgtEl>
                                          <p:spTgt spid="1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AutoShape 5"/>
          <p:cNvSpPr>
            <a:spLocks noChangeArrowheads="1"/>
          </p:cNvSpPr>
          <p:nvPr/>
        </p:nvSpPr>
        <p:spPr bwMode="auto">
          <a:xfrm>
            <a:off x="556963" y="616586"/>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9" name="Rectangle 6"/>
          <p:cNvSpPr>
            <a:spLocks noChangeArrowheads="1"/>
          </p:cNvSpPr>
          <p:nvPr/>
        </p:nvSpPr>
        <p:spPr bwMode="auto">
          <a:xfrm>
            <a:off x="2918206" y="583375"/>
            <a:ext cx="332629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测量报文段的往返时间 </a:t>
            </a:r>
            <a:r>
              <a:rPr lang="en-US" altLang="zh-CN" sz="2000" b="1" dirty="0">
                <a:solidFill>
                  <a:schemeClr val="bg1"/>
                </a:solidFill>
                <a:latin typeface="微软雅黑" pitchFamily="34" charset="-122"/>
                <a:ea typeface="微软雅黑" pitchFamily="34" charset="-122"/>
              </a:rPr>
              <a:t>RTT</a:t>
            </a:r>
            <a:endParaRPr lang="zh-CN" altLang="en-US" sz="2000" b="1" dirty="0">
              <a:solidFill>
                <a:schemeClr val="bg1"/>
              </a:solidFill>
              <a:latin typeface="微软雅黑" pitchFamily="34" charset="-122"/>
              <a:ea typeface="微软雅黑" pitchFamily="34" charset="-122"/>
            </a:endParaRPr>
          </a:p>
        </p:txBody>
      </p:sp>
      <p:sp>
        <p:nvSpPr>
          <p:cNvPr id="20" name="Rectangle 68"/>
          <p:cNvSpPr>
            <a:spLocks noChangeArrowheads="1"/>
          </p:cNvSpPr>
          <p:nvPr/>
        </p:nvSpPr>
        <p:spPr bwMode="auto">
          <a:xfrm>
            <a:off x="556962" y="979685"/>
            <a:ext cx="8174661"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不能太短，</a:t>
            </a:r>
            <a:r>
              <a:rPr lang="zh-CN" altLang="en-US" sz="2000" b="1" dirty="0">
                <a:latin typeface="微软雅黑" pitchFamily="34" charset="-122"/>
                <a:ea typeface="微软雅黑" pitchFamily="34" charset="-122"/>
              </a:rPr>
              <a:t>否则会引起很多报文段的不必要的重传，使网络负荷增大。</a:t>
            </a:r>
          </a:p>
          <a:p>
            <a:pPr marL="342900" indent="-34290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不能过长，</a:t>
            </a:r>
            <a:r>
              <a:rPr lang="zh-CN" altLang="en-US" sz="2000" b="1" dirty="0">
                <a:latin typeface="微软雅黑" pitchFamily="34" charset="-122"/>
                <a:ea typeface="微软雅黑" pitchFamily="34" charset="-122"/>
              </a:rPr>
              <a:t>会使网络的空闲时间增大，降低了传输效率。</a:t>
            </a:r>
          </a:p>
        </p:txBody>
      </p:sp>
      <p:grpSp>
        <p:nvGrpSpPr>
          <p:cNvPr id="6" name="组合 5"/>
          <p:cNvGrpSpPr/>
          <p:nvPr/>
        </p:nvGrpSpPr>
        <p:grpSpPr>
          <a:xfrm>
            <a:off x="1264885" y="1986005"/>
            <a:ext cx="6758814" cy="1331259"/>
            <a:chOff x="502922" y="2655525"/>
            <a:chExt cx="8129014" cy="1331259"/>
          </a:xfrm>
        </p:grpSpPr>
        <p:sp>
          <p:nvSpPr>
            <p:cNvPr id="7" name="对角圆角矩形 6"/>
            <p:cNvSpPr/>
            <p:nvPr/>
          </p:nvSpPr>
          <p:spPr>
            <a:xfrm>
              <a:off x="502922" y="2655525"/>
              <a:ext cx="8129014" cy="1331259"/>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97141" y="2733577"/>
              <a:ext cx="7699646" cy="1169551"/>
            </a:xfrm>
            <a:prstGeom prst="rect">
              <a:avLst/>
            </a:prstGeom>
          </p:spPr>
          <p:txBody>
            <a:bodyPr wrap="square">
              <a:spAutoFit/>
            </a:bodyPr>
            <a:lstStyle/>
            <a:p>
              <a:pPr>
                <a:lnSpc>
                  <a:spcPts val="2800"/>
                </a:lnSpc>
              </a:pPr>
              <a:r>
                <a:rPr lang="en-US" altLang="zh-CN" b="1" dirty="0">
                  <a:solidFill>
                    <a:schemeClr val="bg1"/>
                  </a:solidFill>
                  <a:latin typeface="微软雅黑" pitchFamily="34" charset="-122"/>
                  <a:ea typeface="微软雅黑" pitchFamily="34" charset="-122"/>
                </a:rPr>
                <a:t>TCP </a:t>
              </a:r>
              <a:r>
                <a:rPr lang="zh-CN" altLang="en-US" b="1" dirty="0">
                  <a:solidFill>
                    <a:schemeClr val="bg1"/>
                  </a:solidFill>
                  <a:latin typeface="微软雅黑" pitchFamily="34" charset="-122"/>
                  <a:ea typeface="微软雅黑" pitchFamily="34" charset="-122"/>
                </a:rPr>
                <a:t>需要测量每个报文段的</a:t>
              </a:r>
              <a:r>
                <a:rPr lang="zh-CN" altLang="en-US" b="1" dirty="0">
                  <a:solidFill>
                    <a:srgbClr val="FFFF00"/>
                  </a:solidFill>
                  <a:latin typeface="微软雅黑" pitchFamily="34" charset="-122"/>
                  <a:ea typeface="微软雅黑" pitchFamily="34" charset="-122"/>
                </a:rPr>
                <a:t>往返时间 </a:t>
              </a:r>
              <a:r>
                <a:rPr lang="en-US" altLang="zh-CN" b="1" dirty="0">
                  <a:solidFill>
                    <a:srgbClr val="FFFF00"/>
                  </a:solidFill>
                  <a:latin typeface="微软雅黑" pitchFamily="34" charset="-122"/>
                  <a:ea typeface="微软雅黑" pitchFamily="34" charset="-122"/>
                </a:rPr>
                <a:t>RTT </a:t>
              </a:r>
              <a:r>
                <a:rPr lang="zh-CN" altLang="en-US" b="1" dirty="0">
                  <a:solidFill>
                    <a:srgbClr val="FFFF00"/>
                  </a:solidFill>
                  <a:latin typeface="微软雅黑" pitchFamily="34" charset="-122"/>
                  <a:ea typeface="微软雅黑" pitchFamily="34" charset="-122"/>
                </a:rPr>
                <a:t>：</a:t>
              </a:r>
              <a:r>
                <a:rPr lang="zh-CN" altLang="en-US" b="1" dirty="0">
                  <a:solidFill>
                    <a:schemeClr val="bg1"/>
                  </a:solidFill>
                  <a:latin typeface="微软雅黑" pitchFamily="34" charset="-122"/>
                  <a:ea typeface="微软雅黑" pitchFamily="34" charset="-122"/>
                </a:rPr>
                <a:t>它记录一个报文段发出的时间，以及收到相应确认的时间。这两个时间</a:t>
              </a:r>
              <a:r>
                <a:rPr lang="zh-CN" altLang="en-US" b="1" dirty="0">
                  <a:solidFill>
                    <a:srgbClr val="FFFF00"/>
                  </a:solidFill>
                  <a:latin typeface="微软雅黑" pitchFamily="34" charset="-122"/>
                  <a:ea typeface="微软雅黑" pitchFamily="34" charset="-122"/>
                </a:rPr>
                <a:t>之差</a:t>
              </a:r>
              <a:r>
                <a:rPr lang="zh-CN" altLang="en-US" b="1" dirty="0">
                  <a:solidFill>
                    <a:schemeClr val="bg1"/>
                  </a:solidFill>
                  <a:latin typeface="微软雅黑" pitchFamily="34" charset="-122"/>
                  <a:ea typeface="微软雅黑" pitchFamily="34" charset="-122"/>
                </a:rPr>
                <a:t>就是该报文段的</a:t>
              </a:r>
              <a:r>
                <a:rPr lang="zh-CN" altLang="en-US" b="1" dirty="0">
                  <a:solidFill>
                    <a:srgbClr val="FFFF00"/>
                  </a:solidFill>
                  <a:latin typeface="微软雅黑" pitchFamily="34" charset="-122"/>
                  <a:ea typeface="微软雅黑" pitchFamily="34" charset="-122"/>
                </a:rPr>
                <a:t>往返时间 </a:t>
              </a:r>
              <a:r>
                <a:rPr lang="en-US" altLang="zh-CN" b="1" dirty="0">
                  <a:solidFill>
                    <a:srgbClr val="FFFF00"/>
                  </a:solidFill>
                  <a:latin typeface="微软雅黑" pitchFamily="34" charset="-122"/>
                  <a:ea typeface="微软雅黑" pitchFamily="34" charset="-122"/>
                </a:rPr>
                <a:t>RTT</a:t>
              </a:r>
              <a:r>
                <a:rPr lang="zh-CN" altLang="en-US" b="1" dirty="0">
                  <a:solidFill>
                    <a:srgbClr val="FFFF00"/>
                  </a:solidFill>
                  <a:latin typeface="微软雅黑" pitchFamily="34" charset="-122"/>
                  <a:ea typeface="微软雅黑" pitchFamily="34" charset="-122"/>
                </a:rPr>
                <a:t>。</a:t>
              </a:r>
            </a:p>
          </p:txBody>
        </p:sp>
      </p:grpSp>
    </p:spTree>
    <p:extLst>
      <p:ext uri="{BB962C8B-B14F-4D97-AF65-F5344CB8AC3E}">
        <p14:creationId xmlns:p14="http://schemas.microsoft.com/office/powerpoint/2010/main" val="2523983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1000"/>
                                        <p:tgtEl>
                                          <p:spTgt spid="20">
                                            <p:txEl>
                                              <p:pRg st="0" end="0"/>
                                            </p:txEl>
                                          </p:spTgt>
                                        </p:tgtEl>
                                      </p:cBhvr>
                                    </p:animEffect>
                                    <p:anim calcmode="lin" valueType="num">
                                      <p:cBhvr>
                                        <p:cTn id="8"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0">
                                            <p:txEl>
                                              <p:pRg st="1" end="1"/>
                                            </p:txEl>
                                          </p:spTgt>
                                        </p:tgtEl>
                                        <p:attrNameLst>
                                          <p:attrName>style.visibility</p:attrName>
                                        </p:attrNameLst>
                                      </p:cBhvr>
                                      <p:to>
                                        <p:strVal val="visible"/>
                                      </p:to>
                                    </p:set>
                                    <p:animEffect transition="in" filter="fade">
                                      <p:cBhvr>
                                        <p:cTn id="14" dur="1000"/>
                                        <p:tgtEl>
                                          <p:spTgt spid="20">
                                            <p:txEl>
                                              <p:pRg st="1" end="1"/>
                                            </p:txEl>
                                          </p:spTgt>
                                        </p:tgtEl>
                                      </p:cBhvr>
                                    </p:animEffect>
                                    <p:anim calcmode="lin" valueType="num">
                                      <p:cBhvr>
                                        <p:cTn id="15" dur="1000" fill="hold"/>
                                        <p:tgtEl>
                                          <p:spTgt spid="20">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up)">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1658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059269" y="583372"/>
            <a:ext cx="30441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加权平均往返时间 </a:t>
            </a:r>
            <a:r>
              <a:rPr lang="en-US" altLang="zh-CN" sz="2000" b="1" dirty="0">
                <a:solidFill>
                  <a:schemeClr val="bg1"/>
                </a:solidFill>
                <a:latin typeface="微软雅黑" pitchFamily="34" charset="-122"/>
                <a:ea typeface="微软雅黑" pitchFamily="34" charset="-122"/>
              </a:rPr>
              <a:t>RTT</a:t>
            </a:r>
            <a:r>
              <a:rPr lang="en-US" altLang="zh-CN" sz="2000" b="1" baseline="-25000" dirty="0">
                <a:solidFill>
                  <a:schemeClr val="bg1"/>
                </a:solidFill>
                <a:latin typeface="微软雅黑" pitchFamily="34" charset="-122"/>
                <a:ea typeface="微软雅黑" pitchFamily="34" charset="-122"/>
              </a:rPr>
              <a:t>S</a:t>
            </a:r>
            <a:r>
              <a:rPr lang="en-US" altLang="zh-CN" sz="2000" b="1" dirty="0">
                <a:solidFill>
                  <a:schemeClr val="bg1"/>
                </a:solidFill>
                <a:latin typeface="微软雅黑" pitchFamily="34" charset="-122"/>
                <a:ea typeface="微软雅黑" pitchFamily="34" charset="-122"/>
              </a:rPr>
              <a:t> </a:t>
            </a:r>
            <a:endParaRPr lang="zh-CN" altLang="en-US" sz="2000" b="1" dirty="0">
              <a:solidFill>
                <a:schemeClr val="bg1"/>
              </a:solidFill>
              <a:latin typeface="微软雅黑" pitchFamily="34" charset="-122"/>
              <a:ea typeface="微软雅黑" pitchFamily="34" charset="-122"/>
            </a:endParaRPr>
          </a:p>
        </p:txBody>
      </p:sp>
      <p:sp>
        <p:nvSpPr>
          <p:cNvPr id="7" name="Rectangle 68"/>
          <p:cNvSpPr>
            <a:spLocks noChangeArrowheads="1"/>
          </p:cNvSpPr>
          <p:nvPr/>
        </p:nvSpPr>
        <p:spPr bwMode="auto">
          <a:xfrm>
            <a:off x="556963" y="979682"/>
            <a:ext cx="8184960" cy="1099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加权平均往返时间 </a:t>
            </a:r>
            <a:r>
              <a:rPr lang="en-US" altLang="zh-CN" b="1" dirty="0">
                <a:latin typeface="微软雅黑" pitchFamily="34" charset="-122"/>
                <a:ea typeface="微软雅黑" pitchFamily="34" charset="-122"/>
              </a:rPr>
              <a:t>RTT</a:t>
            </a:r>
            <a:r>
              <a:rPr lang="en-US" altLang="zh-CN" b="1" baseline="-25000" dirty="0">
                <a:latin typeface="微软雅黑" pitchFamily="34" charset="-122"/>
                <a:ea typeface="微软雅黑" pitchFamily="34" charset="-122"/>
              </a:rPr>
              <a:t>S</a:t>
            </a:r>
            <a:r>
              <a:rPr lang="zh-CN" altLang="en-US" b="1" dirty="0">
                <a:latin typeface="微软雅黑" pitchFamily="34" charset="-122"/>
                <a:ea typeface="微软雅黑" pitchFamily="34" charset="-122"/>
              </a:rPr>
              <a:t> 又称为</a:t>
            </a:r>
            <a:r>
              <a:rPr lang="zh-CN" altLang="en-US" b="1" dirty="0">
                <a:solidFill>
                  <a:srgbClr val="C00000"/>
                </a:solidFill>
                <a:latin typeface="微软雅黑" pitchFamily="34" charset="-122"/>
                <a:ea typeface="微软雅黑" pitchFamily="34" charset="-122"/>
              </a:rPr>
              <a:t>平滑的往返时间。</a:t>
            </a:r>
            <a:endParaRPr lang="en-US" altLang="zh-CN" b="1" dirty="0">
              <a:solidFill>
                <a:srgbClr val="C00000"/>
              </a:solidFill>
              <a:latin typeface="微软雅黑" pitchFamily="34" charset="-122"/>
              <a:ea typeface="微软雅黑" pitchFamily="34" charset="-122"/>
            </a:endParaRPr>
          </a:p>
          <a:p>
            <a:pPr marL="342900" indent="-34290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每当第一次测量到</a:t>
            </a:r>
            <a:r>
              <a:rPr lang="en-US" altLang="zh-CN" b="1" dirty="0">
                <a:latin typeface="微软雅黑" pitchFamily="34" charset="-122"/>
                <a:ea typeface="微软雅黑" pitchFamily="34" charset="-122"/>
              </a:rPr>
              <a:t>RTT</a:t>
            </a:r>
            <a:r>
              <a:rPr lang="zh-CN" altLang="en-US" b="1" dirty="0">
                <a:latin typeface="微软雅黑" pitchFamily="34" charset="-122"/>
                <a:ea typeface="微软雅黑" pitchFamily="34" charset="-122"/>
              </a:rPr>
              <a:t>样本时，</a:t>
            </a:r>
            <a:r>
              <a:rPr lang="en-US" altLang="zh-CN" b="1" dirty="0">
                <a:latin typeface="微软雅黑" pitchFamily="34" charset="-122"/>
                <a:ea typeface="微软雅黑" pitchFamily="34" charset="-122"/>
              </a:rPr>
              <a:t>RTTS</a:t>
            </a:r>
            <a:r>
              <a:rPr lang="zh-CN" altLang="en-US" b="1" dirty="0">
                <a:latin typeface="微软雅黑" pitchFamily="34" charset="-122"/>
                <a:ea typeface="微软雅黑" pitchFamily="34" charset="-122"/>
              </a:rPr>
              <a:t>值就取为所测量到的</a:t>
            </a:r>
            <a:r>
              <a:rPr lang="en-US" altLang="zh-CN" b="1" dirty="0">
                <a:latin typeface="微软雅黑" pitchFamily="34" charset="-122"/>
                <a:ea typeface="微软雅黑" pitchFamily="34" charset="-122"/>
              </a:rPr>
              <a:t>RTT</a:t>
            </a:r>
            <a:r>
              <a:rPr lang="zh-CN" altLang="en-US" b="1" dirty="0">
                <a:latin typeface="微软雅黑" pitchFamily="34" charset="-122"/>
                <a:ea typeface="微软雅黑" pitchFamily="34" charset="-122"/>
              </a:rPr>
              <a:t>样本值。但以后每测量到一个新的</a:t>
            </a:r>
            <a:r>
              <a:rPr lang="en-US" altLang="zh-CN" b="1" dirty="0">
                <a:latin typeface="微软雅黑" pitchFamily="34" charset="-122"/>
                <a:ea typeface="微软雅黑" pitchFamily="34" charset="-122"/>
              </a:rPr>
              <a:t>RTT</a:t>
            </a:r>
            <a:r>
              <a:rPr lang="zh-CN" altLang="en-US" b="1" dirty="0">
                <a:latin typeface="微软雅黑" pitchFamily="34" charset="-122"/>
                <a:ea typeface="微软雅黑" pitchFamily="34" charset="-122"/>
              </a:rPr>
              <a:t>样本，就按下式重新计算一次</a:t>
            </a:r>
            <a:r>
              <a:rPr lang="en-US" altLang="zh-CN" b="1" dirty="0">
                <a:latin typeface="微软雅黑" pitchFamily="34" charset="-122"/>
                <a:ea typeface="微软雅黑" pitchFamily="34" charset="-122"/>
              </a:rPr>
              <a:t>RTT</a:t>
            </a:r>
            <a:r>
              <a:rPr lang="en-US" altLang="zh-CN" b="1" baseline="-25000" dirty="0">
                <a:latin typeface="微软雅黑" pitchFamily="34" charset="-122"/>
                <a:ea typeface="微软雅黑" pitchFamily="34" charset="-122"/>
              </a:rPr>
              <a:t>S</a:t>
            </a:r>
            <a:r>
              <a:rPr lang="zh-CN" altLang="en-US" b="1" dirty="0">
                <a:latin typeface="微软雅黑" pitchFamily="34" charset="-122"/>
                <a:ea typeface="微软雅黑" pitchFamily="34" charset="-122"/>
              </a:rPr>
              <a:t>：</a:t>
            </a:r>
          </a:p>
        </p:txBody>
      </p:sp>
      <p:sp>
        <p:nvSpPr>
          <p:cNvPr id="8" name="Rectangle 4"/>
          <p:cNvSpPr>
            <a:spLocks noChangeArrowheads="1"/>
          </p:cNvSpPr>
          <p:nvPr/>
        </p:nvSpPr>
        <p:spPr bwMode="auto">
          <a:xfrm>
            <a:off x="794338" y="2255473"/>
            <a:ext cx="7574025" cy="599077"/>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r>
              <a:rPr lang="zh-CN" altLang="zh-CN" b="1" dirty="0">
                <a:solidFill>
                  <a:schemeClr val="dk1"/>
                </a:solidFill>
                <a:latin typeface="微软雅黑" pitchFamily="34" charset="-122"/>
                <a:ea typeface="微软雅黑" pitchFamily="34" charset="-122"/>
              </a:rPr>
              <a:t>新的</a:t>
            </a:r>
            <a:r>
              <a:rPr lang="en-US" altLang="zh-CN" b="1" dirty="0">
                <a:solidFill>
                  <a:schemeClr val="dk1"/>
                </a:solidFill>
                <a:latin typeface="微软雅黑" pitchFamily="34" charset="-122"/>
                <a:ea typeface="微软雅黑" pitchFamily="34" charset="-122"/>
              </a:rPr>
              <a:t> RTT</a:t>
            </a:r>
            <a:r>
              <a:rPr lang="en-US" altLang="zh-CN" b="1" baseline="-25000" dirty="0">
                <a:solidFill>
                  <a:schemeClr val="dk1"/>
                </a:solidFill>
                <a:latin typeface="微软雅黑" pitchFamily="34" charset="-122"/>
                <a:ea typeface="微软雅黑" pitchFamily="34" charset="-122"/>
              </a:rPr>
              <a:t>S</a:t>
            </a:r>
            <a:r>
              <a:rPr lang="en-US" altLang="zh-CN" b="1" dirty="0">
                <a:solidFill>
                  <a:schemeClr val="dk1"/>
                </a:solidFill>
                <a:latin typeface="微软雅黑" pitchFamily="34" charset="-122"/>
                <a:ea typeface="微软雅黑" pitchFamily="34" charset="-122"/>
              </a:rPr>
              <a:t>  </a:t>
            </a:r>
            <a:r>
              <a:rPr lang="en-US" altLang="zh-CN" b="1" dirty="0">
                <a:solidFill>
                  <a:schemeClr val="dk1"/>
                </a:solidFill>
                <a:latin typeface="微软雅黑" pitchFamily="34" charset="-122"/>
                <a:ea typeface="微软雅黑" pitchFamily="34" charset="-122"/>
                <a:sym typeface="Symbol"/>
              </a:rPr>
              <a:t> </a:t>
            </a:r>
            <a:r>
              <a:rPr lang="en-US" altLang="zh-CN" b="1" dirty="0">
                <a:solidFill>
                  <a:schemeClr val="dk1"/>
                </a:solidFill>
                <a:latin typeface="微软雅黑" pitchFamily="34" charset="-122"/>
                <a:ea typeface="微软雅黑" pitchFamily="34" charset="-122"/>
              </a:rPr>
              <a:t> (1 </a:t>
            </a:r>
            <a:r>
              <a:rPr lang="en-US" altLang="zh-CN" b="1" dirty="0">
                <a:solidFill>
                  <a:schemeClr val="dk1"/>
                </a:solidFill>
                <a:latin typeface="微软雅黑" pitchFamily="34" charset="-122"/>
                <a:ea typeface="微软雅黑" pitchFamily="34" charset="-122"/>
                <a:sym typeface="Symbol"/>
              </a:rPr>
              <a:t></a:t>
            </a:r>
            <a:r>
              <a:rPr lang="en-US" altLang="zh-CN" b="1" dirty="0">
                <a:solidFill>
                  <a:schemeClr val="dk1"/>
                </a:solidFill>
                <a:latin typeface="微软雅黑" pitchFamily="34" charset="-122"/>
                <a:ea typeface="微软雅黑" pitchFamily="34" charset="-122"/>
              </a:rPr>
              <a:t> </a:t>
            </a:r>
            <a:r>
              <a:rPr lang="en-US" altLang="zh-CN" b="1" dirty="0">
                <a:solidFill>
                  <a:schemeClr val="dk1"/>
                </a:solidFill>
                <a:latin typeface="微软雅黑" pitchFamily="34" charset="-122"/>
                <a:ea typeface="微软雅黑" pitchFamily="34" charset="-122"/>
                <a:sym typeface="Symbol"/>
              </a:rPr>
              <a:t></a:t>
            </a:r>
            <a:r>
              <a:rPr lang="en-US" altLang="zh-CN" b="1" dirty="0">
                <a:solidFill>
                  <a:schemeClr val="dk1"/>
                </a:solidFill>
                <a:latin typeface="微软雅黑" pitchFamily="34" charset="-122"/>
                <a:ea typeface="微软雅黑" pitchFamily="34" charset="-122"/>
              </a:rPr>
              <a:t>) </a:t>
            </a:r>
            <a:r>
              <a:rPr lang="en-US" altLang="zh-CN" b="1" dirty="0">
                <a:solidFill>
                  <a:schemeClr val="dk1"/>
                </a:solidFill>
                <a:latin typeface="微软雅黑" pitchFamily="34" charset="-122"/>
                <a:ea typeface="微软雅黑" pitchFamily="34" charset="-122"/>
                <a:sym typeface="Symbol"/>
              </a:rPr>
              <a:t></a:t>
            </a:r>
            <a:r>
              <a:rPr lang="en-US" altLang="zh-CN" b="1" dirty="0">
                <a:solidFill>
                  <a:schemeClr val="dk1"/>
                </a:solidFill>
                <a:latin typeface="微软雅黑" pitchFamily="34" charset="-122"/>
                <a:ea typeface="微软雅黑" pitchFamily="34" charset="-122"/>
              </a:rPr>
              <a:t> (</a:t>
            </a:r>
            <a:r>
              <a:rPr lang="zh-CN" altLang="zh-CN" b="1" dirty="0">
                <a:solidFill>
                  <a:schemeClr val="dk1"/>
                </a:solidFill>
                <a:latin typeface="微软雅黑" pitchFamily="34" charset="-122"/>
                <a:ea typeface="微软雅黑" pitchFamily="34" charset="-122"/>
              </a:rPr>
              <a:t>旧的</a:t>
            </a:r>
            <a:r>
              <a:rPr lang="en-US" altLang="zh-CN" b="1" dirty="0">
                <a:solidFill>
                  <a:schemeClr val="dk1"/>
                </a:solidFill>
                <a:latin typeface="微软雅黑" pitchFamily="34" charset="-122"/>
                <a:ea typeface="微软雅黑" pitchFamily="34" charset="-122"/>
              </a:rPr>
              <a:t> RTT</a:t>
            </a:r>
            <a:r>
              <a:rPr lang="en-US" altLang="zh-CN" b="1" baseline="-25000" dirty="0">
                <a:solidFill>
                  <a:schemeClr val="dk1"/>
                </a:solidFill>
                <a:latin typeface="微软雅黑" pitchFamily="34" charset="-122"/>
                <a:ea typeface="微软雅黑" pitchFamily="34" charset="-122"/>
              </a:rPr>
              <a:t>S</a:t>
            </a:r>
            <a:r>
              <a:rPr lang="en-US" altLang="zh-CN" b="1" dirty="0">
                <a:solidFill>
                  <a:schemeClr val="dk1"/>
                </a:solidFill>
                <a:latin typeface="微软雅黑" pitchFamily="34" charset="-122"/>
                <a:ea typeface="微软雅黑" pitchFamily="34" charset="-122"/>
              </a:rPr>
              <a:t>)  + </a:t>
            </a:r>
            <a:r>
              <a:rPr lang="en-US" altLang="zh-CN" b="1" dirty="0">
                <a:solidFill>
                  <a:schemeClr val="dk1"/>
                </a:solidFill>
                <a:latin typeface="微软雅黑" pitchFamily="34" charset="-122"/>
                <a:ea typeface="微软雅黑" pitchFamily="34" charset="-122"/>
                <a:sym typeface="Symbol"/>
              </a:rPr>
              <a:t></a:t>
            </a:r>
            <a:r>
              <a:rPr lang="en-US" altLang="zh-CN" b="1" dirty="0">
                <a:solidFill>
                  <a:schemeClr val="dk1"/>
                </a:solidFill>
                <a:latin typeface="微软雅黑" pitchFamily="34" charset="-122"/>
                <a:ea typeface="微软雅黑" pitchFamily="34" charset="-122"/>
              </a:rPr>
              <a:t> </a:t>
            </a:r>
            <a:r>
              <a:rPr lang="en-US" altLang="zh-CN" b="1" dirty="0">
                <a:solidFill>
                  <a:schemeClr val="dk1"/>
                </a:solidFill>
                <a:latin typeface="微软雅黑" pitchFamily="34" charset="-122"/>
                <a:ea typeface="微软雅黑" pitchFamily="34" charset="-122"/>
                <a:sym typeface="Symbol"/>
              </a:rPr>
              <a:t></a:t>
            </a:r>
            <a:r>
              <a:rPr lang="en-US" altLang="zh-CN" b="1" dirty="0">
                <a:solidFill>
                  <a:schemeClr val="dk1"/>
                </a:solidFill>
                <a:latin typeface="微软雅黑" pitchFamily="34" charset="-122"/>
                <a:ea typeface="微软雅黑" pitchFamily="34" charset="-122"/>
              </a:rPr>
              <a:t> (</a:t>
            </a:r>
            <a:r>
              <a:rPr lang="zh-CN" altLang="zh-CN" b="1" dirty="0">
                <a:solidFill>
                  <a:schemeClr val="dk1"/>
                </a:solidFill>
                <a:latin typeface="微软雅黑" pitchFamily="34" charset="-122"/>
                <a:ea typeface="微软雅黑" pitchFamily="34" charset="-122"/>
              </a:rPr>
              <a:t>新的</a:t>
            </a:r>
            <a:r>
              <a:rPr lang="en-US" altLang="zh-CN" b="1" dirty="0">
                <a:solidFill>
                  <a:schemeClr val="dk1"/>
                </a:solidFill>
                <a:latin typeface="微软雅黑" pitchFamily="34" charset="-122"/>
                <a:ea typeface="微软雅黑" pitchFamily="34" charset="-122"/>
              </a:rPr>
              <a:t> RTT </a:t>
            </a:r>
            <a:r>
              <a:rPr lang="zh-CN" altLang="zh-CN" b="1" dirty="0">
                <a:solidFill>
                  <a:schemeClr val="dk1"/>
                </a:solidFill>
                <a:latin typeface="微软雅黑" pitchFamily="34" charset="-122"/>
                <a:ea typeface="微软雅黑" pitchFamily="34" charset="-122"/>
              </a:rPr>
              <a:t>样本</a:t>
            </a:r>
            <a:r>
              <a:rPr lang="en-US" altLang="zh-CN" b="1" dirty="0">
                <a:solidFill>
                  <a:schemeClr val="dk1"/>
                </a:solidFill>
                <a:latin typeface="微软雅黑" pitchFamily="34" charset="-122"/>
                <a:ea typeface="微软雅黑" pitchFamily="34" charset="-122"/>
              </a:rPr>
              <a:t>)       (5-4)</a:t>
            </a:r>
          </a:p>
        </p:txBody>
      </p:sp>
      <mc:AlternateContent xmlns:mc="http://schemas.openxmlformats.org/markup-compatibility/2006" xmlns:a14="http://schemas.microsoft.com/office/drawing/2010/main">
        <mc:Choice Requires="a14">
          <p:sp>
            <p:nvSpPr>
              <p:cNvPr id="2" name="矩形 1"/>
              <p:cNvSpPr/>
              <p:nvPr/>
            </p:nvSpPr>
            <p:spPr>
              <a:xfrm>
                <a:off x="1963271" y="2899375"/>
                <a:ext cx="4572000" cy="1528624"/>
              </a:xfrm>
              <a:prstGeom prst="rect">
                <a:avLst/>
              </a:prstGeom>
            </p:spPr>
            <p:txBody>
              <a:bodyPr>
                <a:spAutoFit/>
              </a:bodyPr>
              <a:lstStyle/>
              <a:p>
                <a:pPr>
                  <a:lnSpc>
                    <a:spcPts val="2800"/>
                  </a:lnSpc>
                </a:pPr>
                <a:r>
                  <a:rPr lang="zh-CN" altLang="en-US" b="1" dirty="0">
                    <a:latin typeface="微软雅黑" panose="020B0503020204020204" pitchFamily="34" charset="-122"/>
                    <a:ea typeface="微软雅黑" panose="020B0503020204020204" pitchFamily="34" charset="-122"/>
                  </a:rPr>
                  <a:t>其中，</a:t>
                </a:r>
                <a14:m>
                  <m:oMath xmlns:m="http://schemas.openxmlformats.org/officeDocument/2006/math">
                    <m:r>
                      <a:rPr lang="en-US" altLang="zh-CN" sz="2000" b="1" i="1" smtClean="0">
                        <a:latin typeface="Cambria Math" panose="02040503050406030204" pitchFamily="18" charset="0"/>
                        <a:ea typeface="微软雅黑" panose="020B0503020204020204" pitchFamily="34" charset="-122"/>
                      </a:rPr>
                      <m:t>𝟎</m:t>
                    </m:r>
                    <m:r>
                      <a:rPr lang="en-US" altLang="zh-CN" sz="2000" b="1" i="1" smtClean="0">
                        <a:latin typeface="Cambria Math" panose="02040503050406030204" pitchFamily="18" charset="0"/>
                        <a:ea typeface="Cambria Math" panose="02040503050406030204" pitchFamily="18" charset="0"/>
                      </a:rPr>
                      <m:t>≤</m:t>
                    </m:r>
                    <m:r>
                      <a:rPr lang="zh-CN" altLang="en-US" sz="2000" b="1" i="1" smtClean="0">
                        <a:latin typeface="Cambria Math" panose="02040503050406030204" pitchFamily="18" charset="0"/>
                        <a:ea typeface="Cambria Math" panose="02040503050406030204" pitchFamily="18" charset="0"/>
                      </a:rPr>
                      <m:t>𝜶</m:t>
                    </m:r>
                    <m:r>
                      <a:rPr lang="en-US" altLang="zh-CN" sz="2000" b="1" i="1" smtClean="0">
                        <a:latin typeface="Cambria Math" panose="02040503050406030204" pitchFamily="18" charset="0"/>
                        <a:ea typeface="Cambria Math" panose="02040503050406030204" pitchFamily="18" charset="0"/>
                      </a:rPr>
                      <m:t>&lt;</m:t>
                    </m:r>
                    <m:r>
                      <a:rPr lang="en-US" altLang="zh-CN" sz="2000" b="1" i="1" smtClean="0">
                        <a:latin typeface="Cambria Math" panose="02040503050406030204" pitchFamily="18" charset="0"/>
                        <a:ea typeface="Cambria Math" panose="02040503050406030204" pitchFamily="18" charset="0"/>
                      </a:rPr>
                      <m:t>𝟏</m:t>
                    </m:r>
                    <m:r>
                      <a:rPr lang="en-US" altLang="zh-CN" sz="2000" b="1" i="0" smtClean="0">
                        <a:latin typeface="Cambria Math" panose="02040503050406030204" pitchFamily="18" charset="0"/>
                        <a:ea typeface="Cambria Math" panose="02040503050406030204" pitchFamily="18" charset="0"/>
                      </a:rPr>
                      <m:t> </m:t>
                    </m:r>
                    <m:r>
                      <a:rPr lang="zh-CN" altLang="en-US" sz="2000" b="1" i="1">
                        <a:latin typeface="Cambria Math" panose="02040503050406030204" pitchFamily="18" charset="0"/>
                        <a:ea typeface="Cambria Math" panose="02040503050406030204" pitchFamily="18" charset="0"/>
                      </a:rPr>
                      <m:t>。</m:t>
                    </m:r>
                  </m:oMath>
                </a14:m>
                <a:endParaRPr lang="zh-CN" altLang="en-US" sz="2000" b="1" dirty="0">
                  <a:latin typeface="微软雅黑" panose="020B0503020204020204" pitchFamily="34" charset="-122"/>
                  <a:ea typeface="微软雅黑" panose="020B0503020204020204" pitchFamily="34" charset="-122"/>
                </a:endParaRPr>
              </a:p>
              <a:p>
                <a:pPr>
                  <a:lnSpc>
                    <a:spcPts val="2800"/>
                  </a:lnSpc>
                </a:pPr>
                <a:r>
                  <a:rPr lang="zh-CN" altLang="en-US" b="1" dirty="0">
                    <a:latin typeface="微软雅黑" panose="020B0503020204020204" pitchFamily="34" charset="-122"/>
                    <a:ea typeface="微软雅黑" panose="020B0503020204020204" pitchFamily="34" charset="-122"/>
                  </a:rPr>
                  <a:t>若 </a:t>
                </a:r>
                <a14:m>
                  <m:oMath xmlns:m="http://schemas.openxmlformats.org/officeDocument/2006/math">
                    <m:r>
                      <a:rPr lang="zh-CN" altLang="en-US" b="1" i="1" smtClean="0">
                        <a:latin typeface="Cambria Math" panose="02040503050406030204" pitchFamily="18" charset="0"/>
                        <a:ea typeface="微软雅黑" panose="020B0503020204020204" pitchFamily="34" charset="-122"/>
                      </a:rPr>
                      <m:t>𝛂</m:t>
                    </m:r>
                    <m:r>
                      <a:rPr lang="zh-CN" altLang="en-US" b="1"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𝟎</m:t>
                    </m:r>
                  </m:oMath>
                </a14:m>
                <a:r>
                  <a:rPr lang="zh-CN" altLang="en-US" b="1" dirty="0">
                    <a:latin typeface="微软雅黑" panose="020B0503020204020204" pitchFamily="34" charset="-122"/>
                    <a:ea typeface="微软雅黑" panose="020B0503020204020204" pitchFamily="34" charset="-122"/>
                  </a:rPr>
                  <a:t>，表示 </a:t>
                </a:r>
                <a:r>
                  <a:rPr lang="en-US" altLang="zh-CN" b="1" dirty="0">
                    <a:latin typeface="微软雅黑" panose="020B0503020204020204" pitchFamily="34" charset="-122"/>
                    <a:ea typeface="微软雅黑" panose="020B0503020204020204" pitchFamily="34" charset="-122"/>
                  </a:rPr>
                  <a:t>RTT </a:t>
                </a:r>
                <a:r>
                  <a:rPr lang="zh-CN" altLang="en-US" b="1" dirty="0">
                    <a:latin typeface="微软雅黑" panose="020B0503020204020204" pitchFamily="34" charset="-122"/>
                    <a:ea typeface="微软雅黑" panose="020B0503020204020204" pitchFamily="34" charset="-122"/>
                  </a:rPr>
                  <a:t>值更新较慢。</a:t>
                </a:r>
              </a:p>
              <a:p>
                <a:pPr>
                  <a:lnSpc>
                    <a:spcPts val="2800"/>
                  </a:lnSpc>
                </a:pPr>
                <a:r>
                  <a:rPr lang="zh-CN" altLang="en-US" b="1" dirty="0">
                    <a:latin typeface="微软雅黑" panose="020B0503020204020204" pitchFamily="34" charset="-122"/>
                    <a:ea typeface="微软雅黑" panose="020B0503020204020204" pitchFamily="34" charset="-122"/>
                  </a:rPr>
                  <a:t>若</a:t>
                </a:r>
                <a14:m>
                  <m:oMath xmlns:m="http://schemas.openxmlformats.org/officeDocument/2006/math">
                    <m:r>
                      <a:rPr lang="en-US" altLang="zh-CN" b="1" i="0" smtClean="0">
                        <a:latin typeface="Cambria Math" panose="02040503050406030204" pitchFamily="18" charset="0"/>
                        <a:ea typeface="微软雅黑" panose="020B0503020204020204" pitchFamily="34" charset="-122"/>
                      </a:rPr>
                      <m:t> </m:t>
                    </m:r>
                    <m:r>
                      <a:rPr lang="zh-CN" altLang="en-US" b="1" i="1" smtClean="0">
                        <a:latin typeface="Cambria Math" panose="02040503050406030204" pitchFamily="18" charset="0"/>
                        <a:ea typeface="微软雅黑" panose="020B0503020204020204" pitchFamily="34" charset="-122"/>
                      </a:rPr>
                      <m:t>𝛂</m:t>
                    </m:r>
                    <m:r>
                      <a:rPr lang="zh-CN" altLang="en-US" b="1"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𝟏</m:t>
                    </m:r>
                  </m:oMath>
                </a14:m>
                <a:r>
                  <a:rPr lang="zh-CN" altLang="en-US" b="1" dirty="0">
                    <a:latin typeface="微软雅黑" panose="020B0503020204020204" pitchFamily="34" charset="-122"/>
                    <a:ea typeface="微软雅黑" panose="020B0503020204020204" pitchFamily="34" charset="-122"/>
                  </a:rPr>
                  <a:t>，表示 </a:t>
                </a:r>
                <a:r>
                  <a:rPr lang="en-US" altLang="zh-CN" b="1" dirty="0">
                    <a:latin typeface="微软雅黑" panose="020B0503020204020204" pitchFamily="34" charset="-122"/>
                    <a:ea typeface="微软雅黑" panose="020B0503020204020204" pitchFamily="34" charset="-122"/>
                  </a:rPr>
                  <a:t>RTT </a:t>
                </a:r>
                <a:r>
                  <a:rPr lang="zh-CN" altLang="en-US" b="1" dirty="0">
                    <a:latin typeface="微软雅黑" panose="020B0503020204020204" pitchFamily="34" charset="-122"/>
                    <a:ea typeface="微软雅黑" panose="020B0503020204020204" pitchFamily="34" charset="-122"/>
                  </a:rPr>
                  <a:t>值更新较快。</a:t>
                </a:r>
              </a:p>
              <a:p>
                <a:pPr>
                  <a:lnSpc>
                    <a:spcPts val="2800"/>
                  </a:lnSpc>
                </a:pPr>
                <a:r>
                  <a:rPr lang="en-US" altLang="zh-CN" b="1" dirty="0">
                    <a:latin typeface="微软雅黑" panose="020B0503020204020204" pitchFamily="34" charset="-122"/>
                    <a:ea typeface="微软雅黑" panose="020B0503020204020204" pitchFamily="34" charset="-122"/>
                  </a:rPr>
                  <a:t>RFC 6298 </a:t>
                </a:r>
                <a:r>
                  <a:rPr lang="zh-CN" altLang="en-US" b="1" dirty="0">
                    <a:latin typeface="微软雅黑" panose="020B0503020204020204" pitchFamily="34" charset="-122"/>
                    <a:ea typeface="微软雅黑" panose="020B0503020204020204" pitchFamily="34" charset="-122"/>
                  </a:rPr>
                  <a:t>推荐的 </a:t>
                </a:r>
                <a:r>
                  <a:rPr lang="en-US" altLang="zh-CN" b="1" dirty="0">
                    <a:solidFill>
                      <a:schemeClr val="dk1"/>
                    </a:solidFill>
                    <a:latin typeface="微软雅黑" pitchFamily="34" charset="-122"/>
                    <a:ea typeface="微软雅黑" pitchFamily="34" charset="-122"/>
                    <a:sym typeface="Symbol"/>
                  </a:rPr>
                  <a:t> </a:t>
                </a:r>
                <a:r>
                  <a:rPr lang="zh-CN" altLang="en-US" b="1" dirty="0">
                    <a:latin typeface="微软雅黑" panose="020B0503020204020204" pitchFamily="34" charset="-122"/>
                    <a:ea typeface="微软雅黑" panose="020B0503020204020204" pitchFamily="34" charset="-122"/>
                  </a:rPr>
                  <a:t>值为 </a:t>
                </a:r>
                <a:r>
                  <a:rPr lang="en-US" altLang="zh-CN" b="1" dirty="0">
                    <a:latin typeface="微软雅黑" panose="020B0503020204020204" pitchFamily="34" charset="-122"/>
                    <a:ea typeface="微软雅黑" panose="020B0503020204020204" pitchFamily="34" charset="-122"/>
                  </a:rPr>
                  <a:t>1/8</a:t>
                </a:r>
                <a:r>
                  <a:rPr lang="zh-CN" altLang="en-US" b="1" dirty="0">
                    <a:latin typeface="微软雅黑" panose="020B0503020204020204" pitchFamily="34" charset="-122"/>
                    <a:ea typeface="微软雅黑" panose="020B0503020204020204" pitchFamily="34" charset="-122"/>
                  </a:rPr>
                  <a:t>，即 </a:t>
                </a:r>
                <a:r>
                  <a:rPr lang="en-US" altLang="zh-CN" b="1" dirty="0">
                    <a:latin typeface="微软雅黑" panose="020B0503020204020204" pitchFamily="34" charset="-122"/>
                    <a:ea typeface="微软雅黑" panose="020B0503020204020204" pitchFamily="34" charset="-122"/>
                  </a:rPr>
                  <a:t>0.125</a:t>
                </a:r>
                <a:r>
                  <a:rPr lang="zh-CN" altLang="en-US" b="1" dirty="0">
                    <a:latin typeface="微软雅黑" panose="020B0503020204020204" pitchFamily="34" charset="-122"/>
                    <a:ea typeface="微软雅黑" panose="020B0503020204020204" pitchFamily="34" charset="-122"/>
                  </a:rPr>
                  <a:t>。 </a:t>
                </a:r>
              </a:p>
            </p:txBody>
          </p:sp>
        </mc:Choice>
        <mc:Fallback xmlns="">
          <p:sp>
            <p:nvSpPr>
              <p:cNvPr id="2" name="矩形 1"/>
              <p:cNvSpPr>
                <a:spLocks noRot="1" noChangeAspect="1" noMove="1" noResize="1" noEditPoints="1" noAdjustHandles="1" noChangeArrowheads="1" noChangeShapeType="1" noTextEdit="1"/>
              </p:cNvSpPr>
              <p:nvPr/>
            </p:nvSpPr>
            <p:spPr>
              <a:xfrm>
                <a:off x="1963271" y="2899375"/>
                <a:ext cx="4572000" cy="1528624"/>
              </a:xfrm>
              <a:prstGeom prst="rect">
                <a:avLst/>
              </a:prstGeom>
              <a:blipFill>
                <a:blip r:embed="rId3"/>
                <a:stretch>
                  <a:fillRect l="-1067" r="-1733" b="-36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41667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35" presetClass="emph" presetSubtype="0" repeatCount="3000" fill="hold" grpId="0" nodeType="afterEffect">
                                  <p:stCondLst>
                                    <p:cond delay="0"/>
                                  </p:stCondLst>
                                  <p:childTnLst>
                                    <p:anim calcmode="discrete" valueType="str">
                                      <p:cBhvr>
                                        <p:cTn id="19"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2">
                                            <p:txEl>
                                              <p:pRg st="0" end="0"/>
                                            </p:txEl>
                                          </p:spTgt>
                                        </p:tgtEl>
                                        <p:attrNameLst>
                                          <p:attrName>style.visibility</p:attrName>
                                        </p:attrNameLst>
                                      </p:cBhvr>
                                      <p:to>
                                        <p:strVal val="visible"/>
                                      </p:to>
                                    </p:set>
                                    <p:animEffect transition="in" filter="fade">
                                      <p:cBhvr>
                                        <p:cTn id="24" dur="1000"/>
                                        <p:tgtEl>
                                          <p:spTgt spid="2">
                                            <p:txEl>
                                              <p:pRg st="0" end="0"/>
                                            </p:txEl>
                                          </p:spTgt>
                                        </p:tgtEl>
                                      </p:cBhvr>
                                    </p:animEffect>
                                    <p:anim calcmode="lin" valueType="num">
                                      <p:cBhvr>
                                        <p:cTn id="2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2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
                                            <p:txEl>
                                              <p:pRg st="1" end="1"/>
                                            </p:txEl>
                                          </p:spTgt>
                                        </p:tgtEl>
                                        <p:attrNameLst>
                                          <p:attrName>style.visibility</p:attrName>
                                        </p:attrNameLst>
                                      </p:cBhvr>
                                      <p:to>
                                        <p:strVal val="visible"/>
                                      </p:to>
                                    </p:set>
                                    <p:animEffect transition="in" filter="fade">
                                      <p:cBhvr>
                                        <p:cTn id="31" dur="1000"/>
                                        <p:tgtEl>
                                          <p:spTgt spid="2">
                                            <p:txEl>
                                              <p:pRg st="1" end="1"/>
                                            </p:txEl>
                                          </p:spTgt>
                                        </p:tgtEl>
                                      </p:cBhvr>
                                    </p:animEffect>
                                    <p:anim calcmode="lin" valueType="num">
                                      <p:cBhvr>
                                        <p:cTn id="3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3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2">
                                            <p:txEl>
                                              <p:pRg st="2" end="2"/>
                                            </p:txEl>
                                          </p:spTgt>
                                        </p:tgtEl>
                                        <p:attrNameLst>
                                          <p:attrName>style.visibility</p:attrName>
                                        </p:attrNameLst>
                                      </p:cBhvr>
                                      <p:to>
                                        <p:strVal val="visible"/>
                                      </p:to>
                                    </p:set>
                                    <p:animEffect transition="in" filter="fade">
                                      <p:cBhvr>
                                        <p:cTn id="38" dur="1000"/>
                                        <p:tgtEl>
                                          <p:spTgt spid="2">
                                            <p:txEl>
                                              <p:pRg st="2" end="2"/>
                                            </p:txEl>
                                          </p:spTgt>
                                        </p:tgtEl>
                                      </p:cBhvr>
                                    </p:animEffect>
                                    <p:anim calcmode="lin" valueType="num">
                                      <p:cBhvr>
                                        <p:cTn id="3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4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2">
                                            <p:txEl>
                                              <p:pRg st="3" end="3"/>
                                            </p:txEl>
                                          </p:spTgt>
                                        </p:tgtEl>
                                        <p:attrNameLst>
                                          <p:attrName>style.visibility</p:attrName>
                                        </p:attrNameLst>
                                      </p:cBhvr>
                                      <p:to>
                                        <p:strVal val="visible"/>
                                      </p:to>
                                    </p:set>
                                    <p:animEffect transition="in" filter="fade">
                                      <p:cBhvr>
                                        <p:cTn id="45" dur="1000"/>
                                        <p:tgtEl>
                                          <p:spTgt spid="2">
                                            <p:txEl>
                                              <p:pRg st="3" end="3"/>
                                            </p:txEl>
                                          </p:spTgt>
                                        </p:tgtEl>
                                      </p:cBhvr>
                                    </p:animEffect>
                                    <p:anim calcmode="lin" valueType="num">
                                      <p:cBhvr>
                                        <p:cTn id="4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4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5"/>
          <p:cNvSpPr>
            <a:spLocks noChangeArrowheads="1"/>
          </p:cNvSpPr>
          <p:nvPr/>
        </p:nvSpPr>
        <p:spPr bwMode="auto">
          <a:xfrm>
            <a:off x="556963" y="62554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2" name="Rectangle 6"/>
          <p:cNvSpPr>
            <a:spLocks noChangeArrowheads="1"/>
          </p:cNvSpPr>
          <p:nvPr/>
        </p:nvSpPr>
        <p:spPr bwMode="auto">
          <a:xfrm>
            <a:off x="3414270" y="592333"/>
            <a:ext cx="23341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超时重传时间 </a:t>
            </a:r>
            <a:r>
              <a:rPr lang="en-US" altLang="zh-CN" sz="2000" b="1" dirty="0">
                <a:solidFill>
                  <a:schemeClr val="bg1"/>
                </a:solidFill>
                <a:latin typeface="微软雅黑" pitchFamily="34" charset="-122"/>
                <a:ea typeface="微软雅黑" pitchFamily="34" charset="-122"/>
              </a:rPr>
              <a:t>RTO</a:t>
            </a:r>
            <a:endParaRPr lang="zh-CN" altLang="en-US" sz="2000" b="1" dirty="0">
              <a:solidFill>
                <a:schemeClr val="bg1"/>
              </a:solidFill>
              <a:latin typeface="微软雅黑" pitchFamily="34" charset="-122"/>
              <a:ea typeface="微软雅黑" pitchFamily="34" charset="-122"/>
            </a:endParaRPr>
          </a:p>
        </p:txBody>
      </p:sp>
      <p:sp>
        <p:nvSpPr>
          <p:cNvPr id="13" name="Rectangle 68"/>
          <p:cNvSpPr>
            <a:spLocks noChangeArrowheads="1"/>
          </p:cNvSpPr>
          <p:nvPr/>
        </p:nvSpPr>
        <p:spPr bwMode="auto">
          <a:xfrm>
            <a:off x="556963" y="988643"/>
            <a:ext cx="8184960" cy="35066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en-US" altLang="zh-CN" b="1" dirty="0">
                <a:latin typeface="微软雅黑" pitchFamily="34" charset="-122"/>
                <a:ea typeface="微软雅黑" pitchFamily="34" charset="-122"/>
              </a:rPr>
              <a:t>RTO (Retransmission Time-Out) </a:t>
            </a:r>
            <a:r>
              <a:rPr lang="zh-CN" altLang="en-US" b="1" dirty="0">
                <a:latin typeface="微软雅黑" pitchFamily="34" charset="-122"/>
                <a:ea typeface="微软雅黑" pitchFamily="34" charset="-122"/>
              </a:rPr>
              <a:t>应</a:t>
            </a:r>
            <a:r>
              <a:rPr lang="zh-CN" altLang="en-US" b="1" dirty="0">
                <a:solidFill>
                  <a:srgbClr val="C00000"/>
                </a:solidFill>
                <a:latin typeface="微软雅黑" pitchFamily="34" charset="-122"/>
                <a:ea typeface="微软雅黑" pitchFamily="34" charset="-122"/>
              </a:rPr>
              <a:t>略大于</a:t>
            </a:r>
            <a:r>
              <a:rPr lang="zh-CN" altLang="en-US" b="1" dirty="0">
                <a:latin typeface="微软雅黑" pitchFamily="34" charset="-122"/>
                <a:ea typeface="微软雅黑" pitchFamily="34" charset="-122"/>
              </a:rPr>
              <a:t>加权平均往返时间 </a:t>
            </a:r>
            <a:r>
              <a:rPr lang="en-US" altLang="zh-CN" b="1" dirty="0">
                <a:latin typeface="微软雅黑" pitchFamily="34" charset="-122"/>
                <a:ea typeface="微软雅黑" pitchFamily="34" charset="-122"/>
              </a:rPr>
              <a:t>RTT</a:t>
            </a:r>
            <a:r>
              <a:rPr lang="en-US" altLang="zh-CN" b="1" baseline="-25000" dirty="0">
                <a:latin typeface="微软雅黑" pitchFamily="34" charset="-122"/>
                <a:ea typeface="微软雅黑" pitchFamily="34" charset="-122"/>
              </a:rPr>
              <a:t>S </a:t>
            </a:r>
            <a:r>
              <a:rPr lang="zh-CN" altLang="en-US" b="1" dirty="0">
                <a:latin typeface="微软雅黑" pitchFamily="34" charset="-122"/>
                <a:ea typeface="微软雅黑" pitchFamily="34" charset="-122"/>
              </a:rPr>
              <a:t>。</a:t>
            </a:r>
          </a:p>
          <a:p>
            <a:pPr marL="342900" indent="-342900">
              <a:lnSpc>
                <a:spcPts val="3000"/>
              </a:lnSpc>
              <a:buClr>
                <a:srgbClr val="0070C0"/>
              </a:buClr>
              <a:buFont typeface="Wingdings" pitchFamily="2" charset="2"/>
              <a:buChar char="l"/>
            </a:pPr>
            <a:r>
              <a:rPr lang="en-US" altLang="zh-CN" b="1" dirty="0">
                <a:latin typeface="微软雅黑" pitchFamily="34" charset="-122"/>
                <a:ea typeface="微软雅黑" pitchFamily="34" charset="-122"/>
              </a:rPr>
              <a:t>RFC 6298 </a:t>
            </a:r>
            <a:r>
              <a:rPr lang="zh-CN" altLang="en-US" b="1" dirty="0">
                <a:latin typeface="微软雅黑" pitchFamily="34" charset="-122"/>
                <a:ea typeface="微软雅黑" pitchFamily="34" charset="-122"/>
              </a:rPr>
              <a:t>建议 </a:t>
            </a:r>
            <a:r>
              <a:rPr lang="en-US" altLang="zh-CN" b="1" dirty="0">
                <a:solidFill>
                  <a:srgbClr val="C00000"/>
                </a:solidFill>
                <a:latin typeface="微软雅黑" pitchFamily="34" charset="-122"/>
                <a:ea typeface="微软雅黑" pitchFamily="34" charset="-122"/>
              </a:rPr>
              <a:t>RTO</a:t>
            </a:r>
            <a:r>
              <a:rPr lang="zh-CN" altLang="en-US" b="1" dirty="0">
                <a:solidFill>
                  <a:srgbClr val="C00000"/>
                </a:solidFill>
                <a:latin typeface="微软雅黑" pitchFamily="34" charset="-122"/>
                <a:ea typeface="微软雅黑" pitchFamily="34" charset="-122"/>
              </a:rPr>
              <a:t>：</a:t>
            </a:r>
          </a:p>
          <a:p>
            <a:pPr marL="342900" indent="-342900">
              <a:lnSpc>
                <a:spcPts val="3000"/>
              </a:lnSpc>
              <a:buClr>
                <a:srgbClr val="0070C0"/>
              </a:buClr>
              <a:buFont typeface="Wingdings" pitchFamily="2" charset="2"/>
              <a:buChar char="l"/>
            </a:pPr>
            <a:endParaRPr lang="zh-CN" altLang="en-US" b="1" dirty="0">
              <a:latin typeface="微软雅黑" pitchFamily="34" charset="-122"/>
              <a:ea typeface="微软雅黑" pitchFamily="34" charset="-122"/>
            </a:endParaRPr>
          </a:p>
          <a:p>
            <a:pPr>
              <a:lnSpc>
                <a:spcPts val="3000"/>
              </a:lnSpc>
              <a:buClr>
                <a:srgbClr val="0070C0"/>
              </a:buClr>
            </a:pPr>
            <a:r>
              <a:rPr lang="en-US" altLang="zh-CN"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其中：</a:t>
            </a:r>
            <a:r>
              <a:rPr lang="en-US" altLang="zh-CN" sz="1600" b="1" dirty="0">
                <a:latin typeface="微软雅黑" pitchFamily="34" charset="-122"/>
                <a:ea typeface="微软雅黑" pitchFamily="34" charset="-122"/>
              </a:rPr>
              <a:t>RTT</a:t>
            </a:r>
            <a:r>
              <a:rPr lang="en-US" altLang="zh-CN" sz="1600" b="1" baseline="-25000" dirty="0">
                <a:latin typeface="微软雅黑" pitchFamily="34" charset="-122"/>
                <a:ea typeface="微软雅黑" pitchFamily="34" charset="-122"/>
              </a:rPr>
              <a:t>D</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是 </a:t>
            </a:r>
            <a:r>
              <a:rPr lang="en-US" altLang="zh-CN" sz="1600" b="1" dirty="0">
                <a:latin typeface="微软雅黑" pitchFamily="34" charset="-122"/>
                <a:ea typeface="微软雅黑" pitchFamily="34" charset="-122"/>
              </a:rPr>
              <a:t>RTT </a:t>
            </a:r>
            <a:r>
              <a:rPr lang="zh-CN" altLang="en-US" sz="1600" b="1" dirty="0">
                <a:solidFill>
                  <a:srgbClr val="0000FF"/>
                </a:solidFill>
                <a:latin typeface="微软雅黑" pitchFamily="34" charset="-122"/>
                <a:ea typeface="微软雅黑" pitchFamily="34" charset="-122"/>
              </a:rPr>
              <a:t>偏差的加权平均值。</a:t>
            </a:r>
          </a:p>
          <a:p>
            <a:pPr marL="342900" indent="-342900">
              <a:lnSpc>
                <a:spcPts val="3000"/>
              </a:lnSpc>
              <a:buClr>
                <a:srgbClr val="0070C0"/>
              </a:buClr>
              <a:buFont typeface="Wingdings" pitchFamily="2" charset="2"/>
              <a:buChar char="l"/>
            </a:pPr>
            <a:r>
              <a:rPr lang="en-US" altLang="zh-CN" b="1" dirty="0">
                <a:latin typeface="微软雅黑" pitchFamily="34" charset="-122"/>
                <a:ea typeface="微软雅黑" pitchFamily="34" charset="-122"/>
              </a:rPr>
              <a:t>RFC 6298 </a:t>
            </a:r>
            <a:r>
              <a:rPr lang="zh-CN" altLang="en-US" b="1" dirty="0">
                <a:latin typeface="微软雅黑" pitchFamily="34" charset="-122"/>
                <a:ea typeface="微软雅黑" pitchFamily="34" charset="-122"/>
              </a:rPr>
              <a:t>建议第一次测量</a:t>
            </a:r>
            <a:r>
              <a:rPr lang="en-US" altLang="zh-CN" b="1" dirty="0">
                <a:latin typeface="微软雅黑" pitchFamily="34" charset="-122"/>
                <a:ea typeface="微软雅黑" pitchFamily="34" charset="-122"/>
              </a:rPr>
              <a:t>RTT</a:t>
            </a:r>
            <a:r>
              <a:rPr lang="zh-CN" altLang="en-US" b="1" dirty="0">
                <a:latin typeface="微软雅黑" pitchFamily="34" charset="-122"/>
                <a:ea typeface="微软雅黑" pitchFamily="34" charset="-122"/>
              </a:rPr>
              <a:t>时，</a:t>
            </a:r>
            <a:r>
              <a:rPr lang="en-US" altLang="zh-CN" b="1" dirty="0">
                <a:latin typeface="微软雅黑" pitchFamily="34" charset="-122"/>
                <a:ea typeface="微软雅黑" pitchFamily="34" charset="-122"/>
              </a:rPr>
              <a:t>RTTD</a:t>
            </a:r>
            <a:r>
              <a:rPr lang="zh-CN" altLang="en-US" b="1" dirty="0">
                <a:latin typeface="微软雅黑" pitchFamily="34" charset="-122"/>
                <a:ea typeface="微软雅黑" pitchFamily="34" charset="-122"/>
              </a:rPr>
              <a:t>值取为测量到的</a:t>
            </a:r>
            <a:r>
              <a:rPr lang="en-US" altLang="zh-CN" b="1" dirty="0">
                <a:latin typeface="微软雅黑" pitchFamily="34" charset="-122"/>
                <a:ea typeface="微软雅黑" pitchFamily="34" charset="-122"/>
              </a:rPr>
              <a:t>RTT</a:t>
            </a:r>
            <a:r>
              <a:rPr lang="zh-CN" altLang="en-US" b="1" dirty="0">
                <a:latin typeface="微软雅黑" pitchFamily="34" charset="-122"/>
                <a:ea typeface="微软雅黑" pitchFamily="34" charset="-122"/>
              </a:rPr>
              <a:t>样本值的一半，之后计算公式如下：</a:t>
            </a:r>
            <a:endParaRPr lang="zh-CN" altLang="en-US" b="1" dirty="0">
              <a:solidFill>
                <a:srgbClr val="C00000"/>
              </a:solidFill>
              <a:latin typeface="微软雅黑" pitchFamily="34" charset="-122"/>
              <a:ea typeface="微软雅黑" pitchFamily="34" charset="-122"/>
            </a:endParaRPr>
          </a:p>
          <a:p>
            <a:pPr marL="342900" indent="-342900">
              <a:lnSpc>
                <a:spcPts val="3000"/>
              </a:lnSpc>
              <a:buClr>
                <a:srgbClr val="0070C0"/>
              </a:buClr>
              <a:buFont typeface="Wingdings" pitchFamily="2" charset="2"/>
              <a:buChar char="l"/>
            </a:pPr>
            <a:endParaRPr lang="zh-CN" altLang="en-US" b="1" dirty="0">
              <a:latin typeface="微软雅黑" pitchFamily="34" charset="-122"/>
              <a:ea typeface="微软雅黑" pitchFamily="34" charset="-122"/>
            </a:endParaRPr>
          </a:p>
          <a:p>
            <a:pPr>
              <a:lnSpc>
                <a:spcPts val="3000"/>
              </a:lnSpc>
              <a:buClr>
                <a:srgbClr val="0070C0"/>
              </a:buClr>
            </a:pPr>
            <a:r>
              <a:rPr lang="en-US" altLang="zh-CN" b="1" dirty="0">
                <a:latin typeface="微软雅黑" pitchFamily="34" charset="-122"/>
                <a:ea typeface="微软雅黑" pitchFamily="34" charset="-122"/>
                <a:sym typeface="Symbol" pitchFamily="18" charset="2"/>
              </a:rPr>
              <a:t>	</a:t>
            </a:r>
          </a:p>
          <a:p>
            <a:pPr>
              <a:lnSpc>
                <a:spcPts val="3000"/>
              </a:lnSpc>
              <a:buClr>
                <a:srgbClr val="0070C0"/>
              </a:buClr>
            </a:pPr>
            <a:r>
              <a:rPr lang="en-US" altLang="zh-CN" sz="1600" b="1" dirty="0">
                <a:latin typeface="微软雅黑" pitchFamily="34" charset="-122"/>
                <a:ea typeface="微软雅黑" pitchFamily="34" charset="-122"/>
                <a:sym typeface="Symbol" pitchFamily="18" charset="2"/>
              </a:rPr>
              <a:t>            </a:t>
            </a:r>
            <a:r>
              <a:rPr lang="zh-CN" altLang="en-US" sz="1600" b="1" dirty="0">
                <a:latin typeface="微软雅黑" pitchFamily="34" charset="-122"/>
                <a:ea typeface="微软雅黑" pitchFamily="34" charset="-122"/>
                <a:sym typeface="Symbol" pitchFamily="18" charset="2"/>
              </a:rPr>
              <a:t>其中：</a:t>
            </a:r>
            <a:r>
              <a:rPr lang="en-US" altLang="zh-CN" sz="1600" b="1" dirty="0">
                <a:latin typeface="微软雅黑" pitchFamily="34" charset="-122"/>
                <a:ea typeface="微软雅黑" pitchFamily="34" charset="-122"/>
                <a:sym typeface="Symbol" pitchFamily="18" charset="2"/>
              </a:rPr>
              <a:t> </a:t>
            </a:r>
            <a:r>
              <a:rPr lang="zh-CN" altLang="en-US" sz="1600" b="1" dirty="0">
                <a:latin typeface="微软雅黑" pitchFamily="34" charset="-122"/>
                <a:ea typeface="微软雅黑" pitchFamily="34" charset="-122"/>
              </a:rPr>
              <a:t>是个小于 </a:t>
            </a:r>
            <a:r>
              <a:rPr lang="en-US" altLang="zh-CN" sz="1600" b="1" dirty="0">
                <a:latin typeface="微软雅黑" pitchFamily="34" charset="-122"/>
                <a:ea typeface="微软雅黑" pitchFamily="34" charset="-122"/>
              </a:rPr>
              <a:t>1 </a:t>
            </a:r>
            <a:r>
              <a:rPr lang="zh-CN" altLang="en-US" sz="1600" b="1" dirty="0">
                <a:latin typeface="微软雅黑" pitchFamily="34" charset="-122"/>
                <a:ea typeface="微软雅黑" pitchFamily="34" charset="-122"/>
              </a:rPr>
              <a:t>的系数，其推荐值是 </a:t>
            </a:r>
            <a:r>
              <a:rPr lang="en-US" altLang="zh-CN" sz="1600" b="1" dirty="0">
                <a:latin typeface="微软雅黑" pitchFamily="34" charset="-122"/>
                <a:ea typeface="微软雅黑" pitchFamily="34" charset="-122"/>
              </a:rPr>
              <a:t>1/4</a:t>
            </a:r>
            <a:r>
              <a:rPr lang="zh-CN" altLang="en-US" sz="1600" b="1" dirty="0">
                <a:latin typeface="微软雅黑" pitchFamily="34" charset="-122"/>
                <a:ea typeface="微软雅黑" pitchFamily="34" charset="-122"/>
              </a:rPr>
              <a:t>，即 </a:t>
            </a:r>
            <a:r>
              <a:rPr lang="en-US" altLang="zh-CN" sz="1600" b="1" dirty="0">
                <a:latin typeface="微软雅黑" pitchFamily="34" charset="-122"/>
                <a:ea typeface="微软雅黑" pitchFamily="34" charset="-122"/>
              </a:rPr>
              <a:t>0.25</a:t>
            </a:r>
            <a:r>
              <a:rPr lang="zh-CN" altLang="en-US" sz="1600" b="1" dirty="0">
                <a:latin typeface="微软雅黑" pitchFamily="34" charset="-122"/>
                <a:ea typeface="微软雅黑" pitchFamily="34" charset="-122"/>
              </a:rPr>
              <a:t>。</a:t>
            </a:r>
          </a:p>
        </p:txBody>
      </p:sp>
      <p:sp>
        <p:nvSpPr>
          <p:cNvPr id="15" name="矩形 14"/>
          <p:cNvSpPr/>
          <p:nvPr/>
        </p:nvSpPr>
        <p:spPr>
          <a:xfrm>
            <a:off x="1005840" y="1810030"/>
            <a:ext cx="7408818" cy="369332"/>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r>
              <a:rPr lang="en-US" altLang="zh-CN" b="1" dirty="0">
                <a:solidFill>
                  <a:schemeClr val="dk1"/>
                </a:solidFill>
                <a:latin typeface="微软雅黑" pitchFamily="34" charset="-122"/>
                <a:ea typeface="微软雅黑" pitchFamily="34" charset="-122"/>
              </a:rPr>
              <a:t>RTO = RTT</a:t>
            </a:r>
            <a:r>
              <a:rPr lang="en-US" altLang="zh-CN" b="1" baseline="-25000" dirty="0">
                <a:solidFill>
                  <a:schemeClr val="dk1"/>
                </a:solidFill>
                <a:latin typeface="微软雅黑" pitchFamily="34" charset="-122"/>
                <a:ea typeface="微软雅黑" pitchFamily="34" charset="-122"/>
              </a:rPr>
              <a:t>S</a:t>
            </a:r>
            <a:r>
              <a:rPr lang="en-US" altLang="zh-CN" b="1" dirty="0">
                <a:solidFill>
                  <a:schemeClr val="dk1"/>
                </a:solidFill>
                <a:latin typeface="微软雅黑" pitchFamily="34" charset="-122"/>
                <a:ea typeface="微软雅黑" pitchFamily="34" charset="-122"/>
              </a:rPr>
              <a:t> + 4 </a:t>
            </a:r>
            <a:r>
              <a:rPr lang="en-US" altLang="zh-CN" dirty="0">
                <a:solidFill>
                  <a:schemeClr val="tx1"/>
                </a:solidFill>
                <a:latin typeface="微软雅黑" pitchFamily="34" charset="-122"/>
                <a:ea typeface="微软雅黑" pitchFamily="34" charset="-122"/>
                <a:sym typeface="Symbol" pitchFamily="18" charset="2"/>
              </a:rPr>
              <a:t></a:t>
            </a:r>
            <a:r>
              <a:rPr lang="en-US" altLang="zh-CN" b="1" dirty="0">
                <a:solidFill>
                  <a:schemeClr val="dk1"/>
                </a:solidFill>
                <a:latin typeface="微软雅黑" pitchFamily="34" charset="-122"/>
                <a:ea typeface="微软雅黑" pitchFamily="34" charset="-122"/>
              </a:rPr>
              <a:t> RTT</a:t>
            </a:r>
            <a:r>
              <a:rPr lang="en-US" altLang="zh-CN" b="1" baseline="-25000" dirty="0">
                <a:solidFill>
                  <a:schemeClr val="dk1"/>
                </a:solidFill>
                <a:latin typeface="微软雅黑" pitchFamily="34" charset="-122"/>
                <a:ea typeface="微软雅黑" pitchFamily="34" charset="-122"/>
              </a:rPr>
              <a:t>D</a:t>
            </a:r>
            <a:r>
              <a:rPr lang="en-US" altLang="zh-CN" b="1" dirty="0">
                <a:solidFill>
                  <a:schemeClr val="dk1"/>
                </a:solidFill>
                <a:latin typeface="微软雅黑" pitchFamily="34" charset="-122"/>
                <a:ea typeface="微软雅黑" pitchFamily="34" charset="-122"/>
              </a:rPr>
              <a:t> 					 (5-5)</a:t>
            </a:r>
          </a:p>
        </p:txBody>
      </p:sp>
      <p:sp>
        <p:nvSpPr>
          <p:cNvPr id="16" name="矩形 15"/>
          <p:cNvSpPr/>
          <p:nvPr/>
        </p:nvSpPr>
        <p:spPr>
          <a:xfrm>
            <a:off x="1005840" y="3495131"/>
            <a:ext cx="7408818" cy="382678"/>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r>
              <a:rPr lang="zh-CN" altLang="en-US" sz="1600" b="1" dirty="0">
                <a:latin typeface="微软雅黑" pitchFamily="34" charset="-122"/>
                <a:ea typeface="微软雅黑" pitchFamily="34" charset="-122"/>
              </a:rPr>
              <a:t>新的 </a:t>
            </a:r>
            <a:r>
              <a:rPr lang="en-US" altLang="zh-CN" sz="1600" b="1" dirty="0">
                <a:latin typeface="微软雅黑" pitchFamily="34" charset="-122"/>
                <a:ea typeface="微软雅黑" pitchFamily="34" charset="-122"/>
              </a:rPr>
              <a:t>RTT</a:t>
            </a:r>
            <a:r>
              <a:rPr lang="en-US" altLang="zh-CN" sz="1600" b="1" baseline="-25000" dirty="0">
                <a:latin typeface="微软雅黑" pitchFamily="34" charset="-122"/>
                <a:ea typeface="微软雅黑" pitchFamily="34" charset="-122"/>
              </a:rPr>
              <a:t>D</a:t>
            </a:r>
            <a:r>
              <a:rPr lang="en-US" altLang="zh-CN" sz="1600" b="1" dirty="0">
                <a:latin typeface="微软雅黑" pitchFamily="34" charset="-122"/>
                <a:ea typeface="微软雅黑" pitchFamily="34" charset="-122"/>
              </a:rPr>
              <a:t> </a:t>
            </a:r>
            <a:r>
              <a:rPr lang="en-US" altLang="zh-CN" sz="1600" b="1" dirty="0">
                <a:solidFill>
                  <a:schemeClr val="tx1"/>
                </a:solidFill>
                <a:latin typeface="微软雅黑" pitchFamily="34" charset="-122"/>
                <a:ea typeface="微软雅黑" pitchFamily="34" charset="-122"/>
              </a:rPr>
              <a:t>= (1 </a:t>
            </a:r>
            <a:r>
              <a:rPr lang="en-US" altLang="zh-CN" sz="1600" b="1" dirty="0">
                <a:solidFill>
                  <a:schemeClr val="tx1"/>
                </a:solidFill>
                <a:latin typeface="微软雅黑" pitchFamily="34" charset="-122"/>
                <a:ea typeface="微软雅黑" pitchFamily="34" charset="-122"/>
                <a:sym typeface="Symbol" pitchFamily="18" charset="2"/>
              </a:rPr>
              <a:t></a:t>
            </a:r>
            <a:r>
              <a:rPr lang="en-US" altLang="zh-CN" sz="1600" b="1" dirty="0">
                <a:solidFill>
                  <a:schemeClr val="tx1"/>
                </a:solidFill>
                <a:latin typeface="微软雅黑" pitchFamily="34" charset="-122"/>
                <a:ea typeface="微软雅黑" pitchFamily="34" charset="-122"/>
              </a:rPr>
              <a:t> </a:t>
            </a:r>
            <a:r>
              <a:rPr lang="en-US" altLang="zh-CN" sz="1600" b="1" dirty="0">
                <a:solidFill>
                  <a:schemeClr val="tx1"/>
                </a:solidFill>
                <a:latin typeface="微软雅黑" pitchFamily="34" charset="-122"/>
                <a:ea typeface="微软雅黑" pitchFamily="34" charset="-122"/>
                <a:sym typeface="Symbol" pitchFamily="18" charset="2"/>
              </a:rPr>
              <a:t> </a:t>
            </a:r>
            <a:r>
              <a:rPr lang="en-US" altLang="zh-CN" sz="1600" b="1" dirty="0">
                <a:solidFill>
                  <a:schemeClr val="tx1"/>
                </a:solidFill>
                <a:latin typeface="微软雅黑" pitchFamily="34" charset="-122"/>
                <a:ea typeface="微软雅黑" pitchFamily="34" charset="-122"/>
              </a:rPr>
              <a:t>) </a:t>
            </a:r>
            <a:r>
              <a:rPr lang="en-US" altLang="zh-CN" sz="1600" b="1" dirty="0">
                <a:solidFill>
                  <a:schemeClr val="tx1"/>
                </a:solidFill>
                <a:latin typeface="微软雅黑" pitchFamily="34" charset="-122"/>
                <a:ea typeface="微软雅黑" pitchFamily="34" charset="-122"/>
                <a:sym typeface="Symbol" pitchFamily="18" charset="2"/>
              </a:rPr>
              <a:t></a:t>
            </a:r>
            <a:r>
              <a:rPr lang="en-US" altLang="zh-CN" sz="1600" b="1" dirty="0">
                <a:solidFill>
                  <a:schemeClr val="tx1"/>
                </a:solidFill>
                <a:latin typeface="微软雅黑" pitchFamily="34" charset="-122"/>
                <a:ea typeface="微软雅黑" pitchFamily="34" charset="-122"/>
              </a:rPr>
              <a:t> (</a:t>
            </a:r>
            <a:r>
              <a:rPr lang="zh-CN" altLang="en-US" sz="1600" b="1" dirty="0">
                <a:solidFill>
                  <a:schemeClr val="tx1"/>
                </a:solidFill>
                <a:latin typeface="微软雅黑" pitchFamily="34" charset="-122"/>
                <a:ea typeface="微软雅黑" pitchFamily="34" charset="-122"/>
              </a:rPr>
              <a:t>旧的 </a:t>
            </a:r>
            <a:r>
              <a:rPr lang="en-US" altLang="zh-CN" sz="1600" b="1" dirty="0">
                <a:solidFill>
                  <a:schemeClr val="tx1"/>
                </a:solidFill>
                <a:latin typeface="微软雅黑" pitchFamily="34" charset="-122"/>
                <a:ea typeface="微软雅黑" pitchFamily="34" charset="-122"/>
              </a:rPr>
              <a:t>RTT</a:t>
            </a:r>
            <a:r>
              <a:rPr lang="en-US" altLang="zh-CN" sz="1600" b="1" baseline="-25000" dirty="0">
                <a:solidFill>
                  <a:schemeClr val="tx1"/>
                </a:solidFill>
                <a:latin typeface="微软雅黑" pitchFamily="34" charset="-122"/>
                <a:ea typeface="微软雅黑" pitchFamily="34" charset="-122"/>
              </a:rPr>
              <a:t>D</a:t>
            </a:r>
            <a:r>
              <a:rPr lang="en-US" altLang="zh-CN" sz="1600" b="1" dirty="0">
                <a:solidFill>
                  <a:schemeClr val="tx1"/>
                </a:solidFill>
                <a:latin typeface="微软雅黑" pitchFamily="34" charset="-122"/>
                <a:ea typeface="微软雅黑" pitchFamily="34" charset="-122"/>
              </a:rPr>
              <a:t>)  +  </a:t>
            </a:r>
            <a:r>
              <a:rPr lang="en-US" altLang="zh-CN" sz="1600" b="1" dirty="0">
                <a:solidFill>
                  <a:schemeClr val="tx1"/>
                </a:solidFill>
                <a:latin typeface="微软雅黑" pitchFamily="34" charset="-122"/>
                <a:ea typeface="微软雅黑" pitchFamily="34" charset="-122"/>
                <a:sym typeface="Symbol" pitchFamily="18" charset="2"/>
              </a:rPr>
              <a:t></a:t>
            </a:r>
            <a:r>
              <a:rPr lang="en-US" altLang="zh-CN" sz="1600" b="1" dirty="0">
                <a:solidFill>
                  <a:schemeClr val="tx1"/>
                </a:solidFill>
                <a:latin typeface="微软雅黑" pitchFamily="34" charset="-122"/>
                <a:ea typeface="微软雅黑" pitchFamily="34" charset="-122"/>
              </a:rPr>
              <a:t> </a:t>
            </a:r>
            <a:r>
              <a:rPr lang="en-US" altLang="zh-CN" sz="1600" b="1" dirty="0">
                <a:solidFill>
                  <a:schemeClr val="tx1"/>
                </a:solidFill>
                <a:latin typeface="微软雅黑" pitchFamily="34" charset="-122"/>
                <a:ea typeface="微软雅黑" pitchFamily="34" charset="-122"/>
                <a:sym typeface="Symbol" pitchFamily="18" charset="2"/>
              </a:rPr>
              <a:t></a:t>
            </a:r>
            <a:r>
              <a:rPr lang="en-US" altLang="zh-CN" sz="1600" b="1" dirty="0">
                <a:solidFill>
                  <a:schemeClr val="tx1"/>
                </a:solidFill>
                <a:latin typeface="微软雅黑" pitchFamily="34" charset="-122"/>
                <a:ea typeface="微软雅黑" pitchFamily="34" charset="-122"/>
              </a:rPr>
              <a:t> </a:t>
            </a:r>
            <a:r>
              <a:rPr lang="en-US" altLang="zh-CN" sz="1600" b="1" dirty="0">
                <a:solidFill>
                  <a:schemeClr val="tx1"/>
                </a:solidFill>
                <a:latin typeface="微软雅黑" pitchFamily="34" charset="-122"/>
                <a:ea typeface="微软雅黑" pitchFamily="34" charset="-122"/>
                <a:sym typeface="Symbol" pitchFamily="18" charset="2"/>
              </a:rPr>
              <a:t></a:t>
            </a:r>
            <a:r>
              <a:rPr lang="en-US" altLang="zh-CN" sz="1600" b="1" dirty="0">
                <a:solidFill>
                  <a:schemeClr val="tx1"/>
                </a:solidFill>
                <a:latin typeface="微软雅黑" pitchFamily="34" charset="-122"/>
                <a:ea typeface="微软雅黑" pitchFamily="34" charset="-122"/>
              </a:rPr>
              <a:t>RTT</a:t>
            </a:r>
            <a:r>
              <a:rPr lang="en-US" altLang="zh-CN" sz="1600" b="1" baseline="-25000" dirty="0">
                <a:solidFill>
                  <a:schemeClr val="tx1"/>
                </a:solidFill>
                <a:latin typeface="微软雅黑" pitchFamily="34" charset="-122"/>
                <a:ea typeface="微软雅黑" pitchFamily="34" charset="-122"/>
              </a:rPr>
              <a:t>S</a:t>
            </a:r>
            <a:r>
              <a:rPr lang="en-US" altLang="zh-CN" sz="1600" b="1" dirty="0">
                <a:solidFill>
                  <a:schemeClr val="tx1"/>
                </a:solidFill>
                <a:latin typeface="微软雅黑" pitchFamily="34" charset="-122"/>
                <a:ea typeface="微软雅黑" pitchFamily="34" charset="-122"/>
              </a:rPr>
              <a:t> </a:t>
            </a:r>
            <a:r>
              <a:rPr lang="en-US" altLang="zh-CN" sz="1600" b="1" dirty="0">
                <a:solidFill>
                  <a:schemeClr val="tx1"/>
                </a:solidFill>
                <a:latin typeface="微软雅黑" pitchFamily="34" charset="-122"/>
                <a:ea typeface="微软雅黑" pitchFamily="34" charset="-122"/>
                <a:sym typeface="Symbol" pitchFamily="18" charset="2"/>
              </a:rPr>
              <a:t></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新的 </a:t>
            </a:r>
            <a:r>
              <a:rPr lang="en-US" altLang="zh-CN" sz="1600" b="1" dirty="0">
                <a:latin typeface="微软雅黑" pitchFamily="34" charset="-122"/>
                <a:ea typeface="微软雅黑" pitchFamily="34" charset="-122"/>
              </a:rPr>
              <a:t>RTT </a:t>
            </a:r>
            <a:r>
              <a:rPr lang="zh-CN" altLang="en-US" sz="1600" b="1" dirty="0">
                <a:latin typeface="微软雅黑" pitchFamily="34" charset="-122"/>
                <a:ea typeface="微软雅黑" pitchFamily="34" charset="-122"/>
              </a:rPr>
              <a:t>样本</a:t>
            </a:r>
            <a:r>
              <a:rPr lang="en-US" altLang="zh-CN" sz="1600" b="1" dirty="0">
                <a:solidFill>
                  <a:schemeClr val="tx1"/>
                </a:solidFill>
                <a:latin typeface="微软雅黑" pitchFamily="34" charset="-122"/>
                <a:ea typeface="微软雅黑" pitchFamily="34" charset="-122"/>
                <a:sym typeface="Symbol" pitchFamily="18" charset="2"/>
              </a:rPr>
              <a:t> </a:t>
            </a:r>
            <a:r>
              <a:rPr lang="zh-CN" altLang="en-US" sz="1600" b="1" dirty="0">
                <a:latin typeface="微软雅黑" pitchFamily="34" charset="-122"/>
                <a:ea typeface="微软雅黑" pitchFamily="34" charset="-122"/>
              </a:rPr>
              <a:t>  </a:t>
            </a:r>
            <a:r>
              <a:rPr lang="en-US" altLang="zh-CN" b="1" dirty="0">
                <a:latin typeface="微软雅黑" pitchFamily="34" charset="-122"/>
                <a:ea typeface="微软雅黑" pitchFamily="34" charset="-122"/>
              </a:rPr>
              <a:t>(5-6)</a:t>
            </a:r>
            <a:endParaRPr lang="en-US" altLang="zh-CN" sz="1600" b="1" dirty="0">
              <a:solidFill>
                <a:schemeClr val="dk1"/>
              </a:solidFill>
              <a:latin typeface="微软雅黑" pitchFamily="34" charset="-122"/>
              <a:ea typeface="微软雅黑" pitchFamily="34" charset="-122"/>
            </a:endParaRPr>
          </a:p>
        </p:txBody>
      </p:sp>
    </p:spTree>
    <p:extLst>
      <p:ext uri="{BB962C8B-B14F-4D97-AF65-F5344CB8AC3E}">
        <p14:creationId xmlns:p14="http://schemas.microsoft.com/office/powerpoint/2010/main" val="2859583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1000"/>
                                        <p:tgtEl>
                                          <p:spTgt spid="13">
                                            <p:txEl>
                                              <p:pRg st="0" end="0"/>
                                            </p:txEl>
                                          </p:spTgt>
                                        </p:tgtEl>
                                      </p:cBhvr>
                                    </p:animEffect>
                                    <p:anim calcmode="lin" valueType="num">
                                      <p:cBhvr>
                                        <p:cTn id="8"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
                                            <p:txEl>
                                              <p:pRg st="1" end="1"/>
                                            </p:txEl>
                                          </p:spTgt>
                                        </p:tgtEl>
                                        <p:attrNameLst>
                                          <p:attrName>style.visibility</p:attrName>
                                        </p:attrNameLst>
                                      </p:cBhvr>
                                      <p:to>
                                        <p:strVal val="visible"/>
                                      </p:to>
                                    </p:set>
                                    <p:animEffect transition="in" filter="fade">
                                      <p:cBhvr>
                                        <p:cTn id="14" dur="1000"/>
                                        <p:tgtEl>
                                          <p:spTgt spid="13">
                                            <p:txEl>
                                              <p:pRg st="1" end="1"/>
                                            </p:txEl>
                                          </p:spTgt>
                                        </p:tgtEl>
                                      </p:cBhvr>
                                    </p:animEffect>
                                    <p:anim calcmode="lin" valueType="num">
                                      <p:cBhvr>
                                        <p:cTn id="15" dur="1000" fill="hold"/>
                                        <p:tgtEl>
                                          <p:spTgt spid="1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1000"/>
                                        <p:tgtEl>
                                          <p:spTgt spid="15"/>
                                        </p:tgtEl>
                                      </p:cBhvr>
                                    </p:animEffect>
                                    <p:anim calcmode="lin" valueType="num">
                                      <p:cBhvr>
                                        <p:cTn id="20" dur="1000" fill="hold"/>
                                        <p:tgtEl>
                                          <p:spTgt spid="15"/>
                                        </p:tgtEl>
                                        <p:attrNameLst>
                                          <p:attrName>ppt_x</p:attrName>
                                        </p:attrNameLst>
                                      </p:cBhvr>
                                      <p:tavLst>
                                        <p:tav tm="0">
                                          <p:val>
                                            <p:strVal val="#ppt_x"/>
                                          </p:val>
                                        </p:tav>
                                        <p:tav tm="100000">
                                          <p:val>
                                            <p:strVal val="#ppt_x"/>
                                          </p:val>
                                        </p:tav>
                                      </p:tavLst>
                                    </p:anim>
                                    <p:anim calcmode="lin" valueType="num">
                                      <p:cBhvr>
                                        <p:cTn id="21"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3">
                                            <p:txEl>
                                              <p:pRg st="3" end="3"/>
                                            </p:txEl>
                                          </p:spTgt>
                                        </p:tgtEl>
                                        <p:attrNameLst>
                                          <p:attrName>style.visibility</p:attrName>
                                        </p:attrNameLst>
                                      </p:cBhvr>
                                      <p:to>
                                        <p:strVal val="visible"/>
                                      </p:to>
                                    </p:set>
                                    <p:animEffect transition="in" filter="fade">
                                      <p:cBhvr>
                                        <p:cTn id="26" dur="1000"/>
                                        <p:tgtEl>
                                          <p:spTgt spid="13">
                                            <p:txEl>
                                              <p:pRg st="3" end="3"/>
                                            </p:txEl>
                                          </p:spTgt>
                                        </p:tgtEl>
                                      </p:cBhvr>
                                    </p:animEffect>
                                    <p:anim calcmode="lin" valueType="num">
                                      <p:cBhvr>
                                        <p:cTn id="27" dur="1000" fill="hold"/>
                                        <p:tgtEl>
                                          <p:spTgt spid="1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1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3">
                                            <p:txEl>
                                              <p:pRg st="4" end="4"/>
                                            </p:txEl>
                                          </p:spTgt>
                                        </p:tgtEl>
                                        <p:attrNameLst>
                                          <p:attrName>style.visibility</p:attrName>
                                        </p:attrNameLst>
                                      </p:cBhvr>
                                      <p:to>
                                        <p:strVal val="visible"/>
                                      </p:to>
                                    </p:set>
                                    <p:animEffect transition="in" filter="fade">
                                      <p:cBhvr>
                                        <p:cTn id="33" dur="1000"/>
                                        <p:tgtEl>
                                          <p:spTgt spid="13">
                                            <p:txEl>
                                              <p:pRg st="4" end="4"/>
                                            </p:txEl>
                                          </p:spTgt>
                                        </p:tgtEl>
                                      </p:cBhvr>
                                    </p:animEffect>
                                    <p:anim calcmode="lin" valueType="num">
                                      <p:cBhvr>
                                        <p:cTn id="34" dur="1000" fill="hold"/>
                                        <p:tgtEl>
                                          <p:spTgt spid="13">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1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1000"/>
                                        <p:tgtEl>
                                          <p:spTgt spid="16"/>
                                        </p:tgtEl>
                                      </p:cBhvr>
                                    </p:animEffect>
                                    <p:anim calcmode="lin" valueType="num">
                                      <p:cBhvr>
                                        <p:cTn id="41" dur="1000" fill="hold"/>
                                        <p:tgtEl>
                                          <p:spTgt spid="16"/>
                                        </p:tgtEl>
                                        <p:attrNameLst>
                                          <p:attrName>ppt_x</p:attrName>
                                        </p:attrNameLst>
                                      </p:cBhvr>
                                      <p:tavLst>
                                        <p:tav tm="0">
                                          <p:val>
                                            <p:strVal val="#ppt_x"/>
                                          </p:val>
                                        </p:tav>
                                        <p:tav tm="100000">
                                          <p:val>
                                            <p:strVal val="#ppt_x"/>
                                          </p:val>
                                        </p:tav>
                                      </p:tavLst>
                                    </p:anim>
                                    <p:anim calcmode="lin" valueType="num">
                                      <p:cBhvr>
                                        <p:cTn id="42"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13">
                                            <p:txEl>
                                              <p:pRg st="7" end="7"/>
                                            </p:txEl>
                                          </p:spTgt>
                                        </p:tgtEl>
                                        <p:attrNameLst>
                                          <p:attrName>style.visibility</p:attrName>
                                        </p:attrNameLst>
                                      </p:cBhvr>
                                      <p:to>
                                        <p:strVal val="visible"/>
                                      </p:to>
                                    </p:set>
                                    <p:animEffect transition="in" filter="fade">
                                      <p:cBhvr>
                                        <p:cTn id="47" dur="1000"/>
                                        <p:tgtEl>
                                          <p:spTgt spid="13">
                                            <p:txEl>
                                              <p:pRg st="7" end="7"/>
                                            </p:txEl>
                                          </p:spTgt>
                                        </p:tgtEl>
                                      </p:cBhvr>
                                    </p:animEffect>
                                    <p:anim calcmode="lin" valueType="num">
                                      <p:cBhvr>
                                        <p:cTn id="48" dur="1000" fill="hold"/>
                                        <p:tgtEl>
                                          <p:spTgt spid="13">
                                            <p:txEl>
                                              <p:pRg st="7" end="7"/>
                                            </p:txEl>
                                          </p:spTgt>
                                        </p:tgtEl>
                                        <p:attrNameLst>
                                          <p:attrName>ppt_x</p:attrName>
                                        </p:attrNameLst>
                                      </p:cBhvr>
                                      <p:tavLst>
                                        <p:tav tm="0">
                                          <p:val>
                                            <p:strVal val="#ppt_x"/>
                                          </p:val>
                                        </p:tav>
                                        <p:tav tm="100000">
                                          <p:val>
                                            <p:strVal val="#ppt_x"/>
                                          </p:val>
                                        </p:tav>
                                      </p:tavLst>
                                    </p:anim>
                                    <p:anim calcmode="lin" valueType="num">
                                      <p:cBhvr>
                                        <p:cTn id="49" dur="1000" fill="hold"/>
                                        <p:tgtEl>
                                          <p:spTgt spid="1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nvSpPr>
        <p:spPr>
          <a:xfrm>
            <a:off x="556963" y="1830404"/>
            <a:ext cx="8048776" cy="197063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AutoShape 5"/>
          <p:cNvSpPr>
            <a:spLocks noChangeArrowheads="1"/>
          </p:cNvSpPr>
          <p:nvPr/>
        </p:nvSpPr>
        <p:spPr bwMode="auto">
          <a:xfrm>
            <a:off x="556963" y="62601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2613634" y="592799"/>
            <a:ext cx="39354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往返时间 </a:t>
            </a:r>
            <a:r>
              <a:rPr lang="en-US" altLang="zh-CN" sz="2000" b="1" dirty="0">
                <a:solidFill>
                  <a:schemeClr val="bg1"/>
                </a:solidFill>
                <a:latin typeface="微软雅黑" pitchFamily="34" charset="-122"/>
                <a:ea typeface="微软雅黑" pitchFamily="34" charset="-122"/>
              </a:rPr>
              <a:t>(RTT) </a:t>
            </a:r>
            <a:r>
              <a:rPr lang="zh-CN" altLang="en-US" sz="2000" b="1" dirty="0">
                <a:solidFill>
                  <a:schemeClr val="bg1"/>
                </a:solidFill>
                <a:latin typeface="微软雅黑" pitchFamily="34" charset="-122"/>
                <a:ea typeface="微软雅黑" pitchFamily="34" charset="-122"/>
              </a:rPr>
              <a:t>的测量相当复杂</a:t>
            </a:r>
          </a:p>
        </p:txBody>
      </p:sp>
      <p:sp>
        <p:nvSpPr>
          <p:cNvPr id="7" name="Rectangle 68"/>
          <p:cNvSpPr>
            <a:spLocks noChangeArrowheads="1"/>
          </p:cNvSpPr>
          <p:nvPr/>
        </p:nvSpPr>
        <p:spPr bwMode="auto">
          <a:xfrm>
            <a:off x="556963" y="989109"/>
            <a:ext cx="8184960" cy="7848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700"/>
              </a:lnSpc>
              <a:buClr>
                <a:srgbClr val="0070C0"/>
              </a:buClr>
              <a:buFont typeface="Wingdings" pitchFamily="2" charset="2"/>
              <a:buChar char="l"/>
            </a:pPr>
            <a:r>
              <a:rPr lang="zh-CN" altLang="en-US" sz="2000" b="1" dirty="0">
                <a:latin typeface="微软雅黑" pitchFamily="34" charset="-122"/>
                <a:ea typeface="微软雅黑" pitchFamily="34" charset="-122"/>
              </a:rPr>
              <a:t>超时重传报文段后，如何判定此确认报文段是对原来的报文段的确认，还是对重传报文段的确认？ </a:t>
            </a:r>
          </a:p>
        </p:txBody>
      </p:sp>
      <p:sp>
        <p:nvSpPr>
          <p:cNvPr id="10" name="Line 2"/>
          <p:cNvSpPr>
            <a:spLocks noChangeShapeType="1"/>
          </p:cNvSpPr>
          <p:nvPr/>
        </p:nvSpPr>
        <p:spPr bwMode="auto">
          <a:xfrm>
            <a:off x="3922783" y="3167077"/>
            <a:ext cx="2463212" cy="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1" name="Text Box 3"/>
          <p:cNvSpPr txBox="1">
            <a:spLocks noChangeArrowheads="1"/>
          </p:cNvSpPr>
          <p:nvPr/>
        </p:nvSpPr>
        <p:spPr bwMode="auto">
          <a:xfrm>
            <a:off x="4639446" y="3023153"/>
            <a:ext cx="1146276" cy="276999"/>
          </a:xfrm>
          <a:prstGeom prst="rect">
            <a:avLst/>
          </a:prstGeom>
          <a:solidFill>
            <a:srgbClr val="FFC000"/>
          </a:solidFill>
          <a:ln>
            <a:noFill/>
          </a:ln>
          <a:effec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往返时间 </a:t>
            </a:r>
            <a:r>
              <a:rPr kumimoji="1" lang="en-US" altLang="zh-CN" sz="1200" b="1" dirty="0">
                <a:solidFill>
                  <a:srgbClr val="0000FF"/>
                </a:solidFill>
                <a:latin typeface="微软雅黑" pitchFamily="34" charset="-122"/>
                <a:ea typeface="微软雅黑" pitchFamily="34" charset="-122"/>
              </a:rPr>
              <a:t>RTT</a:t>
            </a:r>
          </a:p>
        </p:txBody>
      </p:sp>
      <p:sp>
        <p:nvSpPr>
          <p:cNvPr id="12" name="Line 6"/>
          <p:cNvSpPr>
            <a:spLocks noChangeShapeType="1"/>
          </p:cNvSpPr>
          <p:nvPr/>
        </p:nvSpPr>
        <p:spPr bwMode="auto">
          <a:xfrm>
            <a:off x="1870293" y="2971832"/>
            <a:ext cx="5541947" cy="0"/>
          </a:xfrm>
          <a:prstGeom prst="line">
            <a:avLst/>
          </a:prstGeom>
          <a:noFill/>
          <a:ln w="28575">
            <a:solidFill>
              <a:srgbClr val="0033CC"/>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3" name="Line 7"/>
          <p:cNvSpPr>
            <a:spLocks noChangeShapeType="1"/>
          </p:cNvSpPr>
          <p:nvPr/>
        </p:nvSpPr>
        <p:spPr bwMode="auto">
          <a:xfrm rot="16200000">
            <a:off x="1886649" y="2782268"/>
            <a:ext cx="379128" cy="0"/>
          </a:xfrm>
          <a:prstGeom prst="line">
            <a:avLst/>
          </a:prstGeom>
          <a:noFill/>
          <a:ln w="762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4" name="Text Box 8"/>
          <p:cNvSpPr txBox="1">
            <a:spLocks noChangeArrowheads="1"/>
          </p:cNvSpPr>
          <p:nvPr/>
        </p:nvSpPr>
        <p:spPr bwMode="auto">
          <a:xfrm>
            <a:off x="1699605" y="2175492"/>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发送一个</a:t>
            </a:r>
          </a:p>
          <a:p>
            <a:pPr algn="ctr"/>
            <a:r>
              <a:rPr kumimoji="1" lang="zh-CN" altLang="en-US" sz="1200" b="1" dirty="0">
                <a:latin typeface="微软雅黑" pitchFamily="34" charset="-122"/>
                <a:ea typeface="微软雅黑" pitchFamily="34" charset="-122"/>
              </a:rPr>
              <a:t>报文段</a:t>
            </a:r>
          </a:p>
        </p:txBody>
      </p:sp>
      <p:sp>
        <p:nvSpPr>
          <p:cNvPr id="15" name="Line 9"/>
          <p:cNvSpPr>
            <a:spLocks noChangeShapeType="1"/>
          </p:cNvSpPr>
          <p:nvPr/>
        </p:nvSpPr>
        <p:spPr bwMode="auto">
          <a:xfrm rot="16200000">
            <a:off x="3733219" y="2782268"/>
            <a:ext cx="379128" cy="0"/>
          </a:xfrm>
          <a:prstGeom prst="line">
            <a:avLst/>
          </a:prstGeom>
          <a:noFill/>
          <a:ln w="762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6" name="Text Box 10"/>
          <p:cNvSpPr txBox="1">
            <a:spLocks noChangeArrowheads="1"/>
          </p:cNvSpPr>
          <p:nvPr/>
        </p:nvSpPr>
        <p:spPr bwMode="auto">
          <a:xfrm>
            <a:off x="3576113" y="2175492"/>
            <a:ext cx="6463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重传</a:t>
            </a:r>
          </a:p>
          <a:p>
            <a:pPr algn="ctr"/>
            <a:r>
              <a:rPr kumimoji="1" lang="zh-CN" altLang="en-US" sz="1200" b="1" dirty="0">
                <a:latin typeface="微软雅黑" pitchFamily="34" charset="-122"/>
                <a:ea typeface="微软雅黑" pitchFamily="34" charset="-122"/>
              </a:rPr>
              <a:t>报文段</a:t>
            </a:r>
          </a:p>
        </p:txBody>
      </p:sp>
      <p:sp>
        <p:nvSpPr>
          <p:cNvPr id="17" name="Line 11"/>
          <p:cNvSpPr>
            <a:spLocks noChangeShapeType="1"/>
          </p:cNvSpPr>
          <p:nvPr/>
        </p:nvSpPr>
        <p:spPr bwMode="auto">
          <a:xfrm rot="16200000">
            <a:off x="6196430" y="2782268"/>
            <a:ext cx="379128" cy="0"/>
          </a:xfrm>
          <a:prstGeom prst="line">
            <a:avLst/>
          </a:prstGeom>
          <a:noFill/>
          <a:ln w="76200">
            <a:solidFill>
              <a:srgbClr val="CC00CC"/>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8" name="Text Box 12"/>
          <p:cNvSpPr txBox="1">
            <a:spLocks noChangeArrowheads="1"/>
          </p:cNvSpPr>
          <p:nvPr/>
        </p:nvSpPr>
        <p:spPr bwMode="auto">
          <a:xfrm>
            <a:off x="5954274" y="2384918"/>
            <a:ext cx="86344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收到 </a:t>
            </a:r>
            <a:r>
              <a:rPr kumimoji="1" lang="en-US" altLang="zh-CN" sz="1200" b="1" dirty="0">
                <a:latin typeface="微软雅黑" pitchFamily="34" charset="-122"/>
                <a:ea typeface="微软雅黑" pitchFamily="34" charset="-122"/>
              </a:rPr>
              <a:t>ACK</a:t>
            </a:r>
          </a:p>
        </p:txBody>
      </p:sp>
      <p:sp>
        <p:nvSpPr>
          <p:cNvPr id="19" name="Text Box 13"/>
          <p:cNvSpPr txBox="1">
            <a:spLocks noChangeArrowheads="1"/>
          </p:cNvSpPr>
          <p:nvPr/>
        </p:nvSpPr>
        <p:spPr bwMode="auto">
          <a:xfrm>
            <a:off x="7136153" y="2982436"/>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时间</a:t>
            </a:r>
          </a:p>
        </p:txBody>
      </p:sp>
      <p:sp>
        <p:nvSpPr>
          <p:cNvPr id="22" name="Line 16"/>
          <p:cNvSpPr>
            <a:spLocks noChangeShapeType="1"/>
          </p:cNvSpPr>
          <p:nvPr/>
        </p:nvSpPr>
        <p:spPr bwMode="auto">
          <a:xfrm>
            <a:off x="3922783" y="3025551"/>
            <a:ext cx="0" cy="163221"/>
          </a:xfrm>
          <a:prstGeom prst="line">
            <a:avLst/>
          </a:prstGeom>
          <a:noFill/>
          <a:ln w="1905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3" name="Line 17"/>
          <p:cNvSpPr>
            <a:spLocks noChangeShapeType="1"/>
          </p:cNvSpPr>
          <p:nvPr/>
        </p:nvSpPr>
        <p:spPr bwMode="auto">
          <a:xfrm>
            <a:off x="6385995" y="3025551"/>
            <a:ext cx="0" cy="625824"/>
          </a:xfrm>
          <a:prstGeom prst="line">
            <a:avLst/>
          </a:prstGeom>
          <a:noFill/>
          <a:ln w="1905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4" name="Line 18"/>
          <p:cNvSpPr>
            <a:spLocks noChangeShapeType="1"/>
          </p:cNvSpPr>
          <p:nvPr/>
        </p:nvSpPr>
        <p:spPr bwMode="auto">
          <a:xfrm>
            <a:off x="2076213" y="3025550"/>
            <a:ext cx="0" cy="625825"/>
          </a:xfrm>
          <a:prstGeom prst="line">
            <a:avLst/>
          </a:prstGeom>
          <a:noFill/>
          <a:ln w="1905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5" name="Line 19"/>
          <p:cNvSpPr>
            <a:spLocks noChangeShapeType="1"/>
          </p:cNvSpPr>
          <p:nvPr/>
        </p:nvSpPr>
        <p:spPr bwMode="auto">
          <a:xfrm>
            <a:off x="2076213" y="3513992"/>
            <a:ext cx="4309781" cy="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 name="Text Box 20"/>
          <p:cNvSpPr txBox="1">
            <a:spLocks noChangeArrowheads="1"/>
          </p:cNvSpPr>
          <p:nvPr/>
        </p:nvSpPr>
        <p:spPr bwMode="auto">
          <a:xfrm>
            <a:off x="3622372" y="3374377"/>
            <a:ext cx="1146276" cy="276999"/>
          </a:xfrm>
          <a:prstGeom prst="rect">
            <a:avLst/>
          </a:prstGeom>
          <a:solidFill>
            <a:srgbClr val="00FFFF"/>
          </a:solidFill>
          <a:ln>
            <a:noFill/>
          </a:ln>
          <a:effec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往返时间 </a:t>
            </a:r>
            <a:r>
              <a:rPr kumimoji="1" lang="en-US" altLang="zh-CN" sz="1200" b="1" dirty="0">
                <a:solidFill>
                  <a:srgbClr val="0000FF"/>
                </a:solidFill>
                <a:latin typeface="微软雅黑" pitchFamily="34" charset="-122"/>
                <a:ea typeface="微软雅黑" pitchFamily="34" charset="-122"/>
              </a:rPr>
              <a:t>RTT</a:t>
            </a:r>
          </a:p>
        </p:txBody>
      </p:sp>
      <p:sp>
        <p:nvSpPr>
          <p:cNvPr id="27" name="Freeform 21"/>
          <p:cNvSpPr>
            <a:spLocks/>
          </p:cNvSpPr>
          <p:nvPr/>
        </p:nvSpPr>
        <p:spPr bwMode="auto">
          <a:xfrm>
            <a:off x="4075394" y="2188782"/>
            <a:ext cx="2174067" cy="254261"/>
          </a:xfrm>
          <a:custGeom>
            <a:avLst/>
            <a:gdLst>
              <a:gd name="T0" fmla="*/ 1472 w 1472"/>
              <a:gd name="T1" fmla="*/ 189 h 189"/>
              <a:gd name="T2" fmla="*/ 1240 w 1472"/>
              <a:gd name="T3" fmla="*/ 85 h 189"/>
              <a:gd name="T4" fmla="*/ 948 w 1472"/>
              <a:gd name="T5" fmla="*/ 17 h 189"/>
              <a:gd name="T6" fmla="*/ 684 w 1472"/>
              <a:gd name="T7" fmla="*/ 1 h 189"/>
              <a:gd name="T8" fmla="*/ 480 w 1472"/>
              <a:gd name="T9" fmla="*/ 13 h 189"/>
              <a:gd name="T10" fmla="*/ 268 w 1472"/>
              <a:gd name="T11" fmla="*/ 61 h 189"/>
              <a:gd name="T12" fmla="*/ 96 w 1472"/>
              <a:gd name="T13" fmla="*/ 117 h 189"/>
              <a:gd name="T14" fmla="*/ 0 w 1472"/>
              <a:gd name="T15" fmla="*/ 165 h 1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72" h="189">
                <a:moveTo>
                  <a:pt x="1472" y="189"/>
                </a:moveTo>
                <a:cubicBezTo>
                  <a:pt x="1433" y="172"/>
                  <a:pt x="1327" y="114"/>
                  <a:pt x="1240" y="85"/>
                </a:cubicBezTo>
                <a:cubicBezTo>
                  <a:pt x="1153" y="56"/>
                  <a:pt x="1041" y="31"/>
                  <a:pt x="948" y="17"/>
                </a:cubicBezTo>
                <a:cubicBezTo>
                  <a:pt x="855" y="3"/>
                  <a:pt x="762" y="2"/>
                  <a:pt x="684" y="1"/>
                </a:cubicBezTo>
                <a:cubicBezTo>
                  <a:pt x="606" y="0"/>
                  <a:pt x="549" y="3"/>
                  <a:pt x="480" y="13"/>
                </a:cubicBezTo>
                <a:cubicBezTo>
                  <a:pt x="411" y="23"/>
                  <a:pt x="332" y="44"/>
                  <a:pt x="268" y="61"/>
                </a:cubicBezTo>
                <a:cubicBezTo>
                  <a:pt x="204" y="78"/>
                  <a:pt x="141" y="100"/>
                  <a:pt x="96" y="117"/>
                </a:cubicBezTo>
                <a:cubicBezTo>
                  <a:pt x="51" y="134"/>
                  <a:pt x="28" y="149"/>
                  <a:pt x="0" y="165"/>
                </a:cubicBezTo>
              </a:path>
            </a:pathLst>
          </a:custGeom>
          <a:noFill/>
          <a:ln w="57150" cap="flat" cmpd="sng">
            <a:solidFill>
              <a:srgbClr val="CC00CC"/>
            </a:solidFill>
            <a:prstDash val="sysDot"/>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8" name="Freeform 22"/>
          <p:cNvSpPr>
            <a:spLocks/>
          </p:cNvSpPr>
          <p:nvPr/>
        </p:nvSpPr>
        <p:spPr bwMode="auto">
          <a:xfrm>
            <a:off x="2393576" y="1999735"/>
            <a:ext cx="3855885" cy="443309"/>
          </a:xfrm>
          <a:custGeom>
            <a:avLst/>
            <a:gdLst>
              <a:gd name="T0" fmla="*/ 1472 w 1472"/>
              <a:gd name="T1" fmla="*/ 189 h 189"/>
              <a:gd name="T2" fmla="*/ 1240 w 1472"/>
              <a:gd name="T3" fmla="*/ 85 h 189"/>
              <a:gd name="T4" fmla="*/ 948 w 1472"/>
              <a:gd name="T5" fmla="*/ 17 h 189"/>
              <a:gd name="T6" fmla="*/ 684 w 1472"/>
              <a:gd name="T7" fmla="*/ 1 h 189"/>
              <a:gd name="T8" fmla="*/ 480 w 1472"/>
              <a:gd name="T9" fmla="*/ 13 h 189"/>
              <a:gd name="T10" fmla="*/ 268 w 1472"/>
              <a:gd name="T11" fmla="*/ 61 h 189"/>
              <a:gd name="T12" fmla="*/ 96 w 1472"/>
              <a:gd name="T13" fmla="*/ 117 h 189"/>
              <a:gd name="T14" fmla="*/ 0 w 1472"/>
              <a:gd name="T15" fmla="*/ 165 h 1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72" h="189">
                <a:moveTo>
                  <a:pt x="1472" y="189"/>
                </a:moveTo>
                <a:cubicBezTo>
                  <a:pt x="1433" y="172"/>
                  <a:pt x="1327" y="114"/>
                  <a:pt x="1240" y="85"/>
                </a:cubicBezTo>
                <a:cubicBezTo>
                  <a:pt x="1153" y="56"/>
                  <a:pt x="1041" y="31"/>
                  <a:pt x="948" y="17"/>
                </a:cubicBezTo>
                <a:cubicBezTo>
                  <a:pt x="855" y="3"/>
                  <a:pt x="762" y="2"/>
                  <a:pt x="684" y="1"/>
                </a:cubicBezTo>
                <a:cubicBezTo>
                  <a:pt x="606" y="0"/>
                  <a:pt x="549" y="3"/>
                  <a:pt x="480" y="13"/>
                </a:cubicBezTo>
                <a:cubicBezTo>
                  <a:pt x="411" y="23"/>
                  <a:pt x="332" y="44"/>
                  <a:pt x="268" y="61"/>
                </a:cubicBezTo>
                <a:cubicBezTo>
                  <a:pt x="204" y="78"/>
                  <a:pt x="141" y="100"/>
                  <a:pt x="96" y="117"/>
                </a:cubicBezTo>
                <a:cubicBezTo>
                  <a:pt x="51" y="134"/>
                  <a:pt x="28" y="149"/>
                  <a:pt x="0" y="165"/>
                </a:cubicBezTo>
              </a:path>
            </a:pathLst>
          </a:custGeom>
          <a:noFill/>
          <a:ln w="57150" cap="flat" cmpd="sng">
            <a:solidFill>
              <a:srgbClr val="CC00CC"/>
            </a:solidFill>
            <a:prstDash val="sysDot"/>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Text Box 23"/>
          <p:cNvSpPr txBox="1">
            <a:spLocks noChangeArrowheads="1"/>
          </p:cNvSpPr>
          <p:nvPr/>
        </p:nvSpPr>
        <p:spPr bwMode="auto">
          <a:xfrm>
            <a:off x="5798014" y="1866981"/>
            <a:ext cx="1415772"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是对哪一个报文段</a:t>
            </a:r>
          </a:p>
          <a:p>
            <a:pPr algn="ctr"/>
            <a:r>
              <a:rPr kumimoji="1" lang="zh-CN" altLang="en-US" sz="1200" b="1" dirty="0">
                <a:latin typeface="微软雅黑" pitchFamily="34" charset="-122"/>
                <a:ea typeface="微软雅黑" pitchFamily="34" charset="-122"/>
              </a:rPr>
              <a:t>的确认？</a:t>
            </a:r>
          </a:p>
        </p:txBody>
      </p:sp>
      <p:sp>
        <p:nvSpPr>
          <p:cNvPr id="2" name="矩形 1"/>
          <p:cNvSpPr/>
          <p:nvPr/>
        </p:nvSpPr>
        <p:spPr>
          <a:xfrm>
            <a:off x="2774740" y="2659876"/>
            <a:ext cx="492443" cy="276999"/>
          </a:xfrm>
          <a:prstGeom prst="rect">
            <a:avLst/>
          </a:prstGeom>
        </p:spPr>
        <p:txBody>
          <a:bodyPr wrap="none">
            <a:spAutoFit/>
          </a:bodyPr>
          <a:lstStyle/>
          <a:p>
            <a:r>
              <a:rPr kumimoji="1" lang="zh-CN" altLang="en-US" sz="1200" b="1" dirty="0">
                <a:latin typeface="微软雅黑" pitchFamily="34" charset="-122"/>
                <a:ea typeface="微软雅黑" pitchFamily="34" charset="-122"/>
              </a:rPr>
              <a:t>超时</a:t>
            </a:r>
            <a:endParaRPr lang="zh-CN" altLang="en-US" sz="1200" dirty="0"/>
          </a:p>
        </p:txBody>
      </p:sp>
      <p:sp>
        <p:nvSpPr>
          <p:cNvPr id="30" name="Line 2"/>
          <p:cNvSpPr>
            <a:spLocks noChangeShapeType="1"/>
          </p:cNvSpPr>
          <p:nvPr/>
        </p:nvSpPr>
        <p:spPr bwMode="auto">
          <a:xfrm>
            <a:off x="2124587" y="2891148"/>
            <a:ext cx="1780266" cy="0"/>
          </a:xfrm>
          <a:prstGeom prst="line">
            <a:avLst/>
          </a:prstGeom>
          <a:noFill/>
          <a:ln w="12700">
            <a:solidFill>
              <a:schemeClr val="tx1"/>
            </a:solidFill>
            <a:prstDash val="sys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Tree>
    <p:extLst>
      <p:ext uri="{BB962C8B-B14F-4D97-AF65-F5344CB8AC3E}">
        <p14:creationId xmlns:p14="http://schemas.microsoft.com/office/powerpoint/2010/main" val="3078617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right)">
                                      <p:cBhvr>
                                        <p:cTn id="7" dur="3000"/>
                                        <p:tgtEl>
                                          <p:spTgt spid="27"/>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right)">
                                      <p:cBhvr>
                                        <p:cTn id="10" dur="3000"/>
                                        <p:tgtEl>
                                          <p:spTgt spid="28"/>
                                        </p:tgtEl>
                                      </p:cBhvr>
                                    </p:animEffect>
                                  </p:childTnLst>
                                </p:cTn>
                              </p:par>
                            </p:childTnLst>
                          </p:cTn>
                        </p:par>
                        <p:par>
                          <p:cTn id="11" fill="hold">
                            <p:stCondLst>
                              <p:cond delay="3000"/>
                            </p:stCondLst>
                            <p:childTnLst>
                              <p:par>
                                <p:cTn id="12" presetID="35" presetClass="emph" presetSubtype="0" repeatCount="3000" fill="hold" grpId="0" nodeType="afterEffect">
                                  <p:stCondLst>
                                    <p:cond delay="1000"/>
                                  </p:stCondLst>
                                  <p:childTnLst>
                                    <p:anim calcmode="discrete" valueType="str">
                                      <p:cBhvr>
                                        <p:cTn id="13" dur="1000" fill="hold"/>
                                        <p:tgtEl>
                                          <p:spTgt spid="26"/>
                                        </p:tgtEl>
                                        <p:attrNameLst>
                                          <p:attrName>style.visibility</p:attrName>
                                        </p:attrNameLst>
                                      </p:cBhvr>
                                      <p:tavLst>
                                        <p:tav tm="0">
                                          <p:val>
                                            <p:strVal val="hidden"/>
                                          </p:val>
                                        </p:tav>
                                        <p:tav tm="50000">
                                          <p:val>
                                            <p:strVal val="visible"/>
                                          </p:val>
                                        </p:tav>
                                      </p:tavLst>
                                    </p:anim>
                                  </p:childTnLst>
                                </p:cTn>
                              </p:par>
                              <p:par>
                                <p:cTn id="14" presetID="35" presetClass="emph" presetSubtype="0" repeatCount="3000" fill="hold" grpId="0" nodeType="withEffect">
                                  <p:stCondLst>
                                    <p:cond delay="1000"/>
                                  </p:stCondLst>
                                  <p:childTnLst>
                                    <p:anim calcmode="discrete" valueType="str">
                                      <p:cBhvr>
                                        <p:cTn id="15" dur="1000" fill="hold"/>
                                        <p:tgtEl>
                                          <p:spTgt spid="1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6" grpId="0" animBg="1"/>
      <p:bldP spid="27" grpId="0" animBg="1"/>
      <p:bldP spid="28"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3057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893183" y="597359"/>
            <a:ext cx="13763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err="1">
                <a:solidFill>
                  <a:schemeClr val="bg1"/>
                </a:solidFill>
                <a:latin typeface="微软雅黑" pitchFamily="34" charset="-122"/>
                <a:ea typeface="微软雅黑" pitchFamily="34" charset="-122"/>
              </a:rPr>
              <a:t>Karn</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算法</a:t>
            </a:r>
          </a:p>
        </p:txBody>
      </p:sp>
      <p:sp>
        <p:nvSpPr>
          <p:cNvPr id="7" name="Rectangle 68"/>
          <p:cNvSpPr>
            <a:spLocks noChangeArrowheads="1"/>
          </p:cNvSpPr>
          <p:nvPr/>
        </p:nvSpPr>
        <p:spPr bwMode="auto">
          <a:xfrm>
            <a:off x="556963" y="993669"/>
            <a:ext cx="8184960" cy="20865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在计算平均往返时间 </a:t>
            </a:r>
            <a:r>
              <a:rPr lang="en-US" altLang="zh-CN" sz="2000" b="1" dirty="0">
                <a:latin typeface="微软雅黑" pitchFamily="34" charset="-122"/>
                <a:ea typeface="微软雅黑" pitchFamily="34" charset="-122"/>
              </a:rPr>
              <a:t>RTT </a:t>
            </a:r>
            <a:r>
              <a:rPr lang="zh-CN" altLang="en-US" sz="2000" b="1" dirty="0">
                <a:latin typeface="微软雅黑" pitchFamily="34" charset="-122"/>
                <a:ea typeface="微软雅黑" pitchFamily="34" charset="-122"/>
              </a:rPr>
              <a:t>时，只要报文段重传了，就不采用其往返时间样本。</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同时，</a:t>
            </a:r>
            <a:r>
              <a:rPr lang="en-US" altLang="zh-CN" sz="2000" b="1" dirty="0">
                <a:latin typeface="微软雅黑" pitchFamily="34" charset="-122"/>
                <a:ea typeface="微软雅黑" pitchFamily="34" charset="-122"/>
              </a:rPr>
              <a:t>TCP</a:t>
            </a:r>
            <a:r>
              <a:rPr lang="zh-CN" altLang="en-US" sz="2000" b="1" dirty="0">
                <a:latin typeface="微软雅黑" pitchFamily="34" charset="-122"/>
                <a:ea typeface="微软雅黑" pitchFamily="34" charset="-122"/>
              </a:rPr>
              <a:t>报文段每重传一次，就把</a:t>
            </a:r>
            <a:r>
              <a:rPr lang="zh-CN" altLang="en-US" sz="2000" b="1" dirty="0">
                <a:solidFill>
                  <a:srgbClr val="0000FF"/>
                </a:solidFill>
                <a:latin typeface="微软雅黑" pitchFamily="34" charset="-122"/>
                <a:ea typeface="微软雅黑" pitchFamily="34" charset="-122"/>
              </a:rPr>
              <a:t>超时重传时间</a:t>
            </a:r>
            <a:r>
              <a:rPr lang="en-US" altLang="zh-CN" sz="2000" b="1" dirty="0">
                <a:solidFill>
                  <a:srgbClr val="0000FF"/>
                </a:solidFill>
                <a:latin typeface="微软雅黑" pitchFamily="34" charset="-122"/>
                <a:ea typeface="微软雅黑" pitchFamily="34" charset="-122"/>
              </a:rPr>
              <a:t>RTO</a:t>
            </a:r>
            <a:r>
              <a:rPr lang="zh-CN" altLang="en-US" sz="2000" b="1" dirty="0">
                <a:solidFill>
                  <a:srgbClr val="0000FF"/>
                </a:solidFill>
                <a:latin typeface="微软雅黑" pitchFamily="34" charset="-122"/>
                <a:ea typeface="微软雅黑" pitchFamily="34" charset="-122"/>
              </a:rPr>
              <a:t>加倍</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当不再发生报文段重传时，才根据上面给出的式</a:t>
            </a:r>
            <a:r>
              <a:rPr lang="en-US" altLang="zh-CN" sz="2000" b="1" dirty="0">
                <a:latin typeface="微软雅黑" pitchFamily="34" charset="-122"/>
                <a:ea typeface="微软雅黑" pitchFamily="34" charset="-122"/>
              </a:rPr>
              <a:t>(5-5)</a:t>
            </a:r>
            <a:r>
              <a:rPr lang="zh-CN" altLang="en-US" sz="2000" b="1" dirty="0">
                <a:latin typeface="微软雅黑" pitchFamily="34" charset="-122"/>
                <a:ea typeface="微软雅黑" pitchFamily="34" charset="-122"/>
              </a:rPr>
              <a:t>计算超时重传时间。</a:t>
            </a:r>
          </a:p>
        </p:txBody>
      </p:sp>
    </p:spTree>
    <p:extLst>
      <p:ext uri="{BB962C8B-B14F-4D97-AF65-F5344CB8AC3E}">
        <p14:creationId xmlns:p14="http://schemas.microsoft.com/office/powerpoint/2010/main" val="3335188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圆角矩形 51"/>
          <p:cNvSpPr/>
          <p:nvPr/>
        </p:nvSpPr>
        <p:spPr>
          <a:xfrm>
            <a:off x="556963" y="1058278"/>
            <a:ext cx="8048776" cy="201177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AutoShape 5"/>
          <p:cNvSpPr>
            <a:spLocks noChangeArrowheads="1"/>
          </p:cNvSpPr>
          <p:nvPr/>
        </p:nvSpPr>
        <p:spPr bwMode="auto">
          <a:xfrm>
            <a:off x="556963" y="627286"/>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739675" y="585015"/>
            <a:ext cx="366465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5.7.3   </a:t>
            </a:r>
            <a:r>
              <a:rPr lang="zh-CN" altLang="en-US" sz="2400" b="1" dirty="0">
                <a:solidFill>
                  <a:schemeClr val="bg1"/>
                </a:solidFill>
                <a:latin typeface="微软雅黑" pitchFamily="34" charset="-122"/>
                <a:ea typeface="微软雅黑" pitchFamily="34" charset="-122"/>
              </a:rPr>
              <a:t>选择性确认 </a:t>
            </a:r>
            <a:r>
              <a:rPr lang="en-US" altLang="zh-CN" sz="2400" b="1" dirty="0">
                <a:solidFill>
                  <a:schemeClr val="bg1"/>
                </a:solidFill>
                <a:latin typeface="微软雅黑" pitchFamily="34" charset="-122"/>
                <a:ea typeface="微软雅黑" pitchFamily="34" charset="-122"/>
              </a:rPr>
              <a:t>SACK</a:t>
            </a:r>
            <a:endParaRPr lang="zh-CN" altLang="en-US" sz="2400" b="1" dirty="0">
              <a:solidFill>
                <a:schemeClr val="bg1"/>
              </a:solidFill>
              <a:latin typeface="微软雅黑" pitchFamily="34" charset="-122"/>
              <a:ea typeface="微软雅黑" pitchFamily="34" charset="-122"/>
            </a:endParaRPr>
          </a:p>
        </p:txBody>
      </p:sp>
      <p:sp>
        <p:nvSpPr>
          <p:cNvPr id="7" name="Rectangle 8"/>
          <p:cNvSpPr>
            <a:spLocks noChangeArrowheads="1"/>
          </p:cNvSpPr>
          <p:nvPr/>
        </p:nvSpPr>
        <p:spPr bwMode="auto">
          <a:xfrm>
            <a:off x="556963" y="3063667"/>
            <a:ext cx="8048776"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问题：</a:t>
            </a:r>
            <a:r>
              <a:rPr lang="zh-CN" altLang="en-US" sz="2000" b="1" dirty="0">
                <a:latin typeface="微软雅黑" pitchFamily="34" charset="-122"/>
                <a:ea typeface="微软雅黑" pitchFamily="34" charset="-122"/>
              </a:rPr>
              <a:t>若收到的报文段无差错，只是未按序号，中间还缺少一些序号的数据，那么能否设法</a:t>
            </a:r>
            <a:r>
              <a:rPr lang="zh-CN" altLang="en-US" sz="2000" b="1" dirty="0">
                <a:solidFill>
                  <a:srgbClr val="C00000"/>
                </a:solidFill>
                <a:latin typeface="微软雅黑" pitchFamily="34" charset="-122"/>
                <a:ea typeface="微软雅黑" pitchFamily="34" charset="-122"/>
              </a:rPr>
              <a:t>只传送缺少的数据</a:t>
            </a:r>
            <a:r>
              <a:rPr lang="zh-CN" altLang="en-US" sz="2000" b="1" dirty="0">
                <a:latin typeface="微软雅黑" pitchFamily="34" charset="-122"/>
                <a:ea typeface="微软雅黑" pitchFamily="34" charset="-122"/>
              </a:rPr>
              <a:t>而不重传已经正确到达接收方的数据？</a:t>
            </a:r>
          </a:p>
        </p:txBody>
      </p:sp>
      <p:sp>
        <p:nvSpPr>
          <p:cNvPr id="2" name="矩形 1"/>
          <p:cNvSpPr/>
          <p:nvPr/>
        </p:nvSpPr>
        <p:spPr>
          <a:xfrm>
            <a:off x="1589520" y="4242032"/>
            <a:ext cx="5122282" cy="416589"/>
          </a:xfrm>
          <a:prstGeom prst="rect">
            <a:avLst/>
          </a:prstGeom>
          <a:solidFill>
            <a:srgbClr val="FFC000"/>
          </a:solidFill>
        </p:spPr>
        <p:txBody>
          <a:bodyPr wrap="square">
            <a:spAutoFit/>
          </a:bodyPr>
          <a:lstStyle/>
          <a:p>
            <a:pPr algn="ctr">
              <a:lnSpc>
                <a:spcPts val="2800"/>
              </a:lnSpc>
              <a:buClr>
                <a:srgbClr val="0070C0"/>
              </a:buClr>
            </a:pPr>
            <a:r>
              <a:rPr lang="zh-CN" altLang="en-US" b="1" dirty="0">
                <a:solidFill>
                  <a:srgbClr val="0000FF"/>
                </a:solidFill>
                <a:latin typeface="微软雅黑" pitchFamily="34" charset="-122"/>
                <a:ea typeface="微软雅黑" pitchFamily="34" charset="-122"/>
              </a:rPr>
              <a:t>解决：</a:t>
            </a:r>
            <a:r>
              <a:rPr lang="zh-CN" altLang="en-US" b="1" dirty="0">
                <a:solidFill>
                  <a:srgbClr val="C00000"/>
                </a:solidFill>
                <a:latin typeface="微软雅黑" pitchFamily="34" charset="-122"/>
                <a:ea typeface="微软雅黑" pitchFamily="34" charset="-122"/>
              </a:rPr>
              <a:t>选择性确认 </a:t>
            </a:r>
            <a:r>
              <a:rPr lang="en-US" altLang="zh-CN" b="1" dirty="0">
                <a:solidFill>
                  <a:srgbClr val="C00000"/>
                </a:solidFill>
                <a:latin typeface="微软雅黑" pitchFamily="34" charset="-122"/>
                <a:ea typeface="微软雅黑" pitchFamily="34" charset="-122"/>
              </a:rPr>
              <a:t>SACK  </a:t>
            </a:r>
            <a:r>
              <a:rPr lang="en-US" altLang="zh-CN" b="1" dirty="0">
                <a:latin typeface="微软雅黑" pitchFamily="34" charset="-122"/>
                <a:ea typeface="微软雅黑" pitchFamily="34" charset="-122"/>
              </a:rPr>
              <a:t>(Selective ACK) </a:t>
            </a:r>
            <a:endParaRPr lang="zh-CN" altLang="en-US" b="1" dirty="0">
              <a:latin typeface="微软雅黑" pitchFamily="34" charset="-122"/>
              <a:ea typeface="微软雅黑" pitchFamily="34" charset="-122"/>
            </a:endParaRPr>
          </a:p>
        </p:txBody>
      </p:sp>
      <p:sp>
        <p:nvSpPr>
          <p:cNvPr id="59" name="Rectangle 6"/>
          <p:cNvSpPr>
            <a:spLocks noChangeArrowheads="1"/>
          </p:cNvSpPr>
          <p:nvPr/>
        </p:nvSpPr>
        <p:spPr bwMode="auto">
          <a:xfrm>
            <a:off x="1403441" y="2284453"/>
            <a:ext cx="1543723" cy="294524"/>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0" name="Rectangle 7"/>
          <p:cNvSpPr>
            <a:spLocks noChangeArrowheads="1"/>
          </p:cNvSpPr>
          <p:nvPr/>
        </p:nvSpPr>
        <p:spPr bwMode="auto">
          <a:xfrm>
            <a:off x="3585299" y="2284453"/>
            <a:ext cx="1436975" cy="294524"/>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1" name="Rectangle 8"/>
          <p:cNvSpPr>
            <a:spLocks noChangeArrowheads="1"/>
          </p:cNvSpPr>
          <p:nvPr/>
        </p:nvSpPr>
        <p:spPr bwMode="auto">
          <a:xfrm>
            <a:off x="5606448" y="2284453"/>
            <a:ext cx="2022324" cy="294524"/>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3" name="Line 5"/>
          <p:cNvSpPr>
            <a:spLocks noChangeShapeType="1"/>
          </p:cNvSpPr>
          <p:nvPr/>
        </p:nvSpPr>
        <p:spPr bwMode="auto">
          <a:xfrm>
            <a:off x="1403441" y="2098842"/>
            <a:ext cx="1543723"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4" name="Text Box 9"/>
          <p:cNvSpPr txBox="1">
            <a:spLocks noChangeArrowheads="1"/>
          </p:cNvSpPr>
          <p:nvPr/>
        </p:nvSpPr>
        <p:spPr bwMode="auto">
          <a:xfrm>
            <a:off x="3052377" y="2221798"/>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a:t>
            </a:r>
          </a:p>
        </p:txBody>
      </p:sp>
      <p:sp>
        <p:nvSpPr>
          <p:cNvPr id="65" name="Text Box 10"/>
          <p:cNvSpPr txBox="1">
            <a:spLocks noChangeArrowheads="1"/>
          </p:cNvSpPr>
          <p:nvPr/>
        </p:nvSpPr>
        <p:spPr bwMode="auto">
          <a:xfrm>
            <a:off x="5148159" y="2197773"/>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a:t>
            </a:r>
          </a:p>
        </p:txBody>
      </p:sp>
      <p:sp>
        <p:nvSpPr>
          <p:cNvPr id="66" name="Line 11"/>
          <p:cNvSpPr>
            <a:spLocks noChangeShapeType="1"/>
          </p:cNvSpPr>
          <p:nvPr/>
        </p:nvSpPr>
        <p:spPr bwMode="auto">
          <a:xfrm flipH="1">
            <a:off x="1416731" y="2032793"/>
            <a:ext cx="0" cy="18082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7" name="Text Box 12"/>
          <p:cNvSpPr txBox="1">
            <a:spLocks noChangeArrowheads="1"/>
          </p:cNvSpPr>
          <p:nvPr/>
        </p:nvSpPr>
        <p:spPr bwMode="auto">
          <a:xfrm>
            <a:off x="1633145" y="1974803"/>
            <a:ext cx="954107" cy="276999"/>
          </a:xfrm>
          <a:prstGeom prst="rect">
            <a:avLst/>
          </a:prstGeom>
          <a:solidFill>
            <a:srgbClr val="C3E3F9"/>
          </a:solidFill>
          <a:ln>
            <a:noFill/>
          </a:ln>
          <a:effectLst/>
        </p:spPr>
        <p:txBody>
          <a:bodyPr wrap="none">
            <a:spAutoFit/>
          </a:bodyPr>
          <a:lstStyle/>
          <a:p>
            <a:r>
              <a:rPr lang="zh-CN" altLang="en-US" sz="1200" b="1" dirty="0">
                <a:latin typeface="微软雅黑" pitchFamily="34" charset="-122"/>
                <a:ea typeface="微软雅黑" pitchFamily="34" charset="-122"/>
              </a:rPr>
              <a:t>连续字节块</a:t>
            </a:r>
          </a:p>
        </p:txBody>
      </p:sp>
      <p:sp>
        <p:nvSpPr>
          <p:cNvPr id="69" name="Text Box 16"/>
          <p:cNvSpPr txBox="1">
            <a:spLocks noChangeArrowheads="1"/>
          </p:cNvSpPr>
          <p:nvPr/>
        </p:nvSpPr>
        <p:spPr bwMode="auto">
          <a:xfrm>
            <a:off x="2000518" y="2217319"/>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a:t>
            </a:r>
          </a:p>
        </p:txBody>
      </p:sp>
      <p:sp>
        <p:nvSpPr>
          <p:cNvPr id="74" name="Text Box 17"/>
          <p:cNvSpPr txBox="1">
            <a:spLocks noChangeArrowheads="1"/>
          </p:cNvSpPr>
          <p:nvPr/>
        </p:nvSpPr>
        <p:spPr bwMode="auto">
          <a:xfrm>
            <a:off x="4128416" y="2217319"/>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000099"/>
                </a:solidFill>
                <a:latin typeface="微软雅黑" pitchFamily="34" charset="-122"/>
                <a:ea typeface="微软雅黑" pitchFamily="34" charset="-122"/>
              </a:rPr>
              <a:t>…</a:t>
            </a:r>
          </a:p>
        </p:txBody>
      </p:sp>
      <p:sp>
        <p:nvSpPr>
          <p:cNvPr id="75" name="Text Box 18"/>
          <p:cNvSpPr txBox="1">
            <a:spLocks noChangeArrowheads="1"/>
          </p:cNvSpPr>
          <p:nvPr/>
        </p:nvSpPr>
        <p:spPr bwMode="auto">
          <a:xfrm>
            <a:off x="6522594" y="2217319"/>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000099"/>
                </a:solidFill>
                <a:latin typeface="微软雅黑" pitchFamily="34" charset="-122"/>
                <a:ea typeface="微软雅黑" pitchFamily="34" charset="-122"/>
              </a:rPr>
              <a:t>…</a:t>
            </a:r>
          </a:p>
        </p:txBody>
      </p:sp>
      <p:sp>
        <p:nvSpPr>
          <p:cNvPr id="86" name="Text Box 24"/>
          <p:cNvSpPr txBox="1">
            <a:spLocks noChangeArrowheads="1"/>
          </p:cNvSpPr>
          <p:nvPr/>
        </p:nvSpPr>
        <p:spPr bwMode="auto">
          <a:xfrm>
            <a:off x="3561007" y="1966141"/>
            <a:ext cx="1548822"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第</a:t>
            </a:r>
            <a:r>
              <a:rPr lang="en-US" altLang="zh-CN" sz="1200" b="1" dirty="0">
                <a:latin typeface="微软雅黑" pitchFamily="34" charset="-122"/>
                <a:ea typeface="微软雅黑" pitchFamily="34" charset="-122"/>
              </a:rPr>
              <a:t>1</a:t>
            </a:r>
            <a:r>
              <a:rPr lang="zh-CN" altLang="en-US" sz="1200" b="1" dirty="0">
                <a:latin typeface="微软雅黑" pitchFamily="34" charset="-122"/>
                <a:ea typeface="微软雅黑" pitchFamily="34" charset="-122"/>
              </a:rPr>
              <a:t>个不连续字节块</a:t>
            </a:r>
          </a:p>
        </p:txBody>
      </p:sp>
      <p:sp>
        <p:nvSpPr>
          <p:cNvPr id="87" name="Text Box 25"/>
          <p:cNvSpPr txBox="1">
            <a:spLocks noChangeArrowheads="1"/>
          </p:cNvSpPr>
          <p:nvPr/>
        </p:nvSpPr>
        <p:spPr bwMode="auto">
          <a:xfrm>
            <a:off x="5929378" y="1959644"/>
            <a:ext cx="1510350"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第</a:t>
            </a:r>
            <a:r>
              <a:rPr lang="en-US" altLang="zh-CN" sz="1200" b="1" dirty="0">
                <a:latin typeface="微软雅黑" pitchFamily="34" charset="-122"/>
                <a:ea typeface="微软雅黑" pitchFamily="34" charset="-122"/>
              </a:rPr>
              <a:t>2</a:t>
            </a:r>
            <a:r>
              <a:rPr lang="zh-CN" altLang="en-US" sz="1200" b="1" dirty="0">
                <a:latin typeface="微软雅黑" pitchFamily="34" charset="-122"/>
                <a:ea typeface="微软雅黑" pitchFamily="34" charset="-122"/>
              </a:rPr>
              <a:t>个不连续字节块</a:t>
            </a:r>
          </a:p>
        </p:txBody>
      </p:sp>
      <p:sp>
        <p:nvSpPr>
          <p:cNvPr id="88" name="Line 11"/>
          <p:cNvSpPr>
            <a:spLocks noChangeShapeType="1"/>
          </p:cNvSpPr>
          <p:nvPr/>
        </p:nvSpPr>
        <p:spPr bwMode="auto">
          <a:xfrm flipH="1">
            <a:off x="2947164" y="2032793"/>
            <a:ext cx="0" cy="18082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89" name="Text Box 15"/>
          <p:cNvSpPr txBox="1">
            <a:spLocks noChangeArrowheads="1"/>
          </p:cNvSpPr>
          <p:nvPr/>
        </p:nvSpPr>
        <p:spPr bwMode="auto">
          <a:xfrm>
            <a:off x="1412133" y="2271216"/>
            <a:ext cx="6420435" cy="3077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400" b="1" dirty="0">
                <a:solidFill>
                  <a:srgbClr val="0000FF"/>
                </a:solidFill>
                <a:latin typeface="微软雅黑" pitchFamily="34" charset="-122"/>
                <a:ea typeface="微软雅黑" pitchFamily="34" charset="-122"/>
              </a:rPr>
              <a:t>1                1000              1501         3000              3501                   4500</a:t>
            </a:r>
          </a:p>
        </p:txBody>
      </p:sp>
      <p:sp>
        <p:nvSpPr>
          <p:cNvPr id="3" name="矩形 2"/>
          <p:cNvSpPr/>
          <p:nvPr/>
        </p:nvSpPr>
        <p:spPr>
          <a:xfrm>
            <a:off x="1454783" y="1104853"/>
            <a:ext cx="6544042" cy="583878"/>
          </a:xfrm>
          <a:prstGeom prst="rect">
            <a:avLst/>
          </a:prstGeom>
          <a:solidFill>
            <a:srgbClr val="FFFF99"/>
          </a:solidFill>
        </p:spPr>
        <p:txBody>
          <a:bodyPr wrap="square">
            <a:spAutoFit/>
          </a:bodyPr>
          <a:lstStyle/>
          <a:p>
            <a:pPr>
              <a:lnSpc>
                <a:spcPts val="2000"/>
              </a:lnSpc>
            </a:pPr>
            <a:r>
              <a:rPr lang="zh-CN" altLang="en-US" sz="1400" b="1" dirty="0">
                <a:latin typeface="微软雅黑" panose="020B0503020204020204" pitchFamily="34" charset="-122"/>
                <a:ea typeface="微软雅黑" panose="020B0503020204020204" pitchFamily="34" charset="-122"/>
              </a:rPr>
              <a:t>假设起始序号 </a:t>
            </a:r>
            <a:r>
              <a:rPr lang="en-US" altLang="zh-CN" sz="1400" b="1" dirty="0">
                <a:latin typeface="微软雅黑" panose="020B0503020204020204" pitchFamily="34" charset="-122"/>
                <a:ea typeface="微软雅黑" panose="020B0503020204020204" pitchFamily="34" charset="-122"/>
              </a:rPr>
              <a:t>= 1</a:t>
            </a:r>
            <a:r>
              <a:rPr lang="zh-CN" altLang="en-US" sz="1400" b="1" dirty="0">
                <a:latin typeface="微软雅黑" panose="020B0503020204020204" pitchFamily="34" charset="-122"/>
                <a:ea typeface="微软雅黑" panose="020B0503020204020204" pitchFamily="34" charset="-122"/>
              </a:rPr>
              <a:t>。接收方收到了</a:t>
            </a:r>
            <a:r>
              <a:rPr lang="en-US" altLang="zh-CN" sz="1400" b="1" dirty="0">
                <a:latin typeface="微软雅黑" panose="020B0503020204020204" pitchFamily="34" charset="-122"/>
                <a:ea typeface="微软雅黑" panose="020B0503020204020204" pitchFamily="34" charset="-122"/>
              </a:rPr>
              <a:t>3</a:t>
            </a:r>
            <a:r>
              <a:rPr lang="zh-CN" altLang="en-US" sz="1400" b="1" dirty="0">
                <a:latin typeface="微软雅黑" panose="020B0503020204020204" pitchFamily="34" charset="-122"/>
                <a:ea typeface="微软雅黑" panose="020B0503020204020204" pitchFamily="34" charset="-122"/>
              </a:rPr>
              <a:t>个序号不连续的字节块，中间缺少序号 </a:t>
            </a:r>
            <a:r>
              <a:rPr lang="en-US" altLang="zh-CN" sz="1400" b="1" dirty="0">
                <a:latin typeface="微软雅黑" panose="020B0503020204020204" pitchFamily="34" charset="-122"/>
                <a:ea typeface="微软雅黑" panose="020B0503020204020204" pitchFamily="34" charset="-122"/>
              </a:rPr>
              <a:t>1001 ~ 1500 </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3001 ~ 3500 </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4501~5000 </a:t>
            </a:r>
            <a:r>
              <a:rPr lang="zh-CN" altLang="en-US" sz="1400" b="1" dirty="0">
                <a:latin typeface="微软雅黑" panose="020B0503020204020204" pitchFamily="34" charset="-122"/>
                <a:ea typeface="微软雅黑" panose="020B0503020204020204" pitchFamily="34" charset="-122"/>
              </a:rPr>
              <a:t>的字节。</a:t>
            </a:r>
          </a:p>
        </p:txBody>
      </p:sp>
      <p:sp>
        <p:nvSpPr>
          <p:cNvPr id="90" name="矩形 89"/>
          <p:cNvSpPr/>
          <p:nvPr/>
        </p:nvSpPr>
        <p:spPr>
          <a:xfrm>
            <a:off x="1454783" y="2685739"/>
            <a:ext cx="6544042" cy="307777"/>
          </a:xfrm>
          <a:prstGeom prst="rect">
            <a:avLst/>
          </a:prstGeom>
          <a:solidFill>
            <a:srgbClr val="92D050"/>
          </a:solidFill>
        </p:spPr>
        <p:txBody>
          <a:bodyPr wrap="square">
            <a:spAutoFit/>
          </a:bodyPr>
          <a:lstStyle/>
          <a:p>
            <a:r>
              <a:rPr lang="zh-CN" altLang="en-US" sz="1400" b="1" dirty="0">
                <a:solidFill>
                  <a:srgbClr val="000099"/>
                </a:solidFill>
                <a:latin typeface="微软雅黑" panose="020B0503020204020204" pitchFamily="34" charset="-122"/>
                <a:ea typeface="微软雅黑" panose="020B0503020204020204" pitchFamily="34" charset="-122"/>
              </a:rPr>
              <a:t>若只采用累积确认，仅能对按序到达的数据确认，报文段的确认号 </a:t>
            </a:r>
            <a:r>
              <a:rPr lang="en-US" altLang="zh-CN" sz="1400" b="1" dirty="0">
                <a:solidFill>
                  <a:srgbClr val="000099"/>
                </a:solidFill>
                <a:latin typeface="微软雅黑" panose="020B0503020204020204" pitchFamily="34" charset="-122"/>
                <a:ea typeface="微软雅黑" panose="020B0503020204020204" pitchFamily="34" charset="-122"/>
              </a:rPr>
              <a:t>= 1001</a:t>
            </a:r>
          </a:p>
        </p:txBody>
      </p:sp>
    </p:spTree>
    <p:extLst>
      <p:ext uri="{BB962C8B-B14F-4D97-AF65-F5344CB8AC3E}">
        <p14:creationId xmlns:p14="http://schemas.microsoft.com/office/powerpoint/2010/main" val="3277215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anim calcmode="lin" valueType="num">
                                      <p:cBhvr>
                                        <p:cTn id="7" dur="500" fill="hold"/>
                                        <p:tgtEl>
                                          <p:spTgt spid="90"/>
                                        </p:tgtEl>
                                        <p:attrNameLst>
                                          <p:attrName>ppt_w</p:attrName>
                                        </p:attrNameLst>
                                      </p:cBhvr>
                                      <p:tavLst>
                                        <p:tav tm="0">
                                          <p:val>
                                            <p:fltVal val="0"/>
                                          </p:val>
                                        </p:tav>
                                        <p:tav tm="100000">
                                          <p:val>
                                            <p:strVal val="#ppt_w"/>
                                          </p:val>
                                        </p:tav>
                                      </p:tavLst>
                                    </p:anim>
                                    <p:anim calcmode="lin" valueType="num">
                                      <p:cBhvr>
                                        <p:cTn id="8" dur="500" fill="hold"/>
                                        <p:tgtEl>
                                          <p:spTgt spid="90"/>
                                        </p:tgtEl>
                                        <p:attrNameLst>
                                          <p:attrName>ppt_h</p:attrName>
                                        </p:attrNameLst>
                                      </p:cBhvr>
                                      <p:tavLst>
                                        <p:tav tm="0">
                                          <p:val>
                                            <p:fltVal val="0"/>
                                          </p:val>
                                        </p:tav>
                                        <p:tav tm="100000">
                                          <p:val>
                                            <p:strVal val="#ppt_h"/>
                                          </p:val>
                                        </p:tav>
                                      </p:tavLst>
                                    </p:anim>
                                    <p:animEffect transition="in" filter="fade">
                                      <p:cBhvr>
                                        <p:cTn id="9" dur="500"/>
                                        <p:tgtEl>
                                          <p:spTgt spid="90"/>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animBg="1"/>
      <p:bldP spid="90"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56963" y="62429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2910511" y="591084"/>
            <a:ext cx="33416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RFC 2018 </a:t>
            </a:r>
            <a:r>
              <a:rPr lang="zh-CN" altLang="en-US" sz="2000" b="1" dirty="0">
                <a:solidFill>
                  <a:schemeClr val="bg1"/>
                </a:solidFill>
                <a:latin typeface="微软雅黑" pitchFamily="34" charset="-122"/>
                <a:ea typeface="微软雅黑" pitchFamily="34" charset="-122"/>
              </a:rPr>
              <a:t>对 </a:t>
            </a:r>
            <a:r>
              <a:rPr lang="en-US" altLang="zh-CN" sz="2000" b="1" dirty="0">
                <a:solidFill>
                  <a:schemeClr val="bg1"/>
                </a:solidFill>
                <a:latin typeface="微软雅黑" pitchFamily="34" charset="-122"/>
                <a:ea typeface="微软雅黑" pitchFamily="34" charset="-122"/>
              </a:rPr>
              <a:t>SACK </a:t>
            </a:r>
            <a:r>
              <a:rPr lang="zh-CN" altLang="en-US" sz="2000" b="1" dirty="0">
                <a:solidFill>
                  <a:schemeClr val="bg1"/>
                </a:solidFill>
                <a:latin typeface="微软雅黑" pitchFamily="34" charset="-122"/>
                <a:ea typeface="微软雅黑" pitchFamily="34" charset="-122"/>
              </a:rPr>
              <a:t>的规定</a:t>
            </a:r>
          </a:p>
        </p:txBody>
      </p:sp>
      <p:sp>
        <p:nvSpPr>
          <p:cNvPr id="9" name="Rectangle 68"/>
          <p:cNvSpPr>
            <a:spLocks noChangeArrowheads="1"/>
          </p:cNvSpPr>
          <p:nvPr/>
        </p:nvSpPr>
        <p:spPr bwMode="auto">
          <a:xfrm>
            <a:off x="556963" y="987394"/>
            <a:ext cx="3701272" cy="36830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如果要使用</a:t>
            </a:r>
            <a:r>
              <a:rPr lang="zh-CN" altLang="en-US" b="1" dirty="0">
                <a:solidFill>
                  <a:srgbClr val="C00000"/>
                </a:solidFill>
                <a:latin typeface="微软雅黑" pitchFamily="34" charset="-122"/>
                <a:ea typeface="微软雅黑" pitchFamily="34" charset="-122"/>
              </a:rPr>
              <a:t>选择性确认，</a:t>
            </a:r>
            <a:r>
              <a:rPr lang="zh-CN" altLang="en-US" b="1" dirty="0">
                <a:latin typeface="微软雅黑" pitchFamily="34" charset="-122"/>
                <a:ea typeface="微软雅黑" pitchFamily="34" charset="-122"/>
              </a:rPr>
              <a:t>在建立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连接时，要在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首部的选项中加上</a:t>
            </a:r>
            <a:r>
              <a:rPr lang="zh-CN" altLang="en-US" b="1" dirty="0">
                <a:solidFill>
                  <a:srgbClr val="C00000"/>
                </a:solidFill>
                <a:latin typeface="微软雅黑" pitchFamily="34" charset="-122"/>
                <a:ea typeface="微软雅黑" pitchFamily="34" charset="-122"/>
              </a:rPr>
              <a:t>允许 </a:t>
            </a:r>
            <a:r>
              <a:rPr lang="en-US" altLang="zh-CN" b="1" dirty="0">
                <a:solidFill>
                  <a:srgbClr val="C00000"/>
                </a:solidFill>
                <a:latin typeface="微软雅黑" pitchFamily="34" charset="-122"/>
                <a:ea typeface="微软雅黑" pitchFamily="34" charset="-122"/>
              </a:rPr>
              <a:t>SACK </a:t>
            </a:r>
            <a:r>
              <a:rPr lang="zh-CN" altLang="en-US" b="1" dirty="0">
                <a:latin typeface="微软雅黑" pitchFamily="34" charset="-122"/>
                <a:ea typeface="微软雅黑" pitchFamily="34" charset="-122"/>
              </a:rPr>
              <a:t>选项，且双方必须事先商定好。</a:t>
            </a:r>
            <a:endParaRPr lang="en-US" altLang="zh-CN" b="1" dirty="0">
              <a:latin typeface="微软雅黑" pitchFamily="34" charset="-122"/>
              <a:ea typeface="微软雅黑" pitchFamily="34" charset="-122"/>
            </a:endParaRPr>
          </a:p>
          <a:p>
            <a:pPr marL="342900" indent="-34290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如果使用选择性确认，原来首部中的</a:t>
            </a:r>
            <a:r>
              <a:rPr lang="zh-CN" altLang="en-US" b="1" dirty="0">
                <a:solidFill>
                  <a:srgbClr val="C00000"/>
                </a:solidFill>
                <a:latin typeface="微软雅黑" pitchFamily="34" charset="-122"/>
                <a:ea typeface="微软雅黑" pitchFamily="34" charset="-122"/>
              </a:rPr>
              <a:t>确认号</a:t>
            </a:r>
            <a:r>
              <a:rPr lang="zh-CN" altLang="en-US" b="1" dirty="0">
                <a:latin typeface="微软雅黑" pitchFamily="34" charset="-122"/>
                <a:ea typeface="微软雅黑" pitchFamily="34" charset="-122"/>
              </a:rPr>
              <a:t>的用法仍然不变（累积确认）。只是在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首部中都增加了 </a:t>
            </a:r>
            <a:r>
              <a:rPr lang="en-US" altLang="zh-CN" b="1" dirty="0">
                <a:solidFill>
                  <a:srgbClr val="C00000"/>
                </a:solidFill>
                <a:latin typeface="微软雅黑" pitchFamily="34" charset="-122"/>
                <a:ea typeface="微软雅黑" pitchFamily="34" charset="-122"/>
              </a:rPr>
              <a:t>SACK </a:t>
            </a:r>
            <a:r>
              <a:rPr lang="zh-CN" altLang="en-US" b="1" dirty="0">
                <a:solidFill>
                  <a:srgbClr val="C00000"/>
                </a:solidFill>
                <a:latin typeface="微软雅黑" pitchFamily="34" charset="-122"/>
                <a:ea typeface="微软雅黑" pitchFamily="34" charset="-122"/>
              </a:rPr>
              <a:t>选项，</a:t>
            </a:r>
            <a:r>
              <a:rPr lang="zh-CN" altLang="en-US" b="1" dirty="0">
                <a:latin typeface="微软雅黑" pitchFamily="34" charset="-122"/>
                <a:ea typeface="微软雅黑" pitchFamily="34" charset="-122"/>
              </a:rPr>
              <a:t>以便报告收到的</a:t>
            </a:r>
            <a:r>
              <a:rPr lang="zh-CN" altLang="en-US" b="1" dirty="0">
                <a:solidFill>
                  <a:srgbClr val="0000FF"/>
                </a:solidFill>
                <a:latin typeface="微软雅黑" pitchFamily="34" charset="-122"/>
                <a:ea typeface="微软雅黑" pitchFamily="34" charset="-122"/>
              </a:rPr>
              <a:t>不连续的</a:t>
            </a:r>
            <a:r>
              <a:rPr lang="zh-CN" altLang="en-US" b="1" dirty="0">
                <a:latin typeface="微软雅黑" pitchFamily="34" charset="-122"/>
                <a:ea typeface="微软雅黑" pitchFamily="34" charset="-122"/>
              </a:rPr>
              <a:t>字节块的</a:t>
            </a:r>
            <a:r>
              <a:rPr lang="zh-CN" altLang="en-US" b="1" dirty="0">
                <a:solidFill>
                  <a:srgbClr val="C00000"/>
                </a:solidFill>
                <a:latin typeface="微软雅黑" pitchFamily="34" charset="-122"/>
                <a:ea typeface="微软雅黑" pitchFamily="34" charset="-122"/>
              </a:rPr>
              <a:t>边界。</a:t>
            </a:r>
          </a:p>
        </p:txBody>
      </p:sp>
      <p:grpSp>
        <p:nvGrpSpPr>
          <p:cNvPr id="4" name="组合 3"/>
          <p:cNvGrpSpPr/>
          <p:nvPr/>
        </p:nvGrpSpPr>
        <p:grpSpPr>
          <a:xfrm>
            <a:off x="5988418" y="1213171"/>
            <a:ext cx="1922724" cy="259977"/>
            <a:chOff x="6306464" y="1362635"/>
            <a:chExt cx="2043954" cy="259977"/>
          </a:xfrm>
        </p:grpSpPr>
        <p:sp>
          <p:nvSpPr>
            <p:cNvPr id="2" name="矩形 1"/>
            <p:cNvSpPr/>
            <p:nvPr/>
          </p:nvSpPr>
          <p:spPr>
            <a:xfrm>
              <a:off x="6306464" y="1362635"/>
              <a:ext cx="1021977" cy="259977"/>
            </a:xfrm>
            <a:prstGeom prst="rect">
              <a:avLst/>
            </a:prstGeom>
            <a:solidFill>
              <a:srgbClr val="FF99FF"/>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类别 </a:t>
              </a:r>
              <a:r>
                <a:rPr lang="en-US" altLang="zh-CN" sz="1200" b="1" dirty="0">
                  <a:solidFill>
                    <a:srgbClr val="000066"/>
                  </a:solidFill>
                  <a:latin typeface="微软雅黑" panose="020B0503020204020204" pitchFamily="34" charset="-122"/>
                  <a:ea typeface="微软雅黑" panose="020B0503020204020204" pitchFamily="34" charset="-122"/>
                </a:rPr>
                <a:t>= 4</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11" name="矩形 10"/>
            <p:cNvSpPr/>
            <p:nvPr/>
          </p:nvSpPr>
          <p:spPr>
            <a:xfrm>
              <a:off x="7328441" y="1362635"/>
              <a:ext cx="1021977" cy="259977"/>
            </a:xfrm>
            <a:prstGeom prst="rect">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长度 </a:t>
              </a:r>
              <a:r>
                <a:rPr lang="en-US" altLang="zh-CN" sz="1200" b="1" dirty="0">
                  <a:solidFill>
                    <a:srgbClr val="000066"/>
                  </a:solidFill>
                  <a:latin typeface="微软雅黑" panose="020B0503020204020204" pitchFamily="34" charset="-122"/>
                  <a:ea typeface="微软雅黑" panose="020B0503020204020204" pitchFamily="34" charset="-122"/>
                </a:rPr>
                <a:t>=2</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grpSp>
      <p:sp>
        <p:nvSpPr>
          <p:cNvPr id="12" name="Rectangle 12"/>
          <p:cNvSpPr>
            <a:spLocks noChangeArrowheads="1"/>
          </p:cNvSpPr>
          <p:nvPr/>
        </p:nvSpPr>
        <p:spPr bwMode="auto">
          <a:xfrm>
            <a:off x="6078248" y="1472381"/>
            <a:ext cx="181095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zh-CN" altLang="en-US" sz="1400" b="1" dirty="0">
                <a:solidFill>
                  <a:srgbClr val="C00000"/>
                </a:solidFill>
                <a:latin typeface="微软雅黑" panose="020B0503020204020204" pitchFamily="34" charset="-122"/>
                <a:ea typeface="微软雅黑" panose="020B0503020204020204" pitchFamily="34" charset="-122"/>
              </a:rPr>
              <a:t>允许 </a:t>
            </a:r>
            <a:r>
              <a:rPr lang="en-US" altLang="zh-CN" sz="1400" b="1" dirty="0">
                <a:solidFill>
                  <a:srgbClr val="C00000"/>
                </a:solidFill>
                <a:latin typeface="微软雅黑" panose="020B0503020204020204" pitchFamily="34" charset="-122"/>
                <a:ea typeface="微软雅黑" panose="020B0503020204020204" pitchFamily="34" charset="-122"/>
              </a:rPr>
              <a:t>SACK </a:t>
            </a:r>
            <a:r>
              <a:rPr lang="zh-CN" altLang="en-US" sz="1400" b="1" dirty="0">
                <a:solidFill>
                  <a:srgbClr val="C00000"/>
                </a:solidFill>
                <a:latin typeface="微软雅黑" panose="020B0503020204020204" pitchFamily="34" charset="-122"/>
                <a:ea typeface="微软雅黑" panose="020B0503020204020204" pitchFamily="34" charset="-122"/>
              </a:rPr>
              <a:t>选项</a:t>
            </a:r>
            <a:endParaRPr lang="en-US" altLang="zh-CN" sz="1400" b="1" dirty="0">
              <a:solidFill>
                <a:srgbClr val="C00000"/>
              </a:solidFill>
              <a:latin typeface="微软雅黑" panose="020B0503020204020204" pitchFamily="34" charset="-122"/>
              <a:ea typeface="微软雅黑" panose="020B0503020204020204" pitchFamily="34" charset="-122"/>
            </a:endParaRPr>
          </a:p>
        </p:txBody>
      </p:sp>
      <p:sp>
        <p:nvSpPr>
          <p:cNvPr id="10" name="AutoShape 13"/>
          <p:cNvSpPr>
            <a:spLocks/>
          </p:cNvSpPr>
          <p:nvPr/>
        </p:nvSpPr>
        <p:spPr bwMode="auto">
          <a:xfrm flipH="1">
            <a:off x="7933757" y="2190662"/>
            <a:ext cx="175656" cy="2039611"/>
          </a:xfrm>
          <a:prstGeom prst="leftBrace">
            <a:avLst>
              <a:gd name="adj1" fmla="val 42270"/>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Rectangle 12"/>
          <p:cNvSpPr>
            <a:spLocks noChangeArrowheads="1"/>
          </p:cNvSpPr>
          <p:nvPr/>
        </p:nvSpPr>
        <p:spPr bwMode="auto">
          <a:xfrm>
            <a:off x="5400543" y="4239238"/>
            <a:ext cx="181095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en-US" altLang="zh-CN" sz="1400" b="1" dirty="0">
                <a:solidFill>
                  <a:srgbClr val="C00000"/>
                </a:solidFill>
                <a:latin typeface="微软雅黑" panose="020B0503020204020204" pitchFamily="34" charset="-122"/>
                <a:ea typeface="微软雅黑" panose="020B0503020204020204" pitchFamily="34" charset="-122"/>
              </a:rPr>
              <a:t>SACK </a:t>
            </a:r>
            <a:r>
              <a:rPr lang="zh-CN" altLang="en-US" sz="1400" b="1" dirty="0">
                <a:solidFill>
                  <a:srgbClr val="C00000"/>
                </a:solidFill>
                <a:latin typeface="微软雅黑" panose="020B0503020204020204" pitchFamily="34" charset="-122"/>
                <a:ea typeface="微软雅黑" panose="020B0503020204020204" pitchFamily="34" charset="-122"/>
              </a:rPr>
              <a:t>选项</a:t>
            </a:r>
            <a:endParaRPr lang="en-US" altLang="zh-CN" sz="1400" b="1" dirty="0">
              <a:solidFill>
                <a:srgbClr val="C00000"/>
              </a:solidFill>
              <a:latin typeface="微软雅黑" panose="020B0503020204020204" pitchFamily="34" charset="-122"/>
              <a:ea typeface="微软雅黑" panose="020B0503020204020204" pitchFamily="34" charset="-122"/>
            </a:endParaRPr>
          </a:p>
        </p:txBody>
      </p:sp>
      <p:grpSp>
        <p:nvGrpSpPr>
          <p:cNvPr id="24" name="组合 23"/>
          <p:cNvGrpSpPr/>
          <p:nvPr/>
        </p:nvGrpSpPr>
        <p:grpSpPr>
          <a:xfrm>
            <a:off x="4365806" y="1903438"/>
            <a:ext cx="3545336" cy="2336725"/>
            <a:chOff x="4805082" y="2217885"/>
            <a:chExt cx="3545336" cy="2336725"/>
          </a:xfrm>
        </p:grpSpPr>
        <p:grpSp>
          <p:nvGrpSpPr>
            <p:cNvPr id="3" name="组合 2"/>
            <p:cNvGrpSpPr/>
            <p:nvPr/>
          </p:nvGrpSpPr>
          <p:grpSpPr>
            <a:xfrm>
              <a:off x="6427694" y="2217885"/>
              <a:ext cx="1922724" cy="259977"/>
              <a:chOff x="6306464" y="2217885"/>
              <a:chExt cx="2043954" cy="259977"/>
            </a:xfrm>
          </p:grpSpPr>
          <p:sp>
            <p:nvSpPr>
              <p:cNvPr id="13" name="矩形 12"/>
              <p:cNvSpPr/>
              <p:nvPr/>
            </p:nvSpPr>
            <p:spPr>
              <a:xfrm>
                <a:off x="6306464" y="2217885"/>
                <a:ext cx="1021977" cy="259977"/>
              </a:xfrm>
              <a:prstGeom prst="rect">
                <a:avLst/>
              </a:prstGeom>
              <a:solidFill>
                <a:srgbClr val="FF99FF"/>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类别 </a:t>
                </a:r>
                <a:r>
                  <a:rPr lang="en-US" altLang="zh-CN" sz="1200" b="1" dirty="0">
                    <a:solidFill>
                      <a:srgbClr val="000066"/>
                    </a:solidFill>
                    <a:latin typeface="微软雅黑" panose="020B0503020204020204" pitchFamily="34" charset="-122"/>
                    <a:ea typeface="微软雅黑" panose="020B0503020204020204" pitchFamily="34" charset="-122"/>
                  </a:rPr>
                  <a:t>= 5</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14" name="矩形 13"/>
              <p:cNvSpPr/>
              <p:nvPr/>
            </p:nvSpPr>
            <p:spPr>
              <a:xfrm>
                <a:off x="7328441" y="2217885"/>
                <a:ext cx="1021977" cy="259977"/>
              </a:xfrm>
              <a:prstGeom prst="rect">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长度 </a:t>
                </a:r>
                <a:r>
                  <a:rPr lang="en-US" altLang="zh-CN" sz="1200" b="1" dirty="0">
                    <a:solidFill>
                      <a:srgbClr val="000066"/>
                    </a:solidFill>
                    <a:latin typeface="微软雅黑" panose="020B0503020204020204" pitchFamily="34" charset="-122"/>
                    <a:ea typeface="微软雅黑" panose="020B0503020204020204" pitchFamily="34" charset="-122"/>
                  </a:rPr>
                  <a:t>=</a:t>
                </a:r>
                <a:r>
                  <a:rPr lang="zh-CN" altLang="en-US" sz="1200" b="1" dirty="0">
                    <a:solidFill>
                      <a:srgbClr val="000066"/>
                    </a:solidFill>
                    <a:latin typeface="微软雅黑" panose="020B0503020204020204" pitchFamily="34" charset="-122"/>
                    <a:ea typeface="微软雅黑" panose="020B0503020204020204" pitchFamily="34" charset="-122"/>
                  </a:rPr>
                  <a:t>？</a:t>
                </a:r>
              </a:p>
            </p:txBody>
          </p:sp>
        </p:grpSp>
        <p:sp>
          <p:nvSpPr>
            <p:cNvPr id="16" name="矩形 15"/>
            <p:cNvSpPr/>
            <p:nvPr/>
          </p:nvSpPr>
          <p:spPr>
            <a:xfrm>
              <a:off x="4805082" y="2477095"/>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1 </a:t>
              </a:r>
              <a:r>
                <a:rPr lang="zh-CN" altLang="en-US" sz="1200" b="1" dirty="0">
                  <a:solidFill>
                    <a:srgbClr val="000066"/>
                  </a:solidFill>
                  <a:latin typeface="微软雅黑" panose="020B0503020204020204" pitchFamily="34" charset="-122"/>
                  <a:ea typeface="微软雅黑" panose="020B0503020204020204" pitchFamily="34" charset="-122"/>
                </a:rPr>
                <a:t>个字节块的左边界</a:t>
              </a:r>
            </a:p>
          </p:txBody>
        </p:sp>
        <p:sp>
          <p:nvSpPr>
            <p:cNvPr id="17" name="矩形 16"/>
            <p:cNvSpPr/>
            <p:nvPr/>
          </p:nvSpPr>
          <p:spPr>
            <a:xfrm>
              <a:off x="4805082" y="2737072"/>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1 </a:t>
              </a:r>
              <a:r>
                <a:rPr lang="zh-CN" altLang="en-US" sz="1200" b="1" dirty="0">
                  <a:solidFill>
                    <a:srgbClr val="000066"/>
                  </a:solidFill>
                  <a:latin typeface="微软雅黑" panose="020B0503020204020204" pitchFamily="34" charset="-122"/>
                  <a:ea typeface="微软雅黑" panose="020B0503020204020204" pitchFamily="34" charset="-122"/>
                </a:rPr>
                <a:t>个字节块的右边界</a:t>
              </a:r>
            </a:p>
          </p:txBody>
        </p:sp>
        <p:sp>
          <p:nvSpPr>
            <p:cNvPr id="18" name="矩形 17"/>
            <p:cNvSpPr/>
            <p:nvPr/>
          </p:nvSpPr>
          <p:spPr>
            <a:xfrm>
              <a:off x="4805082" y="2996282"/>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2 </a:t>
              </a:r>
              <a:r>
                <a:rPr lang="zh-CN" altLang="en-US" sz="1200" b="1" dirty="0">
                  <a:solidFill>
                    <a:srgbClr val="000066"/>
                  </a:solidFill>
                  <a:latin typeface="微软雅黑" panose="020B0503020204020204" pitchFamily="34" charset="-122"/>
                  <a:ea typeface="微软雅黑" panose="020B0503020204020204" pitchFamily="34" charset="-122"/>
                </a:rPr>
                <a:t>个字节块的左边界</a:t>
              </a:r>
            </a:p>
          </p:txBody>
        </p:sp>
        <p:sp>
          <p:nvSpPr>
            <p:cNvPr id="19" name="矩形 18"/>
            <p:cNvSpPr/>
            <p:nvPr/>
          </p:nvSpPr>
          <p:spPr>
            <a:xfrm>
              <a:off x="4805082" y="3256259"/>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2 </a:t>
              </a:r>
              <a:r>
                <a:rPr lang="zh-CN" altLang="en-US" sz="1200" b="1" dirty="0">
                  <a:solidFill>
                    <a:srgbClr val="000066"/>
                  </a:solidFill>
                  <a:latin typeface="微软雅黑" panose="020B0503020204020204" pitchFamily="34" charset="-122"/>
                  <a:ea typeface="微软雅黑" panose="020B0503020204020204" pitchFamily="34" charset="-122"/>
                </a:rPr>
                <a:t>个字节块的右边界</a:t>
              </a:r>
            </a:p>
          </p:txBody>
        </p:sp>
        <p:sp>
          <p:nvSpPr>
            <p:cNvPr id="20" name="矩形 19"/>
            <p:cNvSpPr/>
            <p:nvPr/>
          </p:nvSpPr>
          <p:spPr>
            <a:xfrm>
              <a:off x="4805082" y="3515469"/>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3 </a:t>
              </a:r>
              <a:r>
                <a:rPr lang="zh-CN" altLang="en-US" sz="1200" b="1" dirty="0">
                  <a:solidFill>
                    <a:srgbClr val="000066"/>
                  </a:solidFill>
                  <a:latin typeface="微软雅黑" panose="020B0503020204020204" pitchFamily="34" charset="-122"/>
                  <a:ea typeface="微软雅黑" panose="020B0503020204020204" pitchFamily="34" charset="-122"/>
                </a:rPr>
                <a:t>个字节块的左边界</a:t>
              </a:r>
            </a:p>
          </p:txBody>
        </p:sp>
        <p:sp>
          <p:nvSpPr>
            <p:cNvPr id="21" name="矩形 20"/>
            <p:cNvSpPr/>
            <p:nvPr/>
          </p:nvSpPr>
          <p:spPr>
            <a:xfrm>
              <a:off x="4805082" y="3775446"/>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3 </a:t>
              </a:r>
              <a:r>
                <a:rPr lang="zh-CN" altLang="en-US" sz="1200" b="1" dirty="0">
                  <a:solidFill>
                    <a:srgbClr val="000066"/>
                  </a:solidFill>
                  <a:latin typeface="微软雅黑" panose="020B0503020204020204" pitchFamily="34" charset="-122"/>
                  <a:ea typeface="微软雅黑" panose="020B0503020204020204" pitchFamily="34" charset="-122"/>
                </a:rPr>
                <a:t>个字节块的右边界</a:t>
              </a:r>
            </a:p>
          </p:txBody>
        </p:sp>
        <p:sp>
          <p:nvSpPr>
            <p:cNvPr id="22" name="矩形 21"/>
            <p:cNvSpPr/>
            <p:nvPr/>
          </p:nvSpPr>
          <p:spPr>
            <a:xfrm>
              <a:off x="4805082" y="4034656"/>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4 </a:t>
              </a:r>
              <a:r>
                <a:rPr lang="zh-CN" altLang="en-US" sz="1200" b="1" dirty="0">
                  <a:solidFill>
                    <a:srgbClr val="000066"/>
                  </a:solidFill>
                  <a:latin typeface="微软雅黑" panose="020B0503020204020204" pitchFamily="34" charset="-122"/>
                  <a:ea typeface="微软雅黑" panose="020B0503020204020204" pitchFamily="34" charset="-122"/>
                </a:rPr>
                <a:t>个字节块的左边界</a:t>
              </a:r>
            </a:p>
          </p:txBody>
        </p:sp>
        <p:sp>
          <p:nvSpPr>
            <p:cNvPr id="23" name="矩形 22"/>
            <p:cNvSpPr/>
            <p:nvPr/>
          </p:nvSpPr>
          <p:spPr>
            <a:xfrm>
              <a:off x="4805082" y="4294633"/>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4 </a:t>
              </a:r>
              <a:r>
                <a:rPr lang="zh-CN" altLang="en-US" sz="1200" b="1" dirty="0">
                  <a:solidFill>
                    <a:srgbClr val="000066"/>
                  </a:solidFill>
                  <a:latin typeface="微软雅黑" panose="020B0503020204020204" pitchFamily="34" charset="-122"/>
                  <a:ea typeface="微软雅黑" panose="020B0503020204020204" pitchFamily="34" charset="-122"/>
                </a:rPr>
                <a:t>个字节块的右边界</a:t>
              </a:r>
            </a:p>
          </p:txBody>
        </p:sp>
      </p:grpSp>
      <p:sp>
        <p:nvSpPr>
          <p:cNvPr id="25" name="Rectangle 12"/>
          <p:cNvSpPr>
            <a:spLocks noChangeArrowheads="1"/>
          </p:cNvSpPr>
          <p:nvPr/>
        </p:nvSpPr>
        <p:spPr bwMode="auto">
          <a:xfrm>
            <a:off x="8021585" y="2934685"/>
            <a:ext cx="94312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zh-CN" altLang="en-US" sz="1400" b="1" dirty="0">
                <a:latin typeface="微软雅黑" panose="020B0503020204020204" pitchFamily="34" charset="-122"/>
                <a:ea typeface="微软雅黑" panose="020B0503020204020204" pitchFamily="34" charset="-122"/>
              </a:rPr>
              <a:t>最多 </a:t>
            </a:r>
            <a:r>
              <a:rPr lang="en-US" altLang="zh-CN" sz="1400" b="1" dirty="0">
                <a:latin typeface="微软雅黑" panose="020B0503020204020204" pitchFamily="34" charset="-122"/>
                <a:ea typeface="微软雅黑" panose="020B0503020204020204" pitchFamily="34" charset="-122"/>
              </a:rPr>
              <a:t>4 </a:t>
            </a:r>
            <a:r>
              <a:rPr lang="zh-CN" altLang="en-US" sz="1400" b="1" dirty="0">
                <a:latin typeface="微软雅黑" panose="020B0503020204020204" pitchFamily="34" charset="-122"/>
                <a:ea typeface="微软雅黑" panose="020B0503020204020204" pitchFamily="34" charset="-122"/>
              </a:rPr>
              <a:t>个</a:t>
            </a:r>
            <a:endParaRPr lang="en-US" altLang="zh-CN" sz="1400" b="1" dirty="0">
              <a:latin typeface="微软雅黑" panose="020B0503020204020204" pitchFamily="34" charset="-122"/>
              <a:ea typeface="微软雅黑" panose="020B0503020204020204" pitchFamily="34" charset="-122"/>
            </a:endParaRPr>
          </a:p>
          <a:p>
            <a:pPr algn="ctr"/>
            <a:r>
              <a:rPr lang="zh-CN" altLang="en-US" sz="1400" b="1" dirty="0">
                <a:latin typeface="微软雅黑" panose="020B0503020204020204" pitchFamily="34" charset="-122"/>
                <a:ea typeface="微软雅黑" panose="020B0503020204020204" pitchFamily="34" charset="-122"/>
              </a:rPr>
              <a:t>字节块</a:t>
            </a:r>
            <a:endParaRPr lang="en-US" altLang="zh-CN" sz="1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52951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1000"/>
                                        <p:tgtEl>
                                          <p:spTgt spid="9">
                                            <p:txEl>
                                              <p:pRg st="0" end="0"/>
                                            </p:txEl>
                                          </p:spTgt>
                                        </p:tgtEl>
                                      </p:cBhvr>
                                    </p:animEffect>
                                    <p:anim calcmode="lin" valueType="num">
                                      <p:cBhvr>
                                        <p:cTn id="8"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0" end="0"/>
                                            </p:txEl>
                                          </p:spTgt>
                                        </p:tgtEl>
                                        <p:attrNameLst>
                                          <p:attrName>ppt_y</p:attrName>
                                        </p:attrNameLst>
                                      </p:cBhvr>
                                      <p:tavLst>
                                        <p:tav tm="0">
                                          <p:val>
                                            <p:strVal val="#ppt_y+.1"/>
                                          </p:val>
                                        </p:tav>
                                        <p:tav tm="100000">
                                          <p:val>
                                            <p:strVal val="#ppt_y"/>
                                          </p:val>
                                        </p:tav>
                                      </p:tavLst>
                                    </p:anim>
                                  </p:childTnLst>
                                </p:cTn>
                              </p:par>
                              <p:par>
                                <p:cTn id="10" presetID="35" presetClass="emph" presetSubtype="0" repeatCount="3000" fill="hold" grpId="0" nodeType="withEffect">
                                  <p:stCondLst>
                                    <p:cond delay="0"/>
                                  </p:stCondLst>
                                  <p:childTnLst>
                                    <p:anim calcmode="discrete" valueType="str">
                                      <p:cBhvr>
                                        <p:cTn id="11" dur="1000" fill="hold"/>
                                        <p:tgtEl>
                                          <p:spTgt spid="12"/>
                                        </p:tgtEl>
                                        <p:attrNameLst>
                                          <p:attrName>style.visibility</p:attrName>
                                        </p:attrNameLst>
                                      </p:cBhvr>
                                      <p:tavLst>
                                        <p:tav tm="0">
                                          <p:val>
                                            <p:strVal val="hidden"/>
                                          </p:val>
                                        </p:tav>
                                        <p:tav tm="50000">
                                          <p:val>
                                            <p:strVal val="visible"/>
                                          </p:val>
                                        </p:tav>
                                      </p:tavLst>
                                    </p:anim>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nodeType="clickEffect">
                                  <p:stCondLst>
                                    <p:cond delay="0"/>
                                  </p:stCondLst>
                                  <p:childTnLst>
                                    <p:set>
                                      <p:cBhvr>
                                        <p:cTn id="15" dur="1" fill="hold">
                                          <p:stCondLst>
                                            <p:cond delay="0"/>
                                          </p:stCondLst>
                                        </p:cTn>
                                        <p:tgtEl>
                                          <p:spTgt spid="9">
                                            <p:txEl>
                                              <p:pRg st="1" end="1"/>
                                            </p:txEl>
                                          </p:spTgt>
                                        </p:tgtEl>
                                        <p:attrNameLst>
                                          <p:attrName>style.visibility</p:attrName>
                                        </p:attrNameLst>
                                      </p:cBhvr>
                                      <p:to>
                                        <p:strVal val="visible"/>
                                      </p:to>
                                    </p:set>
                                    <p:animEffect transition="in" filter="fade">
                                      <p:cBhvr>
                                        <p:cTn id="16" dur="1000"/>
                                        <p:tgtEl>
                                          <p:spTgt spid="9">
                                            <p:txEl>
                                              <p:pRg st="1" end="1"/>
                                            </p:txEl>
                                          </p:spTgt>
                                        </p:tgtEl>
                                      </p:cBhvr>
                                    </p:animEffect>
                                    <p:anim calcmode="lin" valueType="num">
                                      <p:cBhvr>
                                        <p:cTn id="17"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8"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5" presetClass="emph" presetSubtype="0" repeatCount="3000" fill="hold" grpId="0" nodeType="clickEffect">
                                  <p:stCondLst>
                                    <p:cond delay="0"/>
                                  </p:stCondLst>
                                  <p:childTnLst>
                                    <p:anim calcmode="discrete" valueType="str">
                                      <p:cBhvr>
                                        <p:cTn id="22" dur="1000" fill="hold"/>
                                        <p:tgtEl>
                                          <p:spTgt spid="15"/>
                                        </p:tgtEl>
                                        <p:attrNameLst>
                                          <p:attrName>style.visibility</p:attrName>
                                        </p:attrNameLst>
                                      </p:cBhvr>
                                      <p:tavLst>
                                        <p:tav tm="0">
                                          <p:val>
                                            <p:strVal val="hidden"/>
                                          </p:val>
                                        </p:tav>
                                        <p:tav tm="50000">
                                          <p:val>
                                            <p:strVal val="visible"/>
                                          </p:val>
                                        </p:tav>
                                      </p:tavLst>
                                    </p:anim>
                                  </p:childTnLst>
                                </p:cTn>
                              </p:par>
                            </p:childTnLst>
                          </p:cTn>
                        </p:par>
                      </p:childTnLst>
                    </p:cTn>
                  </p:par>
                  <p:par>
                    <p:cTn id="23" fill="hold">
                      <p:stCondLst>
                        <p:cond delay="indefinite"/>
                      </p:stCondLst>
                      <p:childTnLst>
                        <p:par>
                          <p:cTn id="24" fill="hold">
                            <p:stCondLst>
                              <p:cond delay="0"/>
                            </p:stCondLst>
                            <p:childTnLst>
                              <p:par>
                                <p:cTn id="25" presetID="35" presetClass="emph" presetSubtype="0" repeatCount="3000" fill="hold" grpId="0" nodeType="clickEffect">
                                  <p:stCondLst>
                                    <p:cond delay="0"/>
                                  </p:stCondLst>
                                  <p:childTnLst>
                                    <p:anim calcmode="discrete" valueType="str">
                                      <p:cBhvr>
                                        <p:cTn id="26" dur="1000" fill="hold"/>
                                        <p:tgtEl>
                                          <p:spTgt spid="2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P spid="25"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2820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4124420" y="605119"/>
            <a:ext cx="8778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SACK</a:t>
            </a:r>
            <a:endParaRPr lang="zh-CN" altLang="en-US" sz="2000" b="1" dirty="0">
              <a:solidFill>
                <a:schemeClr val="bg1"/>
              </a:solidFill>
              <a:latin typeface="微软雅黑" pitchFamily="34" charset="-122"/>
              <a:ea typeface="微软雅黑" pitchFamily="34" charset="-122"/>
            </a:endParaRPr>
          </a:p>
        </p:txBody>
      </p:sp>
      <p:sp>
        <p:nvSpPr>
          <p:cNvPr id="7" name="圆角矩形 6"/>
          <p:cNvSpPr/>
          <p:nvPr/>
        </p:nvSpPr>
        <p:spPr>
          <a:xfrm>
            <a:off x="556963" y="1025024"/>
            <a:ext cx="8048776" cy="290151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Rectangle 6"/>
          <p:cNvSpPr>
            <a:spLocks noChangeArrowheads="1"/>
          </p:cNvSpPr>
          <p:nvPr/>
        </p:nvSpPr>
        <p:spPr bwMode="auto">
          <a:xfrm>
            <a:off x="1403441" y="1417747"/>
            <a:ext cx="1543723" cy="294524"/>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 name="Rectangle 7"/>
          <p:cNvSpPr>
            <a:spLocks noChangeArrowheads="1"/>
          </p:cNvSpPr>
          <p:nvPr/>
        </p:nvSpPr>
        <p:spPr bwMode="auto">
          <a:xfrm>
            <a:off x="3585299" y="1417747"/>
            <a:ext cx="1436975" cy="294524"/>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 name="Rectangle 8"/>
          <p:cNvSpPr>
            <a:spLocks noChangeArrowheads="1"/>
          </p:cNvSpPr>
          <p:nvPr/>
        </p:nvSpPr>
        <p:spPr bwMode="auto">
          <a:xfrm>
            <a:off x="5606448" y="1417747"/>
            <a:ext cx="2022324" cy="294524"/>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0" name="Text Box 9"/>
          <p:cNvSpPr txBox="1">
            <a:spLocks noChangeArrowheads="1"/>
          </p:cNvSpPr>
          <p:nvPr/>
        </p:nvSpPr>
        <p:spPr bwMode="auto">
          <a:xfrm>
            <a:off x="3052377" y="1355092"/>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a:t>
            </a:r>
          </a:p>
        </p:txBody>
      </p:sp>
      <p:sp>
        <p:nvSpPr>
          <p:cNvPr id="21" name="Text Box 10"/>
          <p:cNvSpPr txBox="1">
            <a:spLocks noChangeArrowheads="1"/>
          </p:cNvSpPr>
          <p:nvPr/>
        </p:nvSpPr>
        <p:spPr bwMode="auto">
          <a:xfrm>
            <a:off x="5148159" y="1331067"/>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a:t>
            </a:r>
          </a:p>
        </p:txBody>
      </p:sp>
      <p:grpSp>
        <p:nvGrpSpPr>
          <p:cNvPr id="41" name="组合 40">
            <a:extLst>
              <a:ext uri="{FF2B5EF4-FFF2-40B4-BE49-F238E27FC236}">
                <a16:creationId xmlns:a16="http://schemas.microsoft.com/office/drawing/2014/main" id="{44E9AFA2-A793-17B4-2996-138211495AE8}"/>
              </a:ext>
            </a:extLst>
          </p:cNvPr>
          <p:cNvGrpSpPr/>
          <p:nvPr/>
        </p:nvGrpSpPr>
        <p:grpSpPr>
          <a:xfrm>
            <a:off x="2062023" y="1613736"/>
            <a:ext cx="1234633" cy="571913"/>
            <a:chOff x="2062023" y="1613736"/>
            <a:chExt cx="1234633" cy="571913"/>
          </a:xfrm>
        </p:grpSpPr>
        <p:sp>
          <p:nvSpPr>
            <p:cNvPr id="14" name="Text Box 19"/>
            <p:cNvSpPr txBox="1">
              <a:spLocks noChangeArrowheads="1"/>
            </p:cNvSpPr>
            <p:nvPr/>
          </p:nvSpPr>
          <p:spPr bwMode="auto">
            <a:xfrm>
              <a:off x="2062023" y="1908649"/>
              <a:ext cx="1234633"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solidFill>
                    <a:srgbClr val="CC00CC"/>
                  </a:solidFill>
                  <a:latin typeface="微软雅黑" pitchFamily="34" charset="-122"/>
                  <a:ea typeface="微软雅黑" pitchFamily="34" charset="-122"/>
                </a:rPr>
                <a:t>确认号 </a:t>
              </a:r>
              <a:r>
                <a:rPr lang="en-US" altLang="zh-CN" sz="1200" b="1" dirty="0">
                  <a:solidFill>
                    <a:srgbClr val="CC00CC"/>
                  </a:solidFill>
                  <a:latin typeface="微软雅黑" pitchFamily="34" charset="-122"/>
                  <a:ea typeface="微软雅黑" pitchFamily="34" charset="-122"/>
                </a:rPr>
                <a:t>= 1001</a:t>
              </a:r>
            </a:p>
          </p:txBody>
        </p:sp>
        <p:sp>
          <p:nvSpPr>
            <p:cNvPr id="24" name="Line 14"/>
            <p:cNvSpPr>
              <a:spLocks noChangeShapeType="1"/>
            </p:cNvSpPr>
            <p:nvPr/>
          </p:nvSpPr>
          <p:spPr bwMode="auto">
            <a:xfrm flipV="1">
              <a:off x="2981181" y="1613736"/>
              <a:ext cx="0" cy="29452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sp>
        <p:nvSpPr>
          <p:cNvPr id="25" name="Text Box 16"/>
          <p:cNvSpPr txBox="1">
            <a:spLocks noChangeArrowheads="1"/>
          </p:cNvSpPr>
          <p:nvPr/>
        </p:nvSpPr>
        <p:spPr bwMode="auto">
          <a:xfrm>
            <a:off x="2000518" y="1350613"/>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a:t>
            </a:r>
          </a:p>
        </p:txBody>
      </p:sp>
      <p:sp>
        <p:nvSpPr>
          <p:cNvPr id="26" name="Text Box 17"/>
          <p:cNvSpPr txBox="1">
            <a:spLocks noChangeArrowheads="1"/>
          </p:cNvSpPr>
          <p:nvPr/>
        </p:nvSpPr>
        <p:spPr bwMode="auto">
          <a:xfrm>
            <a:off x="4128416" y="1350613"/>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000099"/>
                </a:solidFill>
                <a:latin typeface="微软雅黑" pitchFamily="34" charset="-122"/>
                <a:ea typeface="微软雅黑" pitchFamily="34" charset="-122"/>
              </a:rPr>
              <a:t>…</a:t>
            </a:r>
          </a:p>
        </p:txBody>
      </p:sp>
      <p:sp>
        <p:nvSpPr>
          <p:cNvPr id="27" name="Text Box 18"/>
          <p:cNvSpPr txBox="1">
            <a:spLocks noChangeArrowheads="1"/>
          </p:cNvSpPr>
          <p:nvPr/>
        </p:nvSpPr>
        <p:spPr bwMode="auto">
          <a:xfrm>
            <a:off x="6522594" y="1350613"/>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000099"/>
                </a:solidFill>
                <a:latin typeface="微软雅黑" pitchFamily="34" charset="-122"/>
                <a:ea typeface="微软雅黑" pitchFamily="34" charset="-122"/>
              </a:rPr>
              <a:t>…</a:t>
            </a:r>
          </a:p>
        </p:txBody>
      </p:sp>
      <p:grpSp>
        <p:nvGrpSpPr>
          <p:cNvPr id="2" name="组合 1"/>
          <p:cNvGrpSpPr/>
          <p:nvPr/>
        </p:nvGrpSpPr>
        <p:grpSpPr>
          <a:xfrm>
            <a:off x="3415064" y="1613736"/>
            <a:ext cx="2087943" cy="571913"/>
            <a:chOff x="3415064" y="2475207"/>
            <a:chExt cx="2087943" cy="571913"/>
          </a:xfrm>
        </p:grpSpPr>
        <p:sp>
          <p:nvSpPr>
            <p:cNvPr id="15" name="Text Box 26"/>
            <p:cNvSpPr txBox="1">
              <a:spLocks noChangeArrowheads="1"/>
            </p:cNvSpPr>
            <p:nvPr/>
          </p:nvSpPr>
          <p:spPr bwMode="auto">
            <a:xfrm>
              <a:off x="3415064" y="2770120"/>
              <a:ext cx="920445"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L</a:t>
              </a:r>
              <a:r>
                <a:rPr lang="en-US" altLang="zh-CN" sz="1200" b="1" baseline="-25000" dirty="0">
                  <a:latin typeface="微软雅黑" pitchFamily="34" charset="-122"/>
                  <a:ea typeface="微软雅黑" pitchFamily="34" charset="-122"/>
                </a:rPr>
                <a:t>1</a:t>
              </a:r>
              <a:r>
                <a:rPr lang="en-US" altLang="zh-CN" sz="1200" b="1" dirty="0">
                  <a:latin typeface="微软雅黑" pitchFamily="34" charset="-122"/>
                  <a:ea typeface="微软雅黑" pitchFamily="34" charset="-122"/>
                </a:rPr>
                <a:t> = 1501</a:t>
              </a:r>
            </a:p>
          </p:txBody>
        </p:sp>
        <p:sp>
          <p:nvSpPr>
            <p:cNvPr id="17" name="Text Box 28"/>
            <p:cNvSpPr txBox="1">
              <a:spLocks noChangeArrowheads="1"/>
            </p:cNvSpPr>
            <p:nvPr/>
          </p:nvSpPr>
          <p:spPr bwMode="auto">
            <a:xfrm>
              <a:off x="4560120" y="2770120"/>
              <a:ext cx="942887"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R</a:t>
              </a:r>
              <a:r>
                <a:rPr lang="en-US" altLang="zh-CN" sz="1200" b="1" baseline="-25000" dirty="0">
                  <a:latin typeface="微软雅黑" pitchFamily="34" charset="-122"/>
                  <a:ea typeface="微软雅黑" pitchFamily="34" charset="-122"/>
                </a:rPr>
                <a:t>1</a:t>
              </a:r>
              <a:r>
                <a:rPr lang="en-US" altLang="zh-CN" sz="1200" b="1" dirty="0">
                  <a:latin typeface="微软雅黑" pitchFamily="34" charset="-122"/>
                  <a:ea typeface="微软雅黑" pitchFamily="34" charset="-122"/>
                </a:rPr>
                <a:t> = 3001</a:t>
              </a:r>
            </a:p>
          </p:txBody>
        </p:sp>
        <p:sp>
          <p:nvSpPr>
            <p:cNvPr id="28" name="Line 20"/>
            <p:cNvSpPr>
              <a:spLocks noChangeShapeType="1"/>
            </p:cNvSpPr>
            <p:nvPr/>
          </p:nvSpPr>
          <p:spPr bwMode="auto">
            <a:xfrm flipV="1">
              <a:off x="3833544" y="2475207"/>
              <a:ext cx="0" cy="29452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Line 21"/>
            <p:cNvSpPr>
              <a:spLocks noChangeShapeType="1"/>
            </p:cNvSpPr>
            <p:nvPr/>
          </p:nvSpPr>
          <p:spPr bwMode="auto">
            <a:xfrm flipV="1">
              <a:off x="5075061" y="2475207"/>
              <a:ext cx="0" cy="29452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grpSp>
        <p:nvGrpSpPr>
          <p:cNvPr id="3" name="组合 2"/>
          <p:cNvGrpSpPr/>
          <p:nvPr/>
        </p:nvGrpSpPr>
        <p:grpSpPr>
          <a:xfrm>
            <a:off x="5527383" y="1613736"/>
            <a:ext cx="2522583" cy="571913"/>
            <a:chOff x="5527383" y="2475207"/>
            <a:chExt cx="2522583" cy="571913"/>
          </a:xfrm>
        </p:grpSpPr>
        <p:sp>
          <p:nvSpPr>
            <p:cNvPr id="16" name="Text Box 27"/>
            <p:cNvSpPr txBox="1">
              <a:spLocks noChangeArrowheads="1"/>
            </p:cNvSpPr>
            <p:nvPr/>
          </p:nvSpPr>
          <p:spPr bwMode="auto">
            <a:xfrm>
              <a:off x="5527383" y="2770120"/>
              <a:ext cx="920445"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L</a:t>
              </a:r>
              <a:r>
                <a:rPr lang="en-US" altLang="zh-CN" sz="1200" b="1" baseline="-25000" dirty="0">
                  <a:latin typeface="微软雅黑" pitchFamily="34" charset="-122"/>
                  <a:ea typeface="微软雅黑" pitchFamily="34" charset="-122"/>
                </a:rPr>
                <a:t>2</a:t>
              </a:r>
              <a:r>
                <a:rPr lang="en-US" altLang="zh-CN" sz="1200" b="1" dirty="0">
                  <a:latin typeface="微软雅黑" pitchFamily="34" charset="-122"/>
                  <a:ea typeface="微软雅黑" pitchFamily="34" charset="-122"/>
                </a:rPr>
                <a:t> = 3501</a:t>
              </a:r>
            </a:p>
          </p:txBody>
        </p:sp>
        <p:sp>
          <p:nvSpPr>
            <p:cNvPr id="18" name="Text Box 29"/>
            <p:cNvSpPr txBox="1">
              <a:spLocks noChangeArrowheads="1"/>
            </p:cNvSpPr>
            <p:nvPr/>
          </p:nvSpPr>
          <p:spPr bwMode="auto">
            <a:xfrm>
              <a:off x="7107079" y="2755465"/>
              <a:ext cx="942887"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R</a:t>
              </a:r>
              <a:r>
                <a:rPr lang="en-US" altLang="zh-CN" sz="1200" b="1" baseline="-25000" dirty="0">
                  <a:latin typeface="微软雅黑" pitchFamily="34" charset="-122"/>
                  <a:ea typeface="微软雅黑" pitchFamily="34" charset="-122"/>
                </a:rPr>
                <a:t>1</a:t>
              </a:r>
              <a:r>
                <a:rPr lang="en-US" altLang="zh-CN" sz="1200" b="1" dirty="0">
                  <a:latin typeface="微软雅黑" pitchFamily="34" charset="-122"/>
                  <a:ea typeface="微软雅黑" pitchFamily="34" charset="-122"/>
                </a:rPr>
                <a:t> = 4501</a:t>
              </a:r>
            </a:p>
          </p:txBody>
        </p:sp>
        <p:sp>
          <p:nvSpPr>
            <p:cNvPr id="30" name="Line 22"/>
            <p:cNvSpPr>
              <a:spLocks noChangeShapeType="1"/>
            </p:cNvSpPr>
            <p:nvPr/>
          </p:nvSpPr>
          <p:spPr bwMode="auto">
            <a:xfrm flipV="1">
              <a:off x="5910459" y="2475207"/>
              <a:ext cx="0" cy="29452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1" name="Line 23"/>
            <p:cNvSpPr>
              <a:spLocks noChangeShapeType="1"/>
            </p:cNvSpPr>
            <p:nvPr/>
          </p:nvSpPr>
          <p:spPr bwMode="auto">
            <a:xfrm flipV="1">
              <a:off x="7681559" y="2475207"/>
              <a:ext cx="0" cy="29452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sp>
        <p:nvSpPr>
          <p:cNvPr id="37" name="Text Box 15"/>
          <p:cNvSpPr txBox="1">
            <a:spLocks noChangeArrowheads="1"/>
          </p:cNvSpPr>
          <p:nvPr/>
        </p:nvSpPr>
        <p:spPr bwMode="auto">
          <a:xfrm>
            <a:off x="1412133" y="1404510"/>
            <a:ext cx="6420435" cy="3077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400" b="1" dirty="0">
                <a:solidFill>
                  <a:srgbClr val="0000FF"/>
                </a:solidFill>
                <a:latin typeface="微软雅黑" pitchFamily="34" charset="-122"/>
                <a:ea typeface="微软雅黑" pitchFamily="34" charset="-122"/>
              </a:rPr>
              <a:t>1                1000              1501         3000              3501                   4500</a:t>
            </a:r>
          </a:p>
        </p:txBody>
      </p:sp>
      <p:sp>
        <p:nvSpPr>
          <p:cNvPr id="38" name="矩形 37"/>
          <p:cNvSpPr/>
          <p:nvPr/>
        </p:nvSpPr>
        <p:spPr>
          <a:xfrm>
            <a:off x="1836669" y="2712940"/>
            <a:ext cx="1808943" cy="259977"/>
          </a:xfrm>
          <a:prstGeom prst="rect">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确认号 </a:t>
            </a:r>
            <a:r>
              <a:rPr lang="en-US" altLang="zh-CN" sz="1200" b="1" dirty="0">
                <a:solidFill>
                  <a:srgbClr val="000066"/>
                </a:solidFill>
                <a:latin typeface="微软雅黑" panose="020B0503020204020204" pitchFamily="34" charset="-122"/>
                <a:ea typeface="微软雅黑" panose="020B0503020204020204" pitchFamily="34" charset="-122"/>
              </a:rPr>
              <a:t>=1001</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grpSp>
        <p:nvGrpSpPr>
          <p:cNvPr id="43" name="组合 42">
            <a:extLst>
              <a:ext uri="{FF2B5EF4-FFF2-40B4-BE49-F238E27FC236}">
                <a16:creationId xmlns:a16="http://schemas.microsoft.com/office/drawing/2014/main" id="{1EC4962E-DDC2-3227-369F-FC541901E678}"/>
              </a:ext>
            </a:extLst>
          </p:cNvPr>
          <p:cNvGrpSpPr/>
          <p:nvPr/>
        </p:nvGrpSpPr>
        <p:grpSpPr>
          <a:xfrm>
            <a:off x="3920111" y="2453730"/>
            <a:ext cx="3545336" cy="1298351"/>
            <a:chOff x="3920111" y="2453730"/>
            <a:chExt cx="3545336" cy="1298351"/>
          </a:xfrm>
        </p:grpSpPr>
        <p:grpSp>
          <p:nvGrpSpPr>
            <p:cNvPr id="44" name="组合 43"/>
            <p:cNvGrpSpPr/>
            <p:nvPr/>
          </p:nvGrpSpPr>
          <p:grpSpPr>
            <a:xfrm>
              <a:off x="5542723" y="2453730"/>
              <a:ext cx="1922724" cy="259977"/>
              <a:chOff x="6306464" y="2217885"/>
              <a:chExt cx="2043954" cy="259977"/>
            </a:xfrm>
          </p:grpSpPr>
          <p:sp>
            <p:nvSpPr>
              <p:cNvPr id="53" name="矩形 52"/>
              <p:cNvSpPr/>
              <p:nvPr/>
            </p:nvSpPr>
            <p:spPr>
              <a:xfrm>
                <a:off x="6306464" y="2217885"/>
                <a:ext cx="1021977" cy="259977"/>
              </a:xfrm>
              <a:prstGeom prst="rect">
                <a:avLst/>
              </a:prstGeom>
              <a:solidFill>
                <a:srgbClr val="FF99FF"/>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类别 </a:t>
                </a:r>
                <a:r>
                  <a:rPr lang="en-US" altLang="zh-CN" sz="1200" b="1" dirty="0">
                    <a:solidFill>
                      <a:srgbClr val="000066"/>
                    </a:solidFill>
                    <a:latin typeface="微软雅黑" panose="020B0503020204020204" pitchFamily="34" charset="-122"/>
                    <a:ea typeface="微软雅黑" panose="020B0503020204020204" pitchFamily="34" charset="-122"/>
                  </a:rPr>
                  <a:t>= 5</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54" name="矩形 53"/>
              <p:cNvSpPr/>
              <p:nvPr/>
            </p:nvSpPr>
            <p:spPr>
              <a:xfrm>
                <a:off x="7328441" y="2217885"/>
                <a:ext cx="1021977" cy="259977"/>
              </a:xfrm>
              <a:prstGeom prst="rect">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长度 </a:t>
                </a:r>
                <a:r>
                  <a:rPr lang="en-US" altLang="zh-CN" sz="1200" b="1" dirty="0">
                    <a:solidFill>
                      <a:srgbClr val="000066"/>
                    </a:solidFill>
                    <a:latin typeface="微软雅黑" panose="020B0503020204020204" pitchFamily="34" charset="-122"/>
                    <a:ea typeface="微软雅黑" panose="020B0503020204020204" pitchFamily="34" charset="-122"/>
                  </a:rPr>
                  <a:t>=18</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grpSp>
        <p:sp>
          <p:nvSpPr>
            <p:cNvPr id="45" name="矩形 44"/>
            <p:cNvSpPr/>
            <p:nvPr/>
          </p:nvSpPr>
          <p:spPr>
            <a:xfrm>
              <a:off x="3920111" y="2712940"/>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lIns="108000" rIns="108000" rtlCol="0" anchor="ctr"/>
            <a:lstStyle/>
            <a:p>
              <a:r>
                <a:rPr lang="en-US" altLang="zh-CN" sz="1200" b="1" dirty="0">
                  <a:solidFill>
                    <a:srgbClr val="000066"/>
                  </a:solidFill>
                  <a:latin typeface="微软雅黑" panose="020B0503020204020204" pitchFamily="34" charset="-122"/>
                  <a:ea typeface="微软雅黑" panose="020B0503020204020204" pitchFamily="34" charset="-122"/>
                </a:rPr>
                <a:t>         1501</a:t>
              </a: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1 </a:t>
              </a:r>
              <a:r>
                <a:rPr lang="zh-CN" altLang="en-US" sz="1200" b="1" dirty="0">
                  <a:solidFill>
                    <a:srgbClr val="000066"/>
                  </a:solidFill>
                  <a:latin typeface="微软雅黑" panose="020B0503020204020204" pitchFamily="34" charset="-122"/>
                  <a:ea typeface="微软雅黑" panose="020B0503020204020204" pitchFamily="34" charset="-122"/>
                </a:rPr>
                <a:t>个字节块的左边界</a:t>
              </a:r>
              <a:r>
                <a:rPr lang="en-US" altLang="zh-CN" sz="1200" b="1" dirty="0">
                  <a:solidFill>
                    <a:srgbClr val="000066"/>
                  </a:solidFill>
                  <a:latin typeface="微软雅黑" panose="020B0503020204020204" pitchFamily="34" charset="-122"/>
                  <a:ea typeface="微软雅黑" panose="020B0503020204020204" pitchFamily="34" charset="-122"/>
                </a:rPr>
                <a:t>L</a:t>
              </a:r>
              <a:r>
                <a:rPr lang="en-US" altLang="zh-CN" sz="1200" b="1" baseline="-25000" dirty="0">
                  <a:solidFill>
                    <a:srgbClr val="000066"/>
                  </a:solidFill>
                  <a:latin typeface="微软雅黑" panose="020B0503020204020204" pitchFamily="34" charset="-122"/>
                  <a:ea typeface="微软雅黑" panose="020B0503020204020204" pitchFamily="34" charset="-122"/>
                </a:rPr>
                <a:t>1</a:t>
              </a:r>
              <a:r>
                <a:rPr lang="zh-CN" altLang="en-US" sz="1200" b="1" dirty="0">
                  <a:solidFill>
                    <a:srgbClr val="000066"/>
                  </a:solidFill>
                  <a:latin typeface="微软雅黑" panose="020B0503020204020204" pitchFamily="34" charset="-122"/>
                  <a:ea typeface="微软雅黑" panose="020B0503020204020204" pitchFamily="34" charset="-122"/>
                </a:rPr>
                <a:t>）</a:t>
              </a:r>
            </a:p>
          </p:txBody>
        </p:sp>
        <p:sp>
          <p:nvSpPr>
            <p:cNvPr id="46" name="矩形 45"/>
            <p:cNvSpPr/>
            <p:nvPr/>
          </p:nvSpPr>
          <p:spPr>
            <a:xfrm>
              <a:off x="3920111" y="2972917"/>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lIns="108000" rIns="108000" rtlCol="0" anchor="ctr"/>
            <a:lstStyle/>
            <a:p>
              <a:r>
                <a:rPr lang="en-US" altLang="zh-CN" sz="1200" b="1" dirty="0">
                  <a:solidFill>
                    <a:srgbClr val="000066"/>
                  </a:solidFill>
                  <a:latin typeface="微软雅黑" panose="020B0503020204020204" pitchFamily="34" charset="-122"/>
                  <a:ea typeface="微软雅黑" panose="020B0503020204020204" pitchFamily="34" charset="-122"/>
                </a:rPr>
                <a:t>         3001</a:t>
              </a: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1 </a:t>
              </a:r>
              <a:r>
                <a:rPr lang="zh-CN" altLang="en-US" sz="1200" b="1" dirty="0">
                  <a:solidFill>
                    <a:srgbClr val="000066"/>
                  </a:solidFill>
                  <a:latin typeface="微软雅黑" panose="020B0503020204020204" pitchFamily="34" charset="-122"/>
                  <a:ea typeface="微软雅黑" panose="020B0503020204020204" pitchFamily="34" charset="-122"/>
                </a:rPr>
                <a:t>个字节块的右边界</a:t>
              </a:r>
              <a:r>
                <a:rPr lang="en-US" altLang="zh-CN" sz="1200" b="1" dirty="0">
                  <a:solidFill>
                    <a:srgbClr val="000066"/>
                  </a:solidFill>
                  <a:latin typeface="微软雅黑" panose="020B0503020204020204" pitchFamily="34" charset="-122"/>
                  <a:ea typeface="微软雅黑" panose="020B0503020204020204" pitchFamily="34" charset="-122"/>
                </a:rPr>
                <a:t>R</a:t>
              </a:r>
              <a:r>
                <a:rPr lang="en-US" altLang="zh-CN" sz="1200" b="1" baseline="-25000" dirty="0">
                  <a:solidFill>
                    <a:srgbClr val="000066"/>
                  </a:solidFill>
                  <a:latin typeface="微软雅黑" panose="020B0503020204020204" pitchFamily="34" charset="-122"/>
                  <a:ea typeface="微软雅黑" panose="020B0503020204020204" pitchFamily="34" charset="-122"/>
                </a:rPr>
                <a:t>1</a:t>
              </a:r>
              <a:r>
                <a:rPr lang="zh-CN" altLang="en-US" sz="1200" b="1" dirty="0">
                  <a:solidFill>
                    <a:srgbClr val="000066"/>
                  </a:solidFill>
                  <a:latin typeface="微软雅黑" panose="020B0503020204020204" pitchFamily="34" charset="-122"/>
                  <a:ea typeface="微软雅黑" panose="020B0503020204020204" pitchFamily="34" charset="-122"/>
                </a:rPr>
                <a:t>）</a:t>
              </a:r>
            </a:p>
          </p:txBody>
        </p:sp>
        <p:sp>
          <p:nvSpPr>
            <p:cNvPr id="47" name="矩形 46"/>
            <p:cNvSpPr/>
            <p:nvPr/>
          </p:nvSpPr>
          <p:spPr>
            <a:xfrm>
              <a:off x="3920111" y="3232127"/>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lIns="108000" rIns="108000" rtlCol="0" anchor="ctr"/>
            <a:lstStyle/>
            <a:p>
              <a:r>
                <a:rPr lang="en-US" altLang="zh-CN" sz="1200" b="1" dirty="0">
                  <a:solidFill>
                    <a:srgbClr val="000066"/>
                  </a:solidFill>
                  <a:latin typeface="微软雅黑" panose="020B0503020204020204" pitchFamily="34" charset="-122"/>
                  <a:ea typeface="微软雅黑" panose="020B0503020204020204" pitchFamily="34" charset="-122"/>
                </a:rPr>
                <a:t>         3501</a:t>
              </a: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2 </a:t>
              </a:r>
              <a:r>
                <a:rPr lang="zh-CN" altLang="en-US" sz="1200" b="1" dirty="0">
                  <a:solidFill>
                    <a:srgbClr val="000066"/>
                  </a:solidFill>
                  <a:latin typeface="微软雅黑" panose="020B0503020204020204" pitchFamily="34" charset="-122"/>
                  <a:ea typeface="微软雅黑" panose="020B0503020204020204" pitchFamily="34" charset="-122"/>
                </a:rPr>
                <a:t>个字节块的左边界</a:t>
              </a:r>
              <a:r>
                <a:rPr lang="en-US" altLang="zh-CN" sz="1200" b="1" dirty="0">
                  <a:solidFill>
                    <a:srgbClr val="000066"/>
                  </a:solidFill>
                  <a:latin typeface="微软雅黑" panose="020B0503020204020204" pitchFamily="34" charset="-122"/>
                  <a:ea typeface="微软雅黑" panose="020B0503020204020204" pitchFamily="34" charset="-122"/>
                </a:rPr>
                <a:t>L</a:t>
              </a:r>
              <a:r>
                <a:rPr lang="en-US" altLang="zh-CN" sz="1200" b="1" baseline="-25000" dirty="0">
                  <a:solidFill>
                    <a:srgbClr val="000066"/>
                  </a:solidFill>
                  <a:latin typeface="微软雅黑" panose="020B0503020204020204" pitchFamily="34" charset="-122"/>
                  <a:ea typeface="微软雅黑" panose="020B0503020204020204" pitchFamily="34" charset="-122"/>
                </a:rPr>
                <a:t>2</a:t>
              </a:r>
              <a:r>
                <a:rPr lang="zh-CN" altLang="en-US" sz="1200" b="1" dirty="0">
                  <a:solidFill>
                    <a:srgbClr val="000066"/>
                  </a:solidFill>
                  <a:latin typeface="微软雅黑" panose="020B0503020204020204" pitchFamily="34" charset="-122"/>
                  <a:ea typeface="微软雅黑" panose="020B0503020204020204" pitchFamily="34" charset="-122"/>
                </a:rPr>
                <a:t>）</a:t>
              </a:r>
            </a:p>
          </p:txBody>
        </p:sp>
        <p:sp>
          <p:nvSpPr>
            <p:cNvPr id="48" name="矩形 47"/>
            <p:cNvSpPr/>
            <p:nvPr/>
          </p:nvSpPr>
          <p:spPr>
            <a:xfrm>
              <a:off x="3920111" y="3492104"/>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lIns="108000" rIns="108000" rtlCol="0" anchor="ctr"/>
            <a:lstStyle/>
            <a:p>
              <a:r>
                <a:rPr lang="en-US" altLang="zh-CN" sz="1200" b="1" dirty="0">
                  <a:solidFill>
                    <a:srgbClr val="000066"/>
                  </a:solidFill>
                  <a:latin typeface="微软雅黑" panose="020B0503020204020204" pitchFamily="34" charset="-122"/>
                  <a:ea typeface="微软雅黑" panose="020B0503020204020204" pitchFamily="34" charset="-122"/>
                </a:rPr>
                <a:t>         4501</a:t>
              </a: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2 </a:t>
              </a:r>
              <a:r>
                <a:rPr lang="zh-CN" altLang="en-US" sz="1200" b="1" dirty="0">
                  <a:solidFill>
                    <a:srgbClr val="000066"/>
                  </a:solidFill>
                  <a:latin typeface="微软雅黑" panose="020B0503020204020204" pitchFamily="34" charset="-122"/>
                  <a:ea typeface="微软雅黑" panose="020B0503020204020204" pitchFamily="34" charset="-122"/>
                </a:rPr>
                <a:t>个字节块的右边界</a:t>
              </a:r>
              <a:r>
                <a:rPr lang="en-US" altLang="zh-CN" sz="1200" b="1" dirty="0">
                  <a:solidFill>
                    <a:srgbClr val="000066"/>
                  </a:solidFill>
                  <a:latin typeface="微软雅黑" panose="020B0503020204020204" pitchFamily="34" charset="-122"/>
                  <a:ea typeface="微软雅黑" panose="020B0503020204020204" pitchFamily="34" charset="-122"/>
                </a:rPr>
                <a:t>R</a:t>
              </a:r>
              <a:r>
                <a:rPr lang="en-US" altLang="zh-CN" sz="1200" b="1" baseline="-25000" dirty="0">
                  <a:solidFill>
                    <a:srgbClr val="000066"/>
                  </a:solidFill>
                  <a:latin typeface="微软雅黑" panose="020B0503020204020204" pitchFamily="34" charset="-122"/>
                  <a:ea typeface="微软雅黑" panose="020B0503020204020204" pitchFamily="34" charset="-122"/>
                </a:rPr>
                <a:t>2</a:t>
              </a:r>
              <a:r>
                <a:rPr lang="zh-CN" altLang="en-US" sz="1200" b="1" dirty="0">
                  <a:solidFill>
                    <a:srgbClr val="000066"/>
                  </a:solidFill>
                  <a:latin typeface="微软雅黑" panose="020B0503020204020204" pitchFamily="34" charset="-122"/>
                  <a:ea typeface="微软雅黑" panose="020B0503020204020204" pitchFamily="34" charset="-122"/>
                </a:rPr>
                <a:t>）</a:t>
              </a:r>
            </a:p>
          </p:txBody>
        </p:sp>
      </p:grpSp>
      <p:sp>
        <p:nvSpPr>
          <p:cNvPr id="13" name="矩形 12"/>
          <p:cNvSpPr/>
          <p:nvPr/>
        </p:nvSpPr>
        <p:spPr>
          <a:xfrm>
            <a:off x="906187" y="3939311"/>
            <a:ext cx="7432326" cy="338554"/>
          </a:xfrm>
          <a:prstGeom prst="rect">
            <a:avLst/>
          </a:prstGeom>
        </p:spPr>
        <p:txBody>
          <a:bodyPr wrap="square">
            <a:spAutoFit/>
          </a:bodyPr>
          <a:lstStyle/>
          <a:p>
            <a:pPr algn="ctr"/>
            <a:r>
              <a:rPr lang="zh-CN" altLang="en-US" sz="1600" b="1" dirty="0">
                <a:latin typeface="微软雅黑" panose="020B0503020204020204" pitchFamily="34" charset="-122"/>
                <a:ea typeface="微软雅黑" panose="020B0503020204020204" pitchFamily="34" charset="-122"/>
              </a:rPr>
              <a:t>左边界 </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第一个字节的序号，右边界 </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最后一个字节序号 </a:t>
            </a:r>
            <a:r>
              <a:rPr lang="en-US" altLang="zh-CN" sz="1600" b="1" dirty="0">
                <a:latin typeface="微软雅黑" panose="020B0503020204020204" pitchFamily="34" charset="-122"/>
                <a:ea typeface="微软雅黑" panose="020B0503020204020204" pitchFamily="34" charset="-122"/>
              </a:rPr>
              <a:t>+ 1</a:t>
            </a:r>
            <a:r>
              <a:rPr lang="zh-CN" altLang="en-US" sz="1600" b="1" dirty="0">
                <a:latin typeface="微软雅黑" panose="020B0503020204020204" pitchFamily="34" charset="-122"/>
                <a:ea typeface="微软雅黑" panose="020B0503020204020204" pitchFamily="34" charset="-122"/>
              </a:rPr>
              <a:t>。</a:t>
            </a:r>
          </a:p>
        </p:txBody>
      </p:sp>
      <p:sp>
        <p:nvSpPr>
          <p:cNvPr id="8" name="Line 5">
            <a:extLst>
              <a:ext uri="{FF2B5EF4-FFF2-40B4-BE49-F238E27FC236}">
                <a16:creationId xmlns:a16="http://schemas.microsoft.com/office/drawing/2014/main" id="{32F87209-A2F1-9115-1676-B64D97205151}"/>
              </a:ext>
            </a:extLst>
          </p:cNvPr>
          <p:cNvSpPr>
            <a:spLocks noChangeShapeType="1"/>
          </p:cNvSpPr>
          <p:nvPr/>
        </p:nvSpPr>
        <p:spPr bwMode="auto">
          <a:xfrm>
            <a:off x="1398811" y="1243557"/>
            <a:ext cx="1543723"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 name="Line 11">
            <a:extLst>
              <a:ext uri="{FF2B5EF4-FFF2-40B4-BE49-F238E27FC236}">
                <a16:creationId xmlns:a16="http://schemas.microsoft.com/office/drawing/2014/main" id="{41909E22-0E9A-DDE0-0268-3DD607EAC741}"/>
              </a:ext>
            </a:extLst>
          </p:cNvPr>
          <p:cNvSpPr>
            <a:spLocks noChangeShapeType="1"/>
          </p:cNvSpPr>
          <p:nvPr/>
        </p:nvSpPr>
        <p:spPr bwMode="auto">
          <a:xfrm flipH="1">
            <a:off x="1412101" y="1177508"/>
            <a:ext cx="0" cy="18082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5" name="Text Box 12">
            <a:extLst>
              <a:ext uri="{FF2B5EF4-FFF2-40B4-BE49-F238E27FC236}">
                <a16:creationId xmlns:a16="http://schemas.microsoft.com/office/drawing/2014/main" id="{9349366B-D21E-9D66-740F-67E1513EB089}"/>
              </a:ext>
            </a:extLst>
          </p:cNvPr>
          <p:cNvSpPr txBox="1">
            <a:spLocks noChangeArrowheads="1"/>
          </p:cNvSpPr>
          <p:nvPr/>
        </p:nvSpPr>
        <p:spPr bwMode="auto">
          <a:xfrm>
            <a:off x="1628515" y="1119518"/>
            <a:ext cx="954107" cy="276999"/>
          </a:xfrm>
          <a:prstGeom prst="rect">
            <a:avLst/>
          </a:prstGeom>
          <a:solidFill>
            <a:srgbClr val="C3E3F9"/>
          </a:solidFill>
          <a:ln>
            <a:noFill/>
          </a:ln>
          <a:effectLst/>
        </p:spPr>
        <p:txBody>
          <a:bodyPr wrap="none">
            <a:spAutoFit/>
          </a:bodyPr>
          <a:lstStyle/>
          <a:p>
            <a:r>
              <a:rPr lang="zh-CN" altLang="en-US" sz="1200" b="1" dirty="0">
                <a:latin typeface="微软雅黑" pitchFamily="34" charset="-122"/>
                <a:ea typeface="微软雅黑" pitchFamily="34" charset="-122"/>
              </a:rPr>
              <a:t>连续字节块</a:t>
            </a:r>
          </a:p>
        </p:txBody>
      </p:sp>
      <p:sp>
        <p:nvSpPr>
          <p:cNvPr id="36" name="Text Box 24">
            <a:extLst>
              <a:ext uri="{FF2B5EF4-FFF2-40B4-BE49-F238E27FC236}">
                <a16:creationId xmlns:a16="http://schemas.microsoft.com/office/drawing/2014/main" id="{DF2ED14E-4E91-5625-A6C9-9A553292CA70}"/>
              </a:ext>
            </a:extLst>
          </p:cNvPr>
          <p:cNvSpPr txBox="1">
            <a:spLocks noChangeArrowheads="1"/>
          </p:cNvSpPr>
          <p:nvPr/>
        </p:nvSpPr>
        <p:spPr bwMode="auto">
          <a:xfrm>
            <a:off x="3556377" y="1110856"/>
            <a:ext cx="1548822"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第</a:t>
            </a:r>
            <a:r>
              <a:rPr lang="en-US" altLang="zh-CN" sz="1200" b="1" dirty="0">
                <a:latin typeface="微软雅黑" pitchFamily="34" charset="-122"/>
                <a:ea typeface="微软雅黑" pitchFamily="34" charset="-122"/>
              </a:rPr>
              <a:t>1</a:t>
            </a:r>
            <a:r>
              <a:rPr lang="zh-CN" altLang="en-US" sz="1200" b="1" dirty="0">
                <a:latin typeface="微软雅黑" pitchFamily="34" charset="-122"/>
                <a:ea typeface="微软雅黑" pitchFamily="34" charset="-122"/>
              </a:rPr>
              <a:t>个不连续字节块</a:t>
            </a:r>
          </a:p>
        </p:txBody>
      </p:sp>
      <p:sp>
        <p:nvSpPr>
          <p:cNvPr id="39" name="Text Box 25">
            <a:extLst>
              <a:ext uri="{FF2B5EF4-FFF2-40B4-BE49-F238E27FC236}">
                <a16:creationId xmlns:a16="http://schemas.microsoft.com/office/drawing/2014/main" id="{9C4DD6B6-8229-5AAF-7893-F18F091CD4D1}"/>
              </a:ext>
            </a:extLst>
          </p:cNvPr>
          <p:cNvSpPr txBox="1">
            <a:spLocks noChangeArrowheads="1"/>
          </p:cNvSpPr>
          <p:nvPr/>
        </p:nvSpPr>
        <p:spPr bwMode="auto">
          <a:xfrm>
            <a:off x="5924748" y="1104359"/>
            <a:ext cx="1510350"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第</a:t>
            </a:r>
            <a:r>
              <a:rPr lang="en-US" altLang="zh-CN" sz="1200" b="1" dirty="0">
                <a:latin typeface="微软雅黑" pitchFamily="34" charset="-122"/>
                <a:ea typeface="微软雅黑" pitchFamily="34" charset="-122"/>
              </a:rPr>
              <a:t>2</a:t>
            </a:r>
            <a:r>
              <a:rPr lang="zh-CN" altLang="en-US" sz="1200" b="1" dirty="0">
                <a:latin typeface="微软雅黑" pitchFamily="34" charset="-122"/>
                <a:ea typeface="微软雅黑" pitchFamily="34" charset="-122"/>
              </a:rPr>
              <a:t>个不连续字节块</a:t>
            </a:r>
          </a:p>
        </p:txBody>
      </p:sp>
      <p:sp>
        <p:nvSpPr>
          <p:cNvPr id="40" name="Line 11">
            <a:extLst>
              <a:ext uri="{FF2B5EF4-FFF2-40B4-BE49-F238E27FC236}">
                <a16:creationId xmlns:a16="http://schemas.microsoft.com/office/drawing/2014/main" id="{B3EF76DC-DEAE-B5C9-DD9E-482ACB9E037C}"/>
              </a:ext>
            </a:extLst>
          </p:cNvPr>
          <p:cNvSpPr>
            <a:spLocks noChangeShapeType="1"/>
          </p:cNvSpPr>
          <p:nvPr/>
        </p:nvSpPr>
        <p:spPr bwMode="auto">
          <a:xfrm flipH="1">
            <a:off x="2942534" y="1177508"/>
            <a:ext cx="0" cy="18082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Tree>
    <p:extLst>
      <p:ext uri="{BB962C8B-B14F-4D97-AF65-F5344CB8AC3E}">
        <p14:creationId xmlns:p14="http://schemas.microsoft.com/office/powerpoint/2010/main" val="2901669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nodeType="clickEffect">
                                  <p:stCondLst>
                                    <p:cond delay="0"/>
                                  </p:stCondLst>
                                  <p:childTnLst>
                                    <p:anim calcmode="discrete" valueType="str">
                                      <p:cBhvr>
                                        <p:cTn id="6" dur="1000" fill="hold"/>
                                        <p:tgtEl>
                                          <p:spTgt spid="41"/>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grpId="0" nodeType="withEffect">
                                  <p:stCondLst>
                                    <p:cond delay="0"/>
                                  </p:stCondLst>
                                  <p:childTnLst>
                                    <p:anim calcmode="discrete" valueType="str">
                                      <p:cBhvr>
                                        <p:cTn id="8" dur="1000" fill="hold"/>
                                        <p:tgtEl>
                                          <p:spTgt spid="38"/>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35" presetClass="emph" presetSubtype="0" repeatCount="3000" fill="hold" nodeType="clickEffect">
                                  <p:stCondLst>
                                    <p:cond delay="0"/>
                                  </p:stCondLst>
                                  <p:childTnLst>
                                    <p:anim calcmode="discrete" valueType="str">
                                      <p:cBhvr>
                                        <p:cTn id="12" dur="1000" fill="hold"/>
                                        <p:tgtEl>
                                          <p:spTgt spid="43"/>
                                        </p:tgtEl>
                                        <p:attrNameLst>
                                          <p:attrName>style.visibility</p:attrName>
                                        </p:attrNameLst>
                                      </p:cBhvr>
                                      <p:tavLst>
                                        <p:tav tm="0">
                                          <p:val>
                                            <p:strVal val="hidden"/>
                                          </p:val>
                                        </p:tav>
                                        <p:tav tm="50000">
                                          <p:val>
                                            <p:strVal val="visible"/>
                                          </p:val>
                                        </p:tav>
                                      </p:tavLst>
                                    </p:anim>
                                  </p:childTnLst>
                                </p:cTn>
                              </p:par>
                            </p:childTnLst>
                          </p:cTn>
                        </p:par>
                      </p:childTnLst>
                    </p:cTn>
                  </p:par>
                  <p:par>
                    <p:cTn id="13" fill="hold">
                      <p:stCondLst>
                        <p:cond delay="indefinite"/>
                      </p:stCondLst>
                      <p:childTnLst>
                        <p:par>
                          <p:cTn id="14" fill="hold">
                            <p:stCondLst>
                              <p:cond delay="0"/>
                            </p:stCondLst>
                            <p:childTnLst>
                              <p:par>
                                <p:cTn id="15" presetID="35" presetClass="emph" presetSubtype="0" repeatCount="3000" fill="hold" nodeType="clickEffect">
                                  <p:stCondLst>
                                    <p:cond delay="0"/>
                                  </p:stCondLst>
                                  <p:childTnLst>
                                    <p:anim calcmode="discrete" valueType="str">
                                      <p:cBhvr>
                                        <p:cTn id="16"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par>
                    <p:cTn id="17" fill="hold">
                      <p:stCondLst>
                        <p:cond delay="indefinite"/>
                      </p:stCondLst>
                      <p:childTnLst>
                        <p:par>
                          <p:cTn id="18" fill="hold">
                            <p:stCondLst>
                              <p:cond delay="0"/>
                            </p:stCondLst>
                            <p:childTnLst>
                              <p:par>
                                <p:cTn id="19" presetID="35" presetClass="emph" presetSubtype="0" repeatCount="3000" fill="hold" nodeType="clickEffect">
                                  <p:stCondLst>
                                    <p:cond delay="0"/>
                                  </p:stCondLst>
                                  <p:childTnLst>
                                    <p:anim calcmode="discrete" valueType="str">
                                      <p:cBhvr>
                                        <p:cTn id="20"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9"/>
          <p:cNvSpPr>
            <a:spLocks noChangeArrowheads="1"/>
          </p:cNvSpPr>
          <p:nvPr/>
        </p:nvSpPr>
        <p:spPr bwMode="auto">
          <a:xfrm>
            <a:off x="2629135" y="1307922"/>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7" name="Rectangle 10"/>
          <p:cNvSpPr>
            <a:spLocks noChangeArrowheads="1"/>
          </p:cNvSpPr>
          <p:nvPr/>
        </p:nvSpPr>
        <p:spPr bwMode="auto">
          <a:xfrm>
            <a:off x="2629135" y="1914347"/>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8" name="Line 16"/>
          <p:cNvSpPr>
            <a:spLocks noChangeShapeType="1"/>
          </p:cNvSpPr>
          <p:nvPr/>
        </p:nvSpPr>
        <p:spPr bwMode="auto">
          <a:xfrm>
            <a:off x="3637198" y="1236484"/>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Rectangle 8"/>
          <p:cNvSpPr>
            <a:spLocks noChangeArrowheads="1"/>
          </p:cNvSpPr>
          <p:nvPr/>
        </p:nvSpPr>
        <p:spPr bwMode="auto">
          <a:xfrm>
            <a:off x="2700573" y="1053922"/>
            <a:ext cx="5609709" cy="1230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5.8.1                       </a:t>
            </a:r>
            <a:r>
              <a:rPr lang="zh-CN" altLang="en-US" sz="2000" b="1" dirty="0">
                <a:solidFill>
                  <a:schemeClr val="bg1"/>
                </a:solidFill>
                <a:latin typeface="微软雅黑" pitchFamily="34" charset="-122"/>
                <a:ea typeface="微软雅黑" pitchFamily="34" charset="-122"/>
              </a:rPr>
              <a:t>利用滑动窗口实现流量控制</a:t>
            </a:r>
          </a:p>
          <a:p>
            <a:pPr eaLnBrk="0" hangingPunct="0">
              <a:lnSpc>
                <a:spcPct val="200000"/>
              </a:lnSpc>
            </a:pPr>
            <a:r>
              <a:rPr lang="en-US" altLang="zh-CN" sz="2000" b="1" dirty="0">
                <a:solidFill>
                  <a:schemeClr val="bg1"/>
                </a:solidFill>
                <a:latin typeface="微软雅黑" pitchFamily="34" charset="-122"/>
                <a:ea typeface="微软雅黑" pitchFamily="34" charset="-122"/>
              </a:rPr>
              <a:t>5.8.2                                       TCP </a:t>
            </a:r>
            <a:r>
              <a:rPr lang="zh-CN" altLang="en-US" sz="2000" b="1" dirty="0">
                <a:solidFill>
                  <a:schemeClr val="bg1"/>
                </a:solidFill>
                <a:latin typeface="微软雅黑" pitchFamily="34" charset="-122"/>
                <a:ea typeface="微软雅黑" pitchFamily="34" charset="-122"/>
              </a:rPr>
              <a:t>的传输效率</a:t>
            </a:r>
          </a:p>
        </p:txBody>
      </p:sp>
      <p:sp>
        <p:nvSpPr>
          <p:cNvPr id="10" name="Rectangle 27"/>
          <p:cNvSpPr>
            <a:spLocks noChangeArrowheads="1"/>
          </p:cNvSpPr>
          <p:nvPr/>
        </p:nvSpPr>
        <p:spPr bwMode="auto">
          <a:xfrm>
            <a:off x="639730" y="130792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1" name="Rectangle 29"/>
          <p:cNvSpPr>
            <a:spLocks noChangeArrowheads="1"/>
          </p:cNvSpPr>
          <p:nvPr/>
        </p:nvSpPr>
        <p:spPr bwMode="auto">
          <a:xfrm>
            <a:off x="648619" y="1402854"/>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5.8</a:t>
            </a:r>
          </a:p>
          <a:p>
            <a:pPr eaLnBrk="0" hangingPunct="0"/>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的流量控制</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56346435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19041"/>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124057" y="576770"/>
            <a:ext cx="48958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5.8.1   </a:t>
            </a:r>
            <a:r>
              <a:rPr lang="zh-CN" altLang="en-US" sz="2400" b="1" dirty="0">
                <a:solidFill>
                  <a:schemeClr val="bg1"/>
                </a:solidFill>
                <a:latin typeface="微软雅黑" pitchFamily="34" charset="-122"/>
                <a:ea typeface="微软雅黑" pitchFamily="34" charset="-122"/>
              </a:rPr>
              <a:t>利用滑动窗口实现流量控制</a:t>
            </a:r>
          </a:p>
        </p:txBody>
      </p:sp>
      <p:sp>
        <p:nvSpPr>
          <p:cNvPr id="7" name="Rectangle 8"/>
          <p:cNvSpPr>
            <a:spLocks noChangeArrowheads="1"/>
          </p:cNvSpPr>
          <p:nvPr/>
        </p:nvSpPr>
        <p:spPr bwMode="auto">
          <a:xfrm>
            <a:off x="556963" y="1005171"/>
            <a:ext cx="8048776" cy="2586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如果发送方把数据发送得过快，接收方就可能来不及接收，这就会造成数据的丢失。</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流量控制</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(flow control) </a:t>
            </a:r>
            <a:r>
              <a:rPr lang="zh-CN" altLang="en-US" sz="2000" b="1" dirty="0">
                <a:latin typeface="微软雅黑" pitchFamily="34" charset="-122"/>
                <a:ea typeface="微软雅黑" pitchFamily="34" charset="-122"/>
              </a:rPr>
              <a:t>：接收方控制发送方的发送速率，让自己来得及接收。</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利用</a:t>
            </a:r>
            <a:r>
              <a:rPr lang="zh-CN" altLang="en-US" sz="2000" b="1" dirty="0">
                <a:solidFill>
                  <a:srgbClr val="0000FF"/>
                </a:solidFill>
                <a:latin typeface="微软雅黑" pitchFamily="34" charset="-122"/>
                <a:ea typeface="微软雅黑" pitchFamily="34" charset="-122"/>
              </a:rPr>
              <a:t>滑动窗口机制</a:t>
            </a:r>
            <a:r>
              <a:rPr lang="zh-CN" altLang="en-US" sz="2000" b="1" dirty="0">
                <a:latin typeface="微软雅黑" pitchFamily="34" charset="-122"/>
                <a:ea typeface="微软雅黑" pitchFamily="34" charset="-122"/>
              </a:rPr>
              <a:t>可以很方便地在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连接上实现对发送方的流量控制。 </a:t>
            </a:r>
            <a:endParaRPr lang="en-US" altLang="zh-CN" sz="2000" b="1" dirty="0">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3059198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1924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2675658" y="596154"/>
            <a:ext cx="37753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利用可变窗口进行流量控制举例</a:t>
            </a:r>
          </a:p>
        </p:txBody>
      </p:sp>
      <p:sp>
        <p:nvSpPr>
          <p:cNvPr id="7" name="圆角矩形 6"/>
          <p:cNvSpPr/>
          <p:nvPr/>
        </p:nvSpPr>
        <p:spPr>
          <a:xfrm>
            <a:off x="556963" y="1016058"/>
            <a:ext cx="8048776"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Line 4"/>
          <p:cNvSpPr>
            <a:spLocks noChangeShapeType="1"/>
          </p:cNvSpPr>
          <p:nvPr/>
        </p:nvSpPr>
        <p:spPr bwMode="auto">
          <a:xfrm>
            <a:off x="4175828" y="1875281"/>
            <a:ext cx="0" cy="2257416"/>
          </a:xfrm>
          <a:prstGeom prst="line">
            <a:avLst/>
          </a:prstGeom>
          <a:noFill/>
          <a:ln w="19050">
            <a:solidFill>
              <a:srgbClr val="0033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2" name="组合 1"/>
          <p:cNvGrpSpPr/>
          <p:nvPr/>
        </p:nvGrpSpPr>
        <p:grpSpPr>
          <a:xfrm>
            <a:off x="1677792" y="2430765"/>
            <a:ext cx="2498033" cy="243656"/>
            <a:chOff x="1677792" y="2484555"/>
            <a:chExt cx="2498033" cy="243656"/>
          </a:xfrm>
        </p:grpSpPr>
        <p:sp>
          <p:nvSpPr>
            <p:cNvPr id="24" name="Line 19"/>
            <p:cNvSpPr>
              <a:spLocks noChangeShapeType="1"/>
            </p:cNvSpPr>
            <p:nvPr/>
          </p:nvSpPr>
          <p:spPr bwMode="auto">
            <a:xfrm flipH="1">
              <a:off x="1677792" y="2719123"/>
              <a:ext cx="2498033"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5" name="Rectangle 20"/>
            <p:cNvSpPr>
              <a:spLocks noChangeArrowheads="1"/>
            </p:cNvSpPr>
            <p:nvPr/>
          </p:nvSpPr>
          <p:spPr bwMode="auto">
            <a:xfrm flipH="1">
              <a:off x="1824091" y="2484555"/>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201, </a:t>
              </a:r>
              <a:r>
                <a:rPr kumimoji="1" lang="en-US" altLang="zh-CN" sz="1000" b="1" dirty="0" err="1">
                  <a:solidFill>
                    <a:srgbClr val="0000FF"/>
                  </a:solidFill>
                  <a:latin typeface="微软雅黑" pitchFamily="34" charset="-122"/>
                  <a:ea typeface="微软雅黑" pitchFamily="34" charset="-122"/>
                </a:rPr>
                <a:t>rwnd</a:t>
              </a:r>
              <a:r>
                <a:rPr kumimoji="1" lang="en-US" altLang="zh-CN" sz="1000" b="1" dirty="0">
                  <a:solidFill>
                    <a:srgbClr val="0000FF"/>
                  </a:solidFill>
                  <a:latin typeface="微软雅黑" pitchFamily="34" charset="-122"/>
                  <a:ea typeface="微软雅黑" pitchFamily="34" charset="-122"/>
                </a:rPr>
                <a:t> = 300</a:t>
              </a:r>
            </a:p>
          </p:txBody>
        </p:sp>
      </p:grpSp>
      <p:grpSp>
        <p:nvGrpSpPr>
          <p:cNvPr id="4" name="组合 3"/>
          <p:cNvGrpSpPr/>
          <p:nvPr/>
        </p:nvGrpSpPr>
        <p:grpSpPr>
          <a:xfrm>
            <a:off x="1685307" y="3824413"/>
            <a:ext cx="2490520" cy="243656"/>
            <a:chOff x="1685307" y="3878203"/>
            <a:chExt cx="2490520" cy="243656"/>
          </a:xfrm>
        </p:grpSpPr>
        <p:sp>
          <p:nvSpPr>
            <p:cNvPr id="26" name="Line 21"/>
            <p:cNvSpPr>
              <a:spLocks noChangeShapeType="1"/>
            </p:cNvSpPr>
            <p:nvPr/>
          </p:nvSpPr>
          <p:spPr bwMode="auto">
            <a:xfrm flipH="1">
              <a:off x="1685307" y="4112773"/>
              <a:ext cx="2490520"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7"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601, </a:t>
              </a:r>
              <a:r>
                <a:rPr kumimoji="1" lang="en-US" altLang="zh-CN" sz="1000" b="1" dirty="0" err="1">
                  <a:solidFill>
                    <a:srgbClr val="0000FF"/>
                  </a:solidFill>
                  <a:latin typeface="微软雅黑" pitchFamily="34" charset="-122"/>
                  <a:ea typeface="微软雅黑" pitchFamily="34" charset="-122"/>
                </a:rPr>
                <a:t>rwnd</a:t>
              </a:r>
              <a:r>
                <a:rPr kumimoji="1" lang="en-US" altLang="zh-CN" sz="1000" b="1" dirty="0">
                  <a:solidFill>
                    <a:srgbClr val="0000FF"/>
                  </a:solidFill>
                  <a:latin typeface="微软雅黑" pitchFamily="34" charset="-122"/>
                  <a:ea typeface="微软雅黑" pitchFamily="34" charset="-122"/>
                </a:rPr>
                <a:t> = 0</a:t>
              </a:r>
            </a:p>
          </p:txBody>
        </p:sp>
      </p:grpSp>
      <p:grpSp>
        <p:nvGrpSpPr>
          <p:cNvPr id="3" name="组合 2"/>
          <p:cNvGrpSpPr/>
          <p:nvPr/>
        </p:nvGrpSpPr>
        <p:grpSpPr>
          <a:xfrm>
            <a:off x="1675914" y="3359574"/>
            <a:ext cx="2499912" cy="243656"/>
            <a:chOff x="1675914" y="3413364"/>
            <a:chExt cx="2499912" cy="243656"/>
          </a:xfrm>
        </p:grpSpPr>
        <p:sp>
          <p:nvSpPr>
            <p:cNvPr id="28" name="Line 23"/>
            <p:cNvSpPr>
              <a:spLocks noChangeShapeType="1"/>
            </p:cNvSpPr>
            <p:nvPr/>
          </p:nvSpPr>
          <p:spPr bwMode="auto">
            <a:xfrm flipH="1">
              <a:off x="1675914" y="3643597"/>
              <a:ext cx="2499912"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9" name="Rectangle 24"/>
            <p:cNvSpPr>
              <a:spLocks noChangeArrowheads="1"/>
            </p:cNvSpPr>
            <p:nvPr/>
          </p:nvSpPr>
          <p:spPr bwMode="auto">
            <a:xfrm flipH="1">
              <a:off x="1824091" y="3413364"/>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501, </a:t>
              </a:r>
              <a:r>
                <a:rPr kumimoji="1" lang="en-US" altLang="zh-CN" sz="1000" b="1" dirty="0" err="1">
                  <a:solidFill>
                    <a:srgbClr val="0000FF"/>
                  </a:solidFill>
                  <a:latin typeface="微软雅黑" pitchFamily="34" charset="-122"/>
                  <a:ea typeface="微软雅黑" pitchFamily="34" charset="-122"/>
                </a:rPr>
                <a:t>rwnd</a:t>
              </a:r>
              <a:r>
                <a:rPr kumimoji="1" lang="en-US" altLang="zh-CN" sz="1000" b="1" dirty="0">
                  <a:solidFill>
                    <a:srgbClr val="0000FF"/>
                  </a:solidFill>
                  <a:latin typeface="微软雅黑" pitchFamily="34" charset="-122"/>
                  <a:ea typeface="微软雅黑" pitchFamily="34" charset="-122"/>
                </a:rPr>
                <a:t> = 100</a:t>
              </a:r>
            </a:p>
          </p:txBody>
        </p:sp>
      </p:grpSp>
      <p:sp>
        <p:nvSpPr>
          <p:cNvPr id="30" name="Rectangle 25"/>
          <p:cNvSpPr>
            <a:spLocks noChangeArrowheads="1"/>
          </p:cNvSpPr>
          <p:nvPr/>
        </p:nvSpPr>
        <p:spPr bwMode="auto">
          <a:xfrm>
            <a:off x="1579145" y="1676684"/>
            <a:ext cx="28854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itchFamily="34" charset="-122"/>
                <a:ea typeface="微软雅黑" pitchFamily="34" charset="-122"/>
              </a:rPr>
              <a:t>A</a:t>
            </a:r>
          </a:p>
        </p:txBody>
      </p:sp>
      <p:sp>
        <p:nvSpPr>
          <p:cNvPr id="31" name="Rectangle 26"/>
          <p:cNvSpPr>
            <a:spLocks noChangeArrowheads="1"/>
          </p:cNvSpPr>
          <p:nvPr/>
        </p:nvSpPr>
        <p:spPr bwMode="auto">
          <a:xfrm>
            <a:off x="4064966" y="1676684"/>
            <a:ext cx="27892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itchFamily="34" charset="-122"/>
                <a:ea typeface="微软雅黑" pitchFamily="34" charset="-122"/>
              </a:rPr>
              <a:t>B</a:t>
            </a:r>
          </a:p>
        </p:txBody>
      </p:sp>
      <p:sp>
        <p:nvSpPr>
          <p:cNvPr id="32" name="Rectangle 27"/>
          <p:cNvSpPr>
            <a:spLocks noChangeArrowheads="1"/>
          </p:cNvSpPr>
          <p:nvPr/>
        </p:nvSpPr>
        <p:spPr bwMode="auto">
          <a:xfrm>
            <a:off x="4235218" y="2519487"/>
            <a:ext cx="285334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C00000"/>
                </a:solidFill>
                <a:latin typeface="微软雅黑" pitchFamily="34" charset="-122"/>
                <a:ea typeface="微软雅黑" pitchFamily="34" charset="-122"/>
              </a:rPr>
              <a:t>允许 </a:t>
            </a:r>
            <a:r>
              <a:rPr kumimoji="1" lang="en-US" altLang="zh-CN" sz="1100" b="1" dirty="0">
                <a:solidFill>
                  <a:srgbClr val="C00000"/>
                </a:solidFill>
                <a:latin typeface="微软雅黑" pitchFamily="34" charset="-122"/>
                <a:ea typeface="微软雅黑" pitchFamily="34" charset="-122"/>
              </a:rPr>
              <a:t>A </a:t>
            </a:r>
            <a:r>
              <a:rPr kumimoji="1" lang="zh-CN" altLang="en-US" sz="1100" b="1" dirty="0">
                <a:solidFill>
                  <a:srgbClr val="C00000"/>
                </a:solidFill>
                <a:latin typeface="微软雅黑" pitchFamily="34" charset="-122"/>
                <a:ea typeface="微软雅黑" pitchFamily="34" charset="-122"/>
              </a:rPr>
              <a:t>发送序号 </a:t>
            </a:r>
            <a:r>
              <a:rPr kumimoji="1" lang="en-US" altLang="zh-CN" sz="1100" b="1" dirty="0">
                <a:solidFill>
                  <a:srgbClr val="C00000"/>
                </a:solidFill>
                <a:latin typeface="微软雅黑" pitchFamily="34" charset="-122"/>
                <a:ea typeface="微软雅黑" pitchFamily="34" charset="-122"/>
              </a:rPr>
              <a:t>201 </a:t>
            </a:r>
            <a:r>
              <a:rPr kumimoji="1" lang="zh-CN" altLang="en-US" sz="1100" b="1" dirty="0">
                <a:solidFill>
                  <a:srgbClr val="C00000"/>
                </a:solidFill>
                <a:latin typeface="微软雅黑" pitchFamily="34" charset="-122"/>
                <a:ea typeface="微软雅黑" pitchFamily="34" charset="-122"/>
              </a:rPr>
              <a:t>至 </a:t>
            </a:r>
            <a:r>
              <a:rPr kumimoji="1" lang="en-US" altLang="zh-CN" sz="1100" b="1" dirty="0">
                <a:solidFill>
                  <a:srgbClr val="C00000"/>
                </a:solidFill>
                <a:latin typeface="微软雅黑" pitchFamily="34" charset="-122"/>
                <a:ea typeface="微软雅黑" pitchFamily="34" charset="-122"/>
              </a:rPr>
              <a:t>500  </a:t>
            </a:r>
            <a:r>
              <a:rPr kumimoji="1" lang="zh-CN" altLang="en-US" sz="1100" b="1" dirty="0">
                <a:solidFill>
                  <a:srgbClr val="C00000"/>
                </a:solidFill>
                <a:latin typeface="微软雅黑" pitchFamily="34" charset="-122"/>
                <a:ea typeface="微软雅黑" pitchFamily="34" charset="-122"/>
              </a:rPr>
              <a:t>共 </a:t>
            </a:r>
            <a:r>
              <a:rPr kumimoji="1" lang="en-US" altLang="zh-CN" sz="1100" b="1" dirty="0">
                <a:solidFill>
                  <a:srgbClr val="C00000"/>
                </a:solidFill>
                <a:latin typeface="微软雅黑" pitchFamily="34" charset="-122"/>
                <a:ea typeface="微软雅黑" pitchFamily="34" charset="-122"/>
              </a:rPr>
              <a:t>300 </a:t>
            </a:r>
            <a:r>
              <a:rPr kumimoji="1" lang="zh-CN" altLang="en-US" sz="1100" b="1" dirty="0">
                <a:solidFill>
                  <a:srgbClr val="C00000"/>
                </a:solidFill>
                <a:latin typeface="微软雅黑" pitchFamily="34" charset="-122"/>
                <a:ea typeface="微软雅黑" pitchFamily="34" charset="-122"/>
              </a:rPr>
              <a:t>字节</a:t>
            </a:r>
          </a:p>
        </p:txBody>
      </p:sp>
      <p:grpSp>
        <p:nvGrpSpPr>
          <p:cNvPr id="46" name="组合 45"/>
          <p:cNvGrpSpPr/>
          <p:nvPr/>
        </p:nvGrpSpPr>
        <p:grpSpPr>
          <a:xfrm>
            <a:off x="1694704" y="1947714"/>
            <a:ext cx="5692018" cy="352971"/>
            <a:chOff x="1694704" y="1947714"/>
            <a:chExt cx="5692018" cy="352971"/>
          </a:xfrm>
        </p:grpSpPr>
        <p:sp>
          <p:nvSpPr>
            <p:cNvPr id="18" name="Line 13"/>
            <p:cNvSpPr>
              <a:spLocks noChangeShapeType="1"/>
            </p:cNvSpPr>
            <p:nvPr/>
          </p:nvSpPr>
          <p:spPr bwMode="auto">
            <a:xfrm>
              <a:off x="1694704" y="2190955"/>
              <a:ext cx="2509724"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9" name="Rectangle 14"/>
            <p:cNvSpPr>
              <a:spLocks noChangeArrowheads="1"/>
            </p:cNvSpPr>
            <p:nvPr/>
          </p:nvSpPr>
          <p:spPr bwMode="auto">
            <a:xfrm>
              <a:off x="2304992" y="1947714"/>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101, DATA</a:t>
              </a:r>
            </a:p>
          </p:txBody>
        </p:sp>
        <p:sp>
          <p:nvSpPr>
            <p:cNvPr id="33" name="Rectangle 28"/>
            <p:cNvSpPr>
              <a:spLocks noChangeArrowheads="1"/>
            </p:cNvSpPr>
            <p:nvPr/>
          </p:nvSpPr>
          <p:spPr bwMode="auto">
            <a:xfrm>
              <a:off x="4235217" y="2041640"/>
              <a:ext cx="315150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101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200</a:t>
              </a:r>
              <a:r>
                <a:rPr kumimoji="1" lang="zh-CN" altLang="en-US" sz="1100" b="1" dirty="0">
                  <a:latin typeface="微软雅黑" pitchFamily="34" charset="-122"/>
                  <a:ea typeface="微软雅黑" pitchFamily="34" charset="-122"/>
                </a:rPr>
                <a:t>，还能发送 </a:t>
              </a:r>
              <a:r>
                <a:rPr kumimoji="1" lang="en-US" altLang="zh-CN" sz="1100" b="1" dirty="0">
                  <a:latin typeface="微软雅黑" pitchFamily="34" charset="-122"/>
                  <a:ea typeface="微软雅黑" pitchFamily="34" charset="-122"/>
                </a:rPr>
                <a:t>200 </a:t>
              </a:r>
              <a:r>
                <a:rPr kumimoji="1" lang="zh-CN" altLang="en-US" sz="1100" b="1" dirty="0">
                  <a:latin typeface="微软雅黑" pitchFamily="34" charset="-122"/>
                  <a:ea typeface="微软雅黑" pitchFamily="34" charset="-122"/>
                </a:rPr>
                <a:t>字节</a:t>
              </a:r>
            </a:p>
          </p:txBody>
        </p:sp>
      </p:grpSp>
      <p:grpSp>
        <p:nvGrpSpPr>
          <p:cNvPr id="49" name="组合 48"/>
          <p:cNvGrpSpPr/>
          <p:nvPr/>
        </p:nvGrpSpPr>
        <p:grpSpPr>
          <a:xfrm>
            <a:off x="1693764" y="2637168"/>
            <a:ext cx="6257216" cy="365979"/>
            <a:chOff x="1693764" y="2637168"/>
            <a:chExt cx="6257216" cy="365979"/>
          </a:xfrm>
        </p:grpSpPr>
        <p:sp>
          <p:nvSpPr>
            <p:cNvPr id="16" name="Line 11"/>
            <p:cNvSpPr>
              <a:spLocks noChangeShapeType="1"/>
            </p:cNvSpPr>
            <p:nvPr/>
          </p:nvSpPr>
          <p:spPr bwMode="auto">
            <a:xfrm>
              <a:off x="1693764" y="2889080"/>
              <a:ext cx="2482062"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7" name="Rectangle 12"/>
            <p:cNvSpPr>
              <a:spLocks noChangeArrowheads="1"/>
            </p:cNvSpPr>
            <p:nvPr/>
          </p:nvSpPr>
          <p:spPr bwMode="auto">
            <a:xfrm>
              <a:off x="2304992" y="2637168"/>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301, DATA</a:t>
              </a:r>
            </a:p>
          </p:txBody>
        </p:sp>
        <p:sp>
          <p:nvSpPr>
            <p:cNvPr id="34" name="Rectangle 29"/>
            <p:cNvSpPr>
              <a:spLocks noChangeArrowheads="1"/>
            </p:cNvSpPr>
            <p:nvPr/>
          </p:nvSpPr>
          <p:spPr bwMode="auto">
            <a:xfrm>
              <a:off x="4235218" y="2744102"/>
              <a:ext cx="37157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a:latin typeface="微软雅黑" pitchFamily="34" charset="-122"/>
                  <a:ea typeface="微软雅黑" pitchFamily="34" charset="-122"/>
                </a:rPr>
                <a:t>A </a:t>
              </a:r>
              <a:r>
                <a:rPr kumimoji="1" lang="zh-CN" altLang="en-US" sz="1100" b="1">
                  <a:latin typeface="微软雅黑" pitchFamily="34" charset="-122"/>
                  <a:ea typeface="微软雅黑" pitchFamily="34" charset="-122"/>
                </a:rPr>
                <a:t>发送了序号 </a:t>
              </a:r>
              <a:r>
                <a:rPr kumimoji="1" lang="en-US" altLang="zh-CN" sz="1100" b="1">
                  <a:latin typeface="微软雅黑" pitchFamily="34" charset="-122"/>
                  <a:ea typeface="微软雅黑" pitchFamily="34" charset="-122"/>
                </a:rPr>
                <a:t>301 </a:t>
              </a:r>
              <a:r>
                <a:rPr kumimoji="1" lang="zh-CN" altLang="en-US" sz="1100" b="1">
                  <a:latin typeface="微软雅黑" pitchFamily="34" charset="-122"/>
                  <a:ea typeface="微软雅黑" pitchFamily="34" charset="-122"/>
                </a:rPr>
                <a:t>至 </a:t>
              </a:r>
              <a:r>
                <a:rPr kumimoji="1" lang="en-US" altLang="zh-CN" sz="1100" b="1">
                  <a:latin typeface="微软雅黑" pitchFamily="34" charset="-122"/>
                  <a:ea typeface="微软雅黑" pitchFamily="34" charset="-122"/>
                </a:rPr>
                <a:t>400</a:t>
              </a:r>
              <a:r>
                <a:rPr kumimoji="1" lang="zh-CN" altLang="en-US" sz="1100" b="1">
                  <a:latin typeface="微软雅黑" pitchFamily="34" charset="-122"/>
                  <a:ea typeface="微软雅黑" pitchFamily="34" charset="-122"/>
                </a:rPr>
                <a:t>，还能再发送 </a:t>
              </a:r>
              <a:r>
                <a:rPr kumimoji="1" lang="en-US" altLang="zh-CN" sz="1100" b="1">
                  <a:latin typeface="微软雅黑" pitchFamily="34" charset="-122"/>
                  <a:ea typeface="微软雅黑" pitchFamily="34" charset="-122"/>
                </a:rPr>
                <a:t>100 </a:t>
              </a:r>
              <a:r>
                <a:rPr kumimoji="1" lang="zh-CN" altLang="en-US" sz="1100" b="1">
                  <a:latin typeface="微软雅黑" pitchFamily="34" charset="-122"/>
                  <a:ea typeface="微软雅黑" pitchFamily="34" charset="-122"/>
                </a:rPr>
                <a:t>字节新数据</a:t>
              </a:r>
            </a:p>
          </p:txBody>
        </p:sp>
      </p:grpSp>
      <p:grpSp>
        <p:nvGrpSpPr>
          <p:cNvPr id="45" name="组合 44"/>
          <p:cNvGrpSpPr/>
          <p:nvPr/>
        </p:nvGrpSpPr>
        <p:grpSpPr>
          <a:xfrm>
            <a:off x="1695644" y="1727436"/>
            <a:ext cx="5517954" cy="346900"/>
            <a:chOff x="1695644" y="1727436"/>
            <a:chExt cx="5517954" cy="346900"/>
          </a:xfrm>
        </p:grpSpPr>
        <p:sp>
          <p:nvSpPr>
            <p:cNvPr id="10" name="Line 5"/>
            <p:cNvSpPr>
              <a:spLocks noChangeShapeType="1"/>
            </p:cNvSpPr>
            <p:nvPr/>
          </p:nvSpPr>
          <p:spPr bwMode="auto">
            <a:xfrm>
              <a:off x="1695644" y="1962005"/>
              <a:ext cx="2480184"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1" name="Rectangle 6"/>
            <p:cNvSpPr>
              <a:spLocks noChangeArrowheads="1"/>
            </p:cNvSpPr>
            <p:nvPr/>
          </p:nvSpPr>
          <p:spPr bwMode="auto">
            <a:xfrm>
              <a:off x="2383539" y="1727436"/>
              <a:ext cx="1107677"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1, DATA</a:t>
              </a:r>
            </a:p>
          </p:txBody>
        </p:sp>
        <p:sp>
          <p:nvSpPr>
            <p:cNvPr id="35" name="Rectangle 30"/>
            <p:cNvSpPr>
              <a:spLocks noChangeArrowheads="1"/>
            </p:cNvSpPr>
            <p:nvPr/>
          </p:nvSpPr>
          <p:spPr bwMode="auto">
            <a:xfrm>
              <a:off x="4235218" y="1815291"/>
              <a:ext cx="2978380"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100</a:t>
              </a:r>
              <a:r>
                <a:rPr kumimoji="1" lang="zh-CN" altLang="en-US" sz="1100" b="1" dirty="0">
                  <a:latin typeface="微软雅黑" pitchFamily="34" charset="-122"/>
                  <a:ea typeface="微软雅黑" pitchFamily="34" charset="-122"/>
                </a:rPr>
                <a:t>，还能发送 </a:t>
              </a:r>
              <a:r>
                <a:rPr kumimoji="1" lang="en-US" altLang="zh-CN" sz="1100" b="1" dirty="0">
                  <a:latin typeface="微软雅黑" pitchFamily="34" charset="-122"/>
                  <a:ea typeface="微软雅黑" pitchFamily="34" charset="-122"/>
                </a:rPr>
                <a:t>300 </a:t>
              </a:r>
              <a:r>
                <a:rPr kumimoji="1" lang="zh-CN" altLang="en-US" sz="1100" b="1" dirty="0">
                  <a:latin typeface="微软雅黑" pitchFamily="34" charset="-122"/>
                  <a:ea typeface="微软雅黑" pitchFamily="34" charset="-122"/>
                </a:rPr>
                <a:t>字节</a:t>
              </a:r>
            </a:p>
          </p:txBody>
        </p:sp>
      </p:grpSp>
      <p:grpSp>
        <p:nvGrpSpPr>
          <p:cNvPr id="50" name="组合 49"/>
          <p:cNvGrpSpPr/>
          <p:nvPr/>
        </p:nvGrpSpPr>
        <p:grpSpPr>
          <a:xfrm>
            <a:off x="1697522" y="2879993"/>
            <a:ext cx="5769351" cy="363378"/>
            <a:chOff x="1697522" y="2879993"/>
            <a:chExt cx="5769351" cy="363378"/>
          </a:xfrm>
        </p:grpSpPr>
        <p:sp>
          <p:nvSpPr>
            <p:cNvPr id="14" name="Line 9"/>
            <p:cNvSpPr>
              <a:spLocks noChangeShapeType="1"/>
            </p:cNvSpPr>
            <p:nvPr/>
          </p:nvSpPr>
          <p:spPr bwMode="auto">
            <a:xfrm>
              <a:off x="1697522" y="3126703"/>
              <a:ext cx="2478304"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5" name="Rectangle 10"/>
            <p:cNvSpPr>
              <a:spLocks noChangeArrowheads="1"/>
            </p:cNvSpPr>
            <p:nvPr/>
          </p:nvSpPr>
          <p:spPr bwMode="auto">
            <a:xfrm>
              <a:off x="2304992" y="2879993"/>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401, DATA</a:t>
              </a:r>
            </a:p>
          </p:txBody>
        </p:sp>
        <p:sp>
          <p:nvSpPr>
            <p:cNvPr id="36" name="Rectangle 31"/>
            <p:cNvSpPr>
              <a:spLocks noChangeArrowheads="1"/>
            </p:cNvSpPr>
            <p:nvPr/>
          </p:nvSpPr>
          <p:spPr bwMode="auto">
            <a:xfrm>
              <a:off x="4235218" y="2984326"/>
              <a:ext cx="323165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a:latin typeface="微软雅黑" pitchFamily="34" charset="-122"/>
                  <a:ea typeface="微软雅黑" pitchFamily="34" charset="-122"/>
                </a:rPr>
                <a:t>A </a:t>
              </a:r>
              <a:r>
                <a:rPr kumimoji="1" lang="zh-CN" altLang="en-US" sz="1100" b="1">
                  <a:latin typeface="微软雅黑" pitchFamily="34" charset="-122"/>
                  <a:ea typeface="微软雅黑" pitchFamily="34" charset="-122"/>
                </a:rPr>
                <a:t>发送了序号 </a:t>
              </a:r>
              <a:r>
                <a:rPr kumimoji="1" lang="en-US" altLang="zh-CN" sz="1100" b="1">
                  <a:latin typeface="微软雅黑" pitchFamily="34" charset="-122"/>
                  <a:ea typeface="微软雅黑" pitchFamily="34" charset="-122"/>
                </a:rPr>
                <a:t>401 </a:t>
              </a:r>
              <a:r>
                <a:rPr kumimoji="1" lang="zh-CN" altLang="en-US" sz="1100" b="1">
                  <a:latin typeface="微软雅黑" pitchFamily="34" charset="-122"/>
                  <a:ea typeface="微软雅黑" pitchFamily="34" charset="-122"/>
                </a:rPr>
                <a:t>至 </a:t>
              </a:r>
              <a:r>
                <a:rPr kumimoji="1" lang="en-US" altLang="zh-CN" sz="1100" b="1">
                  <a:latin typeface="微软雅黑" pitchFamily="34" charset="-122"/>
                  <a:ea typeface="微软雅黑" pitchFamily="34" charset="-122"/>
                </a:rPr>
                <a:t>500</a:t>
              </a:r>
              <a:r>
                <a:rPr kumimoji="1" lang="zh-CN" altLang="en-US" sz="1100" b="1">
                  <a:latin typeface="微软雅黑" pitchFamily="34" charset="-122"/>
                  <a:ea typeface="微软雅黑" pitchFamily="34" charset="-122"/>
                </a:rPr>
                <a:t>，不能再发送新数据了</a:t>
              </a:r>
            </a:p>
          </p:txBody>
        </p:sp>
      </p:grpSp>
      <p:grpSp>
        <p:nvGrpSpPr>
          <p:cNvPr id="51" name="组合 50"/>
          <p:cNvGrpSpPr/>
          <p:nvPr/>
        </p:nvGrpSpPr>
        <p:grpSpPr>
          <a:xfrm>
            <a:off x="1696582" y="3108075"/>
            <a:ext cx="5408012" cy="368583"/>
            <a:chOff x="1696582" y="3108075"/>
            <a:chExt cx="5408012" cy="368583"/>
          </a:xfrm>
        </p:grpSpPr>
        <p:sp>
          <p:nvSpPr>
            <p:cNvPr id="12" name="Line 7"/>
            <p:cNvSpPr>
              <a:spLocks noChangeShapeType="1"/>
            </p:cNvSpPr>
            <p:nvPr/>
          </p:nvSpPr>
          <p:spPr bwMode="auto">
            <a:xfrm>
              <a:off x="1696582" y="3355654"/>
              <a:ext cx="2479245"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3" name="Rectangle 8"/>
            <p:cNvSpPr>
              <a:spLocks noChangeArrowheads="1"/>
            </p:cNvSpPr>
            <p:nvPr/>
          </p:nvSpPr>
          <p:spPr bwMode="auto">
            <a:xfrm>
              <a:off x="2304992" y="3108075"/>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201, DATA</a:t>
              </a:r>
            </a:p>
          </p:txBody>
        </p:sp>
        <p:sp>
          <p:nvSpPr>
            <p:cNvPr id="37" name="Rectangle 32"/>
            <p:cNvSpPr>
              <a:spLocks noChangeArrowheads="1"/>
            </p:cNvSpPr>
            <p:nvPr/>
          </p:nvSpPr>
          <p:spPr bwMode="auto">
            <a:xfrm>
              <a:off x="4235218" y="3217613"/>
              <a:ext cx="286937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00FF"/>
                  </a:solidFill>
                  <a:latin typeface="微软雅黑" pitchFamily="34" charset="-122"/>
                  <a:ea typeface="微软雅黑" pitchFamily="34" charset="-122"/>
                </a:rPr>
                <a:t>A </a:t>
              </a:r>
              <a:r>
                <a:rPr kumimoji="1" lang="zh-CN" altLang="en-US" sz="1100" b="1" dirty="0">
                  <a:solidFill>
                    <a:srgbClr val="CC00CC"/>
                  </a:solidFill>
                  <a:latin typeface="微软雅黑" pitchFamily="34" charset="-122"/>
                  <a:ea typeface="微软雅黑" pitchFamily="34" charset="-122"/>
                </a:rPr>
                <a:t>超时重传</a:t>
              </a:r>
              <a:r>
                <a:rPr kumimoji="1" lang="zh-CN" altLang="en-US" sz="1100" b="1" dirty="0">
                  <a:solidFill>
                    <a:srgbClr val="0000FF"/>
                  </a:solidFill>
                  <a:latin typeface="微软雅黑" pitchFamily="34" charset="-122"/>
                  <a:ea typeface="微软雅黑" pitchFamily="34" charset="-122"/>
                </a:rPr>
                <a:t>旧的数据，但不能发送新的数据</a:t>
              </a:r>
            </a:p>
          </p:txBody>
        </p:sp>
      </p:grpSp>
      <p:sp>
        <p:nvSpPr>
          <p:cNvPr id="38" name="Rectangle 33"/>
          <p:cNvSpPr>
            <a:spLocks noChangeArrowheads="1"/>
          </p:cNvSpPr>
          <p:nvPr/>
        </p:nvSpPr>
        <p:spPr bwMode="auto">
          <a:xfrm>
            <a:off x="4235218" y="3443960"/>
            <a:ext cx="28084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100" b="1" dirty="0">
                <a:solidFill>
                  <a:srgbClr val="C00000"/>
                </a:solidFill>
                <a:latin typeface="微软雅黑" pitchFamily="34" charset="-122"/>
                <a:ea typeface="微软雅黑" pitchFamily="34" charset="-122"/>
              </a:rPr>
              <a:t>允许 </a:t>
            </a:r>
            <a:r>
              <a:rPr kumimoji="1" lang="en-US" altLang="zh-CN" sz="1100" b="1" dirty="0">
                <a:solidFill>
                  <a:srgbClr val="C00000"/>
                </a:solidFill>
                <a:latin typeface="微软雅黑" pitchFamily="34" charset="-122"/>
                <a:ea typeface="微软雅黑" pitchFamily="34" charset="-122"/>
              </a:rPr>
              <a:t>A </a:t>
            </a:r>
            <a:r>
              <a:rPr kumimoji="1" lang="zh-CN" altLang="en-US" sz="1100" b="1" dirty="0">
                <a:solidFill>
                  <a:srgbClr val="C00000"/>
                </a:solidFill>
                <a:latin typeface="微软雅黑" pitchFamily="34" charset="-122"/>
                <a:ea typeface="微软雅黑" pitchFamily="34" charset="-122"/>
              </a:rPr>
              <a:t>发送序号 </a:t>
            </a:r>
            <a:r>
              <a:rPr kumimoji="1" lang="en-US" altLang="zh-CN" sz="1100" b="1" dirty="0">
                <a:solidFill>
                  <a:srgbClr val="C00000"/>
                </a:solidFill>
                <a:latin typeface="微软雅黑" pitchFamily="34" charset="-122"/>
                <a:ea typeface="微软雅黑" pitchFamily="34" charset="-122"/>
              </a:rPr>
              <a:t>501 </a:t>
            </a:r>
            <a:r>
              <a:rPr kumimoji="1" lang="zh-CN" altLang="en-US" sz="1100" b="1" dirty="0">
                <a:solidFill>
                  <a:srgbClr val="C00000"/>
                </a:solidFill>
                <a:latin typeface="微软雅黑" pitchFamily="34" charset="-122"/>
                <a:ea typeface="微软雅黑" pitchFamily="34" charset="-122"/>
              </a:rPr>
              <a:t>至 </a:t>
            </a:r>
            <a:r>
              <a:rPr kumimoji="1" lang="en-US" altLang="zh-CN" sz="1100" b="1" dirty="0">
                <a:solidFill>
                  <a:srgbClr val="C00000"/>
                </a:solidFill>
                <a:latin typeface="微软雅黑" pitchFamily="34" charset="-122"/>
                <a:ea typeface="微软雅黑" pitchFamily="34" charset="-122"/>
              </a:rPr>
              <a:t>600 </a:t>
            </a:r>
            <a:r>
              <a:rPr kumimoji="1" lang="zh-CN" altLang="en-US" sz="1100" b="1" dirty="0">
                <a:solidFill>
                  <a:srgbClr val="C00000"/>
                </a:solidFill>
                <a:latin typeface="微软雅黑" pitchFamily="34" charset="-122"/>
                <a:ea typeface="微软雅黑" pitchFamily="34" charset="-122"/>
              </a:rPr>
              <a:t>共 </a:t>
            </a:r>
            <a:r>
              <a:rPr kumimoji="1" lang="en-US" altLang="zh-CN" sz="1100" b="1" dirty="0">
                <a:solidFill>
                  <a:srgbClr val="C00000"/>
                </a:solidFill>
                <a:latin typeface="微软雅黑" pitchFamily="34" charset="-122"/>
                <a:ea typeface="微软雅黑" pitchFamily="34" charset="-122"/>
              </a:rPr>
              <a:t>100 </a:t>
            </a:r>
            <a:r>
              <a:rPr kumimoji="1" lang="zh-CN" altLang="en-US" sz="1100" b="1" dirty="0">
                <a:solidFill>
                  <a:srgbClr val="C00000"/>
                </a:solidFill>
                <a:latin typeface="微软雅黑" pitchFamily="34" charset="-122"/>
                <a:ea typeface="微软雅黑" pitchFamily="34" charset="-122"/>
              </a:rPr>
              <a:t>字节</a:t>
            </a:r>
          </a:p>
        </p:txBody>
      </p:sp>
      <p:grpSp>
        <p:nvGrpSpPr>
          <p:cNvPr id="52" name="组合 51"/>
          <p:cNvGrpSpPr/>
          <p:nvPr/>
        </p:nvGrpSpPr>
        <p:grpSpPr>
          <a:xfrm>
            <a:off x="1695643" y="3592861"/>
            <a:ext cx="5348037" cy="345167"/>
            <a:chOff x="1695643" y="3592861"/>
            <a:chExt cx="5348037" cy="345167"/>
          </a:xfrm>
        </p:grpSpPr>
        <p:sp>
          <p:nvSpPr>
            <p:cNvPr id="22" name="Line 17"/>
            <p:cNvSpPr>
              <a:spLocks noChangeShapeType="1"/>
            </p:cNvSpPr>
            <p:nvPr/>
          </p:nvSpPr>
          <p:spPr bwMode="auto">
            <a:xfrm>
              <a:off x="1695643" y="3823961"/>
              <a:ext cx="2480183"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3" name="Rectangle 18"/>
            <p:cNvSpPr>
              <a:spLocks noChangeArrowheads="1"/>
            </p:cNvSpPr>
            <p:nvPr/>
          </p:nvSpPr>
          <p:spPr bwMode="auto">
            <a:xfrm>
              <a:off x="2304992" y="3592861"/>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501, DATA</a:t>
              </a:r>
            </a:p>
          </p:txBody>
        </p:sp>
        <p:sp>
          <p:nvSpPr>
            <p:cNvPr id="39" name="Rectangle 34"/>
            <p:cNvSpPr>
              <a:spLocks noChangeArrowheads="1"/>
            </p:cNvSpPr>
            <p:nvPr/>
          </p:nvSpPr>
          <p:spPr bwMode="auto">
            <a:xfrm>
              <a:off x="4235218" y="3678983"/>
              <a:ext cx="28084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501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600</a:t>
              </a:r>
              <a:r>
                <a:rPr kumimoji="1" lang="zh-CN" altLang="en-US" sz="1100" b="1" dirty="0">
                  <a:latin typeface="微软雅黑" pitchFamily="34" charset="-122"/>
                  <a:ea typeface="微软雅黑" pitchFamily="34" charset="-122"/>
                </a:rPr>
                <a:t>，不能再发送了</a:t>
              </a:r>
            </a:p>
          </p:txBody>
        </p:sp>
      </p:grpSp>
      <p:sp>
        <p:nvSpPr>
          <p:cNvPr id="40" name="Rectangle 35"/>
          <p:cNvSpPr>
            <a:spLocks noChangeArrowheads="1"/>
          </p:cNvSpPr>
          <p:nvPr/>
        </p:nvSpPr>
        <p:spPr bwMode="auto">
          <a:xfrm>
            <a:off x="4235218" y="3922676"/>
            <a:ext cx="353622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FF0000"/>
                </a:solidFill>
                <a:latin typeface="微软雅黑" pitchFamily="34" charset="-122"/>
                <a:ea typeface="微软雅黑" pitchFamily="34" charset="-122"/>
              </a:rPr>
              <a:t>不允许 </a:t>
            </a:r>
            <a:r>
              <a:rPr kumimoji="1" lang="en-US" altLang="zh-CN" sz="1100" b="1" dirty="0">
                <a:solidFill>
                  <a:srgbClr val="FF0000"/>
                </a:solidFill>
                <a:latin typeface="微软雅黑" pitchFamily="34" charset="-122"/>
                <a:ea typeface="微软雅黑" pitchFamily="34" charset="-122"/>
              </a:rPr>
              <a:t>A </a:t>
            </a:r>
            <a:r>
              <a:rPr kumimoji="1" lang="zh-CN" altLang="en-US" sz="1100" b="1" dirty="0">
                <a:solidFill>
                  <a:srgbClr val="FF0000"/>
                </a:solidFill>
                <a:latin typeface="微软雅黑" pitchFamily="34" charset="-122"/>
                <a:ea typeface="微软雅黑" pitchFamily="34" charset="-122"/>
              </a:rPr>
              <a:t>再发送（到序号 </a:t>
            </a:r>
            <a:r>
              <a:rPr kumimoji="1" lang="en-US" altLang="zh-CN" sz="1100" b="1" dirty="0">
                <a:solidFill>
                  <a:srgbClr val="FF0000"/>
                </a:solidFill>
                <a:latin typeface="微软雅黑" pitchFamily="34" charset="-122"/>
                <a:ea typeface="微软雅黑" pitchFamily="34" charset="-122"/>
              </a:rPr>
              <a:t>600 </a:t>
            </a:r>
            <a:r>
              <a:rPr kumimoji="1" lang="zh-CN" altLang="en-US" sz="1100" b="1" dirty="0">
                <a:solidFill>
                  <a:srgbClr val="FF0000"/>
                </a:solidFill>
                <a:latin typeface="微软雅黑" pitchFamily="34" charset="-122"/>
                <a:ea typeface="微软雅黑" pitchFamily="34" charset="-122"/>
              </a:rPr>
              <a:t>为止的数据都收到了）</a:t>
            </a:r>
          </a:p>
        </p:txBody>
      </p:sp>
      <p:grpSp>
        <p:nvGrpSpPr>
          <p:cNvPr id="48" name="组合 47"/>
          <p:cNvGrpSpPr/>
          <p:nvPr/>
        </p:nvGrpSpPr>
        <p:grpSpPr>
          <a:xfrm>
            <a:off x="1691887" y="2103596"/>
            <a:ext cx="2236835" cy="415665"/>
            <a:chOff x="1691887" y="2103596"/>
            <a:chExt cx="2236835" cy="415665"/>
          </a:xfrm>
        </p:grpSpPr>
        <p:sp>
          <p:nvSpPr>
            <p:cNvPr id="20" name="Line 15"/>
            <p:cNvSpPr>
              <a:spLocks noChangeShapeType="1"/>
            </p:cNvSpPr>
            <p:nvPr/>
          </p:nvSpPr>
          <p:spPr bwMode="auto">
            <a:xfrm>
              <a:off x="1691887" y="2432914"/>
              <a:ext cx="1481082"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1" name="Rectangle 16"/>
            <p:cNvSpPr>
              <a:spLocks noChangeArrowheads="1"/>
            </p:cNvSpPr>
            <p:nvPr/>
          </p:nvSpPr>
          <p:spPr bwMode="auto">
            <a:xfrm>
              <a:off x="2004741" y="2199212"/>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201, DATA</a:t>
              </a:r>
            </a:p>
          </p:txBody>
        </p:sp>
        <p:grpSp>
          <p:nvGrpSpPr>
            <p:cNvPr id="47" name="组合 46"/>
            <p:cNvGrpSpPr/>
            <p:nvPr/>
          </p:nvGrpSpPr>
          <p:grpSpPr>
            <a:xfrm>
              <a:off x="3240064" y="2103596"/>
              <a:ext cx="688658" cy="415665"/>
              <a:chOff x="3240064" y="2103596"/>
              <a:chExt cx="688658" cy="415665"/>
            </a:xfrm>
          </p:grpSpPr>
          <p:sp>
            <p:nvSpPr>
              <p:cNvPr id="41" name="AutoShape 36"/>
              <p:cNvSpPr>
                <a:spLocks noChangeArrowheads="1"/>
              </p:cNvSpPr>
              <p:nvPr/>
            </p:nvSpPr>
            <p:spPr bwMode="auto">
              <a:xfrm>
                <a:off x="3240064" y="2103596"/>
                <a:ext cx="688658" cy="415665"/>
              </a:xfrm>
              <a:prstGeom prst="irregularSeal1">
                <a:avLst/>
              </a:prstGeom>
              <a:solidFill>
                <a:srgbClr val="C00000"/>
              </a:solidFill>
              <a:ln w="6350">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sp>
            <p:nvSpPr>
              <p:cNvPr id="42" name="Rectangle 37"/>
              <p:cNvSpPr>
                <a:spLocks noChangeArrowheads="1"/>
              </p:cNvSpPr>
              <p:nvPr/>
            </p:nvSpPr>
            <p:spPr bwMode="auto">
              <a:xfrm>
                <a:off x="3359784" y="2184319"/>
                <a:ext cx="56746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solidFill>
                      <a:schemeClr val="bg1"/>
                    </a:solidFill>
                    <a:latin typeface="微软雅黑" pitchFamily="34" charset="-122"/>
                    <a:ea typeface="微软雅黑" pitchFamily="34" charset="-122"/>
                  </a:rPr>
                  <a:t>丢失！</a:t>
                </a:r>
              </a:p>
            </p:txBody>
          </p:sp>
        </p:grpSp>
      </p:grpSp>
      <p:sp>
        <p:nvSpPr>
          <p:cNvPr id="43" name="Line 38"/>
          <p:cNvSpPr>
            <a:spLocks noChangeShapeType="1"/>
          </p:cNvSpPr>
          <p:nvPr/>
        </p:nvSpPr>
        <p:spPr bwMode="auto">
          <a:xfrm>
            <a:off x="1676853" y="1875281"/>
            <a:ext cx="0" cy="2257416"/>
          </a:xfrm>
          <a:prstGeom prst="line">
            <a:avLst/>
          </a:prstGeom>
          <a:noFill/>
          <a:ln w="19050">
            <a:solidFill>
              <a:srgbClr val="0033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44" name="Text Box 155"/>
          <p:cNvSpPr txBox="1">
            <a:spLocks noChangeArrowheads="1"/>
          </p:cNvSpPr>
          <p:nvPr/>
        </p:nvSpPr>
        <p:spPr bwMode="auto">
          <a:xfrm>
            <a:off x="1398495" y="1040836"/>
            <a:ext cx="6552485" cy="634020"/>
          </a:xfrm>
          <a:prstGeom prst="rect">
            <a:avLst/>
          </a:prstGeom>
          <a:solidFill>
            <a:srgbClr val="000099"/>
          </a:solidFill>
          <a:ln w="9525">
            <a:noFill/>
            <a:miter lim="800000"/>
            <a:headEnd/>
            <a:tailEnd/>
          </a:ln>
          <a:effectLst/>
        </p:spPr>
        <p:txBody>
          <a:bodyPr wrap="square">
            <a:spAutoFit/>
          </a:bodyPr>
          <a:lstStyle/>
          <a:p>
            <a:pPr algn="ctr">
              <a:lnSpc>
                <a:spcPct val="110000"/>
              </a:lnSpc>
            </a:pPr>
            <a:r>
              <a:rPr lang="en-US" altLang="zh-CN" sz="1600" b="1" dirty="0">
                <a:solidFill>
                  <a:schemeClr val="bg1"/>
                </a:solidFill>
                <a:latin typeface="微软雅黑" pitchFamily="34" charset="-122"/>
                <a:ea typeface="微软雅黑" pitchFamily="34" charset="-122"/>
              </a:rPr>
              <a:t>A </a:t>
            </a:r>
            <a:r>
              <a:rPr lang="zh-CN" altLang="en-US" sz="1600" b="1" dirty="0">
                <a:solidFill>
                  <a:schemeClr val="bg1"/>
                </a:solidFill>
                <a:latin typeface="微软雅黑" pitchFamily="34" charset="-122"/>
                <a:ea typeface="微软雅黑" pitchFamily="34" charset="-122"/>
              </a:rPr>
              <a:t>向 </a:t>
            </a:r>
            <a:r>
              <a:rPr lang="en-US" altLang="zh-CN" sz="1600" b="1" dirty="0">
                <a:solidFill>
                  <a:schemeClr val="bg1"/>
                </a:solidFill>
                <a:latin typeface="微软雅黑" pitchFamily="34" charset="-122"/>
                <a:ea typeface="微软雅黑" pitchFamily="34" charset="-122"/>
              </a:rPr>
              <a:t>B </a:t>
            </a:r>
            <a:r>
              <a:rPr lang="zh-CN" altLang="en-US" sz="1600" b="1" dirty="0">
                <a:solidFill>
                  <a:schemeClr val="bg1"/>
                </a:solidFill>
                <a:latin typeface="微软雅黑" pitchFamily="34" charset="-122"/>
                <a:ea typeface="微软雅黑" pitchFamily="34" charset="-122"/>
              </a:rPr>
              <a:t>发送数据，每个报文段携带</a:t>
            </a:r>
            <a:r>
              <a:rPr lang="en-US" altLang="zh-CN" sz="1600" b="1" dirty="0">
                <a:solidFill>
                  <a:schemeClr val="bg1"/>
                </a:solidFill>
                <a:latin typeface="微软雅黑" pitchFamily="34" charset="-122"/>
                <a:ea typeface="微软雅黑" pitchFamily="34" charset="-122"/>
              </a:rPr>
              <a:t>100 </a:t>
            </a:r>
            <a:r>
              <a:rPr lang="zh-CN" altLang="en-US" sz="1600" b="1" dirty="0">
                <a:solidFill>
                  <a:schemeClr val="bg1"/>
                </a:solidFill>
                <a:latin typeface="微软雅黑" pitchFamily="34" charset="-122"/>
                <a:ea typeface="微软雅黑" pitchFamily="34" charset="-122"/>
              </a:rPr>
              <a:t>字节数据。</a:t>
            </a:r>
            <a:endParaRPr lang="en-US" altLang="zh-CN" sz="1600" b="1" dirty="0">
              <a:solidFill>
                <a:schemeClr val="bg1"/>
              </a:solidFill>
              <a:latin typeface="微软雅黑" pitchFamily="34" charset="-122"/>
              <a:ea typeface="微软雅黑" pitchFamily="34" charset="-122"/>
            </a:endParaRPr>
          </a:p>
          <a:p>
            <a:pPr algn="ctr">
              <a:lnSpc>
                <a:spcPct val="110000"/>
              </a:lnSpc>
            </a:pPr>
            <a:r>
              <a:rPr lang="zh-CN" altLang="en-US" sz="1600" b="1" dirty="0">
                <a:solidFill>
                  <a:schemeClr val="bg1"/>
                </a:solidFill>
                <a:latin typeface="微软雅黑" pitchFamily="34" charset="-122"/>
                <a:ea typeface="微软雅黑" pitchFamily="34" charset="-122"/>
              </a:rPr>
              <a:t>在连接建立时，</a:t>
            </a:r>
            <a:r>
              <a:rPr lang="en-US" altLang="zh-CN" sz="1600" b="1" dirty="0">
                <a:solidFill>
                  <a:schemeClr val="bg1"/>
                </a:solidFill>
                <a:latin typeface="微软雅黑" pitchFamily="34" charset="-122"/>
                <a:ea typeface="微软雅黑" pitchFamily="34" charset="-122"/>
              </a:rPr>
              <a:t>B </a:t>
            </a:r>
            <a:r>
              <a:rPr lang="zh-CN" altLang="en-US" sz="1600" b="1" dirty="0">
                <a:solidFill>
                  <a:schemeClr val="bg1"/>
                </a:solidFill>
                <a:latin typeface="微软雅黑" pitchFamily="34" charset="-122"/>
                <a:ea typeface="微软雅黑" pitchFamily="34" charset="-122"/>
              </a:rPr>
              <a:t>告诉 </a:t>
            </a:r>
            <a:r>
              <a:rPr lang="en-US" altLang="zh-CN" sz="1600" b="1" dirty="0">
                <a:solidFill>
                  <a:schemeClr val="bg1"/>
                </a:solidFill>
                <a:latin typeface="微软雅黑" pitchFamily="34" charset="-122"/>
                <a:ea typeface="微软雅黑" pitchFamily="34" charset="-122"/>
              </a:rPr>
              <a:t>A</a:t>
            </a:r>
            <a:r>
              <a:rPr lang="zh-CN" altLang="en-US" sz="1600" b="1" dirty="0">
                <a:solidFill>
                  <a:schemeClr val="bg1"/>
                </a:solidFill>
                <a:latin typeface="微软雅黑" pitchFamily="34" charset="-122"/>
                <a:ea typeface="微软雅黑" pitchFamily="34" charset="-122"/>
              </a:rPr>
              <a:t>：“我的接收窗口 </a:t>
            </a:r>
            <a:r>
              <a:rPr lang="en-US" altLang="zh-CN" sz="1600" b="1" dirty="0" err="1">
                <a:solidFill>
                  <a:schemeClr val="bg1"/>
                </a:solidFill>
                <a:latin typeface="微软雅黑" pitchFamily="34" charset="-122"/>
                <a:ea typeface="微软雅黑" pitchFamily="34" charset="-122"/>
              </a:rPr>
              <a:t>rwnd</a:t>
            </a:r>
            <a:r>
              <a:rPr lang="en-US" altLang="zh-CN" sz="1600" b="1" dirty="0">
                <a:solidFill>
                  <a:schemeClr val="bg1"/>
                </a:solidFill>
                <a:latin typeface="微软雅黑" pitchFamily="34" charset="-122"/>
                <a:ea typeface="微软雅黑" pitchFamily="34" charset="-122"/>
              </a:rPr>
              <a:t> = 400</a:t>
            </a:r>
            <a:r>
              <a:rPr lang="zh-CN" altLang="en-US" sz="1600" b="1" dirty="0">
                <a:solidFill>
                  <a:schemeClr val="bg1"/>
                </a:solidFill>
                <a:latin typeface="微软雅黑" pitchFamily="34" charset="-122"/>
                <a:ea typeface="微软雅黑" pitchFamily="34" charset="-122"/>
              </a:rPr>
              <a:t>（字节）”。</a:t>
            </a:r>
          </a:p>
        </p:txBody>
      </p:sp>
    </p:spTree>
    <p:custDataLst>
      <p:tags r:id="rId1"/>
    </p:custDataLst>
    <p:extLst>
      <p:ext uri="{BB962C8B-B14F-4D97-AF65-F5344CB8AC3E}">
        <p14:creationId xmlns:p14="http://schemas.microsoft.com/office/powerpoint/2010/main" val="2504997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1000"/>
                                        <p:tgtEl>
                                          <p:spTgt spid="44"/>
                                        </p:tgtEl>
                                      </p:cBhvr>
                                    </p:animEffect>
                                    <p:anim calcmode="lin" valueType="num">
                                      <p:cBhvr>
                                        <p:cTn id="8" dur="1000" fill="hold"/>
                                        <p:tgtEl>
                                          <p:spTgt spid="44"/>
                                        </p:tgtEl>
                                        <p:attrNameLst>
                                          <p:attrName>ppt_x</p:attrName>
                                        </p:attrNameLst>
                                      </p:cBhvr>
                                      <p:tavLst>
                                        <p:tav tm="0">
                                          <p:val>
                                            <p:strVal val="#ppt_x"/>
                                          </p:val>
                                        </p:tav>
                                        <p:tav tm="100000">
                                          <p:val>
                                            <p:strVal val="#ppt_x"/>
                                          </p:val>
                                        </p:tav>
                                      </p:tavLst>
                                    </p:anim>
                                    <p:anim calcmode="lin" valueType="num">
                                      <p:cBhvr>
                                        <p:cTn id="9"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5" presetClass="emph" presetSubtype="0" repeatCount="3000" fill="hold" nodeType="clickEffect">
                                  <p:stCondLst>
                                    <p:cond delay="0"/>
                                  </p:stCondLst>
                                  <p:childTnLst>
                                    <p:anim calcmode="discrete" valueType="str">
                                      <p:cBhvr>
                                        <p:cTn id="13" dur="1000" fill="hold"/>
                                        <p:tgtEl>
                                          <p:spTgt spid="45"/>
                                        </p:tgtEl>
                                        <p:attrNameLst>
                                          <p:attrName>style.visibility</p:attrName>
                                        </p:attrNameLst>
                                      </p:cBhvr>
                                      <p:tavLst>
                                        <p:tav tm="0">
                                          <p:val>
                                            <p:strVal val="hidden"/>
                                          </p:val>
                                        </p:tav>
                                        <p:tav tm="50000">
                                          <p:val>
                                            <p:strVal val="visible"/>
                                          </p:val>
                                        </p:tav>
                                      </p:tavLst>
                                    </p:anim>
                                  </p:childTnLst>
                                </p:cTn>
                              </p:par>
                              <p:par>
                                <p:cTn id="14" presetID="35" presetClass="emph" presetSubtype="0" repeatCount="3000" fill="hold" nodeType="withEffect">
                                  <p:stCondLst>
                                    <p:cond delay="0"/>
                                  </p:stCondLst>
                                  <p:childTnLst>
                                    <p:anim calcmode="discrete" valueType="str">
                                      <p:cBhvr>
                                        <p:cTn id="15" dur="1000" fill="hold"/>
                                        <p:tgtEl>
                                          <p:spTgt spid="46"/>
                                        </p:tgtEl>
                                        <p:attrNameLst>
                                          <p:attrName>style.visibility</p:attrName>
                                        </p:attrNameLst>
                                      </p:cBhvr>
                                      <p:tavLst>
                                        <p:tav tm="0">
                                          <p:val>
                                            <p:strVal val="hidden"/>
                                          </p:val>
                                        </p:tav>
                                        <p:tav tm="50000">
                                          <p:val>
                                            <p:strVal val="visible"/>
                                          </p:val>
                                        </p:tav>
                                      </p:tavLst>
                                    </p:anim>
                                  </p:childTnLst>
                                </p:cTn>
                              </p:par>
                              <p:par>
                                <p:cTn id="16" presetID="35" presetClass="emph" presetSubtype="0" repeatCount="3000" fill="hold" nodeType="withEffect">
                                  <p:stCondLst>
                                    <p:cond delay="0"/>
                                  </p:stCondLst>
                                  <p:childTnLst>
                                    <p:anim calcmode="discrete" valueType="str">
                                      <p:cBhvr>
                                        <p:cTn id="17" dur="1000" fill="hold"/>
                                        <p:tgtEl>
                                          <p:spTgt spid="48"/>
                                        </p:tgtEl>
                                        <p:attrNameLst>
                                          <p:attrName>style.visibility</p:attrName>
                                        </p:attrNameLst>
                                      </p:cBhvr>
                                      <p:tavLst>
                                        <p:tav tm="0">
                                          <p:val>
                                            <p:strVal val="hidden"/>
                                          </p:val>
                                        </p:tav>
                                        <p:tav tm="50000">
                                          <p:val>
                                            <p:strVal val="visible"/>
                                          </p:val>
                                        </p:tav>
                                      </p:tavLst>
                                    </p:anim>
                                  </p:childTnLst>
                                </p:cTn>
                              </p:par>
                            </p:childTnLst>
                          </p:cTn>
                        </p:par>
                      </p:childTnLst>
                    </p:cTn>
                  </p:par>
                  <p:par>
                    <p:cTn id="18" fill="hold">
                      <p:stCondLst>
                        <p:cond delay="indefinite"/>
                      </p:stCondLst>
                      <p:childTnLst>
                        <p:par>
                          <p:cTn id="19" fill="hold">
                            <p:stCondLst>
                              <p:cond delay="0"/>
                            </p:stCondLst>
                            <p:childTnLst>
                              <p:par>
                                <p:cTn id="20" presetID="35" presetClass="emph" presetSubtype="0" repeatCount="3000" fill="hold" nodeType="clickEffect">
                                  <p:stCondLst>
                                    <p:cond delay="0"/>
                                  </p:stCondLst>
                                  <p:childTnLst>
                                    <p:anim calcmode="discrete" valueType="str">
                                      <p:cBhvr>
                                        <p:cTn id="21" dur="1000" fill="hold"/>
                                        <p:tgtEl>
                                          <p:spTgt spid="2"/>
                                        </p:tgtEl>
                                        <p:attrNameLst>
                                          <p:attrName>style.visibility</p:attrName>
                                        </p:attrNameLst>
                                      </p:cBhvr>
                                      <p:tavLst>
                                        <p:tav tm="0">
                                          <p:val>
                                            <p:strVal val="hidden"/>
                                          </p:val>
                                        </p:tav>
                                        <p:tav tm="50000">
                                          <p:val>
                                            <p:strVal val="visible"/>
                                          </p:val>
                                        </p:tav>
                                      </p:tavLst>
                                    </p:anim>
                                  </p:childTnLst>
                                </p:cTn>
                              </p:par>
                              <p:par>
                                <p:cTn id="22" presetID="35" presetClass="emph" presetSubtype="0" repeatCount="3000" fill="hold" grpId="0" nodeType="withEffect">
                                  <p:stCondLst>
                                    <p:cond delay="0"/>
                                  </p:stCondLst>
                                  <p:childTnLst>
                                    <p:anim calcmode="discrete" valueType="str">
                                      <p:cBhvr>
                                        <p:cTn id="23" dur="1000" fill="hold"/>
                                        <p:tgtEl>
                                          <p:spTgt spid="32"/>
                                        </p:tgtEl>
                                        <p:attrNameLst>
                                          <p:attrName>style.visibility</p:attrName>
                                        </p:attrNameLst>
                                      </p:cBhvr>
                                      <p:tavLst>
                                        <p:tav tm="0">
                                          <p:val>
                                            <p:strVal val="hidden"/>
                                          </p:val>
                                        </p:tav>
                                        <p:tav tm="50000">
                                          <p:val>
                                            <p:strVal val="visible"/>
                                          </p:val>
                                        </p:tav>
                                      </p:tavLst>
                                    </p:anim>
                                  </p:childTnLst>
                                </p:cTn>
                              </p:par>
                            </p:childTnLst>
                          </p:cTn>
                        </p:par>
                      </p:childTnLst>
                    </p:cTn>
                  </p:par>
                  <p:par>
                    <p:cTn id="24" fill="hold">
                      <p:stCondLst>
                        <p:cond delay="indefinite"/>
                      </p:stCondLst>
                      <p:childTnLst>
                        <p:par>
                          <p:cTn id="25" fill="hold">
                            <p:stCondLst>
                              <p:cond delay="0"/>
                            </p:stCondLst>
                            <p:childTnLst>
                              <p:par>
                                <p:cTn id="26" presetID="35" presetClass="emph" presetSubtype="0" repeatCount="3000" fill="hold" nodeType="clickEffect">
                                  <p:stCondLst>
                                    <p:cond delay="0"/>
                                  </p:stCondLst>
                                  <p:childTnLst>
                                    <p:anim calcmode="discrete" valueType="str">
                                      <p:cBhvr>
                                        <p:cTn id="27" dur="1000" fill="hold"/>
                                        <p:tgtEl>
                                          <p:spTgt spid="49"/>
                                        </p:tgtEl>
                                        <p:attrNameLst>
                                          <p:attrName>style.visibility</p:attrName>
                                        </p:attrNameLst>
                                      </p:cBhvr>
                                      <p:tavLst>
                                        <p:tav tm="0">
                                          <p:val>
                                            <p:strVal val="hidden"/>
                                          </p:val>
                                        </p:tav>
                                        <p:tav tm="50000">
                                          <p:val>
                                            <p:strVal val="visible"/>
                                          </p:val>
                                        </p:tav>
                                      </p:tavLst>
                                    </p:anim>
                                  </p:childTnLst>
                                </p:cTn>
                              </p:par>
                              <p:par>
                                <p:cTn id="28" presetID="35" presetClass="emph" presetSubtype="0" repeatCount="3000" fill="hold" nodeType="withEffect">
                                  <p:stCondLst>
                                    <p:cond delay="0"/>
                                  </p:stCondLst>
                                  <p:childTnLst>
                                    <p:anim calcmode="discrete" valueType="str">
                                      <p:cBhvr>
                                        <p:cTn id="29" dur="1000" fill="hold"/>
                                        <p:tgtEl>
                                          <p:spTgt spid="50"/>
                                        </p:tgtEl>
                                        <p:attrNameLst>
                                          <p:attrName>style.visibility</p:attrName>
                                        </p:attrNameLst>
                                      </p:cBhvr>
                                      <p:tavLst>
                                        <p:tav tm="0">
                                          <p:val>
                                            <p:strVal val="hidden"/>
                                          </p:val>
                                        </p:tav>
                                        <p:tav tm="50000">
                                          <p:val>
                                            <p:strVal val="visible"/>
                                          </p:val>
                                        </p:tav>
                                      </p:tavLst>
                                    </p:anim>
                                  </p:childTnLst>
                                </p:cTn>
                              </p:par>
                            </p:childTnLst>
                          </p:cTn>
                        </p:par>
                      </p:childTnLst>
                    </p:cTn>
                  </p:par>
                  <p:par>
                    <p:cTn id="30" fill="hold">
                      <p:stCondLst>
                        <p:cond delay="indefinite"/>
                      </p:stCondLst>
                      <p:childTnLst>
                        <p:par>
                          <p:cTn id="31" fill="hold">
                            <p:stCondLst>
                              <p:cond delay="0"/>
                            </p:stCondLst>
                            <p:childTnLst>
                              <p:par>
                                <p:cTn id="32" presetID="35" presetClass="emph" presetSubtype="0" repeatCount="3000" fill="hold" nodeType="clickEffect">
                                  <p:stCondLst>
                                    <p:cond delay="0"/>
                                  </p:stCondLst>
                                  <p:childTnLst>
                                    <p:anim calcmode="discrete" valueType="str">
                                      <p:cBhvr>
                                        <p:cTn id="33" dur="1000" fill="hold"/>
                                        <p:tgtEl>
                                          <p:spTgt spid="51"/>
                                        </p:tgtEl>
                                        <p:attrNameLst>
                                          <p:attrName>style.visibility</p:attrName>
                                        </p:attrNameLst>
                                      </p:cBhvr>
                                      <p:tavLst>
                                        <p:tav tm="0">
                                          <p:val>
                                            <p:strVal val="hidden"/>
                                          </p:val>
                                        </p:tav>
                                        <p:tav tm="50000">
                                          <p:val>
                                            <p:strVal val="visible"/>
                                          </p:val>
                                        </p:tav>
                                      </p:tavLst>
                                    </p:anim>
                                  </p:childTnLst>
                                </p:cTn>
                              </p:par>
                            </p:childTnLst>
                          </p:cTn>
                        </p:par>
                      </p:childTnLst>
                    </p:cTn>
                  </p:par>
                  <p:par>
                    <p:cTn id="34" fill="hold">
                      <p:stCondLst>
                        <p:cond delay="indefinite"/>
                      </p:stCondLst>
                      <p:childTnLst>
                        <p:par>
                          <p:cTn id="35" fill="hold">
                            <p:stCondLst>
                              <p:cond delay="0"/>
                            </p:stCondLst>
                            <p:childTnLst>
                              <p:par>
                                <p:cTn id="36" presetID="35" presetClass="emph" presetSubtype="0" repeatCount="3000" fill="hold" nodeType="clickEffect">
                                  <p:stCondLst>
                                    <p:cond delay="0"/>
                                  </p:stCondLst>
                                  <p:childTnLst>
                                    <p:anim calcmode="discrete" valueType="str">
                                      <p:cBhvr>
                                        <p:cTn id="37" dur="1000" fill="hold"/>
                                        <p:tgtEl>
                                          <p:spTgt spid="3"/>
                                        </p:tgtEl>
                                        <p:attrNameLst>
                                          <p:attrName>style.visibility</p:attrName>
                                        </p:attrNameLst>
                                      </p:cBhvr>
                                      <p:tavLst>
                                        <p:tav tm="0">
                                          <p:val>
                                            <p:strVal val="hidden"/>
                                          </p:val>
                                        </p:tav>
                                        <p:tav tm="50000">
                                          <p:val>
                                            <p:strVal val="visible"/>
                                          </p:val>
                                        </p:tav>
                                      </p:tavLst>
                                    </p:anim>
                                  </p:childTnLst>
                                </p:cTn>
                              </p:par>
                              <p:par>
                                <p:cTn id="38" presetID="35" presetClass="emph" presetSubtype="0" repeatCount="3000" fill="hold" grpId="0" nodeType="withEffect">
                                  <p:stCondLst>
                                    <p:cond delay="0"/>
                                  </p:stCondLst>
                                  <p:childTnLst>
                                    <p:anim calcmode="discrete" valueType="str">
                                      <p:cBhvr>
                                        <p:cTn id="39" dur="1000" fill="hold"/>
                                        <p:tgtEl>
                                          <p:spTgt spid="38"/>
                                        </p:tgtEl>
                                        <p:attrNameLst>
                                          <p:attrName>style.visibility</p:attrName>
                                        </p:attrNameLst>
                                      </p:cBhvr>
                                      <p:tavLst>
                                        <p:tav tm="0">
                                          <p:val>
                                            <p:strVal val="hidden"/>
                                          </p:val>
                                        </p:tav>
                                        <p:tav tm="50000">
                                          <p:val>
                                            <p:strVal val="visible"/>
                                          </p:val>
                                        </p:tav>
                                      </p:tavLst>
                                    </p:anim>
                                  </p:childTnLst>
                                </p:cTn>
                              </p:par>
                            </p:childTnLst>
                          </p:cTn>
                        </p:par>
                      </p:childTnLst>
                    </p:cTn>
                  </p:par>
                  <p:par>
                    <p:cTn id="40" fill="hold">
                      <p:stCondLst>
                        <p:cond delay="indefinite"/>
                      </p:stCondLst>
                      <p:childTnLst>
                        <p:par>
                          <p:cTn id="41" fill="hold">
                            <p:stCondLst>
                              <p:cond delay="0"/>
                            </p:stCondLst>
                            <p:childTnLst>
                              <p:par>
                                <p:cTn id="42" presetID="35" presetClass="emph" presetSubtype="0" repeatCount="3000" fill="hold" nodeType="clickEffect">
                                  <p:stCondLst>
                                    <p:cond delay="0"/>
                                  </p:stCondLst>
                                  <p:childTnLst>
                                    <p:anim calcmode="discrete" valueType="str">
                                      <p:cBhvr>
                                        <p:cTn id="43" dur="1000" fill="hold"/>
                                        <p:tgtEl>
                                          <p:spTgt spid="52"/>
                                        </p:tgtEl>
                                        <p:attrNameLst>
                                          <p:attrName>style.visibility</p:attrName>
                                        </p:attrNameLst>
                                      </p:cBhvr>
                                      <p:tavLst>
                                        <p:tav tm="0">
                                          <p:val>
                                            <p:strVal val="hidden"/>
                                          </p:val>
                                        </p:tav>
                                        <p:tav tm="50000">
                                          <p:val>
                                            <p:strVal val="visible"/>
                                          </p:val>
                                        </p:tav>
                                      </p:tavLst>
                                    </p:anim>
                                  </p:childTnLst>
                                </p:cTn>
                              </p:par>
                            </p:childTnLst>
                          </p:cTn>
                        </p:par>
                      </p:childTnLst>
                    </p:cTn>
                  </p:par>
                  <p:par>
                    <p:cTn id="44" fill="hold">
                      <p:stCondLst>
                        <p:cond delay="indefinite"/>
                      </p:stCondLst>
                      <p:childTnLst>
                        <p:par>
                          <p:cTn id="45" fill="hold">
                            <p:stCondLst>
                              <p:cond delay="0"/>
                            </p:stCondLst>
                            <p:childTnLst>
                              <p:par>
                                <p:cTn id="46" presetID="35" presetClass="emph" presetSubtype="0" repeatCount="3000" fill="hold" nodeType="clickEffect">
                                  <p:stCondLst>
                                    <p:cond delay="0"/>
                                  </p:stCondLst>
                                  <p:childTnLst>
                                    <p:anim calcmode="discrete" valueType="str">
                                      <p:cBhvr>
                                        <p:cTn id="47" dur="1000" fill="hold"/>
                                        <p:tgtEl>
                                          <p:spTgt spid="4"/>
                                        </p:tgtEl>
                                        <p:attrNameLst>
                                          <p:attrName>style.visibility</p:attrName>
                                        </p:attrNameLst>
                                      </p:cBhvr>
                                      <p:tavLst>
                                        <p:tav tm="0">
                                          <p:val>
                                            <p:strVal val="hidden"/>
                                          </p:val>
                                        </p:tav>
                                        <p:tav tm="50000">
                                          <p:val>
                                            <p:strVal val="visible"/>
                                          </p:val>
                                        </p:tav>
                                      </p:tavLst>
                                    </p:anim>
                                  </p:childTnLst>
                                </p:cTn>
                              </p:par>
                              <p:par>
                                <p:cTn id="48" presetID="35" presetClass="emph" presetSubtype="0" repeatCount="3000" fill="hold" grpId="0" nodeType="withEffect">
                                  <p:stCondLst>
                                    <p:cond delay="0"/>
                                  </p:stCondLst>
                                  <p:childTnLst>
                                    <p:anim calcmode="discrete" valueType="str">
                                      <p:cBhvr>
                                        <p:cTn id="49" dur="1000" fill="hold"/>
                                        <p:tgtEl>
                                          <p:spTgt spid="4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8" grpId="0"/>
      <p:bldP spid="40" grpId="0"/>
      <p:bldP spid="44"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1924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701580" y="596154"/>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FFC000"/>
                </a:solidFill>
                <a:latin typeface="微软雅黑" pitchFamily="34" charset="-122"/>
                <a:ea typeface="微软雅黑" pitchFamily="34" charset="-122"/>
              </a:rPr>
              <a:t>可能发生死锁</a:t>
            </a:r>
          </a:p>
        </p:txBody>
      </p:sp>
      <p:sp>
        <p:nvSpPr>
          <p:cNvPr id="7" name="圆角矩形 6"/>
          <p:cNvSpPr/>
          <p:nvPr/>
        </p:nvSpPr>
        <p:spPr>
          <a:xfrm>
            <a:off x="556963" y="1016058"/>
            <a:ext cx="8048776" cy="375316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Line 4"/>
          <p:cNvSpPr>
            <a:spLocks noChangeShapeType="1"/>
          </p:cNvSpPr>
          <p:nvPr/>
        </p:nvSpPr>
        <p:spPr bwMode="auto">
          <a:xfrm>
            <a:off x="4175827" y="1875280"/>
            <a:ext cx="64290" cy="2822225"/>
          </a:xfrm>
          <a:prstGeom prst="line">
            <a:avLst/>
          </a:prstGeom>
          <a:noFill/>
          <a:ln w="19050">
            <a:solidFill>
              <a:srgbClr val="0033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2" name="组合 1"/>
          <p:cNvGrpSpPr/>
          <p:nvPr/>
        </p:nvGrpSpPr>
        <p:grpSpPr>
          <a:xfrm>
            <a:off x="1677792" y="2430765"/>
            <a:ext cx="2498033" cy="243656"/>
            <a:chOff x="1677792" y="2484555"/>
            <a:chExt cx="2498033" cy="243656"/>
          </a:xfrm>
        </p:grpSpPr>
        <p:sp>
          <p:nvSpPr>
            <p:cNvPr id="24" name="Line 19"/>
            <p:cNvSpPr>
              <a:spLocks noChangeShapeType="1"/>
            </p:cNvSpPr>
            <p:nvPr/>
          </p:nvSpPr>
          <p:spPr bwMode="auto">
            <a:xfrm flipH="1">
              <a:off x="1677792" y="2719123"/>
              <a:ext cx="2498033"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5" name="Rectangle 20"/>
            <p:cNvSpPr>
              <a:spLocks noChangeArrowheads="1"/>
            </p:cNvSpPr>
            <p:nvPr/>
          </p:nvSpPr>
          <p:spPr bwMode="auto">
            <a:xfrm flipH="1">
              <a:off x="1824091" y="2484555"/>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201, </a:t>
              </a:r>
              <a:r>
                <a:rPr kumimoji="1" lang="en-US" altLang="zh-CN" sz="1000" b="1" dirty="0" err="1">
                  <a:solidFill>
                    <a:srgbClr val="0000FF"/>
                  </a:solidFill>
                  <a:latin typeface="微软雅黑" pitchFamily="34" charset="-122"/>
                  <a:ea typeface="微软雅黑" pitchFamily="34" charset="-122"/>
                </a:rPr>
                <a:t>rwnd</a:t>
              </a:r>
              <a:r>
                <a:rPr kumimoji="1" lang="en-US" altLang="zh-CN" sz="1000" b="1" dirty="0">
                  <a:solidFill>
                    <a:srgbClr val="0000FF"/>
                  </a:solidFill>
                  <a:latin typeface="微软雅黑" pitchFamily="34" charset="-122"/>
                  <a:ea typeface="微软雅黑" pitchFamily="34" charset="-122"/>
                </a:rPr>
                <a:t> = 300</a:t>
              </a:r>
            </a:p>
          </p:txBody>
        </p:sp>
      </p:grpSp>
      <p:grpSp>
        <p:nvGrpSpPr>
          <p:cNvPr id="4" name="组合 3"/>
          <p:cNvGrpSpPr/>
          <p:nvPr/>
        </p:nvGrpSpPr>
        <p:grpSpPr>
          <a:xfrm>
            <a:off x="1685307" y="3824413"/>
            <a:ext cx="2490520" cy="243656"/>
            <a:chOff x="1685307" y="3878203"/>
            <a:chExt cx="2490520" cy="243656"/>
          </a:xfrm>
        </p:grpSpPr>
        <p:sp>
          <p:nvSpPr>
            <p:cNvPr id="26" name="Line 21"/>
            <p:cNvSpPr>
              <a:spLocks noChangeShapeType="1"/>
            </p:cNvSpPr>
            <p:nvPr/>
          </p:nvSpPr>
          <p:spPr bwMode="auto">
            <a:xfrm flipH="1">
              <a:off x="1685307" y="4112773"/>
              <a:ext cx="2490520"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7"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601, </a:t>
              </a:r>
              <a:r>
                <a:rPr kumimoji="1" lang="en-US" altLang="zh-CN" sz="1000" b="1" dirty="0" err="1">
                  <a:solidFill>
                    <a:srgbClr val="0000FF"/>
                  </a:solidFill>
                  <a:latin typeface="微软雅黑" pitchFamily="34" charset="-122"/>
                  <a:ea typeface="微软雅黑" pitchFamily="34" charset="-122"/>
                </a:rPr>
                <a:t>rwnd</a:t>
              </a:r>
              <a:r>
                <a:rPr kumimoji="1" lang="en-US" altLang="zh-CN" sz="1000" b="1" dirty="0">
                  <a:solidFill>
                    <a:srgbClr val="0000FF"/>
                  </a:solidFill>
                  <a:latin typeface="微软雅黑" pitchFamily="34" charset="-122"/>
                  <a:ea typeface="微软雅黑" pitchFamily="34" charset="-122"/>
                </a:rPr>
                <a:t> = 0</a:t>
              </a:r>
            </a:p>
          </p:txBody>
        </p:sp>
      </p:grpSp>
      <p:grpSp>
        <p:nvGrpSpPr>
          <p:cNvPr id="3" name="组合 2"/>
          <p:cNvGrpSpPr/>
          <p:nvPr/>
        </p:nvGrpSpPr>
        <p:grpSpPr>
          <a:xfrm>
            <a:off x="1675914" y="3359574"/>
            <a:ext cx="2499912" cy="243656"/>
            <a:chOff x="1675914" y="3413364"/>
            <a:chExt cx="2499912" cy="243656"/>
          </a:xfrm>
        </p:grpSpPr>
        <p:sp>
          <p:nvSpPr>
            <p:cNvPr id="28" name="Line 23"/>
            <p:cNvSpPr>
              <a:spLocks noChangeShapeType="1"/>
            </p:cNvSpPr>
            <p:nvPr/>
          </p:nvSpPr>
          <p:spPr bwMode="auto">
            <a:xfrm flipH="1">
              <a:off x="1675914" y="3643597"/>
              <a:ext cx="2499912"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9" name="Rectangle 24"/>
            <p:cNvSpPr>
              <a:spLocks noChangeArrowheads="1"/>
            </p:cNvSpPr>
            <p:nvPr/>
          </p:nvSpPr>
          <p:spPr bwMode="auto">
            <a:xfrm flipH="1">
              <a:off x="1824091" y="3413364"/>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501, </a:t>
              </a:r>
              <a:r>
                <a:rPr kumimoji="1" lang="en-US" altLang="zh-CN" sz="1000" b="1" dirty="0" err="1">
                  <a:solidFill>
                    <a:srgbClr val="0000FF"/>
                  </a:solidFill>
                  <a:latin typeface="微软雅黑" pitchFamily="34" charset="-122"/>
                  <a:ea typeface="微软雅黑" pitchFamily="34" charset="-122"/>
                </a:rPr>
                <a:t>rwnd</a:t>
              </a:r>
              <a:r>
                <a:rPr kumimoji="1" lang="en-US" altLang="zh-CN" sz="1000" b="1" dirty="0">
                  <a:solidFill>
                    <a:srgbClr val="0000FF"/>
                  </a:solidFill>
                  <a:latin typeface="微软雅黑" pitchFamily="34" charset="-122"/>
                  <a:ea typeface="微软雅黑" pitchFamily="34" charset="-122"/>
                </a:rPr>
                <a:t> = 100</a:t>
              </a:r>
            </a:p>
          </p:txBody>
        </p:sp>
      </p:grpSp>
      <p:sp>
        <p:nvSpPr>
          <p:cNvPr id="30" name="Rectangle 25"/>
          <p:cNvSpPr>
            <a:spLocks noChangeArrowheads="1"/>
          </p:cNvSpPr>
          <p:nvPr/>
        </p:nvSpPr>
        <p:spPr bwMode="auto">
          <a:xfrm>
            <a:off x="1579145" y="1676684"/>
            <a:ext cx="28854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itchFamily="34" charset="-122"/>
                <a:ea typeface="微软雅黑" pitchFamily="34" charset="-122"/>
              </a:rPr>
              <a:t>A</a:t>
            </a:r>
          </a:p>
        </p:txBody>
      </p:sp>
      <p:sp>
        <p:nvSpPr>
          <p:cNvPr id="31" name="Rectangle 26"/>
          <p:cNvSpPr>
            <a:spLocks noChangeArrowheads="1"/>
          </p:cNvSpPr>
          <p:nvPr/>
        </p:nvSpPr>
        <p:spPr bwMode="auto">
          <a:xfrm>
            <a:off x="4064966" y="1676684"/>
            <a:ext cx="27892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itchFamily="34" charset="-122"/>
                <a:ea typeface="微软雅黑" pitchFamily="34" charset="-122"/>
              </a:rPr>
              <a:t>B</a:t>
            </a:r>
          </a:p>
        </p:txBody>
      </p:sp>
      <p:sp>
        <p:nvSpPr>
          <p:cNvPr id="32" name="Rectangle 27"/>
          <p:cNvSpPr>
            <a:spLocks noChangeArrowheads="1"/>
          </p:cNvSpPr>
          <p:nvPr/>
        </p:nvSpPr>
        <p:spPr bwMode="auto">
          <a:xfrm>
            <a:off x="4235218" y="2519487"/>
            <a:ext cx="285334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C00000"/>
                </a:solidFill>
                <a:latin typeface="微软雅黑" pitchFamily="34" charset="-122"/>
                <a:ea typeface="微软雅黑" pitchFamily="34" charset="-122"/>
              </a:rPr>
              <a:t>允许 </a:t>
            </a:r>
            <a:r>
              <a:rPr kumimoji="1" lang="en-US" altLang="zh-CN" sz="1100" b="1" dirty="0">
                <a:solidFill>
                  <a:srgbClr val="C00000"/>
                </a:solidFill>
                <a:latin typeface="微软雅黑" pitchFamily="34" charset="-122"/>
                <a:ea typeface="微软雅黑" pitchFamily="34" charset="-122"/>
              </a:rPr>
              <a:t>A </a:t>
            </a:r>
            <a:r>
              <a:rPr kumimoji="1" lang="zh-CN" altLang="en-US" sz="1100" b="1" dirty="0">
                <a:solidFill>
                  <a:srgbClr val="C00000"/>
                </a:solidFill>
                <a:latin typeface="微软雅黑" pitchFamily="34" charset="-122"/>
                <a:ea typeface="微软雅黑" pitchFamily="34" charset="-122"/>
              </a:rPr>
              <a:t>发送序号 </a:t>
            </a:r>
            <a:r>
              <a:rPr kumimoji="1" lang="en-US" altLang="zh-CN" sz="1100" b="1" dirty="0">
                <a:solidFill>
                  <a:srgbClr val="C00000"/>
                </a:solidFill>
                <a:latin typeface="微软雅黑" pitchFamily="34" charset="-122"/>
                <a:ea typeface="微软雅黑" pitchFamily="34" charset="-122"/>
              </a:rPr>
              <a:t>201 </a:t>
            </a:r>
            <a:r>
              <a:rPr kumimoji="1" lang="zh-CN" altLang="en-US" sz="1100" b="1" dirty="0">
                <a:solidFill>
                  <a:srgbClr val="C00000"/>
                </a:solidFill>
                <a:latin typeface="微软雅黑" pitchFamily="34" charset="-122"/>
                <a:ea typeface="微软雅黑" pitchFamily="34" charset="-122"/>
              </a:rPr>
              <a:t>至 </a:t>
            </a:r>
            <a:r>
              <a:rPr kumimoji="1" lang="en-US" altLang="zh-CN" sz="1100" b="1" dirty="0">
                <a:solidFill>
                  <a:srgbClr val="C00000"/>
                </a:solidFill>
                <a:latin typeface="微软雅黑" pitchFamily="34" charset="-122"/>
                <a:ea typeface="微软雅黑" pitchFamily="34" charset="-122"/>
              </a:rPr>
              <a:t>500  </a:t>
            </a:r>
            <a:r>
              <a:rPr kumimoji="1" lang="zh-CN" altLang="en-US" sz="1100" b="1" dirty="0">
                <a:solidFill>
                  <a:srgbClr val="C00000"/>
                </a:solidFill>
                <a:latin typeface="微软雅黑" pitchFamily="34" charset="-122"/>
                <a:ea typeface="微软雅黑" pitchFamily="34" charset="-122"/>
              </a:rPr>
              <a:t>共 </a:t>
            </a:r>
            <a:r>
              <a:rPr kumimoji="1" lang="en-US" altLang="zh-CN" sz="1100" b="1" dirty="0">
                <a:solidFill>
                  <a:srgbClr val="C00000"/>
                </a:solidFill>
                <a:latin typeface="微软雅黑" pitchFamily="34" charset="-122"/>
                <a:ea typeface="微软雅黑" pitchFamily="34" charset="-122"/>
              </a:rPr>
              <a:t>300 </a:t>
            </a:r>
            <a:r>
              <a:rPr kumimoji="1" lang="zh-CN" altLang="en-US" sz="1100" b="1" dirty="0">
                <a:solidFill>
                  <a:srgbClr val="C00000"/>
                </a:solidFill>
                <a:latin typeface="微软雅黑" pitchFamily="34" charset="-122"/>
                <a:ea typeface="微软雅黑" pitchFamily="34" charset="-122"/>
              </a:rPr>
              <a:t>字节</a:t>
            </a:r>
          </a:p>
        </p:txBody>
      </p:sp>
      <p:grpSp>
        <p:nvGrpSpPr>
          <p:cNvPr id="46" name="组合 45"/>
          <p:cNvGrpSpPr/>
          <p:nvPr/>
        </p:nvGrpSpPr>
        <p:grpSpPr>
          <a:xfrm>
            <a:off x="1694704" y="1947714"/>
            <a:ext cx="5692018" cy="352971"/>
            <a:chOff x="1694704" y="1947714"/>
            <a:chExt cx="5692018" cy="352971"/>
          </a:xfrm>
        </p:grpSpPr>
        <p:sp>
          <p:nvSpPr>
            <p:cNvPr id="18" name="Line 13"/>
            <p:cNvSpPr>
              <a:spLocks noChangeShapeType="1"/>
            </p:cNvSpPr>
            <p:nvPr/>
          </p:nvSpPr>
          <p:spPr bwMode="auto">
            <a:xfrm>
              <a:off x="1694704" y="2190955"/>
              <a:ext cx="2481121"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9" name="Rectangle 14"/>
            <p:cNvSpPr>
              <a:spLocks noChangeArrowheads="1"/>
            </p:cNvSpPr>
            <p:nvPr/>
          </p:nvSpPr>
          <p:spPr bwMode="auto">
            <a:xfrm>
              <a:off x="2304992" y="1947714"/>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101, DATA</a:t>
              </a:r>
            </a:p>
          </p:txBody>
        </p:sp>
        <p:sp>
          <p:nvSpPr>
            <p:cNvPr id="33" name="Rectangle 28"/>
            <p:cNvSpPr>
              <a:spLocks noChangeArrowheads="1"/>
            </p:cNvSpPr>
            <p:nvPr/>
          </p:nvSpPr>
          <p:spPr bwMode="auto">
            <a:xfrm>
              <a:off x="4235217" y="2041640"/>
              <a:ext cx="315150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101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200</a:t>
              </a:r>
              <a:r>
                <a:rPr kumimoji="1" lang="zh-CN" altLang="en-US" sz="1100" b="1" dirty="0">
                  <a:latin typeface="微软雅黑" pitchFamily="34" charset="-122"/>
                  <a:ea typeface="微软雅黑" pitchFamily="34" charset="-122"/>
                </a:rPr>
                <a:t>，还能发送 </a:t>
              </a:r>
              <a:r>
                <a:rPr kumimoji="1" lang="en-US" altLang="zh-CN" sz="1100" b="1" dirty="0">
                  <a:latin typeface="微软雅黑" pitchFamily="34" charset="-122"/>
                  <a:ea typeface="微软雅黑" pitchFamily="34" charset="-122"/>
                </a:rPr>
                <a:t>200 </a:t>
              </a:r>
              <a:r>
                <a:rPr kumimoji="1" lang="zh-CN" altLang="en-US" sz="1100" b="1" dirty="0">
                  <a:latin typeface="微软雅黑" pitchFamily="34" charset="-122"/>
                  <a:ea typeface="微软雅黑" pitchFamily="34" charset="-122"/>
                </a:rPr>
                <a:t>字节</a:t>
              </a:r>
            </a:p>
          </p:txBody>
        </p:sp>
      </p:grpSp>
      <p:grpSp>
        <p:nvGrpSpPr>
          <p:cNvPr id="49" name="组合 48"/>
          <p:cNvGrpSpPr/>
          <p:nvPr/>
        </p:nvGrpSpPr>
        <p:grpSpPr>
          <a:xfrm>
            <a:off x="1693764" y="2637168"/>
            <a:ext cx="6257216" cy="365979"/>
            <a:chOff x="1693764" y="2637168"/>
            <a:chExt cx="6257216" cy="365979"/>
          </a:xfrm>
        </p:grpSpPr>
        <p:sp>
          <p:nvSpPr>
            <p:cNvPr id="16" name="Line 11"/>
            <p:cNvSpPr>
              <a:spLocks noChangeShapeType="1"/>
            </p:cNvSpPr>
            <p:nvPr/>
          </p:nvSpPr>
          <p:spPr bwMode="auto">
            <a:xfrm>
              <a:off x="1693764" y="2889080"/>
              <a:ext cx="2482062"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7" name="Rectangle 12"/>
            <p:cNvSpPr>
              <a:spLocks noChangeArrowheads="1"/>
            </p:cNvSpPr>
            <p:nvPr/>
          </p:nvSpPr>
          <p:spPr bwMode="auto">
            <a:xfrm>
              <a:off x="2304992" y="2637168"/>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301, DATA</a:t>
              </a:r>
            </a:p>
          </p:txBody>
        </p:sp>
        <p:sp>
          <p:nvSpPr>
            <p:cNvPr id="34" name="Rectangle 29"/>
            <p:cNvSpPr>
              <a:spLocks noChangeArrowheads="1"/>
            </p:cNvSpPr>
            <p:nvPr/>
          </p:nvSpPr>
          <p:spPr bwMode="auto">
            <a:xfrm>
              <a:off x="4235218" y="2744102"/>
              <a:ext cx="37157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a:latin typeface="微软雅黑" pitchFamily="34" charset="-122"/>
                  <a:ea typeface="微软雅黑" pitchFamily="34" charset="-122"/>
                </a:rPr>
                <a:t>A </a:t>
              </a:r>
              <a:r>
                <a:rPr kumimoji="1" lang="zh-CN" altLang="en-US" sz="1100" b="1">
                  <a:latin typeface="微软雅黑" pitchFamily="34" charset="-122"/>
                  <a:ea typeface="微软雅黑" pitchFamily="34" charset="-122"/>
                </a:rPr>
                <a:t>发送了序号 </a:t>
              </a:r>
              <a:r>
                <a:rPr kumimoji="1" lang="en-US" altLang="zh-CN" sz="1100" b="1">
                  <a:latin typeface="微软雅黑" pitchFamily="34" charset="-122"/>
                  <a:ea typeface="微软雅黑" pitchFamily="34" charset="-122"/>
                </a:rPr>
                <a:t>301 </a:t>
              </a:r>
              <a:r>
                <a:rPr kumimoji="1" lang="zh-CN" altLang="en-US" sz="1100" b="1">
                  <a:latin typeface="微软雅黑" pitchFamily="34" charset="-122"/>
                  <a:ea typeface="微软雅黑" pitchFamily="34" charset="-122"/>
                </a:rPr>
                <a:t>至 </a:t>
              </a:r>
              <a:r>
                <a:rPr kumimoji="1" lang="en-US" altLang="zh-CN" sz="1100" b="1">
                  <a:latin typeface="微软雅黑" pitchFamily="34" charset="-122"/>
                  <a:ea typeface="微软雅黑" pitchFamily="34" charset="-122"/>
                </a:rPr>
                <a:t>400</a:t>
              </a:r>
              <a:r>
                <a:rPr kumimoji="1" lang="zh-CN" altLang="en-US" sz="1100" b="1">
                  <a:latin typeface="微软雅黑" pitchFamily="34" charset="-122"/>
                  <a:ea typeface="微软雅黑" pitchFamily="34" charset="-122"/>
                </a:rPr>
                <a:t>，还能再发送 </a:t>
              </a:r>
              <a:r>
                <a:rPr kumimoji="1" lang="en-US" altLang="zh-CN" sz="1100" b="1">
                  <a:latin typeface="微软雅黑" pitchFamily="34" charset="-122"/>
                  <a:ea typeface="微软雅黑" pitchFamily="34" charset="-122"/>
                </a:rPr>
                <a:t>100 </a:t>
              </a:r>
              <a:r>
                <a:rPr kumimoji="1" lang="zh-CN" altLang="en-US" sz="1100" b="1">
                  <a:latin typeface="微软雅黑" pitchFamily="34" charset="-122"/>
                  <a:ea typeface="微软雅黑" pitchFamily="34" charset="-122"/>
                </a:rPr>
                <a:t>字节新数据</a:t>
              </a:r>
            </a:p>
          </p:txBody>
        </p:sp>
      </p:grpSp>
      <p:grpSp>
        <p:nvGrpSpPr>
          <p:cNvPr id="45" name="组合 44"/>
          <p:cNvGrpSpPr/>
          <p:nvPr/>
        </p:nvGrpSpPr>
        <p:grpSpPr>
          <a:xfrm>
            <a:off x="1695644" y="1727436"/>
            <a:ext cx="5517954" cy="346900"/>
            <a:chOff x="1695644" y="1727436"/>
            <a:chExt cx="5517954" cy="346900"/>
          </a:xfrm>
        </p:grpSpPr>
        <p:sp>
          <p:nvSpPr>
            <p:cNvPr id="10" name="Line 5"/>
            <p:cNvSpPr>
              <a:spLocks noChangeShapeType="1"/>
            </p:cNvSpPr>
            <p:nvPr/>
          </p:nvSpPr>
          <p:spPr bwMode="auto">
            <a:xfrm>
              <a:off x="1695644" y="1962005"/>
              <a:ext cx="2480184"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1" name="Rectangle 6"/>
            <p:cNvSpPr>
              <a:spLocks noChangeArrowheads="1"/>
            </p:cNvSpPr>
            <p:nvPr/>
          </p:nvSpPr>
          <p:spPr bwMode="auto">
            <a:xfrm>
              <a:off x="2383539" y="1727436"/>
              <a:ext cx="1107677"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1, DATA</a:t>
              </a:r>
            </a:p>
          </p:txBody>
        </p:sp>
        <p:sp>
          <p:nvSpPr>
            <p:cNvPr id="35" name="Rectangle 30"/>
            <p:cNvSpPr>
              <a:spLocks noChangeArrowheads="1"/>
            </p:cNvSpPr>
            <p:nvPr/>
          </p:nvSpPr>
          <p:spPr bwMode="auto">
            <a:xfrm>
              <a:off x="4235218" y="1815291"/>
              <a:ext cx="2978380"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100</a:t>
              </a:r>
              <a:r>
                <a:rPr kumimoji="1" lang="zh-CN" altLang="en-US" sz="1100" b="1" dirty="0">
                  <a:latin typeface="微软雅黑" pitchFamily="34" charset="-122"/>
                  <a:ea typeface="微软雅黑" pitchFamily="34" charset="-122"/>
                </a:rPr>
                <a:t>，还能发送 </a:t>
              </a:r>
              <a:r>
                <a:rPr kumimoji="1" lang="en-US" altLang="zh-CN" sz="1100" b="1" dirty="0">
                  <a:latin typeface="微软雅黑" pitchFamily="34" charset="-122"/>
                  <a:ea typeface="微软雅黑" pitchFamily="34" charset="-122"/>
                </a:rPr>
                <a:t>300 </a:t>
              </a:r>
              <a:r>
                <a:rPr kumimoji="1" lang="zh-CN" altLang="en-US" sz="1100" b="1" dirty="0">
                  <a:latin typeface="微软雅黑" pitchFamily="34" charset="-122"/>
                  <a:ea typeface="微软雅黑" pitchFamily="34" charset="-122"/>
                </a:rPr>
                <a:t>字节</a:t>
              </a:r>
            </a:p>
          </p:txBody>
        </p:sp>
      </p:grpSp>
      <p:grpSp>
        <p:nvGrpSpPr>
          <p:cNvPr id="50" name="组合 49"/>
          <p:cNvGrpSpPr/>
          <p:nvPr/>
        </p:nvGrpSpPr>
        <p:grpSpPr>
          <a:xfrm>
            <a:off x="1697522" y="2879993"/>
            <a:ext cx="5769351" cy="363378"/>
            <a:chOff x="1697522" y="2879993"/>
            <a:chExt cx="5769351" cy="363378"/>
          </a:xfrm>
        </p:grpSpPr>
        <p:sp>
          <p:nvSpPr>
            <p:cNvPr id="14" name="Line 9"/>
            <p:cNvSpPr>
              <a:spLocks noChangeShapeType="1"/>
            </p:cNvSpPr>
            <p:nvPr/>
          </p:nvSpPr>
          <p:spPr bwMode="auto">
            <a:xfrm>
              <a:off x="1697522" y="3126703"/>
              <a:ext cx="2478304"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5" name="Rectangle 10"/>
            <p:cNvSpPr>
              <a:spLocks noChangeArrowheads="1"/>
            </p:cNvSpPr>
            <p:nvPr/>
          </p:nvSpPr>
          <p:spPr bwMode="auto">
            <a:xfrm>
              <a:off x="2304992" y="2879993"/>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401, DATA</a:t>
              </a:r>
            </a:p>
          </p:txBody>
        </p:sp>
        <p:sp>
          <p:nvSpPr>
            <p:cNvPr id="36" name="Rectangle 31"/>
            <p:cNvSpPr>
              <a:spLocks noChangeArrowheads="1"/>
            </p:cNvSpPr>
            <p:nvPr/>
          </p:nvSpPr>
          <p:spPr bwMode="auto">
            <a:xfrm>
              <a:off x="4235218" y="2984326"/>
              <a:ext cx="323165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a:latin typeface="微软雅黑" pitchFamily="34" charset="-122"/>
                  <a:ea typeface="微软雅黑" pitchFamily="34" charset="-122"/>
                </a:rPr>
                <a:t>A </a:t>
              </a:r>
              <a:r>
                <a:rPr kumimoji="1" lang="zh-CN" altLang="en-US" sz="1100" b="1">
                  <a:latin typeface="微软雅黑" pitchFamily="34" charset="-122"/>
                  <a:ea typeface="微软雅黑" pitchFamily="34" charset="-122"/>
                </a:rPr>
                <a:t>发送了序号 </a:t>
              </a:r>
              <a:r>
                <a:rPr kumimoji="1" lang="en-US" altLang="zh-CN" sz="1100" b="1">
                  <a:latin typeface="微软雅黑" pitchFamily="34" charset="-122"/>
                  <a:ea typeface="微软雅黑" pitchFamily="34" charset="-122"/>
                </a:rPr>
                <a:t>401 </a:t>
              </a:r>
              <a:r>
                <a:rPr kumimoji="1" lang="zh-CN" altLang="en-US" sz="1100" b="1">
                  <a:latin typeface="微软雅黑" pitchFamily="34" charset="-122"/>
                  <a:ea typeface="微软雅黑" pitchFamily="34" charset="-122"/>
                </a:rPr>
                <a:t>至 </a:t>
              </a:r>
              <a:r>
                <a:rPr kumimoji="1" lang="en-US" altLang="zh-CN" sz="1100" b="1">
                  <a:latin typeface="微软雅黑" pitchFamily="34" charset="-122"/>
                  <a:ea typeface="微软雅黑" pitchFamily="34" charset="-122"/>
                </a:rPr>
                <a:t>500</a:t>
              </a:r>
              <a:r>
                <a:rPr kumimoji="1" lang="zh-CN" altLang="en-US" sz="1100" b="1">
                  <a:latin typeface="微软雅黑" pitchFamily="34" charset="-122"/>
                  <a:ea typeface="微软雅黑" pitchFamily="34" charset="-122"/>
                </a:rPr>
                <a:t>，不能再发送新数据了</a:t>
              </a:r>
            </a:p>
          </p:txBody>
        </p:sp>
      </p:grpSp>
      <p:grpSp>
        <p:nvGrpSpPr>
          <p:cNvPr id="51" name="组合 50"/>
          <p:cNvGrpSpPr/>
          <p:nvPr/>
        </p:nvGrpSpPr>
        <p:grpSpPr>
          <a:xfrm>
            <a:off x="1696582" y="3108075"/>
            <a:ext cx="5408012" cy="368583"/>
            <a:chOff x="1696582" y="3108075"/>
            <a:chExt cx="5408012" cy="368583"/>
          </a:xfrm>
        </p:grpSpPr>
        <p:sp>
          <p:nvSpPr>
            <p:cNvPr id="12" name="Line 7"/>
            <p:cNvSpPr>
              <a:spLocks noChangeShapeType="1"/>
            </p:cNvSpPr>
            <p:nvPr/>
          </p:nvSpPr>
          <p:spPr bwMode="auto">
            <a:xfrm>
              <a:off x="1696582" y="3355654"/>
              <a:ext cx="2479245"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3" name="Rectangle 8"/>
            <p:cNvSpPr>
              <a:spLocks noChangeArrowheads="1"/>
            </p:cNvSpPr>
            <p:nvPr/>
          </p:nvSpPr>
          <p:spPr bwMode="auto">
            <a:xfrm>
              <a:off x="2304992" y="3108075"/>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201, DATA</a:t>
              </a:r>
            </a:p>
          </p:txBody>
        </p:sp>
        <p:sp>
          <p:nvSpPr>
            <p:cNvPr id="37" name="Rectangle 32"/>
            <p:cNvSpPr>
              <a:spLocks noChangeArrowheads="1"/>
            </p:cNvSpPr>
            <p:nvPr/>
          </p:nvSpPr>
          <p:spPr bwMode="auto">
            <a:xfrm>
              <a:off x="4235218" y="3217613"/>
              <a:ext cx="286937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00FF"/>
                  </a:solidFill>
                  <a:latin typeface="微软雅黑" pitchFamily="34" charset="-122"/>
                  <a:ea typeface="微软雅黑" pitchFamily="34" charset="-122"/>
                </a:rPr>
                <a:t>A </a:t>
              </a:r>
              <a:r>
                <a:rPr kumimoji="1" lang="zh-CN" altLang="en-US" sz="1100" b="1" dirty="0">
                  <a:solidFill>
                    <a:srgbClr val="CC00CC"/>
                  </a:solidFill>
                  <a:latin typeface="微软雅黑" pitchFamily="34" charset="-122"/>
                  <a:ea typeface="微软雅黑" pitchFamily="34" charset="-122"/>
                </a:rPr>
                <a:t>超时重传</a:t>
              </a:r>
              <a:r>
                <a:rPr kumimoji="1" lang="zh-CN" altLang="en-US" sz="1100" b="1" dirty="0">
                  <a:solidFill>
                    <a:srgbClr val="0000FF"/>
                  </a:solidFill>
                  <a:latin typeface="微软雅黑" pitchFamily="34" charset="-122"/>
                  <a:ea typeface="微软雅黑" pitchFamily="34" charset="-122"/>
                </a:rPr>
                <a:t>旧的数据，但不能发送新的数据</a:t>
              </a:r>
            </a:p>
          </p:txBody>
        </p:sp>
      </p:grpSp>
      <p:sp>
        <p:nvSpPr>
          <p:cNvPr id="38" name="Rectangle 33"/>
          <p:cNvSpPr>
            <a:spLocks noChangeArrowheads="1"/>
          </p:cNvSpPr>
          <p:nvPr/>
        </p:nvSpPr>
        <p:spPr bwMode="auto">
          <a:xfrm>
            <a:off x="4235218" y="3443960"/>
            <a:ext cx="28084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100" b="1" dirty="0">
                <a:solidFill>
                  <a:srgbClr val="C00000"/>
                </a:solidFill>
                <a:latin typeface="微软雅黑" pitchFamily="34" charset="-122"/>
                <a:ea typeface="微软雅黑" pitchFamily="34" charset="-122"/>
              </a:rPr>
              <a:t>允许 </a:t>
            </a:r>
            <a:r>
              <a:rPr kumimoji="1" lang="en-US" altLang="zh-CN" sz="1100" b="1" dirty="0">
                <a:solidFill>
                  <a:srgbClr val="C00000"/>
                </a:solidFill>
                <a:latin typeface="微软雅黑" pitchFamily="34" charset="-122"/>
                <a:ea typeface="微软雅黑" pitchFamily="34" charset="-122"/>
              </a:rPr>
              <a:t>A </a:t>
            </a:r>
            <a:r>
              <a:rPr kumimoji="1" lang="zh-CN" altLang="en-US" sz="1100" b="1" dirty="0">
                <a:solidFill>
                  <a:srgbClr val="C00000"/>
                </a:solidFill>
                <a:latin typeface="微软雅黑" pitchFamily="34" charset="-122"/>
                <a:ea typeface="微软雅黑" pitchFamily="34" charset="-122"/>
              </a:rPr>
              <a:t>发送序号 </a:t>
            </a:r>
            <a:r>
              <a:rPr kumimoji="1" lang="en-US" altLang="zh-CN" sz="1100" b="1" dirty="0">
                <a:solidFill>
                  <a:srgbClr val="C00000"/>
                </a:solidFill>
                <a:latin typeface="微软雅黑" pitchFamily="34" charset="-122"/>
                <a:ea typeface="微软雅黑" pitchFamily="34" charset="-122"/>
              </a:rPr>
              <a:t>501 </a:t>
            </a:r>
            <a:r>
              <a:rPr kumimoji="1" lang="zh-CN" altLang="en-US" sz="1100" b="1" dirty="0">
                <a:solidFill>
                  <a:srgbClr val="C00000"/>
                </a:solidFill>
                <a:latin typeface="微软雅黑" pitchFamily="34" charset="-122"/>
                <a:ea typeface="微软雅黑" pitchFamily="34" charset="-122"/>
              </a:rPr>
              <a:t>至 </a:t>
            </a:r>
            <a:r>
              <a:rPr kumimoji="1" lang="en-US" altLang="zh-CN" sz="1100" b="1" dirty="0">
                <a:solidFill>
                  <a:srgbClr val="C00000"/>
                </a:solidFill>
                <a:latin typeface="微软雅黑" pitchFamily="34" charset="-122"/>
                <a:ea typeface="微软雅黑" pitchFamily="34" charset="-122"/>
              </a:rPr>
              <a:t>600 </a:t>
            </a:r>
            <a:r>
              <a:rPr kumimoji="1" lang="zh-CN" altLang="en-US" sz="1100" b="1" dirty="0">
                <a:solidFill>
                  <a:srgbClr val="C00000"/>
                </a:solidFill>
                <a:latin typeface="微软雅黑" pitchFamily="34" charset="-122"/>
                <a:ea typeface="微软雅黑" pitchFamily="34" charset="-122"/>
              </a:rPr>
              <a:t>共 </a:t>
            </a:r>
            <a:r>
              <a:rPr kumimoji="1" lang="en-US" altLang="zh-CN" sz="1100" b="1" dirty="0">
                <a:solidFill>
                  <a:srgbClr val="C00000"/>
                </a:solidFill>
                <a:latin typeface="微软雅黑" pitchFamily="34" charset="-122"/>
                <a:ea typeface="微软雅黑" pitchFamily="34" charset="-122"/>
              </a:rPr>
              <a:t>100 </a:t>
            </a:r>
            <a:r>
              <a:rPr kumimoji="1" lang="zh-CN" altLang="en-US" sz="1100" b="1" dirty="0">
                <a:solidFill>
                  <a:srgbClr val="C00000"/>
                </a:solidFill>
                <a:latin typeface="微软雅黑" pitchFamily="34" charset="-122"/>
                <a:ea typeface="微软雅黑" pitchFamily="34" charset="-122"/>
              </a:rPr>
              <a:t>字节</a:t>
            </a:r>
          </a:p>
        </p:txBody>
      </p:sp>
      <p:grpSp>
        <p:nvGrpSpPr>
          <p:cNvPr id="52" name="组合 51"/>
          <p:cNvGrpSpPr/>
          <p:nvPr/>
        </p:nvGrpSpPr>
        <p:grpSpPr>
          <a:xfrm>
            <a:off x="1695643" y="3592861"/>
            <a:ext cx="5348037" cy="345167"/>
            <a:chOff x="1695643" y="3592861"/>
            <a:chExt cx="5348037" cy="345167"/>
          </a:xfrm>
        </p:grpSpPr>
        <p:sp>
          <p:nvSpPr>
            <p:cNvPr id="22" name="Line 17"/>
            <p:cNvSpPr>
              <a:spLocks noChangeShapeType="1"/>
            </p:cNvSpPr>
            <p:nvPr/>
          </p:nvSpPr>
          <p:spPr bwMode="auto">
            <a:xfrm>
              <a:off x="1695643" y="3823961"/>
              <a:ext cx="2480183"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3" name="Rectangle 18"/>
            <p:cNvSpPr>
              <a:spLocks noChangeArrowheads="1"/>
            </p:cNvSpPr>
            <p:nvPr/>
          </p:nvSpPr>
          <p:spPr bwMode="auto">
            <a:xfrm>
              <a:off x="2304992" y="3592861"/>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501, DATA</a:t>
              </a:r>
            </a:p>
          </p:txBody>
        </p:sp>
        <p:sp>
          <p:nvSpPr>
            <p:cNvPr id="39" name="Rectangle 34"/>
            <p:cNvSpPr>
              <a:spLocks noChangeArrowheads="1"/>
            </p:cNvSpPr>
            <p:nvPr/>
          </p:nvSpPr>
          <p:spPr bwMode="auto">
            <a:xfrm>
              <a:off x="4235218" y="3678983"/>
              <a:ext cx="28084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501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600</a:t>
              </a:r>
              <a:r>
                <a:rPr kumimoji="1" lang="zh-CN" altLang="en-US" sz="1100" b="1" dirty="0">
                  <a:latin typeface="微软雅黑" pitchFamily="34" charset="-122"/>
                  <a:ea typeface="微软雅黑" pitchFamily="34" charset="-122"/>
                </a:rPr>
                <a:t>，不能再发送了</a:t>
              </a:r>
            </a:p>
          </p:txBody>
        </p:sp>
      </p:grpSp>
      <p:sp>
        <p:nvSpPr>
          <p:cNvPr id="40" name="Rectangle 35"/>
          <p:cNvSpPr>
            <a:spLocks noChangeArrowheads="1"/>
          </p:cNvSpPr>
          <p:nvPr/>
        </p:nvSpPr>
        <p:spPr bwMode="auto">
          <a:xfrm>
            <a:off x="4235218" y="3922676"/>
            <a:ext cx="353622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FF0000"/>
                </a:solidFill>
                <a:latin typeface="微软雅黑" pitchFamily="34" charset="-122"/>
                <a:ea typeface="微软雅黑" pitchFamily="34" charset="-122"/>
              </a:rPr>
              <a:t>不允许 </a:t>
            </a:r>
            <a:r>
              <a:rPr kumimoji="1" lang="en-US" altLang="zh-CN" sz="1100" b="1" dirty="0">
                <a:solidFill>
                  <a:srgbClr val="FF0000"/>
                </a:solidFill>
                <a:latin typeface="微软雅黑" pitchFamily="34" charset="-122"/>
                <a:ea typeface="微软雅黑" pitchFamily="34" charset="-122"/>
              </a:rPr>
              <a:t>A </a:t>
            </a:r>
            <a:r>
              <a:rPr kumimoji="1" lang="zh-CN" altLang="en-US" sz="1100" b="1" dirty="0">
                <a:solidFill>
                  <a:srgbClr val="FF0000"/>
                </a:solidFill>
                <a:latin typeface="微软雅黑" pitchFamily="34" charset="-122"/>
                <a:ea typeface="微软雅黑" pitchFamily="34" charset="-122"/>
              </a:rPr>
              <a:t>再发送（到序号 </a:t>
            </a:r>
            <a:r>
              <a:rPr kumimoji="1" lang="en-US" altLang="zh-CN" sz="1100" b="1" dirty="0">
                <a:solidFill>
                  <a:srgbClr val="FF0000"/>
                </a:solidFill>
                <a:latin typeface="微软雅黑" pitchFamily="34" charset="-122"/>
                <a:ea typeface="微软雅黑" pitchFamily="34" charset="-122"/>
              </a:rPr>
              <a:t>600 </a:t>
            </a:r>
            <a:r>
              <a:rPr kumimoji="1" lang="zh-CN" altLang="en-US" sz="1100" b="1" dirty="0">
                <a:solidFill>
                  <a:srgbClr val="FF0000"/>
                </a:solidFill>
                <a:latin typeface="微软雅黑" pitchFamily="34" charset="-122"/>
                <a:ea typeface="微软雅黑" pitchFamily="34" charset="-122"/>
              </a:rPr>
              <a:t>为止的数据都收到了）</a:t>
            </a:r>
          </a:p>
        </p:txBody>
      </p:sp>
      <p:grpSp>
        <p:nvGrpSpPr>
          <p:cNvPr id="48" name="组合 47"/>
          <p:cNvGrpSpPr/>
          <p:nvPr/>
        </p:nvGrpSpPr>
        <p:grpSpPr>
          <a:xfrm>
            <a:off x="1691887" y="2103596"/>
            <a:ext cx="2236835" cy="415665"/>
            <a:chOff x="1691887" y="2103596"/>
            <a:chExt cx="2236835" cy="415665"/>
          </a:xfrm>
        </p:grpSpPr>
        <p:sp>
          <p:nvSpPr>
            <p:cNvPr id="20" name="Line 15"/>
            <p:cNvSpPr>
              <a:spLocks noChangeShapeType="1"/>
            </p:cNvSpPr>
            <p:nvPr/>
          </p:nvSpPr>
          <p:spPr bwMode="auto">
            <a:xfrm>
              <a:off x="1691887" y="2432914"/>
              <a:ext cx="1481082"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1" name="Rectangle 16"/>
            <p:cNvSpPr>
              <a:spLocks noChangeArrowheads="1"/>
            </p:cNvSpPr>
            <p:nvPr/>
          </p:nvSpPr>
          <p:spPr bwMode="auto">
            <a:xfrm>
              <a:off x="2004741" y="2199212"/>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201, DATA</a:t>
              </a:r>
            </a:p>
          </p:txBody>
        </p:sp>
        <p:grpSp>
          <p:nvGrpSpPr>
            <p:cNvPr id="47" name="组合 46"/>
            <p:cNvGrpSpPr/>
            <p:nvPr/>
          </p:nvGrpSpPr>
          <p:grpSpPr>
            <a:xfrm>
              <a:off x="3240064" y="2103596"/>
              <a:ext cx="688658" cy="415665"/>
              <a:chOff x="3240064" y="2103596"/>
              <a:chExt cx="688658" cy="415665"/>
            </a:xfrm>
          </p:grpSpPr>
          <p:sp>
            <p:nvSpPr>
              <p:cNvPr id="41" name="AutoShape 36"/>
              <p:cNvSpPr>
                <a:spLocks noChangeArrowheads="1"/>
              </p:cNvSpPr>
              <p:nvPr/>
            </p:nvSpPr>
            <p:spPr bwMode="auto">
              <a:xfrm>
                <a:off x="3240064" y="2103596"/>
                <a:ext cx="688658" cy="415665"/>
              </a:xfrm>
              <a:prstGeom prst="irregularSeal1">
                <a:avLst/>
              </a:prstGeom>
              <a:solidFill>
                <a:srgbClr val="C00000"/>
              </a:solidFill>
              <a:ln w="6350">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sp>
            <p:nvSpPr>
              <p:cNvPr id="42" name="Rectangle 37"/>
              <p:cNvSpPr>
                <a:spLocks noChangeArrowheads="1"/>
              </p:cNvSpPr>
              <p:nvPr/>
            </p:nvSpPr>
            <p:spPr bwMode="auto">
              <a:xfrm>
                <a:off x="3359784" y="2184319"/>
                <a:ext cx="56746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solidFill>
                      <a:schemeClr val="bg1"/>
                    </a:solidFill>
                    <a:latin typeface="微软雅黑" pitchFamily="34" charset="-122"/>
                    <a:ea typeface="微软雅黑" pitchFamily="34" charset="-122"/>
                  </a:rPr>
                  <a:t>丢失！</a:t>
                </a:r>
              </a:p>
            </p:txBody>
          </p:sp>
        </p:grpSp>
      </p:grpSp>
      <p:sp>
        <p:nvSpPr>
          <p:cNvPr id="43" name="Line 38"/>
          <p:cNvSpPr>
            <a:spLocks noChangeShapeType="1"/>
          </p:cNvSpPr>
          <p:nvPr/>
        </p:nvSpPr>
        <p:spPr bwMode="auto">
          <a:xfrm>
            <a:off x="1676853" y="1875281"/>
            <a:ext cx="0" cy="2822224"/>
          </a:xfrm>
          <a:prstGeom prst="line">
            <a:avLst/>
          </a:prstGeom>
          <a:noFill/>
          <a:ln w="19050">
            <a:solidFill>
              <a:srgbClr val="0033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44" name="Text Box 155"/>
          <p:cNvSpPr txBox="1">
            <a:spLocks noChangeArrowheads="1"/>
          </p:cNvSpPr>
          <p:nvPr/>
        </p:nvSpPr>
        <p:spPr bwMode="auto">
          <a:xfrm>
            <a:off x="1398495" y="1040836"/>
            <a:ext cx="6552485" cy="634020"/>
          </a:xfrm>
          <a:prstGeom prst="rect">
            <a:avLst/>
          </a:prstGeom>
          <a:solidFill>
            <a:srgbClr val="000099"/>
          </a:solidFill>
          <a:ln w="9525">
            <a:noFill/>
            <a:miter lim="800000"/>
            <a:headEnd/>
            <a:tailEnd/>
          </a:ln>
          <a:effectLst/>
        </p:spPr>
        <p:txBody>
          <a:bodyPr wrap="square">
            <a:spAutoFit/>
          </a:bodyPr>
          <a:lstStyle/>
          <a:p>
            <a:pPr algn="ctr">
              <a:lnSpc>
                <a:spcPct val="110000"/>
              </a:lnSpc>
            </a:pPr>
            <a:r>
              <a:rPr lang="en-US" altLang="zh-CN" sz="1600" b="1" dirty="0">
                <a:solidFill>
                  <a:schemeClr val="bg1"/>
                </a:solidFill>
                <a:latin typeface="微软雅黑" pitchFamily="34" charset="-122"/>
                <a:ea typeface="微软雅黑" pitchFamily="34" charset="-122"/>
              </a:rPr>
              <a:t>A </a:t>
            </a:r>
            <a:r>
              <a:rPr lang="zh-CN" altLang="en-US" sz="1600" b="1" dirty="0">
                <a:solidFill>
                  <a:schemeClr val="bg1"/>
                </a:solidFill>
                <a:latin typeface="微软雅黑" pitchFamily="34" charset="-122"/>
                <a:ea typeface="微软雅黑" pitchFamily="34" charset="-122"/>
              </a:rPr>
              <a:t>向 </a:t>
            </a:r>
            <a:r>
              <a:rPr lang="en-US" altLang="zh-CN" sz="1600" b="1" dirty="0">
                <a:solidFill>
                  <a:schemeClr val="bg1"/>
                </a:solidFill>
                <a:latin typeface="微软雅黑" pitchFamily="34" charset="-122"/>
                <a:ea typeface="微软雅黑" pitchFamily="34" charset="-122"/>
              </a:rPr>
              <a:t>B </a:t>
            </a:r>
            <a:r>
              <a:rPr lang="zh-CN" altLang="en-US" sz="1600" b="1" dirty="0">
                <a:solidFill>
                  <a:schemeClr val="bg1"/>
                </a:solidFill>
                <a:latin typeface="微软雅黑" pitchFamily="34" charset="-122"/>
                <a:ea typeface="微软雅黑" pitchFamily="34" charset="-122"/>
              </a:rPr>
              <a:t>发送数据，</a:t>
            </a:r>
            <a:r>
              <a:rPr lang="en-US" altLang="zh-CN" sz="1600" b="1" dirty="0">
                <a:solidFill>
                  <a:schemeClr val="bg1"/>
                </a:solidFill>
                <a:latin typeface="微软雅黑" pitchFamily="34" charset="-122"/>
                <a:ea typeface="微软雅黑" pitchFamily="34" charset="-122"/>
              </a:rPr>
              <a:t>MSS = 100 </a:t>
            </a:r>
            <a:r>
              <a:rPr lang="zh-CN" altLang="en-US" sz="1600" b="1" dirty="0">
                <a:solidFill>
                  <a:schemeClr val="bg1"/>
                </a:solidFill>
                <a:latin typeface="微软雅黑" pitchFamily="34" charset="-122"/>
                <a:ea typeface="微软雅黑" pitchFamily="34" charset="-122"/>
              </a:rPr>
              <a:t>字节。</a:t>
            </a:r>
            <a:endParaRPr lang="en-US" altLang="zh-CN" sz="1600" b="1" dirty="0">
              <a:solidFill>
                <a:schemeClr val="bg1"/>
              </a:solidFill>
              <a:latin typeface="微软雅黑" pitchFamily="34" charset="-122"/>
              <a:ea typeface="微软雅黑" pitchFamily="34" charset="-122"/>
            </a:endParaRPr>
          </a:p>
          <a:p>
            <a:pPr algn="ctr">
              <a:lnSpc>
                <a:spcPct val="110000"/>
              </a:lnSpc>
            </a:pPr>
            <a:r>
              <a:rPr lang="zh-CN" altLang="en-US" sz="1600" b="1" dirty="0">
                <a:solidFill>
                  <a:schemeClr val="bg1"/>
                </a:solidFill>
                <a:latin typeface="微软雅黑" pitchFamily="34" charset="-122"/>
                <a:ea typeface="微软雅黑" pitchFamily="34" charset="-122"/>
              </a:rPr>
              <a:t>在连接建立时，</a:t>
            </a:r>
            <a:r>
              <a:rPr lang="en-US" altLang="zh-CN" sz="1600" b="1" dirty="0">
                <a:solidFill>
                  <a:schemeClr val="bg1"/>
                </a:solidFill>
                <a:latin typeface="微软雅黑" pitchFamily="34" charset="-122"/>
                <a:ea typeface="微软雅黑" pitchFamily="34" charset="-122"/>
              </a:rPr>
              <a:t>B </a:t>
            </a:r>
            <a:r>
              <a:rPr lang="zh-CN" altLang="en-US" sz="1600" b="1" dirty="0">
                <a:solidFill>
                  <a:schemeClr val="bg1"/>
                </a:solidFill>
                <a:latin typeface="微软雅黑" pitchFamily="34" charset="-122"/>
                <a:ea typeface="微软雅黑" pitchFamily="34" charset="-122"/>
              </a:rPr>
              <a:t>告诉 </a:t>
            </a:r>
            <a:r>
              <a:rPr lang="en-US" altLang="zh-CN" sz="1600" b="1" dirty="0">
                <a:solidFill>
                  <a:schemeClr val="bg1"/>
                </a:solidFill>
                <a:latin typeface="微软雅黑" pitchFamily="34" charset="-122"/>
                <a:ea typeface="微软雅黑" pitchFamily="34" charset="-122"/>
              </a:rPr>
              <a:t>A</a:t>
            </a:r>
            <a:r>
              <a:rPr lang="zh-CN" altLang="en-US" sz="1600" b="1" dirty="0">
                <a:solidFill>
                  <a:schemeClr val="bg1"/>
                </a:solidFill>
                <a:latin typeface="微软雅黑" pitchFamily="34" charset="-122"/>
                <a:ea typeface="微软雅黑" pitchFamily="34" charset="-122"/>
              </a:rPr>
              <a:t>：“我的接收窗口 </a:t>
            </a:r>
            <a:r>
              <a:rPr lang="en-US" altLang="zh-CN" sz="1600" b="1" dirty="0" err="1">
                <a:solidFill>
                  <a:schemeClr val="bg1"/>
                </a:solidFill>
                <a:latin typeface="微软雅黑" pitchFamily="34" charset="-122"/>
                <a:ea typeface="微软雅黑" pitchFamily="34" charset="-122"/>
              </a:rPr>
              <a:t>rwnd</a:t>
            </a:r>
            <a:r>
              <a:rPr lang="en-US" altLang="zh-CN" sz="1600" b="1" dirty="0">
                <a:solidFill>
                  <a:schemeClr val="bg1"/>
                </a:solidFill>
                <a:latin typeface="微软雅黑" pitchFamily="34" charset="-122"/>
                <a:ea typeface="微软雅黑" pitchFamily="34" charset="-122"/>
              </a:rPr>
              <a:t> = 400</a:t>
            </a:r>
            <a:r>
              <a:rPr lang="zh-CN" altLang="en-US" sz="1600" b="1" dirty="0">
                <a:solidFill>
                  <a:schemeClr val="bg1"/>
                </a:solidFill>
                <a:latin typeface="微软雅黑" pitchFamily="34" charset="-122"/>
                <a:ea typeface="微软雅黑" pitchFamily="34" charset="-122"/>
              </a:rPr>
              <a:t>（字节）”。</a:t>
            </a:r>
          </a:p>
        </p:txBody>
      </p:sp>
      <p:sp>
        <p:nvSpPr>
          <p:cNvPr id="54" name="Rectangle 27"/>
          <p:cNvSpPr>
            <a:spLocks noChangeArrowheads="1"/>
          </p:cNvSpPr>
          <p:nvPr/>
        </p:nvSpPr>
        <p:spPr bwMode="auto">
          <a:xfrm>
            <a:off x="4235218" y="4181721"/>
            <a:ext cx="2939908"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C00000"/>
                </a:solidFill>
                <a:latin typeface="微软雅黑" pitchFamily="34" charset="-122"/>
                <a:ea typeface="微软雅黑" pitchFamily="34" charset="-122"/>
              </a:rPr>
              <a:t>允许 </a:t>
            </a:r>
            <a:r>
              <a:rPr kumimoji="1" lang="en-US" altLang="zh-CN" sz="1100" b="1" dirty="0">
                <a:solidFill>
                  <a:srgbClr val="C00000"/>
                </a:solidFill>
                <a:latin typeface="微软雅黑" pitchFamily="34" charset="-122"/>
                <a:ea typeface="微软雅黑" pitchFamily="34" charset="-122"/>
              </a:rPr>
              <a:t>A </a:t>
            </a:r>
            <a:r>
              <a:rPr kumimoji="1" lang="zh-CN" altLang="en-US" sz="1100" b="1" dirty="0">
                <a:solidFill>
                  <a:srgbClr val="C00000"/>
                </a:solidFill>
                <a:latin typeface="微软雅黑" pitchFamily="34" charset="-122"/>
                <a:ea typeface="微软雅黑" pitchFamily="34" charset="-122"/>
              </a:rPr>
              <a:t>发送序号 </a:t>
            </a:r>
            <a:r>
              <a:rPr kumimoji="1" lang="en-US" altLang="zh-CN" sz="1100" b="1" dirty="0">
                <a:solidFill>
                  <a:srgbClr val="C00000"/>
                </a:solidFill>
                <a:latin typeface="微软雅黑" pitchFamily="34" charset="-122"/>
                <a:ea typeface="微软雅黑" pitchFamily="34" charset="-122"/>
              </a:rPr>
              <a:t>601 </a:t>
            </a:r>
            <a:r>
              <a:rPr kumimoji="1" lang="zh-CN" altLang="en-US" sz="1100" b="1" dirty="0">
                <a:solidFill>
                  <a:srgbClr val="C00000"/>
                </a:solidFill>
                <a:latin typeface="微软雅黑" pitchFamily="34" charset="-122"/>
                <a:ea typeface="微软雅黑" pitchFamily="34" charset="-122"/>
              </a:rPr>
              <a:t>至 </a:t>
            </a:r>
            <a:r>
              <a:rPr kumimoji="1" lang="en-US" altLang="zh-CN" sz="1100" b="1" dirty="0">
                <a:solidFill>
                  <a:srgbClr val="C00000"/>
                </a:solidFill>
                <a:latin typeface="微软雅黑" pitchFamily="34" charset="-122"/>
                <a:ea typeface="微软雅黑" pitchFamily="34" charset="-122"/>
              </a:rPr>
              <a:t>1000  </a:t>
            </a:r>
            <a:r>
              <a:rPr kumimoji="1" lang="zh-CN" altLang="en-US" sz="1100" b="1" dirty="0">
                <a:solidFill>
                  <a:srgbClr val="C00000"/>
                </a:solidFill>
                <a:latin typeface="微软雅黑" pitchFamily="34" charset="-122"/>
                <a:ea typeface="微软雅黑" pitchFamily="34" charset="-122"/>
              </a:rPr>
              <a:t>共 </a:t>
            </a:r>
            <a:r>
              <a:rPr kumimoji="1" lang="en-US" altLang="zh-CN" sz="1100" b="1" dirty="0">
                <a:solidFill>
                  <a:srgbClr val="C00000"/>
                </a:solidFill>
                <a:latin typeface="微软雅黑" pitchFamily="34" charset="-122"/>
                <a:ea typeface="微软雅黑" pitchFamily="34" charset="-122"/>
              </a:rPr>
              <a:t>400 </a:t>
            </a:r>
            <a:r>
              <a:rPr kumimoji="1" lang="zh-CN" altLang="en-US" sz="1100" b="1" dirty="0">
                <a:solidFill>
                  <a:srgbClr val="C00000"/>
                </a:solidFill>
                <a:latin typeface="微软雅黑" pitchFamily="34" charset="-122"/>
                <a:ea typeface="微软雅黑" pitchFamily="34" charset="-122"/>
              </a:rPr>
              <a:t>字节</a:t>
            </a:r>
          </a:p>
        </p:txBody>
      </p:sp>
      <p:grpSp>
        <p:nvGrpSpPr>
          <p:cNvPr id="61" name="组合 60"/>
          <p:cNvGrpSpPr/>
          <p:nvPr/>
        </p:nvGrpSpPr>
        <p:grpSpPr>
          <a:xfrm>
            <a:off x="1896233" y="4094049"/>
            <a:ext cx="2288554" cy="243656"/>
            <a:chOff x="1896233" y="4094049"/>
            <a:chExt cx="2288554" cy="243656"/>
          </a:xfrm>
        </p:grpSpPr>
        <p:sp>
          <p:nvSpPr>
            <p:cNvPr id="53" name="Rectangle 22"/>
            <p:cNvSpPr>
              <a:spLocks noChangeArrowheads="1"/>
            </p:cNvSpPr>
            <p:nvPr/>
          </p:nvSpPr>
          <p:spPr bwMode="auto">
            <a:xfrm flipH="1">
              <a:off x="1896233" y="4094049"/>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601, </a:t>
              </a:r>
              <a:r>
                <a:rPr kumimoji="1" lang="en-US" altLang="zh-CN" sz="1000" b="1" dirty="0" err="1">
                  <a:solidFill>
                    <a:srgbClr val="0000FF"/>
                  </a:solidFill>
                  <a:latin typeface="微软雅黑" pitchFamily="34" charset="-122"/>
                  <a:ea typeface="微软雅黑" pitchFamily="34" charset="-122"/>
                </a:rPr>
                <a:t>rwnd</a:t>
              </a:r>
              <a:r>
                <a:rPr kumimoji="1" lang="en-US" altLang="zh-CN" sz="1000" b="1" dirty="0">
                  <a:solidFill>
                    <a:srgbClr val="0000FF"/>
                  </a:solidFill>
                  <a:latin typeface="微软雅黑" pitchFamily="34" charset="-122"/>
                  <a:ea typeface="微软雅黑" pitchFamily="34" charset="-122"/>
                </a:rPr>
                <a:t> = 400</a:t>
              </a:r>
            </a:p>
          </p:txBody>
        </p:sp>
        <p:sp>
          <p:nvSpPr>
            <p:cNvPr id="55" name="Line 21"/>
            <p:cNvSpPr>
              <a:spLocks noChangeShapeType="1"/>
            </p:cNvSpPr>
            <p:nvPr/>
          </p:nvSpPr>
          <p:spPr bwMode="auto">
            <a:xfrm flipH="1">
              <a:off x="1990896" y="4318963"/>
              <a:ext cx="2193891"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grpSp>
      <p:grpSp>
        <p:nvGrpSpPr>
          <p:cNvPr id="8" name="组合 7"/>
          <p:cNvGrpSpPr/>
          <p:nvPr/>
        </p:nvGrpSpPr>
        <p:grpSpPr>
          <a:xfrm>
            <a:off x="1348538" y="4048078"/>
            <a:ext cx="688658" cy="415665"/>
            <a:chOff x="944890" y="3823961"/>
            <a:chExt cx="688658" cy="415665"/>
          </a:xfrm>
        </p:grpSpPr>
        <p:sp>
          <p:nvSpPr>
            <p:cNvPr id="57" name="AutoShape 36"/>
            <p:cNvSpPr>
              <a:spLocks noChangeArrowheads="1"/>
            </p:cNvSpPr>
            <p:nvPr/>
          </p:nvSpPr>
          <p:spPr bwMode="auto">
            <a:xfrm>
              <a:off x="944890" y="3823961"/>
              <a:ext cx="688658" cy="415665"/>
            </a:xfrm>
            <a:prstGeom prst="irregularSeal1">
              <a:avLst/>
            </a:prstGeom>
            <a:solidFill>
              <a:srgbClr val="C00000"/>
            </a:solidFill>
            <a:ln w="6350">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sp>
          <p:nvSpPr>
            <p:cNvPr id="58" name="Rectangle 37"/>
            <p:cNvSpPr>
              <a:spLocks noChangeArrowheads="1"/>
            </p:cNvSpPr>
            <p:nvPr/>
          </p:nvSpPr>
          <p:spPr bwMode="auto">
            <a:xfrm>
              <a:off x="1064610" y="3904684"/>
              <a:ext cx="56746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solidFill>
                    <a:schemeClr val="bg1"/>
                  </a:solidFill>
                  <a:latin typeface="微软雅黑" pitchFamily="34" charset="-122"/>
                  <a:ea typeface="微软雅黑" pitchFamily="34" charset="-122"/>
                </a:rPr>
                <a:t>丢失！</a:t>
              </a:r>
            </a:p>
          </p:txBody>
        </p:sp>
      </p:grpSp>
      <p:grpSp>
        <p:nvGrpSpPr>
          <p:cNvPr id="64" name="组合 63"/>
          <p:cNvGrpSpPr/>
          <p:nvPr/>
        </p:nvGrpSpPr>
        <p:grpSpPr>
          <a:xfrm>
            <a:off x="676495" y="4425557"/>
            <a:ext cx="4494877" cy="259045"/>
            <a:chOff x="676495" y="4425557"/>
            <a:chExt cx="4494877" cy="259045"/>
          </a:xfrm>
        </p:grpSpPr>
        <p:sp>
          <p:nvSpPr>
            <p:cNvPr id="62" name="Rectangle 28"/>
            <p:cNvSpPr>
              <a:spLocks noChangeArrowheads="1"/>
            </p:cNvSpPr>
            <p:nvPr/>
          </p:nvSpPr>
          <p:spPr bwMode="auto">
            <a:xfrm>
              <a:off x="4235217" y="4425557"/>
              <a:ext cx="93615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latin typeface="微软雅黑" pitchFamily="34" charset="-122"/>
                  <a:ea typeface="微软雅黑" pitchFamily="34" charset="-122"/>
                </a:rPr>
                <a:t>等待 </a:t>
              </a:r>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a:t>
              </a:r>
            </a:p>
          </p:txBody>
        </p:sp>
        <p:sp>
          <p:nvSpPr>
            <p:cNvPr id="63" name="Rectangle 28"/>
            <p:cNvSpPr>
              <a:spLocks noChangeArrowheads="1"/>
            </p:cNvSpPr>
            <p:nvPr/>
          </p:nvSpPr>
          <p:spPr bwMode="auto">
            <a:xfrm>
              <a:off x="676495" y="4425557"/>
              <a:ext cx="1057983"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latin typeface="微软雅黑" pitchFamily="34" charset="-122"/>
                  <a:ea typeface="微软雅黑" pitchFamily="34" charset="-122"/>
                </a:rPr>
                <a:t>等待非 </a:t>
              </a:r>
              <a:r>
                <a:rPr kumimoji="1" lang="en-US" altLang="zh-CN" sz="1100" b="1" dirty="0">
                  <a:latin typeface="微软雅黑" pitchFamily="34" charset="-122"/>
                  <a:ea typeface="微软雅黑" pitchFamily="34" charset="-122"/>
                </a:rPr>
                <a:t>0 </a:t>
              </a:r>
              <a:r>
                <a:rPr kumimoji="1" lang="zh-CN" altLang="en-US" sz="1100" b="1" dirty="0">
                  <a:latin typeface="微软雅黑" pitchFamily="34" charset="-122"/>
                  <a:ea typeface="微软雅黑" pitchFamily="34" charset="-122"/>
                </a:rPr>
                <a:t>窗口</a:t>
              </a:r>
            </a:p>
          </p:txBody>
        </p:sp>
      </p:grpSp>
    </p:spTree>
    <p:custDataLst>
      <p:tags r:id="rId1"/>
    </p:custDataLst>
    <p:extLst>
      <p:ext uri="{BB962C8B-B14F-4D97-AF65-F5344CB8AC3E}">
        <p14:creationId xmlns:p14="http://schemas.microsoft.com/office/powerpoint/2010/main" val="3594772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wipe(right)">
                                      <p:cBhvr>
                                        <p:cTn id="7" dur="1000"/>
                                        <p:tgtEl>
                                          <p:spTgt spid="61"/>
                                        </p:tgtEl>
                                      </p:cBhvr>
                                    </p:animEffect>
                                  </p:childTnLst>
                                </p:cTn>
                              </p:par>
                              <p:par>
                                <p:cTn id="8" presetID="1" presetClass="entr" presetSubtype="0" fill="hold" grpId="0" nodeType="withEffect">
                                  <p:stCondLst>
                                    <p:cond delay="0"/>
                                  </p:stCondLst>
                                  <p:childTnLst>
                                    <p:set>
                                      <p:cBhvr>
                                        <p:cTn id="9" dur="1" fill="hold">
                                          <p:stCondLst>
                                            <p:cond delay="0"/>
                                          </p:stCondLst>
                                        </p:cTn>
                                        <p:tgtEl>
                                          <p:spTgt spid="54"/>
                                        </p:tgtEl>
                                        <p:attrNameLst>
                                          <p:attrName>style.visibility</p:attrName>
                                        </p:attrNameLst>
                                      </p:cBhvr>
                                      <p:to>
                                        <p:strVal val="visible"/>
                                      </p:to>
                                    </p:set>
                                  </p:childTnLst>
                                </p:cTn>
                              </p:par>
                              <p:par>
                                <p:cTn id="10" presetID="35" presetClass="emph" presetSubtype="0" repeatCount="3000" fill="hold" grpId="1" nodeType="withEffect">
                                  <p:stCondLst>
                                    <p:cond delay="0"/>
                                  </p:stCondLst>
                                  <p:childTnLst>
                                    <p:anim calcmode="discrete" valueType="str">
                                      <p:cBhvr>
                                        <p:cTn id="11" dur="1000" fill="hold"/>
                                        <p:tgtEl>
                                          <p:spTgt spid="54"/>
                                        </p:tgtEl>
                                        <p:attrNameLst>
                                          <p:attrName>style.visibility</p:attrName>
                                        </p:attrNameLst>
                                      </p:cBhvr>
                                      <p:tavLst>
                                        <p:tav tm="0">
                                          <p:val>
                                            <p:strVal val="hidden"/>
                                          </p:val>
                                        </p:tav>
                                        <p:tav tm="50000">
                                          <p:val>
                                            <p:strVal val="visible"/>
                                          </p:val>
                                        </p:tav>
                                      </p:tavLst>
                                    </p:anim>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p:cTn id="16" dur="500" fill="hold"/>
                                        <p:tgtEl>
                                          <p:spTgt spid="8"/>
                                        </p:tgtEl>
                                        <p:attrNameLst>
                                          <p:attrName>ppt_w</p:attrName>
                                        </p:attrNameLst>
                                      </p:cBhvr>
                                      <p:tavLst>
                                        <p:tav tm="0">
                                          <p:val>
                                            <p:fltVal val="0"/>
                                          </p:val>
                                        </p:tav>
                                        <p:tav tm="100000">
                                          <p:val>
                                            <p:strVal val="#ppt_w"/>
                                          </p:val>
                                        </p:tav>
                                      </p:tavLst>
                                    </p:anim>
                                    <p:anim calcmode="lin" valueType="num">
                                      <p:cBhvr>
                                        <p:cTn id="17" dur="500" fill="hold"/>
                                        <p:tgtEl>
                                          <p:spTgt spid="8"/>
                                        </p:tgtEl>
                                        <p:attrNameLst>
                                          <p:attrName>ppt_h</p:attrName>
                                        </p:attrNameLst>
                                      </p:cBhvr>
                                      <p:tavLst>
                                        <p:tav tm="0">
                                          <p:val>
                                            <p:fltVal val="0"/>
                                          </p:val>
                                        </p:tav>
                                        <p:tav tm="100000">
                                          <p:val>
                                            <p:strVal val="#ppt_h"/>
                                          </p:val>
                                        </p:tav>
                                      </p:tavLst>
                                    </p:anim>
                                    <p:animEffect transition="in" filter="fade">
                                      <p:cBhvr>
                                        <p:cTn id="18" dur="500"/>
                                        <p:tgtEl>
                                          <p:spTgt spid="8"/>
                                        </p:tgtEl>
                                      </p:cBhvr>
                                    </p:animEffect>
                                  </p:childTnLst>
                                </p:cTn>
                              </p:par>
                            </p:childTnLst>
                          </p:cTn>
                        </p:par>
                        <p:par>
                          <p:cTn id="19" fill="hold">
                            <p:stCondLst>
                              <p:cond delay="500"/>
                            </p:stCondLst>
                            <p:childTnLst>
                              <p:par>
                                <p:cTn id="20" presetID="35" presetClass="emph" presetSubtype="0" repeatCount="3000" fill="hold" nodeType="afterEffect">
                                  <p:stCondLst>
                                    <p:cond delay="0"/>
                                  </p:stCondLst>
                                  <p:childTnLst>
                                    <p:anim calcmode="discrete" valueType="str">
                                      <p:cBhvr>
                                        <p:cTn id="21"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64"/>
                                        </p:tgtEl>
                                        <p:attrNameLst>
                                          <p:attrName>style.visibility</p:attrName>
                                        </p:attrNameLst>
                                      </p:cBhvr>
                                      <p:to>
                                        <p:strVal val="visible"/>
                                      </p:to>
                                    </p:set>
                                    <p:animEffect transition="in" filter="wipe(up)">
                                      <p:cBhvr>
                                        <p:cTn id="26" dur="10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4" grpId="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AutoShape 5"/>
          <p:cNvSpPr>
            <a:spLocks noChangeArrowheads="1"/>
          </p:cNvSpPr>
          <p:nvPr/>
        </p:nvSpPr>
        <p:spPr bwMode="auto">
          <a:xfrm>
            <a:off x="556963" y="618371"/>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0" name="Rectangle 6"/>
          <p:cNvSpPr>
            <a:spLocks noChangeArrowheads="1"/>
          </p:cNvSpPr>
          <p:nvPr/>
        </p:nvSpPr>
        <p:spPr bwMode="auto">
          <a:xfrm>
            <a:off x="3847818" y="585160"/>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持续计时器</a:t>
            </a:r>
          </a:p>
        </p:txBody>
      </p:sp>
      <p:sp>
        <p:nvSpPr>
          <p:cNvPr id="41" name="Rectangle 68"/>
          <p:cNvSpPr>
            <a:spLocks noChangeArrowheads="1"/>
          </p:cNvSpPr>
          <p:nvPr/>
        </p:nvSpPr>
        <p:spPr bwMode="auto">
          <a:xfrm>
            <a:off x="556963" y="967072"/>
            <a:ext cx="8184960" cy="2785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持续计时器  </a:t>
            </a:r>
            <a:r>
              <a:rPr lang="en-US" altLang="zh-CN" sz="2000" b="1" dirty="0">
                <a:latin typeface="微软雅黑" pitchFamily="34" charset="-122"/>
                <a:ea typeface="微软雅黑" pitchFamily="34" charset="-122"/>
              </a:rPr>
              <a:t>(persistence timer)</a:t>
            </a:r>
            <a:r>
              <a:rPr lang="zh-CN" altLang="en-US" sz="2000" b="1" dirty="0">
                <a:latin typeface="微软雅黑" pitchFamily="34" charset="-122"/>
                <a:ea typeface="微软雅黑" pitchFamily="34" charset="-122"/>
              </a:rPr>
              <a:t>：只要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连接的一方收到对方的</a:t>
            </a:r>
            <a:r>
              <a:rPr lang="zh-CN" altLang="en-US" sz="2000" b="1" dirty="0">
                <a:solidFill>
                  <a:srgbClr val="0000FF"/>
                </a:solidFill>
                <a:latin typeface="微软雅黑" pitchFamily="34" charset="-122"/>
                <a:ea typeface="微软雅黑" pitchFamily="34" charset="-122"/>
              </a:rPr>
              <a:t>零窗口</a:t>
            </a:r>
            <a:r>
              <a:rPr lang="zh-CN" altLang="en-US" sz="2000" b="1" dirty="0">
                <a:latin typeface="微软雅黑" pitchFamily="34" charset="-122"/>
                <a:ea typeface="微软雅黑" pitchFamily="34" charset="-122"/>
              </a:rPr>
              <a:t>通知，就启动该持续计时器。</a:t>
            </a:r>
          </a:p>
          <a:p>
            <a:pPr marL="627063" lvl="1" indent="-342900">
              <a:lnSpc>
                <a:spcPts val="3000"/>
              </a:lnSpc>
              <a:buClr>
                <a:srgbClr val="CC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若持续计时器设置的时间到期，就发送一个</a:t>
            </a:r>
            <a:r>
              <a:rPr lang="zh-CN" altLang="en-US" sz="2000" b="1" dirty="0">
                <a:solidFill>
                  <a:srgbClr val="0000FF"/>
                </a:solidFill>
                <a:latin typeface="微软雅黑" pitchFamily="34" charset="-122"/>
                <a:ea typeface="微软雅黑" pitchFamily="34" charset="-122"/>
              </a:rPr>
              <a:t>零窗口探测报文段</a:t>
            </a:r>
            <a:r>
              <a:rPr lang="zh-CN" altLang="en-US" sz="2000" b="1" dirty="0">
                <a:latin typeface="微软雅黑" pitchFamily="34" charset="-122"/>
                <a:ea typeface="微软雅黑" pitchFamily="34" charset="-122"/>
              </a:rPr>
              <a:t>（仅携带 </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字节的数据），对方在确认这个探测报文段时给出当前窗口值。</a:t>
            </a:r>
          </a:p>
          <a:p>
            <a:pPr marL="627063" lvl="1" indent="-342900">
              <a:lnSpc>
                <a:spcPts val="3000"/>
              </a:lnSpc>
              <a:buClr>
                <a:srgbClr val="CC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若窗口仍然是零，收到这个报文段的一方就重新设置持续计时器。</a:t>
            </a:r>
          </a:p>
          <a:p>
            <a:pPr marL="627063" lvl="1" indent="-342900">
              <a:lnSpc>
                <a:spcPts val="3000"/>
              </a:lnSpc>
              <a:buClr>
                <a:srgbClr val="CC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若窗口不是零，则死锁的僵局就可以打破了。 </a:t>
            </a:r>
          </a:p>
        </p:txBody>
      </p:sp>
    </p:spTree>
    <p:custDataLst>
      <p:tags r:id="rId1"/>
    </p:custDataLst>
    <p:extLst>
      <p:ext uri="{BB962C8B-B14F-4D97-AF65-F5344CB8AC3E}">
        <p14:creationId xmlns:p14="http://schemas.microsoft.com/office/powerpoint/2010/main" val="1336566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1">
                                            <p:txEl>
                                              <p:pRg st="0" end="0"/>
                                            </p:txEl>
                                          </p:spTgt>
                                        </p:tgtEl>
                                        <p:attrNameLst>
                                          <p:attrName>style.visibility</p:attrName>
                                        </p:attrNameLst>
                                      </p:cBhvr>
                                      <p:to>
                                        <p:strVal val="visible"/>
                                      </p:to>
                                    </p:set>
                                    <p:animEffect transition="in" filter="fade">
                                      <p:cBhvr>
                                        <p:cTn id="7" dur="1000"/>
                                        <p:tgtEl>
                                          <p:spTgt spid="41">
                                            <p:txEl>
                                              <p:pRg st="0" end="0"/>
                                            </p:txEl>
                                          </p:spTgt>
                                        </p:tgtEl>
                                      </p:cBhvr>
                                    </p:animEffect>
                                    <p:anim calcmode="lin" valueType="num">
                                      <p:cBhvr>
                                        <p:cTn id="8" dur="1000" fill="hold"/>
                                        <p:tgtEl>
                                          <p:spTgt spid="4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1">
                                            <p:txEl>
                                              <p:pRg st="1" end="1"/>
                                            </p:txEl>
                                          </p:spTgt>
                                        </p:tgtEl>
                                        <p:attrNameLst>
                                          <p:attrName>style.visibility</p:attrName>
                                        </p:attrNameLst>
                                      </p:cBhvr>
                                      <p:to>
                                        <p:strVal val="visible"/>
                                      </p:to>
                                    </p:set>
                                    <p:animEffect transition="in" filter="fade">
                                      <p:cBhvr>
                                        <p:cTn id="14" dur="1000"/>
                                        <p:tgtEl>
                                          <p:spTgt spid="41">
                                            <p:txEl>
                                              <p:pRg st="1" end="1"/>
                                            </p:txEl>
                                          </p:spTgt>
                                        </p:tgtEl>
                                      </p:cBhvr>
                                    </p:animEffect>
                                    <p:anim calcmode="lin" valueType="num">
                                      <p:cBhvr>
                                        <p:cTn id="15" dur="1000" fill="hold"/>
                                        <p:tgtEl>
                                          <p:spTgt spid="41">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1">
                                            <p:txEl>
                                              <p:pRg st="2" end="2"/>
                                            </p:txEl>
                                          </p:spTgt>
                                        </p:tgtEl>
                                        <p:attrNameLst>
                                          <p:attrName>style.visibility</p:attrName>
                                        </p:attrNameLst>
                                      </p:cBhvr>
                                      <p:to>
                                        <p:strVal val="visible"/>
                                      </p:to>
                                    </p:set>
                                    <p:animEffect transition="in" filter="fade">
                                      <p:cBhvr>
                                        <p:cTn id="21" dur="1000"/>
                                        <p:tgtEl>
                                          <p:spTgt spid="41">
                                            <p:txEl>
                                              <p:pRg st="2" end="2"/>
                                            </p:txEl>
                                          </p:spTgt>
                                        </p:tgtEl>
                                      </p:cBhvr>
                                    </p:animEffect>
                                    <p:anim calcmode="lin" valueType="num">
                                      <p:cBhvr>
                                        <p:cTn id="22" dur="1000" fill="hold"/>
                                        <p:tgtEl>
                                          <p:spTgt spid="41">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1">
                                            <p:txEl>
                                              <p:pRg st="3" end="3"/>
                                            </p:txEl>
                                          </p:spTgt>
                                        </p:tgtEl>
                                        <p:attrNameLst>
                                          <p:attrName>style.visibility</p:attrName>
                                        </p:attrNameLst>
                                      </p:cBhvr>
                                      <p:to>
                                        <p:strVal val="visible"/>
                                      </p:to>
                                    </p:set>
                                    <p:animEffect transition="in" filter="fade">
                                      <p:cBhvr>
                                        <p:cTn id="28" dur="1000"/>
                                        <p:tgtEl>
                                          <p:spTgt spid="41">
                                            <p:txEl>
                                              <p:pRg st="3" end="3"/>
                                            </p:txEl>
                                          </p:spTgt>
                                        </p:tgtEl>
                                      </p:cBhvr>
                                    </p:animEffect>
                                    <p:anim calcmode="lin" valueType="num">
                                      <p:cBhvr>
                                        <p:cTn id="29" dur="1000" fill="hold"/>
                                        <p:tgtEl>
                                          <p:spTgt spid="41">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1">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AutoShape 5"/>
          <p:cNvSpPr>
            <a:spLocks noChangeArrowheads="1"/>
          </p:cNvSpPr>
          <p:nvPr/>
        </p:nvSpPr>
        <p:spPr bwMode="auto">
          <a:xfrm>
            <a:off x="556963" y="617067"/>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52" name="Rectangle 6"/>
          <p:cNvSpPr>
            <a:spLocks noChangeArrowheads="1"/>
          </p:cNvSpPr>
          <p:nvPr/>
        </p:nvSpPr>
        <p:spPr bwMode="auto">
          <a:xfrm>
            <a:off x="2861053" y="574796"/>
            <a:ext cx="342189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5.7.2   TCP </a:t>
            </a:r>
            <a:r>
              <a:rPr lang="zh-CN" altLang="en-US" sz="2400" b="1" dirty="0">
                <a:solidFill>
                  <a:schemeClr val="bg1"/>
                </a:solidFill>
                <a:latin typeface="微软雅黑" pitchFamily="34" charset="-122"/>
                <a:ea typeface="微软雅黑" pitchFamily="34" charset="-122"/>
              </a:rPr>
              <a:t>的传输效率</a:t>
            </a:r>
          </a:p>
        </p:txBody>
      </p:sp>
      <p:sp>
        <p:nvSpPr>
          <p:cNvPr id="53" name="Rectangle 8"/>
          <p:cNvSpPr>
            <a:spLocks noChangeArrowheads="1"/>
          </p:cNvSpPr>
          <p:nvPr/>
        </p:nvSpPr>
        <p:spPr bwMode="auto">
          <a:xfrm>
            <a:off x="556963" y="1030092"/>
            <a:ext cx="8048776" cy="2516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控制</a:t>
            </a:r>
            <a:r>
              <a:rPr lang="en-US" altLang="zh-CN" b="1" dirty="0">
                <a:latin typeface="微软雅黑" pitchFamily="34" charset="-122"/>
                <a:ea typeface="微软雅黑" pitchFamily="34" charset="-122"/>
              </a:rPr>
              <a:t>TCP</a:t>
            </a:r>
            <a:r>
              <a:rPr lang="zh-CN" altLang="en-US" b="1" dirty="0">
                <a:latin typeface="微软雅黑" pitchFamily="34" charset="-122"/>
                <a:ea typeface="微软雅黑" pitchFamily="34" charset="-122"/>
              </a:rPr>
              <a:t>发送报文段的时机：三种机制</a:t>
            </a:r>
            <a:endParaRPr lang="en-US" altLang="zh-CN" b="1" dirty="0">
              <a:latin typeface="微软雅黑" pitchFamily="34" charset="-122"/>
              <a:ea typeface="微软雅黑" pitchFamily="34" charset="-122"/>
            </a:endParaRPr>
          </a:p>
          <a:p>
            <a:pPr marL="633413" indent="-342900">
              <a:lnSpc>
                <a:spcPts val="2700"/>
              </a:lnSpc>
              <a:buClr>
                <a:srgbClr val="7030A0"/>
              </a:buClr>
              <a:buFont typeface="+mj-lt"/>
              <a:buAutoNum type="arabicPeriod"/>
            </a:pP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维持一个变量，它等于最大报文段长度 </a:t>
            </a:r>
            <a:r>
              <a:rPr lang="en-US" altLang="zh-CN" b="1" dirty="0">
                <a:latin typeface="微软雅黑" pitchFamily="34" charset="-122"/>
                <a:ea typeface="微软雅黑" pitchFamily="34" charset="-122"/>
              </a:rPr>
              <a:t>MSS</a:t>
            </a:r>
            <a:r>
              <a:rPr lang="zh-CN" altLang="en-US" b="1" dirty="0">
                <a:latin typeface="微软雅黑" pitchFamily="34" charset="-122"/>
                <a:ea typeface="微软雅黑" pitchFamily="34" charset="-122"/>
              </a:rPr>
              <a:t>。只要缓存中存放的数据达到 </a:t>
            </a:r>
            <a:r>
              <a:rPr lang="en-US" altLang="zh-CN" b="1" dirty="0">
                <a:latin typeface="微软雅黑" pitchFamily="34" charset="-122"/>
                <a:ea typeface="微软雅黑" pitchFamily="34" charset="-122"/>
              </a:rPr>
              <a:t>MSS </a:t>
            </a:r>
            <a:r>
              <a:rPr lang="zh-CN" altLang="en-US" b="1" dirty="0">
                <a:latin typeface="微软雅黑" pitchFamily="34" charset="-122"/>
                <a:ea typeface="微软雅黑" pitchFamily="34" charset="-122"/>
              </a:rPr>
              <a:t>字节时，就组装成一个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报文段发送出去。</a:t>
            </a:r>
          </a:p>
          <a:p>
            <a:pPr marL="633413" indent="-342900">
              <a:lnSpc>
                <a:spcPts val="2700"/>
              </a:lnSpc>
              <a:buClr>
                <a:srgbClr val="7030A0"/>
              </a:buClr>
              <a:buFont typeface="+mj-lt"/>
              <a:buAutoNum type="arabicPeriod"/>
            </a:pPr>
            <a:r>
              <a:rPr lang="zh-CN" altLang="en-US" b="1" dirty="0">
                <a:latin typeface="微软雅黑" pitchFamily="34" charset="-122"/>
                <a:ea typeface="微软雅黑" pitchFamily="34" charset="-122"/>
              </a:rPr>
              <a:t>由发送方的应用进程指明要求发送报文段，即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支持的</a:t>
            </a:r>
            <a:r>
              <a:rPr lang="zh-CN" altLang="en-US" b="1" dirty="0">
                <a:solidFill>
                  <a:srgbClr val="0000FF"/>
                </a:solidFill>
                <a:latin typeface="微软雅黑" pitchFamily="34" charset="-122"/>
                <a:ea typeface="微软雅黑" pitchFamily="34" charset="-122"/>
              </a:rPr>
              <a:t>推送 </a:t>
            </a:r>
            <a:r>
              <a:rPr lang="en-US" altLang="zh-CN" b="1" dirty="0">
                <a:latin typeface="微软雅黑" pitchFamily="34" charset="-122"/>
                <a:ea typeface="微软雅黑" pitchFamily="34" charset="-122"/>
              </a:rPr>
              <a:t>(push) </a:t>
            </a:r>
            <a:r>
              <a:rPr lang="zh-CN" altLang="en-US" b="1" dirty="0">
                <a:latin typeface="微软雅黑" pitchFamily="34" charset="-122"/>
                <a:ea typeface="微软雅黑" pitchFamily="34" charset="-122"/>
              </a:rPr>
              <a:t>操作。</a:t>
            </a:r>
          </a:p>
          <a:p>
            <a:pPr marL="633413" indent="-342900">
              <a:lnSpc>
                <a:spcPts val="2700"/>
              </a:lnSpc>
              <a:buClr>
                <a:srgbClr val="7030A0"/>
              </a:buClr>
              <a:buFont typeface="+mj-lt"/>
              <a:buAutoNum type="arabicPeriod"/>
            </a:pPr>
            <a:r>
              <a:rPr lang="zh-CN" altLang="en-US" b="1" dirty="0">
                <a:latin typeface="微软雅黑" pitchFamily="34" charset="-122"/>
                <a:ea typeface="微软雅黑" pitchFamily="34" charset="-122"/>
              </a:rPr>
              <a:t>发送方的一个计时器期限到了，这时就把当前已有的缓存数据装入报文段（但长度不能超过 </a:t>
            </a:r>
            <a:r>
              <a:rPr lang="en-US" altLang="zh-CN" b="1" dirty="0">
                <a:latin typeface="微软雅黑" pitchFamily="34" charset="-122"/>
                <a:ea typeface="微软雅黑" pitchFamily="34" charset="-122"/>
              </a:rPr>
              <a:t>MSS</a:t>
            </a:r>
            <a:r>
              <a:rPr lang="zh-CN" altLang="en-US" b="1" dirty="0">
                <a:latin typeface="微软雅黑" pitchFamily="34" charset="-122"/>
                <a:ea typeface="微软雅黑" pitchFamily="34" charset="-122"/>
              </a:rPr>
              <a:t>）发送出去。</a:t>
            </a:r>
          </a:p>
        </p:txBody>
      </p:sp>
      <p:sp>
        <p:nvSpPr>
          <p:cNvPr id="2" name="矩形 1"/>
          <p:cNvSpPr/>
          <p:nvPr/>
        </p:nvSpPr>
        <p:spPr>
          <a:xfrm>
            <a:off x="1398495" y="3570469"/>
            <a:ext cx="6660776" cy="438582"/>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algn="ctr">
              <a:lnSpc>
                <a:spcPts val="2700"/>
              </a:lnSpc>
              <a:buClr>
                <a:srgbClr val="0070C0"/>
              </a:buClr>
            </a:pPr>
            <a:r>
              <a:rPr lang="zh-CN" altLang="en-US" b="1" dirty="0">
                <a:solidFill>
                  <a:schemeClr val="bg1"/>
                </a:solidFill>
                <a:latin typeface="微软雅黑" pitchFamily="34" charset="-122"/>
                <a:ea typeface="微软雅黑" pitchFamily="34" charset="-122"/>
              </a:rPr>
              <a:t>如何控制 </a:t>
            </a:r>
            <a:r>
              <a:rPr lang="en-US" altLang="zh-CN" b="1" dirty="0">
                <a:solidFill>
                  <a:schemeClr val="bg1"/>
                </a:solidFill>
                <a:latin typeface="微软雅黑" pitchFamily="34" charset="-122"/>
                <a:ea typeface="微软雅黑" pitchFamily="34" charset="-122"/>
              </a:rPr>
              <a:t>TCP </a:t>
            </a:r>
            <a:r>
              <a:rPr lang="zh-CN" altLang="en-US" b="1" dirty="0">
                <a:solidFill>
                  <a:schemeClr val="bg1"/>
                </a:solidFill>
                <a:latin typeface="微软雅黑" pitchFamily="34" charset="-122"/>
                <a:ea typeface="微软雅黑" pitchFamily="34" charset="-122"/>
              </a:rPr>
              <a:t>发送报文段的时机仍然是一个较为复杂的问题。</a:t>
            </a:r>
          </a:p>
        </p:txBody>
      </p:sp>
    </p:spTree>
    <p:custDataLst>
      <p:tags r:id="rId1"/>
    </p:custDataLst>
    <p:extLst>
      <p:ext uri="{BB962C8B-B14F-4D97-AF65-F5344CB8AC3E}">
        <p14:creationId xmlns:p14="http://schemas.microsoft.com/office/powerpoint/2010/main" val="1094839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3">
                                            <p:txEl>
                                              <p:pRg st="0" end="0"/>
                                            </p:txEl>
                                          </p:spTgt>
                                        </p:tgtEl>
                                        <p:attrNameLst>
                                          <p:attrName>style.visibility</p:attrName>
                                        </p:attrNameLst>
                                      </p:cBhvr>
                                      <p:to>
                                        <p:strVal val="visible"/>
                                      </p:to>
                                    </p:set>
                                    <p:animEffect transition="in" filter="fade">
                                      <p:cBhvr>
                                        <p:cTn id="7" dur="1000"/>
                                        <p:tgtEl>
                                          <p:spTgt spid="53">
                                            <p:txEl>
                                              <p:pRg st="0" end="0"/>
                                            </p:txEl>
                                          </p:spTgt>
                                        </p:tgtEl>
                                      </p:cBhvr>
                                    </p:animEffect>
                                    <p:anim calcmode="lin" valueType="num">
                                      <p:cBhvr>
                                        <p:cTn id="8" dur="1000" fill="hold"/>
                                        <p:tgtEl>
                                          <p:spTgt spid="5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3">
                                            <p:txEl>
                                              <p:pRg st="1" end="1"/>
                                            </p:txEl>
                                          </p:spTgt>
                                        </p:tgtEl>
                                        <p:attrNameLst>
                                          <p:attrName>style.visibility</p:attrName>
                                        </p:attrNameLst>
                                      </p:cBhvr>
                                      <p:to>
                                        <p:strVal val="visible"/>
                                      </p:to>
                                    </p:set>
                                    <p:animEffect transition="in" filter="fade">
                                      <p:cBhvr>
                                        <p:cTn id="14" dur="1000"/>
                                        <p:tgtEl>
                                          <p:spTgt spid="53">
                                            <p:txEl>
                                              <p:pRg st="1" end="1"/>
                                            </p:txEl>
                                          </p:spTgt>
                                        </p:tgtEl>
                                      </p:cBhvr>
                                    </p:animEffect>
                                    <p:anim calcmode="lin" valueType="num">
                                      <p:cBhvr>
                                        <p:cTn id="15" dur="1000" fill="hold"/>
                                        <p:tgtEl>
                                          <p:spTgt spid="5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3">
                                            <p:txEl>
                                              <p:pRg st="2" end="2"/>
                                            </p:txEl>
                                          </p:spTgt>
                                        </p:tgtEl>
                                        <p:attrNameLst>
                                          <p:attrName>style.visibility</p:attrName>
                                        </p:attrNameLst>
                                      </p:cBhvr>
                                      <p:to>
                                        <p:strVal val="visible"/>
                                      </p:to>
                                    </p:set>
                                    <p:animEffect transition="in" filter="fade">
                                      <p:cBhvr>
                                        <p:cTn id="21" dur="1000"/>
                                        <p:tgtEl>
                                          <p:spTgt spid="53">
                                            <p:txEl>
                                              <p:pRg st="2" end="2"/>
                                            </p:txEl>
                                          </p:spTgt>
                                        </p:tgtEl>
                                      </p:cBhvr>
                                    </p:animEffect>
                                    <p:anim calcmode="lin" valueType="num">
                                      <p:cBhvr>
                                        <p:cTn id="22" dur="1000" fill="hold"/>
                                        <p:tgtEl>
                                          <p:spTgt spid="5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3">
                                            <p:txEl>
                                              <p:pRg st="3" end="3"/>
                                            </p:txEl>
                                          </p:spTgt>
                                        </p:tgtEl>
                                        <p:attrNameLst>
                                          <p:attrName>style.visibility</p:attrName>
                                        </p:attrNameLst>
                                      </p:cBhvr>
                                      <p:to>
                                        <p:strVal val="visible"/>
                                      </p:to>
                                    </p:set>
                                    <p:animEffect transition="in" filter="fade">
                                      <p:cBhvr>
                                        <p:cTn id="28" dur="1000"/>
                                        <p:tgtEl>
                                          <p:spTgt spid="53">
                                            <p:txEl>
                                              <p:pRg st="3" end="3"/>
                                            </p:txEl>
                                          </p:spTgt>
                                        </p:tgtEl>
                                      </p:cBhvr>
                                    </p:animEffect>
                                    <p:anim calcmode="lin" valueType="num">
                                      <p:cBhvr>
                                        <p:cTn id="29" dur="1000" fill="hold"/>
                                        <p:tgtEl>
                                          <p:spTgt spid="5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5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p:cTn id="35" dur="500" fill="hold"/>
                                        <p:tgtEl>
                                          <p:spTgt spid="2"/>
                                        </p:tgtEl>
                                        <p:attrNameLst>
                                          <p:attrName>ppt_w</p:attrName>
                                        </p:attrNameLst>
                                      </p:cBhvr>
                                      <p:tavLst>
                                        <p:tav tm="0">
                                          <p:val>
                                            <p:fltVal val="0"/>
                                          </p:val>
                                        </p:tav>
                                        <p:tav tm="100000">
                                          <p:val>
                                            <p:strVal val="#ppt_w"/>
                                          </p:val>
                                        </p:tav>
                                      </p:tavLst>
                                    </p:anim>
                                    <p:anim calcmode="lin" valueType="num">
                                      <p:cBhvr>
                                        <p:cTn id="36" dur="500" fill="hold"/>
                                        <p:tgtEl>
                                          <p:spTgt spid="2"/>
                                        </p:tgtEl>
                                        <p:attrNameLst>
                                          <p:attrName>ppt_h</p:attrName>
                                        </p:attrNameLst>
                                      </p:cBhvr>
                                      <p:tavLst>
                                        <p:tav tm="0">
                                          <p:val>
                                            <p:fltVal val="0"/>
                                          </p:val>
                                        </p:tav>
                                        <p:tav tm="100000">
                                          <p:val>
                                            <p:strVal val="#ppt_h"/>
                                          </p:val>
                                        </p:tav>
                                      </p:tavLst>
                                    </p:anim>
                                    <p:animEffect transition="in" filter="fade">
                                      <p:cBhvr>
                                        <p:cTn id="3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7819" y="621201"/>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1620983" y="587990"/>
            <a:ext cx="59024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糊涂窗口综合征</a:t>
            </a:r>
            <a:r>
              <a:rPr lang="en-US" altLang="zh-CN" sz="2000" b="1" dirty="0">
                <a:solidFill>
                  <a:schemeClr val="bg1"/>
                </a:solidFill>
                <a:latin typeface="微软雅黑" pitchFamily="34" charset="-122"/>
                <a:ea typeface="微软雅黑" pitchFamily="34" charset="-122"/>
              </a:rPr>
              <a:t>SWS (Silly Window Syndrome)</a:t>
            </a:r>
            <a:endParaRPr lang="zh-CN" altLang="en-US" sz="2000" b="1" dirty="0">
              <a:solidFill>
                <a:schemeClr val="bg1"/>
              </a:solidFill>
              <a:latin typeface="微软雅黑" pitchFamily="34" charset="-122"/>
              <a:ea typeface="微软雅黑" pitchFamily="34" charset="-122"/>
            </a:endParaRPr>
          </a:p>
        </p:txBody>
      </p:sp>
      <p:sp>
        <p:nvSpPr>
          <p:cNvPr id="8" name="圆角矩形 7"/>
          <p:cNvSpPr/>
          <p:nvPr/>
        </p:nvSpPr>
        <p:spPr>
          <a:xfrm>
            <a:off x="556963" y="1045338"/>
            <a:ext cx="8048776"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Text Box 155"/>
          <p:cNvSpPr txBox="1">
            <a:spLocks noChangeArrowheads="1"/>
          </p:cNvSpPr>
          <p:nvPr/>
        </p:nvSpPr>
        <p:spPr bwMode="auto">
          <a:xfrm>
            <a:off x="1470212" y="1138986"/>
            <a:ext cx="6480767" cy="344325"/>
          </a:xfrm>
          <a:prstGeom prst="rect">
            <a:avLst/>
          </a:prstGeom>
          <a:solidFill>
            <a:srgbClr val="000099"/>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假设接收方应用进程消耗数据太慢，每次只读取一个字节。</a:t>
            </a:r>
          </a:p>
        </p:txBody>
      </p:sp>
      <p:sp>
        <p:nvSpPr>
          <p:cNvPr id="11" name="Line 4"/>
          <p:cNvSpPr>
            <a:spLocks noChangeShapeType="1"/>
          </p:cNvSpPr>
          <p:nvPr/>
        </p:nvSpPr>
        <p:spPr bwMode="auto">
          <a:xfrm>
            <a:off x="4175828" y="1861577"/>
            <a:ext cx="0" cy="2257416"/>
          </a:xfrm>
          <a:prstGeom prst="line">
            <a:avLst/>
          </a:prstGeom>
          <a:noFill/>
          <a:ln w="19050">
            <a:solidFill>
              <a:srgbClr val="0033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2" name="组合 1"/>
          <p:cNvGrpSpPr/>
          <p:nvPr/>
        </p:nvGrpSpPr>
        <p:grpSpPr>
          <a:xfrm>
            <a:off x="1695644" y="2658984"/>
            <a:ext cx="2480184" cy="243656"/>
            <a:chOff x="1695644" y="2200317"/>
            <a:chExt cx="2480184" cy="243656"/>
          </a:xfrm>
        </p:grpSpPr>
        <p:sp>
          <p:nvSpPr>
            <p:cNvPr id="12" name="Line 5"/>
            <p:cNvSpPr>
              <a:spLocks noChangeShapeType="1"/>
            </p:cNvSpPr>
            <p:nvPr/>
          </p:nvSpPr>
          <p:spPr bwMode="auto">
            <a:xfrm>
              <a:off x="1695644" y="2434886"/>
              <a:ext cx="2480184"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3" name="Rectangle 6"/>
            <p:cNvSpPr>
              <a:spLocks noChangeArrowheads="1"/>
            </p:cNvSpPr>
            <p:nvPr/>
          </p:nvSpPr>
          <p:spPr bwMode="auto">
            <a:xfrm>
              <a:off x="2383539" y="2200317"/>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601, DATA</a:t>
              </a:r>
            </a:p>
          </p:txBody>
        </p:sp>
      </p:grpSp>
      <p:grpSp>
        <p:nvGrpSpPr>
          <p:cNvPr id="46" name="组合 45"/>
          <p:cNvGrpSpPr/>
          <p:nvPr/>
        </p:nvGrpSpPr>
        <p:grpSpPr>
          <a:xfrm>
            <a:off x="1685307" y="1806415"/>
            <a:ext cx="2490520" cy="243656"/>
            <a:chOff x="1685307" y="3878203"/>
            <a:chExt cx="2490520" cy="243656"/>
          </a:xfrm>
        </p:grpSpPr>
        <p:sp>
          <p:nvSpPr>
            <p:cNvPr id="28" name="Line 21"/>
            <p:cNvSpPr>
              <a:spLocks noChangeShapeType="1"/>
            </p:cNvSpPr>
            <p:nvPr/>
          </p:nvSpPr>
          <p:spPr bwMode="auto">
            <a:xfrm flipH="1">
              <a:off x="1685307" y="4112773"/>
              <a:ext cx="2490520"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9"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601, </a:t>
              </a:r>
              <a:r>
                <a:rPr kumimoji="1" lang="en-US" altLang="zh-CN" sz="1000" b="1" dirty="0" err="1">
                  <a:solidFill>
                    <a:srgbClr val="CC00CC"/>
                  </a:solidFill>
                  <a:latin typeface="微软雅黑" pitchFamily="34" charset="-122"/>
                  <a:ea typeface="微软雅黑" pitchFamily="34" charset="-122"/>
                </a:rPr>
                <a:t>rwnd</a:t>
              </a:r>
              <a:r>
                <a:rPr kumimoji="1" lang="en-US" altLang="zh-CN" sz="1000" b="1" dirty="0">
                  <a:solidFill>
                    <a:srgbClr val="CC00CC"/>
                  </a:solidFill>
                  <a:latin typeface="微软雅黑" pitchFamily="34" charset="-122"/>
                  <a:ea typeface="微软雅黑" pitchFamily="34" charset="-122"/>
                </a:rPr>
                <a:t> = 0</a:t>
              </a:r>
            </a:p>
          </p:txBody>
        </p:sp>
      </p:grpSp>
      <p:sp>
        <p:nvSpPr>
          <p:cNvPr id="32" name="Rectangle 25"/>
          <p:cNvSpPr>
            <a:spLocks noChangeArrowheads="1"/>
          </p:cNvSpPr>
          <p:nvPr/>
        </p:nvSpPr>
        <p:spPr bwMode="auto">
          <a:xfrm>
            <a:off x="1579145" y="1662980"/>
            <a:ext cx="28854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itchFamily="34" charset="-122"/>
                <a:ea typeface="微软雅黑" pitchFamily="34" charset="-122"/>
              </a:rPr>
              <a:t>A</a:t>
            </a:r>
          </a:p>
        </p:txBody>
      </p:sp>
      <p:sp>
        <p:nvSpPr>
          <p:cNvPr id="33" name="Rectangle 26"/>
          <p:cNvSpPr>
            <a:spLocks noChangeArrowheads="1"/>
          </p:cNvSpPr>
          <p:nvPr/>
        </p:nvSpPr>
        <p:spPr bwMode="auto">
          <a:xfrm>
            <a:off x="4064966" y="1662980"/>
            <a:ext cx="27892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itchFamily="34" charset="-122"/>
                <a:ea typeface="微软雅黑" pitchFamily="34" charset="-122"/>
              </a:rPr>
              <a:t>B</a:t>
            </a:r>
          </a:p>
        </p:txBody>
      </p:sp>
      <p:sp>
        <p:nvSpPr>
          <p:cNvPr id="34" name="Rectangle 27"/>
          <p:cNvSpPr>
            <a:spLocks noChangeArrowheads="1"/>
          </p:cNvSpPr>
          <p:nvPr/>
        </p:nvSpPr>
        <p:spPr bwMode="auto">
          <a:xfrm>
            <a:off x="4235218" y="2432213"/>
            <a:ext cx="268022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latin typeface="微软雅黑" pitchFamily="34" charset="-122"/>
                <a:ea typeface="微软雅黑" pitchFamily="34" charset="-122"/>
              </a:rPr>
              <a:t>允许 </a:t>
            </a:r>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发送序号 </a:t>
            </a:r>
            <a:r>
              <a:rPr kumimoji="1" lang="en-US" altLang="zh-CN" sz="1100" b="1" dirty="0">
                <a:latin typeface="微软雅黑" pitchFamily="34" charset="-122"/>
                <a:ea typeface="微软雅黑" pitchFamily="34" charset="-122"/>
              </a:rPr>
              <a:t>601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601  </a:t>
            </a:r>
            <a:r>
              <a:rPr kumimoji="1" lang="zh-CN" altLang="en-US" sz="1100" b="1" dirty="0">
                <a:latin typeface="微软雅黑" pitchFamily="34" charset="-122"/>
                <a:ea typeface="微软雅黑" pitchFamily="34" charset="-122"/>
              </a:rPr>
              <a:t>共 </a:t>
            </a:r>
            <a:r>
              <a:rPr kumimoji="1" lang="en-US" altLang="zh-CN" sz="1100" b="1" dirty="0">
                <a:latin typeface="微软雅黑" pitchFamily="34" charset="-122"/>
                <a:ea typeface="微软雅黑" pitchFamily="34" charset="-122"/>
              </a:rPr>
              <a:t>1 </a:t>
            </a:r>
            <a:r>
              <a:rPr kumimoji="1" lang="zh-CN" altLang="en-US" sz="1100" b="1" dirty="0">
                <a:latin typeface="微软雅黑" pitchFamily="34" charset="-122"/>
                <a:ea typeface="微软雅黑" pitchFamily="34" charset="-122"/>
              </a:rPr>
              <a:t>字节</a:t>
            </a:r>
          </a:p>
        </p:txBody>
      </p:sp>
      <p:sp>
        <p:nvSpPr>
          <p:cNvPr id="42" name="Rectangle 35"/>
          <p:cNvSpPr>
            <a:spLocks noChangeArrowheads="1"/>
          </p:cNvSpPr>
          <p:nvPr/>
        </p:nvSpPr>
        <p:spPr bwMode="auto">
          <a:xfrm>
            <a:off x="4235218" y="1896713"/>
            <a:ext cx="353622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latin typeface="微软雅黑" pitchFamily="34" charset="-122"/>
                <a:ea typeface="微软雅黑" pitchFamily="34" charset="-122"/>
              </a:rPr>
              <a:t>不允许 </a:t>
            </a:r>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再发送（到序号 </a:t>
            </a:r>
            <a:r>
              <a:rPr kumimoji="1" lang="en-US" altLang="zh-CN" sz="1100" b="1" dirty="0">
                <a:latin typeface="微软雅黑" pitchFamily="34" charset="-122"/>
                <a:ea typeface="微软雅黑" pitchFamily="34" charset="-122"/>
              </a:rPr>
              <a:t>600 </a:t>
            </a:r>
            <a:r>
              <a:rPr kumimoji="1" lang="zh-CN" altLang="en-US" sz="1100" b="1" dirty="0">
                <a:latin typeface="微软雅黑" pitchFamily="34" charset="-122"/>
                <a:ea typeface="微软雅黑" pitchFamily="34" charset="-122"/>
              </a:rPr>
              <a:t>为止的数据都收到了）</a:t>
            </a:r>
          </a:p>
        </p:txBody>
      </p:sp>
      <p:sp>
        <p:nvSpPr>
          <p:cNvPr id="45" name="Line 38"/>
          <p:cNvSpPr>
            <a:spLocks noChangeShapeType="1"/>
          </p:cNvSpPr>
          <p:nvPr/>
        </p:nvSpPr>
        <p:spPr bwMode="auto">
          <a:xfrm>
            <a:off x="1676853" y="1861577"/>
            <a:ext cx="0" cy="2257416"/>
          </a:xfrm>
          <a:prstGeom prst="line">
            <a:avLst/>
          </a:prstGeom>
          <a:noFill/>
          <a:ln w="19050">
            <a:solidFill>
              <a:srgbClr val="0033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47" name="Rectangle 35"/>
          <p:cNvSpPr>
            <a:spLocks noChangeArrowheads="1"/>
          </p:cNvSpPr>
          <p:nvPr/>
        </p:nvSpPr>
        <p:spPr bwMode="auto">
          <a:xfrm>
            <a:off x="4235218" y="2155758"/>
            <a:ext cx="306975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CC00CC"/>
                </a:solidFill>
                <a:latin typeface="微软雅黑" pitchFamily="34" charset="-122"/>
                <a:ea typeface="微软雅黑" pitchFamily="34" charset="-122"/>
              </a:rPr>
              <a:t>应用进程读取 </a:t>
            </a:r>
            <a:r>
              <a:rPr kumimoji="1" lang="en-US" altLang="zh-CN" sz="1100" b="1" dirty="0">
                <a:solidFill>
                  <a:srgbClr val="CC00CC"/>
                </a:solidFill>
                <a:latin typeface="微软雅黑" pitchFamily="34" charset="-122"/>
                <a:ea typeface="微软雅黑" pitchFamily="34" charset="-122"/>
              </a:rPr>
              <a:t>1 </a:t>
            </a:r>
            <a:r>
              <a:rPr kumimoji="1" lang="zh-CN" altLang="en-US" sz="1100" b="1" dirty="0">
                <a:solidFill>
                  <a:srgbClr val="CC00CC"/>
                </a:solidFill>
                <a:latin typeface="微软雅黑" pitchFamily="34" charset="-122"/>
                <a:ea typeface="微软雅黑" pitchFamily="34" charset="-122"/>
              </a:rPr>
              <a:t>字节。接收缓存大小 </a:t>
            </a:r>
            <a:r>
              <a:rPr kumimoji="1" lang="en-US" altLang="zh-CN" sz="1100" b="1" dirty="0">
                <a:solidFill>
                  <a:srgbClr val="CC00CC"/>
                </a:solidFill>
                <a:latin typeface="微软雅黑" pitchFamily="34" charset="-122"/>
                <a:ea typeface="微软雅黑" pitchFamily="34" charset="-122"/>
              </a:rPr>
              <a:t>= 1</a:t>
            </a:r>
            <a:r>
              <a:rPr kumimoji="1" lang="zh-CN" altLang="en-US" sz="1100" b="1" dirty="0">
                <a:solidFill>
                  <a:srgbClr val="CC00CC"/>
                </a:solidFill>
                <a:latin typeface="微软雅黑" pitchFamily="34" charset="-122"/>
                <a:ea typeface="微软雅黑" pitchFamily="34" charset="-122"/>
              </a:rPr>
              <a:t> 字节</a:t>
            </a:r>
          </a:p>
        </p:txBody>
      </p:sp>
      <p:grpSp>
        <p:nvGrpSpPr>
          <p:cNvPr id="48" name="组合 47"/>
          <p:cNvGrpSpPr/>
          <p:nvPr/>
        </p:nvGrpSpPr>
        <p:grpSpPr>
          <a:xfrm>
            <a:off x="1685307" y="2358588"/>
            <a:ext cx="2490520" cy="243656"/>
            <a:chOff x="1685307" y="3878203"/>
            <a:chExt cx="2490520" cy="243656"/>
          </a:xfrm>
        </p:grpSpPr>
        <p:sp>
          <p:nvSpPr>
            <p:cNvPr id="49" name="Line 21"/>
            <p:cNvSpPr>
              <a:spLocks noChangeShapeType="1"/>
            </p:cNvSpPr>
            <p:nvPr/>
          </p:nvSpPr>
          <p:spPr bwMode="auto">
            <a:xfrm flipH="1">
              <a:off x="1685307" y="4112773"/>
              <a:ext cx="2490520"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50"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601, </a:t>
              </a:r>
              <a:r>
                <a:rPr kumimoji="1" lang="en-US" altLang="zh-CN" sz="1000" b="1" dirty="0" err="1">
                  <a:solidFill>
                    <a:srgbClr val="CC00CC"/>
                  </a:solidFill>
                  <a:latin typeface="微软雅黑" pitchFamily="34" charset="-122"/>
                  <a:ea typeface="微软雅黑" pitchFamily="34" charset="-122"/>
                </a:rPr>
                <a:t>rwnd</a:t>
              </a:r>
              <a:r>
                <a:rPr kumimoji="1" lang="en-US" altLang="zh-CN" sz="1000" b="1" dirty="0">
                  <a:solidFill>
                    <a:srgbClr val="CC00CC"/>
                  </a:solidFill>
                  <a:latin typeface="微软雅黑" pitchFamily="34" charset="-122"/>
                  <a:ea typeface="微软雅黑" pitchFamily="34" charset="-122"/>
                </a:rPr>
                <a:t> = 1</a:t>
              </a:r>
            </a:p>
          </p:txBody>
        </p:sp>
      </p:grpSp>
      <p:sp>
        <p:nvSpPr>
          <p:cNvPr id="52" name="Rectangle 29"/>
          <p:cNvSpPr>
            <a:spLocks noChangeArrowheads="1"/>
          </p:cNvSpPr>
          <p:nvPr/>
        </p:nvSpPr>
        <p:spPr bwMode="auto">
          <a:xfrm>
            <a:off x="4235218" y="2740908"/>
            <a:ext cx="3132269"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601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601 </a:t>
            </a:r>
            <a:r>
              <a:rPr kumimoji="1" lang="zh-CN" altLang="en-US" sz="1100" b="1" dirty="0">
                <a:latin typeface="微软雅黑" pitchFamily="34" charset="-122"/>
                <a:ea typeface="微软雅黑" pitchFamily="34" charset="-122"/>
              </a:rPr>
              <a:t>字节，不能再发送了</a:t>
            </a:r>
          </a:p>
        </p:txBody>
      </p:sp>
      <p:sp>
        <p:nvSpPr>
          <p:cNvPr id="67" name="Rectangle 35"/>
          <p:cNvSpPr>
            <a:spLocks noChangeArrowheads="1"/>
          </p:cNvSpPr>
          <p:nvPr/>
        </p:nvSpPr>
        <p:spPr bwMode="auto">
          <a:xfrm>
            <a:off x="4235218" y="3046209"/>
            <a:ext cx="306975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CC00CC"/>
                </a:solidFill>
                <a:latin typeface="微软雅黑" pitchFamily="34" charset="-122"/>
                <a:ea typeface="微软雅黑" pitchFamily="34" charset="-122"/>
              </a:rPr>
              <a:t>应用进程读取 </a:t>
            </a:r>
            <a:r>
              <a:rPr kumimoji="1" lang="en-US" altLang="zh-CN" sz="1100" b="1" dirty="0">
                <a:solidFill>
                  <a:srgbClr val="CC00CC"/>
                </a:solidFill>
                <a:latin typeface="微软雅黑" pitchFamily="34" charset="-122"/>
                <a:ea typeface="微软雅黑" pitchFamily="34" charset="-122"/>
              </a:rPr>
              <a:t>1 </a:t>
            </a:r>
            <a:r>
              <a:rPr kumimoji="1" lang="zh-CN" altLang="en-US" sz="1100" b="1" dirty="0">
                <a:solidFill>
                  <a:srgbClr val="CC00CC"/>
                </a:solidFill>
                <a:latin typeface="微软雅黑" pitchFamily="34" charset="-122"/>
                <a:ea typeface="微软雅黑" pitchFamily="34" charset="-122"/>
              </a:rPr>
              <a:t>字节。接收缓存大小 </a:t>
            </a:r>
            <a:r>
              <a:rPr kumimoji="1" lang="en-US" altLang="zh-CN" sz="1100" b="1" dirty="0">
                <a:solidFill>
                  <a:srgbClr val="CC00CC"/>
                </a:solidFill>
                <a:latin typeface="微软雅黑" pitchFamily="34" charset="-122"/>
                <a:ea typeface="微软雅黑" pitchFamily="34" charset="-122"/>
              </a:rPr>
              <a:t>= 1</a:t>
            </a:r>
            <a:r>
              <a:rPr kumimoji="1" lang="zh-CN" altLang="en-US" sz="1100" b="1" dirty="0">
                <a:solidFill>
                  <a:srgbClr val="CC00CC"/>
                </a:solidFill>
                <a:latin typeface="微软雅黑" pitchFamily="34" charset="-122"/>
                <a:ea typeface="微软雅黑" pitchFamily="34" charset="-122"/>
              </a:rPr>
              <a:t> 字节</a:t>
            </a:r>
          </a:p>
        </p:txBody>
      </p:sp>
      <p:grpSp>
        <p:nvGrpSpPr>
          <p:cNvPr id="68" name="组合 67"/>
          <p:cNvGrpSpPr/>
          <p:nvPr/>
        </p:nvGrpSpPr>
        <p:grpSpPr>
          <a:xfrm>
            <a:off x="1695644" y="3563784"/>
            <a:ext cx="2480184" cy="243656"/>
            <a:chOff x="1695644" y="2200317"/>
            <a:chExt cx="2480184" cy="243656"/>
          </a:xfrm>
        </p:grpSpPr>
        <p:sp>
          <p:nvSpPr>
            <p:cNvPr id="69" name="Line 5"/>
            <p:cNvSpPr>
              <a:spLocks noChangeShapeType="1"/>
            </p:cNvSpPr>
            <p:nvPr/>
          </p:nvSpPr>
          <p:spPr bwMode="auto">
            <a:xfrm>
              <a:off x="1695644" y="2434886"/>
              <a:ext cx="2480184"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70" name="Rectangle 6"/>
            <p:cNvSpPr>
              <a:spLocks noChangeArrowheads="1"/>
            </p:cNvSpPr>
            <p:nvPr/>
          </p:nvSpPr>
          <p:spPr bwMode="auto">
            <a:xfrm>
              <a:off x="2383539" y="2200317"/>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602, DATA</a:t>
              </a:r>
            </a:p>
          </p:txBody>
        </p:sp>
      </p:grpSp>
      <p:sp>
        <p:nvSpPr>
          <p:cNvPr id="71" name="Rectangle 27"/>
          <p:cNvSpPr>
            <a:spLocks noChangeArrowheads="1"/>
          </p:cNvSpPr>
          <p:nvPr/>
        </p:nvSpPr>
        <p:spPr bwMode="auto">
          <a:xfrm>
            <a:off x="4235218" y="3337013"/>
            <a:ext cx="268022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latin typeface="微软雅黑" pitchFamily="34" charset="-122"/>
                <a:ea typeface="微软雅黑" pitchFamily="34" charset="-122"/>
              </a:rPr>
              <a:t>允许 </a:t>
            </a:r>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发送序号 </a:t>
            </a:r>
            <a:r>
              <a:rPr kumimoji="1" lang="en-US" altLang="zh-CN" sz="1100" b="1" dirty="0">
                <a:latin typeface="微软雅黑" pitchFamily="34" charset="-122"/>
                <a:ea typeface="微软雅黑" pitchFamily="34" charset="-122"/>
              </a:rPr>
              <a:t>602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602  </a:t>
            </a:r>
            <a:r>
              <a:rPr kumimoji="1" lang="zh-CN" altLang="en-US" sz="1100" b="1" dirty="0">
                <a:latin typeface="微软雅黑" pitchFamily="34" charset="-122"/>
                <a:ea typeface="微软雅黑" pitchFamily="34" charset="-122"/>
              </a:rPr>
              <a:t>共 </a:t>
            </a:r>
            <a:r>
              <a:rPr kumimoji="1" lang="en-US" altLang="zh-CN" sz="1100" b="1" dirty="0">
                <a:latin typeface="微软雅黑" pitchFamily="34" charset="-122"/>
                <a:ea typeface="微软雅黑" pitchFamily="34" charset="-122"/>
              </a:rPr>
              <a:t>1 </a:t>
            </a:r>
            <a:r>
              <a:rPr kumimoji="1" lang="zh-CN" altLang="en-US" sz="1100" b="1" dirty="0">
                <a:latin typeface="微软雅黑" pitchFamily="34" charset="-122"/>
                <a:ea typeface="微软雅黑" pitchFamily="34" charset="-122"/>
              </a:rPr>
              <a:t>字节</a:t>
            </a:r>
          </a:p>
        </p:txBody>
      </p:sp>
      <p:grpSp>
        <p:nvGrpSpPr>
          <p:cNvPr id="72" name="组合 71"/>
          <p:cNvGrpSpPr/>
          <p:nvPr/>
        </p:nvGrpSpPr>
        <p:grpSpPr>
          <a:xfrm>
            <a:off x="1685307" y="3263388"/>
            <a:ext cx="2490520" cy="243656"/>
            <a:chOff x="1685307" y="3878203"/>
            <a:chExt cx="2490520" cy="243656"/>
          </a:xfrm>
        </p:grpSpPr>
        <p:sp>
          <p:nvSpPr>
            <p:cNvPr id="73" name="Line 21"/>
            <p:cNvSpPr>
              <a:spLocks noChangeShapeType="1"/>
            </p:cNvSpPr>
            <p:nvPr/>
          </p:nvSpPr>
          <p:spPr bwMode="auto">
            <a:xfrm flipH="1">
              <a:off x="1685307" y="4112773"/>
              <a:ext cx="2490520"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74"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602, </a:t>
              </a:r>
              <a:r>
                <a:rPr kumimoji="1" lang="en-US" altLang="zh-CN" sz="1000" b="1" dirty="0" err="1">
                  <a:solidFill>
                    <a:srgbClr val="CC00CC"/>
                  </a:solidFill>
                  <a:latin typeface="微软雅黑" pitchFamily="34" charset="-122"/>
                  <a:ea typeface="微软雅黑" pitchFamily="34" charset="-122"/>
                </a:rPr>
                <a:t>rwnd</a:t>
              </a:r>
              <a:r>
                <a:rPr kumimoji="1" lang="en-US" altLang="zh-CN" sz="1000" b="1" dirty="0">
                  <a:solidFill>
                    <a:srgbClr val="CC00CC"/>
                  </a:solidFill>
                  <a:latin typeface="微软雅黑" pitchFamily="34" charset="-122"/>
                  <a:ea typeface="微软雅黑" pitchFamily="34" charset="-122"/>
                </a:rPr>
                <a:t> = 1</a:t>
              </a:r>
            </a:p>
          </p:txBody>
        </p:sp>
      </p:grpSp>
      <p:sp>
        <p:nvSpPr>
          <p:cNvPr id="75" name="Rectangle 29"/>
          <p:cNvSpPr>
            <a:spLocks noChangeArrowheads="1"/>
          </p:cNvSpPr>
          <p:nvPr/>
        </p:nvSpPr>
        <p:spPr bwMode="auto">
          <a:xfrm>
            <a:off x="4235218" y="3645708"/>
            <a:ext cx="3132269"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602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602 </a:t>
            </a:r>
            <a:r>
              <a:rPr kumimoji="1" lang="zh-CN" altLang="en-US" sz="1100" b="1" dirty="0">
                <a:latin typeface="微软雅黑" pitchFamily="34" charset="-122"/>
                <a:ea typeface="微软雅黑" pitchFamily="34" charset="-122"/>
              </a:rPr>
              <a:t>字节，不能再发送了</a:t>
            </a:r>
          </a:p>
        </p:txBody>
      </p:sp>
    </p:spTree>
    <p:custDataLst>
      <p:tags r:id="rId1"/>
    </p:custDataLst>
    <p:extLst>
      <p:ext uri="{BB962C8B-B14F-4D97-AF65-F5344CB8AC3E}">
        <p14:creationId xmlns:p14="http://schemas.microsoft.com/office/powerpoint/2010/main" val="1201261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right)">
                                      <p:cBhvr>
                                        <p:cTn id="7" dur="2000"/>
                                        <p:tgtEl>
                                          <p:spTgt spid="46"/>
                                        </p:tgtEl>
                                      </p:cBhvr>
                                    </p:animEffect>
                                  </p:childTnLst>
                                </p:cTn>
                              </p:par>
                            </p:childTnLst>
                          </p:cTn>
                        </p:par>
                        <p:par>
                          <p:cTn id="8" fill="hold">
                            <p:stCondLst>
                              <p:cond delay="2000"/>
                            </p:stCondLst>
                            <p:childTnLst>
                              <p:par>
                                <p:cTn id="9" presetID="22" presetClass="entr" presetSubtype="1" fill="hold" grpId="0"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wipe(up)">
                                      <p:cBhvr>
                                        <p:cTn id="11" dur="1000"/>
                                        <p:tgtEl>
                                          <p:spTgt spid="4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47"/>
                                        </p:tgtEl>
                                        <p:attrNameLst>
                                          <p:attrName>style.visibility</p:attrName>
                                        </p:attrNameLst>
                                      </p:cBhvr>
                                      <p:to>
                                        <p:strVal val="visible"/>
                                      </p:to>
                                    </p:set>
                                  </p:childTnLst>
                                </p:cTn>
                              </p:par>
                              <p:par>
                                <p:cTn id="16" presetID="35" presetClass="emph" presetSubtype="0" repeatCount="3000" fill="hold" grpId="1" nodeType="withEffect">
                                  <p:stCondLst>
                                    <p:cond delay="0"/>
                                  </p:stCondLst>
                                  <p:childTnLst>
                                    <p:anim calcmode="discrete" valueType="str">
                                      <p:cBhvr>
                                        <p:cTn id="17" dur="1000" fill="hold"/>
                                        <p:tgtEl>
                                          <p:spTgt spid="47"/>
                                        </p:tgtEl>
                                        <p:attrNameLst>
                                          <p:attrName>style.visibility</p:attrName>
                                        </p:attrNameLst>
                                      </p:cBhvr>
                                      <p:tavLst>
                                        <p:tav tm="0">
                                          <p:val>
                                            <p:strVal val="hidden"/>
                                          </p:val>
                                        </p:tav>
                                        <p:tav tm="50000">
                                          <p:val>
                                            <p:strVal val="visible"/>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wipe(right)">
                                      <p:cBhvr>
                                        <p:cTn id="22" dur="2000"/>
                                        <p:tgtEl>
                                          <p:spTgt spid="48"/>
                                        </p:tgtEl>
                                      </p:cBhvr>
                                    </p:animEffect>
                                  </p:childTnLst>
                                </p:cTn>
                              </p:par>
                            </p:childTnLst>
                          </p:cTn>
                        </p:par>
                        <p:par>
                          <p:cTn id="23" fill="hold">
                            <p:stCondLst>
                              <p:cond delay="2000"/>
                            </p:stCondLst>
                            <p:childTnLst>
                              <p:par>
                                <p:cTn id="24" presetID="22" presetClass="entr" presetSubtype="1" fill="hold" grpId="0" nodeType="after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wipe(up)">
                                      <p:cBhvr>
                                        <p:cTn id="26" dur="2000"/>
                                        <p:tgtEl>
                                          <p:spTgt spid="3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left)">
                                      <p:cBhvr>
                                        <p:cTn id="31" dur="2000"/>
                                        <p:tgtEl>
                                          <p:spTgt spid="2"/>
                                        </p:tgtEl>
                                      </p:cBhvr>
                                    </p:animEffect>
                                  </p:childTnLst>
                                </p:cTn>
                              </p:par>
                            </p:childTnLst>
                          </p:cTn>
                        </p:par>
                        <p:par>
                          <p:cTn id="32" fill="hold">
                            <p:stCondLst>
                              <p:cond delay="2000"/>
                            </p:stCondLst>
                            <p:childTnLst>
                              <p:par>
                                <p:cTn id="33" presetID="22" presetClass="entr" presetSubtype="8" fill="hold" grpId="0" nodeType="afterEffect">
                                  <p:stCondLst>
                                    <p:cond delay="0"/>
                                  </p:stCondLst>
                                  <p:childTnLst>
                                    <p:set>
                                      <p:cBhvr>
                                        <p:cTn id="34" dur="1" fill="hold">
                                          <p:stCondLst>
                                            <p:cond delay="0"/>
                                          </p:stCondLst>
                                        </p:cTn>
                                        <p:tgtEl>
                                          <p:spTgt spid="52"/>
                                        </p:tgtEl>
                                        <p:attrNameLst>
                                          <p:attrName>style.visibility</p:attrName>
                                        </p:attrNameLst>
                                      </p:cBhvr>
                                      <p:to>
                                        <p:strVal val="visible"/>
                                      </p:to>
                                    </p:set>
                                    <p:animEffect transition="in" filter="wipe(left)">
                                      <p:cBhvr>
                                        <p:cTn id="35" dur="2000"/>
                                        <p:tgtEl>
                                          <p:spTgt spid="52"/>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67"/>
                                        </p:tgtEl>
                                        <p:attrNameLst>
                                          <p:attrName>style.visibility</p:attrName>
                                        </p:attrNameLst>
                                      </p:cBhvr>
                                      <p:to>
                                        <p:strVal val="visible"/>
                                      </p:to>
                                    </p:set>
                                  </p:childTnLst>
                                </p:cTn>
                              </p:par>
                              <p:par>
                                <p:cTn id="40" presetID="35" presetClass="emph" presetSubtype="0" repeatCount="3000" fill="hold" grpId="1" nodeType="withEffect">
                                  <p:stCondLst>
                                    <p:cond delay="1000"/>
                                  </p:stCondLst>
                                  <p:childTnLst>
                                    <p:anim calcmode="discrete" valueType="str">
                                      <p:cBhvr>
                                        <p:cTn id="41" dur="1000" fill="hold"/>
                                        <p:tgtEl>
                                          <p:spTgt spid="67"/>
                                        </p:tgtEl>
                                        <p:attrNameLst>
                                          <p:attrName>style.visibility</p:attrName>
                                        </p:attrNameLst>
                                      </p:cBhvr>
                                      <p:tavLst>
                                        <p:tav tm="0">
                                          <p:val>
                                            <p:strVal val="hidden"/>
                                          </p:val>
                                        </p:tav>
                                        <p:tav tm="50000">
                                          <p:val>
                                            <p:strVal val="visible"/>
                                          </p:val>
                                        </p:tav>
                                      </p:tavLst>
                                    </p:anim>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72"/>
                                        </p:tgtEl>
                                        <p:attrNameLst>
                                          <p:attrName>style.visibility</p:attrName>
                                        </p:attrNameLst>
                                      </p:cBhvr>
                                      <p:to>
                                        <p:strVal val="visible"/>
                                      </p:to>
                                    </p:set>
                                    <p:animEffect transition="in" filter="wipe(right)">
                                      <p:cBhvr>
                                        <p:cTn id="45" dur="2000"/>
                                        <p:tgtEl>
                                          <p:spTgt spid="72"/>
                                        </p:tgtEl>
                                      </p:cBhvr>
                                    </p:animEffect>
                                  </p:childTnLst>
                                </p:cTn>
                              </p:par>
                            </p:childTnLst>
                          </p:cTn>
                        </p:par>
                        <p:par>
                          <p:cTn id="46" fill="hold">
                            <p:stCondLst>
                              <p:cond delay="6000"/>
                            </p:stCondLst>
                            <p:childTnLst>
                              <p:par>
                                <p:cTn id="47" presetID="22" presetClass="entr" presetSubtype="1" fill="hold" grpId="0" nodeType="afterEffect">
                                  <p:stCondLst>
                                    <p:cond delay="0"/>
                                  </p:stCondLst>
                                  <p:childTnLst>
                                    <p:set>
                                      <p:cBhvr>
                                        <p:cTn id="48" dur="1" fill="hold">
                                          <p:stCondLst>
                                            <p:cond delay="0"/>
                                          </p:stCondLst>
                                        </p:cTn>
                                        <p:tgtEl>
                                          <p:spTgt spid="71"/>
                                        </p:tgtEl>
                                        <p:attrNameLst>
                                          <p:attrName>style.visibility</p:attrName>
                                        </p:attrNameLst>
                                      </p:cBhvr>
                                      <p:to>
                                        <p:strVal val="visible"/>
                                      </p:to>
                                    </p:set>
                                    <p:animEffect transition="in" filter="wipe(up)">
                                      <p:cBhvr>
                                        <p:cTn id="49" dur="2000"/>
                                        <p:tgtEl>
                                          <p:spTgt spid="71"/>
                                        </p:tgtEl>
                                      </p:cBhvr>
                                    </p:animEffect>
                                  </p:childTnLst>
                                </p:cTn>
                              </p:par>
                            </p:childTnLst>
                          </p:cTn>
                        </p:par>
                        <p:par>
                          <p:cTn id="50" fill="hold">
                            <p:stCondLst>
                              <p:cond delay="8000"/>
                            </p:stCondLst>
                            <p:childTnLst>
                              <p:par>
                                <p:cTn id="51" presetID="22" presetClass="entr" presetSubtype="8" fill="hold" nodeType="afterEffect">
                                  <p:stCondLst>
                                    <p:cond delay="0"/>
                                  </p:stCondLst>
                                  <p:childTnLst>
                                    <p:set>
                                      <p:cBhvr>
                                        <p:cTn id="52" dur="1" fill="hold">
                                          <p:stCondLst>
                                            <p:cond delay="0"/>
                                          </p:stCondLst>
                                        </p:cTn>
                                        <p:tgtEl>
                                          <p:spTgt spid="68"/>
                                        </p:tgtEl>
                                        <p:attrNameLst>
                                          <p:attrName>style.visibility</p:attrName>
                                        </p:attrNameLst>
                                      </p:cBhvr>
                                      <p:to>
                                        <p:strVal val="visible"/>
                                      </p:to>
                                    </p:set>
                                    <p:animEffect transition="in" filter="wipe(left)">
                                      <p:cBhvr>
                                        <p:cTn id="53" dur="2000"/>
                                        <p:tgtEl>
                                          <p:spTgt spid="68"/>
                                        </p:tgtEl>
                                      </p:cBhvr>
                                    </p:animEffect>
                                  </p:childTnLst>
                                </p:cTn>
                              </p:par>
                            </p:childTnLst>
                          </p:cTn>
                        </p:par>
                        <p:par>
                          <p:cTn id="54" fill="hold">
                            <p:stCondLst>
                              <p:cond delay="10000"/>
                            </p:stCondLst>
                            <p:childTnLst>
                              <p:par>
                                <p:cTn id="55" presetID="22" presetClass="entr" presetSubtype="8" fill="hold" grpId="0" nodeType="afterEffect">
                                  <p:stCondLst>
                                    <p:cond delay="0"/>
                                  </p:stCondLst>
                                  <p:childTnLst>
                                    <p:set>
                                      <p:cBhvr>
                                        <p:cTn id="56" dur="1" fill="hold">
                                          <p:stCondLst>
                                            <p:cond delay="0"/>
                                          </p:stCondLst>
                                        </p:cTn>
                                        <p:tgtEl>
                                          <p:spTgt spid="75"/>
                                        </p:tgtEl>
                                        <p:attrNameLst>
                                          <p:attrName>style.visibility</p:attrName>
                                        </p:attrNameLst>
                                      </p:cBhvr>
                                      <p:to>
                                        <p:strVal val="visible"/>
                                      </p:to>
                                    </p:set>
                                    <p:animEffect transition="in" filter="wipe(left)">
                                      <p:cBhvr>
                                        <p:cTn id="57" dur="20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42" grpId="0"/>
      <p:bldP spid="47" grpId="0"/>
      <p:bldP spid="47" grpId="1"/>
      <p:bldP spid="52" grpId="0"/>
      <p:bldP spid="67" grpId="0"/>
      <p:bldP spid="67" grpId="1"/>
      <p:bldP spid="71" grpId="0"/>
      <p:bldP spid="75"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a:xfrm>
            <a:off x="556963" y="1875124"/>
            <a:ext cx="8048776" cy="234735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AutoShape 5"/>
          <p:cNvSpPr>
            <a:spLocks noChangeArrowheads="1"/>
          </p:cNvSpPr>
          <p:nvPr/>
        </p:nvSpPr>
        <p:spPr bwMode="auto">
          <a:xfrm>
            <a:off x="556963" y="62349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1" name="Rectangle 6"/>
          <p:cNvSpPr>
            <a:spLocks noChangeArrowheads="1"/>
          </p:cNvSpPr>
          <p:nvPr/>
        </p:nvSpPr>
        <p:spPr bwMode="auto">
          <a:xfrm>
            <a:off x="1630130" y="585034"/>
            <a:ext cx="59024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糊涂窗口综合征</a:t>
            </a:r>
            <a:r>
              <a:rPr lang="en-US" altLang="zh-CN" sz="2000" b="1" dirty="0">
                <a:solidFill>
                  <a:schemeClr val="bg1"/>
                </a:solidFill>
                <a:latin typeface="微软雅黑" pitchFamily="34" charset="-122"/>
                <a:ea typeface="微软雅黑" pitchFamily="34" charset="-122"/>
              </a:rPr>
              <a:t>SWS (Silly Window Syndrome)</a:t>
            </a:r>
            <a:endParaRPr lang="zh-CN" altLang="en-US" sz="2000" b="1" dirty="0">
              <a:solidFill>
                <a:schemeClr val="bg1"/>
              </a:solidFill>
              <a:latin typeface="微软雅黑" pitchFamily="34" charset="-122"/>
              <a:ea typeface="微软雅黑" pitchFamily="34" charset="-122"/>
            </a:endParaRPr>
          </a:p>
        </p:txBody>
      </p:sp>
      <p:sp>
        <p:nvSpPr>
          <p:cNvPr id="12" name="Rectangle 68"/>
          <p:cNvSpPr>
            <a:spLocks noChangeArrowheads="1"/>
          </p:cNvSpPr>
          <p:nvPr/>
        </p:nvSpPr>
        <p:spPr bwMode="auto">
          <a:xfrm>
            <a:off x="556963" y="977425"/>
            <a:ext cx="8184960" cy="893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每次仅发送一个字节或很少几个字节的数据时，有效数据传输效率变得很低。</a:t>
            </a:r>
          </a:p>
        </p:txBody>
      </p:sp>
      <p:sp>
        <p:nvSpPr>
          <p:cNvPr id="2" name="矩形 1"/>
          <p:cNvSpPr/>
          <p:nvPr/>
        </p:nvSpPr>
        <p:spPr>
          <a:xfrm>
            <a:off x="5999256" y="2287616"/>
            <a:ext cx="741178" cy="339634"/>
          </a:xfrm>
          <a:prstGeom prst="rect">
            <a:avLst/>
          </a:prstGeom>
          <a:solidFill>
            <a:srgbClr val="FF66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itchFamily="34" charset="-122"/>
                <a:ea typeface="微软雅黑" pitchFamily="34" charset="-122"/>
              </a:rPr>
              <a:t>1</a:t>
            </a:r>
            <a:r>
              <a:rPr lang="zh-CN" altLang="en-US" sz="1200" b="1" dirty="0">
                <a:solidFill>
                  <a:schemeClr val="tx1"/>
                </a:solidFill>
                <a:latin typeface="微软雅黑" pitchFamily="34" charset="-122"/>
                <a:ea typeface="微软雅黑" pitchFamily="34" charset="-122"/>
              </a:rPr>
              <a:t> 字节</a:t>
            </a:r>
          </a:p>
        </p:txBody>
      </p:sp>
      <p:sp>
        <p:nvSpPr>
          <p:cNvPr id="3" name="矩形 2"/>
          <p:cNvSpPr/>
          <p:nvPr/>
        </p:nvSpPr>
        <p:spPr>
          <a:xfrm>
            <a:off x="6080084" y="2002886"/>
            <a:ext cx="543739" cy="307777"/>
          </a:xfrm>
          <a:prstGeom prst="rect">
            <a:avLst/>
          </a:prstGeom>
        </p:spPr>
        <p:txBody>
          <a:bodyPr wrap="none">
            <a:spAutoFit/>
          </a:bodyPr>
          <a:lstStyle/>
          <a:p>
            <a:pPr algn="ctr"/>
            <a:r>
              <a:rPr lang="zh-CN" altLang="en-US" sz="1400" b="1" dirty="0">
                <a:latin typeface="微软雅黑" pitchFamily="34" charset="-122"/>
                <a:ea typeface="微软雅黑" pitchFamily="34" charset="-122"/>
              </a:rPr>
              <a:t>数据</a:t>
            </a:r>
          </a:p>
        </p:txBody>
      </p:sp>
      <p:sp>
        <p:nvSpPr>
          <p:cNvPr id="7" name="矩形 6"/>
          <p:cNvSpPr/>
          <p:nvPr/>
        </p:nvSpPr>
        <p:spPr>
          <a:xfrm>
            <a:off x="5999256" y="2770942"/>
            <a:ext cx="741178" cy="339634"/>
          </a:xfrm>
          <a:prstGeom prst="rect">
            <a:avLst/>
          </a:prstGeom>
          <a:solidFill>
            <a:srgbClr val="FF66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itchFamily="34" charset="-122"/>
                <a:ea typeface="微软雅黑" pitchFamily="34" charset="-122"/>
              </a:rPr>
              <a:t>1</a:t>
            </a:r>
            <a:r>
              <a:rPr lang="zh-CN" altLang="en-US" sz="1200" b="1" dirty="0">
                <a:solidFill>
                  <a:schemeClr val="tx1"/>
                </a:solidFill>
                <a:latin typeface="微软雅黑" pitchFamily="34" charset="-122"/>
                <a:ea typeface="微软雅黑" pitchFamily="34" charset="-122"/>
              </a:rPr>
              <a:t> 字节</a:t>
            </a:r>
          </a:p>
        </p:txBody>
      </p:sp>
      <p:sp>
        <p:nvSpPr>
          <p:cNvPr id="8" name="矩形 7"/>
          <p:cNvSpPr/>
          <p:nvPr/>
        </p:nvSpPr>
        <p:spPr>
          <a:xfrm>
            <a:off x="3591337" y="2770942"/>
            <a:ext cx="2411325" cy="339634"/>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itchFamily="34" charset="-122"/>
                <a:ea typeface="微软雅黑" pitchFamily="34" charset="-122"/>
              </a:rPr>
              <a:t>20</a:t>
            </a:r>
            <a:r>
              <a:rPr lang="zh-CN" altLang="en-US" sz="1200" b="1" dirty="0">
                <a:solidFill>
                  <a:schemeClr val="tx1"/>
                </a:solidFill>
                <a:latin typeface="微软雅黑" pitchFamily="34" charset="-122"/>
                <a:ea typeface="微软雅黑" pitchFamily="34" charset="-122"/>
              </a:rPr>
              <a:t> 字节</a:t>
            </a:r>
          </a:p>
        </p:txBody>
      </p:sp>
      <p:sp>
        <p:nvSpPr>
          <p:cNvPr id="9" name="矩形 8"/>
          <p:cNvSpPr/>
          <p:nvPr/>
        </p:nvSpPr>
        <p:spPr>
          <a:xfrm>
            <a:off x="5999256" y="3267330"/>
            <a:ext cx="741178" cy="339634"/>
          </a:xfrm>
          <a:prstGeom prst="rect">
            <a:avLst/>
          </a:prstGeom>
          <a:solidFill>
            <a:srgbClr val="FF66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itchFamily="34" charset="-122"/>
                <a:ea typeface="微软雅黑" pitchFamily="34" charset="-122"/>
              </a:rPr>
              <a:t>1</a:t>
            </a:r>
            <a:r>
              <a:rPr lang="zh-CN" altLang="en-US" sz="1200" b="1" dirty="0">
                <a:solidFill>
                  <a:schemeClr val="tx1"/>
                </a:solidFill>
                <a:latin typeface="微软雅黑" pitchFamily="34" charset="-122"/>
                <a:ea typeface="微软雅黑" pitchFamily="34" charset="-122"/>
              </a:rPr>
              <a:t> 字节</a:t>
            </a:r>
          </a:p>
        </p:txBody>
      </p:sp>
      <p:sp>
        <p:nvSpPr>
          <p:cNvPr id="13" name="矩形 12"/>
          <p:cNvSpPr/>
          <p:nvPr/>
        </p:nvSpPr>
        <p:spPr>
          <a:xfrm>
            <a:off x="3591337" y="3267330"/>
            <a:ext cx="2411325" cy="339634"/>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itchFamily="34" charset="-122"/>
                <a:ea typeface="微软雅黑" pitchFamily="34" charset="-122"/>
              </a:rPr>
              <a:t>20</a:t>
            </a:r>
            <a:r>
              <a:rPr lang="zh-CN" altLang="en-US" sz="1200" b="1" dirty="0">
                <a:solidFill>
                  <a:schemeClr val="tx1"/>
                </a:solidFill>
                <a:latin typeface="微软雅黑" pitchFamily="34" charset="-122"/>
                <a:ea typeface="微软雅黑" pitchFamily="34" charset="-122"/>
              </a:rPr>
              <a:t> 字节</a:t>
            </a:r>
          </a:p>
        </p:txBody>
      </p:sp>
      <p:sp>
        <p:nvSpPr>
          <p:cNvPr id="14" name="矩形 13"/>
          <p:cNvSpPr/>
          <p:nvPr/>
        </p:nvSpPr>
        <p:spPr>
          <a:xfrm>
            <a:off x="1180012" y="3267330"/>
            <a:ext cx="2411325" cy="339634"/>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itchFamily="34" charset="-122"/>
                <a:ea typeface="微软雅黑" pitchFamily="34" charset="-122"/>
              </a:rPr>
              <a:t>20</a:t>
            </a:r>
            <a:r>
              <a:rPr lang="zh-CN" altLang="en-US" sz="1200" b="1" dirty="0">
                <a:solidFill>
                  <a:schemeClr val="tx1"/>
                </a:solidFill>
                <a:latin typeface="微软雅黑" pitchFamily="34" charset="-122"/>
                <a:ea typeface="微软雅黑" pitchFamily="34" charset="-122"/>
              </a:rPr>
              <a:t> 字节</a:t>
            </a:r>
          </a:p>
        </p:txBody>
      </p:sp>
      <p:sp>
        <p:nvSpPr>
          <p:cNvPr id="15" name="矩形 14"/>
          <p:cNvSpPr/>
          <p:nvPr/>
        </p:nvSpPr>
        <p:spPr>
          <a:xfrm>
            <a:off x="4057342" y="2473361"/>
            <a:ext cx="1479315" cy="307777"/>
          </a:xfrm>
          <a:prstGeom prst="rect">
            <a:avLst/>
          </a:prstGeom>
        </p:spPr>
        <p:txBody>
          <a:bodyPr wrap="none">
            <a:spAutoFit/>
          </a:bodyPr>
          <a:lstStyle/>
          <a:p>
            <a:pPr algn="ctr"/>
            <a:r>
              <a:rPr lang="en-US" altLang="zh-CN" sz="1400" b="1" dirty="0">
                <a:latin typeface="微软雅黑" pitchFamily="34" charset="-122"/>
                <a:ea typeface="微软雅黑" pitchFamily="34" charset="-122"/>
              </a:rPr>
              <a:t>TCP </a:t>
            </a:r>
            <a:r>
              <a:rPr lang="zh-CN" altLang="en-US" sz="1400" b="1" dirty="0">
                <a:latin typeface="微软雅黑" pitchFamily="34" charset="-122"/>
                <a:ea typeface="微软雅黑" pitchFamily="34" charset="-122"/>
              </a:rPr>
              <a:t>报文段首部</a:t>
            </a:r>
          </a:p>
        </p:txBody>
      </p:sp>
      <p:sp>
        <p:nvSpPr>
          <p:cNvPr id="16" name="矩形 15"/>
          <p:cNvSpPr/>
          <p:nvPr/>
        </p:nvSpPr>
        <p:spPr>
          <a:xfrm>
            <a:off x="1728284" y="2959553"/>
            <a:ext cx="1314782" cy="307777"/>
          </a:xfrm>
          <a:prstGeom prst="rect">
            <a:avLst/>
          </a:prstGeom>
        </p:spPr>
        <p:txBody>
          <a:bodyPr wrap="none">
            <a:spAutoFit/>
          </a:bodyPr>
          <a:lstStyle/>
          <a:p>
            <a:pPr algn="ctr"/>
            <a:r>
              <a:rPr lang="en-US" altLang="zh-CN" sz="1400" b="1" dirty="0">
                <a:latin typeface="微软雅黑" pitchFamily="34" charset="-122"/>
                <a:ea typeface="微软雅黑" pitchFamily="34" charset="-122"/>
              </a:rPr>
              <a:t>IP </a:t>
            </a:r>
            <a:r>
              <a:rPr lang="zh-CN" altLang="en-US" sz="1400" b="1" dirty="0">
                <a:latin typeface="微软雅黑" pitchFamily="34" charset="-122"/>
                <a:ea typeface="微软雅黑" pitchFamily="34" charset="-122"/>
              </a:rPr>
              <a:t>数据报首部</a:t>
            </a:r>
          </a:p>
        </p:txBody>
      </p:sp>
      <p:sp>
        <p:nvSpPr>
          <p:cNvPr id="17" name="矩形 16"/>
          <p:cNvSpPr/>
          <p:nvPr/>
        </p:nvSpPr>
        <p:spPr>
          <a:xfrm>
            <a:off x="6758006" y="2786870"/>
            <a:ext cx="1120243" cy="307777"/>
          </a:xfrm>
          <a:prstGeom prst="rect">
            <a:avLst/>
          </a:prstGeom>
        </p:spPr>
        <p:txBody>
          <a:bodyPr wrap="none">
            <a:spAutoFit/>
          </a:bodyPr>
          <a:lstStyle/>
          <a:p>
            <a:pPr algn="ctr"/>
            <a:r>
              <a:rPr lang="en-US" altLang="zh-CN" sz="1400" b="1" dirty="0">
                <a:latin typeface="微软雅黑" pitchFamily="34" charset="-122"/>
                <a:ea typeface="微软雅黑" pitchFamily="34" charset="-122"/>
              </a:rPr>
              <a:t>TCP </a:t>
            </a:r>
            <a:r>
              <a:rPr lang="zh-CN" altLang="en-US" sz="1400" b="1" dirty="0">
                <a:latin typeface="微软雅黑" pitchFamily="34" charset="-122"/>
                <a:ea typeface="微软雅黑" pitchFamily="34" charset="-122"/>
              </a:rPr>
              <a:t>报文段</a:t>
            </a:r>
          </a:p>
        </p:txBody>
      </p:sp>
      <p:sp>
        <p:nvSpPr>
          <p:cNvPr id="18" name="矩形 17"/>
          <p:cNvSpPr/>
          <p:nvPr/>
        </p:nvSpPr>
        <p:spPr>
          <a:xfrm>
            <a:off x="6758006" y="3296321"/>
            <a:ext cx="955711" cy="307777"/>
          </a:xfrm>
          <a:prstGeom prst="rect">
            <a:avLst/>
          </a:prstGeom>
        </p:spPr>
        <p:txBody>
          <a:bodyPr wrap="none">
            <a:spAutoFit/>
          </a:bodyPr>
          <a:lstStyle/>
          <a:p>
            <a:pPr algn="ctr"/>
            <a:r>
              <a:rPr lang="en-US" altLang="zh-CN" sz="1400" b="1" dirty="0">
                <a:latin typeface="微软雅黑" pitchFamily="34" charset="-122"/>
                <a:ea typeface="微软雅黑" pitchFamily="34" charset="-122"/>
              </a:rPr>
              <a:t>IP </a:t>
            </a:r>
            <a:r>
              <a:rPr lang="zh-CN" altLang="en-US" sz="1400" b="1" dirty="0">
                <a:latin typeface="微软雅黑" pitchFamily="34" charset="-122"/>
                <a:ea typeface="微软雅黑" pitchFamily="34" charset="-122"/>
              </a:rPr>
              <a:t>数据报</a:t>
            </a:r>
          </a:p>
        </p:txBody>
      </p:sp>
      <p:sp>
        <p:nvSpPr>
          <p:cNvPr id="4" name="矩形 3"/>
          <p:cNvSpPr/>
          <p:nvPr/>
        </p:nvSpPr>
        <p:spPr>
          <a:xfrm>
            <a:off x="2408898" y="3770606"/>
            <a:ext cx="4104009" cy="338554"/>
          </a:xfrm>
          <a:prstGeom prst="rect">
            <a:avLst/>
          </a:prstGeom>
        </p:spPr>
        <p:txBody>
          <a:bodyPr wrap="none">
            <a:spAutoFit/>
          </a:bodyPr>
          <a:lstStyle/>
          <a:p>
            <a:r>
              <a:rPr lang="zh-CN" altLang="en-US" sz="1600" b="1" dirty="0">
                <a:latin typeface="微软雅黑" pitchFamily="34" charset="-122"/>
                <a:ea typeface="微软雅黑" pitchFamily="34" charset="-122"/>
              </a:rPr>
              <a:t>此时，有效数据传输效率 </a:t>
            </a:r>
            <a:r>
              <a:rPr lang="en-US" altLang="zh-CN" sz="1600" b="1" dirty="0">
                <a:latin typeface="微软雅黑" pitchFamily="34" charset="-122"/>
                <a:ea typeface="微软雅黑" pitchFamily="34" charset="-122"/>
              </a:rPr>
              <a:t>= 1/41 = 2.44%</a:t>
            </a:r>
            <a:endParaRPr lang="zh-CN" altLang="en-US" sz="1600" dirty="0"/>
          </a:p>
        </p:txBody>
      </p:sp>
    </p:spTree>
    <p:extLst>
      <p:ext uri="{BB962C8B-B14F-4D97-AF65-F5344CB8AC3E}">
        <p14:creationId xmlns:p14="http://schemas.microsoft.com/office/powerpoint/2010/main" val="66433530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utoShape 5"/>
          <p:cNvSpPr>
            <a:spLocks noChangeArrowheads="1"/>
          </p:cNvSpPr>
          <p:nvPr/>
        </p:nvSpPr>
        <p:spPr bwMode="auto">
          <a:xfrm>
            <a:off x="556963" y="61883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1" name="Rectangle 6"/>
          <p:cNvSpPr>
            <a:spLocks noChangeArrowheads="1"/>
          </p:cNvSpPr>
          <p:nvPr/>
        </p:nvSpPr>
        <p:spPr bwMode="auto">
          <a:xfrm>
            <a:off x="1630128" y="585623"/>
            <a:ext cx="59024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糊涂窗口综合征</a:t>
            </a:r>
            <a:r>
              <a:rPr lang="en-US" altLang="zh-CN" sz="2000" b="1" dirty="0">
                <a:solidFill>
                  <a:schemeClr val="bg1"/>
                </a:solidFill>
                <a:latin typeface="微软雅黑" pitchFamily="34" charset="-122"/>
                <a:ea typeface="微软雅黑" pitchFamily="34" charset="-122"/>
              </a:rPr>
              <a:t>SWS (Silly Window Syndrome)</a:t>
            </a:r>
            <a:endParaRPr lang="zh-CN" altLang="en-US" sz="2000" b="1" dirty="0">
              <a:solidFill>
                <a:schemeClr val="bg1"/>
              </a:solidFill>
              <a:latin typeface="微软雅黑" pitchFamily="34" charset="-122"/>
              <a:ea typeface="微软雅黑" pitchFamily="34" charset="-122"/>
            </a:endParaRPr>
          </a:p>
        </p:txBody>
      </p:sp>
      <p:sp>
        <p:nvSpPr>
          <p:cNvPr id="12" name="Rectangle 68"/>
          <p:cNvSpPr>
            <a:spLocks noChangeArrowheads="1"/>
          </p:cNvSpPr>
          <p:nvPr/>
        </p:nvSpPr>
        <p:spPr bwMode="auto">
          <a:xfrm>
            <a:off x="556963" y="982112"/>
            <a:ext cx="8048776" cy="22180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800"/>
              </a:lnSpc>
              <a:buClr>
                <a:srgbClr val="0070C0"/>
              </a:buClr>
              <a:buFont typeface="Wingdings" pitchFamily="2" charset="2"/>
              <a:buChar char="l"/>
            </a:pPr>
            <a:r>
              <a:rPr lang="zh-CN" altLang="en-US" sz="2000" b="1" dirty="0">
                <a:latin typeface="微软雅黑" pitchFamily="34" charset="-122"/>
                <a:ea typeface="微软雅黑" pitchFamily="34" charset="-122"/>
              </a:rPr>
              <a:t>可以让接收方等待一段时间，使接收缓冲区已有足够空间容纳一个最长的报文段，或者等到接收缓冲区已有一半空闲的空间。只要出现这两种情况之一，接收方就发出确认报文，并向发送方通知当前的窗口大小。</a:t>
            </a:r>
            <a:endParaRPr lang="en-US" altLang="zh-CN" sz="2000" b="1" dirty="0">
              <a:latin typeface="微软雅黑" pitchFamily="34" charset="-122"/>
              <a:ea typeface="微软雅黑" pitchFamily="34" charset="-122"/>
            </a:endParaRPr>
          </a:p>
          <a:p>
            <a:pPr marL="342900" indent="-342900">
              <a:lnSpc>
                <a:spcPts val="2800"/>
              </a:lnSpc>
              <a:buClr>
                <a:srgbClr val="0070C0"/>
              </a:buClr>
              <a:buFont typeface="Wingdings" pitchFamily="2" charset="2"/>
              <a:buChar char="l"/>
            </a:pPr>
            <a:r>
              <a:rPr lang="zh-CN" altLang="en-US" sz="2000" b="1" dirty="0">
                <a:latin typeface="微软雅黑" pitchFamily="34" charset="-122"/>
                <a:ea typeface="微软雅黑" pitchFamily="34" charset="-122"/>
              </a:rPr>
              <a:t>发送方也不要发送太小的报文段，而是把数据积累成足够大的报文段，或达到发送方缓冲区的空间一半大小时才发送报文段。</a:t>
            </a:r>
          </a:p>
        </p:txBody>
      </p:sp>
    </p:spTree>
    <p:custDataLst>
      <p:tags r:id="rId1"/>
    </p:custDataLst>
    <p:extLst>
      <p:ext uri="{BB962C8B-B14F-4D97-AF65-F5344CB8AC3E}">
        <p14:creationId xmlns:p14="http://schemas.microsoft.com/office/powerpoint/2010/main" val="1217901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1000"/>
                                        <p:tgtEl>
                                          <p:spTgt spid="12">
                                            <p:txEl>
                                              <p:pRg st="0" end="0"/>
                                            </p:txEl>
                                          </p:spTgt>
                                        </p:tgtEl>
                                      </p:cBhvr>
                                    </p:animEffect>
                                    <p:anim calcmode="lin" valueType="num">
                                      <p:cBhvr>
                                        <p:cTn id="8"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xEl>
                                              <p:pRg st="1" end="1"/>
                                            </p:txEl>
                                          </p:spTgt>
                                        </p:tgtEl>
                                        <p:attrNameLst>
                                          <p:attrName>style.visibility</p:attrName>
                                        </p:attrNameLst>
                                      </p:cBhvr>
                                      <p:to>
                                        <p:strVal val="visible"/>
                                      </p:to>
                                    </p:set>
                                    <p:animEffect transition="in" filter="fade">
                                      <p:cBhvr>
                                        <p:cTn id="14" dur="1000"/>
                                        <p:tgtEl>
                                          <p:spTgt spid="12">
                                            <p:txEl>
                                              <p:pRg st="1" end="1"/>
                                            </p:txEl>
                                          </p:spTgt>
                                        </p:tgtEl>
                                      </p:cBhvr>
                                    </p:animEffect>
                                    <p:anim calcmode="lin" valueType="num">
                                      <p:cBhvr>
                                        <p:cTn id="15"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
          <p:cNvSpPr>
            <a:spLocks noChangeArrowheads="1"/>
          </p:cNvSpPr>
          <p:nvPr/>
        </p:nvSpPr>
        <p:spPr bwMode="auto">
          <a:xfrm>
            <a:off x="2629135" y="2636270"/>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6" name="Rectangle 9"/>
          <p:cNvSpPr>
            <a:spLocks noChangeArrowheads="1"/>
          </p:cNvSpPr>
          <p:nvPr/>
        </p:nvSpPr>
        <p:spPr bwMode="auto">
          <a:xfrm>
            <a:off x="2629135" y="1433966"/>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7" name="Rectangle 10"/>
          <p:cNvSpPr>
            <a:spLocks noChangeArrowheads="1"/>
          </p:cNvSpPr>
          <p:nvPr/>
        </p:nvSpPr>
        <p:spPr bwMode="auto">
          <a:xfrm>
            <a:off x="2629135" y="2040391"/>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8" name="Line 16"/>
          <p:cNvSpPr>
            <a:spLocks noChangeShapeType="1"/>
          </p:cNvSpPr>
          <p:nvPr/>
        </p:nvSpPr>
        <p:spPr bwMode="auto">
          <a:xfrm>
            <a:off x="3637198" y="1362528"/>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Rectangle 8"/>
          <p:cNvSpPr>
            <a:spLocks noChangeArrowheads="1"/>
          </p:cNvSpPr>
          <p:nvPr/>
        </p:nvSpPr>
        <p:spPr bwMode="auto">
          <a:xfrm>
            <a:off x="2700573" y="1179966"/>
            <a:ext cx="5627639" cy="1846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dist" eaLnBrk="0" hangingPunct="0">
              <a:lnSpc>
                <a:spcPct val="200000"/>
              </a:lnSpc>
            </a:pPr>
            <a:r>
              <a:rPr lang="en-US" altLang="zh-CN" sz="2000" b="1" dirty="0">
                <a:solidFill>
                  <a:schemeClr val="bg1"/>
                </a:solidFill>
                <a:latin typeface="微软雅黑" pitchFamily="34" charset="-122"/>
                <a:ea typeface="微软雅黑" pitchFamily="34" charset="-122"/>
              </a:rPr>
              <a:t>5.9.1                                 </a:t>
            </a:r>
            <a:r>
              <a:rPr lang="zh-CN" altLang="en-US" sz="2000" b="1" dirty="0">
                <a:solidFill>
                  <a:schemeClr val="bg1"/>
                </a:solidFill>
                <a:latin typeface="微软雅黑" pitchFamily="34" charset="-122"/>
                <a:ea typeface="微软雅黑" pitchFamily="34" charset="-122"/>
              </a:rPr>
              <a:t>拥塞控制的一般原理</a:t>
            </a:r>
          </a:p>
          <a:p>
            <a:pPr algn="dist" eaLnBrk="0" hangingPunct="0">
              <a:lnSpc>
                <a:spcPct val="200000"/>
              </a:lnSpc>
            </a:pPr>
            <a:r>
              <a:rPr lang="en-US" altLang="zh-CN" sz="2000" b="1" dirty="0">
                <a:solidFill>
                  <a:schemeClr val="bg1"/>
                </a:solidFill>
                <a:latin typeface="微软雅黑" pitchFamily="34" charset="-122"/>
                <a:ea typeface="微软雅黑" pitchFamily="34" charset="-122"/>
              </a:rPr>
              <a:t>5.9.2                                 </a:t>
            </a:r>
            <a:r>
              <a:rPr lang="zh-CN" altLang="en-US" sz="2000" b="1" dirty="0">
                <a:solidFill>
                  <a:schemeClr val="bg1"/>
                </a:solidFill>
                <a:latin typeface="微软雅黑" pitchFamily="34" charset="-122"/>
                <a:ea typeface="微软雅黑" pitchFamily="34" charset="-122"/>
              </a:rPr>
              <a:t>经典的拥塞控制算法</a:t>
            </a:r>
          </a:p>
          <a:p>
            <a:pPr algn="dist" eaLnBrk="0" hangingPunct="0">
              <a:lnSpc>
                <a:spcPct val="200000"/>
              </a:lnSpc>
            </a:pPr>
            <a:r>
              <a:rPr lang="en-US" altLang="zh-CN" sz="2000" b="1" dirty="0">
                <a:solidFill>
                  <a:schemeClr val="bg1"/>
                </a:solidFill>
                <a:latin typeface="微软雅黑" pitchFamily="34" charset="-122"/>
                <a:ea typeface="微软雅黑" pitchFamily="34" charset="-122"/>
              </a:rPr>
              <a:t>5.9.3                              </a:t>
            </a:r>
            <a:r>
              <a:rPr lang="zh-CN" altLang="en-US" sz="2000" b="1" dirty="0">
                <a:solidFill>
                  <a:schemeClr val="bg1"/>
                </a:solidFill>
                <a:latin typeface="微软雅黑" pitchFamily="34" charset="-122"/>
                <a:ea typeface="微软雅黑" pitchFamily="34" charset="-122"/>
              </a:rPr>
              <a:t>其他</a:t>
            </a:r>
            <a:r>
              <a:rPr lang="en-US" altLang="zh-CN" sz="2000" b="1" dirty="0">
                <a:solidFill>
                  <a:schemeClr val="bg1"/>
                </a:solidFill>
                <a:latin typeface="微软雅黑" pitchFamily="34" charset="-122"/>
                <a:ea typeface="微软雅黑" pitchFamily="34" charset="-122"/>
              </a:rPr>
              <a:t>TCP</a:t>
            </a:r>
            <a:r>
              <a:rPr lang="zh-CN" altLang="en-US" sz="2000" b="1" dirty="0">
                <a:solidFill>
                  <a:schemeClr val="bg1"/>
                </a:solidFill>
                <a:latin typeface="微软雅黑" pitchFamily="34" charset="-122"/>
                <a:ea typeface="微软雅黑" pitchFamily="34" charset="-122"/>
              </a:rPr>
              <a:t>拥塞控制机制</a:t>
            </a:r>
            <a:endParaRPr lang="en-US" altLang="zh-CN" sz="2000" b="1" dirty="0">
              <a:solidFill>
                <a:schemeClr val="bg1"/>
              </a:solidFill>
              <a:latin typeface="微软雅黑" pitchFamily="34" charset="-122"/>
              <a:ea typeface="微软雅黑" pitchFamily="34" charset="-122"/>
            </a:endParaRPr>
          </a:p>
        </p:txBody>
      </p:sp>
      <p:sp>
        <p:nvSpPr>
          <p:cNvPr id="10" name="Rectangle 27"/>
          <p:cNvSpPr>
            <a:spLocks noChangeArrowheads="1"/>
          </p:cNvSpPr>
          <p:nvPr/>
        </p:nvSpPr>
        <p:spPr bwMode="auto">
          <a:xfrm>
            <a:off x="639730" y="1433966"/>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1" name="Rectangle 29"/>
          <p:cNvSpPr>
            <a:spLocks noChangeArrowheads="1"/>
          </p:cNvSpPr>
          <p:nvPr/>
        </p:nvSpPr>
        <p:spPr bwMode="auto">
          <a:xfrm>
            <a:off x="648619" y="1528898"/>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5.9</a:t>
            </a:r>
          </a:p>
          <a:p>
            <a:pPr eaLnBrk="0" hangingPunct="0"/>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的拥塞控制</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86376687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圆角矩形 32"/>
          <p:cNvSpPr/>
          <p:nvPr/>
        </p:nvSpPr>
        <p:spPr>
          <a:xfrm>
            <a:off x="4498429" y="1164624"/>
            <a:ext cx="4107310" cy="310055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AutoShape 5"/>
          <p:cNvSpPr>
            <a:spLocks noChangeArrowheads="1"/>
          </p:cNvSpPr>
          <p:nvPr/>
        </p:nvSpPr>
        <p:spPr bwMode="auto">
          <a:xfrm>
            <a:off x="556963" y="622506"/>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585722" y="580235"/>
            <a:ext cx="39725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5.9.1   </a:t>
            </a:r>
            <a:r>
              <a:rPr lang="zh-CN" altLang="en-US" sz="2400" b="1" dirty="0">
                <a:solidFill>
                  <a:schemeClr val="bg1"/>
                </a:solidFill>
                <a:latin typeface="微软雅黑" pitchFamily="34" charset="-122"/>
                <a:ea typeface="微软雅黑" pitchFamily="34" charset="-122"/>
              </a:rPr>
              <a:t>拥塞控制的一般原理</a:t>
            </a:r>
          </a:p>
        </p:txBody>
      </p:sp>
      <p:sp>
        <p:nvSpPr>
          <p:cNvPr id="7" name="Rectangle 8"/>
          <p:cNvSpPr>
            <a:spLocks noChangeArrowheads="1"/>
          </p:cNvSpPr>
          <p:nvPr/>
        </p:nvSpPr>
        <p:spPr bwMode="auto">
          <a:xfrm>
            <a:off x="556963" y="1035531"/>
            <a:ext cx="3552582"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在某段时间，若对网络中某资源的需求超过了该资源所能提供的可用部分，</a:t>
            </a:r>
            <a:r>
              <a:rPr lang="zh-CN" altLang="en-US" sz="2000" b="1" dirty="0">
                <a:solidFill>
                  <a:srgbClr val="0000FF"/>
                </a:solidFill>
                <a:latin typeface="微软雅黑" pitchFamily="34" charset="-122"/>
                <a:ea typeface="微软雅黑" pitchFamily="34" charset="-122"/>
              </a:rPr>
              <a:t>网络的性能就要明显变坏，</a:t>
            </a:r>
            <a:r>
              <a:rPr lang="zh-CN" altLang="en-US" sz="2000" b="1" dirty="0">
                <a:latin typeface="微软雅黑" pitchFamily="34" charset="-122"/>
                <a:ea typeface="微软雅黑" pitchFamily="34" charset="-122"/>
              </a:rPr>
              <a:t>整个网络的吞吐量将随输入负荷的增大而下降。这种现象称为</a:t>
            </a:r>
            <a:r>
              <a:rPr lang="zh-CN" altLang="en-US" sz="2000" b="1" dirty="0">
                <a:solidFill>
                  <a:srgbClr val="0000FF"/>
                </a:solidFill>
                <a:latin typeface="微软雅黑" pitchFamily="34" charset="-122"/>
                <a:ea typeface="微软雅黑" pitchFamily="34" charset="-122"/>
              </a:rPr>
              <a:t>拥塞 </a:t>
            </a:r>
            <a:r>
              <a:rPr lang="en-US" altLang="zh-CN" sz="2000" b="1" dirty="0">
                <a:latin typeface="微软雅黑" pitchFamily="34" charset="-122"/>
                <a:ea typeface="微软雅黑" pitchFamily="34" charset="-122"/>
              </a:rPr>
              <a:t>(congestion)</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最坏结果：</a:t>
            </a:r>
            <a:r>
              <a:rPr lang="zh-CN" altLang="en-US" sz="2000" b="1" dirty="0">
                <a:solidFill>
                  <a:srgbClr val="C00000"/>
                </a:solidFill>
                <a:latin typeface="微软雅黑" pitchFamily="34" charset="-122"/>
                <a:ea typeface="微软雅黑" pitchFamily="34" charset="-122"/>
              </a:rPr>
              <a:t>系统崩溃。</a:t>
            </a:r>
          </a:p>
        </p:txBody>
      </p:sp>
      <p:sp>
        <p:nvSpPr>
          <p:cNvPr id="8" name="Rectangle 2"/>
          <p:cNvSpPr>
            <a:spLocks noChangeArrowheads="1"/>
          </p:cNvSpPr>
          <p:nvPr/>
        </p:nvSpPr>
        <p:spPr bwMode="auto">
          <a:xfrm>
            <a:off x="6798893" y="1586270"/>
            <a:ext cx="484747" cy="2317428"/>
          </a:xfrm>
          <a:prstGeom prst="rect">
            <a:avLst/>
          </a:prstGeom>
          <a:solidFill>
            <a:srgbClr val="00FFFF"/>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zh-CN" altLang="en-US" sz="1200" b="1">
              <a:latin typeface="微软雅黑" pitchFamily="34" charset="-122"/>
              <a:ea typeface="微软雅黑" pitchFamily="34" charset="-122"/>
            </a:endParaRPr>
          </a:p>
        </p:txBody>
      </p:sp>
      <p:grpSp>
        <p:nvGrpSpPr>
          <p:cNvPr id="3" name="组合 2"/>
          <p:cNvGrpSpPr/>
          <p:nvPr/>
        </p:nvGrpSpPr>
        <p:grpSpPr>
          <a:xfrm>
            <a:off x="5018115" y="1419034"/>
            <a:ext cx="3122419" cy="2737100"/>
            <a:chOff x="4857857" y="1639611"/>
            <a:chExt cx="3122419" cy="2737100"/>
          </a:xfrm>
        </p:grpSpPr>
        <p:sp>
          <p:nvSpPr>
            <p:cNvPr id="10" name="Line 5"/>
            <p:cNvSpPr>
              <a:spLocks noChangeShapeType="1"/>
            </p:cNvSpPr>
            <p:nvPr/>
          </p:nvSpPr>
          <p:spPr bwMode="auto">
            <a:xfrm flipH="1" flipV="1">
              <a:off x="5130534" y="1722576"/>
              <a:ext cx="0" cy="105337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11" name="Line 6"/>
            <p:cNvSpPr>
              <a:spLocks noChangeShapeType="1"/>
            </p:cNvSpPr>
            <p:nvPr/>
          </p:nvSpPr>
          <p:spPr bwMode="auto">
            <a:xfrm>
              <a:off x="5130534" y="2775953"/>
              <a:ext cx="2208291"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12" name="Freeform 7"/>
            <p:cNvSpPr>
              <a:spLocks/>
            </p:cNvSpPr>
            <p:nvPr/>
          </p:nvSpPr>
          <p:spPr bwMode="auto">
            <a:xfrm>
              <a:off x="5130534" y="1806847"/>
              <a:ext cx="1777405" cy="979640"/>
            </a:xfrm>
            <a:custGeom>
              <a:avLst/>
              <a:gdLst>
                <a:gd name="T0" fmla="*/ 0 w 1584"/>
                <a:gd name="T1" fmla="*/ 2147483647 h 1212"/>
                <a:gd name="T2" fmla="*/ 0 w 1584"/>
                <a:gd name="T3" fmla="*/ 2147483647 h 1212"/>
                <a:gd name="T4" fmla="*/ 2147483647 w 1584"/>
                <a:gd name="T5" fmla="*/ 2147483647 h 1212"/>
                <a:gd name="T6" fmla="*/ 2147483647 w 1584"/>
                <a:gd name="T7" fmla="*/ 2147483647 h 1212"/>
                <a:gd name="T8" fmla="*/ 2147483647 w 1584"/>
                <a:gd name="T9" fmla="*/ 2147483647 h 1212"/>
                <a:gd name="T10" fmla="*/ 2147483647 w 1584"/>
                <a:gd name="T11" fmla="*/ 2147483647 h 1212"/>
                <a:gd name="T12" fmla="*/ 2147483647 w 1584"/>
                <a:gd name="T13" fmla="*/ 0 h 1212"/>
                <a:gd name="T14" fmla="*/ 2147483647 w 1584"/>
                <a:gd name="T15" fmla="*/ 0 h 1212"/>
                <a:gd name="T16" fmla="*/ 2147483647 w 1584"/>
                <a:gd name="T17" fmla="*/ 2147483647 h 1212"/>
                <a:gd name="T18" fmla="*/ 2147483647 w 1584"/>
                <a:gd name="T19" fmla="*/ 2147483647 h 1212"/>
                <a:gd name="T20" fmla="*/ 2147483647 w 1584"/>
                <a:gd name="T21" fmla="*/ 2147483647 h 1212"/>
                <a:gd name="T22" fmla="*/ 2147483647 w 1584"/>
                <a:gd name="T23" fmla="*/ 2147483647 h 12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4" h="1212">
                  <a:moveTo>
                    <a:pt x="0" y="1212"/>
                  </a:moveTo>
                  <a:cubicBezTo>
                    <a:pt x="0" y="1198"/>
                    <a:pt x="0" y="1184"/>
                    <a:pt x="0" y="1170"/>
                  </a:cubicBezTo>
                  <a:lnTo>
                    <a:pt x="96" y="768"/>
                  </a:lnTo>
                  <a:lnTo>
                    <a:pt x="240" y="480"/>
                  </a:lnTo>
                  <a:lnTo>
                    <a:pt x="480" y="192"/>
                  </a:lnTo>
                  <a:lnTo>
                    <a:pt x="816" y="48"/>
                  </a:lnTo>
                  <a:lnTo>
                    <a:pt x="1104" y="0"/>
                  </a:lnTo>
                  <a:lnTo>
                    <a:pt x="1344" y="0"/>
                  </a:lnTo>
                  <a:lnTo>
                    <a:pt x="1392" y="480"/>
                  </a:lnTo>
                  <a:lnTo>
                    <a:pt x="1488" y="1008"/>
                  </a:lnTo>
                  <a:lnTo>
                    <a:pt x="1536" y="1152"/>
                  </a:lnTo>
                  <a:lnTo>
                    <a:pt x="1584" y="1200"/>
                  </a:lnTo>
                </a:path>
              </a:pathLst>
            </a:custGeom>
            <a:noFill/>
            <a:ln w="2540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13" name="Line 8"/>
            <p:cNvSpPr>
              <a:spLocks noChangeShapeType="1"/>
            </p:cNvSpPr>
            <p:nvPr/>
          </p:nvSpPr>
          <p:spPr bwMode="auto">
            <a:xfrm>
              <a:off x="6628125" y="1722576"/>
              <a:ext cx="0" cy="1137647"/>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14" name="Line 9"/>
            <p:cNvSpPr>
              <a:spLocks noChangeShapeType="1"/>
            </p:cNvSpPr>
            <p:nvPr/>
          </p:nvSpPr>
          <p:spPr bwMode="auto">
            <a:xfrm>
              <a:off x="5669141" y="1722576"/>
              <a:ext cx="0" cy="1137647"/>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15" name="Line 10"/>
            <p:cNvSpPr>
              <a:spLocks noChangeShapeType="1"/>
            </p:cNvSpPr>
            <p:nvPr/>
          </p:nvSpPr>
          <p:spPr bwMode="auto">
            <a:xfrm flipH="1" flipV="1">
              <a:off x="5130534" y="2944493"/>
              <a:ext cx="0" cy="1179782"/>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16" name="Line 11"/>
            <p:cNvSpPr>
              <a:spLocks noChangeShapeType="1"/>
            </p:cNvSpPr>
            <p:nvPr/>
          </p:nvSpPr>
          <p:spPr bwMode="auto">
            <a:xfrm>
              <a:off x="5130534" y="4114218"/>
              <a:ext cx="2208291"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17" name="Line 12"/>
            <p:cNvSpPr>
              <a:spLocks noChangeShapeType="1"/>
            </p:cNvSpPr>
            <p:nvPr/>
          </p:nvSpPr>
          <p:spPr bwMode="auto">
            <a:xfrm>
              <a:off x="5669141" y="2944493"/>
              <a:ext cx="0" cy="1221917"/>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18" name="Line 13"/>
            <p:cNvSpPr>
              <a:spLocks noChangeShapeType="1"/>
            </p:cNvSpPr>
            <p:nvPr/>
          </p:nvSpPr>
          <p:spPr bwMode="auto">
            <a:xfrm>
              <a:off x="6628125" y="2944494"/>
              <a:ext cx="0" cy="1221917"/>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19" name="Line 14"/>
            <p:cNvSpPr>
              <a:spLocks noChangeShapeType="1"/>
            </p:cNvSpPr>
            <p:nvPr/>
          </p:nvSpPr>
          <p:spPr bwMode="auto">
            <a:xfrm>
              <a:off x="5669141" y="1806847"/>
              <a:ext cx="969494" cy="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21" name="Freeform 16"/>
            <p:cNvSpPr>
              <a:spLocks/>
            </p:cNvSpPr>
            <p:nvPr/>
          </p:nvSpPr>
          <p:spPr bwMode="auto">
            <a:xfrm>
              <a:off x="5130534" y="3018331"/>
              <a:ext cx="1561962" cy="1061900"/>
            </a:xfrm>
            <a:custGeom>
              <a:avLst/>
              <a:gdLst>
                <a:gd name="T0" fmla="*/ 0 w 1392"/>
                <a:gd name="T1" fmla="*/ 2147483647 h 1248"/>
                <a:gd name="T2" fmla="*/ 2147483647 w 1392"/>
                <a:gd name="T3" fmla="*/ 2147483647 h 1248"/>
                <a:gd name="T4" fmla="*/ 2147483647 w 1392"/>
                <a:gd name="T5" fmla="*/ 2147483647 h 1248"/>
                <a:gd name="T6" fmla="*/ 2147483647 w 1392"/>
                <a:gd name="T7" fmla="*/ 2147483647 h 1248"/>
                <a:gd name="T8" fmla="*/ 2147483647 w 1392"/>
                <a:gd name="T9" fmla="*/ 2147483647 h 1248"/>
                <a:gd name="T10" fmla="*/ 2147483647 w 1392"/>
                <a:gd name="T11" fmla="*/ 2147483647 h 1248"/>
                <a:gd name="T12" fmla="*/ 2147483647 w 1392"/>
                <a:gd name="T13" fmla="*/ 0 h 12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92" h="1248">
                  <a:moveTo>
                    <a:pt x="0" y="1248"/>
                  </a:moveTo>
                  <a:lnTo>
                    <a:pt x="480" y="1152"/>
                  </a:lnTo>
                  <a:lnTo>
                    <a:pt x="816" y="912"/>
                  </a:lnTo>
                  <a:lnTo>
                    <a:pt x="1104" y="624"/>
                  </a:lnTo>
                  <a:lnTo>
                    <a:pt x="1296" y="384"/>
                  </a:lnTo>
                  <a:lnTo>
                    <a:pt x="1344" y="288"/>
                  </a:lnTo>
                  <a:lnTo>
                    <a:pt x="1392" y="0"/>
                  </a:lnTo>
                </a:path>
              </a:pathLst>
            </a:custGeom>
            <a:noFill/>
            <a:ln w="2540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22" name="Text Box 17"/>
            <p:cNvSpPr txBox="1">
              <a:spLocks noChangeArrowheads="1"/>
            </p:cNvSpPr>
            <p:nvPr/>
          </p:nvSpPr>
          <p:spPr bwMode="auto">
            <a:xfrm>
              <a:off x="7152187" y="4124276"/>
              <a:ext cx="469343" cy="25243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b="1" dirty="0">
                  <a:latin typeface="微软雅黑" pitchFamily="34" charset="-122"/>
                  <a:ea typeface="微软雅黑" pitchFamily="34" charset="-122"/>
                </a:rPr>
                <a:t>负载</a:t>
              </a:r>
              <a:endParaRPr kumimoji="0" lang="en-US" altLang="zh-CN" sz="1200" b="1" dirty="0">
                <a:latin typeface="微软雅黑" pitchFamily="34" charset="-122"/>
                <a:ea typeface="微软雅黑" pitchFamily="34" charset="-122"/>
              </a:endParaRPr>
            </a:p>
          </p:txBody>
        </p:sp>
        <p:sp>
          <p:nvSpPr>
            <p:cNvPr id="23" name="Text Box 18"/>
            <p:cNvSpPr txBox="1">
              <a:spLocks noChangeArrowheads="1"/>
            </p:cNvSpPr>
            <p:nvPr/>
          </p:nvSpPr>
          <p:spPr bwMode="auto">
            <a:xfrm>
              <a:off x="7152187" y="2775953"/>
              <a:ext cx="469343" cy="25243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b="1" dirty="0">
                  <a:latin typeface="微软雅黑" pitchFamily="34" charset="-122"/>
                  <a:ea typeface="微软雅黑" pitchFamily="34" charset="-122"/>
                </a:rPr>
                <a:t>负载</a:t>
              </a:r>
              <a:endParaRPr kumimoji="0" lang="en-US" altLang="zh-CN" sz="1200" b="1" dirty="0">
                <a:latin typeface="微软雅黑" pitchFamily="34" charset="-122"/>
                <a:ea typeface="微软雅黑" pitchFamily="34" charset="-122"/>
              </a:endParaRPr>
            </a:p>
          </p:txBody>
        </p:sp>
        <p:sp>
          <p:nvSpPr>
            <p:cNvPr id="24" name="Text Box 19"/>
            <p:cNvSpPr txBox="1">
              <a:spLocks noChangeArrowheads="1"/>
            </p:cNvSpPr>
            <p:nvPr/>
          </p:nvSpPr>
          <p:spPr bwMode="auto">
            <a:xfrm rot="16200000">
              <a:off x="4695016" y="1958209"/>
              <a:ext cx="592753" cy="26258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b="1" dirty="0">
                  <a:latin typeface="微软雅黑" pitchFamily="34" charset="-122"/>
                  <a:ea typeface="微软雅黑" pitchFamily="34" charset="-122"/>
                </a:rPr>
                <a:t>吞量率</a:t>
              </a:r>
              <a:endParaRPr kumimoji="0" lang="en-US" altLang="zh-CN" sz="1200" b="1" dirty="0">
                <a:latin typeface="微软雅黑" pitchFamily="34" charset="-122"/>
                <a:ea typeface="微软雅黑" pitchFamily="34" charset="-122"/>
              </a:endParaRPr>
            </a:p>
          </p:txBody>
        </p:sp>
        <p:sp>
          <p:nvSpPr>
            <p:cNvPr id="25" name="Text Box 20"/>
            <p:cNvSpPr txBox="1">
              <a:spLocks noChangeArrowheads="1"/>
            </p:cNvSpPr>
            <p:nvPr/>
          </p:nvSpPr>
          <p:spPr bwMode="auto">
            <a:xfrm rot="16200000">
              <a:off x="4763550" y="3001052"/>
              <a:ext cx="451200" cy="26258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b="1" dirty="0">
                  <a:latin typeface="微软雅黑" pitchFamily="34" charset="-122"/>
                  <a:ea typeface="微软雅黑" pitchFamily="34" charset="-122"/>
                </a:rPr>
                <a:t>延迟</a:t>
              </a:r>
              <a:endParaRPr kumimoji="0" lang="en-US" altLang="zh-CN" sz="1200" b="1" dirty="0">
                <a:latin typeface="微软雅黑" pitchFamily="34" charset="-122"/>
                <a:ea typeface="微软雅黑" pitchFamily="34" charset="-122"/>
              </a:endParaRPr>
            </a:p>
          </p:txBody>
        </p:sp>
        <p:sp>
          <p:nvSpPr>
            <p:cNvPr id="28" name="Text Box 23"/>
            <p:cNvSpPr txBox="1">
              <a:spLocks noChangeArrowheads="1"/>
            </p:cNvSpPr>
            <p:nvPr/>
          </p:nvSpPr>
          <p:spPr bwMode="auto">
            <a:xfrm>
              <a:off x="7378708" y="2244822"/>
              <a:ext cx="570038" cy="4591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b="1" dirty="0">
                  <a:solidFill>
                    <a:srgbClr val="C00000"/>
                  </a:solidFill>
                  <a:latin typeface="微软雅黑" pitchFamily="34" charset="-122"/>
                  <a:ea typeface="微软雅黑" pitchFamily="34" charset="-122"/>
                </a:rPr>
                <a:t>系统</a:t>
              </a:r>
              <a:endParaRPr kumimoji="0" lang="en-US" altLang="zh-CN" sz="1200" b="1" dirty="0">
                <a:solidFill>
                  <a:srgbClr val="C00000"/>
                </a:solidFill>
                <a:latin typeface="微软雅黑" pitchFamily="34" charset="-122"/>
                <a:ea typeface="微软雅黑" pitchFamily="34" charset="-122"/>
              </a:endParaRPr>
            </a:p>
            <a:p>
              <a:r>
                <a:rPr kumimoji="0" lang="zh-CN" altLang="en-US" sz="1200" b="1" dirty="0">
                  <a:solidFill>
                    <a:srgbClr val="C00000"/>
                  </a:solidFill>
                  <a:latin typeface="微软雅黑" pitchFamily="34" charset="-122"/>
                  <a:ea typeface="微软雅黑" pitchFamily="34" charset="-122"/>
                </a:rPr>
                <a:t>崩溃</a:t>
              </a:r>
              <a:endParaRPr kumimoji="0" lang="en-US" altLang="zh-CN" sz="1200" b="1" dirty="0">
                <a:solidFill>
                  <a:srgbClr val="C00000"/>
                </a:solidFill>
                <a:latin typeface="微软雅黑" pitchFamily="34" charset="-122"/>
                <a:ea typeface="微软雅黑" pitchFamily="34" charset="-122"/>
              </a:endParaRPr>
            </a:p>
          </p:txBody>
        </p:sp>
        <p:sp>
          <p:nvSpPr>
            <p:cNvPr id="30" name="Line 25"/>
            <p:cNvSpPr>
              <a:spLocks noChangeShapeType="1"/>
            </p:cNvSpPr>
            <p:nvPr/>
          </p:nvSpPr>
          <p:spPr bwMode="auto">
            <a:xfrm flipH="1">
              <a:off x="6891107" y="2396737"/>
              <a:ext cx="538608" cy="33708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31" name="Text Box 26"/>
            <p:cNvSpPr txBox="1">
              <a:spLocks noChangeArrowheads="1"/>
            </p:cNvSpPr>
            <p:nvPr/>
          </p:nvSpPr>
          <p:spPr bwMode="auto">
            <a:xfrm>
              <a:off x="7289563" y="1639611"/>
              <a:ext cx="690713" cy="439298"/>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b="1" dirty="0">
                  <a:solidFill>
                    <a:srgbClr val="CC00CC"/>
                  </a:solidFill>
                  <a:latin typeface="微软雅黑" pitchFamily="34" charset="-122"/>
                  <a:ea typeface="微软雅黑" pitchFamily="34" charset="-122"/>
                </a:rPr>
                <a:t>分组丢失增多</a:t>
              </a:r>
              <a:endParaRPr kumimoji="0" lang="en-US" altLang="zh-CN" sz="1200" b="1" dirty="0">
                <a:solidFill>
                  <a:srgbClr val="CC00CC"/>
                </a:solidFill>
                <a:latin typeface="微软雅黑" pitchFamily="34" charset="-122"/>
                <a:ea typeface="微软雅黑" pitchFamily="34" charset="-122"/>
              </a:endParaRPr>
            </a:p>
          </p:txBody>
        </p:sp>
        <p:sp>
          <p:nvSpPr>
            <p:cNvPr id="32" name="Line 27"/>
            <p:cNvSpPr>
              <a:spLocks noChangeShapeType="1"/>
            </p:cNvSpPr>
            <p:nvPr/>
          </p:nvSpPr>
          <p:spPr bwMode="auto">
            <a:xfrm flipH="1">
              <a:off x="6954167" y="1859016"/>
              <a:ext cx="377025" cy="8427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grpSp>
    </p:spTree>
    <p:extLst>
      <p:ext uri="{BB962C8B-B14F-4D97-AF65-F5344CB8AC3E}">
        <p14:creationId xmlns:p14="http://schemas.microsoft.com/office/powerpoint/2010/main" val="2247846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utoShape 5"/>
          <p:cNvSpPr>
            <a:spLocks noChangeArrowheads="1"/>
          </p:cNvSpPr>
          <p:nvPr/>
        </p:nvSpPr>
        <p:spPr bwMode="auto">
          <a:xfrm>
            <a:off x="556963" y="62336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7" name="Rectangle 6"/>
          <p:cNvSpPr>
            <a:spLocks noChangeArrowheads="1"/>
          </p:cNvSpPr>
          <p:nvPr/>
        </p:nvSpPr>
        <p:spPr bwMode="auto">
          <a:xfrm>
            <a:off x="2911664" y="590156"/>
            <a:ext cx="333937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拥塞控制与流量控制的区别</a:t>
            </a:r>
          </a:p>
        </p:txBody>
      </p:sp>
      <p:sp>
        <p:nvSpPr>
          <p:cNvPr id="4" name="任意多边形: 形状 3">
            <a:extLst>
              <a:ext uri="{FF2B5EF4-FFF2-40B4-BE49-F238E27FC236}">
                <a16:creationId xmlns:a16="http://schemas.microsoft.com/office/drawing/2014/main" id="{0CA13DD2-2119-2D01-ACF7-D4C69F228BFC}"/>
              </a:ext>
            </a:extLst>
          </p:cNvPr>
          <p:cNvSpPr/>
          <p:nvPr/>
        </p:nvSpPr>
        <p:spPr>
          <a:xfrm>
            <a:off x="1062121" y="1050042"/>
            <a:ext cx="3322842" cy="604800"/>
          </a:xfrm>
          <a:custGeom>
            <a:avLst/>
            <a:gdLst>
              <a:gd name="csX0" fmla="*/ 0 w 3322842"/>
              <a:gd name="csY0" fmla="*/ 0 h 604800"/>
              <a:gd name="csX1" fmla="*/ 3322842 w 3322842"/>
              <a:gd name="csY1" fmla="*/ 0 h 604800"/>
              <a:gd name="csX2" fmla="*/ 3322842 w 3322842"/>
              <a:gd name="csY2" fmla="*/ 604800 h 604800"/>
              <a:gd name="csX3" fmla="*/ 0 w 3322842"/>
              <a:gd name="csY3" fmla="*/ 604800 h 604800"/>
              <a:gd name="csX4" fmla="*/ 0 w 3322842"/>
              <a:gd name="csY4" fmla="*/ 0 h 604800"/>
            </a:gdLst>
            <a:ahLst/>
            <a:cxnLst>
              <a:cxn ang="0">
                <a:pos x="csX0" y="csY0"/>
              </a:cxn>
              <a:cxn ang="0">
                <a:pos x="csX1" y="csY1"/>
              </a:cxn>
              <a:cxn ang="0">
                <a:pos x="csX2" y="csY2"/>
              </a:cxn>
              <a:cxn ang="0">
                <a:pos x="csX3" y="csY3"/>
              </a:cxn>
              <a:cxn ang="0">
                <a:pos x="csX4" y="csY4"/>
              </a:cxn>
            </a:cxnLst>
            <a:rect l="l" t="t" r="r" b="b"/>
            <a:pathLst>
              <a:path w="3322842" h="604800">
                <a:moveTo>
                  <a:pt x="0" y="0"/>
                </a:moveTo>
                <a:lnTo>
                  <a:pt x="3322842" y="0"/>
                </a:lnTo>
                <a:lnTo>
                  <a:pt x="3322842" y="604800"/>
                </a:lnTo>
                <a:lnTo>
                  <a:pt x="0" y="604800"/>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latin typeface="微软雅黑" panose="020B0503020204020204" pitchFamily="34" charset="-122"/>
                <a:ea typeface="微软雅黑" panose="020B0503020204020204" pitchFamily="34" charset="-122"/>
              </a:rPr>
              <a:t>拥塞控制</a:t>
            </a:r>
          </a:p>
        </p:txBody>
      </p:sp>
      <p:sp>
        <p:nvSpPr>
          <p:cNvPr id="5" name="任意多边形: 形状 4">
            <a:extLst>
              <a:ext uri="{FF2B5EF4-FFF2-40B4-BE49-F238E27FC236}">
                <a16:creationId xmlns:a16="http://schemas.microsoft.com/office/drawing/2014/main" id="{4434EC71-9966-59EF-73A8-D5538CAA4298}"/>
              </a:ext>
            </a:extLst>
          </p:cNvPr>
          <p:cNvSpPr/>
          <p:nvPr/>
        </p:nvSpPr>
        <p:spPr>
          <a:xfrm>
            <a:off x="1062121" y="1654842"/>
            <a:ext cx="3322842" cy="2824605"/>
          </a:xfrm>
          <a:custGeom>
            <a:avLst/>
            <a:gdLst>
              <a:gd name="csX0" fmla="*/ 0 w 3322842"/>
              <a:gd name="csY0" fmla="*/ 0 h 2824605"/>
              <a:gd name="csX1" fmla="*/ 3322842 w 3322842"/>
              <a:gd name="csY1" fmla="*/ 0 h 2824605"/>
              <a:gd name="csX2" fmla="*/ 3322842 w 3322842"/>
              <a:gd name="csY2" fmla="*/ 2824605 h 2824605"/>
              <a:gd name="csX3" fmla="*/ 0 w 3322842"/>
              <a:gd name="csY3" fmla="*/ 2824605 h 2824605"/>
              <a:gd name="csX4" fmla="*/ 0 w 3322842"/>
              <a:gd name="csY4" fmla="*/ 0 h 2824605"/>
            </a:gdLst>
            <a:ahLst/>
            <a:cxnLst>
              <a:cxn ang="0">
                <a:pos x="csX0" y="csY0"/>
              </a:cxn>
              <a:cxn ang="0">
                <a:pos x="csX1" y="csY1"/>
              </a:cxn>
              <a:cxn ang="0">
                <a:pos x="csX2" y="csY2"/>
              </a:cxn>
              <a:cxn ang="0">
                <a:pos x="csX3" y="csY3"/>
              </a:cxn>
              <a:cxn ang="0">
                <a:pos x="csX4" y="csY4"/>
              </a:cxn>
            </a:cxnLst>
            <a:rect l="l" t="t" r="r" b="b"/>
            <a:pathLst>
              <a:path w="3322842" h="2824605">
                <a:moveTo>
                  <a:pt x="0" y="0"/>
                </a:moveTo>
                <a:lnTo>
                  <a:pt x="3322842" y="0"/>
                </a:lnTo>
                <a:lnTo>
                  <a:pt x="3322842" y="2824605"/>
                </a:lnTo>
                <a:lnTo>
                  <a:pt x="0" y="2824605"/>
                </a:lnTo>
                <a:lnTo>
                  <a:pt x="0" y="0"/>
                </a:lnTo>
                <a:close/>
              </a:path>
            </a:pathLst>
          </a:custGeom>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96012" tIns="96012" rIns="128016" bIns="144018" numCol="1" spcCol="1270" anchor="t" anchorCtr="0">
            <a:noAutofit/>
          </a:bodyPr>
          <a:lstStyle/>
          <a:p>
            <a:pPr marL="171450" lvl="1" indent="-171450" algn="l" defTabSz="800100">
              <a:lnSpc>
                <a:spcPct val="125000"/>
              </a:lnSpc>
              <a:spcBef>
                <a:spcPct val="0"/>
              </a:spcBef>
              <a:spcAft>
                <a:spcPts val="600"/>
              </a:spcAft>
              <a:buChar char="•"/>
            </a:pPr>
            <a:r>
              <a:rPr lang="zh-CN" altLang="en-US" sz="1800" b="1" kern="1200" dirty="0">
                <a:latin typeface="微软雅黑" panose="020B0503020204020204" pitchFamily="34" charset="-122"/>
                <a:ea typeface="微软雅黑" panose="020B0503020204020204" pitchFamily="34" charset="-122"/>
              </a:rPr>
              <a:t>防止过多的数据注入到网络中，避免网络中的路由器或链路过载。</a:t>
            </a:r>
          </a:p>
          <a:p>
            <a:pPr marL="171450" lvl="1" indent="-171450" algn="l" defTabSz="800100">
              <a:lnSpc>
                <a:spcPct val="125000"/>
              </a:lnSpc>
              <a:spcBef>
                <a:spcPct val="0"/>
              </a:spcBef>
              <a:spcAft>
                <a:spcPts val="600"/>
              </a:spcAft>
              <a:buChar char="•"/>
            </a:pPr>
            <a:r>
              <a:rPr lang="zh-CN" altLang="en-US" sz="1800" b="1" kern="1200" dirty="0">
                <a:latin typeface="微软雅黑" panose="020B0503020204020204" pitchFamily="34" charset="-122"/>
                <a:ea typeface="微软雅黑" panose="020B0503020204020204" pitchFamily="34" charset="-122"/>
              </a:rPr>
              <a:t>是一个全局性的过程，涉及到所有的主机、路由器，以及与降低网络传输性能有关的所有因素。</a:t>
            </a:r>
          </a:p>
        </p:txBody>
      </p:sp>
      <p:sp>
        <p:nvSpPr>
          <p:cNvPr id="6" name="任意多边形: 形状 5">
            <a:extLst>
              <a:ext uri="{FF2B5EF4-FFF2-40B4-BE49-F238E27FC236}">
                <a16:creationId xmlns:a16="http://schemas.microsoft.com/office/drawing/2014/main" id="{84DEEC2B-784D-0D20-9D67-4197EE00D0D5}"/>
              </a:ext>
            </a:extLst>
          </p:cNvPr>
          <p:cNvSpPr/>
          <p:nvPr/>
        </p:nvSpPr>
        <p:spPr>
          <a:xfrm>
            <a:off x="4850161" y="1050042"/>
            <a:ext cx="3322842" cy="604800"/>
          </a:xfrm>
          <a:custGeom>
            <a:avLst/>
            <a:gdLst>
              <a:gd name="csX0" fmla="*/ 0 w 3322842"/>
              <a:gd name="csY0" fmla="*/ 0 h 604800"/>
              <a:gd name="csX1" fmla="*/ 3322842 w 3322842"/>
              <a:gd name="csY1" fmla="*/ 0 h 604800"/>
              <a:gd name="csX2" fmla="*/ 3322842 w 3322842"/>
              <a:gd name="csY2" fmla="*/ 604800 h 604800"/>
              <a:gd name="csX3" fmla="*/ 0 w 3322842"/>
              <a:gd name="csY3" fmla="*/ 604800 h 604800"/>
              <a:gd name="csX4" fmla="*/ 0 w 3322842"/>
              <a:gd name="csY4" fmla="*/ 0 h 604800"/>
            </a:gdLst>
            <a:ahLst/>
            <a:cxnLst>
              <a:cxn ang="0">
                <a:pos x="csX0" y="csY0"/>
              </a:cxn>
              <a:cxn ang="0">
                <a:pos x="csX1" y="csY1"/>
              </a:cxn>
              <a:cxn ang="0">
                <a:pos x="csX2" y="csY2"/>
              </a:cxn>
              <a:cxn ang="0">
                <a:pos x="csX3" y="csY3"/>
              </a:cxn>
              <a:cxn ang="0">
                <a:pos x="csX4" y="csY4"/>
              </a:cxn>
            </a:cxnLst>
            <a:rect l="l" t="t" r="r" b="b"/>
            <a:pathLst>
              <a:path w="3322842" h="604800">
                <a:moveTo>
                  <a:pt x="0" y="0"/>
                </a:moveTo>
                <a:lnTo>
                  <a:pt x="3322842" y="0"/>
                </a:lnTo>
                <a:lnTo>
                  <a:pt x="3322842" y="604800"/>
                </a:lnTo>
                <a:lnTo>
                  <a:pt x="0" y="604800"/>
                </a:lnTo>
                <a:lnTo>
                  <a:pt x="0" y="0"/>
                </a:lnTo>
                <a:close/>
              </a:path>
            </a:pathLst>
          </a:custGeom>
        </p:spPr>
        <p:style>
          <a:lnRef idx="2">
            <a:schemeClr val="accent2">
              <a:hueOff val="4681519"/>
              <a:satOff val="-5839"/>
              <a:lumOff val="1373"/>
              <a:alphaOff val="0"/>
            </a:schemeClr>
          </a:lnRef>
          <a:fillRef idx="1">
            <a:schemeClr val="accent2">
              <a:hueOff val="4681519"/>
              <a:satOff val="-5839"/>
              <a:lumOff val="1373"/>
              <a:alphaOff val="0"/>
            </a:schemeClr>
          </a:fillRef>
          <a:effectRef idx="0">
            <a:schemeClr val="accent2">
              <a:hueOff val="4681519"/>
              <a:satOff val="-5839"/>
              <a:lumOff val="1373"/>
              <a:alphaOff val="0"/>
            </a:schemeClr>
          </a:effectRef>
          <a:fontRef idx="minor">
            <a:schemeClr val="lt1"/>
          </a:fontRef>
        </p:style>
        <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latin typeface="微软雅黑" panose="020B0503020204020204" pitchFamily="34" charset="-122"/>
                <a:ea typeface="微软雅黑" panose="020B0503020204020204" pitchFamily="34" charset="-122"/>
              </a:rPr>
              <a:t>流量控制</a:t>
            </a:r>
          </a:p>
        </p:txBody>
      </p:sp>
      <p:sp>
        <p:nvSpPr>
          <p:cNvPr id="7" name="任意多边形: 形状 6">
            <a:extLst>
              <a:ext uri="{FF2B5EF4-FFF2-40B4-BE49-F238E27FC236}">
                <a16:creationId xmlns:a16="http://schemas.microsoft.com/office/drawing/2014/main" id="{D9BE795C-35F1-BB10-2B75-AD27C858C0AB}"/>
              </a:ext>
            </a:extLst>
          </p:cNvPr>
          <p:cNvSpPr/>
          <p:nvPr/>
        </p:nvSpPr>
        <p:spPr>
          <a:xfrm>
            <a:off x="4850161" y="1654842"/>
            <a:ext cx="3322842" cy="2824605"/>
          </a:xfrm>
          <a:custGeom>
            <a:avLst/>
            <a:gdLst>
              <a:gd name="csX0" fmla="*/ 0 w 3322842"/>
              <a:gd name="csY0" fmla="*/ 0 h 2824605"/>
              <a:gd name="csX1" fmla="*/ 3322842 w 3322842"/>
              <a:gd name="csY1" fmla="*/ 0 h 2824605"/>
              <a:gd name="csX2" fmla="*/ 3322842 w 3322842"/>
              <a:gd name="csY2" fmla="*/ 2824605 h 2824605"/>
              <a:gd name="csX3" fmla="*/ 0 w 3322842"/>
              <a:gd name="csY3" fmla="*/ 2824605 h 2824605"/>
              <a:gd name="csX4" fmla="*/ 0 w 3322842"/>
              <a:gd name="csY4" fmla="*/ 0 h 2824605"/>
            </a:gdLst>
            <a:ahLst/>
            <a:cxnLst>
              <a:cxn ang="0">
                <a:pos x="csX0" y="csY0"/>
              </a:cxn>
              <a:cxn ang="0">
                <a:pos x="csX1" y="csY1"/>
              </a:cxn>
              <a:cxn ang="0">
                <a:pos x="csX2" y="csY2"/>
              </a:cxn>
              <a:cxn ang="0">
                <a:pos x="csX3" y="csY3"/>
              </a:cxn>
              <a:cxn ang="0">
                <a:pos x="csX4" y="csY4"/>
              </a:cxn>
            </a:cxnLst>
            <a:rect l="l" t="t" r="r" b="b"/>
            <a:pathLst>
              <a:path w="3322842" h="2824605">
                <a:moveTo>
                  <a:pt x="0" y="0"/>
                </a:moveTo>
                <a:lnTo>
                  <a:pt x="3322842" y="0"/>
                </a:lnTo>
                <a:lnTo>
                  <a:pt x="3322842" y="2824605"/>
                </a:lnTo>
                <a:lnTo>
                  <a:pt x="0" y="2824605"/>
                </a:lnTo>
                <a:lnTo>
                  <a:pt x="0" y="0"/>
                </a:lnTo>
                <a:close/>
              </a:path>
            </a:pathLst>
          </a:custGeom>
        </p:spPr>
        <p:style>
          <a:lnRef idx="2">
            <a:schemeClr val="accent2">
              <a:tint val="40000"/>
              <a:alpha val="90000"/>
              <a:hueOff val="5025821"/>
              <a:satOff val="-4378"/>
              <a:lumOff val="-6"/>
              <a:alphaOff val="0"/>
            </a:schemeClr>
          </a:lnRef>
          <a:fillRef idx="1">
            <a:schemeClr val="accent2">
              <a:tint val="40000"/>
              <a:alpha val="90000"/>
              <a:hueOff val="5025821"/>
              <a:satOff val="-4378"/>
              <a:lumOff val="-6"/>
              <a:alphaOff val="0"/>
            </a:schemeClr>
          </a:fillRef>
          <a:effectRef idx="0">
            <a:schemeClr val="accent2">
              <a:tint val="40000"/>
              <a:alpha val="90000"/>
              <a:hueOff val="5025821"/>
              <a:satOff val="-4378"/>
              <a:lumOff val="-6"/>
              <a:alphaOff val="0"/>
            </a:schemeClr>
          </a:effectRef>
          <a:fontRef idx="minor">
            <a:schemeClr val="dk1">
              <a:hueOff val="0"/>
              <a:satOff val="0"/>
              <a:lumOff val="0"/>
              <a:alphaOff val="0"/>
            </a:schemeClr>
          </a:fontRef>
        </p:style>
        <p:txBody>
          <a:bodyPr spcFirstLastPara="0" vert="horz" wrap="square" lIns="96012" tIns="96012" rIns="128016" bIns="144018" numCol="1" spcCol="1270" anchor="t" anchorCtr="0">
            <a:noAutofit/>
          </a:bodyPr>
          <a:lstStyle/>
          <a:p>
            <a:pPr marL="171450" lvl="1" indent="-171450" defTabSz="800100">
              <a:lnSpc>
                <a:spcPct val="125000"/>
              </a:lnSpc>
              <a:spcAft>
                <a:spcPts val="600"/>
              </a:spcAft>
              <a:buChar char="•"/>
            </a:pPr>
            <a:r>
              <a:rPr lang="zh-CN" altLang="en-US" b="1" dirty="0">
                <a:latin typeface="微软雅黑" panose="020B0503020204020204" pitchFamily="34" charset="-122"/>
                <a:ea typeface="微软雅黑" panose="020B0503020204020204" pitchFamily="34" charset="-122"/>
              </a:rPr>
              <a:t>抑制发送端发送数据的速率，以使接收端来得及接收。</a:t>
            </a:r>
          </a:p>
          <a:p>
            <a:pPr marL="171450" lvl="1" indent="-171450" defTabSz="800100">
              <a:lnSpc>
                <a:spcPct val="125000"/>
              </a:lnSpc>
              <a:spcAft>
                <a:spcPts val="600"/>
              </a:spcAft>
              <a:buChar char="•"/>
            </a:pPr>
            <a:r>
              <a:rPr lang="zh-CN" altLang="en-US" b="1" dirty="0">
                <a:latin typeface="微软雅黑" panose="020B0503020204020204" pitchFamily="34" charset="-122"/>
                <a:ea typeface="微软雅黑" panose="020B0503020204020204" pitchFamily="34" charset="-122"/>
              </a:rPr>
              <a:t>点对点通信量的控制，是个端到端的问题。</a:t>
            </a:r>
          </a:p>
        </p:txBody>
      </p:sp>
    </p:spTree>
    <p:extLst>
      <p:ext uri="{BB962C8B-B14F-4D97-AF65-F5344CB8AC3E}">
        <p14:creationId xmlns:p14="http://schemas.microsoft.com/office/powerpoint/2010/main" val="1303102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fade">
                                      <p:cBhvr>
                                        <p:cTn id="14" dur="1000"/>
                                        <p:tgtEl>
                                          <p:spTgt spid="5">
                                            <p:txEl>
                                              <p:pRg st="1" end="1"/>
                                            </p:txEl>
                                          </p:spTgt>
                                        </p:tgtEl>
                                      </p:cBhvr>
                                    </p:animEffect>
                                    <p:anim calcmode="lin" valueType="num">
                                      <p:cBhvr>
                                        <p:cTn id="15"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fade">
                                      <p:cBhvr>
                                        <p:cTn id="28" dur="1000"/>
                                        <p:tgtEl>
                                          <p:spTgt spid="7">
                                            <p:txEl>
                                              <p:pRg st="0" end="0"/>
                                            </p:txEl>
                                          </p:spTgt>
                                        </p:tgtEl>
                                      </p:cBhvr>
                                    </p:animEffect>
                                    <p:anim calcmode="lin" valueType="num">
                                      <p:cBhvr>
                                        <p:cTn id="29"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圆角矩形 39"/>
          <p:cNvSpPr/>
          <p:nvPr/>
        </p:nvSpPr>
        <p:spPr>
          <a:xfrm>
            <a:off x="556963" y="1012072"/>
            <a:ext cx="8048776"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1" name="Group 23"/>
          <p:cNvGrpSpPr>
            <a:grpSpLocks/>
          </p:cNvGrpSpPr>
          <p:nvPr/>
        </p:nvGrpSpPr>
        <p:grpSpPr bwMode="auto">
          <a:xfrm>
            <a:off x="1727122" y="2465424"/>
            <a:ext cx="4605001" cy="1692477"/>
            <a:chOff x="651" y="2544"/>
            <a:chExt cx="3908" cy="1556"/>
          </a:xfrm>
        </p:grpSpPr>
        <p:sp>
          <p:nvSpPr>
            <p:cNvPr id="62" name="Line 24"/>
            <p:cNvSpPr>
              <a:spLocks noChangeShapeType="1"/>
            </p:cNvSpPr>
            <p:nvPr/>
          </p:nvSpPr>
          <p:spPr bwMode="auto">
            <a:xfrm>
              <a:off x="2585" y="3737"/>
              <a:ext cx="848"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63" name="Line 25"/>
            <p:cNvSpPr>
              <a:spLocks noChangeShapeType="1"/>
            </p:cNvSpPr>
            <p:nvPr/>
          </p:nvSpPr>
          <p:spPr bwMode="auto">
            <a:xfrm>
              <a:off x="1633" y="3737"/>
              <a:ext cx="943"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grpSp>
          <p:nvGrpSpPr>
            <p:cNvPr id="64" name="Group 26"/>
            <p:cNvGrpSpPr>
              <a:grpSpLocks/>
            </p:cNvGrpSpPr>
            <p:nvPr/>
          </p:nvGrpSpPr>
          <p:grpSpPr bwMode="auto">
            <a:xfrm>
              <a:off x="651" y="2544"/>
              <a:ext cx="3908" cy="1556"/>
              <a:chOff x="651" y="2544"/>
              <a:chExt cx="3908" cy="1556"/>
            </a:xfrm>
          </p:grpSpPr>
          <p:grpSp>
            <p:nvGrpSpPr>
              <p:cNvPr id="65" name="Group 27"/>
              <p:cNvGrpSpPr>
                <a:grpSpLocks/>
              </p:cNvGrpSpPr>
              <p:nvPr/>
            </p:nvGrpSpPr>
            <p:grpSpPr bwMode="auto">
              <a:xfrm>
                <a:off x="651" y="2544"/>
                <a:ext cx="3908" cy="1252"/>
                <a:chOff x="651" y="2544"/>
                <a:chExt cx="3908" cy="1252"/>
              </a:xfrm>
            </p:grpSpPr>
            <p:sp>
              <p:nvSpPr>
                <p:cNvPr id="68" name="Freeform 28"/>
                <p:cNvSpPr>
                  <a:spLocks/>
                </p:cNvSpPr>
                <p:nvPr/>
              </p:nvSpPr>
              <p:spPr bwMode="auto">
                <a:xfrm>
                  <a:off x="651" y="2595"/>
                  <a:ext cx="2773" cy="964"/>
                </a:xfrm>
                <a:custGeom>
                  <a:avLst/>
                  <a:gdLst>
                    <a:gd name="T0" fmla="*/ 0 w 1728"/>
                    <a:gd name="T1" fmla="*/ 964 h 781"/>
                    <a:gd name="T2" fmla="*/ 1204 w 1728"/>
                    <a:gd name="T3" fmla="*/ 186 h 781"/>
                    <a:gd name="T4" fmla="*/ 1733 w 1728"/>
                    <a:gd name="T5" fmla="*/ 23 h 781"/>
                    <a:gd name="T6" fmla="*/ 2109 w 1728"/>
                    <a:gd name="T7" fmla="*/ 46 h 781"/>
                    <a:gd name="T8" fmla="*/ 2388 w 1728"/>
                    <a:gd name="T9" fmla="*/ 216 h 781"/>
                    <a:gd name="T10" fmla="*/ 2571 w 1728"/>
                    <a:gd name="T11" fmla="*/ 453 h 781"/>
                    <a:gd name="T12" fmla="*/ 2706 w 1728"/>
                    <a:gd name="T13" fmla="*/ 727 h 781"/>
                    <a:gd name="T14" fmla="*/ 2773 w 1728"/>
                    <a:gd name="T15" fmla="*/ 964 h 7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28" h="781">
                      <a:moveTo>
                        <a:pt x="0" y="781"/>
                      </a:moveTo>
                      <a:cubicBezTo>
                        <a:pt x="285" y="529"/>
                        <a:pt x="570" y="278"/>
                        <a:pt x="750" y="151"/>
                      </a:cubicBezTo>
                      <a:cubicBezTo>
                        <a:pt x="930" y="24"/>
                        <a:pt x="986" y="38"/>
                        <a:pt x="1080" y="19"/>
                      </a:cubicBezTo>
                      <a:cubicBezTo>
                        <a:pt x="1174" y="0"/>
                        <a:pt x="1246" y="11"/>
                        <a:pt x="1314" y="37"/>
                      </a:cubicBezTo>
                      <a:cubicBezTo>
                        <a:pt x="1382" y="63"/>
                        <a:pt x="1440" y="120"/>
                        <a:pt x="1488" y="175"/>
                      </a:cubicBezTo>
                      <a:cubicBezTo>
                        <a:pt x="1536" y="230"/>
                        <a:pt x="1569" y="298"/>
                        <a:pt x="1602" y="367"/>
                      </a:cubicBezTo>
                      <a:cubicBezTo>
                        <a:pt x="1635" y="436"/>
                        <a:pt x="1665" y="520"/>
                        <a:pt x="1686" y="589"/>
                      </a:cubicBezTo>
                      <a:cubicBezTo>
                        <a:pt x="1707" y="658"/>
                        <a:pt x="1717" y="719"/>
                        <a:pt x="1728" y="781"/>
                      </a:cubicBezTo>
                    </a:path>
                  </a:pathLst>
                </a:custGeom>
                <a:noFill/>
                <a:ln w="38100" cmpd="sng">
                  <a:solidFill>
                    <a:srgbClr val="00CC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69" name="Line 29"/>
                <p:cNvSpPr>
                  <a:spLocks noChangeShapeType="1"/>
                </p:cNvSpPr>
                <p:nvPr/>
              </p:nvSpPr>
              <p:spPr bwMode="auto">
                <a:xfrm>
                  <a:off x="2576" y="2611"/>
                  <a:ext cx="0" cy="948"/>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70" name="Text Box 30"/>
                <p:cNvSpPr txBox="1">
                  <a:spLocks noChangeArrowheads="1"/>
                </p:cNvSpPr>
                <p:nvPr/>
              </p:nvSpPr>
              <p:spPr bwMode="auto">
                <a:xfrm>
                  <a:off x="3532" y="2544"/>
                  <a:ext cx="1027"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600" dirty="0">
                      <a:solidFill>
                        <a:srgbClr val="000066"/>
                      </a:solidFill>
                      <a:latin typeface="微软雅黑" pitchFamily="34" charset="-122"/>
                      <a:ea typeface="微软雅黑" pitchFamily="34" charset="-122"/>
                    </a:rPr>
                    <a:t>无拥塞控制</a:t>
                  </a:r>
                </a:p>
              </p:txBody>
            </p:sp>
            <p:sp>
              <p:nvSpPr>
                <p:cNvPr id="71" name="Line 31"/>
                <p:cNvSpPr>
                  <a:spLocks noChangeShapeType="1"/>
                </p:cNvSpPr>
                <p:nvPr/>
              </p:nvSpPr>
              <p:spPr bwMode="auto">
                <a:xfrm flipH="1">
                  <a:off x="3125" y="2759"/>
                  <a:ext cx="453" cy="1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72" name="Line 32"/>
                <p:cNvSpPr>
                  <a:spLocks noChangeShapeType="1"/>
                </p:cNvSpPr>
                <p:nvPr/>
              </p:nvSpPr>
              <p:spPr bwMode="auto">
                <a:xfrm>
                  <a:off x="1619" y="2848"/>
                  <a:ext cx="0" cy="71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73" name="Line 33"/>
                <p:cNvSpPr>
                  <a:spLocks noChangeShapeType="1"/>
                </p:cNvSpPr>
                <p:nvPr/>
              </p:nvSpPr>
              <p:spPr bwMode="auto">
                <a:xfrm>
                  <a:off x="2576" y="3559"/>
                  <a:ext cx="0" cy="2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74" name="Line 34"/>
                <p:cNvSpPr>
                  <a:spLocks noChangeShapeType="1"/>
                </p:cNvSpPr>
                <p:nvPr/>
              </p:nvSpPr>
              <p:spPr bwMode="auto">
                <a:xfrm>
                  <a:off x="3424" y="3559"/>
                  <a:ext cx="0" cy="2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75" name="Line 35"/>
                <p:cNvSpPr>
                  <a:spLocks noChangeShapeType="1"/>
                </p:cNvSpPr>
                <p:nvPr/>
              </p:nvSpPr>
              <p:spPr bwMode="auto">
                <a:xfrm>
                  <a:off x="1619" y="3559"/>
                  <a:ext cx="0" cy="2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grpSp>
          <p:sp>
            <p:nvSpPr>
              <p:cNvPr id="66" name="Text Box 36"/>
              <p:cNvSpPr txBox="1">
                <a:spLocks noChangeArrowheads="1"/>
              </p:cNvSpPr>
              <p:nvPr/>
            </p:nvSpPr>
            <p:spPr bwMode="auto">
              <a:xfrm>
                <a:off x="2748" y="3589"/>
                <a:ext cx="461" cy="283"/>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solidFill>
                      <a:srgbClr val="0000FF"/>
                    </a:solidFill>
                    <a:latin typeface="微软雅黑" pitchFamily="34" charset="-122"/>
                    <a:ea typeface="微软雅黑" pitchFamily="34" charset="-122"/>
                  </a:rPr>
                  <a:t>拥塞</a:t>
                </a:r>
              </a:p>
            </p:txBody>
          </p:sp>
          <p:sp>
            <p:nvSpPr>
              <p:cNvPr id="67" name="Text Box 37"/>
              <p:cNvSpPr txBox="1">
                <a:spLocks noChangeArrowheads="1"/>
              </p:cNvSpPr>
              <p:nvPr/>
            </p:nvSpPr>
            <p:spPr bwMode="auto">
              <a:xfrm>
                <a:off x="1872" y="3619"/>
                <a:ext cx="461" cy="481"/>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eaLnBrk="1" hangingPunct="1"/>
                <a:r>
                  <a:rPr lang="zh-CN" altLang="en-US" sz="1400" dirty="0">
                    <a:latin typeface="微软雅黑" pitchFamily="34" charset="-122"/>
                    <a:ea typeface="微软雅黑" pitchFamily="34" charset="-122"/>
                  </a:rPr>
                  <a:t>轻度</a:t>
                </a:r>
              </a:p>
              <a:p>
                <a:pPr algn="ctr" eaLnBrk="1" hangingPunct="1"/>
                <a:r>
                  <a:rPr lang="zh-CN" altLang="en-US" sz="1400" dirty="0">
                    <a:latin typeface="微软雅黑" pitchFamily="34" charset="-122"/>
                    <a:ea typeface="微软雅黑" pitchFamily="34" charset="-122"/>
                  </a:rPr>
                  <a:t>拥塞</a:t>
                </a:r>
              </a:p>
            </p:txBody>
          </p:sp>
        </p:grpSp>
      </p:grpSp>
      <p:sp>
        <p:nvSpPr>
          <p:cNvPr id="38" name="AutoShape 5"/>
          <p:cNvSpPr>
            <a:spLocks noChangeArrowheads="1"/>
          </p:cNvSpPr>
          <p:nvPr/>
        </p:nvSpPr>
        <p:spPr bwMode="auto">
          <a:xfrm>
            <a:off x="556963" y="618782"/>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p:cNvSpPr>
            <a:spLocks noChangeArrowheads="1"/>
          </p:cNvSpPr>
          <p:nvPr/>
        </p:nvSpPr>
        <p:spPr bwMode="auto">
          <a:xfrm>
            <a:off x="3278387" y="595692"/>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拥塞控制所起的作用</a:t>
            </a:r>
          </a:p>
        </p:txBody>
      </p:sp>
      <p:sp>
        <p:nvSpPr>
          <p:cNvPr id="41" name="Line 3"/>
          <p:cNvSpPr>
            <a:spLocks noChangeShapeType="1"/>
          </p:cNvSpPr>
          <p:nvPr/>
        </p:nvSpPr>
        <p:spPr bwMode="auto">
          <a:xfrm rot="16200000">
            <a:off x="534447" y="2382214"/>
            <a:ext cx="2385349" cy="0"/>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2" name="Text Box 4"/>
          <p:cNvSpPr txBox="1">
            <a:spLocks noChangeArrowheads="1"/>
          </p:cNvSpPr>
          <p:nvPr/>
        </p:nvSpPr>
        <p:spPr bwMode="auto">
          <a:xfrm>
            <a:off x="6275535" y="3599906"/>
            <a:ext cx="108234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提供的负载</a:t>
            </a:r>
          </a:p>
        </p:txBody>
      </p:sp>
      <p:sp>
        <p:nvSpPr>
          <p:cNvPr id="43" name="Text Box 5"/>
          <p:cNvSpPr txBox="1">
            <a:spLocks noChangeArrowheads="1"/>
          </p:cNvSpPr>
          <p:nvPr/>
        </p:nvSpPr>
        <p:spPr bwMode="auto">
          <a:xfrm>
            <a:off x="1727121" y="1116496"/>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吞吐量</a:t>
            </a:r>
          </a:p>
        </p:txBody>
      </p:sp>
      <p:grpSp>
        <p:nvGrpSpPr>
          <p:cNvPr id="44" name="Group 6"/>
          <p:cNvGrpSpPr>
            <a:grpSpLocks/>
          </p:cNvGrpSpPr>
          <p:nvPr/>
        </p:nvGrpSpPr>
        <p:grpSpPr bwMode="auto">
          <a:xfrm>
            <a:off x="1727121" y="1622449"/>
            <a:ext cx="4810036" cy="1952440"/>
            <a:chOff x="651" y="1764"/>
            <a:chExt cx="4082" cy="1795"/>
          </a:xfrm>
        </p:grpSpPr>
        <p:sp>
          <p:nvSpPr>
            <p:cNvPr id="45" name="Line 7"/>
            <p:cNvSpPr>
              <a:spLocks noChangeShapeType="1"/>
            </p:cNvSpPr>
            <p:nvPr/>
          </p:nvSpPr>
          <p:spPr bwMode="auto">
            <a:xfrm flipV="1">
              <a:off x="651" y="2077"/>
              <a:ext cx="1925" cy="1482"/>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6" name="Line 8"/>
            <p:cNvSpPr>
              <a:spLocks noChangeShapeType="1"/>
            </p:cNvSpPr>
            <p:nvPr/>
          </p:nvSpPr>
          <p:spPr bwMode="auto">
            <a:xfrm>
              <a:off x="2576" y="2077"/>
              <a:ext cx="2157" cy="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7" name="Text Box 9"/>
            <p:cNvSpPr txBox="1">
              <a:spLocks noChangeArrowheads="1"/>
            </p:cNvSpPr>
            <p:nvPr/>
          </p:nvSpPr>
          <p:spPr bwMode="auto">
            <a:xfrm>
              <a:off x="2901" y="1764"/>
              <a:ext cx="1376"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600" dirty="0">
                  <a:solidFill>
                    <a:srgbClr val="CC00CC"/>
                  </a:solidFill>
                  <a:latin typeface="微软雅黑" pitchFamily="34" charset="-122"/>
                  <a:ea typeface="微软雅黑" pitchFamily="34" charset="-122"/>
                </a:rPr>
                <a:t>理想的拥塞控制</a:t>
              </a:r>
            </a:p>
          </p:txBody>
        </p:sp>
      </p:grpSp>
      <p:grpSp>
        <p:nvGrpSpPr>
          <p:cNvPr id="49" name="Group 11"/>
          <p:cNvGrpSpPr>
            <a:grpSpLocks/>
          </p:cNvGrpSpPr>
          <p:nvPr/>
        </p:nvGrpSpPr>
        <p:grpSpPr bwMode="auto">
          <a:xfrm>
            <a:off x="1727121" y="2014024"/>
            <a:ext cx="4879559" cy="1560864"/>
            <a:chOff x="651" y="2124"/>
            <a:chExt cx="4141" cy="1435"/>
          </a:xfrm>
        </p:grpSpPr>
        <p:sp>
          <p:nvSpPr>
            <p:cNvPr id="50" name="Freeform 12"/>
            <p:cNvSpPr>
              <a:spLocks/>
            </p:cNvSpPr>
            <p:nvPr/>
          </p:nvSpPr>
          <p:spPr bwMode="auto">
            <a:xfrm>
              <a:off x="651" y="2422"/>
              <a:ext cx="4141" cy="1137"/>
            </a:xfrm>
            <a:custGeom>
              <a:avLst/>
              <a:gdLst>
                <a:gd name="T0" fmla="*/ 0 w 2581"/>
                <a:gd name="T1" fmla="*/ 1137 h 921"/>
                <a:gd name="T2" fmla="*/ 1405 w 2581"/>
                <a:gd name="T3" fmla="*/ 426 h 921"/>
                <a:gd name="T4" fmla="*/ 2002 w 2581"/>
                <a:gd name="T5" fmla="*/ 226 h 921"/>
                <a:gd name="T6" fmla="*/ 2541 w 2581"/>
                <a:gd name="T7" fmla="*/ 130 h 921"/>
                <a:gd name="T8" fmla="*/ 3032 w 2581"/>
                <a:gd name="T9" fmla="*/ 78 h 921"/>
                <a:gd name="T10" fmla="*/ 3581 w 2581"/>
                <a:gd name="T11" fmla="*/ 26 h 921"/>
                <a:gd name="T12" fmla="*/ 4072 w 2581"/>
                <a:gd name="T13" fmla="*/ 4 h 921"/>
                <a:gd name="T14" fmla="*/ 3995 w 2581"/>
                <a:gd name="T15" fmla="*/ 4 h 92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81" h="921">
                  <a:moveTo>
                    <a:pt x="0" y="921"/>
                  </a:moveTo>
                  <a:cubicBezTo>
                    <a:pt x="334" y="694"/>
                    <a:pt x="668" y="468"/>
                    <a:pt x="876" y="345"/>
                  </a:cubicBezTo>
                  <a:cubicBezTo>
                    <a:pt x="1084" y="222"/>
                    <a:pt x="1130" y="223"/>
                    <a:pt x="1248" y="183"/>
                  </a:cubicBezTo>
                  <a:cubicBezTo>
                    <a:pt x="1366" y="143"/>
                    <a:pt x="1477" y="125"/>
                    <a:pt x="1584" y="105"/>
                  </a:cubicBezTo>
                  <a:cubicBezTo>
                    <a:pt x="1691" y="85"/>
                    <a:pt x="1782" y="77"/>
                    <a:pt x="1890" y="63"/>
                  </a:cubicBezTo>
                  <a:cubicBezTo>
                    <a:pt x="1998" y="49"/>
                    <a:pt x="2124" y="31"/>
                    <a:pt x="2232" y="21"/>
                  </a:cubicBezTo>
                  <a:cubicBezTo>
                    <a:pt x="2340" y="11"/>
                    <a:pt x="2495" y="6"/>
                    <a:pt x="2538" y="3"/>
                  </a:cubicBezTo>
                  <a:cubicBezTo>
                    <a:pt x="2581" y="0"/>
                    <a:pt x="2498" y="3"/>
                    <a:pt x="2490" y="3"/>
                  </a:cubicBezTo>
                </a:path>
              </a:pathLst>
            </a:custGeom>
            <a:noFill/>
            <a:ln w="3810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nvGrpSpPr>
            <p:cNvPr id="51" name="Group 13"/>
            <p:cNvGrpSpPr>
              <a:grpSpLocks/>
            </p:cNvGrpSpPr>
            <p:nvPr/>
          </p:nvGrpSpPr>
          <p:grpSpPr bwMode="auto">
            <a:xfrm>
              <a:off x="2451" y="2124"/>
              <a:ext cx="1376" cy="439"/>
              <a:chOff x="2451" y="2124"/>
              <a:chExt cx="1376" cy="439"/>
            </a:xfrm>
          </p:grpSpPr>
          <p:sp>
            <p:nvSpPr>
              <p:cNvPr id="52" name="Text Box 14"/>
              <p:cNvSpPr txBox="1">
                <a:spLocks noChangeArrowheads="1"/>
              </p:cNvSpPr>
              <p:nvPr/>
            </p:nvSpPr>
            <p:spPr bwMode="auto">
              <a:xfrm>
                <a:off x="2451" y="2124"/>
                <a:ext cx="1376" cy="31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600" dirty="0">
                    <a:solidFill>
                      <a:srgbClr val="0000FF"/>
                    </a:solidFill>
                    <a:latin typeface="微软雅黑" pitchFamily="34" charset="-122"/>
                    <a:ea typeface="微软雅黑" pitchFamily="34" charset="-122"/>
                  </a:rPr>
                  <a:t>实际的拥塞控制</a:t>
                </a:r>
              </a:p>
            </p:txBody>
          </p:sp>
          <p:sp>
            <p:nvSpPr>
              <p:cNvPr id="53" name="Line 15"/>
              <p:cNvSpPr>
                <a:spLocks noChangeShapeType="1"/>
              </p:cNvSpPr>
              <p:nvPr/>
            </p:nvSpPr>
            <p:spPr bwMode="auto">
              <a:xfrm>
                <a:off x="3016" y="2387"/>
                <a:ext cx="100" cy="17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grpSp>
      <p:sp>
        <p:nvSpPr>
          <p:cNvPr id="54" name="Line 16"/>
          <p:cNvSpPr>
            <a:spLocks noChangeShapeType="1"/>
          </p:cNvSpPr>
          <p:nvPr/>
        </p:nvSpPr>
        <p:spPr bwMode="auto">
          <a:xfrm>
            <a:off x="1727121" y="3574888"/>
            <a:ext cx="5174147" cy="0"/>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5" name="Text Box 17"/>
          <p:cNvSpPr txBox="1">
            <a:spLocks noChangeArrowheads="1"/>
          </p:cNvSpPr>
          <p:nvPr/>
        </p:nvSpPr>
        <p:spPr bwMode="auto">
          <a:xfrm>
            <a:off x="1442736" y="3422881"/>
            <a:ext cx="31130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1600" dirty="0">
                <a:solidFill>
                  <a:srgbClr val="333399"/>
                </a:solidFill>
                <a:latin typeface="微软雅黑" pitchFamily="34" charset="-122"/>
                <a:ea typeface="微软雅黑" pitchFamily="34" charset="-122"/>
              </a:rPr>
              <a:t>0</a:t>
            </a:r>
          </a:p>
        </p:txBody>
      </p:sp>
      <p:grpSp>
        <p:nvGrpSpPr>
          <p:cNvPr id="56" name="Group 18"/>
          <p:cNvGrpSpPr>
            <a:grpSpLocks/>
          </p:cNvGrpSpPr>
          <p:nvPr/>
        </p:nvGrpSpPr>
        <p:grpSpPr bwMode="auto">
          <a:xfrm>
            <a:off x="4906315" y="2847212"/>
            <a:ext cx="2651294" cy="792941"/>
            <a:chOff x="3349" y="2890"/>
            <a:chExt cx="2250" cy="729"/>
          </a:xfrm>
        </p:grpSpPr>
        <p:grpSp>
          <p:nvGrpSpPr>
            <p:cNvPr id="57" name="Group 19"/>
            <p:cNvGrpSpPr>
              <a:grpSpLocks/>
            </p:cNvGrpSpPr>
            <p:nvPr/>
          </p:nvGrpSpPr>
          <p:grpSpPr bwMode="auto">
            <a:xfrm>
              <a:off x="3477" y="2890"/>
              <a:ext cx="2122" cy="600"/>
              <a:chOff x="3477" y="2890"/>
              <a:chExt cx="2122" cy="600"/>
            </a:xfrm>
          </p:grpSpPr>
          <p:sp>
            <p:nvSpPr>
              <p:cNvPr id="59" name="Text Box 20"/>
              <p:cNvSpPr txBox="1">
                <a:spLocks noChangeArrowheads="1"/>
              </p:cNvSpPr>
              <p:nvPr/>
            </p:nvSpPr>
            <p:spPr bwMode="auto">
              <a:xfrm>
                <a:off x="3881" y="2890"/>
                <a:ext cx="1718"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600" dirty="0">
                    <a:solidFill>
                      <a:srgbClr val="C00000"/>
                    </a:solidFill>
                    <a:latin typeface="微软雅黑" pitchFamily="34" charset="-122"/>
                    <a:ea typeface="微软雅黑" pitchFamily="34" charset="-122"/>
                  </a:rPr>
                  <a:t>死锁（吞吐量 </a:t>
                </a:r>
                <a:r>
                  <a:rPr lang="en-US" altLang="zh-CN" sz="1600" dirty="0">
                    <a:solidFill>
                      <a:srgbClr val="C00000"/>
                    </a:solidFill>
                    <a:latin typeface="微软雅黑" pitchFamily="34" charset="-122"/>
                    <a:ea typeface="微软雅黑" pitchFamily="34" charset="-122"/>
                  </a:rPr>
                  <a:t>= 0</a:t>
                </a:r>
                <a:r>
                  <a:rPr lang="zh-CN" altLang="en-US" sz="1600" dirty="0">
                    <a:solidFill>
                      <a:srgbClr val="C00000"/>
                    </a:solidFill>
                    <a:latin typeface="微软雅黑" pitchFamily="34" charset="-122"/>
                    <a:ea typeface="微软雅黑" pitchFamily="34" charset="-122"/>
                  </a:rPr>
                  <a:t>）</a:t>
                </a:r>
              </a:p>
            </p:txBody>
          </p:sp>
          <p:sp>
            <p:nvSpPr>
              <p:cNvPr id="60" name="Line 21"/>
              <p:cNvSpPr>
                <a:spLocks noChangeShapeType="1"/>
              </p:cNvSpPr>
              <p:nvPr/>
            </p:nvSpPr>
            <p:spPr bwMode="auto">
              <a:xfrm flipH="1">
                <a:off x="3477" y="3104"/>
                <a:ext cx="457" cy="386"/>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sp>
          <p:nvSpPr>
            <p:cNvPr id="58" name="Oval 22"/>
            <p:cNvSpPr>
              <a:spLocks noChangeArrowheads="1"/>
            </p:cNvSpPr>
            <p:nvPr/>
          </p:nvSpPr>
          <p:spPr bwMode="auto">
            <a:xfrm>
              <a:off x="3349" y="3485"/>
              <a:ext cx="141" cy="134"/>
            </a:xfrm>
            <a:prstGeom prst="ellipse">
              <a:avLst/>
            </a:prstGeom>
            <a:solidFill>
              <a:srgbClr val="C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spTree>
    <p:extLst>
      <p:ext uri="{BB962C8B-B14F-4D97-AF65-F5344CB8AC3E}">
        <p14:creationId xmlns:p14="http://schemas.microsoft.com/office/powerpoint/2010/main" val="138510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42"/>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43"/>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3000" fill="hold" nodeType="clickEffect">
                                  <p:stCondLst>
                                    <p:cond delay="0"/>
                                  </p:stCondLst>
                                  <p:childTnLst>
                                    <p:anim calcmode="discrete" valueType="str">
                                      <p:cBhvr>
                                        <p:cTn id="14" dur="1000" fill="hold"/>
                                        <p:tgtEl>
                                          <p:spTgt spid="4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88024-5BB2-9539-8F2A-4B94A492FAFE}"/>
            </a:ext>
          </a:extLst>
        </p:cNvPr>
        <p:cNvGrpSpPr/>
        <p:nvPr/>
      </p:nvGrpSpPr>
      <p:grpSpPr>
        <a:xfrm>
          <a:off x="0" y="0"/>
          <a:ext cx="0" cy="0"/>
          <a:chOff x="0" y="0"/>
          <a:chExt cx="0" cy="0"/>
        </a:xfrm>
      </p:grpSpPr>
      <p:sp>
        <p:nvSpPr>
          <p:cNvPr id="40" name="圆角矩形 39">
            <a:extLst>
              <a:ext uri="{FF2B5EF4-FFF2-40B4-BE49-F238E27FC236}">
                <a16:creationId xmlns:a16="http://schemas.microsoft.com/office/drawing/2014/main" id="{24B337BD-A517-CCCA-EA59-1B81BF1F2046}"/>
              </a:ext>
            </a:extLst>
          </p:cNvPr>
          <p:cNvSpPr/>
          <p:nvPr/>
        </p:nvSpPr>
        <p:spPr>
          <a:xfrm>
            <a:off x="556963" y="1012072"/>
            <a:ext cx="8048776"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Line 24">
            <a:extLst>
              <a:ext uri="{FF2B5EF4-FFF2-40B4-BE49-F238E27FC236}">
                <a16:creationId xmlns:a16="http://schemas.microsoft.com/office/drawing/2014/main" id="{7F74BA60-2015-C8E4-3557-6DB8A03071F2}"/>
              </a:ext>
            </a:extLst>
          </p:cNvPr>
          <p:cNvSpPr>
            <a:spLocks noChangeShapeType="1"/>
          </p:cNvSpPr>
          <p:nvPr/>
        </p:nvSpPr>
        <p:spPr bwMode="auto">
          <a:xfrm>
            <a:off x="4006055" y="3763062"/>
            <a:ext cx="999243"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63" name="Line 25">
            <a:extLst>
              <a:ext uri="{FF2B5EF4-FFF2-40B4-BE49-F238E27FC236}">
                <a16:creationId xmlns:a16="http://schemas.microsoft.com/office/drawing/2014/main" id="{63E053D0-9F4C-753E-CC89-3DB760122951}"/>
              </a:ext>
            </a:extLst>
          </p:cNvPr>
          <p:cNvSpPr>
            <a:spLocks noChangeShapeType="1"/>
          </p:cNvSpPr>
          <p:nvPr/>
        </p:nvSpPr>
        <p:spPr bwMode="auto">
          <a:xfrm>
            <a:off x="2884264" y="3763062"/>
            <a:ext cx="1111186"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69" name="Line 29">
            <a:extLst>
              <a:ext uri="{FF2B5EF4-FFF2-40B4-BE49-F238E27FC236}">
                <a16:creationId xmlns:a16="http://schemas.microsoft.com/office/drawing/2014/main" id="{D69EE0CF-E886-1FD0-A6C3-4B416F771554}"/>
              </a:ext>
            </a:extLst>
          </p:cNvPr>
          <p:cNvSpPr>
            <a:spLocks noChangeShapeType="1"/>
          </p:cNvSpPr>
          <p:nvPr/>
        </p:nvSpPr>
        <p:spPr bwMode="auto">
          <a:xfrm>
            <a:off x="3995450" y="2538301"/>
            <a:ext cx="0" cy="1031149"/>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grpSp>
        <p:nvGrpSpPr>
          <p:cNvPr id="2" name="组合 1">
            <a:extLst>
              <a:ext uri="{FF2B5EF4-FFF2-40B4-BE49-F238E27FC236}">
                <a16:creationId xmlns:a16="http://schemas.microsoft.com/office/drawing/2014/main" id="{856059C7-EA6C-7B15-242C-8C62BF78AD39}"/>
              </a:ext>
            </a:extLst>
          </p:cNvPr>
          <p:cNvGrpSpPr/>
          <p:nvPr/>
        </p:nvGrpSpPr>
        <p:grpSpPr>
          <a:xfrm>
            <a:off x="1727122" y="2465424"/>
            <a:ext cx="4605001" cy="1104026"/>
            <a:chOff x="1727122" y="2465424"/>
            <a:chExt cx="4605001" cy="1104026"/>
          </a:xfrm>
        </p:grpSpPr>
        <p:sp>
          <p:nvSpPr>
            <p:cNvPr id="68" name="Freeform 28">
              <a:extLst>
                <a:ext uri="{FF2B5EF4-FFF2-40B4-BE49-F238E27FC236}">
                  <a16:creationId xmlns:a16="http://schemas.microsoft.com/office/drawing/2014/main" id="{7E5FAB8D-6D6B-A36A-8D21-90E4DAB233BF}"/>
                </a:ext>
              </a:extLst>
            </p:cNvPr>
            <p:cNvSpPr>
              <a:spLocks/>
            </p:cNvSpPr>
            <p:nvPr/>
          </p:nvSpPr>
          <p:spPr bwMode="auto">
            <a:xfrm>
              <a:off x="1727122" y="2520897"/>
              <a:ext cx="3267571" cy="1048553"/>
            </a:xfrm>
            <a:custGeom>
              <a:avLst/>
              <a:gdLst>
                <a:gd name="T0" fmla="*/ 0 w 1728"/>
                <a:gd name="T1" fmla="*/ 964 h 781"/>
                <a:gd name="T2" fmla="*/ 1204 w 1728"/>
                <a:gd name="T3" fmla="*/ 186 h 781"/>
                <a:gd name="T4" fmla="*/ 1733 w 1728"/>
                <a:gd name="T5" fmla="*/ 23 h 781"/>
                <a:gd name="T6" fmla="*/ 2109 w 1728"/>
                <a:gd name="T7" fmla="*/ 46 h 781"/>
                <a:gd name="T8" fmla="*/ 2388 w 1728"/>
                <a:gd name="T9" fmla="*/ 216 h 781"/>
                <a:gd name="T10" fmla="*/ 2571 w 1728"/>
                <a:gd name="T11" fmla="*/ 453 h 781"/>
                <a:gd name="T12" fmla="*/ 2706 w 1728"/>
                <a:gd name="T13" fmla="*/ 727 h 781"/>
                <a:gd name="T14" fmla="*/ 2773 w 1728"/>
                <a:gd name="T15" fmla="*/ 964 h 7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28" h="781">
                  <a:moveTo>
                    <a:pt x="0" y="781"/>
                  </a:moveTo>
                  <a:cubicBezTo>
                    <a:pt x="285" y="529"/>
                    <a:pt x="570" y="278"/>
                    <a:pt x="750" y="151"/>
                  </a:cubicBezTo>
                  <a:cubicBezTo>
                    <a:pt x="930" y="24"/>
                    <a:pt x="986" y="38"/>
                    <a:pt x="1080" y="19"/>
                  </a:cubicBezTo>
                  <a:cubicBezTo>
                    <a:pt x="1174" y="0"/>
                    <a:pt x="1246" y="11"/>
                    <a:pt x="1314" y="37"/>
                  </a:cubicBezTo>
                  <a:cubicBezTo>
                    <a:pt x="1382" y="63"/>
                    <a:pt x="1440" y="120"/>
                    <a:pt x="1488" y="175"/>
                  </a:cubicBezTo>
                  <a:cubicBezTo>
                    <a:pt x="1536" y="230"/>
                    <a:pt x="1569" y="298"/>
                    <a:pt x="1602" y="367"/>
                  </a:cubicBezTo>
                  <a:cubicBezTo>
                    <a:pt x="1635" y="436"/>
                    <a:pt x="1665" y="520"/>
                    <a:pt x="1686" y="589"/>
                  </a:cubicBezTo>
                  <a:cubicBezTo>
                    <a:pt x="1707" y="658"/>
                    <a:pt x="1717" y="719"/>
                    <a:pt x="1728" y="781"/>
                  </a:cubicBezTo>
                </a:path>
              </a:pathLst>
            </a:custGeom>
            <a:noFill/>
            <a:ln w="38100" cmpd="sng">
              <a:solidFill>
                <a:srgbClr val="00CC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70" name="Text Box 30">
              <a:extLst>
                <a:ext uri="{FF2B5EF4-FFF2-40B4-BE49-F238E27FC236}">
                  <a16:creationId xmlns:a16="http://schemas.microsoft.com/office/drawing/2014/main" id="{30230EBF-8164-4CED-944C-2C3B7222A54D}"/>
                </a:ext>
              </a:extLst>
            </p:cNvPr>
            <p:cNvSpPr txBox="1">
              <a:spLocks noChangeArrowheads="1"/>
            </p:cNvSpPr>
            <p:nvPr/>
          </p:nvSpPr>
          <p:spPr bwMode="auto">
            <a:xfrm>
              <a:off x="5121955" y="2465424"/>
              <a:ext cx="1210168" cy="338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600" dirty="0">
                  <a:solidFill>
                    <a:srgbClr val="000066"/>
                  </a:solidFill>
                  <a:latin typeface="微软雅黑" pitchFamily="34" charset="-122"/>
                  <a:ea typeface="微软雅黑" pitchFamily="34" charset="-122"/>
                </a:rPr>
                <a:t>无拥塞控制</a:t>
              </a:r>
            </a:p>
          </p:txBody>
        </p:sp>
        <p:sp>
          <p:nvSpPr>
            <p:cNvPr id="71" name="Line 31">
              <a:extLst>
                <a:ext uri="{FF2B5EF4-FFF2-40B4-BE49-F238E27FC236}">
                  <a16:creationId xmlns:a16="http://schemas.microsoft.com/office/drawing/2014/main" id="{48D5E9A3-90F8-9C4A-1C35-F78812180EFC}"/>
                </a:ext>
              </a:extLst>
            </p:cNvPr>
            <p:cNvSpPr>
              <a:spLocks noChangeShapeType="1"/>
            </p:cNvSpPr>
            <p:nvPr/>
          </p:nvSpPr>
          <p:spPr bwMode="auto">
            <a:xfrm flipH="1">
              <a:off x="4642366" y="2699282"/>
              <a:ext cx="533794" cy="16098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grpSp>
      <p:sp>
        <p:nvSpPr>
          <p:cNvPr id="72" name="Line 32">
            <a:extLst>
              <a:ext uri="{FF2B5EF4-FFF2-40B4-BE49-F238E27FC236}">
                <a16:creationId xmlns:a16="http://schemas.microsoft.com/office/drawing/2014/main" id="{1599BC99-5944-99F6-813B-5CAE78423652}"/>
              </a:ext>
            </a:extLst>
          </p:cNvPr>
          <p:cNvSpPr>
            <a:spLocks noChangeShapeType="1"/>
          </p:cNvSpPr>
          <p:nvPr/>
        </p:nvSpPr>
        <p:spPr bwMode="auto">
          <a:xfrm>
            <a:off x="2867767" y="2796088"/>
            <a:ext cx="0" cy="775537"/>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73" name="Line 33">
            <a:extLst>
              <a:ext uri="{FF2B5EF4-FFF2-40B4-BE49-F238E27FC236}">
                <a16:creationId xmlns:a16="http://schemas.microsoft.com/office/drawing/2014/main" id="{0EC363A4-A125-B7BF-1A0B-84302E6B31DD}"/>
              </a:ext>
            </a:extLst>
          </p:cNvPr>
          <p:cNvSpPr>
            <a:spLocks noChangeShapeType="1"/>
          </p:cNvSpPr>
          <p:nvPr/>
        </p:nvSpPr>
        <p:spPr bwMode="auto">
          <a:xfrm>
            <a:off x="3995450" y="3569450"/>
            <a:ext cx="0" cy="2577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74" name="Line 34">
            <a:extLst>
              <a:ext uri="{FF2B5EF4-FFF2-40B4-BE49-F238E27FC236}">
                <a16:creationId xmlns:a16="http://schemas.microsoft.com/office/drawing/2014/main" id="{7DE3DDF0-0D57-39C2-0F6B-1B353462CFC8}"/>
              </a:ext>
            </a:extLst>
          </p:cNvPr>
          <p:cNvSpPr>
            <a:spLocks noChangeShapeType="1"/>
          </p:cNvSpPr>
          <p:nvPr/>
        </p:nvSpPr>
        <p:spPr bwMode="auto">
          <a:xfrm>
            <a:off x="4994693" y="3569450"/>
            <a:ext cx="0" cy="2577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75" name="Line 35">
            <a:extLst>
              <a:ext uri="{FF2B5EF4-FFF2-40B4-BE49-F238E27FC236}">
                <a16:creationId xmlns:a16="http://schemas.microsoft.com/office/drawing/2014/main" id="{85028E55-6B37-EFE4-34F5-A78D1DB31026}"/>
              </a:ext>
            </a:extLst>
          </p:cNvPr>
          <p:cNvSpPr>
            <a:spLocks noChangeShapeType="1"/>
          </p:cNvSpPr>
          <p:nvPr/>
        </p:nvSpPr>
        <p:spPr bwMode="auto">
          <a:xfrm>
            <a:off x="2867767" y="3569450"/>
            <a:ext cx="0" cy="2577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66" name="Text Box 36">
            <a:extLst>
              <a:ext uri="{FF2B5EF4-FFF2-40B4-BE49-F238E27FC236}">
                <a16:creationId xmlns:a16="http://schemas.microsoft.com/office/drawing/2014/main" id="{ADD996CE-DEF7-048C-80FA-776E64DEFB92}"/>
              </a:ext>
            </a:extLst>
          </p:cNvPr>
          <p:cNvSpPr txBox="1">
            <a:spLocks noChangeArrowheads="1"/>
          </p:cNvSpPr>
          <p:nvPr/>
        </p:nvSpPr>
        <p:spPr bwMode="auto">
          <a:xfrm>
            <a:off x="4198127" y="3602081"/>
            <a:ext cx="543220" cy="307822"/>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solidFill>
                  <a:srgbClr val="0000FF"/>
                </a:solidFill>
                <a:latin typeface="微软雅黑" pitchFamily="34" charset="-122"/>
                <a:ea typeface="微软雅黑" pitchFamily="34" charset="-122"/>
              </a:rPr>
              <a:t>拥塞</a:t>
            </a:r>
          </a:p>
        </p:txBody>
      </p:sp>
      <p:sp>
        <p:nvSpPr>
          <p:cNvPr id="67" name="Text Box 37">
            <a:extLst>
              <a:ext uri="{FF2B5EF4-FFF2-40B4-BE49-F238E27FC236}">
                <a16:creationId xmlns:a16="http://schemas.microsoft.com/office/drawing/2014/main" id="{44F3EFA7-21FA-7C33-6C5B-4F3365694C5A}"/>
              </a:ext>
            </a:extLst>
          </p:cNvPr>
          <p:cNvSpPr txBox="1">
            <a:spLocks noChangeArrowheads="1"/>
          </p:cNvSpPr>
          <p:nvPr/>
        </p:nvSpPr>
        <p:spPr bwMode="auto">
          <a:xfrm>
            <a:off x="3165890" y="3634712"/>
            <a:ext cx="543220" cy="523189"/>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eaLnBrk="1" hangingPunct="1"/>
            <a:r>
              <a:rPr lang="zh-CN" altLang="en-US" sz="1400" dirty="0">
                <a:latin typeface="微软雅黑" pitchFamily="34" charset="-122"/>
                <a:ea typeface="微软雅黑" pitchFamily="34" charset="-122"/>
              </a:rPr>
              <a:t>轻度</a:t>
            </a:r>
          </a:p>
          <a:p>
            <a:pPr algn="ctr" eaLnBrk="1" hangingPunct="1"/>
            <a:r>
              <a:rPr lang="zh-CN" altLang="en-US" sz="1400" dirty="0">
                <a:latin typeface="微软雅黑" pitchFamily="34" charset="-122"/>
                <a:ea typeface="微软雅黑" pitchFamily="34" charset="-122"/>
              </a:rPr>
              <a:t>拥塞</a:t>
            </a:r>
          </a:p>
        </p:txBody>
      </p:sp>
      <p:sp>
        <p:nvSpPr>
          <p:cNvPr id="38" name="AutoShape 5">
            <a:extLst>
              <a:ext uri="{FF2B5EF4-FFF2-40B4-BE49-F238E27FC236}">
                <a16:creationId xmlns:a16="http://schemas.microsoft.com/office/drawing/2014/main" id="{1D979DDD-6DC4-1F18-9364-04CA872F736D}"/>
              </a:ext>
            </a:extLst>
          </p:cNvPr>
          <p:cNvSpPr>
            <a:spLocks noChangeArrowheads="1"/>
          </p:cNvSpPr>
          <p:nvPr/>
        </p:nvSpPr>
        <p:spPr bwMode="auto">
          <a:xfrm>
            <a:off x="556963" y="618782"/>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a:extLst>
              <a:ext uri="{FF2B5EF4-FFF2-40B4-BE49-F238E27FC236}">
                <a16:creationId xmlns:a16="http://schemas.microsoft.com/office/drawing/2014/main" id="{B3EFEE83-0877-DF61-E9A4-9EE782FA89E3}"/>
              </a:ext>
            </a:extLst>
          </p:cNvPr>
          <p:cNvSpPr>
            <a:spLocks noChangeArrowheads="1"/>
          </p:cNvSpPr>
          <p:nvPr/>
        </p:nvSpPr>
        <p:spPr bwMode="auto">
          <a:xfrm>
            <a:off x="3278387" y="595692"/>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拥塞控制所起的作用</a:t>
            </a:r>
          </a:p>
        </p:txBody>
      </p:sp>
      <p:sp>
        <p:nvSpPr>
          <p:cNvPr id="41" name="Line 3">
            <a:extLst>
              <a:ext uri="{FF2B5EF4-FFF2-40B4-BE49-F238E27FC236}">
                <a16:creationId xmlns:a16="http://schemas.microsoft.com/office/drawing/2014/main" id="{546AA7E0-4BA6-1506-196D-FFE529839A4E}"/>
              </a:ext>
            </a:extLst>
          </p:cNvPr>
          <p:cNvSpPr>
            <a:spLocks noChangeShapeType="1"/>
          </p:cNvSpPr>
          <p:nvPr/>
        </p:nvSpPr>
        <p:spPr bwMode="auto">
          <a:xfrm rot="16200000">
            <a:off x="534447" y="2382214"/>
            <a:ext cx="2385349" cy="0"/>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2" name="Text Box 4">
            <a:extLst>
              <a:ext uri="{FF2B5EF4-FFF2-40B4-BE49-F238E27FC236}">
                <a16:creationId xmlns:a16="http://schemas.microsoft.com/office/drawing/2014/main" id="{0414D219-1080-216F-CB67-2208E6BA8353}"/>
              </a:ext>
            </a:extLst>
          </p:cNvPr>
          <p:cNvSpPr txBox="1">
            <a:spLocks noChangeArrowheads="1"/>
          </p:cNvSpPr>
          <p:nvPr/>
        </p:nvSpPr>
        <p:spPr bwMode="auto">
          <a:xfrm>
            <a:off x="6275535" y="3599906"/>
            <a:ext cx="108234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提供的负载</a:t>
            </a:r>
          </a:p>
        </p:txBody>
      </p:sp>
      <p:sp>
        <p:nvSpPr>
          <p:cNvPr id="43" name="Text Box 5">
            <a:extLst>
              <a:ext uri="{FF2B5EF4-FFF2-40B4-BE49-F238E27FC236}">
                <a16:creationId xmlns:a16="http://schemas.microsoft.com/office/drawing/2014/main" id="{2D5B6FE8-8EA4-2B53-FD76-5D69EF5E6B7F}"/>
              </a:ext>
            </a:extLst>
          </p:cNvPr>
          <p:cNvSpPr txBox="1">
            <a:spLocks noChangeArrowheads="1"/>
          </p:cNvSpPr>
          <p:nvPr/>
        </p:nvSpPr>
        <p:spPr bwMode="auto">
          <a:xfrm>
            <a:off x="1727121" y="1116496"/>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吞吐量</a:t>
            </a:r>
          </a:p>
        </p:txBody>
      </p:sp>
      <p:grpSp>
        <p:nvGrpSpPr>
          <p:cNvPr id="44" name="Group 6">
            <a:extLst>
              <a:ext uri="{FF2B5EF4-FFF2-40B4-BE49-F238E27FC236}">
                <a16:creationId xmlns:a16="http://schemas.microsoft.com/office/drawing/2014/main" id="{E618243B-20BF-A7AA-2C13-8074CC502432}"/>
              </a:ext>
            </a:extLst>
          </p:cNvPr>
          <p:cNvGrpSpPr>
            <a:grpSpLocks/>
          </p:cNvGrpSpPr>
          <p:nvPr/>
        </p:nvGrpSpPr>
        <p:grpSpPr bwMode="auto">
          <a:xfrm>
            <a:off x="1727121" y="1622449"/>
            <a:ext cx="4810036" cy="1952440"/>
            <a:chOff x="651" y="1764"/>
            <a:chExt cx="4082" cy="1795"/>
          </a:xfrm>
        </p:grpSpPr>
        <p:sp>
          <p:nvSpPr>
            <p:cNvPr id="45" name="Line 7">
              <a:extLst>
                <a:ext uri="{FF2B5EF4-FFF2-40B4-BE49-F238E27FC236}">
                  <a16:creationId xmlns:a16="http://schemas.microsoft.com/office/drawing/2014/main" id="{D9D1483E-8ACD-511E-0854-EF9D5C16B11F}"/>
                </a:ext>
              </a:extLst>
            </p:cNvPr>
            <p:cNvSpPr>
              <a:spLocks noChangeShapeType="1"/>
            </p:cNvSpPr>
            <p:nvPr/>
          </p:nvSpPr>
          <p:spPr bwMode="auto">
            <a:xfrm flipV="1">
              <a:off x="651" y="2077"/>
              <a:ext cx="1925" cy="1482"/>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6" name="Line 8">
              <a:extLst>
                <a:ext uri="{FF2B5EF4-FFF2-40B4-BE49-F238E27FC236}">
                  <a16:creationId xmlns:a16="http://schemas.microsoft.com/office/drawing/2014/main" id="{B11CB765-67BB-82AF-F505-53DD9EB7DBD7}"/>
                </a:ext>
              </a:extLst>
            </p:cNvPr>
            <p:cNvSpPr>
              <a:spLocks noChangeShapeType="1"/>
            </p:cNvSpPr>
            <p:nvPr/>
          </p:nvSpPr>
          <p:spPr bwMode="auto">
            <a:xfrm>
              <a:off x="2576" y="2077"/>
              <a:ext cx="2157" cy="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7" name="Text Box 9">
              <a:extLst>
                <a:ext uri="{FF2B5EF4-FFF2-40B4-BE49-F238E27FC236}">
                  <a16:creationId xmlns:a16="http://schemas.microsoft.com/office/drawing/2014/main" id="{3B63EB91-B81C-878A-4772-91BC9F5B06BE}"/>
                </a:ext>
              </a:extLst>
            </p:cNvPr>
            <p:cNvSpPr txBox="1">
              <a:spLocks noChangeArrowheads="1"/>
            </p:cNvSpPr>
            <p:nvPr/>
          </p:nvSpPr>
          <p:spPr bwMode="auto">
            <a:xfrm>
              <a:off x="2901" y="1764"/>
              <a:ext cx="1376"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600" dirty="0">
                  <a:solidFill>
                    <a:srgbClr val="CC00CC"/>
                  </a:solidFill>
                  <a:latin typeface="微软雅黑" pitchFamily="34" charset="-122"/>
                  <a:ea typeface="微软雅黑" pitchFamily="34" charset="-122"/>
                </a:rPr>
                <a:t>理想的拥塞控制</a:t>
              </a:r>
            </a:p>
          </p:txBody>
        </p:sp>
      </p:grpSp>
      <p:grpSp>
        <p:nvGrpSpPr>
          <p:cNvPr id="49" name="Group 11">
            <a:extLst>
              <a:ext uri="{FF2B5EF4-FFF2-40B4-BE49-F238E27FC236}">
                <a16:creationId xmlns:a16="http://schemas.microsoft.com/office/drawing/2014/main" id="{C135EBD4-14E1-D3E4-0E9F-FCAFFD197D93}"/>
              </a:ext>
            </a:extLst>
          </p:cNvPr>
          <p:cNvGrpSpPr>
            <a:grpSpLocks/>
          </p:cNvGrpSpPr>
          <p:nvPr/>
        </p:nvGrpSpPr>
        <p:grpSpPr bwMode="auto">
          <a:xfrm>
            <a:off x="1727121" y="2014024"/>
            <a:ext cx="4879559" cy="1560864"/>
            <a:chOff x="651" y="2124"/>
            <a:chExt cx="4141" cy="1435"/>
          </a:xfrm>
        </p:grpSpPr>
        <p:sp>
          <p:nvSpPr>
            <p:cNvPr id="50" name="Freeform 12">
              <a:extLst>
                <a:ext uri="{FF2B5EF4-FFF2-40B4-BE49-F238E27FC236}">
                  <a16:creationId xmlns:a16="http://schemas.microsoft.com/office/drawing/2014/main" id="{C896A028-BF86-EB3C-47DA-1D4DEEDE3B8C}"/>
                </a:ext>
              </a:extLst>
            </p:cNvPr>
            <p:cNvSpPr>
              <a:spLocks/>
            </p:cNvSpPr>
            <p:nvPr/>
          </p:nvSpPr>
          <p:spPr bwMode="auto">
            <a:xfrm>
              <a:off x="651" y="2422"/>
              <a:ext cx="4141" cy="1137"/>
            </a:xfrm>
            <a:custGeom>
              <a:avLst/>
              <a:gdLst>
                <a:gd name="T0" fmla="*/ 0 w 2581"/>
                <a:gd name="T1" fmla="*/ 1137 h 921"/>
                <a:gd name="T2" fmla="*/ 1405 w 2581"/>
                <a:gd name="T3" fmla="*/ 426 h 921"/>
                <a:gd name="T4" fmla="*/ 2002 w 2581"/>
                <a:gd name="T5" fmla="*/ 226 h 921"/>
                <a:gd name="T6" fmla="*/ 2541 w 2581"/>
                <a:gd name="T7" fmla="*/ 130 h 921"/>
                <a:gd name="T8" fmla="*/ 3032 w 2581"/>
                <a:gd name="T9" fmla="*/ 78 h 921"/>
                <a:gd name="T10" fmla="*/ 3581 w 2581"/>
                <a:gd name="T11" fmla="*/ 26 h 921"/>
                <a:gd name="T12" fmla="*/ 4072 w 2581"/>
                <a:gd name="T13" fmla="*/ 4 h 921"/>
                <a:gd name="T14" fmla="*/ 3995 w 2581"/>
                <a:gd name="T15" fmla="*/ 4 h 92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81" h="921">
                  <a:moveTo>
                    <a:pt x="0" y="921"/>
                  </a:moveTo>
                  <a:cubicBezTo>
                    <a:pt x="334" y="694"/>
                    <a:pt x="668" y="468"/>
                    <a:pt x="876" y="345"/>
                  </a:cubicBezTo>
                  <a:cubicBezTo>
                    <a:pt x="1084" y="222"/>
                    <a:pt x="1130" y="223"/>
                    <a:pt x="1248" y="183"/>
                  </a:cubicBezTo>
                  <a:cubicBezTo>
                    <a:pt x="1366" y="143"/>
                    <a:pt x="1477" y="125"/>
                    <a:pt x="1584" y="105"/>
                  </a:cubicBezTo>
                  <a:cubicBezTo>
                    <a:pt x="1691" y="85"/>
                    <a:pt x="1782" y="77"/>
                    <a:pt x="1890" y="63"/>
                  </a:cubicBezTo>
                  <a:cubicBezTo>
                    <a:pt x="1998" y="49"/>
                    <a:pt x="2124" y="31"/>
                    <a:pt x="2232" y="21"/>
                  </a:cubicBezTo>
                  <a:cubicBezTo>
                    <a:pt x="2340" y="11"/>
                    <a:pt x="2495" y="6"/>
                    <a:pt x="2538" y="3"/>
                  </a:cubicBezTo>
                  <a:cubicBezTo>
                    <a:pt x="2581" y="0"/>
                    <a:pt x="2498" y="3"/>
                    <a:pt x="2490" y="3"/>
                  </a:cubicBezTo>
                </a:path>
              </a:pathLst>
            </a:custGeom>
            <a:noFill/>
            <a:ln w="3810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nvGrpSpPr>
            <p:cNvPr id="51" name="Group 13">
              <a:extLst>
                <a:ext uri="{FF2B5EF4-FFF2-40B4-BE49-F238E27FC236}">
                  <a16:creationId xmlns:a16="http://schemas.microsoft.com/office/drawing/2014/main" id="{0D533C11-5212-E1BA-BA78-04CE2B2256A0}"/>
                </a:ext>
              </a:extLst>
            </p:cNvPr>
            <p:cNvGrpSpPr>
              <a:grpSpLocks/>
            </p:cNvGrpSpPr>
            <p:nvPr/>
          </p:nvGrpSpPr>
          <p:grpSpPr bwMode="auto">
            <a:xfrm>
              <a:off x="2451" y="2124"/>
              <a:ext cx="1376" cy="439"/>
              <a:chOff x="2451" y="2124"/>
              <a:chExt cx="1376" cy="439"/>
            </a:xfrm>
          </p:grpSpPr>
          <p:sp>
            <p:nvSpPr>
              <p:cNvPr id="52" name="Text Box 14">
                <a:extLst>
                  <a:ext uri="{FF2B5EF4-FFF2-40B4-BE49-F238E27FC236}">
                    <a16:creationId xmlns:a16="http://schemas.microsoft.com/office/drawing/2014/main" id="{D0ED1319-B6B4-2EF5-DFB0-DD2A0C9464F3}"/>
                  </a:ext>
                </a:extLst>
              </p:cNvPr>
              <p:cNvSpPr txBox="1">
                <a:spLocks noChangeArrowheads="1"/>
              </p:cNvSpPr>
              <p:nvPr/>
            </p:nvSpPr>
            <p:spPr bwMode="auto">
              <a:xfrm>
                <a:off x="2451" y="2124"/>
                <a:ext cx="1376" cy="31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600" dirty="0">
                    <a:solidFill>
                      <a:srgbClr val="0000FF"/>
                    </a:solidFill>
                    <a:latin typeface="微软雅黑" pitchFamily="34" charset="-122"/>
                    <a:ea typeface="微软雅黑" pitchFamily="34" charset="-122"/>
                  </a:rPr>
                  <a:t>实际的拥塞控制</a:t>
                </a:r>
              </a:p>
            </p:txBody>
          </p:sp>
          <p:sp>
            <p:nvSpPr>
              <p:cNvPr id="53" name="Line 15">
                <a:extLst>
                  <a:ext uri="{FF2B5EF4-FFF2-40B4-BE49-F238E27FC236}">
                    <a16:creationId xmlns:a16="http://schemas.microsoft.com/office/drawing/2014/main" id="{C8A6274F-D137-F9F8-21B2-08EE6A075FE7}"/>
                  </a:ext>
                </a:extLst>
              </p:cNvPr>
              <p:cNvSpPr>
                <a:spLocks noChangeShapeType="1"/>
              </p:cNvSpPr>
              <p:nvPr/>
            </p:nvSpPr>
            <p:spPr bwMode="auto">
              <a:xfrm>
                <a:off x="3016" y="2387"/>
                <a:ext cx="100" cy="17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grpSp>
      <p:sp>
        <p:nvSpPr>
          <p:cNvPr id="54" name="Line 16">
            <a:extLst>
              <a:ext uri="{FF2B5EF4-FFF2-40B4-BE49-F238E27FC236}">
                <a16:creationId xmlns:a16="http://schemas.microsoft.com/office/drawing/2014/main" id="{2002BA5B-C7EF-FDC9-A58C-B308A380388A}"/>
              </a:ext>
            </a:extLst>
          </p:cNvPr>
          <p:cNvSpPr>
            <a:spLocks noChangeShapeType="1"/>
          </p:cNvSpPr>
          <p:nvPr/>
        </p:nvSpPr>
        <p:spPr bwMode="auto">
          <a:xfrm>
            <a:off x="1727121" y="3574888"/>
            <a:ext cx="5174147" cy="0"/>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5" name="Text Box 17">
            <a:extLst>
              <a:ext uri="{FF2B5EF4-FFF2-40B4-BE49-F238E27FC236}">
                <a16:creationId xmlns:a16="http://schemas.microsoft.com/office/drawing/2014/main" id="{B6E8C39D-A0CB-C2F0-FDF8-E85F2634B49F}"/>
              </a:ext>
            </a:extLst>
          </p:cNvPr>
          <p:cNvSpPr txBox="1">
            <a:spLocks noChangeArrowheads="1"/>
          </p:cNvSpPr>
          <p:nvPr/>
        </p:nvSpPr>
        <p:spPr bwMode="auto">
          <a:xfrm>
            <a:off x="1442736" y="3422881"/>
            <a:ext cx="31130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1600" dirty="0">
                <a:solidFill>
                  <a:srgbClr val="333399"/>
                </a:solidFill>
                <a:latin typeface="微软雅黑" pitchFamily="34" charset="-122"/>
                <a:ea typeface="微软雅黑" pitchFamily="34" charset="-122"/>
              </a:rPr>
              <a:t>0</a:t>
            </a:r>
          </a:p>
        </p:txBody>
      </p:sp>
      <p:grpSp>
        <p:nvGrpSpPr>
          <p:cNvPr id="56" name="Group 18">
            <a:extLst>
              <a:ext uri="{FF2B5EF4-FFF2-40B4-BE49-F238E27FC236}">
                <a16:creationId xmlns:a16="http://schemas.microsoft.com/office/drawing/2014/main" id="{6B431791-1ED2-A881-5F8F-4CF138747BDA}"/>
              </a:ext>
            </a:extLst>
          </p:cNvPr>
          <p:cNvGrpSpPr>
            <a:grpSpLocks/>
          </p:cNvGrpSpPr>
          <p:nvPr/>
        </p:nvGrpSpPr>
        <p:grpSpPr bwMode="auto">
          <a:xfrm>
            <a:off x="4906315" y="2847212"/>
            <a:ext cx="2651294" cy="792941"/>
            <a:chOff x="3349" y="2890"/>
            <a:chExt cx="2250" cy="729"/>
          </a:xfrm>
        </p:grpSpPr>
        <p:grpSp>
          <p:nvGrpSpPr>
            <p:cNvPr id="57" name="Group 19">
              <a:extLst>
                <a:ext uri="{FF2B5EF4-FFF2-40B4-BE49-F238E27FC236}">
                  <a16:creationId xmlns:a16="http://schemas.microsoft.com/office/drawing/2014/main" id="{92B031F9-A59B-BACD-E934-8CE0BEFC083C}"/>
                </a:ext>
              </a:extLst>
            </p:cNvPr>
            <p:cNvGrpSpPr>
              <a:grpSpLocks/>
            </p:cNvGrpSpPr>
            <p:nvPr/>
          </p:nvGrpSpPr>
          <p:grpSpPr bwMode="auto">
            <a:xfrm>
              <a:off x="3477" y="2890"/>
              <a:ext cx="2122" cy="600"/>
              <a:chOff x="3477" y="2890"/>
              <a:chExt cx="2122" cy="600"/>
            </a:xfrm>
          </p:grpSpPr>
          <p:sp>
            <p:nvSpPr>
              <p:cNvPr id="59" name="Text Box 20">
                <a:extLst>
                  <a:ext uri="{FF2B5EF4-FFF2-40B4-BE49-F238E27FC236}">
                    <a16:creationId xmlns:a16="http://schemas.microsoft.com/office/drawing/2014/main" id="{28E75BA5-D7FF-2B01-3BEE-284A77642238}"/>
                  </a:ext>
                </a:extLst>
              </p:cNvPr>
              <p:cNvSpPr txBox="1">
                <a:spLocks noChangeArrowheads="1"/>
              </p:cNvSpPr>
              <p:nvPr/>
            </p:nvSpPr>
            <p:spPr bwMode="auto">
              <a:xfrm>
                <a:off x="3881" y="2890"/>
                <a:ext cx="1718"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600" dirty="0">
                    <a:solidFill>
                      <a:srgbClr val="C00000"/>
                    </a:solidFill>
                    <a:latin typeface="微软雅黑" pitchFamily="34" charset="-122"/>
                    <a:ea typeface="微软雅黑" pitchFamily="34" charset="-122"/>
                  </a:rPr>
                  <a:t>死锁（吞吐量 </a:t>
                </a:r>
                <a:r>
                  <a:rPr lang="en-US" altLang="zh-CN" sz="1600" dirty="0">
                    <a:solidFill>
                      <a:srgbClr val="C00000"/>
                    </a:solidFill>
                    <a:latin typeface="微软雅黑" pitchFamily="34" charset="-122"/>
                    <a:ea typeface="微软雅黑" pitchFamily="34" charset="-122"/>
                  </a:rPr>
                  <a:t>= 0</a:t>
                </a:r>
                <a:r>
                  <a:rPr lang="zh-CN" altLang="en-US" sz="1600" dirty="0">
                    <a:solidFill>
                      <a:srgbClr val="C00000"/>
                    </a:solidFill>
                    <a:latin typeface="微软雅黑" pitchFamily="34" charset="-122"/>
                    <a:ea typeface="微软雅黑" pitchFamily="34" charset="-122"/>
                  </a:rPr>
                  <a:t>）</a:t>
                </a:r>
              </a:p>
            </p:txBody>
          </p:sp>
          <p:sp>
            <p:nvSpPr>
              <p:cNvPr id="60" name="Line 21">
                <a:extLst>
                  <a:ext uri="{FF2B5EF4-FFF2-40B4-BE49-F238E27FC236}">
                    <a16:creationId xmlns:a16="http://schemas.microsoft.com/office/drawing/2014/main" id="{83794FED-B802-9665-C9A2-EFB482C38211}"/>
                  </a:ext>
                </a:extLst>
              </p:cNvPr>
              <p:cNvSpPr>
                <a:spLocks noChangeShapeType="1"/>
              </p:cNvSpPr>
              <p:nvPr/>
            </p:nvSpPr>
            <p:spPr bwMode="auto">
              <a:xfrm flipH="1">
                <a:off x="3477" y="3104"/>
                <a:ext cx="457" cy="386"/>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sp>
          <p:nvSpPr>
            <p:cNvPr id="58" name="Oval 22">
              <a:extLst>
                <a:ext uri="{FF2B5EF4-FFF2-40B4-BE49-F238E27FC236}">
                  <a16:creationId xmlns:a16="http://schemas.microsoft.com/office/drawing/2014/main" id="{B88A8287-F478-E53D-4621-9DD894CF7F32}"/>
                </a:ext>
              </a:extLst>
            </p:cNvPr>
            <p:cNvSpPr>
              <a:spLocks noChangeArrowheads="1"/>
            </p:cNvSpPr>
            <p:nvPr/>
          </p:nvSpPr>
          <p:spPr bwMode="auto">
            <a:xfrm>
              <a:off x="3349" y="3485"/>
              <a:ext cx="141" cy="134"/>
            </a:xfrm>
            <a:prstGeom prst="ellipse">
              <a:avLst/>
            </a:prstGeom>
            <a:solidFill>
              <a:srgbClr val="C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spTree>
    <p:extLst>
      <p:ext uri="{BB962C8B-B14F-4D97-AF65-F5344CB8AC3E}">
        <p14:creationId xmlns:p14="http://schemas.microsoft.com/office/powerpoint/2010/main" val="3777994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nodeType="clickEffect">
                                  <p:stCondLst>
                                    <p:cond delay="0"/>
                                  </p:stCondLst>
                                  <p:childTnLst>
                                    <p:anim calcmode="discrete" valueType="str">
                                      <p:cBhvr>
                                        <p:cTn id="6"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67"/>
                                        </p:tgtEl>
                                        <p:attrNameLst>
                                          <p:attrName>style.visibility</p:attrName>
                                        </p:attrNameLst>
                                      </p:cBhvr>
                                      <p:tavLst>
                                        <p:tav tm="0">
                                          <p:val>
                                            <p:strVal val="hidden"/>
                                          </p:val>
                                        </p:tav>
                                        <p:tav tm="50000">
                                          <p:val>
                                            <p:strVal val="visible"/>
                                          </p:val>
                                        </p:tav>
                                      </p:tavLst>
                                    </p:anim>
                                  </p:childTnLst>
                                </p:cTn>
                              </p:par>
                              <p:par>
                                <p:cTn id="11" presetID="35" presetClass="emph" presetSubtype="0" repeatCount="3000" fill="hold" grpId="0" nodeType="withEffect">
                                  <p:stCondLst>
                                    <p:cond delay="0"/>
                                  </p:stCondLst>
                                  <p:childTnLst>
                                    <p:anim calcmode="discrete" valueType="str">
                                      <p:cBhvr>
                                        <p:cTn id="12" dur="1000" fill="hold"/>
                                        <p:tgtEl>
                                          <p:spTgt spid="63"/>
                                        </p:tgtEl>
                                        <p:attrNameLst>
                                          <p:attrName>style.visibility</p:attrName>
                                        </p:attrNameLst>
                                      </p:cBhvr>
                                      <p:tavLst>
                                        <p:tav tm="0">
                                          <p:val>
                                            <p:strVal val="hidden"/>
                                          </p:val>
                                        </p:tav>
                                        <p:tav tm="50000">
                                          <p:val>
                                            <p:strVal val="visible"/>
                                          </p:val>
                                        </p:tav>
                                      </p:tavLst>
                                    </p:anim>
                                  </p:childTnLst>
                                </p:cTn>
                              </p:par>
                            </p:childTnLst>
                          </p:cTn>
                        </p:par>
                      </p:childTnLst>
                    </p:cTn>
                  </p:par>
                  <p:par>
                    <p:cTn id="13" fill="hold">
                      <p:stCondLst>
                        <p:cond delay="indefinite"/>
                      </p:stCondLst>
                      <p:childTnLst>
                        <p:par>
                          <p:cTn id="14" fill="hold">
                            <p:stCondLst>
                              <p:cond delay="0"/>
                            </p:stCondLst>
                            <p:childTnLst>
                              <p:par>
                                <p:cTn id="15" presetID="35" presetClass="emph" presetSubtype="0" repeatCount="3000" fill="hold" grpId="0" nodeType="clickEffect">
                                  <p:stCondLst>
                                    <p:cond delay="0"/>
                                  </p:stCondLst>
                                  <p:childTnLst>
                                    <p:anim calcmode="discrete" valueType="str">
                                      <p:cBhvr>
                                        <p:cTn id="16" dur="1000" fill="hold"/>
                                        <p:tgtEl>
                                          <p:spTgt spid="66"/>
                                        </p:tgtEl>
                                        <p:attrNameLst>
                                          <p:attrName>style.visibility</p:attrName>
                                        </p:attrNameLst>
                                      </p:cBhvr>
                                      <p:tavLst>
                                        <p:tav tm="0">
                                          <p:val>
                                            <p:strVal val="hidden"/>
                                          </p:val>
                                        </p:tav>
                                        <p:tav tm="50000">
                                          <p:val>
                                            <p:strVal val="visible"/>
                                          </p:val>
                                        </p:tav>
                                      </p:tavLst>
                                    </p:anim>
                                  </p:childTnLst>
                                </p:cTn>
                              </p:par>
                              <p:par>
                                <p:cTn id="17" presetID="35" presetClass="emph" presetSubtype="0" repeatCount="3000" fill="hold" grpId="0" nodeType="withEffect">
                                  <p:stCondLst>
                                    <p:cond delay="0"/>
                                  </p:stCondLst>
                                  <p:childTnLst>
                                    <p:anim calcmode="discrete" valueType="str">
                                      <p:cBhvr>
                                        <p:cTn id="18" dur="1000" fill="hold"/>
                                        <p:tgtEl>
                                          <p:spTgt spid="62"/>
                                        </p:tgtEl>
                                        <p:attrNameLst>
                                          <p:attrName>style.visibility</p:attrName>
                                        </p:attrNameLst>
                                      </p:cBhvr>
                                      <p:tavLst>
                                        <p:tav tm="0">
                                          <p:val>
                                            <p:strVal val="hidden"/>
                                          </p:val>
                                        </p:tav>
                                        <p:tav tm="50000">
                                          <p:val>
                                            <p:strVal val="visible"/>
                                          </p:val>
                                        </p:tav>
                                      </p:tavLst>
                                    </p:anim>
                                  </p:childTnLst>
                                </p:cTn>
                              </p:par>
                            </p:childTnLst>
                          </p:cTn>
                        </p:par>
                      </p:childTnLst>
                    </p:cTn>
                  </p:par>
                  <p:par>
                    <p:cTn id="19" fill="hold">
                      <p:stCondLst>
                        <p:cond delay="indefinite"/>
                      </p:stCondLst>
                      <p:childTnLst>
                        <p:par>
                          <p:cTn id="20" fill="hold">
                            <p:stCondLst>
                              <p:cond delay="0"/>
                            </p:stCondLst>
                            <p:childTnLst>
                              <p:par>
                                <p:cTn id="21" presetID="35" presetClass="emph" presetSubtype="0" repeatCount="3000" fill="hold" nodeType="clickEffect">
                                  <p:stCondLst>
                                    <p:cond delay="0"/>
                                  </p:stCondLst>
                                  <p:childTnLst>
                                    <p:anim calcmode="discrete" valueType="str">
                                      <p:cBhvr>
                                        <p:cTn id="22" dur="1000" fill="hold"/>
                                        <p:tgtEl>
                                          <p:spTgt spid="5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3" grpId="0" animBg="1"/>
      <p:bldP spid="66" grpId="0" animBg="1"/>
      <p:bldP spid="67"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66D97-8308-EAE2-4E31-52EBB0D7F94A}"/>
            </a:ext>
          </a:extLst>
        </p:cNvPr>
        <p:cNvGrpSpPr/>
        <p:nvPr/>
      </p:nvGrpSpPr>
      <p:grpSpPr>
        <a:xfrm>
          <a:off x="0" y="0"/>
          <a:ext cx="0" cy="0"/>
          <a:chOff x="0" y="0"/>
          <a:chExt cx="0" cy="0"/>
        </a:xfrm>
      </p:grpSpPr>
      <p:sp>
        <p:nvSpPr>
          <p:cNvPr id="40" name="圆角矩形 39">
            <a:extLst>
              <a:ext uri="{FF2B5EF4-FFF2-40B4-BE49-F238E27FC236}">
                <a16:creationId xmlns:a16="http://schemas.microsoft.com/office/drawing/2014/main" id="{824ED85F-9D1B-608C-C3E2-A95421746B16}"/>
              </a:ext>
            </a:extLst>
          </p:cNvPr>
          <p:cNvSpPr/>
          <p:nvPr/>
        </p:nvSpPr>
        <p:spPr>
          <a:xfrm>
            <a:off x="556963" y="1012072"/>
            <a:ext cx="8048776"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1" name="Group 23">
            <a:extLst>
              <a:ext uri="{FF2B5EF4-FFF2-40B4-BE49-F238E27FC236}">
                <a16:creationId xmlns:a16="http://schemas.microsoft.com/office/drawing/2014/main" id="{7CA01F97-C689-F4F5-21A5-96BA89E4528C}"/>
              </a:ext>
            </a:extLst>
          </p:cNvPr>
          <p:cNvGrpSpPr>
            <a:grpSpLocks/>
          </p:cNvGrpSpPr>
          <p:nvPr/>
        </p:nvGrpSpPr>
        <p:grpSpPr bwMode="auto">
          <a:xfrm>
            <a:off x="1727122" y="2465424"/>
            <a:ext cx="4605001" cy="1692477"/>
            <a:chOff x="651" y="2544"/>
            <a:chExt cx="3908" cy="1556"/>
          </a:xfrm>
        </p:grpSpPr>
        <p:sp>
          <p:nvSpPr>
            <p:cNvPr id="62" name="Line 24">
              <a:extLst>
                <a:ext uri="{FF2B5EF4-FFF2-40B4-BE49-F238E27FC236}">
                  <a16:creationId xmlns:a16="http://schemas.microsoft.com/office/drawing/2014/main" id="{C6ED875D-C678-69C3-067B-7F0DF64DDBA5}"/>
                </a:ext>
              </a:extLst>
            </p:cNvPr>
            <p:cNvSpPr>
              <a:spLocks noChangeShapeType="1"/>
            </p:cNvSpPr>
            <p:nvPr/>
          </p:nvSpPr>
          <p:spPr bwMode="auto">
            <a:xfrm>
              <a:off x="2585" y="3737"/>
              <a:ext cx="848"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63" name="Line 25">
              <a:extLst>
                <a:ext uri="{FF2B5EF4-FFF2-40B4-BE49-F238E27FC236}">
                  <a16:creationId xmlns:a16="http://schemas.microsoft.com/office/drawing/2014/main" id="{02D486BC-6727-A379-25D9-6911CE2BA09B}"/>
                </a:ext>
              </a:extLst>
            </p:cNvPr>
            <p:cNvSpPr>
              <a:spLocks noChangeShapeType="1"/>
            </p:cNvSpPr>
            <p:nvPr/>
          </p:nvSpPr>
          <p:spPr bwMode="auto">
            <a:xfrm>
              <a:off x="1633" y="3737"/>
              <a:ext cx="943"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grpSp>
          <p:nvGrpSpPr>
            <p:cNvPr id="64" name="Group 26">
              <a:extLst>
                <a:ext uri="{FF2B5EF4-FFF2-40B4-BE49-F238E27FC236}">
                  <a16:creationId xmlns:a16="http://schemas.microsoft.com/office/drawing/2014/main" id="{323214F1-4F30-270F-BC9C-3D212A1A5F79}"/>
                </a:ext>
              </a:extLst>
            </p:cNvPr>
            <p:cNvGrpSpPr>
              <a:grpSpLocks/>
            </p:cNvGrpSpPr>
            <p:nvPr/>
          </p:nvGrpSpPr>
          <p:grpSpPr bwMode="auto">
            <a:xfrm>
              <a:off x="651" y="2544"/>
              <a:ext cx="3908" cy="1556"/>
              <a:chOff x="651" y="2544"/>
              <a:chExt cx="3908" cy="1556"/>
            </a:xfrm>
          </p:grpSpPr>
          <p:grpSp>
            <p:nvGrpSpPr>
              <p:cNvPr id="65" name="Group 27">
                <a:extLst>
                  <a:ext uri="{FF2B5EF4-FFF2-40B4-BE49-F238E27FC236}">
                    <a16:creationId xmlns:a16="http://schemas.microsoft.com/office/drawing/2014/main" id="{C679FF8C-C516-09F4-8D1D-DE340258ABE4}"/>
                  </a:ext>
                </a:extLst>
              </p:cNvPr>
              <p:cNvGrpSpPr>
                <a:grpSpLocks/>
              </p:cNvGrpSpPr>
              <p:nvPr/>
            </p:nvGrpSpPr>
            <p:grpSpPr bwMode="auto">
              <a:xfrm>
                <a:off x="651" y="2544"/>
                <a:ext cx="3908" cy="1252"/>
                <a:chOff x="651" y="2544"/>
                <a:chExt cx="3908" cy="1252"/>
              </a:xfrm>
            </p:grpSpPr>
            <p:sp>
              <p:nvSpPr>
                <p:cNvPr id="68" name="Freeform 28">
                  <a:extLst>
                    <a:ext uri="{FF2B5EF4-FFF2-40B4-BE49-F238E27FC236}">
                      <a16:creationId xmlns:a16="http://schemas.microsoft.com/office/drawing/2014/main" id="{7B3BCDF2-87A7-268F-EF6F-4FF92DE56D7C}"/>
                    </a:ext>
                  </a:extLst>
                </p:cNvPr>
                <p:cNvSpPr>
                  <a:spLocks/>
                </p:cNvSpPr>
                <p:nvPr/>
              </p:nvSpPr>
              <p:spPr bwMode="auto">
                <a:xfrm>
                  <a:off x="651" y="2595"/>
                  <a:ext cx="2773" cy="964"/>
                </a:xfrm>
                <a:custGeom>
                  <a:avLst/>
                  <a:gdLst>
                    <a:gd name="T0" fmla="*/ 0 w 1728"/>
                    <a:gd name="T1" fmla="*/ 964 h 781"/>
                    <a:gd name="T2" fmla="*/ 1204 w 1728"/>
                    <a:gd name="T3" fmla="*/ 186 h 781"/>
                    <a:gd name="T4" fmla="*/ 1733 w 1728"/>
                    <a:gd name="T5" fmla="*/ 23 h 781"/>
                    <a:gd name="T6" fmla="*/ 2109 w 1728"/>
                    <a:gd name="T7" fmla="*/ 46 h 781"/>
                    <a:gd name="T8" fmla="*/ 2388 w 1728"/>
                    <a:gd name="T9" fmla="*/ 216 h 781"/>
                    <a:gd name="T10" fmla="*/ 2571 w 1728"/>
                    <a:gd name="T11" fmla="*/ 453 h 781"/>
                    <a:gd name="T12" fmla="*/ 2706 w 1728"/>
                    <a:gd name="T13" fmla="*/ 727 h 781"/>
                    <a:gd name="T14" fmla="*/ 2773 w 1728"/>
                    <a:gd name="T15" fmla="*/ 964 h 7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28" h="781">
                      <a:moveTo>
                        <a:pt x="0" y="781"/>
                      </a:moveTo>
                      <a:cubicBezTo>
                        <a:pt x="285" y="529"/>
                        <a:pt x="570" y="278"/>
                        <a:pt x="750" y="151"/>
                      </a:cubicBezTo>
                      <a:cubicBezTo>
                        <a:pt x="930" y="24"/>
                        <a:pt x="986" y="38"/>
                        <a:pt x="1080" y="19"/>
                      </a:cubicBezTo>
                      <a:cubicBezTo>
                        <a:pt x="1174" y="0"/>
                        <a:pt x="1246" y="11"/>
                        <a:pt x="1314" y="37"/>
                      </a:cubicBezTo>
                      <a:cubicBezTo>
                        <a:pt x="1382" y="63"/>
                        <a:pt x="1440" y="120"/>
                        <a:pt x="1488" y="175"/>
                      </a:cubicBezTo>
                      <a:cubicBezTo>
                        <a:pt x="1536" y="230"/>
                        <a:pt x="1569" y="298"/>
                        <a:pt x="1602" y="367"/>
                      </a:cubicBezTo>
                      <a:cubicBezTo>
                        <a:pt x="1635" y="436"/>
                        <a:pt x="1665" y="520"/>
                        <a:pt x="1686" y="589"/>
                      </a:cubicBezTo>
                      <a:cubicBezTo>
                        <a:pt x="1707" y="658"/>
                        <a:pt x="1717" y="719"/>
                        <a:pt x="1728" y="781"/>
                      </a:cubicBezTo>
                    </a:path>
                  </a:pathLst>
                </a:custGeom>
                <a:noFill/>
                <a:ln w="38100" cmpd="sng">
                  <a:solidFill>
                    <a:srgbClr val="00CC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69" name="Line 29">
                  <a:extLst>
                    <a:ext uri="{FF2B5EF4-FFF2-40B4-BE49-F238E27FC236}">
                      <a16:creationId xmlns:a16="http://schemas.microsoft.com/office/drawing/2014/main" id="{6EF0D78B-6BC2-D542-F8CB-F9947127B86B}"/>
                    </a:ext>
                  </a:extLst>
                </p:cNvPr>
                <p:cNvSpPr>
                  <a:spLocks noChangeShapeType="1"/>
                </p:cNvSpPr>
                <p:nvPr/>
              </p:nvSpPr>
              <p:spPr bwMode="auto">
                <a:xfrm>
                  <a:off x="2576" y="2611"/>
                  <a:ext cx="0" cy="948"/>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70" name="Text Box 30">
                  <a:extLst>
                    <a:ext uri="{FF2B5EF4-FFF2-40B4-BE49-F238E27FC236}">
                      <a16:creationId xmlns:a16="http://schemas.microsoft.com/office/drawing/2014/main" id="{E99EF1B5-F411-486F-01F6-76D087926759}"/>
                    </a:ext>
                  </a:extLst>
                </p:cNvPr>
                <p:cNvSpPr txBox="1">
                  <a:spLocks noChangeArrowheads="1"/>
                </p:cNvSpPr>
                <p:nvPr/>
              </p:nvSpPr>
              <p:spPr bwMode="auto">
                <a:xfrm>
                  <a:off x="3532" y="2544"/>
                  <a:ext cx="1027"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600" dirty="0">
                      <a:solidFill>
                        <a:srgbClr val="000066"/>
                      </a:solidFill>
                      <a:latin typeface="微软雅黑" pitchFamily="34" charset="-122"/>
                      <a:ea typeface="微软雅黑" pitchFamily="34" charset="-122"/>
                    </a:rPr>
                    <a:t>无拥塞控制</a:t>
                  </a:r>
                </a:p>
              </p:txBody>
            </p:sp>
            <p:sp>
              <p:nvSpPr>
                <p:cNvPr id="71" name="Line 31">
                  <a:extLst>
                    <a:ext uri="{FF2B5EF4-FFF2-40B4-BE49-F238E27FC236}">
                      <a16:creationId xmlns:a16="http://schemas.microsoft.com/office/drawing/2014/main" id="{ECD1B716-D02A-72CB-7E1B-DB4BDD436AD1}"/>
                    </a:ext>
                  </a:extLst>
                </p:cNvPr>
                <p:cNvSpPr>
                  <a:spLocks noChangeShapeType="1"/>
                </p:cNvSpPr>
                <p:nvPr/>
              </p:nvSpPr>
              <p:spPr bwMode="auto">
                <a:xfrm flipH="1">
                  <a:off x="3125" y="2759"/>
                  <a:ext cx="453" cy="1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72" name="Line 32">
                  <a:extLst>
                    <a:ext uri="{FF2B5EF4-FFF2-40B4-BE49-F238E27FC236}">
                      <a16:creationId xmlns:a16="http://schemas.microsoft.com/office/drawing/2014/main" id="{8FEF2C81-305F-1281-8E0E-18D437B4B56E}"/>
                    </a:ext>
                  </a:extLst>
                </p:cNvPr>
                <p:cNvSpPr>
                  <a:spLocks noChangeShapeType="1"/>
                </p:cNvSpPr>
                <p:nvPr/>
              </p:nvSpPr>
              <p:spPr bwMode="auto">
                <a:xfrm>
                  <a:off x="1619" y="2848"/>
                  <a:ext cx="0" cy="71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73" name="Line 33">
                  <a:extLst>
                    <a:ext uri="{FF2B5EF4-FFF2-40B4-BE49-F238E27FC236}">
                      <a16:creationId xmlns:a16="http://schemas.microsoft.com/office/drawing/2014/main" id="{B45CF9FD-20CC-2813-B879-5543BA9ED220}"/>
                    </a:ext>
                  </a:extLst>
                </p:cNvPr>
                <p:cNvSpPr>
                  <a:spLocks noChangeShapeType="1"/>
                </p:cNvSpPr>
                <p:nvPr/>
              </p:nvSpPr>
              <p:spPr bwMode="auto">
                <a:xfrm>
                  <a:off x="2576" y="3559"/>
                  <a:ext cx="0" cy="2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74" name="Line 34">
                  <a:extLst>
                    <a:ext uri="{FF2B5EF4-FFF2-40B4-BE49-F238E27FC236}">
                      <a16:creationId xmlns:a16="http://schemas.microsoft.com/office/drawing/2014/main" id="{D1A8C71D-70AA-2057-6A6F-3C96CA1A7A00}"/>
                    </a:ext>
                  </a:extLst>
                </p:cNvPr>
                <p:cNvSpPr>
                  <a:spLocks noChangeShapeType="1"/>
                </p:cNvSpPr>
                <p:nvPr/>
              </p:nvSpPr>
              <p:spPr bwMode="auto">
                <a:xfrm>
                  <a:off x="3424" y="3559"/>
                  <a:ext cx="0" cy="2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75" name="Line 35">
                  <a:extLst>
                    <a:ext uri="{FF2B5EF4-FFF2-40B4-BE49-F238E27FC236}">
                      <a16:creationId xmlns:a16="http://schemas.microsoft.com/office/drawing/2014/main" id="{29841407-4CAE-73E1-D2F2-BD1C6BA965E5}"/>
                    </a:ext>
                  </a:extLst>
                </p:cNvPr>
                <p:cNvSpPr>
                  <a:spLocks noChangeShapeType="1"/>
                </p:cNvSpPr>
                <p:nvPr/>
              </p:nvSpPr>
              <p:spPr bwMode="auto">
                <a:xfrm>
                  <a:off x="1619" y="3559"/>
                  <a:ext cx="0" cy="2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grpSp>
          <p:sp>
            <p:nvSpPr>
              <p:cNvPr id="66" name="Text Box 36">
                <a:extLst>
                  <a:ext uri="{FF2B5EF4-FFF2-40B4-BE49-F238E27FC236}">
                    <a16:creationId xmlns:a16="http://schemas.microsoft.com/office/drawing/2014/main" id="{FA7F1A5E-B053-44CB-1D96-6C2C13507DF2}"/>
                  </a:ext>
                </a:extLst>
              </p:cNvPr>
              <p:cNvSpPr txBox="1">
                <a:spLocks noChangeArrowheads="1"/>
              </p:cNvSpPr>
              <p:nvPr/>
            </p:nvSpPr>
            <p:spPr bwMode="auto">
              <a:xfrm>
                <a:off x="2748" y="3589"/>
                <a:ext cx="461" cy="283"/>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solidFill>
                      <a:srgbClr val="0000FF"/>
                    </a:solidFill>
                    <a:latin typeface="微软雅黑" pitchFamily="34" charset="-122"/>
                    <a:ea typeface="微软雅黑" pitchFamily="34" charset="-122"/>
                  </a:rPr>
                  <a:t>拥塞</a:t>
                </a:r>
              </a:p>
            </p:txBody>
          </p:sp>
          <p:sp>
            <p:nvSpPr>
              <p:cNvPr id="67" name="Text Box 37">
                <a:extLst>
                  <a:ext uri="{FF2B5EF4-FFF2-40B4-BE49-F238E27FC236}">
                    <a16:creationId xmlns:a16="http://schemas.microsoft.com/office/drawing/2014/main" id="{4C943D15-1BAF-A335-D820-E9048C834232}"/>
                  </a:ext>
                </a:extLst>
              </p:cNvPr>
              <p:cNvSpPr txBox="1">
                <a:spLocks noChangeArrowheads="1"/>
              </p:cNvSpPr>
              <p:nvPr/>
            </p:nvSpPr>
            <p:spPr bwMode="auto">
              <a:xfrm>
                <a:off x="1872" y="3619"/>
                <a:ext cx="461" cy="481"/>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eaLnBrk="1" hangingPunct="1"/>
                <a:r>
                  <a:rPr lang="zh-CN" altLang="en-US" sz="1400" dirty="0">
                    <a:latin typeface="微软雅黑" pitchFamily="34" charset="-122"/>
                    <a:ea typeface="微软雅黑" pitchFamily="34" charset="-122"/>
                  </a:rPr>
                  <a:t>轻度</a:t>
                </a:r>
              </a:p>
              <a:p>
                <a:pPr algn="ctr" eaLnBrk="1" hangingPunct="1"/>
                <a:r>
                  <a:rPr lang="zh-CN" altLang="en-US" sz="1400" dirty="0">
                    <a:latin typeface="微软雅黑" pitchFamily="34" charset="-122"/>
                    <a:ea typeface="微软雅黑" pitchFamily="34" charset="-122"/>
                  </a:rPr>
                  <a:t>拥塞</a:t>
                </a:r>
              </a:p>
            </p:txBody>
          </p:sp>
        </p:grpSp>
      </p:grpSp>
      <p:sp>
        <p:nvSpPr>
          <p:cNvPr id="38" name="AutoShape 5">
            <a:extLst>
              <a:ext uri="{FF2B5EF4-FFF2-40B4-BE49-F238E27FC236}">
                <a16:creationId xmlns:a16="http://schemas.microsoft.com/office/drawing/2014/main" id="{E41F03AD-42AF-8DA0-7CE2-E85E07C60FB3}"/>
              </a:ext>
            </a:extLst>
          </p:cNvPr>
          <p:cNvSpPr>
            <a:spLocks noChangeArrowheads="1"/>
          </p:cNvSpPr>
          <p:nvPr/>
        </p:nvSpPr>
        <p:spPr bwMode="auto">
          <a:xfrm>
            <a:off x="556963" y="618782"/>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a:extLst>
              <a:ext uri="{FF2B5EF4-FFF2-40B4-BE49-F238E27FC236}">
                <a16:creationId xmlns:a16="http://schemas.microsoft.com/office/drawing/2014/main" id="{FE338714-E5E5-1849-2050-F7BC99C6BF8B}"/>
              </a:ext>
            </a:extLst>
          </p:cNvPr>
          <p:cNvSpPr>
            <a:spLocks noChangeArrowheads="1"/>
          </p:cNvSpPr>
          <p:nvPr/>
        </p:nvSpPr>
        <p:spPr bwMode="auto">
          <a:xfrm>
            <a:off x="3278387" y="595692"/>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拥塞控制所起的作用</a:t>
            </a:r>
          </a:p>
        </p:txBody>
      </p:sp>
      <p:sp>
        <p:nvSpPr>
          <p:cNvPr id="41" name="Line 3">
            <a:extLst>
              <a:ext uri="{FF2B5EF4-FFF2-40B4-BE49-F238E27FC236}">
                <a16:creationId xmlns:a16="http://schemas.microsoft.com/office/drawing/2014/main" id="{471741C6-3709-9227-C347-EBFD5E21020C}"/>
              </a:ext>
            </a:extLst>
          </p:cNvPr>
          <p:cNvSpPr>
            <a:spLocks noChangeShapeType="1"/>
          </p:cNvSpPr>
          <p:nvPr/>
        </p:nvSpPr>
        <p:spPr bwMode="auto">
          <a:xfrm rot="16200000">
            <a:off x="534447" y="2382214"/>
            <a:ext cx="2385349" cy="0"/>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2" name="Text Box 4">
            <a:extLst>
              <a:ext uri="{FF2B5EF4-FFF2-40B4-BE49-F238E27FC236}">
                <a16:creationId xmlns:a16="http://schemas.microsoft.com/office/drawing/2014/main" id="{DDDCD9E4-C29F-47B2-B5C5-D7B65F7B1A7D}"/>
              </a:ext>
            </a:extLst>
          </p:cNvPr>
          <p:cNvSpPr txBox="1">
            <a:spLocks noChangeArrowheads="1"/>
          </p:cNvSpPr>
          <p:nvPr/>
        </p:nvSpPr>
        <p:spPr bwMode="auto">
          <a:xfrm>
            <a:off x="6275535" y="3599906"/>
            <a:ext cx="108234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提供的负载</a:t>
            </a:r>
          </a:p>
        </p:txBody>
      </p:sp>
      <p:sp>
        <p:nvSpPr>
          <p:cNvPr id="43" name="Text Box 5">
            <a:extLst>
              <a:ext uri="{FF2B5EF4-FFF2-40B4-BE49-F238E27FC236}">
                <a16:creationId xmlns:a16="http://schemas.microsoft.com/office/drawing/2014/main" id="{912F7A5C-62FB-A1B8-425D-CE01E69D03F8}"/>
              </a:ext>
            </a:extLst>
          </p:cNvPr>
          <p:cNvSpPr txBox="1">
            <a:spLocks noChangeArrowheads="1"/>
          </p:cNvSpPr>
          <p:nvPr/>
        </p:nvSpPr>
        <p:spPr bwMode="auto">
          <a:xfrm>
            <a:off x="1727121" y="1116496"/>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吞吐量</a:t>
            </a:r>
          </a:p>
        </p:txBody>
      </p:sp>
      <p:grpSp>
        <p:nvGrpSpPr>
          <p:cNvPr id="44" name="Group 6">
            <a:extLst>
              <a:ext uri="{FF2B5EF4-FFF2-40B4-BE49-F238E27FC236}">
                <a16:creationId xmlns:a16="http://schemas.microsoft.com/office/drawing/2014/main" id="{ED1F8900-3B14-9376-62C8-951A5A616C4E}"/>
              </a:ext>
            </a:extLst>
          </p:cNvPr>
          <p:cNvGrpSpPr>
            <a:grpSpLocks/>
          </p:cNvGrpSpPr>
          <p:nvPr/>
        </p:nvGrpSpPr>
        <p:grpSpPr bwMode="auto">
          <a:xfrm>
            <a:off x="1727121" y="1622449"/>
            <a:ext cx="4810036" cy="1952440"/>
            <a:chOff x="651" y="1764"/>
            <a:chExt cx="4082" cy="1795"/>
          </a:xfrm>
        </p:grpSpPr>
        <p:sp>
          <p:nvSpPr>
            <p:cNvPr id="45" name="Line 7">
              <a:extLst>
                <a:ext uri="{FF2B5EF4-FFF2-40B4-BE49-F238E27FC236}">
                  <a16:creationId xmlns:a16="http://schemas.microsoft.com/office/drawing/2014/main" id="{00F483B3-0AF3-B4F6-0D39-30EE3E6C3989}"/>
                </a:ext>
              </a:extLst>
            </p:cNvPr>
            <p:cNvSpPr>
              <a:spLocks noChangeShapeType="1"/>
            </p:cNvSpPr>
            <p:nvPr/>
          </p:nvSpPr>
          <p:spPr bwMode="auto">
            <a:xfrm flipV="1">
              <a:off x="651" y="2077"/>
              <a:ext cx="1925" cy="1482"/>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6" name="Line 8">
              <a:extLst>
                <a:ext uri="{FF2B5EF4-FFF2-40B4-BE49-F238E27FC236}">
                  <a16:creationId xmlns:a16="http://schemas.microsoft.com/office/drawing/2014/main" id="{B65FFD91-5A28-2BBA-C3C3-D69D220B8934}"/>
                </a:ext>
              </a:extLst>
            </p:cNvPr>
            <p:cNvSpPr>
              <a:spLocks noChangeShapeType="1"/>
            </p:cNvSpPr>
            <p:nvPr/>
          </p:nvSpPr>
          <p:spPr bwMode="auto">
            <a:xfrm>
              <a:off x="2576" y="2077"/>
              <a:ext cx="2157" cy="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7" name="Text Box 9">
              <a:extLst>
                <a:ext uri="{FF2B5EF4-FFF2-40B4-BE49-F238E27FC236}">
                  <a16:creationId xmlns:a16="http://schemas.microsoft.com/office/drawing/2014/main" id="{09DBC154-06F7-66E3-58A6-256EC9DA4032}"/>
                </a:ext>
              </a:extLst>
            </p:cNvPr>
            <p:cNvSpPr txBox="1">
              <a:spLocks noChangeArrowheads="1"/>
            </p:cNvSpPr>
            <p:nvPr/>
          </p:nvSpPr>
          <p:spPr bwMode="auto">
            <a:xfrm>
              <a:off x="2901" y="1764"/>
              <a:ext cx="1376"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600" dirty="0">
                  <a:solidFill>
                    <a:srgbClr val="CC00CC"/>
                  </a:solidFill>
                  <a:latin typeface="微软雅黑" pitchFamily="34" charset="-122"/>
                  <a:ea typeface="微软雅黑" pitchFamily="34" charset="-122"/>
                </a:rPr>
                <a:t>理想的拥塞控制</a:t>
              </a:r>
            </a:p>
          </p:txBody>
        </p:sp>
      </p:grpSp>
      <p:grpSp>
        <p:nvGrpSpPr>
          <p:cNvPr id="49" name="Group 11">
            <a:extLst>
              <a:ext uri="{FF2B5EF4-FFF2-40B4-BE49-F238E27FC236}">
                <a16:creationId xmlns:a16="http://schemas.microsoft.com/office/drawing/2014/main" id="{275A82EB-AE26-8998-EA14-671632464CF4}"/>
              </a:ext>
            </a:extLst>
          </p:cNvPr>
          <p:cNvGrpSpPr>
            <a:grpSpLocks/>
          </p:cNvGrpSpPr>
          <p:nvPr/>
        </p:nvGrpSpPr>
        <p:grpSpPr bwMode="auto">
          <a:xfrm>
            <a:off x="1727121" y="2014024"/>
            <a:ext cx="4879559" cy="1560864"/>
            <a:chOff x="651" y="2124"/>
            <a:chExt cx="4141" cy="1435"/>
          </a:xfrm>
        </p:grpSpPr>
        <p:sp>
          <p:nvSpPr>
            <p:cNvPr id="50" name="Freeform 12">
              <a:extLst>
                <a:ext uri="{FF2B5EF4-FFF2-40B4-BE49-F238E27FC236}">
                  <a16:creationId xmlns:a16="http://schemas.microsoft.com/office/drawing/2014/main" id="{593D61D6-EEE3-B26A-5084-194E80E669F8}"/>
                </a:ext>
              </a:extLst>
            </p:cNvPr>
            <p:cNvSpPr>
              <a:spLocks/>
            </p:cNvSpPr>
            <p:nvPr/>
          </p:nvSpPr>
          <p:spPr bwMode="auto">
            <a:xfrm>
              <a:off x="651" y="2422"/>
              <a:ext cx="4141" cy="1137"/>
            </a:xfrm>
            <a:custGeom>
              <a:avLst/>
              <a:gdLst>
                <a:gd name="T0" fmla="*/ 0 w 2581"/>
                <a:gd name="T1" fmla="*/ 1137 h 921"/>
                <a:gd name="T2" fmla="*/ 1405 w 2581"/>
                <a:gd name="T3" fmla="*/ 426 h 921"/>
                <a:gd name="T4" fmla="*/ 2002 w 2581"/>
                <a:gd name="T5" fmla="*/ 226 h 921"/>
                <a:gd name="T6" fmla="*/ 2541 w 2581"/>
                <a:gd name="T7" fmla="*/ 130 h 921"/>
                <a:gd name="T8" fmla="*/ 3032 w 2581"/>
                <a:gd name="T9" fmla="*/ 78 h 921"/>
                <a:gd name="T10" fmla="*/ 3581 w 2581"/>
                <a:gd name="T11" fmla="*/ 26 h 921"/>
                <a:gd name="T12" fmla="*/ 4072 w 2581"/>
                <a:gd name="T13" fmla="*/ 4 h 921"/>
                <a:gd name="T14" fmla="*/ 3995 w 2581"/>
                <a:gd name="T15" fmla="*/ 4 h 92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81" h="921">
                  <a:moveTo>
                    <a:pt x="0" y="921"/>
                  </a:moveTo>
                  <a:cubicBezTo>
                    <a:pt x="334" y="694"/>
                    <a:pt x="668" y="468"/>
                    <a:pt x="876" y="345"/>
                  </a:cubicBezTo>
                  <a:cubicBezTo>
                    <a:pt x="1084" y="222"/>
                    <a:pt x="1130" y="223"/>
                    <a:pt x="1248" y="183"/>
                  </a:cubicBezTo>
                  <a:cubicBezTo>
                    <a:pt x="1366" y="143"/>
                    <a:pt x="1477" y="125"/>
                    <a:pt x="1584" y="105"/>
                  </a:cubicBezTo>
                  <a:cubicBezTo>
                    <a:pt x="1691" y="85"/>
                    <a:pt x="1782" y="77"/>
                    <a:pt x="1890" y="63"/>
                  </a:cubicBezTo>
                  <a:cubicBezTo>
                    <a:pt x="1998" y="49"/>
                    <a:pt x="2124" y="31"/>
                    <a:pt x="2232" y="21"/>
                  </a:cubicBezTo>
                  <a:cubicBezTo>
                    <a:pt x="2340" y="11"/>
                    <a:pt x="2495" y="6"/>
                    <a:pt x="2538" y="3"/>
                  </a:cubicBezTo>
                  <a:cubicBezTo>
                    <a:pt x="2581" y="0"/>
                    <a:pt x="2498" y="3"/>
                    <a:pt x="2490" y="3"/>
                  </a:cubicBezTo>
                </a:path>
              </a:pathLst>
            </a:custGeom>
            <a:noFill/>
            <a:ln w="3810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nvGrpSpPr>
            <p:cNvPr id="51" name="Group 13">
              <a:extLst>
                <a:ext uri="{FF2B5EF4-FFF2-40B4-BE49-F238E27FC236}">
                  <a16:creationId xmlns:a16="http://schemas.microsoft.com/office/drawing/2014/main" id="{6CA21337-E161-3476-D2F0-24D587150A6A}"/>
                </a:ext>
              </a:extLst>
            </p:cNvPr>
            <p:cNvGrpSpPr>
              <a:grpSpLocks/>
            </p:cNvGrpSpPr>
            <p:nvPr/>
          </p:nvGrpSpPr>
          <p:grpSpPr bwMode="auto">
            <a:xfrm>
              <a:off x="2451" y="2124"/>
              <a:ext cx="1376" cy="439"/>
              <a:chOff x="2451" y="2124"/>
              <a:chExt cx="1376" cy="439"/>
            </a:xfrm>
          </p:grpSpPr>
          <p:sp>
            <p:nvSpPr>
              <p:cNvPr id="52" name="Text Box 14">
                <a:extLst>
                  <a:ext uri="{FF2B5EF4-FFF2-40B4-BE49-F238E27FC236}">
                    <a16:creationId xmlns:a16="http://schemas.microsoft.com/office/drawing/2014/main" id="{867A6AEF-CACB-41CC-09EE-ACF46CD66A2A}"/>
                  </a:ext>
                </a:extLst>
              </p:cNvPr>
              <p:cNvSpPr txBox="1">
                <a:spLocks noChangeArrowheads="1"/>
              </p:cNvSpPr>
              <p:nvPr/>
            </p:nvSpPr>
            <p:spPr bwMode="auto">
              <a:xfrm>
                <a:off x="2451" y="2124"/>
                <a:ext cx="1376" cy="31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600" dirty="0">
                    <a:solidFill>
                      <a:srgbClr val="0000FF"/>
                    </a:solidFill>
                    <a:latin typeface="微软雅黑" pitchFamily="34" charset="-122"/>
                    <a:ea typeface="微软雅黑" pitchFamily="34" charset="-122"/>
                  </a:rPr>
                  <a:t>实际的拥塞控制</a:t>
                </a:r>
              </a:p>
            </p:txBody>
          </p:sp>
          <p:sp>
            <p:nvSpPr>
              <p:cNvPr id="53" name="Line 15">
                <a:extLst>
                  <a:ext uri="{FF2B5EF4-FFF2-40B4-BE49-F238E27FC236}">
                    <a16:creationId xmlns:a16="http://schemas.microsoft.com/office/drawing/2014/main" id="{0DE80A4E-E460-2862-FDB0-87CB3BB6A292}"/>
                  </a:ext>
                </a:extLst>
              </p:cNvPr>
              <p:cNvSpPr>
                <a:spLocks noChangeShapeType="1"/>
              </p:cNvSpPr>
              <p:nvPr/>
            </p:nvSpPr>
            <p:spPr bwMode="auto">
              <a:xfrm>
                <a:off x="3016" y="2387"/>
                <a:ext cx="100" cy="17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grpSp>
      <p:sp>
        <p:nvSpPr>
          <p:cNvPr id="54" name="Line 16">
            <a:extLst>
              <a:ext uri="{FF2B5EF4-FFF2-40B4-BE49-F238E27FC236}">
                <a16:creationId xmlns:a16="http://schemas.microsoft.com/office/drawing/2014/main" id="{23E8470E-8792-062B-35EE-8C193F0C2899}"/>
              </a:ext>
            </a:extLst>
          </p:cNvPr>
          <p:cNvSpPr>
            <a:spLocks noChangeShapeType="1"/>
          </p:cNvSpPr>
          <p:nvPr/>
        </p:nvSpPr>
        <p:spPr bwMode="auto">
          <a:xfrm>
            <a:off x="1727121" y="3574888"/>
            <a:ext cx="5174147" cy="0"/>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5" name="Text Box 17">
            <a:extLst>
              <a:ext uri="{FF2B5EF4-FFF2-40B4-BE49-F238E27FC236}">
                <a16:creationId xmlns:a16="http://schemas.microsoft.com/office/drawing/2014/main" id="{1F321B2B-81A2-C692-0BA7-263E4A11FDC0}"/>
              </a:ext>
            </a:extLst>
          </p:cNvPr>
          <p:cNvSpPr txBox="1">
            <a:spLocks noChangeArrowheads="1"/>
          </p:cNvSpPr>
          <p:nvPr/>
        </p:nvSpPr>
        <p:spPr bwMode="auto">
          <a:xfrm>
            <a:off x="1442736" y="3422881"/>
            <a:ext cx="31130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1600" dirty="0">
                <a:solidFill>
                  <a:srgbClr val="333399"/>
                </a:solidFill>
                <a:latin typeface="微软雅黑" pitchFamily="34" charset="-122"/>
                <a:ea typeface="微软雅黑" pitchFamily="34" charset="-122"/>
              </a:rPr>
              <a:t>0</a:t>
            </a:r>
          </a:p>
        </p:txBody>
      </p:sp>
      <p:grpSp>
        <p:nvGrpSpPr>
          <p:cNvPr id="56" name="Group 18">
            <a:extLst>
              <a:ext uri="{FF2B5EF4-FFF2-40B4-BE49-F238E27FC236}">
                <a16:creationId xmlns:a16="http://schemas.microsoft.com/office/drawing/2014/main" id="{362BE1D5-0174-8527-084C-D055A45E2908}"/>
              </a:ext>
            </a:extLst>
          </p:cNvPr>
          <p:cNvGrpSpPr>
            <a:grpSpLocks/>
          </p:cNvGrpSpPr>
          <p:nvPr/>
        </p:nvGrpSpPr>
        <p:grpSpPr bwMode="auto">
          <a:xfrm>
            <a:off x="4906315" y="2847212"/>
            <a:ext cx="2651294" cy="792941"/>
            <a:chOff x="3349" y="2890"/>
            <a:chExt cx="2250" cy="729"/>
          </a:xfrm>
        </p:grpSpPr>
        <p:grpSp>
          <p:nvGrpSpPr>
            <p:cNvPr id="57" name="Group 19">
              <a:extLst>
                <a:ext uri="{FF2B5EF4-FFF2-40B4-BE49-F238E27FC236}">
                  <a16:creationId xmlns:a16="http://schemas.microsoft.com/office/drawing/2014/main" id="{0B17977F-8609-D7B4-183B-49384BEBB242}"/>
                </a:ext>
              </a:extLst>
            </p:cNvPr>
            <p:cNvGrpSpPr>
              <a:grpSpLocks/>
            </p:cNvGrpSpPr>
            <p:nvPr/>
          </p:nvGrpSpPr>
          <p:grpSpPr bwMode="auto">
            <a:xfrm>
              <a:off x="3477" y="2890"/>
              <a:ext cx="2122" cy="600"/>
              <a:chOff x="3477" y="2890"/>
              <a:chExt cx="2122" cy="600"/>
            </a:xfrm>
          </p:grpSpPr>
          <p:sp>
            <p:nvSpPr>
              <p:cNvPr id="59" name="Text Box 20">
                <a:extLst>
                  <a:ext uri="{FF2B5EF4-FFF2-40B4-BE49-F238E27FC236}">
                    <a16:creationId xmlns:a16="http://schemas.microsoft.com/office/drawing/2014/main" id="{F73ECC77-11A6-011F-5728-A7D8F9E722E3}"/>
                  </a:ext>
                </a:extLst>
              </p:cNvPr>
              <p:cNvSpPr txBox="1">
                <a:spLocks noChangeArrowheads="1"/>
              </p:cNvSpPr>
              <p:nvPr/>
            </p:nvSpPr>
            <p:spPr bwMode="auto">
              <a:xfrm>
                <a:off x="3881" y="2890"/>
                <a:ext cx="1718"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600" dirty="0">
                    <a:solidFill>
                      <a:srgbClr val="C00000"/>
                    </a:solidFill>
                    <a:latin typeface="微软雅黑" pitchFamily="34" charset="-122"/>
                    <a:ea typeface="微软雅黑" pitchFamily="34" charset="-122"/>
                  </a:rPr>
                  <a:t>死锁（吞吐量 </a:t>
                </a:r>
                <a:r>
                  <a:rPr lang="en-US" altLang="zh-CN" sz="1600" dirty="0">
                    <a:solidFill>
                      <a:srgbClr val="C00000"/>
                    </a:solidFill>
                    <a:latin typeface="微软雅黑" pitchFamily="34" charset="-122"/>
                    <a:ea typeface="微软雅黑" pitchFamily="34" charset="-122"/>
                  </a:rPr>
                  <a:t>= 0</a:t>
                </a:r>
                <a:r>
                  <a:rPr lang="zh-CN" altLang="en-US" sz="1600" dirty="0">
                    <a:solidFill>
                      <a:srgbClr val="C00000"/>
                    </a:solidFill>
                    <a:latin typeface="微软雅黑" pitchFamily="34" charset="-122"/>
                    <a:ea typeface="微软雅黑" pitchFamily="34" charset="-122"/>
                  </a:rPr>
                  <a:t>）</a:t>
                </a:r>
              </a:p>
            </p:txBody>
          </p:sp>
          <p:sp>
            <p:nvSpPr>
              <p:cNvPr id="60" name="Line 21">
                <a:extLst>
                  <a:ext uri="{FF2B5EF4-FFF2-40B4-BE49-F238E27FC236}">
                    <a16:creationId xmlns:a16="http://schemas.microsoft.com/office/drawing/2014/main" id="{636F5D8C-9480-D15E-E703-87C75D487355}"/>
                  </a:ext>
                </a:extLst>
              </p:cNvPr>
              <p:cNvSpPr>
                <a:spLocks noChangeShapeType="1"/>
              </p:cNvSpPr>
              <p:nvPr/>
            </p:nvSpPr>
            <p:spPr bwMode="auto">
              <a:xfrm flipH="1">
                <a:off x="3477" y="3104"/>
                <a:ext cx="457" cy="386"/>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sp>
          <p:nvSpPr>
            <p:cNvPr id="58" name="Oval 22">
              <a:extLst>
                <a:ext uri="{FF2B5EF4-FFF2-40B4-BE49-F238E27FC236}">
                  <a16:creationId xmlns:a16="http://schemas.microsoft.com/office/drawing/2014/main" id="{5E4BA6D5-5088-81CA-D76F-76DEAF9DAB59}"/>
                </a:ext>
              </a:extLst>
            </p:cNvPr>
            <p:cNvSpPr>
              <a:spLocks noChangeArrowheads="1"/>
            </p:cNvSpPr>
            <p:nvPr/>
          </p:nvSpPr>
          <p:spPr bwMode="auto">
            <a:xfrm>
              <a:off x="3349" y="3485"/>
              <a:ext cx="141" cy="134"/>
            </a:xfrm>
            <a:prstGeom prst="ellipse">
              <a:avLst/>
            </a:prstGeom>
            <a:solidFill>
              <a:srgbClr val="C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spTree>
    <p:extLst>
      <p:ext uri="{BB962C8B-B14F-4D97-AF65-F5344CB8AC3E}">
        <p14:creationId xmlns:p14="http://schemas.microsoft.com/office/powerpoint/2010/main" val="954189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nodeType="clickEffect">
                                  <p:stCondLst>
                                    <p:cond delay="0"/>
                                  </p:stCondLst>
                                  <p:childTnLst>
                                    <p:anim calcmode="discrete" valueType="str">
                                      <p:cBhvr>
                                        <p:cTn id="6" dur="1000" fill="hold"/>
                                        <p:tgtEl>
                                          <p:spTgt spid="4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56963" y="62336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6" name="Rectangle 6"/>
          <p:cNvSpPr>
            <a:spLocks noChangeArrowheads="1"/>
          </p:cNvSpPr>
          <p:nvPr/>
        </p:nvSpPr>
        <p:spPr bwMode="auto">
          <a:xfrm>
            <a:off x="3334857" y="590156"/>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开环控制和闭环控制</a:t>
            </a:r>
          </a:p>
        </p:txBody>
      </p:sp>
      <p:sp>
        <p:nvSpPr>
          <p:cNvPr id="3" name="任意多边形: 形状 2">
            <a:extLst>
              <a:ext uri="{FF2B5EF4-FFF2-40B4-BE49-F238E27FC236}">
                <a16:creationId xmlns:a16="http://schemas.microsoft.com/office/drawing/2014/main" id="{050A5784-368A-200D-B1D2-8DBDAF6CC8B6}"/>
              </a:ext>
            </a:extLst>
          </p:cNvPr>
          <p:cNvSpPr/>
          <p:nvPr/>
        </p:nvSpPr>
        <p:spPr>
          <a:xfrm>
            <a:off x="1062121" y="1042406"/>
            <a:ext cx="3322842" cy="604800"/>
          </a:xfrm>
          <a:custGeom>
            <a:avLst/>
            <a:gdLst>
              <a:gd name="csX0" fmla="*/ 0 w 3322842"/>
              <a:gd name="csY0" fmla="*/ 0 h 604800"/>
              <a:gd name="csX1" fmla="*/ 3322842 w 3322842"/>
              <a:gd name="csY1" fmla="*/ 0 h 604800"/>
              <a:gd name="csX2" fmla="*/ 3322842 w 3322842"/>
              <a:gd name="csY2" fmla="*/ 604800 h 604800"/>
              <a:gd name="csX3" fmla="*/ 0 w 3322842"/>
              <a:gd name="csY3" fmla="*/ 604800 h 604800"/>
              <a:gd name="csX4" fmla="*/ 0 w 3322842"/>
              <a:gd name="csY4" fmla="*/ 0 h 604800"/>
            </a:gdLst>
            <a:ahLst/>
            <a:cxnLst>
              <a:cxn ang="0">
                <a:pos x="csX0" y="csY0"/>
              </a:cxn>
              <a:cxn ang="0">
                <a:pos x="csX1" y="csY1"/>
              </a:cxn>
              <a:cxn ang="0">
                <a:pos x="csX2" y="csY2"/>
              </a:cxn>
              <a:cxn ang="0">
                <a:pos x="csX3" y="csY3"/>
              </a:cxn>
              <a:cxn ang="0">
                <a:pos x="csX4" y="csY4"/>
              </a:cxn>
            </a:cxnLst>
            <a:rect l="l" t="t" r="r" b="b"/>
            <a:pathLst>
              <a:path w="3322842" h="604800">
                <a:moveTo>
                  <a:pt x="0" y="0"/>
                </a:moveTo>
                <a:lnTo>
                  <a:pt x="3322842" y="0"/>
                </a:lnTo>
                <a:lnTo>
                  <a:pt x="3322842" y="604800"/>
                </a:lnTo>
                <a:lnTo>
                  <a:pt x="0" y="604800"/>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latin typeface="微软雅黑" panose="020B0503020204020204" pitchFamily="34" charset="-122"/>
                <a:ea typeface="微软雅黑" panose="020B0503020204020204" pitchFamily="34" charset="-122"/>
              </a:rPr>
              <a:t>开环控制</a:t>
            </a:r>
          </a:p>
        </p:txBody>
      </p:sp>
      <p:sp>
        <p:nvSpPr>
          <p:cNvPr id="4" name="任意多边形: 形状 3">
            <a:extLst>
              <a:ext uri="{FF2B5EF4-FFF2-40B4-BE49-F238E27FC236}">
                <a16:creationId xmlns:a16="http://schemas.microsoft.com/office/drawing/2014/main" id="{D0033918-95D1-EDDF-905B-FA0E0B685809}"/>
              </a:ext>
            </a:extLst>
          </p:cNvPr>
          <p:cNvSpPr/>
          <p:nvPr/>
        </p:nvSpPr>
        <p:spPr>
          <a:xfrm>
            <a:off x="1062121" y="1647207"/>
            <a:ext cx="3322842" cy="2132865"/>
          </a:xfrm>
          <a:custGeom>
            <a:avLst/>
            <a:gdLst>
              <a:gd name="csX0" fmla="*/ 0 w 3322842"/>
              <a:gd name="csY0" fmla="*/ 0 h 2132865"/>
              <a:gd name="csX1" fmla="*/ 3322842 w 3322842"/>
              <a:gd name="csY1" fmla="*/ 0 h 2132865"/>
              <a:gd name="csX2" fmla="*/ 3322842 w 3322842"/>
              <a:gd name="csY2" fmla="*/ 2132865 h 2132865"/>
              <a:gd name="csX3" fmla="*/ 0 w 3322842"/>
              <a:gd name="csY3" fmla="*/ 2132865 h 2132865"/>
              <a:gd name="csX4" fmla="*/ 0 w 3322842"/>
              <a:gd name="csY4" fmla="*/ 0 h 2132865"/>
            </a:gdLst>
            <a:ahLst/>
            <a:cxnLst>
              <a:cxn ang="0">
                <a:pos x="csX0" y="csY0"/>
              </a:cxn>
              <a:cxn ang="0">
                <a:pos x="csX1" y="csY1"/>
              </a:cxn>
              <a:cxn ang="0">
                <a:pos x="csX2" y="csY2"/>
              </a:cxn>
              <a:cxn ang="0">
                <a:pos x="csX3" y="csY3"/>
              </a:cxn>
              <a:cxn ang="0">
                <a:pos x="csX4" y="csY4"/>
              </a:cxn>
            </a:cxnLst>
            <a:rect l="l" t="t" r="r" b="b"/>
            <a:pathLst>
              <a:path w="3322842" h="2132865">
                <a:moveTo>
                  <a:pt x="0" y="0"/>
                </a:moveTo>
                <a:lnTo>
                  <a:pt x="3322842" y="0"/>
                </a:lnTo>
                <a:lnTo>
                  <a:pt x="3322842" y="2132865"/>
                </a:lnTo>
                <a:lnTo>
                  <a:pt x="0" y="2132865"/>
                </a:lnTo>
                <a:lnTo>
                  <a:pt x="0" y="0"/>
                </a:lnTo>
                <a:close/>
              </a:path>
            </a:pathLst>
          </a:custGeom>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96012" tIns="96012" rIns="128016" bIns="144018" numCol="1" spcCol="1270" anchor="t" anchorCtr="0">
            <a:noAutofit/>
          </a:bodyPr>
          <a:lstStyle/>
          <a:p>
            <a:pPr marL="171450" lvl="1" indent="-171450" algn="l" defTabSz="800100">
              <a:lnSpc>
                <a:spcPct val="125000"/>
              </a:lnSpc>
              <a:spcBef>
                <a:spcPct val="0"/>
              </a:spcBef>
              <a:spcAft>
                <a:spcPts val="600"/>
              </a:spcAft>
              <a:buChar char="•"/>
            </a:pPr>
            <a:r>
              <a:rPr lang="zh-CN" altLang="en-US" sz="1800" b="1" kern="1200" dirty="0">
                <a:latin typeface="微软雅黑" panose="020B0503020204020204" pitchFamily="34" charset="-122"/>
                <a:ea typeface="微软雅黑" panose="020B0503020204020204" pitchFamily="34" charset="-122"/>
              </a:rPr>
              <a:t>在设计网络时，事先</a:t>
            </a:r>
            <a:r>
              <a:rPr lang="zh-CN" altLang="en-US" sz="1800" b="1" kern="1200" dirty="0">
                <a:solidFill>
                  <a:srgbClr val="C00000"/>
                </a:solidFill>
                <a:latin typeface="微软雅黑" panose="020B0503020204020204" pitchFamily="34" charset="-122"/>
                <a:ea typeface="微软雅黑" panose="020B0503020204020204" pitchFamily="34" charset="-122"/>
              </a:rPr>
              <a:t>考虑周全，</a:t>
            </a:r>
            <a:r>
              <a:rPr lang="zh-CN" altLang="en-US" sz="1800" b="1" kern="1200" dirty="0">
                <a:latin typeface="微软雅黑" panose="020B0503020204020204" pitchFamily="34" charset="-122"/>
                <a:ea typeface="微软雅黑" panose="020B0503020204020204" pitchFamily="34" charset="-122"/>
              </a:rPr>
              <a:t>力求工作时不发生拥塞。</a:t>
            </a:r>
          </a:p>
          <a:p>
            <a:pPr marL="171450" lvl="1" indent="-171450" algn="l" defTabSz="800100">
              <a:lnSpc>
                <a:spcPct val="125000"/>
              </a:lnSpc>
              <a:spcBef>
                <a:spcPct val="0"/>
              </a:spcBef>
              <a:spcAft>
                <a:spcPts val="600"/>
              </a:spcAft>
              <a:buChar char="•"/>
            </a:pPr>
            <a:r>
              <a:rPr lang="zh-CN" altLang="en-US" sz="1800" b="1" kern="1200" dirty="0">
                <a:solidFill>
                  <a:srgbClr val="0000FF"/>
                </a:solidFill>
                <a:latin typeface="微软雅黑" pitchFamily="34" charset="-122"/>
                <a:ea typeface="微软雅黑" pitchFamily="34" charset="-122"/>
              </a:rPr>
              <a:t>思路：</a:t>
            </a:r>
            <a:r>
              <a:rPr lang="zh-CN" altLang="en-US" sz="1800" b="1" kern="1200" dirty="0">
                <a:latin typeface="微软雅黑" pitchFamily="34" charset="-122"/>
                <a:ea typeface="微软雅黑" pitchFamily="34" charset="-122"/>
              </a:rPr>
              <a:t>力争</a:t>
            </a:r>
            <a:r>
              <a:rPr lang="zh-CN" altLang="en-US" sz="1800" b="1" kern="1200" dirty="0">
                <a:solidFill>
                  <a:srgbClr val="0000FF"/>
                </a:solidFill>
                <a:latin typeface="微软雅黑" pitchFamily="34" charset="-122"/>
                <a:ea typeface="微软雅黑" pitchFamily="34" charset="-122"/>
              </a:rPr>
              <a:t>避免</a:t>
            </a:r>
            <a:r>
              <a:rPr lang="zh-CN" altLang="en-US" sz="1800" b="1" kern="1200" dirty="0">
                <a:latin typeface="微软雅黑" pitchFamily="34" charset="-122"/>
                <a:ea typeface="微软雅黑" pitchFamily="34" charset="-122"/>
              </a:rPr>
              <a:t>发生拥塞。</a:t>
            </a:r>
          </a:p>
          <a:p>
            <a:pPr marL="171450" lvl="1" indent="-171450" algn="l" defTabSz="800100">
              <a:lnSpc>
                <a:spcPct val="125000"/>
              </a:lnSpc>
              <a:spcBef>
                <a:spcPct val="0"/>
              </a:spcBef>
              <a:spcAft>
                <a:spcPts val="600"/>
              </a:spcAft>
              <a:buChar char="•"/>
            </a:pPr>
            <a:r>
              <a:rPr lang="zh-CN" altLang="en-US" sz="1800" b="1" kern="1200" dirty="0">
                <a:latin typeface="微软雅黑" pitchFamily="34" charset="-122"/>
                <a:ea typeface="微软雅黑" pitchFamily="34" charset="-122"/>
              </a:rPr>
              <a:t>但一旦整个系统运行起来，就不再中途进行改正了。</a:t>
            </a:r>
          </a:p>
        </p:txBody>
      </p:sp>
      <p:sp>
        <p:nvSpPr>
          <p:cNvPr id="5" name="任意多边形: 形状 4">
            <a:extLst>
              <a:ext uri="{FF2B5EF4-FFF2-40B4-BE49-F238E27FC236}">
                <a16:creationId xmlns:a16="http://schemas.microsoft.com/office/drawing/2014/main" id="{E065B030-F184-91C5-CC1B-A4C5FB9A4F24}"/>
              </a:ext>
            </a:extLst>
          </p:cNvPr>
          <p:cNvSpPr/>
          <p:nvPr/>
        </p:nvSpPr>
        <p:spPr>
          <a:xfrm>
            <a:off x="4850161" y="1042406"/>
            <a:ext cx="3322842" cy="604800"/>
          </a:xfrm>
          <a:custGeom>
            <a:avLst/>
            <a:gdLst>
              <a:gd name="csX0" fmla="*/ 0 w 3322842"/>
              <a:gd name="csY0" fmla="*/ 0 h 604800"/>
              <a:gd name="csX1" fmla="*/ 3322842 w 3322842"/>
              <a:gd name="csY1" fmla="*/ 0 h 604800"/>
              <a:gd name="csX2" fmla="*/ 3322842 w 3322842"/>
              <a:gd name="csY2" fmla="*/ 604800 h 604800"/>
              <a:gd name="csX3" fmla="*/ 0 w 3322842"/>
              <a:gd name="csY3" fmla="*/ 604800 h 604800"/>
              <a:gd name="csX4" fmla="*/ 0 w 3322842"/>
              <a:gd name="csY4" fmla="*/ 0 h 604800"/>
            </a:gdLst>
            <a:ahLst/>
            <a:cxnLst>
              <a:cxn ang="0">
                <a:pos x="csX0" y="csY0"/>
              </a:cxn>
              <a:cxn ang="0">
                <a:pos x="csX1" y="csY1"/>
              </a:cxn>
              <a:cxn ang="0">
                <a:pos x="csX2" y="csY2"/>
              </a:cxn>
              <a:cxn ang="0">
                <a:pos x="csX3" y="csY3"/>
              </a:cxn>
              <a:cxn ang="0">
                <a:pos x="csX4" y="csY4"/>
              </a:cxn>
            </a:cxnLst>
            <a:rect l="l" t="t" r="r" b="b"/>
            <a:pathLst>
              <a:path w="3322842" h="604800">
                <a:moveTo>
                  <a:pt x="0" y="0"/>
                </a:moveTo>
                <a:lnTo>
                  <a:pt x="3322842" y="0"/>
                </a:lnTo>
                <a:lnTo>
                  <a:pt x="3322842" y="604800"/>
                </a:lnTo>
                <a:lnTo>
                  <a:pt x="0" y="604800"/>
                </a:lnTo>
                <a:lnTo>
                  <a:pt x="0" y="0"/>
                </a:lnTo>
                <a:close/>
              </a:path>
            </a:pathLst>
          </a:custGeom>
        </p:spPr>
        <p:style>
          <a:lnRef idx="2">
            <a:schemeClr val="accent2">
              <a:hueOff val="4681519"/>
              <a:satOff val="-5839"/>
              <a:lumOff val="1373"/>
              <a:alphaOff val="0"/>
            </a:schemeClr>
          </a:lnRef>
          <a:fillRef idx="1">
            <a:schemeClr val="accent2">
              <a:hueOff val="4681519"/>
              <a:satOff val="-5839"/>
              <a:lumOff val="1373"/>
              <a:alphaOff val="0"/>
            </a:schemeClr>
          </a:fillRef>
          <a:effectRef idx="0">
            <a:schemeClr val="accent2">
              <a:hueOff val="4681519"/>
              <a:satOff val="-5839"/>
              <a:lumOff val="1373"/>
              <a:alphaOff val="0"/>
            </a:schemeClr>
          </a:effectRef>
          <a:fontRef idx="minor">
            <a:schemeClr val="lt1"/>
          </a:fontRef>
        </p:style>
        <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latin typeface="微软雅黑" panose="020B0503020204020204" pitchFamily="34" charset="-122"/>
                <a:ea typeface="微软雅黑" panose="020B0503020204020204" pitchFamily="34" charset="-122"/>
              </a:rPr>
              <a:t>闭环控制</a:t>
            </a:r>
          </a:p>
        </p:txBody>
      </p:sp>
      <p:sp>
        <p:nvSpPr>
          <p:cNvPr id="6" name="任意多边形: 形状 5">
            <a:extLst>
              <a:ext uri="{FF2B5EF4-FFF2-40B4-BE49-F238E27FC236}">
                <a16:creationId xmlns:a16="http://schemas.microsoft.com/office/drawing/2014/main" id="{9B5571E5-8BD3-899A-F5D1-D047C20891DC}"/>
              </a:ext>
            </a:extLst>
          </p:cNvPr>
          <p:cNvSpPr/>
          <p:nvPr/>
        </p:nvSpPr>
        <p:spPr>
          <a:xfrm>
            <a:off x="4850161" y="1647207"/>
            <a:ext cx="3322842" cy="2132865"/>
          </a:xfrm>
          <a:custGeom>
            <a:avLst/>
            <a:gdLst>
              <a:gd name="csX0" fmla="*/ 0 w 3322842"/>
              <a:gd name="csY0" fmla="*/ 0 h 2132865"/>
              <a:gd name="csX1" fmla="*/ 3322842 w 3322842"/>
              <a:gd name="csY1" fmla="*/ 0 h 2132865"/>
              <a:gd name="csX2" fmla="*/ 3322842 w 3322842"/>
              <a:gd name="csY2" fmla="*/ 2132865 h 2132865"/>
              <a:gd name="csX3" fmla="*/ 0 w 3322842"/>
              <a:gd name="csY3" fmla="*/ 2132865 h 2132865"/>
              <a:gd name="csX4" fmla="*/ 0 w 3322842"/>
              <a:gd name="csY4" fmla="*/ 0 h 2132865"/>
            </a:gdLst>
            <a:ahLst/>
            <a:cxnLst>
              <a:cxn ang="0">
                <a:pos x="csX0" y="csY0"/>
              </a:cxn>
              <a:cxn ang="0">
                <a:pos x="csX1" y="csY1"/>
              </a:cxn>
              <a:cxn ang="0">
                <a:pos x="csX2" y="csY2"/>
              </a:cxn>
              <a:cxn ang="0">
                <a:pos x="csX3" y="csY3"/>
              </a:cxn>
              <a:cxn ang="0">
                <a:pos x="csX4" y="csY4"/>
              </a:cxn>
            </a:cxnLst>
            <a:rect l="l" t="t" r="r" b="b"/>
            <a:pathLst>
              <a:path w="3322842" h="2132865">
                <a:moveTo>
                  <a:pt x="0" y="0"/>
                </a:moveTo>
                <a:lnTo>
                  <a:pt x="3322842" y="0"/>
                </a:lnTo>
                <a:lnTo>
                  <a:pt x="3322842" y="2132865"/>
                </a:lnTo>
                <a:lnTo>
                  <a:pt x="0" y="2132865"/>
                </a:lnTo>
                <a:lnTo>
                  <a:pt x="0" y="0"/>
                </a:lnTo>
                <a:close/>
              </a:path>
            </a:pathLst>
          </a:custGeom>
        </p:spPr>
        <p:style>
          <a:lnRef idx="2">
            <a:schemeClr val="accent2">
              <a:tint val="40000"/>
              <a:alpha val="90000"/>
              <a:hueOff val="5025821"/>
              <a:satOff val="-4378"/>
              <a:lumOff val="-6"/>
              <a:alphaOff val="0"/>
            </a:schemeClr>
          </a:lnRef>
          <a:fillRef idx="1">
            <a:schemeClr val="accent2">
              <a:tint val="40000"/>
              <a:alpha val="90000"/>
              <a:hueOff val="5025821"/>
              <a:satOff val="-4378"/>
              <a:lumOff val="-6"/>
              <a:alphaOff val="0"/>
            </a:schemeClr>
          </a:fillRef>
          <a:effectRef idx="0">
            <a:schemeClr val="accent2">
              <a:tint val="40000"/>
              <a:alpha val="90000"/>
              <a:hueOff val="5025821"/>
              <a:satOff val="-4378"/>
              <a:lumOff val="-6"/>
              <a:alphaOff val="0"/>
            </a:schemeClr>
          </a:effectRef>
          <a:fontRef idx="minor">
            <a:schemeClr val="dk1">
              <a:hueOff val="0"/>
              <a:satOff val="0"/>
              <a:lumOff val="0"/>
              <a:alphaOff val="0"/>
            </a:schemeClr>
          </a:fontRef>
        </p:style>
        <p:txBody>
          <a:bodyPr spcFirstLastPara="0" vert="horz" wrap="square" lIns="96012" tIns="96012" rIns="128016" bIns="144018" numCol="1" spcCol="1270" anchor="t" anchorCtr="0">
            <a:noAutofit/>
          </a:bodyPr>
          <a:lstStyle/>
          <a:p>
            <a:pPr marL="171450" lvl="1" indent="-171450" algn="l" defTabSz="800100">
              <a:lnSpc>
                <a:spcPct val="125000"/>
              </a:lnSpc>
              <a:spcBef>
                <a:spcPct val="0"/>
              </a:spcBef>
              <a:spcAft>
                <a:spcPts val="600"/>
              </a:spcAft>
              <a:buChar char="•"/>
            </a:pPr>
            <a:r>
              <a:rPr lang="zh-CN" altLang="en-US" sz="1800" b="1" kern="1200" dirty="0">
                <a:latin typeface="微软雅黑" panose="020B0503020204020204" pitchFamily="34" charset="-122"/>
                <a:ea typeface="微软雅黑" panose="020B0503020204020204" pitchFamily="34" charset="-122"/>
              </a:rPr>
              <a:t>基于反馈环路的概念。</a:t>
            </a:r>
          </a:p>
          <a:p>
            <a:pPr marL="171450" lvl="1" indent="-171450" algn="l" defTabSz="800100">
              <a:lnSpc>
                <a:spcPct val="125000"/>
              </a:lnSpc>
              <a:spcBef>
                <a:spcPct val="0"/>
              </a:spcBef>
              <a:spcAft>
                <a:spcPts val="600"/>
              </a:spcAft>
              <a:buChar char="•"/>
            </a:pPr>
            <a:r>
              <a:rPr lang="zh-CN" altLang="en-US" sz="1800" b="1" kern="1200" dirty="0">
                <a:latin typeface="微软雅黑" panose="020B0503020204020204" pitchFamily="34" charset="-122"/>
                <a:ea typeface="微软雅黑" panose="020B0503020204020204" pitchFamily="34" charset="-122"/>
              </a:rPr>
              <a:t>根据网络</a:t>
            </a:r>
            <a:r>
              <a:rPr lang="zh-CN" altLang="en-US" sz="1800" b="1" kern="1200" dirty="0">
                <a:solidFill>
                  <a:srgbClr val="C00000"/>
                </a:solidFill>
                <a:latin typeface="微软雅黑" panose="020B0503020204020204" pitchFamily="34" charset="-122"/>
                <a:ea typeface="微软雅黑" panose="020B0503020204020204" pitchFamily="34" charset="-122"/>
              </a:rPr>
              <a:t>当前运行状态</a:t>
            </a:r>
            <a:r>
              <a:rPr lang="zh-CN" altLang="en-US" sz="1800" b="1" kern="1200" dirty="0">
                <a:latin typeface="微软雅黑" panose="020B0503020204020204" pitchFamily="34" charset="-122"/>
                <a:ea typeface="微软雅黑" panose="020B0503020204020204" pitchFamily="34" charset="-122"/>
              </a:rPr>
              <a:t>采取相应控制措施。</a:t>
            </a:r>
          </a:p>
          <a:p>
            <a:pPr marL="171450" lvl="1" indent="-171450" algn="l" defTabSz="800100">
              <a:lnSpc>
                <a:spcPct val="125000"/>
              </a:lnSpc>
              <a:spcBef>
                <a:spcPct val="0"/>
              </a:spcBef>
              <a:spcAft>
                <a:spcPts val="600"/>
              </a:spcAft>
              <a:buChar char="•"/>
            </a:pPr>
            <a:r>
              <a:rPr lang="zh-CN" altLang="en-US" sz="1800" b="1" kern="1200" dirty="0">
                <a:solidFill>
                  <a:srgbClr val="0000FF"/>
                </a:solidFill>
                <a:latin typeface="微软雅黑" panose="020B0503020204020204" pitchFamily="34" charset="-122"/>
                <a:ea typeface="微软雅黑" panose="020B0503020204020204" pitchFamily="34" charset="-122"/>
              </a:rPr>
              <a:t>思路：</a:t>
            </a:r>
            <a:r>
              <a:rPr lang="zh-CN" altLang="en-US" sz="1800" b="1" kern="1200" dirty="0">
                <a:latin typeface="微软雅黑" panose="020B0503020204020204" pitchFamily="34" charset="-122"/>
                <a:ea typeface="微软雅黑" panose="020B0503020204020204" pitchFamily="34" charset="-122"/>
              </a:rPr>
              <a:t>在发生拥塞后，采取措施进行控制，</a:t>
            </a:r>
            <a:r>
              <a:rPr lang="zh-CN" altLang="en-US" sz="1800" b="1" kern="1200" dirty="0">
                <a:solidFill>
                  <a:srgbClr val="0000FF"/>
                </a:solidFill>
                <a:latin typeface="微软雅黑" panose="020B0503020204020204" pitchFamily="34" charset="-122"/>
                <a:ea typeface="微软雅黑" panose="020B0503020204020204" pitchFamily="34" charset="-122"/>
              </a:rPr>
              <a:t>消除</a:t>
            </a:r>
            <a:r>
              <a:rPr lang="zh-CN" altLang="en-US" sz="1800" b="1" kern="1200" dirty="0">
                <a:latin typeface="微软雅黑" panose="020B0503020204020204" pitchFamily="34" charset="-122"/>
                <a:ea typeface="微软雅黑" panose="020B0503020204020204" pitchFamily="34" charset="-122"/>
              </a:rPr>
              <a:t>拥塞。</a:t>
            </a:r>
          </a:p>
        </p:txBody>
      </p:sp>
    </p:spTree>
    <p:extLst>
      <p:ext uri="{BB962C8B-B14F-4D97-AF65-F5344CB8AC3E}">
        <p14:creationId xmlns:p14="http://schemas.microsoft.com/office/powerpoint/2010/main" val="2430736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AutoShape 5"/>
          <p:cNvSpPr>
            <a:spLocks noChangeArrowheads="1"/>
          </p:cNvSpPr>
          <p:nvPr/>
        </p:nvSpPr>
        <p:spPr bwMode="auto">
          <a:xfrm>
            <a:off x="556963" y="6212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p:cNvSpPr>
            <a:spLocks noChangeArrowheads="1"/>
          </p:cNvSpPr>
          <p:nvPr/>
        </p:nvSpPr>
        <p:spPr bwMode="auto">
          <a:xfrm>
            <a:off x="3719577" y="58798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闭环控制措施</a:t>
            </a:r>
          </a:p>
        </p:txBody>
      </p:sp>
      <p:graphicFrame>
        <p:nvGraphicFramePr>
          <p:cNvPr id="2" name="图示 1"/>
          <p:cNvGraphicFramePr/>
          <p:nvPr/>
        </p:nvGraphicFramePr>
        <p:xfrm>
          <a:off x="2376691" y="1225156"/>
          <a:ext cx="4409319" cy="28189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9542460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AutoShape 5"/>
          <p:cNvSpPr>
            <a:spLocks noChangeArrowheads="1"/>
          </p:cNvSpPr>
          <p:nvPr/>
        </p:nvSpPr>
        <p:spPr bwMode="auto">
          <a:xfrm>
            <a:off x="556963" y="6212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p:cNvSpPr>
            <a:spLocks noChangeArrowheads="1"/>
          </p:cNvSpPr>
          <p:nvPr/>
        </p:nvSpPr>
        <p:spPr bwMode="auto">
          <a:xfrm>
            <a:off x="3719577" y="58798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闭环控制措施</a:t>
            </a:r>
          </a:p>
        </p:txBody>
      </p:sp>
      <p:graphicFrame>
        <p:nvGraphicFramePr>
          <p:cNvPr id="2" name="图示 1"/>
          <p:cNvGraphicFramePr/>
          <p:nvPr/>
        </p:nvGraphicFramePr>
        <p:xfrm>
          <a:off x="619025" y="1225156"/>
          <a:ext cx="4409319" cy="28189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线形标注 1 2"/>
          <p:cNvSpPr/>
          <p:nvPr/>
        </p:nvSpPr>
        <p:spPr>
          <a:xfrm>
            <a:off x="5207452" y="1442302"/>
            <a:ext cx="3323803" cy="2205872"/>
          </a:xfrm>
          <a:prstGeom prst="borderCallout1">
            <a:avLst>
              <a:gd name="adj1" fmla="val 8441"/>
              <a:gd name="adj2" fmla="val -96"/>
              <a:gd name="adj3" fmla="val 696"/>
              <a:gd name="adj4" fmla="val -10217"/>
            </a:avLst>
          </a:prstGeom>
          <a:no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8" indent="-179388">
              <a:lnSpc>
                <a:spcPts val="2000"/>
              </a:lnSpc>
              <a:buClr>
                <a:srgbClr val="0070C0"/>
              </a:buClr>
              <a:buFont typeface="Wingdings" pitchFamily="2" charset="2"/>
              <a:buChar char="l"/>
            </a:pPr>
            <a:r>
              <a:rPr lang="zh-CN" altLang="en-US" sz="1400" b="1" dirty="0">
                <a:solidFill>
                  <a:schemeClr val="tx1"/>
                </a:solidFill>
                <a:latin typeface="微软雅黑" pitchFamily="34" charset="-122"/>
                <a:ea typeface="微软雅黑" pitchFamily="34" charset="-122"/>
              </a:rPr>
              <a:t>主要指标有：</a:t>
            </a:r>
          </a:p>
          <a:p>
            <a:pPr marL="358775" indent="-179388">
              <a:lnSpc>
                <a:spcPts val="2000"/>
              </a:lnSpc>
              <a:buClr>
                <a:srgbClr val="9900CC"/>
              </a:buClr>
              <a:buFont typeface="+mj-lt"/>
              <a:buAutoNum type="arabicPeriod"/>
            </a:pPr>
            <a:r>
              <a:rPr lang="zh-CN" altLang="en-US" sz="1400" b="1" dirty="0">
                <a:solidFill>
                  <a:schemeClr val="tx1"/>
                </a:solidFill>
                <a:latin typeface="微软雅黑" pitchFamily="34" charset="-122"/>
                <a:ea typeface="微软雅黑" pitchFamily="34" charset="-122"/>
              </a:rPr>
              <a:t>由于缺少缓存空间而被丢弃的分组的百分数；</a:t>
            </a:r>
          </a:p>
          <a:p>
            <a:pPr marL="358775" indent="-179388">
              <a:lnSpc>
                <a:spcPts val="2000"/>
              </a:lnSpc>
              <a:buClr>
                <a:srgbClr val="9900CC"/>
              </a:buClr>
              <a:buFont typeface="+mj-lt"/>
              <a:buAutoNum type="arabicPeriod"/>
            </a:pPr>
            <a:r>
              <a:rPr lang="zh-CN" altLang="en-US" sz="1400" b="1" dirty="0">
                <a:solidFill>
                  <a:schemeClr val="tx1"/>
                </a:solidFill>
                <a:latin typeface="微软雅黑" pitchFamily="34" charset="-122"/>
                <a:ea typeface="微软雅黑" pitchFamily="34" charset="-122"/>
              </a:rPr>
              <a:t>平均队列长度；</a:t>
            </a:r>
          </a:p>
          <a:p>
            <a:pPr marL="358775" indent="-179388">
              <a:lnSpc>
                <a:spcPts val="2000"/>
              </a:lnSpc>
              <a:buClr>
                <a:srgbClr val="9900CC"/>
              </a:buClr>
              <a:buFont typeface="+mj-lt"/>
              <a:buAutoNum type="arabicPeriod"/>
            </a:pPr>
            <a:r>
              <a:rPr lang="zh-CN" altLang="en-US" sz="1400" b="1" dirty="0">
                <a:solidFill>
                  <a:schemeClr val="tx1"/>
                </a:solidFill>
                <a:latin typeface="微软雅黑" pitchFamily="34" charset="-122"/>
                <a:ea typeface="微软雅黑" pitchFamily="34" charset="-122"/>
              </a:rPr>
              <a:t>超时重传的分组数；</a:t>
            </a:r>
          </a:p>
          <a:p>
            <a:pPr marL="358775" indent="-179388">
              <a:lnSpc>
                <a:spcPts val="2000"/>
              </a:lnSpc>
              <a:buClr>
                <a:srgbClr val="9900CC"/>
              </a:buClr>
              <a:buFont typeface="+mj-lt"/>
              <a:buAutoNum type="arabicPeriod"/>
            </a:pPr>
            <a:r>
              <a:rPr lang="zh-CN" altLang="en-US" sz="1400" b="1" dirty="0">
                <a:solidFill>
                  <a:schemeClr val="tx1"/>
                </a:solidFill>
                <a:latin typeface="微软雅黑" pitchFamily="34" charset="-122"/>
                <a:ea typeface="微软雅黑" pitchFamily="34" charset="-122"/>
              </a:rPr>
              <a:t>平均分组时延；</a:t>
            </a:r>
          </a:p>
          <a:p>
            <a:pPr marL="358775" indent="-179388">
              <a:lnSpc>
                <a:spcPts val="2000"/>
              </a:lnSpc>
              <a:buClr>
                <a:srgbClr val="9900CC"/>
              </a:buClr>
              <a:buFont typeface="+mj-lt"/>
              <a:buAutoNum type="arabicPeriod"/>
            </a:pPr>
            <a:r>
              <a:rPr lang="zh-CN" altLang="en-US" sz="1400" b="1" dirty="0">
                <a:solidFill>
                  <a:schemeClr val="tx1"/>
                </a:solidFill>
                <a:latin typeface="微软雅黑" pitchFamily="34" charset="-122"/>
                <a:ea typeface="微软雅黑" pitchFamily="34" charset="-122"/>
              </a:rPr>
              <a:t>分组时延的标准差，等等。</a:t>
            </a:r>
          </a:p>
          <a:p>
            <a:pPr marL="179388" indent="-179388">
              <a:lnSpc>
                <a:spcPts val="2000"/>
              </a:lnSpc>
              <a:buClr>
                <a:srgbClr val="0070C0"/>
              </a:buClr>
              <a:buFont typeface="Wingdings" pitchFamily="2" charset="2"/>
              <a:buChar char="l"/>
            </a:pPr>
            <a:r>
              <a:rPr lang="zh-CN" altLang="en-US" sz="1400" b="1" dirty="0">
                <a:solidFill>
                  <a:srgbClr val="0000FF"/>
                </a:solidFill>
                <a:latin typeface="微软雅黑" pitchFamily="34" charset="-122"/>
                <a:ea typeface="微软雅黑" pitchFamily="34" charset="-122"/>
              </a:rPr>
              <a:t>这些指标的上升都标志着拥塞的增长。</a:t>
            </a:r>
          </a:p>
        </p:txBody>
      </p:sp>
    </p:spTree>
    <p:extLst>
      <p:ext uri="{BB962C8B-B14F-4D97-AF65-F5344CB8AC3E}">
        <p14:creationId xmlns:p14="http://schemas.microsoft.com/office/powerpoint/2010/main" val="270971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AutoShape 5"/>
          <p:cNvSpPr>
            <a:spLocks noChangeArrowheads="1"/>
          </p:cNvSpPr>
          <p:nvPr/>
        </p:nvSpPr>
        <p:spPr bwMode="auto">
          <a:xfrm>
            <a:off x="556963" y="6212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p:cNvSpPr>
            <a:spLocks noChangeArrowheads="1"/>
          </p:cNvSpPr>
          <p:nvPr/>
        </p:nvSpPr>
        <p:spPr bwMode="auto">
          <a:xfrm>
            <a:off x="3719577" y="58798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闭环控制措施</a:t>
            </a:r>
          </a:p>
        </p:txBody>
      </p:sp>
      <p:graphicFrame>
        <p:nvGraphicFramePr>
          <p:cNvPr id="2" name="图示 1"/>
          <p:cNvGraphicFramePr/>
          <p:nvPr/>
        </p:nvGraphicFramePr>
        <p:xfrm>
          <a:off x="619025" y="1225156"/>
          <a:ext cx="4409319" cy="28189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线形标注 1 2"/>
          <p:cNvSpPr/>
          <p:nvPr/>
        </p:nvSpPr>
        <p:spPr>
          <a:xfrm>
            <a:off x="5207452" y="1894788"/>
            <a:ext cx="3323803" cy="1753385"/>
          </a:xfrm>
          <a:prstGeom prst="borderCallout1">
            <a:avLst>
              <a:gd name="adj1" fmla="val 42353"/>
              <a:gd name="adj2" fmla="val -96"/>
              <a:gd name="adj3" fmla="val 34925"/>
              <a:gd name="adj4" fmla="val -9366"/>
            </a:avLst>
          </a:prstGeom>
          <a:no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8" indent="-179388">
              <a:lnSpc>
                <a:spcPts val="2000"/>
              </a:lnSpc>
              <a:buClr>
                <a:srgbClr val="9900CC"/>
              </a:buClr>
              <a:buFont typeface="+mj-lt"/>
              <a:buAutoNum type="arabicPeriod"/>
            </a:pPr>
            <a:r>
              <a:rPr lang="zh-CN" altLang="en-US" sz="1400" b="1" dirty="0">
                <a:solidFill>
                  <a:schemeClr val="tx1"/>
                </a:solidFill>
                <a:latin typeface="微软雅黑" pitchFamily="34" charset="-122"/>
                <a:ea typeface="微软雅黑" pitchFamily="34" charset="-122"/>
              </a:rPr>
              <a:t>将拥塞发生的信息传送到产生分组的</a:t>
            </a:r>
            <a:r>
              <a:rPr lang="zh-CN" altLang="en-US" sz="1400" b="1" dirty="0">
                <a:solidFill>
                  <a:srgbClr val="C00000"/>
                </a:solidFill>
                <a:latin typeface="微软雅黑" pitchFamily="34" charset="-122"/>
                <a:ea typeface="微软雅黑" pitchFamily="34" charset="-122"/>
              </a:rPr>
              <a:t>源站。</a:t>
            </a:r>
          </a:p>
          <a:p>
            <a:pPr marL="179388" indent="-179388">
              <a:lnSpc>
                <a:spcPts val="2000"/>
              </a:lnSpc>
              <a:buClr>
                <a:srgbClr val="9900CC"/>
              </a:buClr>
              <a:buFont typeface="+mj-lt"/>
              <a:buAutoNum type="arabicPeriod"/>
            </a:pPr>
            <a:r>
              <a:rPr lang="zh-CN" altLang="en-US" sz="1400" b="1" dirty="0">
                <a:solidFill>
                  <a:schemeClr val="tx1"/>
                </a:solidFill>
                <a:latin typeface="微软雅黑" pitchFamily="34" charset="-122"/>
                <a:ea typeface="微软雅黑" pitchFamily="34" charset="-122"/>
              </a:rPr>
              <a:t>在路由器转发的分组中保留一个比特或字段，用该</a:t>
            </a:r>
            <a:r>
              <a:rPr lang="zh-CN" altLang="en-US" sz="1400" b="1" dirty="0">
                <a:solidFill>
                  <a:srgbClr val="C00000"/>
                </a:solidFill>
                <a:latin typeface="微软雅黑" pitchFamily="34" charset="-122"/>
                <a:ea typeface="微软雅黑" pitchFamily="34" charset="-122"/>
              </a:rPr>
              <a:t>比特或字段</a:t>
            </a:r>
            <a:r>
              <a:rPr lang="zh-CN" altLang="en-US" sz="1400" b="1" dirty="0">
                <a:solidFill>
                  <a:schemeClr val="tx1"/>
                </a:solidFill>
                <a:latin typeface="微软雅黑" pitchFamily="34" charset="-122"/>
                <a:ea typeface="微软雅黑" pitchFamily="34" charset="-122"/>
              </a:rPr>
              <a:t>的值表示网络没有拥塞或产生了拥塞。</a:t>
            </a:r>
          </a:p>
          <a:p>
            <a:pPr marL="179388" indent="-179388">
              <a:lnSpc>
                <a:spcPts val="2000"/>
              </a:lnSpc>
              <a:buClr>
                <a:srgbClr val="9900CC"/>
              </a:buClr>
              <a:buFont typeface="+mj-lt"/>
              <a:buAutoNum type="arabicPeriod"/>
            </a:pPr>
            <a:r>
              <a:rPr lang="zh-CN" altLang="en-US" sz="1400" b="1" dirty="0">
                <a:solidFill>
                  <a:srgbClr val="C00000"/>
                </a:solidFill>
                <a:latin typeface="微软雅黑" pitchFamily="34" charset="-122"/>
                <a:ea typeface="微软雅黑" pitchFamily="34" charset="-122"/>
              </a:rPr>
              <a:t>周期性</a:t>
            </a:r>
            <a:r>
              <a:rPr lang="zh-CN" altLang="en-US" sz="1400" b="1" dirty="0">
                <a:solidFill>
                  <a:schemeClr val="tx1"/>
                </a:solidFill>
                <a:latin typeface="微软雅黑" pitchFamily="34" charset="-122"/>
                <a:ea typeface="微软雅黑" pitchFamily="34" charset="-122"/>
              </a:rPr>
              <a:t>地发出探测分组等。</a:t>
            </a:r>
          </a:p>
        </p:txBody>
      </p:sp>
    </p:spTree>
    <p:extLst>
      <p:ext uri="{BB962C8B-B14F-4D97-AF65-F5344CB8AC3E}">
        <p14:creationId xmlns:p14="http://schemas.microsoft.com/office/powerpoint/2010/main" val="1707833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AutoShape 5"/>
          <p:cNvSpPr>
            <a:spLocks noChangeArrowheads="1"/>
          </p:cNvSpPr>
          <p:nvPr/>
        </p:nvSpPr>
        <p:spPr bwMode="auto">
          <a:xfrm>
            <a:off x="556963" y="6212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p:cNvSpPr>
            <a:spLocks noChangeArrowheads="1"/>
          </p:cNvSpPr>
          <p:nvPr/>
        </p:nvSpPr>
        <p:spPr bwMode="auto">
          <a:xfrm>
            <a:off x="3719577" y="58798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闭环控制措施</a:t>
            </a:r>
          </a:p>
        </p:txBody>
      </p:sp>
      <p:graphicFrame>
        <p:nvGraphicFramePr>
          <p:cNvPr id="2" name="图示 1"/>
          <p:cNvGraphicFramePr/>
          <p:nvPr/>
        </p:nvGraphicFramePr>
        <p:xfrm>
          <a:off x="619025" y="1225156"/>
          <a:ext cx="4409319" cy="28189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线形标注 1 2"/>
          <p:cNvSpPr/>
          <p:nvPr/>
        </p:nvSpPr>
        <p:spPr>
          <a:xfrm>
            <a:off x="5207452" y="2686639"/>
            <a:ext cx="3398287" cy="961534"/>
          </a:xfrm>
          <a:prstGeom prst="borderCallout1">
            <a:avLst>
              <a:gd name="adj1" fmla="val 74102"/>
              <a:gd name="adj2" fmla="val -96"/>
              <a:gd name="adj3" fmla="val 89195"/>
              <a:gd name="adj4" fmla="val -9915"/>
            </a:avLst>
          </a:prstGeom>
          <a:no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8" indent="-179388">
              <a:lnSpc>
                <a:spcPts val="2000"/>
              </a:lnSpc>
              <a:buClr>
                <a:srgbClr val="0070C0"/>
              </a:buClr>
              <a:buFont typeface="Wingdings" pitchFamily="2" charset="2"/>
              <a:buChar char="l"/>
            </a:pPr>
            <a:r>
              <a:rPr lang="zh-CN" altLang="en-US" sz="1400" b="1" dirty="0">
                <a:solidFill>
                  <a:schemeClr val="tx1"/>
                </a:solidFill>
                <a:latin typeface="微软雅黑" pitchFamily="34" charset="-122"/>
                <a:ea typeface="微软雅黑" pitchFamily="34" charset="-122"/>
              </a:rPr>
              <a:t>过于频繁，会使系统产生不稳定的振荡。</a:t>
            </a:r>
          </a:p>
          <a:p>
            <a:pPr marL="179388" indent="-179388">
              <a:lnSpc>
                <a:spcPts val="2000"/>
              </a:lnSpc>
              <a:buClr>
                <a:srgbClr val="0070C0"/>
              </a:buClr>
              <a:buFont typeface="Wingdings" pitchFamily="2" charset="2"/>
              <a:buChar char="l"/>
            </a:pPr>
            <a:r>
              <a:rPr lang="zh-CN" altLang="en-US" sz="1400" b="1" dirty="0">
                <a:solidFill>
                  <a:schemeClr val="tx1"/>
                </a:solidFill>
                <a:latin typeface="微软雅黑" pitchFamily="34" charset="-122"/>
                <a:ea typeface="微软雅黑" pitchFamily="34" charset="-122"/>
              </a:rPr>
              <a:t>过于迟缓，不具有任何实用价值。</a:t>
            </a:r>
          </a:p>
          <a:p>
            <a:pPr marL="179388" indent="-179388">
              <a:lnSpc>
                <a:spcPts val="2000"/>
              </a:lnSpc>
              <a:buClr>
                <a:srgbClr val="0070C0"/>
              </a:buClr>
              <a:buFont typeface="Wingdings" pitchFamily="2" charset="2"/>
              <a:buChar char="l"/>
            </a:pPr>
            <a:r>
              <a:rPr lang="zh-CN" altLang="en-US" sz="1400" b="1" dirty="0">
                <a:solidFill>
                  <a:srgbClr val="0000FF"/>
                </a:solidFill>
                <a:latin typeface="微软雅黑" pitchFamily="34" charset="-122"/>
                <a:ea typeface="微软雅黑" pitchFamily="34" charset="-122"/>
              </a:rPr>
              <a:t>选择正确的时间常数是相当困难的。</a:t>
            </a:r>
          </a:p>
        </p:txBody>
      </p:sp>
    </p:spTree>
    <p:extLst>
      <p:ext uri="{BB962C8B-B14F-4D97-AF65-F5344CB8AC3E}">
        <p14:creationId xmlns:p14="http://schemas.microsoft.com/office/powerpoint/2010/main" val="4234001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utoShape 5"/>
          <p:cNvSpPr>
            <a:spLocks noChangeArrowheads="1"/>
          </p:cNvSpPr>
          <p:nvPr/>
        </p:nvSpPr>
        <p:spPr bwMode="auto">
          <a:xfrm>
            <a:off x="556963" y="617656"/>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7" name="Rectangle 6"/>
          <p:cNvSpPr>
            <a:spLocks noChangeArrowheads="1"/>
          </p:cNvSpPr>
          <p:nvPr/>
        </p:nvSpPr>
        <p:spPr bwMode="auto">
          <a:xfrm>
            <a:off x="2631407" y="566241"/>
            <a:ext cx="38811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5.9.2  </a:t>
            </a:r>
            <a:r>
              <a:rPr lang="zh-CN" altLang="en-US" sz="2400" b="1" dirty="0">
                <a:solidFill>
                  <a:schemeClr val="bg1"/>
                </a:solidFill>
                <a:latin typeface="微软雅黑" pitchFamily="34" charset="-122"/>
                <a:ea typeface="微软雅黑" pitchFamily="34" charset="-122"/>
              </a:rPr>
              <a:t>经典的拥塞控制算法</a:t>
            </a:r>
          </a:p>
        </p:txBody>
      </p:sp>
      <p:sp>
        <p:nvSpPr>
          <p:cNvPr id="38" name="Rectangle 8"/>
          <p:cNvSpPr>
            <a:spLocks noChangeArrowheads="1"/>
          </p:cNvSpPr>
          <p:nvPr/>
        </p:nvSpPr>
        <p:spPr bwMode="auto">
          <a:xfrm>
            <a:off x="556963" y="1021254"/>
            <a:ext cx="8048776" cy="2163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采用</a:t>
            </a:r>
            <a:r>
              <a:rPr lang="zh-CN" altLang="en-US" sz="2000" b="1" dirty="0">
                <a:solidFill>
                  <a:srgbClr val="C00000"/>
                </a:solidFill>
                <a:latin typeface="微软雅黑" pitchFamily="34" charset="-122"/>
                <a:ea typeface="微软雅黑" pitchFamily="34" charset="-122"/>
              </a:rPr>
              <a:t>基于窗口</a:t>
            </a:r>
            <a:r>
              <a:rPr lang="zh-CN" altLang="en-US" sz="2000" b="1" dirty="0">
                <a:latin typeface="微软雅黑" pitchFamily="34" charset="-122"/>
                <a:ea typeface="微软雅黑" pitchFamily="34" charset="-122"/>
              </a:rPr>
              <a:t>的拥塞控制方法，属于闭环控制方法。</a:t>
            </a:r>
          </a:p>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发送方维持一个</a:t>
            </a:r>
            <a:r>
              <a:rPr lang="zh-CN" altLang="en-US" sz="2000" b="1" dirty="0">
                <a:solidFill>
                  <a:srgbClr val="C00000"/>
                </a:solidFill>
                <a:latin typeface="微软雅黑" pitchFamily="34" charset="-122"/>
                <a:ea typeface="微软雅黑" pitchFamily="34" charset="-122"/>
              </a:rPr>
              <a:t>拥塞窗口 </a:t>
            </a:r>
            <a:r>
              <a:rPr lang="en-US" altLang="zh-CN" sz="2000" b="1" dirty="0" err="1">
                <a:solidFill>
                  <a:srgbClr val="C00000"/>
                </a:solidFill>
                <a:latin typeface="微软雅黑" pitchFamily="34" charset="-122"/>
                <a:ea typeface="微软雅黑" pitchFamily="34" charset="-122"/>
              </a:rPr>
              <a:t>cwnd</a:t>
            </a:r>
            <a:r>
              <a:rPr lang="en-US" altLang="zh-CN" sz="2000" b="1" dirty="0">
                <a:solidFill>
                  <a:srgbClr val="C00000"/>
                </a:solidFill>
                <a:latin typeface="微软雅黑" pitchFamily="34" charset="-122"/>
                <a:ea typeface="微软雅黑" pitchFamily="34" charset="-122"/>
              </a:rPr>
              <a:t> </a:t>
            </a:r>
            <a:r>
              <a:rPr lang="en-US" altLang="zh-CN" sz="2000" b="1" dirty="0">
                <a:latin typeface="微软雅黑" pitchFamily="34" charset="-122"/>
                <a:ea typeface="微软雅黑" pitchFamily="34" charset="-122"/>
              </a:rPr>
              <a:t>(Congestion Window)</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拥塞窗口</a:t>
            </a:r>
            <a:r>
              <a:rPr lang="zh-CN" altLang="en-US" sz="2000" b="1" dirty="0">
                <a:latin typeface="微软雅黑" pitchFamily="34" charset="-122"/>
                <a:ea typeface="微软雅黑" pitchFamily="34" charset="-122"/>
              </a:rPr>
              <a:t>的大小取决于网络的拥塞程度，并且是</a:t>
            </a:r>
            <a:r>
              <a:rPr lang="zh-CN" altLang="en-US" sz="2000" b="1" dirty="0">
                <a:solidFill>
                  <a:srgbClr val="C00000"/>
                </a:solidFill>
                <a:latin typeface="微软雅黑" pitchFamily="34" charset="-122"/>
                <a:ea typeface="微软雅黑" pitchFamily="34" charset="-122"/>
              </a:rPr>
              <a:t>动态变化</a:t>
            </a:r>
            <a:r>
              <a:rPr lang="zh-CN" altLang="en-US" sz="2000" b="1" dirty="0">
                <a:latin typeface="微软雅黑" pitchFamily="34" charset="-122"/>
                <a:ea typeface="微软雅黑" pitchFamily="34" charset="-122"/>
              </a:rPr>
              <a:t>的。</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发送窗口大小不仅取决于接收方窗口，还取决于网络的拥塞状况。</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只讨论拥塞控制时，可认为发送方的发送窗口总是等于拥塞窗口。</a:t>
            </a:r>
            <a:endParaRPr lang="en-US" altLang="zh-CN" sz="2000" b="1" dirty="0">
              <a:latin typeface="微软雅黑" pitchFamily="34" charset="-122"/>
              <a:ea typeface="微软雅黑" pitchFamily="34" charset="-122"/>
            </a:endParaRPr>
          </a:p>
        </p:txBody>
      </p:sp>
      <p:sp>
        <p:nvSpPr>
          <p:cNvPr id="40" name="矩形 39"/>
          <p:cNvSpPr/>
          <p:nvPr/>
        </p:nvSpPr>
        <p:spPr>
          <a:xfrm>
            <a:off x="556963" y="3686475"/>
            <a:ext cx="8048776" cy="499026"/>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000" b="1" dirty="0">
                <a:latin typeface="微软雅黑" pitchFamily="34" charset="-122"/>
                <a:ea typeface="微软雅黑" pitchFamily="34" charset="-122"/>
              </a:rPr>
              <a:t>真正的发送窗口值 </a:t>
            </a:r>
            <a:r>
              <a:rPr lang="en-US" altLang="zh-CN" sz="2000" b="1" dirty="0">
                <a:latin typeface="微软雅黑" pitchFamily="34" charset="-122"/>
                <a:ea typeface="微软雅黑" pitchFamily="34" charset="-122"/>
              </a:rPr>
              <a:t>= Min (</a:t>
            </a:r>
            <a:r>
              <a:rPr lang="zh-CN" altLang="en-US" sz="2000" b="1" dirty="0">
                <a:latin typeface="微软雅黑" pitchFamily="34" charset="-122"/>
                <a:ea typeface="微软雅黑" pitchFamily="34" charset="-122"/>
              </a:rPr>
              <a:t>接收方通知的窗口值，拥塞窗口值</a:t>
            </a:r>
            <a:r>
              <a:rPr lang="en-US" altLang="zh-CN" sz="2000" b="1" dirty="0">
                <a:latin typeface="微软雅黑" pitchFamily="34" charset="-122"/>
                <a:ea typeface="微软雅黑" pitchFamily="34" charset="-122"/>
              </a:rPr>
              <a:t>)</a:t>
            </a:r>
          </a:p>
        </p:txBody>
      </p:sp>
    </p:spTree>
    <p:extLst>
      <p:ext uri="{BB962C8B-B14F-4D97-AF65-F5344CB8AC3E}">
        <p14:creationId xmlns:p14="http://schemas.microsoft.com/office/powerpoint/2010/main" val="710984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8">
                                            <p:txEl>
                                              <p:pRg st="0" end="0"/>
                                            </p:txEl>
                                          </p:spTgt>
                                        </p:tgtEl>
                                        <p:attrNameLst>
                                          <p:attrName>style.visibility</p:attrName>
                                        </p:attrNameLst>
                                      </p:cBhvr>
                                      <p:to>
                                        <p:strVal val="visible"/>
                                      </p:to>
                                    </p:set>
                                    <p:animEffect transition="in" filter="fade">
                                      <p:cBhvr>
                                        <p:cTn id="7" dur="1000"/>
                                        <p:tgtEl>
                                          <p:spTgt spid="38">
                                            <p:txEl>
                                              <p:pRg st="0" end="0"/>
                                            </p:txEl>
                                          </p:spTgt>
                                        </p:tgtEl>
                                      </p:cBhvr>
                                    </p:animEffect>
                                    <p:anim calcmode="lin" valueType="num">
                                      <p:cBhvr>
                                        <p:cTn id="8" dur="1000" fill="hold"/>
                                        <p:tgtEl>
                                          <p:spTgt spid="3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8">
                                            <p:txEl>
                                              <p:pRg st="1" end="1"/>
                                            </p:txEl>
                                          </p:spTgt>
                                        </p:tgtEl>
                                        <p:attrNameLst>
                                          <p:attrName>style.visibility</p:attrName>
                                        </p:attrNameLst>
                                      </p:cBhvr>
                                      <p:to>
                                        <p:strVal val="visible"/>
                                      </p:to>
                                    </p:set>
                                    <p:animEffect transition="in" filter="fade">
                                      <p:cBhvr>
                                        <p:cTn id="14" dur="1000"/>
                                        <p:tgtEl>
                                          <p:spTgt spid="38">
                                            <p:txEl>
                                              <p:pRg st="1" end="1"/>
                                            </p:txEl>
                                          </p:spTgt>
                                        </p:tgtEl>
                                      </p:cBhvr>
                                    </p:animEffect>
                                    <p:anim calcmode="lin" valueType="num">
                                      <p:cBhvr>
                                        <p:cTn id="15" dur="1000" fill="hold"/>
                                        <p:tgtEl>
                                          <p:spTgt spid="3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8">
                                            <p:txEl>
                                              <p:pRg st="2" end="2"/>
                                            </p:txEl>
                                          </p:spTgt>
                                        </p:tgtEl>
                                        <p:attrNameLst>
                                          <p:attrName>style.visibility</p:attrName>
                                        </p:attrNameLst>
                                      </p:cBhvr>
                                      <p:to>
                                        <p:strVal val="visible"/>
                                      </p:to>
                                    </p:set>
                                    <p:animEffect transition="in" filter="fade">
                                      <p:cBhvr>
                                        <p:cTn id="21" dur="1000"/>
                                        <p:tgtEl>
                                          <p:spTgt spid="38">
                                            <p:txEl>
                                              <p:pRg st="2" end="2"/>
                                            </p:txEl>
                                          </p:spTgt>
                                        </p:tgtEl>
                                      </p:cBhvr>
                                    </p:animEffect>
                                    <p:anim calcmode="lin" valueType="num">
                                      <p:cBhvr>
                                        <p:cTn id="22" dur="1000" fill="hold"/>
                                        <p:tgtEl>
                                          <p:spTgt spid="38">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40"/>
                                        </p:tgtEl>
                                        <p:attrNameLst>
                                          <p:attrName>style.visibility</p:attrName>
                                        </p:attrNameLst>
                                      </p:cBhvr>
                                      <p:to>
                                        <p:strVal val="visible"/>
                                      </p:to>
                                    </p:set>
                                    <p:anim calcmode="lin" valueType="num">
                                      <p:cBhvr>
                                        <p:cTn id="28" dur="500" fill="hold"/>
                                        <p:tgtEl>
                                          <p:spTgt spid="40"/>
                                        </p:tgtEl>
                                        <p:attrNameLst>
                                          <p:attrName>ppt_w</p:attrName>
                                        </p:attrNameLst>
                                      </p:cBhvr>
                                      <p:tavLst>
                                        <p:tav tm="0">
                                          <p:val>
                                            <p:fltVal val="0"/>
                                          </p:val>
                                        </p:tav>
                                        <p:tav tm="100000">
                                          <p:val>
                                            <p:strVal val="#ppt_w"/>
                                          </p:val>
                                        </p:tav>
                                      </p:tavLst>
                                    </p:anim>
                                    <p:anim calcmode="lin" valueType="num">
                                      <p:cBhvr>
                                        <p:cTn id="29" dur="500" fill="hold"/>
                                        <p:tgtEl>
                                          <p:spTgt spid="40"/>
                                        </p:tgtEl>
                                        <p:attrNameLst>
                                          <p:attrName>ppt_h</p:attrName>
                                        </p:attrNameLst>
                                      </p:cBhvr>
                                      <p:tavLst>
                                        <p:tav tm="0">
                                          <p:val>
                                            <p:fltVal val="0"/>
                                          </p:val>
                                        </p:tav>
                                        <p:tav tm="100000">
                                          <p:val>
                                            <p:strVal val="#ppt_h"/>
                                          </p:val>
                                        </p:tav>
                                      </p:tavLst>
                                    </p:anim>
                                    <p:animEffect transition="in" filter="fade">
                                      <p:cBhvr>
                                        <p:cTn id="30" dur="500"/>
                                        <p:tgtEl>
                                          <p:spTgt spid="40"/>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8">
                                            <p:txEl>
                                              <p:pRg st="3" end="3"/>
                                            </p:txEl>
                                          </p:spTgt>
                                        </p:tgtEl>
                                        <p:attrNameLst>
                                          <p:attrName>style.visibility</p:attrName>
                                        </p:attrNameLst>
                                      </p:cBhvr>
                                      <p:to>
                                        <p:strVal val="visible"/>
                                      </p:to>
                                    </p:set>
                                    <p:animEffect transition="in" filter="fade">
                                      <p:cBhvr>
                                        <p:cTn id="35" dur="1000"/>
                                        <p:tgtEl>
                                          <p:spTgt spid="38">
                                            <p:txEl>
                                              <p:pRg st="3" end="3"/>
                                            </p:txEl>
                                          </p:spTgt>
                                        </p:tgtEl>
                                      </p:cBhvr>
                                    </p:animEffect>
                                    <p:anim calcmode="lin" valueType="num">
                                      <p:cBhvr>
                                        <p:cTn id="36" dur="1000" fill="hold"/>
                                        <p:tgtEl>
                                          <p:spTgt spid="38">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8">
                                            <p:txEl>
                                              <p:pRg st="4" end="4"/>
                                            </p:txEl>
                                          </p:spTgt>
                                        </p:tgtEl>
                                        <p:attrNameLst>
                                          <p:attrName>style.visibility</p:attrName>
                                        </p:attrNameLst>
                                      </p:cBhvr>
                                      <p:to>
                                        <p:strVal val="visible"/>
                                      </p:to>
                                    </p:set>
                                    <p:animEffect transition="in" filter="fade">
                                      <p:cBhvr>
                                        <p:cTn id="42" dur="1000"/>
                                        <p:tgtEl>
                                          <p:spTgt spid="38">
                                            <p:txEl>
                                              <p:pRg st="4" end="4"/>
                                            </p:txEl>
                                          </p:spTgt>
                                        </p:tgtEl>
                                      </p:cBhvr>
                                    </p:animEffect>
                                    <p:anim calcmode="lin" valueType="num">
                                      <p:cBhvr>
                                        <p:cTn id="43" dur="1000" fill="hold"/>
                                        <p:tgtEl>
                                          <p:spTgt spid="38">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318D6-A0D0-E3DD-287C-2B68FC5CBD97}"/>
            </a:ext>
          </a:extLst>
        </p:cNvPr>
        <p:cNvGrpSpPr/>
        <p:nvPr/>
      </p:nvGrpSpPr>
      <p:grpSpPr>
        <a:xfrm>
          <a:off x="0" y="0"/>
          <a:ext cx="0" cy="0"/>
          <a:chOff x="0" y="0"/>
          <a:chExt cx="0" cy="0"/>
        </a:xfrm>
      </p:grpSpPr>
      <p:sp>
        <p:nvSpPr>
          <p:cNvPr id="36" name="AutoShape 5">
            <a:extLst>
              <a:ext uri="{FF2B5EF4-FFF2-40B4-BE49-F238E27FC236}">
                <a16:creationId xmlns:a16="http://schemas.microsoft.com/office/drawing/2014/main" id="{47F7E846-BCF2-894B-0A91-886B642A88DA}"/>
              </a:ext>
            </a:extLst>
          </p:cNvPr>
          <p:cNvSpPr>
            <a:spLocks noChangeArrowheads="1"/>
          </p:cNvSpPr>
          <p:nvPr/>
        </p:nvSpPr>
        <p:spPr bwMode="auto">
          <a:xfrm>
            <a:off x="556963" y="62005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7" name="Rectangle 6">
            <a:extLst>
              <a:ext uri="{FF2B5EF4-FFF2-40B4-BE49-F238E27FC236}">
                <a16:creationId xmlns:a16="http://schemas.microsoft.com/office/drawing/2014/main" id="{FEB9FADF-39FA-5721-0299-12AC54329DC4}"/>
              </a:ext>
            </a:extLst>
          </p:cNvPr>
          <p:cNvSpPr>
            <a:spLocks noChangeArrowheads="1"/>
          </p:cNvSpPr>
          <p:nvPr/>
        </p:nvSpPr>
        <p:spPr bwMode="auto">
          <a:xfrm>
            <a:off x="2437176" y="586843"/>
            <a:ext cx="42883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发送方如何知道网络发生了拥塞呢？</a:t>
            </a:r>
          </a:p>
        </p:txBody>
      </p:sp>
      <p:sp>
        <p:nvSpPr>
          <p:cNvPr id="38" name="Rectangle 68">
            <a:extLst>
              <a:ext uri="{FF2B5EF4-FFF2-40B4-BE49-F238E27FC236}">
                <a16:creationId xmlns:a16="http://schemas.microsoft.com/office/drawing/2014/main" id="{7CE393F5-12D6-2350-2BFA-EEFB215B28A2}"/>
              </a:ext>
            </a:extLst>
          </p:cNvPr>
          <p:cNvSpPr>
            <a:spLocks noChangeArrowheads="1"/>
          </p:cNvSpPr>
          <p:nvPr/>
        </p:nvSpPr>
        <p:spPr bwMode="auto">
          <a:xfrm>
            <a:off x="556963" y="983153"/>
            <a:ext cx="8048776" cy="34331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当网络发生拥塞时，路由器就常常会把等待处理排队时间过长的分组丢弃。</a:t>
            </a:r>
            <a:endParaRPr lang="en-US" altLang="zh-CN" sz="2000" b="1" dirty="0">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现在通信线路的传输质量一般都很好，因传输出现差错而丢弃分组的概率是很小的（远小于</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因此，判断网络发生拥塞的一种简单方法，就是根据网络是否出现了超时重传。</a:t>
            </a:r>
            <a:endParaRPr lang="en-US" altLang="zh-CN" sz="2000" b="1" dirty="0">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当然，也可以设法让发生拥塞的路由器直接告诉源主机，网络已发生了拥塞。</a:t>
            </a:r>
          </a:p>
        </p:txBody>
      </p:sp>
    </p:spTree>
    <p:extLst>
      <p:ext uri="{BB962C8B-B14F-4D97-AF65-F5344CB8AC3E}">
        <p14:creationId xmlns:p14="http://schemas.microsoft.com/office/powerpoint/2010/main" val="1781902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8">
                                            <p:txEl>
                                              <p:pRg st="0" end="0"/>
                                            </p:txEl>
                                          </p:spTgt>
                                        </p:tgtEl>
                                        <p:attrNameLst>
                                          <p:attrName>style.visibility</p:attrName>
                                        </p:attrNameLst>
                                      </p:cBhvr>
                                      <p:to>
                                        <p:strVal val="visible"/>
                                      </p:to>
                                    </p:set>
                                    <p:animEffect transition="in" filter="fade">
                                      <p:cBhvr>
                                        <p:cTn id="7" dur="1000"/>
                                        <p:tgtEl>
                                          <p:spTgt spid="38">
                                            <p:txEl>
                                              <p:pRg st="0" end="0"/>
                                            </p:txEl>
                                          </p:spTgt>
                                        </p:tgtEl>
                                      </p:cBhvr>
                                    </p:animEffect>
                                    <p:anim calcmode="lin" valueType="num">
                                      <p:cBhvr>
                                        <p:cTn id="8" dur="1000" fill="hold"/>
                                        <p:tgtEl>
                                          <p:spTgt spid="3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8">
                                            <p:txEl>
                                              <p:pRg st="1" end="1"/>
                                            </p:txEl>
                                          </p:spTgt>
                                        </p:tgtEl>
                                        <p:attrNameLst>
                                          <p:attrName>style.visibility</p:attrName>
                                        </p:attrNameLst>
                                      </p:cBhvr>
                                      <p:to>
                                        <p:strVal val="visible"/>
                                      </p:to>
                                    </p:set>
                                    <p:animEffect transition="in" filter="fade">
                                      <p:cBhvr>
                                        <p:cTn id="14" dur="1000"/>
                                        <p:tgtEl>
                                          <p:spTgt spid="38">
                                            <p:txEl>
                                              <p:pRg st="1" end="1"/>
                                            </p:txEl>
                                          </p:spTgt>
                                        </p:tgtEl>
                                      </p:cBhvr>
                                    </p:animEffect>
                                    <p:anim calcmode="lin" valueType="num">
                                      <p:cBhvr>
                                        <p:cTn id="15" dur="1000" fill="hold"/>
                                        <p:tgtEl>
                                          <p:spTgt spid="3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8">
                                            <p:txEl>
                                              <p:pRg st="2" end="2"/>
                                            </p:txEl>
                                          </p:spTgt>
                                        </p:tgtEl>
                                        <p:attrNameLst>
                                          <p:attrName>style.visibility</p:attrName>
                                        </p:attrNameLst>
                                      </p:cBhvr>
                                      <p:to>
                                        <p:strVal val="visible"/>
                                      </p:to>
                                    </p:set>
                                    <p:animEffect transition="in" filter="fade">
                                      <p:cBhvr>
                                        <p:cTn id="21" dur="1000"/>
                                        <p:tgtEl>
                                          <p:spTgt spid="38">
                                            <p:txEl>
                                              <p:pRg st="2" end="2"/>
                                            </p:txEl>
                                          </p:spTgt>
                                        </p:tgtEl>
                                      </p:cBhvr>
                                    </p:animEffect>
                                    <p:anim calcmode="lin" valueType="num">
                                      <p:cBhvr>
                                        <p:cTn id="22" dur="1000" fill="hold"/>
                                        <p:tgtEl>
                                          <p:spTgt spid="38">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8">
                                            <p:txEl>
                                              <p:pRg st="3" end="3"/>
                                            </p:txEl>
                                          </p:spTgt>
                                        </p:tgtEl>
                                        <p:attrNameLst>
                                          <p:attrName>style.visibility</p:attrName>
                                        </p:attrNameLst>
                                      </p:cBhvr>
                                      <p:to>
                                        <p:strVal val="visible"/>
                                      </p:to>
                                    </p:set>
                                    <p:animEffect transition="in" filter="fade">
                                      <p:cBhvr>
                                        <p:cTn id="28" dur="1000"/>
                                        <p:tgtEl>
                                          <p:spTgt spid="38">
                                            <p:txEl>
                                              <p:pRg st="3" end="3"/>
                                            </p:txEl>
                                          </p:spTgt>
                                        </p:tgtEl>
                                      </p:cBhvr>
                                    </p:animEffect>
                                    <p:anim calcmode="lin" valueType="num">
                                      <p:cBhvr>
                                        <p:cTn id="29" dur="1000" fill="hold"/>
                                        <p:tgtEl>
                                          <p:spTgt spid="38">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utoShape 5"/>
          <p:cNvSpPr>
            <a:spLocks noChangeArrowheads="1"/>
          </p:cNvSpPr>
          <p:nvPr/>
        </p:nvSpPr>
        <p:spPr bwMode="auto">
          <a:xfrm>
            <a:off x="556963" y="62005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7" name="Rectangle 6"/>
          <p:cNvSpPr>
            <a:spLocks noChangeArrowheads="1"/>
          </p:cNvSpPr>
          <p:nvPr/>
        </p:nvSpPr>
        <p:spPr bwMode="auto">
          <a:xfrm>
            <a:off x="3078377" y="586843"/>
            <a:ext cx="3005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控制拥塞窗口变化的原则</a:t>
            </a:r>
          </a:p>
        </p:txBody>
      </p:sp>
      <p:sp>
        <p:nvSpPr>
          <p:cNvPr id="38" name="Rectangle 68"/>
          <p:cNvSpPr>
            <a:spLocks noChangeArrowheads="1"/>
          </p:cNvSpPr>
          <p:nvPr/>
        </p:nvSpPr>
        <p:spPr bwMode="auto">
          <a:xfrm>
            <a:off x="556963" y="983153"/>
            <a:ext cx="8048776"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只要网络没有出现拥塞，拥塞窗口就可以再增大一些，以便把更多的分组发送出去，提高网络的利用率。</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但只要网络出现拥塞或有可能出现拥塞，就必须把拥塞窗口减小一些，以减少注入到网络中的分组数，缓解网络出现的拥塞。</a:t>
            </a:r>
          </a:p>
        </p:txBody>
      </p:sp>
    </p:spTree>
    <p:extLst>
      <p:ext uri="{BB962C8B-B14F-4D97-AF65-F5344CB8AC3E}">
        <p14:creationId xmlns:p14="http://schemas.microsoft.com/office/powerpoint/2010/main" val="1436436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8">
                                            <p:txEl>
                                              <p:pRg st="0" end="0"/>
                                            </p:txEl>
                                          </p:spTgt>
                                        </p:tgtEl>
                                        <p:attrNameLst>
                                          <p:attrName>style.visibility</p:attrName>
                                        </p:attrNameLst>
                                      </p:cBhvr>
                                      <p:to>
                                        <p:strVal val="visible"/>
                                      </p:to>
                                    </p:set>
                                    <p:animEffect transition="in" filter="fade">
                                      <p:cBhvr>
                                        <p:cTn id="7" dur="1000"/>
                                        <p:tgtEl>
                                          <p:spTgt spid="38">
                                            <p:txEl>
                                              <p:pRg st="0" end="0"/>
                                            </p:txEl>
                                          </p:spTgt>
                                        </p:tgtEl>
                                      </p:cBhvr>
                                    </p:animEffect>
                                    <p:anim calcmode="lin" valueType="num">
                                      <p:cBhvr>
                                        <p:cTn id="8" dur="1000" fill="hold"/>
                                        <p:tgtEl>
                                          <p:spTgt spid="3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8">
                                            <p:txEl>
                                              <p:pRg st="1" end="1"/>
                                            </p:txEl>
                                          </p:spTgt>
                                        </p:tgtEl>
                                        <p:attrNameLst>
                                          <p:attrName>style.visibility</p:attrName>
                                        </p:attrNameLst>
                                      </p:cBhvr>
                                      <p:to>
                                        <p:strVal val="visible"/>
                                      </p:to>
                                    </p:set>
                                    <p:animEffect transition="in" filter="fade">
                                      <p:cBhvr>
                                        <p:cTn id="14" dur="1000"/>
                                        <p:tgtEl>
                                          <p:spTgt spid="38">
                                            <p:txEl>
                                              <p:pRg st="1" end="1"/>
                                            </p:txEl>
                                          </p:spTgt>
                                        </p:tgtEl>
                                      </p:cBhvr>
                                    </p:animEffect>
                                    <p:anim calcmode="lin" valueType="num">
                                      <p:cBhvr>
                                        <p:cTn id="15" dur="1000" fill="hold"/>
                                        <p:tgtEl>
                                          <p:spTgt spid="3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8">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00E2A-B6D8-5F2B-1433-60B1E430BB7B}"/>
            </a:ext>
          </a:extLst>
        </p:cNvPr>
        <p:cNvGrpSpPr/>
        <p:nvPr/>
      </p:nvGrpSpPr>
      <p:grpSpPr>
        <a:xfrm>
          <a:off x="0" y="0"/>
          <a:ext cx="0" cy="0"/>
          <a:chOff x="0" y="0"/>
          <a:chExt cx="0" cy="0"/>
        </a:xfrm>
      </p:grpSpPr>
      <p:sp>
        <p:nvSpPr>
          <p:cNvPr id="36" name="AutoShape 5">
            <a:extLst>
              <a:ext uri="{FF2B5EF4-FFF2-40B4-BE49-F238E27FC236}">
                <a16:creationId xmlns:a16="http://schemas.microsoft.com/office/drawing/2014/main" id="{6BCB7104-706D-74D9-4BA1-1D28C8D4B994}"/>
              </a:ext>
            </a:extLst>
          </p:cNvPr>
          <p:cNvSpPr>
            <a:spLocks noChangeArrowheads="1"/>
          </p:cNvSpPr>
          <p:nvPr/>
        </p:nvSpPr>
        <p:spPr bwMode="auto">
          <a:xfrm>
            <a:off x="556963" y="62005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7" name="Rectangle 6">
            <a:extLst>
              <a:ext uri="{FF2B5EF4-FFF2-40B4-BE49-F238E27FC236}">
                <a16:creationId xmlns:a16="http://schemas.microsoft.com/office/drawing/2014/main" id="{E46F2346-432B-5CEF-B975-56FDB0EF76E9}"/>
              </a:ext>
            </a:extLst>
          </p:cNvPr>
          <p:cNvSpPr>
            <a:spLocks noChangeArrowheads="1"/>
          </p:cNvSpPr>
          <p:nvPr/>
        </p:nvSpPr>
        <p:spPr bwMode="auto">
          <a:xfrm>
            <a:off x="2437176" y="586843"/>
            <a:ext cx="42883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发送方如何知道网络发生了拥塞呢？</a:t>
            </a:r>
          </a:p>
        </p:txBody>
      </p:sp>
      <p:sp>
        <p:nvSpPr>
          <p:cNvPr id="38" name="Rectangle 68">
            <a:extLst>
              <a:ext uri="{FF2B5EF4-FFF2-40B4-BE49-F238E27FC236}">
                <a16:creationId xmlns:a16="http://schemas.microsoft.com/office/drawing/2014/main" id="{3D05C788-4A0A-630A-080D-A5B39ED0EDB7}"/>
              </a:ext>
            </a:extLst>
          </p:cNvPr>
          <p:cNvSpPr>
            <a:spLocks noChangeArrowheads="1"/>
          </p:cNvSpPr>
          <p:nvPr/>
        </p:nvSpPr>
        <p:spPr bwMode="auto">
          <a:xfrm>
            <a:off x="556963" y="983153"/>
            <a:ext cx="8048776" cy="34331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当网络发生拥塞时，路由器就常常会把等待处理排队时间过长的分组丢弃。</a:t>
            </a:r>
            <a:endParaRPr lang="en-US" altLang="zh-CN" sz="2000" b="1" dirty="0">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现在通信线路的传输质量一般都很好，因传输出现差错而丢弃分组的概率是很小的（远小于</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因此，判断网络发生拥塞的一种简单方法，就是根据网络是否出现了超时重传。</a:t>
            </a:r>
            <a:endParaRPr lang="en-US" altLang="zh-CN" sz="2000" b="1" dirty="0">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当然，也可以设法让发生拥塞的路由器直接告诉源主机，网络已发生了拥塞。</a:t>
            </a:r>
          </a:p>
        </p:txBody>
      </p:sp>
    </p:spTree>
    <p:extLst>
      <p:ext uri="{BB962C8B-B14F-4D97-AF65-F5344CB8AC3E}">
        <p14:creationId xmlns:p14="http://schemas.microsoft.com/office/powerpoint/2010/main" val="2933336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8">
                                            <p:txEl>
                                              <p:pRg st="0" end="0"/>
                                            </p:txEl>
                                          </p:spTgt>
                                        </p:tgtEl>
                                        <p:attrNameLst>
                                          <p:attrName>style.visibility</p:attrName>
                                        </p:attrNameLst>
                                      </p:cBhvr>
                                      <p:to>
                                        <p:strVal val="visible"/>
                                      </p:to>
                                    </p:set>
                                    <p:animEffect transition="in" filter="fade">
                                      <p:cBhvr>
                                        <p:cTn id="7" dur="1000"/>
                                        <p:tgtEl>
                                          <p:spTgt spid="38">
                                            <p:txEl>
                                              <p:pRg st="0" end="0"/>
                                            </p:txEl>
                                          </p:spTgt>
                                        </p:tgtEl>
                                      </p:cBhvr>
                                    </p:animEffect>
                                    <p:anim calcmode="lin" valueType="num">
                                      <p:cBhvr>
                                        <p:cTn id="8" dur="1000" fill="hold"/>
                                        <p:tgtEl>
                                          <p:spTgt spid="3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8">
                                            <p:txEl>
                                              <p:pRg st="1" end="1"/>
                                            </p:txEl>
                                          </p:spTgt>
                                        </p:tgtEl>
                                        <p:attrNameLst>
                                          <p:attrName>style.visibility</p:attrName>
                                        </p:attrNameLst>
                                      </p:cBhvr>
                                      <p:to>
                                        <p:strVal val="visible"/>
                                      </p:to>
                                    </p:set>
                                    <p:animEffect transition="in" filter="fade">
                                      <p:cBhvr>
                                        <p:cTn id="14" dur="1000"/>
                                        <p:tgtEl>
                                          <p:spTgt spid="38">
                                            <p:txEl>
                                              <p:pRg st="1" end="1"/>
                                            </p:txEl>
                                          </p:spTgt>
                                        </p:tgtEl>
                                      </p:cBhvr>
                                    </p:animEffect>
                                    <p:anim calcmode="lin" valueType="num">
                                      <p:cBhvr>
                                        <p:cTn id="15" dur="1000" fill="hold"/>
                                        <p:tgtEl>
                                          <p:spTgt spid="3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8">
                                            <p:txEl>
                                              <p:pRg st="2" end="2"/>
                                            </p:txEl>
                                          </p:spTgt>
                                        </p:tgtEl>
                                        <p:attrNameLst>
                                          <p:attrName>style.visibility</p:attrName>
                                        </p:attrNameLst>
                                      </p:cBhvr>
                                      <p:to>
                                        <p:strVal val="visible"/>
                                      </p:to>
                                    </p:set>
                                    <p:animEffect transition="in" filter="fade">
                                      <p:cBhvr>
                                        <p:cTn id="21" dur="1000"/>
                                        <p:tgtEl>
                                          <p:spTgt spid="38">
                                            <p:txEl>
                                              <p:pRg st="2" end="2"/>
                                            </p:txEl>
                                          </p:spTgt>
                                        </p:tgtEl>
                                      </p:cBhvr>
                                    </p:animEffect>
                                    <p:anim calcmode="lin" valueType="num">
                                      <p:cBhvr>
                                        <p:cTn id="22" dur="1000" fill="hold"/>
                                        <p:tgtEl>
                                          <p:spTgt spid="38">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8">
                                            <p:txEl>
                                              <p:pRg st="3" end="3"/>
                                            </p:txEl>
                                          </p:spTgt>
                                        </p:tgtEl>
                                        <p:attrNameLst>
                                          <p:attrName>style.visibility</p:attrName>
                                        </p:attrNameLst>
                                      </p:cBhvr>
                                      <p:to>
                                        <p:strVal val="visible"/>
                                      </p:to>
                                    </p:set>
                                    <p:animEffect transition="in" filter="fade">
                                      <p:cBhvr>
                                        <p:cTn id="28" dur="1000"/>
                                        <p:tgtEl>
                                          <p:spTgt spid="38">
                                            <p:txEl>
                                              <p:pRg st="3" end="3"/>
                                            </p:txEl>
                                          </p:spTgt>
                                        </p:tgtEl>
                                      </p:cBhvr>
                                    </p:animEffect>
                                    <p:anim calcmode="lin" valueType="num">
                                      <p:cBhvr>
                                        <p:cTn id="29" dur="1000" fill="hold"/>
                                        <p:tgtEl>
                                          <p:spTgt spid="38">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utoShape 5"/>
          <p:cNvSpPr>
            <a:spLocks noChangeArrowheads="1"/>
          </p:cNvSpPr>
          <p:nvPr/>
        </p:nvSpPr>
        <p:spPr bwMode="auto">
          <a:xfrm>
            <a:off x="556963" y="61953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7" name="Rectangle 6"/>
          <p:cNvSpPr>
            <a:spLocks noChangeArrowheads="1"/>
          </p:cNvSpPr>
          <p:nvPr/>
        </p:nvSpPr>
        <p:spPr bwMode="auto">
          <a:xfrm>
            <a:off x="3435237" y="586319"/>
            <a:ext cx="22922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拥塞控制算法</a:t>
            </a:r>
          </a:p>
        </p:txBody>
      </p:sp>
      <p:sp>
        <p:nvSpPr>
          <p:cNvPr id="38" name="Rectangle 68"/>
          <p:cNvSpPr>
            <a:spLocks noChangeArrowheads="1"/>
          </p:cNvSpPr>
          <p:nvPr/>
        </p:nvSpPr>
        <p:spPr bwMode="auto">
          <a:xfrm>
            <a:off x="556963" y="979999"/>
            <a:ext cx="8048776"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Reno </a:t>
            </a:r>
            <a:r>
              <a:rPr lang="zh-CN" altLang="en-US" sz="2000" b="1" dirty="0">
                <a:latin typeface="微软雅黑" pitchFamily="34" charset="-122"/>
                <a:ea typeface="微软雅黑" pitchFamily="34" charset="-122"/>
              </a:rPr>
              <a:t>四种拥塞控制算法（ </a:t>
            </a:r>
            <a:r>
              <a:rPr lang="en-US" altLang="zh-CN" sz="2000" b="1" dirty="0">
                <a:latin typeface="微软雅黑" pitchFamily="34" charset="-122"/>
                <a:ea typeface="微软雅黑" pitchFamily="34" charset="-122"/>
              </a:rPr>
              <a:t>RFC 5681</a:t>
            </a:r>
            <a:r>
              <a:rPr lang="zh-CN" altLang="en-US" sz="2000" b="1" dirty="0">
                <a:latin typeface="微软雅黑" pitchFamily="34" charset="-122"/>
                <a:ea typeface="微软雅黑" pitchFamily="34" charset="-122"/>
              </a:rPr>
              <a:t>） ：</a:t>
            </a:r>
          </a:p>
          <a:p>
            <a:pPr marL="633413" indent="-342900">
              <a:lnSpc>
                <a:spcPts val="3300"/>
              </a:lnSpc>
              <a:buClr>
                <a:srgbClr val="7030A0"/>
              </a:buClr>
              <a:buFont typeface="Wingdings" panose="05000000000000000000" pitchFamily="2" charset="2"/>
              <a:buChar char="l"/>
            </a:pPr>
            <a:r>
              <a:rPr lang="zh-CN" altLang="en-US" sz="2000" b="1" dirty="0">
                <a:latin typeface="微软雅黑" pitchFamily="34" charset="-122"/>
                <a:ea typeface="微软雅黑" pitchFamily="34" charset="-122"/>
              </a:rPr>
              <a:t>慢启动 </a:t>
            </a:r>
            <a:r>
              <a:rPr lang="en-US" altLang="zh-CN" sz="2000" b="1" dirty="0">
                <a:latin typeface="微软雅黑" pitchFamily="34" charset="-122"/>
                <a:ea typeface="微软雅黑" pitchFamily="34" charset="-122"/>
              </a:rPr>
              <a:t>(slow-start)</a:t>
            </a:r>
          </a:p>
          <a:p>
            <a:pPr marL="633413" indent="-342900">
              <a:lnSpc>
                <a:spcPts val="3300"/>
              </a:lnSpc>
              <a:buClr>
                <a:srgbClr val="7030A0"/>
              </a:buClr>
              <a:buFont typeface="Wingdings" panose="05000000000000000000" pitchFamily="2" charset="2"/>
              <a:buChar char="l"/>
            </a:pPr>
            <a:r>
              <a:rPr lang="zh-CN" altLang="en-US" sz="2000" b="1" dirty="0">
                <a:latin typeface="微软雅黑" pitchFamily="34" charset="-122"/>
                <a:ea typeface="微软雅黑" pitchFamily="34" charset="-122"/>
              </a:rPr>
              <a:t>拥塞避免 </a:t>
            </a:r>
            <a:r>
              <a:rPr lang="en-US" altLang="zh-CN" sz="2000" b="1" dirty="0">
                <a:latin typeface="微软雅黑" pitchFamily="34" charset="-122"/>
                <a:ea typeface="微软雅黑" pitchFamily="34" charset="-122"/>
              </a:rPr>
              <a:t>(congestion avoidance)</a:t>
            </a:r>
          </a:p>
          <a:p>
            <a:pPr marL="633413" indent="-342900">
              <a:lnSpc>
                <a:spcPts val="3300"/>
              </a:lnSpc>
              <a:buClr>
                <a:srgbClr val="7030A0"/>
              </a:buClr>
              <a:buFont typeface="Wingdings" panose="05000000000000000000" pitchFamily="2" charset="2"/>
              <a:buChar char="l"/>
            </a:pPr>
            <a:r>
              <a:rPr lang="zh-CN" altLang="en-US" sz="2000" b="1" dirty="0">
                <a:latin typeface="微软雅黑" pitchFamily="34" charset="-122"/>
                <a:ea typeface="微软雅黑" pitchFamily="34" charset="-122"/>
              </a:rPr>
              <a:t>快重传 </a:t>
            </a:r>
            <a:r>
              <a:rPr lang="en-US" altLang="zh-CN" sz="2000" b="1" dirty="0">
                <a:latin typeface="微软雅黑" pitchFamily="34" charset="-122"/>
                <a:ea typeface="微软雅黑" pitchFamily="34" charset="-122"/>
              </a:rPr>
              <a:t>(fast retransmit)</a:t>
            </a:r>
          </a:p>
          <a:p>
            <a:pPr marL="633413" indent="-342900">
              <a:lnSpc>
                <a:spcPts val="3300"/>
              </a:lnSpc>
              <a:buClr>
                <a:srgbClr val="7030A0"/>
              </a:buClr>
              <a:buFont typeface="Wingdings" panose="05000000000000000000" pitchFamily="2" charset="2"/>
              <a:buChar char="l"/>
            </a:pPr>
            <a:r>
              <a:rPr lang="zh-CN" altLang="en-US" sz="2000" b="1" dirty="0">
                <a:latin typeface="微软雅黑" pitchFamily="34" charset="-122"/>
                <a:ea typeface="微软雅黑" pitchFamily="34" charset="-122"/>
              </a:rPr>
              <a:t>快恢复 </a:t>
            </a:r>
            <a:r>
              <a:rPr lang="en-US" altLang="zh-CN" sz="2000" b="1" dirty="0">
                <a:latin typeface="微软雅黑" pitchFamily="34" charset="-122"/>
                <a:ea typeface="微软雅黑" pitchFamily="34" charset="-122"/>
              </a:rPr>
              <a:t>(fast recovery)</a:t>
            </a:r>
          </a:p>
        </p:txBody>
      </p:sp>
    </p:spTree>
    <p:extLst>
      <p:ext uri="{BB962C8B-B14F-4D97-AF65-F5344CB8AC3E}">
        <p14:creationId xmlns:p14="http://schemas.microsoft.com/office/powerpoint/2010/main" val="178685396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68"/>
          <p:cNvSpPr>
            <a:spLocks noChangeArrowheads="1"/>
          </p:cNvSpPr>
          <p:nvPr/>
        </p:nvSpPr>
        <p:spPr bwMode="auto">
          <a:xfrm>
            <a:off x="556963" y="987859"/>
            <a:ext cx="8184960" cy="18846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50000"/>
              </a:lnSpc>
              <a:buClr>
                <a:srgbClr val="0070C0"/>
              </a:buClr>
              <a:buFont typeface="Wingdings" pitchFamily="2" charset="2"/>
              <a:buChar char="l"/>
            </a:pPr>
            <a:r>
              <a:rPr lang="en-US" altLang="zh-CN" sz="2000" b="1" dirty="0">
                <a:latin typeface="微软雅黑" pitchFamily="34" charset="-122"/>
                <a:ea typeface="微软雅黑" pitchFamily="34" charset="-122"/>
              </a:rPr>
              <a:t>TCP</a:t>
            </a:r>
            <a:r>
              <a:rPr lang="zh-CN" altLang="en-US" sz="2000" b="1" dirty="0">
                <a:latin typeface="微软雅黑" pitchFamily="34" charset="-122"/>
                <a:ea typeface="微软雅黑" pitchFamily="34" charset="-122"/>
              </a:rPr>
              <a:t>连接建立后，发送方就执行慢启动算法，并设置初始拥塞窗口</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 1 </a:t>
            </a:r>
            <a:r>
              <a:rPr lang="en-US" altLang="zh-CN" sz="2000" b="1" dirty="0">
                <a:solidFill>
                  <a:srgbClr val="0000FF"/>
                </a:solidFill>
                <a:latin typeface="微软雅黑" pitchFamily="34" charset="-122"/>
                <a:ea typeface="微软雅黑" pitchFamily="34" charset="-122"/>
              </a:rPr>
              <a:t>MSS</a:t>
            </a:r>
            <a:r>
              <a:rPr lang="en-US" altLang="zh-CN" sz="2000" b="1" dirty="0">
                <a:latin typeface="微软雅黑" pitchFamily="34" charset="-122"/>
                <a:ea typeface="微软雅黑" pitchFamily="34" charset="-122"/>
              </a:rPr>
              <a:t> (Maximum Segment Size) </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342900" indent="-342900">
              <a:lnSpc>
                <a:spcPct val="150000"/>
              </a:lnSpc>
              <a:buClr>
                <a:srgbClr val="0070C0"/>
              </a:buClr>
              <a:buFont typeface="Wingdings" pitchFamily="2" charset="2"/>
              <a:buChar char="l"/>
            </a:pPr>
            <a:r>
              <a:rPr lang="zh-CN" altLang="en-US" sz="2000" b="1" dirty="0">
                <a:latin typeface="微软雅黑" pitchFamily="34" charset="-122"/>
                <a:ea typeface="微软雅黑" pitchFamily="34" charset="-122"/>
              </a:rPr>
              <a:t>每收到一个</a:t>
            </a:r>
            <a:r>
              <a:rPr lang="zh-CN" altLang="en-US" sz="2000" b="1" dirty="0">
                <a:solidFill>
                  <a:srgbClr val="0000FF"/>
                </a:solidFill>
                <a:latin typeface="微软雅黑" pitchFamily="34" charset="-122"/>
                <a:ea typeface="微软雅黑" pitchFamily="34" charset="-122"/>
              </a:rPr>
              <a:t>对</a:t>
            </a:r>
            <a:r>
              <a:rPr lang="zh-CN" altLang="en-US" sz="2000" b="1" dirty="0">
                <a:solidFill>
                  <a:srgbClr val="C00000"/>
                </a:solidFill>
                <a:latin typeface="微软雅黑" pitchFamily="34" charset="-122"/>
                <a:ea typeface="微软雅黑" pitchFamily="34" charset="-122"/>
              </a:rPr>
              <a:t>新的</a:t>
            </a:r>
            <a:r>
              <a:rPr lang="zh-CN" altLang="en-US" sz="2000" b="1" dirty="0">
                <a:solidFill>
                  <a:srgbClr val="0000FF"/>
                </a:solidFill>
                <a:latin typeface="微软雅黑" pitchFamily="34" charset="-122"/>
                <a:ea typeface="微软雅黑" pitchFamily="34" charset="-122"/>
              </a:rPr>
              <a:t>报文段的确认</a:t>
            </a:r>
            <a:r>
              <a:rPr lang="zh-CN" altLang="en-US" sz="2000" b="1" dirty="0">
                <a:latin typeface="微软雅黑" pitchFamily="34" charset="-122"/>
                <a:ea typeface="微软雅黑" pitchFamily="34" charset="-122"/>
              </a:rPr>
              <a:t>，就把拥塞窗口 </a:t>
            </a:r>
            <a:r>
              <a:rPr lang="en-US" altLang="zh-CN" sz="2000" b="1" dirty="0" err="1">
                <a:solidFill>
                  <a:srgbClr val="C00000"/>
                </a:solidFill>
                <a:latin typeface="微软雅黑" pitchFamily="34" charset="-122"/>
                <a:ea typeface="微软雅黑" pitchFamily="34" charset="-122"/>
              </a:rPr>
              <a:t>cwnd</a:t>
            </a:r>
            <a:r>
              <a:rPr lang="en-US" altLang="zh-CN" sz="2000" b="1" dirty="0">
                <a:solidFill>
                  <a:srgbClr val="C00000"/>
                </a:solidFill>
                <a:latin typeface="微软雅黑" pitchFamily="34" charset="-122"/>
                <a:ea typeface="微软雅黑" pitchFamily="34" charset="-122"/>
              </a:rPr>
              <a:t> </a:t>
            </a:r>
            <a:r>
              <a:rPr lang="zh-CN" altLang="en-US" sz="2000" b="1" dirty="0">
                <a:latin typeface="微软雅黑" pitchFamily="34" charset="-122"/>
                <a:ea typeface="微软雅黑" pitchFamily="34" charset="-122"/>
              </a:rPr>
              <a:t>增加 </a:t>
            </a:r>
            <a:r>
              <a:rPr lang="en-US" altLang="zh-CN" sz="2000" b="1" dirty="0">
                <a:latin typeface="微软雅黑" pitchFamily="34" charset="-122"/>
                <a:ea typeface="微软雅黑" pitchFamily="34" charset="-122"/>
              </a:rPr>
              <a:t>1 </a:t>
            </a:r>
            <a:r>
              <a:rPr lang="en-US" altLang="zh-CN" sz="2000" b="1" dirty="0">
                <a:solidFill>
                  <a:srgbClr val="0000FF"/>
                </a:solidFill>
                <a:latin typeface="微软雅黑" pitchFamily="34" charset="-122"/>
                <a:ea typeface="微软雅黑" pitchFamily="34" charset="-122"/>
              </a:rPr>
              <a:t>MSS</a:t>
            </a:r>
            <a:r>
              <a:rPr lang="zh-CN" altLang="en-US" sz="2000" b="1" dirty="0">
                <a:latin typeface="微软雅黑" pitchFamily="34" charset="-122"/>
                <a:ea typeface="微软雅黑" pitchFamily="34" charset="-122"/>
              </a:rPr>
              <a:t>。这相当于每经过一个往返时延</a:t>
            </a:r>
            <a:r>
              <a:rPr lang="en-US" altLang="zh-CN" sz="2000" b="1" dirty="0">
                <a:latin typeface="微软雅黑" pitchFamily="34" charset="-122"/>
                <a:ea typeface="微软雅黑" pitchFamily="34" charset="-122"/>
              </a:rPr>
              <a:t>RTT</a:t>
            </a:r>
            <a:r>
              <a:rPr lang="zh-CN" altLang="en-US" sz="2000" b="1" dirty="0">
                <a:latin typeface="微软雅黑" pitchFamily="34" charset="-122"/>
                <a:ea typeface="微软雅黑" pitchFamily="34" charset="-122"/>
              </a:rPr>
              <a:t>后，拥塞窗口就加倍。</a:t>
            </a:r>
            <a:endParaRPr lang="zh-CN" altLang="en-US" b="1" dirty="0">
              <a:latin typeface="微软雅黑" pitchFamily="34" charset="-122"/>
              <a:ea typeface="微软雅黑" pitchFamily="34" charset="-122"/>
            </a:endParaRPr>
          </a:p>
        </p:txBody>
      </p:sp>
      <p:sp>
        <p:nvSpPr>
          <p:cNvPr id="6" name="AutoShape 5"/>
          <p:cNvSpPr>
            <a:spLocks noChangeArrowheads="1"/>
          </p:cNvSpPr>
          <p:nvPr/>
        </p:nvSpPr>
        <p:spPr bwMode="auto">
          <a:xfrm>
            <a:off x="556963" y="62603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7" name="Rectangle 6"/>
          <p:cNvSpPr>
            <a:spLocks noChangeArrowheads="1"/>
          </p:cNvSpPr>
          <p:nvPr/>
        </p:nvSpPr>
        <p:spPr bwMode="auto">
          <a:xfrm>
            <a:off x="3164201" y="592828"/>
            <a:ext cx="28343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慢启动 </a:t>
            </a:r>
            <a:r>
              <a:rPr lang="en-US" altLang="zh-CN" sz="2000" b="1" dirty="0">
                <a:solidFill>
                  <a:schemeClr val="bg1"/>
                </a:solidFill>
                <a:latin typeface="微软雅黑" pitchFamily="34" charset="-122"/>
                <a:ea typeface="微软雅黑" pitchFamily="34" charset="-122"/>
              </a:rPr>
              <a:t>(Slow start)</a:t>
            </a:r>
            <a:endParaRPr lang="zh-CN" altLang="en-US"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936272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8">
                                            <p:txEl>
                                              <p:pRg st="0" end="0"/>
                                            </p:txEl>
                                          </p:spTgt>
                                        </p:tgtEl>
                                        <p:attrNameLst>
                                          <p:attrName>style.visibility</p:attrName>
                                        </p:attrNameLst>
                                      </p:cBhvr>
                                      <p:to>
                                        <p:strVal val="visible"/>
                                      </p:to>
                                    </p:set>
                                    <p:animEffect transition="in" filter="fade">
                                      <p:cBhvr>
                                        <p:cTn id="7" dur="1000"/>
                                        <p:tgtEl>
                                          <p:spTgt spid="38">
                                            <p:txEl>
                                              <p:pRg st="0" end="0"/>
                                            </p:txEl>
                                          </p:spTgt>
                                        </p:tgtEl>
                                      </p:cBhvr>
                                    </p:animEffect>
                                    <p:anim calcmode="lin" valueType="num">
                                      <p:cBhvr>
                                        <p:cTn id="8" dur="1000" fill="hold"/>
                                        <p:tgtEl>
                                          <p:spTgt spid="3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8">
                                            <p:txEl>
                                              <p:pRg st="1" end="1"/>
                                            </p:txEl>
                                          </p:spTgt>
                                        </p:tgtEl>
                                        <p:attrNameLst>
                                          <p:attrName>style.visibility</p:attrName>
                                        </p:attrNameLst>
                                      </p:cBhvr>
                                      <p:to>
                                        <p:strVal val="visible"/>
                                      </p:to>
                                    </p:set>
                                    <p:animEffect transition="in" filter="fade">
                                      <p:cBhvr>
                                        <p:cTn id="14" dur="1000"/>
                                        <p:tgtEl>
                                          <p:spTgt spid="38">
                                            <p:txEl>
                                              <p:pRg st="1" end="1"/>
                                            </p:txEl>
                                          </p:spTgt>
                                        </p:tgtEl>
                                      </p:cBhvr>
                                    </p:animEffect>
                                    <p:anim calcmode="lin" valueType="num">
                                      <p:cBhvr>
                                        <p:cTn id="15" dur="1000" fill="hold"/>
                                        <p:tgtEl>
                                          <p:spTgt spid="3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8">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圆角矩形 113">
            <a:extLst>
              <a:ext uri="{FF2B5EF4-FFF2-40B4-BE49-F238E27FC236}">
                <a16:creationId xmlns:a16="http://schemas.microsoft.com/office/drawing/2014/main" id="{BB25A51E-1FAC-2C30-2E5B-6D47A274A73A}"/>
              </a:ext>
            </a:extLst>
          </p:cNvPr>
          <p:cNvSpPr/>
          <p:nvPr/>
        </p:nvSpPr>
        <p:spPr>
          <a:xfrm>
            <a:off x="545144" y="1009961"/>
            <a:ext cx="8053711" cy="290404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Text Box 155">
            <a:extLst>
              <a:ext uri="{FF2B5EF4-FFF2-40B4-BE49-F238E27FC236}">
                <a16:creationId xmlns:a16="http://schemas.microsoft.com/office/drawing/2014/main" id="{9FB49D22-89F5-FAF5-C196-42720AC49968}"/>
              </a:ext>
            </a:extLst>
          </p:cNvPr>
          <p:cNvSpPr txBox="1">
            <a:spLocks noChangeArrowheads="1"/>
          </p:cNvSpPr>
          <p:nvPr/>
        </p:nvSpPr>
        <p:spPr bwMode="auto">
          <a:xfrm>
            <a:off x="2394332" y="3988619"/>
            <a:ext cx="4374038" cy="634020"/>
          </a:xfrm>
          <a:prstGeom prst="rect">
            <a:avLst/>
          </a:prstGeom>
          <a:solidFill>
            <a:srgbClr val="000099"/>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发送方每收到一个对新报文段的确认</a:t>
            </a:r>
          </a:p>
          <a:p>
            <a:pPr algn="ctr">
              <a:lnSpc>
                <a:spcPct val="110000"/>
              </a:lnSpc>
            </a:pPr>
            <a:r>
              <a:rPr lang="zh-CN" altLang="en-US" sz="1600" b="1" dirty="0">
                <a:solidFill>
                  <a:schemeClr val="bg1"/>
                </a:solidFill>
                <a:latin typeface="微软雅黑" pitchFamily="34" charset="-122"/>
                <a:ea typeface="微软雅黑" pitchFamily="34" charset="-122"/>
              </a:rPr>
              <a:t>（重传的不算在内）就使 </a:t>
            </a:r>
            <a:r>
              <a:rPr lang="en-US" altLang="zh-CN" sz="1600" b="1" dirty="0" err="1">
                <a:solidFill>
                  <a:schemeClr val="bg1"/>
                </a:solidFill>
                <a:latin typeface="微软雅黑" pitchFamily="34" charset="-122"/>
                <a:ea typeface="微软雅黑" pitchFamily="34" charset="-122"/>
              </a:rPr>
              <a:t>cwnd</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加 </a:t>
            </a:r>
            <a:r>
              <a:rPr lang="en-US" altLang="zh-CN" sz="1600" b="1" dirty="0">
                <a:solidFill>
                  <a:schemeClr val="bg1"/>
                </a:solidFill>
                <a:latin typeface="微软雅黑" pitchFamily="34" charset="-122"/>
                <a:ea typeface="微软雅黑" pitchFamily="34" charset="-122"/>
              </a:rPr>
              <a:t>1</a:t>
            </a:r>
            <a:r>
              <a:rPr lang="zh-CN" altLang="en-US" sz="1600" b="1" dirty="0">
                <a:solidFill>
                  <a:schemeClr val="bg1"/>
                </a:solidFill>
                <a:latin typeface="微软雅黑" pitchFamily="34" charset="-122"/>
                <a:ea typeface="微软雅黑" pitchFamily="34" charset="-122"/>
              </a:rPr>
              <a:t>。 </a:t>
            </a:r>
          </a:p>
        </p:txBody>
      </p:sp>
      <p:grpSp>
        <p:nvGrpSpPr>
          <p:cNvPr id="61" name="组合 60">
            <a:extLst>
              <a:ext uri="{FF2B5EF4-FFF2-40B4-BE49-F238E27FC236}">
                <a16:creationId xmlns:a16="http://schemas.microsoft.com/office/drawing/2014/main" id="{2CF3AB5D-BB49-2811-CB19-AC9D1A906D64}"/>
              </a:ext>
            </a:extLst>
          </p:cNvPr>
          <p:cNvGrpSpPr/>
          <p:nvPr/>
        </p:nvGrpSpPr>
        <p:grpSpPr>
          <a:xfrm>
            <a:off x="762001" y="1335826"/>
            <a:ext cx="2309044" cy="338554"/>
            <a:chOff x="762001" y="1783506"/>
            <a:chExt cx="2309044" cy="338554"/>
          </a:xfrm>
        </p:grpSpPr>
        <p:sp>
          <p:nvSpPr>
            <p:cNvPr id="3" name="Line 9">
              <a:extLst>
                <a:ext uri="{FF2B5EF4-FFF2-40B4-BE49-F238E27FC236}">
                  <a16:creationId xmlns:a16="http://schemas.microsoft.com/office/drawing/2014/main" id="{736447B9-59EC-0F35-00BF-3214AA9A360B}"/>
                </a:ext>
              </a:extLst>
            </p:cNvPr>
            <p:cNvSpPr>
              <a:spLocks noChangeShapeType="1"/>
            </p:cNvSpPr>
            <p:nvPr/>
          </p:nvSpPr>
          <p:spPr bwMode="auto">
            <a:xfrm flipV="1">
              <a:off x="2451920" y="1954956"/>
              <a:ext cx="619125" cy="3175"/>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6" name="Text Box 62">
              <a:extLst>
                <a:ext uri="{FF2B5EF4-FFF2-40B4-BE49-F238E27FC236}">
                  <a16:creationId xmlns:a16="http://schemas.microsoft.com/office/drawing/2014/main" id="{9141E1F6-2886-344E-38D7-163D4172CAA2}"/>
                </a:ext>
              </a:extLst>
            </p:cNvPr>
            <p:cNvSpPr txBox="1">
              <a:spLocks noChangeArrowheads="1"/>
            </p:cNvSpPr>
            <p:nvPr/>
          </p:nvSpPr>
          <p:spPr bwMode="auto">
            <a:xfrm>
              <a:off x="762001" y="1783506"/>
              <a:ext cx="1713732" cy="338554"/>
            </a:xfrm>
            <a:prstGeom prst="rect">
              <a:avLst/>
            </a:prstGeom>
            <a:solidFill>
              <a:srgbClr val="FFFF00"/>
            </a:solidFill>
            <a:ln>
              <a:noFill/>
            </a:ln>
            <a:effectLst>
              <a:outerShdw dist="35921" dir="2700000" algn="ctr" rotWithShape="0">
                <a:schemeClr val="bg2"/>
              </a:outerShdw>
            </a:effec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dirty="0" err="1">
                  <a:latin typeface="微软雅黑" panose="020B0503020204020204" pitchFamily="34" charset="-122"/>
                  <a:ea typeface="微软雅黑" panose="020B0503020204020204" pitchFamily="34" charset="-122"/>
                </a:rPr>
                <a:t>cwnd</a:t>
              </a:r>
              <a:r>
                <a:rPr lang="en-US" altLang="zh-CN" sz="1600" b="1" dirty="0">
                  <a:latin typeface="微软雅黑" panose="020B0503020204020204" pitchFamily="34" charset="-122"/>
                  <a:ea typeface="微软雅黑" panose="020B0503020204020204" pitchFamily="34" charset="-122"/>
                </a:rPr>
                <a:t> = 1 MSS </a:t>
              </a:r>
            </a:p>
          </p:txBody>
        </p:sp>
      </p:grpSp>
      <p:sp>
        <p:nvSpPr>
          <p:cNvPr id="7" name="Text Box 5">
            <a:extLst>
              <a:ext uri="{FF2B5EF4-FFF2-40B4-BE49-F238E27FC236}">
                <a16:creationId xmlns:a16="http://schemas.microsoft.com/office/drawing/2014/main" id="{5DE6868C-690D-FE5B-0DD6-6361A67DE768}"/>
              </a:ext>
            </a:extLst>
          </p:cNvPr>
          <p:cNvSpPr txBox="1">
            <a:spLocks noChangeArrowheads="1"/>
          </p:cNvSpPr>
          <p:nvPr/>
        </p:nvSpPr>
        <p:spPr bwMode="auto">
          <a:xfrm>
            <a:off x="6144445" y="1078651"/>
            <a:ext cx="7937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1">
                <a:latin typeface="微软雅黑" panose="020B0503020204020204" pitchFamily="34" charset="-122"/>
                <a:ea typeface="微软雅黑" panose="020B0503020204020204" pitchFamily="34" charset="-122"/>
              </a:rPr>
              <a:t>接收方</a:t>
            </a:r>
          </a:p>
        </p:txBody>
      </p:sp>
      <p:sp>
        <p:nvSpPr>
          <p:cNvPr id="8" name="Text Box 5">
            <a:extLst>
              <a:ext uri="{FF2B5EF4-FFF2-40B4-BE49-F238E27FC236}">
                <a16:creationId xmlns:a16="http://schemas.microsoft.com/office/drawing/2014/main" id="{0BCA9820-7E08-6430-F42A-B916909605E6}"/>
              </a:ext>
            </a:extLst>
          </p:cNvPr>
          <p:cNvSpPr txBox="1">
            <a:spLocks noChangeArrowheads="1"/>
          </p:cNvSpPr>
          <p:nvPr/>
        </p:nvSpPr>
        <p:spPr bwMode="auto">
          <a:xfrm>
            <a:off x="6530208" y="1570776"/>
            <a:ext cx="95250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1">
                <a:latin typeface="微软雅黑" panose="020B0503020204020204" pitchFamily="34" charset="-122"/>
                <a:ea typeface="微软雅黑" panose="020B0503020204020204" pitchFamily="34" charset="-122"/>
              </a:rPr>
              <a:t>确认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M</a:t>
            </a:r>
            <a:r>
              <a:rPr lang="en-US" altLang="zh-CN" sz="1600" b="1" baseline="-25000">
                <a:latin typeface="微软雅黑" panose="020B0503020204020204" pitchFamily="34" charset="-122"/>
                <a:ea typeface="微软雅黑" panose="020B0503020204020204" pitchFamily="34" charset="-122"/>
                <a:cs typeface="Times New Roman" panose="02020603050405020304" pitchFamily="18" charset="0"/>
              </a:rPr>
              <a:t>1</a:t>
            </a:r>
            <a:endParaRPr lang="zh-CN" altLang="en-US" sz="1600" b="1">
              <a:latin typeface="微软雅黑" panose="020B0503020204020204" pitchFamily="34" charset="-122"/>
              <a:ea typeface="微软雅黑" panose="020B0503020204020204" pitchFamily="34" charset="-122"/>
            </a:endParaRPr>
          </a:p>
        </p:txBody>
      </p:sp>
      <p:sp>
        <p:nvSpPr>
          <p:cNvPr id="9" name="Text Box 4">
            <a:extLst>
              <a:ext uri="{FF2B5EF4-FFF2-40B4-BE49-F238E27FC236}">
                <a16:creationId xmlns:a16="http://schemas.microsoft.com/office/drawing/2014/main" id="{A10CA6A2-B3AD-12B6-1F92-6EF439056531}"/>
              </a:ext>
            </a:extLst>
          </p:cNvPr>
          <p:cNvSpPr txBox="1">
            <a:spLocks noChangeArrowheads="1"/>
          </p:cNvSpPr>
          <p:nvPr/>
        </p:nvSpPr>
        <p:spPr bwMode="auto">
          <a:xfrm>
            <a:off x="4826820" y="1354876"/>
            <a:ext cx="95250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1">
                <a:latin typeface="微软雅黑" panose="020B0503020204020204" pitchFamily="34" charset="-122"/>
                <a:ea typeface="微软雅黑" panose="020B0503020204020204" pitchFamily="34" charset="-122"/>
              </a:rPr>
              <a:t>发送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M</a:t>
            </a:r>
            <a:r>
              <a:rPr lang="en-US" altLang="zh-CN" sz="1600" b="1" baseline="-25000">
                <a:latin typeface="微软雅黑" panose="020B0503020204020204" pitchFamily="34" charset="-122"/>
                <a:ea typeface="微软雅黑" panose="020B0503020204020204" pitchFamily="34" charset="-122"/>
                <a:cs typeface="Times New Roman" panose="02020603050405020304" pitchFamily="18" charset="0"/>
              </a:rPr>
              <a:t>1</a:t>
            </a:r>
            <a:endParaRPr lang="zh-CN" altLang="en-US" sz="1600" b="1" baseline="-25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Text Box 4">
            <a:extLst>
              <a:ext uri="{FF2B5EF4-FFF2-40B4-BE49-F238E27FC236}">
                <a16:creationId xmlns:a16="http://schemas.microsoft.com/office/drawing/2014/main" id="{6C516A6A-B26B-9634-0461-11A68949A588}"/>
              </a:ext>
            </a:extLst>
          </p:cNvPr>
          <p:cNvSpPr txBox="1">
            <a:spLocks noChangeArrowheads="1"/>
          </p:cNvSpPr>
          <p:nvPr/>
        </p:nvSpPr>
        <p:spPr bwMode="auto">
          <a:xfrm>
            <a:off x="4718870" y="1907326"/>
            <a:ext cx="15055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1">
                <a:latin typeface="微软雅黑" panose="020B0503020204020204" pitchFamily="34" charset="-122"/>
                <a:ea typeface="微软雅黑" panose="020B0503020204020204" pitchFamily="34" charset="-122"/>
              </a:rPr>
              <a:t>发送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M</a:t>
            </a:r>
            <a:r>
              <a:rPr lang="en-US" altLang="zh-CN" sz="1600" b="1" baseline="-25000">
                <a:latin typeface="微软雅黑" panose="020B0503020204020204" pitchFamily="34" charset="-122"/>
                <a:ea typeface="微软雅黑" panose="020B0503020204020204" pitchFamily="34" charset="-122"/>
                <a:cs typeface="Times New Roman" panose="02020603050405020304" pitchFamily="18" charset="0"/>
              </a:rPr>
              <a:t>2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 M</a:t>
            </a:r>
            <a:r>
              <a:rPr lang="en-US" altLang="zh-CN" sz="1600" b="1" baseline="-25000">
                <a:latin typeface="微软雅黑" panose="020B0503020204020204" pitchFamily="34" charset="-122"/>
                <a:ea typeface="微软雅黑" panose="020B0503020204020204" pitchFamily="34" charset="-122"/>
                <a:cs typeface="Times New Roman" panose="02020603050405020304" pitchFamily="18" charset="0"/>
              </a:rPr>
              <a:t>3</a:t>
            </a:r>
            <a:endParaRPr lang="zh-CN" altLang="en-US" sz="1600" b="1" baseline="-25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Text Box 4">
            <a:extLst>
              <a:ext uri="{FF2B5EF4-FFF2-40B4-BE49-F238E27FC236}">
                <a16:creationId xmlns:a16="http://schemas.microsoft.com/office/drawing/2014/main" id="{7392B34B-D436-7641-23A9-2ED84E398E1A}"/>
              </a:ext>
            </a:extLst>
          </p:cNvPr>
          <p:cNvSpPr txBox="1">
            <a:spLocks noChangeArrowheads="1"/>
          </p:cNvSpPr>
          <p:nvPr/>
        </p:nvSpPr>
        <p:spPr bwMode="auto">
          <a:xfrm>
            <a:off x="6523858" y="2140688"/>
            <a:ext cx="15055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1">
                <a:latin typeface="微软雅黑" panose="020B0503020204020204" pitchFamily="34" charset="-122"/>
                <a:ea typeface="微软雅黑" panose="020B0503020204020204" pitchFamily="34" charset="-122"/>
              </a:rPr>
              <a:t>确认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M</a:t>
            </a:r>
            <a:r>
              <a:rPr lang="en-US" altLang="zh-CN" sz="1600" b="1" baseline="-25000">
                <a:latin typeface="微软雅黑" panose="020B0503020204020204" pitchFamily="34" charset="-122"/>
                <a:ea typeface="微软雅黑" panose="020B0503020204020204" pitchFamily="34" charset="-122"/>
                <a:cs typeface="Times New Roman" panose="02020603050405020304" pitchFamily="18" charset="0"/>
              </a:rPr>
              <a:t>2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 M</a:t>
            </a:r>
            <a:r>
              <a:rPr lang="en-US" altLang="zh-CN" sz="1600" b="1" baseline="-25000">
                <a:latin typeface="微软雅黑" panose="020B0503020204020204" pitchFamily="34" charset="-122"/>
                <a:ea typeface="微软雅黑" panose="020B0503020204020204" pitchFamily="34" charset="-122"/>
                <a:cs typeface="Times New Roman" panose="02020603050405020304" pitchFamily="18" charset="0"/>
              </a:rPr>
              <a:t>3</a:t>
            </a:r>
            <a:endParaRPr lang="zh-CN" altLang="en-US" sz="1600" b="1" baseline="-25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Text Box 4">
            <a:extLst>
              <a:ext uri="{FF2B5EF4-FFF2-40B4-BE49-F238E27FC236}">
                <a16:creationId xmlns:a16="http://schemas.microsoft.com/office/drawing/2014/main" id="{CF83DAC0-40C2-318E-5DB1-88C7F72D917E}"/>
              </a:ext>
            </a:extLst>
          </p:cNvPr>
          <p:cNvSpPr txBox="1">
            <a:spLocks noChangeArrowheads="1"/>
          </p:cNvSpPr>
          <p:nvPr/>
        </p:nvSpPr>
        <p:spPr bwMode="auto">
          <a:xfrm>
            <a:off x="4695058" y="2440726"/>
            <a:ext cx="15055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1">
                <a:latin typeface="微软雅黑" panose="020B0503020204020204" pitchFamily="34" charset="-122"/>
                <a:ea typeface="微软雅黑" panose="020B0503020204020204" pitchFamily="34" charset="-122"/>
              </a:rPr>
              <a:t>发送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M</a:t>
            </a:r>
            <a:r>
              <a:rPr lang="en-US" altLang="zh-CN" sz="1600" b="1" baseline="-25000">
                <a:latin typeface="微软雅黑" panose="020B0503020204020204" pitchFamily="34" charset="-122"/>
                <a:ea typeface="微软雅黑" panose="020B0503020204020204" pitchFamily="34" charset="-122"/>
                <a:cs typeface="Times New Roman" panose="02020603050405020304" pitchFamily="18" charset="0"/>
              </a:rPr>
              <a:t>4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 M</a:t>
            </a:r>
            <a:r>
              <a:rPr lang="en-US" altLang="zh-CN" sz="1600" b="1" baseline="-25000">
                <a:latin typeface="微软雅黑" panose="020B0503020204020204" pitchFamily="34" charset="-122"/>
                <a:ea typeface="微软雅黑" panose="020B0503020204020204" pitchFamily="34" charset="-122"/>
                <a:cs typeface="Times New Roman" panose="02020603050405020304" pitchFamily="18" charset="0"/>
              </a:rPr>
              <a:t>7</a:t>
            </a:r>
            <a:endParaRPr lang="zh-CN" altLang="en-US" sz="1600" b="1" baseline="-25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 name="Text Box 4">
            <a:extLst>
              <a:ext uri="{FF2B5EF4-FFF2-40B4-BE49-F238E27FC236}">
                <a16:creationId xmlns:a16="http://schemas.microsoft.com/office/drawing/2014/main" id="{5E5AD910-9DCB-F56C-5C99-2B8AF2C3CCCE}"/>
              </a:ext>
            </a:extLst>
          </p:cNvPr>
          <p:cNvSpPr txBox="1">
            <a:spLocks noChangeArrowheads="1"/>
          </p:cNvSpPr>
          <p:nvPr/>
        </p:nvSpPr>
        <p:spPr bwMode="auto">
          <a:xfrm>
            <a:off x="4737920" y="3075726"/>
            <a:ext cx="15905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1">
                <a:latin typeface="微软雅黑" panose="020B0503020204020204" pitchFamily="34" charset="-122"/>
                <a:ea typeface="微软雅黑" panose="020B0503020204020204" pitchFamily="34" charset="-122"/>
              </a:rPr>
              <a:t>发送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M</a:t>
            </a:r>
            <a:r>
              <a:rPr lang="en-US" altLang="zh-CN" sz="1600" b="1" baseline="-25000">
                <a:latin typeface="微软雅黑" panose="020B0503020204020204" pitchFamily="34" charset="-122"/>
                <a:ea typeface="微软雅黑" panose="020B0503020204020204" pitchFamily="34" charset="-122"/>
                <a:cs typeface="Times New Roman" panose="02020603050405020304" pitchFamily="18" charset="0"/>
              </a:rPr>
              <a:t>8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 M</a:t>
            </a:r>
            <a:r>
              <a:rPr lang="en-US" altLang="zh-CN" sz="1600" b="1" baseline="-25000">
                <a:latin typeface="微软雅黑" panose="020B0503020204020204" pitchFamily="34" charset="-122"/>
                <a:ea typeface="微软雅黑" panose="020B0503020204020204" pitchFamily="34" charset="-122"/>
                <a:cs typeface="Times New Roman" panose="02020603050405020304" pitchFamily="18" charset="0"/>
              </a:rPr>
              <a:t>15</a:t>
            </a:r>
            <a:endParaRPr lang="zh-CN" altLang="en-US" sz="1600" b="1" baseline="-25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Text Box 4">
            <a:extLst>
              <a:ext uri="{FF2B5EF4-FFF2-40B4-BE49-F238E27FC236}">
                <a16:creationId xmlns:a16="http://schemas.microsoft.com/office/drawing/2014/main" id="{D75812A6-2883-590C-5AC8-1C8F3AAC1A86}"/>
              </a:ext>
            </a:extLst>
          </p:cNvPr>
          <p:cNvSpPr txBox="1">
            <a:spLocks noChangeArrowheads="1"/>
          </p:cNvSpPr>
          <p:nvPr/>
        </p:nvSpPr>
        <p:spPr bwMode="auto">
          <a:xfrm>
            <a:off x="6531795" y="2732826"/>
            <a:ext cx="15055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1">
                <a:latin typeface="微软雅黑" panose="020B0503020204020204" pitchFamily="34" charset="-122"/>
                <a:ea typeface="微软雅黑" panose="020B0503020204020204" pitchFamily="34" charset="-122"/>
              </a:rPr>
              <a:t>确认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M</a:t>
            </a:r>
            <a:r>
              <a:rPr lang="en-US" altLang="zh-CN" sz="1600" b="1" baseline="-25000">
                <a:latin typeface="微软雅黑" panose="020B0503020204020204" pitchFamily="34" charset="-122"/>
                <a:ea typeface="微软雅黑" panose="020B0503020204020204" pitchFamily="34" charset="-122"/>
                <a:cs typeface="Times New Roman" panose="02020603050405020304" pitchFamily="18" charset="0"/>
              </a:rPr>
              <a:t>4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 M</a:t>
            </a:r>
            <a:r>
              <a:rPr lang="en-US" altLang="zh-CN" sz="1600" b="1" baseline="-25000">
                <a:latin typeface="微软雅黑" panose="020B0503020204020204" pitchFamily="34" charset="-122"/>
                <a:ea typeface="微软雅黑" panose="020B0503020204020204" pitchFamily="34" charset="-122"/>
                <a:cs typeface="Times New Roman" panose="02020603050405020304" pitchFamily="18" charset="0"/>
              </a:rPr>
              <a:t>7</a:t>
            </a:r>
            <a:endParaRPr lang="zh-CN" altLang="en-US" sz="1600" b="1" baseline="-25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Text Box 4">
            <a:extLst>
              <a:ext uri="{FF2B5EF4-FFF2-40B4-BE49-F238E27FC236}">
                <a16:creationId xmlns:a16="http://schemas.microsoft.com/office/drawing/2014/main" id="{92E6B71B-C127-2006-0162-687EE708A220}"/>
              </a:ext>
            </a:extLst>
          </p:cNvPr>
          <p:cNvSpPr txBox="1">
            <a:spLocks noChangeArrowheads="1"/>
          </p:cNvSpPr>
          <p:nvPr/>
        </p:nvSpPr>
        <p:spPr bwMode="auto">
          <a:xfrm>
            <a:off x="2691633" y="1072301"/>
            <a:ext cx="80021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1">
                <a:latin typeface="微软雅黑" panose="020B0503020204020204" pitchFamily="34" charset="-122"/>
                <a:ea typeface="微软雅黑" panose="020B0503020204020204" pitchFamily="34" charset="-122"/>
              </a:rPr>
              <a:t>发送方</a:t>
            </a:r>
          </a:p>
        </p:txBody>
      </p:sp>
      <p:sp>
        <p:nvSpPr>
          <p:cNvPr id="17" name="Line 9">
            <a:extLst>
              <a:ext uri="{FF2B5EF4-FFF2-40B4-BE49-F238E27FC236}">
                <a16:creationId xmlns:a16="http://schemas.microsoft.com/office/drawing/2014/main" id="{CAECDDE3-B07C-8F6D-E51C-A94481699B9E}"/>
              </a:ext>
            </a:extLst>
          </p:cNvPr>
          <p:cNvSpPr>
            <a:spLocks noChangeShapeType="1"/>
          </p:cNvSpPr>
          <p:nvPr/>
        </p:nvSpPr>
        <p:spPr bwMode="auto">
          <a:xfrm>
            <a:off x="3090095" y="1518388"/>
            <a:ext cx="3462338" cy="242888"/>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grpSp>
        <p:nvGrpSpPr>
          <p:cNvPr id="18" name="组合 44">
            <a:extLst>
              <a:ext uri="{FF2B5EF4-FFF2-40B4-BE49-F238E27FC236}">
                <a16:creationId xmlns:a16="http://schemas.microsoft.com/office/drawing/2014/main" id="{3B3C4FF8-BB9F-5D3D-E619-AA1D3063EE43}"/>
              </a:ext>
            </a:extLst>
          </p:cNvPr>
          <p:cNvGrpSpPr>
            <a:grpSpLocks/>
          </p:cNvGrpSpPr>
          <p:nvPr/>
        </p:nvGrpSpPr>
        <p:grpSpPr bwMode="auto">
          <a:xfrm>
            <a:off x="3091683" y="1362813"/>
            <a:ext cx="3463925" cy="2420938"/>
            <a:chOff x="3116533" y="431464"/>
            <a:chExt cx="3463154" cy="3072875"/>
          </a:xfrm>
        </p:grpSpPr>
        <p:sp>
          <p:nvSpPr>
            <p:cNvPr id="57" name="Line 6">
              <a:extLst>
                <a:ext uri="{FF2B5EF4-FFF2-40B4-BE49-F238E27FC236}">
                  <a16:creationId xmlns:a16="http://schemas.microsoft.com/office/drawing/2014/main" id="{05718F1E-AD4A-B4BB-32AC-138967192BB3}"/>
                </a:ext>
              </a:extLst>
            </p:cNvPr>
            <p:cNvSpPr>
              <a:spLocks noChangeShapeType="1"/>
            </p:cNvSpPr>
            <p:nvPr/>
          </p:nvSpPr>
          <p:spPr bwMode="auto">
            <a:xfrm>
              <a:off x="3116533" y="431464"/>
              <a:ext cx="0" cy="3072875"/>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58" name="Line 41">
              <a:extLst>
                <a:ext uri="{FF2B5EF4-FFF2-40B4-BE49-F238E27FC236}">
                  <a16:creationId xmlns:a16="http://schemas.microsoft.com/office/drawing/2014/main" id="{8A3D338B-7FEB-9C83-F72B-3AE5C3956D43}"/>
                </a:ext>
              </a:extLst>
            </p:cNvPr>
            <p:cNvSpPr>
              <a:spLocks noChangeShapeType="1"/>
            </p:cNvSpPr>
            <p:nvPr/>
          </p:nvSpPr>
          <p:spPr bwMode="auto">
            <a:xfrm>
              <a:off x="6579687" y="431464"/>
              <a:ext cx="0" cy="3072875"/>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grpSp>
      <p:sp>
        <p:nvSpPr>
          <p:cNvPr id="19" name="Line 9">
            <a:extLst>
              <a:ext uri="{FF2B5EF4-FFF2-40B4-BE49-F238E27FC236}">
                <a16:creationId xmlns:a16="http://schemas.microsoft.com/office/drawing/2014/main" id="{D037088D-ED3B-7126-B45F-D71A278D837D}"/>
              </a:ext>
            </a:extLst>
          </p:cNvPr>
          <p:cNvSpPr>
            <a:spLocks noChangeShapeType="1"/>
          </p:cNvSpPr>
          <p:nvPr/>
        </p:nvSpPr>
        <p:spPr bwMode="auto">
          <a:xfrm flipH="1">
            <a:off x="3091683" y="1785088"/>
            <a:ext cx="3462337" cy="242888"/>
          </a:xfrm>
          <a:prstGeom prst="line">
            <a:avLst/>
          </a:prstGeom>
          <a:noFill/>
          <a:ln w="12700">
            <a:solidFill>
              <a:srgbClr val="9900CC"/>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grpSp>
        <p:nvGrpSpPr>
          <p:cNvPr id="97" name="组合 96">
            <a:extLst>
              <a:ext uri="{FF2B5EF4-FFF2-40B4-BE49-F238E27FC236}">
                <a16:creationId xmlns:a16="http://schemas.microsoft.com/office/drawing/2014/main" id="{E747366A-748E-A5CE-CB37-70F738122B9F}"/>
              </a:ext>
            </a:extLst>
          </p:cNvPr>
          <p:cNvGrpSpPr/>
          <p:nvPr/>
        </p:nvGrpSpPr>
        <p:grpSpPr>
          <a:xfrm>
            <a:off x="3082158" y="2058138"/>
            <a:ext cx="3463925" cy="277813"/>
            <a:chOff x="3082158" y="2505818"/>
            <a:chExt cx="3463925" cy="277813"/>
          </a:xfrm>
        </p:grpSpPr>
        <p:sp>
          <p:nvSpPr>
            <p:cNvPr id="20" name="Line 9">
              <a:extLst>
                <a:ext uri="{FF2B5EF4-FFF2-40B4-BE49-F238E27FC236}">
                  <a16:creationId xmlns:a16="http://schemas.microsoft.com/office/drawing/2014/main" id="{6C82812D-FD25-A5AC-B04C-21F9FCC58C95}"/>
                </a:ext>
              </a:extLst>
            </p:cNvPr>
            <p:cNvSpPr>
              <a:spLocks noChangeShapeType="1"/>
            </p:cNvSpPr>
            <p:nvPr/>
          </p:nvSpPr>
          <p:spPr bwMode="auto">
            <a:xfrm>
              <a:off x="3082158" y="2540743"/>
              <a:ext cx="3463925" cy="242888"/>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21" name="Line 9">
              <a:extLst>
                <a:ext uri="{FF2B5EF4-FFF2-40B4-BE49-F238E27FC236}">
                  <a16:creationId xmlns:a16="http://schemas.microsoft.com/office/drawing/2014/main" id="{51CEC100-B9D1-15B0-3D47-8154EBEB4CC0}"/>
                </a:ext>
              </a:extLst>
            </p:cNvPr>
            <p:cNvSpPr>
              <a:spLocks noChangeShapeType="1"/>
            </p:cNvSpPr>
            <p:nvPr/>
          </p:nvSpPr>
          <p:spPr bwMode="auto">
            <a:xfrm>
              <a:off x="3082158" y="2505818"/>
              <a:ext cx="3463925" cy="244475"/>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grpSp>
      <p:grpSp>
        <p:nvGrpSpPr>
          <p:cNvPr id="99" name="组合 98">
            <a:extLst>
              <a:ext uri="{FF2B5EF4-FFF2-40B4-BE49-F238E27FC236}">
                <a16:creationId xmlns:a16="http://schemas.microsoft.com/office/drawing/2014/main" id="{C73FFD31-65DA-462F-7744-827AD4D3D886}"/>
              </a:ext>
            </a:extLst>
          </p:cNvPr>
          <p:cNvGrpSpPr/>
          <p:nvPr/>
        </p:nvGrpSpPr>
        <p:grpSpPr>
          <a:xfrm>
            <a:off x="3083745" y="2331188"/>
            <a:ext cx="3467100" cy="277813"/>
            <a:chOff x="3083745" y="2778868"/>
            <a:chExt cx="3467100" cy="277813"/>
          </a:xfrm>
        </p:grpSpPr>
        <p:sp>
          <p:nvSpPr>
            <p:cNvPr id="22" name="Line 9">
              <a:extLst>
                <a:ext uri="{FF2B5EF4-FFF2-40B4-BE49-F238E27FC236}">
                  <a16:creationId xmlns:a16="http://schemas.microsoft.com/office/drawing/2014/main" id="{6508847A-7714-4BFD-1E46-84CB3C52E996}"/>
                </a:ext>
              </a:extLst>
            </p:cNvPr>
            <p:cNvSpPr>
              <a:spLocks noChangeShapeType="1"/>
            </p:cNvSpPr>
            <p:nvPr/>
          </p:nvSpPr>
          <p:spPr bwMode="auto">
            <a:xfrm flipH="1">
              <a:off x="3083745" y="2778868"/>
              <a:ext cx="3462338" cy="242888"/>
            </a:xfrm>
            <a:prstGeom prst="line">
              <a:avLst/>
            </a:prstGeom>
            <a:noFill/>
            <a:ln w="12700">
              <a:solidFill>
                <a:srgbClr val="9900CC"/>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23" name="Line 9">
              <a:extLst>
                <a:ext uri="{FF2B5EF4-FFF2-40B4-BE49-F238E27FC236}">
                  <a16:creationId xmlns:a16="http://schemas.microsoft.com/office/drawing/2014/main" id="{59550AB2-0993-8CCA-8B40-C1C611F564D0}"/>
                </a:ext>
              </a:extLst>
            </p:cNvPr>
            <p:cNvSpPr>
              <a:spLocks noChangeShapeType="1"/>
            </p:cNvSpPr>
            <p:nvPr/>
          </p:nvSpPr>
          <p:spPr bwMode="auto">
            <a:xfrm flipH="1">
              <a:off x="3086920" y="2813793"/>
              <a:ext cx="3463925" cy="242888"/>
            </a:xfrm>
            <a:prstGeom prst="line">
              <a:avLst/>
            </a:prstGeom>
            <a:noFill/>
            <a:ln w="12700">
              <a:solidFill>
                <a:srgbClr val="9900CC"/>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grpSp>
      <p:grpSp>
        <p:nvGrpSpPr>
          <p:cNvPr id="98" name="组合 97">
            <a:extLst>
              <a:ext uri="{FF2B5EF4-FFF2-40B4-BE49-F238E27FC236}">
                <a16:creationId xmlns:a16="http://schemas.microsoft.com/office/drawing/2014/main" id="{48054A57-4FC6-8253-A929-A1C4F8DF65E1}"/>
              </a:ext>
            </a:extLst>
          </p:cNvPr>
          <p:cNvGrpSpPr/>
          <p:nvPr/>
        </p:nvGrpSpPr>
        <p:grpSpPr>
          <a:xfrm>
            <a:off x="3091683" y="2602651"/>
            <a:ext cx="3467100" cy="346075"/>
            <a:chOff x="3091683" y="3050331"/>
            <a:chExt cx="3467100" cy="346075"/>
          </a:xfrm>
        </p:grpSpPr>
        <p:sp>
          <p:nvSpPr>
            <p:cNvPr id="24" name="Line 9">
              <a:extLst>
                <a:ext uri="{FF2B5EF4-FFF2-40B4-BE49-F238E27FC236}">
                  <a16:creationId xmlns:a16="http://schemas.microsoft.com/office/drawing/2014/main" id="{ED6D40E0-1B23-B2B2-5D76-5659F895DB1A}"/>
                </a:ext>
              </a:extLst>
            </p:cNvPr>
            <p:cNvSpPr>
              <a:spLocks noChangeShapeType="1"/>
            </p:cNvSpPr>
            <p:nvPr/>
          </p:nvSpPr>
          <p:spPr bwMode="auto">
            <a:xfrm>
              <a:off x="3091683" y="3080493"/>
              <a:ext cx="3463925" cy="242888"/>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25" name="Line 9">
              <a:extLst>
                <a:ext uri="{FF2B5EF4-FFF2-40B4-BE49-F238E27FC236}">
                  <a16:creationId xmlns:a16="http://schemas.microsoft.com/office/drawing/2014/main" id="{4A14FD63-EAED-8C98-F32B-5703A7890BE2}"/>
                </a:ext>
              </a:extLst>
            </p:cNvPr>
            <p:cNvSpPr>
              <a:spLocks noChangeShapeType="1"/>
            </p:cNvSpPr>
            <p:nvPr/>
          </p:nvSpPr>
          <p:spPr bwMode="auto">
            <a:xfrm>
              <a:off x="3091683" y="3050331"/>
              <a:ext cx="3463925" cy="242887"/>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26" name="Line 9">
              <a:extLst>
                <a:ext uri="{FF2B5EF4-FFF2-40B4-BE49-F238E27FC236}">
                  <a16:creationId xmlns:a16="http://schemas.microsoft.com/office/drawing/2014/main" id="{6E48EFD6-A6F2-F2E9-D8EA-63B4B4FE98AF}"/>
                </a:ext>
              </a:extLst>
            </p:cNvPr>
            <p:cNvSpPr>
              <a:spLocks noChangeShapeType="1"/>
            </p:cNvSpPr>
            <p:nvPr/>
          </p:nvSpPr>
          <p:spPr bwMode="auto">
            <a:xfrm>
              <a:off x="3096445" y="3151931"/>
              <a:ext cx="3462338" cy="244475"/>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27" name="Line 9">
              <a:extLst>
                <a:ext uri="{FF2B5EF4-FFF2-40B4-BE49-F238E27FC236}">
                  <a16:creationId xmlns:a16="http://schemas.microsoft.com/office/drawing/2014/main" id="{3CCA40A8-BDB1-A0AF-3E13-3FC1C432F779}"/>
                </a:ext>
              </a:extLst>
            </p:cNvPr>
            <p:cNvSpPr>
              <a:spLocks noChangeShapeType="1"/>
            </p:cNvSpPr>
            <p:nvPr/>
          </p:nvSpPr>
          <p:spPr bwMode="auto">
            <a:xfrm>
              <a:off x="3091683" y="3118593"/>
              <a:ext cx="3462337" cy="242888"/>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grpSp>
      <p:grpSp>
        <p:nvGrpSpPr>
          <p:cNvPr id="100" name="组合 99">
            <a:extLst>
              <a:ext uri="{FF2B5EF4-FFF2-40B4-BE49-F238E27FC236}">
                <a16:creationId xmlns:a16="http://schemas.microsoft.com/office/drawing/2014/main" id="{B12951BD-5005-D79E-6B83-51BC2F5A6412}"/>
              </a:ext>
            </a:extLst>
          </p:cNvPr>
          <p:cNvGrpSpPr/>
          <p:nvPr/>
        </p:nvGrpSpPr>
        <p:grpSpPr>
          <a:xfrm>
            <a:off x="3077395" y="2872526"/>
            <a:ext cx="3478213" cy="350837"/>
            <a:chOff x="3077395" y="3320206"/>
            <a:chExt cx="3478213" cy="350837"/>
          </a:xfrm>
        </p:grpSpPr>
        <p:sp>
          <p:nvSpPr>
            <p:cNvPr id="28" name="Line 9">
              <a:extLst>
                <a:ext uri="{FF2B5EF4-FFF2-40B4-BE49-F238E27FC236}">
                  <a16:creationId xmlns:a16="http://schemas.microsoft.com/office/drawing/2014/main" id="{A61E20A9-27F4-6E0B-6680-E47ADDE92A53}"/>
                </a:ext>
              </a:extLst>
            </p:cNvPr>
            <p:cNvSpPr>
              <a:spLocks noChangeShapeType="1"/>
            </p:cNvSpPr>
            <p:nvPr/>
          </p:nvSpPr>
          <p:spPr bwMode="auto">
            <a:xfrm flipH="1">
              <a:off x="3085333" y="3320206"/>
              <a:ext cx="3463925" cy="242887"/>
            </a:xfrm>
            <a:prstGeom prst="line">
              <a:avLst/>
            </a:prstGeom>
            <a:noFill/>
            <a:ln w="12700">
              <a:solidFill>
                <a:srgbClr val="9900CC"/>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29" name="Line 9">
              <a:extLst>
                <a:ext uri="{FF2B5EF4-FFF2-40B4-BE49-F238E27FC236}">
                  <a16:creationId xmlns:a16="http://schemas.microsoft.com/office/drawing/2014/main" id="{F7B4DA56-A560-1E61-C242-2846CF038EFC}"/>
                </a:ext>
              </a:extLst>
            </p:cNvPr>
            <p:cNvSpPr>
              <a:spLocks noChangeShapeType="1"/>
            </p:cNvSpPr>
            <p:nvPr/>
          </p:nvSpPr>
          <p:spPr bwMode="auto">
            <a:xfrm flipH="1">
              <a:off x="3077395" y="3358306"/>
              <a:ext cx="3463925" cy="244475"/>
            </a:xfrm>
            <a:prstGeom prst="line">
              <a:avLst/>
            </a:prstGeom>
            <a:noFill/>
            <a:ln w="12700">
              <a:solidFill>
                <a:srgbClr val="9900CC"/>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30" name="Line 9">
              <a:extLst>
                <a:ext uri="{FF2B5EF4-FFF2-40B4-BE49-F238E27FC236}">
                  <a16:creationId xmlns:a16="http://schemas.microsoft.com/office/drawing/2014/main" id="{AAD8565A-7FD7-CD0E-E89F-635424C71976}"/>
                </a:ext>
              </a:extLst>
            </p:cNvPr>
            <p:cNvSpPr>
              <a:spLocks noChangeShapeType="1"/>
            </p:cNvSpPr>
            <p:nvPr/>
          </p:nvSpPr>
          <p:spPr bwMode="auto">
            <a:xfrm flipH="1">
              <a:off x="3091683" y="3393231"/>
              <a:ext cx="3463925" cy="244475"/>
            </a:xfrm>
            <a:prstGeom prst="line">
              <a:avLst/>
            </a:prstGeom>
            <a:noFill/>
            <a:ln w="12700">
              <a:solidFill>
                <a:srgbClr val="9900CC"/>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31" name="Line 9">
              <a:extLst>
                <a:ext uri="{FF2B5EF4-FFF2-40B4-BE49-F238E27FC236}">
                  <a16:creationId xmlns:a16="http://schemas.microsoft.com/office/drawing/2014/main" id="{F6A9AEA3-CB1C-88FC-4D60-EB4C40068DA6}"/>
                </a:ext>
              </a:extLst>
            </p:cNvPr>
            <p:cNvSpPr>
              <a:spLocks noChangeShapeType="1"/>
            </p:cNvSpPr>
            <p:nvPr/>
          </p:nvSpPr>
          <p:spPr bwMode="auto">
            <a:xfrm flipH="1">
              <a:off x="3082158" y="3428156"/>
              <a:ext cx="3463925" cy="242887"/>
            </a:xfrm>
            <a:prstGeom prst="line">
              <a:avLst/>
            </a:prstGeom>
            <a:noFill/>
            <a:ln w="12700">
              <a:solidFill>
                <a:srgbClr val="9900CC"/>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grpSp>
      <p:grpSp>
        <p:nvGrpSpPr>
          <p:cNvPr id="32" name="组合 47">
            <a:extLst>
              <a:ext uri="{FF2B5EF4-FFF2-40B4-BE49-F238E27FC236}">
                <a16:creationId xmlns:a16="http://schemas.microsoft.com/office/drawing/2014/main" id="{F715B3F0-E44D-BC8A-774A-92DDC6765B17}"/>
              </a:ext>
            </a:extLst>
          </p:cNvPr>
          <p:cNvGrpSpPr>
            <a:grpSpLocks/>
          </p:cNvGrpSpPr>
          <p:nvPr/>
        </p:nvGrpSpPr>
        <p:grpSpPr bwMode="auto">
          <a:xfrm>
            <a:off x="3101208" y="3140813"/>
            <a:ext cx="1774825" cy="490538"/>
            <a:chOff x="3125070" y="2209691"/>
            <a:chExt cx="3463153" cy="490826"/>
          </a:xfrm>
        </p:grpSpPr>
        <p:sp>
          <p:nvSpPr>
            <p:cNvPr id="49" name="Line 9">
              <a:extLst>
                <a:ext uri="{FF2B5EF4-FFF2-40B4-BE49-F238E27FC236}">
                  <a16:creationId xmlns:a16="http://schemas.microsoft.com/office/drawing/2014/main" id="{A838C96F-7251-0754-6A28-04DD839E36CE}"/>
                </a:ext>
              </a:extLst>
            </p:cNvPr>
            <p:cNvSpPr>
              <a:spLocks noChangeShapeType="1"/>
            </p:cNvSpPr>
            <p:nvPr/>
          </p:nvSpPr>
          <p:spPr bwMode="auto">
            <a:xfrm>
              <a:off x="3125070" y="2209691"/>
              <a:ext cx="3463153" cy="243447"/>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50" name="Line 9">
              <a:extLst>
                <a:ext uri="{FF2B5EF4-FFF2-40B4-BE49-F238E27FC236}">
                  <a16:creationId xmlns:a16="http://schemas.microsoft.com/office/drawing/2014/main" id="{2C9F1CD6-8697-CC0E-CA2E-54D16802CAE4}"/>
                </a:ext>
              </a:extLst>
            </p:cNvPr>
            <p:cNvSpPr>
              <a:spLocks noChangeShapeType="1"/>
            </p:cNvSpPr>
            <p:nvPr/>
          </p:nvSpPr>
          <p:spPr bwMode="auto">
            <a:xfrm>
              <a:off x="3125070" y="2315709"/>
              <a:ext cx="3463153" cy="243447"/>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51" name="Line 9">
              <a:extLst>
                <a:ext uri="{FF2B5EF4-FFF2-40B4-BE49-F238E27FC236}">
                  <a16:creationId xmlns:a16="http://schemas.microsoft.com/office/drawing/2014/main" id="{B17B70E5-676F-BB27-88A8-18B3D9AA0F0A}"/>
                </a:ext>
              </a:extLst>
            </p:cNvPr>
            <p:cNvSpPr>
              <a:spLocks noChangeShapeType="1"/>
            </p:cNvSpPr>
            <p:nvPr/>
          </p:nvSpPr>
          <p:spPr bwMode="auto">
            <a:xfrm>
              <a:off x="3125070" y="2280370"/>
              <a:ext cx="3463153" cy="243447"/>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52" name="Line 9">
              <a:extLst>
                <a:ext uri="{FF2B5EF4-FFF2-40B4-BE49-F238E27FC236}">
                  <a16:creationId xmlns:a16="http://schemas.microsoft.com/office/drawing/2014/main" id="{AA62E215-DDA7-0BDC-9E94-F7208E2FEB96}"/>
                </a:ext>
              </a:extLst>
            </p:cNvPr>
            <p:cNvSpPr>
              <a:spLocks noChangeShapeType="1"/>
            </p:cNvSpPr>
            <p:nvPr/>
          </p:nvSpPr>
          <p:spPr bwMode="auto">
            <a:xfrm>
              <a:off x="3125070" y="2351049"/>
              <a:ext cx="3463153" cy="243447"/>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53" name="Line 9">
              <a:extLst>
                <a:ext uri="{FF2B5EF4-FFF2-40B4-BE49-F238E27FC236}">
                  <a16:creationId xmlns:a16="http://schemas.microsoft.com/office/drawing/2014/main" id="{53CEE006-F259-120E-7792-7B65C576F09D}"/>
                </a:ext>
              </a:extLst>
            </p:cNvPr>
            <p:cNvSpPr>
              <a:spLocks noChangeShapeType="1"/>
            </p:cNvSpPr>
            <p:nvPr/>
          </p:nvSpPr>
          <p:spPr bwMode="auto">
            <a:xfrm>
              <a:off x="3125070" y="2457070"/>
              <a:ext cx="3463153" cy="243447"/>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54" name="Line 9">
              <a:extLst>
                <a:ext uri="{FF2B5EF4-FFF2-40B4-BE49-F238E27FC236}">
                  <a16:creationId xmlns:a16="http://schemas.microsoft.com/office/drawing/2014/main" id="{9FCC7211-92D9-0D99-FDCB-7121AD32C064}"/>
                </a:ext>
              </a:extLst>
            </p:cNvPr>
            <p:cNvSpPr>
              <a:spLocks noChangeShapeType="1"/>
            </p:cNvSpPr>
            <p:nvPr/>
          </p:nvSpPr>
          <p:spPr bwMode="auto">
            <a:xfrm>
              <a:off x="3125070" y="2421727"/>
              <a:ext cx="3463153" cy="243447"/>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55" name="Line 9">
              <a:extLst>
                <a:ext uri="{FF2B5EF4-FFF2-40B4-BE49-F238E27FC236}">
                  <a16:creationId xmlns:a16="http://schemas.microsoft.com/office/drawing/2014/main" id="{4742885A-DA45-2C10-E76F-6ED844EB5752}"/>
                </a:ext>
              </a:extLst>
            </p:cNvPr>
            <p:cNvSpPr>
              <a:spLocks noChangeShapeType="1"/>
            </p:cNvSpPr>
            <p:nvPr/>
          </p:nvSpPr>
          <p:spPr bwMode="auto">
            <a:xfrm>
              <a:off x="3125070" y="2245030"/>
              <a:ext cx="3463153" cy="243447"/>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56" name="Line 9">
              <a:extLst>
                <a:ext uri="{FF2B5EF4-FFF2-40B4-BE49-F238E27FC236}">
                  <a16:creationId xmlns:a16="http://schemas.microsoft.com/office/drawing/2014/main" id="{7035950F-EC1A-BA1B-7A7E-2B6AC6D44D08}"/>
                </a:ext>
              </a:extLst>
            </p:cNvPr>
            <p:cNvSpPr>
              <a:spLocks noChangeShapeType="1"/>
            </p:cNvSpPr>
            <p:nvPr/>
          </p:nvSpPr>
          <p:spPr bwMode="auto">
            <a:xfrm>
              <a:off x="3125070" y="2386388"/>
              <a:ext cx="3463153" cy="243447"/>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grpSp>
      <p:grpSp>
        <p:nvGrpSpPr>
          <p:cNvPr id="33" name="组合 48">
            <a:extLst>
              <a:ext uri="{FF2B5EF4-FFF2-40B4-BE49-F238E27FC236}">
                <a16:creationId xmlns:a16="http://schemas.microsoft.com/office/drawing/2014/main" id="{892B07D3-B14B-E216-59F5-2CD815004DE5}"/>
              </a:ext>
            </a:extLst>
          </p:cNvPr>
          <p:cNvGrpSpPr>
            <a:grpSpLocks/>
          </p:cNvGrpSpPr>
          <p:nvPr/>
        </p:nvGrpSpPr>
        <p:grpSpPr bwMode="auto">
          <a:xfrm>
            <a:off x="2982145" y="1526326"/>
            <a:ext cx="76200" cy="1597025"/>
            <a:chOff x="2934734" y="595458"/>
            <a:chExt cx="148753" cy="1596629"/>
          </a:xfrm>
        </p:grpSpPr>
        <p:sp>
          <p:nvSpPr>
            <p:cNvPr id="46" name="左大括号 45">
              <a:extLst>
                <a:ext uri="{FF2B5EF4-FFF2-40B4-BE49-F238E27FC236}">
                  <a16:creationId xmlns:a16="http://schemas.microsoft.com/office/drawing/2014/main" id="{F8404BCA-9DF7-5357-3128-919E22F216C1}"/>
                </a:ext>
              </a:extLst>
            </p:cNvPr>
            <p:cNvSpPr/>
            <p:nvPr/>
          </p:nvSpPr>
          <p:spPr>
            <a:xfrm>
              <a:off x="2934734" y="595458"/>
              <a:ext cx="148753" cy="501526"/>
            </a:xfrm>
            <a:prstGeom prst="leftBrace">
              <a:avLst>
                <a:gd name="adj1" fmla="val 33696"/>
                <a:gd name="adj2" fmla="val 5171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b="1" dirty="0">
                <a:latin typeface="微软雅黑" panose="020B0503020204020204" pitchFamily="34" charset="-122"/>
                <a:ea typeface="微软雅黑" panose="020B0503020204020204" pitchFamily="34" charset="-122"/>
              </a:endParaRPr>
            </a:p>
          </p:txBody>
        </p:sp>
        <p:sp>
          <p:nvSpPr>
            <p:cNvPr id="47" name="左大括号 46">
              <a:extLst>
                <a:ext uri="{FF2B5EF4-FFF2-40B4-BE49-F238E27FC236}">
                  <a16:creationId xmlns:a16="http://schemas.microsoft.com/office/drawing/2014/main" id="{D6EE84FC-6FD4-8452-9D54-A64B1689FD83}"/>
                </a:ext>
              </a:extLst>
            </p:cNvPr>
            <p:cNvSpPr/>
            <p:nvPr/>
          </p:nvSpPr>
          <p:spPr>
            <a:xfrm>
              <a:off x="2934734" y="1690561"/>
              <a:ext cx="148753" cy="501526"/>
            </a:xfrm>
            <a:prstGeom prst="leftBrace">
              <a:avLst>
                <a:gd name="adj1" fmla="val 33696"/>
                <a:gd name="adj2" fmla="val 5171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b="1" dirty="0">
                <a:latin typeface="微软雅黑" panose="020B0503020204020204" pitchFamily="34" charset="-122"/>
                <a:ea typeface="微软雅黑" panose="020B0503020204020204" pitchFamily="34" charset="-122"/>
              </a:endParaRPr>
            </a:p>
          </p:txBody>
        </p:sp>
        <p:sp>
          <p:nvSpPr>
            <p:cNvPr id="48" name="左大括号 47">
              <a:extLst>
                <a:ext uri="{FF2B5EF4-FFF2-40B4-BE49-F238E27FC236}">
                  <a16:creationId xmlns:a16="http://schemas.microsoft.com/office/drawing/2014/main" id="{926C4A3D-5287-C8CC-A54C-F5A9F8C64792}"/>
                </a:ext>
              </a:extLst>
            </p:cNvPr>
            <p:cNvSpPr/>
            <p:nvPr/>
          </p:nvSpPr>
          <p:spPr>
            <a:xfrm>
              <a:off x="2934734" y="1143009"/>
              <a:ext cx="148753" cy="501526"/>
            </a:xfrm>
            <a:prstGeom prst="leftBrace">
              <a:avLst>
                <a:gd name="adj1" fmla="val 33696"/>
                <a:gd name="adj2" fmla="val 5171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b="1" dirty="0">
                <a:latin typeface="微软雅黑" panose="020B0503020204020204" pitchFamily="34" charset="-122"/>
                <a:ea typeface="微软雅黑" panose="020B0503020204020204" pitchFamily="34" charset="-122"/>
              </a:endParaRPr>
            </a:p>
          </p:txBody>
        </p:sp>
      </p:grpSp>
      <p:grpSp>
        <p:nvGrpSpPr>
          <p:cNvPr id="101" name="组合 100">
            <a:extLst>
              <a:ext uri="{FF2B5EF4-FFF2-40B4-BE49-F238E27FC236}">
                <a16:creationId xmlns:a16="http://schemas.microsoft.com/office/drawing/2014/main" id="{50A1CE31-60F7-70E2-BF78-141CA1442FCB}"/>
              </a:ext>
            </a:extLst>
          </p:cNvPr>
          <p:cNvGrpSpPr/>
          <p:nvPr/>
        </p:nvGrpSpPr>
        <p:grpSpPr>
          <a:xfrm>
            <a:off x="2436045" y="1600938"/>
            <a:ext cx="604259" cy="1448217"/>
            <a:chOff x="2436045" y="2048618"/>
            <a:chExt cx="604259" cy="1448217"/>
          </a:xfrm>
        </p:grpSpPr>
        <p:sp>
          <p:nvSpPr>
            <p:cNvPr id="34" name="Text Box 4">
              <a:extLst>
                <a:ext uri="{FF2B5EF4-FFF2-40B4-BE49-F238E27FC236}">
                  <a16:creationId xmlns:a16="http://schemas.microsoft.com/office/drawing/2014/main" id="{9482AA6D-12A0-4443-8D43-430D949871F2}"/>
                </a:ext>
              </a:extLst>
            </p:cNvPr>
            <p:cNvSpPr txBox="1">
              <a:spLocks noChangeArrowheads="1"/>
            </p:cNvSpPr>
            <p:nvPr/>
          </p:nvSpPr>
          <p:spPr bwMode="auto">
            <a:xfrm>
              <a:off x="2436045" y="3158281"/>
              <a:ext cx="58362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RTT</a:t>
              </a:r>
              <a:endParaRPr lang="zh-CN" altLang="en-US" sz="1600" b="1">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5" name="Text Box 4">
              <a:extLst>
                <a:ext uri="{FF2B5EF4-FFF2-40B4-BE49-F238E27FC236}">
                  <a16:creationId xmlns:a16="http://schemas.microsoft.com/office/drawing/2014/main" id="{BF883486-6254-852E-755E-3F4DC69BB171}"/>
                </a:ext>
              </a:extLst>
            </p:cNvPr>
            <p:cNvSpPr txBox="1">
              <a:spLocks noChangeArrowheads="1"/>
            </p:cNvSpPr>
            <p:nvPr/>
          </p:nvSpPr>
          <p:spPr bwMode="auto">
            <a:xfrm>
              <a:off x="2448745" y="2602656"/>
              <a:ext cx="58362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RTT</a:t>
              </a:r>
              <a:endParaRPr lang="zh-CN" altLang="en-US" sz="1600" b="1">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6" name="Text Box 4">
              <a:extLst>
                <a:ext uri="{FF2B5EF4-FFF2-40B4-BE49-F238E27FC236}">
                  <a16:creationId xmlns:a16="http://schemas.microsoft.com/office/drawing/2014/main" id="{B2BA685E-9BCA-0740-C228-9FE04D69BB58}"/>
                </a:ext>
              </a:extLst>
            </p:cNvPr>
            <p:cNvSpPr txBox="1">
              <a:spLocks noChangeArrowheads="1"/>
            </p:cNvSpPr>
            <p:nvPr/>
          </p:nvSpPr>
          <p:spPr bwMode="auto">
            <a:xfrm>
              <a:off x="2456683" y="2048618"/>
              <a:ext cx="58362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RTT</a:t>
              </a:r>
              <a:endParaRPr lang="zh-CN" altLang="en-US" sz="1600" b="1" dirty="0">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37" name="Text Box 4">
            <a:extLst>
              <a:ext uri="{FF2B5EF4-FFF2-40B4-BE49-F238E27FC236}">
                <a16:creationId xmlns:a16="http://schemas.microsoft.com/office/drawing/2014/main" id="{080ECB25-889B-C951-5062-5020745293A9}"/>
              </a:ext>
            </a:extLst>
          </p:cNvPr>
          <p:cNvSpPr txBox="1">
            <a:spLocks noChangeArrowheads="1"/>
          </p:cNvSpPr>
          <p:nvPr/>
        </p:nvSpPr>
        <p:spPr bwMode="auto">
          <a:xfrm>
            <a:off x="2861495" y="3545626"/>
            <a:ext cx="26962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i="1">
                <a:latin typeface="微软雅黑" panose="020B0503020204020204" pitchFamily="34" charset="-122"/>
                <a:ea typeface="微软雅黑" panose="020B0503020204020204" pitchFamily="34" charset="-122"/>
                <a:cs typeface="Times New Roman" panose="02020603050405020304" pitchFamily="18" charset="0"/>
              </a:rPr>
              <a:t>t</a:t>
            </a:r>
            <a:endParaRPr lang="zh-CN" altLang="en-US" sz="1600" b="1" i="1">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8" name="Text Box 4">
            <a:extLst>
              <a:ext uri="{FF2B5EF4-FFF2-40B4-BE49-F238E27FC236}">
                <a16:creationId xmlns:a16="http://schemas.microsoft.com/office/drawing/2014/main" id="{2AE5B620-34ED-C452-ACB3-6E29A549734F}"/>
              </a:ext>
            </a:extLst>
          </p:cNvPr>
          <p:cNvSpPr txBox="1">
            <a:spLocks noChangeArrowheads="1"/>
          </p:cNvSpPr>
          <p:nvPr/>
        </p:nvSpPr>
        <p:spPr bwMode="auto">
          <a:xfrm>
            <a:off x="6544495" y="3509113"/>
            <a:ext cx="26962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i="1">
                <a:latin typeface="微软雅黑" panose="020B0503020204020204" pitchFamily="34" charset="-122"/>
                <a:ea typeface="微软雅黑" panose="020B0503020204020204" pitchFamily="34" charset="-122"/>
                <a:cs typeface="Times New Roman" panose="02020603050405020304" pitchFamily="18" charset="0"/>
              </a:rPr>
              <a:t>t</a:t>
            </a:r>
            <a:endParaRPr lang="zh-CN" altLang="en-US" sz="1600" b="1" i="1">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62" name="组合 61">
            <a:extLst>
              <a:ext uri="{FF2B5EF4-FFF2-40B4-BE49-F238E27FC236}">
                <a16:creationId xmlns:a16="http://schemas.microsoft.com/office/drawing/2014/main" id="{E2DB42F9-A0DE-A08B-9019-4256BB96CA86}"/>
              </a:ext>
            </a:extLst>
          </p:cNvPr>
          <p:cNvGrpSpPr/>
          <p:nvPr/>
        </p:nvGrpSpPr>
        <p:grpSpPr>
          <a:xfrm>
            <a:off x="762002" y="1873988"/>
            <a:ext cx="2323332" cy="338554"/>
            <a:chOff x="762002" y="2321668"/>
            <a:chExt cx="2323332" cy="338554"/>
          </a:xfrm>
        </p:grpSpPr>
        <p:sp>
          <p:nvSpPr>
            <p:cNvPr id="5" name="Text Box 63">
              <a:extLst>
                <a:ext uri="{FF2B5EF4-FFF2-40B4-BE49-F238E27FC236}">
                  <a16:creationId xmlns:a16="http://schemas.microsoft.com/office/drawing/2014/main" id="{686512D1-9EB5-087C-C334-47821955C654}"/>
                </a:ext>
              </a:extLst>
            </p:cNvPr>
            <p:cNvSpPr txBox="1">
              <a:spLocks noChangeArrowheads="1"/>
            </p:cNvSpPr>
            <p:nvPr/>
          </p:nvSpPr>
          <p:spPr bwMode="auto">
            <a:xfrm>
              <a:off x="762002" y="2321668"/>
              <a:ext cx="1699444" cy="338554"/>
            </a:xfrm>
            <a:prstGeom prst="rect">
              <a:avLst/>
            </a:prstGeom>
            <a:solidFill>
              <a:srgbClr val="FFFF00"/>
            </a:solidFill>
            <a:ln>
              <a:noFill/>
            </a:ln>
            <a:effectLst>
              <a:outerShdw dist="35921" dir="2700000" algn="ctr" rotWithShape="0">
                <a:schemeClr val="bg2"/>
              </a:outerShdw>
            </a:effec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dirty="0" err="1">
                  <a:latin typeface="微软雅黑" panose="020B0503020204020204" pitchFamily="34" charset="-122"/>
                  <a:ea typeface="微软雅黑" panose="020B0503020204020204" pitchFamily="34" charset="-122"/>
                </a:rPr>
                <a:t>cwnd</a:t>
              </a:r>
              <a:r>
                <a:rPr lang="en-US" altLang="zh-CN" sz="1600" b="1" dirty="0">
                  <a:latin typeface="微软雅黑" panose="020B0503020204020204" pitchFamily="34" charset="-122"/>
                  <a:ea typeface="微软雅黑" panose="020B0503020204020204" pitchFamily="34" charset="-122"/>
                </a:rPr>
                <a:t> = 2 MSS </a:t>
              </a:r>
            </a:p>
          </p:txBody>
        </p:sp>
        <p:sp>
          <p:nvSpPr>
            <p:cNvPr id="39" name="Line 9">
              <a:extLst>
                <a:ext uri="{FF2B5EF4-FFF2-40B4-BE49-F238E27FC236}">
                  <a16:creationId xmlns:a16="http://schemas.microsoft.com/office/drawing/2014/main" id="{272FC2D9-612B-4FCE-5279-BC67E9522F42}"/>
                </a:ext>
              </a:extLst>
            </p:cNvPr>
            <p:cNvSpPr>
              <a:spLocks noChangeShapeType="1"/>
            </p:cNvSpPr>
            <p:nvPr/>
          </p:nvSpPr>
          <p:spPr bwMode="auto">
            <a:xfrm>
              <a:off x="2469384" y="2505818"/>
              <a:ext cx="615950" cy="6350"/>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grpSp>
      <p:grpSp>
        <p:nvGrpSpPr>
          <p:cNvPr id="63" name="组合 62">
            <a:extLst>
              <a:ext uri="{FF2B5EF4-FFF2-40B4-BE49-F238E27FC236}">
                <a16:creationId xmlns:a16="http://schemas.microsoft.com/office/drawing/2014/main" id="{B7B4829E-B65E-5F59-7CD1-6EA0DE0169F2}"/>
              </a:ext>
            </a:extLst>
          </p:cNvPr>
          <p:cNvGrpSpPr/>
          <p:nvPr/>
        </p:nvGrpSpPr>
        <p:grpSpPr>
          <a:xfrm>
            <a:off x="760415" y="2407388"/>
            <a:ext cx="2334443" cy="338554"/>
            <a:chOff x="760415" y="2855068"/>
            <a:chExt cx="2334443" cy="338554"/>
          </a:xfrm>
        </p:grpSpPr>
        <p:sp>
          <p:nvSpPr>
            <p:cNvPr id="4" name="Text Box 64">
              <a:extLst>
                <a:ext uri="{FF2B5EF4-FFF2-40B4-BE49-F238E27FC236}">
                  <a16:creationId xmlns:a16="http://schemas.microsoft.com/office/drawing/2014/main" id="{C486652F-A4B0-B18D-A5F9-2DDB8AC458E9}"/>
                </a:ext>
              </a:extLst>
            </p:cNvPr>
            <p:cNvSpPr txBox="1">
              <a:spLocks noChangeArrowheads="1"/>
            </p:cNvSpPr>
            <p:nvPr/>
          </p:nvSpPr>
          <p:spPr bwMode="auto">
            <a:xfrm>
              <a:off x="760415" y="2855068"/>
              <a:ext cx="1699444" cy="338554"/>
            </a:xfrm>
            <a:prstGeom prst="rect">
              <a:avLst/>
            </a:prstGeom>
            <a:solidFill>
              <a:srgbClr val="FFFF00"/>
            </a:solidFill>
            <a:ln>
              <a:noFill/>
            </a:ln>
            <a:effectLst>
              <a:outerShdw dist="35921" dir="2700000" algn="ctr" rotWithShape="0">
                <a:schemeClr val="bg2"/>
              </a:outerShdw>
            </a:effec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dirty="0" err="1">
                  <a:latin typeface="微软雅黑" panose="020B0503020204020204" pitchFamily="34" charset="-122"/>
                  <a:ea typeface="微软雅黑" panose="020B0503020204020204" pitchFamily="34" charset="-122"/>
                </a:rPr>
                <a:t>cwnd</a:t>
              </a:r>
              <a:r>
                <a:rPr lang="en-US" altLang="zh-CN" sz="1600" b="1" dirty="0">
                  <a:latin typeface="微软雅黑" panose="020B0503020204020204" pitchFamily="34" charset="-122"/>
                  <a:ea typeface="微软雅黑" panose="020B0503020204020204" pitchFamily="34" charset="-122"/>
                </a:rPr>
                <a:t> = 4 MSS </a:t>
              </a:r>
            </a:p>
          </p:txBody>
        </p:sp>
        <p:sp>
          <p:nvSpPr>
            <p:cNvPr id="40" name="Line 9">
              <a:extLst>
                <a:ext uri="{FF2B5EF4-FFF2-40B4-BE49-F238E27FC236}">
                  <a16:creationId xmlns:a16="http://schemas.microsoft.com/office/drawing/2014/main" id="{9946CEAC-203A-4BC1-47B2-997296D45834}"/>
                </a:ext>
              </a:extLst>
            </p:cNvPr>
            <p:cNvSpPr>
              <a:spLocks noChangeShapeType="1"/>
            </p:cNvSpPr>
            <p:nvPr/>
          </p:nvSpPr>
          <p:spPr bwMode="auto">
            <a:xfrm>
              <a:off x="2436045" y="3042393"/>
              <a:ext cx="658813" cy="3174"/>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grpSp>
      <p:grpSp>
        <p:nvGrpSpPr>
          <p:cNvPr id="96" name="组合 95">
            <a:extLst>
              <a:ext uri="{FF2B5EF4-FFF2-40B4-BE49-F238E27FC236}">
                <a16:creationId xmlns:a16="http://schemas.microsoft.com/office/drawing/2014/main" id="{A4F8BC9E-F8C7-0031-9F31-F1C39EFB4E56}"/>
              </a:ext>
            </a:extLst>
          </p:cNvPr>
          <p:cNvGrpSpPr/>
          <p:nvPr/>
        </p:nvGrpSpPr>
        <p:grpSpPr>
          <a:xfrm>
            <a:off x="767584" y="2943963"/>
            <a:ext cx="2317750" cy="338554"/>
            <a:chOff x="767584" y="3391643"/>
            <a:chExt cx="2317750" cy="338554"/>
          </a:xfrm>
        </p:grpSpPr>
        <p:sp>
          <p:nvSpPr>
            <p:cNvPr id="15" name="Text Box 64">
              <a:extLst>
                <a:ext uri="{FF2B5EF4-FFF2-40B4-BE49-F238E27FC236}">
                  <a16:creationId xmlns:a16="http://schemas.microsoft.com/office/drawing/2014/main" id="{C1F67C01-D399-78DB-6BDF-207CDC052F11}"/>
                </a:ext>
              </a:extLst>
            </p:cNvPr>
            <p:cNvSpPr txBox="1">
              <a:spLocks noChangeArrowheads="1"/>
            </p:cNvSpPr>
            <p:nvPr/>
          </p:nvSpPr>
          <p:spPr bwMode="auto">
            <a:xfrm>
              <a:off x="767584" y="3391643"/>
              <a:ext cx="1708150" cy="338554"/>
            </a:xfrm>
            <a:prstGeom prst="rect">
              <a:avLst/>
            </a:prstGeom>
            <a:solidFill>
              <a:srgbClr val="FFFF00"/>
            </a:solidFill>
            <a:ln>
              <a:noFill/>
            </a:ln>
            <a:effectLst>
              <a:outerShdw dist="35921" dir="2700000" algn="ctr" rotWithShape="0">
                <a:schemeClr val="bg2"/>
              </a:outerShdw>
            </a:effec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dirty="0" err="1">
                  <a:latin typeface="微软雅黑" panose="020B0503020204020204" pitchFamily="34" charset="-122"/>
                  <a:ea typeface="微软雅黑" panose="020B0503020204020204" pitchFamily="34" charset="-122"/>
                </a:rPr>
                <a:t>cwnd</a:t>
              </a:r>
              <a:r>
                <a:rPr lang="en-US" altLang="zh-CN" sz="1600" b="1" dirty="0">
                  <a:latin typeface="微软雅黑" panose="020B0503020204020204" pitchFamily="34" charset="-122"/>
                  <a:ea typeface="微软雅黑" panose="020B0503020204020204" pitchFamily="34" charset="-122"/>
                </a:rPr>
                <a:t> = 8 MSS</a:t>
              </a:r>
            </a:p>
          </p:txBody>
        </p:sp>
        <p:sp>
          <p:nvSpPr>
            <p:cNvPr id="41" name="Line 9">
              <a:extLst>
                <a:ext uri="{FF2B5EF4-FFF2-40B4-BE49-F238E27FC236}">
                  <a16:creationId xmlns:a16="http://schemas.microsoft.com/office/drawing/2014/main" id="{53081A13-6D87-F213-2BEC-7E31DFFFA2A5}"/>
                </a:ext>
              </a:extLst>
            </p:cNvPr>
            <p:cNvSpPr>
              <a:spLocks noChangeShapeType="1"/>
            </p:cNvSpPr>
            <p:nvPr/>
          </p:nvSpPr>
          <p:spPr bwMode="auto">
            <a:xfrm>
              <a:off x="2456684" y="3590080"/>
              <a:ext cx="628650" cy="7937"/>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grpSp>
      <p:sp>
        <p:nvSpPr>
          <p:cNvPr id="102" name="AutoShape 5">
            <a:extLst>
              <a:ext uri="{FF2B5EF4-FFF2-40B4-BE49-F238E27FC236}">
                <a16:creationId xmlns:a16="http://schemas.microsoft.com/office/drawing/2014/main" id="{C5E4F93F-4D58-83C5-DA59-C0275B314293}"/>
              </a:ext>
            </a:extLst>
          </p:cNvPr>
          <p:cNvSpPr>
            <a:spLocks noChangeArrowheads="1"/>
          </p:cNvSpPr>
          <p:nvPr/>
        </p:nvSpPr>
        <p:spPr bwMode="auto">
          <a:xfrm>
            <a:off x="556963" y="62603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03" name="Rectangle 6">
            <a:extLst>
              <a:ext uri="{FF2B5EF4-FFF2-40B4-BE49-F238E27FC236}">
                <a16:creationId xmlns:a16="http://schemas.microsoft.com/office/drawing/2014/main" id="{99F21D1C-FE19-063B-1FE5-B9430359CB92}"/>
              </a:ext>
            </a:extLst>
          </p:cNvPr>
          <p:cNvSpPr>
            <a:spLocks noChangeArrowheads="1"/>
          </p:cNvSpPr>
          <p:nvPr/>
        </p:nvSpPr>
        <p:spPr bwMode="auto">
          <a:xfrm>
            <a:off x="3164201" y="592828"/>
            <a:ext cx="28343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慢启动 </a:t>
            </a:r>
            <a:r>
              <a:rPr lang="en-US" altLang="zh-CN" sz="2000" b="1" dirty="0">
                <a:solidFill>
                  <a:schemeClr val="bg1"/>
                </a:solidFill>
                <a:latin typeface="微软雅黑" pitchFamily="34" charset="-122"/>
                <a:ea typeface="微软雅黑" pitchFamily="34" charset="-122"/>
              </a:rPr>
              <a:t>(Slow start)</a:t>
            </a:r>
            <a:endParaRPr lang="zh-CN" altLang="en-US"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188813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nodeType="clickEffect">
                                  <p:stCondLst>
                                    <p:cond delay="0"/>
                                  </p:stCondLst>
                                  <p:childTnLst>
                                    <p:anim calcmode="discrete" valueType="str">
                                      <p:cBhvr>
                                        <p:cTn id="6" dur="1000" fill="hold"/>
                                        <p:tgtEl>
                                          <p:spTgt spid="61"/>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17"/>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3000" fill="hold" grpId="0" nodeType="clickEffect">
                                  <p:stCondLst>
                                    <p:cond delay="0"/>
                                  </p:stCondLst>
                                  <p:childTnLst>
                                    <p:anim calcmode="discrete" valueType="str">
                                      <p:cBhvr>
                                        <p:cTn id="14" dur="1000" fill="hold"/>
                                        <p:tgtEl>
                                          <p:spTgt spid="19"/>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35" presetClass="emph" presetSubtype="0" repeatCount="3000" fill="hold" nodeType="clickEffect">
                                  <p:stCondLst>
                                    <p:cond delay="0"/>
                                  </p:stCondLst>
                                  <p:childTnLst>
                                    <p:anim calcmode="discrete" valueType="str">
                                      <p:cBhvr>
                                        <p:cTn id="18" dur="1000" fill="hold"/>
                                        <p:tgtEl>
                                          <p:spTgt spid="62"/>
                                        </p:tgtEl>
                                        <p:attrNameLst>
                                          <p:attrName>style.visibility</p:attrName>
                                        </p:attrNameLst>
                                      </p:cBhvr>
                                      <p:tavLst>
                                        <p:tav tm="0">
                                          <p:val>
                                            <p:strVal val="hidden"/>
                                          </p:val>
                                        </p:tav>
                                        <p:tav tm="50000">
                                          <p:val>
                                            <p:strVal val="visible"/>
                                          </p:val>
                                        </p:tav>
                                      </p:tavLst>
                                    </p:anim>
                                  </p:childTnLst>
                                </p:cTn>
                              </p:par>
                            </p:childTnLst>
                          </p:cTn>
                        </p:par>
                      </p:childTnLst>
                    </p:cTn>
                  </p:par>
                  <p:par>
                    <p:cTn id="19" fill="hold">
                      <p:stCondLst>
                        <p:cond delay="indefinite"/>
                      </p:stCondLst>
                      <p:childTnLst>
                        <p:par>
                          <p:cTn id="20" fill="hold">
                            <p:stCondLst>
                              <p:cond delay="0"/>
                            </p:stCondLst>
                            <p:childTnLst>
                              <p:par>
                                <p:cTn id="21" presetID="35" presetClass="emph" presetSubtype="0" repeatCount="3000" fill="hold" nodeType="clickEffect">
                                  <p:stCondLst>
                                    <p:cond delay="0"/>
                                  </p:stCondLst>
                                  <p:childTnLst>
                                    <p:anim calcmode="discrete" valueType="str">
                                      <p:cBhvr>
                                        <p:cTn id="22" dur="1000" fill="hold"/>
                                        <p:tgtEl>
                                          <p:spTgt spid="97"/>
                                        </p:tgtEl>
                                        <p:attrNameLst>
                                          <p:attrName>style.visibility</p:attrName>
                                        </p:attrNameLst>
                                      </p:cBhvr>
                                      <p:tavLst>
                                        <p:tav tm="0">
                                          <p:val>
                                            <p:strVal val="hidden"/>
                                          </p:val>
                                        </p:tav>
                                        <p:tav tm="50000">
                                          <p:val>
                                            <p:strVal val="visible"/>
                                          </p:val>
                                        </p:tav>
                                      </p:tavLst>
                                    </p:anim>
                                  </p:childTnLst>
                                </p:cTn>
                              </p:par>
                            </p:childTnLst>
                          </p:cTn>
                        </p:par>
                      </p:childTnLst>
                    </p:cTn>
                  </p:par>
                  <p:par>
                    <p:cTn id="23" fill="hold">
                      <p:stCondLst>
                        <p:cond delay="indefinite"/>
                      </p:stCondLst>
                      <p:childTnLst>
                        <p:par>
                          <p:cTn id="24" fill="hold">
                            <p:stCondLst>
                              <p:cond delay="0"/>
                            </p:stCondLst>
                            <p:childTnLst>
                              <p:par>
                                <p:cTn id="25" presetID="35" presetClass="emph" presetSubtype="0" repeatCount="3000" fill="hold" nodeType="clickEffect">
                                  <p:stCondLst>
                                    <p:cond delay="0"/>
                                  </p:stCondLst>
                                  <p:childTnLst>
                                    <p:anim calcmode="discrete" valueType="str">
                                      <p:cBhvr>
                                        <p:cTn id="26" dur="1000" fill="hold"/>
                                        <p:tgtEl>
                                          <p:spTgt spid="99"/>
                                        </p:tgtEl>
                                        <p:attrNameLst>
                                          <p:attrName>style.visibility</p:attrName>
                                        </p:attrNameLst>
                                      </p:cBhvr>
                                      <p:tavLst>
                                        <p:tav tm="0">
                                          <p:val>
                                            <p:strVal val="hidden"/>
                                          </p:val>
                                        </p:tav>
                                        <p:tav tm="50000">
                                          <p:val>
                                            <p:strVal val="visible"/>
                                          </p:val>
                                        </p:tav>
                                      </p:tavLst>
                                    </p:anim>
                                  </p:childTnLst>
                                </p:cTn>
                              </p:par>
                            </p:childTnLst>
                          </p:cTn>
                        </p:par>
                      </p:childTnLst>
                    </p:cTn>
                  </p:par>
                  <p:par>
                    <p:cTn id="27" fill="hold">
                      <p:stCondLst>
                        <p:cond delay="indefinite"/>
                      </p:stCondLst>
                      <p:childTnLst>
                        <p:par>
                          <p:cTn id="28" fill="hold">
                            <p:stCondLst>
                              <p:cond delay="0"/>
                            </p:stCondLst>
                            <p:childTnLst>
                              <p:par>
                                <p:cTn id="29" presetID="35" presetClass="emph" presetSubtype="0" repeatCount="3000" fill="hold" nodeType="clickEffect">
                                  <p:stCondLst>
                                    <p:cond delay="0"/>
                                  </p:stCondLst>
                                  <p:childTnLst>
                                    <p:anim calcmode="discrete" valueType="str">
                                      <p:cBhvr>
                                        <p:cTn id="30" dur="1000" fill="hold"/>
                                        <p:tgtEl>
                                          <p:spTgt spid="63"/>
                                        </p:tgtEl>
                                        <p:attrNameLst>
                                          <p:attrName>style.visibility</p:attrName>
                                        </p:attrNameLst>
                                      </p:cBhvr>
                                      <p:tavLst>
                                        <p:tav tm="0">
                                          <p:val>
                                            <p:strVal val="hidden"/>
                                          </p:val>
                                        </p:tav>
                                        <p:tav tm="50000">
                                          <p:val>
                                            <p:strVal val="visible"/>
                                          </p:val>
                                        </p:tav>
                                      </p:tavLst>
                                    </p:anim>
                                  </p:childTnLst>
                                </p:cTn>
                              </p:par>
                            </p:childTnLst>
                          </p:cTn>
                        </p:par>
                      </p:childTnLst>
                    </p:cTn>
                  </p:par>
                  <p:par>
                    <p:cTn id="31" fill="hold">
                      <p:stCondLst>
                        <p:cond delay="indefinite"/>
                      </p:stCondLst>
                      <p:childTnLst>
                        <p:par>
                          <p:cTn id="32" fill="hold">
                            <p:stCondLst>
                              <p:cond delay="0"/>
                            </p:stCondLst>
                            <p:childTnLst>
                              <p:par>
                                <p:cTn id="33" presetID="35" presetClass="emph" presetSubtype="0" repeatCount="3000" fill="hold" nodeType="clickEffect">
                                  <p:stCondLst>
                                    <p:cond delay="0"/>
                                  </p:stCondLst>
                                  <p:childTnLst>
                                    <p:anim calcmode="discrete" valueType="str">
                                      <p:cBhvr>
                                        <p:cTn id="34" dur="1000" fill="hold"/>
                                        <p:tgtEl>
                                          <p:spTgt spid="98"/>
                                        </p:tgtEl>
                                        <p:attrNameLst>
                                          <p:attrName>style.visibility</p:attrName>
                                        </p:attrNameLst>
                                      </p:cBhvr>
                                      <p:tavLst>
                                        <p:tav tm="0">
                                          <p:val>
                                            <p:strVal val="hidden"/>
                                          </p:val>
                                        </p:tav>
                                        <p:tav tm="50000">
                                          <p:val>
                                            <p:strVal val="visible"/>
                                          </p:val>
                                        </p:tav>
                                      </p:tavLst>
                                    </p:anim>
                                  </p:childTnLst>
                                </p:cTn>
                              </p:par>
                            </p:childTnLst>
                          </p:cTn>
                        </p:par>
                      </p:childTnLst>
                    </p:cTn>
                  </p:par>
                  <p:par>
                    <p:cTn id="35" fill="hold">
                      <p:stCondLst>
                        <p:cond delay="indefinite"/>
                      </p:stCondLst>
                      <p:childTnLst>
                        <p:par>
                          <p:cTn id="36" fill="hold">
                            <p:stCondLst>
                              <p:cond delay="0"/>
                            </p:stCondLst>
                            <p:childTnLst>
                              <p:par>
                                <p:cTn id="37" presetID="35" presetClass="emph" presetSubtype="0" repeatCount="3000" fill="hold" nodeType="clickEffect">
                                  <p:stCondLst>
                                    <p:cond delay="0"/>
                                  </p:stCondLst>
                                  <p:childTnLst>
                                    <p:anim calcmode="discrete" valueType="str">
                                      <p:cBhvr>
                                        <p:cTn id="38" dur="1000" fill="hold"/>
                                        <p:tgtEl>
                                          <p:spTgt spid="96"/>
                                        </p:tgtEl>
                                        <p:attrNameLst>
                                          <p:attrName>style.visibility</p:attrName>
                                        </p:attrNameLst>
                                      </p:cBhvr>
                                      <p:tavLst>
                                        <p:tav tm="0">
                                          <p:val>
                                            <p:strVal val="hidden"/>
                                          </p:val>
                                        </p:tav>
                                        <p:tav tm="50000">
                                          <p:val>
                                            <p:strVal val="visible"/>
                                          </p:val>
                                        </p:tav>
                                      </p:tavLst>
                                    </p:anim>
                                  </p:childTnLst>
                                </p:cTn>
                              </p:par>
                            </p:childTnLst>
                          </p:cTn>
                        </p:par>
                      </p:childTnLst>
                    </p:cTn>
                  </p:par>
                  <p:par>
                    <p:cTn id="39" fill="hold">
                      <p:stCondLst>
                        <p:cond delay="indefinite"/>
                      </p:stCondLst>
                      <p:childTnLst>
                        <p:par>
                          <p:cTn id="40" fill="hold">
                            <p:stCondLst>
                              <p:cond delay="0"/>
                            </p:stCondLst>
                            <p:childTnLst>
                              <p:par>
                                <p:cTn id="41" presetID="35" presetClass="emph" presetSubtype="0" repeatCount="3000" fill="hold" nodeType="clickEffect">
                                  <p:stCondLst>
                                    <p:cond delay="0"/>
                                  </p:stCondLst>
                                  <p:childTnLst>
                                    <p:anim calcmode="discrete" valueType="str">
                                      <p:cBhvr>
                                        <p:cTn id="42" dur="1000" fill="hold"/>
                                        <p:tgtEl>
                                          <p:spTgt spid="32"/>
                                        </p:tgtEl>
                                        <p:attrNameLst>
                                          <p:attrName>style.visibility</p:attrName>
                                        </p:attrNameLst>
                                      </p:cBhvr>
                                      <p:tavLst>
                                        <p:tav tm="0">
                                          <p:val>
                                            <p:strVal val="hidden"/>
                                          </p:val>
                                        </p:tav>
                                        <p:tav tm="50000">
                                          <p:val>
                                            <p:strVal val="visible"/>
                                          </p:val>
                                        </p:tav>
                                      </p:tavLst>
                                    </p:anim>
                                  </p:childTnLst>
                                </p:cTn>
                              </p:par>
                            </p:childTnLst>
                          </p:cTn>
                        </p:par>
                      </p:childTnLst>
                    </p:cTn>
                  </p:par>
                  <p:par>
                    <p:cTn id="43" fill="hold">
                      <p:stCondLst>
                        <p:cond delay="indefinite"/>
                      </p:stCondLst>
                      <p:childTnLst>
                        <p:par>
                          <p:cTn id="44" fill="hold">
                            <p:stCondLst>
                              <p:cond delay="0"/>
                            </p:stCondLst>
                            <p:childTnLst>
                              <p:par>
                                <p:cTn id="45" presetID="35" presetClass="emph" presetSubtype="0" repeatCount="3000" fill="hold" nodeType="clickEffect">
                                  <p:stCondLst>
                                    <p:cond delay="0"/>
                                  </p:stCondLst>
                                  <p:childTnLst>
                                    <p:anim calcmode="discrete" valueType="str">
                                      <p:cBhvr>
                                        <p:cTn id="46" dur="1000" fill="hold"/>
                                        <p:tgtEl>
                                          <p:spTgt spid="10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3142D-52B4-2DF1-865D-ADAC5CE21E20}"/>
            </a:ext>
          </a:extLst>
        </p:cNvPr>
        <p:cNvGrpSpPr/>
        <p:nvPr/>
      </p:nvGrpSpPr>
      <p:grpSpPr>
        <a:xfrm>
          <a:off x="0" y="0"/>
          <a:ext cx="0" cy="0"/>
          <a:chOff x="0" y="0"/>
          <a:chExt cx="0" cy="0"/>
        </a:xfrm>
      </p:grpSpPr>
      <p:sp>
        <p:nvSpPr>
          <p:cNvPr id="59" name="圆角矩形 113">
            <a:extLst>
              <a:ext uri="{FF2B5EF4-FFF2-40B4-BE49-F238E27FC236}">
                <a16:creationId xmlns:a16="http://schemas.microsoft.com/office/drawing/2014/main" id="{A0E052EE-159D-CCBE-2CD1-2A9201657CCB}"/>
              </a:ext>
            </a:extLst>
          </p:cNvPr>
          <p:cNvSpPr/>
          <p:nvPr/>
        </p:nvSpPr>
        <p:spPr>
          <a:xfrm>
            <a:off x="545144" y="1009961"/>
            <a:ext cx="8053711" cy="290404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Text Box 155">
            <a:extLst>
              <a:ext uri="{FF2B5EF4-FFF2-40B4-BE49-F238E27FC236}">
                <a16:creationId xmlns:a16="http://schemas.microsoft.com/office/drawing/2014/main" id="{BE52DA1F-D462-6E7E-EAD8-1CE848944D1C}"/>
              </a:ext>
            </a:extLst>
          </p:cNvPr>
          <p:cNvSpPr txBox="1">
            <a:spLocks noChangeArrowheads="1"/>
          </p:cNvSpPr>
          <p:nvPr/>
        </p:nvSpPr>
        <p:spPr bwMode="auto">
          <a:xfrm>
            <a:off x="1143001" y="3988619"/>
            <a:ext cx="6810374" cy="615168"/>
          </a:xfrm>
          <a:prstGeom prst="rect">
            <a:avLst/>
          </a:prstGeom>
          <a:solidFill>
            <a:srgbClr val="000099"/>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慢启动的“慢”并非指</a:t>
            </a:r>
            <a:r>
              <a:rPr lang="en-US" altLang="zh-CN" sz="1600" b="1" dirty="0" err="1">
                <a:solidFill>
                  <a:schemeClr val="bg1"/>
                </a:solidFill>
                <a:latin typeface="微软雅黑" pitchFamily="34" charset="-122"/>
                <a:ea typeface="微软雅黑" pitchFamily="34" charset="-122"/>
              </a:rPr>
              <a:t>cwnd</a:t>
            </a:r>
            <a:r>
              <a:rPr lang="zh-CN" altLang="en-US" sz="1600" b="1" dirty="0">
                <a:solidFill>
                  <a:schemeClr val="bg1"/>
                </a:solidFill>
                <a:latin typeface="微软雅黑" pitchFamily="34" charset="-122"/>
                <a:ea typeface="微软雅黑" pitchFamily="34" charset="-122"/>
              </a:rPr>
              <a:t>的增长速率慢，而是一开始发送速率慢，以试探网络拥塞情况，但速率增长确并不慢。</a:t>
            </a:r>
          </a:p>
        </p:txBody>
      </p:sp>
      <p:grpSp>
        <p:nvGrpSpPr>
          <p:cNvPr id="61" name="组合 60">
            <a:extLst>
              <a:ext uri="{FF2B5EF4-FFF2-40B4-BE49-F238E27FC236}">
                <a16:creationId xmlns:a16="http://schemas.microsoft.com/office/drawing/2014/main" id="{85B51D81-D3B8-AAAA-C8B2-F70D9D2B1891}"/>
              </a:ext>
            </a:extLst>
          </p:cNvPr>
          <p:cNvGrpSpPr/>
          <p:nvPr/>
        </p:nvGrpSpPr>
        <p:grpSpPr>
          <a:xfrm>
            <a:off x="762001" y="1335826"/>
            <a:ext cx="2309044" cy="338554"/>
            <a:chOff x="762001" y="1783506"/>
            <a:chExt cx="2309044" cy="338554"/>
          </a:xfrm>
        </p:grpSpPr>
        <p:sp>
          <p:nvSpPr>
            <p:cNvPr id="3" name="Line 9">
              <a:extLst>
                <a:ext uri="{FF2B5EF4-FFF2-40B4-BE49-F238E27FC236}">
                  <a16:creationId xmlns:a16="http://schemas.microsoft.com/office/drawing/2014/main" id="{662FA7B6-E82B-5CC4-EEAA-F73423AA7917}"/>
                </a:ext>
              </a:extLst>
            </p:cNvPr>
            <p:cNvSpPr>
              <a:spLocks noChangeShapeType="1"/>
            </p:cNvSpPr>
            <p:nvPr/>
          </p:nvSpPr>
          <p:spPr bwMode="auto">
            <a:xfrm flipV="1">
              <a:off x="2451920" y="1954956"/>
              <a:ext cx="619125" cy="3175"/>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6" name="Text Box 62">
              <a:extLst>
                <a:ext uri="{FF2B5EF4-FFF2-40B4-BE49-F238E27FC236}">
                  <a16:creationId xmlns:a16="http://schemas.microsoft.com/office/drawing/2014/main" id="{B8898A66-1072-84E3-4134-C782EB75D9DB}"/>
                </a:ext>
              </a:extLst>
            </p:cNvPr>
            <p:cNvSpPr txBox="1">
              <a:spLocks noChangeArrowheads="1"/>
            </p:cNvSpPr>
            <p:nvPr/>
          </p:nvSpPr>
          <p:spPr bwMode="auto">
            <a:xfrm>
              <a:off x="762001" y="1783506"/>
              <a:ext cx="1713732" cy="338554"/>
            </a:xfrm>
            <a:prstGeom prst="rect">
              <a:avLst/>
            </a:prstGeom>
            <a:solidFill>
              <a:srgbClr val="FFFF00"/>
            </a:solidFill>
            <a:ln>
              <a:noFill/>
            </a:ln>
            <a:effectLst>
              <a:outerShdw dist="35921" dir="2700000" algn="ctr" rotWithShape="0">
                <a:schemeClr val="bg2"/>
              </a:outerShdw>
            </a:effec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dirty="0" err="1">
                  <a:latin typeface="微软雅黑" panose="020B0503020204020204" pitchFamily="34" charset="-122"/>
                  <a:ea typeface="微软雅黑" panose="020B0503020204020204" pitchFamily="34" charset="-122"/>
                </a:rPr>
                <a:t>cwnd</a:t>
              </a:r>
              <a:r>
                <a:rPr lang="en-US" altLang="zh-CN" sz="1600" b="1" dirty="0">
                  <a:latin typeface="微软雅黑" panose="020B0503020204020204" pitchFamily="34" charset="-122"/>
                  <a:ea typeface="微软雅黑" panose="020B0503020204020204" pitchFamily="34" charset="-122"/>
                </a:rPr>
                <a:t> = 1 MSS </a:t>
              </a:r>
            </a:p>
          </p:txBody>
        </p:sp>
      </p:grpSp>
      <p:sp>
        <p:nvSpPr>
          <p:cNvPr id="7" name="Text Box 5">
            <a:extLst>
              <a:ext uri="{FF2B5EF4-FFF2-40B4-BE49-F238E27FC236}">
                <a16:creationId xmlns:a16="http://schemas.microsoft.com/office/drawing/2014/main" id="{510F969E-20ED-D72A-AC4C-080DC487ED8D}"/>
              </a:ext>
            </a:extLst>
          </p:cNvPr>
          <p:cNvSpPr txBox="1">
            <a:spLocks noChangeArrowheads="1"/>
          </p:cNvSpPr>
          <p:nvPr/>
        </p:nvSpPr>
        <p:spPr bwMode="auto">
          <a:xfrm>
            <a:off x="6144445" y="1078651"/>
            <a:ext cx="7937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1">
                <a:latin typeface="微软雅黑" panose="020B0503020204020204" pitchFamily="34" charset="-122"/>
                <a:ea typeface="微软雅黑" panose="020B0503020204020204" pitchFamily="34" charset="-122"/>
              </a:rPr>
              <a:t>接收方</a:t>
            </a:r>
          </a:p>
        </p:txBody>
      </p:sp>
      <p:sp>
        <p:nvSpPr>
          <p:cNvPr id="8" name="Text Box 5">
            <a:extLst>
              <a:ext uri="{FF2B5EF4-FFF2-40B4-BE49-F238E27FC236}">
                <a16:creationId xmlns:a16="http://schemas.microsoft.com/office/drawing/2014/main" id="{F1C70949-12C0-E854-799E-272D68C5BF0F}"/>
              </a:ext>
            </a:extLst>
          </p:cNvPr>
          <p:cNvSpPr txBox="1">
            <a:spLocks noChangeArrowheads="1"/>
          </p:cNvSpPr>
          <p:nvPr/>
        </p:nvSpPr>
        <p:spPr bwMode="auto">
          <a:xfrm>
            <a:off x="6530208" y="1570776"/>
            <a:ext cx="95250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1">
                <a:latin typeface="微软雅黑" panose="020B0503020204020204" pitchFamily="34" charset="-122"/>
                <a:ea typeface="微软雅黑" panose="020B0503020204020204" pitchFamily="34" charset="-122"/>
              </a:rPr>
              <a:t>确认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M</a:t>
            </a:r>
            <a:r>
              <a:rPr lang="en-US" altLang="zh-CN" sz="1600" b="1" baseline="-25000">
                <a:latin typeface="微软雅黑" panose="020B0503020204020204" pitchFamily="34" charset="-122"/>
                <a:ea typeface="微软雅黑" panose="020B0503020204020204" pitchFamily="34" charset="-122"/>
                <a:cs typeface="Times New Roman" panose="02020603050405020304" pitchFamily="18" charset="0"/>
              </a:rPr>
              <a:t>1</a:t>
            </a:r>
            <a:endParaRPr lang="zh-CN" altLang="en-US" sz="1600" b="1">
              <a:latin typeface="微软雅黑" panose="020B0503020204020204" pitchFamily="34" charset="-122"/>
              <a:ea typeface="微软雅黑" panose="020B0503020204020204" pitchFamily="34" charset="-122"/>
            </a:endParaRPr>
          </a:p>
        </p:txBody>
      </p:sp>
      <p:sp>
        <p:nvSpPr>
          <p:cNvPr id="9" name="Text Box 4">
            <a:extLst>
              <a:ext uri="{FF2B5EF4-FFF2-40B4-BE49-F238E27FC236}">
                <a16:creationId xmlns:a16="http://schemas.microsoft.com/office/drawing/2014/main" id="{4EDCBEFE-6F91-4480-3C4E-BE4427052BE8}"/>
              </a:ext>
            </a:extLst>
          </p:cNvPr>
          <p:cNvSpPr txBox="1">
            <a:spLocks noChangeArrowheads="1"/>
          </p:cNvSpPr>
          <p:nvPr/>
        </p:nvSpPr>
        <p:spPr bwMode="auto">
          <a:xfrm>
            <a:off x="4826820" y="1354876"/>
            <a:ext cx="95250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1">
                <a:latin typeface="微软雅黑" panose="020B0503020204020204" pitchFamily="34" charset="-122"/>
                <a:ea typeface="微软雅黑" panose="020B0503020204020204" pitchFamily="34" charset="-122"/>
              </a:rPr>
              <a:t>发送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M</a:t>
            </a:r>
            <a:r>
              <a:rPr lang="en-US" altLang="zh-CN" sz="1600" b="1" baseline="-25000">
                <a:latin typeface="微软雅黑" panose="020B0503020204020204" pitchFamily="34" charset="-122"/>
                <a:ea typeface="微软雅黑" panose="020B0503020204020204" pitchFamily="34" charset="-122"/>
                <a:cs typeface="Times New Roman" panose="02020603050405020304" pitchFamily="18" charset="0"/>
              </a:rPr>
              <a:t>1</a:t>
            </a:r>
            <a:endParaRPr lang="zh-CN" altLang="en-US" sz="1600" b="1" baseline="-25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Text Box 4">
            <a:extLst>
              <a:ext uri="{FF2B5EF4-FFF2-40B4-BE49-F238E27FC236}">
                <a16:creationId xmlns:a16="http://schemas.microsoft.com/office/drawing/2014/main" id="{63A093F9-83C3-A6E9-C0F3-EF606D91A4D8}"/>
              </a:ext>
            </a:extLst>
          </p:cNvPr>
          <p:cNvSpPr txBox="1">
            <a:spLocks noChangeArrowheads="1"/>
          </p:cNvSpPr>
          <p:nvPr/>
        </p:nvSpPr>
        <p:spPr bwMode="auto">
          <a:xfrm>
            <a:off x="4718870" y="1907326"/>
            <a:ext cx="15055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1">
                <a:latin typeface="微软雅黑" panose="020B0503020204020204" pitchFamily="34" charset="-122"/>
                <a:ea typeface="微软雅黑" panose="020B0503020204020204" pitchFamily="34" charset="-122"/>
              </a:rPr>
              <a:t>发送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M</a:t>
            </a:r>
            <a:r>
              <a:rPr lang="en-US" altLang="zh-CN" sz="1600" b="1" baseline="-25000">
                <a:latin typeface="微软雅黑" panose="020B0503020204020204" pitchFamily="34" charset="-122"/>
                <a:ea typeface="微软雅黑" panose="020B0503020204020204" pitchFamily="34" charset="-122"/>
                <a:cs typeface="Times New Roman" panose="02020603050405020304" pitchFamily="18" charset="0"/>
              </a:rPr>
              <a:t>2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 M</a:t>
            </a:r>
            <a:r>
              <a:rPr lang="en-US" altLang="zh-CN" sz="1600" b="1" baseline="-25000">
                <a:latin typeface="微软雅黑" panose="020B0503020204020204" pitchFamily="34" charset="-122"/>
                <a:ea typeface="微软雅黑" panose="020B0503020204020204" pitchFamily="34" charset="-122"/>
                <a:cs typeface="Times New Roman" panose="02020603050405020304" pitchFamily="18" charset="0"/>
              </a:rPr>
              <a:t>3</a:t>
            </a:r>
            <a:endParaRPr lang="zh-CN" altLang="en-US" sz="1600" b="1" baseline="-25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Text Box 4">
            <a:extLst>
              <a:ext uri="{FF2B5EF4-FFF2-40B4-BE49-F238E27FC236}">
                <a16:creationId xmlns:a16="http://schemas.microsoft.com/office/drawing/2014/main" id="{F1CA3587-448A-3DFA-1533-E824D704752D}"/>
              </a:ext>
            </a:extLst>
          </p:cNvPr>
          <p:cNvSpPr txBox="1">
            <a:spLocks noChangeArrowheads="1"/>
          </p:cNvSpPr>
          <p:nvPr/>
        </p:nvSpPr>
        <p:spPr bwMode="auto">
          <a:xfrm>
            <a:off x="6523858" y="2140688"/>
            <a:ext cx="15055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1">
                <a:latin typeface="微软雅黑" panose="020B0503020204020204" pitchFamily="34" charset="-122"/>
                <a:ea typeface="微软雅黑" panose="020B0503020204020204" pitchFamily="34" charset="-122"/>
              </a:rPr>
              <a:t>确认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M</a:t>
            </a:r>
            <a:r>
              <a:rPr lang="en-US" altLang="zh-CN" sz="1600" b="1" baseline="-25000">
                <a:latin typeface="微软雅黑" panose="020B0503020204020204" pitchFamily="34" charset="-122"/>
                <a:ea typeface="微软雅黑" panose="020B0503020204020204" pitchFamily="34" charset="-122"/>
                <a:cs typeface="Times New Roman" panose="02020603050405020304" pitchFamily="18" charset="0"/>
              </a:rPr>
              <a:t>2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 M</a:t>
            </a:r>
            <a:r>
              <a:rPr lang="en-US" altLang="zh-CN" sz="1600" b="1" baseline="-25000">
                <a:latin typeface="微软雅黑" panose="020B0503020204020204" pitchFamily="34" charset="-122"/>
                <a:ea typeface="微软雅黑" panose="020B0503020204020204" pitchFamily="34" charset="-122"/>
                <a:cs typeface="Times New Roman" panose="02020603050405020304" pitchFamily="18" charset="0"/>
              </a:rPr>
              <a:t>3</a:t>
            </a:r>
            <a:endParaRPr lang="zh-CN" altLang="en-US" sz="1600" b="1" baseline="-25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Text Box 4">
            <a:extLst>
              <a:ext uri="{FF2B5EF4-FFF2-40B4-BE49-F238E27FC236}">
                <a16:creationId xmlns:a16="http://schemas.microsoft.com/office/drawing/2014/main" id="{FE403E4D-EE12-770D-E829-9EFA0A3870C2}"/>
              </a:ext>
            </a:extLst>
          </p:cNvPr>
          <p:cNvSpPr txBox="1">
            <a:spLocks noChangeArrowheads="1"/>
          </p:cNvSpPr>
          <p:nvPr/>
        </p:nvSpPr>
        <p:spPr bwMode="auto">
          <a:xfrm>
            <a:off x="4695058" y="2440726"/>
            <a:ext cx="15055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1">
                <a:latin typeface="微软雅黑" panose="020B0503020204020204" pitchFamily="34" charset="-122"/>
                <a:ea typeface="微软雅黑" panose="020B0503020204020204" pitchFamily="34" charset="-122"/>
              </a:rPr>
              <a:t>发送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M</a:t>
            </a:r>
            <a:r>
              <a:rPr lang="en-US" altLang="zh-CN" sz="1600" b="1" baseline="-25000">
                <a:latin typeface="微软雅黑" panose="020B0503020204020204" pitchFamily="34" charset="-122"/>
                <a:ea typeface="微软雅黑" panose="020B0503020204020204" pitchFamily="34" charset="-122"/>
                <a:cs typeface="Times New Roman" panose="02020603050405020304" pitchFamily="18" charset="0"/>
              </a:rPr>
              <a:t>4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 M</a:t>
            </a:r>
            <a:r>
              <a:rPr lang="en-US" altLang="zh-CN" sz="1600" b="1" baseline="-25000">
                <a:latin typeface="微软雅黑" panose="020B0503020204020204" pitchFamily="34" charset="-122"/>
                <a:ea typeface="微软雅黑" panose="020B0503020204020204" pitchFamily="34" charset="-122"/>
                <a:cs typeface="Times New Roman" panose="02020603050405020304" pitchFamily="18" charset="0"/>
              </a:rPr>
              <a:t>7</a:t>
            </a:r>
            <a:endParaRPr lang="zh-CN" altLang="en-US" sz="1600" b="1" baseline="-25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 name="Text Box 4">
            <a:extLst>
              <a:ext uri="{FF2B5EF4-FFF2-40B4-BE49-F238E27FC236}">
                <a16:creationId xmlns:a16="http://schemas.microsoft.com/office/drawing/2014/main" id="{8027CA9F-4B07-8721-1EEC-35E5031DDA53}"/>
              </a:ext>
            </a:extLst>
          </p:cNvPr>
          <p:cNvSpPr txBox="1">
            <a:spLocks noChangeArrowheads="1"/>
          </p:cNvSpPr>
          <p:nvPr/>
        </p:nvSpPr>
        <p:spPr bwMode="auto">
          <a:xfrm>
            <a:off x="4737920" y="3075726"/>
            <a:ext cx="15905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1">
                <a:latin typeface="微软雅黑" panose="020B0503020204020204" pitchFamily="34" charset="-122"/>
                <a:ea typeface="微软雅黑" panose="020B0503020204020204" pitchFamily="34" charset="-122"/>
              </a:rPr>
              <a:t>发送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M</a:t>
            </a:r>
            <a:r>
              <a:rPr lang="en-US" altLang="zh-CN" sz="1600" b="1" baseline="-25000">
                <a:latin typeface="微软雅黑" panose="020B0503020204020204" pitchFamily="34" charset="-122"/>
                <a:ea typeface="微软雅黑" panose="020B0503020204020204" pitchFamily="34" charset="-122"/>
                <a:cs typeface="Times New Roman" panose="02020603050405020304" pitchFamily="18" charset="0"/>
              </a:rPr>
              <a:t>8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 M</a:t>
            </a:r>
            <a:r>
              <a:rPr lang="en-US" altLang="zh-CN" sz="1600" b="1" baseline="-25000">
                <a:latin typeface="微软雅黑" panose="020B0503020204020204" pitchFamily="34" charset="-122"/>
                <a:ea typeface="微软雅黑" panose="020B0503020204020204" pitchFamily="34" charset="-122"/>
                <a:cs typeface="Times New Roman" panose="02020603050405020304" pitchFamily="18" charset="0"/>
              </a:rPr>
              <a:t>15</a:t>
            </a:r>
            <a:endParaRPr lang="zh-CN" altLang="en-US" sz="1600" b="1" baseline="-25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Text Box 4">
            <a:extLst>
              <a:ext uri="{FF2B5EF4-FFF2-40B4-BE49-F238E27FC236}">
                <a16:creationId xmlns:a16="http://schemas.microsoft.com/office/drawing/2014/main" id="{91803FB8-34EF-0917-1154-6E3F585AD1DB}"/>
              </a:ext>
            </a:extLst>
          </p:cNvPr>
          <p:cNvSpPr txBox="1">
            <a:spLocks noChangeArrowheads="1"/>
          </p:cNvSpPr>
          <p:nvPr/>
        </p:nvSpPr>
        <p:spPr bwMode="auto">
          <a:xfrm>
            <a:off x="6531795" y="2732826"/>
            <a:ext cx="15055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1">
                <a:latin typeface="微软雅黑" panose="020B0503020204020204" pitchFamily="34" charset="-122"/>
                <a:ea typeface="微软雅黑" panose="020B0503020204020204" pitchFamily="34" charset="-122"/>
              </a:rPr>
              <a:t>确认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M</a:t>
            </a:r>
            <a:r>
              <a:rPr lang="en-US" altLang="zh-CN" sz="1600" b="1" baseline="-25000">
                <a:latin typeface="微软雅黑" panose="020B0503020204020204" pitchFamily="34" charset="-122"/>
                <a:ea typeface="微软雅黑" panose="020B0503020204020204" pitchFamily="34" charset="-122"/>
                <a:cs typeface="Times New Roman" panose="02020603050405020304" pitchFamily="18" charset="0"/>
              </a:rPr>
              <a:t>4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 M</a:t>
            </a:r>
            <a:r>
              <a:rPr lang="en-US" altLang="zh-CN" sz="1600" b="1" baseline="-25000">
                <a:latin typeface="微软雅黑" panose="020B0503020204020204" pitchFamily="34" charset="-122"/>
                <a:ea typeface="微软雅黑" panose="020B0503020204020204" pitchFamily="34" charset="-122"/>
                <a:cs typeface="Times New Roman" panose="02020603050405020304" pitchFamily="18" charset="0"/>
              </a:rPr>
              <a:t>7</a:t>
            </a:r>
            <a:endParaRPr lang="zh-CN" altLang="en-US" sz="1600" b="1" baseline="-25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Text Box 4">
            <a:extLst>
              <a:ext uri="{FF2B5EF4-FFF2-40B4-BE49-F238E27FC236}">
                <a16:creationId xmlns:a16="http://schemas.microsoft.com/office/drawing/2014/main" id="{98E1B371-89D0-4918-669E-DF761E61E893}"/>
              </a:ext>
            </a:extLst>
          </p:cNvPr>
          <p:cNvSpPr txBox="1">
            <a:spLocks noChangeArrowheads="1"/>
          </p:cNvSpPr>
          <p:nvPr/>
        </p:nvSpPr>
        <p:spPr bwMode="auto">
          <a:xfrm>
            <a:off x="2691633" y="1072301"/>
            <a:ext cx="80021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1">
                <a:latin typeface="微软雅黑" panose="020B0503020204020204" pitchFamily="34" charset="-122"/>
                <a:ea typeface="微软雅黑" panose="020B0503020204020204" pitchFamily="34" charset="-122"/>
              </a:rPr>
              <a:t>发送方</a:t>
            </a:r>
          </a:p>
        </p:txBody>
      </p:sp>
      <p:sp>
        <p:nvSpPr>
          <p:cNvPr id="17" name="Line 9">
            <a:extLst>
              <a:ext uri="{FF2B5EF4-FFF2-40B4-BE49-F238E27FC236}">
                <a16:creationId xmlns:a16="http://schemas.microsoft.com/office/drawing/2014/main" id="{8BEA323D-BE88-B4C0-0CD2-D27CA7ACE036}"/>
              </a:ext>
            </a:extLst>
          </p:cNvPr>
          <p:cNvSpPr>
            <a:spLocks noChangeShapeType="1"/>
          </p:cNvSpPr>
          <p:nvPr/>
        </p:nvSpPr>
        <p:spPr bwMode="auto">
          <a:xfrm>
            <a:off x="3090095" y="1518388"/>
            <a:ext cx="3462338" cy="242888"/>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grpSp>
        <p:nvGrpSpPr>
          <p:cNvPr id="18" name="组合 44">
            <a:extLst>
              <a:ext uri="{FF2B5EF4-FFF2-40B4-BE49-F238E27FC236}">
                <a16:creationId xmlns:a16="http://schemas.microsoft.com/office/drawing/2014/main" id="{907E60A7-3DE8-59AF-5511-E12064E717E7}"/>
              </a:ext>
            </a:extLst>
          </p:cNvPr>
          <p:cNvGrpSpPr>
            <a:grpSpLocks/>
          </p:cNvGrpSpPr>
          <p:nvPr/>
        </p:nvGrpSpPr>
        <p:grpSpPr bwMode="auto">
          <a:xfrm>
            <a:off x="3091683" y="1362813"/>
            <a:ext cx="3463925" cy="2420938"/>
            <a:chOff x="3116533" y="431464"/>
            <a:chExt cx="3463154" cy="3072875"/>
          </a:xfrm>
        </p:grpSpPr>
        <p:sp>
          <p:nvSpPr>
            <p:cNvPr id="57" name="Line 6">
              <a:extLst>
                <a:ext uri="{FF2B5EF4-FFF2-40B4-BE49-F238E27FC236}">
                  <a16:creationId xmlns:a16="http://schemas.microsoft.com/office/drawing/2014/main" id="{313E5019-F514-0C83-2F97-06C79B79E2BD}"/>
                </a:ext>
              </a:extLst>
            </p:cNvPr>
            <p:cNvSpPr>
              <a:spLocks noChangeShapeType="1"/>
            </p:cNvSpPr>
            <p:nvPr/>
          </p:nvSpPr>
          <p:spPr bwMode="auto">
            <a:xfrm>
              <a:off x="3116533" y="431464"/>
              <a:ext cx="0" cy="3072875"/>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58" name="Line 41">
              <a:extLst>
                <a:ext uri="{FF2B5EF4-FFF2-40B4-BE49-F238E27FC236}">
                  <a16:creationId xmlns:a16="http://schemas.microsoft.com/office/drawing/2014/main" id="{A7D8F216-AE64-A2E7-D36F-3503C2971B08}"/>
                </a:ext>
              </a:extLst>
            </p:cNvPr>
            <p:cNvSpPr>
              <a:spLocks noChangeShapeType="1"/>
            </p:cNvSpPr>
            <p:nvPr/>
          </p:nvSpPr>
          <p:spPr bwMode="auto">
            <a:xfrm>
              <a:off x="6579687" y="431464"/>
              <a:ext cx="0" cy="3072875"/>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grpSp>
      <p:sp>
        <p:nvSpPr>
          <p:cNvPr id="19" name="Line 9">
            <a:extLst>
              <a:ext uri="{FF2B5EF4-FFF2-40B4-BE49-F238E27FC236}">
                <a16:creationId xmlns:a16="http://schemas.microsoft.com/office/drawing/2014/main" id="{38DB30D6-3A76-7C8D-A78A-BE952D76976E}"/>
              </a:ext>
            </a:extLst>
          </p:cNvPr>
          <p:cNvSpPr>
            <a:spLocks noChangeShapeType="1"/>
          </p:cNvSpPr>
          <p:nvPr/>
        </p:nvSpPr>
        <p:spPr bwMode="auto">
          <a:xfrm flipH="1">
            <a:off x="3091683" y="1785088"/>
            <a:ext cx="3462337" cy="242888"/>
          </a:xfrm>
          <a:prstGeom prst="line">
            <a:avLst/>
          </a:prstGeom>
          <a:noFill/>
          <a:ln w="12700">
            <a:solidFill>
              <a:srgbClr val="9900CC"/>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grpSp>
        <p:nvGrpSpPr>
          <p:cNvPr id="97" name="组合 96">
            <a:extLst>
              <a:ext uri="{FF2B5EF4-FFF2-40B4-BE49-F238E27FC236}">
                <a16:creationId xmlns:a16="http://schemas.microsoft.com/office/drawing/2014/main" id="{24C09B3E-51EC-7412-2DEB-FB7389D6FFB8}"/>
              </a:ext>
            </a:extLst>
          </p:cNvPr>
          <p:cNvGrpSpPr/>
          <p:nvPr/>
        </p:nvGrpSpPr>
        <p:grpSpPr>
          <a:xfrm>
            <a:off x="3082158" y="2058138"/>
            <a:ext cx="3463925" cy="277813"/>
            <a:chOff x="3082158" y="2505818"/>
            <a:chExt cx="3463925" cy="277813"/>
          </a:xfrm>
        </p:grpSpPr>
        <p:sp>
          <p:nvSpPr>
            <p:cNvPr id="20" name="Line 9">
              <a:extLst>
                <a:ext uri="{FF2B5EF4-FFF2-40B4-BE49-F238E27FC236}">
                  <a16:creationId xmlns:a16="http://schemas.microsoft.com/office/drawing/2014/main" id="{464FFA38-4EF1-3EF2-42ED-D09FD6BE41EE}"/>
                </a:ext>
              </a:extLst>
            </p:cNvPr>
            <p:cNvSpPr>
              <a:spLocks noChangeShapeType="1"/>
            </p:cNvSpPr>
            <p:nvPr/>
          </p:nvSpPr>
          <p:spPr bwMode="auto">
            <a:xfrm>
              <a:off x="3082158" y="2540743"/>
              <a:ext cx="3463925" cy="242888"/>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21" name="Line 9">
              <a:extLst>
                <a:ext uri="{FF2B5EF4-FFF2-40B4-BE49-F238E27FC236}">
                  <a16:creationId xmlns:a16="http://schemas.microsoft.com/office/drawing/2014/main" id="{E63709D6-1E75-9E49-B201-BC61B735C488}"/>
                </a:ext>
              </a:extLst>
            </p:cNvPr>
            <p:cNvSpPr>
              <a:spLocks noChangeShapeType="1"/>
            </p:cNvSpPr>
            <p:nvPr/>
          </p:nvSpPr>
          <p:spPr bwMode="auto">
            <a:xfrm>
              <a:off x="3082158" y="2505818"/>
              <a:ext cx="3463925" cy="244475"/>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grpSp>
      <p:grpSp>
        <p:nvGrpSpPr>
          <p:cNvPr id="99" name="组合 98">
            <a:extLst>
              <a:ext uri="{FF2B5EF4-FFF2-40B4-BE49-F238E27FC236}">
                <a16:creationId xmlns:a16="http://schemas.microsoft.com/office/drawing/2014/main" id="{D4B9EF86-770F-3DD0-5B0F-2169D6219920}"/>
              </a:ext>
            </a:extLst>
          </p:cNvPr>
          <p:cNvGrpSpPr/>
          <p:nvPr/>
        </p:nvGrpSpPr>
        <p:grpSpPr>
          <a:xfrm>
            <a:off x="3083745" y="2331188"/>
            <a:ext cx="3467100" cy="277813"/>
            <a:chOff x="3083745" y="2778868"/>
            <a:chExt cx="3467100" cy="277813"/>
          </a:xfrm>
        </p:grpSpPr>
        <p:sp>
          <p:nvSpPr>
            <p:cNvPr id="22" name="Line 9">
              <a:extLst>
                <a:ext uri="{FF2B5EF4-FFF2-40B4-BE49-F238E27FC236}">
                  <a16:creationId xmlns:a16="http://schemas.microsoft.com/office/drawing/2014/main" id="{9602C9D5-257B-9321-4222-77FE57CB02EA}"/>
                </a:ext>
              </a:extLst>
            </p:cNvPr>
            <p:cNvSpPr>
              <a:spLocks noChangeShapeType="1"/>
            </p:cNvSpPr>
            <p:nvPr/>
          </p:nvSpPr>
          <p:spPr bwMode="auto">
            <a:xfrm flipH="1">
              <a:off x="3083745" y="2778868"/>
              <a:ext cx="3462338" cy="242888"/>
            </a:xfrm>
            <a:prstGeom prst="line">
              <a:avLst/>
            </a:prstGeom>
            <a:noFill/>
            <a:ln w="12700">
              <a:solidFill>
                <a:srgbClr val="9900CC"/>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23" name="Line 9">
              <a:extLst>
                <a:ext uri="{FF2B5EF4-FFF2-40B4-BE49-F238E27FC236}">
                  <a16:creationId xmlns:a16="http://schemas.microsoft.com/office/drawing/2014/main" id="{2CC50EA9-C0B3-5341-BE77-569964BB3630}"/>
                </a:ext>
              </a:extLst>
            </p:cNvPr>
            <p:cNvSpPr>
              <a:spLocks noChangeShapeType="1"/>
            </p:cNvSpPr>
            <p:nvPr/>
          </p:nvSpPr>
          <p:spPr bwMode="auto">
            <a:xfrm flipH="1">
              <a:off x="3086920" y="2813793"/>
              <a:ext cx="3463925" cy="242888"/>
            </a:xfrm>
            <a:prstGeom prst="line">
              <a:avLst/>
            </a:prstGeom>
            <a:noFill/>
            <a:ln w="12700">
              <a:solidFill>
                <a:srgbClr val="9900CC"/>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grpSp>
      <p:grpSp>
        <p:nvGrpSpPr>
          <p:cNvPr id="98" name="组合 97">
            <a:extLst>
              <a:ext uri="{FF2B5EF4-FFF2-40B4-BE49-F238E27FC236}">
                <a16:creationId xmlns:a16="http://schemas.microsoft.com/office/drawing/2014/main" id="{811BA2D8-415C-26D9-4933-6C94C0E2E3E9}"/>
              </a:ext>
            </a:extLst>
          </p:cNvPr>
          <p:cNvGrpSpPr/>
          <p:nvPr/>
        </p:nvGrpSpPr>
        <p:grpSpPr>
          <a:xfrm>
            <a:off x="3091683" y="2602651"/>
            <a:ext cx="3467100" cy="346075"/>
            <a:chOff x="3091683" y="3050331"/>
            <a:chExt cx="3467100" cy="346075"/>
          </a:xfrm>
        </p:grpSpPr>
        <p:sp>
          <p:nvSpPr>
            <p:cNvPr id="24" name="Line 9">
              <a:extLst>
                <a:ext uri="{FF2B5EF4-FFF2-40B4-BE49-F238E27FC236}">
                  <a16:creationId xmlns:a16="http://schemas.microsoft.com/office/drawing/2014/main" id="{CF3772C8-9077-08C1-FCF9-8B8657643E55}"/>
                </a:ext>
              </a:extLst>
            </p:cNvPr>
            <p:cNvSpPr>
              <a:spLocks noChangeShapeType="1"/>
            </p:cNvSpPr>
            <p:nvPr/>
          </p:nvSpPr>
          <p:spPr bwMode="auto">
            <a:xfrm>
              <a:off x="3091683" y="3080493"/>
              <a:ext cx="3463925" cy="242888"/>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25" name="Line 9">
              <a:extLst>
                <a:ext uri="{FF2B5EF4-FFF2-40B4-BE49-F238E27FC236}">
                  <a16:creationId xmlns:a16="http://schemas.microsoft.com/office/drawing/2014/main" id="{611B8223-C0D4-96DC-0498-29BFFBBC54FD}"/>
                </a:ext>
              </a:extLst>
            </p:cNvPr>
            <p:cNvSpPr>
              <a:spLocks noChangeShapeType="1"/>
            </p:cNvSpPr>
            <p:nvPr/>
          </p:nvSpPr>
          <p:spPr bwMode="auto">
            <a:xfrm>
              <a:off x="3091683" y="3050331"/>
              <a:ext cx="3463925" cy="242887"/>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26" name="Line 9">
              <a:extLst>
                <a:ext uri="{FF2B5EF4-FFF2-40B4-BE49-F238E27FC236}">
                  <a16:creationId xmlns:a16="http://schemas.microsoft.com/office/drawing/2014/main" id="{CE810424-DCE7-95FF-D8BB-46384654B421}"/>
                </a:ext>
              </a:extLst>
            </p:cNvPr>
            <p:cNvSpPr>
              <a:spLocks noChangeShapeType="1"/>
            </p:cNvSpPr>
            <p:nvPr/>
          </p:nvSpPr>
          <p:spPr bwMode="auto">
            <a:xfrm>
              <a:off x="3096445" y="3151931"/>
              <a:ext cx="3462338" cy="244475"/>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27" name="Line 9">
              <a:extLst>
                <a:ext uri="{FF2B5EF4-FFF2-40B4-BE49-F238E27FC236}">
                  <a16:creationId xmlns:a16="http://schemas.microsoft.com/office/drawing/2014/main" id="{995B082E-7B01-95D9-73A0-B254FD76A3CC}"/>
                </a:ext>
              </a:extLst>
            </p:cNvPr>
            <p:cNvSpPr>
              <a:spLocks noChangeShapeType="1"/>
            </p:cNvSpPr>
            <p:nvPr/>
          </p:nvSpPr>
          <p:spPr bwMode="auto">
            <a:xfrm>
              <a:off x="3091683" y="3118593"/>
              <a:ext cx="3462337" cy="242888"/>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grpSp>
      <p:grpSp>
        <p:nvGrpSpPr>
          <p:cNvPr id="100" name="组合 99">
            <a:extLst>
              <a:ext uri="{FF2B5EF4-FFF2-40B4-BE49-F238E27FC236}">
                <a16:creationId xmlns:a16="http://schemas.microsoft.com/office/drawing/2014/main" id="{619176F7-6670-0AD1-015A-8E6BA245F273}"/>
              </a:ext>
            </a:extLst>
          </p:cNvPr>
          <p:cNvGrpSpPr/>
          <p:nvPr/>
        </p:nvGrpSpPr>
        <p:grpSpPr>
          <a:xfrm>
            <a:off x="3077395" y="2872526"/>
            <a:ext cx="3478213" cy="350837"/>
            <a:chOff x="3077395" y="3320206"/>
            <a:chExt cx="3478213" cy="350837"/>
          </a:xfrm>
        </p:grpSpPr>
        <p:sp>
          <p:nvSpPr>
            <p:cNvPr id="28" name="Line 9">
              <a:extLst>
                <a:ext uri="{FF2B5EF4-FFF2-40B4-BE49-F238E27FC236}">
                  <a16:creationId xmlns:a16="http://schemas.microsoft.com/office/drawing/2014/main" id="{930C6972-6629-066E-10B7-0EB6165BF694}"/>
                </a:ext>
              </a:extLst>
            </p:cNvPr>
            <p:cNvSpPr>
              <a:spLocks noChangeShapeType="1"/>
            </p:cNvSpPr>
            <p:nvPr/>
          </p:nvSpPr>
          <p:spPr bwMode="auto">
            <a:xfrm flipH="1">
              <a:off x="3085333" y="3320206"/>
              <a:ext cx="3463925" cy="242887"/>
            </a:xfrm>
            <a:prstGeom prst="line">
              <a:avLst/>
            </a:prstGeom>
            <a:noFill/>
            <a:ln w="12700">
              <a:solidFill>
                <a:srgbClr val="9900CC"/>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29" name="Line 9">
              <a:extLst>
                <a:ext uri="{FF2B5EF4-FFF2-40B4-BE49-F238E27FC236}">
                  <a16:creationId xmlns:a16="http://schemas.microsoft.com/office/drawing/2014/main" id="{958357AF-926E-EAA6-AE12-B4D645AA1419}"/>
                </a:ext>
              </a:extLst>
            </p:cNvPr>
            <p:cNvSpPr>
              <a:spLocks noChangeShapeType="1"/>
            </p:cNvSpPr>
            <p:nvPr/>
          </p:nvSpPr>
          <p:spPr bwMode="auto">
            <a:xfrm flipH="1">
              <a:off x="3077395" y="3358306"/>
              <a:ext cx="3463925" cy="244475"/>
            </a:xfrm>
            <a:prstGeom prst="line">
              <a:avLst/>
            </a:prstGeom>
            <a:noFill/>
            <a:ln w="12700">
              <a:solidFill>
                <a:srgbClr val="9900CC"/>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30" name="Line 9">
              <a:extLst>
                <a:ext uri="{FF2B5EF4-FFF2-40B4-BE49-F238E27FC236}">
                  <a16:creationId xmlns:a16="http://schemas.microsoft.com/office/drawing/2014/main" id="{85B006E6-A2C7-61DB-D835-BB3EA38EE067}"/>
                </a:ext>
              </a:extLst>
            </p:cNvPr>
            <p:cNvSpPr>
              <a:spLocks noChangeShapeType="1"/>
            </p:cNvSpPr>
            <p:nvPr/>
          </p:nvSpPr>
          <p:spPr bwMode="auto">
            <a:xfrm flipH="1">
              <a:off x="3091683" y="3393231"/>
              <a:ext cx="3463925" cy="244475"/>
            </a:xfrm>
            <a:prstGeom prst="line">
              <a:avLst/>
            </a:prstGeom>
            <a:noFill/>
            <a:ln w="12700">
              <a:solidFill>
                <a:srgbClr val="9900CC"/>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31" name="Line 9">
              <a:extLst>
                <a:ext uri="{FF2B5EF4-FFF2-40B4-BE49-F238E27FC236}">
                  <a16:creationId xmlns:a16="http://schemas.microsoft.com/office/drawing/2014/main" id="{F2D3FD1E-EDBF-FAB3-A23D-19E1DD2EF481}"/>
                </a:ext>
              </a:extLst>
            </p:cNvPr>
            <p:cNvSpPr>
              <a:spLocks noChangeShapeType="1"/>
            </p:cNvSpPr>
            <p:nvPr/>
          </p:nvSpPr>
          <p:spPr bwMode="auto">
            <a:xfrm flipH="1">
              <a:off x="3082158" y="3428156"/>
              <a:ext cx="3463925" cy="242887"/>
            </a:xfrm>
            <a:prstGeom prst="line">
              <a:avLst/>
            </a:prstGeom>
            <a:noFill/>
            <a:ln w="12700">
              <a:solidFill>
                <a:srgbClr val="9900CC"/>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grpSp>
      <p:grpSp>
        <p:nvGrpSpPr>
          <p:cNvPr id="32" name="组合 47">
            <a:extLst>
              <a:ext uri="{FF2B5EF4-FFF2-40B4-BE49-F238E27FC236}">
                <a16:creationId xmlns:a16="http://schemas.microsoft.com/office/drawing/2014/main" id="{A0ADD24E-23A6-BFA0-4235-5F1561D9E9A7}"/>
              </a:ext>
            </a:extLst>
          </p:cNvPr>
          <p:cNvGrpSpPr>
            <a:grpSpLocks/>
          </p:cNvGrpSpPr>
          <p:nvPr/>
        </p:nvGrpSpPr>
        <p:grpSpPr bwMode="auto">
          <a:xfrm>
            <a:off x="3101208" y="3140813"/>
            <a:ext cx="1774825" cy="490538"/>
            <a:chOff x="3125070" y="2209691"/>
            <a:chExt cx="3463153" cy="490826"/>
          </a:xfrm>
        </p:grpSpPr>
        <p:sp>
          <p:nvSpPr>
            <p:cNvPr id="49" name="Line 9">
              <a:extLst>
                <a:ext uri="{FF2B5EF4-FFF2-40B4-BE49-F238E27FC236}">
                  <a16:creationId xmlns:a16="http://schemas.microsoft.com/office/drawing/2014/main" id="{A554AD1B-5216-FCC3-A531-C9B75F60C54D}"/>
                </a:ext>
              </a:extLst>
            </p:cNvPr>
            <p:cNvSpPr>
              <a:spLocks noChangeShapeType="1"/>
            </p:cNvSpPr>
            <p:nvPr/>
          </p:nvSpPr>
          <p:spPr bwMode="auto">
            <a:xfrm>
              <a:off x="3125070" y="2209691"/>
              <a:ext cx="3463153" cy="243447"/>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50" name="Line 9">
              <a:extLst>
                <a:ext uri="{FF2B5EF4-FFF2-40B4-BE49-F238E27FC236}">
                  <a16:creationId xmlns:a16="http://schemas.microsoft.com/office/drawing/2014/main" id="{DB06CF47-6A08-01D8-1BB1-0BDAE9649B50}"/>
                </a:ext>
              </a:extLst>
            </p:cNvPr>
            <p:cNvSpPr>
              <a:spLocks noChangeShapeType="1"/>
            </p:cNvSpPr>
            <p:nvPr/>
          </p:nvSpPr>
          <p:spPr bwMode="auto">
            <a:xfrm>
              <a:off x="3125070" y="2315709"/>
              <a:ext cx="3463153" cy="243447"/>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51" name="Line 9">
              <a:extLst>
                <a:ext uri="{FF2B5EF4-FFF2-40B4-BE49-F238E27FC236}">
                  <a16:creationId xmlns:a16="http://schemas.microsoft.com/office/drawing/2014/main" id="{A1C2275A-5AB9-C8C2-239E-B5E2469F5160}"/>
                </a:ext>
              </a:extLst>
            </p:cNvPr>
            <p:cNvSpPr>
              <a:spLocks noChangeShapeType="1"/>
            </p:cNvSpPr>
            <p:nvPr/>
          </p:nvSpPr>
          <p:spPr bwMode="auto">
            <a:xfrm>
              <a:off x="3125070" y="2280370"/>
              <a:ext cx="3463153" cy="243447"/>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52" name="Line 9">
              <a:extLst>
                <a:ext uri="{FF2B5EF4-FFF2-40B4-BE49-F238E27FC236}">
                  <a16:creationId xmlns:a16="http://schemas.microsoft.com/office/drawing/2014/main" id="{E54FAB9E-52B7-3E6E-B402-9C1F420E210D}"/>
                </a:ext>
              </a:extLst>
            </p:cNvPr>
            <p:cNvSpPr>
              <a:spLocks noChangeShapeType="1"/>
            </p:cNvSpPr>
            <p:nvPr/>
          </p:nvSpPr>
          <p:spPr bwMode="auto">
            <a:xfrm>
              <a:off x="3125070" y="2351049"/>
              <a:ext cx="3463153" cy="243447"/>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53" name="Line 9">
              <a:extLst>
                <a:ext uri="{FF2B5EF4-FFF2-40B4-BE49-F238E27FC236}">
                  <a16:creationId xmlns:a16="http://schemas.microsoft.com/office/drawing/2014/main" id="{1677CFF4-D158-80C1-3C07-48607A58CC26}"/>
                </a:ext>
              </a:extLst>
            </p:cNvPr>
            <p:cNvSpPr>
              <a:spLocks noChangeShapeType="1"/>
            </p:cNvSpPr>
            <p:nvPr/>
          </p:nvSpPr>
          <p:spPr bwMode="auto">
            <a:xfrm>
              <a:off x="3125070" y="2457070"/>
              <a:ext cx="3463153" cy="243447"/>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54" name="Line 9">
              <a:extLst>
                <a:ext uri="{FF2B5EF4-FFF2-40B4-BE49-F238E27FC236}">
                  <a16:creationId xmlns:a16="http://schemas.microsoft.com/office/drawing/2014/main" id="{0420C491-A905-6974-5E0A-F83EB5B447A7}"/>
                </a:ext>
              </a:extLst>
            </p:cNvPr>
            <p:cNvSpPr>
              <a:spLocks noChangeShapeType="1"/>
            </p:cNvSpPr>
            <p:nvPr/>
          </p:nvSpPr>
          <p:spPr bwMode="auto">
            <a:xfrm>
              <a:off x="3125070" y="2421727"/>
              <a:ext cx="3463153" cy="243447"/>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55" name="Line 9">
              <a:extLst>
                <a:ext uri="{FF2B5EF4-FFF2-40B4-BE49-F238E27FC236}">
                  <a16:creationId xmlns:a16="http://schemas.microsoft.com/office/drawing/2014/main" id="{B793EAC9-E773-86BF-1B72-D608F5F009F7}"/>
                </a:ext>
              </a:extLst>
            </p:cNvPr>
            <p:cNvSpPr>
              <a:spLocks noChangeShapeType="1"/>
            </p:cNvSpPr>
            <p:nvPr/>
          </p:nvSpPr>
          <p:spPr bwMode="auto">
            <a:xfrm>
              <a:off x="3125070" y="2245030"/>
              <a:ext cx="3463153" cy="243447"/>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56" name="Line 9">
              <a:extLst>
                <a:ext uri="{FF2B5EF4-FFF2-40B4-BE49-F238E27FC236}">
                  <a16:creationId xmlns:a16="http://schemas.microsoft.com/office/drawing/2014/main" id="{4F37C088-A0BB-1BEA-D89D-38321C91A187}"/>
                </a:ext>
              </a:extLst>
            </p:cNvPr>
            <p:cNvSpPr>
              <a:spLocks noChangeShapeType="1"/>
            </p:cNvSpPr>
            <p:nvPr/>
          </p:nvSpPr>
          <p:spPr bwMode="auto">
            <a:xfrm>
              <a:off x="3125070" y="2386388"/>
              <a:ext cx="3463153" cy="243447"/>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grpSp>
      <p:grpSp>
        <p:nvGrpSpPr>
          <p:cNvPr id="33" name="组合 48">
            <a:extLst>
              <a:ext uri="{FF2B5EF4-FFF2-40B4-BE49-F238E27FC236}">
                <a16:creationId xmlns:a16="http://schemas.microsoft.com/office/drawing/2014/main" id="{BED6B09D-BF76-06FA-A3DA-5E2968C932E2}"/>
              </a:ext>
            </a:extLst>
          </p:cNvPr>
          <p:cNvGrpSpPr>
            <a:grpSpLocks/>
          </p:cNvGrpSpPr>
          <p:nvPr/>
        </p:nvGrpSpPr>
        <p:grpSpPr bwMode="auto">
          <a:xfrm>
            <a:off x="2982145" y="1526326"/>
            <a:ext cx="76200" cy="1597025"/>
            <a:chOff x="2934734" y="595458"/>
            <a:chExt cx="148753" cy="1596629"/>
          </a:xfrm>
        </p:grpSpPr>
        <p:sp>
          <p:nvSpPr>
            <p:cNvPr id="46" name="左大括号 45">
              <a:extLst>
                <a:ext uri="{FF2B5EF4-FFF2-40B4-BE49-F238E27FC236}">
                  <a16:creationId xmlns:a16="http://schemas.microsoft.com/office/drawing/2014/main" id="{41360EA7-6E94-FDEB-9878-C33EFD3961D5}"/>
                </a:ext>
              </a:extLst>
            </p:cNvPr>
            <p:cNvSpPr/>
            <p:nvPr/>
          </p:nvSpPr>
          <p:spPr>
            <a:xfrm>
              <a:off x="2934734" y="595458"/>
              <a:ext cx="148753" cy="501526"/>
            </a:xfrm>
            <a:prstGeom prst="leftBrace">
              <a:avLst>
                <a:gd name="adj1" fmla="val 33696"/>
                <a:gd name="adj2" fmla="val 5171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b="1" dirty="0">
                <a:latin typeface="微软雅黑" panose="020B0503020204020204" pitchFamily="34" charset="-122"/>
                <a:ea typeface="微软雅黑" panose="020B0503020204020204" pitchFamily="34" charset="-122"/>
              </a:endParaRPr>
            </a:p>
          </p:txBody>
        </p:sp>
        <p:sp>
          <p:nvSpPr>
            <p:cNvPr id="47" name="左大括号 46">
              <a:extLst>
                <a:ext uri="{FF2B5EF4-FFF2-40B4-BE49-F238E27FC236}">
                  <a16:creationId xmlns:a16="http://schemas.microsoft.com/office/drawing/2014/main" id="{7C1FD1DD-A0DB-9F81-8C53-2543D7EE9D1E}"/>
                </a:ext>
              </a:extLst>
            </p:cNvPr>
            <p:cNvSpPr/>
            <p:nvPr/>
          </p:nvSpPr>
          <p:spPr>
            <a:xfrm>
              <a:off x="2934734" y="1690561"/>
              <a:ext cx="148753" cy="501526"/>
            </a:xfrm>
            <a:prstGeom prst="leftBrace">
              <a:avLst>
                <a:gd name="adj1" fmla="val 33696"/>
                <a:gd name="adj2" fmla="val 5171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b="1" dirty="0">
                <a:latin typeface="微软雅黑" panose="020B0503020204020204" pitchFamily="34" charset="-122"/>
                <a:ea typeface="微软雅黑" panose="020B0503020204020204" pitchFamily="34" charset="-122"/>
              </a:endParaRPr>
            </a:p>
          </p:txBody>
        </p:sp>
        <p:sp>
          <p:nvSpPr>
            <p:cNvPr id="48" name="左大括号 47">
              <a:extLst>
                <a:ext uri="{FF2B5EF4-FFF2-40B4-BE49-F238E27FC236}">
                  <a16:creationId xmlns:a16="http://schemas.microsoft.com/office/drawing/2014/main" id="{9DDAA8C3-2BE4-F856-D785-2D71AC9C28CA}"/>
                </a:ext>
              </a:extLst>
            </p:cNvPr>
            <p:cNvSpPr/>
            <p:nvPr/>
          </p:nvSpPr>
          <p:spPr>
            <a:xfrm>
              <a:off x="2934734" y="1143009"/>
              <a:ext cx="148753" cy="501526"/>
            </a:xfrm>
            <a:prstGeom prst="leftBrace">
              <a:avLst>
                <a:gd name="adj1" fmla="val 33696"/>
                <a:gd name="adj2" fmla="val 5171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b="1" dirty="0">
                <a:latin typeface="微软雅黑" panose="020B0503020204020204" pitchFamily="34" charset="-122"/>
                <a:ea typeface="微软雅黑" panose="020B0503020204020204" pitchFamily="34" charset="-122"/>
              </a:endParaRPr>
            </a:p>
          </p:txBody>
        </p:sp>
      </p:grpSp>
      <p:grpSp>
        <p:nvGrpSpPr>
          <p:cNvPr id="101" name="组合 100">
            <a:extLst>
              <a:ext uri="{FF2B5EF4-FFF2-40B4-BE49-F238E27FC236}">
                <a16:creationId xmlns:a16="http://schemas.microsoft.com/office/drawing/2014/main" id="{DADFD5F0-236B-2DCC-8510-D80FBC6596B5}"/>
              </a:ext>
            </a:extLst>
          </p:cNvPr>
          <p:cNvGrpSpPr/>
          <p:nvPr/>
        </p:nvGrpSpPr>
        <p:grpSpPr>
          <a:xfrm>
            <a:off x="2436045" y="1600938"/>
            <a:ext cx="604259" cy="1448217"/>
            <a:chOff x="2436045" y="2048618"/>
            <a:chExt cx="604259" cy="1448217"/>
          </a:xfrm>
        </p:grpSpPr>
        <p:sp>
          <p:nvSpPr>
            <p:cNvPr id="34" name="Text Box 4">
              <a:extLst>
                <a:ext uri="{FF2B5EF4-FFF2-40B4-BE49-F238E27FC236}">
                  <a16:creationId xmlns:a16="http://schemas.microsoft.com/office/drawing/2014/main" id="{848C7E58-3DF1-5B1E-08F3-788591089321}"/>
                </a:ext>
              </a:extLst>
            </p:cNvPr>
            <p:cNvSpPr txBox="1">
              <a:spLocks noChangeArrowheads="1"/>
            </p:cNvSpPr>
            <p:nvPr/>
          </p:nvSpPr>
          <p:spPr bwMode="auto">
            <a:xfrm>
              <a:off x="2436045" y="3158281"/>
              <a:ext cx="58362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RTT</a:t>
              </a:r>
              <a:endParaRPr lang="zh-CN" altLang="en-US" sz="1600" b="1">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5" name="Text Box 4">
              <a:extLst>
                <a:ext uri="{FF2B5EF4-FFF2-40B4-BE49-F238E27FC236}">
                  <a16:creationId xmlns:a16="http://schemas.microsoft.com/office/drawing/2014/main" id="{AEA56954-58B1-5955-2B62-E951A92B665C}"/>
                </a:ext>
              </a:extLst>
            </p:cNvPr>
            <p:cNvSpPr txBox="1">
              <a:spLocks noChangeArrowheads="1"/>
            </p:cNvSpPr>
            <p:nvPr/>
          </p:nvSpPr>
          <p:spPr bwMode="auto">
            <a:xfrm>
              <a:off x="2448745" y="2602656"/>
              <a:ext cx="58362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RTT</a:t>
              </a:r>
              <a:endParaRPr lang="zh-CN" altLang="en-US" sz="1600" b="1">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6" name="Text Box 4">
              <a:extLst>
                <a:ext uri="{FF2B5EF4-FFF2-40B4-BE49-F238E27FC236}">
                  <a16:creationId xmlns:a16="http://schemas.microsoft.com/office/drawing/2014/main" id="{63D5873C-40F9-5BFA-50B1-39963512DB57}"/>
                </a:ext>
              </a:extLst>
            </p:cNvPr>
            <p:cNvSpPr txBox="1">
              <a:spLocks noChangeArrowheads="1"/>
            </p:cNvSpPr>
            <p:nvPr/>
          </p:nvSpPr>
          <p:spPr bwMode="auto">
            <a:xfrm>
              <a:off x="2456683" y="2048618"/>
              <a:ext cx="58362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RTT</a:t>
              </a:r>
              <a:endParaRPr lang="zh-CN" altLang="en-US" sz="1600" b="1" dirty="0">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37" name="Text Box 4">
            <a:extLst>
              <a:ext uri="{FF2B5EF4-FFF2-40B4-BE49-F238E27FC236}">
                <a16:creationId xmlns:a16="http://schemas.microsoft.com/office/drawing/2014/main" id="{15CAEAB5-3289-69BA-6BF3-BE39D8E28864}"/>
              </a:ext>
            </a:extLst>
          </p:cNvPr>
          <p:cNvSpPr txBox="1">
            <a:spLocks noChangeArrowheads="1"/>
          </p:cNvSpPr>
          <p:nvPr/>
        </p:nvSpPr>
        <p:spPr bwMode="auto">
          <a:xfrm>
            <a:off x="2861495" y="3545626"/>
            <a:ext cx="26962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i="1">
                <a:latin typeface="微软雅黑" panose="020B0503020204020204" pitchFamily="34" charset="-122"/>
                <a:ea typeface="微软雅黑" panose="020B0503020204020204" pitchFamily="34" charset="-122"/>
                <a:cs typeface="Times New Roman" panose="02020603050405020304" pitchFamily="18" charset="0"/>
              </a:rPr>
              <a:t>t</a:t>
            </a:r>
            <a:endParaRPr lang="zh-CN" altLang="en-US" sz="1600" b="1" i="1">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8" name="Text Box 4">
            <a:extLst>
              <a:ext uri="{FF2B5EF4-FFF2-40B4-BE49-F238E27FC236}">
                <a16:creationId xmlns:a16="http://schemas.microsoft.com/office/drawing/2014/main" id="{18EB6DFB-79BF-68A6-6EBB-EE7375EC3551}"/>
              </a:ext>
            </a:extLst>
          </p:cNvPr>
          <p:cNvSpPr txBox="1">
            <a:spLocks noChangeArrowheads="1"/>
          </p:cNvSpPr>
          <p:nvPr/>
        </p:nvSpPr>
        <p:spPr bwMode="auto">
          <a:xfrm>
            <a:off x="6544495" y="3509113"/>
            <a:ext cx="26962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i="1">
                <a:latin typeface="微软雅黑" panose="020B0503020204020204" pitchFamily="34" charset="-122"/>
                <a:ea typeface="微软雅黑" panose="020B0503020204020204" pitchFamily="34" charset="-122"/>
                <a:cs typeface="Times New Roman" panose="02020603050405020304" pitchFamily="18" charset="0"/>
              </a:rPr>
              <a:t>t</a:t>
            </a:r>
            <a:endParaRPr lang="zh-CN" altLang="en-US" sz="1600" b="1" i="1">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62" name="组合 61">
            <a:extLst>
              <a:ext uri="{FF2B5EF4-FFF2-40B4-BE49-F238E27FC236}">
                <a16:creationId xmlns:a16="http://schemas.microsoft.com/office/drawing/2014/main" id="{648850AD-88D5-2408-2669-2A21DC553EF1}"/>
              </a:ext>
            </a:extLst>
          </p:cNvPr>
          <p:cNvGrpSpPr/>
          <p:nvPr/>
        </p:nvGrpSpPr>
        <p:grpSpPr>
          <a:xfrm>
            <a:off x="762002" y="1873988"/>
            <a:ext cx="2323332" cy="338554"/>
            <a:chOff x="762002" y="2321668"/>
            <a:chExt cx="2323332" cy="338554"/>
          </a:xfrm>
        </p:grpSpPr>
        <p:sp>
          <p:nvSpPr>
            <p:cNvPr id="5" name="Text Box 63">
              <a:extLst>
                <a:ext uri="{FF2B5EF4-FFF2-40B4-BE49-F238E27FC236}">
                  <a16:creationId xmlns:a16="http://schemas.microsoft.com/office/drawing/2014/main" id="{7E0B98DC-26F2-D5C2-E151-296C3466D7C4}"/>
                </a:ext>
              </a:extLst>
            </p:cNvPr>
            <p:cNvSpPr txBox="1">
              <a:spLocks noChangeArrowheads="1"/>
            </p:cNvSpPr>
            <p:nvPr/>
          </p:nvSpPr>
          <p:spPr bwMode="auto">
            <a:xfrm>
              <a:off x="762002" y="2321668"/>
              <a:ext cx="1699444" cy="338554"/>
            </a:xfrm>
            <a:prstGeom prst="rect">
              <a:avLst/>
            </a:prstGeom>
            <a:solidFill>
              <a:srgbClr val="FFFF00"/>
            </a:solidFill>
            <a:ln>
              <a:noFill/>
            </a:ln>
            <a:effectLst>
              <a:outerShdw dist="35921" dir="2700000" algn="ctr" rotWithShape="0">
                <a:schemeClr val="bg2"/>
              </a:outerShdw>
            </a:effec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dirty="0" err="1">
                  <a:latin typeface="微软雅黑" panose="020B0503020204020204" pitchFamily="34" charset="-122"/>
                  <a:ea typeface="微软雅黑" panose="020B0503020204020204" pitchFamily="34" charset="-122"/>
                </a:rPr>
                <a:t>cwnd</a:t>
              </a:r>
              <a:r>
                <a:rPr lang="en-US" altLang="zh-CN" sz="1600" b="1" dirty="0">
                  <a:latin typeface="微软雅黑" panose="020B0503020204020204" pitchFamily="34" charset="-122"/>
                  <a:ea typeface="微软雅黑" panose="020B0503020204020204" pitchFamily="34" charset="-122"/>
                </a:rPr>
                <a:t> = 2 MSS </a:t>
              </a:r>
            </a:p>
          </p:txBody>
        </p:sp>
        <p:sp>
          <p:nvSpPr>
            <p:cNvPr id="39" name="Line 9">
              <a:extLst>
                <a:ext uri="{FF2B5EF4-FFF2-40B4-BE49-F238E27FC236}">
                  <a16:creationId xmlns:a16="http://schemas.microsoft.com/office/drawing/2014/main" id="{1A63372A-4081-E98D-2BC2-AA61DA81E01A}"/>
                </a:ext>
              </a:extLst>
            </p:cNvPr>
            <p:cNvSpPr>
              <a:spLocks noChangeShapeType="1"/>
            </p:cNvSpPr>
            <p:nvPr/>
          </p:nvSpPr>
          <p:spPr bwMode="auto">
            <a:xfrm>
              <a:off x="2469384" y="2505818"/>
              <a:ext cx="615950" cy="6350"/>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grpSp>
      <p:grpSp>
        <p:nvGrpSpPr>
          <p:cNvPr id="63" name="组合 62">
            <a:extLst>
              <a:ext uri="{FF2B5EF4-FFF2-40B4-BE49-F238E27FC236}">
                <a16:creationId xmlns:a16="http://schemas.microsoft.com/office/drawing/2014/main" id="{1D799DC8-B178-E59A-1CA5-FAC54FC1CADE}"/>
              </a:ext>
            </a:extLst>
          </p:cNvPr>
          <p:cNvGrpSpPr/>
          <p:nvPr/>
        </p:nvGrpSpPr>
        <p:grpSpPr>
          <a:xfrm>
            <a:off x="760415" y="2407388"/>
            <a:ext cx="2334443" cy="338554"/>
            <a:chOff x="760415" y="2855068"/>
            <a:chExt cx="2334443" cy="338554"/>
          </a:xfrm>
        </p:grpSpPr>
        <p:sp>
          <p:nvSpPr>
            <p:cNvPr id="4" name="Text Box 64">
              <a:extLst>
                <a:ext uri="{FF2B5EF4-FFF2-40B4-BE49-F238E27FC236}">
                  <a16:creationId xmlns:a16="http://schemas.microsoft.com/office/drawing/2014/main" id="{FC752969-221B-6E26-2ADC-059597EF82F5}"/>
                </a:ext>
              </a:extLst>
            </p:cNvPr>
            <p:cNvSpPr txBox="1">
              <a:spLocks noChangeArrowheads="1"/>
            </p:cNvSpPr>
            <p:nvPr/>
          </p:nvSpPr>
          <p:spPr bwMode="auto">
            <a:xfrm>
              <a:off x="760415" y="2855068"/>
              <a:ext cx="1699444" cy="338554"/>
            </a:xfrm>
            <a:prstGeom prst="rect">
              <a:avLst/>
            </a:prstGeom>
            <a:solidFill>
              <a:srgbClr val="FFFF00"/>
            </a:solidFill>
            <a:ln>
              <a:noFill/>
            </a:ln>
            <a:effectLst>
              <a:outerShdw dist="35921" dir="2700000" algn="ctr" rotWithShape="0">
                <a:schemeClr val="bg2"/>
              </a:outerShdw>
            </a:effec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dirty="0" err="1">
                  <a:latin typeface="微软雅黑" panose="020B0503020204020204" pitchFamily="34" charset="-122"/>
                  <a:ea typeface="微软雅黑" panose="020B0503020204020204" pitchFamily="34" charset="-122"/>
                </a:rPr>
                <a:t>cwnd</a:t>
              </a:r>
              <a:r>
                <a:rPr lang="en-US" altLang="zh-CN" sz="1600" b="1" dirty="0">
                  <a:latin typeface="微软雅黑" panose="020B0503020204020204" pitchFamily="34" charset="-122"/>
                  <a:ea typeface="微软雅黑" panose="020B0503020204020204" pitchFamily="34" charset="-122"/>
                </a:rPr>
                <a:t> = 4 MSS </a:t>
              </a:r>
            </a:p>
          </p:txBody>
        </p:sp>
        <p:sp>
          <p:nvSpPr>
            <p:cNvPr id="40" name="Line 9">
              <a:extLst>
                <a:ext uri="{FF2B5EF4-FFF2-40B4-BE49-F238E27FC236}">
                  <a16:creationId xmlns:a16="http://schemas.microsoft.com/office/drawing/2014/main" id="{3DF39BF1-98AE-6FFD-0D5E-77073B476C2A}"/>
                </a:ext>
              </a:extLst>
            </p:cNvPr>
            <p:cNvSpPr>
              <a:spLocks noChangeShapeType="1"/>
            </p:cNvSpPr>
            <p:nvPr/>
          </p:nvSpPr>
          <p:spPr bwMode="auto">
            <a:xfrm>
              <a:off x="2436045" y="3042393"/>
              <a:ext cx="658813" cy="3174"/>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grpSp>
      <p:grpSp>
        <p:nvGrpSpPr>
          <p:cNvPr id="96" name="组合 95">
            <a:extLst>
              <a:ext uri="{FF2B5EF4-FFF2-40B4-BE49-F238E27FC236}">
                <a16:creationId xmlns:a16="http://schemas.microsoft.com/office/drawing/2014/main" id="{DD0257BD-3A5E-D9CA-82D7-BCB6BF633BE9}"/>
              </a:ext>
            </a:extLst>
          </p:cNvPr>
          <p:cNvGrpSpPr/>
          <p:nvPr/>
        </p:nvGrpSpPr>
        <p:grpSpPr>
          <a:xfrm>
            <a:off x="767584" y="2943963"/>
            <a:ext cx="2317750" cy="338554"/>
            <a:chOff x="767584" y="3391643"/>
            <a:chExt cx="2317750" cy="338554"/>
          </a:xfrm>
        </p:grpSpPr>
        <p:sp>
          <p:nvSpPr>
            <p:cNvPr id="15" name="Text Box 64">
              <a:extLst>
                <a:ext uri="{FF2B5EF4-FFF2-40B4-BE49-F238E27FC236}">
                  <a16:creationId xmlns:a16="http://schemas.microsoft.com/office/drawing/2014/main" id="{CB5E60AC-68D3-B215-1126-64AFD163864D}"/>
                </a:ext>
              </a:extLst>
            </p:cNvPr>
            <p:cNvSpPr txBox="1">
              <a:spLocks noChangeArrowheads="1"/>
            </p:cNvSpPr>
            <p:nvPr/>
          </p:nvSpPr>
          <p:spPr bwMode="auto">
            <a:xfrm>
              <a:off x="767584" y="3391643"/>
              <a:ext cx="1708150" cy="338554"/>
            </a:xfrm>
            <a:prstGeom prst="rect">
              <a:avLst/>
            </a:prstGeom>
            <a:solidFill>
              <a:srgbClr val="FFFF00"/>
            </a:solidFill>
            <a:ln>
              <a:noFill/>
            </a:ln>
            <a:effectLst>
              <a:outerShdw dist="35921" dir="2700000" algn="ctr" rotWithShape="0">
                <a:schemeClr val="bg2"/>
              </a:outerShdw>
            </a:effec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dirty="0" err="1">
                  <a:latin typeface="微软雅黑" panose="020B0503020204020204" pitchFamily="34" charset="-122"/>
                  <a:ea typeface="微软雅黑" panose="020B0503020204020204" pitchFamily="34" charset="-122"/>
                </a:rPr>
                <a:t>cwnd</a:t>
              </a:r>
              <a:r>
                <a:rPr lang="en-US" altLang="zh-CN" sz="1600" b="1" dirty="0">
                  <a:latin typeface="微软雅黑" panose="020B0503020204020204" pitchFamily="34" charset="-122"/>
                  <a:ea typeface="微软雅黑" panose="020B0503020204020204" pitchFamily="34" charset="-122"/>
                </a:rPr>
                <a:t> = 8 MSS</a:t>
              </a:r>
            </a:p>
          </p:txBody>
        </p:sp>
        <p:sp>
          <p:nvSpPr>
            <p:cNvPr id="41" name="Line 9">
              <a:extLst>
                <a:ext uri="{FF2B5EF4-FFF2-40B4-BE49-F238E27FC236}">
                  <a16:creationId xmlns:a16="http://schemas.microsoft.com/office/drawing/2014/main" id="{01A130D9-DBB5-A35B-9173-53C6CD4CC424}"/>
                </a:ext>
              </a:extLst>
            </p:cNvPr>
            <p:cNvSpPr>
              <a:spLocks noChangeShapeType="1"/>
            </p:cNvSpPr>
            <p:nvPr/>
          </p:nvSpPr>
          <p:spPr bwMode="auto">
            <a:xfrm>
              <a:off x="2456684" y="3590080"/>
              <a:ext cx="628650" cy="7937"/>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latin typeface="微软雅黑" panose="020B0503020204020204" pitchFamily="34" charset="-122"/>
                <a:ea typeface="微软雅黑" panose="020B0503020204020204" pitchFamily="34" charset="-122"/>
              </a:endParaRPr>
            </a:p>
          </p:txBody>
        </p:sp>
      </p:grpSp>
      <p:sp>
        <p:nvSpPr>
          <p:cNvPr id="102" name="AutoShape 5">
            <a:extLst>
              <a:ext uri="{FF2B5EF4-FFF2-40B4-BE49-F238E27FC236}">
                <a16:creationId xmlns:a16="http://schemas.microsoft.com/office/drawing/2014/main" id="{8F9F93B7-C8C7-72FB-DF8C-408E6F2CF130}"/>
              </a:ext>
            </a:extLst>
          </p:cNvPr>
          <p:cNvSpPr>
            <a:spLocks noChangeArrowheads="1"/>
          </p:cNvSpPr>
          <p:nvPr/>
        </p:nvSpPr>
        <p:spPr bwMode="auto">
          <a:xfrm>
            <a:off x="556963" y="62603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03" name="Rectangle 6">
            <a:extLst>
              <a:ext uri="{FF2B5EF4-FFF2-40B4-BE49-F238E27FC236}">
                <a16:creationId xmlns:a16="http://schemas.microsoft.com/office/drawing/2014/main" id="{792443A8-B54E-5FEE-D523-42BDC26CFEE2}"/>
              </a:ext>
            </a:extLst>
          </p:cNvPr>
          <p:cNvSpPr>
            <a:spLocks noChangeArrowheads="1"/>
          </p:cNvSpPr>
          <p:nvPr/>
        </p:nvSpPr>
        <p:spPr bwMode="auto">
          <a:xfrm>
            <a:off x="3164201" y="592828"/>
            <a:ext cx="28343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慢启动 </a:t>
            </a:r>
            <a:r>
              <a:rPr lang="en-US" altLang="zh-CN" sz="2000" b="1" dirty="0">
                <a:solidFill>
                  <a:schemeClr val="bg1"/>
                </a:solidFill>
                <a:latin typeface="微软雅黑" pitchFamily="34" charset="-122"/>
                <a:ea typeface="微软雅黑" pitchFamily="34" charset="-122"/>
              </a:rPr>
              <a:t>(Slow start)</a:t>
            </a:r>
            <a:endParaRPr lang="zh-CN" altLang="en-US"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66275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nodeType="clickEffect">
                                  <p:stCondLst>
                                    <p:cond delay="0"/>
                                  </p:stCondLst>
                                  <p:childTnLst>
                                    <p:anim calcmode="discrete" valueType="str">
                                      <p:cBhvr>
                                        <p:cTn id="6" dur="1000" fill="hold"/>
                                        <p:tgtEl>
                                          <p:spTgt spid="61"/>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17"/>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3000" fill="hold" grpId="0" nodeType="clickEffect">
                                  <p:stCondLst>
                                    <p:cond delay="0"/>
                                  </p:stCondLst>
                                  <p:childTnLst>
                                    <p:anim calcmode="discrete" valueType="str">
                                      <p:cBhvr>
                                        <p:cTn id="14" dur="1000" fill="hold"/>
                                        <p:tgtEl>
                                          <p:spTgt spid="19"/>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35" presetClass="emph" presetSubtype="0" repeatCount="3000" fill="hold" nodeType="clickEffect">
                                  <p:stCondLst>
                                    <p:cond delay="0"/>
                                  </p:stCondLst>
                                  <p:childTnLst>
                                    <p:anim calcmode="discrete" valueType="str">
                                      <p:cBhvr>
                                        <p:cTn id="18" dur="1000" fill="hold"/>
                                        <p:tgtEl>
                                          <p:spTgt spid="62"/>
                                        </p:tgtEl>
                                        <p:attrNameLst>
                                          <p:attrName>style.visibility</p:attrName>
                                        </p:attrNameLst>
                                      </p:cBhvr>
                                      <p:tavLst>
                                        <p:tav tm="0">
                                          <p:val>
                                            <p:strVal val="hidden"/>
                                          </p:val>
                                        </p:tav>
                                        <p:tav tm="50000">
                                          <p:val>
                                            <p:strVal val="visible"/>
                                          </p:val>
                                        </p:tav>
                                      </p:tavLst>
                                    </p:anim>
                                  </p:childTnLst>
                                </p:cTn>
                              </p:par>
                            </p:childTnLst>
                          </p:cTn>
                        </p:par>
                      </p:childTnLst>
                    </p:cTn>
                  </p:par>
                  <p:par>
                    <p:cTn id="19" fill="hold">
                      <p:stCondLst>
                        <p:cond delay="indefinite"/>
                      </p:stCondLst>
                      <p:childTnLst>
                        <p:par>
                          <p:cTn id="20" fill="hold">
                            <p:stCondLst>
                              <p:cond delay="0"/>
                            </p:stCondLst>
                            <p:childTnLst>
                              <p:par>
                                <p:cTn id="21" presetID="35" presetClass="emph" presetSubtype="0" repeatCount="3000" fill="hold" nodeType="clickEffect">
                                  <p:stCondLst>
                                    <p:cond delay="0"/>
                                  </p:stCondLst>
                                  <p:childTnLst>
                                    <p:anim calcmode="discrete" valueType="str">
                                      <p:cBhvr>
                                        <p:cTn id="22" dur="1000" fill="hold"/>
                                        <p:tgtEl>
                                          <p:spTgt spid="97"/>
                                        </p:tgtEl>
                                        <p:attrNameLst>
                                          <p:attrName>style.visibility</p:attrName>
                                        </p:attrNameLst>
                                      </p:cBhvr>
                                      <p:tavLst>
                                        <p:tav tm="0">
                                          <p:val>
                                            <p:strVal val="hidden"/>
                                          </p:val>
                                        </p:tav>
                                        <p:tav tm="50000">
                                          <p:val>
                                            <p:strVal val="visible"/>
                                          </p:val>
                                        </p:tav>
                                      </p:tavLst>
                                    </p:anim>
                                  </p:childTnLst>
                                </p:cTn>
                              </p:par>
                            </p:childTnLst>
                          </p:cTn>
                        </p:par>
                      </p:childTnLst>
                    </p:cTn>
                  </p:par>
                  <p:par>
                    <p:cTn id="23" fill="hold">
                      <p:stCondLst>
                        <p:cond delay="indefinite"/>
                      </p:stCondLst>
                      <p:childTnLst>
                        <p:par>
                          <p:cTn id="24" fill="hold">
                            <p:stCondLst>
                              <p:cond delay="0"/>
                            </p:stCondLst>
                            <p:childTnLst>
                              <p:par>
                                <p:cTn id="25" presetID="35" presetClass="emph" presetSubtype="0" repeatCount="3000" fill="hold" nodeType="clickEffect">
                                  <p:stCondLst>
                                    <p:cond delay="0"/>
                                  </p:stCondLst>
                                  <p:childTnLst>
                                    <p:anim calcmode="discrete" valueType="str">
                                      <p:cBhvr>
                                        <p:cTn id="26" dur="1000" fill="hold"/>
                                        <p:tgtEl>
                                          <p:spTgt spid="99"/>
                                        </p:tgtEl>
                                        <p:attrNameLst>
                                          <p:attrName>style.visibility</p:attrName>
                                        </p:attrNameLst>
                                      </p:cBhvr>
                                      <p:tavLst>
                                        <p:tav tm="0">
                                          <p:val>
                                            <p:strVal val="hidden"/>
                                          </p:val>
                                        </p:tav>
                                        <p:tav tm="50000">
                                          <p:val>
                                            <p:strVal val="visible"/>
                                          </p:val>
                                        </p:tav>
                                      </p:tavLst>
                                    </p:anim>
                                  </p:childTnLst>
                                </p:cTn>
                              </p:par>
                            </p:childTnLst>
                          </p:cTn>
                        </p:par>
                      </p:childTnLst>
                    </p:cTn>
                  </p:par>
                  <p:par>
                    <p:cTn id="27" fill="hold">
                      <p:stCondLst>
                        <p:cond delay="indefinite"/>
                      </p:stCondLst>
                      <p:childTnLst>
                        <p:par>
                          <p:cTn id="28" fill="hold">
                            <p:stCondLst>
                              <p:cond delay="0"/>
                            </p:stCondLst>
                            <p:childTnLst>
                              <p:par>
                                <p:cTn id="29" presetID="35" presetClass="emph" presetSubtype="0" repeatCount="3000" fill="hold" nodeType="clickEffect">
                                  <p:stCondLst>
                                    <p:cond delay="0"/>
                                  </p:stCondLst>
                                  <p:childTnLst>
                                    <p:anim calcmode="discrete" valueType="str">
                                      <p:cBhvr>
                                        <p:cTn id="30" dur="1000" fill="hold"/>
                                        <p:tgtEl>
                                          <p:spTgt spid="63"/>
                                        </p:tgtEl>
                                        <p:attrNameLst>
                                          <p:attrName>style.visibility</p:attrName>
                                        </p:attrNameLst>
                                      </p:cBhvr>
                                      <p:tavLst>
                                        <p:tav tm="0">
                                          <p:val>
                                            <p:strVal val="hidden"/>
                                          </p:val>
                                        </p:tav>
                                        <p:tav tm="50000">
                                          <p:val>
                                            <p:strVal val="visible"/>
                                          </p:val>
                                        </p:tav>
                                      </p:tavLst>
                                    </p:anim>
                                  </p:childTnLst>
                                </p:cTn>
                              </p:par>
                            </p:childTnLst>
                          </p:cTn>
                        </p:par>
                      </p:childTnLst>
                    </p:cTn>
                  </p:par>
                  <p:par>
                    <p:cTn id="31" fill="hold">
                      <p:stCondLst>
                        <p:cond delay="indefinite"/>
                      </p:stCondLst>
                      <p:childTnLst>
                        <p:par>
                          <p:cTn id="32" fill="hold">
                            <p:stCondLst>
                              <p:cond delay="0"/>
                            </p:stCondLst>
                            <p:childTnLst>
                              <p:par>
                                <p:cTn id="33" presetID="35" presetClass="emph" presetSubtype="0" repeatCount="3000" fill="hold" nodeType="clickEffect">
                                  <p:stCondLst>
                                    <p:cond delay="0"/>
                                  </p:stCondLst>
                                  <p:childTnLst>
                                    <p:anim calcmode="discrete" valueType="str">
                                      <p:cBhvr>
                                        <p:cTn id="34" dur="1000" fill="hold"/>
                                        <p:tgtEl>
                                          <p:spTgt spid="98"/>
                                        </p:tgtEl>
                                        <p:attrNameLst>
                                          <p:attrName>style.visibility</p:attrName>
                                        </p:attrNameLst>
                                      </p:cBhvr>
                                      <p:tavLst>
                                        <p:tav tm="0">
                                          <p:val>
                                            <p:strVal val="hidden"/>
                                          </p:val>
                                        </p:tav>
                                        <p:tav tm="50000">
                                          <p:val>
                                            <p:strVal val="visible"/>
                                          </p:val>
                                        </p:tav>
                                      </p:tavLst>
                                    </p:anim>
                                  </p:childTnLst>
                                </p:cTn>
                              </p:par>
                            </p:childTnLst>
                          </p:cTn>
                        </p:par>
                      </p:childTnLst>
                    </p:cTn>
                  </p:par>
                  <p:par>
                    <p:cTn id="35" fill="hold">
                      <p:stCondLst>
                        <p:cond delay="indefinite"/>
                      </p:stCondLst>
                      <p:childTnLst>
                        <p:par>
                          <p:cTn id="36" fill="hold">
                            <p:stCondLst>
                              <p:cond delay="0"/>
                            </p:stCondLst>
                            <p:childTnLst>
                              <p:par>
                                <p:cTn id="37" presetID="35" presetClass="emph" presetSubtype="0" repeatCount="3000" fill="hold" nodeType="clickEffect">
                                  <p:stCondLst>
                                    <p:cond delay="0"/>
                                  </p:stCondLst>
                                  <p:childTnLst>
                                    <p:anim calcmode="discrete" valueType="str">
                                      <p:cBhvr>
                                        <p:cTn id="38" dur="1000" fill="hold"/>
                                        <p:tgtEl>
                                          <p:spTgt spid="96"/>
                                        </p:tgtEl>
                                        <p:attrNameLst>
                                          <p:attrName>style.visibility</p:attrName>
                                        </p:attrNameLst>
                                      </p:cBhvr>
                                      <p:tavLst>
                                        <p:tav tm="0">
                                          <p:val>
                                            <p:strVal val="hidden"/>
                                          </p:val>
                                        </p:tav>
                                        <p:tav tm="50000">
                                          <p:val>
                                            <p:strVal val="visible"/>
                                          </p:val>
                                        </p:tav>
                                      </p:tavLst>
                                    </p:anim>
                                  </p:childTnLst>
                                </p:cTn>
                              </p:par>
                            </p:childTnLst>
                          </p:cTn>
                        </p:par>
                      </p:childTnLst>
                    </p:cTn>
                  </p:par>
                  <p:par>
                    <p:cTn id="39" fill="hold">
                      <p:stCondLst>
                        <p:cond delay="indefinite"/>
                      </p:stCondLst>
                      <p:childTnLst>
                        <p:par>
                          <p:cTn id="40" fill="hold">
                            <p:stCondLst>
                              <p:cond delay="0"/>
                            </p:stCondLst>
                            <p:childTnLst>
                              <p:par>
                                <p:cTn id="41" presetID="35" presetClass="emph" presetSubtype="0" repeatCount="3000" fill="hold" nodeType="clickEffect">
                                  <p:stCondLst>
                                    <p:cond delay="0"/>
                                  </p:stCondLst>
                                  <p:childTnLst>
                                    <p:anim calcmode="discrete" valueType="str">
                                      <p:cBhvr>
                                        <p:cTn id="42" dur="1000" fill="hold"/>
                                        <p:tgtEl>
                                          <p:spTgt spid="32"/>
                                        </p:tgtEl>
                                        <p:attrNameLst>
                                          <p:attrName>style.visibility</p:attrName>
                                        </p:attrNameLst>
                                      </p:cBhvr>
                                      <p:tavLst>
                                        <p:tav tm="0">
                                          <p:val>
                                            <p:strVal val="hidden"/>
                                          </p:val>
                                        </p:tav>
                                        <p:tav tm="50000">
                                          <p:val>
                                            <p:strVal val="visible"/>
                                          </p:val>
                                        </p:tav>
                                      </p:tavLst>
                                    </p:anim>
                                  </p:childTnLst>
                                </p:cTn>
                              </p:par>
                            </p:childTnLst>
                          </p:cTn>
                        </p:par>
                      </p:childTnLst>
                    </p:cTn>
                  </p:par>
                  <p:par>
                    <p:cTn id="43" fill="hold">
                      <p:stCondLst>
                        <p:cond delay="indefinite"/>
                      </p:stCondLst>
                      <p:childTnLst>
                        <p:par>
                          <p:cTn id="44" fill="hold">
                            <p:stCondLst>
                              <p:cond delay="0"/>
                            </p:stCondLst>
                            <p:childTnLst>
                              <p:par>
                                <p:cTn id="45" presetID="35" presetClass="emph" presetSubtype="0" repeatCount="3000" fill="hold" nodeType="clickEffect">
                                  <p:stCondLst>
                                    <p:cond delay="0"/>
                                  </p:stCondLst>
                                  <p:childTnLst>
                                    <p:anim calcmode="discrete" valueType="str">
                                      <p:cBhvr>
                                        <p:cTn id="46" dur="1000" fill="hold"/>
                                        <p:tgtEl>
                                          <p:spTgt spid="10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1090"/>
            <a:ext cx="8048776" cy="353930"/>
          </a:xfrm>
          <a:prstGeom prst="roundRect">
            <a:avLst>
              <a:gd name="adj" fmla="val 16667"/>
            </a:avLst>
          </a:prstGeom>
          <a:solidFill>
            <a:srgbClr val="00B050"/>
          </a:solidFill>
          <a:ln>
            <a:noFill/>
          </a:ln>
          <a:effectLst/>
        </p:spPr>
        <p:txBody>
          <a:bodyPr wrap="none" anchor="ctr"/>
          <a:lstStyle/>
          <a:p>
            <a:endParaRPr lang="zh-CN" altLang="en-US" dirty="0"/>
          </a:p>
        </p:txBody>
      </p:sp>
      <p:sp>
        <p:nvSpPr>
          <p:cNvPr id="3" name="Rectangle 6"/>
          <p:cNvSpPr>
            <a:spLocks noChangeArrowheads="1"/>
          </p:cNvSpPr>
          <p:nvPr/>
        </p:nvSpPr>
        <p:spPr bwMode="auto">
          <a:xfrm>
            <a:off x="3272981" y="587879"/>
            <a:ext cx="261674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慢启动门限 </a:t>
            </a:r>
            <a:r>
              <a:rPr lang="en-US" altLang="zh-CN" sz="2000" b="1" dirty="0" err="1">
                <a:solidFill>
                  <a:schemeClr val="bg1"/>
                </a:solidFill>
                <a:latin typeface="微软雅黑" pitchFamily="34" charset="-122"/>
                <a:ea typeface="微软雅黑" pitchFamily="34" charset="-122"/>
              </a:rPr>
              <a:t>ssthresh</a:t>
            </a:r>
            <a:endParaRPr lang="zh-CN" altLang="en-US" sz="2000" b="1" dirty="0">
              <a:solidFill>
                <a:schemeClr val="bg1"/>
              </a:solidFill>
              <a:latin typeface="微软雅黑" pitchFamily="34" charset="-122"/>
              <a:ea typeface="微软雅黑" pitchFamily="34" charset="-122"/>
            </a:endParaRPr>
          </a:p>
        </p:txBody>
      </p:sp>
      <p:sp>
        <p:nvSpPr>
          <p:cNvPr id="4" name="Rectangle 68"/>
          <p:cNvSpPr>
            <a:spLocks noChangeArrowheads="1"/>
          </p:cNvSpPr>
          <p:nvPr/>
        </p:nvSpPr>
        <p:spPr bwMode="auto">
          <a:xfrm>
            <a:off x="556963" y="984189"/>
            <a:ext cx="8184960" cy="19807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防止拥塞窗口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增长过大引起网络拥塞，设置一个</a:t>
            </a:r>
            <a:r>
              <a:rPr lang="zh-CN" altLang="en-US" sz="2000" b="1" dirty="0">
                <a:solidFill>
                  <a:srgbClr val="0000FF"/>
                </a:solidFill>
                <a:latin typeface="微软雅黑" pitchFamily="34" charset="-122"/>
                <a:ea typeface="微软雅黑" pitchFamily="34" charset="-122"/>
              </a:rPr>
              <a:t>慢启动门限</a:t>
            </a:r>
            <a:r>
              <a:rPr lang="en-US" altLang="zh-CN" sz="2000" b="1" dirty="0" err="1">
                <a:solidFill>
                  <a:srgbClr val="0000FF"/>
                </a:solidFill>
                <a:latin typeface="微软雅黑" pitchFamily="34" charset="-122"/>
                <a:ea typeface="微软雅黑" pitchFamily="34" charset="-122"/>
              </a:rPr>
              <a:t>ssthresh</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720725" indent="-342900">
              <a:lnSpc>
                <a:spcPts val="3000"/>
              </a:lnSpc>
              <a:buClr>
                <a:srgbClr val="7030A0"/>
              </a:buClr>
              <a:buFont typeface="+mj-lt"/>
              <a:buAutoNum type="arabicPeriod"/>
            </a:pPr>
            <a:r>
              <a:rPr lang="zh-CN" altLang="en-US" sz="2000" b="1" dirty="0">
                <a:latin typeface="微软雅黑" pitchFamily="34" charset="-122"/>
                <a:ea typeface="微软雅黑" pitchFamily="34" charset="-122"/>
              </a:rPr>
              <a:t>当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&lt; </a:t>
            </a:r>
            <a:r>
              <a:rPr lang="en-US" altLang="zh-CN" sz="2000" b="1" dirty="0" err="1">
                <a:latin typeface="微软雅黑" pitchFamily="34" charset="-122"/>
                <a:ea typeface="微软雅黑" pitchFamily="34" charset="-122"/>
              </a:rPr>
              <a:t>ssthresh</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时，使用慢启动算法。</a:t>
            </a:r>
          </a:p>
          <a:p>
            <a:pPr marL="720725" indent="-342900">
              <a:lnSpc>
                <a:spcPts val="3000"/>
              </a:lnSpc>
              <a:buClr>
                <a:srgbClr val="7030A0"/>
              </a:buClr>
              <a:buFont typeface="+mj-lt"/>
              <a:buAutoNum type="arabicPeriod"/>
            </a:pPr>
            <a:r>
              <a:rPr lang="zh-CN" altLang="en-US" sz="2000" b="1" dirty="0">
                <a:latin typeface="微软雅黑" pitchFamily="34" charset="-122"/>
                <a:ea typeface="微软雅黑" pitchFamily="34" charset="-122"/>
              </a:rPr>
              <a:t>当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 </a:t>
            </a:r>
            <a:r>
              <a:rPr lang="en-US" altLang="zh-CN" sz="2000" b="1" dirty="0" err="1">
                <a:latin typeface="微软雅黑" pitchFamily="34" charset="-122"/>
                <a:ea typeface="微软雅黑" pitchFamily="34" charset="-122"/>
              </a:rPr>
              <a:t>ssthresh</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时，停止使用慢启动算法，改用拥塞避免算法。</a:t>
            </a:r>
          </a:p>
        </p:txBody>
      </p:sp>
    </p:spTree>
    <p:extLst>
      <p:ext uri="{BB962C8B-B14F-4D97-AF65-F5344CB8AC3E}">
        <p14:creationId xmlns:p14="http://schemas.microsoft.com/office/powerpoint/2010/main" val="2863616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1000"/>
                                        <p:tgtEl>
                                          <p:spTgt spid="4">
                                            <p:txEl>
                                              <p:pRg st="2" end="2"/>
                                            </p:txEl>
                                          </p:spTgt>
                                        </p:tgtEl>
                                      </p:cBhvr>
                                    </p:animEffect>
                                    <p:anim calcmode="lin" valueType="num">
                                      <p:cBhvr>
                                        <p:cTn id="1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矩形 39"/>
          <p:cNvSpPr/>
          <p:nvPr/>
        </p:nvSpPr>
        <p:spPr>
          <a:xfrm>
            <a:off x="616085" y="579064"/>
            <a:ext cx="4031873" cy="400110"/>
          </a:xfrm>
          <a:prstGeom prst="rect">
            <a:avLst/>
          </a:prstGeom>
        </p:spPr>
        <p:txBody>
          <a:bodyPr wrap="none">
            <a:spAutoFit/>
          </a:bodyPr>
          <a:lstStyle/>
          <a:p>
            <a:r>
              <a:rPr lang="zh-CN" altLang="en-US" sz="2000" b="1" dirty="0">
                <a:latin typeface="微软雅黑" pitchFamily="34" charset="-122"/>
                <a:ea typeface="微软雅黑" pitchFamily="34" charset="-122"/>
              </a:rPr>
              <a:t>慢启动和拥塞避免算法的实现举例</a:t>
            </a:r>
          </a:p>
        </p:txBody>
      </p:sp>
      <p:sp>
        <p:nvSpPr>
          <p:cNvPr id="41" name="圆角矩形 40"/>
          <p:cNvSpPr/>
          <p:nvPr/>
        </p:nvSpPr>
        <p:spPr>
          <a:xfrm>
            <a:off x="545144" y="1013287"/>
            <a:ext cx="8053711" cy="307770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9" name="Text Box 155"/>
          <p:cNvSpPr txBox="1">
            <a:spLocks noChangeArrowheads="1"/>
          </p:cNvSpPr>
          <p:nvPr/>
        </p:nvSpPr>
        <p:spPr bwMode="auto">
          <a:xfrm>
            <a:off x="3451529" y="3331407"/>
            <a:ext cx="2392857" cy="344325"/>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拥塞窗口以 </a:t>
            </a:r>
            <a:r>
              <a:rPr lang="en-US" altLang="zh-CN" sz="1600" b="1" dirty="0">
                <a:solidFill>
                  <a:srgbClr val="0000FF"/>
                </a:solidFill>
                <a:latin typeface="微软雅黑" pitchFamily="34" charset="-122"/>
                <a:ea typeface="微软雅黑" pitchFamily="34" charset="-122"/>
              </a:rPr>
              <a:t>MSS </a:t>
            </a:r>
            <a:r>
              <a:rPr lang="zh-CN" altLang="en-US" sz="1600" b="1" dirty="0">
                <a:solidFill>
                  <a:srgbClr val="0000FF"/>
                </a:solidFill>
                <a:latin typeface="微软雅黑" pitchFamily="34" charset="-122"/>
                <a:ea typeface="微软雅黑" pitchFamily="34" charset="-122"/>
              </a:rPr>
              <a:t>为单位</a:t>
            </a:r>
          </a:p>
        </p:txBody>
      </p:sp>
      <p:sp>
        <p:nvSpPr>
          <p:cNvPr id="170" name="Text Box 155"/>
          <p:cNvSpPr txBox="1">
            <a:spLocks noChangeArrowheads="1"/>
          </p:cNvSpPr>
          <p:nvPr/>
        </p:nvSpPr>
        <p:spPr bwMode="auto">
          <a:xfrm>
            <a:off x="2058564" y="3690863"/>
            <a:ext cx="6300012" cy="344325"/>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慢启动门限的初始值设置为 </a:t>
            </a:r>
            <a:r>
              <a:rPr lang="en-US" altLang="zh-CN" sz="1600" b="1" dirty="0">
                <a:solidFill>
                  <a:srgbClr val="0000FF"/>
                </a:solidFill>
                <a:latin typeface="微软雅黑" pitchFamily="34" charset="-122"/>
                <a:ea typeface="微软雅黑" pitchFamily="34" charset="-122"/>
              </a:rPr>
              <a:t>16 MSS</a:t>
            </a:r>
            <a:r>
              <a:rPr lang="zh-CN" altLang="en-US" sz="1600" b="1" dirty="0">
                <a:solidFill>
                  <a:srgbClr val="0000FF"/>
                </a:solidFill>
                <a:latin typeface="微软雅黑" pitchFamily="34" charset="-122"/>
                <a:ea typeface="微软雅黑" pitchFamily="34" charset="-122"/>
              </a:rPr>
              <a:t>，即 </a:t>
            </a:r>
            <a:r>
              <a:rPr lang="en-US" altLang="zh-CN" sz="1600" b="1" dirty="0" err="1">
                <a:solidFill>
                  <a:srgbClr val="0000FF"/>
                </a:solidFill>
                <a:latin typeface="微软雅黑" pitchFamily="34" charset="-122"/>
                <a:ea typeface="微软雅黑" pitchFamily="34" charset="-122"/>
              </a:rPr>
              <a:t>ssthresh</a:t>
            </a:r>
            <a:r>
              <a:rPr lang="en-US" altLang="zh-CN" sz="1600" b="1" dirty="0">
                <a:solidFill>
                  <a:srgbClr val="0000FF"/>
                </a:solidFill>
                <a:latin typeface="微软雅黑" pitchFamily="34" charset="-122"/>
                <a:ea typeface="微软雅黑" pitchFamily="34" charset="-122"/>
              </a:rPr>
              <a:t> = 16</a:t>
            </a:r>
            <a:r>
              <a:rPr lang="zh-CN" altLang="en-US" sz="1600" b="1" dirty="0">
                <a:solidFill>
                  <a:srgbClr val="0000FF"/>
                </a:solidFill>
                <a:latin typeface="微软雅黑" pitchFamily="34" charset="-122"/>
                <a:ea typeface="微软雅黑" pitchFamily="34" charset="-122"/>
              </a:rPr>
              <a:t>。</a:t>
            </a:r>
          </a:p>
        </p:txBody>
      </p:sp>
      <p:sp>
        <p:nvSpPr>
          <p:cNvPr id="172" name="Text Box 140"/>
          <p:cNvSpPr txBox="1">
            <a:spLocks noChangeArrowheads="1"/>
          </p:cNvSpPr>
          <p:nvPr/>
        </p:nvSpPr>
        <p:spPr bwMode="auto">
          <a:xfrm>
            <a:off x="4466485" y="1190282"/>
            <a:ext cx="2985875" cy="502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超时（网络发生拥塞，执行慢启动算法）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 24/2 = 12</a:t>
            </a:r>
          </a:p>
        </p:txBody>
      </p:sp>
      <p:sp>
        <p:nvSpPr>
          <p:cNvPr id="173" name="Line 2"/>
          <p:cNvSpPr>
            <a:spLocks noChangeShapeType="1"/>
          </p:cNvSpPr>
          <p:nvPr/>
        </p:nvSpPr>
        <p:spPr bwMode="auto">
          <a:xfrm flipV="1">
            <a:off x="2435451" y="3162988"/>
            <a:ext cx="4388353" cy="3483"/>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4" name="Line 3"/>
          <p:cNvSpPr>
            <a:spLocks noChangeShapeType="1"/>
          </p:cNvSpPr>
          <p:nvPr/>
        </p:nvSpPr>
        <p:spPr bwMode="auto">
          <a:xfrm>
            <a:off x="2434329" y="1350612"/>
            <a:ext cx="1122" cy="1815859"/>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5" name="Line 4"/>
          <p:cNvSpPr>
            <a:spLocks noChangeShapeType="1"/>
          </p:cNvSpPr>
          <p:nvPr/>
        </p:nvSpPr>
        <p:spPr bwMode="auto">
          <a:xfrm>
            <a:off x="2596944" y="3110741"/>
            <a:ext cx="0" cy="557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6" name="Line 5"/>
          <p:cNvSpPr>
            <a:spLocks noChangeShapeType="1"/>
          </p:cNvSpPr>
          <p:nvPr/>
        </p:nvSpPr>
        <p:spPr bwMode="auto">
          <a:xfrm>
            <a:off x="2758437"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7" name="Line 6"/>
          <p:cNvSpPr>
            <a:spLocks noChangeShapeType="1"/>
          </p:cNvSpPr>
          <p:nvPr/>
        </p:nvSpPr>
        <p:spPr bwMode="auto">
          <a:xfrm>
            <a:off x="2919930"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8" name="Line 7"/>
          <p:cNvSpPr>
            <a:spLocks noChangeShapeType="1"/>
          </p:cNvSpPr>
          <p:nvPr/>
        </p:nvSpPr>
        <p:spPr bwMode="auto">
          <a:xfrm>
            <a:off x="3081423"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9" name="Line 8"/>
          <p:cNvSpPr>
            <a:spLocks noChangeShapeType="1"/>
          </p:cNvSpPr>
          <p:nvPr/>
        </p:nvSpPr>
        <p:spPr bwMode="auto">
          <a:xfrm>
            <a:off x="3242917"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Line 9"/>
          <p:cNvSpPr>
            <a:spLocks noChangeShapeType="1"/>
          </p:cNvSpPr>
          <p:nvPr/>
        </p:nvSpPr>
        <p:spPr bwMode="auto">
          <a:xfrm>
            <a:off x="3404410"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Line 10"/>
          <p:cNvSpPr>
            <a:spLocks noChangeShapeType="1"/>
          </p:cNvSpPr>
          <p:nvPr/>
        </p:nvSpPr>
        <p:spPr bwMode="auto">
          <a:xfrm>
            <a:off x="3565903"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Line 11"/>
          <p:cNvSpPr>
            <a:spLocks noChangeShapeType="1"/>
          </p:cNvSpPr>
          <p:nvPr/>
        </p:nvSpPr>
        <p:spPr bwMode="auto">
          <a:xfrm>
            <a:off x="3727396"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Line 12"/>
          <p:cNvSpPr>
            <a:spLocks noChangeShapeType="1"/>
          </p:cNvSpPr>
          <p:nvPr/>
        </p:nvSpPr>
        <p:spPr bwMode="auto">
          <a:xfrm>
            <a:off x="3888889"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Line 13"/>
          <p:cNvSpPr>
            <a:spLocks noChangeShapeType="1"/>
          </p:cNvSpPr>
          <p:nvPr/>
        </p:nvSpPr>
        <p:spPr bwMode="auto">
          <a:xfrm>
            <a:off x="4050382"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Line 14"/>
          <p:cNvSpPr>
            <a:spLocks noChangeShapeType="1"/>
          </p:cNvSpPr>
          <p:nvPr/>
        </p:nvSpPr>
        <p:spPr bwMode="auto">
          <a:xfrm>
            <a:off x="4211876"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Line 15"/>
          <p:cNvSpPr>
            <a:spLocks noChangeShapeType="1"/>
          </p:cNvSpPr>
          <p:nvPr/>
        </p:nvSpPr>
        <p:spPr bwMode="auto">
          <a:xfrm>
            <a:off x="4373369"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7" name="Line 16"/>
          <p:cNvSpPr>
            <a:spLocks noChangeShapeType="1"/>
          </p:cNvSpPr>
          <p:nvPr/>
        </p:nvSpPr>
        <p:spPr bwMode="auto">
          <a:xfrm>
            <a:off x="4534862"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8" name="Line 17"/>
          <p:cNvSpPr>
            <a:spLocks noChangeShapeType="1"/>
          </p:cNvSpPr>
          <p:nvPr/>
        </p:nvSpPr>
        <p:spPr bwMode="auto">
          <a:xfrm>
            <a:off x="4696355" y="3110741"/>
            <a:ext cx="0" cy="557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9" name="Line 18"/>
          <p:cNvSpPr>
            <a:spLocks noChangeShapeType="1"/>
          </p:cNvSpPr>
          <p:nvPr/>
        </p:nvSpPr>
        <p:spPr bwMode="auto">
          <a:xfrm>
            <a:off x="4857848"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0" name="Line 19"/>
          <p:cNvSpPr>
            <a:spLocks noChangeShapeType="1"/>
          </p:cNvSpPr>
          <p:nvPr/>
        </p:nvSpPr>
        <p:spPr bwMode="auto">
          <a:xfrm>
            <a:off x="5019342"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1" name="Line 20"/>
          <p:cNvSpPr>
            <a:spLocks noChangeShapeType="1"/>
          </p:cNvSpPr>
          <p:nvPr/>
        </p:nvSpPr>
        <p:spPr bwMode="auto">
          <a:xfrm>
            <a:off x="5180835"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2" name="Line 21"/>
          <p:cNvSpPr>
            <a:spLocks noChangeShapeType="1"/>
          </p:cNvSpPr>
          <p:nvPr/>
        </p:nvSpPr>
        <p:spPr bwMode="auto">
          <a:xfrm>
            <a:off x="5342328"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3" name="Line 22"/>
          <p:cNvSpPr>
            <a:spLocks noChangeShapeType="1"/>
          </p:cNvSpPr>
          <p:nvPr/>
        </p:nvSpPr>
        <p:spPr bwMode="auto">
          <a:xfrm>
            <a:off x="5503821"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4" name="Line 23"/>
          <p:cNvSpPr>
            <a:spLocks noChangeShapeType="1"/>
          </p:cNvSpPr>
          <p:nvPr/>
        </p:nvSpPr>
        <p:spPr bwMode="auto">
          <a:xfrm>
            <a:off x="5665314"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5" name="Line 24"/>
          <p:cNvSpPr>
            <a:spLocks noChangeShapeType="1"/>
          </p:cNvSpPr>
          <p:nvPr/>
        </p:nvSpPr>
        <p:spPr bwMode="auto">
          <a:xfrm>
            <a:off x="5826807"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6" name="Line 25"/>
          <p:cNvSpPr>
            <a:spLocks noChangeShapeType="1"/>
          </p:cNvSpPr>
          <p:nvPr/>
        </p:nvSpPr>
        <p:spPr bwMode="auto">
          <a:xfrm>
            <a:off x="5988301"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7" name="Line 40"/>
          <p:cNvSpPr>
            <a:spLocks noChangeShapeType="1"/>
          </p:cNvSpPr>
          <p:nvPr/>
        </p:nvSpPr>
        <p:spPr bwMode="auto">
          <a:xfrm>
            <a:off x="2435451" y="2887822"/>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8" name="Line 41"/>
          <p:cNvSpPr>
            <a:spLocks noChangeShapeType="1"/>
          </p:cNvSpPr>
          <p:nvPr/>
        </p:nvSpPr>
        <p:spPr bwMode="auto">
          <a:xfrm>
            <a:off x="2435451" y="2609174"/>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9" name="Line 42"/>
          <p:cNvSpPr>
            <a:spLocks noChangeShapeType="1"/>
          </p:cNvSpPr>
          <p:nvPr/>
        </p:nvSpPr>
        <p:spPr bwMode="auto">
          <a:xfrm>
            <a:off x="2435451" y="2330526"/>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0" name="Line 43"/>
          <p:cNvSpPr>
            <a:spLocks noChangeShapeType="1"/>
          </p:cNvSpPr>
          <p:nvPr/>
        </p:nvSpPr>
        <p:spPr bwMode="auto">
          <a:xfrm>
            <a:off x="2435451" y="2051877"/>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1" name="Line 44"/>
          <p:cNvSpPr>
            <a:spLocks noChangeShapeType="1"/>
          </p:cNvSpPr>
          <p:nvPr/>
        </p:nvSpPr>
        <p:spPr bwMode="auto">
          <a:xfrm>
            <a:off x="2435451" y="1773229"/>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2" name="Line 45"/>
          <p:cNvSpPr>
            <a:spLocks noChangeShapeType="1"/>
          </p:cNvSpPr>
          <p:nvPr/>
        </p:nvSpPr>
        <p:spPr bwMode="auto">
          <a:xfrm>
            <a:off x="2435451" y="1494580"/>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3" name="Text Box 77"/>
          <p:cNvSpPr txBox="1">
            <a:spLocks noChangeArrowheads="1"/>
          </p:cNvSpPr>
          <p:nvPr/>
        </p:nvSpPr>
        <p:spPr bwMode="auto">
          <a:xfrm>
            <a:off x="2630207" y="3125835"/>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a:t>
            </a:r>
          </a:p>
        </p:txBody>
      </p:sp>
      <p:sp>
        <p:nvSpPr>
          <p:cNvPr id="204" name="Text Box 78"/>
          <p:cNvSpPr txBox="1">
            <a:spLocks noChangeArrowheads="1"/>
          </p:cNvSpPr>
          <p:nvPr/>
        </p:nvSpPr>
        <p:spPr bwMode="auto">
          <a:xfrm>
            <a:off x="2953194" y="3125835"/>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205" name="Text Box 79"/>
          <p:cNvSpPr txBox="1">
            <a:spLocks noChangeArrowheads="1"/>
          </p:cNvSpPr>
          <p:nvPr/>
        </p:nvSpPr>
        <p:spPr bwMode="auto">
          <a:xfrm>
            <a:off x="3276180" y="3125835"/>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6</a:t>
            </a:r>
          </a:p>
        </p:txBody>
      </p:sp>
      <p:sp>
        <p:nvSpPr>
          <p:cNvPr id="206" name="Text Box 80"/>
          <p:cNvSpPr txBox="1">
            <a:spLocks noChangeArrowheads="1"/>
          </p:cNvSpPr>
          <p:nvPr/>
        </p:nvSpPr>
        <p:spPr bwMode="auto">
          <a:xfrm>
            <a:off x="3608139" y="3125835"/>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8</a:t>
            </a:r>
          </a:p>
        </p:txBody>
      </p:sp>
      <p:sp>
        <p:nvSpPr>
          <p:cNvPr id="207" name="Text Box 81"/>
          <p:cNvSpPr txBox="1">
            <a:spLocks noChangeArrowheads="1"/>
          </p:cNvSpPr>
          <p:nvPr/>
        </p:nvSpPr>
        <p:spPr bwMode="auto">
          <a:xfrm>
            <a:off x="3877294" y="312583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10</a:t>
            </a:r>
          </a:p>
        </p:txBody>
      </p:sp>
      <p:sp>
        <p:nvSpPr>
          <p:cNvPr id="208" name="Text Box 82"/>
          <p:cNvSpPr txBox="1">
            <a:spLocks noChangeArrowheads="1"/>
          </p:cNvSpPr>
          <p:nvPr/>
        </p:nvSpPr>
        <p:spPr bwMode="auto">
          <a:xfrm>
            <a:off x="4227196" y="312583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209" name="Text Box 83"/>
          <p:cNvSpPr txBox="1">
            <a:spLocks noChangeArrowheads="1"/>
          </p:cNvSpPr>
          <p:nvPr/>
        </p:nvSpPr>
        <p:spPr bwMode="auto">
          <a:xfrm>
            <a:off x="4532238" y="312583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14</a:t>
            </a:r>
          </a:p>
        </p:txBody>
      </p:sp>
      <p:sp>
        <p:nvSpPr>
          <p:cNvPr id="210" name="Text Box 84"/>
          <p:cNvSpPr txBox="1">
            <a:spLocks noChangeArrowheads="1"/>
          </p:cNvSpPr>
          <p:nvPr/>
        </p:nvSpPr>
        <p:spPr bwMode="auto">
          <a:xfrm>
            <a:off x="4855225" y="312583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211" name="Text Box 85"/>
          <p:cNvSpPr txBox="1">
            <a:spLocks noChangeArrowheads="1"/>
          </p:cNvSpPr>
          <p:nvPr/>
        </p:nvSpPr>
        <p:spPr bwMode="auto">
          <a:xfrm>
            <a:off x="5189427" y="312583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18</a:t>
            </a:r>
          </a:p>
        </p:txBody>
      </p:sp>
      <p:sp>
        <p:nvSpPr>
          <p:cNvPr id="212" name="Text Box 86"/>
          <p:cNvSpPr txBox="1">
            <a:spLocks noChangeArrowheads="1"/>
          </p:cNvSpPr>
          <p:nvPr/>
        </p:nvSpPr>
        <p:spPr bwMode="auto">
          <a:xfrm>
            <a:off x="5512412" y="312583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213" name="Text Box 87"/>
          <p:cNvSpPr txBox="1">
            <a:spLocks noChangeArrowheads="1"/>
          </p:cNvSpPr>
          <p:nvPr/>
        </p:nvSpPr>
        <p:spPr bwMode="auto">
          <a:xfrm>
            <a:off x="5826427" y="3131638"/>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22</a:t>
            </a:r>
          </a:p>
        </p:txBody>
      </p:sp>
      <p:sp>
        <p:nvSpPr>
          <p:cNvPr id="214" name="Text Box 89"/>
          <p:cNvSpPr txBox="1">
            <a:spLocks noChangeArrowheads="1"/>
          </p:cNvSpPr>
          <p:nvPr/>
        </p:nvSpPr>
        <p:spPr bwMode="auto">
          <a:xfrm>
            <a:off x="2334136" y="3125835"/>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215" name="Text Box 90"/>
          <p:cNvSpPr txBox="1">
            <a:spLocks noChangeArrowheads="1"/>
          </p:cNvSpPr>
          <p:nvPr/>
        </p:nvSpPr>
        <p:spPr bwMode="auto">
          <a:xfrm>
            <a:off x="2247041" y="3016698"/>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216" name="Text Box 91"/>
          <p:cNvSpPr txBox="1">
            <a:spLocks noChangeArrowheads="1"/>
          </p:cNvSpPr>
          <p:nvPr/>
        </p:nvSpPr>
        <p:spPr bwMode="auto">
          <a:xfrm>
            <a:off x="2233393" y="2738050"/>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217" name="Text Box 92"/>
          <p:cNvSpPr txBox="1">
            <a:spLocks noChangeArrowheads="1"/>
          </p:cNvSpPr>
          <p:nvPr/>
        </p:nvSpPr>
        <p:spPr bwMode="auto">
          <a:xfrm>
            <a:off x="2233393" y="2468688"/>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218" name="Text Box 93"/>
          <p:cNvSpPr txBox="1">
            <a:spLocks noChangeArrowheads="1"/>
          </p:cNvSpPr>
          <p:nvPr/>
        </p:nvSpPr>
        <p:spPr bwMode="auto">
          <a:xfrm>
            <a:off x="2152647" y="2199329"/>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12</a:t>
            </a:r>
          </a:p>
        </p:txBody>
      </p:sp>
      <p:sp>
        <p:nvSpPr>
          <p:cNvPr id="219" name="Text Box 94"/>
          <p:cNvSpPr txBox="1">
            <a:spLocks noChangeArrowheads="1"/>
          </p:cNvSpPr>
          <p:nvPr/>
        </p:nvSpPr>
        <p:spPr bwMode="auto">
          <a:xfrm>
            <a:off x="2152647" y="1929969"/>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220" name="Text Box 95"/>
          <p:cNvSpPr txBox="1">
            <a:spLocks noChangeArrowheads="1"/>
          </p:cNvSpPr>
          <p:nvPr/>
        </p:nvSpPr>
        <p:spPr bwMode="auto">
          <a:xfrm>
            <a:off x="2152647" y="1651321"/>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221" name="Text Box 96"/>
          <p:cNvSpPr txBox="1">
            <a:spLocks noChangeArrowheads="1"/>
          </p:cNvSpPr>
          <p:nvPr/>
        </p:nvSpPr>
        <p:spPr bwMode="auto">
          <a:xfrm>
            <a:off x="2152647" y="1372672"/>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22" name="Oval 102"/>
          <p:cNvSpPr>
            <a:spLocks noChangeArrowheads="1"/>
          </p:cNvSpPr>
          <p:nvPr/>
        </p:nvSpPr>
        <p:spPr bwMode="auto">
          <a:xfrm>
            <a:off x="2886286" y="2581309"/>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3" name="Oval 103"/>
          <p:cNvSpPr>
            <a:spLocks noChangeArrowheads="1"/>
          </p:cNvSpPr>
          <p:nvPr/>
        </p:nvSpPr>
        <p:spPr bwMode="auto">
          <a:xfrm>
            <a:off x="2724793" y="2859958"/>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4" name="Oval 104"/>
          <p:cNvSpPr>
            <a:spLocks noChangeArrowheads="1"/>
          </p:cNvSpPr>
          <p:nvPr/>
        </p:nvSpPr>
        <p:spPr bwMode="auto">
          <a:xfrm>
            <a:off x="2408535" y="3041079"/>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5" name="Oval 105"/>
          <p:cNvSpPr>
            <a:spLocks noChangeArrowheads="1"/>
          </p:cNvSpPr>
          <p:nvPr/>
        </p:nvSpPr>
        <p:spPr bwMode="auto">
          <a:xfrm>
            <a:off x="2556570" y="2992316"/>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6" name="Oval 106"/>
          <p:cNvSpPr>
            <a:spLocks noChangeArrowheads="1"/>
          </p:cNvSpPr>
          <p:nvPr/>
        </p:nvSpPr>
        <p:spPr bwMode="auto">
          <a:xfrm>
            <a:off x="3047779" y="2021690"/>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7" name="Oval 107"/>
          <p:cNvSpPr>
            <a:spLocks noChangeArrowheads="1"/>
          </p:cNvSpPr>
          <p:nvPr/>
        </p:nvSpPr>
        <p:spPr bwMode="auto">
          <a:xfrm>
            <a:off x="3209272" y="1947384"/>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8" name="Oval 108"/>
          <p:cNvSpPr>
            <a:spLocks noChangeArrowheads="1"/>
          </p:cNvSpPr>
          <p:nvPr/>
        </p:nvSpPr>
        <p:spPr bwMode="auto">
          <a:xfrm>
            <a:off x="3370765" y="1881205"/>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9" name="Oval 109"/>
          <p:cNvSpPr>
            <a:spLocks noChangeArrowheads="1"/>
          </p:cNvSpPr>
          <p:nvPr/>
        </p:nvSpPr>
        <p:spPr bwMode="auto">
          <a:xfrm>
            <a:off x="3697116" y="1741881"/>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0" name="Oval 110"/>
          <p:cNvSpPr>
            <a:spLocks noChangeArrowheads="1"/>
          </p:cNvSpPr>
          <p:nvPr/>
        </p:nvSpPr>
        <p:spPr bwMode="auto">
          <a:xfrm>
            <a:off x="3532258" y="1811543"/>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1" name="Oval 113"/>
          <p:cNvSpPr>
            <a:spLocks noChangeArrowheads="1"/>
          </p:cNvSpPr>
          <p:nvPr/>
        </p:nvSpPr>
        <p:spPr bwMode="auto">
          <a:xfrm>
            <a:off x="3858609" y="1672219"/>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14"/>
          <p:cNvSpPr>
            <a:spLocks noChangeArrowheads="1"/>
          </p:cNvSpPr>
          <p:nvPr/>
        </p:nvSpPr>
        <p:spPr bwMode="auto">
          <a:xfrm>
            <a:off x="4016738" y="1606040"/>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Oval 116"/>
          <p:cNvSpPr>
            <a:spLocks noChangeArrowheads="1"/>
          </p:cNvSpPr>
          <p:nvPr/>
        </p:nvSpPr>
        <p:spPr bwMode="auto">
          <a:xfrm>
            <a:off x="4336360" y="1456267"/>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4" name="Oval 117"/>
          <p:cNvSpPr>
            <a:spLocks noChangeArrowheads="1"/>
          </p:cNvSpPr>
          <p:nvPr/>
        </p:nvSpPr>
        <p:spPr bwMode="auto">
          <a:xfrm>
            <a:off x="4178231" y="1525929"/>
            <a:ext cx="62803" cy="65018"/>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5" name="Freeform 118"/>
          <p:cNvSpPr>
            <a:spLocks/>
          </p:cNvSpPr>
          <p:nvPr/>
        </p:nvSpPr>
        <p:spPr bwMode="auto">
          <a:xfrm>
            <a:off x="2381620" y="1494580"/>
            <a:ext cx="1988384" cy="1590618"/>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6" name="Text Box 134"/>
          <p:cNvSpPr txBox="1">
            <a:spLocks noChangeArrowheads="1"/>
          </p:cNvSpPr>
          <p:nvPr/>
        </p:nvSpPr>
        <p:spPr bwMode="auto">
          <a:xfrm>
            <a:off x="6824924" y="3020180"/>
            <a:ext cx="11464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237" name="Text Box 135"/>
          <p:cNvSpPr txBox="1">
            <a:spLocks noChangeArrowheads="1"/>
          </p:cNvSpPr>
          <p:nvPr/>
        </p:nvSpPr>
        <p:spPr bwMode="auto">
          <a:xfrm>
            <a:off x="1777141" y="1115751"/>
            <a:ext cx="1401563" cy="29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itchFamily="34" charset="-122"/>
                <a:ea typeface="微软雅黑"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239" name="Line 156"/>
          <p:cNvSpPr>
            <a:spLocks noChangeShapeType="1"/>
          </p:cNvSpPr>
          <p:nvPr/>
        </p:nvSpPr>
        <p:spPr bwMode="auto">
          <a:xfrm>
            <a:off x="2489282" y="2051877"/>
            <a:ext cx="592142"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0" name="Line 146"/>
          <p:cNvSpPr>
            <a:spLocks noChangeShapeType="1"/>
          </p:cNvSpPr>
          <p:nvPr/>
        </p:nvSpPr>
        <p:spPr bwMode="auto">
          <a:xfrm flipV="1">
            <a:off x="2489282" y="1489936"/>
            <a:ext cx="1893059" cy="4644"/>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2" name="Text Box 205"/>
          <p:cNvSpPr txBox="1">
            <a:spLocks noChangeArrowheads="1"/>
          </p:cNvSpPr>
          <p:nvPr/>
        </p:nvSpPr>
        <p:spPr bwMode="auto">
          <a:xfrm>
            <a:off x="1317046" y="1862629"/>
            <a:ext cx="846706" cy="461665"/>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err="1">
                <a:ln>
                  <a:noFill/>
                </a:ln>
                <a:solidFill>
                  <a:srgbClr val="CC00CC"/>
                </a:solidFill>
                <a:effectLst/>
                <a:uLnTx/>
                <a:uFillTx/>
                <a:latin typeface="微软雅黑" pitchFamily="34" charset="-122"/>
                <a:ea typeface="微软雅黑"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243" name="Line 215"/>
          <p:cNvSpPr>
            <a:spLocks noChangeShapeType="1"/>
          </p:cNvSpPr>
          <p:nvPr/>
        </p:nvSpPr>
        <p:spPr bwMode="auto">
          <a:xfrm flipV="1">
            <a:off x="2085549" y="2072776"/>
            <a:ext cx="151400"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7" name="Oval 127"/>
          <p:cNvSpPr>
            <a:spLocks noChangeArrowheads="1"/>
          </p:cNvSpPr>
          <p:nvPr/>
        </p:nvSpPr>
        <p:spPr bwMode="auto">
          <a:xfrm>
            <a:off x="4494489" y="3034113"/>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54" name="直接连接符 115"/>
          <p:cNvCxnSpPr>
            <a:cxnSpLocks noChangeShapeType="1"/>
          </p:cNvCxnSpPr>
          <p:nvPr/>
        </p:nvCxnSpPr>
        <p:spPr bwMode="auto">
          <a:xfrm>
            <a:off x="4373369" y="1487614"/>
            <a:ext cx="161493" cy="1563915"/>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55" name="Rectangle 161"/>
          <p:cNvSpPr>
            <a:spLocks noChangeArrowheads="1"/>
          </p:cNvSpPr>
          <p:nvPr/>
        </p:nvSpPr>
        <p:spPr bwMode="auto">
          <a:xfrm>
            <a:off x="2860460" y="1754060"/>
            <a:ext cx="305043" cy="254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58" name="Rectangle 161"/>
          <p:cNvSpPr>
            <a:spLocks noChangeArrowheads="1"/>
          </p:cNvSpPr>
          <p:nvPr/>
        </p:nvSpPr>
        <p:spPr bwMode="auto">
          <a:xfrm>
            <a:off x="4233941" y="1215721"/>
            <a:ext cx="253455" cy="21130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60" name="直接连接符 121"/>
          <p:cNvCxnSpPr>
            <a:cxnSpLocks noChangeShapeType="1"/>
          </p:cNvCxnSpPr>
          <p:nvPr/>
        </p:nvCxnSpPr>
        <p:spPr bwMode="auto">
          <a:xfrm>
            <a:off x="2512832" y="2612658"/>
            <a:ext cx="3917332" cy="0"/>
          </a:xfrm>
          <a:prstGeom prst="line">
            <a:avLst/>
          </a:prstGeom>
          <a:noFill/>
          <a:ln w="12700" algn="ctr">
            <a:solidFill>
              <a:srgbClr val="000000"/>
            </a:solidFill>
            <a:prstDash val="dash"/>
            <a:round/>
            <a:headEnd/>
            <a:tailEnd/>
          </a:ln>
        </p:spPr>
      </p:cxnSp>
      <p:sp>
        <p:nvSpPr>
          <p:cNvPr id="262" name="Line 24"/>
          <p:cNvSpPr>
            <a:spLocks noChangeShapeType="1"/>
          </p:cNvSpPr>
          <p:nvPr/>
        </p:nvSpPr>
        <p:spPr bwMode="auto">
          <a:xfrm>
            <a:off x="6309044" y="3050367"/>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3" name="Line 22"/>
          <p:cNvSpPr>
            <a:spLocks noChangeShapeType="1"/>
          </p:cNvSpPr>
          <p:nvPr/>
        </p:nvSpPr>
        <p:spPr bwMode="auto">
          <a:xfrm>
            <a:off x="6145308" y="3053851"/>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4" name="Text Box 87"/>
          <p:cNvSpPr txBox="1">
            <a:spLocks noChangeArrowheads="1"/>
          </p:cNvSpPr>
          <p:nvPr/>
        </p:nvSpPr>
        <p:spPr bwMode="auto">
          <a:xfrm>
            <a:off x="6129227" y="3129318"/>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24</a:t>
            </a:r>
          </a:p>
        </p:txBody>
      </p:sp>
      <p:sp>
        <p:nvSpPr>
          <p:cNvPr id="265" name="Line 22"/>
          <p:cNvSpPr>
            <a:spLocks noChangeShapeType="1"/>
          </p:cNvSpPr>
          <p:nvPr/>
        </p:nvSpPr>
        <p:spPr bwMode="auto">
          <a:xfrm>
            <a:off x="6477266" y="3059656"/>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8" name="Text Box 206"/>
          <p:cNvSpPr txBox="1">
            <a:spLocks noChangeArrowheads="1"/>
          </p:cNvSpPr>
          <p:nvPr/>
        </p:nvSpPr>
        <p:spPr bwMode="auto">
          <a:xfrm rot="20205303">
            <a:off x="3041974" y="1563882"/>
            <a:ext cx="858268" cy="29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cxnSp>
        <p:nvCxnSpPr>
          <p:cNvPr id="279" name="直接连接符 278"/>
          <p:cNvCxnSpPr>
            <a:cxnSpLocks noChangeShapeType="1"/>
          </p:cNvCxnSpPr>
          <p:nvPr/>
        </p:nvCxnSpPr>
        <p:spPr bwMode="auto">
          <a:xfrm flipH="1">
            <a:off x="4372247" y="1578175"/>
            <a:ext cx="3365" cy="1518634"/>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80" name="直接连接符 119"/>
          <p:cNvCxnSpPr>
            <a:cxnSpLocks noChangeShapeType="1"/>
          </p:cNvCxnSpPr>
          <p:nvPr/>
        </p:nvCxnSpPr>
        <p:spPr bwMode="auto">
          <a:xfrm>
            <a:off x="3080302" y="2131989"/>
            <a:ext cx="0" cy="955531"/>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sp>
        <p:nvSpPr>
          <p:cNvPr id="281" name="Line 167"/>
          <p:cNvSpPr>
            <a:spLocks noChangeShapeType="1"/>
          </p:cNvSpPr>
          <p:nvPr/>
        </p:nvSpPr>
        <p:spPr bwMode="auto">
          <a:xfrm>
            <a:off x="2058564" y="2960685"/>
            <a:ext cx="376817" cy="111459"/>
          </a:xfrm>
          <a:prstGeom prst="line">
            <a:avLst/>
          </a:prstGeom>
          <a:noFill/>
          <a:ln w="19050">
            <a:solidFill>
              <a:srgbClr val="FF00FF"/>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82" name="Line 167"/>
          <p:cNvSpPr>
            <a:spLocks noChangeShapeType="1"/>
          </p:cNvSpPr>
          <p:nvPr/>
        </p:nvSpPr>
        <p:spPr bwMode="auto">
          <a:xfrm>
            <a:off x="4264620" y="2953682"/>
            <a:ext cx="262426" cy="98688"/>
          </a:xfrm>
          <a:prstGeom prst="line">
            <a:avLst/>
          </a:prstGeom>
          <a:noFill/>
          <a:ln w="19050">
            <a:solidFill>
              <a:srgbClr val="FF00FF"/>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83" name="Text Box 209"/>
          <p:cNvSpPr txBox="1">
            <a:spLocks noChangeArrowheads="1"/>
          </p:cNvSpPr>
          <p:nvPr/>
        </p:nvSpPr>
        <p:spPr bwMode="auto">
          <a:xfrm>
            <a:off x="1393490" y="2710463"/>
            <a:ext cx="753634" cy="276999"/>
          </a:xfrm>
          <a:prstGeom prst="rect">
            <a:avLst/>
          </a:prstGeom>
          <a:solidFill>
            <a:srgbClr val="00FF99"/>
          </a:solidFill>
          <a:ln w="9525">
            <a:solidFill>
              <a:srgbClr val="000000"/>
            </a:solidFill>
            <a:miter lim="800000"/>
            <a:headEnd/>
            <a:tailEnd/>
          </a:ln>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ysClr val="windowText" lastClr="000000"/>
                </a:solidFill>
                <a:effectLst/>
                <a:uLnTx/>
                <a:uFillTx/>
                <a:latin typeface="微软雅黑" pitchFamily="34" charset="-122"/>
                <a:ea typeface="微软雅黑" pitchFamily="34" charset="-122"/>
              </a:rPr>
              <a:t>慢启动</a:t>
            </a:r>
          </a:p>
        </p:txBody>
      </p:sp>
      <p:sp>
        <p:nvSpPr>
          <p:cNvPr id="284" name="Text Box 209"/>
          <p:cNvSpPr txBox="1">
            <a:spLocks noChangeArrowheads="1"/>
          </p:cNvSpPr>
          <p:nvPr/>
        </p:nvSpPr>
        <p:spPr bwMode="auto">
          <a:xfrm>
            <a:off x="3532258" y="2694952"/>
            <a:ext cx="753635" cy="276999"/>
          </a:xfrm>
          <a:prstGeom prst="rect">
            <a:avLst/>
          </a:prstGeom>
          <a:solidFill>
            <a:srgbClr val="00FF99"/>
          </a:solidFill>
          <a:ln w="9525">
            <a:solidFill>
              <a:srgbClr val="000000"/>
            </a:solidFill>
            <a:miter lim="800000"/>
            <a:headEnd/>
            <a:tailEnd/>
          </a:ln>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ysClr val="windowText" lastClr="000000"/>
                </a:solidFill>
                <a:effectLst/>
                <a:uLnTx/>
                <a:uFillTx/>
                <a:latin typeface="微软雅黑" pitchFamily="34" charset="-122"/>
                <a:ea typeface="微软雅黑" pitchFamily="34" charset="-122"/>
              </a:rPr>
              <a:t>慢启动</a:t>
            </a:r>
          </a:p>
        </p:txBody>
      </p:sp>
      <p:sp>
        <p:nvSpPr>
          <p:cNvPr id="3" name="文本框 2">
            <a:extLst>
              <a:ext uri="{FF2B5EF4-FFF2-40B4-BE49-F238E27FC236}">
                <a16:creationId xmlns:a16="http://schemas.microsoft.com/office/drawing/2014/main" id="{30FBD0BC-FF99-45BF-F780-B363BBACA51F}"/>
              </a:ext>
            </a:extLst>
          </p:cNvPr>
          <p:cNvSpPr txBox="1"/>
          <p:nvPr/>
        </p:nvSpPr>
        <p:spPr>
          <a:xfrm>
            <a:off x="1539778" y="4130213"/>
            <a:ext cx="6359234" cy="64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342900" indent="-342900">
              <a:lnSpc>
                <a:spcPct val="150000"/>
              </a:lnSpc>
              <a:buClr>
                <a:srgbClr val="0070C0"/>
              </a:buClr>
              <a:buFont typeface="Wingdings" pitchFamily="2" charset="2"/>
              <a:buChar char="l"/>
              <a:defRPr sz="2000" b="1">
                <a:latin typeface="微软雅黑" pitchFamily="34" charset="-122"/>
                <a:ea typeface="微软雅黑" pitchFamily="34" charset="-122"/>
              </a:defRPr>
            </a:lvl1pPr>
          </a:lstStyle>
          <a:p>
            <a:pPr marL="0" indent="0">
              <a:lnSpc>
                <a:spcPct val="100000"/>
              </a:lnSpc>
              <a:buNone/>
            </a:pPr>
            <a:r>
              <a:rPr lang="zh-CN" altLang="en-US" sz="1800" dirty="0">
                <a:solidFill>
                  <a:srgbClr val="C00000"/>
                </a:solidFill>
              </a:rPr>
              <a:t>拥塞避免算法</a:t>
            </a:r>
            <a:r>
              <a:rPr lang="zh-CN" altLang="en-US" sz="1800" dirty="0"/>
              <a:t>：每经过一个往返时间 </a:t>
            </a:r>
            <a:r>
              <a:rPr lang="en-US" altLang="zh-CN" sz="1800" dirty="0"/>
              <a:t>RTT</a:t>
            </a:r>
            <a:r>
              <a:rPr lang="zh-CN" altLang="en-US" sz="1800" dirty="0"/>
              <a:t>，发送方的拥塞窗口 </a:t>
            </a:r>
            <a:r>
              <a:rPr lang="en-US" altLang="zh-CN" sz="1800" dirty="0" err="1"/>
              <a:t>cwnd</a:t>
            </a:r>
            <a:r>
              <a:rPr lang="en-US" altLang="zh-CN" sz="1800" dirty="0"/>
              <a:t> </a:t>
            </a:r>
            <a:r>
              <a:rPr lang="zh-CN" altLang="en-US" sz="1800" dirty="0"/>
              <a:t>就增加 </a:t>
            </a:r>
            <a:r>
              <a:rPr lang="en-US" altLang="zh-CN" sz="1800" dirty="0"/>
              <a:t>1 MSS</a:t>
            </a:r>
            <a:r>
              <a:rPr lang="zh-CN" altLang="en-US" sz="1800" dirty="0"/>
              <a:t>。</a:t>
            </a:r>
          </a:p>
        </p:txBody>
      </p:sp>
      <p:sp>
        <p:nvSpPr>
          <p:cNvPr id="9" name="Line 167">
            <a:extLst>
              <a:ext uri="{FF2B5EF4-FFF2-40B4-BE49-F238E27FC236}">
                <a16:creationId xmlns:a16="http://schemas.microsoft.com/office/drawing/2014/main" id="{B49D4AF5-C7C6-84E8-6565-563AE8A0D887}"/>
              </a:ext>
            </a:extLst>
          </p:cNvPr>
          <p:cNvSpPr>
            <a:spLocks noChangeShapeType="1"/>
          </p:cNvSpPr>
          <p:nvPr/>
        </p:nvSpPr>
        <p:spPr bwMode="auto">
          <a:xfrm flipH="1">
            <a:off x="4568956" y="1618893"/>
            <a:ext cx="367194" cy="691874"/>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147">
            <a:extLst>
              <a:ext uri="{FF2B5EF4-FFF2-40B4-BE49-F238E27FC236}">
                <a16:creationId xmlns:a16="http://schemas.microsoft.com/office/drawing/2014/main" id="{4C4DF9DE-A81E-4B11-1A6E-1A805F08DDC9}"/>
              </a:ext>
            </a:extLst>
          </p:cNvPr>
          <p:cNvSpPr>
            <a:spLocks noChangeShapeType="1"/>
          </p:cNvSpPr>
          <p:nvPr/>
        </p:nvSpPr>
        <p:spPr bwMode="auto">
          <a:xfrm rot="10800000">
            <a:off x="2501618" y="2329365"/>
            <a:ext cx="2853046"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Tree>
    <p:extLst>
      <p:ext uri="{BB962C8B-B14F-4D97-AF65-F5344CB8AC3E}">
        <p14:creationId xmlns:p14="http://schemas.microsoft.com/office/powerpoint/2010/main" val="1493015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70"/>
                                        </p:tgtEl>
                                        <p:attrNameLst>
                                          <p:attrName>style.visibility</p:attrName>
                                        </p:attrNameLst>
                                      </p:cBhvr>
                                      <p:to>
                                        <p:strVal val="visible"/>
                                      </p:to>
                                    </p:set>
                                    <p:animEffect transition="in" filter="fade">
                                      <p:cBhvr>
                                        <p:cTn id="7" dur="1000"/>
                                        <p:tgtEl>
                                          <p:spTgt spid="170"/>
                                        </p:tgtEl>
                                      </p:cBhvr>
                                    </p:animEffect>
                                    <p:anim calcmode="lin" valueType="num">
                                      <p:cBhvr>
                                        <p:cTn id="8" dur="1000" fill="hold"/>
                                        <p:tgtEl>
                                          <p:spTgt spid="170"/>
                                        </p:tgtEl>
                                        <p:attrNameLst>
                                          <p:attrName>ppt_x</p:attrName>
                                        </p:attrNameLst>
                                      </p:cBhvr>
                                      <p:tavLst>
                                        <p:tav tm="0">
                                          <p:val>
                                            <p:strVal val="#ppt_x"/>
                                          </p:val>
                                        </p:tav>
                                        <p:tav tm="100000">
                                          <p:val>
                                            <p:strVal val="#ppt_x"/>
                                          </p:val>
                                        </p:tav>
                                      </p:tavLst>
                                    </p:anim>
                                    <p:anim calcmode="lin" valueType="num">
                                      <p:cBhvr>
                                        <p:cTn id="9" dur="1000" fill="hold"/>
                                        <p:tgtEl>
                                          <p:spTgt spid="17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5" presetClass="emph" presetSubtype="0" repeatCount="3000" fill="hold" grpId="0" nodeType="clickEffect">
                                  <p:stCondLst>
                                    <p:cond delay="0"/>
                                  </p:stCondLst>
                                  <p:childTnLst>
                                    <p:anim calcmode="discrete" valueType="str">
                                      <p:cBhvr>
                                        <p:cTn id="13" dur="1000" fill="hold"/>
                                        <p:tgtEl>
                                          <p:spTgt spid="283"/>
                                        </p:tgtEl>
                                        <p:attrNameLst>
                                          <p:attrName>style.visibility</p:attrName>
                                        </p:attrNameLst>
                                      </p:cBhvr>
                                      <p:tavLst>
                                        <p:tav tm="0">
                                          <p:val>
                                            <p:strVal val="hidden"/>
                                          </p:val>
                                        </p:tav>
                                        <p:tav tm="50000">
                                          <p:val>
                                            <p:strVal val="visible"/>
                                          </p:val>
                                        </p:tav>
                                      </p:tavLst>
                                    </p:anim>
                                  </p:childTnLst>
                                </p:cTn>
                              </p:par>
                              <p:par>
                                <p:cTn id="14" presetID="35" presetClass="emph" presetSubtype="0" repeatCount="3000" fill="hold" grpId="0" nodeType="withEffect">
                                  <p:stCondLst>
                                    <p:cond delay="0"/>
                                  </p:stCondLst>
                                  <p:childTnLst>
                                    <p:anim calcmode="discrete" valueType="str">
                                      <p:cBhvr>
                                        <p:cTn id="15" dur="1000" fill="hold"/>
                                        <p:tgtEl>
                                          <p:spTgt spid="281"/>
                                        </p:tgtEl>
                                        <p:attrNameLst>
                                          <p:attrName>style.visibility</p:attrName>
                                        </p:attrNameLst>
                                      </p:cBhvr>
                                      <p:tavLst>
                                        <p:tav tm="0">
                                          <p:val>
                                            <p:strVal val="hidden"/>
                                          </p:val>
                                        </p:tav>
                                        <p:tav tm="50000">
                                          <p:val>
                                            <p:strVal val="visible"/>
                                          </p:val>
                                        </p:tav>
                                      </p:tavLst>
                                    </p:anim>
                                  </p:childTnLst>
                                </p:cTn>
                              </p:par>
                            </p:childTnLst>
                          </p:cTn>
                        </p:par>
                      </p:childTnLst>
                    </p:cTn>
                  </p:par>
                  <p:par>
                    <p:cTn id="16" fill="hold">
                      <p:stCondLst>
                        <p:cond delay="indefinite"/>
                      </p:stCondLst>
                      <p:childTnLst>
                        <p:par>
                          <p:cTn id="17" fill="hold">
                            <p:stCondLst>
                              <p:cond delay="0"/>
                            </p:stCondLst>
                            <p:childTnLst>
                              <p:par>
                                <p:cTn id="18" presetID="35" presetClass="emph" presetSubtype="0" repeatCount="3000" fill="hold" grpId="0" nodeType="clickEffect">
                                  <p:stCondLst>
                                    <p:cond delay="0"/>
                                  </p:stCondLst>
                                  <p:childTnLst>
                                    <p:anim calcmode="discrete" valueType="str">
                                      <p:cBhvr>
                                        <p:cTn id="19" dur="1000" fill="hold"/>
                                        <p:tgtEl>
                                          <p:spTgt spid="239"/>
                                        </p:tgtEl>
                                        <p:attrNameLst>
                                          <p:attrName>style.visibility</p:attrName>
                                        </p:attrNameLst>
                                      </p:cBhvr>
                                      <p:tavLst>
                                        <p:tav tm="0">
                                          <p:val>
                                            <p:strVal val="hidden"/>
                                          </p:val>
                                        </p:tav>
                                        <p:tav tm="50000">
                                          <p:val>
                                            <p:strVal val="visible"/>
                                          </p:val>
                                        </p:tav>
                                      </p:tavLst>
                                    </p:anim>
                                  </p:childTnLst>
                                </p:cTn>
                              </p:par>
                              <p:par>
                                <p:cTn id="20" presetID="35" presetClass="emph" presetSubtype="0" repeatCount="3000" fill="hold" grpId="0" nodeType="withEffect">
                                  <p:stCondLst>
                                    <p:cond delay="0"/>
                                  </p:stCondLst>
                                  <p:childTnLst>
                                    <p:anim calcmode="discrete" valueType="str">
                                      <p:cBhvr>
                                        <p:cTn id="21" dur="1000" fill="hold"/>
                                        <p:tgtEl>
                                          <p:spTgt spid="219"/>
                                        </p:tgtEl>
                                        <p:attrNameLst>
                                          <p:attrName>style.visibility</p:attrName>
                                        </p:attrNameLst>
                                      </p:cBhvr>
                                      <p:tavLst>
                                        <p:tav tm="0">
                                          <p:val>
                                            <p:strVal val="hidden"/>
                                          </p:val>
                                        </p:tav>
                                        <p:tav tm="50000">
                                          <p:val>
                                            <p:strVal val="visible"/>
                                          </p:val>
                                        </p:tav>
                                      </p:tavLst>
                                    </p:anim>
                                  </p:childTnLst>
                                </p:cTn>
                              </p:par>
                            </p:childTnLst>
                          </p:cTn>
                        </p:par>
                      </p:childTnLst>
                    </p:cTn>
                  </p:par>
                  <p:par>
                    <p:cTn id="22" fill="hold">
                      <p:stCondLst>
                        <p:cond delay="indefinite"/>
                      </p:stCondLst>
                      <p:childTnLst>
                        <p:par>
                          <p:cTn id="23" fill="hold">
                            <p:stCondLst>
                              <p:cond delay="0"/>
                            </p:stCondLst>
                            <p:childTnLst>
                              <p:par>
                                <p:cTn id="24" presetID="35" presetClass="emph" presetSubtype="0" repeatCount="3000" fill="hold" grpId="0" nodeType="clickEffect">
                                  <p:stCondLst>
                                    <p:cond delay="0"/>
                                  </p:stCondLst>
                                  <p:childTnLst>
                                    <p:anim calcmode="discrete" valueType="str">
                                      <p:cBhvr>
                                        <p:cTn id="25" dur="1000" fill="hold"/>
                                        <p:tgtEl>
                                          <p:spTgt spid="268"/>
                                        </p:tgtEl>
                                        <p:attrNameLst>
                                          <p:attrName>style.visibility</p:attrName>
                                        </p:attrNameLst>
                                      </p:cBhvr>
                                      <p:tavLst>
                                        <p:tav tm="0">
                                          <p:val>
                                            <p:strVal val="hidden"/>
                                          </p:val>
                                        </p:tav>
                                        <p:tav tm="50000">
                                          <p:val>
                                            <p:strVal val="visible"/>
                                          </p:val>
                                        </p:tav>
                                      </p:tavLst>
                                    </p:anim>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 calcmode="lin" valueType="num">
                                      <p:cBhvr>
                                        <p:cTn id="30" dur="500" fill="hold"/>
                                        <p:tgtEl>
                                          <p:spTgt spid="3"/>
                                        </p:tgtEl>
                                        <p:attrNameLst>
                                          <p:attrName>ppt_w</p:attrName>
                                        </p:attrNameLst>
                                      </p:cBhvr>
                                      <p:tavLst>
                                        <p:tav tm="0">
                                          <p:val>
                                            <p:fltVal val="0"/>
                                          </p:val>
                                        </p:tav>
                                        <p:tav tm="100000">
                                          <p:val>
                                            <p:strVal val="#ppt_w"/>
                                          </p:val>
                                        </p:tav>
                                      </p:tavLst>
                                    </p:anim>
                                    <p:anim calcmode="lin" valueType="num">
                                      <p:cBhvr>
                                        <p:cTn id="31" dur="500" fill="hold"/>
                                        <p:tgtEl>
                                          <p:spTgt spid="3"/>
                                        </p:tgtEl>
                                        <p:attrNameLst>
                                          <p:attrName>ppt_h</p:attrName>
                                        </p:attrNameLst>
                                      </p:cBhvr>
                                      <p:tavLst>
                                        <p:tav tm="0">
                                          <p:val>
                                            <p:fltVal val="0"/>
                                          </p:val>
                                        </p:tav>
                                        <p:tav tm="100000">
                                          <p:val>
                                            <p:strVal val="#ppt_h"/>
                                          </p:val>
                                        </p:tav>
                                      </p:tavLst>
                                    </p:anim>
                                    <p:animEffect transition="in" filter="fade">
                                      <p:cBhvr>
                                        <p:cTn id="3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 grpId="0"/>
      <p:bldP spid="219" grpId="0"/>
      <p:bldP spid="239" grpId="0" animBg="1"/>
      <p:bldP spid="268" grpId="0"/>
      <p:bldP spid="281" grpId="0" animBg="1"/>
      <p:bldP spid="283" grpId="0" animBg="1"/>
      <p:bldP spid="3" grpId="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8D13F-43DE-D755-3833-8E7B7CB2A964}"/>
            </a:ext>
          </a:extLst>
        </p:cNvPr>
        <p:cNvGrpSpPr/>
        <p:nvPr/>
      </p:nvGrpSpPr>
      <p:grpSpPr>
        <a:xfrm>
          <a:off x="0" y="0"/>
          <a:ext cx="0" cy="0"/>
          <a:chOff x="0" y="0"/>
          <a:chExt cx="0" cy="0"/>
        </a:xfrm>
      </p:grpSpPr>
      <p:sp>
        <p:nvSpPr>
          <p:cNvPr id="39" name="AutoShape 5">
            <a:extLst>
              <a:ext uri="{FF2B5EF4-FFF2-40B4-BE49-F238E27FC236}">
                <a16:creationId xmlns:a16="http://schemas.microsoft.com/office/drawing/2014/main" id="{E75507CD-B57C-A424-BA38-5DD1CA81D173}"/>
              </a:ext>
            </a:extLst>
          </p:cNvPr>
          <p:cNvSpPr>
            <a:spLocks noChangeArrowheads="1"/>
          </p:cNvSpPr>
          <p:nvPr/>
        </p:nvSpPr>
        <p:spPr bwMode="auto">
          <a:xfrm>
            <a:off x="545144" y="621304"/>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矩形 39">
            <a:extLst>
              <a:ext uri="{FF2B5EF4-FFF2-40B4-BE49-F238E27FC236}">
                <a16:creationId xmlns:a16="http://schemas.microsoft.com/office/drawing/2014/main" id="{E24A842B-7E7A-0FF3-AB7B-989D59CECBD3}"/>
              </a:ext>
            </a:extLst>
          </p:cNvPr>
          <p:cNvSpPr/>
          <p:nvPr/>
        </p:nvSpPr>
        <p:spPr>
          <a:xfrm>
            <a:off x="616085" y="579064"/>
            <a:ext cx="4031873" cy="400110"/>
          </a:xfrm>
          <a:prstGeom prst="rect">
            <a:avLst/>
          </a:prstGeom>
        </p:spPr>
        <p:txBody>
          <a:bodyPr wrap="none">
            <a:spAutoFit/>
          </a:bodyPr>
          <a:lstStyle/>
          <a:p>
            <a:r>
              <a:rPr lang="zh-CN" altLang="en-US" sz="2000" b="1" dirty="0">
                <a:latin typeface="微软雅黑" pitchFamily="34" charset="-122"/>
                <a:ea typeface="微软雅黑" pitchFamily="34" charset="-122"/>
              </a:rPr>
              <a:t>慢启动和拥塞避免算法的实现举例</a:t>
            </a:r>
          </a:p>
        </p:txBody>
      </p:sp>
      <p:sp>
        <p:nvSpPr>
          <p:cNvPr id="41" name="圆角矩形 40">
            <a:extLst>
              <a:ext uri="{FF2B5EF4-FFF2-40B4-BE49-F238E27FC236}">
                <a16:creationId xmlns:a16="http://schemas.microsoft.com/office/drawing/2014/main" id="{30798EF7-85A2-83C1-4269-AE448AC3A9B9}"/>
              </a:ext>
            </a:extLst>
          </p:cNvPr>
          <p:cNvSpPr/>
          <p:nvPr/>
        </p:nvSpPr>
        <p:spPr>
          <a:xfrm>
            <a:off x="545144" y="1013287"/>
            <a:ext cx="8053711" cy="307770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9" name="Text Box 155">
            <a:extLst>
              <a:ext uri="{FF2B5EF4-FFF2-40B4-BE49-F238E27FC236}">
                <a16:creationId xmlns:a16="http://schemas.microsoft.com/office/drawing/2014/main" id="{27F145D4-7D80-5B9F-BFA9-E7DA64AFB1A5}"/>
              </a:ext>
            </a:extLst>
          </p:cNvPr>
          <p:cNvSpPr txBox="1">
            <a:spLocks noChangeArrowheads="1"/>
          </p:cNvSpPr>
          <p:nvPr/>
        </p:nvSpPr>
        <p:spPr bwMode="auto">
          <a:xfrm>
            <a:off x="3451529" y="3331407"/>
            <a:ext cx="2392857" cy="344325"/>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拥塞窗口以 </a:t>
            </a:r>
            <a:r>
              <a:rPr lang="en-US" altLang="zh-CN" sz="1600" b="1" dirty="0">
                <a:solidFill>
                  <a:srgbClr val="0000FF"/>
                </a:solidFill>
                <a:latin typeface="微软雅黑" pitchFamily="34" charset="-122"/>
                <a:ea typeface="微软雅黑" pitchFamily="34" charset="-122"/>
              </a:rPr>
              <a:t>MSS </a:t>
            </a:r>
            <a:r>
              <a:rPr lang="zh-CN" altLang="en-US" sz="1600" b="1" dirty="0">
                <a:solidFill>
                  <a:srgbClr val="0000FF"/>
                </a:solidFill>
                <a:latin typeface="微软雅黑" pitchFamily="34" charset="-122"/>
                <a:ea typeface="微软雅黑" pitchFamily="34" charset="-122"/>
              </a:rPr>
              <a:t>为单位</a:t>
            </a:r>
          </a:p>
        </p:txBody>
      </p:sp>
      <p:sp>
        <p:nvSpPr>
          <p:cNvPr id="170" name="Text Box 155">
            <a:extLst>
              <a:ext uri="{FF2B5EF4-FFF2-40B4-BE49-F238E27FC236}">
                <a16:creationId xmlns:a16="http://schemas.microsoft.com/office/drawing/2014/main" id="{02CE6A84-43F1-7316-B21D-0AFB712505DE}"/>
              </a:ext>
            </a:extLst>
          </p:cNvPr>
          <p:cNvSpPr txBox="1">
            <a:spLocks noChangeArrowheads="1"/>
          </p:cNvSpPr>
          <p:nvPr/>
        </p:nvSpPr>
        <p:spPr bwMode="auto">
          <a:xfrm>
            <a:off x="2058564" y="3690863"/>
            <a:ext cx="6300012" cy="344325"/>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慢启动门限的初始值设置为 </a:t>
            </a:r>
            <a:r>
              <a:rPr lang="en-US" altLang="zh-CN" sz="1600" b="1" dirty="0">
                <a:solidFill>
                  <a:srgbClr val="0000FF"/>
                </a:solidFill>
                <a:latin typeface="微软雅黑" pitchFamily="34" charset="-122"/>
                <a:ea typeface="微软雅黑" pitchFamily="34" charset="-122"/>
              </a:rPr>
              <a:t>16 MSS</a:t>
            </a:r>
            <a:r>
              <a:rPr lang="zh-CN" altLang="en-US" sz="1600" b="1" dirty="0">
                <a:solidFill>
                  <a:srgbClr val="0000FF"/>
                </a:solidFill>
                <a:latin typeface="微软雅黑" pitchFamily="34" charset="-122"/>
                <a:ea typeface="微软雅黑" pitchFamily="34" charset="-122"/>
              </a:rPr>
              <a:t>，即 </a:t>
            </a:r>
            <a:r>
              <a:rPr lang="en-US" altLang="zh-CN" sz="1600" b="1" dirty="0" err="1">
                <a:solidFill>
                  <a:srgbClr val="0000FF"/>
                </a:solidFill>
                <a:latin typeface="微软雅黑" pitchFamily="34" charset="-122"/>
                <a:ea typeface="微软雅黑" pitchFamily="34" charset="-122"/>
              </a:rPr>
              <a:t>ssthresh</a:t>
            </a:r>
            <a:r>
              <a:rPr lang="en-US" altLang="zh-CN" sz="1600" b="1" dirty="0">
                <a:solidFill>
                  <a:srgbClr val="0000FF"/>
                </a:solidFill>
                <a:latin typeface="微软雅黑" pitchFamily="34" charset="-122"/>
                <a:ea typeface="微软雅黑" pitchFamily="34" charset="-122"/>
              </a:rPr>
              <a:t> = 16</a:t>
            </a:r>
            <a:r>
              <a:rPr lang="zh-CN" altLang="en-US" sz="1600" b="1" dirty="0">
                <a:solidFill>
                  <a:srgbClr val="0000FF"/>
                </a:solidFill>
                <a:latin typeface="微软雅黑" pitchFamily="34" charset="-122"/>
                <a:ea typeface="微软雅黑" pitchFamily="34" charset="-122"/>
              </a:rPr>
              <a:t>。</a:t>
            </a:r>
          </a:p>
        </p:txBody>
      </p:sp>
      <p:sp>
        <p:nvSpPr>
          <p:cNvPr id="172" name="Text Box 140">
            <a:extLst>
              <a:ext uri="{FF2B5EF4-FFF2-40B4-BE49-F238E27FC236}">
                <a16:creationId xmlns:a16="http://schemas.microsoft.com/office/drawing/2014/main" id="{7CEE0899-77BF-2FDC-CC09-4EDE36D1B3DD}"/>
              </a:ext>
            </a:extLst>
          </p:cNvPr>
          <p:cNvSpPr txBox="1">
            <a:spLocks noChangeArrowheads="1"/>
          </p:cNvSpPr>
          <p:nvPr/>
        </p:nvSpPr>
        <p:spPr bwMode="auto">
          <a:xfrm>
            <a:off x="4466485" y="1190282"/>
            <a:ext cx="2985875" cy="502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超时（网络发生拥塞，执行慢启动算法）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 24/2 = 12</a:t>
            </a:r>
          </a:p>
        </p:txBody>
      </p:sp>
      <p:sp>
        <p:nvSpPr>
          <p:cNvPr id="173" name="Line 2">
            <a:extLst>
              <a:ext uri="{FF2B5EF4-FFF2-40B4-BE49-F238E27FC236}">
                <a16:creationId xmlns:a16="http://schemas.microsoft.com/office/drawing/2014/main" id="{04C801F4-385F-49EE-891A-E9E1DA7DC4D7}"/>
              </a:ext>
            </a:extLst>
          </p:cNvPr>
          <p:cNvSpPr>
            <a:spLocks noChangeShapeType="1"/>
          </p:cNvSpPr>
          <p:nvPr/>
        </p:nvSpPr>
        <p:spPr bwMode="auto">
          <a:xfrm flipV="1">
            <a:off x="2435451" y="3162988"/>
            <a:ext cx="4388353" cy="3483"/>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4" name="Line 3">
            <a:extLst>
              <a:ext uri="{FF2B5EF4-FFF2-40B4-BE49-F238E27FC236}">
                <a16:creationId xmlns:a16="http://schemas.microsoft.com/office/drawing/2014/main" id="{6FA6943E-4207-F0D6-9656-55ED06A8CA85}"/>
              </a:ext>
            </a:extLst>
          </p:cNvPr>
          <p:cNvSpPr>
            <a:spLocks noChangeShapeType="1"/>
          </p:cNvSpPr>
          <p:nvPr/>
        </p:nvSpPr>
        <p:spPr bwMode="auto">
          <a:xfrm>
            <a:off x="2434329" y="1350612"/>
            <a:ext cx="1122" cy="1815859"/>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5" name="Line 4">
            <a:extLst>
              <a:ext uri="{FF2B5EF4-FFF2-40B4-BE49-F238E27FC236}">
                <a16:creationId xmlns:a16="http://schemas.microsoft.com/office/drawing/2014/main" id="{E1BDE0DA-0FCC-956F-DB6F-592B155535A1}"/>
              </a:ext>
            </a:extLst>
          </p:cNvPr>
          <p:cNvSpPr>
            <a:spLocks noChangeShapeType="1"/>
          </p:cNvSpPr>
          <p:nvPr/>
        </p:nvSpPr>
        <p:spPr bwMode="auto">
          <a:xfrm>
            <a:off x="2596944" y="3110741"/>
            <a:ext cx="0" cy="557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6" name="Line 5">
            <a:extLst>
              <a:ext uri="{FF2B5EF4-FFF2-40B4-BE49-F238E27FC236}">
                <a16:creationId xmlns:a16="http://schemas.microsoft.com/office/drawing/2014/main" id="{57FB2F99-BD13-8049-C978-D841499BC0E8}"/>
              </a:ext>
            </a:extLst>
          </p:cNvPr>
          <p:cNvSpPr>
            <a:spLocks noChangeShapeType="1"/>
          </p:cNvSpPr>
          <p:nvPr/>
        </p:nvSpPr>
        <p:spPr bwMode="auto">
          <a:xfrm>
            <a:off x="2758437"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7" name="Line 6">
            <a:extLst>
              <a:ext uri="{FF2B5EF4-FFF2-40B4-BE49-F238E27FC236}">
                <a16:creationId xmlns:a16="http://schemas.microsoft.com/office/drawing/2014/main" id="{0C10C074-07A4-843B-0B7B-C52CF8821D9D}"/>
              </a:ext>
            </a:extLst>
          </p:cNvPr>
          <p:cNvSpPr>
            <a:spLocks noChangeShapeType="1"/>
          </p:cNvSpPr>
          <p:nvPr/>
        </p:nvSpPr>
        <p:spPr bwMode="auto">
          <a:xfrm>
            <a:off x="2919930"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8" name="Line 7">
            <a:extLst>
              <a:ext uri="{FF2B5EF4-FFF2-40B4-BE49-F238E27FC236}">
                <a16:creationId xmlns:a16="http://schemas.microsoft.com/office/drawing/2014/main" id="{8F334204-B9A1-05DB-6D7C-8C0FB9B2B6CD}"/>
              </a:ext>
            </a:extLst>
          </p:cNvPr>
          <p:cNvSpPr>
            <a:spLocks noChangeShapeType="1"/>
          </p:cNvSpPr>
          <p:nvPr/>
        </p:nvSpPr>
        <p:spPr bwMode="auto">
          <a:xfrm>
            <a:off x="3081423"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9" name="Line 8">
            <a:extLst>
              <a:ext uri="{FF2B5EF4-FFF2-40B4-BE49-F238E27FC236}">
                <a16:creationId xmlns:a16="http://schemas.microsoft.com/office/drawing/2014/main" id="{EF9A871A-7DE0-D990-4ACA-787732A51E46}"/>
              </a:ext>
            </a:extLst>
          </p:cNvPr>
          <p:cNvSpPr>
            <a:spLocks noChangeShapeType="1"/>
          </p:cNvSpPr>
          <p:nvPr/>
        </p:nvSpPr>
        <p:spPr bwMode="auto">
          <a:xfrm>
            <a:off x="3242917"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Line 9">
            <a:extLst>
              <a:ext uri="{FF2B5EF4-FFF2-40B4-BE49-F238E27FC236}">
                <a16:creationId xmlns:a16="http://schemas.microsoft.com/office/drawing/2014/main" id="{16CB7EEA-9E59-A0AA-9888-FC4EC43E8D41}"/>
              </a:ext>
            </a:extLst>
          </p:cNvPr>
          <p:cNvSpPr>
            <a:spLocks noChangeShapeType="1"/>
          </p:cNvSpPr>
          <p:nvPr/>
        </p:nvSpPr>
        <p:spPr bwMode="auto">
          <a:xfrm>
            <a:off x="3404410"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Line 10">
            <a:extLst>
              <a:ext uri="{FF2B5EF4-FFF2-40B4-BE49-F238E27FC236}">
                <a16:creationId xmlns:a16="http://schemas.microsoft.com/office/drawing/2014/main" id="{F1E1889D-17C3-864C-0D70-DC344F5EAEDA}"/>
              </a:ext>
            </a:extLst>
          </p:cNvPr>
          <p:cNvSpPr>
            <a:spLocks noChangeShapeType="1"/>
          </p:cNvSpPr>
          <p:nvPr/>
        </p:nvSpPr>
        <p:spPr bwMode="auto">
          <a:xfrm>
            <a:off x="3565903"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Line 11">
            <a:extLst>
              <a:ext uri="{FF2B5EF4-FFF2-40B4-BE49-F238E27FC236}">
                <a16:creationId xmlns:a16="http://schemas.microsoft.com/office/drawing/2014/main" id="{226D7331-1253-1710-A1EB-DCAEF0CF6561}"/>
              </a:ext>
            </a:extLst>
          </p:cNvPr>
          <p:cNvSpPr>
            <a:spLocks noChangeShapeType="1"/>
          </p:cNvSpPr>
          <p:nvPr/>
        </p:nvSpPr>
        <p:spPr bwMode="auto">
          <a:xfrm>
            <a:off x="3727396"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Line 12">
            <a:extLst>
              <a:ext uri="{FF2B5EF4-FFF2-40B4-BE49-F238E27FC236}">
                <a16:creationId xmlns:a16="http://schemas.microsoft.com/office/drawing/2014/main" id="{B5915046-23B8-5B3E-CF6E-15969E267549}"/>
              </a:ext>
            </a:extLst>
          </p:cNvPr>
          <p:cNvSpPr>
            <a:spLocks noChangeShapeType="1"/>
          </p:cNvSpPr>
          <p:nvPr/>
        </p:nvSpPr>
        <p:spPr bwMode="auto">
          <a:xfrm>
            <a:off x="3888889"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Line 13">
            <a:extLst>
              <a:ext uri="{FF2B5EF4-FFF2-40B4-BE49-F238E27FC236}">
                <a16:creationId xmlns:a16="http://schemas.microsoft.com/office/drawing/2014/main" id="{C30AE3EE-7F2F-A9B4-C512-7C5BFA0FB3D1}"/>
              </a:ext>
            </a:extLst>
          </p:cNvPr>
          <p:cNvSpPr>
            <a:spLocks noChangeShapeType="1"/>
          </p:cNvSpPr>
          <p:nvPr/>
        </p:nvSpPr>
        <p:spPr bwMode="auto">
          <a:xfrm>
            <a:off x="4050382"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Line 14">
            <a:extLst>
              <a:ext uri="{FF2B5EF4-FFF2-40B4-BE49-F238E27FC236}">
                <a16:creationId xmlns:a16="http://schemas.microsoft.com/office/drawing/2014/main" id="{C82BBD42-4D06-935D-69AC-485980983BBC}"/>
              </a:ext>
            </a:extLst>
          </p:cNvPr>
          <p:cNvSpPr>
            <a:spLocks noChangeShapeType="1"/>
          </p:cNvSpPr>
          <p:nvPr/>
        </p:nvSpPr>
        <p:spPr bwMode="auto">
          <a:xfrm>
            <a:off x="4211876"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Line 15">
            <a:extLst>
              <a:ext uri="{FF2B5EF4-FFF2-40B4-BE49-F238E27FC236}">
                <a16:creationId xmlns:a16="http://schemas.microsoft.com/office/drawing/2014/main" id="{E6CE567D-5127-C29F-E31C-3939766F374B}"/>
              </a:ext>
            </a:extLst>
          </p:cNvPr>
          <p:cNvSpPr>
            <a:spLocks noChangeShapeType="1"/>
          </p:cNvSpPr>
          <p:nvPr/>
        </p:nvSpPr>
        <p:spPr bwMode="auto">
          <a:xfrm>
            <a:off x="4373369"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7" name="Line 16">
            <a:extLst>
              <a:ext uri="{FF2B5EF4-FFF2-40B4-BE49-F238E27FC236}">
                <a16:creationId xmlns:a16="http://schemas.microsoft.com/office/drawing/2014/main" id="{E546C6EF-50F1-C8C4-D13F-9666FA4BEDF9}"/>
              </a:ext>
            </a:extLst>
          </p:cNvPr>
          <p:cNvSpPr>
            <a:spLocks noChangeShapeType="1"/>
          </p:cNvSpPr>
          <p:nvPr/>
        </p:nvSpPr>
        <p:spPr bwMode="auto">
          <a:xfrm>
            <a:off x="4534862"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8" name="Line 17">
            <a:extLst>
              <a:ext uri="{FF2B5EF4-FFF2-40B4-BE49-F238E27FC236}">
                <a16:creationId xmlns:a16="http://schemas.microsoft.com/office/drawing/2014/main" id="{CE817FEC-87D2-D287-0170-C67DFA8E430E}"/>
              </a:ext>
            </a:extLst>
          </p:cNvPr>
          <p:cNvSpPr>
            <a:spLocks noChangeShapeType="1"/>
          </p:cNvSpPr>
          <p:nvPr/>
        </p:nvSpPr>
        <p:spPr bwMode="auto">
          <a:xfrm>
            <a:off x="4696355" y="3110741"/>
            <a:ext cx="0" cy="557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9" name="Line 18">
            <a:extLst>
              <a:ext uri="{FF2B5EF4-FFF2-40B4-BE49-F238E27FC236}">
                <a16:creationId xmlns:a16="http://schemas.microsoft.com/office/drawing/2014/main" id="{1264DFD9-13CB-F156-B352-0C80B8DB8532}"/>
              </a:ext>
            </a:extLst>
          </p:cNvPr>
          <p:cNvSpPr>
            <a:spLocks noChangeShapeType="1"/>
          </p:cNvSpPr>
          <p:nvPr/>
        </p:nvSpPr>
        <p:spPr bwMode="auto">
          <a:xfrm>
            <a:off x="4857848"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0" name="Line 19">
            <a:extLst>
              <a:ext uri="{FF2B5EF4-FFF2-40B4-BE49-F238E27FC236}">
                <a16:creationId xmlns:a16="http://schemas.microsoft.com/office/drawing/2014/main" id="{C83CFF84-C0D6-AD8D-1A83-FA4926E3D43C}"/>
              </a:ext>
            </a:extLst>
          </p:cNvPr>
          <p:cNvSpPr>
            <a:spLocks noChangeShapeType="1"/>
          </p:cNvSpPr>
          <p:nvPr/>
        </p:nvSpPr>
        <p:spPr bwMode="auto">
          <a:xfrm>
            <a:off x="5019342"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1" name="Line 20">
            <a:extLst>
              <a:ext uri="{FF2B5EF4-FFF2-40B4-BE49-F238E27FC236}">
                <a16:creationId xmlns:a16="http://schemas.microsoft.com/office/drawing/2014/main" id="{7EBF7827-9F3C-56D4-60DF-4E4DAF409993}"/>
              </a:ext>
            </a:extLst>
          </p:cNvPr>
          <p:cNvSpPr>
            <a:spLocks noChangeShapeType="1"/>
          </p:cNvSpPr>
          <p:nvPr/>
        </p:nvSpPr>
        <p:spPr bwMode="auto">
          <a:xfrm>
            <a:off x="5180835"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2" name="Line 21">
            <a:extLst>
              <a:ext uri="{FF2B5EF4-FFF2-40B4-BE49-F238E27FC236}">
                <a16:creationId xmlns:a16="http://schemas.microsoft.com/office/drawing/2014/main" id="{824A8E87-0FE3-3D32-7D3D-9DC829DFC0EC}"/>
              </a:ext>
            </a:extLst>
          </p:cNvPr>
          <p:cNvSpPr>
            <a:spLocks noChangeShapeType="1"/>
          </p:cNvSpPr>
          <p:nvPr/>
        </p:nvSpPr>
        <p:spPr bwMode="auto">
          <a:xfrm>
            <a:off x="5342328"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3" name="Line 22">
            <a:extLst>
              <a:ext uri="{FF2B5EF4-FFF2-40B4-BE49-F238E27FC236}">
                <a16:creationId xmlns:a16="http://schemas.microsoft.com/office/drawing/2014/main" id="{24AB01BA-7859-A362-CD25-57DCF5F8C178}"/>
              </a:ext>
            </a:extLst>
          </p:cNvPr>
          <p:cNvSpPr>
            <a:spLocks noChangeShapeType="1"/>
          </p:cNvSpPr>
          <p:nvPr/>
        </p:nvSpPr>
        <p:spPr bwMode="auto">
          <a:xfrm>
            <a:off x="5503821"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4" name="Line 23">
            <a:extLst>
              <a:ext uri="{FF2B5EF4-FFF2-40B4-BE49-F238E27FC236}">
                <a16:creationId xmlns:a16="http://schemas.microsoft.com/office/drawing/2014/main" id="{A7AF8246-CD3B-4CA0-CA53-CFFABD8C68BF}"/>
              </a:ext>
            </a:extLst>
          </p:cNvPr>
          <p:cNvSpPr>
            <a:spLocks noChangeShapeType="1"/>
          </p:cNvSpPr>
          <p:nvPr/>
        </p:nvSpPr>
        <p:spPr bwMode="auto">
          <a:xfrm>
            <a:off x="5665314"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5" name="Line 24">
            <a:extLst>
              <a:ext uri="{FF2B5EF4-FFF2-40B4-BE49-F238E27FC236}">
                <a16:creationId xmlns:a16="http://schemas.microsoft.com/office/drawing/2014/main" id="{1B63AC19-1D8A-C416-0D08-84214D13CABC}"/>
              </a:ext>
            </a:extLst>
          </p:cNvPr>
          <p:cNvSpPr>
            <a:spLocks noChangeShapeType="1"/>
          </p:cNvSpPr>
          <p:nvPr/>
        </p:nvSpPr>
        <p:spPr bwMode="auto">
          <a:xfrm>
            <a:off x="5826807"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6" name="Line 25">
            <a:extLst>
              <a:ext uri="{FF2B5EF4-FFF2-40B4-BE49-F238E27FC236}">
                <a16:creationId xmlns:a16="http://schemas.microsoft.com/office/drawing/2014/main" id="{ECE0B012-8764-DF00-4624-5B953488F27B}"/>
              </a:ext>
            </a:extLst>
          </p:cNvPr>
          <p:cNvSpPr>
            <a:spLocks noChangeShapeType="1"/>
          </p:cNvSpPr>
          <p:nvPr/>
        </p:nvSpPr>
        <p:spPr bwMode="auto">
          <a:xfrm>
            <a:off x="5988301"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7" name="Line 40">
            <a:extLst>
              <a:ext uri="{FF2B5EF4-FFF2-40B4-BE49-F238E27FC236}">
                <a16:creationId xmlns:a16="http://schemas.microsoft.com/office/drawing/2014/main" id="{150DD91C-97CE-6BAE-3521-F20CE8793D06}"/>
              </a:ext>
            </a:extLst>
          </p:cNvPr>
          <p:cNvSpPr>
            <a:spLocks noChangeShapeType="1"/>
          </p:cNvSpPr>
          <p:nvPr/>
        </p:nvSpPr>
        <p:spPr bwMode="auto">
          <a:xfrm>
            <a:off x="2435451" y="2887822"/>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8" name="Line 41">
            <a:extLst>
              <a:ext uri="{FF2B5EF4-FFF2-40B4-BE49-F238E27FC236}">
                <a16:creationId xmlns:a16="http://schemas.microsoft.com/office/drawing/2014/main" id="{E331972F-5A8B-0574-AEFA-9EA6B54179CA}"/>
              </a:ext>
            </a:extLst>
          </p:cNvPr>
          <p:cNvSpPr>
            <a:spLocks noChangeShapeType="1"/>
          </p:cNvSpPr>
          <p:nvPr/>
        </p:nvSpPr>
        <p:spPr bwMode="auto">
          <a:xfrm>
            <a:off x="2435451" y="2609174"/>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9" name="Line 42">
            <a:extLst>
              <a:ext uri="{FF2B5EF4-FFF2-40B4-BE49-F238E27FC236}">
                <a16:creationId xmlns:a16="http://schemas.microsoft.com/office/drawing/2014/main" id="{BEB4221C-69FA-AC28-859C-CDAEF1D40D66}"/>
              </a:ext>
            </a:extLst>
          </p:cNvPr>
          <p:cNvSpPr>
            <a:spLocks noChangeShapeType="1"/>
          </p:cNvSpPr>
          <p:nvPr/>
        </p:nvSpPr>
        <p:spPr bwMode="auto">
          <a:xfrm>
            <a:off x="2435451" y="2330526"/>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0" name="Line 43">
            <a:extLst>
              <a:ext uri="{FF2B5EF4-FFF2-40B4-BE49-F238E27FC236}">
                <a16:creationId xmlns:a16="http://schemas.microsoft.com/office/drawing/2014/main" id="{C6149763-3E2E-A78E-82AB-DA454513021F}"/>
              </a:ext>
            </a:extLst>
          </p:cNvPr>
          <p:cNvSpPr>
            <a:spLocks noChangeShapeType="1"/>
          </p:cNvSpPr>
          <p:nvPr/>
        </p:nvSpPr>
        <p:spPr bwMode="auto">
          <a:xfrm>
            <a:off x="2435451" y="2051877"/>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1" name="Line 44">
            <a:extLst>
              <a:ext uri="{FF2B5EF4-FFF2-40B4-BE49-F238E27FC236}">
                <a16:creationId xmlns:a16="http://schemas.microsoft.com/office/drawing/2014/main" id="{94A80DD0-F65A-F7CA-0578-6DE5705D0928}"/>
              </a:ext>
            </a:extLst>
          </p:cNvPr>
          <p:cNvSpPr>
            <a:spLocks noChangeShapeType="1"/>
          </p:cNvSpPr>
          <p:nvPr/>
        </p:nvSpPr>
        <p:spPr bwMode="auto">
          <a:xfrm>
            <a:off x="2435451" y="1773229"/>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2" name="Line 45">
            <a:extLst>
              <a:ext uri="{FF2B5EF4-FFF2-40B4-BE49-F238E27FC236}">
                <a16:creationId xmlns:a16="http://schemas.microsoft.com/office/drawing/2014/main" id="{1B65DE4D-136B-53D2-33B5-86911CA5D946}"/>
              </a:ext>
            </a:extLst>
          </p:cNvPr>
          <p:cNvSpPr>
            <a:spLocks noChangeShapeType="1"/>
          </p:cNvSpPr>
          <p:nvPr/>
        </p:nvSpPr>
        <p:spPr bwMode="auto">
          <a:xfrm>
            <a:off x="2435451" y="1494580"/>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3" name="Text Box 77">
            <a:extLst>
              <a:ext uri="{FF2B5EF4-FFF2-40B4-BE49-F238E27FC236}">
                <a16:creationId xmlns:a16="http://schemas.microsoft.com/office/drawing/2014/main" id="{0D6CD798-98D5-F611-B71F-D66B3AE9EF52}"/>
              </a:ext>
            </a:extLst>
          </p:cNvPr>
          <p:cNvSpPr txBox="1">
            <a:spLocks noChangeArrowheads="1"/>
          </p:cNvSpPr>
          <p:nvPr/>
        </p:nvSpPr>
        <p:spPr bwMode="auto">
          <a:xfrm>
            <a:off x="2630207" y="3125835"/>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a:t>
            </a:r>
          </a:p>
        </p:txBody>
      </p:sp>
      <p:sp>
        <p:nvSpPr>
          <p:cNvPr id="204" name="Text Box 78">
            <a:extLst>
              <a:ext uri="{FF2B5EF4-FFF2-40B4-BE49-F238E27FC236}">
                <a16:creationId xmlns:a16="http://schemas.microsoft.com/office/drawing/2014/main" id="{2C5EBA8F-1F7F-C3F3-AF1C-8B72727C6FBA}"/>
              </a:ext>
            </a:extLst>
          </p:cNvPr>
          <p:cNvSpPr txBox="1">
            <a:spLocks noChangeArrowheads="1"/>
          </p:cNvSpPr>
          <p:nvPr/>
        </p:nvSpPr>
        <p:spPr bwMode="auto">
          <a:xfrm>
            <a:off x="2953194" y="3125835"/>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205" name="Text Box 79">
            <a:extLst>
              <a:ext uri="{FF2B5EF4-FFF2-40B4-BE49-F238E27FC236}">
                <a16:creationId xmlns:a16="http://schemas.microsoft.com/office/drawing/2014/main" id="{1EC06883-7586-0083-C2DC-39DE7A99BD81}"/>
              </a:ext>
            </a:extLst>
          </p:cNvPr>
          <p:cNvSpPr txBox="1">
            <a:spLocks noChangeArrowheads="1"/>
          </p:cNvSpPr>
          <p:nvPr/>
        </p:nvSpPr>
        <p:spPr bwMode="auto">
          <a:xfrm>
            <a:off x="3276180" y="3125835"/>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6</a:t>
            </a:r>
          </a:p>
        </p:txBody>
      </p:sp>
      <p:sp>
        <p:nvSpPr>
          <p:cNvPr id="206" name="Text Box 80">
            <a:extLst>
              <a:ext uri="{FF2B5EF4-FFF2-40B4-BE49-F238E27FC236}">
                <a16:creationId xmlns:a16="http://schemas.microsoft.com/office/drawing/2014/main" id="{1B418885-0416-082D-8EA1-DDF522245B3C}"/>
              </a:ext>
            </a:extLst>
          </p:cNvPr>
          <p:cNvSpPr txBox="1">
            <a:spLocks noChangeArrowheads="1"/>
          </p:cNvSpPr>
          <p:nvPr/>
        </p:nvSpPr>
        <p:spPr bwMode="auto">
          <a:xfrm>
            <a:off x="3608139" y="3125835"/>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8</a:t>
            </a:r>
          </a:p>
        </p:txBody>
      </p:sp>
      <p:sp>
        <p:nvSpPr>
          <p:cNvPr id="207" name="Text Box 81">
            <a:extLst>
              <a:ext uri="{FF2B5EF4-FFF2-40B4-BE49-F238E27FC236}">
                <a16:creationId xmlns:a16="http://schemas.microsoft.com/office/drawing/2014/main" id="{549946EF-5666-4F71-8D0E-6E088262F0C8}"/>
              </a:ext>
            </a:extLst>
          </p:cNvPr>
          <p:cNvSpPr txBox="1">
            <a:spLocks noChangeArrowheads="1"/>
          </p:cNvSpPr>
          <p:nvPr/>
        </p:nvSpPr>
        <p:spPr bwMode="auto">
          <a:xfrm>
            <a:off x="3877294" y="312583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10</a:t>
            </a:r>
          </a:p>
        </p:txBody>
      </p:sp>
      <p:sp>
        <p:nvSpPr>
          <p:cNvPr id="208" name="Text Box 82">
            <a:extLst>
              <a:ext uri="{FF2B5EF4-FFF2-40B4-BE49-F238E27FC236}">
                <a16:creationId xmlns:a16="http://schemas.microsoft.com/office/drawing/2014/main" id="{D88F6F59-ED6C-411B-B1FE-515415284FD1}"/>
              </a:ext>
            </a:extLst>
          </p:cNvPr>
          <p:cNvSpPr txBox="1">
            <a:spLocks noChangeArrowheads="1"/>
          </p:cNvSpPr>
          <p:nvPr/>
        </p:nvSpPr>
        <p:spPr bwMode="auto">
          <a:xfrm>
            <a:off x="4227196" y="312583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209" name="Text Box 83">
            <a:extLst>
              <a:ext uri="{FF2B5EF4-FFF2-40B4-BE49-F238E27FC236}">
                <a16:creationId xmlns:a16="http://schemas.microsoft.com/office/drawing/2014/main" id="{C94213A9-93A8-E8EC-035E-9459A42C6971}"/>
              </a:ext>
            </a:extLst>
          </p:cNvPr>
          <p:cNvSpPr txBox="1">
            <a:spLocks noChangeArrowheads="1"/>
          </p:cNvSpPr>
          <p:nvPr/>
        </p:nvSpPr>
        <p:spPr bwMode="auto">
          <a:xfrm>
            <a:off x="4532238" y="312583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14</a:t>
            </a:r>
          </a:p>
        </p:txBody>
      </p:sp>
      <p:sp>
        <p:nvSpPr>
          <p:cNvPr id="210" name="Text Box 84">
            <a:extLst>
              <a:ext uri="{FF2B5EF4-FFF2-40B4-BE49-F238E27FC236}">
                <a16:creationId xmlns:a16="http://schemas.microsoft.com/office/drawing/2014/main" id="{ED4502C8-CBE4-1BC9-2574-B68F377B9152}"/>
              </a:ext>
            </a:extLst>
          </p:cNvPr>
          <p:cNvSpPr txBox="1">
            <a:spLocks noChangeArrowheads="1"/>
          </p:cNvSpPr>
          <p:nvPr/>
        </p:nvSpPr>
        <p:spPr bwMode="auto">
          <a:xfrm>
            <a:off x="4855225" y="312583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211" name="Text Box 85">
            <a:extLst>
              <a:ext uri="{FF2B5EF4-FFF2-40B4-BE49-F238E27FC236}">
                <a16:creationId xmlns:a16="http://schemas.microsoft.com/office/drawing/2014/main" id="{93C8B79F-A719-160F-4F48-D15A490FDE2E}"/>
              </a:ext>
            </a:extLst>
          </p:cNvPr>
          <p:cNvSpPr txBox="1">
            <a:spLocks noChangeArrowheads="1"/>
          </p:cNvSpPr>
          <p:nvPr/>
        </p:nvSpPr>
        <p:spPr bwMode="auto">
          <a:xfrm>
            <a:off x="5189427" y="312583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18</a:t>
            </a:r>
          </a:p>
        </p:txBody>
      </p:sp>
      <p:sp>
        <p:nvSpPr>
          <p:cNvPr id="212" name="Text Box 86">
            <a:extLst>
              <a:ext uri="{FF2B5EF4-FFF2-40B4-BE49-F238E27FC236}">
                <a16:creationId xmlns:a16="http://schemas.microsoft.com/office/drawing/2014/main" id="{3AD1CCF7-C41A-BA43-FA8D-34F185032A02}"/>
              </a:ext>
            </a:extLst>
          </p:cNvPr>
          <p:cNvSpPr txBox="1">
            <a:spLocks noChangeArrowheads="1"/>
          </p:cNvSpPr>
          <p:nvPr/>
        </p:nvSpPr>
        <p:spPr bwMode="auto">
          <a:xfrm>
            <a:off x="5512412" y="312583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213" name="Text Box 87">
            <a:extLst>
              <a:ext uri="{FF2B5EF4-FFF2-40B4-BE49-F238E27FC236}">
                <a16:creationId xmlns:a16="http://schemas.microsoft.com/office/drawing/2014/main" id="{F0DCA4A4-B2D4-293A-CCC9-4D8C2288B208}"/>
              </a:ext>
            </a:extLst>
          </p:cNvPr>
          <p:cNvSpPr txBox="1">
            <a:spLocks noChangeArrowheads="1"/>
          </p:cNvSpPr>
          <p:nvPr/>
        </p:nvSpPr>
        <p:spPr bwMode="auto">
          <a:xfrm>
            <a:off x="5826427" y="3131638"/>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22</a:t>
            </a:r>
          </a:p>
        </p:txBody>
      </p:sp>
      <p:sp>
        <p:nvSpPr>
          <p:cNvPr id="214" name="Text Box 89">
            <a:extLst>
              <a:ext uri="{FF2B5EF4-FFF2-40B4-BE49-F238E27FC236}">
                <a16:creationId xmlns:a16="http://schemas.microsoft.com/office/drawing/2014/main" id="{D4FF8527-23E9-1062-E1D5-12DE22AE9117}"/>
              </a:ext>
            </a:extLst>
          </p:cNvPr>
          <p:cNvSpPr txBox="1">
            <a:spLocks noChangeArrowheads="1"/>
          </p:cNvSpPr>
          <p:nvPr/>
        </p:nvSpPr>
        <p:spPr bwMode="auto">
          <a:xfrm>
            <a:off x="2334136" y="3125835"/>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215" name="Text Box 90">
            <a:extLst>
              <a:ext uri="{FF2B5EF4-FFF2-40B4-BE49-F238E27FC236}">
                <a16:creationId xmlns:a16="http://schemas.microsoft.com/office/drawing/2014/main" id="{95DFEB1D-8C6C-EECE-75F4-1C07E6711072}"/>
              </a:ext>
            </a:extLst>
          </p:cNvPr>
          <p:cNvSpPr txBox="1">
            <a:spLocks noChangeArrowheads="1"/>
          </p:cNvSpPr>
          <p:nvPr/>
        </p:nvSpPr>
        <p:spPr bwMode="auto">
          <a:xfrm>
            <a:off x="2247041" y="3016698"/>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216" name="Text Box 91">
            <a:extLst>
              <a:ext uri="{FF2B5EF4-FFF2-40B4-BE49-F238E27FC236}">
                <a16:creationId xmlns:a16="http://schemas.microsoft.com/office/drawing/2014/main" id="{F47670E8-9A22-FFFD-7533-B71B7BA21E8C}"/>
              </a:ext>
            </a:extLst>
          </p:cNvPr>
          <p:cNvSpPr txBox="1">
            <a:spLocks noChangeArrowheads="1"/>
          </p:cNvSpPr>
          <p:nvPr/>
        </p:nvSpPr>
        <p:spPr bwMode="auto">
          <a:xfrm>
            <a:off x="2233393" y="2738050"/>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217" name="Text Box 92">
            <a:extLst>
              <a:ext uri="{FF2B5EF4-FFF2-40B4-BE49-F238E27FC236}">
                <a16:creationId xmlns:a16="http://schemas.microsoft.com/office/drawing/2014/main" id="{398E9B3F-7B6A-6873-3300-8CB01E93908E}"/>
              </a:ext>
            </a:extLst>
          </p:cNvPr>
          <p:cNvSpPr txBox="1">
            <a:spLocks noChangeArrowheads="1"/>
          </p:cNvSpPr>
          <p:nvPr/>
        </p:nvSpPr>
        <p:spPr bwMode="auto">
          <a:xfrm>
            <a:off x="2233393" y="2468688"/>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218" name="Text Box 93">
            <a:extLst>
              <a:ext uri="{FF2B5EF4-FFF2-40B4-BE49-F238E27FC236}">
                <a16:creationId xmlns:a16="http://schemas.microsoft.com/office/drawing/2014/main" id="{C9C5E5B0-95DA-F694-A175-2910A99C8607}"/>
              </a:ext>
            </a:extLst>
          </p:cNvPr>
          <p:cNvSpPr txBox="1">
            <a:spLocks noChangeArrowheads="1"/>
          </p:cNvSpPr>
          <p:nvPr/>
        </p:nvSpPr>
        <p:spPr bwMode="auto">
          <a:xfrm>
            <a:off x="2152647" y="2199329"/>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12</a:t>
            </a:r>
          </a:p>
        </p:txBody>
      </p:sp>
      <p:sp>
        <p:nvSpPr>
          <p:cNvPr id="219" name="Text Box 94">
            <a:extLst>
              <a:ext uri="{FF2B5EF4-FFF2-40B4-BE49-F238E27FC236}">
                <a16:creationId xmlns:a16="http://schemas.microsoft.com/office/drawing/2014/main" id="{EFC00003-52B2-CD3E-5796-97A78363AA47}"/>
              </a:ext>
            </a:extLst>
          </p:cNvPr>
          <p:cNvSpPr txBox="1">
            <a:spLocks noChangeArrowheads="1"/>
          </p:cNvSpPr>
          <p:nvPr/>
        </p:nvSpPr>
        <p:spPr bwMode="auto">
          <a:xfrm>
            <a:off x="2152647" y="1929969"/>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220" name="Text Box 95">
            <a:extLst>
              <a:ext uri="{FF2B5EF4-FFF2-40B4-BE49-F238E27FC236}">
                <a16:creationId xmlns:a16="http://schemas.microsoft.com/office/drawing/2014/main" id="{AFCFF702-C66A-F508-D4F3-5A75F7C41149}"/>
              </a:ext>
            </a:extLst>
          </p:cNvPr>
          <p:cNvSpPr txBox="1">
            <a:spLocks noChangeArrowheads="1"/>
          </p:cNvSpPr>
          <p:nvPr/>
        </p:nvSpPr>
        <p:spPr bwMode="auto">
          <a:xfrm>
            <a:off x="2152647" y="1651321"/>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222" name="Oval 102">
            <a:extLst>
              <a:ext uri="{FF2B5EF4-FFF2-40B4-BE49-F238E27FC236}">
                <a16:creationId xmlns:a16="http://schemas.microsoft.com/office/drawing/2014/main" id="{0D5AE56D-AFB4-0C63-7EE8-0B887F3A85EE}"/>
              </a:ext>
            </a:extLst>
          </p:cNvPr>
          <p:cNvSpPr>
            <a:spLocks noChangeArrowheads="1"/>
          </p:cNvSpPr>
          <p:nvPr/>
        </p:nvSpPr>
        <p:spPr bwMode="auto">
          <a:xfrm>
            <a:off x="2886286" y="2581309"/>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3" name="Oval 103">
            <a:extLst>
              <a:ext uri="{FF2B5EF4-FFF2-40B4-BE49-F238E27FC236}">
                <a16:creationId xmlns:a16="http://schemas.microsoft.com/office/drawing/2014/main" id="{C8E56C47-83C8-9220-37F7-18F54D14A7B0}"/>
              </a:ext>
            </a:extLst>
          </p:cNvPr>
          <p:cNvSpPr>
            <a:spLocks noChangeArrowheads="1"/>
          </p:cNvSpPr>
          <p:nvPr/>
        </p:nvSpPr>
        <p:spPr bwMode="auto">
          <a:xfrm>
            <a:off x="2724793" y="2859958"/>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4" name="Oval 104">
            <a:extLst>
              <a:ext uri="{FF2B5EF4-FFF2-40B4-BE49-F238E27FC236}">
                <a16:creationId xmlns:a16="http://schemas.microsoft.com/office/drawing/2014/main" id="{976DDF0E-63E0-AEC9-3445-68DD1E69DC13}"/>
              </a:ext>
            </a:extLst>
          </p:cNvPr>
          <p:cNvSpPr>
            <a:spLocks noChangeArrowheads="1"/>
          </p:cNvSpPr>
          <p:nvPr/>
        </p:nvSpPr>
        <p:spPr bwMode="auto">
          <a:xfrm>
            <a:off x="2408535" y="3041079"/>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5" name="Oval 105">
            <a:extLst>
              <a:ext uri="{FF2B5EF4-FFF2-40B4-BE49-F238E27FC236}">
                <a16:creationId xmlns:a16="http://schemas.microsoft.com/office/drawing/2014/main" id="{BAE9F29A-79E9-50B1-5644-269BE1EEA16C}"/>
              </a:ext>
            </a:extLst>
          </p:cNvPr>
          <p:cNvSpPr>
            <a:spLocks noChangeArrowheads="1"/>
          </p:cNvSpPr>
          <p:nvPr/>
        </p:nvSpPr>
        <p:spPr bwMode="auto">
          <a:xfrm>
            <a:off x="2556570" y="2992316"/>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6" name="Oval 106">
            <a:extLst>
              <a:ext uri="{FF2B5EF4-FFF2-40B4-BE49-F238E27FC236}">
                <a16:creationId xmlns:a16="http://schemas.microsoft.com/office/drawing/2014/main" id="{E6AE98C5-008D-1F3B-5435-E1F51A30D6CA}"/>
              </a:ext>
            </a:extLst>
          </p:cNvPr>
          <p:cNvSpPr>
            <a:spLocks noChangeArrowheads="1"/>
          </p:cNvSpPr>
          <p:nvPr/>
        </p:nvSpPr>
        <p:spPr bwMode="auto">
          <a:xfrm>
            <a:off x="3047779" y="2021690"/>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7" name="Oval 107">
            <a:extLst>
              <a:ext uri="{FF2B5EF4-FFF2-40B4-BE49-F238E27FC236}">
                <a16:creationId xmlns:a16="http://schemas.microsoft.com/office/drawing/2014/main" id="{34DB09A3-3EBD-0A74-E3C8-EE093EAFAACA}"/>
              </a:ext>
            </a:extLst>
          </p:cNvPr>
          <p:cNvSpPr>
            <a:spLocks noChangeArrowheads="1"/>
          </p:cNvSpPr>
          <p:nvPr/>
        </p:nvSpPr>
        <p:spPr bwMode="auto">
          <a:xfrm>
            <a:off x="3209272" y="1947384"/>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8" name="Oval 108">
            <a:extLst>
              <a:ext uri="{FF2B5EF4-FFF2-40B4-BE49-F238E27FC236}">
                <a16:creationId xmlns:a16="http://schemas.microsoft.com/office/drawing/2014/main" id="{3B41C21A-6A20-3040-33BC-A4D36C9C421A}"/>
              </a:ext>
            </a:extLst>
          </p:cNvPr>
          <p:cNvSpPr>
            <a:spLocks noChangeArrowheads="1"/>
          </p:cNvSpPr>
          <p:nvPr/>
        </p:nvSpPr>
        <p:spPr bwMode="auto">
          <a:xfrm>
            <a:off x="3370765" y="1881205"/>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9" name="Oval 109">
            <a:extLst>
              <a:ext uri="{FF2B5EF4-FFF2-40B4-BE49-F238E27FC236}">
                <a16:creationId xmlns:a16="http://schemas.microsoft.com/office/drawing/2014/main" id="{59EDE75F-EC5C-2F9F-F097-94DCF70A94B4}"/>
              </a:ext>
            </a:extLst>
          </p:cNvPr>
          <p:cNvSpPr>
            <a:spLocks noChangeArrowheads="1"/>
          </p:cNvSpPr>
          <p:nvPr/>
        </p:nvSpPr>
        <p:spPr bwMode="auto">
          <a:xfrm>
            <a:off x="3697116" y="1741881"/>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0" name="Oval 110">
            <a:extLst>
              <a:ext uri="{FF2B5EF4-FFF2-40B4-BE49-F238E27FC236}">
                <a16:creationId xmlns:a16="http://schemas.microsoft.com/office/drawing/2014/main" id="{E317A1C0-D7DF-AC27-50B2-754774715EDD}"/>
              </a:ext>
            </a:extLst>
          </p:cNvPr>
          <p:cNvSpPr>
            <a:spLocks noChangeArrowheads="1"/>
          </p:cNvSpPr>
          <p:nvPr/>
        </p:nvSpPr>
        <p:spPr bwMode="auto">
          <a:xfrm>
            <a:off x="3532258" y="1811543"/>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1" name="Oval 113">
            <a:extLst>
              <a:ext uri="{FF2B5EF4-FFF2-40B4-BE49-F238E27FC236}">
                <a16:creationId xmlns:a16="http://schemas.microsoft.com/office/drawing/2014/main" id="{120DBF74-99FB-9A18-75BE-1012082728A9}"/>
              </a:ext>
            </a:extLst>
          </p:cNvPr>
          <p:cNvSpPr>
            <a:spLocks noChangeArrowheads="1"/>
          </p:cNvSpPr>
          <p:nvPr/>
        </p:nvSpPr>
        <p:spPr bwMode="auto">
          <a:xfrm>
            <a:off x="3858609" y="1672219"/>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14">
            <a:extLst>
              <a:ext uri="{FF2B5EF4-FFF2-40B4-BE49-F238E27FC236}">
                <a16:creationId xmlns:a16="http://schemas.microsoft.com/office/drawing/2014/main" id="{02CD35CC-7128-306E-DFE7-24F9B7151DF1}"/>
              </a:ext>
            </a:extLst>
          </p:cNvPr>
          <p:cNvSpPr>
            <a:spLocks noChangeArrowheads="1"/>
          </p:cNvSpPr>
          <p:nvPr/>
        </p:nvSpPr>
        <p:spPr bwMode="auto">
          <a:xfrm>
            <a:off x="4016738" y="1606040"/>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Oval 116">
            <a:extLst>
              <a:ext uri="{FF2B5EF4-FFF2-40B4-BE49-F238E27FC236}">
                <a16:creationId xmlns:a16="http://schemas.microsoft.com/office/drawing/2014/main" id="{033DAB03-E4A0-050B-D035-855168032610}"/>
              </a:ext>
            </a:extLst>
          </p:cNvPr>
          <p:cNvSpPr>
            <a:spLocks noChangeArrowheads="1"/>
          </p:cNvSpPr>
          <p:nvPr/>
        </p:nvSpPr>
        <p:spPr bwMode="auto">
          <a:xfrm>
            <a:off x="4336360" y="1456267"/>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4" name="Oval 117">
            <a:extLst>
              <a:ext uri="{FF2B5EF4-FFF2-40B4-BE49-F238E27FC236}">
                <a16:creationId xmlns:a16="http://schemas.microsoft.com/office/drawing/2014/main" id="{5C318BD6-0D22-95F6-2A84-58F7306EB3A1}"/>
              </a:ext>
            </a:extLst>
          </p:cNvPr>
          <p:cNvSpPr>
            <a:spLocks noChangeArrowheads="1"/>
          </p:cNvSpPr>
          <p:nvPr/>
        </p:nvSpPr>
        <p:spPr bwMode="auto">
          <a:xfrm>
            <a:off x="4178231" y="1525929"/>
            <a:ext cx="62803" cy="65018"/>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5" name="Freeform 118">
            <a:extLst>
              <a:ext uri="{FF2B5EF4-FFF2-40B4-BE49-F238E27FC236}">
                <a16:creationId xmlns:a16="http://schemas.microsoft.com/office/drawing/2014/main" id="{354BD3CC-35D1-B3D7-8B4F-F34344718894}"/>
              </a:ext>
            </a:extLst>
          </p:cNvPr>
          <p:cNvSpPr>
            <a:spLocks/>
          </p:cNvSpPr>
          <p:nvPr/>
        </p:nvSpPr>
        <p:spPr bwMode="auto">
          <a:xfrm>
            <a:off x="2381620" y="1494580"/>
            <a:ext cx="1988384" cy="1590618"/>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6" name="Text Box 134">
            <a:extLst>
              <a:ext uri="{FF2B5EF4-FFF2-40B4-BE49-F238E27FC236}">
                <a16:creationId xmlns:a16="http://schemas.microsoft.com/office/drawing/2014/main" id="{AFAD36BF-5930-6D20-E861-2FFD08762DE6}"/>
              </a:ext>
            </a:extLst>
          </p:cNvPr>
          <p:cNvSpPr txBox="1">
            <a:spLocks noChangeArrowheads="1"/>
          </p:cNvSpPr>
          <p:nvPr/>
        </p:nvSpPr>
        <p:spPr bwMode="auto">
          <a:xfrm>
            <a:off x="6824924" y="3020180"/>
            <a:ext cx="11464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237" name="Text Box 135">
            <a:extLst>
              <a:ext uri="{FF2B5EF4-FFF2-40B4-BE49-F238E27FC236}">
                <a16:creationId xmlns:a16="http://schemas.microsoft.com/office/drawing/2014/main" id="{B30497EB-DFFD-9A23-B133-28480E0FC320}"/>
              </a:ext>
            </a:extLst>
          </p:cNvPr>
          <p:cNvSpPr txBox="1">
            <a:spLocks noChangeArrowheads="1"/>
          </p:cNvSpPr>
          <p:nvPr/>
        </p:nvSpPr>
        <p:spPr bwMode="auto">
          <a:xfrm>
            <a:off x="1777141" y="1115751"/>
            <a:ext cx="1401563" cy="29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itchFamily="34" charset="-122"/>
                <a:ea typeface="微软雅黑"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239" name="Line 156">
            <a:extLst>
              <a:ext uri="{FF2B5EF4-FFF2-40B4-BE49-F238E27FC236}">
                <a16:creationId xmlns:a16="http://schemas.microsoft.com/office/drawing/2014/main" id="{3E8CB663-AFB7-440B-E332-5E020643EFE2}"/>
              </a:ext>
            </a:extLst>
          </p:cNvPr>
          <p:cNvSpPr>
            <a:spLocks noChangeShapeType="1"/>
          </p:cNvSpPr>
          <p:nvPr/>
        </p:nvSpPr>
        <p:spPr bwMode="auto">
          <a:xfrm>
            <a:off x="2489282" y="2051877"/>
            <a:ext cx="592142"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nvGrpSpPr>
          <p:cNvPr id="2" name="组合 1">
            <a:extLst>
              <a:ext uri="{FF2B5EF4-FFF2-40B4-BE49-F238E27FC236}">
                <a16:creationId xmlns:a16="http://schemas.microsoft.com/office/drawing/2014/main" id="{0254CA3A-7AF7-74CD-D6D8-3ABA2371CDE9}"/>
              </a:ext>
            </a:extLst>
          </p:cNvPr>
          <p:cNvGrpSpPr/>
          <p:nvPr/>
        </p:nvGrpSpPr>
        <p:grpSpPr>
          <a:xfrm>
            <a:off x="2152647" y="1372672"/>
            <a:ext cx="2229694" cy="246221"/>
            <a:chOff x="2152647" y="1372672"/>
            <a:chExt cx="2229694" cy="246221"/>
          </a:xfrm>
        </p:grpSpPr>
        <p:sp>
          <p:nvSpPr>
            <p:cNvPr id="221" name="Text Box 96">
              <a:extLst>
                <a:ext uri="{FF2B5EF4-FFF2-40B4-BE49-F238E27FC236}">
                  <a16:creationId xmlns:a16="http://schemas.microsoft.com/office/drawing/2014/main" id="{23592C00-4628-7455-1C1A-50DB41E2920E}"/>
                </a:ext>
              </a:extLst>
            </p:cNvPr>
            <p:cNvSpPr txBox="1">
              <a:spLocks noChangeArrowheads="1"/>
            </p:cNvSpPr>
            <p:nvPr/>
          </p:nvSpPr>
          <p:spPr bwMode="auto">
            <a:xfrm>
              <a:off x="2152647" y="1372672"/>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40" name="Line 146">
              <a:extLst>
                <a:ext uri="{FF2B5EF4-FFF2-40B4-BE49-F238E27FC236}">
                  <a16:creationId xmlns:a16="http://schemas.microsoft.com/office/drawing/2014/main" id="{4CAA3AE8-9A8A-6BFB-9E04-89E56EEE5E24}"/>
                </a:ext>
              </a:extLst>
            </p:cNvPr>
            <p:cNvSpPr>
              <a:spLocks noChangeShapeType="1"/>
            </p:cNvSpPr>
            <p:nvPr/>
          </p:nvSpPr>
          <p:spPr bwMode="auto">
            <a:xfrm flipV="1">
              <a:off x="2489282" y="1489936"/>
              <a:ext cx="1893059" cy="4644"/>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sp>
        <p:nvSpPr>
          <p:cNvPr id="242" name="Text Box 205">
            <a:extLst>
              <a:ext uri="{FF2B5EF4-FFF2-40B4-BE49-F238E27FC236}">
                <a16:creationId xmlns:a16="http://schemas.microsoft.com/office/drawing/2014/main" id="{186D1E0F-9EA4-56FF-579C-63241CBAF3F9}"/>
              </a:ext>
            </a:extLst>
          </p:cNvPr>
          <p:cNvSpPr txBox="1">
            <a:spLocks noChangeArrowheads="1"/>
          </p:cNvSpPr>
          <p:nvPr/>
        </p:nvSpPr>
        <p:spPr bwMode="auto">
          <a:xfrm>
            <a:off x="1317046" y="1862629"/>
            <a:ext cx="846706" cy="461665"/>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err="1">
                <a:ln>
                  <a:noFill/>
                </a:ln>
                <a:solidFill>
                  <a:srgbClr val="CC00CC"/>
                </a:solidFill>
                <a:effectLst/>
                <a:uLnTx/>
                <a:uFillTx/>
                <a:latin typeface="微软雅黑" pitchFamily="34" charset="-122"/>
                <a:ea typeface="微软雅黑"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243" name="Line 215">
            <a:extLst>
              <a:ext uri="{FF2B5EF4-FFF2-40B4-BE49-F238E27FC236}">
                <a16:creationId xmlns:a16="http://schemas.microsoft.com/office/drawing/2014/main" id="{68CB7E4F-0D0D-844B-0D21-D08C905C553E}"/>
              </a:ext>
            </a:extLst>
          </p:cNvPr>
          <p:cNvSpPr>
            <a:spLocks noChangeShapeType="1"/>
          </p:cNvSpPr>
          <p:nvPr/>
        </p:nvSpPr>
        <p:spPr bwMode="auto">
          <a:xfrm flipV="1">
            <a:off x="2085549" y="2072776"/>
            <a:ext cx="151400"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3" name="Line 147">
            <a:extLst>
              <a:ext uri="{FF2B5EF4-FFF2-40B4-BE49-F238E27FC236}">
                <a16:creationId xmlns:a16="http://schemas.microsoft.com/office/drawing/2014/main" id="{0A1BA92A-2A4C-FD6C-BFB4-C2BFD34EABE5}"/>
              </a:ext>
            </a:extLst>
          </p:cNvPr>
          <p:cNvSpPr>
            <a:spLocks noChangeShapeType="1"/>
          </p:cNvSpPr>
          <p:nvPr/>
        </p:nvSpPr>
        <p:spPr bwMode="auto">
          <a:xfrm rot="10800000">
            <a:off x="2501618" y="2329365"/>
            <a:ext cx="2853046"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54" name="直接连接符 115">
            <a:extLst>
              <a:ext uri="{FF2B5EF4-FFF2-40B4-BE49-F238E27FC236}">
                <a16:creationId xmlns:a16="http://schemas.microsoft.com/office/drawing/2014/main" id="{C669C135-9B7A-A8AA-46F6-40BE6E8E1383}"/>
              </a:ext>
            </a:extLst>
          </p:cNvPr>
          <p:cNvCxnSpPr>
            <a:cxnSpLocks noChangeShapeType="1"/>
          </p:cNvCxnSpPr>
          <p:nvPr/>
        </p:nvCxnSpPr>
        <p:spPr bwMode="auto">
          <a:xfrm>
            <a:off x="4373369" y="1487614"/>
            <a:ext cx="161493" cy="1563915"/>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55" name="Rectangle 161">
            <a:extLst>
              <a:ext uri="{FF2B5EF4-FFF2-40B4-BE49-F238E27FC236}">
                <a16:creationId xmlns:a16="http://schemas.microsoft.com/office/drawing/2014/main" id="{AD528D2B-7F8B-A66D-5C7D-BAE944DA6091}"/>
              </a:ext>
            </a:extLst>
          </p:cNvPr>
          <p:cNvSpPr>
            <a:spLocks noChangeArrowheads="1"/>
          </p:cNvSpPr>
          <p:nvPr/>
        </p:nvSpPr>
        <p:spPr bwMode="auto">
          <a:xfrm>
            <a:off x="2860460" y="1754060"/>
            <a:ext cx="305043" cy="254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58" name="Rectangle 161">
            <a:extLst>
              <a:ext uri="{FF2B5EF4-FFF2-40B4-BE49-F238E27FC236}">
                <a16:creationId xmlns:a16="http://schemas.microsoft.com/office/drawing/2014/main" id="{7F67DF86-0A80-4BC0-926E-F0CBE7F4C5B7}"/>
              </a:ext>
            </a:extLst>
          </p:cNvPr>
          <p:cNvSpPr>
            <a:spLocks noChangeArrowheads="1"/>
          </p:cNvSpPr>
          <p:nvPr/>
        </p:nvSpPr>
        <p:spPr bwMode="auto">
          <a:xfrm>
            <a:off x="4233941" y="1215721"/>
            <a:ext cx="253455" cy="21130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62" name="Line 24">
            <a:extLst>
              <a:ext uri="{FF2B5EF4-FFF2-40B4-BE49-F238E27FC236}">
                <a16:creationId xmlns:a16="http://schemas.microsoft.com/office/drawing/2014/main" id="{2F091C32-4772-EFC2-B972-1A974ED82CE1}"/>
              </a:ext>
            </a:extLst>
          </p:cNvPr>
          <p:cNvSpPr>
            <a:spLocks noChangeShapeType="1"/>
          </p:cNvSpPr>
          <p:nvPr/>
        </p:nvSpPr>
        <p:spPr bwMode="auto">
          <a:xfrm>
            <a:off x="6309044" y="3050367"/>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3" name="Line 22">
            <a:extLst>
              <a:ext uri="{FF2B5EF4-FFF2-40B4-BE49-F238E27FC236}">
                <a16:creationId xmlns:a16="http://schemas.microsoft.com/office/drawing/2014/main" id="{C8D7A8B7-9DC4-39EC-077C-6328348E76AD}"/>
              </a:ext>
            </a:extLst>
          </p:cNvPr>
          <p:cNvSpPr>
            <a:spLocks noChangeShapeType="1"/>
          </p:cNvSpPr>
          <p:nvPr/>
        </p:nvSpPr>
        <p:spPr bwMode="auto">
          <a:xfrm>
            <a:off x="6145308" y="3053851"/>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4" name="Text Box 87">
            <a:extLst>
              <a:ext uri="{FF2B5EF4-FFF2-40B4-BE49-F238E27FC236}">
                <a16:creationId xmlns:a16="http://schemas.microsoft.com/office/drawing/2014/main" id="{28147DE2-867F-4278-6D3B-51E44973361B}"/>
              </a:ext>
            </a:extLst>
          </p:cNvPr>
          <p:cNvSpPr txBox="1">
            <a:spLocks noChangeArrowheads="1"/>
          </p:cNvSpPr>
          <p:nvPr/>
        </p:nvSpPr>
        <p:spPr bwMode="auto">
          <a:xfrm>
            <a:off x="6129227" y="3129318"/>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24</a:t>
            </a:r>
          </a:p>
        </p:txBody>
      </p:sp>
      <p:sp>
        <p:nvSpPr>
          <p:cNvPr id="265" name="Line 22">
            <a:extLst>
              <a:ext uri="{FF2B5EF4-FFF2-40B4-BE49-F238E27FC236}">
                <a16:creationId xmlns:a16="http://schemas.microsoft.com/office/drawing/2014/main" id="{AC7E32F7-E6AE-5108-71EC-8F460DFB55D0}"/>
              </a:ext>
            </a:extLst>
          </p:cNvPr>
          <p:cNvSpPr>
            <a:spLocks noChangeShapeType="1"/>
          </p:cNvSpPr>
          <p:nvPr/>
        </p:nvSpPr>
        <p:spPr bwMode="auto">
          <a:xfrm>
            <a:off x="6477266" y="3059656"/>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8" name="Text Box 206">
            <a:extLst>
              <a:ext uri="{FF2B5EF4-FFF2-40B4-BE49-F238E27FC236}">
                <a16:creationId xmlns:a16="http://schemas.microsoft.com/office/drawing/2014/main" id="{AD6A9FA0-F1F2-CAF0-8B06-207AECE650CB}"/>
              </a:ext>
            </a:extLst>
          </p:cNvPr>
          <p:cNvSpPr txBox="1">
            <a:spLocks noChangeArrowheads="1"/>
          </p:cNvSpPr>
          <p:nvPr/>
        </p:nvSpPr>
        <p:spPr bwMode="auto">
          <a:xfrm rot="20205303">
            <a:off x="3041974" y="1563882"/>
            <a:ext cx="858268" cy="29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cxnSp>
        <p:nvCxnSpPr>
          <p:cNvPr id="279" name="直接连接符 278">
            <a:extLst>
              <a:ext uri="{FF2B5EF4-FFF2-40B4-BE49-F238E27FC236}">
                <a16:creationId xmlns:a16="http://schemas.microsoft.com/office/drawing/2014/main" id="{719C3658-CBF5-3FC9-CF47-41734AD05E76}"/>
              </a:ext>
            </a:extLst>
          </p:cNvPr>
          <p:cNvCxnSpPr>
            <a:cxnSpLocks noChangeShapeType="1"/>
          </p:cNvCxnSpPr>
          <p:nvPr/>
        </p:nvCxnSpPr>
        <p:spPr bwMode="auto">
          <a:xfrm flipH="1">
            <a:off x="4372247" y="1578175"/>
            <a:ext cx="3365" cy="1518634"/>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80" name="直接连接符 119">
            <a:extLst>
              <a:ext uri="{FF2B5EF4-FFF2-40B4-BE49-F238E27FC236}">
                <a16:creationId xmlns:a16="http://schemas.microsoft.com/office/drawing/2014/main" id="{1DE4E7D8-15FA-39AA-8F9D-06A8A454D884}"/>
              </a:ext>
            </a:extLst>
          </p:cNvPr>
          <p:cNvCxnSpPr>
            <a:cxnSpLocks noChangeShapeType="1"/>
          </p:cNvCxnSpPr>
          <p:nvPr/>
        </p:nvCxnSpPr>
        <p:spPr bwMode="auto">
          <a:xfrm>
            <a:off x="3080302" y="2131989"/>
            <a:ext cx="0" cy="955531"/>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sp>
        <p:nvSpPr>
          <p:cNvPr id="281" name="Line 167">
            <a:extLst>
              <a:ext uri="{FF2B5EF4-FFF2-40B4-BE49-F238E27FC236}">
                <a16:creationId xmlns:a16="http://schemas.microsoft.com/office/drawing/2014/main" id="{79BE69BF-2D7F-176D-DF49-63AB162D0862}"/>
              </a:ext>
            </a:extLst>
          </p:cNvPr>
          <p:cNvSpPr>
            <a:spLocks noChangeShapeType="1"/>
          </p:cNvSpPr>
          <p:nvPr/>
        </p:nvSpPr>
        <p:spPr bwMode="auto">
          <a:xfrm>
            <a:off x="2058564" y="2960685"/>
            <a:ext cx="376817" cy="111459"/>
          </a:xfrm>
          <a:prstGeom prst="line">
            <a:avLst/>
          </a:prstGeom>
          <a:noFill/>
          <a:ln w="19050">
            <a:solidFill>
              <a:srgbClr val="FF00FF"/>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82" name="Line 167">
            <a:extLst>
              <a:ext uri="{FF2B5EF4-FFF2-40B4-BE49-F238E27FC236}">
                <a16:creationId xmlns:a16="http://schemas.microsoft.com/office/drawing/2014/main" id="{B1F6ABAD-FD0D-9188-6CD3-40F4087EBBA8}"/>
              </a:ext>
            </a:extLst>
          </p:cNvPr>
          <p:cNvSpPr>
            <a:spLocks noChangeShapeType="1"/>
          </p:cNvSpPr>
          <p:nvPr/>
        </p:nvSpPr>
        <p:spPr bwMode="auto">
          <a:xfrm>
            <a:off x="4264620" y="2953682"/>
            <a:ext cx="262426" cy="98688"/>
          </a:xfrm>
          <a:prstGeom prst="line">
            <a:avLst/>
          </a:prstGeom>
          <a:noFill/>
          <a:ln w="19050">
            <a:solidFill>
              <a:srgbClr val="FF00FF"/>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83" name="Text Box 209">
            <a:extLst>
              <a:ext uri="{FF2B5EF4-FFF2-40B4-BE49-F238E27FC236}">
                <a16:creationId xmlns:a16="http://schemas.microsoft.com/office/drawing/2014/main" id="{1D686A62-E960-C9A0-5912-B7790A00CE88}"/>
              </a:ext>
            </a:extLst>
          </p:cNvPr>
          <p:cNvSpPr txBox="1">
            <a:spLocks noChangeArrowheads="1"/>
          </p:cNvSpPr>
          <p:nvPr/>
        </p:nvSpPr>
        <p:spPr bwMode="auto">
          <a:xfrm>
            <a:off x="1393490" y="2710463"/>
            <a:ext cx="753634" cy="276999"/>
          </a:xfrm>
          <a:prstGeom prst="rect">
            <a:avLst/>
          </a:prstGeom>
          <a:solidFill>
            <a:srgbClr val="00FF99"/>
          </a:solidFill>
          <a:ln w="9525">
            <a:solidFill>
              <a:srgbClr val="000000"/>
            </a:solidFill>
            <a:miter lim="800000"/>
            <a:headEnd/>
            <a:tailEnd/>
          </a:ln>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ysClr val="windowText" lastClr="000000"/>
                </a:solidFill>
                <a:effectLst/>
                <a:uLnTx/>
                <a:uFillTx/>
                <a:latin typeface="微软雅黑" pitchFamily="34" charset="-122"/>
                <a:ea typeface="微软雅黑" pitchFamily="34" charset="-122"/>
              </a:rPr>
              <a:t>慢启动</a:t>
            </a:r>
          </a:p>
        </p:txBody>
      </p:sp>
      <p:sp>
        <p:nvSpPr>
          <p:cNvPr id="284" name="Text Box 209">
            <a:extLst>
              <a:ext uri="{FF2B5EF4-FFF2-40B4-BE49-F238E27FC236}">
                <a16:creationId xmlns:a16="http://schemas.microsoft.com/office/drawing/2014/main" id="{D4D76AA5-A4A6-24BD-8FBA-108B00C19541}"/>
              </a:ext>
            </a:extLst>
          </p:cNvPr>
          <p:cNvSpPr txBox="1">
            <a:spLocks noChangeArrowheads="1"/>
          </p:cNvSpPr>
          <p:nvPr/>
        </p:nvSpPr>
        <p:spPr bwMode="auto">
          <a:xfrm>
            <a:off x="3532258" y="2694952"/>
            <a:ext cx="753635" cy="276999"/>
          </a:xfrm>
          <a:prstGeom prst="rect">
            <a:avLst/>
          </a:prstGeom>
          <a:solidFill>
            <a:srgbClr val="00FF99"/>
          </a:solidFill>
          <a:ln w="9525">
            <a:solidFill>
              <a:srgbClr val="000000"/>
            </a:solidFill>
            <a:miter lim="800000"/>
            <a:headEnd/>
            <a:tailEnd/>
          </a:ln>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ysClr val="windowText" lastClr="000000"/>
                </a:solidFill>
                <a:effectLst/>
                <a:uLnTx/>
                <a:uFillTx/>
                <a:latin typeface="微软雅黑" pitchFamily="34" charset="-122"/>
                <a:ea typeface="微软雅黑" pitchFamily="34" charset="-122"/>
              </a:rPr>
              <a:t>慢启动</a:t>
            </a:r>
          </a:p>
        </p:txBody>
      </p:sp>
      <p:sp>
        <p:nvSpPr>
          <p:cNvPr id="3" name="文本框 2">
            <a:extLst>
              <a:ext uri="{FF2B5EF4-FFF2-40B4-BE49-F238E27FC236}">
                <a16:creationId xmlns:a16="http://schemas.microsoft.com/office/drawing/2014/main" id="{66038DEB-CFAC-DABF-52C6-B7CA09059C22}"/>
              </a:ext>
            </a:extLst>
          </p:cNvPr>
          <p:cNvSpPr txBox="1"/>
          <p:nvPr/>
        </p:nvSpPr>
        <p:spPr>
          <a:xfrm>
            <a:off x="1539778" y="4130213"/>
            <a:ext cx="6359234" cy="64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342900" indent="-342900">
              <a:lnSpc>
                <a:spcPct val="150000"/>
              </a:lnSpc>
              <a:buClr>
                <a:srgbClr val="0070C0"/>
              </a:buClr>
              <a:buFont typeface="Wingdings" pitchFamily="2" charset="2"/>
              <a:buChar char="l"/>
              <a:defRPr sz="2000" b="1">
                <a:latin typeface="微软雅黑" pitchFamily="34" charset="-122"/>
                <a:ea typeface="微软雅黑" pitchFamily="34" charset="-122"/>
              </a:defRPr>
            </a:lvl1pPr>
          </a:lstStyle>
          <a:p>
            <a:pPr marL="0" indent="0">
              <a:lnSpc>
                <a:spcPct val="100000"/>
              </a:lnSpc>
              <a:buNone/>
            </a:pPr>
            <a:r>
              <a:rPr lang="zh-CN" altLang="en-US" sz="1800" dirty="0">
                <a:solidFill>
                  <a:srgbClr val="C00000"/>
                </a:solidFill>
              </a:rPr>
              <a:t>拥塞避免算法</a:t>
            </a:r>
            <a:r>
              <a:rPr lang="zh-CN" altLang="en-US" sz="1800" dirty="0"/>
              <a:t>：每经过一个往返时间 </a:t>
            </a:r>
            <a:r>
              <a:rPr lang="en-US" altLang="zh-CN" sz="1800" dirty="0"/>
              <a:t>RTT</a:t>
            </a:r>
            <a:r>
              <a:rPr lang="zh-CN" altLang="en-US" sz="1800" dirty="0"/>
              <a:t>，发送方的拥塞窗口 </a:t>
            </a:r>
            <a:r>
              <a:rPr lang="en-US" altLang="zh-CN" sz="1800" dirty="0" err="1"/>
              <a:t>cwnd</a:t>
            </a:r>
            <a:r>
              <a:rPr lang="en-US" altLang="zh-CN" sz="1800" dirty="0"/>
              <a:t> </a:t>
            </a:r>
            <a:r>
              <a:rPr lang="zh-CN" altLang="en-US" sz="1800" dirty="0"/>
              <a:t>就增加 </a:t>
            </a:r>
            <a:r>
              <a:rPr lang="en-US" altLang="zh-CN" sz="1800" dirty="0"/>
              <a:t>1 MSS</a:t>
            </a:r>
            <a:r>
              <a:rPr lang="zh-CN" altLang="en-US" sz="1800" dirty="0"/>
              <a:t>。</a:t>
            </a:r>
          </a:p>
        </p:txBody>
      </p:sp>
      <p:sp>
        <p:nvSpPr>
          <p:cNvPr id="9" name="Line 167">
            <a:extLst>
              <a:ext uri="{FF2B5EF4-FFF2-40B4-BE49-F238E27FC236}">
                <a16:creationId xmlns:a16="http://schemas.microsoft.com/office/drawing/2014/main" id="{90DA3159-E224-CD31-1B66-30FFA4F48BD7}"/>
              </a:ext>
            </a:extLst>
          </p:cNvPr>
          <p:cNvSpPr>
            <a:spLocks noChangeShapeType="1"/>
          </p:cNvSpPr>
          <p:nvPr/>
        </p:nvSpPr>
        <p:spPr bwMode="auto">
          <a:xfrm flipH="1">
            <a:off x="4568956" y="1618893"/>
            <a:ext cx="367194" cy="691874"/>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 name="Oval 127">
            <a:extLst>
              <a:ext uri="{FF2B5EF4-FFF2-40B4-BE49-F238E27FC236}">
                <a16:creationId xmlns:a16="http://schemas.microsoft.com/office/drawing/2014/main" id="{362227AD-C394-417E-D9AB-6888CF18F0AE}"/>
              </a:ext>
            </a:extLst>
          </p:cNvPr>
          <p:cNvSpPr>
            <a:spLocks noChangeArrowheads="1"/>
          </p:cNvSpPr>
          <p:nvPr/>
        </p:nvSpPr>
        <p:spPr bwMode="auto">
          <a:xfrm>
            <a:off x="4494489" y="3034113"/>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Tree>
    <p:extLst>
      <p:ext uri="{BB962C8B-B14F-4D97-AF65-F5344CB8AC3E}">
        <p14:creationId xmlns:p14="http://schemas.microsoft.com/office/powerpoint/2010/main" val="2761763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nodeType="clickEffect">
                                  <p:stCondLst>
                                    <p:cond delay="0"/>
                                  </p:stCondLst>
                                  <p:childTnLst>
                                    <p:anim calcmode="discrete" valueType="str">
                                      <p:cBhvr>
                                        <p:cTn id="6"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172"/>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3000" fill="hold" grpId="0" nodeType="clickEffect">
                                  <p:stCondLst>
                                    <p:cond delay="0"/>
                                  </p:stCondLst>
                                  <p:childTnLst>
                                    <p:anim calcmode="discrete" valueType="str">
                                      <p:cBhvr>
                                        <p:cTn id="14" dur="1000" fill="hold"/>
                                        <p:tgtEl>
                                          <p:spTgt spid="9"/>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35" presetClass="emph" presetSubtype="0" repeatCount="3000" fill="hold" grpId="0" nodeType="clickEffect">
                                  <p:stCondLst>
                                    <p:cond delay="0"/>
                                  </p:stCondLst>
                                  <p:childTnLst>
                                    <p:anim calcmode="discrete" valueType="str">
                                      <p:cBhvr>
                                        <p:cTn id="18" dur="1000" fill="hold"/>
                                        <p:tgtEl>
                                          <p:spTgt spid="284"/>
                                        </p:tgtEl>
                                        <p:attrNameLst>
                                          <p:attrName>style.visibility</p:attrName>
                                        </p:attrNameLst>
                                      </p:cBhvr>
                                      <p:tavLst>
                                        <p:tav tm="0">
                                          <p:val>
                                            <p:strVal val="hidden"/>
                                          </p:val>
                                        </p:tav>
                                        <p:tav tm="50000">
                                          <p:val>
                                            <p:strVal val="visible"/>
                                          </p:val>
                                        </p:tav>
                                      </p:tavLst>
                                    </p:anim>
                                  </p:childTnLst>
                                </p:cTn>
                              </p:par>
                              <p:par>
                                <p:cTn id="19" presetID="35" presetClass="emph" presetSubtype="0" repeatCount="3000" fill="hold" grpId="0" nodeType="withEffect">
                                  <p:stCondLst>
                                    <p:cond delay="0"/>
                                  </p:stCondLst>
                                  <p:childTnLst>
                                    <p:anim calcmode="discrete" valueType="str">
                                      <p:cBhvr>
                                        <p:cTn id="20" dur="1000" fill="hold"/>
                                        <p:tgtEl>
                                          <p:spTgt spid="28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 grpId="0"/>
      <p:bldP spid="282" grpId="0" animBg="1"/>
      <p:bldP spid="284" grpId="0" animBg="1"/>
      <p:bldP spid="9" grpId="0" animBg="1"/>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9B217-71DB-F984-85DE-9D7D65F7D8F2}"/>
            </a:ext>
          </a:extLst>
        </p:cNvPr>
        <p:cNvGrpSpPr/>
        <p:nvPr/>
      </p:nvGrpSpPr>
      <p:grpSpPr>
        <a:xfrm>
          <a:off x="0" y="0"/>
          <a:ext cx="0" cy="0"/>
          <a:chOff x="0" y="0"/>
          <a:chExt cx="0" cy="0"/>
        </a:xfrm>
      </p:grpSpPr>
      <p:sp>
        <p:nvSpPr>
          <p:cNvPr id="39" name="AutoShape 5">
            <a:extLst>
              <a:ext uri="{FF2B5EF4-FFF2-40B4-BE49-F238E27FC236}">
                <a16:creationId xmlns:a16="http://schemas.microsoft.com/office/drawing/2014/main" id="{E50DC330-47A6-EC29-8F5E-44A0A8568406}"/>
              </a:ext>
            </a:extLst>
          </p:cNvPr>
          <p:cNvSpPr>
            <a:spLocks noChangeArrowheads="1"/>
          </p:cNvSpPr>
          <p:nvPr/>
        </p:nvSpPr>
        <p:spPr bwMode="auto">
          <a:xfrm>
            <a:off x="545144" y="621304"/>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矩形 39">
            <a:extLst>
              <a:ext uri="{FF2B5EF4-FFF2-40B4-BE49-F238E27FC236}">
                <a16:creationId xmlns:a16="http://schemas.microsoft.com/office/drawing/2014/main" id="{E06F58F1-8F2D-0FCD-A895-C47F6096EA7A}"/>
              </a:ext>
            </a:extLst>
          </p:cNvPr>
          <p:cNvSpPr/>
          <p:nvPr/>
        </p:nvSpPr>
        <p:spPr>
          <a:xfrm>
            <a:off x="616085" y="579064"/>
            <a:ext cx="4031873" cy="400110"/>
          </a:xfrm>
          <a:prstGeom prst="rect">
            <a:avLst/>
          </a:prstGeom>
        </p:spPr>
        <p:txBody>
          <a:bodyPr wrap="none">
            <a:spAutoFit/>
          </a:bodyPr>
          <a:lstStyle/>
          <a:p>
            <a:r>
              <a:rPr lang="zh-CN" altLang="en-US" sz="2000" b="1" dirty="0">
                <a:latin typeface="微软雅黑" pitchFamily="34" charset="-122"/>
                <a:ea typeface="微软雅黑" pitchFamily="34" charset="-122"/>
              </a:rPr>
              <a:t>慢启动和拥塞避免算法的实现举例</a:t>
            </a:r>
          </a:p>
        </p:txBody>
      </p:sp>
      <p:sp>
        <p:nvSpPr>
          <p:cNvPr id="41" name="圆角矩形 40">
            <a:extLst>
              <a:ext uri="{FF2B5EF4-FFF2-40B4-BE49-F238E27FC236}">
                <a16:creationId xmlns:a16="http://schemas.microsoft.com/office/drawing/2014/main" id="{3FFC2FBB-5D59-D061-0E1F-74B353C84BEC}"/>
              </a:ext>
            </a:extLst>
          </p:cNvPr>
          <p:cNvSpPr/>
          <p:nvPr/>
        </p:nvSpPr>
        <p:spPr>
          <a:xfrm>
            <a:off x="545144" y="1013287"/>
            <a:ext cx="8053711" cy="307770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9" name="Text Box 155">
            <a:extLst>
              <a:ext uri="{FF2B5EF4-FFF2-40B4-BE49-F238E27FC236}">
                <a16:creationId xmlns:a16="http://schemas.microsoft.com/office/drawing/2014/main" id="{F0293F13-A79D-C546-99DF-5787544C55F2}"/>
              </a:ext>
            </a:extLst>
          </p:cNvPr>
          <p:cNvSpPr txBox="1">
            <a:spLocks noChangeArrowheads="1"/>
          </p:cNvSpPr>
          <p:nvPr/>
        </p:nvSpPr>
        <p:spPr bwMode="auto">
          <a:xfrm>
            <a:off x="3451529" y="3331407"/>
            <a:ext cx="2392857" cy="344325"/>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拥塞窗口以 </a:t>
            </a:r>
            <a:r>
              <a:rPr lang="en-US" altLang="zh-CN" sz="1600" b="1" dirty="0">
                <a:solidFill>
                  <a:srgbClr val="0000FF"/>
                </a:solidFill>
                <a:latin typeface="微软雅黑" pitchFamily="34" charset="-122"/>
                <a:ea typeface="微软雅黑" pitchFamily="34" charset="-122"/>
              </a:rPr>
              <a:t>MSS </a:t>
            </a:r>
            <a:r>
              <a:rPr lang="zh-CN" altLang="en-US" sz="1600" b="1" dirty="0">
                <a:solidFill>
                  <a:srgbClr val="0000FF"/>
                </a:solidFill>
                <a:latin typeface="微软雅黑" pitchFamily="34" charset="-122"/>
                <a:ea typeface="微软雅黑" pitchFamily="34" charset="-122"/>
              </a:rPr>
              <a:t>为单位</a:t>
            </a:r>
          </a:p>
        </p:txBody>
      </p:sp>
      <p:sp>
        <p:nvSpPr>
          <p:cNvPr id="170" name="Text Box 155">
            <a:extLst>
              <a:ext uri="{FF2B5EF4-FFF2-40B4-BE49-F238E27FC236}">
                <a16:creationId xmlns:a16="http://schemas.microsoft.com/office/drawing/2014/main" id="{A08CB9FB-1722-6253-2A08-F1D0AF938ACB}"/>
              </a:ext>
            </a:extLst>
          </p:cNvPr>
          <p:cNvSpPr txBox="1">
            <a:spLocks noChangeArrowheads="1"/>
          </p:cNvSpPr>
          <p:nvPr/>
        </p:nvSpPr>
        <p:spPr bwMode="auto">
          <a:xfrm>
            <a:off x="2058564" y="3690863"/>
            <a:ext cx="6300012" cy="344325"/>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慢启动门限的初始值设置为 </a:t>
            </a:r>
            <a:r>
              <a:rPr lang="en-US" altLang="zh-CN" sz="1600" b="1" dirty="0">
                <a:solidFill>
                  <a:srgbClr val="0000FF"/>
                </a:solidFill>
                <a:latin typeface="微软雅黑" pitchFamily="34" charset="-122"/>
                <a:ea typeface="微软雅黑" pitchFamily="34" charset="-122"/>
              </a:rPr>
              <a:t>16 MSS</a:t>
            </a:r>
            <a:r>
              <a:rPr lang="zh-CN" altLang="en-US" sz="1600" b="1" dirty="0">
                <a:solidFill>
                  <a:srgbClr val="0000FF"/>
                </a:solidFill>
                <a:latin typeface="微软雅黑" pitchFamily="34" charset="-122"/>
                <a:ea typeface="微软雅黑" pitchFamily="34" charset="-122"/>
              </a:rPr>
              <a:t>，即 </a:t>
            </a:r>
            <a:r>
              <a:rPr lang="en-US" altLang="zh-CN" sz="1600" b="1" dirty="0" err="1">
                <a:solidFill>
                  <a:srgbClr val="0000FF"/>
                </a:solidFill>
                <a:latin typeface="微软雅黑" pitchFamily="34" charset="-122"/>
                <a:ea typeface="微软雅黑" pitchFamily="34" charset="-122"/>
              </a:rPr>
              <a:t>ssthresh</a:t>
            </a:r>
            <a:r>
              <a:rPr lang="en-US" altLang="zh-CN" sz="1600" b="1" dirty="0">
                <a:solidFill>
                  <a:srgbClr val="0000FF"/>
                </a:solidFill>
                <a:latin typeface="微软雅黑" pitchFamily="34" charset="-122"/>
                <a:ea typeface="微软雅黑" pitchFamily="34" charset="-122"/>
              </a:rPr>
              <a:t> = 16</a:t>
            </a:r>
            <a:r>
              <a:rPr lang="zh-CN" altLang="en-US" sz="1600" b="1" dirty="0">
                <a:solidFill>
                  <a:srgbClr val="0000FF"/>
                </a:solidFill>
                <a:latin typeface="微软雅黑" pitchFamily="34" charset="-122"/>
                <a:ea typeface="微软雅黑" pitchFamily="34" charset="-122"/>
              </a:rPr>
              <a:t>。</a:t>
            </a:r>
          </a:p>
        </p:txBody>
      </p:sp>
      <p:sp>
        <p:nvSpPr>
          <p:cNvPr id="172" name="Text Box 140">
            <a:extLst>
              <a:ext uri="{FF2B5EF4-FFF2-40B4-BE49-F238E27FC236}">
                <a16:creationId xmlns:a16="http://schemas.microsoft.com/office/drawing/2014/main" id="{F7CD6DE4-025B-A99D-9763-C79541A8C37C}"/>
              </a:ext>
            </a:extLst>
          </p:cNvPr>
          <p:cNvSpPr txBox="1">
            <a:spLocks noChangeArrowheads="1"/>
          </p:cNvSpPr>
          <p:nvPr/>
        </p:nvSpPr>
        <p:spPr bwMode="auto">
          <a:xfrm>
            <a:off x="4466485" y="1190282"/>
            <a:ext cx="2985875" cy="502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超时（网络发生拥塞，执行慢启动算法）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 24/2 = 12</a:t>
            </a:r>
          </a:p>
        </p:txBody>
      </p:sp>
      <p:sp>
        <p:nvSpPr>
          <p:cNvPr id="173" name="Line 2">
            <a:extLst>
              <a:ext uri="{FF2B5EF4-FFF2-40B4-BE49-F238E27FC236}">
                <a16:creationId xmlns:a16="http://schemas.microsoft.com/office/drawing/2014/main" id="{372487DC-0458-2C4D-FDE3-8A56A39BC152}"/>
              </a:ext>
            </a:extLst>
          </p:cNvPr>
          <p:cNvSpPr>
            <a:spLocks noChangeShapeType="1"/>
          </p:cNvSpPr>
          <p:nvPr/>
        </p:nvSpPr>
        <p:spPr bwMode="auto">
          <a:xfrm flipV="1">
            <a:off x="2435451" y="3162988"/>
            <a:ext cx="4388353" cy="3483"/>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4" name="Line 3">
            <a:extLst>
              <a:ext uri="{FF2B5EF4-FFF2-40B4-BE49-F238E27FC236}">
                <a16:creationId xmlns:a16="http://schemas.microsoft.com/office/drawing/2014/main" id="{3AE0B124-F3DD-5237-B073-0E36E9AB4487}"/>
              </a:ext>
            </a:extLst>
          </p:cNvPr>
          <p:cNvSpPr>
            <a:spLocks noChangeShapeType="1"/>
          </p:cNvSpPr>
          <p:nvPr/>
        </p:nvSpPr>
        <p:spPr bwMode="auto">
          <a:xfrm>
            <a:off x="2434329" y="1350612"/>
            <a:ext cx="1122" cy="1815859"/>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5" name="Line 4">
            <a:extLst>
              <a:ext uri="{FF2B5EF4-FFF2-40B4-BE49-F238E27FC236}">
                <a16:creationId xmlns:a16="http://schemas.microsoft.com/office/drawing/2014/main" id="{8AAF3E6D-1C43-E6C0-E1DE-6258D474E43F}"/>
              </a:ext>
            </a:extLst>
          </p:cNvPr>
          <p:cNvSpPr>
            <a:spLocks noChangeShapeType="1"/>
          </p:cNvSpPr>
          <p:nvPr/>
        </p:nvSpPr>
        <p:spPr bwMode="auto">
          <a:xfrm>
            <a:off x="2596944" y="3110741"/>
            <a:ext cx="0" cy="557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6" name="Line 5">
            <a:extLst>
              <a:ext uri="{FF2B5EF4-FFF2-40B4-BE49-F238E27FC236}">
                <a16:creationId xmlns:a16="http://schemas.microsoft.com/office/drawing/2014/main" id="{90D9E2E5-BEDC-D56E-9C21-71154F4EE2C3}"/>
              </a:ext>
            </a:extLst>
          </p:cNvPr>
          <p:cNvSpPr>
            <a:spLocks noChangeShapeType="1"/>
          </p:cNvSpPr>
          <p:nvPr/>
        </p:nvSpPr>
        <p:spPr bwMode="auto">
          <a:xfrm>
            <a:off x="2758437"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7" name="Line 6">
            <a:extLst>
              <a:ext uri="{FF2B5EF4-FFF2-40B4-BE49-F238E27FC236}">
                <a16:creationId xmlns:a16="http://schemas.microsoft.com/office/drawing/2014/main" id="{12F180A9-C96A-215B-E27D-C830898C0BC0}"/>
              </a:ext>
            </a:extLst>
          </p:cNvPr>
          <p:cNvSpPr>
            <a:spLocks noChangeShapeType="1"/>
          </p:cNvSpPr>
          <p:nvPr/>
        </p:nvSpPr>
        <p:spPr bwMode="auto">
          <a:xfrm>
            <a:off x="2919930"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8" name="Line 7">
            <a:extLst>
              <a:ext uri="{FF2B5EF4-FFF2-40B4-BE49-F238E27FC236}">
                <a16:creationId xmlns:a16="http://schemas.microsoft.com/office/drawing/2014/main" id="{F6B9F3BF-5D33-9C7A-D940-24241B3CEBB8}"/>
              </a:ext>
            </a:extLst>
          </p:cNvPr>
          <p:cNvSpPr>
            <a:spLocks noChangeShapeType="1"/>
          </p:cNvSpPr>
          <p:nvPr/>
        </p:nvSpPr>
        <p:spPr bwMode="auto">
          <a:xfrm>
            <a:off x="3081423"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9" name="Line 8">
            <a:extLst>
              <a:ext uri="{FF2B5EF4-FFF2-40B4-BE49-F238E27FC236}">
                <a16:creationId xmlns:a16="http://schemas.microsoft.com/office/drawing/2014/main" id="{95CD3226-CEB2-F762-FCFC-3B62DAD6E07A}"/>
              </a:ext>
            </a:extLst>
          </p:cNvPr>
          <p:cNvSpPr>
            <a:spLocks noChangeShapeType="1"/>
          </p:cNvSpPr>
          <p:nvPr/>
        </p:nvSpPr>
        <p:spPr bwMode="auto">
          <a:xfrm>
            <a:off x="3242917"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Line 9">
            <a:extLst>
              <a:ext uri="{FF2B5EF4-FFF2-40B4-BE49-F238E27FC236}">
                <a16:creationId xmlns:a16="http://schemas.microsoft.com/office/drawing/2014/main" id="{165C0B8D-EC65-5DCB-553B-874795A48F3D}"/>
              </a:ext>
            </a:extLst>
          </p:cNvPr>
          <p:cNvSpPr>
            <a:spLocks noChangeShapeType="1"/>
          </p:cNvSpPr>
          <p:nvPr/>
        </p:nvSpPr>
        <p:spPr bwMode="auto">
          <a:xfrm>
            <a:off x="3404410"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Line 10">
            <a:extLst>
              <a:ext uri="{FF2B5EF4-FFF2-40B4-BE49-F238E27FC236}">
                <a16:creationId xmlns:a16="http://schemas.microsoft.com/office/drawing/2014/main" id="{C9D29261-8903-9994-E828-82402B54639C}"/>
              </a:ext>
            </a:extLst>
          </p:cNvPr>
          <p:cNvSpPr>
            <a:spLocks noChangeShapeType="1"/>
          </p:cNvSpPr>
          <p:nvPr/>
        </p:nvSpPr>
        <p:spPr bwMode="auto">
          <a:xfrm>
            <a:off x="3565903"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Line 11">
            <a:extLst>
              <a:ext uri="{FF2B5EF4-FFF2-40B4-BE49-F238E27FC236}">
                <a16:creationId xmlns:a16="http://schemas.microsoft.com/office/drawing/2014/main" id="{E9144D5A-60F0-7840-4B09-66D5D4ECF108}"/>
              </a:ext>
            </a:extLst>
          </p:cNvPr>
          <p:cNvSpPr>
            <a:spLocks noChangeShapeType="1"/>
          </p:cNvSpPr>
          <p:nvPr/>
        </p:nvSpPr>
        <p:spPr bwMode="auto">
          <a:xfrm>
            <a:off x="3727396"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Line 12">
            <a:extLst>
              <a:ext uri="{FF2B5EF4-FFF2-40B4-BE49-F238E27FC236}">
                <a16:creationId xmlns:a16="http://schemas.microsoft.com/office/drawing/2014/main" id="{D6DBBF17-3E5F-1A0B-B710-7E20B53402FA}"/>
              </a:ext>
            </a:extLst>
          </p:cNvPr>
          <p:cNvSpPr>
            <a:spLocks noChangeShapeType="1"/>
          </p:cNvSpPr>
          <p:nvPr/>
        </p:nvSpPr>
        <p:spPr bwMode="auto">
          <a:xfrm>
            <a:off x="3888889"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Line 13">
            <a:extLst>
              <a:ext uri="{FF2B5EF4-FFF2-40B4-BE49-F238E27FC236}">
                <a16:creationId xmlns:a16="http://schemas.microsoft.com/office/drawing/2014/main" id="{8856344B-1CE4-D578-A2A3-ECFCBB4DBF1F}"/>
              </a:ext>
            </a:extLst>
          </p:cNvPr>
          <p:cNvSpPr>
            <a:spLocks noChangeShapeType="1"/>
          </p:cNvSpPr>
          <p:nvPr/>
        </p:nvSpPr>
        <p:spPr bwMode="auto">
          <a:xfrm>
            <a:off x="4050382"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Line 14">
            <a:extLst>
              <a:ext uri="{FF2B5EF4-FFF2-40B4-BE49-F238E27FC236}">
                <a16:creationId xmlns:a16="http://schemas.microsoft.com/office/drawing/2014/main" id="{99F7295E-69A5-799B-A12D-483EA617182E}"/>
              </a:ext>
            </a:extLst>
          </p:cNvPr>
          <p:cNvSpPr>
            <a:spLocks noChangeShapeType="1"/>
          </p:cNvSpPr>
          <p:nvPr/>
        </p:nvSpPr>
        <p:spPr bwMode="auto">
          <a:xfrm>
            <a:off x="4211876"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Line 15">
            <a:extLst>
              <a:ext uri="{FF2B5EF4-FFF2-40B4-BE49-F238E27FC236}">
                <a16:creationId xmlns:a16="http://schemas.microsoft.com/office/drawing/2014/main" id="{0CF82F1C-3A21-3FFE-CCD0-142D327C0B62}"/>
              </a:ext>
            </a:extLst>
          </p:cNvPr>
          <p:cNvSpPr>
            <a:spLocks noChangeShapeType="1"/>
          </p:cNvSpPr>
          <p:nvPr/>
        </p:nvSpPr>
        <p:spPr bwMode="auto">
          <a:xfrm>
            <a:off x="4373369"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7" name="Line 16">
            <a:extLst>
              <a:ext uri="{FF2B5EF4-FFF2-40B4-BE49-F238E27FC236}">
                <a16:creationId xmlns:a16="http://schemas.microsoft.com/office/drawing/2014/main" id="{264DC47C-2498-1D76-5ED5-57F0A6A9812C}"/>
              </a:ext>
            </a:extLst>
          </p:cNvPr>
          <p:cNvSpPr>
            <a:spLocks noChangeShapeType="1"/>
          </p:cNvSpPr>
          <p:nvPr/>
        </p:nvSpPr>
        <p:spPr bwMode="auto">
          <a:xfrm>
            <a:off x="4534862"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8" name="Line 17">
            <a:extLst>
              <a:ext uri="{FF2B5EF4-FFF2-40B4-BE49-F238E27FC236}">
                <a16:creationId xmlns:a16="http://schemas.microsoft.com/office/drawing/2014/main" id="{115ABBC5-EDF8-99E5-94A6-48BC4E8B8BBF}"/>
              </a:ext>
            </a:extLst>
          </p:cNvPr>
          <p:cNvSpPr>
            <a:spLocks noChangeShapeType="1"/>
          </p:cNvSpPr>
          <p:nvPr/>
        </p:nvSpPr>
        <p:spPr bwMode="auto">
          <a:xfrm>
            <a:off x="4696355" y="3110741"/>
            <a:ext cx="0" cy="557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9" name="Line 18">
            <a:extLst>
              <a:ext uri="{FF2B5EF4-FFF2-40B4-BE49-F238E27FC236}">
                <a16:creationId xmlns:a16="http://schemas.microsoft.com/office/drawing/2014/main" id="{581A2C46-9ACA-BC5B-EA6E-560D09E93173}"/>
              </a:ext>
            </a:extLst>
          </p:cNvPr>
          <p:cNvSpPr>
            <a:spLocks noChangeShapeType="1"/>
          </p:cNvSpPr>
          <p:nvPr/>
        </p:nvSpPr>
        <p:spPr bwMode="auto">
          <a:xfrm>
            <a:off x="4857848"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0" name="Line 19">
            <a:extLst>
              <a:ext uri="{FF2B5EF4-FFF2-40B4-BE49-F238E27FC236}">
                <a16:creationId xmlns:a16="http://schemas.microsoft.com/office/drawing/2014/main" id="{7D9BFC2C-AFED-5BC9-D5D8-2DA3B29664B8}"/>
              </a:ext>
            </a:extLst>
          </p:cNvPr>
          <p:cNvSpPr>
            <a:spLocks noChangeShapeType="1"/>
          </p:cNvSpPr>
          <p:nvPr/>
        </p:nvSpPr>
        <p:spPr bwMode="auto">
          <a:xfrm>
            <a:off x="5019342"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1" name="Line 20">
            <a:extLst>
              <a:ext uri="{FF2B5EF4-FFF2-40B4-BE49-F238E27FC236}">
                <a16:creationId xmlns:a16="http://schemas.microsoft.com/office/drawing/2014/main" id="{88A153F0-C04B-6197-4B21-0D3D6C10F5DC}"/>
              </a:ext>
            </a:extLst>
          </p:cNvPr>
          <p:cNvSpPr>
            <a:spLocks noChangeShapeType="1"/>
          </p:cNvSpPr>
          <p:nvPr/>
        </p:nvSpPr>
        <p:spPr bwMode="auto">
          <a:xfrm>
            <a:off x="5180835"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2" name="Line 21">
            <a:extLst>
              <a:ext uri="{FF2B5EF4-FFF2-40B4-BE49-F238E27FC236}">
                <a16:creationId xmlns:a16="http://schemas.microsoft.com/office/drawing/2014/main" id="{3E2E5BEB-12D3-B24E-8982-9295A1BA26AB}"/>
              </a:ext>
            </a:extLst>
          </p:cNvPr>
          <p:cNvSpPr>
            <a:spLocks noChangeShapeType="1"/>
          </p:cNvSpPr>
          <p:nvPr/>
        </p:nvSpPr>
        <p:spPr bwMode="auto">
          <a:xfrm>
            <a:off x="5342328"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3" name="Line 22">
            <a:extLst>
              <a:ext uri="{FF2B5EF4-FFF2-40B4-BE49-F238E27FC236}">
                <a16:creationId xmlns:a16="http://schemas.microsoft.com/office/drawing/2014/main" id="{FB515802-95A7-FF30-32AD-3B376F435E4A}"/>
              </a:ext>
            </a:extLst>
          </p:cNvPr>
          <p:cNvSpPr>
            <a:spLocks noChangeShapeType="1"/>
          </p:cNvSpPr>
          <p:nvPr/>
        </p:nvSpPr>
        <p:spPr bwMode="auto">
          <a:xfrm>
            <a:off x="5503821"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4" name="Line 23">
            <a:extLst>
              <a:ext uri="{FF2B5EF4-FFF2-40B4-BE49-F238E27FC236}">
                <a16:creationId xmlns:a16="http://schemas.microsoft.com/office/drawing/2014/main" id="{A44E6A42-46CF-BE86-8DE5-783B8ADB3CB7}"/>
              </a:ext>
            </a:extLst>
          </p:cNvPr>
          <p:cNvSpPr>
            <a:spLocks noChangeShapeType="1"/>
          </p:cNvSpPr>
          <p:nvPr/>
        </p:nvSpPr>
        <p:spPr bwMode="auto">
          <a:xfrm>
            <a:off x="5665314"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5" name="Line 24">
            <a:extLst>
              <a:ext uri="{FF2B5EF4-FFF2-40B4-BE49-F238E27FC236}">
                <a16:creationId xmlns:a16="http://schemas.microsoft.com/office/drawing/2014/main" id="{5E9D2115-5600-BBC6-8981-A147B49139D3}"/>
              </a:ext>
            </a:extLst>
          </p:cNvPr>
          <p:cNvSpPr>
            <a:spLocks noChangeShapeType="1"/>
          </p:cNvSpPr>
          <p:nvPr/>
        </p:nvSpPr>
        <p:spPr bwMode="auto">
          <a:xfrm>
            <a:off x="5826807"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6" name="Line 25">
            <a:extLst>
              <a:ext uri="{FF2B5EF4-FFF2-40B4-BE49-F238E27FC236}">
                <a16:creationId xmlns:a16="http://schemas.microsoft.com/office/drawing/2014/main" id="{BE42E952-3423-937B-CCB1-657353DF9DEE}"/>
              </a:ext>
            </a:extLst>
          </p:cNvPr>
          <p:cNvSpPr>
            <a:spLocks noChangeShapeType="1"/>
          </p:cNvSpPr>
          <p:nvPr/>
        </p:nvSpPr>
        <p:spPr bwMode="auto">
          <a:xfrm>
            <a:off x="5988301"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7" name="Line 40">
            <a:extLst>
              <a:ext uri="{FF2B5EF4-FFF2-40B4-BE49-F238E27FC236}">
                <a16:creationId xmlns:a16="http://schemas.microsoft.com/office/drawing/2014/main" id="{E4A0915E-7782-6CC0-F0CE-22792433E04C}"/>
              </a:ext>
            </a:extLst>
          </p:cNvPr>
          <p:cNvSpPr>
            <a:spLocks noChangeShapeType="1"/>
          </p:cNvSpPr>
          <p:nvPr/>
        </p:nvSpPr>
        <p:spPr bwMode="auto">
          <a:xfrm>
            <a:off x="2435451" y="2887822"/>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8" name="Line 41">
            <a:extLst>
              <a:ext uri="{FF2B5EF4-FFF2-40B4-BE49-F238E27FC236}">
                <a16:creationId xmlns:a16="http://schemas.microsoft.com/office/drawing/2014/main" id="{39E3E6B4-A619-13B7-0C55-E9DA21342F58}"/>
              </a:ext>
            </a:extLst>
          </p:cNvPr>
          <p:cNvSpPr>
            <a:spLocks noChangeShapeType="1"/>
          </p:cNvSpPr>
          <p:nvPr/>
        </p:nvSpPr>
        <p:spPr bwMode="auto">
          <a:xfrm>
            <a:off x="2435451" y="2609174"/>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9" name="Line 42">
            <a:extLst>
              <a:ext uri="{FF2B5EF4-FFF2-40B4-BE49-F238E27FC236}">
                <a16:creationId xmlns:a16="http://schemas.microsoft.com/office/drawing/2014/main" id="{B7DD8187-5394-A72D-ADE2-A92447279E9C}"/>
              </a:ext>
            </a:extLst>
          </p:cNvPr>
          <p:cNvSpPr>
            <a:spLocks noChangeShapeType="1"/>
          </p:cNvSpPr>
          <p:nvPr/>
        </p:nvSpPr>
        <p:spPr bwMode="auto">
          <a:xfrm>
            <a:off x="2435451" y="2330526"/>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0" name="Line 43">
            <a:extLst>
              <a:ext uri="{FF2B5EF4-FFF2-40B4-BE49-F238E27FC236}">
                <a16:creationId xmlns:a16="http://schemas.microsoft.com/office/drawing/2014/main" id="{089C01E8-FDA9-07E1-C6DF-CF794F524530}"/>
              </a:ext>
            </a:extLst>
          </p:cNvPr>
          <p:cNvSpPr>
            <a:spLocks noChangeShapeType="1"/>
          </p:cNvSpPr>
          <p:nvPr/>
        </p:nvSpPr>
        <p:spPr bwMode="auto">
          <a:xfrm>
            <a:off x="2435451" y="2051877"/>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1" name="Line 44">
            <a:extLst>
              <a:ext uri="{FF2B5EF4-FFF2-40B4-BE49-F238E27FC236}">
                <a16:creationId xmlns:a16="http://schemas.microsoft.com/office/drawing/2014/main" id="{16B2ABE7-95B1-05CC-E50F-0E54B7C5FBE4}"/>
              </a:ext>
            </a:extLst>
          </p:cNvPr>
          <p:cNvSpPr>
            <a:spLocks noChangeShapeType="1"/>
          </p:cNvSpPr>
          <p:nvPr/>
        </p:nvSpPr>
        <p:spPr bwMode="auto">
          <a:xfrm>
            <a:off x="2435451" y="1773229"/>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2" name="Line 45">
            <a:extLst>
              <a:ext uri="{FF2B5EF4-FFF2-40B4-BE49-F238E27FC236}">
                <a16:creationId xmlns:a16="http://schemas.microsoft.com/office/drawing/2014/main" id="{1CD2FCDA-E79B-252A-0048-005F74843C7A}"/>
              </a:ext>
            </a:extLst>
          </p:cNvPr>
          <p:cNvSpPr>
            <a:spLocks noChangeShapeType="1"/>
          </p:cNvSpPr>
          <p:nvPr/>
        </p:nvSpPr>
        <p:spPr bwMode="auto">
          <a:xfrm>
            <a:off x="2435451" y="1494580"/>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3" name="Text Box 77">
            <a:extLst>
              <a:ext uri="{FF2B5EF4-FFF2-40B4-BE49-F238E27FC236}">
                <a16:creationId xmlns:a16="http://schemas.microsoft.com/office/drawing/2014/main" id="{66A94565-5F06-C726-EC59-E91129AED32C}"/>
              </a:ext>
            </a:extLst>
          </p:cNvPr>
          <p:cNvSpPr txBox="1">
            <a:spLocks noChangeArrowheads="1"/>
          </p:cNvSpPr>
          <p:nvPr/>
        </p:nvSpPr>
        <p:spPr bwMode="auto">
          <a:xfrm>
            <a:off x="2630207" y="3125835"/>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a:t>
            </a:r>
          </a:p>
        </p:txBody>
      </p:sp>
      <p:sp>
        <p:nvSpPr>
          <p:cNvPr id="204" name="Text Box 78">
            <a:extLst>
              <a:ext uri="{FF2B5EF4-FFF2-40B4-BE49-F238E27FC236}">
                <a16:creationId xmlns:a16="http://schemas.microsoft.com/office/drawing/2014/main" id="{55109D54-D1E3-C78E-7499-A565D8DEFEAF}"/>
              </a:ext>
            </a:extLst>
          </p:cNvPr>
          <p:cNvSpPr txBox="1">
            <a:spLocks noChangeArrowheads="1"/>
          </p:cNvSpPr>
          <p:nvPr/>
        </p:nvSpPr>
        <p:spPr bwMode="auto">
          <a:xfrm>
            <a:off x="2953194" y="3125835"/>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205" name="Text Box 79">
            <a:extLst>
              <a:ext uri="{FF2B5EF4-FFF2-40B4-BE49-F238E27FC236}">
                <a16:creationId xmlns:a16="http://schemas.microsoft.com/office/drawing/2014/main" id="{E4FA562E-94E3-1819-A991-F828E5B72C4A}"/>
              </a:ext>
            </a:extLst>
          </p:cNvPr>
          <p:cNvSpPr txBox="1">
            <a:spLocks noChangeArrowheads="1"/>
          </p:cNvSpPr>
          <p:nvPr/>
        </p:nvSpPr>
        <p:spPr bwMode="auto">
          <a:xfrm>
            <a:off x="3276180" y="3125835"/>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6</a:t>
            </a:r>
          </a:p>
        </p:txBody>
      </p:sp>
      <p:sp>
        <p:nvSpPr>
          <p:cNvPr id="206" name="Text Box 80">
            <a:extLst>
              <a:ext uri="{FF2B5EF4-FFF2-40B4-BE49-F238E27FC236}">
                <a16:creationId xmlns:a16="http://schemas.microsoft.com/office/drawing/2014/main" id="{248FE035-9FBD-0CCC-A15D-ECE810F2E956}"/>
              </a:ext>
            </a:extLst>
          </p:cNvPr>
          <p:cNvSpPr txBox="1">
            <a:spLocks noChangeArrowheads="1"/>
          </p:cNvSpPr>
          <p:nvPr/>
        </p:nvSpPr>
        <p:spPr bwMode="auto">
          <a:xfrm>
            <a:off x="3608139" y="3125835"/>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8</a:t>
            </a:r>
          </a:p>
        </p:txBody>
      </p:sp>
      <p:sp>
        <p:nvSpPr>
          <p:cNvPr id="207" name="Text Box 81">
            <a:extLst>
              <a:ext uri="{FF2B5EF4-FFF2-40B4-BE49-F238E27FC236}">
                <a16:creationId xmlns:a16="http://schemas.microsoft.com/office/drawing/2014/main" id="{593FF923-E843-AEB1-A94C-230694862DFF}"/>
              </a:ext>
            </a:extLst>
          </p:cNvPr>
          <p:cNvSpPr txBox="1">
            <a:spLocks noChangeArrowheads="1"/>
          </p:cNvSpPr>
          <p:nvPr/>
        </p:nvSpPr>
        <p:spPr bwMode="auto">
          <a:xfrm>
            <a:off x="3877294" y="312583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10</a:t>
            </a:r>
          </a:p>
        </p:txBody>
      </p:sp>
      <p:sp>
        <p:nvSpPr>
          <p:cNvPr id="208" name="Text Box 82">
            <a:extLst>
              <a:ext uri="{FF2B5EF4-FFF2-40B4-BE49-F238E27FC236}">
                <a16:creationId xmlns:a16="http://schemas.microsoft.com/office/drawing/2014/main" id="{5E9DFA1C-CAEE-D38C-D015-AEAB877C5160}"/>
              </a:ext>
            </a:extLst>
          </p:cNvPr>
          <p:cNvSpPr txBox="1">
            <a:spLocks noChangeArrowheads="1"/>
          </p:cNvSpPr>
          <p:nvPr/>
        </p:nvSpPr>
        <p:spPr bwMode="auto">
          <a:xfrm>
            <a:off x="4227196" y="312583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209" name="Text Box 83">
            <a:extLst>
              <a:ext uri="{FF2B5EF4-FFF2-40B4-BE49-F238E27FC236}">
                <a16:creationId xmlns:a16="http://schemas.microsoft.com/office/drawing/2014/main" id="{B45EEF9C-C64F-62F4-A451-477C82765403}"/>
              </a:ext>
            </a:extLst>
          </p:cNvPr>
          <p:cNvSpPr txBox="1">
            <a:spLocks noChangeArrowheads="1"/>
          </p:cNvSpPr>
          <p:nvPr/>
        </p:nvSpPr>
        <p:spPr bwMode="auto">
          <a:xfrm>
            <a:off x="4532238" y="312583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14</a:t>
            </a:r>
          </a:p>
        </p:txBody>
      </p:sp>
      <p:sp>
        <p:nvSpPr>
          <p:cNvPr id="210" name="Text Box 84">
            <a:extLst>
              <a:ext uri="{FF2B5EF4-FFF2-40B4-BE49-F238E27FC236}">
                <a16:creationId xmlns:a16="http://schemas.microsoft.com/office/drawing/2014/main" id="{4E9D334E-E4E8-734C-1C80-94FD4F716567}"/>
              </a:ext>
            </a:extLst>
          </p:cNvPr>
          <p:cNvSpPr txBox="1">
            <a:spLocks noChangeArrowheads="1"/>
          </p:cNvSpPr>
          <p:nvPr/>
        </p:nvSpPr>
        <p:spPr bwMode="auto">
          <a:xfrm>
            <a:off x="4855225" y="312583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211" name="Text Box 85">
            <a:extLst>
              <a:ext uri="{FF2B5EF4-FFF2-40B4-BE49-F238E27FC236}">
                <a16:creationId xmlns:a16="http://schemas.microsoft.com/office/drawing/2014/main" id="{217BAD28-6CAD-26E4-1A04-C1C4A9FCCFA8}"/>
              </a:ext>
            </a:extLst>
          </p:cNvPr>
          <p:cNvSpPr txBox="1">
            <a:spLocks noChangeArrowheads="1"/>
          </p:cNvSpPr>
          <p:nvPr/>
        </p:nvSpPr>
        <p:spPr bwMode="auto">
          <a:xfrm>
            <a:off x="5189427" y="312583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18</a:t>
            </a:r>
          </a:p>
        </p:txBody>
      </p:sp>
      <p:sp>
        <p:nvSpPr>
          <p:cNvPr id="212" name="Text Box 86">
            <a:extLst>
              <a:ext uri="{FF2B5EF4-FFF2-40B4-BE49-F238E27FC236}">
                <a16:creationId xmlns:a16="http://schemas.microsoft.com/office/drawing/2014/main" id="{85B434D0-69BE-A245-A648-7C49E83133F1}"/>
              </a:ext>
            </a:extLst>
          </p:cNvPr>
          <p:cNvSpPr txBox="1">
            <a:spLocks noChangeArrowheads="1"/>
          </p:cNvSpPr>
          <p:nvPr/>
        </p:nvSpPr>
        <p:spPr bwMode="auto">
          <a:xfrm>
            <a:off x="5512412" y="312583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213" name="Text Box 87">
            <a:extLst>
              <a:ext uri="{FF2B5EF4-FFF2-40B4-BE49-F238E27FC236}">
                <a16:creationId xmlns:a16="http://schemas.microsoft.com/office/drawing/2014/main" id="{6E1F1C9F-D0AB-630E-B41D-ED3DF1036982}"/>
              </a:ext>
            </a:extLst>
          </p:cNvPr>
          <p:cNvSpPr txBox="1">
            <a:spLocks noChangeArrowheads="1"/>
          </p:cNvSpPr>
          <p:nvPr/>
        </p:nvSpPr>
        <p:spPr bwMode="auto">
          <a:xfrm>
            <a:off x="5826427" y="3131638"/>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22</a:t>
            </a:r>
          </a:p>
        </p:txBody>
      </p:sp>
      <p:sp>
        <p:nvSpPr>
          <p:cNvPr id="214" name="Text Box 89">
            <a:extLst>
              <a:ext uri="{FF2B5EF4-FFF2-40B4-BE49-F238E27FC236}">
                <a16:creationId xmlns:a16="http://schemas.microsoft.com/office/drawing/2014/main" id="{C147CF88-524A-2897-3C9E-CF12DFB255C8}"/>
              </a:ext>
            </a:extLst>
          </p:cNvPr>
          <p:cNvSpPr txBox="1">
            <a:spLocks noChangeArrowheads="1"/>
          </p:cNvSpPr>
          <p:nvPr/>
        </p:nvSpPr>
        <p:spPr bwMode="auto">
          <a:xfrm>
            <a:off x="2334136" y="3125835"/>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215" name="Text Box 90">
            <a:extLst>
              <a:ext uri="{FF2B5EF4-FFF2-40B4-BE49-F238E27FC236}">
                <a16:creationId xmlns:a16="http://schemas.microsoft.com/office/drawing/2014/main" id="{4224770F-83E6-214F-4AB9-355BFF0FDA1B}"/>
              </a:ext>
            </a:extLst>
          </p:cNvPr>
          <p:cNvSpPr txBox="1">
            <a:spLocks noChangeArrowheads="1"/>
          </p:cNvSpPr>
          <p:nvPr/>
        </p:nvSpPr>
        <p:spPr bwMode="auto">
          <a:xfrm>
            <a:off x="2247041" y="3016698"/>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216" name="Text Box 91">
            <a:extLst>
              <a:ext uri="{FF2B5EF4-FFF2-40B4-BE49-F238E27FC236}">
                <a16:creationId xmlns:a16="http://schemas.microsoft.com/office/drawing/2014/main" id="{D8023B42-9AA9-EDD0-B479-CCB25BE85304}"/>
              </a:ext>
            </a:extLst>
          </p:cNvPr>
          <p:cNvSpPr txBox="1">
            <a:spLocks noChangeArrowheads="1"/>
          </p:cNvSpPr>
          <p:nvPr/>
        </p:nvSpPr>
        <p:spPr bwMode="auto">
          <a:xfrm>
            <a:off x="2233393" y="2738050"/>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217" name="Text Box 92">
            <a:extLst>
              <a:ext uri="{FF2B5EF4-FFF2-40B4-BE49-F238E27FC236}">
                <a16:creationId xmlns:a16="http://schemas.microsoft.com/office/drawing/2014/main" id="{DF25C258-7C3A-C34E-17A8-D40ED294C7DD}"/>
              </a:ext>
            </a:extLst>
          </p:cNvPr>
          <p:cNvSpPr txBox="1">
            <a:spLocks noChangeArrowheads="1"/>
          </p:cNvSpPr>
          <p:nvPr/>
        </p:nvSpPr>
        <p:spPr bwMode="auto">
          <a:xfrm>
            <a:off x="2233393" y="2468688"/>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219" name="Text Box 94">
            <a:extLst>
              <a:ext uri="{FF2B5EF4-FFF2-40B4-BE49-F238E27FC236}">
                <a16:creationId xmlns:a16="http://schemas.microsoft.com/office/drawing/2014/main" id="{F00C2E67-9403-F288-3443-891A19B7A653}"/>
              </a:ext>
            </a:extLst>
          </p:cNvPr>
          <p:cNvSpPr txBox="1">
            <a:spLocks noChangeArrowheads="1"/>
          </p:cNvSpPr>
          <p:nvPr/>
        </p:nvSpPr>
        <p:spPr bwMode="auto">
          <a:xfrm>
            <a:off x="2152647" y="1929969"/>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220" name="Text Box 95">
            <a:extLst>
              <a:ext uri="{FF2B5EF4-FFF2-40B4-BE49-F238E27FC236}">
                <a16:creationId xmlns:a16="http://schemas.microsoft.com/office/drawing/2014/main" id="{386A0717-2795-6313-5165-E08A6E6A5754}"/>
              </a:ext>
            </a:extLst>
          </p:cNvPr>
          <p:cNvSpPr txBox="1">
            <a:spLocks noChangeArrowheads="1"/>
          </p:cNvSpPr>
          <p:nvPr/>
        </p:nvSpPr>
        <p:spPr bwMode="auto">
          <a:xfrm>
            <a:off x="2152647" y="1651321"/>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222" name="Oval 102">
            <a:extLst>
              <a:ext uri="{FF2B5EF4-FFF2-40B4-BE49-F238E27FC236}">
                <a16:creationId xmlns:a16="http://schemas.microsoft.com/office/drawing/2014/main" id="{855FDCB0-AD28-5879-16C8-1AF3E85CF74C}"/>
              </a:ext>
            </a:extLst>
          </p:cNvPr>
          <p:cNvSpPr>
            <a:spLocks noChangeArrowheads="1"/>
          </p:cNvSpPr>
          <p:nvPr/>
        </p:nvSpPr>
        <p:spPr bwMode="auto">
          <a:xfrm>
            <a:off x="2886286" y="2581309"/>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3" name="Oval 103">
            <a:extLst>
              <a:ext uri="{FF2B5EF4-FFF2-40B4-BE49-F238E27FC236}">
                <a16:creationId xmlns:a16="http://schemas.microsoft.com/office/drawing/2014/main" id="{10477875-099D-8692-E570-D70AEA9B029F}"/>
              </a:ext>
            </a:extLst>
          </p:cNvPr>
          <p:cNvSpPr>
            <a:spLocks noChangeArrowheads="1"/>
          </p:cNvSpPr>
          <p:nvPr/>
        </p:nvSpPr>
        <p:spPr bwMode="auto">
          <a:xfrm>
            <a:off x="2724793" y="2859958"/>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4" name="Oval 104">
            <a:extLst>
              <a:ext uri="{FF2B5EF4-FFF2-40B4-BE49-F238E27FC236}">
                <a16:creationId xmlns:a16="http://schemas.microsoft.com/office/drawing/2014/main" id="{9B715A64-9D0B-73CA-AC40-516D59ECF08F}"/>
              </a:ext>
            </a:extLst>
          </p:cNvPr>
          <p:cNvSpPr>
            <a:spLocks noChangeArrowheads="1"/>
          </p:cNvSpPr>
          <p:nvPr/>
        </p:nvSpPr>
        <p:spPr bwMode="auto">
          <a:xfrm>
            <a:off x="2408535" y="3041079"/>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5" name="Oval 105">
            <a:extLst>
              <a:ext uri="{FF2B5EF4-FFF2-40B4-BE49-F238E27FC236}">
                <a16:creationId xmlns:a16="http://schemas.microsoft.com/office/drawing/2014/main" id="{5575C1E9-3095-EF5B-44E0-6D56C772F23D}"/>
              </a:ext>
            </a:extLst>
          </p:cNvPr>
          <p:cNvSpPr>
            <a:spLocks noChangeArrowheads="1"/>
          </p:cNvSpPr>
          <p:nvPr/>
        </p:nvSpPr>
        <p:spPr bwMode="auto">
          <a:xfrm>
            <a:off x="2556570" y="2992316"/>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6" name="Oval 106">
            <a:extLst>
              <a:ext uri="{FF2B5EF4-FFF2-40B4-BE49-F238E27FC236}">
                <a16:creationId xmlns:a16="http://schemas.microsoft.com/office/drawing/2014/main" id="{6DB35732-E249-E706-39CC-4BAA75E7E023}"/>
              </a:ext>
            </a:extLst>
          </p:cNvPr>
          <p:cNvSpPr>
            <a:spLocks noChangeArrowheads="1"/>
          </p:cNvSpPr>
          <p:nvPr/>
        </p:nvSpPr>
        <p:spPr bwMode="auto">
          <a:xfrm>
            <a:off x="3047779" y="2021690"/>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7" name="Oval 107">
            <a:extLst>
              <a:ext uri="{FF2B5EF4-FFF2-40B4-BE49-F238E27FC236}">
                <a16:creationId xmlns:a16="http://schemas.microsoft.com/office/drawing/2014/main" id="{B3D5137C-A5A1-1EB2-3BE1-A5FB3A653FF7}"/>
              </a:ext>
            </a:extLst>
          </p:cNvPr>
          <p:cNvSpPr>
            <a:spLocks noChangeArrowheads="1"/>
          </p:cNvSpPr>
          <p:nvPr/>
        </p:nvSpPr>
        <p:spPr bwMode="auto">
          <a:xfrm>
            <a:off x="3209272" y="1947384"/>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8" name="Oval 108">
            <a:extLst>
              <a:ext uri="{FF2B5EF4-FFF2-40B4-BE49-F238E27FC236}">
                <a16:creationId xmlns:a16="http://schemas.microsoft.com/office/drawing/2014/main" id="{C27275FA-3138-E0F2-D691-12F8598E2B98}"/>
              </a:ext>
            </a:extLst>
          </p:cNvPr>
          <p:cNvSpPr>
            <a:spLocks noChangeArrowheads="1"/>
          </p:cNvSpPr>
          <p:nvPr/>
        </p:nvSpPr>
        <p:spPr bwMode="auto">
          <a:xfrm>
            <a:off x="3370765" y="1881205"/>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9" name="Oval 109">
            <a:extLst>
              <a:ext uri="{FF2B5EF4-FFF2-40B4-BE49-F238E27FC236}">
                <a16:creationId xmlns:a16="http://schemas.microsoft.com/office/drawing/2014/main" id="{9CDE9D52-6FA9-A154-B3C6-E3101C763D3C}"/>
              </a:ext>
            </a:extLst>
          </p:cNvPr>
          <p:cNvSpPr>
            <a:spLocks noChangeArrowheads="1"/>
          </p:cNvSpPr>
          <p:nvPr/>
        </p:nvSpPr>
        <p:spPr bwMode="auto">
          <a:xfrm>
            <a:off x="3697116" y="1741881"/>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0" name="Oval 110">
            <a:extLst>
              <a:ext uri="{FF2B5EF4-FFF2-40B4-BE49-F238E27FC236}">
                <a16:creationId xmlns:a16="http://schemas.microsoft.com/office/drawing/2014/main" id="{76872136-2BC8-3506-95D4-6A34E4E76609}"/>
              </a:ext>
            </a:extLst>
          </p:cNvPr>
          <p:cNvSpPr>
            <a:spLocks noChangeArrowheads="1"/>
          </p:cNvSpPr>
          <p:nvPr/>
        </p:nvSpPr>
        <p:spPr bwMode="auto">
          <a:xfrm>
            <a:off x="3532258" y="1811543"/>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1" name="Oval 113">
            <a:extLst>
              <a:ext uri="{FF2B5EF4-FFF2-40B4-BE49-F238E27FC236}">
                <a16:creationId xmlns:a16="http://schemas.microsoft.com/office/drawing/2014/main" id="{A9672D20-406E-F66D-989E-F8BE9FEF6C24}"/>
              </a:ext>
            </a:extLst>
          </p:cNvPr>
          <p:cNvSpPr>
            <a:spLocks noChangeArrowheads="1"/>
          </p:cNvSpPr>
          <p:nvPr/>
        </p:nvSpPr>
        <p:spPr bwMode="auto">
          <a:xfrm>
            <a:off x="3858609" y="1672219"/>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14">
            <a:extLst>
              <a:ext uri="{FF2B5EF4-FFF2-40B4-BE49-F238E27FC236}">
                <a16:creationId xmlns:a16="http://schemas.microsoft.com/office/drawing/2014/main" id="{5EE828B2-E173-42B7-7C24-7ED6B89D68D5}"/>
              </a:ext>
            </a:extLst>
          </p:cNvPr>
          <p:cNvSpPr>
            <a:spLocks noChangeArrowheads="1"/>
          </p:cNvSpPr>
          <p:nvPr/>
        </p:nvSpPr>
        <p:spPr bwMode="auto">
          <a:xfrm>
            <a:off x="4016738" y="1606040"/>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Oval 116">
            <a:extLst>
              <a:ext uri="{FF2B5EF4-FFF2-40B4-BE49-F238E27FC236}">
                <a16:creationId xmlns:a16="http://schemas.microsoft.com/office/drawing/2014/main" id="{F7E8BEBF-1EBA-28DD-01A1-43B6221F07B8}"/>
              </a:ext>
            </a:extLst>
          </p:cNvPr>
          <p:cNvSpPr>
            <a:spLocks noChangeArrowheads="1"/>
          </p:cNvSpPr>
          <p:nvPr/>
        </p:nvSpPr>
        <p:spPr bwMode="auto">
          <a:xfrm>
            <a:off x="4336360" y="1456267"/>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4" name="Oval 117">
            <a:extLst>
              <a:ext uri="{FF2B5EF4-FFF2-40B4-BE49-F238E27FC236}">
                <a16:creationId xmlns:a16="http://schemas.microsoft.com/office/drawing/2014/main" id="{6B8A6911-7629-D20B-2B46-521942D927C6}"/>
              </a:ext>
            </a:extLst>
          </p:cNvPr>
          <p:cNvSpPr>
            <a:spLocks noChangeArrowheads="1"/>
          </p:cNvSpPr>
          <p:nvPr/>
        </p:nvSpPr>
        <p:spPr bwMode="auto">
          <a:xfrm>
            <a:off x="4178231" y="1525929"/>
            <a:ext cx="62803" cy="65018"/>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5" name="Freeform 118">
            <a:extLst>
              <a:ext uri="{FF2B5EF4-FFF2-40B4-BE49-F238E27FC236}">
                <a16:creationId xmlns:a16="http://schemas.microsoft.com/office/drawing/2014/main" id="{27AACC84-B50A-3E5D-BC98-88409E6477D8}"/>
              </a:ext>
            </a:extLst>
          </p:cNvPr>
          <p:cNvSpPr>
            <a:spLocks/>
          </p:cNvSpPr>
          <p:nvPr/>
        </p:nvSpPr>
        <p:spPr bwMode="auto">
          <a:xfrm>
            <a:off x="2381620" y="1494580"/>
            <a:ext cx="1988384" cy="1590618"/>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6" name="Text Box 134">
            <a:extLst>
              <a:ext uri="{FF2B5EF4-FFF2-40B4-BE49-F238E27FC236}">
                <a16:creationId xmlns:a16="http://schemas.microsoft.com/office/drawing/2014/main" id="{4CD3D614-75DE-59DE-F4F5-8C00999AD22A}"/>
              </a:ext>
            </a:extLst>
          </p:cNvPr>
          <p:cNvSpPr txBox="1">
            <a:spLocks noChangeArrowheads="1"/>
          </p:cNvSpPr>
          <p:nvPr/>
        </p:nvSpPr>
        <p:spPr bwMode="auto">
          <a:xfrm>
            <a:off x="6824924" y="3020180"/>
            <a:ext cx="11464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237" name="Text Box 135">
            <a:extLst>
              <a:ext uri="{FF2B5EF4-FFF2-40B4-BE49-F238E27FC236}">
                <a16:creationId xmlns:a16="http://schemas.microsoft.com/office/drawing/2014/main" id="{C9C5D33C-242B-97B3-8D06-6D5AFE2D2F73}"/>
              </a:ext>
            </a:extLst>
          </p:cNvPr>
          <p:cNvSpPr txBox="1">
            <a:spLocks noChangeArrowheads="1"/>
          </p:cNvSpPr>
          <p:nvPr/>
        </p:nvSpPr>
        <p:spPr bwMode="auto">
          <a:xfrm>
            <a:off x="1777141" y="1115751"/>
            <a:ext cx="1401563" cy="29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itchFamily="34" charset="-122"/>
                <a:ea typeface="微软雅黑"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238" name="Text Box 140">
            <a:extLst>
              <a:ext uri="{FF2B5EF4-FFF2-40B4-BE49-F238E27FC236}">
                <a16:creationId xmlns:a16="http://schemas.microsoft.com/office/drawing/2014/main" id="{A82AF4F9-D648-9A68-FB31-032FC8131A24}"/>
              </a:ext>
            </a:extLst>
          </p:cNvPr>
          <p:cNvSpPr txBox="1">
            <a:spLocks noChangeArrowheads="1"/>
          </p:cNvSpPr>
          <p:nvPr/>
        </p:nvSpPr>
        <p:spPr bwMode="auto">
          <a:xfrm>
            <a:off x="5975754" y="1762788"/>
            <a:ext cx="215015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9" name="Line 156">
            <a:extLst>
              <a:ext uri="{FF2B5EF4-FFF2-40B4-BE49-F238E27FC236}">
                <a16:creationId xmlns:a16="http://schemas.microsoft.com/office/drawing/2014/main" id="{04D5DBB9-3976-1FFF-4893-86CB2EFD0DB3}"/>
              </a:ext>
            </a:extLst>
          </p:cNvPr>
          <p:cNvSpPr>
            <a:spLocks noChangeShapeType="1"/>
          </p:cNvSpPr>
          <p:nvPr/>
        </p:nvSpPr>
        <p:spPr bwMode="auto">
          <a:xfrm>
            <a:off x="2489282" y="2051877"/>
            <a:ext cx="592142"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nvGrpSpPr>
          <p:cNvPr id="2" name="组合 1">
            <a:extLst>
              <a:ext uri="{FF2B5EF4-FFF2-40B4-BE49-F238E27FC236}">
                <a16:creationId xmlns:a16="http://schemas.microsoft.com/office/drawing/2014/main" id="{10F9C2D5-4BCD-C597-DBCD-186101AEF6F4}"/>
              </a:ext>
            </a:extLst>
          </p:cNvPr>
          <p:cNvGrpSpPr/>
          <p:nvPr/>
        </p:nvGrpSpPr>
        <p:grpSpPr>
          <a:xfrm>
            <a:off x="2152647" y="1372672"/>
            <a:ext cx="2229694" cy="246221"/>
            <a:chOff x="2152647" y="1372672"/>
            <a:chExt cx="2229694" cy="246221"/>
          </a:xfrm>
        </p:grpSpPr>
        <p:sp>
          <p:nvSpPr>
            <p:cNvPr id="221" name="Text Box 96">
              <a:extLst>
                <a:ext uri="{FF2B5EF4-FFF2-40B4-BE49-F238E27FC236}">
                  <a16:creationId xmlns:a16="http://schemas.microsoft.com/office/drawing/2014/main" id="{77965AD5-2654-92CD-2357-CD883C9C46FD}"/>
                </a:ext>
              </a:extLst>
            </p:cNvPr>
            <p:cNvSpPr txBox="1">
              <a:spLocks noChangeArrowheads="1"/>
            </p:cNvSpPr>
            <p:nvPr/>
          </p:nvSpPr>
          <p:spPr bwMode="auto">
            <a:xfrm>
              <a:off x="2152647" y="1372672"/>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40" name="Line 146">
              <a:extLst>
                <a:ext uri="{FF2B5EF4-FFF2-40B4-BE49-F238E27FC236}">
                  <a16:creationId xmlns:a16="http://schemas.microsoft.com/office/drawing/2014/main" id="{42516FDF-65E9-BA80-2BCD-49388553B4E3}"/>
                </a:ext>
              </a:extLst>
            </p:cNvPr>
            <p:cNvSpPr>
              <a:spLocks noChangeShapeType="1"/>
            </p:cNvSpPr>
            <p:nvPr/>
          </p:nvSpPr>
          <p:spPr bwMode="auto">
            <a:xfrm flipV="1">
              <a:off x="2489282" y="1489936"/>
              <a:ext cx="1893059" cy="4644"/>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sp>
        <p:nvSpPr>
          <p:cNvPr id="242" name="Text Box 205">
            <a:extLst>
              <a:ext uri="{FF2B5EF4-FFF2-40B4-BE49-F238E27FC236}">
                <a16:creationId xmlns:a16="http://schemas.microsoft.com/office/drawing/2014/main" id="{955E2055-1ECA-786D-1AAD-602B96074C3B}"/>
              </a:ext>
            </a:extLst>
          </p:cNvPr>
          <p:cNvSpPr txBox="1">
            <a:spLocks noChangeArrowheads="1"/>
          </p:cNvSpPr>
          <p:nvPr/>
        </p:nvSpPr>
        <p:spPr bwMode="auto">
          <a:xfrm>
            <a:off x="1317046" y="1862629"/>
            <a:ext cx="846706" cy="461665"/>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err="1">
                <a:ln>
                  <a:noFill/>
                </a:ln>
                <a:solidFill>
                  <a:srgbClr val="CC00CC"/>
                </a:solidFill>
                <a:effectLst/>
                <a:uLnTx/>
                <a:uFillTx/>
                <a:latin typeface="微软雅黑" pitchFamily="34" charset="-122"/>
                <a:ea typeface="微软雅黑"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243" name="Line 215">
            <a:extLst>
              <a:ext uri="{FF2B5EF4-FFF2-40B4-BE49-F238E27FC236}">
                <a16:creationId xmlns:a16="http://schemas.microsoft.com/office/drawing/2014/main" id="{D44C676F-57A0-9E75-0880-6BC041511E19}"/>
              </a:ext>
            </a:extLst>
          </p:cNvPr>
          <p:cNvSpPr>
            <a:spLocks noChangeShapeType="1"/>
          </p:cNvSpPr>
          <p:nvPr/>
        </p:nvSpPr>
        <p:spPr bwMode="auto">
          <a:xfrm flipV="1">
            <a:off x="2085549" y="2072776"/>
            <a:ext cx="151400"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5" name="Oval 125">
            <a:extLst>
              <a:ext uri="{FF2B5EF4-FFF2-40B4-BE49-F238E27FC236}">
                <a16:creationId xmlns:a16="http://schemas.microsoft.com/office/drawing/2014/main" id="{84258E9B-4345-81DF-0927-150E17D12657}"/>
              </a:ext>
            </a:extLst>
          </p:cNvPr>
          <p:cNvSpPr>
            <a:spLocks noChangeArrowheads="1"/>
          </p:cNvSpPr>
          <p:nvPr/>
        </p:nvSpPr>
        <p:spPr bwMode="auto">
          <a:xfrm>
            <a:off x="4662711" y="2981867"/>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6" name="Oval 126">
            <a:extLst>
              <a:ext uri="{FF2B5EF4-FFF2-40B4-BE49-F238E27FC236}">
                <a16:creationId xmlns:a16="http://schemas.microsoft.com/office/drawing/2014/main" id="{97FADB05-6358-A058-DD2E-6C418937EBC0}"/>
              </a:ext>
            </a:extLst>
          </p:cNvPr>
          <p:cNvSpPr>
            <a:spLocks noChangeArrowheads="1"/>
          </p:cNvSpPr>
          <p:nvPr/>
        </p:nvSpPr>
        <p:spPr bwMode="auto">
          <a:xfrm>
            <a:off x="4825325" y="2846025"/>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7" name="Oval 127">
            <a:extLst>
              <a:ext uri="{FF2B5EF4-FFF2-40B4-BE49-F238E27FC236}">
                <a16:creationId xmlns:a16="http://schemas.microsoft.com/office/drawing/2014/main" id="{8D7919C5-2653-91CA-6E47-4A346F3A9936}"/>
              </a:ext>
            </a:extLst>
          </p:cNvPr>
          <p:cNvSpPr>
            <a:spLocks noChangeArrowheads="1"/>
          </p:cNvSpPr>
          <p:nvPr/>
        </p:nvSpPr>
        <p:spPr bwMode="auto">
          <a:xfrm>
            <a:off x="4494489" y="3034113"/>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8" name="Oval 128">
            <a:extLst>
              <a:ext uri="{FF2B5EF4-FFF2-40B4-BE49-F238E27FC236}">
                <a16:creationId xmlns:a16="http://schemas.microsoft.com/office/drawing/2014/main" id="{1EBBCA5A-F559-4A06-DF66-960B6597ECF4}"/>
              </a:ext>
            </a:extLst>
          </p:cNvPr>
          <p:cNvSpPr>
            <a:spLocks noChangeArrowheads="1"/>
          </p:cNvSpPr>
          <p:nvPr/>
        </p:nvSpPr>
        <p:spPr bwMode="auto">
          <a:xfrm>
            <a:off x="4991304" y="2576665"/>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9" name="Oval 129">
            <a:extLst>
              <a:ext uri="{FF2B5EF4-FFF2-40B4-BE49-F238E27FC236}">
                <a16:creationId xmlns:a16="http://schemas.microsoft.com/office/drawing/2014/main" id="{EA2406F9-87FC-EFCA-C281-A9CF6E147754}"/>
              </a:ext>
            </a:extLst>
          </p:cNvPr>
          <p:cNvSpPr>
            <a:spLocks noChangeArrowheads="1"/>
          </p:cNvSpPr>
          <p:nvPr/>
        </p:nvSpPr>
        <p:spPr bwMode="auto">
          <a:xfrm>
            <a:off x="5324384" y="2222550"/>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0" name="Oval 130">
            <a:extLst>
              <a:ext uri="{FF2B5EF4-FFF2-40B4-BE49-F238E27FC236}">
                <a16:creationId xmlns:a16="http://schemas.microsoft.com/office/drawing/2014/main" id="{8889D81E-03C3-ED9B-CB0E-C77DBC5383CE}"/>
              </a:ext>
            </a:extLst>
          </p:cNvPr>
          <p:cNvSpPr>
            <a:spLocks noChangeArrowheads="1"/>
          </p:cNvSpPr>
          <p:nvPr/>
        </p:nvSpPr>
        <p:spPr bwMode="auto">
          <a:xfrm>
            <a:off x="5799892" y="2020530"/>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1" name="Oval 131">
            <a:extLst>
              <a:ext uri="{FF2B5EF4-FFF2-40B4-BE49-F238E27FC236}">
                <a16:creationId xmlns:a16="http://schemas.microsoft.com/office/drawing/2014/main" id="{DA3B35F9-B966-25CF-1C64-F3DEA817B21C}"/>
              </a:ext>
            </a:extLst>
          </p:cNvPr>
          <p:cNvSpPr>
            <a:spLocks noChangeArrowheads="1"/>
          </p:cNvSpPr>
          <p:nvPr/>
        </p:nvSpPr>
        <p:spPr bwMode="auto">
          <a:xfrm>
            <a:off x="5482513" y="2149404"/>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2" name="Oval 132">
            <a:extLst>
              <a:ext uri="{FF2B5EF4-FFF2-40B4-BE49-F238E27FC236}">
                <a16:creationId xmlns:a16="http://schemas.microsoft.com/office/drawing/2014/main" id="{DE897817-1CC7-1D45-91CB-0355A14CB251}"/>
              </a:ext>
            </a:extLst>
          </p:cNvPr>
          <p:cNvSpPr>
            <a:spLocks noChangeArrowheads="1"/>
          </p:cNvSpPr>
          <p:nvPr/>
        </p:nvSpPr>
        <p:spPr bwMode="auto">
          <a:xfrm>
            <a:off x="5644006" y="2083226"/>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nvGrpSpPr>
          <p:cNvPr id="5" name="组合 4">
            <a:extLst>
              <a:ext uri="{FF2B5EF4-FFF2-40B4-BE49-F238E27FC236}">
                <a16:creationId xmlns:a16="http://schemas.microsoft.com/office/drawing/2014/main" id="{F8AD897D-6353-5EF7-8DB4-8163C7E5FD8C}"/>
              </a:ext>
            </a:extLst>
          </p:cNvPr>
          <p:cNvGrpSpPr/>
          <p:nvPr/>
        </p:nvGrpSpPr>
        <p:grpSpPr>
          <a:xfrm>
            <a:off x="2152647" y="2199329"/>
            <a:ext cx="3202017" cy="246221"/>
            <a:chOff x="2152647" y="2199329"/>
            <a:chExt cx="3202017" cy="246221"/>
          </a:xfrm>
        </p:grpSpPr>
        <p:sp>
          <p:nvSpPr>
            <p:cNvPr id="218" name="Text Box 93">
              <a:extLst>
                <a:ext uri="{FF2B5EF4-FFF2-40B4-BE49-F238E27FC236}">
                  <a16:creationId xmlns:a16="http://schemas.microsoft.com/office/drawing/2014/main" id="{2EE62A13-6BE8-78E6-A2CC-CBC9ADF26F06}"/>
                </a:ext>
              </a:extLst>
            </p:cNvPr>
            <p:cNvSpPr txBox="1">
              <a:spLocks noChangeArrowheads="1"/>
            </p:cNvSpPr>
            <p:nvPr/>
          </p:nvSpPr>
          <p:spPr bwMode="auto">
            <a:xfrm>
              <a:off x="2152647" y="2199329"/>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253" name="Line 147">
              <a:extLst>
                <a:ext uri="{FF2B5EF4-FFF2-40B4-BE49-F238E27FC236}">
                  <a16:creationId xmlns:a16="http://schemas.microsoft.com/office/drawing/2014/main" id="{BE35D523-A1A7-4259-0986-C0A7568F8581}"/>
                </a:ext>
              </a:extLst>
            </p:cNvPr>
            <p:cNvSpPr>
              <a:spLocks noChangeShapeType="1"/>
            </p:cNvSpPr>
            <p:nvPr/>
          </p:nvSpPr>
          <p:spPr bwMode="auto">
            <a:xfrm rot="10800000">
              <a:off x="2501618" y="2329365"/>
              <a:ext cx="2853046"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cxnSp>
        <p:nvCxnSpPr>
          <p:cNvPr id="254" name="直接连接符 115">
            <a:extLst>
              <a:ext uri="{FF2B5EF4-FFF2-40B4-BE49-F238E27FC236}">
                <a16:creationId xmlns:a16="http://schemas.microsoft.com/office/drawing/2014/main" id="{81C06D22-0945-FE1A-4E51-2345C1E0D1E3}"/>
              </a:ext>
            </a:extLst>
          </p:cNvPr>
          <p:cNvCxnSpPr>
            <a:cxnSpLocks noChangeShapeType="1"/>
          </p:cNvCxnSpPr>
          <p:nvPr/>
        </p:nvCxnSpPr>
        <p:spPr bwMode="auto">
          <a:xfrm>
            <a:off x="4373369" y="1487614"/>
            <a:ext cx="161493" cy="1563915"/>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55" name="Rectangle 161">
            <a:extLst>
              <a:ext uri="{FF2B5EF4-FFF2-40B4-BE49-F238E27FC236}">
                <a16:creationId xmlns:a16="http://schemas.microsoft.com/office/drawing/2014/main" id="{D0301714-2812-8DAD-0627-FD14D2489009}"/>
              </a:ext>
            </a:extLst>
          </p:cNvPr>
          <p:cNvSpPr>
            <a:spLocks noChangeArrowheads="1"/>
          </p:cNvSpPr>
          <p:nvPr/>
        </p:nvSpPr>
        <p:spPr bwMode="auto">
          <a:xfrm>
            <a:off x="2860460" y="1754060"/>
            <a:ext cx="305043" cy="254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56" name="Oval 129">
            <a:extLst>
              <a:ext uri="{FF2B5EF4-FFF2-40B4-BE49-F238E27FC236}">
                <a16:creationId xmlns:a16="http://schemas.microsoft.com/office/drawing/2014/main" id="{809FBF95-8CE8-84E2-718C-BB5F24843F2A}"/>
              </a:ext>
            </a:extLst>
          </p:cNvPr>
          <p:cNvSpPr>
            <a:spLocks noChangeArrowheads="1"/>
          </p:cNvSpPr>
          <p:nvPr/>
        </p:nvSpPr>
        <p:spPr bwMode="auto">
          <a:xfrm>
            <a:off x="5160648" y="2298017"/>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7" name="任意多边形 134">
            <a:extLst>
              <a:ext uri="{FF2B5EF4-FFF2-40B4-BE49-F238E27FC236}">
                <a16:creationId xmlns:a16="http://schemas.microsoft.com/office/drawing/2014/main" id="{BC67D400-5690-92E9-1DAD-BB2902D7E5CF}"/>
              </a:ext>
            </a:extLst>
          </p:cNvPr>
          <p:cNvSpPr>
            <a:spLocks/>
          </p:cNvSpPr>
          <p:nvPr/>
        </p:nvSpPr>
        <p:spPr bwMode="auto">
          <a:xfrm>
            <a:off x="4528133" y="2043750"/>
            <a:ext cx="1315496" cy="1025194"/>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8" name="Rectangle 161">
            <a:extLst>
              <a:ext uri="{FF2B5EF4-FFF2-40B4-BE49-F238E27FC236}">
                <a16:creationId xmlns:a16="http://schemas.microsoft.com/office/drawing/2014/main" id="{A8BF497F-9C8D-B857-FDD0-964FCECB1B13}"/>
              </a:ext>
            </a:extLst>
          </p:cNvPr>
          <p:cNvSpPr>
            <a:spLocks noChangeArrowheads="1"/>
          </p:cNvSpPr>
          <p:nvPr/>
        </p:nvSpPr>
        <p:spPr bwMode="auto">
          <a:xfrm>
            <a:off x="4233941" y="1215721"/>
            <a:ext cx="253455" cy="21130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59" name="直接连接符 119">
            <a:extLst>
              <a:ext uri="{FF2B5EF4-FFF2-40B4-BE49-F238E27FC236}">
                <a16:creationId xmlns:a16="http://schemas.microsoft.com/office/drawing/2014/main" id="{2DEDB541-1901-F61F-5320-38E012CA3808}"/>
              </a:ext>
            </a:extLst>
          </p:cNvPr>
          <p:cNvCxnSpPr>
            <a:cxnSpLocks noChangeShapeType="1"/>
          </p:cNvCxnSpPr>
          <p:nvPr/>
        </p:nvCxnSpPr>
        <p:spPr bwMode="auto">
          <a:xfrm flipH="1">
            <a:off x="5986058" y="2624268"/>
            <a:ext cx="1121" cy="479507"/>
          </a:xfrm>
          <a:prstGeom prst="line">
            <a:avLst/>
          </a:prstGeom>
          <a:noFill/>
          <a:ln w="12700" algn="ctr">
            <a:solidFill>
              <a:srgbClr val="000000"/>
            </a:solidFill>
            <a:prstDash val="dash"/>
            <a:round/>
            <a:headEnd/>
            <a:tailEnd/>
          </a:ln>
        </p:spPr>
      </p:cxnSp>
      <p:cxnSp>
        <p:nvCxnSpPr>
          <p:cNvPr id="260" name="直接连接符 121">
            <a:extLst>
              <a:ext uri="{FF2B5EF4-FFF2-40B4-BE49-F238E27FC236}">
                <a16:creationId xmlns:a16="http://schemas.microsoft.com/office/drawing/2014/main" id="{32BA3071-F5CB-A106-BE86-984C2F7A37EB}"/>
              </a:ext>
            </a:extLst>
          </p:cNvPr>
          <p:cNvCxnSpPr>
            <a:cxnSpLocks noChangeShapeType="1"/>
          </p:cNvCxnSpPr>
          <p:nvPr/>
        </p:nvCxnSpPr>
        <p:spPr bwMode="auto">
          <a:xfrm>
            <a:off x="2512832" y="2612658"/>
            <a:ext cx="3917332" cy="0"/>
          </a:xfrm>
          <a:prstGeom prst="line">
            <a:avLst/>
          </a:prstGeom>
          <a:noFill/>
          <a:ln w="12700" algn="ctr">
            <a:solidFill>
              <a:srgbClr val="000000"/>
            </a:solidFill>
            <a:prstDash val="dash"/>
            <a:round/>
            <a:headEnd/>
            <a:tailEnd/>
          </a:ln>
        </p:spPr>
      </p:cxnSp>
      <p:sp>
        <p:nvSpPr>
          <p:cNvPr id="261" name="Oval 130">
            <a:extLst>
              <a:ext uri="{FF2B5EF4-FFF2-40B4-BE49-F238E27FC236}">
                <a16:creationId xmlns:a16="http://schemas.microsoft.com/office/drawing/2014/main" id="{BE65678D-8FFC-6E58-E643-1AC376B0FD94}"/>
              </a:ext>
            </a:extLst>
          </p:cNvPr>
          <p:cNvSpPr>
            <a:spLocks noChangeArrowheads="1"/>
          </p:cNvSpPr>
          <p:nvPr/>
        </p:nvSpPr>
        <p:spPr bwMode="auto">
          <a:xfrm>
            <a:off x="5955777" y="2370535"/>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2" name="Line 24">
            <a:extLst>
              <a:ext uri="{FF2B5EF4-FFF2-40B4-BE49-F238E27FC236}">
                <a16:creationId xmlns:a16="http://schemas.microsoft.com/office/drawing/2014/main" id="{F2F65E00-D535-4A08-02B1-7D9E5A05DF91}"/>
              </a:ext>
            </a:extLst>
          </p:cNvPr>
          <p:cNvSpPr>
            <a:spLocks noChangeShapeType="1"/>
          </p:cNvSpPr>
          <p:nvPr/>
        </p:nvSpPr>
        <p:spPr bwMode="auto">
          <a:xfrm>
            <a:off x="6309044" y="3050367"/>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3" name="Line 22">
            <a:extLst>
              <a:ext uri="{FF2B5EF4-FFF2-40B4-BE49-F238E27FC236}">
                <a16:creationId xmlns:a16="http://schemas.microsoft.com/office/drawing/2014/main" id="{CE7A5C16-FAC5-E2F9-C0F7-803DB1E90BF3}"/>
              </a:ext>
            </a:extLst>
          </p:cNvPr>
          <p:cNvSpPr>
            <a:spLocks noChangeShapeType="1"/>
          </p:cNvSpPr>
          <p:nvPr/>
        </p:nvSpPr>
        <p:spPr bwMode="auto">
          <a:xfrm>
            <a:off x="6145308" y="3053851"/>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4" name="Text Box 87">
            <a:extLst>
              <a:ext uri="{FF2B5EF4-FFF2-40B4-BE49-F238E27FC236}">
                <a16:creationId xmlns:a16="http://schemas.microsoft.com/office/drawing/2014/main" id="{D105F252-3EA4-A6AD-2802-16825CC35A77}"/>
              </a:ext>
            </a:extLst>
          </p:cNvPr>
          <p:cNvSpPr txBox="1">
            <a:spLocks noChangeArrowheads="1"/>
          </p:cNvSpPr>
          <p:nvPr/>
        </p:nvSpPr>
        <p:spPr bwMode="auto">
          <a:xfrm>
            <a:off x="6129227" y="3129318"/>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24</a:t>
            </a:r>
          </a:p>
        </p:txBody>
      </p:sp>
      <p:sp>
        <p:nvSpPr>
          <p:cNvPr id="265" name="Line 22">
            <a:extLst>
              <a:ext uri="{FF2B5EF4-FFF2-40B4-BE49-F238E27FC236}">
                <a16:creationId xmlns:a16="http://schemas.microsoft.com/office/drawing/2014/main" id="{1C853689-AD4A-EBDB-9CA8-AFFCE1ABC78E}"/>
              </a:ext>
            </a:extLst>
          </p:cNvPr>
          <p:cNvSpPr>
            <a:spLocks noChangeShapeType="1"/>
          </p:cNvSpPr>
          <p:nvPr/>
        </p:nvSpPr>
        <p:spPr bwMode="auto">
          <a:xfrm>
            <a:off x="6477266" y="3059656"/>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66" name="直接连接符 134">
            <a:extLst>
              <a:ext uri="{FF2B5EF4-FFF2-40B4-BE49-F238E27FC236}">
                <a16:creationId xmlns:a16="http://schemas.microsoft.com/office/drawing/2014/main" id="{994AF6D2-AEB9-38D2-BCB7-49A254AD5647}"/>
              </a:ext>
            </a:extLst>
          </p:cNvPr>
          <p:cNvCxnSpPr>
            <a:cxnSpLocks noChangeShapeType="1"/>
          </p:cNvCxnSpPr>
          <p:nvPr/>
        </p:nvCxnSpPr>
        <p:spPr bwMode="auto">
          <a:xfrm>
            <a:off x="5838332" y="2063782"/>
            <a:ext cx="138547" cy="328180"/>
          </a:xfrm>
          <a:prstGeom prst="line">
            <a:avLst/>
          </a:prstGeom>
          <a:noFill/>
          <a:ln w="19050" algn="ctr">
            <a:solidFill>
              <a:srgbClr val="0000FF"/>
            </a:solidFill>
            <a:round/>
            <a:headEnd/>
            <a:tailEnd/>
          </a:ln>
        </p:spPr>
      </p:cxnSp>
      <p:sp>
        <p:nvSpPr>
          <p:cNvPr id="267" name="Text Box 206">
            <a:extLst>
              <a:ext uri="{FF2B5EF4-FFF2-40B4-BE49-F238E27FC236}">
                <a16:creationId xmlns:a16="http://schemas.microsoft.com/office/drawing/2014/main" id="{EDCDEC4C-A167-C17F-C961-8B7E204F62AC}"/>
              </a:ext>
            </a:extLst>
          </p:cNvPr>
          <p:cNvSpPr txBox="1">
            <a:spLocks noChangeArrowheads="1"/>
          </p:cNvSpPr>
          <p:nvPr/>
        </p:nvSpPr>
        <p:spPr bwMode="auto">
          <a:xfrm rot="20070649">
            <a:off x="5095573" y="1884430"/>
            <a:ext cx="858268" cy="29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68" name="Text Box 206">
            <a:extLst>
              <a:ext uri="{FF2B5EF4-FFF2-40B4-BE49-F238E27FC236}">
                <a16:creationId xmlns:a16="http://schemas.microsoft.com/office/drawing/2014/main" id="{C0D7F81D-22C7-97A6-031A-A6BDB4B8DD1F}"/>
              </a:ext>
            </a:extLst>
          </p:cNvPr>
          <p:cNvSpPr txBox="1">
            <a:spLocks noChangeArrowheads="1"/>
          </p:cNvSpPr>
          <p:nvPr/>
        </p:nvSpPr>
        <p:spPr bwMode="auto">
          <a:xfrm rot="20205303">
            <a:off x="3041974" y="1563882"/>
            <a:ext cx="858268" cy="29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69" name="TextBox 147">
            <a:extLst>
              <a:ext uri="{FF2B5EF4-FFF2-40B4-BE49-F238E27FC236}">
                <a16:creationId xmlns:a16="http://schemas.microsoft.com/office/drawing/2014/main" id="{53122C12-C050-2A2E-8DE4-375E9D2AED8C}"/>
              </a:ext>
            </a:extLst>
          </p:cNvPr>
          <p:cNvSpPr txBox="1">
            <a:spLocks noChangeArrowheads="1"/>
          </p:cNvSpPr>
          <p:nvPr/>
        </p:nvSpPr>
        <p:spPr bwMode="auto">
          <a:xfrm>
            <a:off x="4921580" y="2023421"/>
            <a:ext cx="389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70" name="TextBox 148">
            <a:extLst>
              <a:ext uri="{FF2B5EF4-FFF2-40B4-BE49-F238E27FC236}">
                <a16:creationId xmlns:a16="http://schemas.microsoft.com/office/drawing/2014/main" id="{604FF229-3A38-0BAF-4166-4721D62BAEDA}"/>
              </a:ext>
            </a:extLst>
          </p:cNvPr>
          <p:cNvSpPr txBox="1">
            <a:spLocks noChangeArrowheads="1"/>
          </p:cNvSpPr>
          <p:nvPr/>
        </p:nvSpPr>
        <p:spPr bwMode="auto">
          <a:xfrm>
            <a:off x="5734655" y="1729678"/>
            <a:ext cx="389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71" name="直接连接符 153">
            <a:extLst>
              <a:ext uri="{FF2B5EF4-FFF2-40B4-BE49-F238E27FC236}">
                <a16:creationId xmlns:a16="http://schemas.microsoft.com/office/drawing/2014/main" id="{763CF182-793F-1521-0D82-EC756A972CC2}"/>
              </a:ext>
            </a:extLst>
          </p:cNvPr>
          <p:cNvCxnSpPr>
            <a:cxnSpLocks noChangeShapeType="1"/>
          </p:cNvCxnSpPr>
          <p:nvPr/>
        </p:nvCxnSpPr>
        <p:spPr bwMode="auto">
          <a:xfrm flipV="1">
            <a:off x="5184199" y="2353746"/>
            <a:ext cx="7851" cy="719842"/>
          </a:xfrm>
          <a:prstGeom prst="line">
            <a:avLst/>
          </a:prstGeom>
          <a:noFill/>
          <a:ln w="12700" algn="ctr">
            <a:solidFill>
              <a:srgbClr val="000000"/>
            </a:solidFill>
            <a:prstDash val="dash"/>
            <a:round/>
            <a:headEnd/>
            <a:tailEnd/>
          </a:ln>
        </p:spPr>
      </p:cxnSp>
      <p:cxnSp>
        <p:nvCxnSpPr>
          <p:cNvPr id="272" name="直接连接符 271">
            <a:extLst>
              <a:ext uri="{FF2B5EF4-FFF2-40B4-BE49-F238E27FC236}">
                <a16:creationId xmlns:a16="http://schemas.microsoft.com/office/drawing/2014/main" id="{8A50EDFA-9C7F-5805-8634-8D941074113C}"/>
              </a:ext>
            </a:extLst>
          </p:cNvPr>
          <p:cNvCxnSpPr>
            <a:cxnSpLocks noChangeShapeType="1"/>
          </p:cNvCxnSpPr>
          <p:nvPr/>
        </p:nvCxnSpPr>
        <p:spPr bwMode="auto">
          <a:xfrm flipV="1">
            <a:off x="5825686" y="2093675"/>
            <a:ext cx="7851" cy="1049576"/>
          </a:xfrm>
          <a:prstGeom prst="line">
            <a:avLst/>
          </a:prstGeom>
          <a:noFill/>
          <a:ln w="12700" algn="ctr">
            <a:solidFill>
              <a:srgbClr val="000000"/>
            </a:solidFill>
            <a:prstDash val="dash"/>
            <a:round/>
            <a:headEnd/>
            <a:tailEnd/>
          </a:ln>
        </p:spPr>
      </p:cxnSp>
      <p:cxnSp>
        <p:nvCxnSpPr>
          <p:cNvPr id="279" name="直接连接符 278">
            <a:extLst>
              <a:ext uri="{FF2B5EF4-FFF2-40B4-BE49-F238E27FC236}">
                <a16:creationId xmlns:a16="http://schemas.microsoft.com/office/drawing/2014/main" id="{FFA4F5E5-EC94-141C-7901-D9302BD573E4}"/>
              </a:ext>
            </a:extLst>
          </p:cNvPr>
          <p:cNvCxnSpPr>
            <a:cxnSpLocks noChangeShapeType="1"/>
          </p:cNvCxnSpPr>
          <p:nvPr/>
        </p:nvCxnSpPr>
        <p:spPr bwMode="auto">
          <a:xfrm flipH="1">
            <a:off x="4372247" y="1578175"/>
            <a:ext cx="3365" cy="1518634"/>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80" name="直接连接符 119">
            <a:extLst>
              <a:ext uri="{FF2B5EF4-FFF2-40B4-BE49-F238E27FC236}">
                <a16:creationId xmlns:a16="http://schemas.microsoft.com/office/drawing/2014/main" id="{86E619E3-ACAF-772A-F9A8-6335473989CF}"/>
              </a:ext>
            </a:extLst>
          </p:cNvPr>
          <p:cNvCxnSpPr>
            <a:cxnSpLocks noChangeShapeType="1"/>
          </p:cNvCxnSpPr>
          <p:nvPr/>
        </p:nvCxnSpPr>
        <p:spPr bwMode="auto">
          <a:xfrm>
            <a:off x="3080302" y="2131989"/>
            <a:ext cx="0" cy="955531"/>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sp>
        <p:nvSpPr>
          <p:cNvPr id="156" name="Text Box 140">
            <a:extLst>
              <a:ext uri="{FF2B5EF4-FFF2-40B4-BE49-F238E27FC236}">
                <a16:creationId xmlns:a16="http://schemas.microsoft.com/office/drawing/2014/main" id="{99A9BEAE-DD93-6E83-4A32-3954C085C660}"/>
              </a:ext>
            </a:extLst>
          </p:cNvPr>
          <p:cNvSpPr txBox="1">
            <a:spLocks noChangeArrowheads="1"/>
          </p:cNvSpPr>
          <p:nvPr/>
        </p:nvSpPr>
        <p:spPr bwMode="auto">
          <a:xfrm>
            <a:off x="6156432" y="2697983"/>
            <a:ext cx="181496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 16/2 = 8</a:t>
            </a:r>
            <a:endParaRPr lang="zh-CN" altLang="en-US" sz="1200" b="1" kern="0" dirty="0">
              <a:solidFill>
                <a:srgbClr val="0000FF"/>
              </a:solidFill>
              <a:latin typeface="微软雅黑" pitchFamily="34" charset="-122"/>
              <a:ea typeface="微软雅黑" pitchFamily="34" charset="-122"/>
            </a:endParaRPr>
          </a:p>
        </p:txBody>
      </p:sp>
      <p:sp>
        <p:nvSpPr>
          <p:cNvPr id="171" name="Line 167">
            <a:extLst>
              <a:ext uri="{FF2B5EF4-FFF2-40B4-BE49-F238E27FC236}">
                <a16:creationId xmlns:a16="http://schemas.microsoft.com/office/drawing/2014/main" id="{62BE96DA-C984-0B94-06AF-9424D7363B40}"/>
              </a:ext>
            </a:extLst>
          </p:cNvPr>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 name="Line 167">
            <a:extLst>
              <a:ext uri="{FF2B5EF4-FFF2-40B4-BE49-F238E27FC236}">
                <a16:creationId xmlns:a16="http://schemas.microsoft.com/office/drawing/2014/main" id="{EA5FED0E-004A-8C08-96DF-2E743A921ED4}"/>
              </a:ext>
            </a:extLst>
          </p:cNvPr>
          <p:cNvSpPr>
            <a:spLocks noChangeShapeType="1"/>
          </p:cNvSpPr>
          <p:nvPr/>
        </p:nvSpPr>
        <p:spPr bwMode="auto">
          <a:xfrm>
            <a:off x="2058564" y="2960685"/>
            <a:ext cx="376817" cy="111459"/>
          </a:xfrm>
          <a:prstGeom prst="line">
            <a:avLst/>
          </a:prstGeom>
          <a:noFill/>
          <a:ln w="19050">
            <a:solidFill>
              <a:srgbClr val="FF00FF"/>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82" name="Line 167">
            <a:extLst>
              <a:ext uri="{FF2B5EF4-FFF2-40B4-BE49-F238E27FC236}">
                <a16:creationId xmlns:a16="http://schemas.microsoft.com/office/drawing/2014/main" id="{AE4E3D73-B68D-AAF4-3BE2-08A75CFAB3F7}"/>
              </a:ext>
            </a:extLst>
          </p:cNvPr>
          <p:cNvSpPr>
            <a:spLocks noChangeShapeType="1"/>
          </p:cNvSpPr>
          <p:nvPr/>
        </p:nvSpPr>
        <p:spPr bwMode="auto">
          <a:xfrm>
            <a:off x="4264620" y="2953682"/>
            <a:ext cx="262426" cy="98688"/>
          </a:xfrm>
          <a:prstGeom prst="line">
            <a:avLst/>
          </a:prstGeom>
          <a:noFill/>
          <a:ln w="19050">
            <a:solidFill>
              <a:srgbClr val="FF00FF"/>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83" name="Text Box 209">
            <a:extLst>
              <a:ext uri="{FF2B5EF4-FFF2-40B4-BE49-F238E27FC236}">
                <a16:creationId xmlns:a16="http://schemas.microsoft.com/office/drawing/2014/main" id="{F71EC605-B774-08E8-5692-477B7E3395AC}"/>
              </a:ext>
            </a:extLst>
          </p:cNvPr>
          <p:cNvSpPr txBox="1">
            <a:spLocks noChangeArrowheads="1"/>
          </p:cNvSpPr>
          <p:nvPr/>
        </p:nvSpPr>
        <p:spPr bwMode="auto">
          <a:xfrm>
            <a:off x="1393490" y="2710463"/>
            <a:ext cx="753634" cy="276999"/>
          </a:xfrm>
          <a:prstGeom prst="rect">
            <a:avLst/>
          </a:prstGeom>
          <a:solidFill>
            <a:srgbClr val="00FF99"/>
          </a:solidFill>
          <a:ln w="9525">
            <a:solidFill>
              <a:srgbClr val="000000"/>
            </a:solidFill>
            <a:miter lim="800000"/>
            <a:headEnd/>
            <a:tailEnd/>
          </a:ln>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ysClr val="windowText" lastClr="000000"/>
                </a:solidFill>
                <a:effectLst/>
                <a:uLnTx/>
                <a:uFillTx/>
                <a:latin typeface="微软雅黑" pitchFamily="34" charset="-122"/>
                <a:ea typeface="微软雅黑" pitchFamily="34" charset="-122"/>
              </a:rPr>
              <a:t>慢启动</a:t>
            </a:r>
          </a:p>
        </p:txBody>
      </p:sp>
      <p:sp>
        <p:nvSpPr>
          <p:cNvPr id="284" name="Text Box 209">
            <a:extLst>
              <a:ext uri="{FF2B5EF4-FFF2-40B4-BE49-F238E27FC236}">
                <a16:creationId xmlns:a16="http://schemas.microsoft.com/office/drawing/2014/main" id="{FE8E5E1A-D988-F708-90E0-B034370BA583}"/>
              </a:ext>
            </a:extLst>
          </p:cNvPr>
          <p:cNvSpPr txBox="1">
            <a:spLocks noChangeArrowheads="1"/>
          </p:cNvSpPr>
          <p:nvPr/>
        </p:nvSpPr>
        <p:spPr bwMode="auto">
          <a:xfrm>
            <a:off x="3532258" y="2694952"/>
            <a:ext cx="753635" cy="276999"/>
          </a:xfrm>
          <a:prstGeom prst="rect">
            <a:avLst/>
          </a:prstGeom>
          <a:solidFill>
            <a:srgbClr val="00FF99"/>
          </a:solidFill>
          <a:ln w="9525">
            <a:solidFill>
              <a:srgbClr val="000000"/>
            </a:solidFill>
            <a:miter lim="800000"/>
            <a:headEnd/>
            <a:tailEnd/>
          </a:ln>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ysClr val="windowText" lastClr="000000"/>
                </a:solidFill>
                <a:effectLst/>
                <a:uLnTx/>
                <a:uFillTx/>
                <a:latin typeface="微软雅黑" pitchFamily="34" charset="-122"/>
                <a:ea typeface="微软雅黑" pitchFamily="34" charset="-122"/>
              </a:rPr>
              <a:t>慢启动</a:t>
            </a:r>
          </a:p>
        </p:txBody>
      </p:sp>
      <p:sp>
        <p:nvSpPr>
          <p:cNvPr id="3" name="文本框 2">
            <a:extLst>
              <a:ext uri="{FF2B5EF4-FFF2-40B4-BE49-F238E27FC236}">
                <a16:creationId xmlns:a16="http://schemas.microsoft.com/office/drawing/2014/main" id="{AF1E9F88-5B28-CB82-071F-C53D035E74D5}"/>
              </a:ext>
            </a:extLst>
          </p:cNvPr>
          <p:cNvSpPr txBox="1"/>
          <p:nvPr/>
        </p:nvSpPr>
        <p:spPr>
          <a:xfrm>
            <a:off x="1539778" y="4130213"/>
            <a:ext cx="6359234" cy="64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342900" indent="-342900">
              <a:lnSpc>
                <a:spcPct val="150000"/>
              </a:lnSpc>
              <a:buClr>
                <a:srgbClr val="0070C0"/>
              </a:buClr>
              <a:buFont typeface="Wingdings" pitchFamily="2" charset="2"/>
              <a:buChar char="l"/>
              <a:defRPr sz="2000" b="1">
                <a:latin typeface="微软雅黑" pitchFamily="34" charset="-122"/>
                <a:ea typeface="微软雅黑" pitchFamily="34" charset="-122"/>
              </a:defRPr>
            </a:lvl1pPr>
          </a:lstStyle>
          <a:p>
            <a:pPr marL="0" indent="0">
              <a:lnSpc>
                <a:spcPct val="100000"/>
              </a:lnSpc>
              <a:buNone/>
            </a:pPr>
            <a:r>
              <a:rPr lang="zh-CN" altLang="en-US" sz="1800" dirty="0">
                <a:solidFill>
                  <a:srgbClr val="C00000"/>
                </a:solidFill>
              </a:rPr>
              <a:t>拥塞避免算法</a:t>
            </a:r>
            <a:r>
              <a:rPr lang="zh-CN" altLang="en-US" sz="1800" dirty="0"/>
              <a:t>：每经过一个往返时间 </a:t>
            </a:r>
            <a:r>
              <a:rPr lang="en-US" altLang="zh-CN" sz="1800" dirty="0"/>
              <a:t>RTT</a:t>
            </a:r>
            <a:r>
              <a:rPr lang="zh-CN" altLang="en-US" sz="1800" dirty="0"/>
              <a:t>，发送方的拥塞窗口 </a:t>
            </a:r>
            <a:r>
              <a:rPr lang="en-US" altLang="zh-CN" sz="1800" dirty="0" err="1"/>
              <a:t>cwnd</a:t>
            </a:r>
            <a:r>
              <a:rPr lang="en-US" altLang="zh-CN" sz="1800" dirty="0"/>
              <a:t> </a:t>
            </a:r>
            <a:r>
              <a:rPr lang="zh-CN" altLang="en-US" sz="1800" dirty="0"/>
              <a:t>就增加 </a:t>
            </a:r>
            <a:r>
              <a:rPr lang="en-US" altLang="zh-CN" sz="1800" dirty="0"/>
              <a:t>1 MSS</a:t>
            </a:r>
            <a:r>
              <a:rPr lang="zh-CN" altLang="en-US" sz="1800" dirty="0"/>
              <a:t>。</a:t>
            </a:r>
          </a:p>
        </p:txBody>
      </p:sp>
      <p:cxnSp>
        <p:nvCxnSpPr>
          <p:cNvPr id="4" name="直接连接符 121">
            <a:extLst>
              <a:ext uri="{FF2B5EF4-FFF2-40B4-BE49-F238E27FC236}">
                <a16:creationId xmlns:a16="http://schemas.microsoft.com/office/drawing/2014/main" id="{92A5128E-B822-6610-5099-388B74655DB3}"/>
              </a:ext>
            </a:extLst>
          </p:cNvPr>
          <p:cNvCxnSpPr>
            <a:cxnSpLocks noChangeShapeType="1"/>
          </p:cNvCxnSpPr>
          <p:nvPr/>
        </p:nvCxnSpPr>
        <p:spPr bwMode="auto">
          <a:xfrm>
            <a:off x="2434250" y="2400724"/>
            <a:ext cx="3917332" cy="0"/>
          </a:xfrm>
          <a:prstGeom prst="line">
            <a:avLst/>
          </a:prstGeom>
          <a:noFill/>
          <a:ln w="12700" algn="ctr">
            <a:solidFill>
              <a:srgbClr val="000000"/>
            </a:solidFill>
            <a:prstDash val="dash"/>
            <a:round/>
            <a:headEnd/>
            <a:tailEnd/>
          </a:ln>
        </p:spPr>
      </p:cxnSp>
      <p:sp>
        <p:nvSpPr>
          <p:cNvPr id="7" name="Text Box 140">
            <a:extLst>
              <a:ext uri="{FF2B5EF4-FFF2-40B4-BE49-F238E27FC236}">
                <a16:creationId xmlns:a16="http://schemas.microsoft.com/office/drawing/2014/main" id="{A645AB1A-ECF1-75B8-BEEE-AA5D71CB45E4}"/>
              </a:ext>
            </a:extLst>
          </p:cNvPr>
          <p:cNvSpPr txBox="1">
            <a:spLocks noChangeArrowheads="1"/>
          </p:cNvSpPr>
          <p:nvPr/>
        </p:nvSpPr>
        <p:spPr bwMode="auto">
          <a:xfrm>
            <a:off x="6240029" y="2341204"/>
            <a:ext cx="182030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kern="0" dirty="0" err="1">
                <a:solidFill>
                  <a:srgbClr val="0000FF"/>
                </a:solidFill>
                <a:latin typeface="微软雅黑" pitchFamily="34" charset="-122"/>
                <a:ea typeface="微软雅黑" pitchFamily="34" charset="-122"/>
              </a:rPr>
              <a:t>cwnd</a:t>
            </a:r>
            <a:r>
              <a:rPr lang="en-US" altLang="zh-CN" sz="1200" b="1" kern="0" dirty="0">
                <a:solidFill>
                  <a:srgbClr val="0000FF"/>
                </a:solidFill>
                <a:latin typeface="微软雅黑" pitchFamily="34" charset="-122"/>
                <a:ea typeface="微软雅黑" pitchFamily="34" charset="-122"/>
              </a:rPr>
              <a:t> = 16/2 +3 = 11</a:t>
            </a:r>
            <a:endParaRPr lang="zh-CN" altLang="en-US" sz="1200" b="1" kern="0" dirty="0">
              <a:solidFill>
                <a:srgbClr val="0000FF"/>
              </a:solidFill>
              <a:latin typeface="微软雅黑" pitchFamily="34" charset="-122"/>
              <a:ea typeface="微软雅黑" pitchFamily="34" charset="-122"/>
            </a:endParaRPr>
          </a:p>
        </p:txBody>
      </p:sp>
      <p:sp>
        <p:nvSpPr>
          <p:cNvPr id="8" name="Line 167">
            <a:extLst>
              <a:ext uri="{FF2B5EF4-FFF2-40B4-BE49-F238E27FC236}">
                <a16:creationId xmlns:a16="http://schemas.microsoft.com/office/drawing/2014/main" id="{51F4342E-D739-95F2-20B0-4313D7068E82}"/>
              </a:ext>
            </a:extLst>
          </p:cNvPr>
          <p:cNvSpPr>
            <a:spLocks noChangeShapeType="1"/>
          </p:cNvSpPr>
          <p:nvPr/>
        </p:nvSpPr>
        <p:spPr bwMode="auto">
          <a:xfrm flipH="1" flipV="1">
            <a:off x="6023236" y="2408545"/>
            <a:ext cx="282314" cy="65835"/>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167">
            <a:extLst>
              <a:ext uri="{FF2B5EF4-FFF2-40B4-BE49-F238E27FC236}">
                <a16:creationId xmlns:a16="http://schemas.microsoft.com/office/drawing/2014/main" id="{B2BE51BD-395A-F4AD-E02E-C39FF25C3686}"/>
              </a:ext>
            </a:extLst>
          </p:cNvPr>
          <p:cNvSpPr>
            <a:spLocks noChangeShapeType="1"/>
          </p:cNvSpPr>
          <p:nvPr/>
        </p:nvSpPr>
        <p:spPr bwMode="auto">
          <a:xfrm flipH="1">
            <a:off x="4568956" y="1618893"/>
            <a:ext cx="367194" cy="691874"/>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Tree>
    <p:extLst>
      <p:ext uri="{BB962C8B-B14F-4D97-AF65-F5344CB8AC3E}">
        <p14:creationId xmlns:p14="http://schemas.microsoft.com/office/powerpoint/2010/main" val="2558167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nodeType="clickEffect">
                                  <p:stCondLst>
                                    <p:cond delay="0"/>
                                  </p:stCondLst>
                                  <p:childTnLst>
                                    <p:anim calcmode="discrete" valueType="str">
                                      <p:cBhvr>
                                        <p:cTn id="6" dur="1000" fill="hold"/>
                                        <p:tgtEl>
                                          <p:spTgt spid="5"/>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grpId="0" nodeType="withEffect">
                                  <p:stCondLst>
                                    <p:cond delay="0"/>
                                  </p:stCondLst>
                                  <p:childTnLst>
                                    <p:anim calcmode="discrete" valueType="str">
                                      <p:cBhvr>
                                        <p:cTn id="8" dur="1000" fill="hold"/>
                                        <p:tgtEl>
                                          <p:spTgt spid="257"/>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35" presetClass="emph" presetSubtype="0" repeatCount="3000" fill="hold" grpId="0" nodeType="clickEffect">
                                  <p:stCondLst>
                                    <p:cond delay="0"/>
                                  </p:stCondLst>
                                  <p:childTnLst>
                                    <p:anim calcmode="discrete" valueType="str">
                                      <p:cBhvr>
                                        <p:cTn id="12" dur="1000" fill="hold"/>
                                        <p:tgtEl>
                                          <p:spTgt spid="238"/>
                                        </p:tgtEl>
                                        <p:attrNameLst>
                                          <p:attrName>style.visibility</p:attrName>
                                        </p:attrNameLst>
                                      </p:cBhvr>
                                      <p:tavLst>
                                        <p:tav tm="0">
                                          <p:val>
                                            <p:strVal val="hidden"/>
                                          </p:val>
                                        </p:tav>
                                        <p:tav tm="50000">
                                          <p:val>
                                            <p:strVal val="visible"/>
                                          </p:val>
                                        </p:tav>
                                      </p:tavLst>
                                    </p:anim>
                                  </p:childTnLst>
                                </p:cTn>
                              </p:par>
                              <p:par>
                                <p:cTn id="13" presetID="35" presetClass="emph" presetSubtype="0" repeatCount="3000" fill="hold" grpId="0" nodeType="withEffect">
                                  <p:stCondLst>
                                    <p:cond delay="0"/>
                                  </p:stCondLst>
                                  <p:childTnLst>
                                    <p:anim calcmode="discrete" valueType="str">
                                      <p:cBhvr>
                                        <p:cTn id="14" dur="1000" fill="hold"/>
                                        <p:tgtEl>
                                          <p:spTgt spid="27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 grpId="0"/>
      <p:bldP spid="257" grpId="0" animBg="1"/>
      <p:bldP spid="270"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662BD-E725-30FD-174E-909E1280A7EE}"/>
            </a:ext>
          </a:extLst>
        </p:cNvPr>
        <p:cNvGrpSpPr/>
        <p:nvPr/>
      </p:nvGrpSpPr>
      <p:grpSpPr>
        <a:xfrm>
          <a:off x="0" y="0"/>
          <a:ext cx="0" cy="0"/>
          <a:chOff x="0" y="0"/>
          <a:chExt cx="0" cy="0"/>
        </a:xfrm>
      </p:grpSpPr>
      <p:sp>
        <p:nvSpPr>
          <p:cNvPr id="75" name="AutoShape 5">
            <a:extLst>
              <a:ext uri="{FF2B5EF4-FFF2-40B4-BE49-F238E27FC236}">
                <a16:creationId xmlns:a16="http://schemas.microsoft.com/office/drawing/2014/main" id="{F85BED26-8B05-6A58-B00F-CC4DA5B58305}"/>
              </a:ext>
            </a:extLst>
          </p:cNvPr>
          <p:cNvSpPr>
            <a:spLocks noChangeArrowheads="1"/>
          </p:cNvSpPr>
          <p:nvPr/>
        </p:nvSpPr>
        <p:spPr bwMode="auto">
          <a:xfrm>
            <a:off x="545144" y="630731"/>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矩形 75">
            <a:extLst>
              <a:ext uri="{FF2B5EF4-FFF2-40B4-BE49-F238E27FC236}">
                <a16:creationId xmlns:a16="http://schemas.microsoft.com/office/drawing/2014/main" id="{DD3293E1-2037-FD6C-552B-6ED4011BFC23}"/>
              </a:ext>
            </a:extLst>
          </p:cNvPr>
          <p:cNvSpPr/>
          <p:nvPr/>
        </p:nvSpPr>
        <p:spPr>
          <a:xfrm>
            <a:off x="616085" y="588491"/>
            <a:ext cx="1467068" cy="400110"/>
          </a:xfrm>
          <a:prstGeom prst="rect">
            <a:avLst/>
          </a:prstGeom>
        </p:spPr>
        <p:txBody>
          <a:bodyPr wrap="none">
            <a:spAutoFit/>
          </a:bodyPr>
          <a:lstStyle/>
          <a:p>
            <a:r>
              <a:rPr lang="zh-CN" altLang="en-US" sz="2000" b="1" dirty="0">
                <a:latin typeface="微软雅黑" pitchFamily="34" charset="-122"/>
                <a:ea typeface="微软雅黑" pitchFamily="34" charset="-122"/>
              </a:rPr>
              <a:t>快重传举例</a:t>
            </a:r>
          </a:p>
        </p:txBody>
      </p:sp>
      <p:sp>
        <p:nvSpPr>
          <p:cNvPr id="77" name="圆角矩形 76">
            <a:extLst>
              <a:ext uri="{FF2B5EF4-FFF2-40B4-BE49-F238E27FC236}">
                <a16:creationId xmlns:a16="http://schemas.microsoft.com/office/drawing/2014/main" id="{3EBA6B60-8EBE-C7D9-E103-1E4D0E303507}"/>
              </a:ext>
            </a:extLst>
          </p:cNvPr>
          <p:cNvSpPr/>
          <p:nvPr/>
        </p:nvSpPr>
        <p:spPr>
          <a:xfrm>
            <a:off x="545144" y="1013286"/>
            <a:ext cx="8053711" cy="336075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Text Box 3">
            <a:extLst>
              <a:ext uri="{FF2B5EF4-FFF2-40B4-BE49-F238E27FC236}">
                <a16:creationId xmlns:a16="http://schemas.microsoft.com/office/drawing/2014/main" id="{E19E6BEC-F1E3-B429-9ED8-5E36FCF9AEDB}"/>
              </a:ext>
            </a:extLst>
          </p:cNvPr>
          <p:cNvSpPr txBox="1">
            <a:spLocks noChangeArrowheads="1"/>
          </p:cNvSpPr>
          <p:nvPr/>
        </p:nvSpPr>
        <p:spPr bwMode="auto">
          <a:xfrm>
            <a:off x="4178937" y="1091334"/>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发送方</a:t>
            </a:r>
          </a:p>
        </p:txBody>
      </p:sp>
      <p:sp>
        <p:nvSpPr>
          <p:cNvPr id="79" name="Text Box 4">
            <a:extLst>
              <a:ext uri="{FF2B5EF4-FFF2-40B4-BE49-F238E27FC236}">
                <a16:creationId xmlns:a16="http://schemas.microsoft.com/office/drawing/2014/main" id="{75E2594A-43F9-CA14-B725-A31AF3AB544E}"/>
              </a:ext>
            </a:extLst>
          </p:cNvPr>
          <p:cNvSpPr txBox="1">
            <a:spLocks noChangeArrowheads="1"/>
          </p:cNvSpPr>
          <p:nvPr/>
        </p:nvSpPr>
        <p:spPr bwMode="auto">
          <a:xfrm>
            <a:off x="6361439" y="1099394"/>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接收方</a:t>
            </a:r>
          </a:p>
        </p:txBody>
      </p:sp>
      <p:grpSp>
        <p:nvGrpSpPr>
          <p:cNvPr id="9" name="组合 8">
            <a:extLst>
              <a:ext uri="{FF2B5EF4-FFF2-40B4-BE49-F238E27FC236}">
                <a16:creationId xmlns:a16="http://schemas.microsoft.com/office/drawing/2014/main" id="{757B84F2-79F9-C64D-3312-C2046A76AB3B}"/>
              </a:ext>
            </a:extLst>
          </p:cNvPr>
          <p:cNvGrpSpPr/>
          <p:nvPr/>
        </p:nvGrpSpPr>
        <p:grpSpPr>
          <a:xfrm>
            <a:off x="3776205" y="1332324"/>
            <a:ext cx="2906522" cy="362860"/>
            <a:chOff x="3776205" y="1332324"/>
            <a:chExt cx="2906522" cy="362860"/>
          </a:xfrm>
        </p:grpSpPr>
        <p:sp>
          <p:nvSpPr>
            <p:cNvPr id="80" name="Text Box 5">
              <a:extLst>
                <a:ext uri="{FF2B5EF4-FFF2-40B4-BE49-F238E27FC236}">
                  <a16:creationId xmlns:a16="http://schemas.microsoft.com/office/drawing/2014/main" id="{1FCAE466-277C-1076-F14B-B0D6582E7FD6}"/>
                </a:ext>
              </a:extLst>
            </p:cNvPr>
            <p:cNvSpPr txBox="1">
              <a:spLocks noChangeArrowheads="1"/>
            </p:cNvSpPr>
            <p:nvPr/>
          </p:nvSpPr>
          <p:spPr bwMode="auto">
            <a:xfrm>
              <a:off x="3776205" y="1332324"/>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a:t>
              </a:r>
            </a:p>
          </p:txBody>
        </p:sp>
        <p:sp>
          <p:nvSpPr>
            <p:cNvPr id="81" name="Line 6">
              <a:extLst>
                <a:ext uri="{FF2B5EF4-FFF2-40B4-BE49-F238E27FC236}">
                  <a16:creationId xmlns:a16="http://schemas.microsoft.com/office/drawing/2014/main" id="{1CBEAF50-E3E1-A440-0B33-247DF0005010}"/>
                </a:ext>
              </a:extLst>
            </p:cNvPr>
            <p:cNvSpPr>
              <a:spLocks noChangeShapeType="1"/>
            </p:cNvSpPr>
            <p:nvPr/>
          </p:nvSpPr>
          <p:spPr bwMode="auto">
            <a:xfrm>
              <a:off x="4493304" y="1492800"/>
              <a:ext cx="2189423" cy="20238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nvGrpSpPr>
          <p:cNvPr id="3" name="组合 2">
            <a:extLst>
              <a:ext uri="{FF2B5EF4-FFF2-40B4-BE49-F238E27FC236}">
                <a16:creationId xmlns:a16="http://schemas.microsoft.com/office/drawing/2014/main" id="{25336055-C967-A187-D992-E53C372FC455}"/>
              </a:ext>
            </a:extLst>
          </p:cNvPr>
          <p:cNvGrpSpPr/>
          <p:nvPr/>
        </p:nvGrpSpPr>
        <p:grpSpPr>
          <a:xfrm>
            <a:off x="4493304" y="1657364"/>
            <a:ext cx="2930637" cy="318908"/>
            <a:chOff x="4493304" y="1657364"/>
            <a:chExt cx="2930637" cy="318908"/>
          </a:xfrm>
        </p:grpSpPr>
        <p:sp>
          <p:nvSpPr>
            <p:cNvPr id="82" name="Line 7">
              <a:extLst>
                <a:ext uri="{FF2B5EF4-FFF2-40B4-BE49-F238E27FC236}">
                  <a16:creationId xmlns:a16="http://schemas.microsoft.com/office/drawing/2014/main" id="{4F242422-E11E-F555-5B19-E4CBAB985E54}"/>
                </a:ext>
              </a:extLst>
            </p:cNvPr>
            <p:cNvSpPr>
              <a:spLocks noChangeShapeType="1"/>
            </p:cNvSpPr>
            <p:nvPr/>
          </p:nvSpPr>
          <p:spPr bwMode="auto">
            <a:xfrm flipH="1">
              <a:off x="4493304" y="1773888"/>
              <a:ext cx="2189423" cy="20238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83" name="Text Box 8">
              <a:extLst>
                <a:ext uri="{FF2B5EF4-FFF2-40B4-BE49-F238E27FC236}">
                  <a16:creationId xmlns:a16="http://schemas.microsoft.com/office/drawing/2014/main" id="{A0AED429-E013-2D3E-6D8F-9CE54D133E0B}"/>
                </a:ext>
              </a:extLst>
            </p:cNvPr>
            <p:cNvSpPr txBox="1">
              <a:spLocks noChangeArrowheads="1"/>
            </p:cNvSpPr>
            <p:nvPr/>
          </p:nvSpPr>
          <p:spPr bwMode="auto">
            <a:xfrm>
              <a:off x="6617310" y="1657364"/>
              <a:ext cx="8066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grpSp>
      <p:grpSp>
        <p:nvGrpSpPr>
          <p:cNvPr id="85" name="Group 10">
            <a:extLst>
              <a:ext uri="{FF2B5EF4-FFF2-40B4-BE49-F238E27FC236}">
                <a16:creationId xmlns:a16="http://schemas.microsoft.com/office/drawing/2014/main" id="{B7AB4FF7-1B9D-97A1-F6C1-60662D54BFA6}"/>
              </a:ext>
            </a:extLst>
          </p:cNvPr>
          <p:cNvGrpSpPr>
            <a:grpSpLocks/>
          </p:cNvGrpSpPr>
          <p:nvPr/>
        </p:nvGrpSpPr>
        <p:grpSpPr bwMode="auto">
          <a:xfrm>
            <a:off x="4493304" y="1393652"/>
            <a:ext cx="2189423" cy="2798618"/>
            <a:chOff x="1607" y="677"/>
            <a:chExt cx="1640" cy="2728"/>
          </a:xfrm>
        </p:grpSpPr>
        <p:sp>
          <p:nvSpPr>
            <p:cNvPr id="86" name="Line 11">
              <a:extLst>
                <a:ext uri="{FF2B5EF4-FFF2-40B4-BE49-F238E27FC236}">
                  <a16:creationId xmlns:a16="http://schemas.microsoft.com/office/drawing/2014/main" id="{84AEBE90-5342-A064-E776-FDAF62E6ECC1}"/>
                </a:ext>
              </a:extLst>
            </p:cNvPr>
            <p:cNvSpPr>
              <a:spLocks noChangeShapeType="1"/>
            </p:cNvSpPr>
            <p:nvPr/>
          </p:nvSpPr>
          <p:spPr bwMode="auto">
            <a:xfrm>
              <a:off x="1607" y="677"/>
              <a:ext cx="0" cy="272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87" name="Line 12">
              <a:extLst>
                <a:ext uri="{FF2B5EF4-FFF2-40B4-BE49-F238E27FC236}">
                  <a16:creationId xmlns:a16="http://schemas.microsoft.com/office/drawing/2014/main" id="{C18C2722-3A34-01F5-022D-61C552195485}"/>
                </a:ext>
              </a:extLst>
            </p:cNvPr>
            <p:cNvSpPr>
              <a:spLocks noChangeShapeType="1"/>
            </p:cNvSpPr>
            <p:nvPr/>
          </p:nvSpPr>
          <p:spPr bwMode="auto">
            <a:xfrm>
              <a:off x="3247" y="677"/>
              <a:ext cx="0" cy="272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nvGrpSpPr>
          <p:cNvPr id="4" name="组合 3">
            <a:extLst>
              <a:ext uri="{FF2B5EF4-FFF2-40B4-BE49-F238E27FC236}">
                <a16:creationId xmlns:a16="http://schemas.microsoft.com/office/drawing/2014/main" id="{55410E81-42F4-3886-BACC-8B5AA8793A1E}"/>
              </a:ext>
            </a:extLst>
          </p:cNvPr>
          <p:cNvGrpSpPr/>
          <p:nvPr/>
        </p:nvGrpSpPr>
        <p:grpSpPr>
          <a:xfrm>
            <a:off x="4493304" y="1974228"/>
            <a:ext cx="3086862" cy="338328"/>
            <a:chOff x="4493304" y="1974228"/>
            <a:chExt cx="3086862" cy="338328"/>
          </a:xfrm>
        </p:grpSpPr>
        <p:sp>
          <p:nvSpPr>
            <p:cNvPr id="88" name="Text Box 13">
              <a:extLst>
                <a:ext uri="{FF2B5EF4-FFF2-40B4-BE49-F238E27FC236}">
                  <a16:creationId xmlns:a16="http://schemas.microsoft.com/office/drawing/2014/main" id="{B7B61695-82B5-F9A3-5C64-B8C25A15D70D}"/>
                </a:ext>
              </a:extLst>
            </p:cNvPr>
            <p:cNvSpPr txBox="1">
              <a:spLocks noChangeArrowheads="1"/>
            </p:cNvSpPr>
            <p:nvPr/>
          </p:nvSpPr>
          <p:spPr bwMode="auto">
            <a:xfrm>
              <a:off x="6617310" y="1974228"/>
              <a:ext cx="962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2 </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89" name="Line 14">
              <a:extLst>
                <a:ext uri="{FF2B5EF4-FFF2-40B4-BE49-F238E27FC236}">
                  <a16:creationId xmlns:a16="http://schemas.microsoft.com/office/drawing/2014/main" id="{117F75A1-7C24-AE0D-F8A1-AF57165D2C51}"/>
                </a:ext>
              </a:extLst>
            </p:cNvPr>
            <p:cNvSpPr>
              <a:spLocks noChangeShapeType="1"/>
            </p:cNvSpPr>
            <p:nvPr/>
          </p:nvSpPr>
          <p:spPr bwMode="auto">
            <a:xfrm flipH="1">
              <a:off x="4493304" y="2111194"/>
              <a:ext cx="2189423" cy="201362"/>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nvGrpSpPr>
          <p:cNvPr id="12" name="组合 11">
            <a:extLst>
              <a:ext uri="{FF2B5EF4-FFF2-40B4-BE49-F238E27FC236}">
                <a16:creationId xmlns:a16="http://schemas.microsoft.com/office/drawing/2014/main" id="{1A5E4D34-075D-B9CD-D2D5-1E3D94F755D8}"/>
              </a:ext>
            </a:extLst>
          </p:cNvPr>
          <p:cNvGrpSpPr/>
          <p:nvPr/>
        </p:nvGrpSpPr>
        <p:grpSpPr>
          <a:xfrm>
            <a:off x="3776205" y="2310512"/>
            <a:ext cx="2906522" cy="404768"/>
            <a:chOff x="3776205" y="2310512"/>
            <a:chExt cx="2906522" cy="404768"/>
          </a:xfrm>
        </p:grpSpPr>
        <p:sp>
          <p:nvSpPr>
            <p:cNvPr id="95" name="Text Box 20">
              <a:extLst>
                <a:ext uri="{FF2B5EF4-FFF2-40B4-BE49-F238E27FC236}">
                  <a16:creationId xmlns:a16="http://schemas.microsoft.com/office/drawing/2014/main" id="{0ED789FF-A7FE-8174-578C-AD9DE77D23A4}"/>
                </a:ext>
              </a:extLst>
            </p:cNvPr>
            <p:cNvSpPr txBox="1">
              <a:spLocks noChangeArrowheads="1"/>
            </p:cNvSpPr>
            <p:nvPr/>
          </p:nvSpPr>
          <p:spPr bwMode="auto">
            <a:xfrm>
              <a:off x="3776205" y="2310512"/>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4</a:t>
              </a:r>
            </a:p>
          </p:txBody>
        </p:sp>
        <p:sp>
          <p:nvSpPr>
            <p:cNvPr id="96" name="Line 21">
              <a:extLst>
                <a:ext uri="{FF2B5EF4-FFF2-40B4-BE49-F238E27FC236}">
                  <a16:creationId xmlns:a16="http://schemas.microsoft.com/office/drawing/2014/main" id="{CE1EE4B3-A19D-1F89-995A-5DB349345699}"/>
                </a:ext>
              </a:extLst>
            </p:cNvPr>
            <p:cNvSpPr>
              <a:spLocks noChangeShapeType="1"/>
            </p:cNvSpPr>
            <p:nvPr/>
          </p:nvSpPr>
          <p:spPr bwMode="auto">
            <a:xfrm>
              <a:off x="4493304" y="2512896"/>
              <a:ext cx="2189423" cy="20238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nvGrpSpPr>
          <p:cNvPr id="6" name="组合 5">
            <a:extLst>
              <a:ext uri="{FF2B5EF4-FFF2-40B4-BE49-F238E27FC236}">
                <a16:creationId xmlns:a16="http://schemas.microsoft.com/office/drawing/2014/main" id="{B92D704E-17E9-B509-CA05-84F67A8815A5}"/>
              </a:ext>
            </a:extLst>
          </p:cNvPr>
          <p:cNvGrpSpPr/>
          <p:nvPr/>
        </p:nvGrpSpPr>
        <p:grpSpPr>
          <a:xfrm>
            <a:off x="4493304" y="2596711"/>
            <a:ext cx="3260488" cy="387390"/>
            <a:chOff x="4493304" y="2596711"/>
            <a:chExt cx="3260488" cy="387390"/>
          </a:xfrm>
        </p:grpSpPr>
        <p:sp>
          <p:nvSpPr>
            <p:cNvPr id="90" name="Line 15">
              <a:extLst>
                <a:ext uri="{FF2B5EF4-FFF2-40B4-BE49-F238E27FC236}">
                  <a16:creationId xmlns:a16="http://schemas.microsoft.com/office/drawing/2014/main" id="{4FC15DDE-C698-2469-E944-D35C5A894605}"/>
                </a:ext>
              </a:extLst>
            </p:cNvPr>
            <p:cNvSpPr>
              <a:spLocks noChangeShapeType="1"/>
            </p:cNvSpPr>
            <p:nvPr/>
          </p:nvSpPr>
          <p:spPr bwMode="auto">
            <a:xfrm flipH="1">
              <a:off x="4493304" y="2783762"/>
              <a:ext cx="2189423" cy="200339"/>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100" name="Text Box 25">
              <a:extLst>
                <a:ext uri="{FF2B5EF4-FFF2-40B4-BE49-F238E27FC236}">
                  <a16:creationId xmlns:a16="http://schemas.microsoft.com/office/drawing/2014/main" id="{A5B02822-C493-BB59-56CB-6561F81E8A4A}"/>
                </a:ext>
              </a:extLst>
            </p:cNvPr>
            <p:cNvSpPr txBox="1">
              <a:spLocks noChangeArrowheads="1"/>
            </p:cNvSpPr>
            <p:nvPr/>
          </p:nvSpPr>
          <p:spPr bwMode="auto">
            <a:xfrm>
              <a:off x="6655414" y="2596711"/>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fontAlgn="auto" hangingPunct="1">
                <a:spcBef>
                  <a:spcPts val="0"/>
                </a:spcBef>
                <a:spcAft>
                  <a:spcPts val="0"/>
                </a:spcAft>
                <a:defRPr/>
              </a:pPr>
              <a:r>
                <a:rPr kumimoji="0" lang="zh-CN" altLang="en-US" sz="1200" kern="0" dirty="0">
                  <a:latin typeface="微软雅黑" pitchFamily="34" charset="-122"/>
                  <a:ea typeface="微软雅黑" pitchFamily="34" charset="-122"/>
                </a:rPr>
                <a:t>重复确认</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2 </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grpSp>
      <p:grpSp>
        <p:nvGrpSpPr>
          <p:cNvPr id="7" name="组合 6">
            <a:extLst>
              <a:ext uri="{FF2B5EF4-FFF2-40B4-BE49-F238E27FC236}">
                <a16:creationId xmlns:a16="http://schemas.microsoft.com/office/drawing/2014/main" id="{87409178-A7CF-469A-F5A0-E1E9A78A01CD}"/>
              </a:ext>
            </a:extLst>
          </p:cNvPr>
          <p:cNvGrpSpPr/>
          <p:nvPr/>
        </p:nvGrpSpPr>
        <p:grpSpPr>
          <a:xfrm>
            <a:off x="4493304" y="2953436"/>
            <a:ext cx="3268871" cy="366950"/>
            <a:chOff x="4493304" y="2953436"/>
            <a:chExt cx="3268871" cy="366950"/>
          </a:xfrm>
        </p:grpSpPr>
        <p:sp>
          <p:nvSpPr>
            <p:cNvPr id="91" name="Line 16">
              <a:extLst>
                <a:ext uri="{FF2B5EF4-FFF2-40B4-BE49-F238E27FC236}">
                  <a16:creationId xmlns:a16="http://schemas.microsoft.com/office/drawing/2014/main" id="{7E747F52-AEF8-5F87-996A-8B3BE4839741}"/>
                </a:ext>
              </a:extLst>
            </p:cNvPr>
            <p:cNvSpPr>
              <a:spLocks noChangeShapeType="1"/>
            </p:cNvSpPr>
            <p:nvPr/>
          </p:nvSpPr>
          <p:spPr bwMode="auto">
            <a:xfrm flipH="1">
              <a:off x="4493304" y="3118002"/>
              <a:ext cx="2189423" cy="20238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104" name="Text Box 29">
              <a:extLst>
                <a:ext uri="{FF2B5EF4-FFF2-40B4-BE49-F238E27FC236}">
                  <a16:creationId xmlns:a16="http://schemas.microsoft.com/office/drawing/2014/main" id="{13EB1CD5-83B8-55BD-DDBF-1FB02C6720FD}"/>
                </a:ext>
              </a:extLst>
            </p:cNvPr>
            <p:cNvSpPr txBox="1">
              <a:spLocks noChangeArrowheads="1"/>
            </p:cNvSpPr>
            <p:nvPr/>
          </p:nvSpPr>
          <p:spPr bwMode="auto">
            <a:xfrm>
              <a:off x="6617310" y="2953436"/>
              <a:ext cx="11448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重复确认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2 </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grpSp>
      <p:grpSp>
        <p:nvGrpSpPr>
          <p:cNvPr id="8" name="组合 7">
            <a:extLst>
              <a:ext uri="{FF2B5EF4-FFF2-40B4-BE49-F238E27FC236}">
                <a16:creationId xmlns:a16="http://schemas.microsoft.com/office/drawing/2014/main" id="{AF1BF67C-FE93-7218-9722-5B4A4668AF4A}"/>
              </a:ext>
            </a:extLst>
          </p:cNvPr>
          <p:cNvGrpSpPr/>
          <p:nvPr/>
        </p:nvGrpSpPr>
        <p:grpSpPr>
          <a:xfrm>
            <a:off x="4493304" y="3289722"/>
            <a:ext cx="3268871" cy="365925"/>
            <a:chOff x="4493304" y="3289722"/>
            <a:chExt cx="3268871" cy="365925"/>
          </a:xfrm>
        </p:grpSpPr>
        <p:sp>
          <p:nvSpPr>
            <p:cNvPr id="92" name="Line 17">
              <a:extLst>
                <a:ext uri="{FF2B5EF4-FFF2-40B4-BE49-F238E27FC236}">
                  <a16:creationId xmlns:a16="http://schemas.microsoft.com/office/drawing/2014/main" id="{AC1E04D3-DA9D-0686-C47E-CF4CE86C3746}"/>
                </a:ext>
              </a:extLst>
            </p:cNvPr>
            <p:cNvSpPr>
              <a:spLocks noChangeShapeType="1"/>
            </p:cNvSpPr>
            <p:nvPr/>
          </p:nvSpPr>
          <p:spPr bwMode="auto">
            <a:xfrm flipH="1">
              <a:off x="4493304" y="3452241"/>
              <a:ext cx="2189423" cy="203406"/>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105" name="Text Box 30">
              <a:extLst>
                <a:ext uri="{FF2B5EF4-FFF2-40B4-BE49-F238E27FC236}">
                  <a16:creationId xmlns:a16="http://schemas.microsoft.com/office/drawing/2014/main" id="{D04ADE19-77CA-C49E-4A55-F52950C590C9}"/>
                </a:ext>
              </a:extLst>
            </p:cNvPr>
            <p:cNvSpPr txBox="1">
              <a:spLocks noChangeArrowheads="1"/>
            </p:cNvSpPr>
            <p:nvPr/>
          </p:nvSpPr>
          <p:spPr bwMode="auto">
            <a:xfrm>
              <a:off x="6617310" y="3289722"/>
              <a:ext cx="11448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重复确认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2 </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grpSp>
      <p:grpSp>
        <p:nvGrpSpPr>
          <p:cNvPr id="15" name="组合 14">
            <a:extLst>
              <a:ext uri="{FF2B5EF4-FFF2-40B4-BE49-F238E27FC236}">
                <a16:creationId xmlns:a16="http://schemas.microsoft.com/office/drawing/2014/main" id="{1CFAC605-38CA-006A-FE68-ED5C42E41C4B}"/>
              </a:ext>
            </a:extLst>
          </p:cNvPr>
          <p:cNvGrpSpPr/>
          <p:nvPr/>
        </p:nvGrpSpPr>
        <p:grpSpPr>
          <a:xfrm>
            <a:off x="3776205" y="3355138"/>
            <a:ext cx="2909587" cy="367971"/>
            <a:chOff x="3776205" y="3355138"/>
            <a:chExt cx="2909587" cy="367971"/>
          </a:xfrm>
        </p:grpSpPr>
        <p:sp>
          <p:nvSpPr>
            <p:cNvPr id="107" name="Line 32">
              <a:extLst>
                <a:ext uri="{FF2B5EF4-FFF2-40B4-BE49-F238E27FC236}">
                  <a16:creationId xmlns:a16="http://schemas.microsoft.com/office/drawing/2014/main" id="{0B840766-C335-9E2B-5D85-0079B228F960}"/>
                </a:ext>
              </a:extLst>
            </p:cNvPr>
            <p:cNvSpPr>
              <a:spLocks noChangeShapeType="1"/>
            </p:cNvSpPr>
            <p:nvPr/>
          </p:nvSpPr>
          <p:spPr bwMode="auto">
            <a:xfrm>
              <a:off x="4497392" y="3520725"/>
              <a:ext cx="2188400" cy="20238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108" name="Text Box 33">
              <a:extLst>
                <a:ext uri="{FF2B5EF4-FFF2-40B4-BE49-F238E27FC236}">
                  <a16:creationId xmlns:a16="http://schemas.microsoft.com/office/drawing/2014/main" id="{9AA325F6-B18A-CBF4-0FA3-DFC2B19F7763}"/>
                </a:ext>
              </a:extLst>
            </p:cNvPr>
            <p:cNvSpPr txBox="1">
              <a:spLocks noChangeArrowheads="1"/>
            </p:cNvSpPr>
            <p:nvPr/>
          </p:nvSpPr>
          <p:spPr bwMode="auto">
            <a:xfrm>
              <a:off x="3776205" y="3355138"/>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7</a:t>
              </a:r>
            </a:p>
          </p:txBody>
        </p:sp>
      </p:grpSp>
      <p:grpSp>
        <p:nvGrpSpPr>
          <p:cNvPr id="109" name="Group 34">
            <a:extLst>
              <a:ext uri="{FF2B5EF4-FFF2-40B4-BE49-F238E27FC236}">
                <a16:creationId xmlns:a16="http://schemas.microsoft.com/office/drawing/2014/main" id="{F49F8CCC-4996-D7F1-6E46-4562812C9424}"/>
              </a:ext>
            </a:extLst>
          </p:cNvPr>
          <p:cNvGrpSpPr>
            <a:grpSpLocks/>
          </p:cNvGrpSpPr>
          <p:nvPr/>
        </p:nvGrpSpPr>
        <p:grpSpPr bwMode="auto">
          <a:xfrm>
            <a:off x="1488265" y="2924811"/>
            <a:ext cx="3018729" cy="830998"/>
            <a:chOff x="91" y="2556"/>
            <a:chExt cx="2765" cy="813"/>
          </a:xfrm>
        </p:grpSpPr>
        <p:sp>
          <p:nvSpPr>
            <p:cNvPr id="114" name="Line 38">
              <a:extLst>
                <a:ext uri="{FF2B5EF4-FFF2-40B4-BE49-F238E27FC236}">
                  <a16:creationId xmlns:a16="http://schemas.microsoft.com/office/drawing/2014/main" id="{CBE45F6A-8D7B-C651-84C8-D65617A34366}"/>
                </a:ext>
              </a:extLst>
            </p:cNvPr>
            <p:cNvSpPr>
              <a:spLocks noChangeShapeType="1"/>
            </p:cNvSpPr>
            <p:nvPr/>
          </p:nvSpPr>
          <p:spPr bwMode="auto">
            <a:xfrm>
              <a:off x="1919" y="3270"/>
              <a:ext cx="937" cy="0"/>
            </a:xfrm>
            <a:prstGeom prst="line">
              <a:avLst/>
            </a:prstGeom>
            <a:noFill/>
            <a:ln w="28575">
              <a:solidFill>
                <a:srgbClr val="000066"/>
              </a:solidFill>
              <a:prstDash val="sysDash"/>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111" name="Text Box 39">
              <a:extLst>
                <a:ext uri="{FF2B5EF4-FFF2-40B4-BE49-F238E27FC236}">
                  <a16:creationId xmlns:a16="http://schemas.microsoft.com/office/drawing/2014/main" id="{8A25DE58-778C-56AC-CBDE-B53B60FE62D9}"/>
                </a:ext>
              </a:extLst>
            </p:cNvPr>
            <p:cNvSpPr txBox="1">
              <a:spLocks noChangeArrowheads="1"/>
            </p:cNvSpPr>
            <p:nvPr/>
          </p:nvSpPr>
          <p:spPr bwMode="auto">
            <a:xfrm>
              <a:off x="91" y="2556"/>
              <a:ext cx="1836" cy="813"/>
            </a:xfrm>
            <a:prstGeom prst="rect">
              <a:avLst/>
            </a:prstGeom>
            <a:solidFill>
              <a:srgbClr val="00FF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effectLst/>
                  <a:uLnTx/>
                  <a:uFillTx/>
                  <a:latin typeface="微软雅黑" pitchFamily="34" charset="-122"/>
                  <a:ea typeface="微软雅黑" pitchFamily="34" charset="-122"/>
                </a:rPr>
                <a:t>收到三个连续的</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effectLst/>
                  <a:uLnTx/>
                  <a:uFillTx/>
                  <a:latin typeface="微软雅黑" pitchFamily="34" charset="-122"/>
                  <a:ea typeface="微软雅黑" pitchFamily="34" charset="-122"/>
                </a:rPr>
                <a:t>对 </a:t>
              </a:r>
              <a:r>
                <a:rPr kumimoji="0" lang="en-US" altLang="zh-CN" sz="16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600" b="1" i="0" u="none" strike="noStrike" kern="0" cap="none" spc="0" normalizeH="0" baseline="-25000" noProof="0" dirty="0">
                  <a:ln>
                    <a:noFill/>
                  </a:ln>
                  <a:effectLst/>
                  <a:uLnTx/>
                  <a:uFillTx/>
                  <a:latin typeface="微软雅黑" pitchFamily="34" charset="-122"/>
                  <a:ea typeface="微软雅黑" pitchFamily="34" charset="-122"/>
                </a:rPr>
                <a:t>3</a:t>
              </a:r>
              <a:r>
                <a:rPr kumimoji="0" lang="en-US" altLang="zh-CN" sz="16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600" b="1" i="0" u="none" strike="noStrike" kern="0" cap="none" spc="0" normalizeH="0" baseline="0" noProof="0" dirty="0">
                  <a:ln>
                    <a:noFill/>
                  </a:ln>
                  <a:effectLst/>
                  <a:uLnTx/>
                  <a:uFillTx/>
                  <a:latin typeface="微软雅黑" pitchFamily="34" charset="-122"/>
                  <a:ea typeface="微软雅黑" pitchFamily="34" charset="-122"/>
                </a:rPr>
                <a:t>的重复确认</a:t>
              </a:r>
              <a:r>
                <a:rPr kumimoji="0" lang="zh-CN" altLang="en-US" sz="1600" kern="0" dirty="0">
                  <a:latin typeface="微软雅黑" pitchFamily="34" charset="-122"/>
                  <a:ea typeface="微软雅黑" pitchFamily="34" charset="-122"/>
                </a:rPr>
                <a:t>，</a:t>
              </a:r>
              <a:r>
                <a:rPr kumimoji="0" lang="zh-CN" altLang="en-US" sz="1600" b="1" i="0" u="none" strike="noStrike" kern="0" cap="none" spc="0" normalizeH="0" baseline="0" noProof="0" dirty="0">
                  <a:ln>
                    <a:noFill/>
                  </a:ln>
                  <a:effectLst/>
                  <a:uLnTx/>
                  <a:uFillTx/>
                  <a:latin typeface="微软雅黑" pitchFamily="34" charset="-122"/>
                  <a:ea typeface="微软雅黑" pitchFamily="34" charset="-122"/>
                </a:rPr>
                <a:t>立即重传 </a:t>
              </a:r>
              <a:r>
                <a:rPr kumimoji="0" lang="en-US" altLang="zh-CN" sz="16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600" b="1" i="0" u="none" strike="noStrike" kern="0" cap="none" spc="0" normalizeH="0" baseline="-25000" noProof="0" dirty="0">
                  <a:ln>
                    <a:noFill/>
                  </a:ln>
                  <a:effectLst/>
                  <a:uLnTx/>
                  <a:uFillTx/>
                  <a:latin typeface="微软雅黑" pitchFamily="34" charset="-122"/>
                  <a:ea typeface="微软雅黑" pitchFamily="34" charset="-122"/>
                </a:rPr>
                <a:t>3</a:t>
              </a:r>
            </a:p>
          </p:txBody>
        </p:sp>
      </p:grpSp>
      <p:grpSp>
        <p:nvGrpSpPr>
          <p:cNvPr id="10" name="组合 9">
            <a:extLst>
              <a:ext uri="{FF2B5EF4-FFF2-40B4-BE49-F238E27FC236}">
                <a16:creationId xmlns:a16="http://schemas.microsoft.com/office/drawing/2014/main" id="{155D6105-A4AC-B6A9-0BA4-C9EE873B754D}"/>
              </a:ext>
            </a:extLst>
          </p:cNvPr>
          <p:cNvGrpSpPr/>
          <p:nvPr/>
        </p:nvGrpSpPr>
        <p:grpSpPr>
          <a:xfrm>
            <a:off x="3776205" y="1656343"/>
            <a:ext cx="2906522" cy="389435"/>
            <a:chOff x="3776205" y="1656343"/>
            <a:chExt cx="2906522" cy="389435"/>
          </a:xfrm>
        </p:grpSpPr>
        <p:sp>
          <p:nvSpPr>
            <p:cNvPr id="93" name="Text Box 18">
              <a:extLst>
                <a:ext uri="{FF2B5EF4-FFF2-40B4-BE49-F238E27FC236}">
                  <a16:creationId xmlns:a16="http://schemas.microsoft.com/office/drawing/2014/main" id="{9DF5901E-21A7-A58B-A20B-35D1D084886F}"/>
                </a:ext>
              </a:extLst>
            </p:cNvPr>
            <p:cNvSpPr txBox="1">
              <a:spLocks noChangeArrowheads="1"/>
            </p:cNvSpPr>
            <p:nvPr/>
          </p:nvSpPr>
          <p:spPr bwMode="auto">
            <a:xfrm>
              <a:off x="3776205" y="1656343"/>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2</a:t>
              </a:r>
            </a:p>
          </p:txBody>
        </p:sp>
        <p:sp>
          <p:nvSpPr>
            <p:cNvPr id="117" name="Line 42">
              <a:extLst>
                <a:ext uri="{FF2B5EF4-FFF2-40B4-BE49-F238E27FC236}">
                  <a16:creationId xmlns:a16="http://schemas.microsoft.com/office/drawing/2014/main" id="{CB639010-147B-C970-CC56-264090084065}"/>
                </a:ext>
              </a:extLst>
            </p:cNvPr>
            <p:cNvSpPr>
              <a:spLocks noChangeShapeType="1"/>
            </p:cNvSpPr>
            <p:nvPr/>
          </p:nvSpPr>
          <p:spPr bwMode="auto">
            <a:xfrm>
              <a:off x="4493304" y="1843394"/>
              <a:ext cx="2189423" cy="20238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nvGrpSpPr>
          <p:cNvPr id="11" name="组合 10">
            <a:extLst>
              <a:ext uri="{FF2B5EF4-FFF2-40B4-BE49-F238E27FC236}">
                <a16:creationId xmlns:a16="http://schemas.microsoft.com/office/drawing/2014/main" id="{E1174F1A-AAD5-9D80-C9EE-63C84B4B14B3}"/>
              </a:ext>
            </a:extLst>
          </p:cNvPr>
          <p:cNvGrpSpPr/>
          <p:nvPr/>
        </p:nvGrpSpPr>
        <p:grpSpPr>
          <a:xfrm>
            <a:off x="3776205" y="1938453"/>
            <a:ext cx="2400562" cy="706298"/>
            <a:chOff x="3776205" y="1938453"/>
            <a:chExt cx="2400562" cy="706298"/>
          </a:xfrm>
        </p:grpSpPr>
        <p:sp>
          <p:nvSpPr>
            <p:cNvPr id="94" name="Text Box 19">
              <a:extLst>
                <a:ext uri="{FF2B5EF4-FFF2-40B4-BE49-F238E27FC236}">
                  <a16:creationId xmlns:a16="http://schemas.microsoft.com/office/drawing/2014/main" id="{80CEAFD2-760A-9671-7303-9A8846509537}"/>
                </a:ext>
              </a:extLst>
            </p:cNvPr>
            <p:cNvSpPr txBox="1">
              <a:spLocks noChangeArrowheads="1"/>
            </p:cNvSpPr>
            <p:nvPr/>
          </p:nvSpPr>
          <p:spPr bwMode="auto">
            <a:xfrm>
              <a:off x="3776205" y="1984449"/>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3</a:t>
              </a:r>
            </a:p>
          </p:txBody>
        </p:sp>
        <p:grpSp>
          <p:nvGrpSpPr>
            <p:cNvPr id="5" name="组合 4">
              <a:extLst>
                <a:ext uri="{FF2B5EF4-FFF2-40B4-BE49-F238E27FC236}">
                  <a16:creationId xmlns:a16="http://schemas.microsoft.com/office/drawing/2014/main" id="{B44E2AC1-2DFB-E3AF-2CD5-1D5134055F5F}"/>
                </a:ext>
              </a:extLst>
            </p:cNvPr>
            <p:cNvGrpSpPr/>
            <p:nvPr/>
          </p:nvGrpSpPr>
          <p:grpSpPr>
            <a:xfrm>
              <a:off x="4493304" y="1938453"/>
              <a:ext cx="1683463" cy="706298"/>
              <a:chOff x="4493304" y="1938453"/>
              <a:chExt cx="1683463" cy="706298"/>
            </a:xfrm>
          </p:grpSpPr>
          <p:sp>
            <p:nvSpPr>
              <p:cNvPr id="115" name="AutoShape 40">
                <a:extLst>
                  <a:ext uri="{FF2B5EF4-FFF2-40B4-BE49-F238E27FC236}">
                    <a16:creationId xmlns:a16="http://schemas.microsoft.com/office/drawing/2014/main" id="{A65FE097-BD67-6CFD-6066-52031F9FAE89}"/>
                  </a:ext>
                </a:extLst>
              </p:cNvPr>
              <p:cNvSpPr>
                <a:spLocks noChangeArrowheads="1"/>
              </p:cNvSpPr>
              <p:nvPr/>
            </p:nvSpPr>
            <p:spPr bwMode="auto">
              <a:xfrm>
                <a:off x="5615613" y="1938453"/>
                <a:ext cx="561154" cy="706298"/>
              </a:xfrm>
              <a:prstGeom prst="irregularSeal1">
                <a:avLst/>
              </a:prstGeom>
              <a:solidFill>
                <a:srgbClr val="C00000"/>
              </a:solidFill>
              <a:ln w="9525">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116" name="Text Box 41">
                <a:extLst>
                  <a:ext uri="{FF2B5EF4-FFF2-40B4-BE49-F238E27FC236}">
                    <a16:creationId xmlns:a16="http://schemas.microsoft.com/office/drawing/2014/main" id="{06991F97-A260-D0D8-3E34-DCC3D3F52E6C}"/>
                  </a:ext>
                </a:extLst>
              </p:cNvPr>
              <p:cNvSpPr txBox="1">
                <a:spLocks noChangeArrowheads="1"/>
              </p:cNvSpPr>
              <p:nvPr/>
            </p:nvSpPr>
            <p:spPr bwMode="auto">
              <a:xfrm>
                <a:off x="5661609" y="2152198"/>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丢失</a:t>
                </a:r>
              </a:p>
            </p:txBody>
          </p:sp>
          <p:sp>
            <p:nvSpPr>
              <p:cNvPr id="118" name="Line 43">
                <a:extLst>
                  <a:ext uri="{FF2B5EF4-FFF2-40B4-BE49-F238E27FC236}">
                    <a16:creationId xmlns:a16="http://schemas.microsoft.com/office/drawing/2014/main" id="{BBCB1384-94F7-0104-58D7-15C41C73E295}"/>
                  </a:ext>
                </a:extLst>
              </p:cNvPr>
              <p:cNvSpPr>
                <a:spLocks noChangeShapeType="1"/>
              </p:cNvSpPr>
              <p:nvPr/>
            </p:nvSpPr>
            <p:spPr bwMode="auto">
              <a:xfrm>
                <a:off x="4493304" y="2177634"/>
                <a:ext cx="1178527" cy="10221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grpSp>
        <p:nvGrpSpPr>
          <p:cNvPr id="13" name="组合 12">
            <a:extLst>
              <a:ext uri="{FF2B5EF4-FFF2-40B4-BE49-F238E27FC236}">
                <a16:creationId xmlns:a16="http://schemas.microsoft.com/office/drawing/2014/main" id="{6D6F07CB-CCDC-C5BA-9FB7-627C86C876CA}"/>
              </a:ext>
            </a:extLst>
          </p:cNvPr>
          <p:cNvGrpSpPr/>
          <p:nvPr/>
        </p:nvGrpSpPr>
        <p:grpSpPr>
          <a:xfrm>
            <a:off x="3776205" y="2663150"/>
            <a:ext cx="2909587" cy="388412"/>
            <a:chOff x="3776205" y="2663150"/>
            <a:chExt cx="2909587" cy="388412"/>
          </a:xfrm>
        </p:grpSpPr>
        <p:sp>
          <p:nvSpPr>
            <p:cNvPr id="98" name="Text Box 23">
              <a:extLst>
                <a:ext uri="{FF2B5EF4-FFF2-40B4-BE49-F238E27FC236}">
                  <a16:creationId xmlns:a16="http://schemas.microsoft.com/office/drawing/2014/main" id="{08DD51E9-E153-7519-A01D-4882E6DCBB45}"/>
                </a:ext>
              </a:extLst>
            </p:cNvPr>
            <p:cNvSpPr txBox="1">
              <a:spLocks noChangeArrowheads="1"/>
            </p:cNvSpPr>
            <p:nvPr/>
          </p:nvSpPr>
          <p:spPr bwMode="auto">
            <a:xfrm>
              <a:off x="3776205" y="2663150"/>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5</a:t>
              </a:r>
            </a:p>
          </p:txBody>
        </p:sp>
        <p:sp>
          <p:nvSpPr>
            <p:cNvPr id="119" name="Line 44">
              <a:extLst>
                <a:ext uri="{FF2B5EF4-FFF2-40B4-BE49-F238E27FC236}">
                  <a16:creationId xmlns:a16="http://schemas.microsoft.com/office/drawing/2014/main" id="{61F44FA8-2A95-5E78-83AF-401E1961EB4A}"/>
                </a:ext>
              </a:extLst>
            </p:cNvPr>
            <p:cNvSpPr>
              <a:spLocks noChangeShapeType="1"/>
            </p:cNvSpPr>
            <p:nvPr/>
          </p:nvSpPr>
          <p:spPr bwMode="auto">
            <a:xfrm>
              <a:off x="4497392" y="2848157"/>
              <a:ext cx="2188400" cy="203405"/>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nvGrpSpPr>
          <p:cNvPr id="14" name="组合 13">
            <a:extLst>
              <a:ext uri="{FF2B5EF4-FFF2-40B4-BE49-F238E27FC236}">
                <a16:creationId xmlns:a16="http://schemas.microsoft.com/office/drawing/2014/main" id="{25A617DB-0228-B8D9-5AA9-A1247ECCF129}"/>
              </a:ext>
            </a:extLst>
          </p:cNvPr>
          <p:cNvGrpSpPr/>
          <p:nvPr/>
        </p:nvGrpSpPr>
        <p:grpSpPr>
          <a:xfrm>
            <a:off x="3776205" y="2998412"/>
            <a:ext cx="2909587" cy="388413"/>
            <a:chOff x="3776205" y="2998412"/>
            <a:chExt cx="2909587" cy="388413"/>
          </a:xfrm>
        </p:grpSpPr>
        <p:sp>
          <p:nvSpPr>
            <p:cNvPr id="99" name="Text Box 24">
              <a:extLst>
                <a:ext uri="{FF2B5EF4-FFF2-40B4-BE49-F238E27FC236}">
                  <a16:creationId xmlns:a16="http://schemas.microsoft.com/office/drawing/2014/main" id="{BBB0EB4D-9609-0854-3484-CD934D7647CB}"/>
                </a:ext>
              </a:extLst>
            </p:cNvPr>
            <p:cNvSpPr txBox="1">
              <a:spLocks noChangeArrowheads="1"/>
            </p:cNvSpPr>
            <p:nvPr/>
          </p:nvSpPr>
          <p:spPr bwMode="auto">
            <a:xfrm>
              <a:off x="3776205" y="2998412"/>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6</a:t>
              </a:r>
            </a:p>
          </p:txBody>
        </p:sp>
        <p:sp>
          <p:nvSpPr>
            <p:cNvPr id="120" name="Line 45">
              <a:extLst>
                <a:ext uri="{FF2B5EF4-FFF2-40B4-BE49-F238E27FC236}">
                  <a16:creationId xmlns:a16="http://schemas.microsoft.com/office/drawing/2014/main" id="{C17F016A-CA09-2744-4BBA-B5F9AACE6860}"/>
                </a:ext>
              </a:extLst>
            </p:cNvPr>
            <p:cNvSpPr>
              <a:spLocks noChangeShapeType="1"/>
            </p:cNvSpPr>
            <p:nvPr/>
          </p:nvSpPr>
          <p:spPr bwMode="auto">
            <a:xfrm>
              <a:off x="4497392" y="3184441"/>
              <a:ext cx="2188400" cy="20238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nvGrpSpPr>
          <p:cNvPr id="16" name="组合 15">
            <a:extLst>
              <a:ext uri="{FF2B5EF4-FFF2-40B4-BE49-F238E27FC236}">
                <a16:creationId xmlns:a16="http://schemas.microsoft.com/office/drawing/2014/main" id="{0FF2EA3B-74E0-E7EF-8E92-15276D7C1094}"/>
              </a:ext>
            </a:extLst>
          </p:cNvPr>
          <p:cNvGrpSpPr/>
          <p:nvPr/>
        </p:nvGrpSpPr>
        <p:grpSpPr>
          <a:xfrm>
            <a:off x="3483631" y="3666889"/>
            <a:ext cx="3199096" cy="326064"/>
            <a:chOff x="3483631" y="3666889"/>
            <a:chExt cx="3199096" cy="326064"/>
          </a:xfrm>
        </p:grpSpPr>
        <p:sp>
          <p:nvSpPr>
            <p:cNvPr id="102" name="Line 27">
              <a:extLst>
                <a:ext uri="{FF2B5EF4-FFF2-40B4-BE49-F238E27FC236}">
                  <a16:creationId xmlns:a16="http://schemas.microsoft.com/office/drawing/2014/main" id="{227EA437-AFA9-5DB9-333C-9CB1AF1EA6C8}"/>
                </a:ext>
              </a:extLst>
            </p:cNvPr>
            <p:cNvSpPr>
              <a:spLocks noChangeShapeType="1"/>
            </p:cNvSpPr>
            <p:nvPr/>
          </p:nvSpPr>
          <p:spPr bwMode="auto">
            <a:xfrm>
              <a:off x="4493304" y="3789547"/>
              <a:ext cx="2189423" cy="203406"/>
            </a:xfrm>
            <a:prstGeom prst="line">
              <a:avLst/>
            </a:prstGeom>
            <a:noFill/>
            <a:ln w="3810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60" name="Text Box 33">
              <a:extLst>
                <a:ext uri="{FF2B5EF4-FFF2-40B4-BE49-F238E27FC236}">
                  <a16:creationId xmlns:a16="http://schemas.microsoft.com/office/drawing/2014/main" id="{B6AD4A49-D826-0FE2-2AEC-A5BC60CB7B73}"/>
                </a:ext>
              </a:extLst>
            </p:cNvPr>
            <p:cNvSpPr txBox="1">
              <a:spLocks noChangeArrowheads="1"/>
            </p:cNvSpPr>
            <p:nvPr/>
          </p:nvSpPr>
          <p:spPr bwMode="auto">
            <a:xfrm>
              <a:off x="3483631" y="3666889"/>
              <a:ext cx="106792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kern="0" dirty="0">
                  <a:solidFill>
                    <a:srgbClr val="C00000"/>
                  </a:solidFill>
                  <a:latin typeface="微软雅黑" pitchFamily="34" charset="-122"/>
                  <a:ea typeface="微软雅黑" pitchFamily="34" charset="-122"/>
                </a:rPr>
                <a:t>立即重传</a:t>
              </a:r>
              <a:r>
                <a:rPr kumimoji="0" lang="zh-CN" altLang="en-US" sz="1200" b="1" i="0" u="none" strike="noStrike" kern="0" cap="none" spc="0" normalizeH="0" baseline="0" noProof="0" dirty="0">
                  <a:ln>
                    <a:noFill/>
                  </a:ln>
                  <a:solidFill>
                    <a:srgbClr val="C00000"/>
                  </a:solidFill>
                  <a:effectLst/>
                  <a:uLnTx/>
                  <a:uFillTx/>
                  <a:latin typeface="微软雅黑" pitchFamily="34" charset="-122"/>
                  <a:ea typeface="微软雅黑" pitchFamily="34" charset="-122"/>
                </a:rPr>
                <a:t> </a:t>
              </a:r>
              <a:r>
                <a:rPr kumimoji="0" lang="en-US" altLang="zh-CN" sz="1200" b="1" i="0" u="none" strike="noStrike" kern="0" cap="none" spc="0" normalizeH="0" baseline="0" noProof="0" dirty="0">
                  <a:ln>
                    <a:noFill/>
                  </a:ln>
                  <a:solidFill>
                    <a:srgbClr val="C00000"/>
                  </a:solidFill>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solidFill>
                    <a:srgbClr val="C00000"/>
                  </a:solidFill>
                  <a:effectLst/>
                  <a:uLnTx/>
                  <a:uFillTx/>
                  <a:latin typeface="微软雅黑" pitchFamily="34" charset="-122"/>
                  <a:ea typeface="微软雅黑" pitchFamily="34" charset="-122"/>
                </a:rPr>
                <a:t>3</a:t>
              </a:r>
            </a:p>
          </p:txBody>
        </p:sp>
      </p:grpSp>
      <p:sp>
        <p:nvSpPr>
          <p:cNvPr id="17" name="文本框 16">
            <a:extLst>
              <a:ext uri="{FF2B5EF4-FFF2-40B4-BE49-F238E27FC236}">
                <a16:creationId xmlns:a16="http://schemas.microsoft.com/office/drawing/2014/main" id="{2A9B03D3-CFA4-FEF5-7818-EB35B4D6ED62}"/>
              </a:ext>
            </a:extLst>
          </p:cNvPr>
          <p:cNvSpPr txBox="1"/>
          <p:nvPr/>
        </p:nvSpPr>
        <p:spPr>
          <a:xfrm>
            <a:off x="877010" y="1312567"/>
            <a:ext cx="2560714" cy="1200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indent="0">
              <a:lnSpc>
                <a:spcPct val="100000"/>
              </a:lnSpc>
              <a:buClr>
                <a:srgbClr val="0070C0"/>
              </a:buClr>
              <a:buFont typeface="Wingdings" pitchFamily="2" charset="2"/>
              <a:buNone/>
              <a:defRPr sz="1800" b="1">
                <a:solidFill>
                  <a:srgbClr val="C00000"/>
                </a:solidFill>
                <a:latin typeface="微软雅黑" pitchFamily="34" charset="-122"/>
                <a:ea typeface="微软雅黑" pitchFamily="34" charset="-122"/>
              </a:defRPr>
            </a:lvl1pPr>
          </a:lstStyle>
          <a:p>
            <a:r>
              <a:rPr lang="en-US" altLang="zh-CN" dirty="0">
                <a:solidFill>
                  <a:schemeClr val="tx1"/>
                </a:solidFill>
              </a:rPr>
              <a:t>TCP</a:t>
            </a:r>
            <a:r>
              <a:rPr lang="zh-CN" altLang="en-US" dirty="0">
                <a:solidFill>
                  <a:schemeClr val="tx1"/>
                </a:solidFill>
              </a:rPr>
              <a:t>的接收方在收到失序报文段时需要发出对已收到的报文段进行重复确认。</a:t>
            </a:r>
          </a:p>
        </p:txBody>
      </p:sp>
    </p:spTree>
    <p:extLst>
      <p:ext uri="{BB962C8B-B14F-4D97-AF65-F5344CB8AC3E}">
        <p14:creationId xmlns:p14="http://schemas.microsoft.com/office/powerpoint/2010/main" val="1598681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5" presetClass="emph" presetSubtype="0" repeatCount="3000" fill="hold" nodeType="clickEffect">
                                  <p:stCondLst>
                                    <p:cond delay="0"/>
                                  </p:stCondLst>
                                  <p:childTnLst>
                                    <p:anim calcmode="discrete" valueType="str">
                                      <p:cBhvr>
                                        <p:cTn id="13" dur="1000" fill="hold"/>
                                        <p:tgtEl>
                                          <p:spTgt spid="9"/>
                                        </p:tgtEl>
                                        <p:attrNameLst>
                                          <p:attrName>style.visibility</p:attrName>
                                        </p:attrNameLst>
                                      </p:cBhvr>
                                      <p:tavLst>
                                        <p:tav tm="0">
                                          <p:val>
                                            <p:strVal val="hidden"/>
                                          </p:val>
                                        </p:tav>
                                        <p:tav tm="50000">
                                          <p:val>
                                            <p:strVal val="visible"/>
                                          </p:val>
                                        </p:tav>
                                      </p:tavLst>
                                    </p:anim>
                                  </p:childTnLst>
                                </p:cTn>
                              </p:par>
                              <p:par>
                                <p:cTn id="14" presetID="35" presetClass="emph" presetSubtype="0" repeatCount="3000" fill="hold" nodeType="withEffect">
                                  <p:stCondLst>
                                    <p:cond delay="0"/>
                                  </p:stCondLst>
                                  <p:childTnLst>
                                    <p:anim calcmode="discrete" valueType="str">
                                      <p:cBhvr>
                                        <p:cTn id="15" dur="1000" fill="hold"/>
                                        <p:tgtEl>
                                          <p:spTgt spid="10"/>
                                        </p:tgtEl>
                                        <p:attrNameLst>
                                          <p:attrName>style.visibility</p:attrName>
                                        </p:attrNameLst>
                                      </p:cBhvr>
                                      <p:tavLst>
                                        <p:tav tm="0">
                                          <p:val>
                                            <p:strVal val="hidden"/>
                                          </p:val>
                                        </p:tav>
                                        <p:tav tm="50000">
                                          <p:val>
                                            <p:strVal val="visible"/>
                                          </p:val>
                                        </p:tav>
                                      </p:tavLst>
                                    </p:anim>
                                  </p:childTnLst>
                                </p:cTn>
                              </p:par>
                            </p:childTnLst>
                          </p:cTn>
                        </p:par>
                      </p:childTnLst>
                    </p:cTn>
                  </p:par>
                  <p:par>
                    <p:cTn id="16" fill="hold">
                      <p:stCondLst>
                        <p:cond delay="indefinite"/>
                      </p:stCondLst>
                      <p:childTnLst>
                        <p:par>
                          <p:cTn id="17" fill="hold">
                            <p:stCondLst>
                              <p:cond delay="0"/>
                            </p:stCondLst>
                            <p:childTnLst>
                              <p:par>
                                <p:cTn id="18" presetID="35" presetClass="emph" presetSubtype="0" repeatCount="3000" fill="hold" nodeType="clickEffect">
                                  <p:stCondLst>
                                    <p:cond delay="0"/>
                                  </p:stCondLst>
                                  <p:childTnLst>
                                    <p:anim calcmode="discrete" valueType="str">
                                      <p:cBhvr>
                                        <p:cTn id="19" dur="1000" fill="hold"/>
                                        <p:tgtEl>
                                          <p:spTgt spid="3"/>
                                        </p:tgtEl>
                                        <p:attrNameLst>
                                          <p:attrName>style.visibility</p:attrName>
                                        </p:attrNameLst>
                                      </p:cBhvr>
                                      <p:tavLst>
                                        <p:tav tm="0">
                                          <p:val>
                                            <p:strVal val="hidden"/>
                                          </p:val>
                                        </p:tav>
                                        <p:tav tm="50000">
                                          <p:val>
                                            <p:strVal val="visible"/>
                                          </p:val>
                                        </p:tav>
                                      </p:tavLst>
                                    </p:anim>
                                  </p:childTnLst>
                                </p:cTn>
                              </p:par>
                              <p:par>
                                <p:cTn id="20" presetID="35" presetClass="emph" presetSubtype="0" repeatCount="3000" fill="hold" nodeType="withEffect">
                                  <p:stCondLst>
                                    <p:cond delay="0"/>
                                  </p:stCondLst>
                                  <p:childTnLst>
                                    <p:anim calcmode="discrete" valueType="str">
                                      <p:cBhvr>
                                        <p:cTn id="21"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22" fill="hold">
                      <p:stCondLst>
                        <p:cond delay="indefinite"/>
                      </p:stCondLst>
                      <p:childTnLst>
                        <p:par>
                          <p:cTn id="23" fill="hold">
                            <p:stCondLst>
                              <p:cond delay="0"/>
                            </p:stCondLst>
                            <p:childTnLst>
                              <p:par>
                                <p:cTn id="24" presetID="35" presetClass="emph" presetSubtype="0" repeatCount="3000" fill="hold" nodeType="clickEffect">
                                  <p:stCondLst>
                                    <p:cond delay="0"/>
                                  </p:stCondLst>
                                  <p:childTnLst>
                                    <p:anim calcmode="discrete" valueType="str">
                                      <p:cBhvr>
                                        <p:cTn id="25" dur="1000" fill="hold"/>
                                        <p:tgtEl>
                                          <p:spTgt spid="11"/>
                                        </p:tgtEl>
                                        <p:attrNameLst>
                                          <p:attrName>style.visibility</p:attrName>
                                        </p:attrNameLst>
                                      </p:cBhvr>
                                      <p:tavLst>
                                        <p:tav tm="0">
                                          <p:val>
                                            <p:strVal val="hidden"/>
                                          </p:val>
                                        </p:tav>
                                        <p:tav tm="50000">
                                          <p:val>
                                            <p:strVal val="visible"/>
                                          </p:val>
                                        </p:tav>
                                      </p:tavLst>
                                    </p:anim>
                                  </p:childTnLst>
                                </p:cTn>
                              </p:par>
                              <p:par>
                                <p:cTn id="26" presetID="35" presetClass="emph" presetSubtype="0" repeatCount="3000" fill="hold" nodeType="withEffect">
                                  <p:stCondLst>
                                    <p:cond delay="0"/>
                                  </p:stCondLst>
                                  <p:childTnLst>
                                    <p:anim calcmode="discrete" valueType="str">
                                      <p:cBhvr>
                                        <p:cTn id="27" dur="1000" fill="hold"/>
                                        <p:tgtEl>
                                          <p:spTgt spid="12"/>
                                        </p:tgtEl>
                                        <p:attrNameLst>
                                          <p:attrName>style.visibility</p:attrName>
                                        </p:attrNameLst>
                                      </p:cBhvr>
                                      <p:tavLst>
                                        <p:tav tm="0">
                                          <p:val>
                                            <p:strVal val="hidden"/>
                                          </p:val>
                                        </p:tav>
                                        <p:tav tm="50000">
                                          <p:val>
                                            <p:strVal val="visible"/>
                                          </p:val>
                                        </p:tav>
                                      </p:tavLst>
                                    </p:anim>
                                  </p:childTnLst>
                                </p:cTn>
                              </p:par>
                            </p:childTnLst>
                          </p:cTn>
                        </p:par>
                      </p:childTnLst>
                    </p:cTn>
                  </p:par>
                  <p:par>
                    <p:cTn id="28" fill="hold">
                      <p:stCondLst>
                        <p:cond delay="indefinite"/>
                      </p:stCondLst>
                      <p:childTnLst>
                        <p:par>
                          <p:cTn id="29" fill="hold">
                            <p:stCondLst>
                              <p:cond delay="0"/>
                            </p:stCondLst>
                            <p:childTnLst>
                              <p:par>
                                <p:cTn id="30" presetID="35" presetClass="emph" presetSubtype="0" repeatCount="3000" fill="hold" nodeType="clickEffect">
                                  <p:stCondLst>
                                    <p:cond delay="0"/>
                                  </p:stCondLst>
                                  <p:childTnLst>
                                    <p:anim calcmode="discrete" valueType="str">
                                      <p:cBhvr>
                                        <p:cTn id="31" dur="1000" fill="hold"/>
                                        <p:tgtEl>
                                          <p:spTgt spid="6"/>
                                        </p:tgtEl>
                                        <p:attrNameLst>
                                          <p:attrName>style.visibility</p:attrName>
                                        </p:attrNameLst>
                                      </p:cBhvr>
                                      <p:tavLst>
                                        <p:tav tm="0">
                                          <p:val>
                                            <p:strVal val="hidden"/>
                                          </p:val>
                                        </p:tav>
                                        <p:tav tm="50000">
                                          <p:val>
                                            <p:strVal val="visible"/>
                                          </p:val>
                                        </p:tav>
                                      </p:tavLst>
                                    </p:anim>
                                  </p:childTnLst>
                                </p:cTn>
                              </p:par>
                            </p:childTnLst>
                          </p:cTn>
                        </p:par>
                      </p:childTnLst>
                    </p:cTn>
                  </p:par>
                  <p:par>
                    <p:cTn id="32" fill="hold">
                      <p:stCondLst>
                        <p:cond delay="indefinite"/>
                      </p:stCondLst>
                      <p:childTnLst>
                        <p:par>
                          <p:cTn id="33" fill="hold">
                            <p:stCondLst>
                              <p:cond delay="0"/>
                            </p:stCondLst>
                            <p:childTnLst>
                              <p:par>
                                <p:cTn id="34" presetID="35" presetClass="emph" presetSubtype="0" repeatCount="3000" fill="hold" nodeType="clickEffect">
                                  <p:stCondLst>
                                    <p:cond delay="0"/>
                                  </p:stCondLst>
                                  <p:childTnLst>
                                    <p:anim calcmode="discrete" valueType="str">
                                      <p:cBhvr>
                                        <p:cTn id="35" dur="1000" fill="hold"/>
                                        <p:tgtEl>
                                          <p:spTgt spid="13"/>
                                        </p:tgtEl>
                                        <p:attrNameLst>
                                          <p:attrName>style.visibility</p:attrName>
                                        </p:attrNameLst>
                                      </p:cBhvr>
                                      <p:tavLst>
                                        <p:tav tm="0">
                                          <p:val>
                                            <p:strVal val="hidden"/>
                                          </p:val>
                                        </p:tav>
                                        <p:tav tm="50000">
                                          <p:val>
                                            <p:strVal val="visible"/>
                                          </p:val>
                                        </p:tav>
                                      </p:tavLst>
                                    </p:anim>
                                  </p:childTnLst>
                                </p:cTn>
                              </p:par>
                              <p:par>
                                <p:cTn id="36" presetID="35" presetClass="emph" presetSubtype="0" repeatCount="3000" fill="hold" nodeType="withEffect">
                                  <p:stCondLst>
                                    <p:cond delay="0"/>
                                  </p:stCondLst>
                                  <p:childTnLst>
                                    <p:anim calcmode="discrete" valueType="str">
                                      <p:cBhvr>
                                        <p:cTn id="37" dur="1000" fill="hold"/>
                                        <p:tgtEl>
                                          <p:spTgt spid="14"/>
                                        </p:tgtEl>
                                        <p:attrNameLst>
                                          <p:attrName>style.visibility</p:attrName>
                                        </p:attrNameLst>
                                      </p:cBhvr>
                                      <p:tavLst>
                                        <p:tav tm="0">
                                          <p:val>
                                            <p:strVal val="hidden"/>
                                          </p:val>
                                        </p:tav>
                                        <p:tav tm="50000">
                                          <p:val>
                                            <p:strVal val="visible"/>
                                          </p:val>
                                        </p:tav>
                                      </p:tavLst>
                                    </p:anim>
                                  </p:childTnLst>
                                </p:cTn>
                              </p:par>
                            </p:childTnLst>
                          </p:cTn>
                        </p:par>
                      </p:childTnLst>
                    </p:cTn>
                  </p:par>
                  <p:par>
                    <p:cTn id="38" fill="hold">
                      <p:stCondLst>
                        <p:cond delay="indefinite"/>
                      </p:stCondLst>
                      <p:childTnLst>
                        <p:par>
                          <p:cTn id="39" fill="hold">
                            <p:stCondLst>
                              <p:cond delay="0"/>
                            </p:stCondLst>
                            <p:childTnLst>
                              <p:par>
                                <p:cTn id="40" presetID="35" presetClass="emph" presetSubtype="0" repeatCount="3000" fill="hold" nodeType="clickEffect">
                                  <p:stCondLst>
                                    <p:cond delay="0"/>
                                  </p:stCondLst>
                                  <p:childTnLst>
                                    <p:anim calcmode="discrete" valueType="str">
                                      <p:cBhvr>
                                        <p:cTn id="41" dur="1000" fill="hold"/>
                                        <p:tgtEl>
                                          <p:spTgt spid="7"/>
                                        </p:tgtEl>
                                        <p:attrNameLst>
                                          <p:attrName>style.visibility</p:attrName>
                                        </p:attrNameLst>
                                      </p:cBhvr>
                                      <p:tavLst>
                                        <p:tav tm="0">
                                          <p:val>
                                            <p:strVal val="hidden"/>
                                          </p:val>
                                        </p:tav>
                                        <p:tav tm="50000">
                                          <p:val>
                                            <p:strVal val="visible"/>
                                          </p:val>
                                        </p:tav>
                                      </p:tavLst>
                                    </p:anim>
                                  </p:childTnLst>
                                </p:cTn>
                              </p:par>
                              <p:par>
                                <p:cTn id="42" presetID="35" presetClass="emph" presetSubtype="0" repeatCount="3000" fill="hold" nodeType="withEffect">
                                  <p:stCondLst>
                                    <p:cond delay="0"/>
                                  </p:stCondLst>
                                  <p:childTnLst>
                                    <p:anim calcmode="discrete" valueType="str">
                                      <p:cBhvr>
                                        <p:cTn id="43"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par>
                    <p:cTn id="44" fill="hold">
                      <p:stCondLst>
                        <p:cond delay="indefinite"/>
                      </p:stCondLst>
                      <p:childTnLst>
                        <p:par>
                          <p:cTn id="45" fill="hold">
                            <p:stCondLst>
                              <p:cond delay="0"/>
                            </p:stCondLst>
                            <p:childTnLst>
                              <p:par>
                                <p:cTn id="46" presetID="35" presetClass="emph" presetSubtype="0" repeatCount="3000" fill="hold" nodeType="clickEffect">
                                  <p:stCondLst>
                                    <p:cond delay="0"/>
                                  </p:stCondLst>
                                  <p:childTnLst>
                                    <p:anim calcmode="discrete" valueType="str">
                                      <p:cBhvr>
                                        <p:cTn id="47" dur="1000" fill="hold"/>
                                        <p:tgtEl>
                                          <p:spTgt spid="1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3A958-4730-C2D4-8CB8-3244CBA49631}"/>
            </a:ext>
          </a:extLst>
        </p:cNvPr>
        <p:cNvGrpSpPr/>
        <p:nvPr/>
      </p:nvGrpSpPr>
      <p:grpSpPr>
        <a:xfrm>
          <a:off x="0" y="0"/>
          <a:ext cx="0" cy="0"/>
          <a:chOff x="0" y="0"/>
          <a:chExt cx="0" cy="0"/>
        </a:xfrm>
      </p:grpSpPr>
      <p:sp>
        <p:nvSpPr>
          <p:cNvPr id="104" name="AutoShape 5">
            <a:extLst>
              <a:ext uri="{FF2B5EF4-FFF2-40B4-BE49-F238E27FC236}">
                <a16:creationId xmlns:a16="http://schemas.microsoft.com/office/drawing/2014/main" id="{1A109516-5E6E-FF7D-732D-4C49DF5195BD}"/>
              </a:ext>
            </a:extLst>
          </p:cNvPr>
          <p:cNvSpPr>
            <a:spLocks noChangeArrowheads="1"/>
          </p:cNvSpPr>
          <p:nvPr/>
        </p:nvSpPr>
        <p:spPr bwMode="auto">
          <a:xfrm>
            <a:off x="556963" y="630801"/>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05" name="Rectangle 6">
            <a:extLst>
              <a:ext uri="{FF2B5EF4-FFF2-40B4-BE49-F238E27FC236}">
                <a16:creationId xmlns:a16="http://schemas.microsoft.com/office/drawing/2014/main" id="{E36BCC84-F663-3912-90BE-24AF0D3A5A64}"/>
              </a:ext>
            </a:extLst>
          </p:cNvPr>
          <p:cNvSpPr>
            <a:spLocks noChangeArrowheads="1"/>
          </p:cNvSpPr>
          <p:nvPr/>
        </p:nvSpPr>
        <p:spPr bwMode="auto">
          <a:xfrm>
            <a:off x="2622738" y="597590"/>
            <a:ext cx="39172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快恢复 </a:t>
            </a:r>
            <a:r>
              <a:rPr lang="en-US" altLang="zh-CN" sz="2000" b="1" dirty="0">
                <a:solidFill>
                  <a:schemeClr val="bg1"/>
                </a:solidFill>
                <a:latin typeface="微软雅黑" pitchFamily="34" charset="-122"/>
                <a:ea typeface="微软雅黑" pitchFamily="34" charset="-122"/>
              </a:rPr>
              <a:t>FR (Fast Recovery)</a:t>
            </a:r>
            <a:r>
              <a:rPr lang="zh-CN" altLang="en-US" sz="2000" b="1" dirty="0">
                <a:solidFill>
                  <a:schemeClr val="bg1"/>
                </a:solidFill>
                <a:latin typeface="微软雅黑" pitchFamily="34" charset="-122"/>
                <a:ea typeface="微软雅黑" pitchFamily="34" charset="-122"/>
              </a:rPr>
              <a:t>算法</a:t>
            </a:r>
          </a:p>
        </p:txBody>
      </p:sp>
      <p:sp>
        <p:nvSpPr>
          <p:cNvPr id="106" name="Rectangle 68">
            <a:extLst>
              <a:ext uri="{FF2B5EF4-FFF2-40B4-BE49-F238E27FC236}">
                <a16:creationId xmlns:a16="http://schemas.microsoft.com/office/drawing/2014/main" id="{64486466-A274-7FC2-6B63-1FD1531160AD}"/>
              </a:ext>
            </a:extLst>
          </p:cNvPr>
          <p:cNvSpPr>
            <a:spLocks noChangeArrowheads="1"/>
          </p:cNvSpPr>
          <p:nvPr/>
        </p:nvSpPr>
        <p:spPr bwMode="auto">
          <a:xfrm>
            <a:off x="556963" y="993900"/>
            <a:ext cx="8048776" cy="2750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当发送方收到连续三个重复的确认时，立即重传丢失分组，但</a:t>
            </a:r>
            <a:r>
              <a:rPr lang="zh-CN" altLang="en-US" sz="2000" b="1" dirty="0">
                <a:solidFill>
                  <a:srgbClr val="C00000"/>
                </a:solidFill>
                <a:latin typeface="微软雅黑" pitchFamily="34" charset="-122"/>
                <a:ea typeface="微软雅黑" pitchFamily="34" charset="-122"/>
              </a:rPr>
              <a:t>不执行</a:t>
            </a:r>
            <a:r>
              <a:rPr lang="zh-CN" altLang="en-US" sz="2000" b="1" dirty="0">
                <a:latin typeface="微软雅黑" pitchFamily="34" charset="-122"/>
                <a:ea typeface="微软雅黑" pitchFamily="34" charset="-122"/>
              </a:rPr>
              <a:t>慢启动算法，而是</a:t>
            </a:r>
            <a:r>
              <a:rPr lang="zh-CN" altLang="en-US" sz="2000" b="1" dirty="0">
                <a:solidFill>
                  <a:srgbClr val="0000FF"/>
                </a:solidFill>
                <a:latin typeface="微软雅黑" pitchFamily="34" charset="-122"/>
                <a:ea typeface="微软雅黑" pitchFamily="34" charset="-122"/>
              </a:rPr>
              <a:t>执行</a:t>
            </a:r>
            <a:r>
              <a:rPr lang="zh-CN" altLang="en-US" sz="2000" b="1" dirty="0">
                <a:solidFill>
                  <a:srgbClr val="C00000"/>
                </a:solidFill>
                <a:latin typeface="微软雅黑" pitchFamily="34" charset="-122"/>
                <a:ea typeface="微软雅黑" pitchFamily="34" charset="-122"/>
              </a:rPr>
              <a:t>快恢复算法</a:t>
            </a:r>
            <a:r>
              <a:rPr lang="zh-CN" altLang="en-US" sz="2000" b="1" dirty="0">
                <a:latin typeface="微软雅黑" pitchFamily="34" charset="-122"/>
                <a:ea typeface="微软雅黑" pitchFamily="34" charset="-122"/>
              </a:rPr>
              <a:t>算法：</a:t>
            </a:r>
          </a:p>
          <a:p>
            <a:pPr marL="633413" indent="-342900">
              <a:lnSpc>
                <a:spcPts val="3000"/>
              </a:lnSpc>
              <a:buClr>
                <a:srgbClr val="7030A0"/>
              </a:buClr>
              <a:buFont typeface="+mj-lt"/>
              <a:buAutoNum type="arabicPeriod"/>
            </a:pPr>
            <a:r>
              <a:rPr lang="en-US" altLang="zh-CN" sz="2000" b="1" dirty="0" err="1">
                <a:latin typeface="微软雅黑" pitchFamily="34" charset="-122"/>
                <a:ea typeface="微软雅黑" pitchFamily="34" charset="-122"/>
              </a:rPr>
              <a:t>ssthresh</a:t>
            </a:r>
            <a:r>
              <a:rPr lang="zh-CN" altLang="en-US" sz="2000" b="1" dirty="0">
                <a:latin typeface="微软雅黑" pitchFamily="34" charset="-122"/>
                <a:ea typeface="微软雅黑" pitchFamily="34" charset="-122"/>
              </a:rPr>
              <a:t>（慢启动门限）</a:t>
            </a:r>
            <a:r>
              <a:rPr lang="en-US" altLang="zh-CN" sz="2000" b="1" dirty="0">
                <a:latin typeface="微软雅黑" pitchFamily="34" charset="-122"/>
                <a:ea typeface="微软雅黑" pitchFamily="34" charset="-122"/>
              </a:rPr>
              <a:t>= </a:t>
            </a:r>
            <a:r>
              <a:rPr lang="en-US" altLang="zh-CN" sz="2000" b="1" dirty="0" err="1">
                <a:latin typeface="微软雅黑" pitchFamily="34" charset="-122"/>
                <a:ea typeface="微软雅黑" pitchFamily="34" charset="-122"/>
              </a:rPr>
              <a:t>cwnd</a:t>
            </a:r>
            <a:r>
              <a:rPr lang="zh-CN" altLang="en-US" sz="2000" b="1" dirty="0">
                <a:latin typeface="微软雅黑" pitchFamily="34" charset="-122"/>
                <a:ea typeface="微软雅黑" pitchFamily="34" charset="-122"/>
              </a:rPr>
              <a:t>（当前拥塞窗口）</a:t>
            </a:r>
            <a:r>
              <a:rPr lang="en-US" altLang="zh-CN" sz="2000" b="1" dirty="0">
                <a:latin typeface="微软雅黑" pitchFamily="34" charset="-122"/>
                <a:ea typeface="微软雅黑" pitchFamily="34" charset="-122"/>
              </a:rPr>
              <a:t>/ 2 </a:t>
            </a:r>
            <a:r>
              <a:rPr lang="zh-CN" altLang="en-US" sz="2000" b="1" dirty="0">
                <a:latin typeface="微软雅黑" pitchFamily="34" charset="-122"/>
                <a:ea typeface="微软雅黑" pitchFamily="34" charset="-122"/>
              </a:rPr>
              <a:t>；</a:t>
            </a:r>
          </a:p>
          <a:p>
            <a:pPr marL="633413" indent="-342900">
              <a:lnSpc>
                <a:spcPts val="3000"/>
              </a:lnSpc>
              <a:buClr>
                <a:srgbClr val="7030A0"/>
              </a:buClr>
              <a:buFont typeface="+mj-lt"/>
              <a:buAutoNum type="arabicPeriod"/>
            </a:pPr>
            <a:r>
              <a:rPr lang="en-US" altLang="zh-CN" sz="2000" b="1" dirty="0" err="1">
                <a:latin typeface="微软雅黑" pitchFamily="34" charset="-122"/>
                <a:ea typeface="微软雅黑" pitchFamily="34" charset="-122"/>
              </a:rPr>
              <a:t>cwnd</a:t>
            </a:r>
            <a:r>
              <a:rPr lang="zh-CN" altLang="en-US" sz="2000" b="1" dirty="0">
                <a:latin typeface="微软雅黑" pitchFamily="34" charset="-122"/>
                <a:ea typeface="微软雅黑" pitchFamily="34" charset="-122"/>
              </a:rPr>
              <a:t>（新拥塞窗口）</a:t>
            </a:r>
            <a:r>
              <a:rPr lang="en-US" altLang="zh-CN" sz="2000" b="1" dirty="0">
                <a:latin typeface="微软雅黑" pitchFamily="34" charset="-122"/>
                <a:ea typeface="微软雅黑" pitchFamily="34" charset="-122"/>
              </a:rPr>
              <a:t>= </a:t>
            </a:r>
            <a:r>
              <a:rPr lang="en-US" altLang="zh-CN" sz="2000" b="1" dirty="0" err="1">
                <a:latin typeface="微软雅黑" pitchFamily="34" charset="-122"/>
                <a:ea typeface="微软雅黑" pitchFamily="34" charset="-122"/>
              </a:rPr>
              <a:t>ssthresh</a:t>
            </a:r>
            <a:r>
              <a:rPr lang="zh-CN" altLang="en-US" sz="2000" b="1" dirty="0">
                <a:latin typeface="微软雅黑" pitchFamily="34" charset="-122"/>
                <a:ea typeface="微软雅黑" pitchFamily="34" charset="-122"/>
              </a:rPr>
              <a:t>（慢启动门限）</a:t>
            </a:r>
            <a:r>
              <a:rPr lang="en-US" altLang="zh-CN" sz="2000" b="1" dirty="0">
                <a:latin typeface="微软雅黑" pitchFamily="34" charset="-122"/>
                <a:ea typeface="微软雅黑" pitchFamily="34" charset="-122"/>
              </a:rPr>
              <a:t>+ 3 MSS</a:t>
            </a:r>
            <a:r>
              <a:rPr lang="zh-CN" altLang="en-US" sz="2000" b="1" dirty="0">
                <a:latin typeface="微软雅黑" pitchFamily="34" charset="-122"/>
                <a:ea typeface="微软雅黑" pitchFamily="34" charset="-122"/>
              </a:rPr>
              <a:t>；</a:t>
            </a:r>
          </a:p>
          <a:p>
            <a:pPr marL="631825" indent="-341313">
              <a:lnSpc>
                <a:spcPts val="3000"/>
              </a:lnSpc>
              <a:buClr>
                <a:srgbClr val="7030A0"/>
              </a:buClr>
              <a:buFont typeface="+mj-lt"/>
              <a:buAutoNum type="arabicPeriod" startAt="3"/>
            </a:pPr>
            <a:r>
              <a:rPr lang="zh-CN" altLang="en-US" sz="2000" b="1" dirty="0">
                <a:latin typeface="微软雅黑" pitchFamily="34" charset="-122"/>
                <a:ea typeface="微软雅黑" pitchFamily="34" charset="-122"/>
              </a:rPr>
              <a:t>每收到一个重复确认，拥塞窗口</a:t>
            </a:r>
            <a:r>
              <a:rPr lang="en-US" altLang="zh-CN" sz="2000" b="1" dirty="0" err="1">
                <a:latin typeface="微软雅黑" pitchFamily="34" charset="-122"/>
                <a:ea typeface="微软雅黑" pitchFamily="34" charset="-122"/>
              </a:rPr>
              <a:t>cwnd</a:t>
            </a:r>
            <a:r>
              <a:rPr lang="zh-CN" altLang="en-US" sz="2000" b="1" dirty="0">
                <a:latin typeface="微软雅黑" pitchFamily="34" charset="-122"/>
                <a:ea typeface="微软雅黑" pitchFamily="34" charset="-122"/>
              </a:rPr>
              <a:t>就增加 </a:t>
            </a:r>
            <a:r>
              <a:rPr lang="en-US" altLang="zh-CN" sz="2000" b="1" dirty="0">
                <a:latin typeface="微软雅黑" pitchFamily="34" charset="-122"/>
                <a:ea typeface="微软雅黑" pitchFamily="34" charset="-122"/>
              </a:rPr>
              <a:t>1 MSS;</a:t>
            </a:r>
          </a:p>
          <a:p>
            <a:pPr marL="631825" indent="-341313">
              <a:lnSpc>
                <a:spcPts val="3000"/>
              </a:lnSpc>
              <a:buClr>
                <a:srgbClr val="7030A0"/>
              </a:buClr>
              <a:buFont typeface="+mj-lt"/>
              <a:buAutoNum type="arabicPeriod" startAt="3"/>
            </a:pPr>
            <a:r>
              <a:rPr lang="zh-CN" altLang="en-US" sz="2000" b="1" dirty="0">
                <a:latin typeface="微软雅黑" pitchFamily="34" charset="-122"/>
                <a:ea typeface="微软雅黑" pitchFamily="34" charset="-122"/>
              </a:rPr>
              <a:t>但如果收到了新的确认，就要把拥塞窗口</a:t>
            </a:r>
            <a:r>
              <a:rPr lang="en-US" altLang="zh-CN" sz="2000" b="1" dirty="0" err="1">
                <a:latin typeface="微软雅黑" pitchFamily="34" charset="-122"/>
                <a:ea typeface="微软雅黑" pitchFamily="34" charset="-122"/>
              </a:rPr>
              <a:t>cwnd</a:t>
            </a:r>
            <a:r>
              <a:rPr lang="zh-CN" altLang="en-US" sz="2000" b="1" dirty="0">
                <a:latin typeface="微软雅黑" pitchFamily="34" charset="-122"/>
                <a:ea typeface="微软雅黑" pitchFamily="34" charset="-122"/>
              </a:rPr>
              <a:t>设置为慢启动门限值</a:t>
            </a:r>
            <a:r>
              <a:rPr lang="en-US" altLang="zh-CN" sz="2000" b="1" dirty="0" err="1">
                <a:latin typeface="微软雅黑" pitchFamily="34" charset="-122"/>
                <a:ea typeface="微软雅黑" pitchFamily="34" charset="-122"/>
              </a:rPr>
              <a:t>ssthresh</a:t>
            </a:r>
            <a:r>
              <a:rPr lang="zh-CN" altLang="en-US" sz="2000" b="1" dirty="0">
                <a:latin typeface="微软雅黑" pitchFamily="34" charset="-122"/>
                <a:ea typeface="微软雅黑" pitchFamily="34" charset="-122"/>
              </a:rPr>
              <a:t>，然后执行拥塞避免算法。</a:t>
            </a:r>
            <a:endParaRPr lang="en-US" altLang="zh-CN" sz="2000" b="1" dirty="0">
              <a:latin typeface="微软雅黑" pitchFamily="34" charset="-122"/>
              <a:ea typeface="微软雅黑" pitchFamily="34" charset="-122"/>
            </a:endParaRPr>
          </a:p>
        </p:txBody>
      </p:sp>
    </p:spTree>
    <p:extLst>
      <p:ext uri="{BB962C8B-B14F-4D97-AF65-F5344CB8AC3E}">
        <p14:creationId xmlns:p14="http://schemas.microsoft.com/office/powerpoint/2010/main" val="602907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06">
                                            <p:txEl>
                                              <p:pRg st="0" end="0"/>
                                            </p:txEl>
                                          </p:spTgt>
                                        </p:tgtEl>
                                        <p:attrNameLst>
                                          <p:attrName>style.visibility</p:attrName>
                                        </p:attrNameLst>
                                      </p:cBhvr>
                                      <p:to>
                                        <p:strVal val="visible"/>
                                      </p:to>
                                    </p:set>
                                    <p:animEffect transition="in" filter="fade">
                                      <p:cBhvr>
                                        <p:cTn id="7" dur="1000"/>
                                        <p:tgtEl>
                                          <p:spTgt spid="106">
                                            <p:txEl>
                                              <p:pRg st="0" end="0"/>
                                            </p:txEl>
                                          </p:spTgt>
                                        </p:tgtEl>
                                      </p:cBhvr>
                                    </p:animEffect>
                                    <p:anim calcmode="lin" valueType="num">
                                      <p:cBhvr>
                                        <p:cTn id="8" dur="1000" fill="hold"/>
                                        <p:tgtEl>
                                          <p:spTgt spid="10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6">
                                            <p:txEl>
                                              <p:pRg st="1" end="1"/>
                                            </p:txEl>
                                          </p:spTgt>
                                        </p:tgtEl>
                                        <p:attrNameLst>
                                          <p:attrName>style.visibility</p:attrName>
                                        </p:attrNameLst>
                                      </p:cBhvr>
                                      <p:to>
                                        <p:strVal val="visible"/>
                                      </p:to>
                                    </p:set>
                                    <p:animEffect transition="in" filter="fade">
                                      <p:cBhvr>
                                        <p:cTn id="14" dur="1000"/>
                                        <p:tgtEl>
                                          <p:spTgt spid="106">
                                            <p:txEl>
                                              <p:pRg st="1" end="1"/>
                                            </p:txEl>
                                          </p:spTgt>
                                        </p:tgtEl>
                                      </p:cBhvr>
                                    </p:animEffect>
                                    <p:anim calcmode="lin" valueType="num">
                                      <p:cBhvr>
                                        <p:cTn id="15" dur="1000" fill="hold"/>
                                        <p:tgtEl>
                                          <p:spTgt spid="10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0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6">
                                            <p:txEl>
                                              <p:pRg st="2" end="2"/>
                                            </p:txEl>
                                          </p:spTgt>
                                        </p:tgtEl>
                                        <p:attrNameLst>
                                          <p:attrName>style.visibility</p:attrName>
                                        </p:attrNameLst>
                                      </p:cBhvr>
                                      <p:to>
                                        <p:strVal val="visible"/>
                                      </p:to>
                                    </p:set>
                                    <p:animEffect transition="in" filter="fade">
                                      <p:cBhvr>
                                        <p:cTn id="21" dur="1000"/>
                                        <p:tgtEl>
                                          <p:spTgt spid="106">
                                            <p:txEl>
                                              <p:pRg st="2" end="2"/>
                                            </p:txEl>
                                          </p:spTgt>
                                        </p:tgtEl>
                                      </p:cBhvr>
                                    </p:animEffect>
                                    <p:anim calcmode="lin" valueType="num">
                                      <p:cBhvr>
                                        <p:cTn id="22" dur="1000" fill="hold"/>
                                        <p:tgtEl>
                                          <p:spTgt spid="10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0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06">
                                            <p:txEl>
                                              <p:pRg st="3" end="3"/>
                                            </p:txEl>
                                          </p:spTgt>
                                        </p:tgtEl>
                                        <p:attrNameLst>
                                          <p:attrName>style.visibility</p:attrName>
                                        </p:attrNameLst>
                                      </p:cBhvr>
                                      <p:to>
                                        <p:strVal val="visible"/>
                                      </p:to>
                                    </p:set>
                                    <p:animEffect transition="in" filter="fade">
                                      <p:cBhvr>
                                        <p:cTn id="28" dur="1000"/>
                                        <p:tgtEl>
                                          <p:spTgt spid="106">
                                            <p:txEl>
                                              <p:pRg st="3" end="3"/>
                                            </p:txEl>
                                          </p:spTgt>
                                        </p:tgtEl>
                                      </p:cBhvr>
                                    </p:animEffect>
                                    <p:anim calcmode="lin" valueType="num">
                                      <p:cBhvr>
                                        <p:cTn id="29" dur="1000" fill="hold"/>
                                        <p:tgtEl>
                                          <p:spTgt spid="10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0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06">
                                            <p:txEl>
                                              <p:pRg st="4" end="4"/>
                                            </p:txEl>
                                          </p:spTgt>
                                        </p:tgtEl>
                                        <p:attrNameLst>
                                          <p:attrName>style.visibility</p:attrName>
                                        </p:attrNameLst>
                                      </p:cBhvr>
                                      <p:to>
                                        <p:strVal val="visible"/>
                                      </p:to>
                                    </p:set>
                                    <p:animEffect transition="in" filter="fade">
                                      <p:cBhvr>
                                        <p:cTn id="35" dur="1000"/>
                                        <p:tgtEl>
                                          <p:spTgt spid="106">
                                            <p:txEl>
                                              <p:pRg st="4" end="4"/>
                                            </p:txEl>
                                          </p:spTgt>
                                        </p:tgtEl>
                                      </p:cBhvr>
                                    </p:animEffect>
                                    <p:anim calcmode="lin" valueType="num">
                                      <p:cBhvr>
                                        <p:cTn id="36" dur="1000" fill="hold"/>
                                        <p:tgtEl>
                                          <p:spTgt spid="106">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06">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E65B0-4204-3FA2-D235-0AAC248437F9}"/>
            </a:ext>
          </a:extLst>
        </p:cNvPr>
        <p:cNvGrpSpPr/>
        <p:nvPr/>
      </p:nvGrpSpPr>
      <p:grpSpPr>
        <a:xfrm>
          <a:off x="0" y="0"/>
          <a:ext cx="0" cy="0"/>
          <a:chOff x="0" y="0"/>
          <a:chExt cx="0" cy="0"/>
        </a:xfrm>
      </p:grpSpPr>
      <p:sp>
        <p:nvSpPr>
          <p:cNvPr id="39" name="AutoShape 5">
            <a:extLst>
              <a:ext uri="{FF2B5EF4-FFF2-40B4-BE49-F238E27FC236}">
                <a16:creationId xmlns:a16="http://schemas.microsoft.com/office/drawing/2014/main" id="{2EC0F3B6-71EA-82B5-3FC2-6BF022B4877F}"/>
              </a:ext>
            </a:extLst>
          </p:cNvPr>
          <p:cNvSpPr>
            <a:spLocks noChangeArrowheads="1"/>
          </p:cNvSpPr>
          <p:nvPr/>
        </p:nvSpPr>
        <p:spPr bwMode="auto">
          <a:xfrm>
            <a:off x="545144" y="621304"/>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矩形 39">
            <a:extLst>
              <a:ext uri="{FF2B5EF4-FFF2-40B4-BE49-F238E27FC236}">
                <a16:creationId xmlns:a16="http://schemas.microsoft.com/office/drawing/2014/main" id="{E44BCCA9-CC5A-D979-1FAF-0B1F72619072}"/>
              </a:ext>
            </a:extLst>
          </p:cNvPr>
          <p:cNvSpPr/>
          <p:nvPr/>
        </p:nvSpPr>
        <p:spPr>
          <a:xfrm>
            <a:off x="616085" y="579064"/>
            <a:ext cx="4031873" cy="400110"/>
          </a:xfrm>
          <a:prstGeom prst="rect">
            <a:avLst/>
          </a:prstGeom>
        </p:spPr>
        <p:txBody>
          <a:bodyPr wrap="none">
            <a:spAutoFit/>
          </a:bodyPr>
          <a:lstStyle/>
          <a:p>
            <a:r>
              <a:rPr lang="zh-CN" altLang="en-US" sz="2000" b="1" dirty="0">
                <a:latin typeface="微软雅黑" pitchFamily="34" charset="-122"/>
                <a:ea typeface="微软雅黑" pitchFamily="34" charset="-122"/>
              </a:rPr>
              <a:t>慢启动和拥塞避免算法的实现举例</a:t>
            </a:r>
          </a:p>
        </p:txBody>
      </p:sp>
      <p:sp>
        <p:nvSpPr>
          <p:cNvPr id="41" name="圆角矩形 40">
            <a:extLst>
              <a:ext uri="{FF2B5EF4-FFF2-40B4-BE49-F238E27FC236}">
                <a16:creationId xmlns:a16="http://schemas.microsoft.com/office/drawing/2014/main" id="{28B2EA58-BAAD-C007-9D90-29B8A38543D5}"/>
              </a:ext>
            </a:extLst>
          </p:cNvPr>
          <p:cNvSpPr/>
          <p:nvPr/>
        </p:nvSpPr>
        <p:spPr>
          <a:xfrm>
            <a:off x="545144" y="1013287"/>
            <a:ext cx="8053711" cy="307770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9" name="Text Box 155">
            <a:extLst>
              <a:ext uri="{FF2B5EF4-FFF2-40B4-BE49-F238E27FC236}">
                <a16:creationId xmlns:a16="http://schemas.microsoft.com/office/drawing/2014/main" id="{298ED9AB-98C1-FF2B-8CC4-3C52C8573900}"/>
              </a:ext>
            </a:extLst>
          </p:cNvPr>
          <p:cNvSpPr txBox="1">
            <a:spLocks noChangeArrowheads="1"/>
          </p:cNvSpPr>
          <p:nvPr/>
        </p:nvSpPr>
        <p:spPr bwMode="auto">
          <a:xfrm>
            <a:off x="3451529" y="3331407"/>
            <a:ext cx="2392857" cy="344325"/>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拥塞窗口以 </a:t>
            </a:r>
            <a:r>
              <a:rPr lang="en-US" altLang="zh-CN" sz="1600" b="1" dirty="0">
                <a:solidFill>
                  <a:srgbClr val="0000FF"/>
                </a:solidFill>
                <a:latin typeface="微软雅黑" pitchFamily="34" charset="-122"/>
                <a:ea typeface="微软雅黑" pitchFamily="34" charset="-122"/>
              </a:rPr>
              <a:t>MSS </a:t>
            </a:r>
            <a:r>
              <a:rPr lang="zh-CN" altLang="en-US" sz="1600" b="1" dirty="0">
                <a:solidFill>
                  <a:srgbClr val="0000FF"/>
                </a:solidFill>
                <a:latin typeface="微软雅黑" pitchFamily="34" charset="-122"/>
                <a:ea typeface="微软雅黑" pitchFamily="34" charset="-122"/>
              </a:rPr>
              <a:t>为单位</a:t>
            </a:r>
          </a:p>
        </p:txBody>
      </p:sp>
      <p:sp>
        <p:nvSpPr>
          <p:cNvPr id="170" name="Text Box 155">
            <a:extLst>
              <a:ext uri="{FF2B5EF4-FFF2-40B4-BE49-F238E27FC236}">
                <a16:creationId xmlns:a16="http://schemas.microsoft.com/office/drawing/2014/main" id="{BED3533E-7A2D-462C-6191-0748C69A029D}"/>
              </a:ext>
            </a:extLst>
          </p:cNvPr>
          <p:cNvSpPr txBox="1">
            <a:spLocks noChangeArrowheads="1"/>
          </p:cNvSpPr>
          <p:nvPr/>
        </p:nvSpPr>
        <p:spPr bwMode="auto">
          <a:xfrm>
            <a:off x="2058564" y="3690863"/>
            <a:ext cx="6300012" cy="344325"/>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慢启动门限的初始值设置为 </a:t>
            </a:r>
            <a:r>
              <a:rPr lang="en-US" altLang="zh-CN" sz="1600" b="1" dirty="0">
                <a:solidFill>
                  <a:srgbClr val="0000FF"/>
                </a:solidFill>
                <a:latin typeface="微软雅黑" pitchFamily="34" charset="-122"/>
                <a:ea typeface="微软雅黑" pitchFamily="34" charset="-122"/>
              </a:rPr>
              <a:t>16 MSS</a:t>
            </a:r>
            <a:r>
              <a:rPr lang="zh-CN" altLang="en-US" sz="1600" b="1" dirty="0">
                <a:solidFill>
                  <a:srgbClr val="0000FF"/>
                </a:solidFill>
                <a:latin typeface="微软雅黑" pitchFamily="34" charset="-122"/>
                <a:ea typeface="微软雅黑" pitchFamily="34" charset="-122"/>
              </a:rPr>
              <a:t>，即 </a:t>
            </a:r>
            <a:r>
              <a:rPr lang="en-US" altLang="zh-CN" sz="1600" b="1" dirty="0" err="1">
                <a:solidFill>
                  <a:srgbClr val="0000FF"/>
                </a:solidFill>
                <a:latin typeface="微软雅黑" pitchFamily="34" charset="-122"/>
                <a:ea typeface="微软雅黑" pitchFamily="34" charset="-122"/>
              </a:rPr>
              <a:t>ssthresh</a:t>
            </a:r>
            <a:r>
              <a:rPr lang="en-US" altLang="zh-CN" sz="1600" b="1" dirty="0">
                <a:solidFill>
                  <a:srgbClr val="0000FF"/>
                </a:solidFill>
                <a:latin typeface="微软雅黑" pitchFamily="34" charset="-122"/>
                <a:ea typeface="微软雅黑" pitchFamily="34" charset="-122"/>
              </a:rPr>
              <a:t> = 16</a:t>
            </a:r>
            <a:r>
              <a:rPr lang="zh-CN" altLang="en-US" sz="1600" b="1" dirty="0">
                <a:solidFill>
                  <a:srgbClr val="0000FF"/>
                </a:solidFill>
                <a:latin typeface="微软雅黑" pitchFamily="34" charset="-122"/>
                <a:ea typeface="微软雅黑" pitchFamily="34" charset="-122"/>
              </a:rPr>
              <a:t>。</a:t>
            </a:r>
          </a:p>
        </p:txBody>
      </p:sp>
      <p:sp>
        <p:nvSpPr>
          <p:cNvPr id="172" name="Text Box 140">
            <a:extLst>
              <a:ext uri="{FF2B5EF4-FFF2-40B4-BE49-F238E27FC236}">
                <a16:creationId xmlns:a16="http://schemas.microsoft.com/office/drawing/2014/main" id="{BF067DBA-AB70-09CE-5760-7523DF53B910}"/>
              </a:ext>
            </a:extLst>
          </p:cNvPr>
          <p:cNvSpPr txBox="1">
            <a:spLocks noChangeArrowheads="1"/>
          </p:cNvSpPr>
          <p:nvPr/>
        </p:nvSpPr>
        <p:spPr bwMode="auto">
          <a:xfrm>
            <a:off x="4466485" y="1190282"/>
            <a:ext cx="2985875" cy="502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超时（网络发生拥塞，执行慢启动算法）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 24/2 = 12</a:t>
            </a:r>
          </a:p>
        </p:txBody>
      </p:sp>
      <p:sp>
        <p:nvSpPr>
          <p:cNvPr id="173" name="Line 2">
            <a:extLst>
              <a:ext uri="{FF2B5EF4-FFF2-40B4-BE49-F238E27FC236}">
                <a16:creationId xmlns:a16="http://schemas.microsoft.com/office/drawing/2014/main" id="{D4BF8521-759A-4217-7256-8D196BC3EE4C}"/>
              </a:ext>
            </a:extLst>
          </p:cNvPr>
          <p:cNvSpPr>
            <a:spLocks noChangeShapeType="1"/>
          </p:cNvSpPr>
          <p:nvPr/>
        </p:nvSpPr>
        <p:spPr bwMode="auto">
          <a:xfrm flipV="1">
            <a:off x="2435451" y="3162988"/>
            <a:ext cx="4388353" cy="3483"/>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4" name="Line 3">
            <a:extLst>
              <a:ext uri="{FF2B5EF4-FFF2-40B4-BE49-F238E27FC236}">
                <a16:creationId xmlns:a16="http://schemas.microsoft.com/office/drawing/2014/main" id="{DEC59277-62B0-CAA5-AA14-8535C1BD937E}"/>
              </a:ext>
            </a:extLst>
          </p:cNvPr>
          <p:cNvSpPr>
            <a:spLocks noChangeShapeType="1"/>
          </p:cNvSpPr>
          <p:nvPr/>
        </p:nvSpPr>
        <p:spPr bwMode="auto">
          <a:xfrm>
            <a:off x="2434329" y="1350612"/>
            <a:ext cx="1122" cy="1815859"/>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5" name="Line 4">
            <a:extLst>
              <a:ext uri="{FF2B5EF4-FFF2-40B4-BE49-F238E27FC236}">
                <a16:creationId xmlns:a16="http://schemas.microsoft.com/office/drawing/2014/main" id="{3CAD6668-0255-E9A2-875E-76C107CA7112}"/>
              </a:ext>
            </a:extLst>
          </p:cNvPr>
          <p:cNvSpPr>
            <a:spLocks noChangeShapeType="1"/>
          </p:cNvSpPr>
          <p:nvPr/>
        </p:nvSpPr>
        <p:spPr bwMode="auto">
          <a:xfrm>
            <a:off x="2596944" y="3110741"/>
            <a:ext cx="0" cy="557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6" name="Line 5">
            <a:extLst>
              <a:ext uri="{FF2B5EF4-FFF2-40B4-BE49-F238E27FC236}">
                <a16:creationId xmlns:a16="http://schemas.microsoft.com/office/drawing/2014/main" id="{2CBC2F1F-4BA8-8768-390A-E3301CA5C9EC}"/>
              </a:ext>
            </a:extLst>
          </p:cNvPr>
          <p:cNvSpPr>
            <a:spLocks noChangeShapeType="1"/>
          </p:cNvSpPr>
          <p:nvPr/>
        </p:nvSpPr>
        <p:spPr bwMode="auto">
          <a:xfrm>
            <a:off x="2758437"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7" name="Line 6">
            <a:extLst>
              <a:ext uri="{FF2B5EF4-FFF2-40B4-BE49-F238E27FC236}">
                <a16:creationId xmlns:a16="http://schemas.microsoft.com/office/drawing/2014/main" id="{A1AFE4F3-67E3-B4AE-D60C-DF368351F46F}"/>
              </a:ext>
            </a:extLst>
          </p:cNvPr>
          <p:cNvSpPr>
            <a:spLocks noChangeShapeType="1"/>
          </p:cNvSpPr>
          <p:nvPr/>
        </p:nvSpPr>
        <p:spPr bwMode="auto">
          <a:xfrm>
            <a:off x="2919930"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8" name="Line 7">
            <a:extLst>
              <a:ext uri="{FF2B5EF4-FFF2-40B4-BE49-F238E27FC236}">
                <a16:creationId xmlns:a16="http://schemas.microsoft.com/office/drawing/2014/main" id="{B417C218-0C03-9222-55A3-9799FADFB970}"/>
              </a:ext>
            </a:extLst>
          </p:cNvPr>
          <p:cNvSpPr>
            <a:spLocks noChangeShapeType="1"/>
          </p:cNvSpPr>
          <p:nvPr/>
        </p:nvSpPr>
        <p:spPr bwMode="auto">
          <a:xfrm>
            <a:off x="3081423"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9" name="Line 8">
            <a:extLst>
              <a:ext uri="{FF2B5EF4-FFF2-40B4-BE49-F238E27FC236}">
                <a16:creationId xmlns:a16="http://schemas.microsoft.com/office/drawing/2014/main" id="{60FCE911-B9D9-65FF-CCBA-F10CE65B6B3E}"/>
              </a:ext>
            </a:extLst>
          </p:cNvPr>
          <p:cNvSpPr>
            <a:spLocks noChangeShapeType="1"/>
          </p:cNvSpPr>
          <p:nvPr/>
        </p:nvSpPr>
        <p:spPr bwMode="auto">
          <a:xfrm>
            <a:off x="3242917"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Line 9">
            <a:extLst>
              <a:ext uri="{FF2B5EF4-FFF2-40B4-BE49-F238E27FC236}">
                <a16:creationId xmlns:a16="http://schemas.microsoft.com/office/drawing/2014/main" id="{77E6E47A-CD48-03FB-0C62-B785939D575B}"/>
              </a:ext>
            </a:extLst>
          </p:cNvPr>
          <p:cNvSpPr>
            <a:spLocks noChangeShapeType="1"/>
          </p:cNvSpPr>
          <p:nvPr/>
        </p:nvSpPr>
        <p:spPr bwMode="auto">
          <a:xfrm>
            <a:off x="3404410"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Line 10">
            <a:extLst>
              <a:ext uri="{FF2B5EF4-FFF2-40B4-BE49-F238E27FC236}">
                <a16:creationId xmlns:a16="http://schemas.microsoft.com/office/drawing/2014/main" id="{FC9666C0-27E9-5CB4-40B9-9A2ACB632E9C}"/>
              </a:ext>
            </a:extLst>
          </p:cNvPr>
          <p:cNvSpPr>
            <a:spLocks noChangeShapeType="1"/>
          </p:cNvSpPr>
          <p:nvPr/>
        </p:nvSpPr>
        <p:spPr bwMode="auto">
          <a:xfrm>
            <a:off x="3565903"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Line 11">
            <a:extLst>
              <a:ext uri="{FF2B5EF4-FFF2-40B4-BE49-F238E27FC236}">
                <a16:creationId xmlns:a16="http://schemas.microsoft.com/office/drawing/2014/main" id="{BB8AE735-7CE0-4DFC-60F1-1FA90E58FB82}"/>
              </a:ext>
            </a:extLst>
          </p:cNvPr>
          <p:cNvSpPr>
            <a:spLocks noChangeShapeType="1"/>
          </p:cNvSpPr>
          <p:nvPr/>
        </p:nvSpPr>
        <p:spPr bwMode="auto">
          <a:xfrm>
            <a:off x="3727396"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Line 12">
            <a:extLst>
              <a:ext uri="{FF2B5EF4-FFF2-40B4-BE49-F238E27FC236}">
                <a16:creationId xmlns:a16="http://schemas.microsoft.com/office/drawing/2014/main" id="{057E096F-84EC-16B6-0B6D-6D1A82F76F7F}"/>
              </a:ext>
            </a:extLst>
          </p:cNvPr>
          <p:cNvSpPr>
            <a:spLocks noChangeShapeType="1"/>
          </p:cNvSpPr>
          <p:nvPr/>
        </p:nvSpPr>
        <p:spPr bwMode="auto">
          <a:xfrm>
            <a:off x="3888889"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Line 13">
            <a:extLst>
              <a:ext uri="{FF2B5EF4-FFF2-40B4-BE49-F238E27FC236}">
                <a16:creationId xmlns:a16="http://schemas.microsoft.com/office/drawing/2014/main" id="{3A69B013-FF04-0D34-DDDA-8A107472919E}"/>
              </a:ext>
            </a:extLst>
          </p:cNvPr>
          <p:cNvSpPr>
            <a:spLocks noChangeShapeType="1"/>
          </p:cNvSpPr>
          <p:nvPr/>
        </p:nvSpPr>
        <p:spPr bwMode="auto">
          <a:xfrm>
            <a:off x="4050382"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Line 14">
            <a:extLst>
              <a:ext uri="{FF2B5EF4-FFF2-40B4-BE49-F238E27FC236}">
                <a16:creationId xmlns:a16="http://schemas.microsoft.com/office/drawing/2014/main" id="{732D5F29-DBAC-C41D-B764-373D331D4FE1}"/>
              </a:ext>
            </a:extLst>
          </p:cNvPr>
          <p:cNvSpPr>
            <a:spLocks noChangeShapeType="1"/>
          </p:cNvSpPr>
          <p:nvPr/>
        </p:nvSpPr>
        <p:spPr bwMode="auto">
          <a:xfrm>
            <a:off x="4211876"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Line 15">
            <a:extLst>
              <a:ext uri="{FF2B5EF4-FFF2-40B4-BE49-F238E27FC236}">
                <a16:creationId xmlns:a16="http://schemas.microsoft.com/office/drawing/2014/main" id="{66B4C998-0AE6-6996-BE82-C89269D2E1BC}"/>
              </a:ext>
            </a:extLst>
          </p:cNvPr>
          <p:cNvSpPr>
            <a:spLocks noChangeShapeType="1"/>
          </p:cNvSpPr>
          <p:nvPr/>
        </p:nvSpPr>
        <p:spPr bwMode="auto">
          <a:xfrm>
            <a:off x="4373369"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7" name="Line 16">
            <a:extLst>
              <a:ext uri="{FF2B5EF4-FFF2-40B4-BE49-F238E27FC236}">
                <a16:creationId xmlns:a16="http://schemas.microsoft.com/office/drawing/2014/main" id="{25DB6199-8FA8-BEF2-67F6-B0F4D698E8F6}"/>
              </a:ext>
            </a:extLst>
          </p:cNvPr>
          <p:cNvSpPr>
            <a:spLocks noChangeShapeType="1"/>
          </p:cNvSpPr>
          <p:nvPr/>
        </p:nvSpPr>
        <p:spPr bwMode="auto">
          <a:xfrm>
            <a:off x="4534862"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8" name="Line 17">
            <a:extLst>
              <a:ext uri="{FF2B5EF4-FFF2-40B4-BE49-F238E27FC236}">
                <a16:creationId xmlns:a16="http://schemas.microsoft.com/office/drawing/2014/main" id="{4131FCA5-15C8-63D0-E021-D0E0A9526297}"/>
              </a:ext>
            </a:extLst>
          </p:cNvPr>
          <p:cNvSpPr>
            <a:spLocks noChangeShapeType="1"/>
          </p:cNvSpPr>
          <p:nvPr/>
        </p:nvSpPr>
        <p:spPr bwMode="auto">
          <a:xfrm>
            <a:off x="4696355" y="3110741"/>
            <a:ext cx="0" cy="557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9" name="Line 18">
            <a:extLst>
              <a:ext uri="{FF2B5EF4-FFF2-40B4-BE49-F238E27FC236}">
                <a16:creationId xmlns:a16="http://schemas.microsoft.com/office/drawing/2014/main" id="{0B12A1DC-37DF-6C13-0ED8-1FAC2C1251E6}"/>
              </a:ext>
            </a:extLst>
          </p:cNvPr>
          <p:cNvSpPr>
            <a:spLocks noChangeShapeType="1"/>
          </p:cNvSpPr>
          <p:nvPr/>
        </p:nvSpPr>
        <p:spPr bwMode="auto">
          <a:xfrm>
            <a:off x="4857848"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0" name="Line 19">
            <a:extLst>
              <a:ext uri="{FF2B5EF4-FFF2-40B4-BE49-F238E27FC236}">
                <a16:creationId xmlns:a16="http://schemas.microsoft.com/office/drawing/2014/main" id="{AE160CB8-F94B-838A-4886-88D2769AAD12}"/>
              </a:ext>
            </a:extLst>
          </p:cNvPr>
          <p:cNvSpPr>
            <a:spLocks noChangeShapeType="1"/>
          </p:cNvSpPr>
          <p:nvPr/>
        </p:nvSpPr>
        <p:spPr bwMode="auto">
          <a:xfrm>
            <a:off x="5019342"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1" name="Line 20">
            <a:extLst>
              <a:ext uri="{FF2B5EF4-FFF2-40B4-BE49-F238E27FC236}">
                <a16:creationId xmlns:a16="http://schemas.microsoft.com/office/drawing/2014/main" id="{ED2441CA-883C-3CC0-9E53-BE3178FD3667}"/>
              </a:ext>
            </a:extLst>
          </p:cNvPr>
          <p:cNvSpPr>
            <a:spLocks noChangeShapeType="1"/>
          </p:cNvSpPr>
          <p:nvPr/>
        </p:nvSpPr>
        <p:spPr bwMode="auto">
          <a:xfrm>
            <a:off x="5180835"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2" name="Line 21">
            <a:extLst>
              <a:ext uri="{FF2B5EF4-FFF2-40B4-BE49-F238E27FC236}">
                <a16:creationId xmlns:a16="http://schemas.microsoft.com/office/drawing/2014/main" id="{D15A1F1F-5E50-B984-E8F4-2B36E3668B8A}"/>
              </a:ext>
            </a:extLst>
          </p:cNvPr>
          <p:cNvSpPr>
            <a:spLocks noChangeShapeType="1"/>
          </p:cNvSpPr>
          <p:nvPr/>
        </p:nvSpPr>
        <p:spPr bwMode="auto">
          <a:xfrm>
            <a:off x="5342328"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3" name="Line 22">
            <a:extLst>
              <a:ext uri="{FF2B5EF4-FFF2-40B4-BE49-F238E27FC236}">
                <a16:creationId xmlns:a16="http://schemas.microsoft.com/office/drawing/2014/main" id="{A200EEF4-57B1-D9D8-10AA-2342E3101902}"/>
              </a:ext>
            </a:extLst>
          </p:cNvPr>
          <p:cNvSpPr>
            <a:spLocks noChangeShapeType="1"/>
          </p:cNvSpPr>
          <p:nvPr/>
        </p:nvSpPr>
        <p:spPr bwMode="auto">
          <a:xfrm>
            <a:off x="5503821"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4" name="Line 23">
            <a:extLst>
              <a:ext uri="{FF2B5EF4-FFF2-40B4-BE49-F238E27FC236}">
                <a16:creationId xmlns:a16="http://schemas.microsoft.com/office/drawing/2014/main" id="{9F52FC2C-FFD9-9B3E-09CD-319664D389A8}"/>
              </a:ext>
            </a:extLst>
          </p:cNvPr>
          <p:cNvSpPr>
            <a:spLocks noChangeShapeType="1"/>
          </p:cNvSpPr>
          <p:nvPr/>
        </p:nvSpPr>
        <p:spPr bwMode="auto">
          <a:xfrm>
            <a:off x="5665314"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5" name="Line 24">
            <a:extLst>
              <a:ext uri="{FF2B5EF4-FFF2-40B4-BE49-F238E27FC236}">
                <a16:creationId xmlns:a16="http://schemas.microsoft.com/office/drawing/2014/main" id="{0DF56B1A-E44C-6794-FC2D-3F04B01AAF58}"/>
              </a:ext>
            </a:extLst>
          </p:cNvPr>
          <p:cNvSpPr>
            <a:spLocks noChangeShapeType="1"/>
          </p:cNvSpPr>
          <p:nvPr/>
        </p:nvSpPr>
        <p:spPr bwMode="auto">
          <a:xfrm>
            <a:off x="5826807"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6" name="Line 25">
            <a:extLst>
              <a:ext uri="{FF2B5EF4-FFF2-40B4-BE49-F238E27FC236}">
                <a16:creationId xmlns:a16="http://schemas.microsoft.com/office/drawing/2014/main" id="{7475F7FB-FE62-7DB3-5A39-47A46593D9A6}"/>
              </a:ext>
            </a:extLst>
          </p:cNvPr>
          <p:cNvSpPr>
            <a:spLocks noChangeShapeType="1"/>
          </p:cNvSpPr>
          <p:nvPr/>
        </p:nvSpPr>
        <p:spPr bwMode="auto">
          <a:xfrm>
            <a:off x="5988301" y="305501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7" name="Line 40">
            <a:extLst>
              <a:ext uri="{FF2B5EF4-FFF2-40B4-BE49-F238E27FC236}">
                <a16:creationId xmlns:a16="http://schemas.microsoft.com/office/drawing/2014/main" id="{168CF09D-8610-1F32-65E0-69F9D9286438}"/>
              </a:ext>
            </a:extLst>
          </p:cNvPr>
          <p:cNvSpPr>
            <a:spLocks noChangeShapeType="1"/>
          </p:cNvSpPr>
          <p:nvPr/>
        </p:nvSpPr>
        <p:spPr bwMode="auto">
          <a:xfrm>
            <a:off x="2435451" y="2887822"/>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8" name="Line 41">
            <a:extLst>
              <a:ext uri="{FF2B5EF4-FFF2-40B4-BE49-F238E27FC236}">
                <a16:creationId xmlns:a16="http://schemas.microsoft.com/office/drawing/2014/main" id="{E198503B-DE08-5904-3523-2003432011BE}"/>
              </a:ext>
            </a:extLst>
          </p:cNvPr>
          <p:cNvSpPr>
            <a:spLocks noChangeShapeType="1"/>
          </p:cNvSpPr>
          <p:nvPr/>
        </p:nvSpPr>
        <p:spPr bwMode="auto">
          <a:xfrm>
            <a:off x="2435451" y="2609174"/>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9" name="Line 42">
            <a:extLst>
              <a:ext uri="{FF2B5EF4-FFF2-40B4-BE49-F238E27FC236}">
                <a16:creationId xmlns:a16="http://schemas.microsoft.com/office/drawing/2014/main" id="{04CCECF3-D5A5-896D-FCCD-A55DFEDF23FC}"/>
              </a:ext>
            </a:extLst>
          </p:cNvPr>
          <p:cNvSpPr>
            <a:spLocks noChangeShapeType="1"/>
          </p:cNvSpPr>
          <p:nvPr/>
        </p:nvSpPr>
        <p:spPr bwMode="auto">
          <a:xfrm>
            <a:off x="2435451" y="2330526"/>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0" name="Line 43">
            <a:extLst>
              <a:ext uri="{FF2B5EF4-FFF2-40B4-BE49-F238E27FC236}">
                <a16:creationId xmlns:a16="http://schemas.microsoft.com/office/drawing/2014/main" id="{4A2C242A-A013-C9F8-378E-E81DACBCF110}"/>
              </a:ext>
            </a:extLst>
          </p:cNvPr>
          <p:cNvSpPr>
            <a:spLocks noChangeShapeType="1"/>
          </p:cNvSpPr>
          <p:nvPr/>
        </p:nvSpPr>
        <p:spPr bwMode="auto">
          <a:xfrm>
            <a:off x="2435451" y="2051877"/>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1" name="Line 44">
            <a:extLst>
              <a:ext uri="{FF2B5EF4-FFF2-40B4-BE49-F238E27FC236}">
                <a16:creationId xmlns:a16="http://schemas.microsoft.com/office/drawing/2014/main" id="{879ABD75-F213-F9EC-7F7E-B0B85B52C0C3}"/>
              </a:ext>
            </a:extLst>
          </p:cNvPr>
          <p:cNvSpPr>
            <a:spLocks noChangeShapeType="1"/>
          </p:cNvSpPr>
          <p:nvPr/>
        </p:nvSpPr>
        <p:spPr bwMode="auto">
          <a:xfrm>
            <a:off x="2435451" y="1773229"/>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2" name="Line 45">
            <a:extLst>
              <a:ext uri="{FF2B5EF4-FFF2-40B4-BE49-F238E27FC236}">
                <a16:creationId xmlns:a16="http://schemas.microsoft.com/office/drawing/2014/main" id="{EAF48FC0-4054-8190-9B2C-15B669B6315B}"/>
              </a:ext>
            </a:extLst>
          </p:cNvPr>
          <p:cNvSpPr>
            <a:spLocks noChangeShapeType="1"/>
          </p:cNvSpPr>
          <p:nvPr/>
        </p:nvSpPr>
        <p:spPr bwMode="auto">
          <a:xfrm>
            <a:off x="2435451" y="1494580"/>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3" name="Text Box 77">
            <a:extLst>
              <a:ext uri="{FF2B5EF4-FFF2-40B4-BE49-F238E27FC236}">
                <a16:creationId xmlns:a16="http://schemas.microsoft.com/office/drawing/2014/main" id="{E712F696-107F-1AB5-2A12-75C659812350}"/>
              </a:ext>
            </a:extLst>
          </p:cNvPr>
          <p:cNvSpPr txBox="1">
            <a:spLocks noChangeArrowheads="1"/>
          </p:cNvSpPr>
          <p:nvPr/>
        </p:nvSpPr>
        <p:spPr bwMode="auto">
          <a:xfrm>
            <a:off x="2630207" y="3125835"/>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a:t>
            </a:r>
          </a:p>
        </p:txBody>
      </p:sp>
      <p:sp>
        <p:nvSpPr>
          <p:cNvPr id="204" name="Text Box 78">
            <a:extLst>
              <a:ext uri="{FF2B5EF4-FFF2-40B4-BE49-F238E27FC236}">
                <a16:creationId xmlns:a16="http://schemas.microsoft.com/office/drawing/2014/main" id="{E023C41F-C5FF-5FB8-4819-53B09FF3C564}"/>
              </a:ext>
            </a:extLst>
          </p:cNvPr>
          <p:cNvSpPr txBox="1">
            <a:spLocks noChangeArrowheads="1"/>
          </p:cNvSpPr>
          <p:nvPr/>
        </p:nvSpPr>
        <p:spPr bwMode="auto">
          <a:xfrm>
            <a:off x="2953194" y="3125835"/>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205" name="Text Box 79">
            <a:extLst>
              <a:ext uri="{FF2B5EF4-FFF2-40B4-BE49-F238E27FC236}">
                <a16:creationId xmlns:a16="http://schemas.microsoft.com/office/drawing/2014/main" id="{7D4875FD-9A7D-920D-3DD9-3C5A0E474AE4}"/>
              </a:ext>
            </a:extLst>
          </p:cNvPr>
          <p:cNvSpPr txBox="1">
            <a:spLocks noChangeArrowheads="1"/>
          </p:cNvSpPr>
          <p:nvPr/>
        </p:nvSpPr>
        <p:spPr bwMode="auto">
          <a:xfrm>
            <a:off x="3276180" y="3125835"/>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6</a:t>
            </a:r>
          </a:p>
        </p:txBody>
      </p:sp>
      <p:sp>
        <p:nvSpPr>
          <p:cNvPr id="206" name="Text Box 80">
            <a:extLst>
              <a:ext uri="{FF2B5EF4-FFF2-40B4-BE49-F238E27FC236}">
                <a16:creationId xmlns:a16="http://schemas.microsoft.com/office/drawing/2014/main" id="{A68231D6-EB20-0A22-D4EF-8DE6E5357ABE}"/>
              </a:ext>
            </a:extLst>
          </p:cNvPr>
          <p:cNvSpPr txBox="1">
            <a:spLocks noChangeArrowheads="1"/>
          </p:cNvSpPr>
          <p:nvPr/>
        </p:nvSpPr>
        <p:spPr bwMode="auto">
          <a:xfrm>
            <a:off x="3608139" y="3125835"/>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8</a:t>
            </a:r>
          </a:p>
        </p:txBody>
      </p:sp>
      <p:sp>
        <p:nvSpPr>
          <p:cNvPr id="207" name="Text Box 81">
            <a:extLst>
              <a:ext uri="{FF2B5EF4-FFF2-40B4-BE49-F238E27FC236}">
                <a16:creationId xmlns:a16="http://schemas.microsoft.com/office/drawing/2014/main" id="{E0648142-227B-DB6E-2E61-142FF14A74DE}"/>
              </a:ext>
            </a:extLst>
          </p:cNvPr>
          <p:cNvSpPr txBox="1">
            <a:spLocks noChangeArrowheads="1"/>
          </p:cNvSpPr>
          <p:nvPr/>
        </p:nvSpPr>
        <p:spPr bwMode="auto">
          <a:xfrm>
            <a:off x="3877294" y="312583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10</a:t>
            </a:r>
          </a:p>
        </p:txBody>
      </p:sp>
      <p:sp>
        <p:nvSpPr>
          <p:cNvPr id="208" name="Text Box 82">
            <a:extLst>
              <a:ext uri="{FF2B5EF4-FFF2-40B4-BE49-F238E27FC236}">
                <a16:creationId xmlns:a16="http://schemas.microsoft.com/office/drawing/2014/main" id="{985A9865-3D84-298E-4309-4FA16AFAFBC4}"/>
              </a:ext>
            </a:extLst>
          </p:cNvPr>
          <p:cNvSpPr txBox="1">
            <a:spLocks noChangeArrowheads="1"/>
          </p:cNvSpPr>
          <p:nvPr/>
        </p:nvSpPr>
        <p:spPr bwMode="auto">
          <a:xfrm>
            <a:off x="4227196" y="312583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209" name="Text Box 83">
            <a:extLst>
              <a:ext uri="{FF2B5EF4-FFF2-40B4-BE49-F238E27FC236}">
                <a16:creationId xmlns:a16="http://schemas.microsoft.com/office/drawing/2014/main" id="{1CA39A20-73DD-C7DE-BC53-EF7D25E6F771}"/>
              </a:ext>
            </a:extLst>
          </p:cNvPr>
          <p:cNvSpPr txBox="1">
            <a:spLocks noChangeArrowheads="1"/>
          </p:cNvSpPr>
          <p:nvPr/>
        </p:nvSpPr>
        <p:spPr bwMode="auto">
          <a:xfrm>
            <a:off x="4532238" y="312583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14</a:t>
            </a:r>
          </a:p>
        </p:txBody>
      </p:sp>
      <p:sp>
        <p:nvSpPr>
          <p:cNvPr id="210" name="Text Box 84">
            <a:extLst>
              <a:ext uri="{FF2B5EF4-FFF2-40B4-BE49-F238E27FC236}">
                <a16:creationId xmlns:a16="http://schemas.microsoft.com/office/drawing/2014/main" id="{11B26F63-131F-246E-28E3-B7C0B4315879}"/>
              </a:ext>
            </a:extLst>
          </p:cNvPr>
          <p:cNvSpPr txBox="1">
            <a:spLocks noChangeArrowheads="1"/>
          </p:cNvSpPr>
          <p:nvPr/>
        </p:nvSpPr>
        <p:spPr bwMode="auto">
          <a:xfrm>
            <a:off x="4855225" y="312583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211" name="Text Box 85">
            <a:extLst>
              <a:ext uri="{FF2B5EF4-FFF2-40B4-BE49-F238E27FC236}">
                <a16:creationId xmlns:a16="http://schemas.microsoft.com/office/drawing/2014/main" id="{C992DA13-090D-F513-0EEC-4C4FE5D7ED91}"/>
              </a:ext>
            </a:extLst>
          </p:cNvPr>
          <p:cNvSpPr txBox="1">
            <a:spLocks noChangeArrowheads="1"/>
          </p:cNvSpPr>
          <p:nvPr/>
        </p:nvSpPr>
        <p:spPr bwMode="auto">
          <a:xfrm>
            <a:off x="5189427" y="312583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18</a:t>
            </a:r>
          </a:p>
        </p:txBody>
      </p:sp>
      <p:sp>
        <p:nvSpPr>
          <p:cNvPr id="212" name="Text Box 86">
            <a:extLst>
              <a:ext uri="{FF2B5EF4-FFF2-40B4-BE49-F238E27FC236}">
                <a16:creationId xmlns:a16="http://schemas.microsoft.com/office/drawing/2014/main" id="{DE63C17B-1731-B87B-2892-78E1FB9128BD}"/>
              </a:ext>
            </a:extLst>
          </p:cNvPr>
          <p:cNvSpPr txBox="1">
            <a:spLocks noChangeArrowheads="1"/>
          </p:cNvSpPr>
          <p:nvPr/>
        </p:nvSpPr>
        <p:spPr bwMode="auto">
          <a:xfrm>
            <a:off x="5512412" y="312583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213" name="Text Box 87">
            <a:extLst>
              <a:ext uri="{FF2B5EF4-FFF2-40B4-BE49-F238E27FC236}">
                <a16:creationId xmlns:a16="http://schemas.microsoft.com/office/drawing/2014/main" id="{0A9A5BA8-C6D2-93C4-5861-26A3C75367FB}"/>
              </a:ext>
            </a:extLst>
          </p:cNvPr>
          <p:cNvSpPr txBox="1">
            <a:spLocks noChangeArrowheads="1"/>
          </p:cNvSpPr>
          <p:nvPr/>
        </p:nvSpPr>
        <p:spPr bwMode="auto">
          <a:xfrm>
            <a:off x="5826427" y="3131638"/>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22</a:t>
            </a:r>
          </a:p>
        </p:txBody>
      </p:sp>
      <p:sp>
        <p:nvSpPr>
          <p:cNvPr id="214" name="Text Box 89">
            <a:extLst>
              <a:ext uri="{FF2B5EF4-FFF2-40B4-BE49-F238E27FC236}">
                <a16:creationId xmlns:a16="http://schemas.microsoft.com/office/drawing/2014/main" id="{77FF1364-CD1D-CB99-5DDC-37D9C877FC8C}"/>
              </a:ext>
            </a:extLst>
          </p:cNvPr>
          <p:cNvSpPr txBox="1">
            <a:spLocks noChangeArrowheads="1"/>
          </p:cNvSpPr>
          <p:nvPr/>
        </p:nvSpPr>
        <p:spPr bwMode="auto">
          <a:xfrm>
            <a:off x="2334136" y="3125835"/>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215" name="Text Box 90">
            <a:extLst>
              <a:ext uri="{FF2B5EF4-FFF2-40B4-BE49-F238E27FC236}">
                <a16:creationId xmlns:a16="http://schemas.microsoft.com/office/drawing/2014/main" id="{E1995B2A-964A-CDD9-5B10-C045D3DF0E01}"/>
              </a:ext>
            </a:extLst>
          </p:cNvPr>
          <p:cNvSpPr txBox="1">
            <a:spLocks noChangeArrowheads="1"/>
          </p:cNvSpPr>
          <p:nvPr/>
        </p:nvSpPr>
        <p:spPr bwMode="auto">
          <a:xfrm>
            <a:off x="2247041" y="3016698"/>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216" name="Text Box 91">
            <a:extLst>
              <a:ext uri="{FF2B5EF4-FFF2-40B4-BE49-F238E27FC236}">
                <a16:creationId xmlns:a16="http://schemas.microsoft.com/office/drawing/2014/main" id="{D7BC1EE7-885D-2532-5B1A-3015D6DD2C06}"/>
              </a:ext>
            </a:extLst>
          </p:cNvPr>
          <p:cNvSpPr txBox="1">
            <a:spLocks noChangeArrowheads="1"/>
          </p:cNvSpPr>
          <p:nvPr/>
        </p:nvSpPr>
        <p:spPr bwMode="auto">
          <a:xfrm>
            <a:off x="2233393" y="2738050"/>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217" name="Text Box 92">
            <a:extLst>
              <a:ext uri="{FF2B5EF4-FFF2-40B4-BE49-F238E27FC236}">
                <a16:creationId xmlns:a16="http://schemas.microsoft.com/office/drawing/2014/main" id="{9B7F800A-CAD3-101D-19DA-B2E834A15A19}"/>
              </a:ext>
            </a:extLst>
          </p:cNvPr>
          <p:cNvSpPr txBox="1">
            <a:spLocks noChangeArrowheads="1"/>
          </p:cNvSpPr>
          <p:nvPr/>
        </p:nvSpPr>
        <p:spPr bwMode="auto">
          <a:xfrm>
            <a:off x="2233393" y="2468688"/>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219" name="Text Box 94">
            <a:extLst>
              <a:ext uri="{FF2B5EF4-FFF2-40B4-BE49-F238E27FC236}">
                <a16:creationId xmlns:a16="http://schemas.microsoft.com/office/drawing/2014/main" id="{FC5D037A-F2C9-AE4B-5B23-0D8B17A59739}"/>
              </a:ext>
            </a:extLst>
          </p:cNvPr>
          <p:cNvSpPr txBox="1">
            <a:spLocks noChangeArrowheads="1"/>
          </p:cNvSpPr>
          <p:nvPr/>
        </p:nvSpPr>
        <p:spPr bwMode="auto">
          <a:xfrm>
            <a:off x="2152647" y="1929969"/>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220" name="Text Box 95">
            <a:extLst>
              <a:ext uri="{FF2B5EF4-FFF2-40B4-BE49-F238E27FC236}">
                <a16:creationId xmlns:a16="http://schemas.microsoft.com/office/drawing/2014/main" id="{C0EC7DCB-ACB2-3426-7264-BE4AB6E52809}"/>
              </a:ext>
            </a:extLst>
          </p:cNvPr>
          <p:cNvSpPr txBox="1">
            <a:spLocks noChangeArrowheads="1"/>
          </p:cNvSpPr>
          <p:nvPr/>
        </p:nvSpPr>
        <p:spPr bwMode="auto">
          <a:xfrm>
            <a:off x="2152647" y="1651321"/>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222" name="Oval 102">
            <a:extLst>
              <a:ext uri="{FF2B5EF4-FFF2-40B4-BE49-F238E27FC236}">
                <a16:creationId xmlns:a16="http://schemas.microsoft.com/office/drawing/2014/main" id="{A1AB008D-891A-D26F-51F7-045419472D54}"/>
              </a:ext>
            </a:extLst>
          </p:cNvPr>
          <p:cNvSpPr>
            <a:spLocks noChangeArrowheads="1"/>
          </p:cNvSpPr>
          <p:nvPr/>
        </p:nvSpPr>
        <p:spPr bwMode="auto">
          <a:xfrm>
            <a:off x="2886286" y="2581309"/>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3" name="Oval 103">
            <a:extLst>
              <a:ext uri="{FF2B5EF4-FFF2-40B4-BE49-F238E27FC236}">
                <a16:creationId xmlns:a16="http://schemas.microsoft.com/office/drawing/2014/main" id="{76907097-D59E-3CE6-D6DC-E908A35BADFD}"/>
              </a:ext>
            </a:extLst>
          </p:cNvPr>
          <p:cNvSpPr>
            <a:spLocks noChangeArrowheads="1"/>
          </p:cNvSpPr>
          <p:nvPr/>
        </p:nvSpPr>
        <p:spPr bwMode="auto">
          <a:xfrm>
            <a:off x="2724793" y="2859958"/>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4" name="Oval 104">
            <a:extLst>
              <a:ext uri="{FF2B5EF4-FFF2-40B4-BE49-F238E27FC236}">
                <a16:creationId xmlns:a16="http://schemas.microsoft.com/office/drawing/2014/main" id="{EBC83E88-103F-F574-95D3-F63E8AC33EBB}"/>
              </a:ext>
            </a:extLst>
          </p:cNvPr>
          <p:cNvSpPr>
            <a:spLocks noChangeArrowheads="1"/>
          </p:cNvSpPr>
          <p:nvPr/>
        </p:nvSpPr>
        <p:spPr bwMode="auto">
          <a:xfrm>
            <a:off x="2408535" y="3041079"/>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5" name="Oval 105">
            <a:extLst>
              <a:ext uri="{FF2B5EF4-FFF2-40B4-BE49-F238E27FC236}">
                <a16:creationId xmlns:a16="http://schemas.microsoft.com/office/drawing/2014/main" id="{7F70E8DA-EB74-B9D0-3C9B-9218920A9ACF}"/>
              </a:ext>
            </a:extLst>
          </p:cNvPr>
          <p:cNvSpPr>
            <a:spLocks noChangeArrowheads="1"/>
          </p:cNvSpPr>
          <p:nvPr/>
        </p:nvSpPr>
        <p:spPr bwMode="auto">
          <a:xfrm>
            <a:off x="2556570" y="2992316"/>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6" name="Oval 106">
            <a:extLst>
              <a:ext uri="{FF2B5EF4-FFF2-40B4-BE49-F238E27FC236}">
                <a16:creationId xmlns:a16="http://schemas.microsoft.com/office/drawing/2014/main" id="{570DCFBC-E0F0-72CF-D3A1-46DE32BA3C7A}"/>
              </a:ext>
            </a:extLst>
          </p:cNvPr>
          <p:cNvSpPr>
            <a:spLocks noChangeArrowheads="1"/>
          </p:cNvSpPr>
          <p:nvPr/>
        </p:nvSpPr>
        <p:spPr bwMode="auto">
          <a:xfrm>
            <a:off x="3047779" y="2021690"/>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7" name="Oval 107">
            <a:extLst>
              <a:ext uri="{FF2B5EF4-FFF2-40B4-BE49-F238E27FC236}">
                <a16:creationId xmlns:a16="http://schemas.microsoft.com/office/drawing/2014/main" id="{03111AC0-332A-0838-7E17-0533AE79D8EF}"/>
              </a:ext>
            </a:extLst>
          </p:cNvPr>
          <p:cNvSpPr>
            <a:spLocks noChangeArrowheads="1"/>
          </p:cNvSpPr>
          <p:nvPr/>
        </p:nvSpPr>
        <p:spPr bwMode="auto">
          <a:xfrm>
            <a:off x="3209272" y="1947384"/>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8" name="Oval 108">
            <a:extLst>
              <a:ext uri="{FF2B5EF4-FFF2-40B4-BE49-F238E27FC236}">
                <a16:creationId xmlns:a16="http://schemas.microsoft.com/office/drawing/2014/main" id="{643246C1-8EB2-6882-C98F-90B8C9F62590}"/>
              </a:ext>
            </a:extLst>
          </p:cNvPr>
          <p:cNvSpPr>
            <a:spLocks noChangeArrowheads="1"/>
          </p:cNvSpPr>
          <p:nvPr/>
        </p:nvSpPr>
        <p:spPr bwMode="auto">
          <a:xfrm>
            <a:off x="3370765" y="1881205"/>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9" name="Oval 109">
            <a:extLst>
              <a:ext uri="{FF2B5EF4-FFF2-40B4-BE49-F238E27FC236}">
                <a16:creationId xmlns:a16="http://schemas.microsoft.com/office/drawing/2014/main" id="{4CE0B335-F7D7-01E0-4B7B-5BD655B68384}"/>
              </a:ext>
            </a:extLst>
          </p:cNvPr>
          <p:cNvSpPr>
            <a:spLocks noChangeArrowheads="1"/>
          </p:cNvSpPr>
          <p:nvPr/>
        </p:nvSpPr>
        <p:spPr bwMode="auto">
          <a:xfrm>
            <a:off x="3697116" y="1741881"/>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0" name="Oval 110">
            <a:extLst>
              <a:ext uri="{FF2B5EF4-FFF2-40B4-BE49-F238E27FC236}">
                <a16:creationId xmlns:a16="http://schemas.microsoft.com/office/drawing/2014/main" id="{C873A7DD-1BA8-85BC-F260-5FE70F912A42}"/>
              </a:ext>
            </a:extLst>
          </p:cNvPr>
          <p:cNvSpPr>
            <a:spLocks noChangeArrowheads="1"/>
          </p:cNvSpPr>
          <p:nvPr/>
        </p:nvSpPr>
        <p:spPr bwMode="auto">
          <a:xfrm>
            <a:off x="3532258" y="1811543"/>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1" name="Oval 113">
            <a:extLst>
              <a:ext uri="{FF2B5EF4-FFF2-40B4-BE49-F238E27FC236}">
                <a16:creationId xmlns:a16="http://schemas.microsoft.com/office/drawing/2014/main" id="{4F3ADA67-360C-276E-5682-48F438C86D67}"/>
              </a:ext>
            </a:extLst>
          </p:cNvPr>
          <p:cNvSpPr>
            <a:spLocks noChangeArrowheads="1"/>
          </p:cNvSpPr>
          <p:nvPr/>
        </p:nvSpPr>
        <p:spPr bwMode="auto">
          <a:xfrm>
            <a:off x="3858609" y="1672219"/>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14">
            <a:extLst>
              <a:ext uri="{FF2B5EF4-FFF2-40B4-BE49-F238E27FC236}">
                <a16:creationId xmlns:a16="http://schemas.microsoft.com/office/drawing/2014/main" id="{7C03AA55-7FA4-B93F-0C85-6E59A7B4E5F7}"/>
              </a:ext>
            </a:extLst>
          </p:cNvPr>
          <p:cNvSpPr>
            <a:spLocks noChangeArrowheads="1"/>
          </p:cNvSpPr>
          <p:nvPr/>
        </p:nvSpPr>
        <p:spPr bwMode="auto">
          <a:xfrm>
            <a:off x="4016738" y="1606040"/>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Oval 116">
            <a:extLst>
              <a:ext uri="{FF2B5EF4-FFF2-40B4-BE49-F238E27FC236}">
                <a16:creationId xmlns:a16="http://schemas.microsoft.com/office/drawing/2014/main" id="{EC2F6E11-9599-23A0-E58B-5ABB0942C472}"/>
              </a:ext>
            </a:extLst>
          </p:cNvPr>
          <p:cNvSpPr>
            <a:spLocks noChangeArrowheads="1"/>
          </p:cNvSpPr>
          <p:nvPr/>
        </p:nvSpPr>
        <p:spPr bwMode="auto">
          <a:xfrm>
            <a:off x="4336360" y="1456267"/>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4" name="Oval 117">
            <a:extLst>
              <a:ext uri="{FF2B5EF4-FFF2-40B4-BE49-F238E27FC236}">
                <a16:creationId xmlns:a16="http://schemas.microsoft.com/office/drawing/2014/main" id="{6C198885-BCD4-ACA4-190F-FF5DA6415CEC}"/>
              </a:ext>
            </a:extLst>
          </p:cNvPr>
          <p:cNvSpPr>
            <a:spLocks noChangeArrowheads="1"/>
          </p:cNvSpPr>
          <p:nvPr/>
        </p:nvSpPr>
        <p:spPr bwMode="auto">
          <a:xfrm>
            <a:off x="4178231" y="1525929"/>
            <a:ext cx="62803" cy="65018"/>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5" name="Freeform 118">
            <a:extLst>
              <a:ext uri="{FF2B5EF4-FFF2-40B4-BE49-F238E27FC236}">
                <a16:creationId xmlns:a16="http://schemas.microsoft.com/office/drawing/2014/main" id="{C8214D2A-7FC6-1C64-4305-5B3C869029CE}"/>
              </a:ext>
            </a:extLst>
          </p:cNvPr>
          <p:cNvSpPr>
            <a:spLocks/>
          </p:cNvSpPr>
          <p:nvPr/>
        </p:nvSpPr>
        <p:spPr bwMode="auto">
          <a:xfrm>
            <a:off x="2381620" y="1494580"/>
            <a:ext cx="1988384" cy="1590618"/>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6" name="Text Box 134">
            <a:extLst>
              <a:ext uri="{FF2B5EF4-FFF2-40B4-BE49-F238E27FC236}">
                <a16:creationId xmlns:a16="http://schemas.microsoft.com/office/drawing/2014/main" id="{8A0731EC-51A6-071A-0940-D929A52032EF}"/>
              </a:ext>
            </a:extLst>
          </p:cNvPr>
          <p:cNvSpPr txBox="1">
            <a:spLocks noChangeArrowheads="1"/>
          </p:cNvSpPr>
          <p:nvPr/>
        </p:nvSpPr>
        <p:spPr bwMode="auto">
          <a:xfrm>
            <a:off x="6824924" y="3020180"/>
            <a:ext cx="11464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237" name="Text Box 135">
            <a:extLst>
              <a:ext uri="{FF2B5EF4-FFF2-40B4-BE49-F238E27FC236}">
                <a16:creationId xmlns:a16="http://schemas.microsoft.com/office/drawing/2014/main" id="{F936F755-C007-8FA2-98B7-23E199F04C3E}"/>
              </a:ext>
            </a:extLst>
          </p:cNvPr>
          <p:cNvSpPr txBox="1">
            <a:spLocks noChangeArrowheads="1"/>
          </p:cNvSpPr>
          <p:nvPr/>
        </p:nvSpPr>
        <p:spPr bwMode="auto">
          <a:xfrm>
            <a:off x="1777141" y="1115751"/>
            <a:ext cx="1401563" cy="29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itchFamily="34" charset="-122"/>
                <a:ea typeface="微软雅黑"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238" name="Text Box 140">
            <a:extLst>
              <a:ext uri="{FF2B5EF4-FFF2-40B4-BE49-F238E27FC236}">
                <a16:creationId xmlns:a16="http://schemas.microsoft.com/office/drawing/2014/main" id="{8DEC7B9F-9351-178A-839B-95EF7D599A7C}"/>
              </a:ext>
            </a:extLst>
          </p:cNvPr>
          <p:cNvSpPr txBox="1">
            <a:spLocks noChangeArrowheads="1"/>
          </p:cNvSpPr>
          <p:nvPr/>
        </p:nvSpPr>
        <p:spPr bwMode="auto">
          <a:xfrm>
            <a:off x="5975754" y="1762788"/>
            <a:ext cx="215015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9" name="Line 156">
            <a:extLst>
              <a:ext uri="{FF2B5EF4-FFF2-40B4-BE49-F238E27FC236}">
                <a16:creationId xmlns:a16="http://schemas.microsoft.com/office/drawing/2014/main" id="{D28856D9-86A4-4941-92D9-966E37261DB3}"/>
              </a:ext>
            </a:extLst>
          </p:cNvPr>
          <p:cNvSpPr>
            <a:spLocks noChangeShapeType="1"/>
          </p:cNvSpPr>
          <p:nvPr/>
        </p:nvSpPr>
        <p:spPr bwMode="auto">
          <a:xfrm>
            <a:off x="2489282" y="2051877"/>
            <a:ext cx="592142"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nvGrpSpPr>
          <p:cNvPr id="2" name="组合 1">
            <a:extLst>
              <a:ext uri="{FF2B5EF4-FFF2-40B4-BE49-F238E27FC236}">
                <a16:creationId xmlns:a16="http://schemas.microsoft.com/office/drawing/2014/main" id="{2A05A760-F638-5095-819B-98C2B26A1A0F}"/>
              </a:ext>
            </a:extLst>
          </p:cNvPr>
          <p:cNvGrpSpPr/>
          <p:nvPr/>
        </p:nvGrpSpPr>
        <p:grpSpPr>
          <a:xfrm>
            <a:off x="2152647" y="1372672"/>
            <a:ext cx="2229694" cy="246221"/>
            <a:chOff x="2152647" y="1372672"/>
            <a:chExt cx="2229694" cy="246221"/>
          </a:xfrm>
        </p:grpSpPr>
        <p:sp>
          <p:nvSpPr>
            <p:cNvPr id="221" name="Text Box 96">
              <a:extLst>
                <a:ext uri="{FF2B5EF4-FFF2-40B4-BE49-F238E27FC236}">
                  <a16:creationId xmlns:a16="http://schemas.microsoft.com/office/drawing/2014/main" id="{680A85EF-7FD4-F5D1-0E1C-68FB92849306}"/>
                </a:ext>
              </a:extLst>
            </p:cNvPr>
            <p:cNvSpPr txBox="1">
              <a:spLocks noChangeArrowheads="1"/>
            </p:cNvSpPr>
            <p:nvPr/>
          </p:nvSpPr>
          <p:spPr bwMode="auto">
            <a:xfrm>
              <a:off x="2152647" y="1372672"/>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40" name="Line 146">
              <a:extLst>
                <a:ext uri="{FF2B5EF4-FFF2-40B4-BE49-F238E27FC236}">
                  <a16:creationId xmlns:a16="http://schemas.microsoft.com/office/drawing/2014/main" id="{3FA304F4-16B2-F474-4D25-7BBF3182AF30}"/>
                </a:ext>
              </a:extLst>
            </p:cNvPr>
            <p:cNvSpPr>
              <a:spLocks noChangeShapeType="1"/>
            </p:cNvSpPr>
            <p:nvPr/>
          </p:nvSpPr>
          <p:spPr bwMode="auto">
            <a:xfrm flipV="1">
              <a:off x="2489282" y="1489936"/>
              <a:ext cx="1893059" cy="4644"/>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sp>
        <p:nvSpPr>
          <p:cNvPr id="242" name="Text Box 205">
            <a:extLst>
              <a:ext uri="{FF2B5EF4-FFF2-40B4-BE49-F238E27FC236}">
                <a16:creationId xmlns:a16="http://schemas.microsoft.com/office/drawing/2014/main" id="{BE4B88CF-597F-220C-6564-A0FF629195C0}"/>
              </a:ext>
            </a:extLst>
          </p:cNvPr>
          <p:cNvSpPr txBox="1">
            <a:spLocks noChangeArrowheads="1"/>
          </p:cNvSpPr>
          <p:nvPr/>
        </p:nvSpPr>
        <p:spPr bwMode="auto">
          <a:xfrm>
            <a:off x="1317046" y="1862629"/>
            <a:ext cx="846706" cy="461665"/>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err="1">
                <a:ln>
                  <a:noFill/>
                </a:ln>
                <a:solidFill>
                  <a:srgbClr val="CC00CC"/>
                </a:solidFill>
                <a:effectLst/>
                <a:uLnTx/>
                <a:uFillTx/>
                <a:latin typeface="微软雅黑" pitchFamily="34" charset="-122"/>
                <a:ea typeface="微软雅黑"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243" name="Line 215">
            <a:extLst>
              <a:ext uri="{FF2B5EF4-FFF2-40B4-BE49-F238E27FC236}">
                <a16:creationId xmlns:a16="http://schemas.microsoft.com/office/drawing/2014/main" id="{0DDB74F3-4D73-5A5C-A9BD-0B5C71021D23}"/>
              </a:ext>
            </a:extLst>
          </p:cNvPr>
          <p:cNvSpPr>
            <a:spLocks noChangeShapeType="1"/>
          </p:cNvSpPr>
          <p:nvPr/>
        </p:nvSpPr>
        <p:spPr bwMode="auto">
          <a:xfrm flipV="1">
            <a:off x="2085549" y="2072776"/>
            <a:ext cx="151400"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5" name="Oval 125">
            <a:extLst>
              <a:ext uri="{FF2B5EF4-FFF2-40B4-BE49-F238E27FC236}">
                <a16:creationId xmlns:a16="http://schemas.microsoft.com/office/drawing/2014/main" id="{91DFC4FD-6C3A-67FB-3005-EC9345B07A0B}"/>
              </a:ext>
            </a:extLst>
          </p:cNvPr>
          <p:cNvSpPr>
            <a:spLocks noChangeArrowheads="1"/>
          </p:cNvSpPr>
          <p:nvPr/>
        </p:nvSpPr>
        <p:spPr bwMode="auto">
          <a:xfrm>
            <a:off x="4662711" y="2981867"/>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6" name="Oval 126">
            <a:extLst>
              <a:ext uri="{FF2B5EF4-FFF2-40B4-BE49-F238E27FC236}">
                <a16:creationId xmlns:a16="http://schemas.microsoft.com/office/drawing/2014/main" id="{4F9FC582-1D66-904A-6709-95954CF22628}"/>
              </a:ext>
            </a:extLst>
          </p:cNvPr>
          <p:cNvSpPr>
            <a:spLocks noChangeArrowheads="1"/>
          </p:cNvSpPr>
          <p:nvPr/>
        </p:nvSpPr>
        <p:spPr bwMode="auto">
          <a:xfrm>
            <a:off x="4825325" y="2846025"/>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7" name="Oval 127">
            <a:extLst>
              <a:ext uri="{FF2B5EF4-FFF2-40B4-BE49-F238E27FC236}">
                <a16:creationId xmlns:a16="http://schemas.microsoft.com/office/drawing/2014/main" id="{3518040D-6A9C-15A9-03DB-687FF40A9700}"/>
              </a:ext>
            </a:extLst>
          </p:cNvPr>
          <p:cNvSpPr>
            <a:spLocks noChangeArrowheads="1"/>
          </p:cNvSpPr>
          <p:nvPr/>
        </p:nvSpPr>
        <p:spPr bwMode="auto">
          <a:xfrm>
            <a:off x="4494489" y="3034113"/>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8" name="Oval 128">
            <a:extLst>
              <a:ext uri="{FF2B5EF4-FFF2-40B4-BE49-F238E27FC236}">
                <a16:creationId xmlns:a16="http://schemas.microsoft.com/office/drawing/2014/main" id="{D5A21A3D-CAD3-1851-E5FE-74C5B8F88382}"/>
              </a:ext>
            </a:extLst>
          </p:cNvPr>
          <p:cNvSpPr>
            <a:spLocks noChangeArrowheads="1"/>
          </p:cNvSpPr>
          <p:nvPr/>
        </p:nvSpPr>
        <p:spPr bwMode="auto">
          <a:xfrm>
            <a:off x="4991304" y="2576665"/>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9" name="Oval 129">
            <a:extLst>
              <a:ext uri="{FF2B5EF4-FFF2-40B4-BE49-F238E27FC236}">
                <a16:creationId xmlns:a16="http://schemas.microsoft.com/office/drawing/2014/main" id="{E2BD5175-4AA1-7024-0E4D-2F63B0A8FAF8}"/>
              </a:ext>
            </a:extLst>
          </p:cNvPr>
          <p:cNvSpPr>
            <a:spLocks noChangeArrowheads="1"/>
          </p:cNvSpPr>
          <p:nvPr/>
        </p:nvSpPr>
        <p:spPr bwMode="auto">
          <a:xfrm>
            <a:off x="5324384" y="2222550"/>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0" name="Oval 130">
            <a:extLst>
              <a:ext uri="{FF2B5EF4-FFF2-40B4-BE49-F238E27FC236}">
                <a16:creationId xmlns:a16="http://schemas.microsoft.com/office/drawing/2014/main" id="{C68CD488-DA16-3E2F-128E-BB3DFDF9D9F3}"/>
              </a:ext>
            </a:extLst>
          </p:cNvPr>
          <p:cNvSpPr>
            <a:spLocks noChangeArrowheads="1"/>
          </p:cNvSpPr>
          <p:nvPr/>
        </p:nvSpPr>
        <p:spPr bwMode="auto">
          <a:xfrm>
            <a:off x="5799892" y="2020530"/>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1" name="Oval 131">
            <a:extLst>
              <a:ext uri="{FF2B5EF4-FFF2-40B4-BE49-F238E27FC236}">
                <a16:creationId xmlns:a16="http://schemas.microsoft.com/office/drawing/2014/main" id="{78A2B81F-E15E-64EE-C4BA-1EB842028E77}"/>
              </a:ext>
            </a:extLst>
          </p:cNvPr>
          <p:cNvSpPr>
            <a:spLocks noChangeArrowheads="1"/>
          </p:cNvSpPr>
          <p:nvPr/>
        </p:nvSpPr>
        <p:spPr bwMode="auto">
          <a:xfrm>
            <a:off x="5482513" y="2149404"/>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2" name="Oval 132">
            <a:extLst>
              <a:ext uri="{FF2B5EF4-FFF2-40B4-BE49-F238E27FC236}">
                <a16:creationId xmlns:a16="http://schemas.microsoft.com/office/drawing/2014/main" id="{E84F65D5-C02A-CC21-1DAC-0DE6B02CD563}"/>
              </a:ext>
            </a:extLst>
          </p:cNvPr>
          <p:cNvSpPr>
            <a:spLocks noChangeArrowheads="1"/>
          </p:cNvSpPr>
          <p:nvPr/>
        </p:nvSpPr>
        <p:spPr bwMode="auto">
          <a:xfrm>
            <a:off x="5644006" y="2083226"/>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nvGrpSpPr>
          <p:cNvPr id="5" name="组合 4">
            <a:extLst>
              <a:ext uri="{FF2B5EF4-FFF2-40B4-BE49-F238E27FC236}">
                <a16:creationId xmlns:a16="http://schemas.microsoft.com/office/drawing/2014/main" id="{1B86580B-9C2A-B618-309D-2B12CF048442}"/>
              </a:ext>
            </a:extLst>
          </p:cNvPr>
          <p:cNvGrpSpPr/>
          <p:nvPr/>
        </p:nvGrpSpPr>
        <p:grpSpPr>
          <a:xfrm>
            <a:off x="2152647" y="2199329"/>
            <a:ext cx="3202017" cy="246221"/>
            <a:chOff x="2152647" y="2199329"/>
            <a:chExt cx="3202017" cy="246221"/>
          </a:xfrm>
        </p:grpSpPr>
        <p:sp>
          <p:nvSpPr>
            <p:cNvPr id="218" name="Text Box 93">
              <a:extLst>
                <a:ext uri="{FF2B5EF4-FFF2-40B4-BE49-F238E27FC236}">
                  <a16:creationId xmlns:a16="http://schemas.microsoft.com/office/drawing/2014/main" id="{D1303E94-76FD-47EC-B30F-4975E7147C0D}"/>
                </a:ext>
              </a:extLst>
            </p:cNvPr>
            <p:cNvSpPr txBox="1">
              <a:spLocks noChangeArrowheads="1"/>
            </p:cNvSpPr>
            <p:nvPr/>
          </p:nvSpPr>
          <p:spPr bwMode="auto">
            <a:xfrm>
              <a:off x="2152647" y="2199329"/>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253" name="Line 147">
              <a:extLst>
                <a:ext uri="{FF2B5EF4-FFF2-40B4-BE49-F238E27FC236}">
                  <a16:creationId xmlns:a16="http://schemas.microsoft.com/office/drawing/2014/main" id="{53E2B84D-39EC-0E6F-D299-1417504B3D51}"/>
                </a:ext>
              </a:extLst>
            </p:cNvPr>
            <p:cNvSpPr>
              <a:spLocks noChangeShapeType="1"/>
            </p:cNvSpPr>
            <p:nvPr/>
          </p:nvSpPr>
          <p:spPr bwMode="auto">
            <a:xfrm rot="10800000">
              <a:off x="2501618" y="2329365"/>
              <a:ext cx="2853046"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cxnSp>
        <p:nvCxnSpPr>
          <p:cNvPr id="254" name="直接连接符 115">
            <a:extLst>
              <a:ext uri="{FF2B5EF4-FFF2-40B4-BE49-F238E27FC236}">
                <a16:creationId xmlns:a16="http://schemas.microsoft.com/office/drawing/2014/main" id="{14F8C20A-DB26-40F7-4146-42BCF37D1675}"/>
              </a:ext>
            </a:extLst>
          </p:cNvPr>
          <p:cNvCxnSpPr>
            <a:cxnSpLocks noChangeShapeType="1"/>
          </p:cNvCxnSpPr>
          <p:nvPr/>
        </p:nvCxnSpPr>
        <p:spPr bwMode="auto">
          <a:xfrm>
            <a:off x="4373369" y="1487614"/>
            <a:ext cx="161493" cy="1563915"/>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55" name="Rectangle 161">
            <a:extLst>
              <a:ext uri="{FF2B5EF4-FFF2-40B4-BE49-F238E27FC236}">
                <a16:creationId xmlns:a16="http://schemas.microsoft.com/office/drawing/2014/main" id="{E5D55CF3-BBC8-C02A-1450-F682BA962DDB}"/>
              </a:ext>
            </a:extLst>
          </p:cNvPr>
          <p:cNvSpPr>
            <a:spLocks noChangeArrowheads="1"/>
          </p:cNvSpPr>
          <p:nvPr/>
        </p:nvSpPr>
        <p:spPr bwMode="auto">
          <a:xfrm>
            <a:off x="2860460" y="1754060"/>
            <a:ext cx="305043" cy="254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56" name="Oval 129">
            <a:extLst>
              <a:ext uri="{FF2B5EF4-FFF2-40B4-BE49-F238E27FC236}">
                <a16:creationId xmlns:a16="http://schemas.microsoft.com/office/drawing/2014/main" id="{7D6F9FD2-1E0C-9318-DC8B-D72631E38DF9}"/>
              </a:ext>
            </a:extLst>
          </p:cNvPr>
          <p:cNvSpPr>
            <a:spLocks noChangeArrowheads="1"/>
          </p:cNvSpPr>
          <p:nvPr/>
        </p:nvSpPr>
        <p:spPr bwMode="auto">
          <a:xfrm>
            <a:off x="5160648" y="2298017"/>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7" name="任意多边形 134">
            <a:extLst>
              <a:ext uri="{FF2B5EF4-FFF2-40B4-BE49-F238E27FC236}">
                <a16:creationId xmlns:a16="http://schemas.microsoft.com/office/drawing/2014/main" id="{D99990D8-37A4-0A89-89D8-890AD39B3277}"/>
              </a:ext>
            </a:extLst>
          </p:cNvPr>
          <p:cNvSpPr>
            <a:spLocks/>
          </p:cNvSpPr>
          <p:nvPr/>
        </p:nvSpPr>
        <p:spPr bwMode="auto">
          <a:xfrm>
            <a:off x="4528133" y="2043750"/>
            <a:ext cx="1315496" cy="1025194"/>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8" name="Rectangle 161">
            <a:extLst>
              <a:ext uri="{FF2B5EF4-FFF2-40B4-BE49-F238E27FC236}">
                <a16:creationId xmlns:a16="http://schemas.microsoft.com/office/drawing/2014/main" id="{00E165CE-6F06-1787-6A96-705E1C1968C5}"/>
              </a:ext>
            </a:extLst>
          </p:cNvPr>
          <p:cNvSpPr>
            <a:spLocks noChangeArrowheads="1"/>
          </p:cNvSpPr>
          <p:nvPr/>
        </p:nvSpPr>
        <p:spPr bwMode="auto">
          <a:xfrm>
            <a:off x="4233941" y="1215721"/>
            <a:ext cx="253455" cy="21130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59" name="直接连接符 119">
            <a:extLst>
              <a:ext uri="{FF2B5EF4-FFF2-40B4-BE49-F238E27FC236}">
                <a16:creationId xmlns:a16="http://schemas.microsoft.com/office/drawing/2014/main" id="{746B1CC7-4151-DE03-4952-E7671D24BC5C}"/>
              </a:ext>
            </a:extLst>
          </p:cNvPr>
          <p:cNvCxnSpPr>
            <a:cxnSpLocks noChangeShapeType="1"/>
          </p:cNvCxnSpPr>
          <p:nvPr/>
        </p:nvCxnSpPr>
        <p:spPr bwMode="auto">
          <a:xfrm flipH="1">
            <a:off x="5986058" y="2624268"/>
            <a:ext cx="1121" cy="479507"/>
          </a:xfrm>
          <a:prstGeom prst="line">
            <a:avLst/>
          </a:prstGeom>
          <a:noFill/>
          <a:ln w="12700" algn="ctr">
            <a:solidFill>
              <a:srgbClr val="000000"/>
            </a:solidFill>
            <a:prstDash val="dash"/>
            <a:round/>
            <a:headEnd/>
            <a:tailEnd/>
          </a:ln>
        </p:spPr>
      </p:cxnSp>
      <p:cxnSp>
        <p:nvCxnSpPr>
          <p:cNvPr id="260" name="直接连接符 121">
            <a:extLst>
              <a:ext uri="{FF2B5EF4-FFF2-40B4-BE49-F238E27FC236}">
                <a16:creationId xmlns:a16="http://schemas.microsoft.com/office/drawing/2014/main" id="{3156928C-E9EA-7EAD-5748-B1256183CCA9}"/>
              </a:ext>
            </a:extLst>
          </p:cNvPr>
          <p:cNvCxnSpPr>
            <a:cxnSpLocks noChangeShapeType="1"/>
          </p:cNvCxnSpPr>
          <p:nvPr/>
        </p:nvCxnSpPr>
        <p:spPr bwMode="auto">
          <a:xfrm>
            <a:off x="2512832" y="2612658"/>
            <a:ext cx="3917332" cy="0"/>
          </a:xfrm>
          <a:prstGeom prst="line">
            <a:avLst/>
          </a:prstGeom>
          <a:noFill/>
          <a:ln w="12700" algn="ctr">
            <a:solidFill>
              <a:srgbClr val="000000"/>
            </a:solidFill>
            <a:prstDash val="dash"/>
            <a:round/>
            <a:headEnd/>
            <a:tailEnd/>
          </a:ln>
        </p:spPr>
      </p:cxnSp>
      <p:sp>
        <p:nvSpPr>
          <p:cNvPr id="261" name="Oval 130">
            <a:extLst>
              <a:ext uri="{FF2B5EF4-FFF2-40B4-BE49-F238E27FC236}">
                <a16:creationId xmlns:a16="http://schemas.microsoft.com/office/drawing/2014/main" id="{6F95EE8E-EE84-1E98-AD31-54B7D35FE7D4}"/>
              </a:ext>
            </a:extLst>
          </p:cNvPr>
          <p:cNvSpPr>
            <a:spLocks noChangeArrowheads="1"/>
          </p:cNvSpPr>
          <p:nvPr/>
        </p:nvSpPr>
        <p:spPr bwMode="auto">
          <a:xfrm>
            <a:off x="5955777" y="2370535"/>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2" name="Line 24">
            <a:extLst>
              <a:ext uri="{FF2B5EF4-FFF2-40B4-BE49-F238E27FC236}">
                <a16:creationId xmlns:a16="http://schemas.microsoft.com/office/drawing/2014/main" id="{2702A923-2C09-CCA1-CDEB-CE719ABB295E}"/>
              </a:ext>
            </a:extLst>
          </p:cNvPr>
          <p:cNvSpPr>
            <a:spLocks noChangeShapeType="1"/>
          </p:cNvSpPr>
          <p:nvPr/>
        </p:nvSpPr>
        <p:spPr bwMode="auto">
          <a:xfrm>
            <a:off x="6309044" y="3050367"/>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3" name="Line 22">
            <a:extLst>
              <a:ext uri="{FF2B5EF4-FFF2-40B4-BE49-F238E27FC236}">
                <a16:creationId xmlns:a16="http://schemas.microsoft.com/office/drawing/2014/main" id="{EF3504CE-7250-45EA-0056-6DDC33800C86}"/>
              </a:ext>
            </a:extLst>
          </p:cNvPr>
          <p:cNvSpPr>
            <a:spLocks noChangeShapeType="1"/>
          </p:cNvSpPr>
          <p:nvPr/>
        </p:nvSpPr>
        <p:spPr bwMode="auto">
          <a:xfrm>
            <a:off x="6145308" y="3053851"/>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4" name="Text Box 87">
            <a:extLst>
              <a:ext uri="{FF2B5EF4-FFF2-40B4-BE49-F238E27FC236}">
                <a16:creationId xmlns:a16="http://schemas.microsoft.com/office/drawing/2014/main" id="{1FDAA7C6-27E6-08C4-90E6-4CCFEC0B8CB2}"/>
              </a:ext>
            </a:extLst>
          </p:cNvPr>
          <p:cNvSpPr txBox="1">
            <a:spLocks noChangeArrowheads="1"/>
          </p:cNvSpPr>
          <p:nvPr/>
        </p:nvSpPr>
        <p:spPr bwMode="auto">
          <a:xfrm>
            <a:off x="6129227" y="3129318"/>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24</a:t>
            </a:r>
          </a:p>
        </p:txBody>
      </p:sp>
      <p:sp>
        <p:nvSpPr>
          <p:cNvPr id="265" name="Line 22">
            <a:extLst>
              <a:ext uri="{FF2B5EF4-FFF2-40B4-BE49-F238E27FC236}">
                <a16:creationId xmlns:a16="http://schemas.microsoft.com/office/drawing/2014/main" id="{F3302DE7-DBA2-EBCF-BADB-B600CB4D26AA}"/>
              </a:ext>
            </a:extLst>
          </p:cNvPr>
          <p:cNvSpPr>
            <a:spLocks noChangeShapeType="1"/>
          </p:cNvSpPr>
          <p:nvPr/>
        </p:nvSpPr>
        <p:spPr bwMode="auto">
          <a:xfrm>
            <a:off x="6477266" y="3059656"/>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66" name="直接连接符 134">
            <a:extLst>
              <a:ext uri="{FF2B5EF4-FFF2-40B4-BE49-F238E27FC236}">
                <a16:creationId xmlns:a16="http://schemas.microsoft.com/office/drawing/2014/main" id="{BB2C0255-DD5E-D191-934B-366511676B4E}"/>
              </a:ext>
            </a:extLst>
          </p:cNvPr>
          <p:cNvCxnSpPr>
            <a:cxnSpLocks noChangeShapeType="1"/>
          </p:cNvCxnSpPr>
          <p:nvPr/>
        </p:nvCxnSpPr>
        <p:spPr bwMode="auto">
          <a:xfrm>
            <a:off x="5838332" y="2063782"/>
            <a:ext cx="138547" cy="328180"/>
          </a:xfrm>
          <a:prstGeom prst="line">
            <a:avLst/>
          </a:prstGeom>
          <a:noFill/>
          <a:ln w="19050" algn="ctr">
            <a:solidFill>
              <a:srgbClr val="0000FF"/>
            </a:solidFill>
            <a:round/>
            <a:headEnd/>
            <a:tailEnd/>
          </a:ln>
        </p:spPr>
      </p:cxnSp>
      <p:sp>
        <p:nvSpPr>
          <p:cNvPr id="267" name="Text Box 206">
            <a:extLst>
              <a:ext uri="{FF2B5EF4-FFF2-40B4-BE49-F238E27FC236}">
                <a16:creationId xmlns:a16="http://schemas.microsoft.com/office/drawing/2014/main" id="{F2BBFC89-DEA8-8B25-4A07-294D55393416}"/>
              </a:ext>
            </a:extLst>
          </p:cNvPr>
          <p:cNvSpPr txBox="1">
            <a:spLocks noChangeArrowheads="1"/>
          </p:cNvSpPr>
          <p:nvPr/>
        </p:nvSpPr>
        <p:spPr bwMode="auto">
          <a:xfrm rot="20070649">
            <a:off x="5095573" y="1884430"/>
            <a:ext cx="858268" cy="29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68" name="Text Box 206">
            <a:extLst>
              <a:ext uri="{FF2B5EF4-FFF2-40B4-BE49-F238E27FC236}">
                <a16:creationId xmlns:a16="http://schemas.microsoft.com/office/drawing/2014/main" id="{05DC29E8-E852-1766-68D8-69A3129EEEE6}"/>
              </a:ext>
            </a:extLst>
          </p:cNvPr>
          <p:cNvSpPr txBox="1">
            <a:spLocks noChangeArrowheads="1"/>
          </p:cNvSpPr>
          <p:nvPr/>
        </p:nvSpPr>
        <p:spPr bwMode="auto">
          <a:xfrm rot="20205303">
            <a:off x="3041974" y="1563882"/>
            <a:ext cx="858268" cy="29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69" name="TextBox 147">
            <a:extLst>
              <a:ext uri="{FF2B5EF4-FFF2-40B4-BE49-F238E27FC236}">
                <a16:creationId xmlns:a16="http://schemas.microsoft.com/office/drawing/2014/main" id="{4DA12DC7-448C-FFBD-7F2F-D8FF861FFF23}"/>
              </a:ext>
            </a:extLst>
          </p:cNvPr>
          <p:cNvSpPr txBox="1">
            <a:spLocks noChangeArrowheads="1"/>
          </p:cNvSpPr>
          <p:nvPr/>
        </p:nvSpPr>
        <p:spPr bwMode="auto">
          <a:xfrm>
            <a:off x="4921580" y="2023421"/>
            <a:ext cx="389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70" name="TextBox 148">
            <a:extLst>
              <a:ext uri="{FF2B5EF4-FFF2-40B4-BE49-F238E27FC236}">
                <a16:creationId xmlns:a16="http://schemas.microsoft.com/office/drawing/2014/main" id="{CB05B0E8-79D6-E9DF-B5DB-4356F9140ABF}"/>
              </a:ext>
            </a:extLst>
          </p:cNvPr>
          <p:cNvSpPr txBox="1">
            <a:spLocks noChangeArrowheads="1"/>
          </p:cNvSpPr>
          <p:nvPr/>
        </p:nvSpPr>
        <p:spPr bwMode="auto">
          <a:xfrm>
            <a:off x="5734655" y="1729678"/>
            <a:ext cx="389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71" name="直接连接符 153">
            <a:extLst>
              <a:ext uri="{FF2B5EF4-FFF2-40B4-BE49-F238E27FC236}">
                <a16:creationId xmlns:a16="http://schemas.microsoft.com/office/drawing/2014/main" id="{772F6C11-1233-FCD6-2C13-FE29F1A382FD}"/>
              </a:ext>
            </a:extLst>
          </p:cNvPr>
          <p:cNvCxnSpPr>
            <a:cxnSpLocks noChangeShapeType="1"/>
          </p:cNvCxnSpPr>
          <p:nvPr/>
        </p:nvCxnSpPr>
        <p:spPr bwMode="auto">
          <a:xfrm flipV="1">
            <a:off x="5184199" y="2353746"/>
            <a:ext cx="7851" cy="719842"/>
          </a:xfrm>
          <a:prstGeom prst="line">
            <a:avLst/>
          </a:prstGeom>
          <a:noFill/>
          <a:ln w="12700" algn="ctr">
            <a:solidFill>
              <a:srgbClr val="000000"/>
            </a:solidFill>
            <a:prstDash val="dash"/>
            <a:round/>
            <a:headEnd/>
            <a:tailEnd/>
          </a:ln>
        </p:spPr>
      </p:cxnSp>
      <p:cxnSp>
        <p:nvCxnSpPr>
          <p:cNvPr id="272" name="直接连接符 271">
            <a:extLst>
              <a:ext uri="{FF2B5EF4-FFF2-40B4-BE49-F238E27FC236}">
                <a16:creationId xmlns:a16="http://schemas.microsoft.com/office/drawing/2014/main" id="{02F63F81-7E93-A025-AFDA-66DC1BC28F50}"/>
              </a:ext>
            </a:extLst>
          </p:cNvPr>
          <p:cNvCxnSpPr>
            <a:cxnSpLocks noChangeShapeType="1"/>
          </p:cNvCxnSpPr>
          <p:nvPr/>
        </p:nvCxnSpPr>
        <p:spPr bwMode="auto">
          <a:xfrm flipV="1">
            <a:off x="5825686" y="2093675"/>
            <a:ext cx="7851" cy="1049576"/>
          </a:xfrm>
          <a:prstGeom prst="line">
            <a:avLst/>
          </a:prstGeom>
          <a:noFill/>
          <a:ln w="12700" algn="ctr">
            <a:solidFill>
              <a:srgbClr val="000000"/>
            </a:solidFill>
            <a:prstDash val="dash"/>
            <a:round/>
            <a:headEnd/>
            <a:tailEnd/>
          </a:ln>
        </p:spPr>
      </p:cxnSp>
      <p:cxnSp>
        <p:nvCxnSpPr>
          <p:cNvPr id="279" name="直接连接符 278">
            <a:extLst>
              <a:ext uri="{FF2B5EF4-FFF2-40B4-BE49-F238E27FC236}">
                <a16:creationId xmlns:a16="http://schemas.microsoft.com/office/drawing/2014/main" id="{66742112-60CA-5579-359B-E47DDF4C2DB1}"/>
              </a:ext>
            </a:extLst>
          </p:cNvPr>
          <p:cNvCxnSpPr>
            <a:cxnSpLocks noChangeShapeType="1"/>
          </p:cNvCxnSpPr>
          <p:nvPr/>
        </p:nvCxnSpPr>
        <p:spPr bwMode="auto">
          <a:xfrm flipH="1">
            <a:off x="4372247" y="1578175"/>
            <a:ext cx="3365" cy="1518634"/>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80" name="直接连接符 119">
            <a:extLst>
              <a:ext uri="{FF2B5EF4-FFF2-40B4-BE49-F238E27FC236}">
                <a16:creationId xmlns:a16="http://schemas.microsoft.com/office/drawing/2014/main" id="{20E9E78D-22FF-A2E6-DAF6-D951315BC40C}"/>
              </a:ext>
            </a:extLst>
          </p:cNvPr>
          <p:cNvCxnSpPr>
            <a:cxnSpLocks noChangeShapeType="1"/>
          </p:cNvCxnSpPr>
          <p:nvPr/>
        </p:nvCxnSpPr>
        <p:spPr bwMode="auto">
          <a:xfrm>
            <a:off x="3080302" y="2131989"/>
            <a:ext cx="0" cy="955531"/>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sp>
        <p:nvSpPr>
          <p:cNvPr id="156" name="Text Box 140">
            <a:extLst>
              <a:ext uri="{FF2B5EF4-FFF2-40B4-BE49-F238E27FC236}">
                <a16:creationId xmlns:a16="http://schemas.microsoft.com/office/drawing/2014/main" id="{5FA8459C-DADE-BFA5-9B65-09BFB6CC9173}"/>
              </a:ext>
            </a:extLst>
          </p:cNvPr>
          <p:cNvSpPr txBox="1">
            <a:spLocks noChangeArrowheads="1"/>
          </p:cNvSpPr>
          <p:nvPr/>
        </p:nvSpPr>
        <p:spPr bwMode="auto">
          <a:xfrm>
            <a:off x="6156432" y="2697983"/>
            <a:ext cx="181496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 16/2 = 8</a:t>
            </a:r>
            <a:endParaRPr lang="zh-CN" altLang="en-US" sz="1200" b="1" kern="0" dirty="0">
              <a:solidFill>
                <a:srgbClr val="0000FF"/>
              </a:solidFill>
              <a:latin typeface="微软雅黑" pitchFamily="34" charset="-122"/>
              <a:ea typeface="微软雅黑" pitchFamily="34" charset="-122"/>
            </a:endParaRPr>
          </a:p>
        </p:txBody>
      </p:sp>
      <p:sp>
        <p:nvSpPr>
          <p:cNvPr id="171" name="Line 167">
            <a:extLst>
              <a:ext uri="{FF2B5EF4-FFF2-40B4-BE49-F238E27FC236}">
                <a16:creationId xmlns:a16="http://schemas.microsoft.com/office/drawing/2014/main" id="{60A6F45F-9A9D-BEF9-6573-D2CA41C6CB3D}"/>
              </a:ext>
            </a:extLst>
          </p:cNvPr>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 name="Line 167">
            <a:extLst>
              <a:ext uri="{FF2B5EF4-FFF2-40B4-BE49-F238E27FC236}">
                <a16:creationId xmlns:a16="http://schemas.microsoft.com/office/drawing/2014/main" id="{64B23F62-33C5-C605-0DE5-1C74B13E0C4C}"/>
              </a:ext>
            </a:extLst>
          </p:cNvPr>
          <p:cNvSpPr>
            <a:spLocks noChangeShapeType="1"/>
          </p:cNvSpPr>
          <p:nvPr/>
        </p:nvSpPr>
        <p:spPr bwMode="auto">
          <a:xfrm>
            <a:off x="2058564" y="2960685"/>
            <a:ext cx="376817" cy="111459"/>
          </a:xfrm>
          <a:prstGeom prst="line">
            <a:avLst/>
          </a:prstGeom>
          <a:noFill/>
          <a:ln w="19050">
            <a:solidFill>
              <a:srgbClr val="FF00FF"/>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82" name="Line 167">
            <a:extLst>
              <a:ext uri="{FF2B5EF4-FFF2-40B4-BE49-F238E27FC236}">
                <a16:creationId xmlns:a16="http://schemas.microsoft.com/office/drawing/2014/main" id="{B62FE347-E058-AA38-44B0-DFE7217BC98B}"/>
              </a:ext>
            </a:extLst>
          </p:cNvPr>
          <p:cNvSpPr>
            <a:spLocks noChangeShapeType="1"/>
          </p:cNvSpPr>
          <p:nvPr/>
        </p:nvSpPr>
        <p:spPr bwMode="auto">
          <a:xfrm>
            <a:off x="4264620" y="2953682"/>
            <a:ext cx="262426" cy="98688"/>
          </a:xfrm>
          <a:prstGeom prst="line">
            <a:avLst/>
          </a:prstGeom>
          <a:noFill/>
          <a:ln w="19050">
            <a:solidFill>
              <a:srgbClr val="FF00FF"/>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83" name="Text Box 209">
            <a:extLst>
              <a:ext uri="{FF2B5EF4-FFF2-40B4-BE49-F238E27FC236}">
                <a16:creationId xmlns:a16="http://schemas.microsoft.com/office/drawing/2014/main" id="{2C8E5B79-B2F5-E61F-26EE-B8230AC4E030}"/>
              </a:ext>
            </a:extLst>
          </p:cNvPr>
          <p:cNvSpPr txBox="1">
            <a:spLocks noChangeArrowheads="1"/>
          </p:cNvSpPr>
          <p:nvPr/>
        </p:nvSpPr>
        <p:spPr bwMode="auto">
          <a:xfrm>
            <a:off x="1393490" y="2710463"/>
            <a:ext cx="753634" cy="276999"/>
          </a:xfrm>
          <a:prstGeom prst="rect">
            <a:avLst/>
          </a:prstGeom>
          <a:solidFill>
            <a:srgbClr val="00FF99"/>
          </a:solidFill>
          <a:ln w="9525">
            <a:solidFill>
              <a:srgbClr val="000000"/>
            </a:solidFill>
            <a:miter lim="800000"/>
            <a:headEnd/>
            <a:tailEnd/>
          </a:ln>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ysClr val="windowText" lastClr="000000"/>
                </a:solidFill>
                <a:effectLst/>
                <a:uLnTx/>
                <a:uFillTx/>
                <a:latin typeface="微软雅黑" pitchFamily="34" charset="-122"/>
                <a:ea typeface="微软雅黑" pitchFamily="34" charset="-122"/>
              </a:rPr>
              <a:t>慢启动</a:t>
            </a:r>
          </a:p>
        </p:txBody>
      </p:sp>
      <p:sp>
        <p:nvSpPr>
          <p:cNvPr id="284" name="Text Box 209">
            <a:extLst>
              <a:ext uri="{FF2B5EF4-FFF2-40B4-BE49-F238E27FC236}">
                <a16:creationId xmlns:a16="http://schemas.microsoft.com/office/drawing/2014/main" id="{098614B6-1785-0E1F-7C03-4EBFD489590B}"/>
              </a:ext>
            </a:extLst>
          </p:cNvPr>
          <p:cNvSpPr txBox="1">
            <a:spLocks noChangeArrowheads="1"/>
          </p:cNvSpPr>
          <p:nvPr/>
        </p:nvSpPr>
        <p:spPr bwMode="auto">
          <a:xfrm>
            <a:off x="3532258" y="2694952"/>
            <a:ext cx="753635" cy="276999"/>
          </a:xfrm>
          <a:prstGeom prst="rect">
            <a:avLst/>
          </a:prstGeom>
          <a:solidFill>
            <a:srgbClr val="00FF99"/>
          </a:solidFill>
          <a:ln w="9525">
            <a:solidFill>
              <a:srgbClr val="000000"/>
            </a:solidFill>
            <a:miter lim="800000"/>
            <a:headEnd/>
            <a:tailEnd/>
          </a:ln>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ysClr val="windowText" lastClr="000000"/>
                </a:solidFill>
                <a:effectLst/>
                <a:uLnTx/>
                <a:uFillTx/>
                <a:latin typeface="微软雅黑" pitchFamily="34" charset="-122"/>
                <a:ea typeface="微软雅黑" pitchFamily="34" charset="-122"/>
              </a:rPr>
              <a:t>慢启动</a:t>
            </a:r>
          </a:p>
        </p:txBody>
      </p:sp>
      <p:sp>
        <p:nvSpPr>
          <p:cNvPr id="3" name="文本框 2">
            <a:extLst>
              <a:ext uri="{FF2B5EF4-FFF2-40B4-BE49-F238E27FC236}">
                <a16:creationId xmlns:a16="http://schemas.microsoft.com/office/drawing/2014/main" id="{2584D624-FE6C-3D2B-E656-42ADBF5BCA6F}"/>
              </a:ext>
            </a:extLst>
          </p:cNvPr>
          <p:cNvSpPr txBox="1"/>
          <p:nvPr/>
        </p:nvSpPr>
        <p:spPr>
          <a:xfrm>
            <a:off x="1247775" y="4130213"/>
            <a:ext cx="7019925"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342900" indent="-342900">
              <a:lnSpc>
                <a:spcPct val="150000"/>
              </a:lnSpc>
              <a:buClr>
                <a:srgbClr val="0070C0"/>
              </a:buClr>
              <a:buFont typeface="Wingdings" pitchFamily="2" charset="2"/>
              <a:buChar char="l"/>
              <a:defRPr sz="2000" b="1">
                <a:latin typeface="微软雅黑" pitchFamily="34" charset="-122"/>
                <a:ea typeface="微软雅黑" pitchFamily="34" charset="-122"/>
              </a:defRPr>
            </a:lvl1pPr>
          </a:lstStyle>
          <a:p>
            <a:pPr marL="0" indent="0">
              <a:lnSpc>
                <a:spcPct val="100000"/>
              </a:lnSpc>
              <a:buNone/>
            </a:pPr>
            <a:r>
              <a:rPr lang="zh-CN" altLang="en-US" sz="1600" dirty="0"/>
              <a:t>快恢复：</a:t>
            </a:r>
            <a:r>
              <a:rPr lang="en-US" altLang="zh-CN" sz="1600" dirty="0" err="1"/>
              <a:t>ssthresh</a:t>
            </a:r>
            <a:r>
              <a:rPr lang="en-US" altLang="zh-CN" sz="1600" dirty="0"/>
              <a:t>=</a:t>
            </a:r>
            <a:r>
              <a:rPr lang="en-US" altLang="zh-CN" sz="1600" dirty="0" err="1"/>
              <a:t>cwnd</a:t>
            </a:r>
            <a:r>
              <a:rPr lang="en-US" altLang="zh-CN" sz="1600" dirty="0"/>
              <a:t>/2</a:t>
            </a:r>
            <a:r>
              <a:rPr lang="zh-CN" altLang="en-US" sz="1600" dirty="0"/>
              <a:t>，</a:t>
            </a:r>
            <a:r>
              <a:rPr lang="en-US" altLang="zh-CN" sz="1600" dirty="0" err="1"/>
              <a:t>cwnd</a:t>
            </a:r>
            <a:r>
              <a:rPr lang="en-US" altLang="zh-CN" sz="1600" dirty="0"/>
              <a:t>=ssthresh+3</a:t>
            </a:r>
            <a:r>
              <a:rPr lang="zh-CN" altLang="en-US" sz="1600" dirty="0"/>
              <a:t>，每收到一个重复确认，</a:t>
            </a:r>
            <a:r>
              <a:rPr lang="en-US" altLang="zh-CN" sz="1600" dirty="0" err="1"/>
              <a:t>cwnd</a:t>
            </a:r>
            <a:r>
              <a:rPr lang="zh-CN" altLang="en-US" sz="1600" dirty="0"/>
              <a:t>增加</a:t>
            </a:r>
            <a:r>
              <a:rPr lang="en-US" altLang="zh-CN" sz="1600" dirty="0"/>
              <a:t>1</a:t>
            </a:r>
            <a:r>
              <a:rPr lang="zh-CN" altLang="en-US" sz="1600" dirty="0"/>
              <a:t>。收到新的确认后，</a:t>
            </a:r>
            <a:r>
              <a:rPr lang="en-US" altLang="zh-CN" sz="1600" dirty="0" err="1"/>
              <a:t>cwnd</a:t>
            </a:r>
            <a:r>
              <a:rPr lang="en-US" altLang="zh-CN" sz="1600" dirty="0"/>
              <a:t>=</a:t>
            </a:r>
            <a:r>
              <a:rPr lang="en-US" altLang="zh-CN" sz="1600" dirty="0" err="1"/>
              <a:t>ssthresh</a:t>
            </a:r>
            <a:r>
              <a:rPr lang="zh-CN" altLang="en-US" sz="1600" dirty="0"/>
              <a:t>，并执行拥塞避免算法。</a:t>
            </a:r>
          </a:p>
        </p:txBody>
      </p:sp>
      <p:cxnSp>
        <p:nvCxnSpPr>
          <p:cNvPr id="4" name="直接连接符 121">
            <a:extLst>
              <a:ext uri="{FF2B5EF4-FFF2-40B4-BE49-F238E27FC236}">
                <a16:creationId xmlns:a16="http://schemas.microsoft.com/office/drawing/2014/main" id="{BE442C3D-2746-A252-F278-BEE92B5C03F6}"/>
              </a:ext>
            </a:extLst>
          </p:cNvPr>
          <p:cNvCxnSpPr>
            <a:cxnSpLocks noChangeShapeType="1"/>
          </p:cNvCxnSpPr>
          <p:nvPr/>
        </p:nvCxnSpPr>
        <p:spPr bwMode="auto">
          <a:xfrm>
            <a:off x="2434250" y="2400724"/>
            <a:ext cx="3917332" cy="0"/>
          </a:xfrm>
          <a:prstGeom prst="line">
            <a:avLst/>
          </a:prstGeom>
          <a:noFill/>
          <a:ln w="12700" algn="ctr">
            <a:solidFill>
              <a:srgbClr val="000000"/>
            </a:solidFill>
            <a:prstDash val="dash"/>
            <a:round/>
            <a:headEnd/>
            <a:tailEnd/>
          </a:ln>
        </p:spPr>
      </p:cxnSp>
      <p:sp>
        <p:nvSpPr>
          <p:cNvPr id="7" name="Text Box 140">
            <a:extLst>
              <a:ext uri="{FF2B5EF4-FFF2-40B4-BE49-F238E27FC236}">
                <a16:creationId xmlns:a16="http://schemas.microsoft.com/office/drawing/2014/main" id="{08007E5B-8937-8E0D-A2DF-6E372C14D7BC}"/>
              </a:ext>
            </a:extLst>
          </p:cNvPr>
          <p:cNvSpPr txBox="1">
            <a:spLocks noChangeArrowheads="1"/>
          </p:cNvSpPr>
          <p:nvPr/>
        </p:nvSpPr>
        <p:spPr bwMode="auto">
          <a:xfrm>
            <a:off x="6240029" y="2341204"/>
            <a:ext cx="182030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200" b="1" kern="0" dirty="0" err="1">
                <a:solidFill>
                  <a:srgbClr val="0000FF"/>
                </a:solidFill>
                <a:latin typeface="微软雅黑" pitchFamily="34" charset="-122"/>
                <a:ea typeface="微软雅黑" pitchFamily="34" charset="-122"/>
              </a:rPr>
              <a:t>cwnd</a:t>
            </a:r>
            <a:r>
              <a:rPr lang="en-US" altLang="zh-CN" sz="1200" b="1" kern="0" dirty="0">
                <a:solidFill>
                  <a:srgbClr val="0000FF"/>
                </a:solidFill>
                <a:latin typeface="微软雅黑" pitchFamily="34" charset="-122"/>
                <a:ea typeface="微软雅黑" pitchFamily="34" charset="-122"/>
              </a:rPr>
              <a:t> = 16/2 +3 = 11</a:t>
            </a:r>
            <a:endParaRPr lang="zh-CN" altLang="en-US" sz="1200" b="1" kern="0" dirty="0">
              <a:solidFill>
                <a:srgbClr val="0000FF"/>
              </a:solidFill>
              <a:latin typeface="微软雅黑" pitchFamily="34" charset="-122"/>
              <a:ea typeface="微软雅黑" pitchFamily="34" charset="-122"/>
            </a:endParaRPr>
          </a:p>
        </p:txBody>
      </p:sp>
      <p:sp>
        <p:nvSpPr>
          <p:cNvPr id="8" name="Line 167">
            <a:extLst>
              <a:ext uri="{FF2B5EF4-FFF2-40B4-BE49-F238E27FC236}">
                <a16:creationId xmlns:a16="http://schemas.microsoft.com/office/drawing/2014/main" id="{5EBBEA9F-E828-0B4A-3483-6D5BA9B09AB3}"/>
              </a:ext>
            </a:extLst>
          </p:cNvPr>
          <p:cNvSpPr>
            <a:spLocks noChangeShapeType="1"/>
          </p:cNvSpPr>
          <p:nvPr/>
        </p:nvSpPr>
        <p:spPr bwMode="auto">
          <a:xfrm flipH="1" flipV="1">
            <a:off x="6023236" y="2408545"/>
            <a:ext cx="282314" cy="65835"/>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167">
            <a:extLst>
              <a:ext uri="{FF2B5EF4-FFF2-40B4-BE49-F238E27FC236}">
                <a16:creationId xmlns:a16="http://schemas.microsoft.com/office/drawing/2014/main" id="{BE0296B6-934E-9EBD-35EB-66A7C5F76968}"/>
              </a:ext>
            </a:extLst>
          </p:cNvPr>
          <p:cNvSpPr>
            <a:spLocks noChangeShapeType="1"/>
          </p:cNvSpPr>
          <p:nvPr/>
        </p:nvSpPr>
        <p:spPr bwMode="auto">
          <a:xfrm flipH="1">
            <a:off x="4568956" y="1618893"/>
            <a:ext cx="367194" cy="691874"/>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Tree>
    <p:extLst>
      <p:ext uri="{BB962C8B-B14F-4D97-AF65-F5344CB8AC3E}">
        <p14:creationId xmlns:p14="http://schemas.microsoft.com/office/powerpoint/2010/main" val="1562149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238"/>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grpId="0" nodeType="withEffect">
                                  <p:stCondLst>
                                    <p:cond delay="0"/>
                                  </p:stCondLst>
                                  <p:childTnLst>
                                    <p:anim calcmode="discrete" valueType="str">
                                      <p:cBhvr>
                                        <p:cTn id="8" dur="1000" fill="hold"/>
                                        <p:tgtEl>
                                          <p:spTgt spid="270"/>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35" presetClass="emph" presetSubtype="0" repeatCount="3000" fill="hold" grpId="0" nodeType="clickEffect">
                                  <p:stCondLst>
                                    <p:cond delay="0"/>
                                  </p:stCondLst>
                                  <p:childTnLst>
                                    <p:anim calcmode="discrete" valueType="str">
                                      <p:cBhvr>
                                        <p:cTn id="12" dur="1000" fill="hold"/>
                                        <p:tgtEl>
                                          <p:spTgt spid="156"/>
                                        </p:tgtEl>
                                        <p:attrNameLst>
                                          <p:attrName>style.visibility</p:attrName>
                                        </p:attrNameLst>
                                      </p:cBhvr>
                                      <p:tavLst>
                                        <p:tav tm="0">
                                          <p:val>
                                            <p:strVal val="hidden"/>
                                          </p:val>
                                        </p:tav>
                                        <p:tav tm="50000">
                                          <p:val>
                                            <p:strVal val="visible"/>
                                          </p:val>
                                        </p:tav>
                                      </p:tavLst>
                                    </p:anim>
                                  </p:childTnLst>
                                </p:cTn>
                              </p:par>
                              <p:par>
                                <p:cTn id="13" presetID="35" presetClass="emph" presetSubtype="0" repeatCount="3000" fill="hold" grpId="0" nodeType="withEffect">
                                  <p:stCondLst>
                                    <p:cond delay="0"/>
                                  </p:stCondLst>
                                  <p:childTnLst>
                                    <p:anim calcmode="discrete" valueType="str">
                                      <p:cBhvr>
                                        <p:cTn id="14" dur="1000" fill="hold"/>
                                        <p:tgtEl>
                                          <p:spTgt spid="171"/>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35" presetClass="emph" presetSubtype="0" repeatCount="3000" fill="hold" grpId="0" nodeType="clickEffect">
                                  <p:stCondLst>
                                    <p:cond delay="0"/>
                                  </p:stCondLst>
                                  <p:childTnLst>
                                    <p:anim calcmode="discrete" valueType="str">
                                      <p:cBhvr>
                                        <p:cTn id="18" dur="1000" fill="hold"/>
                                        <p:tgtEl>
                                          <p:spTgt spid="7"/>
                                        </p:tgtEl>
                                        <p:attrNameLst>
                                          <p:attrName>style.visibility</p:attrName>
                                        </p:attrNameLst>
                                      </p:cBhvr>
                                      <p:tavLst>
                                        <p:tav tm="0">
                                          <p:val>
                                            <p:strVal val="hidden"/>
                                          </p:val>
                                        </p:tav>
                                        <p:tav tm="50000">
                                          <p:val>
                                            <p:strVal val="visible"/>
                                          </p:val>
                                        </p:tav>
                                      </p:tavLst>
                                    </p:anim>
                                  </p:childTnLst>
                                </p:cTn>
                              </p:par>
                              <p:par>
                                <p:cTn id="19" presetID="35" presetClass="emph" presetSubtype="0" repeatCount="3000" fill="hold" grpId="0" nodeType="withEffect">
                                  <p:stCondLst>
                                    <p:cond delay="0"/>
                                  </p:stCondLst>
                                  <p:childTnLst>
                                    <p:anim calcmode="discrete" valueType="str">
                                      <p:cBhvr>
                                        <p:cTn id="20"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 grpId="0"/>
      <p:bldP spid="270" grpId="0"/>
      <p:bldP spid="156" grpId="0"/>
      <p:bldP spid="171" grpId="0" animBg="1"/>
      <p:bldP spid="7" grpId="0"/>
      <p:bldP spid="8" grpId="0" animBg="1"/>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圆角矩形 40">
            <a:extLst>
              <a:ext uri="{FF2B5EF4-FFF2-40B4-BE49-F238E27FC236}">
                <a16:creationId xmlns:a16="http://schemas.microsoft.com/office/drawing/2014/main" id="{590F2B09-5A87-05E5-A6BE-F3EAD880585D}"/>
              </a:ext>
            </a:extLst>
          </p:cNvPr>
          <p:cNvSpPr/>
          <p:nvPr/>
        </p:nvSpPr>
        <p:spPr>
          <a:xfrm>
            <a:off x="545144" y="1013287"/>
            <a:ext cx="8053711" cy="360633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矩形: 圆角 74">
            <a:extLst>
              <a:ext uri="{FF2B5EF4-FFF2-40B4-BE49-F238E27FC236}">
                <a16:creationId xmlns:a16="http://schemas.microsoft.com/office/drawing/2014/main" id="{1B08E891-F61D-CF11-608D-6F4DD29556EC}"/>
              </a:ext>
            </a:extLst>
          </p:cNvPr>
          <p:cNvSpPr/>
          <p:nvPr/>
        </p:nvSpPr>
        <p:spPr>
          <a:xfrm>
            <a:off x="5771516" y="2446656"/>
            <a:ext cx="1507966" cy="975677"/>
          </a:xfrm>
          <a:prstGeom prst="roundRect">
            <a:avLst>
              <a:gd name="adj" fmla="val 28244"/>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zh-CN" altLang="en-US" sz="1000" b="1">
              <a:latin typeface="微软雅黑" panose="020B0503020204020204" pitchFamily="34" charset="-122"/>
              <a:ea typeface="微软雅黑" panose="020B0503020204020204" pitchFamily="34" charset="-122"/>
            </a:endParaRPr>
          </a:p>
        </p:txBody>
      </p:sp>
      <p:sp>
        <p:nvSpPr>
          <p:cNvPr id="76" name="矩形: 圆角 75">
            <a:extLst>
              <a:ext uri="{FF2B5EF4-FFF2-40B4-BE49-F238E27FC236}">
                <a16:creationId xmlns:a16="http://schemas.microsoft.com/office/drawing/2014/main" id="{A692DB6B-2F28-9E0A-7014-D0983BE49A48}"/>
              </a:ext>
            </a:extLst>
          </p:cNvPr>
          <p:cNvSpPr/>
          <p:nvPr/>
        </p:nvSpPr>
        <p:spPr>
          <a:xfrm>
            <a:off x="3237866" y="3496788"/>
            <a:ext cx="1571308" cy="792321"/>
          </a:xfrm>
          <a:prstGeom prst="roundRect">
            <a:avLst>
              <a:gd name="adj" fmla="val 31979"/>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zh-CN" altLang="en-US" sz="1000" b="1">
              <a:latin typeface="微软雅黑" panose="020B0503020204020204" pitchFamily="34" charset="-122"/>
              <a:ea typeface="微软雅黑" panose="020B0503020204020204" pitchFamily="34" charset="-122"/>
            </a:endParaRPr>
          </a:p>
        </p:txBody>
      </p:sp>
      <p:sp>
        <p:nvSpPr>
          <p:cNvPr id="74" name="矩形: 圆角 73">
            <a:extLst>
              <a:ext uri="{FF2B5EF4-FFF2-40B4-BE49-F238E27FC236}">
                <a16:creationId xmlns:a16="http://schemas.microsoft.com/office/drawing/2014/main" id="{EA80938A-A4EE-59B6-E41C-6B8E49B68517}"/>
              </a:ext>
            </a:extLst>
          </p:cNvPr>
          <p:cNvSpPr/>
          <p:nvPr/>
        </p:nvSpPr>
        <p:spPr>
          <a:xfrm>
            <a:off x="3214529" y="1823245"/>
            <a:ext cx="1596867" cy="862330"/>
          </a:xfrm>
          <a:prstGeom prst="roundRect">
            <a:avLst>
              <a:gd name="adj" fmla="val 32192"/>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zh-CN" altLang="en-US" sz="1000" b="1">
              <a:latin typeface="微软雅黑" panose="020B0503020204020204" pitchFamily="34" charset="-122"/>
              <a:ea typeface="微软雅黑" panose="020B0503020204020204" pitchFamily="34" charset="-122"/>
            </a:endParaRPr>
          </a:p>
        </p:txBody>
      </p:sp>
      <p:sp>
        <p:nvSpPr>
          <p:cNvPr id="3" name="AutoShape 5"/>
          <p:cNvSpPr>
            <a:spLocks noChangeArrowheads="1"/>
          </p:cNvSpPr>
          <p:nvPr/>
        </p:nvSpPr>
        <p:spPr bwMode="auto">
          <a:xfrm>
            <a:off x="545145" y="62820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 name="Rectangle 6"/>
          <p:cNvSpPr>
            <a:spLocks noChangeArrowheads="1"/>
          </p:cNvSpPr>
          <p:nvPr/>
        </p:nvSpPr>
        <p:spPr bwMode="auto">
          <a:xfrm>
            <a:off x="3032519" y="605119"/>
            <a:ext cx="30616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拥塞控制有限状态机</a:t>
            </a:r>
          </a:p>
        </p:txBody>
      </p:sp>
      <p:sp>
        <p:nvSpPr>
          <p:cNvPr id="32" name="矩形 31">
            <a:extLst>
              <a:ext uri="{FF2B5EF4-FFF2-40B4-BE49-F238E27FC236}">
                <a16:creationId xmlns:a16="http://schemas.microsoft.com/office/drawing/2014/main" id="{0E4F3CB7-4E93-8031-759C-D0AD75420BA2}"/>
              </a:ext>
            </a:extLst>
          </p:cNvPr>
          <p:cNvSpPr/>
          <p:nvPr/>
        </p:nvSpPr>
        <p:spPr>
          <a:xfrm>
            <a:off x="6217127" y="2459050"/>
            <a:ext cx="530067" cy="210810"/>
          </a:xfrm>
          <a:prstGeom prst="rect">
            <a:avLst/>
          </a:prstGeom>
          <a:solidFill>
            <a:srgbClr val="FFC000"/>
          </a:solidFill>
          <a:ln w="12700"/>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zh-CN" altLang="en-US" sz="1000" b="1">
              <a:latin typeface="微软雅黑" panose="020B0503020204020204" pitchFamily="34" charset="-122"/>
              <a:ea typeface="微软雅黑" panose="020B0503020204020204" pitchFamily="34" charset="-122"/>
            </a:endParaRPr>
          </a:p>
        </p:txBody>
      </p:sp>
      <p:sp>
        <p:nvSpPr>
          <p:cNvPr id="33" name="矩形 32">
            <a:extLst>
              <a:ext uri="{FF2B5EF4-FFF2-40B4-BE49-F238E27FC236}">
                <a16:creationId xmlns:a16="http://schemas.microsoft.com/office/drawing/2014/main" id="{0EA83054-5C9E-712B-60D6-6C7669F85F5C}"/>
              </a:ext>
            </a:extLst>
          </p:cNvPr>
          <p:cNvSpPr/>
          <p:nvPr/>
        </p:nvSpPr>
        <p:spPr>
          <a:xfrm>
            <a:off x="3681254" y="3505678"/>
            <a:ext cx="627857" cy="214471"/>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zh-CN" altLang="en-US" sz="1000" b="1">
              <a:latin typeface="微软雅黑" panose="020B0503020204020204" pitchFamily="34" charset="-122"/>
              <a:ea typeface="微软雅黑" panose="020B0503020204020204" pitchFamily="34" charset="-122"/>
            </a:endParaRPr>
          </a:p>
        </p:txBody>
      </p:sp>
      <p:sp>
        <p:nvSpPr>
          <p:cNvPr id="34" name="矩形 33">
            <a:extLst>
              <a:ext uri="{FF2B5EF4-FFF2-40B4-BE49-F238E27FC236}">
                <a16:creationId xmlns:a16="http://schemas.microsoft.com/office/drawing/2014/main" id="{DDEDC184-FAD1-1E08-BDFD-17D2057289B4}"/>
              </a:ext>
            </a:extLst>
          </p:cNvPr>
          <p:cNvSpPr/>
          <p:nvPr/>
        </p:nvSpPr>
        <p:spPr>
          <a:xfrm>
            <a:off x="3697923" y="1834358"/>
            <a:ext cx="555625" cy="223361"/>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zh-CN" altLang="en-US" sz="1000" b="1">
              <a:latin typeface="微软雅黑" panose="020B0503020204020204" pitchFamily="34" charset="-122"/>
              <a:ea typeface="微软雅黑" panose="020B0503020204020204" pitchFamily="34" charset="-122"/>
            </a:endParaRPr>
          </a:p>
        </p:txBody>
      </p:sp>
      <p:sp>
        <p:nvSpPr>
          <p:cNvPr id="35" name="任意多边形: 形状 34">
            <a:extLst>
              <a:ext uri="{FF2B5EF4-FFF2-40B4-BE49-F238E27FC236}">
                <a16:creationId xmlns:a16="http://schemas.microsoft.com/office/drawing/2014/main" id="{0DFF1140-00C2-4864-CBE4-9399D61ED4B2}"/>
              </a:ext>
            </a:extLst>
          </p:cNvPr>
          <p:cNvSpPr/>
          <p:nvPr/>
        </p:nvSpPr>
        <p:spPr>
          <a:xfrm>
            <a:off x="4812507" y="1971041"/>
            <a:ext cx="1664653" cy="466725"/>
          </a:xfrm>
          <a:custGeom>
            <a:avLst/>
            <a:gdLst>
              <a:gd name="connsiteX0" fmla="*/ 0 w 1905000"/>
              <a:gd name="connsiteY0" fmla="*/ 19050 h 561975"/>
              <a:gd name="connsiteX1" fmla="*/ 1905000 w 1905000"/>
              <a:gd name="connsiteY1" fmla="*/ 0 h 561975"/>
              <a:gd name="connsiteX2" fmla="*/ 1905000 w 1905000"/>
              <a:gd name="connsiteY2" fmla="*/ 561975 h 561975"/>
              <a:gd name="connsiteX0" fmla="*/ 0 w 1905000"/>
              <a:gd name="connsiteY0" fmla="*/ 9525 h 552450"/>
              <a:gd name="connsiteX1" fmla="*/ 1905000 w 1905000"/>
              <a:gd name="connsiteY1" fmla="*/ 0 h 552450"/>
              <a:gd name="connsiteX2" fmla="*/ 1905000 w 1905000"/>
              <a:gd name="connsiteY2" fmla="*/ 552450 h 552450"/>
            </a:gdLst>
            <a:ahLst/>
            <a:cxnLst>
              <a:cxn ang="0">
                <a:pos x="connsiteX0" y="connsiteY0"/>
              </a:cxn>
              <a:cxn ang="0">
                <a:pos x="connsiteX1" y="connsiteY1"/>
              </a:cxn>
              <a:cxn ang="0">
                <a:pos x="connsiteX2" y="connsiteY2"/>
              </a:cxn>
            </a:cxnLst>
            <a:rect l="l" t="t" r="r" b="b"/>
            <a:pathLst>
              <a:path w="1905000" h="552450">
                <a:moveTo>
                  <a:pt x="0" y="9525"/>
                </a:moveTo>
                <a:lnTo>
                  <a:pt x="1905000" y="0"/>
                </a:lnTo>
                <a:lnTo>
                  <a:pt x="1905000" y="552450"/>
                </a:lnTo>
              </a:path>
            </a:pathLst>
          </a:custGeom>
          <a:noFill/>
          <a:ln w="19050">
            <a:solidFill>
              <a:schemeClr val="tx1"/>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000" b="1">
              <a:latin typeface="微软雅黑" panose="020B0503020204020204" pitchFamily="34" charset="-122"/>
              <a:ea typeface="微软雅黑" panose="020B0503020204020204" pitchFamily="34" charset="-122"/>
            </a:endParaRPr>
          </a:p>
        </p:txBody>
      </p:sp>
      <p:sp>
        <p:nvSpPr>
          <p:cNvPr id="36" name="矩形 35">
            <a:extLst>
              <a:ext uri="{FF2B5EF4-FFF2-40B4-BE49-F238E27FC236}">
                <a16:creationId xmlns:a16="http://schemas.microsoft.com/office/drawing/2014/main" id="{75E0FABB-62DA-D7EC-6CAE-FCA5EAF65BB8}"/>
              </a:ext>
            </a:extLst>
          </p:cNvPr>
          <p:cNvSpPr/>
          <p:nvPr/>
        </p:nvSpPr>
        <p:spPr>
          <a:xfrm>
            <a:off x="6197124" y="2075499"/>
            <a:ext cx="560070" cy="242252"/>
          </a:xfrm>
          <a:prstGeom prst="rect">
            <a:avLst/>
          </a:prstGeom>
          <a:solidFill>
            <a:schemeClr val="bg2">
              <a:lumMod val="20000"/>
              <a:lumOff val="8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zh-CN" altLang="en-US" sz="1000" b="1">
              <a:latin typeface="微软雅黑" panose="020B0503020204020204" pitchFamily="34" charset="-122"/>
              <a:ea typeface="微软雅黑" panose="020B0503020204020204" pitchFamily="34" charset="-122"/>
            </a:endParaRPr>
          </a:p>
        </p:txBody>
      </p:sp>
      <p:sp>
        <p:nvSpPr>
          <p:cNvPr id="37" name="任意多边形: 形状 36">
            <a:extLst>
              <a:ext uri="{FF2B5EF4-FFF2-40B4-BE49-F238E27FC236}">
                <a16:creationId xmlns:a16="http://schemas.microsoft.com/office/drawing/2014/main" id="{161510DC-C331-16EC-C922-5C1BA2FB2CA7}"/>
              </a:ext>
            </a:extLst>
          </p:cNvPr>
          <p:cNvSpPr/>
          <p:nvPr/>
        </p:nvSpPr>
        <p:spPr>
          <a:xfrm>
            <a:off x="4352449" y="2935606"/>
            <a:ext cx="1419067" cy="556737"/>
          </a:xfrm>
          <a:custGeom>
            <a:avLst/>
            <a:gdLst>
              <a:gd name="connsiteX0" fmla="*/ 1981200 w 1981200"/>
              <a:gd name="connsiteY0" fmla="*/ 0 h 581025"/>
              <a:gd name="connsiteX1" fmla="*/ 0 w 1981200"/>
              <a:gd name="connsiteY1" fmla="*/ 0 h 581025"/>
              <a:gd name="connsiteX2" fmla="*/ 0 w 1981200"/>
              <a:gd name="connsiteY2" fmla="*/ 581025 h 581025"/>
            </a:gdLst>
            <a:ahLst/>
            <a:cxnLst>
              <a:cxn ang="0">
                <a:pos x="connsiteX0" y="connsiteY0"/>
              </a:cxn>
              <a:cxn ang="0">
                <a:pos x="connsiteX1" y="connsiteY1"/>
              </a:cxn>
              <a:cxn ang="0">
                <a:pos x="connsiteX2" y="connsiteY2"/>
              </a:cxn>
            </a:cxnLst>
            <a:rect l="l" t="t" r="r" b="b"/>
            <a:pathLst>
              <a:path w="1981200" h="581025">
                <a:moveTo>
                  <a:pt x="1981200" y="0"/>
                </a:moveTo>
                <a:lnTo>
                  <a:pt x="0" y="0"/>
                </a:lnTo>
                <a:lnTo>
                  <a:pt x="0" y="581025"/>
                </a:lnTo>
              </a:path>
            </a:pathLst>
          </a:custGeom>
          <a:noFill/>
          <a:ln w="12700">
            <a:solidFill>
              <a:schemeClr val="tx1"/>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000" b="1">
              <a:latin typeface="微软雅黑" panose="020B0503020204020204" pitchFamily="34" charset="-122"/>
              <a:ea typeface="微软雅黑" panose="020B0503020204020204" pitchFamily="34" charset="-122"/>
            </a:endParaRPr>
          </a:p>
        </p:txBody>
      </p:sp>
      <p:sp>
        <p:nvSpPr>
          <p:cNvPr id="38" name="Text Box 15">
            <a:extLst>
              <a:ext uri="{FF2B5EF4-FFF2-40B4-BE49-F238E27FC236}">
                <a16:creationId xmlns:a16="http://schemas.microsoft.com/office/drawing/2014/main" id="{B00EE4A5-73B3-3EA8-26D7-9DE37479AFD9}"/>
              </a:ext>
            </a:extLst>
          </p:cNvPr>
          <p:cNvSpPr txBox="1">
            <a:spLocks noChangeArrowheads="1"/>
          </p:cNvSpPr>
          <p:nvPr/>
        </p:nvSpPr>
        <p:spPr bwMode="auto">
          <a:xfrm>
            <a:off x="3699034" y="1827690"/>
            <a:ext cx="565627" cy="230832"/>
          </a:xfrm>
          <a:prstGeom prst="rect">
            <a:avLst/>
          </a:prstGeom>
          <a:solidFill>
            <a:srgbClr val="92D050"/>
          </a:solidFill>
          <a:ln w="12700">
            <a:solidFill>
              <a:srgbClr val="000000"/>
            </a:solidFill>
            <a:miter lim="800000"/>
            <a:headEnd/>
            <a:tailEnd/>
          </a:ln>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900" b="1">
                <a:latin typeface="微软雅黑" panose="020B0503020204020204" pitchFamily="34" charset="-122"/>
                <a:ea typeface="微软雅黑" panose="020B0503020204020204" pitchFamily="34" charset="-122"/>
              </a:rPr>
              <a:t>慢启动</a:t>
            </a:r>
          </a:p>
        </p:txBody>
      </p:sp>
      <p:sp>
        <p:nvSpPr>
          <p:cNvPr id="39" name="Text Box 16">
            <a:extLst>
              <a:ext uri="{FF2B5EF4-FFF2-40B4-BE49-F238E27FC236}">
                <a16:creationId xmlns:a16="http://schemas.microsoft.com/office/drawing/2014/main" id="{0430A3A7-4560-263E-4812-7934FAB18CE9}"/>
              </a:ext>
            </a:extLst>
          </p:cNvPr>
          <p:cNvSpPr txBox="1">
            <a:spLocks noChangeArrowheads="1"/>
          </p:cNvSpPr>
          <p:nvPr/>
        </p:nvSpPr>
        <p:spPr bwMode="auto">
          <a:xfrm>
            <a:off x="3190082" y="2027715"/>
            <a:ext cx="1664653" cy="661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spcAft>
                <a:spcPts val="1200"/>
              </a:spcAft>
              <a:buFontTx/>
              <a:buNone/>
            </a:pPr>
            <a:r>
              <a:rPr lang="zh-CN" altLang="en-US" sz="900" b="1">
                <a:latin typeface="微软雅黑" panose="020B0503020204020204" pitchFamily="34" charset="-122"/>
                <a:ea typeface="微软雅黑" panose="020B0503020204020204" pitchFamily="34" charset="-122"/>
              </a:rPr>
              <a:t>拥塞窗口 </a:t>
            </a:r>
            <a:r>
              <a:rPr lang="en-US" altLang="zh-CN" sz="900" b="1">
                <a:latin typeface="微软雅黑" panose="020B0503020204020204" pitchFamily="34" charset="-122"/>
                <a:ea typeface="微软雅黑" panose="020B0503020204020204" pitchFamily="34" charset="-122"/>
              </a:rPr>
              <a:t>cwnd =</a:t>
            </a:r>
            <a:r>
              <a:rPr lang="zh-CN" altLang="en-US" sz="900" b="1">
                <a:latin typeface="微软雅黑" panose="020B0503020204020204" pitchFamily="34" charset="-122"/>
                <a:ea typeface="微软雅黑" panose="020B0503020204020204" pitchFamily="34" charset="-122"/>
              </a:rPr>
              <a:t> </a:t>
            </a:r>
            <a:r>
              <a:rPr lang="en-US" altLang="zh-CN" sz="900" b="1">
                <a:latin typeface="微软雅黑" panose="020B0503020204020204" pitchFamily="34" charset="-122"/>
                <a:ea typeface="微软雅黑" panose="020B0503020204020204" pitchFamily="34" charset="-122"/>
              </a:rPr>
              <a:t>1 MSS </a:t>
            </a:r>
            <a:endParaRPr lang="zh-CN" altLang="en-US" sz="900" b="1">
              <a:latin typeface="微软雅黑" panose="020B0503020204020204" pitchFamily="34" charset="-122"/>
              <a:ea typeface="微软雅黑" panose="020B0503020204020204" pitchFamily="34" charset="-122"/>
            </a:endParaRPr>
          </a:p>
          <a:p>
            <a:pPr algn="ctr" eaLnBrk="1" hangingPunct="1">
              <a:spcBef>
                <a:spcPct val="0"/>
              </a:spcBef>
              <a:buFontTx/>
              <a:buNone/>
            </a:pPr>
            <a:r>
              <a:rPr lang="zh-CN" altLang="en-US" sz="900" b="1">
                <a:latin typeface="微软雅黑" panose="020B0503020204020204" pitchFamily="34" charset="-122"/>
                <a:ea typeface="微软雅黑" panose="020B0503020204020204" pitchFamily="34" charset="-122"/>
              </a:rPr>
              <a:t>每收到 </a:t>
            </a:r>
            <a:r>
              <a:rPr lang="en-US" altLang="zh-CN" sz="900" b="1">
                <a:latin typeface="微软雅黑" panose="020B0503020204020204" pitchFamily="34" charset="-122"/>
                <a:ea typeface="微软雅黑" panose="020B0503020204020204" pitchFamily="34" charset="-122"/>
              </a:rPr>
              <a:t>1 </a:t>
            </a:r>
            <a:r>
              <a:rPr lang="zh-CN" altLang="en-US" sz="900" b="1">
                <a:latin typeface="微软雅黑" panose="020B0503020204020204" pitchFamily="34" charset="-122"/>
                <a:ea typeface="微软雅黑" panose="020B0503020204020204" pitchFamily="34" charset="-122"/>
              </a:rPr>
              <a:t>个新的 </a:t>
            </a:r>
            <a:r>
              <a:rPr lang="en-US" altLang="zh-CN" sz="900" b="1">
                <a:latin typeface="微软雅黑" panose="020B0503020204020204" pitchFamily="34" charset="-122"/>
                <a:ea typeface="微软雅黑" panose="020B0503020204020204" pitchFamily="34" charset="-122"/>
              </a:rPr>
              <a:t>ACK</a:t>
            </a:r>
          </a:p>
          <a:p>
            <a:pPr algn="ctr" eaLnBrk="1" hangingPunct="1">
              <a:spcBef>
                <a:spcPct val="0"/>
              </a:spcBef>
              <a:buFontTx/>
              <a:buNone/>
            </a:pPr>
            <a:r>
              <a:rPr lang="en-US" altLang="zh-CN" sz="900" b="1">
                <a:latin typeface="微软雅黑" panose="020B0503020204020204" pitchFamily="34" charset="-122"/>
                <a:ea typeface="微软雅黑" panose="020B0503020204020204" pitchFamily="34" charset="-122"/>
                <a:sym typeface="Symbol" panose="05050102010706020507" pitchFamily="18" charset="2"/>
              </a:rPr>
              <a:t>cwnd </a:t>
            </a:r>
            <a:r>
              <a:rPr lang="zh-CN" altLang="en-US" sz="900" b="1">
                <a:latin typeface="微软雅黑" panose="020B0503020204020204" pitchFamily="34" charset="-122"/>
                <a:ea typeface="微软雅黑" panose="020B0503020204020204" pitchFamily="34" charset="-122"/>
                <a:sym typeface="Symbol" panose="05050102010706020507" pitchFamily="18" charset="2"/>
              </a:rPr>
              <a:t>增加 </a:t>
            </a:r>
            <a:r>
              <a:rPr lang="en-US" altLang="zh-CN" sz="900" b="1">
                <a:latin typeface="微软雅黑" panose="020B0503020204020204" pitchFamily="34" charset="-122"/>
                <a:ea typeface="微软雅黑" panose="020B0503020204020204" pitchFamily="34" charset="-122"/>
                <a:sym typeface="Symbol" panose="05050102010706020507" pitchFamily="18" charset="2"/>
              </a:rPr>
              <a:t>1 MSS</a:t>
            </a:r>
          </a:p>
        </p:txBody>
      </p:sp>
      <p:sp>
        <p:nvSpPr>
          <p:cNvPr id="40" name="TextBox 25">
            <a:extLst>
              <a:ext uri="{FF2B5EF4-FFF2-40B4-BE49-F238E27FC236}">
                <a16:creationId xmlns:a16="http://schemas.microsoft.com/office/drawing/2014/main" id="{8E800486-5F1D-2095-6970-D5CAF40B8C10}"/>
              </a:ext>
            </a:extLst>
          </p:cNvPr>
          <p:cNvSpPr txBox="1">
            <a:spLocks noChangeArrowheads="1"/>
          </p:cNvSpPr>
          <p:nvPr/>
        </p:nvSpPr>
        <p:spPr bwMode="auto">
          <a:xfrm>
            <a:off x="5192932" y="1589883"/>
            <a:ext cx="8082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900" b="1">
                <a:latin typeface="微软雅黑" panose="020B0503020204020204" pitchFamily="34" charset="-122"/>
                <a:ea typeface="微软雅黑" panose="020B0503020204020204" pitchFamily="34" charset="-122"/>
                <a:cs typeface="Times New Roman" panose="02020603050405020304" pitchFamily="18" charset="0"/>
              </a:rPr>
              <a:t>收到 </a:t>
            </a:r>
            <a:r>
              <a:rPr lang="en-US" altLang="zh-CN" sz="900" b="1">
                <a:latin typeface="微软雅黑" panose="020B0503020204020204" pitchFamily="34" charset="-122"/>
                <a:ea typeface="微软雅黑" panose="020B0503020204020204" pitchFamily="34" charset="-122"/>
                <a:cs typeface="Times New Roman" panose="02020603050405020304" pitchFamily="18" charset="0"/>
              </a:rPr>
              <a:t>3 </a:t>
            </a:r>
            <a:r>
              <a:rPr lang="zh-CN" altLang="en-US" sz="900" b="1">
                <a:latin typeface="微软雅黑" panose="020B0503020204020204" pitchFamily="34" charset="-122"/>
                <a:ea typeface="微软雅黑" panose="020B0503020204020204" pitchFamily="34" charset="-122"/>
                <a:cs typeface="Times New Roman" panose="02020603050405020304" pitchFamily="18" charset="0"/>
              </a:rPr>
              <a:t>个</a:t>
            </a:r>
            <a:endParaRPr lang="en-US" altLang="zh-CN" sz="900" b="1">
              <a:latin typeface="微软雅黑" panose="020B0503020204020204" pitchFamily="34" charset="-122"/>
              <a:ea typeface="微软雅黑" panose="020B0503020204020204" pitchFamily="34" charset="-122"/>
              <a:cs typeface="Times New Roman" panose="02020603050405020304" pitchFamily="18" charset="0"/>
            </a:endParaRPr>
          </a:p>
          <a:p>
            <a:pPr algn="ctr" eaLnBrk="1" hangingPunct="1">
              <a:spcBef>
                <a:spcPct val="0"/>
              </a:spcBef>
              <a:buFontTx/>
              <a:buNone/>
            </a:pPr>
            <a:r>
              <a:rPr lang="zh-CN" altLang="en-US" sz="900" b="1">
                <a:latin typeface="微软雅黑" panose="020B0503020204020204" pitchFamily="34" charset="-122"/>
                <a:ea typeface="微软雅黑" panose="020B0503020204020204" pitchFamily="34" charset="-122"/>
                <a:cs typeface="Times New Roman" panose="02020603050405020304" pitchFamily="18" charset="0"/>
              </a:rPr>
              <a:t>重复的 </a:t>
            </a:r>
            <a:r>
              <a:rPr lang="en-US" altLang="zh-CN" sz="900" b="1">
                <a:latin typeface="微软雅黑" panose="020B0503020204020204" pitchFamily="34" charset="-122"/>
                <a:ea typeface="微软雅黑" panose="020B0503020204020204" pitchFamily="34" charset="-122"/>
                <a:cs typeface="Times New Roman" panose="02020603050405020304" pitchFamily="18" charset="0"/>
              </a:rPr>
              <a:t>ACK</a:t>
            </a:r>
            <a:endParaRPr lang="zh-CN" altLang="en-US" sz="900" b="1">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1" name="TextBox 26">
            <a:extLst>
              <a:ext uri="{FF2B5EF4-FFF2-40B4-BE49-F238E27FC236}">
                <a16:creationId xmlns:a16="http://schemas.microsoft.com/office/drawing/2014/main" id="{335FE827-3328-3CA0-A716-3D3978BABD1C}"/>
              </a:ext>
            </a:extLst>
          </p:cNvPr>
          <p:cNvSpPr txBox="1">
            <a:spLocks noChangeArrowheads="1"/>
          </p:cNvSpPr>
          <p:nvPr/>
        </p:nvSpPr>
        <p:spPr bwMode="auto">
          <a:xfrm>
            <a:off x="2797811" y="2052163"/>
            <a:ext cx="41549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900" b="1">
                <a:latin typeface="微软雅黑" panose="020B0503020204020204" pitchFamily="34" charset="-122"/>
                <a:ea typeface="微软雅黑" panose="020B0503020204020204" pitchFamily="34" charset="-122"/>
              </a:rPr>
              <a:t>超时</a:t>
            </a:r>
          </a:p>
        </p:txBody>
      </p:sp>
      <p:cxnSp>
        <p:nvCxnSpPr>
          <p:cNvPr id="42" name="直接箭头连接符 41">
            <a:extLst>
              <a:ext uri="{FF2B5EF4-FFF2-40B4-BE49-F238E27FC236}">
                <a16:creationId xmlns:a16="http://schemas.microsoft.com/office/drawing/2014/main" id="{D42EB222-E534-6D00-9566-A0C6665AEA9B}"/>
              </a:ext>
            </a:extLst>
          </p:cNvPr>
          <p:cNvCxnSpPr/>
          <p:nvPr/>
        </p:nvCxnSpPr>
        <p:spPr>
          <a:xfrm>
            <a:off x="3987959" y="1509873"/>
            <a:ext cx="3334" cy="327818"/>
          </a:xfrm>
          <a:prstGeom prst="straightConnector1">
            <a:avLst/>
          </a:prstGeom>
          <a:ln w="1905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43" name="TextBox 31">
            <a:extLst>
              <a:ext uri="{FF2B5EF4-FFF2-40B4-BE49-F238E27FC236}">
                <a16:creationId xmlns:a16="http://schemas.microsoft.com/office/drawing/2014/main" id="{329880BA-6398-3DE4-6E11-58EBD4772189}"/>
              </a:ext>
            </a:extLst>
          </p:cNvPr>
          <p:cNvSpPr txBox="1">
            <a:spLocks noChangeArrowheads="1"/>
          </p:cNvSpPr>
          <p:nvPr/>
        </p:nvSpPr>
        <p:spPr bwMode="auto">
          <a:xfrm>
            <a:off x="3531240" y="1273176"/>
            <a:ext cx="90441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900" b="1" dirty="0">
                <a:latin typeface="微软雅黑" panose="020B0503020204020204" pitchFamily="34" charset="-122"/>
                <a:ea typeface="微软雅黑" panose="020B0503020204020204" pitchFamily="34" charset="-122"/>
                <a:cs typeface="Times New Roman" panose="02020603050405020304" pitchFamily="18" charset="0"/>
              </a:rPr>
              <a:t>TCP </a:t>
            </a:r>
            <a:r>
              <a:rPr lang="zh-CN" altLang="en-US" sz="900" b="1" dirty="0">
                <a:latin typeface="微软雅黑" panose="020B0503020204020204" pitchFamily="34" charset="-122"/>
                <a:ea typeface="微软雅黑" panose="020B0503020204020204" pitchFamily="34" charset="-122"/>
              </a:rPr>
              <a:t>连接建立</a:t>
            </a:r>
          </a:p>
        </p:txBody>
      </p:sp>
      <p:sp>
        <p:nvSpPr>
          <p:cNvPr id="44" name="TextBox 32">
            <a:extLst>
              <a:ext uri="{FF2B5EF4-FFF2-40B4-BE49-F238E27FC236}">
                <a16:creationId xmlns:a16="http://schemas.microsoft.com/office/drawing/2014/main" id="{658BD2C1-D465-F0EB-5283-7AB51280A8DA}"/>
              </a:ext>
            </a:extLst>
          </p:cNvPr>
          <p:cNvSpPr txBox="1">
            <a:spLocks noChangeArrowheads="1"/>
          </p:cNvSpPr>
          <p:nvPr/>
        </p:nvSpPr>
        <p:spPr bwMode="auto">
          <a:xfrm>
            <a:off x="2551114" y="2695576"/>
            <a:ext cx="113524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900" b="1">
                <a:latin typeface="微软雅黑" panose="020B0503020204020204" pitchFamily="34" charset="-122"/>
                <a:ea typeface="微软雅黑" panose="020B0503020204020204" pitchFamily="34" charset="-122"/>
              </a:rPr>
              <a:t>cwnd </a:t>
            </a:r>
            <a:r>
              <a:rPr lang="zh-CN" altLang="en-US" sz="900" b="1">
                <a:latin typeface="微软雅黑" panose="020B0503020204020204" pitchFamily="34" charset="-122"/>
                <a:ea typeface="微软雅黑" panose="020B0503020204020204" pitchFamily="34" charset="-122"/>
              </a:rPr>
              <a:t>≥</a:t>
            </a:r>
            <a:r>
              <a:rPr lang="en-US" altLang="zh-CN" sz="900" b="1">
                <a:latin typeface="微软雅黑" panose="020B0503020204020204" pitchFamily="34" charset="-122"/>
                <a:ea typeface="微软雅黑" panose="020B0503020204020204" pitchFamily="34" charset="-122"/>
                <a:sym typeface="Symbol" panose="05050102010706020507" pitchFamily="18" charset="2"/>
              </a:rPr>
              <a:t> ssthresh</a:t>
            </a:r>
            <a:endParaRPr lang="zh-CN" altLang="en-US" sz="900" b="1">
              <a:latin typeface="微软雅黑" panose="020B0503020204020204" pitchFamily="34" charset="-122"/>
              <a:ea typeface="微软雅黑" panose="020B0503020204020204" pitchFamily="34" charset="-122"/>
            </a:endParaRPr>
          </a:p>
        </p:txBody>
      </p:sp>
      <p:cxnSp>
        <p:nvCxnSpPr>
          <p:cNvPr id="45" name="直接箭头连接符 44">
            <a:extLst>
              <a:ext uri="{FF2B5EF4-FFF2-40B4-BE49-F238E27FC236}">
                <a16:creationId xmlns:a16="http://schemas.microsoft.com/office/drawing/2014/main" id="{82FCEAB7-61BD-EE0A-FD08-2C61488E03F8}"/>
              </a:ext>
            </a:extLst>
          </p:cNvPr>
          <p:cNvCxnSpPr>
            <a:cxnSpLocks/>
          </p:cNvCxnSpPr>
          <p:nvPr/>
        </p:nvCxnSpPr>
        <p:spPr>
          <a:xfrm flipH="1">
            <a:off x="3617913" y="2713356"/>
            <a:ext cx="12223" cy="778987"/>
          </a:xfrm>
          <a:prstGeom prst="straightConnector1">
            <a:avLst/>
          </a:prstGeom>
          <a:ln w="1905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46" name="AutoShape 5">
            <a:extLst>
              <a:ext uri="{FF2B5EF4-FFF2-40B4-BE49-F238E27FC236}">
                <a16:creationId xmlns:a16="http://schemas.microsoft.com/office/drawing/2014/main" id="{F0E2AC96-F516-E6B0-D194-9375A58302BF}"/>
              </a:ext>
            </a:extLst>
          </p:cNvPr>
          <p:cNvSpPr>
            <a:spLocks noChangeArrowheads="1"/>
          </p:cNvSpPr>
          <p:nvPr/>
        </p:nvSpPr>
        <p:spPr bwMode="auto">
          <a:xfrm>
            <a:off x="3232309" y="3492343"/>
            <a:ext cx="1579087" cy="754538"/>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zh-CN" sz="900" b="1">
              <a:latin typeface="微软雅黑" panose="020B0503020204020204" pitchFamily="34" charset="-122"/>
              <a:ea typeface="微软雅黑" panose="020B0503020204020204" pitchFamily="34" charset="-122"/>
            </a:endParaRPr>
          </a:p>
        </p:txBody>
      </p:sp>
      <p:sp>
        <p:nvSpPr>
          <p:cNvPr id="47" name="Text Box 15">
            <a:extLst>
              <a:ext uri="{FF2B5EF4-FFF2-40B4-BE49-F238E27FC236}">
                <a16:creationId xmlns:a16="http://schemas.microsoft.com/office/drawing/2014/main" id="{4C32384B-061E-6C78-51C2-8C607C85ED6A}"/>
              </a:ext>
            </a:extLst>
          </p:cNvPr>
          <p:cNvSpPr txBox="1">
            <a:spLocks noChangeArrowheads="1"/>
          </p:cNvSpPr>
          <p:nvPr/>
        </p:nvSpPr>
        <p:spPr bwMode="auto">
          <a:xfrm>
            <a:off x="3717023" y="3503390"/>
            <a:ext cx="646331" cy="230832"/>
          </a:xfrm>
          <a:prstGeom prst="rect">
            <a:avLst/>
          </a:prstGeom>
          <a:noFill/>
          <a:ln>
            <a:noFill/>
          </a:ln>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900" b="1" dirty="0">
                <a:latin typeface="微软雅黑" panose="020B0503020204020204" pitchFamily="34" charset="-122"/>
                <a:ea typeface="微软雅黑" panose="020B0503020204020204" pitchFamily="34" charset="-122"/>
              </a:rPr>
              <a:t>拥塞避免</a:t>
            </a:r>
          </a:p>
        </p:txBody>
      </p:sp>
      <p:sp>
        <p:nvSpPr>
          <p:cNvPr id="48" name="TextBox 42">
            <a:extLst>
              <a:ext uri="{FF2B5EF4-FFF2-40B4-BE49-F238E27FC236}">
                <a16:creationId xmlns:a16="http://schemas.microsoft.com/office/drawing/2014/main" id="{793843D9-8341-8484-FABD-7D59039D0683}"/>
              </a:ext>
            </a:extLst>
          </p:cNvPr>
          <p:cNvSpPr txBox="1">
            <a:spLocks noChangeArrowheads="1"/>
          </p:cNvSpPr>
          <p:nvPr/>
        </p:nvSpPr>
        <p:spPr bwMode="auto">
          <a:xfrm>
            <a:off x="2702243" y="3670143"/>
            <a:ext cx="41549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900" b="1">
                <a:latin typeface="微软雅黑" panose="020B0503020204020204" pitchFamily="34" charset="-122"/>
                <a:ea typeface="微软雅黑" panose="020B0503020204020204" pitchFamily="34" charset="-122"/>
              </a:rPr>
              <a:t>超时</a:t>
            </a:r>
          </a:p>
        </p:txBody>
      </p:sp>
      <p:sp>
        <p:nvSpPr>
          <p:cNvPr id="49" name="Text Box 16">
            <a:extLst>
              <a:ext uri="{FF2B5EF4-FFF2-40B4-BE49-F238E27FC236}">
                <a16:creationId xmlns:a16="http://schemas.microsoft.com/office/drawing/2014/main" id="{6CDA5073-5EC4-0FF1-4298-3FE265A39A1E}"/>
              </a:ext>
            </a:extLst>
          </p:cNvPr>
          <p:cNvSpPr txBox="1">
            <a:spLocks noChangeArrowheads="1"/>
          </p:cNvSpPr>
          <p:nvPr/>
        </p:nvSpPr>
        <p:spPr bwMode="auto">
          <a:xfrm>
            <a:off x="3262313" y="3720149"/>
            <a:ext cx="14779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900" b="1" dirty="0">
                <a:latin typeface="微软雅黑" panose="020B0503020204020204" pitchFamily="34" charset="-122"/>
                <a:ea typeface="微软雅黑" panose="020B0503020204020204" pitchFamily="34" charset="-122"/>
              </a:rPr>
              <a:t>每经过 </a:t>
            </a:r>
            <a:r>
              <a:rPr lang="en-US" altLang="zh-CN" sz="900" b="1"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900" b="1" dirty="0">
                <a:latin typeface="微软雅黑" panose="020B0503020204020204" pitchFamily="34" charset="-122"/>
                <a:ea typeface="微软雅黑" panose="020B0503020204020204" pitchFamily="34" charset="-122"/>
              </a:rPr>
              <a:t>个 </a:t>
            </a:r>
            <a:r>
              <a:rPr lang="en-US" altLang="zh-CN" sz="900" b="1" dirty="0">
                <a:latin typeface="微软雅黑" panose="020B0503020204020204" pitchFamily="34" charset="-122"/>
                <a:ea typeface="微软雅黑" panose="020B0503020204020204" pitchFamily="34" charset="-122"/>
                <a:cs typeface="Times New Roman" panose="02020603050405020304" pitchFamily="18" charset="0"/>
              </a:rPr>
              <a:t>RTT</a:t>
            </a:r>
          </a:p>
          <a:p>
            <a:pPr algn="ctr" eaLnBrk="1" hangingPunct="1">
              <a:spcBef>
                <a:spcPct val="0"/>
              </a:spcBef>
              <a:buFontTx/>
              <a:buNone/>
            </a:pPr>
            <a:r>
              <a:rPr lang="en-US" altLang="zh-CN" sz="900" b="1" u="sng" dirty="0" err="1">
                <a:latin typeface="微软雅黑" panose="020B0503020204020204" pitchFamily="34" charset="-122"/>
                <a:ea typeface="微软雅黑" panose="020B0503020204020204" pitchFamily="34" charset="-122"/>
                <a:cs typeface="Times New Roman" panose="02020603050405020304" pitchFamily="18" charset="0"/>
                <a:sym typeface="Symbol" panose="05050102010706020507" pitchFamily="18" charset="2"/>
              </a:rPr>
              <a:t>cwnd</a:t>
            </a:r>
            <a:r>
              <a:rPr lang="en-US" altLang="zh-CN" sz="900" b="1" u="sng" dirty="0">
                <a:latin typeface="微软雅黑" panose="020B0503020204020204" pitchFamily="34" charset="-122"/>
                <a:ea typeface="微软雅黑" panose="020B0503020204020204" pitchFamily="34" charset="-122"/>
                <a:cs typeface="Times New Roman" panose="02020603050405020304" pitchFamily="18" charset="0"/>
                <a:sym typeface="Symbol" panose="05050102010706020507" pitchFamily="18" charset="2"/>
              </a:rPr>
              <a:t> </a:t>
            </a:r>
            <a:r>
              <a:rPr lang="zh-CN" altLang="en-US" sz="900" b="1" u="sng" dirty="0">
                <a:latin typeface="微软雅黑" panose="020B0503020204020204" pitchFamily="34" charset="-122"/>
                <a:ea typeface="微软雅黑" panose="020B0503020204020204" pitchFamily="34" charset="-122"/>
                <a:cs typeface="Times New Roman" panose="02020603050405020304" pitchFamily="18" charset="0"/>
                <a:sym typeface="Symbol" panose="05050102010706020507" pitchFamily="18" charset="2"/>
              </a:rPr>
              <a:t>至多增加 </a:t>
            </a:r>
            <a:r>
              <a:rPr lang="en-US" altLang="zh-CN" sz="900" b="1" u="sng" dirty="0">
                <a:latin typeface="微软雅黑" panose="020B0503020204020204" pitchFamily="34" charset="-122"/>
                <a:ea typeface="微软雅黑" panose="020B0503020204020204" pitchFamily="34" charset="-122"/>
                <a:cs typeface="Times New Roman" panose="02020603050405020304" pitchFamily="18" charset="0"/>
                <a:sym typeface="Symbol" panose="05050102010706020507" pitchFamily="18" charset="2"/>
              </a:rPr>
              <a:t>1 MSS</a:t>
            </a:r>
          </a:p>
        </p:txBody>
      </p:sp>
      <p:sp>
        <p:nvSpPr>
          <p:cNvPr id="50" name="TextBox 65">
            <a:extLst>
              <a:ext uri="{FF2B5EF4-FFF2-40B4-BE49-F238E27FC236}">
                <a16:creationId xmlns:a16="http://schemas.microsoft.com/office/drawing/2014/main" id="{28B0851F-4946-1955-D30B-7C4D01BA07D6}"/>
              </a:ext>
            </a:extLst>
          </p:cNvPr>
          <p:cNvSpPr txBox="1">
            <a:spLocks noChangeArrowheads="1"/>
          </p:cNvSpPr>
          <p:nvPr/>
        </p:nvSpPr>
        <p:spPr bwMode="auto">
          <a:xfrm>
            <a:off x="1606551" y="1397636"/>
            <a:ext cx="1310163" cy="21120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36000" rIns="0" bIns="36000" anchor="ctr" anchorCtr="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900" b="1" dirty="0" err="1">
                <a:latin typeface="微软雅黑" panose="020B0503020204020204" pitchFamily="34" charset="-122"/>
                <a:ea typeface="微软雅黑" panose="020B0503020204020204" pitchFamily="34" charset="-122"/>
                <a:cs typeface="Times New Roman" panose="02020603050405020304" pitchFamily="18" charset="0"/>
              </a:rPr>
              <a:t>ssthresh</a:t>
            </a:r>
            <a:r>
              <a:rPr lang="en-US" altLang="zh-CN" sz="900" b="1" dirty="0">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900" b="1" dirty="0" err="1">
                <a:latin typeface="微软雅黑" panose="020B0503020204020204" pitchFamily="34" charset="-122"/>
                <a:ea typeface="微软雅黑" panose="020B0503020204020204" pitchFamily="34" charset="-122"/>
                <a:cs typeface="Times New Roman" panose="02020603050405020304" pitchFamily="18" charset="0"/>
              </a:rPr>
              <a:t>cwnd</a:t>
            </a:r>
            <a:r>
              <a:rPr lang="en-US" altLang="zh-CN" sz="900" b="1" dirty="0">
                <a:latin typeface="微软雅黑" panose="020B0503020204020204" pitchFamily="34" charset="-122"/>
                <a:ea typeface="微软雅黑" panose="020B0503020204020204" pitchFamily="34" charset="-122"/>
                <a:cs typeface="Times New Roman" panose="02020603050405020304" pitchFamily="18" charset="0"/>
              </a:rPr>
              <a:t> / 2</a:t>
            </a:r>
            <a:endParaRPr lang="zh-CN" altLang="en-US" sz="9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1" name="TextBox 36">
            <a:extLst>
              <a:ext uri="{FF2B5EF4-FFF2-40B4-BE49-F238E27FC236}">
                <a16:creationId xmlns:a16="http://schemas.microsoft.com/office/drawing/2014/main" id="{5834C634-0ABB-BD01-73C3-05F63153D7C1}"/>
              </a:ext>
            </a:extLst>
          </p:cNvPr>
          <p:cNvSpPr txBox="1">
            <a:spLocks noChangeArrowheads="1"/>
          </p:cNvSpPr>
          <p:nvPr/>
        </p:nvSpPr>
        <p:spPr bwMode="auto">
          <a:xfrm>
            <a:off x="5721513" y="2595252"/>
            <a:ext cx="1612424"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en-US" altLang="zh-CN" sz="300" b="1" dirty="0">
              <a:latin typeface="微软雅黑" panose="020B0503020204020204" pitchFamily="34" charset="-122"/>
              <a:ea typeface="微软雅黑" panose="020B0503020204020204" pitchFamily="34" charset="-122"/>
              <a:cs typeface="Times New Roman" panose="02020603050405020304" pitchFamily="18" charset="0"/>
            </a:endParaRPr>
          </a:p>
          <a:p>
            <a:pPr algn="ctr" eaLnBrk="1" hangingPunct="1">
              <a:spcBef>
                <a:spcPct val="0"/>
              </a:spcBef>
              <a:buFontTx/>
              <a:buNone/>
            </a:pPr>
            <a:r>
              <a:rPr lang="en-US" altLang="zh-CN" sz="900" b="1" dirty="0" err="1">
                <a:latin typeface="微软雅黑" panose="020B0503020204020204" pitchFamily="34" charset="-122"/>
                <a:ea typeface="微软雅黑" panose="020B0503020204020204" pitchFamily="34" charset="-122"/>
                <a:cs typeface="Times New Roman" panose="02020603050405020304" pitchFamily="18" charset="0"/>
              </a:rPr>
              <a:t>ssthresh</a:t>
            </a:r>
            <a:r>
              <a:rPr lang="en-US" altLang="zh-CN" sz="900" b="1" dirty="0">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900" b="1" dirty="0" err="1">
                <a:latin typeface="微软雅黑" panose="020B0503020204020204" pitchFamily="34" charset="-122"/>
                <a:ea typeface="微软雅黑" panose="020B0503020204020204" pitchFamily="34" charset="-122"/>
                <a:cs typeface="Times New Roman" panose="02020603050405020304" pitchFamily="18" charset="0"/>
              </a:rPr>
              <a:t>cwnd</a:t>
            </a:r>
            <a:r>
              <a:rPr lang="en-US" altLang="zh-CN" sz="900" b="1" dirty="0">
                <a:latin typeface="微软雅黑" panose="020B0503020204020204" pitchFamily="34" charset="-122"/>
                <a:ea typeface="微软雅黑" panose="020B0503020204020204" pitchFamily="34" charset="-122"/>
                <a:cs typeface="Times New Roman" panose="02020603050405020304" pitchFamily="18" charset="0"/>
              </a:rPr>
              <a:t> / 2</a:t>
            </a:r>
          </a:p>
          <a:p>
            <a:pPr algn="ctr" eaLnBrk="1" hangingPunct="1">
              <a:spcBef>
                <a:spcPct val="0"/>
              </a:spcBef>
              <a:spcAft>
                <a:spcPts val="600"/>
              </a:spcAft>
              <a:buFontTx/>
              <a:buNone/>
            </a:pPr>
            <a:r>
              <a:rPr lang="en-US" altLang="zh-CN" sz="900" b="1" dirty="0" err="1">
                <a:latin typeface="微软雅黑" panose="020B0503020204020204" pitchFamily="34" charset="-122"/>
                <a:ea typeface="微软雅黑" panose="020B0503020204020204" pitchFamily="34" charset="-122"/>
                <a:cs typeface="Times New Roman" panose="02020603050405020304" pitchFamily="18" charset="0"/>
              </a:rPr>
              <a:t>cwnd</a:t>
            </a:r>
            <a:r>
              <a:rPr lang="en-US" altLang="zh-CN" sz="900" b="1" dirty="0">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900" b="1" dirty="0" err="1">
                <a:latin typeface="微软雅黑" panose="020B0503020204020204" pitchFamily="34" charset="-122"/>
                <a:ea typeface="微软雅黑" panose="020B0503020204020204" pitchFamily="34" charset="-122"/>
                <a:cs typeface="Times New Roman" panose="02020603050405020304" pitchFamily="18" charset="0"/>
              </a:rPr>
              <a:t>ssthresh</a:t>
            </a:r>
            <a:r>
              <a:rPr lang="en-US" altLang="zh-CN" sz="900" b="1" dirty="0">
                <a:latin typeface="微软雅黑" panose="020B0503020204020204" pitchFamily="34" charset="-122"/>
                <a:ea typeface="微软雅黑" panose="020B0503020204020204" pitchFamily="34" charset="-122"/>
                <a:cs typeface="Times New Roman" panose="02020603050405020304" pitchFamily="18" charset="0"/>
              </a:rPr>
              <a:t> + 3</a:t>
            </a:r>
          </a:p>
          <a:p>
            <a:pPr algn="ctr" eaLnBrk="1" hangingPunct="1">
              <a:spcBef>
                <a:spcPct val="0"/>
              </a:spcBef>
              <a:buFontTx/>
              <a:buNone/>
            </a:pPr>
            <a:r>
              <a:rPr lang="zh-CN" altLang="en-US" sz="900" b="1" dirty="0">
                <a:latin typeface="微软雅黑" panose="020B0503020204020204" pitchFamily="34" charset="-122"/>
                <a:ea typeface="微软雅黑" panose="020B0503020204020204" pitchFamily="34" charset="-122"/>
                <a:cs typeface="Times New Roman" panose="02020603050405020304" pitchFamily="18" charset="0"/>
              </a:rPr>
              <a:t>收到重复的 </a:t>
            </a:r>
            <a:r>
              <a:rPr lang="en-US" altLang="zh-CN" sz="900" b="1" dirty="0">
                <a:latin typeface="微软雅黑" panose="020B0503020204020204" pitchFamily="34" charset="-122"/>
                <a:ea typeface="微软雅黑" panose="020B0503020204020204" pitchFamily="34" charset="-122"/>
                <a:cs typeface="Times New Roman" panose="02020603050405020304" pitchFamily="18" charset="0"/>
              </a:rPr>
              <a:t>ACK</a:t>
            </a:r>
          </a:p>
          <a:p>
            <a:pPr algn="ctr" eaLnBrk="1" hangingPunct="1">
              <a:spcBef>
                <a:spcPct val="0"/>
              </a:spcBef>
              <a:buFontTx/>
              <a:buNone/>
            </a:pPr>
            <a:r>
              <a:rPr lang="en-US" altLang="zh-CN" sz="900" b="1" dirty="0" err="1">
                <a:latin typeface="微软雅黑" panose="020B0503020204020204" pitchFamily="34" charset="-122"/>
                <a:ea typeface="微软雅黑" panose="020B0503020204020204" pitchFamily="34" charset="-122"/>
                <a:sym typeface="Symbol" panose="05050102010706020507" pitchFamily="18" charset="2"/>
              </a:rPr>
              <a:t>cwnd</a:t>
            </a:r>
            <a:r>
              <a:rPr lang="en-US" altLang="zh-CN" sz="900" b="1"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900" b="1" dirty="0">
                <a:latin typeface="微软雅黑" panose="020B0503020204020204" pitchFamily="34" charset="-122"/>
                <a:ea typeface="微软雅黑" panose="020B0503020204020204" pitchFamily="34" charset="-122"/>
                <a:sym typeface="Symbol" panose="05050102010706020507" pitchFamily="18" charset="2"/>
              </a:rPr>
              <a:t>增加 </a:t>
            </a:r>
            <a:r>
              <a:rPr lang="en-US" altLang="zh-CN" sz="900" b="1" dirty="0">
                <a:latin typeface="微软雅黑" panose="020B0503020204020204" pitchFamily="34" charset="-122"/>
                <a:ea typeface="微软雅黑" panose="020B0503020204020204" pitchFamily="34" charset="-122"/>
                <a:sym typeface="Symbol" panose="05050102010706020507" pitchFamily="18" charset="2"/>
              </a:rPr>
              <a:t>1 MSS</a:t>
            </a:r>
            <a:endParaRPr lang="zh-CN" altLang="en-US" sz="9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2" name="TextBox 25">
            <a:extLst>
              <a:ext uri="{FF2B5EF4-FFF2-40B4-BE49-F238E27FC236}">
                <a16:creationId xmlns:a16="http://schemas.microsoft.com/office/drawing/2014/main" id="{D139EE60-61E0-81EC-3196-34773440F4C3}"/>
              </a:ext>
            </a:extLst>
          </p:cNvPr>
          <p:cNvSpPr txBox="1">
            <a:spLocks noChangeArrowheads="1"/>
          </p:cNvSpPr>
          <p:nvPr/>
        </p:nvSpPr>
        <p:spPr bwMode="auto">
          <a:xfrm>
            <a:off x="5015688" y="3561240"/>
            <a:ext cx="8082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900" b="1">
                <a:latin typeface="微软雅黑" panose="020B0503020204020204" pitchFamily="34" charset="-122"/>
                <a:ea typeface="微软雅黑" panose="020B0503020204020204" pitchFamily="34" charset="-122"/>
                <a:cs typeface="Times New Roman" panose="02020603050405020304" pitchFamily="18" charset="0"/>
              </a:rPr>
              <a:t>收到 </a:t>
            </a:r>
            <a:r>
              <a:rPr lang="en-US" altLang="zh-CN" sz="900" b="1">
                <a:latin typeface="微软雅黑" panose="020B0503020204020204" pitchFamily="34" charset="-122"/>
                <a:ea typeface="微软雅黑" panose="020B0503020204020204" pitchFamily="34" charset="-122"/>
                <a:cs typeface="Times New Roman" panose="02020603050405020304" pitchFamily="18" charset="0"/>
              </a:rPr>
              <a:t>3 </a:t>
            </a:r>
            <a:r>
              <a:rPr lang="zh-CN" altLang="en-US" sz="900" b="1">
                <a:latin typeface="微软雅黑" panose="020B0503020204020204" pitchFamily="34" charset="-122"/>
                <a:ea typeface="微软雅黑" panose="020B0503020204020204" pitchFamily="34" charset="-122"/>
                <a:cs typeface="Times New Roman" panose="02020603050405020304" pitchFamily="18" charset="0"/>
              </a:rPr>
              <a:t>个</a:t>
            </a:r>
            <a:endParaRPr lang="en-US" altLang="zh-CN" sz="900" b="1">
              <a:latin typeface="微软雅黑" panose="020B0503020204020204" pitchFamily="34" charset="-122"/>
              <a:ea typeface="微软雅黑" panose="020B0503020204020204" pitchFamily="34" charset="-122"/>
              <a:cs typeface="Times New Roman" panose="02020603050405020304" pitchFamily="18" charset="0"/>
            </a:endParaRPr>
          </a:p>
          <a:p>
            <a:pPr algn="ctr" eaLnBrk="1" hangingPunct="1">
              <a:spcBef>
                <a:spcPct val="0"/>
              </a:spcBef>
              <a:buFontTx/>
              <a:buNone/>
            </a:pPr>
            <a:r>
              <a:rPr lang="zh-CN" altLang="en-US" sz="900" b="1">
                <a:latin typeface="微软雅黑" panose="020B0503020204020204" pitchFamily="34" charset="-122"/>
                <a:ea typeface="微软雅黑" panose="020B0503020204020204" pitchFamily="34" charset="-122"/>
                <a:cs typeface="Times New Roman" panose="02020603050405020304" pitchFamily="18" charset="0"/>
              </a:rPr>
              <a:t>重复的 </a:t>
            </a:r>
            <a:r>
              <a:rPr lang="en-US" altLang="zh-CN" sz="900" b="1">
                <a:latin typeface="微软雅黑" panose="020B0503020204020204" pitchFamily="34" charset="-122"/>
                <a:ea typeface="微软雅黑" panose="020B0503020204020204" pitchFamily="34" charset="-122"/>
                <a:cs typeface="Times New Roman" panose="02020603050405020304" pitchFamily="18" charset="0"/>
              </a:rPr>
              <a:t>ACK</a:t>
            </a:r>
            <a:endParaRPr lang="zh-CN" altLang="en-US" sz="900" b="1">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3" name="Text Box 15">
            <a:extLst>
              <a:ext uri="{FF2B5EF4-FFF2-40B4-BE49-F238E27FC236}">
                <a16:creationId xmlns:a16="http://schemas.microsoft.com/office/drawing/2014/main" id="{542E6157-6C98-A18C-BD80-7F7AB21D8BB6}"/>
              </a:ext>
            </a:extLst>
          </p:cNvPr>
          <p:cNvSpPr txBox="1">
            <a:spLocks noChangeArrowheads="1"/>
          </p:cNvSpPr>
          <p:nvPr/>
        </p:nvSpPr>
        <p:spPr bwMode="auto">
          <a:xfrm>
            <a:off x="6238930" y="2440852"/>
            <a:ext cx="53091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900" b="1" dirty="0">
                <a:latin typeface="微软雅黑" panose="020B0503020204020204" pitchFamily="34" charset="-122"/>
                <a:ea typeface="微软雅黑" panose="020B0503020204020204" pitchFamily="34" charset="-122"/>
              </a:rPr>
              <a:t>快恢复</a:t>
            </a:r>
          </a:p>
        </p:txBody>
      </p:sp>
      <p:sp>
        <p:nvSpPr>
          <p:cNvPr id="54" name="任意多边形: 形状 53">
            <a:extLst>
              <a:ext uri="{FF2B5EF4-FFF2-40B4-BE49-F238E27FC236}">
                <a16:creationId xmlns:a16="http://schemas.microsoft.com/office/drawing/2014/main" id="{18567867-1DD4-02AD-BC17-43CFEEB7EE74}"/>
              </a:ext>
            </a:extLst>
          </p:cNvPr>
          <p:cNvSpPr/>
          <p:nvPr/>
        </p:nvSpPr>
        <p:spPr>
          <a:xfrm>
            <a:off x="2601119" y="1622109"/>
            <a:ext cx="616744" cy="666750"/>
          </a:xfrm>
          <a:custGeom>
            <a:avLst/>
            <a:gdLst>
              <a:gd name="connsiteX0" fmla="*/ 1000125 w 1000125"/>
              <a:gd name="connsiteY0" fmla="*/ 962025 h 962025"/>
              <a:gd name="connsiteX1" fmla="*/ 0 w 1000125"/>
              <a:gd name="connsiteY1" fmla="*/ 952500 h 962025"/>
              <a:gd name="connsiteX2" fmla="*/ 19050 w 1000125"/>
              <a:gd name="connsiteY2" fmla="*/ 0 h 962025"/>
              <a:gd name="connsiteX0" fmla="*/ 1000125 w 1000125"/>
              <a:gd name="connsiteY0" fmla="*/ 962025 h 962025"/>
              <a:gd name="connsiteX1" fmla="*/ 0 w 1000125"/>
              <a:gd name="connsiteY1" fmla="*/ 952500 h 962025"/>
              <a:gd name="connsiteX2" fmla="*/ 9525 w 1000125"/>
              <a:gd name="connsiteY2" fmla="*/ 0 h 962025"/>
            </a:gdLst>
            <a:ahLst/>
            <a:cxnLst>
              <a:cxn ang="0">
                <a:pos x="connsiteX0" y="connsiteY0"/>
              </a:cxn>
              <a:cxn ang="0">
                <a:pos x="connsiteX1" y="connsiteY1"/>
              </a:cxn>
              <a:cxn ang="0">
                <a:pos x="connsiteX2" y="connsiteY2"/>
              </a:cxn>
            </a:cxnLst>
            <a:rect l="l" t="t" r="r" b="b"/>
            <a:pathLst>
              <a:path w="1000125" h="962025">
                <a:moveTo>
                  <a:pt x="1000125" y="962025"/>
                </a:moveTo>
                <a:lnTo>
                  <a:pt x="0" y="952500"/>
                </a:lnTo>
                <a:cubicBezTo>
                  <a:pt x="6350" y="635000"/>
                  <a:pt x="3175" y="317500"/>
                  <a:pt x="9525" y="0"/>
                </a:cubicBezTo>
              </a:path>
            </a:pathLst>
          </a:custGeom>
          <a:noFill/>
          <a:ln w="28575">
            <a:solidFill>
              <a:srgbClr val="9900CC"/>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endParaRPr lang="zh-CN" altLang="en-US" sz="1000" b="1">
              <a:latin typeface="微软雅黑" panose="020B0503020204020204" pitchFamily="34" charset="-122"/>
              <a:ea typeface="微软雅黑" panose="020B0503020204020204" pitchFamily="34" charset="-122"/>
            </a:endParaRPr>
          </a:p>
        </p:txBody>
      </p:sp>
      <p:sp>
        <p:nvSpPr>
          <p:cNvPr id="55" name="任意多边形: 形状 54">
            <a:extLst>
              <a:ext uri="{FF2B5EF4-FFF2-40B4-BE49-F238E27FC236}">
                <a16:creationId xmlns:a16="http://schemas.microsoft.com/office/drawing/2014/main" id="{C7BF0717-EF5A-B16E-91CA-162C54FE0BDA}"/>
              </a:ext>
            </a:extLst>
          </p:cNvPr>
          <p:cNvSpPr/>
          <p:nvPr/>
        </p:nvSpPr>
        <p:spPr>
          <a:xfrm flipH="1">
            <a:off x="4811396" y="3417889"/>
            <a:ext cx="1477963" cy="558959"/>
          </a:xfrm>
          <a:custGeom>
            <a:avLst/>
            <a:gdLst>
              <a:gd name="connsiteX0" fmla="*/ 1000125 w 1000125"/>
              <a:gd name="connsiteY0" fmla="*/ 962025 h 962025"/>
              <a:gd name="connsiteX1" fmla="*/ 0 w 1000125"/>
              <a:gd name="connsiteY1" fmla="*/ 952500 h 962025"/>
              <a:gd name="connsiteX2" fmla="*/ 19050 w 1000125"/>
              <a:gd name="connsiteY2" fmla="*/ 0 h 962025"/>
              <a:gd name="connsiteX0" fmla="*/ 1000125 w 1000125"/>
              <a:gd name="connsiteY0" fmla="*/ 962025 h 962025"/>
              <a:gd name="connsiteX1" fmla="*/ 0 w 1000125"/>
              <a:gd name="connsiteY1" fmla="*/ 952500 h 962025"/>
              <a:gd name="connsiteX2" fmla="*/ 9525 w 1000125"/>
              <a:gd name="connsiteY2" fmla="*/ 0 h 962025"/>
              <a:gd name="connsiteX0" fmla="*/ 994097 w 994097"/>
              <a:gd name="connsiteY0" fmla="*/ 962025 h 962025"/>
              <a:gd name="connsiteX1" fmla="*/ 0 w 994097"/>
              <a:gd name="connsiteY1" fmla="*/ 952500 h 962025"/>
              <a:gd name="connsiteX2" fmla="*/ 3497 w 994097"/>
              <a:gd name="connsiteY2" fmla="*/ 0 h 962025"/>
            </a:gdLst>
            <a:ahLst/>
            <a:cxnLst>
              <a:cxn ang="0">
                <a:pos x="connsiteX0" y="connsiteY0"/>
              </a:cxn>
              <a:cxn ang="0">
                <a:pos x="connsiteX1" y="connsiteY1"/>
              </a:cxn>
              <a:cxn ang="0">
                <a:pos x="connsiteX2" y="connsiteY2"/>
              </a:cxn>
            </a:cxnLst>
            <a:rect l="l" t="t" r="r" b="b"/>
            <a:pathLst>
              <a:path w="994097" h="962025">
                <a:moveTo>
                  <a:pt x="994097" y="962025"/>
                </a:moveTo>
                <a:lnTo>
                  <a:pt x="0" y="952500"/>
                </a:lnTo>
                <a:cubicBezTo>
                  <a:pt x="6350" y="635000"/>
                  <a:pt x="-2853" y="317500"/>
                  <a:pt x="3497" y="0"/>
                </a:cubicBezTo>
              </a:path>
            </a:pathLst>
          </a:custGeom>
          <a:noFill/>
          <a:ln>
            <a:solidFill>
              <a:schemeClr val="tx1"/>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000" b="1">
              <a:latin typeface="微软雅黑" panose="020B0503020204020204" pitchFamily="34" charset="-122"/>
              <a:ea typeface="微软雅黑" panose="020B0503020204020204" pitchFamily="34" charset="-122"/>
            </a:endParaRPr>
          </a:p>
        </p:txBody>
      </p:sp>
      <p:sp>
        <p:nvSpPr>
          <p:cNvPr id="56" name="TextBox 42">
            <a:extLst>
              <a:ext uri="{FF2B5EF4-FFF2-40B4-BE49-F238E27FC236}">
                <a16:creationId xmlns:a16="http://schemas.microsoft.com/office/drawing/2014/main" id="{208F869B-D317-1C6A-3B14-613F87D6F654}"/>
              </a:ext>
            </a:extLst>
          </p:cNvPr>
          <p:cNvSpPr txBox="1">
            <a:spLocks noChangeArrowheads="1"/>
          </p:cNvSpPr>
          <p:nvPr/>
        </p:nvSpPr>
        <p:spPr bwMode="auto">
          <a:xfrm>
            <a:off x="6733858" y="3455671"/>
            <a:ext cx="41549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900" b="1">
                <a:latin typeface="微软雅黑" panose="020B0503020204020204" pitchFamily="34" charset="-122"/>
                <a:ea typeface="微软雅黑" panose="020B0503020204020204" pitchFamily="34" charset="-122"/>
              </a:rPr>
              <a:t>超时</a:t>
            </a:r>
          </a:p>
        </p:txBody>
      </p:sp>
      <p:sp>
        <p:nvSpPr>
          <p:cNvPr id="57" name="任意多边形: 形状 56">
            <a:extLst>
              <a:ext uri="{FF2B5EF4-FFF2-40B4-BE49-F238E27FC236}">
                <a16:creationId xmlns:a16="http://schemas.microsoft.com/office/drawing/2014/main" id="{B146DA4E-39EC-4CD5-FBC8-CB43F0350D77}"/>
              </a:ext>
            </a:extLst>
          </p:cNvPr>
          <p:cNvSpPr/>
          <p:nvPr/>
        </p:nvSpPr>
        <p:spPr>
          <a:xfrm>
            <a:off x="2928382" y="1510361"/>
            <a:ext cx="594519" cy="301149"/>
          </a:xfrm>
          <a:custGeom>
            <a:avLst/>
            <a:gdLst>
              <a:gd name="connsiteX0" fmla="*/ 0 w 704850"/>
              <a:gd name="connsiteY0" fmla="*/ 0 h 466725"/>
              <a:gd name="connsiteX1" fmla="*/ 704850 w 704850"/>
              <a:gd name="connsiteY1" fmla="*/ 0 h 466725"/>
              <a:gd name="connsiteX2" fmla="*/ 704850 w 704850"/>
              <a:gd name="connsiteY2" fmla="*/ 466725 h 466725"/>
            </a:gdLst>
            <a:ahLst/>
            <a:cxnLst>
              <a:cxn ang="0">
                <a:pos x="connsiteX0" y="connsiteY0"/>
              </a:cxn>
              <a:cxn ang="0">
                <a:pos x="connsiteX1" y="connsiteY1"/>
              </a:cxn>
              <a:cxn ang="0">
                <a:pos x="connsiteX2" y="connsiteY2"/>
              </a:cxn>
            </a:cxnLst>
            <a:rect l="l" t="t" r="r" b="b"/>
            <a:pathLst>
              <a:path w="704850" h="466725">
                <a:moveTo>
                  <a:pt x="0" y="0"/>
                </a:moveTo>
                <a:lnTo>
                  <a:pt x="704850" y="0"/>
                </a:lnTo>
                <a:lnTo>
                  <a:pt x="704850" y="466725"/>
                </a:lnTo>
              </a:path>
            </a:pathLst>
          </a:custGeom>
          <a:noFill/>
          <a:ln>
            <a:solidFill>
              <a:schemeClr val="tx1"/>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000" b="1">
              <a:latin typeface="微软雅黑" panose="020B0503020204020204" pitchFamily="34" charset="-122"/>
              <a:ea typeface="微软雅黑" panose="020B0503020204020204" pitchFamily="34" charset="-122"/>
            </a:endParaRPr>
          </a:p>
        </p:txBody>
      </p:sp>
      <p:grpSp>
        <p:nvGrpSpPr>
          <p:cNvPr id="58" name="组合 8">
            <a:extLst>
              <a:ext uri="{FF2B5EF4-FFF2-40B4-BE49-F238E27FC236}">
                <a16:creationId xmlns:a16="http://schemas.microsoft.com/office/drawing/2014/main" id="{1917B9E6-3D0F-619B-52D7-59CA5E6CB371}"/>
              </a:ext>
            </a:extLst>
          </p:cNvPr>
          <p:cNvGrpSpPr>
            <a:grpSpLocks/>
          </p:cNvGrpSpPr>
          <p:nvPr/>
        </p:nvGrpSpPr>
        <p:grpSpPr bwMode="auto">
          <a:xfrm>
            <a:off x="3812382" y="3085625"/>
            <a:ext cx="1135247" cy="232251"/>
            <a:chOff x="4052888" y="2485231"/>
            <a:chExt cx="1621782" cy="331787"/>
          </a:xfrm>
        </p:grpSpPr>
        <p:sp>
          <p:nvSpPr>
            <p:cNvPr id="59" name="矩形 58">
              <a:extLst>
                <a:ext uri="{FF2B5EF4-FFF2-40B4-BE49-F238E27FC236}">
                  <a16:creationId xmlns:a16="http://schemas.microsoft.com/office/drawing/2014/main" id="{275CB060-BE5B-6192-F120-53203EAD55A7}"/>
                </a:ext>
              </a:extLst>
            </p:cNvPr>
            <p:cNvSpPr/>
            <p:nvPr/>
          </p:nvSpPr>
          <p:spPr>
            <a:xfrm>
              <a:off x="4073526" y="2534443"/>
              <a:ext cx="1489075" cy="282575"/>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000" b="1">
                <a:latin typeface="微软雅黑" panose="020B0503020204020204" pitchFamily="34" charset="-122"/>
                <a:ea typeface="微软雅黑" panose="020B0503020204020204" pitchFamily="34" charset="-122"/>
              </a:endParaRPr>
            </a:p>
          </p:txBody>
        </p:sp>
        <p:sp>
          <p:nvSpPr>
            <p:cNvPr id="60" name="TextBox 32">
              <a:extLst>
                <a:ext uri="{FF2B5EF4-FFF2-40B4-BE49-F238E27FC236}">
                  <a16:creationId xmlns:a16="http://schemas.microsoft.com/office/drawing/2014/main" id="{D8ED7013-7E96-3B59-F28C-BD022E0E2500}"/>
                </a:ext>
              </a:extLst>
            </p:cNvPr>
            <p:cNvSpPr txBox="1">
              <a:spLocks noChangeArrowheads="1"/>
            </p:cNvSpPr>
            <p:nvPr/>
          </p:nvSpPr>
          <p:spPr bwMode="auto">
            <a:xfrm>
              <a:off x="4052888" y="2485231"/>
              <a:ext cx="1621782" cy="329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900" b="1">
                  <a:latin typeface="微软雅黑" panose="020B0503020204020204" pitchFamily="34" charset="-122"/>
                  <a:ea typeface="微软雅黑" panose="020B0503020204020204" pitchFamily="34" charset="-122"/>
                </a:rPr>
                <a:t>cwnd =</a:t>
              </a:r>
              <a:r>
                <a:rPr lang="en-US" altLang="zh-CN" sz="900" b="1">
                  <a:latin typeface="微软雅黑" panose="020B0503020204020204" pitchFamily="34" charset="-122"/>
                  <a:ea typeface="微软雅黑" panose="020B0503020204020204" pitchFamily="34" charset="-122"/>
                  <a:sym typeface="Symbol" panose="05050102010706020507" pitchFamily="18" charset="2"/>
                </a:rPr>
                <a:t> ssthresh</a:t>
              </a:r>
              <a:endParaRPr lang="zh-CN" altLang="en-US" sz="900" b="1">
                <a:latin typeface="微软雅黑" panose="020B0503020204020204" pitchFamily="34" charset="-122"/>
                <a:ea typeface="微软雅黑" panose="020B0503020204020204" pitchFamily="34" charset="-122"/>
              </a:endParaRPr>
            </a:p>
          </p:txBody>
        </p:sp>
      </p:grpSp>
      <p:sp>
        <p:nvSpPr>
          <p:cNvPr id="61" name="TextBox 25">
            <a:extLst>
              <a:ext uri="{FF2B5EF4-FFF2-40B4-BE49-F238E27FC236}">
                <a16:creationId xmlns:a16="http://schemas.microsoft.com/office/drawing/2014/main" id="{9F520703-9AD0-8E6F-1BB0-F87EB0F354CF}"/>
              </a:ext>
            </a:extLst>
          </p:cNvPr>
          <p:cNvSpPr txBox="1">
            <a:spLocks noChangeArrowheads="1"/>
          </p:cNvSpPr>
          <p:nvPr/>
        </p:nvSpPr>
        <p:spPr bwMode="auto">
          <a:xfrm>
            <a:off x="4796292" y="2723358"/>
            <a:ext cx="92365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900" b="1">
                <a:latin typeface="微软雅黑" panose="020B0503020204020204" pitchFamily="34" charset="-122"/>
                <a:ea typeface="微软雅黑" panose="020B0503020204020204" pitchFamily="34" charset="-122"/>
                <a:cs typeface="Times New Roman" panose="02020603050405020304" pitchFamily="18" charset="0"/>
              </a:rPr>
              <a:t>收到新的 </a:t>
            </a:r>
            <a:r>
              <a:rPr lang="en-US" altLang="zh-CN" sz="900" b="1">
                <a:latin typeface="微软雅黑" panose="020B0503020204020204" pitchFamily="34" charset="-122"/>
                <a:ea typeface="微软雅黑" panose="020B0503020204020204" pitchFamily="34" charset="-122"/>
                <a:cs typeface="Times New Roman" panose="02020603050405020304" pitchFamily="18" charset="0"/>
              </a:rPr>
              <a:t>ACK</a:t>
            </a:r>
            <a:endParaRPr lang="zh-CN" altLang="en-US" sz="900" b="1">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2" name="TextBox 31">
            <a:extLst>
              <a:ext uri="{FF2B5EF4-FFF2-40B4-BE49-F238E27FC236}">
                <a16:creationId xmlns:a16="http://schemas.microsoft.com/office/drawing/2014/main" id="{68AC6E3F-7FA3-7E8D-A0A5-1835B5AAB866}"/>
              </a:ext>
            </a:extLst>
          </p:cNvPr>
          <p:cNvSpPr txBox="1">
            <a:spLocks noChangeArrowheads="1"/>
          </p:cNvSpPr>
          <p:nvPr/>
        </p:nvSpPr>
        <p:spPr bwMode="auto">
          <a:xfrm>
            <a:off x="6211413" y="2085024"/>
            <a:ext cx="53091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900" b="1" dirty="0">
                <a:latin typeface="微软雅黑" panose="020B0503020204020204" pitchFamily="34" charset="-122"/>
                <a:ea typeface="微软雅黑" panose="020B0503020204020204" pitchFamily="34" charset="-122"/>
                <a:cs typeface="Times New Roman" panose="02020603050405020304" pitchFamily="18" charset="0"/>
              </a:rPr>
              <a:t>快重传</a:t>
            </a:r>
            <a:endParaRPr lang="zh-CN" altLang="en-US" sz="900" b="1" dirty="0">
              <a:latin typeface="微软雅黑" panose="020B0503020204020204" pitchFamily="34" charset="-122"/>
              <a:ea typeface="微软雅黑" panose="020B0503020204020204" pitchFamily="34" charset="-122"/>
            </a:endParaRPr>
          </a:p>
        </p:txBody>
      </p:sp>
      <p:sp>
        <p:nvSpPr>
          <p:cNvPr id="63" name="矩形 62">
            <a:extLst>
              <a:ext uri="{FF2B5EF4-FFF2-40B4-BE49-F238E27FC236}">
                <a16:creationId xmlns:a16="http://schemas.microsoft.com/office/drawing/2014/main" id="{346A2B24-8449-9921-2B27-E0077B9EF49E}"/>
              </a:ext>
            </a:extLst>
          </p:cNvPr>
          <p:cNvSpPr/>
          <p:nvPr/>
        </p:nvSpPr>
        <p:spPr>
          <a:xfrm>
            <a:off x="6014879" y="3556795"/>
            <a:ext cx="575628" cy="243363"/>
          </a:xfrm>
          <a:prstGeom prst="rect">
            <a:avLst/>
          </a:prstGeom>
          <a:solidFill>
            <a:schemeClr val="bg1">
              <a:lumMod val="9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zh-CN" altLang="en-US" sz="1000" b="1">
              <a:latin typeface="微软雅黑" panose="020B0503020204020204" pitchFamily="34" charset="-122"/>
              <a:ea typeface="微软雅黑" panose="020B0503020204020204" pitchFamily="34" charset="-122"/>
            </a:endParaRPr>
          </a:p>
        </p:txBody>
      </p:sp>
      <p:sp>
        <p:nvSpPr>
          <p:cNvPr id="64" name="TextBox 31">
            <a:extLst>
              <a:ext uri="{FF2B5EF4-FFF2-40B4-BE49-F238E27FC236}">
                <a16:creationId xmlns:a16="http://schemas.microsoft.com/office/drawing/2014/main" id="{14081560-2668-F4D2-7138-B6E7E1095536}"/>
              </a:ext>
            </a:extLst>
          </p:cNvPr>
          <p:cNvSpPr txBox="1">
            <a:spLocks noChangeArrowheads="1"/>
          </p:cNvSpPr>
          <p:nvPr/>
        </p:nvSpPr>
        <p:spPr bwMode="auto">
          <a:xfrm>
            <a:off x="6029168" y="3566321"/>
            <a:ext cx="53091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900" b="1" dirty="0">
                <a:latin typeface="微软雅黑" panose="020B0503020204020204" pitchFamily="34" charset="-122"/>
                <a:ea typeface="微软雅黑" panose="020B0503020204020204" pitchFamily="34" charset="-122"/>
                <a:cs typeface="Times New Roman" panose="02020603050405020304" pitchFamily="18" charset="0"/>
              </a:rPr>
              <a:t>快重传</a:t>
            </a:r>
            <a:endParaRPr lang="zh-CN" altLang="en-US" sz="900" b="1" dirty="0">
              <a:latin typeface="微软雅黑" panose="020B0503020204020204" pitchFamily="34" charset="-122"/>
              <a:ea typeface="微软雅黑" panose="020B0503020204020204" pitchFamily="34" charset="-122"/>
            </a:endParaRPr>
          </a:p>
        </p:txBody>
      </p:sp>
      <p:sp>
        <p:nvSpPr>
          <p:cNvPr id="65" name="任意多边形: 形状 64">
            <a:extLst>
              <a:ext uri="{FF2B5EF4-FFF2-40B4-BE49-F238E27FC236}">
                <a16:creationId xmlns:a16="http://schemas.microsoft.com/office/drawing/2014/main" id="{440748F7-F03F-FD42-A8DE-0258D0EF653E}"/>
              </a:ext>
            </a:extLst>
          </p:cNvPr>
          <p:cNvSpPr/>
          <p:nvPr/>
        </p:nvSpPr>
        <p:spPr>
          <a:xfrm>
            <a:off x="2012157" y="1619886"/>
            <a:ext cx="4719479" cy="2778125"/>
          </a:xfrm>
          <a:custGeom>
            <a:avLst/>
            <a:gdLst>
              <a:gd name="connsiteX0" fmla="*/ 6741994 w 6741994"/>
              <a:gd name="connsiteY0" fmla="*/ 2579426 h 3964674"/>
              <a:gd name="connsiteX1" fmla="*/ 6741994 w 6741994"/>
              <a:gd name="connsiteY1" fmla="*/ 2579426 h 3964674"/>
              <a:gd name="connsiteX2" fmla="*/ 6741994 w 6741994"/>
              <a:gd name="connsiteY2" fmla="*/ 2825086 h 3964674"/>
              <a:gd name="connsiteX3" fmla="*/ 6735170 w 6741994"/>
              <a:gd name="connsiteY3" fmla="*/ 3930555 h 3964674"/>
              <a:gd name="connsiteX4" fmla="*/ 20472 w 6741994"/>
              <a:gd name="connsiteY4" fmla="*/ 3964674 h 3964674"/>
              <a:gd name="connsiteX5" fmla="*/ 0 w 6741994"/>
              <a:gd name="connsiteY5" fmla="*/ 27295 h 3964674"/>
              <a:gd name="connsiteX6" fmla="*/ 20472 w 6741994"/>
              <a:gd name="connsiteY6" fmla="*/ 0 h 3964674"/>
              <a:gd name="connsiteX7" fmla="*/ 6824 w 6741994"/>
              <a:gd name="connsiteY7" fmla="*/ 13647 h 3964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41994" h="3964674">
                <a:moveTo>
                  <a:pt x="6741994" y="2579426"/>
                </a:moveTo>
                <a:lnTo>
                  <a:pt x="6741994" y="2579426"/>
                </a:lnTo>
                <a:lnTo>
                  <a:pt x="6741994" y="2825086"/>
                </a:lnTo>
                <a:cubicBezTo>
                  <a:pt x="6739719" y="3193576"/>
                  <a:pt x="6737445" y="3562065"/>
                  <a:pt x="6735170" y="3930555"/>
                </a:cubicBezTo>
                <a:lnTo>
                  <a:pt x="20472" y="3964674"/>
                </a:lnTo>
                <a:lnTo>
                  <a:pt x="0" y="27295"/>
                </a:lnTo>
                <a:lnTo>
                  <a:pt x="20472" y="0"/>
                </a:lnTo>
                <a:lnTo>
                  <a:pt x="6824" y="13647"/>
                </a:lnTo>
              </a:path>
            </a:pathLst>
          </a:custGeom>
          <a:noFill/>
          <a:ln w="28575">
            <a:solidFill>
              <a:srgbClr val="9900CC"/>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zh-CN" altLang="en-US" sz="1000" b="1">
              <a:latin typeface="微软雅黑" panose="020B0503020204020204" pitchFamily="34" charset="-122"/>
              <a:ea typeface="微软雅黑" panose="020B0503020204020204" pitchFamily="34" charset="-122"/>
            </a:endParaRPr>
          </a:p>
        </p:txBody>
      </p:sp>
      <p:sp>
        <p:nvSpPr>
          <p:cNvPr id="66" name="任意多边形: 形状 65">
            <a:extLst>
              <a:ext uri="{FF2B5EF4-FFF2-40B4-BE49-F238E27FC236}">
                <a16:creationId xmlns:a16="http://schemas.microsoft.com/office/drawing/2014/main" id="{FCE8193A-A48B-06C7-9235-5958C0C53A2A}"/>
              </a:ext>
            </a:extLst>
          </p:cNvPr>
          <p:cNvSpPr/>
          <p:nvPr/>
        </p:nvSpPr>
        <p:spPr>
          <a:xfrm>
            <a:off x="2311084" y="1641000"/>
            <a:ext cx="914558" cy="2265838"/>
          </a:xfrm>
          <a:custGeom>
            <a:avLst/>
            <a:gdLst>
              <a:gd name="connsiteX0" fmla="*/ 1392072 w 1392072"/>
              <a:gd name="connsiteY0" fmla="*/ 3125337 h 3138985"/>
              <a:gd name="connsiteX1" fmla="*/ 20472 w 1392072"/>
              <a:gd name="connsiteY1" fmla="*/ 3138985 h 3138985"/>
              <a:gd name="connsiteX2" fmla="*/ 0 w 1392072"/>
              <a:gd name="connsiteY2" fmla="*/ 0 h 3138985"/>
            </a:gdLst>
            <a:ahLst/>
            <a:cxnLst>
              <a:cxn ang="0">
                <a:pos x="connsiteX0" y="connsiteY0"/>
              </a:cxn>
              <a:cxn ang="0">
                <a:pos x="connsiteX1" y="connsiteY1"/>
              </a:cxn>
              <a:cxn ang="0">
                <a:pos x="connsiteX2" y="connsiteY2"/>
              </a:cxn>
            </a:cxnLst>
            <a:rect l="l" t="t" r="r" b="b"/>
            <a:pathLst>
              <a:path w="1392072" h="3138985">
                <a:moveTo>
                  <a:pt x="1392072" y="3125337"/>
                </a:moveTo>
                <a:lnTo>
                  <a:pt x="20472" y="3138985"/>
                </a:lnTo>
                <a:lnTo>
                  <a:pt x="0" y="0"/>
                </a:lnTo>
              </a:path>
            </a:pathLst>
          </a:custGeom>
          <a:noFill/>
          <a:ln w="28575">
            <a:solidFill>
              <a:srgbClr val="9900CC"/>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endParaRPr lang="zh-CN" altLang="en-US" sz="1000" b="1">
              <a:latin typeface="微软雅黑" panose="020B0503020204020204" pitchFamily="34" charset="-122"/>
              <a:ea typeface="微软雅黑" panose="020B0503020204020204" pitchFamily="34" charset="-122"/>
            </a:endParaRPr>
          </a:p>
        </p:txBody>
      </p:sp>
      <p:sp>
        <p:nvSpPr>
          <p:cNvPr id="67" name="矩形 66">
            <a:extLst>
              <a:ext uri="{FF2B5EF4-FFF2-40B4-BE49-F238E27FC236}">
                <a16:creationId xmlns:a16="http://schemas.microsoft.com/office/drawing/2014/main" id="{771C0CE6-6B34-74F0-5A65-6BAE5D6F0EC6}"/>
              </a:ext>
            </a:extLst>
          </p:cNvPr>
          <p:cNvSpPr/>
          <p:nvPr/>
        </p:nvSpPr>
        <p:spPr>
          <a:xfrm>
            <a:off x="2369979" y="1844359"/>
            <a:ext cx="452279" cy="242252"/>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zh-CN" altLang="en-US" sz="1000" b="1" dirty="0">
                <a:solidFill>
                  <a:schemeClr val="tx1"/>
                </a:solidFill>
                <a:latin typeface="微软雅黑" panose="020B0503020204020204" pitchFamily="34" charset="-122"/>
                <a:ea typeface="微软雅黑" panose="020B0503020204020204" pitchFamily="34" charset="-122"/>
              </a:rPr>
              <a:t>重传</a:t>
            </a:r>
          </a:p>
        </p:txBody>
      </p:sp>
      <p:sp>
        <p:nvSpPr>
          <p:cNvPr id="68" name="矩形 67">
            <a:extLst>
              <a:ext uri="{FF2B5EF4-FFF2-40B4-BE49-F238E27FC236}">
                <a16:creationId xmlns:a16="http://schemas.microsoft.com/office/drawing/2014/main" id="{08000101-40B6-7252-70C6-F28D71094637}"/>
              </a:ext>
            </a:extLst>
          </p:cNvPr>
          <p:cNvSpPr/>
          <p:nvPr/>
        </p:nvSpPr>
        <p:spPr>
          <a:xfrm>
            <a:off x="2094389" y="3468210"/>
            <a:ext cx="456724" cy="242252"/>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zh-CN" altLang="en-US" sz="1000" b="1" dirty="0">
                <a:solidFill>
                  <a:schemeClr val="tx1"/>
                </a:solidFill>
                <a:latin typeface="微软雅黑" panose="020B0503020204020204" pitchFamily="34" charset="-122"/>
                <a:ea typeface="微软雅黑" panose="020B0503020204020204" pitchFamily="34" charset="-122"/>
              </a:rPr>
              <a:t>重传</a:t>
            </a:r>
          </a:p>
        </p:txBody>
      </p:sp>
      <p:sp>
        <p:nvSpPr>
          <p:cNvPr id="69" name="矩形 68">
            <a:extLst>
              <a:ext uri="{FF2B5EF4-FFF2-40B4-BE49-F238E27FC236}">
                <a16:creationId xmlns:a16="http://schemas.microsoft.com/office/drawing/2014/main" id="{83A4F64E-CDD7-AE54-2B62-DD268489B0A4}"/>
              </a:ext>
            </a:extLst>
          </p:cNvPr>
          <p:cNvSpPr/>
          <p:nvPr/>
        </p:nvSpPr>
        <p:spPr>
          <a:xfrm>
            <a:off x="6518276" y="3890170"/>
            <a:ext cx="457835" cy="242252"/>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zh-CN" altLang="en-US" sz="1000" b="1" dirty="0">
                <a:solidFill>
                  <a:schemeClr val="tx1"/>
                </a:solidFill>
                <a:latin typeface="微软雅黑" panose="020B0503020204020204" pitchFamily="34" charset="-122"/>
                <a:ea typeface="微软雅黑" panose="020B0503020204020204" pitchFamily="34" charset="-122"/>
              </a:rPr>
              <a:t>重传</a:t>
            </a:r>
          </a:p>
        </p:txBody>
      </p:sp>
      <p:cxnSp>
        <p:nvCxnSpPr>
          <p:cNvPr id="70" name="直接箭头连接符 69">
            <a:extLst>
              <a:ext uri="{FF2B5EF4-FFF2-40B4-BE49-F238E27FC236}">
                <a16:creationId xmlns:a16="http://schemas.microsoft.com/office/drawing/2014/main" id="{CFAF0AFE-D8FA-C147-2494-D5783A807F3C}"/>
              </a:ext>
            </a:extLst>
          </p:cNvPr>
          <p:cNvCxnSpPr>
            <a:cxnSpLocks/>
          </p:cNvCxnSpPr>
          <p:nvPr/>
        </p:nvCxnSpPr>
        <p:spPr>
          <a:xfrm>
            <a:off x="6732747" y="3843498"/>
            <a:ext cx="0" cy="64452"/>
          </a:xfrm>
          <a:prstGeom prst="straightConnector1">
            <a:avLst/>
          </a:prstGeom>
          <a:noFill/>
          <a:ln w="28575">
            <a:solidFill>
              <a:srgbClr val="9900CC"/>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cxnSp>
      <p:cxnSp>
        <p:nvCxnSpPr>
          <p:cNvPr id="71" name="直接箭头连接符 70">
            <a:extLst>
              <a:ext uri="{FF2B5EF4-FFF2-40B4-BE49-F238E27FC236}">
                <a16:creationId xmlns:a16="http://schemas.microsoft.com/office/drawing/2014/main" id="{EA2241C9-6ADE-349A-68A7-6179920CED05}"/>
              </a:ext>
            </a:extLst>
          </p:cNvPr>
          <p:cNvCxnSpPr>
            <a:cxnSpLocks/>
          </p:cNvCxnSpPr>
          <p:nvPr/>
        </p:nvCxnSpPr>
        <p:spPr>
          <a:xfrm flipV="1">
            <a:off x="2605564" y="2071053"/>
            <a:ext cx="0" cy="65564"/>
          </a:xfrm>
          <a:prstGeom prst="straightConnector1">
            <a:avLst/>
          </a:prstGeom>
          <a:noFill/>
          <a:ln w="28575">
            <a:solidFill>
              <a:srgbClr val="9900CC"/>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cxnSp>
      <p:cxnSp>
        <p:nvCxnSpPr>
          <p:cNvPr id="72" name="直接箭头连接符 71">
            <a:extLst>
              <a:ext uri="{FF2B5EF4-FFF2-40B4-BE49-F238E27FC236}">
                <a16:creationId xmlns:a16="http://schemas.microsoft.com/office/drawing/2014/main" id="{CEAFE559-45E7-981C-389B-0E0F66C94160}"/>
              </a:ext>
            </a:extLst>
          </p:cNvPr>
          <p:cNvCxnSpPr>
            <a:cxnSpLocks/>
          </p:cNvCxnSpPr>
          <p:nvPr/>
        </p:nvCxnSpPr>
        <p:spPr>
          <a:xfrm>
            <a:off x="6477159" y="2015491"/>
            <a:ext cx="0" cy="644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1C1A09F5-E134-5993-9CA1-3CAADB3B6137}"/>
              </a:ext>
            </a:extLst>
          </p:cNvPr>
          <p:cNvCxnSpPr>
            <a:cxnSpLocks/>
          </p:cNvCxnSpPr>
          <p:nvPr/>
        </p:nvCxnSpPr>
        <p:spPr>
          <a:xfrm flipV="1">
            <a:off x="2323307" y="3713481"/>
            <a:ext cx="0" cy="65564"/>
          </a:xfrm>
          <a:prstGeom prst="straightConnector1">
            <a:avLst/>
          </a:prstGeom>
          <a:noFill/>
          <a:ln w="28575">
            <a:solidFill>
              <a:srgbClr val="9900CC"/>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701886737"/>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25919"/>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2353708" y="583648"/>
            <a:ext cx="443659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5.9.3   </a:t>
            </a:r>
            <a:r>
              <a:rPr lang="zh-CN" altLang="en-US" sz="2400" b="1" dirty="0">
                <a:solidFill>
                  <a:schemeClr val="bg1"/>
                </a:solidFill>
                <a:latin typeface="微软雅黑" pitchFamily="34" charset="-122"/>
                <a:ea typeface="微软雅黑" pitchFamily="34" charset="-122"/>
              </a:rPr>
              <a:t>其他 </a:t>
            </a:r>
            <a:r>
              <a:rPr lang="en-US" altLang="zh-CN" sz="2400" b="1" dirty="0">
                <a:solidFill>
                  <a:schemeClr val="bg1"/>
                </a:solidFill>
                <a:latin typeface="微软雅黑" pitchFamily="34" charset="-122"/>
                <a:ea typeface="微软雅黑" pitchFamily="34" charset="-122"/>
              </a:rPr>
              <a:t>TCP </a:t>
            </a:r>
            <a:r>
              <a:rPr lang="zh-CN" altLang="en-US" sz="2400" b="1" dirty="0">
                <a:solidFill>
                  <a:schemeClr val="bg1"/>
                </a:solidFill>
                <a:latin typeface="微软雅黑" pitchFamily="34" charset="-122"/>
                <a:ea typeface="微软雅黑" pitchFamily="34" charset="-122"/>
              </a:rPr>
              <a:t>拥塞控制机制</a:t>
            </a:r>
          </a:p>
        </p:txBody>
      </p:sp>
      <p:sp>
        <p:nvSpPr>
          <p:cNvPr id="4" name="Rectangle 8"/>
          <p:cNvSpPr>
            <a:spLocks noChangeArrowheads="1"/>
          </p:cNvSpPr>
          <p:nvPr/>
        </p:nvSpPr>
        <p:spPr bwMode="auto">
          <a:xfrm>
            <a:off x="545143" y="1479793"/>
            <a:ext cx="8053711" cy="3134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en-US" altLang="zh-CN" sz="2000" b="1" dirty="0">
                <a:latin typeface="微软雅黑" pitchFamily="34" charset="-122"/>
                <a:ea typeface="微软雅黑" pitchFamily="34" charset="-122"/>
              </a:rPr>
              <a:t>TCP Reno</a:t>
            </a:r>
            <a:r>
              <a:rPr lang="zh-CN" altLang="en-US" sz="2000" b="1" dirty="0">
                <a:latin typeface="微软雅黑" pitchFamily="34" charset="-122"/>
                <a:ea typeface="微软雅黑" pitchFamily="34" charset="-122"/>
              </a:rPr>
              <a:t>拥塞控制算法在</a:t>
            </a:r>
            <a:r>
              <a:rPr lang="zh-CN" altLang="en-US" sz="2000" b="1" dirty="0">
                <a:solidFill>
                  <a:srgbClr val="0000FF"/>
                </a:solidFill>
                <a:latin typeface="微软雅黑" pitchFamily="34" charset="-122"/>
                <a:ea typeface="微软雅黑" pitchFamily="34" charset="-122"/>
              </a:rPr>
              <a:t>高带宽、高时延的网络环境中表现不佳</a:t>
            </a:r>
            <a:r>
              <a:rPr lang="zh-CN" altLang="en-US" sz="2000" b="1" dirty="0">
                <a:latin typeface="微软雅黑" pitchFamily="34" charset="-122"/>
                <a:ea typeface="微软雅黑" pitchFamily="34" charset="-122"/>
              </a:rPr>
              <a:t>。由于响应速度不能满足实际需求，网络吞吐量得不到充分利用。</a:t>
            </a:r>
            <a:endParaRPr lang="en-US" altLang="zh-CN" sz="2000"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en-US" altLang="zh-CN" sz="2000" b="1" dirty="0">
                <a:latin typeface="微软雅黑" pitchFamily="34" charset="-122"/>
                <a:ea typeface="微软雅黑" pitchFamily="34" charset="-122"/>
              </a:rPr>
              <a:t>CUBIC</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Cubic Binary Increase Congestion Control</a:t>
            </a:r>
            <a:r>
              <a:rPr lang="zh-CN" altLang="en-US" sz="2000" b="1" dirty="0">
                <a:latin typeface="微软雅黑" pitchFamily="34" charset="-122"/>
                <a:ea typeface="微软雅黑" pitchFamily="34" charset="-122"/>
              </a:rPr>
              <a:t>，立方二元递增拥塞控制）是由谷歌公司开发的一种新的拥塞控制的算法，这种算法通过更好地利用网络带宽和更快地适应网络拥塞，特别是针对高带宽时延积</a:t>
            </a:r>
            <a:r>
              <a:rPr lang="en-US" altLang="zh-CN" sz="2000" b="1" dirty="0">
                <a:latin typeface="微软雅黑" pitchFamily="34" charset="-122"/>
                <a:ea typeface="微软雅黑" pitchFamily="34" charset="-122"/>
              </a:rPr>
              <a:t>BDP</a:t>
            </a:r>
            <a:r>
              <a:rPr lang="zh-CN" altLang="en-US" sz="2000" b="1" dirty="0">
                <a:latin typeface="微软雅黑" pitchFamily="34" charset="-122"/>
                <a:ea typeface="微软雅黑" pitchFamily="34" charset="-122"/>
              </a:rPr>
              <a:t>环境下的性能优化，来提高网络性能。</a:t>
            </a:r>
            <a:endParaRPr lang="en-US" altLang="zh-CN" sz="2000"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en-US" altLang="zh-CN" sz="2000" b="1" dirty="0">
                <a:solidFill>
                  <a:srgbClr val="0000FF"/>
                </a:solidFill>
                <a:latin typeface="微软雅黑" pitchFamily="34" charset="-122"/>
                <a:ea typeface="微软雅黑" pitchFamily="34" charset="-122"/>
              </a:rPr>
              <a:t>Linux</a:t>
            </a:r>
            <a:r>
              <a:rPr lang="zh-CN" altLang="en-US" sz="2000" b="1" dirty="0">
                <a:solidFill>
                  <a:srgbClr val="0000FF"/>
                </a:solidFill>
                <a:latin typeface="微软雅黑" pitchFamily="34" charset="-122"/>
                <a:ea typeface="微软雅黑" pitchFamily="34" charset="-122"/>
              </a:rPr>
              <a:t>从版本</a:t>
            </a:r>
            <a:r>
              <a:rPr lang="en-US" altLang="zh-CN" sz="2000" b="1" dirty="0">
                <a:solidFill>
                  <a:srgbClr val="0000FF"/>
                </a:solidFill>
                <a:latin typeface="微软雅黑" pitchFamily="34" charset="-122"/>
                <a:ea typeface="微软雅黑" pitchFamily="34" charset="-122"/>
              </a:rPr>
              <a:t>2.6.29</a:t>
            </a:r>
            <a:r>
              <a:rPr lang="zh-CN" altLang="en-US" sz="2000" b="1" dirty="0">
                <a:solidFill>
                  <a:srgbClr val="0000FF"/>
                </a:solidFill>
                <a:latin typeface="微软雅黑" pitchFamily="34" charset="-122"/>
                <a:ea typeface="微软雅黑" pitchFamily="34" charset="-122"/>
              </a:rPr>
              <a:t>开始，</a:t>
            </a:r>
            <a:r>
              <a:rPr lang="en-US" altLang="zh-CN" sz="2000" b="1" dirty="0">
                <a:solidFill>
                  <a:srgbClr val="0000FF"/>
                </a:solidFill>
                <a:latin typeface="微软雅黑" pitchFamily="34" charset="-122"/>
                <a:ea typeface="微软雅黑" pitchFamily="34" charset="-122"/>
              </a:rPr>
              <a:t>Windows</a:t>
            </a:r>
            <a:r>
              <a:rPr lang="zh-CN" altLang="en-US" sz="2000" b="1" dirty="0">
                <a:solidFill>
                  <a:srgbClr val="0000FF"/>
                </a:solidFill>
                <a:latin typeface="微软雅黑" pitchFamily="34" charset="-122"/>
                <a:ea typeface="微软雅黑" pitchFamily="34" charset="-122"/>
              </a:rPr>
              <a:t>从版本</a:t>
            </a:r>
            <a:r>
              <a:rPr lang="en-US" altLang="zh-CN" sz="2000" b="1" dirty="0">
                <a:solidFill>
                  <a:srgbClr val="0000FF"/>
                </a:solidFill>
                <a:latin typeface="微软雅黑" pitchFamily="34" charset="-122"/>
                <a:ea typeface="微软雅黑" pitchFamily="34" charset="-122"/>
              </a:rPr>
              <a:t>10</a:t>
            </a:r>
            <a:r>
              <a:rPr lang="zh-CN" altLang="en-US" sz="2000" b="1" dirty="0">
                <a:solidFill>
                  <a:srgbClr val="0000FF"/>
                </a:solidFill>
                <a:latin typeface="微软雅黑" pitchFamily="34" charset="-122"/>
                <a:ea typeface="微软雅黑" pitchFamily="34" charset="-122"/>
              </a:rPr>
              <a:t>开始，都把</a:t>
            </a:r>
            <a:r>
              <a:rPr lang="en-US" altLang="zh-CN" sz="2000" b="1" dirty="0">
                <a:solidFill>
                  <a:srgbClr val="0000FF"/>
                </a:solidFill>
                <a:latin typeface="微软雅黑" pitchFamily="34" charset="-122"/>
                <a:ea typeface="微软雅黑" pitchFamily="34" charset="-122"/>
              </a:rPr>
              <a:t>CUBIC</a:t>
            </a:r>
            <a:r>
              <a:rPr lang="zh-CN" altLang="en-US" sz="2000" b="1" dirty="0">
                <a:solidFill>
                  <a:srgbClr val="0000FF"/>
                </a:solidFill>
                <a:latin typeface="微软雅黑" pitchFamily="34" charset="-122"/>
                <a:ea typeface="微软雅黑" pitchFamily="34" charset="-122"/>
              </a:rPr>
              <a:t>作为默认的</a:t>
            </a:r>
            <a:r>
              <a:rPr lang="en-US" altLang="zh-CN" sz="2000" b="1" dirty="0">
                <a:solidFill>
                  <a:srgbClr val="0000FF"/>
                </a:solidFill>
                <a:latin typeface="微软雅黑" pitchFamily="34" charset="-122"/>
                <a:ea typeface="微软雅黑" pitchFamily="34" charset="-122"/>
              </a:rPr>
              <a:t>TCP</a:t>
            </a:r>
            <a:r>
              <a:rPr lang="zh-CN" altLang="en-US" sz="2000" b="1" dirty="0">
                <a:solidFill>
                  <a:srgbClr val="0000FF"/>
                </a:solidFill>
                <a:latin typeface="微软雅黑" pitchFamily="34" charset="-122"/>
                <a:ea typeface="微软雅黑" pitchFamily="34" charset="-122"/>
              </a:rPr>
              <a:t>拥塞控制算法。</a:t>
            </a:r>
            <a:endParaRPr lang="zh-CN" altLang="en-US" sz="2000" b="1" dirty="0">
              <a:solidFill>
                <a:srgbClr val="C00000"/>
              </a:solidFill>
              <a:latin typeface="微软雅黑" pitchFamily="34" charset="-122"/>
              <a:ea typeface="微软雅黑" pitchFamily="34" charset="-122"/>
            </a:endParaRPr>
          </a:p>
        </p:txBody>
      </p:sp>
      <p:sp>
        <p:nvSpPr>
          <p:cNvPr id="5" name="AutoShape 5">
            <a:extLst>
              <a:ext uri="{FF2B5EF4-FFF2-40B4-BE49-F238E27FC236}">
                <a16:creationId xmlns:a16="http://schemas.microsoft.com/office/drawing/2014/main" id="{6282BF82-AC66-2DE4-CE10-A1ACDA0E86C3}"/>
              </a:ext>
            </a:extLst>
          </p:cNvPr>
          <p:cNvSpPr>
            <a:spLocks noChangeArrowheads="1"/>
          </p:cNvSpPr>
          <p:nvPr/>
        </p:nvSpPr>
        <p:spPr bwMode="auto">
          <a:xfrm>
            <a:off x="545143" y="1103904"/>
            <a:ext cx="8053711" cy="357839"/>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a:extLst>
              <a:ext uri="{FF2B5EF4-FFF2-40B4-BE49-F238E27FC236}">
                <a16:creationId xmlns:a16="http://schemas.microsoft.com/office/drawing/2014/main" id="{7578AFE8-DF32-A78B-6705-1527985DB5D0}"/>
              </a:ext>
            </a:extLst>
          </p:cNvPr>
          <p:cNvSpPr>
            <a:spLocks noChangeArrowheads="1"/>
          </p:cNvSpPr>
          <p:nvPr/>
        </p:nvSpPr>
        <p:spPr bwMode="auto">
          <a:xfrm>
            <a:off x="3637487" y="1077131"/>
            <a:ext cx="18690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1. TCP CUBIC</a:t>
            </a:r>
            <a:endParaRPr lang="zh-CN" altLang="en-US"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420466354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223A0-938A-6A6F-7DAF-27AA18BCAEF3}"/>
            </a:ext>
          </a:extLst>
        </p:cNvPr>
        <p:cNvGrpSpPr/>
        <p:nvPr/>
      </p:nvGrpSpPr>
      <p:grpSpPr>
        <a:xfrm>
          <a:off x="0" y="0"/>
          <a:ext cx="0" cy="0"/>
          <a:chOff x="0" y="0"/>
          <a:chExt cx="0" cy="0"/>
        </a:xfrm>
      </p:grpSpPr>
      <p:sp>
        <p:nvSpPr>
          <p:cNvPr id="14" name="圆角矩形 37">
            <a:extLst>
              <a:ext uri="{FF2B5EF4-FFF2-40B4-BE49-F238E27FC236}">
                <a16:creationId xmlns:a16="http://schemas.microsoft.com/office/drawing/2014/main" id="{50FE6C16-8571-E745-57DE-DF553BD7D3D9}"/>
              </a:ext>
            </a:extLst>
          </p:cNvPr>
          <p:cNvSpPr/>
          <p:nvPr/>
        </p:nvSpPr>
        <p:spPr>
          <a:xfrm>
            <a:off x="1213893" y="2330964"/>
            <a:ext cx="6809061" cy="239936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AutoShape 5">
            <a:extLst>
              <a:ext uri="{FF2B5EF4-FFF2-40B4-BE49-F238E27FC236}">
                <a16:creationId xmlns:a16="http://schemas.microsoft.com/office/drawing/2014/main" id="{23CBCE3B-B12E-4ED9-6ECB-FD310ED2FD80}"/>
              </a:ext>
            </a:extLst>
          </p:cNvPr>
          <p:cNvSpPr>
            <a:spLocks noChangeArrowheads="1"/>
          </p:cNvSpPr>
          <p:nvPr/>
        </p:nvSpPr>
        <p:spPr bwMode="auto">
          <a:xfrm>
            <a:off x="545143" y="625919"/>
            <a:ext cx="8053711" cy="357839"/>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a:extLst>
              <a:ext uri="{FF2B5EF4-FFF2-40B4-BE49-F238E27FC236}">
                <a16:creationId xmlns:a16="http://schemas.microsoft.com/office/drawing/2014/main" id="{EB01911F-73DA-183A-BD47-01DC2F585C3E}"/>
              </a:ext>
            </a:extLst>
          </p:cNvPr>
          <p:cNvSpPr>
            <a:spLocks noChangeArrowheads="1"/>
          </p:cNvSpPr>
          <p:nvPr/>
        </p:nvSpPr>
        <p:spPr bwMode="auto">
          <a:xfrm>
            <a:off x="3637487" y="599146"/>
            <a:ext cx="18690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1. TCP CUBIC</a:t>
            </a:r>
            <a:endParaRPr lang="zh-CN" altLang="en-US" sz="2000" b="1" dirty="0">
              <a:solidFill>
                <a:schemeClr val="bg1"/>
              </a:solidFill>
              <a:latin typeface="微软雅黑" pitchFamily="34" charset="-122"/>
              <a:ea typeface="微软雅黑" pitchFamily="34" charset="-122"/>
            </a:endParaRPr>
          </a:p>
        </p:txBody>
      </p:sp>
      <p:sp>
        <p:nvSpPr>
          <p:cNvPr id="4" name="Rectangle 8">
            <a:extLst>
              <a:ext uri="{FF2B5EF4-FFF2-40B4-BE49-F238E27FC236}">
                <a16:creationId xmlns:a16="http://schemas.microsoft.com/office/drawing/2014/main" id="{A23B9FF0-6F70-3378-F078-A65FCB8CFFC4}"/>
              </a:ext>
            </a:extLst>
          </p:cNvPr>
          <p:cNvSpPr>
            <a:spLocks noChangeArrowheads="1"/>
          </p:cNvSpPr>
          <p:nvPr/>
        </p:nvSpPr>
        <p:spPr bwMode="auto">
          <a:xfrm>
            <a:off x="545143" y="1029517"/>
            <a:ext cx="8053711" cy="13014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400"/>
              </a:lnSpc>
              <a:buClr>
                <a:srgbClr val="0070C0"/>
              </a:buClr>
              <a:buFont typeface="Wingdings" pitchFamily="2" charset="2"/>
              <a:buChar char="l"/>
            </a:pPr>
            <a:r>
              <a:rPr lang="en-US" altLang="zh-CN" b="1" dirty="0">
                <a:latin typeface="微软雅黑" pitchFamily="34" charset="-122"/>
                <a:ea typeface="微软雅黑" pitchFamily="34" charset="-122"/>
              </a:rPr>
              <a:t>CUBIC</a:t>
            </a:r>
            <a:r>
              <a:rPr lang="zh-CN" altLang="en-US" b="1" dirty="0">
                <a:latin typeface="微软雅黑" pitchFamily="34" charset="-122"/>
                <a:ea typeface="微软雅黑" pitchFamily="34" charset="-122"/>
              </a:rPr>
              <a:t>的拥塞窗口是使用时间</a:t>
            </a:r>
            <a:r>
              <a:rPr lang="en-US" altLang="zh-CN" b="1" i="1" dirty="0">
                <a:latin typeface="微软雅黑" pitchFamily="34" charset="-122"/>
                <a:ea typeface="微软雅黑" pitchFamily="34" charset="-122"/>
              </a:rPr>
              <a:t>t </a:t>
            </a:r>
            <a:r>
              <a:rPr lang="zh-CN" altLang="en-US" b="1" dirty="0">
                <a:latin typeface="微软雅黑" pitchFamily="34" charset="-122"/>
                <a:ea typeface="微软雅黑" pitchFamily="34" charset="-122"/>
              </a:rPr>
              <a:t>作为横坐标，而不是像</a:t>
            </a:r>
            <a:r>
              <a:rPr lang="en-US" altLang="zh-CN" b="1" dirty="0">
                <a:latin typeface="微软雅黑" pitchFamily="34" charset="-122"/>
                <a:ea typeface="微软雅黑" pitchFamily="34" charset="-122"/>
              </a:rPr>
              <a:t>TCP Reno</a:t>
            </a:r>
            <a:r>
              <a:rPr lang="zh-CN" altLang="en-US" b="1" dirty="0">
                <a:latin typeface="微软雅黑" pitchFamily="34" charset="-122"/>
                <a:ea typeface="微软雅黑" pitchFamily="34" charset="-122"/>
              </a:rPr>
              <a:t>那样，采用</a:t>
            </a:r>
            <a:r>
              <a:rPr lang="en-US" altLang="zh-CN" b="1" dirty="0">
                <a:latin typeface="微软雅黑" pitchFamily="34" charset="-122"/>
                <a:ea typeface="微软雅黑" pitchFamily="34" charset="-122"/>
              </a:rPr>
              <a:t>RTT</a:t>
            </a:r>
            <a:r>
              <a:rPr lang="zh-CN" altLang="en-US" b="1" dirty="0">
                <a:latin typeface="微软雅黑" pitchFamily="34" charset="-122"/>
                <a:ea typeface="微软雅黑" pitchFamily="34" charset="-122"/>
              </a:rPr>
              <a:t>或“每收到一个确认”。</a:t>
            </a:r>
            <a:endParaRPr lang="en-US" altLang="zh-CN" b="1" dirty="0">
              <a:latin typeface="微软雅黑" pitchFamily="34" charset="-122"/>
              <a:ea typeface="微软雅黑" pitchFamily="34" charset="-122"/>
            </a:endParaRPr>
          </a:p>
          <a:p>
            <a:pPr marL="285750" indent="-285750">
              <a:lnSpc>
                <a:spcPts val="2400"/>
              </a:lnSpc>
              <a:buClr>
                <a:srgbClr val="0070C0"/>
              </a:buClr>
              <a:buFont typeface="Wingdings" pitchFamily="2" charset="2"/>
              <a:buChar char="l"/>
            </a:pPr>
            <a:r>
              <a:rPr lang="zh-CN" altLang="en-US" b="1" dirty="0">
                <a:latin typeface="微软雅黑" pitchFamily="34" charset="-122"/>
                <a:ea typeface="微软雅黑" pitchFamily="34" charset="-122"/>
              </a:rPr>
              <a:t>三次曲线的起点是上次发生拥塞的时刻，</a:t>
            </a:r>
            <a:r>
              <a:rPr lang="en-US" altLang="zh-CN" b="1" dirty="0" err="1">
                <a:latin typeface="微软雅黑" pitchFamily="34" charset="-122"/>
                <a:ea typeface="微软雅黑" pitchFamily="34" charset="-122"/>
              </a:rPr>
              <a:t>Wmax</a:t>
            </a:r>
            <a:r>
              <a:rPr lang="zh-CN" altLang="en-US" b="1" dirty="0">
                <a:latin typeface="微软雅黑" pitchFamily="34" charset="-122"/>
                <a:ea typeface="微软雅黑" pitchFamily="34" charset="-122"/>
              </a:rPr>
              <a:t>是上次发生拥塞时拥塞窗口值（对应于三次曲线的拐点）。</a:t>
            </a:r>
          </a:p>
        </p:txBody>
      </p:sp>
      <p:grpSp>
        <p:nvGrpSpPr>
          <p:cNvPr id="13" name="组合 12">
            <a:extLst>
              <a:ext uri="{FF2B5EF4-FFF2-40B4-BE49-F238E27FC236}">
                <a16:creationId xmlns:a16="http://schemas.microsoft.com/office/drawing/2014/main" id="{1C9671EC-1C77-EE50-30D1-8E9C9E473787}"/>
              </a:ext>
            </a:extLst>
          </p:cNvPr>
          <p:cNvGrpSpPr/>
          <p:nvPr/>
        </p:nvGrpSpPr>
        <p:grpSpPr>
          <a:xfrm>
            <a:off x="2293103" y="2314380"/>
            <a:ext cx="5425572" cy="2455862"/>
            <a:chOff x="1847871" y="1443038"/>
            <a:chExt cx="5999922" cy="2732547"/>
          </a:xfrm>
        </p:grpSpPr>
        <p:sp>
          <p:nvSpPr>
            <p:cNvPr id="5" name="任意多边形: 形状 4">
              <a:extLst>
                <a:ext uri="{FF2B5EF4-FFF2-40B4-BE49-F238E27FC236}">
                  <a16:creationId xmlns:a16="http://schemas.microsoft.com/office/drawing/2014/main" id="{E86C97EC-1BF0-29FC-154D-AB13C52FFB32}"/>
                </a:ext>
              </a:extLst>
            </p:cNvPr>
            <p:cNvSpPr/>
            <p:nvPr/>
          </p:nvSpPr>
          <p:spPr>
            <a:xfrm rot="20972334">
              <a:off x="2354263" y="2197100"/>
              <a:ext cx="4708525" cy="1304925"/>
            </a:xfrm>
            <a:custGeom>
              <a:avLst/>
              <a:gdLst>
                <a:gd name="connsiteX0" fmla="*/ 0 w 7281334"/>
                <a:gd name="connsiteY0" fmla="*/ 2088444 h 2088444"/>
                <a:gd name="connsiteX1" fmla="*/ 2348089 w 7281334"/>
                <a:gd name="connsiteY1" fmla="*/ 756355 h 2088444"/>
                <a:gd name="connsiteX2" fmla="*/ 5305778 w 7281334"/>
                <a:gd name="connsiteY2" fmla="*/ 1083733 h 2088444"/>
                <a:gd name="connsiteX3" fmla="*/ 7281334 w 7281334"/>
                <a:gd name="connsiteY3" fmla="*/ 0 h 2088444"/>
                <a:gd name="connsiteX0" fmla="*/ 0 w 6972777"/>
                <a:gd name="connsiteY0" fmla="*/ 2206795 h 2206795"/>
                <a:gd name="connsiteX1" fmla="*/ 2039532 w 6972777"/>
                <a:gd name="connsiteY1" fmla="*/ 756355 h 2206795"/>
                <a:gd name="connsiteX2" fmla="*/ 4997221 w 6972777"/>
                <a:gd name="connsiteY2" fmla="*/ 1083733 h 2206795"/>
                <a:gd name="connsiteX3" fmla="*/ 6972777 w 6972777"/>
                <a:gd name="connsiteY3" fmla="*/ 0 h 2206795"/>
                <a:gd name="connsiteX0" fmla="*/ 0 w 7020019"/>
                <a:gd name="connsiteY0" fmla="*/ 2024312 h 2024312"/>
                <a:gd name="connsiteX1" fmla="*/ 2086774 w 7020019"/>
                <a:gd name="connsiteY1" fmla="*/ 756355 h 2024312"/>
                <a:gd name="connsiteX2" fmla="*/ 5044463 w 7020019"/>
                <a:gd name="connsiteY2" fmla="*/ 1083733 h 2024312"/>
                <a:gd name="connsiteX3" fmla="*/ 7020019 w 7020019"/>
                <a:gd name="connsiteY3" fmla="*/ 0 h 2024312"/>
                <a:gd name="connsiteX0" fmla="*/ 0 w 7020019"/>
                <a:gd name="connsiteY0" fmla="*/ 2024312 h 2024312"/>
                <a:gd name="connsiteX1" fmla="*/ 2086774 w 7020019"/>
                <a:gd name="connsiteY1" fmla="*/ 756355 h 2024312"/>
                <a:gd name="connsiteX2" fmla="*/ 5044463 w 7020019"/>
                <a:gd name="connsiteY2" fmla="*/ 1083733 h 2024312"/>
                <a:gd name="connsiteX3" fmla="*/ 7020019 w 7020019"/>
                <a:gd name="connsiteY3" fmla="*/ 0 h 2024312"/>
                <a:gd name="connsiteX0" fmla="*/ 0 w 7020019"/>
                <a:gd name="connsiteY0" fmla="*/ 2024312 h 2024312"/>
                <a:gd name="connsiteX1" fmla="*/ 2086774 w 7020019"/>
                <a:gd name="connsiteY1" fmla="*/ 756355 h 2024312"/>
                <a:gd name="connsiteX2" fmla="*/ 5072331 w 7020019"/>
                <a:gd name="connsiteY2" fmla="*/ 894278 h 2024312"/>
                <a:gd name="connsiteX3" fmla="*/ 7020019 w 7020019"/>
                <a:gd name="connsiteY3" fmla="*/ 0 h 2024312"/>
                <a:gd name="connsiteX0" fmla="*/ 0 w 7020019"/>
                <a:gd name="connsiteY0" fmla="*/ 2024312 h 2024312"/>
                <a:gd name="connsiteX1" fmla="*/ 2086774 w 7020019"/>
                <a:gd name="connsiteY1" fmla="*/ 756355 h 2024312"/>
                <a:gd name="connsiteX2" fmla="*/ 3607173 w 7020019"/>
                <a:gd name="connsiteY2" fmla="*/ 794214 h 2024312"/>
                <a:gd name="connsiteX3" fmla="*/ 5072331 w 7020019"/>
                <a:gd name="connsiteY3" fmla="*/ 894278 h 2024312"/>
                <a:gd name="connsiteX4" fmla="*/ 7020019 w 7020019"/>
                <a:gd name="connsiteY4" fmla="*/ 0 h 2024312"/>
                <a:gd name="connsiteX0" fmla="*/ 0 w 7020019"/>
                <a:gd name="connsiteY0" fmla="*/ 2024312 h 2024312"/>
                <a:gd name="connsiteX1" fmla="*/ 2086774 w 7020019"/>
                <a:gd name="connsiteY1" fmla="*/ 756355 h 2024312"/>
                <a:gd name="connsiteX2" fmla="*/ 3627825 w 7020019"/>
                <a:gd name="connsiteY2" fmla="*/ 880680 h 2024312"/>
                <a:gd name="connsiteX3" fmla="*/ 5072331 w 7020019"/>
                <a:gd name="connsiteY3" fmla="*/ 894278 h 2024312"/>
                <a:gd name="connsiteX4" fmla="*/ 7020019 w 7020019"/>
                <a:gd name="connsiteY4" fmla="*/ 0 h 2024312"/>
                <a:gd name="connsiteX0" fmla="*/ 0 w 7020019"/>
                <a:gd name="connsiteY0" fmla="*/ 2024312 h 2024312"/>
                <a:gd name="connsiteX1" fmla="*/ 2086774 w 7020019"/>
                <a:gd name="connsiteY1" fmla="*/ 756355 h 2024312"/>
                <a:gd name="connsiteX2" fmla="*/ 3633245 w 7020019"/>
                <a:gd name="connsiteY2" fmla="*/ 857450 h 2024312"/>
                <a:gd name="connsiteX3" fmla="*/ 5072331 w 7020019"/>
                <a:gd name="connsiteY3" fmla="*/ 894278 h 2024312"/>
                <a:gd name="connsiteX4" fmla="*/ 7020019 w 7020019"/>
                <a:gd name="connsiteY4" fmla="*/ 0 h 2024312"/>
                <a:gd name="connsiteX0" fmla="*/ 0 w 6864116"/>
                <a:gd name="connsiteY0" fmla="*/ 2126000 h 2126000"/>
                <a:gd name="connsiteX1" fmla="*/ 2086774 w 6864116"/>
                <a:gd name="connsiteY1" fmla="*/ 858043 h 2126000"/>
                <a:gd name="connsiteX2" fmla="*/ 3633245 w 6864116"/>
                <a:gd name="connsiteY2" fmla="*/ 959138 h 2126000"/>
                <a:gd name="connsiteX3" fmla="*/ 5072331 w 6864116"/>
                <a:gd name="connsiteY3" fmla="*/ 995966 h 2126000"/>
                <a:gd name="connsiteX4" fmla="*/ 6864116 w 6864116"/>
                <a:gd name="connsiteY4" fmla="*/ 0 h 2126000"/>
                <a:gd name="connsiteX0" fmla="*/ 0 w 6864116"/>
                <a:gd name="connsiteY0" fmla="*/ 2126000 h 2126000"/>
                <a:gd name="connsiteX1" fmla="*/ 2086774 w 6864116"/>
                <a:gd name="connsiteY1" fmla="*/ 858043 h 2126000"/>
                <a:gd name="connsiteX2" fmla="*/ 3633245 w 6864116"/>
                <a:gd name="connsiteY2" fmla="*/ 959138 h 2126000"/>
                <a:gd name="connsiteX3" fmla="*/ 5072331 w 6864116"/>
                <a:gd name="connsiteY3" fmla="*/ 995966 h 2126000"/>
                <a:gd name="connsiteX4" fmla="*/ 6864116 w 6864116"/>
                <a:gd name="connsiteY4" fmla="*/ 0 h 2126000"/>
                <a:gd name="connsiteX0" fmla="*/ 0 w 6864116"/>
                <a:gd name="connsiteY0" fmla="*/ 2126000 h 2126000"/>
                <a:gd name="connsiteX1" fmla="*/ 1063506 w 6864116"/>
                <a:gd name="connsiteY1" fmla="*/ 1159798 h 2126000"/>
                <a:gd name="connsiteX2" fmla="*/ 2086774 w 6864116"/>
                <a:gd name="connsiteY2" fmla="*/ 858043 h 2126000"/>
                <a:gd name="connsiteX3" fmla="*/ 3633245 w 6864116"/>
                <a:gd name="connsiteY3" fmla="*/ 959138 h 2126000"/>
                <a:gd name="connsiteX4" fmla="*/ 5072331 w 6864116"/>
                <a:gd name="connsiteY4" fmla="*/ 995966 h 2126000"/>
                <a:gd name="connsiteX5" fmla="*/ 6864116 w 6864116"/>
                <a:gd name="connsiteY5" fmla="*/ 0 h 2126000"/>
                <a:gd name="connsiteX0" fmla="*/ 0 w 6864116"/>
                <a:gd name="connsiteY0" fmla="*/ 2126000 h 2126000"/>
                <a:gd name="connsiteX1" fmla="*/ 956905 w 6864116"/>
                <a:gd name="connsiteY1" fmla="*/ 1126763 h 2126000"/>
                <a:gd name="connsiteX2" fmla="*/ 2086774 w 6864116"/>
                <a:gd name="connsiteY2" fmla="*/ 858043 h 2126000"/>
                <a:gd name="connsiteX3" fmla="*/ 3633245 w 6864116"/>
                <a:gd name="connsiteY3" fmla="*/ 959138 h 2126000"/>
                <a:gd name="connsiteX4" fmla="*/ 5072331 w 6864116"/>
                <a:gd name="connsiteY4" fmla="*/ 995966 h 2126000"/>
                <a:gd name="connsiteX5" fmla="*/ 6864116 w 6864116"/>
                <a:gd name="connsiteY5" fmla="*/ 0 h 2126000"/>
                <a:gd name="connsiteX0" fmla="*/ 0 w 6864116"/>
                <a:gd name="connsiteY0" fmla="*/ 2126000 h 2126000"/>
                <a:gd name="connsiteX1" fmla="*/ 366115 w 6864116"/>
                <a:gd name="connsiteY1" fmla="*/ 1699278 h 2126000"/>
                <a:gd name="connsiteX2" fmla="*/ 956905 w 6864116"/>
                <a:gd name="connsiteY2" fmla="*/ 1126763 h 2126000"/>
                <a:gd name="connsiteX3" fmla="*/ 2086774 w 6864116"/>
                <a:gd name="connsiteY3" fmla="*/ 858043 h 2126000"/>
                <a:gd name="connsiteX4" fmla="*/ 3633245 w 6864116"/>
                <a:gd name="connsiteY4" fmla="*/ 959138 h 2126000"/>
                <a:gd name="connsiteX5" fmla="*/ 5072331 w 6864116"/>
                <a:gd name="connsiteY5" fmla="*/ 995966 h 2126000"/>
                <a:gd name="connsiteX6" fmla="*/ 6864116 w 6864116"/>
                <a:gd name="connsiteY6" fmla="*/ 0 h 2126000"/>
                <a:gd name="connsiteX0" fmla="*/ 0 w 6864116"/>
                <a:gd name="connsiteY0" fmla="*/ 2126000 h 2126000"/>
                <a:gd name="connsiteX1" fmla="*/ 300809 w 6864116"/>
                <a:gd name="connsiteY1" fmla="*/ 1594231 h 2126000"/>
                <a:gd name="connsiteX2" fmla="*/ 956905 w 6864116"/>
                <a:gd name="connsiteY2" fmla="*/ 1126763 h 2126000"/>
                <a:gd name="connsiteX3" fmla="*/ 2086774 w 6864116"/>
                <a:gd name="connsiteY3" fmla="*/ 858043 h 2126000"/>
                <a:gd name="connsiteX4" fmla="*/ 3633245 w 6864116"/>
                <a:gd name="connsiteY4" fmla="*/ 959138 h 2126000"/>
                <a:gd name="connsiteX5" fmla="*/ 5072331 w 6864116"/>
                <a:gd name="connsiteY5" fmla="*/ 995966 h 2126000"/>
                <a:gd name="connsiteX6" fmla="*/ 6864116 w 6864116"/>
                <a:gd name="connsiteY6" fmla="*/ 0 h 2126000"/>
                <a:gd name="connsiteX0" fmla="*/ 0 w 6864116"/>
                <a:gd name="connsiteY0" fmla="*/ 2126000 h 2126000"/>
                <a:gd name="connsiteX1" fmla="*/ 300809 w 6864116"/>
                <a:gd name="connsiteY1" fmla="*/ 1594231 h 2126000"/>
                <a:gd name="connsiteX2" fmla="*/ 956905 w 6864116"/>
                <a:gd name="connsiteY2" fmla="*/ 1126763 h 2126000"/>
                <a:gd name="connsiteX3" fmla="*/ 2086774 w 6864116"/>
                <a:gd name="connsiteY3" fmla="*/ 858043 h 2126000"/>
                <a:gd name="connsiteX4" fmla="*/ 2778122 w 6864116"/>
                <a:gd name="connsiteY4" fmla="*/ 914779 h 2126000"/>
                <a:gd name="connsiteX5" fmla="*/ 3633245 w 6864116"/>
                <a:gd name="connsiteY5" fmla="*/ 959138 h 2126000"/>
                <a:gd name="connsiteX6" fmla="*/ 5072331 w 6864116"/>
                <a:gd name="connsiteY6" fmla="*/ 995966 h 2126000"/>
                <a:gd name="connsiteX7" fmla="*/ 6864116 w 6864116"/>
                <a:gd name="connsiteY7" fmla="*/ 0 h 2126000"/>
                <a:gd name="connsiteX0" fmla="*/ 0 w 6864116"/>
                <a:gd name="connsiteY0" fmla="*/ 2126000 h 2126000"/>
                <a:gd name="connsiteX1" fmla="*/ 300809 w 6864116"/>
                <a:gd name="connsiteY1" fmla="*/ 1594231 h 2126000"/>
                <a:gd name="connsiteX2" fmla="*/ 956905 w 6864116"/>
                <a:gd name="connsiteY2" fmla="*/ 1126763 h 2126000"/>
                <a:gd name="connsiteX3" fmla="*/ 2086774 w 6864116"/>
                <a:gd name="connsiteY3" fmla="*/ 858043 h 2126000"/>
                <a:gd name="connsiteX4" fmla="*/ 2765213 w 6864116"/>
                <a:gd name="connsiteY4" fmla="*/ 830120 h 2126000"/>
                <a:gd name="connsiteX5" fmla="*/ 3633245 w 6864116"/>
                <a:gd name="connsiteY5" fmla="*/ 959138 h 2126000"/>
                <a:gd name="connsiteX6" fmla="*/ 5072331 w 6864116"/>
                <a:gd name="connsiteY6" fmla="*/ 995966 h 2126000"/>
                <a:gd name="connsiteX7" fmla="*/ 6864116 w 6864116"/>
                <a:gd name="connsiteY7" fmla="*/ 0 h 2126000"/>
                <a:gd name="connsiteX0" fmla="*/ 0 w 6864116"/>
                <a:gd name="connsiteY0" fmla="*/ 2126000 h 2126000"/>
                <a:gd name="connsiteX1" fmla="*/ 300809 w 6864116"/>
                <a:gd name="connsiteY1" fmla="*/ 1594231 h 2126000"/>
                <a:gd name="connsiteX2" fmla="*/ 956905 w 6864116"/>
                <a:gd name="connsiteY2" fmla="*/ 1126763 h 2126000"/>
                <a:gd name="connsiteX3" fmla="*/ 1567587 w 6864116"/>
                <a:gd name="connsiteY3" fmla="*/ 958967 h 2126000"/>
                <a:gd name="connsiteX4" fmla="*/ 2086774 w 6864116"/>
                <a:gd name="connsiteY4" fmla="*/ 858043 h 2126000"/>
                <a:gd name="connsiteX5" fmla="*/ 2765213 w 6864116"/>
                <a:gd name="connsiteY5" fmla="*/ 830120 h 2126000"/>
                <a:gd name="connsiteX6" fmla="*/ 3633245 w 6864116"/>
                <a:gd name="connsiteY6" fmla="*/ 959138 h 2126000"/>
                <a:gd name="connsiteX7" fmla="*/ 5072331 w 6864116"/>
                <a:gd name="connsiteY7" fmla="*/ 995966 h 2126000"/>
                <a:gd name="connsiteX8" fmla="*/ 6864116 w 6864116"/>
                <a:gd name="connsiteY8" fmla="*/ 0 h 2126000"/>
                <a:gd name="connsiteX0" fmla="*/ 0 w 6864116"/>
                <a:gd name="connsiteY0" fmla="*/ 2126000 h 2126000"/>
                <a:gd name="connsiteX1" fmla="*/ 300809 w 6864116"/>
                <a:gd name="connsiteY1" fmla="*/ 1594231 h 2126000"/>
                <a:gd name="connsiteX2" fmla="*/ 956905 w 6864116"/>
                <a:gd name="connsiteY2" fmla="*/ 1126763 h 2126000"/>
                <a:gd name="connsiteX3" fmla="*/ 1584363 w 6864116"/>
                <a:gd name="connsiteY3" fmla="*/ 922056 h 2126000"/>
                <a:gd name="connsiteX4" fmla="*/ 2086774 w 6864116"/>
                <a:gd name="connsiteY4" fmla="*/ 858043 h 2126000"/>
                <a:gd name="connsiteX5" fmla="*/ 2765213 w 6864116"/>
                <a:gd name="connsiteY5" fmla="*/ 830120 h 2126000"/>
                <a:gd name="connsiteX6" fmla="*/ 3633245 w 6864116"/>
                <a:gd name="connsiteY6" fmla="*/ 959138 h 2126000"/>
                <a:gd name="connsiteX7" fmla="*/ 5072331 w 6864116"/>
                <a:gd name="connsiteY7" fmla="*/ 995966 h 2126000"/>
                <a:gd name="connsiteX8" fmla="*/ 6864116 w 6864116"/>
                <a:gd name="connsiteY8" fmla="*/ 0 h 2126000"/>
                <a:gd name="connsiteX0" fmla="*/ 0 w 6964770"/>
                <a:gd name="connsiteY0" fmla="*/ 2347463 h 2347463"/>
                <a:gd name="connsiteX1" fmla="*/ 300809 w 6964770"/>
                <a:gd name="connsiteY1" fmla="*/ 1815694 h 2347463"/>
                <a:gd name="connsiteX2" fmla="*/ 956905 w 6964770"/>
                <a:gd name="connsiteY2" fmla="*/ 1348226 h 2347463"/>
                <a:gd name="connsiteX3" fmla="*/ 1584363 w 6964770"/>
                <a:gd name="connsiteY3" fmla="*/ 1143519 h 2347463"/>
                <a:gd name="connsiteX4" fmla="*/ 2086774 w 6964770"/>
                <a:gd name="connsiteY4" fmla="*/ 1079506 h 2347463"/>
                <a:gd name="connsiteX5" fmla="*/ 2765213 w 6964770"/>
                <a:gd name="connsiteY5" fmla="*/ 1051583 h 2347463"/>
                <a:gd name="connsiteX6" fmla="*/ 3633245 w 6964770"/>
                <a:gd name="connsiteY6" fmla="*/ 1180601 h 2347463"/>
                <a:gd name="connsiteX7" fmla="*/ 5072331 w 6964770"/>
                <a:gd name="connsiteY7" fmla="*/ 1217429 h 2347463"/>
                <a:gd name="connsiteX8" fmla="*/ 6964770 w 6964770"/>
                <a:gd name="connsiteY8" fmla="*/ 0 h 2347463"/>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7477 w 7007034"/>
                <a:gd name="connsiteY5" fmla="*/ 1051583 h 2353918"/>
                <a:gd name="connsiteX6" fmla="*/ 3675509 w 7007034"/>
                <a:gd name="connsiteY6" fmla="*/ 1180601 h 2353918"/>
                <a:gd name="connsiteX7" fmla="*/ 5114595 w 7007034"/>
                <a:gd name="connsiteY7" fmla="*/ 1217429 h 2353918"/>
                <a:gd name="connsiteX8" fmla="*/ 7007034 w 7007034"/>
                <a:gd name="connsiteY8"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7477 w 7007034"/>
                <a:gd name="connsiteY5" fmla="*/ 1051583 h 2353918"/>
                <a:gd name="connsiteX6" fmla="*/ 3675509 w 7007034"/>
                <a:gd name="connsiteY6" fmla="*/ 1180601 h 2353918"/>
                <a:gd name="connsiteX7" fmla="*/ 5114595 w 7007034"/>
                <a:gd name="connsiteY7" fmla="*/ 1217429 h 2353918"/>
                <a:gd name="connsiteX8" fmla="*/ 6210613 w 7007034"/>
                <a:gd name="connsiteY8" fmla="*/ 783880 h 2353918"/>
                <a:gd name="connsiteX9" fmla="*/ 7007034 w 7007034"/>
                <a:gd name="connsiteY9"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7477 w 7007034"/>
                <a:gd name="connsiteY5" fmla="*/ 1051583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7007034 w 7007034"/>
                <a:gd name="connsiteY9"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7477 w 7007034"/>
                <a:gd name="connsiteY5" fmla="*/ 1051583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6688124 w 7007034"/>
                <a:gd name="connsiteY9" fmla="*/ 413682 h 2353918"/>
                <a:gd name="connsiteX10" fmla="*/ 7007034 w 7007034"/>
                <a:gd name="connsiteY10"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7477 w 7007034"/>
                <a:gd name="connsiteY5" fmla="*/ 1051583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6740438 w 7007034"/>
                <a:gd name="connsiteY9" fmla="*/ 434073 h 2353918"/>
                <a:gd name="connsiteX10" fmla="*/ 7007034 w 7007034"/>
                <a:gd name="connsiteY10"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2067 w 7007034"/>
                <a:gd name="connsiteY5" fmla="*/ 1074817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6740438 w 7007034"/>
                <a:gd name="connsiteY9" fmla="*/ 434073 h 2353918"/>
                <a:gd name="connsiteX10" fmla="*/ 7007034 w 7007034"/>
                <a:gd name="connsiteY10"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799747 w 7007034"/>
                <a:gd name="connsiteY5" fmla="*/ 1049779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6740438 w 7007034"/>
                <a:gd name="connsiteY9" fmla="*/ 434073 h 2353918"/>
                <a:gd name="connsiteX10" fmla="*/ 7007034 w 7007034"/>
                <a:gd name="connsiteY10"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6740438 w 7007034"/>
                <a:gd name="connsiteY9" fmla="*/ 434073 h 2353918"/>
                <a:gd name="connsiteX10" fmla="*/ 7007034 w 7007034"/>
                <a:gd name="connsiteY10"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3979424 w 7007034"/>
                <a:gd name="connsiteY7" fmla="*/ 1193391 h 2353918"/>
                <a:gd name="connsiteX8" fmla="*/ 5114595 w 7007034"/>
                <a:gd name="connsiteY8" fmla="*/ 1217429 h 2353918"/>
                <a:gd name="connsiteX9" fmla="*/ 6275300 w 7007034"/>
                <a:gd name="connsiteY9" fmla="*/ 856158 h 2353918"/>
                <a:gd name="connsiteX10" fmla="*/ 6740438 w 7007034"/>
                <a:gd name="connsiteY10" fmla="*/ 434073 h 2353918"/>
                <a:gd name="connsiteX11" fmla="*/ 7007034 w 7007034"/>
                <a:gd name="connsiteY11"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4089982 w 7007034"/>
                <a:gd name="connsiteY7" fmla="*/ 1243725 h 2353918"/>
                <a:gd name="connsiteX8" fmla="*/ 5114595 w 7007034"/>
                <a:gd name="connsiteY8" fmla="*/ 1217429 h 2353918"/>
                <a:gd name="connsiteX9" fmla="*/ 6275300 w 7007034"/>
                <a:gd name="connsiteY9" fmla="*/ 856158 h 2353918"/>
                <a:gd name="connsiteX10" fmla="*/ 6740438 w 7007034"/>
                <a:gd name="connsiteY10" fmla="*/ 434073 h 2353918"/>
                <a:gd name="connsiteX11" fmla="*/ 7007034 w 7007034"/>
                <a:gd name="connsiteY11"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4110855 w 7007034"/>
                <a:gd name="connsiteY7" fmla="*/ 1224106 h 2353918"/>
                <a:gd name="connsiteX8" fmla="*/ 5114595 w 7007034"/>
                <a:gd name="connsiteY8" fmla="*/ 1217429 h 2353918"/>
                <a:gd name="connsiteX9" fmla="*/ 6275300 w 7007034"/>
                <a:gd name="connsiteY9" fmla="*/ 856158 h 2353918"/>
                <a:gd name="connsiteX10" fmla="*/ 6740438 w 7007034"/>
                <a:gd name="connsiteY10" fmla="*/ 434073 h 2353918"/>
                <a:gd name="connsiteX11" fmla="*/ 7007034 w 7007034"/>
                <a:gd name="connsiteY11"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4110855 w 7007034"/>
                <a:gd name="connsiteY7" fmla="*/ 1224106 h 2353918"/>
                <a:gd name="connsiteX8" fmla="*/ 5114595 w 7007034"/>
                <a:gd name="connsiteY8" fmla="*/ 1217429 h 2353918"/>
                <a:gd name="connsiteX9" fmla="*/ 6275300 w 7007034"/>
                <a:gd name="connsiteY9" fmla="*/ 856158 h 2353918"/>
                <a:gd name="connsiteX10" fmla="*/ 6519081 w 7007034"/>
                <a:gd name="connsiteY10" fmla="*/ 684481 h 2353918"/>
                <a:gd name="connsiteX11" fmla="*/ 6740438 w 7007034"/>
                <a:gd name="connsiteY11" fmla="*/ 434073 h 2353918"/>
                <a:gd name="connsiteX12" fmla="*/ 7007034 w 7007034"/>
                <a:gd name="connsiteY12"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4110855 w 7007034"/>
                <a:gd name="connsiteY7" fmla="*/ 1224106 h 2353918"/>
                <a:gd name="connsiteX8" fmla="*/ 5114595 w 7007034"/>
                <a:gd name="connsiteY8" fmla="*/ 1217429 h 2353918"/>
                <a:gd name="connsiteX9" fmla="*/ 6275300 w 7007034"/>
                <a:gd name="connsiteY9" fmla="*/ 856158 h 2353918"/>
                <a:gd name="connsiteX10" fmla="*/ 6518564 w 7007034"/>
                <a:gd name="connsiteY10" fmla="*/ 651697 h 2353918"/>
                <a:gd name="connsiteX11" fmla="*/ 6740438 w 7007034"/>
                <a:gd name="connsiteY11" fmla="*/ 434073 h 2353918"/>
                <a:gd name="connsiteX12" fmla="*/ 7007034 w 7007034"/>
                <a:gd name="connsiteY12"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4110855 w 7007034"/>
                <a:gd name="connsiteY7" fmla="*/ 1224106 h 2353918"/>
                <a:gd name="connsiteX8" fmla="*/ 5114595 w 7007034"/>
                <a:gd name="connsiteY8" fmla="*/ 1217429 h 2353918"/>
                <a:gd name="connsiteX9" fmla="*/ 6275300 w 7007034"/>
                <a:gd name="connsiteY9" fmla="*/ 856158 h 2353918"/>
                <a:gd name="connsiteX10" fmla="*/ 6551810 w 7007034"/>
                <a:gd name="connsiteY10" fmla="*/ 683963 h 2353918"/>
                <a:gd name="connsiteX11" fmla="*/ 6740438 w 7007034"/>
                <a:gd name="connsiteY11" fmla="*/ 434073 h 2353918"/>
                <a:gd name="connsiteX12" fmla="*/ 7007034 w 7007034"/>
                <a:gd name="connsiteY12" fmla="*/ 0 h 2353918"/>
                <a:gd name="connsiteX0" fmla="*/ 0 w 6974305"/>
                <a:gd name="connsiteY0" fmla="*/ 2353401 h 2353401"/>
                <a:gd name="connsiteX1" fmla="*/ 343073 w 6974305"/>
                <a:gd name="connsiteY1" fmla="*/ 1815177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799747 w 6974305"/>
                <a:gd name="connsiteY5" fmla="*/ 1049262 h 2353401"/>
                <a:gd name="connsiteX6" fmla="*/ 3675509 w 6974305"/>
                <a:gd name="connsiteY6" fmla="*/ 1180084 h 2353401"/>
                <a:gd name="connsiteX7" fmla="*/ 4110855 w 6974305"/>
                <a:gd name="connsiteY7" fmla="*/ 1223589 h 2353401"/>
                <a:gd name="connsiteX8" fmla="*/ 5114595 w 6974305"/>
                <a:gd name="connsiteY8" fmla="*/ 1216912 h 2353401"/>
                <a:gd name="connsiteX9" fmla="*/ 6275300 w 6974305"/>
                <a:gd name="connsiteY9" fmla="*/ 855641 h 2353401"/>
                <a:gd name="connsiteX10" fmla="*/ 6551810 w 6974305"/>
                <a:gd name="connsiteY10" fmla="*/ 683446 h 2353401"/>
                <a:gd name="connsiteX11" fmla="*/ 6740438 w 6974305"/>
                <a:gd name="connsiteY11" fmla="*/ 433556 h 2353401"/>
                <a:gd name="connsiteX12" fmla="*/ 6974305 w 6974305"/>
                <a:gd name="connsiteY12" fmla="*/ 0 h 2353401"/>
                <a:gd name="connsiteX0" fmla="*/ 0 w 6974305"/>
                <a:gd name="connsiteY0" fmla="*/ 2353401 h 2353401"/>
                <a:gd name="connsiteX1" fmla="*/ 343073 w 6974305"/>
                <a:gd name="connsiteY1" fmla="*/ 1815177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803871 w 6974305"/>
                <a:gd name="connsiteY5" fmla="*/ 1066557 h 2353401"/>
                <a:gd name="connsiteX6" fmla="*/ 3675509 w 6974305"/>
                <a:gd name="connsiteY6" fmla="*/ 1180084 h 2353401"/>
                <a:gd name="connsiteX7" fmla="*/ 4110855 w 6974305"/>
                <a:gd name="connsiteY7" fmla="*/ 1223589 h 2353401"/>
                <a:gd name="connsiteX8" fmla="*/ 5114595 w 6974305"/>
                <a:gd name="connsiteY8" fmla="*/ 1216912 h 2353401"/>
                <a:gd name="connsiteX9" fmla="*/ 6275300 w 6974305"/>
                <a:gd name="connsiteY9" fmla="*/ 855641 h 2353401"/>
                <a:gd name="connsiteX10" fmla="*/ 6551810 w 6974305"/>
                <a:gd name="connsiteY10" fmla="*/ 683446 h 2353401"/>
                <a:gd name="connsiteX11" fmla="*/ 6740438 w 6974305"/>
                <a:gd name="connsiteY11" fmla="*/ 433556 h 2353401"/>
                <a:gd name="connsiteX12" fmla="*/ 6974305 w 6974305"/>
                <a:gd name="connsiteY12" fmla="*/ 0 h 2353401"/>
                <a:gd name="connsiteX0" fmla="*/ 0 w 6974305"/>
                <a:gd name="connsiteY0" fmla="*/ 2353401 h 2353401"/>
                <a:gd name="connsiteX1" fmla="*/ 343073 w 6974305"/>
                <a:gd name="connsiteY1" fmla="*/ 1815177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6330 w 6974305"/>
                <a:gd name="connsiteY5" fmla="*/ 1050441 h 2353401"/>
                <a:gd name="connsiteX6" fmla="*/ 2803871 w 6974305"/>
                <a:gd name="connsiteY6" fmla="*/ 1066557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75300 w 6974305"/>
                <a:gd name="connsiteY10" fmla="*/ 855641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43073 w 6974305"/>
                <a:gd name="connsiteY1" fmla="*/ 1815177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03871 w 6974305"/>
                <a:gd name="connsiteY6" fmla="*/ 1066557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75300 w 6974305"/>
                <a:gd name="connsiteY10" fmla="*/ 855641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43073 w 6974305"/>
                <a:gd name="connsiteY1" fmla="*/ 1815177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32474 w 6974305"/>
                <a:gd name="connsiteY6" fmla="*/ 1048744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75300 w 6974305"/>
                <a:gd name="connsiteY10" fmla="*/ 855641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32474 w 6974305"/>
                <a:gd name="connsiteY6" fmla="*/ 1048744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75300 w 6974305"/>
                <a:gd name="connsiteY10" fmla="*/ 855641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75300 w 6974305"/>
                <a:gd name="connsiteY10" fmla="*/ 855641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66281 w 6974305"/>
                <a:gd name="connsiteY10" fmla="*/ 894363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15000 w 6974305"/>
                <a:gd name="connsiteY10" fmla="*/ 939539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924 w 6974305"/>
                <a:gd name="connsiteY10" fmla="*/ 946766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63631 w 6974305"/>
                <a:gd name="connsiteY12" fmla="*/ 438975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63631 w 6974305"/>
                <a:gd name="connsiteY12" fmla="*/ 438975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63631 w 6974305"/>
                <a:gd name="connsiteY12" fmla="*/ 438975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63631 w 6974305"/>
                <a:gd name="connsiteY12" fmla="*/ 438975 h 2353401"/>
                <a:gd name="connsiteX13" fmla="*/ 6974305 w 6974305"/>
                <a:gd name="connsiteY13" fmla="*/ 0 h 2353401"/>
                <a:gd name="connsiteX0" fmla="*/ 0 w 6983586"/>
                <a:gd name="connsiteY0" fmla="*/ 2253241 h 2253241"/>
                <a:gd name="connsiteX1" fmla="*/ 364464 w 6983586"/>
                <a:gd name="connsiteY1" fmla="*/ 1728180 h 2253241"/>
                <a:gd name="connsiteX2" fmla="*/ 999169 w 6983586"/>
                <a:gd name="connsiteY2" fmla="*/ 1247549 h 2253241"/>
                <a:gd name="connsiteX3" fmla="*/ 1626627 w 6983586"/>
                <a:gd name="connsiteY3" fmla="*/ 1042842 h 2253241"/>
                <a:gd name="connsiteX4" fmla="*/ 2134448 w 6983586"/>
                <a:gd name="connsiteY4" fmla="*/ 955595 h 2253241"/>
                <a:gd name="connsiteX5" fmla="*/ 2492206 w 6983586"/>
                <a:gd name="connsiteY5" fmla="*/ 932984 h 2253241"/>
                <a:gd name="connsiteX6" fmla="*/ 2846133 w 6983586"/>
                <a:gd name="connsiteY6" fmla="*/ 959941 h 2253241"/>
                <a:gd name="connsiteX7" fmla="*/ 3675509 w 6983586"/>
                <a:gd name="connsiteY7" fmla="*/ 1079924 h 2253241"/>
                <a:gd name="connsiteX8" fmla="*/ 4110855 w 6983586"/>
                <a:gd name="connsiteY8" fmla="*/ 1123429 h 2253241"/>
                <a:gd name="connsiteX9" fmla="*/ 5114595 w 6983586"/>
                <a:gd name="connsiteY9" fmla="*/ 1116752 h 2253241"/>
                <a:gd name="connsiteX10" fmla="*/ 6245408 w 6983586"/>
                <a:gd name="connsiteY10" fmla="*/ 813822 h 2253241"/>
                <a:gd name="connsiteX11" fmla="*/ 6551810 w 6983586"/>
                <a:gd name="connsiteY11" fmla="*/ 583286 h 2253241"/>
                <a:gd name="connsiteX12" fmla="*/ 6763631 w 6983586"/>
                <a:gd name="connsiteY12" fmla="*/ 338815 h 2253241"/>
                <a:gd name="connsiteX13" fmla="*/ 6983586 w 6983586"/>
                <a:gd name="connsiteY13" fmla="*/ 0 h 2253241"/>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1810 w 6944414"/>
                <a:gd name="connsiteY11" fmla="*/ 625103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763631 w 6944414"/>
                <a:gd name="connsiteY11" fmla="*/ 380632 h 2295058"/>
                <a:gd name="connsiteX12" fmla="*/ 6944414 w 6944414"/>
                <a:gd name="connsiteY12"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944414 w 6944414"/>
                <a:gd name="connsiteY11"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670026 w 6944414"/>
                <a:gd name="connsiteY11" fmla="*/ 392668 h 2295058"/>
                <a:gd name="connsiteX12" fmla="*/ 6944414 w 6944414"/>
                <a:gd name="connsiteY12"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690402 w 6944414"/>
                <a:gd name="connsiteY11" fmla="*/ 416993 h 2295058"/>
                <a:gd name="connsiteX12" fmla="*/ 6944414 w 6944414"/>
                <a:gd name="connsiteY12"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708925 w 6944414"/>
                <a:gd name="connsiteY11" fmla="*/ 421320 h 2295058"/>
                <a:gd name="connsiteX12" fmla="*/ 6944414 w 6944414"/>
                <a:gd name="connsiteY12" fmla="*/ 0 h 2295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44414" h="2295058">
                  <a:moveTo>
                    <a:pt x="0" y="2295058"/>
                  </a:moveTo>
                  <a:cubicBezTo>
                    <a:pt x="61019" y="2223938"/>
                    <a:pt x="204980" y="1936537"/>
                    <a:pt x="364464" y="1769997"/>
                  </a:cubicBezTo>
                  <a:cubicBezTo>
                    <a:pt x="523948" y="1603458"/>
                    <a:pt x="788039" y="1395243"/>
                    <a:pt x="999169" y="1289366"/>
                  </a:cubicBezTo>
                  <a:cubicBezTo>
                    <a:pt x="1210299" y="1183489"/>
                    <a:pt x="1438316" y="1129446"/>
                    <a:pt x="1626627" y="1084659"/>
                  </a:cubicBezTo>
                  <a:cubicBezTo>
                    <a:pt x="1814938" y="1039872"/>
                    <a:pt x="1990185" y="1015722"/>
                    <a:pt x="2134448" y="997412"/>
                  </a:cubicBezTo>
                  <a:cubicBezTo>
                    <a:pt x="2278711" y="979102"/>
                    <a:pt x="2380636" y="973001"/>
                    <a:pt x="2492206" y="974801"/>
                  </a:cubicBezTo>
                  <a:cubicBezTo>
                    <a:pt x="2603776" y="976601"/>
                    <a:pt x="2649603" y="980151"/>
                    <a:pt x="2846133" y="1001758"/>
                  </a:cubicBezTo>
                  <a:lnTo>
                    <a:pt x="3675509" y="1121741"/>
                  </a:lnTo>
                  <a:cubicBezTo>
                    <a:pt x="3872122" y="1145676"/>
                    <a:pt x="3871007" y="1159108"/>
                    <a:pt x="4110855" y="1165246"/>
                  </a:cubicBezTo>
                  <a:cubicBezTo>
                    <a:pt x="4350703" y="1171384"/>
                    <a:pt x="4731949" y="1214774"/>
                    <a:pt x="5114595" y="1158569"/>
                  </a:cubicBezTo>
                  <a:cubicBezTo>
                    <a:pt x="5537112" y="1092449"/>
                    <a:pt x="5853207" y="1073260"/>
                    <a:pt x="6245408" y="855639"/>
                  </a:cubicBezTo>
                  <a:cubicBezTo>
                    <a:pt x="6504647" y="727989"/>
                    <a:pt x="6592424" y="563926"/>
                    <a:pt x="6708925" y="421320"/>
                  </a:cubicBezTo>
                  <a:cubicBezTo>
                    <a:pt x="6825426" y="278714"/>
                    <a:pt x="6898683" y="65445"/>
                    <a:pt x="6944414" y="0"/>
                  </a:cubicBezTo>
                </a:path>
              </a:pathLst>
            </a:cu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b="1" dirty="0"/>
            </a:p>
          </p:txBody>
        </p:sp>
        <p:cxnSp>
          <p:nvCxnSpPr>
            <p:cNvPr id="6" name="直接箭头连接符 5">
              <a:extLst>
                <a:ext uri="{FF2B5EF4-FFF2-40B4-BE49-F238E27FC236}">
                  <a16:creationId xmlns:a16="http://schemas.microsoft.com/office/drawing/2014/main" id="{610D2943-C06C-9BAE-C946-F707AEE3C527}"/>
                </a:ext>
              </a:extLst>
            </p:cNvPr>
            <p:cNvCxnSpPr>
              <a:cxnSpLocks/>
            </p:cNvCxnSpPr>
            <p:nvPr/>
          </p:nvCxnSpPr>
          <p:spPr>
            <a:xfrm>
              <a:off x="2524125" y="3914775"/>
              <a:ext cx="48387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53963B47-236D-2822-D7FC-8CC35F7D1E65}"/>
                </a:ext>
              </a:extLst>
            </p:cNvPr>
            <p:cNvCxnSpPr>
              <a:cxnSpLocks/>
            </p:cNvCxnSpPr>
            <p:nvPr/>
          </p:nvCxnSpPr>
          <p:spPr>
            <a:xfrm flipV="1">
              <a:off x="2519363" y="1614488"/>
              <a:ext cx="4762" cy="230028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E027A80E-A811-29D7-93EF-B603A40A5172}"/>
                </a:ext>
              </a:extLst>
            </p:cNvPr>
            <p:cNvCxnSpPr/>
            <p:nvPr/>
          </p:nvCxnSpPr>
          <p:spPr>
            <a:xfrm>
              <a:off x="2524125" y="2806700"/>
              <a:ext cx="4672013"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 name="文本框 14">
              <a:extLst>
                <a:ext uri="{FF2B5EF4-FFF2-40B4-BE49-F238E27FC236}">
                  <a16:creationId xmlns:a16="http://schemas.microsoft.com/office/drawing/2014/main" id="{F14DB911-4CB2-EDFE-7270-2161D02909CD}"/>
                </a:ext>
              </a:extLst>
            </p:cNvPr>
            <p:cNvSpPr txBox="1">
              <a:spLocks noChangeArrowheads="1"/>
            </p:cNvSpPr>
            <p:nvPr/>
          </p:nvSpPr>
          <p:spPr bwMode="auto">
            <a:xfrm>
              <a:off x="1847871" y="1443038"/>
              <a:ext cx="720070" cy="376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600" b="1" dirty="0" err="1">
                  <a:latin typeface="Times New Roman" panose="02020603050405020304" pitchFamily="18" charset="0"/>
                  <a:cs typeface="Times New Roman" panose="02020603050405020304" pitchFamily="18" charset="0"/>
                </a:rPr>
                <a:t>cwnd</a:t>
              </a:r>
              <a:endParaRPr lang="zh-CN" altLang="en-US" sz="1600" b="1" dirty="0">
                <a:latin typeface="Times New Roman" panose="02020603050405020304" pitchFamily="18" charset="0"/>
                <a:cs typeface="Times New Roman" panose="02020603050405020304" pitchFamily="18" charset="0"/>
              </a:endParaRPr>
            </a:p>
          </p:txBody>
        </p:sp>
        <p:sp>
          <p:nvSpPr>
            <p:cNvPr id="10" name="文本框 17">
              <a:extLst>
                <a:ext uri="{FF2B5EF4-FFF2-40B4-BE49-F238E27FC236}">
                  <a16:creationId xmlns:a16="http://schemas.microsoft.com/office/drawing/2014/main" id="{2F1DA8D5-0644-C5F1-F365-4A12D5AE9500}"/>
                </a:ext>
              </a:extLst>
            </p:cNvPr>
            <p:cNvSpPr txBox="1">
              <a:spLocks noChangeArrowheads="1"/>
            </p:cNvSpPr>
            <p:nvPr/>
          </p:nvSpPr>
          <p:spPr bwMode="auto">
            <a:xfrm>
              <a:off x="6042833" y="3247147"/>
              <a:ext cx="1804960" cy="650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从</a:t>
              </a:r>
              <a:r>
                <a:rPr lang="zh-CN" altLang="zh-CN" sz="1600" b="1" dirty="0">
                  <a:latin typeface="微软雅黑" panose="020B0503020204020204" pitchFamily="34" charset="-122"/>
                  <a:ea typeface="微软雅黑" panose="020B0503020204020204" pitchFamily="34" charset="-122"/>
                  <a:cs typeface="Times New Roman" panose="02020603050405020304" pitchFamily="18" charset="0"/>
                </a:rPr>
                <a:t>上次发生拥塞</a:t>
              </a:r>
              <a:endParaRPr lang="en-US" altLang="zh-CN" sz="1600" b="1" dirty="0">
                <a:latin typeface="微软雅黑" panose="020B0503020204020204" pitchFamily="34" charset="-122"/>
                <a:ea typeface="微软雅黑" panose="020B0503020204020204" pitchFamily="34" charset="-122"/>
                <a:cs typeface="Times New Roman" panose="02020603050405020304" pitchFamily="18" charset="0"/>
              </a:endParaRPr>
            </a:p>
            <a:p>
              <a:pPr algn="ctr" eaLnBrk="1" hangingPunct="1"/>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算起</a:t>
              </a:r>
              <a:r>
                <a:rPr lang="zh-CN" altLang="zh-CN" sz="1600" b="1" dirty="0">
                  <a:latin typeface="微软雅黑" panose="020B0503020204020204" pitchFamily="34" charset="-122"/>
                  <a:ea typeface="微软雅黑" panose="020B0503020204020204" pitchFamily="34" charset="-122"/>
                  <a:cs typeface="Times New Roman" panose="02020603050405020304" pitchFamily="18" charset="0"/>
                </a:rPr>
                <a:t>的</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时间 </a:t>
              </a: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t</a:t>
              </a:r>
              <a:endParaRPr lang="zh-CN" altLang="en-US" sz="1600" b="1" i="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文本框 18">
              <a:extLst>
                <a:ext uri="{FF2B5EF4-FFF2-40B4-BE49-F238E27FC236}">
                  <a16:creationId xmlns:a16="http://schemas.microsoft.com/office/drawing/2014/main" id="{1E385F87-DEBE-0E9A-F992-D93A4670BF17}"/>
                </a:ext>
              </a:extLst>
            </p:cNvPr>
            <p:cNvSpPr txBox="1">
              <a:spLocks noChangeArrowheads="1"/>
            </p:cNvSpPr>
            <p:nvPr/>
          </p:nvSpPr>
          <p:spPr bwMode="auto">
            <a:xfrm>
              <a:off x="1879633" y="2605088"/>
              <a:ext cx="709433" cy="376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600" b="1" dirty="0" err="1">
                  <a:latin typeface="Times New Roman" panose="02020603050405020304" pitchFamily="18" charset="0"/>
                  <a:cs typeface="Times New Roman" panose="02020603050405020304" pitchFamily="18" charset="0"/>
                </a:rPr>
                <a:t>W</a:t>
              </a:r>
              <a:r>
                <a:rPr lang="en-US" altLang="zh-CN" sz="1600" b="1" baseline="-25000" dirty="0" err="1">
                  <a:latin typeface="Times New Roman" panose="02020603050405020304" pitchFamily="18" charset="0"/>
                  <a:cs typeface="Times New Roman" panose="02020603050405020304" pitchFamily="18" charset="0"/>
                </a:rPr>
                <a:t>max</a:t>
              </a:r>
              <a:endParaRPr lang="zh-CN" altLang="en-US" sz="1600" b="1" dirty="0">
                <a:latin typeface="Times New Roman" panose="02020603050405020304" pitchFamily="18" charset="0"/>
                <a:cs typeface="Times New Roman" panose="02020603050405020304" pitchFamily="18" charset="0"/>
              </a:endParaRPr>
            </a:p>
          </p:txBody>
        </p:sp>
        <p:sp>
          <p:nvSpPr>
            <p:cNvPr id="12" name="文本框 19">
              <a:extLst>
                <a:ext uri="{FF2B5EF4-FFF2-40B4-BE49-F238E27FC236}">
                  <a16:creationId xmlns:a16="http://schemas.microsoft.com/office/drawing/2014/main" id="{FEC31DAD-897F-C202-A4D4-FB876914E3FE}"/>
                </a:ext>
              </a:extLst>
            </p:cNvPr>
            <p:cNvSpPr txBox="1">
              <a:spLocks noChangeArrowheads="1"/>
            </p:cNvSpPr>
            <p:nvPr/>
          </p:nvSpPr>
          <p:spPr bwMode="auto">
            <a:xfrm>
              <a:off x="2271713" y="3798888"/>
              <a:ext cx="317667" cy="376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600" b="1">
                  <a:latin typeface="Times New Roman" panose="02020603050405020304" pitchFamily="18" charset="0"/>
                  <a:cs typeface="Times New Roman" panose="02020603050405020304" pitchFamily="18" charset="0"/>
                </a:rPr>
                <a:t>0</a:t>
              </a:r>
              <a:endParaRPr lang="zh-CN" altLang="en-US" sz="1600" b="1">
                <a:latin typeface="Times New Roman" panose="02020603050405020304" pitchFamily="18" charset="0"/>
                <a:cs typeface="Times New Roman" panose="02020603050405020304" pitchFamily="18" charset="0"/>
              </a:endParaRPr>
            </a:p>
          </p:txBody>
        </p:sp>
      </p:grpSp>
      <p:sp>
        <p:nvSpPr>
          <p:cNvPr id="16" name="文本框 15">
            <a:extLst>
              <a:ext uri="{FF2B5EF4-FFF2-40B4-BE49-F238E27FC236}">
                <a16:creationId xmlns:a16="http://schemas.microsoft.com/office/drawing/2014/main" id="{E42C7B43-67E0-E80A-C6E5-DB0FA5B95BF1}"/>
              </a:ext>
            </a:extLst>
          </p:cNvPr>
          <p:cNvSpPr txBox="1"/>
          <p:nvPr/>
        </p:nvSpPr>
        <p:spPr>
          <a:xfrm>
            <a:off x="3027305" y="2359832"/>
            <a:ext cx="4081960" cy="338554"/>
          </a:xfrm>
          <a:prstGeom prst="rect">
            <a:avLst/>
          </a:prstGeom>
          <a:noFill/>
        </p:spPr>
        <p:txBody>
          <a:bodyPr wrap="square">
            <a:spAutoFit/>
          </a:bodyPr>
          <a:lstStyle/>
          <a:p>
            <a:r>
              <a:rPr lang="en-US" altLang="zh-CN" sz="1600" b="1" dirty="0">
                <a:solidFill>
                  <a:srgbClr val="C00000"/>
                </a:solidFill>
                <a:latin typeface="微软雅黑" pitchFamily="34" charset="-122"/>
                <a:ea typeface="微软雅黑" pitchFamily="34" charset="-122"/>
              </a:rPr>
              <a:t>CUBIC</a:t>
            </a:r>
            <a:r>
              <a:rPr lang="zh-CN" altLang="en-US" sz="1600" b="1" dirty="0">
                <a:solidFill>
                  <a:srgbClr val="C00000"/>
                </a:solidFill>
                <a:latin typeface="微软雅黑" pitchFamily="34" charset="-122"/>
                <a:ea typeface="微软雅黑" pitchFamily="34" charset="-122"/>
              </a:rPr>
              <a:t>拥塞窗口</a:t>
            </a:r>
            <a:r>
              <a:rPr lang="en-US" altLang="zh-CN" sz="1600" b="1" dirty="0" err="1">
                <a:solidFill>
                  <a:srgbClr val="C00000"/>
                </a:solidFill>
                <a:latin typeface="微软雅黑" pitchFamily="34" charset="-122"/>
                <a:ea typeface="微软雅黑" pitchFamily="34" charset="-122"/>
              </a:rPr>
              <a:t>cwnd</a:t>
            </a:r>
            <a:r>
              <a:rPr lang="zh-CN" altLang="en-US" sz="1600" b="1" dirty="0">
                <a:solidFill>
                  <a:srgbClr val="C00000"/>
                </a:solidFill>
                <a:latin typeface="微软雅黑" pitchFamily="34" charset="-122"/>
                <a:ea typeface="微软雅黑" pitchFamily="34" charset="-122"/>
              </a:rPr>
              <a:t>随时间的变化曲线</a:t>
            </a:r>
          </a:p>
        </p:txBody>
      </p:sp>
      <p:sp>
        <p:nvSpPr>
          <p:cNvPr id="20" name="文本框 19">
            <a:extLst>
              <a:ext uri="{FF2B5EF4-FFF2-40B4-BE49-F238E27FC236}">
                <a16:creationId xmlns:a16="http://schemas.microsoft.com/office/drawing/2014/main" id="{8FBD8049-04DC-2E85-6EC2-6A9C059B06D7}"/>
              </a:ext>
            </a:extLst>
          </p:cNvPr>
          <p:cNvSpPr txBox="1"/>
          <p:nvPr/>
        </p:nvSpPr>
        <p:spPr>
          <a:xfrm>
            <a:off x="1213893" y="3252660"/>
            <a:ext cx="1272626" cy="523220"/>
          </a:xfrm>
          <a:prstGeom prst="rect">
            <a:avLst/>
          </a:prstGeom>
          <a:noFill/>
        </p:spPr>
        <p:txBody>
          <a:bodyPr wrap="square">
            <a:spAutoFit/>
          </a:bodyPr>
          <a:lstStyle/>
          <a:p>
            <a:r>
              <a:rPr kumimoji="0" lang="zh-CN" altLang="en-US" sz="1400" b="1" i="0" u="none" strike="noStrike" kern="1200" cap="none" spc="0" normalizeH="0" baseline="0" noProof="0" dirty="0">
                <a:ln>
                  <a:noFill/>
                </a:ln>
                <a:solidFill>
                  <a:srgbClr val="0000FF"/>
                </a:solidFill>
                <a:effectLst/>
                <a:uLnTx/>
                <a:uFillTx/>
                <a:latin typeface="微软雅黑" pitchFamily="34" charset="-122"/>
                <a:ea typeface="微软雅黑" pitchFamily="34" charset="-122"/>
                <a:cs typeface="+mn-cs"/>
              </a:rPr>
              <a:t>上次发生拥塞时拥塞窗口值</a:t>
            </a:r>
            <a:endParaRPr lang="zh-CN" altLang="en-US" sz="1400" dirty="0">
              <a:solidFill>
                <a:srgbClr val="0000FF"/>
              </a:solidFill>
            </a:endParaRPr>
          </a:p>
        </p:txBody>
      </p:sp>
    </p:spTree>
    <p:extLst>
      <p:ext uri="{BB962C8B-B14F-4D97-AF65-F5344CB8AC3E}">
        <p14:creationId xmlns:p14="http://schemas.microsoft.com/office/powerpoint/2010/main" val="3740212632"/>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FC2F1-0AC7-728B-EA5B-C8626E1074D0}"/>
            </a:ext>
          </a:extLst>
        </p:cNvPr>
        <p:cNvGrpSpPr/>
        <p:nvPr/>
      </p:nvGrpSpPr>
      <p:grpSpPr>
        <a:xfrm>
          <a:off x="0" y="0"/>
          <a:ext cx="0" cy="0"/>
          <a:chOff x="0" y="0"/>
          <a:chExt cx="0" cy="0"/>
        </a:xfrm>
      </p:grpSpPr>
      <p:sp>
        <p:nvSpPr>
          <p:cNvPr id="14" name="圆角矩形 37">
            <a:extLst>
              <a:ext uri="{FF2B5EF4-FFF2-40B4-BE49-F238E27FC236}">
                <a16:creationId xmlns:a16="http://schemas.microsoft.com/office/drawing/2014/main" id="{7432A1C1-674C-5C26-491B-AB8D6C92029E}"/>
              </a:ext>
            </a:extLst>
          </p:cNvPr>
          <p:cNvSpPr/>
          <p:nvPr/>
        </p:nvSpPr>
        <p:spPr>
          <a:xfrm>
            <a:off x="1213893" y="2330964"/>
            <a:ext cx="6809061" cy="239936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AutoShape 5">
            <a:extLst>
              <a:ext uri="{FF2B5EF4-FFF2-40B4-BE49-F238E27FC236}">
                <a16:creationId xmlns:a16="http://schemas.microsoft.com/office/drawing/2014/main" id="{0BE12B0C-137F-37F1-5057-4F71D801F346}"/>
              </a:ext>
            </a:extLst>
          </p:cNvPr>
          <p:cNvSpPr>
            <a:spLocks noChangeArrowheads="1"/>
          </p:cNvSpPr>
          <p:nvPr/>
        </p:nvSpPr>
        <p:spPr bwMode="auto">
          <a:xfrm>
            <a:off x="545143" y="625919"/>
            <a:ext cx="8053711" cy="357839"/>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a:extLst>
              <a:ext uri="{FF2B5EF4-FFF2-40B4-BE49-F238E27FC236}">
                <a16:creationId xmlns:a16="http://schemas.microsoft.com/office/drawing/2014/main" id="{38E196BE-56CA-F7D3-BDA0-4A012A9D694A}"/>
              </a:ext>
            </a:extLst>
          </p:cNvPr>
          <p:cNvSpPr>
            <a:spLocks noChangeArrowheads="1"/>
          </p:cNvSpPr>
          <p:nvPr/>
        </p:nvSpPr>
        <p:spPr bwMode="auto">
          <a:xfrm>
            <a:off x="3637487" y="599146"/>
            <a:ext cx="18690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1. TCP CUBIC</a:t>
            </a:r>
            <a:endParaRPr lang="zh-CN" altLang="en-US" sz="2000" b="1" dirty="0">
              <a:solidFill>
                <a:schemeClr val="bg1"/>
              </a:solidFill>
              <a:latin typeface="微软雅黑" pitchFamily="34" charset="-122"/>
              <a:ea typeface="微软雅黑" pitchFamily="34" charset="-122"/>
            </a:endParaRPr>
          </a:p>
        </p:txBody>
      </p:sp>
      <p:sp>
        <p:nvSpPr>
          <p:cNvPr id="4" name="Rectangle 8">
            <a:extLst>
              <a:ext uri="{FF2B5EF4-FFF2-40B4-BE49-F238E27FC236}">
                <a16:creationId xmlns:a16="http://schemas.microsoft.com/office/drawing/2014/main" id="{62AB1B57-8A37-B011-FEAC-7F824C4FA2D7}"/>
              </a:ext>
            </a:extLst>
          </p:cNvPr>
          <p:cNvSpPr>
            <a:spLocks noChangeArrowheads="1"/>
          </p:cNvSpPr>
          <p:nvPr/>
        </p:nvSpPr>
        <p:spPr bwMode="auto">
          <a:xfrm>
            <a:off x="545143" y="1029517"/>
            <a:ext cx="8053711" cy="993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400"/>
              </a:lnSpc>
              <a:buClr>
                <a:srgbClr val="0070C0"/>
              </a:buClr>
              <a:buFont typeface="Wingdings" pitchFamily="2" charset="2"/>
              <a:buChar char="l"/>
            </a:pPr>
            <a:r>
              <a:rPr lang="zh-CN" altLang="en-US" b="1" dirty="0">
                <a:latin typeface="微软雅黑" pitchFamily="34" charset="-122"/>
                <a:ea typeface="微软雅黑" pitchFamily="34" charset="-122"/>
              </a:rPr>
              <a:t>一开始是</a:t>
            </a:r>
            <a:r>
              <a:rPr lang="zh-CN" altLang="en-US" b="1" dirty="0">
                <a:solidFill>
                  <a:srgbClr val="0000FF"/>
                </a:solidFill>
                <a:latin typeface="微软雅黑" pitchFamily="34" charset="-122"/>
                <a:ea typeface="微软雅黑" pitchFamily="34" charset="-122"/>
              </a:rPr>
              <a:t>快速上升</a:t>
            </a:r>
            <a:r>
              <a:rPr lang="zh-CN" altLang="en-US" b="1" dirty="0">
                <a:latin typeface="微软雅黑" pitchFamily="34" charset="-122"/>
                <a:ea typeface="微软雅黑" pitchFamily="34" charset="-122"/>
              </a:rPr>
              <a:t>。三次曲线的开始上升阶段上升很快。拥塞窗口</a:t>
            </a:r>
            <a:r>
              <a:rPr lang="en-US" altLang="zh-CN" b="1" dirty="0" err="1">
                <a:latin typeface="微软雅黑" pitchFamily="34" charset="-122"/>
                <a:ea typeface="微软雅黑" pitchFamily="34" charset="-122"/>
              </a:rPr>
              <a:t>cwnd</a:t>
            </a:r>
            <a:r>
              <a:rPr lang="zh-CN" altLang="en-US" b="1" dirty="0">
                <a:latin typeface="微软雅黑" pitchFamily="34" charset="-122"/>
                <a:ea typeface="微软雅黑" pitchFamily="34" charset="-122"/>
              </a:rPr>
              <a:t>迅速上升就能迅速接近网络可支持的最大带宽。这样能尽早发现网络的最大可用容量，从而提高传输效率。</a:t>
            </a:r>
          </a:p>
        </p:txBody>
      </p:sp>
      <p:grpSp>
        <p:nvGrpSpPr>
          <p:cNvPr id="13" name="组合 12">
            <a:extLst>
              <a:ext uri="{FF2B5EF4-FFF2-40B4-BE49-F238E27FC236}">
                <a16:creationId xmlns:a16="http://schemas.microsoft.com/office/drawing/2014/main" id="{20448971-4794-3E3F-4A48-B00B2AFE925A}"/>
              </a:ext>
            </a:extLst>
          </p:cNvPr>
          <p:cNvGrpSpPr/>
          <p:nvPr/>
        </p:nvGrpSpPr>
        <p:grpSpPr>
          <a:xfrm>
            <a:off x="2293103" y="2314380"/>
            <a:ext cx="5425572" cy="2455862"/>
            <a:chOff x="1847871" y="1443038"/>
            <a:chExt cx="5999922" cy="2732547"/>
          </a:xfrm>
        </p:grpSpPr>
        <p:sp>
          <p:nvSpPr>
            <p:cNvPr id="5" name="任意多边形: 形状 4">
              <a:extLst>
                <a:ext uri="{FF2B5EF4-FFF2-40B4-BE49-F238E27FC236}">
                  <a16:creationId xmlns:a16="http://schemas.microsoft.com/office/drawing/2014/main" id="{F91665A5-B8BA-71D7-1174-C240750B3125}"/>
                </a:ext>
              </a:extLst>
            </p:cNvPr>
            <p:cNvSpPr/>
            <p:nvPr/>
          </p:nvSpPr>
          <p:spPr>
            <a:xfrm rot="20972334">
              <a:off x="2354263" y="2197100"/>
              <a:ext cx="4708525" cy="1304925"/>
            </a:xfrm>
            <a:custGeom>
              <a:avLst/>
              <a:gdLst>
                <a:gd name="connsiteX0" fmla="*/ 0 w 7281334"/>
                <a:gd name="connsiteY0" fmla="*/ 2088444 h 2088444"/>
                <a:gd name="connsiteX1" fmla="*/ 2348089 w 7281334"/>
                <a:gd name="connsiteY1" fmla="*/ 756355 h 2088444"/>
                <a:gd name="connsiteX2" fmla="*/ 5305778 w 7281334"/>
                <a:gd name="connsiteY2" fmla="*/ 1083733 h 2088444"/>
                <a:gd name="connsiteX3" fmla="*/ 7281334 w 7281334"/>
                <a:gd name="connsiteY3" fmla="*/ 0 h 2088444"/>
                <a:gd name="connsiteX0" fmla="*/ 0 w 6972777"/>
                <a:gd name="connsiteY0" fmla="*/ 2206795 h 2206795"/>
                <a:gd name="connsiteX1" fmla="*/ 2039532 w 6972777"/>
                <a:gd name="connsiteY1" fmla="*/ 756355 h 2206795"/>
                <a:gd name="connsiteX2" fmla="*/ 4997221 w 6972777"/>
                <a:gd name="connsiteY2" fmla="*/ 1083733 h 2206795"/>
                <a:gd name="connsiteX3" fmla="*/ 6972777 w 6972777"/>
                <a:gd name="connsiteY3" fmla="*/ 0 h 2206795"/>
                <a:gd name="connsiteX0" fmla="*/ 0 w 7020019"/>
                <a:gd name="connsiteY0" fmla="*/ 2024312 h 2024312"/>
                <a:gd name="connsiteX1" fmla="*/ 2086774 w 7020019"/>
                <a:gd name="connsiteY1" fmla="*/ 756355 h 2024312"/>
                <a:gd name="connsiteX2" fmla="*/ 5044463 w 7020019"/>
                <a:gd name="connsiteY2" fmla="*/ 1083733 h 2024312"/>
                <a:gd name="connsiteX3" fmla="*/ 7020019 w 7020019"/>
                <a:gd name="connsiteY3" fmla="*/ 0 h 2024312"/>
                <a:gd name="connsiteX0" fmla="*/ 0 w 7020019"/>
                <a:gd name="connsiteY0" fmla="*/ 2024312 h 2024312"/>
                <a:gd name="connsiteX1" fmla="*/ 2086774 w 7020019"/>
                <a:gd name="connsiteY1" fmla="*/ 756355 h 2024312"/>
                <a:gd name="connsiteX2" fmla="*/ 5044463 w 7020019"/>
                <a:gd name="connsiteY2" fmla="*/ 1083733 h 2024312"/>
                <a:gd name="connsiteX3" fmla="*/ 7020019 w 7020019"/>
                <a:gd name="connsiteY3" fmla="*/ 0 h 2024312"/>
                <a:gd name="connsiteX0" fmla="*/ 0 w 7020019"/>
                <a:gd name="connsiteY0" fmla="*/ 2024312 h 2024312"/>
                <a:gd name="connsiteX1" fmla="*/ 2086774 w 7020019"/>
                <a:gd name="connsiteY1" fmla="*/ 756355 h 2024312"/>
                <a:gd name="connsiteX2" fmla="*/ 5072331 w 7020019"/>
                <a:gd name="connsiteY2" fmla="*/ 894278 h 2024312"/>
                <a:gd name="connsiteX3" fmla="*/ 7020019 w 7020019"/>
                <a:gd name="connsiteY3" fmla="*/ 0 h 2024312"/>
                <a:gd name="connsiteX0" fmla="*/ 0 w 7020019"/>
                <a:gd name="connsiteY0" fmla="*/ 2024312 h 2024312"/>
                <a:gd name="connsiteX1" fmla="*/ 2086774 w 7020019"/>
                <a:gd name="connsiteY1" fmla="*/ 756355 h 2024312"/>
                <a:gd name="connsiteX2" fmla="*/ 3607173 w 7020019"/>
                <a:gd name="connsiteY2" fmla="*/ 794214 h 2024312"/>
                <a:gd name="connsiteX3" fmla="*/ 5072331 w 7020019"/>
                <a:gd name="connsiteY3" fmla="*/ 894278 h 2024312"/>
                <a:gd name="connsiteX4" fmla="*/ 7020019 w 7020019"/>
                <a:gd name="connsiteY4" fmla="*/ 0 h 2024312"/>
                <a:gd name="connsiteX0" fmla="*/ 0 w 7020019"/>
                <a:gd name="connsiteY0" fmla="*/ 2024312 h 2024312"/>
                <a:gd name="connsiteX1" fmla="*/ 2086774 w 7020019"/>
                <a:gd name="connsiteY1" fmla="*/ 756355 h 2024312"/>
                <a:gd name="connsiteX2" fmla="*/ 3627825 w 7020019"/>
                <a:gd name="connsiteY2" fmla="*/ 880680 h 2024312"/>
                <a:gd name="connsiteX3" fmla="*/ 5072331 w 7020019"/>
                <a:gd name="connsiteY3" fmla="*/ 894278 h 2024312"/>
                <a:gd name="connsiteX4" fmla="*/ 7020019 w 7020019"/>
                <a:gd name="connsiteY4" fmla="*/ 0 h 2024312"/>
                <a:gd name="connsiteX0" fmla="*/ 0 w 7020019"/>
                <a:gd name="connsiteY0" fmla="*/ 2024312 h 2024312"/>
                <a:gd name="connsiteX1" fmla="*/ 2086774 w 7020019"/>
                <a:gd name="connsiteY1" fmla="*/ 756355 h 2024312"/>
                <a:gd name="connsiteX2" fmla="*/ 3633245 w 7020019"/>
                <a:gd name="connsiteY2" fmla="*/ 857450 h 2024312"/>
                <a:gd name="connsiteX3" fmla="*/ 5072331 w 7020019"/>
                <a:gd name="connsiteY3" fmla="*/ 894278 h 2024312"/>
                <a:gd name="connsiteX4" fmla="*/ 7020019 w 7020019"/>
                <a:gd name="connsiteY4" fmla="*/ 0 h 2024312"/>
                <a:gd name="connsiteX0" fmla="*/ 0 w 6864116"/>
                <a:gd name="connsiteY0" fmla="*/ 2126000 h 2126000"/>
                <a:gd name="connsiteX1" fmla="*/ 2086774 w 6864116"/>
                <a:gd name="connsiteY1" fmla="*/ 858043 h 2126000"/>
                <a:gd name="connsiteX2" fmla="*/ 3633245 w 6864116"/>
                <a:gd name="connsiteY2" fmla="*/ 959138 h 2126000"/>
                <a:gd name="connsiteX3" fmla="*/ 5072331 w 6864116"/>
                <a:gd name="connsiteY3" fmla="*/ 995966 h 2126000"/>
                <a:gd name="connsiteX4" fmla="*/ 6864116 w 6864116"/>
                <a:gd name="connsiteY4" fmla="*/ 0 h 2126000"/>
                <a:gd name="connsiteX0" fmla="*/ 0 w 6864116"/>
                <a:gd name="connsiteY0" fmla="*/ 2126000 h 2126000"/>
                <a:gd name="connsiteX1" fmla="*/ 2086774 w 6864116"/>
                <a:gd name="connsiteY1" fmla="*/ 858043 h 2126000"/>
                <a:gd name="connsiteX2" fmla="*/ 3633245 w 6864116"/>
                <a:gd name="connsiteY2" fmla="*/ 959138 h 2126000"/>
                <a:gd name="connsiteX3" fmla="*/ 5072331 w 6864116"/>
                <a:gd name="connsiteY3" fmla="*/ 995966 h 2126000"/>
                <a:gd name="connsiteX4" fmla="*/ 6864116 w 6864116"/>
                <a:gd name="connsiteY4" fmla="*/ 0 h 2126000"/>
                <a:gd name="connsiteX0" fmla="*/ 0 w 6864116"/>
                <a:gd name="connsiteY0" fmla="*/ 2126000 h 2126000"/>
                <a:gd name="connsiteX1" fmla="*/ 1063506 w 6864116"/>
                <a:gd name="connsiteY1" fmla="*/ 1159798 h 2126000"/>
                <a:gd name="connsiteX2" fmla="*/ 2086774 w 6864116"/>
                <a:gd name="connsiteY2" fmla="*/ 858043 h 2126000"/>
                <a:gd name="connsiteX3" fmla="*/ 3633245 w 6864116"/>
                <a:gd name="connsiteY3" fmla="*/ 959138 h 2126000"/>
                <a:gd name="connsiteX4" fmla="*/ 5072331 w 6864116"/>
                <a:gd name="connsiteY4" fmla="*/ 995966 h 2126000"/>
                <a:gd name="connsiteX5" fmla="*/ 6864116 w 6864116"/>
                <a:gd name="connsiteY5" fmla="*/ 0 h 2126000"/>
                <a:gd name="connsiteX0" fmla="*/ 0 w 6864116"/>
                <a:gd name="connsiteY0" fmla="*/ 2126000 h 2126000"/>
                <a:gd name="connsiteX1" fmla="*/ 956905 w 6864116"/>
                <a:gd name="connsiteY1" fmla="*/ 1126763 h 2126000"/>
                <a:gd name="connsiteX2" fmla="*/ 2086774 w 6864116"/>
                <a:gd name="connsiteY2" fmla="*/ 858043 h 2126000"/>
                <a:gd name="connsiteX3" fmla="*/ 3633245 w 6864116"/>
                <a:gd name="connsiteY3" fmla="*/ 959138 h 2126000"/>
                <a:gd name="connsiteX4" fmla="*/ 5072331 w 6864116"/>
                <a:gd name="connsiteY4" fmla="*/ 995966 h 2126000"/>
                <a:gd name="connsiteX5" fmla="*/ 6864116 w 6864116"/>
                <a:gd name="connsiteY5" fmla="*/ 0 h 2126000"/>
                <a:gd name="connsiteX0" fmla="*/ 0 w 6864116"/>
                <a:gd name="connsiteY0" fmla="*/ 2126000 h 2126000"/>
                <a:gd name="connsiteX1" fmla="*/ 366115 w 6864116"/>
                <a:gd name="connsiteY1" fmla="*/ 1699278 h 2126000"/>
                <a:gd name="connsiteX2" fmla="*/ 956905 w 6864116"/>
                <a:gd name="connsiteY2" fmla="*/ 1126763 h 2126000"/>
                <a:gd name="connsiteX3" fmla="*/ 2086774 w 6864116"/>
                <a:gd name="connsiteY3" fmla="*/ 858043 h 2126000"/>
                <a:gd name="connsiteX4" fmla="*/ 3633245 w 6864116"/>
                <a:gd name="connsiteY4" fmla="*/ 959138 h 2126000"/>
                <a:gd name="connsiteX5" fmla="*/ 5072331 w 6864116"/>
                <a:gd name="connsiteY5" fmla="*/ 995966 h 2126000"/>
                <a:gd name="connsiteX6" fmla="*/ 6864116 w 6864116"/>
                <a:gd name="connsiteY6" fmla="*/ 0 h 2126000"/>
                <a:gd name="connsiteX0" fmla="*/ 0 w 6864116"/>
                <a:gd name="connsiteY0" fmla="*/ 2126000 h 2126000"/>
                <a:gd name="connsiteX1" fmla="*/ 300809 w 6864116"/>
                <a:gd name="connsiteY1" fmla="*/ 1594231 h 2126000"/>
                <a:gd name="connsiteX2" fmla="*/ 956905 w 6864116"/>
                <a:gd name="connsiteY2" fmla="*/ 1126763 h 2126000"/>
                <a:gd name="connsiteX3" fmla="*/ 2086774 w 6864116"/>
                <a:gd name="connsiteY3" fmla="*/ 858043 h 2126000"/>
                <a:gd name="connsiteX4" fmla="*/ 3633245 w 6864116"/>
                <a:gd name="connsiteY4" fmla="*/ 959138 h 2126000"/>
                <a:gd name="connsiteX5" fmla="*/ 5072331 w 6864116"/>
                <a:gd name="connsiteY5" fmla="*/ 995966 h 2126000"/>
                <a:gd name="connsiteX6" fmla="*/ 6864116 w 6864116"/>
                <a:gd name="connsiteY6" fmla="*/ 0 h 2126000"/>
                <a:gd name="connsiteX0" fmla="*/ 0 w 6864116"/>
                <a:gd name="connsiteY0" fmla="*/ 2126000 h 2126000"/>
                <a:gd name="connsiteX1" fmla="*/ 300809 w 6864116"/>
                <a:gd name="connsiteY1" fmla="*/ 1594231 h 2126000"/>
                <a:gd name="connsiteX2" fmla="*/ 956905 w 6864116"/>
                <a:gd name="connsiteY2" fmla="*/ 1126763 h 2126000"/>
                <a:gd name="connsiteX3" fmla="*/ 2086774 w 6864116"/>
                <a:gd name="connsiteY3" fmla="*/ 858043 h 2126000"/>
                <a:gd name="connsiteX4" fmla="*/ 2778122 w 6864116"/>
                <a:gd name="connsiteY4" fmla="*/ 914779 h 2126000"/>
                <a:gd name="connsiteX5" fmla="*/ 3633245 w 6864116"/>
                <a:gd name="connsiteY5" fmla="*/ 959138 h 2126000"/>
                <a:gd name="connsiteX6" fmla="*/ 5072331 w 6864116"/>
                <a:gd name="connsiteY6" fmla="*/ 995966 h 2126000"/>
                <a:gd name="connsiteX7" fmla="*/ 6864116 w 6864116"/>
                <a:gd name="connsiteY7" fmla="*/ 0 h 2126000"/>
                <a:gd name="connsiteX0" fmla="*/ 0 w 6864116"/>
                <a:gd name="connsiteY0" fmla="*/ 2126000 h 2126000"/>
                <a:gd name="connsiteX1" fmla="*/ 300809 w 6864116"/>
                <a:gd name="connsiteY1" fmla="*/ 1594231 h 2126000"/>
                <a:gd name="connsiteX2" fmla="*/ 956905 w 6864116"/>
                <a:gd name="connsiteY2" fmla="*/ 1126763 h 2126000"/>
                <a:gd name="connsiteX3" fmla="*/ 2086774 w 6864116"/>
                <a:gd name="connsiteY3" fmla="*/ 858043 h 2126000"/>
                <a:gd name="connsiteX4" fmla="*/ 2765213 w 6864116"/>
                <a:gd name="connsiteY4" fmla="*/ 830120 h 2126000"/>
                <a:gd name="connsiteX5" fmla="*/ 3633245 w 6864116"/>
                <a:gd name="connsiteY5" fmla="*/ 959138 h 2126000"/>
                <a:gd name="connsiteX6" fmla="*/ 5072331 w 6864116"/>
                <a:gd name="connsiteY6" fmla="*/ 995966 h 2126000"/>
                <a:gd name="connsiteX7" fmla="*/ 6864116 w 6864116"/>
                <a:gd name="connsiteY7" fmla="*/ 0 h 2126000"/>
                <a:gd name="connsiteX0" fmla="*/ 0 w 6864116"/>
                <a:gd name="connsiteY0" fmla="*/ 2126000 h 2126000"/>
                <a:gd name="connsiteX1" fmla="*/ 300809 w 6864116"/>
                <a:gd name="connsiteY1" fmla="*/ 1594231 h 2126000"/>
                <a:gd name="connsiteX2" fmla="*/ 956905 w 6864116"/>
                <a:gd name="connsiteY2" fmla="*/ 1126763 h 2126000"/>
                <a:gd name="connsiteX3" fmla="*/ 1567587 w 6864116"/>
                <a:gd name="connsiteY3" fmla="*/ 958967 h 2126000"/>
                <a:gd name="connsiteX4" fmla="*/ 2086774 w 6864116"/>
                <a:gd name="connsiteY4" fmla="*/ 858043 h 2126000"/>
                <a:gd name="connsiteX5" fmla="*/ 2765213 w 6864116"/>
                <a:gd name="connsiteY5" fmla="*/ 830120 h 2126000"/>
                <a:gd name="connsiteX6" fmla="*/ 3633245 w 6864116"/>
                <a:gd name="connsiteY6" fmla="*/ 959138 h 2126000"/>
                <a:gd name="connsiteX7" fmla="*/ 5072331 w 6864116"/>
                <a:gd name="connsiteY7" fmla="*/ 995966 h 2126000"/>
                <a:gd name="connsiteX8" fmla="*/ 6864116 w 6864116"/>
                <a:gd name="connsiteY8" fmla="*/ 0 h 2126000"/>
                <a:gd name="connsiteX0" fmla="*/ 0 w 6864116"/>
                <a:gd name="connsiteY0" fmla="*/ 2126000 h 2126000"/>
                <a:gd name="connsiteX1" fmla="*/ 300809 w 6864116"/>
                <a:gd name="connsiteY1" fmla="*/ 1594231 h 2126000"/>
                <a:gd name="connsiteX2" fmla="*/ 956905 w 6864116"/>
                <a:gd name="connsiteY2" fmla="*/ 1126763 h 2126000"/>
                <a:gd name="connsiteX3" fmla="*/ 1584363 w 6864116"/>
                <a:gd name="connsiteY3" fmla="*/ 922056 h 2126000"/>
                <a:gd name="connsiteX4" fmla="*/ 2086774 w 6864116"/>
                <a:gd name="connsiteY4" fmla="*/ 858043 h 2126000"/>
                <a:gd name="connsiteX5" fmla="*/ 2765213 w 6864116"/>
                <a:gd name="connsiteY5" fmla="*/ 830120 h 2126000"/>
                <a:gd name="connsiteX6" fmla="*/ 3633245 w 6864116"/>
                <a:gd name="connsiteY6" fmla="*/ 959138 h 2126000"/>
                <a:gd name="connsiteX7" fmla="*/ 5072331 w 6864116"/>
                <a:gd name="connsiteY7" fmla="*/ 995966 h 2126000"/>
                <a:gd name="connsiteX8" fmla="*/ 6864116 w 6864116"/>
                <a:gd name="connsiteY8" fmla="*/ 0 h 2126000"/>
                <a:gd name="connsiteX0" fmla="*/ 0 w 6964770"/>
                <a:gd name="connsiteY0" fmla="*/ 2347463 h 2347463"/>
                <a:gd name="connsiteX1" fmla="*/ 300809 w 6964770"/>
                <a:gd name="connsiteY1" fmla="*/ 1815694 h 2347463"/>
                <a:gd name="connsiteX2" fmla="*/ 956905 w 6964770"/>
                <a:gd name="connsiteY2" fmla="*/ 1348226 h 2347463"/>
                <a:gd name="connsiteX3" fmla="*/ 1584363 w 6964770"/>
                <a:gd name="connsiteY3" fmla="*/ 1143519 h 2347463"/>
                <a:gd name="connsiteX4" fmla="*/ 2086774 w 6964770"/>
                <a:gd name="connsiteY4" fmla="*/ 1079506 h 2347463"/>
                <a:gd name="connsiteX5" fmla="*/ 2765213 w 6964770"/>
                <a:gd name="connsiteY5" fmla="*/ 1051583 h 2347463"/>
                <a:gd name="connsiteX6" fmla="*/ 3633245 w 6964770"/>
                <a:gd name="connsiteY6" fmla="*/ 1180601 h 2347463"/>
                <a:gd name="connsiteX7" fmla="*/ 5072331 w 6964770"/>
                <a:gd name="connsiteY7" fmla="*/ 1217429 h 2347463"/>
                <a:gd name="connsiteX8" fmla="*/ 6964770 w 6964770"/>
                <a:gd name="connsiteY8" fmla="*/ 0 h 2347463"/>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7477 w 7007034"/>
                <a:gd name="connsiteY5" fmla="*/ 1051583 h 2353918"/>
                <a:gd name="connsiteX6" fmla="*/ 3675509 w 7007034"/>
                <a:gd name="connsiteY6" fmla="*/ 1180601 h 2353918"/>
                <a:gd name="connsiteX7" fmla="*/ 5114595 w 7007034"/>
                <a:gd name="connsiteY7" fmla="*/ 1217429 h 2353918"/>
                <a:gd name="connsiteX8" fmla="*/ 7007034 w 7007034"/>
                <a:gd name="connsiteY8"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7477 w 7007034"/>
                <a:gd name="connsiteY5" fmla="*/ 1051583 h 2353918"/>
                <a:gd name="connsiteX6" fmla="*/ 3675509 w 7007034"/>
                <a:gd name="connsiteY6" fmla="*/ 1180601 h 2353918"/>
                <a:gd name="connsiteX7" fmla="*/ 5114595 w 7007034"/>
                <a:gd name="connsiteY7" fmla="*/ 1217429 h 2353918"/>
                <a:gd name="connsiteX8" fmla="*/ 6210613 w 7007034"/>
                <a:gd name="connsiteY8" fmla="*/ 783880 h 2353918"/>
                <a:gd name="connsiteX9" fmla="*/ 7007034 w 7007034"/>
                <a:gd name="connsiteY9"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7477 w 7007034"/>
                <a:gd name="connsiteY5" fmla="*/ 1051583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7007034 w 7007034"/>
                <a:gd name="connsiteY9"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7477 w 7007034"/>
                <a:gd name="connsiteY5" fmla="*/ 1051583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6688124 w 7007034"/>
                <a:gd name="connsiteY9" fmla="*/ 413682 h 2353918"/>
                <a:gd name="connsiteX10" fmla="*/ 7007034 w 7007034"/>
                <a:gd name="connsiteY10"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7477 w 7007034"/>
                <a:gd name="connsiteY5" fmla="*/ 1051583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6740438 w 7007034"/>
                <a:gd name="connsiteY9" fmla="*/ 434073 h 2353918"/>
                <a:gd name="connsiteX10" fmla="*/ 7007034 w 7007034"/>
                <a:gd name="connsiteY10"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2067 w 7007034"/>
                <a:gd name="connsiteY5" fmla="*/ 1074817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6740438 w 7007034"/>
                <a:gd name="connsiteY9" fmla="*/ 434073 h 2353918"/>
                <a:gd name="connsiteX10" fmla="*/ 7007034 w 7007034"/>
                <a:gd name="connsiteY10"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799747 w 7007034"/>
                <a:gd name="connsiteY5" fmla="*/ 1049779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6740438 w 7007034"/>
                <a:gd name="connsiteY9" fmla="*/ 434073 h 2353918"/>
                <a:gd name="connsiteX10" fmla="*/ 7007034 w 7007034"/>
                <a:gd name="connsiteY10"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6740438 w 7007034"/>
                <a:gd name="connsiteY9" fmla="*/ 434073 h 2353918"/>
                <a:gd name="connsiteX10" fmla="*/ 7007034 w 7007034"/>
                <a:gd name="connsiteY10"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3979424 w 7007034"/>
                <a:gd name="connsiteY7" fmla="*/ 1193391 h 2353918"/>
                <a:gd name="connsiteX8" fmla="*/ 5114595 w 7007034"/>
                <a:gd name="connsiteY8" fmla="*/ 1217429 h 2353918"/>
                <a:gd name="connsiteX9" fmla="*/ 6275300 w 7007034"/>
                <a:gd name="connsiteY9" fmla="*/ 856158 h 2353918"/>
                <a:gd name="connsiteX10" fmla="*/ 6740438 w 7007034"/>
                <a:gd name="connsiteY10" fmla="*/ 434073 h 2353918"/>
                <a:gd name="connsiteX11" fmla="*/ 7007034 w 7007034"/>
                <a:gd name="connsiteY11"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4089982 w 7007034"/>
                <a:gd name="connsiteY7" fmla="*/ 1243725 h 2353918"/>
                <a:gd name="connsiteX8" fmla="*/ 5114595 w 7007034"/>
                <a:gd name="connsiteY8" fmla="*/ 1217429 h 2353918"/>
                <a:gd name="connsiteX9" fmla="*/ 6275300 w 7007034"/>
                <a:gd name="connsiteY9" fmla="*/ 856158 h 2353918"/>
                <a:gd name="connsiteX10" fmla="*/ 6740438 w 7007034"/>
                <a:gd name="connsiteY10" fmla="*/ 434073 h 2353918"/>
                <a:gd name="connsiteX11" fmla="*/ 7007034 w 7007034"/>
                <a:gd name="connsiteY11"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4110855 w 7007034"/>
                <a:gd name="connsiteY7" fmla="*/ 1224106 h 2353918"/>
                <a:gd name="connsiteX8" fmla="*/ 5114595 w 7007034"/>
                <a:gd name="connsiteY8" fmla="*/ 1217429 h 2353918"/>
                <a:gd name="connsiteX9" fmla="*/ 6275300 w 7007034"/>
                <a:gd name="connsiteY9" fmla="*/ 856158 h 2353918"/>
                <a:gd name="connsiteX10" fmla="*/ 6740438 w 7007034"/>
                <a:gd name="connsiteY10" fmla="*/ 434073 h 2353918"/>
                <a:gd name="connsiteX11" fmla="*/ 7007034 w 7007034"/>
                <a:gd name="connsiteY11"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4110855 w 7007034"/>
                <a:gd name="connsiteY7" fmla="*/ 1224106 h 2353918"/>
                <a:gd name="connsiteX8" fmla="*/ 5114595 w 7007034"/>
                <a:gd name="connsiteY8" fmla="*/ 1217429 h 2353918"/>
                <a:gd name="connsiteX9" fmla="*/ 6275300 w 7007034"/>
                <a:gd name="connsiteY9" fmla="*/ 856158 h 2353918"/>
                <a:gd name="connsiteX10" fmla="*/ 6519081 w 7007034"/>
                <a:gd name="connsiteY10" fmla="*/ 684481 h 2353918"/>
                <a:gd name="connsiteX11" fmla="*/ 6740438 w 7007034"/>
                <a:gd name="connsiteY11" fmla="*/ 434073 h 2353918"/>
                <a:gd name="connsiteX12" fmla="*/ 7007034 w 7007034"/>
                <a:gd name="connsiteY12"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4110855 w 7007034"/>
                <a:gd name="connsiteY7" fmla="*/ 1224106 h 2353918"/>
                <a:gd name="connsiteX8" fmla="*/ 5114595 w 7007034"/>
                <a:gd name="connsiteY8" fmla="*/ 1217429 h 2353918"/>
                <a:gd name="connsiteX9" fmla="*/ 6275300 w 7007034"/>
                <a:gd name="connsiteY9" fmla="*/ 856158 h 2353918"/>
                <a:gd name="connsiteX10" fmla="*/ 6518564 w 7007034"/>
                <a:gd name="connsiteY10" fmla="*/ 651697 h 2353918"/>
                <a:gd name="connsiteX11" fmla="*/ 6740438 w 7007034"/>
                <a:gd name="connsiteY11" fmla="*/ 434073 h 2353918"/>
                <a:gd name="connsiteX12" fmla="*/ 7007034 w 7007034"/>
                <a:gd name="connsiteY12"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4110855 w 7007034"/>
                <a:gd name="connsiteY7" fmla="*/ 1224106 h 2353918"/>
                <a:gd name="connsiteX8" fmla="*/ 5114595 w 7007034"/>
                <a:gd name="connsiteY8" fmla="*/ 1217429 h 2353918"/>
                <a:gd name="connsiteX9" fmla="*/ 6275300 w 7007034"/>
                <a:gd name="connsiteY9" fmla="*/ 856158 h 2353918"/>
                <a:gd name="connsiteX10" fmla="*/ 6551810 w 7007034"/>
                <a:gd name="connsiteY10" fmla="*/ 683963 h 2353918"/>
                <a:gd name="connsiteX11" fmla="*/ 6740438 w 7007034"/>
                <a:gd name="connsiteY11" fmla="*/ 434073 h 2353918"/>
                <a:gd name="connsiteX12" fmla="*/ 7007034 w 7007034"/>
                <a:gd name="connsiteY12" fmla="*/ 0 h 2353918"/>
                <a:gd name="connsiteX0" fmla="*/ 0 w 6974305"/>
                <a:gd name="connsiteY0" fmla="*/ 2353401 h 2353401"/>
                <a:gd name="connsiteX1" fmla="*/ 343073 w 6974305"/>
                <a:gd name="connsiteY1" fmla="*/ 1815177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799747 w 6974305"/>
                <a:gd name="connsiteY5" fmla="*/ 1049262 h 2353401"/>
                <a:gd name="connsiteX6" fmla="*/ 3675509 w 6974305"/>
                <a:gd name="connsiteY6" fmla="*/ 1180084 h 2353401"/>
                <a:gd name="connsiteX7" fmla="*/ 4110855 w 6974305"/>
                <a:gd name="connsiteY7" fmla="*/ 1223589 h 2353401"/>
                <a:gd name="connsiteX8" fmla="*/ 5114595 w 6974305"/>
                <a:gd name="connsiteY8" fmla="*/ 1216912 h 2353401"/>
                <a:gd name="connsiteX9" fmla="*/ 6275300 w 6974305"/>
                <a:gd name="connsiteY9" fmla="*/ 855641 h 2353401"/>
                <a:gd name="connsiteX10" fmla="*/ 6551810 w 6974305"/>
                <a:gd name="connsiteY10" fmla="*/ 683446 h 2353401"/>
                <a:gd name="connsiteX11" fmla="*/ 6740438 w 6974305"/>
                <a:gd name="connsiteY11" fmla="*/ 433556 h 2353401"/>
                <a:gd name="connsiteX12" fmla="*/ 6974305 w 6974305"/>
                <a:gd name="connsiteY12" fmla="*/ 0 h 2353401"/>
                <a:gd name="connsiteX0" fmla="*/ 0 w 6974305"/>
                <a:gd name="connsiteY0" fmla="*/ 2353401 h 2353401"/>
                <a:gd name="connsiteX1" fmla="*/ 343073 w 6974305"/>
                <a:gd name="connsiteY1" fmla="*/ 1815177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803871 w 6974305"/>
                <a:gd name="connsiteY5" fmla="*/ 1066557 h 2353401"/>
                <a:gd name="connsiteX6" fmla="*/ 3675509 w 6974305"/>
                <a:gd name="connsiteY6" fmla="*/ 1180084 h 2353401"/>
                <a:gd name="connsiteX7" fmla="*/ 4110855 w 6974305"/>
                <a:gd name="connsiteY7" fmla="*/ 1223589 h 2353401"/>
                <a:gd name="connsiteX8" fmla="*/ 5114595 w 6974305"/>
                <a:gd name="connsiteY8" fmla="*/ 1216912 h 2353401"/>
                <a:gd name="connsiteX9" fmla="*/ 6275300 w 6974305"/>
                <a:gd name="connsiteY9" fmla="*/ 855641 h 2353401"/>
                <a:gd name="connsiteX10" fmla="*/ 6551810 w 6974305"/>
                <a:gd name="connsiteY10" fmla="*/ 683446 h 2353401"/>
                <a:gd name="connsiteX11" fmla="*/ 6740438 w 6974305"/>
                <a:gd name="connsiteY11" fmla="*/ 433556 h 2353401"/>
                <a:gd name="connsiteX12" fmla="*/ 6974305 w 6974305"/>
                <a:gd name="connsiteY12" fmla="*/ 0 h 2353401"/>
                <a:gd name="connsiteX0" fmla="*/ 0 w 6974305"/>
                <a:gd name="connsiteY0" fmla="*/ 2353401 h 2353401"/>
                <a:gd name="connsiteX1" fmla="*/ 343073 w 6974305"/>
                <a:gd name="connsiteY1" fmla="*/ 1815177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6330 w 6974305"/>
                <a:gd name="connsiteY5" fmla="*/ 1050441 h 2353401"/>
                <a:gd name="connsiteX6" fmla="*/ 2803871 w 6974305"/>
                <a:gd name="connsiteY6" fmla="*/ 1066557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75300 w 6974305"/>
                <a:gd name="connsiteY10" fmla="*/ 855641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43073 w 6974305"/>
                <a:gd name="connsiteY1" fmla="*/ 1815177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03871 w 6974305"/>
                <a:gd name="connsiteY6" fmla="*/ 1066557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75300 w 6974305"/>
                <a:gd name="connsiteY10" fmla="*/ 855641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43073 w 6974305"/>
                <a:gd name="connsiteY1" fmla="*/ 1815177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32474 w 6974305"/>
                <a:gd name="connsiteY6" fmla="*/ 1048744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75300 w 6974305"/>
                <a:gd name="connsiteY10" fmla="*/ 855641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32474 w 6974305"/>
                <a:gd name="connsiteY6" fmla="*/ 1048744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75300 w 6974305"/>
                <a:gd name="connsiteY10" fmla="*/ 855641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75300 w 6974305"/>
                <a:gd name="connsiteY10" fmla="*/ 855641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66281 w 6974305"/>
                <a:gd name="connsiteY10" fmla="*/ 894363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15000 w 6974305"/>
                <a:gd name="connsiteY10" fmla="*/ 939539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924 w 6974305"/>
                <a:gd name="connsiteY10" fmla="*/ 946766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63631 w 6974305"/>
                <a:gd name="connsiteY12" fmla="*/ 438975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63631 w 6974305"/>
                <a:gd name="connsiteY12" fmla="*/ 438975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63631 w 6974305"/>
                <a:gd name="connsiteY12" fmla="*/ 438975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63631 w 6974305"/>
                <a:gd name="connsiteY12" fmla="*/ 438975 h 2353401"/>
                <a:gd name="connsiteX13" fmla="*/ 6974305 w 6974305"/>
                <a:gd name="connsiteY13" fmla="*/ 0 h 2353401"/>
                <a:gd name="connsiteX0" fmla="*/ 0 w 6983586"/>
                <a:gd name="connsiteY0" fmla="*/ 2253241 h 2253241"/>
                <a:gd name="connsiteX1" fmla="*/ 364464 w 6983586"/>
                <a:gd name="connsiteY1" fmla="*/ 1728180 h 2253241"/>
                <a:gd name="connsiteX2" fmla="*/ 999169 w 6983586"/>
                <a:gd name="connsiteY2" fmla="*/ 1247549 h 2253241"/>
                <a:gd name="connsiteX3" fmla="*/ 1626627 w 6983586"/>
                <a:gd name="connsiteY3" fmla="*/ 1042842 h 2253241"/>
                <a:gd name="connsiteX4" fmla="*/ 2134448 w 6983586"/>
                <a:gd name="connsiteY4" fmla="*/ 955595 h 2253241"/>
                <a:gd name="connsiteX5" fmla="*/ 2492206 w 6983586"/>
                <a:gd name="connsiteY5" fmla="*/ 932984 h 2253241"/>
                <a:gd name="connsiteX6" fmla="*/ 2846133 w 6983586"/>
                <a:gd name="connsiteY6" fmla="*/ 959941 h 2253241"/>
                <a:gd name="connsiteX7" fmla="*/ 3675509 w 6983586"/>
                <a:gd name="connsiteY7" fmla="*/ 1079924 h 2253241"/>
                <a:gd name="connsiteX8" fmla="*/ 4110855 w 6983586"/>
                <a:gd name="connsiteY8" fmla="*/ 1123429 h 2253241"/>
                <a:gd name="connsiteX9" fmla="*/ 5114595 w 6983586"/>
                <a:gd name="connsiteY9" fmla="*/ 1116752 h 2253241"/>
                <a:gd name="connsiteX10" fmla="*/ 6245408 w 6983586"/>
                <a:gd name="connsiteY10" fmla="*/ 813822 h 2253241"/>
                <a:gd name="connsiteX11" fmla="*/ 6551810 w 6983586"/>
                <a:gd name="connsiteY11" fmla="*/ 583286 h 2253241"/>
                <a:gd name="connsiteX12" fmla="*/ 6763631 w 6983586"/>
                <a:gd name="connsiteY12" fmla="*/ 338815 h 2253241"/>
                <a:gd name="connsiteX13" fmla="*/ 6983586 w 6983586"/>
                <a:gd name="connsiteY13" fmla="*/ 0 h 2253241"/>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1810 w 6944414"/>
                <a:gd name="connsiteY11" fmla="*/ 625103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763631 w 6944414"/>
                <a:gd name="connsiteY11" fmla="*/ 380632 h 2295058"/>
                <a:gd name="connsiteX12" fmla="*/ 6944414 w 6944414"/>
                <a:gd name="connsiteY12"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944414 w 6944414"/>
                <a:gd name="connsiteY11"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670026 w 6944414"/>
                <a:gd name="connsiteY11" fmla="*/ 392668 h 2295058"/>
                <a:gd name="connsiteX12" fmla="*/ 6944414 w 6944414"/>
                <a:gd name="connsiteY12"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690402 w 6944414"/>
                <a:gd name="connsiteY11" fmla="*/ 416993 h 2295058"/>
                <a:gd name="connsiteX12" fmla="*/ 6944414 w 6944414"/>
                <a:gd name="connsiteY12"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708925 w 6944414"/>
                <a:gd name="connsiteY11" fmla="*/ 421320 h 2295058"/>
                <a:gd name="connsiteX12" fmla="*/ 6944414 w 6944414"/>
                <a:gd name="connsiteY12" fmla="*/ 0 h 2295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44414" h="2295058">
                  <a:moveTo>
                    <a:pt x="0" y="2295058"/>
                  </a:moveTo>
                  <a:cubicBezTo>
                    <a:pt x="61019" y="2223938"/>
                    <a:pt x="204980" y="1936537"/>
                    <a:pt x="364464" y="1769997"/>
                  </a:cubicBezTo>
                  <a:cubicBezTo>
                    <a:pt x="523948" y="1603458"/>
                    <a:pt x="788039" y="1395243"/>
                    <a:pt x="999169" y="1289366"/>
                  </a:cubicBezTo>
                  <a:cubicBezTo>
                    <a:pt x="1210299" y="1183489"/>
                    <a:pt x="1438316" y="1129446"/>
                    <a:pt x="1626627" y="1084659"/>
                  </a:cubicBezTo>
                  <a:cubicBezTo>
                    <a:pt x="1814938" y="1039872"/>
                    <a:pt x="1990185" y="1015722"/>
                    <a:pt x="2134448" y="997412"/>
                  </a:cubicBezTo>
                  <a:cubicBezTo>
                    <a:pt x="2278711" y="979102"/>
                    <a:pt x="2380636" y="973001"/>
                    <a:pt x="2492206" y="974801"/>
                  </a:cubicBezTo>
                  <a:cubicBezTo>
                    <a:pt x="2603776" y="976601"/>
                    <a:pt x="2649603" y="980151"/>
                    <a:pt x="2846133" y="1001758"/>
                  </a:cubicBezTo>
                  <a:lnTo>
                    <a:pt x="3675509" y="1121741"/>
                  </a:lnTo>
                  <a:cubicBezTo>
                    <a:pt x="3872122" y="1145676"/>
                    <a:pt x="3871007" y="1159108"/>
                    <a:pt x="4110855" y="1165246"/>
                  </a:cubicBezTo>
                  <a:cubicBezTo>
                    <a:pt x="4350703" y="1171384"/>
                    <a:pt x="4731949" y="1214774"/>
                    <a:pt x="5114595" y="1158569"/>
                  </a:cubicBezTo>
                  <a:cubicBezTo>
                    <a:pt x="5537112" y="1092449"/>
                    <a:pt x="5853207" y="1073260"/>
                    <a:pt x="6245408" y="855639"/>
                  </a:cubicBezTo>
                  <a:cubicBezTo>
                    <a:pt x="6504647" y="727989"/>
                    <a:pt x="6592424" y="563926"/>
                    <a:pt x="6708925" y="421320"/>
                  </a:cubicBezTo>
                  <a:cubicBezTo>
                    <a:pt x="6825426" y="278714"/>
                    <a:pt x="6898683" y="65445"/>
                    <a:pt x="6944414" y="0"/>
                  </a:cubicBezTo>
                </a:path>
              </a:pathLst>
            </a:cu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b="1" dirty="0"/>
            </a:p>
          </p:txBody>
        </p:sp>
        <p:cxnSp>
          <p:nvCxnSpPr>
            <p:cNvPr id="6" name="直接箭头连接符 5">
              <a:extLst>
                <a:ext uri="{FF2B5EF4-FFF2-40B4-BE49-F238E27FC236}">
                  <a16:creationId xmlns:a16="http://schemas.microsoft.com/office/drawing/2014/main" id="{FC91C0DA-8AE5-2189-B4C2-CD3C27E3BB7F}"/>
                </a:ext>
              </a:extLst>
            </p:cNvPr>
            <p:cNvCxnSpPr>
              <a:cxnSpLocks/>
            </p:cNvCxnSpPr>
            <p:nvPr/>
          </p:nvCxnSpPr>
          <p:spPr>
            <a:xfrm>
              <a:off x="2524125" y="3914775"/>
              <a:ext cx="48387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5EFF4A32-A313-B599-C04B-45E5B6F2EAFE}"/>
                </a:ext>
              </a:extLst>
            </p:cNvPr>
            <p:cNvCxnSpPr>
              <a:cxnSpLocks/>
            </p:cNvCxnSpPr>
            <p:nvPr/>
          </p:nvCxnSpPr>
          <p:spPr>
            <a:xfrm flipV="1">
              <a:off x="2519363" y="1614488"/>
              <a:ext cx="4762" cy="230028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691873F5-B73E-BF17-43D2-3586649EBAEB}"/>
                </a:ext>
              </a:extLst>
            </p:cNvPr>
            <p:cNvCxnSpPr/>
            <p:nvPr/>
          </p:nvCxnSpPr>
          <p:spPr>
            <a:xfrm>
              <a:off x="2524125" y="2806700"/>
              <a:ext cx="4672013"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 name="文本框 14">
              <a:extLst>
                <a:ext uri="{FF2B5EF4-FFF2-40B4-BE49-F238E27FC236}">
                  <a16:creationId xmlns:a16="http://schemas.microsoft.com/office/drawing/2014/main" id="{B612991C-29CA-6178-4744-6FF1C95EA64D}"/>
                </a:ext>
              </a:extLst>
            </p:cNvPr>
            <p:cNvSpPr txBox="1">
              <a:spLocks noChangeArrowheads="1"/>
            </p:cNvSpPr>
            <p:nvPr/>
          </p:nvSpPr>
          <p:spPr bwMode="auto">
            <a:xfrm>
              <a:off x="1847871" y="1443038"/>
              <a:ext cx="720070" cy="376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600" b="1" dirty="0" err="1">
                  <a:latin typeface="Times New Roman" panose="02020603050405020304" pitchFamily="18" charset="0"/>
                  <a:cs typeface="Times New Roman" panose="02020603050405020304" pitchFamily="18" charset="0"/>
                </a:rPr>
                <a:t>cwnd</a:t>
              </a:r>
              <a:endParaRPr lang="zh-CN" altLang="en-US" sz="1600" b="1" dirty="0">
                <a:latin typeface="Times New Roman" panose="02020603050405020304" pitchFamily="18" charset="0"/>
                <a:cs typeface="Times New Roman" panose="02020603050405020304" pitchFamily="18" charset="0"/>
              </a:endParaRPr>
            </a:p>
          </p:txBody>
        </p:sp>
        <p:sp>
          <p:nvSpPr>
            <p:cNvPr id="10" name="文本框 17">
              <a:extLst>
                <a:ext uri="{FF2B5EF4-FFF2-40B4-BE49-F238E27FC236}">
                  <a16:creationId xmlns:a16="http://schemas.microsoft.com/office/drawing/2014/main" id="{FBC48A3B-78A9-AF9C-53B3-6102F9A81B06}"/>
                </a:ext>
              </a:extLst>
            </p:cNvPr>
            <p:cNvSpPr txBox="1">
              <a:spLocks noChangeArrowheads="1"/>
            </p:cNvSpPr>
            <p:nvPr/>
          </p:nvSpPr>
          <p:spPr bwMode="auto">
            <a:xfrm>
              <a:off x="6042833" y="3247147"/>
              <a:ext cx="1804960" cy="650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从</a:t>
              </a:r>
              <a:r>
                <a:rPr lang="zh-CN" altLang="zh-CN" sz="1600" b="1" dirty="0">
                  <a:latin typeface="微软雅黑" panose="020B0503020204020204" pitchFamily="34" charset="-122"/>
                  <a:ea typeface="微软雅黑" panose="020B0503020204020204" pitchFamily="34" charset="-122"/>
                  <a:cs typeface="Times New Roman" panose="02020603050405020304" pitchFamily="18" charset="0"/>
                </a:rPr>
                <a:t>上次发生拥塞</a:t>
              </a:r>
              <a:endParaRPr lang="en-US" altLang="zh-CN" sz="1600" b="1" dirty="0">
                <a:latin typeface="微软雅黑" panose="020B0503020204020204" pitchFamily="34" charset="-122"/>
                <a:ea typeface="微软雅黑" panose="020B0503020204020204" pitchFamily="34" charset="-122"/>
                <a:cs typeface="Times New Roman" panose="02020603050405020304" pitchFamily="18" charset="0"/>
              </a:endParaRPr>
            </a:p>
            <a:p>
              <a:pPr algn="ctr" eaLnBrk="1" hangingPunct="1"/>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算起</a:t>
              </a:r>
              <a:r>
                <a:rPr lang="zh-CN" altLang="zh-CN" sz="1600" b="1" dirty="0">
                  <a:latin typeface="微软雅黑" panose="020B0503020204020204" pitchFamily="34" charset="-122"/>
                  <a:ea typeface="微软雅黑" panose="020B0503020204020204" pitchFamily="34" charset="-122"/>
                  <a:cs typeface="Times New Roman" panose="02020603050405020304" pitchFamily="18" charset="0"/>
                </a:rPr>
                <a:t>的</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时间 </a:t>
              </a: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t</a:t>
              </a:r>
              <a:endParaRPr lang="zh-CN" altLang="en-US" sz="1600" b="1" i="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文本框 18">
              <a:extLst>
                <a:ext uri="{FF2B5EF4-FFF2-40B4-BE49-F238E27FC236}">
                  <a16:creationId xmlns:a16="http://schemas.microsoft.com/office/drawing/2014/main" id="{364940AE-3EF4-67FB-27DA-3FDFA202F0AB}"/>
                </a:ext>
              </a:extLst>
            </p:cNvPr>
            <p:cNvSpPr txBox="1">
              <a:spLocks noChangeArrowheads="1"/>
            </p:cNvSpPr>
            <p:nvPr/>
          </p:nvSpPr>
          <p:spPr bwMode="auto">
            <a:xfrm>
              <a:off x="1879633" y="2605088"/>
              <a:ext cx="709433" cy="376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600" b="1" dirty="0" err="1">
                  <a:latin typeface="Times New Roman" panose="02020603050405020304" pitchFamily="18" charset="0"/>
                  <a:cs typeface="Times New Roman" panose="02020603050405020304" pitchFamily="18" charset="0"/>
                </a:rPr>
                <a:t>W</a:t>
              </a:r>
              <a:r>
                <a:rPr lang="en-US" altLang="zh-CN" sz="1600" b="1" baseline="-25000" dirty="0" err="1">
                  <a:latin typeface="Times New Roman" panose="02020603050405020304" pitchFamily="18" charset="0"/>
                  <a:cs typeface="Times New Roman" panose="02020603050405020304" pitchFamily="18" charset="0"/>
                </a:rPr>
                <a:t>max</a:t>
              </a:r>
              <a:endParaRPr lang="zh-CN" altLang="en-US" sz="1600" b="1" dirty="0">
                <a:latin typeface="Times New Roman" panose="02020603050405020304" pitchFamily="18" charset="0"/>
                <a:cs typeface="Times New Roman" panose="02020603050405020304" pitchFamily="18" charset="0"/>
              </a:endParaRPr>
            </a:p>
          </p:txBody>
        </p:sp>
        <p:sp>
          <p:nvSpPr>
            <p:cNvPr id="12" name="文本框 19">
              <a:extLst>
                <a:ext uri="{FF2B5EF4-FFF2-40B4-BE49-F238E27FC236}">
                  <a16:creationId xmlns:a16="http://schemas.microsoft.com/office/drawing/2014/main" id="{2DBBFABF-D043-894D-67AB-6B898B0B731B}"/>
                </a:ext>
              </a:extLst>
            </p:cNvPr>
            <p:cNvSpPr txBox="1">
              <a:spLocks noChangeArrowheads="1"/>
            </p:cNvSpPr>
            <p:nvPr/>
          </p:nvSpPr>
          <p:spPr bwMode="auto">
            <a:xfrm>
              <a:off x="2271713" y="3798888"/>
              <a:ext cx="317667" cy="376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600" b="1">
                  <a:latin typeface="Times New Roman" panose="02020603050405020304" pitchFamily="18" charset="0"/>
                  <a:cs typeface="Times New Roman" panose="02020603050405020304" pitchFamily="18" charset="0"/>
                </a:rPr>
                <a:t>0</a:t>
              </a:r>
              <a:endParaRPr lang="zh-CN" altLang="en-US" sz="1600" b="1">
                <a:latin typeface="Times New Roman" panose="02020603050405020304" pitchFamily="18" charset="0"/>
                <a:cs typeface="Times New Roman" panose="02020603050405020304" pitchFamily="18" charset="0"/>
              </a:endParaRPr>
            </a:p>
          </p:txBody>
        </p:sp>
      </p:grpSp>
      <p:sp>
        <p:nvSpPr>
          <p:cNvPr id="16" name="文本框 15">
            <a:extLst>
              <a:ext uri="{FF2B5EF4-FFF2-40B4-BE49-F238E27FC236}">
                <a16:creationId xmlns:a16="http://schemas.microsoft.com/office/drawing/2014/main" id="{1AF41A0B-992A-DDB8-03A9-72F0CF1320F1}"/>
              </a:ext>
            </a:extLst>
          </p:cNvPr>
          <p:cNvSpPr txBox="1"/>
          <p:nvPr/>
        </p:nvSpPr>
        <p:spPr>
          <a:xfrm>
            <a:off x="3027305" y="2359832"/>
            <a:ext cx="4081960" cy="338554"/>
          </a:xfrm>
          <a:prstGeom prst="rect">
            <a:avLst/>
          </a:prstGeom>
          <a:noFill/>
        </p:spPr>
        <p:txBody>
          <a:bodyPr wrap="square">
            <a:spAutoFit/>
          </a:bodyPr>
          <a:lstStyle/>
          <a:p>
            <a:r>
              <a:rPr lang="en-US" altLang="zh-CN" sz="1600" b="1" dirty="0">
                <a:solidFill>
                  <a:srgbClr val="C00000"/>
                </a:solidFill>
                <a:latin typeface="微软雅黑" pitchFamily="34" charset="-122"/>
                <a:ea typeface="微软雅黑" pitchFamily="34" charset="-122"/>
              </a:rPr>
              <a:t>CUBIC</a:t>
            </a:r>
            <a:r>
              <a:rPr lang="zh-CN" altLang="en-US" sz="1600" b="1" dirty="0">
                <a:solidFill>
                  <a:srgbClr val="C00000"/>
                </a:solidFill>
                <a:latin typeface="微软雅黑" pitchFamily="34" charset="-122"/>
                <a:ea typeface="微软雅黑" pitchFamily="34" charset="-122"/>
              </a:rPr>
              <a:t>拥塞窗口</a:t>
            </a:r>
            <a:r>
              <a:rPr lang="en-US" altLang="zh-CN" sz="1600" b="1" dirty="0" err="1">
                <a:solidFill>
                  <a:srgbClr val="C00000"/>
                </a:solidFill>
                <a:latin typeface="微软雅黑" pitchFamily="34" charset="-122"/>
                <a:ea typeface="微软雅黑" pitchFamily="34" charset="-122"/>
              </a:rPr>
              <a:t>cwnd</a:t>
            </a:r>
            <a:r>
              <a:rPr lang="zh-CN" altLang="en-US" sz="1600" b="1" dirty="0">
                <a:solidFill>
                  <a:srgbClr val="C00000"/>
                </a:solidFill>
                <a:latin typeface="微软雅黑" pitchFamily="34" charset="-122"/>
                <a:ea typeface="微软雅黑" pitchFamily="34" charset="-122"/>
              </a:rPr>
              <a:t>随时间的变化曲线</a:t>
            </a:r>
          </a:p>
        </p:txBody>
      </p:sp>
      <p:sp>
        <p:nvSpPr>
          <p:cNvPr id="20" name="文本框 19">
            <a:extLst>
              <a:ext uri="{FF2B5EF4-FFF2-40B4-BE49-F238E27FC236}">
                <a16:creationId xmlns:a16="http://schemas.microsoft.com/office/drawing/2014/main" id="{E37DF485-B7F4-A9A4-EB89-3AF36406C3A7}"/>
              </a:ext>
            </a:extLst>
          </p:cNvPr>
          <p:cNvSpPr txBox="1"/>
          <p:nvPr/>
        </p:nvSpPr>
        <p:spPr>
          <a:xfrm>
            <a:off x="1213893" y="3252660"/>
            <a:ext cx="1272626" cy="523220"/>
          </a:xfrm>
          <a:prstGeom prst="rect">
            <a:avLst/>
          </a:prstGeom>
          <a:noFill/>
        </p:spPr>
        <p:txBody>
          <a:bodyPr wrap="square">
            <a:spAutoFit/>
          </a:bodyPr>
          <a:lstStyle/>
          <a:p>
            <a:r>
              <a:rPr kumimoji="0" lang="zh-CN" altLang="en-US" sz="1400" b="1" i="0" u="none" strike="noStrike" kern="1200" cap="none" spc="0" normalizeH="0" baseline="0" noProof="0" dirty="0">
                <a:ln>
                  <a:noFill/>
                </a:ln>
                <a:solidFill>
                  <a:srgbClr val="0000FF"/>
                </a:solidFill>
                <a:effectLst/>
                <a:uLnTx/>
                <a:uFillTx/>
                <a:latin typeface="微软雅黑" pitchFamily="34" charset="-122"/>
                <a:ea typeface="微软雅黑" pitchFamily="34" charset="-122"/>
                <a:cs typeface="+mn-cs"/>
              </a:rPr>
              <a:t>上次发生拥塞时拥塞窗口值</a:t>
            </a:r>
            <a:endParaRPr lang="zh-CN" altLang="en-US" sz="1400" dirty="0">
              <a:solidFill>
                <a:srgbClr val="0000FF"/>
              </a:solidFill>
            </a:endParaRPr>
          </a:p>
        </p:txBody>
      </p:sp>
    </p:spTree>
    <p:extLst>
      <p:ext uri="{BB962C8B-B14F-4D97-AF65-F5344CB8AC3E}">
        <p14:creationId xmlns:p14="http://schemas.microsoft.com/office/powerpoint/2010/main" val="205966791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C8988-8CAE-8F27-C38D-C3B4B1302ADC}"/>
            </a:ext>
          </a:extLst>
        </p:cNvPr>
        <p:cNvGrpSpPr/>
        <p:nvPr/>
      </p:nvGrpSpPr>
      <p:grpSpPr>
        <a:xfrm>
          <a:off x="0" y="0"/>
          <a:ext cx="0" cy="0"/>
          <a:chOff x="0" y="0"/>
          <a:chExt cx="0" cy="0"/>
        </a:xfrm>
      </p:grpSpPr>
      <p:sp>
        <p:nvSpPr>
          <p:cNvPr id="14" name="圆角矩形 37">
            <a:extLst>
              <a:ext uri="{FF2B5EF4-FFF2-40B4-BE49-F238E27FC236}">
                <a16:creationId xmlns:a16="http://schemas.microsoft.com/office/drawing/2014/main" id="{D2732FCC-3C9F-3AC5-39C7-C95A0ADA85DA}"/>
              </a:ext>
            </a:extLst>
          </p:cNvPr>
          <p:cNvSpPr/>
          <p:nvPr/>
        </p:nvSpPr>
        <p:spPr>
          <a:xfrm>
            <a:off x="1213893" y="2330964"/>
            <a:ext cx="6809061" cy="239936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AutoShape 5">
            <a:extLst>
              <a:ext uri="{FF2B5EF4-FFF2-40B4-BE49-F238E27FC236}">
                <a16:creationId xmlns:a16="http://schemas.microsoft.com/office/drawing/2014/main" id="{D6E7651E-4CA1-2271-4B0F-CF948998BCC1}"/>
              </a:ext>
            </a:extLst>
          </p:cNvPr>
          <p:cNvSpPr>
            <a:spLocks noChangeArrowheads="1"/>
          </p:cNvSpPr>
          <p:nvPr/>
        </p:nvSpPr>
        <p:spPr bwMode="auto">
          <a:xfrm>
            <a:off x="545143" y="625919"/>
            <a:ext cx="8053711" cy="357839"/>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a:extLst>
              <a:ext uri="{FF2B5EF4-FFF2-40B4-BE49-F238E27FC236}">
                <a16:creationId xmlns:a16="http://schemas.microsoft.com/office/drawing/2014/main" id="{67EE1E2E-DB66-2EEE-DC13-FF51B80377ED}"/>
              </a:ext>
            </a:extLst>
          </p:cNvPr>
          <p:cNvSpPr>
            <a:spLocks noChangeArrowheads="1"/>
          </p:cNvSpPr>
          <p:nvPr/>
        </p:nvSpPr>
        <p:spPr bwMode="auto">
          <a:xfrm>
            <a:off x="3637487" y="599146"/>
            <a:ext cx="18690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1. TCP CUBIC</a:t>
            </a:r>
            <a:endParaRPr lang="zh-CN" altLang="en-US" sz="2000" b="1" dirty="0">
              <a:solidFill>
                <a:schemeClr val="bg1"/>
              </a:solidFill>
              <a:latin typeface="微软雅黑" pitchFamily="34" charset="-122"/>
              <a:ea typeface="微软雅黑" pitchFamily="34" charset="-122"/>
            </a:endParaRPr>
          </a:p>
        </p:txBody>
      </p:sp>
      <p:sp>
        <p:nvSpPr>
          <p:cNvPr id="4" name="Rectangle 8">
            <a:extLst>
              <a:ext uri="{FF2B5EF4-FFF2-40B4-BE49-F238E27FC236}">
                <a16:creationId xmlns:a16="http://schemas.microsoft.com/office/drawing/2014/main" id="{BEBBBA1B-F716-A3EC-3F19-BE54C13FAF88}"/>
              </a:ext>
            </a:extLst>
          </p:cNvPr>
          <p:cNvSpPr>
            <a:spLocks noChangeArrowheads="1"/>
          </p:cNvSpPr>
          <p:nvPr/>
        </p:nvSpPr>
        <p:spPr bwMode="auto">
          <a:xfrm>
            <a:off x="545143" y="1029517"/>
            <a:ext cx="8053711" cy="993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400"/>
              </a:lnSpc>
              <a:buClr>
                <a:srgbClr val="0070C0"/>
              </a:buClr>
              <a:buFont typeface="Wingdings" pitchFamily="2" charset="2"/>
              <a:buChar char="l"/>
            </a:pPr>
            <a:r>
              <a:rPr lang="zh-CN" altLang="en-US" b="1" dirty="0">
                <a:latin typeface="微软雅黑" pitchFamily="34" charset="-122"/>
                <a:ea typeface="微软雅黑" pitchFamily="34" charset="-122"/>
              </a:rPr>
              <a:t>其次是</a:t>
            </a:r>
            <a:r>
              <a:rPr lang="zh-CN" altLang="en-US" b="1" dirty="0">
                <a:solidFill>
                  <a:srgbClr val="0000FF"/>
                </a:solidFill>
                <a:latin typeface="微软雅黑" pitchFamily="34" charset="-122"/>
                <a:ea typeface="微软雅黑" pitchFamily="34" charset="-122"/>
              </a:rPr>
              <a:t>平坦期</a:t>
            </a:r>
            <a:r>
              <a:rPr lang="zh-CN" altLang="en-US" b="1" dirty="0">
                <a:latin typeface="微软雅黑" pitchFamily="34" charset="-122"/>
                <a:ea typeface="微软雅黑" pitchFamily="34" charset="-122"/>
              </a:rPr>
              <a:t>。当</a:t>
            </a:r>
            <a:r>
              <a:rPr lang="en-US" altLang="zh-CN" b="1" dirty="0" err="1">
                <a:latin typeface="微软雅黑" pitchFamily="34" charset="-122"/>
                <a:ea typeface="微软雅黑" pitchFamily="34" charset="-122"/>
              </a:rPr>
              <a:t>cwnd</a:t>
            </a:r>
            <a:r>
              <a:rPr lang="zh-CN" altLang="en-US" b="1" dirty="0">
                <a:latin typeface="微软雅黑" pitchFamily="34" charset="-122"/>
                <a:ea typeface="微软雅黑" pitchFamily="34" charset="-122"/>
              </a:rPr>
              <a:t>接近或达到历史拥塞窗口的峰值时，</a:t>
            </a:r>
            <a:r>
              <a:rPr lang="en-US" altLang="zh-CN" b="1" dirty="0" err="1">
                <a:latin typeface="微软雅黑" pitchFamily="34" charset="-122"/>
                <a:ea typeface="微软雅黑" pitchFamily="34" charset="-122"/>
              </a:rPr>
              <a:t>cwnd</a:t>
            </a:r>
            <a:r>
              <a:rPr lang="zh-CN" altLang="en-US" b="1" dirty="0">
                <a:latin typeface="微软雅黑" pitchFamily="34" charset="-122"/>
                <a:ea typeface="微软雅黑" pitchFamily="34" charset="-122"/>
              </a:rPr>
              <a:t>的增长变得缓慢。这是为了准确评估当前网络的稳定性，避免因过快增长导致拥塞，有助于维持网络稳定性。</a:t>
            </a:r>
          </a:p>
        </p:txBody>
      </p:sp>
      <p:grpSp>
        <p:nvGrpSpPr>
          <p:cNvPr id="13" name="组合 12">
            <a:extLst>
              <a:ext uri="{FF2B5EF4-FFF2-40B4-BE49-F238E27FC236}">
                <a16:creationId xmlns:a16="http://schemas.microsoft.com/office/drawing/2014/main" id="{5CD6E480-44BB-4FFD-ADB6-264DDFB55B52}"/>
              </a:ext>
            </a:extLst>
          </p:cNvPr>
          <p:cNvGrpSpPr/>
          <p:nvPr/>
        </p:nvGrpSpPr>
        <p:grpSpPr>
          <a:xfrm>
            <a:off x="2293103" y="2314380"/>
            <a:ext cx="5425572" cy="2455862"/>
            <a:chOff x="1847871" y="1443038"/>
            <a:chExt cx="5999922" cy="2732547"/>
          </a:xfrm>
        </p:grpSpPr>
        <p:sp>
          <p:nvSpPr>
            <p:cNvPr id="5" name="任意多边形: 形状 4">
              <a:extLst>
                <a:ext uri="{FF2B5EF4-FFF2-40B4-BE49-F238E27FC236}">
                  <a16:creationId xmlns:a16="http://schemas.microsoft.com/office/drawing/2014/main" id="{CA74B492-7777-1A7F-5A6B-1CE52AFEE9E6}"/>
                </a:ext>
              </a:extLst>
            </p:cNvPr>
            <p:cNvSpPr/>
            <p:nvPr/>
          </p:nvSpPr>
          <p:spPr>
            <a:xfrm rot="20972334">
              <a:off x="2354263" y="2197100"/>
              <a:ext cx="4708525" cy="1304925"/>
            </a:xfrm>
            <a:custGeom>
              <a:avLst/>
              <a:gdLst>
                <a:gd name="connsiteX0" fmla="*/ 0 w 7281334"/>
                <a:gd name="connsiteY0" fmla="*/ 2088444 h 2088444"/>
                <a:gd name="connsiteX1" fmla="*/ 2348089 w 7281334"/>
                <a:gd name="connsiteY1" fmla="*/ 756355 h 2088444"/>
                <a:gd name="connsiteX2" fmla="*/ 5305778 w 7281334"/>
                <a:gd name="connsiteY2" fmla="*/ 1083733 h 2088444"/>
                <a:gd name="connsiteX3" fmla="*/ 7281334 w 7281334"/>
                <a:gd name="connsiteY3" fmla="*/ 0 h 2088444"/>
                <a:gd name="connsiteX0" fmla="*/ 0 w 6972777"/>
                <a:gd name="connsiteY0" fmla="*/ 2206795 h 2206795"/>
                <a:gd name="connsiteX1" fmla="*/ 2039532 w 6972777"/>
                <a:gd name="connsiteY1" fmla="*/ 756355 h 2206795"/>
                <a:gd name="connsiteX2" fmla="*/ 4997221 w 6972777"/>
                <a:gd name="connsiteY2" fmla="*/ 1083733 h 2206795"/>
                <a:gd name="connsiteX3" fmla="*/ 6972777 w 6972777"/>
                <a:gd name="connsiteY3" fmla="*/ 0 h 2206795"/>
                <a:gd name="connsiteX0" fmla="*/ 0 w 7020019"/>
                <a:gd name="connsiteY0" fmla="*/ 2024312 h 2024312"/>
                <a:gd name="connsiteX1" fmla="*/ 2086774 w 7020019"/>
                <a:gd name="connsiteY1" fmla="*/ 756355 h 2024312"/>
                <a:gd name="connsiteX2" fmla="*/ 5044463 w 7020019"/>
                <a:gd name="connsiteY2" fmla="*/ 1083733 h 2024312"/>
                <a:gd name="connsiteX3" fmla="*/ 7020019 w 7020019"/>
                <a:gd name="connsiteY3" fmla="*/ 0 h 2024312"/>
                <a:gd name="connsiteX0" fmla="*/ 0 w 7020019"/>
                <a:gd name="connsiteY0" fmla="*/ 2024312 h 2024312"/>
                <a:gd name="connsiteX1" fmla="*/ 2086774 w 7020019"/>
                <a:gd name="connsiteY1" fmla="*/ 756355 h 2024312"/>
                <a:gd name="connsiteX2" fmla="*/ 5044463 w 7020019"/>
                <a:gd name="connsiteY2" fmla="*/ 1083733 h 2024312"/>
                <a:gd name="connsiteX3" fmla="*/ 7020019 w 7020019"/>
                <a:gd name="connsiteY3" fmla="*/ 0 h 2024312"/>
                <a:gd name="connsiteX0" fmla="*/ 0 w 7020019"/>
                <a:gd name="connsiteY0" fmla="*/ 2024312 h 2024312"/>
                <a:gd name="connsiteX1" fmla="*/ 2086774 w 7020019"/>
                <a:gd name="connsiteY1" fmla="*/ 756355 h 2024312"/>
                <a:gd name="connsiteX2" fmla="*/ 5072331 w 7020019"/>
                <a:gd name="connsiteY2" fmla="*/ 894278 h 2024312"/>
                <a:gd name="connsiteX3" fmla="*/ 7020019 w 7020019"/>
                <a:gd name="connsiteY3" fmla="*/ 0 h 2024312"/>
                <a:gd name="connsiteX0" fmla="*/ 0 w 7020019"/>
                <a:gd name="connsiteY0" fmla="*/ 2024312 h 2024312"/>
                <a:gd name="connsiteX1" fmla="*/ 2086774 w 7020019"/>
                <a:gd name="connsiteY1" fmla="*/ 756355 h 2024312"/>
                <a:gd name="connsiteX2" fmla="*/ 3607173 w 7020019"/>
                <a:gd name="connsiteY2" fmla="*/ 794214 h 2024312"/>
                <a:gd name="connsiteX3" fmla="*/ 5072331 w 7020019"/>
                <a:gd name="connsiteY3" fmla="*/ 894278 h 2024312"/>
                <a:gd name="connsiteX4" fmla="*/ 7020019 w 7020019"/>
                <a:gd name="connsiteY4" fmla="*/ 0 h 2024312"/>
                <a:gd name="connsiteX0" fmla="*/ 0 w 7020019"/>
                <a:gd name="connsiteY0" fmla="*/ 2024312 h 2024312"/>
                <a:gd name="connsiteX1" fmla="*/ 2086774 w 7020019"/>
                <a:gd name="connsiteY1" fmla="*/ 756355 h 2024312"/>
                <a:gd name="connsiteX2" fmla="*/ 3627825 w 7020019"/>
                <a:gd name="connsiteY2" fmla="*/ 880680 h 2024312"/>
                <a:gd name="connsiteX3" fmla="*/ 5072331 w 7020019"/>
                <a:gd name="connsiteY3" fmla="*/ 894278 h 2024312"/>
                <a:gd name="connsiteX4" fmla="*/ 7020019 w 7020019"/>
                <a:gd name="connsiteY4" fmla="*/ 0 h 2024312"/>
                <a:gd name="connsiteX0" fmla="*/ 0 w 7020019"/>
                <a:gd name="connsiteY0" fmla="*/ 2024312 h 2024312"/>
                <a:gd name="connsiteX1" fmla="*/ 2086774 w 7020019"/>
                <a:gd name="connsiteY1" fmla="*/ 756355 h 2024312"/>
                <a:gd name="connsiteX2" fmla="*/ 3633245 w 7020019"/>
                <a:gd name="connsiteY2" fmla="*/ 857450 h 2024312"/>
                <a:gd name="connsiteX3" fmla="*/ 5072331 w 7020019"/>
                <a:gd name="connsiteY3" fmla="*/ 894278 h 2024312"/>
                <a:gd name="connsiteX4" fmla="*/ 7020019 w 7020019"/>
                <a:gd name="connsiteY4" fmla="*/ 0 h 2024312"/>
                <a:gd name="connsiteX0" fmla="*/ 0 w 6864116"/>
                <a:gd name="connsiteY0" fmla="*/ 2126000 h 2126000"/>
                <a:gd name="connsiteX1" fmla="*/ 2086774 w 6864116"/>
                <a:gd name="connsiteY1" fmla="*/ 858043 h 2126000"/>
                <a:gd name="connsiteX2" fmla="*/ 3633245 w 6864116"/>
                <a:gd name="connsiteY2" fmla="*/ 959138 h 2126000"/>
                <a:gd name="connsiteX3" fmla="*/ 5072331 w 6864116"/>
                <a:gd name="connsiteY3" fmla="*/ 995966 h 2126000"/>
                <a:gd name="connsiteX4" fmla="*/ 6864116 w 6864116"/>
                <a:gd name="connsiteY4" fmla="*/ 0 h 2126000"/>
                <a:gd name="connsiteX0" fmla="*/ 0 w 6864116"/>
                <a:gd name="connsiteY0" fmla="*/ 2126000 h 2126000"/>
                <a:gd name="connsiteX1" fmla="*/ 2086774 w 6864116"/>
                <a:gd name="connsiteY1" fmla="*/ 858043 h 2126000"/>
                <a:gd name="connsiteX2" fmla="*/ 3633245 w 6864116"/>
                <a:gd name="connsiteY2" fmla="*/ 959138 h 2126000"/>
                <a:gd name="connsiteX3" fmla="*/ 5072331 w 6864116"/>
                <a:gd name="connsiteY3" fmla="*/ 995966 h 2126000"/>
                <a:gd name="connsiteX4" fmla="*/ 6864116 w 6864116"/>
                <a:gd name="connsiteY4" fmla="*/ 0 h 2126000"/>
                <a:gd name="connsiteX0" fmla="*/ 0 w 6864116"/>
                <a:gd name="connsiteY0" fmla="*/ 2126000 h 2126000"/>
                <a:gd name="connsiteX1" fmla="*/ 1063506 w 6864116"/>
                <a:gd name="connsiteY1" fmla="*/ 1159798 h 2126000"/>
                <a:gd name="connsiteX2" fmla="*/ 2086774 w 6864116"/>
                <a:gd name="connsiteY2" fmla="*/ 858043 h 2126000"/>
                <a:gd name="connsiteX3" fmla="*/ 3633245 w 6864116"/>
                <a:gd name="connsiteY3" fmla="*/ 959138 h 2126000"/>
                <a:gd name="connsiteX4" fmla="*/ 5072331 w 6864116"/>
                <a:gd name="connsiteY4" fmla="*/ 995966 h 2126000"/>
                <a:gd name="connsiteX5" fmla="*/ 6864116 w 6864116"/>
                <a:gd name="connsiteY5" fmla="*/ 0 h 2126000"/>
                <a:gd name="connsiteX0" fmla="*/ 0 w 6864116"/>
                <a:gd name="connsiteY0" fmla="*/ 2126000 h 2126000"/>
                <a:gd name="connsiteX1" fmla="*/ 956905 w 6864116"/>
                <a:gd name="connsiteY1" fmla="*/ 1126763 h 2126000"/>
                <a:gd name="connsiteX2" fmla="*/ 2086774 w 6864116"/>
                <a:gd name="connsiteY2" fmla="*/ 858043 h 2126000"/>
                <a:gd name="connsiteX3" fmla="*/ 3633245 w 6864116"/>
                <a:gd name="connsiteY3" fmla="*/ 959138 h 2126000"/>
                <a:gd name="connsiteX4" fmla="*/ 5072331 w 6864116"/>
                <a:gd name="connsiteY4" fmla="*/ 995966 h 2126000"/>
                <a:gd name="connsiteX5" fmla="*/ 6864116 w 6864116"/>
                <a:gd name="connsiteY5" fmla="*/ 0 h 2126000"/>
                <a:gd name="connsiteX0" fmla="*/ 0 w 6864116"/>
                <a:gd name="connsiteY0" fmla="*/ 2126000 h 2126000"/>
                <a:gd name="connsiteX1" fmla="*/ 366115 w 6864116"/>
                <a:gd name="connsiteY1" fmla="*/ 1699278 h 2126000"/>
                <a:gd name="connsiteX2" fmla="*/ 956905 w 6864116"/>
                <a:gd name="connsiteY2" fmla="*/ 1126763 h 2126000"/>
                <a:gd name="connsiteX3" fmla="*/ 2086774 w 6864116"/>
                <a:gd name="connsiteY3" fmla="*/ 858043 h 2126000"/>
                <a:gd name="connsiteX4" fmla="*/ 3633245 w 6864116"/>
                <a:gd name="connsiteY4" fmla="*/ 959138 h 2126000"/>
                <a:gd name="connsiteX5" fmla="*/ 5072331 w 6864116"/>
                <a:gd name="connsiteY5" fmla="*/ 995966 h 2126000"/>
                <a:gd name="connsiteX6" fmla="*/ 6864116 w 6864116"/>
                <a:gd name="connsiteY6" fmla="*/ 0 h 2126000"/>
                <a:gd name="connsiteX0" fmla="*/ 0 w 6864116"/>
                <a:gd name="connsiteY0" fmla="*/ 2126000 h 2126000"/>
                <a:gd name="connsiteX1" fmla="*/ 300809 w 6864116"/>
                <a:gd name="connsiteY1" fmla="*/ 1594231 h 2126000"/>
                <a:gd name="connsiteX2" fmla="*/ 956905 w 6864116"/>
                <a:gd name="connsiteY2" fmla="*/ 1126763 h 2126000"/>
                <a:gd name="connsiteX3" fmla="*/ 2086774 w 6864116"/>
                <a:gd name="connsiteY3" fmla="*/ 858043 h 2126000"/>
                <a:gd name="connsiteX4" fmla="*/ 3633245 w 6864116"/>
                <a:gd name="connsiteY4" fmla="*/ 959138 h 2126000"/>
                <a:gd name="connsiteX5" fmla="*/ 5072331 w 6864116"/>
                <a:gd name="connsiteY5" fmla="*/ 995966 h 2126000"/>
                <a:gd name="connsiteX6" fmla="*/ 6864116 w 6864116"/>
                <a:gd name="connsiteY6" fmla="*/ 0 h 2126000"/>
                <a:gd name="connsiteX0" fmla="*/ 0 w 6864116"/>
                <a:gd name="connsiteY0" fmla="*/ 2126000 h 2126000"/>
                <a:gd name="connsiteX1" fmla="*/ 300809 w 6864116"/>
                <a:gd name="connsiteY1" fmla="*/ 1594231 h 2126000"/>
                <a:gd name="connsiteX2" fmla="*/ 956905 w 6864116"/>
                <a:gd name="connsiteY2" fmla="*/ 1126763 h 2126000"/>
                <a:gd name="connsiteX3" fmla="*/ 2086774 w 6864116"/>
                <a:gd name="connsiteY3" fmla="*/ 858043 h 2126000"/>
                <a:gd name="connsiteX4" fmla="*/ 2778122 w 6864116"/>
                <a:gd name="connsiteY4" fmla="*/ 914779 h 2126000"/>
                <a:gd name="connsiteX5" fmla="*/ 3633245 w 6864116"/>
                <a:gd name="connsiteY5" fmla="*/ 959138 h 2126000"/>
                <a:gd name="connsiteX6" fmla="*/ 5072331 w 6864116"/>
                <a:gd name="connsiteY6" fmla="*/ 995966 h 2126000"/>
                <a:gd name="connsiteX7" fmla="*/ 6864116 w 6864116"/>
                <a:gd name="connsiteY7" fmla="*/ 0 h 2126000"/>
                <a:gd name="connsiteX0" fmla="*/ 0 w 6864116"/>
                <a:gd name="connsiteY0" fmla="*/ 2126000 h 2126000"/>
                <a:gd name="connsiteX1" fmla="*/ 300809 w 6864116"/>
                <a:gd name="connsiteY1" fmla="*/ 1594231 h 2126000"/>
                <a:gd name="connsiteX2" fmla="*/ 956905 w 6864116"/>
                <a:gd name="connsiteY2" fmla="*/ 1126763 h 2126000"/>
                <a:gd name="connsiteX3" fmla="*/ 2086774 w 6864116"/>
                <a:gd name="connsiteY3" fmla="*/ 858043 h 2126000"/>
                <a:gd name="connsiteX4" fmla="*/ 2765213 w 6864116"/>
                <a:gd name="connsiteY4" fmla="*/ 830120 h 2126000"/>
                <a:gd name="connsiteX5" fmla="*/ 3633245 w 6864116"/>
                <a:gd name="connsiteY5" fmla="*/ 959138 h 2126000"/>
                <a:gd name="connsiteX6" fmla="*/ 5072331 w 6864116"/>
                <a:gd name="connsiteY6" fmla="*/ 995966 h 2126000"/>
                <a:gd name="connsiteX7" fmla="*/ 6864116 w 6864116"/>
                <a:gd name="connsiteY7" fmla="*/ 0 h 2126000"/>
                <a:gd name="connsiteX0" fmla="*/ 0 w 6864116"/>
                <a:gd name="connsiteY0" fmla="*/ 2126000 h 2126000"/>
                <a:gd name="connsiteX1" fmla="*/ 300809 w 6864116"/>
                <a:gd name="connsiteY1" fmla="*/ 1594231 h 2126000"/>
                <a:gd name="connsiteX2" fmla="*/ 956905 w 6864116"/>
                <a:gd name="connsiteY2" fmla="*/ 1126763 h 2126000"/>
                <a:gd name="connsiteX3" fmla="*/ 1567587 w 6864116"/>
                <a:gd name="connsiteY3" fmla="*/ 958967 h 2126000"/>
                <a:gd name="connsiteX4" fmla="*/ 2086774 w 6864116"/>
                <a:gd name="connsiteY4" fmla="*/ 858043 h 2126000"/>
                <a:gd name="connsiteX5" fmla="*/ 2765213 w 6864116"/>
                <a:gd name="connsiteY5" fmla="*/ 830120 h 2126000"/>
                <a:gd name="connsiteX6" fmla="*/ 3633245 w 6864116"/>
                <a:gd name="connsiteY6" fmla="*/ 959138 h 2126000"/>
                <a:gd name="connsiteX7" fmla="*/ 5072331 w 6864116"/>
                <a:gd name="connsiteY7" fmla="*/ 995966 h 2126000"/>
                <a:gd name="connsiteX8" fmla="*/ 6864116 w 6864116"/>
                <a:gd name="connsiteY8" fmla="*/ 0 h 2126000"/>
                <a:gd name="connsiteX0" fmla="*/ 0 w 6864116"/>
                <a:gd name="connsiteY0" fmla="*/ 2126000 h 2126000"/>
                <a:gd name="connsiteX1" fmla="*/ 300809 w 6864116"/>
                <a:gd name="connsiteY1" fmla="*/ 1594231 h 2126000"/>
                <a:gd name="connsiteX2" fmla="*/ 956905 w 6864116"/>
                <a:gd name="connsiteY2" fmla="*/ 1126763 h 2126000"/>
                <a:gd name="connsiteX3" fmla="*/ 1584363 w 6864116"/>
                <a:gd name="connsiteY3" fmla="*/ 922056 h 2126000"/>
                <a:gd name="connsiteX4" fmla="*/ 2086774 w 6864116"/>
                <a:gd name="connsiteY4" fmla="*/ 858043 h 2126000"/>
                <a:gd name="connsiteX5" fmla="*/ 2765213 w 6864116"/>
                <a:gd name="connsiteY5" fmla="*/ 830120 h 2126000"/>
                <a:gd name="connsiteX6" fmla="*/ 3633245 w 6864116"/>
                <a:gd name="connsiteY6" fmla="*/ 959138 h 2126000"/>
                <a:gd name="connsiteX7" fmla="*/ 5072331 w 6864116"/>
                <a:gd name="connsiteY7" fmla="*/ 995966 h 2126000"/>
                <a:gd name="connsiteX8" fmla="*/ 6864116 w 6864116"/>
                <a:gd name="connsiteY8" fmla="*/ 0 h 2126000"/>
                <a:gd name="connsiteX0" fmla="*/ 0 w 6964770"/>
                <a:gd name="connsiteY0" fmla="*/ 2347463 h 2347463"/>
                <a:gd name="connsiteX1" fmla="*/ 300809 w 6964770"/>
                <a:gd name="connsiteY1" fmla="*/ 1815694 h 2347463"/>
                <a:gd name="connsiteX2" fmla="*/ 956905 w 6964770"/>
                <a:gd name="connsiteY2" fmla="*/ 1348226 h 2347463"/>
                <a:gd name="connsiteX3" fmla="*/ 1584363 w 6964770"/>
                <a:gd name="connsiteY3" fmla="*/ 1143519 h 2347463"/>
                <a:gd name="connsiteX4" fmla="*/ 2086774 w 6964770"/>
                <a:gd name="connsiteY4" fmla="*/ 1079506 h 2347463"/>
                <a:gd name="connsiteX5" fmla="*/ 2765213 w 6964770"/>
                <a:gd name="connsiteY5" fmla="*/ 1051583 h 2347463"/>
                <a:gd name="connsiteX6" fmla="*/ 3633245 w 6964770"/>
                <a:gd name="connsiteY6" fmla="*/ 1180601 h 2347463"/>
                <a:gd name="connsiteX7" fmla="*/ 5072331 w 6964770"/>
                <a:gd name="connsiteY7" fmla="*/ 1217429 h 2347463"/>
                <a:gd name="connsiteX8" fmla="*/ 6964770 w 6964770"/>
                <a:gd name="connsiteY8" fmla="*/ 0 h 2347463"/>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7477 w 7007034"/>
                <a:gd name="connsiteY5" fmla="*/ 1051583 h 2353918"/>
                <a:gd name="connsiteX6" fmla="*/ 3675509 w 7007034"/>
                <a:gd name="connsiteY6" fmla="*/ 1180601 h 2353918"/>
                <a:gd name="connsiteX7" fmla="*/ 5114595 w 7007034"/>
                <a:gd name="connsiteY7" fmla="*/ 1217429 h 2353918"/>
                <a:gd name="connsiteX8" fmla="*/ 7007034 w 7007034"/>
                <a:gd name="connsiteY8"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7477 w 7007034"/>
                <a:gd name="connsiteY5" fmla="*/ 1051583 h 2353918"/>
                <a:gd name="connsiteX6" fmla="*/ 3675509 w 7007034"/>
                <a:gd name="connsiteY6" fmla="*/ 1180601 h 2353918"/>
                <a:gd name="connsiteX7" fmla="*/ 5114595 w 7007034"/>
                <a:gd name="connsiteY7" fmla="*/ 1217429 h 2353918"/>
                <a:gd name="connsiteX8" fmla="*/ 6210613 w 7007034"/>
                <a:gd name="connsiteY8" fmla="*/ 783880 h 2353918"/>
                <a:gd name="connsiteX9" fmla="*/ 7007034 w 7007034"/>
                <a:gd name="connsiteY9"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7477 w 7007034"/>
                <a:gd name="connsiteY5" fmla="*/ 1051583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7007034 w 7007034"/>
                <a:gd name="connsiteY9"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7477 w 7007034"/>
                <a:gd name="connsiteY5" fmla="*/ 1051583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6688124 w 7007034"/>
                <a:gd name="connsiteY9" fmla="*/ 413682 h 2353918"/>
                <a:gd name="connsiteX10" fmla="*/ 7007034 w 7007034"/>
                <a:gd name="connsiteY10"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7477 w 7007034"/>
                <a:gd name="connsiteY5" fmla="*/ 1051583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6740438 w 7007034"/>
                <a:gd name="connsiteY9" fmla="*/ 434073 h 2353918"/>
                <a:gd name="connsiteX10" fmla="*/ 7007034 w 7007034"/>
                <a:gd name="connsiteY10"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2067 w 7007034"/>
                <a:gd name="connsiteY5" fmla="*/ 1074817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6740438 w 7007034"/>
                <a:gd name="connsiteY9" fmla="*/ 434073 h 2353918"/>
                <a:gd name="connsiteX10" fmla="*/ 7007034 w 7007034"/>
                <a:gd name="connsiteY10"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799747 w 7007034"/>
                <a:gd name="connsiteY5" fmla="*/ 1049779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6740438 w 7007034"/>
                <a:gd name="connsiteY9" fmla="*/ 434073 h 2353918"/>
                <a:gd name="connsiteX10" fmla="*/ 7007034 w 7007034"/>
                <a:gd name="connsiteY10"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6740438 w 7007034"/>
                <a:gd name="connsiteY9" fmla="*/ 434073 h 2353918"/>
                <a:gd name="connsiteX10" fmla="*/ 7007034 w 7007034"/>
                <a:gd name="connsiteY10"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3979424 w 7007034"/>
                <a:gd name="connsiteY7" fmla="*/ 1193391 h 2353918"/>
                <a:gd name="connsiteX8" fmla="*/ 5114595 w 7007034"/>
                <a:gd name="connsiteY8" fmla="*/ 1217429 h 2353918"/>
                <a:gd name="connsiteX9" fmla="*/ 6275300 w 7007034"/>
                <a:gd name="connsiteY9" fmla="*/ 856158 h 2353918"/>
                <a:gd name="connsiteX10" fmla="*/ 6740438 w 7007034"/>
                <a:gd name="connsiteY10" fmla="*/ 434073 h 2353918"/>
                <a:gd name="connsiteX11" fmla="*/ 7007034 w 7007034"/>
                <a:gd name="connsiteY11"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4089982 w 7007034"/>
                <a:gd name="connsiteY7" fmla="*/ 1243725 h 2353918"/>
                <a:gd name="connsiteX8" fmla="*/ 5114595 w 7007034"/>
                <a:gd name="connsiteY8" fmla="*/ 1217429 h 2353918"/>
                <a:gd name="connsiteX9" fmla="*/ 6275300 w 7007034"/>
                <a:gd name="connsiteY9" fmla="*/ 856158 h 2353918"/>
                <a:gd name="connsiteX10" fmla="*/ 6740438 w 7007034"/>
                <a:gd name="connsiteY10" fmla="*/ 434073 h 2353918"/>
                <a:gd name="connsiteX11" fmla="*/ 7007034 w 7007034"/>
                <a:gd name="connsiteY11"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4110855 w 7007034"/>
                <a:gd name="connsiteY7" fmla="*/ 1224106 h 2353918"/>
                <a:gd name="connsiteX8" fmla="*/ 5114595 w 7007034"/>
                <a:gd name="connsiteY8" fmla="*/ 1217429 h 2353918"/>
                <a:gd name="connsiteX9" fmla="*/ 6275300 w 7007034"/>
                <a:gd name="connsiteY9" fmla="*/ 856158 h 2353918"/>
                <a:gd name="connsiteX10" fmla="*/ 6740438 w 7007034"/>
                <a:gd name="connsiteY10" fmla="*/ 434073 h 2353918"/>
                <a:gd name="connsiteX11" fmla="*/ 7007034 w 7007034"/>
                <a:gd name="connsiteY11"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4110855 w 7007034"/>
                <a:gd name="connsiteY7" fmla="*/ 1224106 h 2353918"/>
                <a:gd name="connsiteX8" fmla="*/ 5114595 w 7007034"/>
                <a:gd name="connsiteY8" fmla="*/ 1217429 h 2353918"/>
                <a:gd name="connsiteX9" fmla="*/ 6275300 w 7007034"/>
                <a:gd name="connsiteY9" fmla="*/ 856158 h 2353918"/>
                <a:gd name="connsiteX10" fmla="*/ 6519081 w 7007034"/>
                <a:gd name="connsiteY10" fmla="*/ 684481 h 2353918"/>
                <a:gd name="connsiteX11" fmla="*/ 6740438 w 7007034"/>
                <a:gd name="connsiteY11" fmla="*/ 434073 h 2353918"/>
                <a:gd name="connsiteX12" fmla="*/ 7007034 w 7007034"/>
                <a:gd name="connsiteY12"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4110855 w 7007034"/>
                <a:gd name="connsiteY7" fmla="*/ 1224106 h 2353918"/>
                <a:gd name="connsiteX8" fmla="*/ 5114595 w 7007034"/>
                <a:gd name="connsiteY8" fmla="*/ 1217429 h 2353918"/>
                <a:gd name="connsiteX9" fmla="*/ 6275300 w 7007034"/>
                <a:gd name="connsiteY9" fmla="*/ 856158 h 2353918"/>
                <a:gd name="connsiteX10" fmla="*/ 6518564 w 7007034"/>
                <a:gd name="connsiteY10" fmla="*/ 651697 h 2353918"/>
                <a:gd name="connsiteX11" fmla="*/ 6740438 w 7007034"/>
                <a:gd name="connsiteY11" fmla="*/ 434073 h 2353918"/>
                <a:gd name="connsiteX12" fmla="*/ 7007034 w 7007034"/>
                <a:gd name="connsiteY12"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4110855 w 7007034"/>
                <a:gd name="connsiteY7" fmla="*/ 1224106 h 2353918"/>
                <a:gd name="connsiteX8" fmla="*/ 5114595 w 7007034"/>
                <a:gd name="connsiteY8" fmla="*/ 1217429 h 2353918"/>
                <a:gd name="connsiteX9" fmla="*/ 6275300 w 7007034"/>
                <a:gd name="connsiteY9" fmla="*/ 856158 h 2353918"/>
                <a:gd name="connsiteX10" fmla="*/ 6551810 w 7007034"/>
                <a:gd name="connsiteY10" fmla="*/ 683963 h 2353918"/>
                <a:gd name="connsiteX11" fmla="*/ 6740438 w 7007034"/>
                <a:gd name="connsiteY11" fmla="*/ 434073 h 2353918"/>
                <a:gd name="connsiteX12" fmla="*/ 7007034 w 7007034"/>
                <a:gd name="connsiteY12" fmla="*/ 0 h 2353918"/>
                <a:gd name="connsiteX0" fmla="*/ 0 w 6974305"/>
                <a:gd name="connsiteY0" fmla="*/ 2353401 h 2353401"/>
                <a:gd name="connsiteX1" fmla="*/ 343073 w 6974305"/>
                <a:gd name="connsiteY1" fmla="*/ 1815177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799747 w 6974305"/>
                <a:gd name="connsiteY5" fmla="*/ 1049262 h 2353401"/>
                <a:gd name="connsiteX6" fmla="*/ 3675509 w 6974305"/>
                <a:gd name="connsiteY6" fmla="*/ 1180084 h 2353401"/>
                <a:gd name="connsiteX7" fmla="*/ 4110855 w 6974305"/>
                <a:gd name="connsiteY7" fmla="*/ 1223589 h 2353401"/>
                <a:gd name="connsiteX8" fmla="*/ 5114595 w 6974305"/>
                <a:gd name="connsiteY8" fmla="*/ 1216912 h 2353401"/>
                <a:gd name="connsiteX9" fmla="*/ 6275300 w 6974305"/>
                <a:gd name="connsiteY9" fmla="*/ 855641 h 2353401"/>
                <a:gd name="connsiteX10" fmla="*/ 6551810 w 6974305"/>
                <a:gd name="connsiteY10" fmla="*/ 683446 h 2353401"/>
                <a:gd name="connsiteX11" fmla="*/ 6740438 w 6974305"/>
                <a:gd name="connsiteY11" fmla="*/ 433556 h 2353401"/>
                <a:gd name="connsiteX12" fmla="*/ 6974305 w 6974305"/>
                <a:gd name="connsiteY12" fmla="*/ 0 h 2353401"/>
                <a:gd name="connsiteX0" fmla="*/ 0 w 6974305"/>
                <a:gd name="connsiteY0" fmla="*/ 2353401 h 2353401"/>
                <a:gd name="connsiteX1" fmla="*/ 343073 w 6974305"/>
                <a:gd name="connsiteY1" fmla="*/ 1815177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803871 w 6974305"/>
                <a:gd name="connsiteY5" fmla="*/ 1066557 h 2353401"/>
                <a:gd name="connsiteX6" fmla="*/ 3675509 w 6974305"/>
                <a:gd name="connsiteY6" fmla="*/ 1180084 h 2353401"/>
                <a:gd name="connsiteX7" fmla="*/ 4110855 w 6974305"/>
                <a:gd name="connsiteY7" fmla="*/ 1223589 h 2353401"/>
                <a:gd name="connsiteX8" fmla="*/ 5114595 w 6974305"/>
                <a:gd name="connsiteY8" fmla="*/ 1216912 h 2353401"/>
                <a:gd name="connsiteX9" fmla="*/ 6275300 w 6974305"/>
                <a:gd name="connsiteY9" fmla="*/ 855641 h 2353401"/>
                <a:gd name="connsiteX10" fmla="*/ 6551810 w 6974305"/>
                <a:gd name="connsiteY10" fmla="*/ 683446 h 2353401"/>
                <a:gd name="connsiteX11" fmla="*/ 6740438 w 6974305"/>
                <a:gd name="connsiteY11" fmla="*/ 433556 h 2353401"/>
                <a:gd name="connsiteX12" fmla="*/ 6974305 w 6974305"/>
                <a:gd name="connsiteY12" fmla="*/ 0 h 2353401"/>
                <a:gd name="connsiteX0" fmla="*/ 0 w 6974305"/>
                <a:gd name="connsiteY0" fmla="*/ 2353401 h 2353401"/>
                <a:gd name="connsiteX1" fmla="*/ 343073 w 6974305"/>
                <a:gd name="connsiteY1" fmla="*/ 1815177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6330 w 6974305"/>
                <a:gd name="connsiteY5" fmla="*/ 1050441 h 2353401"/>
                <a:gd name="connsiteX6" fmla="*/ 2803871 w 6974305"/>
                <a:gd name="connsiteY6" fmla="*/ 1066557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75300 w 6974305"/>
                <a:gd name="connsiteY10" fmla="*/ 855641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43073 w 6974305"/>
                <a:gd name="connsiteY1" fmla="*/ 1815177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03871 w 6974305"/>
                <a:gd name="connsiteY6" fmla="*/ 1066557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75300 w 6974305"/>
                <a:gd name="connsiteY10" fmla="*/ 855641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43073 w 6974305"/>
                <a:gd name="connsiteY1" fmla="*/ 1815177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32474 w 6974305"/>
                <a:gd name="connsiteY6" fmla="*/ 1048744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75300 w 6974305"/>
                <a:gd name="connsiteY10" fmla="*/ 855641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32474 w 6974305"/>
                <a:gd name="connsiteY6" fmla="*/ 1048744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75300 w 6974305"/>
                <a:gd name="connsiteY10" fmla="*/ 855641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75300 w 6974305"/>
                <a:gd name="connsiteY10" fmla="*/ 855641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66281 w 6974305"/>
                <a:gd name="connsiteY10" fmla="*/ 894363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15000 w 6974305"/>
                <a:gd name="connsiteY10" fmla="*/ 939539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924 w 6974305"/>
                <a:gd name="connsiteY10" fmla="*/ 946766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63631 w 6974305"/>
                <a:gd name="connsiteY12" fmla="*/ 438975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63631 w 6974305"/>
                <a:gd name="connsiteY12" fmla="*/ 438975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63631 w 6974305"/>
                <a:gd name="connsiteY12" fmla="*/ 438975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63631 w 6974305"/>
                <a:gd name="connsiteY12" fmla="*/ 438975 h 2353401"/>
                <a:gd name="connsiteX13" fmla="*/ 6974305 w 6974305"/>
                <a:gd name="connsiteY13" fmla="*/ 0 h 2353401"/>
                <a:gd name="connsiteX0" fmla="*/ 0 w 6983586"/>
                <a:gd name="connsiteY0" fmla="*/ 2253241 h 2253241"/>
                <a:gd name="connsiteX1" fmla="*/ 364464 w 6983586"/>
                <a:gd name="connsiteY1" fmla="*/ 1728180 h 2253241"/>
                <a:gd name="connsiteX2" fmla="*/ 999169 w 6983586"/>
                <a:gd name="connsiteY2" fmla="*/ 1247549 h 2253241"/>
                <a:gd name="connsiteX3" fmla="*/ 1626627 w 6983586"/>
                <a:gd name="connsiteY3" fmla="*/ 1042842 h 2253241"/>
                <a:gd name="connsiteX4" fmla="*/ 2134448 w 6983586"/>
                <a:gd name="connsiteY4" fmla="*/ 955595 h 2253241"/>
                <a:gd name="connsiteX5" fmla="*/ 2492206 w 6983586"/>
                <a:gd name="connsiteY5" fmla="*/ 932984 h 2253241"/>
                <a:gd name="connsiteX6" fmla="*/ 2846133 w 6983586"/>
                <a:gd name="connsiteY6" fmla="*/ 959941 h 2253241"/>
                <a:gd name="connsiteX7" fmla="*/ 3675509 w 6983586"/>
                <a:gd name="connsiteY7" fmla="*/ 1079924 h 2253241"/>
                <a:gd name="connsiteX8" fmla="*/ 4110855 w 6983586"/>
                <a:gd name="connsiteY8" fmla="*/ 1123429 h 2253241"/>
                <a:gd name="connsiteX9" fmla="*/ 5114595 w 6983586"/>
                <a:gd name="connsiteY9" fmla="*/ 1116752 h 2253241"/>
                <a:gd name="connsiteX10" fmla="*/ 6245408 w 6983586"/>
                <a:gd name="connsiteY10" fmla="*/ 813822 h 2253241"/>
                <a:gd name="connsiteX11" fmla="*/ 6551810 w 6983586"/>
                <a:gd name="connsiteY11" fmla="*/ 583286 h 2253241"/>
                <a:gd name="connsiteX12" fmla="*/ 6763631 w 6983586"/>
                <a:gd name="connsiteY12" fmla="*/ 338815 h 2253241"/>
                <a:gd name="connsiteX13" fmla="*/ 6983586 w 6983586"/>
                <a:gd name="connsiteY13" fmla="*/ 0 h 2253241"/>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1810 w 6944414"/>
                <a:gd name="connsiteY11" fmla="*/ 625103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763631 w 6944414"/>
                <a:gd name="connsiteY11" fmla="*/ 380632 h 2295058"/>
                <a:gd name="connsiteX12" fmla="*/ 6944414 w 6944414"/>
                <a:gd name="connsiteY12"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944414 w 6944414"/>
                <a:gd name="connsiteY11"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670026 w 6944414"/>
                <a:gd name="connsiteY11" fmla="*/ 392668 h 2295058"/>
                <a:gd name="connsiteX12" fmla="*/ 6944414 w 6944414"/>
                <a:gd name="connsiteY12"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690402 w 6944414"/>
                <a:gd name="connsiteY11" fmla="*/ 416993 h 2295058"/>
                <a:gd name="connsiteX12" fmla="*/ 6944414 w 6944414"/>
                <a:gd name="connsiteY12"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708925 w 6944414"/>
                <a:gd name="connsiteY11" fmla="*/ 421320 h 2295058"/>
                <a:gd name="connsiteX12" fmla="*/ 6944414 w 6944414"/>
                <a:gd name="connsiteY12" fmla="*/ 0 h 2295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44414" h="2295058">
                  <a:moveTo>
                    <a:pt x="0" y="2295058"/>
                  </a:moveTo>
                  <a:cubicBezTo>
                    <a:pt x="61019" y="2223938"/>
                    <a:pt x="204980" y="1936537"/>
                    <a:pt x="364464" y="1769997"/>
                  </a:cubicBezTo>
                  <a:cubicBezTo>
                    <a:pt x="523948" y="1603458"/>
                    <a:pt x="788039" y="1395243"/>
                    <a:pt x="999169" y="1289366"/>
                  </a:cubicBezTo>
                  <a:cubicBezTo>
                    <a:pt x="1210299" y="1183489"/>
                    <a:pt x="1438316" y="1129446"/>
                    <a:pt x="1626627" y="1084659"/>
                  </a:cubicBezTo>
                  <a:cubicBezTo>
                    <a:pt x="1814938" y="1039872"/>
                    <a:pt x="1990185" y="1015722"/>
                    <a:pt x="2134448" y="997412"/>
                  </a:cubicBezTo>
                  <a:cubicBezTo>
                    <a:pt x="2278711" y="979102"/>
                    <a:pt x="2380636" y="973001"/>
                    <a:pt x="2492206" y="974801"/>
                  </a:cubicBezTo>
                  <a:cubicBezTo>
                    <a:pt x="2603776" y="976601"/>
                    <a:pt x="2649603" y="980151"/>
                    <a:pt x="2846133" y="1001758"/>
                  </a:cubicBezTo>
                  <a:lnTo>
                    <a:pt x="3675509" y="1121741"/>
                  </a:lnTo>
                  <a:cubicBezTo>
                    <a:pt x="3872122" y="1145676"/>
                    <a:pt x="3871007" y="1159108"/>
                    <a:pt x="4110855" y="1165246"/>
                  </a:cubicBezTo>
                  <a:cubicBezTo>
                    <a:pt x="4350703" y="1171384"/>
                    <a:pt x="4731949" y="1214774"/>
                    <a:pt x="5114595" y="1158569"/>
                  </a:cubicBezTo>
                  <a:cubicBezTo>
                    <a:pt x="5537112" y="1092449"/>
                    <a:pt x="5853207" y="1073260"/>
                    <a:pt x="6245408" y="855639"/>
                  </a:cubicBezTo>
                  <a:cubicBezTo>
                    <a:pt x="6504647" y="727989"/>
                    <a:pt x="6592424" y="563926"/>
                    <a:pt x="6708925" y="421320"/>
                  </a:cubicBezTo>
                  <a:cubicBezTo>
                    <a:pt x="6825426" y="278714"/>
                    <a:pt x="6898683" y="65445"/>
                    <a:pt x="6944414" y="0"/>
                  </a:cubicBezTo>
                </a:path>
              </a:pathLst>
            </a:cu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b="1" dirty="0"/>
            </a:p>
          </p:txBody>
        </p:sp>
        <p:cxnSp>
          <p:nvCxnSpPr>
            <p:cNvPr id="6" name="直接箭头连接符 5">
              <a:extLst>
                <a:ext uri="{FF2B5EF4-FFF2-40B4-BE49-F238E27FC236}">
                  <a16:creationId xmlns:a16="http://schemas.microsoft.com/office/drawing/2014/main" id="{6B7F761B-240F-993A-B9F8-BF96C494EFAE}"/>
                </a:ext>
              </a:extLst>
            </p:cNvPr>
            <p:cNvCxnSpPr>
              <a:cxnSpLocks/>
            </p:cNvCxnSpPr>
            <p:nvPr/>
          </p:nvCxnSpPr>
          <p:spPr>
            <a:xfrm>
              <a:off x="2524125" y="3914775"/>
              <a:ext cx="48387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0BD97812-61F7-6029-7106-0994FE0C7828}"/>
                </a:ext>
              </a:extLst>
            </p:cNvPr>
            <p:cNvCxnSpPr>
              <a:cxnSpLocks/>
            </p:cNvCxnSpPr>
            <p:nvPr/>
          </p:nvCxnSpPr>
          <p:spPr>
            <a:xfrm flipV="1">
              <a:off x="2519363" y="1614488"/>
              <a:ext cx="4762" cy="230028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4E9FF0CC-CF11-CFAE-C845-B6760BA8B0A1}"/>
                </a:ext>
              </a:extLst>
            </p:cNvPr>
            <p:cNvCxnSpPr/>
            <p:nvPr/>
          </p:nvCxnSpPr>
          <p:spPr>
            <a:xfrm>
              <a:off x="2524125" y="2806700"/>
              <a:ext cx="4672013"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 name="文本框 14">
              <a:extLst>
                <a:ext uri="{FF2B5EF4-FFF2-40B4-BE49-F238E27FC236}">
                  <a16:creationId xmlns:a16="http://schemas.microsoft.com/office/drawing/2014/main" id="{8808C53A-E171-9B98-7B37-8F37EB725600}"/>
                </a:ext>
              </a:extLst>
            </p:cNvPr>
            <p:cNvSpPr txBox="1">
              <a:spLocks noChangeArrowheads="1"/>
            </p:cNvSpPr>
            <p:nvPr/>
          </p:nvSpPr>
          <p:spPr bwMode="auto">
            <a:xfrm>
              <a:off x="1847871" y="1443038"/>
              <a:ext cx="720070" cy="376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600" b="1" dirty="0" err="1">
                  <a:latin typeface="Times New Roman" panose="02020603050405020304" pitchFamily="18" charset="0"/>
                  <a:cs typeface="Times New Roman" panose="02020603050405020304" pitchFamily="18" charset="0"/>
                </a:rPr>
                <a:t>cwnd</a:t>
              </a:r>
              <a:endParaRPr lang="zh-CN" altLang="en-US" sz="1600" b="1" dirty="0">
                <a:latin typeface="Times New Roman" panose="02020603050405020304" pitchFamily="18" charset="0"/>
                <a:cs typeface="Times New Roman" panose="02020603050405020304" pitchFamily="18" charset="0"/>
              </a:endParaRPr>
            </a:p>
          </p:txBody>
        </p:sp>
        <p:sp>
          <p:nvSpPr>
            <p:cNvPr id="10" name="文本框 17">
              <a:extLst>
                <a:ext uri="{FF2B5EF4-FFF2-40B4-BE49-F238E27FC236}">
                  <a16:creationId xmlns:a16="http://schemas.microsoft.com/office/drawing/2014/main" id="{5396A36C-E2A8-C9B5-1767-C36E6AE44A86}"/>
                </a:ext>
              </a:extLst>
            </p:cNvPr>
            <p:cNvSpPr txBox="1">
              <a:spLocks noChangeArrowheads="1"/>
            </p:cNvSpPr>
            <p:nvPr/>
          </p:nvSpPr>
          <p:spPr bwMode="auto">
            <a:xfrm>
              <a:off x="6042833" y="3247147"/>
              <a:ext cx="1804960" cy="650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从</a:t>
              </a:r>
              <a:r>
                <a:rPr lang="zh-CN" altLang="zh-CN" sz="1600" b="1" dirty="0">
                  <a:latin typeface="微软雅黑" panose="020B0503020204020204" pitchFamily="34" charset="-122"/>
                  <a:ea typeface="微软雅黑" panose="020B0503020204020204" pitchFamily="34" charset="-122"/>
                  <a:cs typeface="Times New Roman" panose="02020603050405020304" pitchFamily="18" charset="0"/>
                </a:rPr>
                <a:t>上次发生拥塞</a:t>
              </a:r>
              <a:endParaRPr lang="en-US" altLang="zh-CN" sz="1600" b="1" dirty="0">
                <a:latin typeface="微软雅黑" panose="020B0503020204020204" pitchFamily="34" charset="-122"/>
                <a:ea typeface="微软雅黑" panose="020B0503020204020204" pitchFamily="34" charset="-122"/>
                <a:cs typeface="Times New Roman" panose="02020603050405020304" pitchFamily="18" charset="0"/>
              </a:endParaRPr>
            </a:p>
            <a:p>
              <a:pPr algn="ctr" eaLnBrk="1" hangingPunct="1"/>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算起</a:t>
              </a:r>
              <a:r>
                <a:rPr lang="zh-CN" altLang="zh-CN" sz="1600" b="1" dirty="0">
                  <a:latin typeface="微软雅黑" panose="020B0503020204020204" pitchFamily="34" charset="-122"/>
                  <a:ea typeface="微软雅黑" panose="020B0503020204020204" pitchFamily="34" charset="-122"/>
                  <a:cs typeface="Times New Roman" panose="02020603050405020304" pitchFamily="18" charset="0"/>
                </a:rPr>
                <a:t>的</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时间 </a:t>
              </a: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t</a:t>
              </a:r>
              <a:endParaRPr lang="zh-CN" altLang="en-US" sz="1600" b="1" i="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文本框 18">
              <a:extLst>
                <a:ext uri="{FF2B5EF4-FFF2-40B4-BE49-F238E27FC236}">
                  <a16:creationId xmlns:a16="http://schemas.microsoft.com/office/drawing/2014/main" id="{EAEF60DA-A1D9-6E79-847F-FA80AAACA69A}"/>
                </a:ext>
              </a:extLst>
            </p:cNvPr>
            <p:cNvSpPr txBox="1">
              <a:spLocks noChangeArrowheads="1"/>
            </p:cNvSpPr>
            <p:nvPr/>
          </p:nvSpPr>
          <p:spPr bwMode="auto">
            <a:xfrm>
              <a:off x="1879633" y="2605088"/>
              <a:ext cx="709433" cy="376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600" b="1" dirty="0" err="1">
                  <a:latin typeface="Times New Roman" panose="02020603050405020304" pitchFamily="18" charset="0"/>
                  <a:cs typeface="Times New Roman" panose="02020603050405020304" pitchFamily="18" charset="0"/>
                </a:rPr>
                <a:t>W</a:t>
              </a:r>
              <a:r>
                <a:rPr lang="en-US" altLang="zh-CN" sz="1600" b="1" baseline="-25000" dirty="0" err="1">
                  <a:latin typeface="Times New Roman" panose="02020603050405020304" pitchFamily="18" charset="0"/>
                  <a:cs typeface="Times New Roman" panose="02020603050405020304" pitchFamily="18" charset="0"/>
                </a:rPr>
                <a:t>max</a:t>
              </a:r>
              <a:endParaRPr lang="zh-CN" altLang="en-US" sz="1600" b="1" dirty="0">
                <a:latin typeface="Times New Roman" panose="02020603050405020304" pitchFamily="18" charset="0"/>
                <a:cs typeface="Times New Roman" panose="02020603050405020304" pitchFamily="18" charset="0"/>
              </a:endParaRPr>
            </a:p>
          </p:txBody>
        </p:sp>
        <p:sp>
          <p:nvSpPr>
            <p:cNvPr id="12" name="文本框 19">
              <a:extLst>
                <a:ext uri="{FF2B5EF4-FFF2-40B4-BE49-F238E27FC236}">
                  <a16:creationId xmlns:a16="http://schemas.microsoft.com/office/drawing/2014/main" id="{326EDE34-C328-3426-CD32-84BACB73A83E}"/>
                </a:ext>
              </a:extLst>
            </p:cNvPr>
            <p:cNvSpPr txBox="1">
              <a:spLocks noChangeArrowheads="1"/>
            </p:cNvSpPr>
            <p:nvPr/>
          </p:nvSpPr>
          <p:spPr bwMode="auto">
            <a:xfrm>
              <a:off x="2271713" y="3798888"/>
              <a:ext cx="317667" cy="376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600" b="1">
                  <a:latin typeface="Times New Roman" panose="02020603050405020304" pitchFamily="18" charset="0"/>
                  <a:cs typeface="Times New Roman" panose="02020603050405020304" pitchFamily="18" charset="0"/>
                </a:rPr>
                <a:t>0</a:t>
              </a:r>
              <a:endParaRPr lang="zh-CN" altLang="en-US" sz="1600" b="1">
                <a:latin typeface="Times New Roman" panose="02020603050405020304" pitchFamily="18" charset="0"/>
                <a:cs typeface="Times New Roman" panose="02020603050405020304" pitchFamily="18" charset="0"/>
              </a:endParaRPr>
            </a:p>
          </p:txBody>
        </p:sp>
      </p:grpSp>
      <p:sp>
        <p:nvSpPr>
          <p:cNvPr id="16" name="文本框 15">
            <a:extLst>
              <a:ext uri="{FF2B5EF4-FFF2-40B4-BE49-F238E27FC236}">
                <a16:creationId xmlns:a16="http://schemas.microsoft.com/office/drawing/2014/main" id="{B74F1228-61ED-5852-95A6-9F86E25CE82E}"/>
              </a:ext>
            </a:extLst>
          </p:cNvPr>
          <p:cNvSpPr txBox="1"/>
          <p:nvPr/>
        </p:nvSpPr>
        <p:spPr>
          <a:xfrm>
            <a:off x="3027305" y="2359832"/>
            <a:ext cx="4081960" cy="338554"/>
          </a:xfrm>
          <a:prstGeom prst="rect">
            <a:avLst/>
          </a:prstGeom>
          <a:noFill/>
        </p:spPr>
        <p:txBody>
          <a:bodyPr wrap="square">
            <a:spAutoFit/>
          </a:bodyPr>
          <a:lstStyle/>
          <a:p>
            <a:r>
              <a:rPr lang="en-US" altLang="zh-CN" sz="1600" b="1" dirty="0">
                <a:solidFill>
                  <a:srgbClr val="C00000"/>
                </a:solidFill>
                <a:latin typeface="微软雅黑" pitchFamily="34" charset="-122"/>
                <a:ea typeface="微软雅黑" pitchFamily="34" charset="-122"/>
              </a:rPr>
              <a:t>CUBIC</a:t>
            </a:r>
            <a:r>
              <a:rPr lang="zh-CN" altLang="en-US" sz="1600" b="1" dirty="0">
                <a:solidFill>
                  <a:srgbClr val="C00000"/>
                </a:solidFill>
                <a:latin typeface="微软雅黑" pitchFamily="34" charset="-122"/>
                <a:ea typeface="微软雅黑" pitchFamily="34" charset="-122"/>
              </a:rPr>
              <a:t>拥塞窗口</a:t>
            </a:r>
            <a:r>
              <a:rPr lang="en-US" altLang="zh-CN" sz="1600" b="1" dirty="0" err="1">
                <a:solidFill>
                  <a:srgbClr val="C00000"/>
                </a:solidFill>
                <a:latin typeface="微软雅黑" pitchFamily="34" charset="-122"/>
                <a:ea typeface="微软雅黑" pitchFamily="34" charset="-122"/>
              </a:rPr>
              <a:t>cwnd</a:t>
            </a:r>
            <a:r>
              <a:rPr lang="zh-CN" altLang="en-US" sz="1600" b="1" dirty="0">
                <a:solidFill>
                  <a:srgbClr val="C00000"/>
                </a:solidFill>
                <a:latin typeface="微软雅黑" pitchFamily="34" charset="-122"/>
                <a:ea typeface="微软雅黑" pitchFamily="34" charset="-122"/>
              </a:rPr>
              <a:t>随时间的变化曲线</a:t>
            </a:r>
          </a:p>
        </p:txBody>
      </p:sp>
      <p:sp>
        <p:nvSpPr>
          <p:cNvPr id="20" name="文本框 19">
            <a:extLst>
              <a:ext uri="{FF2B5EF4-FFF2-40B4-BE49-F238E27FC236}">
                <a16:creationId xmlns:a16="http://schemas.microsoft.com/office/drawing/2014/main" id="{C7CF4B80-C94B-9521-F192-2031771202BB}"/>
              </a:ext>
            </a:extLst>
          </p:cNvPr>
          <p:cNvSpPr txBox="1"/>
          <p:nvPr/>
        </p:nvSpPr>
        <p:spPr>
          <a:xfrm>
            <a:off x="1213893" y="3252660"/>
            <a:ext cx="1272626" cy="523220"/>
          </a:xfrm>
          <a:prstGeom prst="rect">
            <a:avLst/>
          </a:prstGeom>
          <a:noFill/>
        </p:spPr>
        <p:txBody>
          <a:bodyPr wrap="square">
            <a:spAutoFit/>
          </a:bodyPr>
          <a:lstStyle/>
          <a:p>
            <a:r>
              <a:rPr kumimoji="0" lang="zh-CN" altLang="en-US" sz="1400" b="1" i="0" u="none" strike="noStrike" kern="1200" cap="none" spc="0" normalizeH="0" baseline="0" noProof="0" dirty="0">
                <a:ln>
                  <a:noFill/>
                </a:ln>
                <a:solidFill>
                  <a:srgbClr val="0000FF"/>
                </a:solidFill>
                <a:effectLst/>
                <a:uLnTx/>
                <a:uFillTx/>
                <a:latin typeface="微软雅黑" pitchFamily="34" charset="-122"/>
                <a:ea typeface="微软雅黑" pitchFamily="34" charset="-122"/>
                <a:cs typeface="+mn-cs"/>
              </a:rPr>
              <a:t>上次发生拥塞时拥塞窗口值</a:t>
            </a:r>
            <a:endParaRPr lang="zh-CN" altLang="en-US" sz="1400" dirty="0">
              <a:solidFill>
                <a:srgbClr val="0000FF"/>
              </a:solidFill>
            </a:endParaRPr>
          </a:p>
        </p:txBody>
      </p:sp>
    </p:spTree>
    <p:extLst>
      <p:ext uri="{BB962C8B-B14F-4D97-AF65-F5344CB8AC3E}">
        <p14:creationId xmlns:p14="http://schemas.microsoft.com/office/powerpoint/2010/main" val="1087452813"/>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2BB34-6C61-6994-E7CE-1EDD412236B9}"/>
            </a:ext>
          </a:extLst>
        </p:cNvPr>
        <p:cNvGrpSpPr/>
        <p:nvPr/>
      </p:nvGrpSpPr>
      <p:grpSpPr>
        <a:xfrm>
          <a:off x="0" y="0"/>
          <a:ext cx="0" cy="0"/>
          <a:chOff x="0" y="0"/>
          <a:chExt cx="0" cy="0"/>
        </a:xfrm>
      </p:grpSpPr>
      <p:sp>
        <p:nvSpPr>
          <p:cNvPr id="14" name="圆角矩形 37">
            <a:extLst>
              <a:ext uri="{FF2B5EF4-FFF2-40B4-BE49-F238E27FC236}">
                <a16:creationId xmlns:a16="http://schemas.microsoft.com/office/drawing/2014/main" id="{51E3A54A-6B94-DC33-6719-CA93132165D8}"/>
              </a:ext>
            </a:extLst>
          </p:cNvPr>
          <p:cNvSpPr/>
          <p:nvPr/>
        </p:nvSpPr>
        <p:spPr>
          <a:xfrm>
            <a:off x="1213893" y="2330964"/>
            <a:ext cx="6809061" cy="239936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AutoShape 5">
            <a:extLst>
              <a:ext uri="{FF2B5EF4-FFF2-40B4-BE49-F238E27FC236}">
                <a16:creationId xmlns:a16="http://schemas.microsoft.com/office/drawing/2014/main" id="{D2FB577D-229E-8805-1595-B1F41A63C8F4}"/>
              </a:ext>
            </a:extLst>
          </p:cNvPr>
          <p:cNvSpPr>
            <a:spLocks noChangeArrowheads="1"/>
          </p:cNvSpPr>
          <p:nvPr/>
        </p:nvSpPr>
        <p:spPr bwMode="auto">
          <a:xfrm>
            <a:off x="545143" y="625919"/>
            <a:ext cx="8053711" cy="357839"/>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a:extLst>
              <a:ext uri="{FF2B5EF4-FFF2-40B4-BE49-F238E27FC236}">
                <a16:creationId xmlns:a16="http://schemas.microsoft.com/office/drawing/2014/main" id="{0F27730C-42C3-DB24-9800-03EF033F5168}"/>
              </a:ext>
            </a:extLst>
          </p:cNvPr>
          <p:cNvSpPr>
            <a:spLocks noChangeArrowheads="1"/>
          </p:cNvSpPr>
          <p:nvPr/>
        </p:nvSpPr>
        <p:spPr bwMode="auto">
          <a:xfrm>
            <a:off x="3637487" y="599146"/>
            <a:ext cx="18690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1. TCP CUBIC</a:t>
            </a:r>
            <a:endParaRPr lang="zh-CN" altLang="en-US" sz="2000" b="1" dirty="0">
              <a:solidFill>
                <a:schemeClr val="bg1"/>
              </a:solidFill>
              <a:latin typeface="微软雅黑" pitchFamily="34" charset="-122"/>
              <a:ea typeface="微软雅黑" pitchFamily="34" charset="-122"/>
            </a:endParaRPr>
          </a:p>
        </p:txBody>
      </p:sp>
      <p:sp>
        <p:nvSpPr>
          <p:cNvPr id="4" name="Rectangle 8">
            <a:extLst>
              <a:ext uri="{FF2B5EF4-FFF2-40B4-BE49-F238E27FC236}">
                <a16:creationId xmlns:a16="http://schemas.microsoft.com/office/drawing/2014/main" id="{BB6BBA95-3E8F-C42F-0151-AAF6DC29F7D9}"/>
              </a:ext>
            </a:extLst>
          </p:cNvPr>
          <p:cNvSpPr>
            <a:spLocks noChangeArrowheads="1"/>
          </p:cNvSpPr>
          <p:nvPr/>
        </p:nvSpPr>
        <p:spPr bwMode="auto">
          <a:xfrm>
            <a:off x="545143" y="1029517"/>
            <a:ext cx="8053711" cy="993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400"/>
              </a:lnSpc>
              <a:buClr>
                <a:srgbClr val="0070C0"/>
              </a:buClr>
              <a:buFont typeface="Wingdings" pitchFamily="2" charset="2"/>
              <a:buChar char="l"/>
            </a:pPr>
            <a:r>
              <a:rPr lang="zh-CN" altLang="en-US" b="1" dirty="0">
                <a:latin typeface="微软雅黑" pitchFamily="34" charset="-122"/>
                <a:ea typeface="微软雅黑" pitchFamily="34" charset="-122"/>
              </a:rPr>
              <a:t>后面是</a:t>
            </a:r>
            <a:r>
              <a:rPr lang="zh-CN" altLang="en-US" b="1" dirty="0">
                <a:solidFill>
                  <a:srgbClr val="0000FF"/>
                </a:solidFill>
                <a:latin typeface="微软雅黑" pitchFamily="34" charset="-122"/>
                <a:ea typeface="微软雅黑" pitchFamily="34" charset="-122"/>
              </a:rPr>
              <a:t>再次快速上升</a:t>
            </a:r>
            <a:r>
              <a:rPr lang="zh-CN" altLang="en-US" b="1" dirty="0">
                <a:latin typeface="微软雅黑" pitchFamily="34" charset="-122"/>
                <a:ea typeface="微软雅黑" pitchFamily="34" charset="-122"/>
              </a:rPr>
              <a:t>。在平坦期后，</a:t>
            </a:r>
            <a:r>
              <a:rPr lang="en-US" altLang="zh-CN" b="1" dirty="0" err="1">
                <a:latin typeface="微软雅黑" pitchFamily="34" charset="-122"/>
                <a:ea typeface="微软雅黑" pitchFamily="34" charset="-122"/>
              </a:rPr>
              <a:t>cwnd</a:t>
            </a:r>
            <a:r>
              <a:rPr lang="zh-CN" altLang="en-US" b="1" dirty="0">
                <a:latin typeface="微软雅黑" pitchFamily="34" charset="-122"/>
                <a:ea typeface="微软雅黑" pitchFamily="34" charset="-122"/>
              </a:rPr>
              <a:t>再次加速增长，目的是为了更好地利用网络资源。在没有检测到拥塞迹象时，快速增长的策略可以提升网络的整体传输效率。这也是试探有无可能会达到新的</a:t>
            </a:r>
            <a:r>
              <a:rPr lang="en-US" altLang="zh-CN" b="1" dirty="0" err="1">
                <a:latin typeface="微软雅黑" pitchFamily="34" charset="-122"/>
                <a:ea typeface="微软雅黑" pitchFamily="34" charset="-122"/>
              </a:rPr>
              <a:t>Wmax</a:t>
            </a:r>
            <a:r>
              <a:rPr lang="zh-CN" altLang="en-US" b="1" dirty="0">
                <a:latin typeface="微软雅黑" pitchFamily="34" charset="-122"/>
                <a:ea typeface="微软雅黑" pitchFamily="34" charset="-122"/>
              </a:rPr>
              <a:t>。</a:t>
            </a:r>
          </a:p>
        </p:txBody>
      </p:sp>
      <p:grpSp>
        <p:nvGrpSpPr>
          <p:cNvPr id="13" name="组合 12">
            <a:extLst>
              <a:ext uri="{FF2B5EF4-FFF2-40B4-BE49-F238E27FC236}">
                <a16:creationId xmlns:a16="http://schemas.microsoft.com/office/drawing/2014/main" id="{A6244282-C18E-5177-CB39-190F39EBDDF9}"/>
              </a:ext>
            </a:extLst>
          </p:cNvPr>
          <p:cNvGrpSpPr/>
          <p:nvPr/>
        </p:nvGrpSpPr>
        <p:grpSpPr>
          <a:xfrm>
            <a:off x="2293103" y="2314380"/>
            <a:ext cx="5425572" cy="2455862"/>
            <a:chOff x="1847871" y="1443038"/>
            <a:chExt cx="5999922" cy="2732547"/>
          </a:xfrm>
        </p:grpSpPr>
        <p:sp>
          <p:nvSpPr>
            <p:cNvPr id="5" name="任意多边形: 形状 4">
              <a:extLst>
                <a:ext uri="{FF2B5EF4-FFF2-40B4-BE49-F238E27FC236}">
                  <a16:creationId xmlns:a16="http://schemas.microsoft.com/office/drawing/2014/main" id="{BD710915-FC62-F6F3-E54C-14FAF0DD78F0}"/>
                </a:ext>
              </a:extLst>
            </p:cNvPr>
            <p:cNvSpPr/>
            <p:nvPr/>
          </p:nvSpPr>
          <p:spPr>
            <a:xfrm rot="20972334">
              <a:off x="2354263" y="2197100"/>
              <a:ext cx="4708525" cy="1304925"/>
            </a:xfrm>
            <a:custGeom>
              <a:avLst/>
              <a:gdLst>
                <a:gd name="connsiteX0" fmla="*/ 0 w 7281334"/>
                <a:gd name="connsiteY0" fmla="*/ 2088444 h 2088444"/>
                <a:gd name="connsiteX1" fmla="*/ 2348089 w 7281334"/>
                <a:gd name="connsiteY1" fmla="*/ 756355 h 2088444"/>
                <a:gd name="connsiteX2" fmla="*/ 5305778 w 7281334"/>
                <a:gd name="connsiteY2" fmla="*/ 1083733 h 2088444"/>
                <a:gd name="connsiteX3" fmla="*/ 7281334 w 7281334"/>
                <a:gd name="connsiteY3" fmla="*/ 0 h 2088444"/>
                <a:gd name="connsiteX0" fmla="*/ 0 w 6972777"/>
                <a:gd name="connsiteY0" fmla="*/ 2206795 h 2206795"/>
                <a:gd name="connsiteX1" fmla="*/ 2039532 w 6972777"/>
                <a:gd name="connsiteY1" fmla="*/ 756355 h 2206795"/>
                <a:gd name="connsiteX2" fmla="*/ 4997221 w 6972777"/>
                <a:gd name="connsiteY2" fmla="*/ 1083733 h 2206795"/>
                <a:gd name="connsiteX3" fmla="*/ 6972777 w 6972777"/>
                <a:gd name="connsiteY3" fmla="*/ 0 h 2206795"/>
                <a:gd name="connsiteX0" fmla="*/ 0 w 7020019"/>
                <a:gd name="connsiteY0" fmla="*/ 2024312 h 2024312"/>
                <a:gd name="connsiteX1" fmla="*/ 2086774 w 7020019"/>
                <a:gd name="connsiteY1" fmla="*/ 756355 h 2024312"/>
                <a:gd name="connsiteX2" fmla="*/ 5044463 w 7020019"/>
                <a:gd name="connsiteY2" fmla="*/ 1083733 h 2024312"/>
                <a:gd name="connsiteX3" fmla="*/ 7020019 w 7020019"/>
                <a:gd name="connsiteY3" fmla="*/ 0 h 2024312"/>
                <a:gd name="connsiteX0" fmla="*/ 0 w 7020019"/>
                <a:gd name="connsiteY0" fmla="*/ 2024312 h 2024312"/>
                <a:gd name="connsiteX1" fmla="*/ 2086774 w 7020019"/>
                <a:gd name="connsiteY1" fmla="*/ 756355 h 2024312"/>
                <a:gd name="connsiteX2" fmla="*/ 5044463 w 7020019"/>
                <a:gd name="connsiteY2" fmla="*/ 1083733 h 2024312"/>
                <a:gd name="connsiteX3" fmla="*/ 7020019 w 7020019"/>
                <a:gd name="connsiteY3" fmla="*/ 0 h 2024312"/>
                <a:gd name="connsiteX0" fmla="*/ 0 w 7020019"/>
                <a:gd name="connsiteY0" fmla="*/ 2024312 h 2024312"/>
                <a:gd name="connsiteX1" fmla="*/ 2086774 w 7020019"/>
                <a:gd name="connsiteY1" fmla="*/ 756355 h 2024312"/>
                <a:gd name="connsiteX2" fmla="*/ 5072331 w 7020019"/>
                <a:gd name="connsiteY2" fmla="*/ 894278 h 2024312"/>
                <a:gd name="connsiteX3" fmla="*/ 7020019 w 7020019"/>
                <a:gd name="connsiteY3" fmla="*/ 0 h 2024312"/>
                <a:gd name="connsiteX0" fmla="*/ 0 w 7020019"/>
                <a:gd name="connsiteY0" fmla="*/ 2024312 h 2024312"/>
                <a:gd name="connsiteX1" fmla="*/ 2086774 w 7020019"/>
                <a:gd name="connsiteY1" fmla="*/ 756355 h 2024312"/>
                <a:gd name="connsiteX2" fmla="*/ 3607173 w 7020019"/>
                <a:gd name="connsiteY2" fmla="*/ 794214 h 2024312"/>
                <a:gd name="connsiteX3" fmla="*/ 5072331 w 7020019"/>
                <a:gd name="connsiteY3" fmla="*/ 894278 h 2024312"/>
                <a:gd name="connsiteX4" fmla="*/ 7020019 w 7020019"/>
                <a:gd name="connsiteY4" fmla="*/ 0 h 2024312"/>
                <a:gd name="connsiteX0" fmla="*/ 0 w 7020019"/>
                <a:gd name="connsiteY0" fmla="*/ 2024312 h 2024312"/>
                <a:gd name="connsiteX1" fmla="*/ 2086774 w 7020019"/>
                <a:gd name="connsiteY1" fmla="*/ 756355 h 2024312"/>
                <a:gd name="connsiteX2" fmla="*/ 3627825 w 7020019"/>
                <a:gd name="connsiteY2" fmla="*/ 880680 h 2024312"/>
                <a:gd name="connsiteX3" fmla="*/ 5072331 w 7020019"/>
                <a:gd name="connsiteY3" fmla="*/ 894278 h 2024312"/>
                <a:gd name="connsiteX4" fmla="*/ 7020019 w 7020019"/>
                <a:gd name="connsiteY4" fmla="*/ 0 h 2024312"/>
                <a:gd name="connsiteX0" fmla="*/ 0 w 7020019"/>
                <a:gd name="connsiteY0" fmla="*/ 2024312 h 2024312"/>
                <a:gd name="connsiteX1" fmla="*/ 2086774 w 7020019"/>
                <a:gd name="connsiteY1" fmla="*/ 756355 h 2024312"/>
                <a:gd name="connsiteX2" fmla="*/ 3633245 w 7020019"/>
                <a:gd name="connsiteY2" fmla="*/ 857450 h 2024312"/>
                <a:gd name="connsiteX3" fmla="*/ 5072331 w 7020019"/>
                <a:gd name="connsiteY3" fmla="*/ 894278 h 2024312"/>
                <a:gd name="connsiteX4" fmla="*/ 7020019 w 7020019"/>
                <a:gd name="connsiteY4" fmla="*/ 0 h 2024312"/>
                <a:gd name="connsiteX0" fmla="*/ 0 w 6864116"/>
                <a:gd name="connsiteY0" fmla="*/ 2126000 h 2126000"/>
                <a:gd name="connsiteX1" fmla="*/ 2086774 w 6864116"/>
                <a:gd name="connsiteY1" fmla="*/ 858043 h 2126000"/>
                <a:gd name="connsiteX2" fmla="*/ 3633245 w 6864116"/>
                <a:gd name="connsiteY2" fmla="*/ 959138 h 2126000"/>
                <a:gd name="connsiteX3" fmla="*/ 5072331 w 6864116"/>
                <a:gd name="connsiteY3" fmla="*/ 995966 h 2126000"/>
                <a:gd name="connsiteX4" fmla="*/ 6864116 w 6864116"/>
                <a:gd name="connsiteY4" fmla="*/ 0 h 2126000"/>
                <a:gd name="connsiteX0" fmla="*/ 0 w 6864116"/>
                <a:gd name="connsiteY0" fmla="*/ 2126000 h 2126000"/>
                <a:gd name="connsiteX1" fmla="*/ 2086774 w 6864116"/>
                <a:gd name="connsiteY1" fmla="*/ 858043 h 2126000"/>
                <a:gd name="connsiteX2" fmla="*/ 3633245 w 6864116"/>
                <a:gd name="connsiteY2" fmla="*/ 959138 h 2126000"/>
                <a:gd name="connsiteX3" fmla="*/ 5072331 w 6864116"/>
                <a:gd name="connsiteY3" fmla="*/ 995966 h 2126000"/>
                <a:gd name="connsiteX4" fmla="*/ 6864116 w 6864116"/>
                <a:gd name="connsiteY4" fmla="*/ 0 h 2126000"/>
                <a:gd name="connsiteX0" fmla="*/ 0 w 6864116"/>
                <a:gd name="connsiteY0" fmla="*/ 2126000 h 2126000"/>
                <a:gd name="connsiteX1" fmla="*/ 1063506 w 6864116"/>
                <a:gd name="connsiteY1" fmla="*/ 1159798 h 2126000"/>
                <a:gd name="connsiteX2" fmla="*/ 2086774 w 6864116"/>
                <a:gd name="connsiteY2" fmla="*/ 858043 h 2126000"/>
                <a:gd name="connsiteX3" fmla="*/ 3633245 w 6864116"/>
                <a:gd name="connsiteY3" fmla="*/ 959138 h 2126000"/>
                <a:gd name="connsiteX4" fmla="*/ 5072331 w 6864116"/>
                <a:gd name="connsiteY4" fmla="*/ 995966 h 2126000"/>
                <a:gd name="connsiteX5" fmla="*/ 6864116 w 6864116"/>
                <a:gd name="connsiteY5" fmla="*/ 0 h 2126000"/>
                <a:gd name="connsiteX0" fmla="*/ 0 w 6864116"/>
                <a:gd name="connsiteY0" fmla="*/ 2126000 h 2126000"/>
                <a:gd name="connsiteX1" fmla="*/ 956905 w 6864116"/>
                <a:gd name="connsiteY1" fmla="*/ 1126763 h 2126000"/>
                <a:gd name="connsiteX2" fmla="*/ 2086774 w 6864116"/>
                <a:gd name="connsiteY2" fmla="*/ 858043 h 2126000"/>
                <a:gd name="connsiteX3" fmla="*/ 3633245 w 6864116"/>
                <a:gd name="connsiteY3" fmla="*/ 959138 h 2126000"/>
                <a:gd name="connsiteX4" fmla="*/ 5072331 w 6864116"/>
                <a:gd name="connsiteY4" fmla="*/ 995966 h 2126000"/>
                <a:gd name="connsiteX5" fmla="*/ 6864116 w 6864116"/>
                <a:gd name="connsiteY5" fmla="*/ 0 h 2126000"/>
                <a:gd name="connsiteX0" fmla="*/ 0 w 6864116"/>
                <a:gd name="connsiteY0" fmla="*/ 2126000 h 2126000"/>
                <a:gd name="connsiteX1" fmla="*/ 366115 w 6864116"/>
                <a:gd name="connsiteY1" fmla="*/ 1699278 h 2126000"/>
                <a:gd name="connsiteX2" fmla="*/ 956905 w 6864116"/>
                <a:gd name="connsiteY2" fmla="*/ 1126763 h 2126000"/>
                <a:gd name="connsiteX3" fmla="*/ 2086774 w 6864116"/>
                <a:gd name="connsiteY3" fmla="*/ 858043 h 2126000"/>
                <a:gd name="connsiteX4" fmla="*/ 3633245 w 6864116"/>
                <a:gd name="connsiteY4" fmla="*/ 959138 h 2126000"/>
                <a:gd name="connsiteX5" fmla="*/ 5072331 w 6864116"/>
                <a:gd name="connsiteY5" fmla="*/ 995966 h 2126000"/>
                <a:gd name="connsiteX6" fmla="*/ 6864116 w 6864116"/>
                <a:gd name="connsiteY6" fmla="*/ 0 h 2126000"/>
                <a:gd name="connsiteX0" fmla="*/ 0 w 6864116"/>
                <a:gd name="connsiteY0" fmla="*/ 2126000 h 2126000"/>
                <a:gd name="connsiteX1" fmla="*/ 300809 w 6864116"/>
                <a:gd name="connsiteY1" fmla="*/ 1594231 h 2126000"/>
                <a:gd name="connsiteX2" fmla="*/ 956905 w 6864116"/>
                <a:gd name="connsiteY2" fmla="*/ 1126763 h 2126000"/>
                <a:gd name="connsiteX3" fmla="*/ 2086774 w 6864116"/>
                <a:gd name="connsiteY3" fmla="*/ 858043 h 2126000"/>
                <a:gd name="connsiteX4" fmla="*/ 3633245 w 6864116"/>
                <a:gd name="connsiteY4" fmla="*/ 959138 h 2126000"/>
                <a:gd name="connsiteX5" fmla="*/ 5072331 w 6864116"/>
                <a:gd name="connsiteY5" fmla="*/ 995966 h 2126000"/>
                <a:gd name="connsiteX6" fmla="*/ 6864116 w 6864116"/>
                <a:gd name="connsiteY6" fmla="*/ 0 h 2126000"/>
                <a:gd name="connsiteX0" fmla="*/ 0 w 6864116"/>
                <a:gd name="connsiteY0" fmla="*/ 2126000 h 2126000"/>
                <a:gd name="connsiteX1" fmla="*/ 300809 w 6864116"/>
                <a:gd name="connsiteY1" fmla="*/ 1594231 h 2126000"/>
                <a:gd name="connsiteX2" fmla="*/ 956905 w 6864116"/>
                <a:gd name="connsiteY2" fmla="*/ 1126763 h 2126000"/>
                <a:gd name="connsiteX3" fmla="*/ 2086774 w 6864116"/>
                <a:gd name="connsiteY3" fmla="*/ 858043 h 2126000"/>
                <a:gd name="connsiteX4" fmla="*/ 2778122 w 6864116"/>
                <a:gd name="connsiteY4" fmla="*/ 914779 h 2126000"/>
                <a:gd name="connsiteX5" fmla="*/ 3633245 w 6864116"/>
                <a:gd name="connsiteY5" fmla="*/ 959138 h 2126000"/>
                <a:gd name="connsiteX6" fmla="*/ 5072331 w 6864116"/>
                <a:gd name="connsiteY6" fmla="*/ 995966 h 2126000"/>
                <a:gd name="connsiteX7" fmla="*/ 6864116 w 6864116"/>
                <a:gd name="connsiteY7" fmla="*/ 0 h 2126000"/>
                <a:gd name="connsiteX0" fmla="*/ 0 w 6864116"/>
                <a:gd name="connsiteY0" fmla="*/ 2126000 h 2126000"/>
                <a:gd name="connsiteX1" fmla="*/ 300809 w 6864116"/>
                <a:gd name="connsiteY1" fmla="*/ 1594231 h 2126000"/>
                <a:gd name="connsiteX2" fmla="*/ 956905 w 6864116"/>
                <a:gd name="connsiteY2" fmla="*/ 1126763 h 2126000"/>
                <a:gd name="connsiteX3" fmla="*/ 2086774 w 6864116"/>
                <a:gd name="connsiteY3" fmla="*/ 858043 h 2126000"/>
                <a:gd name="connsiteX4" fmla="*/ 2765213 w 6864116"/>
                <a:gd name="connsiteY4" fmla="*/ 830120 h 2126000"/>
                <a:gd name="connsiteX5" fmla="*/ 3633245 w 6864116"/>
                <a:gd name="connsiteY5" fmla="*/ 959138 h 2126000"/>
                <a:gd name="connsiteX6" fmla="*/ 5072331 w 6864116"/>
                <a:gd name="connsiteY6" fmla="*/ 995966 h 2126000"/>
                <a:gd name="connsiteX7" fmla="*/ 6864116 w 6864116"/>
                <a:gd name="connsiteY7" fmla="*/ 0 h 2126000"/>
                <a:gd name="connsiteX0" fmla="*/ 0 w 6864116"/>
                <a:gd name="connsiteY0" fmla="*/ 2126000 h 2126000"/>
                <a:gd name="connsiteX1" fmla="*/ 300809 w 6864116"/>
                <a:gd name="connsiteY1" fmla="*/ 1594231 h 2126000"/>
                <a:gd name="connsiteX2" fmla="*/ 956905 w 6864116"/>
                <a:gd name="connsiteY2" fmla="*/ 1126763 h 2126000"/>
                <a:gd name="connsiteX3" fmla="*/ 1567587 w 6864116"/>
                <a:gd name="connsiteY3" fmla="*/ 958967 h 2126000"/>
                <a:gd name="connsiteX4" fmla="*/ 2086774 w 6864116"/>
                <a:gd name="connsiteY4" fmla="*/ 858043 h 2126000"/>
                <a:gd name="connsiteX5" fmla="*/ 2765213 w 6864116"/>
                <a:gd name="connsiteY5" fmla="*/ 830120 h 2126000"/>
                <a:gd name="connsiteX6" fmla="*/ 3633245 w 6864116"/>
                <a:gd name="connsiteY6" fmla="*/ 959138 h 2126000"/>
                <a:gd name="connsiteX7" fmla="*/ 5072331 w 6864116"/>
                <a:gd name="connsiteY7" fmla="*/ 995966 h 2126000"/>
                <a:gd name="connsiteX8" fmla="*/ 6864116 w 6864116"/>
                <a:gd name="connsiteY8" fmla="*/ 0 h 2126000"/>
                <a:gd name="connsiteX0" fmla="*/ 0 w 6864116"/>
                <a:gd name="connsiteY0" fmla="*/ 2126000 h 2126000"/>
                <a:gd name="connsiteX1" fmla="*/ 300809 w 6864116"/>
                <a:gd name="connsiteY1" fmla="*/ 1594231 h 2126000"/>
                <a:gd name="connsiteX2" fmla="*/ 956905 w 6864116"/>
                <a:gd name="connsiteY2" fmla="*/ 1126763 h 2126000"/>
                <a:gd name="connsiteX3" fmla="*/ 1584363 w 6864116"/>
                <a:gd name="connsiteY3" fmla="*/ 922056 h 2126000"/>
                <a:gd name="connsiteX4" fmla="*/ 2086774 w 6864116"/>
                <a:gd name="connsiteY4" fmla="*/ 858043 h 2126000"/>
                <a:gd name="connsiteX5" fmla="*/ 2765213 w 6864116"/>
                <a:gd name="connsiteY5" fmla="*/ 830120 h 2126000"/>
                <a:gd name="connsiteX6" fmla="*/ 3633245 w 6864116"/>
                <a:gd name="connsiteY6" fmla="*/ 959138 h 2126000"/>
                <a:gd name="connsiteX7" fmla="*/ 5072331 w 6864116"/>
                <a:gd name="connsiteY7" fmla="*/ 995966 h 2126000"/>
                <a:gd name="connsiteX8" fmla="*/ 6864116 w 6864116"/>
                <a:gd name="connsiteY8" fmla="*/ 0 h 2126000"/>
                <a:gd name="connsiteX0" fmla="*/ 0 w 6964770"/>
                <a:gd name="connsiteY0" fmla="*/ 2347463 h 2347463"/>
                <a:gd name="connsiteX1" fmla="*/ 300809 w 6964770"/>
                <a:gd name="connsiteY1" fmla="*/ 1815694 h 2347463"/>
                <a:gd name="connsiteX2" fmla="*/ 956905 w 6964770"/>
                <a:gd name="connsiteY2" fmla="*/ 1348226 h 2347463"/>
                <a:gd name="connsiteX3" fmla="*/ 1584363 w 6964770"/>
                <a:gd name="connsiteY3" fmla="*/ 1143519 h 2347463"/>
                <a:gd name="connsiteX4" fmla="*/ 2086774 w 6964770"/>
                <a:gd name="connsiteY4" fmla="*/ 1079506 h 2347463"/>
                <a:gd name="connsiteX5" fmla="*/ 2765213 w 6964770"/>
                <a:gd name="connsiteY5" fmla="*/ 1051583 h 2347463"/>
                <a:gd name="connsiteX6" fmla="*/ 3633245 w 6964770"/>
                <a:gd name="connsiteY6" fmla="*/ 1180601 h 2347463"/>
                <a:gd name="connsiteX7" fmla="*/ 5072331 w 6964770"/>
                <a:gd name="connsiteY7" fmla="*/ 1217429 h 2347463"/>
                <a:gd name="connsiteX8" fmla="*/ 6964770 w 6964770"/>
                <a:gd name="connsiteY8" fmla="*/ 0 h 2347463"/>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7477 w 7007034"/>
                <a:gd name="connsiteY5" fmla="*/ 1051583 h 2353918"/>
                <a:gd name="connsiteX6" fmla="*/ 3675509 w 7007034"/>
                <a:gd name="connsiteY6" fmla="*/ 1180601 h 2353918"/>
                <a:gd name="connsiteX7" fmla="*/ 5114595 w 7007034"/>
                <a:gd name="connsiteY7" fmla="*/ 1217429 h 2353918"/>
                <a:gd name="connsiteX8" fmla="*/ 7007034 w 7007034"/>
                <a:gd name="connsiteY8"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7477 w 7007034"/>
                <a:gd name="connsiteY5" fmla="*/ 1051583 h 2353918"/>
                <a:gd name="connsiteX6" fmla="*/ 3675509 w 7007034"/>
                <a:gd name="connsiteY6" fmla="*/ 1180601 h 2353918"/>
                <a:gd name="connsiteX7" fmla="*/ 5114595 w 7007034"/>
                <a:gd name="connsiteY7" fmla="*/ 1217429 h 2353918"/>
                <a:gd name="connsiteX8" fmla="*/ 6210613 w 7007034"/>
                <a:gd name="connsiteY8" fmla="*/ 783880 h 2353918"/>
                <a:gd name="connsiteX9" fmla="*/ 7007034 w 7007034"/>
                <a:gd name="connsiteY9"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7477 w 7007034"/>
                <a:gd name="connsiteY5" fmla="*/ 1051583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7007034 w 7007034"/>
                <a:gd name="connsiteY9"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7477 w 7007034"/>
                <a:gd name="connsiteY5" fmla="*/ 1051583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6688124 w 7007034"/>
                <a:gd name="connsiteY9" fmla="*/ 413682 h 2353918"/>
                <a:gd name="connsiteX10" fmla="*/ 7007034 w 7007034"/>
                <a:gd name="connsiteY10"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7477 w 7007034"/>
                <a:gd name="connsiteY5" fmla="*/ 1051583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6740438 w 7007034"/>
                <a:gd name="connsiteY9" fmla="*/ 434073 h 2353918"/>
                <a:gd name="connsiteX10" fmla="*/ 7007034 w 7007034"/>
                <a:gd name="connsiteY10"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2067 w 7007034"/>
                <a:gd name="connsiteY5" fmla="*/ 1074817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6740438 w 7007034"/>
                <a:gd name="connsiteY9" fmla="*/ 434073 h 2353918"/>
                <a:gd name="connsiteX10" fmla="*/ 7007034 w 7007034"/>
                <a:gd name="connsiteY10"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799747 w 7007034"/>
                <a:gd name="connsiteY5" fmla="*/ 1049779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6740438 w 7007034"/>
                <a:gd name="connsiteY9" fmla="*/ 434073 h 2353918"/>
                <a:gd name="connsiteX10" fmla="*/ 7007034 w 7007034"/>
                <a:gd name="connsiteY10"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6740438 w 7007034"/>
                <a:gd name="connsiteY9" fmla="*/ 434073 h 2353918"/>
                <a:gd name="connsiteX10" fmla="*/ 7007034 w 7007034"/>
                <a:gd name="connsiteY10"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3979424 w 7007034"/>
                <a:gd name="connsiteY7" fmla="*/ 1193391 h 2353918"/>
                <a:gd name="connsiteX8" fmla="*/ 5114595 w 7007034"/>
                <a:gd name="connsiteY8" fmla="*/ 1217429 h 2353918"/>
                <a:gd name="connsiteX9" fmla="*/ 6275300 w 7007034"/>
                <a:gd name="connsiteY9" fmla="*/ 856158 h 2353918"/>
                <a:gd name="connsiteX10" fmla="*/ 6740438 w 7007034"/>
                <a:gd name="connsiteY10" fmla="*/ 434073 h 2353918"/>
                <a:gd name="connsiteX11" fmla="*/ 7007034 w 7007034"/>
                <a:gd name="connsiteY11"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4089982 w 7007034"/>
                <a:gd name="connsiteY7" fmla="*/ 1243725 h 2353918"/>
                <a:gd name="connsiteX8" fmla="*/ 5114595 w 7007034"/>
                <a:gd name="connsiteY8" fmla="*/ 1217429 h 2353918"/>
                <a:gd name="connsiteX9" fmla="*/ 6275300 w 7007034"/>
                <a:gd name="connsiteY9" fmla="*/ 856158 h 2353918"/>
                <a:gd name="connsiteX10" fmla="*/ 6740438 w 7007034"/>
                <a:gd name="connsiteY10" fmla="*/ 434073 h 2353918"/>
                <a:gd name="connsiteX11" fmla="*/ 7007034 w 7007034"/>
                <a:gd name="connsiteY11"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4110855 w 7007034"/>
                <a:gd name="connsiteY7" fmla="*/ 1224106 h 2353918"/>
                <a:gd name="connsiteX8" fmla="*/ 5114595 w 7007034"/>
                <a:gd name="connsiteY8" fmla="*/ 1217429 h 2353918"/>
                <a:gd name="connsiteX9" fmla="*/ 6275300 w 7007034"/>
                <a:gd name="connsiteY9" fmla="*/ 856158 h 2353918"/>
                <a:gd name="connsiteX10" fmla="*/ 6740438 w 7007034"/>
                <a:gd name="connsiteY10" fmla="*/ 434073 h 2353918"/>
                <a:gd name="connsiteX11" fmla="*/ 7007034 w 7007034"/>
                <a:gd name="connsiteY11"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4110855 w 7007034"/>
                <a:gd name="connsiteY7" fmla="*/ 1224106 h 2353918"/>
                <a:gd name="connsiteX8" fmla="*/ 5114595 w 7007034"/>
                <a:gd name="connsiteY8" fmla="*/ 1217429 h 2353918"/>
                <a:gd name="connsiteX9" fmla="*/ 6275300 w 7007034"/>
                <a:gd name="connsiteY9" fmla="*/ 856158 h 2353918"/>
                <a:gd name="connsiteX10" fmla="*/ 6519081 w 7007034"/>
                <a:gd name="connsiteY10" fmla="*/ 684481 h 2353918"/>
                <a:gd name="connsiteX11" fmla="*/ 6740438 w 7007034"/>
                <a:gd name="connsiteY11" fmla="*/ 434073 h 2353918"/>
                <a:gd name="connsiteX12" fmla="*/ 7007034 w 7007034"/>
                <a:gd name="connsiteY12"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4110855 w 7007034"/>
                <a:gd name="connsiteY7" fmla="*/ 1224106 h 2353918"/>
                <a:gd name="connsiteX8" fmla="*/ 5114595 w 7007034"/>
                <a:gd name="connsiteY8" fmla="*/ 1217429 h 2353918"/>
                <a:gd name="connsiteX9" fmla="*/ 6275300 w 7007034"/>
                <a:gd name="connsiteY9" fmla="*/ 856158 h 2353918"/>
                <a:gd name="connsiteX10" fmla="*/ 6518564 w 7007034"/>
                <a:gd name="connsiteY10" fmla="*/ 651697 h 2353918"/>
                <a:gd name="connsiteX11" fmla="*/ 6740438 w 7007034"/>
                <a:gd name="connsiteY11" fmla="*/ 434073 h 2353918"/>
                <a:gd name="connsiteX12" fmla="*/ 7007034 w 7007034"/>
                <a:gd name="connsiteY12"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4110855 w 7007034"/>
                <a:gd name="connsiteY7" fmla="*/ 1224106 h 2353918"/>
                <a:gd name="connsiteX8" fmla="*/ 5114595 w 7007034"/>
                <a:gd name="connsiteY8" fmla="*/ 1217429 h 2353918"/>
                <a:gd name="connsiteX9" fmla="*/ 6275300 w 7007034"/>
                <a:gd name="connsiteY9" fmla="*/ 856158 h 2353918"/>
                <a:gd name="connsiteX10" fmla="*/ 6551810 w 7007034"/>
                <a:gd name="connsiteY10" fmla="*/ 683963 h 2353918"/>
                <a:gd name="connsiteX11" fmla="*/ 6740438 w 7007034"/>
                <a:gd name="connsiteY11" fmla="*/ 434073 h 2353918"/>
                <a:gd name="connsiteX12" fmla="*/ 7007034 w 7007034"/>
                <a:gd name="connsiteY12" fmla="*/ 0 h 2353918"/>
                <a:gd name="connsiteX0" fmla="*/ 0 w 6974305"/>
                <a:gd name="connsiteY0" fmla="*/ 2353401 h 2353401"/>
                <a:gd name="connsiteX1" fmla="*/ 343073 w 6974305"/>
                <a:gd name="connsiteY1" fmla="*/ 1815177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799747 w 6974305"/>
                <a:gd name="connsiteY5" fmla="*/ 1049262 h 2353401"/>
                <a:gd name="connsiteX6" fmla="*/ 3675509 w 6974305"/>
                <a:gd name="connsiteY6" fmla="*/ 1180084 h 2353401"/>
                <a:gd name="connsiteX7" fmla="*/ 4110855 w 6974305"/>
                <a:gd name="connsiteY7" fmla="*/ 1223589 h 2353401"/>
                <a:gd name="connsiteX8" fmla="*/ 5114595 w 6974305"/>
                <a:gd name="connsiteY8" fmla="*/ 1216912 h 2353401"/>
                <a:gd name="connsiteX9" fmla="*/ 6275300 w 6974305"/>
                <a:gd name="connsiteY9" fmla="*/ 855641 h 2353401"/>
                <a:gd name="connsiteX10" fmla="*/ 6551810 w 6974305"/>
                <a:gd name="connsiteY10" fmla="*/ 683446 h 2353401"/>
                <a:gd name="connsiteX11" fmla="*/ 6740438 w 6974305"/>
                <a:gd name="connsiteY11" fmla="*/ 433556 h 2353401"/>
                <a:gd name="connsiteX12" fmla="*/ 6974305 w 6974305"/>
                <a:gd name="connsiteY12" fmla="*/ 0 h 2353401"/>
                <a:gd name="connsiteX0" fmla="*/ 0 w 6974305"/>
                <a:gd name="connsiteY0" fmla="*/ 2353401 h 2353401"/>
                <a:gd name="connsiteX1" fmla="*/ 343073 w 6974305"/>
                <a:gd name="connsiteY1" fmla="*/ 1815177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803871 w 6974305"/>
                <a:gd name="connsiteY5" fmla="*/ 1066557 h 2353401"/>
                <a:gd name="connsiteX6" fmla="*/ 3675509 w 6974305"/>
                <a:gd name="connsiteY6" fmla="*/ 1180084 h 2353401"/>
                <a:gd name="connsiteX7" fmla="*/ 4110855 w 6974305"/>
                <a:gd name="connsiteY7" fmla="*/ 1223589 h 2353401"/>
                <a:gd name="connsiteX8" fmla="*/ 5114595 w 6974305"/>
                <a:gd name="connsiteY8" fmla="*/ 1216912 h 2353401"/>
                <a:gd name="connsiteX9" fmla="*/ 6275300 w 6974305"/>
                <a:gd name="connsiteY9" fmla="*/ 855641 h 2353401"/>
                <a:gd name="connsiteX10" fmla="*/ 6551810 w 6974305"/>
                <a:gd name="connsiteY10" fmla="*/ 683446 h 2353401"/>
                <a:gd name="connsiteX11" fmla="*/ 6740438 w 6974305"/>
                <a:gd name="connsiteY11" fmla="*/ 433556 h 2353401"/>
                <a:gd name="connsiteX12" fmla="*/ 6974305 w 6974305"/>
                <a:gd name="connsiteY12" fmla="*/ 0 h 2353401"/>
                <a:gd name="connsiteX0" fmla="*/ 0 w 6974305"/>
                <a:gd name="connsiteY0" fmla="*/ 2353401 h 2353401"/>
                <a:gd name="connsiteX1" fmla="*/ 343073 w 6974305"/>
                <a:gd name="connsiteY1" fmla="*/ 1815177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6330 w 6974305"/>
                <a:gd name="connsiteY5" fmla="*/ 1050441 h 2353401"/>
                <a:gd name="connsiteX6" fmla="*/ 2803871 w 6974305"/>
                <a:gd name="connsiteY6" fmla="*/ 1066557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75300 w 6974305"/>
                <a:gd name="connsiteY10" fmla="*/ 855641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43073 w 6974305"/>
                <a:gd name="connsiteY1" fmla="*/ 1815177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03871 w 6974305"/>
                <a:gd name="connsiteY6" fmla="*/ 1066557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75300 w 6974305"/>
                <a:gd name="connsiteY10" fmla="*/ 855641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43073 w 6974305"/>
                <a:gd name="connsiteY1" fmla="*/ 1815177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32474 w 6974305"/>
                <a:gd name="connsiteY6" fmla="*/ 1048744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75300 w 6974305"/>
                <a:gd name="connsiteY10" fmla="*/ 855641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32474 w 6974305"/>
                <a:gd name="connsiteY6" fmla="*/ 1048744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75300 w 6974305"/>
                <a:gd name="connsiteY10" fmla="*/ 855641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75300 w 6974305"/>
                <a:gd name="connsiteY10" fmla="*/ 855641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66281 w 6974305"/>
                <a:gd name="connsiteY10" fmla="*/ 894363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15000 w 6974305"/>
                <a:gd name="connsiteY10" fmla="*/ 939539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924 w 6974305"/>
                <a:gd name="connsiteY10" fmla="*/ 946766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63631 w 6974305"/>
                <a:gd name="connsiteY12" fmla="*/ 438975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63631 w 6974305"/>
                <a:gd name="connsiteY12" fmla="*/ 438975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63631 w 6974305"/>
                <a:gd name="connsiteY12" fmla="*/ 438975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63631 w 6974305"/>
                <a:gd name="connsiteY12" fmla="*/ 438975 h 2353401"/>
                <a:gd name="connsiteX13" fmla="*/ 6974305 w 6974305"/>
                <a:gd name="connsiteY13" fmla="*/ 0 h 2353401"/>
                <a:gd name="connsiteX0" fmla="*/ 0 w 6983586"/>
                <a:gd name="connsiteY0" fmla="*/ 2253241 h 2253241"/>
                <a:gd name="connsiteX1" fmla="*/ 364464 w 6983586"/>
                <a:gd name="connsiteY1" fmla="*/ 1728180 h 2253241"/>
                <a:gd name="connsiteX2" fmla="*/ 999169 w 6983586"/>
                <a:gd name="connsiteY2" fmla="*/ 1247549 h 2253241"/>
                <a:gd name="connsiteX3" fmla="*/ 1626627 w 6983586"/>
                <a:gd name="connsiteY3" fmla="*/ 1042842 h 2253241"/>
                <a:gd name="connsiteX4" fmla="*/ 2134448 w 6983586"/>
                <a:gd name="connsiteY4" fmla="*/ 955595 h 2253241"/>
                <a:gd name="connsiteX5" fmla="*/ 2492206 w 6983586"/>
                <a:gd name="connsiteY5" fmla="*/ 932984 h 2253241"/>
                <a:gd name="connsiteX6" fmla="*/ 2846133 w 6983586"/>
                <a:gd name="connsiteY6" fmla="*/ 959941 h 2253241"/>
                <a:gd name="connsiteX7" fmla="*/ 3675509 w 6983586"/>
                <a:gd name="connsiteY7" fmla="*/ 1079924 h 2253241"/>
                <a:gd name="connsiteX8" fmla="*/ 4110855 w 6983586"/>
                <a:gd name="connsiteY8" fmla="*/ 1123429 h 2253241"/>
                <a:gd name="connsiteX9" fmla="*/ 5114595 w 6983586"/>
                <a:gd name="connsiteY9" fmla="*/ 1116752 h 2253241"/>
                <a:gd name="connsiteX10" fmla="*/ 6245408 w 6983586"/>
                <a:gd name="connsiteY10" fmla="*/ 813822 h 2253241"/>
                <a:gd name="connsiteX11" fmla="*/ 6551810 w 6983586"/>
                <a:gd name="connsiteY11" fmla="*/ 583286 h 2253241"/>
                <a:gd name="connsiteX12" fmla="*/ 6763631 w 6983586"/>
                <a:gd name="connsiteY12" fmla="*/ 338815 h 2253241"/>
                <a:gd name="connsiteX13" fmla="*/ 6983586 w 6983586"/>
                <a:gd name="connsiteY13" fmla="*/ 0 h 2253241"/>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1810 w 6944414"/>
                <a:gd name="connsiteY11" fmla="*/ 625103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763631 w 6944414"/>
                <a:gd name="connsiteY11" fmla="*/ 380632 h 2295058"/>
                <a:gd name="connsiteX12" fmla="*/ 6944414 w 6944414"/>
                <a:gd name="connsiteY12"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944414 w 6944414"/>
                <a:gd name="connsiteY11"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670026 w 6944414"/>
                <a:gd name="connsiteY11" fmla="*/ 392668 h 2295058"/>
                <a:gd name="connsiteX12" fmla="*/ 6944414 w 6944414"/>
                <a:gd name="connsiteY12"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690402 w 6944414"/>
                <a:gd name="connsiteY11" fmla="*/ 416993 h 2295058"/>
                <a:gd name="connsiteX12" fmla="*/ 6944414 w 6944414"/>
                <a:gd name="connsiteY12"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708925 w 6944414"/>
                <a:gd name="connsiteY11" fmla="*/ 421320 h 2295058"/>
                <a:gd name="connsiteX12" fmla="*/ 6944414 w 6944414"/>
                <a:gd name="connsiteY12" fmla="*/ 0 h 2295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44414" h="2295058">
                  <a:moveTo>
                    <a:pt x="0" y="2295058"/>
                  </a:moveTo>
                  <a:cubicBezTo>
                    <a:pt x="61019" y="2223938"/>
                    <a:pt x="204980" y="1936537"/>
                    <a:pt x="364464" y="1769997"/>
                  </a:cubicBezTo>
                  <a:cubicBezTo>
                    <a:pt x="523948" y="1603458"/>
                    <a:pt x="788039" y="1395243"/>
                    <a:pt x="999169" y="1289366"/>
                  </a:cubicBezTo>
                  <a:cubicBezTo>
                    <a:pt x="1210299" y="1183489"/>
                    <a:pt x="1438316" y="1129446"/>
                    <a:pt x="1626627" y="1084659"/>
                  </a:cubicBezTo>
                  <a:cubicBezTo>
                    <a:pt x="1814938" y="1039872"/>
                    <a:pt x="1990185" y="1015722"/>
                    <a:pt x="2134448" y="997412"/>
                  </a:cubicBezTo>
                  <a:cubicBezTo>
                    <a:pt x="2278711" y="979102"/>
                    <a:pt x="2380636" y="973001"/>
                    <a:pt x="2492206" y="974801"/>
                  </a:cubicBezTo>
                  <a:cubicBezTo>
                    <a:pt x="2603776" y="976601"/>
                    <a:pt x="2649603" y="980151"/>
                    <a:pt x="2846133" y="1001758"/>
                  </a:cubicBezTo>
                  <a:lnTo>
                    <a:pt x="3675509" y="1121741"/>
                  </a:lnTo>
                  <a:cubicBezTo>
                    <a:pt x="3872122" y="1145676"/>
                    <a:pt x="3871007" y="1159108"/>
                    <a:pt x="4110855" y="1165246"/>
                  </a:cubicBezTo>
                  <a:cubicBezTo>
                    <a:pt x="4350703" y="1171384"/>
                    <a:pt x="4731949" y="1214774"/>
                    <a:pt x="5114595" y="1158569"/>
                  </a:cubicBezTo>
                  <a:cubicBezTo>
                    <a:pt x="5537112" y="1092449"/>
                    <a:pt x="5853207" y="1073260"/>
                    <a:pt x="6245408" y="855639"/>
                  </a:cubicBezTo>
                  <a:cubicBezTo>
                    <a:pt x="6504647" y="727989"/>
                    <a:pt x="6592424" y="563926"/>
                    <a:pt x="6708925" y="421320"/>
                  </a:cubicBezTo>
                  <a:cubicBezTo>
                    <a:pt x="6825426" y="278714"/>
                    <a:pt x="6898683" y="65445"/>
                    <a:pt x="6944414" y="0"/>
                  </a:cubicBezTo>
                </a:path>
              </a:pathLst>
            </a:cu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b="1" dirty="0"/>
            </a:p>
          </p:txBody>
        </p:sp>
        <p:cxnSp>
          <p:nvCxnSpPr>
            <p:cNvPr id="6" name="直接箭头连接符 5">
              <a:extLst>
                <a:ext uri="{FF2B5EF4-FFF2-40B4-BE49-F238E27FC236}">
                  <a16:creationId xmlns:a16="http://schemas.microsoft.com/office/drawing/2014/main" id="{CFA25212-CDA1-13CC-5614-9BB1D2598FE4}"/>
                </a:ext>
              </a:extLst>
            </p:cNvPr>
            <p:cNvCxnSpPr>
              <a:cxnSpLocks/>
            </p:cNvCxnSpPr>
            <p:nvPr/>
          </p:nvCxnSpPr>
          <p:spPr>
            <a:xfrm>
              <a:off x="2524125" y="3914775"/>
              <a:ext cx="48387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584CA312-7F02-E091-C5F1-EC5B9B365BA2}"/>
                </a:ext>
              </a:extLst>
            </p:cNvPr>
            <p:cNvCxnSpPr>
              <a:cxnSpLocks/>
            </p:cNvCxnSpPr>
            <p:nvPr/>
          </p:nvCxnSpPr>
          <p:spPr>
            <a:xfrm flipV="1">
              <a:off x="2519363" y="1614488"/>
              <a:ext cx="4762" cy="230028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94B2BF03-444A-7B57-0604-DA32C8FD9A53}"/>
                </a:ext>
              </a:extLst>
            </p:cNvPr>
            <p:cNvCxnSpPr/>
            <p:nvPr/>
          </p:nvCxnSpPr>
          <p:spPr>
            <a:xfrm>
              <a:off x="2524125" y="2806700"/>
              <a:ext cx="4672013"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 name="文本框 14">
              <a:extLst>
                <a:ext uri="{FF2B5EF4-FFF2-40B4-BE49-F238E27FC236}">
                  <a16:creationId xmlns:a16="http://schemas.microsoft.com/office/drawing/2014/main" id="{6469147A-82A2-8BE4-2062-5AEFFAA47C31}"/>
                </a:ext>
              </a:extLst>
            </p:cNvPr>
            <p:cNvSpPr txBox="1">
              <a:spLocks noChangeArrowheads="1"/>
            </p:cNvSpPr>
            <p:nvPr/>
          </p:nvSpPr>
          <p:spPr bwMode="auto">
            <a:xfrm>
              <a:off x="1847871" y="1443038"/>
              <a:ext cx="720070" cy="376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600" b="1" dirty="0" err="1">
                  <a:latin typeface="Times New Roman" panose="02020603050405020304" pitchFamily="18" charset="0"/>
                  <a:cs typeface="Times New Roman" panose="02020603050405020304" pitchFamily="18" charset="0"/>
                </a:rPr>
                <a:t>cwnd</a:t>
              </a:r>
              <a:endParaRPr lang="zh-CN" altLang="en-US" sz="1600" b="1" dirty="0">
                <a:latin typeface="Times New Roman" panose="02020603050405020304" pitchFamily="18" charset="0"/>
                <a:cs typeface="Times New Roman" panose="02020603050405020304" pitchFamily="18" charset="0"/>
              </a:endParaRPr>
            </a:p>
          </p:txBody>
        </p:sp>
        <p:sp>
          <p:nvSpPr>
            <p:cNvPr id="10" name="文本框 17">
              <a:extLst>
                <a:ext uri="{FF2B5EF4-FFF2-40B4-BE49-F238E27FC236}">
                  <a16:creationId xmlns:a16="http://schemas.microsoft.com/office/drawing/2014/main" id="{248586E5-5AF2-BE71-04DF-33213EAFD3CC}"/>
                </a:ext>
              </a:extLst>
            </p:cNvPr>
            <p:cNvSpPr txBox="1">
              <a:spLocks noChangeArrowheads="1"/>
            </p:cNvSpPr>
            <p:nvPr/>
          </p:nvSpPr>
          <p:spPr bwMode="auto">
            <a:xfrm>
              <a:off x="6042833" y="3247147"/>
              <a:ext cx="1804960" cy="650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从</a:t>
              </a:r>
              <a:r>
                <a:rPr lang="zh-CN" altLang="zh-CN" sz="1600" b="1" dirty="0">
                  <a:latin typeface="微软雅黑" panose="020B0503020204020204" pitchFamily="34" charset="-122"/>
                  <a:ea typeface="微软雅黑" panose="020B0503020204020204" pitchFamily="34" charset="-122"/>
                  <a:cs typeface="Times New Roman" panose="02020603050405020304" pitchFamily="18" charset="0"/>
                </a:rPr>
                <a:t>上次发生拥塞</a:t>
              </a:r>
              <a:endParaRPr lang="en-US" altLang="zh-CN" sz="1600" b="1" dirty="0">
                <a:latin typeface="微软雅黑" panose="020B0503020204020204" pitchFamily="34" charset="-122"/>
                <a:ea typeface="微软雅黑" panose="020B0503020204020204" pitchFamily="34" charset="-122"/>
                <a:cs typeface="Times New Roman" panose="02020603050405020304" pitchFamily="18" charset="0"/>
              </a:endParaRPr>
            </a:p>
            <a:p>
              <a:pPr algn="ctr" eaLnBrk="1" hangingPunct="1"/>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算起</a:t>
              </a:r>
              <a:r>
                <a:rPr lang="zh-CN" altLang="zh-CN" sz="1600" b="1" dirty="0">
                  <a:latin typeface="微软雅黑" panose="020B0503020204020204" pitchFamily="34" charset="-122"/>
                  <a:ea typeface="微软雅黑" panose="020B0503020204020204" pitchFamily="34" charset="-122"/>
                  <a:cs typeface="Times New Roman" panose="02020603050405020304" pitchFamily="18" charset="0"/>
                </a:rPr>
                <a:t>的</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时间 </a:t>
              </a: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t</a:t>
              </a:r>
              <a:endParaRPr lang="zh-CN" altLang="en-US" sz="1600" b="1" i="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文本框 18">
              <a:extLst>
                <a:ext uri="{FF2B5EF4-FFF2-40B4-BE49-F238E27FC236}">
                  <a16:creationId xmlns:a16="http://schemas.microsoft.com/office/drawing/2014/main" id="{C52E202D-ACEB-F9ED-69E8-3289235771E3}"/>
                </a:ext>
              </a:extLst>
            </p:cNvPr>
            <p:cNvSpPr txBox="1">
              <a:spLocks noChangeArrowheads="1"/>
            </p:cNvSpPr>
            <p:nvPr/>
          </p:nvSpPr>
          <p:spPr bwMode="auto">
            <a:xfrm>
              <a:off x="1879633" y="2605088"/>
              <a:ext cx="709433" cy="376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600" b="1" dirty="0" err="1">
                  <a:latin typeface="Times New Roman" panose="02020603050405020304" pitchFamily="18" charset="0"/>
                  <a:cs typeface="Times New Roman" panose="02020603050405020304" pitchFamily="18" charset="0"/>
                </a:rPr>
                <a:t>W</a:t>
              </a:r>
              <a:r>
                <a:rPr lang="en-US" altLang="zh-CN" sz="1600" b="1" baseline="-25000" dirty="0" err="1">
                  <a:latin typeface="Times New Roman" panose="02020603050405020304" pitchFamily="18" charset="0"/>
                  <a:cs typeface="Times New Roman" panose="02020603050405020304" pitchFamily="18" charset="0"/>
                </a:rPr>
                <a:t>max</a:t>
              </a:r>
              <a:endParaRPr lang="zh-CN" altLang="en-US" sz="1600" b="1" dirty="0">
                <a:latin typeface="Times New Roman" panose="02020603050405020304" pitchFamily="18" charset="0"/>
                <a:cs typeface="Times New Roman" panose="02020603050405020304" pitchFamily="18" charset="0"/>
              </a:endParaRPr>
            </a:p>
          </p:txBody>
        </p:sp>
        <p:sp>
          <p:nvSpPr>
            <p:cNvPr id="12" name="文本框 19">
              <a:extLst>
                <a:ext uri="{FF2B5EF4-FFF2-40B4-BE49-F238E27FC236}">
                  <a16:creationId xmlns:a16="http://schemas.microsoft.com/office/drawing/2014/main" id="{7CC5413E-B65D-4039-E888-21F16719DD72}"/>
                </a:ext>
              </a:extLst>
            </p:cNvPr>
            <p:cNvSpPr txBox="1">
              <a:spLocks noChangeArrowheads="1"/>
            </p:cNvSpPr>
            <p:nvPr/>
          </p:nvSpPr>
          <p:spPr bwMode="auto">
            <a:xfrm>
              <a:off x="2271713" y="3798888"/>
              <a:ext cx="317667" cy="376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600" b="1">
                  <a:latin typeface="Times New Roman" panose="02020603050405020304" pitchFamily="18" charset="0"/>
                  <a:cs typeface="Times New Roman" panose="02020603050405020304" pitchFamily="18" charset="0"/>
                </a:rPr>
                <a:t>0</a:t>
              </a:r>
              <a:endParaRPr lang="zh-CN" altLang="en-US" sz="1600" b="1">
                <a:latin typeface="Times New Roman" panose="02020603050405020304" pitchFamily="18" charset="0"/>
                <a:cs typeface="Times New Roman" panose="02020603050405020304" pitchFamily="18" charset="0"/>
              </a:endParaRPr>
            </a:p>
          </p:txBody>
        </p:sp>
      </p:grpSp>
      <p:sp>
        <p:nvSpPr>
          <p:cNvPr id="16" name="文本框 15">
            <a:extLst>
              <a:ext uri="{FF2B5EF4-FFF2-40B4-BE49-F238E27FC236}">
                <a16:creationId xmlns:a16="http://schemas.microsoft.com/office/drawing/2014/main" id="{AFE34C49-A4BC-755F-36B0-833C4126FEAE}"/>
              </a:ext>
            </a:extLst>
          </p:cNvPr>
          <p:cNvSpPr txBox="1"/>
          <p:nvPr/>
        </p:nvSpPr>
        <p:spPr>
          <a:xfrm>
            <a:off x="3027305" y="2359832"/>
            <a:ext cx="4081960" cy="338554"/>
          </a:xfrm>
          <a:prstGeom prst="rect">
            <a:avLst/>
          </a:prstGeom>
          <a:noFill/>
        </p:spPr>
        <p:txBody>
          <a:bodyPr wrap="square">
            <a:spAutoFit/>
          </a:bodyPr>
          <a:lstStyle/>
          <a:p>
            <a:r>
              <a:rPr lang="en-US" altLang="zh-CN" sz="1600" b="1" dirty="0">
                <a:solidFill>
                  <a:srgbClr val="C00000"/>
                </a:solidFill>
                <a:latin typeface="微软雅黑" pitchFamily="34" charset="-122"/>
                <a:ea typeface="微软雅黑" pitchFamily="34" charset="-122"/>
              </a:rPr>
              <a:t>CUBIC</a:t>
            </a:r>
            <a:r>
              <a:rPr lang="zh-CN" altLang="en-US" sz="1600" b="1" dirty="0">
                <a:solidFill>
                  <a:srgbClr val="C00000"/>
                </a:solidFill>
                <a:latin typeface="微软雅黑" pitchFamily="34" charset="-122"/>
                <a:ea typeface="微软雅黑" pitchFamily="34" charset="-122"/>
              </a:rPr>
              <a:t>拥塞窗口</a:t>
            </a:r>
            <a:r>
              <a:rPr lang="en-US" altLang="zh-CN" sz="1600" b="1" dirty="0" err="1">
                <a:solidFill>
                  <a:srgbClr val="C00000"/>
                </a:solidFill>
                <a:latin typeface="微软雅黑" pitchFamily="34" charset="-122"/>
                <a:ea typeface="微软雅黑" pitchFamily="34" charset="-122"/>
              </a:rPr>
              <a:t>cwnd</a:t>
            </a:r>
            <a:r>
              <a:rPr lang="zh-CN" altLang="en-US" sz="1600" b="1" dirty="0">
                <a:solidFill>
                  <a:srgbClr val="C00000"/>
                </a:solidFill>
                <a:latin typeface="微软雅黑" pitchFamily="34" charset="-122"/>
                <a:ea typeface="微软雅黑" pitchFamily="34" charset="-122"/>
              </a:rPr>
              <a:t>随时间的变化曲线</a:t>
            </a:r>
          </a:p>
        </p:txBody>
      </p:sp>
      <p:sp>
        <p:nvSpPr>
          <p:cNvPr id="20" name="文本框 19">
            <a:extLst>
              <a:ext uri="{FF2B5EF4-FFF2-40B4-BE49-F238E27FC236}">
                <a16:creationId xmlns:a16="http://schemas.microsoft.com/office/drawing/2014/main" id="{5F699BCC-FEF7-0836-8C68-19EFDADE9621}"/>
              </a:ext>
            </a:extLst>
          </p:cNvPr>
          <p:cNvSpPr txBox="1"/>
          <p:nvPr/>
        </p:nvSpPr>
        <p:spPr>
          <a:xfrm>
            <a:off x="1213893" y="3252660"/>
            <a:ext cx="1272626" cy="523220"/>
          </a:xfrm>
          <a:prstGeom prst="rect">
            <a:avLst/>
          </a:prstGeom>
          <a:noFill/>
        </p:spPr>
        <p:txBody>
          <a:bodyPr wrap="square">
            <a:spAutoFit/>
          </a:bodyPr>
          <a:lstStyle/>
          <a:p>
            <a:r>
              <a:rPr kumimoji="0" lang="zh-CN" altLang="en-US" sz="1400" b="1" i="0" u="none" strike="noStrike" kern="1200" cap="none" spc="0" normalizeH="0" baseline="0" noProof="0" dirty="0">
                <a:ln>
                  <a:noFill/>
                </a:ln>
                <a:solidFill>
                  <a:srgbClr val="0000FF"/>
                </a:solidFill>
                <a:effectLst/>
                <a:uLnTx/>
                <a:uFillTx/>
                <a:latin typeface="微软雅黑" pitchFamily="34" charset="-122"/>
                <a:ea typeface="微软雅黑" pitchFamily="34" charset="-122"/>
                <a:cs typeface="+mn-cs"/>
              </a:rPr>
              <a:t>上次发生拥塞时拥塞窗口值</a:t>
            </a:r>
            <a:endParaRPr lang="zh-CN" altLang="en-US" sz="1400" dirty="0">
              <a:solidFill>
                <a:srgbClr val="0000FF"/>
              </a:solidFill>
            </a:endParaRPr>
          </a:p>
        </p:txBody>
      </p:sp>
    </p:spTree>
    <p:extLst>
      <p:ext uri="{BB962C8B-B14F-4D97-AF65-F5344CB8AC3E}">
        <p14:creationId xmlns:p14="http://schemas.microsoft.com/office/powerpoint/2010/main" val="1576620881"/>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25209-CBD2-2363-3E95-B9359E59B70B}"/>
            </a:ext>
          </a:extLst>
        </p:cNvPr>
        <p:cNvGrpSpPr/>
        <p:nvPr/>
      </p:nvGrpSpPr>
      <p:grpSpPr>
        <a:xfrm>
          <a:off x="0" y="0"/>
          <a:ext cx="0" cy="0"/>
          <a:chOff x="0" y="0"/>
          <a:chExt cx="0" cy="0"/>
        </a:xfrm>
      </p:grpSpPr>
      <p:sp>
        <p:nvSpPr>
          <p:cNvPr id="14" name="圆角矩形 37">
            <a:extLst>
              <a:ext uri="{FF2B5EF4-FFF2-40B4-BE49-F238E27FC236}">
                <a16:creationId xmlns:a16="http://schemas.microsoft.com/office/drawing/2014/main" id="{1F81B9FE-F4EB-C325-FFA4-987FD9400B3A}"/>
              </a:ext>
            </a:extLst>
          </p:cNvPr>
          <p:cNvSpPr/>
          <p:nvPr/>
        </p:nvSpPr>
        <p:spPr>
          <a:xfrm>
            <a:off x="1213893" y="2330964"/>
            <a:ext cx="6809061" cy="239936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AutoShape 5">
            <a:extLst>
              <a:ext uri="{FF2B5EF4-FFF2-40B4-BE49-F238E27FC236}">
                <a16:creationId xmlns:a16="http://schemas.microsoft.com/office/drawing/2014/main" id="{76D9D1AB-AEAA-3AC9-E828-714E0BACBA3E}"/>
              </a:ext>
            </a:extLst>
          </p:cNvPr>
          <p:cNvSpPr>
            <a:spLocks noChangeArrowheads="1"/>
          </p:cNvSpPr>
          <p:nvPr/>
        </p:nvSpPr>
        <p:spPr bwMode="auto">
          <a:xfrm>
            <a:off x="545143" y="625919"/>
            <a:ext cx="8053711" cy="357839"/>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a:extLst>
              <a:ext uri="{FF2B5EF4-FFF2-40B4-BE49-F238E27FC236}">
                <a16:creationId xmlns:a16="http://schemas.microsoft.com/office/drawing/2014/main" id="{9D3AFBF4-0EA3-6E2A-B85E-25C2E3153FFD}"/>
              </a:ext>
            </a:extLst>
          </p:cNvPr>
          <p:cNvSpPr>
            <a:spLocks noChangeArrowheads="1"/>
          </p:cNvSpPr>
          <p:nvPr/>
        </p:nvSpPr>
        <p:spPr bwMode="auto">
          <a:xfrm>
            <a:off x="3637487" y="599146"/>
            <a:ext cx="18690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1. TCP CUBIC</a:t>
            </a:r>
            <a:endParaRPr lang="zh-CN" altLang="en-US" sz="2000" b="1" dirty="0">
              <a:solidFill>
                <a:schemeClr val="bg1"/>
              </a:solidFill>
              <a:latin typeface="微软雅黑" pitchFamily="34" charset="-122"/>
              <a:ea typeface="微软雅黑" pitchFamily="34" charset="-122"/>
            </a:endParaRPr>
          </a:p>
        </p:txBody>
      </p:sp>
      <p:sp>
        <p:nvSpPr>
          <p:cNvPr id="4" name="Rectangle 8">
            <a:extLst>
              <a:ext uri="{FF2B5EF4-FFF2-40B4-BE49-F238E27FC236}">
                <a16:creationId xmlns:a16="http://schemas.microsoft.com/office/drawing/2014/main" id="{5DF348F2-F2F4-189B-A65C-9EB9713F5C54}"/>
              </a:ext>
            </a:extLst>
          </p:cNvPr>
          <p:cNvSpPr>
            <a:spLocks noChangeArrowheads="1"/>
          </p:cNvSpPr>
          <p:nvPr/>
        </p:nvSpPr>
        <p:spPr bwMode="auto">
          <a:xfrm>
            <a:off x="545143" y="1029517"/>
            <a:ext cx="8053711" cy="993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400"/>
              </a:lnSpc>
              <a:buClr>
                <a:srgbClr val="0070C0"/>
              </a:buClr>
              <a:buFont typeface="Wingdings" pitchFamily="2" charset="2"/>
              <a:buChar char="l"/>
            </a:pPr>
            <a:r>
              <a:rPr lang="zh-CN" altLang="en-US" b="1" dirty="0">
                <a:solidFill>
                  <a:srgbClr val="0000FF"/>
                </a:solidFill>
                <a:latin typeface="微软雅黑" pitchFamily="34" charset="-122"/>
                <a:ea typeface="微软雅黑" pitchFamily="34" charset="-122"/>
              </a:rPr>
              <a:t>当检测到报文段丢失时</a:t>
            </a:r>
            <a:r>
              <a:rPr lang="zh-CN" altLang="en-US" b="1" dirty="0">
                <a:latin typeface="微软雅黑" pitchFamily="34" charset="-122"/>
                <a:ea typeface="微软雅黑" pitchFamily="34" charset="-122"/>
              </a:rPr>
              <a:t>（收到</a:t>
            </a:r>
            <a:r>
              <a:rPr lang="en-US" altLang="zh-CN" b="1" dirty="0">
                <a:latin typeface="微软雅黑" pitchFamily="34" charset="-122"/>
                <a:ea typeface="微软雅黑" pitchFamily="34" charset="-122"/>
              </a:rPr>
              <a:t>3</a:t>
            </a:r>
            <a:r>
              <a:rPr lang="zh-CN" altLang="en-US" b="1" dirty="0">
                <a:latin typeface="微软雅黑" pitchFamily="34" charset="-122"/>
                <a:ea typeface="微软雅黑" pitchFamily="34" charset="-122"/>
              </a:rPr>
              <a:t>个冗余</a:t>
            </a:r>
            <a:r>
              <a:rPr lang="en-US" altLang="zh-CN" b="1" dirty="0">
                <a:latin typeface="微软雅黑" pitchFamily="34" charset="-122"/>
                <a:ea typeface="微软雅黑" pitchFamily="34" charset="-122"/>
              </a:rPr>
              <a:t>ACK</a:t>
            </a:r>
            <a:r>
              <a:rPr lang="zh-CN" altLang="en-US" b="1" dirty="0">
                <a:latin typeface="微软雅黑" pitchFamily="34" charset="-122"/>
                <a:ea typeface="微软雅黑" pitchFamily="34" charset="-122"/>
              </a:rPr>
              <a:t>），</a:t>
            </a:r>
            <a:r>
              <a:rPr lang="en-US" altLang="zh-CN" b="1" dirty="0">
                <a:latin typeface="微软雅黑" pitchFamily="34" charset="-122"/>
                <a:ea typeface="微软雅黑" pitchFamily="34" charset="-122"/>
              </a:rPr>
              <a:t>TCP CUBIC</a:t>
            </a:r>
            <a:r>
              <a:rPr lang="zh-CN" altLang="en-US" b="1" dirty="0">
                <a:latin typeface="微软雅黑" pitchFamily="34" charset="-122"/>
                <a:ea typeface="微软雅黑" pitchFamily="34" charset="-122"/>
              </a:rPr>
              <a:t>会把</a:t>
            </a:r>
            <a:r>
              <a:rPr lang="en-US" altLang="zh-CN" b="1" dirty="0" err="1">
                <a:solidFill>
                  <a:srgbClr val="0000FF"/>
                </a:solidFill>
                <a:latin typeface="微软雅黑" pitchFamily="34" charset="-122"/>
                <a:ea typeface="微软雅黑" pitchFamily="34" charset="-122"/>
              </a:rPr>
              <a:t>cwnd</a:t>
            </a:r>
            <a:r>
              <a:rPr lang="zh-CN" altLang="en-US" b="1" dirty="0">
                <a:solidFill>
                  <a:srgbClr val="0000FF"/>
                </a:solidFill>
                <a:latin typeface="微软雅黑" pitchFamily="34" charset="-122"/>
                <a:ea typeface="微软雅黑" pitchFamily="34" charset="-122"/>
              </a:rPr>
              <a:t>降低为当前窗口大小的</a:t>
            </a:r>
            <a:r>
              <a:rPr lang="en-US" altLang="zh-CN" b="1" dirty="0">
                <a:solidFill>
                  <a:srgbClr val="0000FF"/>
                </a:solidFill>
                <a:latin typeface="微软雅黑" pitchFamily="34" charset="-122"/>
                <a:ea typeface="微软雅黑" pitchFamily="34" charset="-122"/>
              </a:rPr>
              <a:t>0.7</a:t>
            </a:r>
            <a:r>
              <a:rPr lang="zh-CN" altLang="en-US" b="1" dirty="0">
                <a:solidFill>
                  <a:srgbClr val="0000FF"/>
                </a:solidFill>
                <a:latin typeface="微软雅黑" pitchFamily="34" charset="-122"/>
                <a:ea typeface="微软雅黑" pitchFamily="34" charset="-122"/>
              </a:rPr>
              <a:t>，而不是减半</a:t>
            </a:r>
            <a:r>
              <a:rPr lang="zh-CN" altLang="en-US" b="1" dirty="0">
                <a:latin typeface="微软雅黑" pitchFamily="34" charset="-122"/>
                <a:ea typeface="微软雅黑" pitchFamily="34" charset="-122"/>
              </a:rPr>
              <a:t>。这种温和的回落使网络吞吐量更加稳定，这在高速网络中可表现出更好的性能，实现更高的吞吐量。</a:t>
            </a:r>
          </a:p>
        </p:txBody>
      </p:sp>
      <p:grpSp>
        <p:nvGrpSpPr>
          <p:cNvPr id="13" name="组合 12">
            <a:extLst>
              <a:ext uri="{FF2B5EF4-FFF2-40B4-BE49-F238E27FC236}">
                <a16:creationId xmlns:a16="http://schemas.microsoft.com/office/drawing/2014/main" id="{0BF098BB-EBCD-AF8C-FD46-0A72B18BBD8B}"/>
              </a:ext>
            </a:extLst>
          </p:cNvPr>
          <p:cNvGrpSpPr/>
          <p:nvPr/>
        </p:nvGrpSpPr>
        <p:grpSpPr>
          <a:xfrm>
            <a:off x="2293103" y="2314380"/>
            <a:ext cx="5425572" cy="2455862"/>
            <a:chOff x="1847871" y="1443038"/>
            <a:chExt cx="5999922" cy="2732547"/>
          </a:xfrm>
        </p:grpSpPr>
        <p:sp>
          <p:nvSpPr>
            <p:cNvPr id="5" name="任意多边形: 形状 4">
              <a:extLst>
                <a:ext uri="{FF2B5EF4-FFF2-40B4-BE49-F238E27FC236}">
                  <a16:creationId xmlns:a16="http://schemas.microsoft.com/office/drawing/2014/main" id="{630CD885-4136-0537-EAF1-3BB14B895C5C}"/>
                </a:ext>
              </a:extLst>
            </p:cNvPr>
            <p:cNvSpPr/>
            <p:nvPr/>
          </p:nvSpPr>
          <p:spPr>
            <a:xfrm rot="20972334">
              <a:off x="2354263" y="2197100"/>
              <a:ext cx="4708525" cy="1304925"/>
            </a:xfrm>
            <a:custGeom>
              <a:avLst/>
              <a:gdLst>
                <a:gd name="connsiteX0" fmla="*/ 0 w 7281334"/>
                <a:gd name="connsiteY0" fmla="*/ 2088444 h 2088444"/>
                <a:gd name="connsiteX1" fmla="*/ 2348089 w 7281334"/>
                <a:gd name="connsiteY1" fmla="*/ 756355 h 2088444"/>
                <a:gd name="connsiteX2" fmla="*/ 5305778 w 7281334"/>
                <a:gd name="connsiteY2" fmla="*/ 1083733 h 2088444"/>
                <a:gd name="connsiteX3" fmla="*/ 7281334 w 7281334"/>
                <a:gd name="connsiteY3" fmla="*/ 0 h 2088444"/>
                <a:gd name="connsiteX0" fmla="*/ 0 w 6972777"/>
                <a:gd name="connsiteY0" fmla="*/ 2206795 h 2206795"/>
                <a:gd name="connsiteX1" fmla="*/ 2039532 w 6972777"/>
                <a:gd name="connsiteY1" fmla="*/ 756355 h 2206795"/>
                <a:gd name="connsiteX2" fmla="*/ 4997221 w 6972777"/>
                <a:gd name="connsiteY2" fmla="*/ 1083733 h 2206795"/>
                <a:gd name="connsiteX3" fmla="*/ 6972777 w 6972777"/>
                <a:gd name="connsiteY3" fmla="*/ 0 h 2206795"/>
                <a:gd name="connsiteX0" fmla="*/ 0 w 7020019"/>
                <a:gd name="connsiteY0" fmla="*/ 2024312 h 2024312"/>
                <a:gd name="connsiteX1" fmla="*/ 2086774 w 7020019"/>
                <a:gd name="connsiteY1" fmla="*/ 756355 h 2024312"/>
                <a:gd name="connsiteX2" fmla="*/ 5044463 w 7020019"/>
                <a:gd name="connsiteY2" fmla="*/ 1083733 h 2024312"/>
                <a:gd name="connsiteX3" fmla="*/ 7020019 w 7020019"/>
                <a:gd name="connsiteY3" fmla="*/ 0 h 2024312"/>
                <a:gd name="connsiteX0" fmla="*/ 0 w 7020019"/>
                <a:gd name="connsiteY0" fmla="*/ 2024312 h 2024312"/>
                <a:gd name="connsiteX1" fmla="*/ 2086774 w 7020019"/>
                <a:gd name="connsiteY1" fmla="*/ 756355 h 2024312"/>
                <a:gd name="connsiteX2" fmla="*/ 5044463 w 7020019"/>
                <a:gd name="connsiteY2" fmla="*/ 1083733 h 2024312"/>
                <a:gd name="connsiteX3" fmla="*/ 7020019 w 7020019"/>
                <a:gd name="connsiteY3" fmla="*/ 0 h 2024312"/>
                <a:gd name="connsiteX0" fmla="*/ 0 w 7020019"/>
                <a:gd name="connsiteY0" fmla="*/ 2024312 h 2024312"/>
                <a:gd name="connsiteX1" fmla="*/ 2086774 w 7020019"/>
                <a:gd name="connsiteY1" fmla="*/ 756355 h 2024312"/>
                <a:gd name="connsiteX2" fmla="*/ 5072331 w 7020019"/>
                <a:gd name="connsiteY2" fmla="*/ 894278 h 2024312"/>
                <a:gd name="connsiteX3" fmla="*/ 7020019 w 7020019"/>
                <a:gd name="connsiteY3" fmla="*/ 0 h 2024312"/>
                <a:gd name="connsiteX0" fmla="*/ 0 w 7020019"/>
                <a:gd name="connsiteY0" fmla="*/ 2024312 h 2024312"/>
                <a:gd name="connsiteX1" fmla="*/ 2086774 w 7020019"/>
                <a:gd name="connsiteY1" fmla="*/ 756355 h 2024312"/>
                <a:gd name="connsiteX2" fmla="*/ 3607173 w 7020019"/>
                <a:gd name="connsiteY2" fmla="*/ 794214 h 2024312"/>
                <a:gd name="connsiteX3" fmla="*/ 5072331 w 7020019"/>
                <a:gd name="connsiteY3" fmla="*/ 894278 h 2024312"/>
                <a:gd name="connsiteX4" fmla="*/ 7020019 w 7020019"/>
                <a:gd name="connsiteY4" fmla="*/ 0 h 2024312"/>
                <a:gd name="connsiteX0" fmla="*/ 0 w 7020019"/>
                <a:gd name="connsiteY0" fmla="*/ 2024312 h 2024312"/>
                <a:gd name="connsiteX1" fmla="*/ 2086774 w 7020019"/>
                <a:gd name="connsiteY1" fmla="*/ 756355 h 2024312"/>
                <a:gd name="connsiteX2" fmla="*/ 3627825 w 7020019"/>
                <a:gd name="connsiteY2" fmla="*/ 880680 h 2024312"/>
                <a:gd name="connsiteX3" fmla="*/ 5072331 w 7020019"/>
                <a:gd name="connsiteY3" fmla="*/ 894278 h 2024312"/>
                <a:gd name="connsiteX4" fmla="*/ 7020019 w 7020019"/>
                <a:gd name="connsiteY4" fmla="*/ 0 h 2024312"/>
                <a:gd name="connsiteX0" fmla="*/ 0 w 7020019"/>
                <a:gd name="connsiteY0" fmla="*/ 2024312 h 2024312"/>
                <a:gd name="connsiteX1" fmla="*/ 2086774 w 7020019"/>
                <a:gd name="connsiteY1" fmla="*/ 756355 h 2024312"/>
                <a:gd name="connsiteX2" fmla="*/ 3633245 w 7020019"/>
                <a:gd name="connsiteY2" fmla="*/ 857450 h 2024312"/>
                <a:gd name="connsiteX3" fmla="*/ 5072331 w 7020019"/>
                <a:gd name="connsiteY3" fmla="*/ 894278 h 2024312"/>
                <a:gd name="connsiteX4" fmla="*/ 7020019 w 7020019"/>
                <a:gd name="connsiteY4" fmla="*/ 0 h 2024312"/>
                <a:gd name="connsiteX0" fmla="*/ 0 w 6864116"/>
                <a:gd name="connsiteY0" fmla="*/ 2126000 h 2126000"/>
                <a:gd name="connsiteX1" fmla="*/ 2086774 w 6864116"/>
                <a:gd name="connsiteY1" fmla="*/ 858043 h 2126000"/>
                <a:gd name="connsiteX2" fmla="*/ 3633245 w 6864116"/>
                <a:gd name="connsiteY2" fmla="*/ 959138 h 2126000"/>
                <a:gd name="connsiteX3" fmla="*/ 5072331 w 6864116"/>
                <a:gd name="connsiteY3" fmla="*/ 995966 h 2126000"/>
                <a:gd name="connsiteX4" fmla="*/ 6864116 w 6864116"/>
                <a:gd name="connsiteY4" fmla="*/ 0 h 2126000"/>
                <a:gd name="connsiteX0" fmla="*/ 0 w 6864116"/>
                <a:gd name="connsiteY0" fmla="*/ 2126000 h 2126000"/>
                <a:gd name="connsiteX1" fmla="*/ 2086774 w 6864116"/>
                <a:gd name="connsiteY1" fmla="*/ 858043 h 2126000"/>
                <a:gd name="connsiteX2" fmla="*/ 3633245 w 6864116"/>
                <a:gd name="connsiteY2" fmla="*/ 959138 h 2126000"/>
                <a:gd name="connsiteX3" fmla="*/ 5072331 w 6864116"/>
                <a:gd name="connsiteY3" fmla="*/ 995966 h 2126000"/>
                <a:gd name="connsiteX4" fmla="*/ 6864116 w 6864116"/>
                <a:gd name="connsiteY4" fmla="*/ 0 h 2126000"/>
                <a:gd name="connsiteX0" fmla="*/ 0 w 6864116"/>
                <a:gd name="connsiteY0" fmla="*/ 2126000 h 2126000"/>
                <a:gd name="connsiteX1" fmla="*/ 1063506 w 6864116"/>
                <a:gd name="connsiteY1" fmla="*/ 1159798 h 2126000"/>
                <a:gd name="connsiteX2" fmla="*/ 2086774 w 6864116"/>
                <a:gd name="connsiteY2" fmla="*/ 858043 h 2126000"/>
                <a:gd name="connsiteX3" fmla="*/ 3633245 w 6864116"/>
                <a:gd name="connsiteY3" fmla="*/ 959138 h 2126000"/>
                <a:gd name="connsiteX4" fmla="*/ 5072331 w 6864116"/>
                <a:gd name="connsiteY4" fmla="*/ 995966 h 2126000"/>
                <a:gd name="connsiteX5" fmla="*/ 6864116 w 6864116"/>
                <a:gd name="connsiteY5" fmla="*/ 0 h 2126000"/>
                <a:gd name="connsiteX0" fmla="*/ 0 w 6864116"/>
                <a:gd name="connsiteY0" fmla="*/ 2126000 h 2126000"/>
                <a:gd name="connsiteX1" fmla="*/ 956905 w 6864116"/>
                <a:gd name="connsiteY1" fmla="*/ 1126763 h 2126000"/>
                <a:gd name="connsiteX2" fmla="*/ 2086774 w 6864116"/>
                <a:gd name="connsiteY2" fmla="*/ 858043 h 2126000"/>
                <a:gd name="connsiteX3" fmla="*/ 3633245 w 6864116"/>
                <a:gd name="connsiteY3" fmla="*/ 959138 h 2126000"/>
                <a:gd name="connsiteX4" fmla="*/ 5072331 w 6864116"/>
                <a:gd name="connsiteY4" fmla="*/ 995966 h 2126000"/>
                <a:gd name="connsiteX5" fmla="*/ 6864116 w 6864116"/>
                <a:gd name="connsiteY5" fmla="*/ 0 h 2126000"/>
                <a:gd name="connsiteX0" fmla="*/ 0 w 6864116"/>
                <a:gd name="connsiteY0" fmla="*/ 2126000 h 2126000"/>
                <a:gd name="connsiteX1" fmla="*/ 366115 w 6864116"/>
                <a:gd name="connsiteY1" fmla="*/ 1699278 h 2126000"/>
                <a:gd name="connsiteX2" fmla="*/ 956905 w 6864116"/>
                <a:gd name="connsiteY2" fmla="*/ 1126763 h 2126000"/>
                <a:gd name="connsiteX3" fmla="*/ 2086774 w 6864116"/>
                <a:gd name="connsiteY3" fmla="*/ 858043 h 2126000"/>
                <a:gd name="connsiteX4" fmla="*/ 3633245 w 6864116"/>
                <a:gd name="connsiteY4" fmla="*/ 959138 h 2126000"/>
                <a:gd name="connsiteX5" fmla="*/ 5072331 w 6864116"/>
                <a:gd name="connsiteY5" fmla="*/ 995966 h 2126000"/>
                <a:gd name="connsiteX6" fmla="*/ 6864116 w 6864116"/>
                <a:gd name="connsiteY6" fmla="*/ 0 h 2126000"/>
                <a:gd name="connsiteX0" fmla="*/ 0 w 6864116"/>
                <a:gd name="connsiteY0" fmla="*/ 2126000 h 2126000"/>
                <a:gd name="connsiteX1" fmla="*/ 300809 w 6864116"/>
                <a:gd name="connsiteY1" fmla="*/ 1594231 h 2126000"/>
                <a:gd name="connsiteX2" fmla="*/ 956905 w 6864116"/>
                <a:gd name="connsiteY2" fmla="*/ 1126763 h 2126000"/>
                <a:gd name="connsiteX3" fmla="*/ 2086774 w 6864116"/>
                <a:gd name="connsiteY3" fmla="*/ 858043 h 2126000"/>
                <a:gd name="connsiteX4" fmla="*/ 3633245 w 6864116"/>
                <a:gd name="connsiteY4" fmla="*/ 959138 h 2126000"/>
                <a:gd name="connsiteX5" fmla="*/ 5072331 w 6864116"/>
                <a:gd name="connsiteY5" fmla="*/ 995966 h 2126000"/>
                <a:gd name="connsiteX6" fmla="*/ 6864116 w 6864116"/>
                <a:gd name="connsiteY6" fmla="*/ 0 h 2126000"/>
                <a:gd name="connsiteX0" fmla="*/ 0 w 6864116"/>
                <a:gd name="connsiteY0" fmla="*/ 2126000 h 2126000"/>
                <a:gd name="connsiteX1" fmla="*/ 300809 w 6864116"/>
                <a:gd name="connsiteY1" fmla="*/ 1594231 h 2126000"/>
                <a:gd name="connsiteX2" fmla="*/ 956905 w 6864116"/>
                <a:gd name="connsiteY2" fmla="*/ 1126763 h 2126000"/>
                <a:gd name="connsiteX3" fmla="*/ 2086774 w 6864116"/>
                <a:gd name="connsiteY3" fmla="*/ 858043 h 2126000"/>
                <a:gd name="connsiteX4" fmla="*/ 2778122 w 6864116"/>
                <a:gd name="connsiteY4" fmla="*/ 914779 h 2126000"/>
                <a:gd name="connsiteX5" fmla="*/ 3633245 w 6864116"/>
                <a:gd name="connsiteY5" fmla="*/ 959138 h 2126000"/>
                <a:gd name="connsiteX6" fmla="*/ 5072331 w 6864116"/>
                <a:gd name="connsiteY6" fmla="*/ 995966 h 2126000"/>
                <a:gd name="connsiteX7" fmla="*/ 6864116 w 6864116"/>
                <a:gd name="connsiteY7" fmla="*/ 0 h 2126000"/>
                <a:gd name="connsiteX0" fmla="*/ 0 w 6864116"/>
                <a:gd name="connsiteY0" fmla="*/ 2126000 h 2126000"/>
                <a:gd name="connsiteX1" fmla="*/ 300809 w 6864116"/>
                <a:gd name="connsiteY1" fmla="*/ 1594231 h 2126000"/>
                <a:gd name="connsiteX2" fmla="*/ 956905 w 6864116"/>
                <a:gd name="connsiteY2" fmla="*/ 1126763 h 2126000"/>
                <a:gd name="connsiteX3" fmla="*/ 2086774 w 6864116"/>
                <a:gd name="connsiteY3" fmla="*/ 858043 h 2126000"/>
                <a:gd name="connsiteX4" fmla="*/ 2765213 w 6864116"/>
                <a:gd name="connsiteY4" fmla="*/ 830120 h 2126000"/>
                <a:gd name="connsiteX5" fmla="*/ 3633245 w 6864116"/>
                <a:gd name="connsiteY5" fmla="*/ 959138 h 2126000"/>
                <a:gd name="connsiteX6" fmla="*/ 5072331 w 6864116"/>
                <a:gd name="connsiteY6" fmla="*/ 995966 h 2126000"/>
                <a:gd name="connsiteX7" fmla="*/ 6864116 w 6864116"/>
                <a:gd name="connsiteY7" fmla="*/ 0 h 2126000"/>
                <a:gd name="connsiteX0" fmla="*/ 0 w 6864116"/>
                <a:gd name="connsiteY0" fmla="*/ 2126000 h 2126000"/>
                <a:gd name="connsiteX1" fmla="*/ 300809 w 6864116"/>
                <a:gd name="connsiteY1" fmla="*/ 1594231 h 2126000"/>
                <a:gd name="connsiteX2" fmla="*/ 956905 w 6864116"/>
                <a:gd name="connsiteY2" fmla="*/ 1126763 h 2126000"/>
                <a:gd name="connsiteX3" fmla="*/ 1567587 w 6864116"/>
                <a:gd name="connsiteY3" fmla="*/ 958967 h 2126000"/>
                <a:gd name="connsiteX4" fmla="*/ 2086774 w 6864116"/>
                <a:gd name="connsiteY4" fmla="*/ 858043 h 2126000"/>
                <a:gd name="connsiteX5" fmla="*/ 2765213 w 6864116"/>
                <a:gd name="connsiteY5" fmla="*/ 830120 h 2126000"/>
                <a:gd name="connsiteX6" fmla="*/ 3633245 w 6864116"/>
                <a:gd name="connsiteY6" fmla="*/ 959138 h 2126000"/>
                <a:gd name="connsiteX7" fmla="*/ 5072331 w 6864116"/>
                <a:gd name="connsiteY7" fmla="*/ 995966 h 2126000"/>
                <a:gd name="connsiteX8" fmla="*/ 6864116 w 6864116"/>
                <a:gd name="connsiteY8" fmla="*/ 0 h 2126000"/>
                <a:gd name="connsiteX0" fmla="*/ 0 w 6864116"/>
                <a:gd name="connsiteY0" fmla="*/ 2126000 h 2126000"/>
                <a:gd name="connsiteX1" fmla="*/ 300809 w 6864116"/>
                <a:gd name="connsiteY1" fmla="*/ 1594231 h 2126000"/>
                <a:gd name="connsiteX2" fmla="*/ 956905 w 6864116"/>
                <a:gd name="connsiteY2" fmla="*/ 1126763 h 2126000"/>
                <a:gd name="connsiteX3" fmla="*/ 1584363 w 6864116"/>
                <a:gd name="connsiteY3" fmla="*/ 922056 h 2126000"/>
                <a:gd name="connsiteX4" fmla="*/ 2086774 w 6864116"/>
                <a:gd name="connsiteY4" fmla="*/ 858043 h 2126000"/>
                <a:gd name="connsiteX5" fmla="*/ 2765213 w 6864116"/>
                <a:gd name="connsiteY5" fmla="*/ 830120 h 2126000"/>
                <a:gd name="connsiteX6" fmla="*/ 3633245 w 6864116"/>
                <a:gd name="connsiteY6" fmla="*/ 959138 h 2126000"/>
                <a:gd name="connsiteX7" fmla="*/ 5072331 w 6864116"/>
                <a:gd name="connsiteY7" fmla="*/ 995966 h 2126000"/>
                <a:gd name="connsiteX8" fmla="*/ 6864116 w 6864116"/>
                <a:gd name="connsiteY8" fmla="*/ 0 h 2126000"/>
                <a:gd name="connsiteX0" fmla="*/ 0 w 6964770"/>
                <a:gd name="connsiteY0" fmla="*/ 2347463 h 2347463"/>
                <a:gd name="connsiteX1" fmla="*/ 300809 w 6964770"/>
                <a:gd name="connsiteY1" fmla="*/ 1815694 h 2347463"/>
                <a:gd name="connsiteX2" fmla="*/ 956905 w 6964770"/>
                <a:gd name="connsiteY2" fmla="*/ 1348226 h 2347463"/>
                <a:gd name="connsiteX3" fmla="*/ 1584363 w 6964770"/>
                <a:gd name="connsiteY3" fmla="*/ 1143519 h 2347463"/>
                <a:gd name="connsiteX4" fmla="*/ 2086774 w 6964770"/>
                <a:gd name="connsiteY4" fmla="*/ 1079506 h 2347463"/>
                <a:gd name="connsiteX5" fmla="*/ 2765213 w 6964770"/>
                <a:gd name="connsiteY5" fmla="*/ 1051583 h 2347463"/>
                <a:gd name="connsiteX6" fmla="*/ 3633245 w 6964770"/>
                <a:gd name="connsiteY6" fmla="*/ 1180601 h 2347463"/>
                <a:gd name="connsiteX7" fmla="*/ 5072331 w 6964770"/>
                <a:gd name="connsiteY7" fmla="*/ 1217429 h 2347463"/>
                <a:gd name="connsiteX8" fmla="*/ 6964770 w 6964770"/>
                <a:gd name="connsiteY8" fmla="*/ 0 h 2347463"/>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7477 w 7007034"/>
                <a:gd name="connsiteY5" fmla="*/ 1051583 h 2353918"/>
                <a:gd name="connsiteX6" fmla="*/ 3675509 w 7007034"/>
                <a:gd name="connsiteY6" fmla="*/ 1180601 h 2353918"/>
                <a:gd name="connsiteX7" fmla="*/ 5114595 w 7007034"/>
                <a:gd name="connsiteY7" fmla="*/ 1217429 h 2353918"/>
                <a:gd name="connsiteX8" fmla="*/ 7007034 w 7007034"/>
                <a:gd name="connsiteY8"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7477 w 7007034"/>
                <a:gd name="connsiteY5" fmla="*/ 1051583 h 2353918"/>
                <a:gd name="connsiteX6" fmla="*/ 3675509 w 7007034"/>
                <a:gd name="connsiteY6" fmla="*/ 1180601 h 2353918"/>
                <a:gd name="connsiteX7" fmla="*/ 5114595 w 7007034"/>
                <a:gd name="connsiteY7" fmla="*/ 1217429 h 2353918"/>
                <a:gd name="connsiteX8" fmla="*/ 6210613 w 7007034"/>
                <a:gd name="connsiteY8" fmla="*/ 783880 h 2353918"/>
                <a:gd name="connsiteX9" fmla="*/ 7007034 w 7007034"/>
                <a:gd name="connsiteY9"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7477 w 7007034"/>
                <a:gd name="connsiteY5" fmla="*/ 1051583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7007034 w 7007034"/>
                <a:gd name="connsiteY9"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7477 w 7007034"/>
                <a:gd name="connsiteY5" fmla="*/ 1051583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6688124 w 7007034"/>
                <a:gd name="connsiteY9" fmla="*/ 413682 h 2353918"/>
                <a:gd name="connsiteX10" fmla="*/ 7007034 w 7007034"/>
                <a:gd name="connsiteY10"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7477 w 7007034"/>
                <a:gd name="connsiteY5" fmla="*/ 1051583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6740438 w 7007034"/>
                <a:gd name="connsiteY9" fmla="*/ 434073 h 2353918"/>
                <a:gd name="connsiteX10" fmla="*/ 7007034 w 7007034"/>
                <a:gd name="connsiteY10"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802067 w 7007034"/>
                <a:gd name="connsiteY5" fmla="*/ 1074817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6740438 w 7007034"/>
                <a:gd name="connsiteY9" fmla="*/ 434073 h 2353918"/>
                <a:gd name="connsiteX10" fmla="*/ 7007034 w 7007034"/>
                <a:gd name="connsiteY10"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29038 w 7007034"/>
                <a:gd name="connsiteY4" fmla="*/ 1079506 h 2353918"/>
                <a:gd name="connsiteX5" fmla="*/ 2799747 w 7007034"/>
                <a:gd name="connsiteY5" fmla="*/ 1049779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6740438 w 7007034"/>
                <a:gd name="connsiteY9" fmla="*/ 434073 h 2353918"/>
                <a:gd name="connsiteX10" fmla="*/ 7007034 w 7007034"/>
                <a:gd name="connsiteY10"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5114595 w 7007034"/>
                <a:gd name="connsiteY7" fmla="*/ 1217429 h 2353918"/>
                <a:gd name="connsiteX8" fmla="*/ 6275300 w 7007034"/>
                <a:gd name="connsiteY8" fmla="*/ 856158 h 2353918"/>
                <a:gd name="connsiteX9" fmla="*/ 6740438 w 7007034"/>
                <a:gd name="connsiteY9" fmla="*/ 434073 h 2353918"/>
                <a:gd name="connsiteX10" fmla="*/ 7007034 w 7007034"/>
                <a:gd name="connsiteY10"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3979424 w 7007034"/>
                <a:gd name="connsiteY7" fmla="*/ 1193391 h 2353918"/>
                <a:gd name="connsiteX8" fmla="*/ 5114595 w 7007034"/>
                <a:gd name="connsiteY8" fmla="*/ 1217429 h 2353918"/>
                <a:gd name="connsiteX9" fmla="*/ 6275300 w 7007034"/>
                <a:gd name="connsiteY9" fmla="*/ 856158 h 2353918"/>
                <a:gd name="connsiteX10" fmla="*/ 6740438 w 7007034"/>
                <a:gd name="connsiteY10" fmla="*/ 434073 h 2353918"/>
                <a:gd name="connsiteX11" fmla="*/ 7007034 w 7007034"/>
                <a:gd name="connsiteY11"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4089982 w 7007034"/>
                <a:gd name="connsiteY7" fmla="*/ 1243725 h 2353918"/>
                <a:gd name="connsiteX8" fmla="*/ 5114595 w 7007034"/>
                <a:gd name="connsiteY8" fmla="*/ 1217429 h 2353918"/>
                <a:gd name="connsiteX9" fmla="*/ 6275300 w 7007034"/>
                <a:gd name="connsiteY9" fmla="*/ 856158 h 2353918"/>
                <a:gd name="connsiteX10" fmla="*/ 6740438 w 7007034"/>
                <a:gd name="connsiteY10" fmla="*/ 434073 h 2353918"/>
                <a:gd name="connsiteX11" fmla="*/ 7007034 w 7007034"/>
                <a:gd name="connsiteY11"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4110855 w 7007034"/>
                <a:gd name="connsiteY7" fmla="*/ 1224106 h 2353918"/>
                <a:gd name="connsiteX8" fmla="*/ 5114595 w 7007034"/>
                <a:gd name="connsiteY8" fmla="*/ 1217429 h 2353918"/>
                <a:gd name="connsiteX9" fmla="*/ 6275300 w 7007034"/>
                <a:gd name="connsiteY9" fmla="*/ 856158 h 2353918"/>
                <a:gd name="connsiteX10" fmla="*/ 6740438 w 7007034"/>
                <a:gd name="connsiteY10" fmla="*/ 434073 h 2353918"/>
                <a:gd name="connsiteX11" fmla="*/ 7007034 w 7007034"/>
                <a:gd name="connsiteY11"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4110855 w 7007034"/>
                <a:gd name="connsiteY7" fmla="*/ 1224106 h 2353918"/>
                <a:gd name="connsiteX8" fmla="*/ 5114595 w 7007034"/>
                <a:gd name="connsiteY8" fmla="*/ 1217429 h 2353918"/>
                <a:gd name="connsiteX9" fmla="*/ 6275300 w 7007034"/>
                <a:gd name="connsiteY9" fmla="*/ 856158 h 2353918"/>
                <a:gd name="connsiteX10" fmla="*/ 6519081 w 7007034"/>
                <a:gd name="connsiteY10" fmla="*/ 684481 h 2353918"/>
                <a:gd name="connsiteX11" fmla="*/ 6740438 w 7007034"/>
                <a:gd name="connsiteY11" fmla="*/ 434073 h 2353918"/>
                <a:gd name="connsiteX12" fmla="*/ 7007034 w 7007034"/>
                <a:gd name="connsiteY12"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4110855 w 7007034"/>
                <a:gd name="connsiteY7" fmla="*/ 1224106 h 2353918"/>
                <a:gd name="connsiteX8" fmla="*/ 5114595 w 7007034"/>
                <a:gd name="connsiteY8" fmla="*/ 1217429 h 2353918"/>
                <a:gd name="connsiteX9" fmla="*/ 6275300 w 7007034"/>
                <a:gd name="connsiteY9" fmla="*/ 856158 h 2353918"/>
                <a:gd name="connsiteX10" fmla="*/ 6518564 w 7007034"/>
                <a:gd name="connsiteY10" fmla="*/ 651697 h 2353918"/>
                <a:gd name="connsiteX11" fmla="*/ 6740438 w 7007034"/>
                <a:gd name="connsiteY11" fmla="*/ 434073 h 2353918"/>
                <a:gd name="connsiteX12" fmla="*/ 7007034 w 7007034"/>
                <a:gd name="connsiteY12" fmla="*/ 0 h 2353918"/>
                <a:gd name="connsiteX0" fmla="*/ 0 w 7007034"/>
                <a:gd name="connsiteY0" fmla="*/ 2353918 h 2353918"/>
                <a:gd name="connsiteX1" fmla="*/ 343073 w 7007034"/>
                <a:gd name="connsiteY1" fmla="*/ 1815694 h 2353918"/>
                <a:gd name="connsiteX2" fmla="*/ 999169 w 7007034"/>
                <a:gd name="connsiteY2" fmla="*/ 1348226 h 2353918"/>
                <a:gd name="connsiteX3" fmla="*/ 1626627 w 7007034"/>
                <a:gd name="connsiteY3" fmla="*/ 1143519 h 2353918"/>
                <a:gd name="connsiteX4" fmla="*/ 2134448 w 7007034"/>
                <a:gd name="connsiteY4" fmla="*/ 1056272 h 2353918"/>
                <a:gd name="connsiteX5" fmla="*/ 2799747 w 7007034"/>
                <a:gd name="connsiteY5" fmla="*/ 1049779 h 2353918"/>
                <a:gd name="connsiteX6" fmla="*/ 3675509 w 7007034"/>
                <a:gd name="connsiteY6" fmla="*/ 1180601 h 2353918"/>
                <a:gd name="connsiteX7" fmla="*/ 4110855 w 7007034"/>
                <a:gd name="connsiteY7" fmla="*/ 1224106 h 2353918"/>
                <a:gd name="connsiteX8" fmla="*/ 5114595 w 7007034"/>
                <a:gd name="connsiteY8" fmla="*/ 1217429 h 2353918"/>
                <a:gd name="connsiteX9" fmla="*/ 6275300 w 7007034"/>
                <a:gd name="connsiteY9" fmla="*/ 856158 h 2353918"/>
                <a:gd name="connsiteX10" fmla="*/ 6551810 w 7007034"/>
                <a:gd name="connsiteY10" fmla="*/ 683963 h 2353918"/>
                <a:gd name="connsiteX11" fmla="*/ 6740438 w 7007034"/>
                <a:gd name="connsiteY11" fmla="*/ 434073 h 2353918"/>
                <a:gd name="connsiteX12" fmla="*/ 7007034 w 7007034"/>
                <a:gd name="connsiteY12" fmla="*/ 0 h 2353918"/>
                <a:gd name="connsiteX0" fmla="*/ 0 w 6974305"/>
                <a:gd name="connsiteY0" fmla="*/ 2353401 h 2353401"/>
                <a:gd name="connsiteX1" fmla="*/ 343073 w 6974305"/>
                <a:gd name="connsiteY1" fmla="*/ 1815177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799747 w 6974305"/>
                <a:gd name="connsiteY5" fmla="*/ 1049262 h 2353401"/>
                <a:gd name="connsiteX6" fmla="*/ 3675509 w 6974305"/>
                <a:gd name="connsiteY6" fmla="*/ 1180084 h 2353401"/>
                <a:gd name="connsiteX7" fmla="*/ 4110855 w 6974305"/>
                <a:gd name="connsiteY7" fmla="*/ 1223589 h 2353401"/>
                <a:gd name="connsiteX8" fmla="*/ 5114595 w 6974305"/>
                <a:gd name="connsiteY8" fmla="*/ 1216912 h 2353401"/>
                <a:gd name="connsiteX9" fmla="*/ 6275300 w 6974305"/>
                <a:gd name="connsiteY9" fmla="*/ 855641 h 2353401"/>
                <a:gd name="connsiteX10" fmla="*/ 6551810 w 6974305"/>
                <a:gd name="connsiteY10" fmla="*/ 683446 h 2353401"/>
                <a:gd name="connsiteX11" fmla="*/ 6740438 w 6974305"/>
                <a:gd name="connsiteY11" fmla="*/ 433556 h 2353401"/>
                <a:gd name="connsiteX12" fmla="*/ 6974305 w 6974305"/>
                <a:gd name="connsiteY12" fmla="*/ 0 h 2353401"/>
                <a:gd name="connsiteX0" fmla="*/ 0 w 6974305"/>
                <a:gd name="connsiteY0" fmla="*/ 2353401 h 2353401"/>
                <a:gd name="connsiteX1" fmla="*/ 343073 w 6974305"/>
                <a:gd name="connsiteY1" fmla="*/ 1815177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803871 w 6974305"/>
                <a:gd name="connsiteY5" fmla="*/ 1066557 h 2353401"/>
                <a:gd name="connsiteX6" fmla="*/ 3675509 w 6974305"/>
                <a:gd name="connsiteY6" fmla="*/ 1180084 h 2353401"/>
                <a:gd name="connsiteX7" fmla="*/ 4110855 w 6974305"/>
                <a:gd name="connsiteY7" fmla="*/ 1223589 h 2353401"/>
                <a:gd name="connsiteX8" fmla="*/ 5114595 w 6974305"/>
                <a:gd name="connsiteY8" fmla="*/ 1216912 h 2353401"/>
                <a:gd name="connsiteX9" fmla="*/ 6275300 w 6974305"/>
                <a:gd name="connsiteY9" fmla="*/ 855641 h 2353401"/>
                <a:gd name="connsiteX10" fmla="*/ 6551810 w 6974305"/>
                <a:gd name="connsiteY10" fmla="*/ 683446 h 2353401"/>
                <a:gd name="connsiteX11" fmla="*/ 6740438 w 6974305"/>
                <a:gd name="connsiteY11" fmla="*/ 433556 h 2353401"/>
                <a:gd name="connsiteX12" fmla="*/ 6974305 w 6974305"/>
                <a:gd name="connsiteY12" fmla="*/ 0 h 2353401"/>
                <a:gd name="connsiteX0" fmla="*/ 0 w 6974305"/>
                <a:gd name="connsiteY0" fmla="*/ 2353401 h 2353401"/>
                <a:gd name="connsiteX1" fmla="*/ 343073 w 6974305"/>
                <a:gd name="connsiteY1" fmla="*/ 1815177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6330 w 6974305"/>
                <a:gd name="connsiteY5" fmla="*/ 1050441 h 2353401"/>
                <a:gd name="connsiteX6" fmla="*/ 2803871 w 6974305"/>
                <a:gd name="connsiteY6" fmla="*/ 1066557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75300 w 6974305"/>
                <a:gd name="connsiteY10" fmla="*/ 855641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43073 w 6974305"/>
                <a:gd name="connsiteY1" fmla="*/ 1815177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03871 w 6974305"/>
                <a:gd name="connsiteY6" fmla="*/ 1066557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75300 w 6974305"/>
                <a:gd name="connsiteY10" fmla="*/ 855641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43073 w 6974305"/>
                <a:gd name="connsiteY1" fmla="*/ 1815177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32474 w 6974305"/>
                <a:gd name="connsiteY6" fmla="*/ 1048744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75300 w 6974305"/>
                <a:gd name="connsiteY10" fmla="*/ 855641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32474 w 6974305"/>
                <a:gd name="connsiteY6" fmla="*/ 1048744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75300 w 6974305"/>
                <a:gd name="connsiteY10" fmla="*/ 855641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75300 w 6974305"/>
                <a:gd name="connsiteY10" fmla="*/ 855641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66281 w 6974305"/>
                <a:gd name="connsiteY10" fmla="*/ 894363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15000 w 6974305"/>
                <a:gd name="connsiteY10" fmla="*/ 939539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924 w 6974305"/>
                <a:gd name="connsiteY10" fmla="*/ 946766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40438 w 6974305"/>
                <a:gd name="connsiteY12" fmla="*/ 433556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63631 w 6974305"/>
                <a:gd name="connsiteY12" fmla="*/ 438975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63631 w 6974305"/>
                <a:gd name="connsiteY12" fmla="*/ 438975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63631 w 6974305"/>
                <a:gd name="connsiteY12" fmla="*/ 438975 h 2353401"/>
                <a:gd name="connsiteX13" fmla="*/ 6974305 w 6974305"/>
                <a:gd name="connsiteY13" fmla="*/ 0 h 2353401"/>
                <a:gd name="connsiteX0" fmla="*/ 0 w 6974305"/>
                <a:gd name="connsiteY0" fmla="*/ 2353401 h 2353401"/>
                <a:gd name="connsiteX1" fmla="*/ 364464 w 6974305"/>
                <a:gd name="connsiteY1" fmla="*/ 1828340 h 2353401"/>
                <a:gd name="connsiteX2" fmla="*/ 999169 w 6974305"/>
                <a:gd name="connsiteY2" fmla="*/ 1347709 h 2353401"/>
                <a:gd name="connsiteX3" fmla="*/ 1626627 w 6974305"/>
                <a:gd name="connsiteY3" fmla="*/ 1143002 h 2353401"/>
                <a:gd name="connsiteX4" fmla="*/ 2134448 w 6974305"/>
                <a:gd name="connsiteY4" fmla="*/ 1055755 h 2353401"/>
                <a:gd name="connsiteX5" fmla="*/ 2492206 w 6974305"/>
                <a:gd name="connsiteY5" fmla="*/ 1033144 h 2353401"/>
                <a:gd name="connsiteX6" fmla="*/ 2846133 w 6974305"/>
                <a:gd name="connsiteY6" fmla="*/ 1060101 h 2353401"/>
                <a:gd name="connsiteX7" fmla="*/ 3675509 w 6974305"/>
                <a:gd name="connsiteY7" fmla="*/ 1180084 h 2353401"/>
                <a:gd name="connsiteX8" fmla="*/ 4110855 w 6974305"/>
                <a:gd name="connsiteY8" fmla="*/ 1223589 h 2353401"/>
                <a:gd name="connsiteX9" fmla="*/ 5114595 w 6974305"/>
                <a:gd name="connsiteY9" fmla="*/ 1216912 h 2353401"/>
                <a:gd name="connsiteX10" fmla="*/ 6245408 w 6974305"/>
                <a:gd name="connsiteY10" fmla="*/ 913982 h 2353401"/>
                <a:gd name="connsiteX11" fmla="*/ 6551810 w 6974305"/>
                <a:gd name="connsiteY11" fmla="*/ 683446 h 2353401"/>
                <a:gd name="connsiteX12" fmla="*/ 6763631 w 6974305"/>
                <a:gd name="connsiteY12" fmla="*/ 438975 h 2353401"/>
                <a:gd name="connsiteX13" fmla="*/ 6974305 w 6974305"/>
                <a:gd name="connsiteY13" fmla="*/ 0 h 2353401"/>
                <a:gd name="connsiteX0" fmla="*/ 0 w 6983586"/>
                <a:gd name="connsiteY0" fmla="*/ 2253241 h 2253241"/>
                <a:gd name="connsiteX1" fmla="*/ 364464 w 6983586"/>
                <a:gd name="connsiteY1" fmla="*/ 1728180 h 2253241"/>
                <a:gd name="connsiteX2" fmla="*/ 999169 w 6983586"/>
                <a:gd name="connsiteY2" fmla="*/ 1247549 h 2253241"/>
                <a:gd name="connsiteX3" fmla="*/ 1626627 w 6983586"/>
                <a:gd name="connsiteY3" fmla="*/ 1042842 h 2253241"/>
                <a:gd name="connsiteX4" fmla="*/ 2134448 w 6983586"/>
                <a:gd name="connsiteY4" fmla="*/ 955595 h 2253241"/>
                <a:gd name="connsiteX5" fmla="*/ 2492206 w 6983586"/>
                <a:gd name="connsiteY5" fmla="*/ 932984 h 2253241"/>
                <a:gd name="connsiteX6" fmla="*/ 2846133 w 6983586"/>
                <a:gd name="connsiteY6" fmla="*/ 959941 h 2253241"/>
                <a:gd name="connsiteX7" fmla="*/ 3675509 w 6983586"/>
                <a:gd name="connsiteY7" fmla="*/ 1079924 h 2253241"/>
                <a:gd name="connsiteX8" fmla="*/ 4110855 w 6983586"/>
                <a:gd name="connsiteY8" fmla="*/ 1123429 h 2253241"/>
                <a:gd name="connsiteX9" fmla="*/ 5114595 w 6983586"/>
                <a:gd name="connsiteY9" fmla="*/ 1116752 h 2253241"/>
                <a:gd name="connsiteX10" fmla="*/ 6245408 w 6983586"/>
                <a:gd name="connsiteY10" fmla="*/ 813822 h 2253241"/>
                <a:gd name="connsiteX11" fmla="*/ 6551810 w 6983586"/>
                <a:gd name="connsiteY11" fmla="*/ 583286 h 2253241"/>
                <a:gd name="connsiteX12" fmla="*/ 6763631 w 6983586"/>
                <a:gd name="connsiteY12" fmla="*/ 338815 h 2253241"/>
                <a:gd name="connsiteX13" fmla="*/ 6983586 w 6983586"/>
                <a:gd name="connsiteY13" fmla="*/ 0 h 2253241"/>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1810 w 6944414"/>
                <a:gd name="connsiteY11" fmla="*/ 625103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553663 w 6944414"/>
                <a:gd name="connsiteY11" fmla="*/ 645101 h 2295058"/>
                <a:gd name="connsiteX12" fmla="*/ 6763631 w 6944414"/>
                <a:gd name="connsiteY12" fmla="*/ 380632 h 2295058"/>
                <a:gd name="connsiteX13" fmla="*/ 6944414 w 6944414"/>
                <a:gd name="connsiteY13"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763631 w 6944414"/>
                <a:gd name="connsiteY11" fmla="*/ 380632 h 2295058"/>
                <a:gd name="connsiteX12" fmla="*/ 6944414 w 6944414"/>
                <a:gd name="connsiteY12"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944414 w 6944414"/>
                <a:gd name="connsiteY11"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670026 w 6944414"/>
                <a:gd name="connsiteY11" fmla="*/ 392668 h 2295058"/>
                <a:gd name="connsiteX12" fmla="*/ 6944414 w 6944414"/>
                <a:gd name="connsiteY12"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690402 w 6944414"/>
                <a:gd name="connsiteY11" fmla="*/ 416993 h 2295058"/>
                <a:gd name="connsiteX12" fmla="*/ 6944414 w 6944414"/>
                <a:gd name="connsiteY12" fmla="*/ 0 h 2295058"/>
                <a:gd name="connsiteX0" fmla="*/ 0 w 6944414"/>
                <a:gd name="connsiteY0" fmla="*/ 2295058 h 2295058"/>
                <a:gd name="connsiteX1" fmla="*/ 364464 w 6944414"/>
                <a:gd name="connsiteY1" fmla="*/ 1769997 h 2295058"/>
                <a:gd name="connsiteX2" fmla="*/ 999169 w 6944414"/>
                <a:gd name="connsiteY2" fmla="*/ 1289366 h 2295058"/>
                <a:gd name="connsiteX3" fmla="*/ 1626627 w 6944414"/>
                <a:gd name="connsiteY3" fmla="*/ 1084659 h 2295058"/>
                <a:gd name="connsiteX4" fmla="*/ 2134448 w 6944414"/>
                <a:gd name="connsiteY4" fmla="*/ 997412 h 2295058"/>
                <a:gd name="connsiteX5" fmla="*/ 2492206 w 6944414"/>
                <a:gd name="connsiteY5" fmla="*/ 974801 h 2295058"/>
                <a:gd name="connsiteX6" fmla="*/ 2846133 w 6944414"/>
                <a:gd name="connsiteY6" fmla="*/ 1001758 h 2295058"/>
                <a:gd name="connsiteX7" fmla="*/ 3675509 w 6944414"/>
                <a:gd name="connsiteY7" fmla="*/ 1121741 h 2295058"/>
                <a:gd name="connsiteX8" fmla="*/ 4110855 w 6944414"/>
                <a:gd name="connsiteY8" fmla="*/ 1165246 h 2295058"/>
                <a:gd name="connsiteX9" fmla="*/ 5114595 w 6944414"/>
                <a:gd name="connsiteY9" fmla="*/ 1158569 h 2295058"/>
                <a:gd name="connsiteX10" fmla="*/ 6245408 w 6944414"/>
                <a:gd name="connsiteY10" fmla="*/ 855639 h 2295058"/>
                <a:gd name="connsiteX11" fmla="*/ 6708925 w 6944414"/>
                <a:gd name="connsiteY11" fmla="*/ 421320 h 2295058"/>
                <a:gd name="connsiteX12" fmla="*/ 6944414 w 6944414"/>
                <a:gd name="connsiteY12" fmla="*/ 0 h 2295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44414" h="2295058">
                  <a:moveTo>
                    <a:pt x="0" y="2295058"/>
                  </a:moveTo>
                  <a:cubicBezTo>
                    <a:pt x="61019" y="2223938"/>
                    <a:pt x="204980" y="1936537"/>
                    <a:pt x="364464" y="1769997"/>
                  </a:cubicBezTo>
                  <a:cubicBezTo>
                    <a:pt x="523948" y="1603458"/>
                    <a:pt x="788039" y="1395243"/>
                    <a:pt x="999169" y="1289366"/>
                  </a:cubicBezTo>
                  <a:cubicBezTo>
                    <a:pt x="1210299" y="1183489"/>
                    <a:pt x="1438316" y="1129446"/>
                    <a:pt x="1626627" y="1084659"/>
                  </a:cubicBezTo>
                  <a:cubicBezTo>
                    <a:pt x="1814938" y="1039872"/>
                    <a:pt x="1990185" y="1015722"/>
                    <a:pt x="2134448" y="997412"/>
                  </a:cubicBezTo>
                  <a:cubicBezTo>
                    <a:pt x="2278711" y="979102"/>
                    <a:pt x="2380636" y="973001"/>
                    <a:pt x="2492206" y="974801"/>
                  </a:cubicBezTo>
                  <a:cubicBezTo>
                    <a:pt x="2603776" y="976601"/>
                    <a:pt x="2649603" y="980151"/>
                    <a:pt x="2846133" y="1001758"/>
                  </a:cubicBezTo>
                  <a:lnTo>
                    <a:pt x="3675509" y="1121741"/>
                  </a:lnTo>
                  <a:cubicBezTo>
                    <a:pt x="3872122" y="1145676"/>
                    <a:pt x="3871007" y="1159108"/>
                    <a:pt x="4110855" y="1165246"/>
                  </a:cubicBezTo>
                  <a:cubicBezTo>
                    <a:pt x="4350703" y="1171384"/>
                    <a:pt x="4731949" y="1214774"/>
                    <a:pt x="5114595" y="1158569"/>
                  </a:cubicBezTo>
                  <a:cubicBezTo>
                    <a:pt x="5537112" y="1092449"/>
                    <a:pt x="5853207" y="1073260"/>
                    <a:pt x="6245408" y="855639"/>
                  </a:cubicBezTo>
                  <a:cubicBezTo>
                    <a:pt x="6504647" y="727989"/>
                    <a:pt x="6592424" y="563926"/>
                    <a:pt x="6708925" y="421320"/>
                  </a:cubicBezTo>
                  <a:cubicBezTo>
                    <a:pt x="6825426" y="278714"/>
                    <a:pt x="6898683" y="65445"/>
                    <a:pt x="6944414" y="0"/>
                  </a:cubicBezTo>
                </a:path>
              </a:pathLst>
            </a:cu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b="1" dirty="0"/>
            </a:p>
          </p:txBody>
        </p:sp>
        <p:cxnSp>
          <p:nvCxnSpPr>
            <p:cNvPr id="6" name="直接箭头连接符 5">
              <a:extLst>
                <a:ext uri="{FF2B5EF4-FFF2-40B4-BE49-F238E27FC236}">
                  <a16:creationId xmlns:a16="http://schemas.microsoft.com/office/drawing/2014/main" id="{01B670AF-DCC8-87CF-2E4B-DEE642563469}"/>
                </a:ext>
              </a:extLst>
            </p:cNvPr>
            <p:cNvCxnSpPr>
              <a:cxnSpLocks/>
            </p:cNvCxnSpPr>
            <p:nvPr/>
          </p:nvCxnSpPr>
          <p:spPr>
            <a:xfrm>
              <a:off x="2524125" y="3914775"/>
              <a:ext cx="48387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2AAA2FDE-C5E5-8B2B-4179-2AEAF35EB885}"/>
                </a:ext>
              </a:extLst>
            </p:cNvPr>
            <p:cNvCxnSpPr>
              <a:cxnSpLocks/>
            </p:cNvCxnSpPr>
            <p:nvPr/>
          </p:nvCxnSpPr>
          <p:spPr>
            <a:xfrm flipV="1">
              <a:off x="2519363" y="1614488"/>
              <a:ext cx="4762" cy="230028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BBC96C31-436A-CFD7-0AC8-7D0E177822D3}"/>
                </a:ext>
              </a:extLst>
            </p:cNvPr>
            <p:cNvCxnSpPr/>
            <p:nvPr/>
          </p:nvCxnSpPr>
          <p:spPr>
            <a:xfrm>
              <a:off x="2524125" y="2806700"/>
              <a:ext cx="4672013"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 name="文本框 14">
              <a:extLst>
                <a:ext uri="{FF2B5EF4-FFF2-40B4-BE49-F238E27FC236}">
                  <a16:creationId xmlns:a16="http://schemas.microsoft.com/office/drawing/2014/main" id="{09287C3A-4C6E-484C-B748-38ECADEA199F}"/>
                </a:ext>
              </a:extLst>
            </p:cNvPr>
            <p:cNvSpPr txBox="1">
              <a:spLocks noChangeArrowheads="1"/>
            </p:cNvSpPr>
            <p:nvPr/>
          </p:nvSpPr>
          <p:spPr bwMode="auto">
            <a:xfrm>
              <a:off x="1847871" y="1443038"/>
              <a:ext cx="720070" cy="376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600" b="1" dirty="0" err="1">
                  <a:latin typeface="Times New Roman" panose="02020603050405020304" pitchFamily="18" charset="0"/>
                  <a:cs typeface="Times New Roman" panose="02020603050405020304" pitchFamily="18" charset="0"/>
                </a:rPr>
                <a:t>cwnd</a:t>
              </a:r>
              <a:endParaRPr lang="zh-CN" altLang="en-US" sz="1600" b="1" dirty="0">
                <a:latin typeface="Times New Roman" panose="02020603050405020304" pitchFamily="18" charset="0"/>
                <a:cs typeface="Times New Roman" panose="02020603050405020304" pitchFamily="18" charset="0"/>
              </a:endParaRPr>
            </a:p>
          </p:txBody>
        </p:sp>
        <p:sp>
          <p:nvSpPr>
            <p:cNvPr id="10" name="文本框 17">
              <a:extLst>
                <a:ext uri="{FF2B5EF4-FFF2-40B4-BE49-F238E27FC236}">
                  <a16:creationId xmlns:a16="http://schemas.microsoft.com/office/drawing/2014/main" id="{435B54AB-6DC4-19B1-7501-81941403756D}"/>
                </a:ext>
              </a:extLst>
            </p:cNvPr>
            <p:cNvSpPr txBox="1">
              <a:spLocks noChangeArrowheads="1"/>
            </p:cNvSpPr>
            <p:nvPr/>
          </p:nvSpPr>
          <p:spPr bwMode="auto">
            <a:xfrm>
              <a:off x="6042833" y="3247147"/>
              <a:ext cx="1804960" cy="650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从</a:t>
              </a:r>
              <a:r>
                <a:rPr lang="zh-CN" altLang="zh-CN" sz="1600" b="1" dirty="0">
                  <a:latin typeface="微软雅黑" panose="020B0503020204020204" pitchFamily="34" charset="-122"/>
                  <a:ea typeface="微软雅黑" panose="020B0503020204020204" pitchFamily="34" charset="-122"/>
                  <a:cs typeface="Times New Roman" panose="02020603050405020304" pitchFamily="18" charset="0"/>
                </a:rPr>
                <a:t>上次发生拥塞</a:t>
              </a:r>
              <a:endParaRPr lang="en-US" altLang="zh-CN" sz="1600" b="1" dirty="0">
                <a:latin typeface="微软雅黑" panose="020B0503020204020204" pitchFamily="34" charset="-122"/>
                <a:ea typeface="微软雅黑" panose="020B0503020204020204" pitchFamily="34" charset="-122"/>
                <a:cs typeface="Times New Roman" panose="02020603050405020304" pitchFamily="18" charset="0"/>
              </a:endParaRPr>
            </a:p>
            <a:p>
              <a:pPr algn="ctr" eaLnBrk="1" hangingPunct="1"/>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算起</a:t>
              </a:r>
              <a:r>
                <a:rPr lang="zh-CN" altLang="zh-CN" sz="1600" b="1" dirty="0">
                  <a:latin typeface="微软雅黑" panose="020B0503020204020204" pitchFamily="34" charset="-122"/>
                  <a:ea typeface="微软雅黑" panose="020B0503020204020204" pitchFamily="34" charset="-122"/>
                  <a:cs typeface="Times New Roman" panose="02020603050405020304" pitchFamily="18" charset="0"/>
                </a:rPr>
                <a:t>的</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时间 </a:t>
              </a: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t</a:t>
              </a:r>
              <a:endParaRPr lang="zh-CN" altLang="en-US" sz="1600" b="1" i="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文本框 18">
              <a:extLst>
                <a:ext uri="{FF2B5EF4-FFF2-40B4-BE49-F238E27FC236}">
                  <a16:creationId xmlns:a16="http://schemas.microsoft.com/office/drawing/2014/main" id="{8245018A-13C4-EF68-5069-7A2BD5261490}"/>
                </a:ext>
              </a:extLst>
            </p:cNvPr>
            <p:cNvSpPr txBox="1">
              <a:spLocks noChangeArrowheads="1"/>
            </p:cNvSpPr>
            <p:nvPr/>
          </p:nvSpPr>
          <p:spPr bwMode="auto">
            <a:xfrm>
              <a:off x="1879633" y="2605088"/>
              <a:ext cx="709433" cy="376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600" b="1" dirty="0" err="1">
                  <a:latin typeface="Times New Roman" panose="02020603050405020304" pitchFamily="18" charset="0"/>
                  <a:cs typeface="Times New Roman" panose="02020603050405020304" pitchFamily="18" charset="0"/>
                </a:rPr>
                <a:t>W</a:t>
              </a:r>
              <a:r>
                <a:rPr lang="en-US" altLang="zh-CN" sz="1600" b="1" baseline="-25000" dirty="0" err="1">
                  <a:latin typeface="Times New Roman" panose="02020603050405020304" pitchFamily="18" charset="0"/>
                  <a:cs typeface="Times New Roman" panose="02020603050405020304" pitchFamily="18" charset="0"/>
                </a:rPr>
                <a:t>max</a:t>
              </a:r>
              <a:endParaRPr lang="zh-CN" altLang="en-US" sz="1600" b="1" dirty="0">
                <a:latin typeface="Times New Roman" panose="02020603050405020304" pitchFamily="18" charset="0"/>
                <a:cs typeface="Times New Roman" panose="02020603050405020304" pitchFamily="18" charset="0"/>
              </a:endParaRPr>
            </a:p>
          </p:txBody>
        </p:sp>
        <p:sp>
          <p:nvSpPr>
            <p:cNvPr id="12" name="文本框 19">
              <a:extLst>
                <a:ext uri="{FF2B5EF4-FFF2-40B4-BE49-F238E27FC236}">
                  <a16:creationId xmlns:a16="http://schemas.microsoft.com/office/drawing/2014/main" id="{5EFFF811-9772-974D-1A75-142B8846AE88}"/>
                </a:ext>
              </a:extLst>
            </p:cNvPr>
            <p:cNvSpPr txBox="1">
              <a:spLocks noChangeArrowheads="1"/>
            </p:cNvSpPr>
            <p:nvPr/>
          </p:nvSpPr>
          <p:spPr bwMode="auto">
            <a:xfrm>
              <a:off x="2271713" y="3798888"/>
              <a:ext cx="317667" cy="376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600" b="1">
                  <a:latin typeface="Times New Roman" panose="02020603050405020304" pitchFamily="18" charset="0"/>
                  <a:cs typeface="Times New Roman" panose="02020603050405020304" pitchFamily="18" charset="0"/>
                </a:rPr>
                <a:t>0</a:t>
              </a:r>
              <a:endParaRPr lang="zh-CN" altLang="en-US" sz="1600" b="1">
                <a:latin typeface="Times New Roman" panose="02020603050405020304" pitchFamily="18" charset="0"/>
                <a:cs typeface="Times New Roman" panose="02020603050405020304" pitchFamily="18" charset="0"/>
              </a:endParaRPr>
            </a:p>
          </p:txBody>
        </p:sp>
      </p:grpSp>
      <p:sp>
        <p:nvSpPr>
          <p:cNvPr id="16" name="文本框 15">
            <a:extLst>
              <a:ext uri="{FF2B5EF4-FFF2-40B4-BE49-F238E27FC236}">
                <a16:creationId xmlns:a16="http://schemas.microsoft.com/office/drawing/2014/main" id="{EC06B37F-7986-E876-DED9-8DF61148CA54}"/>
              </a:ext>
            </a:extLst>
          </p:cNvPr>
          <p:cNvSpPr txBox="1"/>
          <p:nvPr/>
        </p:nvSpPr>
        <p:spPr>
          <a:xfrm>
            <a:off x="3027305" y="2359832"/>
            <a:ext cx="4081960" cy="338554"/>
          </a:xfrm>
          <a:prstGeom prst="rect">
            <a:avLst/>
          </a:prstGeom>
          <a:noFill/>
        </p:spPr>
        <p:txBody>
          <a:bodyPr wrap="square">
            <a:spAutoFit/>
          </a:bodyPr>
          <a:lstStyle/>
          <a:p>
            <a:r>
              <a:rPr lang="en-US" altLang="zh-CN" sz="1600" b="1" dirty="0">
                <a:solidFill>
                  <a:srgbClr val="C00000"/>
                </a:solidFill>
                <a:latin typeface="微软雅黑" pitchFamily="34" charset="-122"/>
                <a:ea typeface="微软雅黑" pitchFamily="34" charset="-122"/>
              </a:rPr>
              <a:t>CUBIC</a:t>
            </a:r>
            <a:r>
              <a:rPr lang="zh-CN" altLang="en-US" sz="1600" b="1" dirty="0">
                <a:solidFill>
                  <a:srgbClr val="C00000"/>
                </a:solidFill>
                <a:latin typeface="微软雅黑" pitchFamily="34" charset="-122"/>
                <a:ea typeface="微软雅黑" pitchFamily="34" charset="-122"/>
              </a:rPr>
              <a:t>拥塞窗口</a:t>
            </a:r>
            <a:r>
              <a:rPr lang="en-US" altLang="zh-CN" sz="1600" b="1" dirty="0" err="1">
                <a:solidFill>
                  <a:srgbClr val="C00000"/>
                </a:solidFill>
                <a:latin typeface="微软雅黑" pitchFamily="34" charset="-122"/>
                <a:ea typeface="微软雅黑" pitchFamily="34" charset="-122"/>
              </a:rPr>
              <a:t>cwnd</a:t>
            </a:r>
            <a:r>
              <a:rPr lang="zh-CN" altLang="en-US" sz="1600" b="1" dirty="0">
                <a:solidFill>
                  <a:srgbClr val="C00000"/>
                </a:solidFill>
                <a:latin typeface="微软雅黑" pitchFamily="34" charset="-122"/>
                <a:ea typeface="微软雅黑" pitchFamily="34" charset="-122"/>
              </a:rPr>
              <a:t>随时间的变化曲线</a:t>
            </a:r>
          </a:p>
        </p:txBody>
      </p:sp>
      <p:sp>
        <p:nvSpPr>
          <p:cNvPr id="20" name="文本框 19">
            <a:extLst>
              <a:ext uri="{FF2B5EF4-FFF2-40B4-BE49-F238E27FC236}">
                <a16:creationId xmlns:a16="http://schemas.microsoft.com/office/drawing/2014/main" id="{B06BB8D1-0D37-63D1-6746-C56845246A1D}"/>
              </a:ext>
            </a:extLst>
          </p:cNvPr>
          <p:cNvSpPr txBox="1"/>
          <p:nvPr/>
        </p:nvSpPr>
        <p:spPr>
          <a:xfrm>
            <a:off x="1213893" y="3252660"/>
            <a:ext cx="1272626" cy="523220"/>
          </a:xfrm>
          <a:prstGeom prst="rect">
            <a:avLst/>
          </a:prstGeom>
          <a:noFill/>
        </p:spPr>
        <p:txBody>
          <a:bodyPr wrap="square">
            <a:spAutoFit/>
          </a:bodyPr>
          <a:lstStyle/>
          <a:p>
            <a:r>
              <a:rPr kumimoji="0" lang="zh-CN" altLang="en-US" sz="1400" b="1" i="0" u="none" strike="noStrike" kern="1200" cap="none" spc="0" normalizeH="0" baseline="0" noProof="0" dirty="0">
                <a:ln>
                  <a:noFill/>
                </a:ln>
                <a:solidFill>
                  <a:srgbClr val="0000FF"/>
                </a:solidFill>
                <a:effectLst/>
                <a:uLnTx/>
                <a:uFillTx/>
                <a:latin typeface="微软雅黑" pitchFamily="34" charset="-122"/>
                <a:ea typeface="微软雅黑" pitchFamily="34" charset="-122"/>
                <a:cs typeface="+mn-cs"/>
              </a:rPr>
              <a:t>上次发生拥塞时拥塞窗口值</a:t>
            </a:r>
            <a:endParaRPr lang="zh-CN" altLang="en-US" sz="1400" dirty="0">
              <a:solidFill>
                <a:srgbClr val="0000FF"/>
              </a:solidFill>
            </a:endParaRPr>
          </a:p>
        </p:txBody>
      </p:sp>
    </p:spTree>
    <p:extLst>
      <p:ext uri="{BB962C8B-B14F-4D97-AF65-F5344CB8AC3E}">
        <p14:creationId xmlns:p14="http://schemas.microsoft.com/office/powerpoint/2010/main" val="174473194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A3D52-7F3C-5FF2-AE54-286F8535FD1F}"/>
            </a:ext>
          </a:extLst>
        </p:cNvPr>
        <p:cNvGrpSpPr/>
        <p:nvPr/>
      </p:nvGrpSpPr>
      <p:grpSpPr>
        <a:xfrm>
          <a:off x="0" y="0"/>
          <a:ext cx="0" cy="0"/>
          <a:chOff x="0" y="0"/>
          <a:chExt cx="0" cy="0"/>
        </a:xfrm>
      </p:grpSpPr>
      <p:sp>
        <p:nvSpPr>
          <p:cNvPr id="2" name="AutoShape 5">
            <a:extLst>
              <a:ext uri="{FF2B5EF4-FFF2-40B4-BE49-F238E27FC236}">
                <a16:creationId xmlns:a16="http://schemas.microsoft.com/office/drawing/2014/main" id="{4B63C220-D863-4486-732E-6CD72437351D}"/>
              </a:ext>
            </a:extLst>
          </p:cNvPr>
          <p:cNvSpPr>
            <a:spLocks noChangeArrowheads="1"/>
          </p:cNvSpPr>
          <p:nvPr/>
        </p:nvSpPr>
        <p:spPr bwMode="auto">
          <a:xfrm>
            <a:off x="545143" y="625919"/>
            <a:ext cx="8053711" cy="357839"/>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a:extLst>
              <a:ext uri="{FF2B5EF4-FFF2-40B4-BE49-F238E27FC236}">
                <a16:creationId xmlns:a16="http://schemas.microsoft.com/office/drawing/2014/main" id="{7AD179FA-3CD9-C4E7-3DE4-D8F32C2D4E52}"/>
              </a:ext>
            </a:extLst>
          </p:cNvPr>
          <p:cNvSpPr>
            <a:spLocks noChangeArrowheads="1"/>
          </p:cNvSpPr>
          <p:nvPr/>
        </p:nvSpPr>
        <p:spPr bwMode="auto">
          <a:xfrm>
            <a:off x="3776147" y="599146"/>
            <a:ext cx="159171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2. TCP BBR</a:t>
            </a:r>
          </a:p>
        </p:txBody>
      </p:sp>
      <p:sp>
        <p:nvSpPr>
          <p:cNvPr id="4" name="Rectangle 8">
            <a:extLst>
              <a:ext uri="{FF2B5EF4-FFF2-40B4-BE49-F238E27FC236}">
                <a16:creationId xmlns:a16="http://schemas.microsoft.com/office/drawing/2014/main" id="{C66BFB65-7D8F-DE51-90B6-9023C891AE46}"/>
              </a:ext>
            </a:extLst>
          </p:cNvPr>
          <p:cNvSpPr>
            <a:spLocks noChangeArrowheads="1"/>
          </p:cNvSpPr>
          <p:nvPr/>
        </p:nvSpPr>
        <p:spPr bwMode="auto">
          <a:xfrm>
            <a:off x="545143" y="1029517"/>
            <a:ext cx="8053711" cy="3134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由于网络带宽的高速增长和光纤媒体的普遍使用，出现了许多</a:t>
            </a:r>
            <a:r>
              <a:rPr lang="zh-CN" altLang="en-US" sz="2000" b="1" dirty="0">
                <a:solidFill>
                  <a:srgbClr val="0000FF"/>
                </a:solidFill>
                <a:latin typeface="微软雅黑" pitchFamily="34" charset="-122"/>
                <a:ea typeface="微软雅黑" pitchFamily="34" charset="-122"/>
              </a:rPr>
              <a:t>高带宽时延积（</a:t>
            </a:r>
            <a:r>
              <a:rPr lang="en-US" altLang="zh-CN" sz="2000" b="1" dirty="0">
                <a:solidFill>
                  <a:srgbClr val="0000FF"/>
                </a:solidFill>
                <a:latin typeface="微软雅黑" pitchFamily="34" charset="-122"/>
                <a:ea typeface="微软雅黑" pitchFamily="34" charset="-122"/>
              </a:rPr>
              <a:t>BDP</a:t>
            </a:r>
            <a:r>
              <a:rPr lang="zh-CN" altLang="en-US" sz="2000" b="1" dirty="0">
                <a:solidFill>
                  <a:srgbClr val="0000FF"/>
                </a:solidFill>
                <a:latin typeface="微软雅黑" pitchFamily="34" charset="-122"/>
                <a:ea typeface="微软雅黑" pitchFamily="34" charset="-122"/>
              </a:rPr>
              <a:t>）</a:t>
            </a:r>
            <a:r>
              <a:rPr lang="zh-CN" altLang="en-US" sz="2000" b="1" dirty="0">
                <a:latin typeface="微软雅黑" pitchFamily="34" charset="-122"/>
                <a:ea typeface="微软雅黑" pitchFamily="34" charset="-122"/>
              </a:rPr>
              <a:t>线路。要充分利用传输线路，就必须尽可能让发送的比特填满线路管道。</a:t>
            </a:r>
            <a:endParaRPr lang="en-US" altLang="zh-CN" sz="2000"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但原有的各种</a:t>
            </a:r>
            <a:r>
              <a:rPr lang="en-US" altLang="zh-CN" sz="2000" b="1" dirty="0">
                <a:latin typeface="微软雅黑" pitchFamily="34" charset="-122"/>
                <a:ea typeface="微软雅黑" pitchFamily="34" charset="-122"/>
              </a:rPr>
              <a:t>TCP</a:t>
            </a:r>
            <a:r>
              <a:rPr lang="zh-CN" altLang="en-US" sz="2000" b="1" dirty="0">
                <a:latin typeface="微软雅黑" pitchFamily="34" charset="-122"/>
                <a:ea typeface="微软雅黑" pitchFamily="34" charset="-122"/>
              </a:rPr>
              <a:t>拥塞控制算法，一旦出现分组丢失，就降低拥塞窗口，而这种高</a:t>
            </a:r>
            <a:r>
              <a:rPr lang="en-US" altLang="zh-CN" sz="2000" b="1" dirty="0">
                <a:latin typeface="微软雅黑" pitchFamily="34" charset="-122"/>
                <a:ea typeface="微软雅黑" pitchFamily="34" charset="-122"/>
              </a:rPr>
              <a:t>BDP</a:t>
            </a:r>
            <a:r>
              <a:rPr lang="zh-CN" altLang="en-US" sz="2000" b="1" dirty="0">
                <a:latin typeface="微软雅黑" pitchFamily="34" charset="-122"/>
                <a:ea typeface="微软雅黑" pitchFamily="34" charset="-122"/>
              </a:rPr>
              <a:t>线路的往返时延</a:t>
            </a:r>
            <a:r>
              <a:rPr lang="en-US" altLang="zh-CN" sz="2000" b="1" dirty="0">
                <a:latin typeface="微软雅黑" pitchFamily="34" charset="-122"/>
                <a:ea typeface="微软雅黑" pitchFamily="34" charset="-122"/>
              </a:rPr>
              <a:t>RTT</a:t>
            </a:r>
            <a:r>
              <a:rPr lang="zh-CN" altLang="en-US" sz="2000" b="1" dirty="0">
                <a:latin typeface="微软雅黑" pitchFamily="34" charset="-122"/>
                <a:ea typeface="微软雅黑" pitchFamily="34" charset="-122"/>
              </a:rPr>
              <a:t>又相当大，因此即使经过了多个往返时延，发送窗口也很不容易调整到较高的合理数值，这就限制了发送端向网络发送数据的能力，因而</a:t>
            </a:r>
            <a:r>
              <a:rPr lang="zh-CN" altLang="en-US" sz="2000" b="1" dirty="0">
                <a:solidFill>
                  <a:srgbClr val="0000FF"/>
                </a:solidFill>
                <a:latin typeface="微软雅黑" pitchFamily="34" charset="-122"/>
                <a:ea typeface="微软雅黑" pitchFamily="34" charset="-122"/>
              </a:rPr>
              <a:t>无法充分使用高带宽网络的资源</a:t>
            </a:r>
            <a:r>
              <a:rPr lang="zh-CN" altLang="en-US" sz="2000" b="1" dirty="0">
                <a:latin typeface="微软雅黑" pitchFamily="34" charset="-122"/>
                <a:ea typeface="微软雅黑" pitchFamily="34" charset="-122"/>
              </a:rPr>
              <a:t>。</a:t>
            </a:r>
          </a:p>
        </p:txBody>
      </p:sp>
    </p:spTree>
    <p:extLst>
      <p:ext uri="{BB962C8B-B14F-4D97-AF65-F5344CB8AC3E}">
        <p14:creationId xmlns:p14="http://schemas.microsoft.com/office/powerpoint/2010/main" val="414729895"/>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8CB89-D40D-B2D4-D47D-EE87FF63D193}"/>
            </a:ext>
          </a:extLst>
        </p:cNvPr>
        <p:cNvGrpSpPr/>
        <p:nvPr/>
      </p:nvGrpSpPr>
      <p:grpSpPr>
        <a:xfrm>
          <a:off x="0" y="0"/>
          <a:ext cx="0" cy="0"/>
          <a:chOff x="0" y="0"/>
          <a:chExt cx="0" cy="0"/>
        </a:xfrm>
      </p:grpSpPr>
      <p:sp>
        <p:nvSpPr>
          <p:cNvPr id="2" name="AutoShape 5">
            <a:extLst>
              <a:ext uri="{FF2B5EF4-FFF2-40B4-BE49-F238E27FC236}">
                <a16:creationId xmlns:a16="http://schemas.microsoft.com/office/drawing/2014/main" id="{43D6945B-AEC8-9A8B-B7F3-B02EF1DF1B42}"/>
              </a:ext>
            </a:extLst>
          </p:cNvPr>
          <p:cNvSpPr>
            <a:spLocks noChangeArrowheads="1"/>
          </p:cNvSpPr>
          <p:nvPr/>
        </p:nvSpPr>
        <p:spPr bwMode="auto">
          <a:xfrm>
            <a:off x="545143" y="625919"/>
            <a:ext cx="8053711" cy="357839"/>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a:extLst>
              <a:ext uri="{FF2B5EF4-FFF2-40B4-BE49-F238E27FC236}">
                <a16:creationId xmlns:a16="http://schemas.microsoft.com/office/drawing/2014/main" id="{223BCA8D-10C4-9A89-9A85-92E9893C9756}"/>
              </a:ext>
            </a:extLst>
          </p:cNvPr>
          <p:cNvSpPr>
            <a:spLocks noChangeArrowheads="1"/>
          </p:cNvSpPr>
          <p:nvPr/>
        </p:nvSpPr>
        <p:spPr bwMode="auto">
          <a:xfrm>
            <a:off x="3776147" y="599146"/>
            <a:ext cx="159171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2. TCP BBR</a:t>
            </a:r>
          </a:p>
        </p:txBody>
      </p:sp>
      <p:sp>
        <p:nvSpPr>
          <p:cNvPr id="4" name="Rectangle 8">
            <a:extLst>
              <a:ext uri="{FF2B5EF4-FFF2-40B4-BE49-F238E27FC236}">
                <a16:creationId xmlns:a16="http://schemas.microsoft.com/office/drawing/2014/main" id="{62A21B55-444D-47DC-45F3-C2B80D7280E8}"/>
              </a:ext>
            </a:extLst>
          </p:cNvPr>
          <p:cNvSpPr>
            <a:spLocks noChangeArrowheads="1"/>
          </p:cNvSpPr>
          <p:nvPr/>
        </p:nvSpPr>
        <p:spPr bwMode="auto">
          <a:xfrm>
            <a:off x="545143" y="1029517"/>
            <a:ext cx="8053711" cy="3134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根据已有的拥塞控制算法，分组丢失必然导致拥塞窗口的下调。因此许多网络设备往往使用大型缓冲区，这是为了在突发流量时可提供较大的缓冲空间，避免产生分组丢失。然而实际上这却产生了严重的负面影响，这就是所谓的</a:t>
            </a:r>
            <a:r>
              <a:rPr lang="zh-CN" altLang="en-US" sz="2000" b="1" dirty="0">
                <a:solidFill>
                  <a:srgbClr val="0000FF"/>
                </a:solidFill>
                <a:latin typeface="微软雅黑" pitchFamily="34" charset="-122"/>
                <a:ea typeface="微软雅黑" pitchFamily="34" charset="-122"/>
              </a:rPr>
              <a:t>缓冲区膨胀</a:t>
            </a:r>
            <a:r>
              <a:rPr lang="en-US" altLang="zh-CN" sz="2000" b="1" dirty="0">
                <a:solidFill>
                  <a:srgbClr val="0000FF"/>
                </a:solidFill>
                <a:latin typeface="微软雅黑" pitchFamily="34" charset="-122"/>
                <a:ea typeface="微软雅黑" pitchFamily="34" charset="-122"/>
              </a:rPr>
              <a:t>(</a:t>
            </a:r>
            <a:r>
              <a:rPr lang="en-US" altLang="zh-CN" sz="2000" b="1" dirty="0" err="1">
                <a:solidFill>
                  <a:srgbClr val="0000FF"/>
                </a:solidFill>
                <a:latin typeface="微软雅黑" pitchFamily="34" charset="-122"/>
                <a:ea typeface="微软雅黑" pitchFamily="34" charset="-122"/>
              </a:rPr>
              <a:t>bufferfloat</a:t>
            </a:r>
            <a:r>
              <a:rPr lang="en-US" altLang="zh-CN" sz="2000" b="1" dirty="0">
                <a:solidFill>
                  <a:srgbClr val="0000FF"/>
                </a:solidFill>
                <a:latin typeface="微软雅黑" pitchFamily="34" charset="-122"/>
                <a:ea typeface="微软雅黑" pitchFamily="34" charset="-122"/>
              </a:rPr>
              <a:t>)</a:t>
            </a:r>
            <a:r>
              <a:rPr lang="zh-CN" altLang="en-US" sz="2000" b="1" dirty="0">
                <a:latin typeface="微软雅黑" pitchFamily="34" charset="-122"/>
                <a:ea typeface="微软雅黑" pitchFamily="34" charset="-122"/>
              </a:rPr>
              <a:t>。</a:t>
            </a:r>
          </a:p>
          <a:p>
            <a:pPr marL="285750" indent="-28575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过大的缓冲区导致分组长时间排队，显著增加了网络时延，降低了整体网络吞吐量。</a:t>
            </a:r>
            <a:r>
              <a:rPr lang="zh-CN" altLang="en-US" sz="2000" b="1" dirty="0">
                <a:solidFill>
                  <a:srgbClr val="0000FF"/>
                </a:solidFill>
                <a:latin typeface="微软雅黑" pitchFamily="34" charset="-122"/>
                <a:ea typeface="微软雅黑" pitchFamily="34" charset="-122"/>
              </a:rPr>
              <a:t>这使得传统拥塞控制算法在缓冲区膨胀环境下效率低下，带宽利用率不足。</a:t>
            </a:r>
            <a:r>
              <a:rPr lang="zh-CN" altLang="en-US" sz="2000" b="1" dirty="0">
                <a:latin typeface="微软雅黑" pitchFamily="34" charset="-122"/>
                <a:ea typeface="微软雅黑" pitchFamily="34" charset="-122"/>
              </a:rPr>
              <a:t>缓冲区膨胀的普遍存在，暴露了传统拥塞控制算法的缺陷，并促进了 </a:t>
            </a:r>
            <a:r>
              <a:rPr lang="en-US" altLang="zh-CN" sz="2000" b="1" dirty="0">
                <a:latin typeface="微软雅黑" pitchFamily="34" charset="-122"/>
                <a:ea typeface="微软雅黑" pitchFamily="34" charset="-122"/>
              </a:rPr>
              <a:t>BBR </a:t>
            </a:r>
            <a:r>
              <a:rPr lang="zh-CN" altLang="en-US" sz="2000" b="1" dirty="0">
                <a:latin typeface="微软雅黑" pitchFamily="34" charset="-122"/>
                <a:ea typeface="微软雅黑" pitchFamily="34" charset="-122"/>
              </a:rPr>
              <a:t>这种新型拥塞控制算法的诞生。</a:t>
            </a:r>
          </a:p>
        </p:txBody>
      </p:sp>
    </p:spTree>
    <p:extLst>
      <p:ext uri="{BB962C8B-B14F-4D97-AF65-F5344CB8AC3E}">
        <p14:creationId xmlns:p14="http://schemas.microsoft.com/office/powerpoint/2010/main" val="3169639066"/>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8B115-839D-FB1D-77B9-45059CDCC046}"/>
            </a:ext>
          </a:extLst>
        </p:cNvPr>
        <p:cNvGrpSpPr/>
        <p:nvPr/>
      </p:nvGrpSpPr>
      <p:grpSpPr>
        <a:xfrm>
          <a:off x="0" y="0"/>
          <a:ext cx="0" cy="0"/>
          <a:chOff x="0" y="0"/>
          <a:chExt cx="0" cy="0"/>
        </a:xfrm>
      </p:grpSpPr>
      <p:sp>
        <p:nvSpPr>
          <p:cNvPr id="2" name="AutoShape 5">
            <a:extLst>
              <a:ext uri="{FF2B5EF4-FFF2-40B4-BE49-F238E27FC236}">
                <a16:creationId xmlns:a16="http://schemas.microsoft.com/office/drawing/2014/main" id="{85B50273-74FD-AD29-99E7-6CF102BCD4DD}"/>
              </a:ext>
            </a:extLst>
          </p:cNvPr>
          <p:cNvSpPr>
            <a:spLocks noChangeArrowheads="1"/>
          </p:cNvSpPr>
          <p:nvPr/>
        </p:nvSpPr>
        <p:spPr bwMode="auto">
          <a:xfrm>
            <a:off x="545143" y="625919"/>
            <a:ext cx="8053711" cy="357839"/>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a:extLst>
              <a:ext uri="{FF2B5EF4-FFF2-40B4-BE49-F238E27FC236}">
                <a16:creationId xmlns:a16="http://schemas.microsoft.com/office/drawing/2014/main" id="{CB14B707-3954-D8F9-91C7-205CDEB3AD2C}"/>
              </a:ext>
            </a:extLst>
          </p:cNvPr>
          <p:cNvSpPr>
            <a:spLocks noChangeArrowheads="1"/>
          </p:cNvSpPr>
          <p:nvPr/>
        </p:nvSpPr>
        <p:spPr bwMode="auto">
          <a:xfrm>
            <a:off x="3776147" y="599146"/>
            <a:ext cx="159171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2. TCP BBR</a:t>
            </a:r>
          </a:p>
        </p:txBody>
      </p:sp>
      <p:sp>
        <p:nvSpPr>
          <p:cNvPr id="4" name="Rectangle 8">
            <a:extLst>
              <a:ext uri="{FF2B5EF4-FFF2-40B4-BE49-F238E27FC236}">
                <a16:creationId xmlns:a16="http://schemas.microsoft.com/office/drawing/2014/main" id="{B6373074-62F1-CB63-366A-61C9E654AFAA}"/>
              </a:ext>
            </a:extLst>
          </p:cNvPr>
          <p:cNvSpPr>
            <a:spLocks noChangeArrowheads="1"/>
          </p:cNvSpPr>
          <p:nvPr/>
        </p:nvSpPr>
        <p:spPr bwMode="auto">
          <a:xfrm>
            <a:off x="545143" y="1029517"/>
            <a:ext cx="8053711" cy="3519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en-US" altLang="zh-CN" sz="2000" b="1" dirty="0">
                <a:latin typeface="微软雅黑" pitchFamily="34" charset="-122"/>
                <a:ea typeface="微软雅黑" pitchFamily="34" charset="-122"/>
              </a:rPr>
              <a:t>BBR (Bottleneck Bandwidth and Round-trip time)</a:t>
            </a:r>
            <a:r>
              <a:rPr lang="zh-CN" altLang="en-US" sz="2000" b="1" dirty="0">
                <a:latin typeface="微软雅黑" pitchFamily="34" charset="-122"/>
                <a:ea typeface="微软雅黑" pitchFamily="34" charset="-122"/>
              </a:rPr>
              <a:t>是一种由谷歌公司开发的基于瓶颈带宽和往返时间的</a:t>
            </a:r>
            <a:r>
              <a:rPr lang="en-US" altLang="zh-CN" sz="2000" b="1" dirty="0">
                <a:latin typeface="微软雅黑" pitchFamily="34" charset="-122"/>
                <a:ea typeface="微软雅黑" pitchFamily="34" charset="-122"/>
              </a:rPr>
              <a:t>TCP</a:t>
            </a:r>
            <a:r>
              <a:rPr lang="zh-CN" altLang="en-US" sz="2000" b="1" dirty="0">
                <a:latin typeface="微软雅黑" pitchFamily="34" charset="-122"/>
                <a:ea typeface="微软雅黑" pitchFamily="34" charset="-122"/>
              </a:rPr>
              <a:t>拥塞控制算法。</a:t>
            </a:r>
            <a:endParaRPr lang="en-US" altLang="zh-CN" sz="2000"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en-US" altLang="zh-CN" sz="2000" b="1" dirty="0">
                <a:latin typeface="微软雅黑" pitchFamily="34" charset="-122"/>
                <a:ea typeface="微软雅黑" pitchFamily="34" charset="-122"/>
              </a:rPr>
              <a:t>BBR </a:t>
            </a:r>
            <a:r>
              <a:rPr lang="zh-CN" altLang="en-US" sz="2000" b="1" dirty="0">
                <a:latin typeface="微软雅黑" pitchFamily="34" charset="-122"/>
                <a:ea typeface="微软雅黑" pitchFamily="34" charset="-122"/>
              </a:rPr>
              <a:t>不依赖丢分组丢失和时延增大作为主要的拥塞信号，而是主动探测网络路径的</a:t>
            </a:r>
            <a:r>
              <a:rPr lang="zh-CN" altLang="en-US" sz="2000" b="1" dirty="0">
                <a:solidFill>
                  <a:srgbClr val="0000FF"/>
                </a:solidFill>
                <a:latin typeface="微软雅黑" pitchFamily="34" charset="-122"/>
                <a:ea typeface="微软雅黑" pitchFamily="34" charset="-122"/>
              </a:rPr>
              <a:t>瓶颈带宽</a:t>
            </a:r>
            <a:r>
              <a:rPr lang="zh-CN" altLang="en-US" sz="2000" b="1" dirty="0">
                <a:latin typeface="微软雅黑" pitchFamily="34" charset="-122"/>
                <a:ea typeface="微软雅黑" pitchFamily="34" charset="-122"/>
              </a:rPr>
              <a:t>和</a:t>
            </a:r>
            <a:r>
              <a:rPr lang="zh-CN" altLang="en-US" sz="2000" b="1" dirty="0">
                <a:solidFill>
                  <a:srgbClr val="0000FF"/>
                </a:solidFill>
                <a:latin typeface="微软雅黑" pitchFamily="34" charset="-122"/>
                <a:ea typeface="微软雅黑" pitchFamily="34" charset="-122"/>
              </a:rPr>
              <a:t>最小往返时间 </a:t>
            </a:r>
            <a:r>
              <a:rPr lang="en-US" altLang="zh-CN" sz="2000" b="1" dirty="0">
                <a:latin typeface="微软雅黑" pitchFamily="34" charset="-122"/>
                <a:ea typeface="微软雅黑" pitchFamily="34" charset="-122"/>
              </a:rPr>
              <a:t>(RTT)</a:t>
            </a:r>
            <a:r>
              <a:rPr lang="zh-CN" altLang="en-US" sz="2000" b="1" dirty="0">
                <a:latin typeface="微软雅黑" pitchFamily="34" charset="-122"/>
                <a:ea typeface="微软雅黑" pitchFamily="34" charset="-122"/>
              </a:rPr>
              <a:t>，通过这些测量值调整出最佳的发送速率。</a:t>
            </a:r>
            <a:endParaRPr lang="en-US" altLang="zh-CN" sz="2000"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en-US" altLang="zh-CN" sz="2000" b="1" dirty="0">
                <a:latin typeface="微软雅黑" pitchFamily="34" charset="-122"/>
                <a:ea typeface="微软雅黑" pitchFamily="34" charset="-122"/>
              </a:rPr>
              <a:t>BBR</a:t>
            </a:r>
            <a:r>
              <a:rPr lang="zh-CN" altLang="en-US" sz="2000" b="1" dirty="0">
                <a:latin typeface="微软雅黑" pitchFamily="34" charset="-122"/>
                <a:ea typeface="微软雅黑" pitchFamily="34" charset="-122"/>
              </a:rPr>
              <a:t>使用最近一个</a:t>
            </a:r>
            <a:r>
              <a:rPr lang="en-US" altLang="zh-CN" sz="2000" b="1" dirty="0">
                <a:latin typeface="微软雅黑" pitchFamily="34" charset="-122"/>
                <a:ea typeface="微软雅黑" pitchFamily="34" charset="-122"/>
              </a:rPr>
              <a:t>RTT</a:t>
            </a:r>
            <a:r>
              <a:rPr lang="zh-CN" altLang="en-US" sz="2000" b="1" dirty="0">
                <a:latin typeface="微软雅黑" pitchFamily="34" charset="-122"/>
                <a:ea typeface="微软雅黑" pitchFamily="34" charset="-122"/>
              </a:rPr>
              <a:t>周期内的最大传输速率作为瓶颈带宽的估计值。</a:t>
            </a:r>
            <a:r>
              <a:rPr lang="en-US" altLang="zh-CN" sz="2000" b="1" dirty="0">
                <a:latin typeface="微软雅黑" pitchFamily="34" charset="-122"/>
                <a:ea typeface="微软雅黑" pitchFamily="34" charset="-122"/>
              </a:rPr>
              <a:t>BBR </a:t>
            </a:r>
            <a:r>
              <a:rPr lang="zh-CN" altLang="en-US" sz="2000" b="1" dirty="0">
                <a:latin typeface="微软雅黑" pitchFamily="34" charset="-122"/>
                <a:ea typeface="微软雅黑" pitchFamily="34" charset="-122"/>
              </a:rPr>
              <a:t>虽然不能直接解决缓冲区膨胀问题，但它的设计使其在缓冲区膨胀普遍存在的网络环境中，能够实现更高的带宽利用率和更低的时延。</a:t>
            </a:r>
          </a:p>
        </p:txBody>
      </p:sp>
    </p:spTree>
    <p:extLst>
      <p:ext uri="{BB962C8B-B14F-4D97-AF65-F5344CB8AC3E}">
        <p14:creationId xmlns:p14="http://schemas.microsoft.com/office/powerpoint/2010/main" val="2442247435"/>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7413D-7F55-F3ED-3341-216B29A92856}"/>
            </a:ext>
          </a:extLst>
        </p:cNvPr>
        <p:cNvGrpSpPr/>
        <p:nvPr/>
      </p:nvGrpSpPr>
      <p:grpSpPr>
        <a:xfrm>
          <a:off x="0" y="0"/>
          <a:ext cx="0" cy="0"/>
          <a:chOff x="0" y="0"/>
          <a:chExt cx="0" cy="0"/>
        </a:xfrm>
      </p:grpSpPr>
      <p:sp>
        <p:nvSpPr>
          <p:cNvPr id="2" name="AutoShape 5">
            <a:extLst>
              <a:ext uri="{FF2B5EF4-FFF2-40B4-BE49-F238E27FC236}">
                <a16:creationId xmlns:a16="http://schemas.microsoft.com/office/drawing/2014/main" id="{91B13E64-1047-C377-5408-BEFC3B950F75}"/>
              </a:ext>
            </a:extLst>
          </p:cNvPr>
          <p:cNvSpPr>
            <a:spLocks noChangeArrowheads="1"/>
          </p:cNvSpPr>
          <p:nvPr/>
        </p:nvSpPr>
        <p:spPr bwMode="auto">
          <a:xfrm>
            <a:off x="545143" y="625919"/>
            <a:ext cx="8053711" cy="357839"/>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a:extLst>
              <a:ext uri="{FF2B5EF4-FFF2-40B4-BE49-F238E27FC236}">
                <a16:creationId xmlns:a16="http://schemas.microsoft.com/office/drawing/2014/main" id="{E2449DEA-757A-8065-48CF-A1CD5D686222}"/>
              </a:ext>
            </a:extLst>
          </p:cNvPr>
          <p:cNvSpPr>
            <a:spLocks noChangeArrowheads="1"/>
          </p:cNvSpPr>
          <p:nvPr/>
        </p:nvSpPr>
        <p:spPr bwMode="auto">
          <a:xfrm>
            <a:off x="3622868" y="599146"/>
            <a:ext cx="189827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BBR</a:t>
            </a:r>
            <a:r>
              <a:rPr lang="zh-CN" altLang="en-US" sz="2000" b="1" dirty="0">
                <a:solidFill>
                  <a:schemeClr val="bg1"/>
                </a:solidFill>
                <a:latin typeface="微软雅黑" pitchFamily="34" charset="-122"/>
                <a:ea typeface="微软雅黑" pitchFamily="34" charset="-122"/>
              </a:rPr>
              <a:t>的</a:t>
            </a:r>
            <a:r>
              <a:rPr lang="en-US" altLang="zh-CN" sz="2000" b="1" dirty="0">
                <a:solidFill>
                  <a:schemeClr val="bg1"/>
                </a:solidFill>
                <a:latin typeface="微软雅黑" pitchFamily="34" charset="-122"/>
                <a:ea typeface="微软雅黑" pitchFamily="34" charset="-122"/>
              </a:rPr>
              <a:t>4</a:t>
            </a:r>
            <a:r>
              <a:rPr lang="zh-CN" altLang="en-US" sz="2000" b="1" dirty="0">
                <a:solidFill>
                  <a:schemeClr val="bg1"/>
                </a:solidFill>
                <a:latin typeface="微软雅黑" pitchFamily="34" charset="-122"/>
                <a:ea typeface="微软雅黑" pitchFamily="34" charset="-122"/>
              </a:rPr>
              <a:t>种状态</a:t>
            </a:r>
          </a:p>
        </p:txBody>
      </p:sp>
      <p:sp>
        <p:nvSpPr>
          <p:cNvPr id="4" name="Rectangle 8">
            <a:extLst>
              <a:ext uri="{FF2B5EF4-FFF2-40B4-BE49-F238E27FC236}">
                <a16:creationId xmlns:a16="http://schemas.microsoft.com/office/drawing/2014/main" id="{BA7E593C-CE08-E264-9902-251BD9B6E14C}"/>
              </a:ext>
            </a:extLst>
          </p:cNvPr>
          <p:cNvSpPr>
            <a:spLocks noChangeArrowheads="1"/>
          </p:cNvSpPr>
          <p:nvPr/>
        </p:nvSpPr>
        <p:spPr bwMode="auto">
          <a:xfrm>
            <a:off x="545143" y="1029517"/>
            <a:ext cx="8053711" cy="3513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3000"/>
              </a:lnSpc>
              <a:buClr>
                <a:srgbClr val="0070C0"/>
              </a:buClr>
            </a:pPr>
            <a:r>
              <a:rPr lang="en-US" altLang="zh-CN" b="1" dirty="0">
                <a:solidFill>
                  <a:srgbClr val="0000FF"/>
                </a:solidFill>
                <a:latin typeface="微软雅黑" pitchFamily="34" charset="-122"/>
                <a:ea typeface="微软雅黑" pitchFamily="34" charset="-122"/>
              </a:rPr>
              <a:t>(1) </a:t>
            </a:r>
            <a:r>
              <a:rPr lang="zh-CN" altLang="en-US" b="1" dirty="0">
                <a:solidFill>
                  <a:srgbClr val="0000FF"/>
                </a:solidFill>
                <a:latin typeface="微软雅黑" pitchFamily="34" charset="-122"/>
                <a:ea typeface="微软雅黑" pitchFamily="34" charset="-122"/>
              </a:rPr>
              <a:t>启动  </a:t>
            </a:r>
            <a:r>
              <a:rPr lang="zh-CN" altLang="en-US" b="1" dirty="0">
                <a:latin typeface="微软雅黑" pitchFamily="34" charset="-122"/>
                <a:ea typeface="微软雅黑" pitchFamily="34" charset="-122"/>
              </a:rPr>
              <a:t>启动后发送速率就快速增加（乘法增加），目的是探测出瓶颈带宽。</a:t>
            </a:r>
          </a:p>
          <a:p>
            <a:pPr>
              <a:lnSpc>
                <a:spcPts val="3000"/>
              </a:lnSpc>
              <a:buClr>
                <a:srgbClr val="0070C0"/>
              </a:buClr>
            </a:pPr>
            <a:r>
              <a:rPr lang="en-US" altLang="zh-CN" b="1" dirty="0">
                <a:solidFill>
                  <a:srgbClr val="0000FF"/>
                </a:solidFill>
                <a:latin typeface="微软雅黑" pitchFamily="34" charset="-122"/>
                <a:ea typeface="微软雅黑" pitchFamily="34" charset="-122"/>
              </a:rPr>
              <a:t>(2) </a:t>
            </a:r>
            <a:r>
              <a:rPr lang="zh-CN" altLang="en-US" b="1" dirty="0">
                <a:solidFill>
                  <a:srgbClr val="0000FF"/>
                </a:solidFill>
                <a:latin typeface="微软雅黑" pitchFamily="34" charset="-122"/>
                <a:ea typeface="微软雅黑" pitchFamily="34" charset="-122"/>
              </a:rPr>
              <a:t>排空  </a:t>
            </a:r>
            <a:r>
              <a:rPr lang="zh-CN" altLang="en-US" b="1" dirty="0">
                <a:latin typeface="微软雅黑" pitchFamily="34" charset="-122"/>
                <a:ea typeface="微软雅黑" pitchFamily="34" charset="-122"/>
              </a:rPr>
              <a:t>当检测到管道已被填满，就进入过渡的排空状态。通过逐步降低发送速率，队列中排队的数据分组逐渐减少，确保探测出较准确的最小往返时延。</a:t>
            </a:r>
          </a:p>
          <a:p>
            <a:pPr>
              <a:lnSpc>
                <a:spcPts val="3000"/>
              </a:lnSpc>
              <a:buClr>
                <a:srgbClr val="0070C0"/>
              </a:buClr>
            </a:pPr>
            <a:r>
              <a:rPr lang="en-US" altLang="zh-CN" b="1" dirty="0">
                <a:solidFill>
                  <a:srgbClr val="0000FF"/>
                </a:solidFill>
                <a:latin typeface="微软雅黑" pitchFamily="34" charset="-122"/>
                <a:ea typeface="微软雅黑" pitchFamily="34" charset="-122"/>
              </a:rPr>
              <a:t>(3) </a:t>
            </a:r>
            <a:r>
              <a:rPr lang="zh-CN" altLang="en-US" b="1" dirty="0">
                <a:solidFill>
                  <a:srgbClr val="0000FF"/>
                </a:solidFill>
                <a:latin typeface="微软雅黑" pitchFamily="34" charset="-122"/>
                <a:ea typeface="微软雅黑" pitchFamily="34" charset="-122"/>
              </a:rPr>
              <a:t>探测带宽  </a:t>
            </a:r>
            <a:r>
              <a:rPr lang="zh-CN" altLang="en-US" b="1" dirty="0">
                <a:latin typeface="微软雅黑" pitchFamily="34" charset="-122"/>
                <a:ea typeface="微软雅黑" pitchFamily="34" charset="-122"/>
              </a:rPr>
              <a:t>周期性地探测瓶颈带宽，在不增加网络排队的情况下获得最大的吞吐量。发送端线性增减发送速率，以探测最大可用带宽，确保在流量负载变化时能保持最佳数据率。 </a:t>
            </a:r>
          </a:p>
          <a:p>
            <a:pPr>
              <a:lnSpc>
                <a:spcPts val="3000"/>
              </a:lnSpc>
              <a:buClr>
                <a:srgbClr val="0070C0"/>
              </a:buClr>
            </a:pPr>
            <a:r>
              <a:rPr lang="en-US" altLang="zh-CN" b="1" dirty="0">
                <a:solidFill>
                  <a:srgbClr val="0000FF"/>
                </a:solidFill>
                <a:latin typeface="微软雅黑" pitchFamily="34" charset="-122"/>
                <a:ea typeface="微软雅黑" pitchFamily="34" charset="-122"/>
              </a:rPr>
              <a:t>(4) </a:t>
            </a:r>
            <a:r>
              <a:rPr lang="zh-CN" altLang="en-US" b="1" dirty="0">
                <a:solidFill>
                  <a:srgbClr val="0000FF"/>
                </a:solidFill>
                <a:latin typeface="微软雅黑" pitchFamily="34" charset="-122"/>
                <a:ea typeface="微软雅黑" pitchFamily="34" charset="-122"/>
              </a:rPr>
              <a:t>探测往返时延  </a:t>
            </a:r>
            <a:r>
              <a:rPr lang="zh-CN" altLang="en-US" b="1" dirty="0">
                <a:latin typeface="微软雅黑" pitchFamily="34" charset="-122"/>
                <a:ea typeface="微软雅黑" pitchFamily="34" charset="-122"/>
              </a:rPr>
              <a:t>通常每隔一段时间（默认约为</a:t>
            </a:r>
            <a:r>
              <a:rPr lang="en-US" altLang="zh-CN" b="1" dirty="0">
                <a:latin typeface="微软雅黑" pitchFamily="34" charset="-122"/>
                <a:ea typeface="微软雅黑" pitchFamily="34" charset="-122"/>
              </a:rPr>
              <a:t>10</a:t>
            </a:r>
            <a:r>
              <a:rPr lang="zh-CN" altLang="en-US" b="1" dirty="0">
                <a:latin typeface="微软雅黑" pitchFamily="34" charset="-122"/>
                <a:ea typeface="微软雅黑" pitchFamily="34" charset="-122"/>
              </a:rPr>
              <a:t>秒）就进行一次排空，以便探测路径的最小往返时延。一旦完成最小往返时延的测量，就迅速恢复到探测带宽状态。</a:t>
            </a:r>
          </a:p>
        </p:txBody>
      </p:sp>
    </p:spTree>
    <p:extLst>
      <p:ext uri="{BB962C8B-B14F-4D97-AF65-F5344CB8AC3E}">
        <p14:creationId xmlns:p14="http://schemas.microsoft.com/office/powerpoint/2010/main" val="1514394744"/>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98EAE-E808-A99F-615A-2AE53428C62E}"/>
            </a:ext>
          </a:extLst>
        </p:cNvPr>
        <p:cNvGrpSpPr/>
        <p:nvPr/>
      </p:nvGrpSpPr>
      <p:grpSpPr>
        <a:xfrm>
          <a:off x="0" y="0"/>
          <a:ext cx="0" cy="0"/>
          <a:chOff x="0" y="0"/>
          <a:chExt cx="0" cy="0"/>
        </a:xfrm>
      </p:grpSpPr>
      <p:sp>
        <p:nvSpPr>
          <p:cNvPr id="2" name="AutoShape 5">
            <a:extLst>
              <a:ext uri="{FF2B5EF4-FFF2-40B4-BE49-F238E27FC236}">
                <a16:creationId xmlns:a16="http://schemas.microsoft.com/office/drawing/2014/main" id="{B35796FB-541C-C2EC-1781-6B83CE66D5F9}"/>
              </a:ext>
            </a:extLst>
          </p:cNvPr>
          <p:cNvSpPr>
            <a:spLocks noChangeArrowheads="1"/>
          </p:cNvSpPr>
          <p:nvPr/>
        </p:nvSpPr>
        <p:spPr bwMode="auto">
          <a:xfrm>
            <a:off x="545143" y="625919"/>
            <a:ext cx="8053711" cy="357839"/>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a:extLst>
              <a:ext uri="{FF2B5EF4-FFF2-40B4-BE49-F238E27FC236}">
                <a16:creationId xmlns:a16="http://schemas.microsoft.com/office/drawing/2014/main" id="{41CAA001-AA23-3A7F-317F-B6941B510297}"/>
              </a:ext>
            </a:extLst>
          </p:cNvPr>
          <p:cNvSpPr>
            <a:spLocks noChangeArrowheads="1"/>
          </p:cNvSpPr>
          <p:nvPr/>
        </p:nvSpPr>
        <p:spPr bwMode="auto">
          <a:xfrm>
            <a:off x="3507645" y="599146"/>
            <a:ext cx="21287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 BBR </a:t>
            </a:r>
            <a:r>
              <a:rPr lang="zh-CN" altLang="en-US" sz="2000" b="1" dirty="0">
                <a:solidFill>
                  <a:schemeClr val="bg1"/>
                </a:solidFill>
                <a:latin typeface="微软雅黑" pitchFamily="34" charset="-122"/>
                <a:ea typeface="微软雅黑" pitchFamily="34" charset="-122"/>
              </a:rPr>
              <a:t>的应用</a:t>
            </a:r>
            <a:endParaRPr lang="en-US" altLang="zh-CN" sz="2000" b="1" dirty="0">
              <a:solidFill>
                <a:schemeClr val="bg1"/>
              </a:solidFill>
              <a:latin typeface="微软雅黑" pitchFamily="34" charset="-122"/>
              <a:ea typeface="微软雅黑" pitchFamily="34" charset="-122"/>
            </a:endParaRPr>
          </a:p>
        </p:txBody>
      </p:sp>
      <p:sp>
        <p:nvSpPr>
          <p:cNvPr id="4" name="Rectangle 8">
            <a:extLst>
              <a:ext uri="{FF2B5EF4-FFF2-40B4-BE49-F238E27FC236}">
                <a16:creationId xmlns:a16="http://schemas.microsoft.com/office/drawing/2014/main" id="{64144A5B-4051-ABFB-F676-16F542E2EC81}"/>
              </a:ext>
            </a:extLst>
          </p:cNvPr>
          <p:cNvSpPr>
            <a:spLocks noChangeArrowheads="1"/>
          </p:cNvSpPr>
          <p:nvPr/>
        </p:nvSpPr>
        <p:spPr bwMode="auto">
          <a:xfrm>
            <a:off x="545143" y="1029517"/>
            <a:ext cx="8053711" cy="2365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目前，</a:t>
            </a:r>
            <a:r>
              <a:rPr lang="en-US" altLang="zh-CN" sz="2000" b="1" dirty="0">
                <a:latin typeface="微软雅黑" pitchFamily="34" charset="-122"/>
                <a:ea typeface="微软雅黑" pitchFamily="34" charset="-122"/>
              </a:rPr>
              <a:t>TCP BBR</a:t>
            </a:r>
            <a:r>
              <a:rPr lang="zh-CN" altLang="en-US" sz="2000" b="1" dirty="0">
                <a:latin typeface="微软雅黑" pitchFamily="34" charset="-122"/>
                <a:ea typeface="微软雅黑" pitchFamily="34" charset="-122"/>
              </a:rPr>
              <a:t>已经在多个平台上实现，包括</a:t>
            </a:r>
            <a:r>
              <a:rPr lang="en-US" altLang="zh-CN" sz="2000" b="1" dirty="0">
                <a:latin typeface="微软雅黑" pitchFamily="34" charset="-122"/>
                <a:ea typeface="微软雅黑" pitchFamily="34" charset="-122"/>
              </a:rPr>
              <a:t>Linux</a:t>
            </a:r>
            <a:r>
              <a:rPr lang="zh-CN" altLang="en-US" sz="2000" b="1" dirty="0">
                <a:latin typeface="微软雅黑" pitchFamily="34" charset="-122"/>
                <a:ea typeface="微软雅黑" pitchFamily="34" charset="-122"/>
              </a:rPr>
              <a:t>内核、谷歌云以及各种内容分发网络服务，其广泛应用尤其表现在数据中心、高带宽或高时延（如卫星通信、海底光缆）以及互联网视频流媒体等领域。</a:t>
            </a:r>
            <a:endParaRPr lang="en-US" altLang="zh-CN" sz="2000"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实践表明，</a:t>
            </a:r>
            <a:r>
              <a:rPr lang="en-US" altLang="zh-CN" sz="2000" b="1" dirty="0">
                <a:latin typeface="微软雅黑" pitchFamily="34" charset="-122"/>
                <a:ea typeface="微软雅黑" pitchFamily="34" charset="-122"/>
              </a:rPr>
              <a:t>BBR</a:t>
            </a:r>
            <a:r>
              <a:rPr lang="zh-CN" altLang="en-US" sz="2000" b="1" dirty="0">
                <a:latin typeface="微软雅黑" pitchFamily="34" charset="-122"/>
                <a:ea typeface="微软雅黑" pitchFamily="34" charset="-122"/>
              </a:rPr>
              <a:t>在高带宽或高时延网络环境中，较传统</a:t>
            </a:r>
            <a:r>
              <a:rPr lang="en-US" altLang="zh-CN" sz="2000" b="1" dirty="0">
                <a:latin typeface="微软雅黑" pitchFamily="34" charset="-122"/>
                <a:ea typeface="微软雅黑" pitchFamily="34" charset="-122"/>
              </a:rPr>
              <a:t>TCP</a:t>
            </a:r>
            <a:r>
              <a:rPr lang="zh-CN" altLang="en-US" sz="2000" b="1" dirty="0">
                <a:latin typeface="微软雅黑" pitchFamily="34" charset="-122"/>
                <a:ea typeface="微软雅黑" pitchFamily="34" charset="-122"/>
              </a:rPr>
              <a:t>拥塞控制算法具有明显的性能优势。</a:t>
            </a:r>
          </a:p>
        </p:txBody>
      </p:sp>
    </p:spTree>
    <p:extLst>
      <p:ext uri="{BB962C8B-B14F-4D97-AF65-F5344CB8AC3E}">
        <p14:creationId xmlns:p14="http://schemas.microsoft.com/office/powerpoint/2010/main" val="2369567054"/>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97973-1F00-F5AF-A36B-D5FD3BEC8ECC}"/>
            </a:ext>
          </a:extLst>
        </p:cNvPr>
        <p:cNvGrpSpPr/>
        <p:nvPr/>
      </p:nvGrpSpPr>
      <p:grpSpPr>
        <a:xfrm>
          <a:off x="0" y="0"/>
          <a:ext cx="0" cy="0"/>
          <a:chOff x="0" y="0"/>
          <a:chExt cx="0" cy="0"/>
        </a:xfrm>
      </p:grpSpPr>
      <p:sp>
        <p:nvSpPr>
          <p:cNvPr id="2" name="AutoShape 5">
            <a:extLst>
              <a:ext uri="{FF2B5EF4-FFF2-40B4-BE49-F238E27FC236}">
                <a16:creationId xmlns:a16="http://schemas.microsoft.com/office/drawing/2014/main" id="{4B46D334-C012-6B66-54AE-3418C75B8B6F}"/>
              </a:ext>
            </a:extLst>
          </p:cNvPr>
          <p:cNvSpPr>
            <a:spLocks noChangeArrowheads="1"/>
          </p:cNvSpPr>
          <p:nvPr/>
        </p:nvSpPr>
        <p:spPr bwMode="auto">
          <a:xfrm>
            <a:off x="545143" y="625919"/>
            <a:ext cx="8053711" cy="357839"/>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a:extLst>
              <a:ext uri="{FF2B5EF4-FFF2-40B4-BE49-F238E27FC236}">
                <a16:creationId xmlns:a16="http://schemas.microsoft.com/office/drawing/2014/main" id="{EFF155CE-4E11-7BF3-8D3E-942F9CD5003C}"/>
              </a:ext>
            </a:extLst>
          </p:cNvPr>
          <p:cNvSpPr>
            <a:spLocks noChangeArrowheads="1"/>
          </p:cNvSpPr>
          <p:nvPr/>
        </p:nvSpPr>
        <p:spPr bwMode="auto">
          <a:xfrm>
            <a:off x="3248567" y="599146"/>
            <a:ext cx="264687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显式拥塞通知</a:t>
            </a:r>
            <a:r>
              <a:rPr lang="en-US" altLang="zh-CN" sz="2000" b="1" dirty="0">
                <a:solidFill>
                  <a:schemeClr val="bg1"/>
                </a:solidFill>
                <a:latin typeface="微软雅黑" pitchFamily="34" charset="-122"/>
                <a:ea typeface="微软雅黑" pitchFamily="34" charset="-122"/>
              </a:rPr>
              <a:t>ECN </a:t>
            </a:r>
            <a:endParaRPr lang="zh-CN" altLang="en-US" sz="2000" b="1" dirty="0">
              <a:solidFill>
                <a:schemeClr val="bg1"/>
              </a:solidFill>
              <a:latin typeface="微软雅黑" pitchFamily="34" charset="-122"/>
              <a:ea typeface="微软雅黑" pitchFamily="34" charset="-122"/>
            </a:endParaRPr>
          </a:p>
        </p:txBody>
      </p:sp>
      <p:sp>
        <p:nvSpPr>
          <p:cNvPr id="4" name="Rectangle 8">
            <a:extLst>
              <a:ext uri="{FF2B5EF4-FFF2-40B4-BE49-F238E27FC236}">
                <a16:creationId xmlns:a16="http://schemas.microsoft.com/office/drawing/2014/main" id="{2F73EF84-8BEA-BA07-02D3-C6FDF9038649}"/>
              </a:ext>
            </a:extLst>
          </p:cNvPr>
          <p:cNvSpPr>
            <a:spLocks noChangeArrowheads="1"/>
          </p:cNvSpPr>
          <p:nvPr/>
        </p:nvSpPr>
        <p:spPr bwMode="auto">
          <a:xfrm>
            <a:off x="545143" y="1029517"/>
            <a:ext cx="8053711" cy="2365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显式拥塞通知</a:t>
            </a:r>
            <a:r>
              <a:rPr lang="en-US" altLang="zh-CN" sz="2000" b="1" dirty="0">
                <a:latin typeface="微软雅黑" pitchFamily="34" charset="-122"/>
                <a:ea typeface="微软雅黑" pitchFamily="34" charset="-122"/>
              </a:rPr>
              <a:t>ECN (Explicit Congestion Notification)</a:t>
            </a:r>
            <a:r>
              <a:rPr lang="zh-CN" altLang="en-US" sz="2000" b="1" dirty="0">
                <a:latin typeface="微软雅黑" pitchFamily="34" charset="-122"/>
                <a:ea typeface="微软雅黑" pitchFamily="34" charset="-122"/>
              </a:rPr>
              <a:t>就是通过网络层</a:t>
            </a:r>
            <a:r>
              <a:rPr lang="en-US" altLang="zh-CN" sz="2000" b="1" dirty="0">
                <a:latin typeface="微软雅黑" pitchFamily="34" charset="-122"/>
                <a:ea typeface="微软雅黑" pitchFamily="34" charset="-122"/>
              </a:rPr>
              <a:t>IP</a:t>
            </a:r>
            <a:r>
              <a:rPr lang="zh-CN" altLang="en-US" sz="2000" b="1" dirty="0">
                <a:latin typeface="微软雅黑" pitchFamily="34" charset="-122"/>
                <a:ea typeface="微软雅黑" pitchFamily="34" charset="-122"/>
              </a:rPr>
              <a:t>首部起到辅助</a:t>
            </a:r>
            <a:r>
              <a:rPr lang="en-US" altLang="zh-CN" sz="2000" b="1" dirty="0">
                <a:latin typeface="微软雅黑" pitchFamily="34" charset="-122"/>
                <a:ea typeface="微软雅黑" pitchFamily="34" charset="-122"/>
              </a:rPr>
              <a:t>TCP</a:t>
            </a:r>
            <a:r>
              <a:rPr lang="zh-CN" altLang="en-US" sz="2000" b="1" dirty="0">
                <a:latin typeface="微软雅黑" pitchFamily="34" charset="-122"/>
                <a:ea typeface="微软雅黑" pitchFamily="34" charset="-122"/>
              </a:rPr>
              <a:t>拥塞控制的作用。</a:t>
            </a:r>
            <a:endParaRPr lang="en-US" altLang="zh-CN" sz="2000"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en-US" altLang="zh-CN" sz="2000" b="1" dirty="0">
                <a:latin typeface="微软雅黑" pitchFamily="34" charset="-122"/>
                <a:ea typeface="微软雅黑" pitchFamily="34" charset="-122"/>
              </a:rPr>
              <a:t>ECN</a:t>
            </a:r>
            <a:r>
              <a:rPr lang="zh-CN" altLang="en-US" sz="2000" b="1" dirty="0">
                <a:latin typeface="微软雅黑" pitchFamily="34" charset="-122"/>
                <a:ea typeface="微软雅黑" pitchFamily="34" charset="-122"/>
              </a:rPr>
              <a:t>的设计目标是减少因拥塞导致的分组丢失，同时在不增加迟延的前提下，使发送方可以感知到网络发生了拥塞。</a:t>
            </a:r>
            <a:endParaRPr lang="en-US" altLang="zh-CN" sz="2000"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en-US" altLang="zh-CN" sz="2000" b="1" dirty="0">
                <a:latin typeface="微软雅黑" pitchFamily="34" charset="-122"/>
                <a:ea typeface="微软雅黑" pitchFamily="34" charset="-122"/>
              </a:rPr>
              <a:t>ECN</a:t>
            </a:r>
            <a:r>
              <a:rPr lang="zh-CN" altLang="en-US" sz="2000" b="1" dirty="0">
                <a:latin typeface="微软雅黑" pitchFamily="34" charset="-122"/>
                <a:ea typeface="微软雅黑" pitchFamily="34" charset="-122"/>
              </a:rPr>
              <a:t>允许网络设备在检测到可能的拥塞时，使用</a:t>
            </a:r>
            <a:r>
              <a:rPr lang="en-US" altLang="zh-CN" sz="2000" b="1" dirty="0">
                <a:latin typeface="微软雅黑" pitchFamily="34" charset="-122"/>
                <a:ea typeface="微软雅黑" pitchFamily="34" charset="-122"/>
              </a:rPr>
              <a:t>IP</a:t>
            </a:r>
            <a:r>
              <a:rPr lang="zh-CN" altLang="en-US" sz="2000" b="1" dirty="0">
                <a:latin typeface="微软雅黑" pitchFamily="34" charset="-122"/>
                <a:ea typeface="微软雅黑" pitchFamily="34" charset="-122"/>
              </a:rPr>
              <a:t>首部中的</a:t>
            </a:r>
            <a:r>
              <a:rPr lang="zh-CN" altLang="en-US" sz="2000" b="1" dirty="0">
                <a:solidFill>
                  <a:srgbClr val="0000FF"/>
                </a:solidFill>
                <a:latin typeface="微软雅黑" pitchFamily="34" charset="-122"/>
                <a:ea typeface="微软雅黑" pitchFamily="34" charset="-122"/>
              </a:rPr>
              <a:t>特定控制位</a:t>
            </a:r>
            <a:r>
              <a:rPr lang="zh-CN" altLang="en-US" sz="2000" b="1" dirty="0">
                <a:latin typeface="微软雅黑" pitchFamily="34" charset="-122"/>
                <a:ea typeface="微软雅黑" pitchFamily="34" charset="-122"/>
              </a:rPr>
              <a:t>来通知接收方，从而避免实际的分组丢失。</a:t>
            </a:r>
          </a:p>
        </p:txBody>
      </p:sp>
    </p:spTree>
    <p:extLst>
      <p:ext uri="{BB962C8B-B14F-4D97-AF65-F5344CB8AC3E}">
        <p14:creationId xmlns:p14="http://schemas.microsoft.com/office/powerpoint/2010/main" val="1661543271"/>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8DC47-7940-EA72-3AB2-EDB590301385}"/>
            </a:ext>
          </a:extLst>
        </p:cNvPr>
        <p:cNvGrpSpPr/>
        <p:nvPr/>
      </p:nvGrpSpPr>
      <p:grpSpPr>
        <a:xfrm>
          <a:off x="0" y="0"/>
          <a:ext cx="0" cy="0"/>
          <a:chOff x="0" y="0"/>
          <a:chExt cx="0" cy="0"/>
        </a:xfrm>
      </p:grpSpPr>
      <p:sp>
        <p:nvSpPr>
          <p:cNvPr id="39" name="圆角矩形 37">
            <a:extLst>
              <a:ext uri="{FF2B5EF4-FFF2-40B4-BE49-F238E27FC236}">
                <a16:creationId xmlns:a16="http://schemas.microsoft.com/office/drawing/2014/main" id="{C549A812-D183-B724-F01F-0858B8F7DAB9}"/>
              </a:ext>
            </a:extLst>
          </p:cNvPr>
          <p:cNvSpPr/>
          <p:nvPr/>
        </p:nvSpPr>
        <p:spPr>
          <a:xfrm>
            <a:off x="1091322" y="2915266"/>
            <a:ext cx="6961355" cy="162908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AutoShape 5">
            <a:extLst>
              <a:ext uri="{FF2B5EF4-FFF2-40B4-BE49-F238E27FC236}">
                <a16:creationId xmlns:a16="http://schemas.microsoft.com/office/drawing/2014/main" id="{16E34E04-4113-DC23-F07B-F317724D6B71}"/>
              </a:ext>
            </a:extLst>
          </p:cNvPr>
          <p:cNvSpPr>
            <a:spLocks noChangeArrowheads="1"/>
          </p:cNvSpPr>
          <p:nvPr/>
        </p:nvSpPr>
        <p:spPr bwMode="auto">
          <a:xfrm>
            <a:off x="545143" y="625919"/>
            <a:ext cx="8053711" cy="357839"/>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a:extLst>
              <a:ext uri="{FF2B5EF4-FFF2-40B4-BE49-F238E27FC236}">
                <a16:creationId xmlns:a16="http://schemas.microsoft.com/office/drawing/2014/main" id="{1D1CE488-0B54-54C8-2FF9-00251C5AE722}"/>
              </a:ext>
            </a:extLst>
          </p:cNvPr>
          <p:cNvSpPr>
            <a:spLocks noChangeArrowheads="1"/>
          </p:cNvSpPr>
          <p:nvPr/>
        </p:nvSpPr>
        <p:spPr bwMode="auto">
          <a:xfrm>
            <a:off x="3248567" y="599146"/>
            <a:ext cx="264687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显式拥塞通知</a:t>
            </a:r>
            <a:r>
              <a:rPr lang="en-US" altLang="zh-CN" sz="2000" b="1" dirty="0">
                <a:solidFill>
                  <a:schemeClr val="bg1"/>
                </a:solidFill>
                <a:latin typeface="微软雅黑" pitchFamily="34" charset="-122"/>
                <a:ea typeface="微软雅黑" pitchFamily="34" charset="-122"/>
              </a:rPr>
              <a:t>ECN </a:t>
            </a:r>
            <a:endParaRPr lang="zh-CN" altLang="en-US" sz="2000" b="1" dirty="0">
              <a:solidFill>
                <a:schemeClr val="bg1"/>
              </a:solidFill>
              <a:latin typeface="微软雅黑" pitchFamily="34" charset="-122"/>
              <a:ea typeface="微软雅黑" pitchFamily="34" charset="-122"/>
            </a:endParaRPr>
          </a:p>
        </p:txBody>
      </p:sp>
      <p:sp>
        <p:nvSpPr>
          <p:cNvPr id="4" name="Rectangle 8">
            <a:extLst>
              <a:ext uri="{FF2B5EF4-FFF2-40B4-BE49-F238E27FC236}">
                <a16:creationId xmlns:a16="http://schemas.microsoft.com/office/drawing/2014/main" id="{D32B96EE-0E05-F09F-2E58-9DEEBDA19018}"/>
              </a:ext>
            </a:extLst>
          </p:cNvPr>
          <p:cNvSpPr>
            <a:spLocks noChangeArrowheads="1"/>
          </p:cNvSpPr>
          <p:nvPr/>
        </p:nvSpPr>
        <p:spPr bwMode="auto">
          <a:xfrm>
            <a:off x="545143" y="1029517"/>
            <a:ext cx="8053711" cy="1589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显式拥塞通知</a:t>
            </a:r>
            <a:r>
              <a:rPr lang="en-US" altLang="zh-CN" b="1" dirty="0">
                <a:latin typeface="微软雅黑" pitchFamily="34" charset="-122"/>
                <a:ea typeface="微软雅黑" pitchFamily="34" charset="-122"/>
              </a:rPr>
              <a:t>ECN</a:t>
            </a:r>
            <a:r>
              <a:rPr lang="zh-CN" altLang="en-US" b="1" dirty="0">
                <a:latin typeface="微软雅黑" pitchFamily="34" charset="-122"/>
                <a:ea typeface="微软雅黑" pitchFamily="34" charset="-122"/>
              </a:rPr>
              <a:t>包含两个码点，即</a:t>
            </a:r>
            <a:r>
              <a:rPr lang="zh-CN" altLang="en-US" b="1" dirty="0">
                <a:solidFill>
                  <a:srgbClr val="0000FF"/>
                </a:solidFill>
                <a:latin typeface="微软雅黑" pitchFamily="34" charset="-122"/>
                <a:ea typeface="微软雅黑" pitchFamily="34" charset="-122"/>
              </a:rPr>
              <a:t>支持</a:t>
            </a:r>
            <a:r>
              <a:rPr lang="en-US" altLang="zh-CN" b="1" dirty="0">
                <a:solidFill>
                  <a:srgbClr val="0000FF"/>
                </a:solidFill>
                <a:latin typeface="微软雅黑" pitchFamily="34" charset="-122"/>
                <a:ea typeface="微软雅黑" pitchFamily="34" charset="-122"/>
              </a:rPr>
              <a:t>ECN</a:t>
            </a:r>
            <a:r>
              <a:rPr lang="zh-CN" altLang="en-US" b="1" dirty="0">
                <a:solidFill>
                  <a:srgbClr val="0000FF"/>
                </a:solidFill>
                <a:latin typeface="微软雅黑" pitchFamily="34" charset="-122"/>
                <a:ea typeface="微软雅黑" pitchFamily="34" charset="-122"/>
              </a:rPr>
              <a:t>的传输</a:t>
            </a:r>
            <a:r>
              <a:rPr lang="en-US" altLang="zh-CN" b="1" dirty="0">
                <a:solidFill>
                  <a:srgbClr val="0000FF"/>
                </a:solidFill>
                <a:latin typeface="微软雅黑" pitchFamily="34" charset="-122"/>
                <a:ea typeface="微软雅黑" pitchFamily="34" charset="-122"/>
              </a:rPr>
              <a:t>ECT </a:t>
            </a:r>
            <a:r>
              <a:rPr lang="en-US" altLang="zh-CN" b="1" dirty="0">
                <a:latin typeface="微软雅黑" pitchFamily="34" charset="-122"/>
                <a:ea typeface="微软雅黑" pitchFamily="34" charset="-122"/>
              </a:rPr>
              <a:t>(ECN-Capable Transport)</a:t>
            </a:r>
            <a:r>
              <a:rPr lang="zh-CN" altLang="en-US" b="1" dirty="0">
                <a:latin typeface="微软雅黑" pitchFamily="34" charset="-122"/>
                <a:ea typeface="微软雅黑" pitchFamily="34" charset="-122"/>
              </a:rPr>
              <a:t>和</a:t>
            </a:r>
            <a:r>
              <a:rPr lang="zh-CN" altLang="en-US" b="1" dirty="0">
                <a:solidFill>
                  <a:srgbClr val="0000FF"/>
                </a:solidFill>
                <a:latin typeface="微软雅黑" pitchFamily="34" charset="-122"/>
                <a:ea typeface="微软雅黑" pitchFamily="34" charset="-122"/>
              </a:rPr>
              <a:t>已经历拥塞</a:t>
            </a:r>
            <a:r>
              <a:rPr lang="en-US" altLang="zh-CN" b="1" dirty="0">
                <a:solidFill>
                  <a:srgbClr val="0000FF"/>
                </a:solidFill>
                <a:latin typeface="微软雅黑" pitchFamily="34" charset="-122"/>
                <a:ea typeface="微软雅黑" pitchFamily="34" charset="-122"/>
              </a:rPr>
              <a:t>CE </a:t>
            </a:r>
            <a:r>
              <a:rPr lang="en-US" altLang="zh-CN" b="1" dirty="0">
                <a:latin typeface="微软雅黑" pitchFamily="34" charset="-122"/>
                <a:ea typeface="微软雅黑" pitchFamily="34" charset="-122"/>
              </a:rPr>
              <a:t>(Congestion Experienced)</a:t>
            </a:r>
            <a:r>
              <a:rPr lang="zh-CN" altLang="en-US" b="1" dirty="0">
                <a:latin typeface="微软雅黑" pitchFamily="34" charset="-122"/>
                <a:ea typeface="微软雅黑" pitchFamily="34" charset="-122"/>
              </a:rPr>
              <a:t>。</a:t>
            </a:r>
            <a:endParaRPr lang="en-US" altLang="zh-CN"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显式拥塞通知</a:t>
            </a:r>
            <a:r>
              <a:rPr lang="en-US" altLang="zh-CN" b="1" dirty="0">
                <a:solidFill>
                  <a:srgbClr val="0000FF"/>
                </a:solidFill>
                <a:latin typeface="微软雅黑" pitchFamily="34" charset="-122"/>
                <a:ea typeface="微软雅黑" pitchFamily="34" charset="-122"/>
              </a:rPr>
              <a:t>ECN</a:t>
            </a:r>
            <a:r>
              <a:rPr lang="zh-CN" altLang="en-US" b="1" dirty="0">
                <a:solidFill>
                  <a:srgbClr val="0000FF"/>
                </a:solidFill>
                <a:latin typeface="微软雅黑" pitchFamily="34" charset="-122"/>
                <a:ea typeface="微软雅黑" pitchFamily="34" charset="-122"/>
              </a:rPr>
              <a:t>是个选项</a:t>
            </a:r>
            <a:r>
              <a:rPr lang="zh-CN" altLang="en-US" b="1" dirty="0">
                <a:latin typeface="微软雅黑" pitchFamily="34" charset="-122"/>
                <a:ea typeface="微软雅黑" pitchFamily="34" charset="-122"/>
              </a:rPr>
              <a:t>，而不是强制执行的。当通信的任何一方不支持</a:t>
            </a:r>
            <a:r>
              <a:rPr lang="en-US" altLang="zh-CN" b="1" dirty="0">
                <a:latin typeface="微软雅黑" pitchFamily="34" charset="-122"/>
                <a:ea typeface="微软雅黑" pitchFamily="34" charset="-122"/>
              </a:rPr>
              <a:t>ECN</a:t>
            </a:r>
            <a:r>
              <a:rPr lang="zh-CN" altLang="en-US" b="1" dirty="0">
                <a:latin typeface="微软雅黑" pitchFamily="34" charset="-122"/>
                <a:ea typeface="微软雅黑" pitchFamily="34" charset="-122"/>
              </a:rPr>
              <a:t>功能时，就应把这两个码点</a:t>
            </a:r>
            <a:r>
              <a:rPr lang="en-US" altLang="zh-CN" b="1" dirty="0">
                <a:latin typeface="微软雅黑" pitchFamily="34" charset="-122"/>
                <a:ea typeface="微软雅黑" pitchFamily="34" charset="-122"/>
              </a:rPr>
              <a:t>ECT </a:t>
            </a:r>
            <a:r>
              <a:rPr lang="zh-CN" altLang="en-US" b="1" dirty="0">
                <a:latin typeface="微软雅黑" pitchFamily="34" charset="-122"/>
                <a:ea typeface="微软雅黑" pitchFamily="34" charset="-122"/>
              </a:rPr>
              <a:t>和</a:t>
            </a:r>
            <a:r>
              <a:rPr lang="en-US" altLang="zh-CN" b="1" dirty="0">
                <a:latin typeface="微软雅黑" pitchFamily="34" charset="-122"/>
                <a:ea typeface="微软雅黑" pitchFamily="34" charset="-122"/>
              </a:rPr>
              <a:t>CE</a:t>
            </a:r>
            <a:r>
              <a:rPr lang="zh-CN" altLang="en-US" b="1" dirty="0">
                <a:latin typeface="微软雅黑" pitchFamily="34" charset="-122"/>
                <a:ea typeface="微软雅黑" pitchFamily="34" charset="-122"/>
              </a:rPr>
              <a:t>都置为</a:t>
            </a:r>
            <a:r>
              <a:rPr lang="en-US" altLang="zh-CN" b="1" dirty="0">
                <a:latin typeface="微软雅黑" pitchFamily="34" charset="-122"/>
                <a:ea typeface="微软雅黑" pitchFamily="34" charset="-122"/>
              </a:rPr>
              <a:t>0</a:t>
            </a:r>
            <a:r>
              <a:rPr lang="zh-CN" altLang="en-US" b="1" dirty="0">
                <a:latin typeface="微软雅黑" pitchFamily="34" charset="-122"/>
                <a:ea typeface="微软雅黑" pitchFamily="34" charset="-122"/>
              </a:rPr>
              <a:t>。</a:t>
            </a:r>
          </a:p>
        </p:txBody>
      </p:sp>
      <p:sp>
        <p:nvSpPr>
          <p:cNvPr id="6" name="Rectangle 4">
            <a:extLst>
              <a:ext uri="{FF2B5EF4-FFF2-40B4-BE49-F238E27FC236}">
                <a16:creationId xmlns:a16="http://schemas.microsoft.com/office/drawing/2014/main" id="{F2AB675F-4A89-C425-0719-83FD07C86ABA}"/>
              </a:ext>
            </a:extLst>
          </p:cNvPr>
          <p:cNvSpPr>
            <a:spLocks noChangeArrowheads="1"/>
          </p:cNvSpPr>
          <p:nvPr/>
        </p:nvSpPr>
        <p:spPr bwMode="auto">
          <a:xfrm>
            <a:off x="1695104" y="3589271"/>
            <a:ext cx="1805463" cy="453390"/>
          </a:xfrm>
          <a:prstGeom prst="rect">
            <a:avLst/>
          </a:prstGeom>
          <a:solidFill>
            <a:schemeClr val="bg1"/>
          </a:solidFill>
          <a:ln w="9525">
            <a:solidFill>
              <a:schemeClr val="tx1"/>
            </a:solidFill>
            <a:miter lim="800000"/>
            <a:headEnd/>
            <a:tailEnd/>
          </a:ln>
          <a:effectLst/>
        </p:spPr>
        <p:txBody>
          <a:bodyPr wrap="none" anchor="ct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endParaRPr lang="zh-CN" altLang="en-US" sz="1800" b="1">
              <a:ea typeface="微软雅黑" panose="020B0503020204020204" pitchFamily="34" charset="-122"/>
            </a:endParaRPr>
          </a:p>
        </p:txBody>
      </p:sp>
      <p:sp>
        <p:nvSpPr>
          <p:cNvPr id="7" name="矩形 6">
            <a:extLst>
              <a:ext uri="{FF2B5EF4-FFF2-40B4-BE49-F238E27FC236}">
                <a16:creationId xmlns:a16="http://schemas.microsoft.com/office/drawing/2014/main" id="{F6AA25F2-E343-EA5C-A9FE-18A2D99965DB}"/>
              </a:ext>
            </a:extLst>
          </p:cNvPr>
          <p:cNvSpPr>
            <a:spLocks noChangeArrowheads="1"/>
          </p:cNvSpPr>
          <p:nvPr/>
        </p:nvSpPr>
        <p:spPr bwMode="auto">
          <a:xfrm>
            <a:off x="3049875" y="3589493"/>
            <a:ext cx="445293" cy="453390"/>
          </a:xfrm>
          <a:prstGeom prst="rect">
            <a:avLst/>
          </a:prstGeom>
          <a:solidFill>
            <a:srgbClr val="FFFF00"/>
          </a:solidFill>
          <a:ln w="28575" algn="ctr">
            <a:solidFill>
              <a:srgbClr val="FF0000"/>
            </a:solidFill>
            <a:round/>
            <a:headEnd/>
            <a:tailEnd/>
          </a:ln>
        </p:spPr>
        <p:txBody>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endParaRPr lang="zh-CN" altLang="en-US" sz="1800" b="1">
              <a:ea typeface="微软雅黑" panose="020B0503020204020204" pitchFamily="34" charset="-122"/>
            </a:endParaRPr>
          </a:p>
        </p:txBody>
      </p:sp>
      <p:sp>
        <p:nvSpPr>
          <p:cNvPr id="8" name="Line 20">
            <a:extLst>
              <a:ext uri="{FF2B5EF4-FFF2-40B4-BE49-F238E27FC236}">
                <a16:creationId xmlns:a16="http://schemas.microsoft.com/office/drawing/2014/main" id="{D18B0FC4-1099-FFB0-A9CC-E47B80B3BFE1}"/>
              </a:ext>
            </a:extLst>
          </p:cNvPr>
          <p:cNvSpPr>
            <a:spLocks noChangeShapeType="1"/>
          </p:cNvSpPr>
          <p:nvPr/>
        </p:nvSpPr>
        <p:spPr bwMode="auto">
          <a:xfrm flipV="1">
            <a:off x="1707248" y="4161405"/>
            <a:ext cx="1781174" cy="17542"/>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9" name="Line 5">
            <a:extLst>
              <a:ext uri="{FF2B5EF4-FFF2-40B4-BE49-F238E27FC236}">
                <a16:creationId xmlns:a16="http://schemas.microsoft.com/office/drawing/2014/main" id="{420B54EB-B0F3-BD87-3EDA-D00E930AF7D6}"/>
              </a:ext>
            </a:extLst>
          </p:cNvPr>
          <p:cNvSpPr>
            <a:spLocks noChangeShapeType="1"/>
          </p:cNvSpPr>
          <p:nvPr/>
        </p:nvSpPr>
        <p:spPr bwMode="auto">
          <a:xfrm>
            <a:off x="1920449"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0" name="Line 6">
            <a:extLst>
              <a:ext uri="{FF2B5EF4-FFF2-40B4-BE49-F238E27FC236}">
                <a16:creationId xmlns:a16="http://schemas.microsoft.com/office/drawing/2014/main" id="{9FB676CF-B9F5-6B18-0032-C71E2C184508}"/>
              </a:ext>
            </a:extLst>
          </p:cNvPr>
          <p:cNvSpPr>
            <a:spLocks noChangeShapeType="1"/>
          </p:cNvSpPr>
          <p:nvPr/>
        </p:nvSpPr>
        <p:spPr bwMode="auto">
          <a:xfrm>
            <a:off x="2147143"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1" name="Line 7">
            <a:extLst>
              <a:ext uri="{FF2B5EF4-FFF2-40B4-BE49-F238E27FC236}">
                <a16:creationId xmlns:a16="http://schemas.microsoft.com/office/drawing/2014/main" id="{FE53C8F1-7405-1219-EDB7-E1E75A6AC345}"/>
              </a:ext>
            </a:extLst>
          </p:cNvPr>
          <p:cNvSpPr>
            <a:spLocks noChangeShapeType="1"/>
          </p:cNvSpPr>
          <p:nvPr/>
        </p:nvSpPr>
        <p:spPr bwMode="auto">
          <a:xfrm>
            <a:off x="2372489"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2" name="Line 8">
            <a:extLst>
              <a:ext uri="{FF2B5EF4-FFF2-40B4-BE49-F238E27FC236}">
                <a16:creationId xmlns:a16="http://schemas.microsoft.com/office/drawing/2014/main" id="{2170F45C-54C2-8970-E419-E692700769BC}"/>
              </a:ext>
            </a:extLst>
          </p:cNvPr>
          <p:cNvSpPr>
            <a:spLocks noChangeShapeType="1"/>
          </p:cNvSpPr>
          <p:nvPr/>
        </p:nvSpPr>
        <p:spPr bwMode="auto">
          <a:xfrm>
            <a:off x="2597834"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3" name="Line 9">
            <a:extLst>
              <a:ext uri="{FF2B5EF4-FFF2-40B4-BE49-F238E27FC236}">
                <a16:creationId xmlns:a16="http://schemas.microsoft.com/office/drawing/2014/main" id="{538FFC97-651F-6603-26C7-D68AEA8FC54A}"/>
              </a:ext>
            </a:extLst>
          </p:cNvPr>
          <p:cNvSpPr>
            <a:spLocks noChangeShapeType="1"/>
          </p:cNvSpPr>
          <p:nvPr/>
        </p:nvSpPr>
        <p:spPr bwMode="auto">
          <a:xfrm>
            <a:off x="2823180"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4" name="Line 10">
            <a:extLst>
              <a:ext uri="{FF2B5EF4-FFF2-40B4-BE49-F238E27FC236}">
                <a16:creationId xmlns:a16="http://schemas.microsoft.com/office/drawing/2014/main" id="{0CD3E8C6-08BF-DB2E-2BC8-F18FAC43AED4}"/>
              </a:ext>
            </a:extLst>
          </p:cNvPr>
          <p:cNvSpPr>
            <a:spLocks noChangeShapeType="1"/>
          </p:cNvSpPr>
          <p:nvPr/>
        </p:nvSpPr>
        <p:spPr bwMode="auto">
          <a:xfrm>
            <a:off x="3049875"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5" name="Line 11">
            <a:extLst>
              <a:ext uri="{FF2B5EF4-FFF2-40B4-BE49-F238E27FC236}">
                <a16:creationId xmlns:a16="http://schemas.microsoft.com/office/drawing/2014/main" id="{2F5193CC-82D0-DF01-529E-C726B462C39E}"/>
              </a:ext>
            </a:extLst>
          </p:cNvPr>
          <p:cNvSpPr>
            <a:spLocks noChangeShapeType="1"/>
          </p:cNvSpPr>
          <p:nvPr/>
        </p:nvSpPr>
        <p:spPr bwMode="auto">
          <a:xfrm>
            <a:off x="3275220"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6" name="Text Box 3">
            <a:extLst>
              <a:ext uri="{FF2B5EF4-FFF2-40B4-BE49-F238E27FC236}">
                <a16:creationId xmlns:a16="http://schemas.microsoft.com/office/drawing/2014/main" id="{392A246F-EE88-CCED-F5DB-B1BB7190BA7B}"/>
              </a:ext>
            </a:extLst>
          </p:cNvPr>
          <p:cNvSpPr txBox="1">
            <a:spLocks noChangeArrowheads="1"/>
          </p:cNvSpPr>
          <p:nvPr/>
        </p:nvSpPr>
        <p:spPr bwMode="auto">
          <a:xfrm>
            <a:off x="3027176" y="3602733"/>
            <a:ext cx="288766" cy="478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lnSpc>
                <a:spcPts val="1000"/>
              </a:lnSpc>
              <a:spcBef>
                <a:spcPct val="0"/>
              </a:spcBef>
              <a:buFontTx/>
              <a:buNone/>
            </a:pPr>
            <a:r>
              <a:rPr lang="en-US" altLang="zh-CN" sz="1100" b="1" dirty="0">
                <a:ea typeface="微软雅黑" panose="020B0503020204020204" pitchFamily="34" charset="-122"/>
              </a:rPr>
              <a:t>E</a:t>
            </a:r>
          </a:p>
          <a:p>
            <a:pPr algn="ctr" eaLnBrk="1" hangingPunct="1">
              <a:lnSpc>
                <a:spcPts val="1000"/>
              </a:lnSpc>
              <a:spcBef>
                <a:spcPct val="0"/>
              </a:spcBef>
              <a:buFontTx/>
              <a:buNone/>
            </a:pPr>
            <a:r>
              <a:rPr lang="en-US" altLang="zh-CN" sz="1100" b="1" dirty="0">
                <a:ea typeface="微软雅黑" panose="020B0503020204020204" pitchFamily="34" charset="-122"/>
              </a:rPr>
              <a:t>C</a:t>
            </a:r>
          </a:p>
          <a:p>
            <a:pPr algn="ctr" eaLnBrk="1" hangingPunct="1">
              <a:lnSpc>
                <a:spcPts val="1000"/>
              </a:lnSpc>
              <a:spcBef>
                <a:spcPct val="0"/>
              </a:spcBef>
              <a:buFontTx/>
              <a:buNone/>
            </a:pPr>
            <a:r>
              <a:rPr lang="en-US" altLang="zh-CN" sz="1100" b="1" dirty="0">
                <a:ea typeface="微软雅黑" panose="020B0503020204020204" pitchFamily="34" charset="-122"/>
              </a:rPr>
              <a:t>T</a:t>
            </a:r>
          </a:p>
        </p:txBody>
      </p:sp>
      <p:sp>
        <p:nvSpPr>
          <p:cNvPr id="17" name="Text Box 2">
            <a:extLst>
              <a:ext uri="{FF2B5EF4-FFF2-40B4-BE49-F238E27FC236}">
                <a16:creationId xmlns:a16="http://schemas.microsoft.com/office/drawing/2014/main" id="{E9DC64BB-1BA3-B23D-225C-D5B0E95E3646}"/>
              </a:ext>
            </a:extLst>
          </p:cNvPr>
          <p:cNvSpPr txBox="1">
            <a:spLocks noChangeArrowheads="1"/>
          </p:cNvSpPr>
          <p:nvPr/>
        </p:nvSpPr>
        <p:spPr bwMode="auto">
          <a:xfrm>
            <a:off x="1824643" y="3674282"/>
            <a:ext cx="1038618" cy="27699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      DSCP      </a:t>
            </a:r>
          </a:p>
        </p:txBody>
      </p:sp>
      <p:sp>
        <p:nvSpPr>
          <p:cNvPr id="18" name="Text Box 19">
            <a:extLst>
              <a:ext uri="{FF2B5EF4-FFF2-40B4-BE49-F238E27FC236}">
                <a16:creationId xmlns:a16="http://schemas.microsoft.com/office/drawing/2014/main" id="{C47735D2-3B93-1607-C0D6-6F60DFD7294B}"/>
              </a:ext>
            </a:extLst>
          </p:cNvPr>
          <p:cNvSpPr txBox="1">
            <a:spLocks noChangeArrowheads="1"/>
          </p:cNvSpPr>
          <p:nvPr/>
        </p:nvSpPr>
        <p:spPr bwMode="auto">
          <a:xfrm>
            <a:off x="1411735" y="3353131"/>
            <a:ext cx="2423475"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位  </a:t>
            </a:r>
            <a:r>
              <a:rPr lang="en-US" altLang="zh-CN" sz="1200" b="1">
                <a:ea typeface="微软雅黑" panose="020B0503020204020204" pitchFamily="34" charset="-122"/>
              </a:rPr>
              <a:t>0                        5    6   7</a:t>
            </a:r>
          </a:p>
        </p:txBody>
      </p:sp>
      <p:sp>
        <p:nvSpPr>
          <p:cNvPr id="19" name="Text Box 3">
            <a:extLst>
              <a:ext uri="{FF2B5EF4-FFF2-40B4-BE49-F238E27FC236}">
                <a16:creationId xmlns:a16="http://schemas.microsoft.com/office/drawing/2014/main" id="{118EBF17-8FE5-8B89-ADE6-B050550D6E4A}"/>
              </a:ext>
            </a:extLst>
          </p:cNvPr>
          <p:cNvSpPr txBox="1">
            <a:spLocks noChangeArrowheads="1"/>
          </p:cNvSpPr>
          <p:nvPr/>
        </p:nvSpPr>
        <p:spPr bwMode="auto">
          <a:xfrm>
            <a:off x="3244185" y="3633800"/>
            <a:ext cx="284719" cy="439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lnSpc>
                <a:spcPts val="1400"/>
              </a:lnSpc>
              <a:spcBef>
                <a:spcPct val="0"/>
              </a:spcBef>
              <a:buFontTx/>
              <a:buNone/>
            </a:pPr>
            <a:r>
              <a:rPr lang="en-US" altLang="zh-CN" sz="1100" b="1" dirty="0">
                <a:ea typeface="微软雅黑" panose="020B0503020204020204" pitchFamily="34" charset="-122"/>
              </a:rPr>
              <a:t>C</a:t>
            </a:r>
          </a:p>
          <a:p>
            <a:pPr algn="ctr" eaLnBrk="1" hangingPunct="1">
              <a:lnSpc>
                <a:spcPts val="1400"/>
              </a:lnSpc>
              <a:spcBef>
                <a:spcPct val="0"/>
              </a:spcBef>
              <a:buFontTx/>
              <a:buNone/>
            </a:pPr>
            <a:r>
              <a:rPr lang="en-US" altLang="zh-CN" sz="1100" b="1" dirty="0">
                <a:ea typeface="微软雅黑" panose="020B0503020204020204" pitchFamily="34" charset="-122"/>
              </a:rPr>
              <a:t>E</a:t>
            </a:r>
            <a:endParaRPr lang="en-US" altLang="zh-CN" sz="1200" b="1" dirty="0">
              <a:ea typeface="微软雅黑" panose="020B0503020204020204" pitchFamily="34" charset="-122"/>
            </a:endParaRPr>
          </a:p>
        </p:txBody>
      </p:sp>
      <p:sp>
        <p:nvSpPr>
          <p:cNvPr id="20" name="Text Box 21">
            <a:extLst>
              <a:ext uri="{FF2B5EF4-FFF2-40B4-BE49-F238E27FC236}">
                <a16:creationId xmlns:a16="http://schemas.microsoft.com/office/drawing/2014/main" id="{6F7918C0-C018-12D9-0D4A-73A64352EA6E}"/>
              </a:ext>
            </a:extLst>
          </p:cNvPr>
          <p:cNvSpPr txBox="1">
            <a:spLocks noChangeArrowheads="1"/>
          </p:cNvSpPr>
          <p:nvPr/>
        </p:nvSpPr>
        <p:spPr bwMode="auto">
          <a:xfrm>
            <a:off x="3458108" y="3283792"/>
            <a:ext cx="97559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dirty="0">
                <a:ea typeface="微软雅黑" panose="020B0503020204020204" pitchFamily="34" charset="-122"/>
              </a:rPr>
              <a:t>ECN </a:t>
            </a:r>
            <a:r>
              <a:rPr lang="zh-CN" altLang="en-US" sz="1200" b="1" dirty="0">
                <a:ea typeface="微软雅黑" panose="020B0503020204020204" pitchFamily="34" charset="-122"/>
              </a:rPr>
              <a:t>字段</a:t>
            </a:r>
            <a:endParaRPr lang="en-US" altLang="zh-CN" sz="1200" b="1" dirty="0">
              <a:ea typeface="微软雅黑" panose="020B0503020204020204" pitchFamily="34" charset="-122"/>
            </a:endParaRPr>
          </a:p>
        </p:txBody>
      </p:sp>
      <p:grpSp>
        <p:nvGrpSpPr>
          <p:cNvPr id="21" name="组合 20">
            <a:extLst>
              <a:ext uri="{FF2B5EF4-FFF2-40B4-BE49-F238E27FC236}">
                <a16:creationId xmlns:a16="http://schemas.microsoft.com/office/drawing/2014/main" id="{24845CCB-5D62-B39A-25B0-DAEE4CB816E0}"/>
              </a:ext>
            </a:extLst>
          </p:cNvPr>
          <p:cNvGrpSpPr>
            <a:grpSpLocks/>
          </p:cNvGrpSpPr>
          <p:nvPr/>
        </p:nvGrpSpPr>
        <p:grpSpPr bwMode="auto">
          <a:xfrm>
            <a:off x="1698402" y="4069648"/>
            <a:ext cx="1810860" cy="218599"/>
            <a:chOff x="1301750" y="1709738"/>
            <a:chExt cx="2130425" cy="339725"/>
          </a:xfrm>
        </p:grpSpPr>
        <p:sp>
          <p:nvSpPr>
            <p:cNvPr id="37" name="Line 10">
              <a:extLst>
                <a:ext uri="{FF2B5EF4-FFF2-40B4-BE49-F238E27FC236}">
                  <a16:creationId xmlns:a16="http://schemas.microsoft.com/office/drawing/2014/main" id="{8BB67B17-8587-819E-8683-10E4EF5B6FE2}"/>
                </a:ext>
              </a:extLst>
            </p:cNvPr>
            <p:cNvSpPr>
              <a:spLocks noChangeShapeType="1"/>
            </p:cNvSpPr>
            <p:nvPr/>
          </p:nvSpPr>
          <p:spPr bwMode="auto">
            <a:xfrm>
              <a:off x="3432175" y="1709738"/>
              <a:ext cx="0" cy="3222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38" name="Line 10">
              <a:extLst>
                <a:ext uri="{FF2B5EF4-FFF2-40B4-BE49-F238E27FC236}">
                  <a16:creationId xmlns:a16="http://schemas.microsoft.com/office/drawing/2014/main" id="{E3F3DA3D-6F50-F010-F67B-575F0602C4EE}"/>
                </a:ext>
              </a:extLst>
            </p:cNvPr>
            <p:cNvSpPr>
              <a:spLocks noChangeShapeType="1"/>
            </p:cNvSpPr>
            <p:nvPr/>
          </p:nvSpPr>
          <p:spPr bwMode="auto">
            <a:xfrm>
              <a:off x="1301750" y="1727200"/>
              <a:ext cx="0" cy="322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grpSp>
      <p:sp>
        <p:nvSpPr>
          <p:cNvPr id="22" name="Line 20">
            <a:extLst>
              <a:ext uri="{FF2B5EF4-FFF2-40B4-BE49-F238E27FC236}">
                <a16:creationId xmlns:a16="http://schemas.microsoft.com/office/drawing/2014/main" id="{1D384D1C-136F-3EFA-9DA6-A531322D10F8}"/>
              </a:ext>
            </a:extLst>
          </p:cNvPr>
          <p:cNvSpPr>
            <a:spLocks noChangeShapeType="1"/>
          </p:cNvSpPr>
          <p:nvPr/>
        </p:nvSpPr>
        <p:spPr bwMode="auto">
          <a:xfrm flipV="1">
            <a:off x="3499386" y="3513850"/>
            <a:ext cx="340041" cy="269875"/>
          </a:xfrm>
          <a:prstGeom prst="line">
            <a:avLst/>
          </a:prstGeom>
          <a:noFill/>
          <a:ln w="9525">
            <a:solidFill>
              <a:schemeClr val="tx1"/>
            </a:solidFill>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23" name="Text Box 21">
            <a:extLst>
              <a:ext uri="{FF2B5EF4-FFF2-40B4-BE49-F238E27FC236}">
                <a16:creationId xmlns:a16="http://schemas.microsoft.com/office/drawing/2014/main" id="{C39D296C-19BB-C807-708C-78C29EF023EE}"/>
              </a:ext>
            </a:extLst>
          </p:cNvPr>
          <p:cNvSpPr txBox="1">
            <a:spLocks noChangeArrowheads="1"/>
          </p:cNvSpPr>
          <p:nvPr/>
        </p:nvSpPr>
        <p:spPr bwMode="auto">
          <a:xfrm>
            <a:off x="2487185" y="4214031"/>
            <a:ext cx="4992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(a)</a:t>
            </a:r>
          </a:p>
        </p:txBody>
      </p:sp>
      <p:sp>
        <p:nvSpPr>
          <p:cNvPr id="24" name="Text Box 21">
            <a:extLst>
              <a:ext uri="{FF2B5EF4-FFF2-40B4-BE49-F238E27FC236}">
                <a16:creationId xmlns:a16="http://schemas.microsoft.com/office/drawing/2014/main" id="{DBFF7C81-75FB-94EA-744D-2C502AC95BC2}"/>
              </a:ext>
            </a:extLst>
          </p:cNvPr>
          <p:cNvSpPr txBox="1">
            <a:spLocks noChangeArrowheads="1"/>
          </p:cNvSpPr>
          <p:nvPr/>
        </p:nvSpPr>
        <p:spPr bwMode="auto">
          <a:xfrm>
            <a:off x="5921343" y="4215380"/>
            <a:ext cx="4992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(b)</a:t>
            </a:r>
          </a:p>
        </p:txBody>
      </p:sp>
      <p:sp>
        <p:nvSpPr>
          <p:cNvPr id="25" name="矩形 24">
            <a:extLst>
              <a:ext uri="{FF2B5EF4-FFF2-40B4-BE49-F238E27FC236}">
                <a16:creationId xmlns:a16="http://schemas.microsoft.com/office/drawing/2014/main" id="{B80FA636-B83B-DAC0-6CC2-BF273744C8B8}"/>
              </a:ext>
            </a:extLst>
          </p:cNvPr>
          <p:cNvSpPr>
            <a:spLocks noChangeArrowheads="1"/>
          </p:cNvSpPr>
          <p:nvPr/>
        </p:nvSpPr>
        <p:spPr bwMode="auto">
          <a:xfrm>
            <a:off x="2236202" y="4075045"/>
            <a:ext cx="696277" cy="245586"/>
          </a:xfrm>
          <a:prstGeom prst="rect">
            <a:avLst/>
          </a:prstGeom>
          <a:solidFill>
            <a:srgbClr val="C3E3F9"/>
          </a:solidFill>
          <a:ln>
            <a:noFill/>
          </a:ln>
        </p:spPr>
        <p:txBody>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endParaRPr lang="zh-CN" altLang="en-US" sz="1800" b="1">
              <a:ea typeface="微软雅黑" panose="020B0503020204020204" pitchFamily="34" charset="-122"/>
            </a:endParaRPr>
          </a:p>
        </p:txBody>
      </p:sp>
      <p:sp>
        <p:nvSpPr>
          <p:cNvPr id="26" name="Text Box 21">
            <a:extLst>
              <a:ext uri="{FF2B5EF4-FFF2-40B4-BE49-F238E27FC236}">
                <a16:creationId xmlns:a16="http://schemas.microsoft.com/office/drawing/2014/main" id="{0B703EF9-E1DA-466B-2C0F-2976F39802DA}"/>
              </a:ext>
            </a:extLst>
          </p:cNvPr>
          <p:cNvSpPr txBox="1">
            <a:spLocks noChangeArrowheads="1"/>
          </p:cNvSpPr>
          <p:nvPr/>
        </p:nvSpPr>
        <p:spPr bwMode="auto">
          <a:xfrm>
            <a:off x="2217310" y="4015673"/>
            <a:ext cx="120499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dirty="0">
                <a:ea typeface="微软雅黑" panose="020B0503020204020204" pitchFamily="34" charset="-122"/>
              </a:rPr>
              <a:t>DS </a:t>
            </a:r>
            <a:r>
              <a:rPr lang="zh-CN" altLang="en-US" sz="1200" b="1" dirty="0">
                <a:ea typeface="微软雅黑" panose="020B0503020204020204" pitchFamily="34" charset="-122"/>
              </a:rPr>
              <a:t>字段</a:t>
            </a:r>
            <a:endParaRPr lang="en-US" altLang="zh-CN" sz="1200" b="1" dirty="0">
              <a:ea typeface="微软雅黑" panose="020B0503020204020204" pitchFamily="34" charset="-122"/>
            </a:endParaRPr>
          </a:p>
        </p:txBody>
      </p:sp>
      <p:sp>
        <p:nvSpPr>
          <p:cNvPr id="27" name="Text Box 21">
            <a:extLst>
              <a:ext uri="{FF2B5EF4-FFF2-40B4-BE49-F238E27FC236}">
                <a16:creationId xmlns:a16="http://schemas.microsoft.com/office/drawing/2014/main" id="{10415C8F-7706-69BF-2EAA-C18F18EB9A8E}"/>
              </a:ext>
            </a:extLst>
          </p:cNvPr>
          <p:cNvSpPr txBox="1">
            <a:spLocks noChangeArrowheads="1"/>
          </p:cNvSpPr>
          <p:nvPr/>
        </p:nvSpPr>
        <p:spPr bwMode="auto">
          <a:xfrm>
            <a:off x="3318399" y="3102147"/>
            <a:ext cx="120499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显式拥塞通知</a:t>
            </a:r>
            <a:endParaRPr lang="en-US" altLang="zh-CN" sz="1200" b="1">
              <a:ea typeface="微软雅黑" panose="020B0503020204020204" pitchFamily="34" charset="-122"/>
            </a:endParaRPr>
          </a:p>
        </p:txBody>
      </p:sp>
      <p:sp>
        <p:nvSpPr>
          <p:cNvPr id="28" name="Text Box 21">
            <a:extLst>
              <a:ext uri="{FF2B5EF4-FFF2-40B4-BE49-F238E27FC236}">
                <a16:creationId xmlns:a16="http://schemas.microsoft.com/office/drawing/2014/main" id="{638D64F2-5780-BE8E-872C-3CAA935A6475}"/>
              </a:ext>
            </a:extLst>
          </p:cNvPr>
          <p:cNvSpPr txBox="1">
            <a:spLocks noChangeArrowheads="1"/>
          </p:cNvSpPr>
          <p:nvPr/>
        </p:nvSpPr>
        <p:spPr bwMode="auto">
          <a:xfrm>
            <a:off x="4832398" y="3102147"/>
            <a:ext cx="105790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ECN </a:t>
            </a:r>
            <a:r>
              <a:rPr lang="zh-CN" altLang="en-US" sz="1200" b="1">
                <a:ea typeface="微软雅黑" panose="020B0503020204020204" pitchFamily="34" charset="-122"/>
              </a:rPr>
              <a:t>字段</a:t>
            </a:r>
            <a:endParaRPr lang="en-US" altLang="zh-CN" sz="1200" b="1">
              <a:ea typeface="微软雅黑" panose="020B0503020204020204" pitchFamily="34" charset="-122"/>
            </a:endParaRPr>
          </a:p>
        </p:txBody>
      </p:sp>
      <p:cxnSp>
        <p:nvCxnSpPr>
          <p:cNvPr id="29" name="直接连接符 28">
            <a:extLst>
              <a:ext uri="{FF2B5EF4-FFF2-40B4-BE49-F238E27FC236}">
                <a16:creationId xmlns:a16="http://schemas.microsoft.com/office/drawing/2014/main" id="{CB0F9D42-74DF-380E-1A76-98F0FA46F8D5}"/>
              </a:ext>
            </a:extLst>
          </p:cNvPr>
          <p:cNvCxnSpPr>
            <a:cxnSpLocks noChangeShapeType="1"/>
          </p:cNvCxnSpPr>
          <p:nvPr/>
        </p:nvCxnSpPr>
        <p:spPr bwMode="auto">
          <a:xfrm>
            <a:off x="4848591" y="3384166"/>
            <a:ext cx="2551667" cy="5397"/>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a:extLst>
              <a:ext uri="{FF2B5EF4-FFF2-40B4-BE49-F238E27FC236}">
                <a16:creationId xmlns:a16="http://schemas.microsoft.com/office/drawing/2014/main" id="{6442961B-1154-46C6-07A9-19D45B737234}"/>
              </a:ext>
            </a:extLst>
          </p:cNvPr>
          <p:cNvCxnSpPr>
            <a:cxnSpLocks noChangeShapeType="1"/>
          </p:cNvCxnSpPr>
          <p:nvPr/>
        </p:nvCxnSpPr>
        <p:spPr bwMode="auto">
          <a:xfrm>
            <a:off x="4848591" y="4258560"/>
            <a:ext cx="2551667"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Text Box 21">
            <a:extLst>
              <a:ext uri="{FF2B5EF4-FFF2-40B4-BE49-F238E27FC236}">
                <a16:creationId xmlns:a16="http://schemas.microsoft.com/office/drawing/2014/main" id="{2AECDF06-8C49-5553-34DB-7DFC2C16D4B6}"/>
              </a:ext>
            </a:extLst>
          </p:cNvPr>
          <p:cNvSpPr txBox="1">
            <a:spLocks noChangeArrowheads="1"/>
          </p:cNvSpPr>
          <p:nvPr/>
        </p:nvSpPr>
        <p:spPr bwMode="auto">
          <a:xfrm>
            <a:off x="5525589" y="3377345"/>
            <a:ext cx="975597" cy="897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lnSpc>
                <a:spcPts val="1600"/>
              </a:lnSpc>
              <a:spcBef>
                <a:spcPct val="0"/>
              </a:spcBef>
              <a:buFontTx/>
              <a:buNone/>
            </a:pPr>
            <a:r>
              <a:rPr lang="en-US" altLang="zh-CN" sz="1200" b="1" dirty="0">
                <a:ea typeface="微软雅黑" panose="020B0503020204020204" pitchFamily="34" charset="-122"/>
              </a:rPr>
              <a:t>Non-ECT   </a:t>
            </a:r>
          </a:p>
          <a:p>
            <a:pPr algn="ctr" eaLnBrk="1" hangingPunct="1">
              <a:lnSpc>
                <a:spcPts val="1600"/>
              </a:lnSpc>
              <a:spcBef>
                <a:spcPct val="0"/>
              </a:spcBef>
              <a:buFontTx/>
              <a:buNone/>
            </a:pPr>
            <a:r>
              <a:rPr lang="en-US" altLang="zh-CN" sz="1200" b="1" dirty="0">
                <a:ea typeface="微软雅黑" panose="020B0503020204020204" pitchFamily="34" charset="-122"/>
              </a:rPr>
              <a:t>ECT(1)</a:t>
            </a:r>
          </a:p>
          <a:p>
            <a:pPr algn="ctr" eaLnBrk="1" hangingPunct="1">
              <a:lnSpc>
                <a:spcPts val="1600"/>
              </a:lnSpc>
              <a:spcBef>
                <a:spcPct val="0"/>
              </a:spcBef>
              <a:buFontTx/>
              <a:buNone/>
            </a:pPr>
            <a:r>
              <a:rPr lang="en-US" altLang="zh-CN" sz="1200" b="1" dirty="0">
                <a:ea typeface="微软雅黑" panose="020B0503020204020204" pitchFamily="34" charset="-122"/>
              </a:rPr>
              <a:t>ECT(0)</a:t>
            </a:r>
          </a:p>
          <a:p>
            <a:pPr algn="ctr" eaLnBrk="1" hangingPunct="1">
              <a:lnSpc>
                <a:spcPts val="1600"/>
              </a:lnSpc>
              <a:spcBef>
                <a:spcPct val="0"/>
              </a:spcBef>
              <a:buFontTx/>
              <a:buNone/>
            </a:pPr>
            <a:r>
              <a:rPr lang="en-US" altLang="zh-CN" sz="1200" b="1" dirty="0">
                <a:ea typeface="微软雅黑" panose="020B0503020204020204" pitchFamily="34" charset="-122"/>
              </a:rPr>
              <a:t>CE</a:t>
            </a:r>
          </a:p>
        </p:txBody>
      </p:sp>
      <p:sp>
        <p:nvSpPr>
          <p:cNvPr id="32" name="Text Box 21">
            <a:extLst>
              <a:ext uri="{FF2B5EF4-FFF2-40B4-BE49-F238E27FC236}">
                <a16:creationId xmlns:a16="http://schemas.microsoft.com/office/drawing/2014/main" id="{79A106FB-616A-AD06-15B8-DF500665B58D}"/>
              </a:ext>
            </a:extLst>
          </p:cNvPr>
          <p:cNvSpPr txBox="1">
            <a:spLocks noChangeArrowheads="1"/>
          </p:cNvSpPr>
          <p:nvPr/>
        </p:nvSpPr>
        <p:spPr bwMode="auto">
          <a:xfrm>
            <a:off x="6625717" y="3102147"/>
            <a:ext cx="61396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意义</a:t>
            </a:r>
            <a:endParaRPr lang="en-US" altLang="zh-CN" sz="1200" b="1">
              <a:ea typeface="微软雅黑" panose="020B0503020204020204" pitchFamily="34" charset="-122"/>
            </a:endParaRPr>
          </a:p>
        </p:txBody>
      </p:sp>
      <p:sp>
        <p:nvSpPr>
          <p:cNvPr id="33" name="Text Box 21">
            <a:extLst>
              <a:ext uri="{FF2B5EF4-FFF2-40B4-BE49-F238E27FC236}">
                <a16:creationId xmlns:a16="http://schemas.microsoft.com/office/drawing/2014/main" id="{F5D5A43E-09BF-BF87-48D9-D419B4828E38}"/>
              </a:ext>
            </a:extLst>
          </p:cNvPr>
          <p:cNvSpPr txBox="1">
            <a:spLocks noChangeArrowheads="1"/>
          </p:cNvSpPr>
          <p:nvPr/>
        </p:nvSpPr>
        <p:spPr bwMode="auto">
          <a:xfrm>
            <a:off x="5768864" y="3102147"/>
            <a:ext cx="61396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名称</a:t>
            </a:r>
            <a:endParaRPr lang="en-US" altLang="zh-CN" sz="1200" b="1">
              <a:ea typeface="微软雅黑" panose="020B0503020204020204" pitchFamily="34" charset="-122"/>
            </a:endParaRPr>
          </a:p>
        </p:txBody>
      </p:sp>
      <p:cxnSp>
        <p:nvCxnSpPr>
          <p:cNvPr id="34" name="直接连接符 33">
            <a:extLst>
              <a:ext uri="{FF2B5EF4-FFF2-40B4-BE49-F238E27FC236}">
                <a16:creationId xmlns:a16="http://schemas.microsoft.com/office/drawing/2014/main" id="{2AABDF69-C78D-404D-6AD7-94DB6B57ADB7}"/>
              </a:ext>
            </a:extLst>
          </p:cNvPr>
          <p:cNvCxnSpPr>
            <a:cxnSpLocks noChangeShapeType="1"/>
          </p:cNvCxnSpPr>
          <p:nvPr/>
        </p:nvCxnSpPr>
        <p:spPr bwMode="auto">
          <a:xfrm flipV="1">
            <a:off x="5644721" y="3384166"/>
            <a:ext cx="0" cy="851456"/>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34">
            <a:extLst>
              <a:ext uri="{FF2B5EF4-FFF2-40B4-BE49-F238E27FC236}">
                <a16:creationId xmlns:a16="http://schemas.microsoft.com/office/drawing/2014/main" id="{62EC60AE-C345-1720-7F71-91F40FA05DDF}"/>
              </a:ext>
            </a:extLst>
          </p:cNvPr>
          <p:cNvCxnSpPr>
            <a:cxnSpLocks noChangeShapeType="1"/>
          </p:cNvCxnSpPr>
          <p:nvPr/>
        </p:nvCxnSpPr>
        <p:spPr bwMode="auto">
          <a:xfrm flipV="1">
            <a:off x="6389576" y="3397660"/>
            <a:ext cx="0" cy="852805"/>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Text Box 19">
            <a:extLst>
              <a:ext uri="{FF2B5EF4-FFF2-40B4-BE49-F238E27FC236}">
                <a16:creationId xmlns:a16="http://schemas.microsoft.com/office/drawing/2014/main" id="{FBBBEC6C-F5BA-39AF-19AB-E1125FA09BF6}"/>
              </a:ext>
            </a:extLst>
          </p:cNvPr>
          <p:cNvSpPr txBox="1">
            <a:spLocks noChangeArrowheads="1"/>
          </p:cNvSpPr>
          <p:nvPr/>
        </p:nvSpPr>
        <p:spPr bwMode="auto">
          <a:xfrm>
            <a:off x="4922851" y="3403933"/>
            <a:ext cx="2731133" cy="86946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spcAft>
                <a:spcPts val="300"/>
              </a:spcAft>
              <a:buFontTx/>
              <a:buNone/>
            </a:pPr>
            <a:r>
              <a:rPr lang="en-US" altLang="zh-CN" sz="1200" b="1" dirty="0">
                <a:ea typeface="微软雅黑" panose="020B0503020204020204" pitchFamily="34" charset="-122"/>
              </a:rPr>
              <a:t>   0   0                           </a:t>
            </a:r>
            <a:r>
              <a:rPr lang="zh-CN" altLang="en-US" sz="1200" b="1" dirty="0">
                <a:ea typeface="微软雅黑" panose="020B0503020204020204" pitchFamily="34" charset="-122"/>
              </a:rPr>
              <a:t>不支持 </a:t>
            </a:r>
            <a:r>
              <a:rPr lang="en-US" altLang="zh-CN" sz="1200" b="1" dirty="0">
                <a:ea typeface="微软雅黑" panose="020B0503020204020204" pitchFamily="34" charset="-122"/>
              </a:rPr>
              <a:t>ECN</a:t>
            </a:r>
          </a:p>
          <a:p>
            <a:pPr eaLnBrk="1" hangingPunct="1">
              <a:spcBef>
                <a:spcPct val="0"/>
              </a:spcBef>
              <a:buFontTx/>
              <a:buNone/>
            </a:pPr>
            <a:r>
              <a:rPr lang="en-US" altLang="zh-CN" sz="1200" b="1" dirty="0">
                <a:ea typeface="微软雅黑" panose="020B0503020204020204" pitchFamily="34" charset="-122"/>
              </a:rPr>
              <a:t>   0   1                             </a:t>
            </a:r>
            <a:r>
              <a:rPr lang="zh-CN" altLang="en-US" sz="1200" b="1" dirty="0">
                <a:ea typeface="微软雅黑" panose="020B0503020204020204" pitchFamily="34" charset="-122"/>
              </a:rPr>
              <a:t>支持 </a:t>
            </a:r>
            <a:r>
              <a:rPr lang="en-US" altLang="zh-CN" sz="1200" b="1" dirty="0">
                <a:ea typeface="微软雅黑" panose="020B0503020204020204" pitchFamily="34" charset="-122"/>
              </a:rPr>
              <a:t>ECN</a:t>
            </a:r>
          </a:p>
          <a:p>
            <a:pPr eaLnBrk="1" hangingPunct="1">
              <a:spcBef>
                <a:spcPct val="0"/>
              </a:spcBef>
              <a:buFontTx/>
              <a:buNone/>
            </a:pPr>
            <a:r>
              <a:rPr lang="en-US" altLang="zh-CN" sz="1200" b="1" dirty="0">
                <a:ea typeface="微软雅黑" panose="020B0503020204020204" pitchFamily="34" charset="-122"/>
              </a:rPr>
              <a:t>   1   0                             </a:t>
            </a:r>
            <a:r>
              <a:rPr lang="zh-CN" altLang="en-US" sz="1200" b="1" dirty="0">
                <a:ea typeface="微软雅黑" panose="020B0503020204020204" pitchFamily="34" charset="-122"/>
              </a:rPr>
              <a:t>支持 </a:t>
            </a:r>
            <a:r>
              <a:rPr lang="en-US" altLang="zh-CN" sz="1200" b="1" dirty="0">
                <a:ea typeface="微软雅黑" panose="020B0503020204020204" pitchFamily="34" charset="-122"/>
              </a:rPr>
              <a:t>ECN</a:t>
            </a:r>
          </a:p>
          <a:p>
            <a:pPr eaLnBrk="1" hangingPunct="1">
              <a:spcBef>
                <a:spcPct val="0"/>
              </a:spcBef>
              <a:buFontTx/>
              <a:buNone/>
            </a:pPr>
            <a:r>
              <a:rPr lang="en-US" altLang="zh-CN" sz="1200" b="1" dirty="0">
                <a:ea typeface="微软雅黑" panose="020B0503020204020204" pitchFamily="34" charset="-122"/>
              </a:rPr>
              <a:t>   1   1                            </a:t>
            </a:r>
            <a:r>
              <a:rPr lang="zh-CN" altLang="en-US" sz="1200" b="1" dirty="0">
                <a:ea typeface="微软雅黑" panose="020B0503020204020204" pitchFamily="34" charset="-122"/>
              </a:rPr>
              <a:t>已经历拥塞</a:t>
            </a:r>
            <a:endParaRPr lang="en-US" altLang="zh-CN" sz="1200" b="1" dirty="0">
              <a:ea typeface="微软雅黑" panose="020B0503020204020204" pitchFamily="34" charset="-122"/>
            </a:endParaRPr>
          </a:p>
        </p:txBody>
      </p:sp>
    </p:spTree>
    <p:extLst>
      <p:ext uri="{BB962C8B-B14F-4D97-AF65-F5344CB8AC3E}">
        <p14:creationId xmlns:p14="http://schemas.microsoft.com/office/powerpoint/2010/main" val="3338999555"/>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9387A-9D62-82D2-57D6-913834709193}"/>
            </a:ext>
          </a:extLst>
        </p:cNvPr>
        <p:cNvGrpSpPr/>
        <p:nvPr/>
      </p:nvGrpSpPr>
      <p:grpSpPr>
        <a:xfrm>
          <a:off x="0" y="0"/>
          <a:ext cx="0" cy="0"/>
          <a:chOff x="0" y="0"/>
          <a:chExt cx="0" cy="0"/>
        </a:xfrm>
      </p:grpSpPr>
      <p:sp>
        <p:nvSpPr>
          <p:cNvPr id="39" name="圆角矩形 37">
            <a:extLst>
              <a:ext uri="{FF2B5EF4-FFF2-40B4-BE49-F238E27FC236}">
                <a16:creationId xmlns:a16="http://schemas.microsoft.com/office/drawing/2014/main" id="{D7E9F196-9CC9-7EC6-412C-2F35E7ACD56B}"/>
              </a:ext>
            </a:extLst>
          </p:cNvPr>
          <p:cNvSpPr/>
          <p:nvPr/>
        </p:nvSpPr>
        <p:spPr>
          <a:xfrm>
            <a:off x="1091322" y="2915266"/>
            <a:ext cx="6961355" cy="162908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AutoShape 5">
            <a:extLst>
              <a:ext uri="{FF2B5EF4-FFF2-40B4-BE49-F238E27FC236}">
                <a16:creationId xmlns:a16="http://schemas.microsoft.com/office/drawing/2014/main" id="{C894FDFC-F019-0112-461B-F50FF780966E}"/>
              </a:ext>
            </a:extLst>
          </p:cNvPr>
          <p:cNvSpPr>
            <a:spLocks noChangeArrowheads="1"/>
          </p:cNvSpPr>
          <p:nvPr/>
        </p:nvSpPr>
        <p:spPr bwMode="auto">
          <a:xfrm>
            <a:off x="545143" y="625919"/>
            <a:ext cx="8053711" cy="357839"/>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a:extLst>
              <a:ext uri="{FF2B5EF4-FFF2-40B4-BE49-F238E27FC236}">
                <a16:creationId xmlns:a16="http://schemas.microsoft.com/office/drawing/2014/main" id="{8A707DA9-81B3-E56F-35C6-56071ED8F0B8}"/>
              </a:ext>
            </a:extLst>
          </p:cNvPr>
          <p:cNvSpPr>
            <a:spLocks noChangeArrowheads="1"/>
          </p:cNvSpPr>
          <p:nvPr/>
        </p:nvSpPr>
        <p:spPr bwMode="auto">
          <a:xfrm>
            <a:off x="3248567" y="599146"/>
            <a:ext cx="264687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显式拥塞通知</a:t>
            </a:r>
            <a:r>
              <a:rPr lang="en-US" altLang="zh-CN" sz="2000" b="1" dirty="0">
                <a:solidFill>
                  <a:schemeClr val="bg1"/>
                </a:solidFill>
                <a:latin typeface="微软雅黑" pitchFamily="34" charset="-122"/>
                <a:ea typeface="微软雅黑" pitchFamily="34" charset="-122"/>
              </a:rPr>
              <a:t>ECN </a:t>
            </a:r>
            <a:endParaRPr lang="zh-CN" altLang="en-US" sz="2000" b="1" dirty="0">
              <a:solidFill>
                <a:schemeClr val="bg1"/>
              </a:solidFill>
              <a:latin typeface="微软雅黑" pitchFamily="34" charset="-122"/>
              <a:ea typeface="微软雅黑" pitchFamily="34" charset="-122"/>
            </a:endParaRPr>
          </a:p>
        </p:txBody>
      </p:sp>
      <p:sp>
        <p:nvSpPr>
          <p:cNvPr id="4" name="Rectangle 8">
            <a:extLst>
              <a:ext uri="{FF2B5EF4-FFF2-40B4-BE49-F238E27FC236}">
                <a16:creationId xmlns:a16="http://schemas.microsoft.com/office/drawing/2014/main" id="{E9BCC62C-077A-0CC6-B1C2-2C03A86B4D08}"/>
              </a:ext>
            </a:extLst>
          </p:cNvPr>
          <p:cNvSpPr>
            <a:spLocks noChangeArrowheads="1"/>
          </p:cNvSpPr>
          <p:nvPr/>
        </p:nvSpPr>
        <p:spPr bwMode="auto">
          <a:xfrm>
            <a:off x="545143" y="1029517"/>
            <a:ext cx="8053711" cy="1589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如果发送方在</a:t>
            </a:r>
            <a:r>
              <a:rPr lang="en-US" altLang="zh-CN" b="1" dirty="0">
                <a:latin typeface="微软雅黑" pitchFamily="34" charset="-122"/>
                <a:ea typeface="微软雅黑" pitchFamily="34" charset="-122"/>
              </a:rPr>
              <a:t>IP</a:t>
            </a:r>
            <a:r>
              <a:rPr lang="zh-CN" altLang="en-US" b="1" dirty="0">
                <a:latin typeface="微软雅黑" pitchFamily="34" charset="-122"/>
                <a:ea typeface="微软雅黑" pitchFamily="34" charset="-122"/>
              </a:rPr>
              <a:t>首部中设置</a:t>
            </a:r>
            <a:r>
              <a:rPr lang="en-US" altLang="zh-CN" b="1" dirty="0">
                <a:solidFill>
                  <a:srgbClr val="0000FF"/>
                </a:solidFill>
                <a:latin typeface="微软雅黑" pitchFamily="34" charset="-122"/>
                <a:ea typeface="微软雅黑" pitchFamily="34" charset="-122"/>
              </a:rPr>
              <a:t>ECT = 1</a:t>
            </a:r>
            <a:r>
              <a:rPr lang="zh-CN" altLang="en-US" b="1" dirty="0">
                <a:solidFill>
                  <a:srgbClr val="0000FF"/>
                </a:solidFill>
                <a:latin typeface="微软雅黑" pitchFamily="34" charset="-122"/>
                <a:ea typeface="微软雅黑" pitchFamily="34" charset="-122"/>
              </a:rPr>
              <a:t>，就表示发送方支持</a:t>
            </a:r>
            <a:r>
              <a:rPr lang="en-US" altLang="zh-CN" b="1" dirty="0">
                <a:solidFill>
                  <a:srgbClr val="0000FF"/>
                </a:solidFill>
                <a:latin typeface="微软雅黑" pitchFamily="34" charset="-122"/>
                <a:ea typeface="微软雅黑" pitchFamily="34" charset="-122"/>
              </a:rPr>
              <a:t>ECN</a:t>
            </a:r>
            <a:r>
              <a:rPr lang="zh-CN" altLang="en-US" b="1" dirty="0">
                <a:latin typeface="微软雅黑" pitchFamily="34" charset="-122"/>
                <a:ea typeface="微软雅黑" pitchFamily="34" charset="-122"/>
              </a:rPr>
              <a:t>。</a:t>
            </a:r>
            <a:r>
              <a:rPr lang="zh-CN" altLang="en-US" b="1" dirty="0">
                <a:solidFill>
                  <a:srgbClr val="0000FF"/>
                </a:solidFill>
                <a:latin typeface="微软雅黑" pitchFamily="34" charset="-122"/>
                <a:ea typeface="微软雅黑" pitchFamily="34" charset="-122"/>
              </a:rPr>
              <a:t>当路由器检测到网络拥塞时</a:t>
            </a:r>
            <a:r>
              <a:rPr lang="zh-CN" altLang="en-US" b="1" dirty="0">
                <a:latin typeface="微软雅黑" pitchFamily="34" charset="-122"/>
                <a:ea typeface="微软雅黑" pitchFamily="34" charset="-122"/>
              </a:rPr>
              <a:t>，不是简单地丢弃该</a:t>
            </a:r>
            <a:r>
              <a:rPr lang="en-US" altLang="zh-CN" b="1" dirty="0">
                <a:latin typeface="微软雅黑" pitchFamily="34" charset="-122"/>
                <a:ea typeface="微软雅黑" pitchFamily="34" charset="-122"/>
              </a:rPr>
              <a:t>IP</a:t>
            </a:r>
            <a:r>
              <a:rPr lang="zh-CN" altLang="en-US" b="1" dirty="0">
                <a:latin typeface="微软雅黑" pitchFamily="34" charset="-122"/>
                <a:ea typeface="微软雅黑" pitchFamily="34" charset="-122"/>
              </a:rPr>
              <a:t>数据报，而是把该数据报的</a:t>
            </a:r>
            <a:r>
              <a:rPr lang="en-US" altLang="zh-CN" b="1" dirty="0">
                <a:solidFill>
                  <a:srgbClr val="0000FF"/>
                </a:solidFill>
                <a:latin typeface="微软雅黑" pitchFamily="34" charset="-122"/>
                <a:ea typeface="微软雅黑" pitchFamily="34" charset="-122"/>
              </a:rPr>
              <a:t>CE</a:t>
            </a:r>
            <a:r>
              <a:rPr lang="zh-CN" altLang="en-US" b="1" dirty="0">
                <a:solidFill>
                  <a:srgbClr val="0000FF"/>
                </a:solidFill>
                <a:latin typeface="微软雅黑" pitchFamily="34" charset="-122"/>
                <a:ea typeface="微软雅黑" pitchFamily="34" charset="-122"/>
              </a:rPr>
              <a:t>置为</a:t>
            </a:r>
            <a:r>
              <a:rPr lang="en-US" altLang="zh-CN" b="1" dirty="0">
                <a:solidFill>
                  <a:srgbClr val="0000FF"/>
                </a:solidFill>
                <a:latin typeface="微软雅黑" pitchFamily="34" charset="-122"/>
                <a:ea typeface="微软雅黑" pitchFamily="34" charset="-122"/>
              </a:rPr>
              <a:t>1</a:t>
            </a:r>
            <a:r>
              <a:rPr lang="zh-CN" altLang="en-US" b="1" dirty="0">
                <a:latin typeface="微软雅黑" pitchFamily="34" charset="-122"/>
                <a:ea typeface="微软雅黑" pitchFamily="34" charset="-122"/>
              </a:rPr>
              <a:t>。</a:t>
            </a:r>
            <a:endParaRPr lang="en-US" altLang="zh-CN"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接收方一旦得知数据报被标记为</a:t>
            </a:r>
            <a:r>
              <a:rPr lang="en-US" altLang="zh-CN" b="1" dirty="0">
                <a:latin typeface="微软雅黑" pitchFamily="34" charset="-122"/>
                <a:ea typeface="微软雅黑" pitchFamily="34" charset="-122"/>
              </a:rPr>
              <a:t>CE = 1</a:t>
            </a:r>
            <a:r>
              <a:rPr lang="zh-CN" altLang="en-US" b="1" dirty="0">
                <a:latin typeface="微软雅黑" pitchFamily="34" charset="-122"/>
                <a:ea typeface="微软雅黑" pitchFamily="34" charset="-122"/>
              </a:rPr>
              <a:t>。接收方</a:t>
            </a:r>
            <a:r>
              <a:rPr lang="en-US" altLang="zh-CN" b="1" dirty="0">
                <a:latin typeface="微软雅黑" pitchFamily="34" charset="-122"/>
                <a:ea typeface="微软雅黑" pitchFamily="34" charset="-122"/>
              </a:rPr>
              <a:t>TCP</a:t>
            </a:r>
            <a:r>
              <a:rPr lang="zh-CN" altLang="en-US" b="1" dirty="0">
                <a:latin typeface="微软雅黑" pitchFamily="34" charset="-122"/>
                <a:ea typeface="微软雅黑" pitchFamily="34" charset="-122"/>
              </a:rPr>
              <a:t>知道后，就会在发送确认时通知</a:t>
            </a:r>
            <a:r>
              <a:rPr lang="en-US" altLang="zh-CN" b="1" dirty="0">
                <a:latin typeface="微软雅黑" pitchFamily="34" charset="-122"/>
                <a:ea typeface="微软雅黑" pitchFamily="34" charset="-122"/>
              </a:rPr>
              <a:t>TCP</a:t>
            </a:r>
            <a:r>
              <a:rPr lang="zh-CN" altLang="en-US" b="1" dirty="0">
                <a:latin typeface="微软雅黑" pitchFamily="34" charset="-122"/>
                <a:ea typeface="微软雅黑" pitchFamily="34" charset="-122"/>
              </a:rPr>
              <a:t>的发送方。</a:t>
            </a:r>
          </a:p>
        </p:txBody>
      </p:sp>
      <p:sp>
        <p:nvSpPr>
          <p:cNvPr id="6" name="Rectangle 4">
            <a:extLst>
              <a:ext uri="{FF2B5EF4-FFF2-40B4-BE49-F238E27FC236}">
                <a16:creationId xmlns:a16="http://schemas.microsoft.com/office/drawing/2014/main" id="{D962A2A6-C626-F2C6-971A-617F1BFE49E9}"/>
              </a:ext>
            </a:extLst>
          </p:cNvPr>
          <p:cNvSpPr>
            <a:spLocks noChangeArrowheads="1"/>
          </p:cNvSpPr>
          <p:nvPr/>
        </p:nvSpPr>
        <p:spPr bwMode="auto">
          <a:xfrm>
            <a:off x="1695104" y="3589271"/>
            <a:ext cx="1805463" cy="453390"/>
          </a:xfrm>
          <a:prstGeom prst="rect">
            <a:avLst/>
          </a:prstGeom>
          <a:solidFill>
            <a:schemeClr val="bg1"/>
          </a:solidFill>
          <a:ln w="9525">
            <a:solidFill>
              <a:schemeClr val="tx1"/>
            </a:solidFill>
            <a:miter lim="800000"/>
            <a:headEnd/>
            <a:tailEnd/>
          </a:ln>
          <a:effectLst/>
        </p:spPr>
        <p:txBody>
          <a:bodyPr wrap="none" anchor="ct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endParaRPr lang="zh-CN" altLang="en-US" sz="1800" b="1">
              <a:ea typeface="微软雅黑" panose="020B0503020204020204" pitchFamily="34" charset="-122"/>
            </a:endParaRPr>
          </a:p>
        </p:txBody>
      </p:sp>
      <p:sp>
        <p:nvSpPr>
          <p:cNvPr id="7" name="矩形 6">
            <a:extLst>
              <a:ext uri="{FF2B5EF4-FFF2-40B4-BE49-F238E27FC236}">
                <a16:creationId xmlns:a16="http://schemas.microsoft.com/office/drawing/2014/main" id="{D6FEF828-9373-AAF3-EDE2-CDD531A85820}"/>
              </a:ext>
            </a:extLst>
          </p:cNvPr>
          <p:cNvSpPr>
            <a:spLocks noChangeArrowheads="1"/>
          </p:cNvSpPr>
          <p:nvPr/>
        </p:nvSpPr>
        <p:spPr bwMode="auto">
          <a:xfrm>
            <a:off x="3049875" y="3589493"/>
            <a:ext cx="445293" cy="453390"/>
          </a:xfrm>
          <a:prstGeom prst="rect">
            <a:avLst/>
          </a:prstGeom>
          <a:solidFill>
            <a:srgbClr val="FFFF00"/>
          </a:solidFill>
          <a:ln w="28575" algn="ctr">
            <a:solidFill>
              <a:srgbClr val="FF0000"/>
            </a:solidFill>
            <a:round/>
            <a:headEnd/>
            <a:tailEnd/>
          </a:ln>
        </p:spPr>
        <p:txBody>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endParaRPr lang="zh-CN" altLang="en-US" sz="1800" b="1">
              <a:ea typeface="微软雅黑" panose="020B0503020204020204" pitchFamily="34" charset="-122"/>
            </a:endParaRPr>
          </a:p>
        </p:txBody>
      </p:sp>
      <p:sp>
        <p:nvSpPr>
          <p:cNvPr id="8" name="Line 20">
            <a:extLst>
              <a:ext uri="{FF2B5EF4-FFF2-40B4-BE49-F238E27FC236}">
                <a16:creationId xmlns:a16="http://schemas.microsoft.com/office/drawing/2014/main" id="{E278C6E8-8743-DC26-ED11-DA656E888711}"/>
              </a:ext>
            </a:extLst>
          </p:cNvPr>
          <p:cNvSpPr>
            <a:spLocks noChangeShapeType="1"/>
          </p:cNvSpPr>
          <p:nvPr/>
        </p:nvSpPr>
        <p:spPr bwMode="auto">
          <a:xfrm flipV="1">
            <a:off x="1707248" y="4161405"/>
            <a:ext cx="1781174" cy="17542"/>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9" name="Line 5">
            <a:extLst>
              <a:ext uri="{FF2B5EF4-FFF2-40B4-BE49-F238E27FC236}">
                <a16:creationId xmlns:a16="http://schemas.microsoft.com/office/drawing/2014/main" id="{840F5DC4-3C09-54A6-E79C-CC9049A58D2A}"/>
              </a:ext>
            </a:extLst>
          </p:cNvPr>
          <p:cNvSpPr>
            <a:spLocks noChangeShapeType="1"/>
          </p:cNvSpPr>
          <p:nvPr/>
        </p:nvSpPr>
        <p:spPr bwMode="auto">
          <a:xfrm>
            <a:off x="1920449"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0" name="Line 6">
            <a:extLst>
              <a:ext uri="{FF2B5EF4-FFF2-40B4-BE49-F238E27FC236}">
                <a16:creationId xmlns:a16="http://schemas.microsoft.com/office/drawing/2014/main" id="{B69D3777-BD9B-29E3-7D1D-5951A67FB3D0}"/>
              </a:ext>
            </a:extLst>
          </p:cNvPr>
          <p:cNvSpPr>
            <a:spLocks noChangeShapeType="1"/>
          </p:cNvSpPr>
          <p:nvPr/>
        </p:nvSpPr>
        <p:spPr bwMode="auto">
          <a:xfrm>
            <a:off x="2147143"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1" name="Line 7">
            <a:extLst>
              <a:ext uri="{FF2B5EF4-FFF2-40B4-BE49-F238E27FC236}">
                <a16:creationId xmlns:a16="http://schemas.microsoft.com/office/drawing/2014/main" id="{7525F49E-8245-D6EE-3979-A2CAD2692422}"/>
              </a:ext>
            </a:extLst>
          </p:cNvPr>
          <p:cNvSpPr>
            <a:spLocks noChangeShapeType="1"/>
          </p:cNvSpPr>
          <p:nvPr/>
        </p:nvSpPr>
        <p:spPr bwMode="auto">
          <a:xfrm>
            <a:off x="2372489"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2" name="Line 8">
            <a:extLst>
              <a:ext uri="{FF2B5EF4-FFF2-40B4-BE49-F238E27FC236}">
                <a16:creationId xmlns:a16="http://schemas.microsoft.com/office/drawing/2014/main" id="{A46DCFE5-F382-8F27-E2CA-B2A60EA8E1B4}"/>
              </a:ext>
            </a:extLst>
          </p:cNvPr>
          <p:cNvSpPr>
            <a:spLocks noChangeShapeType="1"/>
          </p:cNvSpPr>
          <p:nvPr/>
        </p:nvSpPr>
        <p:spPr bwMode="auto">
          <a:xfrm>
            <a:off x="2597834"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3" name="Line 9">
            <a:extLst>
              <a:ext uri="{FF2B5EF4-FFF2-40B4-BE49-F238E27FC236}">
                <a16:creationId xmlns:a16="http://schemas.microsoft.com/office/drawing/2014/main" id="{49AA7685-728E-A770-46FA-F19EA089EFBF}"/>
              </a:ext>
            </a:extLst>
          </p:cNvPr>
          <p:cNvSpPr>
            <a:spLocks noChangeShapeType="1"/>
          </p:cNvSpPr>
          <p:nvPr/>
        </p:nvSpPr>
        <p:spPr bwMode="auto">
          <a:xfrm>
            <a:off x="2823180"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4" name="Line 10">
            <a:extLst>
              <a:ext uri="{FF2B5EF4-FFF2-40B4-BE49-F238E27FC236}">
                <a16:creationId xmlns:a16="http://schemas.microsoft.com/office/drawing/2014/main" id="{C036F78D-5199-04D9-3F65-D8532BCD4433}"/>
              </a:ext>
            </a:extLst>
          </p:cNvPr>
          <p:cNvSpPr>
            <a:spLocks noChangeShapeType="1"/>
          </p:cNvSpPr>
          <p:nvPr/>
        </p:nvSpPr>
        <p:spPr bwMode="auto">
          <a:xfrm>
            <a:off x="3049875"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5" name="Line 11">
            <a:extLst>
              <a:ext uri="{FF2B5EF4-FFF2-40B4-BE49-F238E27FC236}">
                <a16:creationId xmlns:a16="http://schemas.microsoft.com/office/drawing/2014/main" id="{1E5A185D-AE86-814A-2807-D8B6C6604F8D}"/>
              </a:ext>
            </a:extLst>
          </p:cNvPr>
          <p:cNvSpPr>
            <a:spLocks noChangeShapeType="1"/>
          </p:cNvSpPr>
          <p:nvPr/>
        </p:nvSpPr>
        <p:spPr bwMode="auto">
          <a:xfrm>
            <a:off x="3275220"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6" name="Text Box 3">
            <a:extLst>
              <a:ext uri="{FF2B5EF4-FFF2-40B4-BE49-F238E27FC236}">
                <a16:creationId xmlns:a16="http://schemas.microsoft.com/office/drawing/2014/main" id="{9439151D-A42B-ABC0-E52F-72B4D2F24C64}"/>
              </a:ext>
            </a:extLst>
          </p:cNvPr>
          <p:cNvSpPr txBox="1">
            <a:spLocks noChangeArrowheads="1"/>
          </p:cNvSpPr>
          <p:nvPr/>
        </p:nvSpPr>
        <p:spPr bwMode="auto">
          <a:xfrm>
            <a:off x="3027176" y="3602733"/>
            <a:ext cx="288766" cy="478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lnSpc>
                <a:spcPts val="1000"/>
              </a:lnSpc>
              <a:spcBef>
                <a:spcPct val="0"/>
              </a:spcBef>
              <a:buFontTx/>
              <a:buNone/>
            </a:pPr>
            <a:r>
              <a:rPr lang="en-US" altLang="zh-CN" sz="1100" b="1" dirty="0">
                <a:ea typeface="微软雅黑" panose="020B0503020204020204" pitchFamily="34" charset="-122"/>
              </a:rPr>
              <a:t>E</a:t>
            </a:r>
          </a:p>
          <a:p>
            <a:pPr algn="ctr" eaLnBrk="1" hangingPunct="1">
              <a:lnSpc>
                <a:spcPts val="1000"/>
              </a:lnSpc>
              <a:spcBef>
                <a:spcPct val="0"/>
              </a:spcBef>
              <a:buFontTx/>
              <a:buNone/>
            </a:pPr>
            <a:r>
              <a:rPr lang="en-US" altLang="zh-CN" sz="1100" b="1" dirty="0">
                <a:ea typeface="微软雅黑" panose="020B0503020204020204" pitchFamily="34" charset="-122"/>
              </a:rPr>
              <a:t>C</a:t>
            </a:r>
          </a:p>
          <a:p>
            <a:pPr algn="ctr" eaLnBrk="1" hangingPunct="1">
              <a:lnSpc>
                <a:spcPts val="1000"/>
              </a:lnSpc>
              <a:spcBef>
                <a:spcPct val="0"/>
              </a:spcBef>
              <a:buFontTx/>
              <a:buNone/>
            </a:pPr>
            <a:r>
              <a:rPr lang="en-US" altLang="zh-CN" sz="1100" b="1" dirty="0">
                <a:ea typeface="微软雅黑" panose="020B0503020204020204" pitchFamily="34" charset="-122"/>
              </a:rPr>
              <a:t>T</a:t>
            </a:r>
          </a:p>
        </p:txBody>
      </p:sp>
      <p:sp>
        <p:nvSpPr>
          <p:cNvPr id="17" name="Text Box 2">
            <a:extLst>
              <a:ext uri="{FF2B5EF4-FFF2-40B4-BE49-F238E27FC236}">
                <a16:creationId xmlns:a16="http://schemas.microsoft.com/office/drawing/2014/main" id="{A49F916A-141C-BC9F-D09A-E5664B2EE0C7}"/>
              </a:ext>
            </a:extLst>
          </p:cNvPr>
          <p:cNvSpPr txBox="1">
            <a:spLocks noChangeArrowheads="1"/>
          </p:cNvSpPr>
          <p:nvPr/>
        </p:nvSpPr>
        <p:spPr bwMode="auto">
          <a:xfrm>
            <a:off x="1824643" y="3674282"/>
            <a:ext cx="1038618" cy="27699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      DSCP      </a:t>
            </a:r>
          </a:p>
        </p:txBody>
      </p:sp>
      <p:sp>
        <p:nvSpPr>
          <p:cNvPr id="18" name="Text Box 19">
            <a:extLst>
              <a:ext uri="{FF2B5EF4-FFF2-40B4-BE49-F238E27FC236}">
                <a16:creationId xmlns:a16="http://schemas.microsoft.com/office/drawing/2014/main" id="{4382BDF8-C6BB-3CEB-836A-02580C93180E}"/>
              </a:ext>
            </a:extLst>
          </p:cNvPr>
          <p:cNvSpPr txBox="1">
            <a:spLocks noChangeArrowheads="1"/>
          </p:cNvSpPr>
          <p:nvPr/>
        </p:nvSpPr>
        <p:spPr bwMode="auto">
          <a:xfrm>
            <a:off x="1411735" y="3353131"/>
            <a:ext cx="2423475"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位  </a:t>
            </a:r>
            <a:r>
              <a:rPr lang="en-US" altLang="zh-CN" sz="1200" b="1">
                <a:ea typeface="微软雅黑" panose="020B0503020204020204" pitchFamily="34" charset="-122"/>
              </a:rPr>
              <a:t>0                        5    6   7</a:t>
            </a:r>
          </a:p>
        </p:txBody>
      </p:sp>
      <p:sp>
        <p:nvSpPr>
          <p:cNvPr id="19" name="Text Box 3">
            <a:extLst>
              <a:ext uri="{FF2B5EF4-FFF2-40B4-BE49-F238E27FC236}">
                <a16:creationId xmlns:a16="http://schemas.microsoft.com/office/drawing/2014/main" id="{7BF5BE86-5954-82D2-AA05-FD2909AE4562}"/>
              </a:ext>
            </a:extLst>
          </p:cNvPr>
          <p:cNvSpPr txBox="1">
            <a:spLocks noChangeArrowheads="1"/>
          </p:cNvSpPr>
          <p:nvPr/>
        </p:nvSpPr>
        <p:spPr bwMode="auto">
          <a:xfrm>
            <a:off x="3244185" y="3633800"/>
            <a:ext cx="284719" cy="439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lnSpc>
                <a:spcPts val="1400"/>
              </a:lnSpc>
              <a:spcBef>
                <a:spcPct val="0"/>
              </a:spcBef>
              <a:buFontTx/>
              <a:buNone/>
            </a:pPr>
            <a:r>
              <a:rPr lang="en-US" altLang="zh-CN" sz="1100" b="1" dirty="0">
                <a:ea typeface="微软雅黑" panose="020B0503020204020204" pitchFamily="34" charset="-122"/>
              </a:rPr>
              <a:t>C</a:t>
            </a:r>
          </a:p>
          <a:p>
            <a:pPr algn="ctr" eaLnBrk="1" hangingPunct="1">
              <a:lnSpc>
                <a:spcPts val="1400"/>
              </a:lnSpc>
              <a:spcBef>
                <a:spcPct val="0"/>
              </a:spcBef>
              <a:buFontTx/>
              <a:buNone/>
            </a:pPr>
            <a:r>
              <a:rPr lang="en-US" altLang="zh-CN" sz="1100" b="1" dirty="0">
                <a:ea typeface="微软雅黑" panose="020B0503020204020204" pitchFamily="34" charset="-122"/>
              </a:rPr>
              <a:t>E</a:t>
            </a:r>
            <a:endParaRPr lang="en-US" altLang="zh-CN" sz="1200" b="1" dirty="0">
              <a:ea typeface="微软雅黑" panose="020B0503020204020204" pitchFamily="34" charset="-122"/>
            </a:endParaRPr>
          </a:p>
        </p:txBody>
      </p:sp>
      <p:sp>
        <p:nvSpPr>
          <p:cNvPr id="20" name="Text Box 21">
            <a:extLst>
              <a:ext uri="{FF2B5EF4-FFF2-40B4-BE49-F238E27FC236}">
                <a16:creationId xmlns:a16="http://schemas.microsoft.com/office/drawing/2014/main" id="{B6D4E771-D0A8-5D58-54A9-6DC301334D28}"/>
              </a:ext>
            </a:extLst>
          </p:cNvPr>
          <p:cNvSpPr txBox="1">
            <a:spLocks noChangeArrowheads="1"/>
          </p:cNvSpPr>
          <p:nvPr/>
        </p:nvSpPr>
        <p:spPr bwMode="auto">
          <a:xfrm>
            <a:off x="3458108" y="3283792"/>
            <a:ext cx="97559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dirty="0">
                <a:ea typeface="微软雅黑" panose="020B0503020204020204" pitchFamily="34" charset="-122"/>
              </a:rPr>
              <a:t>ECN </a:t>
            </a:r>
            <a:r>
              <a:rPr lang="zh-CN" altLang="en-US" sz="1200" b="1" dirty="0">
                <a:ea typeface="微软雅黑" panose="020B0503020204020204" pitchFamily="34" charset="-122"/>
              </a:rPr>
              <a:t>字段</a:t>
            </a:r>
            <a:endParaRPr lang="en-US" altLang="zh-CN" sz="1200" b="1" dirty="0">
              <a:ea typeface="微软雅黑" panose="020B0503020204020204" pitchFamily="34" charset="-122"/>
            </a:endParaRPr>
          </a:p>
        </p:txBody>
      </p:sp>
      <p:grpSp>
        <p:nvGrpSpPr>
          <p:cNvPr id="21" name="组合 20">
            <a:extLst>
              <a:ext uri="{FF2B5EF4-FFF2-40B4-BE49-F238E27FC236}">
                <a16:creationId xmlns:a16="http://schemas.microsoft.com/office/drawing/2014/main" id="{AD544F8F-F398-097D-CE71-02901B6F316F}"/>
              </a:ext>
            </a:extLst>
          </p:cNvPr>
          <p:cNvGrpSpPr>
            <a:grpSpLocks/>
          </p:cNvGrpSpPr>
          <p:nvPr/>
        </p:nvGrpSpPr>
        <p:grpSpPr bwMode="auto">
          <a:xfrm>
            <a:off x="1698402" y="4069648"/>
            <a:ext cx="1810860" cy="218599"/>
            <a:chOff x="1301750" y="1709738"/>
            <a:chExt cx="2130425" cy="339725"/>
          </a:xfrm>
        </p:grpSpPr>
        <p:sp>
          <p:nvSpPr>
            <p:cNvPr id="37" name="Line 10">
              <a:extLst>
                <a:ext uri="{FF2B5EF4-FFF2-40B4-BE49-F238E27FC236}">
                  <a16:creationId xmlns:a16="http://schemas.microsoft.com/office/drawing/2014/main" id="{07A3E865-49C0-585B-0587-E77D13EF4FE6}"/>
                </a:ext>
              </a:extLst>
            </p:cNvPr>
            <p:cNvSpPr>
              <a:spLocks noChangeShapeType="1"/>
            </p:cNvSpPr>
            <p:nvPr/>
          </p:nvSpPr>
          <p:spPr bwMode="auto">
            <a:xfrm>
              <a:off x="3432175" y="1709738"/>
              <a:ext cx="0" cy="3222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38" name="Line 10">
              <a:extLst>
                <a:ext uri="{FF2B5EF4-FFF2-40B4-BE49-F238E27FC236}">
                  <a16:creationId xmlns:a16="http://schemas.microsoft.com/office/drawing/2014/main" id="{BF5637F5-1EAF-5C6B-9789-9687F4A635F7}"/>
                </a:ext>
              </a:extLst>
            </p:cNvPr>
            <p:cNvSpPr>
              <a:spLocks noChangeShapeType="1"/>
            </p:cNvSpPr>
            <p:nvPr/>
          </p:nvSpPr>
          <p:spPr bwMode="auto">
            <a:xfrm>
              <a:off x="1301750" y="1727200"/>
              <a:ext cx="0" cy="322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grpSp>
      <p:sp>
        <p:nvSpPr>
          <p:cNvPr id="22" name="Line 20">
            <a:extLst>
              <a:ext uri="{FF2B5EF4-FFF2-40B4-BE49-F238E27FC236}">
                <a16:creationId xmlns:a16="http://schemas.microsoft.com/office/drawing/2014/main" id="{1548C30C-9C3D-ACAF-4BD5-7779351B27DF}"/>
              </a:ext>
            </a:extLst>
          </p:cNvPr>
          <p:cNvSpPr>
            <a:spLocks noChangeShapeType="1"/>
          </p:cNvSpPr>
          <p:nvPr/>
        </p:nvSpPr>
        <p:spPr bwMode="auto">
          <a:xfrm flipV="1">
            <a:off x="3499386" y="3513850"/>
            <a:ext cx="340041" cy="269875"/>
          </a:xfrm>
          <a:prstGeom prst="line">
            <a:avLst/>
          </a:prstGeom>
          <a:noFill/>
          <a:ln w="9525">
            <a:solidFill>
              <a:schemeClr val="tx1"/>
            </a:solidFill>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23" name="Text Box 21">
            <a:extLst>
              <a:ext uri="{FF2B5EF4-FFF2-40B4-BE49-F238E27FC236}">
                <a16:creationId xmlns:a16="http://schemas.microsoft.com/office/drawing/2014/main" id="{A1152078-F4C9-228B-699D-AAC6001C3B4F}"/>
              </a:ext>
            </a:extLst>
          </p:cNvPr>
          <p:cNvSpPr txBox="1">
            <a:spLocks noChangeArrowheads="1"/>
          </p:cNvSpPr>
          <p:nvPr/>
        </p:nvSpPr>
        <p:spPr bwMode="auto">
          <a:xfrm>
            <a:off x="2487185" y="4214031"/>
            <a:ext cx="4992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(a)</a:t>
            </a:r>
          </a:p>
        </p:txBody>
      </p:sp>
      <p:sp>
        <p:nvSpPr>
          <p:cNvPr id="24" name="Text Box 21">
            <a:extLst>
              <a:ext uri="{FF2B5EF4-FFF2-40B4-BE49-F238E27FC236}">
                <a16:creationId xmlns:a16="http://schemas.microsoft.com/office/drawing/2014/main" id="{9FA30C60-FA1E-9E31-8758-9AC5E32ED6F1}"/>
              </a:ext>
            </a:extLst>
          </p:cNvPr>
          <p:cNvSpPr txBox="1">
            <a:spLocks noChangeArrowheads="1"/>
          </p:cNvSpPr>
          <p:nvPr/>
        </p:nvSpPr>
        <p:spPr bwMode="auto">
          <a:xfrm>
            <a:off x="5921343" y="4215380"/>
            <a:ext cx="4992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(b)</a:t>
            </a:r>
          </a:p>
        </p:txBody>
      </p:sp>
      <p:sp>
        <p:nvSpPr>
          <p:cNvPr id="25" name="矩形 24">
            <a:extLst>
              <a:ext uri="{FF2B5EF4-FFF2-40B4-BE49-F238E27FC236}">
                <a16:creationId xmlns:a16="http://schemas.microsoft.com/office/drawing/2014/main" id="{EEDD6F7C-372F-4A9B-6D35-F30BCE154AB9}"/>
              </a:ext>
            </a:extLst>
          </p:cNvPr>
          <p:cNvSpPr>
            <a:spLocks noChangeArrowheads="1"/>
          </p:cNvSpPr>
          <p:nvPr/>
        </p:nvSpPr>
        <p:spPr bwMode="auto">
          <a:xfrm>
            <a:off x="2236202" y="4075045"/>
            <a:ext cx="696277" cy="245586"/>
          </a:xfrm>
          <a:prstGeom prst="rect">
            <a:avLst/>
          </a:prstGeom>
          <a:solidFill>
            <a:srgbClr val="C3E3F9"/>
          </a:solidFill>
          <a:ln>
            <a:noFill/>
          </a:ln>
        </p:spPr>
        <p:txBody>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endParaRPr lang="zh-CN" altLang="en-US" sz="1800" b="1">
              <a:ea typeface="微软雅黑" panose="020B0503020204020204" pitchFamily="34" charset="-122"/>
            </a:endParaRPr>
          </a:p>
        </p:txBody>
      </p:sp>
      <p:sp>
        <p:nvSpPr>
          <p:cNvPr id="26" name="Text Box 21">
            <a:extLst>
              <a:ext uri="{FF2B5EF4-FFF2-40B4-BE49-F238E27FC236}">
                <a16:creationId xmlns:a16="http://schemas.microsoft.com/office/drawing/2014/main" id="{4CCB78B9-B9FB-DF35-0CF4-8F72498D095D}"/>
              </a:ext>
            </a:extLst>
          </p:cNvPr>
          <p:cNvSpPr txBox="1">
            <a:spLocks noChangeArrowheads="1"/>
          </p:cNvSpPr>
          <p:nvPr/>
        </p:nvSpPr>
        <p:spPr bwMode="auto">
          <a:xfrm>
            <a:off x="2217310" y="4015673"/>
            <a:ext cx="120499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dirty="0">
                <a:ea typeface="微软雅黑" panose="020B0503020204020204" pitchFamily="34" charset="-122"/>
              </a:rPr>
              <a:t>DS </a:t>
            </a:r>
            <a:r>
              <a:rPr lang="zh-CN" altLang="en-US" sz="1200" b="1" dirty="0">
                <a:ea typeface="微软雅黑" panose="020B0503020204020204" pitchFamily="34" charset="-122"/>
              </a:rPr>
              <a:t>字段</a:t>
            </a:r>
            <a:endParaRPr lang="en-US" altLang="zh-CN" sz="1200" b="1" dirty="0">
              <a:ea typeface="微软雅黑" panose="020B0503020204020204" pitchFamily="34" charset="-122"/>
            </a:endParaRPr>
          </a:p>
        </p:txBody>
      </p:sp>
      <p:sp>
        <p:nvSpPr>
          <p:cNvPr id="27" name="Text Box 21">
            <a:extLst>
              <a:ext uri="{FF2B5EF4-FFF2-40B4-BE49-F238E27FC236}">
                <a16:creationId xmlns:a16="http://schemas.microsoft.com/office/drawing/2014/main" id="{1947974D-7703-5431-5F87-FF9E7F008E36}"/>
              </a:ext>
            </a:extLst>
          </p:cNvPr>
          <p:cNvSpPr txBox="1">
            <a:spLocks noChangeArrowheads="1"/>
          </p:cNvSpPr>
          <p:nvPr/>
        </p:nvSpPr>
        <p:spPr bwMode="auto">
          <a:xfrm>
            <a:off x="3318399" y="3102147"/>
            <a:ext cx="120499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显式拥塞通知</a:t>
            </a:r>
            <a:endParaRPr lang="en-US" altLang="zh-CN" sz="1200" b="1">
              <a:ea typeface="微软雅黑" panose="020B0503020204020204" pitchFamily="34" charset="-122"/>
            </a:endParaRPr>
          </a:p>
        </p:txBody>
      </p:sp>
      <p:sp>
        <p:nvSpPr>
          <p:cNvPr id="28" name="Text Box 21">
            <a:extLst>
              <a:ext uri="{FF2B5EF4-FFF2-40B4-BE49-F238E27FC236}">
                <a16:creationId xmlns:a16="http://schemas.microsoft.com/office/drawing/2014/main" id="{A8D561CA-A34E-1868-8DC3-5722D99A8D81}"/>
              </a:ext>
            </a:extLst>
          </p:cNvPr>
          <p:cNvSpPr txBox="1">
            <a:spLocks noChangeArrowheads="1"/>
          </p:cNvSpPr>
          <p:nvPr/>
        </p:nvSpPr>
        <p:spPr bwMode="auto">
          <a:xfrm>
            <a:off x="4832398" y="3102147"/>
            <a:ext cx="105790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ECN </a:t>
            </a:r>
            <a:r>
              <a:rPr lang="zh-CN" altLang="en-US" sz="1200" b="1">
                <a:ea typeface="微软雅黑" panose="020B0503020204020204" pitchFamily="34" charset="-122"/>
              </a:rPr>
              <a:t>字段</a:t>
            </a:r>
            <a:endParaRPr lang="en-US" altLang="zh-CN" sz="1200" b="1">
              <a:ea typeface="微软雅黑" panose="020B0503020204020204" pitchFamily="34" charset="-122"/>
            </a:endParaRPr>
          </a:p>
        </p:txBody>
      </p:sp>
      <p:cxnSp>
        <p:nvCxnSpPr>
          <p:cNvPr id="29" name="直接连接符 28">
            <a:extLst>
              <a:ext uri="{FF2B5EF4-FFF2-40B4-BE49-F238E27FC236}">
                <a16:creationId xmlns:a16="http://schemas.microsoft.com/office/drawing/2014/main" id="{287B32B7-A26A-0829-214F-1F6AAE047CF3}"/>
              </a:ext>
            </a:extLst>
          </p:cNvPr>
          <p:cNvCxnSpPr>
            <a:cxnSpLocks noChangeShapeType="1"/>
          </p:cNvCxnSpPr>
          <p:nvPr/>
        </p:nvCxnSpPr>
        <p:spPr bwMode="auto">
          <a:xfrm>
            <a:off x="4848591" y="3384166"/>
            <a:ext cx="2551667" cy="5397"/>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a:extLst>
              <a:ext uri="{FF2B5EF4-FFF2-40B4-BE49-F238E27FC236}">
                <a16:creationId xmlns:a16="http://schemas.microsoft.com/office/drawing/2014/main" id="{552E7B3A-D7BF-D689-9F7D-32413050C6BF}"/>
              </a:ext>
            </a:extLst>
          </p:cNvPr>
          <p:cNvCxnSpPr>
            <a:cxnSpLocks noChangeShapeType="1"/>
          </p:cNvCxnSpPr>
          <p:nvPr/>
        </p:nvCxnSpPr>
        <p:spPr bwMode="auto">
          <a:xfrm>
            <a:off x="4848591" y="4258560"/>
            <a:ext cx="2551667"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Text Box 21">
            <a:extLst>
              <a:ext uri="{FF2B5EF4-FFF2-40B4-BE49-F238E27FC236}">
                <a16:creationId xmlns:a16="http://schemas.microsoft.com/office/drawing/2014/main" id="{060FB1AC-0971-37E6-5335-D0489812328E}"/>
              </a:ext>
            </a:extLst>
          </p:cNvPr>
          <p:cNvSpPr txBox="1">
            <a:spLocks noChangeArrowheads="1"/>
          </p:cNvSpPr>
          <p:nvPr/>
        </p:nvSpPr>
        <p:spPr bwMode="auto">
          <a:xfrm>
            <a:off x="5525589" y="3377345"/>
            <a:ext cx="975597" cy="897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lnSpc>
                <a:spcPts val="1600"/>
              </a:lnSpc>
              <a:spcBef>
                <a:spcPct val="0"/>
              </a:spcBef>
              <a:buFontTx/>
              <a:buNone/>
            </a:pPr>
            <a:r>
              <a:rPr lang="en-US" altLang="zh-CN" sz="1200" b="1" dirty="0">
                <a:ea typeface="微软雅黑" panose="020B0503020204020204" pitchFamily="34" charset="-122"/>
              </a:rPr>
              <a:t>Non-ECT   </a:t>
            </a:r>
          </a:p>
          <a:p>
            <a:pPr algn="ctr" eaLnBrk="1" hangingPunct="1">
              <a:lnSpc>
                <a:spcPts val="1600"/>
              </a:lnSpc>
              <a:spcBef>
                <a:spcPct val="0"/>
              </a:spcBef>
              <a:buFontTx/>
              <a:buNone/>
            </a:pPr>
            <a:r>
              <a:rPr lang="en-US" altLang="zh-CN" sz="1200" b="1" dirty="0">
                <a:ea typeface="微软雅黑" panose="020B0503020204020204" pitchFamily="34" charset="-122"/>
              </a:rPr>
              <a:t>ECT(1)</a:t>
            </a:r>
          </a:p>
          <a:p>
            <a:pPr algn="ctr" eaLnBrk="1" hangingPunct="1">
              <a:lnSpc>
                <a:spcPts val="1600"/>
              </a:lnSpc>
              <a:spcBef>
                <a:spcPct val="0"/>
              </a:spcBef>
              <a:buFontTx/>
              <a:buNone/>
            </a:pPr>
            <a:r>
              <a:rPr lang="en-US" altLang="zh-CN" sz="1200" b="1" dirty="0">
                <a:ea typeface="微软雅黑" panose="020B0503020204020204" pitchFamily="34" charset="-122"/>
              </a:rPr>
              <a:t>ECT(0)</a:t>
            </a:r>
          </a:p>
          <a:p>
            <a:pPr algn="ctr" eaLnBrk="1" hangingPunct="1">
              <a:lnSpc>
                <a:spcPts val="1600"/>
              </a:lnSpc>
              <a:spcBef>
                <a:spcPct val="0"/>
              </a:spcBef>
              <a:buFontTx/>
              <a:buNone/>
            </a:pPr>
            <a:r>
              <a:rPr lang="en-US" altLang="zh-CN" sz="1200" b="1" dirty="0">
                <a:ea typeface="微软雅黑" panose="020B0503020204020204" pitchFamily="34" charset="-122"/>
              </a:rPr>
              <a:t>CE</a:t>
            </a:r>
          </a:p>
        </p:txBody>
      </p:sp>
      <p:sp>
        <p:nvSpPr>
          <p:cNvPr id="32" name="Text Box 21">
            <a:extLst>
              <a:ext uri="{FF2B5EF4-FFF2-40B4-BE49-F238E27FC236}">
                <a16:creationId xmlns:a16="http://schemas.microsoft.com/office/drawing/2014/main" id="{A450AF82-A65D-0CFB-1CF7-3F3E7204A69B}"/>
              </a:ext>
            </a:extLst>
          </p:cNvPr>
          <p:cNvSpPr txBox="1">
            <a:spLocks noChangeArrowheads="1"/>
          </p:cNvSpPr>
          <p:nvPr/>
        </p:nvSpPr>
        <p:spPr bwMode="auto">
          <a:xfrm>
            <a:off x="6625717" y="3102147"/>
            <a:ext cx="61396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意义</a:t>
            </a:r>
            <a:endParaRPr lang="en-US" altLang="zh-CN" sz="1200" b="1">
              <a:ea typeface="微软雅黑" panose="020B0503020204020204" pitchFamily="34" charset="-122"/>
            </a:endParaRPr>
          </a:p>
        </p:txBody>
      </p:sp>
      <p:sp>
        <p:nvSpPr>
          <p:cNvPr id="33" name="Text Box 21">
            <a:extLst>
              <a:ext uri="{FF2B5EF4-FFF2-40B4-BE49-F238E27FC236}">
                <a16:creationId xmlns:a16="http://schemas.microsoft.com/office/drawing/2014/main" id="{33CEC882-FBD1-B7F4-2E80-37037836B854}"/>
              </a:ext>
            </a:extLst>
          </p:cNvPr>
          <p:cNvSpPr txBox="1">
            <a:spLocks noChangeArrowheads="1"/>
          </p:cNvSpPr>
          <p:nvPr/>
        </p:nvSpPr>
        <p:spPr bwMode="auto">
          <a:xfrm>
            <a:off x="5768864" y="3102147"/>
            <a:ext cx="61396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名称</a:t>
            </a:r>
            <a:endParaRPr lang="en-US" altLang="zh-CN" sz="1200" b="1">
              <a:ea typeface="微软雅黑" panose="020B0503020204020204" pitchFamily="34" charset="-122"/>
            </a:endParaRPr>
          </a:p>
        </p:txBody>
      </p:sp>
      <p:cxnSp>
        <p:nvCxnSpPr>
          <p:cNvPr id="34" name="直接连接符 33">
            <a:extLst>
              <a:ext uri="{FF2B5EF4-FFF2-40B4-BE49-F238E27FC236}">
                <a16:creationId xmlns:a16="http://schemas.microsoft.com/office/drawing/2014/main" id="{D604838E-5AFA-7F58-41DB-1A3E783AA1C4}"/>
              </a:ext>
            </a:extLst>
          </p:cNvPr>
          <p:cNvCxnSpPr>
            <a:cxnSpLocks noChangeShapeType="1"/>
          </p:cNvCxnSpPr>
          <p:nvPr/>
        </p:nvCxnSpPr>
        <p:spPr bwMode="auto">
          <a:xfrm flipV="1">
            <a:off x="5644721" y="3384166"/>
            <a:ext cx="0" cy="851456"/>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34">
            <a:extLst>
              <a:ext uri="{FF2B5EF4-FFF2-40B4-BE49-F238E27FC236}">
                <a16:creationId xmlns:a16="http://schemas.microsoft.com/office/drawing/2014/main" id="{FCE26506-67B1-7F92-BD8A-4AF684D8E60B}"/>
              </a:ext>
            </a:extLst>
          </p:cNvPr>
          <p:cNvCxnSpPr>
            <a:cxnSpLocks noChangeShapeType="1"/>
          </p:cNvCxnSpPr>
          <p:nvPr/>
        </p:nvCxnSpPr>
        <p:spPr bwMode="auto">
          <a:xfrm flipV="1">
            <a:off x="6389576" y="3397660"/>
            <a:ext cx="0" cy="852805"/>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Text Box 19">
            <a:extLst>
              <a:ext uri="{FF2B5EF4-FFF2-40B4-BE49-F238E27FC236}">
                <a16:creationId xmlns:a16="http://schemas.microsoft.com/office/drawing/2014/main" id="{47A57108-841D-9336-F7BB-5DE68BD1901A}"/>
              </a:ext>
            </a:extLst>
          </p:cNvPr>
          <p:cNvSpPr txBox="1">
            <a:spLocks noChangeArrowheads="1"/>
          </p:cNvSpPr>
          <p:nvPr/>
        </p:nvSpPr>
        <p:spPr bwMode="auto">
          <a:xfrm>
            <a:off x="4922851" y="3403933"/>
            <a:ext cx="2731133" cy="86946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spcAft>
                <a:spcPts val="300"/>
              </a:spcAft>
              <a:buFontTx/>
              <a:buNone/>
            </a:pPr>
            <a:r>
              <a:rPr lang="en-US" altLang="zh-CN" sz="1200" b="1" dirty="0">
                <a:ea typeface="微软雅黑" panose="020B0503020204020204" pitchFamily="34" charset="-122"/>
              </a:rPr>
              <a:t>   0   0                           </a:t>
            </a:r>
            <a:r>
              <a:rPr lang="zh-CN" altLang="en-US" sz="1200" b="1" dirty="0">
                <a:ea typeface="微软雅黑" panose="020B0503020204020204" pitchFamily="34" charset="-122"/>
              </a:rPr>
              <a:t>不支持 </a:t>
            </a:r>
            <a:r>
              <a:rPr lang="en-US" altLang="zh-CN" sz="1200" b="1" dirty="0">
                <a:ea typeface="微软雅黑" panose="020B0503020204020204" pitchFamily="34" charset="-122"/>
              </a:rPr>
              <a:t>ECN</a:t>
            </a:r>
          </a:p>
          <a:p>
            <a:pPr eaLnBrk="1" hangingPunct="1">
              <a:spcBef>
                <a:spcPct val="0"/>
              </a:spcBef>
              <a:buFontTx/>
              <a:buNone/>
            </a:pPr>
            <a:r>
              <a:rPr lang="en-US" altLang="zh-CN" sz="1200" b="1" dirty="0">
                <a:ea typeface="微软雅黑" panose="020B0503020204020204" pitchFamily="34" charset="-122"/>
              </a:rPr>
              <a:t>   0   1                             </a:t>
            </a:r>
            <a:r>
              <a:rPr lang="zh-CN" altLang="en-US" sz="1200" b="1" dirty="0">
                <a:ea typeface="微软雅黑" panose="020B0503020204020204" pitchFamily="34" charset="-122"/>
              </a:rPr>
              <a:t>支持 </a:t>
            </a:r>
            <a:r>
              <a:rPr lang="en-US" altLang="zh-CN" sz="1200" b="1" dirty="0">
                <a:ea typeface="微软雅黑" panose="020B0503020204020204" pitchFamily="34" charset="-122"/>
              </a:rPr>
              <a:t>ECN</a:t>
            </a:r>
          </a:p>
          <a:p>
            <a:pPr eaLnBrk="1" hangingPunct="1">
              <a:spcBef>
                <a:spcPct val="0"/>
              </a:spcBef>
              <a:buFontTx/>
              <a:buNone/>
            </a:pPr>
            <a:r>
              <a:rPr lang="en-US" altLang="zh-CN" sz="1200" b="1" dirty="0">
                <a:ea typeface="微软雅黑" panose="020B0503020204020204" pitchFamily="34" charset="-122"/>
              </a:rPr>
              <a:t>   1   0                             </a:t>
            </a:r>
            <a:r>
              <a:rPr lang="zh-CN" altLang="en-US" sz="1200" b="1" dirty="0">
                <a:ea typeface="微软雅黑" panose="020B0503020204020204" pitchFamily="34" charset="-122"/>
              </a:rPr>
              <a:t>支持 </a:t>
            </a:r>
            <a:r>
              <a:rPr lang="en-US" altLang="zh-CN" sz="1200" b="1" dirty="0">
                <a:ea typeface="微软雅黑" panose="020B0503020204020204" pitchFamily="34" charset="-122"/>
              </a:rPr>
              <a:t>ECN</a:t>
            </a:r>
          </a:p>
          <a:p>
            <a:pPr eaLnBrk="1" hangingPunct="1">
              <a:spcBef>
                <a:spcPct val="0"/>
              </a:spcBef>
              <a:buFontTx/>
              <a:buNone/>
            </a:pPr>
            <a:r>
              <a:rPr lang="en-US" altLang="zh-CN" sz="1200" b="1" dirty="0">
                <a:ea typeface="微软雅黑" panose="020B0503020204020204" pitchFamily="34" charset="-122"/>
              </a:rPr>
              <a:t>   1   1                            </a:t>
            </a:r>
            <a:r>
              <a:rPr lang="zh-CN" altLang="en-US" sz="1200" b="1" dirty="0">
                <a:ea typeface="微软雅黑" panose="020B0503020204020204" pitchFamily="34" charset="-122"/>
              </a:rPr>
              <a:t>已经历拥塞</a:t>
            </a:r>
            <a:endParaRPr lang="en-US" altLang="zh-CN" sz="1200" b="1" dirty="0">
              <a:ea typeface="微软雅黑" panose="020B0503020204020204" pitchFamily="34" charset="-122"/>
            </a:endParaRPr>
          </a:p>
        </p:txBody>
      </p:sp>
    </p:spTree>
    <p:extLst>
      <p:ext uri="{BB962C8B-B14F-4D97-AF65-F5344CB8AC3E}">
        <p14:creationId xmlns:p14="http://schemas.microsoft.com/office/powerpoint/2010/main" val="3712558961"/>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322C6-14C2-8E36-DF44-9E7BA7E83681}"/>
            </a:ext>
          </a:extLst>
        </p:cNvPr>
        <p:cNvGrpSpPr/>
        <p:nvPr/>
      </p:nvGrpSpPr>
      <p:grpSpPr>
        <a:xfrm>
          <a:off x="0" y="0"/>
          <a:ext cx="0" cy="0"/>
          <a:chOff x="0" y="0"/>
          <a:chExt cx="0" cy="0"/>
        </a:xfrm>
      </p:grpSpPr>
      <p:sp>
        <p:nvSpPr>
          <p:cNvPr id="39" name="圆角矩形 37">
            <a:extLst>
              <a:ext uri="{FF2B5EF4-FFF2-40B4-BE49-F238E27FC236}">
                <a16:creationId xmlns:a16="http://schemas.microsoft.com/office/drawing/2014/main" id="{CBCAF58E-D1C3-8671-B980-8795CB577151}"/>
              </a:ext>
            </a:extLst>
          </p:cNvPr>
          <p:cNvSpPr/>
          <p:nvPr/>
        </p:nvSpPr>
        <p:spPr>
          <a:xfrm>
            <a:off x="1091322" y="2915266"/>
            <a:ext cx="6961355" cy="162908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AutoShape 5">
            <a:extLst>
              <a:ext uri="{FF2B5EF4-FFF2-40B4-BE49-F238E27FC236}">
                <a16:creationId xmlns:a16="http://schemas.microsoft.com/office/drawing/2014/main" id="{AFB75A25-B40C-E3F7-41BF-61EECCDEF6CC}"/>
              </a:ext>
            </a:extLst>
          </p:cNvPr>
          <p:cNvSpPr>
            <a:spLocks noChangeArrowheads="1"/>
          </p:cNvSpPr>
          <p:nvPr/>
        </p:nvSpPr>
        <p:spPr bwMode="auto">
          <a:xfrm>
            <a:off x="545143" y="625919"/>
            <a:ext cx="8053711" cy="357839"/>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a:extLst>
              <a:ext uri="{FF2B5EF4-FFF2-40B4-BE49-F238E27FC236}">
                <a16:creationId xmlns:a16="http://schemas.microsoft.com/office/drawing/2014/main" id="{0B631B14-89A5-BA60-EB00-AEC02BE53D85}"/>
              </a:ext>
            </a:extLst>
          </p:cNvPr>
          <p:cNvSpPr>
            <a:spLocks noChangeArrowheads="1"/>
          </p:cNvSpPr>
          <p:nvPr/>
        </p:nvSpPr>
        <p:spPr bwMode="auto">
          <a:xfrm>
            <a:off x="3248567" y="599146"/>
            <a:ext cx="264687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显式拥塞通知</a:t>
            </a:r>
            <a:r>
              <a:rPr lang="en-US" altLang="zh-CN" sz="2000" b="1" dirty="0">
                <a:solidFill>
                  <a:schemeClr val="bg1"/>
                </a:solidFill>
                <a:latin typeface="微软雅黑" pitchFamily="34" charset="-122"/>
                <a:ea typeface="微软雅黑" pitchFamily="34" charset="-122"/>
              </a:rPr>
              <a:t>ECN </a:t>
            </a:r>
            <a:endParaRPr lang="zh-CN" altLang="en-US" sz="2000" b="1" dirty="0">
              <a:solidFill>
                <a:schemeClr val="bg1"/>
              </a:solidFill>
              <a:latin typeface="微软雅黑" pitchFamily="34" charset="-122"/>
              <a:ea typeface="微软雅黑" pitchFamily="34" charset="-122"/>
            </a:endParaRPr>
          </a:p>
        </p:txBody>
      </p:sp>
      <p:sp>
        <p:nvSpPr>
          <p:cNvPr id="4" name="Rectangle 8">
            <a:extLst>
              <a:ext uri="{FF2B5EF4-FFF2-40B4-BE49-F238E27FC236}">
                <a16:creationId xmlns:a16="http://schemas.microsoft.com/office/drawing/2014/main" id="{8EAFE8B0-EACC-B437-8854-D6C064FBB6C7}"/>
              </a:ext>
            </a:extLst>
          </p:cNvPr>
          <p:cNvSpPr>
            <a:spLocks noChangeArrowheads="1"/>
          </p:cNvSpPr>
          <p:nvPr/>
        </p:nvSpPr>
        <p:spPr bwMode="auto">
          <a:xfrm>
            <a:off x="545143" y="1029517"/>
            <a:ext cx="8053711" cy="1589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en-US" altLang="zh-CN" b="1" dirty="0">
                <a:latin typeface="微软雅黑" pitchFamily="34" charset="-122"/>
                <a:ea typeface="微软雅黑" pitchFamily="34" charset="-122"/>
              </a:rPr>
              <a:t>ECN</a:t>
            </a:r>
            <a:r>
              <a:rPr lang="zh-CN" altLang="en-US" b="1" dirty="0">
                <a:latin typeface="微软雅黑" pitchFamily="34" charset="-122"/>
                <a:ea typeface="微软雅黑" pitchFamily="34" charset="-122"/>
              </a:rPr>
              <a:t>的使用是在</a:t>
            </a:r>
            <a:r>
              <a:rPr lang="en-US" altLang="zh-CN" b="1" dirty="0">
                <a:latin typeface="微软雅黑" pitchFamily="34" charset="-122"/>
                <a:ea typeface="微软雅黑" pitchFamily="34" charset="-122"/>
              </a:rPr>
              <a:t>TCP</a:t>
            </a:r>
            <a:r>
              <a:rPr lang="zh-CN" altLang="en-US" b="1" dirty="0">
                <a:latin typeface="微软雅黑" pitchFamily="34" charset="-122"/>
                <a:ea typeface="微软雅黑" pitchFamily="34" charset="-122"/>
              </a:rPr>
              <a:t>连接建立阶段就要确定的。</a:t>
            </a:r>
            <a:endParaRPr lang="en-US" altLang="zh-CN"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需要使用</a:t>
            </a:r>
            <a:r>
              <a:rPr lang="en-US" altLang="zh-CN" b="1" dirty="0">
                <a:latin typeface="微软雅黑" pitchFamily="34" charset="-122"/>
                <a:ea typeface="微软雅黑" pitchFamily="34" charset="-122"/>
              </a:rPr>
              <a:t>TCP</a:t>
            </a:r>
            <a:r>
              <a:rPr lang="zh-CN" altLang="en-US" b="1" dirty="0">
                <a:latin typeface="微软雅黑" pitchFamily="34" charset="-122"/>
                <a:ea typeface="微软雅黑" pitchFamily="34" charset="-122"/>
              </a:rPr>
              <a:t>首部的控制位</a:t>
            </a:r>
            <a:r>
              <a:rPr lang="zh-CN" altLang="en-US" b="1" dirty="0">
                <a:solidFill>
                  <a:srgbClr val="C00000"/>
                </a:solidFill>
                <a:latin typeface="微软雅黑" pitchFamily="34" charset="-122"/>
                <a:ea typeface="微软雅黑" pitchFamily="34" charset="-122"/>
              </a:rPr>
              <a:t>显式拥塞通知回显</a:t>
            </a:r>
            <a:r>
              <a:rPr lang="en-US" altLang="zh-CN" b="1" dirty="0">
                <a:solidFill>
                  <a:srgbClr val="C00000"/>
                </a:solidFill>
                <a:latin typeface="微软雅黑" pitchFamily="34" charset="-122"/>
                <a:ea typeface="微软雅黑" pitchFamily="34" charset="-122"/>
              </a:rPr>
              <a:t>ECE</a:t>
            </a:r>
            <a:r>
              <a:rPr lang="en-US" altLang="zh-CN" b="1" dirty="0">
                <a:latin typeface="微软雅黑" pitchFamily="34" charset="-122"/>
                <a:ea typeface="微软雅黑" pitchFamily="34" charset="-122"/>
              </a:rPr>
              <a:t> (Explicit Congestion Notification Echo)</a:t>
            </a:r>
            <a:r>
              <a:rPr lang="zh-CN" altLang="en-US" b="1" dirty="0">
                <a:latin typeface="微软雅黑" pitchFamily="34" charset="-122"/>
                <a:ea typeface="微软雅黑" pitchFamily="34" charset="-122"/>
              </a:rPr>
              <a:t>和</a:t>
            </a:r>
            <a:r>
              <a:rPr lang="zh-CN" altLang="en-US" b="1" dirty="0">
                <a:solidFill>
                  <a:srgbClr val="C00000"/>
                </a:solidFill>
                <a:latin typeface="微软雅黑" pitchFamily="34" charset="-122"/>
                <a:ea typeface="微软雅黑" pitchFamily="34" charset="-122"/>
              </a:rPr>
              <a:t>拥塞窗口已减小</a:t>
            </a:r>
            <a:r>
              <a:rPr lang="en-US" altLang="zh-CN" b="1" dirty="0">
                <a:solidFill>
                  <a:srgbClr val="C00000"/>
                </a:solidFill>
                <a:latin typeface="微软雅黑" pitchFamily="34" charset="-122"/>
                <a:ea typeface="微软雅黑" pitchFamily="34" charset="-122"/>
              </a:rPr>
              <a:t>CWR </a:t>
            </a:r>
            <a:r>
              <a:rPr lang="en-US" altLang="zh-CN" b="1" dirty="0">
                <a:latin typeface="微软雅黑" pitchFamily="34" charset="-122"/>
                <a:ea typeface="微软雅黑" pitchFamily="34" charset="-122"/>
              </a:rPr>
              <a:t>(Congestion Window Reduced)</a:t>
            </a:r>
            <a:r>
              <a:rPr lang="zh-CN" altLang="en-US" b="1" dirty="0">
                <a:latin typeface="微软雅黑" pitchFamily="34" charset="-122"/>
                <a:ea typeface="微软雅黑" pitchFamily="34" charset="-122"/>
              </a:rPr>
              <a:t>。</a:t>
            </a:r>
          </a:p>
        </p:txBody>
      </p:sp>
      <p:sp>
        <p:nvSpPr>
          <p:cNvPr id="6" name="Rectangle 4">
            <a:extLst>
              <a:ext uri="{FF2B5EF4-FFF2-40B4-BE49-F238E27FC236}">
                <a16:creationId xmlns:a16="http://schemas.microsoft.com/office/drawing/2014/main" id="{DA3EB90C-8557-3182-6829-C1881F6347C1}"/>
              </a:ext>
            </a:extLst>
          </p:cNvPr>
          <p:cNvSpPr>
            <a:spLocks noChangeArrowheads="1"/>
          </p:cNvSpPr>
          <p:nvPr/>
        </p:nvSpPr>
        <p:spPr bwMode="auto">
          <a:xfrm>
            <a:off x="1695104" y="3589271"/>
            <a:ext cx="1805463" cy="453390"/>
          </a:xfrm>
          <a:prstGeom prst="rect">
            <a:avLst/>
          </a:prstGeom>
          <a:solidFill>
            <a:schemeClr val="bg1"/>
          </a:solidFill>
          <a:ln w="9525">
            <a:solidFill>
              <a:schemeClr val="tx1"/>
            </a:solidFill>
            <a:miter lim="800000"/>
            <a:headEnd/>
            <a:tailEnd/>
          </a:ln>
          <a:effectLst/>
        </p:spPr>
        <p:txBody>
          <a:bodyPr wrap="none" anchor="ct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endParaRPr lang="zh-CN" altLang="en-US" sz="1800" b="1">
              <a:ea typeface="微软雅黑" panose="020B0503020204020204" pitchFamily="34" charset="-122"/>
            </a:endParaRPr>
          </a:p>
        </p:txBody>
      </p:sp>
      <p:sp>
        <p:nvSpPr>
          <p:cNvPr id="7" name="矩形 6">
            <a:extLst>
              <a:ext uri="{FF2B5EF4-FFF2-40B4-BE49-F238E27FC236}">
                <a16:creationId xmlns:a16="http://schemas.microsoft.com/office/drawing/2014/main" id="{B84C9030-0077-C687-6697-8864C4D89A21}"/>
              </a:ext>
            </a:extLst>
          </p:cNvPr>
          <p:cNvSpPr>
            <a:spLocks noChangeArrowheads="1"/>
          </p:cNvSpPr>
          <p:nvPr/>
        </p:nvSpPr>
        <p:spPr bwMode="auto">
          <a:xfrm>
            <a:off x="3049875" y="3589493"/>
            <a:ext cx="445293" cy="453390"/>
          </a:xfrm>
          <a:prstGeom prst="rect">
            <a:avLst/>
          </a:prstGeom>
          <a:solidFill>
            <a:srgbClr val="FFFF00"/>
          </a:solidFill>
          <a:ln w="28575" algn="ctr">
            <a:solidFill>
              <a:srgbClr val="FF0000"/>
            </a:solidFill>
            <a:round/>
            <a:headEnd/>
            <a:tailEnd/>
          </a:ln>
        </p:spPr>
        <p:txBody>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endParaRPr lang="zh-CN" altLang="en-US" sz="1800" b="1">
              <a:ea typeface="微软雅黑" panose="020B0503020204020204" pitchFamily="34" charset="-122"/>
            </a:endParaRPr>
          </a:p>
        </p:txBody>
      </p:sp>
      <p:sp>
        <p:nvSpPr>
          <p:cNvPr id="8" name="Line 20">
            <a:extLst>
              <a:ext uri="{FF2B5EF4-FFF2-40B4-BE49-F238E27FC236}">
                <a16:creationId xmlns:a16="http://schemas.microsoft.com/office/drawing/2014/main" id="{58E310B1-A439-E835-ADEE-F876E0E167D3}"/>
              </a:ext>
            </a:extLst>
          </p:cNvPr>
          <p:cNvSpPr>
            <a:spLocks noChangeShapeType="1"/>
          </p:cNvSpPr>
          <p:nvPr/>
        </p:nvSpPr>
        <p:spPr bwMode="auto">
          <a:xfrm flipV="1">
            <a:off x="1707248" y="4161405"/>
            <a:ext cx="1781174" cy="17542"/>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9" name="Line 5">
            <a:extLst>
              <a:ext uri="{FF2B5EF4-FFF2-40B4-BE49-F238E27FC236}">
                <a16:creationId xmlns:a16="http://schemas.microsoft.com/office/drawing/2014/main" id="{3763054F-EC08-B601-41C5-C8FD195FE81B}"/>
              </a:ext>
            </a:extLst>
          </p:cNvPr>
          <p:cNvSpPr>
            <a:spLocks noChangeShapeType="1"/>
          </p:cNvSpPr>
          <p:nvPr/>
        </p:nvSpPr>
        <p:spPr bwMode="auto">
          <a:xfrm>
            <a:off x="1920449"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0" name="Line 6">
            <a:extLst>
              <a:ext uri="{FF2B5EF4-FFF2-40B4-BE49-F238E27FC236}">
                <a16:creationId xmlns:a16="http://schemas.microsoft.com/office/drawing/2014/main" id="{95F9D1A6-E2A3-1976-D5B0-0A5E9F68E4F3}"/>
              </a:ext>
            </a:extLst>
          </p:cNvPr>
          <p:cNvSpPr>
            <a:spLocks noChangeShapeType="1"/>
          </p:cNvSpPr>
          <p:nvPr/>
        </p:nvSpPr>
        <p:spPr bwMode="auto">
          <a:xfrm>
            <a:off x="2147143"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1" name="Line 7">
            <a:extLst>
              <a:ext uri="{FF2B5EF4-FFF2-40B4-BE49-F238E27FC236}">
                <a16:creationId xmlns:a16="http://schemas.microsoft.com/office/drawing/2014/main" id="{8FE6089F-A587-43DA-DD56-477E08379947}"/>
              </a:ext>
            </a:extLst>
          </p:cNvPr>
          <p:cNvSpPr>
            <a:spLocks noChangeShapeType="1"/>
          </p:cNvSpPr>
          <p:nvPr/>
        </p:nvSpPr>
        <p:spPr bwMode="auto">
          <a:xfrm>
            <a:off x="2372489"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2" name="Line 8">
            <a:extLst>
              <a:ext uri="{FF2B5EF4-FFF2-40B4-BE49-F238E27FC236}">
                <a16:creationId xmlns:a16="http://schemas.microsoft.com/office/drawing/2014/main" id="{2482EBA4-48E5-3FCA-AA37-F4D713A5FD6E}"/>
              </a:ext>
            </a:extLst>
          </p:cNvPr>
          <p:cNvSpPr>
            <a:spLocks noChangeShapeType="1"/>
          </p:cNvSpPr>
          <p:nvPr/>
        </p:nvSpPr>
        <p:spPr bwMode="auto">
          <a:xfrm>
            <a:off x="2597834"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3" name="Line 9">
            <a:extLst>
              <a:ext uri="{FF2B5EF4-FFF2-40B4-BE49-F238E27FC236}">
                <a16:creationId xmlns:a16="http://schemas.microsoft.com/office/drawing/2014/main" id="{18E12087-A7C7-45EE-96FB-1D1DFB676E32}"/>
              </a:ext>
            </a:extLst>
          </p:cNvPr>
          <p:cNvSpPr>
            <a:spLocks noChangeShapeType="1"/>
          </p:cNvSpPr>
          <p:nvPr/>
        </p:nvSpPr>
        <p:spPr bwMode="auto">
          <a:xfrm>
            <a:off x="2823180"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4" name="Line 10">
            <a:extLst>
              <a:ext uri="{FF2B5EF4-FFF2-40B4-BE49-F238E27FC236}">
                <a16:creationId xmlns:a16="http://schemas.microsoft.com/office/drawing/2014/main" id="{FF2CD07E-8B74-2AD6-9C4C-6FEAF5DC6320}"/>
              </a:ext>
            </a:extLst>
          </p:cNvPr>
          <p:cNvSpPr>
            <a:spLocks noChangeShapeType="1"/>
          </p:cNvSpPr>
          <p:nvPr/>
        </p:nvSpPr>
        <p:spPr bwMode="auto">
          <a:xfrm>
            <a:off x="3049875"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5" name="Line 11">
            <a:extLst>
              <a:ext uri="{FF2B5EF4-FFF2-40B4-BE49-F238E27FC236}">
                <a16:creationId xmlns:a16="http://schemas.microsoft.com/office/drawing/2014/main" id="{E09A4993-FB7B-9DAC-4335-A13B7EAF99E9}"/>
              </a:ext>
            </a:extLst>
          </p:cNvPr>
          <p:cNvSpPr>
            <a:spLocks noChangeShapeType="1"/>
          </p:cNvSpPr>
          <p:nvPr/>
        </p:nvSpPr>
        <p:spPr bwMode="auto">
          <a:xfrm>
            <a:off x="3275220"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6" name="Text Box 3">
            <a:extLst>
              <a:ext uri="{FF2B5EF4-FFF2-40B4-BE49-F238E27FC236}">
                <a16:creationId xmlns:a16="http://schemas.microsoft.com/office/drawing/2014/main" id="{2B2333AF-2DBF-DEFE-BA6C-F07E6DBA27D9}"/>
              </a:ext>
            </a:extLst>
          </p:cNvPr>
          <p:cNvSpPr txBox="1">
            <a:spLocks noChangeArrowheads="1"/>
          </p:cNvSpPr>
          <p:nvPr/>
        </p:nvSpPr>
        <p:spPr bwMode="auto">
          <a:xfrm>
            <a:off x="3027176" y="3602733"/>
            <a:ext cx="288766" cy="478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lnSpc>
                <a:spcPts val="1000"/>
              </a:lnSpc>
              <a:spcBef>
                <a:spcPct val="0"/>
              </a:spcBef>
              <a:buFontTx/>
              <a:buNone/>
            </a:pPr>
            <a:r>
              <a:rPr lang="en-US" altLang="zh-CN" sz="1100" b="1" dirty="0">
                <a:ea typeface="微软雅黑" panose="020B0503020204020204" pitchFamily="34" charset="-122"/>
              </a:rPr>
              <a:t>E</a:t>
            </a:r>
          </a:p>
          <a:p>
            <a:pPr algn="ctr" eaLnBrk="1" hangingPunct="1">
              <a:lnSpc>
                <a:spcPts val="1000"/>
              </a:lnSpc>
              <a:spcBef>
                <a:spcPct val="0"/>
              </a:spcBef>
              <a:buFontTx/>
              <a:buNone/>
            </a:pPr>
            <a:r>
              <a:rPr lang="en-US" altLang="zh-CN" sz="1100" b="1" dirty="0">
                <a:ea typeface="微软雅黑" panose="020B0503020204020204" pitchFamily="34" charset="-122"/>
              </a:rPr>
              <a:t>C</a:t>
            </a:r>
          </a:p>
          <a:p>
            <a:pPr algn="ctr" eaLnBrk="1" hangingPunct="1">
              <a:lnSpc>
                <a:spcPts val="1000"/>
              </a:lnSpc>
              <a:spcBef>
                <a:spcPct val="0"/>
              </a:spcBef>
              <a:buFontTx/>
              <a:buNone/>
            </a:pPr>
            <a:r>
              <a:rPr lang="en-US" altLang="zh-CN" sz="1100" b="1" dirty="0">
                <a:ea typeface="微软雅黑" panose="020B0503020204020204" pitchFamily="34" charset="-122"/>
              </a:rPr>
              <a:t>T</a:t>
            </a:r>
          </a:p>
        </p:txBody>
      </p:sp>
      <p:sp>
        <p:nvSpPr>
          <p:cNvPr id="17" name="Text Box 2">
            <a:extLst>
              <a:ext uri="{FF2B5EF4-FFF2-40B4-BE49-F238E27FC236}">
                <a16:creationId xmlns:a16="http://schemas.microsoft.com/office/drawing/2014/main" id="{F8D08C13-B239-0DC3-66DD-B27FDC067B3B}"/>
              </a:ext>
            </a:extLst>
          </p:cNvPr>
          <p:cNvSpPr txBox="1">
            <a:spLocks noChangeArrowheads="1"/>
          </p:cNvSpPr>
          <p:nvPr/>
        </p:nvSpPr>
        <p:spPr bwMode="auto">
          <a:xfrm>
            <a:off x="1824643" y="3674282"/>
            <a:ext cx="1038618" cy="27699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      DSCP      </a:t>
            </a:r>
          </a:p>
        </p:txBody>
      </p:sp>
      <p:sp>
        <p:nvSpPr>
          <p:cNvPr id="18" name="Text Box 19">
            <a:extLst>
              <a:ext uri="{FF2B5EF4-FFF2-40B4-BE49-F238E27FC236}">
                <a16:creationId xmlns:a16="http://schemas.microsoft.com/office/drawing/2014/main" id="{260E7C2D-9D0A-49F5-2023-B1F5BE6529A7}"/>
              </a:ext>
            </a:extLst>
          </p:cNvPr>
          <p:cNvSpPr txBox="1">
            <a:spLocks noChangeArrowheads="1"/>
          </p:cNvSpPr>
          <p:nvPr/>
        </p:nvSpPr>
        <p:spPr bwMode="auto">
          <a:xfrm>
            <a:off x="1411735" y="3353131"/>
            <a:ext cx="2423475"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位  </a:t>
            </a:r>
            <a:r>
              <a:rPr lang="en-US" altLang="zh-CN" sz="1200" b="1">
                <a:ea typeface="微软雅黑" panose="020B0503020204020204" pitchFamily="34" charset="-122"/>
              </a:rPr>
              <a:t>0                        5    6   7</a:t>
            </a:r>
          </a:p>
        </p:txBody>
      </p:sp>
      <p:sp>
        <p:nvSpPr>
          <p:cNvPr id="19" name="Text Box 3">
            <a:extLst>
              <a:ext uri="{FF2B5EF4-FFF2-40B4-BE49-F238E27FC236}">
                <a16:creationId xmlns:a16="http://schemas.microsoft.com/office/drawing/2014/main" id="{0276F0DE-71FB-4080-A181-36BF214C345B}"/>
              </a:ext>
            </a:extLst>
          </p:cNvPr>
          <p:cNvSpPr txBox="1">
            <a:spLocks noChangeArrowheads="1"/>
          </p:cNvSpPr>
          <p:nvPr/>
        </p:nvSpPr>
        <p:spPr bwMode="auto">
          <a:xfrm>
            <a:off x="3244185" y="3633800"/>
            <a:ext cx="284719" cy="439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lnSpc>
                <a:spcPts val="1400"/>
              </a:lnSpc>
              <a:spcBef>
                <a:spcPct val="0"/>
              </a:spcBef>
              <a:buFontTx/>
              <a:buNone/>
            </a:pPr>
            <a:r>
              <a:rPr lang="en-US" altLang="zh-CN" sz="1100" b="1" dirty="0">
                <a:ea typeface="微软雅黑" panose="020B0503020204020204" pitchFamily="34" charset="-122"/>
              </a:rPr>
              <a:t>C</a:t>
            </a:r>
          </a:p>
          <a:p>
            <a:pPr algn="ctr" eaLnBrk="1" hangingPunct="1">
              <a:lnSpc>
                <a:spcPts val="1400"/>
              </a:lnSpc>
              <a:spcBef>
                <a:spcPct val="0"/>
              </a:spcBef>
              <a:buFontTx/>
              <a:buNone/>
            </a:pPr>
            <a:r>
              <a:rPr lang="en-US" altLang="zh-CN" sz="1100" b="1" dirty="0">
                <a:ea typeface="微软雅黑" panose="020B0503020204020204" pitchFamily="34" charset="-122"/>
              </a:rPr>
              <a:t>E</a:t>
            </a:r>
            <a:endParaRPr lang="en-US" altLang="zh-CN" sz="1200" b="1" dirty="0">
              <a:ea typeface="微软雅黑" panose="020B0503020204020204" pitchFamily="34" charset="-122"/>
            </a:endParaRPr>
          </a:p>
        </p:txBody>
      </p:sp>
      <p:sp>
        <p:nvSpPr>
          <p:cNvPr id="20" name="Text Box 21">
            <a:extLst>
              <a:ext uri="{FF2B5EF4-FFF2-40B4-BE49-F238E27FC236}">
                <a16:creationId xmlns:a16="http://schemas.microsoft.com/office/drawing/2014/main" id="{CCFFC003-30BD-6BC8-B597-C3053A48F676}"/>
              </a:ext>
            </a:extLst>
          </p:cNvPr>
          <p:cNvSpPr txBox="1">
            <a:spLocks noChangeArrowheads="1"/>
          </p:cNvSpPr>
          <p:nvPr/>
        </p:nvSpPr>
        <p:spPr bwMode="auto">
          <a:xfrm>
            <a:off x="3458108" y="3283792"/>
            <a:ext cx="97559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dirty="0">
                <a:ea typeface="微软雅黑" panose="020B0503020204020204" pitchFamily="34" charset="-122"/>
              </a:rPr>
              <a:t>ECN </a:t>
            </a:r>
            <a:r>
              <a:rPr lang="zh-CN" altLang="en-US" sz="1200" b="1" dirty="0">
                <a:ea typeface="微软雅黑" panose="020B0503020204020204" pitchFamily="34" charset="-122"/>
              </a:rPr>
              <a:t>字段</a:t>
            </a:r>
            <a:endParaRPr lang="en-US" altLang="zh-CN" sz="1200" b="1" dirty="0">
              <a:ea typeface="微软雅黑" panose="020B0503020204020204" pitchFamily="34" charset="-122"/>
            </a:endParaRPr>
          </a:p>
        </p:txBody>
      </p:sp>
      <p:grpSp>
        <p:nvGrpSpPr>
          <p:cNvPr id="21" name="组合 20">
            <a:extLst>
              <a:ext uri="{FF2B5EF4-FFF2-40B4-BE49-F238E27FC236}">
                <a16:creationId xmlns:a16="http://schemas.microsoft.com/office/drawing/2014/main" id="{6435E97E-B85D-6A44-DF9E-7C9EBE90D5C6}"/>
              </a:ext>
            </a:extLst>
          </p:cNvPr>
          <p:cNvGrpSpPr>
            <a:grpSpLocks/>
          </p:cNvGrpSpPr>
          <p:nvPr/>
        </p:nvGrpSpPr>
        <p:grpSpPr bwMode="auto">
          <a:xfrm>
            <a:off x="1698402" y="4069648"/>
            <a:ext cx="1810860" cy="218599"/>
            <a:chOff x="1301750" y="1709738"/>
            <a:chExt cx="2130425" cy="339725"/>
          </a:xfrm>
        </p:grpSpPr>
        <p:sp>
          <p:nvSpPr>
            <p:cNvPr id="37" name="Line 10">
              <a:extLst>
                <a:ext uri="{FF2B5EF4-FFF2-40B4-BE49-F238E27FC236}">
                  <a16:creationId xmlns:a16="http://schemas.microsoft.com/office/drawing/2014/main" id="{C5C1C7C0-EB2E-81C7-F3C1-CA45494D6C8A}"/>
                </a:ext>
              </a:extLst>
            </p:cNvPr>
            <p:cNvSpPr>
              <a:spLocks noChangeShapeType="1"/>
            </p:cNvSpPr>
            <p:nvPr/>
          </p:nvSpPr>
          <p:spPr bwMode="auto">
            <a:xfrm>
              <a:off x="3432175" y="1709738"/>
              <a:ext cx="0" cy="3222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38" name="Line 10">
              <a:extLst>
                <a:ext uri="{FF2B5EF4-FFF2-40B4-BE49-F238E27FC236}">
                  <a16:creationId xmlns:a16="http://schemas.microsoft.com/office/drawing/2014/main" id="{D4159FA2-3DE8-8D43-61E6-FA71BCC6CEC9}"/>
                </a:ext>
              </a:extLst>
            </p:cNvPr>
            <p:cNvSpPr>
              <a:spLocks noChangeShapeType="1"/>
            </p:cNvSpPr>
            <p:nvPr/>
          </p:nvSpPr>
          <p:spPr bwMode="auto">
            <a:xfrm>
              <a:off x="1301750" y="1727200"/>
              <a:ext cx="0" cy="322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grpSp>
      <p:sp>
        <p:nvSpPr>
          <p:cNvPr id="22" name="Line 20">
            <a:extLst>
              <a:ext uri="{FF2B5EF4-FFF2-40B4-BE49-F238E27FC236}">
                <a16:creationId xmlns:a16="http://schemas.microsoft.com/office/drawing/2014/main" id="{F80907E7-A3BB-41F4-ED52-3F91BDFEC036}"/>
              </a:ext>
            </a:extLst>
          </p:cNvPr>
          <p:cNvSpPr>
            <a:spLocks noChangeShapeType="1"/>
          </p:cNvSpPr>
          <p:nvPr/>
        </p:nvSpPr>
        <p:spPr bwMode="auto">
          <a:xfrm flipV="1">
            <a:off x="3499386" y="3513850"/>
            <a:ext cx="340041" cy="269875"/>
          </a:xfrm>
          <a:prstGeom prst="line">
            <a:avLst/>
          </a:prstGeom>
          <a:noFill/>
          <a:ln w="9525">
            <a:solidFill>
              <a:schemeClr val="tx1"/>
            </a:solidFill>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23" name="Text Box 21">
            <a:extLst>
              <a:ext uri="{FF2B5EF4-FFF2-40B4-BE49-F238E27FC236}">
                <a16:creationId xmlns:a16="http://schemas.microsoft.com/office/drawing/2014/main" id="{5CCC9CE5-4DE0-F07E-25F5-115D2D5E37D0}"/>
              </a:ext>
            </a:extLst>
          </p:cNvPr>
          <p:cNvSpPr txBox="1">
            <a:spLocks noChangeArrowheads="1"/>
          </p:cNvSpPr>
          <p:nvPr/>
        </p:nvSpPr>
        <p:spPr bwMode="auto">
          <a:xfrm>
            <a:off x="2487185" y="4214031"/>
            <a:ext cx="4992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(a)</a:t>
            </a:r>
          </a:p>
        </p:txBody>
      </p:sp>
      <p:sp>
        <p:nvSpPr>
          <p:cNvPr id="24" name="Text Box 21">
            <a:extLst>
              <a:ext uri="{FF2B5EF4-FFF2-40B4-BE49-F238E27FC236}">
                <a16:creationId xmlns:a16="http://schemas.microsoft.com/office/drawing/2014/main" id="{1C95B56E-7CA3-90B0-BD30-22D4260407F7}"/>
              </a:ext>
            </a:extLst>
          </p:cNvPr>
          <p:cNvSpPr txBox="1">
            <a:spLocks noChangeArrowheads="1"/>
          </p:cNvSpPr>
          <p:nvPr/>
        </p:nvSpPr>
        <p:spPr bwMode="auto">
          <a:xfrm>
            <a:off x="5921343" y="4215380"/>
            <a:ext cx="4992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(b)</a:t>
            </a:r>
          </a:p>
        </p:txBody>
      </p:sp>
      <p:sp>
        <p:nvSpPr>
          <p:cNvPr id="25" name="矩形 24">
            <a:extLst>
              <a:ext uri="{FF2B5EF4-FFF2-40B4-BE49-F238E27FC236}">
                <a16:creationId xmlns:a16="http://schemas.microsoft.com/office/drawing/2014/main" id="{E3AEDFCA-DBDE-6C1E-07D4-A2CCAF6266A4}"/>
              </a:ext>
            </a:extLst>
          </p:cNvPr>
          <p:cNvSpPr>
            <a:spLocks noChangeArrowheads="1"/>
          </p:cNvSpPr>
          <p:nvPr/>
        </p:nvSpPr>
        <p:spPr bwMode="auto">
          <a:xfrm>
            <a:off x="2236202" y="4075045"/>
            <a:ext cx="696277" cy="245586"/>
          </a:xfrm>
          <a:prstGeom prst="rect">
            <a:avLst/>
          </a:prstGeom>
          <a:solidFill>
            <a:srgbClr val="C3E3F9"/>
          </a:solidFill>
          <a:ln>
            <a:noFill/>
          </a:ln>
        </p:spPr>
        <p:txBody>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endParaRPr lang="zh-CN" altLang="en-US" sz="1800" b="1">
              <a:ea typeface="微软雅黑" panose="020B0503020204020204" pitchFamily="34" charset="-122"/>
            </a:endParaRPr>
          </a:p>
        </p:txBody>
      </p:sp>
      <p:sp>
        <p:nvSpPr>
          <p:cNvPr id="26" name="Text Box 21">
            <a:extLst>
              <a:ext uri="{FF2B5EF4-FFF2-40B4-BE49-F238E27FC236}">
                <a16:creationId xmlns:a16="http://schemas.microsoft.com/office/drawing/2014/main" id="{032A2FBB-0535-E79C-158B-8534C16BB388}"/>
              </a:ext>
            </a:extLst>
          </p:cNvPr>
          <p:cNvSpPr txBox="1">
            <a:spLocks noChangeArrowheads="1"/>
          </p:cNvSpPr>
          <p:nvPr/>
        </p:nvSpPr>
        <p:spPr bwMode="auto">
          <a:xfrm>
            <a:off x="2217310" y="4015673"/>
            <a:ext cx="120499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dirty="0">
                <a:ea typeface="微软雅黑" panose="020B0503020204020204" pitchFamily="34" charset="-122"/>
              </a:rPr>
              <a:t>DS </a:t>
            </a:r>
            <a:r>
              <a:rPr lang="zh-CN" altLang="en-US" sz="1200" b="1" dirty="0">
                <a:ea typeface="微软雅黑" panose="020B0503020204020204" pitchFamily="34" charset="-122"/>
              </a:rPr>
              <a:t>字段</a:t>
            </a:r>
            <a:endParaRPr lang="en-US" altLang="zh-CN" sz="1200" b="1" dirty="0">
              <a:ea typeface="微软雅黑" panose="020B0503020204020204" pitchFamily="34" charset="-122"/>
            </a:endParaRPr>
          </a:p>
        </p:txBody>
      </p:sp>
      <p:sp>
        <p:nvSpPr>
          <p:cNvPr id="27" name="Text Box 21">
            <a:extLst>
              <a:ext uri="{FF2B5EF4-FFF2-40B4-BE49-F238E27FC236}">
                <a16:creationId xmlns:a16="http://schemas.microsoft.com/office/drawing/2014/main" id="{5D110F7A-3CF5-36A6-AE00-82729E43C613}"/>
              </a:ext>
            </a:extLst>
          </p:cNvPr>
          <p:cNvSpPr txBox="1">
            <a:spLocks noChangeArrowheads="1"/>
          </p:cNvSpPr>
          <p:nvPr/>
        </p:nvSpPr>
        <p:spPr bwMode="auto">
          <a:xfrm>
            <a:off x="3318399" y="3102147"/>
            <a:ext cx="120499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显式拥塞通知</a:t>
            </a:r>
            <a:endParaRPr lang="en-US" altLang="zh-CN" sz="1200" b="1">
              <a:ea typeface="微软雅黑" panose="020B0503020204020204" pitchFamily="34" charset="-122"/>
            </a:endParaRPr>
          </a:p>
        </p:txBody>
      </p:sp>
      <p:sp>
        <p:nvSpPr>
          <p:cNvPr id="28" name="Text Box 21">
            <a:extLst>
              <a:ext uri="{FF2B5EF4-FFF2-40B4-BE49-F238E27FC236}">
                <a16:creationId xmlns:a16="http://schemas.microsoft.com/office/drawing/2014/main" id="{61C3BB18-60EA-1D86-86BE-C8AEB18B6103}"/>
              </a:ext>
            </a:extLst>
          </p:cNvPr>
          <p:cNvSpPr txBox="1">
            <a:spLocks noChangeArrowheads="1"/>
          </p:cNvSpPr>
          <p:nvPr/>
        </p:nvSpPr>
        <p:spPr bwMode="auto">
          <a:xfrm>
            <a:off x="4832398" y="3102147"/>
            <a:ext cx="105790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ECN </a:t>
            </a:r>
            <a:r>
              <a:rPr lang="zh-CN" altLang="en-US" sz="1200" b="1">
                <a:ea typeface="微软雅黑" panose="020B0503020204020204" pitchFamily="34" charset="-122"/>
              </a:rPr>
              <a:t>字段</a:t>
            </a:r>
            <a:endParaRPr lang="en-US" altLang="zh-CN" sz="1200" b="1">
              <a:ea typeface="微软雅黑" panose="020B0503020204020204" pitchFamily="34" charset="-122"/>
            </a:endParaRPr>
          </a:p>
        </p:txBody>
      </p:sp>
      <p:cxnSp>
        <p:nvCxnSpPr>
          <p:cNvPr id="29" name="直接连接符 28">
            <a:extLst>
              <a:ext uri="{FF2B5EF4-FFF2-40B4-BE49-F238E27FC236}">
                <a16:creationId xmlns:a16="http://schemas.microsoft.com/office/drawing/2014/main" id="{502C2367-B3ED-FC5C-FB2B-935DE119740E}"/>
              </a:ext>
            </a:extLst>
          </p:cNvPr>
          <p:cNvCxnSpPr>
            <a:cxnSpLocks noChangeShapeType="1"/>
          </p:cNvCxnSpPr>
          <p:nvPr/>
        </p:nvCxnSpPr>
        <p:spPr bwMode="auto">
          <a:xfrm>
            <a:off x="4848591" y="3384166"/>
            <a:ext cx="2551667" cy="5397"/>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a:extLst>
              <a:ext uri="{FF2B5EF4-FFF2-40B4-BE49-F238E27FC236}">
                <a16:creationId xmlns:a16="http://schemas.microsoft.com/office/drawing/2014/main" id="{CDAFE8A2-8470-83DE-EE35-39B0D674B509}"/>
              </a:ext>
            </a:extLst>
          </p:cNvPr>
          <p:cNvCxnSpPr>
            <a:cxnSpLocks noChangeShapeType="1"/>
          </p:cNvCxnSpPr>
          <p:nvPr/>
        </p:nvCxnSpPr>
        <p:spPr bwMode="auto">
          <a:xfrm>
            <a:off x="4848591" y="4258560"/>
            <a:ext cx="2551667"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Text Box 21">
            <a:extLst>
              <a:ext uri="{FF2B5EF4-FFF2-40B4-BE49-F238E27FC236}">
                <a16:creationId xmlns:a16="http://schemas.microsoft.com/office/drawing/2014/main" id="{507115A3-3135-9213-91F6-C92ACF51EC88}"/>
              </a:ext>
            </a:extLst>
          </p:cNvPr>
          <p:cNvSpPr txBox="1">
            <a:spLocks noChangeArrowheads="1"/>
          </p:cNvSpPr>
          <p:nvPr/>
        </p:nvSpPr>
        <p:spPr bwMode="auto">
          <a:xfrm>
            <a:off x="5525589" y="3377345"/>
            <a:ext cx="975597" cy="897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lnSpc>
                <a:spcPts val="1600"/>
              </a:lnSpc>
              <a:spcBef>
                <a:spcPct val="0"/>
              </a:spcBef>
              <a:buFontTx/>
              <a:buNone/>
            </a:pPr>
            <a:r>
              <a:rPr lang="en-US" altLang="zh-CN" sz="1200" b="1" dirty="0">
                <a:ea typeface="微软雅黑" panose="020B0503020204020204" pitchFamily="34" charset="-122"/>
              </a:rPr>
              <a:t>Non-ECT   </a:t>
            </a:r>
          </a:p>
          <a:p>
            <a:pPr algn="ctr" eaLnBrk="1" hangingPunct="1">
              <a:lnSpc>
                <a:spcPts val="1600"/>
              </a:lnSpc>
              <a:spcBef>
                <a:spcPct val="0"/>
              </a:spcBef>
              <a:buFontTx/>
              <a:buNone/>
            </a:pPr>
            <a:r>
              <a:rPr lang="en-US" altLang="zh-CN" sz="1200" b="1" dirty="0">
                <a:ea typeface="微软雅黑" panose="020B0503020204020204" pitchFamily="34" charset="-122"/>
              </a:rPr>
              <a:t>ECT(1)</a:t>
            </a:r>
          </a:p>
          <a:p>
            <a:pPr algn="ctr" eaLnBrk="1" hangingPunct="1">
              <a:lnSpc>
                <a:spcPts val="1600"/>
              </a:lnSpc>
              <a:spcBef>
                <a:spcPct val="0"/>
              </a:spcBef>
              <a:buFontTx/>
              <a:buNone/>
            </a:pPr>
            <a:r>
              <a:rPr lang="en-US" altLang="zh-CN" sz="1200" b="1" dirty="0">
                <a:ea typeface="微软雅黑" panose="020B0503020204020204" pitchFamily="34" charset="-122"/>
              </a:rPr>
              <a:t>ECT(0)</a:t>
            </a:r>
          </a:p>
          <a:p>
            <a:pPr algn="ctr" eaLnBrk="1" hangingPunct="1">
              <a:lnSpc>
                <a:spcPts val="1600"/>
              </a:lnSpc>
              <a:spcBef>
                <a:spcPct val="0"/>
              </a:spcBef>
              <a:buFontTx/>
              <a:buNone/>
            </a:pPr>
            <a:r>
              <a:rPr lang="en-US" altLang="zh-CN" sz="1200" b="1" dirty="0">
                <a:ea typeface="微软雅黑" panose="020B0503020204020204" pitchFamily="34" charset="-122"/>
              </a:rPr>
              <a:t>CE</a:t>
            </a:r>
          </a:p>
        </p:txBody>
      </p:sp>
      <p:sp>
        <p:nvSpPr>
          <p:cNvPr id="32" name="Text Box 21">
            <a:extLst>
              <a:ext uri="{FF2B5EF4-FFF2-40B4-BE49-F238E27FC236}">
                <a16:creationId xmlns:a16="http://schemas.microsoft.com/office/drawing/2014/main" id="{8E79C766-F73C-0F9B-B51C-C6046C5004D5}"/>
              </a:ext>
            </a:extLst>
          </p:cNvPr>
          <p:cNvSpPr txBox="1">
            <a:spLocks noChangeArrowheads="1"/>
          </p:cNvSpPr>
          <p:nvPr/>
        </p:nvSpPr>
        <p:spPr bwMode="auto">
          <a:xfrm>
            <a:off x="6625717" y="3102147"/>
            <a:ext cx="61396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意义</a:t>
            </a:r>
            <a:endParaRPr lang="en-US" altLang="zh-CN" sz="1200" b="1">
              <a:ea typeface="微软雅黑" panose="020B0503020204020204" pitchFamily="34" charset="-122"/>
            </a:endParaRPr>
          </a:p>
        </p:txBody>
      </p:sp>
      <p:sp>
        <p:nvSpPr>
          <p:cNvPr id="33" name="Text Box 21">
            <a:extLst>
              <a:ext uri="{FF2B5EF4-FFF2-40B4-BE49-F238E27FC236}">
                <a16:creationId xmlns:a16="http://schemas.microsoft.com/office/drawing/2014/main" id="{BE914DFB-DBA9-79C8-67BB-DA336B388EF6}"/>
              </a:ext>
            </a:extLst>
          </p:cNvPr>
          <p:cNvSpPr txBox="1">
            <a:spLocks noChangeArrowheads="1"/>
          </p:cNvSpPr>
          <p:nvPr/>
        </p:nvSpPr>
        <p:spPr bwMode="auto">
          <a:xfrm>
            <a:off x="5768864" y="3102147"/>
            <a:ext cx="61396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名称</a:t>
            </a:r>
            <a:endParaRPr lang="en-US" altLang="zh-CN" sz="1200" b="1">
              <a:ea typeface="微软雅黑" panose="020B0503020204020204" pitchFamily="34" charset="-122"/>
            </a:endParaRPr>
          </a:p>
        </p:txBody>
      </p:sp>
      <p:cxnSp>
        <p:nvCxnSpPr>
          <p:cNvPr id="34" name="直接连接符 33">
            <a:extLst>
              <a:ext uri="{FF2B5EF4-FFF2-40B4-BE49-F238E27FC236}">
                <a16:creationId xmlns:a16="http://schemas.microsoft.com/office/drawing/2014/main" id="{A7DBD617-B220-9AE8-0704-AF121EC0A3E0}"/>
              </a:ext>
            </a:extLst>
          </p:cNvPr>
          <p:cNvCxnSpPr>
            <a:cxnSpLocks noChangeShapeType="1"/>
          </p:cNvCxnSpPr>
          <p:nvPr/>
        </p:nvCxnSpPr>
        <p:spPr bwMode="auto">
          <a:xfrm flipV="1">
            <a:off x="5644721" y="3384166"/>
            <a:ext cx="0" cy="851456"/>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34">
            <a:extLst>
              <a:ext uri="{FF2B5EF4-FFF2-40B4-BE49-F238E27FC236}">
                <a16:creationId xmlns:a16="http://schemas.microsoft.com/office/drawing/2014/main" id="{8B1378A8-F9E1-53FC-3A80-20E5532EFD2E}"/>
              </a:ext>
            </a:extLst>
          </p:cNvPr>
          <p:cNvCxnSpPr>
            <a:cxnSpLocks noChangeShapeType="1"/>
          </p:cNvCxnSpPr>
          <p:nvPr/>
        </p:nvCxnSpPr>
        <p:spPr bwMode="auto">
          <a:xfrm flipV="1">
            <a:off x="6389576" y="3397660"/>
            <a:ext cx="0" cy="852805"/>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Text Box 19">
            <a:extLst>
              <a:ext uri="{FF2B5EF4-FFF2-40B4-BE49-F238E27FC236}">
                <a16:creationId xmlns:a16="http://schemas.microsoft.com/office/drawing/2014/main" id="{F613D290-FF73-0884-4493-DD521E7DDB07}"/>
              </a:ext>
            </a:extLst>
          </p:cNvPr>
          <p:cNvSpPr txBox="1">
            <a:spLocks noChangeArrowheads="1"/>
          </p:cNvSpPr>
          <p:nvPr/>
        </p:nvSpPr>
        <p:spPr bwMode="auto">
          <a:xfrm>
            <a:off x="4922851" y="3403933"/>
            <a:ext cx="2731133" cy="86946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spcAft>
                <a:spcPts val="300"/>
              </a:spcAft>
              <a:buFontTx/>
              <a:buNone/>
            </a:pPr>
            <a:r>
              <a:rPr lang="en-US" altLang="zh-CN" sz="1200" b="1" dirty="0">
                <a:ea typeface="微软雅黑" panose="020B0503020204020204" pitchFamily="34" charset="-122"/>
              </a:rPr>
              <a:t>   0   0                           </a:t>
            </a:r>
            <a:r>
              <a:rPr lang="zh-CN" altLang="en-US" sz="1200" b="1" dirty="0">
                <a:ea typeface="微软雅黑" panose="020B0503020204020204" pitchFamily="34" charset="-122"/>
              </a:rPr>
              <a:t>不支持 </a:t>
            </a:r>
            <a:r>
              <a:rPr lang="en-US" altLang="zh-CN" sz="1200" b="1" dirty="0">
                <a:ea typeface="微软雅黑" panose="020B0503020204020204" pitchFamily="34" charset="-122"/>
              </a:rPr>
              <a:t>ECN</a:t>
            </a:r>
          </a:p>
          <a:p>
            <a:pPr eaLnBrk="1" hangingPunct="1">
              <a:spcBef>
                <a:spcPct val="0"/>
              </a:spcBef>
              <a:buFontTx/>
              <a:buNone/>
            </a:pPr>
            <a:r>
              <a:rPr lang="en-US" altLang="zh-CN" sz="1200" b="1" dirty="0">
                <a:ea typeface="微软雅黑" panose="020B0503020204020204" pitchFamily="34" charset="-122"/>
              </a:rPr>
              <a:t>   0   1                             </a:t>
            </a:r>
            <a:r>
              <a:rPr lang="zh-CN" altLang="en-US" sz="1200" b="1" dirty="0">
                <a:ea typeface="微软雅黑" panose="020B0503020204020204" pitchFamily="34" charset="-122"/>
              </a:rPr>
              <a:t>支持 </a:t>
            </a:r>
            <a:r>
              <a:rPr lang="en-US" altLang="zh-CN" sz="1200" b="1" dirty="0">
                <a:ea typeface="微软雅黑" panose="020B0503020204020204" pitchFamily="34" charset="-122"/>
              </a:rPr>
              <a:t>ECN</a:t>
            </a:r>
          </a:p>
          <a:p>
            <a:pPr eaLnBrk="1" hangingPunct="1">
              <a:spcBef>
                <a:spcPct val="0"/>
              </a:spcBef>
              <a:buFontTx/>
              <a:buNone/>
            </a:pPr>
            <a:r>
              <a:rPr lang="en-US" altLang="zh-CN" sz="1200" b="1" dirty="0">
                <a:ea typeface="微软雅黑" panose="020B0503020204020204" pitchFamily="34" charset="-122"/>
              </a:rPr>
              <a:t>   1   0                             </a:t>
            </a:r>
            <a:r>
              <a:rPr lang="zh-CN" altLang="en-US" sz="1200" b="1" dirty="0">
                <a:ea typeface="微软雅黑" panose="020B0503020204020204" pitchFamily="34" charset="-122"/>
              </a:rPr>
              <a:t>支持 </a:t>
            </a:r>
            <a:r>
              <a:rPr lang="en-US" altLang="zh-CN" sz="1200" b="1" dirty="0">
                <a:ea typeface="微软雅黑" panose="020B0503020204020204" pitchFamily="34" charset="-122"/>
              </a:rPr>
              <a:t>ECN</a:t>
            </a:r>
          </a:p>
          <a:p>
            <a:pPr eaLnBrk="1" hangingPunct="1">
              <a:spcBef>
                <a:spcPct val="0"/>
              </a:spcBef>
              <a:buFontTx/>
              <a:buNone/>
            </a:pPr>
            <a:r>
              <a:rPr lang="en-US" altLang="zh-CN" sz="1200" b="1" dirty="0">
                <a:ea typeface="微软雅黑" panose="020B0503020204020204" pitchFamily="34" charset="-122"/>
              </a:rPr>
              <a:t>   1   1                            </a:t>
            </a:r>
            <a:r>
              <a:rPr lang="zh-CN" altLang="en-US" sz="1200" b="1" dirty="0">
                <a:ea typeface="微软雅黑" panose="020B0503020204020204" pitchFamily="34" charset="-122"/>
              </a:rPr>
              <a:t>已经历拥塞</a:t>
            </a:r>
            <a:endParaRPr lang="en-US" altLang="zh-CN" sz="1200" b="1" dirty="0">
              <a:ea typeface="微软雅黑" panose="020B0503020204020204" pitchFamily="34" charset="-122"/>
            </a:endParaRPr>
          </a:p>
        </p:txBody>
      </p:sp>
    </p:spTree>
    <p:extLst>
      <p:ext uri="{BB962C8B-B14F-4D97-AF65-F5344CB8AC3E}">
        <p14:creationId xmlns:p14="http://schemas.microsoft.com/office/powerpoint/2010/main" val="3366240570"/>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E0876-527E-6383-FC4B-4BCB0192E078}"/>
            </a:ext>
          </a:extLst>
        </p:cNvPr>
        <p:cNvGrpSpPr/>
        <p:nvPr/>
      </p:nvGrpSpPr>
      <p:grpSpPr>
        <a:xfrm>
          <a:off x="0" y="0"/>
          <a:ext cx="0" cy="0"/>
          <a:chOff x="0" y="0"/>
          <a:chExt cx="0" cy="0"/>
        </a:xfrm>
      </p:grpSpPr>
      <p:sp>
        <p:nvSpPr>
          <p:cNvPr id="39" name="圆角矩形 37">
            <a:extLst>
              <a:ext uri="{FF2B5EF4-FFF2-40B4-BE49-F238E27FC236}">
                <a16:creationId xmlns:a16="http://schemas.microsoft.com/office/drawing/2014/main" id="{3B9E441B-F41D-AA23-DC63-86B654A4AD45}"/>
              </a:ext>
            </a:extLst>
          </p:cNvPr>
          <p:cNvSpPr/>
          <p:nvPr/>
        </p:nvSpPr>
        <p:spPr>
          <a:xfrm>
            <a:off x="1091322" y="2915266"/>
            <a:ext cx="6961355" cy="162908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AutoShape 5">
            <a:extLst>
              <a:ext uri="{FF2B5EF4-FFF2-40B4-BE49-F238E27FC236}">
                <a16:creationId xmlns:a16="http://schemas.microsoft.com/office/drawing/2014/main" id="{EF58BD89-D7E0-AF05-FD77-4655CBB93B5F}"/>
              </a:ext>
            </a:extLst>
          </p:cNvPr>
          <p:cNvSpPr>
            <a:spLocks noChangeArrowheads="1"/>
          </p:cNvSpPr>
          <p:nvPr/>
        </p:nvSpPr>
        <p:spPr bwMode="auto">
          <a:xfrm>
            <a:off x="545143" y="625919"/>
            <a:ext cx="8053711" cy="357839"/>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a:extLst>
              <a:ext uri="{FF2B5EF4-FFF2-40B4-BE49-F238E27FC236}">
                <a16:creationId xmlns:a16="http://schemas.microsoft.com/office/drawing/2014/main" id="{4163176C-E9F5-7377-E006-A65BF4885548}"/>
              </a:ext>
            </a:extLst>
          </p:cNvPr>
          <p:cNvSpPr>
            <a:spLocks noChangeArrowheads="1"/>
          </p:cNvSpPr>
          <p:nvPr/>
        </p:nvSpPr>
        <p:spPr bwMode="auto">
          <a:xfrm>
            <a:off x="3248567" y="599146"/>
            <a:ext cx="264687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显式拥塞通知</a:t>
            </a:r>
            <a:r>
              <a:rPr lang="en-US" altLang="zh-CN" sz="2000" b="1" dirty="0">
                <a:solidFill>
                  <a:schemeClr val="bg1"/>
                </a:solidFill>
                <a:latin typeface="微软雅黑" pitchFamily="34" charset="-122"/>
                <a:ea typeface="微软雅黑" pitchFamily="34" charset="-122"/>
              </a:rPr>
              <a:t>ECN </a:t>
            </a:r>
            <a:endParaRPr lang="zh-CN" altLang="en-US" sz="2000" b="1" dirty="0">
              <a:solidFill>
                <a:schemeClr val="bg1"/>
              </a:solidFill>
              <a:latin typeface="微软雅黑" pitchFamily="34" charset="-122"/>
              <a:ea typeface="微软雅黑" pitchFamily="34" charset="-122"/>
            </a:endParaRPr>
          </a:p>
        </p:txBody>
      </p:sp>
      <p:sp>
        <p:nvSpPr>
          <p:cNvPr id="4" name="Rectangle 8">
            <a:extLst>
              <a:ext uri="{FF2B5EF4-FFF2-40B4-BE49-F238E27FC236}">
                <a16:creationId xmlns:a16="http://schemas.microsoft.com/office/drawing/2014/main" id="{121C23E9-174F-5832-5577-B10962ECA658}"/>
              </a:ext>
            </a:extLst>
          </p:cNvPr>
          <p:cNvSpPr>
            <a:spLocks noChangeArrowheads="1"/>
          </p:cNvSpPr>
          <p:nvPr/>
        </p:nvSpPr>
        <p:spPr bwMode="auto">
          <a:xfrm>
            <a:off x="545143" y="1029517"/>
            <a:ext cx="8053711" cy="1589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如果</a:t>
            </a:r>
            <a:r>
              <a:rPr lang="en-US" altLang="zh-CN" b="1" dirty="0">
                <a:latin typeface="微软雅黑" pitchFamily="34" charset="-122"/>
                <a:ea typeface="微软雅黑" pitchFamily="34" charset="-122"/>
              </a:rPr>
              <a:t>TCP</a:t>
            </a:r>
            <a:r>
              <a:rPr lang="zh-CN" altLang="en-US" b="1" dirty="0">
                <a:latin typeface="微软雅黑" pitchFamily="34" charset="-122"/>
                <a:ea typeface="微软雅黑" pitchFamily="34" charset="-122"/>
              </a:rPr>
              <a:t>客户</a:t>
            </a:r>
            <a:r>
              <a:rPr lang="en-US" altLang="zh-CN" b="1" dirty="0">
                <a:latin typeface="微软雅黑" pitchFamily="34" charset="-122"/>
                <a:ea typeface="微软雅黑" pitchFamily="34" charset="-122"/>
              </a:rPr>
              <a:t>A</a:t>
            </a:r>
            <a:r>
              <a:rPr lang="zh-CN" altLang="en-US" b="1" dirty="0">
                <a:latin typeface="微软雅黑" pitchFamily="34" charset="-122"/>
                <a:ea typeface="微软雅黑" pitchFamily="34" charset="-122"/>
              </a:rPr>
              <a:t>打算使用</a:t>
            </a:r>
            <a:r>
              <a:rPr lang="en-US" altLang="zh-CN" b="1" dirty="0">
                <a:latin typeface="微软雅黑" pitchFamily="34" charset="-122"/>
                <a:ea typeface="微软雅黑" pitchFamily="34" charset="-122"/>
              </a:rPr>
              <a:t>ECN</a:t>
            </a:r>
            <a:r>
              <a:rPr lang="zh-CN" altLang="en-US" b="1" dirty="0">
                <a:latin typeface="微软雅黑" pitchFamily="34" charset="-122"/>
                <a:ea typeface="微软雅黑" pitchFamily="34" charset="-122"/>
              </a:rPr>
              <a:t>，那么在</a:t>
            </a:r>
            <a:r>
              <a:rPr lang="en-US" altLang="zh-CN" b="1" dirty="0">
                <a:latin typeface="微软雅黑" pitchFamily="34" charset="-122"/>
                <a:ea typeface="微软雅黑" pitchFamily="34" charset="-122"/>
              </a:rPr>
              <a:t>TCP</a:t>
            </a:r>
            <a:r>
              <a:rPr lang="zh-CN" altLang="en-US" b="1" dirty="0">
                <a:latin typeface="微软雅黑" pitchFamily="34" charset="-122"/>
                <a:ea typeface="微软雅黑" pitchFamily="34" charset="-122"/>
              </a:rPr>
              <a:t>连接建立时，</a:t>
            </a:r>
            <a:r>
              <a:rPr lang="en-US" altLang="zh-CN" b="1" dirty="0">
                <a:latin typeface="微软雅黑" pitchFamily="34" charset="-122"/>
                <a:ea typeface="微软雅黑" pitchFamily="34" charset="-122"/>
              </a:rPr>
              <a:t>A</a:t>
            </a:r>
            <a:r>
              <a:rPr lang="zh-CN" altLang="en-US" b="1" dirty="0">
                <a:latin typeface="微软雅黑" pitchFamily="34" charset="-122"/>
                <a:ea typeface="微软雅黑" pitchFamily="34" charset="-122"/>
              </a:rPr>
              <a:t>就要在第一个</a:t>
            </a:r>
            <a:r>
              <a:rPr lang="en-US" altLang="zh-CN" b="1" dirty="0">
                <a:latin typeface="微软雅黑" pitchFamily="34" charset="-122"/>
                <a:ea typeface="微软雅黑" pitchFamily="34" charset="-122"/>
              </a:rPr>
              <a:t>SYN</a:t>
            </a:r>
            <a:r>
              <a:rPr lang="zh-CN" altLang="en-US" b="1" dirty="0">
                <a:latin typeface="微软雅黑" pitchFamily="34" charset="-122"/>
                <a:ea typeface="微软雅黑" pitchFamily="34" charset="-122"/>
              </a:rPr>
              <a:t>报文段中将</a:t>
            </a:r>
            <a:r>
              <a:rPr lang="en-US" altLang="zh-CN" b="1" dirty="0">
                <a:solidFill>
                  <a:srgbClr val="0000FF"/>
                </a:solidFill>
                <a:latin typeface="微软雅黑" pitchFamily="34" charset="-122"/>
                <a:ea typeface="微软雅黑" pitchFamily="34" charset="-122"/>
              </a:rPr>
              <a:t>ECE</a:t>
            </a:r>
            <a:r>
              <a:rPr lang="zh-CN" altLang="en-US" b="1" dirty="0">
                <a:solidFill>
                  <a:srgbClr val="0000FF"/>
                </a:solidFill>
                <a:latin typeface="微软雅黑" pitchFamily="34" charset="-122"/>
                <a:ea typeface="微软雅黑" pitchFamily="34" charset="-122"/>
              </a:rPr>
              <a:t>和</a:t>
            </a:r>
            <a:r>
              <a:rPr lang="en-US" altLang="zh-CN" b="1" dirty="0">
                <a:solidFill>
                  <a:srgbClr val="0000FF"/>
                </a:solidFill>
                <a:latin typeface="微软雅黑" pitchFamily="34" charset="-122"/>
                <a:ea typeface="微软雅黑" pitchFamily="34" charset="-122"/>
              </a:rPr>
              <a:t>CWR</a:t>
            </a:r>
            <a:r>
              <a:rPr lang="zh-CN" altLang="en-US" b="1" dirty="0">
                <a:solidFill>
                  <a:srgbClr val="0000FF"/>
                </a:solidFill>
                <a:latin typeface="微软雅黑" pitchFamily="34" charset="-122"/>
                <a:ea typeface="微软雅黑" pitchFamily="34" charset="-122"/>
              </a:rPr>
              <a:t>都置</a:t>
            </a:r>
            <a:r>
              <a:rPr lang="en-US" altLang="zh-CN" b="1" dirty="0">
                <a:solidFill>
                  <a:srgbClr val="0000FF"/>
                </a:solidFill>
                <a:latin typeface="微软雅黑" pitchFamily="34" charset="-122"/>
                <a:ea typeface="微软雅黑" pitchFamily="34" charset="-122"/>
              </a:rPr>
              <a:t>1</a:t>
            </a:r>
            <a:r>
              <a:rPr lang="zh-CN" altLang="en-US" b="1" dirty="0">
                <a:latin typeface="微软雅黑" pitchFamily="34" charset="-122"/>
                <a:ea typeface="微软雅黑" pitchFamily="34" charset="-122"/>
              </a:rPr>
              <a:t>。</a:t>
            </a:r>
            <a:endParaRPr lang="en-US" altLang="zh-CN"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en-US" altLang="zh-CN" b="1" dirty="0">
                <a:latin typeface="微软雅黑" pitchFamily="34" charset="-122"/>
                <a:ea typeface="微软雅黑" pitchFamily="34" charset="-122"/>
              </a:rPr>
              <a:t>TCP</a:t>
            </a:r>
            <a:r>
              <a:rPr lang="zh-CN" altLang="en-US" b="1" dirty="0">
                <a:latin typeface="微软雅黑" pitchFamily="34" charset="-122"/>
                <a:ea typeface="微软雅黑" pitchFamily="34" charset="-122"/>
              </a:rPr>
              <a:t>服务器</a:t>
            </a:r>
            <a:r>
              <a:rPr lang="en-US" altLang="zh-CN" b="1" dirty="0">
                <a:latin typeface="微软雅黑" pitchFamily="34" charset="-122"/>
                <a:ea typeface="微软雅黑" pitchFamily="34" charset="-122"/>
              </a:rPr>
              <a:t>B</a:t>
            </a:r>
            <a:r>
              <a:rPr lang="zh-CN" altLang="en-US" b="1" dirty="0">
                <a:latin typeface="微软雅黑" pitchFamily="34" charset="-122"/>
                <a:ea typeface="微软雅黑" pitchFamily="34" charset="-122"/>
              </a:rPr>
              <a:t>如同意使用</a:t>
            </a:r>
            <a:r>
              <a:rPr lang="en-US" altLang="zh-CN" b="1" dirty="0">
                <a:latin typeface="微软雅黑" pitchFamily="34" charset="-122"/>
                <a:ea typeface="微软雅黑" pitchFamily="34" charset="-122"/>
              </a:rPr>
              <a:t>ECN</a:t>
            </a:r>
            <a:r>
              <a:rPr lang="zh-CN" altLang="en-US" b="1" dirty="0">
                <a:latin typeface="微软雅黑" pitchFamily="34" charset="-122"/>
                <a:ea typeface="微软雅黑" pitchFamily="34" charset="-122"/>
              </a:rPr>
              <a:t>，就应在其确认报文段中将</a:t>
            </a:r>
            <a:r>
              <a:rPr lang="en-US" altLang="zh-CN" b="1" dirty="0">
                <a:solidFill>
                  <a:srgbClr val="0000FF"/>
                </a:solidFill>
                <a:latin typeface="微软雅黑" pitchFamily="34" charset="-122"/>
                <a:ea typeface="微软雅黑" pitchFamily="34" charset="-122"/>
              </a:rPr>
              <a:t>ECE</a:t>
            </a:r>
            <a:r>
              <a:rPr lang="zh-CN" altLang="en-US" b="1" dirty="0">
                <a:solidFill>
                  <a:srgbClr val="0000FF"/>
                </a:solidFill>
                <a:latin typeface="微软雅黑" pitchFamily="34" charset="-122"/>
                <a:ea typeface="微软雅黑" pitchFamily="34" charset="-122"/>
              </a:rPr>
              <a:t>置</a:t>
            </a:r>
            <a:r>
              <a:rPr lang="en-US" altLang="zh-CN" b="1" dirty="0">
                <a:solidFill>
                  <a:srgbClr val="0000FF"/>
                </a:solidFill>
                <a:latin typeface="微软雅黑" pitchFamily="34" charset="-122"/>
                <a:ea typeface="微软雅黑" pitchFamily="34" charset="-122"/>
              </a:rPr>
              <a:t>1</a:t>
            </a:r>
            <a:r>
              <a:rPr lang="zh-CN" altLang="en-US" b="1" dirty="0">
                <a:solidFill>
                  <a:srgbClr val="0000FF"/>
                </a:solidFill>
                <a:latin typeface="微软雅黑" pitchFamily="34" charset="-122"/>
                <a:ea typeface="微软雅黑" pitchFamily="34" charset="-122"/>
              </a:rPr>
              <a:t>而</a:t>
            </a:r>
            <a:r>
              <a:rPr lang="en-US" altLang="zh-CN" b="1" dirty="0">
                <a:solidFill>
                  <a:srgbClr val="0000FF"/>
                </a:solidFill>
                <a:latin typeface="微软雅黑" pitchFamily="34" charset="-122"/>
                <a:ea typeface="微软雅黑" pitchFamily="34" charset="-122"/>
              </a:rPr>
              <a:t>CWR</a:t>
            </a:r>
            <a:r>
              <a:rPr lang="zh-CN" altLang="en-US" b="1" dirty="0">
                <a:solidFill>
                  <a:srgbClr val="0000FF"/>
                </a:solidFill>
                <a:latin typeface="微软雅黑" pitchFamily="34" charset="-122"/>
                <a:ea typeface="微软雅黑" pitchFamily="34" charset="-122"/>
              </a:rPr>
              <a:t>置</a:t>
            </a:r>
            <a:r>
              <a:rPr lang="en-US" altLang="zh-CN" b="1" dirty="0">
                <a:solidFill>
                  <a:srgbClr val="0000FF"/>
                </a:solidFill>
                <a:latin typeface="微软雅黑" pitchFamily="34" charset="-122"/>
                <a:ea typeface="微软雅黑" pitchFamily="34" charset="-122"/>
              </a:rPr>
              <a:t>0</a:t>
            </a:r>
            <a:r>
              <a:rPr lang="zh-CN" altLang="en-US" b="1" dirty="0">
                <a:latin typeface="微软雅黑" pitchFamily="34" charset="-122"/>
                <a:ea typeface="微软雅黑" pitchFamily="34" charset="-122"/>
              </a:rPr>
              <a:t>；否则就应将</a:t>
            </a:r>
            <a:r>
              <a:rPr lang="en-US" altLang="zh-CN" b="1" dirty="0">
                <a:solidFill>
                  <a:srgbClr val="0000FF"/>
                </a:solidFill>
                <a:latin typeface="微软雅黑" pitchFamily="34" charset="-122"/>
                <a:ea typeface="微软雅黑" pitchFamily="34" charset="-122"/>
              </a:rPr>
              <a:t>ECE</a:t>
            </a:r>
            <a:r>
              <a:rPr lang="zh-CN" altLang="en-US" b="1" dirty="0">
                <a:solidFill>
                  <a:srgbClr val="0000FF"/>
                </a:solidFill>
                <a:latin typeface="微软雅黑" pitchFamily="34" charset="-122"/>
                <a:ea typeface="微软雅黑" pitchFamily="34" charset="-122"/>
              </a:rPr>
              <a:t>和</a:t>
            </a:r>
            <a:r>
              <a:rPr lang="en-US" altLang="zh-CN" b="1" dirty="0">
                <a:solidFill>
                  <a:srgbClr val="0000FF"/>
                </a:solidFill>
                <a:latin typeface="微软雅黑" pitchFamily="34" charset="-122"/>
                <a:ea typeface="微软雅黑" pitchFamily="34" charset="-122"/>
              </a:rPr>
              <a:t>CWR</a:t>
            </a:r>
            <a:r>
              <a:rPr lang="zh-CN" altLang="en-US" b="1" dirty="0">
                <a:solidFill>
                  <a:srgbClr val="0000FF"/>
                </a:solidFill>
                <a:latin typeface="微软雅黑" pitchFamily="34" charset="-122"/>
                <a:ea typeface="微软雅黑" pitchFamily="34" charset="-122"/>
              </a:rPr>
              <a:t>都置</a:t>
            </a:r>
            <a:r>
              <a:rPr lang="en-US" altLang="zh-CN" b="1" dirty="0">
                <a:solidFill>
                  <a:srgbClr val="0000FF"/>
                </a:solidFill>
                <a:latin typeface="微软雅黑" pitchFamily="34" charset="-122"/>
                <a:ea typeface="微软雅黑" pitchFamily="34" charset="-122"/>
              </a:rPr>
              <a:t>0</a:t>
            </a:r>
            <a:r>
              <a:rPr lang="zh-CN" altLang="en-US" b="1" dirty="0">
                <a:latin typeface="微软雅黑" pitchFamily="34" charset="-122"/>
                <a:ea typeface="微软雅黑" pitchFamily="34" charset="-122"/>
              </a:rPr>
              <a:t>。</a:t>
            </a:r>
          </a:p>
        </p:txBody>
      </p:sp>
      <p:sp>
        <p:nvSpPr>
          <p:cNvPr id="6" name="Rectangle 4">
            <a:extLst>
              <a:ext uri="{FF2B5EF4-FFF2-40B4-BE49-F238E27FC236}">
                <a16:creationId xmlns:a16="http://schemas.microsoft.com/office/drawing/2014/main" id="{D8164CB9-A137-AD92-5117-EA1E198D40D8}"/>
              </a:ext>
            </a:extLst>
          </p:cNvPr>
          <p:cNvSpPr>
            <a:spLocks noChangeArrowheads="1"/>
          </p:cNvSpPr>
          <p:nvPr/>
        </p:nvSpPr>
        <p:spPr bwMode="auto">
          <a:xfrm>
            <a:off x="1695104" y="3589271"/>
            <a:ext cx="1805463" cy="453390"/>
          </a:xfrm>
          <a:prstGeom prst="rect">
            <a:avLst/>
          </a:prstGeom>
          <a:solidFill>
            <a:schemeClr val="bg1"/>
          </a:solidFill>
          <a:ln w="9525">
            <a:solidFill>
              <a:schemeClr val="tx1"/>
            </a:solidFill>
            <a:miter lim="800000"/>
            <a:headEnd/>
            <a:tailEnd/>
          </a:ln>
          <a:effectLst/>
        </p:spPr>
        <p:txBody>
          <a:bodyPr wrap="none" anchor="ct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endParaRPr lang="zh-CN" altLang="en-US" sz="1800" b="1">
              <a:ea typeface="微软雅黑" panose="020B0503020204020204" pitchFamily="34" charset="-122"/>
            </a:endParaRPr>
          </a:p>
        </p:txBody>
      </p:sp>
      <p:sp>
        <p:nvSpPr>
          <p:cNvPr id="7" name="矩形 6">
            <a:extLst>
              <a:ext uri="{FF2B5EF4-FFF2-40B4-BE49-F238E27FC236}">
                <a16:creationId xmlns:a16="http://schemas.microsoft.com/office/drawing/2014/main" id="{A442D381-1656-0E43-A85E-550CB913B81C}"/>
              </a:ext>
            </a:extLst>
          </p:cNvPr>
          <p:cNvSpPr>
            <a:spLocks noChangeArrowheads="1"/>
          </p:cNvSpPr>
          <p:nvPr/>
        </p:nvSpPr>
        <p:spPr bwMode="auto">
          <a:xfrm>
            <a:off x="3049875" y="3589493"/>
            <a:ext cx="445293" cy="453390"/>
          </a:xfrm>
          <a:prstGeom prst="rect">
            <a:avLst/>
          </a:prstGeom>
          <a:solidFill>
            <a:srgbClr val="FFFF00"/>
          </a:solidFill>
          <a:ln w="28575" algn="ctr">
            <a:solidFill>
              <a:srgbClr val="FF0000"/>
            </a:solidFill>
            <a:round/>
            <a:headEnd/>
            <a:tailEnd/>
          </a:ln>
        </p:spPr>
        <p:txBody>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endParaRPr lang="zh-CN" altLang="en-US" sz="1800" b="1">
              <a:ea typeface="微软雅黑" panose="020B0503020204020204" pitchFamily="34" charset="-122"/>
            </a:endParaRPr>
          </a:p>
        </p:txBody>
      </p:sp>
      <p:sp>
        <p:nvSpPr>
          <p:cNvPr id="8" name="Line 20">
            <a:extLst>
              <a:ext uri="{FF2B5EF4-FFF2-40B4-BE49-F238E27FC236}">
                <a16:creationId xmlns:a16="http://schemas.microsoft.com/office/drawing/2014/main" id="{425C6529-0F3F-D1EF-DC4E-BAB0060EC484}"/>
              </a:ext>
            </a:extLst>
          </p:cNvPr>
          <p:cNvSpPr>
            <a:spLocks noChangeShapeType="1"/>
          </p:cNvSpPr>
          <p:nvPr/>
        </p:nvSpPr>
        <p:spPr bwMode="auto">
          <a:xfrm flipV="1">
            <a:off x="1707248" y="4161405"/>
            <a:ext cx="1781174" cy="17542"/>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9" name="Line 5">
            <a:extLst>
              <a:ext uri="{FF2B5EF4-FFF2-40B4-BE49-F238E27FC236}">
                <a16:creationId xmlns:a16="http://schemas.microsoft.com/office/drawing/2014/main" id="{C508B387-FF0F-B1E7-6A33-1B692243DB64}"/>
              </a:ext>
            </a:extLst>
          </p:cNvPr>
          <p:cNvSpPr>
            <a:spLocks noChangeShapeType="1"/>
          </p:cNvSpPr>
          <p:nvPr/>
        </p:nvSpPr>
        <p:spPr bwMode="auto">
          <a:xfrm>
            <a:off x="1920449"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0" name="Line 6">
            <a:extLst>
              <a:ext uri="{FF2B5EF4-FFF2-40B4-BE49-F238E27FC236}">
                <a16:creationId xmlns:a16="http://schemas.microsoft.com/office/drawing/2014/main" id="{84998306-C141-D237-C906-DF834F97CF41}"/>
              </a:ext>
            </a:extLst>
          </p:cNvPr>
          <p:cNvSpPr>
            <a:spLocks noChangeShapeType="1"/>
          </p:cNvSpPr>
          <p:nvPr/>
        </p:nvSpPr>
        <p:spPr bwMode="auto">
          <a:xfrm>
            <a:off x="2147143"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1" name="Line 7">
            <a:extLst>
              <a:ext uri="{FF2B5EF4-FFF2-40B4-BE49-F238E27FC236}">
                <a16:creationId xmlns:a16="http://schemas.microsoft.com/office/drawing/2014/main" id="{C1EF1B26-1051-80F8-6668-C8418E1E11EE}"/>
              </a:ext>
            </a:extLst>
          </p:cNvPr>
          <p:cNvSpPr>
            <a:spLocks noChangeShapeType="1"/>
          </p:cNvSpPr>
          <p:nvPr/>
        </p:nvSpPr>
        <p:spPr bwMode="auto">
          <a:xfrm>
            <a:off x="2372489"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2" name="Line 8">
            <a:extLst>
              <a:ext uri="{FF2B5EF4-FFF2-40B4-BE49-F238E27FC236}">
                <a16:creationId xmlns:a16="http://schemas.microsoft.com/office/drawing/2014/main" id="{00144D47-E537-54CD-F9D7-E3436551A4B4}"/>
              </a:ext>
            </a:extLst>
          </p:cNvPr>
          <p:cNvSpPr>
            <a:spLocks noChangeShapeType="1"/>
          </p:cNvSpPr>
          <p:nvPr/>
        </p:nvSpPr>
        <p:spPr bwMode="auto">
          <a:xfrm>
            <a:off x="2597834"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3" name="Line 9">
            <a:extLst>
              <a:ext uri="{FF2B5EF4-FFF2-40B4-BE49-F238E27FC236}">
                <a16:creationId xmlns:a16="http://schemas.microsoft.com/office/drawing/2014/main" id="{F05CBBCA-ED76-9315-9AAA-048763F082D5}"/>
              </a:ext>
            </a:extLst>
          </p:cNvPr>
          <p:cNvSpPr>
            <a:spLocks noChangeShapeType="1"/>
          </p:cNvSpPr>
          <p:nvPr/>
        </p:nvSpPr>
        <p:spPr bwMode="auto">
          <a:xfrm>
            <a:off x="2823180"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4" name="Line 10">
            <a:extLst>
              <a:ext uri="{FF2B5EF4-FFF2-40B4-BE49-F238E27FC236}">
                <a16:creationId xmlns:a16="http://schemas.microsoft.com/office/drawing/2014/main" id="{B2CEAFD7-C66D-EE79-FDF3-2A0CD0063C11}"/>
              </a:ext>
            </a:extLst>
          </p:cNvPr>
          <p:cNvSpPr>
            <a:spLocks noChangeShapeType="1"/>
          </p:cNvSpPr>
          <p:nvPr/>
        </p:nvSpPr>
        <p:spPr bwMode="auto">
          <a:xfrm>
            <a:off x="3049875"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5" name="Line 11">
            <a:extLst>
              <a:ext uri="{FF2B5EF4-FFF2-40B4-BE49-F238E27FC236}">
                <a16:creationId xmlns:a16="http://schemas.microsoft.com/office/drawing/2014/main" id="{9190ACEC-67C6-02A1-39A5-83119A8E17B8}"/>
              </a:ext>
            </a:extLst>
          </p:cNvPr>
          <p:cNvSpPr>
            <a:spLocks noChangeShapeType="1"/>
          </p:cNvSpPr>
          <p:nvPr/>
        </p:nvSpPr>
        <p:spPr bwMode="auto">
          <a:xfrm>
            <a:off x="3275220"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6" name="Text Box 3">
            <a:extLst>
              <a:ext uri="{FF2B5EF4-FFF2-40B4-BE49-F238E27FC236}">
                <a16:creationId xmlns:a16="http://schemas.microsoft.com/office/drawing/2014/main" id="{96CF85DD-23C3-8DCE-993D-726C87A978B5}"/>
              </a:ext>
            </a:extLst>
          </p:cNvPr>
          <p:cNvSpPr txBox="1">
            <a:spLocks noChangeArrowheads="1"/>
          </p:cNvSpPr>
          <p:nvPr/>
        </p:nvSpPr>
        <p:spPr bwMode="auto">
          <a:xfrm>
            <a:off x="3027176" y="3602733"/>
            <a:ext cx="288766" cy="478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lnSpc>
                <a:spcPts val="1000"/>
              </a:lnSpc>
              <a:spcBef>
                <a:spcPct val="0"/>
              </a:spcBef>
              <a:buFontTx/>
              <a:buNone/>
            </a:pPr>
            <a:r>
              <a:rPr lang="en-US" altLang="zh-CN" sz="1100" b="1" dirty="0">
                <a:ea typeface="微软雅黑" panose="020B0503020204020204" pitchFamily="34" charset="-122"/>
              </a:rPr>
              <a:t>E</a:t>
            </a:r>
          </a:p>
          <a:p>
            <a:pPr algn="ctr" eaLnBrk="1" hangingPunct="1">
              <a:lnSpc>
                <a:spcPts val="1000"/>
              </a:lnSpc>
              <a:spcBef>
                <a:spcPct val="0"/>
              </a:spcBef>
              <a:buFontTx/>
              <a:buNone/>
            </a:pPr>
            <a:r>
              <a:rPr lang="en-US" altLang="zh-CN" sz="1100" b="1" dirty="0">
                <a:ea typeface="微软雅黑" panose="020B0503020204020204" pitchFamily="34" charset="-122"/>
              </a:rPr>
              <a:t>C</a:t>
            </a:r>
          </a:p>
          <a:p>
            <a:pPr algn="ctr" eaLnBrk="1" hangingPunct="1">
              <a:lnSpc>
                <a:spcPts val="1000"/>
              </a:lnSpc>
              <a:spcBef>
                <a:spcPct val="0"/>
              </a:spcBef>
              <a:buFontTx/>
              <a:buNone/>
            </a:pPr>
            <a:r>
              <a:rPr lang="en-US" altLang="zh-CN" sz="1100" b="1" dirty="0">
                <a:ea typeface="微软雅黑" panose="020B0503020204020204" pitchFamily="34" charset="-122"/>
              </a:rPr>
              <a:t>T</a:t>
            </a:r>
          </a:p>
        </p:txBody>
      </p:sp>
      <p:sp>
        <p:nvSpPr>
          <p:cNvPr id="17" name="Text Box 2">
            <a:extLst>
              <a:ext uri="{FF2B5EF4-FFF2-40B4-BE49-F238E27FC236}">
                <a16:creationId xmlns:a16="http://schemas.microsoft.com/office/drawing/2014/main" id="{EF8EA9BE-6B1E-40B2-7D9B-5DE81BA986E3}"/>
              </a:ext>
            </a:extLst>
          </p:cNvPr>
          <p:cNvSpPr txBox="1">
            <a:spLocks noChangeArrowheads="1"/>
          </p:cNvSpPr>
          <p:nvPr/>
        </p:nvSpPr>
        <p:spPr bwMode="auto">
          <a:xfrm>
            <a:off x="1824643" y="3674282"/>
            <a:ext cx="1038618" cy="27699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      DSCP      </a:t>
            </a:r>
          </a:p>
        </p:txBody>
      </p:sp>
      <p:sp>
        <p:nvSpPr>
          <p:cNvPr id="18" name="Text Box 19">
            <a:extLst>
              <a:ext uri="{FF2B5EF4-FFF2-40B4-BE49-F238E27FC236}">
                <a16:creationId xmlns:a16="http://schemas.microsoft.com/office/drawing/2014/main" id="{B981A5BA-4B38-B1C1-55EE-00244AC84369}"/>
              </a:ext>
            </a:extLst>
          </p:cNvPr>
          <p:cNvSpPr txBox="1">
            <a:spLocks noChangeArrowheads="1"/>
          </p:cNvSpPr>
          <p:nvPr/>
        </p:nvSpPr>
        <p:spPr bwMode="auto">
          <a:xfrm>
            <a:off x="1411735" y="3353131"/>
            <a:ext cx="2423475"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位  </a:t>
            </a:r>
            <a:r>
              <a:rPr lang="en-US" altLang="zh-CN" sz="1200" b="1">
                <a:ea typeface="微软雅黑" panose="020B0503020204020204" pitchFamily="34" charset="-122"/>
              </a:rPr>
              <a:t>0                        5    6   7</a:t>
            </a:r>
          </a:p>
        </p:txBody>
      </p:sp>
      <p:sp>
        <p:nvSpPr>
          <p:cNvPr id="19" name="Text Box 3">
            <a:extLst>
              <a:ext uri="{FF2B5EF4-FFF2-40B4-BE49-F238E27FC236}">
                <a16:creationId xmlns:a16="http://schemas.microsoft.com/office/drawing/2014/main" id="{098477EB-EAFE-5584-1652-0D964563BAD0}"/>
              </a:ext>
            </a:extLst>
          </p:cNvPr>
          <p:cNvSpPr txBox="1">
            <a:spLocks noChangeArrowheads="1"/>
          </p:cNvSpPr>
          <p:nvPr/>
        </p:nvSpPr>
        <p:spPr bwMode="auto">
          <a:xfrm>
            <a:off x="3244185" y="3633800"/>
            <a:ext cx="284719" cy="439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lnSpc>
                <a:spcPts val="1400"/>
              </a:lnSpc>
              <a:spcBef>
                <a:spcPct val="0"/>
              </a:spcBef>
              <a:buFontTx/>
              <a:buNone/>
            </a:pPr>
            <a:r>
              <a:rPr lang="en-US" altLang="zh-CN" sz="1100" b="1" dirty="0">
                <a:ea typeface="微软雅黑" panose="020B0503020204020204" pitchFamily="34" charset="-122"/>
              </a:rPr>
              <a:t>C</a:t>
            </a:r>
          </a:p>
          <a:p>
            <a:pPr algn="ctr" eaLnBrk="1" hangingPunct="1">
              <a:lnSpc>
                <a:spcPts val="1400"/>
              </a:lnSpc>
              <a:spcBef>
                <a:spcPct val="0"/>
              </a:spcBef>
              <a:buFontTx/>
              <a:buNone/>
            </a:pPr>
            <a:r>
              <a:rPr lang="en-US" altLang="zh-CN" sz="1100" b="1" dirty="0">
                <a:ea typeface="微软雅黑" panose="020B0503020204020204" pitchFamily="34" charset="-122"/>
              </a:rPr>
              <a:t>E</a:t>
            </a:r>
            <a:endParaRPr lang="en-US" altLang="zh-CN" sz="1200" b="1" dirty="0">
              <a:ea typeface="微软雅黑" panose="020B0503020204020204" pitchFamily="34" charset="-122"/>
            </a:endParaRPr>
          </a:p>
        </p:txBody>
      </p:sp>
      <p:sp>
        <p:nvSpPr>
          <p:cNvPr id="20" name="Text Box 21">
            <a:extLst>
              <a:ext uri="{FF2B5EF4-FFF2-40B4-BE49-F238E27FC236}">
                <a16:creationId xmlns:a16="http://schemas.microsoft.com/office/drawing/2014/main" id="{0B739DBD-D91D-3A76-D561-349CFEFF4F24}"/>
              </a:ext>
            </a:extLst>
          </p:cNvPr>
          <p:cNvSpPr txBox="1">
            <a:spLocks noChangeArrowheads="1"/>
          </p:cNvSpPr>
          <p:nvPr/>
        </p:nvSpPr>
        <p:spPr bwMode="auto">
          <a:xfrm>
            <a:off x="3458108" y="3283792"/>
            <a:ext cx="97559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dirty="0">
                <a:ea typeface="微软雅黑" panose="020B0503020204020204" pitchFamily="34" charset="-122"/>
              </a:rPr>
              <a:t>ECN </a:t>
            </a:r>
            <a:r>
              <a:rPr lang="zh-CN" altLang="en-US" sz="1200" b="1" dirty="0">
                <a:ea typeface="微软雅黑" panose="020B0503020204020204" pitchFamily="34" charset="-122"/>
              </a:rPr>
              <a:t>字段</a:t>
            </a:r>
            <a:endParaRPr lang="en-US" altLang="zh-CN" sz="1200" b="1" dirty="0">
              <a:ea typeface="微软雅黑" panose="020B0503020204020204" pitchFamily="34" charset="-122"/>
            </a:endParaRPr>
          </a:p>
        </p:txBody>
      </p:sp>
      <p:grpSp>
        <p:nvGrpSpPr>
          <p:cNvPr id="21" name="组合 20">
            <a:extLst>
              <a:ext uri="{FF2B5EF4-FFF2-40B4-BE49-F238E27FC236}">
                <a16:creationId xmlns:a16="http://schemas.microsoft.com/office/drawing/2014/main" id="{70B62759-6B6B-86C3-923F-AD8D8E8571E4}"/>
              </a:ext>
            </a:extLst>
          </p:cNvPr>
          <p:cNvGrpSpPr>
            <a:grpSpLocks/>
          </p:cNvGrpSpPr>
          <p:nvPr/>
        </p:nvGrpSpPr>
        <p:grpSpPr bwMode="auto">
          <a:xfrm>
            <a:off x="1698402" y="4069648"/>
            <a:ext cx="1810860" cy="218599"/>
            <a:chOff x="1301750" y="1709738"/>
            <a:chExt cx="2130425" cy="339725"/>
          </a:xfrm>
        </p:grpSpPr>
        <p:sp>
          <p:nvSpPr>
            <p:cNvPr id="37" name="Line 10">
              <a:extLst>
                <a:ext uri="{FF2B5EF4-FFF2-40B4-BE49-F238E27FC236}">
                  <a16:creationId xmlns:a16="http://schemas.microsoft.com/office/drawing/2014/main" id="{510E9A33-00A1-3350-86B9-54DA45553199}"/>
                </a:ext>
              </a:extLst>
            </p:cNvPr>
            <p:cNvSpPr>
              <a:spLocks noChangeShapeType="1"/>
            </p:cNvSpPr>
            <p:nvPr/>
          </p:nvSpPr>
          <p:spPr bwMode="auto">
            <a:xfrm>
              <a:off x="3432175" y="1709738"/>
              <a:ext cx="0" cy="3222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38" name="Line 10">
              <a:extLst>
                <a:ext uri="{FF2B5EF4-FFF2-40B4-BE49-F238E27FC236}">
                  <a16:creationId xmlns:a16="http://schemas.microsoft.com/office/drawing/2014/main" id="{C6027435-1E57-36DB-6BB1-A348CF56E471}"/>
                </a:ext>
              </a:extLst>
            </p:cNvPr>
            <p:cNvSpPr>
              <a:spLocks noChangeShapeType="1"/>
            </p:cNvSpPr>
            <p:nvPr/>
          </p:nvSpPr>
          <p:spPr bwMode="auto">
            <a:xfrm>
              <a:off x="1301750" y="1727200"/>
              <a:ext cx="0" cy="322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grpSp>
      <p:sp>
        <p:nvSpPr>
          <p:cNvPr id="22" name="Line 20">
            <a:extLst>
              <a:ext uri="{FF2B5EF4-FFF2-40B4-BE49-F238E27FC236}">
                <a16:creationId xmlns:a16="http://schemas.microsoft.com/office/drawing/2014/main" id="{F21C1531-DFE2-D294-D52F-8384537CA8AD}"/>
              </a:ext>
            </a:extLst>
          </p:cNvPr>
          <p:cNvSpPr>
            <a:spLocks noChangeShapeType="1"/>
          </p:cNvSpPr>
          <p:nvPr/>
        </p:nvSpPr>
        <p:spPr bwMode="auto">
          <a:xfrm flipV="1">
            <a:off x="3499386" y="3513850"/>
            <a:ext cx="340041" cy="269875"/>
          </a:xfrm>
          <a:prstGeom prst="line">
            <a:avLst/>
          </a:prstGeom>
          <a:noFill/>
          <a:ln w="9525">
            <a:solidFill>
              <a:schemeClr val="tx1"/>
            </a:solidFill>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23" name="Text Box 21">
            <a:extLst>
              <a:ext uri="{FF2B5EF4-FFF2-40B4-BE49-F238E27FC236}">
                <a16:creationId xmlns:a16="http://schemas.microsoft.com/office/drawing/2014/main" id="{4FAA2508-755B-E1B2-3F6F-8313170BC253}"/>
              </a:ext>
            </a:extLst>
          </p:cNvPr>
          <p:cNvSpPr txBox="1">
            <a:spLocks noChangeArrowheads="1"/>
          </p:cNvSpPr>
          <p:nvPr/>
        </p:nvSpPr>
        <p:spPr bwMode="auto">
          <a:xfrm>
            <a:off x="2487185" y="4214031"/>
            <a:ext cx="4992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(a)</a:t>
            </a:r>
          </a:p>
        </p:txBody>
      </p:sp>
      <p:sp>
        <p:nvSpPr>
          <p:cNvPr id="24" name="Text Box 21">
            <a:extLst>
              <a:ext uri="{FF2B5EF4-FFF2-40B4-BE49-F238E27FC236}">
                <a16:creationId xmlns:a16="http://schemas.microsoft.com/office/drawing/2014/main" id="{1D516555-7F77-A478-DDA4-8C6C0082F675}"/>
              </a:ext>
            </a:extLst>
          </p:cNvPr>
          <p:cNvSpPr txBox="1">
            <a:spLocks noChangeArrowheads="1"/>
          </p:cNvSpPr>
          <p:nvPr/>
        </p:nvSpPr>
        <p:spPr bwMode="auto">
          <a:xfrm>
            <a:off x="5921343" y="4215380"/>
            <a:ext cx="4992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(b)</a:t>
            </a:r>
          </a:p>
        </p:txBody>
      </p:sp>
      <p:sp>
        <p:nvSpPr>
          <p:cNvPr id="25" name="矩形 24">
            <a:extLst>
              <a:ext uri="{FF2B5EF4-FFF2-40B4-BE49-F238E27FC236}">
                <a16:creationId xmlns:a16="http://schemas.microsoft.com/office/drawing/2014/main" id="{D587C279-6FD4-A09A-E8FD-467340AC356B}"/>
              </a:ext>
            </a:extLst>
          </p:cNvPr>
          <p:cNvSpPr>
            <a:spLocks noChangeArrowheads="1"/>
          </p:cNvSpPr>
          <p:nvPr/>
        </p:nvSpPr>
        <p:spPr bwMode="auto">
          <a:xfrm>
            <a:off x="2236202" y="4075045"/>
            <a:ext cx="696277" cy="245586"/>
          </a:xfrm>
          <a:prstGeom prst="rect">
            <a:avLst/>
          </a:prstGeom>
          <a:solidFill>
            <a:srgbClr val="C3E3F9"/>
          </a:solidFill>
          <a:ln>
            <a:noFill/>
          </a:ln>
        </p:spPr>
        <p:txBody>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endParaRPr lang="zh-CN" altLang="en-US" sz="1800" b="1">
              <a:ea typeface="微软雅黑" panose="020B0503020204020204" pitchFamily="34" charset="-122"/>
            </a:endParaRPr>
          </a:p>
        </p:txBody>
      </p:sp>
      <p:sp>
        <p:nvSpPr>
          <p:cNvPr id="26" name="Text Box 21">
            <a:extLst>
              <a:ext uri="{FF2B5EF4-FFF2-40B4-BE49-F238E27FC236}">
                <a16:creationId xmlns:a16="http://schemas.microsoft.com/office/drawing/2014/main" id="{8AAB94E7-93E0-A5E7-0709-1EA50B956A00}"/>
              </a:ext>
            </a:extLst>
          </p:cNvPr>
          <p:cNvSpPr txBox="1">
            <a:spLocks noChangeArrowheads="1"/>
          </p:cNvSpPr>
          <p:nvPr/>
        </p:nvSpPr>
        <p:spPr bwMode="auto">
          <a:xfrm>
            <a:off x="2217310" y="4015673"/>
            <a:ext cx="120499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dirty="0">
                <a:ea typeface="微软雅黑" panose="020B0503020204020204" pitchFamily="34" charset="-122"/>
              </a:rPr>
              <a:t>DS </a:t>
            </a:r>
            <a:r>
              <a:rPr lang="zh-CN" altLang="en-US" sz="1200" b="1" dirty="0">
                <a:ea typeface="微软雅黑" panose="020B0503020204020204" pitchFamily="34" charset="-122"/>
              </a:rPr>
              <a:t>字段</a:t>
            </a:r>
            <a:endParaRPr lang="en-US" altLang="zh-CN" sz="1200" b="1" dirty="0">
              <a:ea typeface="微软雅黑" panose="020B0503020204020204" pitchFamily="34" charset="-122"/>
            </a:endParaRPr>
          </a:p>
        </p:txBody>
      </p:sp>
      <p:sp>
        <p:nvSpPr>
          <p:cNvPr id="27" name="Text Box 21">
            <a:extLst>
              <a:ext uri="{FF2B5EF4-FFF2-40B4-BE49-F238E27FC236}">
                <a16:creationId xmlns:a16="http://schemas.microsoft.com/office/drawing/2014/main" id="{171238D4-916A-A487-3EAE-D65EDB84E21B}"/>
              </a:ext>
            </a:extLst>
          </p:cNvPr>
          <p:cNvSpPr txBox="1">
            <a:spLocks noChangeArrowheads="1"/>
          </p:cNvSpPr>
          <p:nvPr/>
        </p:nvSpPr>
        <p:spPr bwMode="auto">
          <a:xfrm>
            <a:off x="3318399" y="3102147"/>
            <a:ext cx="120499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显式拥塞通知</a:t>
            </a:r>
            <a:endParaRPr lang="en-US" altLang="zh-CN" sz="1200" b="1">
              <a:ea typeface="微软雅黑" panose="020B0503020204020204" pitchFamily="34" charset="-122"/>
            </a:endParaRPr>
          </a:p>
        </p:txBody>
      </p:sp>
      <p:sp>
        <p:nvSpPr>
          <p:cNvPr id="28" name="Text Box 21">
            <a:extLst>
              <a:ext uri="{FF2B5EF4-FFF2-40B4-BE49-F238E27FC236}">
                <a16:creationId xmlns:a16="http://schemas.microsoft.com/office/drawing/2014/main" id="{73AA2FF0-CE39-0D1B-393D-4793C106A067}"/>
              </a:ext>
            </a:extLst>
          </p:cNvPr>
          <p:cNvSpPr txBox="1">
            <a:spLocks noChangeArrowheads="1"/>
          </p:cNvSpPr>
          <p:nvPr/>
        </p:nvSpPr>
        <p:spPr bwMode="auto">
          <a:xfrm>
            <a:off x="4832398" y="3102147"/>
            <a:ext cx="105790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ECN </a:t>
            </a:r>
            <a:r>
              <a:rPr lang="zh-CN" altLang="en-US" sz="1200" b="1">
                <a:ea typeface="微软雅黑" panose="020B0503020204020204" pitchFamily="34" charset="-122"/>
              </a:rPr>
              <a:t>字段</a:t>
            </a:r>
            <a:endParaRPr lang="en-US" altLang="zh-CN" sz="1200" b="1">
              <a:ea typeface="微软雅黑" panose="020B0503020204020204" pitchFamily="34" charset="-122"/>
            </a:endParaRPr>
          </a:p>
        </p:txBody>
      </p:sp>
      <p:cxnSp>
        <p:nvCxnSpPr>
          <p:cNvPr id="29" name="直接连接符 28">
            <a:extLst>
              <a:ext uri="{FF2B5EF4-FFF2-40B4-BE49-F238E27FC236}">
                <a16:creationId xmlns:a16="http://schemas.microsoft.com/office/drawing/2014/main" id="{836E847A-FB98-8C3E-8346-CF2226CBCCB2}"/>
              </a:ext>
            </a:extLst>
          </p:cNvPr>
          <p:cNvCxnSpPr>
            <a:cxnSpLocks noChangeShapeType="1"/>
          </p:cNvCxnSpPr>
          <p:nvPr/>
        </p:nvCxnSpPr>
        <p:spPr bwMode="auto">
          <a:xfrm>
            <a:off x="4848591" y="3384166"/>
            <a:ext cx="2551667" cy="5397"/>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a:extLst>
              <a:ext uri="{FF2B5EF4-FFF2-40B4-BE49-F238E27FC236}">
                <a16:creationId xmlns:a16="http://schemas.microsoft.com/office/drawing/2014/main" id="{0A36EF84-0A6B-B3CA-68CB-22430EF48A92}"/>
              </a:ext>
            </a:extLst>
          </p:cNvPr>
          <p:cNvCxnSpPr>
            <a:cxnSpLocks noChangeShapeType="1"/>
          </p:cNvCxnSpPr>
          <p:nvPr/>
        </p:nvCxnSpPr>
        <p:spPr bwMode="auto">
          <a:xfrm>
            <a:off x="4848591" y="4258560"/>
            <a:ext cx="2551667"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Text Box 21">
            <a:extLst>
              <a:ext uri="{FF2B5EF4-FFF2-40B4-BE49-F238E27FC236}">
                <a16:creationId xmlns:a16="http://schemas.microsoft.com/office/drawing/2014/main" id="{409E95FD-075E-4E44-D19B-8BDC2E2120AD}"/>
              </a:ext>
            </a:extLst>
          </p:cNvPr>
          <p:cNvSpPr txBox="1">
            <a:spLocks noChangeArrowheads="1"/>
          </p:cNvSpPr>
          <p:nvPr/>
        </p:nvSpPr>
        <p:spPr bwMode="auto">
          <a:xfrm>
            <a:off x="5525589" y="3377345"/>
            <a:ext cx="975597" cy="897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lnSpc>
                <a:spcPts val="1600"/>
              </a:lnSpc>
              <a:spcBef>
                <a:spcPct val="0"/>
              </a:spcBef>
              <a:buFontTx/>
              <a:buNone/>
            </a:pPr>
            <a:r>
              <a:rPr lang="en-US" altLang="zh-CN" sz="1200" b="1" dirty="0">
                <a:ea typeface="微软雅黑" panose="020B0503020204020204" pitchFamily="34" charset="-122"/>
              </a:rPr>
              <a:t>Non-ECT   </a:t>
            </a:r>
          </a:p>
          <a:p>
            <a:pPr algn="ctr" eaLnBrk="1" hangingPunct="1">
              <a:lnSpc>
                <a:spcPts val="1600"/>
              </a:lnSpc>
              <a:spcBef>
                <a:spcPct val="0"/>
              </a:spcBef>
              <a:buFontTx/>
              <a:buNone/>
            </a:pPr>
            <a:r>
              <a:rPr lang="en-US" altLang="zh-CN" sz="1200" b="1" dirty="0">
                <a:ea typeface="微软雅黑" panose="020B0503020204020204" pitchFamily="34" charset="-122"/>
              </a:rPr>
              <a:t>ECT(1)</a:t>
            </a:r>
          </a:p>
          <a:p>
            <a:pPr algn="ctr" eaLnBrk="1" hangingPunct="1">
              <a:lnSpc>
                <a:spcPts val="1600"/>
              </a:lnSpc>
              <a:spcBef>
                <a:spcPct val="0"/>
              </a:spcBef>
              <a:buFontTx/>
              <a:buNone/>
            </a:pPr>
            <a:r>
              <a:rPr lang="en-US" altLang="zh-CN" sz="1200" b="1" dirty="0">
                <a:ea typeface="微软雅黑" panose="020B0503020204020204" pitchFamily="34" charset="-122"/>
              </a:rPr>
              <a:t>ECT(0)</a:t>
            </a:r>
          </a:p>
          <a:p>
            <a:pPr algn="ctr" eaLnBrk="1" hangingPunct="1">
              <a:lnSpc>
                <a:spcPts val="1600"/>
              </a:lnSpc>
              <a:spcBef>
                <a:spcPct val="0"/>
              </a:spcBef>
              <a:buFontTx/>
              <a:buNone/>
            </a:pPr>
            <a:r>
              <a:rPr lang="en-US" altLang="zh-CN" sz="1200" b="1" dirty="0">
                <a:ea typeface="微软雅黑" panose="020B0503020204020204" pitchFamily="34" charset="-122"/>
              </a:rPr>
              <a:t>CE</a:t>
            </a:r>
          </a:p>
        </p:txBody>
      </p:sp>
      <p:sp>
        <p:nvSpPr>
          <p:cNvPr id="32" name="Text Box 21">
            <a:extLst>
              <a:ext uri="{FF2B5EF4-FFF2-40B4-BE49-F238E27FC236}">
                <a16:creationId xmlns:a16="http://schemas.microsoft.com/office/drawing/2014/main" id="{EB1C6807-C586-65D0-AB5C-BC95648461D1}"/>
              </a:ext>
            </a:extLst>
          </p:cNvPr>
          <p:cNvSpPr txBox="1">
            <a:spLocks noChangeArrowheads="1"/>
          </p:cNvSpPr>
          <p:nvPr/>
        </p:nvSpPr>
        <p:spPr bwMode="auto">
          <a:xfrm>
            <a:off x="6625717" y="3102147"/>
            <a:ext cx="61396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意义</a:t>
            </a:r>
            <a:endParaRPr lang="en-US" altLang="zh-CN" sz="1200" b="1">
              <a:ea typeface="微软雅黑" panose="020B0503020204020204" pitchFamily="34" charset="-122"/>
            </a:endParaRPr>
          </a:p>
        </p:txBody>
      </p:sp>
      <p:sp>
        <p:nvSpPr>
          <p:cNvPr id="33" name="Text Box 21">
            <a:extLst>
              <a:ext uri="{FF2B5EF4-FFF2-40B4-BE49-F238E27FC236}">
                <a16:creationId xmlns:a16="http://schemas.microsoft.com/office/drawing/2014/main" id="{4A02ACEC-738C-EA30-267D-2DE602A990C7}"/>
              </a:ext>
            </a:extLst>
          </p:cNvPr>
          <p:cNvSpPr txBox="1">
            <a:spLocks noChangeArrowheads="1"/>
          </p:cNvSpPr>
          <p:nvPr/>
        </p:nvSpPr>
        <p:spPr bwMode="auto">
          <a:xfrm>
            <a:off x="5768864" y="3102147"/>
            <a:ext cx="61396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名称</a:t>
            </a:r>
            <a:endParaRPr lang="en-US" altLang="zh-CN" sz="1200" b="1">
              <a:ea typeface="微软雅黑" panose="020B0503020204020204" pitchFamily="34" charset="-122"/>
            </a:endParaRPr>
          </a:p>
        </p:txBody>
      </p:sp>
      <p:cxnSp>
        <p:nvCxnSpPr>
          <p:cNvPr id="34" name="直接连接符 33">
            <a:extLst>
              <a:ext uri="{FF2B5EF4-FFF2-40B4-BE49-F238E27FC236}">
                <a16:creationId xmlns:a16="http://schemas.microsoft.com/office/drawing/2014/main" id="{0E6BA546-0BBF-2468-11CA-1FF1B203BE1D}"/>
              </a:ext>
            </a:extLst>
          </p:cNvPr>
          <p:cNvCxnSpPr>
            <a:cxnSpLocks noChangeShapeType="1"/>
          </p:cNvCxnSpPr>
          <p:nvPr/>
        </p:nvCxnSpPr>
        <p:spPr bwMode="auto">
          <a:xfrm flipV="1">
            <a:off x="5644721" y="3384166"/>
            <a:ext cx="0" cy="851456"/>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34">
            <a:extLst>
              <a:ext uri="{FF2B5EF4-FFF2-40B4-BE49-F238E27FC236}">
                <a16:creationId xmlns:a16="http://schemas.microsoft.com/office/drawing/2014/main" id="{812B5648-97DF-5DAE-B3A5-541F84AAB7DC}"/>
              </a:ext>
            </a:extLst>
          </p:cNvPr>
          <p:cNvCxnSpPr>
            <a:cxnSpLocks noChangeShapeType="1"/>
          </p:cNvCxnSpPr>
          <p:nvPr/>
        </p:nvCxnSpPr>
        <p:spPr bwMode="auto">
          <a:xfrm flipV="1">
            <a:off x="6389576" y="3397660"/>
            <a:ext cx="0" cy="852805"/>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Text Box 19">
            <a:extLst>
              <a:ext uri="{FF2B5EF4-FFF2-40B4-BE49-F238E27FC236}">
                <a16:creationId xmlns:a16="http://schemas.microsoft.com/office/drawing/2014/main" id="{D1B272CD-A8A3-D4C8-8CF2-DDDBAC54C35A}"/>
              </a:ext>
            </a:extLst>
          </p:cNvPr>
          <p:cNvSpPr txBox="1">
            <a:spLocks noChangeArrowheads="1"/>
          </p:cNvSpPr>
          <p:nvPr/>
        </p:nvSpPr>
        <p:spPr bwMode="auto">
          <a:xfrm>
            <a:off x="4922851" y="3403933"/>
            <a:ext cx="2731133" cy="86946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spcAft>
                <a:spcPts val="300"/>
              </a:spcAft>
              <a:buFontTx/>
              <a:buNone/>
            </a:pPr>
            <a:r>
              <a:rPr lang="en-US" altLang="zh-CN" sz="1200" b="1" dirty="0">
                <a:ea typeface="微软雅黑" panose="020B0503020204020204" pitchFamily="34" charset="-122"/>
              </a:rPr>
              <a:t>   0   0                           </a:t>
            </a:r>
            <a:r>
              <a:rPr lang="zh-CN" altLang="en-US" sz="1200" b="1" dirty="0">
                <a:ea typeface="微软雅黑" panose="020B0503020204020204" pitchFamily="34" charset="-122"/>
              </a:rPr>
              <a:t>不支持 </a:t>
            </a:r>
            <a:r>
              <a:rPr lang="en-US" altLang="zh-CN" sz="1200" b="1" dirty="0">
                <a:ea typeface="微软雅黑" panose="020B0503020204020204" pitchFamily="34" charset="-122"/>
              </a:rPr>
              <a:t>ECN</a:t>
            </a:r>
          </a:p>
          <a:p>
            <a:pPr eaLnBrk="1" hangingPunct="1">
              <a:spcBef>
                <a:spcPct val="0"/>
              </a:spcBef>
              <a:buFontTx/>
              <a:buNone/>
            </a:pPr>
            <a:r>
              <a:rPr lang="en-US" altLang="zh-CN" sz="1200" b="1" dirty="0">
                <a:ea typeface="微软雅黑" panose="020B0503020204020204" pitchFamily="34" charset="-122"/>
              </a:rPr>
              <a:t>   0   1                             </a:t>
            </a:r>
            <a:r>
              <a:rPr lang="zh-CN" altLang="en-US" sz="1200" b="1" dirty="0">
                <a:ea typeface="微软雅黑" panose="020B0503020204020204" pitchFamily="34" charset="-122"/>
              </a:rPr>
              <a:t>支持 </a:t>
            </a:r>
            <a:r>
              <a:rPr lang="en-US" altLang="zh-CN" sz="1200" b="1" dirty="0">
                <a:ea typeface="微软雅黑" panose="020B0503020204020204" pitchFamily="34" charset="-122"/>
              </a:rPr>
              <a:t>ECN</a:t>
            </a:r>
          </a:p>
          <a:p>
            <a:pPr eaLnBrk="1" hangingPunct="1">
              <a:spcBef>
                <a:spcPct val="0"/>
              </a:spcBef>
              <a:buFontTx/>
              <a:buNone/>
            </a:pPr>
            <a:r>
              <a:rPr lang="en-US" altLang="zh-CN" sz="1200" b="1" dirty="0">
                <a:ea typeface="微软雅黑" panose="020B0503020204020204" pitchFamily="34" charset="-122"/>
              </a:rPr>
              <a:t>   1   0                             </a:t>
            </a:r>
            <a:r>
              <a:rPr lang="zh-CN" altLang="en-US" sz="1200" b="1" dirty="0">
                <a:ea typeface="微软雅黑" panose="020B0503020204020204" pitchFamily="34" charset="-122"/>
              </a:rPr>
              <a:t>支持 </a:t>
            </a:r>
            <a:r>
              <a:rPr lang="en-US" altLang="zh-CN" sz="1200" b="1" dirty="0">
                <a:ea typeface="微软雅黑" panose="020B0503020204020204" pitchFamily="34" charset="-122"/>
              </a:rPr>
              <a:t>ECN</a:t>
            </a:r>
          </a:p>
          <a:p>
            <a:pPr eaLnBrk="1" hangingPunct="1">
              <a:spcBef>
                <a:spcPct val="0"/>
              </a:spcBef>
              <a:buFontTx/>
              <a:buNone/>
            </a:pPr>
            <a:r>
              <a:rPr lang="en-US" altLang="zh-CN" sz="1200" b="1" dirty="0">
                <a:ea typeface="微软雅黑" panose="020B0503020204020204" pitchFamily="34" charset="-122"/>
              </a:rPr>
              <a:t>   1   1                            </a:t>
            </a:r>
            <a:r>
              <a:rPr lang="zh-CN" altLang="en-US" sz="1200" b="1" dirty="0">
                <a:ea typeface="微软雅黑" panose="020B0503020204020204" pitchFamily="34" charset="-122"/>
              </a:rPr>
              <a:t>已经历拥塞</a:t>
            </a:r>
            <a:endParaRPr lang="en-US" altLang="zh-CN" sz="1200" b="1" dirty="0">
              <a:ea typeface="微软雅黑" panose="020B0503020204020204" pitchFamily="34" charset="-122"/>
            </a:endParaRPr>
          </a:p>
        </p:txBody>
      </p:sp>
    </p:spTree>
    <p:extLst>
      <p:ext uri="{BB962C8B-B14F-4D97-AF65-F5344CB8AC3E}">
        <p14:creationId xmlns:p14="http://schemas.microsoft.com/office/powerpoint/2010/main" val="2611552433"/>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0406B-96E1-7757-D925-F224728A39E6}"/>
            </a:ext>
          </a:extLst>
        </p:cNvPr>
        <p:cNvGrpSpPr/>
        <p:nvPr/>
      </p:nvGrpSpPr>
      <p:grpSpPr>
        <a:xfrm>
          <a:off x="0" y="0"/>
          <a:ext cx="0" cy="0"/>
          <a:chOff x="0" y="0"/>
          <a:chExt cx="0" cy="0"/>
        </a:xfrm>
      </p:grpSpPr>
      <p:sp>
        <p:nvSpPr>
          <p:cNvPr id="39" name="圆角矩形 37">
            <a:extLst>
              <a:ext uri="{FF2B5EF4-FFF2-40B4-BE49-F238E27FC236}">
                <a16:creationId xmlns:a16="http://schemas.microsoft.com/office/drawing/2014/main" id="{A45DEB20-0AD6-C917-56A1-4B835E6BA30C}"/>
              </a:ext>
            </a:extLst>
          </p:cNvPr>
          <p:cNvSpPr/>
          <p:nvPr/>
        </p:nvSpPr>
        <p:spPr>
          <a:xfrm>
            <a:off x="1091322" y="2915266"/>
            <a:ext cx="6961355" cy="162908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AutoShape 5">
            <a:extLst>
              <a:ext uri="{FF2B5EF4-FFF2-40B4-BE49-F238E27FC236}">
                <a16:creationId xmlns:a16="http://schemas.microsoft.com/office/drawing/2014/main" id="{D3AE049E-DF85-4C0B-5559-D1CF5F85CBF3}"/>
              </a:ext>
            </a:extLst>
          </p:cNvPr>
          <p:cNvSpPr>
            <a:spLocks noChangeArrowheads="1"/>
          </p:cNvSpPr>
          <p:nvPr/>
        </p:nvSpPr>
        <p:spPr bwMode="auto">
          <a:xfrm>
            <a:off x="545143" y="625919"/>
            <a:ext cx="8053711" cy="357839"/>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a:extLst>
              <a:ext uri="{FF2B5EF4-FFF2-40B4-BE49-F238E27FC236}">
                <a16:creationId xmlns:a16="http://schemas.microsoft.com/office/drawing/2014/main" id="{F6D58CE9-8B34-F7F9-8693-9E3C4511F35F}"/>
              </a:ext>
            </a:extLst>
          </p:cNvPr>
          <p:cNvSpPr>
            <a:spLocks noChangeArrowheads="1"/>
          </p:cNvSpPr>
          <p:nvPr/>
        </p:nvSpPr>
        <p:spPr bwMode="auto">
          <a:xfrm>
            <a:off x="3248567" y="599146"/>
            <a:ext cx="264687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显式拥塞通知</a:t>
            </a:r>
            <a:r>
              <a:rPr lang="en-US" altLang="zh-CN" sz="2000" b="1" dirty="0">
                <a:solidFill>
                  <a:schemeClr val="bg1"/>
                </a:solidFill>
                <a:latin typeface="微软雅黑" pitchFamily="34" charset="-122"/>
                <a:ea typeface="微软雅黑" pitchFamily="34" charset="-122"/>
              </a:rPr>
              <a:t>ECN </a:t>
            </a:r>
            <a:endParaRPr lang="zh-CN" altLang="en-US" sz="2000" b="1" dirty="0">
              <a:solidFill>
                <a:schemeClr val="bg1"/>
              </a:solidFill>
              <a:latin typeface="微软雅黑" pitchFamily="34" charset="-122"/>
              <a:ea typeface="微软雅黑" pitchFamily="34" charset="-122"/>
            </a:endParaRPr>
          </a:p>
        </p:txBody>
      </p:sp>
      <p:sp>
        <p:nvSpPr>
          <p:cNvPr id="4" name="Rectangle 8">
            <a:extLst>
              <a:ext uri="{FF2B5EF4-FFF2-40B4-BE49-F238E27FC236}">
                <a16:creationId xmlns:a16="http://schemas.microsoft.com/office/drawing/2014/main" id="{2E1D5A7C-3C35-C255-16C1-48827928438C}"/>
              </a:ext>
            </a:extLst>
          </p:cNvPr>
          <p:cNvSpPr>
            <a:spLocks noChangeArrowheads="1"/>
          </p:cNvSpPr>
          <p:nvPr/>
        </p:nvSpPr>
        <p:spPr bwMode="auto">
          <a:xfrm>
            <a:off x="545143" y="1029517"/>
            <a:ext cx="8053711" cy="1589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若双方都同意使用</a:t>
            </a:r>
            <a:r>
              <a:rPr lang="en-US" altLang="zh-CN" b="1" dirty="0">
                <a:latin typeface="微软雅黑" pitchFamily="34" charset="-122"/>
                <a:ea typeface="微软雅黑" pitchFamily="34" charset="-122"/>
              </a:rPr>
              <a:t>ECN</a:t>
            </a:r>
            <a:r>
              <a:rPr lang="zh-CN" altLang="en-US" b="1" dirty="0">
                <a:latin typeface="微软雅黑" pitchFamily="34" charset="-122"/>
                <a:ea typeface="微软雅黑" pitchFamily="34" charset="-122"/>
              </a:rPr>
              <a:t>，那么在</a:t>
            </a:r>
            <a:r>
              <a:rPr lang="en-US" altLang="zh-CN" b="1" dirty="0">
                <a:latin typeface="微软雅黑" pitchFamily="34" charset="-122"/>
                <a:ea typeface="微软雅黑" pitchFamily="34" charset="-122"/>
              </a:rPr>
              <a:t>A</a:t>
            </a:r>
            <a:r>
              <a:rPr lang="zh-CN" altLang="en-US" b="1" dirty="0">
                <a:latin typeface="微软雅黑" pitchFamily="34" charset="-122"/>
                <a:ea typeface="微软雅黑" pitchFamily="34" charset="-122"/>
              </a:rPr>
              <a:t>和</a:t>
            </a:r>
            <a:r>
              <a:rPr lang="en-US" altLang="zh-CN" b="1" dirty="0">
                <a:latin typeface="微软雅黑" pitchFamily="34" charset="-122"/>
                <a:ea typeface="微软雅黑" pitchFamily="34" charset="-122"/>
              </a:rPr>
              <a:t>B</a:t>
            </a:r>
            <a:r>
              <a:rPr lang="zh-CN" altLang="en-US" b="1" dirty="0">
                <a:latin typeface="微软雅黑" pitchFamily="34" charset="-122"/>
                <a:ea typeface="微软雅黑" pitchFamily="34" charset="-122"/>
              </a:rPr>
              <a:t>双方发送数据时，控制位</a:t>
            </a:r>
            <a:r>
              <a:rPr lang="en-US" altLang="zh-CN" b="1" dirty="0">
                <a:latin typeface="微软雅黑" pitchFamily="34" charset="-122"/>
                <a:ea typeface="微软雅黑" pitchFamily="34" charset="-122"/>
              </a:rPr>
              <a:t>ECE</a:t>
            </a:r>
            <a:r>
              <a:rPr lang="zh-CN" altLang="en-US" b="1" dirty="0">
                <a:latin typeface="微软雅黑" pitchFamily="34" charset="-122"/>
                <a:ea typeface="微软雅黑" pitchFamily="34" charset="-122"/>
              </a:rPr>
              <a:t>和</a:t>
            </a:r>
            <a:r>
              <a:rPr lang="en-US" altLang="zh-CN" b="1" dirty="0">
                <a:latin typeface="微软雅黑" pitchFamily="34" charset="-122"/>
                <a:ea typeface="微软雅黑" pitchFamily="34" charset="-122"/>
              </a:rPr>
              <a:t>CWR</a:t>
            </a:r>
            <a:r>
              <a:rPr lang="zh-CN" altLang="en-US" b="1" dirty="0">
                <a:latin typeface="微软雅黑" pitchFamily="34" charset="-122"/>
                <a:ea typeface="微软雅黑" pitchFamily="34" charset="-122"/>
              </a:rPr>
              <a:t>则应根据网络的拥塞情况动态置位。</a:t>
            </a:r>
            <a:endParaRPr lang="en-US" altLang="zh-CN"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通常在</a:t>
            </a:r>
            <a:r>
              <a:rPr lang="en-US" altLang="zh-CN" b="1" dirty="0">
                <a:latin typeface="微软雅黑" pitchFamily="34" charset="-122"/>
                <a:ea typeface="微软雅黑" pitchFamily="34" charset="-122"/>
              </a:rPr>
              <a:t>TCP</a:t>
            </a:r>
            <a:r>
              <a:rPr lang="zh-CN" altLang="en-US" b="1" dirty="0">
                <a:latin typeface="微软雅黑" pitchFamily="34" charset="-122"/>
                <a:ea typeface="微软雅黑" pitchFamily="34" charset="-122"/>
              </a:rPr>
              <a:t>开始发送数据时网络并没有发生拥塞，这时双方发送的报文段中的控制位</a:t>
            </a:r>
            <a:r>
              <a:rPr lang="en-US" altLang="zh-CN" b="1" dirty="0">
                <a:latin typeface="微软雅黑" pitchFamily="34" charset="-122"/>
                <a:ea typeface="微软雅黑" pitchFamily="34" charset="-122"/>
              </a:rPr>
              <a:t>ECE</a:t>
            </a:r>
            <a:r>
              <a:rPr lang="zh-CN" altLang="en-US" b="1" dirty="0">
                <a:latin typeface="微软雅黑" pitchFamily="34" charset="-122"/>
                <a:ea typeface="微软雅黑" pitchFamily="34" charset="-122"/>
              </a:rPr>
              <a:t>和</a:t>
            </a:r>
            <a:r>
              <a:rPr lang="en-US" altLang="zh-CN" b="1" dirty="0">
                <a:latin typeface="微软雅黑" pitchFamily="34" charset="-122"/>
                <a:ea typeface="微软雅黑" pitchFamily="34" charset="-122"/>
              </a:rPr>
              <a:t>CWR</a:t>
            </a:r>
            <a:r>
              <a:rPr lang="zh-CN" altLang="en-US" b="1" dirty="0">
                <a:latin typeface="微软雅黑" pitchFamily="34" charset="-122"/>
                <a:ea typeface="微软雅黑" pitchFamily="34" charset="-122"/>
              </a:rPr>
              <a:t>都应置为</a:t>
            </a:r>
            <a:r>
              <a:rPr lang="en-US" altLang="zh-CN" b="1" dirty="0">
                <a:latin typeface="微软雅黑" pitchFamily="34" charset="-122"/>
                <a:ea typeface="微软雅黑" pitchFamily="34" charset="-122"/>
              </a:rPr>
              <a:t>0</a:t>
            </a:r>
            <a:r>
              <a:rPr lang="zh-CN" altLang="en-US" b="1" dirty="0">
                <a:latin typeface="微软雅黑" pitchFamily="34" charset="-122"/>
                <a:ea typeface="微软雅黑" pitchFamily="34" charset="-122"/>
              </a:rPr>
              <a:t>。</a:t>
            </a:r>
          </a:p>
        </p:txBody>
      </p:sp>
      <p:sp>
        <p:nvSpPr>
          <p:cNvPr id="6" name="Rectangle 4">
            <a:extLst>
              <a:ext uri="{FF2B5EF4-FFF2-40B4-BE49-F238E27FC236}">
                <a16:creationId xmlns:a16="http://schemas.microsoft.com/office/drawing/2014/main" id="{1F99443D-471C-533B-39A6-8923AA76D80E}"/>
              </a:ext>
            </a:extLst>
          </p:cNvPr>
          <p:cNvSpPr>
            <a:spLocks noChangeArrowheads="1"/>
          </p:cNvSpPr>
          <p:nvPr/>
        </p:nvSpPr>
        <p:spPr bwMode="auto">
          <a:xfrm>
            <a:off x="1695104" y="3589271"/>
            <a:ext cx="1805463" cy="453390"/>
          </a:xfrm>
          <a:prstGeom prst="rect">
            <a:avLst/>
          </a:prstGeom>
          <a:solidFill>
            <a:schemeClr val="bg1"/>
          </a:solidFill>
          <a:ln w="9525">
            <a:solidFill>
              <a:schemeClr val="tx1"/>
            </a:solidFill>
            <a:miter lim="800000"/>
            <a:headEnd/>
            <a:tailEnd/>
          </a:ln>
          <a:effectLst/>
        </p:spPr>
        <p:txBody>
          <a:bodyPr wrap="none" anchor="ct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endParaRPr lang="zh-CN" altLang="en-US" sz="1800" b="1">
              <a:ea typeface="微软雅黑" panose="020B0503020204020204" pitchFamily="34" charset="-122"/>
            </a:endParaRPr>
          </a:p>
        </p:txBody>
      </p:sp>
      <p:sp>
        <p:nvSpPr>
          <p:cNvPr id="7" name="矩形 6">
            <a:extLst>
              <a:ext uri="{FF2B5EF4-FFF2-40B4-BE49-F238E27FC236}">
                <a16:creationId xmlns:a16="http://schemas.microsoft.com/office/drawing/2014/main" id="{BA1AC826-94CB-04C8-9269-D6C362E411F2}"/>
              </a:ext>
            </a:extLst>
          </p:cNvPr>
          <p:cNvSpPr>
            <a:spLocks noChangeArrowheads="1"/>
          </p:cNvSpPr>
          <p:nvPr/>
        </p:nvSpPr>
        <p:spPr bwMode="auto">
          <a:xfrm>
            <a:off x="3049875" y="3589493"/>
            <a:ext cx="445293" cy="453390"/>
          </a:xfrm>
          <a:prstGeom prst="rect">
            <a:avLst/>
          </a:prstGeom>
          <a:solidFill>
            <a:srgbClr val="FFFF00"/>
          </a:solidFill>
          <a:ln w="28575" algn="ctr">
            <a:solidFill>
              <a:srgbClr val="FF0000"/>
            </a:solidFill>
            <a:round/>
            <a:headEnd/>
            <a:tailEnd/>
          </a:ln>
        </p:spPr>
        <p:txBody>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endParaRPr lang="zh-CN" altLang="en-US" sz="1800" b="1">
              <a:ea typeface="微软雅黑" panose="020B0503020204020204" pitchFamily="34" charset="-122"/>
            </a:endParaRPr>
          </a:p>
        </p:txBody>
      </p:sp>
      <p:sp>
        <p:nvSpPr>
          <p:cNvPr id="8" name="Line 20">
            <a:extLst>
              <a:ext uri="{FF2B5EF4-FFF2-40B4-BE49-F238E27FC236}">
                <a16:creationId xmlns:a16="http://schemas.microsoft.com/office/drawing/2014/main" id="{A4869707-8334-0224-0654-248AB02F4583}"/>
              </a:ext>
            </a:extLst>
          </p:cNvPr>
          <p:cNvSpPr>
            <a:spLocks noChangeShapeType="1"/>
          </p:cNvSpPr>
          <p:nvPr/>
        </p:nvSpPr>
        <p:spPr bwMode="auto">
          <a:xfrm flipV="1">
            <a:off x="1707248" y="4161405"/>
            <a:ext cx="1781174" cy="17542"/>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9" name="Line 5">
            <a:extLst>
              <a:ext uri="{FF2B5EF4-FFF2-40B4-BE49-F238E27FC236}">
                <a16:creationId xmlns:a16="http://schemas.microsoft.com/office/drawing/2014/main" id="{73D0B73F-ECF0-C475-BD4B-0F93F6A39F85}"/>
              </a:ext>
            </a:extLst>
          </p:cNvPr>
          <p:cNvSpPr>
            <a:spLocks noChangeShapeType="1"/>
          </p:cNvSpPr>
          <p:nvPr/>
        </p:nvSpPr>
        <p:spPr bwMode="auto">
          <a:xfrm>
            <a:off x="1920449"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0" name="Line 6">
            <a:extLst>
              <a:ext uri="{FF2B5EF4-FFF2-40B4-BE49-F238E27FC236}">
                <a16:creationId xmlns:a16="http://schemas.microsoft.com/office/drawing/2014/main" id="{24114B0D-B28A-F9A4-E14B-8794290CCBE8}"/>
              </a:ext>
            </a:extLst>
          </p:cNvPr>
          <p:cNvSpPr>
            <a:spLocks noChangeShapeType="1"/>
          </p:cNvSpPr>
          <p:nvPr/>
        </p:nvSpPr>
        <p:spPr bwMode="auto">
          <a:xfrm>
            <a:off x="2147143"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1" name="Line 7">
            <a:extLst>
              <a:ext uri="{FF2B5EF4-FFF2-40B4-BE49-F238E27FC236}">
                <a16:creationId xmlns:a16="http://schemas.microsoft.com/office/drawing/2014/main" id="{C02C7951-000F-B96E-BE27-1E38AC6318A4}"/>
              </a:ext>
            </a:extLst>
          </p:cNvPr>
          <p:cNvSpPr>
            <a:spLocks noChangeShapeType="1"/>
          </p:cNvSpPr>
          <p:nvPr/>
        </p:nvSpPr>
        <p:spPr bwMode="auto">
          <a:xfrm>
            <a:off x="2372489"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2" name="Line 8">
            <a:extLst>
              <a:ext uri="{FF2B5EF4-FFF2-40B4-BE49-F238E27FC236}">
                <a16:creationId xmlns:a16="http://schemas.microsoft.com/office/drawing/2014/main" id="{3DE6534E-FF3A-2FA0-4F8C-EC7914DCCD62}"/>
              </a:ext>
            </a:extLst>
          </p:cNvPr>
          <p:cNvSpPr>
            <a:spLocks noChangeShapeType="1"/>
          </p:cNvSpPr>
          <p:nvPr/>
        </p:nvSpPr>
        <p:spPr bwMode="auto">
          <a:xfrm>
            <a:off x="2597834"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3" name="Line 9">
            <a:extLst>
              <a:ext uri="{FF2B5EF4-FFF2-40B4-BE49-F238E27FC236}">
                <a16:creationId xmlns:a16="http://schemas.microsoft.com/office/drawing/2014/main" id="{B1C40391-C0F6-2E9A-ECD9-B978EFEC013C}"/>
              </a:ext>
            </a:extLst>
          </p:cNvPr>
          <p:cNvSpPr>
            <a:spLocks noChangeShapeType="1"/>
          </p:cNvSpPr>
          <p:nvPr/>
        </p:nvSpPr>
        <p:spPr bwMode="auto">
          <a:xfrm>
            <a:off x="2823180"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4" name="Line 10">
            <a:extLst>
              <a:ext uri="{FF2B5EF4-FFF2-40B4-BE49-F238E27FC236}">
                <a16:creationId xmlns:a16="http://schemas.microsoft.com/office/drawing/2014/main" id="{D92B91E0-5C2D-6E9A-8412-3F1561E9FA26}"/>
              </a:ext>
            </a:extLst>
          </p:cNvPr>
          <p:cNvSpPr>
            <a:spLocks noChangeShapeType="1"/>
          </p:cNvSpPr>
          <p:nvPr/>
        </p:nvSpPr>
        <p:spPr bwMode="auto">
          <a:xfrm>
            <a:off x="3049875"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5" name="Line 11">
            <a:extLst>
              <a:ext uri="{FF2B5EF4-FFF2-40B4-BE49-F238E27FC236}">
                <a16:creationId xmlns:a16="http://schemas.microsoft.com/office/drawing/2014/main" id="{17873C9D-F23A-D3CB-231C-3B45DF8193E0}"/>
              </a:ext>
            </a:extLst>
          </p:cNvPr>
          <p:cNvSpPr>
            <a:spLocks noChangeShapeType="1"/>
          </p:cNvSpPr>
          <p:nvPr/>
        </p:nvSpPr>
        <p:spPr bwMode="auto">
          <a:xfrm>
            <a:off x="3275220"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6" name="Text Box 3">
            <a:extLst>
              <a:ext uri="{FF2B5EF4-FFF2-40B4-BE49-F238E27FC236}">
                <a16:creationId xmlns:a16="http://schemas.microsoft.com/office/drawing/2014/main" id="{41D18E42-BA48-6274-728E-82627F3D2137}"/>
              </a:ext>
            </a:extLst>
          </p:cNvPr>
          <p:cNvSpPr txBox="1">
            <a:spLocks noChangeArrowheads="1"/>
          </p:cNvSpPr>
          <p:nvPr/>
        </p:nvSpPr>
        <p:spPr bwMode="auto">
          <a:xfrm>
            <a:off x="3027176" y="3602733"/>
            <a:ext cx="288766" cy="478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lnSpc>
                <a:spcPts val="1000"/>
              </a:lnSpc>
              <a:spcBef>
                <a:spcPct val="0"/>
              </a:spcBef>
              <a:buFontTx/>
              <a:buNone/>
            </a:pPr>
            <a:r>
              <a:rPr lang="en-US" altLang="zh-CN" sz="1100" b="1" dirty="0">
                <a:ea typeface="微软雅黑" panose="020B0503020204020204" pitchFamily="34" charset="-122"/>
              </a:rPr>
              <a:t>E</a:t>
            </a:r>
          </a:p>
          <a:p>
            <a:pPr algn="ctr" eaLnBrk="1" hangingPunct="1">
              <a:lnSpc>
                <a:spcPts val="1000"/>
              </a:lnSpc>
              <a:spcBef>
                <a:spcPct val="0"/>
              </a:spcBef>
              <a:buFontTx/>
              <a:buNone/>
            </a:pPr>
            <a:r>
              <a:rPr lang="en-US" altLang="zh-CN" sz="1100" b="1" dirty="0">
                <a:ea typeface="微软雅黑" panose="020B0503020204020204" pitchFamily="34" charset="-122"/>
              </a:rPr>
              <a:t>C</a:t>
            </a:r>
          </a:p>
          <a:p>
            <a:pPr algn="ctr" eaLnBrk="1" hangingPunct="1">
              <a:lnSpc>
                <a:spcPts val="1000"/>
              </a:lnSpc>
              <a:spcBef>
                <a:spcPct val="0"/>
              </a:spcBef>
              <a:buFontTx/>
              <a:buNone/>
            </a:pPr>
            <a:r>
              <a:rPr lang="en-US" altLang="zh-CN" sz="1100" b="1" dirty="0">
                <a:ea typeface="微软雅黑" panose="020B0503020204020204" pitchFamily="34" charset="-122"/>
              </a:rPr>
              <a:t>T</a:t>
            </a:r>
          </a:p>
        </p:txBody>
      </p:sp>
      <p:sp>
        <p:nvSpPr>
          <p:cNvPr id="17" name="Text Box 2">
            <a:extLst>
              <a:ext uri="{FF2B5EF4-FFF2-40B4-BE49-F238E27FC236}">
                <a16:creationId xmlns:a16="http://schemas.microsoft.com/office/drawing/2014/main" id="{0D6B8B76-9BE6-3F97-496F-2E790CD651C1}"/>
              </a:ext>
            </a:extLst>
          </p:cNvPr>
          <p:cNvSpPr txBox="1">
            <a:spLocks noChangeArrowheads="1"/>
          </p:cNvSpPr>
          <p:nvPr/>
        </p:nvSpPr>
        <p:spPr bwMode="auto">
          <a:xfrm>
            <a:off x="1824643" y="3674282"/>
            <a:ext cx="1038618" cy="27699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      DSCP      </a:t>
            </a:r>
          </a:p>
        </p:txBody>
      </p:sp>
      <p:sp>
        <p:nvSpPr>
          <p:cNvPr id="18" name="Text Box 19">
            <a:extLst>
              <a:ext uri="{FF2B5EF4-FFF2-40B4-BE49-F238E27FC236}">
                <a16:creationId xmlns:a16="http://schemas.microsoft.com/office/drawing/2014/main" id="{2E68794A-7E33-90E0-5AFD-453B89D20122}"/>
              </a:ext>
            </a:extLst>
          </p:cNvPr>
          <p:cNvSpPr txBox="1">
            <a:spLocks noChangeArrowheads="1"/>
          </p:cNvSpPr>
          <p:nvPr/>
        </p:nvSpPr>
        <p:spPr bwMode="auto">
          <a:xfrm>
            <a:off x="1411735" y="3353131"/>
            <a:ext cx="2423475"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位  </a:t>
            </a:r>
            <a:r>
              <a:rPr lang="en-US" altLang="zh-CN" sz="1200" b="1">
                <a:ea typeface="微软雅黑" panose="020B0503020204020204" pitchFamily="34" charset="-122"/>
              </a:rPr>
              <a:t>0                        5    6   7</a:t>
            </a:r>
          </a:p>
        </p:txBody>
      </p:sp>
      <p:sp>
        <p:nvSpPr>
          <p:cNvPr id="19" name="Text Box 3">
            <a:extLst>
              <a:ext uri="{FF2B5EF4-FFF2-40B4-BE49-F238E27FC236}">
                <a16:creationId xmlns:a16="http://schemas.microsoft.com/office/drawing/2014/main" id="{EDD5D3F1-DDEF-FBC3-9708-FAA3ABAC57AD}"/>
              </a:ext>
            </a:extLst>
          </p:cNvPr>
          <p:cNvSpPr txBox="1">
            <a:spLocks noChangeArrowheads="1"/>
          </p:cNvSpPr>
          <p:nvPr/>
        </p:nvSpPr>
        <p:spPr bwMode="auto">
          <a:xfrm>
            <a:off x="3244185" y="3633800"/>
            <a:ext cx="284719" cy="439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lnSpc>
                <a:spcPts val="1400"/>
              </a:lnSpc>
              <a:spcBef>
                <a:spcPct val="0"/>
              </a:spcBef>
              <a:buFontTx/>
              <a:buNone/>
            </a:pPr>
            <a:r>
              <a:rPr lang="en-US" altLang="zh-CN" sz="1100" b="1" dirty="0">
                <a:ea typeface="微软雅黑" panose="020B0503020204020204" pitchFamily="34" charset="-122"/>
              </a:rPr>
              <a:t>C</a:t>
            </a:r>
          </a:p>
          <a:p>
            <a:pPr algn="ctr" eaLnBrk="1" hangingPunct="1">
              <a:lnSpc>
                <a:spcPts val="1400"/>
              </a:lnSpc>
              <a:spcBef>
                <a:spcPct val="0"/>
              </a:spcBef>
              <a:buFontTx/>
              <a:buNone/>
            </a:pPr>
            <a:r>
              <a:rPr lang="en-US" altLang="zh-CN" sz="1100" b="1" dirty="0">
                <a:ea typeface="微软雅黑" panose="020B0503020204020204" pitchFamily="34" charset="-122"/>
              </a:rPr>
              <a:t>E</a:t>
            </a:r>
            <a:endParaRPr lang="en-US" altLang="zh-CN" sz="1200" b="1" dirty="0">
              <a:ea typeface="微软雅黑" panose="020B0503020204020204" pitchFamily="34" charset="-122"/>
            </a:endParaRPr>
          </a:p>
        </p:txBody>
      </p:sp>
      <p:sp>
        <p:nvSpPr>
          <p:cNvPr id="20" name="Text Box 21">
            <a:extLst>
              <a:ext uri="{FF2B5EF4-FFF2-40B4-BE49-F238E27FC236}">
                <a16:creationId xmlns:a16="http://schemas.microsoft.com/office/drawing/2014/main" id="{0BBFEEB5-A656-4FBF-E9CB-15A13C5DFB33}"/>
              </a:ext>
            </a:extLst>
          </p:cNvPr>
          <p:cNvSpPr txBox="1">
            <a:spLocks noChangeArrowheads="1"/>
          </p:cNvSpPr>
          <p:nvPr/>
        </p:nvSpPr>
        <p:spPr bwMode="auto">
          <a:xfrm>
            <a:off x="3458108" y="3283792"/>
            <a:ext cx="97559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dirty="0">
                <a:ea typeface="微软雅黑" panose="020B0503020204020204" pitchFamily="34" charset="-122"/>
              </a:rPr>
              <a:t>ECN </a:t>
            </a:r>
            <a:r>
              <a:rPr lang="zh-CN" altLang="en-US" sz="1200" b="1" dirty="0">
                <a:ea typeface="微软雅黑" panose="020B0503020204020204" pitchFamily="34" charset="-122"/>
              </a:rPr>
              <a:t>字段</a:t>
            </a:r>
            <a:endParaRPr lang="en-US" altLang="zh-CN" sz="1200" b="1" dirty="0">
              <a:ea typeface="微软雅黑" panose="020B0503020204020204" pitchFamily="34" charset="-122"/>
            </a:endParaRPr>
          </a:p>
        </p:txBody>
      </p:sp>
      <p:grpSp>
        <p:nvGrpSpPr>
          <p:cNvPr id="21" name="组合 20">
            <a:extLst>
              <a:ext uri="{FF2B5EF4-FFF2-40B4-BE49-F238E27FC236}">
                <a16:creationId xmlns:a16="http://schemas.microsoft.com/office/drawing/2014/main" id="{CE5D56C9-4529-EFF0-61CC-4DC9B4CF7243}"/>
              </a:ext>
            </a:extLst>
          </p:cNvPr>
          <p:cNvGrpSpPr>
            <a:grpSpLocks/>
          </p:cNvGrpSpPr>
          <p:nvPr/>
        </p:nvGrpSpPr>
        <p:grpSpPr bwMode="auto">
          <a:xfrm>
            <a:off x="1698402" y="4069648"/>
            <a:ext cx="1810860" cy="218599"/>
            <a:chOff x="1301750" y="1709738"/>
            <a:chExt cx="2130425" cy="339725"/>
          </a:xfrm>
        </p:grpSpPr>
        <p:sp>
          <p:nvSpPr>
            <p:cNvPr id="37" name="Line 10">
              <a:extLst>
                <a:ext uri="{FF2B5EF4-FFF2-40B4-BE49-F238E27FC236}">
                  <a16:creationId xmlns:a16="http://schemas.microsoft.com/office/drawing/2014/main" id="{06A0E1EA-C525-73A8-1AD1-B1CC54FBDA77}"/>
                </a:ext>
              </a:extLst>
            </p:cNvPr>
            <p:cNvSpPr>
              <a:spLocks noChangeShapeType="1"/>
            </p:cNvSpPr>
            <p:nvPr/>
          </p:nvSpPr>
          <p:spPr bwMode="auto">
            <a:xfrm>
              <a:off x="3432175" y="1709738"/>
              <a:ext cx="0" cy="3222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38" name="Line 10">
              <a:extLst>
                <a:ext uri="{FF2B5EF4-FFF2-40B4-BE49-F238E27FC236}">
                  <a16:creationId xmlns:a16="http://schemas.microsoft.com/office/drawing/2014/main" id="{F844D0B4-37F4-4EE5-1362-271CE58890FB}"/>
                </a:ext>
              </a:extLst>
            </p:cNvPr>
            <p:cNvSpPr>
              <a:spLocks noChangeShapeType="1"/>
            </p:cNvSpPr>
            <p:nvPr/>
          </p:nvSpPr>
          <p:spPr bwMode="auto">
            <a:xfrm>
              <a:off x="1301750" y="1727200"/>
              <a:ext cx="0" cy="322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grpSp>
      <p:sp>
        <p:nvSpPr>
          <p:cNvPr id="22" name="Line 20">
            <a:extLst>
              <a:ext uri="{FF2B5EF4-FFF2-40B4-BE49-F238E27FC236}">
                <a16:creationId xmlns:a16="http://schemas.microsoft.com/office/drawing/2014/main" id="{4472EEA8-9704-8052-DC58-09D5EE194A11}"/>
              </a:ext>
            </a:extLst>
          </p:cNvPr>
          <p:cNvSpPr>
            <a:spLocks noChangeShapeType="1"/>
          </p:cNvSpPr>
          <p:nvPr/>
        </p:nvSpPr>
        <p:spPr bwMode="auto">
          <a:xfrm flipV="1">
            <a:off x="3499386" y="3513850"/>
            <a:ext cx="340041" cy="269875"/>
          </a:xfrm>
          <a:prstGeom prst="line">
            <a:avLst/>
          </a:prstGeom>
          <a:noFill/>
          <a:ln w="9525">
            <a:solidFill>
              <a:schemeClr val="tx1"/>
            </a:solidFill>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23" name="Text Box 21">
            <a:extLst>
              <a:ext uri="{FF2B5EF4-FFF2-40B4-BE49-F238E27FC236}">
                <a16:creationId xmlns:a16="http://schemas.microsoft.com/office/drawing/2014/main" id="{0F861DBD-5EEA-15EF-30CB-6BA0844BBD27}"/>
              </a:ext>
            </a:extLst>
          </p:cNvPr>
          <p:cNvSpPr txBox="1">
            <a:spLocks noChangeArrowheads="1"/>
          </p:cNvSpPr>
          <p:nvPr/>
        </p:nvSpPr>
        <p:spPr bwMode="auto">
          <a:xfrm>
            <a:off x="2487185" y="4214031"/>
            <a:ext cx="4992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(a)</a:t>
            </a:r>
          </a:p>
        </p:txBody>
      </p:sp>
      <p:sp>
        <p:nvSpPr>
          <p:cNvPr id="24" name="Text Box 21">
            <a:extLst>
              <a:ext uri="{FF2B5EF4-FFF2-40B4-BE49-F238E27FC236}">
                <a16:creationId xmlns:a16="http://schemas.microsoft.com/office/drawing/2014/main" id="{46EFEF91-9214-E83B-3FA1-2D084B61C061}"/>
              </a:ext>
            </a:extLst>
          </p:cNvPr>
          <p:cNvSpPr txBox="1">
            <a:spLocks noChangeArrowheads="1"/>
          </p:cNvSpPr>
          <p:nvPr/>
        </p:nvSpPr>
        <p:spPr bwMode="auto">
          <a:xfrm>
            <a:off x="5921343" y="4215380"/>
            <a:ext cx="4992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(b)</a:t>
            </a:r>
          </a:p>
        </p:txBody>
      </p:sp>
      <p:sp>
        <p:nvSpPr>
          <p:cNvPr id="25" name="矩形 24">
            <a:extLst>
              <a:ext uri="{FF2B5EF4-FFF2-40B4-BE49-F238E27FC236}">
                <a16:creationId xmlns:a16="http://schemas.microsoft.com/office/drawing/2014/main" id="{1199087C-CD5A-315F-5F12-BAC9B00F9BEB}"/>
              </a:ext>
            </a:extLst>
          </p:cNvPr>
          <p:cNvSpPr>
            <a:spLocks noChangeArrowheads="1"/>
          </p:cNvSpPr>
          <p:nvPr/>
        </p:nvSpPr>
        <p:spPr bwMode="auto">
          <a:xfrm>
            <a:off x="2236202" y="4075045"/>
            <a:ext cx="696277" cy="245586"/>
          </a:xfrm>
          <a:prstGeom prst="rect">
            <a:avLst/>
          </a:prstGeom>
          <a:solidFill>
            <a:srgbClr val="C3E3F9"/>
          </a:solidFill>
          <a:ln>
            <a:noFill/>
          </a:ln>
        </p:spPr>
        <p:txBody>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endParaRPr lang="zh-CN" altLang="en-US" sz="1800" b="1">
              <a:ea typeface="微软雅黑" panose="020B0503020204020204" pitchFamily="34" charset="-122"/>
            </a:endParaRPr>
          </a:p>
        </p:txBody>
      </p:sp>
      <p:sp>
        <p:nvSpPr>
          <p:cNvPr id="26" name="Text Box 21">
            <a:extLst>
              <a:ext uri="{FF2B5EF4-FFF2-40B4-BE49-F238E27FC236}">
                <a16:creationId xmlns:a16="http://schemas.microsoft.com/office/drawing/2014/main" id="{E9EDE9F9-38CF-4B30-C838-E1F942270C6E}"/>
              </a:ext>
            </a:extLst>
          </p:cNvPr>
          <p:cNvSpPr txBox="1">
            <a:spLocks noChangeArrowheads="1"/>
          </p:cNvSpPr>
          <p:nvPr/>
        </p:nvSpPr>
        <p:spPr bwMode="auto">
          <a:xfrm>
            <a:off x="2217310" y="4015673"/>
            <a:ext cx="120499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dirty="0">
                <a:ea typeface="微软雅黑" panose="020B0503020204020204" pitchFamily="34" charset="-122"/>
              </a:rPr>
              <a:t>DS </a:t>
            </a:r>
            <a:r>
              <a:rPr lang="zh-CN" altLang="en-US" sz="1200" b="1" dirty="0">
                <a:ea typeface="微软雅黑" panose="020B0503020204020204" pitchFamily="34" charset="-122"/>
              </a:rPr>
              <a:t>字段</a:t>
            </a:r>
            <a:endParaRPr lang="en-US" altLang="zh-CN" sz="1200" b="1" dirty="0">
              <a:ea typeface="微软雅黑" panose="020B0503020204020204" pitchFamily="34" charset="-122"/>
            </a:endParaRPr>
          </a:p>
        </p:txBody>
      </p:sp>
      <p:sp>
        <p:nvSpPr>
          <p:cNvPr id="27" name="Text Box 21">
            <a:extLst>
              <a:ext uri="{FF2B5EF4-FFF2-40B4-BE49-F238E27FC236}">
                <a16:creationId xmlns:a16="http://schemas.microsoft.com/office/drawing/2014/main" id="{F5290AF7-4F73-CA4D-33F5-4A46416B7AEC}"/>
              </a:ext>
            </a:extLst>
          </p:cNvPr>
          <p:cNvSpPr txBox="1">
            <a:spLocks noChangeArrowheads="1"/>
          </p:cNvSpPr>
          <p:nvPr/>
        </p:nvSpPr>
        <p:spPr bwMode="auto">
          <a:xfrm>
            <a:off x="3318399" y="3102147"/>
            <a:ext cx="120499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显式拥塞通知</a:t>
            </a:r>
            <a:endParaRPr lang="en-US" altLang="zh-CN" sz="1200" b="1">
              <a:ea typeface="微软雅黑" panose="020B0503020204020204" pitchFamily="34" charset="-122"/>
            </a:endParaRPr>
          </a:p>
        </p:txBody>
      </p:sp>
      <p:sp>
        <p:nvSpPr>
          <p:cNvPr id="28" name="Text Box 21">
            <a:extLst>
              <a:ext uri="{FF2B5EF4-FFF2-40B4-BE49-F238E27FC236}">
                <a16:creationId xmlns:a16="http://schemas.microsoft.com/office/drawing/2014/main" id="{1E1AB6FC-88A0-48E3-64E9-C781B6FDD295}"/>
              </a:ext>
            </a:extLst>
          </p:cNvPr>
          <p:cNvSpPr txBox="1">
            <a:spLocks noChangeArrowheads="1"/>
          </p:cNvSpPr>
          <p:nvPr/>
        </p:nvSpPr>
        <p:spPr bwMode="auto">
          <a:xfrm>
            <a:off x="4832398" y="3102147"/>
            <a:ext cx="105790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ECN </a:t>
            </a:r>
            <a:r>
              <a:rPr lang="zh-CN" altLang="en-US" sz="1200" b="1">
                <a:ea typeface="微软雅黑" panose="020B0503020204020204" pitchFamily="34" charset="-122"/>
              </a:rPr>
              <a:t>字段</a:t>
            </a:r>
            <a:endParaRPr lang="en-US" altLang="zh-CN" sz="1200" b="1">
              <a:ea typeface="微软雅黑" panose="020B0503020204020204" pitchFamily="34" charset="-122"/>
            </a:endParaRPr>
          </a:p>
        </p:txBody>
      </p:sp>
      <p:cxnSp>
        <p:nvCxnSpPr>
          <p:cNvPr id="29" name="直接连接符 28">
            <a:extLst>
              <a:ext uri="{FF2B5EF4-FFF2-40B4-BE49-F238E27FC236}">
                <a16:creationId xmlns:a16="http://schemas.microsoft.com/office/drawing/2014/main" id="{77643F90-6980-245E-4748-8A97A8E4746D}"/>
              </a:ext>
            </a:extLst>
          </p:cNvPr>
          <p:cNvCxnSpPr>
            <a:cxnSpLocks noChangeShapeType="1"/>
          </p:cNvCxnSpPr>
          <p:nvPr/>
        </p:nvCxnSpPr>
        <p:spPr bwMode="auto">
          <a:xfrm>
            <a:off x="4848591" y="3384166"/>
            <a:ext cx="2551667" cy="5397"/>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a:extLst>
              <a:ext uri="{FF2B5EF4-FFF2-40B4-BE49-F238E27FC236}">
                <a16:creationId xmlns:a16="http://schemas.microsoft.com/office/drawing/2014/main" id="{764902AF-C289-1977-2FC8-289A3DD03BC9}"/>
              </a:ext>
            </a:extLst>
          </p:cNvPr>
          <p:cNvCxnSpPr>
            <a:cxnSpLocks noChangeShapeType="1"/>
          </p:cNvCxnSpPr>
          <p:nvPr/>
        </p:nvCxnSpPr>
        <p:spPr bwMode="auto">
          <a:xfrm>
            <a:off x="4848591" y="4258560"/>
            <a:ext cx="2551667"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Text Box 21">
            <a:extLst>
              <a:ext uri="{FF2B5EF4-FFF2-40B4-BE49-F238E27FC236}">
                <a16:creationId xmlns:a16="http://schemas.microsoft.com/office/drawing/2014/main" id="{A43C4077-7DF4-5E4C-FC39-A8C2BF8A69C5}"/>
              </a:ext>
            </a:extLst>
          </p:cNvPr>
          <p:cNvSpPr txBox="1">
            <a:spLocks noChangeArrowheads="1"/>
          </p:cNvSpPr>
          <p:nvPr/>
        </p:nvSpPr>
        <p:spPr bwMode="auto">
          <a:xfrm>
            <a:off x="5525589" y="3377345"/>
            <a:ext cx="975597" cy="897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lnSpc>
                <a:spcPts val="1600"/>
              </a:lnSpc>
              <a:spcBef>
                <a:spcPct val="0"/>
              </a:spcBef>
              <a:buFontTx/>
              <a:buNone/>
            </a:pPr>
            <a:r>
              <a:rPr lang="en-US" altLang="zh-CN" sz="1200" b="1" dirty="0">
                <a:ea typeface="微软雅黑" panose="020B0503020204020204" pitchFamily="34" charset="-122"/>
              </a:rPr>
              <a:t>Non-ECT   </a:t>
            </a:r>
          </a:p>
          <a:p>
            <a:pPr algn="ctr" eaLnBrk="1" hangingPunct="1">
              <a:lnSpc>
                <a:spcPts val="1600"/>
              </a:lnSpc>
              <a:spcBef>
                <a:spcPct val="0"/>
              </a:spcBef>
              <a:buFontTx/>
              <a:buNone/>
            </a:pPr>
            <a:r>
              <a:rPr lang="en-US" altLang="zh-CN" sz="1200" b="1" dirty="0">
                <a:ea typeface="微软雅黑" panose="020B0503020204020204" pitchFamily="34" charset="-122"/>
              </a:rPr>
              <a:t>ECT(1)</a:t>
            </a:r>
          </a:p>
          <a:p>
            <a:pPr algn="ctr" eaLnBrk="1" hangingPunct="1">
              <a:lnSpc>
                <a:spcPts val="1600"/>
              </a:lnSpc>
              <a:spcBef>
                <a:spcPct val="0"/>
              </a:spcBef>
              <a:buFontTx/>
              <a:buNone/>
            </a:pPr>
            <a:r>
              <a:rPr lang="en-US" altLang="zh-CN" sz="1200" b="1" dirty="0">
                <a:ea typeface="微软雅黑" panose="020B0503020204020204" pitchFamily="34" charset="-122"/>
              </a:rPr>
              <a:t>ECT(0)</a:t>
            </a:r>
          </a:p>
          <a:p>
            <a:pPr algn="ctr" eaLnBrk="1" hangingPunct="1">
              <a:lnSpc>
                <a:spcPts val="1600"/>
              </a:lnSpc>
              <a:spcBef>
                <a:spcPct val="0"/>
              </a:spcBef>
              <a:buFontTx/>
              <a:buNone/>
            </a:pPr>
            <a:r>
              <a:rPr lang="en-US" altLang="zh-CN" sz="1200" b="1" dirty="0">
                <a:ea typeface="微软雅黑" panose="020B0503020204020204" pitchFamily="34" charset="-122"/>
              </a:rPr>
              <a:t>CE</a:t>
            </a:r>
          </a:p>
        </p:txBody>
      </p:sp>
      <p:sp>
        <p:nvSpPr>
          <p:cNvPr id="32" name="Text Box 21">
            <a:extLst>
              <a:ext uri="{FF2B5EF4-FFF2-40B4-BE49-F238E27FC236}">
                <a16:creationId xmlns:a16="http://schemas.microsoft.com/office/drawing/2014/main" id="{7F728DD9-06AA-7203-8964-3863D89CAC4B}"/>
              </a:ext>
            </a:extLst>
          </p:cNvPr>
          <p:cNvSpPr txBox="1">
            <a:spLocks noChangeArrowheads="1"/>
          </p:cNvSpPr>
          <p:nvPr/>
        </p:nvSpPr>
        <p:spPr bwMode="auto">
          <a:xfrm>
            <a:off x="6625717" y="3102147"/>
            <a:ext cx="61396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意义</a:t>
            </a:r>
            <a:endParaRPr lang="en-US" altLang="zh-CN" sz="1200" b="1">
              <a:ea typeface="微软雅黑" panose="020B0503020204020204" pitchFamily="34" charset="-122"/>
            </a:endParaRPr>
          </a:p>
        </p:txBody>
      </p:sp>
      <p:sp>
        <p:nvSpPr>
          <p:cNvPr id="33" name="Text Box 21">
            <a:extLst>
              <a:ext uri="{FF2B5EF4-FFF2-40B4-BE49-F238E27FC236}">
                <a16:creationId xmlns:a16="http://schemas.microsoft.com/office/drawing/2014/main" id="{A15E29DD-D2F0-D411-0365-5AF11DF68D59}"/>
              </a:ext>
            </a:extLst>
          </p:cNvPr>
          <p:cNvSpPr txBox="1">
            <a:spLocks noChangeArrowheads="1"/>
          </p:cNvSpPr>
          <p:nvPr/>
        </p:nvSpPr>
        <p:spPr bwMode="auto">
          <a:xfrm>
            <a:off x="5768864" y="3102147"/>
            <a:ext cx="61396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名称</a:t>
            </a:r>
            <a:endParaRPr lang="en-US" altLang="zh-CN" sz="1200" b="1">
              <a:ea typeface="微软雅黑" panose="020B0503020204020204" pitchFamily="34" charset="-122"/>
            </a:endParaRPr>
          </a:p>
        </p:txBody>
      </p:sp>
      <p:cxnSp>
        <p:nvCxnSpPr>
          <p:cNvPr id="34" name="直接连接符 33">
            <a:extLst>
              <a:ext uri="{FF2B5EF4-FFF2-40B4-BE49-F238E27FC236}">
                <a16:creationId xmlns:a16="http://schemas.microsoft.com/office/drawing/2014/main" id="{A72F92CF-F6F7-5CC7-F5CE-8976CFD96E3B}"/>
              </a:ext>
            </a:extLst>
          </p:cNvPr>
          <p:cNvCxnSpPr>
            <a:cxnSpLocks noChangeShapeType="1"/>
          </p:cNvCxnSpPr>
          <p:nvPr/>
        </p:nvCxnSpPr>
        <p:spPr bwMode="auto">
          <a:xfrm flipV="1">
            <a:off x="5644721" y="3384166"/>
            <a:ext cx="0" cy="851456"/>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34">
            <a:extLst>
              <a:ext uri="{FF2B5EF4-FFF2-40B4-BE49-F238E27FC236}">
                <a16:creationId xmlns:a16="http://schemas.microsoft.com/office/drawing/2014/main" id="{890A74C1-828E-47FD-9B8A-3F3BCCE7E16C}"/>
              </a:ext>
            </a:extLst>
          </p:cNvPr>
          <p:cNvCxnSpPr>
            <a:cxnSpLocks noChangeShapeType="1"/>
          </p:cNvCxnSpPr>
          <p:nvPr/>
        </p:nvCxnSpPr>
        <p:spPr bwMode="auto">
          <a:xfrm flipV="1">
            <a:off x="6389576" y="3397660"/>
            <a:ext cx="0" cy="852805"/>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Text Box 19">
            <a:extLst>
              <a:ext uri="{FF2B5EF4-FFF2-40B4-BE49-F238E27FC236}">
                <a16:creationId xmlns:a16="http://schemas.microsoft.com/office/drawing/2014/main" id="{67480221-90A3-7629-5819-6C1A53CAA160}"/>
              </a:ext>
            </a:extLst>
          </p:cNvPr>
          <p:cNvSpPr txBox="1">
            <a:spLocks noChangeArrowheads="1"/>
          </p:cNvSpPr>
          <p:nvPr/>
        </p:nvSpPr>
        <p:spPr bwMode="auto">
          <a:xfrm>
            <a:off x="4922851" y="3403933"/>
            <a:ext cx="2731133" cy="86946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spcAft>
                <a:spcPts val="300"/>
              </a:spcAft>
              <a:buFontTx/>
              <a:buNone/>
            </a:pPr>
            <a:r>
              <a:rPr lang="en-US" altLang="zh-CN" sz="1200" b="1" dirty="0">
                <a:ea typeface="微软雅黑" panose="020B0503020204020204" pitchFamily="34" charset="-122"/>
              </a:rPr>
              <a:t>   0   0                           </a:t>
            </a:r>
            <a:r>
              <a:rPr lang="zh-CN" altLang="en-US" sz="1200" b="1" dirty="0">
                <a:ea typeface="微软雅黑" panose="020B0503020204020204" pitchFamily="34" charset="-122"/>
              </a:rPr>
              <a:t>不支持 </a:t>
            </a:r>
            <a:r>
              <a:rPr lang="en-US" altLang="zh-CN" sz="1200" b="1" dirty="0">
                <a:ea typeface="微软雅黑" panose="020B0503020204020204" pitchFamily="34" charset="-122"/>
              </a:rPr>
              <a:t>ECN</a:t>
            </a:r>
          </a:p>
          <a:p>
            <a:pPr eaLnBrk="1" hangingPunct="1">
              <a:spcBef>
                <a:spcPct val="0"/>
              </a:spcBef>
              <a:buFontTx/>
              <a:buNone/>
            </a:pPr>
            <a:r>
              <a:rPr lang="en-US" altLang="zh-CN" sz="1200" b="1" dirty="0">
                <a:ea typeface="微软雅黑" panose="020B0503020204020204" pitchFamily="34" charset="-122"/>
              </a:rPr>
              <a:t>   0   1                             </a:t>
            </a:r>
            <a:r>
              <a:rPr lang="zh-CN" altLang="en-US" sz="1200" b="1" dirty="0">
                <a:ea typeface="微软雅黑" panose="020B0503020204020204" pitchFamily="34" charset="-122"/>
              </a:rPr>
              <a:t>支持 </a:t>
            </a:r>
            <a:r>
              <a:rPr lang="en-US" altLang="zh-CN" sz="1200" b="1" dirty="0">
                <a:ea typeface="微软雅黑" panose="020B0503020204020204" pitchFamily="34" charset="-122"/>
              </a:rPr>
              <a:t>ECN</a:t>
            </a:r>
          </a:p>
          <a:p>
            <a:pPr eaLnBrk="1" hangingPunct="1">
              <a:spcBef>
                <a:spcPct val="0"/>
              </a:spcBef>
              <a:buFontTx/>
              <a:buNone/>
            </a:pPr>
            <a:r>
              <a:rPr lang="en-US" altLang="zh-CN" sz="1200" b="1" dirty="0">
                <a:ea typeface="微软雅黑" panose="020B0503020204020204" pitchFamily="34" charset="-122"/>
              </a:rPr>
              <a:t>   1   0                             </a:t>
            </a:r>
            <a:r>
              <a:rPr lang="zh-CN" altLang="en-US" sz="1200" b="1" dirty="0">
                <a:ea typeface="微软雅黑" panose="020B0503020204020204" pitchFamily="34" charset="-122"/>
              </a:rPr>
              <a:t>支持 </a:t>
            </a:r>
            <a:r>
              <a:rPr lang="en-US" altLang="zh-CN" sz="1200" b="1" dirty="0">
                <a:ea typeface="微软雅黑" panose="020B0503020204020204" pitchFamily="34" charset="-122"/>
              </a:rPr>
              <a:t>ECN</a:t>
            </a:r>
          </a:p>
          <a:p>
            <a:pPr eaLnBrk="1" hangingPunct="1">
              <a:spcBef>
                <a:spcPct val="0"/>
              </a:spcBef>
              <a:buFontTx/>
              <a:buNone/>
            </a:pPr>
            <a:r>
              <a:rPr lang="en-US" altLang="zh-CN" sz="1200" b="1" dirty="0">
                <a:ea typeface="微软雅黑" panose="020B0503020204020204" pitchFamily="34" charset="-122"/>
              </a:rPr>
              <a:t>   1   1                            </a:t>
            </a:r>
            <a:r>
              <a:rPr lang="zh-CN" altLang="en-US" sz="1200" b="1" dirty="0">
                <a:ea typeface="微软雅黑" panose="020B0503020204020204" pitchFamily="34" charset="-122"/>
              </a:rPr>
              <a:t>已经历拥塞</a:t>
            </a:r>
            <a:endParaRPr lang="en-US" altLang="zh-CN" sz="1200" b="1" dirty="0">
              <a:ea typeface="微软雅黑" panose="020B0503020204020204" pitchFamily="34" charset="-122"/>
            </a:endParaRPr>
          </a:p>
        </p:txBody>
      </p:sp>
    </p:spTree>
    <p:extLst>
      <p:ext uri="{BB962C8B-B14F-4D97-AF65-F5344CB8AC3E}">
        <p14:creationId xmlns:p14="http://schemas.microsoft.com/office/powerpoint/2010/main" val="595691644"/>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1E280-27FF-CB0A-A2C1-5D64473D811F}"/>
            </a:ext>
          </a:extLst>
        </p:cNvPr>
        <p:cNvGrpSpPr/>
        <p:nvPr/>
      </p:nvGrpSpPr>
      <p:grpSpPr>
        <a:xfrm>
          <a:off x="0" y="0"/>
          <a:ext cx="0" cy="0"/>
          <a:chOff x="0" y="0"/>
          <a:chExt cx="0" cy="0"/>
        </a:xfrm>
      </p:grpSpPr>
      <p:sp>
        <p:nvSpPr>
          <p:cNvPr id="39" name="圆角矩形 37">
            <a:extLst>
              <a:ext uri="{FF2B5EF4-FFF2-40B4-BE49-F238E27FC236}">
                <a16:creationId xmlns:a16="http://schemas.microsoft.com/office/drawing/2014/main" id="{1D676DD7-9B45-DBD9-BAC7-8AA6C2E296D2}"/>
              </a:ext>
            </a:extLst>
          </p:cNvPr>
          <p:cNvSpPr/>
          <p:nvPr/>
        </p:nvSpPr>
        <p:spPr>
          <a:xfrm>
            <a:off x="1091322" y="2915266"/>
            <a:ext cx="6961355" cy="162908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AutoShape 5">
            <a:extLst>
              <a:ext uri="{FF2B5EF4-FFF2-40B4-BE49-F238E27FC236}">
                <a16:creationId xmlns:a16="http://schemas.microsoft.com/office/drawing/2014/main" id="{2CFF6533-FF42-2ACD-FC13-D79773C14240}"/>
              </a:ext>
            </a:extLst>
          </p:cNvPr>
          <p:cNvSpPr>
            <a:spLocks noChangeArrowheads="1"/>
          </p:cNvSpPr>
          <p:nvPr/>
        </p:nvSpPr>
        <p:spPr bwMode="auto">
          <a:xfrm>
            <a:off x="545143" y="625919"/>
            <a:ext cx="8053711" cy="357839"/>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a:extLst>
              <a:ext uri="{FF2B5EF4-FFF2-40B4-BE49-F238E27FC236}">
                <a16:creationId xmlns:a16="http://schemas.microsoft.com/office/drawing/2014/main" id="{ABFF3BF1-E3F6-2C7D-BDA3-82FDEF4249F5}"/>
              </a:ext>
            </a:extLst>
          </p:cNvPr>
          <p:cNvSpPr>
            <a:spLocks noChangeArrowheads="1"/>
          </p:cNvSpPr>
          <p:nvPr/>
        </p:nvSpPr>
        <p:spPr bwMode="auto">
          <a:xfrm>
            <a:off x="3248567" y="599146"/>
            <a:ext cx="264687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显式拥塞通知</a:t>
            </a:r>
            <a:r>
              <a:rPr lang="en-US" altLang="zh-CN" sz="2000" b="1" dirty="0">
                <a:solidFill>
                  <a:schemeClr val="bg1"/>
                </a:solidFill>
                <a:latin typeface="微软雅黑" pitchFamily="34" charset="-122"/>
                <a:ea typeface="微软雅黑" pitchFamily="34" charset="-122"/>
              </a:rPr>
              <a:t>ECN </a:t>
            </a:r>
            <a:endParaRPr lang="zh-CN" altLang="en-US" sz="2000" b="1" dirty="0">
              <a:solidFill>
                <a:schemeClr val="bg1"/>
              </a:solidFill>
              <a:latin typeface="微软雅黑" pitchFamily="34" charset="-122"/>
              <a:ea typeface="微软雅黑" pitchFamily="34" charset="-122"/>
            </a:endParaRPr>
          </a:p>
        </p:txBody>
      </p:sp>
      <p:sp>
        <p:nvSpPr>
          <p:cNvPr id="4" name="Rectangle 8">
            <a:extLst>
              <a:ext uri="{FF2B5EF4-FFF2-40B4-BE49-F238E27FC236}">
                <a16:creationId xmlns:a16="http://schemas.microsoft.com/office/drawing/2014/main" id="{D8E91CDB-61ED-96C7-91A5-CF4B9831E174}"/>
              </a:ext>
            </a:extLst>
          </p:cNvPr>
          <p:cNvSpPr>
            <a:spLocks noChangeArrowheads="1"/>
          </p:cNvSpPr>
          <p:nvPr/>
        </p:nvSpPr>
        <p:spPr bwMode="auto">
          <a:xfrm>
            <a:off x="545143" y="1029517"/>
            <a:ext cx="8053711" cy="1852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现假定</a:t>
            </a:r>
            <a:r>
              <a:rPr lang="en-US" altLang="zh-CN" b="1" dirty="0">
                <a:latin typeface="微软雅黑" pitchFamily="34" charset="-122"/>
                <a:ea typeface="微软雅黑" pitchFamily="34" charset="-122"/>
              </a:rPr>
              <a:t>A</a:t>
            </a:r>
            <a:r>
              <a:rPr lang="zh-CN" altLang="en-US" b="1" dirty="0">
                <a:latin typeface="微软雅黑" pitchFamily="34" charset="-122"/>
                <a:ea typeface="微软雅黑" pitchFamily="34" charset="-122"/>
              </a:rPr>
              <a:t>向</a:t>
            </a:r>
            <a:r>
              <a:rPr lang="en-US" altLang="zh-CN" b="1" dirty="0">
                <a:latin typeface="微软雅黑" pitchFamily="34" charset="-122"/>
                <a:ea typeface="微软雅黑" pitchFamily="34" charset="-122"/>
              </a:rPr>
              <a:t>B</a:t>
            </a:r>
            <a:r>
              <a:rPr lang="zh-CN" altLang="en-US" b="1" dirty="0">
                <a:latin typeface="微软雅黑" pitchFamily="34" charset="-122"/>
                <a:ea typeface="微软雅黑" pitchFamily="34" charset="-122"/>
              </a:rPr>
              <a:t>发送的</a:t>
            </a:r>
            <a:r>
              <a:rPr lang="en-US" altLang="zh-CN" b="1" dirty="0">
                <a:latin typeface="微软雅黑" pitchFamily="34" charset="-122"/>
                <a:ea typeface="微软雅黑" pitchFamily="34" charset="-122"/>
              </a:rPr>
              <a:t>IP</a:t>
            </a:r>
            <a:r>
              <a:rPr lang="zh-CN" altLang="en-US" b="1" dirty="0">
                <a:latin typeface="微软雅黑" pitchFamily="34" charset="-122"/>
                <a:ea typeface="微软雅黑" pitchFamily="34" charset="-122"/>
              </a:rPr>
              <a:t>数据报在到达某路由器处发生了网络拥塞。这时，该路由器就把</a:t>
            </a:r>
            <a:r>
              <a:rPr lang="en-US" altLang="zh-CN" b="1" dirty="0">
                <a:latin typeface="微软雅黑" pitchFamily="34" charset="-122"/>
                <a:ea typeface="微软雅黑" pitchFamily="34" charset="-122"/>
              </a:rPr>
              <a:t>IP</a:t>
            </a:r>
            <a:r>
              <a:rPr lang="zh-CN" altLang="en-US" b="1" dirty="0">
                <a:latin typeface="微软雅黑" pitchFamily="34" charset="-122"/>
                <a:ea typeface="微软雅黑" pitchFamily="34" charset="-122"/>
              </a:rPr>
              <a:t>数据报首部的</a:t>
            </a:r>
            <a:r>
              <a:rPr lang="en-US" altLang="zh-CN" b="1" dirty="0">
                <a:solidFill>
                  <a:srgbClr val="0000FF"/>
                </a:solidFill>
                <a:latin typeface="微软雅黑" pitchFamily="34" charset="-122"/>
                <a:ea typeface="微软雅黑" pitchFamily="34" charset="-122"/>
              </a:rPr>
              <a:t>ECN</a:t>
            </a:r>
            <a:r>
              <a:rPr lang="zh-CN" altLang="en-US" b="1" dirty="0">
                <a:solidFill>
                  <a:srgbClr val="0000FF"/>
                </a:solidFill>
                <a:latin typeface="微软雅黑" pitchFamily="34" charset="-122"/>
                <a:ea typeface="微软雅黑" pitchFamily="34" charset="-122"/>
              </a:rPr>
              <a:t>字段置为已发生拥塞</a:t>
            </a:r>
            <a:r>
              <a:rPr lang="en-US" altLang="zh-CN" b="1" dirty="0">
                <a:solidFill>
                  <a:srgbClr val="0000FF"/>
                </a:solidFill>
                <a:latin typeface="微软雅黑" pitchFamily="34" charset="-122"/>
                <a:ea typeface="微软雅黑" pitchFamily="34" charset="-122"/>
              </a:rPr>
              <a:t>CE</a:t>
            </a:r>
            <a:r>
              <a:rPr lang="zh-CN" altLang="en-US" b="1" dirty="0">
                <a:latin typeface="微软雅黑" pitchFamily="34" charset="-122"/>
                <a:ea typeface="微软雅黑" pitchFamily="34" charset="-122"/>
              </a:rPr>
              <a:t>。</a:t>
            </a:r>
            <a:endParaRPr lang="en-US" altLang="zh-CN" b="1" dirty="0">
              <a:latin typeface="微软雅黑" pitchFamily="34" charset="-122"/>
              <a:ea typeface="微软雅黑" pitchFamily="34" charset="-122"/>
            </a:endParaRPr>
          </a:p>
          <a:p>
            <a:pPr marL="285750" indent="-28575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当</a:t>
            </a:r>
            <a:r>
              <a:rPr lang="en-US" altLang="zh-CN" b="1" dirty="0">
                <a:latin typeface="微软雅黑" pitchFamily="34" charset="-122"/>
                <a:ea typeface="微软雅黑" pitchFamily="34" charset="-122"/>
              </a:rPr>
              <a:t>B</a:t>
            </a:r>
            <a:r>
              <a:rPr lang="zh-CN" altLang="en-US" b="1" dirty="0">
                <a:latin typeface="微软雅黑" pitchFamily="34" charset="-122"/>
                <a:ea typeface="微软雅黑" pitchFamily="34" charset="-122"/>
              </a:rPr>
              <a:t>收到</a:t>
            </a:r>
            <a:r>
              <a:rPr lang="en-US" altLang="zh-CN" b="1" dirty="0">
                <a:latin typeface="微软雅黑" pitchFamily="34" charset="-122"/>
                <a:ea typeface="微软雅黑" pitchFamily="34" charset="-122"/>
              </a:rPr>
              <a:t>ECN</a:t>
            </a:r>
            <a:r>
              <a:rPr lang="zh-CN" altLang="en-US" b="1" dirty="0">
                <a:latin typeface="微软雅黑" pitchFamily="34" charset="-122"/>
                <a:ea typeface="微软雅黑" pitchFamily="34" charset="-122"/>
              </a:rPr>
              <a:t>字段为</a:t>
            </a:r>
            <a:r>
              <a:rPr lang="en-US" altLang="zh-CN" b="1" dirty="0">
                <a:latin typeface="微软雅黑" pitchFamily="34" charset="-122"/>
                <a:ea typeface="微软雅黑" pitchFamily="34" charset="-122"/>
              </a:rPr>
              <a:t>CE</a:t>
            </a:r>
            <a:r>
              <a:rPr lang="zh-CN" altLang="en-US" b="1" dirty="0">
                <a:latin typeface="微软雅黑" pitchFamily="34" charset="-122"/>
                <a:ea typeface="微软雅黑" pitchFamily="34" charset="-122"/>
              </a:rPr>
              <a:t>的</a:t>
            </a:r>
            <a:r>
              <a:rPr lang="en-US" altLang="zh-CN" b="1" dirty="0">
                <a:latin typeface="微软雅黑" pitchFamily="34" charset="-122"/>
                <a:ea typeface="微软雅黑" pitchFamily="34" charset="-122"/>
              </a:rPr>
              <a:t>IP</a:t>
            </a:r>
            <a:r>
              <a:rPr lang="zh-CN" altLang="en-US" b="1" dirty="0">
                <a:latin typeface="微软雅黑" pitchFamily="34" charset="-122"/>
                <a:ea typeface="微软雅黑" pitchFamily="34" charset="-122"/>
              </a:rPr>
              <a:t>数据报后，就让其</a:t>
            </a:r>
            <a:r>
              <a:rPr lang="en-US" altLang="zh-CN" b="1" dirty="0">
                <a:latin typeface="微软雅黑" pitchFamily="34" charset="-122"/>
                <a:ea typeface="微软雅黑" pitchFamily="34" charset="-122"/>
              </a:rPr>
              <a:t>TCP</a:t>
            </a:r>
            <a:r>
              <a:rPr lang="zh-CN" altLang="en-US" b="1" dirty="0">
                <a:latin typeface="微软雅黑" pitchFamily="34" charset="-122"/>
                <a:ea typeface="微软雅黑" pitchFamily="34" charset="-122"/>
              </a:rPr>
              <a:t>知道网络发生了拥塞。于是，当接收端</a:t>
            </a:r>
            <a:r>
              <a:rPr lang="en-US" altLang="zh-CN" b="1" dirty="0">
                <a:latin typeface="微软雅黑" pitchFamily="34" charset="-122"/>
                <a:ea typeface="微软雅黑" pitchFamily="34" charset="-122"/>
              </a:rPr>
              <a:t>B</a:t>
            </a:r>
            <a:r>
              <a:rPr lang="zh-CN" altLang="en-US" b="1" dirty="0">
                <a:latin typeface="微软雅黑" pitchFamily="34" charset="-122"/>
                <a:ea typeface="微软雅黑" pitchFamily="34" charset="-122"/>
              </a:rPr>
              <a:t>的</a:t>
            </a:r>
            <a:r>
              <a:rPr lang="en-US" altLang="zh-CN" b="1" dirty="0">
                <a:latin typeface="微软雅黑" pitchFamily="34" charset="-122"/>
                <a:ea typeface="微软雅黑" pitchFamily="34" charset="-122"/>
              </a:rPr>
              <a:t>TCP</a:t>
            </a:r>
            <a:r>
              <a:rPr lang="zh-CN" altLang="en-US" b="1" dirty="0">
                <a:latin typeface="微软雅黑" pitchFamily="34" charset="-122"/>
                <a:ea typeface="微软雅黑" pitchFamily="34" charset="-122"/>
              </a:rPr>
              <a:t>向</a:t>
            </a:r>
            <a:r>
              <a:rPr lang="en-US" altLang="zh-CN" b="1" dirty="0">
                <a:latin typeface="微软雅黑" pitchFamily="34" charset="-122"/>
                <a:ea typeface="微软雅黑" pitchFamily="34" charset="-122"/>
              </a:rPr>
              <a:t>A</a:t>
            </a:r>
            <a:r>
              <a:rPr lang="zh-CN" altLang="en-US" b="1" dirty="0">
                <a:latin typeface="微软雅黑" pitchFamily="34" charset="-122"/>
                <a:ea typeface="微软雅黑" pitchFamily="34" charset="-122"/>
              </a:rPr>
              <a:t>发送确认时，就把</a:t>
            </a:r>
            <a:r>
              <a:rPr lang="en-US" altLang="zh-CN" b="1" dirty="0">
                <a:latin typeface="微软雅黑" pitchFamily="34" charset="-122"/>
                <a:ea typeface="微软雅黑" pitchFamily="34" charset="-122"/>
              </a:rPr>
              <a:t>TCP</a:t>
            </a:r>
            <a:r>
              <a:rPr lang="zh-CN" altLang="en-US" b="1" dirty="0">
                <a:latin typeface="微软雅黑" pitchFamily="34" charset="-122"/>
                <a:ea typeface="微软雅黑" pitchFamily="34" charset="-122"/>
              </a:rPr>
              <a:t>首部中的控制位</a:t>
            </a:r>
            <a:r>
              <a:rPr lang="en-US" altLang="zh-CN" b="1" dirty="0">
                <a:solidFill>
                  <a:srgbClr val="0000FF"/>
                </a:solidFill>
                <a:latin typeface="微软雅黑" pitchFamily="34" charset="-122"/>
                <a:ea typeface="微软雅黑" pitchFamily="34" charset="-122"/>
              </a:rPr>
              <a:t>ECE</a:t>
            </a:r>
            <a:r>
              <a:rPr lang="zh-CN" altLang="en-US" b="1" dirty="0">
                <a:solidFill>
                  <a:srgbClr val="0000FF"/>
                </a:solidFill>
                <a:latin typeface="微软雅黑" pitchFamily="34" charset="-122"/>
                <a:ea typeface="微软雅黑" pitchFamily="34" charset="-122"/>
              </a:rPr>
              <a:t>置</a:t>
            </a:r>
            <a:r>
              <a:rPr lang="en-US" altLang="zh-CN" b="1" dirty="0">
                <a:solidFill>
                  <a:srgbClr val="0000FF"/>
                </a:solidFill>
                <a:latin typeface="微软雅黑" pitchFamily="34" charset="-122"/>
                <a:ea typeface="微软雅黑" pitchFamily="34" charset="-122"/>
              </a:rPr>
              <a:t>1</a:t>
            </a:r>
            <a:r>
              <a:rPr lang="zh-CN" altLang="en-US" b="1" dirty="0">
                <a:latin typeface="微软雅黑" pitchFamily="34" charset="-122"/>
                <a:ea typeface="微软雅黑" pitchFamily="34" charset="-122"/>
              </a:rPr>
              <a:t>（</a:t>
            </a:r>
            <a:r>
              <a:rPr lang="en-US" altLang="zh-CN" b="1" dirty="0">
                <a:latin typeface="微软雅黑" pitchFamily="34" charset="-122"/>
                <a:ea typeface="微软雅黑" pitchFamily="34" charset="-122"/>
              </a:rPr>
              <a:t>CWR</a:t>
            </a:r>
            <a:r>
              <a:rPr lang="zh-CN" altLang="en-US" b="1" dirty="0">
                <a:latin typeface="微软雅黑" pitchFamily="34" charset="-122"/>
                <a:ea typeface="微软雅黑" pitchFamily="34" charset="-122"/>
              </a:rPr>
              <a:t>仍为</a:t>
            </a:r>
            <a:r>
              <a:rPr lang="en-US" altLang="zh-CN" b="1" dirty="0">
                <a:latin typeface="微软雅黑" pitchFamily="34" charset="-122"/>
                <a:ea typeface="微软雅黑" pitchFamily="34" charset="-122"/>
              </a:rPr>
              <a:t>0</a:t>
            </a:r>
            <a:r>
              <a:rPr lang="zh-CN" altLang="en-US" b="1" dirty="0">
                <a:latin typeface="微软雅黑" pitchFamily="34" charset="-122"/>
                <a:ea typeface="微软雅黑" pitchFamily="34" charset="-122"/>
              </a:rPr>
              <a:t>），用来告诉</a:t>
            </a:r>
            <a:r>
              <a:rPr lang="en-US" altLang="zh-CN" b="1" dirty="0">
                <a:latin typeface="微软雅黑" pitchFamily="34" charset="-122"/>
                <a:ea typeface="微软雅黑" pitchFamily="34" charset="-122"/>
              </a:rPr>
              <a:t>A</a:t>
            </a:r>
            <a:r>
              <a:rPr lang="zh-CN" altLang="en-US" b="1" dirty="0">
                <a:latin typeface="微软雅黑" pitchFamily="34" charset="-122"/>
                <a:ea typeface="微软雅黑" pitchFamily="34" charset="-122"/>
              </a:rPr>
              <a:t>现在网络发生了拥塞。</a:t>
            </a:r>
          </a:p>
        </p:txBody>
      </p:sp>
      <p:sp>
        <p:nvSpPr>
          <p:cNvPr id="6" name="Rectangle 4">
            <a:extLst>
              <a:ext uri="{FF2B5EF4-FFF2-40B4-BE49-F238E27FC236}">
                <a16:creationId xmlns:a16="http://schemas.microsoft.com/office/drawing/2014/main" id="{F91C34BF-6574-ACF8-4E4C-C96A6FA6778B}"/>
              </a:ext>
            </a:extLst>
          </p:cNvPr>
          <p:cNvSpPr>
            <a:spLocks noChangeArrowheads="1"/>
          </p:cNvSpPr>
          <p:nvPr/>
        </p:nvSpPr>
        <p:spPr bwMode="auto">
          <a:xfrm>
            <a:off x="1695104" y="3589271"/>
            <a:ext cx="1805463" cy="453390"/>
          </a:xfrm>
          <a:prstGeom prst="rect">
            <a:avLst/>
          </a:prstGeom>
          <a:solidFill>
            <a:schemeClr val="bg1"/>
          </a:solidFill>
          <a:ln w="9525">
            <a:solidFill>
              <a:schemeClr val="tx1"/>
            </a:solidFill>
            <a:miter lim="800000"/>
            <a:headEnd/>
            <a:tailEnd/>
          </a:ln>
          <a:effectLst/>
        </p:spPr>
        <p:txBody>
          <a:bodyPr wrap="none" anchor="ct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endParaRPr lang="zh-CN" altLang="en-US" sz="1800" b="1">
              <a:ea typeface="微软雅黑" panose="020B0503020204020204" pitchFamily="34" charset="-122"/>
            </a:endParaRPr>
          </a:p>
        </p:txBody>
      </p:sp>
      <p:sp>
        <p:nvSpPr>
          <p:cNvPr id="7" name="矩形 6">
            <a:extLst>
              <a:ext uri="{FF2B5EF4-FFF2-40B4-BE49-F238E27FC236}">
                <a16:creationId xmlns:a16="http://schemas.microsoft.com/office/drawing/2014/main" id="{D91565B7-1261-D2C1-BCFC-A68CF9B0CBD7}"/>
              </a:ext>
            </a:extLst>
          </p:cNvPr>
          <p:cNvSpPr>
            <a:spLocks noChangeArrowheads="1"/>
          </p:cNvSpPr>
          <p:nvPr/>
        </p:nvSpPr>
        <p:spPr bwMode="auto">
          <a:xfrm>
            <a:off x="3049875" y="3589493"/>
            <a:ext cx="445293" cy="453390"/>
          </a:xfrm>
          <a:prstGeom prst="rect">
            <a:avLst/>
          </a:prstGeom>
          <a:solidFill>
            <a:srgbClr val="FFFF00"/>
          </a:solidFill>
          <a:ln w="28575" algn="ctr">
            <a:solidFill>
              <a:srgbClr val="FF0000"/>
            </a:solidFill>
            <a:round/>
            <a:headEnd/>
            <a:tailEnd/>
          </a:ln>
        </p:spPr>
        <p:txBody>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endParaRPr lang="zh-CN" altLang="en-US" sz="1800" b="1">
              <a:ea typeface="微软雅黑" panose="020B0503020204020204" pitchFamily="34" charset="-122"/>
            </a:endParaRPr>
          </a:p>
        </p:txBody>
      </p:sp>
      <p:sp>
        <p:nvSpPr>
          <p:cNvPr id="8" name="Line 20">
            <a:extLst>
              <a:ext uri="{FF2B5EF4-FFF2-40B4-BE49-F238E27FC236}">
                <a16:creationId xmlns:a16="http://schemas.microsoft.com/office/drawing/2014/main" id="{A9AD1C2C-7306-4551-2505-C5BF7EB0D63B}"/>
              </a:ext>
            </a:extLst>
          </p:cNvPr>
          <p:cNvSpPr>
            <a:spLocks noChangeShapeType="1"/>
          </p:cNvSpPr>
          <p:nvPr/>
        </p:nvSpPr>
        <p:spPr bwMode="auto">
          <a:xfrm flipV="1">
            <a:off x="1707248" y="4161405"/>
            <a:ext cx="1781174" cy="17542"/>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9" name="Line 5">
            <a:extLst>
              <a:ext uri="{FF2B5EF4-FFF2-40B4-BE49-F238E27FC236}">
                <a16:creationId xmlns:a16="http://schemas.microsoft.com/office/drawing/2014/main" id="{D946F9F6-CCCC-83D0-8DDC-F3E2086FF779}"/>
              </a:ext>
            </a:extLst>
          </p:cNvPr>
          <p:cNvSpPr>
            <a:spLocks noChangeShapeType="1"/>
          </p:cNvSpPr>
          <p:nvPr/>
        </p:nvSpPr>
        <p:spPr bwMode="auto">
          <a:xfrm>
            <a:off x="1920449"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0" name="Line 6">
            <a:extLst>
              <a:ext uri="{FF2B5EF4-FFF2-40B4-BE49-F238E27FC236}">
                <a16:creationId xmlns:a16="http://schemas.microsoft.com/office/drawing/2014/main" id="{F07716AF-454E-14D3-CF39-52446D920BD1}"/>
              </a:ext>
            </a:extLst>
          </p:cNvPr>
          <p:cNvSpPr>
            <a:spLocks noChangeShapeType="1"/>
          </p:cNvSpPr>
          <p:nvPr/>
        </p:nvSpPr>
        <p:spPr bwMode="auto">
          <a:xfrm>
            <a:off x="2147143"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1" name="Line 7">
            <a:extLst>
              <a:ext uri="{FF2B5EF4-FFF2-40B4-BE49-F238E27FC236}">
                <a16:creationId xmlns:a16="http://schemas.microsoft.com/office/drawing/2014/main" id="{43DEB50E-19F4-7F75-8C95-8DB824C3A1B8}"/>
              </a:ext>
            </a:extLst>
          </p:cNvPr>
          <p:cNvSpPr>
            <a:spLocks noChangeShapeType="1"/>
          </p:cNvSpPr>
          <p:nvPr/>
        </p:nvSpPr>
        <p:spPr bwMode="auto">
          <a:xfrm>
            <a:off x="2372489"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2" name="Line 8">
            <a:extLst>
              <a:ext uri="{FF2B5EF4-FFF2-40B4-BE49-F238E27FC236}">
                <a16:creationId xmlns:a16="http://schemas.microsoft.com/office/drawing/2014/main" id="{B69EDD4C-D50A-8902-FB45-69A7B1A04130}"/>
              </a:ext>
            </a:extLst>
          </p:cNvPr>
          <p:cNvSpPr>
            <a:spLocks noChangeShapeType="1"/>
          </p:cNvSpPr>
          <p:nvPr/>
        </p:nvSpPr>
        <p:spPr bwMode="auto">
          <a:xfrm>
            <a:off x="2597834"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3" name="Line 9">
            <a:extLst>
              <a:ext uri="{FF2B5EF4-FFF2-40B4-BE49-F238E27FC236}">
                <a16:creationId xmlns:a16="http://schemas.microsoft.com/office/drawing/2014/main" id="{B4EEDDE9-559A-72FB-CBCC-40B5A4132C8B}"/>
              </a:ext>
            </a:extLst>
          </p:cNvPr>
          <p:cNvSpPr>
            <a:spLocks noChangeShapeType="1"/>
          </p:cNvSpPr>
          <p:nvPr/>
        </p:nvSpPr>
        <p:spPr bwMode="auto">
          <a:xfrm>
            <a:off x="2823180"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4" name="Line 10">
            <a:extLst>
              <a:ext uri="{FF2B5EF4-FFF2-40B4-BE49-F238E27FC236}">
                <a16:creationId xmlns:a16="http://schemas.microsoft.com/office/drawing/2014/main" id="{684C829B-96D1-5C68-9CA5-D03FFCF909BD}"/>
              </a:ext>
            </a:extLst>
          </p:cNvPr>
          <p:cNvSpPr>
            <a:spLocks noChangeShapeType="1"/>
          </p:cNvSpPr>
          <p:nvPr/>
        </p:nvSpPr>
        <p:spPr bwMode="auto">
          <a:xfrm>
            <a:off x="3049875"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5" name="Line 11">
            <a:extLst>
              <a:ext uri="{FF2B5EF4-FFF2-40B4-BE49-F238E27FC236}">
                <a16:creationId xmlns:a16="http://schemas.microsoft.com/office/drawing/2014/main" id="{8899754C-7085-4F6A-5F44-D9D70BDE20E4}"/>
              </a:ext>
            </a:extLst>
          </p:cNvPr>
          <p:cNvSpPr>
            <a:spLocks noChangeShapeType="1"/>
          </p:cNvSpPr>
          <p:nvPr/>
        </p:nvSpPr>
        <p:spPr bwMode="auto">
          <a:xfrm>
            <a:off x="3275220"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6" name="Text Box 3">
            <a:extLst>
              <a:ext uri="{FF2B5EF4-FFF2-40B4-BE49-F238E27FC236}">
                <a16:creationId xmlns:a16="http://schemas.microsoft.com/office/drawing/2014/main" id="{F8CA88EB-BA1C-F8B1-9734-C2D8777B7BE5}"/>
              </a:ext>
            </a:extLst>
          </p:cNvPr>
          <p:cNvSpPr txBox="1">
            <a:spLocks noChangeArrowheads="1"/>
          </p:cNvSpPr>
          <p:nvPr/>
        </p:nvSpPr>
        <p:spPr bwMode="auto">
          <a:xfrm>
            <a:off x="3027176" y="3602733"/>
            <a:ext cx="288766" cy="478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lnSpc>
                <a:spcPts val="1000"/>
              </a:lnSpc>
              <a:spcBef>
                <a:spcPct val="0"/>
              </a:spcBef>
              <a:buFontTx/>
              <a:buNone/>
            </a:pPr>
            <a:r>
              <a:rPr lang="en-US" altLang="zh-CN" sz="1100" b="1" dirty="0">
                <a:ea typeface="微软雅黑" panose="020B0503020204020204" pitchFamily="34" charset="-122"/>
              </a:rPr>
              <a:t>E</a:t>
            </a:r>
          </a:p>
          <a:p>
            <a:pPr algn="ctr" eaLnBrk="1" hangingPunct="1">
              <a:lnSpc>
                <a:spcPts val="1000"/>
              </a:lnSpc>
              <a:spcBef>
                <a:spcPct val="0"/>
              </a:spcBef>
              <a:buFontTx/>
              <a:buNone/>
            </a:pPr>
            <a:r>
              <a:rPr lang="en-US" altLang="zh-CN" sz="1100" b="1" dirty="0">
                <a:ea typeface="微软雅黑" panose="020B0503020204020204" pitchFamily="34" charset="-122"/>
              </a:rPr>
              <a:t>C</a:t>
            </a:r>
          </a:p>
          <a:p>
            <a:pPr algn="ctr" eaLnBrk="1" hangingPunct="1">
              <a:lnSpc>
                <a:spcPts val="1000"/>
              </a:lnSpc>
              <a:spcBef>
                <a:spcPct val="0"/>
              </a:spcBef>
              <a:buFontTx/>
              <a:buNone/>
            </a:pPr>
            <a:r>
              <a:rPr lang="en-US" altLang="zh-CN" sz="1100" b="1" dirty="0">
                <a:ea typeface="微软雅黑" panose="020B0503020204020204" pitchFamily="34" charset="-122"/>
              </a:rPr>
              <a:t>T</a:t>
            </a:r>
          </a:p>
        </p:txBody>
      </p:sp>
      <p:sp>
        <p:nvSpPr>
          <p:cNvPr id="17" name="Text Box 2">
            <a:extLst>
              <a:ext uri="{FF2B5EF4-FFF2-40B4-BE49-F238E27FC236}">
                <a16:creationId xmlns:a16="http://schemas.microsoft.com/office/drawing/2014/main" id="{D7B43E42-16DE-FF5E-2B29-75916851A66B}"/>
              </a:ext>
            </a:extLst>
          </p:cNvPr>
          <p:cNvSpPr txBox="1">
            <a:spLocks noChangeArrowheads="1"/>
          </p:cNvSpPr>
          <p:nvPr/>
        </p:nvSpPr>
        <p:spPr bwMode="auto">
          <a:xfrm>
            <a:off x="1824643" y="3674282"/>
            <a:ext cx="1038618" cy="27699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      DSCP      </a:t>
            </a:r>
          </a:p>
        </p:txBody>
      </p:sp>
      <p:sp>
        <p:nvSpPr>
          <p:cNvPr id="18" name="Text Box 19">
            <a:extLst>
              <a:ext uri="{FF2B5EF4-FFF2-40B4-BE49-F238E27FC236}">
                <a16:creationId xmlns:a16="http://schemas.microsoft.com/office/drawing/2014/main" id="{880AC855-BE4C-5921-0901-A81F98871E9A}"/>
              </a:ext>
            </a:extLst>
          </p:cNvPr>
          <p:cNvSpPr txBox="1">
            <a:spLocks noChangeArrowheads="1"/>
          </p:cNvSpPr>
          <p:nvPr/>
        </p:nvSpPr>
        <p:spPr bwMode="auto">
          <a:xfrm>
            <a:off x="1411735" y="3353131"/>
            <a:ext cx="2423475"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位  </a:t>
            </a:r>
            <a:r>
              <a:rPr lang="en-US" altLang="zh-CN" sz="1200" b="1">
                <a:ea typeface="微软雅黑" panose="020B0503020204020204" pitchFamily="34" charset="-122"/>
              </a:rPr>
              <a:t>0                        5    6   7</a:t>
            </a:r>
          </a:p>
        </p:txBody>
      </p:sp>
      <p:sp>
        <p:nvSpPr>
          <p:cNvPr id="19" name="Text Box 3">
            <a:extLst>
              <a:ext uri="{FF2B5EF4-FFF2-40B4-BE49-F238E27FC236}">
                <a16:creationId xmlns:a16="http://schemas.microsoft.com/office/drawing/2014/main" id="{183E987E-BD60-0AF3-C14B-411D23ED3560}"/>
              </a:ext>
            </a:extLst>
          </p:cNvPr>
          <p:cNvSpPr txBox="1">
            <a:spLocks noChangeArrowheads="1"/>
          </p:cNvSpPr>
          <p:nvPr/>
        </p:nvSpPr>
        <p:spPr bwMode="auto">
          <a:xfrm>
            <a:off x="3244185" y="3633800"/>
            <a:ext cx="284719" cy="439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lnSpc>
                <a:spcPts val="1400"/>
              </a:lnSpc>
              <a:spcBef>
                <a:spcPct val="0"/>
              </a:spcBef>
              <a:buFontTx/>
              <a:buNone/>
            </a:pPr>
            <a:r>
              <a:rPr lang="en-US" altLang="zh-CN" sz="1100" b="1" dirty="0">
                <a:ea typeface="微软雅黑" panose="020B0503020204020204" pitchFamily="34" charset="-122"/>
              </a:rPr>
              <a:t>C</a:t>
            </a:r>
          </a:p>
          <a:p>
            <a:pPr algn="ctr" eaLnBrk="1" hangingPunct="1">
              <a:lnSpc>
                <a:spcPts val="1400"/>
              </a:lnSpc>
              <a:spcBef>
                <a:spcPct val="0"/>
              </a:spcBef>
              <a:buFontTx/>
              <a:buNone/>
            </a:pPr>
            <a:r>
              <a:rPr lang="en-US" altLang="zh-CN" sz="1100" b="1" dirty="0">
                <a:ea typeface="微软雅黑" panose="020B0503020204020204" pitchFamily="34" charset="-122"/>
              </a:rPr>
              <a:t>E</a:t>
            </a:r>
            <a:endParaRPr lang="en-US" altLang="zh-CN" sz="1200" b="1" dirty="0">
              <a:ea typeface="微软雅黑" panose="020B0503020204020204" pitchFamily="34" charset="-122"/>
            </a:endParaRPr>
          </a:p>
        </p:txBody>
      </p:sp>
      <p:sp>
        <p:nvSpPr>
          <p:cNvPr id="20" name="Text Box 21">
            <a:extLst>
              <a:ext uri="{FF2B5EF4-FFF2-40B4-BE49-F238E27FC236}">
                <a16:creationId xmlns:a16="http://schemas.microsoft.com/office/drawing/2014/main" id="{EDD0FD9E-560B-9490-258F-FA621125443F}"/>
              </a:ext>
            </a:extLst>
          </p:cNvPr>
          <p:cNvSpPr txBox="1">
            <a:spLocks noChangeArrowheads="1"/>
          </p:cNvSpPr>
          <p:nvPr/>
        </p:nvSpPr>
        <p:spPr bwMode="auto">
          <a:xfrm>
            <a:off x="3458108" y="3283792"/>
            <a:ext cx="97559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dirty="0">
                <a:ea typeface="微软雅黑" panose="020B0503020204020204" pitchFamily="34" charset="-122"/>
              </a:rPr>
              <a:t>ECN </a:t>
            </a:r>
            <a:r>
              <a:rPr lang="zh-CN" altLang="en-US" sz="1200" b="1" dirty="0">
                <a:ea typeface="微软雅黑" panose="020B0503020204020204" pitchFamily="34" charset="-122"/>
              </a:rPr>
              <a:t>字段</a:t>
            </a:r>
            <a:endParaRPr lang="en-US" altLang="zh-CN" sz="1200" b="1" dirty="0">
              <a:ea typeface="微软雅黑" panose="020B0503020204020204" pitchFamily="34" charset="-122"/>
            </a:endParaRPr>
          </a:p>
        </p:txBody>
      </p:sp>
      <p:grpSp>
        <p:nvGrpSpPr>
          <p:cNvPr id="21" name="组合 20">
            <a:extLst>
              <a:ext uri="{FF2B5EF4-FFF2-40B4-BE49-F238E27FC236}">
                <a16:creationId xmlns:a16="http://schemas.microsoft.com/office/drawing/2014/main" id="{F236BAE1-A60F-1EC7-DAAD-3EF4FB4E93DA}"/>
              </a:ext>
            </a:extLst>
          </p:cNvPr>
          <p:cNvGrpSpPr>
            <a:grpSpLocks/>
          </p:cNvGrpSpPr>
          <p:nvPr/>
        </p:nvGrpSpPr>
        <p:grpSpPr bwMode="auto">
          <a:xfrm>
            <a:off x="1698402" y="4069648"/>
            <a:ext cx="1810860" cy="218599"/>
            <a:chOff x="1301750" y="1709738"/>
            <a:chExt cx="2130425" cy="339725"/>
          </a:xfrm>
        </p:grpSpPr>
        <p:sp>
          <p:nvSpPr>
            <p:cNvPr id="37" name="Line 10">
              <a:extLst>
                <a:ext uri="{FF2B5EF4-FFF2-40B4-BE49-F238E27FC236}">
                  <a16:creationId xmlns:a16="http://schemas.microsoft.com/office/drawing/2014/main" id="{FF10D279-A1AE-DD61-8A56-94D383777B52}"/>
                </a:ext>
              </a:extLst>
            </p:cNvPr>
            <p:cNvSpPr>
              <a:spLocks noChangeShapeType="1"/>
            </p:cNvSpPr>
            <p:nvPr/>
          </p:nvSpPr>
          <p:spPr bwMode="auto">
            <a:xfrm>
              <a:off x="3432175" y="1709738"/>
              <a:ext cx="0" cy="3222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38" name="Line 10">
              <a:extLst>
                <a:ext uri="{FF2B5EF4-FFF2-40B4-BE49-F238E27FC236}">
                  <a16:creationId xmlns:a16="http://schemas.microsoft.com/office/drawing/2014/main" id="{B12381E2-208A-56AE-0A6C-688A15FE69C3}"/>
                </a:ext>
              </a:extLst>
            </p:cNvPr>
            <p:cNvSpPr>
              <a:spLocks noChangeShapeType="1"/>
            </p:cNvSpPr>
            <p:nvPr/>
          </p:nvSpPr>
          <p:spPr bwMode="auto">
            <a:xfrm>
              <a:off x="1301750" y="1727200"/>
              <a:ext cx="0" cy="322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grpSp>
      <p:sp>
        <p:nvSpPr>
          <p:cNvPr id="22" name="Line 20">
            <a:extLst>
              <a:ext uri="{FF2B5EF4-FFF2-40B4-BE49-F238E27FC236}">
                <a16:creationId xmlns:a16="http://schemas.microsoft.com/office/drawing/2014/main" id="{3A0FB25A-414E-C152-10D8-0854519FBA4D}"/>
              </a:ext>
            </a:extLst>
          </p:cNvPr>
          <p:cNvSpPr>
            <a:spLocks noChangeShapeType="1"/>
          </p:cNvSpPr>
          <p:nvPr/>
        </p:nvSpPr>
        <p:spPr bwMode="auto">
          <a:xfrm flipV="1">
            <a:off x="3499386" y="3513850"/>
            <a:ext cx="340041" cy="269875"/>
          </a:xfrm>
          <a:prstGeom prst="line">
            <a:avLst/>
          </a:prstGeom>
          <a:noFill/>
          <a:ln w="9525">
            <a:solidFill>
              <a:schemeClr val="tx1"/>
            </a:solidFill>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23" name="Text Box 21">
            <a:extLst>
              <a:ext uri="{FF2B5EF4-FFF2-40B4-BE49-F238E27FC236}">
                <a16:creationId xmlns:a16="http://schemas.microsoft.com/office/drawing/2014/main" id="{377309D4-CF33-352E-E42C-F3FF6E04BB43}"/>
              </a:ext>
            </a:extLst>
          </p:cNvPr>
          <p:cNvSpPr txBox="1">
            <a:spLocks noChangeArrowheads="1"/>
          </p:cNvSpPr>
          <p:nvPr/>
        </p:nvSpPr>
        <p:spPr bwMode="auto">
          <a:xfrm>
            <a:off x="2487185" y="4214031"/>
            <a:ext cx="4992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(a)</a:t>
            </a:r>
          </a:p>
        </p:txBody>
      </p:sp>
      <p:sp>
        <p:nvSpPr>
          <p:cNvPr id="24" name="Text Box 21">
            <a:extLst>
              <a:ext uri="{FF2B5EF4-FFF2-40B4-BE49-F238E27FC236}">
                <a16:creationId xmlns:a16="http://schemas.microsoft.com/office/drawing/2014/main" id="{5E823CE3-75DD-1AE4-6768-AB5CC8C449D5}"/>
              </a:ext>
            </a:extLst>
          </p:cNvPr>
          <p:cNvSpPr txBox="1">
            <a:spLocks noChangeArrowheads="1"/>
          </p:cNvSpPr>
          <p:nvPr/>
        </p:nvSpPr>
        <p:spPr bwMode="auto">
          <a:xfrm>
            <a:off x="5921343" y="4215380"/>
            <a:ext cx="4992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(b)</a:t>
            </a:r>
          </a:p>
        </p:txBody>
      </p:sp>
      <p:sp>
        <p:nvSpPr>
          <p:cNvPr id="25" name="矩形 24">
            <a:extLst>
              <a:ext uri="{FF2B5EF4-FFF2-40B4-BE49-F238E27FC236}">
                <a16:creationId xmlns:a16="http://schemas.microsoft.com/office/drawing/2014/main" id="{21811003-5EE0-DAB6-D462-E72DB4A99F24}"/>
              </a:ext>
            </a:extLst>
          </p:cNvPr>
          <p:cNvSpPr>
            <a:spLocks noChangeArrowheads="1"/>
          </p:cNvSpPr>
          <p:nvPr/>
        </p:nvSpPr>
        <p:spPr bwMode="auto">
          <a:xfrm>
            <a:off x="2236202" y="4075045"/>
            <a:ext cx="696277" cy="245586"/>
          </a:xfrm>
          <a:prstGeom prst="rect">
            <a:avLst/>
          </a:prstGeom>
          <a:solidFill>
            <a:srgbClr val="C3E3F9"/>
          </a:solidFill>
          <a:ln>
            <a:noFill/>
          </a:ln>
        </p:spPr>
        <p:txBody>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endParaRPr lang="zh-CN" altLang="en-US" sz="1800" b="1">
              <a:ea typeface="微软雅黑" panose="020B0503020204020204" pitchFamily="34" charset="-122"/>
            </a:endParaRPr>
          </a:p>
        </p:txBody>
      </p:sp>
      <p:sp>
        <p:nvSpPr>
          <p:cNvPr id="26" name="Text Box 21">
            <a:extLst>
              <a:ext uri="{FF2B5EF4-FFF2-40B4-BE49-F238E27FC236}">
                <a16:creationId xmlns:a16="http://schemas.microsoft.com/office/drawing/2014/main" id="{95D57F84-2AED-CED1-1A2A-6BFB6221F47A}"/>
              </a:ext>
            </a:extLst>
          </p:cNvPr>
          <p:cNvSpPr txBox="1">
            <a:spLocks noChangeArrowheads="1"/>
          </p:cNvSpPr>
          <p:nvPr/>
        </p:nvSpPr>
        <p:spPr bwMode="auto">
          <a:xfrm>
            <a:off x="2217310" y="4015673"/>
            <a:ext cx="120499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dirty="0">
                <a:ea typeface="微软雅黑" panose="020B0503020204020204" pitchFamily="34" charset="-122"/>
              </a:rPr>
              <a:t>DS </a:t>
            </a:r>
            <a:r>
              <a:rPr lang="zh-CN" altLang="en-US" sz="1200" b="1" dirty="0">
                <a:ea typeface="微软雅黑" panose="020B0503020204020204" pitchFamily="34" charset="-122"/>
              </a:rPr>
              <a:t>字段</a:t>
            </a:r>
            <a:endParaRPr lang="en-US" altLang="zh-CN" sz="1200" b="1" dirty="0">
              <a:ea typeface="微软雅黑" panose="020B0503020204020204" pitchFamily="34" charset="-122"/>
            </a:endParaRPr>
          </a:p>
        </p:txBody>
      </p:sp>
      <p:sp>
        <p:nvSpPr>
          <p:cNvPr id="27" name="Text Box 21">
            <a:extLst>
              <a:ext uri="{FF2B5EF4-FFF2-40B4-BE49-F238E27FC236}">
                <a16:creationId xmlns:a16="http://schemas.microsoft.com/office/drawing/2014/main" id="{576FBBEA-A1C6-A1A9-8F3E-E6061F64C566}"/>
              </a:ext>
            </a:extLst>
          </p:cNvPr>
          <p:cNvSpPr txBox="1">
            <a:spLocks noChangeArrowheads="1"/>
          </p:cNvSpPr>
          <p:nvPr/>
        </p:nvSpPr>
        <p:spPr bwMode="auto">
          <a:xfrm>
            <a:off x="3318399" y="3102147"/>
            <a:ext cx="120499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显式拥塞通知</a:t>
            </a:r>
            <a:endParaRPr lang="en-US" altLang="zh-CN" sz="1200" b="1">
              <a:ea typeface="微软雅黑" panose="020B0503020204020204" pitchFamily="34" charset="-122"/>
            </a:endParaRPr>
          </a:p>
        </p:txBody>
      </p:sp>
      <p:sp>
        <p:nvSpPr>
          <p:cNvPr id="28" name="Text Box 21">
            <a:extLst>
              <a:ext uri="{FF2B5EF4-FFF2-40B4-BE49-F238E27FC236}">
                <a16:creationId xmlns:a16="http://schemas.microsoft.com/office/drawing/2014/main" id="{6A0AD8B8-08B3-BD68-A632-6631B7D7B569}"/>
              </a:ext>
            </a:extLst>
          </p:cNvPr>
          <p:cNvSpPr txBox="1">
            <a:spLocks noChangeArrowheads="1"/>
          </p:cNvSpPr>
          <p:nvPr/>
        </p:nvSpPr>
        <p:spPr bwMode="auto">
          <a:xfrm>
            <a:off x="4832398" y="3102147"/>
            <a:ext cx="105790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ECN </a:t>
            </a:r>
            <a:r>
              <a:rPr lang="zh-CN" altLang="en-US" sz="1200" b="1">
                <a:ea typeface="微软雅黑" panose="020B0503020204020204" pitchFamily="34" charset="-122"/>
              </a:rPr>
              <a:t>字段</a:t>
            </a:r>
            <a:endParaRPr lang="en-US" altLang="zh-CN" sz="1200" b="1">
              <a:ea typeface="微软雅黑" panose="020B0503020204020204" pitchFamily="34" charset="-122"/>
            </a:endParaRPr>
          </a:p>
        </p:txBody>
      </p:sp>
      <p:cxnSp>
        <p:nvCxnSpPr>
          <p:cNvPr id="29" name="直接连接符 28">
            <a:extLst>
              <a:ext uri="{FF2B5EF4-FFF2-40B4-BE49-F238E27FC236}">
                <a16:creationId xmlns:a16="http://schemas.microsoft.com/office/drawing/2014/main" id="{03180A42-47A2-C76F-670D-4B57B15ED500}"/>
              </a:ext>
            </a:extLst>
          </p:cNvPr>
          <p:cNvCxnSpPr>
            <a:cxnSpLocks noChangeShapeType="1"/>
          </p:cNvCxnSpPr>
          <p:nvPr/>
        </p:nvCxnSpPr>
        <p:spPr bwMode="auto">
          <a:xfrm>
            <a:off x="4848591" y="3384166"/>
            <a:ext cx="2551667" cy="5397"/>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a:extLst>
              <a:ext uri="{FF2B5EF4-FFF2-40B4-BE49-F238E27FC236}">
                <a16:creationId xmlns:a16="http://schemas.microsoft.com/office/drawing/2014/main" id="{FC522BE7-15E8-728A-FAED-51E753256C67}"/>
              </a:ext>
            </a:extLst>
          </p:cNvPr>
          <p:cNvCxnSpPr>
            <a:cxnSpLocks noChangeShapeType="1"/>
          </p:cNvCxnSpPr>
          <p:nvPr/>
        </p:nvCxnSpPr>
        <p:spPr bwMode="auto">
          <a:xfrm>
            <a:off x="4848591" y="4258560"/>
            <a:ext cx="2551667"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Text Box 21">
            <a:extLst>
              <a:ext uri="{FF2B5EF4-FFF2-40B4-BE49-F238E27FC236}">
                <a16:creationId xmlns:a16="http://schemas.microsoft.com/office/drawing/2014/main" id="{EDF9B223-2494-D356-C65D-1DE26A8B814F}"/>
              </a:ext>
            </a:extLst>
          </p:cNvPr>
          <p:cNvSpPr txBox="1">
            <a:spLocks noChangeArrowheads="1"/>
          </p:cNvSpPr>
          <p:nvPr/>
        </p:nvSpPr>
        <p:spPr bwMode="auto">
          <a:xfrm>
            <a:off x="5525589" y="3377345"/>
            <a:ext cx="975597" cy="897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lnSpc>
                <a:spcPts val="1600"/>
              </a:lnSpc>
              <a:spcBef>
                <a:spcPct val="0"/>
              </a:spcBef>
              <a:buFontTx/>
              <a:buNone/>
            </a:pPr>
            <a:r>
              <a:rPr lang="en-US" altLang="zh-CN" sz="1200" b="1" dirty="0">
                <a:ea typeface="微软雅黑" panose="020B0503020204020204" pitchFamily="34" charset="-122"/>
              </a:rPr>
              <a:t>Non-ECT   </a:t>
            </a:r>
          </a:p>
          <a:p>
            <a:pPr algn="ctr" eaLnBrk="1" hangingPunct="1">
              <a:lnSpc>
                <a:spcPts val="1600"/>
              </a:lnSpc>
              <a:spcBef>
                <a:spcPct val="0"/>
              </a:spcBef>
              <a:buFontTx/>
              <a:buNone/>
            </a:pPr>
            <a:r>
              <a:rPr lang="en-US" altLang="zh-CN" sz="1200" b="1" dirty="0">
                <a:ea typeface="微软雅黑" panose="020B0503020204020204" pitchFamily="34" charset="-122"/>
              </a:rPr>
              <a:t>ECT(1)</a:t>
            </a:r>
          </a:p>
          <a:p>
            <a:pPr algn="ctr" eaLnBrk="1" hangingPunct="1">
              <a:lnSpc>
                <a:spcPts val="1600"/>
              </a:lnSpc>
              <a:spcBef>
                <a:spcPct val="0"/>
              </a:spcBef>
              <a:buFontTx/>
              <a:buNone/>
            </a:pPr>
            <a:r>
              <a:rPr lang="en-US" altLang="zh-CN" sz="1200" b="1" dirty="0">
                <a:ea typeface="微软雅黑" panose="020B0503020204020204" pitchFamily="34" charset="-122"/>
              </a:rPr>
              <a:t>ECT(0)</a:t>
            </a:r>
          </a:p>
          <a:p>
            <a:pPr algn="ctr" eaLnBrk="1" hangingPunct="1">
              <a:lnSpc>
                <a:spcPts val="1600"/>
              </a:lnSpc>
              <a:spcBef>
                <a:spcPct val="0"/>
              </a:spcBef>
              <a:buFontTx/>
              <a:buNone/>
            </a:pPr>
            <a:r>
              <a:rPr lang="en-US" altLang="zh-CN" sz="1200" b="1" dirty="0">
                <a:ea typeface="微软雅黑" panose="020B0503020204020204" pitchFamily="34" charset="-122"/>
              </a:rPr>
              <a:t>CE</a:t>
            </a:r>
          </a:p>
        </p:txBody>
      </p:sp>
      <p:sp>
        <p:nvSpPr>
          <p:cNvPr id="32" name="Text Box 21">
            <a:extLst>
              <a:ext uri="{FF2B5EF4-FFF2-40B4-BE49-F238E27FC236}">
                <a16:creationId xmlns:a16="http://schemas.microsoft.com/office/drawing/2014/main" id="{15ADFDB7-3977-964B-1473-BE51DB664774}"/>
              </a:ext>
            </a:extLst>
          </p:cNvPr>
          <p:cNvSpPr txBox="1">
            <a:spLocks noChangeArrowheads="1"/>
          </p:cNvSpPr>
          <p:nvPr/>
        </p:nvSpPr>
        <p:spPr bwMode="auto">
          <a:xfrm>
            <a:off x="6625717" y="3102147"/>
            <a:ext cx="61396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意义</a:t>
            </a:r>
            <a:endParaRPr lang="en-US" altLang="zh-CN" sz="1200" b="1">
              <a:ea typeface="微软雅黑" panose="020B0503020204020204" pitchFamily="34" charset="-122"/>
            </a:endParaRPr>
          </a:p>
        </p:txBody>
      </p:sp>
      <p:sp>
        <p:nvSpPr>
          <p:cNvPr id="33" name="Text Box 21">
            <a:extLst>
              <a:ext uri="{FF2B5EF4-FFF2-40B4-BE49-F238E27FC236}">
                <a16:creationId xmlns:a16="http://schemas.microsoft.com/office/drawing/2014/main" id="{3CDF8404-C15A-4A4D-8886-7F4A418F7997}"/>
              </a:ext>
            </a:extLst>
          </p:cNvPr>
          <p:cNvSpPr txBox="1">
            <a:spLocks noChangeArrowheads="1"/>
          </p:cNvSpPr>
          <p:nvPr/>
        </p:nvSpPr>
        <p:spPr bwMode="auto">
          <a:xfrm>
            <a:off x="5768864" y="3102147"/>
            <a:ext cx="61396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名称</a:t>
            </a:r>
            <a:endParaRPr lang="en-US" altLang="zh-CN" sz="1200" b="1">
              <a:ea typeface="微软雅黑" panose="020B0503020204020204" pitchFamily="34" charset="-122"/>
            </a:endParaRPr>
          </a:p>
        </p:txBody>
      </p:sp>
      <p:cxnSp>
        <p:nvCxnSpPr>
          <p:cNvPr id="34" name="直接连接符 33">
            <a:extLst>
              <a:ext uri="{FF2B5EF4-FFF2-40B4-BE49-F238E27FC236}">
                <a16:creationId xmlns:a16="http://schemas.microsoft.com/office/drawing/2014/main" id="{D9AA6F02-2818-3F29-6A2F-22BCAAA20A67}"/>
              </a:ext>
            </a:extLst>
          </p:cNvPr>
          <p:cNvCxnSpPr>
            <a:cxnSpLocks noChangeShapeType="1"/>
          </p:cNvCxnSpPr>
          <p:nvPr/>
        </p:nvCxnSpPr>
        <p:spPr bwMode="auto">
          <a:xfrm flipV="1">
            <a:off x="5644721" y="3384166"/>
            <a:ext cx="0" cy="851456"/>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34">
            <a:extLst>
              <a:ext uri="{FF2B5EF4-FFF2-40B4-BE49-F238E27FC236}">
                <a16:creationId xmlns:a16="http://schemas.microsoft.com/office/drawing/2014/main" id="{58B6E786-161D-18FA-B707-0E18FB6958B6}"/>
              </a:ext>
            </a:extLst>
          </p:cNvPr>
          <p:cNvCxnSpPr>
            <a:cxnSpLocks noChangeShapeType="1"/>
          </p:cNvCxnSpPr>
          <p:nvPr/>
        </p:nvCxnSpPr>
        <p:spPr bwMode="auto">
          <a:xfrm flipV="1">
            <a:off x="6389576" y="3397660"/>
            <a:ext cx="0" cy="852805"/>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Text Box 19">
            <a:extLst>
              <a:ext uri="{FF2B5EF4-FFF2-40B4-BE49-F238E27FC236}">
                <a16:creationId xmlns:a16="http://schemas.microsoft.com/office/drawing/2014/main" id="{73EE1A90-0EFE-0652-F0A4-0A7FB74F5B12}"/>
              </a:ext>
            </a:extLst>
          </p:cNvPr>
          <p:cNvSpPr txBox="1">
            <a:spLocks noChangeArrowheads="1"/>
          </p:cNvSpPr>
          <p:nvPr/>
        </p:nvSpPr>
        <p:spPr bwMode="auto">
          <a:xfrm>
            <a:off x="4922851" y="3403933"/>
            <a:ext cx="2731133" cy="86946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spcAft>
                <a:spcPts val="300"/>
              </a:spcAft>
              <a:buFontTx/>
              <a:buNone/>
            </a:pPr>
            <a:r>
              <a:rPr lang="en-US" altLang="zh-CN" sz="1200" b="1" dirty="0">
                <a:ea typeface="微软雅黑" panose="020B0503020204020204" pitchFamily="34" charset="-122"/>
              </a:rPr>
              <a:t>   0   0                           </a:t>
            </a:r>
            <a:r>
              <a:rPr lang="zh-CN" altLang="en-US" sz="1200" b="1" dirty="0">
                <a:ea typeface="微软雅黑" panose="020B0503020204020204" pitchFamily="34" charset="-122"/>
              </a:rPr>
              <a:t>不支持 </a:t>
            </a:r>
            <a:r>
              <a:rPr lang="en-US" altLang="zh-CN" sz="1200" b="1" dirty="0">
                <a:ea typeface="微软雅黑" panose="020B0503020204020204" pitchFamily="34" charset="-122"/>
              </a:rPr>
              <a:t>ECN</a:t>
            </a:r>
          </a:p>
          <a:p>
            <a:pPr eaLnBrk="1" hangingPunct="1">
              <a:spcBef>
                <a:spcPct val="0"/>
              </a:spcBef>
              <a:buFontTx/>
              <a:buNone/>
            </a:pPr>
            <a:r>
              <a:rPr lang="en-US" altLang="zh-CN" sz="1200" b="1" dirty="0">
                <a:ea typeface="微软雅黑" panose="020B0503020204020204" pitchFamily="34" charset="-122"/>
              </a:rPr>
              <a:t>   0   1                             </a:t>
            </a:r>
            <a:r>
              <a:rPr lang="zh-CN" altLang="en-US" sz="1200" b="1" dirty="0">
                <a:ea typeface="微软雅黑" panose="020B0503020204020204" pitchFamily="34" charset="-122"/>
              </a:rPr>
              <a:t>支持 </a:t>
            </a:r>
            <a:r>
              <a:rPr lang="en-US" altLang="zh-CN" sz="1200" b="1" dirty="0">
                <a:ea typeface="微软雅黑" panose="020B0503020204020204" pitchFamily="34" charset="-122"/>
              </a:rPr>
              <a:t>ECN</a:t>
            </a:r>
          </a:p>
          <a:p>
            <a:pPr eaLnBrk="1" hangingPunct="1">
              <a:spcBef>
                <a:spcPct val="0"/>
              </a:spcBef>
              <a:buFontTx/>
              <a:buNone/>
            </a:pPr>
            <a:r>
              <a:rPr lang="en-US" altLang="zh-CN" sz="1200" b="1" dirty="0">
                <a:ea typeface="微软雅黑" panose="020B0503020204020204" pitchFamily="34" charset="-122"/>
              </a:rPr>
              <a:t>   1   0                             </a:t>
            </a:r>
            <a:r>
              <a:rPr lang="zh-CN" altLang="en-US" sz="1200" b="1" dirty="0">
                <a:ea typeface="微软雅黑" panose="020B0503020204020204" pitchFamily="34" charset="-122"/>
              </a:rPr>
              <a:t>支持 </a:t>
            </a:r>
            <a:r>
              <a:rPr lang="en-US" altLang="zh-CN" sz="1200" b="1" dirty="0">
                <a:ea typeface="微软雅黑" panose="020B0503020204020204" pitchFamily="34" charset="-122"/>
              </a:rPr>
              <a:t>ECN</a:t>
            </a:r>
          </a:p>
          <a:p>
            <a:pPr eaLnBrk="1" hangingPunct="1">
              <a:spcBef>
                <a:spcPct val="0"/>
              </a:spcBef>
              <a:buFontTx/>
              <a:buNone/>
            </a:pPr>
            <a:r>
              <a:rPr lang="en-US" altLang="zh-CN" sz="1200" b="1" dirty="0">
                <a:ea typeface="微软雅黑" panose="020B0503020204020204" pitchFamily="34" charset="-122"/>
              </a:rPr>
              <a:t>   1   1                            </a:t>
            </a:r>
            <a:r>
              <a:rPr lang="zh-CN" altLang="en-US" sz="1200" b="1" dirty="0">
                <a:ea typeface="微软雅黑" panose="020B0503020204020204" pitchFamily="34" charset="-122"/>
              </a:rPr>
              <a:t>已经历拥塞</a:t>
            </a:r>
            <a:endParaRPr lang="en-US" altLang="zh-CN" sz="1200" b="1" dirty="0">
              <a:ea typeface="微软雅黑" panose="020B0503020204020204" pitchFamily="34" charset="-122"/>
            </a:endParaRPr>
          </a:p>
        </p:txBody>
      </p:sp>
    </p:spTree>
    <p:extLst>
      <p:ext uri="{BB962C8B-B14F-4D97-AF65-F5344CB8AC3E}">
        <p14:creationId xmlns:p14="http://schemas.microsoft.com/office/powerpoint/2010/main" val="1040487855"/>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58A23-121A-9D8A-567D-408F3F6A0353}"/>
            </a:ext>
          </a:extLst>
        </p:cNvPr>
        <p:cNvGrpSpPr/>
        <p:nvPr/>
      </p:nvGrpSpPr>
      <p:grpSpPr>
        <a:xfrm>
          <a:off x="0" y="0"/>
          <a:ext cx="0" cy="0"/>
          <a:chOff x="0" y="0"/>
          <a:chExt cx="0" cy="0"/>
        </a:xfrm>
      </p:grpSpPr>
      <p:sp>
        <p:nvSpPr>
          <p:cNvPr id="39" name="圆角矩形 37">
            <a:extLst>
              <a:ext uri="{FF2B5EF4-FFF2-40B4-BE49-F238E27FC236}">
                <a16:creationId xmlns:a16="http://schemas.microsoft.com/office/drawing/2014/main" id="{60EAF3AC-2650-E789-F365-ED169D7C52B8}"/>
              </a:ext>
            </a:extLst>
          </p:cNvPr>
          <p:cNvSpPr/>
          <p:nvPr/>
        </p:nvSpPr>
        <p:spPr>
          <a:xfrm>
            <a:off x="1091322" y="2915266"/>
            <a:ext cx="6961355" cy="162908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AutoShape 5">
            <a:extLst>
              <a:ext uri="{FF2B5EF4-FFF2-40B4-BE49-F238E27FC236}">
                <a16:creationId xmlns:a16="http://schemas.microsoft.com/office/drawing/2014/main" id="{4060D353-63AD-08F1-2125-9F1FB4605B85}"/>
              </a:ext>
            </a:extLst>
          </p:cNvPr>
          <p:cNvSpPr>
            <a:spLocks noChangeArrowheads="1"/>
          </p:cNvSpPr>
          <p:nvPr/>
        </p:nvSpPr>
        <p:spPr bwMode="auto">
          <a:xfrm>
            <a:off x="545143" y="625919"/>
            <a:ext cx="8053711" cy="357839"/>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a:extLst>
              <a:ext uri="{FF2B5EF4-FFF2-40B4-BE49-F238E27FC236}">
                <a16:creationId xmlns:a16="http://schemas.microsoft.com/office/drawing/2014/main" id="{8D1606AD-1C30-008A-7153-768D4D928596}"/>
              </a:ext>
            </a:extLst>
          </p:cNvPr>
          <p:cNvSpPr>
            <a:spLocks noChangeArrowheads="1"/>
          </p:cNvSpPr>
          <p:nvPr/>
        </p:nvSpPr>
        <p:spPr bwMode="auto">
          <a:xfrm>
            <a:off x="3248567" y="599146"/>
            <a:ext cx="264687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显式拥塞通知</a:t>
            </a:r>
            <a:r>
              <a:rPr lang="en-US" altLang="zh-CN" sz="2000" b="1" dirty="0">
                <a:solidFill>
                  <a:schemeClr val="bg1"/>
                </a:solidFill>
                <a:latin typeface="微软雅黑" pitchFamily="34" charset="-122"/>
                <a:ea typeface="微软雅黑" pitchFamily="34" charset="-122"/>
              </a:rPr>
              <a:t>ECN </a:t>
            </a:r>
            <a:endParaRPr lang="zh-CN" altLang="en-US" sz="2000" b="1" dirty="0">
              <a:solidFill>
                <a:schemeClr val="bg1"/>
              </a:solidFill>
              <a:latin typeface="微软雅黑" pitchFamily="34" charset="-122"/>
              <a:ea typeface="微软雅黑" pitchFamily="34" charset="-122"/>
            </a:endParaRPr>
          </a:p>
        </p:txBody>
      </p:sp>
      <p:sp>
        <p:nvSpPr>
          <p:cNvPr id="4" name="Rectangle 8">
            <a:extLst>
              <a:ext uri="{FF2B5EF4-FFF2-40B4-BE49-F238E27FC236}">
                <a16:creationId xmlns:a16="http://schemas.microsoft.com/office/drawing/2014/main" id="{31C10564-35EA-67DA-DD59-CA293A42A8D3}"/>
              </a:ext>
            </a:extLst>
          </p:cNvPr>
          <p:cNvSpPr>
            <a:spLocks noChangeArrowheads="1"/>
          </p:cNvSpPr>
          <p:nvPr/>
        </p:nvSpPr>
        <p:spPr bwMode="auto">
          <a:xfrm>
            <a:off x="545143" y="1029517"/>
            <a:ext cx="8053711" cy="14938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这样，发送端</a:t>
            </a:r>
            <a:r>
              <a:rPr lang="en-US" altLang="zh-CN" b="1" dirty="0">
                <a:latin typeface="微软雅黑" pitchFamily="34" charset="-122"/>
                <a:ea typeface="微软雅黑" pitchFamily="34" charset="-122"/>
              </a:rPr>
              <a:t>A</a:t>
            </a:r>
            <a:r>
              <a:rPr lang="zh-CN" altLang="en-US" b="1" dirty="0">
                <a:latin typeface="微软雅黑" pitchFamily="34" charset="-122"/>
                <a:ea typeface="微软雅黑" pitchFamily="34" charset="-122"/>
              </a:rPr>
              <a:t>就能够及时地对拥塞做出反应，而不需要等到超时重传。具体的反应策略可以是调整拥塞窗口大小或者是启用其他拥塞控制机制，并在下一次发送给</a:t>
            </a:r>
            <a:r>
              <a:rPr lang="en-US" altLang="zh-CN" b="1" dirty="0">
                <a:latin typeface="微软雅黑" pitchFamily="34" charset="-122"/>
                <a:ea typeface="微软雅黑" pitchFamily="34" charset="-122"/>
              </a:rPr>
              <a:t>B</a:t>
            </a:r>
            <a:r>
              <a:rPr lang="zh-CN" altLang="en-US" b="1" dirty="0">
                <a:latin typeface="微软雅黑" pitchFamily="34" charset="-122"/>
                <a:ea typeface="微软雅黑" pitchFamily="34" charset="-122"/>
              </a:rPr>
              <a:t>的</a:t>
            </a:r>
            <a:r>
              <a:rPr lang="en-US" altLang="zh-CN" b="1" dirty="0">
                <a:latin typeface="微软雅黑" pitchFamily="34" charset="-122"/>
                <a:ea typeface="微软雅黑" pitchFamily="34" charset="-122"/>
              </a:rPr>
              <a:t>TCP</a:t>
            </a:r>
            <a:r>
              <a:rPr lang="zh-CN" altLang="en-US" b="1" dirty="0">
                <a:latin typeface="微软雅黑" pitchFamily="34" charset="-122"/>
                <a:ea typeface="微软雅黑" pitchFamily="34" charset="-122"/>
              </a:rPr>
              <a:t>报文段中把控制位</a:t>
            </a:r>
            <a:r>
              <a:rPr lang="en-US" altLang="zh-CN" b="1" dirty="0">
                <a:latin typeface="微软雅黑" pitchFamily="34" charset="-122"/>
                <a:ea typeface="微软雅黑" pitchFamily="34" charset="-122"/>
              </a:rPr>
              <a:t>CWR</a:t>
            </a:r>
            <a:r>
              <a:rPr lang="zh-CN" altLang="en-US" b="1" dirty="0">
                <a:latin typeface="微软雅黑" pitchFamily="34" charset="-122"/>
                <a:ea typeface="微软雅黑" pitchFamily="34" charset="-122"/>
              </a:rPr>
              <a:t>置</a:t>
            </a:r>
            <a:r>
              <a:rPr lang="en-US" altLang="zh-CN" b="1" dirty="0">
                <a:latin typeface="微软雅黑" pitchFamily="34" charset="-122"/>
                <a:ea typeface="微软雅黑" pitchFamily="34" charset="-122"/>
              </a:rPr>
              <a:t>1</a:t>
            </a:r>
            <a:r>
              <a:rPr lang="zh-CN" altLang="en-US" b="1" dirty="0">
                <a:latin typeface="微软雅黑" pitchFamily="34" charset="-122"/>
                <a:ea typeface="微软雅黑" pitchFamily="34" charset="-122"/>
              </a:rPr>
              <a:t>，这就是告诉接收方，“我已经作出了响应”。</a:t>
            </a:r>
          </a:p>
        </p:txBody>
      </p:sp>
      <p:sp>
        <p:nvSpPr>
          <p:cNvPr id="6" name="Rectangle 4">
            <a:extLst>
              <a:ext uri="{FF2B5EF4-FFF2-40B4-BE49-F238E27FC236}">
                <a16:creationId xmlns:a16="http://schemas.microsoft.com/office/drawing/2014/main" id="{6CEADE02-6D88-D900-CAE2-F670EC96F8A0}"/>
              </a:ext>
            </a:extLst>
          </p:cNvPr>
          <p:cNvSpPr>
            <a:spLocks noChangeArrowheads="1"/>
          </p:cNvSpPr>
          <p:nvPr/>
        </p:nvSpPr>
        <p:spPr bwMode="auto">
          <a:xfrm>
            <a:off x="1695104" y="3589271"/>
            <a:ext cx="1805463" cy="453390"/>
          </a:xfrm>
          <a:prstGeom prst="rect">
            <a:avLst/>
          </a:prstGeom>
          <a:solidFill>
            <a:schemeClr val="bg1"/>
          </a:solidFill>
          <a:ln w="9525">
            <a:solidFill>
              <a:schemeClr val="tx1"/>
            </a:solidFill>
            <a:miter lim="800000"/>
            <a:headEnd/>
            <a:tailEnd/>
          </a:ln>
          <a:effectLst/>
        </p:spPr>
        <p:txBody>
          <a:bodyPr wrap="none" anchor="ct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endParaRPr lang="zh-CN" altLang="en-US" sz="1800" b="1">
              <a:ea typeface="微软雅黑" panose="020B0503020204020204" pitchFamily="34" charset="-122"/>
            </a:endParaRPr>
          </a:p>
        </p:txBody>
      </p:sp>
      <p:sp>
        <p:nvSpPr>
          <p:cNvPr id="7" name="矩形 6">
            <a:extLst>
              <a:ext uri="{FF2B5EF4-FFF2-40B4-BE49-F238E27FC236}">
                <a16:creationId xmlns:a16="http://schemas.microsoft.com/office/drawing/2014/main" id="{DBA20799-FBFC-B795-F118-B2CF8E856128}"/>
              </a:ext>
            </a:extLst>
          </p:cNvPr>
          <p:cNvSpPr>
            <a:spLocks noChangeArrowheads="1"/>
          </p:cNvSpPr>
          <p:nvPr/>
        </p:nvSpPr>
        <p:spPr bwMode="auto">
          <a:xfrm>
            <a:off x="3049875" y="3589493"/>
            <a:ext cx="445293" cy="453390"/>
          </a:xfrm>
          <a:prstGeom prst="rect">
            <a:avLst/>
          </a:prstGeom>
          <a:solidFill>
            <a:srgbClr val="FFFF00"/>
          </a:solidFill>
          <a:ln w="28575" algn="ctr">
            <a:solidFill>
              <a:srgbClr val="FF0000"/>
            </a:solidFill>
            <a:round/>
            <a:headEnd/>
            <a:tailEnd/>
          </a:ln>
        </p:spPr>
        <p:txBody>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endParaRPr lang="zh-CN" altLang="en-US" sz="1800" b="1">
              <a:ea typeface="微软雅黑" panose="020B0503020204020204" pitchFamily="34" charset="-122"/>
            </a:endParaRPr>
          </a:p>
        </p:txBody>
      </p:sp>
      <p:sp>
        <p:nvSpPr>
          <p:cNvPr id="8" name="Line 20">
            <a:extLst>
              <a:ext uri="{FF2B5EF4-FFF2-40B4-BE49-F238E27FC236}">
                <a16:creationId xmlns:a16="http://schemas.microsoft.com/office/drawing/2014/main" id="{5BF9688E-B0DC-51FE-7DC5-7EFB871867BF}"/>
              </a:ext>
            </a:extLst>
          </p:cNvPr>
          <p:cNvSpPr>
            <a:spLocks noChangeShapeType="1"/>
          </p:cNvSpPr>
          <p:nvPr/>
        </p:nvSpPr>
        <p:spPr bwMode="auto">
          <a:xfrm flipV="1">
            <a:off x="1707248" y="4161405"/>
            <a:ext cx="1781174" cy="17542"/>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9" name="Line 5">
            <a:extLst>
              <a:ext uri="{FF2B5EF4-FFF2-40B4-BE49-F238E27FC236}">
                <a16:creationId xmlns:a16="http://schemas.microsoft.com/office/drawing/2014/main" id="{1F55935A-6E05-BCE7-67D1-10C2DEE87624}"/>
              </a:ext>
            </a:extLst>
          </p:cNvPr>
          <p:cNvSpPr>
            <a:spLocks noChangeShapeType="1"/>
          </p:cNvSpPr>
          <p:nvPr/>
        </p:nvSpPr>
        <p:spPr bwMode="auto">
          <a:xfrm>
            <a:off x="1920449"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0" name="Line 6">
            <a:extLst>
              <a:ext uri="{FF2B5EF4-FFF2-40B4-BE49-F238E27FC236}">
                <a16:creationId xmlns:a16="http://schemas.microsoft.com/office/drawing/2014/main" id="{81B98149-06E3-3F79-341C-9D35E5EF3FA3}"/>
              </a:ext>
            </a:extLst>
          </p:cNvPr>
          <p:cNvSpPr>
            <a:spLocks noChangeShapeType="1"/>
          </p:cNvSpPr>
          <p:nvPr/>
        </p:nvSpPr>
        <p:spPr bwMode="auto">
          <a:xfrm>
            <a:off x="2147143"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1" name="Line 7">
            <a:extLst>
              <a:ext uri="{FF2B5EF4-FFF2-40B4-BE49-F238E27FC236}">
                <a16:creationId xmlns:a16="http://schemas.microsoft.com/office/drawing/2014/main" id="{81134843-5C62-E95F-0C6D-9860F2A1A08F}"/>
              </a:ext>
            </a:extLst>
          </p:cNvPr>
          <p:cNvSpPr>
            <a:spLocks noChangeShapeType="1"/>
          </p:cNvSpPr>
          <p:nvPr/>
        </p:nvSpPr>
        <p:spPr bwMode="auto">
          <a:xfrm>
            <a:off x="2372489"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2" name="Line 8">
            <a:extLst>
              <a:ext uri="{FF2B5EF4-FFF2-40B4-BE49-F238E27FC236}">
                <a16:creationId xmlns:a16="http://schemas.microsoft.com/office/drawing/2014/main" id="{7FBA67C2-3E21-A6B7-0161-65CA9AE304B5}"/>
              </a:ext>
            </a:extLst>
          </p:cNvPr>
          <p:cNvSpPr>
            <a:spLocks noChangeShapeType="1"/>
          </p:cNvSpPr>
          <p:nvPr/>
        </p:nvSpPr>
        <p:spPr bwMode="auto">
          <a:xfrm>
            <a:off x="2597834"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3" name="Line 9">
            <a:extLst>
              <a:ext uri="{FF2B5EF4-FFF2-40B4-BE49-F238E27FC236}">
                <a16:creationId xmlns:a16="http://schemas.microsoft.com/office/drawing/2014/main" id="{A1ED4D29-AC7E-8D64-5E8D-46AF416F7D15}"/>
              </a:ext>
            </a:extLst>
          </p:cNvPr>
          <p:cNvSpPr>
            <a:spLocks noChangeShapeType="1"/>
          </p:cNvSpPr>
          <p:nvPr/>
        </p:nvSpPr>
        <p:spPr bwMode="auto">
          <a:xfrm>
            <a:off x="2823180"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4" name="Line 10">
            <a:extLst>
              <a:ext uri="{FF2B5EF4-FFF2-40B4-BE49-F238E27FC236}">
                <a16:creationId xmlns:a16="http://schemas.microsoft.com/office/drawing/2014/main" id="{3DB0375D-78C3-C12B-F2F0-7ECD9DABA3B9}"/>
              </a:ext>
            </a:extLst>
          </p:cNvPr>
          <p:cNvSpPr>
            <a:spLocks noChangeShapeType="1"/>
          </p:cNvSpPr>
          <p:nvPr/>
        </p:nvSpPr>
        <p:spPr bwMode="auto">
          <a:xfrm>
            <a:off x="3049875"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5" name="Line 11">
            <a:extLst>
              <a:ext uri="{FF2B5EF4-FFF2-40B4-BE49-F238E27FC236}">
                <a16:creationId xmlns:a16="http://schemas.microsoft.com/office/drawing/2014/main" id="{DFF190FE-6E31-C277-5B57-09AABB2C87E7}"/>
              </a:ext>
            </a:extLst>
          </p:cNvPr>
          <p:cNvSpPr>
            <a:spLocks noChangeShapeType="1"/>
          </p:cNvSpPr>
          <p:nvPr/>
        </p:nvSpPr>
        <p:spPr bwMode="auto">
          <a:xfrm>
            <a:off x="3275220"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6" name="Text Box 3">
            <a:extLst>
              <a:ext uri="{FF2B5EF4-FFF2-40B4-BE49-F238E27FC236}">
                <a16:creationId xmlns:a16="http://schemas.microsoft.com/office/drawing/2014/main" id="{094537BC-0212-8678-79A5-A905B5FC39C1}"/>
              </a:ext>
            </a:extLst>
          </p:cNvPr>
          <p:cNvSpPr txBox="1">
            <a:spLocks noChangeArrowheads="1"/>
          </p:cNvSpPr>
          <p:nvPr/>
        </p:nvSpPr>
        <p:spPr bwMode="auto">
          <a:xfrm>
            <a:off x="3027176" y="3602733"/>
            <a:ext cx="288766" cy="478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lnSpc>
                <a:spcPts val="1000"/>
              </a:lnSpc>
              <a:spcBef>
                <a:spcPct val="0"/>
              </a:spcBef>
              <a:buFontTx/>
              <a:buNone/>
            </a:pPr>
            <a:r>
              <a:rPr lang="en-US" altLang="zh-CN" sz="1100" b="1" dirty="0">
                <a:ea typeface="微软雅黑" panose="020B0503020204020204" pitchFamily="34" charset="-122"/>
              </a:rPr>
              <a:t>E</a:t>
            </a:r>
          </a:p>
          <a:p>
            <a:pPr algn="ctr" eaLnBrk="1" hangingPunct="1">
              <a:lnSpc>
                <a:spcPts val="1000"/>
              </a:lnSpc>
              <a:spcBef>
                <a:spcPct val="0"/>
              </a:spcBef>
              <a:buFontTx/>
              <a:buNone/>
            </a:pPr>
            <a:r>
              <a:rPr lang="en-US" altLang="zh-CN" sz="1100" b="1" dirty="0">
                <a:ea typeface="微软雅黑" panose="020B0503020204020204" pitchFamily="34" charset="-122"/>
              </a:rPr>
              <a:t>C</a:t>
            </a:r>
          </a:p>
          <a:p>
            <a:pPr algn="ctr" eaLnBrk="1" hangingPunct="1">
              <a:lnSpc>
                <a:spcPts val="1000"/>
              </a:lnSpc>
              <a:spcBef>
                <a:spcPct val="0"/>
              </a:spcBef>
              <a:buFontTx/>
              <a:buNone/>
            </a:pPr>
            <a:r>
              <a:rPr lang="en-US" altLang="zh-CN" sz="1100" b="1" dirty="0">
                <a:ea typeface="微软雅黑" panose="020B0503020204020204" pitchFamily="34" charset="-122"/>
              </a:rPr>
              <a:t>T</a:t>
            </a:r>
          </a:p>
        </p:txBody>
      </p:sp>
      <p:sp>
        <p:nvSpPr>
          <p:cNvPr id="17" name="Text Box 2">
            <a:extLst>
              <a:ext uri="{FF2B5EF4-FFF2-40B4-BE49-F238E27FC236}">
                <a16:creationId xmlns:a16="http://schemas.microsoft.com/office/drawing/2014/main" id="{0F90795A-AD54-734D-B5B4-ED4C4F15B3A7}"/>
              </a:ext>
            </a:extLst>
          </p:cNvPr>
          <p:cNvSpPr txBox="1">
            <a:spLocks noChangeArrowheads="1"/>
          </p:cNvSpPr>
          <p:nvPr/>
        </p:nvSpPr>
        <p:spPr bwMode="auto">
          <a:xfrm>
            <a:off x="1824643" y="3674282"/>
            <a:ext cx="1038618" cy="27699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      DSCP      </a:t>
            </a:r>
          </a:p>
        </p:txBody>
      </p:sp>
      <p:sp>
        <p:nvSpPr>
          <p:cNvPr id="18" name="Text Box 19">
            <a:extLst>
              <a:ext uri="{FF2B5EF4-FFF2-40B4-BE49-F238E27FC236}">
                <a16:creationId xmlns:a16="http://schemas.microsoft.com/office/drawing/2014/main" id="{FBAD43CA-B4EB-7FEB-CD37-85879B514C97}"/>
              </a:ext>
            </a:extLst>
          </p:cNvPr>
          <p:cNvSpPr txBox="1">
            <a:spLocks noChangeArrowheads="1"/>
          </p:cNvSpPr>
          <p:nvPr/>
        </p:nvSpPr>
        <p:spPr bwMode="auto">
          <a:xfrm>
            <a:off x="1411735" y="3353131"/>
            <a:ext cx="2423475"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位  </a:t>
            </a:r>
            <a:r>
              <a:rPr lang="en-US" altLang="zh-CN" sz="1200" b="1">
                <a:ea typeface="微软雅黑" panose="020B0503020204020204" pitchFamily="34" charset="-122"/>
              </a:rPr>
              <a:t>0                        5    6   7</a:t>
            </a:r>
          </a:p>
        </p:txBody>
      </p:sp>
      <p:sp>
        <p:nvSpPr>
          <p:cNvPr id="19" name="Text Box 3">
            <a:extLst>
              <a:ext uri="{FF2B5EF4-FFF2-40B4-BE49-F238E27FC236}">
                <a16:creationId xmlns:a16="http://schemas.microsoft.com/office/drawing/2014/main" id="{AAE0916C-5C0F-036E-251F-EDE819CCB6C6}"/>
              </a:ext>
            </a:extLst>
          </p:cNvPr>
          <p:cNvSpPr txBox="1">
            <a:spLocks noChangeArrowheads="1"/>
          </p:cNvSpPr>
          <p:nvPr/>
        </p:nvSpPr>
        <p:spPr bwMode="auto">
          <a:xfrm>
            <a:off x="3244185" y="3633800"/>
            <a:ext cx="284719" cy="439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lnSpc>
                <a:spcPts val="1400"/>
              </a:lnSpc>
              <a:spcBef>
                <a:spcPct val="0"/>
              </a:spcBef>
              <a:buFontTx/>
              <a:buNone/>
            </a:pPr>
            <a:r>
              <a:rPr lang="en-US" altLang="zh-CN" sz="1100" b="1" dirty="0">
                <a:ea typeface="微软雅黑" panose="020B0503020204020204" pitchFamily="34" charset="-122"/>
              </a:rPr>
              <a:t>C</a:t>
            </a:r>
          </a:p>
          <a:p>
            <a:pPr algn="ctr" eaLnBrk="1" hangingPunct="1">
              <a:lnSpc>
                <a:spcPts val="1400"/>
              </a:lnSpc>
              <a:spcBef>
                <a:spcPct val="0"/>
              </a:spcBef>
              <a:buFontTx/>
              <a:buNone/>
            </a:pPr>
            <a:r>
              <a:rPr lang="en-US" altLang="zh-CN" sz="1100" b="1" dirty="0">
                <a:ea typeface="微软雅黑" panose="020B0503020204020204" pitchFamily="34" charset="-122"/>
              </a:rPr>
              <a:t>E</a:t>
            </a:r>
            <a:endParaRPr lang="en-US" altLang="zh-CN" sz="1200" b="1" dirty="0">
              <a:ea typeface="微软雅黑" panose="020B0503020204020204" pitchFamily="34" charset="-122"/>
            </a:endParaRPr>
          </a:p>
        </p:txBody>
      </p:sp>
      <p:sp>
        <p:nvSpPr>
          <p:cNvPr id="20" name="Text Box 21">
            <a:extLst>
              <a:ext uri="{FF2B5EF4-FFF2-40B4-BE49-F238E27FC236}">
                <a16:creationId xmlns:a16="http://schemas.microsoft.com/office/drawing/2014/main" id="{02086B9B-F1FB-DC26-5DA3-37A47B1190A4}"/>
              </a:ext>
            </a:extLst>
          </p:cNvPr>
          <p:cNvSpPr txBox="1">
            <a:spLocks noChangeArrowheads="1"/>
          </p:cNvSpPr>
          <p:nvPr/>
        </p:nvSpPr>
        <p:spPr bwMode="auto">
          <a:xfrm>
            <a:off x="3458108" y="3283792"/>
            <a:ext cx="97559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dirty="0">
                <a:ea typeface="微软雅黑" panose="020B0503020204020204" pitchFamily="34" charset="-122"/>
              </a:rPr>
              <a:t>ECN </a:t>
            </a:r>
            <a:r>
              <a:rPr lang="zh-CN" altLang="en-US" sz="1200" b="1" dirty="0">
                <a:ea typeface="微软雅黑" panose="020B0503020204020204" pitchFamily="34" charset="-122"/>
              </a:rPr>
              <a:t>字段</a:t>
            </a:r>
            <a:endParaRPr lang="en-US" altLang="zh-CN" sz="1200" b="1" dirty="0">
              <a:ea typeface="微软雅黑" panose="020B0503020204020204" pitchFamily="34" charset="-122"/>
            </a:endParaRPr>
          </a:p>
        </p:txBody>
      </p:sp>
      <p:grpSp>
        <p:nvGrpSpPr>
          <p:cNvPr id="21" name="组合 20">
            <a:extLst>
              <a:ext uri="{FF2B5EF4-FFF2-40B4-BE49-F238E27FC236}">
                <a16:creationId xmlns:a16="http://schemas.microsoft.com/office/drawing/2014/main" id="{2B1B2C29-A785-9C7A-3396-733E11C237BF}"/>
              </a:ext>
            </a:extLst>
          </p:cNvPr>
          <p:cNvGrpSpPr>
            <a:grpSpLocks/>
          </p:cNvGrpSpPr>
          <p:nvPr/>
        </p:nvGrpSpPr>
        <p:grpSpPr bwMode="auto">
          <a:xfrm>
            <a:off x="1698402" y="4069648"/>
            <a:ext cx="1810860" cy="218599"/>
            <a:chOff x="1301750" y="1709738"/>
            <a:chExt cx="2130425" cy="339725"/>
          </a:xfrm>
        </p:grpSpPr>
        <p:sp>
          <p:nvSpPr>
            <p:cNvPr id="37" name="Line 10">
              <a:extLst>
                <a:ext uri="{FF2B5EF4-FFF2-40B4-BE49-F238E27FC236}">
                  <a16:creationId xmlns:a16="http://schemas.microsoft.com/office/drawing/2014/main" id="{7B77FDAC-20ED-DDF5-89F0-275F1E9178FD}"/>
                </a:ext>
              </a:extLst>
            </p:cNvPr>
            <p:cNvSpPr>
              <a:spLocks noChangeShapeType="1"/>
            </p:cNvSpPr>
            <p:nvPr/>
          </p:nvSpPr>
          <p:spPr bwMode="auto">
            <a:xfrm>
              <a:off x="3432175" y="1709738"/>
              <a:ext cx="0" cy="3222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38" name="Line 10">
              <a:extLst>
                <a:ext uri="{FF2B5EF4-FFF2-40B4-BE49-F238E27FC236}">
                  <a16:creationId xmlns:a16="http://schemas.microsoft.com/office/drawing/2014/main" id="{1909AD7B-8275-E246-9978-605B625289DB}"/>
                </a:ext>
              </a:extLst>
            </p:cNvPr>
            <p:cNvSpPr>
              <a:spLocks noChangeShapeType="1"/>
            </p:cNvSpPr>
            <p:nvPr/>
          </p:nvSpPr>
          <p:spPr bwMode="auto">
            <a:xfrm>
              <a:off x="1301750" y="1727200"/>
              <a:ext cx="0" cy="322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grpSp>
      <p:sp>
        <p:nvSpPr>
          <p:cNvPr id="22" name="Line 20">
            <a:extLst>
              <a:ext uri="{FF2B5EF4-FFF2-40B4-BE49-F238E27FC236}">
                <a16:creationId xmlns:a16="http://schemas.microsoft.com/office/drawing/2014/main" id="{4D794E3A-8FF9-9C92-A322-DDF69750C64B}"/>
              </a:ext>
            </a:extLst>
          </p:cNvPr>
          <p:cNvSpPr>
            <a:spLocks noChangeShapeType="1"/>
          </p:cNvSpPr>
          <p:nvPr/>
        </p:nvSpPr>
        <p:spPr bwMode="auto">
          <a:xfrm flipV="1">
            <a:off x="3499386" y="3513850"/>
            <a:ext cx="340041" cy="269875"/>
          </a:xfrm>
          <a:prstGeom prst="line">
            <a:avLst/>
          </a:prstGeom>
          <a:noFill/>
          <a:ln w="9525">
            <a:solidFill>
              <a:schemeClr val="tx1"/>
            </a:solidFill>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23" name="Text Box 21">
            <a:extLst>
              <a:ext uri="{FF2B5EF4-FFF2-40B4-BE49-F238E27FC236}">
                <a16:creationId xmlns:a16="http://schemas.microsoft.com/office/drawing/2014/main" id="{BBE65A7C-8159-E867-6ACD-A4341D1031D6}"/>
              </a:ext>
            </a:extLst>
          </p:cNvPr>
          <p:cNvSpPr txBox="1">
            <a:spLocks noChangeArrowheads="1"/>
          </p:cNvSpPr>
          <p:nvPr/>
        </p:nvSpPr>
        <p:spPr bwMode="auto">
          <a:xfrm>
            <a:off x="2487185" y="4214031"/>
            <a:ext cx="4992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(a)</a:t>
            </a:r>
          </a:p>
        </p:txBody>
      </p:sp>
      <p:sp>
        <p:nvSpPr>
          <p:cNvPr id="24" name="Text Box 21">
            <a:extLst>
              <a:ext uri="{FF2B5EF4-FFF2-40B4-BE49-F238E27FC236}">
                <a16:creationId xmlns:a16="http://schemas.microsoft.com/office/drawing/2014/main" id="{4B64D585-83DF-825B-367B-9C2DECF980B7}"/>
              </a:ext>
            </a:extLst>
          </p:cNvPr>
          <p:cNvSpPr txBox="1">
            <a:spLocks noChangeArrowheads="1"/>
          </p:cNvSpPr>
          <p:nvPr/>
        </p:nvSpPr>
        <p:spPr bwMode="auto">
          <a:xfrm>
            <a:off x="5921343" y="4215380"/>
            <a:ext cx="4992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(b)</a:t>
            </a:r>
          </a:p>
        </p:txBody>
      </p:sp>
      <p:sp>
        <p:nvSpPr>
          <p:cNvPr id="25" name="矩形 24">
            <a:extLst>
              <a:ext uri="{FF2B5EF4-FFF2-40B4-BE49-F238E27FC236}">
                <a16:creationId xmlns:a16="http://schemas.microsoft.com/office/drawing/2014/main" id="{172D1D9C-E3C6-05A2-13AF-5FB380E3C639}"/>
              </a:ext>
            </a:extLst>
          </p:cNvPr>
          <p:cNvSpPr>
            <a:spLocks noChangeArrowheads="1"/>
          </p:cNvSpPr>
          <p:nvPr/>
        </p:nvSpPr>
        <p:spPr bwMode="auto">
          <a:xfrm>
            <a:off x="2236202" y="4075045"/>
            <a:ext cx="696277" cy="245586"/>
          </a:xfrm>
          <a:prstGeom prst="rect">
            <a:avLst/>
          </a:prstGeom>
          <a:solidFill>
            <a:srgbClr val="C3E3F9"/>
          </a:solidFill>
          <a:ln>
            <a:noFill/>
          </a:ln>
        </p:spPr>
        <p:txBody>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endParaRPr lang="zh-CN" altLang="en-US" sz="1800" b="1">
              <a:ea typeface="微软雅黑" panose="020B0503020204020204" pitchFamily="34" charset="-122"/>
            </a:endParaRPr>
          </a:p>
        </p:txBody>
      </p:sp>
      <p:sp>
        <p:nvSpPr>
          <p:cNvPr id="26" name="Text Box 21">
            <a:extLst>
              <a:ext uri="{FF2B5EF4-FFF2-40B4-BE49-F238E27FC236}">
                <a16:creationId xmlns:a16="http://schemas.microsoft.com/office/drawing/2014/main" id="{8909BD60-3332-985E-0A48-AE58978B8FA6}"/>
              </a:ext>
            </a:extLst>
          </p:cNvPr>
          <p:cNvSpPr txBox="1">
            <a:spLocks noChangeArrowheads="1"/>
          </p:cNvSpPr>
          <p:nvPr/>
        </p:nvSpPr>
        <p:spPr bwMode="auto">
          <a:xfrm>
            <a:off x="2217310" y="4015673"/>
            <a:ext cx="120499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dirty="0">
                <a:ea typeface="微软雅黑" panose="020B0503020204020204" pitchFamily="34" charset="-122"/>
              </a:rPr>
              <a:t>DS </a:t>
            </a:r>
            <a:r>
              <a:rPr lang="zh-CN" altLang="en-US" sz="1200" b="1" dirty="0">
                <a:ea typeface="微软雅黑" panose="020B0503020204020204" pitchFamily="34" charset="-122"/>
              </a:rPr>
              <a:t>字段</a:t>
            </a:r>
            <a:endParaRPr lang="en-US" altLang="zh-CN" sz="1200" b="1" dirty="0">
              <a:ea typeface="微软雅黑" panose="020B0503020204020204" pitchFamily="34" charset="-122"/>
            </a:endParaRPr>
          </a:p>
        </p:txBody>
      </p:sp>
      <p:sp>
        <p:nvSpPr>
          <p:cNvPr id="27" name="Text Box 21">
            <a:extLst>
              <a:ext uri="{FF2B5EF4-FFF2-40B4-BE49-F238E27FC236}">
                <a16:creationId xmlns:a16="http://schemas.microsoft.com/office/drawing/2014/main" id="{4522A5E5-B0DB-4E76-781A-250E28CC9F5A}"/>
              </a:ext>
            </a:extLst>
          </p:cNvPr>
          <p:cNvSpPr txBox="1">
            <a:spLocks noChangeArrowheads="1"/>
          </p:cNvSpPr>
          <p:nvPr/>
        </p:nvSpPr>
        <p:spPr bwMode="auto">
          <a:xfrm>
            <a:off x="3318399" y="3102147"/>
            <a:ext cx="120499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显式拥塞通知</a:t>
            </a:r>
            <a:endParaRPr lang="en-US" altLang="zh-CN" sz="1200" b="1">
              <a:ea typeface="微软雅黑" panose="020B0503020204020204" pitchFamily="34" charset="-122"/>
            </a:endParaRPr>
          </a:p>
        </p:txBody>
      </p:sp>
      <p:sp>
        <p:nvSpPr>
          <p:cNvPr id="28" name="Text Box 21">
            <a:extLst>
              <a:ext uri="{FF2B5EF4-FFF2-40B4-BE49-F238E27FC236}">
                <a16:creationId xmlns:a16="http://schemas.microsoft.com/office/drawing/2014/main" id="{5C3467FF-547A-101D-6F84-395E7B803F1D}"/>
              </a:ext>
            </a:extLst>
          </p:cNvPr>
          <p:cNvSpPr txBox="1">
            <a:spLocks noChangeArrowheads="1"/>
          </p:cNvSpPr>
          <p:nvPr/>
        </p:nvSpPr>
        <p:spPr bwMode="auto">
          <a:xfrm>
            <a:off x="4832398" y="3102147"/>
            <a:ext cx="105790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ECN </a:t>
            </a:r>
            <a:r>
              <a:rPr lang="zh-CN" altLang="en-US" sz="1200" b="1">
                <a:ea typeface="微软雅黑" panose="020B0503020204020204" pitchFamily="34" charset="-122"/>
              </a:rPr>
              <a:t>字段</a:t>
            </a:r>
            <a:endParaRPr lang="en-US" altLang="zh-CN" sz="1200" b="1">
              <a:ea typeface="微软雅黑" panose="020B0503020204020204" pitchFamily="34" charset="-122"/>
            </a:endParaRPr>
          </a:p>
        </p:txBody>
      </p:sp>
      <p:cxnSp>
        <p:nvCxnSpPr>
          <p:cNvPr id="29" name="直接连接符 28">
            <a:extLst>
              <a:ext uri="{FF2B5EF4-FFF2-40B4-BE49-F238E27FC236}">
                <a16:creationId xmlns:a16="http://schemas.microsoft.com/office/drawing/2014/main" id="{4308E81C-C226-AF3C-8391-FB711F529F1E}"/>
              </a:ext>
            </a:extLst>
          </p:cNvPr>
          <p:cNvCxnSpPr>
            <a:cxnSpLocks noChangeShapeType="1"/>
          </p:cNvCxnSpPr>
          <p:nvPr/>
        </p:nvCxnSpPr>
        <p:spPr bwMode="auto">
          <a:xfrm>
            <a:off x="4848591" y="3384166"/>
            <a:ext cx="2551667" cy="5397"/>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a:extLst>
              <a:ext uri="{FF2B5EF4-FFF2-40B4-BE49-F238E27FC236}">
                <a16:creationId xmlns:a16="http://schemas.microsoft.com/office/drawing/2014/main" id="{02121D59-AA75-7DF5-BB85-849B6BCF3AD9}"/>
              </a:ext>
            </a:extLst>
          </p:cNvPr>
          <p:cNvCxnSpPr>
            <a:cxnSpLocks noChangeShapeType="1"/>
          </p:cNvCxnSpPr>
          <p:nvPr/>
        </p:nvCxnSpPr>
        <p:spPr bwMode="auto">
          <a:xfrm>
            <a:off x="4848591" y="4258560"/>
            <a:ext cx="2551667"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Text Box 21">
            <a:extLst>
              <a:ext uri="{FF2B5EF4-FFF2-40B4-BE49-F238E27FC236}">
                <a16:creationId xmlns:a16="http://schemas.microsoft.com/office/drawing/2014/main" id="{8AF4D40C-3062-6E49-4CA0-5923A5047B91}"/>
              </a:ext>
            </a:extLst>
          </p:cNvPr>
          <p:cNvSpPr txBox="1">
            <a:spLocks noChangeArrowheads="1"/>
          </p:cNvSpPr>
          <p:nvPr/>
        </p:nvSpPr>
        <p:spPr bwMode="auto">
          <a:xfrm>
            <a:off x="5525589" y="3377345"/>
            <a:ext cx="975597" cy="897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lnSpc>
                <a:spcPts val="1600"/>
              </a:lnSpc>
              <a:spcBef>
                <a:spcPct val="0"/>
              </a:spcBef>
              <a:buFontTx/>
              <a:buNone/>
            </a:pPr>
            <a:r>
              <a:rPr lang="en-US" altLang="zh-CN" sz="1200" b="1" dirty="0">
                <a:ea typeface="微软雅黑" panose="020B0503020204020204" pitchFamily="34" charset="-122"/>
              </a:rPr>
              <a:t>Non-ECT   </a:t>
            </a:r>
          </a:p>
          <a:p>
            <a:pPr algn="ctr" eaLnBrk="1" hangingPunct="1">
              <a:lnSpc>
                <a:spcPts val="1600"/>
              </a:lnSpc>
              <a:spcBef>
                <a:spcPct val="0"/>
              </a:spcBef>
              <a:buFontTx/>
              <a:buNone/>
            </a:pPr>
            <a:r>
              <a:rPr lang="en-US" altLang="zh-CN" sz="1200" b="1" dirty="0">
                <a:ea typeface="微软雅黑" panose="020B0503020204020204" pitchFamily="34" charset="-122"/>
              </a:rPr>
              <a:t>ECT(1)</a:t>
            </a:r>
          </a:p>
          <a:p>
            <a:pPr algn="ctr" eaLnBrk="1" hangingPunct="1">
              <a:lnSpc>
                <a:spcPts val="1600"/>
              </a:lnSpc>
              <a:spcBef>
                <a:spcPct val="0"/>
              </a:spcBef>
              <a:buFontTx/>
              <a:buNone/>
            </a:pPr>
            <a:r>
              <a:rPr lang="en-US" altLang="zh-CN" sz="1200" b="1" dirty="0">
                <a:ea typeface="微软雅黑" panose="020B0503020204020204" pitchFamily="34" charset="-122"/>
              </a:rPr>
              <a:t>ECT(0)</a:t>
            </a:r>
          </a:p>
          <a:p>
            <a:pPr algn="ctr" eaLnBrk="1" hangingPunct="1">
              <a:lnSpc>
                <a:spcPts val="1600"/>
              </a:lnSpc>
              <a:spcBef>
                <a:spcPct val="0"/>
              </a:spcBef>
              <a:buFontTx/>
              <a:buNone/>
            </a:pPr>
            <a:r>
              <a:rPr lang="en-US" altLang="zh-CN" sz="1200" b="1" dirty="0">
                <a:ea typeface="微软雅黑" panose="020B0503020204020204" pitchFamily="34" charset="-122"/>
              </a:rPr>
              <a:t>CE</a:t>
            </a:r>
          </a:p>
        </p:txBody>
      </p:sp>
      <p:sp>
        <p:nvSpPr>
          <p:cNvPr id="32" name="Text Box 21">
            <a:extLst>
              <a:ext uri="{FF2B5EF4-FFF2-40B4-BE49-F238E27FC236}">
                <a16:creationId xmlns:a16="http://schemas.microsoft.com/office/drawing/2014/main" id="{50AC011A-9C63-682A-083B-C27FFF05F30D}"/>
              </a:ext>
            </a:extLst>
          </p:cNvPr>
          <p:cNvSpPr txBox="1">
            <a:spLocks noChangeArrowheads="1"/>
          </p:cNvSpPr>
          <p:nvPr/>
        </p:nvSpPr>
        <p:spPr bwMode="auto">
          <a:xfrm>
            <a:off x="6625717" y="3102147"/>
            <a:ext cx="61396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意义</a:t>
            </a:r>
            <a:endParaRPr lang="en-US" altLang="zh-CN" sz="1200" b="1">
              <a:ea typeface="微软雅黑" panose="020B0503020204020204" pitchFamily="34" charset="-122"/>
            </a:endParaRPr>
          </a:p>
        </p:txBody>
      </p:sp>
      <p:sp>
        <p:nvSpPr>
          <p:cNvPr id="33" name="Text Box 21">
            <a:extLst>
              <a:ext uri="{FF2B5EF4-FFF2-40B4-BE49-F238E27FC236}">
                <a16:creationId xmlns:a16="http://schemas.microsoft.com/office/drawing/2014/main" id="{FD03507F-A41D-5E5D-10CD-0DEC5793B379}"/>
              </a:ext>
            </a:extLst>
          </p:cNvPr>
          <p:cNvSpPr txBox="1">
            <a:spLocks noChangeArrowheads="1"/>
          </p:cNvSpPr>
          <p:nvPr/>
        </p:nvSpPr>
        <p:spPr bwMode="auto">
          <a:xfrm>
            <a:off x="5768864" y="3102147"/>
            <a:ext cx="61396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名称</a:t>
            </a:r>
            <a:endParaRPr lang="en-US" altLang="zh-CN" sz="1200" b="1">
              <a:ea typeface="微软雅黑" panose="020B0503020204020204" pitchFamily="34" charset="-122"/>
            </a:endParaRPr>
          </a:p>
        </p:txBody>
      </p:sp>
      <p:cxnSp>
        <p:nvCxnSpPr>
          <p:cNvPr id="34" name="直接连接符 33">
            <a:extLst>
              <a:ext uri="{FF2B5EF4-FFF2-40B4-BE49-F238E27FC236}">
                <a16:creationId xmlns:a16="http://schemas.microsoft.com/office/drawing/2014/main" id="{4CDD0F4F-F579-792E-2D1D-5800011F2508}"/>
              </a:ext>
            </a:extLst>
          </p:cNvPr>
          <p:cNvCxnSpPr>
            <a:cxnSpLocks noChangeShapeType="1"/>
          </p:cNvCxnSpPr>
          <p:nvPr/>
        </p:nvCxnSpPr>
        <p:spPr bwMode="auto">
          <a:xfrm flipV="1">
            <a:off x="5644721" y="3384166"/>
            <a:ext cx="0" cy="851456"/>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34">
            <a:extLst>
              <a:ext uri="{FF2B5EF4-FFF2-40B4-BE49-F238E27FC236}">
                <a16:creationId xmlns:a16="http://schemas.microsoft.com/office/drawing/2014/main" id="{C501A4A4-9F08-978D-0A56-C002D772A0CC}"/>
              </a:ext>
            </a:extLst>
          </p:cNvPr>
          <p:cNvCxnSpPr>
            <a:cxnSpLocks noChangeShapeType="1"/>
          </p:cNvCxnSpPr>
          <p:nvPr/>
        </p:nvCxnSpPr>
        <p:spPr bwMode="auto">
          <a:xfrm flipV="1">
            <a:off x="6389576" y="3397660"/>
            <a:ext cx="0" cy="852805"/>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Text Box 19">
            <a:extLst>
              <a:ext uri="{FF2B5EF4-FFF2-40B4-BE49-F238E27FC236}">
                <a16:creationId xmlns:a16="http://schemas.microsoft.com/office/drawing/2014/main" id="{0014B20A-4BD5-80DE-EEFD-654EC6144E60}"/>
              </a:ext>
            </a:extLst>
          </p:cNvPr>
          <p:cNvSpPr txBox="1">
            <a:spLocks noChangeArrowheads="1"/>
          </p:cNvSpPr>
          <p:nvPr/>
        </p:nvSpPr>
        <p:spPr bwMode="auto">
          <a:xfrm>
            <a:off x="4922851" y="3403933"/>
            <a:ext cx="2731133" cy="86946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spcAft>
                <a:spcPts val="300"/>
              </a:spcAft>
              <a:buFontTx/>
              <a:buNone/>
            </a:pPr>
            <a:r>
              <a:rPr lang="en-US" altLang="zh-CN" sz="1200" b="1" dirty="0">
                <a:ea typeface="微软雅黑" panose="020B0503020204020204" pitchFamily="34" charset="-122"/>
              </a:rPr>
              <a:t>   0   0                           </a:t>
            </a:r>
            <a:r>
              <a:rPr lang="zh-CN" altLang="en-US" sz="1200" b="1" dirty="0">
                <a:ea typeface="微软雅黑" panose="020B0503020204020204" pitchFamily="34" charset="-122"/>
              </a:rPr>
              <a:t>不支持 </a:t>
            </a:r>
            <a:r>
              <a:rPr lang="en-US" altLang="zh-CN" sz="1200" b="1" dirty="0">
                <a:ea typeface="微软雅黑" panose="020B0503020204020204" pitchFamily="34" charset="-122"/>
              </a:rPr>
              <a:t>ECN</a:t>
            </a:r>
          </a:p>
          <a:p>
            <a:pPr eaLnBrk="1" hangingPunct="1">
              <a:spcBef>
                <a:spcPct val="0"/>
              </a:spcBef>
              <a:buFontTx/>
              <a:buNone/>
            </a:pPr>
            <a:r>
              <a:rPr lang="en-US" altLang="zh-CN" sz="1200" b="1" dirty="0">
                <a:ea typeface="微软雅黑" panose="020B0503020204020204" pitchFamily="34" charset="-122"/>
              </a:rPr>
              <a:t>   0   1                             </a:t>
            </a:r>
            <a:r>
              <a:rPr lang="zh-CN" altLang="en-US" sz="1200" b="1" dirty="0">
                <a:ea typeface="微软雅黑" panose="020B0503020204020204" pitchFamily="34" charset="-122"/>
              </a:rPr>
              <a:t>支持 </a:t>
            </a:r>
            <a:r>
              <a:rPr lang="en-US" altLang="zh-CN" sz="1200" b="1" dirty="0">
                <a:ea typeface="微软雅黑" panose="020B0503020204020204" pitchFamily="34" charset="-122"/>
              </a:rPr>
              <a:t>ECN</a:t>
            </a:r>
          </a:p>
          <a:p>
            <a:pPr eaLnBrk="1" hangingPunct="1">
              <a:spcBef>
                <a:spcPct val="0"/>
              </a:spcBef>
              <a:buFontTx/>
              <a:buNone/>
            </a:pPr>
            <a:r>
              <a:rPr lang="en-US" altLang="zh-CN" sz="1200" b="1" dirty="0">
                <a:ea typeface="微软雅黑" panose="020B0503020204020204" pitchFamily="34" charset="-122"/>
              </a:rPr>
              <a:t>   1   0                             </a:t>
            </a:r>
            <a:r>
              <a:rPr lang="zh-CN" altLang="en-US" sz="1200" b="1" dirty="0">
                <a:ea typeface="微软雅黑" panose="020B0503020204020204" pitchFamily="34" charset="-122"/>
              </a:rPr>
              <a:t>支持 </a:t>
            </a:r>
            <a:r>
              <a:rPr lang="en-US" altLang="zh-CN" sz="1200" b="1" dirty="0">
                <a:ea typeface="微软雅黑" panose="020B0503020204020204" pitchFamily="34" charset="-122"/>
              </a:rPr>
              <a:t>ECN</a:t>
            </a:r>
          </a:p>
          <a:p>
            <a:pPr eaLnBrk="1" hangingPunct="1">
              <a:spcBef>
                <a:spcPct val="0"/>
              </a:spcBef>
              <a:buFontTx/>
              <a:buNone/>
            </a:pPr>
            <a:r>
              <a:rPr lang="en-US" altLang="zh-CN" sz="1200" b="1" dirty="0">
                <a:ea typeface="微软雅黑" panose="020B0503020204020204" pitchFamily="34" charset="-122"/>
              </a:rPr>
              <a:t>   1   1                            </a:t>
            </a:r>
            <a:r>
              <a:rPr lang="zh-CN" altLang="en-US" sz="1200" b="1" dirty="0">
                <a:ea typeface="微软雅黑" panose="020B0503020204020204" pitchFamily="34" charset="-122"/>
              </a:rPr>
              <a:t>已经历拥塞</a:t>
            </a:r>
            <a:endParaRPr lang="en-US" altLang="zh-CN" sz="1200" b="1" dirty="0">
              <a:ea typeface="微软雅黑" panose="020B0503020204020204" pitchFamily="34" charset="-122"/>
            </a:endParaRPr>
          </a:p>
        </p:txBody>
      </p:sp>
    </p:spTree>
    <p:extLst>
      <p:ext uri="{BB962C8B-B14F-4D97-AF65-F5344CB8AC3E}">
        <p14:creationId xmlns:p14="http://schemas.microsoft.com/office/powerpoint/2010/main" val="3425533208"/>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88D7A-0915-9CA0-9072-CB149F0804C7}"/>
            </a:ext>
          </a:extLst>
        </p:cNvPr>
        <p:cNvGrpSpPr/>
        <p:nvPr/>
      </p:nvGrpSpPr>
      <p:grpSpPr>
        <a:xfrm>
          <a:off x="0" y="0"/>
          <a:ext cx="0" cy="0"/>
          <a:chOff x="0" y="0"/>
          <a:chExt cx="0" cy="0"/>
        </a:xfrm>
      </p:grpSpPr>
      <p:sp>
        <p:nvSpPr>
          <p:cNvPr id="39" name="圆角矩形 37">
            <a:extLst>
              <a:ext uri="{FF2B5EF4-FFF2-40B4-BE49-F238E27FC236}">
                <a16:creationId xmlns:a16="http://schemas.microsoft.com/office/drawing/2014/main" id="{E406E4BE-8F63-7D7F-63E2-5560C7625A54}"/>
              </a:ext>
            </a:extLst>
          </p:cNvPr>
          <p:cNvSpPr/>
          <p:nvPr/>
        </p:nvSpPr>
        <p:spPr>
          <a:xfrm>
            <a:off x="1091322" y="2915266"/>
            <a:ext cx="6961355" cy="162908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AutoShape 5">
            <a:extLst>
              <a:ext uri="{FF2B5EF4-FFF2-40B4-BE49-F238E27FC236}">
                <a16:creationId xmlns:a16="http://schemas.microsoft.com/office/drawing/2014/main" id="{40EDC369-78D5-0A1C-8707-37F3A7CAFF47}"/>
              </a:ext>
            </a:extLst>
          </p:cNvPr>
          <p:cNvSpPr>
            <a:spLocks noChangeArrowheads="1"/>
          </p:cNvSpPr>
          <p:nvPr/>
        </p:nvSpPr>
        <p:spPr bwMode="auto">
          <a:xfrm>
            <a:off x="545143" y="625919"/>
            <a:ext cx="8053711" cy="357839"/>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a:extLst>
              <a:ext uri="{FF2B5EF4-FFF2-40B4-BE49-F238E27FC236}">
                <a16:creationId xmlns:a16="http://schemas.microsoft.com/office/drawing/2014/main" id="{1ADF03D5-CE8B-68EF-A18C-D622C1D322BD}"/>
              </a:ext>
            </a:extLst>
          </p:cNvPr>
          <p:cNvSpPr>
            <a:spLocks noChangeArrowheads="1"/>
          </p:cNvSpPr>
          <p:nvPr/>
        </p:nvSpPr>
        <p:spPr bwMode="auto">
          <a:xfrm>
            <a:off x="3248567" y="599146"/>
            <a:ext cx="264687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显式拥塞通知</a:t>
            </a:r>
            <a:r>
              <a:rPr lang="en-US" altLang="zh-CN" sz="2000" b="1" dirty="0">
                <a:solidFill>
                  <a:schemeClr val="bg1"/>
                </a:solidFill>
                <a:latin typeface="微软雅黑" pitchFamily="34" charset="-122"/>
                <a:ea typeface="微软雅黑" pitchFamily="34" charset="-122"/>
              </a:rPr>
              <a:t>ECN </a:t>
            </a:r>
            <a:endParaRPr lang="zh-CN" altLang="en-US" sz="2000" b="1" dirty="0">
              <a:solidFill>
                <a:schemeClr val="bg1"/>
              </a:solidFill>
              <a:latin typeface="微软雅黑" pitchFamily="34" charset="-122"/>
              <a:ea typeface="微软雅黑" pitchFamily="34" charset="-122"/>
            </a:endParaRPr>
          </a:p>
        </p:txBody>
      </p:sp>
      <p:sp>
        <p:nvSpPr>
          <p:cNvPr id="4" name="Rectangle 8">
            <a:extLst>
              <a:ext uri="{FF2B5EF4-FFF2-40B4-BE49-F238E27FC236}">
                <a16:creationId xmlns:a16="http://schemas.microsoft.com/office/drawing/2014/main" id="{38FBB832-CFB1-CFD8-7E9F-0255242E5341}"/>
              </a:ext>
            </a:extLst>
          </p:cNvPr>
          <p:cNvSpPr>
            <a:spLocks noChangeArrowheads="1"/>
          </p:cNvSpPr>
          <p:nvPr/>
        </p:nvSpPr>
        <p:spPr bwMode="auto">
          <a:xfrm>
            <a:off x="545143" y="1029517"/>
            <a:ext cx="8053711" cy="1852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en-US" altLang="zh-CN" b="1" dirty="0">
                <a:latin typeface="微软雅黑" pitchFamily="34" charset="-122"/>
                <a:ea typeface="微软雅黑" pitchFamily="34" charset="-122"/>
              </a:rPr>
              <a:t>B</a:t>
            </a:r>
            <a:r>
              <a:rPr lang="zh-CN" altLang="en-US" b="1" dirty="0">
                <a:latin typeface="微软雅黑" pitchFamily="34" charset="-122"/>
                <a:ea typeface="微软雅黑" pitchFamily="34" charset="-122"/>
              </a:rPr>
              <a:t>收到</a:t>
            </a:r>
            <a:r>
              <a:rPr lang="en-US" altLang="zh-CN" b="1" dirty="0">
                <a:solidFill>
                  <a:srgbClr val="0000FF"/>
                </a:solidFill>
                <a:latin typeface="微软雅黑" pitchFamily="34" charset="-122"/>
                <a:ea typeface="微软雅黑" pitchFamily="34" charset="-122"/>
              </a:rPr>
              <a:t>CWR</a:t>
            </a:r>
            <a:r>
              <a:rPr lang="zh-CN" altLang="en-US" b="1" dirty="0">
                <a:solidFill>
                  <a:srgbClr val="0000FF"/>
                </a:solidFill>
                <a:latin typeface="微软雅黑" pitchFamily="34" charset="-122"/>
                <a:ea typeface="微软雅黑" pitchFamily="34" charset="-122"/>
              </a:rPr>
              <a:t>置</a:t>
            </a:r>
            <a:r>
              <a:rPr lang="en-US" altLang="zh-CN" b="1" dirty="0">
                <a:solidFill>
                  <a:srgbClr val="0000FF"/>
                </a:solidFill>
                <a:latin typeface="微软雅黑" pitchFamily="34" charset="-122"/>
                <a:ea typeface="微软雅黑" pitchFamily="34" charset="-122"/>
              </a:rPr>
              <a:t>1</a:t>
            </a:r>
            <a:r>
              <a:rPr lang="zh-CN" altLang="en-US" b="1" dirty="0">
                <a:latin typeface="微软雅黑" pitchFamily="34" charset="-122"/>
                <a:ea typeface="微软雅黑" pitchFamily="34" charset="-122"/>
              </a:rPr>
              <a:t>的报文段后，就把</a:t>
            </a:r>
            <a:r>
              <a:rPr lang="en-US" altLang="zh-CN" b="1" dirty="0">
                <a:solidFill>
                  <a:srgbClr val="0000FF"/>
                </a:solidFill>
                <a:latin typeface="微软雅黑" pitchFamily="34" charset="-122"/>
                <a:ea typeface="微软雅黑" pitchFamily="34" charset="-122"/>
              </a:rPr>
              <a:t>ECE</a:t>
            </a:r>
            <a:r>
              <a:rPr lang="zh-CN" altLang="en-US" b="1" dirty="0">
                <a:solidFill>
                  <a:srgbClr val="0000FF"/>
                </a:solidFill>
                <a:latin typeface="微软雅黑" pitchFamily="34" charset="-122"/>
                <a:ea typeface="微软雅黑" pitchFamily="34" charset="-122"/>
              </a:rPr>
              <a:t>恢复到</a:t>
            </a:r>
            <a:r>
              <a:rPr lang="en-US" altLang="zh-CN" b="1" dirty="0">
                <a:solidFill>
                  <a:srgbClr val="0000FF"/>
                </a:solidFill>
                <a:latin typeface="微软雅黑" pitchFamily="34" charset="-122"/>
                <a:ea typeface="微软雅黑" pitchFamily="34" charset="-122"/>
              </a:rPr>
              <a:t>0</a:t>
            </a:r>
            <a:r>
              <a:rPr lang="zh-CN" altLang="en-US" b="1" dirty="0">
                <a:latin typeface="微软雅黑" pitchFamily="34" charset="-122"/>
                <a:ea typeface="微软雅黑" pitchFamily="34" charset="-122"/>
              </a:rPr>
              <a:t>，以后双方的通信中，这两个控制位都设置为</a:t>
            </a:r>
            <a:r>
              <a:rPr lang="en-US" altLang="zh-CN" b="1" dirty="0">
                <a:latin typeface="微软雅黑" pitchFamily="34" charset="-122"/>
                <a:ea typeface="微软雅黑" pitchFamily="34" charset="-122"/>
              </a:rPr>
              <a:t>0</a:t>
            </a:r>
            <a:r>
              <a:rPr lang="zh-CN" altLang="en-US" b="1" dirty="0">
                <a:latin typeface="微软雅黑" pitchFamily="34" charset="-122"/>
                <a:ea typeface="微软雅黑" pitchFamily="34" charset="-122"/>
              </a:rPr>
              <a:t>。但</a:t>
            </a:r>
            <a:r>
              <a:rPr lang="en-US" altLang="zh-CN" b="1" dirty="0">
                <a:latin typeface="微软雅黑" pitchFamily="34" charset="-122"/>
                <a:ea typeface="微软雅黑" pitchFamily="34" charset="-122"/>
              </a:rPr>
              <a:t>B</a:t>
            </a:r>
            <a:r>
              <a:rPr lang="zh-CN" altLang="en-US" b="1" dirty="0">
                <a:latin typeface="微软雅黑" pitchFamily="34" charset="-122"/>
                <a:ea typeface="微软雅黑" pitchFamily="34" charset="-122"/>
              </a:rPr>
              <a:t>在收到</a:t>
            </a:r>
            <a:r>
              <a:rPr lang="en-US" altLang="zh-CN" b="1" dirty="0">
                <a:latin typeface="微软雅黑" pitchFamily="34" charset="-122"/>
                <a:ea typeface="微软雅黑" pitchFamily="34" charset="-122"/>
              </a:rPr>
              <a:t>A</a:t>
            </a:r>
            <a:r>
              <a:rPr lang="zh-CN" altLang="en-US" b="1" dirty="0">
                <a:latin typeface="微软雅黑" pitchFamily="34" charset="-122"/>
                <a:ea typeface="微软雅黑" pitchFamily="34" charset="-122"/>
              </a:rPr>
              <a:t>发送的</a:t>
            </a:r>
            <a:r>
              <a:rPr lang="en-US" altLang="zh-CN" b="1" dirty="0">
                <a:latin typeface="微软雅黑" pitchFamily="34" charset="-122"/>
                <a:ea typeface="微软雅黑" pitchFamily="34" charset="-122"/>
              </a:rPr>
              <a:t>CWR</a:t>
            </a:r>
            <a:r>
              <a:rPr lang="zh-CN" altLang="en-US" b="1" dirty="0">
                <a:latin typeface="微软雅黑" pitchFamily="34" charset="-122"/>
                <a:ea typeface="微软雅黑" pitchFamily="34" charset="-122"/>
              </a:rPr>
              <a:t>置</a:t>
            </a:r>
            <a:r>
              <a:rPr lang="en-US" altLang="zh-CN" b="1" dirty="0">
                <a:latin typeface="微软雅黑" pitchFamily="34" charset="-122"/>
                <a:ea typeface="微软雅黑" pitchFamily="34" charset="-122"/>
              </a:rPr>
              <a:t>1</a:t>
            </a:r>
            <a:r>
              <a:rPr lang="zh-CN" altLang="en-US" b="1" dirty="0">
                <a:latin typeface="微软雅黑" pitchFamily="34" charset="-122"/>
                <a:ea typeface="微软雅黑" pitchFamily="34" charset="-122"/>
              </a:rPr>
              <a:t>的报文段之前所发送的所有确认报文段，都必须把控制位</a:t>
            </a:r>
            <a:r>
              <a:rPr lang="en-US" altLang="zh-CN" b="1" dirty="0">
                <a:solidFill>
                  <a:srgbClr val="0000FF"/>
                </a:solidFill>
                <a:latin typeface="微软雅黑" pitchFamily="34" charset="-122"/>
                <a:ea typeface="微软雅黑" pitchFamily="34" charset="-122"/>
              </a:rPr>
              <a:t>ECE</a:t>
            </a:r>
            <a:r>
              <a:rPr lang="zh-CN" altLang="en-US" b="1" dirty="0">
                <a:solidFill>
                  <a:srgbClr val="0000FF"/>
                </a:solidFill>
                <a:latin typeface="微软雅黑" pitchFamily="34" charset="-122"/>
                <a:ea typeface="微软雅黑" pitchFamily="34" charset="-122"/>
              </a:rPr>
              <a:t>置为</a:t>
            </a:r>
            <a:r>
              <a:rPr lang="en-US" altLang="zh-CN" b="1" dirty="0">
                <a:solidFill>
                  <a:srgbClr val="0000FF"/>
                </a:solidFill>
                <a:latin typeface="微软雅黑" pitchFamily="34" charset="-122"/>
                <a:ea typeface="微软雅黑" pitchFamily="34" charset="-122"/>
              </a:rPr>
              <a:t>1</a:t>
            </a:r>
            <a:r>
              <a:rPr lang="zh-CN" altLang="en-US" b="1" dirty="0">
                <a:latin typeface="微软雅黑" pitchFamily="34" charset="-122"/>
                <a:ea typeface="微软雅黑" pitchFamily="34" charset="-122"/>
              </a:rPr>
              <a:t>。</a:t>
            </a:r>
            <a:endParaRPr lang="en-US" altLang="zh-CN" b="1" dirty="0">
              <a:latin typeface="微软雅黑" pitchFamily="34" charset="-122"/>
              <a:ea typeface="微软雅黑" pitchFamily="34" charset="-122"/>
            </a:endParaRPr>
          </a:p>
          <a:p>
            <a:pPr marL="285750" indent="-28575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总之，接收端</a:t>
            </a:r>
            <a:r>
              <a:rPr lang="en-US" altLang="zh-CN" b="1" dirty="0">
                <a:latin typeface="微软雅黑" pitchFamily="34" charset="-122"/>
                <a:ea typeface="微软雅黑" pitchFamily="34" charset="-122"/>
              </a:rPr>
              <a:t>TCP</a:t>
            </a:r>
            <a:r>
              <a:rPr lang="zh-CN" altLang="en-US" b="1" dirty="0">
                <a:latin typeface="微软雅黑" pitchFamily="34" charset="-122"/>
                <a:ea typeface="微软雅黑" pitchFamily="34" charset="-122"/>
              </a:rPr>
              <a:t>发送</a:t>
            </a:r>
            <a:r>
              <a:rPr lang="en-US" altLang="zh-CN" b="1" dirty="0">
                <a:latin typeface="微软雅黑" pitchFamily="34" charset="-122"/>
                <a:ea typeface="微软雅黑" pitchFamily="34" charset="-122"/>
              </a:rPr>
              <a:t>ECE</a:t>
            </a:r>
            <a:r>
              <a:rPr lang="zh-CN" altLang="en-US" b="1" dirty="0">
                <a:latin typeface="微软雅黑" pitchFamily="34" charset="-122"/>
                <a:ea typeface="微软雅黑" pitchFamily="34" charset="-122"/>
              </a:rPr>
              <a:t>置</a:t>
            </a:r>
            <a:r>
              <a:rPr lang="en-US" altLang="zh-CN" b="1" dirty="0">
                <a:latin typeface="微软雅黑" pitchFamily="34" charset="-122"/>
                <a:ea typeface="微软雅黑" pitchFamily="34" charset="-122"/>
              </a:rPr>
              <a:t>1</a:t>
            </a:r>
            <a:r>
              <a:rPr lang="zh-CN" altLang="en-US" b="1" dirty="0">
                <a:latin typeface="微软雅黑" pitchFamily="34" charset="-122"/>
                <a:ea typeface="微软雅黑" pitchFamily="34" charset="-122"/>
              </a:rPr>
              <a:t>的报文段是告诉发送端，网络出现了拥塞。发送端</a:t>
            </a:r>
            <a:r>
              <a:rPr lang="en-US" altLang="zh-CN" b="1" dirty="0">
                <a:latin typeface="微软雅黑" pitchFamily="34" charset="-122"/>
                <a:ea typeface="微软雅黑" pitchFamily="34" charset="-122"/>
              </a:rPr>
              <a:t>TCP</a:t>
            </a:r>
            <a:r>
              <a:rPr lang="zh-CN" altLang="en-US" b="1" dirty="0">
                <a:latin typeface="微软雅黑" pitchFamily="34" charset="-122"/>
                <a:ea typeface="微软雅黑" pitchFamily="34" charset="-122"/>
              </a:rPr>
              <a:t>发送</a:t>
            </a:r>
            <a:r>
              <a:rPr lang="en-US" altLang="zh-CN" b="1" dirty="0">
                <a:latin typeface="微软雅黑" pitchFamily="34" charset="-122"/>
                <a:ea typeface="微软雅黑" pitchFamily="34" charset="-122"/>
              </a:rPr>
              <a:t>CWR</a:t>
            </a:r>
            <a:r>
              <a:rPr lang="zh-CN" altLang="en-US" b="1" dirty="0">
                <a:latin typeface="微软雅黑" pitchFamily="34" charset="-122"/>
                <a:ea typeface="微软雅黑" pitchFamily="34" charset="-122"/>
              </a:rPr>
              <a:t>置</a:t>
            </a:r>
            <a:r>
              <a:rPr lang="en-US" altLang="zh-CN" b="1" dirty="0">
                <a:latin typeface="微软雅黑" pitchFamily="34" charset="-122"/>
                <a:ea typeface="微软雅黑" pitchFamily="34" charset="-122"/>
              </a:rPr>
              <a:t>1</a:t>
            </a:r>
            <a:r>
              <a:rPr lang="zh-CN" altLang="en-US" b="1" dirty="0">
                <a:latin typeface="微软雅黑" pitchFamily="34" charset="-122"/>
                <a:ea typeface="微软雅黑" pitchFamily="34" charset="-122"/>
              </a:rPr>
              <a:t>的报文段是告诉接收端，已经采取了拥塞控制措施。</a:t>
            </a:r>
          </a:p>
        </p:txBody>
      </p:sp>
      <p:sp>
        <p:nvSpPr>
          <p:cNvPr id="6" name="Rectangle 4">
            <a:extLst>
              <a:ext uri="{FF2B5EF4-FFF2-40B4-BE49-F238E27FC236}">
                <a16:creationId xmlns:a16="http://schemas.microsoft.com/office/drawing/2014/main" id="{15351FEF-1051-3F32-08CD-5A9099874E1E}"/>
              </a:ext>
            </a:extLst>
          </p:cNvPr>
          <p:cNvSpPr>
            <a:spLocks noChangeArrowheads="1"/>
          </p:cNvSpPr>
          <p:nvPr/>
        </p:nvSpPr>
        <p:spPr bwMode="auto">
          <a:xfrm>
            <a:off x="1695104" y="3589271"/>
            <a:ext cx="1805463" cy="453390"/>
          </a:xfrm>
          <a:prstGeom prst="rect">
            <a:avLst/>
          </a:prstGeom>
          <a:solidFill>
            <a:schemeClr val="bg1"/>
          </a:solidFill>
          <a:ln w="9525">
            <a:solidFill>
              <a:schemeClr val="tx1"/>
            </a:solidFill>
            <a:miter lim="800000"/>
            <a:headEnd/>
            <a:tailEnd/>
          </a:ln>
          <a:effectLst/>
        </p:spPr>
        <p:txBody>
          <a:bodyPr wrap="none" anchor="ct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endParaRPr lang="zh-CN" altLang="en-US" sz="1800" b="1">
              <a:ea typeface="微软雅黑" panose="020B0503020204020204" pitchFamily="34" charset="-122"/>
            </a:endParaRPr>
          </a:p>
        </p:txBody>
      </p:sp>
      <p:sp>
        <p:nvSpPr>
          <p:cNvPr id="7" name="矩形 6">
            <a:extLst>
              <a:ext uri="{FF2B5EF4-FFF2-40B4-BE49-F238E27FC236}">
                <a16:creationId xmlns:a16="http://schemas.microsoft.com/office/drawing/2014/main" id="{A174C959-2D62-D541-59FE-A74B62F615B8}"/>
              </a:ext>
            </a:extLst>
          </p:cNvPr>
          <p:cNvSpPr>
            <a:spLocks noChangeArrowheads="1"/>
          </p:cNvSpPr>
          <p:nvPr/>
        </p:nvSpPr>
        <p:spPr bwMode="auto">
          <a:xfrm>
            <a:off x="3049875" y="3589493"/>
            <a:ext cx="445293" cy="453390"/>
          </a:xfrm>
          <a:prstGeom prst="rect">
            <a:avLst/>
          </a:prstGeom>
          <a:solidFill>
            <a:srgbClr val="FFFF00"/>
          </a:solidFill>
          <a:ln w="28575" algn="ctr">
            <a:solidFill>
              <a:srgbClr val="FF0000"/>
            </a:solidFill>
            <a:round/>
            <a:headEnd/>
            <a:tailEnd/>
          </a:ln>
        </p:spPr>
        <p:txBody>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endParaRPr lang="zh-CN" altLang="en-US" sz="1800" b="1">
              <a:ea typeface="微软雅黑" panose="020B0503020204020204" pitchFamily="34" charset="-122"/>
            </a:endParaRPr>
          </a:p>
        </p:txBody>
      </p:sp>
      <p:sp>
        <p:nvSpPr>
          <p:cNvPr id="8" name="Line 20">
            <a:extLst>
              <a:ext uri="{FF2B5EF4-FFF2-40B4-BE49-F238E27FC236}">
                <a16:creationId xmlns:a16="http://schemas.microsoft.com/office/drawing/2014/main" id="{D46CC959-68A3-0C2E-EE73-69A92FE5593D}"/>
              </a:ext>
            </a:extLst>
          </p:cNvPr>
          <p:cNvSpPr>
            <a:spLocks noChangeShapeType="1"/>
          </p:cNvSpPr>
          <p:nvPr/>
        </p:nvSpPr>
        <p:spPr bwMode="auto">
          <a:xfrm flipV="1">
            <a:off x="1707248" y="4161405"/>
            <a:ext cx="1781174" cy="17542"/>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9" name="Line 5">
            <a:extLst>
              <a:ext uri="{FF2B5EF4-FFF2-40B4-BE49-F238E27FC236}">
                <a16:creationId xmlns:a16="http://schemas.microsoft.com/office/drawing/2014/main" id="{541DE58D-44B2-8473-EB19-562F104F8EDF}"/>
              </a:ext>
            </a:extLst>
          </p:cNvPr>
          <p:cNvSpPr>
            <a:spLocks noChangeShapeType="1"/>
          </p:cNvSpPr>
          <p:nvPr/>
        </p:nvSpPr>
        <p:spPr bwMode="auto">
          <a:xfrm>
            <a:off x="1920449"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0" name="Line 6">
            <a:extLst>
              <a:ext uri="{FF2B5EF4-FFF2-40B4-BE49-F238E27FC236}">
                <a16:creationId xmlns:a16="http://schemas.microsoft.com/office/drawing/2014/main" id="{12C9F6D2-5D5F-76AE-5576-148DBAEF7EEE}"/>
              </a:ext>
            </a:extLst>
          </p:cNvPr>
          <p:cNvSpPr>
            <a:spLocks noChangeShapeType="1"/>
          </p:cNvSpPr>
          <p:nvPr/>
        </p:nvSpPr>
        <p:spPr bwMode="auto">
          <a:xfrm>
            <a:off x="2147143"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1" name="Line 7">
            <a:extLst>
              <a:ext uri="{FF2B5EF4-FFF2-40B4-BE49-F238E27FC236}">
                <a16:creationId xmlns:a16="http://schemas.microsoft.com/office/drawing/2014/main" id="{7FF8D78B-9771-5DFD-EA07-3F15F7FFEC3D}"/>
              </a:ext>
            </a:extLst>
          </p:cNvPr>
          <p:cNvSpPr>
            <a:spLocks noChangeShapeType="1"/>
          </p:cNvSpPr>
          <p:nvPr/>
        </p:nvSpPr>
        <p:spPr bwMode="auto">
          <a:xfrm>
            <a:off x="2372489"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2" name="Line 8">
            <a:extLst>
              <a:ext uri="{FF2B5EF4-FFF2-40B4-BE49-F238E27FC236}">
                <a16:creationId xmlns:a16="http://schemas.microsoft.com/office/drawing/2014/main" id="{EF673645-366B-8397-3FF8-C6A87E141029}"/>
              </a:ext>
            </a:extLst>
          </p:cNvPr>
          <p:cNvSpPr>
            <a:spLocks noChangeShapeType="1"/>
          </p:cNvSpPr>
          <p:nvPr/>
        </p:nvSpPr>
        <p:spPr bwMode="auto">
          <a:xfrm>
            <a:off x="2597834"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3" name="Line 9">
            <a:extLst>
              <a:ext uri="{FF2B5EF4-FFF2-40B4-BE49-F238E27FC236}">
                <a16:creationId xmlns:a16="http://schemas.microsoft.com/office/drawing/2014/main" id="{D39B0212-0FE7-31E6-FA83-FF923844BCBE}"/>
              </a:ext>
            </a:extLst>
          </p:cNvPr>
          <p:cNvSpPr>
            <a:spLocks noChangeShapeType="1"/>
          </p:cNvSpPr>
          <p:nvPr/>
        </p:nvSpPr>
        <p:spPr bwMode="auto">
          <a:xfrm>
            <a:off x="2823180"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4" name="Line 10">
            <a:extLst>
              <a:ext uri="{FF2B5EF4-FFF2-40B4-BE49-F238E27FC236}">
                <a16:creationId xmlns:a16="http://schemas.microsoft.com/office/drawing/2014/main" id="{95809340-259F-5014-73B9-0E49A7C0050F}"/>
              </a:ext>
            </a:extLst>
          </p:cNvPr>
          <p:cNvSpPr>
            <a:spLocks noChangeShapeType="1"/>
          </p:cNvSpPr>
          <p:nvPr/>
        </p:nvSpPr>
        <p:spPr bwMode="auto">
          <a:xfrm>
            <a:off x="3049875"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5" name="Line 11">
            <a:extLst>
              <a:ext uri="{FF2B5EF4-FFF2-40B4-BE49-F238E27FC236}">
                <a16:creationId xmlns:a16="http://schemas.microsoft.com/office/drawing/2014/main" id="{DE54982A-219D-080B-7443-681DD6D57A51}"/>
              </a:ext>
            </a:extLst>
          </p:cNvPr>
          <p:cNvSpPr>
            <a:spLocks noChangeShapeType="1"/>
          </p:cNvSpPr>
          <p:nvPr/>
        </p:nvSpPr>
        <p:spPr bwMode="auto">
          <a:xfrm>
            <a:off x="3275220" y="3589271"/>
            <a:ext cx="0" cy="4533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16" name="Text Box 3">
            <a:extLst>
              <a:ext uri="{FF2B5EF4-FFF2-40B4-BE49-F238E27FC236}">
                <a16:creationId xmlns:a16="http://schemas.microsoft.com/office/drawing/2014/main" id="{E4B8C1E8-B964-C5C8-D8BB-3D54385D06FB}"/>
              </a:ext>
            </a:extLst>
          </p:cNvPr>
          <p:cNvSpPr txBox="1">
            <a:spLocks noChangeArrowheads="1"/>
          </p:cNvSpPr>
          <p:nvPr/>
        </p:nvSpPr>
        <p:spPr bwMode="auto">
          <a:xfrm>
            <a:off x="3027176" y="3602733"/>
            <a:ext cx="288766" cy="478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lnSpc>
                <a:spcPts val="1000"/>
              </a:lnSpc>
              <a:spcBef>
                <a:spcPct val="0"/>
              </a:spcBef>
              <a:buFontTx/>
              <a:buNone/>
            </a:pPr>
            <a:r>
              <a:rPr lang="en-US" altLang="zh-CN" sz="1100" b="1" dirty="0">
                <a:ea typeface="微软雅黑" panose="020B0503020204020204" pitchFamily="34" charset="-122"/>
              </a:rPr>
              <a:t>E</a:t>
            </a:r>
          </a:p>
          <a:p>
            <a:pPr algn="ctr" eaLnBrk="1" hangingPunct="1">
              <a:lnSpc>
                <a:spcPts val="1000"/>
              </a:lnSpc>
              <a:spcBef>
                <a:spcPct val="0"/>
              </a:spcBef>
              <a:buFontTx/>
              <a:buNone/>
            </a:pPr>
            <a:r>
              <a:rPr lang="en-US" altLang="zh-CN" sz="1100" b="1" dirty="0">
                <a:ea typeface="微软雅黑" panose="020B0503020204020204" pitchFamily="34" charset="-122"/>
              </a:rPr>
              <a:t>C</a:t>
            </a:r>
          </a:p>
          <a:p>
            <a:pPr algn="ctr" eaLnBrk="1" hangingPunct="1">
              <a:lnSpc>
                <a:spcPts val="1000"/>
              </a:lnSpc>
              <a:spcBef>
                <a:spcPct val="0"/>
              </a:spcBef>
              <a:buFontTx/>
              <a:buNone/>
            </a:pPr>
            <a:r>
              <a:rPr lang="en-US" altLang="zh-CN" sz="1100" b="1" dirty="0">
                <a:ea typeface="微软雅黑" panose="020B0503020204020204" pitchFamily="34" charset="-122"/>
              </a:rPr>
              <a:t>T</a:t>
            </a:r>
          </a:p>
        </p:txBody>
      </p:sp>
      <p:sp>
        <p:nvSpPr>
          <p:cNvPr id="17" name="Text Box 2">
            <a:extLst>
              <a:ext uri="{FF2B5EF4-FFF2-40B4-BE49-F238E27FC236}">
                <a16:creationId xmlns:a16="http://schemas.microsoft.com/office/drawing/2014/main" id="{714DDBC3-9CBF-10E0-B306-96908AE1105A}"/>
              </a:ext>
            </a:extLst>
          </p:cNvPr>
          <p:cNvSpPr txBox="1">
            <a:spLocks noChangeArrowheads="1"/>
          </p:cNvSpPr>
          <p:nvPr/>
        </p:nvSpPr>
        <p:spPr bwMode="auto">
          <a:xfrm>
            <a:off x="1824643" y="3674282"/>
            <a:ext cx="1038618" cy="27699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      DSCP      </a:t>
            </a:r>
          </a:p>
        </p:txBody>
      </p:sp>
      <p:sp>
        <p:nvSpPr>
          <p:cNvPr id="18" name="Text Box 19">
            <a:extLst>
              <a:ext uri="{FF2B5EF4-FFF2-40B4-BE49-F238E27FC236}">
                <a16:creationId xmlns:a16="http://schemas.microsoft.com/office/drawing/2014/main" id="{1551539F-653D-2F5E-D32F-92173BD9BF08}"/>
              </a:ext>
            </a:extLst>
          </p:cNvPr>
          <p:cNvSpPr txBox="1">
            <a:spLocks noChangeArrowheads="1"/>
          </p:cNvSpPr>
          <p:nvPr/>
        </p:nvSpPr>
        <p:spPr bwMode="auto">
          <a:xfrm>
            <a:off x="1411735" y="3353131"/>
            <a:ext cx="2423475"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位  </a:t>
            </a:r>
            <a:r>
              <a:rPr lang="en-US" altLang="zh-CN" sz="1200" b="1">
                <a:ea typeface="微软雅黑" panose="020B0503020204020204" pitchFamily="34" charset="-122"/>
              </a:rPr>
              <a:t>0                        5    6   7</a:t>
            </a:r>
          </a:p>
        </p:txBody>
      </p:sp>
      <p:sp>
        <p:nvSpPr>
          <p:cNvPr id="19" name="Text Box 3">
            <a:extLst>
              <a:ext uri="{FF2B5EF4-FFF2-40B4-BE49-F238E27FC236}">
                <a16:creationId xmlns:a16="http://schemas.microsoft.com/office/drawing/2014/main" id="{DEB5B615-9CF4-13AF-E2E7-60817DF3E455}"/>
              </a:ext>
            </a:extLst>
          </p:cNvPr>
          <p:cNvSpPr txBox="1">
            <a:spLocks noChangeArrowheads="1"/>
          </p:cNvSpPr>
          <p:nvPr/>
        </p:nvSpPr>
        <p:spPr bwMode="auto">
          <a:xfrm>
            <a:off x="3244185" y="3633800"/>
            <a:ext cx="284719" cy="439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lnSpc>
                <a:spcPts val="1400"/>
              </a:lnSpc>
              <a:spcBef>
                <a:spcPct val="0"/>
              </a:spcBef>
              <a:buFontTx/>
              <a:buNone/>
            </a:pPr>
            <a:r>
              <a:rPr lang="en-US" altLang="zh-CN" sz="1100" b="1" dirty="0">
                <a:ea typeface="微软雅黑" panose="020B0503020204020204" pitchFamily="34" charset="-122"/>
              </a:rPr>
              <a:t>C</a:t>
            </a:r>
          </a:p>
          <a:p>
            <a:pPr algn="ctr" eaLnBrk="1" hangingPunct="1">
              <a:lnSpc>
                <a:spcPts val="1400"/>
              </a:lnSpc>
              <a:spcBef>
                <a:spcPct val="0"/>
              </a:spcBef>
              <a:buFontTx/>
              <a:buNone/>
            </a:pPr>
            <a:r>
              <a:rPr lang="en-US" altLang="zh-CN" sz="1100" b="1" dirty="0">
                <a:ea typeface="微软雅黑" panose="020B0503020204020204" pitchFamily="34" charset="-122"/>
              </a:rPr>
              <a:t>E</a:t>
            </a:r>
            <a:endParaRPr lang="en-US" altLang="zh-CN" sz="1200" b="1" dirty="0">
              <a:ea typeface="微软雅黑" panose="020B0503020204020204" pitchFamily="34" charset="-122"/>
            </a:endParaRPr>
          </a:p>
        </p:txBody>
      </p:sp>
      <p:sp>
        <p:nvSpPr>
          <p:cNvPr id="20" name="Text Box 21">
            <a:extLst>
              <a:ext uri="{FF2B5EF4-FFF2-40B4-BE49-F238E27FC236}">
                <a16:creationId xmlns:a16="http://schemas.microsoft.com/office/drawing/2014/main" id="{A81B4C7B-EDAB-5A3D-11ED-F51D6F4B3078}"/>
              </a:ext>
            </a:extLst>
          </p:cNvPr>
          <p:cNvSpPr txBox="1">
            <a:spLocks noChangeArrowheads="1"/>
          </p:cNvSpPr>
          <p:nvPr/>
        </p:nvSpPr>
        <p:spPr bwMode="auto">
          <a:xfrm>
            <a:off x="3458108" y="3283792"/>
            <a:ext cx="97559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dirty="0">
                <a:ea typeface="微软雅黑" panose="020B0503020204020204" pitchFamily="34" charset="-122"/>
              </a:rPr>
              <a:t>ECN </a:t>
            </a:r>
            <a:r>
              <a:rPr lang="zh-CN" altLang="en-US" sz="1200" b="1" dirty="0">
                <a:ea typeface="微软雅黑" panose="020B0503020204020204" pitchFamily="34" charset="-122"/>
              </a:rPr>
              <a:t>字段</a:t>
            </a:r>
            <a:endParaRPr lang="en-US" altLang="zh-CN" sz="1200" b="1" dirty="0">
              <a:ea typeface="微软雅黑" panose="020B0503020204020204" pitchFamily="34" charset="-122"/>
            </a:endParaRPr>
          </a:p>
        </p:txBody>
      </p:sp>
      <p:grpSp>
        <p:nvGrpSpPr>
          <p:cNvPr id="21" name="组合 20">
            <a:extLst>
              <a:ext uri="{FF2B5EF4-FFF2-40B4-BE49-F238E27FC236}">
                <a16:creationId xmlns:a16="http://schemas.microsoft.com/office/drawing/2014/main" id="{E1CB46DA-CA85-AD78-AE27-BFA136F2F584}"/>
              </a:ext>
            </a:extLst>
          </p:cNvPr>
          <p:cNvGrpSpPr>
            <a:grpSpLocks/>
          </p:cNvGrpSpPr>
          <p:nvPr/>
        </p:nvGrpSpPr>
        <p:grpSpPr bwMode="auto">
          <a:xfrm>
            <a:off x="1698402" y="4069648"/>
            <a:ext cx="1810860" cy="218599"/>
            <a:chOff x="1301750" y="1709738"/>
            <a:chExt cx="2130425" cy="339725"/>
          </a:xfrm>
        </p:grpSpPr>
        <p:sp>
          <p:nvSpPr>
            <p:cNvPr id="37" name="Line 10">
              <a:extLst>
                <a:ext uri="{FF2B5EF4-FFF2-40B4-BE49-F238E27FC236}">
                  <a16:creationId xmlns:a16="http://schemas.microsoft.com/office/drawing/2014/main" id="{60A8013D-925E-FA75-0AC5-8B04EAA159CE}"/>
                </a:ext>
              </a:extLst>
            </p:cNvPr>
            <p:cNvSpPr>
              <a:spLocks noChangeShapeType="1"/>
            </p:cNvSpPr>
            <p:nvPr/>
          </p:nvSpPr>
          <p:spPr bwMode="auto">
            <a:xfrm>
              <a:off x="3432175" y="1709738"/>
              <a:ext cx="0" cy="3222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38" name="Line 10">
              <a:extLst>
                <a:ext uri="{FF2B5EF4-FFF2-40B4-BE49-F238E27FC236}">
                  <a16:creationId xmlns:a16="http://schemas.microsoft.com/office/drawing/2014/main" id="{C025BD3C-6BF2-D01E-AC86-E8CB33B0970E}"/>
                </a:ext>
              </a:extLst>
            </p:cNvPr>
            <p:cNvSpPr>
              <a:spLocks noChangeShapeType="1"/>
            </p:cNvSpPr>
            <p:nvPr/>
          </p:nvSpPr>
          <p:spPr bwMode="auto">
            <a:xfrm>
              <a:off x="1301750" y="1727200"/>
              <a:ext cx="0" cy="322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grpSp>
      <p:sp>
        <p:nvSpPr>
          <p:cNvPr id="22" name="Line 20">
            <a:extLst>
              <a:ext uri="{FF2B5EF4-FFF2-40B4-BE49-F238E27FC236}">
                <a16:creationId xmlns:a16="http://schemas.microsoft.com/office/drawing/2014/main" id="{6DAD0EB7-F3D8-FB35-BA7E-B422C8ECF7AA}"/>
              </a:ext>
            </a:extLst>
          </p:cNvPr>
          <p:cNvSpPr>
            <a:spLocks noChangeShapeType="1"/>
          </p:cNvSpPr>
          <p:nvPr/>
        </p:nvSpPr>
        <p:spPr bwMode="auto">
          <a:xfrm flipV="1">
            <a:off x="3499386" y="3513850"/>
            <a:ext cx="340041" cy="269875"/>
          </a:xfrm>
          <a:prstGeom prst="line">
            <a:avLst/>
          </a:prstGeom>
          <a:noFill/>
          <a:ln w="9525">
            <a:solidFill>
              <a:schemeClr val="tx1"/>
            </a:solidFill>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sz="1400" b="1">
              <a:ea typeface="微软雅黑" panose="020B0503020204020204" pitchFamily="34" charset="-122"/>
            </a:endParaRPr>
          </a:p>
        </p:txBody>
      </p:sp>
      <p:sp>
        <p:nvSpPr>
          <p:cNvPr id="23" name="Text Box 21">
            <a:extLst>
              <a:ext uri="{FF2B5EF4-FFF2-40B4-BE49-F238E27FC236}">
                <a16:creationId xmlns:a16="http://schemas.microsoft.com/office/drawing/2014/main" id="{5D34DEC0-A5EA-4BC2-9186-E2E0E18AE953}"/>
              </a:ext>
            </a:extLst>
          </p:cNvPr>
          <p:cNvSpPr txBox="1">
            <a:spLocks noChangeArrowheads="1"/>
          </p:cNvSpPr>
          <p:nvPr/>
        </p:nvSpPr>
        <p:spPr bwMode="auto">
          <a:xfrm>
            <a:off x="2487185" y="4214031"/>
            <a:ext cx="4992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(a)</a:t>
            </a:r>
          </a:p>
        </p:txBody>
      </p:sp>
      <p:sp>
        <p:nvSpPr>
          <p:cNvPr id="24" name="Text Box 21">
            <a:extLst>
              <a:ext uri="{FF2B5EF4-FFF2-40B4-BE49-F238E27FC236}">
                <a16:creationId xmlns:a16="http://schemas.microsoft.com/office/drawing/2014/main" id="{BDBF7337-0F8F-A705-2A8B-622A85D37BA2}"/>
              </a:ext>
            </a:extLst>
          </p:cNvPr>
          <p:cNvSpPr txBox="1">
            <a:spLocks noChangeArrowheads="1"/>
          </p:cNvSpPr>
          <p:nvPr/>
        </p:nvSpPr>
        <p:spPr bwMode="auto">
          <a:xfrm>
            <a:off x="5921343" y="4215380"/>
            <a:ext cx="4992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(b)</a:t>
            </a:r>
          </a:p>
        </p:txBody>
      </p:sp>
      <p:sp>
        <p:nvSpPr>
          <p:cNvPr id="25" name="矩形 24">
            <a:extLst>
              <a:ext uri="{FF2B5EF4-FFF2-40B4-BE49-F238E27FC236}">
                <a16:creationId xmlns:a16="http://schemas.microsoft.com/office/drawing/2014/main" id="{F05CF9CE-69E6-F031-C0EC-452F325B0014}"/>
              </a:ext>
            </a:extLst>
          </p:cNvPr>
          <p:cNvSpPr>
            <a:spLocks noChangeArrowheads="1"/>
          </p:cNvSpPr>
          <p:nvPr/>
        </p:nvSpPr>
        <p:spPr bwMode="auto">
          <a:xfrm>
            <a:off x="2236202" y="4075045"/>
            <a:ext cx="696277" cy="245586"/>
          </a:xfrm>
          <a:prstGeom prst="rect">
            <a:avLst/>
          </a:prstGeom>
          <a:solidFill>
            <a:srgbClr val="C3E3F9"/>
          </a:solidFill>
          <a:ln>
            <a:noFill/>
          </a:ln>
        </p:spPr>
        <p:txBody>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endParaRPr lang="zh-CN" altLang="en-US" sz="1800" b="1">
              <a:ea typeface="微软雅黑" panose="020B0503020204020204" pitchFamily="34" charset="-122"/>
            </a:endParaRPr>
          </a:p>
        </p:txBody>
      </p:sp>
      <p:sp>
        <p:nvSpPr>
          <p:cNvPr id="26" name="Text Box 21">
            <a:extLst>
              <a:ext uri="{FF2B5EF4-FFF2-40B4-BE49-F238E27FC236}">
                <a16:creationId xmlns:a16="http://schemas.microsoft.com/office/drawing/2014/main" id="{CD5548B2-09F9-376C-91EE-1C88C279F5A7}"/>
              </a:ext>
            </a:extLst>
          </p:cNvPr>
          <p:cNvSpPr txBox="1">
            <a:spLocks noChangeArrowheads="1"/>
          </p:cNvSpPr>
          <p:nvPr/>
        </p:nvSpPr>
        <p:spPr bwMode="auto">
          <a:xfrm>
            <a:off x="2217310" y="4015673"/>
            <a:ext cx="120499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dirty="0">
                <a:ea typeface="微软雅黑" panose="020B0503020204020204" pitchFamily="34" charset="-122"/>
              </a:rPr>
              <a:t>DS </a:t>
            </a:r>
            <a:r>
              <a:rPr lang="zh-CN" altLang="en-US" sz="1200" b="1" dirty="0">
                <a:ea typeface="微软雅黑" panose="020B0503020204020204" pitchFamily="34" charset="-122"/>
              </a:rPr>
              <a:t>字段</a:t>
            </a:r>
            <a:endParaRPr lang="en-US" altLang="zh-CN" sz="1200" b="1" dirty="0">
              <a:ea typeface="微软雅黑" panose="020B0503020204020204" pitchFamily="34" charset="-122"/>
            </a:endParaRPr>
          </a:p>
        </p:txBody>
      </p:sp>
      <p:sp>
        <p:nvSpPr>
          <p:cNvPr id="27" name="Text Box 21">
            <a:extLst>
              <a:ext uri="{FF2B5EF4-FFF2-40B4-BE49-F238E27FC236}">
                <a16:creationId xmlns:a16="http://schemas.microsoft.com/office/drawing/2014/main" id="{A1646359-3C3E-BA21-D8E6-F583CCEED8DC}"/>
              </a:ext>
            </a:extLst>
          </p:cNvPr>
          <p:cNvSpPr txBox="1">
            <a:spLocks noChangeArrowheads="1"/>
          </p:cNvSpPr>
          <p:nvPr/>
        </p:nvSpPr>
        <p:spPr bwMode="auto">
          <a:xfrm>
            <a:off x="3318399" y="3102147"/>
            <a:ext cx="120499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显式拥塞通知</a:t>
            </a:r>
            <a:endParaRPr lang="en-US" altLang="zh-CN" sz="1200" b="1">
              <a:ea typeface="微软雅黑" panose="020B0503020204020204" pitchFamily="34" charset="-122"/>
            </a:endParaRPr>
          </a:p>
        </p:txBody>
      </p:sp>
      <p:sp>
        <p:nvSpPr>
          <p:cNvPr id="28" name="Text Box 21">
            <a:extLst>
              <a:ext uri="{FF2B5EF4-FFF2-40B4-BE49-F238E27FC236}">
                <a16:creationId xmlns:a16="http://schemas.microsoft.com/office/drawing/2014/main" id="{23719597-555F-0682-4451-226C6304BCA0}"/>
              </a:ext>
            </a:extLst>
          </p:cNvPr>
          <p:cNvSpPr txBox="1">
            <a:spLocks noChangeArrowheads="1"/>
          </p:cNvSpPr>
          <p:nvPr/>
        </p:nvSpPr>
        <p:spPr bwMode="auto">
          <a:xfrm>
            <a:off x="4832398" y="3102147"/>
            <a:ext cx="105790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en-US" altLang="zh-CN" sz="1200" b="1">
                <a:ea typeface="微软雅黑" panose="020B0503020204020204" pitchFamily="34" charset="-122"/>
              </a:rPr>
              <a:t>ECN </a:t>
            </a:r>
            <a:r>
              <a:rPr lang="zh-CN" altLang="en-US" sz="1200" b="1">
                <a:ea typeface="微软雅黑" panose="020B0503020204020204" pitchFamily="34" charset="-122"/>
              </a:rPr>
              <a:t>字段</a:t>
            </a:r>
            <a:endParaRPr lang="en-US" altLang="zh-CN" sz="1200" b="1">
              <a:ea typeface="微软雅黑" panose="020B0503020204020204" pitchFamily="34" charset="-122"/>
            </a:endParaRPr>
          </a:p>
        </p:txBody>
      </p:sp>
      <p:cxnSp>
        <p:nvCxnSpPr>
          <p:cNvPr id="29" name="直接连接符 28">
            <a:extLst>
              <a:ext uri="{FF2B5EF4-FFF2-40B4-BE49-F238E27FC236}">
                <a16:creationId xmlns:a16="http://schemas.microsoft.com/office/drawing/2014/main" id="{37E4BB93-5855-1FAB-BC8C-61C1332C925E}"/>
              </a:ext>
            </a:extLst>
          </p:cNvPr>
          <p:cNvCxnSpPr>
            <a:cxnSpLocks noChangeShapeType="1"/>
          </p:cNvCxnSpPr>
          <p:nvPr/>
        </p:nvCxnSpPr>
        <p:spPr bwMode="auto">
          <a:xfrm>
            <a:off x="4848591" y="3384166"/>
            <a:ext cx="2551667" cy="5397"/>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a:extLst>
              <a:ext uri="{FF2B5EF4-FFF2-40B4-BE49-F238E27FC236}">
                <a16:creationId xmlns:a16="http://schemas.microsoft.com/office/drawing/2014/main" id="{73AE1594-9815-6BAC-2880-C00AE5C2E80E}"/>
              </a:ext>
            </a:extLst>
          </p:cNvPr>
          <p:cNvCxnSpPr>
            <a:cxnSpLocks noChangeShapeType="1"/>
          </p:cNvCxnSpPr>
          <p:nvPr/>
        </p:nvCxnSpPr>
        <p:spPr bwMode="auto">
          <a:xfrm>
            <a:off x="4848591" y="4258560"/>
            <a:ext cx="2551667"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Text Box 21">
            <a:extLst>
              <a:ext uri="{FF2B5EF4-FFF2-40B4-BE49-F238E27FC236}">
                <a16:creationId xmlns:a16="http://schemas.microsoft.com/office/drawing/2014/main" id="{D3A3B9E2-4A09-C570-7420-EA13806719F3}"/>
              </a:ext>
            </a:extLst>
          </p:cNvPr>
          <p:cNvSpPr txBox="1">
            <a:spLocks noChangeArrowheads="1"/>
          </p:cNvSpPr>
          <p:nvPr/>
        </p:nvSpPr>
        <p:spPr bwMode="auto">
          <a:xfrm>
            <a:off x="5525589" y="3377345"/>
            <a:ext cx="975597" cy="897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lnSpc>
                <a:spcPts val="1600"/>
              </a:lnSpc>
              <a:spcBef>
                <a:spcPct val="0"/>
              </a:spcBef>
              <a:buFontTx/>
              <a:buNone/>
            </a:pPr>
            <a:r>
              <a:rPr lang="en-US" altLang="zh-CN" sz="1200" b="1" dirty="0">
                <a:ea typeface="微软雅黑" panose="020B0503020204020204" pitchFamily="34" charset="-122"/>
              </a:rPr>
              <a:t>Non-ECT   </a:t>
            </a:r>
          </a:p>
          <a:p>
            <a:pPr algn="ctr" eaLnBrk="1" hangingPunct="1">
              <a:lnSpc>
                <a:spcPts val="1600"/>
              </a:lnSpc>
              <a:spcBef>
                <a:spcPct val="0"/>
              </a:spcBef>
              <a:buFontTx/>
              <a:buNone/>
            </a:pPr>
            <a:r>
              <a:rPr lang="en-US" altLang="zh-CN" sz="1200" b="1" dirty="0">
                <a:ea typeface="微软雅黑" panose="020B0503020204020204" pitchFamily="34" charset="-122"/>
              </a:rPr>
              <a:t>ECT(1)</a:t>
            </a:r>
          </a:p>
          <a:p>
            <a:pPr algn="ctr" eaLnBrk="1" hangingPunct="1">
              <a:lnSpc>
                <a:spcPts val="1600"/>
              </a:lnSpc>
              <a:spcBef>
                <a:spcPct val="0"/>
              </a:spcBef>
              <a:buFontTx/>
              <a:buNone/>
            </a:pPr>
            <a:r>
              <a:rPr lang="en-US" altLang="zh-CN" sz="1200" b="1" dirty="0">
                <a:ea typeface="微软雅黑" panose="020B0503020204020204" pitchFamily="34" charset="-122"/>
              </a:rPr>
              <a:t>ECT(0)</a:t>
            </a:r>
          </a:p>
          <a:p>
            <a:pPr algn="ctr" eaLnBrk="1" hangingPunct="1">
              <a:lnSpc>
                <a:spcPts val="1600"/>
              </a:lnSpc>
              <a:spcBef>
                <a:spcPct val="0"/>
              </a:spcBef>
              <a:buFontTx/>
              <a:buNone/>
            </a:pPr>
            <a:r>
              <a:rPr lang="en-US" altLang="zh-CN" sz="1200" b="1" dirty="0">
                <a:ea typeface="微软雅黑" panose="020B0503020204020204" pitchFamily="34" charset="-122"/>
              </a:rPr>
              <a:t>CE</a:t>
            </a:r>
          </a:p>
        </p:txBody>
      </p:sp>
      <p:sp>
        <p:nvSpPr>
          <p:cNvPr id="32" name="Text Box 21">
            <a:extLst>
              <a:ext uri="{FF2B5EF4-FFF2-40B4-BE49-F238E27FC236}">
                <a16:creationId xmlns:a16="http://schemas.microsoft.com/office/drawing/2014/main" id="{20E0A8C6-F858-5477-B52B-DC2A0C67F8E4}"/>
              </a:ext>
            </a:extLst>
          </p:cNvPr>
          <p:cNvSpPr txBox="1">
            <a:spLocks noChangeArrowheads="1"/>
          </p:cNvSpPr>
          <p:nvPr/>
        </p:nvSpPr>
        <p:spPr bwMode="auto">
          <a:xfrm>
            <a:off x="6625717" y="3102147"/>
            <a:ext cx="61396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意义</a:t>
            </a:r>
            <a:endParaRPr lang="en-US" altLang="zh-CN" sz="1200" b="1">
              <a:ea typeface="微软雅黑" panose="020B0503020204020204" pitchFamily="34" charset="-122"/>
            </a:endParaRPr>
          </a:p>
        </p:txBody>
      </p:sp>
      <p:sp>
        <p:nvSpPr>
          <p:cNvPr id="33" name="Text Box 21">
            <a:extLst>
              <a:ext uri="{FF2B5EF4-FFF2-40B4-BE49-F238E27FC236}">
                <a16:creationId xmlns:a16="http://schemas.microsoft.com/office/drawing/2014/main" id="{D032BC3F-CA6D-2D65-40DA-8DD9C22D4518}"/>
              </a:ext>
            </a:extLst>
          </p:cNvPr>
          <p:cNvSpPr txBox="1">
            <a:spLocks noChangeArrowheads="1"/>
          </p:cNvSpPr>
          <p:nvPr/>
        </p:nvSpPr>
        <p:spPr bwMode="auto">
          <a:xfrm>
            <a:off x="5768864" y="3102147"/>
            <a:ext cx="61396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buFontTx/>
              <a:buNone/>
            </a:pPr>
            <a:r>
              <a:rPr lang="zh-CN" altLang="en-US" sz="1200" b="1">
                <a:ea typeface="微软雅黑" panose="020B0503020204020204" pitchFamily="34" charset="-122"/>
              </a:rPr>
              <a:t>名称</a:t>
            </a:r>
            <a:endParaRPr lang="en-US" altLang="zh-CN" sz="1200" b="1">
              <a:ea typeface="微软雅黑" panose="020B0503020204020204" pitchFamily="34" charset="-122"/>
            </a:endParaRPr>
          </a:p>
        </p:txBody>
      </p:sp>
      <p:cxnSp>
        <p:nvCxnSpPr>
          <p:cNvPr id="34" name="直接连接符 33">
            <a:extLst>
              <a:ext uri="{FF2B5EF4-FFF2-40B4-BE49-F238E27FC236}">
                <a16:creationId xmlns:a16="http://schemas.microsoft.com/office/drawing/2014/main" id="{E9A40A3D-5941-A7B4-9413-407D7E6481A1}"/>
              </a:ext>
            </a:extLst>
          </p:cNvPr>
          <p:cNvCxnSpPr>
            <a:cxnSpLocks noChangeShapeType="1"/>
          </p:cNvCxnSpPr>
          <p:nvPr/>
        </p:nvCxnSpPr>
        <p:spPr bwMode="auto">
          <a:xfrm flipV="1">
            <a:off x="5644721" y="3384166"/>
            <a:ext cx="0" cy="851456"/>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34">
            <a:extLst>
              <a:ext uri="{FF2B5EF4-FFF2-40B4-BE49-F238E27FC236}">
                <a16:creationId xmlns:a16="http://schemas.microsoft.com/office/drawing/2014/main" id="{608F7793-3BCD-54D3-FD6F-917347E30A9D}"/>
              </a:ext>
            </a:extLst>
          </p:cNvPr>
          <p:cNvCxnSpPr>
            <a:cxnSpLocks noChangeShapeType="1"/>
          </p:cNvCxnSpPr>
          <p:nvPr/>
        </p:nvCxnSpPr>
        <p:spPr bwMode="auto">
          <a:xfrm flipV="1">
            <a:off x="6389576" y="3397660"/>
            <a:ext cx="0" cy="852805"/>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Text Box 19">
            <a:extLst>
              <a:ext uri="{FF2B5EF4-FFF2-40B4-BE49-F238E27FC236}">
                <a16:creationId xmlns:a16="http://schemas.microsoft.com/office/drawing/2014/main" id="{AFC641C8-E8B0-5D8F-7DE1-02B1818F4D40}"/>
              </a:ext>
            </a:extLst>
          </p:cNvPr>
          <p:cNvSpPr txBox="1">
            <a:spLocks noChangeArrowheads="1"/>
          </p:cNvSpPr>
          <p:nvPr/>
        </p:nvSpPr>
        <p:spPr bwMode="auto">
          <a:xfrm>
            <a:off x="4922851" y="3403933"/>
            <a:ext cx="2731133" cy="86946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rtl="0" eaLnBrk="0" fontAlgn="base" hangingPunct="0">
              <a:spcBef>
                <a:spcPct val="20000"/>
              </a:spcBef>
              <a:spcAft>
                <a:spcPct val="0"/>
              </a:spcAft>
              <a:buChar char="•"/>
              <a:defRPr kumimoji="1"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rtl="0" eaLnBrk="0" fontAlgn="base" hangingPunct="0">
              <a:spcBef>
                <a:spcPct val="20000"/>
              </a:spcBef>
              <a:spcAft>
                <a:spcPct val="0"/>
              </a:spcAft>
              <a:buChar char="–"/>
              <a:defRPr kumimoji="1"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spcBef>
                <a:spcPct val="0"/>
              </a:spcBef>
              <a:spcAft>
                <a:spcPts val="300"/>
              </a:spcAft>
              <a:buFontTx/>
              <a:buNone/>
            </a:pPr>
            <a:r>
              <a:rPr lang="en-US" altLang="zh-CN" sz="1200" b="1" dirty="0">
                <a:ea typeface="微软雅黑" panose="020B0503020204020204" pitchFamily="34" charset="-122"/>
              </a:rPr>
              <a:t>   0   0                           </a:t>
            </a:r>
            <a:r>
              <a:rPr lang="zh-CN" altLang="en-US" sz="1200" b="1" dirty="0">
                <a:ea typeface="微软雅黑" panose="020B0503020204020204" pitchFamily="34" charset="-122"/>
              </a:rPr>
              <a:t>不支持 </a:t>
            </a:r>
            <a:r>
              <a:rPr lang="en-US" altLang="zh-CN" sz="1200" b="1" dirty="0">
                <a:ea typeface="微软雅黑" panose="020B0503020204020204" pitchFamily="34" charset="-122"/>
              </a:rPr>
              <a:t>ECN</a:t>
            </a:r>
          </a:p>
          <a:p>
            <a:pPr eaLnBrk="1" hangingPunct="1">
              <a:spcBef>
                <a:spcPct val="0"/>
              </a:spcBef>
              <a:buFontTx/>
              <a:buNone/>
            </a:pPr>
            <a:r>
              <a:rPr lang="en-US" altLang="zh-CN" sz="1200" b="1" dirty="0">
                <a:ea typeface="微软雅黑" panose="020B0503020204020204" pitchFamily="34" charset="-122"/>
              </a:rPr>
              <a:t>   0   1                             </a:t>
            </a:r>
            <a:r>
              <a:rPr lang="zh-CN" altLang="en-US" sz="1200" b="1" dirty="0">
                <a:ea typeface="微软雅黑" panose="020B0503020204020204" pitchFamily="34" charset="-122"/>
              </a:rPr>
              <a:t>支持 </a:t>
            </a:r>
            <a:r>
              <a:rPr lang="en-US" altLang="zh-CN" sz="1200" b="1" dirty="0">
                <a:ea typeface="微软雅黑" panose="020B0503020204020204" pitchFamily="34" charset="-122"/>
              </a:rPr>
              <a:t>ECN</a:t>
            </a:r>
          </a:p>
          <a:p>
            <a:pPr eaLnBrk="1" hangingPunct="1">
              <a:spcBef>
                <a:spcPct val="0"/>
              </a:spcBef>
              <a:buFontTx/>
              <a:buNone/>
            </a:pPr>
            <a:r>
              <a:rPr lang="en-US" altLang="zh-CN" sz="1200" b="1" dirty="0">
                <a:ea typeface="微软雅黑" panose="020B0503020204020204" pitchFamily="34" charset="-122"/>
              </a:rPr>
              <a:t>   1   0                             </a:t>
            </a:r>
            <a:r>
              <a:rPr lang="zh-CN" altLang="en-US" sz="1200" b="1" dirty="0">
                <a:ea typeface="微软雅黑" panose="020B0503020204020204" pitchFamily="34" charset="-122"/>
              </a:rPr>
              <a:t>支持 </a:t>
            </a:r>
            <a:r>
              <a:rPr lang="en-US" altLang="zh-CN" sz="1200" b="1" dirty="0">
                <a:ea typeface="微软雅黑" panose="020B0503020204020204" pitchFamily="34" charset="-122"/>
              </a:rPr>
              <a:t>ECN</a:t>
            </a:r>
          </a:p>
          <a:p>
            <a:pPr eaLnBrk="1" hangingPunct="1">
              <a:spcBef>
                <a:spcPct val="0"/>
              </a:spcBef>
              <a:buFontTx/>
              <a:buNone/>
            </a:pPr>
            <a:r>
              <a:rPr lang="en-US" altLang="zh-CN" sz="1200" b="1" dirty="0">
                <a:ea typeface="微软雅黑" panose="020B0503020204020204" pitchFamily="34" charset="-122"/>
              </a:rPr>
              <a:t>   1   1                            </a:t>
            </a:r>
            <a:r>
              <a:rPr lang="zh-CN" altLang="en-US" sz="1200" b="1" dirty="0">
                <a:ea typeface="微软雅黑" panose="020B0503020204020204" pitchFamily="34" charset="-122"/>
              </a:rPr>
              <a:t>已经历拥塞</a:t>
            </a:r>
            <a:endParaRPr lang="en-US" altLang="zh-CN" sz="1200" b="1" dirty="0">
              <a:ea typeface="微软雅黑" panose="020B0503020204020204" pitchFamily="34" charset="-122"/>
            </a:endParaRPr>
          </a:p>
        </p:txBody>
      </p:sp>
    </p:spTree>
    <p:extLst>
      <p:ext uri="{BB962C8B-B14F-4D97-AF65-F5344CB8AC3E}">
        <p14:creationId xmlns:p14="http://schemas.microsoft.com/office/powerpoint/2010/main" val="3631810171"/>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7E1A1-CA1A-BC56-8A12-AAAFC2C58CD4}"/>
            </a:ext>
          </a:extLst>
        </p:cNvPr>
        <p:cNvGrpSpPr/>
        <p:nvPr/>
      </p:nvGrpSpPr>
      <p:grpSpPr>
        <a:xfrm>
          <a:off x="0" y="0"/>
          <a:ext cx="0" cy="0"/>
          <a:chOff x="0" y="0"/>
          <a:chExt cx="0" cy="0"/>
        </a:xfrm>
      </p:grpSpPr>
      <p:sp>
        <p:nvSpPr>
          <p:cNvPr id="2" name="AutoShape 5">
            <a:extLst>
              <a:ext uri="{FF2B5EF4-FFF2-40B4-BE49-F238E27FC236}">
                <a16:creationId xmlns:a16="http://schemas.microsoft.com/office/drawing/2014/main" id="{2B12E7B4-0607-BD8F-585E-4A9C3A4364B4}"/>
              </a:ext>
            </a:extLst>
          </p:cNvPr>
          <p:cNvSpPr>
            <a:spLocks noChangeArrowheads="1"/>
          </p:cNvSpPr>
          <p:nvPr/>
        </p:nvSpPr>
        <p:spPr bwMode="auto">
          <a:xfrm>
            <a:off x="545143" y="625919"/>
            <a:ext cx="8053711" cy="357839"/>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a:extLst>
              <a:ext uri="{FF2B5EF4-FFF2-40B4-BE49-F238E27FC236}">
                <a16:creationId xmlns:a16="http://schemas.microsoft.com/office/drawing/2014/main" id="{37A2E183-2474-8F74-7D92-E7096CD28D2E}"/>
              </a:ext>
            </a:extLst>
          </p:cNvPr>
          <p:cNvSpPr>
            <a:spLocks noChangeArrowheads="1"/>
          </p:cNvSpPr>
          <p:nvPr/>
        </p:nvSpPr>
        <p:spPr bwMode="auto">
          <a:xfrm>
            <a:off x="3248567" y="599146"/>
            <a:ext cx="264687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显式拥塞通知</a:t>
            </a:r>
            <a:r>
              <a:rPr lang="en-US" altLang="zh-CN" sz="2000" b="1" dirty="0">
                <a:solidFill>
                  <a:schemeClr val="bg1"/>
                </a:solidFill>
                <a:latin typeface="微软雅黑" pitchFamily="34" charset="-122"/>
                <a:ea typeface="微软雅黑" pitchFamily="34" charset="-122"/>
              </a:rPr>
              <a:t>ECN </a:t>
            </a:r>
            <a:endParaRPr lang="zh-CN" altLang="en-US" sz="2000" b="1" dirty="0">
              <a:solidFill>
                <a:schemeClr val="bg1"/>
              </a:solidFill>
              <a:latin typeface="微软雅黑" pitchFamily="34" charset="-122"/>
              <a:ea typeface="微软雅黑" pitchFamily="34" charset="-122"/>
            </a:endParaRPr>
          </a:p>
        </p:txBody>
      </p:sp>
      <p:sp>
        <p:nvSpPr>
          <p:cNvPr id="4" name="Rectangle 8">
            <a:extLst>
              <a:ext uri="{FF2B5EF4-FFF2-40B4-BE49-F238E27FC236}">
                <a16:creationId xmlns:a16="http://schemas.microsoft.com/office/drawing/2014/main" id="{5123B1FF-BB9B-D02D-2768-1D94E386B56F}"/>
              </a:ext>
            </a:extLst>
          </p:cNvPr>
          <p:cNvSpPr>
            <a:spLocks noChangeArrowheads="1"/>
          </p:cNvSpPr>
          <p:nvPr/>
        </p:nvSpPr>
        <p:spPr bwMode="auto">
          <a:xfrm>
            <a:off x="545143" y="1029517"/>
            <a:ext cx="8053711" cy="257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en-US" altLang="zh-CN" b="1" dirty="0">
                <a:latin typeface="微软雅黑" pitchFamily="34" charset="-122"/>
                <a:ea typeface="微软雅黑" pitchFamily="34" charset="-122"/>
              </a:rPr>
              <a:t>ECN</a:t>
            </a:r>
            <a:r>
              <a:rPr lang="zh-CN" altLang="en-US" b="1" dirty="0">
                <a:latin typeface="微软雅黑" pitchFamily="34" charset="-122"/>
                <a:ea typeface="微软雅黑" pitchFamily="34" charset="-122"/>
              </a:rPr>
              <a:t>的引入不仅提升了网络的效率，还有效减少了不必要的数据重传，从而提升了网络整体传输的性能。有了</a:t>
            </a:r>
            <a:r>
              <a:rPr lang="en-US" altLang="zh-CN" b="1" dirty="0">
                <a:latin typeface="微软雅黑" pitchFamily="34" charset="-122"/>
                <a:ea typeface="微软雅黑" pitchFamily="34" charset="-122"/>
              </a:rPr>
              <a:t>ECN</a:t>
            </a:r>
            <a:r>
              <a:rPr lang="zh-CN" altLang="en-US" b="1" dirty="0">
                <a:latin typeface="微软雅黑" pitchFamily="34" charset="-122"/>
                <a:ea typeface="微软雅黑" pitchFamily="34" charset="-122"/>
              </a:rPr>
              <a:t>，网络可以更好地保持低延迟，同时仍然能够避免发生严重的拥塞。</a:t>
            </a:r>
          </a:p>
          <a:p>
            <a:pPr marL="285750" indent="-285750">
              <a:lnSpc>
                <a:spcPts val="2800"/>
              </a:lnSpc>
              <a:buClr>
                <a:srgbClr val="0070C0"/>
              </a:buClr>
              <a:buFont typeface="Wingdings" pitchFamily="2" charset="2"/>
              <a:buChar char="l"/>
            </a:pPr>
            <a:r>
              <a:rPr lang="en-US" altLang="zh-CN" b="1" dirty="0">
                <a:latin typeface="微软雅黑" pitchFamily="34" charset="-122"/>
                <a:ea typeface="微软雅黑" pitchFamily="34" charset="-122"/>
              </a:rPr>
              <a:t>ECN</a:t>
            </a:r>
            <a:r>
              <a:rPr lang="zh-CN" altLang="en-US" b="1" dirty="0">
                <a:latin typeface="微软雅黑" pitchFamily="34" charset="-122"/>
                <a:ea typeface="微软雅黑" pitchFamily="34" charset="-122"/>
              </a:rPr>
              <a:t>推广使用的前提是，所有网络设备都必须支持</a:t>
            </a:r>
            <a:r>
              <a:rPr lang="en-US" altLang="zh-CN" b="1" dirty="0">
                <a:latin typeface="微软雅黑" pitchFamily="34" charset="-122"/>
                <a:ea typeface="微软雅黑" pitchFamily="34" charset="-122"/>
              </a:rPr>
              <a:t>ECN</a:t>
            </a:r>
            <a:r>
              <a:rPr lang="zh-CN" altLang="en-US" b="1" dirty="0">
                <a:latin typeface="微软雅黑" pitchFamily="34" charset="-122"/>
                <a:ea typeface="微软雅黑" pitchFamily="34" charset="-122"/>
              </a:rPr>
              <a:t>。如果网络中存在不支持</a:t>
            </a:r>
            <a:r>
              <a:rPr lang="en-US" altLang="zh-CN" b="1" dirty="0">
                <a:latin typeface="微软雅黑" pitchFamily="34" charset="-122"/>
                <a:ea typeface="微软雅黑" pitchFamily="34" charset="-122"/>
              </a:rPr>
              <a:t>ECN</a:t>
            </a:r>
            <a:r>
              <a:rPr lang="zh-CN" altLang="en-US" b="1" dirty="0">
                <a:latin typeface="微软雅黑" pitchFamily="34" charset="-122"/>
                <a:ea typeface="微软雅黑" pitchFamily="34" charset="-122"/>
              </a:rPr>
              <a:t>的设备，则可能会导致信息被错误解释或丢失。</a:t>
            </a:r>
            <a:endParaRPr lang="en-US" altLang="zh-CN" b="1" dirty="0">
              <a:latin typeface="微软雅黑" pitchFamily="34" charset="-122"/>
              <a:ea typeface="微软雅黑" pitchFamily="34" charset="-122"/>
            </a:endParaRPr>
          </a:p>
          <a:p>
            <a:pPr marL="285750" indent="-28575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此外，对于安全敏感的应用，如何处理</a:t>
            </a:r>
            <a:r>
              <a:rPr lang="en-US" altLang="zh-CN" b="1" dirty="0">
                <a:latin typeface="微软雅黑" pitchFamily="34" charset="-122"/>
                <a:ea typeface="微软雅黑" pitchFamily="34" charset="-122"/>
              </a:rPr>
              <a:t>ECN</a:t>
            </a:r>
            <a:r>
              <a:rPr lang="zh-CN" altLang="en-US" b="1" dirty="0">
                <a:latin typeface="微软雅黑" pitchFamily="34" charset="-122"/>
                <a:ea typeface="微软雅黑" pitchFamily="34" charset="-122"/>
              </a:rPr>
              <a:t>标记的数据报，仍然是一个需要研究的问题，特别是在可能被恶意操控的环境中。</a:t>
            </a:r>
          </a:p>
        </p:txBody>
      </p:sp>
    </p:spTree>
    <p:extLst>
      <p:ext uri="{BB962C8B-B14F-4D97-AF65-F5344CB8AC3E}">
        <p14:creationId xmlns:p14="http://schemas.microsoft.com/office/powerpoint/2010/main" val="3644313137"/>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390DF-00DB-8B7E-B4D9-641D7AD7301E}"/>
            </a:ext>
          </a:extLst>
        </p:cNvPr>
        <p:cNvGrpSpPr/>
        <p:nvPr/>
      </p:nvGrpSpPr>
      <p:grpSpPr>
        <a:xfrm>
          <a:off x="0" y="0"/>
          <a:ext cx="0" cy="0"/>
          <a:chOff x="0" y="0"/>
          <a:chExt cx="0" cy="0"/>
        </a:xfrm>
      </p:grpSpPr>
      <p:sp>
        <p:nvSpPr>
          <p:cNvPr id="2" name="AutoShape 5">
            <a:extLst>
              <a:ext uri="{FF2B5EF4-FFF2-40B4-BE49-F238E27FC236}">
                <a16:creationId xmlns:a16="http://schemas.microsoft.com/office/drawing/2014/main" id="{F365E00D-5E33-0935-EFD8-7A09A932A5D7}"/>
              </a:ext>
            </a:extLst>
          </p:cNvPr>
          <p:cNvSpPr>
            <a:spLocks noChangeArrowheads="1"/>
          </p:cNvSpPr>
          <p:nvPr/>
        </p:nvSpPr>
        <p:spPr bwMode="auto">
          <a:xfrm>
            <a:off x="545143" y="625919"/>
            <a:ext cx="8053711" cy="357839"/>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a:extLst>
              <a:ext uri="{FF2B5EF4-FFF2-40B4-BE49-F238E27FC236}">
                <a16:creationId xmlns:a16="http://schemas.microsoft.com/office/drawing/2014/main" id="{A54D36FB-3458-7972-80C0-7D2ECE34B277}"/>
              </a:ext>
            </a:extLst>
          </p:cNvPr>
          <p:cNvSpPr>
            <a:spLocks noChangeArrowheads="1"/>
          </p:cNvSpPr>
          <p:nvPr/>
        </p:nvSpPr>
        <p:spPr bwMode="auto">
          <a:xfrm>
            <a:off x="3248567" y="599146"/>
            <a:ext cx="264687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显式拥塞通知</a:t>
            </a:r>
            <a:r>
              <a:rPr lang="en-US" altLang="zh-CN" sz="2000" b="1" dirty="0">
                <a:solidFill>
                  <a:schemeClr val="bg1"/>
                </a:solidFill>
                <a:latin typeface="微软雅黑" pitchFamily="34" charset="-122"/>
                <a:ea typeface="微软雅黑" pitchFamily="34" charset="-122"/>
              </a:rPr>
              <a:t>ECN </a:t>
            </a:r>
            <a:endParaRPr lang="zh-CN" altLang="en-US" sz="2000" b="1" dirty="0">
              <a:solidFill>
                <a:schemeClr val="bg1"/>
              </a:solidFill>
              <a:latin typeface="微软雅黑" pitchFamily="34" charset="-122"/>
              <a:ea typeface="微软雅黑" pitchFamily="34" charset="-122"/>
            </a:endParaRPr>
          </a:p>
        </p:txBody>
      </p:sp>
      <p:sp>
        <p:nvSpPr>
          <p:cNvPr id="4" name="Rectangle 8">
            <a:extLst>
              <a:ext uri="{FF2B5EF4-FFF2-40B4-BE49-F238E27FC236}">
                <a16:creationId xmlns:a16="http://schemas.microsoft.com/office/drawing/2014/main" id="{C76142F8-4F10-01A4-9E42-96E4BB26AE32}"/>
              </a:ext>
            </a:extLst>
          </p:cNvPr>
          <p:cNvSpPr>
            <a:spLocks noChangeArrowheads="1"/>
          </p:cNvSpPr>
          <p:nvPr/>
        </p:nvSpPr>
        <p:spPr bwMode="auto">
          <a:xfrm>
            <a:off x="545143" y="1029517"/>
            <a:ext cx="8053711" cy="2211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在使用</a:t>
            </a:r>
            <a:r>
              <a:rPr lang="en-US" altLang="zh-CN" b="1" dirty="0">
                <a:latin typeface="微软雅黑" pitchFamily="34" charset="-122"/>
                <a:ea typeface="微软雅黑" pitchFamily="34" charset="-122"/>
              </a:rPr>
              <a:t>ECN</a:t>
            </a:r>
            <a:r>
              <a:rPr lang="zh-CN" altLang="en-US" b="1" dirty="0">
                <a:latin typeface="微软雅黑" pitchFamily="34" charset="-122"/>
                <a:ea typeface="微软雅黑" pitchFamily="34" charset="-122"/>
              </a:rPr>
              <a:t>时，判断网络拥塞的依据，既不是出现分组丢失，也不是连续收到多个重复的确认，而是观察路由器中分组的排队情况。</a:t>
            </a:r>
            <a:endParaRPr lang="en-US" altLang="zh-CN" b="1" dirty="0">
              <a:latin typeface="微软雅黑" pitchFamily="34" charset="-122"/>
              <a:ea typeface="微软雅黑" pitchFamily="34" charset="-122"/>
            </a:endParaRPr>
          </a:p>
          <a:p>
            <a:pPr marL="285750" indent="-285750">
              <a:lnSpc>
                <a:spcPts val="2800"/>
              </a:lnSpc>
              <a:buClr>
                <a:srgbClr val="0070C0"/>
              </a:buClr>
              <a:buFont typeface="Wingdings" pitchFamily="2" charset="2"/>
              <a:buChar char="l"/>
            </a:pPr>
            <a:r>
              <a:rPr lang="en-US" altLang="zh-CN" b="1" dirty="0">
                <a:latin typeface="微软雅黑" pitchFamily="34" charset="-122"/>
                <a:ea typeface="微软雅黑" pitchFamily="34" charset="-122"/>
              </a:rPr>
              <a:t>ECN</a:t>
            </a:r>
            <a:r>
              <a:rPr lang="zh-CN" altLang="en-US" b="1" dirty="0">
                <a:latin typeface="微软雅黑" pitchFamily="34" charset="-122"/>
                <a:ea typeface="微软雅黑" pitchFamily="34" charset="-122"/>
              </a:rPr>
              <a:t>与下面要讨论的</a:t>
            </a:r>
            <a:r>
              <a:rPr lang="zh-CN" altLang="en-US" b="1" dirty="0">
                <a:solidFill>
                  <a:srgbClr val="0000FF"/>
                </a:solidFill>
                <a:latin typeface="微软雅黑" pitchFamily="34" charset="-122"/>
                <a:ea typeface="微软雅黑" pitchFamily="34" charset="-122"/>
              </a:rPr>
              <a:t>主动队列管理</a:t>
            </a:r>
            <a:r>
              <a:rPr lang="en-US" altLang="zh-CN" b="1" dirty="0">
                <a:solidFill>
                  <a:srgbClr val="0000FF"/>
                </a:solidFill>
                <a:latin typeface="微软雅黑" pitchFamily="34" charset="-122"/>
                <a:ea typeface="微软雅黑" pitchFamily="34" charset="-122"/>
              </a:rPr>
              <a:t>AQM</a:t>
            </a:r>
            <a:r>
              <a:rPr lang="zh-CN" altLang="en-US" b="1" dirty="0">
                <a:latin typeface="微软雅黑" pitchFamily="34" charset="-122"/>
                <a:ea typeface="微软雅黑" pitchFamily="34" charset="-122"/>
              </a:rPr>
              <a:t>密切相关。</a:t>
            </a:r>
            <a:r>
              <a:rPr lang="en-US" altLang="zh-CN" b="1" dirty="0">
                <a:latin typeface="微软雅黑" pitchFamily="34" charset="-122"/>
                <a:ea typeface="微软雅黑" pitchFamily="34" charset="-122"/>
              </a:rPr>
              <a:t>ECN</a:t>
            </a:r>
            <a:r>
              <a:rPr lang="zh-CN" altLang="en-US" b="1" dirty="0">
                <a:latin typeface="微软雅黑" pitchFamily="34" charset="-122"/>
                <a:ea typeface="微软雅黑" pitchFamily="34" charset="-122"/>
              </a:rPr>
              <a:t>通常与</a:t>
            </a:r>
            <a:r>
              <a:rPr lang="en-US" altLang="zh-CN" b="1" dirty="0">
                <a:latin typeface="微软雅黑" pitchFamily="34" charset="-122"/>
                <a:ea typeface="微软雅黑" pitchFamily="34" charset="-122"/>
              </a:rPr>
              <a:t>AQM</a:t>
            </a:r>
            <a:r>
              <a:rPr lang="zh-CN" altLang="en-US" b="1" dirty="0">
                <a:latin typeface="微软雅黑" pitchFamily="34" charset="-122"/>
                <a:ea typeface="微软雅黑" pitchFamily="34" charset="-122"/>
              </a:rPr>
              <a:t>结合使用。</a:t>
            </a:r>
            <a:endParaRPr lang="en-US" altLang="zh-CN" b="1" dirty="0">
              <a:latin typeface="微软雅黑" pitchFamily="34" charset="-122"/>
              <a:ea typeface="微软雅黑" pitchFamily="34" charset="-122"/>
            </a:endParaRPr>
          </a:p>
          <a:p>
            <a:pPr marL="285750" indent="-285750">
              <a:lnSpc>
                <a:spcPts val="2800"/>
              </a:lnSpc>
              <a:buClr>
                <a:srgbClr val="0070C0"/>
              </a:buClr>
              <a:buFont typeface="Wingdings" pitchFamily="2" charset="2"/>
              <a:buChar char="l"/>
            </a:pPr>
            <a:r>
              <a:rPr lang="en-US" altLang="zh-CN" b="1" dirty="0">
                <a:latin typeface="微软雅黑" pitchFamily="34" charset="-122"/>
                <a:ea typeface="微软雅黑" pitchFamily="34" charset="-122"/>
              </a:rPr>
              <a:t>AQM</a:t>
            </a:r>
            <a:r>
              <a:rPr lang="zh-CN" altLang="en-US" b="1" dirty="0">
                <a:latin typeface="微软雅黑" pitchFamily="34" charset="-122"/>
                <a:ea typeface="微软雅黑" pitchFamily="34" charset="-122"/>
              </a:rPr>
              <a:t>负责检测潜在的拥塞情况，而</a:t>
            </a:r>
            <a:r>
              <a:rPr lang="en-US" altLang="zh-CN" b="1" dirty="0">
                <a:latin typeface="微软雅黑" pitchFamily="34" charset="-122"/>
                <a:ea typeface="微软雅黑" pitchFamily="34" charset="-122"/>
              </a:rPr>
              <a:t>ECN</a:t>
            </a:r>
            <a:r>
              <a:rPr lang="zh-CN" altLang="en-US" b="1" dirty="0">
                <a:latin typeface="微软雅黑" pitchFamily="34" charset="-122"/>
                <a:ea typeface="微软雅黑" pitchFamily="34" charset="-122"/>
              </a:rPr>
              <a:t>则提供了一种不丢弃分组的拥塞通知方式。</a:t>
            </a:r>
          </a:p>
        </p:txBody>
      </p:sp>
    </p:spTree>
    <p:extLst>
      <p:ext uri="{BB962C8B-B14F-4D97-AF65-F5344CB8AC3E}">
        <p14:creationId xmlns:p14="http://schemas.microsoft.com/office/powerpoint/2010/main" val="1033606092"/>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2F1AF-36C8-732A-E203-FAD77DC73A94}"/>
            </a:ext>
          </a:extLst>
        </p:cNvPr>
        <p:cNvGrpSpPr/>
        <p:nvPr/>
      </p:nvGrpSpPr>
      <p:grpSpPr>
        <a:xfrm>
          <a:off x="0" y="0"/>
          <a:ext cx="0" cy="0"/>
          <a:chOff x="0" y="0"/>
          <a:chExt cx="0" cy="0"/>
        </a:xfrm>
      </p:grpSpPr>
      <p:sp>
        <p:nvSpPr>
          <p:cNvPr id="2" name="AutoShape 5">
            <a:extLst>
              <a:ext uri="{FF2B5EF4-FFF2-40B4-BE49-F238E27FC236}">
                <a16:creationId xmlns:a16="http://schemas.microsoft.com/office/drawing/2014/main" id="{BB81B3DD-65E5-AB2E-7772-CF30AF1B5EB2}"/>
              </a:ext>
            </a:extLst>
          </p:cNvPr>
          <p:cNvSpPr>
            <a:spLocks noChangeArrowheads="1"/>
          </p:cNvSpPr>
          <p:nvPr/>
        </p:nvSpPr>
        <p:spPr bwMode="auto">
          <a:xfrm>
            <a:off x="545143" y="625919"/>
            <a:ext cx="8053711" cy="357839"/>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a:extLst>
              <a:ext uri="{FF2B5EF4-FFF2-40B4-BE49-F238E27FC236}">
                <a16:creationId xmlns:a16="http://schemas.microsoft.com/office/drawing/2014/main" id="{9AB06451-D887-9D2E-34FF-632072127613}"/>
              </a:ext>
            </a:extLst>
          </p:cNvPr>
          <p:cNvSpPr>
            <a:spLocks noChangeArrowheads="1"/>
          </p:cNvSpPr>
          <p:nvPr/>
        </p:nvSpPr>
        <p:spPr bwMode="auto">
          <a:xfrm>
            <a:off x="3222118" y="599146"/>
            <a:ext cx="269977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4. </a:t>
            </a:r>
            <a:r>
              <a:rPr lang="zh-CN" altLang="en-US" sz="2000" b="1" dirty="0">
                <a:solidFill>
                  <a:schemeClr val="bg1"/>
                </a:solidFill>
                <a:latin typeface="微软雅黑" pitchFamily="34" charset="-122"/>
                <a:ea typeface="微软雅黑" pitchFamily="34" charset="-122"/>
              </a:rPr>
              <a:t>主动队列管理</a:t>
            </a:r>
            <a:r>
              <a:rPr lang="en-US" altLang="zh-CN" sz="2000" b="1" dirty="0">
                <a:solidFill>
                  <a:schemeClr val="bg1"/>
                </a:solidFill>
                <a:latin typeface="微软雅黑" pitchFamily="34" charset="-122"/>
                <a:ea typeface="微软雅黑" pitchFamily="34" charset="-122"/>
              </a:rPr>
              <a:t>AQM</a:t>
            </a:r>
            <a:endParaRPr lang="zh-CN" altLang="en-US" sz="2000" b="1" dirty="0">
              <a:solidFill>
                <a:schemeClr val="bg1"/>
              </a:solidFill>
              <a:latin typeface="微软雅黑" pitchFamily="34" charset="-122"/>
              <a:ea typeface="微软雅黑" pitchFamily="34" charset="-122"/>
            </a:endParaRPr>
          </a:p>
        </p:txBody>
      </p:sp>
      <p:sp>
        <p:nvSpPr>
          <p:cNvPr id="4" name="Rectangle 8">
            <a:extLst>
              <a:ext uri="{FF2B5EF4-FFF2-40B4-BE49-F238E27FC236}">
                <a16:creationId xmlns:a16="http://schemas.microsoft.com/office/drawing/2014/main" id="{0E91C2A3-8F04-7B04-31BC-314C31214380}"/>
              </a:ext>
            </a:extLst>
          </p:cNvPr>
          <p:cNvSpPr>
            <a:spLocks noChangeArrowheads="1"/>
          </p:cNvSpPr>
          <p:nvPr/>
        </p:nvSpPr>
        <p:spPr bwMode="auto">
          <a:xfrm>
            <a:off x="545143" y="1029517"/>
            <a:ext cx="8053711" cy="826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路由器的</a:t>
            </a:r>
            <a:r>
              <a:rPr lang="zh-CN" altLang="en-US" sz="2000" b="1" dirty="0">
                <a:solidFill>
                  <a:srgbClr val="C00000"/>
                </a:solidFill>
                <a:latin typeface="微软雅黑" pitchFamily="34" charset="-122"/>
                <a:ea typeface="微软雅黑" pitchFamily="34" charset="-122"/>
              </a:rPr>
              <a:t>分组丢弃策略</a:t>
            </a:r>
            <a:r>
              <a:rPr lang="zh-CN" altLang="en-US" sz="2000" b="1" dirty="0">
                <a:solidFill>
                  <a:srgbClr val="0000FF"/>
                </a:solidFill>
                <a:latin typeface="微软雅黑" pitchFamily="34" charset="-122"/>
                <a:ea typeface="微软雅黑" pitchFamily="34" charset="-122"/>
              </a:rPr>
              <a:t>对 </a:t>
            </a:r>
            <a:r>
              <a:rPr lang="en-US" altLang="zh-CN" sz="2000" b="1" dirty="0">
                <a:solidFill>
                  <a:srgbClr val="0000FF"/>
                </a:solidFill>
                <a:latin typeface="微软雅黑" pitchFamily="34" charset="-122"/>
                <a:ea typeface="微软雅黑" pitchFamily="34" charset="-122"/>
              </a:rPr>
              <a:t>TCP </a:t>
            </a:r>
            <a:r>
              <a:rPr lang="zh-CN" altLang="en-US" sz="2000" b="1" dirty="0">
                <a:solidFill>
                  <a:srgbClr val="0000FF"/>
                </a:solidFill>
                <a:latin typeface="微软雅黑" pitchFamily="34" charset="-122"/>
                <a:ea typeface="微软雅黑" pitchFamily="34" charset="-122"/>
              </a:rPr>
              <a:t>拥塞控制</a:t>
            </a:r>
            <a:r>
              <a:rPr lang="zh-CN" altLang="en-US" sz="2000" b="1" dirty="0">
                <a:solidFill>
                  <a:srgbClr val="C00000"/>
                </a:solidFill>
                <a:latin typeface="微软雅黑" pitchFamily="34" charset="-122"/>
                <a:ea typeface="微软雅黑" pitchFamily="34" charset="-122"/>
              </a:rPr>
              <a:t>影响很大。</a:t>
            </a:r>
            <a:endParaRPr lang="en-US" altLang="zh-CN" sz="2000" b="1" dirty="0">
              <a:solidFill>
                <a:srgbClr val="C00000"/>
              </a:solidFill>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路由器的队列通常都按照“先进先出”的规则处理到来的分组。</a:t>
            </a:r>
          </a:p>
        </p:txBody>
      </p:sp>
    </p:spTree>
    <p:extLst>
      <p:ext uri="{BB962C8B-B14F-4D97-AF65-F5344CB8AC3E}">
        <p14:creationId xmlns:p14="http://schemas.microsoft.com/office/powerpoint/2010/main" val="165014501"/>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241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2823498" y="589202"/>
            <a:ext cx="35157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“先进先出”</a:t>
            </a:r>
            <a:r>
              <a:rPr lang="en-US" altLang="zh-CN" sz="2000" b="1" dirty="0">
                <a:solidFill>
                  <a:schemeClr val="bg1"/>
                </a:solidFill>
                <a:latin typeface="微软雅黑" pitchFamily="34" charset="-122"/>
                <a:ea typeface="微软雅黑" pitchFamily="34" charset="-122"/>
              </a:rPr>
              <a:t>FIFO </a:t>
            </a:r>
            <a:r>
              <a:rPr lang="zh-CN" altLang="en-US" sz="2000" b="1" dirty="0">
                <a:solidFill>
                  <a:schemeClr val="bg1"/>
                </a:solidFill>
                <a:latin typeface="微软雅黑" pitchFamily="34" charset="-122"/>
                <a:ea typeface="微软雅黑" pitchFamily="34" charset="-122"/>
              </a:rPr>
              <a:t>处理规则</a:t>
            </a:r>
          </a:p>
        </p:txBody>
      </p:sp>
      <p:sp>
        <p:nvSpPr>
          <p:cNvPr id="4" name="Rectangle 68"/>
          <p:cNvSpPr>
            <a:spLocks noChangeArrowheads="1"/>
          </p:cNvSpPr>
          <p:nvPr/>
        </p:nvSpPr>
        <p:spPr bwMode="auto">
          <a:xfrm>
            <a:off x="556963" y="985512"/>
            <a:ext cx="8048776"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先进先出</a:t>
            </a:r>
            <a:r>
              <a:rPr lang="en-US" altLang="zh-CN" sz="2000" b="1" dirty="0">
                <a:solidFill>
                  <a:srgbClr val="C00000"/>
                </a:solidFill>
                <a:latin typeface="微软雅黑" pitchFamily="34" charset="-122"/>
                <a:ea typeface="微软雅黑" pitchFamily="34" charset="-122"/>
              </a:rPr>
              <a:t>FIFO </a:t>
            </a:r>
            <a:r>
              <a:rPr lang="en-US" altLang="zh-CN" sz="2000" b="1" dirty="0">
                <a:latin typeface="微软雅黑" pitchFamily="34" charset="-122"/>
                <a:ea typeface="微软雅黑" pitchFamily="34" charset="-122"/>
              </a:rPr>
              <a:t>(First In First Out) </a:t>
            </a:r>
            <a:r>
              <a:rPr lang="zh-CN" altLang="en-US" sz="2000" b="1" dirty="0">
                <a:latin typeface="微软雅黑" pitchFamily="34" charset="-122"/>
                <a:ea typeface="微软雅黑" pitchFamily="34" charset="-122"/>
              </a:rPr>
              <a:t>处理规则：</a:t>
            </a:r>
          </a:p>
          <a:p>
            <a:pPr marL="342900" indent="-34290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尾部丢弃策略 </a:t>
            </a:r>
            <a:r>
              <a:rPr lang="en-US" altLang="zh-CN" sz="2000" b="1" dirty="0">
                <a:latin typeface="微软雅黑" pitchFamily="34" charset="-122"/>
                <a:ea typeface="微软雅黑" pitchFamily="34" charset="-122"/>
              </a:rPr>
              <a:t>(tail-drop policy)</a:t>
            </a:r>
            <a:r>
              <a:rPr lang="zh-CN" altLang="en-US" sz="2000" b="1" dirty="0">
                <a:latin typeface="微软雅黑" pitchFamily="34" charset="-122"/>
                <a:ea typeface="微软雅黑" pitchFamily="34" charset="-122"/>
              </a:rPr>
              <a:t>：当队列已满时，以后到达的所有分组（如果能够继续排队，这些分组都将排在队列的尾部）将都被丢弃。</a:t>
            </a:r>
            <a:endParaRPr lang="en-US" altLang="zh-CN" sz="2000" b="1" dirty="0">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路由器的尾部丢弃往往会导致一连串分组的丢失，这就使发送方出现超时重传，使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进入拥塞控制的慢启动状态，结果使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连接的发送方突然把数据的发送速率降低到很小的数值。</a:t>
            </a:r>
          </a:p>
        </p:txBody>
      </p:sp>
    </p:spTree>
    <p:extLst>
      <p:ext uri="{BB962C8B-B14F-4D97-AF65-F5344CB8AC3E}">
        <p14:creationId xmlns:p14="http://schemas.microsoft.com/office/powerpoint/2010/main" val="1983501047"/>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56963" y="1015398"/>
            <a:ext cx="8048776" cy="320780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AutoShape 5"/>
          <p:cNvSpPr>
            <a:spLocks noChangeArrowheads="1"/>
          </p:cNvSpPr>
          <p:nvPr/>
        </p:nvSpPr>
        <p:spPr bwMode="auto">
          <a:xfrm>
            <a:off x="556963" y="62241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1932808" y="589202"/>
            <a:ext cx="52970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先进先出（</a:t>
            </a:r>
            <a:r>
              <a:rPr lang="en-US" altLang="zh-CN" sz="2000" b="1" dirty="0">
                <a:solidFill>
                  <a:schemeClr val="bg1"/>
                </a:solidFill>
                <a:latin typeface="微软雅黑" pitchFamily="34" charset="-122"/>
                <a:ea typeface="微软雅黑" pitchFamily="34" charset="-122"/>
              </a:rPr>
              <a:t>FIFO</a:t>
            </a:r>
            <a:r>
              <a:rPr lang="zh-CN" altLang="en-US" sz="2000" b="1" dirty="0">
                <a:solidFill>
                  <a:schemeClr val="bg1"/>
                </a:solidFill>
                <a:latin typeface="微软雅黑" pitchFamily="34" charset="-122"/>
                <a:ea typeface="微软雅黑" pitchFamily="34" charset="-122"/>
              </a:rPr>
              <a:t>）处理规则与尾部丢弃策略</a:t>
            </a:r>
          </a:p>
        </p:txBody>
      </p:sp>
      <p:sp>
        <p:nvSpPr>
          <p:cNvPr id="9" name="Rectangle 9"/>
          <p:cNvSpPr>
            <a:spLocks noChangeArrowheads="1"/>
          </p:cNvSpPr>
          <p:nvPr/>
        </p:nvSpPr>
        <p:spPr bwMode="auto">
          <a:xfrm>
            <a:off x="3516080" y="2606106"/>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0" name="Rectangle 10"/>
          <p:cNvSpPr>
            <a:spLocks noChangeArrowheads="1"/>
          </p:cNvSpPr>
          <p:nvPr/>
        </p:nvSpPr>
        <p:spPr bwMode="auto">
          <a:xfrm>
            <a:off x="2873825" y="2708432"/>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1" name="Rectangle 11"/>
          <p:cNvSpPr>
            <a:spLocks noChangeArrowheads="1"/>
          </p:cNvSpPr>
          <p:nvPr/>
        </p:nvSpPr>
        <p:spPr bwMode="auto">
          <a:xfrm>
            <a:off x="2270759" y="2823821"/>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7" name="Rectangle 17"/>
          <p:cNvSpPr>
            <a:spLocks noChangeArrowheads="1"/>
          </p:cNvSpPr>
          <p:nvPr/>
        </p:nvSpPr>
        <p:spPr bwMode="auto">
          <a:xfrm>
            <a:off x="1693819" y="3052421"/>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8" name="Rectangle 18"/>
          <p:cNvSpPr>
            <a:spLocks noChangeArrowheads="1"/>
          </p:cNvSpPr>
          <p:nvPr/>
        </p:nvSpPr>
        <p:spPr bwMode="auto">
          <a:xfrm>
            <a:off x="1127764" y="3357221"/>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29" name="矩形 28"/>
          <p:cNvSpPr/>
          <p:nvPr/>
        </p:nvSpPr>
        <p:spPr>
          <a:xfrm>
            <a:off x="1652453" y="1140973"/>
            <a:ext cx="6096380" cy="861774"/>
          </a:xfrm>
          <a:prstGeom prst="rect">
            <a:avLst/>
          </a:prstGeom>
          <a:solidFill>
            <a:srgbClr val="000099"/>
          </a:solidFill>
        </p:spPr>
        <p:txBody>
          <a:bodyPr wrap="square" anchor="ctr">
            <a:spAutoFit/>
          </a:bodyPr>
          <a:lstStyle/>
          <a:p>
            <a:pPr algn="ctr">
              <a:lnSpc>
                <a:spcPts val="2000"/>
              </a:lnSpc>
            </a:pPr>
            <a:r>
              <a:rPr lang="zh-CN" altLang="en-US" sz="1600" b="1" dirty="0">
                <a:solidFill>
                  <a:schemeClr val="bg1"/>
                </a:solidFill>
                <a:latin typeface="微软雅黑" pitchFamily="34" charset="-122"/>
                <a:ea typeface="微软雅黑" pitchFamily="34" charset="-122"/>
              </a:rPr>
              <a:t>在最简单的情况下，路由器队列通常采用</a:t>
            </a:r>
            <a:endParaRPr lang="en-US" altLang="zh-CN" sz="1600" b="1" dirty="0">
              <a:solidFill>
                <a:schemeClr val="bg1"/>
              </a:solidFill>
              <a:latin typeface="微软雅黑" pitchFamily="34" charset="-122"/>
              <a:ea typeface="微软雅黑" pitchFamily="34" charset="-122"/>
            </a:endParaRPr>
          </a:p>
          <a:p>
            <a:pPr algn="ctr">
              <a:lnSpc>
                <a:spcPts val="2000"/>
              </a:lnSpc>
            </a:pPr>
            <a:r>
              <a:rPr lang="zh-CN" altLang="en-US" sz="1600" b="1" dirty="0">
                <a:solidFill>
                  <a:srgbClr val="FFC000"/>
                </a:solidFill>
                <a:latin typeface="微软雅黑" pitchFamily="34" charset="-122"/>
                <a:ea typeface="微软雅黑" pitchFamily="34" charset="-122"/>
              </a:rPr>
              <a:t>先进先出</a:t>
            </a:r>
            <a:r>
              <a:rPr lang="zh-CN" altLang="en-US" sz="1600" b="1" dirty="0">
                <a:solidFill>
                  <a:schemeClr val="bg1"/>
                </a:solidFill>
                <a:latin typeface="微软雅黑" pitchFamily="34" charset="-122"/>
                <a:ea typeface="微软雅黑" pitchFamily="34" charset="-122"/>
              </a:rPr>
              <a:t> </a:t>
            </a:r>
            <a:r>
              <a:rPr lang="en-US" altLang="zh-CN" sz="1600" b="1" dirty="0">
                <a:solidFill>
                  <a:schemeClr val="bg1"/>
                </a:solidFill>
                <a:latin typeface="微软雅黑" pitchFamily="34" charset="-122"/>
                <a:ea typeface="微软雅黑" pitchFamily="34" charset="-122"/>
              </a:rPr>
              <a:t>(FIFO) </a:t>
            </a:r>
            <a:r>
              <a:rPr lang="zh-CN" altLang="en-US" sz="1600" b="1" dirty="0">
                <a:solidFill>
                  <a:schemeClr val="bg1"/>
                </a:solidFill>
                <a:latin typeface="微软雅黑" pitchFamily="34" charset="-122"/>
                <a:ea typeface="微软雅黑" pitchFamily="34" charset="-122"/>
              </a:rPr>
              <a:t>处理规则与</a:t>
            </a:r>
            <a:r>
              <a:rPr lang="zh-CN" altLang="en-US" sz="1600" b="1" dirty="0">
                <a:solidFill>
                  <a:srgbClr val="FFC000"/>
                </a:solidFill>
                <a:latin typeface="微软雅黑" pitchFamily="34" charset="-122"/>
                <a:ea typeface="微软雅黑" pitchFamily="34" charset="-122"/>
              </a:rPr>
              <a:t>尾部丢弃策略 </a:t>
            </a:r>
            <a:r>
              <a:rPr lang="en-US" altLang="zh-CN" sz="1600" b="1" dirty="0">
                <a:solidFill>
                  <a:schemeClr val="bg1"/>
                </a:solidFill>
                <a:latin typeface="微软雅黑" pitchFamily="34" charset="-122"/>
                <a:ea typeface="微软雅黑" pitchFamily="34" charset="-122"/>
              </a:rPr>
              <a:t>(tail-drop policy)</a:t>
            </a:r>
            <a:r>
              <a:rPr lang="zh-CN" altLang="en-US" sz="1600" b="1" dirty="0">
                <a:solidFill>
                  <a:schemeClr val="bg1"/>
                </a:solidFill>
                <a:latin typeface="微软雅黑" pitchFamily="34" charset="-122"/>
                <a:ea typeface="微软雅黑" pitchFamily="34" charset="-122"/>
              </a:rPr>
              <a:t>。</a:t>
            </a:r>
            <a:endParaRPr lang="en-US" altLang="zh-CN" sz="1600" b="1" dirty="0">
              <a:solidFill>
                <a:schemeClr val="bg1"/>
              </a:solidFill>
              <a:latin typeface="微软雅黑" pitchFamily="34" charset="-122"/>
              <a:ea typeface="微软雅黑" pitchFamily="34" charset="-122"/>
            </a:endParaRPr>
          </a:p>
          <a:p>
            <a:pPr algn="ctr">
              <a:lnSpc>
                <a:spcPts val="2000"/>
              </a:lnSpc>
            </a:pPr>
            <a:r>
              <a:rPr lang="zh-CN" altLang="en-US" sz="1600" b="1" dirty="0">
                <a:solidFill>
                  <a:schemeClr val="bg1"/>
                </a:solidFill>
                <a:latin typeface="微软雅黑" pitchFamily="34" charset="-122"/>
                <a:ea typeface="微软雅黑" pitchFamily="34" charset="-122"/>
              </a:rPr>
              <a:t>当队列已满时，以后到达的所有分组将都被丢弃。</a:t>
            </a:r>
          </a:p>
        </p:txBody>
      </p:sp>
      <p:grpSp>
        <p:nvGrpSpPr>
          <p:cNvPr id="39" name="组合 38"/>
          <p:cNvGrpSpPr/>
          <p:nvPr/>
        </p:nvGrpSpPr>
        <p:grpSpPr>
          <a:xfrm>
            <a:off x="4235261" y="2161969"/>
            <a:ext cx="4165845" cy="1143000"/>
            <a:chOff x="4235261" y="2103118"/>
            <a:chExt cx="4165845" cy="1143000"/>
          </a:xfrm>
        </p:grpSpPr>
        <p:grpSp>
          <p:nvGrpSpPr>
            <p:cNvPr id="40" name="组合 39"/>
            <p:cNvGrpSpPr/>
            <p:nvPr/>
          </p:nvGrpSpPr>
          <p:grpSpPr>
            <a:xfrm>
              <a:off x="4235261" y="2103118"/>
              <a:ext cx="3864782" cy="1143000"/>
              <a:chOff x="4313639" y="2103118"/>
              <a:chExt cx="3864782" cy="1143000"/>
            </a:xfrm>
          </p:grpSpPr>
          <p:sp>
            <p:nvSpPr>
              <p:cNvPr id="42" name="Freeform 24"/>
              <p:cNvSpPr>
                <a:spLocks/>
              </p:cNvSpPr>
              <p:nvPr/>
            </p:nvSpPr>
            <p:spPr bwMode="auto">
              <a:xfrm>
                <a:off x="4313639" y="2103118"/>
                <a:ext cx="3073400" cy="1143000"/>
              </a:xfrm>
              <a:custGeom>
                <a:avLst/>
                <a:gdLst>
                  <a:gd name="T0" fmla="*/ 0 w 2688"/>
                  <a:gd name="T1" fmla="*/ 960 h 960"/>
                  <a:gd name="T2" fmla="*/ 2688 w 2688"/>
                  <a:gd name="T3" fmla="*/ 960 h 960"/>
                  <a:gd name="T4" fmla="*/ 2688 w 2688"/>
                  <a:gd name="T5" fmla="*/ 0 h 960"/>
                  <a:gd name="T6" fmla="*/ 0 w 2688"/>
                  <a:gd name="T7" fmla="*/ 0 h 960"/>
                </a:gdLst>
                <a:ahLst/>
                <a:cxnLst>
                  <a:cxn ang="0">
                    <a:pos x="T0" y="T1"/>
                  </a:cxn>
                  <a:cxn ang="0">
                    <a:pos x="T2" y="T3"/>
                  </a:cxn>
                  <a:cxn ang="0">
                    <a:pos x="T4" y="T5"/>
                  </a:cxn>
                  <a:cxn ang="0">
                    <a:pos x="T6" y="T7"/>
                  </a:cxn>
                </a:cxnLst>
                <a:rect l="0" t="0" r="r" b="b"/>
                <a:pathLst>
                  <a:path w="2688" h="960">
                    <a:moveTo>
                      <a:pt x="0" y="960"/>
                    </a:moveTo>
                    <a:lnTo>
                      <a:pt x="2688" y="960"/>
                    </a:lnTo>
                    <a:lnTo>
                      <a:pt x="2688" y="0"/>
                    </a:lnTo>
                    <a:lnTo>
                      <a:pt x="0" y="0"/>
                    </a:lnTo>
                  </a:path>
                </a:pathLst>
              </a:custGeom>
              <a:solidFill>
                <a:srgbClr val="66CCFF"/>
              </a:solidFill>
              <a:ln w="19050">
                <a:solidFill>
                  <a:schemeClr val="tx1"/>
                </a:solidFill>
                <a:round/>
                <a:headEnd/>
                <a:tailEnd/>
              </a:ln>
              <a:effectLst/>
            </p:spPr>
            <p:txBody>
              <a:bodyPr/>
              <a:lstStyle/>
              <a:p>
                <a:endParaRPr lang="zh-CN" altLang="en-US"/>
              </a:p>
            </p:txBody>
          </p:sp>
          <p:sp>
            <p:nvSpPr>
              <p:cNvPr id="43" name="Line 20"/>
              <p:cNvSpPr>
                <a:spLocks noChangeShapeType="1"/>
              </p:cNvSpPr>
              <p:nvPr/>
            </p:nvSpPr>
            <p:spPr bwMode="auto">
              <a:xfrm>
                <a:off x="6603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21"/>
              <p:cNvSpPr>
                <a:spLocks noChangeShapeType="1"/>
              </p:cNvSpPr>
              <p:nvPr/>
            </p:nvSpPr>
            <p:spPr bwMode="auto">
              <a:xfrm>
                <a:off x="5841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22"/>
              <p:cNvSpPr>
                <a:spLocks noChangeShapeType="1"/>
              </p:cNvSpPr>
              <p:nvPr/>
            </p:nvSpPr>
            <p:spPr bwMode="auto">
              <a:xfrm>
                <a:off x="5079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25"/>
              <p:cNvSpPr>
                <a:spLocks noChangeShapeType="1"/>
              </p:cNvSpPr>
              <p:nvPr/>
            </p:nvSpPr>
            <p:spPr bwMode="auto">
              <a:xfrm>
                <a:off x="7387039" y="2674616"/>
                <a:ext cx="288000" cy="1"/>
              </a:xfrm>
              <a:prstGeom prst="line">
                <a:avLst/>
              </a:prstGeom>
              <a:noFill/>
              <a:ln w="571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Oval 2058"/>
              <p:cNvSpPr>
                <a:spLocks noChangeArrowheads="1"/>
              </p:cNvSpPr>
              <p:nvPr/>
            </p:nvSpPr>
            <p:spPr bwMode="auto">
              <a:xfrm>
                <a:off x="7674421" y="2416627"/>
                <a:ext cx="504000" cy="504000"/>
              </a:xfrm>
              <a:prstGeom prst="ellipse">
                <a:avLst/>
              </a:prstGeom>
              <a:solidFill>
                <a:srgbClr val="0066FF"/>
              </a:solidFill>
              <a:ln w="12700">
                <a:solidFill>
                  <a:schemeClr val="tx1"/>
                </a:solidFill>
                <a:round/>
                <a:headEnd type="none" w="sm" len="sm"/>
                <a:tailEnd type="none" w="sm" len="sm"/>
              </a:ln>
            </p:spPr>
            <p:txBody>
              <a:bodyPr wrap="none" anchor="ctr"/>
              <a:lstStyle/>
              <a:p>
                <a:endParaRPr lang="en-US"/>
              </a:p>
            </p:txBody>
          </p:sp>
        </p:grpSp>
        <p:sp>
          <p:nvSpPr>
            <p:cNvPr id="41" name="Line 25"/>
            <p:cNvSpPr>
              <a:spLocks noChangeShapeType="1"/>
            </p:cNvSpPr>
            <p:nvPr/>
          </p:nvSpPr>
          <p:spPr bwMode="auto">
            <a:xfrm>
              <a:off x="8113106" y="2674616"/>
              <a:ext cx="288000" cy="1"/>
            </a:xfrm>
            <a:prstGeom prst="line">
              <a:avLst/>
            </a:prstGeom>
            <a:noFill/>
            <a:ln w="571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5" name="Line 25"/>
          <p:cNvSpPr>
            <a:spLocks noChangeShapeType="1"/>
          </p:cNvSpPr>
          <p:nvPr/>
        </p:nvSpPr>
        <p:spPr bwMode="auto">
          <a:xfrm flipV="1">
            <a:off x="4260713" y="3355043"/>
            <a:ext cx="0" cy="495300"/>
          </a:xfrm>
          <a:prstGeom prst="line">
            <a:avLst/>
          </a:prstGeom>
          <a:noFill/>
          <a:ln w="3810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Text Box 26"/>
          <p:cNvSpPr txBox="1">
            <a:spLocks noChangeArrowheads="1"/>
          </p:cNvSpPr>
          <p:nvPr/>
        </p:nvSpPr>
        <p:spPr bwMode="auto">
          <a:xfrm>
            <a:off x="4263664" y="3532827"/>
            <a:ext cx="1261884" cy="307777"/>
          </a:xfrm>
          <a:prstGeom prst="rect">
            <a:avLst/>
          </a:prstGeom>
          <a:noFill/>
          <a:ln>
            <a:noFill/>
          </a:ln>
          <a:effectLst/>
        </p:spPr>
        <p:txBody>
          <a:bodyPr wrap="none">
            <a:spAutoFit/>
          </a:bodyPr>
          <a:lstStyle/>
          <a:p>
            <a:pPr algn="l" eaLnBrk="1" hangingPunct="1"/>
            <a:r>
              <a:rPr lang="zh-CN" altLang="en-US" sz="1400" b="1" dirty="0">
                <a:solidFill>
                  <a:srgbClr val="000099"/>
                </a:solidFill>
                <a:effectLst/>
                <a:latin typeface="微软雅黑" pitchFamily="34" charset="-122"/>
                <a:ea typeface="微软雅黑" pitchFamily="34" charset="-122"/>
              </a:rPr>
              <a:t>最大队列长度</a:t>
            </a:r>
            <a:endParaRPr lang="en-US" altLang="zh-TW" sz="1400" b="1" dirty="0">
              <a:solidFill>
                <a:srgbClr val="000099"/>
              </a:solidFill>
              <a:effectLst/>
              <a:latin typeface="微软雅黑" pitchFamily="34" charset="-122"/>
              <a:ea typeface="微软雅黑" pitchFamily="34" charset="-122"/>
            </a:endParaRPr>
          </a:p>
        </p:txBody>
      </p:sp>
      <p:sp>
        <p:nvSpPr>
          <p:cNvPr id="5" name="Rectangle 5"/>
          <p:cNvSpPr>
            <a:spLocks noChangeArrowheads="1"/>
          </p:cNvSpPr>
          <p:nvPr/>
        </p:nvSpPr>
        <p:spPr bwMode="auto">
          <a:xfrm>
            <a:off x="6777439" y="2606106"/>
            <a:ext cx="457200" cy="228600"/>
          </a:xfrm>
          <a:prstGeom prst="rect">
            <a:avLst/>
          </a:prstGeom>
          <a:solidFill>
            <a:srgbClr val="FFFF00"/>
          </a:solidFill>
          <a:ln w="9525" algn="ctr">
            <a:solidFill>
              <a:schemeClr val="tx1"/>
            </a:solidFill>
            <a:miter lim="800000"/>
            <a:headEnd/>
            <a:tailEnd/>
          </a:ln>
          <a:effectLst/>
        </p:spPr>
        <p:txBody>
          <a:bodyPr wrap="none" anchor="ctr"/>
          <a:lstStyle/>
          <a:p>
            <a:endParaRPr lang="zh-CN" altLang="en-US"/>
          </a:p>
        </p:txBody>
      </p:sp>
      <p:sp>
        <p:nvSpPr>
          <p:cNvPr id="6" name="Rectangle 6"/>
          <p:cNvSpPr>
            <a:spLocks noChangeArrowheads="1"/>
          </p:cNvSpPr>
          <p:nvPr/>
        </p:nvSpPr>
        <p:spPr bwMode="auto">
          <a:xfrm>
            <a:off x="6015439" y="2606106"/>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7" name="Rectangle 7"/>
          <p:cNvSpPr>
            <a:spLocks noChangeArrowheads="1"/>
          </p:cNvSpPr>
          <p:nvPr/>
        </p:nvSpPr>
        <p:spPr bwMode="auto">
          <a:xfrm>
            <a:off x="5177239" y="2606106"/>
            <a:ext cx="457200" cy="228600"/>
          </a:xfrm>
          <a:prstGeom prst="rect">
            <a:avLst/>
          </a:prstGeom>
          <a:solidFill>
            <a:srgbClr val="FFFF00"/>
          </a:solidFill>
          <a:ln w="9525" algn="ctr">
            <a:solidFill>
              <a:schemeClr val="tx1"/>
            </a:solidFill>
            <a:miter lim="800000"/>
            <a:headEnd/>
            <a:tailEnd/>
          </a:ln>
          <a:effectLst/>
        </p:spPr>
        <p:txBody>
          <a:bodyPr wrap="none" anchor="ctr"/>
          <a:lstStyle/>
          <a:p>
            <a:endParaRPr lang="zh-CN" altLang="en-US"/>
          </a:p>
        </p:txBody>
      </p:sp>
      <p:sp>
        <p:nvSpPr>
          <p:cNvPr id="8" name="Rectangle 8"/>
          <p:cNvSpPr>
            <a:spLocks noChangeArrowheads="1"/>
          </p:cNvSpPr>
          <p:nvPr/>
        </p:nvSpPr>
        <p:spPr bwMode="auto">
          <a:xfrm>
            <a:off x="4415239" y="2606106"/>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Tree>
    <p:extLst>
      <p:ext uri="{BB962C8B-B14F-4D97-AF65-F5344CB8AC3E}">
        <p14:creationId xmlns:p14="http://schemas.microsoft.com/office/powerpoint/2010/main" val="3801935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000" fill="hold"/>
                                        <p:tgtEl>
                                          <p:spTgt spid="5"/>
                                        </p:tgtEl>
                                        <p:attrNameLst>
                                          <p:attrName>ppt_x</p:attrName>
                                        </p:attrNameLst>
                                      </p:cBhvr>
                                      <p:tavLst>
                                        <p:tav tm="0">
                                          <p:val>
                                            <p:strVal val="0-#ppt_w/2"/>
                                          </p:val>
                                        </p:tav>
                                        <p:tav tm="100000">
                                          <p:val>
                                            <p:strVal val="#ppt_x"/>
                                          </p:val>
                                        </p:tav>
                                      </p:tavLst>
                                    </p:anim>
                                    <p:anim calcmode="lin" valueType="num">
                                      <p:cBhvr additive="base">
                                        <p:cTn id="8" dur="2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2000" fill="hold"/>
                                        <p:tgtEl>
                                          <p:spTgt spid="6"/>
                                        </p:tgtEl>
                                        <p:attrNameLst>
                                          <p:attrName>ppt_x</p:attrName>
                                        </p:attrNameLst>
                                      </p:cBhvr>
                                      <p:tavLst>
                                        <p:tav tm="0">
                                          <p:val>
                                            <p:strVal val="0-#ppt_w/2"/>
                                          </p:val>
                                        </p:tav>
                                        <p:tav tm="100000">
                                          <p:val>
                                            <p:strVal val="#ppt_x"/>
                                          </p:val>
                                        </p:tav>
                                      </p:tavLst>
                                    </p:anim>
                                    <p:anim calcmode="lin" valueType="num">
                                      <p:cBhvr additive="base">
                                        <p:cTn id="12" dur="20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2000" fill="hold"/>
                                        <p:tgtEl>
                                          <p:spTgt spid="7"/>
                                        </p:tgtEl>
                                        <p:attrNameLst>
                                          <p:attrName>ppt_x</p:attrName>
                                        </p:attrNameLst>
                                      </p:cBhvr>
                                      <p:tavLst>
                                        <p:tav tm="0">
                                          <p:val>
                                            <p:strVal val="0-#ppt_w/2"/>
                                          </p:val>
                                        </p:tav>
                                        <p:tav tm="100000">
                                          <p:val>
                                            <p:strVal val="#ppt_x"/>
                                          </p:val>
                                        </p:tav>
                                      </p:tavLst>
                                    </p:anim>
                                    <p:anim calcmode="lin" valueType="num">
                                      <p:cBhvr additive="base">
                                        <p:cTn id="16" dur="20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2000" fill="hold"/>
                                        <p:tgtEl>
                                          <p:spTgt spid="8"/>
                                        </p:tgtEl>
                                        <p:attrNameLst>
                                          <p:attrName>ppt_x</p:attrName>
                                        </p:attrNameLst>
                                      </p:cBhvr>
                                      <p:tavLst>
                                        <p:tav tm="0">
                                          <p:val>
                                            <p:strVal val="0-#ppt_w/2"/>
                                          </p:val>
                                        </p:tav>
                                        <p:tav tm="100000">
                                          <p:val>
                                            <p:strVal val="#ppt_x"/>
                                          </p:val>
                                        </p:tav>
                                      </p:tavLst>
                                    </p:anim>
                                    <p:anim calcmode="lin" valueType="num">
                                      <p:cBhvr additive="base">
                                        <p:cTn id="20" dur="2000" fill="hold"/>
                                        <p:tgtEl>
                                          <p:spTgt spid="8"/>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2000" fill="hold"/>
                                        <p:tgtEl>
                                          <p:spTgt spid="9"/>
                                        </p:tgtEl>
                                        <p:attrNameLst>
                                          <p:attrName>ppt_x</p:attrName>
                                        </p:attrNameLst>
                                      </p:cBhvr>
                                      <p:tavLst>
                                        <p:tav tm="0">
                                          <p:val>
                                            <p:strVal val="0-#ppt_w/2"/>
                                          </p:val>
                                        </p:tav>
                                        <p:tav tm="100000">
                                          <p:val>
                                            <p:strVal val="#ppt_x"/>
                                          </p:val>
                                        </p:tav>
                                      </p:tavLst>
                                    </p:anim>
                                    <p:anim calcmode="lin" valueType="num">
                                      <p:cBhvr additive="base">
                                        <p:cTn id="24" dur="2000" fill="hold"/>
                                        <p:tgtEl>
                                          <p:spTgt spid="9"/>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2000" fill="hold"/>
                                        <p:tgtEl>
                                          <p:spTgt spid="10"/>
                                        </p:tgtEl>
                                        <p:attrNameLst>
                                          <p:attrName>ppt_x</p:attrName>
                                        </p:attrNameLst>
                                      </p:cBhvr>
                                      <p:tavLst>
                                        <p:tav tm="0">
                                          <p:val>
                                            <p:strVal val="0-#ppt_w/2"/>
                                          </p:val>
                                        </p:tav>
                                        <p:tav tm="100000">
                                          <p:val>
                                            <p:strVal val="#ppt_x"/>
                                          </p:val>
                                        </p:tav>
                                      </p:tavLst>
                                    </p:anim>
                                    <p:anim calcmode="lin" valueType="num">
                                      <p:cBhvr additive="base">
                                        <p:cTn id="28" dur="2000" fill="hold"/>
                                        <p:tgtEl>
                                          <p:spTgt spid="10"/>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2000" fill="hold"/>
                                        <p:tgtEl>
                                          <p:spTgt spid="11"/>
                                        </p:tgtEl>
                                        <p:attrNameLst>
                                          <p:attrName>ppt_x</p:attrName>
                                        </p:attrNameLst>
                                      </p:cBhvr>
                                      <p:tavLst>
                                        <p:tav tm="0">
                                          <p:val>
                                            <p:strVal val="0-#ppt_w/2"/>
                                          </p:val>
                                        </p:tav>
                                        <p:tav tm="100000">
                                          <p:val>
                                            <p:strVal val="#ppt_x"/>
                                          </p:val>
                                        </p:tav>
                                      </p:tavLst>
                                    </p:anim>
                                    <p:anim calcmode="lin" valueType="num">
                                      <p:cBhvr additive="base">
                                        <p:cTn id="32" dur="2000" fill="hold"/>
                                        <p:tgtEl>
                                          <p:spTgt spid="11"/>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2000" fill="hold"/>
                                        <p:tgtEl>
                                          <p:spTgt spid="17"/>
                                        </p:tgtEl>
                                        <p:attrNameLst>
                                          <p:attrName>ppt_x</p:attrName>
                                        </p:attrNameLst>
                                      </p:cBhvr>
                                      <p:tavLst>
                                        <p:tav tm="0">
                                          <p:val>
                                            <p:strVal val="0-#ppt_w/2"/>
                                          </p:val>
                                        </p:tav>
                                        <p:tav tm="100000">
                                          <p:val>
                                            <p:strVal val="#ppt_x"/>
                                          </p:val>
                                        </p:tav>
                                      </p:tavLst>
                                    </p:anim>
                                    <p:anim calcmode="lin" valueType="num">
                                      <p:cBhvr additive="base">
                                        <p:cTn id="36" dur="2000" fill="hold"/>
                                        <p:tgtEl>
                                          <p:spTgt spid="17"/>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additive="base">
                                        <p:cTn id="39" dur="2000" fill="hold"/>
                                        <p:tgtEl>
                                          <p:spTgt spid="18"/>
                                        </p:tgtEl>
                                        <p:attrNameLst>
                                          <p:attrName>ppt_x</p:attrName>
                                        </p:attrNameLst>
                                      </p:cBhvr>
                                      <p:tavLst>
                                        <p:tav tm="0">
                                          <p:val>
                                            <p:strVal val="0-#ppt_w/2"/>
                                          </p:val>
                                        </p:tav>
                                        <p:tav tm="100000">
                                          <p:val>
                                            <p:strVal val="#ppt_x"/>
                                          </p:val>
                                        </p:tav>
                                      </p:tavLst>
                                    </p:anim>
                                    <p:anim calcmode="lin" valueType="num">
                                      <p:cBhvr additive="base">
                                        <p:cTn id="40" dur="2000" fill="hold"/>
                                        <p:tgtEl>
                                          <p:spTgt spid="18"/>
                                        </p:tgtEl>
                                        <p:attrNameLst>
                                          <p:attrName>ppt_y</p:attrName>
                                        </p:attrNameLst>
                                      </p:cBhvr>
                                      <p:tavLst>
                                        <p:tav tm="0">
                                          <p:val>
                                            <p:strVal val="#ppt_y"/>
                                          </p:val>
                                        </p:tav>
                                        <p:tav tm="100000">
                                          <p:val>
                                            <p:strVal val="#ppt_y"/>
                                          </p:val>
                                        </p:tav>
                                      </p:tavLst>
                                    </p:anim>
                                  </p:childTnLst>
                                </p:cTn>
                              </p:par>
                            </p:childTnLst>
                          </p:cTn>
                        </p:par>
                        <p:par>
                          <p:cTn id="41" fill="hold">
                            <p:stCondLst>
                              <p:cond delay="2000"/>
                            </p:stCondLst>
                            <p:childTnLst>
                              <p:par>
                                <p:cTn id="42" presetID="2" presetClass="exit" presetSubtype="4" fill="hold" grpId="1" nodeType="afterEffect">
                                  <p:stCondLst>
                                    <p:cond delay="1000"/>
                                  </p:stCondLst>
                                  <p:childTnLst>
                                    <p:anim calcmode="lin" valueType="num">
                                      <p:cBhvr additive="base">
                                        <p:cTn id="43" dur="2000"/>
                                        <p:tgtEl>
                                          <p:spTgt spid="9"/>
                                        </p:tgtEl>
                                        <p:attrNameLst>
                                          <p:attrName>ppt_x</p:attrName>
                                        </p:attrNameLst>
                                      </p:cBhvr>
                                      <p:tavLst>
                                        <p:tav tm="0">
                                          <p:val>
                                            <p:strVal val="ppt_x"/>
                                          </p:val>
                                        </p:tav>
                                        <p:tav tm="100000">
                                          <p:val>
                                            <p:strVal val="ppt_x"/>
                                          </p:val>
                                        </p:tav>
                                      </p:tavLst>
                                    </p:anim>
                                    <p:anim calcmode="lin" valueType="num">
                                      <p:cBhvr additive="base">
                                        <p:cTn id="44" dur="2000"/>
                                        <p:tgtEl>
                                          <p:spTgt spid="9"/>
                                        </p:tgtEl>
                                        <p:attrNameLst>
                                          <p:attrName>ppt_y</p:attrName>
                                        </p:attrNameLst>
                                      </p:cBhvr>
                                      <p:tavLst>
                                        <p:tav tm="0">
                                          <p:val>
                                            <p:strVal val="ppt_y"/>
                                          </p:val>
                                        </p:tav>
                                        <p:tav tm="100000">
                                          <p:val>
                                            <p:strVal val="1+ppt_h/2"/>
                                          </p:val>
                                        </p:tav>
                                      </p:tavLst>
                                    </p:anim>
                                    <p:set>
                                      <p:cBhvr>
                                        <p:cTn id="45" dur="1" fill="hold">
                                          <p:stCondLst>
                                            <p:cond delay="1999"/>
                                          </p:stCondLst>
                                        </p:cTn>
                                        <p:tgtEl>
                                          <p:spTgt spid="9"/>
                                        </p:tgtEl>
                                        <p:attrNameLst>
                                          <p:attrName>style.visibility</p:attrName>
                                        </p:attrNameLst>
                                      </p:cBhvr>
                                      <p:to>
                                        <p:strVal val="hidden"/>
                                      </p:to>
                                    </p:set>
                                  </p:childTnLst>
                                </p:cTn>
                              </p:par>
                              <p:par>
                                <p:cTn id="46" presetID="2" presetClass="exit" presetSubtype="4" fill="hold" grpId="1" nodeType="withEffect">
                                  <p:stCondLst>
                                    <p:cond delay="1000"/>
                                  </p:stCondLst>
                                  <p:childTnLst>
                                    <p:anim calcmode="lin" valueType="num">
                                      <p:cBhvr additive="base">
                                        <p:cTn id="47" dur="2000"/>
                                        <p:tgtEl>
                                          <p:spTgt spid="10"/>
                                        </p:tgtEl>
                                        <p:attrNameLst>
                                          <p:attrName>ppt_x</p:attrName>
                                        </p:attrNameLst>
                                      </p:cBhvr>
                                      <p:tavLst>
                                        <p:tav tm="0">
                                          <p:val>
                                            <p:strVal val="ppt_x"/>
                                          </p:val>
                                        </p:tav>
                                        <p:tav tm="100000">
                                          <p:val>
                                            <p:strVal val="ppt_x"/>
                                          </p:val>
                                        </p:tav>
                                      </p:tavLst>
                                    </p:anim>
                                    <p:anim calcmode="lin" valueType="num">
                                      <p:cBhvr additive="base">
                                        <p:cTn id="48" dur="2000"/>
                                        <p:tgtEl>
                                          <p:spTgt spid="10"/>
                                        </p:tgtEl>
                                        <p:attrNameLst>
                                          <p:attrName>ppt_y</p:attrName>
                                        </p:attrNameLst>
                                      </p:cBhvr>
                                      <p:tavLst>
                                        <p:tav tm="0">
                                          <p:val>
                                            <p:strVal val="ppt_y"/>
                                          </p:val>
                                        </p:tav>
                                        <p:tav tm="100000">
                                          <p:val>
                                            <p:strVal val="1+ppt_h/2"/>
                                          </p:val>
                                        </p:tav>
                                      </p:tavLst>
                                    </p:anim>
                                    <p:set>
                                      <p:cBhvr>
                                        <p:cTn id="49" dur="1" fill="hold">
                                          <p:stCondLst>
                                            <p:cond delay="1999"/>
                                          </p:stCondLst>
                                        </p:cTn>
                                        <p:tgtEl>
                                          <p:spTgt spid="10"/>
                                        </p:tgtEl>
                                        <p:attrNameLst>
                                          <p:attrName>style.visibility</p:attrName>
                                        </p:attrNameLst>
                                      </p:cBhvr>
                                      <p:to>
                                        <p:strVal val="hidden"/>
                                      </p:to>
                                    </p:set>
                                  </p:childTnLst>
                                </p:cTn>
                              </p:par>
                              <p:par>
                                <p:cTn id="50" presetID="2" presetClass="exit" presetSubtype="4" fill="hold" grpId="1" nodeType="withEffect">
                                  <p:stCondLst>
                                    <p:cond delay="1000"/>
                                  </p:stCondLst>
                                  <p:childTnLst>
                                    <p:anim calcmode="lin" valueType="num">
                                      <p:cBhvr additive="base">
                                        <p:cTn id="51" dur="2000"/>
                                        <p:tgtEl>
                                          <p:spTgt spid="11"/>
                                        </p:tgtEl>
                                        <p:attrNameLst>
                                          <p:attrName>ppt_x</p:attrName>
                                        </p:attrNameLst>
                                      </p:cBhvr>
                                      <p:tavLst>
                                        <p:tav tm="0">
                                          <p:val>
                                            <p:strVal val="ppt_x"/>
                                          </p:val>
                                        </p:tav>
                                        <p:tav tm="100000">
                                          <p:val>
                                            <p:strVal val="ppt_x"/>
                                          </p:val>
                                        </p:tav>
                                      </p:tavLst>
                                    </p:anim>
                                    <p:anim calcmode="lin" valueType="num">
                                      <p:cBhvr additive="base">
                                        <p:cTn id="52" dur="2000"/>
                                        <p:tgtEl>
                                          <p:spTgt spid="11"/>
                                        </p:tgtEl>
                                        <p:attrNameLst>
                                          <p:attrName>ppt_y</p:attrName>
                                        </p:attrNameLst>
                                      </p:cBhvr>
                                      <p:tavLst>
                                        <p:tav tm="0">
                                          <p:val>
                                            <p:strVal val="ppt_y"/>
                                          </p:val>
                                        </p:tav>
                                        <p:tav tm="100000">
                                          <p:val>
                                            <p:strVal val="1+ppt_h/2"/>
                                          </p:val>
                                        </p:tav>
                                      </p:tavLst>
                                    </p:anim>
                                    <p:set>
                                      <p:cBhvr>
                                        <p:cTn id="53" dur="1" fill="hold">
                                          <p:stCondLst>
                                            <p:cond delay="1999"/>
                                          </p:stCondLst>
                                        </p:cTn>
                                        <p:tgtEl>
                                          <p:spTgt spid="11"/>
                                        </p:tgtEl>
                                        <p:attrNameLst>
                                          <p:attrName>style.visibility</p:attrName>
                                        </p:attrNameLst>
                                      </p:cBhvr>
                                      <p:to>
                                        <p:strVal val="hidden"/>
                                      </p:to>
                                    </p:set>
                                  </p:childTnLst>
                                </p:cTn>
                              </p:par>
                              <p:par>
                                <p:cTn id="54" presetID="2" presetClass="exit" presetSubtype="4" fill="hold" grpId="1" nodeType="withEffect">
                                  <p:stCondLst>
                                    <p:cond delay="1000"/>
                                  </p:stCondLst>
                                  <p:childTnLst>
                                    <p:anim calcmode="lin" valueType="num">
                                      <p:cBhvr additive="base">
                                        <p:cTn id="55" dur="2000"/>
                                        <p:tgtEl>
                                          <p:spTgt spid="17"/>
                                        </p:tgtEl>
                                        <p:attrNameLst>
                                          <p:attrName>ppt_x</p:attrName>
                                        </p:attrNameLst>
                                      </p:cBhvr>
                                      <p:tavLst>
                                        <p:tav tm="0">
                                          <p:val>
                                            <p:strVal val="ppt_x"/>
                                          </p:val>
                                        </p:tav>
                                        <p:tav tm="100000">
                                          <p:val>
                                            <p:strVal val="ppt_x"/>
                                          </p:val>
                                        </p:tav>
                                      </p:tavLst>
                                    </p:anim>
                                    <p:anim calcmode="lin" valueType="num">
                                      <p:cBhvr additive="base">
                                        <p:cTn id="56" dur="2000"/>
                                        <p:tgtEl>
                                          <p:spTgt spid="17"/>
                                        </p:tgtEl>
                                        <p:attrNameLst>
                                          <p:attrName>ppt_y</p:attrName>
                                        </p:attrNameLst>
                                      </p:cBhvr>
                                      <p:tavLst>
                                        <p:tav tm="0">
                                          <p:val>
                                            <p:strVal val="ppt_y"/>
                                          </p:val>
                                        </p:tav>
                                        <p:tav tm="100000">
                                          <p:val>
                                            <p:strVal val="1+ppt_h/2"/>
                                          </p:val>
                                        </p:tav>
                                      </p:tavLst>
                                    </p:anim>
                                    <p:set>
                                      <p:cBhvr>
                                        <p:cTn id="57" dur="1" fill="hold">
                                          <p:stCondLst>
                                            <p:cond delay="1999"/>
                                          </p:stCondLst>
                                        </p:cTn>
                                        <p:tgtEl>
                                          <p:spTgt spid="17"/>
                                        </p:tgtEl>
                                        <p:attrNameLst>
                                          <p:attrName>style.visibility</p:attrName>
                                        </p:attrNameLst>
                                      </p:cBhvr>
                                      <p:to>
                                        <p:strVal val="hidden"/>
                                      </p:to>
                                    </p:set>
                                  </p:childTnLst>
                                </p:cTn>
                              </p:par>
                              <p:par>
                                <p:cTn id="58" presetID="2" presetClass="exit" presetSubtype="4" fill="hold" grpId="1" nodeType="withEffect">
                                  <p:stCondLst>
                                    <p:cond delay="1000"/>
                                  </p:stCondLst>
                                  <p:childTnLst>
                                    <p:anim calcmode="lin" valueType="num">
                                      <p:cBhvr additive="base">
                                        <p:cTn id="59" dur="2000"/>
                                        <p:tgtEl>
                                          <p:spTgt spid="18"/>
                                        </p:tgtEl>
                                        <p:attrNameLst>
                                          <p:attrName>ppt_x</p:attrName>
                                        </p:attrNameLst>
                                      </p:cBhvr>
                                      <p:tavLst>
                                        <p:tav tm="0">
                                          <p:val>
                                            <p:strVal val="ppt_x"/>
                                          </p:val>
                                        </p:tav>
                                        <p:tav tm="100000">
                                          <p:val>
                                            <p:strVal val="ppt_x"/>
                                          </p:val>
                                        </p:tav>
                                      </p:tavLst>
                                    </p:anim>
                                    <p:anim calcmode="lin" valueType="num">
                                      <p:cBhvr additive="base">
                                        <p:cTn id="60" dur="2000"/>
                                        <p:tgtEl>
                                          <p:spTgt spid="18"/>
                                        </p:tgtEl>
                                        <p:attrNameLst>
                                          <p:attrName>ppt_y</p:attrName>
                                        </p:attrNameLst>
                                      </p:cBhvr>
                                      <p:tavLst>
                                        <p:tav tm="0">
                                          <p:val>
                                            <p:strVal val="ppt_y"/>
                                          </p:val>
                                        </p:tav>
                                        <p:tav tm="100000">
                                          <p:val>
                                            <p:strVal val="1+ppt_h/2"/>
                                          </p:val>
                                        </p:tav>
                                      </p:tavLst>
                                    </p:anim>
                                    <p:set>
                                      <p:cBhvr>
                                        <p:cTn id="61" dur="1" fill="hold">
                                          <p:stCondLst>
                                            <p:cond delay="19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0" grpId="1" animBg="1"/>
      <p:bldP spid="11" grpId="0" animBg="1"/>
      <p:bldP spid="11" grpId="1" animBg="1"/>
      <p:bldP spid="17" grpId="0" animBg="1"/>
      <p:bldP spid="17" grpId="1" animBg="1"/>
      <p:bldP spid="18" grpId="0" animBg="1"/>
      <p:bldP spid="18" grpId="1" animBg="1"/>
      <p:bldP spid="5" grpId="0" animBg="1"/>
      <p:bldP spid="6" grpId="0" animBg="1"/>
      <p:bldP spid="7" grpId="0" animBg="1"/>
      <p:bldP spid="8" grpId="0" animBg="1"/>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56963" y="1008799"/>
            <a:ext cx="8048776" cy="331810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1621410" y="1153249"/>
            <a:ext cx="6099143" cy="333553"/>
          </a:xfrm>
          <a:prstGeom prst="rect">
            <a:avLst/>
          </a:prstGeom>
          <a:solidFill>
            <a:srgbClr val="000099"/>
          </a:solidFill>
        </p:spPr>
        <p:txBody>
          <a:bodyPr wrap="square" anchor="ctr">
            <a:spAutoFit/>
          </a:bodyPr>
          <a:lstStyle/>
          <a:p>
            <a:pPr algn="ctr">
              <a:lnSpc>
                <a:spcPts val="2000"/>
              </a:lnSpc>
            </a:pPr>
            <a:r>
              <a:rPr lang="zh-CN" altLang="en-US" sz="1600" b="1" dirty="0">
                <a:solidFill>
                  <a:schemeClr val="bg1"/>
                </a:solidFill>
                <a:latin typeface="微软雅黑" pitchFamily="34" charset="-122"/>
                <a:ea typeface="微软雅黑" pitchFamily="34" charset="-122"/>
              </a:rPr>
              <a:t>分组丢弃使发送方出现超时重传，使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连接进入</a:t>
            </a:r>
            <a:r>
              <a:rPr lang="zh-CN" altLang="en-US" sz="1600" b="1" dirty="0">
                <a:solidFill>
                  <a:srgbClr val="FFC000"/>
                </a:solidFill>
                <a:latin typeface="微软雅黑" pitchFamily="34" charset="-122"/>
                <a:ea typeface="微软雅黑" pitchFamily="34" charset="-122"/>
              </a:rPr>
              <a:t>慢启动</a:t>
            </a:r>
            <a:r>
              <a:rPr lang="zh-CN" altLang="en-US" sz="1600" b="1" dirty="0">
                <a:solidFill>
                  <a:schemeClr val="bg1"/>
                </a:solidFill>
                <a:latin typeface="微软雅黑" pitchFamily="34" charset="-122"/>
                <a:ea typeface="微软雅黑" pitchFamily="34" charset="-122"/>
              </a:rPr>
              <a:t>状态。</a:t>
            </a:r>
          </a:p>
        </p:txBody>
      </p:sp>
      <p:sp>
        <p:nvSpPr>
          <p:cNvPr id="70" name="Line 6"/>
          <p:cNvSpPr>
            <a:spLocks noChangeShapeType="1"/>
          </p:cNvSpPr>
          <p:nvPr/>
        </p:nvSpPr>
        <p:spPr bwMode="auto">
          <a:xfrm>
            <a:off x="2286000" y="4035834"/>
            <a:ext cx="4724400" cy="15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1" name="Line 7"/>
          <p:cNvSpPr>
            <a:spLocks noChangeShapeType="1"/>
          </p:cNvSpPr>
          <p:nvPr/>
        </p:nvSpPr>
        <p:spPr bwMode="auto">
          <a:xfrm>
            <a:off x="2286000" y="2511834"/>
            <a:ext cx="4419600" cy="1588"/>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2" name="Text Box 8"/>
          <p:cNvSpPr txBox="1">
            <a:spLocks noChangeArrowheads="1"/>
          </p:cNvSpPr>
          <p:nvPr/>
        </p:nvSpPr>
        <p:spPr bwMode="auto">
          <a:xfrm>
            <a:off x="914400" y="2105179"/>
            <a:ext cx="1371600"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tIns="36000">
            <a:spAutoFit/>
          </a:bodyPr>
          <a:lstStyle/>
          <a:p>
            <a:pPr algn="r" eaLnBrk="1" latinLnBrk="1" hangingPunct="1">
              <a:spcBef>
                <a:spcPct val="50000"/>
              </a:spcBef>
              <a:buClr>
                <a:schemeClr val="folHlink"/>
              </a:buClr>
              <a:buFont typeface="Wingdings" pitchFamily="2" charset="2"/>
              <a:buNone/>
            </a:pPr>
            <a:r>
              <a:rPr kumimoji="1" lang="zh-CN" altLang="en-US" sz="1400" b="1" dirty="0">
                <a:effectLst/>
                <a:latin typeface="微软雅黑" pitchFamily="34" charset="-122"/>
                <a:ea typeface="微软雅黑" pitchFamily="34" charset="-122"/>
              </a:rPr>
              <a:t>队列长度</a:t>
            </a:r>
            <a:endParaRPr kumimoji="1" lang="en-US" altLang="ko-KR" sz="1400" b="1" dirty="0">
              <a:effectLst/>
              <a:latin typeface="微软雅黑" pitchFamily="34" charset="-122"/>
              <a:ea typeface="微软雅黑" pitchFamily="34" charset="-122"/>
            </a:endParaRPr>
          </a:p>
        </p:txBody>
      </p:sp>
      <p:sp>
        <p:nvSpPr>
          <p:cNvPr id="73" name="Text Box 9"/>
          <p:cNvSpPr txBox="1">
            <a:spLocks noChangeArrowheads="1"/>
          </p:cNvSpPr>
          <p:nvPr/>
        </p:nvSpPr>
        <p:spPr bwMode="auto">
          <a:xfrm>
            <a:off x="7010400" y="3877084"/>
            <a:ext cx="838200"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tIns="36000">
            <a:spAutoFit/>
          </a:bodyPr>
          <a:lstStyle/>
          <a:p>
            <a:pPr algn="l" eaLnBrk="1" latinLnBrk="1" hangingPunct="1">
              <a:spcBef>
                <a:spcPct val="50000"/>
              </a:spcBef>
              <a:buClr>
                <a:schemeClr val="folHlink"/>
              </a:buClr>
              <a:buFont typeface="Wingdings" pitchFamily="2" charset="2"/>
              <a:buNone/>
            </a:pPr>
            <a:r>
              <a:rPr kumimoji="1" lang="zh-CN" altLang="en-US" sz="1400" b="1" dirty="0">
                <a:effectLst/>
                <a:latin typeface="微软雅黑" pitchFamily="34" charset="-122"/>
                <a:ea typeface="微软雅黑" pitchFamily="34" charset="-122"/>
              </a:rPr>
              <a:t>时间</a:t>
            </a:r>
            <a:endParaRPr kumimoji="1" lang="en-US" altLang="ko-KR" sz="1400" b="1" dirty="0">
              <a:effectLst/>
              <a:latin typeface="微软雅黑" pitchFamily="34" charset="-122"/>
              <a:ea typeface="微软雅黑" pitchFamily="34" charset="-122"/>
            </a:endParaRPr>
          </a:p>
        </p:txBody>
      </p:sp>
      <p:sp>
        <p:nvSpPr>
          <p:cNvPr id="74" name="Freeform 10"/>
          <p:cNvSpPr>
            <a:spLocks/>
          </p:cNvSpPr>
          <p:nvPr/>
        </p:nvSpPr>
        <p:spPr bwMode="auto">
          <a:xfrm>
            <a:off x="22860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5" name="Line 11"/>
          <p:cNvSpPr>
            <a:spLocks noChangeShapeType="1"/>
          </p:cNvSpPr>
          <p:nvPr/>
        </p:nvSpPr>
        <p:spPr bwMode="auto">
          <a:xfrm>
            <a:off x="32004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6" name="Line 12"/>
          <p:cNvSpPr>
            <a:spLocks noChangeShapeType="1"/>
          </p:cNvSpPr>
          <p:nvPr/>
        </p:nvSpPr>
        <p:spPr bwMode="auto">
          <a:xfrm>
            <a:off x="2286000" y="3794534"/>
            <a:ext cx="4419600" cy="1588"/>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7" name="Freeform 13"/>
          <p:cNvSpPr>
            <a:spLocks/>
          </p:cNvSpPr>
          <p:nvPr/>
        </p:nvSpPr>
        <p:spPr bwMode="auto">
          <a:xfrm>
            <a:off x="32004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8" name="Line 14"/>
          <p:cNvSpPr>
            <a:spLocks noChangeShapeType="1"/>
          </p:cNvSpPr>
          <p:nvPr/>
        </p:nvSpPr>
        <p:spPr bwMode="auto">
          <a:xfrm>
            <a:off x="41148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9" name="Freeform 15"/>
          <p:cNvSpPr>
            <a:spLocks/>
          </p:cNvSpPr>
          <p:nvPr/>
        </p:nvSpPr>
        <p:spPr bwMode="auto">
          <a:xfrm>
            <a:off x="41148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0" name="Line 16"/>
          <p:cNvSpPr>
            <a:spLocks noChangeShapeType="1"/>
          </p:cNvSpPr>
          <p:nvPr/>
        </p:nvSpPr>
        <p:spPr bwMode="auto">
          <a:xfrm>
            <a:off x="50292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1" name="Freeform 17"/>
          <p:cNvSpPr>
            <a:spLocks/>
          </p:cNvSpPr>
          <p:nvPr/>
        </p:nvSpPr>
        <p:spPr bwMode="auto">
          <a:xfrm>
            <a:off x="50292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2" name="Line 18"/>
          <p:cNvSpPr>
            <a:spLocks noChangeShapeType="1"/>
          </p:cNvSpPr>
          <p:nvPr/>
        </p:nvSpPr>
        <p:spPr bwMode="auto">
          <a:xfrm>
            <a:off x="59436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3" name="Text Box 19"/>
          <p:cNvSpPr txBox="1">
            <a:spLocks noChangeArrowheads="1"/>
          </p:cNvSpPr>
          <p:nvPr/>
        </p:nvSpPr>
        <p:spPr bwMode="auto">
          <a:xfrm>
            <a:off x="6891311" y="2353084"/>
            <a:ext cx="957289"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tIns="36000">
            <a:spAutoFit/>
          </a:bodyPr>
          <a:lstStyle/>
          <a:p>
            <a:pPr algn="l" eaLnBrk="1" latinLnBrk="1" hangingPunct="1">
              <a:spcBef>
                <a:spcPct val="50000"/>
              </a:spcBef>
              <a:buClr>
                <a:schemeClr val="folHlink"/>
              </a:buClr>
              <a:buFont typeface="Wingdings" pitchFamily="2" charset="2"/>
              <a:buNone/>
            </a:pPr>
            <a:r>
              <a:rPr kumimoji="1" lang="zh-CN" altLang="en-US" sz="1400" b="1" dirty="0">
                <a:solidFill>
                  <a:srgbClr val="C00000"/>
                </a:solidFill>
                <a:effectLst/>
                <a:latin typeface="微软雅黑" pitchFamily="34" charset="-122"/>
                <a:ea typeface="微软雅黑" pitchFamily="34" charset="-122"/>
              </a:rPr>
              <a:t>队列满</a:t>
            </a:r>
            <a:endParaRPr kumimoji="1" lang="en-US" altLang="ko-KR" sz="1400" b="1" dirty="0">
              <a:solidFill>
                <a:srgbClr val="C00000"/>
              </a:solidFill>
              <a:effectLst/>
              <a:latin typeface="微软雅黑" pitchFamily="34" charset="-122"/>
              <a:ea typeface="微软雅黑" pitchFamily="34" charset="-122"/>
            </a:endParaRPr>
          </a:p>
        </p:txBody>
      </p:sp>
      <p:sp>
        <p:nvSpPr>
          <p:cNvPr id="84" name="Rectangle 20"/>
          <p:cNvSpPr>
            <a:spLocks noChangeArrowheads="1"/>
          </p:cNvSpPr>
          <p:nvPr/>
        </p:nvSpPr>
        <p:spPr bwMode="auto">
          <a:xfrm>
            <a:off x="2392092" y="1648619"/>
            <a:ext cx="1605143" cy="685800"/>
          </a:xfrm>
          <a:prstGeom prst="rect">
            <a:avLst/>
          </a:prstGeom>
          <a:solidFill>
            <a:srgbClr val="FFFF99"/>
          </a:solidFill>
          <a:ln w="9525">
            <a:solidFill>
              <a:schemeClr val="tx1"/>
            </a:solidFill>
            <a:miter lim="800000"/>
            <a:headEnd/>
            <a:tailEnd/>
          </a:ln>
          <a:effectLst/>
        </p:spPr>
        <p:txBody>
          <a:bodyPr lIns="90000" tIns="46800" rIns="90000" bIns="46800" anchor="ctr" anchorCtr="1"/>
          <a:lstStyle/>
          <a:p>
            <a:pPr algn="l" eaLnBrk="1" latinLnBrk="1" hangingPunct="1"/>
            <a:r>
              <a:rPr kumimoji="1" lang="zh-CN" altLang="en-US" sz="1100" b="1" dirty="0">
                <a:effectLst/>
                <a:latin typeface="微软雅黑" pitchFamily="34" charset="-122"/>
                <a:ea typeface="微软雅黑" pitchFamily="34" charset="-122"/>
              </a:rPr>
              <a:t>队列满时，</a:t>
            </a:r>
            <a:r>
              <a:rPr kumimoji="1" lang="en-US" altLang="zh-CN" sz="1100" b="1" dirty="0">
                <a:effectLst/>
                <a:latin typeface="微软雅黑" pitchFamily="34" charset="-122"/>
                <a:ea typeface="微软雅黑" pitchFamily="34" charset="-122"/>
              </a:rPr>
              <a:t>TCP </a:t>
            </a:r>
            <a:r>
              <a:rPr kumimoji="1" lang="zh-CN" altLang="en-US" sz="1100" b="1" dirty="0">
                <a:effectLst/>
                <a:latin typeface="微软雅黑" pitchFamily="34" charset="-122"/>
                <a:ea typeface="微软雅黑" pitchFamily="34" charset="-122"/>
              </a:rPr>
              <a:t>重传定时器超时，重新开始慢启动，减少数据率。</a:t>
            </a:r>
            <a:endParaRPr kumimoji="1" lang="en-US" altLang="ko-KR" sz="1100" b="1" dirty="0">
              <a:effectLst/>
              <a:latin typeface="微软雅黑" pitchFamily="34" charset="-122"/>
              <a:ea typeface="微软雅黑" pitchFamily="34" charset="-122"/>
            </a:endParaRPr>
          </a:p>
        </p:txBody>
      </p:sp>
      <p:sp>
        <p:nvSpPr>
          <p:cNvPr id="85" name="Line 21"/>
          <p:cNvSpPr>
            <a:spLocks noChangeShapeType="1"/>
          </p:cNvSpPr>
          <p:nvPr/>
        </p:nvSpPr>
        <p:spPr bwMode="auto">
          <a:xfrm>
            <a:off x="3807817" y="2334419"/>
            <a:ext cx="304800" cy="180704"/>
          </a:xfrm>
          <a:prstGeom prst="line">
            <a:avLst/>
          </a:prstGeom>
          <a:noFill/>
          <a:ln w="12700">
            <a:solidFill>
              <a:srgbClr val="C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86" name="Rectangle 22"/>
          <p:cNvSpPr>
            <a:spLocks noChangeArrowheads="1"/>
          </p:cNvSpPr>
          <p:nvPr/>
        </p:nvSpPr>
        <p:spPr bwMode="auto">
          <a:xfrm>
            <a:off x="4062543" y="1648619"/>
            <a:ext cx="1267890" cy="685800"/>
          </a:xfrm>
          <a:prstGeom prst="rect">
            <a:avLst/>
          </a:prstGeom>
          <a:solidFill>
            <a:srgbClr val="FFFF99"/>
          </a:solidFill>
          <a:ln w="9525">
            <a:solidFill>
              <a:schemeClr val="tx1"/>
            </a:solidFill>
            <a:miter lim="800000"/>
            <a:headEnd/>
            <a:tailEnd/>
          </a:ln>
          <a:effectLst/>
        </p:spPr>
        <p:txBody>
          <a:bodyPr lIns="90000" tIns="46800" rIns="90000" bIns="46800" anchor="ctr" anchorCtr="1"/>
          <a:lstStyle/>
          <a:p>
            <a:pPr latinLnBrk="1"/>
            <a:r>
              <a:rPr kumimoji="1" lang="zh-CN" altLang="en-US" sz="1100" b="1" dirty="0">
                <a:latin typeface="微软雅黑" pitchFamily="34" charset="-122"/>
                <a:ea typeface="微软雅黑" pitchFamily="34" charset="-122"/>
              </a:rPr>
              <a:t>分组离开队列，之后执行慢启动增大数据传输率。</a:t>
            </a:r>
            <a:endParaRPr kumimoji="1" lang="en-US" altLang="ko-KR" sz="1100" b="1" dirty="0">
              <a:latin typeface="微软雅黑" pitchFamily="34" charset="-122"/>
              <a:ea typeface="微软雅黑" pitchFamily="34" charset="-122"/>
            </a:endParaRPr>
          </a:p>
        </p:txBody>
      </p:sp>
      <p:sp>
        <p:nvSpPr>
          <p:cNvPr id="87" name="Rectangle 23"/>
          <p:cNvSpPr>
            <a:spLocks noChangeArrowheads="1"/>
          </p:cNvSpPr>
          <p:nvPr/>
        </p:nvSpPr>
        <p:spPr bwMode="auto">
          <a:xfrm>
            <a:off x="5630083" y="1648619"/>
            <a:ext cx="1380317" cy="685800"/>
          </a:xfrm>
          <a:prstGeom prst="rect">
            <a:avLst/>
          </a:prstGeom>
          <a:solidFill>
            <a:srgbClr val="FFFF99"/>
          </a:solidFill>
          <a:ln w="9525">
            <a:solidFill>
              <a:schemeClr val="tx1"/>
            </a:solidFill>
            <a:miter lim="800000"/>
            <a:headEnd/>
            <a:tailEnd/>
          </a:ln>
          <a:effectLst/>
        </p:spPr>
        <p:txBody>
          <a:bodyPr lIns="90000" tIns="46800" rIns="90000" bIns="46800" anchor="ctr" anchorCtr="1"/>
          <a:lstStyle/>
          <a:p>
            <a:pPr latinLnBrk="1"/>
            <a:r>
              <a:rPr kumimoji="1" lang="zh-CN" altLang="en-US" sz="1000" b="1" dirty="0">
                <a:latin typeface="微软雅黑" pitchFamily="34" charset="-122"/>
                <a:ea typeface="微软雅黑" pitchFamily="34" charset="-122"/>
              </a:rPr>
              <a:t>队列又满时，</a:t>
            </a:r>
            <a:r>
              <a:rPr kumimoji="1" lang="en-US" altLang="zh-CN" sz="1000" b="1" dirty="0">
                <a:latin typeface="微软雅黑" pitchFamily="34" charset="-122"/>
                <a:ea typeface="微软雅黑" pitchFamily="34" charset="-122"/>
              </a:rPr>
              <a:t>TCP </a:t>
            </a:r>
            <a:r>
              <a:rPr kumimoji="1" lang="zh-CN" altLang="en-US" sz="1000" b="1" dirty="0">
                <a:latin typeface="微软雅黑" pitchFamily="34" charset="-122"/>
                <a:ea typeface="微软雅黑" pitchFamily="34" charset="-122"/>
              </a:rPr>
              <a:t>重传定时器超时，重新再次开始慢启动，减少数据率。</a:t>
            </a:r>
            <a:endParaRPr kumimoji="1" lang="en-US" altLang="ko-KR" sz="1000" b="1" dirty="0">
              <a:latin typeface="微软雅黑" pitchFamily="34" charset="-122"/>
              <a:ea typeface="微软雅黑" pitchFamily="34" charset="-122"/>
            </a:endParaRPr>
          </a:p>
        </p:txBody>
      </p:sp>
      <p:sp>
        <p:nvSpPr>
          <p:cNvPr id="88" name="Line 24"/>
          <p:cNvSpPr>
            <a:spLocks noChangeShapeType="1"/>
          </p:cNvSpPr>
          <p:nvPr/>
        </p:nvSpPr>
        <p:spPr bwMode="auto">
          <a:xfrm>
            <a:off x="4495800" y="2334419"/>
            <a:ext cx="226417" cy="942704"/>
          </a:xfrm>
          <a:prstGeom prst="line">
            <a:avLst/>
          </a:prstGeom>
          <a:noFill/>
          <a:ln w="12700">
            <a:solidFill>
              <a:srgbClr val="C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89" name="Line 25"/>
          <p:cNvSpPr>
            <a:spLocks noChangeShapeType="1"/>
          </p:cNvSpPr>
          <p:nvPr/>
        </p:nvSpPr>
        <p:spPr bwMode="auto">
          <a:xfrm flipH="1">
            <a:off x="5030787" y="2168005"/>
            <a:ext cx="599293" cy="334060"/>
          </a:xfrm>
          <a:prstGeom prst="line">
            <a:avLst/>
          </a:prstGeom>
          <a:noFill/>
          <a:ln w="12700">
            <a:solidFill>
              <a:srgbClr val="C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69" name="Line 5"/>
          <p:cNvSpPr>
            <a:spLocks noChangeShapeType="1"/>
          </p:cNvSpPr>
          <p:nvPr/>
        </p:nvSpPr>
        <p:spPr bwMode="auto">
          <a:xfrm flipV="1">
            <a:off x="2299063" y="2168006"/>
            <a:ext cx="1588" cy="18678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27" name="AutoShape 5"/>
          <p:cNvSpPr>
            <a:spLocks noChangeArrowheads="1"/>
          </p:cNvSpPr>
          <p:nvPr/>
        </p:nvSpPr>
        <p:spPr bwMode="auto">
          <a:xfrm>
            <a:off x="556963" y="62241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28" name="Rectangle 6"/>
          <p:cNvSpPr>
            <a:spLocks noChangeArrowheads="1"/>
          </p:cNvSpPr>
          <p:nvPr/>
        </p:nvSpPr>
        <p:spPr bwMode="auto">
          <a:xfrm>
            <a:off x="1932808" y="589202"/>
            <a:ext cx="52970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先进先出（</a:t>
            </a:r>
            <a:r>
              <a:rPr lang="en-US" altLang="zh-CN" sz="2000" b="1" dirty="0">
                <a:solidFill>
                  <a:schemeClr val="bg1"/>
                </a:solidFill>
                <a:latin typeface="微软雅黑" pitchFamily="34" charset="-122"/>
                <a:ea typeface="微软雅黑" pitchFamily="34" charset="-122"/>
              </a:rPr>
              <a:t>FIFO</a:t>
            </a:r>
            <a:r>
              <a:rPr lang="zh-CN" altLang="en-US" sz="2000" b="1" dirty="0">
                <a:solidFill>
                  <a:schemeClr val="bg1"/>
                </a:solidFill>
                <a:latin typeface="微软雅黑" pitchFamily="34" charset="-122"/>
                <a:ea typeface="微软雅黑" pitchFamily="34" charset="-122"/>
              </a:rPr>
              <a:t>）处理规则与尾部丢弃策略</a:t>
            </a:r>
          </a:p>
        </p:txBody>
      </p:sp>
    </p:spTree>
    <p:extLst>
      <p:ext uri="{BB962C8B-B14F-4D97-AF65-F5344CB8AC3E}">
        <p14:creationId xmlns:p14="http://schemas.microsoft.com/office/powerpoint/2010/main" val="370169394"/>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156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334856" y="588353"/>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严重问题：全局同步</a:t>
            </a:r>
          </a:p>
        </p:txBody>
      </p:sp>
      <p:sp>
        <p:nvSpPr>
          <p:cNvPr id="5" name="圆角矩形 4"/>
          <p:cNvSpPr/>
          <p:nvPr/>
        </p:nvSpPr>
        <p:spPr>
          <a:xfrm>
            <a:off x="556963" y="1005971"/>
            <a:ext cx="8048776" cy="288689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Rectangle 9"/>
          <p:cNvSpPr>
            <a:spLocks noChangeArrowheads="1"/>
          </p:cNvSpPr>
          <p:nvPr/>
        </p:nvSpPr>
        <p:spPr bwMode="auto">
          <a:xfrm>
            <a:off x="3634390" y="219637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1" name="Rectangle 10"/>
          <p:cNvSpPr>
            <a:spLocks noChangeArrowheads="1"/>
          </p:cNvSpPr>
          <p:nvPr/>
        </p:nvSpPr>
        <p:spPr bwMode="auto">
          <a:xfrm>
            <a:off x="3101537" y="2196375"/>
            <a:ext cx="457200" cy="228600"/>
          </a:xfrm>
          <a:prstGeom prst="rect">
            <a:avLst/>
          </a:prstGeom>
          <a:solidFill>
            <a:srgbClr val="00FF99"/>
          </a:solidFill>
          <a:ln w="9525">
            <a:solidFill>
              <a:schemeClr val="tx1"/>
            </a:solidFill>
            <a:miter lim="800000"/>
            <a:headEnd/>
            <a:tailEnd/>
          </a:ln>
          <a:effectLst/>
        </p:spPr>
        <p:txBody>
          <a:bodyPr wrap="none" anchor="ctr"/>
          <a:lstStyle/>
          <a:p>
            <a:endParaRPr lang="zh-CN" altLang="en-US"/>
          </a:p>
        </p:txBody>
      </p:sp>
      <p:sp>
        <p:nvSpPr>
          <p:cNvPr id="12" name="Rectangle 11"/>
          <p:cNvSpPr>
            <a:spLocks noChangeArrowheads="1"/>
          </p:cNvSpPr>
          <p:nvPr/>
        </p:nvSpPr>
        <p:spPr bwMode="auto">
          <a:xfrm>
            <a:off x="2529495" y="219637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3" name="Rectangle 12"/>
          <p:cNvSpPr>
            <a:spLocks noChangeArrowheads="1"/>
          </p:cNvSpPr>
          <p:nvPr/>
        </p:nvSpPr>
        <p:spPr bwMode="auto">
          <a:xfrm>
            <a:off x="3634390" y="265357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4" name="Rectangle 13"/>
          <p:cNvSpPr>
            <a:spLocks noChangeArrowheads="1"/>
          </p:cNvSpPr>
          <p:nvPr/>
        </p:nvSpPr>
        <p:spPr bwMode="auto">
          <a:xfrm>
            <a:off x="3101537" y="2653575"/>
            <a:ext cx="457200" cy="228600"/>
          </a:xfrm>
          <a:prstGeom prst="rect">
            <a:avLst/>
          </a:prstGeom>
          <a:solidFill>
            <a:srgbClr val="FF66FF"/>
          </a:solidFill>
          <a:ln w="9525">
            <a:solidFill>
              <a:schemeClr val="tx1"/>
            </a:solidFill>
            <a:miter lim="800000"/>
            <a:headEnd/>
            <a:tailEnd/>
          </a:ln>
          <a:effectLst/>
        </p:spPr>
        <p:txBody>
          <a:bodyPr wrap="none" anchor="ctr"/>
          <a:lstStyle/>
          <a:p>
            <a:endParaRPr lang="zh-CN" altLang="en-US"/>
          </a:p>
        </p:txBody>
      </p:sp>
      <p:sp>
        <p:nvSpPr>
          <p:cNvPr id="15" name="Rectangle 14"/>
          <p:cNvSpPr>
            <a:spLocks noChangeArrowheads="1"/>
          </p:cNvSpPr>
          <p:nvPr/>
        </p:nvSpPr>
        <p:spPr bwMode="auto">
          <a:xfrm>
            <a:off x="2529495" y="265357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23" name="Rectangle 22"/>
          <p:cNvSpPr>
            <a:spLocks noChangeArrowheads="1"/>
          </p:cNvSpPr>
          <p:nvPr/>
        </p:nvSpPr>
        <p:spPr bwMode="auto">
          <a:xfrm>
            <a:off x="1918264" y="2196375"/>
            <a:ext cx="457200" cy="228600"/>
          </a:xfrm>
          <a:prstGeom prst="rect">
            <a:avLst/>
          </a:prstGeom>
          <a:solidFill>
            <a:srgbClr val="00FF99"/>
          </a:solidFill>
          <a:ln w="9525">
            <a:solidFill>
              <a:schemeClr val="tx1"/>
            </a:solidFill>
            <a:miter lim="800000"/>
            <a:headEnd/>
            <a:tailEnd/>
          </a:ln>
          <a:effectLst/>
        </p:spPr>
        <p:txBody>
          <a:bodyPr wrap="none" anchor="ctr"/>
          <a:lstStyle/>
          <a:p>
            <a:endParaRPr lang="zh-CN" altLang="en-US"/>
          </a:p>
        </p:txBody>
      </p:sp>
      <p:sp>
        <p:nvSpPr>
          <p:cNvPr id="24" name="Rectangle 23"/>
          <p:cNvSpPr>
            <a:spLocks noChangeArrowheads="1"/>
          </p:cNvSpPr>
          <p:nvPr/>
        </p:nvSpPr>
        <p:spPr bwMode="auto">
          <a:xfrm>
            <a:off x="1320096" y="204397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25" name="Rectangle 24"/>
          <p:cNvSpPr>
            <a:spLocks noChangeArrowheads="1"/>
          </p:cNvSpPr>
          <p:nvPr/>
        </p:nvSpPr>
        <p:spPr bwMode="auto">
          <a:xfrm>
            <a:off x="1918264" y="2653575"/>
            <a:ext cx="457200" cy="228600"/>
          </a:xfrm>
          <a:prstGeom prst="rect">
            <a:avLst/>
          </a:prstGeom>
          <a:solidFill>
            <a:srgbClr val="FF66FF"/>
          </a:solidFill>
          <a:ln w="9525">
            <a:solidFill>
              <a:schemeClr val="tx1"/>
            </a:solidFill>
            <a:miter lim="800000"/>
            <a:headEnd/>
            <a:tailEnd/>
          </a:ln>
          <a:effectLst/>
        </p:spPr>
        <p:txBody>
          <a:bodyPr wrap="none" anchor="ctr"/>
          <a:lstStyle/>
          <a:p>
            <a:endParaRPr lang="zh-CN" altLang="en-US"/>
          </a:p>
        </p:txBody>
      </p:sp>
      <p:sp>
        <p:nvSpPr>
          <p:cNvPr id="26" name="Rectangle 25"/>
          <p:cNvSpPr>
            <a:spLocks noChangeArrowheads="1"/>
          </p:cNvSpPr>
          <p:nvPr/>
        </p:nvSpPr>
        <p:spPr bwMode="auto">
          <a:xfrm>
            <a:off x="1320096" y="280597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36" name="矩形 35"/>
          <p:cNvSpPr/>
          <p:nvPr/>
        </p:nvSpPr>
        <p:spPr>
          <a:xfrm>
            <a:off x="1652453" y="1132117"/>
            <a:ext cx="5957271" cy="605294"/>
          </a:xfrm>
          <a:prstGeom prst="rect">
            <a:avLst/>
          </a:prstGeom>
          <a:solidFill>
            <a:srgbClr val="000099"/>
          </a:solidFill>
        </p:spPr>
        <p:txBody>
          <a:bodyPr wrap="square" anchor="ctr">
            <a:spAutoFit/>
          </a:bodyPr>
          <a:lstStyle/>
          <a:p>
            <a:pPr algn="ctr">
              <a:lnSpc>
                <a:spcPts val="2000"/>
              </a:lnSpc>
            </a:pPr>
            <a:r>
              <a:rPr lang="zh-CN" altLang="en-US" sz="1600" b="1" dirty="0">
                <a:solidFill>
                  <a:schemeClr val="bg1"/>
                </a:solidFill>
                <a:latin typeface="微软雅黑" pitchFamily="34" charset="-122"/>
                <a:ea typeface="微软雅黑" pitchFamily="34" charset="-122"/>
              </a:rPr>
              <a:t>若路由器进行了尾部丢弃，</a:t>
            </a:r>
            <a:endParaRPr lang="en-US" altLang="zh-CN" sz="1600" b="1" dirty="0">
              <a:solidFill>
                <a:schemeClr val="bg1"/>
              </a:solidFill>
              <a:latin typeface="微软雅黑" pitchFamily="34" charset="-122"/>
              <a:ea typeface="微软雅黑" pitchFamily="34" charset="-122"/>
            </a:endParaRPr>
          </a:p>
          <a:p>
            <a:pPr algn="ctr">
              <a:lnSpc>
                <a:spcPts val="2000"/>
              </a:lnSpc>
            </a:pPr>
            <a:r>
              <a:rPr lang="zh-CN" altLang="en-US" sz="1600" b="1" dirty="0">
                <a:solidFill>
                  <a:schemeClr val="bg1"/>
                </a:solidFill>
                <a:latin typeface="微软雅黑" pitchFamily="34" charset="-122"/>
                <a:ea typeface="微软雅黑" pitchFamily="34" charset="-122"/>
              </a:rPr>
              <a:t>所有到达的分组都被丢弃，不论它们属于哪个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连接。</a:t>
            </a:r>
          </a:p>
        </p:txBody>
      </p:sp>
      <p:grpSp>
        <p:nvGrpSpPr>
          <p:cNvPr id="37" name="组合 36"/>
          <p:cNvGrpSpPr/>
          <p:nvPr/>
        </p:nvGrpSpPr>
        <p:grpSpPr>
          <a:xfrm>
            <a:off x="4268659" y="1963868"/>
            <a:ext cx="4165845" cy="1143000"/>
            <a:chOff x="4235261" y="2103118"/>
            <a:chExt cx="4165845" cy="1143000"/>
          </a:xfrm>
        </p:grpSpPr>
        <p:grpSp>
          <p:nvGrpSpPr>
            <p:cNvPr id="38" name="组合 37"/>
            <p:cNvGrpSpPr/>
            <p:nvPr/>
          </p:nvGrpSpPr>
          <p:grpSpPr>
            <a:xfrm>
              <a:off x="4235261" y="2103118"/>
              <a:ext cx="3864782" cy="1143000"/>
              <a:chOff x="4313639" y="2103118"/>
              <a:chExt cx="3864782" cy="1143000"/>
            </a:xfrm>
          </p:grpSpPr>
          <p:sp>
            <p:nvSpPr>
              <p:cNvPr id="40" name="Freeform 24"/>
              <p:cNvSpPr>
                <a:spLocks/>
              </p:cNvSpPr>
              <p:nvPr/>
            </p:nvSpPr>
            <p:spPr bwMode="auto">
              <a:xfrm>
                <a:off x="4313639" y="2103118"/>
                <a:ext cx="3073400" cy="1143000"/>
              </a:xfrm>
              <a:custGeom>
                <a:avLst/>
                <a:gdLst>
                  <a:gd name="T0" fmla="*/ 0 w 2688"/>
                  <a:gd name="T1" fmla="*/ 960 h 960"/>
                  <a:gd name="T2" fmla="*/ 2688 w 2688"/>
                  <a:gd name="T3" fmla="*/ 960 h 960"/>
                  <a:gd name="T4" fmla="*/ 2688 w 2688"/>
                  <a:gd name="T5" fmla="*/ 0 h 960"/>
                  <a:gd name="T6" fmla="*/ 0 w 2688"/>
                  <a:gd name="T7" fmla="*/ 0 h 960"/>
                </a:gdLst>
                <a:ahLst/>
                <a:cxnLst>
                  <a:cxn ang="0">
                    <a:pos x="T0" y="T1"/>
                  </a:cxn>
                  <a:cxn ang="0">
                    <a:pos x="T2" y="T3"/>
                  </a:cxn>
                  <a:cxn ang="0">
                    <a:pos x="T4" y="T5"/>
                  </a:cxn>
                  <a:cxn ang="0">
                    <a:pos x="T6" y="T7"/>
                  </a:cxn>
                </a:cxnLst>
                <a:rect l="0" t="0" r="r" b="b"/>
                <a:pathLst>
                  <a:path w="2688" h="960">
                    <a:moveTo>
                      <a:pt x="0" y="960"/>
                    </a:moveTo>
                    <a:lnTo>
                      <a:pt x="2688" y="960"/>
                    </a:lnTo>
                    <a:lnTo>
                      <a:pt x="2688" y="0"/>
                    </a:lnTo>
                    <a:lnTo>
                      <a:pt x="0" y="0"/>
                    </a:lnTo>
                  </a:path>
                </a:pathLst>
              </a:custGeom>
              <a:solidFill>
                <a:srgbClr val="66CCFF"/>
              </a:solidFill>
              <a:ln w="19050">
                <a:solidFill>
                  <a:schemeClr val="tx1"/>
                </a:solidFill>
                <a:round/>
                <a:headEnd/>
                <a:tailEnd/>
              </a:ln>
              <a:effectLst/>
            </p:spPr>
            <p:txBody>
              <a:bodyPr/>
              <a:lstStyle/>
              <a:p>
                <a:endParaRPr lang="zh-CN" altLang="en-US"/>
              </a:p>
            </p:txBody>
          </p:sp>
          <p:sp>
            <p:nvSpPr>
              <p:cNvPr id="41" name="Line 20"/>
              <p:cNvSpPr>
                <a:spLocks noChangeShapeType="1"/>
              </p:cNvSpPr>
              <p:nvPr/>
            </p:nvSpPr>
            <p:spPr bwMode="auto">
              <a:xfrm>
                <a:off x="6603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21"/>
              <p:cNvSpPr>
                <a:spLocks noChangeShapeType="1"/>
              </p:cNvSpPr>
              <p:nvPr/>
            </p:nvSpPr>
            <p:spPr bwMode="auto">
              <a:xfrm>
                <a:off x="5841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Line 22"/>
              <p:cNvSpPr>
                <a:spLocks noChangeShapeType="1"/>
              </p:cNvSpPr>
              <p:nvPr/>
            </p:nvSpPr>
            <p:spPr bwMode="auto">
              <a:xfrm>
                <a:off x="5079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25"/>
              <p:cNvSpPr>
                <a:spLocks noChangeShapeType="1"/>
              </p:cNvSpPr>
              <p:nvPr/>
            </p:nvSpPr>
            <p:spPr bwMode="auto">
              <a:xfrm>
                <a:off x="7387039" y="2674616"/>
                <a:ext cx="288000" cy="1"/>
              </a:xfrm>
              <a:prstGeom prst="line">
                <a:avLst/>
              </a:prstGeom>
              <a:noFill/>
              <a:ln w="571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Oval 2058"/>
              <p:cNvSpPr>
                <a:spLocks noChangeArrowheads="1"/>
              </p:cNvSpPr>
              <p:nvPr/>
            </p:nvSpPr>
            <p:spPr bwMode="auto">
              <a:xfrm>
                <a:off x="7674421" y="2416627"/>
                <a:ext cx="504000" cy="504000"/>
              </a:xfrm>
              <a:prstGeom prst="ellipse">
                <a:avLst/>
              </a:prstGeom>
              <a:solidFill>
                <a:srgbClr val="0066FF"/>
              </a:solidFill>
              <a:ln w="12700">
                <a:solidFill>
                  <a:schemeClr val="tx1"/>
                </a:solidFill>
                <a:round/>
                <a:headEnd type="none" w="sm" len="sm"/>
                <a:tailEnd type="none" w="sm" len="sm"/>
              </a:ln>
            </p:spPr>
            <p:txBody>
              <a:bodyPr wrap="none" anchor="ctr"/>
              <a:lstStyle/>
              <a:p>
                <a:endParaRPr lang="en-US"/>
              </a:p>
            </p:txBody>
          </p:sp>
        </p:grpSp>
        <p:sp>
          <p:nvSpPr>
            <p:cNvPr id="39" name="Line 25"/>
            <p:cNvSpPr>
              <a:spLocks noChangeShapeType="1"/>
            </p:cNvSpPr>
            <p:nvPr/>
          </p:nvSpPr>
          <p:spPr bwMode="auto">
            <a:xfrm>
              <a:off x="8113106" y="2674616"/>
              <a:ext cx="288000" cy="1"/>
            </a:xfrm>
            <a:prstGeom prst="line">
              <a:avLst/>
            </a:prstGeom>
            <a:noFill/>
            <a:ln w="571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 name="Rectangle 5"/>
          <p:cNvSpPr>
            <a:spLocks noChangeArrowheads="1"/>
          </p:cNvSpPr>
          <p:nvPr/>
        </p:nvSpPr>
        <p:spPr bwMode="auto">
          <a:xfrm>
            <a:off x="6708511" y="2411912"/>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7" name="Rectangle 6"/>
          <p:cNvSpPr>
            <a:spLocks noChangeArrowheads="1"/>
          </p:cNvSpPr>
          <p:nvPr/>
        </p:nvSpPr>
        <p:spPr bwMode="auto">
          <a:xfrm>
            <a:off x="5946511" y="2411912"/>
            <a:ext cx="457200" cy="228600"/>
          </a:xfrm>
          <a:prstGeom prst="rect">
            <a:avLst/>
          </a:prstGeom>
          <a:solidFill>
            <a:srgbClr val="00FF99"/>
          </a:solidFill>
          <a:ln w="9525">
            <a:solidFill>
              <a:schemeClr val="tx1"/>
            </a:solidFill>
            <a:miter lim="800000"/>
            <a:headEnd/>
            <a:tailEnd/>
          </a:ln>
          <a:effectLst/>
        </p:spPr>
        <p:txBody>
          <a:bodyPr wrap="none" anchor="ctr"/>
          <a:lstStyle/>
          <a:p>
            <a:endParaRPr lang="zh-CN" altLang="en-US"/>
          </a:p>
        </p:txBody>
      </p:sp>
      <p:sp>
        <p:nvSpPr>
          <p:cNvPr id="8" name="Rectangle 7"/>
          <p:cNvSpPr>
            <a:spLocks noChangeArrowheads="1"/>
          </p:cNvSpPr>
          <p:nvPr/>
        </p:nvSpPr>
        <p:spPr bwMode="auto">
          <a:xfrm>
            <a:off x="5108311" y="2411912"/>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9" name="Rectangle 8"/>
          <p:cNvSpPr>
            <a:spLocks noChangeArrowheads="1"/>
          </p:cNvSpPr>
          <p:nvPr/>
        </p:nvSpPr>
        <p:spPr bwMode="auto">
          <a:xfrm>
            <a:off x="4346311" y="2411912"/>
            <a:ext cx="457200" cy="228600"/>
          </a:xfrm>
          <a:prstGeom prst="rect">
            <a:avLst/>
          </a:prstGeom>
          <a:solidFill>
            <a:srgbClr val="00FF99"/>
          </a:solidFill>
          <a:ln w="9525">
            <a:solidFill>
              <a:schemeClr val="tx1"/>
            </a:solidFill>
            <a:miter lim="800000"/>
            <a:headEnd/>
            <a:tailEnd/>
          </a:ln>
          <a:effectLst/>
        </p:spPr>
        <p:txBody>
          <a:bodyPr wrap="none" anchor="ctr"/>
          <a:lstStyle/>
          <a:p>
            <a:endParaRPr lang="zh-CN" altLang="en-US"/>
          </a:p>
        </p:txBody>
      </p:sp>
      <p:sp>
        <p:nvSpPr>
          <p:cNvPr id="31" name="Line 25"/>
          <p:cNvSpPr>
            <a:spLocks noChangeShapeType="1"/>
          </p:cNvSpPr>
          <p:nvPr/>
        </p:nvSpPr>
        <p:spPr bwMode="auto">
          <a:xfrm flipV="1">
            <a:off x="4279567" y="3147654"/>
            <a:ext cx="0" cy="495300"/>
          </a:xfrm>
          <a:prstGeom prst="line">
            <a:avLst/>
          </a:prstGeom>
          <a:noFill/>
          <a:ln w="3810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Text Box 26"/>
          <p:cNvSpPr txBox="1">
            <a:spLocks noChangeArrowheads="1"/>
          </p:cNvSpPr>
          <p:nvPr/>
        </p:nvSpPr>
        <p:spPr bwMode="auto">
          <a:xfrm>
            <a:off x="4282518" y="3325438"/>
            <a:ext cx="1261884" cy="307777"/>
          </a:xfrm>
          <a:prstGeom prst="rect">
            <a:avLst/>
          </a:prstGeom>
          <a:noFill/>
          <a:ln>
            <a:noFill/>
          </a:ln>
          <a:effectLst/>
        </p:spPr>
        <p:txBody>
          <a:bodyPr wrap="none">
            <a:spAutoFit/>
          </a:bodyPr>
          <a:lstStyle/>
          <a:p>
            <a:pPr algn="l" eaLnBrk="1" hangingPunct="1"/>
            <a:r>
              <a:rPr lang="zh-CN" altLang="en-US" sz="1400" b="1" dirty="0">
                <a:solidFill>
                  <a:srgbClr val="000099"/>
                </a:solidFill>
                <a:effectLst/>
                <a:latin typeface="微软雅黑" pitchFamily="34" charset="-122"/>
                <a:ea typeface="微软雅黑" pitchFamily="34" charset="-122"/>
              </a:rPr>
              <a:t>最大队列长度</a:t>
            </a:r>
            <a:endParaRPr lang="en-US" altLang="zh-TW" sz="1400" b="1" dirty="0">
              <a:solidFill>
                <a:srgbClr val="000099"/>
              </a:solidFill>
              <a:effectLst/>
              <a:latin typeface="微软雅黑" pitchFamily="34" charset="-122"/>
              <a:ea typeface="微软雅黑" pitchFamily="34" charset="-122"/>
            </a:endParaRPr>
          </a:p>
        </p:txBody>
      </p:sp>
    </p:spTree>
    <p:extLst>
      <p:ext uri="{BB962C8B-B14F-4D97-AF65-F5344CB8AC3E}">
        <p14:creationId xmlns:p14="http://schemas.microsoft.com/office/powerpoint/2010/main" val="459441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2000" fill="hold"/>
                                        <p:tgtEl>
                                          <p:spTgt spid="6"/>
                                        </p:tgtEl>
                                        <p:attrNameLst>
                                          <p:attrName>ppt_x</p:attrName>
                                        </p:attrNameLst>
                                      </p:cBhvr>
                                      <p:tavLst>
                                        <p:tav tm="0">
                                          <p:val>
                                            <p:strVal val="0-#ppt_w/2"/>
                                          </p:val>
                                        </p:tav>
                                        <p:tav tm="100000">
                                          <p:val>
                                            <p:strVal val="#ppt_x"/>
                                          </p:val>
                                        </p:tav>
                                      </p:tavLst>
                                    </p:anim>
                                    <p:anim calcmode="lin" valueType="num">
                                      <p:cBhvr additive="base">
                                        <p:cTn id="8" dur="20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2000" fill="hold"/>
                                        <p:tgtEl>
                                          <p:spTgt spid="7"/>
                                        </p:tgtEl>
                                        <p:attrNameLst>
                                          <p:attrName>ppt_x</p:attrName>
                                        </p:attrNameLst>
                                      </p:cBhvr>
                                      <p:tavLst>
                                        <p:tav tm="0">
                                          <p:val>
                                            <p:strVal val="0-#ppt_w/2"/>
                                          </p:val>
                                        </p:tav>
                                        <p:tav tm="100000">
                                          <p:val>
                                            <p:strVal val="#ppt_x"/>
                                          </p:val>
                                        </p:tav>
                                      </p:tavLst>
                                    </p:anim>
                                    <p:anim calcmode="lin" valueType="num">
                                      <p:cBhvr additive="base">
                                        <p:cTn id="12" dur="20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2000" fill="hold"/>
                                        <p:tgtEl>
                                          <p:spTgt spid="8"/>
                                        </p:tgtEl>
                                        <p:attrNameLst>
                                          <p:attrName>ppt_x</p:attrName>
                                        </p:attrNameLst>
                                      </p:cBhvr>
                                      <p:tavLst>
                                        <p:tav tm="0">
                                          <p:val>
                                            <p:strVal val="0-#ppt_w/2"/>
                                          </p:val>
                                        </p:tav>
                                        <p:tav tm="100000">
                                          <p:val>
                                            <p:strVal val="#ppt_x"/>
                                          </p:val>
                                        </p:tav>
                                      </p:tavLst>
                                    </p:anim>
                                    <p:anim calcmode="lin" valueType="num">
                                      <p:cBhvr additive="base">
                                        <p:cTn id="16" dur="20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2000" fill="hold"/>
                                        <p:tgtEl>
                                          <p:spTgt spid="9"/>
                                        </p:tgtEl>
                                        <p:attrNameLst>
                                          <p:attrName>ppt_x</p:attrName>
                                        </p:attrNameLst>
                                      </p:cBhvr>
                                      <p:tavLst>
                                        <p:tav tm="0">
                                          <p:val>
                                            <p:strVal val="0-#ppt_w/2"/>
                                          </p:val>
                                        </p:tav>
                                        <p:tav tm="100000">
                                          <p:val>
                                            <p:strVal val="#ppt_x"/>
                                          </p:val>
                                        </p:tav>
                                      </p:tavLst>
                                    </p:anim>
                                    <p:anim calcmode="lin" valueType="num">
                                      <p:cBhvr additive="base">
                                        <p:cTn id="20" dur="2000" fill="hold"/>
                                        <p:tgtEl>
                                          <p:spTgt spid="9"/>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2000" fill="hold"/>
                                        <p:tgtEl>
                                          <p:spTgt spid="10"/>
                                        </p:tgtEl>
                                        <p:attrNameLst>
                                          <p:attrName>ppt_x</p:attrName>
                                        </p:attrNameLst>
                                      </p:cBhvr>
                                      <p:tavLst>
                                        <p:tav tm="0">
                                          <p:val>
                                            <p:strVal val="0-#ppt_w/2"/>
                                          </p:val>
                                        </p:tav>
                                        <p:tav tm="100000">
                                          <p:val>
                                            <p:strVal val="#ppt_x"/>
                                          </p:val>
                                        </p:tav>
                                      </p:tavLst>
                                    </p:anim>
                                    <p:anim calcmode="lin" valueType="num">
                                      <p:cBhvr additive="base">
                                        <p:cTn id="24" dur="2000" fill="hold"/>
                                        <p:tgtEl>
                                          <p:spTgt spid="10"/>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2000" fill="hold"/>
                                        <p:tgtEl>
                                          <p:spTgt spid="13"/>
                                        </p:tgtEl>
                                        <p:attrNameLst>
                                          <p:attrName>ppt_x</p:attrName>
                                        </p:attrNameLst>
                                      </p:cBhvr>
                                      <p:tavLst>
                                        <p:tav tm="0">
                                          <p:val>
                                            <p:strVal val="0-#ppt_w/2"/>
                                          </p:val>
                                        </p:tav>
                                        <p:tav tm="100000">
                                          <p:val>
                                            <p:strVal val="#ppt_x"/>
                                          </p:val>
                                        </p:tav>
                                      </p:tavLst>
                                    </p:anim>
                                    <p:anim calcmode="lin" valueType="num">
                                      <p:cBhvr additive="base">
                                        <p:cTn id="28" dur="20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2000" fill="hold"/>
                                        <p:tgtEl>
                                          <p:spTgt spid="11"/>
                                        </p:tgtEl>
                                        <p:attrNameLst>
                                          <p:attrName>ppt_x</p:attrName>
                                        </p:attrNameLst>
                                      </p:cBhvr>
                                      <p:tavLst>
                                        <p:tav tm="0">
                                          <p:val>
                                            <p:strVal val="0-#ppt_w/2"/>
                                          </p:val>
                                        </p:tav>
                                        <p:tav tm="100000">
                                          <p:val>
                                            <p:strVal val="#ppt_x"/>
                                          </p:val>
                                        </p:tav>
                                      </p:tavLst>
                                    </p:anim>
                                    <p:anim calcmode="lin" valueType="num">
                                      <p:cBhvr additive="base">
                                        <p:cTn id="32" dur="2000" fill="hold"/>
                                        <p:tgtEl>
                                          <p:spTgt spid="11"/>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2000" fill="hold"/>
                                        <p:tgtEl>
                                          <p:spTgt spid="14"/>
                                        </p:tgtEl>
                                        <p:attrNameLst>
                                          <p:attrName>ppt_x</p:attrName>
                                        </p:attrNameLst>
                                      </p:cBhvr>
                                      <p:tavLst>
                                        <p:tav tm="0">
                                          <p:val>
                                            <p:strVal val="0-#ppt_w/2"/>
                                          </p:val>
                                        </p:tav>
                                        <p:tav tm="100000">
                                          <p:val>
                                            <p:strVal val="#ppt_x"/>
                                          </p:val>
                                        </p:tav>
                                      </p:tavLst>
                                    </p:anim>
                                    <p:anim calcmode="lin" valueType="num">
                                      <p:cBhvr additive="base">
                                        <p:cTn id="36" dur="2000" fill="hold"/>
                                        <p:tgtEl>
                                          <p:spTgt spid="1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2000" fill="hold"/>
                                        <p:tgtEl>
                                          <p:spTgt spid="12"/>
                                        </p:tgtEl>
                                        <p:attrNameLst>
                                          <p:attrName>ppt_x</p:attrName>
                                        </p:attrNameLst>
                                      </p:cBhvr>
                                      <p:tavLst>
                                        <p:tav tm="0">
                                          <p:val>
                                            <p:strVal val="0-#ppt_w/2"/>
                                          </p:val>
                                        </p:tav>
                                        <p:tav tm="100000">
                                          <p:val>
                                            <p:strVal val="#ppt_x"/>
                                          </p:val>
                                        </p:tav>
                                      </p:tavLst>
                                    </p:anim>
                                    <p:anim calcmode="lin" valueType="num">
                                      <p:cBhvr additive="base">
                                        <p:cTn id="40" dur="2000" fill="hold"/>
                                        <p:tgtEl>
                                          <p:spTgt spid="12"/>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2000" fill="hold"/>
                                        <p:tgtEl>
                                          <p:spTgt spid="15"/>
                                        </p:tgtEl>
                                        <p:attrNameLst>
                                          <p:attrName>ppt_x</p:attrName>
                                        </p:attrNameLst>
                                      </p:cBhvr>
                                      <p:tavLst>
                                        <p:tav tm="0">
                                          <p:val>
                                            <p:strVal val="0-#ppt_w/2"/>
                                          </p:val>
                                        </p:tav>
                                        <p:tav tm="100000">
                                          <p:val>
                                            <p:strVal val="#ppt_x"/>
                                          </p:val>
                                        </p:tav>
                                      </p:tavLst>
                                    </p:anim>
                                    <p:anim calcmode="lin" valueType="num">
                                      <p:cBhvr additive="base">
                                        <p:cTn id="44" dur="2000" fill="hold"/>
                                        <p:tgtEl>
                                          <p:spTgt spid="15"/>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anim calcmode="lin" valueType="num">
                                      <p:cBhvr additive="base">
                                        <p:cTn id="47" dur="2000" fill="hold"/>
                                        <p:tgtEl>
                                          <p:spTgt spid="25"/>
                                        </p:tgtEl>
                                        <p:attrNameLst>
                                          <p:attrName>ppt_x</p:attrName>
                                        </p:attrNameLst>
                                      </p:cBhvr>
                                      <p:tavLst>
                                        <p:tav tm="0">
                                          <p:val>
                                            <p:strVal val="0-#ppt_w/2"/>
                                          </p:val>
                                        </p:tav>
                                        <p:tav tm="100000">
                                          <p:val>
                                            <p:strVal val="#ppt_x"/>
                                          </p:val>
                                        </p:tav>
                                      </p:tavLst>
                                    </p:anim>
                                    <p:anim calcmode="lin" valueType="num">
                                      <p:cBhvr additive="base">
                                        <p:cTn id="48" dur="2000" fill="hold"/>
                                        <p:tgtEl>
                                          <p:spTgt spid="25"/>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 calcmode="lin" valueType="num">
                                      <p:cBhvr additive="base">
                                        <p:cTn id="51" dur="2000" fill="hold"/>
                                        <p:tgtEl>
                                          <p:spTgt spid="23"/>
                                        </p:tgtEl>
                                        <p:attrNameLst>
                                          <p:attrName>ppt_x</p:attrName>
                                        </p:attrNameLst>
                                      </p:cBhvr>
                                      <p:tavLst>
                                        <p:tav tm="0">
                                          <p:val>
                                            <p:strVal val="0-#ppt_w/2"/>
                                          </p:val>
                                        </p:tav>
                                        <p:tav tm="100000">
                                          <p:val>
                                            <p:strVal val="#ppt_x"/>
                                          </p:val>
                                        </p:tav>
                                      </p:tavLst>
                                    </p:anim>
                                    <p:anim calcmode="lin" valueType="num">
                                      <p:cBhvr additive="base">
                                        <p:cTn id="52" dur="2000" fill="hold"/>
                                        <p:tgtEl>
                                          <p:spTgt spid="23"/>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 calcmode="lin" valueType="num">
                                      <p:cBhvr additive="base">
                                        <p:cTn id="55" dur="2000" fill="hold"/>
                                        <p:tgtEl>
                                          <p:spTgt spid="24"/>
                                        </p:tgtEl>
                                        <p:attrNameLst>
                                          <p:attrName>ppt_x</p:attrName>
                                        </p:attrNameLst>
                                      </p:cBhvr>
                                      <p:tavLst>
                                        <p:tav tm="0">
                                          <p:val>
                                            <p:strVal val="0-#ppt_w/2"/>
                                          </p:val>
                                        </p:tav>
                                        <p:tav tm="100000">
                                          <p:val>
                                            <p:strVal val="#ppt_x"/>
                                          </p:val>
                                        </p:tav>
                                      </p:tavLst>
                                    </p:anim>
                                    <p:anim calcmode="lin" valueType="num">
                                      <p:cBhvr additive="base">
                                        <p:cTn id="56" dur="2000" fill="hold"/>
                                        <p:tgtEl>
                                          <p:spTgt spid="24"/>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anim calcmode="lin" valueType="num">
                                      <p:cBhvr additive="base">
                                        <p:cTn id="59" dur="2000" fill="hold"/>
                                        <p:tgtEl>
                                          <p:spTgt spid="26"/>
                                        </p:tgtEl>
                                        <p:attrNameLst>
                                          <p:attrName>ppt_x</p:attrName>
                                        </p:attrNameLst>
                                      </p:cBhvr>
                                      <p:tavLst>
                                        <p:tav tm="0">
                                          <p:val>
                                            <p:strVal val="0-#ppt_w/2"/>
                                          </p:val>
                                        </p:tav>
                                        <p:tav tm="100000">
                                          <p:val>
                                            <p:strVal val="#ppt_x"/>
                                          </p:val>
                                        </p:tav>
                                      </p:tavLst>
                                    </p:anim>
                                    <p:anim calcmode="lin" valueType="num">
                                      <p:cBhvr additive="base">
                                        <p:cTn id="60" dur="2000" fill="hold"/>
                                        <p:tgtEl>
                                          <p:spTgt spid="26"/>
                                        </p:tgtEl>
                                        <p:attrNameLst>
                                          <p:attrName>ppt_y</p:attrName>
                                        </p:attrNameLst>
                                      </p:cBhvr>
                                      <p:tavLst>
                                        <p:tav tm="0">
                                          <p:val>
                                            <p:strVal val="#ppt_y"/>
                                          </p:val>
                                        </p:tav>
                                        <p:tav tm="100000">
                                          <p:val>
                                            <p:strVal val="#ppt_y"/>
                                          </p:val>
                                        </p:tav>
                                      </p:tavLst>
                                    </p:anim>
                                  </p:childTnLst>
                                </p:cTn>
                              </p:par>
                            </p:childTnLst>
                          </p:cTn>
                        </p:par>
                        <p:par>
                          <p:cTn id="61" fill="hold">
                            <p:stCondLst>
                              <p:cond delay="2000"/>
                            </p:stCondLst>
                            <p:childTnLst>
                              <p:par>
                                <p:cTn id="62" presetID="2" presetClass="exit" presetSubtype="4" fill="hold" grpId="1" nodeType="afterEffect">
                                  <p:stCondLst>
                                    <p:cond delay="1000"/>
                                  </p:stCondLst>
                                  <p:childTnLst>
                                    <p:anim calcmode="lin" valueType="num">
                                      <p:cBhvr additive="base">
                                        <p:cTn id="63" dur="2000"/>
                                        <p:tgtEl>
                                          <p:spTgt spid="10"/>
                                        </p:tgtEl>
                                        <p:attrNameLst>
                                          <p:attrName>ppt_x</p:attrName>
                                        </p:attrNameLst>
                                      </p:cBhvr>
                                      <p:tavLst>
                                        <p:tav tm="0">
                                          <p:val>
                                            <p:strVal val="ppt_x"/>
                                          </p:val>
                                        </p:tav>
                                        <p:tav tm="100000">
                                          <p:val>
                                            <p:strVal val="ppt_x"/>
                                          </p:val>
                                        </p:tav>
                                      </p:tavLst>
                                    </p:anim>
                                    <p:anim calcmode="lin" valueType="num">
                                      <p:cBhvr additive="base">
                                        <p:cTn id="64" dur="2000"/>
                                        <p:tgtEl>
                                          <p:spTgt spid="10"/>
                                        </p:tgtEl>
                                        <p:attrNameLst>
                                          <p:attrName>ppt_y</p:attrName>
                                        </p:attrNameLst>
                                      </p:cBhvr>
                                      <p:tavLst>
                                        <p:tav tm="0">
                                          <p:val>
                                            <p:strVal val="ppt_y"/>
                                          </p:val>
                                        </p:tav>
                                        <p:tav tm="100000">
                                          <p:val>
                                            <p:strVal val="1+ppt_h/2"/>
                                          </p:val>
                                        </p:tav>
                                      </p:tavLst>
                                    </p:anim>
                                    <p:set>
                                      <p:cBhvr>
                                        <p:cTn id="65" dur="1" fill="hold">
                                          <p:stCondLst>
                                            <p:cond delay="1999"/>
                                          </p:stCondLst>
                                        </p:cTn>
                                        <p:tgtEl>
                                          <p:spTgt spid="10"/>
                                        </p:tgtEl>
                                        <p:attrNameLst>
                                          <p:attrName>style.visibility</p:attrName>
                                        </p:attrNameLst>
                                      </p:cBhvr>
                                      <p:to>
                                        <p:strVal val="hidden"/>
                                      </p:to>
                                    </p:set>
                                  </p:childTnLst>
                                </p:cTn>
                              </p:par>
                              <p:par>
                                <p:cTn id="66" presetID="2" presetClass="exit" presetSubtype="4" fill="hold" grpId="1" nodeType="withEffect">
                                  <p:stCondLst>
                                    <p:cond delay="1000"/>
                                  </p:stCondLst>
                                  <p:childTnLst>
                                    <p:anim calcmode="lin" valueType="num">
                                      <p:cBhvr additive="base">
                                        <p:cTn id="67" dur="2000"/>
                                        <p:tgtEl>
                                          <p:spTgt spid="13"/>
                                        </p:tgtEl>
                                        <p:attrNameLst>
                                          <p:attrName>ppt_x</p:attrName>
                                        </p:attrNameLst>
                                      </p:cBhvr>
                                      <p:tavLst>
                                        <p:tav tm="0">
                                          <p:val>
                                            <p:strVal val="ppt_x"/>
                                          </p:val>
                                        </p:tav>
                                        <p:tav tm="100000">
                                          <p:val>
                                            <p:strVal val="ppt_x"/>
                                          </p:val>
                                        </p:tav>
                                      </p:tavLst>
                                    </p:anim>
                                    <p:anim calcmode="lin" valueType="num">
                                      <p:cBhvr additive="base">
                                        <p:cTn id="68" dur="2000"/>
                                        <p:tgtEl>
                                          <p:spTgt spid="13"/>
                                        </p:tgtEl>
                                        <p:attrNameLst>
                                          <p:attrName>ppt_y</p:attrName>
                                        </p:attrNameLst>
                                      </p:cBhvr>
                                      <p:tavLst>
                                        <p:tav tm="0">
                                          <p:val>
                                            <p:strVal val="ppt_y"/>
                                          </p:val>
                                        </p:tav>
                                        <p:tav tm="100000">
                                          <p:val>
                                            <p:strVal val="1+ppt_h/2"/>
                                          </p:val>
                                        </p:tav>
                                      </p:tavLst>
                                    </p:anim>
                                    <p:set>
                                      <p:cBhvr>
                                        <p:cTn id="69" dur="1" fill="hold">
                                          <p:stCondLst>
                                            <p:cond delay="1999"/>
                                          </p:stCondLst>
                                        </p:cTn>
                                        <p:tgtEl>
                                          <p:spTgt spid="13"/>
                                        </p:tgtEl>
                                        <p:attrNameLst>
                                          <p:attrName>style.visibility</p:attrName>
                                        </p:attrNameLst>
                                      </p:cBhvr>
                                      <p:to>
                                        <p:strVal val="hidden"/>
                                      </p:to>
                                    </p:set>
                                  </p:childTnLst>
                                </p:cTn>
                              </p:par>
                              <p:par>
                                <p:cTn id="70" presetID="2" presetClass="exit" presetSubtype="4" fill="hold" grpId="1" nodeType="withEffect">
                                  <p:stCondLst>
                                    <p:cond delay="1000"/>
                                  </p:stCondLst>
                                  <p:childTnLst>
                                    <p:anim calcmode="lin" valueType="num">
                                      <p:cBhvr additive="base">
                                        <p:cTn id="71" dur="2000"/>
                                        <p:tgtEl>
                                          <p:spTgt spid="11"/>
                                        </p:tgtEl>
                                        <p:attrNameLst>
                                          <p:attrName>ppt_x</p:attrName>
                                        </p:attrNameLst>
                                      </p:cBhvr>
                                      <p:tavLst>
                                        <p:tav tm="0">
                                          <p:val>
                                            <p:strVal val="ppt_x"/>
                                          </p:val>
                                        </p:tav>
                                        <p:tav tm="100000">
                                          <p:val>
                                            <p:strVal val="ppt_x"/>
                                          </p:val>
                                        </p:tav>
                                      </p:tavLst>
                                    </p:anim>
                                    <p:anim calcmode="lin" valueType="num">
                                      <p:cBhvr additive="base">
                                        <p:cTn id="72" dur="2000"/>
                                        <p:tgtEl>
                                          <p:spTgt spid="11"/>
                                        </p:tgtEl>
                                        <p:attrNameLst>
                                          <p:attrName>ppt_y</p:attrName>
                                        </p:attrNameLst>
                                      </p:cBhvr>
                                      <p:tavLst>
                                        <p:tav tm="0">
                                          <p:val>
                                            <p:strVal val="ppt_y"/>
                                          </p:val>
                                        </p:tav>
                                        <p:tav tm="100000">
                                          <p:val>
                                            <p:strVal val="1+ppt_h/2"/>
                                          </p:val>
                                        </p:tav>
                                      </p:tavLst>
                                    </p:anim>
                                    <p:set>
                                      <p:cBhvr>
                                        <p:cTn id="73" dur="1" fill="hold">
                                          <p:stCondLst>
                                            <p:cond delay="1999"/>
                                          </p:stCondLst>
                                        </p:cTn>
                                        <p:tgtEl>
                                          <p:spTgt spid="11"/>
                                        </p:tgtEl>
                                        <p:attrNameLst>
                                          <p:attrName>style.visibility</p:attrName>
                                        </p:attrNameLst>
                                      </p:cBhvr>
                                      <p:to>
                                        <p:strVal val="hidden"/>
                                      </p:to>
                                    </p:set>
                                  </p:childTnLst>
                                </p:cTn>
                              </p:par>
                              <p:par>
                                <p:cTn id="74" presetID="2" presetClass="exit" presetSubtype="4" fill="hold" grpId="1" nodeType="withEffect">
                                  <p:stCondLst>
                                    <p:cond delay="1000"/>
                                  </p:stCondLst>
                                  <p:childTnLst>
                                    <p:anim calcmode="lin" valueType="num">
                                      <p:cBhvr additive="base">
                                        <p:cTn id="75" dur="2000"/>
                                        <p:tgtEl>
                                          <p:spTgt spid="14"/>
                                        </p:tgtEl>
                                        <p:attrNameLst>
                                          <p:attrName>ppt_x</p:attrName>
                                        </p:attrNameLst>
                                      </p:cBhvr>
                                      <p:tavLst>
                                        <p:tav tm="0">
                                          <p:val>
                                            <p:strVal val="ppt_x"/>
                                          </p:val>
                                        </p:tav>
                                        <p:tav tm="100000">
                                          <p:val>
                                            <p:strVal val="ppt_x"/>
                                          </p:val>
                                        </p:tav>
                                      </p:tavLst>
                                    </p:anim>
                                    <p:anim calcmode="lin" valueType="num">
                                      <p:cBhvr additive="base">
                                        <p:cTn id="76" dur="2000"/>
                                        <p:tgtEl>
                                          <p:spTgt spid="14"/>
                                        </p:tgtEl>
                                        <p:attrNameLst>
                                          <p:attrName>ppt_y</p:attrName>
                                        </p:attrNameLst>
                                      </p:cBhvr>
                                      <p:tavLst>
                                        <p:tav tm="0">
                                          <p:val>
                                            <p:strVal val="ppt_y"/>
                                          </p:val>
                                        </p:tav>
                                        <p:tav tm="100000">
                                          <p:val>
                                            <p:strVal val="1+ppt_h/2"/>
                                          </p:val>
                                        </p:tav>
                                      </p:tavLst>
                                    </p:anim>
                                    <p:set>
                                      <p:cBhvr>
                                        <p:cTn id="77" dur="1" fill="hold">
                                          <p:stCondLst>
                                            <p:cond delay="1999"/>
                                          </p:stCondLst>
                                        </p:cTn>
                                        <p:tgtEl>
                                          <p:spTgt spid="14"/>
                                        </p:tgtEl>
                                        <p:attrNameLst>
                                          <p:attrName>style.visibility</p:attrName>
                                        </p:attrNameLst>
                                      </p:cBhvr>
                                      <p:to>
                                        <p:strVal val="hidden"/>
                                      </p:to>
                                    </p:set>
                                  </p:childTnLst>
                                </p:cTn>
                              </p:par>
                              <p:par>
                                <p:cTn id="78" presetID="2" presetClass="exit" presetSubtype="4" fill="hold" grpId="1" nodeType="withEffect">
                                  <p:stCondLst>
                                    <p:cond delay="1000"/>
                                  </p:stCondLst>
                                  <p:childTnLst>
                                    <p:anim calcmode="lin" valueType="num">
                                      <p:cBhvr additive="base">
                                        <p:cTn id="79" dur="2000"/>
                                        <p:tgtEl>
                                          <p:spTgt spid="12"/>
                                        </p:tgtEl>
                                        <p:attrNameLst>
                                          <p:attrName>ppt_x</p:attrName>
                                        </p:attrNameLst>
                                      </p:cBhvr>
                                      <p:tavLst>
                                        <p:tav tm="0">
                                          <p:val>
                                            <p:strVal val="ppt_x"/>
                                          </p:val>
                                        </p:tav>
                                        <p:tav tm="100000">
                                          <p:val>
                                            <p:strVal val="ppt_x"/>
                                          </p:val>
                                        </p:tav>
                                      </p:tavLst>
                                    </p:anim>
                                    <p:anim calcmode="lin" valueType="num">
                                      <p:cBhvr additive="base">
                                        <p:cTn id="80" dur="2000"/>
                                        <p:tgtEl>
                                          <p:spTgt spid="12"/>
                                        </p:tgtEl>
                                        <p:attrNameLst>
                                          <p:attrName>ppt_y</p:attrName>
                                        </p:attrNameLst>
                                      </p:cBhvr>
                                      <p:tavLst>
                                        <p:tav tm="0">
                                          <p:val>
                                            <p:strVal val="ppt_y"/>
                                          </p:val>
                                        </p:tav>
                                        <p:tav tm="100000">
                                          <p:val>
                                            <p:strVal val="1+ppt_h/2"/>
                                          </p:val>
                                        </p:tav>
                                      </p:tavLst>
                                    </p:anim>
                                    <p:set>
                                      <p:cBhvr>
                                        <p:cTn id="81" dur="1" fill="hold">
                                          <p:stCondLst>
                                            <p:cond delay="1999"/>
                                          </p:stCondLst>
                                        </p:cTn>
                                        <p:tgtEl>
                                          <p:spTgt spid="12"/>
                                        </p:tgtEl>
                                        <p:attrNameLst>
                                          <p:attrName>style.visibility</p:attrName>
                                        </p:attrNameLst>
                                      </p:cBhvr>
                                      <p:to>
                                        <p:strVal val="hidden"/>
                                      </p:to>
                                    </p:set>
                                  </p:childTnLst>
                                </p:cTn>
                              </p:par>
                              <p:par>
                                <p:cTn id="82" presetID="2" presetClass="exit" presetSubtype="4" fill="hold" grpId="1" nodeType="withEffect">
                                  <p:stCondLst>
                                    <p:cond delay="1000"/>
                                  </p:stCondLst>
                                  <p:childTnLst>
                                    <p:anim calcmode="lin" valueType="num">
                                      <p:cBhvr additive="base">
                                        <p:cTn id="83" dur="2000"/>
                                        <p:tgtEl>
                                          <p:spTgt spid="15"/>
                                        </p:tgtEl>
                                        <p:attrNameLst>
                                          <p:attrName>ppt_x</p:attrName>
                                        </p:attrNameLst>
                                      </p:cBhvr>
                                      <p:tavLst>
                                        <p:tav tm="0">
                                          <p:val>
                                            <p:strVal val="ppt_x"/>
                                          </p:val>
                                        </p:tav>
                                        <p:tav tm="100000">
                                          <p:val>
                                            <p:strVal val="ppt_x"/>
                                          </p:val>
                                        </p:tav>
                                      </p:tavLst>
                                    </p:anim>
                                    <p:anim calcmode="lin" valueType="num">
                                      <p:cBhvr additive="base">
                                        <p:cTn id="84" dur="2000"/>
                                        <p:tgtEl>
                                          <p:spTgt spid="15"/>
                                        </p:tgtEl>
                                        <p:attrNameLst>
                                          <p:attrName>ppt_y</p:attrName>
                                        </p:attrNameLst>
                                      </p:cBhvr>
                                      <p:tavLst>
                                        <p:tav tm="0">
                                          <p:val>
                                            <p:strVal val="ppt_y"/>
                                          </p:val>
                                        </p:tav>
                                        <p:tav tm="100000">
                                          <p:val>
                                            <p:strVal val="1+ppt_h/2"/>
                                          </p:val>
                                        </p:tav>
                                      </p:tavLst>
                                    </p:anim>
                                    <p:set>
                                      <p:cBhvr>
                                        <p:cTn id="85" dur="1" fill="hold">
                                          <p:stCondLst>
                                            <p:cond delay="1999"/>
                                          </p:stCondLst>
                                        </p:cTn>
                                        <p:tgtEl>
                                          <p:spTgt spid="15"/>
                                        </p:tgtEl>
                                        <p:attrNameLst>
                                          <p:attrName>style.visibility</p:attrName>
                                        </p:attrNameLst>
                                      </p:cBhvr>
                                      <p:to>
                                        <p:strVal val="hidden"/>
                                      </p:to>
                                    </p:set>
                                  </p:childTnLst>
                                </p:cTn>
                              </p:par>
                              <p:par>
                                <p:cTn id="86" presetID="2" presetClass="exit" presetSubtype="4" fill="hold" grpId="1" nodeType="withEffect">
                                  <p:stCondLst>
                                    <p:cond delay="1000"/>
                                  </p:stCondLst>
                                  <p:childTnLst>
                                    <p:anim calcmode="lin" valueType="num">
                                      <p:cBhvr additive="base">
                                        <p:cTn id="87" dur="2000"/>
                                        <p:tgtEl>
                                          <p:spTgt spid="25"/>
                                        </p:tgtEl>
                                        <p:attrNameLst>
                                          <p:attrName>ppt_x</p:attrName>
                                        </p:attrNameLst>
                                      </p:cBhvr>
                                      <p:tavLst>
                                        <p:tav tm="0">
                                          <p:val>
                                            <p:strVal val="ppt_x"/>
                                          </p:val>
                                        </p:tav>
                                        <p:tav tm="100000">
                                          <p:val>
                                            <p:strVal val="ppt_x"/>
                                          </p:val>
                                        </p:tav>
                                      </p:tavLst>
                                    </p:anim>
                                    <p:anim calcmode="lin" valueType="num">
                                      <p:cBhvr additive="base">
                                        <p:cTn id="88" dur="2000"/>
                                        <p:tgtEl>
                                          <p:spTgt spid="25"/>
                                        </p:tgtEl>
                                        <p:attrNameLst>
                                          <p:attrName>ppt_y</p:attrName>
                                        </p:attrNameLst>
                                      </p:cBhvr>
                                      <p:tavLst>
                                        <p:tav tm="0">
                                          <p:val>
                                            <p:strVal val="ppt_y"/>
                                          </p:val>
                                        </p:tav>
                                        <p:tav tm="100000">
                                          <p:val>
                                            <p:strVal val="1+ppt_h/2"/>
                                          </p:val>
                                        </p:tav>
                                      </p:tavLst>
                                    </p:anim>
                                    <p:set>
                                      <p:cBhvr>
                                        <p:cTn id="89" dur="1" fill="hold">
                                          <p:stCondLst>
                                            <p:cond delay="1999"/>
                                          </p:stCondLst>
                                        </p:cTn>
                                        <p:tgtEl>
                                          <p:spTgt spid="25"/>
                                        </p:tgtEl>
                                        <p:attrNameLst>
                                          <p:attrName>style.visibility</p:attrName>
                                        </p:attrNameLst>
                                      </p:cBhvr>
                                      <p:to>
                                        <p:strVal val="hidden"/>
                                      </p:to>
                                    </p:set>
                                  </p:childTnLst>
                                </p:cTn>
                              </p:par>
                              <p:par>
                                <p:cTn id="90" presetID="2" presetClass="exit" presetSubtype="4" fill="hold" grpId="1" nodeType="withEffect">
                                  <p:stCondLst>
                                    <p:cond delay="1000"/>
                                  </p:stCondLst>
                                  <p:childTnLst>
                                    <p:anim calcmode="lin" valueType="num">
                                      <p:cBhvr additive="base">
                                        <p:cTn id="91" dur="2000"/>
                                        <p:tgtEl>
                                          <p:spTgt spid="23"/>
                                        </p:tgtEl>
                                        <p:attrNameLst>
                                          <p:attrName>ppt_x</p:attrName>
                                        </p:attrNameLst>
                                      </p:cBhvr>
                                      <p:tavLst>
                                        <p:tav tm="0">
                                          <p:val>
                                            <p:strVal val="ppt_x"/>
                                          </p:val>
                                        </p:tav>
                                        <p:tav tm="100000">
                                          <p:val>
                                            <p:strVal val="ppt_x"/>
                                          </p:val>
                                        </p:tav>
                                      </p:tavLst>
                                    </p:anim>
                                    <p:anim calcmode="lin" valueType="num">
                                      <p:cBhvr additive="base">
                                        <p:cTn id="92" dur="2000"/>
                                        <p:tgtEl>
                                          <p:spTgt spid="23"/>
                                        </p:tgtEl>
                                        <p:attrNameLst>
                                          <p:attrName>ppt_y</p:attrName>
                                        </p:attrNameLst>
                                      </p:cBhvr>
                                      <p:tavLst>
                                        <p:tav tm="0">
                                          <p:val>
                                            <p:strVal val="ppt_y"/>
                                          </p:val>
                                        </p:tav>
                                        <p:tav tm="100000">
                                          <p:val>
                                            <p:strVal val="1+ppt_h/2"/>
                                          </p:val>
                                        </p:tav>
                                      </p:tavLst>
                                    </p:anim>
                                    <p:set>
                                      <p:cBhvr>
                                        <p:cTn id="93" dur="1" fill="hold">
                                          <p:stCondLst>
                                            <p:cond delay="1999"/>
                                          </p:stCondLst>
                                        </p:cTn>
                                        <p:tgtEl>
                                          <p:spTgt spid="23"/>
                                        </p:tgtEl>
                                        <p:attrNameLst>
                                          <p:attrName>style.visibility</p:attrName>
                                        </p:attrNameLst>
                                      </p:cBhvr>
                                      <p:to>
                                        <p:strVal val="hidden"/>
                                      </p:to>
                                    </p:set>
                                  </p:childTnLst>
                                </p:cTn>
                              </p:par>
                              <p:par>
                                <p:cTn id="94" presetID="2" presetClass="exit" presetSubtype="4" fill="hold" grpId="1" nodeType="withEffect">
                                  <p:stCondLst>
                                    <p:cond delay="1000"/>
                                  </p:stCondLst>
                                  <p:childTnLst>
                                    <p:anim calcmode="lin" valueType="num">
                                      <p:cBhvr additive="base">
                                        <p:cTn id="95" dur="2000"/>
                                        <p:tgtEl>
                                          <p:spTgt spid="24"/>
                                        </p:tgtEl>
                                        <p:attrNameLst>
                                          <p:attrName>ppt_x</p:attrName>
                                        </p:attrNameLst>
                                      </p:cBhvr>
                                      <p:tavLst>
                                        <p:tav tm="0">
                                          <p:val>
                                            <p:strVal val="ppt_x"/>
                                          </p:val>
                                        </p:tav>
                                        <p:tav tm="100000">
                                          <p:val>
                                            <p:strVal val="ppt_x"/>
                                          </p:val>
                                        </p:tav>
                                      </p:tavLst>
                                    </p:anim>
                                    <p:anim calcmode="lin" valueType="num">
                                      <p:cBhvr additive="base">
                                        <p:cTn id="96" dur="2000"/>
                                        <p:tgtEl>
                                          <p:spTgt spid="24"/>
                                        </p:tgtEl>
                                        <p:attrNameLst>
                                          <p:attrName>ppt_y</p:attrName>
                                        </p:attrNameLst>
                                      </p:cBhvr>
                                      <p:tavLst>
                                        <p:tav tm="0">
                                          <p:val>
                                            <p:strVal val="ppt_y"/>
                                          </p:val>
                                        </p:tav>
                                        <p:tav tm="100000">
                                          <p:val>
                                            <p:strVal val="1+ppt_h/2"/>
                                          </p:val>
                                        </p:tav>
                                      </p:tavLst>
                                    </p:anim>
                                    <p:set>
                                      <p:cBhvr>
                                        <p:cTn id="97" dur="1" fill="hold">
                                          <p:stCondLst>
                                            <p:cond delay="1999"/>
                                          </p:stCondLst>
                                        </p:cTn>
                                        <p:tgtEl>
                                          <p:spTgt spid="24"/>
                                        </p:tgtEl>
                                        <p:attrNameLst>
                                          <p:attrName>style.visibility</p:attrName>
                                        </p:attrNameLst>
                                      </p:cBhvr>
                                      <p:to>
                                        <p:strVal val="hidden"/>
                                      </p:to>
                                    </p:set>
                                  </p:childTnLst>
                                </p:cTn>
                              </p:par>
                              <p:par>
                                <p:cTn id="98" presetID="2" presetClass="exit" presetSubtype="4" fill="hold" grpId="1" nodeType="withEffect">
                                  <p:stCondLst>
                                    <p:cond delay="1000"/>
                                  </p:stCondLst>
                                  <p:childTnLst>
                                    <p:anim calcmode="lin" valueType="num">
                                      <p:cBhvr additive="base">
                                        <p:cTn id="99" dur="2000"/>
                                        <p:tgtEl>
                                          <p:spTgt spid="26"/>
                                        </p:tgtEl>
                                        <p:attrNameLst>
                                          <p:attrName>ppt_x</p:attrName>
                                        </p:attrNameLst>
                                      </p:cBhvr>
                                      <p:tavLst>
                                        <p:tav tm="0">
                                          <p:val>
                                            <p:strVal val="ppt_x"/>
                                          </p:val>
                                        </p:tav>
                                        <p:tav tm="100000">
                                          <p:val>
                                            <p:strVal val="ppt_x"/>
                                          </p:val>
                                        </p:tav>
                                      </p:tavLst>
                                    </p:anim>
                                    <p:anim calcmode="lin" valueType="num">
                                      <p:cBhvr additive="base">
                                        <p:cTn id="100" dur="2000"/>
                                        <p:tgtEl>
                                          <p:spTgt spid="26"/>
                                        </p:tgtEl>
                                        <p:attrNameLst>
                                          <p:attrName>ppt_y</p:attrName>
                                        </p:attrNameLst>
                                      </p:cBhvr>
                                      <p:tavLst>
                                        <p:tav tm="0">
                                          <p:val>
                                            <p:strVal val="ppt_y"/>
                                          </p:val>
                                        </p:tav>
                                        <p:tav tm="100000">
                                          <p:val>
                                            <p:strVal val="1+ppt_h/2"/>
                                          </p:val>
                                        </p:tav>
                                      </p:tavLst>
                                    </p:anim>
                                    <p:set>
                                      <p:cBhvr>
                                        <p:cTn id="101" dur="1" fill="hold">
                                          <p:stCondLst>
                                            <p:cond delay="1999"/>
                                          </p:stCondLst>
                                        </p:cTn>
                                        <p:tgtEl>
                                          <p:spTgt spid="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23" grpId="0" animBg="1"/>
      <p:bldP spid="23" grpId="1" animBg="1"/>
      <p:bldP spid="24" grpId="0" animBg="1"/>
      <p:bldP spid="24" grpId="1" animBg="1"/>
      <p:bldP spid="25" grpId="0" animBg="1"/>
      <p:bldP spid="25" grpId="1" animBg="1"/>
      <p:bldP spid="26" grpId="0" animBg="1"/>
      <p:bldP spid="26" grpId="1" animBg="1"/>
      <p:bldP spid="6" grpId="0" animBg="1"/>
      <p:bldP spid="7" grpId="0" animBg="1"/>
      <p:bldP spid="8" grpId="0" animBg="1"/>
      <p:bldP spid="9" grpId="0" animBg="1"/>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56963" y="1001687"/>
            <a:ext cx="8048776" cy="339120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1212560" y="1098905"/>
            <a:ext cx="6777445" cy="605294"/>
          </a:xfrm>
          <a:prstGeom prst="rect">
            <a:avLst/>
          </a:prstGeom>
          <a:solidFill>
            <a:srgbClr val="000099"/>
          </a:solidFill>
        </p:spPr>
        <p:txBody>
          <a:bodyPr wrap="square" anchor="ctr">
            <a:spAutoFit/>
          </a:bodyPr>
          <a:lstStyle/>
          <a:p>
            <a:pPr algn="ctr">
              <a:lnSpc>
                <a:spcPts val="2000"/>
              </a:lnSpc>
            </a:pPr>
            <a:r>
              <a:rPr lang="zh-CN" altLang="en-US" sz="1600" b="1" dirty="0">
                <a:solidFill>
                  <a:schemeClr val="bg1"/>
                </a:solidFill>
                <a:latin typeface="微软雅黑" pitchFamily="34" charset="-122"/>
                <a:ea typeface="微软雅黑" pitchFamily="34" charset="-122"/>
              </a:rPr>
              <a:t>分组丢弃使发送方出现超时重传，使多个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连接</a:t>
            </a:r>
            <a:r>
              <a:rPr lang="zh-CN" altLang="en-US" sz="1600" b="1" dirty="0">
                <a:solidFill>
                  <a:srgbClr val="FFC000"/>
                </a:solidFill>
                <a:latin typeface="微软雅黑" pitchFamily="34" charset="-122"/>
                <a:ea typeface="微软雅黑" pitchFamily="34" charset="-122"/>
              </a:rPr>
              <a:t>同时</a:t>
            </a:r>
            <a:r>
              <a:rPr lang="zh-CN" altLang="en-US" sz="1600" b="1" dirty="0">
                <a:solidFill>
                  <a:schemeClr val="bg1"/>
                </a:solidFill>
                <a:latin typeface="微软雅黑" pitchFamily="34" charset="-122"/>
                <a:ea typeface="微软雅黑" pitchFamily="34" charset="-122"/>
              </a:rPr>
              <a:t>进入慢启动状态，</a:t>
            </a:r>
            <a:endParaRPr lang="en-US" altLang="zh-CN" sz="1600" b="1" dirty="0">
              <a:solidFill>
                <a:schemeClr val="bg1"/>
              </a:solidFill>
              <a:latin typeface="微软雅黑" pitchFamily="34" charset="-122"/>
              <a:ea typeface="微软雅黑" pitchFamily="34" charset="-122"/>
            </a:endParaRPr>
          </a:p>
          <a:p>
            <a:pPr algn="ctr">
              <a:lnSpc>
                <a:spcPts val="2000"/>
              </a:lnSpc>
            </a:pPr>
            <a:r>
              <a:rPr lang="zh-CN" altLang="en-US" sz="1600" b="1" dirty="0">
                <a:solidFill>
                  <a:schemeClr val="bg1"/>
                </a:solidFill>
                <a:latin typeface="微软雅黑" pitchFamily="34" charset="-122"/>
                <a:ea typeface="微软雅黑" pitchFamily="34" charset="-122"/>
              </a:rPr>
              <a:t>发生</a:t>
            </a:r>
            <a:r>
              <a:rPr lang="zh-CN" altLang="en-US" sz="1600" b="1" dirty="0">
                <a:solidFill>
                  <a:srgbClr val="FFC000"/>
                </a:solidFill>
                <a:latin typeface="微软雅黑" pitchFamily="34" charset="-122"/>
                <a:ea typeface="微软雅黑" pitchFamily="34" charset="-122"/>
              </a:rPr>
              <a:t>全局同步 </a:t>
            </a:r>
            <a:r>
              <a:rPr lang="en-US" altLang="zh-CN" sz="1600" b="1" dirty="0">
                <a:solidFill>
                  <a:schemeClr val="bg1"/>
                </a:solidFill>
                <a:latin typeface="微软雅黑" pitchFamily="34" charset="-122"/>
                <a:ea typeface="微软雅黑" pitchFamily="34" charset="-122"/>
              </a:rPr>
              <a:t>(global </a:t>
            </a:r>
            <a:r>
              <a:rPr lang="en-US" altLang="zh-CN" sz="1600" b="1" dirty="0" err="1">
                <a:solidFill>
                  <a:schemeClr val="bg1"/>
                </a:solidFill>
                <a:latin typeface="微软雅黑" pitchFamily="34" charset="-122"/>
                <a:ea typeface="微软雅黑" pitchFamily="34" charset="-122"/>
              </a:rPr>
              <a:t>syncronization</a:t>
            </a:r>
            <a:r>
              <a:rPr lang="en-US" altLang="zh-CN" sz="1600" b="1" dirty="0">
                <a:solidFill>
                  <a:schemeClr val="bg1"/>
                </a:solidFill>
                <a:latin typeface="微软雅黑" pitchFamily="34" charset="-122"/>
                <a:ea typeface="微软雅黑" pitchFamily="34" charset="-122"/>
              </a:rPr>
              <a:t>)</a:t>
            </a:r>
            <a:r>
              <a:rPr lang="zh-CN" altLang="en-US" sz="1600" b="1" dirty="0">
                <a:solidFill>
                  <a:schemeClr val="bg1"/>
                </a:solidFill>
                <a:latin typeface="微软雅黑" pitchFamily="34" charset="-122"/>
                <a:ea typeface="微软雅黑" pitchFamily="34" charset="-122"/>
              </a:rPr>
              <a:t>。</a:t>
            </a:r>
          </a:p>
        </p:txBody>
      </p:sp>
      <p:sp>
        <p:nvSpPr>
          <p:cNvPr id="70" name="Line 6"/>
          <p:cNvSpPr>
            <a:spLocks noChangeShapeType="1"/>
          </p:cNvSpPr>
          <p:nvPr/>
        </p:nvSpPr>
        <p:spPr bwMode="auto">
          <a:xfrm>
            <a:off x="2286000" y="4182000"/>
            <a:ext cx="4724400" cy="15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1" name="Line 7"/>
          <p:cNvSpPr>
            <a:spLocks noChangeShapeType="1"/>
          </p:cNvSpPr>
          <p:nvPr/>
        </p:nvSpPr>
        <p:spPr bwMode="auto">
          <a:xfrm>
            <a:off x="2286000" y="2658000"/>
            <a:ext cx="4419600" cy="1588"/>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2" name="Text Box 8"/>
          <p:cNvSpPr txBox="1">
            <a:spLocks noChangeArrowheads="1"/>
          </p:cNvSpPr>
          <p:nvPr/>
        </p:nvSpPr>
        <p:spPr bwMode="auto">
          <a:xfrm>
            <a:off x="914400" y="2251345"/>
            <a:ext cx="1371600"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tIns="36000">
            <a:spAutoFit/>
          </a:bodyPr>
          <a:lstStyle/>
          <a:p>
            <a:pPr algn="r" eaLnBrk="1" latinLnBrk="1" hangingPunct="1">
              <a:spcBef>
                <a:spcPct val="50000"/>
              </a:spcBef>
              <a:buClr>
                <a:schemeClr val="folHlink"/>
              </a:buClr>
              <a:buFont typeface="Wingdings" pitchFamily="2" charset="2"/>
              <a:buNone/>
            </a:pPr>
            <a:r>
              <a:rPr kumimoji="1" lang="zh-CN" altLang="en-US" sz="1400" b="1" dirty="0">
                <a:effectLst/>
                <a:latin typeface="微软雅黑" pitchFamily="34" charset="-122"/>
                <a:ea typeface="微软雅黑" pitchFamily="34" charset="-122"/>
              </a:rPr>
              <a:t>队列长度</a:t>
            </a:r>
            <a:endParaRPr kumimoji="1" lang="en-US" altLang="ko-KR" sz="1400" b="1" dirty="0">
              <a:effectLst/>
              <a:latin typeface="微软雅黑" pitchFamily="34" charset="-122"/>
              <a:ea typeface="微软雅黑" pitchFamily="34" charset="-122"/>
            </a:endParaRPr>
          </a:p>
        </p:txBody>
      </p:sp>
      <p:sp>
        <p:nvSpPr>
          <p:cNvPr id="73" name="Text Box 9"/>
          <p:cNvSpPr txBox="1">
            <a:spLocks noChangeArrowheads="1"/>
          </p:cNvSpPr>
          <p:nvPr/>
        </p:nvSpPr>
        <p:spPr bwMode="auto">
          <a:xfrm>
            <a:off x="7010400" y="4023250"/>
            <a:ext cx="838200"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tIns="36000">
            <a:spAutoFit/>
          </a:bodyPr>
          <a:lstStyle/>
          <a:p>
            <a:pPr algn="l" eaLnBrk="1" latinLnBrk="1" hangingPunct="1">
              <a:spcBef>
                <a:spcPct val="50000"/>
              </a:spcBef>
              <a:buClr>
                <a:schemeClr val="folHlink"/>
              </a:buClr>
              <a:buFont typeface="Wingdings" pitchFamily="2" charset="2"/>
              <a:buNone/>
            </a:pPr>
            <a:r>
              <a:rPr kumimoji="1" lang="zh-CN" altLang="en-US" sz="1400" b="1" dirty="0">
                <a:effectLst/>
                <a:latin typeface="微软雅黑" pitchFamily="34" charset="-122"/>
                <a:ea typeface="微软雅黑" pitchFamily="34" charset="-122"/>
              </a:rPr>
              <a:t>时间</a:t>
            </a:r>
            <a:endParaRPr kumimoji="1" lang="en-US" altLang="ko-KR" sz="1400" b="1" dirty="0">
              <a:effectLst/>
              <a:latin typeface="微软雅黑" pitchFamily="34" charset="-122"/>
              <a:ea typeface="微软雅黑" pitchFamily="34" charset="-122"/>
            </a:endParaRPr>
          </a:p>
        </p:txBody>
      </p:sp>
      <p:sp>
        <p:nvSpPr>
          <p:cNvPr id="76" name="Line 12"/>
          <p:cNvSpPr>
            <a:spLocks noChangeShapeType="1"/>
          </p:cNvSpPr>
          <p:nvPr/>
        </p:nvSpPr>
        <p:spPr bwMode="auto">
          <a:xfrm>
            <a:off x="2286000" y="3940700"/>
            <a:ext cx="4419600" cy="1588"/>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Lst>
        </p:spPr>
        <p:txBody>
          <a:bodyPr wrap="none" tIns="36000"/>
          <a:lstStyle/>
          <a:p>
            <a:endParaRPr lang="zh-CN" altLang="en-US"/>
          </a:p>
        </p:txBody>
      </p:sp>
      <p:grpSp>
        <p:nvGrpSpPr>
          <p:cNvPr id="4" name="组合 3"/>
          <p:cNvGrpSpPr/>
          <p:nvPr/>
        </p:nvGrpSpPr>
        <p:grpSpPr>
          <a:xfrm>
            <a:off x="2286000" y="2658000"/>
            <a:ext cx="3659188" cy="1295400"/>
            <a:chOff x="2286000" y="2511834"/>
            <a:chExt cx="3659188" cy="1295400"/>
          </a:xfrm>
        </p:grpSpPr>
        <p:sp>
          <p:nvSpPr>
            <p:cNvPr id="74" name="Freeform 10"/>
            <p:cNvSpPr>
              <a:spLocks/>
            </p:cNvSpPr>
            <p:nvPr/>
          </p:nvSpPr>
          <p:spPr bwMode="auto">
            <a:xfrm>
              <a:off x="22860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5" name="Line 11"/>
            <p:cNvSpPr>
              <a:spLocks noChangeShapeType="1"/>
            </p:cNvSpPr>
            <p:nvPr/>
          </p:nvSpPr>
          <p:spPr bwMode="auto">
            <a:xfrm>
              <a:off x="32004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7" name="Freeform 13"/>
            <p:cNvSpPr>
              <a:spLocks/>
            </p:cNvSpPr>
            <p:nvPr/>
          </p:nvSpPr>
          <p:spPr bwMode="auto">
            <a:xfrm>
              <a:off x="32004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8" name="Line 14"/>
            <p:cNvSpPr>
              <a:spLocks noChangeShapeType="1"/>
            </p:cNvSpPr>
            <p:nvPr/>
          </p:nvSpPr>
          <p:spPr bwMode="auto">
            <a:xfrm>
              <a:off x="41148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9" name="Freeform 15"/>
            <p:cNvSpPr>
              <a:spLocks/>
            </p:cNvSpPr>
            <p:nvPr/>
          </p:nvSpPr>
          <p:spPr bwMode="auto">
            <a:xfrm>
              <a:off x="41148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0" name="Line 16"/>
            <p:cNvSpPr>
              <a:spLocks noChangeShapeType="1"/>
            </p:cNvSpPr>
            <p:nvPr/>
          </p:nvSpPr>
          <p:spPr bwMode="auto">
            <a:xfrm>
              <a:off x="50292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1" name="Freeform 17"/>
            <p:cNvSpPr>
              <a:spLocks/>
            </p:cNvSpPr>
            <p:nvPr/>
          </p:nvSpPr>
          <p:spPr bwMode="auto">
            <a:xfrm>
              <a:off x="50292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2" name="Line 18"/>
            <p:cNvSpPr>
              <a:spLocks noChangeShapeType="1"/>
            </p:cNvSpPr>
            <p:nvPr/>
          </p:nvSpPr>
          <p:spPr bwMode="auto">
            <a:xfrm>
              <a:off x="59436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grpSp>
      <p:sp>
        <p:nvSpPr>
          <p:cNvPr id="83" name="Text Box 19"/>
          <p:cNvSpPr txBox="1">
            <a:spLocks noChangeArrowheads="1"/>
          </p:cNvSpPr>
          <p:nvPr/>
        </p:nvSpPr>
        <p:spPr bwMode="auto">
          <a:xfrm>
            <a:off x="6881884" y="2515790"/>
            <a:ext cx="1051559"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tIns="36000">
            <a:spAutoFit/>
          </a:bodyPr>
          <a:lstStyle/>
          <a:p>
            <a:pPr algn="l" eaLnBrk="1" latinLnBrk="1" hangingPunct="1">
              <a:spcBef>
                <a:spcPct val="50000"/>
              </a:spcBef>
              <a:buClr>
                <a:schemeClr val="folHlink"/>
              </a:buClr>
              <a:buFont typeface="Wingdings" pitchFamily="2" charset="2"/>
              <a:buNone/>
            </a:pPr>
            <a:r>
              <a:rPr kumimoji="1" lang="zh-CN" altLang="en-US" sz="1400" b="1" dirty="0">
                <a:solidFill>
                  <a:srgbClr val="C00000"/>
                </a:solidFill>
                <a:effectLst/>
                <a:latin typeface="微软雅黑" pitchFamily="34" charset="-122"/>
                <a:ea typeface="微软雅黑" pitchFamily="34" charset="-122"/>
              </a:rPr>
              <a:t>队列满</a:t>
            </a:r>
            <a:endParaRPr kumimoji="1" lang="en-US" altLang="ko-KR" sz="1400" b="1" dirty="0">
              <a:solidFill>
                <a:srgbClr val="C00000"/>
              </a:solidFill>
              <a:effectLst/>
              <a:latin typeface="微软雅黑" pitchFamily="34" charset="-122"/>
              <a:ea typeface="微软雅黑" pitchFamily="34" charset="-122"/>
            </a:endParaRPr>
          </a:p>
        </p:txBody>
      </p:sp>
      <p:sp>
        <p:nvSpPr>
          <p:cNvPr id="84" name="Rectangle 20"/>
          <p:cNvSpPr>
            <a:spLocks noChangeArrowheads="1"/>
          </p:cNvSpPr>
          <p:nvPr/>
        </p:nvSpPr>
        <p:spPr bwMode="auto">
          <a:xfrm>
            <a:off x="2392092" y="1794785"/>
            <a:ext cx="1605143" cy="685800"/>
          </a:xfrm>
          <a:prstGeom prst="rect">
            <a:avLst/>
          </a:prstGeom>
          <a:solidFill>
            <a:srgbClr val="FFFF99"/>
          </a:solidFill>
          <a:ln w="9525">
            <a:solidFill>
              <a:schemeClr val="tx1"/>
            </a:solidFill>
            <a:miter lim="800000"/>
            <a:headEnd/>
            <a:tailEnd/>
          </a:ln>
          <a:effectLst/>
        </p:spPr>
        <p:txBody>
          <a:bodyPr lIns="90000" tIns="46800" rIns="90000" bIns="46800" anchor="ctr" anchorCtr="1"/>
          <a:lstStyle/>
          <a:p>
            <a:pPr algn="l" eaLnBrk="1" latinLnBrk="1" hangingPunct="1"/>
            <a:r>
              <a:rPr kumimoji="1" lang="zh-CN" altLang="en-US" sz="1100" b="1" dirty="0">
                <a:effectLst/>
                <a:latin typeface="微软雅黑" pitchFamily="34" charset="-122"/>
                <a:ea typeface="微软雅黑" pitchFamily="34" charset="-122"/>
              </a:rPr>
              <a:t>队列满时，</a:t>
            </a:r>
            <a:r>
              <a:rPr kumimoji="1" lang="en-US" altLang="zh-CN" sz="1100" b="1" dirty="0">
                <a:effectLst/>
                <a:latin typeface="微软雅黑" pitchFamily="34" charset="-122"/>
                <a:ea typeface="微软雅黑" pitchFamily="34" charset="-122"/>
              </a:rPr>
              <a:t>TCP </a:t>
            </a:r>
            <a:r>
              <a:rPr kumimoji="1" lang="zh-CN" altLang="en-US" sz="1100" b="1" dirty="0">
                <a:effectLst/>
                <a:latin typeface="微软雅黑" pitchFamily="34" charset="-122"/>
                <a:ea typeface="微软雅黑" pitchFamily="34" charset="-122"/>
              </a:rPr>
              <a:t>重传定时器超时，重新开始慢启动，减少数据率。</a:t>
            </a:r>
            <a:endParaRPr kumimoji="1" lang="en-US" altLang="ko-KR" sz="1100" b="1" dirty="0">
              <a:effectLst/>
              <a:latin typeface="微软雅黑" pitchFamily="34" charset="-122"/>
              <a:ea typeface="微软雅黑" pitchFamily="34" charset="-122"/>
            </a:endParaRPr>
          </a:p>
        </p:txBody>
      </p:sp>
      <p:sp>
        <p:nvSpPr>
          <p:cNvPr id="85" name="Line 21"/>
          <p:cNvSpPr>
            <a:spLocks noChangeShapeType="1"/>
          </p:cNvSpPr>
          <p:nvPr/>
        </p:nvSpPr>
        <p:spPr bwMode="auto">
          <a:xfrm>
            <a:off x="3807817" y="2480585"/>
            <a:ext cx="304800" cy="180704"/>
          </a:xfrm>
          <a:prstGeom prst="line">
            <a:avLst/>
          </a:prstGeom>
          <a:noFill/>
          <a:ln w="12700">
            <a:solidFill>
              <a:srgbClr val="C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86" name="Rectangle 22"/>
          <p:cNvSpPr>
            <a:spLocks noChangeArrowheads="1"/>
          </p:cNvSpPr>
          <p:nvPr/>
        </p:nvSpPr>
        <p:spPr bwMode="auto">
          <a:xfrm>
            <a:off x="4062543" y="1794785"/>
            <a:ext cx="1267890" cy="685800"/>
          </a:xfrm>
          <a:prstGeom prst="rect">
            <a:avLst/>
          </a:prstGeom>
          <a:solidFill>
            <a:srgbClr val="FFFF99"/>
          </a:solidFill>
          <a:ln w="9525">
            <a:solidFill>
              <a:schemeClr val="tx1"/>
            </a:solidFill>
            <a:miter lim="800000"/>
            <a:headEnd/>
            <a:tailEnd/>
          </a:ln>
          <a:effectLst/>
        </p:spPr>
        <p:txBody>
          <a:bodyPr lIns="90000" tIns="46800" rIns="90000" bIns="46800" anchor="ctr" anchorCtr="1"/>
          <a:lstStyle/>
          <a:p>
            <a:pPr latinLnBrk="1"/>
            <a:r>
              <a:rPr kumimoji="1" lang="zh-CN" altLang="en-US" sz="1100" b="1" dirty="0">
                <a:latin typeface="微软雅黑" pitchFamily="34" charset="-122"/>
                <a:ea typeface="微软雅黑" pitchFamily="34" charset="-122"/>
              </a:rPr>
              <a:t>分组离开队列，之后执行慢启动增大数据传输率。</a:t>
            </a:r>
            <a:endParaRPr kumimoji="1" lang="en-US" altLang="ko-KR" sz="1100" b="1" dirty="0">
              <a:latin typeface="微软雅黑" pitchFamily="34" charset="-122"/>
              <a:ea typeface="微软雅黑" pitchFamily="34" charset="-122"/>
            </a:endParaRPr>
          </a:p>
        </p:txBody>
      </p:sp>
      <p:sp>
        <p:nvSpPr>
          <p:cNvPr id="87" name="Rectangle 23"/>
          <p:cNvSpPr>
            <a:spLocks noChangeArrowheads="1"/>
          </p:cNvSpPr>
          <p:nvPr/>
        </p:nvSpPr>
        <p:spPr bwMode="auto">
          <a:xfrm>
            <a:off x="5630083" y="1794785"/>
            <a:ext cx="1380317" cy="685800"/>
          </a:xfrm>
          <a:prstGeom prst="rect">
            <a:avLst/>
          </a:prstGeom>
          <a:solidFill>
            <a:srgbClr val="FFFF99"/>
          </a:solidFill>
          <a:ln w="9525">
            <a:solidFill>
              <a:schemeClr val="tx1"/>
            </a:solidFill>
            <a:miter lim="800000"/>
            <a:headEnd/>
            <a:tailEnd/>
          </a:ln>
          <a:effectLst/>
        </p:spPr>
        <p:txBody>
          <a:bodyPr lIns="90000" tIns="46800" rIns="90000" bIns="46800" anchor="ctr" anchorCtr="1"/>
          <a:lstStyle/>
          <a:p>
            <a:pPr latinLnBrk="1"/>
            <a:r>
              <a:rPr kumimoji="1" lang="zh-CN" altLang="en-US" sz="1000" b="1" dirty="0">
                <a:latin typeface="微软雅黑" pitchFamily="34" charset="-122"/>
                <a:ea typeface="微软雅黑" pitchFamily="34" charset="-122"/>
              </a:rPr>
              <a:t>队列又满时，</a:t>
            </a:r>
            <a:r>
              <a:rPr kumimoji="1" lang="en-US" altLang="zh-CN" sz="1000" b="1" dirty="0">
                <a:latin typeface="微软雅黑" pitchFamily="34" charset="-122"/>
                <a:ea typeface="微软雅黑" pitchFamily="34" charset="-122"/>
              </a:rPr>
              <a:t>TCP </a:t>
            </a:r>
            <a:r>
              <a:rPr kumimoji="1" lang="zh-CN" altLang="en-US" sz="1000" b="1" dirty="0">
                <a:latin typeface="微软雅黑" pitchFamily="34" charset="-122"/>
                <a:ea typeface="微软雅黑" pitchFamily="34" charset="-122"/>
              </a:rPr>
              <a:t>重传定时器超时，重新再次开始慢启动，减少数据率。</a:t>
            </a:r>
            <a:endParaRPr kumimoji="1" lang="en-US" altLang="ko-KR" sz="1000" b="1" dirty="0">
              <a:latin typeface="微软雅黑" pitchFamily="34" charset="-122"/>
              <a:ea typeface="微软雅黑" pitchFamily="34" charset="-122"/>
            </a:endParaRPr>
          </a:p>
        </p:txBody>
      </p:sp>
      <p:sp>
        <p:nvSpPr>
          <p:cNvPr id="88" name="Line 24"/>
          <p:cNvSpPr>
            <a:spLocks noChangeShapeType="1"/>
          </p:cNvSpPr>
          <p:nvPr/>
        </p:nvSpPr>
        <p:spPr bwMode="auto">
          <a:xfrm>
            <a:off x="4495800" y="2480585"/>
            <a:ext cx="226417" cy="942704"/>
          </a:xfrm>
          <a:prstGeom prst="line">
            <a:avLst/>
          </a:prstGeom>
          <a:noFill/>
          <a:ln w="12700">
            <a:solidFill>
              <a:srgbClr val="C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89" name="Line 25"/>
          <p:cNvSpPr>
            <a:spLocks noChangeShapeType="1"/>
          </p:cNvSpPr>
          <p:nvPr/>
        </p:nvSpPr>
        <p:spPr bwMode="auto">
          <a:xfrm flipH="1">
            <a:off x="5030787" y="2314171"/>
            <a:ext cx="599293" cy="334060"/>
          </a:xfrm>
          <a:prstGeom prst="line">
            <a:avLst/>
          </a:prstGeom>
          <a:noFill/>
          <a:ln w="12700">
            <a:solidFill>
              <a:srgbClr val="C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69" name="Line 5"/>
          <p:cNvSpPr>
            <a:spLocks noChangeShapeType="1"/>
          </p:cNvSpPr>
          <p:nvPr/>
        </p:nvSpPr>
        <p:spPr bwMode="auto">
          <a:xfrm flipV="1">
            <a:off x="2299063" y="2314172"/>
            <a:ext cx="1588" cy="18678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Lst>
        </p:spPr>
        <p:txBody>
          <a:bodyPr wrap="none" tIns="36000"/>
          <a:lstStyle/>
          <a:p>
            <a:endParaRPr lang="zh-CN" altLang="en-US"/>
          </a:p>
        </p:txBody>
      </p:sp>
      <p:grpSp>
        <p:nvGrpSpPr>
          <p:cNvPr id="28" name="组合 27"/>
          <p:cNvGrpSpPr/>
          <p:nvPr/>
        </p:nvGrpSpPr>
        <p:grpSpPr>
          <a:xfrm>
            <a:off x="2286000" y="3410226"/>
            <a:ext cx="3659188" cy="534646"/>
            <a:chOff x="2286000" y="2511834"/>
            <a:chExt cx="3659188" cy="1295400"/>
          </a:xfrm>
        </p:grpSpPr>
        <p:sp>
          <p:nvSpPr>
            <p:cNvPr id="30" name="Freeform 10"/>
            <p:cNvSpPr>
              <a:spLocks/>
            </p:cNvSpPr>
            <p:nvPr/>
          </p:nvSpPr>
          <p:spPr bwMode="auto">
            <a:xfrm>
              <a:off x="22860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CC00CC"/>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1" name="Line 11"/>
            <p:cNvSpPr>
              <a:spLocks noChangeShapeType="1"/>
            </p:cNvSpPr>
            <p:nvPr/>
          </p:nvSpPr>
          <p:spPr bwMode="auto">
            <a:xfrm>
              <a:off x="32004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2" name="Freeform 13"/>
            <p:cNvSpPr>
              <a:spLocks/>
            </p:cNvSpPr>
            <p:nvPr/>
          </p:nvSpPr>
          <p:spPr bwMode="auto">
            <a:xfrm>
              <a:off x="32004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CC00CC"/>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3" name="Line 14"/>
            <p:cNvSpPr>
              <a:spLocks noChangeShapeType="1"/>
            </p:cNvSpPr>
            <p:nvPr/>
          </p:nvSpPr>
          <p:spPr bwMode="auto">
            <a:xfrm>
              <a:off x="41148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4" name="Freeform 15"/>
            <p:cNvSpPr>
              <a:spLocks/>
            </p:cNvSpPr>
            <p:nvPr/>
          </p:nvSpPr>
          <p:spPr bwMode="auto">
            <a:xfrm>
              <a:off x="41148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CC00CC"/>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5" name="Line 16"/>
            <p:cNvSpPr>
              <a:spLocks noChangeShapeType="1"/>
            </p:cNvSpPr>
            <p:nvPr/>
          </p:nvSpPr>
          <p:spPr bwMode="auto">
            <a:xfrm>
              <a:off x="50292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6" name="Freeform 17"/>
            <p:cNvSpPr>
              <a:spLocks/>
            </p:cNvSpPr>
            <p:nvPr/>
          </p:nvSpPr>
          <p:spPr bwMode="auto">
            <a:xfrm>
              <a:off x="50292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CC00CC"/>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7" name="Line 18"/>
            <p:cNvSpPr>
              <a:spLocks noChangeShapeType="1"/>
            </p:cNvSpPr>
            <p:nvPr/>
          </p:nvSpPr>
          <p:spPr bwMode="auto">
            <a:xfrm>
              <a:off x="59436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grpSp>
      <p:grpSp>
        <p:nvGrpSpPr>
          <p:cNvPr id="59" name="组合 58"/>
          <p:cNvGrpSpPr/>
          <p:nvPr/>
        </p:nvGrpSpPr>
        <p:grpSpPr>
          <a:xfrm>
            <a:off x="2286000" y="3248085"/>
            <a:ext cx="3659188" cy="714261"/>
            <a:chOff x="2286000" y="2511834"/>
            <a:chExt cx="3659188" cy="1295400"/>
          </a:xfrm>
        </p:grpSpPr>
        <p:sp>
          <p:nvSpPr>
            <p:cNvPr id="60" name="Freeform 10"/>
            <p:cNvSpPr>
              <a:spLocks/>
            </p:cNvSpPr>
            <p:nvPr/>
          </p:nvSpPr>
          <p:spPr bwMode="auto">
            <a:xfrm>
              <a:off x="22860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FF6600"/>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1" name="Line 11"/>
            <p:cNvSpPr>
              <a:spLocks noChangeShapeType="1"/>
            </p:cNvSpPr>
            <p:nvPr/>
          </p:nvSpPr>
          <p:spPr bwMode="auto">
            <a:xfrm>
              <a:off x="32004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2" name="Freeform 13"/>
            <p:cNvSpPr>
              <a:spLocks/>
            </p:cNvSpPr>
            <p:nvPr/>
          </p:nvSpPr>
          <p:spPr bwMode="auto">
            <a:xfrm>
              <a:off x="32004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FF6600"/>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3" name="Line 14"/>
            <p:cNvSpPr>
              <a:spLocks noChangeShapeType="1"/>
            </p:cNvSpPr>
            <p:nvPr/>
          </p:nvSpPr>
          <p:spPr bwMode="auto">
            <a:xfrm>
              <a:off x="41148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4" name="Freeform 15"/>
            <p:cNvSpPr>
              <a:spLocks/>
            </p:cNvSpPr>
            <p:nvPr/>
          </p:nvSpPr>
          <p:spPr bwMode="auto">
            <a:xfrm>
              <a:off x="41148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FF6600"/>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5" name="Line 16"/>
            <p:cNvSpPr>
              <a:spLocks noChangeShapeType="1"/>
            </p:cNvSpPr>
            <p:nvPr/>
          </p:nvSpPr>
          <p:spPr bwMode="auto">
            <a:xfrm>
              <a:off x="50292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6" name="Freeform 17"/>
            <p:cNvSpPr>
              <a:spLocks/>
            </p:cNvSpPr>
            <p:nvPr/>
          </p:nvSpPr>
          <p:spPr bwMode="auto">
            <a:xfrm>
              <a:off x="50292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FF6600"/>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7" name="Line 18"/>
            <p:cNvSpPr>
              <a:spLocks noChangeShapeType="1"/>
            </p:cNvSpPr>
            <p:nvPr/>
          </p:nvSpPr>
          <p:spPr bwMode="auto">
            <a:xfrm>
              <a:off x="59436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grpSp>
      <p:sp>
        <p:nvSpPr>
          <p:cNvPr id="46" name="AutoShape 5"/>
          <p:cNvSpPr>
            <a:spLocks noChangeArrowheads="1"/>
          </p:cNvSpPr>
          <p:nvPr/>
        </p:nvSpPr>
        <p:spPr bwMode="auto">
          <a:xfrm>
            <a:off x="556963" y="62156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7" name="Rectangle 6"/>
          <p:cNvSpPr>
            <a:spLocks noChangeArrowheads="1"/>
          </p:cNvSpPr>
          <p:nvPr/>
        </p:nvSpPr>
        <p:spPr bwMode="auto">
          <a:xfrm>
            <a:off x="3334856" y="588353"/>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严重问题：全局同步</a:t>
            </a:r>
          </a:p>
        </p:txBody>
      </p:sp>
    </p:spTree>
    <p:extLst>
      <p:ext uri="{BB962C8B-B14F-4D97-AF65-F5344CB8AC3E}">
        <p14:creationId xmlns:p14="http://schemas.microsoft.com/office/powerpoint/2010/main" val="1717677406"/>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184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347680" y="588636"/>
            <a:ext cx="246734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主动队列管理 </a:t>
            </a:r>
            <a:r>
              <a:rPr lang="en-US" altLang="zh-CN" sz="2000" b="1" dirty="0">
                <a:solidFill>
                  <a:schemeClr val="bg1"/>
                </a:solidFill>
                <a:latin typeface="微软雅黑" pitchFamily="34" charset="-122"/>
                <a:ea typeface="微软雅黑" pitchFamily="34" charset="-122"/>
              </a:rPr>
              <a:t>AQM</a:t>
            </a:r>
            <a:endParaRPr lang="zh-CN" altLang="en-US" sz="2000" b="1" dirty="0">
              <a:solidFill>
                <a:schemeClr val="bg1"/>
              </a:solidFill>
              <a:latin typeface="微软雅黑" pitchFamily="34" charset="-122"/>
              <a:ea typeface="微软雅黑" pitchFamily="34" charset="-122"/>
            </a:endParaRPr>
          </a:p>
        </p:txBody>
      </p:sp>
      <p:sp>
        <p:nvSpPr>
          <p:cNvPr id="4" name="Rectangle 68"/>
          <p:cNvSpPr>
            <a:spLocks noChangeArrowheads="1"/>
          </p:cNvSpPr>
          <p:nvPr/>
        </p:nvSpPr>
        <p:spPr bwMode="auto">
          <a:xfrm>
            <a:off x="556963" y="984946"/>
            <a:ext cx="8048776" cy="34331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主动队列管理 </a:t>
            </a:r>
            <a:r>
              <a:rPr lang="en-US" altLang="zh-CN" sz="2000" b="1" dirty="0">
                <a:latin typeface="微软雅黑" pitchFamily="34" charset="-122"/>
                <a:ea typeface="微软雅黑" pitchFamily="34" charset="-122"/>
              </a:rPr>
              <a:t>AQM (Active Queue Management)</a:t>
            </a:r>
            <a:r>
              <a:rPr lang="zh-CN" altLang="en-US" sz="2000" b="1" dirty="0">
                <a:latin typeface="微软雅黑" pitchFamily="34" charset="-122"/>
                <a:ea typeface="微软雅黑" pitchFamily="34" charset="-122"/>
              </a:rPr>
              <a:t>可避免发生全局同步现象。</a:t>
            </a:r>
          </a:p>
          <a:p>
            <a:pPr marL="342900" indent="-34290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主动：</a:t>
            </a:r>
            <a:r>
              <a:rPr lang="zh-CN" altLang="en-US" sz="2000" b="1" dirty="0">
                <a:latin typeface="微软雅黑" pitchFamily="34" charset="-122"/>
                <a:ea typeface="微软雅黑" pitchFamily="34" charset="-122"/>
              </a:rPr>
              <a:t>不要等到路由器的队列长度已经达到最大值时才不得不丢弃后面到达的分组，而是在队列长度</a:t>
            </a:r>
            <a:r>
              <a:rPr lang="zh-CN" altLang="en-US" sz="2000" b="1" dirty="0">
                <a:solidFill>
                  <a:srgbClr val="0000FF"/>
                </a:solidFill>
                <a:latin typeface="微软雅黑" pitchFamily="34" charset="-122"/>
                <a:ea typeface="微软雅黑" pitchFamily="34" charset="-122"/>
              </a:rPr>
              <a:t>达到某个值得警惕的数值时</a:t>
            </a:r>
            <a:r>
              <a:rPr lang="zh-CN" altLang="en-US" sz="2000" b="1" dirty="0">
                <a:latin typeface="微软雅黑" pitchFamily="34" charset="-122"/>
                <a:ea typeface="微软雅黑" pitchFamily="34" charset="-122"/>
              </a:rPr>
              <a:t>（即当网络拥塞有了某些拥塞征兆时），就</a:t>
            </a:r>
            <a:r>
              <a:rPr lang="zh-CN" altLang="en-US" sz="2000" b="1" dirty="0">
                <a:solidFill>
                  <a:srgbClr val="0000FF"/>
                </a:solidFill>
                <a:latin typeface="微软雅黑" pitchFamily="34" charset="-122"/>
                <a:ea typeface="微软雅黑" pitchFamily="34" charset="-122"/>
              </a:rPr>
              <a:t>主动丢弃</a:t>
            </a:r>
            <a:r>
              <a:rPr lang="zh-CN" altLang="en-US" sz="2000" b="1" dirty="0">
                <a:latin typeface="微软雅黑" pitchFamily="34" charset="-122"/>
                <a:ea typeface="微软雅黑" pitchFamily="34" charset="-122"/>
              </a:rPr>
              <a:t>到达的分组。</a:t>
            </a:r>
          </a:p>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AQM </a:t>
            </a:r>
            <a:r>
              <a:rPr lang="zh-CN" altLang="en-US" sz="2000" b="1" dirty="0">
                <a:latin typeface="微软雅黑" pitchFamily="34" charset="-122"/>
                <a:ea typeface="微软雅黑" pitchFamily="34" charset="-122"/>
              </a:rPr>
              <a:t>可以有不同实现方法，其中曾流行多年的就是</a:t>
            </a:r>
            <a:r>
              <a:rPr lang="zh-CN" altLang="en-US" sz="2000" b="1" dirty="0">
                <a:solidFill>
                  <a:srgbClr val="C00000"/>
                </a:solidFill>
                <a:latin typeface="微软雅黑" pitchFamily="34" charset="-122"/>
                <a:ea typeface="微软雅黑" pitchFamily="34" charset="-122"/>
              </a:rPr>
              <a:t>随机早期检测 </a:t>
            </a:r>
            <a:r>
              <a:rPr lang="en-US" altLang="zh-CN" sz="2000" b="1" dirty="0">
                <a:solidFill>
                  <a:srgbClr val="C00000"/>
                </a:solidFill>
                <a:latin typeface="微软雅黑" pitchFamily="34" charset="-122"/>
                <a:ea typeface="微软雅黑" pitchFamily="34" charset="-122"/>
              </a:rPr>
              <a:t>RED</a:t>
            </a:r>
            <a:r>
              <a:rPr lang="en-US" altLang="zh-CN" sz="2000" b="1" dirty="0">
                <a:solidFill>
                  <a:srgbClr val="0000FF"/>
                </a:solidFill>
                <a:latin typeface="微软雅黑" pitchFamily="34" charset="-122"/>
                <a:ea typeface="微软雅黑" pitchFamily="34" charset="-122"/>
              </a:rPr>
              <a:t> </a:t>
            </a:r>
            <a:r>
              <a:rPr lang="en-US" altLang="zh-CN" sz="2000" b="1" dirty="0">
                <a:latin typeface="微软雅黑" pitchFamily="34" charset="-122"/>
                <a:ea typeface="微软雅黑" pitchFamily="34" charset="-122"/>
              </a:rPr>
              <a:t>(Random Early Detection)</a:t>
            </a:r>
            <a:r>
              <a:rPr lang="zh-CN" altLang="en-US" sz="2000" b="1" dirty="0">
                <a:latin typeface="微软雅黑" pitchFamily="34" charset="-122"/>
                <a:ea typeface="微软雅黑" pitchFamily="34" charset="-122"/>
              </a:rPr>
              <a:t> ，又称为</a:t>
            </a:r>
            <a:r>
              <a:rPr lang="zh-CN" altLang="en-US" sz="2000" b="1" dirty="0">
                <a:solidFill>
                  <a:srgbClr val="C00000"/>
                </a:solidFill>
                <a:latin typeface="微软雅黑" pitchFamily="34" charset="-122"/>
                <a:ea typeface="微软雅黑" pitchFamily="34" charset="-122"/>
              </a:rPr>
              <a:t>随机早期丢弃</a:t>
            </a:r>
            <a:r>
              <a:rPr lang="en-US" altLang="zh-CN" sz="2000" b="1" dirty="0">
                <a:solidFill>
                  <a:srgbClr val="C00000"/>
                </a:solidFill>
                <a:latin typeface="微软雅黑" pitchFamily="34" charset="-122"/>
                <a:ea typeface="微软雅黑" pitchFamily="34" charset="-122"/>
              </a:rPr>
              <a:t>RED</a:t>
            </a:r>
            <a:r>
              <a:rPr lang="en-US" altLang="zh-CN" sz="2000" b="1" dirty="0">
                <a:latin typeface="微软雅黑" pitchFamily="34" charset="-122"/>
                <a:ea typeface="微软雅黑" pitchFamily="34" charset="-122"/>
              </a:rPr>
              <a:t> (Random Early Drop, </a:t>
            </a:r>
            <a:r>
              <a:rPr lang="zh-CN" altLang="en-US" sz="2000" b="1" dirty="0">
                <a:latin typeface="微软雅黑" pitchFamily="34" charset="-122"/>
                <a:ea typeface="微软雅黑" pitchFamily="34" charset="-122"/>
              </a:rPr>
              <a:t>或</a:t>
            </a:r>
            <a:r>
              <a:rPr lang="en-US" altLang="zh-CN" sz="2000" b="1" dirty="0">
                <a:latin typeface="微软雅黑" pitchFamily="34" charset="-122"/>
                <a:ea typeface="微软雅黑" pitchFamily="34" charset="-122"/>
              </a:rPr>
              <a:t>Random Early Discard)</a:t>
            </a:r>
            <a:r>
              <a:rPr lang="zh-CN" altLang="en-US" sz="2000" b="1" dirty="0">
                <a:latin typeface="微软雅黑" pitchFamily="34" charset="-122"/>
                <a:ea typeface="微软雅黑" pitchFamily="34" charset="-122"/>
              </a:rPr>
              <a:t>。</a:t>
            </a:r>
          </a:p>
        </p:txBody>
      </p:sp>
    </p:spTree>
    <p:extLst>
      <p:ext uri="{BB962C8B-B14F-4D97-AF65-F5344CB8AC3E}">
        <p14:creationId xmlns:p14="http://schemas.microsoft.com/office/powerpoint/2010/main" val="3588758766"/>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213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386152" y="588919"/>
            <a:ext cx="239039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随机早期检测 </a:t>
            </a:r>
            <a:r>
              <a:rPr lang="en-US" altLang="zh-CN" sz="2000" b="1" dirty="0">
                <a:solidFill>
                  <a:schemeClr val="bg1"/>
                </a:solidFill>
                <a:latin typeface="微软雅黑" pitchFamily="34" charset="-122"/>
                <a:ea typeface="微软雅黑" pitchFamily="34" charset="-122"/>
              </a:rPr>
              <a:t>RED</a:t>
            </a:r>
            <a:endParaRPr lang="zh-CN" altLang="en-US" sz="2000" b="1" dirty="0">
              <a:solidFill>
                <a:schemeClr val="bg1"/>
              </a:solidFill>
              <a:latin typeface="微软雅黑" pitchFamily="34" charset="-122"/>
              <a:ea typeface="微软雅黑" pitchFamily="34" charset="-122"/>
            </a:endParaRPr>
          </a:p>
        </p:txBody>
      </p:sp>
      <p:sp>
        <p:nvSpPr>
          <p:cNvPr id="4" name="Rectangle 68"/>
          <p:cNvSpPr>
            <a:spLocks noChangeArrowheads="1"/>
          </p:cNvSpPr>
          <p:nvPr/>
        </p:nvSpPr>
        <p:spPr bwMode="auto">
          <a:xfrm>
            <a:off x="556963" y="948653"/>
            <a:ext cx="8184960" cy="3779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路由器队列维持两个参数：</a:t>
            </a:r>
            <a:endParaRPr lang="en-US" altLang="zh-CN" sz="2000" b="1" dirty="0">
              <a:latin typeface="微软雅黑" pitchFamily="34" charset="-122"/>
              <a:ea typeface="微软雅黑" pitchFamily="34" charset="-122"/>
            </a:endParaRPr>
          </a:p>
          <a:p>
            <a:pPr marL="631825" lvl="1" indent="-342900">
              <a:lnSpc>
                <a:spcPts val="30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队列长度</a:t>
            </a:r>
            <a:r>
              <a:rPr lang="zh-CN" altLang="en-US" sz="2000" b="1" dirty="0">
                <a:solidFill>
                  <a:srgbClr val="C00000"/>
                </a:solidFill>
                <a:latin typeface="微软雅黑" pitchFamily="34" charset="-122"/>
                <a:ea typeface="微软雅黑" pitchFamily="34" charset="-122"/>
              </a:rPr>
              <a:t>下限值</a:t>
            </a:r>
            <a:r>
              <a:rPr lang="zh-CN" altLang="en-US" sz="2000" b="1" dirty="0">
                <a:latin typeface="微软雅黑" pitchFamily="34" charset="-122"/>
                <a:ea typeface="微软雅黑" pitchFamily="34" charset="-122"/>
              </a:rPr>
              <a:t> </a:t>
            </a:r>
            <a:r>
              <a:rPr lang="en-US" altLang="zh-CN" sz="2000" b="1" dirty="0" err="1">
                <a:latin typeface="微软雅黑" pitchFamily="34" charset="-122"/>
                <a:ea typeface="微软雅黑" pitchFamily="34" charset="-122"/>
              </a:rPr>
              <a:t>TH</a:t>
            </a:r>
            <a:r>
              <a:rPr lang="en-US" altLang="zh-CN" sz="2000" b="1" baseline="-25000" dirty="0" err="1">
                <a:latin typeface="微软雅黑" pitchFamily="34" charset="-122"/>
                <a:ea typeface="微软雅黑" pitchFamily="34" charset="-122"/>
              </a:rPr>
              <a:t>min</a:t>
            </a:r>
            <a:r>
              <a:rPr lang="en-US" altLang="zh-CN" sz="2000" b="1" dirty="0">
                <a:latin typeface="微软雅黑" pitchFamily="34" charset="-122"/>
                <a:ea typeface="微软雅黑" pitchFamily="34" charset="-122"/>
              </a:rPr>
              <a:t> </a:t>
            </a:r>
          </a:p>
          <a:p>
            <a:pPr marL="631825" lvl="1" indent="-342900">
              <a:lnSpc>
                <a:spcPts val="30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队列长度</a:t>
            </a:r>
            <a:r>
              <a:rPr lang="zh-CN" altLang="en-US" sz="2000" b="1" dirty="0">
                <a:solidFill>
                  <a:srgbClr val="C00000"/>
                </a:solidFill>
                <a:latin typeface="微软雅黑" pitchFamily="34" charset="-122"/>
                <a:ea typeface="微软雅黑" pitchFamily="34" charset="-122"/>
              </a:rPr>
              <a:t>上限值</a:t>
            </a:r>
            <a:r>
              <a:rPr lang="zh-CN" altLang="en-US" sz="2000" b="1" dirty="0">
                <a:latin typeface="微软雅黑" pitchFamily="34" charset="-122"/>
                <a:ea typeface="微软雅黑" pitchFamily="34" charset="-122"/>
              </a:rPr>
              <a:t> </a:t>
            </a:r>
            <a:r>
              <a:rPr lang="en-US" altLang="zh-CN" sz="2000" b="1" dirty="0" err="1">
                <a:latin typeface="微软雅黑" pitchFamily="34" charset="-122"/>
                <a:ea typeface="微软雅黑" pitchFamily="34" charset="-122"/>
              </a:rPr>
              <a:t>TH</a:t>
            </a:r>
            <a:r>
              <a:rPr lang="en-US" altLang="zh-CN" sz="2000" b="1" baseline="-25000" dirty="0" err="1">
                <a:latin typeface="微软雅黑" pitchFamily="34" charset="-122"/>
                <a:ea typeface="微软雅黑" pitchFamily="34" charset="-122"/>
              </a:rPr>
              <a:t>max</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a:t>
            </a:r>
          </a:p>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RED </a:t>
            </a:r>
            <a:r>
              <a:rPr lang="zh-CN" altLang="en-US" sz="2000" b="1" dirty="0">
                <a:latin typeface="微软雅黑" pitchFamily="34" charset="-122"/>
                <a:ea typeface="微软雅黑" pitchFamily="34" charset="-122"/>
              </a:rPr>
              <a:t>对每一个到达的分组都先计算平均队列长度 </a:t>
            </a:r>
            <a:r>
              <a:rPr lang="en-US" altLang="zh-CN" sz="2000" b="1" i="1" dirty="0">
                <a:latin typeface="微软雅黑" pitchFamily="34" charset="-122"/>
                <a:ea typeface="微软雅黑" pitchFamily="34" charset="-122"/>
              </a:rPr>
              <a:t>L</a:t>
            </a:r>
            <a:r>
              <a:rPr lang="en-US" altLang="zh-CN" sz="2000" b="1" baseline="-25000" dirty="0">
                <a:latin typeface="微软雅黑" pitchFamily="34" charset="-122"/>
                <a:ea typeface="微软雅黑" pitchFamily="34" charset="-122"/>
              </a:rPr>
              <a:t>AV</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a:t>
            </a:r>
          </a:p>
          <a:p>
            <a:pPr marL="720725" indent="-360363">
              <a:lnSpc>
                <a:spcPts val="3300"/>
              </a:lnSpc>
              <a:buClr>
                <a:srgbClr val="7030A0"/>
              </a:buClr>
              <a:buFont typeface="+mj-lt"/>
              <a:buAutoNum type="arabicPeriod"/>
            </a:pPr>
            <a:r>
              <a:rPr lang="zh-CN" altLang="en-US" sz="2000" b="1" dirty="0">
                <a:latin typeface="微软雅黑" pitchFamily="34" charset="-122"/>
                <a:ea typeface="微软雅黑" pitchFamily="34" charset="-122"/>
              </a:rPr>
              <a:t>若平均队列长度</a:t>
            </a:r>
            <a:r>
              <a:rPr lang="zh-CN" altLang="en-US" sz="2000" b="1" dirty="0">
                <a:solidFill>
                  <a:srgbClr val="C00000"/>
                </a:solidFill>
                <a:latin typeface="微软雅黑" pitchFamily="34" charset="-122"/>
                <a:ea typeface="微软雅黑" pitchFamily="34" charset="-122"/>
              </a:rPr>
              <a:t>小于下限值</a:t>
            </a:r>
            <a:r>
              <a:rPr lang="zh-CN" altLang="en-US" sz="2000" b="1" dirty="0">
                <a:latin typeface="微软雅黑" pitchFamily="34" charset="-122"/>
                <a:ea typeface="微软雅黑" pitchFamily="34" charset="-122"/>
              </a:rPr>
              <a:t> </a:t>
            </a:r>
            <a:r>
              <a:rPr lang="en-US" altLang="zh-CN" sz="2000" b="1" dirty="0" err="1">
                <a:latin typeface="微软雅黑" pitchFamily="34" charset="-122"/>
                <a:ea typeface="微软雅黑" pitchFamily="34" charset="-122"/>
              </a:rPr>
              <a:t>TH</a:t>
            </a:r>
            <a:r>
              <a:rPr lang="en-US" altLang="zh-CN" sz="2000" b="1" baseline="-25000" dirty="0" err="1">
                <a:latin typeface="微软雅黑" pitchFamily="34" charset="-122"/>
                <a:ea typeface="微软雅黑" pitchFamily="34" charset="-122"/>
              </a:rPr>
              <a:t>min</a:t>
            </a:r>
            <a:r>
              <a:rPr lang="zh-CN" altLang="en-US" sz="2000" b="1" dirty="0">
                <a:latin typeface="微软雅黑" pitchFamily="34" charset="-122"/>
                <a:ea typeface="微软雅黑" pitchFamily="34" charset="-122"/>
              </a:rPr>
              <a:t>，则将新到达的分组放入队列进行排队。</a:t>
            </a:r>
          </a:p>
          <a:p>
            <a:pPr marL="720725" indent="-360363">
              <a:lnSpc>
                <a:spcPts val="3300"/>
              </a:lnSpc>
              <a:buClr>
                <a:srgbClr val="7030A0"/>
              </a:buClr>
              <a:buFont typeface="+mj-lt"/>
              <a:buAutoNum type="arabicPeriod"/>
            </a:pPr>
            <a:r>
              <a:rPr lang="zh-CN" altLang="en-US" sz="2000" b="1" dirty="0">
                <a:latin typeface="微软雅黑" pitchFamily="34" charset="-122"/>
                <a:ea typeface="微软雅黑" pitchFamily="34" charset="-122"/>
              </a:rPr>
              <a:t>若平均队列长度</a:t>
            </a:r>
            <a:r>
              <a:rPr lang="zh-CN" altLang="en-US" sz="2000" b="1" dirty="0">
                <a:solidFill>
                  <a:srgbClr val="C00000"/>
                </a:solidFill>
                <a:latin typeface="微软雅黑" pitchFamily="34" charset="-122"/>
                <a:ea typeface="微软雅黑" pitchFamily="34" charset="-122"/>
              </a:rPr>
              <a:t>上限值</a:t>
            </a:r>
            <a:r>
              <a:rPr lang="zh-CN" altLang="en-US" sz="2000" b="1" dirty="0">
                <a:latin typeface="微软雅黑" pitchFamily="34" charset="-122"/>
                <a:ea typeface="微软雅黑" pitchFamily="34" charset="-122"/>
              </a:rPr>
              <a:t> </a:t>
            </a:r>
            <a:r>
              <a:rPr lang="en-US" altLang="zh-CN" sz="2000" b="1" dirty="0" err="1">
                <a:latin typeface="微软雅黑" pitchFamily="34" charset="-122"/>
                <a:ea typeface="微软雅黑" pitchFamily="34" charset="-122"/>
              </a:rPr>
              <a:t>TH</a:t>
            </a:r>
            <a:r>
              <a:rPr lang="en-US" altLang="zh-CN" sz="2000" b="1" baseline="-25000" dirty="0" err="1">
                <a:latin typeface="微软雅黑" pitchFamily="34" charset="-122"/>
                <a:ea typeface="微软雅黑" pitchFamily="34" charset="-122"/>
              </a:rPr>
              <a:t>max</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，则将新到达的分组丢弃。</a:t>
            </a:r>
          </a:p>
          <a:p>
            <a:pPr marL="720725" indent="-360363">
              <a:lnSpc>
                <a:spcPts val="3300"/>
              </a:lnSpc>
              <a:buClr>
                <a:srgbClr val="7030A0"/>
              </a:buClr>
              <a:buFont typeface="+mj-lt"/>
              <a:buAutoNum type="arabicPeriod"/>
            </a:pPr>
            <a:r>
              <a:rPr lang="zh-CN" altLang="en-US" sz="2000" b="1" dirty="0">
                <a:latin typeface="微软雅黑" pitchFamily="34" charset="-122"/>
                <a:ea typeface="微软雅黑" pitchFamily="34" charset="-122"/>
              </a:rPr>
              <a:t>若平均队列长度</a:t>
            </a:r>
            <a:r>
              <a:rPr lang="zh-CN" altLang="en-US" sz="2000" b="1" dirty="0">
                <a:solidFill>
                  <a:srgbClr val="C00000"/>
                </a:solidFill>
                <a:latin typeface="微软雅黑" pitchFamily="34" charset="-122"/>
                <a:ea typeface="微软雅黑" pitchFamily="34" charset="-122"/>
              </a:rPr>
              <a:t>介于上下门限之间</a:t>
            </a:r>
            <a:r>
              <a:rPr lang="zh-CN" altLang="en-US" sz="2000" b="1" dirty="0">
                <a:latin typeface="微软雅黑" pitchFamily="34" charset="-122"/>
                <a:ea typeface="微软雅黑" pitchFamily="34" charset="-122"/>
              </a:rPr>
              <a:t>，则按照某一</a:t>
            </a:r>
            <a:r>
              <a:rPr lang="zh-CN" altLang="en-US" sz="2000" b="1" dirty="0">
                <a:solidFill>
                  <a:srgbClr val="0000FF"/>
                </a:solidFill>
                <a:latin typeface="微软雅黑" pitchFamily="34" charset="-122"/>
                <a:ea typeface="微软雅黑" pitchFamily="34" charset="-122"/>
              </a:rPr>
              <a:t>概率 </a:t>
            </a:r>
            <a:r>
              <a:rPr lang="en-US" altLang="zh-CN" sz="2000" b="1" i="1" dirty="0">
                <a:solidFill>
                  <a:srgbClr val="0000FF"/>
                </a:solidFill>
                <a:latin typeface="微软雅黑" pitchFamily="34" charset="-122"/>
                <a:ea typeface="微软雅黑" pitchFamily="34" charset="-122"/>
              </a:rPr>
              <a:t>p</a:t>
            </a:r>
            <a:r>
              <a:rPr lang="en-US" altLang="zh-CN" sz="2000" b="1" dirty="0">
                <a:solidFill>
                  <a:srgbClr val="0000FF"/>
                </a:solidFill>
                <a:latin typeface="微软雅黑" pitchFamily="34" charset="-122"/>
                <a:ea typeface="微软雅黑" pitchFamily="34" charset="-122"/>
              </a:rPr>
              <a:t> </a:t>
            </a:r>
            <a:r>
              <a:rPr lang="zh-CN" altLang="en-US" sz="2000" b="1" dirty="0">
                <a:latin typeface="微软雅黑" pitchFamily="34" charset="-122"/>
                <a:ea typeface="微软雅黑" pitchFamily="34" charset="-122"/>
              </a:rPr>
              <a:t>将新到达的分组丢弃。</a:t>
            </a:r>
          </a:p>
        </p:txBody>
      </p:sp>
    </p:spTree>
    <p:extLst>
      <p:ext uri="{BB962C8B-B14F-4D97-AF65-F5344CB8AC3E}">
        <p14:creationId xmlns:p14="http://schemas.microsoft.com/office/powerpoint/2010/main" val="3443982297"/>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556963" y="1427955"/>
            <a:ext cx="8048776" cy="286415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AutoShape 5"/>
          <p:cNvSpPr>
            <a:spLocks noChangeArrowheads="1"/>
          </p:cNvSpPr>
          <p:nvPr/>
        </p:nvSpPr>
        <p:spPr bwMode="auto">
          <a:xfrm>
            <a:off x="556963" y="62627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386152" y="583636"/>
            <a:ext cx="239039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随机早期检测 </a:t>
            </a:r>
            <a:r>
              <a:rPr lang="en-US" altLang="zh-CN" sz="2000" b="1" dirty="0">
                <a:solidFill>
                  <a:schemeClr val="bg1"/>
                </a:solidFill>
                <a:latin typeface="微软雅黑" pitchFamily="34" charset="-122"/>
                <a:ea typeface="微软雅黑" pitchFamily="34" charset="-122"/>
              </a:rPr>
              <a:t>RED</a:t>
            </a:r>
            <a:endParaRPr lang="zh-CN" altLang="en-US" sz="2000" b="1" dirty="0">
              <a:solidFill>
                <a:schemeClr val="bg1"/>
              </a:solidFill>
              <a:latin typeface="微软雅黑" pitchFamily="34" charset="-122"/>
              <a:ea typeface="微软雅黑" pitchFamily="34" charset="-122"/>
            </a:endParaRPr>
          </a:p>
        </p:txBody>
      </p:sp>
      <p:sp>
        <p:nvSpPr>
          <p:cNvPr id="4" name="Rectangle 68"/>
          <p:cNvSpPr>
            <a:spLocks noChangeArrowheads="1"/>
          </p:cNvSpPr>
          <p:nvPr/>
        </p:nvSpPr>
        <p:spPr bwMode="auto">
          <a:xfrm>
            <a:off x="500401" y="970981"/>
            <a:ext cx="8184960" cy="4385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2700"/>
              </a:lnSpc>
              <a:buClr>
                <a:srgbClr val="0070C0"/>
              </a:buClr>
            </a:pPr>
            <a:r>
              <a:rPr lang="en-US" altLang="zh-CN" b="1" dirty="0">
                <a:latin typeface="微软雅黑" pitchFamily="34" charset="-122"/>
                <a:ea typeface="微软雅黑" pitchFamily="34" charset="-122"/>
              </a:rPr>
              <a:t>RED </a:t>
            </a:r>
            <a:r>
              <a:rPr lang="zh-CN" altLang="en-US" b="1" dirty="0">
                <a:latin typeface="微软雅黑" pitchFamily="34" charset="-122"/>
                <a:ea typeface="微软雅黑" pitchFamily="34" charset="-122"/>
              </a:rPr>
              <a:t>路由器到达队列维持</a:t>
            </a:r>
            <a:r>
              <a:rPr lang="zh-CN" altLang="en-US" b="1" dirty="0">
                <a:solidFill>
                  <a:srgbClr val="C00000"/>
                </a:solidFill>
                <a:latin typeface="微软雅黑" pitchFamily="34" charset="-122"/>
                <a:ea typeface="微软雅黑" pitchFamily="34" charset="-122"/>
              </a:rPr>
              <a:t>两个参数：</a:t>
            </a:r>
            <a:r>
              <a:rPr lang="en-US" altLang="zh-CN" b="1" dirty="0" err="1">
                <a:latin typeface="微软雅黑" pitchFamily="34" charset="-122"/>
                <a:ea typeface="微软雅黑" pitchFamily="34" charset="-122"/>
              </a:rPr>
              <a:t>Th</a:t>
            </a:r>
            <a:r>
              <a:rPr lang="en-US" altLang="zh-CN" b="1" baseline="-25000" dirty="0" err="1">
                <a:latin typeface="微软雅黑" pitchFamily="34" charset="-122"/>
                <a:ea typeface="微软雅黑" pitchFamily="34" charset="-122"/>
              </a:rPr>
              <a:t>min</a:t>
            </a:r>
            <a:r>
              <a:rPr lang="zh-CN" altLang="en-US" b="1" dirty="0">
                <a:latin typeface="微软雅黑" pitchFamily="34" charset="-122"/>
                <a:ea typeface="微软雅黑" pitchFamily="34" charset="-122"/>
              </a:rPr>
              <a:t>， </a:t>
            </a:r>
            <a:r>
              <a:rPr lang="en-US" altLang="zh-CN" b="1" dirty="0" err="1">
                <a:latin typeface="微软雅黑" pitchFamily="34" charset="-122"/>
                <a:ea typeface="微软雅黑" pitchFamily="34" charset="-122"/>
              </a:rPr>
              <a:t>Th</a:t>
            </a:r>
            <a:r>
              <a:rPr lang="en-US" altLang="zh-CN" b="1" baseline="-25000" dirty="0" err="1">
                <a:latin typeface="微软雅黑" pitchFamily="34" charset="-122"/>
                <a:ea typeface="微软雅黑" pitchFamily="34" charset="-122"/>
              </a:rPr>
              <a:t>max</a:t>
            </a:r>
            <a:r>
              <a:rPr lang="zh-CN" altLang="en-US" b="1" dirty="0">
                <a:latin typeface="微软雅黑" pitchFamily="34" charset="-122"/>
                <a:ea typeface="微软雅黑" pitchFamily="34" charset="-122"/>
              </a:rPr>
              <a:t>，分成为</a:t>
            </a:r>
            <a:r>
              <a:rPr lang="zh-CN" altLang="en-US" b="1" dirty="0">
                <a:solidFill>
                  <a:srgbClr val="C00000"/>
                </a:solidFill>
                <a:latin typeface="微软雅黑" pitchFamily="34" charset="-122"/>
                <a:ea typeface="微软雅黑" pitchFamily="34" charset="-122"/>
              </a:rPr>
              <a:t>三个区域： </a:t>
            </a:r>
          </a:p>
        </p:txBody>
      </p:sp>
      <p:grpSp>
        <p:nvGrpSpPr>
          <p:cNvPr id="36" name="组合 35"/>
          <p:cNvGrpSpPr/>
          <p:nvPr/>
        </p:nvGrpSpPr>
        <p:grpSpPr>
          <a:xfrm>
            <a:off x="1357257" y="1521364"/>
            <a:ext cx="6594516" cy="2665222"/>
            <a:chOff x="725398" y="2057562"/>
            <a:chExt cx="8961415" cy="3621820"/>
          </a:xfrm>
        </p:grpSpPr>
        <p:sp>
          <p:nvSpPr>
            <p:cNvPr id="6" name="Rectangle 35"/>
            <p:cNvSpPr>
              <a:spLocks noChangeArrowheads="1"/>
            </p:cNvSpPr>
            <p:nvPr/>
          </p:nvSpPr>
          <p:spPr bwMode="auto">
            <a:xfrm>
              <a:off x="2952883" y="2059150"/>
              <a:ext cx="3437863" cy="3013075"/>
            </a:xfrm>
            <a:prstGeom prst="rect">
              <a:avLst/>
            </a:prstGeom>
            <a:solidFill>
              <a:srgbClr val="99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 name="Rectangle 34"/>
            <p:cNvSpPr>
              <a:spLocks noChangeArrowheads="1"/>
            </p:cNvSpPr>
            <p:nvPr/>
          </p:nvSpPr>
          <p:spPr bwMode="auto">
            <a:xfrm>
              <a:off x="6394185" y="2057562"/>
              <a:ext cx="1024996" cy="24765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 name="Rectangle 33"/>
            <p:cNvSpPr>
              <a:spLocks noChangeArrowheads="1"/>
            </p:cNvSpPr>
            <p:nvPr/>
          </p:nvSpPr>
          <p:spPr bwMode="auto">
            <a:xfrm>
              <a:off x="1676798" y="2057563"/>
              <a:ext cx="1276085" cy="3444875"/>
            </a:xfrm>
            <a:prstGeom prst="rect">
              <a:avLst/>
            </a:prstGeom>
            <a:solidFill>
              <a:srgbClr val="6699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9" name="Rectangle 4"/>
            <p:cNvSpPr>
              <a:spLocks noChangeArrowheads="1"/>
            </p:cNvSpPr>
            <p:nvPr/>
          </p:nvSpPr>
          <p:spPr bwMode="auto">
            <a:xfrm>
              <a:off x="4975358" y="2757649"/>
              <a:ext cx="2445544" cy="1276350"/>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0" name="Freeform 5"/>
            <p:cNvSpPr>
              <a:spLocks/>
            </p:cNvSpPr>
            <p:nvPr/>
          </p:nvSpPr>
          <p:spPr bwMode="auto">
            <a:xfrm>
              <a:off x="1948525" y="2757649"/>
              <a:ext cx="5472377" cy="1276350"/>
            </a:xfrm>
            <a:custGeom>
              <a:avLst/>
              <a:gdLst>
                <a:gd name="T0" fmla="*/ 0 w 1920"/>
                <a:gd name="T1" fmla="*/ 0 h 528"/>
                <a:gd name="T2" fmla="*/ 1920 w 1920"/>
                <a:gd name="T3" fmla="*/ 0 h 528"/>
                <a:gd name="T4" fmla="*/ 1920 w 1920"/>
                <a:gd name="T5" fmla="*/ 528 h 528"/>
                <a:gd name="T6" fmla="*/ 0 w 1920"/>
                <a:gd name="T7" fmla="*/ 528 h 528"/>
              </a:gdLst>
              <a:ahLst/>
              <a:cxnLst>
                <a:cxn ang="0">
                  <a:pos x="T0" y="T1"/>
                </a:cxn>
                <a:cxn ang="0">
                  <a:pos x="T2" y="T3"/>
                </a:cxn>
                <a:cxn ang="0">
                  <a:pos x="T4" y="T5"/>
                </a:cxn>
                <a:cxn ang="0">
                  <a:pos x="T6" y="T7"/>
                </a:cxn>
              </a:cxnLst>
              <a:rect l="0" t="0" r="r" b="b"/>
              <a:pathLst>
                <a:path w="1920" h="528">
                  <a:moveTo>
                    <a:pt x="0" y="0"/>
                  </a:moveTo>
                  <a:lnTo>
                    <a:pt x="1920" y="0"/>
                  </a:lnTo>
                  <a:lnTo>
                    <a:pt x="1920" y="528"/>
                  </a:lnTo>
                  <a:lnTo>
                    <a:pt x="0" y="528"/>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1" name="Line 6"/>
            <p:cNvSpPr>
              <a:spLocks noChangeShapeType="1"/>
            </p:cNvSpPr>
            <p:nvPr/>
          </p:nvSpPr>
          <p:spPr bwMode="auto">
            <a:xfrm>
              <a:off x="7073504"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2" name="Line 7"/>
            <p:cNvSpPr>
              <a:spLocks noChangeShapeType="1"/>
            </p:cNvSpPr>
            <p:nvPr/>
          </p:nvSpPr>
          <p:spPr bwMode="auto">
            <a:xfrm>
              <a:off x="6724385"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3" name="Line 8"/>
            <p:cNvSpPr>
              <a:spLocks noChangeShapeType="1"/>
            </p:cNvSpPr>
            <p:nvPr/>
          </p:nvSpPr>
          <p:spPr bwMode="auto">
            <a:xfrm>
              <a:off x="6373548" y="2290924"/>
              <a:ext cx="0" cy="2032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4" name="Line 9"/>
            <p:cNvSpPr>
              <a:spLocks noChangeShapeType="1"/>
            </p:cNvSpPr>
            <p:nvPr/>
          </p:nvSpPr>
          <p:spPr bwMode="auto">
            <a:xfrm>
              <a:off x="6024431"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5" name="Line 10"/>
            <p:cNvSpPr>
              <a:spLocks noChangeShapeType="1"/>
            </p:cNvSpPr>
            <p:nvPr/>
          </p:nvSpPr>
          <p:spPr bwMode="auto">
            <a:xfrm>
              <a:off x="5675313"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6" name="Line 11"/>
            <p:cNvSpPr>
              <a:spLocks noChangeShapeType="1"/>
            </p:cNvSpPr>
            <p:nvPr/>
          </p:nvSpPr>
          <p:spPr bwMode="auto">
            <a:xfrm>
              <a:off x="5324475"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7" name="Line 12"/>
            <p:cNvSpPr>
              <a:spLocks noChangeShapeType="1"/>
            </p:cNvSpPr>
            <p:nvPr/>
          </p:nvSpPr>
          <p:spPr bwMode="auto">
            <a:xfrm>
              <a:off x="2964921" y="2309975"/>
              <a:ext cx="0" cy="3160712"/>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8" name="AutoShape 13"/>
            <p:cNvSpPr>
              <a:spLocks noChangeArrowheads="1"/>
            </p:cNvSpPr>
            <p:nvPr/>
          </p:nvSpPr>
          <p:spPr bwMode="auto">
            <a:xfrm>
              <a:off x="7305676" y="3105313"/>
              <a:ext cx="1049073" cy="465137"/>
            </a:xfrm>
            <a:prstGeom prst="rightArrow">
              <a:avLst>
                <a:gd name="adj1" fmla="val 50000"/>
                <a:gd name="adj2" fmla="val 52048"/>
              </a:avLst>
            </a:prstGeom>
            <a:solidFill>
              <a:srgbClr val="FF00FF"/>
            </a:solidFill>
            <a:ln w="9525">
              <a:solidFill>
                <a:schemeClr val="tx1"/>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19" name="Text Box 14"/>
            <p:cNvSpPr txBox="1">
              <a:spLocks noChangeArrowheads="1"/>
            </p:cNvSpPr>
            <p:nvPr/>
          </p:nvSpPr>
          <p:spPr bwMode="auto">
            <a:xfrm>
              <a:off x="8288101" y="2986250"/>
              <a:ext cx="982872" cy="71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a:latin typeface="微软雅黑" pitchFamily="34" charset="-122"/>
                  <a:ea typeface="微软雅黑" pitchFamily="34" charset="-122"/>
                </a:rPr>
                <a:t>从队首</a:t>
              </a:r>
            </a:p>
            <a:p>
              <a:pPr algn="ctr"/>
              <a:r>
                <a:rPr kumimoji="1" lang="zh-CN" altLang="en-US" sz="1400" b="1">
                  <a:latin typeface="微软雅黑" pitchFamily="34" charset="-122"/>
                  <a:ea typeface="微软雅黑" pitchFamily="34" charset="-122"/>
                </a:rPr>
                <a:t>发送</a:t>
              </a:r>
            </a:p>
          </p:txBody>
        </p:sp>
        <p:sp>
          <p:nvSpPr>
            <p:cNvPr id="20" name="Line 15"/>
            <p:cNvSpPr>
              <a:spLocks noChangeShapeType="1"/>
            </p:cNvSpPr>
            <p:nvPr/>
          </p:nvSpPr>
          <p:spPr bwMode="auto">
            <a:xfrm>
              <a:off x="4975358"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1" name="Text Box 16"/>
            <p:cNvSpPr txBox="1">
              <a:spLocks noChangeArrowheads="1"/>
            </p:cNvSpPr>
            <p:nvPr/>
          </p:nvSpPr>
          <p:spPr bwMode="auto">
            <a:xfrm>
              <a:off x="7571469" y="4363378"/>
              <a:ext cx="2115344"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400" b="1" dirty="0">
                  <a:solidFill>
                    <a:srgbClr val="C00000"/>
                  </a:solidFill>
                  <a:latin typeface="微软雅黑" pitchFamily="34" charset="-122"/>
                  <a:ea typeface="微软雅黑" pitchFamily="34" charset="-122"/>
                </a:rPr>
                <a:t>下限值 </a:t>
              </a:r>
              <a:r>
                <a:rPr kumimoji="1" lang="en-US" altLang="zh-CN" sz="1400" b="1" dirty="0" err="1">
                  <a:solidFill>
                    <a:srgbClr val="C00000"/>
                  </a:solidFill>
                  <a:latin typeface="微软雅黑" pitchFamily="34" charset="-122"/>
                  <a:ea typeface="微软雅黑" pitchFamily="34" charset="-122"/>
                </a:rPr>
                <a:t>Th</a:t>
              </a:r>
              <a:r>
                <a:rPr kumimoji="1" lang="en-US" altLang="zh-CN" sz="1400" b="1" baseline="-25000" dirty="0" err="1">
                  <a:solidFill>
                    <a:srgbClr val="C00000"/>
                  </a:solidFill>
                  <a:latin typeface="微软雅黑" pitchFamily="34" charset="-122"/>
                  <a:ea typeface="微软雅黑" pitchFamily="34" charset="-122"/>
                </a:rPr>
                <a:t>min</a:t>
              </a:r>
              <a:endParaRPr kumimoji="1" lang="en-US" altLang="zh-CN" sz="1400" b="1" baseline="-25000" dirty="0">
                <a:solidFill>
                  <a:srgbClr val="C00000"/>
                </a:solidFill>
                <a:latin typeface="微软雅黑" pitchFamily="34" charset="-122"/>
                <a:ea typeface="微软雅黑" pitchFamily="34" charset="-122"/>
              </a:endParaRPr>
            </a:p>
          </p:txBody>
        </p:sp>
        <p:sp>
          <p:nvSpPr>
            <p:cNvPr id="22" name="Text Box 17"/>
            <p:cNvSpPr txBox="1">
              <a:spLocks noChangeArrowheads="1"/>
            </p:cNvSpPr>
            <p:nvPr/>
          </p:nvSpPr>
          <p:spPr bwMode="auto">
            <a:xfrm>
              <a:off x="4244446" y="5261138"/>
              <a:ext cx="1712620"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C00000"/>
                  </a:solidFill>
                  <a:latin typeface="微软雅黑" pitchFamily="34" charset="-122"/>
                  <a:ea typeface="微软雅黑" pitchFamily="34" charset="-122"/>
                </a:rPr>
                <a:t>上限值 </a:t>
              </a:r>
              <a:r>
                <a:rPr kumimoji="1" lang="en-US" altLang="zh-CN" sz="1400" b="1" dirty="0" err="1">
                  <a:solidFill>
                    <a:srgbClr val="C00000"/>
                  </a:solidFill>
                  <a:latin typeface="微软雅黑" pitchFamily="34" charset="-122"/>
                  <a:ea typeface="微软雅黑" pitchFamily="34" charset="-122"/>
                </a:rPr>
                <a:t>Th</a:t>
              </a:r>
              <a:r>
                <a:rPr kumimoji="1" lang="en-US" altLang="zh-CN" sz="1400" b="1" baseline="-25000" dirty="0" err="1">
                  <a:solidFill>
                    <a:srgbClr val="C00000"/>
                  </a:solidFill>
                  <a:latin typeface="微软雅黑" pitchFamily="34" charset="-122"/>
                  <a:ea typeface="微软雅黑" pitchFamily="34" charset="-122"/>
                </a:rPr>
                <a:t>max</a:t>
              </a:r>
              <a:endParaRPr kumimoji="1" lang="en-US" altLang="zh-CN" sz="1400" b="1" baseline="-25000" dirty="0">
                <a:solidFill>
                  <a:srgbClr val="C00000"/>
                </a:solidFill>
                <a:latin typeface="微软雅黑" pitchFamily="34" charset="-122"/>
                <a:ea typeface="微软雅黑" pitchFamily="34" charset="-122"/>
              </a:endParaRPr>
            </a:p>
          </p:txBody>
        </p:sp>
        <p:sp>
          <p:nvSpPr>
            <p:cNvPr id="23" name="AutoShape 18"/>
            <p:cNvSpPr>
              <a:spLocks noChangeArrowheads="1"/>
            </p:cNvSpPr>
            <p:nvPr/>
          </p:nvSpPr>
          <p:spPr bwMode="auto">
            <a:xfrm>
              <a:off x="1434443" y="3138648"/>
              <a:ext cx="2146300" cy="431800"/>
            </a:xfrm>
            <a:prstGeom prst="rightArrow">
              <a:avLst>
                <a:gd name="adj1" fmla="val 50000"/>
                <a:gd name="adj2" fmla="val 114706"/>
              </a:avLst>
            </a:prstGeom>
            <a:solidFill>
              <a:schemeClr val="accent6">
                <a:lumMod val="75000"/>
              </a:schemeClr>
            </a:solidFill>
            <a:ln w="9525">
              <a:solidFill>
                <a:schemeClr val="tx1"/>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24" name="Text Box 19"/>
            <p:cNvSpPr txBox="1">
              <a:spLocks noChangeArrowheads="1"/>
            </p:cNvSpPr>
            <p:nvPr/>
          </p:nvSpPr>
          <p:spPr bwMode="auto">
            <a:xfrm>
              <a:off x="725398" y="2979077"/>
              <a:ext cx="738897" cy="71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latin typeface="微软雅黑" pitchFamily="34" charset="-122"/>
                  <a:ea typeface="微软雅黑" pitchFamily="34" charset="-122"/>
                </a:rPr>
                <a:t>分组</a:t>
              </a:r>
            </a:p>
            <a:p>
              <a:pPr algn="ctr"/>
              <a:r>
                <a:rPr kumimoji="1" lang="zh-CN" altLang="en-US" sz="1400" b="1" dirty="0">
                  <a:latin typeface="微软雅黑" pitchFamily="34" charset="-122"/>
                  <a:ea typeface="微软雅黑" pitchFamily="34" charset="-122"/>
                </a:rPr>
                <a:t>到达</a:t>
              </a:r>
            </a:p>
          </p:txBody>
        </p:sp>
        <p:sp>
          <p:nvSpPr>
            <p:cNvPr id="25" name="Text Box 20"/>
            <p:cNvSpPr txBox="1">
              <a:spLocks noChangeArrowheads="1"/>
            </p:cNvSpPr>
            <p:nvPr/>
          </p:nvSpPr>
          <p:spPr bwMode="auto">
            <a:xfrm>
              <a:off x="5102623" y="4686464"/>
              <a:ext cx="2106900"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solidFill>
                    <a:srgbClr val="0000FF"/>
                  </a:solidFill>
                  <a:latin typeface="微软雅黑" pitchFamily="34" charset="-122"/>
                  <a:ea typeface="微软雅黑" pitchFamily="34" charset="-122"/>
                </a:rPr>
                <a:t>平均队列长度 </a:t>
              </a:r>
              <a:r>
                <a:rPr kumimoji="1" lang="en-US" altLang="zh-CN" sz="1400" b="1" i="1" dirty="0" err="1">
                  <a:solidFill>
                    <a:srgbClr val="0000FF"/>
                  </a:solidFill>
                  <a:latin typeface="微软雅黑" pitchFamily="34" charset="-122"/>
                  <a:ea typeface="微软雅黑" pitchFamily="34" charset="-122"/>
                </a:rPr>
                <a:t>L</a:t>
              </a:r>
              <a:r>
                <a:rPr kumimoji="1" lang="en-US" altLang="zh-CN" sz="1400" b="1" baseline="-25000" dirty="0" err="1">
                  <a:solidFill>
                    <a:srgbClr val="0000FF"/>
                  </a:solidFill>
                  <a:latin typeface="微软雅黑" pitchFamily="34" charset="-122"/>
                  <a:ea typeface="微软雅黑" pitchFamily="34" charset="-122"/>
                </a:rPr>
                <a:t>av</a:t>
              </a:r>
              <a:endParaRPr kumimoji="1" lang="en-US" altLang="zh-CN" sz="1400" b="1" baseline="-25000" dirty="0">
                <a:solidFill>
                  <a:srgbClr val="0000FF"/>
                </a:solidFill>
                <a:latin typeface="微软雅黑" pitchFamily="34" charset="-122"/>
                <a:ea typeface="微软雅黑" pitchFamily="34" charset="-122"/>
              </a:endParaRPr>
            </a:p>
          </p:txBody>
        </p:sp>
        <p:sp>
          <p:nvSpPr>
            <p:cNvPr id="26" name="Line 21"/>
            <p:cNvSpPr>
              <a:spLocks noChangeShapeType="1"/>
            </p:cNvSpPr>
            <p:nvPr/>
          </p:nvSpPr>
          <p:spPr bwMode="auto">
            <a:xfrm>
              <a:off x="7420902" y="2295687"/>
              <a:ext cx="0" cy="4619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7" name="Text Box 22"/>
            <p:cNvSpPr txBox="1">
              <a:spLocks noChangeArrowheads="1"/>
            </p:cNvSpPr>
            <p:nvPr/>
          </p:nvSpPr>
          <p:spPr bwMode="auto">
            <a:xfrm>
              <a:off x="6490494" y="2308388"/>
              <a:ext cx="738897"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排队</a:t>
              </a:r>
            </a:p>
          </p:txBody>
        </p:sp>
        <p:sp>
          <p:nvSpPr>
            <p:cNvPr id="28" name="Text Box 23"/>
            <p:cNvSpPr txBox="1">
              <a:spLocks noChangeArrowheads="1"/>
            </p:cNvSpPr>
            <p:nvPr/>
          </p:nvSpPr>
          <p:spPr bwMode="auto">
            <a:xfrm>
              <a:off x="2094705" y="2308388"/>
              <a:ext cx="738897"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丢弃</a:t>
              </a:r>
            </a:p>
          </p:txBody>
        </p:sp>
        <p:sp>
          <p:nvSpPr>
            <p:cNvPr id="29" name="Text Box 24"/>
            <p:cNvSpPr txBox="1">
              <a:spLocks noChangeArrowheads="1"/>
            </p:cNvSpPr>
            <p:nvPr/>
          </p:nvSpPr>
          <p:spPr bwMode="auto">
            <a:xfrm>
              <a:off x="3730229" y="2309974"/>
              <a:ext cx="1777970"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以概率</a:t>
              </a:r>
              <a:r>
                <a:rPr kumimoji="1" lang="zh-CN" altLang="en-US" sz="1400" b="1" i="1">
                  <a:latin typeface="微软雅黑" pitchFamily="34" charset="-122"/>
                  <a:ea typeface="微软雅黑" pitchFamily="34" charset="-122"/>
                </a:rPr>
                <a:t> </a:t>
              </a:r>
              <a:r>
                <a:rPr kumimoji="1" lang="en-US" altLang="zh-CN" sz="1400" b="1" i="1">
                  <a:latin typeface="微软雅黑" pitchFamily="34" charset="-122"/>
                  <a:ea typeface="微软雅黑" pitchFamily="34" charset="-122"/>
                </a:rPr>
                <a:t>p</a:t>
              </a:r>
              <a:r>
                <a:rPr kumimoji="1" lang="en-US" altLang="zh-CN" sz="1400" b="1">
                  <a:latin typeface="微软雅黑" pitchFamily="34" charset="-122"/>
                  <a:ea typeface="微软雅黑" pitchFamily="34" charset="-122"/>
                </a:rPr>
                <a:t> </a:t>
              </a:r>
              <a:r>
                <a:rPr kumimoji="1" lang="zh-CN" altLang="en-US" sz="1400" b="1">
                  <a:latin typeface="微软雅黑" pitchFamily="34" charset="-122"/>
                  <a:ea typeface="微软雅黑" pitchFamily="34" charset="-122"/>
                </a:rPr>
                <a:t>丢弃</a:t>
              </a:r>
            </a:p>
          </p:txBody>
        </p:sp>
        <p:sp>
          <p:nvSpPr>
            <p:cNvPr id="30" name="Line 25"/>
            <p:cNvSpPr>
              <a:spLocks noChangeShapeType="1"/>
            </p:cNvSpPr>
            <p:nvPr/>
          </p:nvSpPr>
          <p:spPr bwMode="auto">
            <a:xfrm>
              <a:off x="4990836" y="4703924"/>
              <a:ext cx="2411148"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1" name="Line 26"/>
            <p:cNvSpPr>
              <a:spLocks noChangeShapeType="1"/>
            </p:cNvSpPr>
            <p:nvPr/>
          </p:nvSpPr>
          <p:spPr bwMode="auto">
            <a:xfrm flipH="1">
              <a:off x="7420902" y="4076862"/>
              <a:ext cx="15478" cy="1509712"/>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2" name="Line 27"/>
            <p:cNvSpPr>
              <a:spLocks noChangeShapeType="1"/>
            </p:cNvSpPr>
            <p:nvPr/>
          </p:nvSpPr>
          <p:spPr bwMode="auto">
            <a:xfrm>
              <a:off x="4982237" y="4067337"/>
              <a:ext cx="0" cy="8699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3" name="Line 28"/>
            <p:cNvSpPr>
              <a:spLocks noChangeShapeType="1"/>
            </p:cNvSpPr>
            <p:nvPr/>
          </p:nvSpPr>
          <p:spPr bwMode="auto">
            <a:xfrm>
              <a:off x="6370109" y="4227674"/>
              <a:ext cx="1090348"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4" name="Line 29"/>
            <p:cNvSpPr>
              <a:spLocks noChangeShapeType="1"/>
            </p:cNvSpPr>
            <p:nvPr/>
          </p:nvSpPr>
          <p:spPr bwMode="auto">
            <a:xfrm>
              <a:off x="2975239" y="5253199"/>
              <a:ext cx="4437063"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5" name="Line 30"/>
            <p:cNvSpPr>
              <a:spLocks noChangeShapeType="1"/>
            </p:cNvSpPr>
            <p:nvPr/>
          </p:nvSpPr>
          <p:spPr bwMode="auto">
            <a:xfrm flipH="1" flipV="1">
              <a:off x="6877446" y="4284002"/>
              <a:ext cx="718873" cy="288496"/>
            </a:xfrm>
            <a:prstGeom prst="line">
              <a:avLst/>
            </a:prstGeom>
            <a:noFill/>
            <a:ln w="19050">
              <a:solidFill>
                <a:srgbClr val="000066"/>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grpSp>
      <p:sp>
        <p:nvSpPr>
          <p:cNvPr id="37" name="矩形 36"/>
          <p:cNvSpPr/>
          <p:nvPr/>
        </p:nvSpPr>
        <p:spPr>
          <a:xfrm>
            <a:off x="1378628" y="4289602"/>
            <a:ext cx="6360778" cy="369332"/>
          </a:xfrm>
          <a:prstGeom prst="rect">
            <a:avLst/>
          </a:prstGeom>
        </p:spPr>
        <p:txBody>
          <a:bodyPr wrap="square">
            <a:spAutoFit/>
          </a:bodyPr>
          <a:lstStyle/>
          <a:p>
            <a:pPr algn="ctr">
              <a:buClr>
                <a:srgbClr val="0070C0"/>
              </a:buClr>
            </a:pPr>
            <a:r>
              <a:rPr lang="en-US" altLang="zh-CN" b="1" dirty="0">
                <a:latin typeface="微软雅黑" pitchFamily="34" charset="-122"/>
                <a:ea typeface="微软雅黑" pitchFamily="34" charset="-122"/>
              </a:rPr>
              <a:t>RED </a:t>
            </a:r>
            <a:r>
              <a:rPr lang="zh-CN" altLang="en-US" b="1" dirty="0">
                <a:latin typeface="微软雅黑" pitchFamily="34" charset="-122"/>
                <a:ea typeface="微软雅黑" pitchFamily="34" charset="-122"/>
              </a:rPr>
              <a:t>对每一个到达的分组都先计算</a:t>
            </a:r>
            <a:r>
              <a:rPr lang="zh-CN" altLang="en-US" b="1" dirty="0">
                <a:solidFill>
                  <a:srgbClr val="C00000"/>
                </a:solidFill>
                <a:latin typeface="微软雅黑" pitchFamily="34" charset="-122"/>
                <a:ea typeface="微软雅黑" pitchFamily="34" charset="-122"/>
              </a:rPr>
              <a:t>平均队列长度 </a:t>
            </a:r>
            <a:r>
              <a:rPr lang="en-US" altLang="zh-CN" b="1" i="1" dirty="0">
                <a:solidFill>
                  <a:srgbClr val="C00000"/>
                </a:solidFill>
                <a:latin typeface="微软雅黑" pitchFamily="34" charset="-122"/>
                <a:ea typeface="微软雅黑" pitchFamily="34" charset="-122"/>
              </a:rPr>
              <a:t>L</a:t>
            </a:r>
            <a:r>
              <a:rPr lang="en-US" altLang="zh-CN" b="1" baseline="-25000" dirty="0">
                <a:solidFill>
                  <a:srgbClr val="C00000"/>
                </a:solidFill>
                <a:latin typeface="微软雅黑" pitchFamily="34" charset="-122"/>
                <a:ea typeface="微软雅黑" pitchFamily="34" charset="-122"/>
              </a:rPr>
              <a:t>AV</a:t>
            </a:r>
            <a:r>
              <a:rPr lang="en-US" altLang="zh-CN" b="1" dirty="0">
                <a:solidFill>
                  <a:srgbClr val="C00000"/>
                </a:solidFill>
                <a:latin typeface="微软雅黑" pitchFamily="34" charset="-122"/>
                <a:ea typeface="微软雅黑" pitchFamily="34" charset="-122"/>
              </a:rPr>
              <a:t> </a:t>
            </a:r>
            <a:r>
              <a:rPr lang="zh-CN" altLang="en-US" b="1" dirty="0">
                <a:solidFill>
                  <a:srgbClr val="C00000"/>
                </a:solidFill>
                <a:latin typeface="微软雅黑" pitchFamily="34" charset="-122"/>
                <a:ea typeface="微软雅黑" pitchFamily="34" charset="-122"/>
              </a:rPr>
              <a:t>。</a:t>
            </a:r>
          </a:p>
        </p:txBody>
      </p:sp>
    </p:spTree>
    <p:extLst>
      <p:ext uri="{BB962C8B-B14F-4D97-AF65-F5344CB8AC3E}">
        <p14:creationId xmlns:p14="http://schemas.microsoft.com/office/powerpoint/2010/main" val="1993398895"/>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94856-AA46-AE2C-0695-F2B03BFB07C2}"/>
            </a:ext>
          </a:extLst>
        </p:cNvPr>
        <p:cNvGrpSpPr/>
        <p:nvPr/>
      </p:nvGrpSpPr>
      <p:grpSpPr>
        <a:xfrm>
          <a:off x="0" y="0"/>
          <a:ext cx="0" cy="0"/>
          <a:chOff x="0" y="0"/>
          <a:chExt cx="0" cy="0"/>
        </a:xfrm>
      </p:grpSpPr>
      <p:sp>
        <p:nvSpPr>
          <p:cNvPr id="3" name="AutoShape 5">
            <a:extLst>
              <a:ext uri="{FF2B5EF4-FFF2-40B4-BE49-F238E27FC236}">
                <a16:creationId xmlns:a16="http://schemas.microsoft.com/office/drawing/2014/main" id="{DB4E4FD5-1D2F-F043-D748-64C76676D976}"/>
              </a:ext>
            </a:extLst>
          </p:cNvPr>
          <p:cNvSpPr>
            <a:spLocks noChangeArrowheads="1"/>
          </p:cNvSpPr>
          <p:nvPr/>
        </p:nvSpPr>
        <p:spPr bwMode="auto">
          <a:xfrm>
            <a:off x="556963" y="62297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 name="Rectangle 6">
            <a:extLst>
              <a:ext uri="{FF2B5EF4-FFF2-40B4-BE49-F238E27FC236}">
                <a16:creationId xmlns:a16="http://schemas.microsoft.com/office/drawing/2014/main" id="{FDD0379E-8356-380D-7869-B03305035250}"/>
              </a:ext>
            </a:extLst>
          </p:cNvPr>
          <p:cNvSpPr>
            <a:spLocks noChangeArrowheads="1"/>
          </p:cNvSpPr>
          <p:nvPr/>
        </p:nvSpPr>
        <p:spPr bwMode="auto">
          <a:xfrm>
            <a:off x="3257912" y="589768"/>
            <a:ext cx="264687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更加先进的</a:t>
            </a:r>
            <a:r>
              <a:rPr lang="en-US" altLang="zh-CN" sz="2000" b="1" dirty="0">
                <a:solidFill>
                  <a:schemeClr val="bg1"/>
                </a:solidFill>
                <a:latin typeface="微软雅黑" pitchFamily="34" charset="-122"/>
                <a:ea typeface="微软雅黑" pitchFamily="34" charset="-122"/>
              </a:rPr>
              <a:t>AQM</a:t>
            </a:r>
            <a:r>
              <a:rPr lang="zh-CN" altLang="en-US" sz="2000" b="1" dirty="0">
                <a:solidFill>
                  <a:schemeClr val="bg1"/>
                </a:solidFill>
                <a:latin typeface="微软雅黑" pitchFamily="34" charset="-122"/>
                <a:ea typeface="微软雅黑" pitchFamily="34" charset="-122"/>
              </a:rPr>
              <a:t>算法</a:t>
            </a:r>
          </a:p>
        </p:txBody>
      </p:sp>
      <p:sp>
        <p:nvSpPr>
          <p:cNvPr id="5" name="Rectangle 68">
            <a:extLst>
              <a:ext uri="{FF2B5EF4-FFF2-40B4-BE49-F238E27FC236}">
                <a16:creationId xmlns:a16="http://schemas.microsoft.com/office/drawing/2014/main" id="{51AFC949-05B4-1A68-7D92-F6FCE95E2A30}"/>
              </a:ext>
            </a:extLst>
          </p:cNvPr>
          <p:cNvSpPr>
            <a:spLocks noChangeArrowheads="1"/>
          </p:cNvSpPr>
          <p:nvPr/>
        </p:nvSpPr>
        <p:spPr bwMode="auto">
          <a:xfrm>
            <a:off x="556963" y="940075"/>
            <a:ext cx="8184960" cy="3523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实践证明，</a:t>
            </a:r>
            <a:r>
              <a:rPr lang="en-US" altLang="zh-CN" b="1" dirty="0">
                <a:latin typeface="微软雅黑" pitchFamily="34" charset="-122"/>
                <a:ea typeface="微软雅黑" pitchFamily="34" charset="-122"/>
              </a:rPr>
              <a:t>RED</a:t>
            </a:r>
            <a:r>
              <a:rPr lang="zh-CN" altLang="en-US" b="1" dirty="0">
                <a:latin typeface="微软雅黑" pitchFamily="34" charset="-122"/>
                <a:ea typeface="微软雅黑" pitchFamily="34" charset="-122"/>
              </a:rPr>
              <a:t>的使用效果并不太理想。因此现在已不再推荐使用</a:t>
            </a:r>
            <a:r>
              <a:rPr lang="en-US" altLang="zh-CN" b="1" dirty="0">
                <a:latin typeface="微软雅黑" pitchFamily="34" charset="-122"/>
                <a:ea typeface="微软雅黑" pitchFamily="34" charset="-122"/>
              </a:rPr>
              <a:t>RED</a:t>
            </a:r>
            <a:r>
              <a:rPr lang="zh-CN" altLang="en-US" b="1" dirty="0">
                <a:latin typeface="微软雅黑" pitchFamily="34" charset="-122"/>
                <a:ea typeface="微软雅黑" pitchFamily="34" charset="-122"/>
              </a:rPr>
              <a:t>。不过</a:t>
            </a:r>
            <a:r>
              <a:rPr lang="en-US" altLang="zh-CN" b="1" dirty="0">
                <a:latin typeface="微软雅黑" pitchFamily="34" charset="-122"/>
                <a:ea typeface="微软雅黑" pitchFamily="34" charset="-122"/>
              </a:rPr>
              <a:t>RED</a:t>
            </a:r>
            <a:r>
              <a:rPr lang="zh-CN" altLang="en-US" b="1" dirty="0">
                <a:latin typeface="微软雅黑" pitchFamily="34" charset="-122"/>
                <a:ea typeface="微软雅黑" pitchFamily="34" charset="-122"/>
              </a:rPr>
              <a:t>作为</a:t>
            </a:r>
            <a:r>
              <a:rPr lang="en-US" altLang="zh-CN" b="1" dirty="0">
                <a:latin typeface="微软雅黑" pitchFamily="34" charset="-122"/>
                <a:ea typeface="微软雅黑" pitchFamily="34" charset="-122"/>
              </a:rPr>
              <a:t>AQM</a:t>
            </a:r>
            <a:r>
              <a:rPr lang="zh-CN" altLang="en-US" b="1" dirty="0">
                <a:latin typeface="微软雅黑" pitchFamily="34" charset="-122"/>
                <a:ea typeface="微软雅黑" pitchFamily="34" charset="-122"/>
              </a:rPr>
              <a:t>理论的重要里程碑，为后续拥塞控制算法提供了基础思路。</a:t>
            </a:r>
            <a:endParaRPr lang="en-US" altLang="zh-CN" b="1" dirty="0">
              <a:latin typeface="微软雅黑" pitchFamily="34" charset="-122"/>
              <a:ea typeface="微软雅黑" pitchFamily="34" charset="-122"/>
            </a:endParaRPr>
          </a:p>
          <a:p>
            <a:pPr marL="285750" indent="-28575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现在新一代网络设备普遍采用以下更加先进的</a:t>
            </a:r>
            <a:r>
              <a:rPr lang="en-US" altLang="zh-CN" b="1" dirty="0">
                <a:latin typeface="微软雅黑" pitchFamily="34" charset="-122"/>
                <a:ea typeface="微软雅黑" pitchFamily="34" charset="-122"/>
              </a:rPr>
              <a:t>AQM</a:t>
            </a:r>
            <a:r>
              <a:rPr lang="zh-CN" altLang="en-US" b="1" dirty="0">
                <a:latin typeface="微软雅黑" pitchFamily="34" charset="-122"/>
                <a:ea typeface="微软雅黑" pitchFamily="34" charset="-122"/>
              </a:rPr>
              <a:t>算法：</a:t>
            </a:r>
            <a:endParaRPr lang="en-US" altLang="zh-CN" b="1" dirty="0">
              <a:latin typeface="微软雅黑" pitchFamily="34" charset="-122"/>
              <a:ea typeface="微软雅黑" pitchFamily="34" charset="-122"/>
            </a:endParaRPr>
          </a:p>
          <a:p>
            <a:pPr marL="742950" lvl="1" indent="-285750">
              <a:lnSpc>
                <a:spcPts val="2700"/>
              </a:lnSpc>
              <a:buClr>
                <a:srgbClr val="0070C0"/>
              </a:buClr>
              <a:buFont typeface="Wingdings" panose="05000000000000000000" pitchFamily="2" charset="2"/>
              <a:buChar char="ü"/>
            </a:pPr>
            <a:r>
              <a:rPr lang="zh-CN" altLang="en-US" sz="1600" b="1" dirty="0">
                <a:latin typeface="微软雅黑" pitchFamily="34" charset="-122"/>
                <a:ea typeface="微软雅黑" pitchFamily="34" charset="-122"/>
              </a:rPr>
              <a:t>受控时延</a:t>
            </a:r>
            <a:r>
              <a:rPr lang="en-US" altLang="zh-CN" sz="1600" b="1" dirty="0" err="1">
                <a:latin typeface="微软雅黑" pitchFamily="34" charset="-122"/>
                <a:ea typeface="微软雅黑" pitchFamily="34" charset="-122"/>
              </a:rPr>
              <a:t>CoDel</a:t>
            </a:r>
            <a:r>
              <a:rPr lang="en-US" altLang="zh-CN" sz="1600" b="1" dirty="0">
                <a:latin typeface="微软雅黑" pitchFamily="34" charset="-122"/>
                <a:ea typeface="微软雅黑" pitchFamily="34" charset="-122"/>
              </a:rPr>
              <a:t> (Controlled Delay)</a:t>
            </a:r>
          </a:p>
          <a:p>
            <a:pPr marL="742950" lvl="1" indent="-285750">
              <a:lnSpc>
                <a:spcPts val="2700"/>
              </a:lnSpc>
              <a:buClr>
                <a:srgbClr val="0070C0"/>
              </a:buClr>
              <a:buFont typeface="Wingdings" panose="05000000000000000000" pitchFamily="2" charset="2"/>
              <a:buChar char="ü"/>
            </a:pPr>
            <a:r>
              <a:rPr lang="zh-CN" altLang="en-US" sz="1600" b="1" dirty="0">
                <a:latin typeface="微软雅黑" pitchFamily="34" charset="-122"/>
                <a:ea typeface="微软雅黑" pitchFamily="34" charset="-122"/>
              </a:rPr>
              <a:t>流队列受控时延</a:t>
            </a:r>
            <a:r>
              <a:rPr lang="en-US" altLang="zh-CN" sz="1600" b="1" dirty="0">
                <a:latin typeface="微软雅黑" pitchFamily="34" charset="-122"/>
                <a:ea typeface="微软雅黑" pitchFamily="34" charset="-122"/>
              </a:rPr>
              <a:t>FQ-</a:t>
            </a:r>
            <a:r>
              <a:rPr lang="en-US" altLang="zh-CN" sz="1600" b="1" dirty="0" err="1">
                <a:latin typeface="微软雅黑" pitchFamily="34" charset="-122"/>
                <a:ea typeface="微软雅黑" pitchFamily="34" charset="-122"/>
              </a:rPr>
              <a:t>CoDel</a:t>
            </a:r>
            <a:r>
              <a:rPr lang="en-US" altLang="zh-CN" sz="1600" b="1" dirty="0">
                <a:latin typeface="微软雅黑" pitchFamily="34" charset="-122"/>
                <a:ea typeface="微软雅黑" pitchFamily="34" charset="-122"/>
              </a:rPr>
              <a:t> (Flow Queue Controlled Delay)</a:t>
            </a:r>
          </a:p>
          <a:p>
            <a:pPr marL="742950" lvl="1" indent="-285750">
              <a:lnSpc>
                <a:spcPts val="2700"/>
              </a:lnSpc>
              <a:buClr>
                <a:srgbClr val="0070C0"/>
              </a:buClr>
              <a:buFont typeface="Wingdings" panose="05000000000000000000" pitchFamily="2" charset="2"/>
              <a:buChar char="ü"/>
            </a:pPr>
            <a:r>
              <a:rPr lang="zh-CN" altLang="en-US" sz="1600" b="1" dirty="0">
                <a:latin typeface="微软雅黑" pitchFamily="34" charset="-122"/>
                <a:ea typeface="微软雅黑" pitchFamily="34" charset="-122"/>
              </a:rPr>
              <a:t>增强型比例积分控制器</a:t>
            </a:r>
            <a:r>
              <a:rPr lang="en-US" altLang="zh-CN" sz="1600" b="1" dirty="0">
                <a:latin typeface="微软雅黑" pitchFamily="34" charset="-122"/>
                <a:ea typeface="微软雅黑" pitchFamily="34" charset="-122"/>
              </a:rPr>
              <a:t>PIE (Proportional Integral controller Enhanced)</a:t>
            </a:r>
          </a:p>
          <a:p>
            <a:pPr marL="285750" indent="-28575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最后我们要指出，主动队列管理</a:t>
            </a:r>
            <a:r>
              <a:rPr lang="en-US" altLang="zh-CN" b="1" dirty="0">
                <a:latin typeface="微软雅黑" pitchFamily="34" charset="-122"/>
                <a:ea typeface="微软雅黑" pitchFamily="34" charset="-122"/>
              </a:rPr>
              <a:t>AQM</a:t>
            </a:r>
            <a:r>
              <a:rPr lang="zh-CN" altLang="en-US" b="1" dirty="0">
                <a:latin typeface="微软雅黑" pitchFamily="34" charset="-122"/>
                <a:ea typeface="微软雅黑" pitchFamily="34" charset="-122"/>
              </a:rPr>
              <a:t>实际上是一个</a:t>
            </a:r>
            <a:r>
              <a:rPr lang="zh-CN" altLang="en-US" b="1" dirty="0">
                <a:solidFill>
                  <a:srgbClr val="0000FF"/>
                </a:solidFill>
                <a:latin typeface="微软雅黑" pitchFamily="34" charset="-122"/>
                <a:ea typeface="微软雅黑" pitchFamily="34" charset="-122"/>
              </a:rPr>
              <a:t>跨层的机制</a:t>
            </a:r>
            <a:r>
              <a:rPr lang="zh-CN" altLang="en-US" b="1" dirty="0">
                <a:latin typeface="微软雅黑" pitchFamily="34" charset="-122"/>
                <a:ea typeface="微软雅黑" pitchFamily="34" charset="-122"/>
              </a:rPr>
              <a:t>。从实现位置来看，它主要工作在网络层，因为它是在网络设备（如路由器）的队列中实现的。但从功能作用来看，它与传输层有密切关联，因为它需要配合</a:t>
            </a:r>
            <a:r>
              <a:rPr lang="en-US" altLang="zh-CN" b="1" dirty="0">
                <a:latin typeface="微软雅黑" pitchFamily="34" charset="-122"/>
                <a:ea typeface="微软雅黑" pitchFamily="34" charset="-122"/>
              </a:rPr>
              <a:t>TCP</a:t>
            </a:r>
            <a:r>
              <a:rPr lang="zh-CN" altLang="en-US" b="1" dirty="0">
                <a:latin typeface="微软雅黑" pitchFamily="34" charset="-122"/>
                <a:ea typeface="微软雅黑" pitchFamily="34" charset="-122"/>
              </a:rPr>
              <a:t>拥塞控制机制来发挥作用。</a:t>
            </a:r>
          </a:p>
        </p:txBody>
      </p:sp>
    </p:spTree>
    <p:extLst>
      <p:ext uri="{BB962C8B-B14F-4D97-AF65-F5344CB8AC3E}">
        <p14:creationId xmlns:p14="http://schemas.microsoft.com/office/powerpoint/2010/main" val="1576849088"/>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2EFDA-BA9D-C4B5-53A3-BB227F110B44}"/>
            </a:ext>
          </a:extLst>
        </p:cNvPr>
        <p:cNvGrpSpPr/>
        <p:nvPr/>
      </p:nvGrpSpPr>
      <p:grpSpPr>
        <a:xfrm>
          <a:off x="0" y="0"/>
          <a:ext cx="0" cy="0"/>
          <a:chOff x="0" y="0"/>
          <a:chExt cx="0" cy="0"/>
        </a:xfrm>
      </p:grpSpPr>
      <p:sp>
        <p:nvSpPr>
          <p:cNvPr id="2" name="Rectangle 68">
            <a:extLst>
              <a:ext uri="{FF2B5EF4-FFF2-40B4-BE49-F238E27FC236}">
                <a16:creationId xmlns:a16="http://schemas.microsoft.com/office/drawing/2014/main" id="{7C8C780F-E536-F44C-621C-0D7783083D2C}"/>
              </a:ext>
            </a:extLst>
          </p:cNvPr>
          <p:cNvSpPr>
            <a:spLocks noChangeArrowheads="1"/>
          </p:cNvSpPr>
          <p:nvPr/>
        </p:nvSpPr>
        <p:spPr bwMode="auto">
          <a:xfrm>
            <a:off x="545145" y="1065923"/>
            <a:ext cx="7940488" cy="34331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在传输层中的两个著名协议</a:t>
            </a:r>
            <a:r>
              <a:rPr lang="en-US" altLang="zh-CN" sz="2000" b="1" dirty="0">
                <a:latin typeface="微软雅黑" pitchFamily="34" charset="-122"/>
                <a:ea typeface="微软雅黑" pitchFamily="34" charset="-122"/>
              </a:rPr>
              <a:t>TCP</a:t>
            </a:r>
            <a:r>
              <a:rPr lang="zh-CN" altLang="en-US" sz="2000" b="1" dirty="0">
                <a:latin typeface="微软雅黑" pitchFamily="34" charset="-122"/>
                <a:ea typeface="微软雅黑" pitchFamily="34" charset="-122"/>
              </a:rPr>
              <a:t>和</a:t>
            </a:r>
            <a:r>
              <a:rPr lang="en-US" altLang="zh-CN" sz="2000" b="1" dirty="0">
                <a:latin typeface="微软雅黑" pitchFamily="34" charset="-122"/>
                <a:ea typeface="微软雅黑" pitchFamily="34" charset="-122"/>
              </a:rPr>
              <a:t>UDP</a:t>
            </a:r>
            <a:r>
              <a:rPr lang="zh-CN" altLang="en-US" sz="2000" b="1" dirty="0">
                <a:latin typeface="微软雅黑" pitchFamily="34" charset="-122"/>
                <a:ea typeface="微软雅黑" pitchFamily="34" charset="-122"/>
              </a:rPr>
              <a:t>，实际上并不能满足所有应用的需求。于是在传输层就出现了一些新型协议：</a:t>
            </a:r>
            <a:endParaRPr lang="en-US" altLang="zh-CN" sz="2000" b="1" dirty="0">
              <a:latin typeface="微软雅黑" pitchFamily="34" charset="-122"/>
              <a:ea typeface="微软雅黑" pitchFamily="34" charset="-122"/>
            </a:endParaRPr>
          </a:p>
          <a:p>
            <a:pPr marL="800100" lvl="1" indent="-342900">
              <a:lnSpc>
                <a:spcPts val="3300"/>
              </a:lnSpc>
              <a:buClr>
                <a:srgbClr val="0070C0"/>
              </a:buClr>
              <a:buFont typeface="Wingdings" panose="05000000000000000000" pitchFamily="2" charset="2"/>
              <a:buChar char="ü"/>
            </a:pPr>
            <a:r>
              <a:rPr lang="zh-CN" altLang="en-US" b="1" dirty="0">
                <a:solidFill>
                  <a:srgbClr val="0000FF"/>
                </a:solidFill>
                <a:latin typeface="微软雅黑" pitchFamily="34" charset="-122"/>
                <a:ea typeface="微软雅黑" pitchFamily="34" charset="-122"/>
              </a:rPr>
              <a:t>流控制传输协议</a:t>
            </a:r>
            <a:r>
              <a:rPr lang="en-US" altLang="zh-CN" b="1" dirty="0">
                <a:solidFill>
                  <a:srgbClr val="0000FF"/>
                </a:solidFill>
                <a:latin typeface="微软雅黑" pitchFamily="34" charset="-122"/>
                <a:ea typeface="微软雅黑" pitchFamily="34" charset="-122"/>
              </a:rPr>
              <a:t>SCTP </a:t>
            </a:r>
            <a:r>
              <a:rPr lang="en-US" altLang="zh-CN" b="1" dirty="0">
                <a:latin typeface="微软雅黑" pitchFamily="34" charset="-122"/>
                <a:ea typeface="微软雅黑" pitchFamily="34" charset="-122"/>
              </a:rPr>
              <a:t>(Stream Control Transmission Protocol)</a:t>
            </a:r>
            <a:r>
              <a:rPr lang="zh-CN" altLang="en-US" b="1" dirty="0">
                <a:latin typeface="微软雅黑" pitchFamily="34" charset="-122"/>
                <a:ea typeface="微软雅黑" pitchFamily="34" charset="-122"/>
              </a:rPr>
              <a:t>是面向连接的。在电信行业有特定应用，主要用于信令传输。</a:t>
            </a:r>
            <a:endParaRPr lang="en-US" altLang="zh-CN" b="1" dirty="0">
              <a:latin typeface="微软雅黑" pitchFamily="34" charset="-122"/>
              <a:ea typeface="微软雅黑" pitchFamily="34" charset="-122"/>
            </a:endParaRPr>
          </a:p>
          <a:p>
            <a:pPr marL="800100" lvl="1" indent="-342900">
              <a:lnSpc>
                <a:spcPts val="3300"/>
              </a:lnSpc>
              <a:buClr>
                <a:srgbClr val="0070C0"/>
              </a:buClr>
              <a:buFont typeface="Wingdings" panose="05000000000000000000" pitchFamily="2" charset="2"/>
              <a:buChar char="ü"/>
            </a:pPr>
            <a:r>
              <a:rPr lang="zh-CN" altLang="en-US" b="1" dirty="0">
                <a:solidFill>
                  <a:srgbClr val="0000FF"/>
                </a:solidFill>
                <a:latin typeface="微软雅黑" pitchFamily="34" charset="-122"/>
                <a:ea typeface="微软雅黑" pitchFamily="34" charset="-122"/>
              </a:rPr>
              <a:t>数据中心传输控制协议</a:t>
            </a:r>
            <a:r>
              <a:rPr lang="en-US" altLang="zh-CN" b="1" dirty="0">
                <a:solidFill>
                  <a:srgbClr val="0000FF"/>
                </a:solidFill>
                <a:latin typeface="微软雅黑" pitchFamily="34" charset="-122"/>
                <a:ea typeface="微软雅黑" pitchFamily="34" charset="-122"/>
              </a:rPr>
              <a:t>DCTCP </a:t>
            </a:r>
            <a:r>
              <a:rPr lang="en-US" altLang="zh-CN" b="1" dirty="0">
                <a:latin typeface="微软雅黑" pitchFamily="34" charset="-122"/>
                <a:ea typeface="微软雅黑" pitchFamily="34" charset="-122"/>
              </a:rPr>
              <a:t>(Data Center TCP)</a:t>
            </a:r>
            <a:r>
              <a:rPr lang="zh-CN" altLang="en-US" b="1" dirty="0">
                <a:latin typeface="微软雅黑" pitchFamily="34" charset="-122"/>
                <a:ea typeface="微软雅黑" pitchFamily="34" charset="-122"/>
              </a:rPr>
              <a:t>是基于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的扩展，专为数据中心内的高效拥塞控制而设计。</a:t>
            </a:r>
            <a:endParaRPr lang="en-US" altLang="zh-CN" b="1" dirty="0">
              <a:latin typeface="微软雅黑" pitchFamily="34" charset="-122"/>
              <a:ea typeface="微软雅黑" pitchFamily="34" charset="-122"/>
            </a:endParaRPr>
          </a:p>
          <a:p>
            <a:pPr marL="800100" lvl="1" indent="-342900">
              <a:lnSpc>
                <a:spcPts val="3300"/>
              </a:lnSpc>
              <a:buClr>
                <a:srgbClr val="0070C0"/>
              </a:buClr>
              <a:buFont typeface="Wingdings" panose="05000000000000000000" pitchFamily="2" charset="2"/>
              <a:buChar char="ü"/>
            </a:pPr>
            <a:r>
              <a:rPr lang="zh-CN" altLang="en-US" b="1" dirty="0">
                <a:solidFill>
                  <a:srgbClr val="0000FF"/>
                </a:solidFill>
                <a:latin typeface="微软雅黑" pitchFamily="34" charset="-122"/>
                <a:ea typeface="微软雅黑" pitchFamily="34" charset="-122"/>
              </a:rPr>
              <a:t>数据报拥塞控制协议</a:t>
            </a:r>
            <a:r>
              <a:rPr lang="en-US" altLang="zh-CN" b="1" dirty="0">
                <a:solidFill>
                  <a:srgbClr val="0000FF"/>
                </a:solidFill>
                <a:latin typeface="微软雅黑" pitchFamily="34" charset="-122"/>
                <a:ea typeface="微软雅黑" pitchFamily="34" charset="-122"/>
              </a:rPr>
              <a:t>DCCP </a:t>
            </a:r>
            <a:r>
              <a:rPr lang="en-US" altLang="zh-CN" b="1" dirty="0">
                <a:latin typeface="微软雅黑" pitchFamily="34" charset="-122"/>
                <a:ea typeface="微软雅黑" pitchFamily="34" charset="-122"/>
              </a:rPr>
              <a:t>(Datagram Congestion Control Protocol)</a:t>
            </a:r>
            <a:r>
              <a:rPr lang="zh-CN" altLang="en-US" b="1" dirty="0">
                <a:latin typeface="微软雅黑" pitchFamily="34" charset="-122"/>
                <a:ea typeface="微软雅黑" pitchFamily="34" charset="-122"/>
              </a:rPr>
              <a:t>提供无连接传输加上拥塞控制。</a:t>
            </a:r>
            <a:endParaRPr lang="en-US" altLang="zh-CN" b="1" dirty="0">
              <a:latin typeface="微软雅黑" pitchFamily="34" charset="-122"/>
              <a:ea typeface="微软雅黑" pitchFamily="34" charset="-122"/>
            </a:endParaRPr>
          </a:p>
        </p:txBody>
      </p:sp>
      <p:sp>
        <p:nvSpPr>
          <p:cNvPr id="3" name="AutoShape 5">
            <a:extLst>
              <a:ext uri="{FF2B5EF4-FFF2-40B4-BE49-F238E27FC236}">
                <a16:creationId xmlns:a16="http://schemas.microsoft.com/office/drawing/2014/main" id="{EEEFD495-C84A-C3D5-F846-8A258CE78363}"/>
              </a:ext>
            </a:extLst>
          </p:cNvPr>
          <p:cNvSpPr>
            <a:spLocks noChangeArrowheads="1"/>
          </p:cNvSpPr>
          <p:nvPr/>
        </p:nvSpPr>
        <p:spPr bwMode="auto">
          <a:xfrm>
            <a:off x="545144" y="614832"/>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4" name="Rectangle 6">
            <a:extLst>
              <a:ext uri="{FF2B5EF4-FFF2-40B4-BE49-F238E27FC236}">
                <a16:creationId xmlns:a16="http://schemas.microsoft.com/office/drawing/2014/main" id="{B36F9E1B-5D5C-D8D4-F5AF-8B872ADFEC99}"/>
              </a:ext>
            </a:extLst>
          </p:cNvPr>
          <p:cNvSpPr>
            <a:spLocks noChangeArrowheads="1"/>
          </p:cNvSpPr>
          <p:nvPr/>
        </p:nvSpPr>
        <p:spPr bwMode="auto">
          <a:xfrm>
            <a:off x="2983264" y="572561"/>
            <a:ext cx="317747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FFFF00"/>
                </a:solidFill>
                <a:latin typeface="微软雅黑" pitchFamily="34" charset="-122"/>
                <a:ea typeface="微软雅黑" pitchFamily="34" charset="-122"/>
              </a:rPr>
              <a:t>5.10  </a:t>
            </a:r>
            <a:r>
              <a:rPr lang="zh-CN" altLang="en-US" sz="2400" b="1" dirty="0">
                <a:solidFill>
                  <a:schemeClr val="bg1"/>
                </a:solidFill>
                <a:latin typeface="微软雅黑" pitchFamily="34" charset="-122"/>
                <a:ea typeface="微软雅黑" pitchFamily="34" charset="-122"/>
              </a:rPr>
              <a:t>新型传输层协议</a:t>
            </a:r>
          </a:p>
          <a:p>
            <a:pPr algn="ctr"/>
            <a:endParaRPr lang="zh-CN" altLang="en-US" sz="24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176633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1000"/>
                                        <p:tgtEl>
                                          <p:spTgt spid="2">
                                            <p:txEl>
                                              <p:pRg st="1" end="1"/>
                                            </p:txEl>
                                          </p:spTgt>
                                        </p:tgtEl>
                                      </p:cBhvr>
                                    </p:animEffect>
                                    <p:anim calcmode="lin" valueType="num">
                                      <p:cBhvr>
                                        <p:cTn id="13"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1000"/>
                                        <p:tgtEl>
                                          <p:spTgt spid="2">
                                            <p:txEl>
                                              <p:pRg st="2" end="2"/>
                                            </p:txEl>
                                          </p:spTgt>
                                        </p:tgtEl>
                                      </p:cBhvr>
                                    </p:animEffect>
                                    <p:anim calcmode="lin" valueType="num">
                                      <p:cBhvr>
                                        <p:cTn id="18"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2">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1000"/>
                                        <p:tgtEl>
                                          <p:spTgt spid="2">
                                            <p:txEl>
                                              <p:pRg st="3" end="3"/>
                                            </p:txEl>
                                          </p:spTgt>
                                        </p:tgtEl>
                                      </p:cBhvr>
                                    </p:animEffect>
                                    <p:anim calcmode="lin" valueType="num">
                                      <p:cBhvr>
                                        <p:cTn id="23"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79D22-05FB-50BB-3AA4-01AE61458CB2}"/>
            </a:ext>
          </a:extLst>
        </p:cNvPr>
        <p:cNvGrpSpPr/>
        <p:nvPr/>
      </p:nvGrpSpPr>
      <p:grpSpPr>
        <a:xfrm>
          <a:off x="0" y="0"/>
          <a:ext cx="0" cy="0"/>
          <a:chOff x="0" y="0"/>
          <a:chExt cx="0" cy="0"/>
        </a:xfrm>
      </p:grpSpPr>
      <p:sp>
        <p:nvSpPr>
          <p:cNvPr id="3" name="AutoShape 5">
            <a:extLst>
              <a:ext uri="{FF2B5EF4-FFF2-40B4-BE49-F238E27FC236}">
                <a16:creationId xmlns:a16="http://schemas.microsoft.com/office/drawing/2014/main" id="{71AB60CA-22D6-4289-5707-CBB3CBE1926D}"/>
              </a:ext>
            </a:extLst>
          </p:cNvPr>
          <p:cNvSpPr>
            <a:spLocks noChangeArrowheads="1"/>
          </p:cNvSpPr>
          <p:nvPr/>
        </p:nvSpPr>
        <p:spPr bwMode="auto">
          <a:xfrm>
            <a:off x="556963" y="62297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 name="Rectangle 6">
            <a:extLst>
              <a:ext uri="{FF2B5EF4-FFF2-40B4-BE49-F238E27FC236}">
                <a16:creationId xmlns:a16="http://schemas.microsoft.com/office/drawing/2014/main" id="{334F957E-20EE-1032-B86D-AE32C82AC219}"/>
              </a:ext>
            </a:extLst>
          </p:cNvPr>
          <p:cNvSpPr>
            <a:spLocks noChangeArrowheads="1"/>
          </p:cNvSpPr>
          <p:nvPr/>
        </p:nvSpPr>
        <p:spPr bwMode="auto">
          <a:xfrm>
            <a:off x="2577438" y="589768"/>
            <a:ext cx="400782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快速用户数据报互联网连接 </a:t>
            </a:r>
            <a:r>
              <a:rPr lang="en-US" altLang="zh-CN" sz="2000" b="1" dirty="0">
                <a:solidFill>
                  <a:schemeClr val="bg1"/>
                </a:solidFill>
                <a:latin typeface="微软雅黑" pitchFamily="34" charset="-122"/>
                <a:ea typeface="微软雅黑" pitchFamily="34" charset="-122"/>
              </a:rPr>
              <a:t>QUIC</a:t>
            </a:r>
            <a:endParaRPr lang="zh-CN" altLang="en-US" sz="2000" b="1" dirty="0">
              <a:solidFill>
                <a:schemeClr val="bg1"/>
              </a:solidFill>
              <a:latin typeface="微软雅黑" pitchFamily="34" charset="-122"/>
              <a:ea typeface="微软雅黑" pitchFamily="34" charset="-122"/>
            </a:endParaRPr>
          </a:p>
        </p:txBody>
      </p:sp>
      <p:sp>
        <p:nvSpPr>
          <p:cNvPr id="5" name="Rectangle 68">
            <a:extLst>
              <a:ext uri="{FF2B5EF4-FFF2-40B4-BE49-F238E27FC236}">
                <a16:creationId xmlns:a16="http://schemas.microsoft.com/office/drawing/2014/main" id="{26D52130-526B-1AEF-3FB6-EA822A31CA2F}"/>
              </a:ext>
            </a:extLst>
          </p:cNvPr>
          <p:cNvSpPr>
            <a:spLocks noChangeArrowheads="1"/>
          </p:cNvSpPr>
          <p:nvPr/>
        </p:nvSpPr>
        <p:spPr bwMode="auto">
          <a:xfrm>
            <a:off x="556963" y="940075"/>
            <a:ext cx="8184960" cy="3523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700"/>
              </a:lnSpc>
              <a:buClr>
                <a:srgbClr val="0070C0"/>
              </a:buClr>
              <a:buFont typeface="Wingdings" pitchFamily="2" charset="2"/>
              <a:buChar char="l"/>
            </a:pPr>
            <a:r>
              <a:rPr lang="en-US" altLang="zh-CN" b="1" dirty="0">
                <a:solidFill>
                  <a:srgbClr val="C00000"/>
                </a:solidFill>
                <a:latin typeface="微软雅黑" pitchFamily="34" charset="-122"/>
                <a:ea typeface="微软雅黑" pitchFamily="34" charset="-122"/>
              </a:rPr>
              <a:t>QUIC (Quick UDP Internet Connections) </a:t>
            </a:r>
            <a:r>
              <a:rPr lang="zh-CN" altLang="en-US" b="1" dirty="0">
                <a:latin typeface="微软雅黑" pitchFamily="34" charset="-122"/>
                <a:ea typeface="微软雅黑" pitchFamily="34" charset="-122"/>
              </a:rPr>
              <a:t>是由谷歌公司设计的一个新型的基于</a:t>
            </a:r>
            <a:r>
              <a:rPr lang="en-US" altLang="zh-CN" b="1" dirty="0">
                <a:latin typeface="微软雅黑" pitchFamily="34" charset="-122"/>
                <a:ea typeface="微软雅黑" pitchFamily="34" charset="-122"/>
              </a:rPr>
              <a:t>UDP</a:t>
            </a:r>
            <a:r>
              <a:rPr lang="zh-CN" altLang="en-US" b="1" dirty="0">
                <a:latin typeface="微软雅黑" pitchFamily="34" charset="-122"/>
                <a:ea typeface="微软雅黑" pitchFamily="34" charset="-122"/>
              </a:rPr>
              <a:t>的低时延网络传输层协议。</a:t>
            </a:r>
            <a:endParaRPr lang="en-US" altLang="zh-CN" b="1" dirty="0">
              <a:latin typeface="微软雅黑" pitchFamily="34" charset="-122"/>
              <a:ea typeface="微软雅黑" pitchFamily="34" charset="-122"/>
            </a:endParaRPr>
          </a:p>
          <a:p>
            <a:pPr marL="285750" indent="-285750">
              <a:lnSpc>
                <a:spcPts val="2700"/>
              </a:lnSpc>
              <a:buClr>
                <a:srgbClr val="0070C0"/>
              </a:buClr>
              <a:buFont typeface="Wingdings" pitchFamily="2" charset="2"/>
              <a:buChar char="l"/>
            </a:pPr>
            <a:r>
              <a:rPr lang="en-US" altLang="zh-CN" b="1" dirty="0">
                <a:latin typeface="微软雅黑" pitchFamily="34" charset="-122"/>
                <a:ea typeface="微软雅黑" pitchFamily="34" charset="-122"/>
              </a:rPr>
              <a:t>QUIC</a:t>
            </a:r>
            <a:r>
              <a:rPr lang="zh-CN" altLang="en-US" b="1" dirty="0">
                <a:latin typeface="微软雅黑" pitchFamily="34" charset="-122"/>
                <a:ea typeface="微软雅黑" pitchFamily="34" charset="-122"/>
              </a:rPr>
              <a:t>的思路是要设计成为一个安全通用的传输层协议。</a:t>
            </a:r>
            <a:r>
              <a:rPr lang="en-US" altLang="zh-CN" b="1" dirty="0">
                <a:latin typeface="微软雅黑" pitchFamily="34" charset="-122"/>
                <a:ea typeface="微软雅黑" pitchFamily="34" charset="-122"/>
              </a:rPr>
              <a:t>QUIC</a:t>
            </a:r>
            <a:r>
              <a:rPr lang="zh-CN" altLang="en-US" b="1" dirty="0">
                <a:latin typeface="微软雅黑" pitchFamily="34" charset="-122"/>
                <a:ea typeface="微软雅黑" pitchFamily="34" charset="-122"/>
              </a:rPr>
              <a:t>选择在</a:t>
            </a:r>
            <a:r>
              <a:rPr lang="en-US" altLang="zh-CN" b="1" dirty="0">
                <a:latin typeface="微软雅黑" pitchFamily="34" charset="-122"/>
                <a:ea typeface="微软雅黑" pitchFamily="34" charset="-122"/>
              </a:rPr>
              <a:t>UDP</a:t>
            </a:r>
            <a:r>
              <a:rPr lang="zh-CN" altLang="en-US" b="1" dirty="0">
                <a:latin typeface="微软雅黑" pitchFamily="34" charset="-122"/>
                <a:ea typeface="微软雅黑" pitchFamily="34" charset="-122"/>
              </a:rPr>
              <a:t>上实现可靠传输，而不是直接运行在</a:t>
            </a:r>
            <a:r>
              <a:rPr lang="en-US" altLang="zh-CN" b="1" dirty="0">
                <a:latin typeface="微软雅黑" pitchFamily="34" charset="-122"/>
                <a:ea typeface="微软雅黑" pitchFamily="34" charset="-122"/>
              </a:rPr>
              <a:t>IP</a:t>
            </a:r>
            <a:r>
              <a:rPr lang="zh-CN" altLang="en-US" b="1" dirty="0">
                <a:latin typeface="微软雅黑" pitchFamily="34" charset="-122"/>
                <a:ea typeface="微软雅黑" pitchFamily="34" charset="-122"/>
              </a:rPr>
              <a:t>之上的协议。</a:t>
            </a:r>
            <a:endParaRPr lang="en-US" altLang="zh-CN" b="1" dirty="0">
              <a:latin typeface="微软雅黑" pitchFamily="34" charset="-122"/>
              <a:ea typeface="微软雅黑" pitchFamily="34" charset="-122"/>
            </a:endParaRPr>
          </a:p>
          <a:p>
            <a:pPr marL="285750" indent="-28575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由于</a:t>
            </a:r>
            <a:r>
              <a:rPr lang="en-US" altLang="zh-CN" b="1" dirty="0">
                <a:latin typeface="微软雅黑" pitchFamily="34" charset="-122"/>
                <a:ea typeface="微软雅黑" pitchFamily="34" charset="-122"/>
              </a:rPr>
              <a:t>UDP</a:t>
            </a:r>
            <a:r>
              <a:rPr lang="zh-CN" altLang="en-US" b="1" dirty="0">
                <a:latin typeface="微软雅黑" pitchFamily="34" charset="-122"/>
                <a:ea typeface="微软雅黑" pitchFamily="34" charset="-122"/>
              </a:rPr>
              <a:t>非常简单，</a:t>
            </a:r>
            <a:r>
              <a:rPr lang="en-US" altLang="zh-CN" b="1" dirty="0">
                <a:latin typeface="微软雅黑" pitchFamily="34" charset="-122"/>
                <a:ea typeface="微软雅黑" pitchFamily="34" charset="-122"/>
              </a:rPr>
              <a:t>QUIC</a:t>
            </a:r>
            <a:r>
              <a:rPr lang="zh-CN" altLang="en-US" b="1" dirty="0">
                <a:latin typeface="微软雅黑" pitchFamily="34" charset="-122"/>
                <a:ea typeface="微软雅黑" pitchFamily="34" charset="-122"/>
              </a:rPr>
              <a:t>可以完全自主设计所有传输机制，不需要修改操作系统内核，这样就降低了部署难度。</a:t>
            </a:r>
            <a:endParaRPr lang="en-US" altLang="zh-CN" b="1" dirty="0">
              <a:latin typeface="微软雅黑" pitchFamily="34" charset="-122"/>
              <a:ea typeface="微软雅黑" pitchFamily="34" charset="-122"/>
            </a:endParaRPr>
          </a:p>
          <a:p>
            <a:pPr marL="285750" indent="-285750">
              <a:lnSpc>
                <a:spcPts val="2700"/>
              </a:lnSpc>
              <a:buClr>
                <a:srgbClr val="0070C0"/>
              </a:buClr>
              <a:buFont typeface="Wingdings" pitchFamily="2" charset="2"/>
              <a:buChar char="l"/>
            </a:pPr>
            <a:r>
              <a:rPr lang="en-US" altLang="zh-CN" b="1" dirty="0">
                <a:latin typeface="微软雅黑" pitchFamily="34" charset="-122"/>
                <a:ea typeface="微软雅黑" pitchFamily="34" charset="-122"/>
              </a:rPr>
              <a:t>UDP</a:t>
            </a:r>
            <a:r>
              <a:rPr lang="zh-CN" altLang="en-US" b="1" dirty="0">
                <a:latin typeface="微软雅黑" pitchFamily="34" charset="-122"/>
                <a:ea typeface="微软雅黑" pitchFamily="34" charset="-122"/>
              </a:rPr>
              <a:t>并不是可靠传输，但</a:t>
            </a:r>
            <a:r>
              <a:rPr lang="en-US" altLang="zh-CN" b="1" dirty="0">
                <a:latin typeface="微软雅黑" pitchFamily="34" charset="-122"/>
                <a:ea typeface="微软雅黑" pitchFamily="34" charset="-122"/>
              </a:rPr>
              <a:t>QUIC</a:t>
            </a:r>
            <a:r>
              <a:rPr lang="zh-CN" altLang="en-US" b="1" dirty="0">
                <a:latin typeface="微软雅黑" pitchFamily="34" charset="-122"/>
                <a:ea typeface="微软雅黑" pitchFamily="34" charset="-122"/>
              </a:rPr>
              <a:t>在</a:t>
            </a:r>
            <a:r>
              <a:rPr lang="en-US" altLang="zh-CN" b="1" dirty="0">
                <a:latin typeface="微软雅黑" pitchFamily="34" charset="-122"/>
                <a:ea typeface="微软雅黑" pitchFamily="34" charset="-122"/>
              </a:rPr>
              <a:t>UDP</a:t>
            </a:r>
            <a:r>
              <a:rPr lang="zh-CN" altLang="en-US" b="1" dirty="0">
                <a:latin typeface="微软雅黑" pitchFamily="34" charset="-122"/>
                <a:ea typeface="微软雅黑" pitchFamily="34" charset="-122"/>
              </a:rPr>
              <a:t>之上实现了自己的可靠传输机制。</a:t>
            </a:r>
            <a:r>
              <a:rPr lang="en-US" altLang="zh-CN" b="1" dirty="0">
                <a:latin typeface="微软雅黑" pitchFamily="34" charset="-122"/>
                <a:ea typeface="微软雅黑" pitchFamily="34" charset="-122"/>
              </a:rPr>
              <a:t>QUIC</a:t>
            </a:r>
            <a:r>
              <a:rPr lang="zh-CN" altLang="en-US" b="1" dirty="0">
                <a:latin typeface="微软雅黑" pitchFamily="34" charset="-122"/>
                <a:ea typeface="微软雅黑" pitchFamily="34" charset="-122"/>
              </a:rPr>
              <a:t>把数据封装成分组，每一个</a:t>
            </a:r>
            <a:r>
              <a:rPr lang="en-US" altLang="zh-CN" b="1" dirty="0">
                <a:latin typeface="微软雅黑" pitchFamily="34" charset="-122"/>
                <a:ea typeface="微软雅黑" pitchFamily="34" charset="-122"/>
              </a:rPr>
              <a:t>QUIC</a:t>
            </a:r>
            <a:r>
              <a:rPr lang="zh-CN" altLang="en-US" b="1" dirty="0">
                <a:latin typeface="微软雅黑" pitchFamily="34" charset="-122"/>
                <a:ea typeface="微软雅黑" pitchFamily="34" charset="-122"/>
              </a:rPr>
              <a:t>分组都有一个递增的序号。这样就可以单独处理每个分组的丢失和重传，提高了传输效率，尤其是在网络状况不佳的情况。</a:t>
            </a:r>
          </a:p>
        </p:txBody>
      </p:sp>
    </p:spTree>
    <p:extLst>
      <p:ext uri="{BB962C8B-B14F-4D97-AF65-F5344CB8AC3E}">
        <p14:creationId xmlns:p14="http://schemas.microsoft.com/office/powerpoint/2010/main" val="1063168183"/>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8B13A-69F2-E949-DFB0-4FED682254CB}"/>
            </a:ext>
          </a:extLst>
        </p:cNvPr>
        <p:cNvGrpSpPr/>
        <p:nvPr/>
      </p:nvGrpSpPr>
      <p:grpSpPr>
        <a:xfrm>
          <a:off x="0" y="0"/>
          <a:ext cx="0" cy="0"/>
          <a:chOff x="0" y="0"/>
          <a:chExt cx="0" cy="0"/>
        </a:xfrm>
      </p:grpSpPr>
      <p:sp>
        <p:nvSpPr>
          <p:cNvPr id="3" name="AutoShape 5">
            <a:extLst>
              <a:ext uri="{FF2B5EF4-FFF2-40B4-BE49-F238E27FC236}">
                <a16:creationId xmlns:a16="http://schemas.microsoft.com/office/drawing/2014/main" id="{5B8DEBA4-FFD1-E4A2-ABC5-564A9562C54E}"/>
              </a:ext>
            </a:extLst>
          </p:cNvPr>
          <p:cNvSpPr>
            <a:spLocks noChangeArrowheads="1"/>
          </p:cNvSpPr>
          <p:nvPr/>
        </p:nvSpPr>
        <p:spPr bwMode="auto">
          <a:xfrm>
            <a:off x="556963" y="62297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 name="Rectangle 6">
            <a:extLst>
              <a:ext uri="{FF2B5EF4-FFF2-40B4-BE49-F238E27FC236}">
                <a16:creationId xmlns:a16="http://schemas.microsoft.com/office/drawing/2014/main" id="{17DC8800-25FA-8C05-891B-EC543ED9A8CC}"/>
              </a:ext>
            </a:extLst>
          </p:cNvPr>
          <p:cNvSpPr>
            <a:spLocks noChangeArrowheads="1"/>
          </p:cNvSpPr>
          <p:nvPr/>
        </p:nvSpPr>
        <p:spPr bwMode="auto">
          <a:xfrm>
            <a:off x="2577438" y="589768"/>
            <a:ext cx="400782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快速用户数据报互联网连接 </a:t>
            </a:r>
            <a:r>
              <a:rPr lang="en-US" altLang="zh-CN" sz="2000" b="1" dirty="0">
                <a:solidFill>
                  <a:schemeClr val="bg1"/>
                </a:solidFill>
                <a:latin typeface="微软雅黑" pitchFamily="34" charset="-122"/>
                <a:ea typeface="微软雅黑" pitchFamily="34" charset="-122"/>
              </a:rPr>
              <a:t>QUIC</a:t>
            </a:r>
            <a:endParaRPr lang="zh-CN" altLang="en-US" sz="2000" b="1" dirty="0">
              <a:solidFill>
                <a:schemeClr val="bg1"/>
              </a:solidFill>
              <a:latin typeface="微软雅黑" pitchFamily="34" charset="-122"/>
              <a:ea typeface="微软雅黑" pitchFamily="34" charset="-122"/>
            </a:endParaRPr>
          </a:p>
        </p:txBody>
      </p:sp>
      <p:sp>
        <p:nvSpPr>
          <p:cNvPr id="5" name="Rectangle 68">
            <a:extLst>
              <a:ext uri="{FF2B5EF4-FFF2-40B4-BE49-F238E27FC236}">
                <a16:creationId xmlns:a16="http://schemas.microsoft.com/office/drawing/2014/main" id="{DBEF65E5-17BE-52C2-D827-13E38D820C78}"/>
              </a:ext>
            </a:extLst>
          </p:cNvPr>
          <p:cNvSpPr>
            <a:spLocks noChangeArrowheads="1"/>
          </p:cNvSpPr>
          <p:nvPr/>
        </p:nvSpPr>
        <p:spPr bwMode="auto">
          <a:xfrm>
            <a:off x="556963" y="940075"/>
            <a:ext cx="8184960" cy="3523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700"/>
              </a:lnSpc>
              <a:buClr>
                <a:srgbClr val="0070C0"/>
              </a:buClr>
              <a:buFont typeface="Wingdings" pitchFamily="2" charset="2"/>
              <a:buChar char="l"/>
            </a:pPr>
            <a:r>
              <a:rPr lang="en-US" altLang="zh-CN" b="1" dirty="0">
                <a:latin typeface="微软雅黑" pitchFamily="34" charset="-122"/>
                <a:ea typeface="微软雅黑" pitchFamily="34" charset="-122"/>
              </a:rPr>
              <a:t>QUIC</a:t>
            </a:r>
            <a:r>
              <a:rPr lang="zh-CN" altLang="en-US" b="1" dirty="0">
                <a:latin typeface="微软雅黑" pitchFamily="34" charset="-122"/>
                <a:ea typeface="微软雅黑" pitchFamily="34" charset="-122"/>
              </a:rPr>
              <a:t>避免了</a:t>
            </a:r>
            <a:r>
              <a:rPr lang="zh-CN" altLang="en-US" b="1" dirty="0">
                <a:solidFill>
                  <a:srgbClr val="0000FF"/>
                </a:solidFill>
                <a:latin typeface="微软雅黑" pitchFamily="34" charset="-122"/>
                <a:ea typeface="微软雅黑" pitchFamily="34" charset="-122"/>
              </a:rPr>
              <a:t>队头</a:t>
            </a:r>
            <a:r>
              <a:rPr lang="en-US" altLang="zh-CN" b="1" dirty="0">
                <a:solidFill>
                  <a:srgbClr val="0000FF"/>
                </a:solidFill>
                <a:latin typeface="微软雅黑" pitchFamily="34" charset="-122"/>
                <a:ea typeface="微软雅黑" pitchFamily="34" charset="-122"/>
              </a:rPr>
              <a:t>HOL (Head Of Line)</a:t>
            </a:r>
            <a:r>
              <a:rPr lang="zh-CN" altLang="en-US" b="1" dirty="0">
                <a:solidFill>
                  <a:srgbClr val="0000FF"/>
                </a:solidFill>
                <a:latin typeface="微软雅黑" pitchFamily="34" charset="-122"/>
                <a:ea typeface="微软雅黑" pitchFamily="34" charset="-122"/>
              </a:rPr>
              <a:t>阻塞</a:t>
            </a:r>
            <a:r>
              <a:rPr lang="zh-CN" altLang="en-US" b="1" dirty="0">
                <a:latin typeface="微软雅黑" pitchFamily="34" charset="-122"/>
                <a:ea typeface="微软雅黑" pitchFamily="34" charset="-122"/>
              </a:rPr>
              <a:t>。</a:t>
            </a:r>
            <a:endParaRPr lang="en-US" altLang="zh-CN" b="1" dirty="0">
              <a:latin typeface="微软雅黑" pitchFamily="34" charset="-122"/>
              <a:ea typeface="微软雅黑" pitchFamily="34" charset="-122"/>
            </a:endParaRPr>
          </a:p>
          <a:p>
            <a:pPr marL="285750" indent="-285750">
              <a:lnSpc>
                <a:spcPts val="2700"/>
              </a:lnSpc>
              <a:buClr>
                <a:srgbClr val="0070C0"/>
              </a:buClr>
              <a:buFont typeface="Wingdings" pitchFamily="2" charset="2"/>
              <a:buChar char="l"/>
            </a:pPr>
            <a:r>
              <a:rPr lang="en-US" altLang="zh-CN" b="1" dirty="0">
                <a:latin typeface="微软雅黑" pitchFamily="34" charset="-122"/>
                <a:ea typeface="微软雅黑" pitchFamily="34" charset="-122"/>
              </a:rPr>
              <a:t>TCP</a:t>
            </a:r>
            <a:r>
              <a:rPr lang="zh-CN" altLang="en-US" b="1" dirty="0">
                <a:latin typeface="微软雅黑" pitchFamily="34" charset="-122"/>
                <a:ea typeface="微软雅黑" pitchFamily="34" charset="-122"/>
              </a:rPr>
              <a:t>的可靠性机制要求所发送的字节流按顺序到达和处理。如果一个报文段丢失，后续的报文段即使到达也无法被处理，这就是队头阻塞。</a:t>
            </a:r>
            <a:endParaRPr lang="en-US" altLang="zh-CN" b="1" dirty="0">
              <a:latin typeface="微软雅黑" pitchFamily="34" charset="-122"/>
              <a:ea typeface="微软雅黑" pitchFamily="34" charset="-122"/>
            </a:endParaRPr>
          </a:p>
          <a:p>
            <a:pPr marL="285750" indent="-285750">
              <a:lnSpc>
                <a:spcPts val="2700"/>
              </a:lnSpc>
              <a:buClr>
                <a:srgbClr val="0070C0"/>
              </a:buClr>
              <a:buFont typeface="Wingdings" pitchFamily="2" charset="2"/>
              <a:buChar char="l"/>
            </a:pPr>
            <a:r>
              <a:rPr lang="en-US" altLang="zh-CN" b="1" dirty="0">
                <a:latin typeface="微软雅黑" pitchFamily="34" charset="-122"/>
                <a:ea typeface="微软雅黑" pitchFamily="34" charset="-122"/>
              </a:rPr>
              <a:t>QUIC</a:t>
            </a:r>
            <a:r>
              <a:rPr lang="zh-CN" altLang="en-US" b="1" dirty="0">
                <a:latin typeface="微软雅黑" pitchFamily="34" charset="-122"/>
                <a:ea typeface="微软雅黑" pitchFamily="34" charset="-122"/>
              </a:rPr>
              <a:t>内置了</a:t>
            </a:r>
            <a:r>
              <a:rPr lang="zh-CN" altLang="en-US" b="1" dirty="0">
                <a:solidFill>
                  <a:srgbClr val="0000FF"/>
                </a:solidFill>
                <a:latin typeface="微软雅黑" pitchFamily="34" charset="-122"/>
                <a:ea typeface="微软雅黑" pitchFamily="34" charset="-122"/>
              </a:rPr>
              <a:t>多路复用</a:t>
            </a:r>
            <a:r>
              <a:rPr lang="zh-CN" altLang="en-US" b="1" dirty="0">
                <a:latin typeface="微软雅黑" pitchFamily="34" charset="-122"/>
                <a:ea typeface="微软雅黑" pitchFamily="34" charset="-122"/>
              </a:rPr>
              <a:t>功能，可把不同类型的数据分配到独立的流中，每个数据流都有自己的唯一序号和流量控制。当某个数据流发生分组丢失时，只会影响该数据流本身，不需要等待所有后续数据包的到达，其他数据流可以继续正常传输。</a:t>
            </a:r>
            <a:endParaRPr lang="en-US" altLang="zh-CN" b="1" dirty="0">
              <a:latin typeface="微软雅黑" pitchFamily="34" charset="-122"/>
              <a:ea typeface="微软雅黑" pitchFamily="34" charset="-122"/>
            </a:endParaRPr>
          </a:p>
          <a:p>
            <a:pPr marL="285750" indent="-28575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解决了队头阻塞问题：多个独立的数据流并发传输，一个数据流的阻塞不会影响其他数据流的传输。每个数据流内部都采用独立的分组序号和重传机制，使得分组的丢失和重传仅影响该数据流内的相关数据。</a:t>
            </a:r>
          </a:p>
        </p:txBody>
      </p:sp>
    </p:spTree>
    <p:extLst>
      <p:ext uri="{BB962C8B-B14F-4D97-AF65-F5344CB8AC3E}">
        <p14:creationId xmlns:p14="http://schemas.microsoft.com/office/powerpoint/2010/main" val="31607351"/>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47C60-E990-EFFB-3FCB-0FC439E84FD6}"/>
            </a:ext>
          </a:extLst>
        </p:cNvPr>
        <p:cNvGrpSpPr/>
        <p:nvPr/>
      </p:nvGrpSpPr>
      <p:grpSpPr>
        <a:xfrm>
          <a:off x="0" y="0"/>
          <a:ext cx="0" cy="0"/>
          <a:chOff x="0" y="0"/>
          <a:chExt cx="0" cy="0"/>
        </a:xfrm>
      </p:grpSpPr>
      <p:sp>
        <p:nvSpPr>
          <p:cNvPr id="3" name="AutoShape 5">
            <a:extLst>
              <a:ext uri="{FF2B5EF4-FFF2-40B4-BE49-F238E27FC236}">
                <a16:creationId xmlns:a16="http://schemas.microsoft.com/office/drawing/2014/main" id="{FECC4865-C40F-112A-CBA3-ADC0419DD445}"/>
              </a:ext>
            </a:extLst>
          </p:cNvPr>
          <p:cNvSpPr>
            <a:spLocks noChangeArrowheads="1"/>
          </p:cNvSpPr>
          <p:nvPr/>
        </p:nvSpPr>
        <p:spPr bwMode="auto">
          <a:xfrm>
            <a:off x="556963" y="62297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 name="Rectangle 6">
            <a:extLst>
              <a:ext uri="{FF2B5EF4-FFF2-40B4-BE49-F238E27FC236}">
                <a16:creationId xmlns:a16="http://schemas.microsoft.com/office/drawing/2014/main" id="{1478BEC4-F49E-C10E-842D-0DF29DCC3C20}"/>
              </a:ext>
            </a:extLst>
          </p:cNvPr>
          <p:cNvSpPr>
            <a:spLocks noChangeArrowheads="1"/>
          </p:cNvSpPr>
          <p:nvPr/>
        </p:nvSpPr>
        <p:spPr bwMode="auto">
          <a:xfrm>
            <a:off x="2577438" y="589768"/>
            <a:ext cx="400782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快速用户数据报互联网连接 </a:t>
            </a:r>
            <a:r>
              <a:rPr lang="en-US" altLang="zh-CN" sz="2000" b="1" dirty="0">
                <a:solidFill>
                  <a:schemeClr val="bg1"/>
                </a:solidFill>
                <a:latin typeface="微软雅黑" pitchFamily="34" charset="-122"/>
                <a:ea typeface="微软雅黑" pitchFamily="34" charset="-122"/>
              </a:rPr>
              <a:t>QUIC</a:t>
            </a:r>
            <a:endParaRPr lang="zh-CN" altLang="en-US" sz="2000" b="1" dirty="0">
              <a:solidFill>
                <a:schemeClr val="bg1"/>
              </a:solidFill>
              <a:latin typeface="微软雅黑" pitchFamily="34" charset="-122"/>
              <a:ea typeface="微软雅黑" pitchFamily="34" charset="-122"/>
            </a:endParaRPr>
          </a:p>
        </p:txBody>
      </p:sp>
      <p:sp>
        <p:nvSpPr>
          <p:cNvPr id="5" name="Rectangle 68">
            <a:extLst>
              <a:ext uri="{FF2B5EF4-FFF2-40B4-BE49-F238E27FC236}">
                <a16:creationId xmlns:a16="http://schemas.microsoft.com/office/drawing/2014/main" id="{E48FF046-B0F9-1934-407C-8E0778BD0AA3}"/>
              </a:ext>
            </a:extLst>
          </p:cNvPr>
          <p:cNvSpPr>
            <a:spLocks noChangeArrowheads="1"/>
          </p:cNvSpPr>
          <p:nvPr/>
        </p:nvSpPr>
        <p:spPr bwMode="auto">
          <a:xfrm>
            <a:off x="556963" y="940075"/>
            <a:ext cx="8184960" cy="31769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700"/>
              </a:lnSpc>
              <a:buClr>
                <a:srgbClr val="0070C0"/>
              </a:buClr>
              <a:buFont typeface="Wingdings" pitchFamily="2" charset="2"/>
              <a:buChar char="l"/>
            </a:pPr>
            <a:r>
              <a:rPr lang="en-US" altLang="zh-CN" b="1" dirty="0">
                <a:latin typeface="微软雅黑" pitchFamily="34" charset="-122"/>
                <a:ea typeface="微软雅黑" pitchFamily="34" charset="-122"/>
              </a:rPr>
              <a:t>QUIC</a:t>
            </a:r>
            <a:r>
              <a:rPr lang="zh-CN" altLang="en-US" b="1" dirty="0">
                <a:latin typeface="微软雅黑" pitchFamily="34" charset="-122"/>
                <a:ea typeface="微软雅黑" pitchFamily="34" charset="-122"/>
              </a:rPr>
              <a:t>默认使用</a:t>
            </a:r>
            <a:r>
              <a:rPr lang="en-US" altLang="zh-CN" b="1" dirty="0">
                <a:solidFill>
                  <a:srgbClr val="0000FF"/>
                </a:solidFill>
                <a:latin typeface="微软雅黑" pitchFamily="34" charset="-122"/>
                <a:ea typeface="微软雅黑" pitchFamily="34" charset="-122"/>
              </a:rPr>
              <a:t>CUBIC</a:t>
            </a:r>
            <a:r>
              <a:rPr lang="zh-CN" altLang="en-US" b="1" dirty="0">
                <a:latin typeface="微软雅黑" pitchFamily="34" charset="-122"/>
                <a:ea typeface="微软雅黑" pitchFamily="34" charset="-122"/>
              </a:rPr>
              <a:t>作为其拥塞控制算法。</a:t>
            </a:r>
            <a:endParaRPr lang="en-US" altLang="zh-CN" b="1" dirty="0">
              <a:latin typeface="微软雅黑" pitchFamily="34" charset="-122"/>
              <a:ea typeface="微软雅黑" pitchFamily="34" charset="-122"/>
            </a:endParaRPr>
          </a:p>
          <a:p>
            <a:pPr marL="285750" indent="-285750">
              <a:lnSpc>
                <a:spcPts val="2700"/>
              </a:lnSpc>
              <a:buClr>
                <a:srgbClr val="0070C0"/>
              </a:buClr>
              <a:buFont typeface="Wingdings" pitchFamily="2" charset="2"/>
              <a:buChar char="l"/>
            </a:pPr>
            <a:r>
              <a:rPr lang="en-US" altLang="zh-CN" b="1" dirty="0">
                <a:latin typeface="微软雅黑" pitchFamily="34" charset="-122"/>
                <a:ea typeface="微软雅黑" pitchFamily="34" charset="-122"/>
              </a:rPr>
              <a:t>QUIC</a:t>
            </a:r>
            <a:r>
              <a:rPr lang="zh-CN" altLang="en-US" b="1" dirty="0">
                <a:latin typeface="微软雅黑" pitchFamily="34" charset="-122"/>
                <a:ea typeface="微软雅黑" pitchFamily="34" charset="-122"/>
              </a:rPr>
              <a:t>集成了传输层安全协议</a:t>
            </a:r>
            <a:r>
              <a:rPr lang="en-US" altLang="zh-CN" b="1" dirty="0">
                <a:latin typeface="微软雅黑" pitchFamily="34" charset="-122"/>
                <a:ea typeface="微软雅黑" pitchFamily="34" charset="-122"/>
              </a:rPr>
              <a:t>TLS</a:t>
            </a:r>
            <a:r>
              <a:rPr lang="zh-CN" altLang="en-US" b="1" dirty="0">
                <a:latin typeface="微软雅黑" pitchFamily="34" charset="-122"/>
                <a:ea typeface="微软雅黑" pitchFamily="34" charset="-122"/>
              </a:rPr>
              <a:t>（</a:t>
            </a:r>
            <a:r>
              <a:rPr lang="en-US" altLang="zh-CN" b="1" dirty="0">
                <a:latin typeface="微软雅黑" pitchFamily="34" charset="-122"/>
                <a:ea typeface="微软雅黑" pitchFamily="34" charset="-122"/>
              </a:rPr>
              <a:t>TLS</a:t>
            </a:r>
            <a:r>
              <a:rPr lang="zh-CN" altLang="en-US" b="1" dirty="0">
                <a:latin typeface="微软雅黑" pitchFamily="34" charset="-122"/>
                <a:ea typeface="微软雅黑" pitchFamily="34" charset="-122"/>
              </a:rPr>
              <a:t>将在第</a:t>
            </a:r>
            <a:r>
              <a:rPr lang="en-US" altLang="zh-CN" b="1" dirty="0">
                <a:latin typeface="微软雅黑" pitchFamily="34" charset="-122"/>
                <a:ea typeface="微软雅黑" pitchFamily="34" charset="-122"/>
              </a:rPr>
              <a:t>7</a:t>
            </a:r>
            <a:r>
              <a:rPr lang="zh-CN" altLang="en-US" b="1" dirty="0">
                <a:latin typeface="微软雅黑" pitchFamily="34" charset="-122"/>
                <a:ea typeface="微软雅黑" pitchFamily="34" charset="-122"/>
              </a:rPr>
              <a:t>章网络安全中介绍），而不是像</a:t>
            </a:r>
            <a:r>
              <a:rPr lang="en-US" altLang="zh-CN" b="1" dirty="0">
                <a:latin typeface="微软雅黑" pitchFamily="34" charset="-122"/>
                <a:ea typeface="微软雅黑" pitchFamily="34" charset="-122"/>
              </a:rPr>
              <a:t>TCP</a:t>
            </a:r>
            <a:r>
              <a:rPr lang="zh-CN" altLang="en-US" b="1" dirty="0">
                <a:latin typeface="微软雅黑" pitchFamily="34" charset="-122"/>
                <a:ea typeface="微软雅黑" pitchFamily="34" charset="-122"/>
              </a:rPr>
              <a:t>那样依赖外部协议加密。这就使得每个</a:t>
            </a:r>
            <a:r>
              <a:rPr lang="en-US" altLang="zh-CN" b="1" dirty="0">
                <a:latin typeface="微软雅黑" pitchFamily="34" charset="-122"/>
                <a:ea typeface="微软雅黑" pitchFamily="34" charset="-122"/>
              </a:rPr>
              <a:t>QUIC</a:t>
            </a:r>
            <a:r>
              <a:rPr lang="zh-CN" altLang="en-US" b="1" dirty="0">
                <a:latin typeface="微软雅黑" pitchFamily="34" charset="-122"/>
                <a:ea typeface="微软雅黑" pitchFamily="34" charset="-122"/>
              </a:rPr>
              <a:t>连接天生具有高级别的安全性。</a:t>
            </a:r>
            <a:endParaRPr lang="en-US" altLang="zh-CN" b="1" dirty="0">
              <a:latin typeface="微软雅黑" pitchFamily="34" charset="-122"/>
              <a:ea typeface="微软雅黑" pitchFamily="34" charset="-122"/>
            </a:endParaRPr>
          </a:p>
          <a:p>
            <a:pPr marL="285750" indent="-285750">
              <a:lnSpc>
                <a:spcPts val="2700"/>
              </a:lnSpc>
              <a:buClr>
                <a:srgbClr val="0070C0"/>
              </a:buClr>
              <a:buFont typeface="Wingdings" pitchFamily="2" charset="2"/>
              <a:buChar char="l"/>
            </a:pPr>
            <a:r>
              <a:rPr lang="en-US" altLang="zh-CN" b="1" dirty="0">
                <a:latin typeface="微软雅黑" pitchFamily="34" charset="-122"/>
                <a:ea typeface="微软雅黑" pitchFamily="34" charset="-122"/>
              </a:rPr>
              <a:t>TCP</a:t>
            </a:r>
            <a:r>
              <a:rPr lang="zh-CN" altLang="en-US" b="1" dirty="0">
                <a:latin typeface="微软雅黑" pitchFamily="34" charset="-122"/>
                <a:ea typeface="微软雅黑" pitchFamily="34" charset="-122"/>
              </a:rPr>
              <a:t>使用三报文握手来建立连接。整个连接建立过程至少需要一个往返时间</a:t>
            </a:r>
            <a:r>
              <a:rPr lang="en-US" altLang="zh-CN" b="1" dirty="0">
                <a:latin typeface="微软雅黑" pitchFamily="34" charset="-122"/>
                <a:ea typeface="微软雅黑" pitchFamily="34" charset="-122"/>
              </a:rPr>
              <a:t>RTT</a:t>
            </a:r>
            <a:r>
              <a:rPr lang="zh-CN" altLang="en-US" b="1" dirty="0">
                <a:latin typeface="微软雅黑" pitchFamily="34" charset="-122"/>
                <a:ea typeface="微软雅黑" pitchFamily="34" charset="-122"/>
              </a:rPr>
              <a:t>。如再使用</a:t>
            </a:r>
            <a:r>
              <a:rPr lang="en-US" altLang="zh-CN" b="1" dirty="0">
                <a:latin typeface="微软雅黑" pitchFamily="34" charset="-122"/>
                <a:ea typeface="微软雅黑" pitchFamily="34" charset="-122"/>
              </a:rPr>
              <a:t>TLS</a:t>
            </a:r>
            <a:r>
              <a:rPr lang="zh-CN" altLang="en-US" b="1" dirty="0">
                <a:latin typeface="微软雅黑" pitchFamily="34" charset="-122"/>
                <a:ea typeface="微软雅黑" pitchFamily="34" charset="-122"/>
              </a:rPr>
              <a:t>加密，则连接建立还要增加</a:t>
            </a:r>
            <a:r>
              <a:rPr lang="en-US" altLang="zh-CN" b="1" dirty="0">
                <a:latin typeface="微软雅黑" pitchFamily="34" charset="-122"/>
                <a:ea typeface="微软雅黑" pitchFamily="34" charset="-122"/>
              </a:rPr>
              <a:t>1 RTT</a:t>
            </a:r>
            <a:r>
              <a:rPr lang="zh-CN" altLang="en-US" b="1" dirty="0">
                <a:latin typeface="微软雅黑" pitchFamily="34" charset="-122"/>
                <a:ea typeface="微软雅黑" pitchFamily="34" charset="-122"/>
              </a:rPr>
              <a:t>。</a:t>
            </a:r>
            <a:endParaRPr lang="en-US" altLang="zh-CN" b="1" dirty="0">
              <a:latin typeface="微软雅黑" pitchFamily="34" charset="-122"/>
              <a:ea typeface="微软雅黑" pitchFamily="34" charset="-122"/>
            </a:endParaRPr>
          </a:p>
          <a:p>
            <a:pPr marL="285750" indent="-285750">
              <a:lnSpc>
                <a:spcPts val="2700"/>
              </a:lnSpc>
              <a:buClr>
                <a:srgbClr val="0070C0"/>
              </a:buClr>
              <a:buFont typeface="Wingdings" pitchFamily="2" charset="2"/>
              <a:buChar char="l"/>
            </a:pPr>
            <a:r>
              <a:rPr lang="en-US" altLang="zh-CN" b="1" dirty="0">
                <a:latin typeface="微软雅黑" pitchFamily="34" charset="-122"/>
                <a:ea typeface="微软雅黑" pitchFamily="34" charset="-122"/>
              </a:rPr>
              <a:t>QUIC</a:t>
            </a:r>
            <a:r>
              <a:rPr lang="zh-CN" altLang="en-US" b="1" dirty="0">
                <a:latin typeface="微软雅黑" pitchFamily="34" charset="-122"/>
                <a:ea typeface="微软雅黑" pitchFamily="34" charset="-122"/>
              </a:rPr>
              <a:t>是基于</a:t>
            </a:r>
            <a:r>
              <a:rPr lang="en-US" altLang="zh-CN" b="1" dirty="0">
                <a:latin typeface="微软雅黑" pitchFamily="34" charset="-122"/>
                <a:ea typeface="微软雅黑" pitchFamily="34" charset="-122"/>
              </a:rPr>
              <a:t>UDP</a:t>
            </a:r>
            <a:r>
              <a:rPr lang="zh-CN" altLang="en-US" b="1" dirty="0">
                <a:latin typeface="微软雅黑" pitchFamily="34" charset="-122"/>
                <a:ea typeface="微软雅黑" pitchFamily="34" charset="-122"/>
              </a:rPr>
              <a:t>的协议，设计上融合了</a:t>
            </a:r>
            <a:r>
              <a:rPr lang="en-US" altLang="zh-CN" b="1" dirty="0">
                <a:latin typeface="微软雅黑" pitchFamily="34" charset="-122"/>
                <a:ea typeface="微软雅黑" pitchFamily="34" charset="-122"/>
              </a:rPr>
              <a:t>TLS</a:t>
            </a:r>
            <a:r>
              <a:rPr lang="zh-CN" altLang="en-US" b="1" dirty="0">
                <a:latin typeface="微软雅黑" pitchFamily="34" charset="-122"/>
                <a:ea typeface="微软雅黑" pitchFamily="34" charset="-122"/>
              </a:rPr>
              <a:t>，加密是内置的。</a:t>
            </a:r>
            <a:r>
              <a:rPr lang="en-US" altLang="zh-CN" b="1" dirty="0">
                <a:latin typeface="微软雅黑" pitchFamily="34" charset="-122"/>
                <a:ea typeface="微软雅黑" pitchFamily="34" charset="-122"/>
              </a:rPr>
              <a:t>QUIC</a:t>
            </a:r>
            <a:r>
              <a:rPr lang="zh-CN" altLang="en-US" b="1" dirty="0">
                <a:latin typeface="微软雅黑" pitchFamily="34" charset="-122"/>
                <a:ea typeface="微软雅黑" pitchFamily="34" charset="-122"/>
              </a:rPr>
              <a:t>能够在</a:t>
            </a:r>
            <a:r>
              <a:rPr lang="en-US" altLang="zh-CN" b="1" dirty="0">
                <a:solidFill>
                  <a:srgbClr val="0000FF"/>
                </a:solidFill>
                <a:latin typeface="微软雅黑" pitchFamily="34" charset="-122"/>
                <a:ea typeface="微软雅黑" pitchFamily="34" charset="-122"/>
              </a:rPr>
              <a:t>0-RTT</a:t>
            </a:r>
            <a:r>
              <a:rPr lang="zh-CN" altLang="en-US" b="1" dirty="0">
                <a:latin typeface="微软雅黑" pitchFamily="34" charset="-122"/>
                <a:ea typeface="微软雅黑" pitchFamily="34" charset="-122"/>
              </a:rPr>
              <a:t>（假设之前已经握手过）或者</a:t>
            </a:r>
            <a:r>
              <a:rPr lang="en-US" altLang="zh-CN" b="1" dirty="0">
                <a:solidFill>
                  <a:srgbClr val="0000FF"/>
                </a:solidFill>
                <a:latin typeface="微软雅黑" pitchFamily="34" charset="-122"/>
                <a:ea typeface="微软雅黑" pitchFamily="34" charset="-122"/>
              </a:rPr>
              <a:t>1-RTT</a:t>
            </a:r>
            <a:r>
              <a:rPr lang="zh-CN" altLang="en-US" b="1" dirty="0">
                <a:latin typeface="微软雅黑" pitchFamily="34" charset="-122"/>
                <a:ea typeface="微软雅黑" pitchFamily="34" charset="-122"/>
              </a:rPr>
              <a:t>内建立连接，这意味着在用户体验上更快更流畅。</a:t>
            </a:r>
          </a:p>
        </p:txBody>
      </p:sp>
    </p:spTree>
    <p:extLst>
      <p:ext uri="{BB962C8B-B14F-4D97-AF65-F5344CB8AC3E}">
        <p14:creationId xmlns:p14="http://schemas.microsoft.com/office/powerpoint/2010/main" val="3870120622"/>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39880-EF91-F59C-5573-DD30EFCB067F}"/>
            </a:ext>
          </a:extLst>
        </p:cNvPr>
        <p:cNvGrpSpPr/>
        <p:nvPr/>
      </p:nvGrpSpPr>
      <p:grpSpPr>
        <a:xfrm>
          <a:off x="0" y="0"/>
          <a:ext cx="0" cy="0"/>
          <a:chOff x="0" y="0"/>
          <a:chExt cx="0" cy="0"/>
        </a:xfrm>
      </p:grpSpPr>
      <p:sp>
        <p:nvSpPr>
          <p:cNvPr id="3" name="AutoShape 5">
            <a:extLst>
              <a:ext uri="{FF2B5EF4-FFF2-40B4-BE49-F238E27FC236}">
                <a16:creationId xmlns:a16="http://schemas.microsoft.com/office/drawing/2014/main" id="{A1C5BB0D-AB80-49F6-19CD-81BD5CC80CCC}"/>
              </a:ext>
            </a:extLst>
          </p:cNvPr>
          <p:cNvSpPr>
            <a:spLocks noChangeArrowheads="1"/>
          </p:cNvSpPr>
          <p:nvPr/>
        </p:nvSpPr>
        <p:spPr bwMode="auto">
          <a:xfrm>
            <a:off x="556963" y="62297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 name="Rectangle 6">
            <a:extLst>
              <a:ext uri="{FF2B5EF4-FFF2-40B4-BE49-F238E27FC236}">
                <a16:creationId xmlns:a16="http://schemas.microsoft.com/office/drawing/2014/main" id="{5AC9628C-185F-B7CA-4C69-20E5DB619FD2}"/>
              </a:ext>
            </a:extLst>
          </p:cNvPr>
          <p:cNvSpPr>
            <a:spLocks noChangeArrowheads="1"/>
          </p:cNvSpPr>
          <p:nvPr/>
        </p:nvSpPr>
        <p:spPr bwMode="auto">
          <a:xfrm>
            <a:off x="2577438" y="589768"/>
            <a:ext cx="400782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快速用户数据报互联网连接 </a:t>
            </a:r>
            <a:r>
              <a:rPr lang="en-US" altLang="zh-CN" sz="2000" b="1" dirty="0">
                <a:solidFill>
                  <a:schemeClr val="bg1"/>
                </a:solidFill>
                <a:latin typeface="微软雅黑" pitchFamily="34" charset="-122"/>
                <a:ea typeface="微软雅黑" pitchFamily="34" charset="-122"/>
              </a:rPr>
              <a:t>QUIC</a:t>
            </a:r>
            <a:endParaRPr lang="zh-CN" altLang="en-US" sz="2000" b="1" dirty="0">
              <a:solidFill>
                <a:schemeClr val="bg1"/>
              </a:solidFill>
              <a:latin typeface="微软雅黑" pitchFamily="34" charset="-122"/>
              <a:ea typeface="微软雅黑" pitchFamily="34" charset="-122"/>
            </a:endParaRPr>
          </a:p>
        </p:txBody>
      </p:sp>
      <p:sp>
        <p:nvSpPr>
          <p:cNvPr id="5" name="Rectangle 68">
            <a:extLst>
              <a:ext uri="{FF2B5EF4-FFF2-40B4-BE49-F238E27FC236}">
                <a16:creationId xmlns:a16="http://schemas.microsoft.com/office/drawing/2014/main" id="{99556D57-8454-6038-DA08-5C6B9CDDCC7A}"/>
              </a:ext>
            </a:extLst>
          </p:cNvPr>
          <p:cNvSpPr>
            <a:spLocks noChangeArrowheads="1"/>
          </p:cNvSpPr>
          <p:nvPr/>
        </p:nvSpPr>
        <p:spPr bwMode="auto">
          <a:xfrm>
            <a:off x="556963" y="940075"/>
            <a:ext cx="8184960" cy="28307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700"/>
              </a:lnSpc>
              <a:buClr>
                <a:srgbClr val="0070C0"/>
              </a:buClr>
              <a:buFont typeface="Wingdings" pitchFamily="2" charset="2"/>
              <a:buChar char="l"/>
            </a:pPr>
            <a:r>
              <a:rPr lang="en-US" altLang="zh-CN" b="1" dirty="0">
                <a:latin typeface="微软雅黑" pitchFamily="34" charset="-122"/>
                <a:ea typeface="微软雅黑" pitchFamily="34" charset="-122"/>
              </a:rPr>
              <a:t>QUIC</a:t>
            </a:r>
            <a:r>
              <a:rPr lang="zh-CN" altLang="en-US" b="1" dirty="0">
                <a:latin typeface="微软雅黑" pitchFamily="34" charset="-122"/>
                <a:ea typeface="微软雅黑" pitchFamily="34" charset="-122"/>
              </a:rPr>
              <a:t>使用自己的连接</a:t>
            </a:r>
            <a:r>
              <a:rPr lang="en-US" altLang="zh-CN" b="1" dirty="0">
                <a:latin typeface="微软雅黑" pitchFamily="34" charset="-122"/>
                <a:ea typeface="微软雅黑" pitchFamily="34" charset="-122"/>
              </a:rPr>
              <a:t>ID</a:t>
            </a:r>
            <a:r>
              <a:rPr lang="zh-CN" altLang="en-US" b="1" dirty="0">
                <a:latin typeface="微软雅黑" pitchFamily="34" charset="-122"/>
                <a:ea typeface="微软雅黑" pitchFamily="34" charset="-122"/>
              </a:rPr>
              <a:t>来标志连接，这允许</a:t>
            </a:r>
            <a:r>
              <a:rPr lang="en-US" altLang="zh-CN" b="1" dirty="0">
                <a:latin typeface="微软雅黑" pitchFamily="34" charset="-122"/>
                <a:ea typeface="微软雅黑" pitchFamily="34" charset="-122"/>
              </a:rPr>
              <a:t>QUIC</a:t>
            </a:r>
            <a:r>
              <a:rPr lang="zh-CN" altLang="en-US" b="1" dirty="0">
                <a:latin typeface="微软雅黑" pitchFamily="34" charset="-122"/>
                <a:ea typeface="微软雅黑" pitchFamily="34" charset="-122"/>
              </a:rPr>
              <a:t>在客户端</a:t>
            </a:r>
            <a:r>
              <a:rPr lang="en-US" altLang="zh-CN" b="1" dirty="0">
                <a:latin typeface="微软雅黑" pitchFamily="34" charset="-122"/>
                <a:ea typeface="微软雅黑" pitchFamily="34" charset="-122"/>
              </a:rPr>
              <a:t>IP</a:t>
            </a:r>
            <a:r>
              <a:rPr lang="zh-CN" altLang="en-US" b="1" dirty="0">
                <a:latin typeface="微软雅黑" pitchFamily="34" charset="-122"/>
                <a:ea typeface="微软雅黑" pitchFamily="34" charset="-122"/>
              </a:rPr>
              <a:t>地址或端口改变时保持连接活跃。例如，在网络切换中不会中断连接。这对于移动设备用户尤为重要，提供了更稳定的连接体验。</a:t>
            </a:r>
            <a:endParaRPr lang="en-US" altLang="zh-CN" b="1" dirty="0">
              <a:latin typeface="微软雅黑" pitchFamily="34" charset="-122"/>
              <a:ea typeface="微软雅黑" pitchFamily="34" charset="-122"/>
            </a:endParaRPr>
          </a:p>
          <a:p>
            <a:pPr marL="285750" indent="-285750">
              <a:lnSpc>
                <a:spcPts val="2700"/>
              </a:lnSpc>
              <a:buClr>
                <a:srgbClr val="0070C0"/>
              </a:buClr>
              <a:buFont typeface="Wingdings" pitchFamily="2" charset="2"/>
              <a:buChar char="l"/>
            </a:pPr>
            <a:r>
              <a:rPr lang="en-US" altLang="zh-CN" b="1" dirty="0">
                <a:latin typeface="微软雅黑" pitchFamily="34" charset="-122"/>
                <a:ea typeface="微软雅黑" pitchFamily="34" charset="-122"/>
              </a:rPr>
              <a:t>QUIC</a:t>
            </a:r>
            <a:r>
              <a:rPr lang="zh-CN" altLang="en-US" b="1" dirty="0">
                <a:latin typeface="微软雅黑" pitchFamily="34" charset="-122"/>
                <a:ea typeface="微软雅黑" pitchFamily="34" charset="-122"/>
              </a:rPr>
              <a:t>可以更容易地在各种网络环境中运作，这是因为</a:t>
            </a:r>
            <a:r>
              <a:rPr lang="en-US" altLang="zh-CN" b="1" dirty="0">
                <a:latin typeface="微软雅黑" pitchFamily="34" charset="-122"/>
                <a:ea typeface="微软雅黑" pitchFamily="34" charset="-122"/>
              </a:rPr>
              <a:t>UDP</a:t>
            </a:r>
            <a:r>
              <a:rPr lang="zh-CN" altLang="en-US" b="1" dirty="0">
                <a:latin typeface="微软雅黑" pitchFamily="34" charset="-122"/>
                <a:ea typeface="微软雅黑" pitchFamily="34" charset="-122"/>
              </a:rPr>
              <a:t>的用户数据报往往被网络设备和防火墙视为无状态数据，更容易被允许通过。</a:t>
            </a:r>
            <a:endParaRPr lang="en-US" altLang="zh-CN" b="1" dirty="0">
              <a:latin typeface="微软雅黑" pitchFamily="34" charset="-122"/>
              <a:ea typeface="微软雅黑" pitchFamily="34" charset="-122"/>
            </a:endParaRPr>
          </a:p>
          <a:p>
            <a:pPr marL="285750" indent="-28575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目前主流浏览器（</a:t>
            </a:r>
            <a:r>
              <a:rPr lang="en-US" altLang="zh-CN" b="1" dirty="0">
                <a:solidFill>
                  <a:srgbClr val="0000FF"/>
                </a:solidFill>
                <a:latin typeface="微软雅黑" pitchFamily="34" charset="-122"/>
                <a:ea typeface="微软雅黑" pitchFamily="34" charset="-122"/>
              </a:rPr>
              <a:t>Chrome</a:t>
            </a:r>
            <a:r>
              <a:rPr lang="zh-CN" altLang="en-US" b="1" dirty="0">
                <a:solidFill>
                  <a:srgbClr val="0000FF"/>
                </a:solidFill>
                <a:latin typeface="微软雅黑" pitchFamily="34" charset="-122"/>
                <a:ea typeface="微软雅黑" pitchFamily="34" charset="-122"/>
              </a:rPr>
              <a:t>、</a:t>
            </a:r>
            <a:r>
              <a:rPr lang="en-US" altLang="zh-CN" b="1" dirty="0">
                <a:solidFill>
                  <a:srgbClr val="0000FF"/>
                </a:solidFill>
                <a:latin typeface="微软雅黑" pitchFamily="34" charset="-122"/>
                <a:ea typeface="微软雅黑" pitchFamily="34" charset="-122"/>
              </a:rPr>
              <a:t>Firefox</a:t>
            </a:r>
            <a:r>
              <a:rPr lang="zh-CN" altLang="en-US" b="1" dirty="0">
                <a:solidFill>
                  <a:srgbClr val="0000FF"/>
                </a:solidFill>
                <a:latin typeface="微软雅黑" pitchFamily="34" charset="-122"/>
                <a:ea typeface="微软雅黑" pitchFamily="34" charset="-122"/>
              </a:rPr>
              <a:t>、</a:t>
            </a:r>
            <a:r>
              <a:rPr lang="en-US" altLang="zh-CN" b="1" dirty="0">
                <a:solidFill>
                  <a:srgbClr val="0000FF"/>
                </a:solidFill>
                <a:latin typeface="微软雅黑" pitchFamily="34" charset="-122"/>
                <a:ea typeface="微软雅黑" pitchFamily="34" charset="-122"/>
              </a:rPr>
              <a:t>Safari</a:t>
            </a:r>
            <a:r>
              <a:rPr lang="zh-CN" altLang="en-US" b="1" dirty="0">
                <a:solidFill>
                  <a:srgbClr val="0000FF"/>
                </a:solidFill>
                <a:latin typeface="微软雅黑" pitchFamily="34" charset="-122"/>
                <a:ea typeface="微软雅黑" pitchFamily="34" charset="-122"/>
              </a:rPr>
              <a:t>、</a:t>
            </a:r>
            <a:r>
              <a:rPr lang="en-US" altLang="zh-CN" b="1" dirty="0">
                <a:solidFill>
                  <a:srgbClr val="0000FF"/>
                </a:solidFill>
                <a:latin typeface="微软雅黑" pitchFamily="34" charset="-122"/>
                <a:ea typeface="微软雅黑" pitchFamily="34" charset="-122"/>
              </a:rPr>
              <a:t>Edge</a:t>
            </a:r>
            <a:r>
              <a:rPr lang="zh-CN" altLang="en-US" b="1" dirty="0">
                <a:latin typeface="微软雅黑" pitchFamily="34" charset="-122"/>
                <a:ea typeface="微软雅黑" pitchFamily="34" charset="-122"/>
              </a:rPr>
              <a:t>等）都已经支持 </a:t>
            </a:r>
            <a:r>
              <a:rPr lang="en-US" altLang="zh-CN" b="1" dirty="0">
                <a:latin typeface="微软雅黑" pitchFamily="34" charset="-122"/>
                <a:ea typeface="微软雅黑" pitchFamily="34" charset="-122"/>
              </a:rPr>
              <a:t>QUIC</a:t>
            </a:r>
            <a:r>
              <a:rPr lang="zh-CN" altLang="en-US" b="1" dirty="0">
                <a:latin typeface="微软雅黑" pitchFamily="34" charset="-122"/>
                <a:ea typeface="微软雅黑" pitchFamily="34" charset="-122"/>
              </a:rPr>
              <a:t>。</a:t>
            </a:r>
            <a:endParaRPr lang="en-US" altLang="zh-CN" b="1" dirty="0">
              <a:latin typeface="微软雅黑" pitchFamily="34" charset="-122"/>
              <a:ea typeface="微软雅黑" pitchFamily="34" charset="-122"/>
            </a:endParaRPr>
          </a:p>
          <a:p>
            <a:pPr marL="285750" indent="-285750">
              <a:lnSpc>
                <a:spcPts val="2700"/>
              </a:lnSpc>
              <a:buClr>
                <a:srgbClr val="0070C0"/>
              </a:buClr>
              <a:buFont typeface="Wingdings" pitchFamily="2" charset="2"/>
              <a:buChar char="l"/>
            </a:pPr>
            <a:r>
              <a:rPr lang="en-US" altLang="zh-CN" b="1" dirty="0">
                <a:latin typeface="微软雅黑" pitchFamily="34" charset="-122"/>
                <a:ea typeface="微软雅黑" pitchFamily="34" charset="-122"/>
              </a:rPr>
              <a:t>QUIC</a:t>
            </a:r>
            <a:r>
              <a:rPr lang="zh-CN" altLang="en-US" b="1" dirty="0">
                <a:latin typeface="微软雅黑" pitchFamily="34" charset="-122"/>
                <a:ea typeface="微软雅黑" pitchFamily="34" charset="-122"/>
              </a:rPr>
              <a:t>的使用在稳步增长，但还没有成为主导协议。它的使用主要集中在大型科技公司和内容分发网络</a:t>
            </a:r>
            <a:r>
              <a:rPr lang="en-US" altLang="zh-CN" b="1" dirty="0">
                <a:solidFill>
                  <a:srgbClr val="0000FF"/>
                </a:solidFill>
                <a:latin typeface="微软雅黑" pitchFamily="34" charset="-122"/>
                <a:ea typeface="微软雅黑" pitchFamily="34" charset="-122"/>
              </a:rPr>
              <a:t>CDN</a:t>
            </a:r>
            <a:r>
              <a:rPr lang="zh-CN" altLang="en-US" b="1" dirty="0">
                <a:latin typeface="微软雅黑" pitchFamily="34" charset="-122"/>
                <a:ea typeface="微软雅黑" pitchFamily="34" charset="-122"/>
              </a:rPr>
              <a:t>提供的服务中。</a:t>
            </a:r>
          </a:p>
        </p:txBody>
      </p:sp>
    </p:spTree>
    <p:extLst>
      <p:ext uri="{BB962C8B-B14F-4D97-AF65-F5344CB8AC3E}">
        <p14:creationId xmlns:p14="http://schemas.microsoft.com/office/powerpoint/2010/main" val="10850947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6.8|6.7"/>
</p:tagLst>
</file>

<file path=ppt/tags/tag2.xml><?xml version="1.0" encoding="utf-8"?>
<p:tagLst xmlns:a="http://schemas.openxmlformats.org/drawingml/2006/main" xmlns:r="http://schemas.openxmlformats.org/officeDocument/2006/relationships" xmlns:p="http://schemas.openxmlformats.org/presentationml/2006/main">
  <p:tag name="TIMING" val="|19.6|36.2|12|13.5|10|5.4|16.9|7.8"/>
</p:tagLst>
</file>

<file path=ppt/tags/tag3.xml><?xml version="1.0" encoding="utf-8"?>
<p:tagLst xmlns:a="http://schemas.openxmlformats.org/drawingml/2006/main" xmlns:r="http://schemas.openxmlformats.org/officeDocument/2006/relationships" xmlns:p="http://schemas.openxmlformats.org/presentationml/2006/main">
  <p:tag name="TIMING" val="|6.3|5.5|4.4"/>
</p:tagLst>
</file>

<file path=ppt/tags/tag4.xml><?xml version="1.0" encoding="utf-8"?>
<p:tagLst xmlns:a="http://schemas.openxmlformats.org/drawingml/2006/main" xmlns:r="http://schemas.openxmlformats.org/officeDocument/2006/relationships" xmlns:p="http://schemas.openxmlformats.org/presentationml/2006/main">
  <p:tag name="TIMING" val="|14.6|17|10.2"/>
</p:tagLst>
</file>

<file path=ppt/tags/tag5.xml><?xml version="1.0" encoding="utf-8"?>
<p:tagLst xmlns:a="http://schemas.openxmlformats.org/drawingml/2006/main" xmlns:r="http://schemas.openxmlformats.org/officeDocument/2006/relationships" xmlns:p="http://schemas.openxmlformats.org/presentationml/2006/main">
  <p:tag name="TIMING" val="|16.6|19.3|11.1|12.2"/>
</p:tagLst>
</file>

<file path=ppt/tags/tag6.xml><?xml version="1.0" encoding="utf-8"?>
<p:tagLst xmlns:a="http://schemas.openxmlformats.org/drawingml/2006/main" xmlns:r="http://schemas.openxmlformats.org/officeDocument/2006/relationships" xmlns:p="http://schemas.openxmlformats.org/presentationml/2006/main">
  <p:tag name="TIMING" val="|9.6|6.5|11.7|5.8|4.9"/>
</p:tagLst>
</file>

<file path=ppt/tags/tag7.xml><?xml version="1.0" encoding="utf-8"?>
<p:tagLst xmlns:a="http://schemas.openxmlformats.org/drawingml/2006/main" xmlns:r="http://schemas.openxmlformats.org/officeDocument/2006/relationships" xmlns:p="http://schemas.openxmlformats.org/presentationml/2006/main">
  <p:tag name="TIMING" val="|24.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7607</TotalTime>
  <Words>18839</Words>
  <Application>Microsoft Office PowerPoint</Application>
  <PresentationFormat>全屏显示(16:9)</PresentationFormat>
  <Paragraphs>3560</Paragraphs>
  <Slides>197</Slides>
  <Notes>156</Notes>
  <HiddenSlides>2</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197</vt:i4>
      </vt:variant>
    </vt:vector>
  </HeadingPairs>
  <TitlesOfParts>
    <vt:vector size="206" baseType="lpstr">
      <vt:lpstr>宋体</vt:lpstr>
      <vt:lpstr>Arial</vt:lpstr>
      <vt:lpstr>Calibri</vt:lpstr>
      <vt:lpstr>Wingdings</vt:lpstr>
      <vt:lpstr>Times New Roman</vt:lpstr>
      <vt:lpstr>微软雅黑</vt:lpstr>
      <vt:lpstr>Cambria Math</vt:lpstr>
      <vt:lpstr>Office 主题​​</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jun xie</cp:lastModifiedBy>
  <cp:revision>696</cp:revision>
  <dcterms:created xsi:type="dcterms:W3CDTF">2018-07-18T08:51:30Z</dcterms:created>
  <dcterms:modified xsi:type="dcterms:W3CDTF">2026-05-22T09:20:39Z</dcterms:modified>
</cp:coreProperties>
</file>